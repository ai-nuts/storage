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proj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proj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8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e7c9825922c0a3c8.jpg"/><Relationship Id="rId3" Type="http://schemas.openxmlformats.org/officeDocument/2006/relationships/image" Target="../media/image_2490f83c7040c48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34ab9efdd3c6eb7f.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1fc50f036650d3d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05f2e613a55efda7.jpg"/><Relationship Id="rId3" Type="http://schemas.openxmlformats.org/officeDocument/2006/relationships/image" Target="../media/image_a7192d5543c73ab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2490f83c7040c482.png"/><Relationship Id="rId3" Type="http://schemas.openxmlformats.org/officeDocument/2006/relationships/image" Target="../media/image_a5a57b7b0d68882f.jp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A2233"/>
            </a:gs>
            <a:gs pos="100000">
              <a:srgbClr val="04121B"/>
            </a:gs>
          </a:gsLst>
          <a:lin ang="5400000" scaled="1"/>
        </a:gra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1"/>
              </a:gs>
              <a:gs pos="100000">
                <a:schemeClr val="accent3"/>
              </a:gs>
            </a:gsLst>
            <a:lin ang="0" scaled="1"/>
          </a:gradFill>
          <a:ln>
            <a:noFill/>
          </a:ln>
        </p:spPr>
        <p:txBody>
          <a:bodyPr/>
          <a:p/>
        </p:txBody>
      </p:sp>
      <p:grpSp>
        <p:nvGrpSpPr>
          <p:cNvPr id="9" name="Group 9"/>
          <p:cNvGrpSpPr/>
          <p:nvPr/>
        </p:nvGrpSpPr>
        <p:grpSpPr>
          <a:xfrm>
            <a:off x="666750" y="819150"/>
            <a:ext cx="6164102" cy="2074545"/>
            <a:chOff x="666750" y="819150"/>
            <a:chExt cx="6164102" cy="2074545"/>
          </a:xfrm>
        </p:grpSpPr>
        <p:sp>
          <p:nvSpPr>
            <p:cNvPr id="3" name="Rectangle 3"/>
            <p:cNvSpPr/>
            <p:nvPr/>
          </p:nvSpPr>
          <p:spPr>
            <a:xfrm>
              <a:off x="685800" y="819150"/>
              <a:ext cx="1428750" cy="323850"/>
            </a:xfrm>
            <a:prstGeom prst="roundRect">
              <a:avLst>
                <a:gd name="adj" fmla="val 50000"/>
              </a:avLst>
            </a:prstGeom>
            <a:solidFill>
              <a:schemeClr val="accent5"/>
            </a:solidFill>
            <a:ln w="11430">
              <a:solidFill>
                <a:schemeClr val="accent1"/>
              </a:solidFill>
            </a:ln>
          </p:spPr>
        </p:sp>
        <p:sp>
          <p:nvSpPr>
            <p:cNvPr id="4" name="TextBox 4"/>
            <p:cNvSpPr txBox="1"/>
            <p:nvPr/>
          </p:nvSpPr>
          <p:spPr>
            <a:xfrm>
              <a:off x="934715" y="908685"/>
              <a:ext cx="930920" cy="234696"/>
            </a:xfrm>
            <a:prstGeom prst="rect">
              <a:avLst/>
            </a:prstGeom>
            <a:noFill/>
            <a:ln>
              <a:noFill/>
            </a:ln>
          </p:spPr>
          <p:txBody>
            <a:bodyPr wrap="none" lIns="0" tIns="0" rIns="0" bIns="0" anchor="t" anchorCtr="0">
              <a:spAutoFit/>
            </a:bodyPr>
            <a:lstStyle/>
            <a:p>
              <a:pPr algn="ctr"/>
              <a:r>
                <a:rPr lang="en-US" sz="1200" b="1" spc="75" dirty="0">
                  <a:solidFill>
                    <a:schemeClr val="accent1"/>
                  </a:solidFill>
                  <a:latin typeface="+mn-lt"/>
                  <a:ea typeface="+mn-ea"/>
                  <a:cs typeface="+mn-cs"/>
                </a:rPr>
                <a:t>ICML 2024</a:t>
              </a:r>
            </a:p>
          </p:txBody>
        </p:sp>
        <p:sp>
          <p:nvSpPr>
            <p:cNvPr id="5" name="TextBox 5"/>
            <p:cNvSpPr txBox="1"/>
            <p:nvPr/>
          </p:nvSpPr>
          <p:spPr>
            <a:xfrm>
              <a:off x="2280285" y="916781"/>
              <a:ext cx="314397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Underwater Salient Instance Segmentation</a:t>
              </a:r>
            </a:p>
          </p:txBody>
        </p:sp>
        <p:sp>
          <p:nvSpPr>
            <p:cNvPr id="6" name="TextBox 6"/>
            <p:cNvSpPr txBox="1"/>
            <p:nvPr/>
          </p:nvSpPr>
          <p:spPr>
            <a:xfrm>
              <a:off x="666750" y="1560195"/>
              <a:ext cx="6164102" cy="762000"/>
            </a:xfrm>
            <a:prstGeom prst="rect">
              <a:avLst/>
            </a:prstGeom>
            <a:noFill/>
            <a:ln>
              <a:noFill/>
            </a:ln>
          </p:spPr>
          <p:txBody>
            <a:bodyPr wrap="none" lIns="0" tIns="0" rIns="0" bIns="0" anchor="t" anchorCtr="0">
              <a:spAutoFit/>
            </a:bodyPr>
            <a:lstStyle/>
            <a:p>
              <a:pPr algn="l"/>
              <a:r>
                <a:rPr lang="en-US" sz="3900" b="1" dirty="0">
                  <a:solidFill>
                    <a:schemeClr val="dk1"/>
                  </a:solidFill>
                  <a:latin typeface="+mn-lt"/>
                  <a:ea typeface="+mn-ea"/>
                  <a:cs typeface="+mn-cs"/>
                </a:rPr>
                <a:t>Diving into Underwater</a:t>
              </a:r>
            </a:p>
          </p:txBody>
        </p:sp>
        <p:sp>
          <p:nvSpPr>
            <p:cNvPr id="7" name="TextBox 7"/>
            <p:cNvSpPr txBox="1"/>
            <p:nvPr/>
          </p:nvSpPr>
          <p:spPr>
            <a:xfrm>
              <a:off x="675132" y="2211705"/>
              <a:ext cx="6143461"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SAM-Guided Salient Instance Segmentation</a:t>
              </a:r>
            </a:p>
          </p:txBody>
        </p:sp>
        <p:sp>
          <p:nvSpPr>
            <p:cNvPr id="8" name="TextBox 8"/>
            <p:cNvSpPr txBox="1"/>
            <p:nvPr/>
          </p:nvSpPr>
          <p:spPr>
            <a:xfrm>
              <a:off x="678180" y="2600325"/>
              <a:ext cx="3822167" cy="293370"/>
            </a:xfrm>
            <a:prstGeom prst="rect">
              <a:avLst/>
            </a:prstGeom>
            <a:noFill/>
            <a:ln>
              <a:noFill/>
            </a:ln>
          </p:spPr>
          <p:txBody>
            <a:bodyPr wrap="none" lIns="0" tIns="0" rIns="0" bIns="0" anchor="t" anchorCtr="0">
              <a:spAutoFit/>
            </a:bodyPr>
            <a:lstStyle/>
            <a:p>
              <a:pPr algn="l"/>
              <a:r>
                <a:rPr lang="en-US" sz="1500" dirty="0">
                  <a:solidFill>
                    <a:schemeClr val="dk2"/>
                  </a:solidFill>
                  <a:latin typeface="+mn-lt"/>
                  <a:ea typeface="+mn-ea"/>
                  <a:cs typeface="+mn-cs"/>
                </a:rPr>
                <a:t>and a Large-scale Underwater Dataset</a:t>
              </a:r>
            </a:p>
          </p:txBody>
        </p:sp>
      </p:grpSp>
      <p:sp>
        <p:nvSpPr>
          <p:cNvPr id="10" name="TextBox 10"/>
          <p:cNvSpPr txBox="1"/>
          <p:nvPr/>
        </p:nvSpPr>
        <p:spPr>
          <a:xfrm>
            <a:off x="679704" y="3070860"/>
            <a:ext cx="328060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Shijie Lian · Ziyi Zhang · Hua Li · Wenjie Li</a:t>
            </a:r>
          </a:p>
        </p:txBody>
      </p:sp>
      <p:sp>
        <p:nvSpPr>
          <p:cNvPr id="11" name="TextBox 11"/>
          <p:cNvSpPr txBox="1"/>
          <p:nvPr/>
        </p:nvSpPr>
        <p:spPr>
          <a:xfrm>
            <a:off x="679704" y="3299460"/>
            <a:ext cx="352160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Laurence T. Yang · Sam Kwong · Runmin Cong</a:t>
            </a:r>
          </a:p>
        </p:txBody>
      </p:sp>
      <p:sp>
        <p:nvSpPr>
          <p:cNvPr id="12" name="TextBox 12"/>
          <p:cNvSpPr txBox="1"/>
          <p:nvPr/>
        </p:nvSpPr>
        <p:spPr>
          <a:xfrm>
            <a:off x="680847" y="3609499"/>
            <a:ext cx="5656899" cy="190690"/>
          </a:xfrm>
          <a:prstGeom prst="rect">
            <a:avLst/>
          </a:prstGeom>
          <a:noFill/>
          <a:ln>
            <a:noFill/>
          </a:ln>
        </p:spPr>
        <p:txBody>
          <a:bodyPr wrap="none" lIns="0" tIns="0" rIns="0" bIns="0" anchor="t" anchorCtr="0">
            <a:spAutoFit/>
          </a:bodyPr>
          <a:lstStyle/>
          <a:p>
            <a:pPr algn="l"/>
            <a:r>
              <a:rPr lang="en-US" sz="980" dirty="0">
                <a:solidFill>
                  <a:srgbClr val="6E93A4"/>
                </a:solidFill>
                <a:latin typeface="+mn-lt"/>
                <a:ea typeface="+mn-ea"/>
                <a:cs typeface="+mn-cs"/>
              </a:rPr>
              <a:t>Hainan Univ. · HKUST (GZ) · Southeast · HUST · St. Francis Xavier · Lingnan · Shandong</a:t>
            </a:r>
          </a:p>
        </p:txBody>
      </p:sp>
      <p:grpSp>
        <p:nvGrpSpPr>
          <p:cNvPr id="25" name="Group 25"/>
          <p:cNvGrpSpPr/>
          <p:nvPr/>
        </p:nvGrpSpPr>
        <p:grpSpPr>
          <a:xfrm>
            <a:off x="685800" y="4038600"/>
            <a:ext cx="5723687" cy="1428750"/>
            <a:chOff x="685800" y="4038600"/>
            <a:chExt cx="5723687" cy="1428750"/>
          </a:xfrm>
        </p:grpSpPr>
        <p:sp>
          <p:nvSpPr>
            <p:cNvPr id="13" name="Rectangle 13"/>
            <p:cNvSpPr/>
            <p:nvPr/>
          </p:nvSpPr>
          <p:spPr>
            <a:xfrm>
              <a:off x="685800" y="4038600"/>
              <a:ext cx="2762250" cy="1428750"/>
            </a:xfrm>
            <a:prstGeom prst="roundRect">
              <a:avLst>
                <a:gd name="adj" fmla="val 8000"/>
              </a:avLst>
            </a:prstGeom>
            <a:solidFill>
              <a:schemeClr val="lt2"/>
            </a:solidFill>
            <a:ln w="9525">
              <a:solidFill>
                <a:schemeClr val="accent4"/>
              </a:solidFill>
            </a:ln>
          </p:spPr>
        </p:sp>
        <p:sp>
          <p:nvSpPr>
            <p:cNvPr id="14" name="Rectangle 14"/>
            <p:cNvSpPr/>
            <p:nvPr/>
          </p:nvSpPr>
          <p:spPr>
            <a:xfrm>
              <a:off x="685800" y="4038600"/>
              <a:ext cx="57150" cy="1428750"/>
            </a:xfrm>
            <a:prstGeom prst="roundRect">
              <a:avLst>
                <a:gd name="adj" fmla="val 50000"/>
              </a:avLst>
            </a:prstGeom>
            <a:solidFill>
              <a:schemeClr val="accent2"/>
            </a:solidFill>
            <a:ln>
              <a:noFill/>
            </a:ln>
          </p:spPr>
        </p:sp>
        <p:sp>
          <p:nvSpPr>
            <p:cNvPr id="15" name="TextBox 15"/>
            <p:cNvSpPr txBox="1"/>
            <p:nvPr/>
          </p:nvSpPr>
          <p:spPr>
            <a:xfrm>
              <a:off x="924306" y="4206240"/>
              <a:ext cx="986089"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USIS10K</a:t>
              </a:r>
            </a:p>
          </p:txBody>
        </p:sp>
        <p:sp>
          <p:nvSpPr>
            <p:cNvPr id="16" name="TextBox 16"/>
            <p:cNvSpPr txBox="1"/>
            <p:nvPr/>
          </p:nvSpPr>
          <p:spPr>
            <a:xfrm>
              <a:off x="927354" y="4575810"/>
              <a:ext cx="233559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First large-scale underwater</a:t>
              </a:r>
            </a:p>
          </p:txBody>
        </p:sp>
        <p:sp>
          <p:nvSpPr>
            <p:cNvPr id="17" name="TextBox 17"/>
            <p:cNvSpPr txBox="1"/>
            <p:nvPr/>
          </p:nvSpPr>
          <p:spPr>
            <a:xfrm>
              <a:off x="927354" y="4804410"/>
              <a:ext cx="251612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salient dataset — 10,632 images</a:t>
              </a:r>
            </a:p>
          </p:txBody>
        </p:sp>
        <p:sp>
          <p:nvSpPr>
            <p:cNvPr id="18" name="TextBox 18"/>
            <p:cNvSpPr txBox="1"/>
            <p:nvPr/>
          </p:nvSpPr>
          <p:spPr>
            <a:xfrm>
              <a:off x="928116" y="5106352"/>
              <a:ext cx="174928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pixel-level · 7 categories</a:t>
              </a:r>
            </a:p>
          </p:txBody>
        </p:sp>
        <p:sp>
          <p:nvSpPr>
            <p:cNvPr id="19" name="Rectangle 19"/>
            <p:cNvSpPr/>
            <p:nvPr/>
          </p:nvSpPr>
          <p:spPr>
            <a:xfrm>
              <a:off x="3619500" y="4038600"/>
              <a:ext cx="2762250" cy="1428750"/>
            </a:xfrm>
            <a:prstGeom prst="roundRect">
              <a:avLst>
                <a:gd name="adj" fmla="val 8000"/>
              </a:avLst>
            </a:prstGeom>
            <a:solidFill>
              <a:schemeClr val="lt2"/>
            </a:solidFill>
            <a:ln w="9525">
              <a:solidFill>
                <a:schemeClr val="accent4"/>
              </a:solidFill>
            </a:ln>
          </p:spPr>
        </p:sp>
        <p:sp>
          <p:nvSpPr>
            <p:cNvPr id="20" name="Rectangle 20"/>
            <p:cNvSpPr/>
            <p:nvPr/>
          </p:nvSpPr>
          <p:spPr>
            <a:xfrm>
              <a:off x="3619500" y="4038600"/>
              <a:ext cx="57150" cy="1428750"/>
            </a:xfrm>
            <a:prstGeom prst="roundRect">
              <a:avLst>
                <a:gd name="adj" fmla="val 50000"/>
              </a:avLst>
            </a:prstGeom>
            <a:solidFill>
              <a:schemeClr val="accent1"/>
            </a:solidFill>
            <a:ln>
              <a:noFill/>
            </a:ln>
          </p:spPr>
        </p:sp>
        <p:sp>
          <p:nvSpPr>
            <p:cNvPr id="21" name="TextBox 21"/>
            <p:cNvSpPr txBox="1"/>
            <p:nvPr/>
          </p:nvSpPr>
          <p:spPr>
            <a:xfrm>
              <a:off x="3858006" y="4206240"/>
              <a:ext cx="1187714"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USIS-SAM</a:t>
              </a:r>
            </a:p>
          </p:txBody>
        </p:sp>
        <p:sp>
          <p:nvSpPr>
            <p:cNvPr id="22" name="TextBox 22"/>
            <p:cNvSpPr txBox="1"/>
            <p:nvPr/>
          </p:nvSpPr>
          <p:spPr>
            <a:xfrm>
              <a:off x="3861054" y="4575810"/>
              <a:ext cx="228312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SAM adapted to underwater:</a:t>
              </a:r>
            </a:p>
          </p:txBody>
        </p:sp>
        <p:sp>
          <p:nvSpPr>
            <p:cNvPr id="23" name="TextBox 23"/>
            <p:cNvSpPr txBox="1"/>
            <p:nvPr/>
          </p:nvSpPr>
          <p:spPr>
            <a:xfrm>
              <a:off x="3861054" y="4804410"/>
              <a:ext cx="254843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visual prompts + self-prompting</a:t>
              </a:r>
            </a:p>
          </p:txBody>
        </p:sp>
        <p:sp>
          <p:nvSpPr>
            <p:cNvPr id="24" name="TextBox 24"/>
            <p:cNvSpPr txBox="1"/>
            <p:nvPr/>
          </p:nvSpPr>
          <p:spPr>
            <a:xfrm>
              <a:off x="3861816" y="5106352"/>
              <a:ext cx="145244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new state of the art</a:t>
              </a:r>
            </a:p>
          </p:txBody>
        </p:sp>
      </p:grpSp>
      <p:grpSp>
        <p:nvGrpSpPr>
          <p:cNvPr id="29" name="Group 29"/>
          <p:cNvGrpSpPr/>
          <p:nvPr/>
        </p:nvGrpSpPr>
        <p:grpSpPr>
          <a:xfrm>
            <a:off x="6781800" y="1428750"/>
            <a:ext cx="5497867" cy="2857500"/>
            <a:chOff x="6781800" y="1428750"/>
            <a:chExt cx="5497867" cy="2857500"/>
          </a:xfrm>
        </p:grpSpPr>
        <p:sp>
          <p:nvSpPr>
            <p:cNvPr id="26" name="Rectangle 26"/>
            <p:cNvSpPr/>
            <p:nvPr/>
          </p:nvSpPr>
          <p:spPr>
            <a:xfrm>
              <a:off x="6781800" y="1428750"/>
              <a:ext cx="4724400" cy="2857500"/>
            </a:xfrm>
            <a:prstGeom prst="roundRect">
              <a:avLst>
                <a:gd name="adj" fmla="val 4667"/>
              </a:avLst>
            </a:prstGeom>
            <a:solidFill>
              <a:schemeClr val="lt2"/>
            </a:solidFill>
            <a:ln w="9525">
              <a:solidFill>
                <a:schemeClr val="accent4"/>
              </a:solidFill>
            </a:ln>
          </p:spPr>
        </p:sp>
        <p:pic>
          <p:nvPicPr>
            <p:cNvPr id="27" name="Image 27"/>
            <p:cNvPicPr>
              <a:picLocks noChangeAspect="1"/>
            </p:cNvPicPr>
            <p:nvPr/>
          </p:nvPicPr>
          <p:blipFill>
            <a:blip r:embed="rId2"/>
            <a:stretch>
              <a:fillRect/>
            </a:stretch>
          </p:blipFill>
          <p:spPr>
            <a:xfrm>
              <a:off x="7058761" y="1562100"/>
              <a:ext cx="4170478" cy="2343150"/>
            </a:xfrm>
            <a:prstGeom prst="rect">
              <a:avLst/>
            </a:prstGeom>
          </p:spPr>
        </p:pic>
        <p:sp>
          <p:nvSpPr>
            <p:cNvPr id="28" name="TextBox 28"/>
            <p:cNvSpPr txBox="1"/>
            <p:nvPr/>
          </p:nvSpPr>
          <p:spPr>
            <a:xfrm>
              <a:off x="6909816" y="4020502"/>
              <a:ext cx="536985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USIS10K salient-region statistics compared with the prior SIS10K benchmark.</a:t>
              </a:r>
            </a:p>
          </p:txBody>
        </p:sp>
      </p:grpSp>
      <p:grpSp>
        <p:nvGrpSpPr>
          <p:cNvPr id="36" name="Group 36"/>
          <p:cNvGrpSpPr/>
          <p:nvPr/>
        </p:nvGrpSpPr>
        <p:grpSpPr>
          <a:xfrm>
            <a:off x="6781800" y="4514850"/>
            <a:ext cx="4724400" cy="952500"/>
            <a:chOff x="6781800" y="4514850"/>
            <a:chExt cx="4724400" cy="952500"/>
          </a:xfrm>
        </p:grpSpPr>
        <p:sp>
          <p:nvSpPr>
            <p:cNvPr id="30" name="Rectangle 30"/>
            <p:cNvSpPr/>
            <p:nvPr/>
          </p:nvSpPr>
          <p:spPr>
            <a:xfrm>
              <a:off x="6781800" y="4514850"/>
              <a:ext cx="4724400" cy="952500"/>
            </a:xfrm>
            <a:prstGeom prst="roundRect">
              <a:avLst>
                <a:gd name="adj" fmla="val 12000"/>
              </a:avLst>
            </a:prstGeom>
            <a:solidFill>
              <a:schemeClr val="lt2"/>
            </a:solidFill>
            <a:ln w="9525">
              <a:solidFill>
                <a:schemeClr val="accent4"/>
              </a:solidFill>
            </a:ln>
          </p:spPr>
        </p:sp>
        <p:sp>
          <p:nvSpPr>
            <p:cNvPr id="31" name="Rectangle 31"/>
            <p:cNvSpPr/>
            <p:nvPr/>
          </p:nvSpPr>
          <p:spPr>
            <a:xfrm>
              <a:off x="6915150" y="4629150"/>
              <a:ext cx="723900" cy="723900"/>
            </a:xfrm>
            <a:prstGeom prst="roundRect">
              <a:avLst>
                <a:gd name="adj" fmla="val 7895"/>
              </a:avLst>
            </a:prstGeom>
            <a:solidFill>
              <a:srgbClr val="FFFFFF"/>
            </a:solidFill>
            <a:ln>
              <a:noFill/>
            </a:ln>
          </p:spPr>
        </p:sp>
        <p:pic>
          <p:nvPicPr>
            <p:cNvPr id="32" name="Image 32"/>
            <p:cNvPicPr>
              <a:picLocks noChangeAspect="1"/>
            </p:cNvPicPr>
            <p:nvPr/>
          </p:nvPicPr>
          <p:blipFill>
            <a:blip r:embed="rId3"/>
            <a:stretch>
              <a:fillRect/>
            </a:stretch>
          </p:blipFill>
          <p:spPr>
            <a:xfrm>
              <a:off x="6972300" y="4686300"/>
              <a:ext cx="609600" cy="609600"/>
            </a:xfrm>
            <a:prstGeom prst="rect">
              <a:avLst/>
            </a:prstGeom>
          </p:spPr>
        </p:pic>
        <p:sp>
          <p:nvSpPr>
            <p:cNvPr id="33" name="TextBox 33"/>
            <p:cNvSpPr txBox="1"/>
            <p:nvPr/>
          </p:nvSpPr>
          <p:spPr>
            <a:xfrm>
              <a:off x="7804023" y="4758214"/>
              <a:ext cx="1835048"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Code &amp; Data released</a:t>
              </a:r>
            </a:p>
          </p:txBody>
        </p:sp>
        <p:sp>
          <p:nvSpPr>
            <p:cNvPr id="34" name="TextBox 34"/>
            <p:cNvSpPr txBox="1"/>
            <p:nvPr/>
          </p:nvSpPr>
          <p:spPr>
            <a:xfrm>
              <a:off x="7805166" y="5011102"/>
              <a:ext cx="237777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github.com/LiamLian0727/USIS10K</a:t>
              </a:r>
            </a:p>
          </p:txBody>
        </p:sp>
        <p:sp>
          <p:nvSpPr>
            <p:cNvPr id="35" name="TextBox 35"/>
            <p:cNvSpPr txBox="1"/>
            <p:nvPr/>
          </p:nvSpPr>
          <p:spPr>
            <a:xfrm>
              <a:off x="7805547" y="5209699"/>
              <a:ext cx="1150657" cy="190690"/>
            </a:xfrm>
            <a:prstGeom prst="rect">
              <a:avLst/>
            </a:prstGeom>
            <a:noFill/>
            <a:ln>
              <a:noFill/>
            </a:ln>
          </p:spPr>
          <p:txBody>
            <a:bodyPr wrap="none" lIns="0" tIns="0" rIns="0" bIns="0" anchor="t" anchorCtr="0">
              <a:spAutoFit/>
            </a:bodyPr>
            <a:lstStyle/>
            <a:p>
              <a:pPr algn="l"/>
              <a:r>
                <a:rPr lang="en-US" sz="980" dirty="0">
                  <a:solidFill>
                    <a:srgbClr val="6E93A4"/>
                  </a:solidFill>
                  <a:latin typeface="+mn-lt"/>
                  <a:ea typeface="+mn-ea"/>
                  <a:cs typeface="+mn-cs"/>
                </a:rPr>
                <a:t>arXiv:2406.06039</a:t>
              </a:r>
            </a:p>
          </p:txBody>
        </p:sp>
      </p:grpSp>
      <p:sp>
        <p:nvSpPr>
          <p:cNvPr id="37" name="Line 37"/>
          <p:cNvSpPr/>
          <p:nvPr/>
        </p:nvSpPr>
        <p:spPr>
          <a:xfrm>
            <a:off x="685800" y="622935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sp>
        <p:nvSpPr>
          <p:cNvPr id="38" name="TextBox 38"/>
          <p:cNvSpPr txBox="1"/>
          <p:nvPr/>
        </p:nvSpPr>
        <p:spPr>
          <a:xfrm>
            <a:off x="680847" y="6390799"/>
            <a:ext cx="3508632" cy="190690"/>
          </a:xfrm>
          <a:prstGeom prst="rect">
            <a:avLst/>
          </a:prstGeom>
          <a:noFill/>
          <a:ln>
            <a:noFill/>
          </a:ln>
        </p:spPr>
        <p:txBody>
          <a:bodyPr wrap="none" lIns="0" tIns="0" rIns="0" bIns="0" anchor="t" anchorCtr="0">
            <a:spAutoFit/>
          </a:bodyPr>
          <a:lstStyle/>
          <a:p>
            <a:pPr algn="l"/>
            <a:r>
              <a:rPr lang="en-US" sz="980" dirty="0">
                <a:solidFill>
                  <a:srgbClr val="6E93A4"/>
                </a:solidFill>
                <a:latin typeface="+mn-lt"/>
                <a:ea typeface="+mn-ea"/>
                <a:cs typeface="+mn-cs"/>
              </a:rPr>
              <a:t>USIS-SAM · Underwater Salient Instance Segmentation</a:t>
            </a:r>
          </a:p>
        </p:txBody>
      </p:sp>
      <p:sp>
        <p:nvSpPr>
          <p:cNvPr id="39" name="TextBox 39"/>
          <p:cNvSpPr txBox="1"/>
          <p:nvPr/>
        </p:nvSpPr>
        <p:spPr>
          <a:xfrm>
            <a:off x="11059290" y="6390799"/>
            <a:ext cx="451863" cy="190690"/>
          </a:xfrm>
          <a:prstGeom prst="rect">
            <a:avLst/>
          </a:prstGeom>
          <a:noFill/>
          <a:ln>
            <a:noFill/>
          </a:ln>
        </p:spPr>
        <p:txBody>
          <a:bodyPr wrap="none" lIns="0" tIns="0" rIns="0" bIns="0" anchor="t" anchorCtr="0">
            <a:spAutoFit/>
          </a:bodyPr>
          <a:lstStyle/>
          <a:p>
            <a:pPr algn="r"/>
            <a:r>
              <a:rPr lang="en-US" sz="980" dirty="0">
                <a:solidFill>
                  <a:srgbClr val="6E93A4"/>
                </a:solidFill>
                <a:latin typeface="+mn-lt"/>
                <a:ea typeface="+mn-ea"/>
                <a:cs typeface="+mn-cs"/>
              </a:rPr>
              <a:t>01 / 10</a:t>
            </a:r>
          </a:p>
        </p:txBody>
      </p:sp>
      <p:sp>
        <p:nvSpPr>
          <p:cNvPr id="40" name="cue_s01_c1_presented_icml_2024_work_tackles" title="cue_s01_c1_presented_icml_2024_work_tackles" descr="cue_s01_c1_presented_icml_2024_work_tackles Presented at ICML 2024, this work tackles underwater salient instance segmentation."/>
          <p:cNvSpPr/>
          <p:nvPr/>
        </p:nvSpPr>
        <p:spPr>
          <a:xfrm>
            <a:off x="666902" y="818845"/>
            <a:ext cx="6164275" cy="20745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1_c2_authors_build_usis10k_first_large_sc" title="cue_s01_c2_authors_build_usis10k_first_large_sc" descr="cue_s01_c2_authors_build_usis10k_first_large_sc The authors build USIS10K, the first large-scale underwater dataset with ten thousand pixel-level annotated images, and propose USIS-SAM, a Segment Anything Model tailored to underwater scenes that injects visual prompts and generates salient prompts automatic"/>
          <p:cNvSpPr/>
          <p:nvPr/>
        </p:nvSpPr>
        <p:spPr>
          <a:xfrm>
            <a:off x="686409" y="4038676"/>
            <a:ext cx="5724144"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A2233"/>
            </a:gs>
            <a:gs pos="100000">
              <a:srgbClr val="04121B"/>
            </a:gs>
          </a:gsLst>
          <a:lin ang="5400000" scaled="1"/>
        </a:gra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1"/>
              </a:gs>
              <a:gs pos="100000">
                <a:schemeClr val="accent3"/>
              </a:gs>
            </a:gsLst>
            <a:lin ang="0" scaled="1"/>
          </a:gradFill>
          <a:ln>
            <a:noFill/>
          </a:ln>
        </p:spPr>
        <p:txBody>
          <a:bodyPr/>
          <a:p/>
        </p:txBody>
      </p:sp>
      <p:sp>
        <p:nvSpPr>
          <p:cNvPr id="3" name="TextBox 3"/>
          <p:cNvSpPr txBox="1"/>
          <p:nvPr/>
        </p:nvSpPr>
        <p:spPr>
          <a:xfrm>
            <a:off x="679704" y="670560"/>
            <a:ext cx="701581"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02 / 10</a:t>
            </a:r>
          </a:p>
        </p:txBody>
      </p:sp>
      <p:sp>
        <p:nvSpPr>
          <p:cNvPr id="4" name="TextBox 4"/>
          <p:cNvSpPr txBox="1"/>
          <p:nvPr/>
        </p:nvSpPr>
        <p:spPr>
          <a:xfrm>
            <a:off x="671322" y="930592"/>
            <a:ext cx="2371569"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The Problem</a:t>
            </a:r>
          </a:p>
        </p:txBody>
      </p:sp>
      <p:sp>
        <p:nvSpPr>
          <p:cNvPr id="5" name="Rectangle 5"/>
          <p:cNvSpPr/>
          <p:nvPr/>
        </p:nvSpPr>
        <p:spPr>
          <a:xfrm>
            <a:off x="685800" y="1390650"/>
            <a:ext cx="609600" cy="38100"/>
          </a:xfrm>
          <a:prstGeom prst="roundRect">
            <a:avLst>
              <a:gd name="adj" fmla="val 50000"/>
            </a:avLst>
          </a:prstGeom>
          <a:solidFill>
            <a:schemeClr val="accent2"/>
          </a:solidFill>
          <a:ln>
            <a:noFill/>
          </a:ln>
        </p:spPr>
        <p:txBody>
          <a:bodyPr/>
          <a:p/>
        </p:txBody>
      </p:sp>
      <p:grpSp>
        <p:nvGrpSpPr>
          <p:cNvPr id="12" name="Group 12"/>
          <p:cNvGrpSpPr/>
          <p:nvPr/>
        </p:nvGrpSpPr>
        <p:grpSpPr>
          <a:xfrm>
            <a:off x="685800" y="1733550"/>
            <a:ext cx="5562600" cy="1242251"/>
            <a:chOff x="685800" y="1733550"/>
            <a:chExt cx="5562600" cy="1242251"/>
          </a:xfrm>
        </p:grpSpPr>
        <p:sp>
          <p:nvSpPr>
            <p:cNvPr id="6" name="Rectangle 6"/>
            <p:cNvSpPr/>
            <p:nvPr/>
          </p:nvSpPr>
          <p:spPr>
            <a:xfrm>
              <a:off x="685800" y="1733550"/>
              <a:ext cx="5562600" cy="1143000"/>
            </a:xfrm>
            <a:prstGeom prst="roundRect">
              <a:avLst>
                <a:gd name="adj" fmla="val 10000"/>
              </a:avLst>
            </a:prstGeom>
            <a:solidFill>
              <a:schemeClr val="lt2"/>
            </a:solidFill>
            <a:ln w="9525">
              <a:solidFill>
                <a:schemeClr val="accent4"/>
              </a:solidFill>
            </a:ln>
          </p:spPr>
        </p:sp>
        <p:sp>
          <p:nvSpPr>
            <p:cNvPr id="7" name="Rectangle 7"/>
            <p:cNvSpPr/>
            <p:nvPr/>
          </p:nvSpPr>
          <p:spPr>
            <a:xfrm>
              <a:off x="685800" y="1733550"/>
              <a:ext cx="57150" cy="1143000"/>
            </a:xfrm>
            <a:prstGeom prst="roundRect">
              <a:avLst>
                <a:gd name="adj" fmla="val 50000"/>
              </a:avLst>
            </a:prstGeom>
            <a:solidFill>
              <a:schemeClr val="accent1"/>
            </a:solidFill>
            <a:ln>
              <a:noFill/>
            </a:ln>
          </p:spPr>
        </p:sp>
        <p:sp>
          <p:nvSpPr>
            <p:cNvPr id="8" name="TextBox 8"/>
            <p:cNvSpPr txBox="1"/>
            <p:nvPr/>
          </p:nvSpPr>
          <p:spPr>
            <a:xfrm>
              <a:off x="927354" y="1927860"/>
              <a:ext cx="755965"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THE TASK</a:t>
              </a:r>
            </a:p>
          </p:txBody>
        </p:sp>
        <p:sp>
          <p:nvSpPr>
            <p:cNvPr id="9" name="TextBox 9"/>
            <p:cNvSpPr txBox="1"/>
            <p:nvPr/>
          </p:nvSpPr>
          <p:spPr>
            <a:xfrm>
              <a:off x="925830" y="2200275"/>
              <a:ext cx="454503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Find and separate the most visually important</a:t>
              </a:r>
            </a:p>
          </p:txBody>
        </p:sp>
        <p:sp>
          <p:nvSpPr>
            <p:cNvPr id="10" name="TextBox 10"/>
            <p:cNvSpPr txBox="1"/>
            <p:nvPr/>
          </p:nvSpPr>
          <p:spPr>
            <a:xfrm>
              <a:off x="925830" y="2447925"/>
              <a:ext cx="452837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objects underwater — a foundation for marine</a:t>
              </a:r>
            </a:p>
          </p:txBody>
        </p:sp>
        <p:sp>
          <p:nvSpPr>
            <p:cNvPr id="11" name="TextBox 11"/>
            <p:cNvSpPr txBox="1"/>
            <p:nvPr/>
          </p:nvSpPr>
          <p:spPr>
            <a:xfrm>
              <a:off x="926592" y="2711768"/>
              <a:ext cx="337585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exploration and underwater robotics.</a:t>
              </a:r>
            </a:p>
          </p:txBody>
        </p:sp>
      </p:grpSp>
      <p:grpSp>
        <p:nvGrpSpPr>
          <p:cNvPr id="17" name="Group 17"/>
          <p:cNvGrpSpPr/>
          <p:nvPr/>
        </p:nvGrpSpPr>
        <p:grpSpPr>
          <a:xfrm>
            <a:off x="6553200" y="1733550"/>
            <a:ext cx="4953000" cy="2857500"/>
            <a:chOff x="6553200" y="1733550"/>
            <a:chExt cx="4953000" cy="2857500"/>
          </a:xfrm>
        </p:grpSpPr>
        <p:sp>
          <p:nvSpPr>
            <p:cNvPr id="13" name="Rectangle 13"/>
            <p:cNvSpPr/>
            <p:nvPr/>
          </p:nvSpPr>
          <p:spPr>
            <a:xfrm>
              <a:off x="6553200" y="1733550"/>
              <a:ext cx="4953000" cy="2857500"/>
            </a:xfrm>
            <a:prstGeom prst="roundRect">
              <a:avLst>
                <a:gd name="adj" fmla="val 4000"/>
              </a:avLst>
            </a:prstGeom>
            <a:solidFill>
              <a:schemeClr val="lt2"/>
            </a:solidFill>
            <a:ln w="9525">
              <a:solidFill>
                <a:schemeClr val="accent4"/>
              </a:solidFill>
            </a:ln>
          </p:spPr>
        </p:sp>
        <p:pic>
          <p:nvPicPr>
            <p:cNvPr id="14" name="Image 14"/>
            <p:cNvPicPr>
              <a:picLocks noChangeAspect="1"/>
            </p:cNvPicPr>
            <p:nvPr/>
          </p:nvPicPr>
          <p:blipFill>
            <a:blip r:embed="rId2"/>
            <a:stretch>
              <a:fillRect/>
            </a:stretch>
          </p:blipFill>
          <p:spPr>
            <a:xfrm>
              <a:off x="6686550" y="1869694"/>
              <a:ext cx="4686300" cy="2166112"/>
            </a:xfrm>
            <a:prstGeom prst="rect">
              <a:avLst/>
            </a:prstGeom>
          </p:spPr>
        </p:pic>
        <p:sp>
          <p:nvSpPr>
            <p:cNvPr id="15" name="TextBox 15"/>
            <p:cNvSpPr txBox="1"/>
            <p:nvPr/>
          </p:nvSpPr>
          <p:spPr>
            <a:xfrm>
              <a:off x="6681216" y="4191952"/>
              <a:ext cx="477928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Fig. 1: prior methods lose accuracy on degraded underwater scenes.</a:t>
              </a:r>
            </a:p>
          </p:txBody>
        </p:sp>
        <p:sp>
          <p:nvSpPr>
            <p:cNvPr id="16" name="TextBox 16"/>
            <p:cNvSpPr txBox="1"/>
            <p:nvPr/>
          </p:nvSpPr>
          <p:spPr>
            <a:xfrm>
              <a:off x="6681597" y="4390549"/>
              <a:ext cx="3200152" cy="190690"/>
            </a:xfrm>
            <a:prstGeom prst="rect">
              <a:avLst/>
            </a:prstGeom>
            <a:noFill/>
            <a:ln>
              <a:noFill/>
            </a:ln>
          </p:spPr>
          <p:txBody>
            <a:bodyPr wrap="none" lIns="0" tIns="0" rIns="0" bIns="0" anchor="t" anchorCtr="0">
              <a:spAutoFit/>
            </a:bodyPr>
            <a:lstStyle/>
            <a:p>
              <a:pPr algn="l"/>
              <a:r>
                <a:rPr lang="en-US" sz="980" dirty="0">
                  <a:solidFill>
                    <a:srgbClr val="6E93A4"/>
                  </a:solidFill>
                  <a:latin typeface="+mn-lt"/>
                  <a:ea typeface="+mn-ea"/>
                  <a:cs typeface="+mn-cs"/>
                </a:rPr>
                <a:t>Different colors mark distinct salient instances.</a:t>
              </a:r>
            </a:p>
          </p:txBody>
        </p:sp>
      </p:grpSp>
      <p:grpSp>
        <p:nvGrpSpPr>
          <p:cNvPr id="26" name="Group 26"/>
          <p:cNvGrpSpPr/>
          <p:nvPr/>
        </p:nvGrpSpPr>
        <p:grpSpPr>
          <a:xfrm>
            <a:off x="685800" y="3143250"/>
            <a:ext cx="1790700" cy="1866900"/>
            <a:chOff x="685800" y="3143250"/>
            <a:chExt cx="1790700" cy="1866900"/>
          </a:xfrm>
        </p:grpSpPr>
        <p:sp>
          <p:nvSpPr>
            <p:cNvPr id="18" name="Rectangle 18"/>
            <p:cNvSpPr/>
            <p:nvPr/>
          </p:nvSpPr>
          <p:spPr>
            <a:xfrm>
              <a:off x="685800" y="3143250"/>
              <a:ext cx="1790700" cy="1866900"/>
            </a:xfrm>
            <a:prstGeom prst="roundRect">
              <a:avLst>
                <a:gd name="adj" fmla="val 6383"/>
              </a:avLst>
            </a:prstGeom>
            <a:solidFill>
              <a:schemeClr val="accent5"/>
            </a:solidFill>
            <a:ln w="9525">
              <a:solidFill>
                <a:schemeClr val="accent4"/>
              </a:solidFill>
            </a:ln>
          </p:spPr>
        </p:sp>
        <p:sp>
          <p:nvSpPr>
            <p:cNvPr id="19" name="Ellipse 19"/>
            <p:cNvSpPr/>
            <p:nvPr/>
          </p:nvSpPr>
          <p:spPr>
            <a:xfrm>
              <a:off x="876300" y="3390900"/>
              <a:ext cx="190500" cy="190500"/>
            </a:xfrm>
            <a:prstGeom prst="ellipse">
              <a:avLst/>
            </a:prstGeom>
            <a:solidFill>
              <a:srgbClr val="FF7E6B"/>
            </a:solidFill>
            <a:ln>
              <a:noFill/>
            </a:ln>
          </p:spPr>
        </p:sp>
        <p:sp>
          <p:nvSpPr>
            <p:cNvPr id="20" name="TextBox 20"/>
            <p:cNvSpPr txBox="1"/>
            <p:nvPr/>
          </p:nvSpPr>
          <p:spPr>
            <a:xfrm>
              <a:off x="1213104" y="3413760"/>
              <a:ext cx="763806" cy="234696"/>
            </a:xfrm>
            <a:prstGeom prst="rect">
              <a:avLst/>
            </a:prstGeom>
            <a:noFill/>
            <a:ln>
              <a:noFill/>
            </a:ln>
          </p:spPr>
          <p:txBody>
            <a:bodyPr wrap="none" lIns="0" tIns="0" rIns="0" bIns="0" anchor="t" anchorCtr="0">
              <a:spAutoFit/>
            </a:bodyPr>
            <a:lstStyle/>
            <a:p>
              <a:pPr algn="l"/>
              <a:r>
                <a:rPr lang="en-US" sz="1200" b="1" dirty="0">
                  <a:solidFill>
                    <a:srgbClr val="FF7E6B"/>
                  </a:solidFill>
                  <a:latin typeface="+mn-lt"/>
                  <a:ea typeface="+mn-ea"/>
                  <a:cs typeface="+mn-cs"/>
                </a:rPr>
                <a:t>Degraded</a:t>
              </a:r>
            </a:p>
          </p:txBody>
        </p:sp>
        <p:sp>
          <p:nvSpPr>
            <p:cNvPr id="21" name="TextBox 21"/>
            <p:cNvSpPr txBox="1"/>
            <p:nvPr/>
          </p:nvSpPr>
          <p:spPr>
            <a:xfrm>
              <a:off x="851154" y="3775710"/>
              <a:ext cx="140671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Light scattering,</a:t>
              </a:r>
            </a:p>
          </p:txBody>
        </p:sp>
        <p:sp>
          <p:nvSpPr>
            <p:cNvPr id="22" name="TextBox 22"/>
            <p:cNvSpPr txBox="1"/>
            <p:nvPr/>
          </p:nvSpPr>
          <p:spPr>
            <a:xfrm>
              <a:off x="851154" y="3985260"/>
              <a:ext cx="127223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color distortion</a:t>
              </a:r>
            </a:p>
          </p:txBody>
        </p:sp>
        <p:sp>
          <p:nvSpPr>
            <p:cNvPr id="23" name="TextBox 23"/>
            <p:cNvSpPr txBox="1"/>
            <p:nvPr/>
          </p:nvSpPr>
          <p:spPr>
            <a:xfrm>
              <a:off x="851154" y="4194810"/>
              <a:ext cx="128839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and marine snow</a:t>
              </a:r>
            </a:p>
          </p:txBody>
        </p:sp>
        <p:sp>
          <p:nvSpPr>
            <p:cNvPr id="24" name="TextBox 24"/>
            <p:cNvSpPr txBox="1"/>
            <p:nvPr/>
          </p:nvSpPr>
          <p:spPr>
            <a:xfrm>
              <a:off x="851916" y="4496752"/>
              <a:ext cx="133230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degrade images, so</a:t>
              </a:r>
            </a:p>
          </p:txBody>
        </p:sp>
        <p:sp>
          <p:nvSpPr>
            <p:cNvPr id="25" name="TextBox 25"/>
            <p:cNvSpPr txBox="1"/>
            <p:nvPr/>
          </p:nvSpPr>
          <p:spPr>
            <a:xfrm>
              <a:off x="851916" y="4687252"/>
              <a:ext cx="121921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top methods fail.</a:t>
              </a:r>
            </a:p>
          </p:txBody>
        </p:sp>
      </p:grpSp>
      <p:grpSp>
        <p:nvGrpSpPr>
          <p:cNvPr id="35" name="Group 35"/>
          <p:cNvGrpSpPr/>
          <p:nvPr/>
        </p:nvGrpSpPr>
        <p:grpSpPr>
          <a:xfrm>
            <a:off x="2590800" y="3143250"/>
            <a:ext cx="1790700" cy="1866900"/>
            <a:chOff x="2590800" y="3143250"/>
            <a:chExt cx="1790700" cy="1866900"/>
          </a:xfrm>
        </p:grpSpPr>
        <p:sp>
          <p:nvSpPr>
            <p:cNvPr id="27" name="Rectangle 27"/>
            <p:cNvSpPr/>
            <p:nvPr/>
          </p:nvSpPr>
          <p:spPr>
            <a:xfrm>
              <a:off x="2590800" y="3143250"/>
              <a:ext cx="1790700" cy="1866900"/>
            </a:xfrm>
            <a:prstGeom prst="roundRect">
              <a:avLst>
                <a:gd name="adj" fmla="val 6383"/>
              </a:avLst>
            </a:prstGeom>
            <a:solidFill>
              <a:schemeClr val="accent5"/>
            </a:solidFill>
            <a:ln w="9525">
              <a:solidFill>
                <a:schemeClr val="accent4"/>
              </a:solidFill>
            </a:ln>
          </p:spPr>
        </p:sp>
        <p:sp>
          <p:nvSpPr>
            <p:cNvPr id="28" name="Ellipse 28"/>
            <p:cNvSpPr/>
            <p:nvPr/>
          </p:nvSpPr>
          <p:spPr>
            <a:xfrm>
              <a:off x="2781300" y="3390900"/>
              <a:ext cx="190500" cy="190500"/>
            </a:xfrm>
            <a:prstGeom prst="ellipse">
              <a:avLst/>
            </a:prstGeom>
            <a:solidFill>
              <a:schemeClr val="accent2"/>
            </a:solidFill>
            <a:ln>
              <a:noFill/>
            </a:ln>
          </p:spPr>
        </p:sp>
        <p:sp>
          <p:nvSpPr>
            <p:cNvPr id="29" name="TextBox 29"/>
            <p:cNvSpPr txBox="1"/>
            <p:nvPr/>
          </p:nvSpPr>
          <p:spPr>
            <a:xfrm>
              <a:off x="3118104" y="3413760"/>
              <a:ext cx="628589"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No data</a:t>
              </a:r>
            </a:p>
          </p:txBody>
        </p:sp>
        <p:sp>
          <p:nvSpPr>
            <p:cNvPr id="30" name="TextBox 30"/>
            <p:cNvSpPr txBox="1"/>
            <p:nvPr/>
          </p:nvSpPr>
          <p:spPr>
            <a:xfrm>
              <a:off x="2756154" y="3775710"/>
              <a:ext cx="114021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No large-scale</a:t>
              </a:r>
            </a:p>
          </p:txBody>
        </p:sp>
        <p:sp>
          <p:nvSpPr>
            <p:cNvPr id="31" name="TextBox 31"/>
            <p:cNvSpPr txBox="1"/>
            <p:nvPr/>
          </p:nvSpPr>
          <p:spPr>
            <a:xfrm>
              <a:off x="2756154" y="3985260"/>
              <a:ext cx="102991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dataset with</a:t>
              </a:r>
            </a:p>
          </p:txBody>
        </p:sp>
        <p:sp>
          <p:nvSpPr>
            <p:cNvPr id="32" name="TextBox 32"/>
            <p:cNvSpPr txBox="1"/>
            <p:nvPr/>
          </p:nvSpPr>
          <p:spPr>
            <a:xfrm>
              <a:off x="2756154" y="4194810"/>
              <a:ext cx="141762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pixel-level salient</a:t>
              </a:r>
            </a:p>
          </p:txBody>
        </p:sp>
        <p:sp>
          <p:nvSpPr>
            <p:cNvPr id="33" name="TextBox 33"/>
            <p:cNvSpPr txBox="1"/>
            <p:nvPr/>
          </p:nvSpPr>
          <p:spPr>
            <a:xfrm>
              <a:off x="2756154" y="4404360"/>
              <a:ext cx="108646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annotations —</a:t>
              </a:r>
            </a:p>
          </p:txBody>
        </p:sp>
        <p:sp>
          <p:nvSpPr>
            <p:cNvPr id="34" name="TextBox 34"/>
            <p:cNvSpPr txBox="1"/>
            <p:nvPr/>
          </p:nvSpPr>
          <p:spPr>
            <a:xfrm>
              <a:off x="2756916" y="4668202"/>
              <a:ext cx="122628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progress stalled.</a:t>
              </a:r>
            </a:p>
          </p:txBody>
        </p:sp>
      </p:grpSp>
      <p:grpSp>
        <p:nvGrpSpPr>
          <p:cNvPr id="44" name="Group 44"/>
          <p:cNvGrpSpPr/>
          <p:nvPr/>
        </p:nvGrpSpPr>
        <p:grpSpPr>
          <a:xfrm>
            <a:off x="4495800" y="3143250"/>
            <a:ext cx="1752600" cy="1866900"/>
            <a:chOff x="4495800" y="3143250"/>
            <a:chExt cx="1752600" cy="1866900"/>
          </a:xfrm>
        </p:grpSpPr>
        <p:sp>
          <p:nvSpPr>
            <p:cNvPr id="36" name="Rectangle 36"/>
            <p:cNvSpPr/>
            <p:nvPr/>
          </p:nvSpPr>
          <p:spPr>
            <a:xfrm>
              <a:off x="4495800" y="3143250"/>
              <a:ext cx="1752600" cy="1866900"/>
            </a:xfrm>
            <a:prstGeom prst="roundRect">
              <a:avLst>
                <a:gd name="adj" fmla="val 6522"/>
              </a:avLst>
            </a:prstGeom>
            <a:solidFill>
              <a:schemeClr val="accent5"/>
            </a:solidFill>
            <a:ln w="9525">
              <a:solidFill>
                <a:schemeClr val="accent4"/>
              </a:solidFill>
            </a:ln>
          </p:spPr>
        </p:sp>
        <p:sp>
          <p:nvSpPr>
            <p:cNvPr id="37" name="Ellipse 37"/>
            <p:cNvSpPr/>
            <p:nvPr/>
          </p:nvSpPr>
          <p:spPr>
            <a:xfrm>
              <a:off x="4686300" y="3390900"/>
              <a:ext cx="190500" cy="190500"/>
            </a:xfrm>
            <a:prstGeom prst="ellipse">
              <a:avLst/>
            </a:prstGeom>
            <a:solidFill>
              <a:schemeClr val="accent3"/>
            </a:solidFill>
            <a:ln>
              <a:noFill/>
            </a:ln>
          </p:spPr>
        </p:sp>
        <p:sp>
          <p:nvSpPr>
            <p:cNvPr id="38" name="TextBox 38"/>
            <p:cNvSpPr txBox="1"/>
            <p:nvPr/>
          </p:nvSpPr>
          <p:spPr>
            <a:xfrm>
              <a:off x="5023104" y="3413760"/>
              <a:ext cx="674995"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SAM gap</a:t>
              </a:r>
            </a:p>
          </p:txBody>
        </p:sp>
        <p:sp>
          <p:nvSpPr>
            <p:cNvPr id="39" name="TextBox 39"/>
            <p:cNvSpPr txBox="1"/>
            <p:nvPr/>
          </p:nvSpPr>
          <p:spPr>
            <a:xfrm>
              <a:off x="4661154" y="3775710"/>
              <a:ext cx="143880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Foundation models</a:t>
              </a:r>
            </a:p>
          </p:txBody>
        </p:sp>
        <p:sp>
          <p:nvSpPr>
            <p:cNvPr id="40" name="TextBox 40"/>
            <p:cNvSpPr txBox="1"/>
            <p:nvPr/>
          </p:nvSpPr>
          <p:spPr>
            <a:xfrm>
              <a:off x="4661154" y="3985260"/>
              <a:ext cx="96505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like SAM are</a:t>
              </a:r>
            </a:p>
          </p:txBody>
        </p:sp>
        <p:sp>
          <p:nvSpPr>
            <p:cNvPr id="41" name="TextBox 41"/>
            <p:cNvSpPr txBox="1"/>
            <p:nvPr/>
          </p:nvSpPr>
          <p:spPr>
            <a:xfrm>
              <a:off x="4661154" y="4194810"/>
              <a:ext cx="144993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trained on natural</a:t>
              </a:r>
            </a:p>
          </p:txBody>
        </p:sp>
        <p:sp>
          <p:nvSpPr>
            <p:cNvPr id="42" name="TextBox 42"/>
            <p:cNvSpPr txBox="1"/>
            <p:nvPr/>
          </p:nvSpPr>
          <p:spPr>
            <a:xfrm>
              <a:off x="4661154" y="4404360"/>
              <a:ext cx="85222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images and</a:t>
              </a:r>
            </a:p>
          </p:txBody>
        </p:sp>
        <p:sp>
          <p:nvSpPr>
            <p:cNvPr id="43" name="TextBox 43"/>
            <p:cNvSpPr txBox="1"/>
            <p:nvPr/>
          </p:nvSpPr>
          <p:spPr>
            <a:xfrm>
              <a:off x="4661916" y="4668202"/>
              <a:ext cx="152312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struggle underwater.</a:t>
              </a:r>
            </a:p>
          </p:txBody>
        </p:sp>
      </p:grpSp>
      <p:sp>
        <p:nvSpPr>
          <p:cNvPr id="45" name="Line 45"/>
          <p:cNvSpPr/>
          <p:nvPr/>
        </p:nvSpPr>
        <p:spPr>
          <a:xfrm>
            <a:off x="685800" y="622935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sp>
        <p:nvSpPr>
          <p:cNvPr id="46" name="TextBox 46"/>
          <p:cNvSpPr txBox="1"/>
          <p:nvPr/>
        </p:nvSpPr>
        <p:spPr>
          <a:xfrm>
            <a:off x="680847" y="6390799"/>
            <a:ext cx="3508632" cy="190690"/>
          </a:xfrm>
          <a:prstGeom prst="rect">
            <a:avLst/>
          </a:prstGeom>
          <a:noFill/>
          <a:ln>
            <a:noFill/>
          </a:ln>
        </p:spPr>
        <p:txBody>
          <a:bodyPr wrap="none" lIns="0" tIns="0" rIns="0" bIns="0" anchor="t" anchorCtr="0">
            <a:spAutoFit/>
          </a:bodyPr>
          <a:lstStyle/>
          <a:p>
            <a:pPr algn="l"/>
            <a:r>
              <a:rPr lang="en-US" sz="980" dirty="0">
                <a:solidFill>
                  <a:srgbClr val="6E93A4"/>
                </a:solidFill>
                <a:latin typeface="+mn-lt"/>
                <a:ea typeface="+mn-ea"/>
                <a:cs typeface="+mn-cs"/>
              </a:rPr>
              <a:t>USIS-SAM · Underwater Salient Instance Segmentation</a:t>
            </a:r>
          </a:p>
        </p:txBody>
      </p:sp>
      <p:sp>
        <p:nvSpPr>
          <p:cNvPr id="47" name="TextBox 47"/>
          <p:cNvSpPr txBox="1"/>
          <p:nvPr/>
        </p:nvSpPr>
        <p:spPr>
          <a:xfrm>
            <a:off x="11059290" y="6390799"/>
            <a:ext cx="451863" cy="190690"/>
          </a:xfrm>
          <a:prstGeom prst="rect">
            <a:avLst/>
          </a:prstGeom>
          <a:noFill/>
          <a:ln>
            <a:noFill/>
          </a:ln>
        </p:spPr>
        <p:txBody>
          <a:bodyPr wrap="none" lIns="0" tIns="0" rIns="0" bIns="0" anchor="t" anchorCtr="0">
            <a:spAutoFit/>
          </a:bodyPr>
          <a:lstStyle/>
          <a:p>
            <a:pPr algn="r"/>
            <a:r>
              <a:rPr lang="en-US" sz="980" dirty="0">
                <a:solidFill>
                  <a:srgbClr val="6E93A4"/>
                </a:solidFill>
                <a:latin typeface="+mn-lt"/>
                <a:ea typeface="+mn-ea"/>
                <a:cs typeface="+mn-cs"/>
              </a:rPr>
              <a:t>02 / 10</a:t>
            </a:r>
          </a:p>
        </p:txBody>
      </p:sp>
      <p:sp>
        <p:nvSpPr>
          <p:cNvPr id="48" name="cue_s02_c1_underwater_salient_instance_segmenta" title="cue_s02_c1_underwater_salient_instance_segmenta" descr="cue_s02_c1_underwater_salient_instance_segmenta Underwater salient instance segmentation asks a model to find and separate the most important objects in a scene, a foundational step for marine exploration and robotics."/>
          <p:cNvSpPr/>
          <p:nvPr/>
        </p:nvSpPr>
        <p:spPr>
          <a:xfrm>
            <a:off x="686409" y="1733702"/>
            <a:ext cx="5561990" cy="124198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2_c2_but_hard_underwater_images_suffer" title="cue_s02_c2_but_hard_underwater_images_suffer" descr="cue_s02_c2_but_hard_underwater_images_suffer But it is hard. Underwater images suffer light scattering, color distortion, and marine snow, so even top methods lose accuracy."/>
          <p:cNvSpPr/>
          <p:nvPr/>
        </p:nvSpPr>
        <p:spPr>
          <a:xfrm>
            <a:off x="686409" y="3143021"/>
            <a:ext cx="1791004"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2_c3_field_lacked_large_scale_dataset_pix" title="cue_s02_c3_field_lacked_large_scale_dataset_pix" descr="cue_s02_c3_field_lacked_large_scale_dataset_pix The field has lacked a large-scale dataset with pixel-level salient annotations, stalling progress."/>
          <p:cNvSpPr/>
          <p:nvPr/>
        </p:nvSpPr>
        <p:spPr>
          <a:xfrm>
            <a:off x="2590800" y="3143021"/>
            <a:ext cx="1791004"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2_c4_foundation_models_like_sam_exist" title="cue_s02_c4_foundation_models_like_sam_exist" descr="cue_s02_c4_foundation_models_like_sam_exist Foundation models like SAM exist, but were trained on natural images and struggle underwater."/>
          <p:cNvSpPr/>
          <p:nvPr/>
        </p:nvSpPr>
        <p:spPr>
          <a:xfrm>
            <a:off x="4496409" y="3143021"/>
            <a:ext cx="175199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0A2233"/>
            </a:gs>
            <a:gs pos="100000">
              <a:srgbClr val="04121B"/>
            </a:gs>
          </a:gsLst>
          <a:lin ang="5400000" scaled="1"/>
        </a:gra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1"/>
              </a:gs>
              <a:gs pos="100000">
                <a:schemeClr val="accent3"/>
              </a:gs>
            </a:gsLst>
            <a:lin ang="0" scaled="1"/>
          </a:gradFill>
          <a:ln>
            <a:noFill/>
          </a:ln>
        </p:spPr>
        <p:txBody>
          <a:bodyPr/>
          <a:p/>
        </p:txBody>
      </p:sp>
      <p:sp>
        <p:nvSpPr>
          <p:cNvPr id="3" name="TextBox 3"/>
          <p:cNvSpPr txBox="1"/>
          <p:nvPr/>
        </p:nvSpPr>
        <p:spPr>
          <a:xfrm>
            <a:off x="679704" y="670560"/>
            <a:ext cx="701581"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03 / 10</a:t>
            </a:r>
          </a:p>
        </p:txBody>
      </p:sp>
      <p:sp>
        <p:nvSpPr>
          <p:cNvPr id="4" name="TextBox 4"/>
          <p:cNvSpPr txBox="1"/>
          <p:nvPr/>
        </p:nvSpPr>
        <p:spPr>
          <a:xfrm>
            <a:off x="671322" y="930592"/>
            <a:ext cx="2135635"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Motivation</a:t>
            </a:r>
          </a:p>
        </p:txBody>
      </p:sp>
      <p:sp>
        <p:nvSpPr>
          <p:cNvPr id="5" name="Rectangle 5"/>
          <p:cNvSpPr/>
          <p:nvPr/>
        </p:nvSpPr>
        <p:spPr>
          <a:xfrm>
            <a:off x="685800" y="1390650"/>
            <a:ext cx="609600" cy="38100"/>
          </a:xfrm>
          <a:prstGeom prst="roundRect">
            <a:avLst>
              <a:gd name="adj" fmla="val 50000"/>
            </a:avLst>
          </a:prstGeom>
          <a:solidFill>
            <a:schemeClr val="accent2"/>
          </a:solidFill>
          <a:ln>
            <a:noFill/>
          </a:ln>
        </p:spPr>
        <p:txBody>
          <a:bodyPr/>
          <a:p/>
        </p:txBody>
      </p:sp>
      <p:grpSp>
        <p:nvGrpSpPr>
          <p:cNvPr id="7" name="Group 7"/>
          <p:cNvGrpSpPr/>
          <p:nvPr/>
        </p:nvGrpSpPr>
        <p:grpSpPr>
          <a:xfrm>
            <a:off x="676656" y="1748790"/>
            <a:ext cx="8620007" cy="352044"/>
            <a:chOff x="676656" y="1748790"/>
            <a:chExt cx="8620007" cy="352044"/>
          </a:xfrm>
        </p:grpSpPr>
        <p:sp>
          <p:nvSpPr>
            <p:cNvPr id="6" name="TextBox 6"/>
            <p:cNvSpPr txBox="1"/>
            <p:nvPr/>
          </p:nvSpPr>
          <p:spPr>
            <a:xfrm>
              <a:off x="676656" y="1748790"/>
              <a:ext cx="8620007"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 xml:space="preserve">SAM has spread across computer vision — but underwater it </a:t>
              </a:r>
              <a:r>
                <a:rPr lang="en-US" sz="1800" b="1" dirty="0">
                  <a:solidFill>
                    <a:srgbClr val="FF7E6B"/>
                  </a:solidFill>
                  <a:latin typeface="+mn-lt"/>
                  <a:ea typeface="+mn-ea"/>
                  <a:cs typeface="+mn-cs"/>
                </a:rPr>
                <a:t>falls short.</a:t>
              </a:r>
            </a:p>
          </p:txBody>
        </p:sp>
      </p:grpSp>
      <p:grpSp>
        <p:nvGrpSpPr>
          <p:cNvPr id="18" name="Group 18"/>
          <p:cNvGrpSpPr/>
          <p:nvPr/>
        </p:nvGrpSpPr>
        <p:grpSpPr>
          <a:xfrm>
            <a:off x="685800" y="2286000"/>
            <a:ext cx="4953000" cy="2857500"/>
            <a:chOff x="685800" y="2286000"/>
            <a:chExt cx="4953000" cy="2857500"/>
          </a:xfrm>
        </p:grpSpPr>
        <p:sp>
          <p:nvSpPr>
            <p:cNvPr id="8" name="Rectangle 8"/>
            <p:cNvSpPr/>
            <p:nvPr/>
          </p:nvSpPr>
          <p:spPr>
            <a:xfrm>
              <a:off x="685800" y="2286000"/>
              <a:ext cx="4953000" cy="2857500"/>
            </a:xfrm>
            <a:prstGeom prst="roundRect">
              <a:avLst>
                <a:gd name="adj" fmla="val 4000"/>
              </a:avLst>
            </a:prstGeom>
            <a:solidFill>
              <a:schemeClr val="lt2"/>
            </a:solidFill>
            <a:ln w="9525">
              <a:solidFill>
                <a:schemeClr val="accent4"/>
              </a:solidFill>
            </a:ln>
          </p:spPr>
        </p:sp>
        <p:sp>
          <p:nvSpPr>
            <p:cNvPr id="9" name="TextBox 9"/>
            <p:cNvSpPr txBox="1"/>
            <p:nvPr/>
          </p:nvSpPr>
          <p:spPr>
            <a:xfrm>
              <a:off x="927354" y="2537460"/>
              <a:ext cx="1858183"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WHY SAM FALLS SHORT</a:t>
              </a:r>
            </a:p>
          </p:txBody>
        </p:sp>
        <p:sp>
          <p:nvSpPr>
            <p:cNvPr id="10" name="Ellipse 10"/>
            <p:cNvSpPr/>
            <p:nvPr/>
          </p:nvSpPr>
          <p:spPr>
            <a:xfrm>
              <a:off x="952500" y="3048000"/>
              <a:ext cx="114300" cy="114300"/>
            </a:xfrm>
            <a:prstGeom prst="ellipse">
              <a:avLst/>
            </a:prstGeom>
            <a:solidFill>
              <a:srgbClr val="FF7E6B"/>
            </a:solidFill>
            <a:ln>
              <a:noFill/>
            </a:ln>
          </p:spPr>
        </p:sp>
        <p:sp>
          <p:nvSpPr>
            <p:cNvPr id="11" name="TextBox 11"/>
            <p:cNvSpPr txBox="1"/>
            <p:nvPr/>
          </p:nvSpPr>
          <p:spPr>
            <a:xfrm>
              <a:off x="1192530" y="3000375"/>
              <a:ext cx="399041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Its features do not adapt to the murky,</a:t>
              </a:r>
            </a:p>
          </p:txBody>
        </p:sp>
        <p:sp>
          <p:nvSpPr>
            <p:cNvPr id="12" name="TextBox 12"/>
            <p:cNvSpPr txBox="1"/>
            <p:nvPr/>
          </p:nvSpPr>
          <p:spPr>
            <a:xfrm>
              <a:off x="1192530" y="3248025"/>
              <a:ext cx="343795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low-contrast marine environment.</a:t>
              </a:r>
            </a:p>
          </p:txBody>
        </p:sp>
        <p:sp>
          <p:nvSpPr>
            <p:cNvPr id="13" name="Ellipse 13"/>
            <p:cNvSpPr/>
            <p:nvPr/>
          </p:nvSpPr>
          <p:spPr>
            <a:xfrm>
              <a:off x="952500" y="3790950"/>
              <a:ext cx="114300" cy="114300"/>
            </a:xfrm>
            <a:prstGeom prst="ellipse">
              <a:avLst/>
            </a:prstGeom>
            <a:solidFill>
              <a:srgbClr val="FF7E6B"/>
            </a:solidFill>
            <a:ln>
              <a:noFill/>
            </a:ln>
          </p:spPr>
        </p:sp>
        <p:sp>
          <p:nvSpPr>
            <p:cNvPr id="14" name="TextBox 14"/>
            <p:cNvSpPr txBox="1"/>
            <p:nvPr/>
          </p:nvSpPr>
          <p:spPr>
            <a:xfrm>
              <a:off x="1192530" y="3743325"/>
              <a:ext cx="374787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It needs manual foreground prompts —</a:t>
              </a:r>
            </a:p>
          </p:txBody>
        </p:sp>
        <p:sp>
          <p:nvSpPr>
            <p:cNvPr id="15" name="TextBox 15"/>
            <p:cNvSpPr txBox="1"/>
            <p:nvPr/>
          </p:nvSpPr>
          <p:spPr>
            <a:xfrm>
              <a:off x="1192530" y="3990975"/>
              <a:ext cx="385191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which defeat the purpose of automatic</a:t>
              </a:r>
            </a:p>
          </p:txBody>
        </p:sp>
        <p:sp>
          <p:nvSpPr>
            <p:cNvPr id="16" name="TextBox 16"/>
            <p:cNvSpPr txBox="1"/>
            <p:nvPr/>
          </p:nvSpPr>
          <p:spPr>
            <a:xfrm>
              <a:off x="1192530" y="4238625"/>
              <a:ext cx="218598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salient segmentation.</a:t>
              </a:r>
            </a:p>
          </p:txBody>
        </p:sp>
        <p:sp>
          <p:nvSpPr>
            <p:cNvPr id="17" name="TextBox 17"/>
            <p:cNvSpPr txBox="1"/>
            <p:nvPr/>
          </p:nvSpPr>
          <p:spPr>
            <a:xfrm>
              <a:off x="927735" y="4755356"/>
              <a:ext cx="299511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Adapting SAM to this domain is not free.</a:t>
              </a:r>
            </a:p>
          </p:txBody>
        </p:sp>
      </p:grpSp>
      <p:grpSp>
        <p:nvGrpSpPr>
          <p:cNvPr id="35" name="Group 35"/>
          <p:cNvGrpSpPr/>
          <p:nvPr/>
        </p:nvGrpSpPr>
        <p:grpSpPr>
          <a:xfrm>
            <a:off x="5943600" y="2286000"/>
            <a:ext cx="5562600" cy="2857500"/>
            <a:chOff x="5943600" y="2286000"/>
            <a:chExt cx="5562600" cy="2857500"/>
          </a:xfrm>
        </p:grpSpPr>
        <p:sp>
          <p:nvSpPr>
            <p:cNvPr id="19" name="Rectangle 19"/>
            <p:cNvSpPr/>
            <p:nvPr/>
          </p:nvSpPr>
          <p:spPr>
            <a:xfrm>
              <a:off x="5943600" y="2286000"/>
              <a:ext cx="5562600" cy="2857500"/>
            </a:xfrm>
            <a:prstGeom prst="roundRect">
              <a:avLst>
                <a:gd name="adj" fmla="val 4000"/>
              </a:avLst>
            </a:prstGeom>
            <a:solidFill>
              <a:schemeClr val="lt2"/>
            </a:solidFill>
            <a:ln w="9525">
              <a:solidFill>
                <a:schemeClr val="accent4"/>
              </a:solidFill>
            </a:ln>
          </p:spPr>
        </p:sp>
        <p:sp>
          <p:nvSpPr>
            <p:cNvPr id="20" name="TextBox 20"/>
            <p:cNvSpPr txBox="1"/>
            <p:nvPr/>
          </p:nvSpPr>
          <p:spPr>
            <a:xfrm>
              <a:off x="6185154" y="2537460"/>
              <a:ext cx="3578718"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UNLOCKING SAM NEEDS TWO THINGS AT ONCE</a:t>
              </a:r>
            </a:p>
          </p:txBody>
        </p:sp>
        <p:sp>
          <p:nvSpPr>
            <p:cNvPr id="21" name="Rectangle 21"/>
            <p:cNvSpPr/>
            <p:nvPr/>
          </p:nvSpPr>
          <p:spPr>
            <a:xfrm>
              <a:off x="6191250" y="2857500"/>
              <a:ext cx="2381250" cy="819150"/>
            </a:xfrm>
            <a:prstGeom prst="roundRect">
              <a:avLst>
                <a:gd name="adj" fmla="val 11628"/>
              </a:avLst>
            </a:prstGeom>
            <a:solidFill>
              <a:schemeClr val="accent5"/>
            </a:solidFill>
            <a:ln w="13335">
              <a:solidFill>
                <a:schemeClr val="accent2"/>
              </a:solidFill>
            </a:ln>
          </p:spPr>
        </p:sp>
        <p:sp>
          <p:nvSpPr>
            <p:cNvPr id="22" name="TextBox 22"/>
            <p:cNvSpPr txBox="1"/>
            <p:nvPr/>
          </p:nvSpPr>
          <p:spPr>
            <a:xfrm>
              <a:off x="6355842" y="3016568"/>
              <a:ext cx="768460"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1 · Data</a:t>
              </a:r>
            </a:p>
          </p:txBody>
        </p:sp>
        <p:sp>
          <p:nvSpPr>
            <p:cNvPr id="23" name="TextBox 23"/>
            <p:cNvSpPr txBox="1"/>
            <p:nvPr/>
          </p:nvSpPr>
          <p:spPr>
            <a:xfrm>
              <a:off x="6356985" y="3269456"/>
              <a:ext cx="198409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 large-scale dataset that</a:t>
              </a:r>
            </a:p>
          </p:txBody>
        </p:sp>
        <p:sp>
          <p:nvSpPr>
            <p:cNvPr id="24" name="TextBox 24"/>
            <p:cNvSpPr txBox="1"/>
            <p:nvPr/>
          </p:nvSpPr>
          <p:spPr>
            <a:xfrm>
              <a:off x="6356985" y="3459956"/>
              <a:ext cx="2295662"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captures underwater saliency.</a:t>
              </a:r>
            </a:p>
          </p:txBody>
        </p:sp>
        <p:sp>
          <p:nvSpPr>
            <p:cNvPr id="25" name="Rectangle 25"/>
            <p:cNvSpPr/>
            <p:nvPr/>
          </p:nvSpPr>
          <p:spPr>
            <a:xfrm>
              <a:off x="6191250" y="3790950"/>
              <a:ext cx="2381250" cy="819150"/>
            </a:xfrm>
            <a:prstGeom prst="roundRect">
              <a:avLst>
                <a:gd name="adj" fmla="val 11628"/>
              </a:avLst>
            </a:prstGeom>
            <a:solidFill>
              <a:schemeClr val="accent5"/>
            </a:solidFill>
            <a:ln w="13335">
              <a:solidFill>
                <a:schemeClr val="accent1"/>
              </a:solidFill>
            </a:ln>
          </p:spPr>
        </p:sp>
        <p:sp>
          <p:nvSpPr>
            <p:cNvPr id="26" name="TextBox 26"/>
            <p:cNvSpPr txBox="1"/>
            <p:nvPr/>
          </p:nvSpPr>
          <p:spPr>
            <a:xfrm>
              <a:off x="6355842" y="3950018"/>
              <a:ext cx="1557094"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2 · Architecture</a:t>
              </a:r>
            </a:p>
          </p:txBody>
        </p:sp>
        <p:sp>
          <p:nvSpPr>
            <p:cNvPr id="27" name="TextBox 27"/>
            <p:cNvSpPr txBox="1"/>
            <p:nvPr/>
          </p:nvSpPr>
          <p:spPr>
            <a:xfrm>
              <a:off x="6356985" y="4202906"/>
              <a:ext cx="2181116"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Teach SAM to see underwater</a:t>
              </a:r>
            </a:p>
          </p:txBody>
        </p:sp>
        <p:sp>
          <p:nvSpPr>
            <p:cNvPr id="28" name="TextBox 28"/>
            <p:cNvSpPr txBox="1"/>
            <p:nvPr/>
          </p:nvSpPr>
          <p:spPr>
            <a:xfrm>
              <a:off x="6356985" y="4393406"/>
              <a:ext cx="159456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and to prompt itself.</a:t>
              </a:r>
            </a:p>
          </p:txBody>
        </p:sp>
        <p:sp>
          <p:nvSpPr>
            <p:cNvPr id="29" name="Freeform 29"/>
            <p:cNvSpPr/>
            <p:nvPr/>
          </p:nvSpPr>
          <p:spPr>
            <a:xfrm>
              <a:off x="8686800" y="3733800"/>
              <a:ext cx="723900" cy="409575"/>
            </a:xfrm>
            <a:custGeom>
              <a:avLst/>
              <a:gdLst/>
              <a:ahLst/>
              <a:cxnLst/>
              <a:rect l="l" t="t" r="r" b="b"/>
              <a:pathLst>
                <a:path w="723900" h="409575">
                  <a:moveTo>
                    <a:pt x="0" y="0"/>
                  </a:moveTo>
                  <a:lnTo>
                    <a:pt x="457200" y="0"/>
                  </a:lnTo>
                  <a:lnTo>
                    <a:pt x="457200" y="409575"/>
                  </a:lnTo>
                  <a:lnTo>
                    <a:pt x="723900" y="409575"/>
                  </a:lnTo>
                </a:path>
              </a:pathLst>
            </a:custGeom>
            <a:noFill/>
            <a:ln w="19050">
              <a:solidFill>
                <a:schemeClr val="dk2"/>
              </a:solidFill>
            </a:ln>
          </p:spPr>
        </p:sp>
        <p:sp>
          <p:nvSpPr>
            <p:cNvPr id="30" name="Freeform 30"/>
            <p:cNvSpPr/>
            <p:nvPr/>
          </p:nvSpPr>
          <p:spPr>
            <a:xfrm>
              <a:off x="8686800" y="4143375"/>
              <a:ext cx="723900" cy="66675"/>
            </a:xfrm>
            <a:custGeom>
              <a:avLst/>
              <a:gdLst/>
              <a:ahLst/>
              <a:cxnLst/>
              <a:rect l="l" t="t" r="r" b="b"/>
              <a:pathLst>
                <a:path w="723900" h="66675">
                  <a:moveTo>
                    <a:pt x="0" y="66675"/>
                  </a:moveTo>
                  <a:lnTo>
                    <a:pt x="457200" y="66675"/>
                  </a:lnTo>
                  <a:lnTo>
                    <a:pt x="457200" y="0"/>
                  </a:lnTo>
                  <a:lnTo>
                    <a:pt x="723900" y="0"/>
                  </a:lnTo>
                </a:path>
              </a:pathLst>
            </a:custGeom>
            <a:noFill/>
            <a:ln w="19050">
              <a:solidFill>
                <a:schemeClr val="dk2"/>
              </a:solidFill>
            </a:ln>
          </p:spPr>
        </p:sp>
        <p:sp>
          <p:nvSpPr>
            <p:cNvPr id="31" name="Polygon 31"/>
            <p:cNvSpPr/>
            <p:nvPr/>
          </p:nvSpPr>
          <p:spPr>
            <a:xfrm>
              <a:off x="9410700" y="4076700"/>
              <a:ext cx="152400" cy="133350"/>
            </a:xfrm>
            <a:custGeom>
              <a:avLst/>
              <a:gdLst/>
              <a:ahLst/>
              <a:cxnLst/>
              <a:rect l="l" t="t" r="r" b="b"/>
              <a:pathLst>
                <a:path w="152400" h="133350">
                  <a:moveTo>
                    <a:pt x="0" y="0"/>
                  </a:moveTo>
                  <a:lnTo>
                    <a:pt x="152400" y="66675"/>
                  </a:lnTo>
                  <a:lnTo>
                    <a:pt x="0" y="133350"/>
                  </a:lnTo>
                  <a:close/>
                </a:path>
              </a:pathLst>
            </a:custGeom>
            <a:solidFill>
              <a:schemeClr val="dk2"/>
            </a:solidFill>
            <a:ln>
              <a:noFill/>
            </a:ln>
          </p:spPr>
        </p:sp>
        <p:sp>
          <p:nvSpPr>
            <p:cNvPr id="32" name="Rectangle 32"/>
            <p:cNvSpPr/>
            <p:nvPr/>
          </p:nvSpPr>
          <p:spPr>
            <a:xfrm>
              <a:off x="9563100" y="3733800"/>
              <a:ext cx="1714500" cy="819150"/>
            </a:xfrm>
            <a:prstGeom prst="roundRect">
              <a:avLst>
                <a:gd name="adj" fmla="val 11628"/>
              </a:avLst>
            </a:prstGeom>
            <a:solidFill>
              <a:schemeClr val="accent5"/>
            </a:solidFill>
            <a:ln w="13335">
              <a:solidFill>
                <a:schemeClr val="accent3"/>
              </a:solidFill>
            </a:ln>
          </p:spPr>
        </p:sp>
        <p:sp>
          <p:nvSpPr>
            <p:cNvPr id="33" name="TextBox 33"/>
            <p:cNvSpPr txBox="1"/>
            <p:nvPr/>
          </p:nvSpPr>
          <p:spPr>
            <a:xfrm>
              <a:off x="9925469" y="3914775"/>
              <a:ext cx="989762" cy="293370"/>
            </a:xfrm>
            <a:prstGeom prst="rect">
              <a:avLst/>
            </a:prstGeom>
            <a:noFill/>
            <a:ln>
              <a:noFill/>
            </a:ln>
          </p:spPr>
          <p:txBody>
            <a:bodyPr wrap="none" lIns="0" tIns="0" rIns="0" bIns="0" anchor="t" anchorCtr="0">
              <a:spAutoFit/>
            </a:bodyPr>
            <a:lstStyle/>
            <a:p>
              <a:pPr algn="ctr"/>
              <a:r>
                <a:rPr lang="en-US" sz="1500" b="1" dirty="0">
                  <a:solidFill>
                    <a:schemeClr val="accent3"/>
                  </a:solidFill>
                  <a:latin typeface="+mn-lt"/>
                  <a:ea typeface="+mn-ea"/>
                  <a:cs typeface="+mn-cs"/>
                </a:rPr>
                <a:t>USIS-SAM</a:t>
              </a:r>
            </a:p>
          </p:txBody>
        </p:sp>
        <p:sp>
          <p:nvSpPr>
            <p:cNvPr id="34" name="TextBox 34"/>
            <p:cNvSpPr txBox="1"/>
            <p:nvPr/>
          </p:nvSpPr>
          <p:spPr>
            <a:xfrm>
              <a:off x="9870815" y="4211002"/>
              <a:ext cx="1099071" cy="205359"/>
            </a:xfrm>
            <a:prstGeom prst="rect">
              <a:avLst/>
            </a:prstGeom>
            <a:noFill/>
            <a:ln>
              <a:noFill/>
            </a:ln>
          </p:spPr>
          <p:txBody>
            <a:bodyPr wrap="none" lIns="0" tIns="0" rIns="0" bIns="0" anchor="t" anchorCtr="0">
              <a:spAutoFit/>
            </a:bodyPr>
            <a:lstStyle/>
            <a:p>
              <a:pPr algn="ctr"/>
              <a:r>
                <a:rPr lang="en-US" sz="1050" dirty="0">
                  <a:solidFill>
                    <a:schemeClr val="dk1"/>
                  </a:solidFill>
                  <a:latin typeface="+mn-lt"/>
                  <a:ea typeface="+mn-ea"/>
                  <a:cs typeface="+mn-cs"/>
                </a:rPr>
                <a:t>dataset + model</a:t>
              </a:r>
            </a:p>
          </p:txBody>
        </p:sp>
      </p:grpSp>
      <p:grpSp>
        <p:nvGrpSpPr>
          <p:cNvPr id="38" name="Group 38"/>
          <p:cNvGrpSpPr/>
          <p:nvPr/>
        </p:nvGrpSpPr>
        <p:grpSpPr>
          <a:xfrm>
            <a:off x="5943600" y="5334000"/>
            <a:ext cx="5562600" cy="571500"/>
            <a:chOff x="5943600" y="5334000"/>
            <a:chExt cx="5562600" cy="571500"/>
          </a:xfrm>
        </p:grpSpPr>
        <p:sp>
          <p:nvSpPr>
            <p:cNvPr id="36" name="Rectangle 36"/>
            <p:cNvSpPr/>
            <p:nvPr/>
          </p:nvSpPr>
          <p:spPr>
            <a:xfrm>
              <a:off x="5943600" y="5334000"/>
              <a:ext cx="5562600" cy="571500"/>
            </a:xfrm>
            <a:prstGeom prst="roundRect">
              <a:avLst>
                <a:gd name="adj" fmla="val 50000"/>
              </a:avLst>
            </a:prstGeom>
            <a:solidFill>
              <a:schemeClr val="accent5"/>
            </a:solidFill>
            <a:ln w="13335">
              <a:solidFill>
                <a:schemeClr val="accent1"/>
              </a:solidFill>
            </a:ln>
          </p:spPr>
        </p:sp>
        <p:sp>
          <p:nvSpPr>
            <p:cNvPr id="37" name="TextBox 37"/>
            <p:cNvSpPr txBox="1"/>
            <p:nvPr/>
          </p:nvSpPr>
          <p:spPr>
            <a:xfrm>
              <a:off x="7284139" y="5517832"/>
              <a:ext cx="2881522" cy="322707"/>
            </a:xfrm>
            <a:prstGeom prst="rect">
              <a:avLst/>
            </a:prstGeom>
            <a:noFill/>
            <a:ln>
              <a:noFill/>
            </a:ln>
          </p:spPr>
          <p:txBody>
            <a:bodyPr wrap="none" lIns="0" tIns="0" rIns="0" bIns="0" anchor="t" anchorCtr="0">
              <a:spAutoFit/>
            </a:bodyPr>
            <a:lstStyle/>
            <a:p>
              <a:pPr algn="ctr"/>
              <a:r>
                <a:rPr lang="en-US" sz="1650" b="1" dirty="0">
                  <a:solidFill>
                    <a:schemeClr val="dk1"/>
                  </a:solidFill>
                  <a:latin typeface="+mn-lt"/>
                  <a:ea typeface="+mn-ea"/>
                  <a:cs typeface="+mn-cs"/>
                </a:rPr>
                <a:t>This paper delivers both.</a:t>
              </a:r>
            </a:p>
          </p:txBody>
        </p:sp>
      </p:grpSp>
      <p:sp>
        <p:nvSpPr>
          <p:cNvPr id="39" name="Rectangle 39"/>
          <p:cNvSpPr/>
          <p:nvPr/>
        </p:nvSpPr>
        <p:spPr>
          <a:xfrm>
            <a:off x="685800" y="5334000"/>
            <a:ext cx="4953000" cy="571500"/>
          </a:xfrm>
          <a:prstGeom prst="roundRect">
            <a:avLst>
              <a:gd name="adj" fmla="val 20000"/>
            </a:avLst>
          </a:prstGeom>
          <a:solidFill>
            <a:schemeClr val="lt2"/>
          </a:solidFill>
          <a:ln w="9525">
            <a:solidFill>
              <a:schemeClr val="accent4"/>
            </a:solidFill>
          </a:ln>
        </p:spPr>
        <p:txBody>
          <a:bodyPr/>
          <a:p/>
        </p:txBody>
      </p:sp>
      <p:sp>
        <p:nvSpPr>
          <p:cNvPr id="40" name="TextBox 40"/>
          <p:cNvSpPr txBox="1"/>
          <p:nvPr/>
        </p:nvSpPr>
        <p:spPr>
          <a:xfrm>
            <a:off x="927735" y="5498306"/>
            <a:ext cx="391396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Prior salient datasets are small and class-agnostic —</a:t>
            </a:r>
          </a:p>
        </p:txBody>
      </p:sp>
      <p:sp>
        <p:nvSpPr>
          <p:cNvPr id="41" name="TextBox 41"/>
          <p:cNvSpPr txBox="1"/>
          <p:nvPr/>
        </p:nvSpPr>
        <p:spPr>
          <a:xfrm>
            <a:off x="927735" y="5688806"/>
            <a:ext cx="327569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limiting both training and multi-class study.</a:t>
            </a:r>
          </a:p>
        </p:txBody>
      </p:sp>
      <p:sp>
        <p:nvSpPr>
          <p:cNvPr id="42" name="Line 42"/>
          <p:cNvSpPr/>
          <p:nvPr/>
        </p:nvSpPr>
        <p:spPr>
          <a:xfrm>
            <a:off x="685800" y="622935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sp>
        <p:nvSpPr>
          <p:cNvPr id="43" name="TextBox 43"/>
          <p:cNvSpPr txBox="1"/>
          <p:nvPr/>
        </p:nvSpPr>
        <p:spPr>
          <a:xfrm>
            <a:off x="680847" y="6390799"/>
            <a:ext cx="3508632" cy="190690"/>
          </a:xfrm>
          <a:prstGeom prst="rect">
            <a:avLst/>
          </a:prstGeom>
          <a:noFill/>
          <a:ln>
            <a:noFill/>
          </a:ln>
        </p:spPr>
        <p:txBody>
          <a:bodyPr wrap="none" lIns="0" tIns="0" rIns="0" bIns="0" anchor="t" anchorCtr="0">
            <a:spAutoFit/>
          </a:bodyPr>
          <a:lstStyle/>
          <a:p>
            <a:pPr algn="l"/>
            <a:r>
              <a:rPr lang="en-US" sz="980" dirty="0">
                <a:solidFill>
                  <a:srgbClr val="6E93A4"/>
                </a:solidFill>
                <a:latin typeface="+mn-lt"/>
                <a:ea typeface="+mn-ea"/>
                <a:cs typeface="+mn-cs"/>
              </a:rPr>
              <a:t>USIS-SAM · Underwater Salient Instance Segmentation</a:t>
            </a:r>
          </a:p>
        </p:txBody>
      </p:sp>
      <p:sp>
        <p:nvSpPr>
          <p:cNvPr id="44" name="TextBox 44"/>
          <p:cNvSpPr txBox="1"/>
          <p:nvPr/>
        </p:nvSpPr>
        <p:spPr>
          <a:xfrm>
            <a:off x="11059290" y="6390799"/>
            <a:ext cx="451863" cy="190690"/>
          </a:xfrm>
          <a:prstGeom prst="rect">
            <a:avLst/>
          </a:prstGeom>
          <a:noFill/>
          <a:ln>
            <a:noFill/>
          </a:ln>
        </p:spPr>
        <p:txBody>
          <a:bodyPr wrap="none" lIns="0" tIns="0" rIns="0" bIns="0" anchor="t" anchorCtr="0">
            <a:spAutoFit/>
          </a:bodyPr>
          <a:lstStyle/>
          <a:p>
            <a:pPr algn="r"/>
            <a:r>
              <a:rPr lang="en-US" sz="980" dirty="0">
                <a:solidFill>
                  <a:srgbClr val="6E93A4"/>
                </a:solidFill>
                <a:latin typeface="+mn-lt"/>
                <a:ea typeface="+mn-ea"/>
                <a:cs typeface="+mn-cs"/>
              </a:rPr>
              <a:t>03 / 10</a:t>
            </a:r>
          </a:p>
        </p:txBody>
      </p:sp>
      <p:sp>
        <p:nvSpPr>
          <p:cNvPr id="45" name="cue_s03_c1_large_models_advancing_sam_spread" title="cue_s03_c1_large_models_advancing_sam_spread" descr="cue_s03_c1_large_models_advancing_sam_spread With large models advancing, SAM has spread across computer vision, but using it underwater falls short."/>
          <p:cNvSpPr/>
          <p:nvPr/>
        </p:nvSpPr>
        <p:spPr>
          <a:xfrm>
            <a:off x="676656" y="1748790"/>
            <a:ext cx="8619744" cy="35181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3_c2_its_features_not_adapt_murky" title="cue_s03_c2_its_features_not_adapt_murky" descr="cue_s03_c2_its_features_not_adapt_murky Its features do not adapt to murky, low-contrast water, and it needs manual foreground prompts that defeat automatic salient segmentation."/>
          <p:cNvSpPr/>
          <p:nvPr/>
        </p:nvSpPr>
        <p:spPr>
          <a:xfrm>
            <a:off x="686409" y="2285771"/>
            <a:ext cx="495239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3_c3_authors_argue_unlocking_sam_requires" title="cue_s03_c3_authors_argue_unlocking_sam_requires" descr="cue_s03_c3_authors_argue_unlocking_sam_requires The authors argue that unlocking SAM here requires two things at once: a large-scale dataset capturing underwater saliency, and an architecture that teaches SAM to see underwater and prompt itself."/>
          <p:cNvSpPr/>
          <p:nvPr/>
        </p:nvSpPr>
        <p:spPr>
          <a:xfrm>
            <a:off x="5943600" y="2285771"/>
            <a:ext cx="556199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3_c4_delivers_both" title="cue_s03_c4_delivers_both" descr="cue_s03_c4_delivers_both This paper delivers both."/>
          <p:cNvSpPr/>
          <p:nvPr/>
        </p:nvSpPr>
        <p:spPr>
          <a:xfrm>
            <a:off x="5943600" y="5334152"/>
            <a:ext cx="5561990" cy="571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0A2233"/>
            </a:gs>
            <a:gs pos="100000">
              <a:srgbClr val="04121B"/>
            </a:gs>
          </a:gsLst>
          <a:lin ang="5400000" scaled="1"/>
        </a:gra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1"/>
              </a:gs>
              <a:gs pos="100000">
                <a:schemeClr val="accent3"/>
              </a:gs>
            </a:gsLst>
            <a:lin ang="0" scaled="1"/>
          </a:gradFill>
          <a:ln>
            <a:noFill/>
          </a:ln>
        </p:spPr>
        <p:txBody>
          <a:bodyPr/>
          <a:p/>
        </p:txBody>
      </p:sp>
      <p:sp>
        <p:nvSpPr>
          <p:cNvPr id="3" name="TextBox 3"/>
          <p:cNvSpPr txBox="1"/>
          <p:nvPr/>
        </p:nvSpPr>
        <p:spPr>
          <a:xfrm>
            <a:off x="679704" y="670560"/>
            <a:ext cx="701581"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04 / 10</a:t>
            </a:r>
          </a:p>
        </p:txBody>
      </p:sp>
      <p:sp>
        <p:nvSpPr>
          <p:cNvPr id="4" name="TextBox 4"/>
          <p:cNvSpPr txBox="1"/>
          <p:nvPr/>
        </p:nvSpPr>
        <p:spPr>
          <a:xfrm>
            <a:off x="671322" y="930592"/>
            <a:ext cx="2719575"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Contributions</a:t>
            </a:r>
          </a:p>
        </p:txBody>
      </p:sp>
      <p:sp>
        <p:nvSpPr>
          <p:cNvPr id="5" name="Rectangle 5"/>
          <p:cNvSpPr/>
          <p:nvPr/>
        </p:nvSpPr>
        <p:spPr>
          <a:xfrm>
            <a:off x="685800" y="1390650"/>
            <a:ext cx="609600" cy="38100"/>
          </a:xfrm>
          <a:prstGeom prst="roundRect">
            <a:avLst>
              <a:gd name="adj" fmla="val 50000"/>
            </a:avLst>
          </a:prstGeom>
          <a:solidFill>
            <a:schemeClr val="accent2"/>
          </a:solidFill>
          <a:ln>
            <a:noFill/>
          </a:ln>
        </p:spPr>
        <p:txBody>
          <a:bodyPr/>
          <a:p/>
        </p:txBody>
      </p:sp>
      <p:grpSp>
        <p:nvGrpSpPr>
          <p:cNvPr id="8" name="Group 8"/>
          <p:cNvGrpSpPr/>
          <p:nvPr/>
        </p:nvGrpSpPr>
        <p:grpSpPr>
          <a:xfrm>
            <a:off x="1428750" y="962025"/>
            <a:ext cx="4674870" cy="293370"/>
            <a:chOff x="1428750" y="962025"/>
            <a:chExt cx="4674870" cy="293370"/>
          </a:xfrm>
        </p:grpSpPr>
        <p:sp>
          <p:nvSpPr>
            <p:cNvPr id="6" name="TextBox 6"/>
            <p:cNvSpPr txBox="1"/>
            <p:nvPr/>
          </p:nvSpPr>
          <p:spPr>
            <a:xfrm>
              <a:off x="4123499" y="962025"/>
              <a:ext cx="1980121" cy="293370"/>
            </a:xfrm>
            <a:prstGeom prst="rect">
              <a:avLst/>
            </a:prstGeom>
            <a:noFill/>
            <a:ln>
              <a:noFill/>
            </a:ln>
          </p:spPr>
          <p:txBody>
            <a:bodyPr wrap="none" lIns="0" tIns="0" rIns="0" bIns="0" anchor="t" anchorCtr="0">
              <a:spAutoFit/>
            </a:bodyPr>
            <a:lstStyle/>
            <a:p>
              <a:pPr algn="r"/>
              <a:r>
                <a:rPr lang="en-US" sz="1500" dirty="0">
                  <a:solidFill>
                    <a:schemeClr val="dk2"/>
                  </a:solidFill>
                  <a:latin typeface="+mn-lt"/>
                  <a:ea typeface="+mn-ea"/>
                  <a:cs typeface="+mn-cs"/>
                </a:rPr>
                <a:t>Three contributions</a:t>
              </a:r>
            </a:p>
          </p:txBody>
        </p:sp>
        <p:sp>
          <p:nvSpPr>
            <p:cNvPr id="7" name="Rectangle 7"/>
            <p:cNvSpPr/>
            <p:nvPr/>
          </p:nvSpPr>
          <p:spPr>
            <a:xfrm>
              <a:off x="1428750" y="990600"/>
              <a:ext cx="4572000" cy="19050"/>
            </a:xfrm>
            <a:prstGeom prst="rect">
              <a:avLst/>
            </a:prstGeom>
            <a:solidFill>
              <a:schemeClr val="accent4"/>
            </a:solidFill>
            <a:ln>
              <a:noFill/>
            </a:ln>
          </p:spPr>
        </p:sp>
      </p:grpSp>
      <p:grpSp>
        <p:nvGrpSpPr>
          <p:cNvPr id="20" name="Group 20"/>
          <p:cNvGrpSpPr/>
          <p:nvPr/>
        </p:nvGrpSpPr>
        <p:grpSpPr>
          <a:xfrm>
            <a:off x="685800" y="1866900"/>
            <a:ext cx="3429000" cy="3619500"/>
            <a:chOff x="685800" y="1866900"/>
            <a:chExt cx="3429000" cy="3619500"/>
          </a:xfrm>
        </p:grpSpPr>
        <p:sp>
          <p:nvSpPr>
            <p:cNvPr id="9" name="Rectangle 9"/>
            <p:cNvSpPr/>
            <p:nvPr/>
          </p:nvSpPr>
          <p:spPr>
            <a:xfrm>
              <a:off x="685800" y="1866900"/>
              <a:ext cx="3429000" cy="3619500"/>
            </a:xfrm>
            <a:prstGeom prst="roundRect">
              <a:avLst>
                <a:gd name="adj" fmla="val 3889"/>
              </a:avLst>
            </a:prstGeom>
            <a:solidFill>
              <a:schemeClr val="lt2"/>
            </a:solidFill>
            <a:ln w="9525">
              <a:solidFill>
                <a:schemeClr val="accent4"/>
              </a:solidFill>
            </a:ln>
          </p:spPr>
        </p:sp>
        <p:sp>
          <p:nvSpPr>
            <p:cNvPr id="10" name="Rectangle 10"/>
            <p:cNvSpPr/>
            <p:nvPr/>
          </p:nvSpPr>
          <p:spPr>
            <a:xfrm>
              <a:off x="685800" y="1866900"/>
              <a:ext cx="3429000" cy="57150"/>
            </a:xfrm>
            <a:prstGeom prst="roundRect">
              <a:avLst>
                <a:gd name="adj" fmla="val 50000"/>
              </a:avLst>
            </a:prstGeom>
            <a:solidFill>
              <a:schemeClr val="accent2"/>
            </a:solidFill>
            <a:ln>
              <a:noFill/>
            </a:ln>
          </p:spPr>
        </p:sp>
        <p:sp>
          <p:nvSpPr>
            <p:cNvPr id="11" name="TextBox 11"/>
            <p:cNvSpPr txBox="1"/>
            <p:nvPr/>
          </p:nvSpPr>
          <p:spPr>
            <a:xfrm>
              <a:off x="914400" y="1952625"/>
              <a:ext cx="737787" cy="876300"/>
            </a:xfrm>
            <a:prstGeom prst="rect">
              <a:avLst/>
            </a:prstGeom>
            <a:noFill/>
            <a:ln>
              <a:noFill/>
            </a:ln>
          </p:spPr>
          <p:txBody>
            <a:bodyPr wrap="none" lIns="0" tIns="0" rIns="0" bIns="0" anchor="t" anchorCtr="0">
              <a:spAutoFit/>
            </a:bodyPr>
            <a:lstStyle/>
            <a:p>
              <a:pPr algn="l"/>
              <a:r>
                <a:rPr lang="en-US" sz="4500" b="1" dirty="0">
                  <a:solidFill>
                    <a:schemeClr val="accent2"/>
                  </a:solidFill>
                  <a:latin typeface="+mn-lt"/>
                  <a:ea typeface="+mn-ea"/>
                  <a:cs typeface="+mn-cs"/>
                </a:rPr>
                <a:t>01</a:t>
              </a:r>
            </a:p>
          </p:txBody>
        </p:sp>
        <p:sp>
          <p:nvSpPr>
            <p:cNvPr id="12" name="TextBox 12"/>
            <p:cNvSpPr txBox="1"/>
            <p:nvPr/>
          </p:nvSpPr>
          <p:spPr>
            <a:xfrm>
              <a:off x="923544" y="2646998"/>
              <a:ext cx="2216437"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USIS10K Dataset</a:t>
              </a:r>
            </a:p>
          </p:txBody>
        </p:sp>
        <p:sp>
          <p:nvSpPr>
            <p:cNvPr id="13" name="TextBox 13"/>
            <p:cNvSpPr txBox="1"/>
            <p:nvPr/>
          </p:nvSpPr>
          <p:spPr>
            <a:xfrm>
              <a:off x="926211" y="3122771"/>
              <a:ext cx="313669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first large-scale underwater</a:t>
              </a:r>
            </a:p>
          </p:txBody>
        </p:sp>
        <p:sp>
          <p:nvSpPr>
            <p:cNvPr id="14" name="TextBox 14"/>
            <p:cNvSpPr txBox="1"/>
            <p:nvPr/>
          </p:nvSpPr>
          <p:spPr>
            <a:xfrm>
              <a:off x="926211" y="3370421"/>
              <a:ext cx="281497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salient instance segmentation</a:t>
              </a:r>
            </a:p>
          </p:txBody>
        </p:sp>
        <p:sp>
          <p:nvSpPr>
            <p:cNvPr id="15" name="TextBox 15"/>
            <p:cNvSpPr txBox="1"/>
            <p:nvPr/>
          </p:nvSpPr>
          <p:spPr>
            <a:xfrm>
              <a:off x="926211" y="3618071"/>
              <a:ext cx="85558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dataset.</a:t>
              </a:r>
            </a:p>
          </p:txBody>
        </p:sp>
        <p:sp>
          <p:nvSpPr>
            <p:cNvPr id="16" name="TextBox 16"/>
            <p:cNvSpPr txBox="1"/>
            <p:nvPr/>
          </p:nvSpPr>
          <p:spPr>
            <a:xfrm>
              <a:off x="920496" y="4030028"/>
              <a:ext cx="121537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10,632</a:t>
              </a:r>
            </a:p>
          </p:txBody>
        </p:sp>
        <p:sp>
          <p:nvSpPr>
            <p:cNvPr id="17" name="TextBox 17"/>
            <p:cNvSpPr txBox="1"/>
            <p:nvPr/>
          </p:nvSpPr>
          <p:spPr>
            <a:xfrm>
              <a:off x="927354" y="4442460"/>
              <a:ext cx="224957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pixel-level annotated images</a:t>
              </a:r>
            </a:p>
          </p:txBody>
        </p:sp>
        <p:sp>
          <p:nvSpPr>
            <p:cNvPr id="18" name="TextBox 18"/>
            <p:cNvSpPr txBox="1"/>
            <p:nvPr/>
          </p:nvSpPr>
          <p:spPr>
            <a:xfrm>
              <a:off x="920496" y="4715828"/>
              <a:ext cx="224153"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7</a:t>
              </a:r>
            </a:p>
          </p:txBody>
        </p:sp>
        <p:sp>
          <p:nvSpPr>
            <p:cNvPr id="19" name="TextBox 19"/>
            <p:cNvSpPr txBox="1"/>
            <p:nvPr/>
          </p:nvSpPr>
          <p:spPr>
            <a:xfrm>
              <a:off x="1327404" y="4861560"/>
              <a:ext cx="216072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categories, diverse scenes</a:t>
              </a:r>
            </a:p>
          </p:txBody>
        </p:sp>
      </p:grpSp>
      <p:grpSp>
        <p:nvGrpSpPr>
          <p:cNvPr id="34" name="Group 34"/>
          <p:cNvGrpSpPr/>
          <p:nvPr/>
        </p:nvGrpSpPr>
        <p:grpSpPr>
          <a:xfrm>
            <a:off x="4324350" y="1866900"/>
            <a:ext cx="3429000" cy="3619500"/>
            <a:chOff x="4324350" y="1866900"/>
            <a:chExt cx="3429000" cy="3619500"/>
          </a:xfrm>
        </p:grpSpPr>
        <p:sp>
          <p:nvSpPr>
            <p:cNvPr id="21" name="Rectangle 21"/>
            <p:cNvSpPr/>
            <p:nvPr/>
          </p:nvSpPr>
          <p:spPr>
            <a:xfrm>
              <a:off x="4324350" y="1866900"/>
              <a:ext cx="3429000" cy="3619500"/>
            </a:xfrm>
            <a:prstGeom prst="roundRect">
              <a:avLst>
                <a:gd name="adj" fmla="val 3889"/>
              </a:avLst>
            </a:prstGeom>
            <a:solidFill>
              <a:schemeClr val="lt2"/>
            </a:solidFill>
            <a:ln w="9525">
              <a:solidFill>
                <a:schemeClr val="accent4"/>
              </a:solidFill>
            </a:ln>
          </p:spPr>
        </p:sp>
        <p:sp>
          <p:nvSpPr>
            <p:cNvPr id="22" name="Rectangle 22"/>
            <p:cNvSpPr/>
            <p:nvPr/>
          </p:nvSpPr>
          <p:spPr>
            <a:xfrm>
              <a:off x="4324350" y="1866900"/>
              <a:ext cx="3429000" cy="57150"/>
            </a:xfrm>
            <a:prstGeom prst="roundRect">
              <a:avLst>
                <a:gd name="adj" fmla="val 50000"/>
              </a:avLst>
            </a:prstGeom>
            <a:solidFill>
              <a:schemeClr val="accent1"/>
            </a:solidFill>
            <a:ln>
              <a:noFill/>
            </a:ln>
          </p:spPr>
        </p:sp>
        <p:sp>
          <p:nvSpPr>
            <p:cNvPr id="23" name="TextBox 23"/>
            <p:cNvSpPr txBox="1"/>
            <p:nvPr/>
          </p:nvSpPr>
          <p:spPr>
            <a:xfrm>
              <a:off x="4552950" y="1952625"/>
              <a:ext cx="737787" cy="876300"/>
            </a:xfrm>
            <a:prstGeom prst="rect">
              <a:avLst/>
            </a:prstGeom>
            <a:noFill/>
            <a:ln>
              <a:noFill/>
            </a:ln>
          </p:spPr>
          <p:txBody>
            <a:bodyPr wrap="none" lIns="0" tIns="0" rIns="0" bIns="0" anchor="t" anchorCtr="0">
              <a:spAutoFit/>
            </a:bodyPr>
            <a:lstStyle/>
            <a:p>
              <a:pPr algn="l"/>
              <a:r>
                <a:rPr lang="en-US" sz="4500" b="1" dirty="0">
                  <a:solidFill>
                    <a:schemeClr val="accent1"/>
                  </a:solidFill>
                  <a:latin typeface="+mn-lt"/>
                  <a:ea typeface="+mn-ea"/>
                  <a:cs typeface="+mn-cs"/>
                </a:rPr>
                <a:t>02</a:t>
              </a:r>
            </a:p>
          </p:txBody>
        </p:sp>
        <p:sp>
          <p:nvSpPr>
            <p:cNvPr id="24" name="TextBox 24"/>
            <p:cNvSpPr txBox="1"/>
            <p:nvPr/>
          </p:nvSpPr>
          <p:spPr>
            <a:xfrm>
              <a:off x="4562094" y="2646998"/>
              <a:ext cx="2122175"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USIS-SAM Model</a:t>
              </a:r>
            </a:p>
          </p:txBody>
        </p:sp>
        <p:sp>
          <p:nvSpPr>
            <p:cNvPr id="25" name="TextBox 25"/>
            <p:cNvSpPr txBox="1"/>
            <p:nvPr/>
          </p:nvSpPr>
          <p:spPr>
            <a:xfrm>
              <a:off x="4564761" y="3084671"/>
              <a:ext cx="306014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An architecture built on SAM for</a:t>
              </a:r>
            </a:p>
          </p:txBody>
        </p:sp>
        <p:sp>
          <p:nvSpPr>
            <p:cNvPr id="26" name="TextBox 26"/>
            <p:cNvSpPr txBox="1"/>
            <p:nvPr/>
          </p:nvSpPr>
          <p:spPr>
            <a:xfrm>
              <a:off x="4564761" y="3332321"/>
              <a:ext cx="226061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underwater domain.</a:t>
              </a:r>
            </a:p>
          </p:txBody>
        </p:sp>
        <p:sp>
          <p:nvSpPr>
            <p:cNvPr id="27" name="Rectangle 27"/>
            <p:cNvSpPr/>
            <p:nvPr/>
          </p:nvSpPr>
          <p:spPr>
            <a:xfrm>
              <a:off x="4572000" y="3733800"/>
              <a:ext cx="2933700" cy="666750"/>
            </a:xfrm>
            <a:prstGeom prst="roundRect">
              <a:avLst>
                <a:gd name="adj" fmla="val 11429"/>
              </a:avLst>
            </a:prstGeom>
            <a:solidFill>
              <a:schemeClr val="accent5"/>
            </a:solidFill>
            <a:ln>
              <a:noFill/>
            </a:ln>
          </p:spPr>
        </p:sp>
        <p:sp>
          <p:nvSpPr>
            <p:cNvPr id="28" name="TextBox 28"/>
            <p:cNvSpPr txBox="1"/>
            <p:nvPr/>
          </p:nvSpPr>
          <p:spPr>
            <a:xfrm>
              <a:off x="4718304" y="3851910"/>
              <a:ext cx="2748077"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Underwater Adaptive ViT encoder</a:t>
              </a:r>
            </a:p>
          </p:txBody>
        </p:sp>
        <p:sp>
          <p:nvSpPr>
            <p:cNvPr id="29" name="TextBox 29"/>
            <p:cNvSpPr txBox="1"/>
            <p:nvPr/>
          </p:nvSpPr>
          <p:spPr>
            <a:xfrm>
              <a:off x="4718685" y="4107656"/>
              <a:ext cx="254444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injects underwater visual prompts</a:t>
              </a:r>
            </a:p>
          </p:txBody>
        </p:sp>
        <p:sp>
          <p:nvSpPr>
            <p:cNvPr id="30" name="Rectangle 30"/>
            <p:cNvSpPr/>
            <p:nvPr/>
          </p:nvSpPr>
          <p:spPr>
            <a:xfrm>
              <a:off x="4572000" y="4514850"/>
              <a:ext cx="2933700" cy="781050"/>
            </a:xfrm>
            <a:prstGeom prst="roundRect">
              <a:avLst>
                <a:gd name="adj" fmla="val 9756"/>
              </a:avLst>
            </a:prstGeom>
            <a:solidFill>
              <a:schemeClr val="accent5"/>
            </a:solidFill>
            <a:ln>
              <a:noFill/>
            </a:ln>
          </p:spPr>
        </p:sp>
        <p:sp>
          <p:nvSpPr>
            <p:cNvPr id="31" name="TextBox 31"/>
            <p:cNvSpPr txBox="1"/>
            <p:nvPr/>
          </p:nvSpPr>
          <p:spPr>
            <a:xfrm>
              <a:off x="4718304" y="4632960"/>
              <a:ext cx="2841340"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Salient Feature Prompt Generator</a:t>
              </a:r>
            </a:p>
          </p:txBody>
        </p:sp>
        <p:sp>
          <p:nvSpPr>
            <p:cNvPr id="32" name="TextBox 32"/>
            <p:cNvSpPr txBox="1"/>
            <p:nvPr/>
          </p:nvSpPr>
          <p:spPr>
            <a:xfrm>
              <a:off x="4718685" y="4869656"/>
              <a:ext cx="208457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out-of-the-box prompting —</a:t>
              </a:r>
            </a:p>
          </p:txBody>
        </p:sp>
        <p:sp>
          <p:nvSpPr>
            <p:cNvPr id="33" name="TextBox 33"/>
            <p:cNvSpPr txBox="1"/>
            <p:nvPr/>
          </p:nvSpPr>
          <p:spPr>
            <a:xfrm>
              <a:off x="4718685" y="5060156"/>
              <a:ext cx="277814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removes the need for manual prompts</a:t>
              </a:r>
            </a:p>
          </p:txBody>
        </p:sp>
      </p:grpSp>
      <p:grpSp>
        <p:nvGrpSpPr>
          <p:cNvPr id="47" name="Group 47"/>
          <p:cNvGrpSpPr/>
          <p:nvPr/>
        </p:nvGrpSpPr>
        <p:grpSpPr>
          <a:xfrm>
            <a:off x="7962900" y="1866900"/>
            <a:ext cx="3543300" cy="3619500"/>
            <a:chOff x="7962900" y="1866900"/>
            <a:chExt cx="3543300" cy="3619500"/>
          </a:xfrm>
        </p:grpSpPr>
        <p:sp>
          <p:nvSpPr>
            <p:cNvPr id="35" name="Rectangle 35"/>
            <p:cNvSpPr/>
            <p:nvPr/>
          </p:nvSpPr>
          <p:spPr>
            <a:xfrm>
              <a:off x="7962900" y="1866900"/>
              <a:ext cx="3543300" cy="3619500"/>
            </a:xfrm>
            <a:prstGeom prst="roundRect">
              <a:avLst>
                <a:gd name="adj" fmla="val 3763"/>
              </a:avLst>
            </a:prstGeom>
            <a:solidFill>
              <a:schemeClr val="lt2"/>
            </a:solidFill>
            <a:ln w="9525">
              <a:solidFill>
                <a:schemeClr val="accent4"/>
              </a:solidFill>
            </a:ln>
          </p:spPr>
        </p:sp>
        <p:sp>
          <p:nvSpPr>
            <p:cNvPr id="36" name="Rectangle 36"/>
            <p:cNvSpPr/>
            <p:nvPr/>
          </p:nvSpPr>
          <p:spPr>
            <a:xfrm>
              <a:off x="7962900" y="1866900"/>
              <a:ext cx="3543300" cy="57150"/>
            </a:xfrm>
            <a:prstGeom prst="roundRect">
              <a:avLst>
                <a:gd name="adj" fmla="val 50000"/>
              </a:avLst>
            </a:prstGeom>
            <a:solidFill>
              <a:schemeClr val="accent3"/>
            </a:solidFill>
            <a:ln>
              <a:noFill/>
            </a:ln>
          </p:spPr>
        </p:sp>
        <p:sp>
          <p:nvSpPr>
            <p:cNvPr id="37" name="TextBox 37"/>
            <p:cNvSpPr txBox="1"/>
            <p:nvPr/>
          </p:nvSpPr>
          <p:spPr>
            <a:xfrm>
              <a:off x="8191500" y="1952625"/>
              <a:ext cx="737787" cy="876300"/>
            </a:xfrm>
            <a:prstGeom prst="rect">
              <a:avLst/>
            </a:prstGeom>
            <a:noFill/>
            <a:ln>
              <a:noFill/>
            </a:ln>
          </p:spPr>
          <p:txBody>
            <a:bodyPr wrap="none" lIns="0" tIns="0" rIns="0" bIns="0" anchor="t" anchorCtr="0">
              <a:spAutoFit/>
            </a:bodyPr>
            <a:lstStyle/>
            <a:p>
              <a:pPr algn="l"/>
              <a:r>
                <a:rPr lang="en-US" sz="4500" b="1" dirty="0">
                  <a:solidFill>
                    <a:schemeClr val="accent3"/>
                  </a:solidFill>
                  <a:latin typeface="+mn-lt"/>
                  <a:ea typeface="+mn-ea"/>
                  <a:cs typeface="+mn-cs"/>
                </a:rPr>
                <a:t>03</a:t>
              </a:r>
            </a:p>
          </p:txBody>
        </p:sp>
        <p:sp>
          <p:nvSpPr>
            <p:cNvPr id="38" name="TextBox 38"/>
            <p:cNvSpPr txBox="1"/>
            <p:nvPr/>
          </p:nvSpPr>
          <p:spPr>
            <a:xfrm>
              <a:off x="8200644" y="2646998"/>
              <a:ext cx="2257992"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State of the Art</a:t>
              </a:r>
            </a:p>
          </p:txBody>
        </p:sp>
        <p:sp>
          <p:nvSpPr>
            <p:cNvPr id="39" name="TextBox 39"/>
            <p:cNvSpPr txBox="1"/>
            <p:nvPr/>
          </p:nvSpPr>
          <p:spPr>
            <a:xfrm>
              <a:off x="8203311" y="3084671"/>
              <a:ext cx="263955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Extensive experiments show</a:t>
              </a:r>
            </a:p>
          </p:txBody>
        </p:sp>
        <p:sp>
          <p:nvSpPr>
            <p:cNvPr id="40" name="TextBox 40"/>
            <p:cNvSpPr txBox="1"/>
            <p:nvPr/>
          </p:nvSpPr>
          <p:spPr>
            <a:xfrm>
              <a:off x="8203311" y="3332321"/>
              <a:ext cx="267849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USIS-SAM outperforms prior</a:t>
              </a:r>
            </a:p>
          </p:txBody>
        </p:sp>
        <p:sp>
          <p:nvSpPr>
            <p:cNvPr id="41" name="TextBox 41"/>
            <p:cNvSpPr txBox="1"/>
            <p:nvPr/>
          </p:nvSpPr>
          <p:spPr>
            <a:xfrm>
              <a:off x="8203311" y="3579971"/>
              <a:ext cx="263337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state-of-the-art methods.</a:t>
              </a:r>
            </a:p>
          </p:txBody>
        </p:sp>
        <p:sp>
          <p:nvSpPr>
            <p:cNvPr id="42" name="TextBox 42"/>
            <p:cNvSpPr txBox="1"/>
            <p:nvPr/>
          </p:nvSpPr>
          <p:spPr>
            <a:xfrm>
              <a:off x="8199120" y="4005262"/>
              <a:ext cx="1787981"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59.7 / 43.1</a:t>
              </a:r>
            </a:p>
          </p:txBody>
        </p:sp>
        <p:sp>
          <p:nvSpPr>
            <p:cNvPr id="43" name="TextBox 43"/>
            <p:cNvSpPr txBox="1"/>
            <p:nvPr/>
          </p:nvSpPr>
          <p:spPr>
            <a:xfrm>
              <a:off x="8204454" y="4366260"/>
              <a:ext cx="274606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mAP — class-agnostic / multi-class</a:t>
              </a:r>
            </a:p>
          </p:txBody>
        </p:sp>
        <p:sp>
          <p:nvSpPr>
            <p:cNvPr id="44" name="Rectangle 44"/>
            <p:cNvSpPr/>
            <p:nvPr/>
          </p:nvSpPr>
          <p:spPr>
            <a:xfrm>
              <a:off x="8210550" y="4762500"/>
              <a:ext cx="3048000" cy="533400"/>
            </a:xfrm>
            <a:prstGeom prst="roundRect">
              <a:avLst>
                <a:gd name="adj" fmla="val 14286"/>
              </a:avLst>
            </a:prstGeom>
            <a:solidFill>
              <a:schemeClr val="accent5"/>
            </a:solidFill>
            <a:ln>
              <a:noFill/>
            </a:ln>
          </p:spPr>
        </p:sp>
        <p:sp>
          <p:nvSpPr>
            <p:cNvPr id="45" name="TextBox 45"/>
            <p:cNvSpPr txBox="1"/>
            <p:nvPr/>
          </p:nvSpPr>
          <p:spPr>
            <a:xfrm>
              <a:off x="8357235" y="4869656"/>
              <a:ext cx="1600162"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Data &amp; code released</a:t>
              </a:r>
            </a:p>
          </p:txBody>
        </p:sp>
        <p:sp>
          <p:nvSpPr>
            <p:cNvPr id="46" name="TextBox 46"/>
            <p:cNvSpPr txBox="1"/>
            <p:nvPr/>
          </p:nvSpPr>
          <p:spPr>
            <a:xfrm>
              <a:off x="8357616" y="5068252"/>
              <a:ext cx="237777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github.com/LiamLian0727/USIS10K</a:t>
              </a:r>
            </a:p>
          </p:txBody>
        </p:sp>
      </p:grpSp>
      <p:sp>
        <p:nvSpPr>
          <p:cNvPr id="48" name="Line 48"/>
          <p:cNvSpPr/>
          <p:nvPr/>
        </p:nvSpPr>
        <p:spPr>
          <a:xfrm>
            <a:off x="685800" y="622935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sp>
        <p:nvSpPr>
          <p:cNvPr id="49" name="TextBox 49"/>
          <p:cNvSpPr txBox="1"/>
          <p:nvPr/>
        </p:nvSpPr>
        <p:spPr>
          <a:xfrm>
            <a:off x="680847" y="6390799"/>
            <a:ext cx="3508632" cy="190690"/>
          </a:xfrm>
          <a:prstGeom prst="rect">
            <a:avLst/>
          </a:prstGeom>
          <a:noFill/>
          <a:ln>
            <a:noFill/>
          </a:ln>
        </p:spPr>
        <p:txBody>
          <a:bodyPr wrap="none" lIns="0" tIns="0" rIns="0" bIns="0" anchor="t" anchorCtr="0">
            <a:spAutoFit/>
          </a:bodyPr>
          <a:lstStyle/>
          <a:p>
            <a:pPr algn="l"/>
            <a:r>
              <a:rPr lang="en-US" sz="980" dirty="0">
                <a:solidFill>
                  <a:srgbClr val="6E93A4"/>
                </a:solidFill>
                <a:latin typeface="+mn-lt"/>
                <a:ea typeface="+mn-ea"/>
                <a:cs typeface="+mn-cs"/>
              </a:rPr>
              <a:t>USIS-SAM · Underwater Salient Instance Segmentation</a:t>
            </a:r>
          </a:p>
        </p:txBody>
      </p:sp>
      <p:sp>
        <p:nvSpPr>
          <p:cNvPr id="50" name="TextBox 50"/>
          <p:cNvSpPr txBox="1"/>
          <p:nvPr/>
        </p:nvSpPr>
        <p:spPr>
          <a:xfrm>
            <a:off x="11059290" y="6390799"/>
            <a:ext cx="451863" cy="190690"/>
          </a:xfrm>
          <a:prstGeom prst="rect">
            <a:avLst/>
          </a:prstGeom>
          <a:noFill/>
          <a:ln>
            <a:noFill/>
          </a:ln>
        </p:spPr>
        <p:txBody>
          <a:bodyPr wrap="none" lIns="0" tIns="0" rIns="0" bIns="0" anchor="t" anchorCtr="0">
            <a:spAutoFit/>
          </a:bodyPr>
          <a:lstStyle/>
          <a:p>
            <a:pPr algn="r"/>
            <a:r>
              <a:rPr lang="en-US" sz="980" dirty="0">
                <a:solidFill>
                  <a:srgbClr val="6E93A4"/>
                </a:solidFill>
                <a:latin typeface="+mn-lt"/>
                <a:ea typeface="+mn-ea"/>
                <a:cs typeface="+mn-cs"/>
              </a:rPr>
              <a:t>04 / 10</a:t>
            </a:r>
          </a:p>
        </p:txBody>
      </p:sp>
      <p:sp>
        <p:nvSpPr>
          <p:cNvPr id="51" name="cue_s04_c1_makes_three_contributions" title="cue_s04_c1_makes_three_contributions" descr="cue_s04_c1_makes_three_contributions The paper makes three contributions."/>
          <p:cNvSpPr/>
          <p:nvPr/>
        </p:nvSpPr>
        <p:spPr>
          <a:xfrm>
            <a:off x="1428902" y="962177"/>
            <a:ext cx="4674412" cy="29352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4_c2_first_usis10k_first_large_scale_unde" title="cue_s04_c2_first_usis10k_first_large_scale_unde" descr="cue_s04_c2_first_usis10k_first_large_scale_unde First, USIS10K, the first large-scale underwater salient instance segmentation dataset, with 10,632 pixel-level annotated images across seven categories."/>
          <p:cNvSpPr/>
          <p:nvPr/>
        </p:nvSpPr>
        <p:spPr>
          <a:xfrm>
            <a:off x="686409" y="1866747"/>
            <a:ext cx="3428390"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4_c3_second_usis_sam_architecture_built_s" title="cue_s04_c3_second_usis_sam_architecture_built_s" descr="cue_s04_c3_second_usis_sam_architecture_built_s Second, USIS-SAM, an architecture built on SAM featuring an Underwater Adaptive Visual Transformer encoder and an out-of-the-box Salient Feature Prompt Generator that removes manual prompts."/>
          <p:cNvSpPr/>
          <p:nvPr/>
        </p:nvSpPr>
        <p:spPr>
          <a:xfrm>
            <a:off x="4324502" y="1866747"/>
            <a:ext cx="3428390"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4_c4_third_extensive_experiments_show_bea" title="cue_s04_c4_third_extensive_experiments_show_bea" descr="cue_s04_c4_third_extensive_experiments_show_bea Third, extensive experiments show it beats state-of-the-art methods, with data and code released."/>
          <p:cNvSpPr/>
          <p:nvPr/>
        </p:nvSpPr>
        <p:spPr>
          <a:xfrm>
            <a:off x="7962595" y="1866747"/>
            <a:ext cx="3542995"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0A2233"/>
            </a:gs>
            <a:gs pos="100000">
              <a:srgbClr val="04121B"/>
            </a:gs>
          </a:gsLst>
          <a:lin ang="5400000" scaled="1"/>
        </a:gra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1"/>
              </a:gs>
              <a:gs pos="100000">
                <a:schemeClr val="accent3"/>
              </a:gs>
            </a:gsLst>
            <a:lin ang="0" scaled="1"/>
          </a:gradFill>
          <a:ln>
            <a:noFill/>
          </a:ln>
        </p:spPr>
        <p:txBody>
          <a:bodyPr/>
          <a:p/>
        </p:txBody>
      </p:sp>
      <p:sp>
        <p:nvSpPr>
          <p:cNvPr id="3" name="TextBox 3"/>
          <p:cNvSpPr txBox="1"/>
          <p:nvPr/>
        </p:nvSpPr>
        <p:spPr>
          <a:xfrm>
            <a:off x="679704" y="670560"/>
            <a:ext cx="701581"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05 / 10</a:t>
            </a:r>
          </a:p>
        </p:txBody>
      </p:sp>
      <p:sp>
        <p:nvSpPr>
          <p:cNvPr id="4" name="TextBox 4"/>
          <p:cNvSpPr txBox="1"/>
          <p:nvPr/>
        </p:nvSpPr>
        <p:spPr>
          <a:xfrm>
            <a:off x="671322" y="930592"/>
            <a:ext cx="3780902"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Method — USIS-SAM</a:t>
            </a:r>
          </a:p>
        </p:txBody>
      </p:sp>
      <p:sp>
        <p:nvSpPr>
          <p:cNvPr id="5" name="Rectangle 5"/>
          <p:cNvSpPr/>
          <p:nvPr/>
        </p:nvSpPr>
        <p:spPr>
          <a:xfrm>
            <a:off x="685800" y="1390650"/>
            <a:ext cx="609600" cy="38100"/>
          </a:xfrm>
          <a:prstGeom prst="roundRect">
            <a:avLst>
              <a:gd name="adj" fmla="val 50000"/>
            </a:avLst>
          </a:prstGeom>
          <a:solidFill>
            <a:schemeClr val="accent2"/>
          </a:solidFill>
          <a:ln>
            <a:noFill/>
          </a:ln>
        </p:spPr>
        <p:txBody>
          <a:bodyPr/>
          <a:p/>
        </p:txBody>
      </p:sp>
      <p:grpSp>
        <p:nvGrpSpPr>
          <p:cNvPr id="11" name="Group 11"/>
          <p:cNvGrpSpPr/>
          <p:nvPr/>
        </p:nvGrpSpPr>
        <p:grpSpPr>
          <a:xfrm>
            <a:off x="685800" y="1638300"/>
            <a:ext cx="4953000" cy="1066800"/>
            <a:chOff x="685800" y="1638300"/>
            <a:chExt cx="4953000" cy="1066800"/>
          </a:xfrm>
        </p:grpSpPr>
        <p:sp>
          <p:nvSpPr>
            <p:cNvPr id="6" name="Rectangle 6"/>
            <p:cNvSpPr/>
            <p:nvPr/>
          </p:nvSpPr>
          <p:spPr>
            <a:xfrm>
              <a:off x="685800" y="1638300"/>
              <a:ext cx="4953000" cy="1066800"/>
            </a:xfrm>
            <a:prstGeom prst="roundRect">
              <a:avLst>
                <a:gd name="adj" fmla="val 10714"/>
              </a:avLst>
            </a:prstGeom>
            <a:solidFill>
              <a:schemeClr val="lt2"/>
            </a:solidFill>
            <a:ln w="9525">
              <a:solidFill>
                <a:schemeClr val="accent4"/>
              </a:solidFill>
            </a:ln>
          </p:spPr>
        </p:sp>
        <p:sp>
          <p:nvSpPr>
            <p:cNvPr id="7" name="Rectangle 7"/>
            <p:cNvSpPr/>
            <p:nvPr/>
          </p:nvSpPr>
          <p:spPr>
            <a:xfrm>
              <a:off x="685800" y="1638300"/>
              <a:ext cx="57150" cy="1066800"/>
            </a:xfrm>
            <a:prstGeom prst="roundRect">
              <a:avLst>
                <a:gd name="adj" fmla="val 50000"/>
              </a:avLst>
            </a:prstGeom>
            <a:solidFill>
              <a:schemeClr val="accent3"/>
            </a:solidFill>
            <a:ln>
              <a:noFill/>
            </a:ln>
          </p:spPr>
        </p:sp>
        <p:sp>
          <p:nvSpPr>
            <p:cNvPr id="8" name="TextBox 8"/>
            <p:cNvSpPr txBox="1"/>
            <p:nvPr/>
          </p:nvSpPr>
          <p:spPr>
            <a:xfrm>
              <a:off x="927354" y="1813560"/>
              <a:ext cx="2135977"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FROZEN SAM BACKBONE ❄</a:t>
              </a:r>
            </a:p>
          </p:txBody>
        </p:sp>
        <p:sp>
          <p:nvSpPr>
            <p:cNvPr id="9" name="TextBox 9"/>
            <p:cNvSpPr txBox="1"/>
            <p:nvPr/>
          </p:nvSpPr>
          <p:spPr>
            <a:xfrm>
              <a:off x="926211" y="2075021"/>
              <a:ext cx="383586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Keep SAM's pretrained backbone frozen,</a:t>
              </a:r>
            </a:p>
          </p:txBody>
        </p:sp>
        <p:sp>
          <p:nvSpPr>
            <p:cNvPr id="10" name="TextBox 10"/>
            <p:cNvSpPr txBox="1"/>
            <p:nvPr/>
          </p:nvSpPr>
          <p:spPr>
            <a:xfrm>
              <a:off x="926211" y="2322671"/>
              <a:ext cx="422000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then add two lightweight, targeted modules.</a:t>
              </a:r>
            </a:p>
          </p:txBody>
        </p:sp>
      </p:grpSp>
      <p:grpSp>
        <p:nvGrpSpPr>
          <p:cNvPr id="22" name="Group 22"/>
          <p:cNvGrpSpPr/>
          <p:nvPr/>
        </p:nvGrpSpPr>
        <p:grpSpPr>
          <a:xfrm>
            <a:off x="685800" y="2838450"/>
            <a:ext cx="4953000" cy="1578578"/>
            <a:chOff x="685800" y="2838450"/>
            <a:chExt cx="4953000" cy="1578578"/>
          </a:xfrm>
        </p:grpSpPr>
        <p:sp>
          <p:nvSpPr>
            <p:cNvPr id="12" name="Rectangle 12"/>
            <p:cNvSpPr/>
            <p:nvPr/>
          </p:nvSpPr>
          <p:spPr>
            <a:xfrm>
              <a:off x="685800" y="2838450"/>
              <a:ext cx="4953000" cy="1562100"/>
            </a:xfrm>
            <a:prstGeom prst="roundRect">
              <a:avLst>
                <a:gd name="adj" fmla="val 7317"/>
              </a:avLst>
            </a:prstGeom>
            <a:solidFill>
              <a:schemeClr val="lt2"/>
            </a:solidFill>
            <a:ln w="9525">
              <a:solidFill>
                <a:schemeClr val="accent4"/>
              </a:solidFill>
            </a:ln>
          </p:spPr>
        </p:sp>
        <p:sp>
          <p:nvSpPr>
            <p:cNvPr id="13" name="Rectangle 13"/>
            <p:cNvSpPr/>
            <p:nvPr/>
          </p:nvSpPr>
          <p:spPr>
            <a:xfrm>
              <a:off x="685800" y="2838450"/>
              <a:ext cx="57150" cy="1562100"/>
            </a:xfrm>
            <a:prstGeom prst="roundRect">
              <a:avLst>
                <a:gd name="adj" fmla="val 50000"/>
              </a:avLst>
            </a:prstGeom>
            <a:solidFill>
              <a:schemeClr val="accent1"/>
            </a:solidFill>
            <a:ln>
              <a:noFill/>
            </a:ln>
          </p:spPr>
        </p:sp>
        <p:sp>
          <p:nvSpPr>
            <p:cNvPr id="14" name="TextBox 14"/>
            <p:cNvSpPr txBox="1"/>
            <p:nvPr/>
          </p:nvSpPr>
          <p:spPr>
            <a:xfrm>
              <a:off x="926592" y="2997518"/>
              <a:ext cx="3418610"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1 · Underwater Adaptive ViT encoder</a:t>
              </a:r>
            </a:p>
          </p:txBody>
        </p:sp>
        <p:sp>
          <p:nvSpPr>
            <p:cNvPr id="15" name="TextBox 15"/>
            <p:cNvSpPr txBox="1"/>
            <p:nvPr/>
          </p:nvSpPr>
          <p:spPr>
            <a:xfrm>
              <a:off x="927354" y="3280410"/>
              <a:ext cx="406419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Injects underwater domain knowledge via adapters:</a:t>
              </a:r>
            </a:p>
          </p:txBody>
        </p:sp>
        <p:sp>
          <p:nvSpPr>
            <p:cNvPr id="16" name="Ellipse 16"/>
            <p:cNvSpPr/>
            <p:nvPr/>
          </p:nvSpPr>
          <p:spPr>
            <a:xfrm>
              <a:off x="962025" y="3629025"/>
              <a:ext cx="95250" cy="95250"/>
            </a:xfrm>
            <a:prstGeom prst="ellipse">
              <a:avLst/>
            </a:prstGeom>
            <a:solidFill>
              <a:schemeClr val="accent1"/>
            </a:solidFill>
            <a:ln>
              <a:noFill/>
            </a:ln>
          </p:spPr>
        </p:sp>
        <p:sp>
          <p:nvSpPr>
            <p:cNvPr id="17" name="TextBox 17"/>
            <p:cNvSpPr txBox="1"/>
            <p:nvPr/>
          </p:nvSpPr>
          <p:spPr>
            <a:xfrm>
              <a:off x="1155573" y="3596164"/>
              <a:ext cx="326647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Channel adapter recalibrates features</a:t>
              </a:r>
            </a:p>
          </p:txBody>
        </p:sp>
        <p:sp>
          <p:nvSpPr>
            <p:cNvPr id="18" name="Ellipse 18"/>
            <p:cNvSpPr/>
            <p:nvPr/>
          </p:nvSpPr>
          <p:spPr>
            <a:xfrm>
              <a:off x="962025" y="3914775"/>
              <a:ext cx="95250" cy="95250"/>
            </a:xfrm>
            <a:prstGeom prst="ellipse">
              <a:avLst/>
            </a:prstGeom>
            <a:solidFill>
              <a:schemeClr val="accent1"/>
            </a:solidFill>
            <a:ln>
              <a:noFill/>
            </a:ln>
          </p:spPr>
        </p:sp>
        <p:sp>
          <p:nvSpPr>
            <p:cNvPr id="19" name="TextBox 19"/>
            <p:cNvSpPr txBox="1"/>
            <p:nvPr/>
          </p:nvSpPr>
          <p:spPr>
            <a:xfrm>
              <a:off x="1155573" y="3881914"/>
              <a:ext cx="432029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Multi-scale conv 3×3 / 5×5 / 7×7 capture structure</a:t>
              </a:r>
            </a:p>
          </p:txBody>
        </p:sp>
        <p:sp>
          <p:nvSpPr>
            <p:cNvPr id="20" name="Ellipse 20"/>
            <p:cNvSpPr/>
            <p:nvPr/>
          </p:nvSpPr>
          <p:spPr>
            <a:xfrm>
              <a:off x="962025" y="4200525"/>
              <a:ext cx="95250" cy="95250"/>
            </a:xfrm>
            <a:prstGeom prst="ellipse">
              <a:avLst/>
            </a:prstGeom>
            <a:solidFill>
              <a:schemeClr val="accent1"/>
            </a:solidFill>
            <a:ln>
              <a:noFill/>
            </a:ln>
          </p:spPr>
        </p:sp>
        <p:sp>
          <p:nvSpPr>
            <p:cNvPr id="21" name="TextBox 21"/>
            <p:cNvSpPr txBox="1"/>
            <p:nvPr/>
          </p:nvSpPr>
          <p:spPr>
            <a:xfrm>
              <a:off x="1155573" y="4167664"/>
              <a:ext cx="367159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Average residuals dampen underwater noise</a:t>
              </a:r>
            </a:p>
          </p:txBody>
        </p:sp>
      </p:grpSp>
      <p:grpSp>
        <p:nvGrpSpPr>
          <p:cNvPr id="30" name="Group 30"/>
          <p:cNvGrpSpPr/>
          <p:nvPr/>
        </p:nvGrpSpPr>
        <p:grpSpPr>
          <a:xfrm>
            <a:off x="685800" y="4533900"/>
            <a:ext cx="4953000" cy="1362456"/>
            <a:chOff x="685800" y="4533900"/>
            <a:chExt cx="4953000" cy="1362456"/>
          </a:xfrm>
        </p:grpSpPr>
        <p:sp>
          <p:nvSpPr>
            <p:cNvPr id="23" name="Rectangle 23"/>
            <p:cNvSpPr/>
            <p:nvPr/>
          </p:nvSpPr>
          <p:spPr>
            <a:xfrm>
              <a:off x="685800" y="4533900"/>
              <a:ext cx="4953000" cy="1314450"/>
            </a:xfrm>
            <a:prstGeom prst="roundRect">
              <a:avLst>
                <a:gd name="adj" fmla="val 8696"/>
              </a:avLst>
            </a:prstGeom>
            <a:solidFill>
              <a:schemeClr val="lt2"/>
            </a:solidFill>
            <a:ln w="9525">
              <a:solidFill>
                <a:schemeClr val="accent4"/>
              </a:solidFill>
            </a:ln>
          </p:spPr>
        </p:sp>
        <p:sp>
          <p:nvSpPr>
            <p:cNvPr id="24" name="Rectangle 24"/>
            <p:cNvSpPr/>
            <p:nvPr/>
          </p:nvSpPr>
          <p:spPr>
            <a:xfrm>
              <a:off x="685800" y="4533900"/>
              <a:ext cx="57150" cy="1314450"/>
            </a:xfrm>
            <a:prstGeom prst="roundRect">
              <a:avLst>
                <a:gd name="adj" fmla="val 50000"/>
              </a:avLst>
            </a:prstGeom>
            <a:solidFill>
              <a:schemeClr val="accent2"/>
            </a:solidFill>
            <a:ln>
              <a:noFill/>
            </a:ln>
          </p:spPr>
        </p:sp>
        <p:sp>
          <p:nvSpPr>
            <p:cNvPr id="25" name="TextBox 25"/>
            <p:cNvSpPr txBox="1"/>
            <p:nvPr/>
          </p:nvSpPr>
          <p:spPr>
            <a:xfrm>
              <a:off x="926592" y="4692968"/>
              <a:ext cx="3523441"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2 · Salient Feature Prompt Generator</a:t>
              </a:r>
            </a:p>
          </p:txBody>
        </p:sp>
        <p:sp>
          <p:nvSpPr>
            <p:cNvPr id="26" name="TextBox 26"/>
            <p:cNvSpPr txBox="1"/>
            <p:nvPr/>
          </p:nvSpPr>
          <p:spPr>
            <a:xfrm>
              <a:off x="926973" y="4967764"/>
              <a:ext cx="363034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Replaces SAM's manual point/box prompts.</a:t>
              </a:r>
            </a:p>
          </p:txBody>
        </p:sp>
        <p:sp>
          <p:nvSpPr>
            <p:cNvPr id="27" name="TextBox 27"/>
            <p:cNvSpPr txBox="1"/>
            <p:nvPr/>
          </p:nvSpPr>
          <p:spPr>
            <a:xfrm>
              <a:off x="926973" y="5215414"/>
              <a:ext cx="447793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 Salient Feature Fusion Module aggregates features</a:t>
              </a:r>
            </a:p>
          </p:txBody>
        </p:sp>
        <p:sp>
          <p:nvSpPr>
            <p:cNvPr id="28" name="TextBox 28"/>
            <p:cNvSpPr txBox="1"/>
            <p:nvPr/>
          </p:nvSpPr>
          <p:spPr>
            <a:xfrm>
              <a:off x="926973" y="5463064"/>
              <a:ext cx="437000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from each UA-ViT block and produces salient prompt</a:t>
              </a:r>
            </a:p>
          </p:txBody>
        </p:sp>
        <p:sp>
          <p:nvSpPr>
            <p:cNvPr id="29" name="TextBox 29"/>
            <p:cNvSpPr txBox="1"/>
            <p:nvPr/>
          </p:nvSpPr>
          <p:spPr>
            <a:xfrm>
              <a:off x="927354" y="5661660"/>
              <a:ext cx="442354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embeddings automatically → fed to SAM's mask decoder.</a:t>
              </a:r>
            </a:p>
          </p:txBody>
        </p:sp>
      </p:grpSp>
      <p:grpSp>
        <p:nvGrpSpPr>
          <p:cNvPr id="36" name="Group 36"/>
          <p:cNvGrpSpPr/>
          <p:nvPr/>
        </p:nvGrpSpPr>
        <p:grpSpPr>
          <a:xfrm>
            <a:off x="5867400" y="1638300"/>
            <a:ext cx="5638800" cy="3048000"/>
            <a:chOff x="5867400" y="1638300"/>
            <a:chExt cx="5638800" cy="3048000"/>
          </a:xfrm>
        </p:grpSpPr>
        <p:sp>
          <p:nvSpPr>
            <p:cNvPr id="31" name="Rectangle 31"/>
            <p:cNvSpPr/>
            <p:nvPr/>
          </p:nvSpPr>
          <p:spPr>
            <a:xfrm>
              <a:off x="5867400" y="1638300"/>
              <a:ext cx="5638800" cy="3048000"/>
            </a:xfrm>
            <a:prstGeom prst="roundRect">
              <a:avLst>
                <a:gd name="adj" fmla="val 3750"/>
              </a:avLst>
            </a:prstGeom>
            <a:solidFill>
              <a:schemeClr val="lt2"/>
            </a:solidFill>
            <a:ln w="9525">
              <a:solidFill>
                <a:schemeClr val="accent4"/>
              </a:solidFill>
            </a:ln>
          </p:spPr>
        </p:sp>
        <p:sp>
          <p:nvSpPr>
            <p:cNvPr id="32" name="TextBox 32"/>
            <p:cNvSpPr txBox="1"/>
            <p:nvPr/>
          </p:nvSpPr>
          <p:spPr>
            <a:xfrm>
              <a:off x="6109335" y="1802606"/>
              <a:ext cx="1717627"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USIS-SAM FRAMEWORK</a:t>
              </a:r>
            </a:p>
          </p:txBody>
        </p:sp>
        <p:pic>
          <p:nvPicPr>
            <p:cNvPr id="33" name="Image 33"/>
            <p:cNvPicPr>
              <a:picLocks noChangeAspect="1"/>
            </p:cNvPicPr>
            <p:nvPr/>
          </p:nvPicPr>
          <p:blipFill>
            <a:blip r:embed="rId2"/>
            <a:stretch>
              <a:fillRect/>
            </a:stretch>
          </p:blipFill>
          <p:spPr>
            <a:xfrm>
              <a:off x="6038850" y="2140268"/>
              <a:ext cx="5295900" cy="1853565"/>
            </a:xfrm>
            <a:prstGeom prst="rect">
              <a:avLst/>
            </a:prstGeom>
          </p:spPr>
        </p:pic>
        <p:sp>
          <p:nvSpPr>
            <p:cNvPr id="34" name="TextBox 34"/>
            <p:cNvSpPr txBox="1"/>
            <p:nvPr/>
          </p:nvSpPr>
          <p:spPr>
            <a:xfrm>
              <a:off x="6110097" y="4276249"/>
              <a:ext cx="4516682" cy="190690"/>
            </a:xfrm>
            <a:prstGeom prst="rect">
              <a:avLst/>
            </a:prstGeom>
            <a:noFill/>
            <a:ln>
              <a:noFill/>
            </a:ln>
          </p:spPr>
          <p:txBody>
            <a:bodyPr wrap="none" lIns="0" tIns="0" rIns="0" bIns="0" anchor="t" anchorCtr="0">
              <a:spAutoFit/>
            </a:bodyPr>
            <a:lstStyle/>
            <a:p>
              <a:pPr algn="l"/>
              <a:r>
                <a:rPr lang="en-US" sz="980" dirty="0">
                  <a:solidFill>
                    <a:srgbClr val="6E93A4"/>
                  </a:solidFill>
                  <a:latin typeface="+mn-lt"/>
                  <a:ea typeface="+mn-ea"/>
                  <a:cs typeface="+mn-cs"/>
                </a:rPr>
                <a:t>Fig. 6: SAM extended with the UA-ViT encoder and the Salient Feature</a:t>
              </a:r>
            </a:p>
          </p:txBody>
        </p:sp>
        <p:sp>
          <p:nvSpPr>
            <p:cNvPr id="35" name="TextBox 35"/>
            <p:cNvSpPr txBox="1"/>
            <p:nvPr/>
          </p:nvSpPr>
          <p:spPr>
            <a:xfrm>
              <a:off x="6110097" y="4447699"/>
              <a:ext cx="3805348" cy="190690"/>
            </a:xfrm>
            <a:prstGeom prst="rect">
              <a:avLst/>
            </a:prstGeom>
            <a:noFill/>
            <a:ln>
              <a:noFill/>
            </a:ln>
          </p:spPr>
          <p:txBody>
            <a:bodyPr wrap="none" lIns="0" tIns="0" rIns="0" bIns="0" anchor="t" anchorCtr="0">
              <a:spAutoFit/>
            </a:bodyPr>
            <a:lstStyle/>
            <a:p>
              <a:pPr algn="l"/>
              <a:r>
                <a:rPr lang="en-US" sz="980" dirty="0">
                  <a:solidFill>
                    <a:srgbClr val="6E93A4"/>
                  </a:solidFill>
                  <a:latin typeface="+mn-lt"/>
                  <a:ea typeface="+mn-ea"/>
                  <a:cs typeface="+mn-cs"/>
                </a:rPr>
                <a:t>Prompt Generator; the pretrained backbone stays frozen.</a:t>
              </a:r>
            </a:p>
          </p:txBody>
        </p:sp>
      </p:grpSp>
      <p:grpSp>
        <p:nvGrpSpPr>
          <p:cNvPr id="41" name="Group 41"/>
          <p:cNvGrpSpPr/>
          <p:nvPr/>
        </p:nvGrpSpPr>
        <p:grpSpPr>
          <a:xfrm>
            <a:off x="5867400" y="4819650"/>
            <a:ext cx="5641089" cy="1028700"/>
            <a:chOff x="5867400" y="4819650"/>
            <a:chExt cx="5641089" cy="1028700"/>
          </a:xfrm>
        </p:grpSpPr>
        <p:sp>
          <p:nvSpPr>
            <p:cNvPr id="37" name="Rectangle 37"/>
            <p:cNvSpPr/>
            <p:nvPr/>
          </p:nvSpPr>
          <p:spPr>
            <a:xfrm>
              <a:off x="5867400" y="4819650"/>
              <a:ext cx="5638800" cy="1028700"/>
            </a:xfrm>
            <a:prstGeom prst="roundRect">
              <a:avLst>
                <a:gd name="adj" fmla="val 11111"/>
              </a:avLst>
            </a:prstGeom>
            <a:solidFill>
              <a:schemeClr val="accent5"/>
            </a:solidFill>
            <a:ln w="9525">
              <a:solidFill>
                <a:schemeClr val="accent4"/>
              </a:solidFill>
            </a:ln>
          </p:spPr>
        </p:sp>
        <p:sp>
          <p:nvSpPr>
            <p:cNvPr id="38" name="TextBox 38"/>
            <p:cNvSpPr txBox="1"/>
            <p:nvPr/>
          </p:nvSpPr>
          <p:spPr>
            <a:xfrm>
              <a:off x="6108954" y="4994910"/>
              <a:ext cx="1786494"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END-TO-END TRAINING</a:t>
              </a:r>
            </a:p>
          </p:txBody>
        </p:sp>
        <p:sp>
          <p:nvSpPr>
            <p:cNvPr id="39" name="TextBox 39"/>
            <p:cNvSpPr txBox="1"/>
            <p:nvPr/>
          </p:nvSpPr>
          <p:spPr>
            <a:xfrm>
              <a:off x="6107430" y="5286375"/>
              <a:ext cx="381114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Consolas"/>
                  <a:ea typeface="Consolas"/>
                  <a:cs typeface="Consolas"/>
                </a:rPr>
                <a:t>L = L_rpn + Σ ( L_cls + L_reg + L_seg )</a:t>
              </a:r>
            </a:p>
          </p:txBody>
        </p:sp>
        <p:sp>
          <p:nvSpPr>
            <p:cNvPr id="40" name="TextBox 40"/>
            <p:cNvSpPr txBox="1"/>
            <p:nvPr/>
          </p:nvSpPr>
          <p:spPr>
            <a:xfrm>
              <a:off x="6109335" y="5593556"/>
              <a:ext cx="539915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Region proposal, classification, box regression, and mask segmentation.</a:t>
              </a:r>
            </a:p>
          </p:txBody>
        </p:sp>
      </p:grpSp>
      <p:sp>
        <p:nvSpPr>
          <p:cNvPr id="42" name="Line 42"/>
          <p:cNvSpPr/>
          <p:nvPr/>
        </p:nvSpPr>
        <p:spPr>
          <a:xfrm>
            <a:off x="685800" y="622935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sp>
        <p:nvSpPr>
          <p:cNvPr id="43" name="TextBox 43"/>
          <p:cNvSpPr txBox="1"/>
          <p:nvPr/>
        </p:nvSpPr>
        <p:spPr>
          <a:xfrm>
            <a:off x="680847" y="6390799"/>
            <a:ext cx="3508632" cy="190690"/>
          </a:xfrm>
          <a:prstGeom prst="rect">
            <a:avLst/>
          </a:prstGeom>
          <a:noFill/>
          <a:ln>
            <a:noFill/>
          </a:ln>
        </p:spPr>
        <p:txBody>
          <a:bodyPr wrap="none" lIns="0" tIns="0" rIns="0" bIns="0" anchor="t" anchorCtr="0">
            <a:spAutoFit/>
          </a:bodyPr>
          <a:lstStyle/>
          <a:p>
            <a:pPr algn="l"/>
            <a:r>
              <a:rPr lang="en-US" sz="980" dirty="0">
                <a:solidFill>
                  <a:srgbClr val="6E93A4"/>
                </a:solidFill>
                <a:latin typeface="+mn-lt"/>
                <a:ea typeface="+mn-ea"/>
                <a:cs typeface="+mn-cs"/>
              </a:rPr>
              <a:t>USIS-SAM · Underwater Salient Instance Segmentation</a:t>
            </a:r>
          </a:p>
        </p:txBody>
      </p:sp>
      <p:sp>
        <p:nvSpPr>
          <p:cNvPr id="44" name="TextBox 44"/>
          <p:cNvSpPr txBox="1"/>
          <p:nvPr/>
        </p:nvSpPr>
        <p:spPr>
          <a:xfrm>
            <a:off x="11059290" y="6390799"/>
            <a:ext cx="451863" cy="190690"/>
          </a:xfrm>
          <a:prstGeom prst="rect">
            <a:avLst/>
          </a:prstGeom>
          <a:noFill/>
          <a:ln>
            <a:noFill/>
          </a:ln>
        </p:spPr>
        <p:txBody>
          <a:bodyPr wrap="none" lIns="0" tIns="0" rIns="0" bIns="0" anchor="t" anchorCtr="0">
            <a:spAutoFit/>
          </a:bodyPr>
          <a:lstStyle/>
          <a:p>
            <a:pPr algn="r"/>
            <a:r>
              <a:rPr lang="en-US" sz="980" dirty="0">
                <a:solidFill>
                  <a:srgbClr val="6E93A4"/>
                </a:solidFill>
                <a:latin typeface="+mn-lt"/>
                <a:ea typeface="+mn-ea"/>
                <a:cs typeface="+mn-cs"/>
              </a:rPr>
              <a:t>05 / 10</a:t>
            </a:r>
          </a:p>
        </p:txBody>
      </p:sp>
      <p:sp>
        <p:nvSpPr>
          <p:cNvPr id="45" name="cue_s05_c1_usis_sam_keeps_sam_pretrained_backbo" title="cue_s05_c1_usis_sam_keeps_sam_pretrained_backbo" descr="cue_s05_c1_usis_sam_keeps_sam_pretrained_backbo USIS-SAM keeps SAM's pretrained backbone frozen and adds two lightweight modules."/>
          <p:cNvSpPr/>
          <p:nvPr/>
        </p:nvSpPr>
        <p:spPr>
          <a:xfrm>
            <a:off x="686409" y="1638376"/>
            <a:ext cx="4952390" cy="10671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5_c2_underwater_adaptive_vit_encoder_inje" title="cue_s05_c2_underwater_adaptive_vit_encoder_inje" descr="cue_s05_c2_underwater_adaptive_vit_encoder_inje The Underwater Adaptive ViT encoder injects domain knowledge through adapters: a channel adapter recalibrates features, while multi-scale convolutions of size three, five, and seven capture structures, balanced by average residuals to dampen noise."/>
          <p:cNvSpPr/>
          <p:nvPr/>
        </p:nvSpPr>
        <p:spPr>
          <a:xfrm>
            <a:off x="686409" y="2838526"/>
            <a:ext cx="4952390" cy="157871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5_c3_top_salient_feature_prompt_generator" title="cue_s05_c3_top_salient_feature_prompt_generator" descr="cue_s05_c3_top_salient_feature_prompt_generator On top, the Salient Feature Prompt Generator replaces SAM's manual prompts. Its Salient Feature Fusion Module aggregates features from each UA-ViT block and produces salient prompt embeddings automatically, feeding SAM's mask decoder."/>
          <p:cNvSpPr/>
          <p:nvPr/>
        </p:nvSpPr>
        <p:spPr>
          <a:xfrm>
            <a:off x="686409" y="4533823"/>
            <a:ext cx="4952390" cy="136268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5_c4_trains_end_to_end_combined_region_cl" title="cue_s05_c4_trains_end_to_end_combined_region_cl" descr="cue_s05_c4_trains_end_to_end_combined_region_cl It trains end-to-end with a combined region, classification, box, and mask loss."/>
          <p:cNvSpPr/>
          <p:nvPr/>
        </p:nvSpPr>
        <p:spPr>
          <a:xfrm>
            <a:off x="5868009" y="4819802"/>
            <a:ext cx="5641238" cy="10287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0A2233"/>
            </a:gs>
            <a:gs pos="100000">
              <a:srgbClr val="04121B"/>
            </a:gs>
          </a:gsLst>
          <a:lin ang="5400000" scaled="1"/>
        </a:gra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1"/>
              </a:gs>
              <a:gs pos="100000">
                <a:schemeClr val="accent3"/>
              </a:gs>
            </a:gsLst>
            <a:lin ang="0" scaled="1"/>
          </a:gradFill>
          <a:ln>
            <a:noFill/>
          </a:ln>
        </p:spPr>
        <p:txBody>
          <a:bodyPr/>
          <a:p/>
        </p:txBody>
      </p:sp>
      <p:sp>
        <p:nvSpPr>
          <p:cNvPr id="3" name="TextBox 3"/>
          <p:cNvSpPr txBox="1"/>
          <p:nvPr/>
        </p:nvSpPr>
        <p:spPr>
          <a:xfrm>
            <a:off x="679704" y="670560"/>
            <a:ext cx="701581"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06 / 10</a:t>
            </a:r>
          </a:p>
        </p:txBody>
      </p:sp>
      <p:sp>
        <p:nvSpPr>
          <p:cNvPr id="4" name="TextBox 4"/>
          <p:cNvSpPr txBox="1"/>
          <p:nvPr/>
        </p:nvSpPr>
        <p:spPr>
          <a:xfrm>
            <a:off x="671322" y="930592"/>
            <a:ext cx="3239407"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USIS10K Dataset</a:t>
            </a:r>
          </a:p>
        </p:txBody>
      </p:sp>
      <p:sp>
        <p:nvSpPr>
          <p:cNvPr id="5" name="Rectangle 5"/>
          <p:cNvSpPr/>
          <p:nvPr/>
        </p:nvSpPr>
        <p:spPr>
          <a:xfrm>
            <a:off x="685800" y="1390650"/>
            <a:ext cx="609600" cy="38100"/>
          </a:xfrm>
          <a:prstGeom prst="roundRect">
            <a:avLst>
              <a:gd name="adj" fmla="val 50000"/>
            </a:avLst>
          </a:prstGeom>
          <a:solidFill>
            <a:schemeClr val="accent2"/>
          </a:solidFill>
          <a:ln>
            <a:noFill/>
          </a:ln>
        </p:spPr>
        <p:txBody>
          <a:bodyPr/>
          <a:p/>
        </p:txBody>
      </p:sp>
      <p:grpSp>
        <p:nvGrpSpPr>
          <p:cNvPr id="11" name="Group 11"/>
          <p:cNvGrpSpPr/>
          <p:nvPr/>
        </p:nvGrpSpPr>
        <p:grpSpPr>
          <a:xfrm>
            <a:off x="685800" y="1638300"/>
            <a:ext cx="4953000" cy="963073"/>
            <a:chOff x="685800" y="1638300"/>
            <a:chExt cx="4953000" cy="963073"/>
          </a:xfrm>
        </p:grpSpPr>
        <p:sp>
          <p:nvSpPr>
            <p:cNvPr id="6" name="Rectangle 6"/>
            <p:cNvSpPr/>
            <p:nvPr/>
          </p:nvSpPr>
          <p:spPr>
            <a:xfrm>
              <a:off x="685800" y="1638300"/>
              <a:ext cx="4953000" cy="933450"/>
            </a:xfrm>
            <a:prstGeom prst="roundRect">
              <a:avLst>
                <a:gd name="adj" fmla="val 12245"/>
              </a:avLst>
            </a:prstGeom>
            <a:solidFill>
              <a:schemeClr val="lt2"/>
            </a:solidFill>
            <a:ln w="9525">
              <a:solidFill>
                <a:schemeClr val="accent4"/>
              </a:solidFill>
            </a:ln>
          </p:spPr>
        </p:sp>
        <p:sp>
          <p:nvSpPr>
            <p:cNvPr id="7" name="Rectangle 7"/>
            <p:cNvSpPr/>
            <p:nvPr/>
          </p:nvSpPr>
          <p:spPr>
            <a:xfrm>
              <a:off x="685800" y="1638300"/>
              <a:ext cx="57150" cy="933450"/>
            </a:xfrm>
            <a:prstGeom prst="roundRect">
              <a:avLst>
                <a:gd name="adj" fmla="val 50000"/>
              </a:avLst>
            </a:prstGeom>
            <a:solidFill>
              <a:schemeClr val="accent2"/>
            </a:solidFill>
            <a:ln>
              <a:noFill/>
            </a:ln>
          </p:spPr>
        </p:sp>
        <p:sp>
          <p:nvSpPr>
            <p:cNvPr id="8" name="TextBox 8"/>
            <p:cNvSpPr txBox="1"/>
            <p:nvPr/>
          </p:nvSpPr>
          <p:spPr>
            <a:xfrm>
              <a:off x="927354" y="1813560"/>
              <a:ext cx="2628839"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BREAKING THE DATA BOTTLENECK</a:t>
              </a:r>
            </a:p>
          </p:txBody>
        </p:sp>
        <p:sp>
          <p:nvSpPr>
            <p:cNvPr id="9" name="TextBox 9"/>
            <p:cNvSpPr txBox="1"/>
            <p:nvPr/>
          </p:nvSpPr>
          <p:spPr>
            <a:xfrm>
              <a:off x="926211" y="2075021"/>
              <a:ext cx="383429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first large-scale underwater salient</a:t>
              </a:r>
            </a:p>
          </p:txBody>
        </p:sp>
        <p:sp>
          <p:nvSpPr>
            <p:cNvPr id="10" name="TextBox 10"/>
            <p:cNvSpPr txBox="1"/>
            <p:nvPr/>
          </p:nvSpPr>
          <p:spPr>
            <a:xfrm>
              <a:off x="926211" y="2322671"/>
              <a:ext cx="301569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instance segmentation dataset.</a:t>
              </a:r>
            </a:p>
          </p:txBody>
        </p:sp>
      </p:grpSp>
      <p:grpSp>
        <p:nvGrpSpPr>
          <p:cNvPr id="24" name="Group 24"/>
          <p:cNvGrpSpPr/>
          <p:nvPr/>
        </p:nvGrpSpPr>
        <p:grpSpPr>
          <a:xfrm>
            <a:off x="685800" y="2724150"/>
            <a:ext cx="4953000" cy="1219200"/>
            <a:chOff x="685800" y="2724150"/>
            <a:chExt cx="4953000" cy="1219200"/>
          </a:xfrm>
        </p:grpSpPr>
        <p:sp>
          <p:nvSpPr>
            <p:cNvPr id="12" name="Rectangle 12"/>
            <p:cNvSpPr/>
            <p:nvPr/>
          </p:nvSpPr>
          <p:spPr>
            <a:xfrm>
              <a:off x="685800" y="2724150"/>
              <a:ext cx="1581150" cy="1219200"/>
            </a:xfrm>
            <a:prstGeom prst="roundRect">
              <a:avLst>
                <a:gd name="adj" fmla="val 9375"/>
              </a:avLst>
            </a:prstGeom>
            <a:solidFill>
              <a:schemeClr val="accent5"/>
            </a:solidFill>
            <a:ln w="9525">
              <a:solidFill>
                <a:schemeClr val="accent4"/>
              </a:solidFill>
            </a:ln>
          </p:spPr>
        </p:sp>
        <p:sp>
          <p:nvSpPr>
            <p:cNvPr id="13" name="TextBox 13"/>
            <p:cNvSpPr txBox="1"/>
            <p:nvPr/>
          </p:nvSpPr>
          <p:spPr>
            <a:xfrm>
              <a:off x="868687" y="2982278"/>
              <a:ext cx="1215377" cy="498729"/>
            </a:xfrm>
            <a:prstGeom prst="rect">
              <a:avLst/>
            </a:prstGeom>
            <a:noFill/>
            <a:ln>
              <a:noFill/>
            </a:ln>
          </p:spPr>
          <p:txBody>
            <a:bodyPr wrap="none" lIns="0" tIns="0" rIns="0" bIns="0" anchor="t" anchorCtr="0">
              <a:spAutoFit/>
            </a:bodyPr>
            <a:lstStyle/>
            <a:p>
              <a:pPr algn="ctr"/>
              <a:r>
                <a:rPr lang="en-US" sz="2550" b="1" dirty="0">
                  <a:solidFill>
                    <a:schemeClr val="accent1"/>
                  </a:solidFill>
                  <a:latin typeface="+mn-lt"/>
                  <a:ea typeface="+mn-ea"/>
                  <a:cs typeface="+mn-cs"/>
                </a:rPr>
                <a:t>10,632</a:t>
              </a:r>
            </a:p>
          </p:txBody>
        </p:sp>
        <p:sp>
          <p:nvSpPr>
            <p:cNvPr id="14" name="TextBox 14"/>
            <p:cNvSpPr txBox="1"/>
            <p:nvPr/>
          </p:nvSpPr>
          <p:spPr>
            <a:xfrm>
              <a:off x="1009879" y="3413760"/>
              <a:ext cx="932993"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underwater</a:t>
              </a:r>
            </a:p>
          </p:txBody>
        </p:sp>
        <p:sp>
          <p:nvSpPr>
            <p:cNvPr id="15" name="TextBox 15"/>
            <p:cNvSpPr txBox="1"/>
            <p:nvPr/>
          </p:nvSpPr>
          <p:spPr>
            <a:xfrm>
              <a:off x="1225652" y="3612356"/>
              <a:ext cx="501447"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images</a:t>
              </a:r>
            </a:p>
          </p:txBody>
        </p:sp>
        <p:sp>
          <p:nvSpPr>
            <p:cNvPr id="16" name="Rectangle 16"/>
            <p:cNvSpPr/>
            <p:nvPr/>
          </p:nvSpPr>
          <p:spPr>
            <a:xfrm>
              <a:off x="2371725" y="2724150"/>
              <a:ext cx="1581150" cy="1219200"/>
            </a:xfrm>
            <a:prstGeom prst="roundRect">
              <a:avLst>
                <a:gd name="adj" fmla="val 9375"/>
              </a:avLst>
            </a:prstGeom>
            <a:solidFill>
              <a:schemeClr val="accent5"/>
            </a:solidFill>
            <a:ln w="9525">
              <a:solidFill>
                <a:schemeClr val="accent4"/>
              </a:solidFill>
            </a:ln>
          </p:spPr>
        </p:sp>
        <p:sp>
          <p:nvSpPr>
            <p:cNvPr id="17" name="TextBox 17"/>
            <p:cNvSpPr txBox="1"/>
            <p:nvPr/>
          </p:nvSpPr>
          <p:spPr>
            <a:xfrm>
              <a:off x="3050224" y="2982278"/>
              <a:ext cx="224153" cy="498729"/>
            </a:xfrm>
            <a:prstGeom prst="rect">
              <a:avLst/>
            </a:prstGeom>
            <a:noFill/>
            <a:ln>
              <a:noFill/>
            </a:ln>
          </p:spPr>
          <p:txBody>
            <a:bodyPr wrap="none" lIns="0" tIns="0" rIns="0" bIns="0" anchor="t" anchorCtr="0">
              <a:spAutoFit/>
            </a:bodyPr>
            <a:lstStyle/>
            <a:p>
              <a:pPr algn="ctr"/>
              <a:r>
                <a:rPr lang="en-US" sz="2550" b="1" dirty="0">
                  <a:solidFill>
                    <a:schemeClr val="accent2"/>
                  </a:solidFill>
                  <a:latin typeface="+mn-lt"/>
                  <a:ea typeface="+mn-ea"/>
                  <a:cs typeface="+mn-cs"/>
                </a:rPr>
                <a:t>7</a:t>
              </a:r>
            </a:p>
          </p:txBody>
        </p:sp>
        <p:sp>
          <p:nvSpPr>
            <p:cNvPr id="18" name="TextBox 18"/>
            <p:cNvSpPr txBox="1"/>
            <p:nvPr/>
          </p:nvSpPr>
          <p:spPr>
            <a:xfrm>
              <a:off x="2885618" y="3413760"/>
              <a:ext cx="553364"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salient</a:t>
              </a:r>
            </a:p>
          </p:txBody>
        </p:sp>
        <p:sp>
          <p:nvSpPr>
            <p:cNvPr id="19" name="TextBox 19"/>
            <p:cNvSpPr txBox="1"/>
            <p:nvPr/>
          </p:nvSpPr>
          <p:spPr>
            <a:xfrm>
              <a:off x="2760802" y="3612356"/>
              <a:ext cx="802996"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categories</a:t>
              </a:r>
            </a:p>
          </p:txBody>
        </p:sp>
        <p:sp>
          <p:nvSpPr>
            <p:cNvPr id="20" name="Rectangle 20"/>
            <p:cNvSpPr/>
            <p:nvPr/>
          </p:nvSpPr>
          <p:spPr>
            <a:xfrm>
              <a:off x="4057650" y="2724150"/>
              <a:ext cx="1581150" cy="1219200"/>
            </a:xfrm>
            <a:prstGeom prst="roundRect">
              <a:avLst>
                <a:gd name="adj" fmla="val 9375"/>
              </a:avLst>
            </a:prstGeom>
            <a:solidFill>
              <a:schemeClr val="accent5"/>
            </a:solidFill>
            <a:ln w="9525">
              <a:solidFill>
                <a:schemeClr val="accent4"/>
              </a:solidFill>
            </a:ln>
          </p:spPr>
        </p:sp>
        <p:sp>
          <p:nvSpPr>
            <p:cNvPr id="21" name="TextBox 21"/>
            <p:cNvSpPr txBox="1"/>
            <p:nvPr/>
          </p:nvSpPr>
          <p:spPr>
            <a:xfrm>
              <a:off x="4196641" y="3025140"/>
              <a:ext cx="1303169" cy="352044"/>
            </a:xfrm>
            <a:prstGeom prst="rect">
              <a:avLst/>
            </a:prstGeom>
            <a:noFill/>
            <a:ln>
              <a:noFill/>
            </a:ln>
          </p:spPr>
          <p:txBody>
            <a:bodyPr wrap="none" lIns="0" tIns="0" rIns="0" bIns="0" anchor="t" anchorCtr="0">
              <a:spAutoFit/>
            </a:bodyPr>
            <a:lstStyle/>
            <a:p>
              <a:pPr algn="ctr"/>
              <a:r>
                <a:rPr lang="en-US" sz="1800" b="1" dirty="0">
                  <a:solidFill>
                    <a:schemeClr val="accent3"/>
                  </a:solidFill>
                  <a:latin typeface="+mn-lt"/>
                  <a:ea typeface="+mn-ea"/>
                  <a:cs typeface="+mn-cs"/>
                </a:rPr>
                <a:t>pixel-level</a:t>
              </a:r>
            </a:p>
          </p:txBody>
        </p:sp>
        <p:sp>
          <p:nvSpPr>
            <p:cNvPr id="22" name="TextBox 22"/>
            <p:cNvSpPr txBox="1"/>
            <p:nvPr/>
          </p:nvSpPr>
          <p:spPr>
            <a:xfrm>
              <a:off x="4506925" y="3375660"/>
              <a:ext cx="682600"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instance</a:t>
              </a:r>
            </a:p>
          </p:txBody>
        </p:sp>
        <p:sp>
          <p:nvSpPr>
            <p:cNvPr id="23" name="TextBox 23"/>
            <p:cNvSpPr txBox="1"/>
            <p:nvPr/>
          </p:nvSpPr>
          <p:spPr>
            <a:xfrm>
              <a:off x="4405264" y="3574256"/>
              <a:ext cx="885922"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annotations</a:t>
              </a:r>
            </a:p>
          </p:txBody>
        </p:sp>
      </p:grpSp>
      <p:grpSp>
        <p:nvGrpSpPr>
          <p:cNvPr id="32" name="Group 32"/>
          <p:cNvGrpSpPr/>
          <p:nvPr/>
        </p:nvGrpSpPr>
        <p:grpSpPr>
          <a:xfrm>
            <a:off x="685800" y="4095750"/>
            <a:ext cx="4953000" cy="1752600"/>
            <a:chOff x="685800" y="4095750"/>
            <a:chExt cx="4953000" cy="1752600"/>
          </a:xfrm>
        </p:grpSpPr>
        <p:sp>
          <p:nvSpPr>
            <p:cNvPr id="25" name="Rectangle 25"/>
            <p:cNvSpPr/>
            <p:nvPr/>
          </p:nvSpPr>
          <p:spPr>
            <a:xfrm>
              <a:off x="685800" y="4095750"/>
              <a:ext cx="4953000" cy="1752600"/>
            </a:xfrm>
            <a:prstGeom prst="roundRect">
              <a:avLst>
                <a:gd name="adj" fmla="val 6522"/>
              </a:avLst>
            </a:prstGeom>
            <a:solidFill>
              <a:schemeClr val="lt2"/>
            </a:solidFill>
            <a:ln w="9525">
              <a:solidFill>
                <a:schemeClr val="accent4"/>
              </a:solidFill>
            </a:ln>
          </p:spPr>
        </p:sp>
        <p:sp>
          <p:nvSpPr>
            <p:cNvPr id="26" name="Rectangle 26"/>
            <p:cNvSpPr/>
            <p:nvPr/>
          </p:nvSpPr>
          <p:spPr>
            <a:xfrm>
              <a:off x="685800" y="4095750"/>
              <a:ext cx="57150" cy="1752600"/>
            </a:xfrm>
            <a:prstGeom prst="roundRect">
              <a:avLst>
                <a:gd name="adj" fmla="val 50000"/>
              </a:avLst>
            </a:prstGeom>
            <a:solidFill>
              <a:schemeClr val="accent1"/>
            </a:solidFill>
            <a:ln>
              <a:noFill/>
            </a:ln>
          </p:spPr>
        </p:sp>
        <p:sp>
          <p:nvSpPr>
            <p:cNvPr id="27" name="TextBox 27"/>
            <p:cNvSpPr txBox="1"/>
            <p:nvPr/>
          </p:nvSpPr>
          <p:spPr>
            <a:xfrm>
              <a:off x="927354" y="4271010"/>
              <a:ext cx="2915595"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A FOUNDATION FOR THE COMMUNITY</a:t>
              </a:r>
            </a:p>
          </p:txBody>
        </p:sp>
        <p:sp>
          <p:nvSpPr>
            <p:cNvPr id="28" name="TextBox 28"/>
            <p:cNvSpPr txBox="1"/>
            <p:nvPr/>
          </p:nvSpPr>
          <p:spPr>
            <a:xfrm>
              <a:off x="926211" y="4589621"/>
              <a:ext cx="381101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Beyond training USIS-SAM, USIS10K gives</a:t>
              </a:r>
            </a:p>
          </p:txBody>
        </p:sp>
        <p:sp>
          <p:nvSpPr>
            <p:cNvPr id="29" name="TextBox 29"/>
            <p:cNvSpPr txBox="1"/>
            <p:nvPr/>
          </p:nvSpPr>
          <p:spPr>
            <a:xfrm>
              <a:off x="926211" y="4837271"/>
              <a:ext cx="417221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whole community a foundation to develop</a:t>
              </a:r>
            </a:p>
          </p:txBody>
        </p:sp>
        <p:sp>
          <p:nvSpPr>
            <p:cNvPr id="30" name="TextBox 30"/>
            <p:cNvSpPr txBox="1"/>
            <p:nvPr/>
          </p:nvSpPr>
          <p:spPr>
            <a:xfrm>
              <a:off x="926211" y="5084921"/>
              <a:ext cx="404796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underwater salient segmentation methods.</a:t>
              </a:r>
            </a:p>
          </p:txBody>
        </p:sp>
        <p:sp>
          <p:nvSpPr>
            <p:cNvPr id="31" name="TextBox 31"/>
            <p:cNvSpPr txBox="1"/>
            <p:nvPr/>
          </p:nvSpPr>
          <p:spPr>
            <a:xfrm>
              <a:off x="927735" y="5517356"/>
              <a:ext cx="469913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Avg. salient instance ≈ 34,336 px · diverse underwater scenes.</a:t>
              </a:r>
            </a:p>
          </p:txBody>
        </p:sp>
      </p:grpSp>
      <p:grpSp>
        <p:nvGrpSpPr>
          <p:cNvPr id="36" name="Group 36"/>
          <p:cNvGrpSpPr/>
          <p:nvPr/>
        </p:nvGrpSpPr>
        <p:grpSpPr>
          <a:xfrm>
            <a:off x="5867400" y="1638300"/>
            <a:ext cx="5638800" cy="1733550"/>
            <a:chOff x="5867400" y="1638300"/>
            <a:chExt cx="5638800" cy="1733550"/>
          </a:xfrm>
        </p:grpSpPr>
        <p:sp>
          <p:nvSpPr>
            <p:cNvPr id="33" name="Rectangle 33"/>
            <p:cNvSpPr/>
            <p:nvPr/>
          </p:nvSpPr>
          <p:spPr>
            <a:xfrm>
              <a:off x="5867400" y="1638300"/>
              <a:ext cx="5638800" cy="1733550"/>
            </a:xfrm>
            <a:prstGeom prst="roundRect">
              <a:avLst>
                <a:gd name="adj" fmla="val 6593"/>
              </a:avLst>
            </a:prstGeom>
            <a:solidFill>
              <a:schemeClr val="lt2"/>
            </a:solidFill>
            <a:ln w="9525">
              <a:solidFill>
                <a:schemeClr val="accent4"/>
              </a:solidFill>
            </a:ln>
          </p:spPr>
        </p:sp>
        <p:sp>
          <p:nvSpPr>
            <p:cNvPr id="34" name="TextBox 34"/>
            <p:cNvSpPr txBox="1"/>
            <p:nvPr/>
          </p:nvSpPr>
          <p:spPr>
            <a:xfrm>
              <a:off x="6109335" y="1783556"/>
              <a:ext cx="3533466"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ANNOTATION EXAMPLES — image / salient mask</a:t>
              </a:r>
            </a:p>
          </p:txBody>
        </p:sp>
        <p:pic>
          <p:nvPicPr>
            <p:cNvPr id="35" name="Image 35"/>
            <p:cNvPicPr>
              <a:picLocks noChangeAspect="1"/>
            </p:cNvPicPr>
            <p:nvPr/>
          </p:nvPicPr>
          <p:blipFill>
            <a:blip r:embed="rId2"/>
            <a:stretch>
              <a:fillRect/>
            </a:stretch>
          </p:blipFill>
          <p:spPr>
            <a:xfrm>
              <a:off x="6270391" y="2019300"/>
              <a:ext cx="4832819" cy="1200150"/>
            </a:xfrm>
            <a:prstGeom prst="rect">
              <a:avLst/>
            </a:prstGeom>
          </p:spPr>
        </p:pic>
      </p:grpSp>
      <p:grpSp>
        <p:nvGrpSpPr>
          <p:cNvPr id="42" name="Group 42"/>
          <p:cNvGrpSpPr/>
          <p:nvPr/>
        </p:nvGrpSpPr>
        <p:grpSpPr>
          <a:xfrm>
            <a:off x="5867400" y="3505200"/>
            <a:ext cx="5843586" cy="2352389"/>
            <a:chOff x="5867400" y="3505200"/>
            <a:chExt cx="5843586" cy="2352389"/>
          </a:xfrm>
        </p:grpSpPr>
        <p:sp>
          <p:nvSpPr>
            <p:cNvPr id="37" name="Rectangle 37"/>
            <p:cNvSpPr/>
            <p:nvPr/>
          </p:nvSpPr>
          <p:spPr>
            <a:xfrm>
              <a:off x="5867400" y="3505200"/>
              <a:ext cx="5638800" cy="2343150"/>
            </a:xfrm>
            <a:prstGeom prst="roundRect">
              <a:avLst>
                <a:gd name="adj" fmla="val 4878"/>
              </a:avLst>
            </a:prstGeom>
            <a:solidFill>
              <a:schemeClr val="lt2"/>
            </a:solidFill>
            <a:ln w="9525">
              <a:solidFill>
                <a:schemeClr val="accent4"/>
              </a:solidFill>
            </a:ln>
          </p:spPr>
        </p:sp>
        <p:sp>
          <p:nvSpPr>
            <p:cNvPr id="38" name="TextBox 38"/>
            <p:cNvSpPr txBox="1"/>
            <p:nvPr/>
          </p:nvSpPr>
          <p:spPr>
            <a:xfrm>
              <a:off x="6109335" y="3650456"/>
              <a:ext cx="2001993"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DATASET CHARACTERISTICS</a:t>
              </a:r>
            </a:p>
          </p:txBody>
        </p:sp>
        <p:pic>
          <p:nvPicPr>
            <p:cNvPr id="39" name="Image 39"/>
            <p:cNvPicPr>
              <a:picLocks noChangeAspect="1"/>
            </p:cNvPicPr>
            <p:nvPr/>
          </p:nvPicPr>
          <p:blipFill>
            <a:blip r:embed="rId3"/>
            <a:stretch>
              <a:fillRect/>
            </a:stretch>
          </p:blipFill>
          <p:spPr>
            <a:xfrm>
              <a:off x="6038850" y="3973894"/>
              <a:ext cx="5295900" cy="1253363"/>
            </a:xfrm>
            <a:prstGeom prst="rect">
              <a:avLst/>
            </a:prstGeom>
          </p:spPr>
        </p:pic>
        <p:sp>
          <p:nvSpPr>
            <p:cNvPr id="40" name="TextBox 40"/>
            <p:cNvSpPr txBox="1"/>
            <p:nvPr/>
          </p:nvSpPr>
          <p:spPr>
            <a:xfrm>
              <a:off x="6109716" y="5468302"/>
              <a:ext cx="560127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instances per category (b) instances per image (c) color contrast vs SIS10K</a:t>
              </a:r>
            </a:p>
          </p:txBody>
        </p:sp>
        <p:sp>
          <p:nvSpPr>
            <p:cNvPr id="41" name="TextBox 41"/>
            <p:cNvSpPr txBox="1"/>
            <p:nvPr/>
          </p:nvSpPr>
          <p:spPr>
            <a:xfrm>
              <a:off x="6110097" y="5666899"/>
              <a:ext cx="3939108" cy="190690"/>
            </a:xfrm>
            <a:prstGeom prst="rect">
              <a:avLst/>
            </a:prstGeom>
            <a:noFill/>
            <a:ln>
              <a:noFill/>
            </a:ln>
          </p:spPr>
          <p:txBody>
            <a:bodyPr wrap="none" lIns="0" tIns="0" rIns="0" bIns="0" anchor="t" anchorCtr="0">
              <a:spAutoFit/>
            </a:bodyPr>
            <a:lstStyle/>
            <a:p>
              <a:pPr algn="l"/>
              <a:r>
                <a:rPr lang="en-US" sz="980" dirty="0">
                  <a:solidFill>
                    <a:srgbClr val="6E93A4"/>
                  </a:solidFill>
                  <a:latin typeface="+mn-lt"/>
                  <a:ea typeface="+mn-ea"/>
                  <a:cs typeface="+mn-cs"/>
                </a:rPr>
                <a:t>Underwater imagery poses distinct low-contrast challenges.</a:t>
              </a:r>
            </a:p>
          </p:txBody>
        </p:sp>
      </p:grpSp>
      <p:sp>
        <p:nvSpPr>
          <p:cNvPr id="43" name="Line 43"/>
          <p:cNvSpPr/>
          <p:nvPr/>
        </p:nvSpPr>
        <p:spPr>
          <a:xfrm>
            <a:off x="685800" y="622935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sp>
        <p:nvSpPr>
          <p:cNvPr id="44" name="TextBox 44"/>
          <p:cNvSpPr txBox="1"/>
          <p:nvPr/>
        </p:nvSpPr>
        <p:spPr>
          <a:xfrm>
            <a:off x="680847" y="6390799"/>
            <a:ext cx="3508632" cy="190690"/>
          </a:xfrm>
          <a:prstGeom prst="rect">
            <a:avLst/>
          </a:prstGeom>
          <a:noFill/>
          <a:ln>
            <a:noFill/>
          </a:ln>
        </p:spPr>
        <p:txBody>
          <a:bodyPr wrap="none" lIns="0" tIns="0" rIns="0" bIns="0" anchor="t" anchorCtr="0">
            <a:spAutoFit/>
          </a:bodyPr>
          <a:lstStyle/>
          <a:p>
            <a:pPr algn="l"/>
            <a:r>
              <a:rPr lang="en-US" sz="980" dirty="0">
                <a:solidFill>
                  <a:srgbClr val="6E93A4"/>
                </a:solidFill>
                <a:latin typeface="+mn-lt"/>
                <a:ea typeface="+mn-ea"/>
                <a:cs typeface="+mn-cs"/>
              </a:rPr>
              <a:t>USIS-SAM · Underwater Salient Instance Segmentation</a:t>
            </a:r>
          </a:p>
        </p:txBody>
      </p:sp>
      <p:sp>
        <p:nvSpPr>
          <p:cNvPr id="45" name="TextBox 45"/>
          <p:cNvSpPr txBox="1"/>
          <p:nvPr/>
        </p:nvSpPr>
        <p:spPr>
          <a:xfrm>
            <a:off x="11059290" y="6390799"/>
            <a:ext cx="451863" cy="190690"/>
          </a:xfrm>
          <a:prstGeom prst="rect">
            <a:avLst/>
          </a:prstGeom>
          <a:noFill/>
          <a:ln>
            <a:noFill/>
          </a:ln>
        </p:spPr>
        <p:txBody>
          <a:bodyPr wrap="none" lIns="0" tIns="0" rIns="0" bIns="0" anchor="t" anchorCtr="0">
            <a:spAutoFit/>
          </a:bodyPr>
          <a:lstStyle/>
          <a:p>
            <a:pPr algn="r"/>
            <a:r>
              <a:rPr lang="en-US" sz="980" dirty="0">
                <a:solidFill>
                  <a:srgbClr val="6E93A4"/>
                </a:solidFill>
                <a:latin typeface="+mn-lt"/>
                <a:ea typeface="+mn-ea"/>
                <a:cs typeface="+mn-cs"/>
              </a:rPr>
              <a:t>06 / 10</a:t>
            </a:r>
          </a:p>
        </p:txBody>
      </p:sp>
      <p:sp>
        <p:nvSpPr>
          <p:cNvPr id="46" name="cue_s06_c1_break_bottleneck_authors_built_usis1" title="cue_s06_c1_break_bottleneck_authors_built_usis1" descr="cue_s06_c1_break_bottleneck_authors_built_usis1 To break the data bottleneck, the authors built USIS10K, the first large-scale underwater salient instance segmentation dataset."/>
          <p:cNvSpPr/>
          <p:nvPr/>
        </p:nvSpPr>
        <p:spPr>
          <a:xfrm>
            <a:off x="686409" y="1638376"/>
            <a:ext cx="4952390" cy="96286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6_c2_contains_10_632_underwater_images" title="cue_s06_c2_contains_10_632_underwater_images" descr="cue_s06_c2_contains_10_632_underwater_images It contains 10,632 underwater images, each with pixel-level annotations, spanning seven categories from diverse scenes."/>
          <p:cNvSpPr/>
          <p:nvPr/>
        </p:nvSpPr>
        <p:spPr>
          <a:xfrm>
            <a:off x="686409" y="2723997"/>
            <a:ext cx="4953609" cy="1219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6_c3_authors_analyze_carefully_instances" title="cue_s06_c3_authors_analyze_carefully_instances" descr="cue_s06_c3_authors_analyze_carefully_instances The authors analyze it carefully: instances per category, instance distribution per image, and global versus local color contrast against the prior SIS10K benchmark, showing underwater imagery poses distinct low-contrast challenges."/>
          <p:cNvSpPr/>
          <p:nvPr/>
        </p:nvSpPr>
        <p:spPr>
          <a:xfrm>
            <a:off x="5868009" y="3505123"/>
            <a:ext cx="5843625" cy="235229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6_c4_beyond_usis_sam_usis10k_gives_whole" title="cue_s06_c4_beyond_usis_sam_usis10k_gives_whole" descr="cue_s06_c4_beyond_usis_sam_usis10k_gives_whole Beyond training USIS-SAM, USIS10K gives the whole community a foundation for underwater salient segmentation."/>
          <p:cNvSpPr/>
          <p:nvPr/>
        </p:nvSpPr>
        <p:spPr>
          <a:xfrm>
            <a:off x="686409" y="4095597"/>
            <a:ext cx="495239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0A2233"/>
            </a:gs>
            <a:gs pos="100000">
              <a:srgbClr val="04121B"/>
            </a:gs>
          </a:gsLst>
          <a:lin ang="5400000" scaled="1"/>
        </a:gra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1"/>
              </a:gs>
              <a:gs pos="100000">
                <a:schemeClr val="accent3"/>
              </a:gs>
            </a:gsLst>
            <a:lin ang="0" scaled="1"/>
          </a:gradFill>
          <a:ln>
            <a:noFill/>
          </a:ln>
        </p:spPr>
        <p:txBody>
          <a:bodyPr/>
          <a:p/>
        </p:txBody>
      </p:sp>
      <p:sp>
        <p:nvSpPr>
          <p:cNvPr id="3" name="TextBox 3"/>
          <p:cNvSpPr txBox="1"/>
          <p:nvPr/>
        </p:nvSpPr>
        <p:spPr>
          <a:xfrm>
            <a:off x="679704" y="670560"/>
            <a:ext cx="701581"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07 / 10</a:t>
            </a:r>
          </a:p>
        </p:txBody>
      </p:sp>
      <p:sp>
        <p:nvSpPr>
          <p:cNvPr id="4" name="TextBox 4"/>
          <p:cNvSpPr txBox="1"/>
          <p:nvPr/>
        </p:nvSpPr>
        <p:spPr>
          <a:xfrm>
            <a:off x="671322" y="930592"/>
            <a:ext cx="6110856"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Results — New State of the Art</a:t>
            </a:r>
          </a:p>
        </p:txBody>
      </p:sp>
      <p:sp>
        <p:nvSpPr>
          <p:cNvPr id="5" name="Rectangle 5"/>
          <p:cNvSpPr/>
          <p:nvPr/>
        </p:nvSpPr>
        <p:spPr>
          <a:xfrm>
            <a:off x="685800" y="1390650"/>
            <a:ext cx="609600" cy="38100"/>
          </a:xfrm>
          <a:prstGeom prst="roundRect">
            <a:avLst>
              <a:gd name="adj" fmla="val 50000"/>
            </a:avLst>
          </a:prstGeom>
          <a:solidFill>
            <a:schemeClr val="accent2"/>
          </a:solidFill>
          <a:ln>
            <a:noFill/>
          </a:ln>
        </p:spPr>
        <p:txBody>
          <a:bodyPr/>
          <a:p/>
        </p:txBody>
      </p:sp>
      <p:grpSp>
        <p:nvGrpSpPr>
          <p:cNvPr id="8" name="Group 8"/>
          <p:cNvGrpSpPr/>
          <p:nvPr/>
        </p:nvGrpSpPr>
        <p:grpSpPr>
          <a:xfrm>
            <a:off x="7334250" y="978218"/>
            <a:ext cx="4178808" cy="264033"/>
            <a:chOff x="7334250" y="978218"/>
            <a:chExt cx="4178808" cy="264033"/>
          </a:xfrm>
        </p:grpSpPr>
        <p:sp>
          <p:nvSpPr>
            <p:cNvPr id="6" name="TextBox 6"/>
            <p:cNvSpPr txBox="1"/>
            <p:nvPr/>
          </p:nvSpPr>
          <p:spPr>
            <a:xfrm>
              <a:off x="8148719" y="978218"/>
              <a:ext cx="3364339" cy="264033"/>
            </a:xfrm>
            <a:prstGeom prst="rect">
              <a:avLst/>
            </a:prstGeom>
            <a:noFill/>
            <a:ln>
              <a:noFill/>
            </a:ln>
          </p:spPr>
          <p:txBody>
            <a:bodyPr wrap="none" lIns="0" tIns="0" rIns="0" bIns="0" anchor="t" anchorCtr="0">
              <a:spAutoFit/>
            </a:bodyPr>
            <a:lstStyle/>
            <a:p>
              <a:pPr algn="r"/>
              <a:r>
                <a:rPr lang="en-US" sz="1350" dirty="0">
                  <a:solidFill>
                    <a:schemeClr val="dk2"/>
                  </a:solidFill>
                  <a:latin typeface="+mn-lt"/>
                  <a:ea typeface="+mn-ea"/>
                  <a:cs typeface="+mn-cs"/>
                </a:rPr>
                <a:t>USIS-SAM leads on both USIS10K tasks</a:t>
              </a:r>
            </a:p>
          </p:txBody>
        </p:sp>
        <p:sp>
          <p:nvSpPr>
            <p:cNvPr id="7" name="Rectangle 7"/>
            <p:cNvSpPr/>
            <p:nvPr/>
          </p:nvSpPr>
          <p:spPr>
            <a:xfrm>
              <a:off x="7334250" y="990600"/>
              <a:ext cx="3429000" cy="19050"/>
            </a:xfrm>
            <a:prstGeom prst="rect">
              <a:avLst/>
            </a:prstGeom>
            <a:solidFill>
              <a:schemeClr val="accent4"/>
            </a:solidFill>
            <a:ln>
              <a:noFill/>
            </a:ln>
          </p:spPr>
        </p:sp>
      </p:grpSp>
      <p:grpSp>
        <p:nvGrpSpPr>
          <p:cNvPr id="27" name="Group 27"/>
          <p:cNvGrpSpPr/>
          <p:nvPr/>
        </p:nvGrpSpPr>
        <p:grpSpPr>
          <a:xfrm>
            <a:off x="685800" y="1638300"/>
            <a:ext cx="5410200" cy="3429000"/>
            <a:chOff x="685800" y="1638300"/>
            <a:chExt cx="5410200" cy="3429000"/>
          </a:xfrm>
        </p:grpSpPr>
        <p:sp>
          <p:nvSpPr>
            <p:cNvPr id="9" name="Rectangle 9"/>
            <p:cNvSpPr/>
            <p:nvPr/>
          </p:nvSpPr>
          <p:spPr>
            <a:xfrm>
              <a:off x="685800" y="1638300"/>
              <a:ext cx="5410200" cy="3429000"/>
            </a:xfrm>
            <a:prstGeom prst="roundRect">
              <a:avLst>
                <a:gd name="adj" fmla="val 3333"/>
              </a:avLst>
            </a:prstGeom>
            <a:solidFill>
              <a:schemeClr val="lt2"/>
            </a:solidFill>
            <a:ln w="9525">
              <a:solidFill>
                <a:schemeClr val="accent4"/>
              </a:solidFill>
            </a:ln>
          </p:spPr>
        </p:sp>
        <p:sp>
          <p:nvSpPr>
            <p:cNvPr id="10" name="TextBox 10"/>
            <p:cNvSpPr txBox="1"/>
            <p:nvPr/>
          </p:nvSpPr>
          <p:spPr>
            <a:xfrm>
              <a:off x="926592" y="1797368"/>
              <a:ext cx="1980777"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Class-agnostic · mAP</a:t>
              </a:r>
            </a:p>
          </p:txBody>
        </p:sp>
        <p:sp>
          <p:nvSpPr>
            <p:cNvPr id="11" name="TextBox 11"/>
            <p:cNvSpPr txBox="1"/>
            <p:nvPr/>
          </p:nvSpPr>
          <p:spPr>
            <a:xfrm>
              <a:off x="928497" y="2047399"/>
              <a:ext cx="4475655" cy="190690"/>
            </a:xfrm>
            <a:prstGeom prst="rect">
              <a:avLst/>
            </a:prstGeom>
            <a:noFill/>
            <a:ln>
              <a:noFill/>
            </a:ln>
          </p:spPr>
          <p:txBody>
            <a:bodyPr wrap="none" lIns="0" tIns="0" rIns="0" bIns="0" anchor="t" anchorCtr="0">
              <a:spAutoFit/>
            </a:bodyPr>
            <a:lstStyle/>
            <a:p>
              <a:pPr algn="l"/>
              <a:r>
                <a:rPr lang="en-US" sz="980" dirty="0">
                  <a:solidFill>
                    <a:srgbClr val="6E93A4"/>
                  </a:solidFill>
                  <a:latin typeface="+mn-lt"/>
                  <a:ea typeface="+mn-ea"/>
                  <a:cs typeface="+mn-cs"/>
                </a:rPr>
                <a:t>localize &amp; mask salient objects regardless of category (axis from 50)</a:t>
              </a:r>
            </a:p>
          </p:txBody>
        </p:sp>
        <p:sp>
          <p:nvSpPr>
            <p:cNvPr id="12" name="TextBox 12"/>
            <p:cNvSpPr txBox="1"/>
            <p:nvPr/>
          </p:nvSpPr>
          <p:spPr>
            <a:xfrm>
              <a:off x="927354" y="2518410"/>
              <a:ext cx="45598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OQTR</a:t>
              </a:r>
            </a:p>
          </p:txBody>
        </p:sp>
        <p:sp>
          <p:nvSpPr>
            <p:cNvPr id="13" name="Rectangle 13"/>
            <p:cNvSpPr/>
            <p:nvPr/>
          </p:nvSpPr>
          <p:spPr>
            <a:xfrm>
              <a:off x="2381250" y="2495550"/>
              <a:ext cx="1800225" cy="247650"/>
            </a:xfrm>
            <a:prstGeom prst="roundRect">
              <a:avLst>
                <a:gd name="adj" fmla="val 15385"/>
              </a:avLst>
            </a:prstGeom>
            <a:solidFill>
              <a:srgbClr val="2A5B6B"/>
            </a:solidFill>
            <a:ln>
              <a:noFill/>
            </a:ln>
          </p:spPr>
        </p:sp>
        <p:sp>
          <p:nvSpPr>
            <p:cNvPr id="14" name="TextBox 14"/>
            <p:cNvSpPr txBox="1"/>
            <p:nvPr/>
          </p:nvSpPr>
          <p:spPr>
            <a:xfrm>
              <a:off x="4271010" y="2564606"/>
              <a:ext cx="343134"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56.6</a:t>
              </a:r>
            </a:p>
          </p:txBody>
        </p:sp>
        <p:sp>
          <p:nvSpPr>
            <p:cNvPr id="15" name="TextBox 15"/>
            <p:cNvSpPr txBox="1"/>
            <p:nvPr/>
          </p:nvSpPr>
          <p:spPr>
            <a:xfrm>
              <a:off x="927354" y="2975610"/>
              <a:ext cx="94862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RSPrompter</a:t>
              </a:r>
            </a:p>
          </p:txBody>
        </p:sp>
        <p:sp>
          <p:nvSpPr>
            <p:cNvPr id="16" name="Rectangle 16"/>
            <p:cNvSpPr/>
            <p:nvPr/>
          </p:nvSpPr>
          <p:spPr>
            <a:xfrm>
              <a:off x="2381250" y="2952750"/>
              <a:ext cx="2228850" cy="247650"/>
            </a:xfrm>
            <a:prstGeom prst="roundRect">
              <a:avLst>
                <a:gd name="adj" fmla="val 15385"/>
              </a:avLst>
            </a:prstGeom>
            <a:solidFill>
              <a:srgbClr val="2A5B6B"/>
            </a:solidFill>
            <a:ln>
              <a:noFill/>
            </a:ln>
          </p:spPr>
        </p:sp>
        <p:sp>
          <p:nvSpPr>
            <p:cNvPr id="17" name="TextBox 17"/>
            <p:cNvSpPr txBox="1"/>
            <p:nvPr/>
          </p:nvSpPr>
          <p:spPr>
            <a:xfrm>
              <a:off x="4699635" y="3021806"/>
              <a:ext cx="343134"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58.2</a:t>
              </a:r>
            </a:p>
          </p:txBody>
        </p:sp>
        <p:sp>
          <p:nvSpPr>
            <p:cNvPr id="18" name="TextBox 18"/>
            <p:cNvSpPr txBox="1"/>
            <p:nvPr/>
          </p:nvSpPr>
          <p:spPr>
            <a:xfrm>
              <a:off x="927354" y="3432810"/>
              <a:ext cx="88732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WaterMask</a:t>
              </a:r>
            </a:p>
          </p:txBody>
        </p:sp>
        <p:sp>
          <p:nvSpPr>
            <p:cNvPr id="19" name="Rectangle 19"/>
            <p:cNvSpPr/>
            <p:nvPr/>
          </p:nvSpPr>
          <p:spPr>
            <a:xfrm>
              <a:off x="2381250" y="3409950"/>
              <a:ext cx="2447925" cy="247650"/>
            </a:xfrm>
            <a:prstGeom prst="roundRect">
              <a:avLst>
                <a:gd name="adj" fmla="val 15385"/>
              </a:avLst>
            </a:prstGeom>
            <a:solidFill>
              <a:srgbClr val="2A5B6B"/>
            </a:solidFill>
            <a:ln>
              <a:noFill/>
            </a:ln>
          </p:spPr>
        </p:sp>
        <p:sp>
          <p:nvSpPr>
            <p:cNvPr id="20" name="TextBox 20"/>
            <p:cNvSpPr txBox="1"/>
            <p:nvPr/>
          </p:nvSpPr>
          <p:spPr>
            <a:xfrm>
              <a:off x="4918710" y="3479006"/>
              <a:ext cx="343134"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59.0</a:t>
              </a:r>
            </a:p>
          </p:txBody>
        </p:sp>
        <p:sp>
          <p:nvSpPr>
            <p:cNvPr id="21" name="TextBox 21"/>
            <p:cNvSpPr txBox="1"/>
            <p:nvPr/>
          </p:nvSpPr>
          <p:spPr>
            <a:xfrm>
              <a:off x="927354" y="3890010"/>
              <a:ext cx="791809"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USIS-SAM</a:t>
              </a:r>
            </a:p>
          </p:txBody>
        </p:sp>
        <p:sp>
          <p:nvSpPr>
            <p:cNvPr id="22" name="Rectangle 22"/>
            <p:cNvSpPr/>
            <p:nvPr/>
          </p:nvSpPr>
          <p:spPr>
            <a:xfrm>
              <a:off x="2381250" y="3867150"/>
              <a:ext cx="2638425" cy="247650"/>
            </a:xfrm>
            <a:prstGeom prst="roundRect">
              <a:avLst>
                <a:gd name="adj" fmla="val 15385"/>
              </a:avLst>
            </a:prstGeom>
            <a:solidFill>
              <a:schemeClr val="accent2"/>
            </a:solidFill>
            <a:ln>
              <a:noFill/>
            </a:ln>
          </p:spPr>
        </p:sp>
        <p:sp>
          <p:nvSpPr>
            <p:cNvPr id="23" name="TextBox 23"/>
            <p:cNvSpPr txBox="1"/>
            <p:nvPr/>
          </p:nvSpPr>
          <p:spPr>
            <a:xfrm>
              <a:off x="5108829" y="3928110"/>
              <a:ext cx="385359"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59.7</a:t>
              </a:r>
            </a:p>
          </p:txBody>
        </p:sp>
        <p:sp>
          <p:nvSpPr>
            <p:cNvPr id="24" name="Line 24"/>
            <p:cNvSpPr/>
            <p:nvPr/>
          </p:nvSpPr>
          <p:spPr>
            <a:xfrm>
              <a:off x="2381250" y="2400300"/>
              <a:ext cx="9525" cy="1905000"/>
            </a:xfrm>
            <a:custGeom>
              <a:avLst/>
              <a:gdLst/>
              <a:ahLst/>
              <a:cxnLst/>
              <a:rect l="l" t="t" r="r" b="b"/>
              <a:pathLst>
                <a:path w="9525" h="1905000">
                  <a:moveTo>
                    <a:pt x="0" y="1905000"/>
                  </a:moveTo>
                  <a:lnTo>
                    <a:pt x="0" y="0"/>
                  </a:lnTo>
                </a:path>
              </a:pathLst>
            </a:custGeom>
            <a:noFill/>
            <a:ln w="9525">
              <a:solidFill>
                <a:srgbClr val="21455A"/>
              </a:solidFill>
            </a:ln>
          </p:spPr>
        </p:sp>
        <p:sp>
          <p:nvSpPr>
            <p:cNvPr id="25" name="TextBox 25"/>
            <p:cNvSpPr txBox="1"/>
            <p:nvPr/>
          </p:nvSpPr>
          <p:spPr>
            <a:xfrm>
              <a:off x="926973" y="4548664"/>
              <a:ext cx="335737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+3.1 over OQTR · +0.7 over WaterMask</a:t>
              </a:r>
            </a:p>
          </p:txBody>
        </p:sp>
        <p:sp>
          <p:nvSpPr>
            <p:cNvPr id="26" name="TextBox 26"/>
            <p:cNvSpPr txBox="1"/>
            <p:nvPr/>
          </p:nvSpPr>
          <p:spPr>
            <a:xfrm>
              <a:off x="926973" y="4758214"/>
              <a:ext cx="2838779"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+1.5 over SAM-based RSPrompter</a:t>
              </a:r>
            </a:p>
          </p:txBody>
        </p:sp>
      </p:grpSp>
      <p:grpSp>
        <p:nvGrpSpPr>
          <p:cNvPr id="43" name="Group 43"/>
          <p:cNvGrpSpPr/>
          <p:nvPr/>
        </p:nvGrpSpPr>
        <p:grpSpPr>
          <a:xfrm>
            <a:off x="6400800" y="1638300"/>
            <a:ext cx="5105400" cy="3429000"/>
            <a:chOff x="6400800" y="1638300"/>
            <a:chExt cx="5105400" cy="3429000"/>
          </a:xfrm>
        </p:grpSpPr>
        <p:sp>
          <p:nvSpPr>
            <p:cNvPr id="28" name="Rectangle 28"/>
            <p:cNvSpPr/>
            <p:nvPr/>
          </p:nvSpPr>
          <p:spPr>
            <a:xfrm>
              <a:off x="6400800" y="1638300"/>
              <a:ext cx="5105400" cy="3429000"/>
            </a:xfrm>
            <a:prstGeom prst="roundRect">
              <a:avLst>
                <a:gd name="adj" fmla="val 3333"/>
              </a:avLst>
            </a:prstGeom>
            <a:solidFill>
              <a:schemeClr val="lt2"/>
            </a:solidFill>
            <a:ln w="9525">
              <a:solidFill>
                <a:schemeClr val="accent4"/>
              </a:solidFill>
            </a:ln>
          </p:spPr>
        </p:sp>
        <p:sp>
          <p:nvSpPr>
            <p:cNvPr id="29" name="TextBox 29"/>
            <p:cNvSpPr txBox="1"/>
            <p:nvPr/>
          </p:nvSpPr>
          <p:spPr>
            <a:xfrm>
              <a:off x="6641592" y="1797368"/>
              <a:ext cx="1656906"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Multi-class · mAP</a:t>
              </a:r>
            </a:p>
          </p:txBody>
        </p:sp>
        <p:sp>
          <p:nvSpPr>
            <p:cNvPr id="30" name="TextBox 30"/>
            <p:cNvSpPr txBox="1"/>
            <p:nvPr/>
          </p:nvSpPr>
          <p:spPr>
            <a:xfrm>
              <a:off x="6643497" y="2047399"/>
              <a:ext cx="4224993" cy="190690"/>
            </a:xfrm>
            <a:prstGeom prst="rect">
              <a:avLst/>
            </a:prstGeom>
            <a:noFill/>
            <a:ln>
              <a:noFill/>
            </a:ln>
          </p:spPr>
          <p:txBody>
            <a:bodyPr wrap="none" lIns="0" tIns="0" rIns="0" bIns="0" anchor="t" anchorCtr="0">
              <a:spAutoFit/>
            </a:bodyPr>
            <a:lstStyle/>
            <a:p>
              <a:pPr algn="l"/>
              <a:r>
                <a:rPr lang="en-US" sz="980" dirty="0">
                  <a:solidFill>
                    <a:srgbClr val="6E93A4"/>
                  </a:solidFill>
                  <a:latin typeface="+mn-lt"/>
                  <a:ea typeface="+mn-ea"/>
                  <a:cs typeface="+mn-cs"/>
                </a:rPr>
                <a:t>the harder setting: classify each salient instance (axis from 35)</a:t>
              </a:r>
            </a:p>
          </p:txBody>
        </p:sp>
        <p:sp>
          <p:nvSpPr>
            <p:cNvPr id="31" name="TextBox 31"/>
            <p:cNvSpPr txBox="1"/>
            <p:nvPr/>
          </p:nvSpPr>
          <p:spPr>
            <a:xfrm>
              <a:off x="6642354" y="2613660"/>
              <a:ext cx="94862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RSPrompter</a:t>
              </a:r>
            </a:p>
          </p:txBody>
        </p:sp>
        <p:sp>
          <p:nvSpPr>
            <p:cNvPr id="32" name="Rectangle 32"/>
            <p:cNvSpPr/>
            <p:nvPr/>
          </p:nvSpPr>
          <p:spPr>
            <a:xfrm>
              <a:off x="8096250" y="2590800"/>
              <a:ext cx="895350" cy="285750"/>
            </a:xfrm>
            <a:prstGeom prst="roundRect">
              <a:avLst>
                <a:gd name="adj" fmla="val 13333"/>
              </a:avLst>
            </a:prstGeom>
            <a:solidFill>
              <a:srgbClr val="2A5B6B"/>
            </a:solidFill>
            <a:ln>
              <a:noFill/>
            </a:ln>
          </p:spPr>
        </p:sp>
        <p:sp>
          <p:nvSpPr>
            <p:cNvPr id="33" name="TextBox 33"/>
            <p:cNvSpPr txBox="1"/>
            <p:nvPr/>
          </p:nvSpPr>
          <p:spPr>
            <a:xfrm>
              <a:off x="9081135" y="2678906"/>
              <a:ext cx="343134"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38.0</a:t>
              </a:r>
            </a:p>
          </p:txBody>
        </p:sp>
        <p:sp>
          <p:nvSpPr>
            <p:cNvPr id="34" name="TextBox 34"/>
            <p:cNvSpPr txBox="1"/>
            <p:nvPr/>
          </p:nvSpPr>
          <p:spPr>
            <a:xfrm>
              <a:off x="6642354" y="3166110"/>
              <a:ext cx="88732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WaterMask</a:t>
              </a:r>
            </a:p>
          </p:txBody>
        </p:sp>
        <p:sp>
          <p:nvSpPr>
            <p:cNvPr id="35" name="Rectangle 35"/>
            <p:cNvSpPr/>
            <p:nvPr/>
          </p:nvSpPr>
          <p:spPr>
            <a:xfrm>
              <a:off x="8096250" y="3143250"/>
              <a:ext cx="1095375" cy="285750"/>
            </a:xfrm>
            <a:prstGeom prst="roundRect">
              <a:avLst>
                <a:gd name="adj" fmla="val 13333"/>
              </a:avLst>
            </a:prstGeom>
            <a:solidFill>
              <a:srgbClr val="2A5B6B"/>
            </a:solidFill>
            <a:ln>
              <a:noFill/>
            </a:ln>
          </p:spPr>
        </p:sp>
        <p:sp>
          <p:nvSpPr>
            <p:cNvPr id="36" name="TextBox 36"/>
            <p:cNvSpPr txBox="1"/>
            <p:nvPr/>
          </p:nvSpPr>
          <p:spPr>
            <a:xfrm>
              <a:off x="9281160" y="3231356"/>
              <a:ext cx="343134"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38.7</a:t>
              </a:r>
            </a:p>
          </p:txBody>
        </p:sp>
        <p:sp>
          <p:nvSpPr>
            <p:cNvPr id="37" name="TextBox 37"/>
            <p:cNvSpPr txBox="1"/>
            <p:nvPr/>
          </p:nvSpPr>
          <p:spPr>
            <a:xfrm>
              <a:off x="6642354" y="3718560"/>
              <a:ext cx="791809"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USIS-SAM</a:t>
              </a:r>
            </a:p>
          </p:txBody>
        </p:sp>
        <p:sp>
          <p:nvSpPr>
            <p:cNvPr id="38" name="Rectangle 38"/>
            <p:cNvSpPr/>
            <p:nvPr/>
          </p:nvSpPr>
          <p:spPr>
            <a:xfrm>
              <a:off x="8096250" y="3695700"/>
              <a:ext cx="2400300" cy="285750"/>
            </a:xfrm>
            <a:prstGeom prst="roundRect">
              <a:avLst>
                <a:gd name="adj" fmla="val 13333"/>
              </a:avLst>
            </a:prstGeom>
            <a:solidFill>
              <a:schemeClr val="accent2"/>
            </a:solidFill>
            <a:ln>
              <a:noFill/>
            </a:ln>
          </p:spPr>
        </p:sp>
        <p:sp>
          <p:nvSpPr>
            <p:cNvPr id="39" name="TextBox 39"/>
            <p:cNvSpPr txBox="1"/>
            <p:nvPr/>
          </p:nvSpPr>
          <p:spPr>
            <a:xfrm>
              <a:off x="10585704" y="3775710"/>
              <a:ext cx="385359"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43.1</a:t>
              </a:r>
            </a:p>
          </p:txBody>
        </p:sp>
        <p:sp>
          <p:nvSpPr>
            <p:cNvPr id="40" name="Line 40"/>
            <p:cNvSpPr/>
            <p:nvPr/>
          </p:nvSpPr>
          <p:spPr>
            <a:xfrm>
              <a:off x="8096250" y="2495550"/>
              <a:ext cx="9525" cy="1676400"/>
            </a:xfrm>
            <a:custGeom>
              <a:avLst/>
              <a:gdLst/>
              <a:ahLst/>
              <a:cxnLst/>
              <a:rect l="l" t="t" r="r" b="b"/>
              <a:pathLst>
                <a:path w="9525" h="1676400">
                  <a:moveTo>
                    <a:pt x="0" y="1676400"/>
                  </a:moveTo>
                  <a:lnTo>
                    <a:pt x="0" y="0"/>
                  </a:lnTo>
                </a:path>
              </a:pathLst>
            </a:custGeom>
            <a:noFill/>
            <a:ln w="9525">
              <a:solidFill>
                <a:srgbClr val="21455A"/>
              </a:solidFill>
            </a:ln>
          </p:spPr>
        </p:sp>
        <p:sp>
          <p:nvSpPr>
            <p:cNvPr id="41" name="TextBox 41"/>
            <p:cNvSpPr txBox="1"/>
            <p:nvPr/>
          </p:nvSpPr>
          <p:spPr>
            <a:xfrm>
              <a:off x="6641973" y="4453414"/>
              <a:ext cx="181193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+4.4 over WaterMask</a:t>
              </a:r>
            </a:p>
          </p:txBody>
        </p:sp>
        <p:sp>
          <p:nvSpPr>
            <p:cNvPr id="42" name="TextBox 42"/>
            <p:cNvSpPr txBox="1"/>
            <p:nvPr/>
          </p:nvSpPr>
          <p:spPr>
            <a:xfrm>
              <a:off x="6641973" y="4720114"/>
              <a:ext cx="187907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+5.1 over RSPrompter</a:t>
              </a:r>
            </a:p>
          </p:txBody>
        </p:sp>
      </p:grpSp>
      <p:grpSp>
        <p:nvGrpSpPr>
          <p:cNvPr id="49" name="Group 49"/>
          <p:cNvGrpSpPr/>
          <p:nvPr/>
        </p:nvGrpSpPr>
        <p:grpSpPr>
          <a:xfrm>
            <a:off x="685800" y="5219700"/>
            <a:ext cx="10820400" cy="911828"/>
            <a:chOff x="685800" y="5219700"/>
            <a:chExt cx="10820400" cy="911828"/>
          </a:xfrm>
        </p:grpSpPr>
        <p:sp>
          <p:nvSpPr>
            <p:cNvPr id="44" name="Rectangle 44"/>
            <p:cNvSpPr/>
            <p:nvPr/>
          </p:nvSpPr>
          <p:spPr>
            <a:xfrm>
              <a:off x="685800" y="5219700"/>
              <a:ext cx="10820400" cy="857250"/>
            </a:xfrm>
            <a:prstGeom prst="roundRect">
              <a:avLst>
                <a:gd name="adj" fmla="val 13333"/>
              </a:avLst>
            </a:prstGeom>
            <a:solidFill>
              <a:schemeClr val="accent5"/>
            </a:solidFill>
            <a:ln w="9525">
              <a:solidFill>
                <a:schemeClr val="accent4"/>
              </a:solidFill>
            </a:ln>
          </p:spPr>
        </p:sp>
        <p:sp>
          <p:nvSpPr>
            <p:cNvPr id="45" name="Rectangle 45"/>
            <p:cNvSpPr/>
            <p:nvPr/>
          </p:nvSpPr>
          <p:spPr>
            <a:xfrm>
              <a:off x="685800" y="5219700"/>
              <a:ext cx="57150" cy="857250"/>
            </a:xfrm>
            <a:prstGeom prst="roundRect">
              <a:avLst>
                <a:gd name="adj" fmla="val 50000"/>
              </a:avLst>
            </a:prstGeom>
            <a:solidFill>
              <a:schemeClr val="accent3"/>
            </a:solidFill>
            <a:ln>
              <a:noFill/>
            </a:ln>
          </p:spPr>
        </p:sp>
        <p:sp>
          <p:nvSpPr>
            <p:cNvPr id="46" name="TextBox 46"/>
            <p:cNvSpPr txBox="1"/>
            <p:nvPr/>
          </p:nvSpPr>
          <p:spPr>
            <a:xfrm>
              <a:off x="927354" y="5414010"/>
              <a:ext cx="1741688"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IT ALSO GENERALIZES</a:t>
              </a:r>
            </a:p>
          </p:txBody>
        </p:sp>
        <p:sp>
          <p:nvSpPr>
            <p:cNvPr id="47" name="TextBox 47"/>
            <p:cNvSpPr txBox="1"/>
            <p:nvPr/>
          </p:nvSpPr>
          <p:spPr>
            <a:xfrm>
              <a:off x="926211" y="5637371"/>
              <a:ext cx="734849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Retrained on the land-based SIS10K dataset, USIS-SAM still outperforms prior</a:t>
              </a:r>
            </a:p>
          </p:txBody>
        </p:sp>
        <p:sp>
          <p:nvSpPr>
            <p:cNvPr id="48" name="TextBox 48"/>
            <p:cNvSpPr txBox="1"/>
            <p:nvPr/>
          </p:nvSpPr>
          <p:spPr>
            <a:xfrm>
              <a:off x="926973" y="5882164"/>
              <a:ext cx="6104240"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approaches — the design is not narrowly overfit to underwater imagery.</a:t>
              </a:r>
            </a:p>
          </p:txBody>
        </p:sp>
      </p:grpSp>
      <p:sp>
        <p:nvSpPr>
          <p:cNvPr id="50" name="Line 50"/>
          <p:cNvSpPr/>
          <p:nvPr/>
        </p:nvSpPr>
        <p:spPr>
          <a:xfrm>
            <a:off x="685800" y="622935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sp>
        <p:nvSpPr>
          <p:cNvPr id="51" name="TextBox 51"/>
          <p:cNvSpPr txBox="1"/>
          <p:nvPr/>
        </p:nvSpPr>
        <p:spPr>
          <a:xfrm>
            <a:off x="680847" y="6390799"/>
            <a:ext cx="3508632" cy="190690"/>
          </a:xfrm>
          <a:prstGeom prst="rect">
            <a:avLst/>
          </a:prstGeom>
          <a:noFill/>
          <a:ln>
            <a:noFill/>
          </a:ln>
        </p:spPr>
        <p:txBody>
          <a:bodyPr wrap="none" lIns="0" tIns="0" rIns="0" bIns="0" anchor="t" anchorCtr="0">
            <a:spAutoFit/>
          </a:bodyPr>
          <a:lstStyle/>
          <a:p>
            <a:pPr algn="l"/>
            <a:r>
              <a:rPr lang="en-US" sz="980" dirty="0">
                <a:solidFill>
                  <a:srgbClr val="6E93A4"/>
                </a:solidFill>
                <a:latin typeface="+mn-lt"/>
                <a:ea typeface="+mn-ea"/>
                <a:cs typeface="+mn-cs"/>
              </a:rPr>
              <a:t>USIS-SAM · Underwater Salient Instance Segmentation</a:t>
            </a:r>
          </a:p>
        </p:txBody>
      </p:sp>
      <p:sp>
        <p:nvSpPr>
          <p:cNvPr id="52" name="TextBox 52"/>
          <p:cNvSpPr txBox="1"/>
          <p:nvPr/>
        </p:nvSpPr>
        <p:spPr>
          <a:xfrm>
            <a:off x="11059290" y="6390799"/>
            <a:ext cx="451863" cy="190690"/>
          </a:xfrm>
          <a:prstGeom prst="rect">
            <a:avLst/>
          </a:prstGeom>
          <a:noFill/>
          <a:ln>
            <a:noFill/>
          </a:ln>
        </p:spPr>
        <p:txBody>
          <a:bodyPr wrap="none" lIns="0" tIns="0" rIns="0" bIns="0" anchor="t" anchorCtr="0">
            <a:spAutoFit/>
          </a:bodyPr>
          <a:lstStyle/>
          <a:p>
            <a:pPr algn="r"/>
            <a:r>
              <a:rPr lang="en-US" sz="980" dirty="0">
                <a:solidFill>
                  <a:srgbClr val="6E93A4"/>
                </a:solidFill>
                <a:latin typeface="+mn-lt"/>
                <a:ea typeface="+mn-ea"/>
                <a:cs typeface="+mn-cs"/>
              </a:rPr>
              <a:t>07 / 10</a:t>
            </a:r>
          </a:p>
        </p:txBody>
      </p:sp>
      <p:sp>
        <p:nvSpPr>
          <p:cNvPr id="53" name="cue_s07_c1_across_both_settings_usis_sam_sets" title="cue_s07_c1_across_both_settings_usis_sam_sets" descr="cue_s07_c1_across_both_settings_usis_sam_sets Across both settings, USIS-SAM sets a new state of the art on USIS10K."/>
          <p:cNvSpPr/>
          <p:nvPr/>
        </p:nvSpPr>
        <p:spPr>
          <a:xfrm>
            <a:off x="7334707" y="977950"/>
            <a:ext cx="4178198" cy="26403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7_c2_class_agnostic_task_localizing_maski" title="cue_s07_c2_class_agnostic_task_localizing_maski" descr="cue_s07_c2_class_agnostic_task_localizing_maski In the class-agnostic task, localizing and masking salient objects regardless of category, it reaches 59.7 mAP, beating the best salient method OQTR by 3.1 points, the underwater WaterMask by 0.7, and the SAM-based RSPrompter by 1.5."/>
          <p:cNvSpPr/>
          <p:nvPr/>
        </p:nvSpPr>
        <p:spPr>
          <a:xfrm>
            <a:off x="686409" y="1638376"/>
            <a:ext cx="5409590" cy="34290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7_c3_harder_multi_class_task_scores_43_1" title="cue_s07_c3_harder_multi_class_task_scores_43_1" descr="cue_s07_c3_harder_multi_class_task_scores_43_1 In the harder multi-class task it scores 43.1 mAP, extending its lead to 4.4 points over WaterMask and 5.1 over RSPrompter."/>
          <p:cNvSpPr/>
          <p:nvPr/>
        </p:nvSpPr>
        <p:spPr>
          <a:xfrm>
            <a:off x="6400800" y="1638376"/>
            <a:ext cx="5106009" cy="34290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7_c4_also_generalizes_retrained_land_base" title="cue_s07_c4_also_generalizes_retrained_land_base" descr="cue_s07_c4_also_generalizes_retrained_land_base It also generalizes: retrained on the land-based SIS10K dataset, it still outperforms prior approaches."/>
          <p:cNvSpPr/>
          <p:nvPr/>
        </p:nvSpPr>
        <p:spPr>
          <a:xfrm>
            <a:off x="686409" y="5219623"/>
            <a:ext cx="10820400" cy="91211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0A2233"/>
            </a:gs>
            <a:gs pos="100000">
              <a:srgbClr val="04121B"/>
            </a:gs>
          </a:gsLst>
          <a:lin ang="5400000" scaled="1"/>
        </a:gra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1"/>
              </a:gs>
              <a:gs pos="100000">
                <a:schemeClr val="accent3"/>
              </a:gs>
            </a:gsLst>
            <a:lin ang="0" scaled="1"/>
          </a:gradFill>
          <a:ln>
            <a:noFill/>
          </a:ln>
        </p:spPr>
        <p:txBody>
          <a:bodyPr/>
          <a:p/>
        </p:txBody>
      </p:sp>
      <p:sp>
        <p:nvSpPr>
          <p:cNvPr id="3" name="TextBox 3"/>
          <p:cNvSpPr txBox="1"/>
          <p:nvPr/>
        </p:nvSpPr>
        <p:spPr>
          <a:xfrm>
            <a:off x="679704" y="670560"/>
            <a:ext cx="701581"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08 / 10</a:t>
            </a:r>
          </a:p>
        </p:txBody>
      </p:sp>
      <p:sp>
        <p:nvSpPr>
          <p:cNvPr id="4" name="TextBox 4"/>
          <p:cNvSpPr txBox="1"/>
          <p:nvPr/>
        </p:nvSpPr>
        <p:spPr>
          <a:xfrm>
            <a:off x="671322" y="930592"/>
            <a:ext cx="2853147"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Ablation Study</a:t>
            </a:r>
          </a:p>
        </p:txBody>
      </p:sp>
      <p:sp>
        <p:nvSpPr>
          <p:cNvPr id="5" name="Rectangle 5"/>
          <p:cNvSpPr/>
          <p:nvPr/>
        </p:nvSpPr>
        <p:spPr>
          <a:xfrm>
            <a:off x="685800" y="1390650"/>
            <a:ext cx="609600" cy="38100"/>
          </a:xfrm>
          <a:prstGeom prst="roundRect">
            <a:avLst>
              <a:gd name="adj" fmla="val 50000"/>
            </a:avLst>
          </a:prstGeom>
          <a:solidFill>
            <a:schemeClr val="accent2"/>
          </a:solidFill>
          <a:ln>
            <a:noFill/>
          </a:ln>
        </p:spPr>
        <p:txBody>
          <a:bodyPr/>
          <a:p/>
        </p:txBody>
      </p:sp>
      <p:grpSp>
        <p:nvGrpSpPr>
          <p:cNvPr id="8" name="Group 8"/>
          <p:cNvGrpSpPr/>
          <p:nvPr/>
        </p:nvGrpSpPr>
        <p:grpSpPr>
          <a:xfrm>
            <a:off x="685800" y="1638300"/>
            <a:ext cx="10820400" cy="533400"/>
            <a:chOff x="685800" y="1638300"/>
            <a:chExt cx="10820400" cy="533400"/>
          </a:xfrm>
        </p:grpSpPr>
        <p:sp>
          <p:nvSpPr>
            <p:cNvPr id="6" name="Rectangle 6"/>
            <p:cNvSpPr/>
            <p:nvPr/>
          </p:nvSpPr>
          <p:spPr>
            <a:xfrm>
              <a:off x="685800" y="1638300"/>
              <a:ext cx="10820400" cy="533400"/>
            </a:xfrm>
            <a:prstGeom prst="roundRect">
              <a:avLst>
                <a:gd name="adj" fmla="val 21429"/>
              </a:avLst>
            </a:prstGeom>
            <a:solidFill>
              <a:schemeClr val="accent5"/>
            </a:solidFill>
            <a:ln w="9525">
              <a:solidFill>
                <a:schemeClr val="accent4"/>
              </a:solidFill>
            </a:ln>
          </p:spPr>
        </p:sp>
        <p:sp>
          <p:nvSpPr>
            <p:cNvPr id="7" name="TextBox 7"/>
            <p:cNvSpPr txBox="1"/>
            <p:nvPr/>
          </p:nvSpPr>
          <p:spPr>
            <a:xfrm>
              <a:off x="925830" y="1809750"/>
              <a:ext cx="821382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Ablations isolate each component — removing either module lowers multi-class mAP.</a:t>
              </a:r>
            </a:p>
          </p:txBody>
        </p:sp>
      </p:grpSp>
      <p:grpSp>
        <p:nvGrpSpPr>
          <p:cNvPr id="23" name="Group 23"/>
          <p:cNvGrpSpPr/>
          <p:nvPr/>
        </p:nvGrpSpPr>
        <p:grpSpPr>
          <a:xfrm>
            <a:off x="685800" y="2362200"/>
            <a:ext cx="4953000" cy="3009900"/>
            <a:chOff x="685800" y="2362200"/>
            <a:chExt cx="4953000" cy="3009900"/>
          </a:xfrm>
        </p:grpSpPr>
        <p:sp>
          <p:nvSpPr>
            <p:cNvPr id="9" name="Rectangle 9"/>
            <p:cNvSpPr/>
            <p:nvPr/>
          </p:nvSpPr>
          <p:spPr>
            <a:xfrm>
              <a:off x="685800" y="2362200"/>
              <a:ext cx="4953000" cy="3009900"/>
            </a:xfrm>
            <a:prstGeom prst="roundRect">
              <a:avLst>
                <a:gd name="adj" fmla="val 3797"/>
              </a:avLst>
            </a:prstGeom>
            <a:solidFill>
              <a:schemeClr val="lt2"/>
            </a:solidFill>
            <a:ln w="9525">
              <a:solidFill>
                <a:schemeClr val="accent4"/>
              </a:solidFill>
            </a:ln>
          </p:spPr>
        </p:sp>
        <p:sp>
          <p:nvSpPr>
            <p:cNvPr id="10" name="TextBox 10"/>
            <p:cNvSpPr txBox="1"/>
            <p:nvPr/>
          </p:nvSpPr>
          <p:spPr>
            <a:xfrm>
              <a:off x="927354" y="2537460"/>
              <a:ext cx="2594183"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Multi-class mAP (axis from 40)</a:t>
              </a:r>
            </a:p>
          </p:txBody>
        </p:sp>
        <p:sp>
          <p:nvSpPr>
            <p:cNvPr id="11" name="Line 11"/>
            <p:cNvSpPr/>
            <p:nvPr/>
          </p:nvSpPr>
          <p:spPr>
            <a:xfrm>
              <a:off x="1143000" y="4762500"/>
              <a:ext cx="4191000" cy="9525"/>
            </a:xfrm>
            <a:custGeom>
              <a:avLst/>
              <a:gdLst/>
              <a:ahLst/>
              <a:cxnLst/>
              <a:rect l="l" t="t" r="r" b="b"/>
              <a:pathLst>
                <a:path w="4191000" h="9525">
                  <a:moveTo>
                    <a:pt x="0" y="0"/>
                  </a:moveTo>
                  <a:lnTo>
                    <a:pt x="4191000" y="0"/>
                  </a:lnTo>
                </a:path>
              </a:pathLst>
            </a:custGeom>
            <a:noFill/>
            <a:ln w="9525">
              <a:solidFill>
                <a:srgbClr val="21455A"/>
              </a:solidFill>
            </a:ln>
          </p:spPr>
        </p:sp>
        <p:sp>
          <p:nvSpPr>
            <p:cNvPr id="12" name="Rectangle 12"/>
            <p:cNvSpPr/>
            <p:nvPr/>
          </p:nvSpPr>
          <p:spPr>
            <a:xfrm>
              <a:off x="1428750" y="3076575"/>
              <a:ext cx="857250" cy="1685925"/>
            </a:xfrm>
            <a:prstGeom prst="roundRect">
              <a:avLst>
                <a:gd name="adj" fmla="val 4444"/>
              </a:avLst>
            </a:prstGeom>
            <a:solidFill>
              <a:schemeClr val="accent2"/>
            </a:solidFill>
            <a:ln>
              <a:noFill/>
            </a:ln>
          </p:spPr>
        </p:sp>
        <p:sp>
          <p:nvSpPr>
            <p:cNvPr id="13" name="TextBox 13"/>
            <p:cNvSpPr txBox="1"/>
            <p:nvPr/>
          </p:nvSpPr>
          <p:spPr>
            <a:xfrm>
              <a:off x="1640611" y="2835592"/>
              <a:ext cx="433528"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43.1</a:t>
              </a:r>
            </a:p>
          </p:txBody>
        </p:sp>
        <p:sp>
          <p:nvSpPr>
            <p:cNvPr id="14" name="TextBox 14"/>
            <p:cNvSpPr txBox="1"/>
            <p:nvPr/>
          </p:nvSpPr>
          <p:spPr>
            <a:xfrm>
              <a:off x="1501064" y="4877752"/>
              <a:ext cx="712622"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Full model</a:t>
              </a:r>
            </a:p>
          </p:txBody>
        </p:sp>
        <p:sp>
          <p:nvSpPr>
            <p:cNvPr id="15" name="Rectangle 15"/>
            <p:cNvSpPr/>
            <p:nvPr/>
          </p:nvSpPr>
          <p:spPr>
            <a:xfrm>
              <a:off x="2762250" y="3952875"/>
              <a:ext cx="857250" cy="809625"/>
            </a:xfrm>
            <a:prstGeom prst="roundRect">
              <a:avLst>
                <a:gd name="adj" fmla="val 4706"/>
              </a:avLst>
            </a:prstGeom>
            <a:solidFill>
              <a:srgbClr val="2A5B6B"/>
            </a:solidFill>
            <a:ln>
              <a:noFill/>
            </a:ln>
          </p:spPr>
        </p:sp>
        <p:sp>
          <p:nvSpPr>
            <p:cNvPr id="16" name="TextBox 16"/>
            <p:cNvSpPr txBox="1"/>
            <p:nvPr/>
          </p:nvSpPr>
          <p:spPr>
            <a:xfrm>
              <a:off x="2974111" y="3711892"/>
              <a:ext cx="433528" cy="264033"/>
            </a:xfrm>
            <a:prstGeom prst="rect">
              <a:avLst/>
            </a:prstGeom>
            <a:noFill/>
            <a:ln>
              <a:noFill/>
            </a:ln>
          </p:spPr>
          <p:txBody>
            <a:bodyPr wrap="none" lIns="0" tIns="0" rIns="0" bIns="0" anchor="t" anchorCtr="0">
              <a:spAutoFit/>
            </a:bodyPr>
            <a:lstStyle/>
            <a:p>
              <a:pPr algn="ctr"/>
              <a:r>
                <a:rPr lang="en-US" sz="1350" b="1" dirty="0">
                  <a:solidFill>
                    <a:srgbClr val="FF7E6B"/>
                  </a:solidFill>
                  <a:latin typeface="+mn-lt"/>
                  <a:ea typeface="+mn-ea"/>
                  <a:cs typeface="+mn-cs"/>
                </a:rPr>
                <a:t>41.5</a:t>
              </a:r>
            </a:p>
          </p:txBody>
        </p:sp>
        <p:sp>
          <p:nvSpPr>
            <p:cNvPr id="17" name="TextBox 17"/>
            <p:cNvSpPr txBox="1"/>
            <p:nvPr/>
          </p:nvSpPr>
          <p:spPr>
            <a:xfrm>
              <a:off x="2897425" y="4877752"/>
              <a:ext cx="586900"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 UA-ViT</a:t>
              </a:r>
            </a:p>
          </p:txBody>
        </p:sp>
        <p:sp>
          <p:nvSpPr>
            <p:cNvPr id="18" name="TextBox 18"/>
            <p:cNvSpPr txBox="1"/>
            <p:nvPr/>
          </p:nvSpPr>
          <p:spPr>
            <a:xfrm>
              <a:off x="3040802" y="5057299"/>
              <a:ext cx="300147" cy="190690"/>
            </a:xfrm>
            <a:prstGeom prst="rect">
              <a:avLst/>
            </a:prstGeom>
            <a:noFill/>
            <a:ln>
              <a:noFill/>
            </a:ln>
          </p:spPr>
          <p:txBody>
            <a:bodyPr wrap="none" lIns="0" tIns="0" rIns="0" bIns="0" anchor="t" anchorCtr="0">
              <a:spAutoFit/>
            </a:bodyPr>
            <a:lstStyle/>
            <a:p>
              <a:pPr algn="ctr"/>
              <a:r>
                <a:rPr lang="en-US" sz="980" dirty="0">
                  <a:solidFill>
                    <a:srgbClr val="FF7E6B"/>
                  </a:solidFill>
                  <a:latin typeface="+mn-lt"/>
                  <a:ea typeface="+mn-ea"/>
                  <a:cs typeface="+mn-cs"/>
                </a:rPr>
                <a:t>−1.6</a:t>
              </a:r>
            </a:p>
          </p:txBody>
        </p:sp>
        <p:sp>
          <p:nvSpPr>
            <p:cNvPr id="19" name="Rectangle 19"/>
            <p:cNvSpPr/>
            <p:nvPr/>
          </p:nvSpPr>
          <p:spPr>
            <a:xfrm>
              <a:off x="4095750" y="3476625"/>
              <a:ext cx="857250" cy="1285875"/>
            </a:xfrm>
            <a:prstGeom prst="roundRect">
              <a:avLst>
                <a:gd name="adj" fmla="val 4444"/>
              </a:avLst>
            </a:prstGeom>
            <a:solidFill>
              <a:srgbClr val="2A5B6B"/>
            </a:solidFill>
            <a:ln>
              <a:noFill/>
            </a:ln>
          </p:spPr>
        </p:sp>
        <p:sp>
          <p:nvSpPr>
            <p:cNvPr id="20" name="TextBox 20"/>
            <p:cNvSpPr txBox="1"/>
            <p:nvPr/>
          </p:nvSpPr>
          <p:spPr>
            <a:xfrm>
              <a:off x="4307611" y="3235642"/>
              <a:ext cx="433528" cy="264033"/>
            </a:xfrm>
            <a:prstGeom prst="rect">
              <a:avLst/>
            </a:prstGeom>
            <a:noFill/>
            <a:ln>
              <a:noFill/>
            </a:ln>
          </p:spPr>
          <p:txBody>
            <a:bodyPr wrap="none" lIns="0" tIns="0" rIns="0" bIns="0" anchor="t" anchorCtr="0">
              <a:spAutoFit/>
            </a:bodyPr>
            <a:lstStyle/>
            <a:p>
              <a:pPr algn="ctr"/>
              <a:r>
                <a:rPr lang="en-US" sz="1350" b="1" dirty="0">
                  <a:solidFill>
                    <a:srgbClr val="FF7E6B"/>
                  </a:solidFill>
                  <a:latin typeface="+mn-lt"/>
                  <a:ea typeface="+mn-ea"/>
                  <a:cs typeface="+mn-cs"/>
                </a:rPr>
                <a:t>42.2</a:t>
              </a:r>
            </a:p>
          </p:txBody>
        </p:sp>
        <p:sp>
          <p:nvSpPr>
            <p:cNvPr id="21" name="TextBox 21"/>
            <p:cNvSpPr txBox="1"/>
            <p:nvPr/>
          </p:nvSpPr>
          <p:spPr>
            <a:xfrm>
              <a:off x="4291279" y="4877752"/>
              <a:ext cx="466192"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 SFPG</a:t>
              </a:r>
            </a:p>
          </p:txBody>
        </p:sp>
        <p:sp>
          <p:nvSpPr>
            <p:cNvPr id="22" name="TextBox 22"/>
            <p:cNvSpPr txBox="1"/>
            <p:nvPr/>
          </p:nvSpPr>
          <p:spPr>
            <a:xfrm>
              <a:off x="4374302" y="5057299"/>
              <a:ext cx="300147" cy="190690"/>
            </a:xfrm>
            <a:prstGeom prst="rect">
              <a:avLst/>
            </a:prstGeom>
            <a:noFill/>
            <a:ln>
              <a:noFill/>
            </a:ln>
          </p:spPr>
          <p:txBody>
            <a:bodyPr wrap="none" lIns="0" tIns="0" rIns="0" bIns="0" anchor="t" anchorCtr="0">
              <a:spAutoFit/>
            </a:bodyPr>
            <a:lstStyle/>
            <a:p>
              <a:pPr algn="ctr"/>
              <a:r>
                <a:rPr lang="en-US" sz="980" dirty="0">
                  <a:solidFill>
                    <a:srgbClr val="FF7E6B"/>
                  </a:solidFill>
                  <a:latin typeface="+mn-lt"/>
                  <a:ea typeface="+mn-ea"/>
                  <a:cs typeface="+mn-cs"/>
                </a:rPr>
                <a:t>−0.9</a:t>
              </a:r>
            </a:p>
          </p:txBody>
        </p:sp>
      </p:grpSp>
      <p:grpSp>
        <p:nvGrpSpPr>
          <p:cNvPr id="31" name="Group 31"/>
          <p:cNvGrpSpPr/>
          <p:nvPr/>
        </p:nvGrpSpPr>
        <p:grpSpPr>
          <a:xfrm>
            <a:off x="5867400" y="2362200"/>
            <a:ext cx="5638800" cy="1438656"/>
            <a:chOff x="5867400" y="2362200"/>
            <a:chExt cx="5638800" cy="1438656"/>
          </a:xfrm>
        </p:grpSpPr>
        <p:sp>
          <p:nvSpPr>
            <p:cNvPr id="24" name="Rectangle 24"/>
            <p:cNvSpPr/>
            <p:nvPr/>
          </p:nvSpPr>
          <p:spPr>
            <a:xfrm>
              <a:off x="5867400" y="2362200"/>
              <a:ext cx="5638800" cy="1428750"/>
            </a:xfrm>
            <a:prstGeom prst="roundRect">
              <a:avLst>
                <a:gd name="adj" fmla="val 8000"/>
              </a:avLst>
            </a:prstGeom>
            <a:solidFill>
              <a:schemeClr val="lt2"/>
            </a:solidFill>
            <a:ln w="9525">
              <a:solidFill>
                <a:schemeClr val="accent4"/>
              </a:solidFill>
            </a:ln>
          </p:spPr>
        </p:sp>
        <p:sp>
          <p:nvSpPr>
            <p:cNvPr id="25" name="Rectangle 25"/>
            <p:cNvSpPr/>
            <p:nvPr/>
          </p:nvSpPr>
          <p:spPr>
            <a:xfrm>
              <a:off x="5867400" y="2362200"/>
              <a:ext cx="57150" cy="1428750"/>
            </a:xfrm>
            <a:prstGeom prst="roundRect">
              <a:avLst>
                <a:gd name="adj" fmla="val 50000"/>
              </a:avLst>
            </a:prstGeom>
            <a:solidFill>
              <a:schemeClr val="accent1"/>
            </a:solidFill>
            <a:ln>
              <a:noFill/>
            </a:ln>
          </p:spPr>
        </p:sp>
        <p:sp>
          <p:nvSpPr>
            <p:cNvPr id="26" name="TextBox 26"/>
            <p:cNvSpPr txBox="1"/>
            <p:nvPr/>
          </p:nvSpPr>
          <p:spPr>
            <a:xfrm>
              <a:off x="6108192" y="2540318"/>
              <a:ext cx="337136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Underwater Adaptive ViT · −1.6 mAP</a:t>
              </a:r>
            </a:p>
          </p:txBody>
        </p:sp>
        <p:sp>
          <p:nvSpPr>
            <p:cNvPr id="27" name="TextBox 27"/>
            <p:cNvSpPr txBox="1"/>
            <p:nvPr/>
          </p:nvSpPr>
          <p:spPr>
            <a:xfrm>
              <a:off x="6108192" y="2864168"/>
              <a:ext cx="421671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Reverting UA-ViT to the original ViT block drops</a:t>
              </a:r>
            </a:p>
          </p:txBody>
        </p:sp>
        <p:sp>
          <p:nvSpPr>
            <p:cNvPr id="28" name="TextBox 28"/>
            <p:cNvSpPr txBox="1"/>
            <p:nvPr/>
          </p:nvSpPr>
          <p:spPr>
            <a:xfrm>
              <a:off x="6108192" y="3092768"/>
              <a:ext cx="422542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performance by 1.6 mAP — injecting underwater</a:t>
              </a:r>
            </a:p>
          </p:txBody>
        </p:sp>
        <p:sp>
          <p:nvSpPr>
            <p:cNvPr id="29" name="TextBox 29"/>
            <p:cNvSpPr txBox="1"/>
            <p:nvPr/>
          </p:nvSpPr>
          <p:spPr>
            <a:xfrm>
              <a:off x="6108192" y="3321368"/>
              <a:ext cx="448444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information through adapters materially helps the</a:t>
              </a:r>
            </a:p>
          </p:txBody>
        </p:sp>
        <p:sp>
          <p:nvSpPr>
            <p:cNvPr id="30" name="TextBox 30"/>
            <p:cNvSpPr txBox="1"/>
            <p:nvPr/>
          </p:nvSpPr>
          <p:spPr>
            <a:xfrm>
              <a:off x="6108954" y="3566160"/>
              <a:ext cx="375193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frozen backbone handle complex marine scenes.</a:t>
              </a:r>
            </a:p>
          </p:txBody>
        </p:sp>
      </p:grpSp>
      <p:grpSp>
        <p:nvGrpSpPr>
          <p:cNvPr id="39" name="Group 39"/>
          <p:cNvGrpSpPr/>
          <p:nvPr/>
        </p:nvGrpSpPr>
        <p:grpSpPr>
          <a:xfrm>
            <a:off x="5867400" y="3943350"/>
            <a:ext cx="5638800" cy="1438656"/>
            <a:chOff x="5867400" y="3943350"/>
            <a:chExt cx="5638800" cy="1438656"/>
          </a:xfrm>
        </p:grpSpPr>
        <p:sp>
          <p:nvSpPr>
            <p:cNvPr id="32" name="Rectangle 32"/>
            <p:cNvSpPr/>
            <p:nvPr/>
          </p:nvSpPr>
          <p:spPr>
            <a:xfrm>
              <a:off x="5867400" y="3943350"/>
              <a:ext cx="5638800" cy="1428750"/>
            </a:xfrm>
            <a:prstGeom prst="roundRect">
              <a:avLst>
                <a:gd name="adj" fmla="val 8000"/>
              </a:avLst>
            </a:prstGeom>
            <a:solidFill>
              <a:schemeClr val="lt2"/>
            </a:solidFill>
            <a:ln w="9525">
              <a:solidFill>
                <a:schemeClr val="accent4"/>
              </a:solidFill>
            </a:ln>
          </p:spPr>
        </p:sp>
        <p:sp>
          <p:nvSpPr>
            <p:cNvPr id="33" name="Rectangle 33"/>
            <p:cNvSpPr/>
            <p:nvPr/>
          </p:nvSpPr>
          <p:spPr>
            <a:xfrm>
              <a:off x="5867400" y="3943350"/>
              <a:ext cx="57150" cy="1428750"/>
            </a:xfrm>
            <a:prstGeom prst="roundRect">
              <a:avLst>
                <a:gd name="adj" fmla="val 50000"/>
              </a:avLst>
            </a:prstGeom>
            <a:solidFill>
              <a:schemeClr val="accent2"/>
            </a:solidFill>
            <a:ln>
              <a:noFill/>
            </a:ln>
          </p:spPr>
        </p:sp>
        <p:sp>
          <p:nvSpPr>
            <p:cNvPr id="34" name="TextBox 34"/>
            <p:cNvSpPr txBox="1"/>
            <p:nvPr/>
          </p:nvSpPr>
          <p:spPr>
            <a:xfrm>
              <a:off x="6108192" y="4121468"/>
              <a:ext cx="426603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Salient Feature Prompt Generator · −0.9 mAP</a:t>
              </a:r>
            </a:p>
          </p:txBody>
        </p:sp>
        <p:sp>
          <p:nvSpPr>
            <p:cNvPr id="35" name="TextBox 35"/>
            <p:cNvSpPr txBox="1"/>
            <p:nvPr/>
          </p:nvSpPr>
          <p:spPr>
            <a:xfrm>
              <a:off x="6108192" y="4445318"/>
              <a:ext cx="402932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Replacing the SFPG with a generic Multi-scale</a:t>
              </a:r>
            </a:p>
          </p:txBody>
        </p:sp>
        <p:sp>
          <p:nvSpPr>
            <p:cNvPr id="36" name="TextBox 36"/>
            <p:cNvSpPr txBox="1"/>
            <p:nvPr/>
          </p:nvSpPr>
          <p:spPr>
            <a:xfrm>
              <a:off x="6108192" y="4673918"/>
              <a:ext cx="434141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Feature Enhancer costs 0.9 mAP — the SFPG does</a:t>
              </a:r>
            </a:p>
          </p:txBody>
        </p:sp>
        <p:sp>
          <p:nvSpPr>
            <p:cNvPr id="37" name="TextBox 37"/>
            <p:cNvSpPr txBox="1"/>
            <p:nvPr/>
          </p:nvSpPr>
          <p:spPr>
            <a:xfrm>
              <a:off x="6108192" y="4902518"/>
              <a:ext cx="462074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more than fuse features: it focuses the network's</a:t>
              </a:r>
            </a:p>
          </p:txBody>
        </p:sp>
        <p:sp>
          <p:nvSpPr>
            <p:cNvPr id="38" name="TextBox 38"/>
            <p:cNvSpPr txBox="1"/>
            <p:nvPr/>
          </p:nvSpPr>
          <p:spPr>
            <a:xfrm>
              <a:off x="6108954" y="5147310"/>
              <a:ext cx="230611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attention on salient regions.</a:t>
              </a:r>
            </a:p>
          </p:txBody>
        </p:sp>
      </p:grpSp>
      <p:grpSp>
        <p:nvGrpSpPr>
          <p:cNvPr id="43" name="Group 43"/>
          <p:cNvGrpSpPr/>
          <p:nvPr/>
        </p:nvGrpSpPr>
        <p:grpSpPr>
          <a:xfrm>
            <a:off x="685800" y="5524500"/>
            <a:ext cx="5143773" cy="555784"/>
            <a:chOff x="685800" y="5524500"/>
            <a:chExt cx="5143773" cy="555784"/>
          </a:xfrm>
        </p:grpSpPr>
        <p:sp>
          <p:nvSpPr>
            <p:cNvPr id="40" name="Rectangle 40"/>
            <p:cNvSpPr/>
            <p:nvPr/>
          </p:nvSpPr>
          <p:spPr>
            <a:xfrm>
              <a:off x="685800" y="5524500"/>
              <a:ext cx="4953000" cy="552450"/>
            </a:xfrm>
            <a:prstGeom prst="roundRect">
              <a:avLst>
                <a:gd name="adj" fmla="val 20690"/>
              </a:avLst>
            </a:prstGeom>
            <a:solidFill>
              <a:schemeClr val="accent5"/>
            </a:solidFill>
            <a:ln w="9525">
              <a:solidFill>
                <a:schemeClr val="accent4"/>
              </a:solidFill>
            </a:ln>
          </p:spPr>
        </p:sp>
        <p:sp>
          <p:nvSpPr>
            <p:cNvPr id="41" name="TextBox 41"/>
            <p:cNvSpPr txBox="1"/>
            <p:nvPr/>
          </p:nvSpPr>
          <p:spPr>
            <a:xfrm>
              <a:off x="927735" y="5650706"/>
              <a:ext cx="1525262" cy="220028"/>
            </a:xfrm>
            <a:prstGeom prst="rect">
              <a:avLst/>
            </a:prstGeom>
            <a:noFill/>
            <a:ln>
              <a:noFill/>
            </a:ln>
          </p:spPr>
          <p:txBody>
            <a:bodyPr wrap="none" lIns="0" tIns="0" rIns="0" bIns="0" anchor="t" anchorCtr="0">
              <a:spAutoFit/>
            </a:bodyPr>
            <a:lstStyle/>
            <a:p>
              <a:pPr algn="l"/>
              <a:r>
                <a:rPr lang="en-US" sz="1120" b="1" dirty="0">
                  <a:solidFill>
                    <a:schemeClr val="accent3"/>
                  </a:solidFill>
                  <a:latin typeface="+mn-lt"/>
                  <a:ea typeface="+mn-ea"/>
                  <a:cs typeface="+mn-cs"/>
                </a:rPr>
                <a:t>FURTHER ABLATIONS</a:t>
              </a:r>
            </a:p>
          </p:txBody>
        </p:sp>
        <p:sp>
          <p:nvSpPr>
            <p:cNvPr id="42" name="TextBox 42"/>
            <p:cNvSpPr txBox="1"/>
            <p:nvPr/>
          </p:nvSpPr>
          <p:spPr>
            <a:xfrm>
              <a:off x="927735" y="5860256"/>
              <a:ext cx="490183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Encoder freezing &amp; multi-scale conv design — each choice matters.</a:t>
              </a:r>
            </a:p>
          </p:txBody>
        </p:sp>
      </p:grpSp>
      <p:sp>
        <p:nvSpPr>
          <p:cNvPr id="44" name="Line 44"/>
          <p:cNvSpPr/>
          <p:nvPr/>
        </p:nvSpPr>
        <p:spPr>
          <a:xfrm>
            <a:off x="685800" y="622935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sp>
        <p:nvSpPr>
          <p:cNvPr id="45" name="TextBox 45"/>
          <p:cNvSpPr txBox="1"/>
          <p:nvPr/>
        </p:nvSpPr>
        <p:spPr>
          <a:xfrm>
            <a:off x="680847" y="6390799"/>
            <a:ext cx="3508632" cy="190690"/>
          </a:xfrm>
          <a:prstGeom prst="rect">
            <a:avLst/>
          </a:prstGeom>
          <a:noFill/>
          <a:ln>
            <a:noFill/>
          </a:ln>
        </p:spPr>
        <p:txBody>
          <a:bodyPr wrap="none" lIns="0" tIns="0" rIns="0" bIns="0" anchor="t" anchorCtr="0">
            <a:spAutoFit/>
          </a:bodyPr>
          <a:lstStyle/>
          <a:p>
            <a:pPr algn="l"/>
            <a:r>
              <a:rPr lang="en-US" sz="980" dirty="0">
                <a:solidFill>
                  <a:srgbClr val="6E93A4"/>
                </a:solidFill>
                <a:latin typeface="+mn-lt"/>
                <a:ea typeface="+mn-ea"/>
                <a:cs typeface="+mn-cs"/>
              </a:rPr>
              <a:t>USIS-SAM · Underwater Salient Instance Segmentation</a:t>
            </a:r>
          </a:p>
        </p:txBody>
      </p:sp>
      <p:sp>
        <p:nvSpPr>
          <p:cNvPr id="46" name="TextBox 46"/>
          <p:cNvSpPr txBox="1"/>
          <p:nvPr/>
        </p:nvSpPr>
        <p:spPr>
          <a:xfrm>
            <a:off x="11059290" y="6390799"/>
            <a:ext cx="451863" cy="190690"/>
          </a:xfrm>
          <a:prstGeom prst="rect">
            <a:avLst/>
          </a:prstGeom>
          <a:noFill/>
          <a:ln>
            <a:noFill/>
          </a:ln>
        </p:spPr>
        <p:txBody>
          <a:bodyPr wrap="none" lIns="0" tIns="0" rIns="0" bIns="0" anchor="t" anchorCtr="0">
            <a:spAutoFit/>
          </a:bodyPr>
          <a:lstStyle/>
          <a:p>
            <a:pPr algn="r"/>
            <a:r>
              <a:rPr lang="en-US" sz="980" dirty="0">
                <a:solidFill>
                  <a:srgbClr val="6E93A4"/>
                </a:solidFill>
                <a:latin typeface="+mn-lt"/>
                <a:ea typeface="+mn-ea"/>
                <a:cs typeface="+mn-cs"/>
              </a:rPr>
              <a:t>08 / 10</a:t>
            </a:r>
          </a:p>
        </p:txBody>
      </p:sp>
      <p:sp>
        <p:nvSpPr>
          <p:cNvPr id="47" name="cue_s08_c1_ablations_isolate_component" title="cue_s08_c1_ablations_isolate_component" descr="cue_s08_c1_ablations_isolate_component Ablations isolate each component."/>
          <p:cNvSpPr/>
          <p:nvPr/>
        </p:nvSpPr>
        <p:spPr>
          <a:xfrm>
            <a:off x="686409" y="1638376"/>
            <a:ext cx="10820400" cy="5335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8_c2_starting_full_43_1_map_multi_class" title="cue_s08_c2_starting_full_43_1_map_multi_class" descr="cue_s08_c2_starting_full_43_1_map_multi_class Starting from the full model at 43.1 mAP on the multi-class task, reverting the Underwater Adaptive ViT block to the original drops performance by 1.6 mAP, confirming that adapters help the frozen backbone handle complex marine scenes."/>
          <p:cNvSpPr/>
          <p:nvPr/>
        </p:nvSpPr>
        <p:spPr>
          <a:xfrm>
            <a:off x="5868009" y="2361895"/>
            <a:ext cx="5638800" cy="143880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8_c3_replacing_salient_feature_prompt_gen" title="cue_s08_c3_replacing_salient_feature_prompt_gen" descr="cue_s08_c3_replacing_salient_feature_prompt_gen Replacing the Salient Feature Prompt Generator with a generic Multi-scale Feature Enhancer costs 0.9 mAP, showing it does more than fuse features, it focuses attention on salient regions."/>
          <p:cNvSpPr/>
          <p:nvPr/>
        </p:nvSpPr>
        <p:spPr>
          <a:xfrm>
            <a:off x="5868009" y="3943349"/>
            <a:ext cx="5638800" cy="143880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8_c4_further_ablations_encoder_freezing_c" title="cue_s08_c4_further_ablations_encoder_freezing_c" descr="cue_s08_c4_further_ablations_encoder_freezing_c Further ablations on encoder freezing and the convolution design confirm each choice matters."/>
          <p:cNvSpPr/>
          <p:nvPr/>
        </p:nvSpPr>
        <p:spPr>
          <a:xfrm>
            <a:off x="686409" y="5524804"/>
            <a:ext cx="5143804" cy="55549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0A2233"/>
            </a:gs>
            <a:gs pos="100000">
              <a:srgbClr val="04121B"/>
            </a:gs>
          </a:gsLst>
          <a:lin ang="5400000" scaled="1"/>
        </a:gra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1"/>
              </a:gs>
              <a:gs pos="100000">
                <a:schemeClr val="accent3"/>
              </a:gs>
            </a:gsLst>
            <a:lin ang="0" scaled="1"/>
          </a:gradFill>
          <a:ln>
            <a:noFill/>
          </a:ln>
        </p:spPr>
        <p:txBody>
          <a:bodyPr/>
          <a:p/>
        </p:txBody>
      </p:sp>
      <p:sp>
        <p:nvSpPr>
          <p:cNvPr id="3" name="TextBox 3"/>
          <p:cNvSpPr txBox="1"/>
          <p:nvPr/>
        </p:nvSpPr>
        <p:spPr>
          <a:xfrm>
            <a:off x="679704" y="670560"/>
            <a:ext cx="701581"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09 / 10</a:t>
            </a:r>
          </a:p>
        </p:txBody>
      </p:sp>
      <p:sp>
        <p:nvSpPr>
          <p:cNvPr id="4" name="TextBox 4"/>
          <p:cNvSpPr txBox="1"/>
          <p:nvPr/>
        </p:nvSpPr>
        <p:spPr>
          <a:xfrm>
            <a:off x="671322" y="930592"/>
            <a:ext cx="3377555"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Headline Numbers</a:t>
            </a:r>
          </a:p>
        </p:txBody>
      </p:sp>
      <p:sp>
        <p:nvSpPr>
          <p:cNvPr id="5" name="Rectangle 5"/>
          <p:cNvSpPr/>
          <p:nvPr/>
        </p:nvSpPr>
        <p:spPr>
          <a:xfrm>
            <a:off x="685800" y="1390650"/>
            <a:ext cx="609600" cy="38100"/>
          </a:xfrm>
          <a:prstGeom prst="roundRect">
            <a:avLst>
              <a:gd name="adj" fmla="val 50000"/>
            </a:avLst>
          </a:prstGeom>
          <a:solidFill>
            <a:schemeClr val="accent2"/>
          </a:solidFill>
          <a:ln>
            <a:noFill/>
          </a:ln>
        </p:spPr>
        <p:txBody>
          <a:bodyPr/>
          <a:p/>
        </p:txBody>
      </p:sp>
      <p:grpSp>
        <p:nvGrpSpPr>
          <p:cNvPr id="12" name="Group 12"/>
          <p:cNvGrpSpPr/>
          <p:nvPr/>
        </p:nvGrpSpPr>
        <p:grpSpPr>
          <a:xfrm>
            <a:off x="685800" y="1733550"/>
            <a:ext cx="3429000" cy="1905000"/>
            <a:chOff x="685800" y="1733550"/>
            <a:chExt cx="3429000" cy="1905000"/>
          </a:xfrm>
        </p:grpSpPr>
        <p:sp>
          <p:nvSpPr>
            <p:cNvPr id="6" name="Rectangle 6"/>
            <p:cNvSpPr/>
            <p:nvPr/>
          </p:nvSpPr>
          <p:spPr>
            <a:xfrm>
              <a:off x="685800" y="1733550"/>
              <a:ext cx="3429000" cy="1905000"/>
            </a:xfrm>
            <a:prstGeom prst="roundRect">
              <a:avLst>
                <a:gd name="adj" fmla="val 7000"/>
              </a:avLst>
            </a:prstGeom>
            <a:solidFill>
              <a:schemeClr val="lt2"/>
            </a:solidFill>
            <a:ln w="9525">
              <a:solidFill>
                <a:schemeClr val="accent4"/>
              </a:solidFill>
            </a:ln>
          </p:spPr>
        </p:sp>
        <p:sp>
          <p:nvSpPr>
            <p:cNvPr id="7" name="Rectangle 7"/>
            <p:cNvSpPr/>
            <p:nvPr/>
          </p:nvSpPr>
          <p:spPr>
            <a:xfrm>
              <a:off x="685800" y="1733550"/>
              <a:ext cx="3429000" cy="57150"/>
            </a:xfrm>
            <a:prstGeom prst="roundRect">
              <a:avLst>
                <a:gd name="adj" fmla="val 50000"/>
              </a:avLst>
            </a:prstGeom>
            <a:solidFill>
              <a:schemeClr val="accent2"/>
            </a:solidFill>
            <a:ln>
              <a:noFill/>
            </a:ln>
          </p:spPr>
        </p:sp>
        <p:sp>
          <p:nvSpPr>
            <p:cNvPr id="8" name="TextBox 8"/>
            <p:cNvSpPr txBox="1"/>
            <p:nvPr/>
          </p:nvSpPr>
          <p:spPr>
            <a:xfrm>
              <a:off x="927354" y="1985010"/>
              <a:ext cx="1553505" cy="234696"/>
            </a:xfrm>
            <a:prstGeom prst="rect">
              <a:avLst/>
            </a:prstGeom>
            <a:noFill/>
            <a:ln>
              <a:noFill/>
            </a:ln>
          </p:spPr>
          <p:txBody>
            <a:bodyPr wrap="none" lIns="0" tIns="0" rIns="0" bIns="0" anchor="t" anchorCtr="0">
              <a:spAutoFit/>
            </a:bodyPr>
            <a:lstStyle/>
            <a:p>
              <a:pPr algn="l"/>
              <a:r>
                <a:rPr lang="en-US" sz="1200" b="1" dirty="0">
                  <a:solidFill>
                    <a:schemeClr val="dk2"/>
                  </a:solidFill>
                  <a:latin typeface="+mn-lt"/>
                  <a:ea typeface="+mn-ea"/>
                  <a:cs typeface="+mn-cs"/>
                </a:rPr>
                <a:t>DATASET — USIS10K</a:t>
              </a:r>
            </a:p>
          </p:txBody>
        </p:sp>
        <p:sp>
          <p:nvSpPr>
            <p:cNvPr id="9" name="TextBox 9"/>
            <p:cNvSpPr txBox="1"/>
            <p:nvPr/>
          </p:nvSpPr>
          <p:spPr>
            <a:xfrm>
              <a:off x="914400" y="2371725"/>
              <a:ext cx="2137162" cy="876300"/>
            </a:xfrm>
            <a:prstGeom prst="rect">
              <a:avLst/>
            </a:prstGeom>
            <a:noFill/>
            <a:ln>
              <a:noFill/>
            </a:ln>
          </p:spPr>
          <p:txBody>
            <a:bodyPr wrap="none" lIns="0" tIns="0" rIns="0" bIns="0" anchor="t" anchorCtr="0">
              <a:spAutoFit/>
            </a:bodyPr>
            <a:lstStyle/>
            <a:p>
              <a:pPr algn="l"/>
              <a:r>
                <a:rPr lang="en-US" sz="4500" b="1" dirty="0">
                  <a:solidFill>
                    <a:schemeClr val="accent2"/>
                  </a:solidFill>
                  <a:latin typeface="+mn-lt"/>
                  <a:ea typeface="+mn-ea"/>
                  <a:cs typeface="+mn-cs"/>
                </a:rPr>
                <a:t>10,632</a:t>
              </a:r>
            </a:p>
          </p:txBody>
        </p:sp>
        <p:sp>
          <p:nvSpPr>
            <p:cNvPr id="10" name="TextBox 10"/>
            <p:cNvSpPr txBox="1"/>
            <p:nvPr/>
          </p:nvSpPr>
          <p:spPr>
            <a:xfrm>
              <a:off x="926211" y="3046571"/>
              <a:ext cx="278630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annotated underwater images</a:t>
              </a:r>
            </a:p>
          </p:txBody>
        </p:sp>
        <p:sp>
          <p:nvSpPr>
            <p:cNvPr id="11" name="TextBox 11"/>
            <p:cNvSpPr txBox="1"/>
            <p:nvPr/>
          </p:nvSpPr>
          <p:spPr>
            <a:xfrm>
              <a:off x="925830" y="3305175"/>
              <a:ext cx="2623166"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7 categories · pixel-level</a:t>
              </a:r>
            </a:p>
          </p:txBody>
        </p:sp>
      </p:grpSp>
      <p:grpSp>
        <p:nvGrpSpPr>
          <p:cNvPr id="29" name="Group 29"/>
          <p:cNvGrpSpPr/>
          <p:nvPr/>
        </p:nvGrpSpPr>
        <p:grpSpPr>
          <a:xfrm>
            <a:off x="4343400" y="1733550"/>
            <a:ext cx="7162800" cy="1905000"/>
            <a:chOff x="4343400" y="1733550"/>
            <a:chExt cx="7162800" cy="1905000"/>
          </a:xfrm>
        </p:grpSpPr>
        <p:sp>
          <p:nvSpPr>
            <p:cNvPr id="13" name="Rectangle 13"/>
            <p:cNvSpPr/>
            <p:nvPr/>
          </p:nvSpPr>
          <p:spPr>
            <a:xfrm>
              <a:off x="4343400" y="1733550"/>
              <a:ext cx="1676400" cy="1905000"/>
            </a:xfrm>
            <a:prstGeom prst="roundRect">
              <a:avLst>
                <a:gd name="adj" fmla="val 7955"/>
              </a:avLst>
            </a:prstGeom>
            <a:solidFill>
              <a:schemeClr val="accent5"/>
            </a:solidFill>
            <a:ln w="9525">
              <a:solidFill>
                <a:schemeClr val="accent4"/>
              </a:solidFill>
            </a:ln>
          </p:spPr>
        </p:sp>
        <p:sp>
          <p:nvSpPr>
            <p:cNvPr id="14" name="TextBox 14"/>
            <p:cNvSpPr txBox="1"/>
            <p:nvPr/>
          </p:nvSpPr>
          <p:spPr>
            <a:xfrm>
              <a:off x="4667402" y="2115502"/>
              <a:ext cx="1028395"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class-agnostic</a:t>
              </a:r>
            </a:p>
          </p:txBody>
        </p:sp>
        <p:sp>
          <p:nvSpPr>
            <p:cNvPr id="15" name="TextBox 15"/>
            <p:cNvSpPr txBox="1"/>
            <p:nvPr/>
          </p:nvSpPr>
          <p:spPr>
            <a:xfrm>
              <a:off x="4603562" y="2392680"/>
              <a:ext cx="1156076" cy="704088"/>
            </a:xfrm>
            <a:prstGeom prst="rect">
              <a:avLst/>
            </a:prstGeom>
            <a:noFill/>
            <a:ln>
              <a:noFill/>
            </a:ln>
          </p:spPr>
          <p:txBody>
            <a:bodyPr wrap="none" lIns="0" tIns="0" rIns="0" bIns="0" anchor="t" anchorCtr="0">
              <a:spAutoFit/>
            </a:bodyPr>
            <a:lstStyle/>
            <a:p>
              <a:pPr algn="ctr"/>
              <a:r>
                <a:rPr lang="en-US" sz="3600" b="1" dirty="0">
                  <a:solidFill>
                    <a:schemeClr val="accent1"/>
                  </a:solidFill>
                  <a:latin typeface="+mn-lt"/>
                  <a:ea typeface="+mn-ea"/>
                  <a:cs typeface="+mn-cs"/>
                </a:rPr>
                <a:t>59.7</a:t>
              </a:r>
            </a:p>
          </p:txBody>
        </p:sp>
        <p:sp>
          <p:nvSpPr>
            <p:cNvPr id="16" name="TextBox 16"/>
            <p:cNvSpPr txBox="1"/>
            <p:nvPr/>
          </p:nvSpPr>
          <p:spPr>
            <a:xfrm>
              <a:off x="4718173" y="2937510"/>
              <a:ext cx="926853"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mAP · SOTA</a:t>
              </a:r>
            </a:p>
          </p:txBody>
        </p:sp>
        <p:sp>
          <p:nvSpPr>
            <p:cNvPr id="17" name="Rectangle 17"/>
            <p:cNvSpPr/>
            <p:nvPr/>
          </p:nvSpPr>
          <p:spPr>
            <a:xfrm>
              <a:off x="6172200" y="1733550"/>
              <a:ext cx="1676400" cy="1905000"/>
            </a:xfrm>
            <a:prstGeom prst="roundRect">
              <a:avLst>
                <a:gd name="adj" fmla="val 7955"/>
              </a:avLst>
            </a:prstGeom>
            <a:solidFill>
              <a:schemeClr val="accent5"/>
            </a:solidFill>
            <a:ln w="9525">
              <a:solidFill>
                <a:schemeClr val="accent4"/>
              </a:solidFill>
            </a:ln>
          </p:spPr>
        </p:sp>
        <p:sp>
          <p:nvSpPr>
            <p:cNvPr id="18" name="TextBox 18"/>
            <p:cNvSpPr txBox="1"/>
            <p:nvPr/>
          </p:nvSpPr>
          <p:spPr>
            <a:xfrm>
              <a:off x="6698894" y="2115502"/>
              <a:ext cx="623011"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AP @ 50%</a:t>
              </a:r>
            </a:p>
          </p:txBody>
        </p:sp>
        <p:sp>
          <p:nvSpPr>
            <p:cNvPr id="19" name="TextBox 19"/>
            <p:cNvSpPr txBox="1"/>
            <p:nvPr/>
          </p:nvSpPr>
          <p:spPr>
            <a:xfrm>
              <a:off x="6432362" y="2392680"/>
              <a:ext cx="1156076" cy="704088"/>
            </a:xfrm>
            <a:prstGeom prst="rect">
              <a:avLst/>
            </a:prstGeom>
            <a:noFill/>
            <a:ln>
              <a:noFill/>
            </a:ln>
          </p:spPr>
          <p:txBody>
            <a:bodyPr wrap="none" lIns="0" tIns="0" rIns="0" bIns="0" anchor="t" anchorCtr="0">
              <a:spAutoFit/>
            </a:bodyPr>
            <a:lstStyle/>
            <a:p>
              <a:pPr algn="ctr"/>
              <a:r>
                <a:rPr lang="en-US" sz="3600" b="1" dirty="0">
                  <a:solidFill>
                    <a:schemeClr val="dk1"/>
                  </a:solidFill>
                  <a:latin typeface="+mn-lt"/>
                  <a:ea typeface="+mn-ea"/>
                  <a:cs typeface="+mn-cs"/>
                </a:rPr>
                <a:t>81.6</a:t>
              </a:r>
            </a:p>
          </p:txBody>
        </p:sp>
        <p:sp>
          <p:nvSpPr>
            <p:cNvPr id="20" name="TextBox 20"/>
            <p:cNvSpPr txBox="1"/>
            <p:nvPr/>
          </p:nvSpPr>
          <p:spPr>
            <a:xfrm>
              <a:off x="6816547" y="2937510"/>
              <a:ext cx="387706" cy="234696"/>
            </a:xfrm>
            <a:prstGeom prst="rect">
              <a:avLst/>
            </a:prstGeom>
            <a:noFill/>
            <a:ln>
              <a:noFill/>
            </a:ln>
          </p:spPr>
          <p:txBody>
            <a:bodyPr wrap="none" lIns="0" tIns="0" rIns="0" bIns="0" anchor="t" anchorCtr="0">
              <a:spAutoFit/>
            </a:bodyPr>
            <a:lstStyle/>
            <a:p>
              <a:pPr algn="ctr"/>
              <a:r>
                <a:rPr lang="en-US" sz="1200" dirty="0">
                  <a:solidFill>
                    <a:srgbClr val="6E93A4"/>
                  </a:solidFill>
                  <a:latin typeface="+mn-lt"/>
                  <a:ea typeface="+mn-ea"/>
                  <a:cs typeface="+mn-cs"/>
                </a:rPr>
                <a:t>AP50</a:t>
              </a:r>
            </a:p>
          </p:txBody>
        </p:sp>
        <p:sp>
          <p:nvSpPr>
            <p:cNvPr id="21" name="Rectangle 21"/>
            <p:cNvSpPr/>
            <p:nvPr/>
          </p:nvSpPr>
          <p:spPr>
            <a:xfrm>
              <a:off x="8001000" y="1733550"/>
              <a:ext cx="1676400" cy="1905000"/>
            </a:xfrm>
            <a:prstGeom prst="roundRect">
              <a:avLst>
                <a:gd name="adj" fmla="val 7955"/>
              </a:avLst>
            </a:prstGeom>
            <a:solidFill>
              <a:schemeClr val="accent5"/>
            </a:solidFill>
            <a:ln w="9525">
              <a:solidFill>
                <a:schemeClr val="accent4"/>
              </a:solidFill>
            </a:ln>
          </p:spPr>
        </p:sp>
        <p:sp>
          <p:nvSpPr>
            <p:cNvPr id="22" name="TextBox 22"/>
            <p:cNvSpPr txBox="1"/>
            <p:nvPr/>
          </p:nvSpPr>
          <p:spPr>
            <a:xfrm>
              <a:off x="8527694" y="2115502"/>
              <a:ext cx="623011"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AP @ 75%</a:t>
              </a:r>
            </a:p>
          </p:txBody>
        </p:sp>
        <p:sp>
          <p:nvSpPr>
            <p:cNvPr id="23" name="TextBox 23"/>
            <p:cNvSpPr txBox="1"/>
            <p:nvPr/>
          </p:nvSpPr>
          <p:spPr>
            <a:xfrm>
              <a:off x="8261162" y="2392680"/>
              <a:ext cx="1156076" cy="704088"/>
            </a:xfrm>
            <a:prstGeom prst="rect">
              <a:avLst/>
            </a:prstGeom>
            <a:noFill/>
            <a:ln>
              <a:noFill/>
            </a:ln>
          </p:spPr>
          <p:txBody>
            <a:bodyPr wrap="none" lIns="0" tIns="0" rIns="0" bIns="0" anchor="t" anchorCtr="0">
              <a:spAutoFit/>
            </a:bodyPr>
            <a:lstStyle/>
            <a:p>
              <a:pPr algn="ctr"/>
              <a:r>
                <a:rPr lang="en-US" sz="3600" b="1" dirty="0">
                  <a:solidFill>
                    <a:schemeClr val="dk1"/>
                  </a:solidFill>
                  <a:latin typeface="+mn-lt"/>
                  <a:ea typeface="+mn-ea"/>
                  <a:cs typeface="+mn-cs"/>
                </a:rPr>
                <a:t>67.7</a:t>
              </a:r>
            </a:p>
          </p:txBody>
        </p:sp>
        <p:sp>
          <p:nvSpPr>
            <p:cNvPr id="24" name="TextBox 24"/>
            <p:cNvSpPr txBox="1"/>
            <p:nvPr/>
          </p:nvSpPr>
          <p:spPr>
            <a:xfrm>
              <a:off x="8645347" y="2937510"/>
              <a:ext cx="387706" cy="234696"/>
            </a:xfrm>
            <a:prstGeom prst="rect">
              <a:avLst/>
            </a:prstGeom>
            <a:noFill/>
            <a:ln>
              <a:noFill/>
            </a:ln>
          </p:spPr>
          <p:txBody>
            <a:bodyPr wrap="none" lIns="0" tIns="0" rIns="0" bIns="0" anchor="t" anchorCtr="0">
              <a:spAutoFit/>
            </a:bodyPr>
            <a:lstStyle/>
            <a:p>
              <a:pPr algn="ctr"/>
              <a:r>
                <a:rPr lang="en-US" sz="1200" dirty="0">
                  <a:solidFill>
                    <a:srgbClr val="6E93A4"/>
                  </a:solidFill>
                  <a:latin typeface="+mn-lt"/>
                  <a:ea typeface="+mn-ea"/>
                  <a:cs typeface="+mn-cs"/>
                </a:rPr>
                <a:t>AP75</a:t>
              </a:r>
            </a:p>
          </p:txBody>
        </p:sp>
        <p:sp>
          <p:nvSpPr>
            <p:cNvPr id="25" name="Rectangle 25"/>
            <p:cNvSpPr/>
            <p:nvPr/>
          </p:nvSpPr>
          <p:spPr>
            <a:xfrm>
              <a:off x="9829800" y="1733550"/>
              <a:ext cx="1676400" cy="1905000"/>
            </a:xfrm>
            <a:prstGeom prst="roundRect">
              <a:avLst>
                <a:gd name="adj" fmla="val 7955"/>
              </a:avLst>
            </a:prstGeom>
            <a:solidFill>
              <a:schemeClr val="accent5"/>
            </a:solidFill>
            <a:ln w="9525">
              <a:solidFill>
                <a:schemeClr val="accent4"/>
              </a:solidFill>
            </a:ln>
          </p:spPr>
        </p:sp>
        <p:sp>
          <p:nvSpPr>
            <p:cNvPr id="26" name="TextBox 26"/>
            <p:cNvSpPr txBox="1"/>
            <p:nvPr/>
          </p:nvSpPr>
          <p:spPr>
            <a:xfrm>
              <a:off x="10273951" y="2115502"/>
              <a:ext cx="78809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multi-class</a:t>
              </a:r>
            </a:p>
          </p:txBody>
        </p:sp>
        <p:sp>
          <p:nvSpPr>
            <p:cNvPr id="27" name="TextBox 27"/>
            <p:cNvSpPr txBox="1"/>
            <p:nvPr/>
          </p:nvSpPr>
          <p:spPr>
            <a:xfrm>
              <a:off x="10089962" y="2392680"/>
              <a:ext cx="1156076" cy="704088"/>
            </a:xfrm>
            <a:prstGeom prst="rect">
              <a:avLst/>
            </a:prstGeom>
            <a:noFill/>
            <a:ln>
              <a:noFill/>
            </a:ln>
          </p:spPr>
          <p:txBody>
            <a:bodyPr wrap="none" lIns="0" tIns="0" rIns="0" bIns="0" anchor="t" anchorCtr="0">
              <a:spAutoFit/>
            </a:bodyPr>
            <a:lstStyle/>
            <a:p>
              <a:pPr algn="ctr"/>
              <a:r>
                <a:rPr lang="en-US" sz="3600" b="1" dirty="0">
                  <a:solidFill>
                    <a:schemeClr val="accent1"/>
                  </a:solidFill>
                  <a:latin typeface="+mn-lt"/>
                  <a:ea typeface="+mn-ea"/>
                  <a:cs typeface="+mn-cs"/>
                </a:rPr>
                <a:t>43.1</a:t>
              </a:r>
            </a:p>
          </p:txBody>
        </p:sp>
        <p:sp>
          <p:nvSpPr>
            <p:cNvPr id="28" name="TextBox 28"/>
            <p:cNvSpPr txBox="1"/>
            <p:nvPr/>
          </p:nvSpPr>
          <p:spPr>
            <a:xfrm>
              <a:off x="10204573" y="2937510"/>
              <a:ext cx="926853"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mAP · SOTA</a:t>
              </a:r>
            </a:p>
          </p:txBody>
        </p:sp>
      </p:grpSp>
      <p:grpSp>
        <p:nvGrpSpPr>
          <p:cNvPr id="40" name="Group 40"/>
          <p:cNvGrpSpPr/>
          <p:nvPr/>
        </p:nvGrpSpPr>
        <p:grpSpPr>
          <a:xfrm>
            <a:off x="685800" y="3867150"/>
            <a:ext cx="5334000" cy="1981200"/>
            <a:chOff x="685800" y="3867150"/>
            <a:chExt cx="5334000" cy="1981200"/>
          </a:xfrm>
        </p:grpSpPr>
        <p:sp>
          <p:nvSpPr>
            <p:cNvPr id="30" name="Rectangle 30"/>
            <p:cNvSpPr/>
            <p:nvPr/>
          </p:nvSpPr>
          <p:spPr>
            <a:xfrm>
              <a:off x="685800" y="3867150"/>
              <a:ext cx="2552700" cy="1981200"/>
            </a:xfrm>
            <a:prstGeom prst="roundRect">
              <a:avLst>
                <a:gd name="adj" fmla="val 6731"/>
              </a:avLst>
            </a:prstGeom>
            <a:solidFill>
              <a:schemeClr val="lt2"/>
            </a:solidFill>
            <a:ln w="9525">
              <a:solidFill>
                <a:schemeClr val="accent4"/>
              </a:solidFill>
            </a:ln>
          </p:spPr>
        </p:sp>
        <p:sp>
          <p:nvSpPr>
            <p:cNvPr id="31" name="TextBox 31"/>
            <p:cNvSpPr txBox="1"/>
            <p:nvPr/>
          </p:nvSpPr>
          <p:spPr>
            <a:xfrm>
              <a:off x="927735" y="4107656"/>
              <a:ext cx="1243733"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UA-ViT ENCODER</a:t>
              </a:r>
            </a:p>
          </p:txBody>
        </p:sp>
        <p:sp>
          <p:nvSpPr>
            <p:cNvPr id="32" name="TextBox 32"/>
            <p:cNvSpPr txBox="1"/>
            <p:nvPr/>
          </p:nvSpPr>
          <p:spPr>
            <a:xfrm>
              <a:off x="914400" y="4423410"/>
              <a:ext cx="1344183" cy="819150"/>
            </a:xfrm>
            <a:prstGeom prst="rect">
              <a:avLst/>
            </a:prstGeom>
            <a:noFill/>
            <a:ln>
              <a:noFill/>
            </a:ln>
          </p:spPr>
          <p:txBody>
            <a:bodyPr wrap="none" lIns="0" tIns="0" rIns="0" bIns="0" anchor="t" anchorCtr="0">
              <a:spAutoFit/>
            </a:bodyPr>
            <a:lstStyle/>
            <a:p>
              <a:pPr algn="l"/>
              <a:r>
                <a:rPr lang="en-US" sz="4200" b="1" dirty="0">
                  <a:solidFill>
                    <a:schemeClr val="accent2"/>
                  </a:solidFill>
                  <a:latin typeface="+mn-lt"/>
                  <a:ea typeface="+mn-ea"/>
                  <a:cs typeface="+mn-cs"/>
                </a:rPr>
                <a:t>+1.6</a:t>
              </a:r>
            </a:p>
          </p:txBody>
        </p:sp>
        <p:sp>
          <p:nvSpPr>
            <p:cNvPr id="33" name="TextBox 33"/>
            <p:cNvSpPr txBox="1"/>
            <p:nvPr/>
          </p:nvSpPr>
          <p:spPr>
            <a:xfrm>
              <a:off x="926973" y="5063014"/>
              <a:ext cx="144527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mAP contribution</a:t>
              </a:r>
            </a:p>
          </p:txBody>
        </p:sp>
        <p:sp>
          <p:nvSpPr>
            <p:cNvPr id="34" name="TextBox 34"/>
            <p:cNvSpPr txBox="1"/>
            <p:nvPr/>
          </p:nvSpPr>
          <p:spPr>
            <a:xfrm>
              <a:off x="928116" y="5411152"/>
              <a:ext cx="2067325" cy="205359"/>
            </a:xfrm>
            <a:prstGeom prst="rect">
              <a:avLst/>
            </a:prstGeom>
            <a:noFill/>
            <a:ln>
              <a:noFill/>
            </a:ln>
          </p:spPr>
          <p:txBody>
            <a:bodyPr wrap="none" lIns="0" tIns="0" rIns="0" bIns="0" anchor="t" anchorCtr="0">
              <a:spAutoFit/>
            </a:bodyPr>
            <a:lstStyle/>
            <a:p>
              <a:pPr algn="l"/>
              <a:r>
                <a:rPr lang="en-US" sz="1050" dirty="0">
                  <a:solidFill>
                    <a:srgbClr val="6E93A4"/>
                  </a:solidFill>
                  <a:latin typeface="+mn-lt"/>
                  <a:ea typeface="+mn-ea"/>
                  <a:cs typeface="+mn-cs"/>
                </a:rPr>
                <a:t>injects underwater knowledge</a:t>
              </a:r>
            </a:p>
          </p:txBody>
        </p:sp>
        <p:sp>
          <p:nvSpPr>
            <p:cNvPr id="35" name="Rectangle 35"/>
            <p:cNvSpPr/>
            <p:nvPr/>
          </p:nvSpPr>
          <p:spPr>
            <a:xfrm>
              <a:off x="3467100" y="3867150"/>
              <a:ext cx="2552700" cy="1981200"/>
            </a:xfrm>
            <a:prstGeom prst="roundRect">
              <a:avLst>
                <a:gd name="adj" fmla="val 6731"/>
              </a:avLst>
            </a:prstGeom>
            <a:solidFill>
              <a:schemeClr val="lt2"/>
            </a:solidFill>
            <a:ln w="9525">
              <a:solidFill>
                <a:schemeClr val="accent4"/>
              </a:solidFill>
            </a:ln>
          </p:spPr>
        </p:sp>
        <p:sp>
          <p:nvSpPr>
            <p:cNvPr id="36" name="TextBox 36"/>
            <p:cNvSpPr txBox="1"/>
            <p:nvPr/>
          </p:nvSpPr>
          <p:spPr>
            <a:xfrm>
              <a:off x="3709035" y="4107656"/>
              <a:ext cx="379433"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SFPG</a:t>
              </a:r>
            </a:p>
          </p:txBody>
        </p:sp>
        <p:sp>
          <p:nvSpPr>
            <p:cNvPr id="37" name="TextBox 37"/>
            <p:cNvSpPr txBox="1"/>
            <p:nvPr/>
          </p:nvSpPr>
          <p:spPr>
            <a:xfrm>
              <a:off x="3695700" y="4423410"/>
              <a:ext cx="1344183" cy="819150"/>
            </a:xfrm>
            <a:prstGeom prst="rect">
              <a:avLst/>
            </a:prstGeom>
            <a:noFill/>
            <a:ln>
              <a:noFill/>
            </a:ln>
          </p:spPr>
          <p:txBody>
            <a:bodyPr wrap="none" lIns="0" tIns="0" rIns="0" bIns="0" anchor="t" anchorCtr="0">
              <a:spAutoFit/>
            </a:bodyPr>
            <a:lstStyle/>
            <a:p>
              <a:pPr algn="l"/>
              <a:r>
                <a:rPr lang="en-US" sz="4200" b="1" dirty="0">
                  <a:solidFill>
                    <a:schemeClr val="accent1"/>
                  </a:solidFill>
                  <a:latin typeface="+mn-lt"/>
                  <a:ea typeface="+mn-ea"/>
                  <a:cs typeface="+mn-cs"/>
                </a:rPr>
                <a:t>+0.9</a:t>
              </a:r>
            </a:p>
          </p:txBody>
        </p:sp>
        <p:sp>
          <p:nvSpPr>
            <p:cNvPr id="38" name="TextBox 38"/>
            <p:cNvSpPr txBox="1"/>
            <p:nvPr/>
          </p:nvSpPr>
          <p:spPr>
            <a:xfrm>
              <a:off x="3708273" y="5063014"/>
              <a:ext cx="144527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mAP contribution</a:t>
              </a:r>
            </a:p>
          </p:txBody>
        </p:sp>
        <p:sp>
          <p:nvSpPr>
            <p:cNvPr id="39" name="TextBox 39"/>
            <p:cNvSpPr txBox="1"/>
            <p:nvPr/>
          </p:nvSpPr>
          <p:spPr>
            <a:xfrm>
              <a:off x="3709416" y="5411152"/>
              <a:ext cx="1883569" cy="205359"/>
            </a:xfrm>
            <a:prstGeom prst="rect">
              <a:avLst/>
            </a:prstGeom>
            <a:noFill/>
            <a:ln>
              <a:noFill/>
            </a:ln>
          </p:spPr>
          <p:txBody>
            <a:bodyPr wrap="none" lIns="0" tIns="0" rIns="0" bIns="0" anchor="t" anchorCtr="0">
              <a:spAutoFit/>
            </a:bodyPr>
            <a:lstStyle/>
            <a:p>
              <a:pPr algn="l"/>
              <a:r>
                <a:rPr lang="en-US" sz="1050" dirty="0">
                  <a:solidFill>
                    <a:srgbClr val="6E93A4"/>
                  </a:solidFill>
                  <a:latin typeface="+mn-lt"/>
                  <a:ea typeface="+mn-ea"/>
                  <a:cs typeface="+mn-cs"/>
                </a:rPr>
                <a:t>self-prompting + attention</a:t>
              </a:r>
            </a:p>
          </p:txBody>
        </p:sp>
      </p:grpSp>
      <p:grpSp>
        <p:nvGrpSpPr>
          <p:cNvPr id="51" name="Group 51"/>
          <p:cNvGrpSpPr/>
          <p:nvPr/>
        </p:nvGrpSpPr>
        <p:grpSpPr>
          <a:xfrm>
            <a:off x="6248400" y="3867150"/>
            <a:ext cx="5257800" cy="1981200"/>
            <a:chOff x="6248400" y="3867150"/>
            <a:chExt cx="5257800" cy="1981200"/>
          </a:xfrm>
        </p:grpSpPr>
        <p:sp>
          <p:nvSpPr>
            <p:cNvPr id="41" name="Rectangle 41"/>
            <p:cNvSpPr/>
            <p:nvPr/>
          </p:nvSpPr>
          <p:spPr>
            <a:xfrm>
              <a:off x="6248400" y="3867150"/>
              <a:ext cx="5257800" cy="1981200"/>
            </a:xfrm>
            <a:prstGeom prst="roundRect">
              <a:avLst>
                <a:gd name="adj" fmla="val 6731"/>
              </a:avLst>
            </a:prstGeom>
            <a:solidFill>
              <a:schemeClr val="lt2"/>
            </a:solidFill>
            <a:ln w="9525">
              <a:solidFill>
                <a:schemeClr val="accent4"/>
              </a:solidFill>
            </a:ln>
          </p:spPr>
        </p:sp>
        <p:sp>
          <p:nvSpPr>
            <p:cNvPr id="42" name="TextBox 42"/>
            <p:cNvSpPr txBox="1"/>
            <p:nvPr/>
          </p:nvSpPr>
          <p:spPr>
            <a:xfrm>
              <a:off x="6490335" y="4107656"/>
              <a:ext cx="1173986"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TRAINING SETUP</a:t>
              </a:r>
            </a:p>
          </p:txBody>
        </p:sp>
        <p:sp>
          <p:nvSpPr>
            <p:cNvPr id="43" name="TextBox 43"/>
            <p:cNvSpPr txBox="1"/>
            <p:nvPr/>
          </p:nvSpPr>
          <p:spPr>
            <a:xfrm>
              <a:off x="6819910" y="4561522"/>
              <a:ext cx="571479" cy="674751"/>
            </a:xfrm>
            <a:prstGeom prst="rect">
              <a:avLst/>
            </a:prstGeom>
            <a:noFill/>
            <a:ln>
              <a:noFill/>
            </a:ln>
          </p:spPr>
          <p:txBody>
            <a:bodyPr wrap="none" lIns="0" tIns="0" rIns="0" bIns="0" anchor="t" anchorCtr="0">
              <a:spAutoFit/>
            </a:bodyPr>
            <a:lstStyle/>
            <a:p>
              <a:pPr algn="ctr"/>
              <a:r>
                <a:rPr lang="en-US" sz="3450" b="1" dirty="0">
                  <a:solidFill>
                    <a:schemeClr val="accent3"/>
                  </a:solidFill>
                  <a:latin typeface="+mn-lt"/>
                  <a:ea typeface="+mn-ea"/>
                  <a:cs typeface="+mn-cs"/>
                </a:rPr>
                <a:t>24</a:t>
              </a:r>
            </a:p>
          </p:txBody>
        </p:sp>
        <p:sp>
          <p:nvSpPr>
            <p:cNvPr id="44" name="TextBox 44"/>
            <p:cNvSpPr txBox="1"/>
            <p:nvPr/>
          </p:nvSpPr>
          <p:spPr>
            <a:xfrm>
              <a:off x="6833006" y="5128260"/>
              <a:ext cx="545287"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epochs</a:t>
              </a:r>
            </a:p>
          </p:txBody>
        </p:sp>
        <p:sp>
          <p:nvSpPr>
            <p:cNvPr id="45" name="TextBox 45"/>
            <p:cNvSpPr txBox="1"/>
            <p:nvPr/>
          </p:nvSpPr>
          <p:spPr>
            <a:xfrm>
              <a:off x="8629660" y="4561522"/>
              <a:ext cx="571479" cy="674751"/>
            </a:xfrm>
            <a:prstGeom prst="rect">
              <a:avLst/>
            </a:prstGeom>
            <a:noFill/>
            <a:ln>
              <a:noFill/>
            </a:ln>
          </p:spPr>
          <p:txBody>
            <a:bodyPr wrap="none" lIns="0" tIns="0" rIns="0" bIns="0" anchor="t" anchorCtr="0">
              <a:spAutoFit/>
            </a:bodyPr>
            <a:lstStyle/>
            <a:p>
              <a:pPr algn="ctr"/>
              <a:r>
                <a:rPr lang="en-US" sz="3450" b="1" dirty="0">
                  <a:solidFill>
                    <a:schemeClr val="accent3"/>
                  </a:solidFill>
                  <a:latin typeface="+mn-lt"/>
                  <a:ea typeface="+mn-ea"/>
                  <a:cs typeface="+mn-cs"/>
                </a:rPr>
                <a:t>6×</a:t>
              </a:r>
            </a:p>
          </p:txBody>
        </p:sp>
        <p:sp>
          <p:nvSpPr>
            <p:cNvPr id="46" name="TextBox 46"/>
            <p:cNvSpPr txBox="1"/>
            <p:nvPr/>
          </p:nvSpPr>
          <p:spPr>
            <a:xfrm>
              <a:off x="8456981" y="5128260"/>
              <a:ext cx="916838"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NVIDIA 3090</a:t>
              </a:r>
            </a:p>
          </p:txBody>
        </p:sp>
        <p:sp>
          <p:nvSpPr>
            <p:cNvPr id="47" name="TextBox 47"/>
            <p:cNvSpPr txBox="1"/>
            <p:nvPr/>
          </p:nvSpPr>
          <p:spPr>
            <a:xfrm>
              <a:off x="10157341" y="4610100"/>
              <a:ext cx="1135618" cy="586740"/>
            </a:xfrm>
            <a:prstGeom prst="rect">
              <a:avLst/>
            </a:prstGeom>
            <a:noFill/>
            <a:ln>
              <a:noFill/>
            </a:ln>
          </p:spPr>
          <p:txBody>
            <a:bodyPr wrap="none" lIns="0" tIns="0" rIns="0" bIns="0" anchor="t" anchorCtr="0">
              <a:spAutoFit/>
            </a:bodyPr>
            <a:lstStyle/>
            <a:p>
              <a:pPr algn="ctr"/>
              <a:r>
                <a:rPr lang="en-US" sz="3000" b="1" dirty="0">
                  <a:solidFill>
                    <a:schemeClr val="accent3"/>
                  </a:solidFill>
                  <a:latin typeface="+mn-lt"/>
                  <a:ea typeface="+mn-ea"/>
                  <a:cs typeface="+mn-cs"/>
                </a:rPr>
                <a:t>ViT-H</a:t>
              </a:r>
            </a:p>
          </p:txBody>
        </p:sp>
        <p:sp>
          <p:nvSpPr>
            <p:cNvPr id="48" name="TextBox 48"/>
            <p:cNvSpPr txBox="1"/>
            <p:nvPr/>
          </p:nvSpPr>
          <p:spPr>
            <a:xfrm>
              <a:off x="10363657" y="5128260"/>
              <a:ext cx="722986"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backbone</a:t>
              </a:r>
            </a:p>
          </p:txBody>
        </p:sp>
        <p:sp>
          <p:nvSpPr>
            <p:cNvPr id="49" name="Line 49"/>
            <p:cNvSpPr/>
            <p:nvPr/>
          </p:nvSpPr>
          <p:spPr>
            <a:xfrm>
              <a:off x="8058150" y="4476750"/>
              <a:ext cx="9525" cy="1009650"/>
            </a:xfrm>
            <a:custGeom>
              <a:avLst/>
              <a:gdLst/>
              <a:ahLst/>
              <a:cxnLst/>
              <a:rect l="l" t="t" r="r" b="b"/>
              <a:pathLst>
                <a:path w="9525" h="1009650">
                  <a:moveTo>
                    <a:pt x="0" y="0"/>
                  </a:moveTo>
                  <a:lnTo>
                    <a:pt x="0" y="1009650"/>
                  </a:lnTo>
                </a:path>
              </a:pathLst>
            </a:custGeom>
            <a:noFill/>
            <a:ln w="9525">
              <a:solidFill>
                <a:schemeClr val="accent4"/>
              </a:solidFill>
            </a:ln>
          </p:spPr>
        </p:sp>
        <p:sp>
          <p:nvSpPr>
            <p:cNvPr id="50" name="Line 50"/>
            <p:cNvSpPr/>
            <p:nvPr/>
          </p:nvSpPr>
          <p:spPr>
            <a:xfrm>
              <a:off x="9772650" y="4476750"/>
              <a:ext cx="9525" cy="1009650"/>
            </a:xfrm>
            <a:custGeom>
              <a:avLst/>
              <a:gdLst/>
              <a:ahLst/>
              <a:cxnLst/>
              <a:rect l="l" t="t" r="r" b="b"/>
              <a:pathLst>
                <a:path w="9525" h="1009650">
                  <a:moveTo>
                    <a:pt x="0" y="0"/>
                  </a:moveTo>
                  <a:lnTo>
                    <a:pt x="0" y="1009650"/>
                  </a:lnTo>
                </a:path>
              </a:pathLst>
            </a:custGeom>
            <a:noFill/>
            <a:ln w="9525">
              <a:solidFill>
                <a:schemeClr val="accent4"/>
              </a:solidFill>
            </a:ln>
          </p:spPr>
        </p:sp>
      </p:grpSp>
      <p:sp>
        <p:nvSpPr>
          <p:cNvPr id="52" name="Line 52"/>
          <p:cNvSpPr/>
          <p:nvPr/>
        </p:nvSpPr>
        <p:spPr>
          <a:xfrm>
            <a:off x="685800" y="622935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sp>
        <p:nvSpPr>
          <p:cNvPr id="53" name="TextBox 53"/>
          <p:cNvSpPr txBox="1"/>
          <p:nvPr/>
        </p:nvSpPr>
        <p:spPr>
          <a:xfrm>
            <a:off x="680847" y="6390799"/>
            <a:ext cx="3508632" cy="190690"/>
          </a:xfrm>
          <a:prstGeom prst="rect">
            <a:avLst/>
          </a:prstGeom>
          <a:noFill/>
          <a:ln>
            <a:noFill/>
          </a:ln>
        </p:spPr>
        <p:txBody>
          <a:bodyPr wrap="none" lIns="0" tIns="0" rIns="0" bIns="0" anchor="t" anchorCtr="0">
            <a:spAutoFit/>
          </a:bodyPr>
          <a:lstStyle/>
          <a:p>
            <a:pPr algn="l"/>
            <a:r>
              <a:rPr lang="en-US" sz="980" dirty="0">
                <a:solidFill>
                  <a:srgbClr val="6E93A4"/>
                </a:solidFill>
                <a:latin typeface="+mn-lt"/>
                <a:ea typeface="+mn-ea"/>
                <a:cs typeface="+mn-cs"/>
              </a:rPr>
              <a:t>USIS-SAM · Underwater Salient Instance Segmentation</a:t>
            </a:r>
          </a:p>
        </p:txBody>
      </p:sp>
      <p:sp>
        <p:nvSpPr>
          <p:cNvPr id="54" name="TextBox 54"/>
          <p:cNvSpPr txBox="1"/>
          <p:nvPr/>
        </p:nvSpPr>
        <p:spPr>
          <a:xfrm>
            <a:off x="11059290" y="6390799"/>
            <a:ext cx="451863" cy="190690"/>
          </a:xfrm>
          <a:prstGeom prst="rect">
            <a:avLst/>
          </a:prstGeom>
          <a:noFill/>
          <a:ln>
            <a:noFill/>
          </a:ln>
        </p:spPr>
        <p:txBody>
          <a:bodyPr wrap="none" lIns="0" tIns="0" rIns="0" bIns="0" anchor="t" anchorCtr="0">
            <a:spAutoFit/>
          </a:bodyPr>
          <a:lstStyle/>
          <a:p>
            <a:pPr algn="r"/>
            <a:r>
              <a:rPr lang="en-US" sz="980" dirty="0">
                <a:solidFill>
                  <a:srgbClr val="6E93A4"/>
                </a:solidFill>
                <a:latin typeface="+mn-lt"/>
                <a:ea typeface="+mn-ea"/>
                <a:cs typeface="+mn-cs"/>
              </a:rPr>
              <a:t>09 / 10</a:t>
            </a:r>
          </a:p>
        </p:txBody>
      </p:sp>
      <p:sp>
        <p:nvSpPr>
          <p:cNvPr id="55" name="cue_s09_c1_headline_numbers_tell_story_usis10k" title="cue_s09_c1_headline_numbers_tell_story_usis10k" descr="cue_s09_c1_headline_numbers_tell_story_usis10k The headline numbers tell the story. USIS10K brings 10,632 annotated underwater images across seven categories."/>
          <p:cNvSpPr/>
          <p:nvPr/>
        </p:nvSpPr>
        <p:spPr>
          <a:xfrm>
            <a:off x="686409" y="1733702"/>
            <a:ext cx="3428390"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9_c2_class_agnostic_segmentation_usis_sam" title="cue_s09_c2_class_agnostic_segmentation_usis_sam" descr="cue_s09_c2_class_agnostic_segmentation_usis_sam On class-agnostic segmentation, USIS-SAM reaches 59.7 mAP, with 81.6 AP at fifty percent and 67.7 at seventy-five. On multi-class it reaches 43.1 mAP."/>
          <p:cNvSpPr/>
          <p:nvPr/>
        </p:nvSpPr>
        <p:spPr>
          <a:xfrm>
            <a:off x="4344009" y="1733702"/>
            <a:ext cx="7162800"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9_c3_ablations_attribute_1_6_map_underwat" title="cue_s09_c3_ablations_attribute_1_6_map_underwat" descr="cue_s09_c3_ablations_attribute_1_6_map_underwat Ablations attribute 1.6 mAP to the Underwater Adaptive ViT encoder and 0.9 to the Salient Feature Prompt Generator."/>
          <p:cNvSpPr/>
          <p:nvPr/>
        </p:nvSpPr>
        <p:spPr>
          <a:xfrm>
            <a:off x="686409" y="3867226"/>
            <a:ext cx="5334000" cy="19812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9_c4_used_24_epochs_six_nvidia" title="cue_s09_c4_used_24_epochs_six_nvidia" descr="cue_s09_c4_used_24_epochs_six_nvidia Training used 24 epochs on six NVIDIA 3090 GPUs with a ViT-H backbone."/>
          <p:cNvSpPr/>
          <p:nvPr/>
        </p:nvSpPr>
        <p:spPr>
          <a:xfrm>
            <a:off x="6248399" y="3867226"/>
            <a:ext cx="5258409" cy="19812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0A2233"/>
            </a:gs>
            <a:gs pos="100000">
              <a:srgbClr val="04121B"/>
            </a:gs>
          </a:gsLst>
          <a:lin ang="5400000" scaled="1"/>
        </a:gra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1"/>
              </a:gs>
              <a:gs pos="100000">
                <a:schemeClr val="accent3"/>
              </a:gs>
            </a:gsLst>
            <a:lin ang="0" scaled="1"/>
          </a:gradFill>
          <a:ln>
            <a:noFill/>
          </a:ln>
        </p:spPr>
        <p:txBody>
          <a:bodyPr/>
          <a:p/>
        </p:txBody>
      </p:sp>
      <p:sp>
        <p:nvSpPr>
          <p:cNvPr id="3" name="TextBox 3"/>
          <p:cNvSpPr txBox="1"/>
          <p:nvPr/>
        </p:nvSpPr>
        <p:spPr>
          <a:xfrm>
            <a:off x="679704" y="670560"/>
            <a:ext cx="701581"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10 / 10</a:t>
            </a:r>
          </a:p>
        </p:txBody>
      </p:sp>
      <p:sp>
        <p:nvSpPr>
          <p:cNvPr id="4" name="TextBox 4"/>
          <p:cNvSpPr txBox="1"/>
          <p:nvPr/>
        </p:nvSpPr>
        <p:spPr>
          <a:xfrm>
            <a:off x="671322" y="930592"/>
            <a:ext cx="1895179"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Takeaway</a:t>
            </a:r>
          </a:p>
        </p:txBody>
      </p:sp>
      <p:sp>
        <p:nvSpPr>
          <p:cNvPr id="5" name="Rectangle 5"/>
          <p:cNvSpPr/>
          <p:nvPr/>
        </p:nvSpPr>
        <p:spPr>
          <a:xfrm>
            <a:off x="685800" y="1390650"/>
            <a:ext cx="609600" cy="38100"/>
          </a:xfrm>
          <a:prstGeom prst="roundRect">
            <a:avLst>
              <a:gd name="adj" fmla="val 50000"/>
            </a:avLst>
          </a:prstGeom>
          <a:solidFill>
            <a:schemeClr val="accent2"/>
          </a:solidFill>
          <a:ln>
            <a:noFill/>
          </a:ln>
        </p:spPr>
        <p:txBody>
          <a:bodyPr/>
          <a:p/>
        </p:txBody>
      </p:sp>
      <p:grpSp>
        <p:nvGrpSpPr>
          <p:cNvPr id="7" name="Group 7"/>
          <p:cNvGrpSpPr/>
          <p:nvPr/>
        </p:nvGrpSpPr>
        <p:grpSpPr>
          <a:xfrm>
            <a:off x="675894" y="1808798"/>
            <a:ext cx="3212874" cy="381381"/>
            <a:chOff x="675894" y="1808798"/>
            <a:chExt cx="3212874" cy="381381"/>
          </a:xfrm>
        </p:grpSpPr>
        <p:sp>
          <p:nvSpPr>
            <p:cNvPr id="6" name="TextBox 6"/>
            <p:cNvSpPr txBox="1"/>
            <p:nvPr/>
          </p:nvSpPr>
          <p:spPr>
            <a:xfrm>
              <a:off x="675894" y="1808798"/>
              <a:ext cx="3212874"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The takeaway is simple.</a:t>
              </a:r>
            </a:p>
          </p:txBody>
        </p:sp>
      </p:grpSp>
      <p:grpSp>
        <p:nvGrpSpPr>
          <p:cNvPr id="16" name="Group 16"/>
          <p:cNvGrpSpPr/>
          <p:nvPr/>
        </p:nvGrpSpPr>
        <p:grpSpPr>
          <a:xfrm>
            <a:off x="685800" y="2266950"/>
            <a:ext cx="5334000" cy="1562100"/>
            <a:chOff x="685800" y="2266950"/>
            <a:chExt cx="5334000" cy="1562100"/>
          </a:xfrm>
        </p:grpSpPr>
        <p:sp>
          <p:nvSpPr>
            <p:cNvPr id="8" name="Rectangle 8"/>
            <p:cNvSpPr/>
            <p:nvPr/>
          </p:nvSpPr>
          <p:spPr>
            <a:xfrm>
              <a:off x="685800" y="2266950"/>
              <a:ext cx="5334000" cy="1562100"/>
            </a:xfrm>
            <a:prstGeom prst="roundRect">
              <a:avLst>
                <a:gd name="adj" fmla="val 7317"/>
              </a:avLst>
            </a:prstGeom>
            <a:solidFill>
              <a:schemeClr val="lt2"/>
            </a:solidFill>
            <a:ln w="9525">
              <a:solidFill>
                <a:schemeClr val="accent4"/>
              </a:solidFill>
            </a:ln>
          </p:spPr>
        </p:sp>
        <p:sp>
          <p:nvSpPr>
            <p:cNvPr id="9" name="TextBox 9"/>
            <p:cNvSpPr txBox="1"/>
            <p:nvPr/>
          </p:nvSpPr>
          <p:spPr>
            <a:xfrm>
              <a:off x="926211" y="2436971"/>
              <a:ext cx="460882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Adapting a foundation model to a hard new domain</a:t>
              </a:r>
            </a:p>
          </p:txBody>
        </p:sp>
        <p:sp>
          <p:nvSpPr>
            <p:cNvPr id="10" name="TextBox 10"/>
            <p:cNvSpPr txBox="1"/>
            <p:nvPr/>
          </p:nvSpPr>
          <p:spPr>
            <a:xfrm>
              <a:off x="926211" y="2684621"/>
              <a:ext cx="441116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works best when you also give it the right data</a:t>
              </a:r>
            </a:p>
          </p:txBody>
        </p:sp>
        <p:sp>
          <p:nvSpPr>
            <p:cNvPr id="11" name="TextBox 11"/>
            <p:cNvSpPr txBox="1"/>
            <p:nvPr/>
          </p:nvSpPr>
          <p:spPr>
            <a:xfrm>
              <a:off x="926211" y="2932271"/>
              <a:ext cx="229884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and let it prompt itself.</a:t>
              </a:r>
            </a:p>
          </p:txBody>
        </p:sp>
        <p:sp>
          <p:nvSpPr>
            <p:cNvPr id="12" name="Rectangle 12"/>
            <p:cNvSpPr/>
            <p:nvPr/>
          </p:nvSpPr>
          <p:spPr>
            <a:xfrm>
              <a:off x="933450" y="3276600"/>
              <a:ext cx="2190750" cy="400050"/>
            </a:xfrm>
            <a:prstGeom prst="roundRect">
              <a:avLst>
                <a:gd name="adj" fmla="val 50000"/>
              </a:avLst>
            </a:prstGeom>
            <a:solidFill>
              <a:schemeClr val="accent5"/>
            </a:solidFill>
            <a:ln w="11430">
              <a:solidFill>
                <a:schemeClr val="accent2"/>
              </a:solidFill>
            </a:ln>
          </p:spPr>
        </p:sp>
        <p:sp>
          <p:nvSpPr>
            <p:cNvPr id="13" name="TextBox 13"/>
            <p:cNvSpPr txBox="1"/>
            <p:nvPr/>
          </p:nvSpPr>
          <p:spPr>
            <a:xfrm>
              <a:off x="1118921" y="3396139"/>
              <a:ext cx="1819808" cy="249364"/>
            </a:xfrm>
            <a:prstGeom prst="rect">
              <a:avLst/>
            </a:prstGeom>
            <a:noFill/>
            <a:ln>
              <a:noFill/>
            </a:ln>
          </p:spPr>
          <p:txBody>
            <a:bodyPr wrap="none" lIns="0" tIns="0" rIns="0" bIns="0" anchor="t" anchorCtr="0">
              <a:spAutoFit/>
            </a:bodyPr>
            <a:lstStyle/>
            <a:p>
              <a:pPr algn="ctr"/>
              <a:r>
                <a:rPr lang="en-US" sz="1280" b="1" dirty="0">
                  <a:solidFill>
                    <a:schemeClr val="accent2"/>
                  </a:solidFill>
                  <a:latin typeface="+mn-lt"/>
                  <a:ea typeface="+mn-ea"/>
                  <a:cs typeface="+mn-cs"/>
                </a:rPr>
                <a:t>Right data · USIS10K</a:t>
              </a:r>
            </a:p>
          </p:txBody>
        </p:sp>
        <p:sp>
          <p:nvSpPr>
            <p:cNvPr id="14" name="Rectangle 14"/>
            <p:cNvSpPr/>
            <p:nvPr/>
          </p:nvSpPr>
          <p:spPr>
            <a:xfrm>
              <a:off x="3257550" y="3276600"/>
              <a:ext cx="2514600" cy="400050"/>
            </a:xfrm>
            <a:prstGeom prst="roundRect">
              <a:avLst>
                <a:gd name="adj" fmla="val 50000"/>
              </a:avLst>
            </a:prstGeom>
            <a:solidFill>
              <a:schemeClr val="accent5"/>
            </a:solidFill>
            <a:ln w="11430">
              <a:solidFill>
                <a:schemeClr val="accent1"/>
              </a:solidFill>
            </a:ln>
          </p:spPr>
        </p:sp>
        <p:sp>
          <p:nvSpPr>
            <p:cNvPr id="15" name="TextBox 15"/>
            <p:cNvSpPr txBox="1"/>
            <p:nvPr/>
          </p:nvSpPr>
          <p:spPr>
            <a:xfrm>
              <a:off x="3314957" y="3396139"/>
              <a:ext cx="2399787" cy="249364"/>
            </a:xfrm>
            <a:prstGeom prst="rect">
              <a:avLst/>
            </a:prstGeom>
            <a:noFill/>
            <a:ln>
              <a:noFill/>
            </a:ln>
          </p:spPr>
          <p:txBody>
            <a:bodyPr wrap="none" lIns="0" tIns="0" rIns="0" bIns="0" anchor="t" anchorCtr="0">
              <a:spAutoFit/>
            </a:bodyPr>
            <a:lstStyle/>
            <a:p>
              <a:pPr algn="ctr"/>
              <a:r>
                <a:rPr lang="en-US" sz="1280" b="1" dirty="0">
                  <a:solidFill>
                    <a:schemeClr val="accent1"/>
                  </a:solidFill>
                  <a:latin typeface="+mn-lt"/>
                  <a:ea typeface="+mn-ea"/>
                  <a:cs typeface="+mn-cs"/>
                </a:rPr>
                <a:t>Self-prompting · USIS-SAM</a:t>
              </a:r>
            </a:p>
          </p:txBody>
        </p:sp>
      </p:grpSp>
      <p:grpSp>
        <p:nvGrpSpPr>
          <p:cNvPr id="26" name="Group 26"/>
          <p:cNvGrpSpPr/>
          <p:nvPr/>
        </p:nvGrpSpPr>
        <p:grpSpPr>
          <a:xfrm>
            <a:off x="685800" y="4095750"/>
            <a:ext cx="5334000" cy="1752600"/>
            <a:chOff x="685800" y="4095750"/>
            <a:chExt cx="5334000" cy="1752600"/>
          </a:xfrm>
        </p:grpSpPr>
        <p:sp>
          <p:nvSpPr>
            <p:cNvPr id="17" name="Rectangle 17"/>
            <p:cNvSpPr/>
            <p:nvPr/>
          </p:nvSpPr>
          <p:spPr>
            <a:xfrm>
              <a:off x="685800" y="4095750"/>
              <a:ext cx="5334000" cy="1752600"/>
            </a:xfrm>
            <a:prstGeom prst="roundRect">
              <a:avLst>
                <a:gd name="adj" fmla="val 6522"/>
              </a:avLst>
            </a:prstGeom>
            <a:solidFill>
              <a:schemeClr val="lt2"/>
            </a:solidFill>
            <a:ln w="9525">
              <a:solidFill>
                <a:schemeClr val="accent4"/>
              </a:solidFill>
            </a:ln>
          </p:spPr>
        </p:sp>
        <p:sp>
          <p:nvSpPr>
            <p:cNvPr id="18" name="Rectangle 18"/>
            <p:cNvSpPr/>
            <p:nvPr/>
          </p:nvSpPr>
          <p:spPr>
            <a:xfrm>
              <a:off x="685800" y="4095750"/>
              <a:ext cx="57150" cy="1752600"/>
            </a:xfrm>
            <a:prstGeom prst="roundRect">
              <a:avLst>
                <a:gd name="adj" fmla="val 50000"/>
              </a:avLst>
            </a:prstGeom>
            <a:solidFill>
              <a:schemeClr val="accent3"/>
            </a:solidFill>
            <a:ln>
              <a:noFill/>
            </a:ln>
          </p:spPr>
        </p:sp>
        <p:sp>
          <p:nvSpPr>
            <p:cNvPr id="19" name="Rectangle 19"/>
            <p:cNvSpPr/>
            <p:nvPr/>
          </p:nvSpPr>
          <p:spPr>
            <a:xfrm>
              <a:off x="914400" y="4324350"/>
              <a:ext cx="1295400" cy="1295400"/>
            </a:xfrm>
            <a:prstGeom prst="roundRect">
              <a:avLst>
                <a:gd name="adj" fmla="val 7353"/>
              </a:avLst>
            </a:prstGeom>
            <a:solidFill>
              <a:srgbClr val="FFFFFF"/>
            </a:solidFill>
            <a:ln>
              <a:noFill/>
            </a:ln>
          </p:spPr>
        </p:sp>
        <p:pic>
          <p:nvPicPr>
            <p:cNvPr id="20" name="Image 20"/>
            <p:cNvPicPr>
              <a:picLocks noChangeAspect="1"/>
            </p:cNvPicPr>
            <p:nvPr/>
          </p:nvPicPr>
          <p:blipFill>
            <a:blip r:embed="rId2"/>
            <a:stretch>
              <a:fillRect/>
            </a:stretch>
          </p:blipFill>
          <p:spPr>
            <a:xfrm>
              <a:off x="990600" y="4400550"/>
              <a:ext cx="1143000" cy="1143000"/>
            </a:xfrm>
            <a:prstGeom prst="rect">
              <a:avLst/>
            </a:prstGeom>
          </p:spPr>
        </p:pic>
        <p:sp>
          <p:nvSpPr>
            <p:cNvPr id="21" name="TextBox 21"/>
            <p:cNvSpPr txBox="1"/>
            <p:nvPr/>
          </p:nvSpPr>
          <p:spPr>
            <a:xfrm>
              <a:off x="2432304" y="4499610"/>
              <a:ext cx="2180783"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DATASET &amp; CODE RELEASED</a:t>
              </a:r>
            </a:p>
          </p:txBody>
        </p:sp>
        <p:sp>
          <p:nvSpPr>
            <p:cNvPr id="22" name="TextBox 22"/>
            <p:cNvSpPr txBox="1"/>
            <p:nvPr/>
          </p:nvSpPr>
          <p:spPr>
            <a:xfrm>
              <a:off x="2431542" y="4788218"/>
              <a:ext cx="315459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 practical foundation for the next</a:t>
              </a:r>
            </a:p>
          </p:txBody>
        </p:sp>
        <p:sp>
          <p:nvSpPr>
            <p:cNvPr id="23" name="TextBox 23"/>
            <p:cNvSpPr txBox="1"/>
            <p:nvPr/>
          </p:nvSpPr>
          <p:spPr>
            <a:xfrm>
              <a:off x="2431542" y="5035868"/>
              <a:ext cx="331224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wave of underwater vision research.</a:t>
              </a:r>
            </a:p>
          </p:txBody>
        </p:sp>
        <p:sp>
          <p:nvSpPr>
            <p:cNvPr id="24" name="TextBox 24"/>
            <p:cNvSpPr txBox="1"/>
            <p:nvPr/>
          </p:nvSpPr>
          <p:spPr>
            <a:xfrm>
              <a:off x="2432685" y="5384006"/>
              <a:ext cx="253633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github.com/LiamLian0727/USIS10K</a:t>
              </a:r>
            </a:p>
          </p:txBody>
        </p:sp>
        <p:sp>
          <p:nvSpPr>
            <p:cNvPr id="25" name="TextBox 25"/>
            <p:cNvSpPr txBox="1"/>
            <p:nvPr/>
          </p:nvSpPr>
          <p:spPr>
            <a:xfrm>
              <a:off x="2433066" y="5601652"/>
              <a:ext cx="2102841" cy="205359"/>
            </a:xfrm>
            <a:prstGeom prst="rect">
              <a:avLst/>
            </a:prstGeom>
            <a:noFill/>
            <a:ln>
              <a:noFill/>
            </a:ln>
          </p:spPr>
          <p:txBody>
            <a:bodyPr wrap="none" lIns="0" tIns="0" rIns="0" bIns="0" anchor="t" anchorCtr="0">
              <a:spAutoFit/>
            </a:bodyPr>
            <a:lstStyle/>
            <a:p>
              <a:pPr algn="l"/>
              <a:r>
                <a:rPr lang="en-US" sz="1050" dirty="0">
                  <a:solidFill>
                    <a:srgbClr val="6E93A4"/>
                  </a:solidFill>
                  <a:latin typeface="+mn-lt"/>
                  <a:ea typeface="+mn-ea"/>
                  <a:cs typeface="+mn-cs"/>
                </a:rPr>
                <a:t>arXiv:2406.06039 · ICML 2024</a:t>
              </a:r>
            </a:p>
          </p:txBody>
        </p:sp>
      </p:grpSp>
      <p:grpSp>
        <p:nvGrpSpPr>
          <p:cNvPr id="36" name="Group 36"/>
          <p:cNvGrpSpPr/>
          <p:nvPr/>
        </p:nvGrpSpPr>
        <p:grpSpPr>
          <a:xfrm>
            <a:off x="6248400" y="2266950"/>
            <a:ext cx="5257800" cy="3581400"/>
            <a:chOff x="6248400" y="2266950"/>
            <a:chExt cx="5257800" cy="3581400"/>
          </a:xfrm>
        </p:grpSpPr>
        <p:sp>
          <p:nvSpPr>
            <p:cNvPr id="27" name="Rectangle 27"/>
            <p:cNvSpPr/>
            <p:nvPr/>
          </p:nvSpPr>
          <p:spPr>
            <a:xfrm>
              <a:off x="6248400" y="2266950"/>
              <a:ext cx="5257800" cy="3581400"/>
            </a:xfrm>
            <a:prstGeom prst="roundRect">
              <a:avLst>
                <a:gd name="adj" fmla="val 3191"/>
              </a:avLst>
            </a:prstGeom>
            <a:solidFill>
              <a:schemeClr val="lt2"/>
            </a:solidFill>
            <a:ln w="9525">
              <a:solidFill>
                <a:schemeClr val="accent4"/>
              </a:solidFill>
            </a:ln>
          </p:spPr>
        </p:sp>
        <p:sp>
          <p:nvSpPr>
            <p:cNvPr id="28" name="Rectangle 28"/>
            <p:cNvSpPr/>
            <p:nvPr/>
          </p:nvSpPr>
          <p:spPr>
            <a:xfrm>
              <a:off x="6248400" y="2266950"/>
              <a:ext cx="57150" cy="3581400"/>
            </a:xfrm>
            <a:prstGeom prst="roundRect">
              <a:avLst>
                <a:gd name="adj" fmla="val 50000"/>
              </a:avLst>
            </a:prstGeom>
            <a:solidFill>
              <a:schemeClr val="accent2"/>
            </a:solidFill>
            <a:ln>
              <a:noFill/>
            </a:ln>
          </p:spPr>
        </p:sp>
        <p:sp>
          <p:nvSpPr>
            <p:cNvPr id="29" name="TextBox 29"/>
            <p:cNvSpPr txBox="1"/>
            <p:nvPr/>
          </p:nvSpPr>
          <p:spPr>
            <a:xfrm>
              <a:off x="6488430" y="2447925"/>
              <a:ext cx="2365934"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A new state of the art</a:t>
              </a:r>
            </a:p>
          </p:txBody>
        </p:sp>
        <p:sp>
          <p:nvSpPr>
            <p:cNvPr id="30" name="TextBox 30"/>
            <p:cNvSpPr txBox="1"/>
            <p:nvPr/>
          </p:nvSpPr>
          <p:spPr>
            <a:xfrm>
              <a:off x="6489192" y="2749868"/>
              <a:ext cx="412963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USIS10K + teaching SAM to see underwater and</a:t>
              </a:r>
            </a:p>
          </p:txBody>
        </p:sp>
        <p:sp>
          <p:nvSpPr>
            <p:cNvPr id="31" name="TextBox 31"/>
            <p:cNvSpPr txBox="1"/>
            <p:nvPr/>
          </p:nvSpPr>
          <p:spPr>
            <a:xfrm>
              <a:off x="6489192" y="2978468"/>
              <a:ext cx="306689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generate its own salient prompts.</a:t>
              </a:r>
            </a:p>
          </p:txBody>
        </p:sp>
        <p:sp>
          <p:nvSpPr>
            <p:cNvPr id="32" name="Rectangle 32"/>
            <p:cNvSpPr/>
            <p:nvPr/>
          </p:nvSpPr>
          <p:spPr>
            <a:xfrm>
              <a:off x="6496050" y="3314700"/>
              <a:ext cx="4762500" cy="1790700"/>
            </a:xfrm>
            <a:prstGeom prst="roundRect">
              <a:avLst>
                <a:gd name="adj" fmla="val 5319"/>
              </a:avLst>
            </a:prstGeom>
            <a:solidFill>
              <a:schemeClr val="accent5"/>
            </a:solidFill>
            <a:ln>
              <a:noFill/>
            </a:ln>
          </p:spPr>
        </p:sp>
        <p:pic>
          <p:nvPicPr>
            <p:cNvPr id="33" name="Image 33"/>
            <p:cNvPicPr>
              <a:picLocks noChangeAspect="1"/>
            </p:cNvPicPr>
            <p:nvPr/>
          </p:nvPicPr>
          <p:blipFill>
            <a:blip r:embed="rId3"/>
            <a:stretch>
              <a:fillRect/>
            </a:stretch>
          </p:blipFill>
          <p:spPr>
            <a:xfrm>
              <a:off x="7272643" y="3409950"/>
              <a:ext cx="3209315" cy="1600200"/>
            </a:xfrm>
            <a:prstGeom prst="rect">
              <a:avLst/>
            </a:prstGeom>
          </p:spPr>
        </p:pic>
        <p:sp>
          <p:nvSpPr>
            <p:cNvPr id="34" name="TextBox 34"/>
            <p:cNvSpPr txBox="1"/>
            <p:nvPr/>
          </p:nvSpPr>
          <p:spPr>
            <a:xfrm>
              <a:off x="6490716" y="5239702"/>
              <a:ext cx="427620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Fig. 7: the SFPG aggregates features onto salient instances.</a:t>
              </a:r>
            </a:p>
          </p:txBody>
        </p:sp>
        <p:sp>
          <p:nvSpPr>
            <p:cNvPr id="35" name="TextBox 35"/>
            <p:cNvSpPr txBox="1"/>
            <p:nvPr/>
          </p:nvSpPr>
          <p:spPr>
            <a:xfrm>
              <a:off x="6489192" y="5493068"/>
              <a:ext cx="3312307"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59.7 / 43.1 mAP — SOTA on USIS10K</a:t>
              </a:r>
            </a:p>
          </p:txBody>
        </p:sp>
      </p:grpSp>
      <p:sp>
        <p:nvSpPr>
          <p:cNvPr id="37" name="Line 37"/>
          <p:cNvSpPr/>
          <p:nvPr/>
        </p:nvSpPr>
        <p:spPr>
          <a:xfrm>
            <a:off x="685800" y="622935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sp>
        <p:nvSpPr>
          <p:cNvPr id="38" name="TextBox 38"/>
          <p:cNvSpPr txBox="1"/>
          <p:nvPr/>
        </p:nvSpPr>
        <p:spPr>
          <a:xfrm>
            <a:off x="680847" y="6390799"/>
            <a:ext cx="3508632" cy="190690"/>
          </a:xfrm>
          <a:prstGeom prst="rect">
            <a:avLst/>
          </a:prstGeom>
          <a:noFill/>
          <a:ln>
            <a:noFill/>
          </a:ln>
        </p:spPr>
        <p:txBody>
          <a:bodyPr wrap="none" lIns="0" tIns="0" rIns="0" bIns="0" anchor="t" anchorCtr="0">
            <a:spAutoFit/>
          </a:bodyPr>
          <a:lstStyle/>
          <a:p>
            <a:pPr algn="l"/>
            <a:r>
              <a:rPr lang="en-US" sz="980" dirty="0">
                <a:solidFill>
                  <a:srgbClr val="6E93A4"/>
                </a:solidFill>
                <a:latin typeface="+mn-lt"/>
                <a:ea typeface="+mn-ea"/>
                <a:cs typeface="+mn-cs"/>
              </a:rPr>
              <a:t>USIS-SAM · Underwater Salient Instance Segmentation</a:t>
            </a:r>
          </a:p>
        </p:txBody>
      </p:sp>
      <p:sp>
        <p:nvSpPr>
          <p:cNvPr id="39" name="TextBox 39"/>
          <p:cNvSpPr txBox="1"/>
          <p:nvPr/>
        </p:nvSpPr>
        <p:spPr>
          <a:xfrm>
            <a:off x="11059290" y="6390799"/>
            <a:ext cx="451863" cy="190690"/>
          </a:xfrm>
          <a:prstGeom prst="rect">
            <a:avLst/>
          </a:prstGeom>
          <a:noFill/>
          <a:ln>
            <a:noFill/>
          </a:ln>
        </p:spPr>
        <p:txBody>
          <a:bodyPr wrap="none" lIns="0" tIns="0" rIns="0" bIns="0" anchor="t" anchorCtr="0">
            <a:spAutoFit/>
          </a:bodyPr>
          <a:lstStyle/>
          <a:p>
            <a:pPr algn="r"/>
            <a:r>
              <a:rPr lang="en-US" sz="980" dirty="0">
                <a:solidFill>
                  <a:srgbClr val="6E93A4"/>
                </a:solidFill>
                <a:latin typeface="+mn-lt"/>
                <a:ea typeface="+mn-ea"/>
                <a:cs typeface="+mn-cs"/>
              </a:rPr>
              <a:t>10 / 10</a:t>
            </a:r>
          </a:p>
        </p:txBody>
      </p:sp>
      <p:sp>
        <p:nvSpPr>
          <p:cNvPr id="40" name="cue_s10_c1_takeaway_simple" title="cue_s10_c1_takeaway_simple" descr="cue_s10_c1_takeaway_simple The takeaway is simple."/>
          <p:cNvSpPr/>
          <p:nvPr/>
        </p:nvSpPr>
        <p:spPr>
          <a:xfrm>
            <a:off x="675436" y="1808454"/>
            <a:ext cx="3212592" cy="3813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10_c2_adapting_foundation_hard_new_domain" title="cue_s10_c2_adapting_foundation_hard_new_domain" descr="cue_s10_c2_adapting_foundation_hard_new_domain Adapting a foundation model to a hard new domain works best when you also give it the right data and let it prompt itself."/>
          <p:cNvSpPr/>
          <p:nvPr/>
        </p:nvSpPr>
        <p:spPr>
          <a:xfrm>
            <a:off x="686409" y="2267254"/>
            <a:ext cx="5334000" cy="15622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10_c3_building_usis10k_teaching_sam_see" title="cue_s10_c3_building_usis10k_teaching_sam_see" descr="cue_s10_c3_building_usis10k_teaching_sam_see By building USIS10K and teaching SAM to see underwater while generating its own salient prompts, USIS-SAM sets a new state of the art."/>
          <p:cNvSpPr/>
          <p:nvPr/>
        </p:nvSpPr>
        <p:spPr>
          <a:xfrm>
            <a:off x="6248399" y="2267254"/>
            <a:ext cx="5258409" cy="35812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10_c4_dataset_code_released_lays_foundatio" title="cue_s10_c4_dataset_code_released_lays_foundatio" descr="cue_s10_c4_dataset_code_released_lays_foundatio With dataset and code released, it lays a foundation for underwater vision research."/>
          <p:cNvSpPr/>
          <p:nvPr/>
        </p:nvSpPr>
        <p:spPr>
          <a:xfrm>
            <a:off x="686409" y="4095597"/>
            <a:ext cx="533400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pptproj">
  <a:themeElements>
    <a:clrScheme name="pptproj">
      <a:dk1>
        <a:srgbClr val="EAF6F8"/>
      </a:dk1>
      <a:lt1>
        <a:srgbClr val="071A26"/>
      </a:lt1>
      <a:dk2>
        <a:srgbClr val="9DBDCB"/>
      </a:dk2>
      <a:lt2>
        <a:srgbClr val="0E2A3B"/>
      </a:lt2>
      <a:accent1>
        <a:srgbClr val="33D6C4"/>
      </a:accent1>
      <a:accent2>
        <a:srgbClr val="FFC24B"/>
      </a:accent2>
      <a:accent3>
        <a:srgbClr val="5AA9E6"/>
      </a:accent3>
      <a:accent4>
        <a:srgbClr val="1E4256"/>
      </a:accent4>
      <a:accent5>
        <a:srgbClr val="123449"/>
      </a:accent5>
      <a:accent6>
        <a:srgbClr val="0E2A3B"/>
      </a:accent6>
      <a:hlink>
        <a:srgbClr val="FFC24B"/>
      </a:hlink>
      <a:folHlink>
        <a:srgbClr val="5AA9E6"/>
      </a:folHlink>
    </a:clrScheme>
    <a:fontScheme name="pptproj">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proj">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2026-07-15T07:14:57Z</dcterms:created>
  <dcterms:modified xsi:type="dcterms:W3CDTF">2026-07-15T07:14:57Z</dcterms:modified>
  <cp:category/>
  <cp:contentStatus/>
</cp:coreProperties>
</file>
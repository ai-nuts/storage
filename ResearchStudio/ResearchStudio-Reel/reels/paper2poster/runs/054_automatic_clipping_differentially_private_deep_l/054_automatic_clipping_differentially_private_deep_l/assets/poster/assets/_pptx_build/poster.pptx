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0804961" cy="8878193"/>
          </a:xfrm>
          <a:prstGeom prst="roundRect">
            <a:avLst>
              <a:gd name="adj" fmla="val 93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6254531"/>
            <a:ext cx="13506133" cy="23817421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6254531"/>
            <a:ext cx="13506271" cy="23817421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6254531"/>
            <a:ext cx="10804962" cy="7303135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3889513"/>
            <a:ext cx="10804962" cy="9568002"/>
          </a:xfrm>
          <a:prstGeom prst="roundRect">
            <a:avLst>
              <a:gd name="adj" fmla="val 867"/>
            </a:avLst>
          </a:prstGeom>
          <a:solidFill>
            <a:srgbClr val="F2F2F3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3889513"/>
            <a:ext cx="53340" cy="9568002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5464571"/>
            <a:ext cx="10804961" cy="14607381"/>
          </a:xfrm>
          <a:prstGeom prst="roundRect">
            <a:avLst>
              <a:gd name="adj" fmla="val 76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3789362"/>
            <a:ext cx="10804962" cy="6282590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744" y="3958157"/>
            <a:ext cx="3360559" cy="1466802"/>
          </a:xfrm>
          <a:prstGeom prst="rect">
            <a:avLst/>
          </a:prstGeom>
        </p:spPr>
      </p:pic>
      <p:pic>
        <p:nvPicPr>
          <p:cNvPr id="12" name="Picture 11" descr="aws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277" y="3958157"/>
            <a:ext cx="2448779" cy="1466802"/>
          </a:xfrm>
          <a:prstGeom prst="rect">
            <a:avLst/>
          </a:prstGeom>
        </p:spPr>
      </p:pic>
      <p:pic>
        <p:nvPicPr>
          <p:cNvPr id="13" name="Picture 12" descr="uc-santa-barba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7030" y="3958133"/>
            <a:ext cx="18335625" cy="14668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39991" y="6642635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271672" y="6642635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204525" y="6642635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37516" y="6642635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137516" y="7972802"/>
            <a:ext cx="1002875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37516" y="11691044"/>
            <a:ext cx="1002875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11691044"/>
            <a:ext cx="10028754" cy="11557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2685196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2685196"/>
            <a:ext cx="124460" cy="21590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04525" y="13312219"/>
            <a:ext cx="12730063" cy="1942187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81966" y="14277617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271672" y="15515133"/>
            <a:ext cx="12729925" cy="1437541"/>
          </a:xfrm>
          <a:prstGeom prst="roundRect">
            <a:avLst>
              <a:gd name="adj" fmla="val 15673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181966" y="15570001"/>
            <a:ext cx="9984304" cy="4380825"/>
          </a:xfrm>
          <a:prstGeom prst="roundRect">
            <a:avLst>
              <a:gd name="adj" fmla="val 4762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15852675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9991" y="23798946"/>
            <a:ext cx="10028753" cy="3003987"/>
          </a:xfrm>
          <a:prstGeom prst="roundRect">
            <a:avLst>
              <a:gd name="adj" fmla="val 6944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04525" y="27355919"/>
            <a:ext cx="12730063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04525" y="27355919"/>
            <a:ext cx="12730063" cy="11557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4187" y="8195052"/>
            <a:ext cx="4196218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4187" y="8195052"/>
            <a:ext cx="11557" cy="3235682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204525" y="16122431"/>
            <a:ext cx="12730063" cy="9072106"/>
          </a:xfrm>
          <a:prstGeom prst="roundRect">
            <a:avLst>
              <a:gd name="adj" fmla="val 39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4536" y="16122431"/>
            <a:ext cx="12730040" cy="907210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2271672" y="17580391"/>
            <a:ext cx="12729925" cy="8240614"/>
          </a:xfrm>
          <a:prstGeom prst="roundRect">
            <a:avLst>
              <a:gd name="adj" fmla="val 43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1683" y="17580391"/>
            <a:ext cx="12729903" cy="824061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1459765" y="24983261"/>
            <a:ext cx="7384256" cy="4063563"/>
          </a:xfrm>
          <a:prstGeom prst="roundRect">
            <a:avLst>
              <a:gd name="adj" fmla="val 5250"/>
            </a:avLst>
          </a:prstGeom>
          <a:solidFill>
            <a:srgbClr val="EEEFF1"/>
          </a:solidFill>
          <a:ln w="1778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8920003"/>
            <a:ext cx="12730063" cy="945118"/>
          </a:xfrm>
          <a:prstGeom prst="rect">
            <a:avLst/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04525" y="8213526"/>
            <a:ext cx="6026725" cy="70647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204525" y="8911113"/>
            <a:ext cx="602672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231250" y="8213526"/>
            <a:ext cx="3025239" cy="70647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231250" y="8911113"/>
            <a:ext cx="302523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256489" y="8213526"/>
            <a:ext cx="3678099" cy="706477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256489" y="8911113"/>
            <a:ext cx="367809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204525" y="8920003"/>
            <a:ext cx="60267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204525" y="9856231"/>
            <a:ext cx="602672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231250" y="8920003"/>
            <a:ext cx="30252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231250" y="9856231"/>
            <a:ext cx="302523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56489" y="8920003"/>
            <a:ext cx="367809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256489" y="9856231"/>
            <a:ext cx="367809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204525" y="9865121"/>
            <a:ext cx="602672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204525" y="10801350"/>
            <a:ext cx="602672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231250" y="9865121"/>
            <a:ext cx="302523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231250" y="10801350"/>
            <a:ext cx="302523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256489" y="9865121"/>
            <a:ext cx="367809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256489" y="10801350"/>
            <a:ext cx="367809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204525" y="10810240"/>
            <a:ext cx="60267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204525" y="11746468"/>
            <a:ext cx="602672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231250" y="10810240"/>
            <a:ext cx="30252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231250" y="11746468"/>
            <a:ext cx="302523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256489" y="10810240"/>
            <a:ext cx="367809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256489" y="11746468"/>
            <a:ext cx="367809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204525" y="11755358"/>
            <a:ext cx="60267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204525" y="12691586"/>
            <a:ext cx="602672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231250" y="11755358"/>
            <a:ext cx="30252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231250" y="12691586"/>
            <a:ext cx="302523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256489" y="11755358"/>
            <a:ext cx="367809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256489" y="12691586"/>
            <a:ext cx="3678099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2696864" y="25218290"/>
            <a:ext cx="1425317" cy="48811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224666" y="25218290"/>
            <a:ext cx="1339195" cy="48811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927879" y="25848647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46412" y="25967180"/>
            <a:ext cx="2726221" cy="2726221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45412620" y="25848647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1153" y="25967180"/>
            <a:ext cx="2726221" cy="272622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34373B"/>
                </a:solidFill>
                <a:latin typeface="Arial"/>
              </a:rPr>
              <a:t>Automatic Clipping: Differentially Private Deep Learning Made Easier and Stronger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Zhiqi Bu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Yu-Xiang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4106" b="0">
                <a:solidFill>
                  <a:srgbClr val="1B2331"/>
                </a:solidFill>
                <a:latin typeface="Arial"/>
              </a:rPr>
              <a:t>, Sheng Zha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George Karypis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AWS AI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UC Santa Barbara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91" y="6642635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71672" y="6642635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04525" y="6642635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137516" y="6642635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7887235"/>
            <a:ext cx="10329615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Differentially private (DP) deep learning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depends on </a:t>
            </a:r>
            <a:r>
              <a:rPr sz="4106" b="1">
                <a:solidFill>
                  <a:srgbClr val="111111"/>
                </a:solidFill>
                <a:latin typeface="Arial"/>
              </a:rPr>
              <a:t>per-example gradient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clipping</a:t>
            </a:r>
            <a:r>
              <a:rPr sz="4106" b="0">
                <a:solidFill>
                  <a:srgbClr val="1C1C1C"/>
                </a:solidFill>
                <a:latin typeface="Arial"/>
              </a:rPr>
              <a:t>, but the clipping threshold </a:t>
            </a:r>
            <a:r>
              <a:rPr sz="4106" b="1">
                <a:solidFill>
                  <a:srgbClr val="111111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is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fragile, task-specific hyperparameter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whose value strongly determines final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accuracy.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37516" y="11691044"/>
            <a:ext cx="10329616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Only the learning rate is searched — never 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12685196"/>
            <a:ext cx="10329615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On ImageNet, ResNet18 accuracy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collapses from 45% to 31% when R is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merely doubled.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204525" y="13312219"/>
            <a:ext cx="13111964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Matches or beats tuned SOTA across language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4373B"/>
                </a:solidFill>
                <a:latin typeface="Arial"/>
              </a:rPr>
              <a:t>tasks — with no R search.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181966" y="14277617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181966" y="15570001"/>
            <a:ext cx="10283833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Per-sample clipping needs no tuned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threshold: normalize each gradient,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add a tiny stability constant, and get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threshold-free optimizer as private,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fast, and accurate as the best hand-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tuned DP methods.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15852675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028850" y="16512341"/>
            <a:ext cx="1155203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γ = 0.01 default; as ‖g‖→0 the clipped gradient → g/γ, enabling convergence to zero gradient norm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181966" y="19998610"/>
            <a:ext cx="1028383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one-line change in existing DP libraries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(Opacus, ObJAX), backed by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convergence guarantee matching standard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SGD.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23798946"/>
            <a:ext cx="10329615" cy="3454585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Best thresholds are so small that nearly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every gradient is clipped every step, so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R’s exact value stops carrying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magnitude information.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27324526"/>
            <a:ext cx="1032961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This hints the precise value of R may not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matter at all, if clipping is reformulated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drop it entirely.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72" y="27326470"/>
            <a:ext cx="1311182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AUTO-V is scale-invariant, so tiny gradients never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vanish; the γ in AUTO-S restores magnitude, letting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clipped gradient approach g/γ as ‖g‖→0.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204525" y="27355919"/>
            <a:ext cx="13111964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red AUTO-S column reproduces the best hand-tuned accuracy without ever searching R, so only the learning rate needs tuning.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271654" y="8113514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AUTO-V:</a:t>
            </a:r>
            <a:r>
              <a:rPr sz="4106" b="0">
                <a:solidFill>
                  <a:srgbClr val="1C1C1C"/>
                </a:solidFill>
                <a:latin typeface="Arial"/>
              </a:rPr>
              <a:t> replace Abadi’s factor min(R/‖g‖, 1)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pure normalization R/‖g‖.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271654" y="9808448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AUTO-S:</a:t>
            </a:r>
            <a:r>
              <a:rPr sz="4106" b="0">
                <a:solidFill>
                  <a:srgbClr val="1C1C1C"/>
                </a:solidFill>
                <a:latin typeface="Arial"/>
              </a:rPr>
              <a:t> divide by ‖g‖ + γ (small stability constant)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to keep magnitude and escape the “lazy region.”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271654" y="11503382"/>
            <a:ext cx="1311184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Any constant R rescales into the learning rate, so </a:t>
            </a:r>
            <a:r>
              <a:rPr sz="4106" b="1">
                <a:solidFill>
                  <a:srgbClr val="111111"/>
                </a:solidFill>
                <a:latin typeface="Arial"/>
              </a:rPr>
              <a:t>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is fixed to 1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threshold-free optimizer.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271654" y="13198316"/>
            <a:ext cx="13111841" cy="20323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Convergence:</a:t>
            </a:r>
            <a:r>
              <a:rPr sz="4106" b="0">
                <a:solidFill>
                  <a:srgbClr val="1C1C1C"/>
                </a:solidFill>
                <a:latin typeface="Arial"/>
              </a:rPr>
              <a:t> automatic DP-SGD reaches min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𝔼‖g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‖ = O(T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−1/4</a:t>
            </a:r>
            <a:r>
              <a:rPr sz="4106" b="0">
                <a:solidFill>
                  <a:srgbClr val="1C1C1C"/>
                </a:solidFill>
                <a:latin typeface="Arial"/>
              </a:rPr>
              <a:t>), matching standard SGD.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72" y="17618868"/>
            <a:ext cx="103296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Tuning the pair </a:t>
            </a:r>
            <a:r>
              <a:rPr sz="4106" b="1">
                <a:solidFill>
                  <a:srgbClr val="111111"/>
                </a:solidFill>
                <a:latin typeface="Arial"/>
              </a:rPr>
              <a:t>(R, learning rate)</a:t>
            </a:r>
            <a:r>
              <a:rPr sz="4106" b="0">
                <a:solidFill>
                  <a:srgbClr val="1C1C1C"/>
                </a:solidFill>
                <a:latin typeface="Arial"/>
              </a:rPr>
              <a:t>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large models costs </a:t>
            </a:r>
            <a:r>
              <a:rPr sz="4106" b="1">
                <a:solidFill>
                  <a:srgbClr val="111111"/>
                </a:solidFill>
                <a:latin typeface="Arial"/>
              </a:rPr>
              <a:t>days to months</a:t>
            </a:r>
            <a:r>
              <a:rPr sz="4106" b="0">
                <a:solidFill>
                  <a:srgbClr val="1C1C1C"/>
                </a:solidFill>
                <a:latin typeface="Arial"/>
              </a:rPr>
              <a:t>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compute.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72" y="20070008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Because it inspects private data,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search also </a:t>
            </a:r>
            <a:r>
              <a:rPr sz="4106" b="1">
                <a:solidFill>
                  <a:srgbClr val="111111"/>
                </a:solidFill>
                <a:latin typeface="Arial"/>
              </a:rPr>
              <a:t>spends extra privacy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budget</a:t>
            </a:r>
            <a:r>
              <a:rPr sz="4106" b="0">
                <a:solidFill>
                  <a:srgbClr val="1C1C1C"/>
                </a:solidFill>
                <a:latin typeface="Arial"/>
              </a:rPr>
              <a:t>, making DP training far harder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than standard training.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37516" y="24177466"/>
            <a:ext cx="3503582" cy="681300"/>
          </a:xfrm>
          <a:prstGeom prst="rect">
            <a:avLst/>
          </a:prstGeom>
          <a:noFill/>
        </p:spPr>
        <p:txBody>
          <a:bodyPr wrap="square" lIns="199136" rIns="199136" tIns="47413" bIns="47413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4373B"/>
                </a:solidFill>
                <a:latin typeface="Arial"/>
              </a:rPr>
              <a:t>Scan to Read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713755" y="25344139"/>
            <a:ext cx="12062951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RoBERTa-base accuracy over R and learning rate (DP-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Adam, ε=3): the AUTO-S column (red) matches the best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tuned R while searching η only, cutting tuning cost ~5×.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780902" y="25970607"/>
            <a:ext cx="12062807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Per-step dot-product similarity of the private vs. true gradient: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AUTO-V magnifies alignment far above Abadi’s clipping.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829533" y="29426038"/>
            <a:ext cx="6844060" cy="2964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Paper: arxiv.org/abs/2206.07136 · Code: github.com/awslabs/fast-differential-privacy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383380" y="8195052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64.18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383380" y="9569946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BLEU · GPT2 on E2E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· ε=3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83380" y="10612854"/>
            <a:ext cx="491013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new SOTA, no threshold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tuning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202441" y="8195052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92.32%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204525" y="8213526"/>
            <a:ext cx="620752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TASK (Ε)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231250" y="8213526"/>
            <a:ext cx="311599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PRIOR SOTA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256489" y="8213526"/>
            <a:ext cx="3788441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AUTO-S (OURS)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201441" y="8328402"/>
            <a:ext cx="177053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SST-2 ·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ε=3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204525" y="8920003"/>
            <a:ext cx="620752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GPT2 · E2E BLEU (3)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231250" y="8920003"/>
            <a:ext cx="311599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63.85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256489" y="8920003"/>
            <a:ext cx="378844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64.18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202441" y="9442569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83.22%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201441" y="9575919"/>
            <a:ext cx="177053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MNLI ·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ε=3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204525" y="9865121"/>
            <a:ext cx="620752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RoBERTa-b · SST-2 (3)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231250" y="9865121"/>
            <a:ext cx="3115996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91.86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256489" y="9865121"/>
            <a:ext cx="378844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92.32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02441" y="10690086"/>
            <a:ext cx="95143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~5×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204525" y="10810240"/>
            <a:ext cx="620752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RoBERTa-b · MNLI (3)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231250" y="10810240"/>
            <a:ext cx="311599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82.45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56489" y="10810240"/>
            <a:ext cx="378844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83.22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308690" y="10823436"/>
            <a:ext cx="252453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less tuning cost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204525" y="11755358"/>
            <a:ext cx="620752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RoBERTa-L · SST-2 (8)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231250" y="11755358"/>
            <a:ext cx="311599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93.81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5256489" y="11755358"/>
            <a:ext cx="378844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94.61</a:t>
            </a:r>
          </a:p>
        </p:txBody>
      </p:sp>
      <p:pic>
        <p:nvPicPr>
          <p:cNvPr id="129" name="Picture 128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38433" y="15600422"/>
            <a:ext cx="8996402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
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Free Design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Free Design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30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1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05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0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9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85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800" kern="1200">
          <a:solidFill>
            <a:schemeClr val="tx1"/>
          </a:solidFill>
          <a:latin typeface="+mn-lt"/>
          <a:ea typeface="+mn-ea"/>
          <a:cs typeface="+mn-cs"/>
        </a:defRPr>
      </a:lvl9pPr>
    </p:bodyStyle>
    <p:otherStyle>
      <a:defPPr>
        <a:defRPr lang="en-US"/>
      </a:defPPr>
      <a:lvl1pPr marL="0" algn="l" defTabSz="457200" rtl="0" eaLnBrk="1" latinLnBrk="0" hangingPunct="1">
        <a:defRPr sz="1100" kern="1200">
          <a:solidFill>
            <a:schemeClr val="tx1"/>
          </a:solidFill>
          <a:latin typeface="+mn-lt"/>
          <a:ea typeface="+mn-ea"/>
          <a:cs typeface="+mn-cs"/>
        </a:defRPr>
      </a:lvl1pPr>
      <a:lvl2pPr marL="457200" algn="l" defTabSz="457200" rtl="0" eaLnBrk="1" latinLnBrk="0" hangingPunct="1">
        <a:defRPr sz="1050" kern="1200">
          <a:solidFill>
            <a:schemeClr val="tx1"/>
          </a:solidFill>
          <a:latin typeface="+mn-lt"/>
          <a:ea typeface="+mn-ea"/>
          <a:cs typeface="+mn-cs"/>
        </a:defRPr>
      </a:lvl2pPr>
      <a:lvl3pPr marL="914400" algn="l" defTabSz="457200" rtl="0" eaLnBrk="1" latinLnBrk="0" hangingPunct="1">
        <a:defRPr sz="1000" kern="1200">
          <a:solidFill>
            <a:schemeClr val="tx1"/>
          </a:solidFill>
          <a:latin typeface="+mn-lt"/>
          <a:ea typeface="+mn-ea"/>
          <a:cs typeface="+mn-cs"/>
        </a:defRPr>
      </a:lvl3pPr>
      <a:lvl4pPr marL="1371600" algn="l" defTabSz="457200" rtl="0" eaLnBrk="1" latinLnBrk="0" hangingPunct="1">
        <a:defRPr sz="900" kern="1200">
          <a:solidFill>
            <a:schemeClr val="tx1"/>
          </a:solidFill>
          <a:latin typeface="+mn-lt"/>
          <a:ea typeface="+mn-ea"/>
          <a:cs typeface="+mn-cs"/>
        </a:defRPr>
      </a:lvl4pPr>
      <a:lvl5pPr marL="1828800" algn="l" defTabSz="457200" rtl="0" eaLnBrk="1" latinLnBrk="0" hangingPunct="1">
        <a:defRPr sz="850" kern="1200">
          <a:solidFill>
            <a:schemeClr val="tx1"/>
          </a:solidFill>
          <a:latin typeface="+mn-lt"/>
          <a:ea typeface="+mn-ea"/>
          <a:cs typeface="+mn-cs"/>
        </a:defRPr>
      </a:lvl5pPr>
      <a:lvl6pPr marL="2286000" algn="l" defTabSz="457200" rtl="0" eaLnBrk="1" latinLnBrk="0" hangingPunct="1">
        <a:defRPr sz="800" kern="1200">
          <a:solidFill>
            <a:schemeClr val="tx1"/>
          </a:solidFill>
          <a:latin typeface="+mn-lt"/>
          <a:ea typeface="+mn-ea"/>
          <a:cs typeface="+mn-cs"/>
        </a:defRPr>
      </a:lvl6pPr>
      <a:lvl7pPr marL="2743200" algn="l" defTabSz="457200" rtl="0" eaLnBrk="1" latinLnBrk="0" hangingPunct="1">
        <a:defRPr sz="800" kern="1200">
          <a:solidFill>
            <a:schemeClr val="tx1"/>
          </a:solidFill>
          <a:latin typeface="+mn-lt"/>
          <a:ea typeface="+mn-ea"/>
          <a:cs typeface="+mn-cs"/>
        </a:defRPr>
      </a:lvl7pPr>
      <a:lvl8pPr marL="3200400" algn="l" defTabSz="457200" rtl="0" eaLnBrk="1" latinLnBrk="0" hangingPunct="1">
        <a:defRPr sz="800" kern="1200">
          <a:solidFill>
            <a:schemeClr val="tx1"/>
          </a:solidFill>
          <a:latin typeface="+mn-lt"/>
          <a:ea typeface="+mn-ea"/>
          <a:cs typeface="+mn-cs"/>
        </a:defRPr>
      </a:lvl8pPr>
      <a:lvl9pPr marL="3657600" algn="l" defTabSz="457200" rtl="0" eaLnBrk="1" latinLnBrk="0" hangingPunct="1">
        <a:defRPr sz="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chemeClr val="lt2">
                  <a:alpha val="90000"/>
                </a:schemeClr>
              </a:gs>
              <a:gs pos="60000">
                <a:schemeClr val="lt1">
                  <a:alpha val="0"/>
                </a:schemeClr>
              </a:gs>
            </a:gsLst>
            <a:path path="circle">
              <a:fillToRect l="50000" t="50000" r="50000" b="50000"/>
            </a:path>
          </a:gradFill>
          <a:ln>
            <a:noFill/>
          </a:ln>
        </p:spPr>
        <p:txBody>
          <a:bodyPr/>
          <a:p/>
        </p:txBody>
      </p:sp>
      <p:grpSp>
        <p:nvGrpSpPr>
          <p:cNvPr id="6" name="Group 6"/>
          <p:cNvGrpSpPr/>
          <p:nvPr/>
        </p:nvGrpSpPr>
        <p:grpSpPr>
          <a:xfrm>
            <a:off x="685800" y="907256"/>
            <a:ext cx="6253705" cy="512350"/>
            <a:chOff x="685800" y="907256"/>
            <a:chExt cx="6253705" cy="512350"/>
          </a:xfrm>
        </p:grpSpPr>
        <p:sp>
          <p:nvSpPr>
            <p:cNvPr id="3" name="Rectangle 3"/>
            <p:cNvSpPr/>
            <p:nvPr/>
          </p:nvSpPr>
          <p:spPr>
            <a:xfrm>
              <a:off x="685800" y="914400"/>
              <a:ext cx="57150" cy="285750"/>
            </a:xfrm>
            <a:prstGeom prst="roundRect">
              <a:avLst>
                <a:gd name="adj" fmla="val 41667"/>
              </a:avLst>
            </a:prstGeom>
            <a:solidFill>
              <a:schemeClr val="accent2"/>
            </a:solidFill>
            <a:ln>
              <a:noFill/>
            </a:ln>
          </p:spPr>
        </p:sp>
        <p:sp>
          <p:nvSpPr>
            <p:cNvPr id="4" name="TextBox 4"/>
            <p:cNvSpPr txBox="1"/>
            <p:nvPr/>
          </p:nvSpPr>
          <p:spPr>
            <a:xfrm>
              <a:off x="870585" y="907256"/>
              <a:ext cx="6068920" cy="220028"/>
            </a:xfrm>
            <a:prstGeom prst="rect">
              <a:avLst/>
            </a:prstGeom>
            <a:noFill/>
            <a:ln>
              <a:noFill/>
            </a:ln>
          </p:spPr>
          <p:txBody>
            <a:bodyPr wrap="none" lIns="0" tIns="0" rIns="0" bIns="0" anchor="t" anchorCtr="0">
              <a:spAutoFit/>
            </a:bodyPr>
            <a:lstStyle/>
            <a:p>
              <a:pPr algn="l"/>
              <a:r>
                <a:rPr lang="en-US" sz="1120" b="1" spc="188" dirty="0">
                  <a:solidFill>
                    <a:schemeClr val="accent2"/>
                  </a:solidFill>
                  <a:latin typeface="+mn-lt"/>
                  <a:ea typeface="+mn-ea"/>
                  <a:cs typeface="+mn-cs"/>
                </a:rPr>
                <a:t>SEMIDEFINITE PROGRAMMING · COMBINATORIAL OPTIMIZATION</a:t>
              </a:r>
            </a:p>
          </p:txBody>
        </p:sp>
        <p:sp>
          <p:nvSpPr>
            <p:cNvPr id="5" name="TextBox 5"/>
            <p:cNvSpPr txBox="1"/>
            <p:nvPr/>
          </p:nvSpPr>
          <p:spPr>
            <a:xfrm>
              <a:off x="870204" y="1184910"/>
              <a:ext cx="5744421"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Powerful in theory, long dismissed as too expensive at real-world scale.</a:t>
              </a:r>
            </a:p>
          </p:txBody>
        </p:sp>
      </p:grpSp>
      <p:sp>
        <p:nvSpPr>
          <p:cNvPr id="7" name="TextBox 7"/>
          <p:cNvSpPr txBox="1"/>
          <p:nvPr/>
        </p:nvSpPr>
        <p:spPr>
          <a:xfrm>
            <a:off x="666750" y="1568768"/>
            <a:ext cx="8552736" cy="847725"/>
          </a:xfrm>
          <a:prstGeom prst="rect">
            <a:avLst/>
          </a:prstGeom>
          <a:noFill/>
          <a:ln>
            <a:noFill/>
          </a:ln>
        </p:spPr>
        <p:txBody>
          <a:bodyPr wrap="none" lIns="0" tIns="0" rIns="0" bIns="0" anchor="t" anchorCtr="0">
            <a:spAutoFit/>
          </a:bodyPr>
          <a:lstStyle/>
          <a:p>
            <a:pPr algn="l"/>
            <a:r>
              <a:rPr lang="en-US" sz="4350" b="1" dirty="0">
                <a:solidFill>
                  <a:schemeClr val="dk1"/>
                </a:solidFill>
                <a:latin typeface="+mn-lt"/>
                <a:ea typeface="+mn-ea"/>
                <a:cs typeface="+mn-cs"/>
              </a:rPr>
              <a:t>Fast, Scalable, Warm-Start</a:t>
            </a:r>
          </a:p>
        </p:txBody>
      </p:sp>
      <p:sp>
        <p:nvSpPr>
          <p:cNvPr id="8" name="TextBox 8"/>
          <p:cNvSpPr txBox="1"/>
          <p:nvPr/>
        </p:nvSpPr>
        <p:spPr>
          <a:xfrm>
            <a:off x="666750" y="2178368"/>
            <a:ext cx="7792787" cy="847725"/>
          </a:xfrm>
          <a:prstGeom prst="rect">
            <a:avLst/>
          </a:prstGeom>
          <a:noFill/>
          <a:ln>
            <a:noFill/>
          </a:ln>
        </p:spPr>
        <p:txBody>
          <a:bodyPr wrap="none" lIns="0" tIns="0" rIns="0" bIns="0" anchor="t" anchorCtr="0">
            <a:spAutoFit/>
          </a:bodyPr>
          <a:lstStyle/>
          <a:p>
            <a:pPr algn="l"/>
            <a:r>
              <a:rPr lang="en-US" sz="4350" b="1" dirty="0">
                <a:solidFill>
                  <a:schemeClr val="dk1"/>
                </a:solidFill>
                <a:latin typeface="+mn-lt"/>
                <a:ea typeface="+mn-ea"/>
                <a:cs typeface="+mn-cs"/>
              </a:rPr>
              <a:t>Semidefinite Programming</a:t>
            </a:r>
          </a:p>
        </p:txBody>
      </p:sp>
      <p:sp>
        <p:nvSpPr>
          <p:cNvPr id="9" name="TextBox 9"/>
          <p:cNvSpPr txBox="1"/>
          <p:nvPr/>
        </p:nvSpPr>
        <p:spPr>
          <a:xfrm>
            <a:off x="676656" y="2853690"/>
            <a:ext cx="4342221" cy="352044"/>
          </a:xfrm>
          <a:prstGeom prst="rect">
            <a:avLst/>
          </a:prstGeom>
          <a:noFill/>
          <a:ln>
            <a:noFill/>
          </a:ln>
        </p:spPr>
        <p:txBody>
          <a:bodyPr wrap="none" lIns="0" tIns="0" rIns="0" bIns="0" anchor="t" anchorCtr="0">
            <a:spAutoFit/>
          </a:bodyPr>
          <a:lstStyle/>
          <a:p>
            <a:pPr algn="l"/>
            <a:r>
              <a:rPr lang="en-US" sz="1800" dirty="0">
                <a:solidFill>
                  <a:schemeClr val="dk2"/>
                </a:solidFill>
                <a:latin typeface="+mn-lt"/>
                <a:ea typeface="+mn-ea"/>
                <a:cs typeface="+mn-cs"/>
              </a:rPr>
              <a:t>with Spectral Bundling and Sketching</a:t>
            </a:r>
          </a:p>
        </p:txBody>
      </p:sp>
      <p:grpSp>
        <p:nvGrpSpPr>
          <p:cNvPr id="16" name="Group 16"/>
          <p:cNvGrpSpPr/>
          <p:nvPr/>
        </p:nvGrpSpPr>
        <p:grpSpPr>
          <a:xfrm>
            <a:off x="685800" y="3390900"/>
            <a:ext cx="5905500" cy="1219200"/>
            <a:chOff x="685800" y="3390900"/>
            <a:chExt cx="5905500" cy="1219200"/>
          </a:xfrm>
        </p:grpSpPr>
        <p:sp>
          <p:nvSpPr>
            <p:cNvPr id="10" name="Rectangle 10"/>
            <p:cNvSpPr/>
            <p:nvPr/>
          </p:nvSpPr>
          <p:spPr>
            <a:xfrm>
              <a:off x="685800" y="3390900"/>
              <a:ext cx="5905500" cy="1219200"/>
            </a:xfrm>
            <a:prstGeom prst="roundRect">
              <a:avLst>
                <a:gd name="adj" fmla="val 12500"/>
              </a:avLst>
            </a:prstGeom>
            <a:solidFill>
              <a:schemeClr val="accent5"/>
            </a:solidFill>
            <a:ln w="11430">
              <a:solidFill>
                <a:schemeClr val="accent4"/>
              </a:solidFill>
            </a:ln>
          </p:spPr>
        </p:sp>
        <p:sp>
          <p:nvSpPr>
            <p:cNvPr id="11" name="Rectangle 11"/>
            <p:cNvSpPr/>
            <p:nvPr/>
          </p:nvSpPr>
          <p:spPr>
            <a:xfrm>
              <a:off x="876300" y="3619500"/>
              <a:ext cx="57150" cy="762000"/>
            </a:xfrm>
            <a:prstGeom prst="roundRect">
              <a:avLst>
                <a:gd name="adj" fmla="val 41667"/>
              </a:avLst>
            </a:prstGeom>
            <a:solidFill>
              <a:srgbClr val="37DCC0"/>
            </a:solidFill>
            <a:ln>
              <a:noFill/>
            </a:ln>
          </p:spPr>
        </p:sp>
        <p:sp>
          <p:nvSpPr>
            <p:cNvPr id="12" name="TextBox 12"/>
            <p:cNvSpPr txBox="1"/>
            <p:nvPr/>
          </p:nvSpPr>
          <p:spPr>
            <a:xfrm>
              <a:off x="1055370" y="3490912"/>
              <a:ext cx="762152" cy="440055"/>
            </a:xfrm>
            <a:prstGeom prst="rect">
              <a:avLst/>
            </a:prstGeom>
            <a:noFill/>
            <a:ln>
              <a:noFill/>
            </a:ln>
          </p:spPr>
          <p:txBody>
            <a:bodyPr wrap="none" lIns="0" tIns="0" rIns="0" bIns="0" anchor="t" anchorCtr="0">
              <a:spAutoFit/>
            </a:bodyPr>
            <a:lstStyle/>
            <a:p>
              <a:pPr algn="l"/>
              <a:r>
                <a:rPr lang="en-US" sz="2250" b="1" dirty="0">
                  <a:solidFill>
                    <a:srgbClr val="37DCC0"/>
                  </a:solidFill>
                  <a:latin typeface="+mn-lt"/>
                  <a:ea typeface="+mn-ea"/>
                  <a:cs typeface="+mn-cs"/>
                </a:rPr>
                <a:t>USBS</a:t>
              </a:r>
            </a:p>
          </p:txBody>
        </p:sp>
        <p:sp>
          <p:nvSpPr>
            <p:cNvPr id="13" name="TextBox 13"/>
            <p:cNvSpPr txBox="1"/>
            <p:nvPr/>
          </p:nvSpPr>
          <p:spPr>
            <a:xfrm>
              <a:off x="1993773" y="3596164"/>
              <a:ext cx="3554161"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Unified Spectral Bundling with Sketching</a:t>
              </a:r>
            </a:p>
          </p:txBody>
        </p:sp>
        <p:sp>
          <p:nvSpPr>
            <p:cNvPr id="14" name="TextBox 14"/>
            <p:cNvSpPr txBox="1"/>
            <p:nvPr/>
          </p:nvSpPr>
          <p:spPr>
            <a:xfrm>
              <a:off x="1061085" y="3917156"/>
              <a:ext cx="4396385"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A provably correct solver that is fast, scales to billions of</a:t>
              </a:r>
            </a:p>
          </p:txBody>
        </p:sp>
        <p:sp>
          <p:nvSpPr>
            <p:cNvPr id="15" name="TextBox 15"/>
            <p:cNvSpPr txBox="1"/>
            <p:nvPr/>
          </p:nvSpPr>
          <p:spPr>
            <a:xfrm>
              <a:off x="1061085" y="4126706"/>
              <a:ext cx="4986985"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decision variables, and reuses a previous solution as a warm start.</a:t>
              </a:r>
            </a:p>
          </p:txBody>
        </p:sp>
      </p:grpSp>
      <p:grpSp>
        <p:nvGrpSpPr>
          <p:cNvPr id="23" name="Group 23"/>
          <p:cNvGrpSpPr/>
          <p:nvPr/>
        </p:nvGrpSpPr>
        <p:grpSpPr>
          <a:xfrm>
            <a:off x="7010400" y="3390900"/>
            <a:ext cx="4495800" cy="1219200"/>
            <a:chOff x="7010400" y="3390900"/>
            <a:chExt cx="4495800" cy="1219200"/>
          </a:xfrm>
        </p:grpSpPr>
        <p:sp>
          <p:nvSpPr>
            <p:cNvPr id="17" name="Rectangle 17"/>
            <p:cNvSpPr/>
            <p:nvPr/>
          </p:nvSpPr>
          <p:spPr>
            <a:xfrm>
              <a:off x="7010400" y="3390900"/>
              <a:ext cx="4495800" cy="1219200"/>
            </a:xfrm>
            <a:prstGeom prst="roundRect">
              <a:avLst>
                <a:gd name="adj" fmla="val 12500"/>
              </a:avLst>
            </a:prstGeom>
            <a:solidFill>
              <a:schemeClr val="accent6"/>
            </a:solidFill>
            <a:ln w="13335">
              <a:solidFill>
                <a:schemeClr val="accent2"/>
              </a:solidFill>
            </a:ln>
          </p:spPr>
        </p:sp>
        <p:sp>
          <p:nvSpPr>
            <p:cNvPr id="18" name="TextBox 18"/>
            <p:cNvSpPr txBox="1"/>
            <p:nvPr/>
          </p:nvSpPr>
          <p:spPr>
            <a:xfrm>
              <a:off x="7334250" y="3403282"/>
              <a:ext cx="1122616" cy="904875"/>
            </a:xfrm>
            <a:prstGeom prst="rect">
              <a:avLst/>
            </a:prstGeom>
            <a:noFill/>
            <a:ln>
              <a:noFill/>
            </a:ln>
          </p:spPr>
          <p:txBody>
            <a:bodyPr wrap="none" lIns="0" tIns="0" rIns="0" bIns="0" anchor="t" anchorCtr="0">
              <a:spAutoFit/>
            </a:bodyPr>
            <a:lstStyle/>
            <a:p>
              <a:pPr algn="l"/>
              <a:r>
                <a:rPr lang="en-US" sz="4650" b="1" dirty="0">
                  <a:gradFill>
                    <a:gsLst>
                      <a:gs pos="0">
                        <a:srgbClr val="F7B84B"/>
                      </a:gs>
                      <a:gs pos="100000">
                        <a:srgbClr val="E8892E"/>
                      </a:gs>
                    </a:gsLst>
                    <a:lin ang="2700000" scaled="1"/>
                  </a:gradFill>
                  <a:latin typeface="+mn-lt"/>
                  <a:ea typeface="+mn-ea"/>
                  <a:cs typeface="+mn-cs"/>
                </a:rPr>
                <a:t>500</a:t>
              </a:r>
            </a:p>
          </p:txBody>
        </p:sp>
        <p:sp>
          <p:nvSpPr>
            <p:cNvPr id="19" name="TextBox 19"/>
            <p:cNvSpPr txBox="1"/>
            <p:nvPr/>
          </p:nvSpPr>
          <p:spPr>
            <a:xfrm>
              <a:off x="8576310" y="3581400"/>
              <a:ext cx="263709" cy="586740"/>
            </a:xfrm>
            <a:prstGeom prst="rect">
              <a:avLst/>
            </a:prstGeom>
            <a:noFill/>
            <a:ln>
              <a:noFill/>
            </a:ln>
          </p:spPr>
          <p:txBody>
            <a:bodyPr wrap="none" lIns="0" tIns="0" rIns="0" bIns="0" anchor="t" anchorCtr="0">
              <a:spAutoFit/>
            </a:bodyPr>
            <a:lstStyle/>
            <a:p>
              <a:pPr algn="l"/>
              <a:r>
                <a:rPr lang="en-US" sz="3000" b="1" dirty="0">
                  <a:solidFill>
                    <a:srgbClr val="F7B84B"/>
                  </a:solidFill>
                  <a:latin typeface="+mn-lt"/>
                  <a:ea typeface="+mn-ea"/>
                  <a:cs typeface="+mn-cs"/>
                </a:rPr>
                <a:t>×</a:t>
              </a:r>
            </a:p>
          </p:txBody>
        </p:sp>
        <p:sp>
          <p:nvSpPr>
            <p:cNvPr id="20" name="TextBox 20"/>
            <p:cNvSpPr txBox="1"/>
            <p:nvPr/>
          </p:nvSpPr>
          <p:spPr>
            <a:xfrm>
              <a:off x="8947785" y="3574256"/>
              <a:ext cx="1602100"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faster than the prior</a:t>
              </a:r>
            </a:p>
          </p:txBody>
        </p:sp>
        <p:sp>
          <p:nvSpPr>
            <p:cNvPr id="21" name="TextBox 21"/>
            <p:cNvSpPr txBox="1"/>
            <p:nvPr/>
          </p:nvSpPr>
          <p:spPr>
            <a:xfrm>
              <a:off x="8947785" y="3783806"/>
              <a:ext cx="1791346"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state of the art (CGAL)</a:t>
              </a:r>
            </a:p>
          </p:txBody>
        </p:sp>
        <p:sp>
          <p:nvSpPr>
            <p:cNvPr id="22" name="TextBox 22"/>
            <p:cNvSpPr txBox="1"/>
            <p:nvPr/>
          </p:nvSpPr>
          <p:spPr>
            <a:xfrm>
              <a:off x="7347776" y="4187904"/>
              <a:ext cx="4143851" cy="212693"/>
            </a:xfrm>
            <a:prstGeom prst="rect">
              <a:avLst/>
            </a:prstGeom>
            <a:noFill/>
            <a:ln>
              <a:noFill/>
            </a:ln>
          </p:spPr>
          <p:txBody>
            <a:bodyPr wrap="none" lIns="0" tIns="0" rIns="0" bIns="0" anchor="t" anchorCtr="0">
              <a:spAutoFit/>
            </a:bodyPr>
            <a:lstStyle/>
            <a:p>
              <a:pPr algn="l"/>
              <a:r>
                <a:rPr lang="en-US" sz="1090" dirty="0">
                  <a:solidFill>
                    <a:schemeClr val="dk1"/>
                  </a:solidFill>
                  <a:latin typeface="+mn-lt"/>
                  <a:ea typeface="+mn-ea"/>
                  <a:cs typeface="+mn-cs"/>
                </a:rPr>
                <a:t>on a MaxCut instance with over 2 billion decision variables</a:t>
              </a:r>
            </a:p>
          </p:txBody>
        </p:sp>
      </p:grpSp>
      <p:sp>
        <p:nvSpPr>
          <p:cNvPr id="24" name="Line 24"/>
          <p:cNvSpPr/>
          <p:nvPr/>
        </p:nvSpPr>
        <p:spPr>
          <a:xfrm>
            <a:off x="685800" y="5105400"/>
            <a:ext cx="10820400" cy="9525"/>
          </a:xfrm>
          <a:custGeom>
            <a:avLst/>
            <a:gdLst/>
            <a:ahLst/>
            <a:cxnLst/>
            <a:rect l="l" t="t" r="r" b="b"/>
            <a:pathLst>
              <a:path w="10820400" h="9525">
                <a:moveTo>
                  <a:pt x="0" y="0"/>
                </a:moveTo>
                <a:lnTo>
                  <a:pt x="10820400" y="0"/>
                </a:lnTo>
              </a:path>
            </a:pathLst>
          </a:custGeom>
          <a:noFill/>
          <a:ln w="11430">
            <a:solidFill>
              <a:schemeClr val="accent4"/>
            </a:solidFill>
          </a:ln>
        </p:spPr>
        <p:txBody>
          <a:bodyPr/>
          <a:p/>
        </p:txBody>
      </p:sp>
      <p:sp>
        <p:nvSpPr>
          <p:cNvPr id="25" name="TextBox 25"/>
          <p:cNvSpPr txBox="1"/>
          <p:nvPr/>
        </p:nvSpPr>
        <p:spPr>
          <a:xfrm>
            <a:off x="677799" y="5297329"/>
            <a:ext cx="3247348" cy="308039"/>
          </a:xfrm>
          <a:prstGeom prst="rect">
            <a:avLst/>
          </a:prstGeom>
          <a:noFill/>
          <a:ln>
            <a:noFill/>
          </a:ln>
        </p:spPr>
        <p:txBody>
          <a:bodyPr wrap="none" lIns="0" tIns="0" rIns="0" bIns="0" anchor="t" anchorCtr="0">
            <a:spAutoFit/>
          </a:bodyPr>
          <a:lstStyle/>
          <a:p>
            <a:pPr algn="l"/>
            <a:r>
              <a:rPr lang="en-US" sz="1580" b="1" dirty="0">
                <a:solidFill>
                  <a:schemeClr val="dk1"/>
                </a:solidFill>
                <a:latin typeface="+mn-lt"/>
                <a:ea typeface="+mn-ea"/>
                <a:cs typeface="+mn-cs"/>
              </a:rPr>
              <a:t>Rico Angell · Andrew McCallum</a:t>
            </a:r>
          </a:p>
        </p:txBody>
      </p:sp>
      <p:sp>
        <p:nvSpPr>
          <p:cNvPr id="26" name="TextBox 26"/>
          <p:cNvSpPr txBox="1"/>
          <p:nvPr/>
        </p:nvSpPr>
        <p:spPr>
          <a:xfrm>
            <a:off x="680085" y="5593556"/>
            <a:ext cx="5065954"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Manning College of Information &amp; Computer Sciences, UMass Amherst</a:t>
            </a:r>
          </a:p>
        </p:txBody>
      </p:sp>
      <p:sp>
        <p:nvSpPr>
          <p:cNvPr id="27" name="TextBox 27"/>
          <p:cNvSpPr txBox="1"/>
          <p:nvPr/>
        </p:nvSpPr>
        <p:spPr>
          <a:xfrm>
            <a:off x="680466" y="5944552"/>
            <a:ext cx="867326" cy="205359"/>
          </a:xfrm>
          <a:prstGeom prst="rect">
            <a:avLst/>
          </a:prstGeom>
          <a:noFill/>
          <a:ln>
            <a:noFill/>
          </a:ln>
        </p:spPr>
        <p:txBody>
          <a:bodyPr wrap="none" lIns="0" tIns="0" rIns="0" bIns="0" anchor="t" anchorCtr="0">
            <a:spAutoFit/>
          </a:bodyPr>
          <a:lstStyle/>
          <a:p>
            <a:pPr algn="l"/>
            <a:r>
              <a:rPr lang="en-US" sz="1050" b="1" spc="112" dirty="0">
                <a:solidFill>
                  <a:schemeClr val="accent2"/>
                </a:solidFill>
                <a:latin typeface="+mn-lt"/>
                <a:ea typeface="+mn-ea"/>
                <a:cs typeface="+mn-cs"/>
              </a:rPr>
              <a:t>ICML 2024</a:t>
            </a:r>
          </a:p>
        </p:txBody>
      </p:sp>
      <p:sp>
        <p:nvSpPr>
          <p:cNvPr id="28" name="TextBox 28"/>
          <p:cNvSpPr txBox="1"/>
          <p:nvPr/>
        </p:nvSpPr>
        <p:spPr>
          <a:xfrm>
            <a:off x="680466" y="6173152"/>
            <a:ext cx="3099097" cy="205359"/>
          </a:xfrm>
          <a:prstGeom prst="rect">
            <a:avLst/>
          </a:prstGeom>
          <a:noFill/>
          <a:ln>
            <a:noFill/>
          </a:ln>
        </p:spPr>
        <p:txBody>
          <a:bodyPr wrap="none" lIns="0" tIns="0" rIns="0" bIns="0" anchor="t" anchorCtr="0">
            <a:spAutoFit/>
          </a:bodyPr>
          <a:lstStyle/>
          <a:p>
            <a:pPr algn="l"/>
            <a:r>
              <a:rPr lang="en-US" sz="1050" dirty="0">
                <a:solidFill>
                  <a:srgbClr val="6E85AC"/>
                </a:solidFill>
                <a:latin typeface="Consolas"/>
                <a:ea typeface="Consolas"/>
                <a:cs typeface="Consolas"/>
              </a:rPr>
              <a:t>arXiv:2312.11801 · github.com/rangell/usbs</a:t>
            </a:r>
          </a:p>
        </p:txBody>
      </p:sp>
      <p:sp>
        <p:nvSpPr>
          <p:cNvPr id="29" name="cue_s01_c1_semidefinite_programming_powerful_to" title="cue_s01_c1_semidefinite_programming_powerful_to" descr="cue_s01_c1_semidefinite_programming_powerful_to Semidefinite programming is a powerful tool for combinatorial optimization, but it has long been considered too expensive to run at real-world scale."/>
          <p:cNvSpPr/>
          <p:nvPr/>
        </p:nvSpPr>
        <p:spPr>
          <a:xfrm>
            <a:off x="686409" y="907313"/>
            <a:ext cx="6253276" cy="51229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cue_s01_c2_introduces_usbs_unified_spectral_bun" title="cue_s01_c2_introduces_usbs_unified_spectral_bun" descr="cue_s01_c2_introduces_usbs_unified_spectral_bun This paper introduces USBS, Unified Spectral Bundling with Sketching, a provably correct solver that is fast, scales to billions of decision variables, and, crucially, can reuse a previous solution as a warm start."/>
          <p:cNvSpPr/>
          <p:nvPr/>
        </p:nvSpPr>
        <p:spPr>
          <a:xfrm>
            <a:off x="686409" y="3390595"/>
            <a:ext cx="5905804" cy="12193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cue_s01_c3_maxcut_instance_over_two_billion" title="cue_s01_c3_maxcut_instance_over_two_billion" descr="cue_s01_c3_maxcut_instance_over_two_billion On a MaxCut instance with over two billion variables, USBS delivers a five-hundred-times speedup over the previous state of the art, and warm-starting alone can accelerate convergence by more than one hundred times."/>
          <p:cNvSpPr/>
          <p:nvPr/>
        </p:nvSpPr>
        <p:spPr>
          <a:xfrm>
            <a:off x="7010399" y="3390595"/>
            <a:ext cx="4496409" cy="12193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chemeClr val="lt2">
                  <a:alpha val="90000"/>
                </a:schemeClr>
              </a:gs>
              <a:gs pos="60000">
                <a:schemeClr val="lt1">
                  <a:alpha val="0"/>
                </a:schemeClr>
              </a:gs>
            </a:gsLst>
            <a:path path="circle">
              <a:fillToRect l="50000" t="50000" r="50000" b="50000"/>
            </a:path>
          </a:gradFill>
          <a:ln>
            <a:noFill/>
          </a:ln>
        </p:spPr>
        <p:txBody>
          <a:bodyPr/>
          <a:p/>
        </p:txBody>
      </p:sp>
      <p:sp>
        <p:nvSpPr>
          <p:cNvPr id="3" name="Rectangle 3"/>
          <p:cNvSpPr/>
          <p:nvPr/>
        </p:nvSpPr>
        <p:spPr>
          <a:xfrm>
            <a:off x="533400" y="476250"/>
            <a:ext cx="57150" cy="209550"/>
          </a:xfrm>
          <a:prstGeom prst="roundRect">
            <a:avLst>
              <a:gd name="adj" fmla="val 41667"/>
            </a:avLst>
          </a:prstGeom>
          <a:solidFill>
            <a:schemeClr val="accent2"/>
          </a:solidFill>
          <a:ln>
            <a:noFill/>
          </a:ln>
        </p:spPr>
        <p:txBody>
          <a:bodyPr/>
          <a:p/>
        </p:txBody>
      </p:sp>
      <p:sp>
        <p:nvSpPr>
          <p:cNvPr id="4" name="TextBox 4"/>
          <p:cNvSpPr txBox="1"/>
          <p:nvPr/>
        </p:nvSpPr>
        <p:spPr>
          <a:xfrm>
            <a:off x="699135" y="526256"/>
            <a:ext cx="914370" cy="220028"/>
          </a:xfrm>
          <a:prstGeom prst="rect">
            <a:avLst/>
          </a:prstGeom>
          <a:noFill/>
          <a:ln>
            <a:noFill/>
          </a:ln>
        </p:spPr>
        <p:txBody>
          <a:bodyPr wrap="none" lIns="0" tIns="0" rIns="0" bIns="0" anchor="t" anchorCtr="0">
            <a:spAutoFit/>
          </a:bodyPr>
          <a:lstStyle/>
          <a:p>
            <a:pPr algn="l"/>
            <a:r>
              <a:rPr lang="en-US" sz="1120" b="1" spc="225" dirty="0">
                <a:solidFill>
                  <a:schemeClr val="accent2"/>
                </a:solidFill>
                <a:latin typeface="+mn-lt"/>
                <a:ea typeface="+mn-ea"/>
                <a:cs typeface="+mn-cs"/>
              </a:rPr>
              <a:t>PROBLEM</a:t>
            </a:r>
          </a:p>
        </p:txBody>
      </p:sp>
      <p:sp>
        <p:nvSpPr>
          <p:cNvPr id="5" name="TextBox 5"/>
          <p:cNvSpPr txBox="1"/>
          <p:nvPr/>
        </p:nvSpPr>
        <p:spPr>
          <a:xfrm>
            <a:off x="518160" y="781050"/>
            <a:ext cx="6639152" cy="586740"/>
          </a:xfrm>
          <a:prstGeom prst="rect">
            <a:avLst/>
          </a:prstGeom>
          <a:noFill/>
          <a:ln>
            <a:noFill/>
          </a:ln>
        </p:spPr>
        <p:txBody>
          <a:bodyPr wrap="none" lIns="0" tIns="0" rIns="0" bIns="0" anchor="t" anchorCtr="0">
            <a:spAutoFit/>
          </a:bodyPr>
          <a:lstStyle/>
          <a:p>
            <a:pPr algn="l"/>
            <a:r>
              <a:rPr lang="en-US" sz="3000" b="1" dirty="0">
                <a:solidFill>
                  <a:schemeClr val="dk1"/>
                </a:solidFill>
                <a:latin typeface="+mn-lt"/>
                <a:ea typeface="+mn-ea"/>
                <a:cs typeface="+mn-cs"/>
              </a:rPr>
              <a:t>Why SDPs are dismissed at scale</a:t>
            </a:r>
          </a:p>
        </p:txBody>
      </p:sp>
      <p:sp>
        <p:nvSpPr>
          <p:cNvPr id="6" name="TextBox 6"/>
          <p:cNvSpPr txBox="1"/>
          <p:nvPr/>
        </p:nvSpPr>
        <p:spPr>
          <a:xfrm>
            <a:off x="11095485" y="534352"/>
            <a:ext cx="568449" cy="205359"/>
          </a:xfrm>
          <a:prstGeom prst="rect">
            <a:avLst/>
          </a:prstGeom>
          <a:noFill/>
          <a:ln>
            <a:noFill/>
          </a:ln>
        </p:spPr>
        <p:txBody>
          <a:bodyPr wrap="none" lIns="0" tIns="0" rIns="0" bIns="0" anchor="t" anchorCtr="0">
            <a:spAutoFit/>
          </a:bodyPr>
          <a:lstStyle/>
          <a:p>
            <a:pPr algn="r"/>
            <a:r>
              <a:rPr lang="en-US" sz="1050" b="1" spc="75" dirty="0">
                <a:solidFill>
                  <a:srgbClr val="6E85AC"/>
                </a:solidFill>
                <a:latin typeface="Consolas"/>
                <a:ea typeface="Consolas"/>
                <a:cs typeface="Consolas"/>
              </a:rPr>
              <a:t>02 / 10</a:t>
            </a:r>
          </a:p>
        </p:txBody>
      </p:sp>
      <p:sp>
        <p:nvSpPr>
          <p:cNvPr id="7" name="Line 7"/>
          <p:cNvSpPr/>
          <p:nvPr/>
        </p:nvSpPr>
        <p:spPr>
          <a:xfrm>
            <a:off x="533400" y="1314450"/>
            <a:ext cx="11125200" cy="9525"/>
          </a:xfrm>
          <a:custGeom>
            <a:avLst/>
            <a:gdLst/>
            <a:ahLst/>
            <a:cxnLst/>
            <a:rect l="l" t="t" r="r" b="b"/>
            <a:pathLst>
              <a:path w="11125200" h="9525">
                <a:moveTo>
                  <a:pt x="0" y="0"/>
                </a:moveTo>
                <a:lnTo>
                  <a:pt x="11125200" y="0"/>
                </a:lnTo>
              </a:path>
            </a:pathLst>
          </a:custGeom>
          <a:noFill/>
          <a:ln w="11430">
            <a:solidFill>
              <a:schemeClr val="accent4"/>
            </a:solidFill>
          </a:ln>
        </p:spPr>
        <p:txBody>
          <a:bodyPr/>
          <a:p/>
        </p:txBody>
      </p:sp>
      <p:grpSp>
        <p:nvGrpSpPr>
          <p:cNvPr id="12" name="Group 12"/>
          <p:cNvGrpSpPr/>
          <p:nvPr/>
        </p:nvGrpSpPr>
        <p:grpSpPr>
          <a:xfrm>
            <a:off x="533400" y="1524000"/>
            <a:ext cx="11125200" cy="876300"/>
            <a:chOff x="533400" y="1524000"/>
            <a:chExt cx="11125200" cy="876300"/>
          </a:xfrm>
        </p:grpSpPr>
        <p:sp>
          <p:nvSpPr>
            <p:cNvPr id="8" name="Rectangle 8"/>
            <p:cNvSpPr/>
            <p:nvPr/>
          </p:nvSpPr>
          <p:spPr>
            <a:xfrm>
              <a:off x="533400" y="1524000"/>
              <a:ext cx="11125200" cy="876300"/>
            </a:xfrm>
            <a:prstGeom prst="roundRect">
              <a:avLst>
                <a:gd name="adj" fmla="val 15217"/>
              </a:avLst>
            </a:prstGeom>
            <a:solidFill>
              <a:schemeClr val="accent5"/>
            </a:solidFill>
            <a:ln w="11430">
              <a:solidFill>
                <a:schemeClr val="accent4"/>
              </a:solidFill>
            </a:ln>
          </p:spPr>
        </p:sp>
        <p:sp>
          <p:nvSpPr>
            <p:cNvPr id="9" name="Rectangle 9"/>
            <p:cNvSpPr/>
            <p:nvPr/>
          </p:nvSpPr>
          <p:spPr>
            <a:xfrm>
              <a:off x="723900" y="1733550"/>
              <a:ext cx="47625" cy="457200"/>
            </a:xfrm>
            <a:prstGeom prst="roundRect">
              <a:avLst>
                <a:gd name="adj" fmla="val 50000"/>
              </a:avLst>
            </a:prstGeom>
            <a:solidFill>
              <a:schemeClr val="accent2"/>
            </a:solidFill>
            <a:ln>
              <a:noFill/>
            </a:ln>
          </p:spPr>
        </p:sp>
        <p:sp>
          <p:nvSpPr>
            <p:cNvPr id="10" name="TextBox 10"/>
            <p:cNvSpPr txBox="1"/>
            <p:nvPr/>
          </p:nvSpPr>
          <p:spPr>
            <a:xfrm>
              <a:off x="906780" y="1724025"/>
              <a:ext cx="5411338"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SDPs model an enormous range of practical problems</a:t>
              </a:r>
            </a:p>
          </p:txBody>
        </p:sp>
        <p:sp>
          <p:nvSpPr>
            <p:cNvPr id="11" name="TextBox 11"/>
            <p:cNvSpPr txBox="1"/>
            <p:nvPr/>
          </p:nvSpPr>
          <p:spPr>
            <a:xfrm>
              <a:off x="908685" y="2031206"/>
              <a:ext cx="7497379"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combinatorial optimization · neural-network verification · control — yet solving them at scale is hard</a:t>
              </a:r>
            </a:p>
          </p:txBody>
        </p:sp>
      </p:grpSp>
      <p:grpSp>
        <p:nvGrpSpPr>
          <p:cNvPr id="22" name="Group 22"/>
          <p:cNvGrpSpPr/>
          <p:nvPr/>
        </p:nvGrpSpPr>
        <p:grpSpPr>
          <a:xfrm>
            <a:off x="533400" y="2590800"/>
            <a:ext cx="3556000" cy="2857500"/>
            <a:chOff x="533400" y="2590800"/>
            <a:chExt cx="3556000" cy="2857500"/>
          </a:xfrm>
        </p:grpSpPr>
        <p:sp>
          <p:nvSpPr>
            <p:cNvPr id="13" name="Rectangle 13"/>
            <p:cNvSpPr/>
            <p:nvPr/>
          </p:nvSpPr>
          <p:spPr>
            <a:xfrm>
              <a:off x="533400" y="2590800"/>
              <a:ext cx="3556000" cy="2857500"/>
            </a:xfrm>
            <a:prstGeom prst="roundRect">
              <a:avLst>
                <a:gd name="adj" fmla="val 4667"/>
              </a:avLst>
            </a:prstGeom>
            <a:solidFill>
              <a:schemeClr val="accent5"/>
            </a:solidFill>
            <a:ln w="11430">
              <a:solidFill>
                <a:schemeClr val="accent4"/>
              </a:solidFill>
            </a:ln>
          </p:spPr>
        </p:sp>
        <p:sp>
          <p:nvSpPr>
            <p:cNvPr id="14" name="Rectangle 14"/>
            <p:cNvSpPr/>
            <p:nvPr/>
          </p:nvSpPr>
          <p:spPr>
            <a:xfrm>
              <a:off x="742950" y="2838450"/>
              <a:ext cx="47625" cy="285750"/>
            </a:xfrm>
            <a:prstGeom prst="roundRect">
              <a:avLst>
                <a:gd name="adj" fmla="val 50000"/>
              </a:avLst>
            </a:prstGeom>
            <a:solidFill>
              <a:srgbClr val="F2708A"/>
            </a:solidFill>
            <a:ln>
              <a:noFill/>
            </a:ln>
          </p:spPr>
        </p:sp>
        <p:sp>
          <p:nvSpPr>
            <p:cNvPr id="15" name="TextBox 15"/>
            <p:cNvSpPr txBox="1"/>
            <p:nvPr/>
          </p:nvSpPr>
          <p:spPr>
            <a:xfrm>
              <a:off x="736092" y="3207068"/>
              <a:ext cx="1792677"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Classic SDP solvers</a:t>
              </a:r>
            </a:p>
          </p:txBody>
        </p:sp>
        <p:sp>
          <p:nvSpPr>
            <p:cNvPr id="16" name="TextBox 16"/>
            <p:cNvSpPr txBox="1"/>
            <p:nvPr/>
          </p:nvSpPr>
          <p:spPr>
            <a:xfrm>
              <a:off x="737235" y="3536156"/>
              <a:ext cx="2564325"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Project onto the semidefinite cone</a:t>
              </a:r>
            </a:p>
          </p:txBody>
        </p:sp>
        <p:sp>
          <p:nvSpPr>
            <p:cNvPr id="17" name="TextBox 17"/>
            <p:cNvSpPr txBox="1"/>
            <p:nvPr/>
          </p:nvSpPr>
          <p:spPr>
            <a:xfrm>
              <a:off x="737235" y="3736181"/>
              <a:ext cx="2280585"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at every iteration, requiring a</a:t>
              </a:r>
            </a:p>
          </p:txBody>
        </p:sp>
        <p:sp>
          <p:nvSpPr>
            <p:cNvPr id="18" name="TextBox 18"/>
            <p:cNvSpPr txBox="1"/>
            <p:nvPr/>
          </p:nvSpPr>
          <p:spPr>
            <a:xfrm>
              <a:off x="737235" y="3936206"/>
              <a:ext cx="1805645"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full eigendecomposition.</a:t>
              </a:r>
            </a:p>
          </p:txBody>
        </p:sp>
        <p:sp>
          <p:nvSpPr>
            <p:cNvPr id="19" name="Rectangle 19"/>
            <p:cNvSpPr/>
            <p:nvPr/>
          </p:nvSpPr>
          <p:spPr>
            <a:xfrm>
              <a:off x="742950" y="4381500"/>
              <a:ext cx="3136900" cy="800100"/>
            </a:xfrm>
            <a:prstGeom prst="roundRect">
              <a:avLst>
                <a:gd name="adj" fmla="val 14286"/>
              </a:avLst>
            </a:prstGeom>
            <a:solidFill>
              <a:srgbClr val="301B27"/>
            </a:solidFill>
            <a:ln w="11430">
              <a:solidFill>
                <a:srgbClr val="F2708A"/>
              </a:solidFill>
            </a:ln>
          </p:spPr>
        </p:sp>
        <p:sp>
          <p:nvSpPr>
            <p:cNvPr id="20" name="TextBox 20"/>
            <p:cNvSpPr txBox="1"/>
            <p:nvPr/>
          </p:nvSpPr>
          <p:spPr>
            <a:xfrm>
              <a:off x="883920" y="4519612"/>
              <a:ext cx="987631" cy="440055"/>
            </a:xfrm>
            <a:prstGeom prst="rect">
              <a:avLst/>
            </a:prstGeom>
            <a:noFill/>
            <a:ln>
              <a:noFill/>
            </a:ln>
          </p:spPr>
          <p:txBody>
            <a:bodyPr wrap="none" lIns="0" tIns="0" rIns="0" bIns="0" anchor="t" anchorCtr="0">
              <a:spAutoFit/>
            </a:bodyPr>
            <a:lstStyle/>
            <a:p>
              <a:pPr algn="l"/>
              <a:r>
                <a:rPr lang="en-US" sz="2250" b="1" dirty="0">
                  <a:solidFill>
                    <a:srgbClr val="F2708A"/>
                  </a:solidFill>
                  <a:latin typeface="Consolas"/>
                  <a:ea typeface="Consolas"/>
                  <a:cs typeface="Consolas"/>
                </a:rPr>
                <a:t>O(n³)</a:t>
              </a:r>
            </a:p>
          </p:txBody>
        </p:sp>
        <p:sp>
          <p:nvSpPr>
            <p:cNvPr id="21" name="TextBox 21"/>
            <p:cNvSpPr txBox="1"/>
            <p:nvPr/>
          </p:nvSpPr>
          <p:spPr>
            <a:xfrm>
              <a:off x="890206" y="4900851"/>
              <a:ext cx="1635083"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cubic per-iteration cost</a:t>
              </a:r>
            </a:p>
          </p:txBody>
        </p:sp>
      </p:grpSp>
      <p:grpSp>
        <p:nvGrpSpPr>
          <p:cNvPr id="32" name="Group 32"/>
          <p:cNvGrpSpPr/>
          <p:nvPr/>
        </p:nvGrpSpPr>
        <p:grpSpPr>
          <a:xfrm>
            <a:off x="4318000" y="2590800"/>
            <a:ext cx="3556000" cy="2857500"/>
            <a:chOff x="4318000" y="2590800"/>
            <a:chExt cx="3556000" cy="2857500"/>
          </a:xfrm>
        </p:grpSpPr>
        <p:sp>
          <p:nvSpPr>
            <p:cNvPr id="23" name="Rectangle 23"/>
            <p:cNvSpPr/>
            <p:nvPr/>
          </p:nvSpPr>
          <p:spPr>
            <a:xfrm>
              <a:off x="4318000" y="2590800"/>
              <a:ext cx="3556000" cy="2857500"/>
            </a:xfrm>
            <a:prstGeom prst="roundRect">
              <a:avLst>
                <a:gd name="adj" fmla="val 4667"/>
              </a:avLst>
            </a:prstGeom>
            <a:solidFill>
              <a:schemeClr val="accent5"/>
            </a:solidFill>
            <a:ln w="11430">
              <a:solidFill>
                <a:schemeClr val="accent4"/>
              </a:solidFill>
            </a:ln>
          </p:spPr>
        </p:sp>
        <p:sp>
          <p:nvSpPr>
            <p:cNvPr id="24" name="Rectangle 24"/>
            <p:cNvSpPr/>
            <p:nvPr/>
          </p:nvSpPr>
          <p:spPr>
            <a:xfrm>
              <a:off x="4527550" y="2838450"/>
              <a:ext cx="47625" cy="285750"/>
            </a:xfrm>
            <a:prstGeom prst="roundRect">
              <a:avLst>
                <a:gd name="adj" fmla="val 50000"/>
              </a:avLst>
            </a:prstGeom>
            <a:solidFill>
              <a:srgbClr val="F7B84B"/>
            </a:solidFill>
            <a:ln>
              <a:noFill/>
            </a:ln>
          </p:spPr>
        </p:sp>
        <p:sp>
          <p:nvSpPr>
            <p:cNvPr id="25" name="TextBox 25"/>
            <p:cNvSpPr txBox="1"/>
            <p:nvPr/>
          </p:nvSpPr>
          <p:spPr>
            <a:xfrm>
              <a:off x="4520692" y="3207068"/>
              <a:ext cx="1632035"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Sketching (CGAL)</a:t>
              </a:r>
            </a:p>
          </p:txBody>
        </p:sp>
        <p:sp>
          <p:nvSpPr>
            <p:cNvPr id="26" name="TextBox 26"/>
            <p:cNvSpPr txBox="1"/>
            <p:nvPr/>
          </p:nvSpPr>
          <p:spPr>
            <a:xfrm>
              <a:off x="4521835" y="3536156"/>
              <a:ext cx="2488957"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Avoids storing the full matrix and</a:t>
              </a:r>
            </a:p>
          </p:txBody>
        </p:sp>
        <p:sp>
          <p:nvSpPr>
            <p:cNvPr id="27" name="TextBox 27"/>
            <p:cNvSpPr txBox="1"/>
            <p:nvPr/>
          </p:nvSpPr>
          <p:spPr>
            <a:xfrm>
              <a:off x="4521835" y="3736181"/>
              <a:ext cx="2431359"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scales much further — but pays a</a:t>
              </a:r>
            </a:p>
          </p:txBody>
        </p:sp>
        <p:sp>
          <p:nvSpPr>
            <p:cNvPr id="28" name="TextBox 28"/>
            <p:cNvSpPr txBox="1"/>
            <p:nvPr/>
          </p:nvSpPr>
          <p:spPr>
            <a:xfrm>
              <a:off x="4521835" y="3936206"/>
              <a:ext cx="1511635"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price as size grows.</a:t>
              </a:r>
            </a:p>
          </p:txBody>
        </p:sp>
        <p:sp>
          <p:nvSpPr>
            <p:cNvPr id="29" name="Rectangle 29"/>
            <p:cNvSpPr/>
            <p:nvPr/>
          </p:nvSpPr>
          <p:spPr>
            <a:xfrm>
              <a:off x="4527550" y="4381500"/>
              <a:ext cx="3136900" cy="800100"/>
            </a:xfrm>
            <a:prstGeom prst="roundRect">
              <a:avLst>
                <a:gd name="adj" fmla="val 14286"/>
              </a:avLst>
            </a:prstGeom>
            <a:solidFill>
              <a:srgbClr val="332A18"/>
            </a:solidFill>
            <a:ln w="11430">
              <a:solidFill>
                <a:srgbClr val="F7B84B"/>
              </a:solidFill>
            </a:ln>
          </p:spPr>
        </p:sp>
        <p:sp>
          <p:nvSpPr>
            <p:cNvPr id="30" name="TextBox 30"/>
            <p:cNvSpPr txBox="1"/>
            <p:nvPr/>
          </p:nvSpPr>
          <p:spPr>
            <a:xfrm>
              <a:off x="4673473" y="4567714"/>
              <a:ext cx="1406109" cy="249364"/>
            </a:xfrm>
            <a:prstGeom prst="rect">
              <a:avLst/>
            </a:prstGeom>
            <a:noFill/>
            <a:ln>
              <a:noFill/>
            </a:ln>
          </p:spPr>
          <p:txBody>
            <a:bodyPr wrap="none" lIns="0" tIns="0" rIns="0" bIns="0" anchor="t" anchorCtr="0">
              <a:spAutoFit/>
            </a:bodyPr>
            <a:lstStyle/>
            <a:p>
              <a:pPr algn="l"/>
              <a:r>
                <a:rPr lang="en-US" sz="1280" b="1" dirty="0">
                  <a:solidFill>
                    <a:srgbClr val="F7B84B"/>
                  </a:solidFill>
                  <a:latin typeface="+mn-lt"/>
                  <a:ea typeface="+mn-ea"/>
                  <a:cs typeface="+mn-cs"/>
                </a:rPr>
                <a:t>more iterations</a:t>
              </a:r>
            </a:p>
          </p:txBody>
        </p:sp>
        <p:sp>
          <p:nvSpPr>
            <p:cNvPr id="31" name="TextBox 31"/>
            <p:cNvSpPr txBox="1"/>
            <p:nvPr/>
          </p:nvSpPr>
          <p:spPr>
            <a:xfrm>
              <a:off x="4674806" y="4843701"/>
              <a:ext cx="1811839"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convergence slows at scale</a:t>
              </a:r>
            </a:p>
          </p:txBody>
        </p:sp>
      </p:grpSp>
      <p:grpSp>
        <p:nvGrpSpPr>
          <p:cNvPr id="42" name="Group 42"/>
          <p:cNvGrpSpPr/>
          <p:nvPr/>
        </p:nvGrpSpPr>
        <p:grpSpPr>
          <a:xfrm>
            <a:off x="8102600" y="2590800"/>
            <a:ext cx="3556000" cy="2857500"/>
            <a:chOff x="8102600" y="2590800"/>
            <a:chExt cx="3556000" cy="2857500"/>
          </a:xfrm>
        </p:grpSpPr>
        <p:sp>
          <p:nvSpPr>
            <p:cNvPr id="33" name="Rectangle 33"/>
            <p:cNvSpPr/>
            <p:nvPr/>
          </p:nvSpPr>
          <p:spPr>
            <a:xfrm>
              <a:off x="8102600" y="2590800"/>
              <a:ext cx="3556000" cy="2857500"/>
            </a:xfrm>
            <a:prstGeom prst="roundRect">
              <a:avLst>
                <a:gd name="adj" fmla="val 4667"/>
              </a:avLst>
            </a:prstGeom>
            <a:solidFill>
              <a:schemeClr val="accent5"/>
            </a:solidFill>
            <a:ln w="11430">
              <a:solidFill>
                <a:schemeClr val="accent4"/>
              </a:solidFill>
            </a:ln>
          </p:spPr>
        </p:sp>
        <p:sp>
          <p:nvSpPr>
            <p:cNvPr id="34" name="Rectangle 34"/>
            <p:cNvSpPr/>
            <p:nvPr/>
          </p:nvSpPr>
          <p:spPr>
            <a:xfrm>
              <a:off x="8312150" y="2838450"/>
              <a:ext cx="47625" cy="285750"/>
            </a:xfrm>
            <a:prstGeom prst="roundRect">
              <a:avLst>
                <a:gd name="adj" fmla="val 50000"/>
              </a:avLst>
            </a:prstGeom>
            <a:solidFill>
              <a:schemeClr val="accent2"/>
            </a:solidFill>
            <a:ln>
              <a:noFill/>
            </a:ln>
          </p:spPr>
        </p:sp>
        <p:sp>
          <p:nvSpPr>
            <p:cNvPr id="35" name="TextBox 35"/>
            <p:cNvSpPr txBox="1"/>
            <p:nvPr/>
          </p:nvSpPr>
          <p:spPr>
            <a:xfrm>
              <a:off x="8305292" y="3207068"/>
              <a:ext cx="1680596"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No warm-starting</a:t>
              </a:r>
            </a:p>
          </p:txBody>
        </p:sp>
        <p:sp>
          <p:nvSpPr>
            <p:cNvPr id="36" name="TextBox 36"/>
            <p:cNvSpPr txBox="1"/>
            <p:nvPr/>
          </p:nvSpPr>
          <p:spPr>
            <a:xfrm>
              <a:off x="8306435" y="3536156"/>
              <a:ext cx="2443805"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They rely on iteration-dependent</a:t>
              </a:r>
            </a:p>
          </p:txBody>
        </p:sp>
        <p:sp>
          <p:nvSpPr>
            <p:cNvPr id="37" name="TextBox 37"/>
            <p:cNvSpPr txBox="1"/>
            <p:nvPr/>
          </p:nvSpPr>
          <p:spPr>
            <a:xfrm>
              <a:off x="8306435" y="3736181"/>
              <a:ext cx="2340894"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parameter schedules that block</a:t>
              </a:r>
            </a:p>
          </p:txBody>
        </p:sp>
        <p:sp>
          <p:nvSpPr>
            <p:cNvPr id="38" name="TextBox 38"/>
            <p:cNvSpPr txBox="1"/>
            <p:nvPr/>
          </p:nvSpPr>
          <p:spPr>
            <a:xfrm>
              <a:off x="8306435" y="3936206"/>
              <a:ext cx="2069501"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reusing a previous solution.</a:t>
              </a:r>
            </a:p>
          </p:txBody>
        </p:sp>
        <p:sp>
          <p:nvSpPr>
            <p:cNvPr id="39" name="Rectangle 39"/>
            <p:cNvSpPr/>
            <p:nvPr/>
          </p:nvSpPr>
          <p:spPr>
            <a:xfrm>
              <a:off x="8312150" y="4381500"/>
              <a:ext cx="3136900" cy="800100"/>
            </a:xfrm>
            <a:prstGeom prst="roundRect">
              <a:avLst>
                <a:gd name="adj" fmla="val 14286"/>
              </a:avLst>
            </a:prstGeom>
            <a:solidFill>
              <a:srgbClr val="16283F"/>
            </a:solidFill>
            <a:ln w="11430">
              <a:solidFill>
                <a:schemeClr val="accent2"/>
              </a:solidFill>
            </a:ln>
          </p:spPr>
        </p:sp>
        <p:sp>
          <p:nvSpPr>
            <p:cNvPr id="40" name="TextBox 40"/>
            <p:cNvSpPr txBox="1"/>
            <p:nvPr/>
          </p:nvSpPr>
          <p:spPr>
            <a:xfrm>
              <a:off x="8458454" y="4575810"/>
              <a:ext cx="1470934" cy="234696"/>
            </a:xfrm>
            <a:prstGeom prst="rect">
              <a:avLst/>
            </a:prstGeom>
            <a:noFill/>
            <a:ln>
              <a:noFill/>
            </a:ln>
          </p:spPr>
          <p:txBody>
            <a:bodyPr wrap="none" lIns="0" tIns="0" rIns="0" bIns="0" anchor="t" anchorCtr="0">
              <a:spAutoFit/>
            </a:bodyPr>
            <a:lstStyle/>
            <a:p>
              <a:pPr algn="l"/>
              <a:r>
                <a:rPr lang="en-US" sz="1200" b="1" dirty="0">
                  <a:solidFill>
                    <a:schemeClr val="accent2"/>
                  </a:solidFill>
                  <a:latin typeface="+mn-lt"/>
                  <a:ea typeface="+mn-ea"/>
                  <a:cs typeface="+mn-cs"/>
                </a:rPr>
                <a:t>schedules ≠ reuse</a:t>
              </a:r>
            </a:p>
          </p:txBody>
        </p:sp>
        <p:sp>
          <p:nvSpPr>
            <p:cNvPr id="41" name="TextBox 41"/>
            <p:cNvSpPr txBox="1"/>
            <p:nvPr/>
          </p:nvSpPr>
          <p:spPr>
            <a:xfrm>
              <a:off x="8459406" y="4843701"/>
              <a:ext cx="1465125"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warm start unreliable</a:t>
              </a:r>
            </a:p>
          </p:txBody>
        </p:sp>
      </p:grpSp>
      <p:sp>
        <p:nvSpPr>
          <p:cNvPr id="43" name="cue_s02_c1_semidefinite_programs_enormous_range" title="cue_s02_c1_semidefinite_programs_enormous_range" descr="cue_s02_c1_semidefinite_programs_enormous_range Semidefinite programs can model an enormous range of practical problems, from combinatorial optimization to neural network verification and control. But solving them at scale is hard."/>
          <p:cNvSpPr/>
          <p:nvPr/>
        </p:nvSpPr>
        <p:spPr>
          <a:xfrm>
            <a:off x="532790" y="1523847"/>
            <a:ext cx="11125200" cy="8764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cue_s02_c2_classic_approaches_require_projectin" title="cue_s02_c2_classic_approaches_require_projectin" descr="cue_s02_c2_classic_approaches_require_projectin The classic approaches require projecting onto the semidefinite cone, which needs a full eigendecomposition that scales cubically with problem size."/>
          <p:cNvSpPr/>
          <p:nvPr/>
        </p:nvSpPr>
        <p:spPr>
          <a:xfrm>
            <a:off x="532790" y="2590952"/>
            <a:ext cx="3556406" cy="28577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cue_s02_c3_recent_sketching_methods_like_cgal" title="cue_s02_c3_recent_sketching_methods_like_cgal" descr="cue_s02_c3_recent_sketching_methods_like_cgal Recent sketching methods, like CGAL, avoid storing the full matrix and scale much further, but they pay for it: as the problem grows they need more and more iterations, so convergence slows down."/>
          <p:cNvSpPr/>
          <p:nvPr/>
        </p:nvSpPr>
        <p:spPr>
          <a:xfrm>
            <a:off x="4318406" y="2590952"/>
            <a:ext cx="3556406" cy="28577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cue_s02_c4_worse_they_rely_iteration_dependent" title="cue_s02_c4_worse_they_rely_iteration_dependent" descr="cue_s02_c4_worse_they_rely_iteration_dependent Worse, they rely on iteration-dependent parameter schedules that prevent them from reliably reusing a previous solution as a warm start, which is exactly what many real applications need."/>
          <p:cNvSpPr/>
          <p:nvPr/>
        </p:nvSpPr>
        <p:spPr>
          <a:xfrm>
            <a:off x="8102803" y="2590952"/>
            <a:ext cx="3556406" cy="28577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chemeClr val="lt2">
                  <a:alpha val="90000"/>
                </a:schemeClr>
              </a:gs>
              <a:gs pos="60000">
                <a:schemeClr val="lt1">
                  <a:alpha val="0"/>
                </a:schemeClr>
              </a:gs>
            </a:gsLst>
            <a:path path="circle">
              <a:fillToRect l="50000" t="50000" r="50000" b="50000"/>
            </a:path>
          </a:gradFill>
          <a:ln>
            <a:noFill/>
          </a:ln>
        </p:spPr>
        <p:txBody>
          <a:bodyPr/>
          <a:p/>
        </p:txBody>
      </p:sp>
      <p:sp>
        <p:nvSpPr>
          <p:cNvPr id="3" name="Rectangle 3"/>
          <p:cNvSpPr/>
          <p:nvPr/>
        </p:nvSpPr>
        <p:spPr>
          <a:xfrm>
            <a:off x="533400" y="476250"/>
            <a:ext cx="57150" cy="209550"/>
          </a:xfrm>
          <a:prstGeom prst="roundRect">
            <a:avLst>
              <a:gd name="adj" fmla="val 41667"/>
            </a:avLst>
          </a:prstGeom>
          <a:solidFill>
            <a:schemeClr val="accent2"/>
          </a:solidFill>
          <a:ln>
            <a:noFill/>
          </a:ln>
        </p:spPr>
        <p:txBody>
          <a:bodyPr/>
          <a:p/>
        </p:txBody>
      </p:sp>
      <p:sp>
        <p:nvSpPr>
          <p:cNvPr id="4" name="TextBox 4"/>
          <p:cNvSpPr txBox="1"/>
          <p:nvPr/>
        </p:nvSpPr>
        <p:spPr>
          <a:xfrm>
            <a:off x="699135" y="526256"/>
            <a:ext cx="1236202" cy="220028"/>
          </a:xfrm>
          <a:prstGeom prst="rect">
            <a:avLst/>
          </a:prstGeom>
          <a:noFill/>
          <a:ln>
            <a:noFill/>
          </a:ln>
        </p:spPr>
        <p:txBody>
          <a:bodyPr wrap="none" lIns="0" tIns="0" rIns="0" bIns="0" anchor="t" anchorCtr="0">
            <a:spAutoFit/>
          </a:bodyPr>
          <a:lstStyle/>
          <a:p>
            <a:pPr algn="l"/>
            <a:r>
              <a:rPr lang="en-US" sz="1120" b="1" spc="225" dirty="0">
                <a:solidFill>
                  <a:schemeClr val="accent2"/>
                </a:solidFill>
                <a:latin typeface="+mn-lt"/>
                <a:ea typeface="+mn-ea"/>
                <a:cs typeface="+mn-cs"/>
              </a:rPr>
              <a:t>MOTIVATION</a:t>
            </a:r>
          </a:p>
        </p:txBody>
      </p:sp>
      <p:sp>
        <p:nvSpPr>
          <p:cNvPr id="5" name="TextBox 5"/>
          <p:cNvSpPr txBox="1"/>
          <p:nvPr/>
        </p:nvSpPr>
        <p:spPr>
          <a:xfrm>
            <a:off x="518160" y="781050"/>
            <a:ext cx="5875784" cy="586740"/>
          </a:xfrm>
          <a:prstGeom prst="rect">
            <a:avLst/>
          </a:prstGeom>
          <a:noFill/>
          <a:ln>
            <a:noFill/>
          </a:ln>
        </p:spPr>
        <p:txBody>
          <a:bodyPr wrap="none" lIns="0" tIns="0" rIns="0" bIns="0" anchor="t" anchorCtr="0">
            <a:spAutoFit/>
          </a:bodyPr>
          <a:lstStyle/>
          <a:p>
            <a:pPr algn="l"/>
            <a:r>
              <a:rPr lang="en-US" sz="3000" b="1" dirty="0">
                <a:solidFill>
                  <a:schemeClr val="dk1"/>
                </a:solidFill>
                <a:latin typeface="+mn-lt"/>
                <a:ea typeface="+mn-ea"/>
                <a:cs typeface="+mn-cs"/>
              </a:rPr>
              <a:t>You never solve just one SDP</a:t>
            </a:r>
          </a:p>
        </p:txBody>
      </p:sp>
      <p:sp>
        <p:nvSpPr>
          <p:cNvPr id="6" name="TextBox 6"/>
          <p:cNvSpPr txBox="1"/>
          <p:nvPr/>
        </p:nvSpPr>
        <p:spPr>
          <a:xfrm>
            <a:off x="11095485" y="534352"/>
            <a:ext cx="568449" cy="205359"/>
          </a:xfrm>
          <a:prstGeom prst="rect">
            <a:avLst/>
          </a:prstGeom>
          <a:noFill/>
          <a:ln>
            <a:noFill/>
          </a:ln>
        </p:spPr>
        <p:txBody>
          <a:bodyPr wrap="none" lIns="0" tIns="0" rIns="0" bIns="0" anchor="t" anchorCtr="0">
            <a:spAutoFit/>
          </a:bodyPr>
          <a:lstStyle/>
          <a:p>
            <a:pPr algn="r"/>
            <a:r>
              <a:rPr lang="en-US" sz="1050" b="1" spc="75" dirty="0">
                <a:solidFill>
                  <a:srgbClr val="6E85AC"/>
                </a:solidFill>
                <a:latin typeface="Consolas"/>
                <a:ea typeface="Consolas"/>
                <a:cs typeface="Consolas"/>
              </a:rPr>
              <a:t>03 / 10</a:t>
            </a:r>
          </a:p>
        </p:txBody>
      </p:sp>
      <p:sp>
        <p:nvSpPr>
          <p:cNvPr id="7" name="Line 7"/>
          <p:cNvSpPr/>
          <p:nvPr/>
        </p:nvSpPr>
        <p:spPr>
          <a:xfrm>
            <a:off x="533400" y="1314450"/>
            <a:ext cx="11125200" cy="9525"/>
          </a:xfrm>
          <a:custGeom>
            <a:avLst/>
            <a:gdLst/>
            <a:ahLst/>
            <a:cxnLst/>
            <a:rect l="l" t="t" r="r" b="b"/>
            <a:pathLst>
              <a:path w="11125200" h="9525">
                <a:moveTo>
                  <a:pt x="0" y="0"/>
                </a:moveTo>
                <a:lnTo>
                  <a:pt x="11125200" y="0"/>
                </a:lnTo>
              </a:path>
            </a:pathLst>
          </a:custGeom>
          <a:noFill/>
          <a:ln w="11430">
            <a:solidFill>
              <a:schemeClr val="accent4"/>
            </a:solidFill>
          </a:ln>
        </p:spPr>
        <p:txBody>
          <a:bodyPr/>
          <a:p/>
        </p:txBody>
      </p:sp>
      <p:grpSp>
        <p:nvGrpSpPr>
          <p:cNvPr id="25" name="Group 25"/>
          <p:cNvGrpSpPr/>
          <p:nvPr/>
        </p:nvGrpSpPr>
        <p:grpSpPr>
          <a:xfrm>
            <a:off x="533400" y="1524000"/>
            <a:ext cx="5867400" cy="1600200"/>
            <a:chOff x="533400" y="1524000"/>
            <a:chExt cx="5867400" cy="1600200"/>
          </a:xfrm>
        </p:grpSpPr>
        <p:sp>
          <p:nvSpPr>
            <p:cNvPr id="8" name="Rectangle 8"/>
            <p:cNvSpPr/>
            <p:nvPr/>
          </p:nvSpPr>
          <p:spPr>
            <a:xfrm>
              <a:off x="533400" y="1524000"/>
              <a:ext cx="5867400" cy="1600200"/>
            </a:xfrm>
            <a:prstGeom prst="roundRect">
              <a:avLst>
                <a:gd name="adj" fmla="val 8333"/>
              </a:avLst>
            </a:prstGeom>
            <a:solidFill>
              <a:schemeClr val="accent5"/>
            </a:solidFill>
            <a:ln w="11430">
              <a:solidFill>
                <a:schemeClr val="accent4"/>
              </a:solidFill>
            </a:ln>
          </p:spPr>
        </p:sp>
        <p:sp>
          <p:nvSpPr>
            <p:cNvPr id="9" name="Rectangle 9"/>
            <p:cNvSpPr/>
            <p:nvPr/>
          </p:nvSpPr>
          <p:spPr>
            <a:xfrm>
              <a:off x="723900" y="1733550"/>
              <a:ext cx="47625" cy="285750"/>
            </a:xfrm>
            <a:prstGeom prst="roundRect">
              <a:avLst>
                <a:gd name="adj" fmla="val 50000"/>
              </a:avLst>
            </a:prstGeom>
            <a:solidFill>
              <a:schemeClr val="accent2"/>
            </a:solidFill>
            <a:ln>
              <a:noFill/>
            </a:ln>
          </p:spPr>
        </p:sp>
        <p:sp>
          <p:nvSpPr>
            <p:cNvPr id="10" name="TextBox 10"/>
            <p:cNvSpPr txBox="1"/>
            <p:nvPr/>
          </p:nvSpPr>
          <p:spPr>
            <a:xfrm>
              <a:off x="907542" y="1759268"/>
              <a:ext cx="3664703"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A sequence of closely-related problems</a:t>
              </a:r>
            </a:p>
          </p:txBody>
        </p:sp>
        <p:sp>
          <p:nvSpPr>
            <p:cNvPr id="11" name="TextBox 11"/>
            <p:cNvSpPr txBox="1"/>
            <p:nvPr/>
          </p:nvSpPr>
          <p:spPr>
            <a:xfrm>
              <a:off x="908876" y="2073354"/>
              <a:ext cx="4403225"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Data arrives incrementally, or you solve related subproblems</a:t>
              </a:r>
            </a:p>
          </p:txBody>
        </p:sp>
        <p:sp>
          <p:nvSpPr>
            <p:cNvPr id="12" name="TextBox 12"/>
            <p:cNvSpPr txBox="1"/>
            <p:nvPr/>
          </p:nvSpPr>
          <p:spPr>
            <a:xfrm>
              <a:off x="908876" y="2273379"/>
              <a:ext cx="3070490"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inside a mixed-integer or interactive loop.</a:t>
              </a:r>
            </a:p>
          </p:txBody>
        </p:sp>
        <p:sp>
          <p:nvSpPr>
            <p:cNvPr id="13" name="Rectangle 13"/>
            <p:cNvSpPr/>
            <p:nvPr/>
          </p:nvSpPr>
          <p:spPr>
            <a:xfrm>
              <a:off x="914400" y="2647950"/>
              <a:ext cx="1123950" cy="381000"/>
            </a:xfrm>
            <a:prstGeom prst="roundRect">
              <a:avLst>
                <a:gd name="adj" fmla="val 22500"/>
              </a:avLst>
            </a:prstGeom>
            <a:solidFill>
              <a:schemeClr val="accent6"/>
            </a:solidFill>
            <a:ln w="10478">
              <a:solidFill>
                <a:schemeClr val="accent2"/>
              </a:solidFill>
            </a:ln>
          </p:spPr>
        </p:sp>
        <p:sp>
          <p:nvSpPr>
            <p:cNvPr id="14" name="TextBox 14"/>
            <p:cNvSpPr txBox="1"/>
            <p:nvPr/>
          </p:nvSpPr>
          <p:spPr>
            <a:xfrm>
              <a:off x="1261567" y="2774156"/>
              <a:ext cx="429616" cy="220028"/>
            </a:xfrm>
            <a:prstGeom prst="rect">
              <a:avLst/>
            </a:prstGeom>
            <a:noFill/>
            <a:ln>
              <a:noFill/>
            </a:ln>
          </p:spPr>
          <p:txBody>
            <a:bodyPr wrap="none" lIns="0" tIns="0" rIns="0" bIns="0" anchor="t" anchorCtr="0">
              <a:spAutoFit/>
            </a:bodyPr>
            <a:lstStyle/>
            <a:p>
              <a:pPr algn="ctr"/>
              <a:r>
                <a:rPr lang="en-US" sz="1120" b="1" dirty="0">
                  <a:solidFill>
                    <a:schemeClr val="dk1"/>
                  </a:solidFill>
                  <a:latin typeface="+mn-lt"/>
                  <a:ea typeface="+mn-ea"/>
                  <a:cs typeface="+mn-cs"/>
                </a:rPr>
                <a:t>SDP 1</a:t>
              </a:r>
            </a:p>
          </p:txBody>
        </p:sp>
        <p:sp>
          <p:nvSpPr>
            <p:cNvPr id="15" name="Line 15"/>
            <p:cNvSpPr/>
            <p:nvPr/>
          </p:nvSpPr>
          <p:spPr>
            <a:xfrm>
              <a:off x="2114550" y="2838450"/>
              <a:ext cx="419100" cy="9525"/>
            </a:xfrm>
            <a:custGeom>
              <a:avLst/>
              <a:gdLst/>
              <a:ahLst/>
              <a:cxnLst/>
              <a:rect l="l" t="t" r="r" b="b"/>
              <a:pathLst>
                <a:path w="419100" h="9525">
                  <a:moveTo>
                    <a:pt x="0" y="0"/>
                  </a:moveTo>
                  <a:lnTo>
                    <a:pt x="419100" y="0"/>
                  </a:lnTo>
                </a:path>
              </a:pathLst>
            </a:custGeom>
            <a:noFill/>
            <a:ln w="19050">
              <a:solidFill>
                <a:srgbClr val="37DCC0"/>
              </a:solidFill>
            </a:ln>
          </p:spPr>
        </p:sp>
        <p:sp>
          <p:nvSpPr>
            <p:cNvPr id="16" name="Polygon 16"/>
            <p:cNvSpPr/>
            <p:nvPr/>
          </p:nvSpPr>
          <p:spPr>
            <a:xfrm>
              <a:off x="2533650" y="2800350"/>
              <a:ext cx="57150" cy="76200"/>
            </a:xfrm>
            <a:custGeom>
              <a:avLst/>
              <a:gdLst/>
              <a:ahLst/>
              <a:cxnLst/>
              <a:rect l="l" t="t" r="r" b="b"/>
              <a:pathLst>
                <a:path w="57150" h="76200">
                  <a:moveTo>
                    <a:pt x="0" y="0"/>
                  </a:moveTo>
                  <a:lnTo>
                    <a:pt x="57150" y="38100"/>
                  </a:lnTo>
                  <a:lnTo>
                    <a:pt x="0" y="76200"/>
                  </a:lnTo>
                  <a:close/>
                </a:path>
              </a:pathLst>
            </a:custGeom>
            <a:solidFill>
              <a:srgbClr val="37DCC0"/>
            </a:solidFill>
            <a:ln>
              <a:noFill/>
            </a:ln>
          </p:spPr>
        </p:sp>
        <p:sp>
          <p:nvSpPr>
            <p:cNvPr id="17" name="TextBox 17"/>
            <p:cNvSpPr txBox="1"/>
            <p:nvPr/>
          </p:nvSpPr>
          <p:spPr>
            <a:xfrm>
              <a:off x="2161307" y="2497693"/>
              <a:ext cx="325586" cy="169069"/>
            </a:xfrm>
            <a:prstGeom prst="rect">
              <a:avLst/>
            </a:prstGeom>
            <a:noFill/>
            <a:ln>
              <a:noFill/>
            </a:ln>
          </p:spPr>
          <p:txBody>
            <a:bodyPr wrap="none" lIns="0" tIns="0" rIns="0" bIns="0" anchor="t" anchorCtr="0">
              <a:spAutoFit/>
            </a:bodyPr>
            <a:lstStyle/>
            <a:p>
              <a:pPr algn="ctr"/>
              <a:r>
                <a:rPr lang="en-US" sz="860" b="1" dirty="0">
                  <a:solidFill>
                    <a:srgbClr val="37DCC0"/>
                  </a:solidFill>
                  <a:latin typeface="+mn-lt"/>
                  <a:ea typeface="+mn-ea"/>
                  <a:cs typeface="+mn-cs"/>
                </a:rPr>
                <a:t>warm</a:t>
              </a:r>
            </a:p>
          </p:txBody>
        </p:sp>
        <p:sp>
          <p:nvSpPr>
            <p:cNvPr id="18" name="Rectangle 18"/>
            <p:cNvSpPr/>
            <p:nvPr/>
          </p:nvSpPr>
          <p:spPr>
            <a:xfrm>
              <a:off x="2609850" y="2647950"/>
              <a:ext cx="1123950" cy="381000"/>
            </a:xfrm>
            <a:prstGeom prst="roundRect">
              <a:avLst>
                <a:gd name="adj" fmla="val 22500"/>
              </a:avLst>
            </a:prstGeom>
            <a:solidFill>
              <a:schemeClr val="accent6"/>
            </a:solidFill>
            <a:ln w="10478">
              <a:solidFill>
                <a:schemeClr val="accent2"/>
              </a:solidFill>
            </a:ln>
          </p:spPr>
        </p:sp>
        <p:sp>
          <p:nvSpPr>
            <p:cNvPr id="19" name="TextBox 19"/>
            <p:cNvSpPr txBox="1"/>
            <p:nvPr/>
          </p:nvSpPr>
          <p:spPr>
            <a:xfrm>
              <a:off x="2957017" y="2774156"/>
              <a:ext cx="429616" cy="220028"/>
            </a:xfrm>
            <a:prstGeom prst="rect">
              <a:avLst/>
            </a:prstGeom>
            <a:noFill/>
            <a:ln>
              <a:noFill/>
            </a:ln>
          </p:spPr>
          <p:txBody>
            <a:bodyPr wrap="none" lIns="0" tIns="0" rIns="0" bIns="0" anchor="t" anchorCtr="0">
              <a:spAutoFit/>
            </a:bodyPr>
            <a:lstStyle/>
            <a:p>
              <a:pPr algn="ctr"/>
              <a:r>
                <a:rPr lang="en-US" sz="1120" b="1" dirty="0">
                  <a:solidFill>
                    <a:schemeClr val="dk1"/>
                  </a:solidFill>
                  <a:latin typeface="+mn-lt"/>
                  <a:ea typeface="+mn-ea"/>
                  <a:cs typeface="+mn-cs"/>
                </a:rPr>
                <a:t>SDP 2</a:t>
              </a:r>
            </a:p>
          </p:txBody>
        </p:sp>
        <p:sp>
          <p:nvSpPr>
            <p:cNvPr id="20" name="Line 20"/>
            <p:cNvSpPr/>
            <p:nvPr/>
          </p:nvSpPr>
          <p:spPr>
            <a:xfrm>
              <a:off x="3810000" y="2838450"/>
              <a:ext cx="419100" cy="9525"/>
            </a:xfrm>
            <a:custGeom>
              <a:avLst/>
              <a:gdLst/>
              <a:ahLst/>
              <a:cxnLst/>
              <a:rect l="l" t="t" r="r" b="b"/>
              <a:pathLst>
                <a:path w="419100" h="9525">
                  <a:moveTo>
                    <a:pt x="0" y="0"/>
                  </a:moveTo>
                  <a:lnTo>
                    <a:pt x="419100" y="0"/>
                  </a:lnTo>
                </a:path>
              </a:pathLst>
            </a:custGeom>
            <a:noFill/>
            <a:ln w="19050">
              <a:solidFill>
                <a:srgbClr val="37DCC0"/>
              </a:solidFill>
            </a:ln>
          </p:spPr>
        </p:sp>
        <p:sp>
          <p:nvSpPr>
            <p:cNvPr id="21" name="Polygon 21"/>
            <p:cNvSpPr/>
            <p:nvPr/>
          </p:nvSpPr>
          <p:spPr>
            <a:xfrm>
              <a:off x="4229100" y="2800350"/>
              <a:ext cx="57150" cy="76200"/>
            </a:xfrm>
            <a:custGeom>
              <a:avLst/>
              <a:gdLst/>
              <a:ahLst/>
              <a:cxnLst/>
              <a:rect l="l" t="t" r="r" b="b"/>
              <a:pathLst>
                <a:path w="57150" h="76200">
                  <a:moveTo>
                    <a:pt x="0" y="0"/>
                  </a:moveTo>
                  <a:lnTo>
                    <a:pt x="57150" y="38100"/>
                  </a:lnTo>
                  <a:lnTo>
                    <a:pt x="0" y="76200"/>
                  </a:lnTo>
                  <a:close/>
                </a:path>
              </a:pathLst>
            </a:custGeom>
            <a:solidFill>
              <a:srgbClr val="37DCC0"/>
            </a:solidFill>
            <a:ln>
              <a:noFill/>
            </a:ln>
          </p:spPr>
        </p:sp>
        <p:sp>
          <p:nvSpPr>
            <p:cNvPr id="22" name="TextBox 22"/>
            <p:cNvSpPr txBox="1"/>
            <p:nvPr/>
          </p:nvSpPr>
          <p:spPr>
            <a:xfrm>
              <a:off x="3856757" y="2497693"/>
              <a:ext cx="325586" cy="169069"/>
            </a:xfrm>
            <a:prstGeom prst="rect">
              <a:avLst/>
            </a:prstGeom>
            <a:noFill/>
            <a:ln>
              <a:noFill/>
            </a:ln>
          </p:spPr>
          <p:txBody>
            <a:bodyPr wrap="none" lIns="0" tIns="0" rIns="0" bIns="0" anchor="t" anchorCtr="0">
              <a:spAutoFit/>
            </a:bodyPr>
            <a:lstStyle/>
            <a:p>
              <a:pPr algn="ctr"/>
              <a:r>
                <a:rPr lang="en-US" sz="860" b="1" dirty="0">
                  <a:solidFill>
                    <a:srgbClr val="37DCC0"/>
                  </a:solidFill>
                  <a:latin typeface="+mn-lt"/>
                  <a:ea typeface="+mn-ea"/>
                  <a:cs typeface="+mn-cs"/>
                </a:rPr>
                <a:t>warm</a:t>
              </a:r>
            </a:p>
          </p:txBody>
        </p:sp>
        <p:sp>
          <p:nvSpPr>
            <p:cNvPr id="23" name="Rectangle 23"/>
            <p:cNvSpPr/>
            <p:nvPr/>
          </p:nvSpPr>
          <p:spPr>
            <a:xfrm>
              <a:off x="4305300" y="2647950"/>
              <a:ext cx="1123950" cy="381000"/>
            </a:xfrm>
            <a:prstGeom prst="roundRect">
              <a:avLst>
                <a:gd name="adj" fmla="val 22500"/>
              </a:avLst>
            </a:prstGeom>
            <a:solidFill>
              <a:schemeClr val="accent6"/>
            </a:solidFill>
            <a:ln w="10478">
              <a:solidFill>
                <a:schemeClr val="accent2"/>
              </a:solidFill>
            </a:ln>
          </p:spPr>
        </p:sp>
        <p:sp>
          <p:nvSpPr>
            <p:cNvPr id="24" name="TextBox 24"/>
            <p:cNvSpPr txBox="1"/>
            <p:nvPr/>
          </p:nvSpPr>
          <p:spPr>
            <a:xfrm>
              <a:off x="4652467" y="2774156"/>
              <a:ext cx="429616" cy="220028"/>
            </a:xfrm>
            <a:prstGeom prst="rect">
              <a:avLst/>
            </a:prstGeom>
            <a:noFill/>
            <a:ln>
              <a:noFill/>
            </a:ln>
          </p:spPr>
          <p:txBody>
            <a:bodyPr wrap="none" lIns="0" tIns="0" rIns="0" bIns="0" anchor="t" anchorCtr="0">
              <a:spAutoFit/>
            </a:bodyPr>
            <a:lstStyle/>
            <a:p>
              <a:pPr algn="ctr"/>
              <a:r>
                <a:rPr lang="en-US" sz="1120" b="1" dirty="0">
                  <a:solidFill>
                    <a:schemeClr val="dk1"/>
                  </a:solidFill>
                  <a:latin typeface="+mn-lt"/>
                  <a:ea typeface="+mn-ea"/>
                  <a:cs typeface="+mn-cs"/>
                </a:rPr>
                <a:t>SDP 3</a:t>
              </a:r>
            </a:p>
          </p:txBody>
        </p:sp>
      </p:grpSp>
      <p:grpSp>
        <p:nvGrpSpPr>
          <p:cNvPr id="31" name="Group 31"/>
          <p:cNvGrpSpPr/>
          <p:nvPr/>
        </p:nvGrpSpPr>
        <p:grpSpPr>
          <a:xfrm>
            <a:off x="533400" y="3314700"/>
            <a:ext cx="5867400" cy="1143000"/>
            <a:chOff x="533400" y="3314700"/>
            <a:chExt cx="5867400" cy="1143000"/>
          </a:xfrm>
        </p:grpSpPr>
        <p:sp>
          <p:nvSpPr>
            <p:cNvPr id="26" name="Rectangle 26"/>
            <p:cNvSpPr/>
            <p:nvPr/>
          </p:nvSpPr>
          <p:spPr>
            <a:xfrm>
              <a:off x="533400" y="3314700"/>
              <a:ext cx="5867400" cy="1143000"/>
            </a:xfrm>
            <a:prstGeom prst="roundRect">
              <a:avLst>
                <a:gd name="adj" fmla="val 11667"/>
              </a:avLst>
            </a:prstGeom>
            <a:solidFill>
              <a:schemeClr val="accent6"/>
            </a:solidFill>
            <a:ln w="12382">
              <a:solidFill>
                <a:srgbClr val="37DCC0"/>
              </a:solidFill>
            </a:ln>
          </p:spPr>
        </p:sp>
        <p:sp>
          <p:nvSpPr>
            <p:cNvPr id="27" name="Rectangle 27"/>
            <p:cNvSpPr/>
            <p:nvPr/>
          </p:nvSpPr>
          <p:spPr>
            <a:xfrm>
              <a:off x="723900" y="3543300"/>
              <a:ext cx="47625" cy="685800"/>
            </a:xfrm>
            <a:prstGeom prst="roundRect">
              <a:avLst>
                <a:gd name="adj" fmla="val 50000"/>
              </a:avLst>
            </a:prstGeom>
            <a:solidFill>
              <a:srgbClr val="37DCC0"/>
            </a:solidFill>
            <a:ln>
              <a:noFill/>
            </a:ln>
          </p:spPr>
        </p:sp>
        <p:sp>
          <p:nvSpPr>
            <p:cNvPr id="28" name="TextBox 28"/>
            <p:cNvSpPr txBox="1"/>
            <p:nvPr/>
          </p:nvSpPr>
          <p:spPr>
            <a:xfrm>
              <a:off x="907542" y="3588068"/>
              <a:ext cx="4418430"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Each new problem is nearly identical to the last</a:t>
              </a:r>
            </a:p>
          </p:txBody>
        </p:sp>
        <p:sp>
          <p:nvSpPr>
            <p:cNvPr id="29" name="TextBox 29"/>
            <p:cNvSpPr txBox="1"/>
            <p:nvPr/>
          </p:nvSpPr>
          <p:spPr>
            <a:xfrm>
              <a:off x="908876" y="3883104"/>
              <a:ext cx="4557466"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So warm-starting from the previous solution should give a huge</a:t>
              </a:r>
            </a:p>
          </p:txBody>
        </p:sp>
        <p:sp>
          <p:nvSpPr>
            <p:cNvPr id="30" name="TextBox 30"/>
            <p:cNvSpPr txBox="1"/>
            <p:nvPr/>
          </p:nvSpPr>
          <p:spPr>
            <a:xfrm>
              <a:off x="908876" y="4083129"/>
              <a:ext cx="3349288"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speedup — exactly what real applications need.</a:t>
              </a:r>
            </a:p>
          </p:txBody>
        </p:sp>
      </p:grpSp>
      <p:grpSp>
        <p:nvGrpSpPr>
          <p:cNvPr id="39" name="Group 39"/>
          <p:cNvGrpSpPr/>
          <p:nvPr/>
        </p:nvGrpSpPr>
        <p:grpSpPr>
          <a:xfrm>
            <a:off x="6629400" y="1524000"/>
            <a:ext cx="5029200" cy="1600200"/>
            <a:chOff x="6629400" y="1524000"/>
            <a:chExt cx="5029200" cy="1600200"/>
          </a:xfrm>
        </p:grpSpPr>
        <p:sp>
          <p:nvSpPr>
            <p:cNvPr id="32" name="Rectangle 32"/>
            <p:cNvSpPr/>
            <p:nvPr/>
          </p:nvSpPr>
          <p:spPr>
            <a:xfrm>
              <a:off x="6629400" y="1524000"/>
              <a:ext cx="5029200" cy="1600200"/>
            </a:xfrm>
            <a:prstGeom prst="roundRect">
              <a:avLst>
                <a:gd name="adj" fmla="val 8333"/>
              </a:avLst>
            </a:prstGeom>
            <a:solidFill>
              <a:schemeClr val="accent5"/>
            </a:solidFill>
            <a:ln w="11430">
              <a:solidFill>
                <a:schemeClr val="accent4"/>
              </a:solidFill>
            </a:ln>
          </p:spPr>
        </p:sp>
        <p:sp>
          <p:nvSpPr>
            <p:cNvPr id="33" name="Rectangle 33"/>
            <p:cNvSpPr/>
            <p:nvPr/>
          </p:nvSpPr>
          <p:spPr>
            <a:xfrm>
              <a:off x="6819900" y="1733550"/>
              <a:ext cx="47625" cy="285750"/>
            </a:xfrm>
            <a:prstGeom prst="roundRect">
              <a:avLst>
                <a:gd name="adj" fmla="val 50000"/>
              </a:avLst>
            </a:prstGeom>
            <a:solidFill>
              <a:srgbClr val="57D9A3"/>
            </a:solidFill>
            <a:ln>
              <a:noFill/>
            </a:ln>
          </p:spPr>
        </p:sp>
        <p:sp>
          <p:nvSpPr>
            <p:cNvPr id="34" name="TextBox 34"/>
            <p:cNvSpPr txBox="1"/>
            <p:nvPr/>
          </p:nvSpPr>
          <p:spPr>
            <a:xfrm>
              <a:off x="7003923" y="1767364"/>
              <a:ext cx="2162745" cy="249364"/>
            </a:xfrm>
            <a:prstGeom prst="rect">
              <a:avLst/>
            </a:prstGeom>
            <a:noFill/>
            <a:ln>
              <a:noFill/>
            </a:ln>
          </p:spPr>
          <p:txBody>
            <a:bodyPr wrap="none" lIns="0" tIns="0" rIns="0" bIns="0" anchor="t" anchorCtr="0">
              <a:spAutoFit/>
            </a:bodyPr>
            <a:lstStyle/>
            <a:p>
              <a:pPr algn="l"/>
              <a:r>
                <a:rPr lang="en-US" sz="1280" b="1" dirty="0">
                  <a:solidFill>
                    <a:srgbClr val="57D9A3"/>
                  </a:solidFill>
                  <a:latin typeface="+mn-lt"/>
                  <a:ea typeface="+mn-ea"/>
                  <a:cs typeface="+mn-cs"/>
                </a:rPr>
                <a:t>Spectral bundle methods</a:t>
              </a:r>
            </a:p>
          </p:txBody>
        </p:sp>
        <p:sp>
          <p:nvSpPr>
            <p:cNvPr id="35" name="TextBox 35"/>
            <p:cNvSpPr txBox="1"/>
            <p:nvPr/>
          </p:nvSpPr>
          <p:spPr>
            <a:xfrm>
              <a:off x="6814376" y="2092404"/>
              <a:ext cx="3449650"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An appealing framework: low per-iteration cost</a:t>
              </a:r>
            </a:p>
          </p:txBody>
        </p:sp>
        <p:sp>
          <p:nvSpPr>
            <p:cNvPr id="36" name="TextBox 36"/>
            <p:cNvSpPr txBox="1"/>
            <p:nvPr/>
          </p:nvSpPr>
          <p:spPr>
            <a:xfrm>
              <a:off x="6814376" y="2292429"/>
              <a:ext cx="2322138"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and fast empirical convergence.</a:t>
              </a:r>
            </a:p>
          </p:txBody>
        </p:sp>
        <p:sp>
          <p:nvSpPr>
            <p:cNvPr id="37" name="Rectangle 37"/>
            <p:cNvSpPr/>
            <p:nvPr/>
          </p:nvSpPr>
          <p:spPr>
            <a:xfrm>
              <a:off x="6819900" y="2647950"/>
              <a:ext cx="4648200" cy="323850"/>
            </a:xfrm>
            <a:prstGeom prst="roundRect">
              <a:avLst>
                <a:gd name="adj" fmla="val 26471"/>
              </a:avLst>
            </a:prstGeom>
            <a:solidFill>
              <a:schemeClr val="lt2"/>
            </a:solidFill>
            <a:ln>
              <a:noFill/>
            </a:ln>
          </p:spPr>
        </p:sp>
        <p:sp>
          <p:nvSpPr>
            <p:cNvPr id="38" name="TextBox 38"/>
            <p:cNvSpPr txBox="1"/>
            <p:nvPr/>
          </p:nvSpPr>
          <p:spPr>
            <a:xfrm>
              <a:off x="6947916" y="2744152"/>
              <a:ext cx="2459574" cy="205359"/>
            </a:xfrm>
            <a:prstGeom prst="rect">
              <a:avLst/>
            </a:prstGeom>
            <a:noFill/>
            <a:ln>
              <a:noFill/>
            </a:ln>
          </p:spPr>
          <p:txBody>
            <a:bodyPr wrap="none" lIns="0" tIns="0" rIns="0" bIns="0" anchor="t" anchorCtr="0">
              <a:spAutoFit/>
            </a:bodyPr>
            <a:lstStyle/>
            <a:p>
              <a:pPr algn="l"/>
              <a:r>
                <a:rPr lang="en-US" sz="1050" b="1" dirty="0">
                  <a:solidFill>
                    <a:srgbClr val="57D9A3"/>
                  </a:solidFill>
                  <a:latin typeface="+mn-lt"/>
                  <a:ea typeface="+mn-ea"/>
                  <a:cs typeface="+mn-cs"/>
                </a:rPr>
                <a:t>✓ cheap steps ✓ fast in practice</a:t>
              </a:r>
            </a:p>
          </p:txBody>
        </p:sp>
      </p:grpSp>
      <p:grpSp>
        <p:nvGrpSpPr>
          <p:cNvPr id="46" name="Group 46"/>
          <p:cNvGrpSpPr/>
          <p:nvPr/>
        </p:nvGrpSpPr>
        <p:grpSpPr>
          <a:xfrm>
            <a:off x="6629400" y="3314700"/>
            <a:ext cx="5029200" cy="1181147"/>
            <a:chOff x="6629400" y="3314700"/>
            <a:chExt cx="5029200" cy="1181147"/>
          </a:xfrm>
        </p:grpSpPr>
        <p:sp>
          <p:nvSpPr>
            <p:cNvPr id="40" name="Rectangle 40"/>
            <p:cNvSpPr/>
            <p:nvPr/>
          </p:nvSpPr>
          <p:spPr>
            <a:xfrm>
              <a:off x="6629400" y="3314700"/>
              <a:ext cx="5029200" cy="1143000"/>
            </a:xfrm>
            <a:prstGeom prst="roundRect">
              <a:avLst>
                <a:gd name="adj" fmla="val 11667"/>
              </a:avLst>
            </a:prstGeom>
            <a:solidFill>
              <a:schemeClr val="accent5"/>
            </a:solidFill>
            <a:ln w="11430">
              <a:solidFill>
                <a:srgbClr val="F2708A"/>
              </a:solidFill>
            </a:ln>
          </p:spPr>
        </p:sp>
        <p:sp>
          <p:nvSpPr>
            <p:cNvPr id="41" name="Rectangle 41"/>
            <p:cNvSpPr/>
            <p:nvPr/>
          </p:nvSpPr>
          <p:spPr>
            <a:xfrm>
              <a:off x="6819900" y="3543300"/>
              <a:ext cx="47625" cy="285750"/>
            </a:xfrm>
            <a:prstGeom prst="roundRect">
              <a:avLst>
                <a:gd name="adj" fmla="val 50000"/>
              </a:avLst>
            </a:prstGeom>
            <a:solidFill>
              <a:srgbClr val="F2708A"/>
            </a:solidFill>
            <a:ln>
              <a:noFill/>
            </a:ln>
          </p:spPr>
        </p:sp>
        <p:sp>
          <p:nvSpPr>
            <p:cNvPr id="42" name="TextBox 42"/>
            <p:cNvSpPr txBox="1"/>
            <p:nvPr/>
          </p:nvSpPr>
          <p:spPr>
            <a:xfrm>
              <a:off x="7003923" y="3577114"/>
              <a:ext cx="2542632" cy="249364"/>
            </a:xfrm>
            <a:prstGeom prst="rect">
              <a:avLst/>
            </a:prstGeom>
            <a:noFill/>
            <a:ln>
              <a:noFill/>
            </a:ln>
          </p:spPr>
          <p:txBody>
            <a:bodyPr wrap="none" lIns="0" tIns="0" rIns="0" bIns="0" anchor="t" anchorCtr="0">
              <a:spAutoFit/>
            </a:bodyPr>
            <a:lstStyle/>
            <a:p>
              <a:pPr algn="l"/>
              <a:r>
                <a:rPr lang="en-US" sz="1280" b="1" dirty="0">
                  <a:solidFill>
                    <a:srgbClr val="F2708A"/>
                  </a:solidFill>
                  <a:latin typeface="+mn-lt"/>
                  <a:ea typeface="+mn-ea"/>
                  <a:cs typeface="+mn-cs"/>
                </a:rPr>
                <a:t>But prior versions fell short</a:t>
              </a:r>
            </a:p>
          </p:txBody>
        </p:sp>
        <p:sp>
          <p:nvSpPr>
            <p:cNvPr id="43" name="TextBox 43"/>
            <p:cNvSpPr txBox="1"/>
            <p:nvPr/>
          </p:nvSpPr>
          <p:spPr>
            <a:xfrm>
              <a:off x="6814376" y="3883104"/>
              <a:ext cx="2805183"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Handled only equality OR only inequality</a:t>
              </a:r>
            </a:p>
          </p:txBody>
        </p:sp>
        <p:sp>
          <p:nvSpPr>
            <p:cNvPr id="44" name="TextBox 44"/>
            <p:cNvSpPr txBox="1"/>
            <p:nvPr/>
          </p:nvSpPr>
          <p:spPr>
            <a:xfrm>
              <a:off x="6814376" y="4083129"/>
              <a:ext cx="3019133"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constraints, with no efficient standalone</a:t>
              </a:r>
            </a:p>
          </p:txBody>
        </p:sp>
        <p:sp>
          <p:nvSpPr>
            <p:cNvPr id="45" name="TextBox 45"/>
            <p:cNvSpPr txBox="1"/>
            <p:nvPr/>
          </p:nvSpPr>
          <p:spPr>
            <a:xfrm>
              <a:off x="6814376" y="4283154"/>
              <a:ext cx="2439492"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implementation for massive SDPs.</a:t>
              </a:r>
            </a:p>
          </p:txBody>
        </p:sp>
      </p:grpSp>
      <p:sp>
        <p:nvSpPr>
          <p:cNvPr id="47" name="cue_s03_c1_practice_you_rarely_solve_single" title="cue_s03_c1_practice_you_rarely_solve_single" descr="cue_s03_c1_practice_you_rarely_solve_single In practice, you rarely solve a single SDP in isolation. Data arrives incrementally, or you solve a sequence of tightly-related subproblems inside a mixed-integer or interactive loop."/>
          <p:cNvSpPr/>
          <p:nvPr/>
        </p:nvSpPr>
        <p:spPr>
          <a:xfrm>
            <a:off x="532790" y="1523847"/>
            <a:ext cx="5868009" cy="15999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cue_s03_c2_all_these_settings_new_problem" title="cue_s03_c2_all_these_settings_new_problem" descr="cue_s03_c2_all_these_settings_new_problem In all these settings, each new problem is nearly identical to the last, so being able to warm-start from the previous solution should give a huge speedup."/>
          <p:cNvSpPr/>
          <p:nvPr/>
        </p:nvSpPr>
        <p:spPr>
          <a:xfrm>
            <a:off x="532790" y="3314471"/>
            <a:ext cx="5868009" cy="11432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cue_s03_c3_spectral_bundle_methods_appealing_fr" title="cue_s03_c3_spectral_bundle_methods_appealing_fr" descr="cue_s03_c3_spectral_bundle_methods_appealing_fr Spectral bundle methods are an appealing framework here: they have low per-iteration cost and fast empirical convergence."/>
          <p:cNvSpPr/>
          <p:nvPr/>
        </p:nvSpPr>
        <p:spPr>
          <a:xfrm>
            <a:off x="6628790" y="1523847"/>
            <a:ext cx="5029200" cy="15999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cue_s03_c4_but_previous_spectral_bundle_methods" title="cue_s03_c4_but_previous_spectral_bundle_methods" descr="cue_s03_c4_but_previous_spectral_bundle_methods But previous spectral bundle methods handled either only equality constraints or only inequality constraints, and none had an efficient standalone implementation that could be evaluated on truly massive SDPs."/>
          <p:cNvSpPr/>
          <p:nvPr/>
        </p:nvSpPr>
        <p:spPr>
          <a:xfrm>
            <a:off x="6628790" y="3314471"/>
            <a:ext cx="5029200" cy="118094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chemeClr val="lt2">
                  <a:alpha val="90000"/>
                </a:schemeClr>
              </a:gs>
              <a:gs pos="60000">
                <a:schemeClr val="lt1">
                  <a:alpha val="0"/>
                </a:schemeClr>
              </a:gs>
            </a:gsLst>
            <a:path path="circle">
              <a:fillToRect l="50000" t="50000" r="50000" b="50000"/>
            </a:path>
          </a:gradFill>
          <a:ln>
            <a:noFill/>
          </a:ln>
        </p:spPr>
        <p:txBody>
          <a:bodyPr/>
          <a:p/>
        </p:txBody>
      </p:sp>
      <p:sp>
        <p:nvSpPr>
          <p:cNvPr id="3" name="Rectangle 3"/>
          <p:cNvSpPr/>
          <p:nvPr/>
        </p:nvSpPr>
        <p:spPr>
          <a:xfrm>
            <a:off x="533400" y="476250"/>
            <a:ext cx="57150" cy="209550"/>
          </a:xfrm>
          <a:prstGeom prst="roundRect">
            <a:avLst>
              <a:gd name="adj" fmla="val 41667"/>
            </a:avLst>
          </a:prstGeom>
          <a:solidFill>
            <a:schemeClr val="accent2"/>
          </a:solidFill>
          <a:ln>
            <a:noFill/>
          </a:ln>
        </p:spPr>
        <p:txBody>
          <a:bodyPr/>
          <a:p/>
        </p:txBody>
      </p:sp>
      <p:sp>
        <p:nvSpPr>
          <p:cNvPr id="4" name="TextBox 4"/>
          <p:cNvSpPr txBox="1"/>
          <p:nvPr/>
        </p:nvSpPr>
        <p:spPr>
          <a:xfrm>
            <a:off x="699135" y="526256"/>
            <a:ext cx="1450757" cy="220028"/>
          </a:xfrm>
          <a:prstGeom prst="rect">
            <a:avLst/>
          </a:prstGeom>
          <a:noFill/>
          <a:ln>
            <a:noFill/>
          </a:ln>
        </p:spPr>
        <p:txBody>
          <a:bodyPr wrap="none" lIns="0" tIns="0" rIns="0" bIns="0" anchor="t" anchorCtr="0">
            <a:spAutoFit/>
          </a:bodyPr>
          <a:lstStyle/>
          <a:p>
            <a:pPr algn="l"/>
            <a:r>
              <a:rPr lang="en-US" sz="1120" b="1" spc="225" dirty="0">
                <a:solidFill>
                  <a:schemeClr val="accent2"/>
                </a:solidFill>
                <a:latin typeface="+mn-lt"/>
                <a:ea typeface="+mn-ea"/>
                <a:cs typeface="+mn-cs"/>
              </a:rPr>
              <a:t>CONTRIBUTION</a:t>
            </a:r>
          </a:p>
        </p:txBody>
      </p:sp>
      <p:sp>
        <p:nvSpPr>
          <p:cNvPr id="5" name="TextBox 5"/>
          <p:cNvSpPr txBox="1"/>
          <p:nvPr/>
        </p:nvSpPr>
        <p:spPr>
          <a:xfrm>
            <a:off x="518160" y="781050"/>
            <a:ext cx="3957621" cy="586740"/>
          </a:xfrm>
          <a:prstGeom prst="rect">
            <a:avLst/>
          </a:prstGeom>
          <a:noFill/>
          <a:ln>
            <a:noFill/>
          </a:ln>
        </p:spPr>
        <p:txBody>
          <a:bodyPr wrap="none" lIns="0" tIns="0" rIns="0" bIns="0" anchor="t" anchorCtr="0">
            <a:spAutoFit/>
          </a:bodyPr>
          <a:lstStyle/>
          <a:p>
            <a:pPr algn="l"/>
            <a:r>
              <a:rPr lang="en-US" sz="3000" b="1" dirty="0">
                <a:solidFill>
                  <a:schemeClr val="dk1"/>
                </a:solidFill>
                <a:latin typeface="+mn-lt"/>
                <a:ea typeface="+mn-ea"/>
                <a:cs typeface="+mn-cs"/>
              </a:rPr>
              <a:t>What USBS delivers</a:t>
            </a:r>
          </a:p>
        </p:txBody>
      </p:sp>
      <p:sp>
        <p:nvSpPr>
          <p:cNvPr id="6" name="TextBox 6"/>
          <p:cNvSpPr txBox="1"/>
          <p:nvPr/>
        </p:nvSpPr>
        <p:spPr>
          <a:xfrm>
            <a:off x="11095485" y="534352"/>
            <a:ext cx="568449" cy="205359"/>
          </a:xfrm>
          <a:prstGeom prst="rect">
            <a:avLst/>
          </a:prstGeom>
          <a:noFill/>
          <a:ln>
            <a:noFill/>
          </a:ln>
        </p:spPr>
        <p:txBody>
          <a:bodyPr wrap="none" lIns="0" tIns="0" rIns="0" bIns="0" anchor="t" anchorCtr="0">
            <a:spAutoFit/>
          </a:bodyPr>
          <a:lstStyle/>
          <a:p>
            <a:pPr algn="r"/>
            <a:r>
              <a:rPr lang="en-US" sz="1050" b="1" spc="75" dirty="0">
                <a:solidFill>
                  <a:srgbClr val="6E85AC"/>
                </a:solidFill>
                <a:latin typeface="Consolas"/>
                <a:ea typeface="Consolas"/>
                <a:cs typeface="Consolas"/>
              </a:rPr>
              <a:t>04 / 10</a:t>
            </a:r>
          </a:p>
        </p:txBody>
      </p:sp>
      <p:sp>
        <p:nvSpPr>
          <p:cNvPr id="7" name="Line 7"/>
          <p:cNvSpPr/>
          <p:nvPr/>
        </p:nvSpPr>
        <p:spPr>
          <a:xfrm>
            <a:off x="533400" y="1314450"/>
            <a:ext cx="11125200" cy="9525"/>
          </a:xfrm>
          <a:custGeom>
            <a:avLst/>
            <a:gdLst/>
            <a:ahLst/>
            <a:cxnLst/>
            <a:rect l="l" t="t" r="r" b="b"/>
            <a:pathLst>
              <a:path w="11125200" h="9525">
                <a:moveTo>
                  <a:pt x="0" y="0"/>
                </a:moveTo>
                <a:lnTo>
                  <a:pt x="11125200" y="0"/>
                </a:lnTo>
              </a:path>
            </a:pathLst>
          </a:custGeom>
          <a:noFill/>
          <a:ln w="11430">
            <a:solidFill>
              <a:schemeClr val="accent4"/>
            </a:solidFill>
          </a:ln>
        </p:spPr>
        <p:txBody>
          <a:bodyPr/>
          <a:p/>
        </p:txBody>
      </p:sp>
      <p:grpSp>
        <p:nvGrpSpPr>
          <p:cNvPr id="14" name="Group 14"/>
          <p:cNvGrpSpPr/>
          <p:nvPr/>
        </p:nvGrpSpPr>
        <p:grpSpPr>
          <a:xfrm>
            <a:off x="533400" y="1524000"/>
            <a:ext cx="5448300" cy="1619250"/>
            <a:chOff x="533400" y="1524000"/>
            <a:chExt cx="5448300" cy="1619250"/>
          </a:xfrm>
        </p:grpSpPr>
        <p:sp>
          <p:nvSpPr>
            <p:cNvPr id="8" name="Rectangle 8"/>
            <p:cNvSpPr/>
            <p:nvPr/>
          </p:nvSpPr>
          <p:spPr>
            <a:xfrm>
              <a:off x="533400" y="1524000"/>
              <a:ext cx="5448300" cy="1619250"/>
            </a:xfrm>
            <a:prstGeom prst="roundRect">
              <a:avLst>
                <a:gd name="adj" fmla="val 8235"/>
              </a:avLst>
            </a:prstGeom>
            <a:solidFill>
              <a:schemeClr val="accent5"/>
            </a:solidFill>
            <a:ln w="11430">
              <a:solidFill>
                <a:schemeClr val="accent4"/>
              </a:solidFill>
            </a:ln>
          </p:spPr>
        </p:sp>
        <p:sp>
          <p:nvSpPr>
            <p:cNvPr id="9" name="Rectangle 9"/>
            <p:cNvSpPr/>
            <p:nvPr/>
          </p:nvSpPr>
          <p:spPr>
            <a:xfrm>
              <a:off x="762000" y="1790700"/>
              <a:ext cx="47625" cy="323850"/>
            </a:xfrm>
            <a:prstGeom prst="roundRect">
              <a:avLst>
                <a:gd name="adj" fmla="val 50000"/>
              </a:avLst>
            </a:prstGeom>
            <a:solidFill>
              <a:schemeClr val="accent2"/>
            </a:solidFill>
            <a:ln>
              <a:noFill/>
            </a:ln>
          </p:spPr>
        </p:sp>
        <p:sp>
          <p:nvSpPr>
            <p:cNvPr id="10" name="TextBox 10"/>
            <p:cNvSpPr txBox="1"/>
            <p:nvPr/>
          </p:nvSpPr>
          <p:spPr>
            <a:xfrm>
              <a:off x="5271402" y="1695450"/>
              <a:ext cx="496938" cy="586740"/>
            </a:xfrm>
            <a:prstGeom prst="rect">
              <a:avLst/>
            </a:prstGeom>
            <a:noFill/>
            <a:ln>
              <a:noFill/>
            </a:ln>
          </p:spPr>
          <p:txBody>
            <a:bodyPr wrap="none" lIns="0" tIns="0" rIns="0" bIns="0" anchor="t" anchorCtr="0">
              <a:spAutoFit/>
            </a:bodyPr>
            <a:lstStyle/>
            <a:p>
              <a:pPr algn="r"/>
              <a:r>
                <a:rPr lang="en-US" sz="3000" b="1" dirty="0">
                  <a:solidFill>
                    <a:schemeClr val="accent2">
                      <a:alphaMod val="55000"/>
                    </a:schemeClr>
                  </a:solidFill>
                  <a:latin typeface="Consolas"/>
                  <a:ea typeface="Consolas"/>
                  <a:cs typeface="Consolas"/>
                </a:rPr>
                <a:t>01</a:t>
              </a:r>
            </a:p>
          </p:txBody>
        </p:sp>
        <p:sp>
          <p:nvSpPr>
            <p:cNvPr id="11" name="TextBox 11"/>
            <p:cNvSpPr txBox="1"/>
            <p:nvPr/>
          </p:nvSpPr>
          <p:spPr>
            <a:xfrm>
              <a:off x="944499" y="1830229"/>
              <a:ext cx="2220904" cy="308039"/>
            </a:xfrm>
            <a:prstGeom prst="rect">
              <a:avLst/>
            </a:prstGeom>
            <a:noFill/>
            <a:ln>
              <a:noFill/>
            </a:ln>
          </p:spPr>
          <p:txBody>
            <a:bodyPr wrap="none" lIns="0" tIns="0" rIns="0" bIns="0" anchor="t" anchorCtr="0">
              <a:spAutoFit/>
            </a:bodyPr>
            <a:lstStyle/>
            <a:p>
              <a:pPr algn="l"/>
              <a:r>
                <a:rPr lang="en-US" sz="1580" b="1" dirty="0">
                  <a:solidFill>
                    <a:schemeClr val="dk1"/>
                  </a:solidFill>
                  <a:latin typeface="+mn-lt"/>
                  <a:ea typeface="+mn-ea"/>
                  <a:cs typeface="+mn-cs"/>
                </a:rPr>
                <a:t>Unified general SDPs</a:t>
              </a:r>
            </a:p>
          </p:txBody>
        </p:sp>
        <p:sp>
          <p:nvSpPr>
            <p:cNvPr id="12" name="TextBox 12"/>
            <p:cNvSpPr txBox="1"/>
            <p:nvPr/>
          </p:nvSpPr>
          <p:spPr>
            <a:xfrm>
              <a:off x="946785" y="2202656"/>
              <a:ext cx="4019416"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One spectral bundle method that handles both equality</a:t>
              </a:r>
            </a:p>
          </p:txBody>
        </p:sp>
        <p:sp>
          <p:nvSpPr>
            <p:cNvPr id="13" name="TextBox 13"/>
            <p:cNvSpPr txBox="1"/>
            <p:nvPr/>
          </p:nvSpPr>
          <p:spPr>
            <a:xfrm>
              <a:off x="946785" y="2402681"/>
              <a:ext cx="3697864"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and inequality constraints — unlike prior methods.</a:t>
              </a:r>
            </a:p>
          </p:txBody>
        </p:sp>
      </p:grpSp>
      <p:grpSp>
        <p:nvGrpSpPr>
          <p:cNvPr id="21" name="Group 21"/>
          <p:cNvGrpSpPr/>
          <p:nvPr/>
        </p:nvGrpSpPr>
        <p:grpSpPr>
          <a:xfrm>
            <a:off x="6210300" y="1524000"/>
            <a:ext cx="5448300" cy="1619250"/>
            <a:chOff x="6210300" y="1524000"/>
            <a:chExt cx="5448300" cy="1619250"/>
          </a:xfrm>
        </p:grpSpPr>
        <p:sp>
          <p:nvSpPr>
            <p:cNvPr id="15" name="Rectangle 15"/>
            <p:cNvSpPr/>
            <p:nvPr/>
          </p:nvSpPr>
          <p:spPr>
            <a:xfrm>
              <a:off x="6210300" y="1524000"/>
              <a:ext cx="5448300" cy="1619250"/>
            </a:xfrm>
            <a:prstGeom prst="roundRect">
              <a:avLst>
                <a:gd name="adj" fmla="val 8235"/>
              </a:avLst>
            </a:prstGeom>
            <a:solidFill>
              <a:schemeClr val="accent5"/>
            </a:solidFill>
            <a:ln w="11430">
              <a:solidFill>
                <a:schemeClr val="accent4"/>
              </a:solidFill>
            </a:ln>
          </p:spPr>
        </p:sp>
        <p:sp>
          <p:nvSpPr>
            <p:cNvPr id="16" name="Rectangle 16"/>
            <p:cNvSpPr/>
            <p:nvPr/>
          </p:nvSpPr>
          <p:spPr>
            <a:xfrm>
              <a:off x="6438900" y="1790700"/>
              <a:ext cx="47625" cy="323850"/>
            </a:xfrm>
            <a:prstGeom prst="roundRect">
              <a:avLst>
                <a:gd name="adj" fmla="val 50000"/>
              </a:avLst>
            </a:prstGeom>
            <a:solidFill>
              <a:srgbClr val="37DCC0"/>
            </a:solidFill>
            <a:ln>
              <a:noFill/>
            </a:ln>
          </p:spPr>
        </p:sp>
        <p:sp>
          <p:nvSpPr>
            <p:cNvPr id="17" name="TextBox 17"/>
            <p:cNvSpPr txBox="1"/>
            <p:nvPr/>
          </p:nvSpPr>
          <p:spPr>
            <a:xfrm>
              <a:off x="10948302" y="1695450"/>
              <a:ext cx="496938" cy="586740"/>
            </a:xfrm>
            <a:prstGeom prst="rect">
              <a:avLst/>
            </a:prstGeom>
            <a:noFill/>
            <a:ln>
              <a:noFill/>
            </a:ln>
          </p:spPr>
          <p:txBody>
            <a:bodyPr wrap="none" lIns="0" tIns="0" rIns="0" bIns="0" anchor="t" anchorCtr="0">
              <a:spAutoFit/>
            </a:bodyPr>
            <a:lstStyle/>
            <a:p>
              <a:pPr algn="r"/>
              <a:r>
                <a:rPr lang="en-US" sz="3000" b="1" dirty="0">
                  <a:solidFill>
                    <a:srgbClr val="37DCC0">
                      <a:alphaMod val="55000"/>
                    </a:srgbClr>
                  </a:solidFill>
                  <a:latin typeface="Consolas"/>
                  <a:ea typeface="Consolas"/>
                  <a:cs typeface="Consolas"/>
                </a:rPr>
                <a:t>02</a:t>
              </a:r>
            </a:p>
          </p:txBody>
        </p:sp>
        <p:sp>
          <p:nvSpPr>
            <p:cNvPr id="18" name="TextBox 18"/>
            <p:cNvSpPr txBox="1"/>
            <p:nvPr/>
          </p:nvSpPr>
          <p:spPr>
            <a:xfrm>
              <a:off x="6621399" y="1830229"/>
              <a:ext cx="2848137" cy="308039"/>
            </a:xfrm>
            <a:prstGeom prst="rect">
              <a:avLst/>
            </a:prstGeom>
            <a:noFill/>
            <a:ln>
              <a:noFill/>
            </a:ln>
          </p:spPr>
          <p:txBody>
            <a:bodyPr wrap="none" lIns="0" tIns="0" rIns="0" bIns="0" anchor="t" anchorCtr="0">
              <a:spAutoFit/>
            </a:bodyPr>
            <a:lstStyle/>
            <a:p>
              <a:pPr algn="l"/>
              <a:r>
                <a:rPr lang="en-US" sz="1580" b="1" dirty="0">
                  <a:solidFill>
                    <a:schemeClr val="dk1"/>
                  </a:solidFill>
                  <a:latin typeface="+mn-lt"/>
                  <a:ea typeface="+mn-ea"/>
                  <a:cs typeface="+mn-cs"/>
                </a:rPr>
                <a:t>Optional matrix sketching</a:t>
              </a:r>
            </a:p>
          </p:txBody>
        </p:sp>
        <p:sp>
          <p:nvSpPr>
            <p:cNvPr id="19" name="TextBox 19"/>
            <p:cNvSpPr txBox="1"/>
            <p:nvPr/>
          </p:nvSpPr>
          <p:spPr>
            <a:xfrm>
              <a:off x="6623685" y="2202656"/>
              <a:ext cx="4019115"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Dramatically improves scalability to massive instances</a:t>
              </a:r>
            </a:p>
          </p:txBody>
        </p:sp>
        <p:sp>
          <p:nvSpPr>
            <p:cNvPr id="20" name="TextBox 20"/>
            <p:cNvSpPr txBox="1"/>
            <p:nvPr/>
          </p:nvSpPr>
          <p:spPr>
            <a:xfrm>
              <a:off x="6623685" y="2402681"/>
              <a:ext cx="2386127"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while keeping convergence fast.</a:t>
              </a:r>
            </a:p>
          </p:txBody>
        </p:sp>
      </p:grpSp>
      <p:grpSp>
        <p:nvGrpSpPr>
          <p:cNvPr id="28" name="Group 28"/>
          <p:cNvGrpSpPr/>
          <p:nvPr/>
        </p:nvGrpSpPr>
        <p:grpSpPr>
          <a:xfrm>
            <a:off x="533400" y="3352800"/>
            <a:ext cx="5448300" cy="1619250"/>
            <a:chOff x="533400" y="3352800"/>
            <a:chExt cx="5448300" cy="1619250"/>
          </a:xfrm>
        </p:grpSpPr>
        <p:sp>
          <p:nvSpPr>
            <p:cNvPr id="22" name="Rectangle 22"/>
            <p:cNvSpPr/>
            <p:nvPr/>
          </p:nvSpPr>
          <p:spPr>
            <a:xfrm>
              <a:off x="533400" y="3352800"/>
              <a:ext cx="5448300" cy="1619250"/>
            </a:xfrm>
            <a:prstGeom prst="roundRect">
              <a:avLst>
                <a:gd name="adj" fmla="val 8235"/>
              </a:avLst>
            </a:prstGeom>
            <a:solidFill>
              <a:schemeClr val="accent5"/>
            </a:solidFill>
            <a:ln w="11430">
              <a:solidFill>
                <a:schemeClr val="accent4"/>
              </a:solidFill>
            </a:ln>
          </p:spPr>
        </p:sp>
        <p:sp>
          <p:nvSpPr>
            <p:cNvPr id="23" name="Rectangle 23"/>
            <p:cNvSpPr/>
            <p:nvPr/>
          </p:nvSpPr>
          <p:spPr>
            <a:xfrm>
              <a:off x="762000" y="3619500"/>
              <a:ext cx="47625" cy="323850"/>
            </a:xfrm>
            <a:prstGeom prst="roundRect">
              <a:avLst>
                <a:gd name="adj" fmla="val 50000"/>
              </a:avLst>
            </a:prstGeom>
            <a:solidFill>
              <a:srgbClr val="57D9A3"/>
            </a:solidFill>
            <a:ln>
              <a:noFill/>
            </a:ln>
          </p:spPr>
        </p:sp>
        <p:sp>
          <p:nvSpPr>
            <p:cNvPr id="24" name="TextBox 24"/>
            <p:cNvSpPr txBox="1"/>
            <p:nvPr/>
          </p:nvSpPr>
          <p:spPr>
            <a:xfrm>
              <a:off x="5271402" y="3524250"/>
              <a:ext cx="496938" cy="586740"/>
            </a:xfrm>
            <a:prstGeom prst="rect">
              <a:avLst/>
            </a:prstGeom>
            <a:noFill/>
            <a:ln>
              <a:noFill/>
            </a:ln>
          </p:spPr>
          <p:txBody>
            <a:bodyPr wrap="none" lIns="0" tIns="0" rIns="0" bIns="0" anchor="t" anchorCtr="0">
              <a:spAutoFit/>
            </a:bodyPr>
            <a:lstStyle/>
            <a:p>
              <a:pPr algn="r"/>
              <a:r>
                <a:rPr lang="en-US" sz="3000" b="1" dirty="0">
                  <a:solidFill>
                    <a:srgbClr val="57D9A3">
                      <a:alphaMod val="55000"/>
                    </a:srgbClr>
                  </a:solidFill>
                  <a:latin typeface="Consolas"/>
                  <a:ea typeface="Consolas"/>
                  <a:cs typeface="Consolas"/>
                </a:rPr>
                <a:t>03</a:t>
              </a:r>
            </a:p>
          </p:txBody>
        </p:sp>
        <p:sp>
          <p:nvSpPr>
            <p:cNvPr id="25" name="TextBox 25"/>
            <p:cNvSpPr txBox="1"/>
            <p:nvPr/>
          </p:nvSpPr>
          <p:spPr>
            <a:xfrm>
              <a:off x="944499" y="3659029"/>
              <a:ext cx="2011180" cy="308039"/>
            </a:xfrm>
            <a:prstGeom prst="rect">
              <a:avLst/>
            </a:prstGeom>
            <a:noFill/>
            <a:ln>
              <a:noFill/>
            </a:ln>
          </p:spPr>
          <p:txBody>
            <a:bodyPr wrap="none" lIns="0" tIns="0" rIns="0" bIns="0" anchor="t" anchorCtr="0">
              <a:spAutoFit/>
            </a:bodyPr>
            <a:lstStyle/>
            <a:p>
              <a:pPr algn="l"/>
              <a:r>
                <a:rPr lang="en-US" sz="1580" b="1" dirty="0">
                  <a:solidFill>
                    <a:schemeClr val="dk1"/>
                  </a:solidFill>
                  <a:latin typeface="+mn-lt"/>
                  <a:ea typeface="+mn-ea"/>
                  <a:cs typeface="+mn-cs"/>
                </a:rPr>
                <a:t>Provable + tunable</a:t>
              </a:r>
            </a:p>
          </p:txBody>
        </p:sp>
        <p:sp>
          <p:nvSpPr>
            <p:cNvPr id="26" name="TextBox 26"/>
            <p:cNvSpPr txBox="1"/>
            <p:nvPr/>
          </p:nvSpPr>
          <p:spPr>
            <a:xfrm>
              <a:off x="946785" y="4031456"/>
              <a:ext cx="4328663"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Non-asymptotic convergence guarantees, plus parameters</a:t>
              </a:r>
            </a:p>
          </p:txBody>
        </p:sp>
        <p:sp>
          <p:nvSpPr>
            <p:cNvPr id="27" name="TextBox 27"/>
            <p:cNvSpPr txBox="1"/>
            <p:nvPr/>
          </p:nvSpPr>
          <p:spPr>
            <a:xfrm>
              <a:off x="946785" y="4231481"/>
              <a:ext cx="4067261"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trading per-iteration cost against convergence speed.</a:t>
              </a:r>
            </a:p>
          </p:txBody>
        </p:sp>
      </p:grpSp>
      <p:grpSp>
        <p:nvGrpSpPr>
          <p:cNvPr id="35" name="Group 35"/>
          <p:cNvGrpSpPr/>
          <p:nvPr/>
        </p:nvGrpSpPr>
        <p:grpSpPr>
          <a:xfrm>
            <a:off x="6210300" y="3352800"/>
            <a:ext cx="5448300" cy="1619250"/>
            <a:chOff x="6210300" y="3352800"/>
            <a:chExt cx="5448300" cy="1619250"/>
          </a:xfrm>
        </p:grpSpPr>
        <p:sp>
          <p:nvSpPr>
            <p:cNvPr id="29" name="Rectangle 29"/>
            <p:cNvSpPr/>
            <p:nvPr/>
          </p:nvSpPr>
          <p:spPr>
            <a:xfrm>
              <a:off x="6210300" y="3352800"/>
              <a:ext cx="5448300" cy="1619250"/>
            </a:xfrm>
            <a:prstGeom prst="roundRect">
              <a:avLst>
                <a:gd name="adj" fmla="val 8235"/>
              </a:avLst>
            </a:prstGeom>
            <a:solidFill>
              <a:schemeClr val="accent5"/>
            </a:solidFill>
            <a:ln w="11430">
              <a:solidFill>
                <a:schemeClr val="accent4"/>
              </a:solidFill>
            </a:ln>
          </p:spPr>
        </p:sp>
        <p:sp>
          <p:nvSpPr>
            <p:cNvPr id="30" name="Rectangle 30"/>
            <p:cNvSpPr/>
            <p:nvPr/>
          </p:nvSpPr>
          <p:spPr>
            <a:xfrm>
              <a:off x="6438900" y="3619500"/>
              <a:ext cx="47625" cy="323850"/>
            </a:xfrm>
            <a:prstGeom prst="roundRect">
              <a:avLst>
                <a:gd name="adj" fmla="val 50000"/>
              </a:avLst>
            </a:prstGeom>
            <a:solidFill>
              <a:srgbClr val="F7B84B"/>
            </a:solidFill>
            <a:ln>
              <a:noFill/>
            </a:ln>
          </p:spPr>
        </p:sp>
        <p:sp>
          <p:nvSpPr>
            <p:cNvPr id="31" name="TextBox 31"/>
            <p:cNvSpPr txBox="1"/>
            <p:nvPr/>
          </p:nvSpPr>
          <p:spPr>
            <a:xfrm>
              <a:off x="10948302" y="3524250"/>
              <a:ext cx="496938" cy="586740"/>
            </a:xfrm>
            <a:prstGeom prst="rect">
              <a:avLst/>
            </a:prstGeom>
            <a:noFill/>
            <a:ln>
              <a:noFill/>
            </a:ln>
          </p:spPr>
          <p:txBody>
            <a:bodyPr wrap="none" lIns="0" tIns="0" rIns="0" bIns="0" anchor="t" anchorCtr="0">
              <a:spAutoFit/>
            </a:bodyPr>
            <a:lstStyle/>
            <a:p>
              <a:pPr algn="r"/>
              <a:r>
                <a:rPr lang="en-US" sz="3000" b="1" dirty="0">
                  <a:solidFill>
                    <a:srgbClr val="F7B84B">
                      <a:alphaMod val="55000"/>
                    </a:srgbClr>
                  </a:solidFill>
                  <a:latin typeface="Consolas"/>
                  <a:ea typeface="Consolas"/>
                  <a:cs typeface="Consolas"/>
                </a:rPr>
                <a:t>04</a:t>
              </a:r>
            </a:p>
          </p:txBody>
        </p:sp>
        <p:sp>
          <p:nvSpPr>
            <p:cNvPr id="32" name="TextBox 32"/>
            <p:cNvSpPr txBox="1"/>
            <p:nvPr/>
          </p:nvSpPr>
          <p:spPr>
            <a:xfrm>
              <a:off x="6621399" y="3659029"/>
              <a:ext cx="2267777" cy="308039"/>
            </a:xfrm>
            <a:prstGeom prst="rect">
              <a:avLst/>
            </a:prstGeom>
            <a:noFill/>
            <a:ln>
              <a:noFill/>
            </a:ln>
          </p:spPr>
          <p:txBody>
            <a:bodyPr wrap="none" lIns="0" tIns="0" rIns="0" bIns="0" anchor="t" anchorCtr="0">
              <a:spAutoFit/>
            </a:bodyPr>
            <a:lstStyle/>
            <a:p>
              <a:pPr algn="l"/>
              <a:r>
                <a:rPr lang="en-US" sz="1580" b="1" dirty="0">
                  <a:solidFill>
                    <a:schemeClr val="dk1"/>
                  </a:solidFill>
                  <a:latin typeface="+mn-lt"/>
                  <a:ea typeface="+mn-ea"/>
                  <a:cs typeface="+mn-cs"/>
                </a:rPr>
                <a:t>Standalone pure-JAX</a:t>
              </a:r>
            </a:p>
          </p:txBody>
        </p:sp>
        <p:sp>
          <p:nvSpPr>
            <p:cNvPr id="33" name="TextBox 33"/>
            <p:cNvSpPr txBox="1"/>
            <p:nvPr/>
          </p:nvSpPr>
          <p:spPr>
            <a:xfrm>
              <a:off x="6623685" y="4031456"/>
              <a:ext cx="3996748"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An open implementation that runs efficiently on CPUs,</a:t>
              </a:r>
            </a:p>
          </p:txBody>
        </p:sp>
        <p:sp>
          <p:nvSpPr>
            <p:cNvPr id="34" name="TextBox 34"/>
            <p:cNvSpPr txBox="1"/>
            <p:nvPr/>
          </p:nvSpPr>
          <p:spPr>
            <a:xfrm>
              <a:off x="6623685" y="4231481"/>
              <a:ext cx="1216009"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GPUs, and TPUs.</a:t>
              </a:r>
            </a:p>
          </p:txBody>
        </p:sp>
      </p:grpSp>
      <p:sp>
        <p:nvSpPr>
          <p:cNvPr id="36" name="cue_s04_c1_presents_usbs_unified_spectral_bundl" title="cue_s04_c1_presents_usbs_unified_spectral_bundl" descr="cue_s04_c1_presents_usbs_unified_spectral_bundl This paper presents USBS, a unified spectral bundle method with sketching. It makes several contributions. First, it handles general SDPs with both equality and inequality constraints, unlike prior spectral bundle methods."/>
          <p:cNvSpPr/>
          <p:nvPr/>
        </p:nvSpPr>
        <p:spPr>
          <a:xfrm>
            <a:off x="532790" y="1523847"/>
            <a:ext cx="5448604" cy="161917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cue_s04_c2_second_augmented_optional_matrix_ske" title="cue_s04_c2_second_augmented_optional_matrix_ske" descr="cue_s04_c2_second_augmented_optional_matrix_ske Second, it can be augmented with an optional matrix sketching technique that dramatically improves scalability while keeping convergence fast. Third, it reliably leverages warm-start initializations."/>
          <p:cNvSpPr/>
          <p:nvPr/>
        </p:nvSpPr>
        <p:spPr>
          <a:xfrm>
            <a:off x="6210604" y="1523847"/>
            <a:ext cx="5448604" cy="161917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cue_s04_c3_method_comes_provable_non_asymptotic" title="cue_s04_c3_method_comes_provable_non_asymptotic" descr="cue_s04_c3_method_comes_provable_non_asymptotic The method comes with provable non-asymptotic convergence guarantees, and it exposes parameters that let the user trade off per-iteration cost against convergence speed."/>
          <p:cNvSpPr/>
          <p:nvPr/>
        </p:nvSpPr>
        <p:spPr>
          <a:xfrm>
            <a:off x="532790" y="3352876"/>
            <a:ext cx="5448604" cy="161917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cue_s04_c4_finally_authors_release_standalone_i" title="cue_s04_c4_finally_authors_release_standalone_i" descr="cue_s04_c4_finally_authors_release_standalone_i Finally, the authors release a standalone implementation in pure JAX that runs efficiently on CPUs, GPUs, and TPUs."/>
          <p:cNvSpPr/>
          <p:nvPr/>
        </p:nvSpPr>
        <p:spPr>
          <a:xfrm>
            <a:off x="6210604" y="3352876"/>
            <a:ext cx="5448604" cy="161917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chemeClr val="lt2">
                  <a:alpha val="90000"/>
                </a:schemeClr>
              </a:gs>
              <a:gs pos="60000">
                <a:schemeClr val="lt1">
                  <a:alpha val="0"/>
                </a:schemeClr>
              </a:gs>
            </a:gsLst>
            <a:path path="circle">
              <a:fillToRect l="50000" t="50000" r="50000" b="50000"/>
            </a:path>
          </a:gradFill>
          <a:ln>
            <a:noFill/>
          </a:ln>
        </p:spPr>
        <p:txBody>
          <a:bodyPr/>
          <a:p/>
        </p:txBody>
      </p:sp>
      <p:sp>
        <p:nvSpPr>
          <p:cNvPr id="3" name="Rectangle 3"/>
          <p:cNvSpPr/>
          <p:nvPr/>
        </p:nvSpPr>
        <p:spPr>
          <a:xfrm>
            <a:off x="533400" y="476250"/>
            <a:ext cx="57150" cy="209550"/>
          </a:xfrm>
          <a:prstGeom prst="roundRect">
            <a:avLst>
              <a:gd name="adj" fmla="val 41667"/>
            </a:avLst>
          </a:prstGeom>
          <a:solidFill>
            <a:schemeClr val="accent2"/>
          </a:solidFill>
          <a:ln>
            <a:noFill/>
          </a:ln>
        </p:spPr>
        <p:txBody>
          <a:bodyPr/>
          <a:p/>
        </p:txBody>
      </p:sp>
      <p:sp>
        <p:nvSpPr>
          <p:cNvPr id="4" name="TextBox 4"/>
          <p:cNvSpPr txBox="1"/>
          <p:nvPr/>
        </p:nvSpPr>
        <p:spPr>
          <a:xfrm>
            <a:off x="699135" y="526256"/>
            <a:ext cx="790365" cy="220028"/>
          </a:xfrm>
          <a:prstGeom prst="rect">
            <a:avLst/>
          </a:prstGeom>
          <a:noFill/>
          <a:ln>
            <a:noFill/>
          </a:ln>
        </p:spPr>
        <p:txBody>
          <a:bodyPr wrap="none" lIns="0" tIns="0" rIns="0" bIns="0" anchor="t" anchorCtr="0">
            <a:spAutoFit/>
          </a:bodyPr>
          <a:lstStyle/>
          <a:p>
            <a:pPr algn="l"/>
            <a:r>
              <a:rPr lang="en-US" sz="1120" b="1" spc="225" dirty="0">
                <a:solidFill>
                  <a:schemeClr val="accent2"/>
                </a:solidFill>
                <a:latin typeface="+mn-lt"/>
                <a:ea typeface="+mn-ea"/>
                <a:cs typeface="+mn-cs"/>
              </a:rPr>
              <a:t>METHOD</a:t>
            </a:r>
          </a:p>
        </p:txBody>
      </p:sp>
      <p:sp>
        <p:nvSpPr>
          <p:cNvPr id="5" name="TextBox 5"/>
          <p:cNvSpPr txBox="1"/>
          <p:nvPr/>
        </p:nvSpPr>
        <p:spPr>
          <a:xfrm>
            <a:off x="518160" y="781050"/>
            <a:ext cx="7062255" cy="586740"/>
          </a:xfrm>
          <a:prstGeom prst="rect">
            <a:avLst/>
          </a:prstGeom>
          <a:noFill/>
          <a:ln>
            <a:noFill/>
          </a:ln>
        </p:spPr>
        <p:txBody>
          <a:bodyPr wrap="none" lIns="0" tIns="0" rIns="0" bIns="0" anchor="t" anchorCtr="0">
            <a:spAutoFit/>
          </a:bodyPr>
          <a:lstStyle/>
          <a:p>
            <a:pPr algn="l"/>
            <a:r>
              <a:rPr lang="en-US" sz="3000" b="1" dirty="0">
                <a:solidFill>
                  <a:schemeClr val="dk1"/>
                </a:solidFill>
                <a:latin typeface="+mn-lt"/>
                <a:ea typeface="+mn-ea"/>
                <a:cs typeface="+mn-cs"/>
              </a:rPr>
              <a:t>A proximal spectral bundle method</a:t>
            </a:r>
          </a:p>
        </p:txBody>
      </p:sp>
      <p:sp>
        <p:nvSpPr>
          <p:cNvPr id="6" name="TextBox 6"/>
          <p:cNvSpPr txBox="1"/>
          <p:nvPr/>
        </p:nvSpPr>
        <p:spPr>
          <a:xfrm>
            <a:off x="11095485" y="534352"/>
            <a:ext cx="568449" cy="205359"/>
          </a:xfrm>
          <a:prstGeom prst="rect">
            <a:avLst/>
          </a:prstGeom>
          <a:noFill/>
          <a:ln>
            <a:noFill/>
          </a:ln>
        </p:spPr>
        <p:txBody>
          <a:bodyPr wrap="none" lIns="0" tIns="0" rIns="0" bIns="0" anchor="t" anchorCtr="0">
            <a:spAutoFit/>
          </a:bodyPr>
          <a:lstStyle/>
          <a:p>
            <a:pPr algn="r"/>
            <a:r>
              <a:rPr lang="en-US" sz="1050" b="1" spc="75" dirty="0">
                <a:solidFill>
                  <a:srgbClr val="6E85AC"/>
                </a:solidFill>
                <a:latin typeface="Consolas"/>
                <a:ea typeface="Consolas"/>
                <a:cs typeface="Consolas"/>
              </a:rPr>
              <a:t>05 / 10</a:t>
            </a:r>
          </a:p>
        </p:txBody>
      </p:sp>
      <p:sp>
        <p:nvSpPr>
          <p:cNvPr id="7" name="Line 7"/>
          <p:cNvSpPr/>
          <p:nvPr/>
        </p:nvSpPr>
        <p:spPr>
          <a:xfrm>
            <a:off x="533400" y="1314450"/>
            <a:ext cx="11125200" cy="9525"/>
          </a:xfrm>
          <a:custGeom>
            <a:avLst/>
            <a:gdLst/>
            <a:ahLst/>
            <a:cxnLst/>
            <a:rect l="l" t="t" r="r" b="b"/>
            <a:pathLst>
              <a:path w="11125200" h="9525">
                <a:moveTo>
                  <a:pt x="0" y="0"/>
                </a:moveTo>
                <a:lnTo>
                  <a:pt x="11125200" y="0"/>
                </a:lnTo>
              </a:path>
            </a:pathLst>
          </a:custGeom>
          <a:noFill/>
          <a:ln w="11430">
            <a:solidFill>
              <a:schemeClr val="accent4"/>
            </a:solidFill>
          </a:ln>
        </p:spPr>
        <p:txBody>
          <a:bodyPr/>
          <a:p/>
        </p:txBody>
      </p:sp>
      <p:grpSp>
        <p:nvGrpSpPr>
          <p:cNvPr id="11" name="Group 11"/>
          <p:cNvGrpSpPr/>
          <p:nvPr/>
        </p:nvGrpSpPr>
        <p:grpSpPr>
          <a:xfrm>
            <a:off x="533400" y="1524000"/>
            <a:ext cx="11125200" cy="1104900"/>
            <a:chOff x="533400" y="1524000"/>
            <a:chExt cx="11125200" cy="1104900"/>
          </a:xfrm>
        </p:grpSpPr>
        <p:sp>
          <p:nvSpPr>
            <p:cNvPr id="8" name="Rectangle 8"/>
            <p:cNvSpPr/>
            <p:nvPr/>
          </p:nvSpPr>
          <p:spPr>
            <a:xfrm>
              <a:off x="533400" y="1524000"/>
              <a:ext cx="11125200" cy="1104900"/>
            </a:xfrm>
            <a:prstGeom prst="roundRect">
              <a:avLst>
                <a:gd name="adj" fmla="val 12069"/>
              </a:avLst>
            </a:prstGeom>
            <a:solidFill>
              <a:schemeClr val="accent6"/>
            </a:solidFill>
            <a:ln w="12382">
              <a:solidFill>
                <a:schemeClr val="accent2"/>
              </a:solidFill>
            </a:ln>
          </p:spPr>
        </p:sp>
        <p:sp>
          <p:nvSpPr>
            <p:cNvPr id="9" name="TextBox 9"/>
            <p:cNvSpPr txBox="1"/>
            <p:nvPr/>
          </p:nvSpPr>
          <p:spPr>
            <a:xfrm>
              <a:off x="718185" y="1688306"/>
              <a:ext cx="4781113" cy="220028"/>
            </a:xfrm>
            <a:prstGeom prst="rect">
              <a:avLst/>
            </a:prstGeom>
            <a:noFill/>
            <a:ln>
              <a:noFill/>
            </a:ln>
          </p:spPr>
          <p:txBody>
            <a:bodyPr wrap="none" lIns="0" tIns="0" rIns="0" bIns="0" anchor="t" anchorCtr="0">
              <a:spAutoFit/>
            </a:bodyPr>
            <a:lstStyle/>
            <a:p>
              <a:pPr algn="l"/>
              <a:r>
                <a:rPr lang="en-US" sz="1120" b="1" dirty="0">
                  <a:solidFill>
                    <a:schemeClr val="accent2"/>
                  </a:solidFill>
                  <a:latin typeface="+mn-lt"/>
                  <a:ea typeface="+mn-ea"/>
                  <a:cs typeface="+mn-cs"/>
                </a:rPr>
                <a:t>Rewrite the dual SDP as one unconstrained penalized objective</a:t>
              </a:r>
            </a:p>
          </p:txBody>
        </p:sp>
        <p:sp>
          <p:nvSpPr>
            <p:cNvPr id="10" name="TextBox 10"/>
            <p:cNvSpPr txBox="1"/>
            <p:nvPr/>
          </p:nvSpPr>
          <p:spPr>
            <a:xfrm>
              <a:off x="713613" y="2048351"/>
              <a:ext cx="6539941" cy="396050"/>
            </a:xfrm>
            <a:prstGeom prst="rect">
              <a:avLst/>
            </a:prstGeom>
            <a:noFill/>
            <a:ln>
              <a:noFill/>
            </a:ln>
          </p:spPr>
          <p:txBody>
            <a:bodyPr wrap="none" lIns="0" tIns="0" rIns="0" bIns="0" anchor="t" anchorCtr="0">
              <a:spAutoFit/>
            </a:bodyPr>
            <a:lstStyle/>
            <a:p>
              <a:pPr algn="l"/>
              <a:r>
                <a:rPr lang="en-US" sz="2020" b="1" dirty="0">
                  <a:solidFill>
                    <a:schemeClr val="dk1"/>
                  </a:solidFill>
                  <a:latin typeface="Consolas"/>
                  <a:ea typeface="Consolas"/>
                  <a:cs typeface="Consolas"/>
                </a:rPr>
                <a:t>f(y) = α·[ λₘₐₓ(C − 𝒜*y) ]₊ + ⟨ b, y ⟩ + ι_Y(y)</a:t>
              </a:r>
            </a:p>
          </p:txBody>
        </p:sp>
      </p:grpSp>
      <p:grpSp>
        <p:nvGrpSpPr>
          <p:cNvPr id="20" name="Group 20"/>
          <p:cNvGrpSpPr/>
          <p:nvPr/>
        </p:nvGrpSpPr>
        <p:grpSpPr>
          <a:xfrm>
            <a:off x="533400" y="2838450"/>
            <a:ext cx="3568700" cy="2038350"/>
            <a:chOff x="533400" y="2838450"/>
            <a:chExt cx="3568700" cy="2038350"/>
          </a:xfrm>
        </p:grpSpPr>
        <p:sp>
          <p:nvSpPr>
            <p:cNvPr id="12" name="Rectangle 12"/>
            <p:cNvSpPr/>
            <p:nvPr/>
          </p:nvSpPr>
          <p:spPr>
            <a:xfrm>
              <a:off x="533400" y="2838450"/>
              <a:ext cx="3568700" cy="2038350"/>
            </a:xfrm>
            <a:prstGeom prst="roundRect">
              <a:avLst>
                <a:gd name="adj" fmla="val 6542"/>
              </a:avLst>
            </a:prstGeom>
            <a:solidFill>
              <a:schemeClr val="accent5"/>
            </a:solidFill>
            <a:ln w="11430">
              <a:solidFill>
                <a:schemeClr val="accent4"/>
              </a:solidFill>
            </a:ln>
          </p:spPr>
        </p:sp>
        <p:sp>
          <p:nvSpPr>
            <p:cNvPr id="13" name="TextBox 13"/>
            <p:cNvSpPr txBox="1"/>
            <p:nvPr/>
          </p:nvSpPr>
          <p:spPr>
            <a:xfrm>
              <a:off x="736473" y="3081814"/>
              <a:ext cx="1828648" cy="249364"/>
            </a:xfrm>
            <a:prstGeom prst="rect">
              <a:avLst/>
            </a:prstGeom>
            <a:noFill/>
            <a:ln>
              <a:noFill/>
            </a:ln>
          </p:spPr>
          <p:txBody>
            <a:bodyPr wrap="none" lIns="0" tIns="0" rIns="0" bIns="0" anchor="t" anchorCtr="0">
              <a:spAutoFit/>
            </a:bodyPr>
            <a:lstStyle/>
            <a:p>
              <a:pPr algn="l"/>
              <a:r>
                <a:rPr lang="en-US" sz="1280" b="1" dirty="0">
                  <a:solidFill>
                    <a:schemeClr val="accent2"/>
                  </a:solidFill>
                  <a:latin typeface="+mn-lt"/>
                  <a:ea typeface="+mn-ea"/>
                  <a:cs typeface="+mn-cs"/>
                </a:rPr>
                <a:t>1 Build a cheap model</a:t>
              </a:r>
            </a:p>
          </p:txBody>
        </p:sp>
        <p:sp>
          <p:nvSpPr>
            <p:cNvPr id="14" name="TextBox 14"/>
            <p:cNvSpPr txBox="1"/>
            <p:nvPr/>
          </p:nvSpPr>
          <p:spPr>
            <a:xfrm>
              <a:off x="737616" y="3391852"/>
              <a:ext cx="2149543"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Minimize with a proximal bundle</a:t>
              </a:r>
            </a:p>
          </p:txBody>
        </p:sp>
        <p:sp>
          <p:nvSpPr>
            <p:cNvPr id="15" name="TextBox 15"/>
            <p:cNvSpPr txBox="1"/>
            <p:nvPr/>
          </p:nvSpPr>
          <p:spPr>
            <a:xfrm>
              <a:off x="737616" y="3591878"/>
              <a:ext cx="2385365"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method: build a lower model over a</a:t>
              </a:r>
            </a:p>
          </p:txBody>
        </p:sp>
        <p:sp>
          <p:nvSpPr>
            <p:cNvPr id="16" name="TextBox 16"/>
            <p:cNvSpPr txBox="1"/>
            <p:nvPr/>
          </p:nvSpPr>
          <p:spPr>
            <a:xfrm>
              <a:off x="737616" y="3791902"/>
              <a:ext cx="2540851"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low-dimensional subspace of current</a:t>
              </a:r>
            </a:p>
          </p:txBody>
        </p:sp>
        <p:sp>
          <p:nvSpPr>
            <p:cNvPr id="17" name="TextBox 17"/>
            <p:cNvSpPr txBox="1"/>
            <p:nvPr/>
          </p:nvSpPr>
          <p:spPr>
            <a:xfrm>
              <a:off x="737616" y="3991928"/>
              <a:ext cx="1615002"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and past eigenvectors.</a:t>
              </a:r>
            </a:p>
          </p:txBody>
        </p:sp>
        <p:sp>
          <p:nvSpPr>
            <p:cNvPr id="18" name="Rectangle 18"/>
            <p:cNvSpPr/>
            <p:nvPr/>
          </p:nvSpPr>
          <p:spPr>
            <a:xfrm>
              <a:off x="742950" y="4381500"/>
              <a:ext cx="3149600" cy="323850"/>
            </a:xfrm>
            <a:prstGeom prst="roundRect">
              <a:avLst>
                <a:gd name="adj" fmla="val 26471"/>
              </a:avLst>
            </a:prstGeom>
            <a:solidFill>
              <a:schemeClr val="lt2"/>
            </a:solidFill>
            <a:ln>
              <a:noFill/>
            </a:ln>
          </p:spPr>
        </p:sp>
        <p:sp>
          <p:nvSpPr>
            <p:cNvPr id="19" name="TextBox 19"/>
            <p:cNvSpPr txBox="1"/>
            <p:nvPr/>
          </p:nvSpPr>
          <p:spPr>
            <a:xfrm>
              <a:off x="871156" y="4481751"/>
              <a:ext cx="1922936" cy="198025"/>
            </a:xfrm>
            <a:prstGeom prst="rect">
              <a:avLst/>
            </a:prstGeom>
            <a:noFill/>
            <a:ln>
              <a:noFill/>
            </a:ln>
          </p:spPr>
          <p:txBody>
            <a:bodyPr wrap="none" lIns="0" tIns="0" rIns="0" bIns="0" anchor="t" anchorCtr="0">
              <a:spAutoFit/>
            </a:bodyPr>
            <a:lstStyle/>
            <a:p>
              <a:pPr algn="l"/>
              <a:r>
                <a:rPr lang="en-US" sz="1010" b="1" dirty="0">
                  <a:solidFill>
                    <a:srgbClr val="37DCC0"/>
                  </a:solidFill>
                  <a:latin typeface="Consolas"/>
                  <a:ea typeface="Consolas"/>
                  <a:cs typeface="Consolas"/>
                </a:rPr>
                <a:t>Vₜ = k_c current ⊕ k_p past</a:t>
              </a:r>
            </a:p>
          </p:txBody>
        </p:sp>
      </p:grpSp>
      <p:grpSp>
        <p:nvGrpSpPr>
          <p:cNvPr id="28" name="Group 28"/>
          <p:cNvGrpSpPr/>
          <p:nvPr/>
        </p:nvGrpSpPr>
        <p:grpSpPr>
          <a:xfrm>
            <a:off x="4311650" y="2838450"/>
            <a:ext cx="3568700" cy="2038350"/>
            <a:chOff x="4311650" y="2838450"/>
            <a:chExt cx="3568700" cy="2038350"/>
          </a:xfrm>
        </p:grpSpPr>
        <p:sp>
          <p:nvSpPr>
            <p:cNvPr id="21" name="Rectangle 21"/>
            <p:cNvSpPr/>
            <p:nvPr/>
          </p:nvSpPr>
          <p:spPr>
            <a:xfrm>
              <a:off x="4311650" y="2838450"/>
              <a:ext cx="3568700" cy="2038350"/>
            </a:xfrm>
            <a:prstGeom prst="roundRect">
              <a:avLst>
                <a:gd name="adj" fmla="val 6542"/>
              </a:avLst>
            </a:prstGeom>
            <a:solidFill>
              <a:schemeClr val="accent5"/>
            </a:solidFill>
            <a:ln w="11430">
              <a:solidFill>
                <a:schemeClr val="accent4"/>
              </a:solidFill>
            </a:ln>
          </p:spPr>
        </p:sp>
        <p:sp>
          <p:nvSpPr>
            <p:cNvPr id="22" name="TextBox 22"/>
            <p:cNvSpPr txBox="1"/>
            <p:nvPr/>
          </p:nvSpPr>
          <p:spPr>
            <a:xfrm>
              <a:off x="4514723" y="3081814"/>
              <a:ext cx="1476305" cy="249364"/>
            </a:xfrm>
            <a:prstGeom prst="rect">
              <a:avLst/>
            </a:prstGeom>
            <a:noFill/>
            <a:ln>
              <a:noFill/>
            </a:ln>
          </p:spPr>
          <p:txBody>
            <a:bodyPr wrap="none" lIns="0" tIns="0" rIns="0" bIns="0" anchor="t" anchorCtr="0">
              <a:spAutoFit/>
            </a:bodyPr>
            <a:lstStyle/>
            <a:p>
              <a:pPr algn="l"/>
              <a:r>
                <a:rPr lang="en-US" sz="1280" b="1" dirty="0">
                  <a:solidFill>
                    <a:schemeClr val="accent2"/>
                  </a:solidFill>
                  <a:latin typeface="+mn-lt"/>
                  <a:ea typeface="+mn-ea"/>
                  <a:cs typeface="+mn-cs"/>
                </a:rPr>
                <a:t>2 Propose a step</a:t>
              </a:r>
            </a:p>
          </p:txBody>
        </p:sp>
        <p:sp>
          <p:nvSpPr>
            <p:cNvPr id="23" name="TextBox 23"/>
            <p:cNvSpPr txBox="1"/>
            <p:nvPr/>
          </p:nvSpPr>
          <p:spPr>
            <a:xfrm>
              <a:off x="4515866" y="3391852"/>
              <a:ext cx="2248696"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Take a proximal step against the</a:t>
              </a:r>
            </a:p>
          </p:txBody>
        </p:sp>
        <p:sp>
          <p:nvSpPr>
            <p:cNvPr id="24" name="TextBox 24"/>
            <p:cNvSpPr txBox="1"/>
            <p:nvPr/>
          </p:nvSpPr>
          <p:spPr>
            <a:xfrm>
              <a:off x="4515866" y="3591878"/>
              <a:ext cx="2067325"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model, solving a small minimax</a:t>
              </a:r>
            </a:p>
          </p:txBody>
        </p:sp>
        <p:sp>
          <p:nvSpPr>
            <p:cNvPr id="25" name="TextBox 25"/>
            <p:cNvSpPr txBox="1"/>
            <p:nvPr/>
          </p:nvSpPr>
          <p:spPr>
            <a:xfrm>
              <a:off x="4515866" y="3791902"/>
              <a:ext cx="2434838"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problem for the candidate iterate.</a:t>
              </a:r>
            </a:p>
          </p:txBody>
        </p:sp>
        <p:sp>
          <p:nvSpPr>
            <p:cNvPr id="26" name="Rectangle 26"/>
            <p:cNvSpPr/>
            <p:nvPr/>
          </p:nvSpPr>
          <p:spPr>
            <a:xfrm>
              <a:off x="4521200" y="4286250"/>
              <a:ext cx="3149600" cy="419100"/>
            </a:xfrm>
            <a:prstGeom prst="roundRect">
              <a:avLst>
                <a:gd name="adj" fmla="val 20455"/>
              </a:avLst>
            </a:prstGeom>
            <a:solidFill>
              <a:schemeClr val="lt2"/>
            </a:solidFill>
            <a:ln>
              <a:noFill/>
            </a:ln>
          </p:spPr>
        </p:sp>
        <p:sp>
          <p:nvSpPr>
            <p:cNvPr id="27" name="TextBox 27"/>
            <p:cNvSpPr txBox="1"/>
            <p:nvPr/>
          </p:nvSpPr>
          <p:spPr>
            <a:xfrm>
              <a:off x="4649597" y="4447699"/>
              <a:ext cx="2191659" cy="190690"/>
            </a:xfrm>
            <a:prstGeom prst="rect">
              <a:avLst/>
            </a:prstGeom>
            <a:noFill/>
            <a:ln>
              <a:noFill/>
            </a:ln>
          </p:spPr>
          <p:txBody>
            <a:bodyPr wrap="none" lIns="0" tIns="0" rIns="0" bIns="0" anchor="t" anchorCtr="0">
              <a:spAutoFit/>
            </a:bodyPr>
            <a:lstStyle/>
            <a:p>
              <a:pPr algn="l"/>
              <a:r>
                <a:rPr lang="en-US" sz="980" b="1" dirty="0">
                  <a:solidFill>
                    <a:schemeClr val="dk1"/>
                  </a:solidFill>
                  <a:latin typeface="Consolas"/>
                  <a:ea typeface="Consolas"/>
                  <a:cs typeface="Consolas"/>
                </a:rPr>
                <a:t>ỹₜ₊₁ = argmin f̂ₜ(y) + ½ρ‖y−yₜ‖²</a:t>
              </a:r>
            </a:p>
          </p:txBody>
        </p:sp>
      </p:grpSp>
      <p:grpSp>
        <p:nvGrpSpPr>
          <p:cNvPr id="37" name="Group 37"/>
          <p:cNvGrpSpPr/>
          <p:nvPr/>
        </p:nvGrpSpPr>
        <p:grpSpPr>
          <a:xfrm>
            <a:off x="8089900" y="2838450"/>
            <a:ext cx="3568700" cy="2038350"/>
            <a:chOff x="8089900" y="2838450"/>
            <a:chExt cx="3568700" cy="2038350"/>
          </a:xfrm>
        </p:grpSpPr>
        <p:sp>
          <p:nvSpPr>
            <p:cNvPr id="29" name="Rectangle 29"/>
            <p:cNvSpPr/>
            <p:nvPr/>
          </p:nvSpPr>
          <p:spPr>
            <a:xfrm>
              <a:off x="8089900" y="2838450"/>
              <a:ext cx="3568700" cy="2038350"/>
            </a:xfrm>
            <a:prstGeom prst="roundRect">
              <a:avLst>
                <a:gd name="adj" fmla="val 6542"/>
              </a:avLst>
            </a:prstGeom>
            <a:solidFill>
              <a:schemeClr val="accent5"/>
            </a:solidFill>
            <a:ln w="11430">
              <a:solidFill>
                <a:schemeClr val="accent4"/>
              </a:solidFill>
            </a:ln>
          </p:spPr>
        </p:sp>
        <p:sp>
          <p:nvSpPr>
            <p:cNvPr id="30" name="TextBox 30"/>
            <p:cNvSpPr txBox="1"/>
            <p:nvPr/>
          </p:nvSpPr>
          <p:spPr>
            <a:xfrm>
              <a:off x="8292973" y="3081814"/>
              <a:ext cx="1629735" cy="249364"/>
            </a:xfrm>
            <a:prstGeom prst="rect">
              <a:avLst/>
            </a:prstGeom>
            <a:noFill/>
            <a:ln>
              <a:noFill/>
            </a:ln>
          </p:spPr>
          <p:txBody>
            <a:bodyPr wrap="none" lIns="0" tIns="0" rIns="0" bIns="0" anchor="t" anchorCtr="0">
              <a:spAutoFit/>
            </a:bodyPr>
            <a:lstStyle/>
            <a:p>
              <a:pPr algn="l"/>
              <a:r>
                <a:rPr lang="en-US" sz="1280" b="1" dirty="0">
                  <a:solidFill>
                    <a:schemeClr val="accent2"/>
                  </a:solidFill>
                  <a:latin typeface="+mn-lt"/>
                  <a:ea typeface="+mn-ea"/>
                  <a:cs typeface="+mn-cs"/>
                </a:rPr>
                <a:t>3 Accept or refine</a:t>
              </a:r>
            </a:p>
          </p:txBody>
        </p:sp>
        <p:sp>
          <p:nvSpPr>
            <p:cNvPr id="31" name="TextBox 31"/>
            <p:cNvSpPr txBox="1"/>
            <p:nvPr/>
          </p:nvSpPr>
          <p:spPr>
            <a:xfrm>
              <a:off x="8294116" y="3391852"/>
              <a:ext cx="2368920"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Descent step if the true decrease</a:t>
              </a:r>
            </a:p>
          </p:txBody>
        </p:sp>
        <p:sp>
          <p:nvSpPr>
            <p:cNvPr id="32" name="TextBox 32"/>
            <p:cNvSpPr txBox="1"/>
            <p:nvPr/>
          </p:nvSpPr>
          <p:spPr>
            <a:xfrm>
              <a:off x="8294116" y="3591878"/>
              <a:ext cx="2321757"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clears a fraction of the model's;</a:t>
              </a:r>
            </a:p>
          </p:txBody>
        </p:sp>
        <p:sp>
          <p:nvSpPr>
            <p:cNvPr id="33" name="TextBox 33"/>
            <p:cNvSpPr txBox="1"/>
            <p:nvPr/>
          </p:nvSpPr>
          <p:spPr>
            <a:xfrm>
              <a:off x="8294116" y="3791902"/>
              <a:ext cx="2272284"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else a null step that still refines</a:t>
              </a:r>
            </a:p>
          </p:txBody>
        </p:sp>
        <p:sp>
          <p:nvSpPr>
            <p:cNvPr id="34" name="TextBox 34"/>
            <p:cNvSpPr txBox="1"/>
            <p:nvPr/>
          </p:nvSpPr>
          <p:spPr>
            <a:xfrm>
              <a:off x="8294116" y="3991928"/>
              <a:ext cx="208559"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it.</a:t>
              </a:r>
            </a:p>
          </p:txBody>
        </p:sp>
        <p:sp>
          <p:nvSpPr>
            <p:cNvPr id="35" name="Rectangle 35"/>
            <p:cNvSpPr/>
            <p:nvPr/>
          </p:nvSpPr>
          <p:spPr>
            <a:xfrm>
              <a:off x="8299450" y="4286250"/>
              <a:ext cx="3149600" cy="419100"/>
            </a:xfrm>
            <a:prstGeom prst="roundRect">
              <a:avLst>
                <a:gd name="adj" fmla="val 20455"/>
              </a:avLst>
            </a:prstGeom>
            <a:solidFill>
              <a:srgbClr val="14261F"/>
            </a:solidFill>
            <a:ln w="10478">
              <a:solidFill>
                <a:srgbClr val="57D9A3"/>
              </a:solidFill>
            </a:ln>
          </p:spPr>
        </p:sp>
        <p:sp>
          <p:nvSpPr>
            <p:cNvPr id="36" name="TextBox 36"/>
            <p:cNvSpPr txBox="1"/>
            <p:nvPr/>
          </p:nvSpPr>
          <p:spPr>
            <a:xfrm>
              <a:off x="8428038" y="4451747"/>
              <a:ext cx="2215166" cy="183356"/>
            </a:xfrm>
            <a:prstGeom prst="rect">
              <a:avLst/>
            </a:prstGeom>
            <a:noFill/>
            <a:ln>
              <a:noFill/>
            </a:ln>
          </p:spPr>
          <p:txBody>
            <a:bodyPr wrap="none" lIns="0" tIns="0" rIns="0" bIns="0" anchor="t" anchorCtr="0">
              <a:spAutoFit/>
            </a:bodyPr>
            <a:lstStyle/>
            <a:p>
              <a:pPr algn="l"/>
              <a:r>
                <a:rPr lang="en-US" sz="940" b="1" dirty="0">
                  <a:solidFill>
                    <a:srgbClr val="57D9A3"/>
                  </a:solidFill>
                  <a:latin typeface="Consolas"/>
                  <a:ea typeface="Consolas"/>
                  <a:cs typeface="Consolas"/>
                </a:rPr>
                <a:t>few eigenvectors + sketch → scale</a:t>
              </a:r>
            </a:p>
          </p:txBody>
        </p:sp>
      </p:grpSp>
      <p:sp>
        <p:nvSpPr>
          <p:cNvPr id="38" name="cue_s05_c1_how_usbs_works_starts_dual" title="cue_s05_c1_how_usbs_works_starts_dual" descr="cue_s05_c1_how_usbs_works_starts_dual Here is how USBS works. It starts from the dual semidefinite program and rewrites it as a single unconstrained objective, a penalized dual that combines the largest eigenvalue of C minus A-star y with a linear term and an indicator for the inequality constrain"/>
          <p:cNvSpPr/>
          <p:nvPr/>
        </p:nvSpPr>
        <p:spPr>
          <a:xfrm>
            <a:off x="532790" y="1523847"/>
            <a:ext cx="11125200" cy="110482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cue_s05_c2_penalized_objective_minimized_proxim" title="cue_s05_c2_penalized_objective_minimized_proxim" descr="cue_s05_c2_penalized_objective_minimized_proxim This penalized objective is then minimized with a proximal bundle method. At each iteration, instead of the full objective, USBS builds a cheap lower model over a low-dimensional subspace spanned by the current maximum eigenvectors and a few directions carryin"/>
          <p:cNvSpPr/>
          <p:nvPr/>
        </p:nvSpPr>
        <p:spPr>
          <a:xfrm>
            <a:off x="532790" y="2838526"/>
            <a:ext cx="3568598" cy="20381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cue_s05_c3_proposes_candidate_iterate_taking_pr" title="cue_s05_c3_proposes_candidate_iterate_taking_pr" descr="cue_s05_c3_proposes_candidate_iterate_taking_pr It proposes a candidate iterate by taking a proximal step against this model, solving a small minimax problem. If the true objective decreases by at least a fixed fraction of what the model predicted, it accepts the step, a descent step; otherwise it takes a n"/>
          <p:cNvSpPr/>
          <p:nvPr/>
        </p:nvSpPr>
        <p:spPr>
          <a:xfrm>
            <a:off x="4311091" y="2838526"/>
            <a:ext cx="3568598" cy="20381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cue_s05_c4_because_only_small_set_eigenvectors" title="cue_s05_c4_because_only_small_set_eigenvectors" descr="cue_s05_c4_because_only_small_set_eigenvectors Because only a small set of eigenvectors and, optionally, a low-rank sketch of the primal matrix are ever stored, the whole procedure scales to enormous problems."/>
          <p:cNvSpPr/>
          <p:nvPr/>
        </p:nvSpPr>
        <p:spPr>
          <a:xfrm>
            <a:off x="8089392" y="2838526"/>
            <a:ext cx="3568598" cy="20381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chemeClr val="lt2">
                  <a:alpha val="90000"/>
                </a:schemeClr>
              </a:gs>
              <a:gs pos="60000">
                <a:schemeClr val="lt1">
                  <a:alpha val="0"/>
                </a:schemeClr>
              </a:gs>
            </a:gsLst>
            <a:path path="circle">
              <a:fillToRect l="50000" t="50000" r="50000" b="50000"/>
            </a:path>
          </a:gradFill>
          <a:ln>
            <a:noFill/>
          </a:ln>
        </p:spPr>
        <p:txBody>
          <a:bodyPr/>
          <a:p/>
        </p:txBody>
      </p:sp>
      <p:sp>
        <p:nvSpPr>
          <p:cNvPr id="3" name="Rectangle 3"/>
          <p:cNvSpPr/>
          <p:nvPr/>
        </p:nvSpPr>
        <p:spPr>
          <a:xfrm>
            <a:off x="533400" y="476250"/>
            <a:ext cx="57150" cy="209550"/>
          </a:xfrm>
          <a:prstGeom prst="roundRect">
            <a:avLst>
              <a:gd name="adj" fmla="val 41667"/>
            </a:avLst>
          </a:prstGeom>
          <a:solidFill>
            <a:schemeClr val="accent2"/>
          </a:solidFill>
          <a:ln>
            <a:noFill/>
          </a:ln>
        </p:spPr>
        <p:txBody>
          <a:bodyPr/>
          <a:p/>
        </p:txBody>
      </p:sp>
      <p:sp>
        <p:nvSpPr>
          <p:cNvPr id="4" name="TextBox 4"/>
          <p:cNvSpPr txBox="1"/>
          <p:nvPr/>
        </p:nvSpPr>
        <p:spPr>
          <a:xfrm>
            <a:off x="699135" y="526256"/>
            <a:ext cx="1252929" cy="220028"/>
          </a:xfrm>
          <a:prstGeom prst="rect">
            <a:avLst/>
          </a:prstGeom>
          <a:noFill/>
          <a:ln>
            <a:noFill/>
          </a:ln>
        </p:spPr>
        <p:txBody>
          <a:bodyPr wrap="none" lIns="0" tIns="0" rIns="0" bIns="0" anchor="t" anchorCtr="0">
            <a:spAutoFit/>
          </a:bodyPr>
          <a:lstStyle/>
          <a:p>
            <a:pPr algn="l"/>
            <a:r>
              <a:rPr lang="en-US" sz="1120" b="1" spc="225" dirty="0">
                <a:solidFill>
                  <a:schemeClr val="accent2"/>
                </a:solidFill>
                <a:latin typeface="+mn-lt"/>
                <a:ea typeface="+mn-ea"/>
                <a:cs typeface="+mn-cs"/>
              </a:rPr>
              <a:t>BENCHMARKS</a:t>
            </a:r>
          </a:p>
        </p:txBody>
      </p:sp>
      <p:sp>
        <p:nvSpPr>
          <p:cNvPr id="5" name="TextBox 5"/>
          <p:cNvSpPr txBox="1"/>
          <p:nvPr/>
        </p:nvSpPr>
        <p:spPr>
          <a:xfrm>
            <a:off x="518160" y="781050"/>
            <a:ext cx="7888917" cy="586740"/>
          </a:xfrm>
          <a:prstGeom prst="rect">
            <a:avLst/>
          </a:prstGeom>
          <a:noFill/>
          <a:ln>
            <a:noFill/>
          </a:ln>
        </p:spPr>
        <p:txBody>
          <a:bodyPr wrap="none" lIns="0" tIns="0" rIns="0" bIns="0" anchor="t" anchorCtr="0">
            <a:spAutoFit/>
          </a:bodyPr>
          <a:lstStyle/>
          <a:p>
            <a:pPr algn="l"/>
            <a:r>
              <a:rPr lang="en-US" sz="3000" b="1" dirty="0">
                <a:solidFill>
                  <a:schemeClr val="dk1"/>
                </a:solidFill>
                <a:latin typeface="+mn-lt"/>
                <a:ea typeface="+mn-ea"/>
                <a:cs typeface="+mn-cs"/>
              </a:rPr>
              <a:t>Three very different problem families</a:t>
            </a:r>
          </a:p>
        </p:txBody>
      </p:sp>
      <p:sp>
        <p:nvSpPr>
          <p:cNvPr id="6" name="TextBox 6"/>
          <p:cNvSpPr txBox="1"/>
          <p:nvPr/>
        </p:nvSpPr>
        <p:spPr>
          <a:xfrm>
            <a:off x="11095485" y="534352"/>
            <a:ext cx="568449" cy="205359"/>
          </a:xfrm>
          <a:prstGeom prst="rect">
            <a:avLst/>
          </a:prstGeom>
          <a:noFill/>
          <a:ln>
            <a:noFill/>
          </a:ln>
        </p:spPr>
        <p:txBody>
          <a:bodyPr wrap="none" lIns="0" tIns="0" rIns="0" bIns="0" anchor="t" anchorCtr="0">
            <a:spAutoFit/>
          </a:bodyPr>
          <a:lstStyle/>
          <a:p>
            <a:pPr algn="r"/>
            <a:r>
              <a:rPr lang="en-US" sz="1050" b="1" spc="75" dirty="0">
                <a:solidFill>
                  <a:srgbClr val="6E85AC"/>
                </a:solidFill>
                <a:latin typeface="Consolas"/>
                <a:ea typeface="Consolas"/>
                <a:cs typeface="Consolas"/>
              </a:rPr>
              <a:t>06 / 10</a:t>
            </a:r>
          </a:p>
        </p:txBody>
      </p:sp>
      <p:sp>
        <p:nvSpPr>
          <p:cNvPr id="7" name="Line 7"/>
          <p:cNvSpPr/>
          <p:nvPr/>
        </p:nvSpPr>
        <p:spPr>
          <a:xfrm>
            <a:off x="533400" y="1314450"/>
            <a:ext cx="11125200" cy="9525"/>
          </a:xfrm>
          <a:custGeom>
            <a:avLst/>
            <a:gdLst/>
            <a:ahLst/>
            <a:cxnLst/>
            <a:rect l="l" t="t" r="r" b="b"/>
            <a:pathLst>
              <a:path w="11125200" h="9525">
                <a:moveTo>
                  <a:pt x="0" y="0"/>
                </a:moveTo>
                <a:lnTo>
                  <a:pt x="11125200" y="0"/>
                </a:lnTo>
              </a:path>
            </a:pathLst>
          </a:custGeom>
          <a:noFill/>
          <a:ln w="11430">
            <a:solidFill>
              <a:schemeClr val="accent4"/>
            </a:solidFill>
          </a:ln>
        </p:spPr>
        <p:txBody>
          <a:bodyPr/>
          <a:p/>
        </p:txBody>
      </p:sp>
      <p:grpSp>
        <p:nvGrpSpPr>
          <p:cNvPr id="11" name="Group 11"/>
          <p:cNvGrpSpPr/>
          <p:nvPr/>
        </p:nvGrpSpPr>
        <p:grpSpPr>
          <a:xfrm>
            <a:off x="533400" y="1524000"/>
            <a:ext cx="11125200" cy="628650"/>
            <a:chOff x="533400" y="1524000"/>
            <a:chExt cx="11125200" cy="628650"/>
          </a:xfrm>
        </p:grpSpPr>
        <p:sp>
          <p:nvSpPr>
            <p:cNvPr id="8" name="Rectangle 8"/>
            <p:cNvSpPr/>
            <p:nvPr/>
          </p:nvSpPr>
          <p:spPr>
            <a:xfrm>
              <a:off x="533400" y="1524000"/>
              <a:ext cx="11125200" cy="628650"/>
            </a:xfrm>
            <a:prstGeom prst="roundRect">
              <a:avLst>
                <a:gd name="adj" fmla="val 21212"/>
              </a:avLst>
            </a:prstGeom>
            <a:solidFill>
              <a:schemeClr val="accent5"/>
            </a:solidFill>
            <a:ln w="11430">
              <a:solidFill>
                <a:schemeClr val="accent4"/>
              </a:solidFill>
            </a:ln>
          </p:spPr>
        </p:sp>
        <p:sp>
          <p:nvSpPr>
            <p:cNvPr id="9" name="Rectangle 9"/>
            <p:cNvSpPr/>
            <p:nvPr/>
          </p:nvSpPr>
          <p:spPr>
            <a:xfrm>
              <a:off x="723900" y="1695450"/>
              <a:ext cx="47625" cy="285750"/>
            </a:xfrm>
            <a:prstGeom prst="roundRect">
              <a:avLst>
                <a:gd name="adj" fmla="val 50000"/>
              </a:avLst>
            </a:prstGeom>
            <a:solidFill>
              <a:srgbClr val="37DCC0"/>
            </a:solidFill>
            <a:ln>
              <a:noFill/>
            </a:ln>
          </p:spPr>
        </p:sp>
        <p:sp>
          <p:nvSpPr>
            <p:cNvPr id="10" name="TextBox 10"/>
            <p:cNvSpPr txBox="1"/>
            <p:nvPr/>
          </p:nvSpPr>
          <p:spPr>
            <a:xfrm>
              <a:off x="907161" y="1770221"/>
              <a:ext cx="6292596"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USBS is evaluated across three very different application areas</a:t>
              </a:r>
            </a:p>
          </p:txBody>
        </p:sp>
      </p:grpSp>
      <p:grpSp>
        <p:nvGrpSpPr>
          <p:cNvPr id="22" name="Group 22"/>
          <p:cNvGrpSpPr/>
          <p:nvPr/>
        </p:nvGrpSpPr>
        <p:grpSpPr>
          <a:xfrm>
            <a:off x="533400" y="2343150"/>
            <a:ext cx="3556000" cy="2857500"/>
            <a:chOff x="533400" y="2343150"/>
            <a:chExt cx="3556000" cy="2857500"/>
          </a:xfrm>
        </p:grpSpPr>
        <p:sp>
          <p:nvSpPr>
            <p:cNvPr id="12" name="Rectangle 12"/>
            <p:cNvSpPr/>
            <p:nvPr/>
          </p:nvSpPr>
          <p:spPr>
            <a:xfrm>
              <a:off x="533400" y="2343150"/>
              <a:ext cx="3556000" cy="2857500"/>
            </a:xfrm>
            <a:prstGeom prst="roundRect">
              <a:avLst>
                <a:gd name="adj" fmla="val 4667"/>
              </a:avLst>
            </a:prstGeom>
            <a:solidFill>
              <a:schemeClr val="accent5"/>
            </a:solidFill>
            <a:ln w="11430">
              <a:solidFill>
                <a:schemeClr val="accent4"/>
              </a:solidFill>
            </a:ln>
          </p:spPr>
        </p:sp>
        <p:sp>
          <p:nvSpPr>
            <p:cNvPr id="13" name="Rectangle 13"/>
            <p:cNvSpPr/>
            <p:nvPr/>
          </p:nvSpPr>
          <p:spPr>
            <a:xfrm>
              <a:off x="742950" y="2590800"/>
              <a:ext cx="47625" cy="285750"/>
            </a:xfrm>
            <a:prstGeom prst="roundRect">
              <a:avLst>
                <a:gd name="adj" fmla="val 50000"/>
              </a:avLst>
            </a:prstGeom>
            <a:solidFill>
              <a:schemeClr val="accent2"/>
            </a:solidFill>
            <a:ln>
              <a:noFill/>
            </a:ln>
          </p:spPr>
        </p:sp>
        <p:sp>
          <p:nvSpPr>
            <p:cNvPr id="14" name="TextBox 14"/>
            <p:cNvSpPr txBox="1"/>
            <p:nvPr/>
          </p:nvSpPr>
          <p:spPr>
            <a:xfrm>
              <a:off x="735330" y="2924175"/>
              <a:ext cx="771334"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MaxCut</a:t>
              </a:r>
            </a:p>
          </p:txBody>
        </p:sp>
        <p:sp>
          <p:nvSpPr>
            <p:cNvPr id="15" name="TextBox 15"/>
            <p:cNvSpPr txBox="1"/>
            <p:nvPr/>
          </p:nvSpPr>
          <p:spPr>
            <a:xfrm>
              <a:off x="737616" y="3201352"/>
              <a:ext cx="1437656" cy="205359"/>
            </a:xfrm>
            <a:prstGeom prst="rect">
              <a:avLst/>
            </a:prstGeom>
            <a:noFill/>
            <a:ln>
              <a:noFill/>
            </a:ln>
          </p:spPr>
          <p:txBody>
            <a:bodyPr wrap="none" lIns="0" tIns="0" rIns="0" bIns="0" anchor="t" anchorCtr="0">
              <a:spAutoFit/>
            </a:bodyPr>
            <a:lstStyle/>
            <a:p>
              <a:pPr algn="l"/>
              <a:r>
                <a:rPr lang="en-US" sz="1050" b="1" dirty="0">
                  <a:solidFill>
                    <a:schemeClr val="accent2"/>
                  </a:solidFill>
                  <a:latin typeface="+mn-lt"/>
                  <a:ea typeface="+mn-ea"/>
                  <a:cs typeface="+mn-cs"/>
                </a:rPr>
                <a:t>10 DIMACS10 graphs</a:t>
              </a:r>
            </a:p>
          </p:txBody>
        </p:sp>
        <p:sp>
          <p:nvSpPr>
            <p:cNvPr id="16" name="TextBox 16"/>
            <p:cNvSpPr txBox="1"/>
            <p:nvPr/>
          </p:nvSpPr>
          <p:spPr>
            <a:xfrm>
              <a:off x="738188" y="3583543"/>
              <a:ext cx="80168" cy="169069"/>
            </a:xfrm>
            <a:prstGeom prst="rect">
              <a:avLst/>
            </a:prstGeom>
            <a:noFill/>
            <a:ln>
              <a:noFill/>
            </a:ln>
          </p:spPr>
          <p:txBody>
            <a:bodyPr wrap="none" lIns="0" tIns="0" rIns="0" bIns="0" anchor="t" anchorCtr="0">
              <a:spAutoFit/>
            </a:bodyPr>
            <a:lstStyle/>
            <a:p>
              <a:pPr algn="l"/>
              <a:r>
                <a:rPr lang="en-US" sz="860" b="1" spc="75" dirty="0">
                  <a:solidFill>
                    <a:srgbClr val="6E85AC"/>
                  </a:solidFill>
                  <a:latin typeface="+mn-lt"/>
                  <a:ea typeface="+mn-ea"/>
                  <a:cs typeface="+mn-cs"/>
                </a:rPr>
                <a:t>N</a:t>
              </a:r>
            </a:p>
          </p:txBody>
        </p:sp>
        <p:sp>
          <p:nvSpPr>
            <p:cNvPr id="17" name="TextBox 17"/>
            <p:cNvSpPr txBox="1"/>
            <p:nvPr/>
          </p:nvSpPr>
          <p:spPr>
            <a:xfrm>
              <a:off x="737044" y="3741658"/>
              <a:ext cx="1612007" cy="227362"/>
            </a:xfrm>
            <a:prstGeom prst="rect">
              <a:avLst/>
            </a:prstGeom>
            <a:noFill/>
            <a:ln>
              <a:noFill/>
            </a:ln>
          </p:spPr>
          <p:txBody>
            <a:bodyPr wrap="none" lIns="0" tIns="0" rIns="0" bIns="0" anchor="t" anchorCtr="0">
              <a:spAutoFit/>
            </a:bodyPr>
            <a:lstStyle/>
            <a:p>
              <a:pPr algn="l"/>
              <a:r>
                <a:rPr lang="en-US" sz="1160" b="1" dirty="0">
                  <a:solidFill>
                    <a:schemeClr val="dk1"/>
                  </a:solidFill>
                  <a:latin typeface="+mn-lt"/>
                  <a:ea typeface="+mn-ea"/>
                  <a:cs typeface="+mn-cs"/>
                </a:rPr>
                <a:t>16K → 3.7M vertices</a:t>
              </a:r>
            </a:p>
          </p:txBody>
        </p:sp>
        <p:sp>
          <p:nvSpPr>
            <p:cNvPr id="18" name="TextBox 18"/>
            <p:cNvSpPr txBox="1"/>
            <p:nvPr/>
          </p:nvSpPr>
          <p:spPr>
            <a:xfrm>
              <a:off x="738188" y="4059793"/>
              <a:ext cx="405414" cy="169069"/>
            </a:xfrm>
            <a:prstGeom prst="rect">
              <a:avLst/>
            </a:prstGeom>
            <a:noFill/>
            <a:ln>
              <a:noFill/>
            </a:ln>
          </p:spPr>
          <p:txBody>
            <a:bodyPr wrap="none" lIns="0" tIns="0" rIns="0" bIns="0" anchor="t" anchorCtr="0">
              <a:spAutoFit/>
            </a:bodyPr>
            <a:lstStyle/>
            <a:p>
              <a:pPr algn="l"/>
              <a:r>
                <a:rPr lang="en-US" sz="860" b="1" spc="75" dirty="0">
                  <a:solidFill>
                    <a:srgbClr val="6E85AC"/>
                  </a:solidFill>
                  <a:latin typeface="+mn-lt"/>
                  <a:ea typeface="+mn-ea"/>
                  <a:cs typeface="+mn-cs"/>
                </a:rPr>
                <a:t>SCALE</a:t>
              </a:r>
            </a:p>
          </p:txBody>
        </p:sp>
        <p:sp>
          <p:nvSpPr>
            <p:cNvPr id="19" name="TextBox 19"/>
            <p:cNvSpPr txBox="1"/>
            <p:nvPr/>
          </p:nvSpPr>
          <p:spPr>
            <a:xfrm>
              <a:off x="737044" y="4217908"/>
              <a:ext cx="1979417" cy="227362"/>
            </a:xfrm>
            <a:prstGeom prst="rect">
              <a:avLst/>
            </a:prstGeom>
            <a:noFill/>
            <a:ln>
              <a:noFill/>
            </a:ln>
          </p:spPr>
          <p:txBody>
            <a:bodyPr wrap="none" lIns="0" tIns="0" rIns="0" bIns="0" anchor="t" anchorCtr="0">
              <a:spAutoFit/>
            </a:bodyPr>
            <a:lstStyle/>
            <a:p>
              <a:pPr algn="l"/>
              <a:r>
                <a:rPr lang="en-US" sz="1160" b="1" dirty="0">
                  <a:solidFill>
                    <a:schemeClr val="dk1"/>
                  </a:solidFill>
                  <a:latin typeface="+mn-lt"/>
                  <a:ea typeface="+mn-ea"/>
                  <a:cs typeface="+mn-cs"/>
                </a:rPr>
                <a:t>&gt; 10¹³ decision variables</a:t>
              </a:r>
            </a:p>
          </p:txBody>
        </p:sp>
        <p:sp>
          <p:nvSpPr>
            <p:cNvPr id="20" name="TextBox 20"/>
            <p:cNvSpPr txBox="1"/>
            <p:nvPr/>
          </p:nvSpPr>
          <p:spPr>
            <a:xfrm>
              <a:off x="738188" y="4536043"/>
              <a:ext cx="324103" cy="169069"/>
            </a:xfrm>
            <a:prstGeom prst="rect">
              <a:avLst/>
            </a:prstGeom>
            <a:noFill/>
            <a:ln>
              <a:noFill/>
            </a:ln>
          </p:spPr>
          <p:txBody>
            <a:bodyPr wrap="none" lIns="0" tIns="0" rIns="0" bIns="0" anchor="t" anchorCtr="0">
              <a:spAutoFit/>
            </a:bodyPr>
            <a:lstStyle/>
            <a:p>
              <a:pPr algn="l"/>
              <a:r>
                <a:rPr lang="en-US" sz="860" b="1" spc="75" dirty="0">
                  <a:solidFill>
                    <a:srgbClr val="6E85AC"/>
                  </a:solidFill>
                  <a:latin typeface="+mn-lt"/>
                  <a:ea typeface="+mn-ea"/>
                  <a:cs typeface="+mn-cs"/>
                </a:rPr>
                <a:t>DATA</a:t>
              </a:r>
            </a:p>
          </p:txBody>
        </p:sp>
        <p:sp>
          <p:nvSpPr>
            <p:cNvPr id="21" name="TextBox 21"/>
            <p:cNvSpPr txBox="1"/>
            <p:nvPr/>
          </p:nvSpPr>
          <p:spPr>
            <a:xfrm>
              <a:off x="737044" y="4694158"/>
              <a:ext cx="2057791" cy="227362"/>
            </a:xfrm>
            <a:prstGeom prst="rect">
              <a:avLst/>
            </a:prstGeom>
            <a:noFill/>
            <a:ln>
              <a:noFill/>
            </a:ln>
          </p:spPr>
          <p:txBody>
            <a:bodyPr wrap="none" lIns="0" tIns="0" rIns="0" bIns="0" anchor="t" anchorCtr="0">
              <a:spAutoFit/>
            </a:bodyPr>
            <a:lstStyle/>
            <a:p>
              <a:pPr algn="l"/>
              <a:r>
                <a:rPr lang="en-US" sz="1160" b="1" dirty="0">
                  <a:solidFill>
                    <a:schemeClr val="dk1"/>
                  </a:solidFill>
                  <a:latin typeface="+mn-lt"/>
                  <a:ea typeface="+mn-ea"/>
                  <a:cs typeface="+mn-cs"/>
                </a:rPr>
                <a:t>25.9M Laplacian nonzeros</a:t>
              </a:r>
            </a:p>
          </p:txBody>
        </p:sp>
      </p:grpSp>
      <p:grpSp>
        <p:nvGrpSpPr>
          <p:cNvPr id="33" name="Group 33"/>
          <p:cNvGrpSpPr/>
          <p:nvPr/>
        </p:nvGrpSpPr>
        <p:grpSpPr>
          <a:xfrm>
            <a:off x="4318000" y="2343150"/>
            <a:ext cx="3556000" cy="2857500"/>
            <a:chOff x="4318000" y="2343150"/>
            <a:chExt cx="3556000" cy="2857500"/>
          </a:xfrm>
        </p:grpSpPr>
        <p:sp>
          <p:nvSpPr>
            <p:cNvPr id="23" name="Rectangle 23"/>
            <p:cNvSpPr/>
            <p:nvPr/>
          </p:nvSpPr>
          <p:spPr>
            <a:xfrm>
              <a:off x="4318000" y="2343150"/>
              <a:ext cx="3556000" cy="2857500"/>
            </a:xfrm>
            <a:prstGeom prst="roundRect">
              <a:avLst>
                <a:gd name="adj" fmla="val 4667"/>
              </a:avLst>
            </a:prstGeom>
            <a:solidFill>
              <a:schemeClr val="accent5"/>
            </a:solidFill>
            <a:ln w="11430">
              <a:solidFill>
                <a:schemeClr val="accent4"/>
              </a:solidFill>
            </a:ln>
          </p:spPr>
        </p:sp>
        <p:sp>
          <p:nvSpPr>
            <p:cNvPr id="24" name="Rectangle 24"/>
            <p:cNvSpPr/>
            <p:nvPr/>
          </p:nvSpPr>
          <p:spPr>
            <a:xfrm>
              <a:off x="4527550" y="2590800"/>
              <a:ext cx="47625" cy="285750"/>
            </a:xfrm>
            <a:prstGeom prst="roundRect">
              <a:avLst>
                <a:gd name="adj" fmla="val 50000"/>
              </a:avLst>
            </a:prstGeom>
            <a:solidFill>
              <a:srgbClr val="F7B84B"/>
            </a:solidFill>
            <a:ln>
              <a:noFill/>
            </a:ln>
          </p:spPr>
        </p:sp>
        <p:sp>
          <p:nvSpPr>
            <p:cNvPr id="25" name="TextBox 25"/>
            <p:cNvSpPr txBox="1"/>
            <p:nvPr/>
          </p:nvSpPr>
          <p:spPr>
            <a:xfrm>
              <a:off x="4519930" y="2924175"/>
              <a:ext cx="2286777"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Quadratic Assignment</a:t>
              </a:r>
            </a:p>
          </p:txBody>
        </p:sp>
        <p:sp>
          <p:nvSpPr>
            <p:cNvPr id="26" name="TextBox 26"/>
            <p:cNvSpPr txBox="1"/>
            <p:nvPr/>
          </p:nvSpPr>
          <p:spPr>
            <a:xfrm>
              <a:off x="4522216" y="3201352"/>
              <a:ext cx="1178974" cy="205359"/>
            </a:xfrm>
            <a:prstGeom prst="rect">
              <a:avLst/>
            </a:prstGeom>
            <a:noFill/>
            <a:ln>
              <a:noFill/>
            </a:ln>
          </p:spPr>
          <p:txBody>
            <a:bodyPr wrap="none" lIns="0" tIns="0" rIns="0" bIns="0" anchor="t" anchorCtr="0">
              <a:spAutoFit/>
            </a:bodyPr>
            <a:lstStyle/>
            <a:p>
              <a:pPr algn="l"/>
              <a:r>
                <a:rPr lang="en-US" sz="1050" b="1" dirty="0">
                  <a:solidFill>
                    <a:srgbClr val="F7B84B"/>
                  </a:solidFill>
                  <a:latin typeface="+mn-lt"/>
                  <a:ea typeface="+mn-ea"/>
                  <a:cs typeface="+mn-cs"/>
                </a:rPr>
                <a:t>QAPLIB + TSPLIB</a:t>
              </a:r>
            </a:p>
          </p:txBody>
        </p:sp>
        <p:sp>
          <p:nvSpPr>
            <p:cNvPr id="27" name="TextBox 27"/>
            <p:cNvSpPr txBox="1"/>
            <p:nvPr/>
          </p:nvSpPr>
          <p:spPr>
            <a:xfrm>
              <a:off x="4522788" y="3583543"/>
              <a:ext cx="80168" cy="169069"/>
            </a:xfrm>
            <a:prstGeom prst="rect">
              <a:avLst/>
            </a:prstGeom>
            <a:noFill/>
            <a:ln>
              <a:noFill/>
            </a:ln>
          </p:spPr>
          <p:txBody>
            <a:bodyPr wrap="none" lIns="0" tIns="0" rIns="0" bIns="0" anchor="t" anchorCtr="0">
              <a:spAutoFit/>
            </a:bodyPr>
            <a:lstStyle/>
            <a:p>
              <a:pPr algn="l"/>
              <a:r>
                <a:rPr lang="en-US" sz="860" b="1" spc="75" dirty="0">
                  <a:solidFill>
                    <a:srgbClr val="6E85AC"/>
                  </a:solidFill>
                  <a:latin typeface="+mn-lt"/>
                  <a:ea typeface="+mn-ea"/>
                  <a:cs typeface="+mn-cs"/>
                </a:rPr>
                <a:t>N</a:t>
              </a:r>
            </a:p>
          </p:txBody>
        </p:sp>
        <p:sp>
          <p:nvSpPr>
            <p:cNvPr id="28" name="TextBox 28"/>
            <p:cNvSpPr txBox="1"/>
            <p:nvPr/>
          </p:nvSpPr>
          <p:spPr>
            <a:xfrm>
              <a:off x="4521644" y="3741658"/>
              <a:ext cx="741465" cy="227362"/>
            </a:xfrm>
            <a:prstGeom prst="rect">
              <a:avLst/>
            </a:prstGeom>
            <a:noFill/>
            <a:ln>
              <a:noFill/>
            </a:ln>
          </p:spPr>
          <p:txBody>
            <a:bodyPr wrap="none" lIns="0" tIns="0" rIns="0" bIns="0" anchor="t" anchorCtr="0">
              <a:spAutoFit/>
            </a:bodyPr>
            <a:lstStyle/>
            <a:p>
              <a:pPr algn="l"/>
              <a:r>
                <a:rPr lang="en-US" sz="1160" b="1" dirty="0">
                  <a:solidFill>
                    <a:schemeClr val="dk1"/>
                  </a:solidFill>
                  <a:latin typeface="+mn-lt"/>
                  <a:ea typeface="+mn-ea"/>
                  <a:cs typeface="+mn-cs"/>
                </a:rPr>
                <a:t>up to 198</a:t>
              </a:r>
            </a:p>
          </p:txBody>
        </p:sp>
        <p:sp>
          <p:nvSpPr>
            <p:cNvPr id="29" name="TextBox 29"/>
            <p:cNvSpPr txBox="1"/>
            <p:nvPr/>
          </p:nvSpPr>
          <p:spPr>
            <a:xfrm>
              <a:off x="4522788" y="4059793"/>
              <a:ext cx="805550" cy="169069"/>
            </a:xfrm>
            <a:prstGeom prst="rect">
              <a:avLst/>
            </a:prstGeom>
            <a:noFill/>
            <a:ln>
              <a:noFill/>
            </a:ln>
          </p:spPr>
          <p:txBody>
            <a:bodyPr wrap="none" lIns="0" tIns="0" rIns="0" bIns="0" anchor="t" anchorCtr="0">
              <a:spAutoFit/>
            </a:bodyPr>
            <a:lstStyle/>
            <a:p>
              <a:pPr algn="l"/>
              <a:r>
                <a:rPr lang="en-US" sz="860" b="1" spc="75" dirty="0">
                  <a:solidFill>
                    <a:srgbClr val="6E85AC"/>
                  </a:solidFill>
                  <a:latin typeface="+mn-lt"/>
                  <a:ea typeface="+mn-ea"/>
                  <a:cs typeface="+mn-cs"/>
                </a:rPr>
                <a:t>RELAXATION</a:t>
              </a:r>
            </a:p>
          </p:txBody>
        </p:sp>
        <p:sp>
          <p:nvSpPr>
            <p:cNvPr id="30" name="TextBox 30"/>
            <p:cNvSpPr txBox="1"/>
            <p:nvPr/>
          </p:nvSpPr>
          <p:spPr>
            <a:xfrm>
              <a:off x="4521644" y="4217908"/>
              <a:ext cx="1280855" cy="227362"/>
            </a:xfrm>
            <a:prstGeom prst="rect">
              <a:avLst/>
            </a:prstGeom>
            <a:noFill/>
            <a:ln>
              <a:noFill/>
            </a:ln>
          </p:spPr>
          <p:txBody>
            <a:bodyPr wrap="none" lIns="0" tIns="0" rIns="0" bIns="0" anchor="t" anchorCtr="0">
              <a:spAutoFit/>
            </a:bodyPr>
            <a:lstStyle/>
            <a:p>
              <a:pPr algn="l"/>
              <a:r>
                <a:rPr lang="en-US" sz="1160" b="1" dirty="0">
                  <a:solidFill>
                    <a:schemeClr val="dk1"/>
                  </a:solidFill>
                  <a:latin typeface="+mn-lt"/>
                  <a:ea typeface="+mn-ea"/>
                  <a:cs typeface="+mn-cs"/>
                </a:rPr>
                <a:t>O(n⁴) variables</a:t>
              </a:r>
            </a:p>
          </p:txBody>
        </p:sp>
        <p:sp>
          <p:nvSpPr>
            <p:cNvPr id="31" name="TextBox 31"/>
            <p:cNvSpPr txBox="1"/>
            <p:nvPr/>
          </p:nvSpPr>
          <p:spPr>
            <a:xfrm>
              <a:off x="4522788" y="4536043"/>
              <a:ext cx="405414" cy="169069"/>
            </a:xfrm>
            <a:prstGeom prst="rect">
              <a:avLst/>
            </a:prstGeom>
            <a:noFill/>
            <a:ln>
              <a:noFill/>
            </a:ln>
          </p:spPr>
          <p:txBody>
            <a:bodyPr wrap="none" lIns="0" tIns="0" rIns="0" bIns="0" anchor="t" anchorCtr="0">
              <a:spAutoFit/>
            </a:bodyPr>
            <a:lstStyle/>
            <a:p>
              <a:pPr algn="l"/>
              <a:r>
                <a:rPr lang="en-US" sz="860" b="1" spc="75" dirty="0">
                  <a:solidFill>
                    <a:srgbClr val="6E85AC"/>
                  </a:solidFill>
                  <a:latin typeface="+mn-lt"/>
                  <a:ea typeface="+mn-ea"/>
                  <a:cs typeface="+mn-cs"/>
                </a:rPr>
                <a:t>SCALE</a:t>
              </a:r>
            </a:p>
          </p:txBody>
        </p:sp>
        <p:sp>
          <p:nvSpPr>
            <p:cNvPr id="32" name="TextBox 32"/>
            <p:cNvSpPr txBox="1"/>
            <p:nvPr/>
          </p:nvSpPr>
          <p:spPr>
            <a:xfrm>
              <a:off x="4521644" y="4694158"/>
              <a:ext cx="1626888" cy="227362"/>
            </a:xfrm>
            <a:prstGeom prst="rect">
              <a:avLst/>
            </a:prstGeom>
            <a:noFill/>
            <a:ln>
              <a:noFill/>
            </a:ln>
          </p:spPr>
          <p:txBody>
            <a:bodyPr wrap="none" lIns="0" tIns="0" rIns="0" bIns="0" anchor="t" anchorCtr="0">
              <a:spAutoFit/>
            </a:bodyPr>
            <a:lstStyle/>
            <a:p>
              <a:pPr algn="l"/>
              <a:r>
                <a:rPr lang="en-US" sz="1160" b="1" dirty="0">
                  <a:solidFill>
                    <a:schemeClr val="dk1"/>
                  </a:solidFill>
                  <a:latin typeface="+mn-lt"/>
                  <a:ea typeface="+mn-ea"/>
                  <a:cs typeface="+mn-cs"/>
                </a:rPr>
                <a:t>1.5 billion at n = 198</a:t>
              </a:r>
            </a:p>
          </p:txBody>
        </p:sp>
      </p:grpSp>
      <p:grpSp>
        <p:nvGrpSpPr>
          <p:cNvPr id="43" name="Group 43"/>
          <p:cNvGrpSpPr/>
          <p:nvPr/>
        </p:nvGrpSpPr>
        <p:grpSpPr>
          <a:xfrm>
            <a:off x="8102600" y="2343150"/>
            <a:ext cx="3556000" cy="2857500"/>
            <a:chOff x="8102600" y="2343150"/>
            <a:chExt cx="3556000" cy="2857500"/>
          </a:xfrm>
        </p:grpSpPr>
        <p:sp>
          <p:nvSpPr>
            <p:cNvPr id="34" name="Rectangle 34"/>
            <p:cNvSpPr/>
            <p:nvPr/>
          </p:nvSpPr>
          <p:spPr>
            <a:xfrm>
              <a:off x="8102600" y="2343150"/>
              <a:ext cx="3556000" cy="2857500"/>
            </a:xfrm>
            <a:prstGeom prst="roundRect">
              <a:avLst>
                <a:gd name="adj" fmla="val 4667"/>
              </a:avLst>
            </a:prstGeom>
            <a:solidFill>
              <a:schemeClr val="accent5"/>
            </a:solidFill>
            <a:ln w="11430">
              <a:solidFill>
                <a:schemeClr val="accent4"/>
              </a:solidFill>
            </a:ln>
          </p:spPr>
        </p:sp>
        <p:sp>
          <p:nvSpPr>
            <p:cNvPr id="35" name="Rectangle 35"/>
            <p:cNvSpPr/>
            <p:nvPr/>
          </p:nvSpPr>
          <p:spPr>
            <a:xfrm>
              <a:off x="8312150" y="2590800"/>
              <a:ext cx="47625" cy="285750"/>
            </a:xfrm>
            <a:prstGeom prst="roundRect">
              <a:avLst>
                <a:gd name="adj" fmla="val 50000"/>
              </a:avLst>
            </a:prstGeom>
            <a:solidFill>
              <a:srgbClr val="37DCC0"/>
            </a:solidFill>
            <a:ln>
              <a:noFill/>
            </a:ln>
          </p:spPr>
        </p:sp>
        <p:sp>
          <p:nvSpPr>
            <p:cNvPr id="36" name="TextBox 36"/>
            <p:cNvSpPr txBox="1"/>
            <p:nvPr/>
          </p:nvSpPr>
          <p:spPr>
            <a:xfrm>
              <a:off x="8304530" y="2924175"/>
              <a:ext cx="1798188"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Entity Resolution</a:t>
              </a:r>
            </a:p>
          </p:txBody>
        </p:sp>
        <p:sp>
          <p:nvSpPr>
            <p:cNvPr id="37" name="TextBox 37"/>
            <p:cNvSpPr txBox="1"/>
            <p:nvPr/>
          </p:nvSpPr>
          <p:spPr>
            <a:xfrm>
              <a:off x="8306816" y="3201352"/>
              <a:ext cx="1984635" cy="205359"/>
            </a:xfrm>
            <a:prstGeom prst="rect">
              <a:avLst/>
            </a:prstGeom>
            <a:noFill/>
            <a:ln>
              <a:noFill/>
            </a:ln>
          </p:spPr>
          <p:txBody>
            <a:bodyPr wrap="none" lIns="0" tIns="0" rIns="0" bIns="0" anchor="t" anchorCtr="0">
              <a:spAutoFit/>
            </a:bodyPr>
            <a:lstStyle/>
            <a:p>
              <a:pPr algn="l"/>
              <a:r>
                <a:rPr lang="en-US" sz="1050" b="1" dirty="0">
                  <a:solidFill>
                    <a:srgbClr val="37DCC0"/>
                  </a:solidFill>
                  <a:latin typeface="+mn-lt"/>
                  <a:ea typeface="+mn-ea"/>
                  <a:cs typeface="+mn-cs"/>
                </a:rPr>
                <a:t>∃-constraints, interactive</a:t>
              </a:r>
            </a:p>
          </p:txBody>
        </p:sp>
        <p:sp>
          <p:nvSpPr>
            <p:cNvPr id="38" name="TextBox 38"/>
            <p:cNvSpPr txBox="1"/>
            <p:nvPr/>
          </p:nvSpPr>
          <p:spPr>
            <a:xfrm>
              <a:off x="8307388" y="3583543"/>
              <a:ext cx="649349" cy="169069"/>
            </a:xfrm>
            <a:prstGeom prst="rect">
              <a:avLst/>
            </a:prstGeom>
            <a:noFill/>
            <a:ln>
              <a:noFill/>
            </a:ln>
          </p:spPr>
          <p:txBody>
            <a:bodyPr wrap="none" lIns="0" tIns="0" rIns="0" bIns="0" anchor="t" anchorCtr="0">
              <a:spAutoFit/>
            </a:bodyPr>
            <a:lstStyle/>
            <a:p>
              <a:pPr algn="l"/>
              <a:r>
                <a:rPr lang="en-US" sz="860" b="1" spc="75" dirty="0">
                  <a:solidFill>
                    <a:srgbClr val="6E85AC"/>
                  </a:solidFill>
                  <a:latin typeface="+mn-lt"/>
                  <a:ea typeface="+mn-ea"/>
                  <a:cs typeface="+mn-cs"/>
                </a:rPr>
                <a:t>DATASETS</a:t>
              </a:r>
            </a:p>
          </p:txBody>
        </p:sp>
        <p:sp>
          <p:nvSpPr>
            <p:cNvPr id="39" name="TextBox 39"/>
            <p:cNvSpPr txBox="1"/>
            <p:nvPr/>
          </p:nvSpPr>
          <p:spPr>
            <a:xfrm>
              <a:off x="8306244" y="3741658"/>
              <a:ext cx="1164655" cy="227362"/>
            </a:xfrm>
            <a:prstGeom prst="rect">
              <a:avLst/>
            </a:prstGeom>
            <a:noFill/>
            <a:ln>
              <a:noFill/>
            </a:ln>
          </p:spPr>
          <p:txBody>
            <a:bodyPr wrap="none" lIns="0" tIns="0" rIns="0" bIns="0" anchor="t" anchorCtr="0">
              <a:spAutoFit/>
            </a:bodyPr>
            <a:lstStyle/>
            <a:p>
              <a:pPr algn="l"/>
              <a:r>
                <a:rPr lang="en-US" sz="1160" b="1" dirty="0">
                  <a:solidFill>
                    <a:schemeClr val="dk1"/>
                  </a:solidFill>
                  <a:latin typeface="+mn-lt"/>
                  <a:ea typeface="+mn-ea"/>
                  <a:cs typeface="+mn-cs"/>
                </a:rPr>
                <a:t>PubMed · QIAN</a:t>
              </a:r>
            </a:p>
          </p:txBody>
        </p:sp>
        <p:sp>
          <p:nvSpPr>
            <p:cNvPr id="40" name="TextBox 40"/>
            <p:cNvSpPr txBox="1"/>
            <p:nvPr/>
          </p:nvSpPr>
          <p:spPr>
            <a:xfrm>
              <a:off x="8306244" y="4217908"/>
              <a:ext cx="1083012" cy="227362"/>
            </a:xfrm>
            <a:prstGeom prst="rect">
              <a:avLst/>
            </a:prstGeom>
            <a:noFill/>
            <a:ln>
              <a:noFill/>
            </a:ln>
          </p:spPr>
          <p:txBody>
            <a:bodyPr wrap="none" lIns="0" tIns="0" rIns="0" bIns="0" anchor="t" anchorCtr="0">
              <a:spAutoFit/>
            </a:bodyPr>
            <a:lstStyle/>
            <a:p>
              <a:pPr algn="l"/>
              <a:r>
                <a:rPr lang="en-US" sz="1160" b="1" dirty="0">
                  <a:solidFill>
                    <a:schemeClr val="dk1"/>
                  </a:solidFill>
                  <a:latin typeface="+mn-lt"/>
                  <a:ea typeface="+mn-ea"/>
                  <a:cs typeface="+mn-cs"/>
                </a:rPr>
                <a:t>SCAD-zbMATH</a:t>
              </a:r>
            </a:p>
          </p:txBody>
        </p:sp>
        <p:sp>
          <p:nvSpPr>
            <p:cNvPr id="41" name="TextBox 41"/>
            <p:cNvSpPr txBox="1"/>
            <p:nvPr/>
          </p:nvSpPr>
          <p:spPr>
            <a:xfrm>
              <a:off x="8307388" y="4536043"/>
              <a:ext cx="324103" cy="169069"/>
            </a:xfrm>
            <a:prstGeom prst="rect">
              <a:avLst/>
            </a:prstGeom>
            <a:noFill/>
            <a:ln>
              <a:noFill/>
            </a:ln>
          </p:spPr>
          <p:txBody>
            <a:bodyPr wrap="none" lIns="0" tIns="0" rIns="0" bIns="0" anchor="t" anchorCtr="0">
              <a:spAutoFit/>
            </a:bodyPr>
            <a:lstStyle/>
            <a:p>
              <a:pPr algn="l"/>
              <a:r>
                <a:rPr lang="en-US" sz="860" b="1" spc="75" dirty="0">
                  <a:solidFill>
                    <a:srgbClr val="6E85AC"/>
                  </a:solidFill>
                  <a:latin typeface="+mn-lt"/>
                  <a:ea typeface="+mn-ea"/>
                  <a:cs typeface="+mn-cs"/>
                </a:rPr>
                <a:t>TASK</a:t>
              </a:r>
            </a:p>
          </p:txBody>
        </p:sp>
        <p:sp>
          <p:nvSpPr>
            <p:cNvPr id="42" name="TextBox 42"/>
            <p:cNvSpPr txBox="1"/>
            <p:nvPr/>
          </p:nvSpPr>
          <p:spPr>
            <a:xfrm>
              <a:off x="8306244" y="4694158"/>
              <a:ext cx="1594094" cy="227362"/>
            </a:xfrm>
            <a:prstGeom prst="rect">
              <a:avLst/>
            </a:prstGeom>
            <a:noFill/>
            <a:ln>
              <a:noFill/>
            </a:ln>
          </p:spPr>
          <p:txBody>
            <a:bodyPr wrap="none" lIns="0" tIns="0" rIns="0" bIns="0" anchor="t" anchorCtr="0">
              <a:spAutoFit/>
            </a:bodyPr>
            <a:lstStyle/>
            <a:p>
              <a:pPr algn="l"/>
              <a:r>
                <a:rPr lang="en-US" sz="1160" b="1" dirty="0">
                  <a:solidFill>
                    <a:schemeClr val="dk1"/>
                  </a:solidFill>
                  <a:latin typeface="+mn-lt"/>
                  <a:ea typeface="+mn-ea"/>
                  <a:cs typeface="+mn-cs"/>
                </a:rPr>
                <a:t>author coreference</a:t>
              </a:r>
            </a:p>
          </p:txBody>
        </p:sp>
      </p:grpSp>
      <p:sp>
        <p:nvSpPr>
          <p:cNvPr id="44" name="TextBox 44"/>
          <p:cNvSpPr txBox="1"/>
          <p:nvPr/>
        </p:nvSpPr>
        <p:spPr>
          <a:xfrm>
            <a:off x="528066" y="5373052"/>
            <a:ext cx="5690566"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Warm starts are built naturally from a slightly smaller, closely-related instance.</a:t>
            </a:r>
          </a:p>
        </p:txBody>
      </p:sp>
      <p:sp>
        <p:nvSpPr>
          <p:cNvPr id="45" name="cue_s06_c1_method_tested_across_three_very" title="cue_s06_c1_method_tested_across_three_very" descr="cue_s06_c1_method_tested_across_three_very The method is tested across three very different application areas."/>
          <p:cNvSpPr/>
          <p:nvPr/>
        </p:nvSpPr>
        <p:spPr>
          <a:xfrm>
            <a:off x="532790" y="1523847"/>
            <a:ext cx="11125200" cy="62887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cue_s06_c2_first_maxcut_ten_graphs_dimacs10" title="cue_s06_c2_first_maxcut_ten_graphs_dimacs10" descr="cue_s06_c2_first_maxcut_ten_graphs_dimacs10 The first is MaxCut, using ten graphs from the DIMACS10 collection ranging from sixteen thousand up to three point seven million vertices, the largest yielding more than ten to the thirteenth decision variables."/>
          <p:cNvSpPr/>
          <p:nvPr/>
        </p:nvSpPr>
        <p:spPr>
          <a:xfrm>
            <a:off x="532790" y="2343378"/>
            <a:ext cx="3556406" cy="28577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cue_s06_c3_second_quadratic_assignment_problem" title="cue_s06_c3_second_quadratic_assignment_problem" descr="cue_s06_c3_second_quadratic_assignment_problem The second is the quadratic assignment problem, a notoriously hard combinatorial problem, using instances from QAPLIB and TSPLIB with sizes up to one hundred ninety-eight, whose SDP relaxation has on the order of n-to-the-fourth variables, reaching one point f"/>
          <p:cNvSpPr/>
          <p:nvPr/>
        </p:nvSpPr>
        <p:spPr>
          <a:xfrm>
            <a:off x="4318406" y="2343378"/>
            <a:ext cx="3556406" cy="28577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cue_s06_c4_third_interactive_entity_resolution" title="cue_s06_c4_third_interactive_entity_resolution" descr="cue_s06_c4_third_interactive_entity_resolution The third is interactive entity resolution using existential constraints, on three author-coreference datasets: PubMed, QIAN, and SCAD-zbMATH. In each case, warm starts are constructed naturally from a slightly smaller, closely related problem."/>
          <p:cNvSpPr/>
          <p:nvPr/>
        </p:nvSpPr>
        <p:spPr>
          <a:xfrm>
            <a:off x="8102803" y="2343378"/>
            <a:ext cx="3556406" cy="28577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chemeClr val="lt2">
                  <a:alpha val="90000"/>
                </a:schemeClr>
              </a:gs>
              <a:gs pos="60000">
                <a:schemeClr val="lt1">
                  <a:alpha val="0"/>
                </a:schemeClr>
              </a:gs>
            </a:gsLst>
            <a:path path="circle">
              <a:fillToRect l="50000" t="50000" r="50000" b="50000"/>
            </a:path>
          </a:gradFill>
          <a:ln>
            <a:noFill/>
          </a:ln>
        </p:spPr>
        <p:txBody>
          <a:bodyPr/>
          <a:p/>
        </p:txBody>
      </p:sp>
      <p:sp>
        <p:nvSpPr>
          <p:cNvPr id="3" name="Rectangle 3"/>
          <p:cNvSpPr/>
          <p:nvPr/>
        </p:nvSpPr>
        <p:spPr>
          <a:xfrm>
            <a:off x="533400" y="476250"/>
            <a:ext cx="57150" cy="209550"/>
          </a:xfrm>
          <a:prstGeom prst="roundRect">
            <a:avLst>
              <a:gd name="adj" fmla="val 41667"/>
            </a:avLst>
          </a:prstGeom>
          <a:solidFill>
            <a:schemeClr val="accent2"/>
          </a:solidFill>
          <a:ln>
            <a:noFill/>
          </a:ln>
        </p:spPr>
        <p:txBody>
          <a:bodyPr/>
          <a:p/>
        </p:txBody>
      </p:sp>
      <p:sp>
        <p:nvSpPr>
          <p:cNvPr id="4" name="TextBox 4"/>
          <p:cNvSpPr txBox="1"/>
          <p:nvPr/>
        </p:nvSpPr>
        <p:spPr>
          <a:xfrm>
            <a:off x="699135" y="526256"/>
            <a:ext cx="1177656" cy="220028"/>
          </a:xfrm>
          <a:prstGeom prst="rect">
            <a:avLst/>
          </a:prstGeom>
          <a:noFill/>
          <a:ln>
            <a:noFill/>
          </a:ln>
        </p:spPr>
        <p:txBody>
          <a:bodyPr wrap="none" lIns="0" tIns="0" rIns="0" bIns="0" anchor="t" anchorCtr="0">
            <a:spAutoFit/>
          </a:bodyPr>
          <a:lstStyle/>
          <a:p>
            <a:pPr algn="l"/>
            <a:r>
              <a:rPr lang="en-US" sz="1120" b="1" spc="225" dirty="0">
                <a:solidFill>
                  <a:schemeClr val="accent2"/>
                </a:solidFill>
                <a:latin typeface="+mn-lt"/>
                <a:ea typeface="+mn-ea"/>
                <a:cs typeface="+mn-cs"/>
              </a:rPr>
              <a:t>KEY RESULT</a:t>
            </a:r>
          </a:p>
        </p:txBody>
      </p:sp>
      <p:sp>
        <p:nvSpPr>
          <p:cNvPr id="5" name="TextBox 5"/>
          <p:cNvSpPr txBox="1"/>
          <p:nvPr/>
        </p:nvSpPr>
        <p:spPr>
          <a:xfrm>
            <a:off x="518160" y="781050"/>
            <a:ext cx="8764501" cy="586740"/>
          </a:xfrm>
          <a:prstGeom prst="rect">
            <a:avLst/>
          </a:prstGeom>
          <a:noFill/>
          <a:ln>
            <a:noFill/>
          </a:ln>
        </p:spPr>
        <p:txBody>
          <a:bodyPr wrap="none" lIns="0" tIns="0" rIns="0" bIns="0" anchor="t" anchorCtr="0">
            <a:spAutoFit/>
          </a:bodyPr>
          <a:lstStyle/>
          <a:p>
            <a:pPr algn="l"/>
            <a:r>
              <a:rPr lang="en-US" sz="3000" b="1" dirty="0">
                <a:solidFill>
                  <a:schemeClr val="dk1"/>
                </a:solidFill>
                <a:latin typeface="+mn-lt"/>
                <a:ea typeface="+mn-ea"/>
                <a:cs typeface="+mn-cs"/>
              </a:rPr>
              <a:t>USBS vs. CGAL, the prior state of the art</a:t>
            </a:r>
          </a:p>
        </p:txBody>
      </p:sp>
      <p:sp>
        <p:nvSpPr>
          <p:cNvPr id="6" name="TextBox 6"/>
          <p:cNvSpPr txBox="1"/>
          <p:nvPr/>
        </p:nvSpPr>
        <p:spPr>
          <a:xfrm>
            <a:off x="11095485" y="534352"/>
            <a:ext cx="568449" cy="205359"/>
          </a:xfrm>
          <a:prstGeom prst="rect">
            <a:avLst/>
          </a:prstGeom>
          <a:noFill/>
          <a:ln>
            <a:noFill/>
          </a:ln>
        </p:spPr>
        <p:txBody>
          <a:bodyPr wrap="none" lIns="0" tIns="0" rIns="0" bIns="0" anchor="t" anchorCtr="0">
            <a:spAutoFit/>
          </a:bodyPr>
          <a:lstStyle/>
          <a:p>
            <a:pPr algn="r"/>
            <a:r>
              <a:rPr lang="en-US" sz="1050" b="1" spc="75" dirty="0">
                <a:solidFill>
                  <a:srgbClr val="6E85AC"/>
                </a:solidFill>
                <a:latin typeface="Consolas"/>
                <a:ea typeface="Consolas"/>
                <a:cs typeface="Consolas"/>
              </a:rPr>
              <a:t>07 / 10</a:t>
            </a:r>
          </a:p>
        </p:txBody>
      </p:sp>
      <p:sp>
        <p:nvSpPr>
          <p:cNvPr id="7" name="Line 7"/>
          <p:cNvSpPr/>
          <p:nvPr/>
        </p:nvSpPr>
        <p:spPr>
          <a:xfrm>
            <a:off x="533400" y="1314450"/>
            <a:ext cx="11125200" cy="9525"/>
          </a:xfrm>
          <a:custGeom>
            <a:avLst/>
            <a:gdLst/>
            <a:ahLst/>
            <a:cxnLst/>
            <a:rect l="l" t="t" r="r" b="b"/>
            <a:pathLst>
              <a:path w="11125200" h="9525">
                <a:moveTo>
                  <a:pt x="0" y="0"/>
                </a:moveTo>
                <a:lnTo>
                  <a:pt x="11125200" y="0"/>
                </a:lnTo>
              </a:path>
            </a:pathLst>
          </a:custGeom>
          <a:noFill/>
          <a:ln w="11430">
            <a:solidFill>
              <a:schemeClr val="accent4"/>
            </a:solidFill>
          </a:ln>
        </p:spPr>
        <p:txBody>
          <a:bodyPr/>
          <a:p/>
        </p:txBody>
      </p:sp>
      <p:grpSp>
        <p:nvGrpSpPr>
          <p:cNvPr id="10" name="Group 10"/>
          <p:cNvGrpSpPr/>
          <p:nvPr/>
        </p:nvGrpSpPr>
        <p:grpSpPr>
          <a:xfrm>
            <a:off x="533400" y="1524000"/>
            <a:ext cx="11125200" cy="552450"/>
            <a:chOff x="533400" y="1524000"/>
            <a:chExt cx="11125200" cy="552450"/>
          </a:xfrm>
        </p:grpSpPr>
        <p:sp>
          <p:nvSpPr>
            <p:cNvPr id="8" name="Rectangle 8"/>
            <p:cNvSpPr/>
            <p:nvPr/>
          </p:nvSpPr>
          <p:spPr>
            <a:xfrm>
              <a:off x="533400" y="1524000"/>
              <a:ext cx="11125200" cy="552450"/>
            </a:xfrm>
            <a:prstGeom prst="roundRect">
              <a:avLst>
                <a:gd name="adj" fmla="val 20690"/>
              </a:avLst>
            </a:prstGeom>
            <a:solidFill>
              <a:schemeClr val="accent6"/>
            </a:solidFill>
            <a:ln w="11430">
              <a:solidFill>
                <a:srgbClr val="F7B84B"/>
              </a:solidFill>
            </a:ln>
          </p:spPr>
        </p:sp>
        <p:sp>
          <p:nvSpPr>
            <p:cNvPr id="9" name="TextBox 9"/>
            <p:cNvSpPr txBox="1"/>
            <p:nvPr/>
          </p:nvSpPr>
          <p:spPr>
            <a:xfrm>
              <a:off x="717042" y="1730692"/>
              <a:ext cx="7681965"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The results are striking — across every setting, the gap grows with problem size.</a:t>
              </a:r>
            </a:p>
          </p:txBody>
        </p:sp>
      </p:grpSp>
      <p:grpSp>
        <p:nvGrpSpPr>
          <p:cNvPr id="33" name="Group 33"/>
          <p:cNvGrpSpPr/>
          <p:nvPr/>
        </p:nvGrpSpPr>
        <p:grpSpPr>
          <a:xfrm>
            <a:off x="533400" y="2286000"/>
            <a:ext cx="5825604" cy="2819400"/>
            <a:chOff x="533400" y="2286000"/>
            <a:chExt cx="5825604" cy="2819400"/>
          </a:xfrm>
        </p:grpSpPr>
        <p:sp>
          <p:nvSpPr>
            <p:cNvPr id="11" name="Rectangle 11"/>
            <p:cNvSpPr/>
            <p:nvPr/>
          </p:nvSpPr>
          <p:spPr>
            <a:xfrm>
              <a:off x="533400" y="2286000"/>
              <a:ext cx="5676900" cy="2819400"/>
            </a:xfrm>
            <a:prstGeom prst="roundRect">
              <a:avLst>
                <a:gd name="adj" fmla="val 4730"/>
              </a:avLst>
            </a:prstGeom>
            <a:solidFill>
              <a:schemeClr val="accent5"/>
            </a:solidFill>
            <a:ln w="11430">
              <a:solidFill>
                <a:schemeClr val="accent4"/>
              </a:solidFill>
            </a:ln>
          </p:spPr>
        </p:sp>
        <p:sp>
          <p:nvSpPr>
            <p:cNvPr id="12" name="TextBox 12"/>
            <p:cNvSpPr txBox="1"/>
            <p:nvPr/>
          </p:nvSpPr>
          <p:spPr>
            <a:xfrm>
              <a:off x="755523" y="2529364"/>
              <a:ext cx="3923910"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MaxCut instances solved to target accuracy</a:t>
              </a:r>
            </a:p>
          </p:txBody>
        </p:sp>
        <p:sp>
          <p:nvSpPr>
            <p:cNvPr id="13" name="TextBox 13"/>
            <p:cNvSpPr txBox="1"/>
            <p:nvPr/>
          </p:nvSpPr>
          <p:spPr>
            <a:xfrm>
              <a:off x="756285" y="3136106"/>
              <a:ext cx="379433" cy="220028"/>
            </a:xfrm>
            <a:prstGeom prst="rect">
              <a:avLst/>
            </a:prstGeom>
            <a:noFill/>
            <a:ln>
              <a:noFill/>
            </a:ln>
          </p:spPr>
          <p:txBody>
            <a:bodyPr wrap="none" lIns="0" tIns="0" rIns="0" bIns="0" anchor="t" anchorCtr="0">
              <a:spAutoFit/>
            </a:bodyPr>
            <a:lstStyle/>
            <a:p>
              <a:pPr algn="l"/>
              <a:r>
                <a:rPr lang="en-US" sz="1120" b="1" dirty="0">
                  <a:solidFill>
                    <a:schemeClr val="dk1"/>
                  </a:solidFill>
                  <a:latin typeface="+mn-lt"/>
                  <a:ea typeface="+mn-ea"/>
                  <a:cs typeface="+mn-cs"/>
                </a:rPr>
                <a:t>USBS</a:t>
              </a:r>
            </a:p>
          </p:txBody>
        </p:sp>
        <p:sp>
          <p:nvSpPr>
            <p:cNvPr id="14" name="Rectangle 14"/>
            <p:cNvSpPr/>
            <p:nvPr/>
          </p:nvSpPr>
          <p:spPr>
            <a:xfrm>
              <a:off x="1962150" y="3067050"/>
              <a:ext cx="3867150" cy="247650"/>
            </a:xfrm>
            <a:prstGeom prst="roundRect">
              <a:avLst>
                <a:gd name="adj" fmla="val 23077"/>
              </a:avLst>
            </a:prstGeom>
            <a:solidFill>
              <a:schemeClr val="lt2"/>
            </a:solidFill>
            <a:ln>
              <a:noFill/>
            </a:ln>
          </p:spPr>
        </p:sp>
        <p:sp>
          <p:nvSpPr>
            <p:cNvPr id="15" name="Rectangle 15"/>
            <p:cNvSpPr/>
            <p:nvPr/>
          </p:nvSpPr>
          <p:spPr>
            <a:xfrm>
              <a:off x="1962150" y="3067050"/>
              <a:ext cx="3867150" cy="247650"/>
            </a:xfrm>
            <a:prstGeom prst="roundRect">
              <a:avLst>
                <a:gd name="adj" fmla="val 23077"/>
              </a:avLst>
            </a:prstGeom>
            <a:solidFill>
              <a:srgbClr val="57D9A3"/>
            </a:solidFill>
            <a:ln>
              <a:noFill/>
            </a:ln>
          </p:spPr>
        </p:sp>
        <p:sp>
          <p:nvSpPr>
            <p:cNvPr id="16" name="TextBox 16"/>
            <p:cNvSpPr txBox="1"/>
            <p:nvPr/>
          </p:nvSpPr>
          <p:spPr>
            <a:xfrm>
              <a:off x="5880354" y="3128010"/>
              <a:ext cx="478650" cy="234696"/>
            </a:xfrm>
            <a:prstGeom prst="rect">
              <a:avLst/>
            </a:prstGeom>
            <a:noFill/>
            <a:ln>
              <a:noFill/>
            </a:ln>
          </p:spPr>
          <p:txBody>
            <a:bodyPr wrap="none" lIns="0" tIns="0" rIns="0" bIns="0" anchor="t" anchorCtr="0">
              <a:spAutoFit/>
            </a:bodyPr>
            <a:lstStyle/>
            <a:p>
              <a:pPr algn="l"/>
              <a:r>
                <a:rPr lang="en-US" sz="1200" b="1" dirty="0">
                  <a:solidFill>
                    <a:srgbClr val="57D9A3"/>
                  </a:solidFill>
                  <a:latin typeface="+mn-lt"/>
                  <a:ea typeface="+mn-ea"/>
                  <a:cs typeface="+mn-cs"/>
                </a:rPr>
                <a:t>10/10</a:t>
              </a:r>
            </a:p>
          </p:txBody>
        </p:sp>
        <p:sp>
          <p:nvSpPr>
            <p:cNvPr id="17" name="TextBox 17"/>
            <p:cNvSpPr txBox="1"/>
            <p:nvPr/>
          </p:nvSpPr>
          <p:spPr>
            <a:xfrm>
              <a:off x="757238" y="3365897"/>
              <a:ext cx="2236678" cy="183356"/>
            </a:xfrm>
            <a:prstGeom prst="rect">
              <a:avLst/>
            </a:prstGeom>
            <a:noFill/>
            <a:ln>
              <a:noFill/>
            </a:ln>
          </p:spPr>
          <p:txBody>
            <a:bodyPr wrap="none" lIns="0" tIns="0" rIns="0" bIns="0" anchor="t" anchorCtr="0">
              <a:spAutoFit/>
            </a:bodyPr>
            <a:lstStyle/>
            <a:p>
              <a:pPr algn="l"/>
              <a:r>
                <a:rPr lang="en-US" sz="940" dirty="0">
                  <a:solidFill>
                    <a:srgbClr val="6E85AC"/>
                  </a:solidFill>
                  <a:latin typeface="+mn-lt"/>
                  <a:ea typeface="+mn-ea"/>
                  <a:cs typeface="+mn-cs"/>
                </a:rPr>
                <a:t>all 10 in ≤ 28 hours, even cold-start</a:t>
              </a:r>
            </a:p>
          </p:txBody>
        </p:sp>
        <p:sp>
          <p:nvSpPr>
            <p:cNvPr id="18" name="TextBox 18"/>
            <p:cNvSpPr txBox="1"/>
            <p:nvPr/>
          </p:nvSpPr>
          <p:spPr>
            <a:xfrm>
              <a:off x="756285" y="3898106"/>
              <a:ext cx="379433" cy="220028"/>
            </a:xfrm>
            <a:prstGeom prst="rect">
              <a:avLst/>
            </a:prstGeom>
            <a:noFill/>
            <a:ln>
              <a:noFill/>
            </a:ln>
          </p:spPr>
          <p:txBody>
            <a:bodyPr wrap="none" lIns="0" tIns="0" rIns="0" bIns="0" anchor="t" anchorCtr="0">
              <a:spAutoFit/>
            </a:bodyPr>
            <a:lstStyle/>
            <a:p>
              <a:pPr algn="l"/>
              <a:r>
                <a:rPr lang="en-US" sz="1120" b="1" dirty="0">
                  <a:solidFill>
                    <a:schemeClr val="dk1"/>
                  </a:solidFill>
                  <a:latin typeface="+mn-lt"/>
                  <a:ea typeface="+mn-ea"/>
                  <a:cs typeface="+mn-cs"/>
                </a:rPr>
                <a:t>CGAL</a:t>
              </a:r>
            </a:p>
          </p:txBody>
        </p:sp>
        <p:sp>
          <p:nvSpPr>
            <p:cNvPr id="19" name="Rectangle 19"/>
            <p:cNvSpPr/>
            <p:nvPr/>
          </p:nvSpPr>
          <p:spPr>
            <a:xfrm>
              <a:off x="1962150" y="3829050"/>
              <a:ext cx="3867150" cy="247650"/>
            </a:xfrm>
            <a:prstGeom prst="roundRect">
              <a:avLst>
                <a:gd name="adj" fmla="val 23077"/>
              </a:avLst>
            </a:prstGeom>
            <a:solidFill>
              <a:schemeClr val="lt2"/>
            </a:solidFill>
            <a:ln>
              <a:noFill/>
            </a:ln>
          </p:spPr>
        </p:sp>
        <p:sp>
          <p:nvSpPr>
            <p:cNvPr id="20" name="Rectangle 20"/>
            <p:cNvSpPr/>
            <p:nvPr/>
          </p:nvSpPr>
          <p:spPr>
            <a:xfrm>
              <a:off x="1962150" y="3829050"/>
              <a:ext cx="1160145" cy="247650"/>
            </a:xfrm>
            <a:prstGeom prst="roundRect">
              <a:avLst>
                <a:gd name="adj" fmla="val 23077"/>
              </a:avLst>
            </a:prstGeom>
            <a:solidFill>
              <a:srgbClr val="F2708A"/>
            </a:solidFill>
            <a:ln>
              <a:noFill/>
            </a:ln>
          </p:spPr>
        </p:sp>
        <p:sp>
          <p:nvSpPr>
            <p:cNvPr id="21" name="TextBox 21"/>
            <p:cNvSpPr txBox="1"/>
            <p:nvPr/>
          </p:nvSpPr>
          <p:spPr>
            <a:xfrm>
              <a:off x="5880354" y="3890010"/>
              <a:ext cx="385359" cy="234696"/>
            </a:xfrm>
            <a:prstGeom prst="rect">
              <a:avLst/>
            </a:prstGeom>
            <a:noFill/>
            <a:ln>
              <a:noFill/>
            </a:ln>
          </p:spPr>
          <p:txBody>
            <a:bodyPr wrap="none" lIns="0" tIns="0" rIns="0" bIns="0" anchor="t" anchorCtr="0">
              <a:spAutoFit/>
            </a:bodyPr>
            <a:lstStyle/>
            <a:p>
              <a:pPr algn="l"/>
              <a:r>
                <a:rPr lang="en-US" sz="1200" b="1" dirty="0">
                  <a:solidFill>
                    <a:srgbClr val="F2708A"/>
                  </a:solidFill>
                  <a:latin typeface="+mn-lt"/>
                  <a:ea typeface="+mn-ea"/>
                  <a:cs typeface="+mn-cs"/>
                </a:rPr>
                <a:t>3/10</a:t>
              </a:r>
            </a:p>
          </p:txBody>
        </p:sp>
        <p:sp>
          <p:nvSpPr>
            <p:cNvPr id="22" name="TextBox 22"/>
            <p:cNvSpPr txBox="1"/>
            <p:nvPr/>
          </p:nvSpPr>
          <p:spPr>
            <a:xfrm>
              <a:off x="757238" y="4127897"/>
              <a:ext cx="1913994" cy="183356"/>
            </a:xfrm>
            <a:prstGeom prst="rect">
              <a:avLst/>
            </a:prstGeom>
            <a:noFill/>
            <a:ln>
              <a:noFill/>
            </a:ln>
          </p:spPr>
          <p:txBody>
            <a:bodyPr wrap="none" lIns="0" tIns="0" rIns="0" bIns="0" anchor="t" anchorCtr="0">
              <a:spAutoFit/>
            </a:bodyPr>
            <a:lstStyle/>
            <a:p>
              <a:pPr algn="l"/>
              <a:r>
                <a:rPr lang="en-US" sz="940" dirty="0">
                  <a:solidFill>
                    <a:srgbClr val="6E85AC"/>
                  </a:solidFill>
                  <a:latin typeface="+mn-lt"/>
                  <a:ea typeface="+mn-ea"/>
                  <a:cs typeface="+mn-cs"/>
                </a:rPr>
                <a:t>fails on 7 of 10 within 72 hours</a:t>
              </a:r>
            </a:p>
          </p:txBody>
        </p:sp>
        <p:sp>
          <p:nvSpPr>
            <p:cNvPr id="23" name="Line 23"/>
            <p:cNvSpPr/>
            <p:nvPr/>
          </p:nvSpPr>
          <p:spPr>
            <a:xfrm>
              <a:off x="2348865" y="2952750"/>
              <a:ext cx="9525" cy="1295400"/>
            </a:xfrm>
            <a:custGeom>
              <a:avLst/>
              <a:gdLst/>
              <a:ahLst/>
              <a:cxnLst/>
              <a:rect l="l" t="t" r="r" b="b"/>
              <a:pathLst>
                <a:path w="9525" h="1295400">
                  <a:moveTo>
                    <a:pt x="0" y="0"/>
                  </a:moveTo>
                  <a:lnTo>
                    <a:pt x="0" y="1295400"/>
                  </a:lnTo>
                </a:path>
              </a:pathLst>
            </a:custGeom>
            <a:noFill/>
            <a:ln w="5715">
              <a:solidFill>
                <a:schemeClr val="accent4">
                  <a:alpha val="50000"/>
                </a:schemeClr>
              </a:solidFill>
            </a:ln>
          </p:spPr>
        </p:sp>
        <p:sp>
          <p:nvSpPr>
            <p:cNvPr id="24" name="Line 24"/>
            <p:cNvSpPr/>
            <p:nvPr/>
          </p:nvSpPr>
          <p:spPr>
            <a:xfrm>
              <a:off x="2735580" y="2952750"/>
              <a:ext cx="9525" cy="1295400"/>
            </a:xfrm>
            <a:custGeom>
              <a:avLst/>
              <a:gdLst/>
              <a:ahLst/>
              <a:cxnLst/>
              <a:rect l="l" t="t" r="r" b="b"/>
              <a:pathLst>
                <a:path w="9525" h="1295400">
                  <a:moveTo>
                    <a:pt x="0" y="0"/>
                  </a:moveTo>
                  <a:lnTo>
                    <a:pt x="0" y="1295400"/>
                  </a:lnTo>
                </a:path>
              </a:pathLst>
            </a:custGeom>
            <a:noFill/>
            <a:ln w="5715">
              <a:solidFill>
                <a:schemeClr val="accent4">
                  <a:alpha val="50000"/>
                </a:schemeClr>
              </a:solidFill>
            </a:ln>
          </p:spPr>
        </p:sp>
        <p:sp>
          <p:nvSpPr>
            <p:cNvPr id="25" name="Line 25"/>
            <p:cNvSpPr/>
            <p:nvPr/>
          </p:nvSpPr>
          <p:spPr>
            <a:xfrm>
              <a:off x="3122295" y="2952750"/>
              <a:ext cx="9525" cy="1295400"/>
            </a:xfrm>
            <a:custGeom>
              <a:avLst/>
              <a:gdLst/>
              <a:ahLst/>
              <a:cxnLst/>
              <a:rect l="l" t="t" r="r" b="b"/>
              <a:pathLst>
                <a:path w="9525" h="1295400">
                  <a:moveTo>
                    <a:pt x="0" y="0"/>
                  </a:moveTo>
                  <a:lnTo>
                    <a:pt x="0" y="1295400"/>
                  </a:lnTo>
                </a:path>
              </a:pathLst>
            </a:custGeom>
            <a:noFill/>
            <a:ln w="5715">
              <a:solidFill>
                <a:schemeClr val="accent4">
                  <a:alpha val="50000"/>
                </a:schemeClr>
              </a:solidFill>
            </a:ln>
          </p:spPr>
        </p:sp>
        <p:sp>
          <p:nvSpPr>
            <p:cNvPr id="26" name="Line 26"/>
            <p:cNvSpPr/>
            <p:nvPr/>
          </p:nvSpPr>
          <p:spPr>
            <a:xfrm>
              <a:off x="3509010" y="2952750"/>
              <a:ext cx="9525" cy="1295400"/>
            </a:xfrm>
            <a:custGeom>
              <a:avLst/>
              <a:gdLst/>
              <a:ahLst/>
              <a:cxnLst/>
              <a:rect l="l" t="t" r="r" b="b"/>
              <a:pathLst>
                <a:path w="9525" h="1295400">
                  <a:moveTo>
                    <a:pt x="0" y="0"/>
                  </a:moveTo>
                  <a:lnTo>
                    <a:pt x="0" y="1295400"/>
                  </a:lnTo>
                </a:path>
              </a:pathLst>
            </a:custGeom>
            <a:noFill/>
            <a:ln w="5715">
              <a:solidFill>
                <a:schemeClr val="accent4">
                  <a:alpha val="50000"/>
                </a:schemeClr>
              </a:solidFill>
            </a:ln>
          </p:spPr>
        </p:sp>
        <p:sp>
          <p:nvSpPr>
            <p:cNvPr id="27" name="Line 27"/>
            <p:cNvSpPr/>
            <p:nvPr/>
          </p:nvSpPr>
          <p:spPr>
            <a:xfrm>
              <a:off x="3895725" y="2952750"/>
              <a:ext cx="9525" cy="1295400"/>
            </a:xfrm>
            <a:custGeom>
              <a:avLst/>
              <a:gdLst/>
              <a:ahLst/>
              <a:cxnLst/>
              <a:rect l="l" t="t" r="r" b="b"/>
              <a:pathLst>
                <a:path w="9525" h="1295400">
                  <a:moveTo>
                    <a:pt x="0" y="0"/>
                  </a:moveTo>
                  <a:lnTo>
                    <a:pt x="0" y="1295400"/>
                  </a:lnTo>
                </a:path>
              </a:pathLst>
            </a:custGeom>
            <a:noFill/>
            <a:ln w="5715">
              <a:solidFill>
                <a:schemeClr val="accent4">
                  <a:alpha val="50000"/>
                </a:schemeClr>
              </a:solidFill>
            </a:ln>
          </p:spPr>
        </p:sp>
        <p:sp>
          <p:nvSpPr>
            <p:cNvPr id="28" name="Line 28"/>
            <p:cNvSpPr/>
            <p:nvPr/>
          </p:nvSpPr>
          <p:spPr>
            <a:xfrm>
              <a:off x="4282440" y="2952750"/>
              <a:ext cx="9525" cy="1295400"/>
            </a:xfrm>
            <a:custGeom>
              <a:avLst/>
              <a:gdLst/>
              <a:ahLst/>
              <a:cxnLst/>
              <a:rect l="l" t="t" r="r" b="b"/>
              <a:pathLst>
                <a:path w="9525" h="1295400">
                  <a:moveTo>
                    <a:pt x="0" y="0"/>
                  </a:moveTo>
                  <a:lnTo>
                    <a:pt x="0" y="1295400"/>
                  </a:lnTo>
                </a:path>
              </a:pathLst>
            </a:custGeom>
            <a:noFill/>
            <a:ln w="5715">
              <a:solidFill>
                <a:schemeClr val="accent4">
                  <a:alpha val="50000"/>
                </a:schemeClr>
              </a:solidFill>
            </a:ln>
          </p:spPr>
        </p:sp>
        <p:sp>
          <p:nvSpPr>
            <p:cNvPr id="29" name="Line 29"/>
            <p:cNvSpPr/>
            <p:nvPr/>
          </p:nvSpPr>
          <p:spPr>
            <a:xfrm>
              <a:off x="4669155" y="2952750"/>
              <a:ext cx="9525" cy="1295400"/>
            </a:xfrm>
            <a:custGeom>
              <a:avLst/>
              <a:gdLst/>
              <a:ahLst/>
              <a:cxnLst/>
              <a:rect l="l" t="t" r="r" b="b"/>
              <a:pathLst>
                <a:path w="9525" h="1295400">
                  <a:moveTo>
                    <a:pt x="0" y="0"/>
                  </a:moveTo>
                  <a:lnTo>
                    <a:pt x="0" y="1295400"/>
                  </a:lnTo>
                </a:path>
              </a:pathLst>
            </a:custGeom>
            <a:noFill/>
            <a:ln w="5715">
              <a:solidFill>
                <a:schemeClr val="accent4">
                  <a:alpha val="50000"/>
                </a:schemeClr>
              </a:solidFill>
            </a:ln>
          </p:spPr>
        </p:sp>
        <p:sp>
          <p:nvSpPr>
            <p:cNvPr id="30" name="Line 30"/>
            <p:cNvSpPr/>
            <p:nvPr/>
          </p:nvSpPr>
          <p:spPr>
            <a:xfrm>
              <a:off x="5055870" y="2952750"/>
              <a:ext cx="9525" cy="1295400"/>
            </a:xfrm>
            <a:custGeom>
              <a:avLst/>
              <a:gdLst/>
              <a:ahLst/>
              <a:cxnLst/>
              <a:rect l="l" t="t" r="r" b="b"/>
              <a:pathLst>
                <a:path w="9525" h="1295400">
                  <a:moveTo>
                    <a:pt x="0" y="0"/>
                  </a:moveTo>
                  <a:lnTo>
                    <a:pt x="0" y="1295400"/>
                  </a:lnTo>
                </a:path>
              </a:pathLst>
            </a:custGeom>
            <a:noFill/>
            <a:ln w="5715">
              <a:solidFill>
                <a:schemeClr val="accent4">
                  <a:alpha val="50000"/>
                </a:schemeClr>
              </a:solidFill>
            </a:ln>
          </p:spPr>
        </p:sp>
        <p:sp>
          <p:nvSpPr>
            <p:cNvPr id="31" name="Line 31"/>
            <p:cNvSpPr/>
            <p:nvPr/>
          </p:nvSpPr>
          <p:spPr>
            <a:xfrm>
              <a:off x="5442585" y="2952750"/>
              <a:ext cx="9525" cy="1295400"/>
            </a:xfrm>
            <a:custGeom>
              <a:avLst/>
              <a:gdLst/>
              <a:ahLst/>
              <a:cxnLst/>
              <a:rect l="l" t="t" r="r" b="b"/>
              <a:pathLst>
                <a:path w="9525" h="1295400">
                  <a:moveTo>
                    <a:pt x="0" y="0"/>
                  </a:moveTo>
                  <a:lnTo>
                    <a:pt x="0" y="1295400"/>
                  </a:lnTo>
                </a:path>
              </a:pathLst>
            </a:custGeom>
            <a:noFill/>
            <a:ln w="5715">
              <a:solidFill>
                <a:schemeClr val="accent4">
                  <a:alpha val="50000"/>
                </a:schemeClr>
              </a:solidFill>
            </a:ln>
          </p:spPr>
        </p:sp>
        <p:sp>
          <p:nvSpPr>
            <p:cNvPr id="32" name="TextBox 32"/>
            <p:cNvSpPr txBox="1"/>
            <p:nvPr/>
          </p:nvSpPr>
          <p:spPr>
            <a:xfrm>
              <a:off x="756856" y="4710351"/>
              <a:ext cx="4357241"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USBS reaches an accurate solution on all instances; CGAL cannot.</a:t>
              </a:r>
            </a:p>
          </p:txBody>
        </p:sp>
      </p:grpSp>
      <p:grpSp>
        <p:nvGrpSpPr>
          <p:cNvPr id="39" name="Group 39"/>
          <p:cNvGrpSpPr/>
          <p:nvPr/>
        </p:nvGrpSpPr>
        <p:grpSpPr>
          <a:xfrm>
            <a:off x="6438900" y="2286000"/>
            <a:ext cx="5219700" cy="1356360"/>
            <a:chOff x="6438900" y="2286000"/>
            <a:chExt cx="5219700" cy="1356360"/>
          </a:xfrm>
        </p:grpSpPr>
        <p:sp>
          <p:nvSpPr>
            <p:cNvPr id="34" name="Rectangle 34"/>
            <p:cNvSpPr/>
            <p:nvPr/>
          </p:nvSpPr>
          <p:spPr>
            <a:xfrm>
              <a:off x="6438900" y="2286000"/>
              <a:ext cx="5219700" cy="1314450"/>
            </a:xfrm>
            <a:prstGeom prst="roundRect">
              <a:avLst>
                <a:gd name="adj" fmla="val 10145"/>
              </a:avLst>
            </a:prstGeom>
            <a:solidFill>
              <a:schemeClr val="accent6"/>
            </a:solidFill>
            <a:ln w="13335">
              <a:solidFill>
                <a:schemeClr val="accent2"/>
              </a:solidFill>
            </a:ln>
          </p:spPr>
        </p:sp>
        <p:sp>
          <p:nvSpPr>
            <p:cNvPr id="35" name="TextBox 35"/>
            <p:cNvSpPr txBox="1"/>
            <p:nvPr/>
          </p:nvSpPr>
          <p:spPr>
            <a:xfrm>
              <a:off x="6662738" y="2569845"/>
              <a:ext cx="2278680" cy="176212"/>
            </a:xfrm>
            <a:prstGeom prst="rect">
              <a:avLst/>
            </a:prstGeom>
            <a:noFill/>
            <a:ln>
              <a:noFill/>
            </a:ln>
          </p:spPr>
          <p:txBody>
            <a:bodyPr wrap="none" lIns="0" tIns="0" rIns="0" bIns="0" anchor="t" anchorCtr="0">
              <a:spAutoFit/>
            </a:bodyPr>
            <a:lstStyle/>
            <a:p>
              <a:pPr algn="l"/>
              <a:r>
                <a:rPr lang="en-US" sz="900" b="1" spc="112" dirty="0">
                  <a:solidFill>
                    <a:schemeClr val="accent2"/>
                  </a:solidFill>
                  <a:latin typeface="+mn-lt"/>
                  <a:ea typeface="+mn-ea"/>
                  <a:cs typeface="+mn-cs"/>
                </a:rPr>
                <a:t>2-BILLION-VARIABLE INSTANCE</a:t>
              </a:r>
            </a:p>
          </p:txBody>
        </p:sp>
        <p:sp>
          <p:nvSpPr>
            <p:cNvPr id="36" name="TextBox 36"/>
            <p:cNvSpPr txBox="1"/>
            <p:nvPr/>
          </p:nvSpPr>
          <p:spPr>
            <a:xfrm>
              <a:off x="6648450" y="2823210"/>
              <a:ext cx="1344183" cy="819150"/>
            </a:xfrm>
            <a:prstGeom prst="rect">
              <a:avLst/>
            </a:prstGeom>
            <a:noFill/>
            <a:ln>
              <a:noFill/>
            </a:ln>
          </p:spPr>
          <p:txBody>
            <a:bodyPr wrap="none" lIns="0" tIns="0" rIns="0" bIns="0" anchor="t" anchorCtr="0">
              <a:spAutoFit/>
            </a:bodyPr>
            <a:lstStyle/>
            <a:p>
              <a:pPr algn="l"/>
              <a:r>
                <a:rPr lang="en-US" sz="4200" b="1" dirty="0">
                  <a:gradFill>
                    <a:gsLst>
                      <a:gs pos="0">
                        <a:srgbClr val="F7B84B"/>
                      </a:gs>
                      <a:gs pos="100000">
                        <a:srgbClr val="E8892E"/>
                      </a:gs>
                    </a:gsLst>
                    <a:lin ang="2700000" scaled="1"/>
                  </a:gradFill>
                  <a:latin typeface="+mn-lt"/>
                  <a:ea typeface="+mn-ea"/>
                  <a:cs typeface="+mn-cs"/>
                </a:rPr>
                <a:t>500×</a:t>
              </a:r>
            </a:p>
          </p:txBody>
        </p:sp>
        <p:sp>
          <p:nvSpPr>
            <p:cNvPr id="37" name="TextBox 37"/>
            <p:cNvSpPr txBox="1"/>
            <p:nvPr/>
          </p:nvSpPr>
          <p:spPr>
            <a:xfrm>
              <a:off x="8033385" y="3040856"/>
              <a:ext cx="885922"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faster than</a:t>
              </a:r>
            </a:p>
          </p:txBody>
        </p:sp>
        <p:sp>
          <p:nvSpPr>
            <p:cNvPr id="38" name="TextBox 38"/>
            <p:cNvSpPr txBox="1"/>
            <p:nvPr/>
          </p:nvSpPr>
          <p:spPr>
            <a:xfrm>
              <a:off x="8033385" y="3250406"/>
              <a:ext cx="379433" cy="220028"/>
            </a:xfrm>
            <a:prstGeom prst="rect">
              <a:avLst/>
            </a:prstGeom>
            <a:noFill/>
            <a:ln>
              <a:noFill/>
            </a:ln>
          </p:spPr>
          <p:txBody>
            <a:bodyPr wrap="none" lIns="0" tIns="0" rIns="0" bIns="0" anchor="t" anchorCtr="0">
              <a:spAutoFit/>
            </a:bodyPr>
            <a:lstStyle/>
            <a:p>
              <a:pPr algn="l"/>
              <a:r>
                <a:rPr lang="en-US" sz="1120" b="1" dirty="0">
                  <a:solidFill>
                    <a:schemeClr val="dk1"/>
                  </a:solidFill>
                  <a:latin typeface="+mn-lt"/>
                  <a:ea typeface="+mn-ea"/>
                  <a:cs typeface="+mn-cs"/>
                </a:rPr>
                <a:t>CGAL</a:t>
              </a:r>
            </a:p>
          </p:txBody>
        </p:sp>
      </p:grpSp>
      <p:grpSp>
        <p:nvGrpSpPr>
          <p:cNvPr id="46" name="Group 46"/>
          <p:cNvGrpSpPr/>
          <p:nvPr/>
        </p:nvGrpSpPr>
        <p:grpSpPr>
          <a:xfrm>
            <a:off x="6438900" y="3790950"/>
            <a:ext cx="5219700" cy="1314450"/>
            <a:chOff x="6438900" y="3790950"/>
            <a:chExt cx="5219700" cy="1314450"/>
          </a:xfrm>
        </p:grpSpPr>
        <p:sp>
          <p:nvSpPr>
            <p:cNvPr id="40" name="Rectangle 40"/>
            <p:cNvSpPr/>
            <p:nvPr/>
          </p:nvSpPr>
          <p:spPr>
            <a:xfrm>
              <a:off x="6438900" y="3790950"/>
              <a:ext cx="5219700" cy="1314450"/>
            </a:xfrm>
            <a:prstGeom prst="roundRect">
              <a:avLst>
                <a:gd name="adj" fmla="val 10145"/>
              </a:avLst>
            </a:prstGeom>
            <a:solidFill>
              <a:schemeClr val="accent5"/>
            </a:solidFill>
            <a:ln w="11430">
              <a:solidFill>
                <a:schemeClr val="accent4"/>
              </a:solidFill>
            </a:ln>
          </p:spPr>
        </p:sp>
        <p:sp>
          <p:nvSpPr>
            <p:cNvPr id="41" name="Rectangle 41"/>
            <p:cNvSpPr/>
            <p:nvPr/>
          </p:nvSpPr>
          <p:spPr>
            <a:xfrm>
              <a:off x="6648450" y="4000500"/>
              <a:ext cx="47625" cy="285750"/>
            </a:xfrm>
            <a:prstGeom prst="roundRect">
              <a:avLst>
                <a:gd name="adj" fmla="val 50000"/>
              </a:avLst>
            </a:prstGeom>
            <a:solidFill>
              <a:srgbClr val="37DCC0"/>
            </a:solidFill>
            <a:ln>
              <a:noFill/>
            </a:ln>
          </p:spPr>
        </p:sp>
        <p:sp>
          <p:nvSpPr>
            <p:cNvPr id="42" name="TextBox 42"/>
            <p:cNvSpPr txBox="1"/>
            <p:nvPr/>
          </p:nvSpPr>
          <p:spPr>
            <a:xfrm>
              <a:off x="6832854" y="4061460"/>
              <a:ext cx="1954599" cy="234696"/>
            </a:xfrm>
            <a:prstGeom prst="rect">
              <a:avLst/>
            </a:prstGeom>
            <a:noFill/>
            <a:ln>
              <a:noFill/>
            </a:ln>
          </p:spPr>
          <p:txBody>
            <a:bodyPr wrap="none" lIns="0" tIns="0" rIns="0" bIns="0" anchor="t" anchorCtr="0">
              <a:spAutoFit/>
            </a:bodyPr>
            <a:lstStyle/>
            <a:p>
              <a:pPr algn="l"/>
              <a:r>
                <a:rPr lang="en-US" sz="1200" b="1" dirty="0">
                  <a:solidFill>
                    <a:schemeClr val="dk1"/>
                  </a:solidFill>
                  <a:latin typeface="+mn-lt"/>
                  <a:ea typeface="+mn-ea"/>
                  <a:cs typeface="+mn-cs"/>
                </a:rPr>
                <a:t>QAP + entity resolution</a:t>
              </a:r>
            </a:p>
          </p:txBody>
        </p:sp>
        <p:sp>
          <p:nvSpPr>
            <p:cNvPr id="43" name="TextBox 43"/>
            <p:cNvSpPr txBox="1"/>
            <p:nvPr/>
          </p:nvSpPr>
          <p:spPr>
            <a:xfrm>
              <a:off x="6643116" y="4363402"/>
              <a:ext cx="2828102"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Lower relative gaps and cumulative solve</a:t>
              </a:r>
            </a:p>
          </p:txBody>
        </p:sp>
        <p:sp>
          <p:nvSpPr>
            <p:cNvPr id="44" name="TextBox 44"/>
            <p:cNvSpPr txBox="1"/>
            <p:nvPr/>
          </p:nvSpPr>
          <p:spPr>
            <a:xfrm>
              <a:off x="6643116" y="4563428"/>
              <a:ext cx="2722457"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times — and USBS reliably exploits warm</a:t>
              </a:r>
            </a:p>
          </p:txBody>
        </p:sp>
        <p:sp>
          <p:nvSpPr>
            <p:cNvPr id="45" name="TextBox 45"/>
            <p:cNvSpPr txBox="1"/>
            <p:nvPr/>
          </p:nvSpPr>
          <p:spPr>
            <a:xfrm>
              <a:off x="6643116" y="4763452"/>
              <a:ext cx="1896618"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starts where CGAL cannot.</a:t>
              </a:r>
            </a:p>
          </p:txBody>
        </p:sp>
      </p:grpSp>
      <p:sp>
        <p:nvSpPr>
          <p:cNvPr id="47" name="cue_s07_c1_results_striking" title="cue_s07_c1_results_striking" descr="cue_s07_c1_results_striking The results are striking."/>
          <p:cNvSpPr/>
          <p:nvPr/>
        </p:nvSpPr>
        <p:spPr>
          <a:xfrm>
            <a:off x="532790" y="1523847"/>
            <a:ext cx="11125200" cy="55275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cue_s07_c2_maxcut_usbs_reaches_accurate_solutio" title="cue_s07_c2_maxcut_usbs_reaches_accurate_solutio" descr="cue_s07_c2_maxcut_usbs_reaches_accurate_solutio On MaxCut, USBS reaches an accurate solution on all ten instances in twenty-eight hours or less, even without a warm start, while the previous state-of-the-art solver, CGAL, fails to reach an accurate solution on seven of the ten instances within seventy-two h"/>
          <p:cNvSpPr/>
          <p:nvPr/>
        </p:nvSpPr>
        <p:spPr>
          <a:xfrm>
            <a:off x="532790" y="2285771"/>
            <a:ext cx="5825337" cy="281932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cue_s07_c3_instance_over_two_billion_decision" title="cue_s07_c3_instance_over_two_billion_decision" descr="cue_s07_c3_instance_over_two_billion_decision On an instance with over two billion decision variables, USBS is five hundred times faster than CGAL."/>
          <p:cNvSpPr/>
          <p:nvPr/>
        </p:nvSpPr>
        <p:spPr>
          <a:xfrm>
            <a:off x="6438595" y="2285771"/>
            <a:ext cx="5219395" cy="135651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cue_s07_c4_quadratic_assignment_entity_resoluti" title="cue_s07_c4_quadratic_assignment_entity_resoluti" descr="cue_s07_c4_quadratic_assignment_entity_resoluti On the quadratic assignment and entity-resolution tasks, USBS reaches better relative gaps and lower cumulative solve times, and the gap in its favor grows as the problems get larger. Across all three settings, USBS reliably takes advantage of warm starts, whe"/>
          <p:cNvSpPr/>
          <p:nvPr/>
        </p:nvSpPr>
        <p:spPr>
          <a:xfrm>
            <a:off x="6438595" y="3791102"/>
            <a:ext cx="5219395" cy="131467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chemeClr val="lt2">
                  <a:alpha val="90000"/>
                </a:schemeClr>
              </a:gs>
              <a:gs pos="60000">
                <a:schemeClr val="lt1">
                  <a:alpha val="0"/>
                </a:schemeClr>
              </a:gs>
            </a:gsLst>
            <a:path path="circle">
              <a:fillToRect l="50000" t="50000" r="50000" b="50000"/>
            </a:path>
          </a:gradFill>
          <a:ln>
            <a:noFill/>
          </a:ln>
        </p:spPr>
        <p:txBody>
          <a:bodyPr/>
          <a:p/>
        </p:txBody>
      </p:sp>
      <p:sp>
        <p:nvSpPr>
          <p:cNvPr id="3" name="Rectangle 3"/>
          <p:cNvSpPr/>
          <p:nvPr/>
        </p:nvSpPr>
        <p:spPr>
          <a:xfrm>
            <a:off x="533400" y="476250"/>
            <a:ext cx="57150" cy="209550"/>
          </a:xfrm>
          <a:prstGeom prst="roundRect">
            <a:avLst>
              <a:gd name="adj" fmla="val 41667"/>
            </a:avLst>
          </a:prstGeom>
          <a:solidFill>
            <a:schemeClr val="accent2"/>
          </a:solidFill>
          <a:ln>
            <a:noFill/>
          </a:ln>
        </p:spPr>
        <p:txBody>
          <a:bodyPr/>
          <a:p/>
        </p:txBody>
      </p:sp>
      <p:sp>
        <p:nvSpPr>
          <p:cNvPr id="4" name="TextBox 4"/>
          <p:cNvSpPr txBox="1"/>
          <p:nvPr/>
        </p:nvSpPr>
        <p:spPr>
          <a:xfrm>
            <a:off x="699135" y="526256"/>
            <a:ext cx="963101" cy="220028"/>
          </a:xfrm>
          <a:prstGeom prst="rect">
            <a:avLst/>
          </a:prstGeom>
          <a:noFill/>
          <a:ln>
            <a:noFill/>
          </a:ln>
        </p:spPr>
        <p:txBody>
          <a:bodyPr wrap="none" lIns="0" tIns="0" rIns="0" bIns="0" anchor="t" anchorCtr="0">
            <a:spAutoFit/>
          </a:bodyPr>
          <a:lstStyle/>
          <a:p>
            <a:pPr algn="l"/>
            <a:r>
              <a:rPr lang="en-US" sz="1120" b="1" spc="225" dirty="0">
                <a:solidFill>
                  <a:schemeClr val="accent2"/>
                </a:solidFill>
                <a:latin typeface="+mn-lt"/>
                <a:ea typeface="+mn-ea"/>
                <a:cs typeface="+mn-cs"/>
              </a:rPr>
              <a:t>ABLATION</a:t>
            </a:r>
          </a:p>
        </p:txBody>
      </p:sp>
      <p:sp>
        <p:nvSpPr>
          <p:cNvPr id="5" name="TextBox 5"/>
          <p:cNvSpPr txBox="1"/>
          <p:nvPr/>
        </p:nvSpPr>
        <p:spPr>
          <a:xfrm>
            <a:off x="518160" y="781050"/>
            <a:ext cx="6956035" cy="586740"/>
          </a:xfrm>
          <a:prstGeom prst="rect">
            <a:avLst/>
          </a:prstGeom>
          <a:noFill/>
          <a:ln>
            <a:noFill/>
          </a:ln>
        </p:spPr>
        <p:txBody>
          <a:bodyPr wrap="none" lIns="0" tIns="0" rIns="0" bIns="0" anchor="t" anchorCtr="0">
            <a:spAutoFit/>
          </a:bodyPr>
          <a:lstStyle/>
          <a:p>
            <a:pPr algn="l"/>
            <a:r>
              <a:rPr lang="en-US" sz="3000" b="1" dirty="0">
                <a:solidFill>
                  <a:schemeClr val="dk1"/>
                </a:solidFill>
                <a:latin typeface="+mn-lt"/>
                <a:ea typeface="+mn-ea"/>
                <a:cs typeface="+mn-cs"/>
              </a:rPr>
              <a:t>What actually drives convergence</a:t>
            </a:r>
          </a:p>
        </p:txBody>
      </p:sp>
      <p:sp>
        <p:nvSpPr>
          <p:cNvPr id="6" name="TextBox 6"/>
          <p:cNvSpPr txBox="1"/>
          <p:nvPr/>
        </p:nvSpPr>
        <p:spPr>
          <a:xfrm>
            <a:off x="11095485" y="534352"/>
            <a:ext cx="568449" cy="205359"/>
          </a:xfrm>
          <a:prstGeom prst="rect">
            <a:avLst/>
          </a:prstGeom>
          <a:noFill/>
          <a:ln>
            <a:noFill/>
          </a:ln>
        </p:spPr>
        <p:txBody>
          <a:bodyPr wrap="none" lIns="0" tIns="0" rIns="0" bIns="0" anchor="t" anchorCtr="0">
            <a:spAutoFit/>
          </a:bodyPr>
          <a:lstStyle/>
          <a:p>
            <a:pPr algn="r"/>
            <a:r>
              <a:rPr lang="en-US" sz="1050" b="1" spc="75" dirty="0">
                <a:solidFill>
                  <a:srgbClr val="6E85AC"/>
                </a:solidFill>
                <a:latin typeface="Consolas"/>
                <a:ea typeface="Consolas"/>
                <a:cs typeface="Consolas"/>
              </a:rPr>
              <a:t>08 / 10</a:t>
            </a:r>
          </a:p>
        </p:txBody>
      </p:sp>
      <p:sp>
        <p:nvSpPr>
          <p:cNvPr id="7" name="Line 7"/>
          <p:cNvSpPr/>
          <p:nvPr/>
        </p:nvSpPr>
        <p:spPr>
          <a:xfrm>
            <a:off x="533400" y="1314450"/>
            <a:ext cx="11125200" cy="9525"/>
          </a:xfrm>
          <a:custGeom>
            <a:avLst/>
            <a:gdLst/>
            <a:ahLst/>
            <a:cxnLst/>
            <a:rect l="l" t="t" r="r" b="b"/>
            <a:pathLst>
              <a:path w="11125200" h="9525">
                <a:moveTo>
                  <a:pt x="0" y="0"/>
                </a:moveTo>
                <a:lnTo>
                  <a:pt x="11125200" y="0"/>
                </a:lnTo>
              </a:path>
            </a:pathLst>
          </a:custGeom>
          <a:noFill/>
          <a:ln w="11430">
            <a:solidFill>
              <a:schemeClr val="accent4"/>
            </a:solidFill>
          </a:ln>
        </p:spPr>
        <p:txBody>
          <a:bodyPr/>
          <a:p/>
        </p:txBody>
      </p:sp>
      <p:grpSp>
        <p:nvGrpSpPr>
          <p:cNvPr id="11" name="Group 11"/>
          <p:cNvGrpSpPr/>
          <p:nvPr/>
        </p:nvGrpSpPr>
        <p:grpSpPr>
          <a:xfrm>
            <a:off x="533400" y="1524000"/>
            <a:ext cx="11125200" cy="552450"/>
            <a:chOff x="533400" y="1524000"/>
            <a:chExt cx="11125200" cy="552450"/>
          </a:xfrm>
        </p:grpSpPr>
        <p:sp>
          <p:nvSpPr>
            <p:cNvPr id="8" name="Rectangle 8"/>
            <p:cNvSpPr/>
            <p:nvPr/>
          </p:nvSpPr>
          <p:spPr>
            <a:xfrm>
              <a:off x="533400" y="1524000"/>
              <a:ext cx="11125200" cy="552450"/>
            </a:xfrm>
            <a:prstGeom prst="roundRect">
              <a:avLst>
                <a:gd name="adj" fmla="val 24138"/>
              </a:avLst>
            </a:prstGeom>
            <a:solidFill>
              <a:schemeClr val="accent5"/>
            </a:solidFill>
            <a:ln w="11430">
              <a:solidFill>
                <a:schemeClr val="accent4"/>
              </a:solidFill>
            </a:ln>
          </p:spPr>
        </p:sp>
        <p:sp>
          <p:nvSpPr>
            <p:cNvPr id="9" name="Rectangle 9"/>
            <p:cNvSpPr/>
            <p:nvPr/>
          </p:nvSpPr>
          <p:spPr>
            <a:xfrm>
              <a:off x="723900" y="1676400"/>
              <a:ext cx="47625" cy="247650"/>
            </a:xfrm>
            <a:prstGeom prst="roundRect">
              <a:avLst>
                <a:gd name="adj" fmla="val 50000"/>
              </a:avLst>
            </a:prstGeom>
            <a:solidFill>
              <a:schemeClr val="accent2"/>
            </a:solidFill>
            <a:ln>
              <a:noFill/>
            </a:ln>
          </p:spPr>
        </p:sp>
        <p:sp>
          <p:nvSpPr>
            <p:cNvPr id="10" name="TextBox 10"/>
            <p:cNvSpPr txBox="1"/>
            <p:nvPr/>
          </p:nvSpPr>
          <p:spPr>
            <a:xfrm>
              <a:off x="907542" y="1730692"/>
              <a:ext cx="3769300"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Two ablations are especially informative</a:t>
              </a:r>
            </a:p>
          </p:txBody>
        </p:sp>
      </p:grpSp>
      <p:grpSp>
        <p:nvGrpSpPr>
          <p:cNvPr id="26" name="Group 26"/>
          <p:cNvGrpSpPr/>
          <p:nvPr/>
        </p:nvGrpSpPr>
        <p:grpSpPr>
          <a:xfrm>
            <a:off x="533400" y="2286000"/>
            <a:ext cx="5676900" cy="2857500"/>
            <a:chOff x="533400" y="2286000"/>
            <a:chExt cx="5676900" cy="2857500"/>
          </a:xfrm>
        </p:grpSpPr>
        <p:sp>
          <p:nvSpPr>
            <p:cNvPr id="12" name="Rectangle 12"/>
            <p:cNvSpPr/>
            <p:nvPr/>
          </p:nvSpPr>
          <p:spPr>
            <a:xfrm>
              <a:off x="533400" y="2286000"/>
              <a:ext cx="5676900" cy="2857500"/>
            </a:xfrm>
            <a:prstGeom prst="roundRect">
              <a:avLst>
                <a:gd name="adj" fmla="val 4667"/>
              </a:avLst>
            </a:prstGeom>
            <a:solidFill>
              <a:schemeClr val="accent5"/>
            </a:solidFill>
            <a:ln w="11430">
              <a:solidFill>
                <a:schemeClr val="accent4"/>
              </a:solidFill>
            </a:ln>
          </p:spPr>
        </p:sp>
        <p:sp>
          <p:nvSpPr>
            <p:cNvPr id="13" name="Rectangle 13"/>
            <p:cNvSpPr/>
            <p:nvPr/>
          </p:nvSpPr>
          <p:spPr>
            <a:xfrm>
              <a:off x="742950" y="2514600"/>
              <a:ext cx="47625" cy="266700"/>
            </a:xfrm>
            <a:prstGeom prst="roundRect">
              <a:avLst>
                <a:gd name="adj" fmla="val 50000"/>
              </a:avLst>
            </a:prstGeom>
            <a:solidFill>
              <a:srgbClr val="57D9A3"/>
            </a:solidFill>
            <a:ln>
              <a:noFill/>
            </a:ln>
          </p:spPr>
        </p:sp>
        <p:sp>
          <p:nvSpPr>
            <p:cNvPr id="14" name="TextBox 14"/>
            <p:cNvSpPr txBox="1"/>
            <p:nvPr/>
          </p:nvSpPr>
          <p:spPr>
            <a:xfrm>
              <a:off x="907542" y="2559368"/>
              <a:ext cx="1413301"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Warm-starting</a:t>
              </a:r>
            </a:p>
          </p:txBody>
        </p:sp>
        <p:sp>
          <p:nvSpPr>
            <p:cNvPr id="15" name="TextBox 15"/>
            <p:cNvSpPr txBox="1"/>
            <p:nvPr/>
          </p:nvSpPr>
          <p:spPr>
            <a:xfrm>
              <a:off x="4869389" y="2506028"/>
              <a:ext cx="1125265" cy="498729"/>
            </a:xfrm>
            <a:prstGeom prst="rect">
              <a:avLst/>
            </a:prstGeom>
            <a:noFill/>
            <a:ln>
              <a:noFill/>
            </a:ln>
          </p:spPr>
          <p:txBody>
            <a:bodyPr wrap="none" lIns="0" tIns="0" rIns="0" bIns="0" anchor="t" anchorCtr="0">
              <a:spAutoFit/>
            </a:bodyPr>
            <a:lstStyle/>
            <a:p>
              <a:pPr algn="r"/>
              <a:r>
                <a:rPr lang="en-US" sz="2550" b="1" dirty="0">
                  <a:solidFill>
                    <a:srgbClr val="57D9A3"/>
                  </a:solidFill>
                  <a:latin typeface="+mn-lt"/>
                  <a:ea typeface="+mn-ea"/>
                  <a:cs typeface="+mn-cs"/>
                </a:rPr>
                <a:t>&gt; 100×</a:t>
              </a:r>
            </a:p>
          </p:txBody>
        </p:sp>
        <p:sp>
          <p:nvSpPr>
            <p:cNvPr id="16" name="TextBox 16"/>
            <p:cNvSpPr txBox="1"/>
            <p:nvPr/>
          </p:nvSpPr>
          <p:spPr>
            <a:xfrm>
              <a:off x="4755799" y="2889647"/>
              <a:ext cx="1230663" cy="183356"/>
            </a:xfrm>
            <a:prstGeom prst="rect">
              <a:avLst/>
            </a:prstGeom>
            <a:noFill/>
            <a:ln>
              <a:noFill/>
            </a:ln>
          </p:spPr>
          <p:txBody>
            <a:bodyPr wrap="none" lIns="0" tIns="0" rIns="0" bIns="0" anchor="t" anchorCtr="0">
              <a:spAutoFit/>
            </a:bodyPr>
            <a:lstStyle/>
            <a:p>
              <a:pPr algn="r"/>
              <a:r>
                <a:rPr lang="en-US" sz="940" dirty="0">
                  <a:solidFill>
                    <a:schemeClr val="dk2"/>
                  </a:solidFill>
                  <a:latin typeface="+mn-lt"/>
                  <a:ea typeface="+mn-ea"/>
                  <a:cs typeface="+mn-cs"/>
                </a:rPr>
                <a:t>faster convergence</a:t>
              </a:r>
            </a:p>
          </p:txBody>
        </p:sp>
        <p:sp>
          <p:nvSpPr>
            <p:cNvPr id="17" name="Line 17"/>
            <p:cNvSpPr/>
            <p:nvPr/>
          </p:nvSpPr>
          <p:spPr>
            <a:xfrm>
              <a:off x="914400" y="3200400"/>
              <a:ext cx="9525" cy="1428750"/>
            </a:xfrm>
            <a:custGeom>
              <a:avLst/>
              <a:gdLst/>
              <a:ahLst/>
              <a:cxnLst/>
              <a:rect l="l" t="t" r="r" b="b"/>
              <a:pathLst>
                <a:path w="9525" h="1428750">
                  <a:moveTo>
                    <a:pt x="0" y="0"/>
                  </a:moveTo>
                  <a:lnTo>
                    <a:pt x="0" y="1428750"/>
                  </a:lnTo>
                </a:path>
              </a:pathLst>
            </a:custGeom>
            <a:noFill/>
            <a:ln w="11430">
              <a:solidFill>
                <a:srgbClr val="6E85AC"/>
              </a:solidFill>
            </a:ln>
          </p:spPr>
        </p:sp>
        <p:sp>
          <p:nvSpPr>
            <p:cNvPr id="18" name="Line 18"/>
            <p:cNvSpPr/>
            <p:nvPr/>
          </p:nvSpPr>
          <p:spPr>
            <a:xfrm>
              <a:off x="914400" y="4629150"/>
              <a:ext cx="4914900" cy="9525"/>
            </a:xfrm>
            <a:custGeom>
              <a:avLst/>
              <a:gdLst/>
              <a:ahLst/>
              <a:cxnLst/>
              <a:rect l="l" t="t" r="r" b="b"/>
              <a:pathLst>
                <a:path w="4914900" h="9525">
                  <a:moveTo>
                    <a:pt x="0" y="0"/>
                  </a:moveTo>
                  <a:lnTo>
                    <a:pt x="4914900" y="0"/>
                  </a:lnTo>
                </a:path>
              </a:pathLst>
            </a:custGeom>
            <a:noFill/>
            <a:ln w="11430">
              <a:solidFill>
                <a:srgbClr val="6E85AC"/>
              </a:solidFill>
            </a:ln>
          </p:spPr>
        </p:sp>
        <p:sp>
          <p:nvSpPr>
            <p:cNvPr id="19" name="TextBox 19"/>
            <p:cNvSpPr txBox="1"/>
            <p:nvPr/>
          </p:nvSpPr>
          <p:spPr>
            <a:xfrm>
              <a:off x="651910" y="3164443"/>
              <a:ext cx="210102" cy="169069"/>
            </a:xfrm>
            <a:prstGeom prst="rect">
              <a:avLst/>
            </a:prstGeom>
            <a:noFill/>
            <a:ln>
              <a:noFill/>
            </a:ln>
          </p:spPr>
          <p:txBody>
            <a:bodyPr wrap="none" lIns="0" tIns="0" rIns="0" bIns="0" anchor="t" anchorCtr="0">
              <a:spAutoFit/>
            </a:bodyPr>
            <a:lstStyle/>
            <a:p>
              <a:pPr algn="r"/>
              <a:r>
                <a:rPr lang="en-US" sz="860" b="1" dirty="0">
                  <a:solidFill>
                    <a:srgbClr val="6E85AC"/>
                  </a:solidFill>
                  <a:latin typeface="+mn-lt"/>
                  <a:ea typeface="+mn-ea"/>
                  <a:cs typeface="+mn-cs"/>
                </a:rPr>
                <a:t>gap</a:t>
              </a:r>
            </a:p>
          </p:txBody>
        </p:sp>
        <p:sp>
          <p:nvSpPr>
            <p:cNvPr id="20" name="TextBox 20"/>
            <p:cNvSpPr txBox="1"/>
            <p:nvPr/>
          </p:nvSpPr>
          <p:spPr>
            <a:xfrm>
              <a:off x="5563180" y="4707493"/>
              <a:ext cx="270883" cy="169069"/>
            </a:xfrm>
            <a:prstGeom prst="rect">
              <a:avLst/>
            </a:prstGeom>
            <a:noFill/>
            <a:ln>
              <a:noFill/>
            </a:ln>
          </p:spPr>
          <p:txBody>
            <a:bodyPr wrap="none" lIns="0" tIns="0" rIns="0" bIns="0" anchor="t" anchorCtr="0">
              <a:spAutoFit/>
            </a:bodyPr>
            <a:lstStyle/>
            <a:p>
              <a:pPr algn="r"/>
              <a:r>
                <a:rPr lang="en-US" sz="860" b="1" dirty="0">
                  <a:solidFill>
                    <a:srgbClr val="6E85AC"/>
                  </a:solidFill>
                  <a:latin typeface="+mn-lt"/>
                  <a:ea typeface="+mn-ea"/>
                  <a:cs typeface="+mn-cs"/>
                </a:rPr>
                <a:t>time</a:t>
              </a:r>
            </a:p>
          </p:txBody>
        </p:sp>
        <p:sp>
          <p:nvSpPr>
            <p:cNvPr id="21" name="Polyline 21"/>
            <p:cNvSpPr/>
            <p:nvPr/>
          </p:nvSpPr>
          <p:spPr>
            <a:xfrm>
              <a:off x="914400" y="3200400"/>
              <a:ext cx="4914900" cy="1076325"/>
            </a:xfrm>
            <a:custGeom>
              <a:avLst/>
              <a:gdLst/>
              <a:ahLst/>
              <a:cxnLst/>
              <a:rect l="l" t="t" r="r" b="b"/>
              <a:pathLst>
                <a:path w="4914900" h="1076325">
                  <a:moveTo>
                    <a:pt x="0" y="0"/>
                  </a:moveTo>
                  <a:lnTo>
                    <a:pt x="122873" y="49530"/>
                  </a:lnTo>
                  <a:lnTo>
                    <a:pt x="245745" y="96203"/>
                  </a:lnTo>
                  <a:lnTo>
                    <a:pt x="368617" y="142875"/>
                  </a:lnTo>
                  <a:lnTo>
                    <a:pt x="491490" y="186690"/>
                  </a:lnTo>
                  <a:lnTo>
                    <a:pt x="614362" y="229553"/>
                  </a:lnTo>
                  <a:lnTo>
                    <a:pt x="737235" y="270510"/>
                  </a:lnTo>
                  <a:lnTo>
                    <a:pt x="860108" y="310515"/>
                  </a:lnTo>
                  <a:lnTo>
                    <a:pt x="982980" y="348615"/>
                  </a:lnTo>
                  <a:lnTo>
                    <a:pt x="1105852" y="385762"/>
                  </a:lnTo>
                  <a:lnTo>
                    <a:pt x="1228725" y="421958"/>
                  </a:lnTo>
                  <a:lnTo>
                    <a:pt x="1351598" y="456247"/>
                  </a:lnTo>
                  <a:lnTo>
                    <a:pt x="1474470" y="489585"/>
                  </a:lnTo>
                  <a:lnTo>
                    <a:pt x="1597342" y="521970"/>
                  </a:lnTo>
                  <a:lnTo>
                    <a:pt x="1720215" y="553403"/>
                  </a:lnTo>
                  <a:lnTo>
                    <a:pt x="1843088" y="583883"/>
                  </a:lnTo>
                  <a:lnTo>
                    <a:pt x="1965960" y="612458"/>
                  </a:lnTo>
                  <a:lnTo>
                    <a:pt x="2088832" y="641033"/>
                  </a:lnTo>
                  <a:lnTo>
                    <a:pt x="2211705" y="667703"/>
                  </a:lnTo>
                  <a:lnTo>
                    <a:pt x="2334578" y="694372"/>
                  </a:lnTo>
                  <a:lnTo>
                    <a:pt x="2457450" y="719138"/>
                  </a:lnTo>
                  <a:lnTo>
                    <a:pt x="2580322" y="743903"/>
                  </a:lnTo>
                  <a:lnTo>
                    <a:pt x="2703195" y="766762"/>
                  </a:lnTo>
                  <a:lnTo>
                    <a:pt x="2826068" y="789622"/>
                  </a:lnTo>
                  <a:lnTo>
                    <a:pt x="2948940" y="811530"/>
                  </a:lnTo>
                  <a:lnTo>
                    <a:pt x="3071812" y="833438"/>
                  </a:lnTo>
                  <a:lnTo>
                    <a:pt x="3194685" y="853440"/>
                  </a:lnTo>
                  <a:lnTo>
                    <a:pt x="3317558" y="873442"/>
                  </a:lnTo>
                  <a:lnTo>
                    <a:pt x="3440430" y="892492"/>
                  </a:lnTo>
                  <a:lnTo>
                    <a:pt x="3563302" y="910590"/>
                  </a:lnTo>
                  <a:lnTo>
                    <a:pt x="3686175" y="928688"/>
                  </a:lnTo>
                  <a:lnTo>
                    <a:pt x="3809048" y="945833"/>
                  </a:lnTo>
                  <a:lnTo>
                    <a:pt x="3931920" y="962978"/>
                  </a:lnTo>
                  <a:lnTo>
                    <a:pt x="4054793" y="978217"/>
                  </a:lnTo>
                  <a:lnTo>
                    <a:pt x="4177665" y="994410"/>
                  </a:lnTo>
                  <a:lnTo>
                    <a:pt x="4300538" y="1008697"/>
                  </a:lnTo>
                  <a:lnTo>
                    <a:pt x="4423410" y="1023938"/>
                  </a:lnTo>
                  <a:lnTo>
                    <a:pt x="4546282" y="1037272"/>
                  </a:lnTo>
                  <a:lnTo>
                    <a:pt x="4669155" y="1050608"/>
                  </a:lnTo>
                  <a:lnTo>
                    <a:pt x="4792028" y="1063942"/>
                  </a:lnTo>
                  <a:lnTo>
                    <a:pt x="4914900" y="1076325"/>
                  </a:lnTo>
                </a:path>
              </a:pathLst>
            </a:custGeom>
            <a:noFill/>
            <a:ln w="24765">
              <a:solidFill>
                <a:srgbClr val="F2708A"/>
              </a:solidFill>
              <a:custDash>
                <a:ds d="230769" sp="192308"/>
              </a:custDash>
            </a:ln>
          </p:spPr>
        </p:sp>
        <p:sp>
          <p:nvSpPr>
            <p:cNvPr id="22" name="Polyline 22"/>
            <p:cNvSpPr/>
            <p:nvPr/>
          </p:nvSpPr>
          <p:spPr>
            <a:xfrm>
              <a:off x="914400" y="3200400"/>
              <a:ext cx="4914900" cy="1424940"/>
            </a:xfrm>
            <a:custGeom>
              <a:avLst/>
              <a:gdLst/>
              <a:ahLst/>
              <a:cxnLst/>
              <a:rect l="l" t="t" r="r" b="b"/>
              <a:pathLst>
                <a:path w="4914900" h="1424940">
                  <a:moveTo>
                    <a:pt x="0" y="0"/>
                  </a:moveTo>
                  <a:lnTo>
                    <a:pt x="122873" y="199072"/>
                  </a:lnTo>
                  <a:lnTo>
                    <a:pt x="245745" y="370522"/>
                  </a:lnTo>
                  <a:lnTo>
                    <a:pt x="368617" y="518160"/>
                  </a:lnTo>
                  <a:lnTo>
                    <a:pt x="491490" y="644842"/>
                  </a:lnTo>
                  <a:lnTo>
                    <a:pt x="614362" y="753428"/>
                  </a:lnTo>
                  <a:lnTo>
                    <a:pt x="737235" y="847725"/>
                  </a:lnTo>
                  <a:lnTo>
                    <a:pt x="860108" y="928688"/>
                  </a:lnTo>
                  <a:lnTo>
                    <a:pt x="982980" y="998220"/>
                  </a:lnTo>
                  <a:lnTo>
                    <a:pt x="1105852" y="1058228"/>
                  </a:lnTo>
                  <a:lnTo>
                    <a:pt x="1228725" y="1109662"/>
                  </a:lnTo>
                  <a:lnTo>
                    <a:pt x="1351598" y="1154430"/>
                  </a:lnTo>
                  <a:lnTo>
                    <a:pt x="1474470" y="1192530"/>
                  </a:lnTo>
                  <a:lnTo>
                    <a:pt x="1597342" y="1225868"/>
                  </a:lnTo>
                  <a:lnTo>
                    <a:pt x="1720215" y="1253490"/>
                  </a:lnTo>
                  <a:lnTo>
                    <a:pt x="1843088" y="1278255"/>
                  </a:lnTo>
                  <a:lnTo>
                    <a:pt x="1965960" y="1299210"/>
                  </a:lnTo>
                  <a:lnTo>
                    <a:pt x="2088832" y="1317308"/>
                  </a:lnTo>
                  <a:lnTo>
                    <a:pt x="2211705" y="1332547"/>
                  </a:lnTo>
                  <a:lnTo>
                    <a:pt x="2334578" y="1345882"/>
                  </a:lnTo>
                  <a:lnTo>
                    <a:pt x="2457450" y="1357312"/>
                  </a:lnTo>
                  <a:lnTo>
                    <a:pt x="2580322" y="1367790"/>
                  </a:lnTo>
                  <a:lnTo>
                    <a:pt x="2703195" y="1376362"/>
                  </a:lnTo>
                  <a:lnTo>
                    <a:pt x="2826068" y="1383030"/>
                  </a:lnTo>
                  <a:lnTo>
                    <a:pt x="2948940" y="1389697"/>
                  </a:lnTo>
                  <a:lnTo>
                    <a:pt x="3071812" y="1395412"/>
                  </a:lnTo>
                  <a:lnTo>
                    <a:pt x="3194685" y="1400175"/>
                  </a:lnTo>
                  <a:lnTo>
                    <a:pt x="3317558" y="1403985"/>
                  </a:lnTo>
                  <a:lnTo>
                    <a:pt x="3440430" y="1407795"/>
                  </a:lnTo>
                  <a:lnTo>
                    <a:pt x="3563302" y="1410653"/>
                  </a:lnTo>
                  <a:lnTo>
                    <a:pt x="3686175" y="1412558"/>
                  </a:lnTo>
                  <a:lnTo>
                    <a:pt x="3809048" y="1415415"/>
                  </a:lnTo>
                  <a:lnTo>
                    <a:pt x="3931920" y="1417320"/>
                  </a:lnTo>
                  <a:lnTo>
                    <a:pt x="4054793" y="1418272"/>
                  </a:lnTo>
                  <a:lnTo>
                    <a:pt x="4177665" y="1420178"/>
                  </a:lnTo>
                  <a:lnTo>
                    <a:pt x="4300538" y="1421130"/>
                  </a:lnTo>
                  <a:lnTo>
                    <a:pt x="4423410" y="1422082"/>
                  </a:lnTo>
                  <a:lnTo>
                    <a:pt x="4546282" y="1423035"/>
                  </a:lnTo>
                  <a:lnTo>
                    <a:pt x="4669155" y="1423988"/>
                  </a:lnTo>
                  <a:lnTo>
                    <a:pt x="4792028" y="1424940"/>
                  </a:lnTo>
                  <a:lnTo>
                    <a:pt x="4914900" y="1424940"/>
                  </a:lnTo>
                </a:path>
              </a:pathLst>
            </a:custGeom>
            <a:noFill/>
            <a:ln w="24765">
              <a:solidFill>
                <a:srgbClr val="57D9A3"/>
              </a:solidFill>
            </a:ln>
          </p:spPr>
        </p:sp>
        <p:sp>
          <p:nvSpPr>
            <p:cNvPr id="23" name="TextBox 23"/>
            <p:cNvSpPr txBox="1"/>
            <p:nvPr/>
          </p:nvSpPr>
          <p:spPr>
            <a:xfrm>
              <a:off x="5016672" y="4451747"/>
              <a:ext cx="760240" cy="183356"/>
            </a:xfrm>
            <a:prstGeom prst="rect">
              <a:avLst/>
            </a:prstGeom>
            <a:noFill/>
            <a:ln>
              <a:noFill/>
            </a:ln>
          </p:spPr>
          <p:txBody>
            <a:bodyPr wrap="none" lIns="0" tIns="0" rIns="0" bIns="0" anchor="t" anchorCtr="0">
              <a:spAutoFit/>
            </a:bodyPr>
            <a:lstStyle/>
            <a:p>
              <a:pPr algn="r"/>
              <a:r>
                <a:rPr lang="en-US" sz="940" b="1" dirty="0">
                  <a:solidFill>
                    <a:srgbClr val="57D9A3"/>
                  </a:solidFill>
                  <a:latin typeface="+mn-lt"/>
                  <a:ea typeface="+mn-ea"/>
                  <a:cs typeface="+mn-cs"/>
                </a:rPr>
                <a:t>warm start</a:t>
              </a:r>
            </a:p>
          </p:txBody>
        </p:sp>
        <p:sp>
          <p:nvSpPr>
            <p:cNvPr id="24" name="TextBox 24"/>
            <p:cNvSpPr txBox="1"/>
            <p:nvPr/>
          </p:nvSpPr>
          <p:spPr>
            <a:xfrm>
              <a:off x="5103038" y="3499247"/>
              <a:ext cx="673875" cy="183356"/>
            </a:xfrm>
            <a:prstGeom prst="rect">
              <a:avLst/>
            </a:prstGeom>
            <a:noFill/>
            <a:ln>
              <a:noFill/>
            </a:ln>
          </p:spPr>
          <p:txBody>
            <a:bodyPr wrap="none" lIns="0" tIns="0" rIns="0" bIns="0" anchor="t" anchorCtr="0">
              <a:spAutoFit/>
            </a:bodyPr>
            <a:lstStyle/>
            <a:p>
              <a:pPr algn="r"/>
              <a:r>
                <a:rPr lang="en-US" sz="940" b="1" dirty="0">
                  <a:solidFill>
                    <a:srgbClr val="F2708A"/>
                  </a:solidFill>
                  <a:latin typeface="+mn-lt"/>
                  <a:ea typeface="+mn-ea"/>
                  <a:cs typeface="+mn-cs"/>
                </a:rPr>
                <a:t>cold start</a:t>
              </a:r>
            </a:p>
          </p:txBody>
        </p:sp>
        <p:sp>
          <p:nvSpPr>
            <p:cNvPr id="25" name="TextBox 25"/>
            <p:cNvSpPr txBox="1"/>
            <p:nvPr/>
          </p:nvSpPr>
          <p:spPr>
            <a:xfrm>
              <a:off x="756856" y="4881801"/>
              <a:ext cx="4031680"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USBS realizes the warm-start benefit; CGAL usually cannot.</a:t>
              </a:r>
            </a:p>
          </p:txBody>
        </p:sp>
      </p:grpSp>
      <p:grpSp>
        <p:nvGrpSpPr>
          <p:cNvPr id="32" name="Group 32"/>
          <p:cNvGrpSpPr/>
          <p:nvPr/>
        </p:nvGrpSpPr>
        <p:grpSpPr>
          <a:xfrm>
            <a:off x="6438900" y="2286000"/>
            <a:ext cx="5219700" cy="1314450"/>
            <a:chOff x="6438900" y="2286000"/>
            <a:chExt cx="5219700" cy="1314450"/>
          </a:xfrm>
        </p:grpSpPr>
        <p:sp>
          <p:nvSpPr>
            <p:cNvPr id="27" name="Rectangle 27"/>
            <p:cNvSpPr/>
            <p:nvPr/>
          </p:nvSpPr>
          <p:spPr>
            <a:xfrm>
              <a:off x="6438900" y="2286000"/>
              <a:ext cx="5219700" cy="1314450"/>
            </a:xfrm>
            <a:prstGeom prst="roundRect">
              <a:avLst>
                <a:gd name="adj" fmla="val 10145"/>
              </a:avLst>
            </a:prstGeom>
            <a:solidFill>
              <a:schemeClr val="accent6"/>
            </a:solidFill>
            <a:ln w="12382">
              <a:solidFill>
                <a:schemeClr val="accent2"/>
              </a:solidFill>
            </a:ln>
          </p:spPr>
        </p:sp>
        <p:sp>
          <p:nvSpPr>
            <p:cNvPr id="28" name="TextBox 28"/>
            <p:cNvSpPr txBox="1"/>
            <p:nvPr/>
          </p:nvSpPr>
          <p:spPr>
            <a:xfrm>
              <a:off x="6642354" y="2518410"/>
              <a:ext cx="2123976" cy="234696"/>
            </a:xfrm>
            <a:prstGeom prst="rect">
              <a:avLst/>
            </a:prstGeom>
            <a:noFill/>
            <a:ln>
              <a:noFill/>
            </a:ln>
          </p:spPr>
          <p:txBody>
            <a:bodyPr wrap="none" lIns="0" tIns="0" rIns="0" bIns="0" anchor="t" anchorCtr="0">
              <a:spAutoFit/>
            </a:bodyPr>
            <a:lstStyle/>
            <a:p>
              <a:pPr algn="l"/>
              <a:r>
                <a:rPr lang="en-US" sz="1200" b="1" dirty="0">
                  <a:solidFill>
                    <a:schemeClr val="accent2"/>
                  </a:solidFill>
                  <a:latin typeface="Consolas"/>
                  <a:ea typeface="Consolas"/>
                  <a:cs typeface="Consolas"/>
                </a:rPr>
                <a:t>k_c current eigenvectors</a:t>
              </a:r>
            </a:p>
          </p:txBody>
        </p:sp>
        <p:sp>
          <p:nvSpPr>
            <p:cNvPr id="29" name="TextBox 29"/>
            <p:cNvSpPr txBox="1"/>
            <p:nvPr/>
          </p:nvSpPr>
          <p:spPr>
            <a:xfrm>
              <a:off x="6643116" y="2801302"/>
              <a:ext cx="2333684"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Matters a lot — larger values give</a:t>
              </a:r>
            </a:p>
          </p:txBody>
        </p:sp>
        <p:sp>
          <p:nvSpPr>
            <p:cNvPr id="30" name="TextBox 30"/>
            <p:cNvSpPr txBox="1"/>
            <p:nvPr/>
          </p:nvSpPr>
          <p:spPr>
            <a:xfrm>
              <a:off x="6643116" y="3001328"/>
              <a:ext cx="1452448"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better convergence.</a:t>
              </a:r>
            </a:p>
          </p:txBody>
        </p:sp>
        <p:sp>
          <p:nvSpPr>
            <p:cNvPr id="31" name="TextBox 31"/>
            <p:cNvSpPr txBox="1"/>
            <p:nvPr/>
          </p:nvSpPr>
          <p:spPr>
            <a:xfrm>
              <a:off x="6643688" y="3327797"/>
              <a:ext cx="2301531" cy="183356"/>
            </a:xfrm>
            <a:prstGeom prst="rect">
              <a:avLst/>
            </a:prstGeom>
            <a:noFill/>
            <a:ln>
              <a:noFill/>
            </a:ln>
          </p:spPr>
          <p:txBody>
            <a:bodyPr wrap="none" lIns="0" tIns="0" rIns="0" bIns="0" anchor="t" anchorCtr="0">
              <a:spAutoFit/>
            </a:bodyPr>
            <a:lstStyle/>
            <a:p>
              <a:pPr algn="l"/>
              <a:r>
                <a:rPr lang="en-US" sz="940" b="1" dirty="0">
                  <a:solidFill>
                    <a:srgbClr val="6E85AC"/>
                  </a:solidFill>
                  <a:latin typeface="Consolas"/>
                  <a:ea typeface="Consolas"/>
                  <a:cs typeface="Consolas"/>
                </a:rPr>
                <a:t>vs. original method fixed at k_c = 1</a:t>
              </a:r>
            </a:p>
          </p:txBody>
        </p:sp>
      </p:grpSp>
      <p:grpSp>
        <p:nvGrpSpPr>
          <p:cNvPr id="39" name="Group 39"/>
          <p:cNvGrpSpPr/>
          <p:nvPr/>
        </p:nvGrpSpPr>
        <p:grpSpPr>
          <a:xfrm>
            <a:off x="6438900" y="3790950"/>
            <a:ext cx="5219700" cy="1352550"/>
            <a:chOff x="6438900" y="3790950"/>
            <a:chExt cx="5219700" cy="1352550"/>
          </a:xfrm>
        </p:grpSpPr>
        <p:sp>
          <p:nvSpPr>
            <p:cNvPr id="33" name="Rectangle 33"/>
            <p:cNvSpPr/>
            <p:nvPr/>
          </p:nvSpPr>
          <p:spPr>
            <a:xfrm>
              <a:off x="6438900" y="3790950"/>
              <a:ext cx="5219700" cy="1352550"/>
            </a:xfrm>
            <a:prstGeom prst="roundRect">
              <a:avLst>
                <a:gd name="adj" fmla="val 9859"/>
              </a:avLst>
            </a:prstGeom>
            <a:solidFill>
              <a:schemeClr val="accent5"/>
            </a:solidFill>
            <a:ln w="11430">
              <a:solidFill>
                <a:schemeClr val="accent4"/>
              </a:solidFill>
            </a:ln>
          </p:spPr>
        </p:sp>
        <p:sp>
          <p:nvSpPr>
            <p:cNvPr id="34" name="TextBox 34"/>
            <p:cNvSpPr txBox="1"/>
            <p:nvPr/>
          </p:nvSpPr>
          <p:spPr>
            <a:xfrm>
              <a:off x="6642354" y="4023360"/>
              <a:ext cx="2174862" cy="234696"/>
            </a:xfrm>
            <a:prstGeom prst="rect">
              <a:avLst/>
            </a:prstGeom>
            <a:noFill/>
            <a:ln>
              <a:noFill/>
            </a:ln>
          </p:spPr>
          <p:txBody>
            <a:bodyPr wrap="none" lIns="0" tIns="0" rIns="0" bIns="0" anchor="t" anchorCtr="0">
              <a:spAutoFit/>
            </a:bodyPr>
            <a:lstStyle/>
            <a:p>
              <a:pPr algn="l"/>
              <a:r>
                <a:rPr lang="en-US" sz="1200" b="1" dirty="0">
                  <a:solidFill>
                    <a:srgbClr val="F7B84B"/>
                  </a:solidFill>
                  <a:latin typeface="Consolas"/>
                  <a:ea typeface="Consolas"/>
                  <a:cs typeface="Consolas"/>
                </a:rPr>
                <a:t>k_p past spectral vectors</a:t>
              </a:r>
            </a:p>
          </p:txBody>
        </p:sp>
        <p:sp>
          <p:nvSpPr>
            <p:cNvPr id="35" name="TextBox 35"/>
            <p:cNvSpPr txBox="1"/>
            <p:nvPr/>
          </p:nvSpPr>
          <p:spPr>
            <a:xfrm>
              <a:off x="6643116" y="4306252"/>
              <a:ext cx="2567033"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Much less helpful — and can even hurt</a:t>
              </a:r>
            </a:p>
          </p:txBody>
        </p:sp>
        <p:sp>
          <p:nvSpPr>
            <p:cNvPr id="36" name="TextBox 36"/>
            <p:cNvSpPr txBox="1"/>
            <p:nvPr/>
          </p:nvSpPr>
          <p:spPr>
            <a:xfrm>
              <a:off x="6643116" y="4506278"/>
              <a:ext cx="943585"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convergence.</a:t>
              </a:r>
            </a:p>
          </p:txBody>
        </p:sp>
        <p:sp>
          <p:nvSpPr>
            <p:cNvPr id="37" name="Rectangle 37"/>
            <p:cNvSpPr/>
            <p:nvPr/>
          </p:nvSpPr>
          <p:spPr>
            <a:xfrm>
              <a:off x="6648450" y="4705350"/>
              <a:ext cx="4800600" cy="304800"/>
            </a:xfrm>
            <a:prstGeom prst="roundRect">
              <a:avLst>
                <a:gd name="adj" fmla="val 25000"/>
              </a:avLst>
            </a:prstGeom>
            <a:solidFill>
              <a:schemeClr val="lt2"/>
            </a:solidFill>
            <a:ln>
              <a:noFill/>
            </a:ln>
          </p:spPr>
        </p:sp>
        <p:sp>
          <p:nvSpPr>
            <p:cNvPr id="38" name="TextBox 38"/>
            <p:cNvSpPr txBox="1"/>
            <p:nvPr/>
          </p:nvSpPr>
          <p:spPr>
            <a:xfrm>
              <a:off x="6757797" y="4800124"/>
              <a:ext cx="2364814" cy="190690"/>
            </a:xfrm>
            <a:prstGeom prst="rect">
              <a:avLst/>
            </a:prstGeom>
            <a:noFill/>
            <a:ln>
              <a:noFill/>
            </a:ln>
          </p:spPr>
          <p:txBody>
            <a:bodyPr wrap="none" lIns="0" tIns="0" rIns="0" bIns="0" anchor="t" anchorCtr="0">
              <a:spAutoFit/>
            </a:bodyPr>
            <a:lstStyle/>
            <a:p>
              <a:pPr algn="l"/>
              <a:r>
                <a:rPr lang="en-US" sz="980" b="1" dirty="0">
                  <a:solidFill>
                    <a:schemeClr val="dk1"/>
                  </a:solidFill>
                  <a:latin typeface="Consolas"/>
                  <a:ea typeface="Consolas"/>
                  <a:cs typeface="Consolas"/>
                </a:rPr>
                <a:t>recommended: large k_c, small k_p</a:t>
              </a:r>
            </a:p>
          </p:txBody>
        </p:sp>
      </p:grpSp>
      <p:sp>
        <p:nvSpPr>
          <p:cNvPr id="40" name="cue_s08_c1_two_ablations_especially_informative" title="cue_s08_c1_two_ablations_especially_informative" descr="cue_s08_c1_two_ablations_especially_informative Two ablations are especially informative."/>
          <p:cNvSpPr/>
          <p:nvPr/>
        </p:nvSpPr>
        <p:spPr>
          <a:xfrm>
            <a:off x="532790" y="1523847"/>
            <a:ext cx="11125200" cy="55275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cue_s08_c2_first_warm_starting_usbs_initializin" title="cue_s08_c2_first_warm_starting_usbs_initializin" descr="cue_s08_c2_first_warm_starting_usbs_initializin First, warm-starting: for USBS, initializing from the previous solution can speed up convergence by more than one hundred times compared with cold-starting, and, importantly, USBS actually realizes this benefit while CGAL usually cannot."/>
          <p:cNvSpPr/>
          <p:nvPr/>
        </p:nvSpPr>
        <p:spPr>
          <a:xfrm>
            <a:off x="532790" y="2285771"/>
            <a:ext cx="5676595" cy="28577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cue_s08_c3_second_parameters_number_current_eig" title="cue_s08_c3_second_parameters_number_current_eig" descr="cue_s08_c3_second_parameters_number_current_eig Second, the model parameters: the number of current eigenvectors, kc, matters a lot, and larger values give better convergence in general. This contrasts with the original spectral bundle method, which fixed kc to one."/>
          <p:cNvSpPr/>
          <p:nvPr/>
        </p:nvSpPr>
        <p:spPr>
          <a:xfrm>
            <a:off x="6438595" y="2285771"/>
            <a:ext cx="5219395" cy="131467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cue_s08_c4_number_past_spectral_vectors_turns" title="cue_s08_c4_number_past_spectral_vectors_turns" descr="cue_s08_c4_number_past_spectral_vectors_turns The number of past spectral vectors, kp, turns out to be much less helpful and can sometimes even harm convergence, so the recommended settings keep kc large and kp small."/>
          <p:cNvSpPr/>
          <p:nvPr/>
        </p:nvSpPr>
        <p:spPr>
          <a:xfrm>
            <a:off x="6438595" y="3791102"/>
            <a:ext cx="5219395" cy="13523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chemeClr val="lt2">
                  <a:alpha val="90000"/>
                </a:schemeClr>
              </a:gs>
              <a:gs pos="60000">
                <a:schemeClr val="lt1">
                  <a:alpha val="0"/>
                </a:schemeClr>
              </a:gs>
            </a:gsLst>
            <a:path path="circle">
              <a:fillToRect l="50000" t="50000" r="50000" b="50000"/>
            </a:path>
          </a:gradFill>
          <a:ln>
            <a:noFill/>
          </a:ln>
        </p:spPr>
        <p:txBody>
          <a:bodyPr/>
          <a:p/>
        </p:txBody>
      </p:sp>
      <p:sp>
        <p:nvSpPr>
          <p:cNvPr id="3" name="Rectangle 3"/>
          <p:cNvSpPr/>
          <p:nvPr/>
        </p:nvSpPr>
        <p:spPr>
          <a:xfrm>
            <a:off x="533400" y="476250"/>
            <a:ext cx="57150" cy="209550"/>
          </a:xfrm>
          <a:prstGeom prst="roundRect">
            <a:avLst>
              <a:gd name="adj" fmla="val 41667"/>
            </a:avLst>
          </a:prstGeom>
          <a:solidFill>
            <a:schemeClr val="accent2"/>
          </a:solidFill>
          <a:ln>
            <a:noFill/>
          </a:ln>
        </p:spPr>
        <p:txBody>
          <a:bodyPr/>
          <a:p/>
        </p:txBody>
      </p:sp>
      <p:sp>
        <p:nvSpPr>
          <p:cNvPr id="4" name="TextBox 4"/>
          <p:cNvSpPr txBox="1"/>
          <p:nvPr/>
        </p:nvSpPr>
        <p:spPr>
          <a:xfrm>
            <a:off x="699135" y="526256"/>
            <a:ext cx="1665311" cy="220028"/>
          </a:xfrm>
          <a:prstGeom prst="rect">
            <a:avLst/>
          </a:prstGeom>
          <a:noFill/>
          <a:ln>
            <a:noFill/>
          </a:ln>
        </p:spPr>
        <p:txBody>
          <a:bodyPr wrap="none" lIns="0" tIns="0" rIns="0" bIns="0" anchor="t" anchorCtr="0">
            <a:spAutoFit/>
          </a:bodyPr>
          <a:lstStyle/>
          <a:p>
            <a:pPr algn="l"/>
            <a:r>
              <a:rPr lang="en-US" sz="1120" b="1" spc="225" dirty="0">
                <a:solidFill>
                  <a:schemeClr val="accent2"/>
                </a:solidFill>
                <a:latin typeface="+mn-lt"/>
                <a:ea typeface="+mn-ea"/>
                <a:cs typeface="+mn-cs"/>
              </a:rPr>
              <a:t>BY THE NUMBERS</a:t>
            </a:r>
          </a:p>
        </p:txBody>
      </p:sp>
      <p:sp>
        <p:nvSpPr>
          <p:cNvPr id="5" name="TextBox 5"/>
          <p:cNvSpPr txBox="1"/>
          <p:nvPr/>
        </p:nvSpPr>
        <p:spPr>
          <a:xfrm>
            <a:off x="518160" y="781050"/>
            <a:ext cx="6215003" cy="586740"/>
          </a:xfrm>
          <a:prstGeom prst="rect">
            <a:avLst/>
          </a:prstGeom>
          <a:noFill/>
          <a:ln>
            <a:noFill/>
          </a:ln>
        </p:spPr>
        <p:txBody>
          <a:bodyPr wrap="none" lIns="0" tIns="0" rIns="0" bIns="0" anchor="t" anchorCtr="0">
            <a:spAutoFit/>
          </a:bodyPr>
          <a:lstStyle/>
          <a:p>
            <a:pPr algn="l"/>
            <a:r>
              <a:rPr lang="en-US" sz="3000" b="1" dirty="0">
                <a:solidFill>
                  <a:schemeClr val="dk1"/>
                </a:solidFill>
                <a:latin typeface="+mn-lt"/>
                <a:ea typeface="+mn-ea"/>
                <a:cs typeface="+mn-cs"/>
              </a:rPr>
              <a:t>The results that matter most</a:t>
            </a:r>
          </a:p>
        </p:txBody>
      </p:sp>
      <p:sp>
        <p:nvSpPr>
          <p:cNvPr id="6" name="TextBox 6"/>
          <p:cNvSpPr txBox="1"/>
          <p:nvPr/>
        </p:nvSpPr>
        <p:spPr>
          <a:xfrm>
            <a:off x="11095485" y="534352"/>
            <a:ext cx="568449" cy="205359"/>
          </a:xfrm>
          <a:prstGeom prst="rect">
            <a:avLst/>
          </a:prstGeom>
          <a:noFill/>
          <a:ln>
            <a:noFill/>
          </a:ln>
        </p:spPr>
        <p:txBody>
          <a:bodyPr wrap="none" lIns="0" tIns="0" rIns="0" bIns="0" anchor="t" anchorCtr="0">
            <a:spAutoFit/>
          </a:bodyPr>
          <a:lstStyle/>
          <a:p>
            <a:pPr algn="r"/>
            <a:r>
              <a:rPr lang="en-US" sz="1050" b="1" spc="75" dirty="0">
                <a:solidFill>
                  <a:srgbClr val="6E85AC"/>
                </a:solidFill>
                <a:latin typeface="Consolas"/>
                <a:ea typeface="Consolas"/>
                <a:cs typeface="Consolas"/>
              </a:rPr>
              <a:t>09 / 10</a:t>
            </a:r>
          </a:p>
        </p:txBody>
      </p:sp>
      <p:sp>
        <p:nvSpPr>
          <p:cNvPr id="7" name="Line 7"/>
          <p:cNvSpPr/>
          <p:nvPr/>
        </p:nvSpPr>
        <p:spPr>
          <a:xfrm>
            <a:off x="533400" y="1314450"/>
            <a:ext cx="11125200" cy="9525"/>
          </a:xfrm>
          <a:custGeom>
            <a:avLst/>
            <a:gdLst/>
            <a:ahLst/>
            <a:cxnLst/>
            <a:rect l="l" t="t" r="r" b="b"/>
            <a:pathLst>
              <a:path w="11125200" h="9525">
                <a:moveTo>
                  <a:pt x="0" y="0"/>
                </a:moveTo>
                <a:lnTo>
                  <a:pt x="11125200" y="0"/>
                </a:lnTo>
              </a:path>
            </a:pathLst>
          </a:custGeom>
          <a:noFill/>
          <a:ln w="11430">
            <a:solidFill>
              <a:schemeClr val="accent4"/>
            </a:solidFill>
          </a:ln>
        </p:spPr>
        <p:txBody>
          <a:bodyPr/>
          <a:p/>
        </p:txBody>
      </p:sp>
      <p:grpSp>
        <p:nvGrpSpPr>
          <p:cNvPr id="23" name="Group 23"/>
          <p:cNvGrpSpPr/>
          <p:nvPr/>
        </p:nvGrpSpPr>
        <p:grpSpPr>
          <a:xfrm>
            <a:off x="533400" y="1524000"/>
            <a:ext cx="11125200" cy="1790700"/>
            <a:chOff x="533400" y="1524000"/>
            <a:chExt cx="11125200" cy="1790700"/>
          </a:xfrm>
        </p:grpSpPr>
        <p:sp>
          <p:nvSpPr>
            <p:cNvPr id="8" name="Rectangle 8"/>
            <p:cNvSpPr/>
            <p:nvPr/>
          </p:nvSpPr>
          <p:spPr>
            <a:xfrm>
              <a:off x="533400" y="1524000"/>
              <a:ext cx="3556000" cy="1790700"/>
            </a:xfrm>
            <a:prstGeom prst="roundRect">
              <a:avLst>
                <a:gd name="adj" fmla="val 7447"/>
              </a:avLst>
            </a:prstGeom>
            <a:solidFill>
              <a:schemeClr val="accent5"/>
            </a:solidFill>
            <a:ln w="11430">
              <a:solidFill>
                <a:schemeClr val="accent4"/>
              </a:solidFill>
            </a:ln>
          </p:spPr>
        </p:sp>
        <p:sp>
          <p:nvSpPr>
            <p:cNvPr id="9" name="Rectangle 9"/>
            <p:cNvSpPr/>
            <p:nvPr/>
          </p:nvSpPr>
          <p:spPr>
            <a:xfrm>
              <a:off x="762000" y="1771650"/>
              <a:ext cx="47625" cy="247650"/>
            </a:xfrm>
            <a:prstGeom prst="roundRect">
              <a:avLst>
                <a:gd name="adj" fmla="val 50000"/>
              </a:avLst>
            </a:prstGeom>
            <a:solidFill>
              <a:srgbClr val="F7B84B"/>
            </a:solidFill>
            <a:ln>
              <a:noFill/>
            </a:ln>
          </p:spPr>
        </p:sp>
        <p:sp>
          <p:nvSpPr>
            <p:cNvPr id="10" name="TextBox 10"/>
            <p:cNvSpPr txBox="1"/>
            <p:nvPr/>
          </p:nvSpPr>
          <p:spPr>
            <a:xfrm>
              <a:off x="1639308" y="2099310"/>
              <a:ext cx="1344183" cy="819150"/>
            </a:xfrm>
            <a:prstGeom prst="rect">
              <a:avLst/>
            </a:prstGeom>
            <a:noFill/>
            <a:ln>
              <a:noFill/>
            </a:ln>
          </p:spPr>
          <p:txBody>
            <a:bodyPr wrap="none" lIns="0" tIns="0" rIns="0" bIns="0" anchor="t" anchorCtr="0">
              <a:spAutoFit/>
            </a:bodyPr>
            <a:lstStyle/>
            <a:p>
              <a:pPr algn="ctr"/>
              <a:r>
                <a:rPr lang="en-US" sz="4200" b="1" dirty="0">
                  <a:solidFill>
                    <a:srgbClr val="F7B84B"/>
                  </a:solidFill>
                  <a:latin typeface="+mn-lt"/>
                  <a:ea typeface="+mn-ea"/>
                  <a:cs typeface="+mn-cs"/>
                </a:rPr>
                <a:t>500×</a:t>
              </a:r>
            </a:p>
          </p:txBody>
        </p:sp>
        <p:sp>
          <p:nvSpPr>
            <p:cNvPr id="11" name="TextBox 11"/>
            <p:cNvSpPr txBox="1"/>
            <p:nvPr/>
          </p:nvSpPr>
          <p:spPr>
            <a:xfrm>
              <a:off x="1543401" y="2747010"/>
              <a:ext cx="1535998" cy="234696"/>
            </a:xfrm>
            <a:prstGeom prst="rect">
              <a:avLst/>
            </a:prstGeom>
            <a:noFill/>
            <a:ln>
              <a:noFill/>
            </a:ln>
          </p:spPr>
          <p:txBody>
            <a:bodyPr wrap="none" lIns="0" tIns="0" rIns="0" bIns="0" anchor="t" anchorCtr="0">
              <a:spAutoFit/>
            </a:bodyPr>
            <a:lstStyle/>
            <a:p>
              <a:pPr algn="ctr"/>
              <a:r>
                <a:rPr lang="en-US" sz="1200" b="1" dirty="0">
                  <a:solidFill>
                    <a:schemeClr val="dk1"/>
                  </a:solidFill>
                  <a:latin typeface="+mn-lt"/>
                  <a:ea typeface="+mn-ea"/>
                  <a:cs typeface="+mn-cs"/>
                </a:rPr>
                <a:t>speedup over CGAL</a:t>
              </a:r>
            </a:p>
          </p:txBody>
        </p:sp>
        <p:sp>
          <p:nvSpPr>
            <p:cNvPr id="12" name="TextBox 12"/>
            <p:cNvSpPr txBox="1"/>
            <p:nvPr/>
          </p:nvSpPr>
          <p:spPr>
            <a:xfrm>
              <a:off x="1106578" y="3003947"/>
              <a:ext cx="2409645" cy="183356"/>
            </a:xfrm>
            <a:prstGeom prst="rect">
              <a:avLst/>
            </a:prstGeom>
            <a:noFill/>
            <a:ln>
              <a:noFill/>
            </a:ln>
          </p:spPr>
          <p:txBody>
            <a:bodyPr wrap="none" lIns="0" tIns="0" rIns="0" bIns="0" anchor="t" anchorCtr="0">
              <a:spAutoFit/>
            </a:bodyPr>
            <a:lstStyle/>
            <a:p>
              <a:pPr algn="ctr"/>
              <a:r>
                <a:rPr lang="en-US" sz="940" dirty="0">
                  <a:solidFill>
                    <a:schemeClr val="dk2"/>
                  </a:solidFill>
                  <a:latin typeface="+mn-lt"/>
                  <a:ea typeface="+mn-ea"/>
                  <a:cs typeface="+mn-cs"/>
                </a:rPr>
                <a:t>on a 2-billion-variable MaxCut instance</a:t>
              </a:r>
            </a:p>
          </p:txBody>
        </p:sp>
        <p:sp>
          <p:nvSpPr>
            <p:cNvPr id="13" name="Rectangle 13"/>
            <p:cNvSpPr/>
            <p:nvPr/>
          </p:nvSpPr>
          <p:spPr>
            <a:xfrm>
              <a:off x="4318000" y="1524000"/>
              <a:ext cx="3556000" cy="1790700"/>
            </a:xfrm>
            <a:prstGeom prst="roundRect">
              <a:avLst>
                <a:gd name="adj" fmla="val 7447"/>
              </a:avLst>
            </a:prstGeom>
            <a:solidFill>
              <a:schemeClr val="accent5"/>
            </a:solidFill>
            <a:ln w="11430">
              <a:solidFill>
                <a:schemeClr val="accent4"/>
              </a:solidFill>
            </a:ln>
          </p:spPr>
        </p:sp>
        <p:sp>
          <p:nvSpPr>
            <p:cNvPr id="14" name="Rectangle 14"/>
            <p:cNvSpPr/>
            <p:nvPr/>
          </p:nvSpPr>
          <p:spPr>
            <a:xfrm>
              <a:off x="4546600" y="1771650"/>
              <a:ext cx="47625" cy="247650"/>
            </a:xfrm>
            <a:prstGeom prst="roundRect">
              <a:avLst>
                <a:gd name="adj" fmla="val 50000"/>
              </a:avLst>
            </a:prstGeom>
            <a:solidFill>
              <a:srgbClr val="57D9A3"/>
            </a:solidFill>
            <a:ln>
              <a:noFill/>
            </a:ln>
          </p:spPr>
        </p:sp>
        <p:sp>
          <p:nvSpPr>
            <p:cNvPr id="15" name="TextBox 15"/>
            <p:cNvSpPr txBox="1"/>
            <p:nvPr/>
          </p:nvSpPr>
          <p:spPr>
            <a:xfrm>
              <a:off x="5171597" y="2099310"/>
              <a:ext cx="1848806" cy="819150"/>
            </a:xfrm>
            <a:prstGeom prst="rect">
              <a:avLst/>
            </a:prstGeom>
            <a:noFill/>
            <a:ln>
              <a:noFill/>
            </a:ln>
          </p:spPr>
          <p:txBody>
            <a:bodyPr wrap="none" lIns="0" tIns="0" rIns="0" bIns="0" anchor="t" anchorCtr="0">
              <a:spAutoFit/>
            </a:bodyPr>
            <a:lstStyle/>
            <a:p>
              <a:pPr algn="ctr"/>
              <a:r>
                <a:rPr lang="en-US" sz="4200" b="1" dirty="0">
                  <a:solidFill>
                    <a:srgbClr val="57D9A3"/>
                  </a:solidFill>
                  <a:latin typeface="+mn-lt"/>
                  <a:ea typeface="+mn-ea"/>
                  <a:cs typeface="+mn-cs"/>
                </a:rPr>
                <a:t>&gt; 100×</a:t>
              </a:r>
            </a:p>
          </p:txBody>
        </p:sp>
        <p:sp>
          <p:nvSpPr>
            <p:cNvPr id="16" name="TextBox 16"/>
            <p:cNvSpPr txBox="1"/>
            <p:nvPr/>
          </p:nvSpPr>
          <p:spPr>
            <a:xfrm>
              <a:off x="5237557" y="2747010"/>
              <a:ext cx="1716885" cy="234696"/>
            </a:xfrm>
            <a:prstGeom prst="rect">
              <a:avLst/>
            </a:prstGeom>
            <a:noFill/>
            <a:ln>
              <a:noFill/>
            </a:ln>
          </p:spPr>
          <p:txBody>
            <a:bodyPr wrap="none" lIns="0" tIns="0" rIns="0" bIns="0" anchor="t" anchorCtr="0">
              <a:spAutoFit/>
            </a:bodyPr>
            <a:lstStyle/>
            <a:p>
              <a:pPr algn="ctr"/>
              <a:r>
                <a:rPr lang="en-US" sz="1200" b="1" dirty="0">
                  <a:solidFill>
                    <a:schemeClr val="dk1"/>
                  </a:solidFill>
                  <a:latin typeface="+mn-lt"/>
                  <a:ea typeface="+mn-ea"/>
                  <a:cs typeface="+mn-cs"/>
                </a:rPr>
                <a:t>warm-start speedup</a:t>
              </a:r>
            </a:p>
          </p:txBody>
        </p:sp>
        <p:sp>
          <p:nvSpPr>
            <p:cNvPr id="17" name="TextBox 17"/>
            <p:cNvSpPr txBox="1"/>
            <p:nvPr/>
          </p:nvSpPr>
          <p:spPr>
            <a:xfrm>
              <a:off x="5380091" y="3003947"/>
              <a:ext cx="1431818" cy="183356"/>
            </a:xfrm>
            <a:prstGeom prst="rect">
              <a:avLst/>
            </a:prstGeom>
            <a:noFill/>
            <a:ln>
              <a:noFill/>
            </a:ln>
          </p:spPr>
          <p:txBody>
            <a:bodyPr wrap="none" lIns="0" tIns="0" rIns="0" bIns="0" anchor="t" anchorCtr="0">
              <a:spAutoFit/>
            </a:bodyPr>
            <a:lstStyle/>
            <a:p>
              <a:pPr algn="ctr"/>
              <a:r>
                <a:rPr lang="en-US" sz="940" dirty="0">
                  <a:solidFill>
                    <a:schemeClr val="dk2"/>
                  </a:solidFill>
                  <a:latin typeface="+mn-lt"/>
                  <a:ea typeface="+mn-ea"/>
                  <a:cs typeface="+mn-cs"/>
                </a:rPr>
                <a:t>vs. cold-starting USBS</a:t>
              </a:r>
            </a:p>
          </p:txBody>
        </p:sp>
        <p:sp>
          <p:nvSpPr>
            <p:cNvPr id="18" name="Rectangle 18"/>
            <p:cNvSpPr/>
            <p:nvPr/>
          </p:nvSpPr>
          <p:spPr>
            <a:xfrm>
              <a:off x="8102600" y="1524000"/>
              <a:ext cx="3556000" cy="1790700"/>
            </a:xfrm>
            <a:prstGeom prst="roundRect">
              <a:avLst>
                <a:gd name="adj" fmla="val 7447"/>
              </a:avLst>
            </a:prstGeom>
            <a:solidFill>
              <a:schemeClr val="accent5"/>
            </a:solidFill>
            <a:ln w="11430">
              <a:solidFill>
                <a:schemeClr val="accent4"/>
              </a:solidFill>
            </a:ln>
          </p:spPr>
        </p:sp>
        <p:sp>
          <p:nvSpPr>
            <p:cNvPr id="19" name="Rectangle 19"/>
            <p:cNvSpPr/>
            <p:nvPr/>
          </p:nvSpPr>
          <p:spPr>
            <a:xfrm>
              <a:off x="8331200" y="1771650"/>
              <a:ext cx="47625" cy="247650"/>
            </a:xfrm>
            <a:prstGeom prst="roundRect">
              <a:avLst>
                <a:gd name="adj" fmla="val 50000"/>
              </a:avLst>
            </a:prstGeom>
            <a:solidFill>
              <a:schemeClr val="accent2"/>
            </a:solidFill>
            <a:ln>
              <a:noFill/>
            </a:ln>
          </p:spPr>
        </p:sp>
        <p:sp>
          <p:nvSpPr>
            <p:cNvPr id="20" name="TextBox 20"/>
            <p:cNvSpPr txBox="1"/>
            <p:nvPr/>
          </p:nvSpPr>
          <p:spPr>
            <a:xfrm>
              <a:off x="8867146" y="2099310"/>
              <a:ext cx="2026909" cy="819150"/>
            </a:xfrm>
            <a:prstGeom prst="rect">
              <a:avLst/>
            </a:prstGeom>
            <a:noFill/>
            <a:ln>
              <a:noFill/>
            </a:ln>
          </p:spPr>
          <p:txBody>
            <a:bodyPr wrap="none" lIns="0" tIns="0" rIns="0" bIns="0" anchor="t" anchorCtr="0">
              <a:spAutoFit/>
            </a:bodyPr>
            <a:lstStyle/>
            <a:p>
              <a:pPr algn="ctr"/>
              <a:r>
                <a:rPr lang="en-US" sz="4200" b="1" dirty="0">
                  <a:solidFill>
                    <a:schemeClr val="accent2"/>
                  </a:solidFill>
                  <a:latin typeface="+mn-lt"/>
                  <a:ea typeface="+mn-ea"/>
                  <a:cs typeface="+mn-cs"/>
                </a:rPr>
                <a:t>10 / 10</a:t>
              </a:r>
            </a:p>
          </p:txBody>
        </p:sp>
        <p:sp>
          <p:nvSpPr>
            <p:cNvPr id="21" name="TextBox 21"/>
            <p:cNvSpPr txBox="1"/>
            <p:nvPr/>
          </p:nvSpPr>
          <p:spPr>
            <a:xfrm>
              <a:off x="8945588" y="2747010"/>
              <a:ext cx="1870024" cy="234696"/>
            </a:xfrm>
            <a:prstGeom prst="rect">
              <a:avLst/>
            </a:prstGeom>
            <a:noFill/>
            <a:ln>
              <a:noFill/>
            </a:ln>
          </p:spPr>
          <p:txBody>
            <a:bodyPr wrap="none" lIns="0" tIns="0" rIns="0" bIns="0" anchor="t" anchorCtr="0">
              <a:spAutoFit/>
            </a:bodyPr>
            <a:lstStyle/>
            <a:p>
              <a:pPr algn="ctr"/>
              <a:r>
                <a:rPr lang="en-US" sz="1200" b="1" dirty="0">
                  <a:solidFill>
                    <a:schemeClr val="dk1"/>
                  </a:solidFill>
                  <a:latin typeface="+mn-lt"/>
                  <a:ea typeface="+mn-ea"/>
                  <a:cs typeface="+mn-cs"/>
                </a:rPr>
                <a:t>MaxCut solved by USBS</a:t>
              </a:r>
            </a:p>
          </p:txBody>
        </p:sp>
        <p:sp>
          <p:nvSpPr>
            <p:cNvPr id="22" name="TextBox 22"/>
            <p:cNvSpPr txBox="1"/>
            <p:nvPr/>
          </p:nvSpPr>
          <p:spPr>
            <a:xfrm>
              <a:off x="9173167" y="3003947"/>
              <a:ext cx="1414866" cy="183356"/>
            </a:xfrm>
            <a:prstGeom prst="rect">
              <a:avLst/>
            </a:prstGeom>
            <a:noFill/>
            <a:ln>
              <a:noFill/>
            </a:ln>
          </p:spPr>
          <p:txBody>
            <a:bodyPr wrap="none" lIns="0" tIns="0" rIns="0" bIns="0" anchor="t" anchorCtr="0">
              <a:spAutoFit/>
            </a:bodyPr>
            <a:lstStyle/>
            <a:p>
              <a:pPr algn="ctr"/>
              <a:r>
                <a:rPr lang="en-US" sz="940" dirty="0">
                  <a:solidFill>
                    <a:schemeClr val="dk2"/>
                  </a:solidFill>
                  <a:latin typeface="+mn-lt"/>
                  <a:ea typeface="+mn-ea"/>
                  <a:cs typeface="+mn-cs"/>
                </a:rPr>
                <a:t>vs. only 3 / 10 by CGAL</a:t>
              </a:r>
            </a:p>
          </p:txBody>
        </p:sp>
      </p:grpSp>
      <p:grpSp>
        <p:nvGrpSpPr>
          <p:cNvPr id="32" name="Group 32"/>
          <p:cNvGrpSpPr/>
          <p:nvPr/>
        </p:nvGrpSpPr>
        <p:grpSpPr>
          <a:xfrm>
            <a:off x="533400" y="3543300"/>
            <a:ext cx="11125200" cy="1428750"/>
            <a:chOff x="533400" y="3543300"/>
            <a:chExt cx="11125200" cy="1428750"/>
          </a:xfrm>
        </p:grpSpPr>
        <p:sp>
          <p:nvSpPr>
            <p:cNvPr id="24" name="Rectangle 24"/>
            <p:cNvSpPr/>
            <p:nvPr/>
          </p:nvSpPr>
          <p:spPr>
            <a:xfrm>
              <a:off x="533400" y="3543300"/>
              <a:ext cx="5448300" cy="1428750"/>
            </a:xfrm>
            <a:prstGeom prst="roundRect">
              <a:avLst>
                <a:gd name="adj" fmla="val 9333"/>
              </a:avLst>
            </a:prstGeom>
            <a:solidFill>
              <a:schemeClr val="accent6"/>
            </a:solidFill>
            <a:ln w="12382">
              <a:solidFill>
                <a:schemeClr val="accent2"/>
              </a:solidFill>
            </a:ln>
          </p:spPr>
        </p:sp>
        <p:sp>
          <p:nvSpPr>
            <p:cNvPr id="25" name="TextBox 25"/>
            <p:cNvSpPr txBox="1"/>
            <p:nvPr/>
          </p:nvSpPr>
          <p:spPr>
            <a:xfrm>
              <a:off x="800100" y="4014788"/>
              <a:ext cx="1654802" cy="733425"/>
            </a:xfrm>
            <a:prstGeom prst="rect">
              <a:avLst/>
            </a:prstGeom>
            <a:noFill/>
            <a:ln>
              <a:noFill/>
            </a:ln>
          </p:spPr>
          <p:txBody>
            <a:bodyPr wrap="none" lIns="0" tIns="0" rIns="0" bIns="0" anchor="t" anchorCtr="0">
              <a:spAutoFit/>
            </a:bodyPr>
            <a:lstStyle/>
            <a:p>
              <a:pPr algn="l"/>
              <a:r>
                <a:rPr lang="en-US" sz="3750" b="1" dirty="0">
                  <a:solidFill>
                    <a:schemeClr val="accent2"/>
                  </a:solidFill>
                  <a:latin typeface="+mn-lt"/>
                  <a:ea typeface="+mn-ea"/>
                  <a:cs typeface="+mn-cs"/>
                </a:rPr>
                <a:t>&gt; 10¹³</a:t>
              </a:r>
            </a:p>
          </p:txBody>
        </p:sp>
        <p:sp>
          <p:nvSpPr>
            <p:cNvPr id="26" name="TextBox 26"/>
            <p:cNvSpPr txBox="1"/>
            <p:nvPr/>
          </p:nvSpPr>
          <p:spPr>
            <a:xfrm>
              <a:off x="813054" y="4594860"/>
              <a:ext cx="1479415" cy="234696"/>
            </a:xfrm>
            <a:prstGeom prst="rect">
              <a:avLst/>
            </a:prstGeom>
            <a:noFill/>
            <a:ln>
              <a:noFill/>
            </a:ln>
          </p:spPr>
          <p:txBody>
            <a:bodyPr wrap="none" lIns="0" tIns="0" rIns="0" bIns="0" anchor="t" anchorCtr="0">
              <a:spAutoFit/>
            </a:bodyPr>
            <a:lstStyle/>
            <a:p>
              <a:pPr algn="l"/>
              <a:r>
                <a:rPr lang="en-US" sz="1200" b="1" dirty="0">
                  <a:solidFill>
                    <a:schemeClr val="dk1"/>
                  </a:solidFill>
                  <a:latin typeface="+mn-lt"/>
                  <a:ea typeface="+mn-ea"/>
                  <a:cs typeface="+mn-cs"/>
                </a:rPr>
                <a:t>decision variables</a:t>
              </a:r>
            </a:p>
          </p:txBody>
        </p:sp>
        <p:sp>
          <p:nvSpPr>
            <p:cNvPr id="27" name="TextBox 27"/>
            <p:cNvSpPr txBox="1"/>
            <p:nvPr/>
          </p:nvSpPr>
          <p:spPr>
            <a:xfrm>
              <a:off x="3067254" y="4623197"/>
              <a:ext cx="2690609" cy="183356"/>
            </a:xfrm>
            <a:prstGeom prst="rect">
              <a:avLst/>
            </a:prstGeom>
            <a:noFill/>
            <a:ln>
              <a:noFill/>
            </a:ln>
          </p:spPr>
          <p:txBody>
            <a:bodyPr wrap="none" lIns="0" tIns="0" rIns="0" bIns="0" anchor="t" anchorCtr="0">
              <a:spAutoFit/>
            </a:bodyPr>
            <a:lstStyle/>
            <a:p>
              <a:pPr algn="r"/>
              <a:r>
                <a:rPr lang="en-US" sz="940" dirty="0">
                  <a:solidFill>
                    <a:schemeClr val="dk2"/>
                  </a:solidFill>
                  <a:latin typeface="+mn-lt"/>
                  <a:ea typeface="+mn-ea"/>
                  <a:cs typeface="+mn-cs"/>
                </a:rPr>
                <a:t>largest MaxCut instance (333SP, n ≈ 3.7M)</a:t>
              </a:r>
            </a:p>
          </p:txBody>
        </p:sp>
        <p:sp>
          <p:nvSpPr>
            <p:cNvPr id="28" name="Rectangle 28"/>
            <p:cNvSpPr/>
            <p:nvPr/>
          </p:nvSpPr>
          <p:spPr>
            <a:xfrm>
              <a:off x="6210300" y="3543300"/>
              <a:ext cx="5448300" cy="1428750"/>
            </a:xfrm>
            <a:prstGeom prst="roundRect">
              <a:avLst>
                <a:gd name="adj" fmla="val 9333"/>
              </a:avLst>
            </a:prstGeom>
            <a:solidFill>
              <a:schemeClr val="accent6"/>
            </a:solidFill>
            <a:ln w="12382">
              <a:solidFill>
                <a:srgbClr val="37DCC0"/>
              </a:solidFill>
            </a:ln>
          </p:spPr>
        </p:sp>
        <p:sp>
          <p:nvSpPr>
            <p:cNvPr id="29" name="TextBox 29"/>
            <p:cNvSpPr txBox="1"/>
            <p:nvPr/>
          </p:nvSpPr>
          <p:spPr>
            <a:xfrm>
              <a:off x="6477000" y="4014788"/>
              <a:ext cx="1438275" cy="733425"/>
            </a:xfrm>
            <a:prstGeom prst="rect">
              <a:avLst/>
            </a:prstGeom>
            <a:noFill/>
            <a:ln>
              <a:noFill/>
            </a:ln>
          </p:spPr>
          <p:txBody>
            <a:bodyPr wrap="none" lIns="0" tIns="0" rIns="0" bIns="0" anchor="t" anchorCtr="0">
              <a:spAutoFit/>
            </a:bodyPr>
            <a:lstStyle/>
            <a:p>
              <a:pPr algn="l"/>
              <a:r>
                <a:rPr lang="en-US" sz="3750" b="1" dirty="0">
                  <a:solidFill>
                    <a:srgbClr val="37DCC0"/>
                  </a:solidFill>
                  <a:latin typeface="+mn-lt"/>
                  <a:ea typeface="+mn-ea"/>
                  <a:cs typeface="+mn-cs"/>
                </a:rPr>
                <a:t>1.5 B</a:t>
              </a:r>
            </a:p>
          </p:txBody>
        </p:sp>
        <p:sp>
          <p:nvSpPr>
            <p:cNvPr id="30" name="TextBox 30"/>
            <p:cNvSpPr txBox="1"/>
            <p:nvPr/>
          </p:nvSpPr>
          <p:spPr>
            <a:xfrm>
              <a:off x="6489954" y="4594860"/>
              <a:ext cx="1623593" cy="234696"/>
            </a:xfrm>
            <a:prstGeom prst="rect">
              <a:avLst/>
            </a:prstGeom>
            <a:noFill/>
            <a:ln>
              <a:noFill/>
            </a:ln>
          </p:spPr>
          <p:txBody>
            <a:bodyPr wrap="none" lIns="0" tIns="0" rIns="0" bIns="0" anchor="t" anchorCtr="0">
              <a:spAutoFit/>
            </a:bodyPr>
            <a:lstStyle/>
            <a:p>
              <a:pPr algn="l"/>
              <a:r>
                <a:rPr lang="en-US" sz="1200" b="1" dirty="0">
                  <a:solidFill>
                    <a:schemeClr val="dk1"/>
                  </a:solidFill>
                  <a:latin typeface="+mn-lt"/>
                  <a:ea typeface="+mn-ea"/>
                  <a:cs typeface="+mn-cs"/>
                </a:rPr>
                <a:t>variables at n = 198</a:t>
              </a:r>
            </a:p>
          </p:txBody>
        </p:sp>
        <p:sp>
          <p:nvSpPr>
            <p:cNvPr id="31" name="TextBox 31"/>
            <p:cNvSpPr txBox="1"/>
            <p:nvPr/>
          </p:nvSpPr>
          <p:spPr>
            <a:xfrm>
              <a:off x="8913157" y="4623197"/>
              <a:ext cx="2521606" cy="183356"/>
            </a:xfrm>
            <a:prstGeom prst="rect">
              <a:avLst/>
            </a:prstGeom>
            <a:noFill/>
            <a:ln>
              <a:noFill/>
            </a:ln>
          </p:spPr>
          <p:txBody>
            <a:bodyPr wrap="none" lIns="0" tIns="0" rIns="0" bIns="0" anchor="t" anchorCtr="0">
              <a:spAutoFit/>
            </a:bodyPr>
            <a:lstStyle/>
            <a:p>
              <a:pPr algn="r"/>
              <a:r>
                <a:rPr lang="en-US" sz="940" dirty="0">
                  <a:solidFill>
                    <a:schemeClr val="dk2"/>
                  </a:solidFill>
                  <a:latin typeface="+mn-lt"/>
                  <a:ea typeface="+mn-ea"/>
                  <a:cs typeface="+mn-cs"/>
                </a:rPr>
                <a:t>QAP relaxation solved via r = n sketching</a:t>
              </a:r>
            </a:p>
          </p:txBody>
        </p:sp>
      </p:grpSp>
      <p:sp>
        <p:nvSpPr>
          <p:cNvPr id="33" name="cue_s09_c1_summarize_numbers_matter_most_five_h" title="cue_s09_c1_summarize_numbers_matter_most_five_h" descr="cue_s09_c1_summarize_numbers_matter_most_five_h To summarize the numbers that matter most: a five-hundred-times speedup over the previous state of the art on a problem with more than two billion decision variables; more than a one-hundred-times convergence speedup just from warm-starting; ten out of ten Max"/>
          <p:cNvSpPr/>
          <p:nvPr/>
        </p:nvSpPr>
        <p:spPr>
          <a:xfrm>
            <a:off x="532790" y="1523847"/>
            <a:ext cx="11125200" cy="179062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cue_s09_c2_usbs_scales_problems_over_ten_to_the" title="cue_s09_c2_usbs_scales_problems_over_ten_to_the" descr="cue_s09_c2_usbs_scales_problems_over_ten_to_the USBS scales to problems with over ten-to-the-thirteenth decision variables and solves quadratic-assignment relaxations with one point five billion variables."/>
          <p:cNvSpPr/>
          <p:nvPr/>
        </p:nvSpPr>
        <p:spPr>
          <a:xfrm>
            <a:off x="532790" y="3543528"/>
            <a:ext cx="11125200" cy="14285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chemeClr val="lt2">
                  <a:alpha val="90000"/>
                </a:schemeClr>
              </a:gs>
              <a:gs pos="60000">
                <a:schemeClr val="lt1">
                  <a:alpha val="0"/>
                </a:schemeClr>
              </a:gs>
            </a:gsLst>
            <a:path path="circle">
              <a:fillToRect l="50000" t="50000" r="50000" b="50000"/>
            </a:path>
          </a:gradFill>
          <a:ln>
            <a:noFill/>
          </a:ln>
        </p:spPr>
        <p:txBody>
          <a:bodyPr/>
          <a:p/>
        </p:txBody>
      </p:sp>
      <p:sp>
        <p:nvSpPr>
          <p:cNvPr id="3" name="Rectangle 3"/>
          <p:cNvSpPr/>
          <p:nvPr/>
        </p:nvSpPr>
        <p:spPr>
          <a:xfrm>
            <a:off x="533400" y="476250"/>
            <a:ext cx="57150" cy="209550"/>
          </a:xfrm>
          <a:prstGeom prst="roundRect">
            <a:avLst>
              <a:gd name="adj" fmla="val 41667"/>
            </a:avLst>
          </a:prstGeom>
          <a:solidFill>
            <a:schemeClr val="accent2"/>
          </a:solidFill>
          <a:ln>
            <a:noFill/>
          </a:ln>
        </p:spPr>
        <p:txBody>
          <a:bodyPr/>
          <a:p/>
        </p:txBody>
      </p:sp>
      <p:sp>
        <p:nvSpPr>
          <p:cNvPr id="4" name="TextBox 4"/>
          <p:cNvSpPr txBox="1"/>
          <p:nvPr/>
        </p:nvSpPr>
        <p:spPr>
          <a:xfrm>
            <a:off x="699135" y="526256"/>
            <a:ext cx="1004920" cy="220028"/>
          </a:xfrm>
          <a:prstGeom prst="rect">
            <a:avLst/>
          </a:prstGeom>
          <a:noFill/>
          <a:ln>
            <a:noFill/>
          </a:ln>
        </p:spPr>
        <p:txBody>
          <a:bodyPr wrap="none" lIns="0" tIns="0" rIns="0" bIns="0" anchor="t" anchorCtr="0">
            <a:spAutoFit/>
          </a:bodyPr>
          <a:lstStyle/>
          <a:p>
            <a:pPr algn="l"/>
            <a:r>
              <a:rPr lang="en-US" sz="1120" b="1" spc="225" dirty="0">
                <a:solidFill>
                  <a:schemeClr val="accent2"/>
                </a:solidFill>
                <a:latin typeface="+mn-lt"/>
                <a:ea typeface="+mn-ea"/>
                <a:cs typeface="+mn-cs"/>
              </a:rPr>
              <a:t>TAKEAWAY</a:t>
            </a:r>
          </a:p>
        </p:txBody>
      </p:sp>
      <p:sp>
        <p:nvSpPr>
          <p:cNvPr id="5" name="TextBox 5"/>
          <p:cNvSpPr txBox="1"/>
          <p:nvPr/>
        </p:nvSpPr>
        <p:spPr>
          <a:xfrm>
            <a:off x="518160" y="781050"/>
            <a:ext cx="6767476" cy="586740"/>
          </a:xfrm>
          <a:prstGeom prst="rect">
            <a:avLst/>
          </a:prstGeom>
          <a:noFill/>
          <a:ln>
            <a:noFill/>
          </a:ln>
        </p:spPr>
        <p:txBody>
          <a:bodyPr wrap="none" lIns="0" tIns="0" rIns="0" bIns="0" anchor="t" anchorCtr="0">
            <a:spAutoFit/>
          </a:bodyPr>
          <a:lstStyle/>
          <a:p>
            <a:pPr algn="l"/>
            <a:r>
              <a:rPr lang="en-US" sz="3000" b="1" dirty="0">
                <a:solidFill>
                  <a:schemeClr val="dk1"/>
                </a:solidFill>
                <a:latin typeface="+mn-lt"/>
                <a:ea typeface="+mn-ea"/>
                <a:cs typeface="+mn-cs"/>
              </a:rPr>
              <a:t>Large-scale SDP, made practical</a:t>
            </a:r>
          </a:p>
        </p:txBody>
      </p:sp>
      <p:sp>
        <p:nvSpPr>
          <p:cNvPr id="6" name="TextBox 6"/>
          <p:cNvSpPr txBox="1"/>
          <p:nvPr/>
        </p:nvSpPr>
        <p:spPr>
          <a:xfrm>
            <a:off x="11095485" y="534352"/>
            <a:ext cx="568449" cy="205359"/>
          </a:xfrm>
          <a:prstGeom prst="rect">
            <a:avLst/>
          </a:prstGeom>
          <a:noFill/>
          <a:ln>
            <a:noFill/>
          </a:ln>
        </p:spPr>
        <p:txBody>
          <a:bodyPr wrap="none" lIns="0" tIns="0" rIns="0" bIns="0" anchor="t" anchorCtr="0">
            <a:spAutoFit/>
          </a:bodyPr>
          <a:lstStyle/>
          <a:p>
            <a:pPr algn="r"/>
            <a:r>
              <a:rPr lang="en-US" sz="1050" b="1" spc="75" dirty="0">
                <a:solidFill>
                  <a:srgbClr val="6E85AC"/>
                </a:solidFill>
                <a:latin typeface="Consolas"/>
                <a:ea typeface="Consolas"/>
                <a:cs typeface="Consolas"/>
              </a:rPr>
              <a:t>10 / 10</a:t>
            </a:r>
          </a:p>
        </p:txBody>
      </p:sp>
      <p:sp>
        <p:nvSpPr>
          <p:cNvPr id="7" name="Line 7"/>
          <p:cNvSpPr/>
          <p:nvPr/>
        </p:nvSpPr>
        <p:spPr>
          <a:xfrm>
            <a:off x="533400" y="1314450"/>
            <a:ext cx="11125200" cy="9525"/>
          </a:xfrm>
          <a:custGeom>
            <a:avLst/>
            <a:gdLst/>
            <a:ahLst/>
            <a:cxnLst/>
            <a:rect l="l" t="t" r="r" b="b"/>
            <a:pathLst>
              <a:path w="11125200" h="9525">
                <a:moveTo>
                  <a:pt x="0" y="0"/>
                </a:moveTo>
                <a:lnTo>
                  <a:pt x="11125200" y="0"/>
                </a:lnTo>
              </a:path>
            </a:pathLst>
          </a:custGeom>
          <a:noFill/>
          <a:ln w="11430">
            <a:solidFill>
              <a:schemeClr val="accent4"/>
            </a:solidFill>
          </a:ln>
        </p:spPr>
        <p:txBody>
          <a:bodyPr/>
          <a:p/>
        </p:txBody>
      </p:sp>
      <p:grpSp>
        <p:nvGrpSpPr>
          <p:cNvPr id="11" name="Group 11"/>
          <p:cNvGrpSpPr/>
          <p:nvPr/>
        </p:nvGrpSpPr>
        <p:grpSpPr>
          <a:xfrm>
            <a:off x="533400" y="1524000"/>
            <a:ext cx="11125200" cy="666750"/>
            <a:chOff x="533400" y="1524000"/>
            <a:chExt cx="11125200" cy="666750"/>
          </a:xfrm>
        </p:grpSpPr>
        <p:sp>
          <p:nvSpPr>
            <p:cNvPr id="8" name="Rectangle 8"/>
            <p:cNvSpPr/>
            <p:nvPr/>
          </p:nvSpPr>
          <p:spPr>
            <a:xfrm>
              <a:off x="533400" y="1524000"/>
              <a:ext cx="11125200" cy="666750"/>
            </a:xfrm>
            <a:prstGeom prst="roundRect">
              <a:avLst>
                <a:gd name="adj" fmla="val 20000"/>
              </a:avLst>
            </a:prstGeom>
            <a:solidFill>
              <a:schemeClr val="accent6"/>
            </a:solidFill>
            <a:ln w="12382">
              <a:solidFill>
                <a:srgbClr val="37DCC0"/>
              </a:solidFill>
            </a:ln>
          </p:spPr>
        </p:sp>
        <p:sp>
          <p:nvSpPr>
            <p:cNvPr id="9" name="Rectangle 9"/>
            <p:cNvSpPr/>
            <p:nvPr/>
          </p:nvSpPr>
          <p:spPr>
            <a:xfrm>
              <a:off x="723900" y="1714500"/>
              <a:ext cx="47625" cy="285750"/>
            </a:xfrm>
            <a:prstGeom prst="roundRect">
              <a:avLst>
                <a:gd name="adj" fmla="val 50000"/>
              </a:avLst>
            </a:prstGeom>
            <a:solidFill>
              <a:srgbClr val="37DCC0"/>
            </a:solidFill>
            <a:ln>
              <a:noFill/>
            </a:ln>
          </p:spPr>
        </p:sp>
        <p:sp>
          <p:nvSpPr>
            <p:cNvPr id="10" name="TextBox 10"/>
            <p:cNvSpPr txBox="1"/>
            <p:nvPr/>
          </p:nvSpPr>
          <p:spPr>
            <a:xfrm>
              <a:off x="906018" y="1784032"/>
              <a:ext cx="2718586" cy="322707"/>
            </a:xfrm>
            <a:prstGeom prst="rect">
              <a:avLst/>
            </a:prstGeom>
            <a:noFill/>
            <a:ln>
              <a:noFill/>
            </a:ln>
          </p:spPr>
          <p:txBody>
            <a:bodyPr wrap="none" lIns="0" tIns="0" rIns="0" bIns="0" anchor="t" anchorCtr="0">
              <a:spAutoFit/>
            </a:bodyPr>
            <a:lstStyle/>
            <a:p>
              <a:pPr algn="l"/>
              <a:r>
                <a:rPr lang="en-US" sz="1650" b="1" dirty="0">
                  <a:solidFill>
                    <a:schemeClr val="dk1"/>
                  </a:solidFill>
                  <a:latin typeface="+mn-lt"/>
                  <a:ea typeface="+mn-ea"/>
                  <a:cs typeface="+mn-cs"/>
                </a:rPr>
                <a:t>The takeaway is simple.</a:t>
              </a:r>
            </a:p>
          </p:txBody>
        </p:sp>
      </p:grpSp>
      <p:grpSp>
        <p:nvGrpSpPr>
          <p:cNvPr id="15" name="Group 15"/>
          <p:cNvGrpSpPr/>
          <p:nvPr/>
        </p:nvGrpSpPr>
        <p:grpSpPr>
          <a:xfrm>
            <a:off x="533400" y="2381250"/>
            <a:ext cx="11125200" cy="914400"/>
            <a:chOff x="533400" y="2381250"/>
            <a:chExt cx="11125200" cy="914400"/>
          </a:xfrm>
        </p:grpSpPr>
        <p:sp>
          <p:nvSpPr>
            <p:cNvPr id="12" name="Rectangle 12"/>
            <p:cNvSpPr/>
            <p:nvPr/>
          </p:nvSpPr>
          <p:spPr>
            <a:xfrm>
              <a:off x="533400" y="2381250"/>
              <a:ext cx="11125200" cy="914400"/>
            </a:xfrm>
            <a:prstGeom prst="roundRect">
              <a:avLst>
                <a:gd name="adj" fmla="val 14583"/>
              </a:avLst>
            </a:prstGeom>
            <a:solidFill>
              <a:schemeClr val="accent5"/>
            </a:solidFill>
            <a:ln w="11430">
              <a:solidFill>
                <a:schemeClr val="accent4"/>
              </a:solidFill>
            </a:ln>
          </p:spPr>
        </p:sp>
        <p:sp>
          <p:nvSpPr>
            <p:cNvPr id="13" name="TextBox 13"/>
            <p:cNvSpPr txBox="1"/>
            <p:nvPr/>
          </p:nvSpPr>
          <p:spPr>
            <a:xfrm>
              <a:off x="754761" y="2608421"/>
              <a:ext cx="8231464"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USBS shows that large-scale semidefinite programming does not have to be slow, or</a:t>
              </a:r>
            </a:p>
          </p:txBody>
        </p:sp>
        <p:sp>
          <p:nvSpPr>
            <p:cNvPr id="14" name="TextBox 14"/>
            <p:cNvSpPr txBox="1"/>
            <p:nvPr/>
          </p:nvSpPr>
          <p:spPr>
            <a:xfrm>
              <a:off x="754761" y="2875121"/>
              <a:ext cx="4169349"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restricted to a narrow class of problems.</a:t>
              </a:r>
            </a:p>
          </p:txBody>
        </p:sp>
      </p:grpSp>
      <p:grpSp>
        <p:nvGrpSpPr>
          <p:cNvPr id="31" name="Group 31"/>
          <p:cNvGrpSpPr/>
          <p:nvPr/>
        </p:nvGrpSpPr>
        <p:grpSpPr>
          <a:xfrm>
            <a:off x="533400" y="3486150"/>
            <a:ext cx="11125200" cy="1428750"/>
            <a:chOff x="533400" y="3486150"/>
            <a:chExt cx="11125200" cy="1428750"/>
          </a:xfrm>
        </p:grpSpPr>
        <p:sp>
          <p:nvSpPr>
            <p:cNvPr id="16" name="Rectangle 16"/>
            <p:cNvSpPr/>
            <p:nvPr/>
          </p:nvSpPr>
          <p:spPr>
            <a:xfrm>
              <a:off x="533400" y="3486150"/>
              <a:ext cx="3556000" cy="1428750"/>
            </a:xfrm>
            <a:prstGeom prst="roundRect">
              <a:avLst>
                <a:gd name="adj" fmla="val 9333"/>
              </a:avLst>
            </a:prstGeom>
            <a:solidFill>
              <a:schemeClr val="accent5"/>
            </a:solidFill>
            <a:ln w="11430">
              <a:solidFill>
                <a:schemeClr val="accent4"/>
              </a:solidFill>
            </a:ln>
          </p:spPr>
        </p:sp>
        <p:sp>
          <p:nvSpPr>
            <p:cNvPr id="17" name="Rectangle 17"/>
            <p:cNvSpPr/>
            <p:nvPr/>
          </p:nvSpPr>
          <p:spPr>
            <a:xfrm>
              <a:off x="742950" y="3733800"/>
              <a:ext cx="47625" cy="285750"/>
            </a:xfrm>
            <a:prstGeom prst="roundRect">
              <a:avLst>
                <a:gd name="adj" fmla="val 50000"/>
              </a:avLst>
            </a:prstGeom>
            <a:solidFill>
              <a:schemeClr val="accent2"/>
            </a:solidFill>
            <a:ln>
              <a:noFill/>
            </a:ln>
          </p:spPr>
        </p:sp>
        <p:sp>
          <p:nvSpPr>
            <p:cNvPr id="18" name="TextBox 18"/>
            <p:cNvSpPr txBox="1"/>
            <p:nvPr/>
          </p:nvSpPr>
          <p:spPr>
            <a:xfrm>
              <a:off x="736473" y="4034314"/>
              <a:ext cx="1728112"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Unified constraints</a:t>
              </a:r>
            </a:p>
          </p:txBody>
        </p:sp>
        <p:sp>
          <p:nvSpPr>
            <p:cNvPr id="19" name="TextBox 19"/>
            <p:cNvSpPr txBox="1"/>
            <p:nvPr/>
          </p:nvSpPr>
          <p:spPr>
            <a:xfrm>
              <a:off x="737616" y="4325302"/>
              <a:ext cx="1834096"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equality + inequality in one</a:t>
              </a:r>
            </a:p>
          </p:txBody>
        </p:sp>
        <p:sp>
          <p:nvSpPr>
            <p:cNvPr id="20" name="TextBox 20"/>
            <p:cNvSpPr txBox="1"/>
            <p:nvPr/>
          </p:nvSpPr>
          <p:spPr>
            <a:xfrm>
              <a:off x="737616" y="4525328"/>
              <a:ext cx="1607934"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spectral bundle method</a:t>
              </a:r>
            </a:p>
          </p:txBody>
        </p:sp>
        <p:sp>
          <p:nvSpPr>
            <p:cNvPr id="21" name="Rectangle 21"/>
            <p:cNvSpPr/>
            <p:nvPr/>
          </p:nvSpPr>
          <p:spPr>
            <a:xfrm>
              <a:off x="4318000" y="3486150"/>
              <a:ext cx="3556000" cy="1428750"/>
            </a:xfrm>
            <a:prstGeom prst="roundRect">
              <a:avLst>
                <a:gd name="adj" fmla="val 9333"/>
              </a:avLst>
            </a:prstGeom>
            <a:solidFill>
              <a:schemeClr val="accent5"/>
            </a:solidFill>
            <a:ln w="11430">
              <a:solidFill>
                <a:schemeClr val="accent4"/>
              </a:solidFill>
            </a:ln>
          </p:spPr>
        </p:sp>
        <p:sp>
          <p:nvSpPr>
            <p:cNvPr id="22" name="Rectangle 22"/>
            <p:cNvSpPr/>
            <p:nvPr/>
          </p:nvSpPr>
          <p:spPr>
            <a:xfrm>
              <a:off x="4527550" y="3733800"/>
              <a:ext cx="47625" cy="285750"/>
            </a:xfrm>
            <a:prstGeom prst="roundRect">
              <a:avLst>
                <a:gd name="adj" fmla="val 50000"/>
              </a:avLst>
            </a:prstGeom>
            <a:solidFill>
              <a:srgbClr val="37DCC0"/>
            </a:solidFill>
            <a:ln>
              <a:noFill/>
            </a:ln>
          </p:spPr>
        </p:sp>
        <p:sp>
          <p:nvSpPr>
            <p:cNvPr id="23" name="TextBox 23"/>
            <p:cNvSpPr txBox="1"/>
            <p:nvPr/>
          </p:nvSpPr>
          <p:spPr>
            <a:xfrm>
              <a:off x="4521073" y="4034314"/>
              <a:ext cx="1664893"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Optional sketching</a:t>
              </a:r>
            </a:p>
          </p:txBody>
        </p:sp>
        <p:sp>
          <p:nvSpPr>
            <p:cNvPr id="24" name="TextBox 24"/>
            <p:cNvSpPr txBox="1"/>
            <p:nvPr/>
          </p:nvSpPr>
          <p:spPr>
            <a:xfrm>
              <a:off x="4522216" y="4325302"/>
              <a:ext cx="1954244"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scales to billions of decision</a:t>
              </a:r>
            </a:p>
          </p:txBody>
        </p:sp>
        <p:sp>
          <p:nvSpPr>
            <p:cNvPr id="25" name="TextBox 25"/>
            <p:cNvSpPr txBox="1"/>
            <p:nvPr/>
          </p:nvSpPr>
          <p:spPr>
            <a:xfrm>
              <a:off x="4522216" y="4525328"/>
              <a:ext cx="639680"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variables</a:t>
              </a:r>
            </a:p>
          </p:txBody>
        </p:sp>
        <p:sp>
          <p:nvSpPr>
            <p:cNvPr id="26" name="Rectangle 26"/>
            <p:cNvSpPr/>
            <p:nvPr/>
          </p:nvSpPr>
          <p:spPr>
            <a:xfrm>
              <a:off x="8102600" y="3486150"/>
              <a:ext cx="3556000" cy="1428750"/>
            </a:xfrm>
            <a:prstGeom prst="roundRect">
              <a:avLst>
                <a:gd name="adj" fmla="val 9333"/>
              </a:avLst>
            </a:prstGeom>
            <a:solidFill>
              <a:schemeClr val="accent5"/>
            </a:solidFill>
            <a:ln w="11430">
              <a:solidFill>
                <a:schemeClr val="accent4"/>
              </a:solidFill>
            </a:ln>
          </p:spPr>
        </p:sp>
        <p:sp>
          <p:nvSpPr>
            <p:cNvPr id="27" name="Rectangle 27"/>
            <p:cNvSpPr/>
            <p:nvPr/>
          </p:nvSpPr>
          <p:spPr>
            <a:xfrm>
              <a:off x="8312150" y="3733800"/>
              <a:ext cx="47625" cy="285750"/>
            </a:xfrm>
            <a:prstGeom prst="roundRect">
              <a:avLst>
                <a:gd name="adj" fmla="val 50000"/>
              </a:avLst>
            </a:prstGeom>
            <a:solidFill>
              <a:srgbClr val="57D9A3"/>
            </a:solidFill>
            <a:ln>
              <a:noFill/>
            </a:ln>
          </p:spPr>
        </p:sp>
        <p:sp>
          <p:nvSpPr>
            <p:cNvPr id="28" name="TextBox 28"/>
            <p:cNvSpPr txBox="1"/>
            <p:nvPr/>
          </p:nvSpPr>
          <p:spPr>
            <a:xfrm>
              <a:off x="8305673" y="4034314"/>
              <a:ext cx="1928114"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Working warm-starts</a:t>
              </a:r>
            </a:p>
          </p:txBody>
        </p:sp>
        <p:sp>
          <p:nvSpPr>
            <p:cNvPr id="29" name="TextBox 29"/>
            <p:cNvSpPr txBox="1"/>
            <p:nvPr/>
          </p:nvSpPr>
          <p:spPr>
            <a:xfrm>
              <a:off x="8306816" y="4325302"/>
              <a:ext cx="2519648"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reuse a solution where prior solvers</a:t>
              </a:r>
            </a:p>
          </p:txBody>
        </p:sp>
        <p:sp>
          <p:nvSpPr>
            <p:cNvPr id="30" name="TextBox 30"/>
            <p:cNvSpPr txBox="1"/>
            <p:nvPr/>
          </p:nvSpPr>
          <p:spPr>
            <a:xfrm>
              <a:off x="8306816" y="4525328"/>
              <a:ext cx="477126"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cannot</a:t>
              </a:r>
            </a:p>
          </p:txBody>
        </p:sp>
      </p:grpSp>
      <p:sp>
        <p:nvSpPr>
          <p:cNvPr id="32" name="Line 32"/>
          <p:cNvSpPr/>
          <p:nvPr/>
        </p:nvSpPr>
        <p:spPr>
          <a:xfrm>
            <a:off x="533400" y="5181600"/>
            <a:ext cx="11125200" cy="9525"/>
          </a:xfrm>
          <a:custGeom>
            <a:avLst/>
            <a:gdLst/>
            <a:ahLst/>
            <a:cxnLst/>
            <a:rect l="l" t="t" r="r" b="b"/>
            <a:pathLst>
              <a:path w="11125200" h="9525">
                <a:moveTo>
                  <a:pt x="0" y="0"/>
                </a:moveTo>
                <a:lnTo>
                  <a:pt x="11125200" y="0"/>
                </a:lnTo>
              </a:path>
            </a:pathLst>
          </a:custGeom>
          <a:noFill/>
          <a:ln w="11430">
            <a:solidFill>
              <a:schemeClr val="accent4"/>
            </a:solidFill>
          </a:ln>
        </p:spPr>
        <p:txBody>
          <a:bodyPr/>
          <a:p/>
        </p:txBody>
      </p:sp>
      <p:sp>
        <p:nvSpPr>
          <p:cNvPr id="33" name="TextBox 33"/>
          <p:cNvSpPr txBox="1"/>
          <p:nvPr/>
        </p:nvSpPr>
        <p:spPr>
          <a:xfrm>
            <a:off x="527685" y="5326856"/>
            <a:ext cx="3295671"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Open, hardware-flexible JAX implementation</a:t>
            </a:r>
          </a:p>
        </p:txBody>
      </p:sp>
      <p:sp>
        <p:nvSpPr>
          <p:cNvPr id="34" name="TextBox 34"/>
          <p:cNvSpPr txBox="1"/>
          <p:nvPr/>
        </p:nvSpPr>
        <p:spPr>
          <a:xfrm>
            <a:off x="8410416" y="5334952"/>
            <a:ext cx="3253518" cy="205359"/>
          </a:xfrm>
          <a:prstGeom prst="rect">
            <a:avLst/>
          </a:prstGeom>
          <a:noFill/>
          <a:ln>
            <a:noFill/>
          </a:ln>
        </p:spPr>
        <p:txBody>
          <a:bodyPr wrap="none" lIns="0" tIns="0" rIns="0" bIns="0" anchor="t" anchorCtr="0">
            <a:spAutoFit/>
          </a:bodyPr>
          <a:lstStyle/>
          <a:p>
            <a:pPr algn="r"/>
            <a:r>
              <a:rPr lang="en-US" sz="1050" b="1" dirty="0">
                <a:solidFill>
                  <a:schemeClr val="accent2"/>
                </a:solidFill>
                <a:latin typeface="Consolas"/>
                <a:ea typeface="Consolas"/>
                <a:cs typeface="Consolas"/>
              </a:rPr>
              <a:t>arXiv:2312.11801 · github.com/rangell/usbs</a:t>
            </a:r>
          </a:p>
        </p:txBody>
      </p:sp>
      <p:sp>
        <p:nvSpPr>
          <p:cNvPr id="35" name="cue_s10_c1_takeaway_simple" title="cue_s10_c1_takeaway_simple" descr="cue_s10_c1_takeaway_simple The takeaway is simple."/>
          <p:cNvSpPr/>
          <p:nvPr/>
        </p:nvSpPr>
        <p:spPr>
          <a:xfrm>
            <a:off x="532790" y="1523847"/>
            <a:ext cx="11125200" cy="6665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cue_s10_c2_usbs_shows_large_scale_semidefinite" title="cue_s10_c2_usbs_shows_large_scale_semidefinite" descr="cue_s10_c2_usbs_shows_large_scale_semidefinite USBS shows that large-scale semidefinite programming does not have to be slow or restricted to a narrow class of problems."/>
          <p:cNvSpPr/>
          <p:nvPr/>
        </p:nvSpPr>
        <p:spPr>
          <a:xfrm>
            <a:off x="532790" y="2381097"/>
            <a:ext cx="11125200" cy="9141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cue_s10_c3_unifying_equality_inequality_constra" title="cue_s10_c3_unifying_equality_inequality_constra" descr="cue_s10_c3_unifying_equality_inequality_constra By unifying equality and inequality constraints in a single spectral bundle method, adding optional sketching for scalability, and making warm-starting actually work, it turns SDPs that were previously considered intractable into a practical tool, complete wit"/>
          <p:cNvSpPr/>
          <p:nvPr/>
        </p:nvSpPr>
        <p:spPr>
          <a:xfrm>
            <a:off x="532790" y="3485921"/>
            <a:ext cx="11125200" cy="14285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Free Design">
  <a:themeElements>
    <a:clrScheme name="Free Design">
      <a:dk1>
        <a:srgbClr val="EAF1FB"/>
      </a:dk1>
      <a:lt1>
        <a:srgbClr val="0B1220"/>
      </a:lt1>
      <a:dk2>
        <a:srgbClr val="A6BADB"/>
      </a:dk2>
      <a:lt2>
        <a:srgbClr val="0E1A30"/>
      </a:lt2>
      <a:accent1>
        <a:srgbClr val="4F9DF7"/>
      </a:accent1>
      <a:accent2>
        <a:srgbClr val="4F9DF7"/>
      </a:accent2>
      <a:accent3>
        <a:srgbClr val="4F9DF7"/>
      </a:accent3>
      <a:accent4>
        <a:srgbClr val="2B4068"/>
      </a:accent4>
      <a:accent5>
        <a:srgbClr val="14223C"/>
      </a:accent5>
      <a:accent6>
        <a:srgbClr val="1A2B49"/>
      </a:accent6>
      <a:hlink>
        <a:srgbClr val="4F9DF7"/>
      </a:hlink>
      <a:folHlink>
        <a:srgbClr val="4F9DF7"/>
      </a:folHlink>
    </a:clrScheme>
    <a:fontScheme name="Free Design">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ree Design">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2026-07-15T18:40:20Z</dcterms:created>
  <dcterms:modified xsi:type="dcterms:W3CDTF">2026-07-15T18:40:20Z</dcterms:modified>
  <cp:category/>
  <cp:contentStatus/>
</cp:coreProperties>
</file>
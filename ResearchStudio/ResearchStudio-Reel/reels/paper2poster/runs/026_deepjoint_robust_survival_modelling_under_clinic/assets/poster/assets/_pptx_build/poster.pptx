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6349682" cy="5603339"/>
          </a:xfrm>
          <a:prstGeom prst="roundRect">
            <a:avLst>
              <a:gd name="adj" fmla="val 1480"/>
            </a:avLst>
          </a:prstGeom>
          <a:solidFill>
            <a:srgbClr val="F7F0F1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376783"/>
            <a:ext cx="16349682" cy="19782472"/>
          </a:xfrm>
          <a:prstGeom prst="roundRect">
            <a:avLst>
              <a:gd name="adj" fmla="val 507"/>
            </a:avLst>
          </a:prstGeom>
          <a:solidFill>
            <a:srgbClr val="F7F0F1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376783"/>
            <a:ext cx="16349821" cy="10981789"/>
          </a:xfrm>
          <a:prstGeom prst="roundRect">
            <a:avLst>
              <a:gd name="adj" fmla="val 755"/>
            </a:avLst>
          </a:prstGeom>
          <a:solidFill>
            <a:srgbClr val="F7F0F1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1311969"/>
            <a:ext cx="16349682" cy="8911391"/>
          </a:xfrm>
          <a:prstGeom prst="roundRect">
            <a:avLst>
              <a:gd name="adj" fmla="val 931"/>
            </a:avLst>
          </a:prstGeom>
          <a:solidFill>
            <a:srgbClr val="F7F0F1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6690419"/>
            <a:ext cx="16349821" cy="6640552"/>
          </a:xfrm>
          <a:prstGeom prst="roundRect">
            <a:avLst>
              <a:gd name="adj" fmla="val 1249"/>
            </a:avLst>
          </a:prstGeom>
          <a:solidFill>
            <a:srgbClr val="F7F0F1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20555207"/>
            <a:ext cx="16349682" cy="9516745"/>
          </a:xfrm>
          <a:prstGeom prst="roundRect">
            <a:avLst>
              <a:gd name="adj" fmla="val 871"/>
            </a:avLst>
          </a:prstGeom>
          <a:solidFill>
            <a:srgbClr val="F7F0F1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3662818"/>
            <a:ext cx="16349821" cy="6409134"/>
          </a:xfrm>
          <a:prstGeom prst="roundRect">
            <a:avLst>
              <a:gd name="adj" fmla="val 1294"/>
            </a:avLst>
          </a:prstGeom>
          <a:solidFill>
            <a:srgbClr val="F7EDEE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3662818"/>
            <a:ext cx="53340" cy="640913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428289" y="25491102"/>
            <a:ext cx="16349682" cy="4580850"/>
          </a:xfrm>
          <a:prstGeom prst="roundRect">
            <a:avLst>
              <a:gd name="adj" fmla="val 1811"/>
            </a:avLst>
          </a:prstGeom>
          <a:solidFill>
            <a:srgbClr val="F7F0F1"/>
          </a:solidFill>
          <a:ln w="8890">
            <a:solidFill>
              <a:srgbClr val="E6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niversity-of-cam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7591" y="1301557"/>
            <a:ext cx="6744315" cy="1369048"/>
          </a:xfrm>
          <a:prstGeom prst="rect">
            <a:avLst/>
          </a:prstGeom>
        </p:spPr>
      </p:pic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87" y="1805367"/>
            <a:ext cx="4344988" cy="1896481"/>
          </a:xfrm>
          <a:prstGeom prst="rect">
            <a:avLst/>
          </a:prstGeom>
        </p:spPr>
      </p:pic>
      <p:pic>
        <p:nvPicPr>
          <p:cNvPr id="14" name="Picture 13" descr="university-of-manche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377" y="2836476"/>
            <a:ext cx="4398744" cy="136903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592795" y="7148254"/>
            <a:ext cx="15573613" cy="1942187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2795" y="14646969"/>
            <a:ext cx="1557361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92795" y="14646969"/>
            <a:ext cx="15573613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9991" y="19399646"/>
            <a:ext cx="15573474" cy="969983"/>
          </a:xfrm>
          <a:prstGeom prst="roundRect">
            <a:avLst>
              <a:gd name="adj" fmla="val 21507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816393" y="26981566"/>
            <a:ext cx="15573474" cy="2702282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592795" y="9632176"/>
            <a:ext cx="15573613" cy="3735466"/>
          </a:xfrm>
          <a:prstGeom prst="roundRect">
            <a:avLst>
              <a:gd name="adj" fmla="val 95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2995" y="9632176"/>
            <a:ext cx="15573214" cy="373546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7816393" y="16069091"/>
            <a:ext cx="15573474" cy="7414816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6480" y="16069091"/>
            <a:ext cx="15573300" cy="741481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4592795" y="21616173"/>
            <a:ext cx="5017294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870816" y="21616173"/>
            <a:ext cx="5017433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148976" y="21616173"/>
            <a:ext cx="5017432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9991" y="22306399"/>
            <a:ext cx="15573474" cy="3586976"/>
          </a:xfrm>
          <a:prstGeom prst="roundRect">
            <a:avLst>
              <a:gd name="adj" fmla="val 99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276" y="22306399"/>
            <a:ext cx="15572904" cy="35869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8891527" y="27203816"/>
            <a:ext cx="4252476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91527" y="27203816"/>
            <a:ext cx="11557" cy="2305288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8F2437"/>
                </a:solidFill>
                <a:latin typeface="Arial"/>
              </a:rPr>
              <a:t>DeepJoint: Robust Survival Modelling Under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8F2437"/>
                </a:solidFill>
                <a:latin typeface="Arial"/>
              </a:rPr>
              <a:t>Clinical Presence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Vincent Jeanselme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Glen Martin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Niels Peek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Matthew Sperrin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Brian Tom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Jessica Barrett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Cambridge (MRC Biostatistics Unit)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Manchester (Health e-Research Centre)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9991" y="5764887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Problem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16393" y="5764887"/>
            <a:ext cx="1600019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Method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92795" y="5764887"/>
            <a:ext cx="160003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Key Results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991" y="6867247"/>
            <a:ext cx="1600019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Clinical data arise from an </a:t>
            </a:r>
            <a:r>
              <a:rPr sz="4106" b="1">
                <a:solidFill>
                  <a:srgbClr val="111111"/>
                </a:solidFill>
                <a:latin typeface="Arial"/>
              </a:rPr>
              <a:t>informative</a:t>
            </a:r>
            <a:r>
              <a:rPr sz="4106" b="0">
                <a:solidFill>
                  <a:srgbClr val="1C1C1C"/>
                </a:solidFill>
                <a:latin typeface="Arial"/>
              </a:rPr>
              <a:t> sampling process, when,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which, and how often tests are ordered, yet survival models treat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this </a:t>
            </a:r>
            <a:r>
              <a:rPr sz="4106" b="1">
                <a:solidFill>
                  <a:srgbClr val="111111"/>
                </a:solidFill>
                <a:latin typeface="Arial"/>
              </a:rPr>
              <a:t>clinical presence</a:t>
            </a:r>
            <a:r>
              <a:rPr sz="4106" b="0">
                <a:solidFill>
                  <a:srgbClr val="1C1C1C"/>
                </a:solidFill>
                <a:latin typeface="Arial"/>
              </a:rPr>
              <a:t> as noise, hurting both accuracy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transportability when practice evolves, discarding the very signal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that should inform prediction.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92795" y="7148254"/>
            <a:ext cx="16000333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Even lab-only DeepJoint beats GRU-D and the “Ignore”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LSTM.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9991" y="11700073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Motivation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16393" y="14060507"/>
            <a:ext cx="14561156" cy="163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Joint loss: survival term 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S</a:t>
            </a:r>
            <a:r>
              <a:rPr sz="4106" b="0">
                <a:solidFill>
                  <a:srgbClr val="1C1C1C"/>
                </a:solidFill>
                <a:latin typeface="Arial"/>
              </a:rPr>
              <a:t> plus dynamically-weighted clinical-presence tasks; α balances the two.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92795" y="14646969"/>
            <a:ext cx="1600033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edge fades at longer horizons as presence signals short-term instability.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92795" y="17078523"/>
            <a:ext cx="160003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Data &amp; Cohort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9991" y="19399646"/>
            <a:ext cx="16000194" cy="1115480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Clinical presence is </a:t>
            </a:r>
            <a:r>
              <a:rPr sz="4106" b="1">
                <a:solidFill>
                  <a:srgbClr val="111111"/>
                </a:solidFill>
                <a:latin typeface="Arial"/>
              </a:rPr>
              <a:t>signal to model</a:t>
            </a:r>
            <a:r>
              <a:rPr sz="4106" b="0">
                <a:solidFill>
                  <a:srgbClr val="8F2437"/>
                </a:solidFill>
                <a:latin typeface="Arial"/>
              </a:rPr>
              <a:t>, not noise to ignore.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9991" y="20943312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Robustness to Shift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37245" y="24050922"/>
            <a:ext cx="159558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Takeaway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637245" y="25153282"/>
            <a:ext cx="15955883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Explicitly modelling </a:t>
            </a:r>
            <a:r>
              <a:rPr sz="4106" b="1">
                <a:solidFill>
                  <a:srgbClr val="111111"/>
                </a:solidFill>
                <a:latin typeface="Arial"/>
              </a:rPr>
              <a:t>how</a:t>
            </a:r>
            <a:r>
              <a:rPr sz="4106" b="0">
                <a:solidFill>
                  <a:srgbClr val="1C1C1C"/>
                </a:solidFill>
                <a:latin typeface="Arial"/>
              </a:rPr>
              <a:t> clinical data are observed, not just their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values, yields survival models that are both more accurate and far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more </a:t>
            </a:r>
            <a:r>
              <a:rPr sz="4106" b="1">
                <a:solidFill>
                  <a:srgbClr val="111111"/>
                </a:solidFill>
                <a:latin typeface="Arial"/>
              </a:rPr>
              <a:t>transportable</a:t>
            </a:r>
            <a:r>
              <a:rPr sz="4106" b="0">
                <a:solidFill>
                  <a:srgbClr val="1C1C1C"/>
                </a:solidFill>
                <a:latin typeface="Arial"/>
              </a:rPr>
              <a:t> when clinical practice shifts. Clinical presence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is signal, not noise, and building it into the model is what makes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medical predictions transfer across settings, and even flags when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observation process itself has changed.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16393" y="25879206"/>
            <a:ext cx="16000194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Headline Numbers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991" y="27728604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DeepJointFeature</a:t>
            </a:r>
            <a:r>
              <a:rPr sz="4106" b="0">
                <a:solidFill>
                  <a:srgbClr val="1C1C1C"/>
                </a:solidFill>
                <a:latin typeface="Arial"/>
              </a:rPr>
              <a:t> stays closest to the diagonal, most robust to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shift; the fine-tuned variant overfits and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Feature</a:t>
            </a:r>
            <a:r>
              <a:rPr sz="4106" b="0">
                <a:solidFill>
                  <a:srgbClr val="1C1C1C"/>
                </a:solidFill>
                <a:latin typeface="Arial"/>
              </a:rPr>
              <a:t> alone is shift-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sensitive.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16375" y="7106582"/>
            <a:ext cx="16000212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An </a:t>
            </a:r>
            <a:r>
              <a:rPr sz="4106" b="1">
                <a:solidFill>
                  <a:srgbClr val="111111"/>
                </a:solidFill>
                <a:latin typeface="Arial"/>
              </a:rPr>
              <a:t>LSTM</a:t>
            </a:r>
            <a:r>
              <a:rPr sz="4106" b="0">
                <a:solidFill>
                  <a:srgbClr val="1C1C1C"/>
                </a:solidFill>
                <a:latin typeface="Arial"/>
              </a:rPr>
              <a:t> encodes each patient's irregular ICU test sequence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into a shared embedding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; three heads then model clinical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presence, longitudinal values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(Gaussian)</a:t>
            </a:r>
            <a:r>
              <a:rPr sz="4106" b="0">
                <a:solidFill>
                  <a:srgbClr val="1C1C1C"/>
                </a:solidFill>
                <a:latin typeface="Arial"/>
              </a:rPr>
              <a:t>, missingness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(Bernoulli)</a:t>
            </a:r>
            <a:r>
              <a:rPr sz="4106" b="0">
                <a:solidFill>
                  <a:srgbClr val="1C1C1C"/>
                </a:solidFill>
                <a:latin typeface="Arial"/>
              </a:rPr>
              <a:t> and timing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(cumulative intensity)</a:t>
            </a:r>
            <a:r>
              <a:rPr sz="4106" b="0">
                <a:solidFill>
                  <a:srgbClr val="1C1C1C"/>
                </a:solidFill>
                <a:latin typeface="Arial"/>
              </a:rPr>
              <a:t>, while a </a:t>
            </a:r>
            <a:r>
              <a:rPr sz="4106" b="1">
                <a:solidFill>
                  <a:srgbClr val="111111"/>
                </a:solidFill>
                <a:latin typeface="Arial"/>
              </a:rPr>
              <a:t>DeepSurv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Cox head models survival, all trained jointly.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9972" y="12802433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same patients present differently under different observation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processes; a model overfit to one regime fails when practice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shifts.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15790" y="13517245"/>
            <a:ext cx="14754344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Time-dependent C-Index at 1 / 7 / 14-day horizons (higher is better).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Proposed models (bold) lead at short horizons.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9972" y="15253573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weekend effect</a:t>
            </a:r>
            <a:r>
              <a:rPr sz="4106" b="0">
                <a:solidFill>
                  <a:srgbClr val="1C1C1C"/>
                </a:solidFill>
                <a:latin typeface="Arial"/>
              </a:rPr>
              <a:t>, differing test intensity and mortality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weekend vs weekday admissions, offers a controllable shift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stress-test robustness.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9972" y="17704712"/>
            <a:ext cx="1600021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work uses missingness or timing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in isolation</a:t>
            </a:r>
            <a:r>
              <a:rPr sz="4106" b="0">
                <a:solidFill>
                  <a:srgbClr val="1C1C1C"/>
                </a:solidFill>
                <a:latin typeface="Arial"/>
              </a:rPr>
              <a:t>, not the full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observation process jointly with survival.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92777" y="18180883"/>
            <a:ext cx="1600035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MIMIC-III</a:t>
            </a:r>
            <a:r>
              <a:rPr sz="4106" b="0">
                <a:solidFill>
                  <a:srgbClr val="1C1C1C"/>
                </a:solidFill>
                <a:latin typeface="Arial"/>
              </a:rPr>
              <a:t> ICU laboratory tests, 38,597 patients at Beth Israel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Deaconess (2001–12).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92777" y="19875817"/>
            <a:ext cx="16000351" cy="1791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Filtered to </a:t>
            </a:r>
            <a:r>
              <a:rPr sz="4353" b="1">
                <a:solidFill>
                  <a:srgbClr val="111111"/>
                </a:solidFill>
                <a:latin typeface="Arial"/>
              </a:rPr>
              <a:t>30,834</a:t>
            </a:r>
            <a:r>
              <a:rPr sz="4106" b="0">
                <a:solidFill>
                  <a:srgbClr val="1C1C1C"/>
                </a:solidFill>
                <a:latin typeface="Arial"/>
              </a:rPr>
              <a:t> patients surviving the first 24 h post-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admission.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439387" y="23633509"/>
            <a:ext cx="14754206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Deep Joint Model: an LSTM embedding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h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drives the longitudinal (L), inter-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observation (I), missingness (M) and survival (S) networks.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62985" y="26042977"/>
            <a:ext cx="14754205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Transferred (y-axis) vs oracle (x-axis) discrimination under the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weekday↔weekend shift, at 1 / 7 / 14-day horizons. Closer to the diagonal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= more robust.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801294" y="21772582"/>
            <a:ext cx="47383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30,834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79314" y="21772582"/>
            <a:ext cx="4738449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90/10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7474" y="21772582"/>
            <a:ext cx="4738449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1·7·14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801294" y="22674778"/>
            <a:ext cx="47383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patients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079314" y="22674778"/>
            <a:ext cx="4738449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train / test split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57474" y="22674778"/>
            <a:ext cx="4738449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day horizons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062257" y="27203816"/>
            <a:ext cx="10563254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0.878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062257" y="28578710"/>
            <a:ext cx="10563254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C-Index · 1-day horizon · MIMIC-III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62257" y="29100164"/>
            <a:ext cx="10563254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State-of-the-art vs input-matched models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369781" y="27203816"/>
            <a:ext cx="168397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30,834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187231" y="27337166"/>
            <a:ext cx="201547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ICU patients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69781" y="28059062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850119" y="28192412"/>
            <a:ext cx="327781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presence processes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369781" y="28914447"/>
            <a:ext cx="152773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1/7/14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35545" y="29047797"/>
            <a:ext cx="207671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day horizons</a:t>
            </a:r>
          </a:p>
        </p:txBody>
      </p:sp>
      <p:pic>
        <p:nvPicPr>
          <p:cNvPr id="73" name="Picture 72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6393" y="11830923"/>
            <a:ext cx="15573474" cy="1619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
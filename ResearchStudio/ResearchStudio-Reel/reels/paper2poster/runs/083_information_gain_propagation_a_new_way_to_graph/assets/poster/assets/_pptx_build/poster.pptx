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837424"/>
          </a:xfrm>
          <a:prstGeom prst="roundRect">
            <a:avLst>
              <a:gd name="adj" fmla="val 3706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010765"/>
            <a:ext cx="16349682" cy="6710422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010765"/>
            <a:ext cx="16349682" cy="18495367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010765"/>
            <a:ext cx="16349821" cy="18075314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053034"/>
            <a:ext cx="16349682" cy="18018918"/>
          </a:xfrm>
          <a:prstGeom prst="roundRect">
            <a:avLst>
              <a:gd name="adj" fmla="val 101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23417926"/>
            <a:ext cx="16349821" cy="6654026"/>
          </a:xfrm>
          <a:prstGeom prst="roundRect">
            <a:avLst>
              <a:gd name="adj" fmla="val 2493"/>
            </a:avLst>
          </a:prstGeom>
          <a:solidFill>
            <a:srgbClr val="EDF1F7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23417926"/>
            <a:ext cx="53340" cy="6654026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28289" y="23837979"/>
            <a:ext cx="16349682" cy="6233973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7938" y="1185006"/>
            <a:ext cx="4978400" cy="14465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39991" y="5398869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6309121"/>
            <a:ext cx="1557347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16393" y="5398869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16393" y="6309121"/>
            <a:ext cx="1557347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92795" y="5398869"/>
            <a:ext cx="1557361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92795" y="6309121"/>
            <a:ext cx="15573613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9176285"/>
            <a:ext cx="1557347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9176285"/>
            <a:ext cx="124460" cy="215902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2441138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3351390"/>
            <a:ext cx="1557347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637245" y="23806030"/>
            <a:ext cx="1552916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37245" y="24716283"/>
            <a:ext cx="15529163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816393" y="24226083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16393" y="25136336"/>
            <a:ext cx="15573474" cy="17780"/>
          </a:xfrm>
          <a:prstGeom prst="rect">
            <a:avLst/>
          </a:prstGeom>
          <a:solidFill>
            <a:srgbClr val="CDD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637245" y="25054103"/>
            <a:ext cx="15529163" cy="3024823"/>
          </a:xfrm>
          <a:prstGeom prst="roundRect">
            <a:avLst>
              <a:gd name="adj" fmla="val 689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991" y="28042393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eking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4303" y="3093636"/>
            <a:ext cx="1042908" cy="1040019"/>
          </a:xfrm>
          <a:prstGeom prst="rect">
            <a:avLst/>
          </a:prstGeom>
        </p:spPr>
      </p:pic>
      <p:pic>
        <p:nvPicPr>
          <p:cNvPr id="28" name="Picture 27" descr="ap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4185" y="3093600"/>
            <a:ext cx="846633" cy="104009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34599741" y="11693822"/>
            <a:ext cx="15559583" cy="9724688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9782" y="11693822"/>
            <a:ext cx="15559501" cy="972468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39991" y="17732494"/>
            <a:ext cx="7267991" cy="3609478"/>
          </a:xfrm>
          <a:prstGeom prst="roundRect">
            <a:avLst>
              <a:gd name="adj" fmla="val 577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45473" y="17732494"/>
            <a:ext cx="7267992" cy="3609478"/>
          </a:xfrm>
          <a:prstGeom prst="roundRect">
            <a:avLst>
              <a:gd name="adj" fmla="val 5779"/>
            </a:avLst>
          </a:prstGeom>
          <a:solidFill>
            <a:srgbClr val="F1F3F8"/>
          </a:solidFill>
          <a:ln w="8890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835701" y="18978483"/>
            <a:ext cx="15534858" cy="3415982"/>
          </a:xfrm>
          <a:prstGeom prst="roundRect">
            <a:avLst>
              <a:gd name="adj" fmla="val 104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35880" y="18978483"/>
            <a:ext cx="15534500" cy="341598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39991" y="21929407"/>
            <a:ext cx="15573474" cy="4507091"/>
          </a:xfrm>
          <a:prstGeom prst="roundRect">
            <a:avLst>
              <a:gd name="adj" fmla="val 78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087" y="21929407"/>
            <a:ext cx="15573282" cy="4507091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4637245" y="28078926"/>
            <a:ext cx="3686711" cy="1604922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584683" y="28078926"/>
            <a:ext cx="3686850" cy="1604922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532260" y="28078926"/>
            <a:ext cx="3686711" cy="1604922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479698" y="28078926"/>
            <a:ext cx="3686710" cy="1604922"/>
          </a:xfrm>
          <a:prstGeom prst="roundRect">
            <a:avLst>
              <a:gd name="adj" fmla="val 16248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816393" y="28864024"/>
            <a:ext cx="1497548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Cora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470350" y="28864024"/>
            <a:ext cx="2237085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Citeseer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863843" y="28864024"/>
            <a:ext cx="2211249" cy="819824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PubMed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231500" y="28864024"/>
            <a:ext cx="186648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Reddit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254392" y="28864024"/>
            <a:ext cx="275340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ogbn-arxiv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816393" y="681640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816393" y="873803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592795" y="9863593"/>
            <a:ext cx="15573613" cy="945119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7816393" y="1065966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816393" y="12581294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592795" y="7266880"/>
            <a:ext cx="5045075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7964467"/>
            <a:ext cx="504507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637870" y="7266880"/>
            <a:ext cx="2697004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637870" y="7964467"/>
            <a:ext cx="269700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334874" y="7266880"/>
            <a:ext cx="4165382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334874" y="7964467"/>
            <a:ext cx="41653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500256" y="7266880"/>
            <a:ext cx="3666152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500256" y="7964467"/>
            <a:ext cx="366615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592795" y="7973357"/>
            <a:ext cx="50450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592795" y="8909585"/>
            <a:ext cx="504507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637870" y="7973357"/>
            <a:ext cx="26970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637870" y="8909585"/>
            <a:ext cx="269700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334874" y="7973357"/>
            <a:ext cx="41653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334874" y="8909585"/>
            <a:ext cx="41653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500256" y="7973357"/>
            <a:ext cx="366615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500256" y="8909585"/>
            <a:ext cx="366615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592795" y="8918475"/>
            <a:ext cx="50450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592795" y="9854703"/>
            <a:ext cx="504507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9637870" y="8918475"/>
            <a:ext cx="269700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637870" y="9854703"/>
            <a:ext cx="269700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334874" y="8918475"/>
            <a:ext cx="41653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334874" y="9854703"/>
            <a:ext cx="41653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6500256" y="8918475"/>
            <a:ext cx="366615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500256" y="9854703"/>
            <a:ext cx="366615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592795" y="9863593"/>
            <a:ext cx="504507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4592795" y="10799822"/>
            <a:ext cx="5045075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9637870" y="9863593"/>
            <a:ext cx="2697004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9637870" y="10799822"/>
            <a:ext cx="2697004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334874" y="9863593"/>
            <a:ext cx="416538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334874" y="10799822"/>
            <a:ext cx="416538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500256" y="9863593"/>
            <a:ext cx="366615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500256" y="10799822"/>
            <a:ext cx="3666152" cy="11557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15581" y="1007487"/>
            <a:ext cx="42838270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1D3A87"/>
                </a:solidFill>
                <a:latin typeface="Arial"/>
              </a:rPr>
              <a:t>Information Gain Propagation: A New Way to Graph Active Learning with Soft Labels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5581" y="2363350"/>
            <a:ext cx="42838270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Wentao Zhang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Yexin Wang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Zhenbang You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Meng Cao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Ping Huang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Jiulong Shan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Zhi Yang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1,3</a:t>
            </a:r>
            <a:r>
              <a:rPr sz="3920" b="0">
                <a:solidFill>
                  <a:srgbClr val="1B2331"/>
                </a:solidFill>
                <a:latin typeface="Arial"/>
              </a:rPr>
              <a:t>, Bin Cui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1,3,4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15581" y="3063577"/>
            <a:ext cx="42838270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Peking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Apple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Nat'l Eng. Lab for Big Data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Inst. Computational Social Science, PKU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91" y="5398869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Problem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816393" y="5398869"/>
            <a:ext cx="16000194" cy="1067236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Method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92795" y="5398869"/>
            <a:ext cx="16000333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Key Results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9991" y="6646941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GNNs need many labeled nodes, yet every prior graph </a:t>
            </a:r>
            <a:r>
              <a:rPr sz="4106" b="1">
                <a:solidFill>
                  <a:srgbClr val="111111"/>
                </a:solidFill>
                <a:latin typeface="Arial"/>
              </a:rPr>
              <a:t>active-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learning</a:t>
            </a:r>
            <a:r>
              <a:rPr sz="4106" b="0">
                <a:solidFill>
                  <a:srgbClr val="1C1C1C"/>
                </a:solidFill>
                <a:latin typeface="Arial"/>
              </a:rPr>
              <a:t> method assumes an oracle can name the </a:t>
            </a:r>
            <a:r>
              <a:rPr sz="4106" b="1">
                <a:solidFill>
                  <a:srgbClr val="111111"/>
                </a:solidFill>
                <a:latin typeface="Arial"/>
              </a:rPr>
              <a:t>exact class</a:t>
            </a:r>
            <a:r>
              <a:rPr sz="4106" b="0">
                <a:solidFill>
                  <a:srgbClr val="1C1C1C"/>
                </a:solidFill>
                <a:latin typeface="Arial"/>
              </a:rPr>
              <a:t>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each selected node.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991" y="9176285"/>
            <a:ext cx="16000194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Exact multi-class labeling is costly, especially when categories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are many or out-of-domain (e.g. ogbn-papers100M has 172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classes) — the budget is spent inefficiently.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12441138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Motivation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816393" y="17124779"/>
            <a:ext cx="15848370" cy="1534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Select nodes whose expected information gain propagates farthest across each receptive field RF, within labeling budget B.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637245" y="23806030"/>
            <a:ext cx="1595588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Takeaway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16393" y="24226083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Dataset / Benchmark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637245" y="25054103"/>
            <a:ext cx="15955883" cy="3478546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Ask a cheap yes/no question and pick nodes whose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information gain propagates farthest — graph active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learning gets more accurate </a:t>
            </a:r>
            <a:r>
              <a:rPr sz="4106" b="1" i="1">
                <a:solidFill>
                  <a:srgbClr val="FFFFFF"/>
                </a:solidFill>
                <a:latin typeface="Arial"/>
              </a:rPr>
              <a:t>and</a:t>
            </a:r>
            <a:r>
              <a:rPr sz="4106" b="1">
                <a:solidFill>
                  <a:srgbClr val="FFFFFF"/>
                </a:solidFill>
                <a:latin typeface="Arial"/>
              </a:rPr>
              <a:t> far cheaper to label, on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any GNN backbone.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91" y="28042393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Cheaper queries plus propagation-aware selection extract more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D3A87"/>
                </a:solidFill>
                <a:latin typeface="Arial"/>
              </a:rPr>
              <a:t>supervision per labeling dollar.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778535" y="6816407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Train</a:t>
            </a:r>
            <a:r>
              <a:rPr sz="4106" b="0">
                <a:solidFill>
                  <a:srgbClr val="1C1C1C"/>
                </a:solidFill>
                <a:latin typeface="Arial"/>
              </a:rPr>
              <a:t> a GNN on the currently labeled nodes with their </a:t>
            </a:r>
            <a:r>
              <a:rPr sz="4106" b="1">
                <a:solidFill>
                  <a:srgbClr val="111111"/>
                </a:solidFill>
                <a:latin typeface="Arial"/>
              </a:rPr>
              <a:t>soft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labels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778535" y="8738036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Score</a:t>
            </a:r>
            <a:r>
              <a:rPr sz="4106" b="0">
                <a:solidFill>
                  <a:srgbClr val="1C1C1C"/>
                </a:solidFill>
                <a:latin typeface="Arial"/>
              </a:rPr>
              <a:t> each node's </a:t>
            </a:r>
            <a:r>
              <a:rPr sz="4106" b="1">
                <a:solidFill>
                  <a:srgbClr val="111111"/>
                </a:solidFill>
                <a:latin typeface="Arial"/>
              </a:rPr>
              <a:t>influence magnitude</a:t>
            </a:r>
            <a:r>
              <a:rPr sz="4106" b="0">
                <a:solidFill>
                  <a:srgbClr val="1C1C1C"/>
                </a:solidFill>
                <a:latin typeface="Arial"/>
              </a:rPr>
              <a:t> on its k-hop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neighbors via graph propagation.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778535" y="10659665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Select</a:t>
            </a:r>
            <a:r>
              <a:rPr sz="4106" b="0">
                <a:solidFill>
                  <a:srgbClr val="1C1C1C"/>
                </a:solidFill>
                <a:latin typeface="Arial"/>
              </a:rPr>
              <a:t> the budget-limited set maximizing </a:t>
            </a:r>
            <a:r>
              <a:rPr sz="4106" b="1">
                <a:solidFill>
                  <a:srgbClr val="111111"/>
                </a:solidFill>
                <a:latin typeface="Arial"/>
              </a:rPr>
              <a:t>information gain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propagation</a:t>
            </a:r>
            <a:r>
              <a:rPr sz="4106" b="0">
                <a:solidFill>
                  <a:srgbClr val="1C1C1C"/>
                </a:solidFill>
                <a:latin typeface="Arial"/>
              </a:rPr>
              <a:t> (IGP).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778535" y="12581294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Relabel</a:t>
            </a:r>
            <a:r>
              <a:rPr sz="4106" b="0">
                <a:solidFill>
                  <a:srgbClr val="1C1C1C"/>
                </a:solidFill>
                <a:latin typeface="Arial"/>
              </a:rPr>
              <a:t> via a binary query → normalized soft label, then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update &amp; repeat.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9972" y="14015918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Confirming a guess is cheap.</a:t>
            </a:r>
            <a:r>
              <a:rPr sz="4106" b="0">
                <a:solidFill>
                  <a:srgbClr val="1C1C1C"/>
                </a:solidFill>
                <a:latin typeface="Arial"/>
              </a:rPr>
              <a:t> A binary yes/no query costs far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less per node than naming the exact class among many.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9972" y="15710852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Labels propagate.</a:t>
            </a:r>
            <a:r>
              <a:rPr sz="4106" b="0">
                <a:solidFill>
                  <a:srgbClr val="1C1C1C"/>
                </a:solidFill>
                <a:latin typeface="Arial"/>
              </a:rPr>
              <a:t> One labeled node sways its k-hop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neighbors, yet prior criteria score only single-node uncertainty.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38276" y="17732494"/>
            <a:ext cx="800210" cy="869635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D3A87"/>
                </a:solidFill>
                <a:latin typeface="Arial"/>
              </a:rPr>
              <a:t>vs.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222180" y="21568112"/>
            <a:ext cx="14741425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4: Accuracy vs labeling budget on Cora — IGP (pink) leads at every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budget.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939269" y="22544067"/>
            <a:ext cx="7547410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3: The IGP active-learning loop.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816375" y="25474156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Cost-based budget.</a:t>
            </a:r>
            <a:r>
              <a:rPr sz="4106" b="0">
                <a:solidFill>
                  <a:srgbClr val="1C1C1C"/>
                </a:solidFill>
                <a:latin typeface="Arial"/>
              </a:rPr>
              <a:t> The budget is true annotation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cost</a:t>
            </a:r>
            <a:r>
              <a:rPr sz="4106" b="0">
                <a:solidFill>
                  <a:srgbClr val="1C1C1C"/>
                </a:solidFill>
                <a:latin typeface="Arial"/>
              </a:rPr>
              <a:t>, not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label count — an exact query costs ~c−1× a relaxed one.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62985" y="26586100"/>
            <a:ext cx="1475420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Figure 1: A relaxed binary query yields a soft label, versus the exact-class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query of prior work.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816375" y="27169090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Budgets swept from </a:t>
            </a:r>
            <a:r>
              <a:rPr sz="4106" b="1">
                <a:solidFill>
                  <a:srgbClr val="111111"/>
                </a:solidFill>
                <a:latin typeface="Arial"/>
              </a:rPr>
              <a:t>2C to 20C</a:t>
            </a:r>
            <a:r>
              <a:rPr sz="4106" b="0">
                <a:solidFill>
                  <a:srgbClr val="1C1C1C"/>
                </a:solidFill>
                <a:latin typeface="Arial"/>
              </a:rPr>
              <a:t> labels (C = #classes) across five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standard graph benchmarks.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83493" y="17949882"/>
            <a:ext cx="6984416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PRIOR AL QUERY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88976" y="17949882"/>
            <a:ext cx="6984415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OUR RELAXED QUERY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83493" y="18595240"/>
            <a:ext cx="698441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"Which exact category?" —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hard multi-class question,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~c−1× the cost.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88976" y="18595240"/>
            <a:ext cx="698441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"Is the predicted label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correct?" — one binary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yes/no → a soft label.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845744" y="28235334"/>
            <a:ext cx="33678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86.4%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793181" y="28235334"/>
            <a:ext cx="336794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+2.2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740758" y="28235334"/>
            <a:ext cx="33678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688196" y="28235334"/>
            <a:ext cx="33678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1D3A87"/>
                </a:solidFill>
                <a:latin typeface="Arial"/>
              </a:rP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845744" y="29137530"/>
            <a:ext cx="33678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Cora acc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793181" y="29137530"/>
            <a:ext cx="3367949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pts vs GRAIN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740758" y="29137530"/>
            <a:ext cx="33678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datasets SOTA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688196" y="29137530"/>
            <a:ext cx="3367805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GNN backbones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592795" y="7266880"/>
            <a:ext cx="519642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637870" y="7266880"/>
            <a:ext cx="277791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CORA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334874" y="7266880"/>
            <a:ext cx="429034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CITESEER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500256" y="7266880"/>
            <a:ext cx="3776136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PUBMED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592795" y="7973357"/>
            <a:ext cx="519642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Random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637870" y="7973357"/>
            <a:ext cx="277791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78.8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334874" y="7973357"/>
            <a:ext cx="429034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70.8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500256" y="7973357"/>
            <a:ext cx="377613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78.9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592795" y="8918475"/>
            <a:ext cx="519642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GRAIN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9637870" y="8918475"/>
            <a:ext cx="277791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84.2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334874" y="8918475"/>
            <a:ext cx="429034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74.2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500256" y="8918475"/>
            <a:ext cx="377613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81.8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592795" y="9863593"/>
            <a:ext cx="5196427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IGP (ours)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637870" y="9863593"/>
            <a:ext cx="277791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86.4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2334874" y="9863593"/>
            <a:ext cx="429034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75.8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500256" y="9863593"/>
            <a:ext cx="3776136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83.6</a:t>
            </a:r>
          </a:p>
        </p:txBody>
      </p:sp>
      <p:pic>
        <p:nvPicPr>
          <p:cNvPr id="137" name="Picture 136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6393" y="14881026"/>
            <a:ext cx="15573474" cy="1633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
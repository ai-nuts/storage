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c78e5019160a7eb6.png"/><Relationship Id="rId3" Type="http://schemas.openxmlformats.org/officeDocument/2006/relationships/image" Target="../media/image_0f35ec848c92afdd.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8401b21f5939ce2a.jpg"/><Relationship Id="rId3" Type="http://schemas.openxmlformats.org/officeDocument/2006/relationships/image" Target="../media/image_6b8703ea28a270fe.jpg"/><Relationship Id="rId4" Type="http://schemas.openxmlformats.org/officeDocument/2006/relationships/image" Target="../media/image_1bc6db35cd96c37a.jpg"/><Relationship Id="rId5" Type="http://schemas.openxmlformats.org/officeDocument/2006/relationships/image" Target="../media/image_6b05a2a47166985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2e1db286a935b49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chemeClr val="accent1"/>
          </a:solidFill>
          <a:ln>
            <a:noFill/>
          </a:ln>
        </p:spPr>
        <p:txBody>
          <a:bodyPr/>
          <a:p/>
        </p:txBody>
      </p:sp>
      <p:sp>
        <p:nvSpPr>
          <p:cNvPr id="3" name="TextBox 3"/>
          <p:cNvSpPr txBox="1"/>
          <p:nvPr/>
        </p:nvSpPr>
        <p:spPr>
          <a:xfrm>
            <a:off x="679704" y="613410"/>
            <a:ext cx="3387547" cy="234696"/>
          </a:xfrm>
          <a:prstGeom prst="rect">
            <a:avLst/>
          </a:prstGeom>
          <a:noFill/>
          <a:ln>
            <a:noFill/>
          </a:ln>
        </p:spPr>
        <p:txBody>
          <a:bodyPr wrap="none" lIns="0" tIns="0" rIns="0" bIns="0" anchor="t" anchorCtr="0">
            <a:spAutoFit/>
          </a:bodyPr>
          <a:lstStyle/>
          <a:p>
            <a:pPr algn="l"/>
            <a:r>
              <a:rPr lang="en-US" sz="1200" b="1" spc="150" dirty="0">
                <a:solidFill>
                  <a:schemeClr val="dk2"/>
                </a:solidFill>
                <a:latin typeface="+mn-lt"/>
                <a:ea typeface="+mn-ea"/>
                <a:cs typeface="+mn-cs"/>
              </a:rPr>
              <a:t>NEURIPS 2022 · ML4PS WORKSHOP</a:t>
            </a:r>
          </a:p>
        </p:txBody>
      </p:sp>
      <p:pic>
        <p:nvPicPr>
          <p:cNvPr id="4" name="Image 4"/>
          <p:cNvPicPr>
            <a:picLocks noChangeAspect="1"/>
          </p:cNvPicPr>
          <p:nvPr/>
        </p:nvPicPr>
        <p:blipFill>
          <a:blip r:embed="rId2"/>
          <a:stretch>
            <a:fillRect/>
          </a:stretch>
        </p:blipFill>
        <p:spPr>
          <a:xfrm>
            <a:off x="9639300" y="438150"/>
            <a:ext cx="1866900" cy="914400"/>
          </a:xfrm>
          <a:prstGeom prst="rect">
            <a:avLst/>
          </a:prstGeom>
        </p:spPr>
      </p:pic>
      <p:sp>
        <p:nvSpPr>
          <p:cNvPr id="5" name="TextBox 5"/>
          <p:cNvSpPr txBox="1"/>
          <p:nvPr/>
        </p:nvSpPr>
        <p:spPr>
          <a:xfrm>
            <a:off x="668274" y="884872"/>
            <a:ext cx="6951078" cy="674751"/>
          </a:xfrm>
          <a:prstGeom prst="rect">
            <a:avLst/>
          </a:prstGeom>
          <a:noFill/>
          <a:ln>
            <a:noFill/>
          </a:ln>
        </p:spPr>
        <p:txBody>
          <a:bodyPr wrap="none" lIns="0" tIns="0" rIns="0" bIns="0" anchor="t" anchorCtr="0">
            <a:spAutoFit/>
          </a:bodyPr>
          <a:lstStyle/>
          <a:p>
            <a:pPr algn="l"/>
            <a:r>
              <a:rPr lang="en-US" sz="3450" b="1" dirty="0">
                <a:solidFill>
                  <a:schemeClr val="accent1"/>
                </a:solidFill>
                <a:latin typeface="+mn-lt"/>
                <a:ea typeface="+mn-ea"/>
                <a:cs typeface="+mn-cs"/>
              </a:rPr>
              <a:t>Self-supervised</a:t>
            </a:r>
            <a:r>
              <a:rPr lang="en-US" sz="3450" b="1" dirty="0">
                <a:solidFill>
                  <a:schemeClr val="dk1"/>
                </a:solidFill>
                <a:latin typeface="+mn-lt"/>
                <a:ea typeface="+mn-ea"/>
                <a:cs typeface="+mn-cs"/>
              </a:rPr>
              <a:t xml:space="preserve"> detection of</a:t>
            </a:r>
          </a:p>
        </p:txBody>
      </p:sp>
      <p:sp>
        <p:nvSpPr>
          <p:cNvPr id="6" name="TextBox 6"/>
          <p:cNvSpPr txBox="1"/>
          <p:nvPr/>
        </p:nvSpPr>
        <p:spPr>
          <a:xfrm>
            <a:off x="668274" y="1380172"/>
            <a:ext cx="7935773" cy="674751"/>
          </a:xfrm>
          <a:prstGeom prst="rect">
            <a:avLst/>
          </a:prstGeom>
          <a:noFill/>
          <a:ln>
            <a:noFill/>
          </a:ln>
        </p:spPr>
        <p:txBody>
          <a:bodyPr wrap="none" lIns="0" tIns="0" rIns="0" bIns="0" anchor="t" anchorCtr="0">
            <a:spAutoFit/>
          </a:bodyPr>
          <a:lstStyle/>
          <a:p>
            <a:pPr algn="l"/>
            <a:r>
              <a:rPr lang="en-US" sz="3450" b="1" dirty="0">
                <a:solidFill>
                  <a:schemeClr val="dk1"/>
                </a:solidFill>
                <a:latin typeface="+mn-lt"/>
                <a:ea typeface="+mn-ea"/>
                <a:cs typeface="+mn-cs"/>
              </a:rPr>
              <a:t>atmospheric phenomena from SAR</a:t>
            </a:r>
          </a:p>
        </p:txBody>
      </p:sp>
      <p:sp>
        <p:nvSpPr>
          <p:cNvPr id="7" name="TextBox 7"/>
          <p:cNvSpPr txBox="1"/>
          <p:nvPr/>
        </p:nvSpPr>
        <p:spPr>
          <a:xfrm>
            <a:off x="678561" y="1960721"/>
            <a:ext cx="7663186"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Yannik Glaser · Peter Sadowski · Justin E. Stopa — University of Hawaiʻi at Mānoa</a:t>
            </a:r>
          </a:p>
        </p:txBody>
      </p:sp>
      <p:grpSp>
        <p:nvGrpSpPr>
          <p:cNvPr id="11" name="Group 11"/>
          <p:cNvGrpSpPr/>
          <p:nvPr/>
        </p:nvGrpSpPr>
        <p:grpSpPr>
          <a:xfrm>
            <a:off x="685800" y="2438400"/>
            <a:ext cx="10820400" cy="1866900"/>
            <a:chOff x="685800" y="2438400"/>
            <a:chExt cx="10820400" cy="1866900"/>
          </a:xfrm>
        </p:grpSpPr>
        <p:sp>
          <p:nvSpPr>
            <p:cNvPr id="8" name="Rectangle 8"/>
            <p:cNvSpPr/>
            <p:nvPr/>
          </p:nvSpPr>
          <p:spPr>
            <a:xfrm>
              <a:off x="685800" y="2438400"/>
              <a:ext cx="10820400" cy="1866900"/>
            </a:xfrm>
            <a:prstGeom prst="roundRect">
              <a:avLst>
                <a:gd name="adj" fmla="val 7143"/>
              </a:avLst>
            </a:prstGeom>
            <a:solidFill>
              <a:schemeClr val="lt2"/>
            </a:solidFill>
            <a:ln w="9525">
              <a:solidFill>
                <a:schemeClr val="accent4"/>
              </a:solidFill>
            </a:ln>
          </p:spPr>
        </p:sp>
        <p:sp>
          <p:nvSpPr>
            <p:cNvPr id="9" name="TextBox 9"/>
            <p:cNvSpPr txBox="1"/>
            <p:nvPr/>
          </p:nvSpPr>
          <p:spPr>
            <a:xfrm>
              <a:off x="906399" y="2592229"/>
              <a:ext cx="6791020"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n-lt"/>
                  <a:ea typeface="+mn-ea"/>
                  <a:cs typeface="+mn-cs"/>
                </a:rPr>
                <a:t>Radar reads the sea surface — day or night, through any cloud</a:t>
              </a:r>
            </a:p>
          </p:txBody>
        </p:sp>
        <p:pic>
          <p:nvPicPr>
            <p:cNvPr id="10" name="Image 10"/>
            <p:cNvPicPr>
              <a:picLocks noChangeAspect="1"/>
            </p:cNvPicPr>
            <p:nvPr/>
          </p:nvPicPr>
          <p:blipFill>
            <a:blip r:embed="rId3"/>
            <a:stretch>
              <a:fillRect/>
            </a:stretch>
          </p:blipFill>
          <p:spPr>
            <a:xfrm>
              <a:off x="3163572" y="2876550"/>
              <a:ext cx="5864855" cy="1314450"/>
            </a:xfrm>
            <a:prstGeom prst="rect">
              <a:avLst/>
            </a:prstGeom>
          </p:spPr>
        </p:pic>
      </p:grpSp>
      <p:grpSp>
        <p:nvGrpSpPr>
          <p:cNvPr id="18" name="Group 18"/>
          <p:cNvGrpSpPr/>
          <p:nvPr/>
        </p:nvGrpSpPr>
        <p:grpSpPr>
          <a:xfrm>
            <a:off x="685800" y="4533900"/>
            <a:ext cx="5219700" cy="1676400"/>
            <a:chOff x="685800" y="4533900"/>
            <a:chExt cx="5219700" cy="1676400"/>
          </a:xfrm>
        </p:grpSpPr>
        <p:sp>
          <p:nvSpPr>
            <p:cNvPr id="12" name="Rectangle 12"/>
            <p:cNvSpPr/>
            <p:nvPr/>
          </p:nvSpPr>
          <p:spPr>
            <a:xfrm>
              <a:off x="685800" y="4533900"/>
              <a:ext cx="5219700" cy="1676400"/>
            </a:xfrm>
            <a:prstGeom prst="roundRect">
              <a:avLst>
                <a:gd name="adj" fmla="val 7955"/>
              </a:avLst>
            </a:prstGeom>
            <a:solidFill>
              <a:schemeClr val="lt2"/>
            </a:solidFill>
            <a:ln w="9525">
              <a:solidFill>
                <a:schemeClr val="accent4"/>
              </a:solidFill>
            </a:ln>
          </p:spPr>
        </p:sp>
        <p:sp>
          <p:nvSpPr>
            <p:cNvPr id="13" name="Rectangle 13"/>
            <p:cNvSpPr/>
            <p:nvPr/>
          </p:nvSpPr>
          <p:spPr>
            <a:xfrm>
              <a:off x="685800" y="4533900"/>
              <a:ext cx="76200" cy="1676400"/>
            </a:xfrm>
            <a:prstGeom prst="roundRect">
              <a:avLst>
                <a:gd name="adj" fmla="val 50000"/>
              </a:avLst>
            </a:prstGeom>
            <a:solidFill>
              <a:schemeClr val="accent2"/>
            </a:solidFill>
            <a:ln>
              <a:noFill/>
            </a:ln>
          </p:spPr>
        </p:sp>
        <p:sp>
          <p:nvSpPr>
            <p:cNvPr id="14" name="TextBox 14"/>
            <p:cNvSpPr txBox="1"/>
            <p:nvPr/>
          </p:nvSpPr>
          <p:spPr>
            <a:xfrm>
              <a:off x="981456" y="4739640"/>
              <a:ext cx="2862849"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The labeling bottleneck</a:t>
              </a:r>
            </a:p>
          </p:txBody>
        </p:sp>
        <p:sp>
          <p:nvSpPr>
            <p:cNvPr id="15" name="TextBox 15"/>
            <p:cNvSpPr txBox="1"/>
            <p:nvPr/>
          </p:nvSpPr>
          <p:spPr>
            <a:xfrm>
              <a:off x="982599" y="5144929"/>
              <a:ext cx="4330557" cy="308039"/>
            </a:xfrm>
            <a:prstGeom prst="rect">
              <a:avLst/>
            </a:prstGeom>
            <a:noFill/>
            <a:ln>
              <a:noFill/>
            </a:ln>
          </p:spPr>
          <p:txBody>
            <a:bodyPr wrap="none" lIns="0" tIns="0" rIns="0" bIns="0" anchor="t" anchorCtr="0">
              <a:spAutoFit/>
            </a:bodyPr>
            <a:lstStyle/>
            <a:p>
              <a:pPr algn="l"/>
              <a:r>
                <a:rPr lang="en-US" sz="1580" dirty="0">
                  <a:solidFill>
                    <a:schemeClr val="dk1"/>
                  </a:solidFill>
                  <a:latin typeface="+mn-lt"/>
                  <a:ea typeface="+mn-ea"/>
                  <a:cs typeface="+mn-cs"/>
                </a:rPr>
                <a:t>Teaching machines to read radar is hard —</a:t>
              </a:r>
            </a:p>
          </p:txBody>
        </p:sp>
        <p:sp>
          <p:nvSpPr>
            <p:cNvPr id="16" name="TextBox 16"/>
            <p:cNvSpPr txBox="1"/>
            <p:nvPr/>
          </p:nvSpPr>
          <p:spPr>
            <a:xfrm>
              <a:off x="982599" y="5421154"/>
              <a:ext cx="3759515" cy="308039"/>
            </a:xfrm>
            <a:prstGeom prst="rect">
              <a:avLst/>
            </a:prstGeom>
            <a:noFill/>
            <a:ln>
              <a:noFill/>
            </a:ln>
          </p:spPr>
          <p:txBody>
            <a:bodyPr wrap="none" lIns="0" tIns="0" rIns="0" bIns="0" anchor="t" anchorCtr="0">
              <a:spAutoFit/>
            </a:bodyPr>
            <a:lstStyle/>
            <a:p>
              <a:pPr algn="l"/>
              <a:r>
                <a:rPr lang="en-US" sz="1580" dirty="0">
                  <a:solidFill>
                    <a:schemeClr val="dk1"/>
                  </a:solidFill>
                  <a:latin typeface="+mn-lt"/>
                  <a:ea typeface="+mn-ea"/>
                  <a:cs typeface="+mn-cs"/>
                </a:rPr>
                <a:t>only trained experts can label it, so</a:t>
              </a:r>
            </a:p>
          </p:txBody>
        </p:sp>
        <p:sp>
          <p:nvSpPr>
            <p:cNvPr id="17" name="TextBox 17"/>
            <p:cNvSpPr txBox="1"/>
            <p:nvPr/>
          </p:nvSpPr>
          <p:spPr>
            <a:xfrm>
              <a:off x="982599" y="5697379"/>
              <a:ext cx="2791732" cy="308039"/>
            </a:xfrm>
            <a:prstGeom prst="rect">
              <a:avLst/>
            </a:prstGeom>
            <a:noFill/>
            <a:ln>
              <a:noFill/>
            </a:ln>
          </p:spPr>
          <p:txBody>
            <a:bodyPr wrap="none" lIns="0" tIns="0" rIns="0" bIns="0" anchor="t" anchorCtr="0">
              <a:spAutoFit/>
            </a:bodyPr>
            <a:lstStyle/>
            <a:p>
              <a:pPr algn="l"/>
              <a:r>
                <a:rPr lang="en-US" sz="1580" dirty="0">
                  <a:solidFill>
                    <a:schemeClr val="dk1"/>
                  </a:solidFill>
                  <a:latin typeface="+mn-lt"/>
                  <a:ea typeface="+mn-ea"/>
                  <a:cs typeface="+mn-cs"/>
                </a:rPr>
                <a:t>expert labels stay scarce.</a:t>
              </a:r>
            </a:p>
          </p:txBody>
        </p:sp>
      </p:grpSp>
      <p:grpSp>
        <p:nvGrpSpPr>
          <p:cNvPr id="25" name="Group 25"/>
          <p:cNvGrpSpPr/>
          <p:nvPr/>
        </p:nvGrpSpPr>
        <p:grpSpPr>
          <a:xfrm>
            <a:off x="6286500" y="4533900"/>
            <a:ext cx="5219700" cy="1676400"/>
            <a:chOff x="6286500" y="4533900"/>
            <a:chExt cx="5219700" cy="1676400"/>
          </a:xfrm>
        </p:grpSpPr>
        <p:sp>
          <p:nvSpPr>
            <p:cNvPr id="19" name="Rectangle 19"/>
            <p:cNvSpPr/>
            <p:nvPr/>
          </p:nvSpPr>
          <p:spPr>
            <a:xfrm>
              <a:off x="6286500" y="4533900"/>
              <a:ext cx="5219700" cy="1676400"/>
            </a:xfrm>
            <a:prstGeom prst="roundRect">
              <a:avLst>
                <a:gd name="adj" fmla="val 7955"/>
              </a:avLst>
            </a:prstGeom>
            <a:solidFill>
              <a:schemeClr val="lt2"/>
            </a:solidFill>
            <a:ln w="9525">
              <a:solidFill>
                <a:schemeClr val="accent4"/>
              </a:solidFill>
            </a:ln>
          </p:spPr>
        </p:sp>
        <p:sp>
          <p:nvSpPr>
            <p:cNvPr id="20" name="Rectangle 20"/>
            <p:cNvSpPr/>
            <p:nvPr/>
          </p:nvSpPr>
          <p:spPr>
            <a:xfrm>
              <a:off x="6286500" y="4533900"/>
              <a:ext cx="76200" cy="1676400"/>
            </a:xfrm>
            <a:prstGeom prst="roundRect">
              <a:avLst>
                <a:gd name="adj" fmla="val 50000"/>
              </a:avLst>
            </a:prstGeom>
            <a:solidFill>
              <a:schemeClr val="accent1"/>
            </a:solidFill>
            <a:ln>
              <a:noFill/>
            </a:ln>
          </p:spPr>
        </p:sp>
        <p:sp>
          <p:nvSpPr>
            <p:cNvPr id="21" name="TextBox 21"/>
            <p:cNvSpPr txBox="1"/>
            <p:nvPr/>
          </p:nvSpPr>
          <p:spPr>
            <a:xfrm>
              <a:off x="6582156" y="4739640"/>
              <a:ext cx="1846056"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This work asks</a:t>
              </a:r>
            </a:p>
          </p:txBody>
        </p:sp>
        <p:sp>
          <p:nvSpPr>
            <p:cNvPr id="22" name="TextBox 22"/>
            <p:cNvSpPr txBox="1"/>
            <p:nvPr/>
          </p:nvSpPr>
          <p:spPr>
            <a:xfrm>
              <a:off x="6583299" y="5144929"/>
              <a:ext cx="4170549" cy="308039"/>
            </a:xfrm>
            <a:prstGeom prst="rect">
              <a:avLst/>
            </a:prstGeom>
            <a:noFill/>
            <a:ln>
              <a:noFill/>
            </a:ln>
          </p:spPr>
          <p:txBody>
            <a:bodyPr wrap="none" lIns="0" tIns="0" rIns="0" bIns="0" anchor="t" anchorCtr="0">
              <a:spAutoFit/>
            </a:bodyPr>
            <a:lstStyle/>
            <a:p>
              <a:pPr algn="l"/>
              <a:r>
                <a:rPr lang="en-US" sz="1580" dirty="0">
                  <a:solidFill>
                    <a:schemeClr val="dk1"/>
                  </a:solidFill>
                  <a:latin typeface="+mn-lt"/>
                  <a:ea typeface="+mn-ea"/>
                  <a:cs typeface="+mn-cs"/>
                </a:rPr>
                <a:t>Can self-supervised learning on 3 million</a:t>
              </a:r>
            </a:p>
          </p:txBody>
        </p:sp>
        <p:sp>
          <p:nvSpPr>
            <p:cNvPr id="23" name="TextBox 23"/>
            <p:cNvSpPr txBox="1"/>
            <p:nvPr/>
          </p:nvSpPr>
          <p:spPr>
            <a:xfrm>
              <a:off x="6583299" y="5421154"/>
              <a:ext cx="4426004" cy="308039"/>
            </a:xfrm>
            <a:prstGeom prst="rect">
              <a:avLst/>
            </a:prstGeom>
            <a:noFill/>
            <a:ln>
              <a:noFill/>
            </a:ln>
          </p:spPr>
          <p:txBody>
            <a:bodyPr wrap="none" lIns="0" tIns="0" rIns="0" bIns="0" anchor="t" anchorCtr="0">
              <a:spAutoFit/>
            </a:bodyPr>
            <a:lstStyle/>
            <a:p>
              <a:pPr algn="l"/>
              <a:r>
                <a:rPr lang="en-US" sz="1580" dirty="0">
                  <a:solidFill>
                    <a:schemeClr val="dk1"/>
                  </a:solidFill>
                  <a:latin typeface="+mn-lt"/>
                  <a:ea typeface="+mn-ea"/>
                  <a:cs typeface="+mn-cs"/>
                </a:rPr>
                <a:t>unlabeled Sentinel-1 images overcome that</a:t>
              </a:r>
            </a:p>
          </p:txBody>
        </p:sp>
        <p:sp>
          <p:nvSpPr>
            <p:cNvPr id="24" name="TextBox 24"/>
            <p:cNvSpPr txBox="1"/>
            <p:nvPr/>
          </p:nvSpPr>
          <p:spPr>
            <a:xfrm>
              <a:off x="6583299" y="5697379"/>
              <a:ext cx="4436866" cy="308039"/>
            </a:xfrm>
            <a:prstGeom prst="rect">
              <a:avLst/>
            </a:prstGeom>
            <a:noFill/>
            <a:ln>
              <a:noFill/>
            </a:ln>
          </p:spPr>
          <p:txBody>
            <a:bodyPr wrap="none" lIns="0" tIns="0" rIns="0" bIns="0" anchor="t" anchorCtr="0">
              <a:spAutoFit/>
            </a:bodyPr>
            <a:lstStyle/>
            <a:p>
              <a:pPr algn="l"/>
              <a:r>
                <a:rPr lang="en-US" sz="1580" dirty="0">
                  <a:solidFill>
                    <a:schemeClr val="dk1"/>
                  </a:solidFill>
                  <a:latin typeface="+mn-lt"/>
                  <a:ea typeface="+mn-ea"/>
                  <a:cs typeface="+mn-cs"/>
                </a:rPr>
                <a:t>bottleneck? An honest, preliminary study.</a:t>
              </a:r>
            </a:p>
          </p:txBody>
        </p:sp>
      </p:grpSp>
      <p:sp>
        <p:nvSpPr>
          <p:cNvPr id="26" name="cue_s01_c1_satellite_radar_sees_ocean_day" title="cue_s01_c1_satellite_radar_sees_ocean_day" descr="cue_s01_c1_satellite_radar_sees_ocean_day Satellite radar sees the ocean day and night, through any cloud cover, capturing wind streaks, convective cells, and other atmospheric signatures on the sea surface."/>
          <p:cNvSpPr/>
          <p:nvPr/>
        </p:nvSpPr>
        <p:spPr>
          <a:xfrm>
            <a:off x="686409" y="2438704"/>
            <a:ext cx="108204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ue_s01_c2_but_teaching_machines_read_these" title="cue_s01_c2_but_teaching_machines_read_these" descr="cue_s01_c2_but_teaching_machines_read_these But teaching machines to read these images is hard, because expert labels are scarce."/>
          <p:cNvSpPr/>
          <p:nvPr/>
        </p:nvSpPr>
        <p:spPr>
          <a:xfrm>
            <a:off x="686409" y="4533823"/>
            <a:ext cx="5219395"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ue_s01_c3_work_asks_whether_self_supervised_le" title="cue_s01_c3_work_asks_whether_self_supervised_le" descr="cue_s01_c3_work_asks_whether_self_supervised_le This work asks whether self-supervised learning on three million unlabeled Sentinel-1 radar images can overcome that labeling bottleneck, and honestly reports what it found."/>
          <p:cNvSpPr/>
          <p:nvPr/>
        </p:nvSpPr>
        <p:spPr>
          <a:xfrm>
            <a:off x="6286195" y="4533823"/>
            <a:ext cx="5219395"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79704" y="632460"/>
            <a:ext cx="1411834" cy="234696"/>
          </a:xfrm>
          <a:prstGeom prst="rect">
            <a:avLst/>
          </a:prstGeom>
          <a:noFill/>
          <a:ln>
            <a:noFill/>
          </a:ln>
        </p:spPr>
        <p:txBody>
          <a:bodyPr wrap="none" lIns="0" tIns="0" rIns="0" bIns="0" anchor="t" anchorCtr="0">
            <a:spAutoFit/>
          </a:bodyPr>
          <a:lstStyle/>
          <a:p>
            <a:pPr algn="l"/>
            <a:r>
              <a:rPr lang="en-US" sz="1200" b="1" spc="150" dirty="0">
                <a:solidFill>
                  <a:schemeClr val="dk2"/>
                </a:solidFill>
                <a:latin typeface="+mn-lt"/>
                <a:ea typeface="+mn-ea"/>
                <a:cs typeface="+mn-cs"/>
              </a:rPr>
              <a:t>02 · PROBLEM</a:t>
            </a:r>
          </a:p>
        </p:txBody>
      </p:sp>
      <p:sp>
        <p:nvSpPr>
          <p:cNvPr id="3" name="Rectangle 3"/>
          <p:cNvSpPr/>
          <p:nvPr/>
        </p:nvSpPr>
        <p:spPr>
          <a:xfrm>
            <a:off x="685800" y="876300"/>
            <a:ext cx="419100" cy="38100"/>
          </a:xfrm>
          <a:prstGeom prst="rect">
            <a:avLst/>
          </a:prstGeom>
          <a:solidFill>
            <a:schemeClr val="accent1"/>
          </a:solidFill>
          <a:ln>
            <a:noFill/>
          </a:ln>
        </p:spPr>
        <p:txBody>
          <a:bodyPr/>
          <a:p/>
        </p:txBody>
      </p:sp>
      <p:sp>
        <p:nvSpPr>
          <p:cNvPr id="4" name="TextBox 4"/>
          <p:cNvSpPr txBox="1"/>
          <p:nvPr/>
        </p:nvSpPr>
        <p:spPr>
          <a:xfrm>
            <a:off x="669798" y="993458"/>
            <a:ext cx="8306578"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n-lt"/>
                <a:ea typeface="+mn-ea"/>
                <a:cs typeface="+mn-cs"/>
              </a:rPr>
              <a:t xml:space="preserve">A firehose of images, almost </a:t>
            </a:r>
            <a:r>
              <a:rPr lang="en-US" sz="3150" b="1" dirty="0">
                <a:solidFill>
                  <a:schemeClr val="accent2"/>
                </a:solidFill>
                <a:latin typeface="+mn-lt"/>
                <a:ea typeface="+mn-ea"/>
                <a:cs typeface="+mn-cs"/>
              </a:rPr>
              <a:t>no labels</a:t>
            </a:r>
          </a:p>
        </p:txBody>
      </p:sp>
      <p:grpSp>
        <p:nvGrpSpPr>
          <p:cNvPr id="12" name="Group 12"/>
          <p:cNvGrpSpPr/>
          <p:nvPr/>
        </p:nvGrpSpPr>
        <p:grpSpPr>
          <a:xfrm>
            <a:off x="685800" y="1714500"/>
            <a:ext cx="5219700" cy="1952625"/>
            <a:chOff x="685800" y="1714500"/>
            <a:chExt cx="5219700" cy="1952625"/>
          </a:xfrm>
        </p:grpSpPr>
        <p:sp>
          <p:nvSpPr>
            <p:cNvPr id="5" name="Rectangle 5"/>
            <p:cNvSpPr/>
            <p:nvPr/>
          </p:nvSpPr>
          <p:spPr>
            <a:xfrm>
              <a:off x="685800" y="1714500"/>
              <a:ext cx="5219700" cy="1952625"/>
            </a:xfrm>
            <a:prstGeom prst="roundRect">
              <a:avLst>
                <a:gd name="adj" fmla="val 6829"/>
              </a:avLst>
            </a:prstGeom>
            <a:solidFill>
              <a:schemeClr val="lt2"/>
            </a:solidFill>
            <a:ln w="9525">
              <a:solidFill>
                <a:schemeClr val="accent4"/>
              </a:solidFill>
            </a:ln>
          </p:spPr>
        </p:sp>
        <p:sp>
          <p:nvSpPr>
            <p:cNvPr id="6" name="Rectangle 6"/>
            <p:cNvSpPr/>
            <p:nvPr/>
          </p:nvSpPr>
          <p:spPr>
            <a:xfrm>
              <a:off x="685800" y="1714500"/>
              <a:ext cx="76200" cy="1952625"/>
            </a:xfrm>
            <a:prstGeom prst="roundRect">
              <a:avLst>
                <a:gd name="adj" fmla="val 50000"/>
              </a:avLst>
            </a:prstGeom>
            <a:solidFill>
              <a:schemeClr val="accent1"/>
            </a:solidFill>
            <a:ln>
              <a:noFill/>
            </a:ln>
          </p:spPr>
        </p:sp>
        <p:sp>
          <p:nvSpPr>
            <p:cNvPr id="7" name="TextBox 7"/>
            <p:cNvSpPr txBox="1"/>
            <p:nvPr/>
          </p:nvSpPr>
          <p:spPr>
            <a:xfrm>
              <a:off x="981456" y="1901190"/>
              <a:ext cx="3156234"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Sentinel-1 at global scale</a:t>
              </a:r>
            </a:p>
          </p:txBody>
        </p:sp>
        <p:sp>
          <p:nvSpPr>
            <p:cNvPr id="8" name="TextBox 8"/>
            <p:cNvSpPr txBox="1"/>
            <p:nvPr/>
          </p:nvSpPr>
          <p:spPr>
            <a:xfrm>
              <a:off x="982980" y="2314575"/>
              <a:ext cx="430352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ESA's Sentinel-1 radar satellites image the</a:t>
              </a:r>
            </a:p>
          </p:txBody>
        </p:sp>
        <p:sp>
          <p:nvSpPr>
            <p:cNvPr id="9" name="TextBox 9"/>
            <p:cNvSpPr txBox="1"/>
            <p:nvPr/>
          </p:nvSpPr>
          <p:spPr>
            <a:xfrm>
              <a:off x="982980" y="2590800"/>
              <a:ext cx="372065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global ocean at unprecedented scale —</a:t>
              </a:r>
            </a:p>
          </p:txBody>
        </p:sp>
        <p:sp>
          <p:nvSpPr>
            <p:cNvPr id="10" name="TextBox 10"/>
            <p:cNvSpPr txBox="1"/>
            <p:nvPr/>
          </p:nvSpPr>
          <p:spPr>
            <a:xfrm>
              <a:off x="982980" y="2867025"/>
              <a:ext cx="415480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waves, turbulence, fronts, and biological</a:t>
              </a:r>
            </a:p>
          </p:txBody>
        </p:sp>
        <p:sp>
          <p:nvSpPr>
            <p:cNvPr id="11" name="TextBox 11"/>
            <p:cNvSpPr txBox="1"/>
            <p:nvPr/>
          </p:nvSpPr>
          <p:spPr>
            <a:xfrm>
              <a:off x="982980" y="3143250"/>
              <a:ext cx="267062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slicks all leave signatures.</a:t>
              </a:r>
            </a:p>
          </p:txBody>
        </p:sp>
      </p:grpSp>
      <p:grpSp>
        <p:nvGrpSpPr>
          <p:cNvPr id="20" name="Group 20"/>
          <p:cNvGrpSpPr/>
          <p:nvPr/>
        </p:nvGrpSpPr>
        <p:grpSpPr>
          <a:xfrm>
            <a:off x="6286500" y="1714500"/>
            <a:ext cx="5219700" cy="1952625"/>
            <a:chOff x="6286500" y="1714500"/>
            <a:chExt cx="5219700" cy="1952625"/>
          </a:xfrm>
        </p:grpSpPr>
        <p:sp>
          <p:nvSpPr>
            <p:cNvPr id="13" name="Rectangle 13"/>
            <p:cNvSpPr/>
            <p:nvPr/>
          </p:nvSpPr>
          <p:spPr>
            <a:xfrm>
              <a:off x="6286500" y="1714500"/>
              <a:ext cx="5219700" cy="1952625"/>
            </a:xfrm>
            <a:prstGeom prst="roundRect">
              <a:avLst>
                <a:gd name="adj" fmla="val 6829"/>
              </a:avLst>
            </a:prstGeom>
            <a:solidFill>
              <a:schemeClr val="lt2"/>
            </a:solidFill>
            <a:ln w="9525">
              <a:solidFill>
                <a:schemeClr val="accent4"/>
              </a:solidFill>
            </a:ln>
          </p:spPr>
        </p:sp>
        <p:sp>
          <p:nvSpPr>
            <p:cNvPr id="14" name="Rectangle 14"/>
            <p:cNvSpPr/>
            <p:nvPr/>
          </p:nvSpPr>
          <p:spPr>
            <a:xfrm>
              <a:off x="6286500" y="1714500"/>
              <a:ext cx="76200" cy="1952625"/>
            </a:xfrm>
            <a:prstGeom prst="roundRect">
              <a:avLst>
                <a:gd name="adj" fmla="val 50000"/>
              </a:avLst>
            </a:prstGeom>
            <a:solidFill>
              <a:schemeClr val="accent1"/>
            </a:solidFill>
            <a:ln>
              <a:noFill/>
            </a:ln>
          </p:spPr>
        </p:sp>
        <p:sp>
          <p:nvSpPr>
            <p:cNvPr id="15" name="TextBox 15"/>
            <p:cNvSpPr txBox="1"/>
            <p:nvPr/>
          </p:nvSpPr>
          <p:spPr>
            <a:xfrm>
              <a:off x="6582156" y="1901190"/>
              <a:ext cx="3728653"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Vision is ready, labels are not</a:t>
              </a:r>
            </a:p>
          </p:txBody>
        </p:sp>
        <p:sp>
          <p:nvSpPr>
            <p:cNvPr id="16" name="TextBox 16"/>
            <p:cNvSpPr txBox="1"/>
            <p:nvPr/>
          </p:nvSpPr>
          <p:spPr>
            <a:xfrm>
              <a:off x="6583680" y="2314575"/>
              <a:ext cx="425251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Computer vision can process these images,</a:t>
              </a:r>
            </a:p>
          </p:txBody>
        </p:sp>
        <p:sp>
          <p:nvSpPr>
            <p:cNvPr id="17" name="TextBox 17"/>
            <p:cNvSpPr txBox="1"/>
            <p:nvPr/>
          </p:nvSpPr>
          <p:spPr>
            <a:xfrm>
              <a:off x="6583680" y="2590800"/>
              <a:ext cx="412451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but machine learning is held back by a lack</a:t>
              </a:r>
            </a:p>
          </p:txBody>
        </p:sp>
        <p:sp>
          <p:nvSpPr>
            <p:cNvPr id="18" name="TextBox 18"/>
            <p:cNvSpPr txBox="1"/>
            <p:nvPr/>
          </p:nvSpPr>
          <p:spPr>
            <a:xfrm>
              <a:off x="6583680" y="2867025"/>
              <a:ext cx="412451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of labeled data — only trained experts can</a:t>
              </a:r>
            </a:p>
          </p:txBody>
        </p:sp>
        <p:sp>
          <p:nvSpPr>
            <p:cNvPr id="19" name="TextBox 19"/>
            <p:cNvSpPr txBox="1"/>
            <p:nvPr/>
          </p:nvSpPr>
          <p:spPr>
            <a:xfrm>
              <a:off x="6583680" y="3143250"/>
              <a:ext cx="264033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annotate radar vignettes.</a:t>
              </a:r>
            </a:p>
          </p:txBody>
        </p:sp>
      </p:grpSp>
      <p:grpSp>
        <p:nvGrpSpPr>
          <p:cNvPr id="28" name="Group 28"/>
          <p:cNvGrpSpPr/>
          <p:nvPr/>
        </p:nvGrpSpPr>
        <p:grpSpPr>
          <a:xfrm>
            <a:off x="685800" y="3857625"/>
            <a:ext cx="5219700" cy="1952625"/>
            <a:chOff x="685800" y="3857625"/>
            <a:chExt cx="5219700" cy="1952625"/>
          </a:xfrm>
        </p:grpSpPr>
        <p:sp>
          <p:nvSpPr>
            <p:cNvPr id="21" name="Rectangle 21"/>
            <p:cNvSpPr/>
            <p:nvPr/>
          </p:nvSpPr>
          <p:spPr>
            <a:xfrm>
              <a:off x="685800" y="3857625"/>
              <a:ext cx="5219700" cy="1952625"/>
            </a:xfrm>
            <a:prstGeom prst="roundRect">
              <a:avLst>
                <a:gd name="adj" fmla="val 6829"/>
              </a:avLst>
            </a:prstGeom>
            <a:solidFill>
              <a:schemeClr val="lt2"/>
            </a:solidFill>
            <a:ln w="9525">
              <a:solidFill>
                <a:schemeClr val="accent4"/>
              </a:solidFill>
            </a:ln>
          </p:spPr>
        </p:sp>
        <p:sp>
          <p:nvSpPr>
            <p:cNvPr id="22" name="Rectangle 22"/>
            <p:cNvSpPr/>
            <p:nvPr/>
          </p:nvSpPr>
          <p:spPr>
            <a:xfrm>
              <a:off x="685800" y="3857625"/>
              <a:ext cx="76200" cy="1952625"/>
            </a:xfrm>
            <a:prstGeom prst="roundRect">
              <a:avLst>
                <a:gd name="adj" fmla="val 50000"/>
              </a:avLst>
            </a:prstGeom>
            <a:solidFill>
              <a:schemeClr val="accent2"/>
            </a:solidFill>
            <a:ln>
              <a:noFill/>
            </a:ln>
          </p:spPr>
        </p:sp>
        <p:sp>
          <p:nvSpPr>
            <p:cNvPr id="23" name="TextBox 23"/>
            <p:cNvSpPr txBox="1"/>
            <p:nvPr/>
          </p:nvSpPr>
          <p:spPr>
            <a:xfrm>
              <a:off x="981456" y="4044315"/>
              <a:ext cx="2927020"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A biased legacy dataset</a:t>
              </a:r>
            </a:p>
          </p:txBody>
        </p:sp>
        <p:sp>
          <p:nvSpPr>
            <p:cNvPr id="24" name="TextBox 24"/>
            <p:cNvSpPr txBox="1"/>
            <p:nvPr/>
          </p:nvSpPr>
          <p:spPr>
            <a:xfrm>
              <a:off x="982980" y="4457700"/>
              <a:ext cx="389894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Earlier work relied on a biased set that</a:t>
              </a:r>
            </a:p>
          </p:txBody>
        </p:sp>
        <p:sp>
          <p:nvSpPr>
            <p:cNvPr id="25" name="TextBox 25"/>
            <p:cNvSpPr txBox="1"/>
            <p:nvPr/>
          </p:nvSpPr>
          <p:spPr>
            <a:xfrm>
              <a:off x="982980" y="4733925"/>
              <a:ext cx="414470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picked only exemplary images and forced a</a:t>
              </a:r>
            </a:p>
          </p:txBody>
        </p:sp>
        <p:sp>
          <p:nvSpPr>
            <p:cNvPr id="26" name="TextBox 26"/>
            <p:cNvSpPr txBox="1"/>
            <p:nvPr/>
          </p:nvSpPr>
          <p:spPr>
            <a:xfrm>
              <a:off x="982980" y="5010150"/>
              <a:ext cx="349853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single label per image — even though</a:t>
              </a:r>
            </a:p>
          </p:txBody>
        </p:sp>
        <p:sp>
          <p:nvSpPr>
            <p:cNvPr id="27" name="TextBox 27"/>
            <p:cNvSpPr txBox="1"/>
            <p:nvPr/>
          </p:nvSpPr>
          <p:spPr>
            <a:xfrm>
              <a:off x="982980" y="5286375"/>
              <a:ext cx="269081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phenomena usually coexist.</a:t>
              </a:r>
            </a:p>
          </p:txBody>
        </p:sp>
      </p:grpSp>
      <p:grpSp>
        <p:nvGrpSpPr>
          <p:cNvPr id="35" name="Group 35"/>
          <p:cNvGrpSpPr/>
          <p:nvPr/>
        </p:nvGrpSpPr>
        <p:grpSpPr>
          <a:xfrm>
            <a:off x="6286500" y="3857625"/>
            <a:ext cx="5219700" cy="1952625"/>
            <a:chOff x="6286500" y="3857625"/>
            <a:chExt cx="5219700" cy="1952625"/>
          </a:xfrm>
        </p:grpSpPr>
        <p:sp>
          <p:nvSpPr>
            <p:cNvPr id="29" name="Rectangle 29"/>
            <p:cNvSpPr/>
            <p:nvPr/>
          </p:nvSpPr>
          <p:spPr>
            <a:xfrm>
              <a:off x="6286500" y="3857625"/>
              <a:ext cx="5219700" cy="1952625"/>
            </a:xfrm>
            <a:prstGeom prst="roundRect">
              <a:avLst>
                <a:gd name="adj" fmla="val 6829"/>
              </a:avLst>
            </a:prstGeom>
            <a:solidFill>
              <a:schemeClr val="lt2"/>
            </a:solidFill>
            <a:ln w="9525">
              <a:solidFill>
                <a:schemeClr val="accent4"/>
              </a:solidFill>
            </a:ln>
          </p:spPr>
        </p:sp>
        <p:sp>
          <p:nvSpPr>
            <p:cNvPr id="30" name="Rectangle 30"/>
            <p:cNvSpPr/>
            <p:nvPr/>
          </p:nvSpPr>
          <p:spPr>
            <a:xfrm>
              <a:off x="6286500" y="3857625"/>
              <a:ext cx="76200" cy="1952625"/>
            </a:xfrm>
            <a:prstGeom prst="roundRect">
              <a:avLst>
                <a:gd name="adj" fmla="val 50000"/>
              </a:avLst>
            </a:prstGeom>
            <a:solidFill>
              <a:schemeClr val="accent2"/>
            </a:solidFill>
            <a:ln>
              <a:noFill/>
            </a:ln>
          </p:spPr>
        </p:sp>
        <p:sp>
          <p:nvSpPr>
            <p:cNvPr id="31" name="TextBox 31"/>
            <p:cNvSpPr txBox="1"/>
            <p:nvPr/>
          </p:nvSpPr>
          <p:spPr>
            <a:xfrm>
              <a:off x="6582156" y="4044315"/>
              <a:ext cx="2291276"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Not the real ocean</a:t>
              </a:r>
            </a:p>
          </p:txBody>
        </p:sp>
        <p:sp>
          <p:nvSpPr>
            <p:cNvPr id="32" name="TextBox 32"/>
            <p:cNvSpPr txBox="1"/>
            <p:nvPr/>
          </p:nvSpPr>
          <p:spPr>
            <a:xfrm>
              <a:off x="6583680" y="4457700"/>
              <a:ext cx="412124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The result was a training set that did not</a:t>
              </a:r>
            </a:p>
          </p:txBody>
        </p:sp>
        <p:sp>
          <p:nvSpPr>
            <p:cNvPr id="33" name="TextBox 33"/>
            <p:cNvSpPr txBox="1"/>
            <p:nvPr/>
          </p:nvSpPr>
          <p:spPr>
            <a:xfrm>
              <a:off x="6583680" y="4733925"/>
              <a:ext cx="373075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reflect the real distribution of ocean</a:t>
              </a:r>
            </a:p>
          </p:txBody>
        </p:sp>
        <p:sp>
          <p:nvSpPr>
            <p:cNvPr id="34" name="TextBox 34"/>
            <p:cNvSpPr txBox="1"/>
            <p:nvPr/>
          </p:nvSpPr>
          <p:spPr>
            <a:xfrm>
              <a:off x="6583680" y="5010150"/>
              <a:ext cx="329660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conditions the models must face.</a:t>
              </a:r>
            </a:p>
          </p:txBody>
        </p:sp>
      </p:grpSp>
      <p:sp>
        <p:nvSpPr>
          <p:cNvPr id="36" name="cue_s02_c1_european_space_agency_sentinel_1_rad" title="cue_s02_c1_european_space_agency_sentinel_1_rad" descr="cue_s02_c1_european_space_agency_sentinel_1_rad The European Space Agency's Sentinel-1 radar satellites image the global ocean at unprecedented scale, capturing waves, turbulence, fronts, and biological slicks."/>
          <p:cNvSpPr/>
          <p:nvPr/>
        </p:nvSpPr>
        <p:spPr>
          <a:xfrm>
            <a:off x="686409" y="1714500"/>
            <a:ext cx="5219395" cy="195247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2_c2_computer_vision_process_these_images" title="cue_s02_c2_computer_vision_process_these_images" descr="cue_s02_c2_computer_vision_process_these_images Computer vision can process these images, but machine learning has been held back by a lack of labeled data, since only trained experts can annotate radar vignettes."/>
          <p:cNvSpPr/>
          <p:nvPr/>
        </p:nvSpPr>
        <p:spPr>
          <a:xfrm>
            <a:off x="6286195" y="1714500"/>
            <a:ext cx="5219395" cy="195247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2_c3_earlier_work_also_relied_biased" title="cue_s02_c3_earlier_work_also_relied_biased" descr="cue_s02_c3_earlier_work_also_relied_biased Earlier work also relied on a biased dataset that picked only exemplary images and forced a single label per image, even though multiple phenomena usually coexist."/>
          <p:cNvSpPr/>
          <p:nvPr/>
        </p:nvSpPr>
        <p:spPr>
          <a:xfrm>
            <a:off x="686409" y="3857625"/>
            <a:ext cx="5219395" cy="195247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2_c4_result_set_did_not_reflect" title="cue_s02_c4_result_set_did_not_reflect" descr="cue_s02_c4_result_set_did_not_reflect The result was a training set that did not reflect the real distribution of ocean conditions."/>
          <p:cNvSpPr/>
          <p:nvPr/>
        </p:nvSpPr>
        <p:spPr>
          <a:xfrm>
            <a:off x="6286195" y="3857625"/>
            <a:ext cx="5219395" cy="195247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79704" y="632460"/>
            <a:ext cx="1717792" cy="234696"/>
          </a:xfrm>
          <a:prstGeom prst="rect">
            <a:avLst/>
          </a:prstGeom>
          <a:noFill/>
          <a:ln>
            <a:noFill/>
          </a:ln>
        </p:spPr>
        <p:txBody>
          <a:bodyPr wrap="none" lIns="0" tIns="0" rIns="0" bIns="0" anchor="t" anchorCtr="0">
            <a:spAutoFit/>
          </a:bodyPr>
          <a:lstStyle/>
          <a:p>
            <a:pPr algn="l"/>
            <a:r>
              <a:rPr lang="en-US" sz="1200" b="1" spc="150" dirty="0">
                <a:solidFill>
                  <a:schemeClr val="dk2"/>
                </a:solidFill>
                <a:latin typeface="+mn-lt"/>
                <a:ea typeface="+mn-ea"/>
                <a:cs typeface="+mn-cs"/>
              </a:rPr>
              <a:t>03 · MOTIVATION</a:t>
            </a:r>
          </a:p>
        </p:txBody>
      </p:sp>
      <p:sp>
        <p:nvSpPr>
          <p:cNvPr id="3" name="Rectangle 3"/>
          <p:cNvSpPr/>
          <p:nvPr/>
        </p:nvSpPr>
        <p:spPr>
          <a:xfrm>
            <a:off x="685800" y="876300"/>
            <a:ext cx="419100" cy="38100"/>
          </a:xfrm>
          <a:prstGeom prst="rect">
            <a:avLst/>
          </a:prstGeom>
          <a:solidFill>
            <a:schemeClr val="accent1"/>
          </a:solidFill>
          <a:ln>
            <a:noFill/>
          </a:ln>
        </p:spPr>
        <p:txBody>
          <a:bodyPr/>
          <a:p/>
        </p:txBody>
      </p:sp>
      <p:sp>
        <p:nvSpPr>
          <p:cNvPr id="4" name="TextBox 4"/>
          <p:cNvSpPr txBox="1"/>
          <p:nvPr/>
        </p:nvSpPr>
        <p:spPr>
          <a:xfrm>
            <a:off x="669798" y="993458"/>
            <a:ext cx="9374777"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n-lt"/>
                <a:ea typeface="+mn-ea"/>
                <a:cs typeface="+mn-cs"/>
              </a:rPr>
              <a:t xml:space="preserve">Contrastive learning, meet </a:t>
            </a:r>
            <a:r>
              <a:rPr lang="en-US" sz="3150" b="1" dirty="0">
                <a:solidFill>
                  <a:schemeClr val="accent1"/>
                </a:solidFill>
                <a:latin typeface="+mn-lt"/>
                <a:ea typeface="+mn-ea"/>
                <a:cs typeface="+mn-cs"/>
              </a:rPr>
              <a:t>remote sensing</a:t>
            </a:r>
          </a:p>
        </p:txBody>
      </p:sp>
      <p:grpSp>
        <p:nvGrpSpPr>
          <p:cNvPr id="12" name="Group 12"/>
          <p:cNvGrpSpPr/>
          <p:nvPr/>
        </p:nvGrpSpPr>
        <p:grpSpPr>
          <a:xfrm>
            <a:off x="685800" y="1714500"/>
            <a:ext cx="5219700" cy="1952625"/>
            <a:chOff x="685800" y="1714500"/>
            <a:chExt cx="5219700" cy="1952625"/>
          </a:xfrm>
        </p:grpSpPr>
        <p:sp>
          <p:nvSpPr>
            <p:cNvPr id="5" name="Rectangle 5"/>
            <p:cNvSpPr/>
            <p:nvPr/>
          </p:nvSpPr>
          <p:spPr>
            <a:xfrm>
              <a:off x="685800" y="1714500"/>
              <a:ext cx="5219700" cy="1952625"/>
            </a:xfrm>
            <a:prstGeom prst="roundRect">
              <a:avLst>
                <a:gd name="adj" fmla="val 6829"/>
              </a:avLst>
            </a:prstGeom>
            <a:solidFill>
              <a:schemeClr val="lt2"/>
            </a:solidFill>
            <a:ln w="9525">
              <a:solidFill>
                <a:schemeClr val="accent4"/>
              </a:solidFill>
            </a:ln>
          </p:spPr>
        </p:sp>
        <p:sp>
          <p:nvSpPr>
            <p:cNvPr id="6" name="Rectangle 6"/>
            <p:cNvSpPr/>
            <p:nvPr/>
          </p:nvSpPr>
          <p:spPr>
            <a:xfrm>
              <a:off x="685800" y="1714500"/>
              <a:ext cx="76200" cy="1952625"/>
            </a:xfrm>
            <a:prstGeom prst="roundRect">
              <a:avLst>
                <a:gd name="adj" fmla="val 50000"/>
              </a:avLst>
            </a:prstGeom>
            <a:solidFill>
              <a:schemeClr val="accent1"/>
            </a:solidFill>
            <a:ln>
              <a:noFill/>
            </a:ln>
          </p:spPr>
        </p:sp>
        <p:sp>
          <p:nvSpPr>
            <p:cNvPr id="7" name="TextBox 7"/>
            <p:cNvSpPr txBox="1"/>
            <p:nvPr/>
          </p:nvSpPr>
          <p:spPr>
            <a:xfrm>
              <a:off x="981456" y="1901190"/>
              <a:ext cx="1655031"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A proven idea</a:t>
              </a:r>
            </a:p>
          </p:txBody>
        </p:sp>
        <p:sp>
          <p:nvSpPr>
            <p:cNvPr id="8" name="TextBox 8"/>
            <p:cNvSpPr txBox="1"/>
            <p:nvPr/>
          </p:nvSpPr>
          <p:spPr>
            <a:xfrm>
              <a:off x="982980" y="2314575"/>
              <a:ext cx="406019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Contrastive self-supervised learning has</a:t>
              </a:r>
            </a:p>
          </p:txBody>
        </p:sp>
        <p:sp>
          <p:nvSpPr>
            <p:cNvPr id="9" name="TextBox 9"/>
            <p:cNvSpPr txBox="1"/>
            <p:nvPr/>
          </p:nvSpPr>
          <p:spPr>
            <a:xfrm>
              <a:off x="982980" y="2590800"/>
              <a:ext cx="435673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transformed computer vision: train on huge</a:t>
              </a:r>
            </a:p>
          </p:txBody>
        </p:sp>
        <p:sp>
          <p:nvSpPr>
            <p:cNvPr id="10" name="TextBox 10"/>
            <p:cNvSpPr txBox="1"/>
            <p:nvPr/>
          </p:nvSpPr>
          <p:spPr>
            <a:xfrm>
              <a:off x="982980" y="2867025"/>
              <a:ext cx="427596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pools of unlabeled data to learn embeddings</a:t>
              </a:r>
            </a:p>
          </p:txBody>
        </p:sp>
        <p:sp>
          <p:nvSpPr>
            <p:cNvPr id="11" name="TextBox 11"/>
            <p:cNvSpPr txBox="1"/>
            <p:nvPr/>
          </p:nvSpPr>
          <p:spPr>
            <a:xfrm>
              <a:off x="982980" y="3143250"/>
              <a:ext cx="367017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that transfer to downstream tasks.</a:t>
              </a:r>
            </a:p>
          </p:txBody>
        </p:sp>
      </p:grpSp>
      <p:grpSp>
        <p:nvGrpSpPr>
          <p:cNvPr id="20" name="Group 20"/>
          <p:cNvGrpSpPr/>
          <p:nvPr/>
        </p:nvGrpSpPr>
        <p:grpSpPr>
          <a:xfrm>
            <a:off x="6286500" y="1714500"/>
            <a:ext cx="5219700" cy="1952625"/>
            <a:chOff x="6286500" y="1714500"/>
            <a:chExt cx="5219700" cy="1952625"/>
          </a:xfrm>
        </p:grpSpPr>
        <p:sp>
          <p:nvSpPr>
            <p:cNvPr id="13" name="Rectangle 13"/>
            <p:cNvSpPr/>
            <p:nvPr/>
          </p:nvSpPr>
          <p:spPr>
            <a:xfrm>
              <a:off x="6286500" y="1714500"/>
              <a:ext cx="5219700" cy="1952625"/>
            </a:xfrm>
            <a:prstGeom prst="roundRect">
              <a:avLst>
                <a:gd name="adj" fmla="val 6829"/>
              </a:avLst>
            </a:prstGeom>
            <a:solidFill>
              <a:schemeClr val="lt2"/>
            </a:solidFill>
            <a:ln w="9525">
              <a:solidFill>
                <a:schemeClr val="accent4"/>
              </a:solidFill>
            </a:ln>
          </p:spPr>
        </p:sp>
        <p:sp>
          <p:nvSpPr>
            <p:cNvPr id="14" name="Rectangle 14"/>
            <p:cNvSpPr/>
            <p:nvPr/>
          </p:nvSpPr>
          <p:spPr>
            <a:xfrm>
              <a:off x="6286500" y="1714500"/>
              <a:ext cx="76200" cy="1952625"/>
            </a:xfrm>
            <a:prstGeom prst="roundRect">
              <a:avLst>
                <a:gd name="adj" fmla="val 50000"/>
              </a:avLst>
            </a:prstGeom>
            <a:solidFill>
              <a:schemeClr val="accent1"/>
            </a:solidFill>
            <a:ln>
              <a:noFill/>
            </a:ln>
          </p:spPr>
        </p:sp>
        <p:sp>
          <p:nvSpPr>
            <p:cNvPr id="15" name="TextBox 15"/>
            <p:cNvSpPr txBox="1"/>
            <p:nvPr/>
          </p:nvSpPr>
          <p:spPr>
            <a:xfrm>
              <a:off x="6582156" y="1901190"/>
              <a:ext cx="2838135"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Rare in remote sensing</a:t>
              </a:r>
            </a:p>
          </p:txBody>
        </p:sp>
        <p:sp>
          <p:nvSpPr>
            <p:cNvPr id="16" name="TextBox 16"/>
            <p:cNvSpPr txBox="1"/>
            <p:nvPr/>
          </p:nvSpPr>
          <p:spPr>
            <a:xfrm>
              <a:off x="6583680" y="2314575"/>
              <a:ext cx="403042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It works for natural and medical images,</a:t>
              </a:r>
            </a:p>
          </p:txBody>
        </p:sp>
        <p:sp>
          <p:nvSpPr>
            <p:cNvPr id="17" name="TextBox 17"/>
            <p:cNvSpPr txBox="1"/>
            <p:nvPr/>
          </p:nvSpPr>
          <p:spPr>
            <a:xfrm>
              <a:off x="6583680" y="2590800"/>
              <a:ext cx="371055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but has rarely been applied to remote</a:t>
              </a:r>
            </a:p>
          </p:txBody>
        </p:sp>
        <p:sp>
          <p:nvSpPr>
            <p:cNvPr id="18" name="TextBox 18"/>
            <p:cNvSpPr txBox="1"/>
            <p:nvPr/>
          </p:nvSpPr>
          <p:spPr>
            <a:xfrm>
              <a:off x="6583680" y="2867025"/>
              <a:ext cx="405384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sensing — exactly where unlabeled data is</a:t>
              </a:r>
            </a:p>
          </p:txBody>
        </p:sp>
        <p:sp>
          <p:nvSpPr>
            <p:cNvPr id="19" name="TextBox 19"/>
            <p:cNvSpPr txBox="1"/>
            <p:nvPr/>
          </p:nvSpPr>
          <p:spPr>
            <a:xfrm>
              <a:off x="6583680" y="3143250"/>
              <a:ext cx="156000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most abundant.</a:t>
              </a:r>
            </a:p>
          </p:txBody>
        </p:sp>
      </p:grpSp>
      <p:grpSp>
        <p:nvGrpSpPr>
          <p:cNvPr id="27" name="Group 27"/>
          <p:cNvGrpSpPr/>
          <p:nvPr/>
        </p:nvGrpSpPr>
        <p:grpSpPr>
          <a:xfrm>
            <a:off x="685800" y="3857625"/>
            <a:ext cx="5219700" cy="1952625"/>
            <a:chOff x="685800" y="3857625"/>
            <a:chExt cx="5219700" cy="1952625"/>
          </a:xfrm>
        </p:grpSpPr>
        <p:sp>
          <p:nvSpPr>
            <p:cNvPr id="21" name="Rectangle 21"/>
            <p:cNvSpPr/>
            <p:nvPr/>
          </p:nvSpPr>
          <p:spPr>
            <a:xfrm>
              <a:off x="685800" y="3857625"/>
              <a:ext cx="5219700" cy="1952625"/>
            </a:xfrm>
            <a:prstGeom prst="roundRect">
              <a:avLst>
                <a:gd name="adj" fmla="val 6829"/>
              </a:avLst>
            </a:prstGeom>
            <a:solidFill>
              <a:schemeClr val="lt2"/>
            </a:solidFill>
            <a:ln w="9525">
              <a:solidFill>
                <a:schemeClr val="accent4"/>
              </a:solidFill>
            </a:ln>
          </p:spPr>
        </p:sp>
        <p:sp>
          <p:nvSpPr>
            <p:cNvPr id="22" name="Rectangle 22"/>
            <p:cNvSpPr/>
            <p:nvPr/>
          </p:nvSpPr>
          <p:spPr>
            <a:xfrm>
              <a:off x="685800" y="3857625"/>
              <a:ext cx="76200" cy="1952625"/>
            </a:xfrm>
            <a:prstGeom prst="roundRect">
              <a:avLst>
                <a:gd name="adj" fmla="val 50000"/>
              </a:avLst>
            </a:prstGeom>
            <a:solidFill>
              <a:schemeClr val="accent1"/>
            </a:solidFill>
            <a:ln>
              <a:noFill/>
            </a:ln>
          </p:spPr>
        </p:sp>
        <p:sp>
          <p:nvSpPr>
            <p:cNvPr id="23" name="TextBox 23"/>
            <p:cNvSpPr txBox="1"/>
            <p:nvPr/>
          </p:nvSpPr>
          <p:spPr>
            <a:xfrm>
              <a:off x="985266" y="4096702"/>
              <a:ext cx="1939389" cy="205359"/>
            </a:xfrm>
            <a:prstGeom prst="rect">
              <a:avLst/>
            </a:prstGeom>
            <a:noFill/>
            <a:ln>
              <a:noFill/>
            </a:ln>
          </p:spPr>
          <p:txBody>
            <a:bodyPr wrap="none" lIns="0" tIns="0" rIns="0" bIns="0" anchor="t" anchorCtr="0">
              <a:spAutoFit/>
            </a:bodyPr>
            <a:lstStyle/>
            <a:p>
              <a:pPr algn="l"/>
              <a:r>
                <a:rPr lang="en-US" sz="1050" b="1" spc="150" dirty="0">
                  <a:solidFill>
                    <a:schemeClr val="dk2"/>
                  </a:solidFill>
                  <a:latin typeface="+mn-lt"/>
                  <a:ea typeface="+mn-ea"/>
                  <a:cs typeface="+mn-cs"/>
                </a:rPr>
                <a:t>WHY IT MATTERS HERE</a:t>
              </a:r>
            </a:p>
          </p:txBody>
        </p:sp>
        <p:sp>
          <p:nvSpPr>
            <p:cNvPr id="24" name="TextBox 24"/>
            <p:cNvSpPr txBox="1"/>
            <p:nvPr/>
          </p:nvSpPr>
          <p:spPr>
            <a:xfrm>
              <a:off x="971550" y="4407218"/>
              <a:ext cx="2405376" cy="847725"/>
            </a:xfrm>
            <a:prstGeom prst="rect">
              <a:avLst/>
            </a:prstGeom>
            <a:noFill/>
            <a:ln>
              <a:noFill/>
            </a:ln>
          </p:spPr>
          <p:txBody>
            <a:bodyPr wrap="none" lIns="0" tIns="0" rIns="0" bIns="0" anchor="t" anchorCtr="0">
              <a:spAutoFit/>
            </a:bodyPr>
            <a:lstStyle/>
            <a:p>
              <a:pPr algn="l"/>
              <a:r>
                <a:rPr lang="en-US" sz="4350" b="1" dirty="0">
                  <a:solidFill>
                    <a:schemeClr val="accent1"/>
                  </a:solidFill>
                  <a:latin typeface="+mn-lt"/>
                  <a:ea typeface="+mn-ea"/>
                  <a:cs typeface="+mn-cs"/>
                </a:rPr>
                <a:t>120,000</a:t>
              </a:r>
            </a:p>
          </p:txBody>
        </p:sp>
        <p:sp>
          <p:nvSpPr>
            <p:cNvPr id="25" name="TextBox 25"/>
            <p:cNvSpPr txBox="1"/>
            <p:nvPr/>
          </p:nvSpPr>
          <p:spPr>
            <a:xfrm>
              <a:off x="982599" y="5087779"/>
              <a:ext cx="3905346" cy="308039"/>
            </a:xfrm>
            <a:prstGeom prst="rect">
              <a:avLst/>
            </a:prstGeom>
            <a:noFill/>
            <a:ln>
              <a:noFill/>
            </a:ln>
          </p:spPr>
          <p:txBody>
            <a:bodyPr wrap="none" lIns="0" tIns="0" rIns="0" bIns="0" anchor="t" anchorCtr="0">
              <a:spAutoFit/>
            </a:bodyPr>
            <a:lstStyle/>
            <a:p>
              <a:pPr algn="l"/>
              <a:r>
                <a:rPr lang="en-US" sz="1580" dirty="0">
                  <a:solidFill>
                    <a:schemeClr val="dk1"/>
                  </a:solidFill>
                  <a:latin typeface="+mn-lt"/>
                  <a:ea typeface="+mn-ea"/>
                  <a:cs typeface="+mn-cs"/>
                </a:rPr>
                <a:t>Wave-mode ocean images every month</a:t>
              </a:r>
            </a:p>
          </p:txBody>
        </p:sp>
        <p:sp>
          <p:nvSpPr>
            <p:cNvPr id="26" name="TextBox 26"/>
            <p:cNvSpPr txBox="1"/>
            <p:nvPr/>
          </p:nvSpPr>
          <p:spPr>
            <a:xfrm>
              <a:off x="984504" y="5452110"/>
              <a:ext cx="171405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from Sentinel-1 alone</a:t>
              </a:r>
            </a:p>
          </p:txBody>
        </p:sp>
      </p:grpSp>
      <p:grpSp>
        <p:nvGrpSpPr>
          <p:cNvPr id="35" name="Group 35"/>
          <p:cNvGrpSpPr/>
          <p:nvPr/>
        </p:nvGrpSpPr>
        <p:grpSpPr>
          <a:xfrm>
            <a:off x="6286500" y="3857625"/>
            <a:ext cx="5219700" cy="1952625"/>
            <a:chOff x="6286500" y="3857625"/>
            <a:chExt cx="5219700" cy="1952625"/>
          </a:xfrm>
        </p:grpSpPr>
        <p:sp>
          <p:nvSpPr>
            <p:cNvPr id="28" name="Rectangle 28"/>
            <p:cNvSpPr/>
            <p:nvPr/>
          </p:nvSpPr>
          <p:spPr>
            <a:xfrm>
              <a:off x="6286500" y="3857625"/>
              <a:ext cx="5219700" cy="1952625"/>
            </a:xfrm>
            <a:prstGeom prst="roundRect">
              <a:avLst>
                <a:gd name="adj" fmla="val 6829"/>
              </a:avLst>
            </a:prstGeom>
            <a:solidFill>
              <a:schemeClr val="lt2"/>
            </a:solidFill>
            <a:ln w="9525">
              <a:solidFill>
                <a:schemeClr val="accent4"/>
              </a:solidFill>
            </a:ln>
          </p:spPr>
        </p:sp>
        <p:sp>
          <p:nvSpPr>
            <p:cNvPr id="29" name="Rectangle 29"/>
            <p:cNvSpPr/>
            <p:nvPr/>
          </p:nvSpPr>
          <p:spPr>
            <a:xfrm>
              <a:off x="6286500" y="3857625"/>
              <a:ext cx="76200" cy="1952625"/>
            </a:xfrm>
            <a:prstGeom prst="roundRect">
              <a:avLst>
                <a:gd name="adj" fmla="val 50000"/>
              </a:avLst>
            </a:prstGeom>
            <a:solidFill>
              <a:schemeClr val="accent5"/>
            </a:solidFill>
            <a:ln>
              <a:noFill/>
            </a:ln>
          </p:spPr>
        </p:sp>
        <p:sp>
          <p:nvSpPr>
            <p:cNvPr id="30" name="TextBox 30"/>
            <p:cNvSpPr txBox="1"/>
            <p:nvPr/>
          </p:nvSpPr>
          <p:spPr>
            <a:xfrm>
              <a:off x="6582156" y="4044315"/>
              <a:ext cx="1858173"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The hypothesis</a:t>
              </a:r>
            </a:p>
          </p:txBody>
        </p:sp>
        <p:sp>
          <p:nvSpPr>
            <p:cNvPr id="31" name="TextBox 31"/>
            <p:cNvSpPr txBox="1"/>
            <p:nvPr/>
          </p:nvSpPr>
          <p:spPr>
            <a:xfrm>
              <a:off x="6583680" y="4457700"/>
              <a:ext cx="418136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Can contrastive learning on that unlabeled</a:t>
              </a:r>
            </a:p>
          </p:txBody>
        </p:sp>
        <p:sp>
          <p:nvSpPr>
            <p:cNvPr id="32" name="TextBox 32"/>
            <p:cNvSpPr txBox="1"/>
            <p:nvPr/>
          </p:nvSpPr>
          <p:spPr>
            <a:xfrm>
              <a:off x="6583680" y="4733925"/>
              <a:ext cx="401345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stream overcome the scarcity of expert</a:t>
              </a:r>
            </a:p>
          </p:txBody>
        </p:sp>
        <p:sp>
          <p:nvSpPr>
            <p:cNvPr id="33" name="TextBox 33"/>
            <p:cNvSpPr txBox="1"/>
            <p:nvPr/>
          </p:nvSpPr>
          <p:spPr>
            <a:xfrm>
              <a:off x="6583680" y="5010150"/>
              <a:ext cx="348502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labels for SAR analysis? That is the</a:t>
              </a:r>
            </a:p>
          </p:txBody>
        </p:sp>
        <p:sp>
          <p:nvSpPr>
            <p:cNvPr id="34" name="TextBox 34"/>
            <p:cNvSpPr txBox="1"/>
            <p:nvPr/>
          </p:nvSpPr>
          <p:spPr>
            <a:xfrm>
              <a:off x="6583680" y="5286375"/>
              <a:ext cx="265042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question this study tests.</a:t>
              </a:r>
            </a:p>
          </p:txBody>
        </p:sp>
      </p:grpSp>
      <p:sp>
        <p:nvSpPr>
          <p:cNvPr id="36" name="cue_s03_c1_contrastive_self_supervised_learning" title="cue_s03_c1_contrastive_self_supervised_learning" descr="cue_s03_c1_contrastive_self_supervised_learning Contrastive self-supervised learning has transformed computer vision by training networks on huge pools of unlabeled data to produce embeddings that transfer well to downstream tasks."/>
          <p:cNvSpPr/>
          <p:nvPr/>
        </p:nvSpPr>
        <p:spPr>
          <a:xfrm>
            <a:off x="686409" y="1714500"/>
            <a:ext cx="5219395" cy="195247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3_c2_worked_natural_images_medical_images" title="cue_s03_c2_worked_natural_images_medical_images" descr="cue_s03_c2_worked_natural_images_medical_images It has worked for natural images and medical images, but has rarely been applied to remote sensing."/>
          <p:cNvSpPr/>
          <p:nvPr/>
        </p:nvSpPr>
        <p:spPr>
          <a:xfrm>
            <a:off x="6286195" y="1714500"/>
            <a:ext cx="5219395" cy="195247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3_c3_gap_matters_because_sentinel_1_alone" title="cue_s03_c3_gap_matters_because_sentinel_1_alone" descr="cue_s03_c3_gap_matters_because_sentinel_1_alone That gap matters here, because Sentinel-1 alone collects roughly a hundred and twenty thousand Wave-mode ocean images every single month."/>
          <p:cNvSpPr/>
          <p:nvPr/>
        </p:nvSpPr>
        <p:spPr>
          <a:xfrm>
            <a:off x="686409" y="3857625"/>
            <a:ext cx="5219395" cy="195247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3_c4_study_tests_hypothesis_contrastive_l" title="cue_s03_c4_study_tests_hypothesis_contrastive_l" descr="cue_s03_c4_study_tests_hypothesis_contrastive_l This study tests the hypothesis that contrastive learning on that unlabeled stream can overcome the scarcity of expert labels for SAR analysis."/>
          <p:cNvSpPr/>
          <p:nvPr/>
        </p:nvSpPr>
        <p:spPr>
          <a:xfrm>
            <a:off x="6286195" y="3857625"/>
            <a:ext cx="5219395" cy="195247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79704" y="632460"/>
            <a:ext cx="1921764" cy="234696"/>
          </a:xfrm>
          <a:prstGeom prst="rect">
            <a:avLst/>
          </a:prstGeom>
          <a:noFill/>
          <a:ln>
            <a:noFill/>
          </a:ln>
        </p:spPr>
        <p:txBody>
          <a:bodyPr wrap="none" lIns="0" tIns="0" rIns="0" bIns="0" anchor="t" anchorCtr="0">
            <a:spAutoFit/>
          </a:bodyPr>
          <a:lstStyle/>
          <a:p>
            <a:pPr algn="l"/>
            <a:r>
              <a:rPr lang="en-US" sz="1200" b="1" spc="150" dirty="0">
                <a:solidFill>
                  <a:schemeClr val="dk2"/>
                </a:solidFill>
                <a:latin typeface="+mn-lt"/>
                <a:ea typeface="+mn-ea"/>
                <a:cs typeface="+mn-cs"/>
              </a:rPr>
              <a:t>04 · CONTRIBUTION</a:t>
            </a:r>
          </a:p>
        </p:txBody>
      </p:sp>
      <p:sp>
        <p:nvSpPr>
          <p:cNvPr id="3" name="Rectangle 3"/>
          <p:cNvSpPr/>
          <p:nvPr/>
        </p:nvSpPr>
        <p:spPr>
          <a:xfrm>
            <a:off x="685800" y="876300"/>
            <a:ext cx="419100" cy="38100"/>
          </a:xfrm>
          <a:prstGeom prst="rect">
            <a:avLst/>
          </a:prstGeom>
          <a:solidFill>
            <a:schemeClr val="accent1"/>
          </a:solidFill>
          <a:ln>
            <a:noFill/>
          </a:ln>
        </p:spPr>
        <p:txBody>
          <a:bodyPr/>
          <a:p/>
        </p:txBody>
      </p:sp>
      <p:sp>
        <p:nvSpPr>
          <p:cNvPr id="4" name="TextBox 4"/>
          <p:cNvSpPr txBox="1"/>
          <p:nvPr/>
        </p:nvSpPr>
        <p:spPr>
          <a:xfrm>
            <a:off x="669798" y="993458"/>
            <a:ext cx="4364566"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n-lt"/>
                <a:ea typeface="+mn-ea"/>
                <a:cs typeface="+mn-cs"/>
              </a:rPr>
              <a:t xml:space="preserve">Three </a:t>
            </a:r>
            <a:r>
              <a:rPr lang="en-US" sz="3150" b="1" dirty="0">
                <a:solidFill>
                  <a:schemeClr val="accent1"/>
                </a:solidFill>
                <a:latin typeface="+mn-lt"/>
                <a:ea typeface="+mn-ea"/>
                <a:cs typeface="+mn-cs"/>
              </a:rPr>
              <a:t>contributions</a:t>
            </a:r>
          </a:p>
        </p:txBody>
      </p:sp>
      <p:grpSp>
        <p:nvGrpSpPr>
          <p:cNvPr id="8" name="Group 8"/>
          <p:cNvGrpSpPr/>
          <p:nvPr/>
        </p:nvGrpSpPr>
        <p:grpSpPr>
          <a:xfrm>
            <a:off x="685800" y="1638300"/>
            <a:ext cx="12769251" cy="781050"/>
            <a:chOff x="685800" y="1638300"/>
            <a:chExt cx="12769251" cy="781050"/>
          </a:xfrm>
        </p:grpSpPr>
        <p:sp>
          <p:nvSpPr>
            <p:cNvPr id="5" name="Rectangle 5"/>
            <p:cNvSpPr/>
            <p:nvPr/>
          </p:nvSpPr>
          <p:spPr>
            <a:xfrm>
              <a:off x="685800" y="1638300"/>
              <a:ext cx="10820400" cy="781050"/>
            </a:xfrm>
            <a:prstGeom prst="roundRect">
              <a:avLst>
                <a:gd name="adj" fmla="val 17073"/>
              </a:avLst>
            </a:prstGeom>
            <a:solidFill>
              <a:schemeClr val="lt2"/>
            </a:solidFill>
            <a:ln w="9525">
              <a:solidFill>
                <a:schemeClr val="accent4"/>
              </a:solidFill>
            </a:ln>
          </p:spPr>
        </p:sp>
        <p:sp>
          <p:nvSpPr>
            <p:cNvPr id="6" name="Rectangle 6"/>
            <p:cNvSpPr/>
            <p:nvPr/>
          </p:nvSpPr>
          <p:spPr>
            <a:xfrm>
              <a:off x="685800" y="1638300"/>
              <a:ext cx="76200" cy="781050"/>
            </a:xfrm>
            <a:prstGeom prst="roundRect">
              <a:avLst>
                <a:gd name="adj" fmla="val 50000"/>
              </a:avLst>
            </a:prstGeom>
            <a:solidFill>
              <a:schemeClr val="accent1"/>
            </a:solidFill>
            <a:ln>
              <a:noFill/>
            </a:ln>
          </p:spPr>
        </p:sp>
        <p:sp>
          <p:nvSpPr>
            <p:cNvPr id="7" name="TextBox 7"/>
            <p:cNvSpPr txBox="1"/>
            <p:nvPr/>
          </p:nvSpPr>
          <p:spPr>
            <a:xfrm>
              <a:off x="980694" y="1904048"/>
              <a:ext cx="12474357"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 xml:space="preserve">This paper makes </a:t>
              </a:r>
              <a:r>
                <a:rPr lang="en-US" sz="1950" b="1" dirty="0">
                  <a:solidFill>
                    <a:schemeClr val="accent1"/>
                  </a:solidFill>
                  <a:latin typeface="+mn-lt"/>
                  <a:ea typeface="+mn-ea"/>
                  <a:cs typeface="+mn-cs"/>
                </a:rPr>
                <a:t>three</a:t>
              </a:r>
              <a:r>
                <a:rPr lang="en-US" sz="1950" b="1" dirty="0">
                  <a:solidFill>
                    <a:schemeClr val="dk1"/>
                  </a:solidFill>
                  <a:latin typeface="+mn-lt"/>
                  <a:ea typeface="+mn-ea"/>
                  <a:cs typeface="+mn-cs"/>
                </a:rPr>
                <a:t xml:space="preserve"> contributions — a dataset, a representation, and a fair comparison.</a:t>
              </a:r>
            </a:p>
          </p:txBody>
        </p:sp>
      </p:grpSp>
      <p:grpSp>
        <p:nvGrpSpPr>
          <p:cNvPr id="18" name="Group 18"/>
          <p:cNvGrpSpPr/>
          <p:nvPr/>
        </p:nvGrpSpPr>
        <p:grpSpPr>
          <a:xfrm>
            <a:off x="685800" y="2724150"/>
            <a:ext cx="3448050" cy="3086100"/>
            <a:chOff x="685800" y="2724150"/>
            <a:chExt cx="3448050" cy="3086100"/>
          </a:xfrm>
        </p:grpSpPr>
        <p:sp>
          <p:nvSpPr>
            <p:cNvPr id="9" name="Rectangle 9"/>
            <p:cNvSpPr/>
            <p:nvPr/>
          </p:nvSpPr>
          <p:spPr>
            <a:xfrm>
              <a:off x="685800" y="2724150"/>
              <a:ext cx="3448050" cy="3086100"/>
            </a:xfrm>
            <a:prstGeom prst="roundRect">
              <a:avLst>
                <a:gd name="adj" fmla="val 4321"/>
              </a:avLst>
            </a:prstGeom>
            <a:solidFill>
              <a:schemeClr val="lt2"/>
            </a:solidFill>
            <a:ln w="9525">
              <a:solidFill>
                <a:schemeClr val="accent4"/>
              </a:solidFill>
            </a:ln>
          </p:spPr>
        </p:sp>
        <p:sp>
          <p:nvSpPr>
            <p:cNvPr id="10" name="Rectangle 10"/>
            <p:cNvSpPr/>
            <p:nvPr/>
          </p:nvSpPr>
          <p:spPr>
            <a:xfrm>
              <a:off x="685800" y="2724150"/>
              <a:ext cx="3448050" cy="76200"/>
            </a:xfrm>
            <a:prstGeom prst="roundRect">
              <a:avLst>
                <a:gd name="adj" fmla="val 50000"/>
              </a:avLst>
            </a:prstGeom>
            <a:solidFill>
              <a:schemeClr val="accent1"/>
            </a:solidFill>
            <a:ln>
              <a:noFill/>
            </a:ln>
          </p:spPr>
        </p:sp>
        <p:sp>
          <p:nvSpPr>
            <p:cNvPr id="11" name="TextBox 11"/>
            <p:cNvSpPr txBox="1"/>
            <p:nvPr/>
          </p:nvSpPr>
          <p:spPr>
            <a:xfrm>
              <a:off x="937260" y="3067050"/>
              <a:ext cx="496938"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n-lt"/>
                  <a:ea typeface="+mn-ea"/>
                  <a:cs typeface="+mn-cs"/>
                </a:rPr>
                <a:t>01</a:t>
              </a:r>
            </a:p>
          </p:txBody>
        </p:sp>
        <p:sp>
          <p:nvSpPr>
            <p:cNvPr id="12" name="TextBox 12"/>
            <p:cNvSpPr txBox="1"/>
            <p:nvPr/>
          </p:nvSpPr>
          <p:spPr>
            <a:xfrm>
              <a:off x="943737" y="3604736"/>
              <a:ext cx="2687662"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New labeled benchmark</a:t>
              </a:r>
            </a:p>
          </p:txBody>
        </p:sp>
        <p:sp>
          <p:nvSpPr>
            <p:cNvPr id="13" name="TextBox 13"/>
            <p:cNvSpPr txBox="1"/>
            <p:nvPr/>
          </p:nvSpPr>
          <p:spPr>
            <a:xfrm>
              <a:off x="945261" y="3999071"/>
              <a:ext cx="242309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~2,300 randomly sampled,</a:t>
              </a:r>
            </a:p>
          </p:txBody>
        </p:sp>
        <p:sp>
          <p:nvSpPr>
            <p:cNvPr id="14" name="TextBox 14"/>
            <p:cNvSpPr txBox="1"/>
            <p:nvPr/>
          </p:nvSpPr>
          <p:spPr>
            <a:xfrm>
              <a:off x="945261" y="4256246"/>
              <a:ext cx="160110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multi-label radar</a:t>
              </a:r>
            </a:p>
          </p:txBody>
        </p:sp>
        <p:sp>
          <p:nvSpPr>
            <p:cNvPr id="15" name="TextBox 15"/>
            <p:cNvSpPr txBox="1"/>
            <p:nvPr/>
          </p:nvSpPr>
          <p:spPr>
            <a:xfrm>
              <a:off x="945261" y="4513421"/>
              <a:ext cx="239442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observations that better</a:t>
              </a:r>
            </a:p>
          </p:txBody>
        </p:sp>
        <p:sp>
          <p:nvSpPr>
            <p:cNvPr id="16" name="TextBox 16"/>
            <p:cNvSpPr txBox="1"/>
            <p:nvPr/>
          </p:nvSpPr>
          <p:spPr>
            <a:xfrm>
              <a:off x="945261" y="4770596"/>
              <a:ext cx="234663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represent the real ocean</a:t>
              </a:r>
            </a:p>
          </p:txBody>
        </p:sp>
        <p:sp>
          <p:nvSpPr>
            <p:cNvPr id="17" name="TextBox 17"/>
            <p:cNvSpPr txBox="1"/>
            <p:nvPr/>
          </p:nvSpPr>
          <p:spPr>
            <a:xfrm>
              <a:off x="945261" y="5027771"/>
              <a:ext cx="107541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population.</a:t>
              </a:r>
            </a:p>
          </p:txBody>
        </p:sp>
      </p:grpSp>
      <p:grpSp>
        <p:nvGrpSpPr>
          <p:cNvPr id="28" name="Group 28"/>
          <p:cNvGrpSpPr/>
          <p:nvPr/>
        </p:nvGrpSpPr>
        <p:grpSpPr>
          <a:xfrm>
            <a:off x="4371975" y="2724150"/>
            <a:ext cx="3448050" cy="3086100"/>
            <a:chOff x="4371975" y="2724150"/>
            <a:chExt cx="3448050" cy="3086100"/>
          </a:xfrm>
        </p:grpSpPr>
        <p:sp>
          <p:nvSpPr>
            <p:cNvPr id="19" name="Rectangle 19"/>
            <p:cNvSpPr/>
            <p:nvPr/>
          </p:nvSpPr>
          <p:spPr>
            <a:xfrm>
              <a:off x="4371975" y="2724150"/>
              <a:ext cx="3448050" cy="3086100"/>
            </a:xfrm>
            <a:prstGeom prst="roundRect">
              <a:avLst>
                <a:gd name="adj" fmla="val 4321"/>
              </a:avLst>
            </a:prstGeom>
            <a:solidFill>
              <a:schemeClr val="lt2"/>
            </a:solidFill>
            <a:ln w="9525">
              <a:solidFill>
                <a:schemeClr val="accent4"/>
              </a:solidFill>
            </a:ln>
          </p:spPr>
        </p:sp>
        <p:sp>
          <p:nvSpPr>
            <p:cNvPr id="20" name="Rectangle 20"/>
            <p:cNvSpPr/>
            <p:nvPr/>
          </p:nvSpPr>
          <p:spPr>
            <a:xfrm>
              <a:off x="4371975" y="2724150"/>
              <a:ext cx="3448050" cy="76200"/>
            </a:xfrm>
            <a:prstGeom prst="roundRect">
              <a:avLst>
                <a:gd name="adj" fmla="val 50000"/>
              </a:avLst>
            </a:prstGeom>
            <a:solidFill>
              <a:schemeClr val="accent1"/>
            </a:solidFill>
            <a:ln>
              <a:noFill/>
            </a:ln>
          </p:spPr>
        </p:sp>
        <p:sp>
          <p:nvSpPr>
            <p:cNvPr id="21" name="TextBox 21"/>
            <p:cNvSpPr txBox="1"/>
            <p:nvPr/>
          </p:nvSpPr>
          <p:spPr>
            <a:xfrm>
              <a:off x="4623435" y="3067050"/>
              <a:ext cx="496938"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n-lt"/>
                  <a:ea typeface="+mn-ea"/>
                  <a:cs typeface="+mn-cs"/>
                </a:rPr>
                <a:t>02</a:t>
              </a:r>
            </a:p>
          </p:txBody>
        </p:sp>
        <p:sp>
          <p:nvSpPr>
            <p:cNvPr id="22" name="TextBox 22"/>
            <p:cNvSpPr txBox="1"/>
            <p:nvPr/>
          </p:nvSpPr>
          <p:spPr>
            <a:xfrm>
              <a:off x="4629912" y="3604736"/>
              <a:ext cx="1889402"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SwAV embedding</a:t>
              </a:r>
            </a:p>
          </p:txBody>
        </p:sp>
        <p:sp>
          <p:nvSpPr>
            <p:cNvPr id="23" name="TextBox 23"/>
            <p:cNvSpPr txBox="1"/>
            <p:nvPr/>
          </p:nvSpPr>
          <p:spPr>
            <a:xfrm>
              <a:off x="4631436" y="3999071"/>
              <a:ext cx="177315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~3 million unlabeled</a:t>
              </a:r>
            </a:p>
          </p:txBody>
        </p:sp>
        <p:sp>
          <p:nvSpPr>
            <p:cNvPr id="24" name="TextBox 24"/>
            <p:cNvSpPr txBox="1"/>
            <p:nvPr/>
          </p:nvSpPr>
          <p:spPr>
            <a:xfrm>
              <a:off x="4631436" y="4256246"/>
              <a:ext cx="213344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Sentinel-1 images over</a:t>
              </a:r>
            </a:p>
          </p:txBody>
        </p:sp>
        <p:sp>
          <p:nvSpPr>
            <p:cNvPr id="25" name="TextBox 25"/>
            <p:cNvSpPr txBox="1"/>
            <p:nvPr/>
          </p:nvSpPr>
          <p:spPr>
            <a:xfrm>
              <a:off x="4631436" y="4513421"/>
              <a:ext cx="235679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three years train a SwAV</a:t>
              </a:r>
            </a:p>
          </p:txBody>
        </p:sp>
        <p:sp>
          <p:nvSpPr>
            <p:cNvPr id="26" name="TextBox 26"/>
            <p:cNvSpPr txBox="1"/>
            <p:nvPr/>
          </p:nvSpPr>
          <p:spPr>
            <a:xfrm>
              <a:off x="4631436" y="4770596"/>
              <a:ext cx="238486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contrastive embedding of</a:t>
              </a:r>
            </a:p>
          </p:txBody>
        </p:sp>
        <p:sp>
          <p:nvSpPr>
            <p:cNvPr id="27" name="TextBox 27"/>
            <p:cNvSpPr txBox="1"/>
            <p:nvPr/>
          </p:nvSpPr>
          <p:spPr>
            <a:xfrm>
              <a:off x="4631436" y="5027771"/>
              <a:ext cx="114412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SAR scenes.</a:t>
              </a:r>
            </a:p>
          </p:txBody>
        </p:sp>
      </p:grpSp>
      <p:grpSp>
        <p:nvGrpSpPr>
          <p:cNvPr id="38" name="Group 38"/>
          <p:cNvGrpSpPr/>
          <p:nvPr/>
        </p:nvGrpSpPr>
        <p:grpSpPr>
          <a:xfrm>
            <a:off x="8058150" y="2724150"/>
            <a:ext cx="3448050" cy="3086100"/>
            <a:chOff x="8058150" y="2724150"/>
            <a:chExt cx="3448050" cy="3086100"/>
          </a:xfrm>
        </p:grpSpPr>
        <p:sp>
          <p:nvSpPr>
            <p:cNvPr id="29" name="Rectangle 29"/>
            <p:cNvSpPr/>
            <p:nvPr/>
          </p:nvSpPr>
          <p:spPr>
            <a:xfrm>
              <a:off x="8058150" y="2724150"/>
              <a:ext cx="3448050" cy="3086100"/>
            </a:xfrm>
            <a:prstGeom prst="roundRect">
              <a:avLst>
                <a:gd name="adj" fmla="val 4321"/>
              </a:avLst>
            </a:prstGeom>
            <a:solidFill>
              <a:schemeClr val="lt2"/>
            </a:solidFill>
            <a:ln w="9525">
              <a:solidFill>
                <a:schemeClr val="accent4"/>
              </a:solidFill>
            </a:ln>
          </p:spPr>
        </p:sp>
        <p:sp>
          <p:nvSpPr>
            <p:cNvPr id="30" name="Rectangle 30"/>
            <p:cNvSpPr/>
            <p:nvPr/>
          </p:nvSpPr>
          <p:spPr>
            <a:xfrm>
              <a:off x="8058150" y="2724150"/>
              <a:ext cx="3448050" cy="76200"/>
            </a:xfrm>
            <a:prstGeom prst="roundRect">
              <a:avLst>
                <a:gd name="adj" fmla="val 50000"/>
              </a:avLst>
            </a:prstGeom>
            <a:solidFill>
              <a:schemeClr val="accent1"/>
            </a:solidFill>
            <a:ln>
              <a:noFill/>
            </a:ln>
          </p:spPr>
        </p:sp>
        <p:sp>
          <p:nvSpPr>
            <p:cNvPr id="31" name="TextBox 31"/>
            <p:cNvSpPr txBox="1"/>
            <p:nvPr/>
          </p:nvSpPr>
          <p:spPr>
            <a:xfrm>
              <a:off x="8309610" y="3067050"/>
              <a:ext cx="496938"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n-lt"/>
                  <a:ea typeface="+mn-ea"/>
                  <a:cs typeface="+mn-cs"/>
                </a:rPr>
                <a:t>03</a:t>
              </a:r>
            </a:p>
          </p:txBody>
        </p:sp>
        <p:sp>
          <p:nvSpPr>
            <p:cNvPr id="32" name="TextBox 32"/>
            <p:cNvSpPr txBox="1"/>
            <p:nvPr/>
          </p:nvSpPr>
          <p:spPr>
            <a:xfrm>
              <a:off x="8316087" y="3604736"/>
              <a:ext cx="2432020"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Rigorous comparison</a:t>
              </a:r>
            </a:p>
          </p:txBody>
        </p:sp>
        <p:sp>
          <p:nvSpPr>
            <p:cNvPr id="33" name="TextBox 33"/>
            <p:cNvSpPr txBox="1"/>
            <p:nvPr/>
          </p:nvSpPr>
          <p:spPr>
            <a:xfrm>
              <a:off x="8317611" y="3999071"/>
              <a:ext cx="196085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Benchmarked against</a:t>
              </a:r>
            </a:p>
          </p:txBody>
        </p:sp>
        <p:sp>
          <p:nvSpPr>
            <p:cNvPr id="34" name="TextBox 34"/>
            <p:cNvSpPr txBox="1"/>
            <p:nvPr/>
          </p:nvSpPr>
          <p:spPr>
            <a:xfrm>
              <a:off x="8317611" y="4256246"/>
              <a:ext cx="250274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ImageNet transfer and the</a:t>
              </a:r>
            </a:p>
          </p:txBody>
        </p:sp>
        <p:sp>
          <p:nvSpPr>
            <p:cNvPr id="35" name="TextBox 35"/>
            <p:cNvSpPr txBox="1"/>
            <p:nvPr/>
          </p:nvSpPr>
          <p:spPr>
            <a:xfrm>
              <a:off x="8317611" y="4513421"/>
              <a:ext cx="219389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prior CmWV classifier —</a:t>
              </a:r>
            </a:p>
          </p:txBody>
        </p:sp>
        <p:sp>
          <p:nvSpPr>
            <p:cNvPr id="36" name="TextBox 36"/>
            <p:cNvSpPr txBox="1"/>
            <p:nvPr/>
          </p:nvSpPr>
          <p:spPr>
            <a:xfrm>
              <a:off x="8317611" y="4770596"/>
              <a:ext cx="241354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across three downstream</a:t>
              </a:r>
            </a:p>
          </p:txBody>
        </p:sp>
        <p:sp>
          <p:nvSpPr>
            <p:cNvPr id="37" name="TextBox 37"/>
            <p:cNvSpPr txBox="1"/>
            <p:nvPr/>
          </p:nvSpPr>
          <p:spPr>
            <a:xfrm>
              <a:off x="8317611" y="5027771"/>
              <a:ext cx="203122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evaluation protocols.</a:t>
              </a:r>
            </a:p>
          </p:txBody>
        </p:sp>
      </p:grpSp>
      <p:sp>
        <p:nvSpPr>
          <p:cNvPr id="39" name="cue_s04_c1_makes_three_contributions" title="cue_s04_c1_makes_three_contributions" descr="cue_s04_c1_makes_three_contributions This paper makes three contributions."/>
          <p:cNvSpPr/>
          <p:nvPr/>
        </p:nvSpPr>
        <p:spPr>
          <a:xfrm>
            <a:off x="686409" y="1638376"/>
            <a:ext cx="11505590" cy="7811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4_c2_first_builds_new_hand_labeled_datase" title="cue_s04_c2_first_builds_new_hand_labeled_datase" descr="cue_s04_c2_first_builds_new_hand_labeled_datase First, it builds a new hand-labeled dataset of about twenty-three hundred randomly sampled, multi-label radar observations that better represents the real ocean population."/>
          <p:cNvSpPr/>
          <p:nvPr/>
        </p:nvSpPr>
        <p:spPr>
          <a:xfrm>
            <a:off x="686409" y="2723997"/>
            <a:ext cx="3447897" cy="30861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4_c3_second_leverages_three_years_unlabel" title="cue_s04_c3_second_leverages_three_years_unlabel" descr="cue_s04_c3_second_leverages_three_years_unlabel Second, it leverages three years of unlabeled Sentinel-1 imagery, roughly three million images, to train a SwAV contrastive embedding of SAR scenes."/>
          <p:cNvSpPr/>
          <p:nvPr/>
        </p:nvSpPr>
        <p:spPr>
          <a:xfrm>
            <a:off x="4372051" y="2723997"/>
            <a:ext cx="3447897" cy="30861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4_c4_third_rigorously_compares_self_super" title="cue_s04_c4_third_rigorously_compares_self_super" descr="cue_s04_c4_third_rigorously_compares_self_super Third, it rigorously compares that self-supervised representation against standard transfer learning from ImageNet and against the previous state-of-the-art CmWV classifier, using three different downstream evaluation protocols."/>
          <p:cNvSpPr/>
          <p:nvPr/>
        </p:nvSpPr>
        <p:spPr>
          <a:xfrm>
            <a:off x="8057692" y="2723997"/>
            <a:ext cx="3447897" cy="30861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79704" y="632460"/>
            <a:ext cx="1291925" cy="234696"/>
          </a:xfrm>
          <a:prstGeom prst="rect">
            <a:avLst/>
          </a:prstGeom>
          <a:noFill/>
          <a:ln>
            <a:noFill/>
          </a:ln>
        </p:spPr>
        <p:txBody>
          <a:bodyPr wrap="none" lIns="0" tIns="0" rIns="0" bIns="0" anchor="t" anchorCtr="0">
            <a:spAutoFit/>
          </a:bodyPr>
          <a:lstStyle/>
          <a:p>
            <a:pPr algn="l"/>
            <a:r>
              <a:rPr lang="en-US" sz="1200" b="1" spc="150" dirty="0">
                <a:solidFill>
                  <a:schemeClr val="dk2"/>
                </a:solidFill>
                <a:latin typeface="+mn-lt"/>
                <a:ea typeface="+mn-ea"/>
                <a:cs typeface="+mn-cs"/>
              </a:rPr>
              <a:t>05 · METHOD</a:t>
            </a:r>
          </a:p>
        </p:txBody>
      </p:sp>
      <p:sp>
        <p:nvSpPr>
          <p:cNvPr id="3" name="Rectangle 3"/>
          <p:cNvSpPr/>
          <p:nvPr/>
        </p:nvSpPr>
        <p:spPr>
          <a:xfrm>
            <a:off x="685800" y="876300"/>
            <a:ext cx="419100" cy="38100"/>
          </a:xfrm>
          <a:prstGeom prst="rect">
            <a:avLst/>
          </a:prstGeom>
          <a:solidFill>
            <a:schemeClr val="accent1"/>
          </a:solidFill>
          <a:ln>
            <a:noFill/>
          </a:ln>
        </p:spPr>
        <p:txBody>
          <a:bodyPr/>
          <a:p/>
        </p:txBody>
      </p:sp>
      <p:sp>
        <p:nvSpPr>
          <p:cNvPr id="4" name="TextBox 4"/>
          <p:cNvSpPr txBox="1"/>
          <p:nvPr/>
        </p:nvSpPr>
        <p:spPr>
          <a:xfrm>
            <a:off x="669798" y="993458"/>
            <a:ext cx="6223960"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n-lt"/>
                <a:ea typeface="+mn-ea"/>
                <a:cs typeface="+mn-cs"/>
              </a:rPr>
              <a:t>SwAV</a:t>
            </a:r>
            <a:r>
              <a:rPr lang="en-US" sz="3150" b="1" dirty="0">
                <a:solidFill>
                  <a:schemeClr val="dk1"/>
                </a:solidFill>
                <a:latin typeface="+mn-lt"/>
                <a:ea typeface="+mn-ea"/>
                <a:cs typeface="+mn-cs"/>
              </a:rPr>
              <a:t>: cluster, then predict</a:t>
            </a:r>
          </a:p>
        </p:txBody>
      </p:sp>
      <p:grpSp>
        <p:nvGrpSpPr>
          <p:cNvPr id="12" name="Group 12"/>
          <p:cNvGrpSpPr/>
          <p:nvPr/>
        </p:nvGrpSpPr>
        <p:grpSpPr>
          <a:xfrm>
            <a:off x="685800" y="1714500"/>
            <a:ext cx="5219700" cy="1952625"/>
            <a:chOff x="685800" y="1714500"/>
            <a:chExt cx="5219700" cy="1952625"/>
          </a:xfrm>
        </p:grpSpPr>
        <p:sp>
          <p:nvSpPr>
            <p:cNvPr id="5" name="Rectangle 5"/>
            <p:cNvSpPr/>
            <p:nvPr/>
          </p:nvSpPr>
          <p:spPr>
            <a:xfrm>
              <a:off x="685800" y="1714500"/>
              <a:ext cx="5219700" cy="1952625"/>
            </a:xfrm>
            <a:prstGeom prst="roundRect">
              <a:avLst>
                <a:gd name="adj" fmla="val 6829"/>
              </a:avLst>
            </a:prstGeom>
            <a:solidFill>
              <a:schemeClr val="lt2"/>
            </a:solidFill>
            <a:ln w="9525">
              <a:solidFill>
                <a:schemeClr val="accent4"/>
              </a:solidFill>
            </a:ln>
          </p:spPr>
        </p:sp>
        <p:sp>
          <p:nvSpPr>
            <p:cNvPr id="6" name="Rectangle 6"/>
            <p:cNvSpPr/>
            <p:nvPr/>
          </p:nvSpPr>
          <p:spPr>
            <a:xfrm>
              <a:off x="685800" y="1714500"/>
              <a:ext cx="76200" cy="1952625"/>
            </a:xfrm>
            <a:prstGeom prst="roundRect">
              <a:avLst>
                <a:gd name="adj" fmla="val 50000"/>
              </a:avLst>
            </a:prstGeom>
            <a:solidFill>
              <a:schemeClr val="accent1"/>
            </a:solidFill>
            <a:ln>
              <a:noFill/>
            </a:ln>
          </p:spPr>
        </p:sp>
        <p:sp>
          <p:nvSpPr>
            <p:cNvPr id="7" name="TextBox 7"/>
            <p:cNvSpPr txBox="1"/>
            <p:nvPr/>
          </p:nvSpPr>
          <p:spPr>
            <a:xfrm>
              <a:off x="981456" y="1901190"/>
              <a:ext cx="3639741"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Swap clusters between views</a:t>
              </a:r>
            </a:p>
          </p:txBody>
        </p:sp>
        <p:sp>
          <p:nvSpPr>
            <p:cNvPr id="8" name="TextBox 8"/>
            <p:cNvSpPr txBox="1"/>
            <p:nvPr/>
          </p:nvSpPr>
          <p:spPr>
            <a:xfrm>
              <a:off x="982980" y="2314575"/>
              <a:ext cx="387165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SwAV assigns image representations to</a:t>
              </a:r>
            </a:p>
          </p:txBody>
        </p:sp>
        <p:sp>
          <p:nvSpPr>
            <p:cNvPr id="9" name="TextBox 9"/>
            <p:cNvSpPr txBox="1"/>
            <p:nvPr/>
          </p:nvSpPr>
          <p:spPr>
            <a:xfrm>
              <a:off x="982980" y="2590800"/>
              <a:ext cx="448799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clusters, then trains the network to predict</a:t>
              </a:r>
            </a:p>
          </p:txBody>
        </p:sp>
        <p:sp>
          <p:nvSpPr>
            <p:cNvPr id="10" name="TextBox 10"/>
            <p:cNvSpPr txBox="1"/>
            <p:nvPr/>
          </p:nvSpPr>
          <p:spPr>
            <a:xfrm>
              <a:off x="982980" y="2867025"/>
              <a:ext cx="407403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the cluster assignment of one augmented</a:t>
              </a:r>
            </a:p>
          </p:txBody>
        </p:sp>
        <p:sp>
          <p:nvSpPr>
            <p:cNvPr id="11" name="TextBox 11"/>
            <p:cNvSpPr txBox="1"/>
            <p:nvPr/>
          </p:nvSpPr>
          <p:spPr>
            <a:xfrm>
              <a:off x="982980" y="3143250"/>
              <a:ext cx="194367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view from another.</a:t>
              </a:r>
            </a:p>
          </p:txBody>
        </p:sp>
      </p:grpSp>
      <p:grpSp>
        <p:nvGrpSpPr>
          <p:cNvPr id="20" name="Group 20"/>
          <p:cNvGrpSpPr/>
          <p:nvPr/>
        </p:nvGrpSpPr>
        <p:grpSpPr>
          <a:xfrm>
            <a:off x="6286500" y="1714500"/>
            <a:ext cx="5219700" cy="1952625"/>
            <a:chOff x="6286500" y="1714500"/>
            <a:chExt cx="5219700" cy="1952625"/>
          </a:xfrm>
        </p:grpSpPr>
        <p:sp>
          <p:nvSpPr>
            <p:cNvPr id="13" name="Rectangle 13"/>
            <p:cNvSpPr/>
            <p:nvPr/>
          </p:nvSpPr>
          <p:spPr>
            <a:xfrm>
              <a:off x="6286500" y="1714500"/>
              <a:ext cx="5219700" cy="1952625"/>
            </a:xfrm>
            <a:prstGeom prst="roundRect">
              <a:avLst>
                <a:gd name="adj" fmla="val 6829"/>
              </a:avLst>
            </a:prstGeom>
            <a:solidFill>
              <a:schemeClr val="lt2"/>
            </a:solidFill>
            <a:ln w="9525">
              <a:solidFill>
                <a:schemeClr val="accent4"/>
              </a:solidFill>
            </a:ln>
          </p:spPr>
        </p:sp>
        <p:sp>
          <p:nvSpPr>
            <p:cNvPr id="14" name="Rectangle 14"/>
            <p:cNvSpPr/>
            <p:nvPr/>
          </p:nvSpPr>
          <p:spPr>
            <a:xfrm>
              <a:off x="6286500" y="1714500"/>
              <a:ext cx="76200" cy="1952625"/>
            </a:xfrm>
            <a:prstGeom prst="roundRect">
              <a:avLst>
                <a:gd name="adj" fmla="val 50000"/>
              </a:avLst>
            </a:prstGeom>
            <a:solidFill>
              <a:schemeClr val="accent1"/>
            </a:solidFill>
            <a:ln>
              <a:noFill/>
            </a:ln>
          </p:spPr>
        </p:sp>
        <p:sp>
          <p:nvSpPr>
            <p:cNvPr id="15" name="TextBox 15"/>
            <p:cNvSpPr txBox="1"/>
            <p:nvPr/>
          </p:nvSpPr>
          <p:spPr>
            <a:xfrm>
              <a:off x="6582156" y="1901190"/>
              <a:ext cx="2074745"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No giant batches</a:t>
              </a:r>
            </a:p>
          </p:txBody>
        </p:sp>
        <p:sp>
          <p:nvSpPr>
            <p:cNvPr id="16" name="TextBox 16"/>
            <p:cNvSpPr txBox="1"/>
            <p:nvPr/>
          </p:nvSpPr>
          <p:spPr>
            <a:xfrm>
              <a:off x="6583680" y="2314575"/>
              <a:ext cx="398336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Unlike SimCLR, SwAV avoids prohibitively</a:t>
              </a:r>
            </a:p>
          </p:txBody>
        </p:sp>
        <p:sp>
          <p:nvSpPr>
            <p:cNvPr id="17" name="TextBox 17"/>
            <p:cNvSpPr txBox="1"/>
            <p:nvPr/>
          </p:nvSpPr>
          <p:spPr>
            <a:xfrm>
              <a:off x="6583680" y="2590800"/>
              <a:ext cx="394277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large batches by storing recent cluster</a:t>
              </a:r>
            </a:p>
          </p:txBody>
        </p:sp>
        <p:sp>
          <p:nvSpPr>
            <p:cNvPr id="18" name="TextBox 18"/>
            <p:cNvSpPr txBox="1"/>
            <p:nvPr/>
          </p:nvSpPr>
          <p:spPr>
            <a:xfrm>
              <a:off x="6583680" y="2867025"/>
              <a:ext cx="405384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assignments in a queue — keeping training</a:t>
              </a:r>
            </a:p>
          </p:txBody>
        </p:sp>
        <p:sp>
          <p:nvSpPr>
            <p:cNvPr id="19" name="TextBox 19"/>
            <p:cNvSpPr txBox="1"/>
            <p:nvPr/>
          </p:nvSpPr>
          <p:spPr>
            <a:xfrm>
              <a:off x="6583680" y="3143250"/>
              <a:ext cx="107537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tractable.</a:t>
              </a:r>
            </a:p>
          </p:txBody>
        </p:sp>
      </p:grpSp>
      <p:grpSp>
        <p:nvGrpSpPr>
          <p:cNvPr id="28" name="Group 28"/>
          <p:cNvGrpSpPr/>
          <p:nvPr/>
        </p:nvGrpSpPr>
        <p:grpSpPr>
          <a:xfrm>
            <a:off x="685800" y="3857625"/>
            <a:ext cx="5219700" cy="1952625"/>
            <a:chOff x="685800" y="3857625"/>
            <a:chExt cx="5219700" cy="1952625"/>
          </a:xfrm>
        </p:grpSpPr>
        <p:sp>
          <p:nvSpPr>
            <p:cNvPr id="21" name="Rectangle 21"/>
            <p:cNvSpPr/>
            <p:nvPr/>
          </p:nvSpPr>
          <p:spPr>
            <a:xfrm>
              <a:off x="685800" y="3857625"/>
              <a:ext cx="5219700" cy="1952625"/>
            </a:xfrm>
            <a:prstGeom prst="roundRect">
              <a:avLst>
                <a:gd name="adj" fmla="val 6829"/>
              </a:avLst>
            </a:prstGeom>
            <a:solidFill>
              <a:schemeClr val="lt2"/>
            </a:solidFill>
            <a:ln w="9525">
              <a:solidFill>
                <a:schemeClr val="accent4"/>
              </a:solidFill>
            </a:ln>
          </p:spPr>
        </p:sp>
        <p:sp>
          <p:nvSpPr>
            <p:cNvPr id="22" name="Rectangle 22"/>
            <p:cNvSpPr/>
            <p:nvPr/>
          </p:nvSpPr>
          <p:spPr>
            <a:xfrm>
              <a:off x="685800" y="3857625"/>
              <a:ext cx="76200" cy="1952625"/>
            </a:xfrm>
            <a:prstGeom prst="roundRect">
              <a:avLst>
                <a:gd name="adj" fmla="val 50000"/>
              </a:avLst>
            </a:prstGeom>
            <a:solidFill>
              <a:schemeClr val="accent1"/>
            </a:solidFill>
            <a:ln>
              <a:noFill/>
            </a:ln>
          </p:spPr>
        </p:sp>
        <p:sp>
          <p:nvSpPr>
            <p:cNvPr id="23" name="TextBox 23"/>
            <p:cNvSpPr txBox="1"/>
            <p:nvPr/>
          </p:nvSpPr>
          <p:spPr>
            <a:xfrm>
              <a:off x="981456" y="4044315"/>
              <a:ext cx="1794288"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Training setup</a:t>
              </a:r>
            </a:p>
          </p:txBody>
        </p:sp>
        <p:sp>
          <p:nvSpPr>
            <p:cNvPr id="24" name="TextBox 24"/>
            <p:cNvSpPr txBox="1"/>
            <p:nvPr/>
          </p:nvSpPr>
          <p:spPr>
            <a:xfrm>
              <a:off x="982980" y="4457700"/>
              <a:ext cx="3047221"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Backbone: standard ResNet-50</a:t>
              </a:r>
            </a:p>
          </p:txBody>
        </p:sp>
        <p:sp>
          <p:nvSpPr>
            <p:cNvPr id="25" name="TextBox 25"/>
            <p:cNvSpPr txBox="1"/>
            <p:nvPr/>
          </p:nvSpPr>
          <p:spPr>
            <a:xfrm>
              <a:off x="982980" y="4733925"/>
              <a:ext cx="272500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Batch 1,024 · 8× V100 GPUs</a:t>
              </a:r>
            </a:p>
          </p:txBody>
        </p:sp>
        <p:sp>
          <p:nvSpPr>
            <p:cNvPr id="26" name="TextBox 26"/>
            <p:cNvSpPr txBox="1"/>
            <p:nvPr/>
          </p:nvSpPr>
          <p:spPr>
            <a:xfrm>
              <a:off x="982980" y="5010150"/>
              <a:ext cx="353829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Queue 16 batches · 1,000 centroids</a:t>
              </a:r>
            </a:p>
          </p:txBody>
        </p:sp>
        <p:sp>
          <p:nvSpPr>
            <p:cNvPr id="27" name="TextBox 27"/>
            <p:cNvSpPr txBox="1"/>
            <p:nvPr/>
          </p:nvSpPr>
          <p:spPr>
            <a:xfrm>
              <a:off x="982980" y="5286375"/>
              <a:ext cx="291293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65 epochs · ~10 days compute</a:t>
              </a:r>
            </a:p>
          </p:txBody>
        </p:sp>
      </p:grpSp>
      <p:grpSp>
        <p:nvGrpSpPr>
          <p:cNvPr id="36" name="Group 36"/>
          <p:cNvGrpSpPr/>
          <p:nvPr/>
        </p:nvGrpSpPr>
        <p:grpSpPr>
          <a:xfrm>
            <a:off x="6286500" y="3857625"/>
            <a:ext cx="5219700" cy="1952625"/>
            <a:chOff x="6286500" y="3857625"/>
            <a:chExt cx="5219700" cy="1952625"/>
          </a:xfrm>
        </p:grpSpPr>
        <p:sp>
          <p:nvSpPr>
            <p:cNvPr id="29" name="Rectangle 29"/>
            <p:cNvSpPr/>
            <p:nvPr/>
          </p:nvSpPr>
          <p:spPr>
            <a:xfrm>
              <a:off x="6286500" y="3857625"/>
              <a:ext cx="5219700" cy="1952625"/>
            </a:xfrm>
            <a:prstGeom prst="roundRect">
              <a:avLst>
                <a:gd name="adj" fmla="val 6829"/>
              </a:avLst>
            </a:prstGeom>
            <a:solidFill>
              <a:schemeClr val="lt2"/>
            </a:solidFill>
            <a:ln w="9525">
              <a:solidFill>
                <a:schemeClr val="accent4"/>
              </a:solidFill>
            </a:ln>
          </p:spPr>
        </p:sp>
        <p:sp>
          <p:nvSpPr>
            <p:cNvPr id="30" name="Rectangle 30"/>
            <p:cNvSpPr/>
            <p:nvPr/>
          </p:nvSpPr>
          <p:spPr>
            <a:xfrm>
              <a:off x="6286500" y="3857625"/>
              <a:ext cx="76200" cy="1952625"/>
            </a:xfrm>
            <a:prstGeom prst="roundRect">
              <a:avLst>
                <a:gd name="adj" fmla="val 50000"/>
              </a:avLst>
            </a:prstGeom>
            <a:solidFill>
              <a:schemeClr val="accent5"/>
            </a:solidFill>
            <a:ln>
              <a:noFill/>
            </a:ln>
          </p:spPr>
        </p:sp>
        <p:sp>
          <p:nvSpPr>
            <p:cNvPr id="31" name="TextBox 31"/>
            <p:cNvSpPr txBox="1"/>
            <p:nvPr/>
          </p:nvSpPr>
          <p:spPr>
            <a:xfrm>
              <a:off x="6582156" y="4044315"/>
              <a:ext cx="2570607"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Three eval protocols</a:t>
              </a:r>
            </a:p>
          </p:txBody>
        </p:sp>
        <p:sp>
          <p:nvSpPr>
            <p:cNvPr id="32" name="TextBox 32"/>
            <p:cNvSpPr txBox="1"/>
            <p:nvPr/>
          </p:nvSpPr>
          <p:spPr>
            <a:xfrm>
              <a:off x="6585204" y="4423410"/>
              <a:ext cx="366838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Measuring representation quality three ways:</a:t>
              </a:r>
            </a:p>
          </p:txBody>
        </p:sp>
        <p:sp>
          <p:nvSpPr>
            <p:cNvPr id="33" name="TextBox 33"/>
            <p:cNvSpPr txBox="1"/>
            <p:nvPr/>
          </p:nvSpPr>
          <p:spPr>
            <a:xfrm>
              <a:off x="6583680" y="4714875"/>
              <a:ext cx="3071574"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Weighted k-nearest-neighbor</a:t>
              </a:r>
            </a:p>
          </p:txBody>
        </p:sp>
        <p:sp>
          <p:nvSpPr>
            <p:cNvPr id="34" name="TextBox 34"/>
            <p:cNvSpPr txBox="1"/>
            <p:nvPr/>
          </p:nvSpPr>
          <p:spPr>
            <a:xfrm>
              <a:off x="6583680" y="4991100"/>
              <a:ext cx="3254055"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Linear eval (frozen + softmax)</a:t>
              </a:r>
            </a:p>
          </p:txBody>
        </p:sp>
        <p:sp>
          <p:nvSpPr>
            <p:cNvPr id="35" name="TextBox 35"/>
            <p:cNvSpPr txBox="1"/>
            <p:nvPr/>
          </p:nvSpPr>
          <p:spPr>
            <a:xfrm>
              <a:off x="6583680" y="5267325"/>
              <a:ext cx="2879866"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Full end-to-end fine-tuning</a:t>
              </a:r>
            </a:p>
          </p:txBody>
        </p:sp>
      </p:grpSp>
      <p:sp>
        <p:nvSpPr>
          <p:cNvPr id="37" name="cue_s05_c1_core_method_swav_contrastive_framewo" title="cue_s05_c1_core_method_swav_contrastive_framewo" descr="cue_s05_c1_core_method_swav_contrastive_framewo The core method is SwAV, a contrastive framework that assigns image representations to clusters and trains the network to predict the cluster assignment of one augmented view from another."/>
          <p:cNvSpPr/>
          <p:nvPr/>
        </p:nvSpPr>
        <p:spPr>
          <a:xfrm>
            <a:off x="686409" y="1714500"/>
            <a:ext cx="5219395" cy="195247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5_c2_unlike_methods_such_simclr_swav" title="cue_s05_c2_unlike_methods_such_simclr_swav" descr="cue_s05_c2_unlike_methods_such_simclr_swav Unlike methods such as SimCLR, SwAV avoids prohibitively large batches by storing recent cluster assignments in a queue."/>
          <p:cNvSpPr/>
          <p:nvPr/>
        </p:nvSpPr>
        <p:spPr>
          <a:xfrm>
            <a:off x="6286195" y="1714500"/>
            <a:ext cx="5219395" cy="195247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5_c3_authors_train_standard_resnet_50_bac" title="cue_s05_c3_authors_train_standard_resnet_50_bac" descr="cue_s05_c3_authors_train_standard_resnet_50_bac The authors train a standard ResNet-50 backbone with SwAV using a batch size of one thousand twenty-four across eight V100 GPUs, a queue of sixteen batches, and one thousand cluster centroids, stopping after sixty-five epochs and about ten days of compute."/>
          <p:cNvSpPr/>
          <p:nvPr/>
        </p:nvSpPr>
        <p:spPr>
          <a:xfrm>
            <a:off x="686409" y="3857625"/>
            <a:ext cx="5219395" cy="195247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5_c4_measure_representation_quality_they" title="cue_s05_c4_measure_representation_quality_they" descr="cue_s05_c4_measure_representation_quality_they To measure representation quality, they use three downstream protocols: a weighted k-nearest-neighbor classifier, a linear evaluation that freezes the backbone and trains a single softmax layer, and full end-to-end fine-tuning of all weights on the labeled dat"/>
          <p:cNvSpPr/>
          <p:nvPr/>
        </p:nvSpPr>
        <p:spPr>
          <a:xfrm>
            <a:off x="6286195" y="3857625"/>
            <a:ext cx="5219395" cy="195247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79704" y="632460"/>
            <a:ext cx="2725278" cy="234696"/>
          </a:xfrm>
          <a:prstGeom prst="rect">
            <a:avLst/>
          </a:prstGeom>
          <a:noFill/>
          <a:ln>
            <a:noFill/>
          </a:ln>
        </p:spPr>
        <p:txBody>
          <a:bodyPr wrap="none" lIns="0" tIns="0" rIns="0" bIns="0" anchor="t" anchorCtr="0">
            <a:spAutoFit/>
          </a:bodyPr>
          <a:lstStyle/>
          <a:p>
            <a:pPr algn="l"/>
            <a:r>
              <a:rPr lang="en-US" sz="1200" b="1" spc="150" dirty="0">
                <a:solidFill>
                  <a:schemeClr val="dk2"/>
                </a:solidFill>
                <a:latin typeface="+mn-lt"/>
                <a:ea typeface="+mn-ea"/>
                <a:cs typeface="+mn-cs"/>
              </a:rPr>
              <a:t>06 · DATASET / BENCHMARK</a:t>
            </a:r>
          </a:p>
        </p:txBody>
      </p:sp>
      <p:sp>
        <p:nvSpPr>
          <p:cNvPr id="3" name="Rectangle 3"/>
          <p:cNvSpPr/>
          <p:nvPr/>
        </p:nvSpPr>
        <p:spPr>
          <a:xfrm>
            <a:off x="685800" y="876300"/>
            <a:ext cx="419100" cy="38100"/>
          </a:xfrm>
          <a:prstGeom prst="rect">
            <a:avLst/>
          </a:prstGeom>
          <a:solidFill>
            <a:schemeClr val="accent1"/>
          </a:solidFill>
          <a:ln>
            <a:noFill/>
          </a:ln>
        </p:spPr>
        <p:txBody>
          <a:bodyPr/>
          <a:p/>
        </p:txBody>
      </p:sp>
      <p:sp>
        <p:nvSpPr>
          <p:cNvPr id="4" name="TextBox 4"/>
          <p:cNvSpPr txBox="1"/>
          <p:nvPr/>
        </p:nvSpPr>
        <p:spPr>
          <a:xfrm>
            <a:off x="669798" y="993458"/>
            <a:ext cx="9242304"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n-lt"/>
                <a:ea typeface="+mn-ea"/>
                <a:cs typeface="+mn-cs"/>
              </a:rPr>
              <a:t xml:space="preserve">Two datasets: a </a:t>
            </a:r>
            <a:r>
              <a:rPr lang="en-US" sz="3150" b="1" dirty="0">
                <a:solidFill>
                  <a:schemeClr val="accent1"/>
                </a:solidFill>
                <a:latin typeface="+mn-lt"/>
                <a:ea typeface="+mn-ea"/>
                <a:cs typeface="+mn-cs"/>
              </a:rPr>
              <a:t>firehose</a:t>
            </a:r>
            <a:r>
              <a:rPr lang="en-US" sz="3150" b="1" dirty="0">
                <a:solidFill>
                  <a:schemeClr val="dk1"/>
                </a:solidFill>
                <a:latin typeface="+mn-lt"/>
                <a:ea typeface="+mn-ea"/>
                <a:cs typeface="+mn-cs"/>
              </a:rPr>
              <a:t xml:space="preserve"> and a </a:t>
            </a:r>
            <a:r>
              <a:rPr lang="en-US" sz="3150" b="1" dirty="0">
                <a:solidFill>
                  <a:schemeClr val="accent5"/>
                </a:solidFill>
                <a:latin typeface="+mn-lt"/>
                <a:ea typeface="+mn-ea"/>
                <a:cs typeface="+mn-cs"/>
              </a:rPr>
              <a:t>benchmark</a:t>
            </a:r>
          </a:p>
        </p:txBody>
      </p:sp>
      <p:grpSp>
        <p:nvGrpSpPr>
          <p:cNvPr id="8" name="Group 8"/>
          <p:cNvGrpSpPr/>
          <p:nvPr/>
        </p:nvGrpSpPr>
        <p:grpSpPr>
          <a:xfrm>
            <a:off x="685800" y="1638300"/>
            <a:ext cx="10820400" cy="685800"/>
            <a:chOff x="685800" y="1638300"/>
            <a:chExt cx="10820400" cy="685800"/>
          </a:xfrm>
        </p:grpSpPr>
        <p:sp>
          <p:nvSpPr>
            <p:cNvPr id="5" name="Rectangle 5"/>
            <p:cNvSpPr/>
            <p:nvPr/>
          </p:nvSpPr>
          <p:spPr>
            <a:xfrm>
              <a:off x="685800" y="1638300"/>
              <a:ext cx="10820400" cy="685800"/>
            </a:xfrm>
            <a:prstGeom prst="roundRect">
              <a:avLst>
                <a:gd name="adj" fmla="val 19444"/>
              </a:avLst>
            </a:prstGeom>
            <a:solidFill>
              <a:schemeClr val="lt2"/>
            </a:solidFill>
            <a:ln w="9525">
              <a:solidFill>
                <a:schemeClr val="accent4"/>
              </a:solidFill>
            </a:ln>
          </p:spPr>
        </p:sp>
        <p:sp>
          <p:nvSpPr>
            <p:cNvPr id="6" name="Rectangle 6"/>
            <p:cNvSpPr/>
            <p:nvPr/>
          </p:nvSpPr>
          <p:spPr>
            <a:xfrm>
              <a:off x="685800" y="1638300"/>
              <a:ext cx="76200" cy="685800"/>
            </a:xfrm>
            <a:prstGeom prst="roundRect">
              <a:avLst>
                <a:gd name="adj" fmla="val 50000"/>
              </a:avLst>
            </a:prstGeom>
            <a:solidFill>
              <a:schemeClr val="accent1"/>
            </a:solidFill>
            <a:ln>
              <a:noFill/>
            </a:ln>
          </p:spPr>
        </p:sp>
        <p:sp>
          <p:nvSpPr>
            <p:cNvPr id="7" name="TextBox 7"/>
            <p:cNvSpPr txBox="1"/>
            <p:nvPr/>
          </p:nvSpPr>
          <p:spPr>
            <a:xfrm>
              <a:off x="981456" y="1863090"/>
              <a:ext cx="9708257"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Two datasets drive the study — one huge unlabeled pool, one small labeled set.</a:t>
              </a:r>
            </a:p>
          </p:txBody>
        </p:sp>
      </p:grpSp>
      <p:grpSp>
        <p:nvGrpSpPr>
          <p:cNvPr id="16" name="Group 16"/>
          <p:cNvGrpSpPr/>
          <p:nvPr/>
        </p:nvGrpSpPr>
        <p:grpSpPr>
          <a:xfrm>
            <a:off x="685800" y="2514600"/>
            <a:ext cx="5219700" cy="2190750"/>
            <a:chOff x="685800" y="2514600"/>
            <a:chExt cx="5219700" cy="2190750"/>
          </a:xfrm>
        </p:grpSpPr>
        <p:sp>
          <p:nvSpPr>
            <p:cNvPr id="9" name="Rectangle 9"/>
            <p:cNvSpPr/>
            <p:nvPr/>
          </p:nvSpPr>
          <p:spPr>
            <a:xfrm>
              <a:off x="685800" y="2514600"/>
              <a:ext cx="5219700" cy="2190750"/>
            </a:xfrm>
            <a:prstGeom prst="roundRect">
              <a:avLst>
                <a:gd name="adj" fmla="val 6087"/>
              </a:avLst>
            </a:prstGeom>
            <a:solidFill>
              <a:schemeClr val="lt2"/>
            </a:solidFill>
            <a:ln w="9525">
              <a:solidFill>
                <a:schemeClr val="accent4"/>
              </a:solidFill>
            </a:ln>
          </p:spPr>
        </p:sp>
        <p:sp>
          <p:nvSpPr>
            <p:cNvPr id="10" name="Rectangle 10"/>
            <p:cNvSpPr/>
            <p:nvPr/>
          </p:nvSpPr>
          <p:spPr>
            <a:xfrm>
              <a:off x="685800" y="2514600"/>
              <a:ext cx="76200" cy="2190750"/>
            </a:xfrm>
            <a:prstGeom prst="roundRect">
              <a:avLst>
                <a:gd name="adj" fmla="val 50000"/>
              </a:avLst>
            </a:prstGeom>
            <a:solidFill>
              <a:schemeClr val="accent1"/>
            </a:solidFill>
            <a:ln>
              <a:noFill/>
            </a:ln>
          </p:spPr>
        </p:sp>
        <p:sp>
          <p:nvSpPr>
            <p:cNvPr id="11" name="TextBox 11"/>
            <p:cNvSpPr txBox="1"/>
            <p:nvPr/>
          </p:nvSpPr>
          <p:spPr>
            <a:xfrm>
              <a:off x="985266" y="2725102"/>
              <a:ext cx="2692497" cy="205359"/>
            </a:xfrm>
            <a:prstGeom prst="rect">
              <a:avLst/>
            </a:prstGeom>
            <a:noFill/>
            <a:ln>
              <a:noFill/>
            </a:ln>
          </p:spPr>
          <p:txBody>
            <a:bodyPr wrap="none" lIns="0" tIns="0" rIns="0" bIns="0" anchor="t" anchorCtr="0">
              <a:spAutoFit/>
            </a:bodyPr>
            <a:lstStyle/>
            <a:p>
              <a:pPr algn="l"/>
              <a:r>
                <a:rPr lang="en-US" sz="1050" b="1" spc="150" dirty="0">
                  <a:solidFill>
                    <a:schemeClr val="dk2"/>
                  </a:solidFill>
                  <a:latin typeface="+mn-lt"/>
                  <a:ea typeface="+mn-ea"/>
                  <a:cs typeface="+mn-cs"/>
                </a:rPr>
                <a:t>UNLABELED PRETRAINING POOL</a:t>
              </a:r>
            </a:p>
          </p:txBody>
        </p:sp>
        <p:sp>
          <p:nvSpPr>
            <p:cNvPr id="12" name="TextBox 12"/>
            <p:cNvSpPr txBox="1"/>
            <p:nvPr/>
          </p:nvSpPr>
          <p:spPr>
            <a:xfrm>
              <a:off x="972312" y="3021330"/>
              <a:ext cx="2453678" cy="704088"/>
            </a:xfrm>
            <a:prstGeom prst="rect">
              <a:avLst/>
            </a:prstGeom>
            <a:noFill/>
            <a:ln>
              <a:noFill/>
            </a:ln>
          </p:spPr>
          <p:txBody>
            <a:bodyPr wrap="none" lIns="0" tIns="0" rIns="0" bIns="0" anchor="t" anchorCtr="0">
              <a:spAutoFit/>
            </a:bodyPr>
            <a:lstStyle/>
            <a:p>
              <a:pPr algn="l"/>
              <a:r>
                <a:rPr lang="en-US" sz="3600" b="1" dirty="0">
                  <a:solidFill>
                    <a:schemeClr val="accent1"/>
                  </a:solidFill>
                  <a:latin typeface="+mn-lt"/>
                  <a:ea typeface="+mn-ea"/>
                  <a:cs typeface="+mn-cs"/>
                </a:rPr>
                <a:t>≈ 3 million</a:t>
              </a:r>
            </a:p>
          </p:txBody>
        </p:sp>
        <p:sp>
          <p:nvSpPr>
            <p:cNvPr id="13" name="TextBox 13"/>
            <p:cNvSpPr txBox="1"/>
            <p:nvPr/>
          </p:nvSpPr>
          <p:spPr>
            <a:xfrm>
              <a:off x="982980" y="3571875"/>
              <a:ext cx="339428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unlabeled Wave-mode ocean images</a:t>
              </a:r>
            </a:p>
          </p:txBody>
        </p:sp>
        <p:sp>
          <p:nvSpPr>
            <p:cNvPr id="14" name="TextBox 14"/>
            <p:cNvSpPr txBox="1"/>
            <p:nvPr/>
          </p:nvSpPr>
          <p:spPr>
            <a:xfrm>
              <a:off x="983361" y="3960971"/>
              <a:ext cx="437177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Sentinel-1 A &amp; B · 2017–2019 · 20 × 20 km · 5 m</a:t>
              </a:r>
            </a:p>
          </p:txBody>
        </p:sp>
        <p:sp>
          <p:nvSpPr>
            <p:cNvPr id="15" name="TextBox 15"/>
            <p:cNvSpPr txBox="1"/>
            <p:nvPr/>
          </p:nvSpPr>
          <p:spPr>
            <a:xfrm>
              <a:off x="983361" y="4265771"/>
              <a:ext cx="270984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90% training · 10% validation</a:t>
              </a:r>
            </a:p>
          </p:txBody>
        </p:sp>
      </p:grpSp>
      <p:grpSp>
        <p:nvGrpSpPr>
          <p:cNvPr id="21" name="Group 21"/>
          <p:cNvGrpSpPr/>
          <p:nvPr/>
        </p:nvGrpSpPr>
        <p:grpSpPr>
          <a:xfrm>
            <a:off x="685800" y="4857750"/>
            <a:ext cx="5219700" cy="952500"/>
            <a:chOff x="685800" y="4857750"/>
            <a:chExt cx="5219700" cy="952500"/>
          </a:xfrm>
        </p:grpSpPr>
        <p:sp>
          <p:nvSpPr>
            <p:cNvPr id="17" name="Rectangle 17"/>
            <p:cNvSpPr/>
            <p:nvPr/>
          </p:nvSpPr>
          <p:spPr>
            <a:xfrm>
              <a:off x="685800" y="4857750"/>
              <a:ext cx="5219700" cy="952500"/>
            </a:xfrm>
            <a:prstGeom prst="roundRect">
              <a:avLst>
                <a:gd name="adj" fmla="val 14000"/>
              </a:avLst>
            </a:prstGeom>
            <a:solidFill>
              <a:schemeClr val="lt2"/>
            </a:solidFill>
            <a:ln w="9525">
              <a:solidFill>
                <a:schemeClr val="accent4"/>
              </a:solidFill>
            </a:ln>
          </p:spPr>
        </p:sp>
        <p:sp>
          <p:nvSpPr>
            <p:cNvPr id="18" name="Rectangle 18"/>
            <p:cNvSpPr/>
            <p:nvPr/>
          </p:nvSpPr>
          <p:spPr>
            <a:xfrm>
              <a:off x="685800" y="4857750"/>
              <a:ext cx="76200" cy="952500"/>
            </a:xfrm>
            <a:prstGeom prst="roundRect">
              <a:avLst>
                <a:gd name="adj" fmla="val 50000"/>
              </a:avLst>
            </a:prstGeom>
            <a:solidFill>
              <a:schemeClr val="accent5"/>
            </a:solidFill>
            <a:ln>
              <a:noFill/>
            </a:ln>
          </p:spPr>
        </p:sp>
        <p:sp>
          <p:nvSpPr>
            <p:cNvPr id="19" name="TextBox 19"/>
            <p:cNvSpPr txBox="1"/>
            <p:nvPr/>
          </p:nvSpPr>
          <p:spPr>
            <a:xfrm>
              <a:off x="982218" y="5079682"/>
              <a:ext cx="316553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 xml:space="preserve">Stratified split </a:t>
              </a:r>
              <a:r>
                <a:rPr lang="en-US" sz="1650" b="1" dirty="0">
                  <a:solidFill>
                    <a:schemeClr val="accent5"/>
                  </a:solidFill>
                  <a:latin typeface="+mn-lt"/>
                  <a:ea typeface="+mn-ea"/>
                  <a:cs typeface="+mn-cs"/>
                </a:rPr>
                <a:t>60 / 20 / 20</a:t>
              </a:r>
            </a:p>
          </p:txBody>
        </p:sp>
        <p:sp>
          <p:nvSpPr>
            <p:cNvPr id="20" name="TextBox 20"/>
            <p:cNvSpPr txBox="1"/>
            <p:nvPr/>
          </p:nvSpPr>
          <p:spPr>
            <a:xfrm>
              <a:off x="983742" y="5416868"/>
              <a:ext cx="321228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training · validation · held-out test</a:t>
              </a:r>
            </a:p>
          </p:txBody>
        </p:sp>
      </p:grpSp>
      <p:grpSp>
        <p:nvGrpSpPr>
          <p:cNvPr id="35" name="Group 35"/>
          <p:cNvGrpSpPr/>
          <p:nvPr/>
        </p:nvGrpSpPr>
        <p:grpSpPr>
          <a:xfrm>
            <a:off x="6286500" y="2514600"/>
            <a:ext cx="5219700" cy="3295650"/>
            <a:chOff x="6286500" y="2514600"/>
            <a:chExt cx="5219700" cy="3295650"/>
          </a:xfrm>
        </p:grpSpPr>
        <p:sp>
          <p:nvSpPr>
            <p:cNvPr id="22" name="Rectangle 22"/>
            <p:cNvSpPr/>
            <p:nvPr/>
          </p:nvSpPr>
          <p:spPr>
            <a:xfrm>
              <a:off x="6286500" y="2514600"/>
              <a:ext cx="5219700" cy="3295650"/>
            </a:xfrm>
            <a:prstGeom prst="roundRect">
              <a:avLst>
                <a:gd name="adj" fmla="val 4046"/>
              </a:avLst>
            </a:prstGeom>
            <a:solidFill>
              <a:schemeClr val="lt2"/>
            </a:solidFill>
            <a:ln w="9525">
              <a:solidFill>
                <a:schemeClr val="accent4"/>
              </a:solidFill>
            </a:ln>
          </p:spPr>
        </p:sp>
        <p:sp>
          <p:nvSpPr>
            <p:cNvPr id="23" name="Rectangle 23"/>
            <p:cNvSpPr/>
            <p:nvPr/>
          </p:nvSpPr>
          <p:spPr>
            <a:xfrm>
              <a:off x="6286500" y="2514600"/>
              <a:ext cx="76200" cy="3295650"/>
            </a:xfrm>
            <a:prstGeom prst="roundRect">
              <a:avLst>
                <a:gd name="adj" fmla="val 50000"/>
              </a:avLst>
            </a:prstGeom>
            <a:solidFill>
              <a:schemeClr val="accent5"/>
            </a:solidFill>
            <a:ln>
              <a:noFill/>
            </a:ln>
          </p:spPr>
        </p:sp>
        <p:sp>
          <p:nvSpPr>
            <p:cNvPr id="24" name="TextBox 24"/>
            <p:cNvSpPr txBox="1"/>
            <p:nvPr/>
          </p:nvSpPr>
          <p:spPr>
            <a:xfrm>
              <a:off x="6582156" y="2701290"/>
              <a:ext cx="2329042"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Labeled benchmark</a:t>
              </a:r>
            </a:p>
          </p:txBody>
        </p:sp>
        <p:sp>
          <p:nvSpPr>
            <p:cNvPr id="25" name="TextBox 25"/>
            <p:cNvSpPr txBox="1"/>
            <p:nvPr/>
          </p:nvSpPr>
          <p:spPr>
            <a:xfrm>
              <a:off x="6584823" y="3043714"/>
              <a:ext cx="4794656"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2,300 expert vignettes · 4 consensus multi-label classes</a:t>
              </a:r>
            </a:p>
          </p:txBody>
        </p:sp>
        <p:pic>
          <p:nvPicPr>
            <p:cNvPr id="26" name="Image 26"/>
            <p:cNvPicPr>
              <a:picLocks noChangeAspect="1"/>
            </p:cNvPicPr>
            <p:nvPr/>
          </p:nvPicPr>
          <p:blipFill>
            <a:blip r:embed="rId2"/>
            <a:srcRect l="16679" t="0" r="16679" b="0"/>
            <a:stretch>
              <a:fillRect/>
            </a:stretch>
          </p:blipFill>
          <p:spPr>
            <a:xfrm>
              <a:off x="6591300" y="3390900"/>
              <a:ext cx="1104900" cy="1676400"/>
            </a:xfrm>
            <a:prstGeom prst="rect">
              <a:avLst/>
            </a:prstGeom>
          </p:spPr>
        </p:pic>
        <p:pic>
          <p:nvPicPr>
            <p:cNvPr id="27" name="Image 27"/>
            <p:cNvPicPr>
              <a:picLocks noChangeAspect="1"/>
            </p:cNvPicPr>
            <p:nvPr/>
          </p:nvPicPr>
          <p:blipFill>
            <a:blip r:embed="rId3"/>
            <a:srcRect l="15922" t="0" r="15922" b="0"/>
            <a:stretch>
              <a:fillRect/>
            </a:stretch>
          </p:blipFill>
          <p:spPr>
            <a:xfrm>
              <a:off x="7772400" y="3390900"/>
              <a:ext cx="1104900" cy="1676400"/>
            </a:xfrm>
            <a:prstGeom prst="rect">
              <a:avLst/>
            </a:prstGeom>
          </p:spPr>
        </p:pic>
        <p:pic>
          <p:nvPicPr>
            <p:cNvPr id="28" name="Image 28"/>
            <p:cNvPicPr>
              <a:picLocks noChangeAspect="1"/>
            </p:cNvPicPr>
            <p:nvPr/>
          </p:nvPicPr>
          <p:blipFill>
            <a:blip r:embed="rId4"/>
            <a:srcRect l="16456" t="0" r="16456" b="0"/>
            <a:stretch>
              <a:fillRect/>
            </a:stretch>
          </p:blipFill>
          <p:spPr>
            <a:xfrm>
              <a:off x="8953500" y="3390900"/>
              <a:ext cx="1104900" cy="1676400"/>
            </a:xfrm>
            <a:prstGeom prst="rect">
              <a:avLst/>
            </a:prstGeom>
          </p:spPr>
        </p:pic>
        <p:pic>
          <p:nvPicPr>
            <p:cNvPr id="29" name="Image 29"/>
            <p:cNvPicPr>
              <a:picLocks noChangeAspect="1"/>
            </p:cNvPicPr>
            <p:nvPr/>
          </p:nvPicPr>
          <p:blipFill>
            <a:blip r:embed="rId5"/>
            <a:srcRect l="16380" t="0" r="16380" b="0"/>
            <a:stretch>
              <a:fillRect/>
            </a:stretch>
          </p:blipFill>
          <p:spPr>
            <a:xfrm>
              <a:off x="10134600" y="3390900"/>
              <a:ext cx="1104900" cy="1676400"/>
            </a:xfrm>
            <a:prstGeom prst="rect">
              <a:avLst/>
            </a:prstGeom>
          </p:spPr>
        </p:pic>
        <p:sp>
          <p:nvSpPr>
            <p:cNvPr id="30" name="TextBox 30"/>
            <p:cNvSpPr txBox="1"/>
            <p:nvPr/>
          </p:nvSpPr>
          <p:spPr>
            <a:xfrm>
              <a:off x="7013012" y="5215414"/>
              <a:ext cx="261476" cy="249364"/>
            </a:xfrm>
            <a:prstGeom prst="rect">
              <a:avLst/>
            </a:prstGeom>
            <a:noFill/>
            <a:ln>
              <a:noFill/>
            </a:ln>
          </p:spPr>
          <p:txBody>
            <a:bodyPr wrap="none" lIns="0" tIns="0" rIns="0" bIns="0" anchor="t" anchorCtr="0">
              <a:spAutoFit/>
            </a:bodyPr>
            <a:lstStyle/>
            <a:p>
              <a:pPr algn="ctr"/>
              <a:r>
                <a:rPr lang="en-US" sz="1280" b="1" dirty="0">
                  <a:solidFill>
                    <a:schemeClr val="dk1"/>
                  </a:solidFill>
                  <a:latin typeface="+mn-lt"/>
                  <a:ea typeface="+mn-ea"/>
                  <a:cs typeface="+mn-cs"/>
                </a:rPr>
                <a:t>MC</a:t>
              </a:r>
            </a:p>
          </p:txBody>
        </p:sp>
        <p:sp>
          <p:nvSpPr>
            <p:cNvPr id="31" name="TextBox 31"/>
            <p:cNvSpPr txBox="1"/>
            <p:nvPr/>
          </p:nvSpPr>
          <p:spPr>
            <a:xfrm>
              <a:off x="8194112" y="5215414"/>
              <a:ext cx="261476" cy="249364"/>
            </a:xfrm>
            <a:prstGeom prst="rect">
              <a:avLst/>
            </a:prstGeom>
            <a:noFill/>
            <a:ln>
              <a:noFill/>
            </a:ln>
          </p:spPr>
          <p:txBody>
            <a:bodyPr wrap="none" lIns="0" tIns="0" rIns="0" bIns="0" anchor="t" anchorCtr="0">
              <a:spAutoFit/>
            </a:bodyPr>
            <a:lstStyle/>
            <a:p>
              <a:pPr algn="ctr"/>
              <a:r>
                <a:rPr lang="en-US" sz="1280" b="1" dirty="0">
                  <a:solidFill>
                    <a:schemeClr val="dk1"/>
                  </a:solidFill>
                  <a:latin typeface="+mn-lt"/>
                  <a:ea typeface="+mn-ea"/>
                  <a:cs typeface="+mn-cs"/>
                </a:rPr>
                <a:t>WS</a:t>
              </a:r>
            </a:p>
          </p:txBody>
        </p:sp>
        <p:sp>
          <p:nvSpPr>
            <p:cNvPr id="32" name="TextBox 32"/>
            <p:cNvSpPr txBox="1"/>
            <p:nvPr/>
          </p:nvSpPr>
          <p:spPr>
            <a:xfrm>
              <a:off x="9394329" y="5215414"/>
              <a:ext cx="223242" cy="249364"/>
            </a:xfrm>
            <a:prstGeom prst="rect">
              <a:avLst/>
            </a:prstGeom>
            <a:noFill/>
            <a:ln>
              <a:noFill/>
            </a:ln>
          </p:spPr>
          <p:txBody>
            <a:bodyPr wrap="none" lIns="0" tIns="0" rIns="0" bIns="0" anchor="t" anchorCtr="0">
              <a:spAutoFit/>
            </a:bodyPr>
            <a:lstStyle/>
            <a:p>
              <a:pPr algn="ctr"/>
              <a:r>
                <a:rPr lang="en-US" sz="1280" b="1" dirty="0">
                  <a:solidFill>
                    <a:schemeClr val="dk1"/>
                  </a:solidFill>
                  <a:latin typeface="+mn-lt"/>
                  <a:ea typeface="+mn-ea"/>
                  <a:cs typeface="+mn-cs"/>
                </a:rPr>
                <a:t>NV</a:t>
              </a:r>
            </a:p>
          </p:txBody>
        </p:sp>
        <p:sp>
          <p:nvSpPr>
            <p:cNvPr id="33" name="TextBox 33"/>
            <p:cNvSpPr txBox="1"/>
            <p:nvPr/>
          </p:nvSpPr>
          <p:spPr>
            <a:xfrm>
              <a:off x="10556312" y="5215414"/>
              <a:ext cx="261476" cy="249364"/>
            </a:xfrm>
            <a:prstGeom prst="rect">
              <a:avLst/>
            </a:prstGeom>
            <a:noFill/>
            <a:ln>
              <a:noFill/>
            </a:ln>
          </p:spPr>
          <p:txBody>
            <a:bodyPr wrap="none" lIns="0" tIns="0" rIns="0" bIns="0" anchor="t" anchorCtr="0">
              <a:spAutoFit/>
            </a:bodyPr>
            <a:lstStyle/>
            <a:p>
              <a:pPr algn="ctr"/>
              <a:r>
                <a:rPr lang="en-US" sz="1280" b="1" dirty="0">
                  <a:solidFill>
                    <a:schemeClr val="dk1"/>
                  </a:solidFill>
                  <a:latin typeface="+mn-lt"/>
                  <a:ea typeface="+mn-ea"/>
                  <a:cs typeface="+mn-cs"/>
                </a:rPr>
                <a:t>OT</a:t>
              </a:r>
            </a:p>
          </p:txBody>
        </p:sp>
        <p:sp>
          <p:nvSpPr>
            <p:cNvPr id="34" name="TextBox 34"/>
            <p:cNvSpPr txBox="1"/>
            <p:nvPr/>
          </p:nvSpPr>
          <p:spPr>
            <a:xfrm>
              <a:off x="6585204" y="5547360"/>
              <a:ext cx="411284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MC · WS · NV · Other (multiple labels can co-occur)</a:t>
              </a:r>
            </a:p>
          </p:txBody>
        </p:sp>
      </p:grpSp>
      <p:sp>
        <p:nvSpPr>
          <p:cNvPr id="36" name="cue_s06_c1_two_datasets_drive_study" title="cue_s06_c1_two_datasets_drive_study" descr="cue_s06_c1_two_datasets_drive_study Two datasets drive the study."/>
          <p:cNvSpPr/>
          <p:nvPr/>
        </p:nvSpPr>
        <p:spPr>
          <a:xfrm>
            <a:off x="686409" y="1638376"/>
            <a:ext cx="10820400" cy="6858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6_c2_pretraining_pool_nearly_three_millio" title="cue_s06_c2_pretraining_pool_nearly_three_millio" descr="cue_s06_c2_pretraining_pool_nearly_three_millio The pretraining pool is nearly three million unlabeled Wave-mode images from Sentinel-1 A and B over 2017 to 2019, each covering a twenty by twenty kilometer patch of ocean at five meter resolution, ninety percent used for training and ten percent held out for"/>
          <p:cNvSpPr/>
          <p:nvPr/>
        </p:nvSpPr>
        <p:spPr>
          <a:xfrm>
            <a:off x="686409" y="2514828"/>
            <a:ext cx="5219395"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6_c3_labeled_benchmark_contains_twenty_th" title="cue_s06_c3_labeled_benchmark_contains_twenty_th" descr="cue_s06_c3_labeled_benchmark_contains_twenty_th The labeled benchmark contains twenty-three hundred vignettes annotated by experts into a consensus multi-label ground truth across four classes: mesoscale convection cells, wind streaks, negligible variability, and other."/>
          <p:cNvSpPr/>
          <p:nvPr/>
        </p:nvSpPr>
        <p:spPr>
          <a:xfrm>
            <a:off x="6286195" y="2514828"/>
            <a:ext cx="5219395" cy="32959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6_c4_set_stratified_split_sixty_twenty" title="cue_s06_c4_set_stratified_split_sixty_twenty" descr="cue_s06_c4_set_stratified_split_sixty_twenty This set is stratified and split sixty, twenty, twenty into training, validation, and held-out test data."/>
          <p:cNvSpPr/>
          <p:nvPr/>
        </p:nvSpPr>
        <p:spPr>
          <a:xfrm>
            <a:off x="686409" y="4857521"/>
            <a:ext cx="5219395" cy="9525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79704" y="632460"/>
            <a:ext cx="1655064" cy="234696"/>
          </a:xfrm>
          <a:prstGeom prst="rect">
            <a:avLst/>
          </a:prstGeom>
          <a:noFill/>
          <a:ln>
            <a:noFill/>
          </a:ln>
        </p:spPr>
        <p:txBody>
          <a:bodyPr wrap="none" lIns="0" tIns="0" rIns="0" bIns="0" anchor="t" anchorCtr="0">
            <a:spAutoFit/>
          </a:bodyPr>
          <a:lstStyle/>
          <a:p>
            <a:pPr algn="l"/>
            <a:r>
              <a:rPr lang="en-US" sz="1200" b="1" spc="150" dirty="0">
                <a:solidFill>
                  <a:schemeClr val="dk2"/>
                </a:solidFill>
                <a:latin typeface="+mn-lt"/>
                <a:ea typeface="+mn-ea"/>
                <a:cs typeface="+mn-cs"/>
              </a:rPr>
              <a:t>07 · KEY RESULT</a:t>
            </a:r>
          </a:p>
        </p:txBody>
      </p:sp>
      <p:sp>
        <p:nvSpPr>
          <p:cNvPr id="3" name="Rectangle 3"/>
          <p:cNvSpPr/>
          <p:nvPr/>
        </p:nvSpPr>
        <p:spPr>
          <a:xfrm>
            <a:off x="685800" y="876300"/>
            <a:ext cx="419100" cy="38100"/>
          </a:xfrm>
          <a:prstGeom prst="rect">
            <a:avLst/>
          </a:prstGeom>
          <a:solidFill>
            <a:schemeClr val="accent1"/>
          </a:solidFill>
          <a:ln>
            <a:noFill/>
          </a:ln>
        </p:spPr>
        <p:txBody>
          <a:bodyPr/>
          <a:p/>
        </p:txBody>
      </p:sp>
      <p:sp>
        <p:nvSpPr>
          <p:cNvPr id="4" name="TextBox 4"/>
          <p:cNvSpPr txBox="1"/>
          <p:nvPr/>
        </p:nvSpPr>
        <p:spPr>
          <a:xfrm>
            <a:off x="669798" y="993458"/>
            <a:ext cx="7081792"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n-lt"/>
                <a:ea typeface="+mn-ea"/>
                <a:cs typeface="+mn-cs"/>
              </a:rPr>
              <a:t xml:space="preserve">Big jumps on the </a:t>
            </a:r>
            <a:r>
              <a:rPr lang="en-US" sz="3150" b="1" dirty="0">
                <a:solidFill>
                  <a:schemeClr val="accent1"/>
                </a:solidFill>
                <a:latin typeface="+mn-lt"/>
                <a:ea typeface="+mn-ea"/>
                <a:cs typeface="+mn-cs"/>
              </a:rPr>
              <a:t>hardest classes</a:t>
            </a:r>
          </a:p>
        </p:txBody>
      </p:sp>
      <p:grpSp>
        <p:nvGrpSpPr>
          <p:cNvPr id="10" name="Group 10"/>
          <p:cNvGrpSpPr/>
          <p:nvPr/>
        </p:nvGrpSpPr>
        <p:grpSpPr>
          <a:xfrm>
            <a:off x="685800" y="1676400"/>
            <a:ext cx="3492094" cy="1337310"/>
            <a:chOff x="685800" y="1676400"/>
            <a:chExt cx="3492094" cy="1337310"/>
          </a:xfrm>
        </p:grpSpPr>
        <p:sp>
          <p:nvSpPr>
            <p:cNvPr id="5" name="Rectangle 5"/>
            <p:cNvSpPr/>
            <p:nvPr/>
          </p:nvSpPr>
          <p:spPr>
            <a:xfrm>
              <a:off x="685800" y="1676400"/>
              <a:ext cx="3429000" cy="1276350"/>
            </a:xfrm>
            <a:prstGeom prst="roundRect">
              <a:avLst>
                <a:gd name="adj" fmla="val 10448"/>
              </a:avLst>
            </a:prstGeom>
            <a:solidFill>
              <a:schemeClr val="lt2"/>
            </a:solidFill>
            <a:ln w="9525">
              <a:solidFill>
                <a:schemeClr val="accent4"/>
              </a:solidFill>
            </a:ln>
          </p:spPr>
        </p:sp>
        <p:sp>
          <p:nvSpPr>
            <p:cNvPr id="6" name="Rectangle 6"/>
            <p:cNvSpPr/>
            <p:nvPr/>
          </p:nvSpPr>
          <p:spPr>
            <a:xfrm>
              <a:off x="685800" y="1676400"/>
              <a:ext cx="76200" cy="1276350"/>
            </a:xfrm>
            <a:prstGeom prst="roundRect">
              <a:avLst>
                <a:gd name="adj" fmla="val 50000"/>
              </a:avLst>
            </a:prstGeom>
            <a:solidFill>
              <a:schemeClr val="accent1"/>
            </a:solidFill>
            <a:ln>
              <a:noFill/>
            </a:ln>
          </p:spPr>
        </p:sp>
        <p:sp>
          <p:nvSpPr>
            <p:cNvPr id="7" name="TextBox 7"/>
            <p:cNvSpPr txBox="1"/>
            <p:nvPr/>
          </p:nvSpPr>
          <p:spPr>
            <a:xfrm>
              <a:off x="985266" y="1905952"/>
              <a:ext cx="2117545" cy="205359"/>
            </a:xfrm>
            <a:prstGeom prst="rect">
              <a:avLst/>
            </a:prstGeom>
            <a:noFill/>
            <a:ln>
              <a:noFill/>
            </a:ln>
          </p:spPr>
          <p:txBody>
            <a:bodyPr wrap="none" lIns="0" tIns="0" rIns="0" bIns="0" anchor="t" anchorCtr="0">
              <a:spAutoFit/>
            </a:bodyPr>
            <a:lstStyle/>
            <a:p>
              <a:pPr algn="l"/>
              <a:r>
                <a:rPr lang="en-US" sz="1050" b="1" spc="150" dirty="0">
                  <a:solidFill>
                    <a:schemeClr val="dk2"/>
                  </a:solidFill>
                  <a:latin typeface="+mn-lt"/>
                  <a:ea typeface="+mn-ea"/>
                  <a:cs typeface="+mn-cs"/>
                </a:rPr>
                <a:t>BEST MICRO-AVG AUROC</a:t>
              </a:r>
            </a:p>
          </p:txBody>
        </p:sp>
        <p:sp>
          <p:nvSpPr>
            <p:cNvPr id="8" name="TextBox 8"/>
            <p:cNvSpPr txBox="1"/>
            <p:nvPr/>
          </p:nvSpPr>
          <p:spPr>
            <a:xfrm>
              <a:off x="971550" y="2194560"/>
              <a:ext cx="1344183" cy="819150"/>
            </a:xfrm>
            <a:prstGeom prst="rect">
              <a:avLst/>
            </a:prstGeom>
            <a:noFill/>
            <a:ln>
              <a:noFill/>
            </a:ln>
          </p:spPr>
          <p:txBody>
            <a:bodyPr wrap="none" lIns="0" tIns="0" rIns="0" bIns="0" anchor="t" anchorCtr="0">
              <a:spAutoFit/>
            </a:bodyPr>
            <a:lstStyle/>
            <a:p>
              <a:pPr algn="l"/>
              <a:r>
                <a:rPr lang="en-US" sz="4200" b="1" dirty="0">
                  <a:solidFill>
                    <a:schemeClr val="accent1"/>
                  </a:solidFill>
                  <a:latin typeface="+mn-lt"/>
                  <a:ea typeface="+mn-ea"/>
                  <a:cs typeface="+mn-cs"/>
                </a:rPr>
                <a:t>0.93</a:t>
              </a:r>
            </a:p>
          </p:txBody>
        </p:sp>
        <p:sp>
          <p:nvSpPr>
            <p:cNvPr id="9" name="TextBox 9"/>
            <p:cNvSpPr txBox="1"/>
            <p:nvPr/>
          </p:nvSpPr>
          <p:spPr>
            <a:xfrm>
              <a:off x="2564892" y="2502218"/>
              <a:ext cx="161300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fine-tuned models</a:t>
              </a:r>
            </a:p>
          </p:txBody>
        </p:sp>
      </p:grpSp>
      <p:grpSp>
        <p:nvGrpSpPr>
          <p:cNvPr id="17" name="Group 17"/>
          <p:cNvGrpSpPr/>
          <p:nvPr/>
        </p:nvGrpSpPr>
        <p:grpSpPr>
          <a:xfrm>
            <a:off x="685800" y="3086100"/>
            <a:ext cx="3429000" cy="1276350"/>
            <a:chOff x="685800" y="3086100"/>
            <a:chExt cx="3429000" cy="1276350"/>
          </a:xfrm>
        </p:grpSpPr>
        <p:sp>
          <p:nvSpPr>
            <p:cNvPr id="11" name="Rectangle 11"/>
            <p:cNvSpPr/>
            <p:nvPr/>
          </p:nvSpPr>
          <p:spPr>
            <a:xfrm>
              <a:off x="685800" y="3086100"/>
              <a:ext cx="3429000" cy="1276350"/>
            </a:xfrm>
            <a:prstGeom prst="roundRect">
              <a:avLst>
                <a:gd name="adj" fmla="val 10448"/>
              </a:avLst>
            </a:prstGeom>
            <a:solidFill>
              <a:schemeClr val="lt2"/>
            </a:solidFill>
            <a:ln w="9525">
              <a:solidFill>
                <a:schemeClr val="accent4"/>
              </a:solidFill>
            </a:ln>
          </p:spPr>
        </p:sp>
        <p:sp>
          <p:nvSpPr>
            <p:cNvPr id="12" name="Rectangle 12"/>
            <p:cNvSpPr/>
            <p:nvPr/>
          </p:nvSpPr>
          <p:spPr>
            <a:xfrm>
              <a:off x="685800" y="3086100"/>
              <a:ext cx="76200" cy="1276350"/>
            </a:xfrm>
            <a:prstGeom prst="roundRect">
              <a:avLst>
                <a:gd name="adj" fmla="val 50000"/>
              </a:avLst>
            </a:prstGeom>
            <a:solidFill>
              <a:schemeClr val="accent5"/>
            </a:solidFill>
            <a:ln>
              <a:noFill/>
            </a:ln>
          </p:spPr>
        </p:sp>
        <p:sp>
          <p:nvSpPr>
            <p:cNvPr id="13" name="TextBox 13"/>
            <p:cNvSpPr txBox="1"/>
            <p:nvPr/>
          </p:nvSpPr>
          <p:spPr>
            <a:xfrm>
              <a:off x="982218" y="3250882"/>
              <a:ext cx="1822750"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Both beat CmWV</a:t>
              </a:r>
            </a:p>
          </p:txBody>
        </p:sp>
        <p:sp>
          <p:nvSpPr>
            <p:cNvPr id="14" name="TextBox 14"/>
            <p:cNvSpPr txBox="1"/>
            <p:nvPr/>
          </p:nvSpPr>
          <p:spPr>
            <a:xfrm>
              <a:off x="983742" y="3607118"/>
              <a:ext cx="293000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Contrastive and ImageNet models</a:t>
              </a:r>
            </a:p>
          </p:txBody>
        </p:sp>
        <p:sp>
          <p:nvSpPr>
            <p:cNvPr id="15" name="TextBox 15"/>
            <p:cNvSpPr txBox="1"/>
            <p:nvPr/>
          </p:nvSpPr>
          <p:spPr>
            <a:xfrm>
              <a:off x="983742" y="3835718"/>
              <a:ext cx="276743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comfortably beat the old CmWV</a:t>
              </a:r>
            </a:p>
          </p:txBody>
        </p:sp>
        <p:sp>
          <p:nvSpPr>
            <p:cNvPr id="16" name="TextBox 16"/>
            <p:cNvSpPr txBox="1"/>
            <p:nvPr/>
          </p:nvSpPr>
          <p:spPr>
            <a:xfrm>
              <a:off x="983742" y="4064318"/>
              <a:ext cx="252168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on the two hardest classes.</a:t>
              </a:r>
            </a:p>
          </p:txBody>
        </p:sp>
      </p:grpSp>
      <p:grpSp>
        <p:nvGrpSpPr>
          <p:cNvPr id="24" name="Group 24"/>
          <p:cNvGrpSpPr/>
          <p:nvPr/>
        </p:nvGrpSpPr>
        <p:grpSpPr>
          <a:xfrm>
            <a:off x="685800" y="4495800"/>
            <a:ext cx="3429000" cy="1314450"/>
            <a:chOff x="685800" y="4495800"/>
            <a:chExt cx="3429000" cy="1314450"/>
          </a:xfrm>
        </p:grpSpPr>
        <p:sp>
          <p:nvSpPr>
            <p:cNvPr id="18" name="Rectangle 18"/>
            <p:cNvSpPr/>
            <p:nvPr/>
          </p:nvSpPr>
          <p:spPr>
            <a:xfrm>
              <a:off x="685800" y="4495800"/>
              <a:ext cx="3429000" cy="1314450"/>
            </a:xfrm>
            <a:prstGeom prst="roundRect">
              <a:avLst>
                <a:gd name="adj" fmla="val 10145"/>
              </a:avLst>
            </a:prstGeom>
            <a:solidFill>
              <a:schemeClr val="lt2"/>
            </a:solidFill>
            <a:ln w="9525">
              <a:solidFill>
                <a:schemeClr val="accent4"/>
              </a:solidFill>
            </a:ln>
          </p:spPr>
        </p:sp>
        <p:sp>
          <p:nvSpPr>
            <p:cNvPr id="19" name="Rectangle 19"/>
            <p:cNvSpPr/>
            <p:nvPr/>
          </p:nvSpPr>
          <p:spPr>
            <a:xfrm>
              <a:off x="685800" y="4495800"/>
              <a:ext cx="76200" cy="1314450"/>
            </a:xfrm>
            <a:prstGeom prst="roundRect">
              <a:avLst>
                <a:gd name="adj" fmla="val 50000"/>
              </a:avLst>
            </a:prstGeom>
            <a:solidFill>
              <a:schemeClr val="dk2"/>
            </a:solidFill>
            <a:ln>
              <a:noFill/>
            </a:ln>
          </p:spPr>
        </p:sp>
        <p:sp>
          <p:nvSpPr>
            <p:cNvPr id="20" name="TextBox 20"/>
            <p:cNvSpPr txBox="1"/>
            <p:nvPr/>
          </p:nvSpPr>
          <p:spPr>
            <a:xfrm>
              <a:off x="982218" y="4660582"/>
              <a:ext cx="1914146"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Easy class: a tie</a:t>
              </a:r>
            </a:p>
          </p:txBody>
        </p:sp>
        <p:sp>
          <p:nvSpPr>
            <p:cNvPr id="21" name="TextBox 21"/>
            <p:cNvSpPr txBox="1"/>
            <p:nvPr/>
          </p:nvSpPr>
          <p:spPr>
            <a:xfrm>
              <a:off x="983742" y="5016818"/>
              <a:ext cx="246340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On negligible variability, all</a:t>
              </a:r>
            </a:p>
          </p:txBody>
        </p:sp>
        <p:sp>
          <p:nvSpPr>
            <p:cNvPr id="22" name="TextBox 22"/>
            <p:cNvSpPr txBox="1"/>
            <p:nvPr/>
          </p:nvSpPr>
          <p:spPr>
            <a:xfrm>
              <a:off x="983742" y="5245418"/>
              <a:ext cx="202191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three models land near</a:t>
              </a:r>
            </a:p>
          </p:txBody>
        </p:sp>
        <p:sp>
          <p:nvSpPr>
            <p:cNvPr id="23" name="TextBox 23"/>
            <p:cNvSpPr txBox="1"/>
            <p:nvPr/>
          </p:nvSpPr>
          <p:spPr>
            <a:xfrm>
              <a:off x="982218" y="5460682"/>
              <a:ext cx="65814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0.95.</a:t>
              </a:r>
            </a:p>
          </p:txBody>
        </p:sp>
      </p:grpSp>
      <p:grpSp>
        <p:nvGrpSpPr>
          <p:cNvPr id="43" name="Group 43"/>
          <p:cNvGrpSpPr/>
          <p:nvPr/>
        </p:nvGrpSpPr>
        <p:grpSpPr>
          <a:xfrm>
            <a:off x="4343400" y="1676400"/>
            <a:ext cx="7162800" cy="4133850"/>
            <a:chOff x="4343400" y="1676400"/>
            <a:chExt cx="7162800" cy="4133850"/>
          </a:xfrm>
        </p:grpSpPr>
        <p:sp>
          <p:nvSpPr>
            <p:cNvPr id="25" name="Rectangle 25"/>
            <p:cNvSpPr/>
            <p:nvPr/>
          </p:nvSpPr>
          <p:spPr>
            <a:xfrm>
              <a:off x="4343400" y="1676400"/>
              <a:ext cx="7162800" cy="4133850"/>
            </a:xfrm>
            <a:prstGeom prst="roundRect">
              <a:avLst>
                <a:gd name="adj" fmla="val 3226"/>
              </a:avLst>
            </a:prstGeom>
            <a:solidFill>
              <a:schemeClr val="lt2"/>
            </a:solidFill>
            <a:ln w="9525">
              <a:solidFill>
                <a:schemeClr val="accent4"/>
              </a:solidFill>
            </a:ln>
          </p:spPr>
        </p:sp>
        <p:sp>
          <p:nvSpPr>
            <p:cNvPr id="26" name="TextBox 26"/>
            <p:cNvSpPr txBox="1"/>
            <p:nvPr/>
          </p:nvSpPr>
          <p:spPr>
            <a:xfrm>
              <a:off x="4640199" y="1868329"/>
              <a:ext cx="5054620"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Detection on the two hardest classes — AUROC</a:t>
              </a:r>
            </a:p>
          </p:txBody>
        </p:sp>
        <p:sp>
          <p:nvSpPr>
            <p:cNvPr id="27" name="Rectangle 27"/>
            <p:cNvSpPr/>
            <p:nvPr/>
          </p:nvSpPr>
          <p:spPr>
            <a:xfrm>
              <a:off x="7048500" y="2286000"/>
              <a:ext cx="171450" cy="171450"/>
            </a:xfrm>
            <a:prstGeom prst="roundRect">
              <a:avLst>
                <a:gd name="adj" fmla="val 16667"/>
              </a:avLst>
            </a:prstGeom>
            <a:solidFill>
              <a:schemeClr val="accent6"/>
            </a:solidFill>
            <a:ln>
              <a:noFill/>
            </a:ln>
          </p:spPr>
        </p:sp>
        <p:sp>
          <p:nvSpPr>
            <p:cNvPr id="28" name="TextBox 28"/>
            <p:cNvSpPr txBox="1"/>
            <p:nvPr/>
          </p:nvSpPr>
          <p:spPr>
            <a:xfrm>
              <a:off x="7271004" y="2299335"/>
              <a:ext cx="108204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CmWV (prior)</a:t>
              </a:r>
            </a:p>
          </p:txBody>
        </p:sp>
        <p:sp>
          <p:nvSpPr>
            <p:cNvPr id="29" name="Rectangle 29"/>
            <p:cNvSpPr/>
            <p:nvPr/>
          </p:nvSpPr>
          <p:spPr>
            <a:xfrm>
              <a:off x="9334500" y="2286000"/>
              <a:ext cx="171450" cy="171450"/>
            </a:xfrm>
            <a:prstGeom prst="roundRect">
              <a:avLst>
                <a:gd name="adj" fmla="val 16667"/>
              </a:avLst>
            </a:prstGeom>
            <a:solidFill>
              <a:schemeClr val="accent1"/>
            </a:solidFill>
            <a:ln>
              <a:noFill/>
            </a:ln>
          </p:spPr>
        </p:sp>
        <p:sp>
          <p:nvSpPr>
            <p:cNvPr id="30" name="TextBox 30"/>
            <p:cNvSpPr txBox="1"/>
            <p:nvPr/>
          </p:nvSpPr>
          <p:spPr>
            <a:xfrm>
              <a:off x="9557004" y="2299335"/>
              <a:ext cx="89001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New models</a:t>
              </a:r>
            </a:p>
          </p:txBody>
        </p:sp>
        <p:sp>
          <p:nvSpPr>
            <p:cNvPr id="31" name="Line 31"/>
            <p:cNvSpPr/>
            <p:nvPr/>
          </p:nvSpPr>
          <p:spPr>
            <a:xfrm>
              <a:off x="5143500" y="5334000"/>
              <a:ext cx="6096000" cy="9525"/>
            </a:xfrm>
            <a:custGeom>
              <a:avLst/>
              <a:gdLst/>
              <a:ahLst/>
              <a:cxnLst/>
              <a:rect l="l" t="t" r="r" b="b"/>
              <a:pathLst>
                <a:path w="6096000" h="9525">
                  <a:moveTo>
                    <a:pt x="0" y="0"/>
                  </a:moveTo>
                  <a:lnTo>
                    <a:pt x="6096000" y="0"/>
                  </a:lnTo>
                </a:path>
              </a:pathLst>
            </a:custGeom>
            <a:noFill/>
            <a:ln w="19050">
              <a:solidFill>
                <a:srgbClr val="C2CCD4"/>
              </a:solidFill>
            </a:ln>
          </p:spPr>
        </p:sp>
        <p:sp>
          <p:nvSpPr>
            <p:cNvPr id="32" name="TextBox 32"/>
            <p:cNvSpPr txBox="1"/>
            <p:nvPr/>
          </p:nvSpPr>
          <p:spPr>
            <a:xfrm>
              <a:off x="4752537" y="5277802"/>
              <a:ext cx="243897" cy="205359"/>
            </a:xfrm>
            <a:prstGeom prst="rect">
              <a:avLst/>
            </a:prstGeom>
            <a:noFill/>
            <a:ln>
              <a:noFill/>
            </a:ln>
          </p:spPr>
          <p:txBody>
            <a:bodyPr wrap="none" lIns="0" tIns="0" rIns="0" bIns="0" anchor="t" anchorCtr="0">
              <a:spAutoFit/>
            </a:bodyPr>
            <a:lstStyle/>
            <a:p>
              <a:pPr algn="r"/>
              <a:r>
                <a:rPr lang="en-US" sz="1050" dirty="0">
                  <a:solidFill>
                    <a:schemeClr val="dk2"/>
                  </a:solidFill>
                  <a:latin typeface="+mn-lt"/>
                  <a:ea typeface="+mn-ea"/>
                  <a:cs typeface="+mn-cs"/>
                </a:rPr>
                <a:t>0.5</a:t>
              </a:r>
            </a:p>
          </p:txBody>
        </p:sp>
        <p:sp>
          <p:nvSpPr>
            <p:cNvPr id="33" name="Rectangle 33"/>
            <p:cNvSpPr/>
            <p:nvPr/>
          </p:nvSpPr>
          <p:spPr>
            <a:xfrm>
              <a:off x="6096000" y="3829050"/>
              <a:ext cx="857250" cy="1504950"/>
            </a:xfrm>
            <a:prstGeom prst="rect">
              <a:avLst/>
            </a:prstGeom>
            <a:solidFill>
              <a:schemeClr val="accent6"/>
            </a:solidFill>
            <a:ln>
              <a:noFill/>
            </a:ln>
          </p:spPr>
        </p:sp>
        <p:sp>
          <p:nvSpPr>
            <p:cNvPr id="34" name="Rectangle 34"/>
            <p:cNvSpPr/>
            <p:nvPr/>
          </p:nvSpPr>
          <p:spPr>
            <a:xfrm>
              <a:off x="7086600" y="3038475"/>
              <a:ext cx="857250" cy="2295525"/>
            </a:xfrm>
            <a:prstGeom prst="rect">
              <a:avLst/>
            </a:prstGeom>
            <a:solidFill>
              <a:schemeClr val="accent1"/>
            </a:solidFill>
            <a:ln>
              <a:noFill/>
            </a:ln>
          </p:spPr>
        </p:sp>
        <p:sp>
          <p:nvSpPr>
            <p:cNvPr id="35" name="TextBox 35"/>
            <p:cNvSpPr txBox="1"/>
            <p:nvPr/>
          </p:nvSpPr>
          <p:spPr>
            <a:xfrm>
              <a:off x="6307861" y="3588068"/>
              <a:ext cx="433528" cy="264033"/>
            </a:xfrm>
            <a:prstGeom prst="rect">
              <a:avLst/>
            </a:prstGeom>
            <a:noFill/>
            <a:ln>
              <a:noFill/>
            </a:ln>
          </p:spPr>
          <p:txBody>
            <a:bodyPr wrap="none" lIns="0" tIns="0" rIns="0" bIns="0" anchor="t" anchorCtr="0">
              <a:spAutoFit/>
            </a:bodyPr>
            <a:lstStyle/>
            <a:p>
              <a:pPr algn="ctr"/>
              <a:r>
                <a:rPr lang="en-US" sz="1350" b="1" dirty="0">
                  <a:solidFill>
                    <a:schemeClr val="dk2"/>
                  </a:solidFill>
                  <a:latin typeface="+mn-lt"/>
                  <a:ea typeface="+mn-ea"/>
                  <a:cs typeface="+mn-cs"/>
                </a:rPr>
                <a:t>0.73</a:t>
              </a:r>
            </a:p>
          </p:txBody>
        </p:sp>
        <p:sp>
          <p:nvSpPr>
            <p:cNvPr id="36" name="TextBox 36"/>
            <p:cNvSpPr txBox="1"/>
            <p:nvPr/>
          </p:nvSpPr>
          <p:spPr>
            <a:xfrm>
              <a:off x="7245984" y="2797492"/>
              <a:ext cx="538482"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~0.85</a:t>
              </a:r>
            </a:p>
          </p:txBody>
        </p:sp>
        <p:sp>
          <p:nvSpPr>
            <p:cNvPr id="37" name="TextBox 37"/>
            <p:cNvSpPr txBox="1"/>
            <p:nvPr/>
          </p:nvSpPr>
          <p:spPr>
            <a:xfrm>
              <a:off x="6408879" y="5454968"/>
              <a:ext cx="1222092" cy="264033"/>
            </a:xfrm>
            <a:prstGeom prst="rect">
              <a:avLst/>
            </a:prstGeom>
            <a:noFill/>
            <a:ln>
              <a:noFill/>
            </a:ln>
          </p:spPr>
          <p:txBody>
            <a:bodyPr wrap="none" lIns="0" tIns="0" rIns="0" bIns="0" anchor="t" anchorCtr="0">
              <a:spAutoFit/>
            </a:bodyPr>
            <a:lstStyle/>
            <a:p>
              <a:pPr algn="ctr"/>
              <a:r>
                <a:rPr lang="en-US" sz="1350" b="1" dirty="0">
                  <a:solidFill>
                    <a:schemeClr val="dk1"/>
                  </a:solidFill>
                  <a:latin typeface="+mn-lt"/>
                  <a:ea typeface="+mn-ea"/>
                  <a:cs typeface="+mn-cs"/>
                </a:rPr>
                <a:t>Wind streaks</a:t>
              </a:r>
            </a:p>
          </p:txBody>
        </p:sp>
        <p:sp>
          <p:nvSpPr>
            <p:cNvPr id="38" name="Rectangle 38"/>
            <p:cNvSpPr/>
            <p:nvPr/>
          </p:nvSpPr>
          <p:spPr>
            <a:xfrm>
              <a:off x="9220200" y="3429000"/>
              <a:ext cx="857250" cy="1905000"/>
            </a:xfrm>
            <a:prstGeom prst="rect">
              <a:avLst/>
            </a:prstGeom>
            <a:solidFill>
              <a:schemeClr val="accent6"/>
            </a:solidFill>
            <a:ln>
              <a:noFill/>
            </a:ln>
          </p:spPr>
        </p:sp>
        <p:sp>
          <p:nvSpPr>
            <p:cNvPr id="39" name="Rectangle 39"/>
            <p:cNvSpPr/>
            <p:nvPr/>
          </p:nvSpPr>
          <p:spPr>
            <a:xfrm>
              <a:off x="10210800" y="2905125"/>
              <a:ext cx="857250" cy="2428875"/>
            </a:xfrm>
            <a:prstGeom prst="rect">
              <a:avLst/>
            </a:prstGeom>
            <a:solidFill>
              <a:schemeClr val="accent1"/>
            </a:solidFill>
            <a:ln>
              <a:noFill/>
            </a:ln>
          </p:spPr>
        </p:sp>
        <p:sp>
          <p:nvSpPr>
            <p:cNvPr id="40" name="TextBox 40"/>
            <p:cNvSpPr txBox="1"/>
            <p:nvPr/>
          </p:nvSpPr>
          <p:spPr>
            <a:xfrm>
              <a:off x="9432061" y="3188018"/>
              <a:ext cx="433528" cy="264033"/>
            </a:xfrm>
            <a:prstGeom prst="rect">
              <a:avLst/>
            </a:prstGeom>
            <a:noFill/>
            <a:ln>
              <a:noFill/>
            </a:ln>
          </p:spPr>
          <p:txBody>
            <a:bodyPr wrap="none" lIns="0" tIns="0" rIns="0" bIns="0" anchor="t" anchorCtr="0">
              <a:spAutoFit/>
            </a:bodyPr>
            <a:lstStyle/>
            <a:p>
              <a:pPr algn="ctr"/>
              <a:r>
                <a:rPr lang="en-US" sz="1350" b="1" dirty="0">
                  <a:solidFill>
                    <a:schemeClr val="dk2"/>
                  </a:solidFill>
                  <a:latin typeface="+mn-lt"/>
                  <a:ea typeface="+mn-ea"/>
                  <a:cs typeface="+mn-cs"/>
                </a:rPr>
                <a:t>0.79</a:t>
              </a:r>
            </a:p>
          </p:txBody>
        </p:sp>
        <p:sp>
          <p:nvSpPr>
            <p:cNvPr id="41" name="TextBox 41"/>
            <p:cNvSpPr txBox="1"/>
            <p:nvPr/>
          </p:nvSpPr>
          <p:spPr>
            <a:xfrm>
              <a:off x="10370184" y="2664142"/>
              <a:ext cx="538482"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~0.87</a:t>
              </a:r>
            </a:p>
          </p:txBody>
        </p:sp>
        <p:sp>
          <p:nvSpPr>
            <p:cNvPr id="42" name="TextBox 42"/>
            <p:cNvSpPr txBox="1"/>
            <p:nvPr/>
          </p:nvSpPr>
          <p:spPr>
            <a:xfrm>
              <a:off x="9390246" y="5454968"/>
              <a:ext cx="1507759" cy="264033"/>
            </a:xfrm>
            <a:prstGeom prst="rect">
              <a:avLst/>
            </a:prstGeom>
            <a:noFill/>
            <a:ln>
              <a:noFill/>
            </a:ln>
          </p:spPr>
          <p:txBody>
            <a:bodyPr wrap="none" lIns="0" tIns="0" rIns="0" bIns="0" anchor="t" anchorCtr="0">
              <a:spAutoFit/>
            </a:bodyPr>
            <a:lstStyle/>
            <a:p>
              <a:pPr algn="ctr"/>
              <a:r>
                <a:rPr lang="en-US" sz="1350" b="1" dirty="0">
                  <a:solidFill>
                    <a:schemeClr val="dk1"/>
                  </a:solidFill>
                  <a:latin typeface="+mn-lt"/>
                  <a:ea typeface="+mn-ea"/>
                  <a:cs typeface="+mn-cs"/>
                </a:rPr>
                <a:t>Convection cells</a:t>
              </a:r>
            </a:p>
          </p:txBody>
        </p:sp>
      </p:grpSp>
      <p:sp>
        <p:nvSpPr>
          <p:cNvPr id="44" name="cue_s07_c1_headline_result_fine_tuned_models_re" title="cue_s07_c1_headline_result_fine_tuned_models_re" descr="cue_s07_c1_headline_result_fine_tuned_models_re The headline result is that fine-tuned models reach a best micro-averaged area under the ROC curve of about zero point nine three."/>
          <p:cNvSpPr/>
          <p:nvPr/>
        </p:nvSpPr>
        <p:spPr>
          <a:xfrm>
            <a:off x="686409" y="1676095"/>
            <a:ext cx="3491788" cy="133731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7_c2_both_contrastive_imagenet_pretrained" title="cue_s07_c2_both_contrastive_imagenet_pretrained" descr="cue_s07_c2_both_contrastive_imagenet_pretrained Both the contrastive and the ImageNet-pretrained models comfortably beat the earlier CmWV classifier on the two hardest atmospheric classes."/>
          <p:cNvSpPr/>
          <p:nvPr/>
        </p:nvSpPr>
        <p:spPr>
          <a:xfrm>
            <a:off x="686409" y="3086100"/>
            <a:ext cx="3428390" cy="12762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7_c3_wind_streaks_new_models_score" title="cue_s07_c3_wind_streaks_new_models_score" descr="cue_s07_c3_wind_streaks_new_models_score For wind streaks, the new models score in the mid eighties compared with CmWV's zero point seven three, and for convection cells they reach about zero point eight seven versus zero point seven nine."/>
          <p:cNvSpPr/>
          <p:nvPr/>
        </p:nvSpPr>
        <p:spPr>
          <a:xfrm>
            <a:off x="4344009" y="1676095"/>
            <a:ext cx="7162800" cy="41340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7_c4_negligible_variability_class_all_thr" title="cue_s07_c4_negligible_variability_class_all_thr" descr="cue_s07_c4_negligible_variability_class_all_thr On the negligible-variability class, all three models perform about equally well, near zero point nine five."/>
          <p:cNvSpPr/>
          <p:nvPr/>
        </p:nvSpPr>
        <p:spPr>
          <a:xfrm>
            <a:off x="686409" y="4496104"/>
            <a:ext cx="3428390" cy="13146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79704" y="632460"/>
            <a:ext cx="2125736" cy="234696"/>
          </a:xfrm>
          <a:prstGeom prst="rect">
            <a:avLst/>
          </a:prstGeom>
          <a:noFill/>
          <a:ln>
            <a:noFill/>
          </a:ln>
        </p:spPr>
        <p:txBody>
          <a:bodyPr wrap="none" lIns="0" tIns="0" rIns="0" bIns="0" anchor="t" anchorCtr="0">
            <a:spAutoFit/>
          </a:bodyPr>
          <a:lstStyle/>
          <a:p>
            <a:pPr algn="l"/>
            <a:r>
              <a:rPr lang="en-US" sz="1200" b="1" spc="150" dirty="0">
                <a:solidFill>
                  <a:schemeClr val="dk2"/>
                </a:solidFill>
                <a:latin typeface="+mn-lt"/>
                <a:ea typeface="+mn-ea"/>
                <a:cs typeface="+mn-cs"/>
              </a:rPr>
              <a:t>08 · ABLATION STUDY</a:t>
            </a:r>
          </a:p>
        </p:txBody>
      </p:sp>
      <p:sp>
        <p:nvSpPr>
          <p:cNvPr id="3" name="Rectangle 3"/>
          <p:cNvSpPr/>
          <p:nvPr/>
        </p:nvSpPr>
        <p:spPr>
          <a:xfrm>
            <a:off x="685800" y="876300"/>
            <a:ext cx="419100" cy="38100"/>
          </a:xfrm>
          <a:prstGeom prst="rect">
            <a:avLst/>
          </a:prstGeom>
          <a:solidFill>
            <a:schemeClr val="accent1"/>
          </a:solidFill>
          <a:ln>
            <a:noFill/>
          </a:ln>
        </p:spPr>
        <p:txBody>
          <a:bodyPr/>
          <a:p/>
        </p:txBody>
      </p:sp>
      <p:sp>
        <p:nvSpPr>
          <p:cNvPr id="4" name="TextBox 4"/>
          <p:cNvSpPr txBox="1"/>
          <p:nvPr/>
        </p:nvSpPr>
        <p:spPr>
          <a:xfrm>
            <a:off x="669798" y="993458"/>
            <a:ext cx="7438743"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n-lt"/>
                <a:ea typeface="+mn-ea"/>
                <a:cs typeface="+mn-cs"/>
              </a:rPr>
              <a:t xml:space="preserve">The gap </a:t>
            </a:r>
            <a:r>
              <a:rPr lang="en-US" sz="3150" b="1" dirty="0">
                <a:solidFill>
                  <a:schemeClr val="accent2"/>
                </a:solidFill>
                <a:latin typeface="+mn-lt"/>
                <a:ea typeface="+mn-ea"/>
                <a:cs typeface="+mn-cs"/>
              </a:rPr>
              <a:t>closes</a:t>
            </a:r>
            <a:r>
              <a:rPr lang="en-US" sz="3150" b="1" dirty="0">
                <a:solidFill>
                  <a:schemeClr val="dk1"/>
                </a:solidFill>
                <a:latin typeface="+mn-lt"/>
                <a:ea typeface="+mn-ea"/>
                <a:cs typeface="+mn-cs"/>
              </a:rPr>
              <a:t xml:space="preserve"> when you fine-tune</a:t>
            </a:r>
          </a:p>
        </p:txBody>
      </p:sp>
      <p:grpSp>
        <p:nvGrpSpPr>
          <p:cNvPr id="8" name="Group 8"/>
          <p:cNvGrpSpPr/>
          <p:nvPr/>
        </p:nvGrpSpPr>
        <p:grpSpPr>
          <a:xfrm>
            <a:off x="685800" y="1638300"/>
            <a:ext cx="10820400" cy="685800"/>
            <a:chOff x="685800" y="1638300"/>
            <a:chExt cx="10820400" cy="685800"/>
          </a:xfrm>
        </p:grpSpPr>
        <p:sp>
          <p:nvSpPr>
            <p:cNvPr id="5" name="Rectangle 5"/>
            <p:cNvSpPr/>
            <p:nvPr/>
          </p:nvSpPr>
          <p:spPr>
            <a:xfrm>
              <a:off x="685800" y="1638300"/>
              <a:ext cx="10820400" cy="685800"/>
            </a:xfrm>
            <a:prstGeom prst="roundRect">
              <a:avLst>
                <a:gd name="adj" fmla="val 19444"/>
              </a:avLst>
            </a:prstGeom>
            <a:solidFill>
              <a:schemeClr val="lt2"/>
            </a:solidFill>
            <a:ln w="9525">
              <a:solidFill>
                <a:schemeClr val="accent4"/>
              </a:solidFill>
            </a:ln>
          </p:spPr>
        </p:sp>
        <p:sp>
          <p:nvSpPr>
            <p:cNvPr id="6" name="Rectangle 6"/>
            <p:cNvSpPr/>
            <p:nvPr/>
          </p:nvSpPr>
          <p:spPr>
            <a:xfrm>
              <a:off x="685800" y="1638300"/>
              <a:ext cx="76200" cy="685800"/>
            </a:xfrm>
            <a:prstGeom prst="roundRect">
              <a:avLst>
                <a:gd name="adj" fmla="val 50000"/>
              </a:avLst>
            </a:prstGeom>
            <a:solidFill>
              <a:schemeClr val="accent1"/>
            </a:solidFill>
            <a:ln>
              <a:noFill/>
            </a:ln>
          </p:spPr>
        </p:sp>
        <p:sp>
          <p:nvSpPr>
            <p:cNvPr id="7" name="TextBox 7"/>
            <p:cNvSpPr txBox="1"/>
            <p:nvPr/>
          </p:nvSpPr>
          <p:spPr>
            <a:xfrm>
              <a:off x="981456" y="1863090"/>
              <a:ext cx="9377058"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The most informative comparison is across the three evaluation protocols.</a:t>
              </a:r>
            </a:p>
          </p:txBody>
        </p:sp>
      </p:grpSp>
      <p:grpSp>
        <p:nvGrpSpPr>
          <p:cNvPr id="23" name="Group 23"/>
          <p:cNvGrpSpPr/>
          <p:nvPr/>
        </p:nvGrpSpPr>
        <p:grpSpPr>
          <a:xfrm>
            <a:off x="685800" y="2514600"/>
            <a:ext cx="5219700" cy="2381250"/>
            <a:chOff x="685800" y="2514600"/>
            <a:chExt cx="5219700" cy="2381250"/>
          </a:xfrm>
        </p:grpSpPr>
        <p:sp>
          <p:nvSpPr>
            <p:cNvPr id="9" name="Rectangle 9"/>
            <p:cNvSpPr/>
            <p:nvPr/>
          </p:nvSpPr>
          <p:spPr>
            <a:xfrm>
              <a:off x="685800" y="2514600"/>
              <a:ext cx="5219700" cy="2381250"/>
            </a:xfrm>
            <a:prstGeom prst="roundRect">
              <a:avLst>
                <a:gd name="adj" fmla="val 5600"/>
              </a:avLst>
            </a:prstGeom>
            <a:solidFill>
              <a:schemeClr val="lt2"/>
            </a:solidFill>
            <a:ln w="9525">
              <a:solidFill>
                <a:schemeClr val="accent4"/>
              </a:solidFill>
            </a:ln>
          </p:spPr>
        </p:sp>
        <p:sp>
          <p:nvSpPr>
            <p:cNvPr id="10" name="Rectangle 10"/>
            <p:cNvSpPr/>
            <p:nvPr/>
          </p:nvSpPr>
          <p:spPr>
            <a:xfrm>
              <a:off x="685800" y="2514600"/>
              <a:ext cx="76200" cy="2381250"/>
            </a:xfrm>
            <a:prstGeom prst="roundRect">
              <a:avLst>
                <a:gd name="adj" fmla="val 50000"/>
              </a:avLst>
            </a:prstGeom>
            <a:solidFill>
              <a:schemeClr val="accent5"/>
            </a:solidFill>
            <a:ln>
              <a:noFill/>
            </a:ln>
          </p:spPr>
        </p:sp>
        <p:sp>
          <p:nvSpPr>
            <p:cNvPr id="11" name="TextBox 11"/>
            <p:cNvSpPr txBox="1"/>
            <p:nvPr/>
          </p:nvSpPr>
          <p:spPr>
            <a:xfrm>
              <a:off x="981837" y="2690336"/>
              <a:ext cx="2067564"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Backbone FROZEN</a:t>
              </a:r>
            </a:p>
          </p:txBody>
        </p:sp>
        <p:sp>
          <p:nvSpPr>
            <p:cNvPr id="12" name="TextBox 12"/>
            <p:cNvSpPr txBox="1"/>
            <p:nvPr/>
          </p:nvSpPr>
          <p:spPr>
            <a:xfrm>
              <a:off x="984123" y="3005614"/>
              <a:ext cx="2887575" cy="249364"/>
            </a:xfrm>
            <a:prstGeom prst="rect">
              <a:avLst/>
            </a:prstGeom>
            <a:noFill/>
            <a:ln>
              <a:noFill/>
            </a:ln>
          </p:spPr>
          <p:txBody>
            <a:bodyPr wrap="none" lIns="0" tIns="0" rIns="0" bIns="0" anchor="t" anchorCtr="0">
              <a:spAutoFit/>
            </a:bodyPr>
            <a:lstStyle/>
            <a:p>
              <a:pPr algn="l"/>
              <a:r>
                <a:rPr lang="en-US" sz="1280" dirty="0">
                  <a:solidFill>
                    <a:schemeClr val="accent5"/>
                  </a:solidFill>
                  <a:latin typeface="+mn-lt"/>
                  <a:ea typeface="+mn-ea"/>
                  <a:cs typeface="+mn-cs"/>
                </a:rPr>
                <a:t>Self-supervised holds a small edge</a:t>
              </a:r>
            </a:p>
          </p:txBody>
        </p:sp>
        <p:sp>
          <p:nvSpPr>
            <p:cNvPr id="13" name="TextBox 13"/>
            <p:cNvSpPr txBox="1"/>
            <p:nvPr/>
          </p:nvSpPr>
          <p:spPr>
            <a:xfrm>
              <a:off x="984885" y="3479006"/>
              <a:ext cx="922477" cy="220028"/>
            </a:xfrm>
            <a:prstGeom prst="rect">
              <a:avLst/>
            </a:prstGeom>
            <a:noFill/>
            <a:ln>
              <a:noFill/>
            </a:ln>
          </p:spPr>
          <p:txBody>
            <a:bodyPr wrap="none" lIns="0" tIns="0" rIns="0" bIns="0" anchor="t" anchorCtr="0">
              <a:spAutoFit/>
            </a:bodyPr>
            <a:lstStyle/>
            <a:p>
              <a:pPr algn="l"/>
              <a:r>
                <a:rPr lang="en-US" sz="1120" b="1" spc="75" dirty="0">
                  <a:solidFill>
                    <a:schemeClr val="dk2"/>
                  </a:solidFill>
                  <a:latin typeface="+mn-lt"/>
                  <a:ea typeface="+mn-ea"/>
                  <a:cs typeface="+mn-cs"/>
                </a:rPr>
                <a:t>PROTOCOL</a:t>
              </a:r>
            </a:p>
          </p:txBody>
        </p:sp>
        <p:sp>
          <p:nvSpPr>
            <p:cNvPr id="14" name="TextBox 14"/>
            <p:cNvSpPr txBox="1"/>
            <p:nvPr/>
          </p:nvSpPr>
          <p:spPr>
            <a:xfrm>
              <a:off x="3750866" y="3479006"/>
              <a:ext cx="308768" cy="220028"/>
            </a:xfrm>
            <a:prstGeom prst="rect">
              <a:avLst/>
            </a:prstGeom>
            <a:noFill/>
            <a:ln>
              <a:noFill/>
            </a:ln>
          </p:spPr>
          <p:txBody>
            <a:bodyPr wrap="none" lIns="0" tIns="0" rIns="0" bIns="0" anchor="t" anchorCtr="0">
              <a:spAutoFit/>
            </a:bodyPr>
            <a:lstStyle/>
            <a:p>
              <a:pPr algn="ctr"/>
              <a:r>
                <a:rPr lang="en-US" sz="1120" b="1" spc="75" dirty="0">
                  <a:solidFill>
                    <a:schemeClr val="dk2"/>
                  </a:solidFill>
                  <a:latin typeface="+mn-lt"/>
                  <a:ea typeface="+mn-ea"/>
                  <a:cs typeface="+mn-cs"/>
                </a:rPr>
                <a:t>SSL</a:t>
              </a:r>
            </a:p>
          </p:txBody>
        </p:sp>
        <p:sp>
          <p:nvSpPr>
            <p:cNvPr id="15" name="TextBox 15"/>
            <p:cNvSpPr txBox="1"/>
            <p:nvPr/>
          </p:nvSpPr>
          <p:spPr>
            <a:xfrm>
              <a:off x="4736626" y="3479006"/>
              <a:ext cx="813749" cy="220028"/>
            </a:xfrm>
            <a:prstGeom prst="rect">
              <a:avLst/>
            </a:prstGeom>
            <a:noFill/>
            <a:ln>
              <a:noFill/>
            </a:ln>
          </p:spPr>
          <p:txBody>
            <a:bodyPr wrap="none" lIns="0" tIns="0" rIns="0" bIns="0" anchor="t" anchorCtr="0">
              <a:spAutoFit/>
            </a:bodyPr>
            <a:lstStyle/>
            <a:p>
              <a:pPr algn="ctr"/>
              <a:r>
                <a:rPr lang="en-US" sz="1120" b="1" spc="75" dirty="0">
                  <a:solidFill>
                    <a:schemeClr val="dk2"/>
                  </a:solidFill>
                  <a:latin typeface="+mn-lt"/>
                  <a:ea typeface="+mn-ea"/>
                  <a:cs typeface="+mn-cs"/>
                </a:rPr>
                <a:t>IMAGENET</a:t>
              </a:r>
            </a:p>
          </p:txBody>
        </p:sp>
        <p:sp>
          <p:nvSpPr>
            <p:cNvPr id="16" name="Line 16"/>
            <p:cNvSpPr/>
            <p:nvPr/>
          </p:nvSpPr>
          <p:spPr>
            <a:xfrm>
              <a:off x="990600" y="3714750"/>
              <a:ext cx="4610100" cy="9525"/>
            </a:xfrm>
            <a:custGeom>
              <a:avLst/>
              <a:gdLst/>
              <a:ahLst/>
              <a:cxnLst/>
              <a:rect l="l" t="t" r="r" b="b"/>
              <a:pathLst>
                <a:path w="4610100" h="9525">
                  <a:moveTo>
                    <a:pt x="0" y="0"/>
                  </a:moveTo>
                  <a:lnTo>
                    <a:pt x="4610100" y="0"/>
                  </a:lnTo>
                </a:path>
              </a:pathLst>
            </a:custGeom>
            <a:noFill/>
            <a:ln w="9525">
              <a:solidFill>
                <a:schemeClr val="accent4"/>
              </a:solidFill>
            </a:ln>
          </p:spPr>
        </p:sp>
        <p:sp>
          <p:nvSpPr>
            <p:cNvPr id="17" name="TextBox 17"/>
            <p:cNvSpPr txBox="1"/>
            <p:nvPr/>
          </p:nvSpPr>
          <p:spPr>
            <a:xfrm>
              <a:off x="982980" y="3914775"/>
              <a:ext cx="47625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k-NN</a:t>
              </a:r>
            </a:p>
          </p:txBody>
        </p:sp>
        <p:sp>
          <p:nvSpPr>
            <p:cNvPr id="18" name="TextBox 18"/>
            <p:cNvSpPr txBox="1"/>
            <p:nvPr/>
          </p:nvSpPr>
          <p:spPr>
            <a:xfrm>
              <a:off x="3606094" y="3914775"/>
              <a:ext cx="598313" cy="293370"/>
            </a:xfrm>
            <a:prstGeom prst="rect">
              <a:avLst/>
            </a:prstGeom>
            <a:noFill/>
            <a:ln>
              <a:noFill/>
            </a:ln>
          </p:spPr>
          <p:txBody>
            <a:bodyPr wrap="none" lIns="0" tIns="0" rIns="0" bIns="0" anchor="t" anchorCtr="0">
              <a:spAutoFit/>
            </a:bodyPr>
            <a:lstStyle/>
            <a:p>
              <a:pPr algn="ctr"/>
              <a:r>
                <a:rPr lang="en-US" sz="1500" b="1" dirty="0">
                  <a:solidFill>
                    <a:schemeClr val="accent5"/>
                  </a:solidFill>
                  <a:latin typeface="+mn-lt"/>
                  <a:ea typeface="+mn-ea"/>
                  <a:cs typeface="+mn-cs"/>
                </a:rPr>
                <a:t>0.864</a:t>
              </a:r>
            </a:p>
          </p:txBody>
        </p:sp>
        <p:sp>
          <p:nvSpPr>
            <p:cNvPr id="19" name="TextBox 19"/>
            <p:cNvSpPr txBox="1"/>
            <p:nvPr/>
          </p:nvSpPr>
          <p:spPr>
            <a:xfrm>
              <a:off x="4858226" y="3914775"/>
              <a:ext cx="570548" cy="293370"/>
            </a:xfrm>
            <a:prstGeom prst="rect">
              <a:avLst/>
            </a:prstGeom>
            <a:noFill/>
            <a:ln>
              <a:noFill/>
            </a:ln>
          </p:spPr>
          <p:txBody>
            <a:bodyPr wrap="none" lIns="0" tIns="0" rIns="0" bIns="0" anchor="t" anchorCtr="0">
              <a:spAutoFit/>
            </a:bodyPr>
            <a:lstStyle/>
            <a:p>
              <a:pPr algn="ctr"/>
              <a:r>
                <a:rPr lang="en-US" sz="1500" dirty="0">
                  <a:solidFill>
                    <a:schemeClr val="dk2"/>
                  </a:solidFill>
                  <a:latin typeface="+mn-lt"/>
                  <a:ea typeface="+mn-ea"/>
                  <a:cs typeface="+mn-cs"/>
                </a:rPr>
                <a:t>0.859</a:t>
              </a:r>
            </a:p>
          </p:txBody>
        </p:sp>
        <p:sp>
          <p:nvSpPr>
            <p:cNvPr id="20" name="TextBox 20"/>
            <p:cNvSpPr txBox="1"/>
            <p:nvPr/>
          </p:nvSpPr>
          <p:spPr>
            <a:xfrm>
              <a:off x="982980" y="4314825"/>
              <a:ext cx="109152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Linear eval</a:t>
              </a:r>
            </a:p>
          </p:txBody>
        </p:sp>
        <p:sp>
          <p:nvSpPr>
            <p:cNvPr id="21" name="TextBox 21"/>
            <p:cNvSpPr txBox="1"/>
            <p:nvPr/>
          </p:nvSpPr>
          <p:spPr>
            <a:xfrm>
              <a:off x="3606094" y="4314825"/>
              <a:ext cx="598313" cy="293370"/>
            </a:xfrm>
            <a:prstGeom prst="rect">
              <a:avLst/>
            </a:prstGeom>
            <a:noFill/>
            <a:ln>
              <a:noFill/>
            </a:ln>
          </p:spPr>
          <p:txBody>
            <a:bodyPr wrap="none" lIns="0" tIns="0" rIns="0" bIns="0" anchor="t" anchorCtr="0">
              <a:spAutoFit/>
            </a:bodyPr>
            <a:lstStyle/>
            <a:p>
              <a:pPr algn="ctr"/>
              <a:r>
                <a:rPr lang="en-US" sz="1500" b="1" dirty="0">
                  <a:solidFill>
                    <a:schemeClr val="accent5"/>
                  </a:solidFill>
                  <a:latin typeface="+mn-lt"/>
                  <a:ea typeface="+mn-ea"/>
                  <a:cs typeface="+mn-cs"/>
                </a:rPr>
                <a:t>0.841</a:t>
              </a:r>
            </a:p>
          </p:txBody>
        </p:sp>
        <p:sp>
          <p:nvSpPr>
            <p:cNvPr id="22" name="TextBox 22"/>
            <p:cNvSpPr txBox="1"/>
            <p:nvPr/>
          </p:nvSpPr>
          <p:spPr>
            <a:xfrm>
              <a:off x="4858226" y="4314825"/>
              <a:ext cx="570548" cy="293370"/>
            </a:xfrm>
            <a:prstGeom prst="rect">
              <a:avLst/>
            </a:prstGeom>
            <a:noFill/>
            <a:ln>
              <a:noFill/>
            </a:ln>
          </p:spPr>
          <p:txBody>
            <a:bodyPr wrap="none" lIns="0" tIns="0" rIns="0" bIns="0" anchor="t" anchorCtr="0">
              <a:spAutoFit/>
            </a:bodyPr>
            <a:lstStyle/>
            <a:p>
              <a:pPr algn="ctr"/>
              <a:r>
                <a:rPr lang="en-US" sz="1500" dirty="0">
                  <a:solidFill>
                    <a:schemeClr val="dk2"/>
                  </a:solidFill>
                  <a:latin typeface="+mn-lt"/>
                  <a:ea typeface="+mn-ea"/>
                  <a:cs typeface="+mn-cs"/>
                </a:rPr>
                <a:t>0.836</a:t>
              </a:r>
            </a:p>
          </p:txBody>
        </p:sp>
      </p:grpSp>
      <p:grpSp>
        <p:nvGrpSpPr>
          <p:cNvPr id="36" name="Group 36"/>
          <p:cNvGrpSpPr/>
          <p:nvPr/>
        </p:nvGrpSpPr>
        <p:grpSpPr>
          <a:xfrm>
            <a:off x="6286500" y="2514600"/>
            <a:ext cx="5219700" cy="2381250"/>
            <a:chOff x="6286500" y="2514600"/>
            <a:chExt cx="5219700" cy="2381250"/>
          </a:xfrm>
        </p:grpSpPr>
        <p:sp>
          <p:nvSpPr>
            <p:cNvPr id="24" name="Rectangle 24"/>
            <p:cNvSpPr/>
            <p:nvPr/>
          </p:nvSpPr>
          <p:spPr>
            <a:xfrm>
              <a:off x="6286500" y="2514600"/>
              <a:ext cx="5219700" cy="2381250"/>
            </a:xfrm>
            <a:prstGeom prst="roundRect">
              <a:avLst>
                <a:gd name="adj" fmla="val 5600"/>
              </a:avLst>
            </a:prstGeom>
            <a:solidFill>
              <a:schemeClr val="lt2"/>
            </a:solidFill>
            <a:ln w="9525">
              <a:solidFill>
                <a:schemeClr val="accent4"/>
              </a:solidFill>
            </a:ln>
          </p:spPr>
        </p:sp>
        <p:sp>
          <p:nvSpPr>
            <p:cNvPr id="25" name="Rectangle 25"/>
            <p:cNvSpPr/>
            <p:nvPr/>
          </p:nvSpPr>
          <p:spPr>
            <a:xfrm>
              <a:off x="6286500" y="2514600"/>
              <a:ext cx="76200" cy="2381250"/>
            </a:xfrm>
            <a:prstGeom prst="roundRect">
              <a:avLst>
                <a:gd name="adj" fmla="val 50000"/>
              </a:avLst>
            </a:prstGeom>
            <a:solidFill>
              <a:schemeClr val="accent2"/>
            </a:solidFill>
            <a:ln>
              <a:noFill/>
            </a:ln>
          </p:spPr>
        </p:sp>
        <p:sp>
          <p:nvSpPr>
            <p:cNvPr id="26" name="TextBox 26"/>
            <p:cNvSpPr txBox="1"/>
            <p:nvPr/>
          </p:nvSpPr>
          <p:spPr>
            <a:xfrm>
              <a:off x="6582537" y="2690336"/>
              <a:ext cx="2721487"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All weights FINE-TUNED</a:t>
              </a:r>
            </a:p>
          </p:txBody>
        </p:sp>
        <p:sp>
          <p:nvSpPr>
            <p:cNvPr id="27" name="TextBox 27"/>
            <p:cNvSpPr txBox="1"/>
            <p:nvPr/>
          </p:nvSpPr>
          <p:spPr>
            <a:xfrm>
              <a:off x="6584823" y="3005614"/>
              <a:ext cx="2887990" cy="249364"/>
            </a:xfrm>
            <a:prstGeom prst="rect">
              <a:avLst/>
            </a:prstGeom>
            <a:noFill/>
            <a:ln>
              <a:noFill/>
            </a:ln>
          </p:spPr>
          <p:txBody>
            <a:bodyPr wrap="none" lIns="0" tIns="0" rIns="0" bIns="0" anchor="t" anchorCtr="0">
              <a:spAutoFit/>
            </a:bodyPr>
            <a:lstStyle/>
            <a:p>
              <a:pPr algn="l"/>
              <a:r>
                <a:rPr lang="en-US" sz="1280" dirty="0">
                  <a:solidFill>
                    <a:schemeClr val="accent2"/>
                  </a:solidFill>
                  <a:latin typeface="+mn-lt"/>
                  <a:ea typeface="+mn-ea"/>
                  <a:cs typeface="+mn-cs"/>
                </a:rPr>
                <a:t>The edge vanishes — even reverses</a:t>
              </a:r>
            </a:p>
          </p:txBody>
        </p:sp>
        <p:sp>
          <p:nvSpPr>
            <p:cNvPr id="28" name="TextBox 28"/>
            <p:cNvSpPr txBox="1"/>
            <p:nvPr/>
          </p:nvSpPr>
          <p:spPr>
            <a:xfrm>
              <a:off x="6585585" y="3479006"/>
              <a:ext cx="922477" cy="220028"/>
            </a:xfrm>
            <a:prstGeom prst="rect">
              <a:avLst/>
            </a:prstGeom>
            <a:noFill/>
            <a:ln>
              <a:noFill/>
            </a:ln>
          </p:spPr>
          <p:txBody>
            <a:bodyPr wrap="none" lIns="0" tIns="0" rIns="0" bIns="0" anchor="t" anchorCtr="0">
              <a:spAutoFit/>
            </a:bodyPr>
            <a:lstStyle/>
            <a:p>
              <a:pPr algn="l"/>
              <a:r>
                <a:rPr lang="en-US" sz="1120" b="1" spc="75" dirty="0">
                  <a:solidFill>
                    <a:schemeClr val="dk2"/>
                  </a:solidFill>
                  <a:latin typeface="+mn-lt"/>
                  <a:ea typeface="+mn-ea"/>
                  <a:cs typeface="+mn-cs"/>
                </a:rPr>
                <a:t>PROTOCOL</a:t>
              </a:r>
            </a:p>
          </p:txBody>
        </p:sp>
        <p:sp>
          <p:nvSpPr>
            <p:cNvPr id="29" name="TextBox 29"/>
            <p:cNvSpPr txBox="1"/>
            <p:nvPr/>
          </p:nvSpPr>
          <p:spPr>
            <a:xfrm>
              <a:off x="9351566" y="3479006"/>
              <a:ext cx="308768" cy="220028"/>
            </a:xfrm>
            <a:prstGeom prst="rect">
              <a:avLst/>
            </a:prstGeom>
            <a:noFill/>
            <a:ln>
              <a:noFill/>
            </a:ln>
          </p:spPr>
          <p:txBody>
            <a:bodyPr wrap="none" lIns="0" tIns="0" rIns="0" bIns="0" anchor="t" anchorCtr="0">
              <a:spAutoFit/>
            </a:bodyPr>
            <a:lstStyle/>
            <a:p>
              <a:pPr algn="ctr"/>
              <a:r>
                <a:rPr lang="en-US" sz="1120" b="1" spc="75" dirty="0">
                  <a:solidFill>
                    <a:schemeClr val="dk2"/>
                  </a:solidFill>
                  <a:latin typeface="+mn-lt"/>
                  <a:ea typeface="+mn-ea"/>
                  <a:cs typeface="+mn-cs"/>
                </a:rPr>
                <a:t>SSL</a:t>
              </a:r>
            </a:p>
          </p:txBody>
        </p:sp>
        <p:sp>
          <p:nvSpPr>
            <p:cNvPr id="30" name="TextBox 30"/>
            <p:cNvSpPr txBox="1"/>
            <p:nvPr/>
          </p:nvSpPr>
          <p:spPr>
            <a:xfrm>
              <a:off x="10337326" y="3479006"/>
              <a:ext cx="813749" cy="220028"/>
            </a:xfrm>
            <a:prstGeom prst="rect">
              <a:avLst/>
            </a:prstGeom>
            <a:noFill/>
            <a:ln>
              <a:noFill/>
            </a:ln>
          </p:spPr>
          <p:txBody>
            <a:bodyPr wrap="none" lIns="0" tIns="0" rIns="0" bIns="0" anchor="t" anchorCtr="0">
              <a:spAutoFit/>
            </a:bodyPr>
            <a:lstStyle/>
            <a:p>
              <a:pPr algn="ctr"/>
              <a:r>
                <a:rPr lang="en-US" sz="1120" b="1" spc="75" dirty="0">
                  <a:solidFill>
                    <a:schemeClr val="dk2"/>
                  </a:solidFill>
                  <a:latin typeface="+mn-lt"/>
                  <a:ea typeface="+mn-ea"/>
                  <a:cs typeface="+mn-cs"/>
                </a:rPr>
                <a:t>IMAGENET</a:t>
              </a:r>
            </a:p>
          </p:txBody>
        </p:sp>
        <p:sp>
          <p:nvSpPr>
            <p:cNvPr id="31" name="Line 31"/>
            <p:cNvSpPr/>
            <p:nvPr/>
          </p:nvSpPr>
          <p:spPr>
            <a:xfrm>
              <a:off x="6591300" y="3714750"/>
              <a:ext cx="4610100" cy="9525"/>
            </a:xfrm>
            <a:custGeom>
              <a:avLst/>
              <a:gdLst/>
              <a:ahLst/>
              <a:cxnLst/>
              <a:rect l="l" t="t" r="r" b="b"/>
              <a:pathLst>
                <a:path w="4610100" h="9525">
                  <a:moveTo>
                    <a:pt x="0" y="0"/>
                  </a:moveTo>
                  <a:lnTo>
                    <a:pt x="4610100" y="0"/>
                  </a:lnTo>
                </a:path>
              </a:pathLst>
            </a:custGeom>
            <a:noFill/>
            <a:ln w="9525">
              <a:solidFill>
                <a:schemeClr val="accent4"/>
              </a:solidFill>
            </a:ln>
          </p:spPr>
        </p:sp>
        <p:sp>
          <p:nvSpPr>
            <p:cNvPr id="32" name="TextBox 32"/>
            <p:cNvSpPr txBox="1"/>
            <p:nvPr/>
          </p:nvSpPr>
          <p:spPr>
            <a:xfrm>
              <a:off x="6583680" y="3952875"/>
              <a:ext cx="126350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Fine-tune all</a:t>
              </a:r>
            </a:p>
          </p:txBody>
        </p:sp>
        <p:sp>
          <p:nvSpPr>
            <p:cNvPr id="33" name="TextBox 33"/>
            <p:cNvSpPr txBox="1"/>
            <p:nvPr/>
          </p:nvSpPr>
          <p:spPr>
            <a:xfrm>
              <a:off x="9220676" y="3952875"/>
              <a:ext cx="570548" cy="293370"/>
            </a:xfrm>
            <a:prstGeom prst="rect">
              <a:avLst/>
            </a:prstGeom>
            <a:noFill/>
            <a:ln>
              <a:noFill/>
            </a:ln>
          </p:spPr>
          <p:txBody>
            <a:bodyPr wrap="none" lIns="0" tIns="0" rIns="0" bIns="0" anchor="t" anchorCtr="0">
              <a:spAutoFit/>
            </a:bodyPr>
            <a:lstStyle/>
            <a:p>
              <a:pPr algn="ctr"/>
              <a:r>
                <a:rPr lang="en-US" sz="1500" dirty="0">
                  <a:solidFill>
                    <a:schemeClr val="dk2"/>
                  </a:solidFill>
                  <a:latin typeface="+mn-lt"/>
                  <a:ea typeface="+mn-ea"/>
                  <a:cs typeface="+mn-cs"/>
                </a:rPr>
                <a:t>0.929</a:t>
              </a:r>
            </a:p>
          </p:txBody>
        </p:sp>
        <p:sp>
          <p:nvSpPr>
            <p:cNvPr id="34" name="TextBox 34"/>
            <p:cNvSpPr txBox="1"/>
            <p:nvPr/>
          </p:nvSpPr>
          <p:spPr>
            <a:xfrm>
              <a:off x="10445044" y="3952875"/>
              <a:ext cx="598313" cy="293370"/>
            </a:xfrm>
            <a:prstGeom prst="rect">
              <a:avLst/>
            </a:prstGeom>
            <a:noFill/>
            <a:ln>
              <a:noFill/>
            </a:ln>
          </p:spPr>
          <p:txBody>
            <a:bodyPr wrap="none" lIns="0" tIns="0" rIns="0" bIns="0" anchor="t" anchorCtr="0">
              <a:spAutoFit/>
            </a:bodyPr>
            <a:lstStyle/>
            <a:p>
              <a:pPr algn="ctr"/>
              <a:r>
                <a:rPr lang="en-US" sz="1500" b="1" dirty="0">
                  <a:solidFill>
                    <a:schemeClr val="accent2"/>
                  </a:solidFill>
                  <a:latin typeface="+mn-lt"/>
                  <a:ea typeface="+mn-ea"/>
                  <a:cs typeface="+mn-cs"/>
                </a:rPr>
                <a:t>0.931</a:t>
              </a:r>
            </a:p>
          </p:txBody>
        </p:sp>
        <p:sp>
          <p:nvSpPr>
            <p:cNvPr id="35" name="TextBox 35"/>
            <p:cNvSpPr txBox="1"/>
            <p:nvPr/>
          </p:nvSpPr>
          <p:spPr>
            <a:xfrm>
              <a:off x="6584823" y="4453414"/>
              <a:ext cx="2980365"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Gap ≈ 0 — ImageNet now edges ahead</a:t>
              </a:r>
            </a:p>
          </p:txBody>
        </p:sp>
      </p:grpSp>
      <p:grpSp>
        <p:nvGrpSpPr>
          <p:cNvPr id="40" name="Group 40"/>
          <p:cNvGrpSpPr/>
          <p:nvPr/>
        </p:nvGrpSpPr>
        <p:grpSpPr>
          <a:xfrm>
            <a:off x="685800" y="5048250"/>
            <a:ext cx="10820400" cy="762000"/>
            <a:chOff x="685800" y="5048250"/>
            <a:chExt cx="10820400" cy="762000"/>
          </a:xfrm>
        </p:grpSpPr>
        <p:sp>
          <p:nvSpPr>
            <p:cNvPr id="37" name="Rectangle 37"/>
            <p:cNvSpPr/>
            <p:nvPr/>
          </p:nvSpPr>
          <p:spPr>
            <a:xfrm>
              <a:off x="685800" y="5048250"/>
              <a:ext cx="10820400" cy="762000"/>
            </a:xfrm>
            <a:prstGeom prst="roundRect">
              <a:avLst>
                <a:gd name="adj" fmla="val 17500"/>
              </a:avLst>
            </a:prstGeom>
            <a:solidFill>
              <a:schemeClr val="lt2"/>
            </a:solidFill>
            <a:ln w="9525">
              <a:solidFill>
                <a:schemeClr val="accent4"/>
              </a:solidFill>
            </a:ln>
          </p:spPr>
        </p:sp>
        <p:sp>
          <p:nvSpPr>
            <p:cNvPr id="38" name="Rectangle 38"/>
            <p:cNvSpPr/>
            <p:nvPr/>
          </p:nvSpPr>
          <p:spPr>
            <a:xfrm>
              <a:off x="685800" y="5048250"/>
              <a:ext cx="76200" cy="762000"/>
            </a:xfrm>
            <a:prstGeom prst="roundRect">
              <a:avLst>
                <a:gd name="adj" fmla="val 50000"/>
              </a:avLst>
            </a:prstGeom>
            <a:solidFill>
              <a:schemeClr val="accent2"/>
            </a:solidFill>
            <a:ln>
              <a:noFill/>
            </a:ln>
          </p:spPr>
        </p:sp>
        <p:sp>
          <p:nvSpPr>
            <p:cNvPr id="39" name="TextBox 39"/>
            <p:cNvSpPr txBox="1"/>
            <p:nvPr/>
          </p:nvSpPr>
          <p:spPr>
            <a:xfrm>
              <a:off x="898548" y="5319236"/>
              <a:ext cx="10394905" cy="337376"/>
            </a:xfrm>
            <a:prstGeom prst="rect">
              <a:avLst/>
            </a:prstGeom>
            <a:noFill/>
            <a:ln>
              <a:noFill/>
            </a:ln>
          </p:spPr>
          <p:txBody>
            <a:bodyPr wrap="none" lIns="0" tIns="0" rIns="0" bIns="0" anchor="t" anchorCtr="0">
              <a:spAutoFit/>
            </a:bodyPr>
            <a:lstStyle/>
            <a:p>
              <a:pPr algn="ctr"/>
              <a:r>
                <a:rPr lang="en-US" sz="1720" b="1" dirty="0">
                  <a:solidFill>
                    <a:schemeClr val="dk1"/>
                  </a:solidFill>
                  <a:latin typeface="+mn-lt"/>
                  <a:ea typeface="+mn-ea"/>
                  <a:cs typeface="+mn-cs"/>
                </a:rPr>
                <a:t xml:space="preserve">The benefit of self-supervised pretraining </a:t>
              </a:r>
              <a:r>
                <a:rPr lang="en-US" sz="1720" b="1" dirty="0">
                  <a:solidFill>
                    <a:schemeClr val="accent2"/>
                  </a:solidFill>
                  <a:latin typeface="+mn-lt"/>
                  <a:ea typeface="+mn-ea"/>
                  <a:cs typeface="+mn-cs"/>
                </a:rPr>
                <a:t>vanishes</a:t>
              </a:r>
              <a:r>
                <a:rPr lang="en-US" sz="1720" b="1" dirty="0">
                  <a:solidFill>
                    <a:schemeClr val="dk1"/>
                  </a:solidFill>
                  <a:latin typeface="+mn-lt"/>
                  <a:ea typeface="+mn-ea"/>
                  <a:cs typeface="+mn-cs"/>
                </a:rPr>
                <a:t xml:space="preserve"> once the whole network can adapt.</a:t>
              </a:r>
            </a:p>
          </p:txBody>
        </p:sp>
      </p:grpSp>
      <p:sp>
        <p:nvSpPr>
          <p:cNvPr id="41" name="cue_s08_c1_most_informative_comparison_across_t" title="cue_s08_c1_most_informative_comparison_across_t" descr="cue_s08_c1_most_informative_comparison_across_t The most informative comparison is across the three evaluation protocols."/>
          <p:cNvSpPr/>
          <p:nvPr/>
        </p:nvSpPr>
        <p:spPr>
          <a:xfrm>
            <a:off x="686409" y="1638376"/>
            <a:ext cx="10820400" cy="6858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8_c2_when_backbone_frozen_self_supervised" title="cue_s08_c2_when_backbone_frozen_self_supervised" descr="cue_s08_c2_when_backbone_frozen_self_supervised When the backbone is frozen, the self-supervised contrastive weights hold a small edge, scoring zero point eight six four versus zero point eight five nine under nearest-neighbor classification and zero point eight four one versus zero point eight three six un"/>
          <p:cNvSpPr/>
          <p:nvPr/>
        </p:nvSpPr>
        <p:spPr>
          <a:xfrm>
            <a:off x="686409" y="2514828"/>
            <a:ext cx="5219395"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8_c3_but_once_all_weights_fine_tuned" title="cue_s08_c3_but_once_all_weights_fine_tuned" descr="cue_s08_c3_but_once_all_weights_fine_tuned But once all weights are fine-tuned end to end, that gap not only disappears but slightly reverses, with the ImageNet initialization reaching zero point nine three one against the contrastive model's zero point nine two nine."/>
          <p:cNvSpPr/>
          <p:nvPr/>
        </p:nvSpPr>
        <p:spPr>
          <a:xfrm>
            <a:off x="6286195" y="2514828"/>
            <a:ext cx="5219395"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8_c4_other_words_benefit_self_supervised" title="cue_s08_c4_other_words_benefit_self_supervised" descr="cue_s08_c4_other_words_benefit_self_supervised In other words, the benefit of self-supervised pretraining vanishes once the whole network is allowed to adapt."/>
          <p:cNvSpPr/>
          <p:nvPr/>
        </p:nvSpPr>
        <p:spPr>
          <a:xfrm>
            <a:off x="686409" y="5048173"/>
            <a:ext cx="10820400" cy="7619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79704" y="632460"/>
            <a:ext cx="2365553" cy="234696"/>
          </a:xfrm>
          <a:prstGeom prst="rect">
            <a:avLst/>
          </a:prstGeom>
          <a:noFill/>
          <a:ln>
            <a:noFill/>
          </a:ln>
        </p:spPr>
        <p:txBody>
          <a:bodyPr wrap="none" lIns="0" tIns="0" rIns="0" bIns="0" anchor="t" anchorCtr="0">
            <a:spAutoFit/>
          </a:bodyPr>
          <a:lstStyle/>
          <a:p>
            <a:pPr algn="l"/>
            <a:r>
              <a:rPr lang="en-US" sz="1200" b="1" spc="150" dirty="0">
                <a:solidFill>
                  <a:schemeClr val="dk2"/>
                </a:solidFill>
                <a:latin typeface="+mn-lt"/>
                <a:ea typeface="+mn-ea"/>
                <a:cs typeface="+mn-cs"/>
              </a:rPr>
              <a:t>09 · HEADLINE NUMBERS</a:t>
            </a:r>
          </a:p>
        </p:txBody>
      </p:sp>
      <p:sp>
        <p:nvSpPr>
          <p:cNvPr id="3" name="Rectangle 3"/>
          <p:cNvSpPr/>
          <p:nvPr/>
        </p:nvSpPr>
        <p:spPr>
          <a:xfrm>
            <a:off x="685800" y="876300"/>
            <a:ext cx="419100" cy="38100"/>
          </a:xfrm>
          <a:prstGeom prst="rect">
            <a:avLst/>
          </a:prstGeom>
          <a:solidFill>
            <a:schemeClr val="accent1"/>
          </a:solidFill>
          <a:ln>
            <a:noFill/>
          </a:ln>
        </p:spPr>
        <p:txBody>
          <a:bodyPr/>
          <a:p/>
        </p:txBody>
      </p:sp>
      <p:sp>
        <p:nvSpPr>
          <p:cNvPr id="4" name="TextBox 4"/>
          <p:cNvSpPr txBox="1"/>
          <p:nvPr/>
        </p:nvSpPr>
        <p:spPr>
          <a:xfrm>
            <a:off x="669798" y="993458"/>
            <a:ext cx="5701993"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n-lt"/>
                <a:ea typeface="+mn-ea"/>
                <a:cs typeface="+mn-cs"/>
              </a:rPr>
              <a:t xml:space="preserve">The study in </a:t>
            </a:r>
            <a:r>
              <a:rPr lang="en-US" sz="3150" b="1" dirty="0">
                <a:solidFill>
                  <a:schemeClr val="accent1"/>
                </a:solidFill>
                <a:latin typeface="+mn-lt"/>
                <a:ea typeface="+mn-ea"/>
                <a:cs typeface="+mn-cs"/>
              </a:rPr>
              <a:t>four numbers</a:t>
            </a:r>
          </a:p>
        </p:txBody>
      </p:sp>
      <p:grpSp>
        <p:nvGrpSpPr>
          <p:cNvPr id="10" name="Group 10"/>
          <p:cNvGrpSpPr/>
          <p:nvPr/>
        </p:nvGrpSpPr>
        <p:grpSpPr>
          <a:xfrm>
            <a:off x="685800" y="1714500"/>
            <a:ext cx="5219700" cy="1952625"/>
            <a:chOff x="685800" y="1714500"/>
            <a:chExt cx="5219700" cy="1952625"/>
          </a:xfrm>
        </p:grpSpPr>
        <p:sp>
          <p:nvSpPr>
            <p:cNvPr id="5" name="Rectangle 5"/>
            <p:cNvSpPr/>
            <p:nvPr/>
          </p:nvSpPr>
          <p:spPr>
            <a:xfrm>
              <a:off x="685800" y="1714500"/>
              <a:ext cx="5219700" cy="1952625"/>
            </a:xfrm>
            <a:prstGeom prst="roundRect">
              <a:avLst>
                <a:gd name="adj" fmla="val 6829"/>
              </a:avLst>
            </a:prstGeom>
            <a:solidFill>
              <a:schemeClr val="lt2"/>
            </a:solidFill>
            <a:ln w="9525">
              <a:solidFill>
                <a:schemeClr val="accent4"/>
              </a:solidFill>
            </a:ln>
          </p:spPr>
        </p:sp>
        <p:sp>
          <p:nvSpPr>
            <p:cNvPr id="6" name="Rectangle 6"/>
            <p:cNvSpPr/>
            <p:nvPr/>
          </p:nvSpPr>
          <p:spPr>
            <a:xfrm>
              <a:off x="685800" y="1714500"/>
              <a:ext cx="76200" cy="1952625"/>
            </a:xfrm>
            <a:prstGeom prst="roundRect">
              <a:avLst>
                <a:gd name="adj" fmla="val 50000"/>
              </a:avLst>
            </a:prstGeom>
            <a:solidFill>
              <a:schemeClr val="accent1"/>
            </a:solidFill>
            <a:ln>
              <a:noFill/>
            </a:ln>
          </p:spPr>
        </p:sp>
        <p:sp>
          <p:nvSpPr>
            <p:cNvPr id="7" name="TextBox 7"/>
            <p:cNvSpPr txBox="1"/>
            <p:nvPr/>
          </p:nvSpPr>
          <p:spPr>
            <a:xfrm>
              <a:off x="985266" y="2001202"/>
              <a:ext cx="2414595" cy="205359"/>
            </a:xfrm>
            <a:prstGeom prst="rect">
              <a:avLst/>
            </a:prstGeom>
            <a:noFill/>
            <a:ln>
              <a:noFill/>
            </a:ln>
          </p:spPr>
          <p:txBody>
            <a:bodyPr wrap="none" lIns="0" tIns="0" rIns="0" bIns="0" anchor="t" anchorCtr="0">
              <a:spAutoFit/>
            </a:bodyPr>
            <a:lstStyle/>
            <a:p>
              <a:pPr algn="l"/>
              <a:r>
                <a:rPr lang="en-US" sz="1050" b="1" spc="150" dirty="0">
                  <a:solidFill>
                    <a:schemeClr val="dk2"/>
                  </a:solidFill>
                  <a:latin typeface="+mn-lt"/>
                  <a:ea typeface="+mn-ea"/>
                  <a:cs typeface="+mn-cs"/>
                </a:rPr>
                <a:t>SELF-SUPERVISED TRAINING</a:t>
              </a:r>
            </a:p>
          </p:txBody>
        </p:sp>
        <p:sp>
          <p:nvSpPr>
            <p:cNvPr id="8" name="TextBox 8"/>
            <p:cNvSpPr txBox="1"/>
            <p:nvPr/>
          </p:nvSpPr>
          <p:spPr>
            <a:xfrm>
              <a:off x="971550" y="2413635"/>
              <a:ext cx="1868409" cy="1104900"/>
            </a:xfrm>
            <a:prstGeom prst="rect">
              <a:avLst/>
            </a:prstGeom>
            <a:noFill/>
            <a:ln>
              <a:noFill/>
            </a:ln>
          </p:spPr>
          <p:txBody>
            <a:bodyPr wrap="none" lIns="0" tIns="0" rIns="0" bIns="0" anchor="t" anchorCtr="0">
              <a:spAutoFit/>
            </a:bodyPr>
            <a:lstStyle/>
            <a:p>
              <a:pPr algn="l"/>
              <a:r>
                <a:rPr lang="en-US" sz="5700" b="1" dirty="0">
                  <a:solidFill>
                    <a:schemeClr val="accent1"/>
                  </a:solidFill>
                  <a:latin typeface="+mn-lt"/>
                  <a:ea typeface="+mn-ea"/>
                  <a:cs typeface="+mn-cs"/>
                </a:rPr>
                <a:t>≈ 3M</a:t>
              </a:r>
            </a:p>
          </p:txBody>
        </p:sp>
        <p:sp>
          <p:nvSpPr>
            <p:cNvPr id="9" name="TextBox 9"/>
            <p:cNvSpPr txBox="1"/>
            <p:nvPr/>
          </p:nvSpPr>
          <p:spPr>
            <a:xfrm>
              <a:off x="982980" y="3267075"/>
              <a:ext cx="224656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unlabeled radar images</a:t>
              </a:r>
            </a:p>
          </p:txBody>
        </p:sp>
      </p:grpSp>
      <p:grpSp>
        <p:nvGrpSpPr>
          <p:cNvPr id="16" name="Group 16"/>
          <p:cNvGrpSpPr/>
          <p:nvPr/>
        </p:nvGrpSpPr>
        <p:grpSpPr>
          <a:xfrm>
            <a:off x="6286500" y="1714500"/>
            <a:ext cx="5219700" cy="1952625"/>
            <a:chOff x="6286500" y="1714500"/>
            <a:chExt cx="5219700" cy="1952625"/>
          </a:xfrm>
        </p:grpSpPr>
        <p:sp>
          <p:nvSpPr>
            <p:cNvPr id="11" name="Rectangle 11"/>
            <p:cNvSpPr/>
            <p:nvPr/>
          </p:nvSpPr>
          <p:spPr>
            <a:xfrm>
              <a:off x="6286500" y="1714500"/>
              <a:ext cx="5219700" cy="1952625"/>
            </a:xfrm>
            <a:prstGeom prst="roundRect">
              <a:avLst>
                <a:gd name="adj" fmla="val 6829"/>
              </a:avLst>
            </a:prstGeom>
            <a:solidFill>
              <a:schemeClr val="lt2"/>
            </a:solidFill>
            <a:ln w="9525">
              <a:solidFill>
                <a:schemeClr val="accent4"/>
              </a:solidFill>
            </a:ln>
          </p:spPr>
        </p:sp>
        <p:sp>
          <p:nvSpPr>
            <p:cNvPr id="12" name="Rectangle 12"/>
            <p:cNvSpPr/>
            <p:nvPr/>
          </p:nvSpPr>
          <p:spPr>
            <a:xfrm>
              <a:off x="6286500" y="1714500"/>
              <a:ext cx="76200" cy="1952625"/>
            </a:xfrm>
            <a:prstGeom prst="roundRect">
              <a:avLst>
                <a:gd name="adj" fmla="val 50000"/>
              </a:avLst>
            </a:prstGeom>
            <a:solidFill>
              <a:schemeClr val="accent5"/>
            </a:solidFill>
            <a:ln>
              <a:noFill/>
            </a:ln>
          </p:spPr>
        </p:sp>
        <p:sp>
          <p:nvSpPr>
            <p:cNvPr id="13" name="TextBox 13"/>
            <p:cNvSpPr txBox="1"/>
            <p:nvPr/>
          </p:nvSpPr>
          <p:spPr>
            <a:xfrm>
              <a:off x="6585966" y="2001202"/>
              <a:ext cx="1810466" cy="205359"/>
            </a:xfrm>
            <a:prstGeom prst="rect">
              <a:avLst/>
            </a:prstGeom>
            <a:noFill/>
            <a:ln>
              <a:noFill/>
            </a:ln>
          </p:spPr>
          <p:txBody>
            <a:bodyPr wrap="none" lIns="0" tIns="0" rIns="0" bIns="0" anchor="t" anchorCtr="0">
              <a:spAutoFit/>
            </a:bodyPr>
            <a:lstStyle/>
            <a:p>
              <a:pPr algn="l"/>
              <a:r>
                <a:rPr lang="en-US" sz="1050" b="1" spc="150" dirty="0">
                  <a:solidFill>
                    <a:schemeClr val="dk2"/>
                  </a:solidFill>
                  <a:latin typeface="+mn-lt"/>
                  <a:ea typeface="+mn-ea"/>
                  <a:cs typeface="+mn-cs"/>
                </a:rPr>
                <a:t>LABELED BENCHMARK</a:t>
              </a:r>
            </a:p>
          </p:txBody>
        </p:sp>
        <p:sp>
          <p:nvSpPr>
            <p:cNvPr id="14" name="TextBox 14"/>
            <p:cNvSpPr txBox="1"/>
            <p:nvPr/>
          </p:nvSpPr>
          <p:spPr>
            <a:xfrm>
              <a:off x="6572250" y="2413635"/>
              <a:ext cx="2253777" cy="1104900"/>
            </a:xfrm>
            <a:prstGeom prst="rect">
              <a:avLst/>
            </a:prstGeom>
            <a:noFill/>
            <a:ln>
              <a:noFill/>
            </a:ln>
          </p:spPr>
          <p:txBody>
            <a:bodyPr wrap="none" lIns="0" tIns="0" rIns="0" bIns="0" anchor="t" anchorCtr="0">
              <a:spAutoFit/>
            </a:bodyPr>
            <a:lstStyle/>
            <a:p>
              <a:pPr algn="l"/>
              <a:r>
                <a:rPr lang="en-US" sz="5700" b="1" dirty="0">
                  <a:solidFill>
                    <a:schemeClr val="accent5"/>
                  </a:solidFill>
                  <a:latin typeface="+mn-lt"/>
                  <a:ea typeface="+mn-ea"/>
                  <a:cs typeface="+mn-cs"/>
                </a:rPr>
                <a:t>2,300</a:t>
              </a:r>
            </a:p>
          </p:txBody>
        </p:sp>
        <p:sp>
          <p:nvSpPr>
            <p:cNvPr id="15" name="TextBox 15"/>
            <p:cNvSpPr txBox="1"/>
            <p:nvPr/>
          </p:nvSpPr>
          <p:spPr>
            <a:xfrm>
              <a:off x="6583680" y="3267075"/>
              <a:ext cx="337737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expert vignettes across 4 classes</a:t>
              </a:r>
            </a:p>
          </p:txBody>
        </p:sp>
      </p:grpSp>
      <p:grpSp>
        <p:nvGrpSpPr>
          <p:cNvPr id="22" name="Group 22"/>
          <p:cNvGrpSpPr/>
          <p:nvPr/>
        </p:nvGrpSpPr>
        <p:grpSpPr>
          <a:xfrm>
            <a:off x="685800" y="3857625"/>
            <a:ext cx="5219700" cy="1952625"/>
            <a:chOff x="685800" y="3857625"/>
            <a:chExt cx="5219700" cy="1952625"/>
          </a:xfrm>
        </p:grpSpPr>
        <p:sp>
          <p:nvSpPr>
            <p:cNvPr id="17" name="Rectangle 17"/>
            <p:cNvSpPr/>
            <p:nvPr/>
          </p:nvSpPr>
          <p:spPr>
            <a:xfrm>
              <a:off x="685800" y="3857625"/>
              <a:ext cx="5219700" cy="1952625"/>
            </a:xfrm>
            <a:prstGeom prst="roundRect">
              <a:avLst>
                <a:gd name="adj" fmla="val 6829"/>
              </a:avLst>
            </a:prstGeom>
            <a:solidFill>
              <a:schemeClr val="lt2"/>
            </a:solidFill>
            <a:ln w="9525">
              <a:solidFill>
                <a:schemeClr val="accent4"/>
              </a:solidFill>
            </a:ln>
          </p:spPr>
        </p:sp>
        <p:sp>
          <p:nvSpPr>
            <p:cNvPr id="18" name="Rectangle 18"/>
            <p:cNvSpPr/>
            <p:nvPr/>
          </p:nvSpPr>
          <p:spPr>
            <a:xfrm>
              <a:off x="685800" y="3857625"/>
              <a:ext cx="76200" cy="1952625"/>
            </a:xfrm>
            <a:prstGeom prst="roundRect">
              <a:avLst>
                <a:gd name="adj" fmla="val 50000"/>
              </a:avLst>
            </a:prstGeom>
            <a:solidFill>
              <a:schemeClr val="accent1"/>
            </a:solidFill>
            <a:ln>
              <a:noFill/>
            </a:ln>
          </p:spPr>
        </p:sp>
        <p:sp>
          <p:nvSpPr>
            <p:cNvPr id="19" name="TextBox 19"/>
            <p:cNvSpPr txBox="1"/>
            <p:nvPr/>
          </p:nvSpPr>
          <p:spPr>
            <a:xfrm>
              <a:off x="985266" y="4144328"/>
              <a:ext cx="2193768" cy="205359"/>
            </a:xfrm>
            <a:prstGeom prst="rect">
              <a:avLst/>
            </a:prstGeom>
            <a:noFill/>
            <a:ln>
              <a:noFill/>
            </a:ln>
          </p:spPr>
          <p:txBody>
            <a:bodyPr wrap="none" lIns="0" tIns="0" rIns="0" bIns="0" anchor="t" anchorCtr="0">
              <a:spAutoFit/>
            </a:bodyPr>
            <a:lstStyle/>
            <a:p>
              <a:pPr algn="l"/>
              <a:r>
                <a:rPr lang="en-US" sz="1050" b="1" spc="150" dirty="0">
                  <a:solidFill>
                    <a:schemeClr val="dk2"/>
                  </a:solidFill>
                  <a:latin typeface="+mn-lt"/>
                  <a:ea typeface="+mn-ea"/>
                  <a:cs typeface="+mn-cs"/>
                </a:rPr>
                <a:t>BEST FINE-TUNED MODEL</a:t>
              </a:r>
            </a:p>
          </p:txBody>
        </p:sp>
        <p:sp>
          <p:nvSpPr>
            <p:cNvPr id="20" name="TextBox 20"/>
            <p:cNvSpPr txBox="1"/>
            <p:nvPr/>
          </p:nvSpPr>
          <p:spPr>
            <a:xfrm>
              <a:off x="971550" y="4556760"/>
              <a:ext cx="1810642" cy="1104900"/>
            </a:xfrm>
            <a:prstGeom prst="rect">
              <a:avLst/>
            </a:prstGeom>
            <a:noFill/>
            <a:ln>
              <a:noFill/>
            </a:ln>
          </p:spPr>
          <p:txBody>
            <a:bodyPr wrap="none" lIns="0" tIns="0" rIns="0" bIns="0" anchor="t" anchorCtr="0">
              <a:spAutoFit/>
            </a:bodyPr>
            <a:lstStyle/>
            <a:p>
              <a:pPr algn="l"/>
              <a:r>
                <a:rPr lang="en-US" sz="5700" b="1" dirty="0">
                  <a:solidFill>
                    <a:schemeClr val="accent1"/>
                  </a:solidFill>
                  <a:latin typeface="+mn-lt"/>
                  <a:ea typeface="+mn-ea"/>
                  <a:cs typeface="+mn-cs"/>
                </a:rPr>
                <a:t>0.93</a:t>
              </a:r>
            </a:p>
          </p:txBody>
        </p:sp>
        <p:sp>
          <p:nvSpPr>
            <p:cNvPr id="21" name="TextBox 21"/>
            <p:cNvSpPr txBox="1"/>
            <p:nvPr/>
          </p:nvSpPr>
          <p:spPr>
            <a:xfrm>
              <a:off x="982980" y="5410200"/>
              <a:ext cx="225088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micro-averaged AUROC</a:t>
              </a:r>
            </a:p>
          </p:txBody>
        </p:sp>
      </p:grpSp>
      <p:grpSp>
        <p:nvGrpSpPr>
          <p:cNvPr id="29" name="Group 29"/>
          <p:cNvGrpSpPr/>
          <p:nvPr/>
        </p:nvGrpSpPr>
        <p:grpSpPr>
          <a:xfrm>
            <a:off x="6286500" y="3857625"/>
            <a:ext cx="5219700" cy="1952625"/>
            <a:chOff x="6286500" y="3857625"/>
            <a:chExt cx="5219700" cy="1952625"/>
          </a:xfrm>
        </p:grpSpPr>
        <p:sp>
          <p:nvSpPr>
            <p:cNvPr id="23" name="Rectangle 23"/>
            <p:cNvSpPr/>
            <p:nvPr/>
          </p:nvSpPr>
          <p:spPr>
            <a:xfrm>
              <a:off x="6286500" y="3857625"/>
              <a:ext cx="5219700" cy="1952625"/>
            </a:xfrm>
            <a:prstGeom prst="roundRect">
              <a:avLst>
                <a:gd name="adj" fmla="val 6829"/>
              </a:avLst>
            </a:prstGeom>
            <a:solidFill>
              <a:schemeClr val="lt2"/>
            </a:solidFill>
            <a:ln w="9525">
              <a:solidFill>
                <a:schemeClr val="accent4"/>
              </a:solidFill>
            </a:ln>
          </p:spPr>
        </p:sp>
        <p:sp>
          <p:nvSpPr>
            <p:cNvPr id="24" name="Rectangle 24"/>
            <p:cNvSpPr/>
            <p:nvPr/>
          </p:nvSpPr>
          <p:spPr>
            <a:xfrm>
              <a:off x="6286500" y="3857625"/>
              <a:ext cx="76200" cy="1952625"/>
            </a:xfrm>
            <a:prstGeom prst="roundRect">
              <a:avLst>
                <a:gd name="adj" fmla="val 50000"/>
              </a:avLst>
            </a:prstGeom>
            <a:solidFill>
              <a:schemeClr val="accent5"/>
            </a:solidFill>
            <a:ln>
              <a:noFill/>
            </a:ln>
          </p:spPr>
        </p:sp>
        <p:sp>
          <p:nvSpPr>
            <p:cNvPr id="25" name="TextBox 25"/>
            <p:cNvSpPr txBox="1"/>
            <p:nvPr/>
          </p:nvSpPr>
          <p:spPr>
            <a:xfrm>
              <a:off x="6585966" y="4144328"/>
              <a:ext cx="1563929" cy="205359"/>
            </a:xfrm>
            <a:prstGeom prst="rect">
              <a:avLst/>
            </a:prstGeom>
            <a:noFill/>
            <a:ln>
              <a:noFill/>
            </a:ln>
          </p:spPr>
          <p:txBody>
            <a:bodyPr wrap="none" lIns="0" tIns="0" rIns="0" bIns="0" anchor="t" anchorCtr="0">
              <a:spAutoFit/>
            </a:bodyPr>
            <a:lstStyle/>
            <a:p>
              <a:pPr algn="l"/>
              <a:r>
                <a:rPr lang="en-US" sz="1050" b="1" spc="150" dirty="0">
                  <a:solidFill>
                    <a:schemeClr val="dk2"/>
                  </a:solidFill>
                  <a:latin typeface="+mn-lt"/>
                  <a:ea typeface="+mn-ea"/>
                  <a:cs typeface="+mn-cs"/>
                </a:rPr>
                <a:t>HARDEST CLASSES</a:t>
              </a:r>
            </a:p>
          </p:txBody>
        </p:sp>
        <p:sp>
          <p:nvSpPr>
            <p:cNvPr id="26" name="TextBox 26"/>
            <p:cNvSpPr txBox="1"/>
            <p:nvPr/>
          </p:nvSpPr>
          <p:spPr>
            <a:xfrm>
              <a:off x="6573012" y="4583430"/>
              <a:ext cx="4387360" cy="704088"/>
            </a:xfrm>
            <a:prstGeom prst="rect">
              <a:avLst/>
            </a:prstGeom>
            <a:noFill/>
            <a:ln>
              <a:noFill/>
            </a:ln>
          </p:spPr>
          <p:txBody>
            <a:bodyPr wrap="none" lIns="0" tIns="0" rIns="0" bIns="0" anchor="t" anchorCtr="0">
              <a:spAutoFit/>
            </a:bodyPr>
            <a:lstStyle/>
            <a:p>
              <a:pPr algn="l"/>
              <a:r>
                <a:rPr lang="en-US" sz="3600" b="1" dirty="0">
                  <a:solidFill>
                    <a:schemeClr val="accent5"/>
                  </a:solidFill>
                  <a:latin typeface="+mn-lt"/>
                  <a:ea typeface="+mn-ea"/>
                  <a:cs typeface="+mn-cs"/>
                </a:rPr>
                <a:t>into the mid-.80s</a:t>
              </a:r>
            </a:p>
          </p:txBody>
        </p:sp>
        <p:sp>
          <p:nvSpPr>
            <p:cNvPr id="27" name="TextBox 27"/>
            <p:cNvSpPr txBox="1"/>
            <p:nvPr/>
          </p:nvSpPr>
          <p:spPr>
            <a:xfrm>
              <a:off x="6583680" y="5191125"/>
              <a:ext cx="320573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wind streaks &amp; convection cells,</a:t>
              </a:r>
            </a:p>
          </p:txBody>
        </p:sp>
        <p:sp>
          <p:nvSpPr>
            <p:cNvPr id="28" name="TextBox 28"/>
            <p:cNvSpPr txBox="1"/>
            <p:nvPr/>
          </p:nvSpPr>
          <p:spPr>
            <a:xfrm>
              <a:off x="6583680" y="5457825"/>
              <a:ext cx="259249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up from CmWV 0.73 / 0.79</a:t>
              </a:r>
            </a:p>
          </p:txBody>
        </p:sp>
      </p:grpSp>
      <p:sp>
        <p:nvSpPr>
          <p:cNvPr id="30" name="cue_s09_c1_few_numbers_capture_study_self_super" title="cue_s09_c1_few_numbers_capture_study_self_super" descr="cue_s09_c1_few_numbers_capture_study_self_super A few numbers capture the study. Self-supervised training used almost three million unlabeled radar images."/>
          <p:cNvSpPr/>
          <p:nvPr/>
        </p:nvSpPr>
        <p:spPr>
          <a:xfrm>
            <a:off x="686409" y="1714500"/>
            <a:ext cx="5219395" cy="195247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ue_s09_c2_labeled_benchmark_held_twenty_three" title="cue_s09_c2_labeled_benchmark_held_twenty_three" descr="cue_s09_c2_labeled_benchmark_held_twenty_three The labeled benchmark held twenty-three hundred expert vignettes across four classes."/>
          <p:cNvSpPr/>
          <p:nvPr/>
        </p:nvSpPr>
        <p:spPr>
          <a:xfrm>
            <a:off x="6286195" y="1714500"/>
            <a:ext cx="5219395" cy="195247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ue_s09_c3_best_fine_tuned_reached_micro_averag" title="cue_s09_c3_best_fine_tuned_reached_micro_averag" descr="cue_s09_c3_best_fine_tuned_reached_micro_averag The best fine-tuned model reached a micro-averaged AUROC of about zero point nine three."/>
          <p:cNvSpPr/>
          <p:nvPr/>
        </p:nvSpPr>
        <p:spPr>
          <a:xfrm>
            <a:off x="686409" y="3857625"/>
            <a:ext cx="5219395" cy="195247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ue_s09_c4_toughest_classes_wind_streaks_convec" title="cue_s09_c4_toughest_classes_wind_streaks_convec" descr="cue_s09_c4_toughest_classes_wind_streaks_convec And on the toughest classes, wind streaks and convection cells, the new models jumped from CmWV's roughly zero point seven three and zero point seven nine into the mid eighties, a substantial detection improvement."/>
          <p:cNvSpPr/>
          <p:nvPr/>
        </p:nvSpPr>
        <p:spPr>
          <a:xfrm>
            <a:off x="6286195" y="3857625"/>
            <a:ext cx="5219395" cy="195247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79704" y="632460"/>
            <a:ext cx="1495897" cy="234696"/>
          </a:xfrm>
          <a:prstGeom prst="rect">
            <a:avLst/>
          </a:prstGeom>
          <a:noFill/>
          <a:ln>
            <a:noFill/>
          </a:ln>
        </p:spPr>
        <p:txBody>
          <a:bodyPr wrap="none" lIns="0" tIns="0" rIns="0" bIns="0" anchor="t" anchorCtr="0">
            <a:spAutoFit/>
          </a:bodyPr>
          <a:lstStyle/>
          <a:p>
            <a:pPr algn="l"/>
            <a:r>
              <a:rPr lang="en-US" sz="1200" b="1" spc="150" dirty="0">
                <a:solidFill>
                  <a:schemeClr val="dk2"/>
                </a:solidFill>
                <a:latin typeface="+mn-lt"/>
                <a:ea typeface="+mn-ea"/>
                <a:cs typeface="+mn-cs"/>
              </a:rPr>
              <a:t>10 · TAKEAWAY</a:t>
            </a:r>
          </a:p>
        </p:txBody>
      </p:sp>
      <p:sp>
        <p:nvSpPr>
          <p:cNvPr id="3" name="Rectangle 3"/>
          <p:cNvSpPr/>
          <p:nvPr/>
        </p:nvSpPr>
        <p:spPr>
          <a:xfrm>
            <a:off x="685800" y="876300"/>
            <a:ext cx="419100" cy="38100"/>
          </a:xfrm>
          <a:prstGeom prst="rect">
            <a:avLst/>
          </a:prstGeom>
          <a:solidFill>
            <a:schemeClr val="accent1"/>
          </a:solidFill>
          <a:ln>
            <a:noFill/>
          </a:ln>
        </p:spPr>
        <p:txBody>
          <a:bodyPr/>
          <a:p/>
        </p:txBody>
      </p:sp>
      <p:sp>
        <p:nvSpPr>
          <p:cNvPr id="4" name="TextBox 4"/>
          <p:cNvSpPr txBox="1"/>
          <p:nvPr/>
        </p:nvSpPr>
        <p:spPr>
          <a:xfrm>
            <a:off x="669798" y="993458"/>
            <a:ext cx="6592082"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n-lt"/>
                <a:ea typeface="+mn-ea"/>
                <a:cs typeface="+mn-cs"/>
              </a:rPr>
              <a:t xml:space="preserve">Honest verdict, </a:t>
            </a:r>
            <a:r>
              <a:rPr lang="en-US" sz="3150" b="1" dirty="0">
                <a:solidFill>
                  <a:schemeClr val="accent5"/>
                </a:solidFill>
                <a:latin typeface="+mn-lt"/>
                <a:ea typeface="+mn-ea"/>
                <a:cs typeface="+mn-cs"/>
              </a:rPr>
              <a:t>real progress</a:t>
            </a:r>
          </a:p>
        </p:txBody>
      </p:sp>
      <p:grpSp>
        <p:nvGrpSpPr>
          <p:cNvPr id="13" name="Group 13"/>
          <p:cNvGrpSpPr/>
          <p:nvPr/>
        </p:nvGrpSpPr>
        <p:grpSpPr>
          <a:xfrm>
            <a:off x="685800" y="1714500"/>
            <a:ext cx="5219700" cy="2247900"/>
            <a:chOff x="685800" y="1714500"/>
            <a:chExt cx="5219700" cy="2247900"/>
          </a:xfrm>
        </p:grpSpPr>
        <p:sp>
          <p:nvSpPr>
            <p:cNvPr id="5" name="Rectangle 5"/>
            <p:cNvSpPr/>
            <p:nvPr/>
          </p:nvSpPr>
          <p:spPr>
            <a:xfrm>
              <a:off x="685800" y="1714500"/>
              <a:ext cx="5219700" cy="2247900"/>
            </a:xfrm>
            <a:prstGeom prst="roundRect">
              <a:avLst>
                <a:gd name="adj" fmla="val 5932"/>
              </a:avLst>
            </a:prstGeom>
            <a:solidFill>
              <a:schemeClr val="lt2"/>
            </a:solidFill>
            <a:ln w="9525">
              <a:solidFill>
                <a:schemeClr val="accent4"/>
              </a:solidFill>
            </a:ln>
          </p:spPr>
        </p:sp>
        <p:sp>
          <p:nvSpPr>
            <p:cNvPr id="6" name="Rectangle 6"/>
            <p:cNvSpPr/>
            <p:nvPr/>
          </p:nvSpPr>
          <p:spPr>
            <a:xfrm>
              <a:off x="685800" y="1714500"/>
              <a:ext cx="76200" cy="2247900"/>
            </a:xfrm>
            <a:prstGeom prst="roundRect">
              <a:avLst>
                <a:gd name="adj" fmla="val 50000"/>
              </a:avLst>
            </a:prstGeom>
            <a:solidFill>
              <a:schemeClr val="accent2"/>
            </a:solidFill>
            <a:ln>
              <a:noFill/>
            </a:ln>
          </p:spPr>
        </p:sp>
        <p:sp>
          <p:nvSpPr>
            <p:cNvPr id="7" name="TextBox 7"/>
            <p:cNvSpPr txBox="1"/>
            <p:nvPr/>
          </p:nvSpPr>
          <p:spPr>
            <a:xfrm>
              <a:off x="981456" y="1920240"/>
              <a:ext cx="2737009"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 Only marginal gains</a:t>
              </a:r>
            </a:p>
          </p:txBody>
        </p:sp>
        <p:sp>
          <p:nvSpPr>
            <p:cNvPr id="8" name="TextBox 8"/>
            <p:cNvSpPr txBox="1"/>
            <p:nvPr/>
          </p:nvSpPr>
          <p:spPr>
            <a:xfrm>
              <a:off x="982980" y="2333625"/>
              <a:ext cx="417142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In this preliminary study, self-supervised</a:t>
              </a:r>
            </a:p>
          </p:txBody>
        </p:sp>
        <p:sp>
          <p:nvSpPr>
            <p:cNvPr id="9" name="TextBox 9"/>
            <p:cNvSpPr txBox="1"/>
            <p:nvPr/>
          </p:nvSpPr>
          <p:spPr>
            <a:xfrm>
              <a:off x="982980" y="2609850"/>
              <a:ext cx="394277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contrastive learning gives only marginal</a:t>
              </a:r>
            </a:p>
          </p:txBody>
        </p:sp>
        <p:sp>
          <p:nvSpPr>
            <p:cNvPr id="10" name="TextBox 10"/>
            <p:cNvSpPr txBox="1"/>
            <p:nvPr/>
          </p:nvSpPr>
          <p:spPr>
            <a:xfrm>
              <a:off x="982980" y="2886075"/>
              <a:ext cx="398316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gains over simply transferring features</a:t>
              </a:r>
            </a:p>
          </p:txBody>
        </p:sp>
        <p:sp>
          <p:nvSpPr>
            <p:cNvPr id="11" name="TextBox 11"/>
            <p:cNvSpPr txBox="1"/>
            <p:nvPr/>
          </p:nvSpPr>
          <p:spPr>
            <a:xfrm>
              <a:off x="982980" y="3162300"/>
              <a:ext cx="402355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from a model trained on natural images —</a:t>
              </a:r>
            </a:p>
          </p:txBody>
        </p:sp>
        <p:sp>
          <p:nvSpPr>
            <p:cNvPr id="12" name="TextBox 12"/>
            <p:cNvSpPr txBox="1"/>
            <p:nvPr/>
          </p:nvSpPr>
          <p:spPr>
            <a:xfrm>
              <a:off x="982980" y="3438525"/>
              <a:ext cx="338646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while costing far more compute.</a:t>
              </a:r>
            </a:p>
          </p:txBody>
        </p:sp>
      </p:grpSp>
      <p:grpSp>
        <p:nvGrpSpPr>
          <p:cNvPr id="21" name="Group 21"/>
          <p:cNvGrpSpPr/>
          <p:nvPr/>
        </p:nvGrpSpPr>
        <p:grpSpPr>
          <a:xfrm>
            <a:off x="6286500" y="1714500"/>
            <a:ext cx="5219700" cy="2247900"/>
            <a:chOff x="6286500" y="1714500"/>
            <a:chExt cx="5219700" cy="2247900"/>
          </a:xfrm>
        </p:grpSpPr>
        <p:sp>
          <p:nvSpPr>
            <p:cNvPr id="14" name="Rectangle 14"/>
            <p:cNvSpPr/>
            <p:nvPr/>
          </p:nvSpPr>
          <p:spPr>
            <a:xfrm>
              <a:off x="6286500" y="1714500"/>
              <a:ext cx="5219700" cy="2247900"/>
            </a:xfrm>
            <a:prstGeom prst="roundRect">
              <a:avLst>
                <a:gd name="adj" fmla="val 5932"/>
              </a:avLst>
            </a:prstGeom>
            <a:solidFill>
              <a:schemeClr val="lt2"/>
            </a:solidFill>
            <a:ln w="9525">
              <a:solidFill>
                <a:schemeClr val="accent4"/>
              </a:solidFill>
            </a:ln>
          </p:spPr>
        </p:sp>
        <p:sp>
          <p:nvSpPr>
            <p:cNvPr id="15" name="Rectangle 15"/>
            <p:cNvSpPr/>
            <p:nvPr/>
          </p:nvSpPr>
          <p:spPr>
            <a:xfrm>
              <a:off x="6286500" y="1714500"/>
              <a:ext cx="76200" cy="2247900"/>
            </a:xfrm>
            <a:prstGeom prst="roundRect">
              <a:avLst>
                <a:gd name="adj" fmla="val 50000"/>
              </a:avLst>
            </a:prstGeom>
            <a:solidFill>
              <a:schemeClr val="accent5"/>
            </a:solidFill>
            <a:ln>
              <a:noFill/>
            </a:ln>
          </p:spPr>
        </p:sp>
        <p:sp>
          <p:nvSpPr>
            <p:cNvPr id="16" name="TextBox 16"/>
            <p:cNvSpPr txBox="1"/>
            <p:nvPr/>
          </p:nvSpPr>
          <p:spPr>
            <a:xfrm>
              <a:off x="6582156" y="1920240"/>
              <a:ext cx="3678778" cy="352044"/>
            </a:xfrm>
            <a:prstGeom prst="rect">
              <a:avLst/>
            </a:prstGeom>
            <a:noFill/>
            <a:ln>
              <a:noFill/>
            </a:ln>
          </p:spPr>
          <p:txBody>
            <a:bodyPr wrap="none" lIns="0" tIns="0" rIns="0" bIns="0" anchor="t" anchorCtr="0">
              <a:spAutoFit/>
            </a:bodyPr>
            <a:lstStyle/>
            <a:p>
              <a:pPr algn="l"/>
              <a:r>
                <a:rPr lang="en-US" sz="1800" b="1" dirty="0">
                  <a:solidFill>
                    <a:schemeClr val="accent5"/>
                  </a:solidFill>
                  <a:latin typeface="+mn-lt"/>
                  <a:ea typeface="+mn-ea"/>
                  <a:cs typeface="+mn-cs"/>
                </a:rPr>
                <a:t>✓ A real leap over prior work</a:t>
              </a:r>
            </a:p>
          </p:txBody>
        </p:sp>
        <p:sp>
          <p:nvSpPr>
            <p:cNvPr id="17" name="TextBox 17"/>
            <p:cNvSpPr txBox="1"/>
            <p:nvPr/>
          </p:nvSpPr>
          <p:spPr>
            <a:xfrm>
              <a:off x="6583680" y="2333625"/>
              <a:ext cx="387871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Yet both approaches deliver a dramatic</a:t>
              </a:r>
            </a:p>
          </p:txBody>
        </p:sp>
        <p:sp>
          <p:nvSpPr>
            <p:cNvPr id="18" name="TextBox 18"/>
            <p:cNvSpPr txBox="1"/>
            <p:nvPr/>
          </p:nvSpPr>
          <p:spPr>
            <a:xfrm>
              <a:off x="6583680" y="2609850"/>
              <a:ext cx="412451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improvement over the previous state-of-</a:t>
              </a:r>
            </a:p>
          </p:txBody>
        </p:sp>
        <p:sp>
          <p:nvSpPr>
            <p:cNvPr id="19" name="TextBox 19"/>
            <p:cNvSpPr txBox="1"/>
            <p:nvPr/>
          </p:nvSpPr>
          <p:spPr>
            <a:xfrm>
              <a:off x="6583680" y="2886075"/>
              <a:ext cx="359947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the-art CmWV classifier for reading</a:t>
              </a:r>
            </a:p>
          </p:txBody>
        </p:sp>
        <p:sp>
          <p:nvSpPr>
            <p:cNvPr id="20" name="TextBox 20"/>
            <p:cNvSpPr txBox="1"/>
            <p:nvPr/>
          </p:nvSpPr>
          <p:spPr>
            <a:xfrm>
              <a:off x="6583680" y="3162300"/>
              <a:ext cx="421538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atmospheric phenomena from ocean radar.</a:t>
              </a:r>
            </a:p>
          </p:txBody>
        </p:sp>
      </p:grpSp>
      <p:grpSp>
        <p:nvGrpSpPr>
          <p:cNvPr id="28" name="Group 28"/>
          <p:cNvGrpSpPr/>
          <p:nvPr/>
        </p:nvGrpSpPr>
        <p:grpSpPr>
          <a:xfrm>
            <a:off x="685800" y="4191000"/>
            <a:ext cx="6858000" cy="1905000"/>
            <a:chOff x="685800" y="4191000"/>
            <a:chExt cx="6858000" cy="1905000"/>
          </a:xfrm>
        </p:grpSpPr>
        <p:sp>
          <p:nvSpPr>
            <p:cNvPr id="22" name="Rectangle 22"/>
            <p:cNvSpPr/>
            <p:nvPr/>
          </p:nvSpPr>
          <p:spPr>
            <a:xfrm>
              <a:off x="685800" y="4191000"/>
              <a:ext cx="6858000" cy="1905000"/>
            </a:xfrm>
            <a:prstGeom prst="roundRect">
              <a:avLst>
                <a:gd name="adj" fmla="val 7000"/>
              </a:avLst>
            </a:prstGeom>
            <a:solidFill>
              <a:schemeClr val="lt2"/>
            </a:solidFill>
            <a:ln w="9525">
              <a:solidFill>
                <a:schemeClr val="accent4"/>
              </a:solidFill>
            </a:ln>
          </p:spPr>
        </p:sp>
        <p:sp>
          <p:nvSpPr>
            <p:cNvPr id="23" name="Rectangle 23"/>
            <p:cNvSpPr/>
            <p:nvPr/>
          </p:nvSpPr>
          <p:spPr>
            <a:xfrm>
              <a:off x="685800" y="4191000"/>
              <a:ext cx="76200" cy="1905000"/>
            </a:xfrm>
            <a:prstGeom prst="roundRect">
              <a:avLst>
                <a:gd name="adj" fmla="val 50000"/>
              </a:avLst>
            </a:prstGeom>
            <a:solidFill>
              <a:schemeClr val="accent1"/>
            </a:solidFill>
            <a:ln>
              <a:noFill/>
            </a:ln>
          </p:spPr>
        </p:sp>
        <p:sp>
          <p:nvSpPr>
            <p:cNvPr id="24" name="TextBox 24"/>
            <p:cNvSpPr txBox="1"/>
            <p:nvPr/>
          </p:nvSpPr>
          <p:spPr>
            <a:xfrm>
              <a:off x="1058799" y="4592479"/>
              <a:ext cx="4947865"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 xml:space="preserve">The idea still holds </a:t>
              </a:r>
              <a:r>
                <a:rPr lang="en-US" sz="1580" b="1" dirty="0">
                  <a:solidFill>
                    <a:schemeClr val="accent1"/>
                  </a:solidFill>
                  <a:latin typeface="+mn-lt"/>
                  <a:ea typeface="+mn-ea"/>
                  <a:cs typeface="+mn-cs"/>
                </a:rPr>
                <a:t>promise</a:t>
              </a:r>
              <a:r>
                <a:rPr lang="en-US" sz="1580" b="1" dirty="0">
                  <a:solidFill>
                    <a:schemeClr val="dk1"/>
                  </a:solidFill>
                  <a:latin typeface="+mn-lt"/>
                  <a:ea typeface="+mn-ea"/>
                  <a:cs typeface="+mn-cs"/>
                </a:rPr>
                <a:t xml:space="preserve"> — longer training,</a:t>
              </a:r>
            </a:p>
          </p:txBody>
        </p:sp>
        <p:sp>
          <p:nvSpPr>
            <p:cNvPr id="25" name="TextBox 25"/>
            <p:cNvSpPr txBox="1"/>
            <p:nvPr/>
          </p:nvSpPr>
          <p:spPr>
            <a:xfrm>
              <a:off x="1058799" y="4897279"/>
              <a:ext cx="4828862"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better tuning, and remote-sensing-specific</a:t>
              </a:r>
            </a:p>
          </p:txBody>
        </p:sp>
        <p:sp>
          <p:nvSpPr>
            <p:cNvPr id="26" name="TextBox 26"/>
            <p:cNvSpPr txBox="1"/>
            <p:nvPr/>
          </p:nvSpPr>
          <p:spPr>
            <a:xfrm>
              <a:off x="1058799" y="5202079"/>
              <a:ext cx="4538527"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pretext tasks deserve exploration first.</a:t>
              </a:r>
            </a:p>
          </p:txBody>
        </p:sp>
        <p:sp>
          <p:nvSpPr>
            <p:cNvPr id="27" name="TextBox 27"/>
            <p:cNvSpPr txBox="1"/>
            <p:nvPr/>
          </p:nvSpPr>
          <p:spPr>
            <a:xfrm>
              <a:off x="1060704" y="5642610"/>
              <a:ext cx="465173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Glaser · Sadowski · Stopa — University of Hawaiʻi at Mānoa</a:t>
              </a:r>
            </a:p>
          </p:txBody>
        </p:sp>
      </p:grpSp>
      <p:sp>
        <p:nvSpPr>
          <p:cNvPr id="29" name="Rectangle 29"/>
          <p:cNvSpPr/>
          <p:nvPr/>
        </p:nvSpPr>
        <p:spPr>
          <a:xfrm>
            <a:off x="7734300" y="4191000"/>
            <a:ext cx="3771900" cy="1905000"/>
          </a:xfrm>
          <a:prstGeom prst="roundRect">
            <a:avLst>
              <a:gd name="adj" fmla="val 7000"/>
            </a:avLst>
          </a:prstGeom>
          <a:solidFill>
            <a:schemeClr val="lt2"/>
          </a:solidFill>
          <a:ln w="9525">
            <a:solidFill>
              <a:schemeClr val="accent4"/>
            </a:solidFill>
          </a:ln>
        </p:spPr>
        <p:txBody>
          <a:bodyPr/>
          <a:p/>
        </p:txBody>
      </p:sp>
      <p:pic>
        <p:nvPicPr>
          <p:cNvPr id="30" name="Image 30"/>
          <p:cNvPicPr>
            <a:picLocks noChangeAspect="1"/>
          </p:cNvPicPr>
          <p:nvPr/>
        </p:nvPicPr>
        <p:blipFill>
          <a:blip r:embed="rId2"/>
          <a:stretch>
            <a:fillRect/>
          </a:stretch>
        </p:blipFill>
        <p:spPr>
          <a:xfrm>
            <a:off x="7962900" y="4238625"/>
            <a:ext cx="1809750" cy="1809750"/>
          </a:xfrm>
          <a:prstGeom prst="rect">
            <a:avLst/>
          </a:prstGeom>
        </p:spPr>
      </p:pic>
      <p:sp>
        <p:nvSpPr>
          <p:cNvPr id="31" name="TextBox 31"/>
          <p:cNvSpPr txBox="1"/>
          <p:nvPr/>
        </p:nvSpPr>
        <p:spPr>
          <a:xfrm>
            <a:off x="10033254" y="4747260"/>
            <a:ext cx="830641" cy="234696"/>
          </a:xfrm>
          <a:prstGeom prst="rect">
            <a:avLst/>
          </a:prstGeom>
          <a:noFill/>
          <a:ln>
            <a:noFill/>
          </a:ln>
        </p:spPr>
        <p:txBody>
          <a:bodyPr wrap="none" lIns="0" tIns="0" rIns="0" bIns="0" anchor="t" anchorCtr="0">
            <a:spAutoFit/>
          </a:bodyPr>
          <a:lstStyle/>
          <a:p>
            <a:pPr algn="l"/>
            <a:r>
              <a:rPr lang="en-US" sz="1200" b="1" spc="75" dirty="0">
                <a:solidFill>
                  <a:schemeClr val="dk2"/>
                </a:solidFill>
                <a:latin typeface="+mn-lt"/>
                <a:ea typeface="+mn-ea"/>
                <a:cs typeface="+mn-cs"/>
              </a:rPr>
              <a:t>READ THE</a:t>
            </a:r>
          </a:p>
        </p:txBody>
      </p:sp>
      <p:sp>
        <p:nvSpPr>
          <p:cNvPr id="32" name="TextBox 32"/>
          <p:cNvSpPr txBox="1"/>
          <p:nvPr/>
        </p:nvSpPr>
        <p:spPr>
          <a:xfrm>
            <a:off x="10033254" y="4975860"/>
            <a:ext cx="547726" cy="234696"/>
          </a:xfrm>
          <a:prstGeom prst="rect">
            <a:avLst/>
          </a:prstGeom>
          <a:noFill/>
          <a:ln>
            <a:noFill/>
          </a:ln>
        </p:spPr>
        <p:txBody>
          <a:bodyPr wrap="none" lIns="0" tIns="0" rIns="0" bIns="0" anchor="t" anchorCtr="0">
            <a:spAutoFit/>
          </a:bodyPr>
          <a:lstStyle/>
          <a:p>
            <a:pPr algn="l"/>
            <a:r>
              <a:rPr lang="en-US" sz="1200" b="1" spc="75" dirty="0">
                <a:solidFill>
                  <a:schemeClr val="dk2"/>
                </a:solidFill>
                <a:latin typeface="+mn-lt"/>
                <a:ea typeface="+mn-ea"/>
                <a:cs typeface="+mn-cs"/>
              </a:rPr>
              <a:t>PAPER</a:t>
            </a:r>
          </a:p>
        </p:txBody>
      </p:sp>
      <p:sp>
        <p:nvSpPr>
          <p:cNvPr id="33" name="TextBox 33"/>
          <p:cNvSpPr txBox="1"/>
          <p:nvPr/>
        </p:nvSpPr>
        <p:spPr>
          <a:xfrm>
            <a:off x="10033635" y="5269706"/>
            <a:ext cx="96090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NeurIPS 2022</a:t>
            </a:r>
          </a:p>
        </p:txBody>
      </p:sp>
      <p:sp>
        <p:nvSpPr>
          <p:cNvPr id="34" name="cue_s10_c1_honest_takeaway_self_supervised_cont" title="cue_s10_c1_honest_takeaway_self_supervised_cont" descr="cue_s10_c1_honest_takeaway_self_supervised_cont The honest takeaway is that self-supervised contrastive learning, at least in this preliminary study, offers only marginal gains over simply transferring features from a model trained on natural images, while costing far more compute."/>
          <p:cNvSpPr/>
          <p:nvPr/>
        </p:nvSpPr>
        <p:spPr>
          <a:xfrm>
            <a:off x="686409" y="1714500"/>
            <a:ext cx="5219395" cy="22480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10_c2_yet_both_approaches_deliver_dramatic" title="cue_s10_c2_yet_both_approaches_deliver_dramatic" descr="cue_s10_c2_yet_both_approaches_deliver_dramatic Yet both approaches deliver a dramatic improvement over the previous state-of-the-art classifier for reading atmospheric phenomena from ocean radar."/>
          <p:cNvSpPr/>
          <p:nvPr/>
        </p:nvSpPr>
        <p:spPr>
          <a:xfrm>
            <a:off x="6286195" y="1714500"/>
            <a:ext cx="5219395" cy="22480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10_c3_authors_argue_idea_still_holds" title="cue_s10_c3_authors_argue_idea_still_holds" descr="cue_s10_c3_authors_argue_idea_still_holds The authors argue the idea still holds promise, and that longer training, better tuning, and pretext tasks designed for remote sensing deserve exploration before drawing final conclusions."/>
          <p:cNvSpPr/>
          <p:nvPr/>
        </p:nvSpPr>
        <p:spPr>
          <a:xfrm>
            <a:off x="686409" y="4190923"/>
            <a:ext cx="6858000"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12212B"/>
      </a:dk1>
      <a:lt1>
        <a:srgbClr val="FFFFFF"/>
      </a:lt1>
      <a:dk2>
        <a:srgbClr val="5E6E7A"/>
      </a:dk2>
      <a:lt2>
        <a:srgbClr val="F3F6F9"/>
      </a:lt2>
      <a:accent1>
        <a:srgbClr val="0B6E9E"/>
      </a:accent1>
      <a:accent2>
        <a:srgbClr val="D2492A"/>
      </a:accent2>
      <a:accent3>
        <a:srgbClr val="D2492A"/>
      </a:accent3>
      <a:accent4>
        <a:srgbClr val="D5DEE5"/>
      </a:accent4>
      <a:accent5>
        <a:srgbClr val="1E8E5A"/>
      </a:accent5>
      <a:accent6>
        <a:srgbClr val="9AA7B1"/>
      </a:accent6>
      <a:hlink>
        <a:srgbClr val="D2492A"/>
      </a:hlink>
      <a:folHlink>
        <a:srgbClr val="D2492A"/>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2026-07-15T15:53:47Z</dcterms:created>
  <dcterms:modified xsi:type="dcterms:W3CDTF">2026-07-15T15:53:47Z</dcterms:modified>
  <cp:category/>
  <cp:contentStatus/>
</cp:coreProperties>
</file>
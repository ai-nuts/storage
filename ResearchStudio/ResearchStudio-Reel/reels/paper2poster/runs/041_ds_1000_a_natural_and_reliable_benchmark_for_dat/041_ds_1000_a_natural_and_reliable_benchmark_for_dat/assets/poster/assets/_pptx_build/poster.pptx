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22016"/>
          </a:xfrm>
          <a:prstGeom prst="roundRect">
            <a:avLst>
              <a:gd name="adj" fmla="val 2832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195357"/>
            <a:ext cx="10804961" cy="8710811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6195357"/>
            <a:ext cx="13506133" cy="23876595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6195357"/>
            <a:ext cx="13506271" cy="6601520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6195357"/>
            <a:ext cx="10804962" cy="6097568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2624772"/>
            <a:ext cx="10804962" cy="12152213"/>
          </a:xfrm>
          <a:prstGeom prst="roundRect">
            <a:avLst>
              <a:gd name="adj" fmla="val 658"/>
            </a:avLst>
          </a:prstGeom>
          <a:solidFill>
            <a:srgbClr val="ECF3EE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2624772"/>
            <a:ext cx="53340" cy="12152213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816421" y="13128724"/>
            <a:ext cx="13506271" cy="8384659"/>
          </a:xfrm>
          <a:prstGeom prst="roundRect">
            <a:avLst>
              <a:gd name="adj" fmla="val 84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5238015"/>
            <a:ext cx="10804961" cy="14833937"/>
          </a:xfrm>
          <a:prstGeom prst="roundRect">
            <a:avLst>
              <a:gd name="adj" fmla="val 65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816421" y="21845230"/>
            <a:ext cx="13506271" cy="8226722"/>
          </a:xfrm>
          <a:prstGeom prst="roundRect">
            <a:avLst>
              <a:gd name="adj" fmla="val 86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5108832"/>
            <a:ext cx="10804962" cy="4963120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9991" y="6583461"/>
            <a:ext cx="1002875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6583461"/>
            <a:ext cx="1002875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7591365"/>
            <a:ext cx="1002875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6583461"/>
            <a:ext cx="12729925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71672" y="6583461"/>
            <a:ext cx="12729925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7591365"/>
            <a:ext cx="12729925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04525" y="6583461"/>
            <a:ext cx="127300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04525" y="6583461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204525" y="7591365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137516" y="6583461"/>
            <a:ext cx="1002875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6583461"/>
            <a:ext cx="1002875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7591365"/>
            <a:ext cx="1002875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137516" y="8009056"/>
            <a:ext cx="10028754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81966" y="13012876"/>
            <a:ext cx="9984304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81966" y="13012876"/>
            <a:ext cx="998430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14020780"/>
            <a:ext cx="998430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04525" y="13516828"/>
            <a:ext cx="127300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204525" y="13516828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204525" y="14524732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9991" y="15626119"/>
            <a:ext cx="1002875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9991" y="15626119"/>
            <a:ext cx="1002875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9991" y="16634023"/>
            <a:ext cx="1002875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271672" y="18410773"/>
            <a:ext cx="12729925" cy="4184828"/>
          </a:xfrm>
          <a:prstGeom prst="roundRect">
            <a:avLst>
              <a:gd name="adj" fmla="val 4361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71672" y="18410773"/>
            <a:ext cx="124460" cy="418482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19407981"/>
            <a:ext cx="1273006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04525" y="19407981"/>
            <a:ext cx="1273006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181966" y="21318497"/>
            <a:ext cx="9984304" cy="3024823"/>
          </a:xfrm>
          <a:prstGeom prst="roundRect">
            <a:avLst>
              <a:gd name="adj" fmla="val 6896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204525" y="22233334"/>
            <a:ext cx="127300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204525" y="22233334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204525" y="23241238"/>
            <a:ext cx="12730063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204525" y="26621382"/>
            <a:ext cx="12730063" cy="29111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204525" y="26621382"/>
            <a:ext cx="1273006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the-university-of-hong-k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1608" y="3242913"/>
            <a:ext cx="4488477" cy="880094"/>
          </a:xfrm>
          <a:prstGeom prst="rect">
            <a:avLst/>
          </a:prstGeom>
        </p:spPr>
      </p:pic>
      <p:pic>
        <p:nvPicPr>
          <p:cNvPr id="47" name="Picture 46" descr="peking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7060" y="3242946"/>
            <a:ext cx="882471" cy="880027"/>
          </a:xfrm>
          <a:prstGeom prst="rect">
            <a:avLst/>
          </a:prstGeom>
        </p:spPr>
      </p:pic>
      <p:pic>
        <p:nvPicPr>
          <p:cNvPr id="48" name="Picture 47" descr="carnegie-mellon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6505" y="3242905"/>
            <a:ext cx="9779000" cy="880110"/>
          </a:xfrm>
          <a:prstGeom prst="rect">
            <a:avLst/>
          </a:prstGeom>
        </p:spPr>
      </p:pic>
      <p:pic>
        <p:nvPicPr>
          <p:cNvPr id="49" name="Picture 48" descr="stanford-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96433" y="4288880"/>
            <a:ext cx="4198858" cy="880088"/>
          </a:xfrm>
          <a:prstGeom prst="rect">
            <a:avLst/>
          </a:prstGeom>
        </p:spPr>
      </p:pic>
      <p:pic>
        <p:nvPicPr>
          <p:cNvPr id="50" name="Picture 49" descr="university-of-california-berkel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2265" y="4288890"/>
            <a:ext cx="2782570" cy="880068"/>
          </a:xfrm>
          <a:prstGeom prst="rect">
            <a:avLst/>
          </a:prstGeom>
        </p:spPr>
      </p:pic>
      <p:pic>
        <p:nvPicPr>
          <p:cNvPr id="51" name="Picture 50" descr="university-of-washingt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51810" y="4288869"/>
            <a:ext cx="4133850" cy="880110"/>
          </a:xfrm>
          <a:prstGeom prst="rect">
            <a:avLst/>
          </a:prstGeom>
        </p:spPr>
      </p:pic>
      <p:pic>
        <p:nvPicPr>
          <p:cNvPr id="52" name="Picture 51" descr="meta-platform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22634" y="4288880"/>
            <a:ext cx="4368184" cy="880088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45724187" y="8231306"/>
            <a:ext cx="4196218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4187" y="8231306"/>
            <a:ext cx="11557" cy="3481824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6204525" y="10539789"/>
            <a:ext cx="201469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NumPy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375629" y="10539789"/>
            <a:ext cx="206428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Pandas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596324" y="10539789"/>
            <a:ext cx="2941895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TensorFlow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694627" y="10539789"/>
            <a:ext cx="2228196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PyTorch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079231" y="10539789"/>
            <a:ext cx="1695073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SciPy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204525" y="11516022"/>
            <a:ext cx="2877304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Scikit-learn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238237" y="11516022"/>
            <a:ext cx="2580323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Matplotlib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761178" y="18567181"/>
            <a:ext cx="229903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RELIABLE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48881" y="22823269"/>
            <a:ext cx="10010834" cy="5025211"/>
          </a:xfrm>
          <a:prstGeom prst="roundRect">
            <a:avLst>
              <a:gd name="adj" fmla="val 70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figure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923" y="22823269"/>
            <a:ext cx="10010750" cy="5025211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12271672" y="23190398"/>
            <a:ext cx="12729925" cy="5124390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figure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71816" y="23190398"/>
            <a:ext cx="12729637" cy="512439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2716450" y="25496936"/>
            <a:ext cx="3520440" cy="3520440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pap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34983" y="25615469"/>
            <a:ext cx="3283373" cy="3283374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46628050" y="25496936"/>
            <a:ext cx="3520440" cy="3520440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46583" y="25615469"/>
            <a:ext cx="3283373" cy="3283374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40137516" y="26071869"/>
            <a:ext cx="2205554" cy="1181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0137516" y="26071869"/>
            <a:ext cx="220555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137516" y="27226458"/>
            <a:ext cx="2205554" cy="2667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3848674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2D5F3E"/>
                </a:solidFill>
                <a:latin typeface="Arial"/>
              </a:rPr>
              <a:t>Paper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804585" y="29159616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2D5F3E"/>
                </a:solidFill>
                <a:latin typeface="Arial"/>
              </a:rPr>
              <a:t>Code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204525" y="15189537"/>
            <a:ext cx="5654595" cy="81440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204525" y="15995054"/>
            <a:ext cx="5654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859120" y="15189537"/>
            <a:ext cx="3975775" cy="81440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859120" y="15995054"/>
            <a:ext cx="39757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834895" y="15189537"/>
            <a:ext cx="3099693" cy="81440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834895" y="15995054"/>
            <a:ext cx="309969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204525" y="16003944"/>
            <a:ext cx="5654595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204525" y="16813907"/>
            <a:ext cx="5654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859120" y="16003944"/>
            <a:ext cx="3975775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859120" y="16813907"/>
            <a:ext cx="39757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5834895" y="16003944"/>
            <a:ext cx="3099693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5834895" y="16813907"/>
            <a:ext cx="309969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204525" y="16822797"/>
            <a:ext cx="565459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204525" y="17632759"/>
            <a:ext cx="5654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859120" y="16822797"/>
            <a:ext cx="397577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859120" y="17632759"/>
            <a:ext cx="39757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834895" y="16822797"/>
            <a:ext cx="309969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834895" y="17632759"/>
            <a:ext cx="309969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204525" y="17641649"/>
            <a:ext cx="565459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204525" y="18451611"/>
            <a:ext cx="5654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859120" y="17641649"/>
            <a:ext cx="397577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1859120" y="18451611"/>
            <a:ext cx="39757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5834895" y="17641649"/>
            <a:ext cx="309969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834895" y="18451611"/>
            <a:ext cx="309969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6204525" y="18460501"/>
            <a:ext cx="5654595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204525" y="19270464"/>
            <a:ext cx="565459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859120" y="18460501"/>
            <a:ext cx="3975775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1859120" y="19270464"/>
            <a:ext cx="39757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834895" y="18460501"/>
            <a:ext cx="3099693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5834895" y="19270464"/>
            <a:ext cx="309969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204525" y="23804086"/>
            <a:ext cx="5536525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204525" y="24501673"/>
            <a:ext cx="553652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1741050" y="23804086"/>
            <a:ext cx="4096901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1741050" y="24501673"/>
            <a:ext cx="409690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5837951" y="23804086"/>
            <a:ext cx="3096637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5837951" y="24501673"/>
            <a:ext cx="309663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204525" y="24510563"/>
            <a:ext cx="55365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204525" y="25446791"/>
            <a:ext cx="553652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1741050" y="24510563"/>
            <a:ext cx="409690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1741050" y="25446791"/>
            <a:ext cx="409690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5837951" y="24510563"/>
            <a:ext cx="309663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5837951" y="25446791"/>
            <a:ext cx="309663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204525" y="25455681"/>
            <a:ext cx="55365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204525" y="26391909"/>
            <a:ext cx="553652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741050" y="25455681"/>
            <a:ext cx="409690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741050" y="26391909"/>
            <a:ext cx="4096901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5837951" y="25455681"/>
            <a:ext cx="309663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837951" y="26391909"/>
            <a:ext cx="309663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0137516" y="27442735"/>
            <a:ext cx="2205554" cy="1666042"/>
          </a:xfrm>
          <a:prstGeom prst="roundRect">
            <a:avLst>
              <a:gd name="adj" fmla="val 8537"/>
            </a:avLst>
          </a:prstGeom>
          <a:solidFill>
            <a:srgbClr val="E6F0EA"/>
          </a:solidFill>
          <a:ln w="1778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15581" y="1007487"/>
            <a:ext cx="32191245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98"/>
              </a:lnSpc>
              <a:spcBef>
                <a:spcPts val="0"/>
              </a:spcBef>
              <a:spcAft>
                <a:spcPts val="0"/>
              </a:spcAft>
            </a:pPr>
            <a:r>
              <a:rPr sz="7775" b="1" spc="-82">
                <a:solidFill>
                  <a:srgbClr val="2D5F3E"/>
                </a:solidFill>
                <a:latin typeface="Arial"/>
              </a:rPr>
              <a:t>DS-1000: A Natural and Reliable Benchmark for Data Science</a:t>
            </a:r>
          </a:p>
          <a:p>
            <a:pPr algn="l">
              <a:lnSpc>
                <a:spcPts val="8398"/>
              </a:lnSpc>
              <a:spcBef>
                <a:spcPts val="0"/>
              </a:spcBef>
              <a:spcAft>
                <a:spcPts val="0"/>
              </a:spcAft>
            </a:pPr>
            <a:r>
              <a:rPr sz="7775" b="1" spc="-82">
                <a:solidFill>
                  <a:srgbClr val="2D5F3E"/>
                </a:solidFill>
                <a:latin typeface="Arial"/>
              </a:rPr>
              <a:t>Code Generation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15581" y="3489741"/>
            <a:ext cx="32191245" cy="14884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Yuhang Lai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Chengxi Li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Yiming Wang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Tianyi Zhang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Ruiqi Zhong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920" b="0">
                <a:solidFill>
                  <a:srgbClr val="1B2331"/>
                </a:solidFill>
                <a:latin typeface="Arial"/>
              </a:rPr>
              <a:t>, Luke Zettlemoyer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5,6</a:t>
            </a:r>
            <a:r>
              <a:rPr sz="3920" b="0">
                <a:solidFill>
                  <a:srgbClr val="1B2331"/>
                </a:solidFill>
                <a:latin typeface="Arial"/>
              </a:rPr>
              <a:t>, Scott Wen-tau Yih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6</a:t>
            </a:r>
            <a:r>
              <a:rPr sz="3920" b="0">
                <a:solidFill>
                  <a:srgbClr val="1B2331"/>
                </a:solidFill>
                <a:latin typeface="Arial"/>
              </a:rPr>
              <a:t>, Daniel Fried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7</a:t>
            </a:r>
            <a:r>
              <a:rPr sz="3920" b="0">
                <a:solidFill>
                  <a:srgbClr val="1B2331"/>
                </a:solidFill>
                <a:latin typeface="Arial"/>
              </a:rPr>
              <a:t>, Sida Wang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6</a:t>
            </a:r>
            <a:r>
              <a:rPr sz="3920" b="0">
                <a:solidFill>
                  <a:srgbClr val="1B2331"/>
                </a:solidFill>
                <a:latin typeface="Arial"/>
              </a:rPr>
              <a:t>, Tao</a:t>
            </a:r>
          </a:p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Yu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15581" y="4837132"/>
            <a:ext cx="32191245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The University of Hong Kong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Peking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Stanford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UC Berkeley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Washington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Meta AI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7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Carnegie Mellon University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9991" y="6583461"/>
            <a:ext cx="1032961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271672" y="6583461"/>
            <a:ext cx="13111822" cy="1189760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204525" y="6583461"/>
            <a:ext cx="1311196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Dataset / Benchmark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137516" y="6583461"/>
            <a:ext cx="10329616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9991" y="8207692"/>
            <a:ext cx="10329615" cy="69570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Existing code benchmarks target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competition or interview-style puzzles.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They lack naturalistic data science context,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often score answers with unreliable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surface metrics like </a:t>
            </a:r>
            <a:r>
              <a:rPr sz="4106" b="1">
                <a:solidFill>
                  <a:srgbClr val="111111"/>
                </a:solidFill>
                <a:latin typeface="Arial"/>
              </a:rPr>
              <a:t>BLEU</a:t>
            </a:r>
            <a:r>
              <a:rPr sz="4106" b="0">
                <a:solidFill>
                  <a:srgbClr val="1C1C1C"/>
                </a:solidFill>
                <a:latin typeface="Arial"/>
              </a:rPr>
              <a:t>. No prior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 combined naturally occurring,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diverse-context problems with reliable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execution-based evaluation.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181966" y="13012876"/>
            <a:ext cx="1028383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204525" y="13516828"/>
            <a:ext cx="1311196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181966" y="14687807"/>
            <a:ext cx="10283833" cy="69570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DS-1000 is a realistic, reliably evaluated,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memorization-resistant benchmark 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which even the best code model reaches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only </a:t>
            </a:r>
            <a:r>
              <a:rPr sz="4106" b="1">
                <a:solidFill>
                  <a:srgbClr val="111111"/>
                </a:solidFill>
                <a:latin typeface="Arial"/>
              </a:rPr>
              <a:t>43.3%</a:t>
            </a:r>
            <a:r>
              <a:rPr sz="4106" b="0">
                <a:solidFill>
                  <a:srgbClr val="1C1C1C"/>
                </a:solidFill>
                <a:latin typeface="Arial"/>
              </a:rPr>
              <a:t> — exposing a large gap in data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science code generation. Its execution-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based metric and perturbation strategy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keep the benchmark trustworthy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genuinely hard to game.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39991" y="15626119"/>
            <a:ext cx="10329615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204525" y="19407981"/>
            <a:ext cx="1311196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DS-1000 separates model strength (7.4% → 43.3%); Insertion adds +4.1% for Codex-002.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181966" y="21318497"/>
            <a:ext cx="10283833" cy="3478546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Natural problems + execution-based,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multi-criteria evaluation +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perturbation = a trustworthy, hard-to-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game standard.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204525" y="22233334"/>
            <a:ext cx="13111964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204525" y="26621382"/>
            <a:ext cx="13111964" cy="3347877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 memorization-prone numpy-100, Codex-002 collapses after perturbation while DS-1000 barely moves — in 36% of semantic cases the model still returns the original answer.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204506" y="8013362"/>
            <a:ext cx="1311198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1000 problems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</a:t>
            </a:r>
            <a:r>
              <a:rPr sz="4106" b="1">
                <a:solidFill>
                  <a:srgbClr val="111111"/>
                </a:solidFill>
                <a:latin typeface="Arial"/>
              </a:rPr>
              <a:t>451 unique</a:t>
            </a:r>
            <a:r>
              <a:rPr sz="4106" b="0">
                <a:solidFill>
                  <a:srgbClr val="1C1C1C"/>
                </a:solidFill>
                <a:latin typeface="Arial"/>
              </a:rPr>
              <a:t> StackOverflow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posts; over half are perturbed against memorization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</a:t>
            </a:r>
            <a:r>
              <a:rPr sz="4106" b="1">
                <a:solidFill>
                  <a:srgbClr val="111111"/>
                </a:solidFill>
                <a:latin typeface="Arial"/>
              </a:rPr>
              <a:t>152</a:t>
            </a:r>
            <a:r>
              <a:rPr sz="4106" b="0">
                <a:solidFill>
                  <a:srgbClr val="1C1C1C"/>
                </a:solidFill>
                <a:latin typeface="Arial"/>
              </a:rPr>
              <a:t> surface, </a:t>
            </a:r>
            <a:r>
              <a:rPr sz="4106" b="1">
                <a:solidFill>
                  <a:srgbClr val="111111"/>
                </a:solidFill>
                <a:latin typeface="Arial"/>
              </a:rPr>
              <a:t>235</a:t>
            </a:r>
            <a:r>
              <a:rPr sz="4106" b="0">
                <a:solidFill>
                  <a:srgbClr val="1C1C1C"/>
                </a:solidFill>
                <a:latin typeface="Arial"/>
              </a:rPr>
              <a:t> semantic, </a:t>
            </a:r>
            <a:r>
              <a:rPr sz="4106" b="1">
                <a:solidFill>
                  <a:srgbClr val="111111"/>
                </a:solidFill>
                <a:latin typeface="Arial"/>
              </a:rPr>
              <a:t>162</a:t>
            </a:r>
            <a:r>
              <a:rPr sz="4106" b="0">
                <a:solidFill>
                  <a:srgbClr val="1C1C1C"/>
                </a:solidFill>
                <a:latin typeface="Arial"/>
              </a:rPr>
              <a:t> difficult rewrites).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271654" y="8272145"/>
            <a:ext cx="13111841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Select &amp; rewrite</a:t>
            </a:r>
            <a:r>
              <a:rPr sz="4106" b="0">
                <a:solidFill>
                  <a:srgbClr val="1C1C1C"/>
                </a:solidFill>
                <a:latin typeface="Arial"/>
              </a:rPr>
              <a:t> high-vote, testable, useful,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representative StackOverflow posts, then </a:t>
            </a:r>
            <a:r>
              <a:rPr sz="4106" b="1">
                <a:solidFill>
                  <a:srgbClr val="111111"/>
                </a:solidFill>
                <a:latin typeface="Arial"/>
              </a:rPr>
              <a:t>add code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context</a:t>
            </a:r>
            <a:r>
              <a:rPr sz="4106" b="0">
                <a:solidFill>
                  <a:srgbClr val="1C1C1C"/>
                </a:solidFill>
                <a:latin typeface="Arial"/>
              </a:rPr>
              <a:t> with insertion markers.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271654" y="10723284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Implement automatic tests</a:t>
            </a:r>
            <a:r>
              <a:rPr sz="4106" b="0">
                <a:solidFill>
                  <a:srgbClr val="1C1C1C"/>
                </a:solidFill>
                <a:latin typeface="Arial"/>
              </a:rPr>
              <a:t> — execute test cases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check surface-form (API / keyword) constraints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 the syntax tree.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271654" y="13174424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Perturb</a:t>
            </a:r>
            <a:r>
              <a:rPr sz="4106" b="0">
                <a:solidFill>
                  <a:srgbClr val="1C1C1C"/>
                </a:solidFill>
                <a:latin typeface="Arial"/>
              </a:rPr>
              <a:t> each problem to defend against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memorization, then </a:t>
            </a:r>
            <a:r>
              <a:rPr sz="4106" b="1">
                <a:solidFill>
                  <a:srgbClr val="111111"/>
                </a:solidFill>
                <a:latin typeface="Arial"/>
              </a:rPr>
              <a:t>red-team</a:t>
            </a:r>
            <a:r>
              <a:rPr sz="4106" b="0">
                <a:solidFill>
                  <a:srgbClr val="1C1C1C"/>
                </a:solidFill>
                <a:latin typeface="Arial"/>
              </a:rPr>
              <a:t> the evaluation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reject known-wrong solutions.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271654" y="15625564"/>
            <a:ext cx="13111841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Every problem, solution, and metric is reviewed by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at least </a:t>
            </a:r>
            <a:r>
              <a:rPr sz="4106" b="1">
                <a:solidFill>
                  <a:srgbClr val="111111"/>
                </a:solidFill>
                <a:latin typeface="Arial"/>
              </a:rPr>
              <a:t>three expert annotators</a:t>
            </a:r>
            <a:r>
              <a:rPr sz="4106" b="0">
                <a:solidFill>
                  <a:srgbClr val="1C1C1C"/>
                </a:solidFill>
                <a:latin typeface="Arial"/>
              </a:rPr>
              <a:t>; problems use 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official </a:t>
            </a:r>
            <a:r>
              <a:rPr sz="4106" b="1">
                <a:solidFill>
                  <a:srgbClr val="111111"/>
                </a:solidFill>
                <a:latin typeface="Arial"/>
              </a:rPr>
              <a:t>insertion (infilling)</a:t>
            </a:r>
            <a:r>
              <a:rPr sz="4106" b="0">
                <a:solidFill>
                  <a:srgbClr val="1C1C1C"/>
                </a:solidFill>
                <a:latin typeface="Arial"/>
              </a:rPr>
              <a:t> prompt format.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39972" y="17320498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Real StackOverflow problems carry rich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context — buggy code, errors, I/O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examples — that prior benchmarks omit.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761178" y="19414370"/>
            <a:ext cx="1223163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Accepted solutions must pass executable test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cases </a:t>
            </a:r>
            <a:r>
              <a:rPr sz="4106" b="1">
                <a:solidFill>
                  <a:srgbClr val="111111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surface-form API/keyword checks —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multi-criteria bar that rejects plausible-but-wrong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code.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39972" y="19771637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As models improve, surface metrics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diverge from intent; execution-based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evaluation becomes essential.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449347" y="27998082"/>
            <a:ext cx="9486198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 example DS-1000 problem: the model fills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monospace"/>
              </a:rPr>
              <a:t>[insert]</a:t>
            </a:r>
            <a:r>
              <a:rPr sz="3367" b="0" i="1">
                <a:solidFill>
                  <a:srgbClr val="555555"/>
                </a:solidFill>
                <a:latin typeface="Arial"/>
              </a:rPr>
              <a:t>; the code is executed against test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cases and surface-form constraints.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780902" y="28464390"/>
            <a:ext cx="12062807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five-stage pipeline for building DS-1000: select &amp; modify,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add code context, implement tests, perturb, and red-team.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383380" y="8354377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43.3%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383380" y="9729271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Best model (Codex-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002, Insertion)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383380" y="10772179"/>
            <a:ext cx="49101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far from solved — ample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headroom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137516" y="26071869"/>
            <a:ext cx="2271720" cy="1358447"/>
          </a:xfrm>
          <a:prstGeom prst="rect">
            <a:avLst/>
          </a:prstGeom>
          <a:noFill/>
        </p:spPr>
        <p:txBody>
          <a:bodyPr wrap="none" lIns="0" rIns="0" tIns="66378" bIns="66378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2D5F3E"/>
                </a:solidFill>
                <a:latin typeface="Arial"/>
              </a:rPr>
              <a:t>Scan to</a:t>
            </a:r>
          </a:p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2D5F3E"/>
                </a:solidFill>
                <a:latin typeface="Arial"/>
              </a:rPr>
              <a:t>Read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202441" y="8231306"/>
            <a:ext cx="12268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576085" y="8364656"/>
            <a:ext cx="241464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problems · 7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libraries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202441" y="9478823"/>
            <a:ext cx="12576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1.8%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605950" y="9612173"/>
            <a:ext cx="238388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false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discovery rate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202441" y="10726340"/>
            <a:ext cx="92010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140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278270" y="10859690"/>
            <a:ext cx="272139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avg words /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problem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204525" y="15189537"/>
            <a:ext cx="5824232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Model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859120" y="15189537"/>
            <a:ext cx="409504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Completion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834895" y="15189537"/>
            <a:ext cx="3192683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Insertion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204525" y="16003944"/>
            <a:ext cx="582423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InCoder-6B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859120" y="16003944"/>
            <a:ext cx="409504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7.4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834895" y="16003944"/>
            <a:ext cx="319268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7.5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204525" y="16822797"/>
            <a:ext cx="582423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Codex-Cushman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1859120" y="16822797"/>
            <a:ext cx="409504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18.1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5834895" y="16822797"/>
            <a:ext cx="319268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6204525" y="17641649"/>
            <a:ext cx="582423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Codex-001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1859120" y="17641649"/>
            <a:ext cx="409504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20.2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5834895" y="17641649"/>
            <a:ext cx="319268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6204525" y="18460501"/>
            <a:ext cx="582423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Codex-002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1859120" y="18460501"/>
            <a:ext cx="409504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39.2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5834895" y="18460501"/>
            <a:ext cx="319268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43.3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6204525" y="23804086"/>
            <a:ext cx="570262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PERTURBATION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1741050" y="23804086"/>
            <a:ext cx="421980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NUMPY-100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5837951" y="23804086"/>
            <a:ext cx="318953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DS-1000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6204525" y="24510563"/>
            <a:ext cx="570262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Surface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1741050" y="24510563"/>
            <a:ext cx="421980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−21.7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837951" y="24510563"/>
            <a:ext cx="318953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−3.4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6204525" y="25455681"/>
            <a:ext cx="570262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Semantic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1741050" y="25455681"/>
            <a:ext cx="421980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−48.9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5837951" y="25455681"/>
            <a:ext cx="318953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−9.0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137516" y="27442735"/>
            <a:ext cx="2271720" cy="191594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2D5F3E"/>
                </a:solidFill>
                <a:latin typeface="Arial"/>
              </a:rPr>
              <a:t>Project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ds1000-code-gen.gith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
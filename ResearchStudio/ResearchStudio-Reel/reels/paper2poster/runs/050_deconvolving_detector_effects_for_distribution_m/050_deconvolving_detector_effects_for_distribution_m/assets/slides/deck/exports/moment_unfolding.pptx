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deck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deck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30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11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05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0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9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85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8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8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8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800" kern="1200">
          <a:solidFill>
            <a:schemeClr val="tx1"/>
          </a:solidFill>
          <a:latin typeface="+mn-lt"/>
          <a:ea typeface="+mn-ea"/>
          <a:cs typeface="+mn-cs"/>
        </a:defRPr>
      </a:lvl9pPr>
    </p:bodyStyle>
    <p:otherStyle>
      <a:defPPr>
        <a:defRPr lang="en-US"/>
      </a:defPPr>
      <a:lvl1pPr marL="0" algn="l" defTabSz="457200" rtl="0" eaLnBrk="1" latinLnBrk="0" hangingPunct="1">
        <a:defRPr sz="1100" kern="1200">
          <a:solidFill>
            <a:schemeClr val="tx1"/>
          </a:solidFill>
          <a:latin typeface="+mn-lt"/>
          <a:ea typeface="+mn-ea"/>
          <a:cs typeface="+mn-cs"/>
        </a:defRPr>
      </a:lvl1pPr>
      <a:lvl2pPr marL="457200" algn="l" defTabSz="457200" rtl="0" eaLnBrk="1" latinLnBrk="0" hangingPunct="1">
        <a:defRPr sz="1050" kern="1200">
          <a:solidFill>
            <a:schemeClr val="tx1"/>
          </a:solidFill>
          <a:latin typeface="+mn-lt"/>
          <a:ea typeface="+mn-ea"/>
          <a:cs typeface="+mn-cs"/>
        </a:defRPr>
      </a:lvl2pPr>
      <a:lvl3pPr marL="914400" algn="l" defTabSz="457200" rtl="0" eaLnBrk="1" latinLnBrk="0" hangingPunct="1">
        <a:defRPr sz="1000" kern="1200">
          <a:solidFill>
            <a:schemeClr val="tx1"/>
          </a:solidFill>
          <a:latin typeface="+mn-lt"/>
          <a:ea typeface="+mn-ea"/>
          <a:cs typeface="+mn-cs"/>
        </a:defRPr>
      </a:lvl3pPr>
      <a:lvl4pPr marL="1371600" algn="l" defTabSz="457200" rtl="0" eaLnBrk="1" latinLnBrk="0" hangingPunct="1">
        <a:defRPr sz="900" kern="1200">
          <a:solidFill>
            <a:schemeClr val="tx1"/>
          </a:solidFill>
          <a:latin typeface="+mn-lt"/>
          <a:ea typeface="+mn-ea"/>
          <a:cs typeface="+mn-cs"/>
        </a:defRPr>
      </a:lvl4pPr>
      <a:lvl5pPr marL="1828800" algn="l" defTabSz="457200" rtl="0" eaLnBrk="1" latinLnBrk="0" hangingPunct="1">
        <a:defRPr sz="850" kern="1200">
          <a:solidFill>
            <a:schemeClr val="tx1"/>
          </a:solidFill>
          <a:latin typeface="+mn-lt"/>
          <a:ea typeface="+mn-ea"/>
          <a:cs typeface="+mn-cs"/>
        </a:defRPr>
      </a:lvl5pPr>
      <a:lvl6pPr marL="2286000" algn="l" defTabSz="457200" rtl="0" eaLnBrk="1" latinLnBrk="0" hangingPunct="1">
        <a:defRPr sz="800" kern="1200">
          <a:solidFill>
            <a:schemeClr val="tx1"/>
          </a:solidFill>
          <a:latin typeface="+mn-lt"/>
          <a:ea typeface="+mn-ea"/>
          <a:cs typeface="+mn-cs"/>
        </a:defRPr>
      </a:lvl6pPr>
      <a:lvl7pPr marL="2743200" algn="l" defTabSz="457200" rtl="0" eaLnBrk="1" latinLnBrk="0" hangingPunct="1">
        <a:defRPr sz="800" kern="1200">
          <a:solidFill>
            <a:schemeClr val="tx1"/>
          </a:solidFill>
          <a:latin typeface="+mn-lt"/>
          <a:ea typeface="+mn-ea"/>
          <a:cs typeface="+mn-cs"/>
        </a:defRPr>
      </a:lvl7pPr>
      <a:lvl8pPr marL="3200400" algn="l" defTabSz="457200" rtl="0" eaLnBrk="1" latinLnBrk="0" hangingPunct="1">
        <a:defRPr sz="800" kern="1200">
          <a:solidFill>
            <a:schemeClr val="tx1"/>
          </a:solidFill>
          <a:latin typeface="+mn-lt"/>
          <a:ea typeface="+mn-ea"/>
          <a:cs typeface="+mn-cs"/>
        </a:defRPr>
      </a:lvl8pPr>
      <a:lvl9pPr marL="3657600" algn="l" defTabSz="457200" rtl="0" eaLnBrk="1" latinLnBrk="0" hangingPunct="1">
        <a:defRPr sz="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gradFill>
            <a:gsLst>
              <a:gs pos="0">
                <a:schemeClr val="lt2">
                  <a:alpha val="90000"/>
                </a:schemeClr>
              </a:gs>
              <a:gs pos="60000">
                <a:schemeClr val="lt1">
                  <a:alpha val="0"/>
                </a:schemeClr>
              </a:gs>
            </a:gsLst>
            <a:path path="circle">
              <a:fillToRect l="50000" t="50000" r="50000" b="50000"/>
            </a:path>
          </a:gradFill>
          <a:ln>
            <a:noFill/>
          </a:ln>
        </p:spPr>
        <p:txBody>
          <a:bodyPr/>
          <a:p/>
        </p:txBody>
      </p:sp>
      <p:grpSp>
        <p:nvGrpSpPr>
          <p:cNvPr id="6" name="Group 6"/>
          <p:cNvGrpSpPr/>
          <p:nvPr/>
        </p:nvGrpSpPr>
        <p:grpSpPr>
          <a:xfrm>
            <a:off x="685800" y="869156"/>
            <a:ext cx="7673781" cy="509064"/>
            <a:chOff x="685800" y="869156"/>
            <a:chExt cx="7673781" cy="509064"/>
          </a:xfrm>
        </p:grpSpPr>
        <p:sp>
          <p:nvSpPr>
            <p:cNvPr id="3" name="Rectangle 3"/>
            <p:cNvSpPr/>
            <p:nvPr/>
          </p:nvSpPr>
          <p:spPr>
            <a:xfrm>
              <a:off x="685800" y="876300"/>
              <a:ext cx="57150" cy="285750"/>
            </a:xfrm>
            <a:prstGeom prst="roundRect">
              <a:avLst>
                <a:gd name="adj" fmla="val 41667"/>
              </a:avLst>
            </a:prstGeom>
            <a:solidFill>
              <a:schemeClr val="accent2"/>
            </a:solidFill>
            <a:ln>
              <a:noFill/>
            </a:ln>
          </p:spPr>
        </p:sp>
        <p:sp>
          <p:nvSpPr>
            <p:cNvPr id="4" name="TextBox 4"/>
            <p:cNvSpPr txBox="1"/>
            <p:nvPr/>
          </p:nvSpPr>
          <p:spPr>
            <a:xfrm>
              <a:off x="870585" y="869156"/>
              <a:ext cx="5205921" cy="220028"/>
            </a:xfrm>
            <a:prstGeom prst="rect">
              <a:avLst/>
            </a:prstGeom>
            <a:noFill/>
            <a:ln>
              <a:noFill/>
            </a:ln>
          </p:spPr>
          <p:txBody>
            <a:bodyPr wrap="none" lIns="0" tIns="0" rIns="0" bIns="0" anchor="t" anchorCtr="0">
              <a:spAutoFit/>
            </a:bodyPr>
            <a:lstStyle/>
            <a:p>
              <a:pPr algn="l"/>
              <a:r>
                <a:rPr lang="en-US" sz="1120" b="1" spc="188" dirty="0">
                  <a:solidFill>
                    <a:schemeClr val="accent2"/>
                  </a:solidFill>
                  <a:latin typeface="+mn-lt"/>
                  <a:ea typeface="+mn-ea"/>
                  <a:cs typeface="+mn-cs"/>
                </a:rPr>
                <a:t>COLLIDER PHYSICS · UNFOLDING · MACHINE LEARNING</a:t>
              </a:r>
            </a:p>
          </p:txBody>
        </p:sp>
        <p:sp>
          <p:nvSpPr>
            <p:cNvPr id="5" name="TextBox 5"/>
            <p:cNvSpPr txBox="1"/>
            <p:nvPr/>
          </p:nvSpPr>
          <p:spPr>
            <a:xfrm>
              <a:off x="870394" y="1150858"/>
              <a:ext cx="7489187" cy="227362"/>
            </a:xfrm>
            <a:prstGeom prst="rect">
              <a:avLst/>
            </a:prstGeom>
            <a:noFill/>
            <a:ln>
              <a:noFill/>
            </a:ln>
          </p:spPr>
          <p:txBody>
            <a:bodyPr wrap="none" lIns="0" tIns="0" rIns="0" bIns="0" anchor="t" anchorCtr="0">
              <a:spAutoFit/>
            </a:bodyPr>
            <a:lstStyle/>
            <a:p>
              <a:pPr algn="l"/>
              <a:r>
                <a:rPr lang="en-US" sz="1160" dirty="0">
                  <a:solidFill>
                    <a:schemeClr val="dk2"/>
                  </a:solidFill>
                  <a:latin typeface="+mn-lt"/>
                  <a:ea typeface="+mn-ea"/>
                  <a:cs typeface="+mn-cs"/>
                </a:rPr>
                <a:t>Comparing collider data with theory means undoing the distortions detectors imprint on the data.</a:t>
              </a:r>
            </a:p>
          </p:txBody>
        </p:sp>
      </p:grpSp>
      <p:sp>
        <p:nvSpPr>
          <p:cNvPr id="7" name="TextBox 7"/>
          <p:cNvSpPr txBox="1"/>
          <p:nvPr/>
        </p:nvSpPr>
        <p:spPr>
          <a:xfrm>
            <a:off x="666750" y="1511618"/>
            <a:ext cx="5273022" cy="847725"/>
          </a:xfrm>
          <a:prstGeom prst="rect">
            <a:avLst/>
          </a:prstGeom>
          <a:noFill/>
          <a:ln>
            <a:noFill/>
          </a:ln>
        </p:spPr>
        <p:txBody>
          <a:bodyPr wrap="none" lIns="0" tIns="0" rIns="0" bIns="0" anchor="t" anchorCtr="0">
            <a:spAutoFit/>
          </a:bodyPr>
          <a:lstStyle/>
          <a:p>
            <a:pPr algn="l"/>
            <a:r>
              <a:rPr lang="en-US" sz="4350" b="1" dirty="0">
                <a:solidFill>
                  <a:schemeClr val="dk1"/>
                </a:solidFill>
                <a:latin typeface="+mn-lt"/>
                <a:ea typeface="+mn-ea"/>
                <a:cs typeface="+mn-cs"/>
              </a:rPr>
              <a:t>Moment Unfolding</a:t>
            </a:r>
          </a:p>
        </p:txBody>
      </p:sp>
      <p:sp>
        <p:nvSpPr>
          <p:cNvPr id="8" name="TextBox 8"/>
          <p:cNvSpPr txBox="1"/>
          <p:nvPr/>
        </p:nvSpPr>
        <p:spPr>
          <a:xfrm>
            <a:off x="677037" y="2195036"/>
            <a:ext cx="6445119" cy="337376"/>
          </a:xfrm>
          <a:prstGeom prst="rect">
            <a:avLst/>
          </a:prstGeom>
          <a:noFill/>
          <a:ln>
            <a:noFill/>
          </a:ln>
        </p:spPr>
        <p:txBody>
          <a:bodyPr wrap="none" lIns="0" tIns="0" rIns="0" bIns="0" anchor="t" anchorCtr="0">
            <a:spAutoFit/>
          </a:bodyPr>
          <a:lstStyle/>
          <a:p>
            <a:pPr algn="l"/>
            <a:r>
              <a:rPr lang="en-US" sz="1720" dirty="0">
                <a:solidFill>
                  <a:schemeClr val="dk2"/>
                </a:solidFill>
                <a:latin typeface="+mn-lt"/>
                <a:ea typeface="+mn-ea"/>
                <a:cs typeface="+mn-cs"/>
              </a:rPr>
              <a:t>Deconvolving Detector Effects for Distribution Moments</a:t>
            </a:r>
          </a:p>
        </p:txBody>
      </p:sp>
      <p:grpSp>
        <p:nvGrpSpPr>
          <p:cNvPr id="15" name="Group 15"/>
          <p:cNvGrpSpPr/>
          <p:nvPr/>
        </p:nvGrpSpPr>
        <p:grpSpPr>
          <a:xfrm>
            <a:off x="685800" y="2724150"/>
            <a:ext cx="5676900" cy="1184434"/>
            <a:chOff x="685800" y="2724150"/>
            <a:chExt cx="5676900" cy="1184434"/>
          </a:xfrm>
        </p:grpSpPr>
        <p:sp>
          <p:nvSpPr>
            <p:cNvPr id="9" name="Rectangle 9"/>
            <p:cNvSpPr/>
            <p:nvPr/>
          </p:nvSpPr>
          <p:spPr>
            <a:xfrm>
              <a:off x="685800" y="2724150"/>
              <a:ext cx="5676900" cy="1123950"/>
            </a:xfrm>
            <a:prstGeom prst="roundRect">
              <a:avLst>
                <a:gd name="adj" fmla="val 13559"/>
              </a:avLst>
            </a:prstGeom>
            <a:solidFill>
              <a:schemeClr val="accent5"/>
            </a:solidFill>
            <a:ln w="11430">
              <a:solidFill>
                <a:schemeClr val="accent4"/>
              </a:solidFill>
            </a:ln>
          </p:spPr>
        </p:sp>
        <p:sp>
          <p:nvSpPr>
            <p:cNvPr id="10" name="Rectangle 10"/>
            <p:cNvSpPr/>
            <p:nvPr/>
          </p:nvSpPr>
          <p:spPr>
            <a:xfrm>
              <a:off x="876300" y="2933700"/>
              <a:ext cx="57150" cy="704850"/>
            </a:xfrm>
            <a:prstGeom prst="roundRect">
              <a:avLst>
                <a:gd name="adj" fmla="val 41667"/>
              </a:avLst>
            </a:prstGeom>
            <a:solidFill>
              <a:srgbClr val="F7B84B"/>
            </a:solidFill>
            <a:ln>
              <a:noFill/>
            </a:ln>
          </p:spPr>
        </p:sp>
        <p:sp>
          <p:nvSpPr>
            <p:cNvPr id="11" name="TextBox 11"/>
            <p:cNvSpPr txBox="1"/>
            <p:nvPr/>
          </p:nvSpPr>
          <p:spPr>
            <a:xfrm>
              <a:off x="1059942" y="2959418"/>
              <a:ext cx="1260454" cy="264033"/>
            </a:xfrm>
            <a:prstGeom prst="rect">
              <a:avLst/>
            </a:prstGeom>
            <a:noFill/>
            <a:ln>
              <a:noFill/>
            </a:ln>
          </p:spPr>
          <p:txBody>
            <a:bodyPr wrap="none" lIns="0" tIns="0" rIns="0" bIns="0" anchor="t" anchorCtr="0">
              <a:spAutoFit/>
            </a:bodyPr>
            <a:lstStyle/>
            <a:p>
              <a:pPr algn="l"/>
              <a:r>
                <a:rPr lang="en-US" sz="1350" b="1" dirty="0">
                  <a:solidFill>
                    <a:srgbClr val="F7B84B"/>
                  </a:solidFill>
                  <a:latin typeface="+mn-lt"/>
                  <a:ea typeface="+mn-ea"/>
                  <a:cs typeface="+mn-cs"/>
                </a:rPr>
                <a:t>The mismatch</a:t>
              </a:r>
            </a:p>
          </p:txBody>
        </p:sp>
        <p:sp>
          <p:nvSpPr>
            <p:cNvPr id="12" name="TextBox 12"/>
            <p:cNvSpPr txBox="1"/>
            <p:nvPr/>
          </p:nvSpPr>
          <p:spPr>
            <a:xfrm>
              <a:off x="1061085" y="3269456"/>
              <a:ext cx="3438976"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Most unfolding methods first bin the data into</a:t>
              </a:r>
            </a:p>
          </p:txBody>
        </p:sp>
        <p:sp>
          <p:nvSpPr>
            <p:cNvPr id="13" name="TextBox 13"/>
            <p:cNvSpPr txBox="1"/>
            <p:nvPr/>
          </p:nvSpPr>
          <p:spPr>
            <a:xfrm>
              <a:off x="1061085" y="3479006"/>
              <a:ext cx="3599861"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histograms — but many theory predictions live at</a:t>
              </a:r>
            </a:p>
          </p:txBody>
        </p:sp>
        <p:sp>
          <p:nvSpPr>
            <p:cNvPr id="14" name="TextBox 14"/>
            <p:cNvSpPr txBox="1"/>
            <p:nvPr/>
          </p:nvSpPr>
          <p:spPr>
            <a:xfrm>
              <a:off x="1061085" y="3688556"/>
              <a:ext cx="2469053"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the level of statistical moments.</a:t>
              </a:r>
            </a:p>
          </p:txBody>
        </p:sp>
      </p:grpSp>
      <p:grpSp>
        <p:nvGrpSpPr>
          <p:cNvPr id="22" name="Group 22"/>
          <p:cNvGrpSpPr/>
          <p:nvPr/>
        </p:nvGrpSpPr>
        <p:grpSpPr>
          <a:xfrm>
            <a:off x="6591300" y="2724150"/>
            <a:ext cx="4914900" cy="1203484"/>
            <a:chOff x="6591300" y="2724150"/>
            <a:chExt cx="4914900" cy="1203484"/>
          </a:xfrm>
        </p:grpSpPr>
        <p:sp>
          <p:nvSpPr>
            <p:cNvPr id="16" name="Rectangle 16"/>
            <p:cNvSpPr/>
            <p:nvPr/>
          </p:nvSpPr>
          <p:spPr>
            <a:xfrm>
              <a:off x="6591300" y="2724150"/>
              <a:ext cx="4914900" cy="1123950"/>
            </a:xfrm>
            <a:prstGeom prst="roundRect">
              <a:avLst>
                <a:gd name="adj" fmla="val 13559"/>
              </a:avLst>
            </a:prstGeom>
            <a:solidFill>
              <a:schemeClr val="accent6"/>
            </a:solidFill>
            <a:ln w="13335">
              <a:solidFill>
                <a:schemeClr val="accent2"/>
              </a:solidFill>
            </a:ln>
          </p:spPr>
        </p:sp>
        <p:sp>
          <p:nvSpPr>
            <p:cNvPr id="17" name="Rectangle 17"/>
            <p:cNvSpPr/>
            <p:nvPr/>
          </p:nvSpPr>
          <p:spPr>
            <a:xfrm>
              <a:off x="6781800" y="2933700"/>
              <a:ext cx="57150" cy="704850"/>
            </a:xfrm>
            <a:prstGeom prst="roundRect">
              <a:avLst>
                <a:gd name="adj" fmla="val 41667"/>
              </a:avLst>
            </a:prstGeom>
            <a:solidFill>
              <a:srgbClr val="37DCC0"/>
            </a:solidFill>
            <a:ln>
              <a:noFill/>
            </a:ln>
          </p:spPr>
        </p:sp>
        <p:sp>
          <p:nvSpPr>
            <p:cNvPr id="18" name="TextBox 18"/>
            <p:cNvSpPr txBox="1"/>
            <p:nvPr/>
          </p:nvSpPr>
          <p:spPr>
            <a:xfrm>
              <a:off x="6964680" y="2943225"/>
              <a:ext cx="1820386" cy="293370"/>
            </a:xfrm>
            <a:prstGeom prst="rect">
              <a:avLst/>
            </a:prstGeom>
            <a:noFill/>
            <a:ln>
              <a:noFill/>
            </a:ln>
          </p:spPr>
          <p:txBody>
            <a:bodyPr wrap="none" lIns="0" tIns="0" rIns="0" bIns="0" anchor="t" anchorCtr="0">
              <a:spAutoFit/>
            </a:bodyPr>
            <a:lstStyle/>
            <a:p>
              <a:pPr algn="l"/>
              <a:r>
                <a:rPr lang="en-US" sz="1500" b="1" dirty="0">
                  <a:solidFill>
                    <a:srgbClr val="37DCC0"/>
                  </a:solidFill>
                  <a:latin typeface="+mn-lt"/>
                  <a:ea typeface="+mn-ea"/>
                  <a:cs typeface="+mn-cs"/>
                </a:rPr>
                <a:t>Moment Unfolding</a:t>
              </a:r>
            </a:p>
          </p:txBody>
        </p:sp>
        <p:sp>
          <p:nvSpPr>
            <p:cNvPr id="19" name="TextBox 19"/>
            <p:cNvSpPr txBox="1"/>
            <p:nvPr/>
          </p:nvSpPr>
          <p:spPr>
            <a:xfrm>
              <a:off x="6966585" y="3288506"/>
              <a:ext cx="2971528" cy="220028"/>
            </a:xfrm>
            <a:prstGeom prst="rect">
              <a:avLst/>
            </a:prstGeom>
            <a:noFill/>
            <a:ln>
              <a:noFill/>
            </a:ln>
          </p:spPr>
          <p:txBody>
            <a:bodyPr wrap="none" lIns="0" tIns="0" rIns="0" bIns="0" anchor="t" anchorCtr="0">
              <a:spAutoFit/>
            </a:bodyPr>
            <a:lstStyle/>
            <a:p>
              <a:pPr algn="l"/>
              <a:r>
                <a:rPr lang="en-US" sz="1120" dirty="0">
                  <a:solidFill>
                    <a:schemeClr val="dk1"/>
                  </a:solidFill>
                  <a:latin typeface="+mn-lt"/>
                  <a:ea typeface="+mn-ea"/>
                  <a:cs typeface="+mn-cs"/>
                </a:rPr>
                <a:t>A machine-learning method that directly</a:t>
              </a:r>
            </a:p>
          </p:txBody>
        </p:sp>
        <p:sp>
          <p:nvSpPr>
            <p:cNvPr id="20" name="TextBox 20"/>
            <p:cNvSpPr txBox="1"/>
            <p:nvPr/>
          </p:nvSpPr>
          <p:spPr>
            <a:xfrm>
              <a:off x="6966585" y="3498056"/>
              <a:ext cx="2295662" cy="220028"/>
            </a:xfrm>
            <a:prstGeom prst="rect">
              <a:avLst/>
            </a:prstGeom>
            <a:noFill/>
            <a:ln>
              <a:noFill/>
            </a:ln>
          </p:spPr>
          <p:txBody>
            <a:bodyPr wrap="none" lIns="0" tIns="0" rIns="0" bIns="0" anchor="t" anchorCtr="0">
              <a:spAutoFit/>
            </a:bodyPr>
            <a:lstStyle/>
            <a:p>
              <a:pPr algn="l"/>
              <a:r>
                <a:rPr lang="en-US" sz="1120" dirty="0">
                  <a:solidFill>
                    <a:schemeClr val="dk1"/>
                  </a:solidFill>
                  <a:latin typeface="+mn-lt"/>
                  <a:ea typeface="+mn-ea"/>
                  <a:cs typeface="+mn-cs"/>
                </a:rPr>
                <a:t>unfolds distribution moments —</a:t>
              </a:r>
            </a:p>
          </p:txBody>
        </p:sp>
        <p:sp>
          <p:nvSpPr>
            <p:cNvPr id="21" name="TextBox 21"/>
            <p:cNvSpPr txBox="1"/>
            <p:nvPr/>
          </p:nvSpPr>
          <p:spPr>
            <a:xfrm>
              <a:off x="6966585" y="3707606"/>
              <a:ext cx="2378211" cy="220028"/>
            </a:xfrm>
            <a:prstGeom prst="rect">
              <a:avLst/>
            </a:prstGeom>
            <a:noFill/>
            <a:ln>
              <a:noFill/>
            </a:ln>
          </p:spPr>
          <p:txBody>
            <a:bodyPr wrap="none" lIns="0" tIns="0" rIns="0" bIns="0" anchor="t" anchorCtr="0">
              <a:spAutoFit/>
            </a:bodyPr>
            <a:lstStyle/>
            <a:p>
              <a:pPr algn="l"/>
              <a:r>
                <a:rPr lang="en-US" sz="1120" b="1" dirty="0">
                  <a:solidFill>
                    <a:schemeClr val="dk1"/>
                  </a:solidFill>
                  <a:latin typeface="+mn-lt"/>
                  <a:ea typeface="+mn-ea"/>
                  <a:cs typeface="+mn-cs"/>
                </a:rPr>
                <a:t>without ever binning the data.</a:t>
              </a:r>
            </a:p>
          </p:txBody>
        </p:sp>
      </p:grpSp>
      <p:grpSp>
        <p:nvGrpSpPr>
          <p:cNvPr id="29" name="Group 29"/>
          <p:cNvGrpSpPr/>
          <p:nvPr/>
        </p:nvGrpSpPr>
        <p:grpSpPr>
          <a:xfrm>
            <a:off x="685800" y="4038600"/>
            <a:ext cx="10820400" cy="914400"/>
            <a:chOff x="685800" y="4038600"/>
            <a:chExt cx="10820400" cy="914400"/>
          </a:xfrm>
        </p:grpSpPr>
        <p:sp>
          <p:nvSpPr>
            <p:cNvPr id="23" name="Rectangle 23"/>
            <p:cNvSpPr/>
            <p:nvPr/>
          </p:nvSpPr>
          <p:spPr>
            <a:xfrm>
              <a:off x="685800" y="4038600"/>
              <a:ext cx="10820400" cy="914400"/>
            </a:xfrm>
            <a:prstGeom prst="roundRect">
              <a:avLst>
                <a:gd name="adj" fmla="val 16667"/>
              </a:avLst>
            </a:prstGeom>
            <a:solidFill>
              <a:schemeClr val="accent5"/>
            </a:solidFill>
            <a:ln w="11430">
              <a:solidFill>
                <a:schemeClr val="accent4"/>
              </a:solidFill>
            </a:ln>
          </p:spPr>
        </p:sp>
        <p:sp>
          <p:nvSpPr>
            <p:cNvPr id="24" name="Rectangle 24"/>
            <p:cNvSpPr/>
            <p:nvPr/>
          </p:nvSpPr>
          <p:spPr>
            <a:xfrm>
              <a:off x="876300" y="4248150"/>
              <a:ext cx="57150" cy="495300"/>
            </a:xfrm>
            <a:prstGeom prst="roundRect">
              <a:avLst>
                <a:gd name="adj" fmla="val 41667"/>
              </a:avLst>
            </a:prstGeom>
            <a:solidFill>
              <a:srgbClr val="57D9A3"/>
            </a:solidFill>
            <a:ln>
              <a:noFill/>
            </a:ln>
          </p:spPr>
        </p:sp>
        <p:sp>
          <p:nvSpPr>
            <p:cNvPr id="25" name="TextBox 25"/>
            <p:cNvSpPr txBox="1"/>
            <p:nvPr/>
          </p:nvSpPr>
          <p:spPr>
            <a:xfrm>
              <a:off x="1060323" y="4301014"/>
              <a:ext cx="4900158" cy="249364"/>
            </a:xfrm>
            <a:prstGeom prst="rect">
              <a:avLst/>
            </a:prstGeom>
            <a:noFill/>
            <a:ln>
              <a:noFill/>
            </a:ln>
          </p:spPr>
          <p:txBody>
            <a:bodyPr wrap="none" lIns="0" tIns="0" rIns="0" bIns="0" anchor="t" anchorCtr="0">
              <a:spAutoFit/>
            </a:bodyPr>
            <a:lstStyle/>
            <a:p>
              <a:pPr algn="l"/>
              <a:r>
                <a:rPr lang="en-US" sz="1280" b="1" dirty="0">
                  <a:solidFill>
                    <a:schemeClr val="dk1"/>
                  </a:solidFill>
                  <a:latin typeface="+mn-lt"/>
                  <a:ea typeface="+mn-ea"/>
                  <a:cs typeface="+mn-cs"/>
                </a:rPr>
                <a:t>Inspired by GANs and Boltzmann's statistical mechanics</a:t>
              </a:r>
            </a:p>
          </p:txBody>
        </p:sp>
        <p:sp>
          <p:nvSpPr>
            <p:cNvPr id="26" name="TextBox 26"/>
            <p:cNvSpPr txBox="1"/>
            <p:nvPr/>
          </p:nvSpPr>
          <p:spPr>
            <a:xfrm>
              <a:off x="1061085" y="4602956"/>
              <a:ext cx="6950523"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Recovers moments to sub-percent accuracy on both Gaussian toy data and simulated LHC jets.</a:t>
              </a:r>
            </a:p>
          </p:txBody>
        </p:sp>
        <p:sp>
          <p:nvSpPr>
            <p:cNvPr id="27" name="TextBox 27"/>
            <p:cNvSpPr txBox="1"/>
            <p:nvPr/>
          </p:nvSpPr>
          <p:spPr>
            <a:xfrm>
              <a:off x="10201333" y="4201478"/>
              <a:ext cx="1089221" cy="498729"/>
            </a:xfrm>
            <a:prstGeom prst="rect">
              <a:avLst/>
            </a:prstGeom>
            <a:noFill/>
            <a:ln>
              <a:noFill/>
            </a:ln>
          </p:spPr>
          <p:txBody>
            <a:bodyPr wrap="none" lIns="0" tIns="0" rIns="0" bIns="0" anchor="t" anchorCtr="0">
              <a:spAutoFit/>
            </a:bodyPr>
            <a:lstStyle/>
            <a:p>
              <a:pPr algn="r"/>
              <a:r>
                <a:rPr lang="en-US" sz="2550" b="1" dirty="0">
                  <a:solidFill>
                    <a:srgbClr val="57D9A3"/>
                  </a:solidFill>
                  <a:latin typeface="+mn-lt"/>
                  <a:ea typeface="+mn-ea"/>
                  <a:cs typeface="+mn-cs"/>
                </a:rPr>
                <a:t>sub-%</a:t>
              </a:r>
            </a:p>
          </p:txBody>
        </p:sp>
        <p:sp>
          <p:nvSpPr>
            <p:cNvPr id="28" name="TextBox 28"/>
            <p:cNvSpPr txBox="1"/>
            <p:nvPr/>
          </p:nvSpPr>
          <p:spPr>
            <a:xfrm>
              <a:off x="10209878" y="4623197"/>
              <a:ext cx="1072485" cy="183356"/>
            </a:xfrm>
            <a:prstGeom prst="rect">
              <a:avLst/>
            </a:prstGeom>
            <a:noFill/>
            <a:ln>
              <a:noFill/>
            </a:ln>
          </p:spPr>
          <p:txBody>
            <a:bodyPr wrap="none" lIns="0" tIns="0" rIns="0" bIns="0" anchor="t" anchorCtr="0">
              <a:spAutoFit/>
            </a:bodyPr>
            <a:lstStyle/>
            <a:p>
              <a:pPr algn="r"/>
              <a:r>
                <a:rPr lang="en-US" sz="940" dirty="0">
                  <a:solidFill>
                    <a:schemeClr val="dk2"/>
                  </a:solidFill>
                  <a:latin typeface="+mn-lt"/>
                  <a:ea typeface="+mn-ea"/>
                  <a:cs typeface="+mn-cs"/>
                </a:rPr>
                <a:t>moment accuracy</a:t>
              </a:r>
            </a:p>
          </p:txBody>
        </p:sp>
      </p:grpSp>
      <p:sp>
        <p:nvSpPr>
          <p:cNvPr id="30" name="Line 30"/>
          <p:cNvSpPr/>
          <p:nvPr/>
        </p:nvSpPr>
        <p:spPr>
          <a:xfrm>
            <a:off x="685800" y="5219700"/>
            <a:ext cx="10820400" cy="9525"/>
          </a:xfrm>
          <a:custGeom>
            <a:avLst/>
            <a:gdLst/>
            <a:ahLst/>
            <a:cxnLst/>
            <a:rect l="l" t="t" r="r" b="b"/>
            <a:pathLst>
              <a:path w="10820400" h="9525">
                <a:moveTo>
                  <a:pt x="0" y="0"/>
                </a:moveTo>
                <a:lnTo>
                  <a:pt x="10820400" y="0"/>
                </a:lnTo>
              </a:path>
            </a:pathLst>
          </a:custGeom>
          <a:noFill/>
          <a:ln w="11430">
            <a:solidFill>
              <a:schemeClr val="accent4"/>
            </a:solidFill>
          </a:ln>
        </p:spPr>
        <p:txBody>
          <a:bodyPr/>
          <a:p/>
        </p:txBody>
      </p:sp>
      <p:sp>
        <p:nvSpPr>
          <p:cNvPr id="31" name="TextBox 31"/>
          <p:cNvSpPr txBox="1"/>
          <p:nvPr/>
        </p:nvSpPr>
        <p:spPr>
          <a:xfrm>
            <a:off x="677799" y="5392579"/>
            <a:ext cx="5009531" cy="308039"/>
          </a:xfrm>
          <a:prstGeom prst="rect">
            <a:avLst/>
          </a:prstGeom>
          <a:noFill/>
          <a:ln>
            <a:noFill/>
          </a:ln>
        </p:spPr>
        <p:txBody>
          <a:bodyPr wrap="none" lIns="0" tIns="0" rIns="0" bIns="0" anchor="t" anchorCtr="0">
            <a:spAutoFit/>
          </a:bodyPr>
          <a:lstStyle/>
          <a:p>
            <a:pPr algn="l"/>
            <a:r>
              <a:rPr lang="en-US" sz="1580" b="1" dirty="0">
                <a:solidFill>
                  <a:schemeClr val="dk1"/>
                </a:solidFill>
                <a:latin typeface="+mn-lt"/>
                <a:ea typeface="+mn-ea"/>
                <a:cs typeface="+mn-cs"/>
              </a:rPr>
              <a:t>Krish Desai · Benjamin Nachman · Jesse Thaler</a:t>
            </a:r>
          </a:p>
        </p:txBody>
      </p:sp>
      <p:sp>
        <p:nvSpPr>
          <p:cNvPr id="32" name="TextBox 32"/>
          <p:cNvSpPr txBox="1"/>
          <p:nvPr/>
        </p:nvSpPr>
        <p:spPr>
          <a:xfrm>
            <a:off x="680276" y="5692854"/>
            <a:ext cx="6075818"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UC Berkeley · Lawrence Berkeley National Laboratory · MIT · NSF AI Institute (IAIFI)</a:t>
            </a:r>
          </a:p>
        </p:txBody>
      </p:sp>
      <p:sp>
        <p:nvSpPr>
          <p:cNvPr id="33" name="TextBox 33"/>
          <p:cNvSpPr txBox="1"/>
          <p:nvPr/>
        </p:nvSpPr>
        <p:spPr>
          <a:xfrm>
            <a:off x="680466" y="6039802"/>
            <a:ext cx="2660216" cy="205359"/>
          </a:xfrm>
          <a:prstGeom prst="rect">
            <a:avLst/>
          </a:prstGeom>
          <a:noFill/>
          <a:ln>
            <a:noFill/>
          </a:ln>
        </p:spPr>
        <p:txBody>
          <a:bodyPr wrap="none" lIns="0" tIns="0" rIns="0" bIns="0" anchor="t" anchorCtr="0">
            <a:spAutoFit/>
          </a:bodyPr>
          <a:lstStyle/>
          <a:p>
            <a:pPr algn="l"/>
            <a:r>
              <a:rPr lang="en-US" sz="1050" b="1" spc="90" dirty="0">
                <a:solidFill>
                  <a:schemeClr val="accent2"/>
                </a:solidFill>
                <a:latin typeface="+mn-lt"/>
                <a:ea typeface="+mn-ea"/>
                <a:cs typeface="+mn-cs"/>
              </a:rPr>
              <a:t>NeurIPS 2022 · ML4PS Workshop</a:t>
            </a:r>
          </a:p>
        </p:txBody>
      </p:sp>
      <p:sp>
        <p:nvSpPr>
          <p:cNvPr id="34" name="TextBox 34"/>
          <p:cNvSpPr txBox="1"/>
          <p:nvPr/>
        </p:nvSpPr>
        <p:spPr>
          <a:xfrm>
            <a:off x="680466" y="6268402"/>
            <a:ext cx="2649398" cy="205359"/>
          </a:xfrm>
          <a:prstGeom prst="rect">
            <a:avLst/>
          </a:prstGeom>
          <a:noFill/>
          <a:ln>
            <a:noFill/>
          </a:ln>
        </p:spPr>
        <p:txBody>
          <a:bodyPr wrap="none" lIns="0" tIns="0" rIns="0" bIns="0" anchor="t" anchorCtr="0">
            <a:spAutoFit/>
          </a:bodyPr>
          <a:lstStyle/>
          <a:p>
            <a:pPr algn="l"/>
            <a:r>
              <a:rPr lang="en-US" sz="1050" dirty="0">
                <a:solidFill>
                  <a:srgbClr val="6E85AC"/>
                </a:solidFill>
                <a:latin typeface="Consolas"/>
                <a:ea typeface="Consolas"/>
                <a:cs typeface="Consolas"/>
              </a:rPr>
              <a:t>github.com/hep-lbdl/MomentUnfolding</a:t>
            </a:r>
          </a:p>
        </p:txBody>
      </p:sp>
      <p:sp>
        <p:nvSpPr>
          <p:cNvPr id="35" name="cue_s01_c1_comparing_collider_measurements_theo" title="cue_s01_c1_comparing_collider_measurements_theo" descr="cue_s01_c1_comparing_collider_measurements_theo Comparing collider measurements with theory requires unfolding, that is, correcting the distortions that detectors introduce into the data."/>
          <p:cNvSpPr/>
          <p:nvPr/>
        </p:nvSpPr>
        <p:spPr>
          <a:xfrm>
            <a:off x="870508" y="868908"/>
            <a:ext cx="5205984" cy="22014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cue_s01_c2_but_most_unfolding_methods_first" title="cue_s01_c2_but_most_unfolding_methods_first" descr="cue_s01_c2_but_most_unfolding_methods_first But most unfolding methods first bin the data into histograms, while many theory predictions live at the level of statistical moments."/>
          <p:cNvSpPr/>
          <p:nvPr/>
        </p:nvSpPr>
        <p:spPr>
          <a:xfrm>
            <a:off x="686409" y="2723997"/>
            <a:ext cx="5676595" cy="118437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cue_s01_c3_introduces_moment_unfolding_machine" title="cue_s01_c3_introduces_moment_unfolding_machine" descr="cue_s01_c3_introduces_moment_unfolding_machine This paper introduces Moment Unfolding, a machine-learning method that directly unfolds distribution moments without ever binning."/>
          <p:cNvSpPr/>
          <p:nvPr/>
        </p:nvSpPr>
        <p:spPr>
          <a:xfrm>
            <a:off x="6590995" y="2723997"/>
            <a:ext cx="4914595" cy="1203579"/>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cue_s01_c4_inspired_generative_adversarial_netw" title="cue_s01_c4_inspired_generative_adversarial_netw" descr="cue_s01_c4_inspired_generative_adversarial_netw Inspired by Generative Adversarial Networks and by Boltzmann's approach to statistical mechanics, it recovers moments to sub-percent accuracy on both Gaussian toy data and simulated LHC jets."/>
          <p:cNvSpPr/>
          <p:nvPr/>
        </p:nvSpPr>
        <p:spPr>
          <a:xfrm>
            <a:off x="686409" y="4038676"/>
            <a:ext cx="10820400" cy="91417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gradFill>
            <a:gsLst>
              <a:gs pos="0">
                <a:schemeClr val="lt2">
                  <a:alpha val="90000"/>
                </a:schemeClr>
              </a:gs>
              <a:gs pos="60000">
                <a:schemeClr val="lt1">
                  <a:alpha val="0"/>
                </a:schemeClr>
              </a:gs>
            </a:gsLst>
            <a:path path="circle">
              <a:fillToRect l="50000" t="50000" r="50000" b="50000"/>
            </a:path>
          </a:gradFill>
          <a:ln>
            <a:noFill/>
          </a:ln>
        </p:spPr>
        <p:txBody>
          <a:bodyPr/>
          <a:p/>
        </p:txBody>
      </p:sp>
      <p:sp>
        <p:nvSpPr>
          <p:cNvPr id="3" name="Rectangle 3"/>
          <p:cNvSpPr/>
          <p:nvPr/>
        </p:nvSpPr>
        <p:spPr>
          <a:xfrm>
            <a:off x="533400" y="476250"/>
            <a:ext cx="57150" cy="209550"/>
          </a:xfrm>
          <a:prstGeom prst="roundRect">
            <a:avLst>
              <a:gd name="adj" fmla="val 41667"/>
            </a:avLst>
          </a:prstGeom>
          <a:solidFill>
            <a:schemeClr val="accent2"/>
          </a:solidFill>
          <a:ln>
            <a:noFill/>
          </a:ln>
        </p:spPr>
        <p:txBody>
          <a:bodyPr/>
          <a:p/>
        </p:txBody>
      </p:sp>
      <p:sp>
        <p:nvSpPr>
          <p:cNvPr id="4" name="TextBox 4"/>
          <p:cNvSpPr txBox="1"/>
          <p:nvPr/>
        </p:nvSpPr>
        <p:spPr>
          <a:xfrm>
            <a:off x="699135" y="526256"/>
            <a:ext cx="914370" cy="220028"/>
          </a:xfrm>
          <a:prstGeom prst="rect">
            <a:avLst/>
          </a:prstGeom>
          <a:noFill/>
          <a:ln>
            <a:noFill/>
          </a:ln>
        </p:spPr>
        <p:txBody>
          <a:bodyPr wrap="none" lIns="0" tIns="0" rIns="0" bIns="0" anchor="t" anchorCtr="0">
            <a:spAutoFit/>
          </a:bodyPr>
          <a:lstStyle/>
          <a:p>
            <a:pPr algn="l"/>
            <a:r>
              <a:rPr lang="en-US" sz="1120" b="1" spc="225" dirty="0">
                <a:solidFill>
                  <a:schemeClr val="accent2"/>
                </a:solidFill>
                <a:latin typeface="+mn-lt"/>
                <a:ea typeface="+mn-ea"/>
                <a:cs typeface="+mn-cs"/>
              </a:rPr>
              <a:t>PROBLEM</a:t>
            </a:r>
          </a:p>
        </p:txBody>
      </p:sp>
      <p:sp>
        <p:nvSpPr>
          <p:cNvPr id="5" name="TextBox 5"/>
          <p:cNvSpPr txBox="1"/>
          <p:nvPr/>
        </p:nvSpPr>
        <p:spPr>
          <a:xfrm>
            <a:off x="518160" y="781050"/>
            <a:ext cx="7275200" cy="586740"/>
          </a:xfrm>
          <a:prstGeom prst="rect">
            <a:avLst/>
          </a:prstGeom>
          <a:noFill/>
          <a:ln>
            <a:noFill/>
          </a:ln>
        </p:spPr>
        <p:txBody>
          <a:bodyPr wrap="none" lIns="0" tIns="0" rIns="0" bIns="0" anchor="t" anchorCtr="0">
            <a:spAutoFit/>
          </a:bodyPr>
          <a:lstStyle/>
          <a:p>
            <a:pPr algn="l"/>
            <a:r>
              <a:rPr lang="en-US" sz="3000" b="1" dirty="0">
                <a:solidFill>
                  <a:schemeClr val="dk1"/>
                </a:solidFill>
                <a:latin typeface="+mn-lt"/>
                <a:ea typeface="+mn-ea"/>
                <a:cs typeface="+mn-cs"/>
              </a:rPr>
              <a:t>Binning gets in the way of moments</a:t>
            </a:r>
          </a:p>
        </p:txBody>
      </p:sp>
      <p:sp>
        <p:nvSpPr>
          <p:cNvPr id="6" name="TextBox 6"/>
          <p:cNvSpPr txBox="1"/>
          <p:nvPr/>
        </p:nvSpPr>
        <p:spPr>
          <a:xfrm>
            <a:off x="11095485" y="534352"/>
            <a:ext cx="568449" cy="205359"/>
          </a:xfrm>
          <a:prstGeom prst="rect">
            <a:avLst/>
          </a:prstGeom>
          <a:noFill/>
          <a:ln>
            <a:noFill/>
          </a:ln>
        </p:spPr>
        <p:txBody>
          <a:bodyPr wrap="none" lIns="0" tIns="0" rIns="0" bIns="0" anchor="t" anchorCtr="0">
            <a:spAutoFit/>
          </a:bodyPr>
          <a:lstStyle/>
          <a:p>
            <a:pPr algn="r"/>
            <a:r>
              <a:rPr lang="en-US" sz="1050" b="1" spc="75" dirty="0">
                <a:solidFill>
                  <a:srgbClr val="6E85AC"/>
                </a:solidFill>
                <a:latin typeface="Consolas"/>
                <a:ea typeface="Consolas"/>
                <a:cs typeface="Consolas"/>
              </a:rPr>
              <a:t>02 / 10</a:t>
            </a:r>
          </a:p>
        </p:txBody>
      </p:sp>
      <p:sp>
        <p:nvSpPr>
          <p:cNvPr id="7" name="Line 7"/>
          <p:cNvSpPr/>
          <p:nvPr/>
        </p:nvSpPr>
        <p:spPr>
          <a:xfrm>
            <a:off x="533400" y="1314450"/>
            <a:ext cx="11125200" cy="9525"/>
          </a:xfrm>
          <a:custGeom>
            <a:avLst/>
            <a:gdLst/>
            <a:ahLst/>
            <a:cxnLst/>
            <a:rect l="l" t="t" r="r" b="b"/>
            <a:pathLst>
              <a:path w="11125200" h="9525">
                <a:moveTo>
                  <a:pt x="0" y="0"/>
                </a:moveTo>
                <a:lnTo>
                  <a:pt x="11125200" y="0"/>
                </a:lnTo>
              </a:path>
            </a:pathLst>
          </a:custGeom>
          <a:noFill/>
          <a:ln w="11430">
            <a:solidFill>
              <a:schemeClr val="accent4"/>
            </a:solidFill>
          </a:ln>
        </p:spPr>
        <p:txBody>
          <a:bodyPr/>
          <a:p/>
        </p:txBody>
      </p:sp>
      <p:grpSp>
        <p:nvGrpSpPr>
          <p:cNvPr id="12" name="Group 12"/>
          <p:cNvGrpSpPr/>
          <p:nvPr/>
        </p:nvGrpSpPr>
        <p:grpSpPr>
          <a:xfrm>
            <a:off x="533400" y="1524000"/>
            <a:ext cx="11125200" cy="876300"/>
            <a:chOff x="533400" y="1524000"/>
            <a:chExt cx="11125200" cy="876300"/>
          </a:xfrm>
        </p:grpSpPr>
        <p:sp>
          <p:nvSpPr>
            <p:cNvPr id="8" name="Rectangle 8"/>
            <p:cNvSpPr/>
            <p:nvPr/>
          </p:nvSpPr>
          <p:spPr>
            <a:xfrm>
              <a:off x="533400" y="1524000"/>
              <a:ext cx="11125200" cy="876300"/>
            </a:xfrm>
            <a:prstGeom prst="roundRect">
              <a:avLst>
                <a:gd name="adj" fmla="val 15217"/>
              </a:avLst>
            </a:prstGeom>
            <a:solidFill>
              <a:schemeClr val="accent5"/>
            </a:solidFill>
            <a:ln w="11430">
              <a:solidFill>
                <a:schemeClr val="accent4"/>
              </a:solidFill>
            </a:ln>
          </p:spPr>
        </p:sp>
        <p:sp>
          <p:nvSpPr>
            <p:cNvPr id="9" name="Rectangle 9"/>
            <p:cNvSpPr/>
            <p:nvPr/>
          </p:nvSpPr>
          <p:spPr>
            <a:xfrm>
              <a:off x="723900" y="1733550"/>
              <a:ext cx="47625" cy="457200"/>
            </a:xfrm>
            <a:prstGeom prst="roundRect">
              <a:avLst>
                <a:gd name="adj" fmla="val 50000"/>
              </a:avLst>
            </a:prstGeom>
            <a:solidFill>
              <a:schemeClr val="accent2"/>
            </a:solidFill>
            <a:ln>
              <a:noFill/>
            </a:ln>
          </p:spPr>
        </p:sp>
        <p:sp>
          <p:nvSpPr>
            <p:cNvPr id="10" name="TextBox 10"/>
            <p:cNvSpPr txBox="1"/>
            <p:nvPr/>
          </p:nvSpPr>
          <p:spPr>
            <a:xfrm>
              <a:off x="906780" y="1724025"/>
              <a:ext cx="5905772" cy="293370"/>
            </a:xfrm>
            <a:prstGeom prst="rect">
              <a:avLst/>
            </a:prstGeom>
            <a:noFill/>
            <a:ln>
              <a:noFill/>
            </a:ln>
          </p:spPr>
          <p:txBody>
            <a:bodyPr wrap="none" lIns="0" tIns="0" rIns="0" bIns="0" anchor="t" anchorCtr="0">
              <a:spAutoFit/>
            </a:bodyPr>
            <a:lstStyle/>
            <a:p>
              <a:pPr algn="l"/>
              <a:r>
                <a:rPr lang="en-US" sz="1500" b="1" dirty="0">
                  <a:solidFill>
                    <a:schemeClr val="dk1"/>
                  </a:solidFill>
                  <a:latin typeface="+mn-lt"/>
                  <a:ea typeface="+mn-ea"/>
                  <a:cs typeface="+mn-cs"/>
                </a:rPr>
                <a:t>Unfolding (deconvolution) corrects detector distortions</a:t>
              </a:r>
            </a:p>
          </p:txBody>
        </p:sp>
        <p:sp>
          <p:nvSpPr>
            <p:cNvPr id="11" name="TextBox 11"/>
            <p:cNvSpPr txBox="1"/>
            <p:nvPr/>
          </p:nvSpPr>
          <p:spPr>
            <a:xfrm>
              <a:off x="908685" y="2031206"/>
              <a:ext cx="5831322"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so different experiments can be compared with one another — and with theory.</a:t>
              </a:r>
            </a:p>
          </p:txBody>
        </p:sp>
      </p:grpSp>
      <p:grpSp>
        <p:nvGrpSpPr>
          <p:cNvPr id="27" name="Group 27"/>
          <p:cNvGrpSpPr/>
          <p:nvPr/>
        </p:nvGrpSpPr>
        <p:grpSpPr>
          <a:xfrm>
            <a:off x="533400" y="2590800"/>
            <a:ext cx="3556000" cy="2857500"/>
            <a:chOff x="533400" y="2590800"/>
            <a:chExt cx="3556000" cy="2857500"/>
          </a:xfrm>
        </p:grpSpPr>
        <p:sp>
          <p:nvSpPr>
            <p:cNvPr id="13" name="Rectangle 13"/>
            <p:cNvSpPr/>
            <p:nvPr/>
          </p:nvSpPr>
          <p:spPr>
            <a:xfrm>
              <a:off x="533400" y="2590800"/>
              <a:ext cx="3556000" cy="2857500"/>
            </a:xfrm>
            <a:prstGeom prst="roundRect">
              <a:avLst>
                <a:gd name="adj" fmla="val 4667"/>
              </a:avLst>
            </a:prstGeom>
            <a:solidFill>
              <a:schemeClr val="accent5"/>
            </a:solidFill>
            <a:ln w="11430">
              <a:solidFill>
                <a:schemeClr val="accent4"/>
              </a:solidFill>
            </a:ln>
          </p:spPr>
        </p:sp>
        <p:sp>
          <p:nvSpPr>
            <p:cNvPr id="14" name="Rectangle 14"/>
            <p:cNvSpPr/>
            <p:nvPr/>
          </p:nvSpPr>
          <p:spPr>
            <a:xfrm>
              <a:off x="742950" y="2838450"/>
              <a:ext cx="47625" cy="285750"/>
            </a:xfrm>
            <a:prstGeom prst="roundRect">
              <a:avLst>
                <a:gd name="adj" fmla="val 50000"/>
              </a:avLst>
            </a:prstGeom>
            <a:solidFill>
              <a:srgbClr val="F7B84B"/>
            </a:solidFill>
            <a:ln>
              <a:noFill/>
            </a:ln>
          </p:spPr>
        </p:sp>
        <p:sp>
          <p:nvSpPr>
            <p:cNvPr id="15" name="TextBox 15"/>
            <p:cNvSpPr txBox="1"/>
            <p:nvPr/>
          </p:nvSpPr>
          <p:spPr>
            <a:xfrm>
              <a:off x="736092" y="3207068"/>
              <a:ext cx="1508160" cy="264033"/>
            </a:xfrm>
            <a:prstGeom prst="rect">
              <a:avLst/>
            </a:prstGeom>
            <a:noFill/>
            <a:ln>
              <a:noFill/>
            </a:ln>
          </p:spPr>
          <p:txBody>
            <a:bodyPr wrap="none" lIns="0" tIns="0" rIns="0" bIns="0" anchor="t" anchorCtr="0">
              <a:spAutoFit/>
            </a:bodyPr>
            <a:lstStyle/>
            <a:p>
              <a:pPr algn="l"/>
              <a:r>
                <a:rPr lang="en-US" sz="1350" b="1" dirty="0">
                  <a:solidFill>
                    <a:schemeClr val="dk1"/>
                  </a:solidFill>
                  <a:latin typeface="+mn-lt"/>
                  <a:ea typeface="+mn-ea"/>
                  <a:cs typeface="+mn-cs"/>
                </a:rPr>
                <a:t>The usual recipe</a:t>
              </a:r>
            </a:p>
          </p:txBody>
        </p:sp>
        <p:sp>
          <p:nvSpPr>
            <p:cNvPr id="16" name="TextBox 16"/>
            <p:cNvSpPr txBox="1"/>
            <p:nvPr/>
          </p:nvSpPr>
          <p:spPr>
            <a:xfrm>
              <a:off x="737235" y="3536156"/>
              <a:ext cx="2474021"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Unfold the entire spectrum after</a:t>
              </a:r>
            </a:p>
          </p:txBody>
        </p:sp>
        <p:sp>
          <p:nvSpPr>
            <p:cNvPr id="17" name="TextBox 17"/>
            <p:cNvSpPr txBox="1"/>
            <p:nvPr/>
          </p:nvSpPr>
          <p:spPr>
            <a:xfrm>
              <a:off x="737235" y="3736181"/>
              <a:ext cx="1956420"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first discretizing it into a</a:t>
              </a:r>
            </a:p>
          </p:txBody>
        </p:sp>
        <p:sp>
          <p:nvSpPr>
            <p:cNvPr id="18" name="TextBox 18"/>
            <p:cNvSpPr txBox="1"/>
            <p:nvPr/>
          </p:nvSpPr>
          <p:spPr>
            <a:xfrm>
              <a:off x="737235" y="3936206"/>
              <a:ext cx="2551979"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histogram, then compute moments</a:t>
              </a:r>
            </a:p>
          </p:txBody>
        </p:sp>
        <p:sp>
          <p:nvSpPr>
            <p:cNvPr id="19" name="TextBox 19"/>
            <p:cNvSpPr txBox="1"/>
            <p:nvPr/>
          </p:nvSpPr>
          <p:spPr>
            <a:xfrm>
              <a:off x="737235" y="4136231"/>
              <a:ext cx="1617177"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from that histogram.</a:t>
              </a:r>
            </a:p>
          </p:txBody>
        </p:sp>
        <p:sp>
          <p:nvSpPr>
            <p:cNvPr id="20" name="Rectangle 20"/>
            <p:cNvSpPr/>
            <p:nvPr/>
          </p:nvSpPr>
          <p:spPr>
            <a:xfrm>
              <a:off x="819150" y="4800600"/>
              <a:ext cx="438150" cy="171450"/>
            </a:xfrm>
            <a:prstGeom prst="roundRect">
              <a:avLst>
                <a:gd name="adj" fmla="val 11111"/>
              </a:avLst>
            </a:prstGeom>
            <a:solidFill>
              <a:srgbClr val="F7B84B">
                <a:alpha val="75000"/>
              </a:srgbClr>
            </a:solidFill>
            <a:ln>
              <a:noFill/>
            </a:ln>
          </p:spPr>
        </p:sp>
        <p:sp>
          <p:nvSpPr>
            <p:cNvPr id="21" name="Rectangle 21"/>
            <p:cNvSpPr/>
            <p:nvPr/>
          </p:nvSpPr>
          <p:spPr>
            <a:xfrm>
              <a:off x="1314450" y="4686300"/>
              <a:ext cx="438150" cy="285750"/>
            </a:xfrm>
            <a:prstGeom prst="roundRect">
              <a:avLst>
                <a:gd name="adj" fmla="val 6667"/>
              </a:avLst>
            </a:prstGeom>
            <a:solidFill>
              <a:srgbClr val="F7B84B">
                <a:alpha val="75000"/>
              </a:srgbClr>
            </a:solidFill>
            <a:ln>
              <a:noFill/>
            </a:ln>
          </p:spPr>
        </p:sp>
        <p:sp>
          <p:nvSpPr>
            <p:cNvPr id="22" name="Rectangle 22"/>
            <p:cNvSpPr/>
            <p:nvPr/>
          </p:nvSpPr>
          <p:spPr>
            <a:xfrm>
              <a:off x="1809750" y="4572000"/>
              <a:ext cx="438150" cy="400050"/>
            </a:xfrm>
            <a:prstGeom prst="roundRect">
              <a:avLst>
                <a:gd name="adj" fmla="val 4762"/>
              </a:avLst>
            </a:prstGeom>
            <a:solidFill>
              <a:srgbClr val="F7B84B">
                <a:alpha val="75000"/>
              </a:srgbClr>
            </a:solidFill>
            <a:ln>
              <a:noFill/>
            </a:ln>
          </p:spPr>
        </p:sp>
        <p:sp>
          <p:nvSpPr>
            <p:cNvPr id="23" name="Rectangle 23"/>
            <p:cNvSpPr/>
            <p:nvPr/>
          </p:nvSpPr>
          <p:spPr>
            <a:xfrm>
              <a:off x="2314575" y="4648200"/>
              <a:ext cx="438150" cy="323850"/>
            </a:xfrm>
            <a:prstGeom prst="roundRect">
              <a:avLst>
                <a:gd name="adj" fmla="val 5882"/>
              </a:avLst>
            </a:prstGeom>
            <a:solidFill>
              <a:srgbClr val="F7B84B">
                <a:alpha val="75000"/>
              </a:srgbClr>
            </a:solidFill>
            <a:ln>
              <a:noFill/>
            </a:ln>
          </p:spPr>
        </p:sp>
        <p:sp>
          <p:nvSpPr>
            <p:cNvPr id="24" name="Rectangle 24"/>
            <p:cNvSpPr/>
            <p:nvPr/>
          </p:nvSpPr>
          <p:spPr>
            <a:xfrm>
              <a:off x="2809875" y="4762500"/>
              <a:ext cx="438150" cy="209550"/>
            </a:xfrm>
            <a:prstGeom prst="roundRect">
              <a:avLst>
                <a:gd name="adj" fmla="val 9091"/>
              </a:avLst>
            </a:prstGeom>
            <a:solidFill>
              <a:srgbClr val="F7B84B">
                <a:alpha val="75000"/>
              </a:srgbClr>
            </a:solidFill>
            <a:ln>
              <a:noFill/>
            </a:ln>
          </p:spPr>
        </p:sp>
        <p:sp>
          <p:nvSpPr>
            <p:cNvPr id="25" name="Rectangle 25"/>
            <p:cNvSpPr/>
            <p:nvPr/>
          </p:nvSpPr>
          <p:spPr>
            <a:xfrm>
              <a:off x="3305175" y="4838700"/>
              <a:ext cx="438150" cy="133350"/>
            </a:xfrm>
            <a:prstGeom prst="roundRect">
              <a:avLst>
                <a:gd name="adj" fmla="val 14286"/>
              </a:avLst>
            </a:prstGeom>
            <a:solidFill>
              <a:srgbClr val="F7B84B">
                <a:alpha val="75000"/>
              </a:srgbClr>
            </a:solidFill>
            <a:ln>
              <a:noFill/>
            </a:ln>
          </p:spPr>
        </p:sp>
        <p:sp>
          <p:nvSpPr>
            <p:cNvPr id="26" name="TextBox 26"/>
            <p:cNvSpPr txBox="1"/>
            <p:nvPr/>
          </p:nvSpPr>
          <p:spPr>
            <a:xfrm>
              <a:off x="738188" y="5213747"/>
              <a:ext cx="2142088" cy="183356"/>
            </a:xfrm>
            <a:prstGeom prst="rect">
              <a:avLst/>
            </a:prstGeom>
            <a:noFill/>
            <a:ln>
              <a:noFill/>
            </a:ln>
          </p:spPr>
          <p:txBody>
            <a:bodyPr wrap="none" lIns="0" tIns="0" rIns="0" bIns="0" anchor="t" anchorCtr="0">
              <a:spAutoFit/>
            </a:bodyPr>
            <a:lstStyle/>
            <a:p>
              <a:pPr algn="l"/>
              <a:r>
                <a:rPr lang="en-US" sz="940" b="1" dirty="0">
                  <a:solidFill>
                    <a:srgbClr val="6E85AC"/>
                  </a:solidFill>
                  <a:latin typeface="Consolas"/>
                  <a:ea typeface="Consolas"/>
                  <a:cs typeface="Consolas"/>
                </a:rPr>
                <a:t>spectrum → histogram → moments</a:t>
              </a:r>
            </a:p>
          </p:txBody>
        </p:sp>
      </p:grpSp>
      <p:grpSp>
        <p:nvGrpSpPr>
          <p:cNvPr id="38" name="Group 38"/>
          <p:cNvGrpSpPr/>
          <p:nvPr/>
        </p:nvGrpSpPr>
        <p:grpSpPr>
          <a:xfrm>
            <a:off x="4318000" y="2590800"/>
            <a:ext cx="3556000" cy="2857500"/>
            <a:chOff x="4318000" y="2590800"/>
            <a:chExt cx="3556000" cy="2857500"/>
          </a:xfrm>
        </p:grpSpPr>
        <p:sp>
          <p:nvSpPr>
            <p:cNvPr id="28" name="Rectangle 28"/>
            <p:cNvSpPr/>
            <p:nvPr/>
          </p:nvSpPr>
          <p:spPr>
            <a:xfrm>
              <a:off x="4318000" y="2590800"/>
              <a:ext cx="3556000" cy="2857500"/>
            </a:xfrm>
            <a:prstGeom prst="roundRect">
              <a:avLst>
                <a:gd name="adj" fmla="val 4667"/>
              </a:avLst>
            </a:prstGeom>
            <a:solidFill>
              <a:schemeClr val="accent5"/>
            </a:solidFill>
            <a:ln w="11430">
              <a:solidFill>
                <a:schemeClr val="accent4"/>
              </a:solidFill>
            </a:ln>
          </p:spPr>
        </p:sp>
        <p:sp>
          <p:nvSpPr>
            <p:cNvPr id="29" name="Rectangle 29"/>
            <p:cNvSpPr/>
            <p:nvPr/>
          </p:nvSpPr>
          <p:spPr>
            <a:xfrm>
              <a:off x="4527550" y="2838450"/>
              <a:ext cx="47625" cy="285750"/>
            </a:xfrm>
            <a:prstGeom prst="roundRect">
              <a:avLst>
                <a:gd name="adj" fmla="val 50000"/>
              </a:avLst>
            </a:prstGeom>
            <a:solidFill>
              <a:srgbClr val="F2708A"/>
            </a:solidFill>
            <a:ln>
              <a:noFill/>
            </a:ln>
          </p:spPr>
        </p:sp>
        <p:sp>
          <p:nvSpPr>
            <p:cNvPr id="30" name="TextBox 30"/>
            <p:cNvSpPr txBox="1"/>
            <p:nvPr/>
          </p:nvSpPr>
          <p:spPr>
            <a:xfrm>
              <a:off x="4520692" y="3207068"/>
              <a:ext cx="1240749" cy="264033"/>
            </a:xfrm>
            <a:prstGeom prst="rect">
              <a:avLst/>
            </a:prstGeom>
            <a:noFill/>
            <a:ln>
              <a:noFill/>
            </a:ln>
          </p:spPr>
          <p:txBody>
            <a:bodyPr wrap="none" lIns="0" tIns="0" rIns="0" bIns="0" anchor="t" anchorCtr="0">
              <a:spAutoFit/>
            </a:bodyPr>
            <a:lstStyle/>
            <a:p>
              <a:pPr algn="l"/>
              <a:r>
                <a:rPr lang="en-US" sz="1350" b="1" dirty="0">
                  <a:solidFill>
                    <a:schemeClr val="dk1"/>
                  </a:solidFill>
                  <a:latin typeface="+mn-lt"/>
                  <a:ea typeface="+mn-ea"/>
                  <a:cs typeface="+mn-cs"/>
                </a:rPr>
                <a:t>Binning hurts</a:t>
              </a:r>
            </a:p>
          </p:txBody>
        </p:sp>
        <p:sp>
          <p:nvSpPr>
            <p:cNvPr id="31" name="TextBox 31"/>
            <p:cNvSpPr txBox="1"/>
            <p:nvPr/>
          </p:nvSpPr>
          <p:spPr>
            <a:xfrm>
              <a:off x="4521835" y="3536156"/>
              <a:ext cx="1900555"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Discretization introduces</a:t>
              </a:r>
            </a:p>
          </p:txBody>
        </p:sp>
        <p:sp>
          <p:nvSpPr>
            <p:cNvPr id="32" name="TextBox 32"/>
            <p:cNvSpPr txBox="1"/>
            <p:nvPr/>
          </p:nvSpPr>
          <p:spPr>
            <a:xfrm>
              <a:off x="4521835" y="3736181"/>
              <a:ext cx="2551979"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artifacts, and it is wasteful when</a:t>
              </a:r>
            </a:p>
          </p:txBody>
        </p:sp>
        <p:sp>
          <p:nvSpPr>
            <p:cNvPr id="33" name="TextBox 33"/>
            <p:cNvSpPr txBox="1"/>
            <p:nvPr/>
          </p:nvSpPr>
          <p:spPr>
            <a:xfrm>
              <a:off x="4521835" y="3936206"/>
              <a:ext cx="2107194"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all you want is a small set of</a:t>
              </a:r>
            </a:p>
          </p:txBody>
        </p:sp>
        <p:sp>
          <p:nvSpPr>
            <p:cNvPr id="34" name="TextBox 34"/>
            <p:cNvSpPr txBox="1"/>
            <p:nvPr/>
          </p:nvSpPr>
          <p:spPr>
            <a:xfrm>
              <a:off x="4521835" y="4136231"/>
              <a:ext cx="735147"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moments.</a:t>
              </a:r>
            </a:p>
          </p:txBody>
        </p:sp>
        <p:sp>
          <p:nvSpPr>
            <p:cNvPr id="35" name="Rectangle 35"/>
            <p:cNvSpPr/>
            <p:nvPr/>
          </p:nvSpPr>
          <p:spPr>
            <a:xfrm>
              <a:off x="4527550" y="4533900"/>
              <a:ext cx="3136900" cy="647700"/>
            </a:xfrm>
            <a:prstGeom prst="roundRect">
              <a:avLst>
                <a:gd name="adj" fmla="val 17647"/>
              </a:avLst>
            </a:prstGeom>
            <a:solidFill>
              <a:srgbClr val="301B27"/>
            </a:solidFill>
            <a:ln w="11430">
              <a:solidFill>
                <a:srgbClr val="F2708A"/>
              </a:solidFill>
            </a:ln>
          </p:spPr>
        </p:sp>
        <p:sp>
          <p:nvSpPr>
            <p:cNvPr id="36" name="TextBox 36"/>
            <p:cNvSpPr txBox="1"/>
            <p:nvPr/>
          </p:nvSpPr>
          <p:spPr>
            <a:xfrm>
              <a:off x="4674235" y="4736306"/>
              <a:ext cx="2061585" cy="220028"/>
            </a:xfrm>
            <a:prstGeom prst="rect">
              <a:avLst/>
            </a:prstGeom>
            <a:noFill/>
            <a:ln>
              <a:noFill/>
            </a:ln>
          </p:spPr>
          <p:txBody>
            <a:bodyPr wrap="none" lIns="0" tIns="0" rIns="0" bIns="0" anchor="t" anchorCtr="0">
              <a:spAutoFit/>
            </a:bodyPr>
            <a:lstStyle/>
            <a:p>
              <a:pPr algn="l"/>
              <a:r>
                <a:rPr lang="en-US" sz="1120" b="1" dirty="0">
                  <a:solidFill>
                    <a:srgbClr val="F2708A"/>
                  </a:solidFill>
                  <a:latin typeface="+mn-lt"/>
                  <a:ea typeface="+mn-ea"/>
                  <a:cs typeface="+mn-cs"/>
                </a:rPr>
                <a:t>artifacts + wasted effort</a:t>
              </a:r>
            </a:p>
          </p:txBody>
        </p:sp>
        <p:sp>
          <p:nvSpPr>
            <p:cNvPr id="37" name="TextBox 37"/>
            <p:cNvSpPr txBox="1"/>
            <p:nvPr/>
          </p:nvSpPr>
          <p:spPr>
            <a:xfrm>
              <a:off x="4674997" y="4962049"/>
              <a:ext cx="1520477"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for just a few moments</a:t>
              </a:r>
            </a:p>
          </p:txBody>
        </p:sp>
      </p:grpSp>
      <p:grpSp>
        <p:nvGrpSpPr>
          <p:cNvPr id="49" name="Group 49"/>
          <p:cNvGrpSpPr/>
          <p:nvPr/>
        </p:nvGrpSpPr>
        <p:grpSpPr>
          <a:xfrm>
            <a:off x="8102600" y="2590800"/>
            <a:ext cx="3556000" cy="2857500"/>
            <a:chOff x="8102600" y="2590800"/>
            <a:chExt cx="3556000" cy="2857500"/>
          </a:xfrm>
        </p:grpSpPr>
        <p:sp>
          <p:nvSpPr>
            <p:cNvPr id="39" name="Rectangle 39"/>
            <p:cNvSpPr/>
            <p:nvPr/>
          </p:nvSpPr>
          <p:spPr>
            <a:xfrm>
              <a:off x="8102600" y="2590800"/>
              <a:ext cx="3556000" cy="2857500"/>
            </a:xfrm>
            <a:prstGeom prst="roundRect">
              <a:avLst>
                <a:gd name="adj" fmla="val 4667"/>
              </a:avLst>
            </a:prstGeom>
            <a:solidFill>
              <a:schemeClr val="accent6"/>
            </a:solidFill>
            <a:ln w="12382">
              <a:solidFill>
                <a:schemeClr val="accent2"/>
              </a:solidFill>
            </a:ln>
          </p:spPr>
        </p:sp>
        <p:sp>
          <p:nvSpPr>
            <p:cNvPr id="40" name="Rectangle 40"/>
            <p:cNvSpPr/>
            <p:nvPr/>
          </p:nvSpPr>
          <p:spPr>
            <a:xfrm>
              <a:off x="8312150" y="2838450"/>
              <a:ext cx="47625" cy="285750"/>
            </a:xfrm>
            <a:prstGeom prst="roundRect">
              <a:avLst>
                <a:gd name="adj" fmla="val 50000"/>
              </a:avLst>
            </a:prstGeom>
            <a:solidFill>
              <a:schemeClr val="accent2"/>
            </a:solidFill>
            <a:ln>
              <a:noFill/>
            </a:ln>
          </p:spPr>
        </p:sp>
        <p:sp>
          <p:nvSpPr>
            <p:cNvPr id="41" name="TextBox 41"/>
            <p:cNvSpPr txBox="1"/>
            <p:nvPr/>
          </p:nvSpPr>
          <p:spPr>
            <a:xfrm>
              <a:off x="8305292" y="3207068"/>
              <a:ext cx="707163" cy="264033"/>
            </a:xfrm>
            <a:prstGeom prst="rect">
              <a:avLst/>
            </a:prstGeom>
            <a:noFill/>
            <a:ln>
              <a:noFill/>
            </a:ln>
          </p:spPr>
          <p:txBody>
            <a:bodyPr wrap="none" lIns="0" tIns="0" rIns="0" bIns="0" anchor="t" anchorCtr="0">
              <a:spAutoFit/>
            </a:bodyPr>
            <a:lstStyle/>
            <a:p>
              <a:pPr algn="l"/>
              <a:r>
                <a:rPr lang="en-US" sz="1350" b="1" dirty="0">
                  <a:solidFill>
                    <a:schemeClr val="dk1"/>
                  </a:solidFill>
                  <a:latin typeface="+mn-lt"/>
                  <a:ea typeface="+mn-ea"/>
                  <a:cs typeface="+mn-cs"/>
                </a:rPr>
                <a:t>The gap</a:t>
              </a:r>
            </a:p>
          </p:txBody>
        </p:sp>
        <p:sp>
          <p:nvSpPr>
            <p:cNvPr id="42" name="TextBox 42"/>
            <p:cNvSpPr txBox="1"/>
            <p:nvPr/>
          </p:nvSpPr>
          <p:spPr>
            <a:xfrm>
              <a:off x="8306435" y="3536156"/>
              <a:ext cx="1780746"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Binned data on one side,</a:t>
              </a:r>
            </a:p>
          </p:txBody>
        </p:sp>
        <p:sp>
          <p:nvSpPr>
            <p:cNvPr id="43" name="TextBox 43"/>
            <p:cNvSpPr txBox="1"/>
            <p:nvPr/>
          </p:nvSpPr>
          <p:spPr>
            <a:xfrm>
              <a:off x="8306435" y="3736181"/>
              <a:ext cx="2627366"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moment-level theory predictions on</a:t>
              </a:r>
            </a:p>
          </p:txBody>
        </p:sp>
        <p:sp>
          <p:nvSpPr>
            <p:cNvPr id="44" name="TextBox 44"/>
            <p:cNvSpPr txBox="1"/>
            <p:nvPr/>
          </p:nvSpPr>
          <p:spPr>
            <a:xfrm>
              <a:off x="8306435" y="3936206"/>
              <a:ext cx="2489314"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the other. This paper closes that</a:t>
              </a:r>
            </a:p>
          </p:txBody>
        </p:sp>
        <p:sp>
          <p:nvSpPr>
            <p:cNvPr id="45" name="TextBox 45"/>
            <p:cNvSpPr txBox="1"/>
            <p:nvPr/>
          </p:nvSpPr>
          <p:spPr>
            <a:xfrm>
              <a:off x="8306435" y="4136231"/>
              <a:ext cx="780379"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mismatch.</a:t>
              </a:r>
            </a:p>
          </p:txBody>
        </p:sp>
        <p:sp>
          <p:nvSpPr>
            <p:cNvPr id="46" name="Rectangle 46"/>
            <p:cNvSpPr/>
            <p:nvPr/>
          </p:nvSpPr>
          <p:spPr>
            <a:xfrm>
              <a:off x="8312150" y="4533900"/>
              <a:ext cx="3136900" cy="647700"/>
            </a:xfrm>
            <a:prstGeom prst="roundRect">
              <a:avLst>
                <a:gd name="adj" fmla="val 17647"/>
              </a:avLst>
            </a:prstGeom>
            <a:solidFill>
              <a:srgbClr val="16283F"/>
            </a:solidFill>
            <a:ln w="11430">
              <a:solidFill>
                <a:schemeClr val="accent2"/>
              </a:solidFill>
            </a:ln>
          </p:spPr>
        </p:sp>
        <p:sp>
          <p:nvSpPr>
            <p:cNvPr id="47" name="TextBox 47"/>
            <p:cNvSpPr txBox="1"/>
            <p:nvPr/>
          </p:nvSpPr>
          <p:spPr>
            <a:xfrm>
              <a:off x="8459406" y="4748451"/>
              <a:ext cx="2008990" cy="198025"/>
            </a:xfrm>
            <a:prstGeom prst="rect">
              <a:avLst/>
            </a:prstGeom>
            <a:noFill/>
            <a:ln>
              <a:noFill/>
            </a:ln>
          </p:spPr>
          <p:txBody>
            <a:bodyPr wrap="none" lIns="0" tIns="0" rIns="0" bIns="0" anchor="t" anchorCtr="0">
              <a:spAutoFit/>
            </a:bodyPr>
            <a:lstStyle/>
            <a:p>
              <a:pPr algn="l"/>
              <a:r>
                <a:rPr lang="en-US" sz="1010" b="1" dirty="0">
                  <a:solidFill>
                    <a:schemeClr val="accent2"/>
                  </a:solidFill>
                  <a:latin typeface="+mn-lt"/>
                  <a:ea typeface="+mn-ea"/>
                  <a:cs typeface="+mn-cs"/>
                </a:rPr>
                <a:t>binned data ≠ moment theory</a:t>
              </a:r>
            </a:p>
          </p:txBody>
        </p:sp>
        <p:sp>
          <p:nvSpPr>
            <p:cNvPr id="48" name="TextBox 48"/>
            <p:cNvSpPr txBox="1"/>
            <p:nvPr/>
          </p:nvSpPr>
          <p:spPr>
            <a:xfrm>
              <a:off x="8459597" y="4962049"/>
              <a:ext cx="1626019"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the gap this paper closes</a:t>
              </a:r>
            </a:p>
          </p:txBody>
        </p:sp>
      </p:grpSp>
      <p:sp>
        <p:nvSpPr>
          <p:cNvPr id="50" name="cue_s02_c1_unfolding_also_known_deconvolution_c" title="cue_s02_c1_unfolding_also_known_deconvolution_c" descr="cue_s02_c1_unfolding_also_known_deconvolution_c Unfolding, also known as deconvolution, corrects the distortions a detector imprints on measured data so that experiments can be compared with each other and with theory."/>
          <p:cNvSpPr/>
          <p:nvPr/>
        </p:nvSpPr>
        <p:spPr>
          <a:xfrm>
            <a:off x="532790" y="1523847"/>
            <a:ext cx="11125200" cy="87645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cue_s02_c2_usual_recipe_unfolds_entire_spectrum" title="cue_s02_c2_usual_recipe_unfolds_entire_spectrum" descr="cue_s02_c2_usual_recipe_unfolds_entire_spectrum The usual recipe unfolds an entire spectrum after first discretizing it into a histogram, then computes moments from that histogram."/>
          <p:cNvSpPr/>
          <p:nvPr/>
        </p:nvSpPr>
        <p:spPr>
          <a:xfrm>
            <a:off x="532790" y="2590952"/>
            <a:ext cx="3556406" cy="28577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cue_s02_c3_but_binning_step_introduces_discreti" title="cue_s02_c3_but_binning_step_introduces_discreti" descr="cue_s02_c3_but_binning_step_introduces_discreti But this binning step introduces discretization artifacts, and it is wasteful when the quantity you actually care about is just a small set of moments as a function of another observable."/>
          <p:cNvSpPr/>
          <p:nvPr/>
        </p:nvSpPr>
        <p:spPr>
          <a:xfrm>
            <a:off x="4318406" y="2590952"/>
            <a:ext cx="3556406" cy="28577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cue_s02_c4_mismatch_between_binned_moment_level" title="cue_s02_c4_mismatch_between_binned_moment_level" descr="cue_s02_c4_mismatch_between_binned_moment_level That mismatch between binned data and moment-level theory predictions is the gap this paper closes."/>
          <p:cNvSpPr/>
          <p:nvPr/>
        </p:nvSpPr>
        <p:spPr>
          <a:xfrm>
            <a:off x="8102803" y="2590952"/>
            <a:ext cx="3556406" cy="28577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gradFill>
            <a:gsLst>
              <a:gs pos="0">
                <a:schemeClr val="lt2">
                  <a:alpha val="90000"/>
                </a:schemeClr>
              </a:gs>
              <a:gs pos="60000">
                <a:schemeClr val="lt1">
                  <a:alpha val="0"/>
                </a:schemeClr>
              </a:gs>
            </a:gsLst>
            <a:path path="circle">
              <a:fillToRect l="50000" t="50000" r="50000" b="50000"/>
            </a:path>
          </a:gradFill>
          <a:ln>
            <a:noFill/>
          </a:ln>
        </p:spPr>
        <p:txBody>
          <a:bodyPr/>
          <a:p/>
        </p:txBody>
      </p:sp>
      <p:sp>
        <p:nvSpPr>
          <p:cNvPr id="3" name="Rectangle 3"/>
          <p:cNvSpPr/>
          <p:nvPr/>
        </p:nvSpPr>
        <p:spPr>
          <a:xfrm>
            <a:off x="533400" y="476250"/>
            <a:ext cx="57150" cy="209550"/>
          </a:xfrm>
          <a:prstGeom prst="roundRect">
            <a:avLst>
              <a:gd name="adj" fmla="val 41667"/>
            </a:avLst>
          </a:prstGeom>
          <a:solidFill>
            <a:schemeClr val="accent2"/>
          </a:solidFill>
          <a:ln>
            <a:noFill/>
          </a:ln>
        </p:spPr>
        <p:txBody>
          <a:bodyPr/>
          <a:p/>
        </p:txBody>
      </p:sp>
      <p:sp>
        <p:nvSpPr>
          <p:cNvPr id="4" name="TextBox 4"/>
          <p:cNvSpPr txBox="1"/>
          <p:nvPr/>
        </p:nvSpPr>
        <p:spPr>
          <a:xfrm>
            <a:off x="699135" y="526256"/>
            <a:ext cx="1236202" cy="220028"/>
          </a:xfrm>
          <a:prstGeom prst="rect">
            <a:avLst/>
          </a:prstGeom>
          <a:noFill/>
          <a:ln>
            <a:noFill/>
          </a:ln>
        </p:spPr>
        <p:txBody>
          <a:bodyPr wrap="none" lIns="0" tIns="0" rIns="0" bIns="0" anchor="t" anchorCtr="0">
            <a:spAutoFit/>
          </a:bodyPr>
          <a:lstStyle/>
          <a:p>
            <a:pPr algn="l"/>
            <a:r>
              <a:rPr lang="en-US" sz="1120" b="1" spc="225" dirty="0">
                <a:solidFill>
                  <a:schemeClr val="accent2"/>
                </a:solidFill>
                <a:latin typeface="+mn-lt"/>
                <a:ea typeface="+mn-ea"/>
                <a:cs typeface="+mn-cs"/>
              </a:rPr>
              <a:t>MOTIVATION</a:t>
            </a:r>
          </a:p>
        </p:txBody>
      </p:sp>
      <p:sp>
        <p:nvSpPr>
          <p:cNvPr id="5" name="TextBox 5"/>
          <p:cNvSpPr txBox="1"/>
          <p:nvPr/>
        </p:nvSpPr>
        <p:spPr>
          <a:xfrm>
            <a:off x="518160" y="781050"/>
            <a:ext cx="6193750" cy="586740"/>
          </a:xfrm>
          <a:prstGeom prst="rect">
            <a:avLst/>
          </a:prstGeom>
          <a:noFill/>
          <a:ln>
            <a:noFill/>
          </a:ln>
        </p:spPr>
        <p:txBody>
          <a:bodyPr wrap="none" lIns="0" tIns="0" rIns="0" bIns="0" anchor="t" anchorCtr="0">
            <a:spAutoFit/>
          </a:bodyPr>
          <a:lstStyle/>
          <a:p>
            <a:pPr algn="l"/>
            <a:r>
              <a:rPr lang="en-US" sz="3000" b="1" dirty="0">
                <a:solidFill>
                  <a:schemeClr val="dk1"/>
                </a:solidFill>
                <a:latin typeface="+mn-lt"/>
                <a:ea typeface="+mn-ea"/>
                <a:cs typeface="+mn-cs"/>
              </a:rPr>
              <a:t>Why unfold moments directly?</a:t>
            </a:r>
          </a:p>
        </p:txBody>
      </p:sp>
      <p:sp>
        <p:nvSpPr>
          <p:cNvPr id="6" name="TextBox 6"/>
          <p:cNvSpPr txBox="1"/>
          <p:nvPr/>
        </p:nvSpPr>
        <p:spPr>
          <a:xfrm>
            <a:off x="11095485" y="534352"/>
            <a:ext cx="568449" cy="205359"/>
          </a:xfrm>
          <a:prstGeom prst="rect">
            <a:avLst/>
          </a:prstGeom>
          <a:noFill/>
          <a:ln>
            <a:noFill/>
          </a:ln>
        </p:spPr>
        <p:txBody>
          <a:bodyPr wrap="none" lIns="0" tIns="0" rIns="0" bIns="0" anchor="t" anchorCtr="0">
            <a:spAutoFit/>
          </a:bodyPr>
          <a:lstStyle/>
          <a:p>
            <a:pPr algn="r"/>
            <a:r>
              <a:rPr lang="en-US" sz="1050" b="1" spc="75" dirty="0">
                <a:solidFill>
                  <a:srgbClr val="6E85AC"/>
                </a:solidFill>
                <a:latin typeface="Consolas"/>
                <a:ea typeface="Consolas"/>
                <a:cs typeface="Consolas"/>
              </a:rPr>
              <a:t>03 / 10</a:t>
            </a:r>
          </a:p>
        </p:txBody>
      </p:sp>
      <p:sp>
        <p:nvSpPr>
          <p:cNvPr id="7" name="Line 7"/>
          <p:cNvSpPr/>
          <p:nvPr/>
        </p:nvSpPr>
        <p:spPr>
          <a:xfrm>
            <a:off x="533400" y="1314450"/>
            <a:ext cx="11125200" cy="9525"/>
          </a:xfrm>
          <a:custGeom>
            <a:avLst/>
            <a:gdLst/>
            <a:ahLst/>
            <a:cxnLst/>
            <a:rect l="l" t="t" r="r" b="b"/>
            <a:pathLst>
              <a:path w="11125200" h="9525">
                <a:moveTo>
                  <a:pt x="0" y="0"/>
                </a:moveTo>
                <a:lnTo>
                  <a:pt x="11125200" y="0"/>
                </a:lnTo>
              </a:path>
            </a:pathLst>
          </a:custGeom>
          <a:noFill/>
          <a:ln w="11430">
            <a:solidFill>
              <a:schemeClr val="accent4"/>
            </a:solidFill>
          </a:ln>
        </p:spPr>
        <p:txBody>
          <a:bodyPr/>
          <a:p/>
        </p:txBody>
      </p:sp>
      <p:grpSp>
        <p:nvGrpSpPr>
          <p:cNvPr id="15" name="Group 15"/>
          <p:cNvGrpSpPr/>
          <p:nvPr/>
        </p:nvGrpSpPr>
        <p:grpSpPr>
          <a:xfrm>
            <a:off x="533400" y="1524000"/>
            <a:ext cx="5867400" cy="1600200"/>
            <a:chOff x="533400" y="1524000"/>
            <a:chExt cx="5867400" cy="1600200"/>
          </a:xfrm>
        </p:grpSpPr>
        <p:sp>
          <p:nvSpPr>
            <p:cNvPr id="8" name="Rectangle 8"/>
            <p:cNvSpPr/>
            <p:nvPr/>
          </p:nvSpPr>
          <p:spPr>
            <a:xfrm>
              <a:off x="533400" y="1524000"/>
              <a:ext cx="5867400" cy="1600200"/>
            </a:xfrm>
            <a:prstGeom prst="roundRect">
              <a:avLst>
                <a:gd name="adj" fmla="val 8333"/>
              </a:avLst>
            </a:prstGeom>
            <a:solidFill>
              <a:schemeClr val="accent5"/>
            </a:solidFill>
            <a:ln w="11430">
              <a:solidFill>
                <a:schemeClr val="accent4"/>
              </a:solidFill>
            </a:ln>
          </p:spPr>
        </p:sp>
        <p:sp>
          <p:nvSpPr>
            <p:cNvPr id="9" name="Rectangle 9"/>
            <p:cNvSpPr/>
            <p:nvPr/>
          </p:nvSpPr>
          <p:spPr>
            <a:xfrm>
              <a:off x="723900" y="1733550"/>
              <a:ext cx="47625" cy="285750"/>
            </a:xfrm>
            <a:prstGeom prst="roundRect">
              <a:avLst>
                <a:gd name="adj" fmla="val 50000"/>
              </a:avLst>
            </a:prstGeom>
            <a:solidFill>
              <a:schemeClr val="accent2"/>
            </a:solidFill>
            <a:ln>
              <a:noFill/>
            </a:ln>
          </p:spPr>
        </p:sp>
        <p:sp>
          <p:nvSpPr>
            <p:cNvPr id="10" name="TextBox 10"/>
            <p:cNvSpPr txBox="1"/>
            <p:nvPr/>
          </p:nvSpPr>
          <p:spPr>
            <a:xfrm>
              <a:off x="907542" y="1759268"/>
              <a:ext cx="4208707" cy="264033"/>
            </a:xfrm>
            <a:prstGeom prst="rect">
              <a:avLst/>
            </a:prstGeom>
            <a:noFill/>
            <a:ln>
              <a:noFill/>
            </a:ln>
          </p:spPr>
          <p:txBody>
            <a:bodyPr wrap="none" lIns="0" tIns="0" rIns="0" bIns="0" anchor="t" anchorCtr="0">
              <a:spAutoFit/>
            </a:bodyPr>
            <a:lstStyle/>
            <a:p>
              <a:pPr algn="l"/>
              <a:r>
                <a:rPr lang="en-US" sz="1350" b="1" dirty="0">
                  <a:solidFill>
                    <a:schemeClr val="dk1"/>
                  </a:solidFill>
                  <a:latin typeface="+mn-lt"/>
                  <a:ea typeface="+mn-ea"/>
                  <a:cs typeface="+mn-cs"/>
                </a:rPr>
                <a:t>A few moments make a distribution tractable</a:t>
              </a:r>
            </a:p>
          </p:txBody>
        </p:sp>
        <p:sp>
          <p:nvSpPr>
            <p:cNvPr id="11" name="TextBox 11"/>
            <p:cNvSpPr txBox="1"/>
            <p:nvPr/>
          </p:nvSpPr>
          <p:spPr>
            <a:xfrm>
              <a:off x="908876" y="2073354"/>
              <a:ext cx="4704172"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Summarizing a distribution by a handful of moments makes it easy</a:t>
              </a:r>
            </a:p>
          </p:txBody>
        </p:sp>
        <p:sp>
          <p:nvSpPr>
            <p:cNvPr id="12" name="TextBox 12"/>
            <p:cNvSpPr txBox="1"/>
            <p:nvPr/>
          </p:nvSpPr>
          <p:spPr>
            <a:xfrm>
              <a:off x="908876" y="2273379"/>
              <a:ext cx="4347092"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to visualize and, crucially, to predict from first principles.</a:t>
              </a:r>
            </a:p>
          </p:txBody>
        </p:sp>
        <p:sp>
          <p:nvSpPr>
            <p:cNvPr id="13" name="Rectangle 13"/>
            <p:cNvSpPr/>
            <p:nvPr/>
          </p:nvSpPr>
          <p:spPr>
            <a:xfrm>
              <a:off x="914400" y="2647950"/>
              <a:ext cx="5105400" cy="323850"/>
            </a:xfrm>
            <a:prstGeom prst="roundRect">
              <a:avLst>
                <a:gd name="adj" fmla="val 26471"/>
              </a:avLst>
            </a:prstGeom>
            <a:solidFill>
              <a:schemeClr val="lt2"/>
            </a:solidFill>
            <a:ln>
              <a:noFill/>
            </a:ln>
          </p:spPr>
        </p:sp>
        <p:sp>
          <p:nvSpPr>
            <p:cNvPr id="14" name="TextBox 14"/>
            <p:cNvSpPr txBox="1"/>
            <p:nvPr/>
          </p:nvSpPr>
          <p:spPr>
            <a:xfrm>
              <a:off x="1042416" y="2744152"/>
              <a:ext cx="3758236" cy="205359"/>
            </a:xfrm>
            <a:prstGeom prst="rect">
              <a:avLst/>
            </a:prstGeom>
            <a:noFill/>
            <a:ln>
              <a:noFill/>
            </a:ln>
          </p:spPr>
          <p:txBody>
            <a:bodyPr wrap="none" lIns="0" tIns="0" rIns="0" bIns="0" anchor="t" anchorCtr="0">
              <a:spAutoFit/>
            </a:bodyPr>
            <a:lstStyle/>
            <a:p>
              <a:pPr algn="l"/>
              <a:r>
                <a:rPr lang="en-US" sz="1050" b="1" dirty="0">
                  <a:solidFill>
                    <a:srgbClr val="37DCC0"/>
                  </a:solidFill>
                  <a:latin typeface="Consolas"/>
                  <a:ea typeface="Consolas"/>
                  <a:cs typeface="Consolas"/>
                </a:rPr>
                <a:t>mean · variance · skewness · … → visualize + predict</a:t>
              </a:r>
            </a:p>
          </p:txBody>
        </p:sp>
      </p:grpSp>
      <p:grpSp>
        <p:nvGrpSpPr>
          <p:cNvPr id="21" name="Group 21"/>
          <p:cNvGrpSpPr/>
          <p:nvPr/>
        </p:nvGrpSpPr>
        <p:grpSpPr>
          <a:xfrm>
            <a:off x="533400" y="3314700"/>
            <a:ext cx="5867400" cy="1143000"/>
            <a:chOff x="533400" y="3314700"/>
            <a:chExt cx="5867400" cy="1143000"/>
          </a:xfrm>
        </p:grpSpPr>
        <p:sp>
          <p:nvSpPr>
            <p:cNvPr id="16" name="Rectangle 16"/>
            <p:cNvSpPr/>
            <p:nvPr/>
          </p:nvSpPr>
          <p:spPr>
            <a:xfrm>
              <a:off x="533400" y="3314700"/>
              <a:ext cx="5867400" cy="1143000"/>
            </a:xfrm>
            <a:prstGeom prst="roundRect">
              <a:avLst>
                <a:gd name="adj" fmla="val 11667"/>
              </a:avLst>
            </a:prstGeom>
            <a:solidFill>
              <a:schemeClr val="accent6"/>
            </a:solidFill>
            <a:ln w="12382">
              <a:solidFill>
                <a:srgbClr val="37DCC0"/>
              </a:solidFill>
            </a:ln>
          </p:spPr>
        </p:sp>
        <p:sp>
          <p:nvSpPr>
            <p:cNvPr id="17" name="Rectangle 17"/>
            <p:cNvSpPr/>
            <p:nvPr/>
          </p:nvSpPr>
          <p:spPr>
            <a:xfrm>
              <a:off x="723900" y="3543300"/>
              <a:ext cx="47625" cy="685800"/>
            </a:xfrm>
            <a:prstGeom prst="roundRect">
              <a:avLst>
                <a:gd name="adj" fmla="val 50000"/>
              </a:avLst>
            </a:prstGeom>
            <a:solidFill>
              <a:srgbClr val="37DCC0"/>
            </a:solidFill>
            <a:ln>
              <a:noFill/>
            </a:ln>
          </p:spPr>
        </p:sp>
        <p:sp>
          <p:nvSpPr>
            <p:cNvPr id="18" name="TextBox 18"/>
            <p:cNvSpPr txBox="1"/>
            <p:nvPr/>
          </p:nvSpPr>
          <p:spPr>
            <a:xfrm>
              <a:off x="907542" y="3588068"/>
              <a:ext cx="3846104" cy="264033"/>
            </a:xfrm>
            <a:prstGeom prst="rect">
              <a:avLst/>
            </a:prstGeom>
            <a:noFill/>
            <a:ln>
              <a:noFill/>
            </a:ln>
          </p:spPr>
          <p:txBody>
            <a:bodyPr wrap="none" lIns="0" tIns="0" rIns="0" bIns="0" anchor="t" anchorCtr="0">
              <a:spAutoFit/>
            </a:bodyPr>
            <a:lstStyle/>
            <a:p>
              <a:pPr algn="l"/>
              <a:r>
                <a:rPr lang="en-US" sz="1350" b="1" dirty="0">
                  <a:solidFill>
                    <a:schemeClr val="dk1"/>
                  </a:solidFill>
                  <a:latin typeface="+mn-lt"/>
                  <a:ea typeface="+mn-ea"/>
                  <a:cs typeface="+mn-cs"/>
                </a:rPr>
                <a:t>Hadronic jets: densities are out of reach</a:t>
              </a:r>
            </a:p>
          </p:txBody>
        </p:sp>
        <p:sp>
          <p:nvSpPr>
            <p:cNvPr id="19" name="TextBox 19"/>
            <p:cNvSpPr txBox="1"/>
            <p:nvPr/>
          </p:nvSpPr>
          <p:spPr>
            <a:xfrm>
              <a:off x="908876" y="3883104"/>
              <a:ext cx="4550190"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Full jet densities cannot be computed in perturbative QCD — but</a:t>
              </a:r>
            </a:p>
          </p:txBody>
        </p:sp>
        <p:sp>
          <p:nvSpPr>
            <p:cNvPr id="20" name="TextBox 20"/>
            <p:cNvSpPr txBox="1"/>
            <p:nvPr/>
          </p:nvSpPr>
          <p:spPr>
            <a:xfrm>
              <a:off x="908876" y="4083129"/>
              <a:ext cx="3488687"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the energy dependence of their moments can be.</a:t>
              </a:r>
            </a:p>
          </p:txBody>
        </p:sp>
      </p:grpSp>
      <p:grpSp>
        <p:nvGrpSpPr>
          <p:cNvPr id="28" name="Group 28"/>
          <p:cNvGrpSpPr/>
          <p:nvPr/>
        </p:nvGrpSpPr>
        <p:grpSpPr>
          <a:xfrm>
            <a:off x="6629400" y="1524000"/>
            <a:ext cx="5029200" cy="1600200"/>
            <a:chOff x="6629400" y="1524000"/>
            <a:chExt cx="5029200" cy="1600200"/>
          </a:xfrm>
        </p:grpSpPr>
        <p:sp>
          <p:nvSpPr>
            <p:cNvPr id="22" name="Rectangle 22"/>
            <p:cNvSpPr/>
            <p:nvPr/>
          </p:nvSpPr>
          <p:spPr>
            <a:xfrm>
              <a:off x="6629400" y="1524000"/>
              <a:ext cx="5029200" cy="1600200"/>
            </a:xfrm>
            <a:prstGeom prst="roundRect">
              <a:avLst>
                <a:gd name="adj" fmla="val 8333"/>
              </a:avLst>
            </a:prstGeom>
            <a:solidFill>
              <a:schemeClr val="accent5"/>
            </a:solidFill>
            <a:ln w="11430">
              <a:solidFill>
                <a:srgbClr val="F2708A"/>
              </a:solidFill>
            </a:ln>
          </p:spPr>
        </p:sp>
        <p:sp>
          <p:nvSpPr>
            <p:cNvPr id="23" name="Rectangle 23"/>
            <p:cNvSpPr/>
            <p:nvPr/>
          </p:nvSpPr>
          <p:spPr>
            <a:xfrm>
              <a:off x="6819900" y="1733550"/>
              <a:ext cx="47625" cy="285750"/>
            </a:xfrm>
            <a:prstGeom prst="roundRect">
              <a:avLst>
                <a:gd name="adj" fmla="val 50000"/>
              </a:avLst>
            </a:prstGeom>
            <a:solidFill>
              <a:srgbClr val="F2708A"/>
            </a:solidFill>
            <a:ln>
              <a:noFill/>
            </a:ln>
          </p:spPr>
        </p:sp>
        <p:sp>
          <p:nvSpPr>
            <p:cNvPr id="24" name="TextBox 24"/>
            <p:cNvSpPr txBox="1"/>
            <p:nvPr/>
          </p:nvSpPr>
          <p:spPr>
            <a:xfrm>
              <a:off x="7003923" y="1767364"/>
              <a:ext cx="2615679" cy="249364"/>
            </a:xfrm>
            <a:prstGeom prst="rect">
              <a:avLst/>
            </a:prstGeom>
            <a:noFill/>
            <a:ln>
              <a:noFill/>
            </a:ln>
          </p:spPr>
          <p:txBody>
            <a:bodyPr wrap="none" lIns="0" tIns="0" rIns="0" bIns="0" anchor="t" anchorCtr="0">
              <a:spAutoFit/>
            </a:bodyPr>
            <a:lstStyle/>
            <a:p>
              <a:pPr algn="l"/>
              <a:r>
                <a:rPr lang="en-US" sz="1280" b="1" dirty="0">
                  <a:solidFill>
                    <a:srgbClr val="F2708A"/>
                  </a:solidFill>
                  <a:latin typeface="+mn-lt"/>
                  <a:ea typeface="+mn-ea"/>
                  <a:cs typeface="+mn-cs"/>
                </a:rPr>
                <a:t>Unbinned methods exist, but…</a:t>
              </a:r>
            </a:p>
          </p:txBody>
        </p:sp>
        <p:sp>
          <p:nvSpPr>
            <p:cNvPr id="25" name="TextBox 25"/>
            <p:cNvSpPr txBox="1"/>
            <p:nvPr/>
          </p:nvSpPr>
          <p:spPr>
            <a:xfrm>
              <a:off x="6814376" y="2092404"/>
              <a:ext cx="3251393"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They avoid binning artifacts, yet are built to</a:t>
              </a:r>
            </a:p>
          </p:txBody>
        </p:sp>
        <p:sp>
          <p:nvSpPr>
            <p:cNvPr id="26" name="TextBox 26"/>
            <p:cNvSpPr txBox="1"/>
            <p:nvPr/>
          </p:nvSpPr>
          <p:spPr>
            <a:xfrm>
              <a:off x="6814376" y="2292429"/>
              <a:ext cx="3415320"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unfold entire spectra — so they may trade away</a:t>
              </a:r>
            </a:p>
          </p:txBody>
        </p:sp>
        <p:sp>
          <p:nvSpPr>
            <p:cNvPr id="27" name="TextBox 27"/>
            <p:cNvSpPr txBox="1"/>
            <p:nvPr/>
          </p:nvSpPr>
          <p:spPr>
            <a:xfrm>
              <a:off x="6814376" y="2492454"/>
              <a:ext cx="2901744"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precision on the few moments you want.</a:t>
              </a:r>
            </a:p>
          </p:txBody>
        </p:sp>
      </p:grpSp>
      <p:grpSp>
        <p:nvGrpSpPr>
          <p:cNvPr id="35" name="Group 35"/>
          <p:cNvGrpSpPr/>
          <p:nvPr/>
        </p:nvGrpSpPr>
        <p:grpSpPr>
          <a:xfrm>
            <a:off x="6629400" y="3314700"/>
            <a:ext cx="5029200" cy="1181147"/>
            <a:chOff x="6629400" y="3314700"/>
            <a:chExt cx="5029200" cy="1181147"/>
          </a:xfrm>
        </p:grpSpPr>
        <p:sp>
          <p:nvSpPr>
            <p:cNvPr id="29" name="Rectangle 29"/>
            <p:cNvSpPr/>
            <p:nvPr/>
          </p:nvSpPr>
          <p:spPr>
            <a:xfrm>
              <a:off x="6629400" y="3314700"/>
              <a:ext cx="5029200" cy="1143000"/>
            </a:xfrm>
            <a:prstGeom prst="roundRect">
              <a:avLst>
                <a:gd name="adj" fmla="val 11667"/>
              </a:avLst>
            </a:prstGeom>
            <a:solidFill>
              <a:schemeClr val="accent6"/>
            </a:solidFill>
            <a:ln w="12382">
              <a:solidFill>
                <a:schemeClr val="accent2"/>
              </a:solidFill>
            </a:ln>
          </p:spPr>
        </p:sp>
        <p:sp>
          <p:nvSpPr>
            <p:cNvPr id="30" name="Rectangle 30"/>
            <p:cNvSpPr/>
            <p:nvPr/>
          </p:nvSpPr>
          <p:spPr>
            <a:xfrm>
              <a:off x="6819900" y="3543300"/>
              <a:ext cx="47625" cy="685800"/>
            </a:xfrm>
            <a:prstGeom prst="roundRect">
              <a:avLst>
                <a:gd name="adj" fmla="val 50000"/>
              </a:avLst>
            </a:prstGeom>
            <a:solidFill>
              <a:schemeClr val="accent2"/>
            </a:solidFill>
            <a:ln>
              <a:noFill/>
            </a:ln>
          </p:spPr>
        </p:sp>
        <p:sp>
          <p:nvSpPr>
            <p:cNvPr id="31" name="TextBox 31"/>
            <p:cNvSpPr txBox="1"/>
            <p:nvPr/>
          </p:nvSpPr>
          <p:spPr>
            <a:xfrm>
              <a:off x="7003923" y="3596164"/>
              <a:ext cx="1710628" cy="249364"/>
            </a:xfrm>
            <a:prstGeom prst="rect">
              <a:avLst/>
            </a:prstGeom>
            <a:noFill/>
            <a:ln>
              <a:noFill/>
            </a:ln>
          </p:spPr>
          <p:txBody>
            <a:bodyPr wrap="none" lIns="0" tIns="0" rIns="0" bIns="0" anchor="t" anchorCtr="0">
              <a:spAutoFit/>
            </a:bodyPr>
            <a:lstStyle/>
            <a:p>
              <a:pPr algn="l"/>
              <a:r>
                <a:rPr lang="en-US" sz="1280" b="1" dirty="0">
                  <a:solidFill>
                    <a:schemeClr val="accent2"/>
                  </a:solidFill>
                  <a:latin typeface="+mn-lt"/>
                  <a:ea typeface="+mn-ea"/>
                  <a:cs typeface="+mn-cs"/>
                </a:rPr>
                <a:t>A dedicated method</a:t>
              </a:r>
            </a:p>
          </p:txBody>
        </p:sp>
        <p:sp>
          <p:nvSpPr>
            <p:cNvPr id="32" name="TextBox 32"/>
            <p:cNvSpPr txBox="1"/>
            <p:nvPr/>
          </p:nvSpPr>
          <p:spPr>
            <a:xfrm>
              <a:off x="7004876" y="3883104"/>
              <a:ext cx="2715764"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This motivates unfolding the moments</a:t>
              </a:r>
            </a:p>
          </p:txBody>
        </p:sp>
        <p:sp>
          <p:nvSpPr>
            <p:cNvPr id="33" name="TextBox 33"/>
            <p:cNvSpPr txBox="1"/>
            <p:nvPr/>
          </p:nvSpPr>
          <p:spPr>
            <a:xfrm>
              <a:off x="7004876" y="4083129"/>
              <a:ext cx="3129185"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themselves, rather than reconstructing an</a:t>
              </a:r>
            </a:p>
          </p:txBody>
        </p:sp>
        <p:sp>
          <p:nvSpPr>
            <p:cNvPr id="34" name="TextBox 34"/>
            <p:cNvSpPr txBox="1"/>
            <p:nvPr/>
          </p:nvSpPr>
          <p:spPr>
            <a:xfrm>
              <a:off x="7004876" y="4283154"/>
              <a:ext cx="1669164"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entire spectrum first.</a:t>
              </a:r>
            </a:p>
          </p:txBody>
        </p:sp>
      </p:grpSp>
      <p:sp>
        <p:nvSpPr>
          <p:cNvPr id="36" name="cue_s03_c1_summarizing_distribution_few_moments" title="cue_s03_c1_summarizing_distribution_few_moments" descr="cue_s03_c1_summarizing_distribution_few_moments Summarizing a distribution with a few moments makes it tractable to visualize and, crucially, to predict from first principles."/>
          <p:cNvSpPr/>
          <p:nvPr/>
        </p:nvSpPr>
        <p:spPr>
          <a:xfrm>
            <a:off x="532790" y="1523847"/>
            <a:ext cx="5868009" cy="159997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cue_s03_c2_example_full_densities_hadronic_jets" title="cue_s03_c2_example_full_densities_hadronic_jets" descr="cue_s03_c2_example_full_densities_hadronic_jets For example, the full densities of hadronic jets cannot be computed in perturbative QCD, but the energy dependence of their moments can be."/>
          <p:cNvSpPr/>
          <p:nvPr/>
        </p:nvSpPr>
        <p:spPr>
          <a:xfrm>
            <a:off x="532790" y="3314471"/>
            <a:ext cx="5868009" cy="11432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cue_s03_c3_unbinned_unfolding_methods_already_e" title="cue_s03_c3_unbinned_unfolding_methods_already_e" descr="cue_s03_c3_unbinned_unfolding_methods_already_e Unbinned unfolding methods already exist and avoid binning artifacts, but they are built to unfold entire spectra, so they may trade away precision on the handful of moments a physicist actually wants."/>
          <p:cNvSpPr/>
          <p:nvPr/>
        </p:nvSpPr>
        <p:spPr>
          <a:xfrm>
            <a:off x="6628790" y="1523847"/>
            <a:ext cx="5029200" cy="159997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cue_s03_c4_motivates_dedicated_method_unfolds_m" title="cue_s03_c4_motivates_dedicated_method_unfolds_m" descr="cue_s03_c4_motivates_dedicated_method_unfolds_m This motivates a dedicated method that unfolds the moments themselves."/>
          <p:cNvSpPr/>
          <p:nvPr/>
        </p:nvSpPr>
        <p:spPr>
          <a:xfrm>
            <a:off x="6628790" y="3314471"/>
            <a:ext cx="5029200" cy="118094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gradFill>
            <a:gsLst>
              <a:gs pos="0">
                <a:schemeClr val="lt2">
                  <a:alpha val="90000"/>
                </a:schemeClr>
              </a:gs>
              <a:gs pos="60000">
                <a:schemeClr val="lt1">
                  <a:alpha val="0"/>
                </a:schemeClr>
              </a:gs>
            </a:gsLst>
            <a:path path="circle">
              <a:fillToRect l="50000" t="50000" r="50000" b="50000"/>
            </a:path>
          </a:gradFill>
          <a:ln>
            <a:noFill/>
          </a:ln>
        </p:spPr>
        <p:txBody>
          <a:bodyPr/>
          <a:p/>
        </p:txBody>
      </p:sp>
      <p:sp>
        <p:nvSpPr>
          <p:cNvPr id="3" name="Rectangle 3"/>
          <p:cNvSpPr/>
          <p:nvPr/>
        </p:nvSpPr>
        <p:spPr>
          <a:xfrm>
            <a:off x="533400" y="476250"/>
            <a:ext cx="57150" cy="209550"/>
          </a:xfrm>
          <a:prstGeom prst="roundRect">
            <a:avLst>
              <a:gd name="adj" fmla="val 41667"/>
            </a:avLst>
          </a:prstGeom>
          <a:solidFill>
            <a:schemeClr val="accent2"/>
          </a:solidFill>
          <a:ln>
            <a:noFill/>
          </a:ln>
        </p:spPr>
        <p:txBody>
          <a:bodyPr/>
          <a:p/>
        </p:txBody>
      </p:sp>
      <p:sp>
        <p:nvSpPr>
          <p:cNvPr id="4" name="TextBox 4"/>
          <p:cNvSpPr txBox="1"/>
          <p:nvPr/>
        </p:nvSpPr>
        <p:spPr>
          <a:xfrm>
            <a:off x="699135" y="526256"/>
            <a:ext cx="1450757" cy="220028"/>
          </a:xfrm>
          <a:prstGeom prst="rect">
            <a:avLst/>
          </a:prstGeom>
          <a:noFill/>
          <a:ln>
            <a:noFill/>
          </a:ln>
        </p:spPr>
        <p:txBody>
          <a:bodyPr wrap="none" lIns="0" tIns="0" rIns="0" bIns="0" anchor="t" anchorCtr="0">
            <a:spAutoFit/>
          </a:bodyPr>
          <a:lstStyle/>
          <a:p>
            <a:pPr algn="l"/>
            <a:r>
              <a:rPr lang="en-US" sz="1120" b="1" spc="225" dirty="0">
                <a:solidFill>
                  <a:schemeClr val="accent2"/>
                </a:solidFill>
                <a:latin typeface="+mn-lt"/>
                <a:ea typeface="+mn-ea"/>
                <a:cs typeface="+mn-cs"/>
              </a:rPr>
              <a:t>CONTRIBUTION</a:t>
            </a:r>
          </a:p>
        </p:txBody>
      </p:sp>
      <p:sp>
        <p:nvSpPr>
          <p:cNvPr id="5" name="TextBox 5"/>
          <p:cNvSpPr txBox="1"/>
          <p:nvPr/>
        </p:nvSpPr>
        <p:spPr>
          <a:xfrm>
            <a:off x="518160" y="781050"/>
            <a:ext cx="6580632" cy="586740"/>
          </a:xfrm>
          <a:prstGeom prst="rect">
            <a:avLst/>
          </a:prstGeom>
          <a:noFill/>
          <a:ln>
            <a:noFill/>
          </a:ln>
        </p:spPr>
        <p:txBody>
          <a:bodyPr wrap="none" lIns="0" tIns="0" rIns="0" bIns="0" anchor="t" anchorCtr="0">
            <a:spAutoFit/>
          </a:bodyPr>
          <a:lstStyle/>
          <a:p>
            <a:pPr algn="l"/>
            <a:r>
              <a:rPr lang="en-US" sz="3000" b="1" dirty="0">
                <a:solidFill>
                  <a:schemeClr val="dk1"/>
                </a:solidFill>
                <a:latin typeface="+mn-lt"/>
                <a:ea typeface="+mn-ea"/>
                <a:cs typeface="+mn-cs"/>
              </a:rPr>
              <a:t>What Moment Unfolding delivers</a:t>
            </a:r>
          </a:p>
        </p:txBody>
      </p:sp>
      <p:sp>
        <p:nvSpPr>
          <p:cNvPr id="6" name="TextBox 6"/>
          <p:cNvSpPr txBox="1"/>
          <p:nvPr/>
        </p:nvSpPr>
        <p:spPr>
          <a:xfrm>
            <a:off x="11095485" y="534352"/>
            <a:ext cx="568449" cy="205359"/>
          </a:xfrm>
          <a:prstGeom prst="rect">
            <a:avLst/>
          </a:prstGeom>
          <a:noFill/>
          <a:ln>
            <a:noFill/>
          </a:ln>
        </p:spPr>
        <p:txBody>
          <a:bodyPr wrap="none" lIns="0" tIns="0" rIns="0" bIns="0" anchor="t" anchorCtr="0">
            <a:spAutoFit/>
          </a:bodyPr>
          <a:lstStyle/>
          <a:p>
            <a:pPr algn="r"/>
            <a:r>
              <a:rPr lang="en-US" sz="1050" b="1" spc="75" dirty="0">
                <a:solidFill>
                  <a:srgbClr val="6E85AC"/>
                </a:solidFill>
                <a:latin typeface="Consolas"/>
                <a:ea typeface="Consolas"/>
                <a:cs typeface="Consolas"/>
              </a:rPr>
              <a:t>04 / 10</a:t>
            </a:r>
          </a:p>
        </p:txBody>
      </p:sp>
      <p:sp>
        <p:nvSpPr>
          <p:cNvPr id="7" name="Line 7"/>
          <p:cNvSpPr/>
          <p:nvPr/>
        </p:nvSpPr>
        <p:spPr>
          <a:xfrm>
            <a:off x="533400" y="1314450"/>
            <a:ext cx="11125200" cy="9525"/>
          </a:xfrm>
          <a:custGeom>
            <a:avLst/>
            <a:gdLst/>
            <a:ahLst/>
            <a:cxnLst/>
            <a:rect l="l" t="t" r="r" b="b"/>
            <a:pathLst>
              <a:path w="11125200" h="9525">
                <a:moveTo>
                  <a:pt x="0" y="0"/>
                </a:moveTo>
                <a:lnTo>
                  <a:pt x="11125200" y="0"/>
                </a:lnTo>
              </a:path>
            </a:pathLst>
          </a:custGeom>
          <a:noFill/>
          <a:ln w="11430">
            <a:solidFill>
              <a:schemeClr val="accent4"/>
            </a:solidFill>
          </a:ln>
        </p:spPr>
        <p:txBody>
          <a:bodyPr/>
          <a:p/>
        </p:txBody>
      </p:sp>
      <p:grpSp>
        <p:nvGrpSpPr>
          <p:cNvPr id="14" name="Group 14"/>
          <p:cNvGrpSpPr/>
          <p:nvPr/>
        </p:nvGrpSpPr>
        <p:grpSpPr>
          <a:xfrm>
            <a:off x="533400" y="1524000"/>
            <a:ext cx="5448300" cy="1619250"/>
            <a:chOff x="533400" y="1524000"/>
            <a:chExt cx="5448300" cy="1619250"/>
          </a:xfrm>
        </p:grpSpPr>
        <p:sp>
          <p:nvSpPr>
            <p:cNvPr id="8" name="Rectangle 8"/>
            <p:cNvSpPr/>
            <p:nvPr/>
          </p:nvSpPr>
          <p:spPr>
            <a:xfrm>
              <a:off x="533400" y="1524000"/>
              <a:ext cx="5448300" cy="1619250"/>
            </a:xfrm>
            <a:prstGeom prst="roundRect">
              <a:avLst>
                <a:gd name="adj" fmla="val 8235"/>
              </a:avLst>
            </a:prstGeom>
            <a:solidFill>
              <a:schemeClr val="accent5"/>
            </a:solidFill>
            <a:ln w="11430">
              <a:solidFill>
                <a:schemeClr val="accent4"/>
              </a:solidFill>
            </a:ln>
          </p:spPr>
        </p:sp>
        <p:sp>
          <p:nvSpPr>
            <p:cNvPr id="9" name="Rectangle 9"/>
            <p:cNvSpPr/>
            <p:nvPr/>
          </p:nvSpPr>
          <p:spPr>
            <a:xfrm>
              <a:off x="762000" y="1790700"/>
              <a:ext cx="47625" cy="323850"/>
            </a:xfrm>
            <a:prstGeom prst="roundRect">
              <a:avLst>
                <a:gd name="adj" fmla="val 50000"/>
              </a:avLst>
            </a:prstGeom>
            <a:solidFill>
              <a:schemeClr val="accent2"/>
            </a:solidFill>
            <a:ln>
              <a:noFill/>
            </a:ln>
          </p:spPr>
        </p:sp>
        <p:sp>
          <p:nvSpPr>
            <p:cNvPr id="10" name="TextBox 10"/>
            <p:cNvSpPr txBox="1"/>
            <p:nvPr/>
          </p:nvSpPr>
          <p:spPr>
            <a:xfrm>
              <a:off x="5271402" y="1695450"/>
              <a:ext cx="496938" cy="586740"/>
            </a:xfrm>
            <a:prstGeom prst="rect">
              <a:avLst/>
            </a:prstGeom>
            <a:noFill/>
            <a:ln>
              <a:noFill/>
            </a:ln>
          </p:spPr>
          <p:txBody>
            <a:bodyPr wrap="none" lIns="0" tIns="0" rIns="0" bIns="0" anchor="t" anchorCtr="0">
              <a:spAutoFit/>
            </a:bodyPr>
            <a:lstStyle/>
            <a:p>
              <a:pPr algn="r"/>
              <a:r>
                <a:rPr lang="en-US" sz="3000" b="1" dirty="0">
                  <a:solidFill>
                    <a:schemeClr val="accent2">
                      <a:alphaMod val="55000"/>
                    </a:schemeClr>
                  </a:solidFill>
                  <a:latin typeface="Consolas"/>
                  <a:ea typeface="Consolas"/>
                  <a:cs typeface="Consolas"/>
                </a:rPr>
                <a:t>01</a:t>
              </a:r>
            </a:p>
          </p:txBody>
        </p:sp>
        <p:sp>
          <p:nvSpPr>
            <p:cNvPr id="11" name="TextBox 11"/>
            <p:cNvSpPr txBox="1"/>
            <p:nvPr/>
          </p:nvSpPr>
          <p:spPr>
            <a:xfrm>
              <a:off x="944499" y="1830229"/>
              <a:ext cx="2692404" cy="308039"/>
            </a:xfrm>
            <a:prstGeom prst="rect">
              <a:avLst/>
            </a:prstGeom>
            <a:noFill/>
            <a:ln>
              <a:noFill/>
            </a:ln>
          </p:spPr>
          <p:txBody>
            <a:bodyPr wrap="none" lIns="0" tIns="0" rIns="0" bIns="0" anchor="t" anchorCtr="0">
              <a:spAutoFit/>
            </a:bodyPr>
            <a:lstStyle/>
            <a:p>
              <a:pPr algn="l"/>
              <a:r>
                <a:rPr lang="en-US" sz="1580" b="1" dirty="0">
                  <a:solidFill>
                    <a:schemeClr val="dk1"/>
                  </a:solidFill>
                  <a:latin typeface="+mn-lt"/>
                  <a:ea typeface="+mn-ea"/>
                  <a:cs typeface="+mn-cs"/>
                </a:rPr>
                <a:t>Unbinned &amp; non-iterative</a:t>
              </a:r>
            </a:p>
          </p:txBody>
        </p:sp>
        <p:sp>
          <p:nvSpPr>
            <p:cNvPr id="12" name="TextBox 12"/>
            <p:cNvSpPr txBox="1"/>
            <p:nvPr/>
          </p:nvSpPr>
          <p:spPr>
            <a:xfrm>
              <a:off x="946785" y="2202656"/>
              <a:ext cx="3936607"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A new reweighting technique that never bins the data</a:t>
              </a:r>
            </a:p>
          </p:txBody>
        </p:sp>
        <p:sp>
          <p:nvSpPr>
            <p:cNvPr id="13" name="TextBox 13"/>
            <p:cNvSpPr txBox="1"/>
            <p:nvPr/>
          </p:nvSpPr>
          <p:spPr>
            <a:xfrm>
              <a:off x="946785" y="2402681"/>
              <a:ext cx="2770602"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and does not iterate to convergence.</a:t>
              </a:r>
            </a:p>
          </p:txBody>
        </p:sp>
      </p:grpSp>
      <p:grpSp>
        <p:nvGrpSpPr>
          <p:cNvPr id="21" name="Group 21"/>
          <p:cNvGrpSpPr/>
          <p:nvPr/>
        </p:nvGrpSpPr>
        <p:grpSpPr>
          <a:xfrm>
            <a:off x="6210300" y="1524000"/>
            <a:ext cx="5448300" cy="1619250"/>
            <a:chOff x="6210300" y="1524000"/>
            <a:chExt cx="5448300" cy="1619250"/>
          </a:xfrm>
        </p:grpSpPr>
        <p:sp>
          <p:nvSpPr>
            <p:cNvPr id="15" name="Rectangle 15"/>
            <p:cNvSpPr/>
            <p:nvPr/>
          </p:nvSpPr>
          <p:spPr>
            <a:xfrm>
              <a:off x="6210300" y="1524000"/>
              <a:ext cx="5448300" cy="1619250"/>
            </a:xfrm>
            <a:prstGeom prst="roundRect">
              <a:avLst>
                <a:gd name="adj" fmla="val 8235"/>
              </a:avLst>
            </a:prstGeom>
            <a:solidFill>
              <a:schemeClr val="accent5"/>
            </a:solidFill>
            <a:ln w="11430">
              <a:solidFill>
                <a:schemeClr val="accent4"/>
              </a:solidFill>
            </a:ln>
          </p:spPr>
        </p:sp>
        <p:sp>
          <p:nvSpPr>
            <p:cNvPr id="16" name="Rectangle 16"/>
            <p:cNvSpPr/>
            <p:nvPr/>
          </p:nvSpPr>
          <p:spPr>
            <a:xfrm>
              <a:off x="6438900" y="1790700"/>
              <a:ext cx="47625" cy="323850"/>
            </a:xfrm>
            <a:prstGeom prst="roundRect">
              <a:avLst>
                <a:gd name="adj" fmla="val 50000"/>
              </a:avLst>
            </a:prstGeom>
            <a:solidFill>
              <a:srgbClr val="37DCC0"/>
            </a:solidFill>
            <a:ln>
              <a:noFill/>
            </a:ln>
          </p:spPr>
        </p:sp>
        <p:sp>
          <p:nvSpPr>
            <p:cNvPr id="17" name="TextBox 17"/>
            <p:cNvSpPr txBox="1"/>
            <p:nvPr/>
          </p:nvSpPr>
          <p:spPr>
            <a:xfrm>
              <a:off x="10948302" y="1695450"/>
              <a:ext cx="496938" cy="586740"/>
            </a:xfrm>
            <a:prstGeom prst="rect">
              <a:avLst/>
            </a:prstGeom>
            <a:noFill/>
            <a:ln>
              <a:noFill/>
            </a:ln>
          </p:spPr>
          <p:txBody>
            <a:bodyPr wrap="none" lIns="0" tIns="0" rIns="0" bIns="0" anchor="t" anchorCtr="0">
              <a:spAutoFit/>
            </a:bodyPr>
            <a:lstStyle/>
            <a:p>
              <a:pPr algn="r"/>
              <a:r>
                <a:rPr lang="en-US" sz="3000" b="1" dirty="0">
                  <a:solidFill>
                    <a:srgbClr val="37DCC0">
                      <a:alphaMod val="55000"/>
                    </a:srgbClr>
                  </a:solidFill>
                  <a:latin typeface="Consolas"/>
                  <a:ea typeface="Consolas"/>
                  <a:cs typeface="Consolas"/>
                </a:rPr>
                <a:t>02</a:t>
              </a:r>
            </a:p>
          </p:txBody>
        </p:sp>
        <p:sp>
          <p:nvSpPr>
            <p:cNvPr id="18" name="TextBox 18"/>
            <p:cNvSpPr txBox="1"/>
            <p:nvPr/>
          </p:nvSpPr>
          <p:spPr>
            <a:xfrm>
              <a:off x="6621399" y="1830229"/>
              <a:ext cx="2949212" cy="308039"/>
            </a:xfrm>
            <a:prstGeom prst="rect">
              <a:avLst/>
            </a:prstGeom>
            <a:noFill/>
            <a:ln>
              <a:noFill/>
            </a:ln>
          </p:spPr>
          <p:txBody>
            <a:bodyPr wrap="none" lIns="0" tIns="0" rIns="0" bIns="0" anchor="t" anchorCtr="0">
              <a:spAutoFit/>
            </a:bodyPr>
            <a:lstStyle/>
            <a:p>
              <a:pPr algn="l"/>
              <a:r>
                <a:rPr lang="en-US" sz="1580" b="1" dirty="0">
                  <a:solidFill>
                    <a:schemeClr val="dk1"/>
                  </a:solidFill>
                  <a:latin typeface="+mn-lt"/>
                  <a:ea typeface="+mn-ea"/>
                  <a:cs typeface="+mn-cs"/>
                </a:rPr>
                <a:t>Boltzmann-form generator</a:t>
              </a:r>
            </a:p>
          </p:txBody>
        </p:sp>
        <p:sp>
          <p:nvSpPr>
            <p:cNvPr id="19" name="TextBox 19"/>
            <p:cNvSpPr txBox="1"/>
            <p:nvPr/>
          </p:nvSpPr>
          <p:spPr>
            <a:xfrm>
              <a:off x="6623685" y="2202656"/>
              <a:ext cx="3711683"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Learns a reweighting function — a GAN generator —</a:t>
              </a:r>
            </a:p>
          </p:txBody>
        </p:sp>
        <p:sp>
          <p:nvSpPr>
            <p:cNvPr id="20" name="TextBox 20"/>
            <p:cNvSpPr txBox="1"/>
            <p:nvPr/>
          </p:nvSpPr>
          <p:spPr>
            <a:xfrm>
              <a:off x="6623685" y="2402681"/>
              <a:ext cx="3449717"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whose trainable parameters ARE the moments.</a:t>
              </a:r>
            </a:p>
          </p:txBody>
        </p:sp>
      </p:grpSp>
      <p:grpSp>
        <p:nvGrpSpPr>
          <p:cNvPr id="28" name="Group 28"/>
          <p:cNvGrpSpPr/>
          <p:nvPr/>
        </p:nvGrpSpPr>
        <p:grpSpPr>
          <a:xfrm>
            <a:off x="533400" y="3352800"/>
            <a:ext cx="5448300" cy="1619250"/>
            <a:chOff x="533400" y="3352800"/>
            <a:chExt cx="5448300" cy="1619250"/>
          </a:xfrm>
        </p:grpSpPr>
        <p:sp>
          <p:nvSpPr>
            <p:cNvPr id="22" name="Rectangle 22"/>
            <p:cNvSpPr/>
            <p:nvPr/>
          </p:nvSpPr>
          <p:spPr>
            <a:xfrm>
              <a:off x="533400" y="3352800"/>
              <a:ext cx="5448300" cy="1619250"/>
            </a:xfrm>
            <a:prstGeom prst="roundRect">
              <a:avLst>
                <a:gd name="adj" fmla="val 8235"/>
              </a:avLst>
            </a:prstGeom>
            <a:solidFill>
              <a:schemeClr val="accent5"/>
            </a:solidFill>
            <a:ln w="11430">
              <a:solidFill>
                <a:schemeClr val="accent4"/>
              </a:solidFill>
            </a:ln>
          </p:spPr>
        </p:sp>
        <p:sp>
          <p:nvSpPr>
            <p:cNvPr id="23" name="Rectangle 23"/>
            <p:cNvSpPr/>
            <p:nvPr/>
          </p:nvSpPr>
          <p:spPr>
            <a:xfrm>
              <a:off x="762000" y="3619500"/>
              <a:ext cx="47625" cy="323850"/>
            </a:xfrm>
            <a:prstGeom prst="roundRect">
              <a:avLst>
                <a:gd name="adj" fmla="val 50000"/>
              </a:avLst>
            </a:prstGeom>
            <a:solidFill>
              <a:srgbClr val="57D9A3"/>
            </a:solidFill>
            <a:ln>
              <a:noFill/>
            </a:ln>
          </p:spPr>
        </p:sp>
        <p:sp>
          <p:nvSpPr>
            <p:cNvPr id="24" name="TextBox 24"/>
            <p:cNvSpPr txBox="1"/>
            <p:nvPr/>
          </p:nvSpPr>
          <p:spPr>
            <a:xfrm>
              <a:off x="5271402" y="3524250"/>
              <a:ext cx="496938" cy="586740"/>
            </a:xfrm>
            <a:prstGeom prst="rect">
              <a:avLst/>
            </a:prstGeom>
            <a:noFill/>
            <a:ln>
              <a:noFill/>
            </a:ln>
          </p:spPr>
          <p:txBody>
            <a:bodyPr wrap="none" lIns="0" tIns="0" rIns="0" bIns="0" anchor="t" anchorCtr="0">
              <a:spAutoFit/>
            </a:bodyPr>
            <a:lstStyle/>
            <a:p>
              <a:pPr algn="r"/>
              <a:r>
                <a:rPr lang="en-US" sz="3000" b="1" dirty="0">
                  <a:solidFill>
                    <a:srgbClr val="57D9A3">
                      <a:alphaMod val="55000"/>
                    </a:srgbClr>
                  </a:solidFill>
                  <a:latin typeface="Consolas"/>
                  <a:ea typeface="Consolas"/>
                  <a:cs typeface="Consolas"/>
                </a:rPr>
                <a:t>03</a:t>
              </a:r>
            </a:p>
          </p:txBody>
        </p:sp>
        <p:sp>
          <p:nvSpPr>
            <p:cNvPr id="25" name="TextBox 25"/>
            <p:cNvSpPr txBox="1"/>
            <p:nvPr/>
          </p:nvSpPr>
          <p:spPr>
            <a:xfrm>
              <a:off x="944499" y="3659029"/>
              <a:ext cx="2803075" cy="308039"/>
            </a:xfrm>
            <a:prstGeom prst="rect">
              <a:avLst/>
            </a:prstGeom>
            <a:noFill/>
            <a:ln>
              <a:noFill/>
            </a:ln>
          </p:spPr>
          <p:txBody>
            <a:bodyPr wrap="none" lIns="0" tIns="0" rIns="0" bIns="0" anchor="t" anchorCtr="0">
              <a:spAutoFit/>
            </a:bodyPr>
            <a:lstStyle/>
            <a:p>
              <a:pPr algn="l"/>
              <a:r>
                <a:rPr lang="en-US" sz="1580" b="1" dirty="0">
                  <a:solidFill>
                    <a:schemeClr val="dk1"/>
                  </a:solidFill>
                  <a:latin typeface="+mn-lt"/>
                  <a:ea typeface="+mn-ea"/>
                  <a:cs typeface="+mn-cs"/>
                </a:rPr>
                <a:t>Adversarial discriminator</a:t>
              </a:r>
            </a:p>
          </p:txBody>
        </p:sp>
        <p:sp>
          <p:nvSpPr>
            <p:cNvPr id="26" name="TextBox 26"/>
            <p:cNvSpPr txBox="1"/>
            <p:nvPr/>
          </p:nvSpPr>
          <p:spPr>
            <a:xfrm>
              <a:off x="946785" y="4031456"/>
              <a:ext cx="3845917"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A discriminator pushes the reweighted simulation to</a:t>
              </a:r>
            </a:p>
          </p:txBody>
        </p:sp>
        <p:sp>
          <p:nvSpPr>
            <p:cNvPr id="27" name="TextBox 27"/>
            <p:cNvSpPr txBox="1"/>
            <p:nvPr/>
          </p:nvSpPr>
          <p:spPr>
            <a:xfrm>
              <a:off x="946785" y="4231481"/>
              <a:ext cx="1752874"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match the target data.</a:t>
              </a:r>
            </a:p>
          </p:txBody>
        </p:sp>
      </p:grpSp>
      <p:grpSp>
        <p:nvGrpSpPr>
          <p:cNvPr id="35" name="Group 35"/>
          <p:cNvGrpSpPr/>
          <p:nvPr/>
        </p:nvGrpSpPr>
        <p:grpSpPr>
          <a:xfrm>
            <a:off x="6210300" y="3352800"/>
            <a:ext cx="5448300" cy="1619250"/>
            <a:chOff x="6210300" y="3352800"/>
            <a:chExt cx="5448300" cy="1619250"/>
          </a:xfrm>
        </p:grpSpPr>
        <p:sp>
          <p:nvSpPr>
            <p:cNvPr id="29" name="Rectangle 29"/>
            <p:cNvSpPr/>
            <p:nvPr/>
          </p:nvSpPr>
          <p:spPr>
            <a:xfrm>
              <a:off x="6210300" y="3352800"/>
              <a:ext cx="5448300" cy="1619250"/>
            </a:xfrm>
            <a:prstGeom prst="roundRect">
              <a:avLst>
                <a:gd name="adj" fmla="val 8235"/>
              </a:avLst>
            </a:prstGeom>
            <a:solidFill>
              <a:schemeClr val="accent5"/>
            </a:solidFill>
            <a:ln w="11430">
              <a:solidFill>
                <a:schemeClr val="accent4"/>
              </a:solidFill>
            </a:ln>
          </p:spPr>
        </p:sp>
        <p:sp>
          <p:nvSpPr>
            <p:cNvPr id="30" name="Rectangle 30"/>
            <p:cNvSpPr/>
            <p:nvPr/>
          </p:nvSpPr>
          <p:spPr>
            <a:xfrm>
              <a:off x="6438900" y="3619500"/>
              <a:ext cx="47625" cy="323850"/>
            </a:xfrm>
            <a:prstGeom prst="roundRect">
              <a:avLst>
                <a:gd name="adj" fmla="val 50000"/>
              </a:avLst>
            </a:prstGeom>
            <a:solidFill>
              <a:srgbClr val="F7B84B"/>
            </a:solidFill>
            <a:ln>
              <a:noFill/>
            </a:ln>
          </p:spPr>
        </p:sp>
        <p:sp>
          <p:nvSpPr>
            <p:cNvPr id="31" name="TextBox 31"/>
            <p:cNvSpPr txBox="1"/>
            <p:nvPr/>
          </p:nvSpPr>
          <p:spPr>
            <a:xfrm>
              <a:off x="10948302" y="3524250"/>
              <a:ext cx="496938" cy="586740"/>
            </a:xfrm>
            <a:prstGeom prst="rect">
              <a:avLst/>
            </a:prstGeom>
            <a:noFill/>
            <a:ln>
              <a:noFill/>
            </a:ln>
          </p:spPr>
          <p:txBody>
            <a:bodyPr wrap="none" lIns="0" tIns="0" rIns="0" bIns="0" anchor="t" anchorCtr="0">
              <a:spAutoFit/>
            </a:bodyPr>
            <a:lstStyle/>
            <a:p>
              <a:pPr algn="r"/>
              <a:r>
                <a:rPr lang="en-US" sz="3000" b="1" dirty="0">
                  <a:solidFill>
                    <a:srgbClr val="F7B84B">
                      <a:alphaMod val="55000"/>
                    </a:srgbClr>
                  </a:solidFill>
                  <a:latin typeface="Consolas"/>
                  <a:ea typeface="Consolas"/>
                  <a:cs typeface="Consolas"/>
                </a:rPr>
                <a:t>04</a:t>
              </a:r>
            </a:p>
          </p:txBody>
        </p:sp>
        <p:sp>
          <p:nvSpPr>
            <p:cNvPr id="32" name="TextBox 32"/>
            <p:cNvSpPr txBox="1"/>
            <p:nvPr/>
          </p:nvSpPr>
          <p:spPr>
            <a:xfrm>
              <a:off x="6621399" y="3659029"/>
              <a:ext cx="3496415" cy="308039"/>
            </a:xfrm>
            <a:prstGeom prst="rect">
              <a:avLst/>
            </a:prstGeom>
            <a:noFill/>
            <a:ln>
              <a:noFill/>
            </a:ln>
          </p:spPr>
          <p:txBody>
            <a:bodyPr wrap="none" lIns="0" tIns="0" rIns="0" bIns="0" anchor="t" anchorCtr="0">
              <a:spAutoFit/>
            </a:bodyPr>
            <a:lstStyle/>
            <a:p>
              <a:pPr algn="l"/>
              <a:r>
                <a:rPr lang="en-US" sz="1580" b="1" dirty="0">
                  <a:solidFill>
                    <a:schemeClr val="dk1"/>
                  </a:solidFill>
                  <a:latin typeface="+mn-lt"/>
                  <a:ea typeface="+mn-ea"/>
                  <a:cs typeface="+mn-cs"/>
                </a:rPr>
                <a:t>Trained once, not per-iteration</a:t>
              </a:r>
            </a:p>
          </p:txBody>
        </p:sp>
        <p:sp>
          <p:nvSpPr>
            <p:cNvPr id="33" name="TextBox 33"/>
            <p:cNvSpPr txBox="1"/>
            <p:nvPr/>
          </p:nvSpPr>
          <p:spPr>
            <a:xfrm>
              <a:off x="6623685" y="4031456"/>
              <a:ext cx="3931558"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Unlike OmniFold, which retrains a fresh network pair</a:t>
              </a:r>
            </a:p>
          </p:txBody>
        </p:sp>
        <p:sp>
          <p:nvSpPr>
            <p:cNvPr id="34" name="TextBox 34"/>
            <p:cNvSpPr txBox="1"/>
            <p:nvPr/>
          </p:nvSpPr>
          <p:spPr>
            <a:xfrm>
              <a:off x="6623685" y="4231481"/>
              <a:ext cx="3667709"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each iteration, this trains one pair a single time.</a:t>
              </a:r>
            </a:p>
          </p:txBody>
        </p:sp>
      </p:grpSp>
      <p:sp>
        <p:nvSpPr>
          <p:cNvPr id="36" name="cue_s04_c1_core_contribution_moment_unfolding_n" title="cue_s04_c1_core_contribution_moment_unfolding_n" descr="cue_s04_c1_core_contribution_moment_unfolding_n The core contribution is Moment Unfolding, a new unbinned and non-iterative reweighting technique."/>
          <p:cNvSpPr/>
          <p:nvPr/>
        </p:nvSpPr>
        <p:spPr>
          <a:xfrm>
            <a:off x="532790" y="1523847"/>
            <a:ext cx="5448604" cy="1619173"/>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cue_s04_c2_learns_reweighting_function_playing" title="cue_s04_c2_learns_reweighting_function_playing" descr="cue_s04_c2_learns_reweighting_function_playing It learns a reweighting function, playing the role of a GAN generator, whose form is inspired by the Boltzmann factor so that its trainable parameters can be directly identified with the observable's moments."/>
          <p:cNvSpPr/>
          <p:nvPr/>
        </p:nvSpPr>
        <p:spPr>
          <a:xfrm>
            <a:off x="6210604" y="1523847"/>
            <a:ext cx="5448604" cy="1619173"/>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cue_s04_c3_discriminator_pushes_reweighted_simu" title="cue_s04_c3_discriminator_pushes_reweighted_simu" descr="cue_s04_c3_discriminator_pushes_reweighted_simu A discriminator pushes the reweighted simulation to match the target data."/>
          <p:cNvSpPr/>
          <p:nvPr/>
        </p:nvSpPr>
        <p:spPr>
          <a:xfrm>
            <a:off x="532790" y="3352876"/>
            <a:ext cx="5448604" cy="1619173"/>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cue_s04_c4_unlike_omnifold_which_trains_fresh" title="cue_s04_c4_unlike_omnifold_which_trains_fresh" descr="cue_s04_c4_unlike_omnifold_which_trains_fresh Unlike OmniFold, which trains a fresh pair of networks on every iteration, Moment Unfolding trains a single pair of networks just once."/>
          <p:cNvSpPr/>
          <p:nvPr/>
        </p:nvSpPr>
        <p:spPr>
          <a:xfrm>
            <a:off x="6210604" y="3352876"/>
            <a:ext cx="5448604" cy="1619173"/>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gradFill>
            <a:gsLst>
              <a:gs pos="0">
                <a:schemeClr val="lt2">
                  <a:alpha val="90000"/>
                </a:schemeClr>
              </a:gs>
              <a:gs pos="60000">
                <a:schemeClr val="lt1">
                  <a:alpha val="0"/>
                </a:schemeClr>
              </a:gs>
            </a:gsLst>
            <a:path path="circle">
              <a:fillToRect l="50000" t="50000" r="50000" b="50000"/>
            </a:path>
          </a:gradFill>
          <a:ln>
            <a:noFill/>
          </a:ln>
        </p:spPr>
        <p:txBody>
          <a:bodyPr/>
          <a:p/>
        </p:txBody>
      </p:sp>
      <p:sp>
        <p:nvSpPr>
          <p:cNvPr id="3" name="Rectangle 3"/>
          <p:cNvSpPr/>
          <p:nvPr/>
        </p:nvSpPr>
        <p:spPr>
          <a:xfrm>
            <a:off x="533400" y="476250"/>
            <a:ext cx="57150" cy="209550"/>
          </a:xfrm>
          <a:prstGeom prst="roundRect">
            <a:avLst>
              <a:gd name="adj" fmla="val 41667"/>
            </a:avLst>
          </a:prstGeom>
          <a:solidFill>
            <a:schemeClr val="accent2"/>
          </a:solidFill>
          <a:ln>
            <a:noFill/>
          </a:ln>
        </p:spPr>
        <p:txBody>
          <a:bodyPr/>
          <a:p/>
        </p:txBody>
      </p:sp>
      <p:sp>
        <p:nvSpPr>
          <p:cNvPr id="4" name="TextBox 4"/>
          <p:cNvSpPr txBox="1"/>
          <p:nvPr/>
        </p:nvSpPr>
        <p:spPr>
          <a:xfrm>
            <a:off x="699135" y="526256"/>
            <a:ext cx="790365" cy="220028"/>
          </a:xfrm>
          <a:prstGeom prst="rect">
            <a:avLst/>
          </a:prstGeom>
          <a:noFill/>
          <a:ln>
            <a:noFill/>
          </a:ln>
        </p:spPr>
        <p:txBody>
          <a:bodyPr wrap="none" lIns="0" tIns="0" rIns="0" bIns="0" anchor="t" anchorCtr="0">
            <a:spAutoFit/>
          </a:bodyPr>
          <a:lstStyle/>
          <a:p>
            <a:pPr algn="l"/>
            <a:r>
              <a:rPr lang="en-US" sz="1120" b="1" spc="225" dirty="0">
                <a:solidFill>
                  <a:schemeClr val="accent2"/>
                </a:solidFill>
                <a:latin typeface="+mn-lt"/>
                <a:ea typeface="+mn-ea"/>
                <a:cs typeface="+mn-cs"/>
              </a:rPr>
              <a:t>METHOD</a:t>
            </a:r>
          </a:p>
        </p:txBody>
      </p:sp>
      <p:sp>
        <p:nvSpPr>
          <p:cNvPr id="5" name="TextBox 5"/>
          <p:cNvSpPr txBox="1"/>
          <p:nvPr/>
        </p:nvSpPr>
        <p:spPr>
          <a:xfrm>
            <a:off x="518160" y="781050"/>
            <a:ext cx="7851237" cy="586740"/>
          </a:xfrm>
          <a:prstGeom prst="rect">
            <a:avLst/>
          </a:prstGeom>
          <a:noFill/>
          <a:ln>
            <a:noFill/>
          </a:ln>
        </p:spPr>
        <p:txBody>
          <a:bodyPr wrap="none" lIns="0" tIns="0" rIns="0" bIns="0" anchor="t" anchorCtr="0">
            <a:spAutoFit/>
          </a:bodyPr>
          <a:lstStyle/>
          <a:p>
            <a:pPr algn="l"/>
            <a:r>
              <a:rPr lang="en-US" sz="3000" b="1" dirty="0">
                <a:solidFill>
                  <a:schemeClr val="dk1"/>
                </a:solidFill>
                <a:latin typeface="+mn-lt"/>
                <a:ea typeface="+mn-ea"/>
                <a:cs typeface="+mn-cs"/>
              </a:rPr>
              <a:t>A GAN whose weights are the moments</a:t>
            </a:r>
          </a:p>
        </p:txBody>
      </p:sp>
      <p:sp>
        <p:nvSpPr>
          <p:cNvPr id="6" name="TextBox 6"/>
          <p:cNvSpPr txBox="1"/>
          <p:nvPr/>
        </p:nvSpPr>
        <p:spPr>
          <a:xfrm>
            <a:off x="11095485" y="534352"/>
            <a:ext cx="568449" cy="205359"/>
          </a:xfrm>
          <a:prstGeom prst="rect">
            <a:avLst/>
          </a:prstGeom>
          <a:noFill/>
          <a:ln>
            <a:noFill/>
          </a:ln>
        </p:spPr>
        <p:txBody>
          <a:bodyPr wrap="none" lIns="0" tIns="0" rIns="0" bIns="0" anchor="t" anchorCtr="0">
            <a:spAutoFit/>
          </a:bodyPr>
          <a:lstStyle/>
          <a:p>
            <a:pPr algn="r"/>
            <a:r>
              <a:rPr lang="en-US" sz="1050" b="1" spc="75" dirty="0">
                <a:solidFill>
                  <a:srgbClr val="6E85AC"/>
                </a:solidFill>
                <a:latin typeface="Consolas"/>
                <a:ea typeface="Consolas"/>
                <a:cs typeface="Consolas"/>
              </a:rPr>
              <a:t>05 / 10</a:t>
            </a:r>
          </a:p>
        </p:txBody>
      </p:sp>
      <p:sp>
        <p:nvSpPr>
          <p:cNvPr id="7" name="Line 7"/>
          <p:cNvSpPr/>
          <p:nvPr/>
        </p:nvSpPr>
        <p:spPr>
          <a:xfrm>
            <a:off x="533400" y="1314450"/>
            <a:ext cx="11125200" cy="9525"/>
          </a:xfrm>
          <a:custGeom>
            <a:avLst/>
            <a:gdLst/>
            <a:ahLst/>
            <a:cxnLst/>
            <a:rect l="l" t="t" r="r" b="b"/>
            <a:pathLst>
              <a:path w="11125200" h="9525">
                <a:moveTo>
                  <a:pt x="0" y="0"/>
                </a:moveTo>
                <a:lnTo>
                  <a:pt x="11125200" y="0"/>
                </a:lnTo>
              </a:path>
            </a:pathLst>
          </a:custGeom>
          <a:noFill/>
          <a:ln w="11430">
            <a:solidFill>
              <a:schemeClr val="accent4"/>
            </a:solidFill>
          </a:ln>
        </p:spPr>
        <p:txBody>
          <a:bodyPr/>
          <a:p/>
        </p:txBody>
      </p:sp>
      <p:grpSp>
        <p:nvGrpSpPr>
          <p:cNvPr id="12" name="Group 12"/>
          <p:cNvGrpSpPr/>
          <p:nvPr/>
        </p:nvGrpSpPr>
        <p:grpSpPr>
          <a:xfrm>
            <a:off x="533400" y="1524000"/>
            <a:ext cx="11125200" cy="1104900"/>
            <a:chOff x="533400" y="1524000"/>
            <a:chExt cx="11125200" cy="1104900"/>
          </a:xfrm>
        </p:grpSpPr>
        <p:sp>
          <p:nvSpPr>
            <p:cNvPr id="8" name="Rectangle 8"/>
            <p:cNvSpPr/>
            <p:nvPr/>
          </p:nvSpPr>
          <p:spPr>
            <a:xfrm>
              <a:off x="533400" y="1524000"/>
              <a:ext cx="11125200" cy="1104900"/>
            </a:xfrm>
            <a:prstGeom prst="roundRect">
              <a:avLst>
                <a:gd name="adj" fmla="val 12069"/>
              </a:avLst>
            </a:prstGeom>
            <a:solidFill>
              <a:schemeClr val="accent6"/>
            </a:solidFill>
            <a:ln w="12382">
              <a:solidFill>
                <a:schemeClr val="accent2"/>
              </a:solidFill>
            </a:ln>
          </p:spPr>
        </p:sp>
        <p:sp>
          <p:nvSpPr>
            <p:cNvPr id="9" name="TextBox 9"/>
            <p:cNvSpPr txBox="1"/>
            <p:nvPr/>
          </p:nvSpPr>
          <p:spPr>
            <a:xfrm>
              <a:off x="718185" y="1688306"/>
              <a:ext cx="5471472" cy="220028"/>
            </a:xfrm>
            <a:prstGeom prst="rect">
              <a:avLst/>
            </a:prstGeom>
            <a:noFill/>
            <a:ln>
              <a:noFill/>
            </a:ln>
          </p:spPr>
          <p:txBody>
            <a:bodyPr wrap="none" lIns="0" tIns="0" rIns="0" bIns="0" anchor="t" anchorCtr="0">
              <a:spAutoFit/>
            </a:bodyPr>
            <a:lstStyle/>
            <a:p>
              <a:pPr algn="l"/>
              <a:r>
                <a:rPr lang="en-US" sz="1120" b="1" dirty="0">
                  <a:solidFill>
                    <a:schemeClr val="accent2"/>
                  </a:solidFill>
                  <a:latin typeface="+mn-lt"/>
                  <a:ea typeface="+mn-ea"/>
                  <a:cs typeface="+mn-cs"/>
                </a:rPr>
                <a:t>Boltzmann max-entropy generator — the coefficients ARE the moments</a:t>
              </a:r>
            </a:p>
          </p:txBody>
        </p:sp>
        <p:sp>
          <p:nvSpPr>
            <p:cNvPr id="10" name="TextBox 10"/>
            <p:cNvSpPr txBox="1"/>
            <p:nvPr/>
          </p:nvSpPr>
          <p:spPr>
            <a:xfrm>
              <a:off x="713613" y="2067401"/>
              <a:ext cx="5331414" cy="396050"/>
            </a:xfrm>
            <a:prstGeom prst="rect">
              <a:avLst/>
            </a:prstGeom>
            <a:noFill/>
            <a:ln>
              <a:noFill/>
            </a:ln>
          </p:spPr>
          <p:txBody>
            <a:bodyPr wrap="none" lIns="0" tIns="0" rIns="0" bIns="0" anchor="t" anchorCtr="0">
              <a:spAutoFit/>
            </a:bodyPr>
            <a:lstStyle/>
            <a:p>
              <a:pPr algn="l"/>
              <a:r>
                <a:rPr lang="en-US" sz="2020" b="1" dirty="0">
                  <a:solidFill>
                    <a:schemeClr val="dk1"/>
                  </a:solidFill>
                  <a:latin typeface="Consolas"/>
                  <a:ea typeface="Consolas"/>
                  <a:cs typeface="Consolas"/>
                </a:rPr>
                <a:t>w(x) = exp( λ₁·x + λ₂·x² + … + λₙ·xⁿ )</a:t>
              </a:r>
            </a:p>
          </p:txBody>
        </p:sp>
        <p:sp>
          <p:nvSpPr>
            <p:cNvPr id="11" name="TextBox 11"/>
            <p:cNvSpPr txBox="1"/>
            <p:nvPr/>
          </p:nvSpPr>
          <p:spPr>
            <a:xfrm>
              <a:off x="10452758" y="2156460"/>
              <a:ext cx="1021438" cy="234696"/>
            </a:xfrm>
            <a:prstGeom prst="rect">
              <a:avLst/>
            </a:prstGeom>
            <a:noFill/>
            <a:ln>
              <a:noFill/>
            </a:ln>
          </p:spPr>
          <p:txBody>
            <a:bodyPr wrap="none" lIns="0" tIns="0" rIns="0" bIns="0" anchor="t" anchorCtr="0">
              <a:spAutoFit/>
            </a:bodyPr>
            <a:lstStyle/>
            <a:p>
              <a:pPr algn="r"/>
              <a:r>
                <a:rPr lang="en-US" sz="1200" b="1" dirty="0">
                  <a:solidFill>
                    <a:srgbClr val="37DCC0"/>
                  </a:solidFill>
                  <a:latin typeface="Consolas"/>
                  <a:ea typeface="Consolas"/>
                  <a:cs typeface="Consolas"/>
                </a:rPr>
                <a:t>λ = moments</a:t>
              </a:r>
            </a:p>
          </p:txBody>
        </p:sp>
      </p:grpSp>
      <p:grpSp>
        <p:nvGrpSpPr>
          <p:cNvPr id="21" name="Group 21"/>
          <p:cNvGrpSpPr/>
          <p:nvPr/>
        </p:nvGrpSpPr>
        <p:grpSpPr>
          <a:xfrm>
            <a:off x="533400" y="2838450"/>
            <a:ext cx="3568700" cy="2038350"/>
            <a:chOff x="533400" y="2838450"/>
            <a:chExt cx="3568700" cy="2038350"/>
          </a:xfrm>
        </p:grpSpPr>
        <p:sp>
          <p:nvSpPr>
            <p:cNvPr id="13" name="Rectangle 13"/>
            <p:cNvSpPr/>
            <p:nvPr/>
          </p:nvSpPr>
          <p:spPr>
            <a:xfrm>
              <a:off x="533400" y="2838450"/>
              <a:ext cx="3568700" cy="2038350"/>
            </a:xfrm>
            <a:prstGeom prst="roundRect">
              <a:avLst>
                <a:gd name="adj" fmla="val 6542"/>
              </a:avLst>
            </a:prstGeom>
            <a:solidFill>
              <a:schemeClr val="accent5"/>
            </a:solidFill>
            <a:ln w="11430">
              <a:solidFill>
                <a:schemeClr val="accent4"/>
              </a:solidFill>
            </a:ln>
          </p:spPr>
        </p:sp>
        <p:sp>
          <p:nvSpPr>
            <p:cNvPr id="14" name="TextBox 14"/>
            <p:cNvSpPr txBox="1"/>
            <p:nvPr/>
          </p:nvSpPr>
          <p:spPr>
            <a:xfrm>
              <a:off x="736473" y="3081814"/>
              <a:ext cx="2009435" cy="249364"/>
            </a:xfrm>
            <a:prstGeom prst="rect">
              <a:avLst/>
            </a:prstGeom>
            <a:noFill/>
            <a:ln>
              <a:noFill/>
            </a:ln>
          </p:spPr>
          <p:txBody>
            <a:bodyPr wrap="none" lIns="0" tIns="0" rIns="0" bIns="0" anchor="t" anchorCtr="0">
              <a:spAutoFit/>
            </a:bodyPr>
            <a:lstStyle/>
            <a:p>
              <a:pPr algn="l"/>
              <a:r>
                <a:rPr lang="en-US" sz="1280" b="1" dirty="0">
                  <a:solidFill>
                    <a:schemeClr val="accent2"/>
                  </a:solidFill>
                  <a:latin typeface="+mn-lt"/>
                  <a:ea typeface="+mn-ea"/>
                  <a:cs typeface="+mn-cs"/>
                </a:rPr>
                <a:t>1 Generator reweights</a:t>
              </a:r>
            </a:p>
          </p:txBody>
        </p:sp>
        <p:sp>
          <p:nvSpPr>
            <p:cNvPr id="15" name="TextBox 15"/>
            <p:cNvSpPr txBox="1"/>
            <p:nvPr/>
          </p:nvSpPr>
          <p:spPr>
            <a:xfrm>
              <a:off x="737616" y="3391852"/>
              <a:ext cx="2001333"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The generator reweights the</a:t>
              </a:r>
            </a:p>
          </p:txBody>
        </p:sp>
        <p:sp>
          <p:nvSpPr>
            <p:cNvPr id="16" name="TextBox 16"/>
            <p:cNvSpPr txBox="1"/>
            <p:nvPr/>
          </p:nvSpPr>
          <p:spPr>
            <a:xfrm>
              <a:off x="737616" y="3591878"/>
              <a:ext cx="2350027"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simulated events; a discriminator</a:t>
              </a:r>
            </a:p>
          </p:txBody>
        </p:sp>
        <p:sp>
          <p:nvSpPr>
            <p:cNvPr id="17" name="TextBox 17"/>
            <p:cNvSpPr txBox="1"/>
            <p:nvPr/>
          </p:nvSpPr>
          <p:spPr>
            <a:xfrm>
              <a:off x="737616" y="3791902"/>
              <a:ext cx="2272284"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network tries to tell reweighted</a:t>
              </a:r>
            </a:p>
          </p:txBody>
        </p:sp>
        <p:sp>
          <p:nvSpPr>
            <p:cNvPr id="18" name="TextBox 18"/>
            <p:cNvSpPr txBox="1"/>
            <p:nvPr/>
          </p:nvSpPr>
          <p:spPr>
            <a:xfrm>
              <a:off x="737616" y="3991928"/>
              <a:ext cx="1841163"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simulation from real data.</a:t>
              </a:r>
            </a:p>
          </p:txBody>
        </p:sp>
        <p:sp>
          <p:nvSpPr>
            <p:cNvPr id="19" name="Rectangle 19"/>
            <p:cNvSpPr/>
            <p:nvPr/>
          </p:nvSpPr>
          <p:spPr>
            <a:xfrm>
              <a:off x="742950" y="4381500"/>
              <a:ext cx="3149600" cy="323850"/>
            </a:xfrm>
            <a:prstGeom prst="roundRect">
              <a:avLst>
                <a:gd name="adj" fmla="val 26471"/>
              </a:avLst>
            </a:prstGeom>
            <a:solidFill>
              <a:schemeClr val="lt2"/>
            </a:solidFill>
            <a:ln>
              <a:noFill/>
            </a:ln>
          </p:spPr>
        </p:sp>
        <p:sp>
          <p:nvSpPr>
            <p:cNvPr id="20" name="TextBox 20"/>
            <p:cNvSpPr txBox="1"/>
            <p:nvPr/>
          </p:nvSpPr>
          <p:spPr>
            <a:xfrm>
              <a:off x="871156" y="4481751"/>
              <a:ext cx="1702046" cy="198025"/>
            </a:xfrm>
            <a:prstGeom prst="rect">
              <a:avLst/>
            </a:prstGeom>
            <a:noFill/>
            <a:ln>
              <a:noFill/>
            </a:ln>
          </p:spPr>
          <p:txBody>
            <a:bodyPr wrap="none" lIns="0" tIns="0" rIns="0" bIns="0" anchor="t" anchorCtr="0">
              <a:spAutoFit/>
            </a:bodyPr>
            <a:lstStyle/>
            <a:p>
              <a:pPr algn="l"/>
              <a:r>
                <a:rPr lang="en-US" sz="1010" b="1" dirty="0">
                  <a:solidFill>
                    <a:srgbClr val="37DCC0"/>
                  </a:solidFill>
                  <a:latin typeface="Consolas"/>
                  <a:ea typeface="Consolas"/>
                  <a:cs typeface="Consolas"/>
                </a:rPr>
                <a:t>sim · w(x) vs. real data</a:t>
              </a:r>
            </a:p>
          </p:txBody>
        </p:sp>
      </p:grpSp>
      <p:grpSp>
        <p:nvGrpSpPr>
          <p:cNvPr id="30" name="Group 30"/>
          <p:cNvGrpSpPr/>
          <p:nvPr/>
        </p:nvGrpSpPr>
        <p:grpSpPr>
          <a:xfrm>
            <a:off x="4311650" y="2838450"/>
            <a:ext cx="3568700" cy="2038350"/>
            <a:chOff x="4311650" y="2838450"/>
            <a:chExt cx="3568700" cy="2038350"/>
          </a:xfrm>
        </p:grpSpPr>
        <p:sp>
          <p:nvSpPr>
            <p:cNvPr id="22" name="Rectangle 22"/>
            <p:cNvSpPr/>
            <p:nvPr/>
          </p:nvSpPr>
          <p:spPr>
            <a:xfrm>
              <a:off x="4311650" y="2838450"/>
              <a:ext cx="3568700" cy="2038350"/>
            </a:xfrm>
            <a:prstGeom prst="roundRect">
              <a:avLst>
                <a:gd name="adj" fmla="val 6542"/>
              </a:avLst>
            </a:prstGeom>
            <a:solidFill>
              <a:schemeClr val="accent5"/>
            </a:solidFill>
            <a:ln w="11430">
              <a:solidFill>
                <a:schemeClr val="accent4"/>
              </a:solidFill>
            </a:ln>
          </p:spPr>
        </p:sp>
        <p:sp>
          <p:nvSpPr>
            <p:cNvPr id="23" name="TextBox 23"/>
            <p:cNvSpPr txBox="1"/>
            <p:nvPr/>
          </p:nvSpPr>
          <p:spPr>
            <a:xfrm>
              <a:off x="4514723" y="3081814"/>
              <a:ext cx="1936518" cy="249364"/>
            </a:xfrm>
            <a:prstGeom prst="rect">
              <a:avLst/>
            </a:prstGeom>
            <a:noFill/>
            <a:ln>
              <a:noFill/>
            </a:ln>
          </p:spPr>
          <p:txBody>
            <a:bodyPr wrap="none" lIns="0" tIns="0" rIns="0" bIns="0" anchor="t" anchorCtr="0">
              <a:spAutoFit/>
            </a:bodyPr>
            <a:lstStyle/>
            <a:p>
              <a:pPr algn="l"/>
              <a:r>
                <a:rPr lang="en-US" sz="1280" b="1" dirty="0">
                  <a:solidFill>
                    <a:schemeClr val="accent2"/>
                  </a:solidFill>
                  <a:latin typeface="+mn-lt"/>
                  <a:ea typeface="+mn-ea"/>
                  <a:cs typeface="+mn-cs"/>
                </a:rPr>
                <a:t>2 Adversarial training</a:t>
              </a:r>
            </a:p>
          </p:txBody>
        </p:sp>
        <p:sp>
          <p:nvSpPr>
            <p:cNvPr id="24" name="TextBox 24"/>
            <p:cNvSpPr txBox="1"/>
            <p:nvPr/>
          </p:nvSpPr>
          <p:spPr>
            <a:xfrm>
              <a:off x="4515866" y="3391852"/>
              <a:ext cx="2263238"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The two play a minimax game on a</a:t>
              </a:r>
            </a:p>
          </p:txBody>
        </p:sp>
        <p:sp>
          <p:nvSpPr>
            <p:cNvPr id="25" name="TextBox 25"/>
            <p:cNvSpPr txBox="1"/>
            <p:nvPr/>
          </p:nvSpPr>
          <p:spPr>
            <a:xfrm>
              <a:off x="4515866" y="3591878"/>
              <a:ext cx="2547918"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weighted binary cross-entropy loss:</a:t>
              </a:r>
            </a:p>
          </p:txBody>
        </p:sp>
        <p:sp>
          <p:nvSpPr>
            <p:cNvPr id="26" name="TextBox 26"/>
            <p:cNvSpPr txBox="1"/>
            <p:nvPr/>
          </p:nvSpPr>
          <p:spPr>
            <a:xfrm>
              <a:off x="4515866" y="3791902"/>
              <a:ext cx="2427770"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the discriminator minimizes it, the</a:t>
              </a:r>
            </a:p>
          </p:txBody>
        </p:sp>
        <p:sp>
          <p:nvSpPr>
            <p:cNvPr id="27" name="TextBox 27"/>
            <p:cNvSpPr txBox="1"/>
            <p:nvPr/>
          </p:nvSpPr>
          <p:spPr>
            <a:xfrm>
              <a:off x="4515866" y="3991928"/>
              <a:ext cx="1678610"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generator maximizes it.</a:t>
              </a:r>
            </a:p>
          </p:txBody>
        </p:sp>
        <p:sp>
          <p:nvSpPr>
            <p:cNvPr id="28" name="Rectangle 28"/>
            <p:cNvSpPr/>
            <p:nvPr/>
          </p:nvSpPr>
          <p:spPr>
            <a:xfrm>
              <a:off x="4521200" y="4381500"/>
              <a:ext cx="3149600" cy="323850"/>
            </a:xfrm>
            <a:prstGeom prst="roundRect">
              <a:avLst>
                <a:gd name="adj" fmla="val 26471"/>
              </a:avLst>
            </a:prstGeom>
            <a:solidFill>
              <a:schemeClr val="lt2"/>
            </a:solidFill>
            <a:ln>
              <a:noFill/>
            </a:ln>
          </p:spPr>
        </p:sp>
        <p:sp>
          <p:nvSpPr>
            <p:cNvPr id="29" name="TextBox 29"/>
            <p:cNvSpPr txBox="1"/>
            <p:nvPr/>
          </p:nvSpPr>
          <p:spPr>
            <a:xfrm>
              <a:off x="4649597" y="4485799"/>
              <a:ext cx="1774278" cy="190690"/>
            </a:xfrm>
            <a:prstGeom prst="rect">
              <a:avLst/>
            </a:prstGeom>
            <a:noFill/>
            <a:ln>
              <a:noFill/>
            </a:ln>
          </p:spPr>
          <p:txBody>
            <a:bodyPr wrap="none" lIns="0" tIns="0" rIns="0" bIns="0" anchor="t" anchorCtr="0">
              <a:spAutoFit/>
            </a:bodyPr>
            <a:lstStyle/>
            <a:p>
              <a:pPr algn="l"/>
              <a:r>
                <a:rPr lang="en-US" sz="980" b="1" dirty="0">
                  <a:solidFill>
                    <a:schemeClr val="dk1"/>
                  </a:solidFill>
                  <a:latin typeface="Consolas"/>
                  <a:ea typeface="Consolas"/>
                  <a:cs typeface="Consolas"/>
                </a:rPr>
                <a:t>min_D max_G weighted BCE</a:t>
              </a:r>
            </a:p>
          </p:txBody>
        </p:sp>
      </p:grpSp>
      <p:grpSp>
        <p:nvGrpSpPr>
          <p:cNvPr id="39" name="Group 39"/>
          <p:cNvGrpSpPr/>
          <p:nvPr/>
        </p:nvGrpSpPr>
        <p:grpSpPr>
          <a:xfrm>
            <a:off x="8089900" y="2838450"/>
            <a:ext cx="3568700" cy="2038350"/>
            <a:chOff x="8089900" y="2838450"/>
            <a:chExt cx="3568700" cy="2038350"/>
          </a:xfrm>
        </p:grpSpPr>
        <p:sp>
          <p:nvSpPr>
            <p:cNvPr id="31" name="Rectangle 31"/>
            <p:cNvSpPr/>
            <p:nvPr/>
          </p:nvSpPr>
          <p:spPr>
            <a:xfrm>
              <a:off x="8089900" y="2838450"/>
              <a:ext cx="3568700" cy="2038350"/>
            </a:xfrm>
            <a:prstGeom prst="roundRect">
              <a:avLst>
                <a:gd name="adj" fmla="val 6542"/>
              </a:avLst>
            </a:prstGeom>
            <a:solidFill>
              <a:schemeClr val="accent6"/>
            </a:solidFill>
            <a:ln w="11430">
              <a:solidFill>
                <a:srgbClr val="57D9A3"/>
              </a:solidFill>
            </a:ln>
          </p:spPr>
        </p:sp>
        <p:sp>
          <p:nvSpPr>
            <p:cNvPr id="32" name="TextBox 32"/>
            <p:cNvSpPr txBox="1"/>
            <p:nvPr/>
          </p:nvSpPr>
          <p:spPr>
            <a:xfrm>
              <a:off x="8292973" y="3081814"/>
              <a:ext cx="2163353" cy="249364"/>
            </a:xfrm>
            <a:prstGeom prst="rect">
              <a:avLst/>
            </a:prstGeom>
            <a:noFill/>
            <a:ln>
              <a:noFill/>
            </a:ln>
          </p:spPr>
          <p:txBody>
            <a:bodyPr wrap="none" lIns="0" tIns="0" rIns="0" bIns="0" anchor="t" anchorCtr="0">
              <a:spAutoFit/>
            </a:bodyPr>
            <a:lstStyle/>
            <a:p>
              <a:pPr algn="l"/>
              <a:r>
                <a:rPr lang="en-US" sz="1280" b="1" dirty="0">
                  <a:solidFill>
                    <a:srgbClr val="57D9A3"/>
                  </a:solidFill>
                  <a:latin typeface="+mn-lt"/>
                  <a:ea typeface="+mn-ea"/>
                  <a:cs typeface="+mn-cs"/>
                </a:rPr>
                <a:t>3 Emulate detector once</a:t>
              </a:r>
            </a:p>
          </p:txBody>
        </p:sp>
        <p:sp>
          <p:nvSpPr>
            <p:cNvPr id="33" name="TextBox 33"/>
            <p:cNvSpPr txBox="1"/>
            <p:nvPr/>
          </p:nvSpPr>
          <p:spPr>
            <a:xfrm>
              <a:off x="8294116" y="3391852"/>
              <a:ext cx="2545326"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Reweighting changes only importance</a:t>
              </a:r>
            </a:p>
          </p:txBody>
        </p:sp>
        <p:sp>
          <p:nvSpPr>
            <p:cNvPr id="34" name="TextBox 34"/>
            <p:cNvSpPr txBox="1"/>
            <p:nvPr/>
          </p:nvSpPr>
          <p:spPr>
            <a:xfrm>
              <a:off x="8294116" y="3591878"/>
              <a:ext cx="2590324"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weights, not the event features — so</a:t>
              </a:r>
            </a:p>
          </p:txBody>
        </p:sp>
        <p:sp>
          <p:nvSpPr>
            <p:cNvPr id="35" name="TextBox 35"/>
            <p:cNvSpPr txBox="1"/>
            <p:nvPr/>
          </p:nvSpPr>
          <p:spPr>
            <a:xfrm>
              <a:off x="8294116" y="3791902"/>
              <a:ext cx="2314689"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the expensive detector emulation</a:t>
              </a:r>
            </a:p>
          </p:txBody>
        </p:sp>
        <p:sp>
          <p:nvSpPr>
            <p:cNvPr id="36" name="TextBox 36"/>
            <p:cNvSpPr txBox="1"/>
            <p:nvPr/>
          </p:nvSpPr>
          <p:spPr>
            <a:xfrm>
              <a:off x="8294116" y="3991928"/>
              <a:ext cx="1304030"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runs a single time.</a:t>
              </a:r>
            </a:p>
          </p:txBody>
        </p:sp>
        <p:sp>
          <p:nvSpPr>
            <p:cNvPr id="37" name="Rectangle 37"/>
            <p:cNvSpPr/>
            <p:nvPr/>
          </p:nvSpPr>
          <p:spPr>
            <a:xfrm>
              <a:off x="8299450" y="4381500"/>
              <a:ext cx="3149600" cy="323850"/>
            </a:xfrm>
            <a:prstGeom prst="roundRect">
              <a:avLst>
                <a:gd name="adj" fmla="val 26471"/>
              </a:avLst>
            </a:prstGeom>
            <a:solidFill>
              <a:srgbClr val="14261F"/>
            </a:solidFill>
            <a:ln w="10478">
              <a:solidFill>
                <a:srgbClr val="57D9A3"/>
              </a:solidFill>
            </a:ln>
          </p:spPr>
        </p:sp>
        <p:sp>
          <p:nvSpPr>
            <p:cNvPr id="38" name="TextBox 38"/>
            <p:cNvSpPr txBox="1"/>
            <p:nvPr/>
          </p:nvSpPr>
          <p:spPr>
            <a:xfrm>
              <a:off x="8428038" y="4489847"/>
              <a:ext cx="2029148" cy="183356"/>
            </a:xfrm>
            <a:prstGeom prst="rect">
              <a:avLst/>
            </a:prstGeom>
            <a:noFill/>
            <a:ln>
              <a:noFill/>
            </a:ln>
          </p:spPr>
          <p:txBody>
            <a:bodyPr wrap="none" lIns="0" tIns="0" rIns="0" bIns="0" anchor="t" anchorCtr="0">
              <a:spAutoFit/>
            </a:bodyPr>
            <a:lstStyle/>
            <a:p>
              <a:pPr algn="l"/>
              <a:r>
                <a:rPr lang="en-US" sz="940" b="1" dirty="0">
                  <a:solidFill>
                    <a:srgbClr val="57D9A3"/>
                  </a:solidFill>
                  <a:latin typeface="Consolas"/>
                  <a:ea typeface="Consolas"/>
                  <a:cs typeface="Consolas"/>
                </a:rPr>
                <a:t>detector sim ×1 (not per step)</a:t>
              </a:r>
            </a:p>
          </p:txBody>
        </p:sp>
      </p:grpSp>
      <p:sp>
        <p:nvSpPr>
          <p:cNvPr id="40" name="cue_s05_c1_method_borrows_boltzmann_idea_buildi" title="cue_s05_c1_method_borrows_boltzmann_idea_buildi" descr="cue_s05_c1_method_borrows_boltzmann_idea_buildi The method borrows Boltzmann's idea of building the distribution that maximizes entropy subject to fixed moments. Concretely, the generator is written as the exponential of a polynomial in the observable, so its coefficients, the lambdas, are the moments being"/>
          <p:cNvSpPr/>
          <p:nvPr/>
        </p:nvSpPr>
        <p:spPr>
          <a:xfrm>
            <a:off x="532790" y="1523847"/>
            <a:ext cx="11125200" cy="1104823"/>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cue_s05_c2_generator_reweights_simulated_events" title="cue_s05_c2_generator_reweights_simulated_events" descr="cue_s05_c2_generator_reweights_simulated_events This generator reweights the simulated events, and a discriminator neural network tries to tell the reweighted simulation apart from the real data."/>
          <p:cNvSpPr/>
          <p:nvPr/>
        </p:nvSpPr>
        <p:spPr>
          <a:xfrm>
            <a:off x="532790" y="2838526"/>
            <a:ext cx="3568598" cy="203819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cue_s05_c3_two_trained_against_other_weighted" title="cue_s05_c3_two_trained_against_other_weighted" descr="cue_s05_c3_two_trained_against_other_weighted The two are trained against each other on a weighted binary cross-entropy loss: the discriminator minimizes it while the generator maximizes it."/>
          <p:cNvSpPr/>
          <p:nvPr/>
        </p:nvSpPr>
        <p:spPr>
          <a:xfrm>
            <a:off x="4311091" y="2838526"/>
            <a:ext cx="3568598" cy="203819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cue_s05_c4_because_reweighting_only_changes_imp" title="cue_s05_c4_because_reweighting_only_changes_imp" descr="cue_s05_c4_because_reweighting_only_changes_imp Because the reweighting only changes importance weights and not the event features, the expensive detector emulation runs a single time."/>
          <p:cNvSpPr/>
          <p:nvPr/>
        </p:nvSpPr>
        <p:spPr>
          <a:xfrm>
            <a:off x="8089392" y="2838526"/>
            <a:ext cx="3568598" cy="203819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gradFill>
            <a:gsLst>
              <a:gs pos="0">
                <a:schemeClr val="lt2">
                  <a:alpha val="90000"/>
                </a:schemeClr>
              </a:gs>
              <a:gs pos="60000">
                <a:schemeClr val="lt1">
                  <a:alpha val="0"/>
                </a:schemeClr>
              </a:gs>
            </a:gsLst>
            <a:path path="circle">
              <a:fillToRect l="50000" t="50000" r="50000" b="50000"/>
            </a:path>
          </a:gradFill>
          <a:ln>
            <a:noFill/>
          </a:ln>
        </p:spPr>
        <p:txBody>
          <a:bodyPr/>
          <a:p/>
        </p:txBody>
      </p:sp>
      <p:sp>
        <p:nvSpPr>
          <p:cNvPr id="3" name="Rectangle 3"/>
          <p:cNvSpPr/>
          <p:nvPr/>
        </p:nvSpPr>
        <p:spPr>
          <a:xfrm>
            <a:off x="533400" y="476250"/>
            <a:ext cx="57150" cy="209550"/>
          </a:xfrm>
          <a:prstGeom prst="roundRect">
            <a:avLst>
              <a:gd name="adj" fmla="val 41667"/>
            </a:avLst>
          </a:prstGeom>
          <a:solidFill>
            <a:schemeClr val="accent2"/>
          </a:solidFill>
          <a:ln>
            <a:noFill/>
          </a:ln>
        </p:spPr>
        <p:txBody>
          <a:bodyPr/>
          <a:p/>
        </p:txBody>
      </p:sp>
      <p:sp>
        <p:nvSpPr>
          <p:cNvPr id="4" name="TextBox 4"/>
          <p:cNvSpPr txBox="1"/>
          <p:nvPr/>
        </p:nvSpPr>
        <p:spPr>
          <a:xfrm>
            <a:off x="699135" y="526256"/>
            <a:ext cx="1252929" cy="220028"/>
          </a:xfrm>
          <a:prstGeom prst="rect">
            <a:avLst/>
          </a:prstGeom>
          <a:noFill/>
          <a:ln>
            <a:noFill/>
          </a:ln>
        </p:spPr>
        <p:txBody>
          <a:bodyPr wrap="none" lIns="0" tIns="0" rIns="0" bIns="0" anchor="t" anchorCtr="0">
            <a:spAutoFit/>
          </a:bodyPr>
          <a:lstStyle/>
          <a:p>
            <a:pPr algn="l"/>
            <a:r>
              <a:rPr lang="en-US" sz="1120" b="1" spc="225" dirty="0">
                <a:solidFill>
                  <a:schemeClr val="accent2"/>
                </a:solidFill>
                <a:latin typeface="+mn-lt"/>
                <a:ea typeface="+mn-ea"/>
                <a:cs typeface="+mn-cs"/>
              </a:rPr>
              <a:t>BENCHMARKS</a:t>
            </a:r>
          </a:p>
        </p:txBody>
      </p:sp>
      <p:sp>
        <p:nvSpPr>
          <p:cNvPr id="5" name="TextBox 5"/>
          <p:cNvSpPr txBox="1"/>
          <p:nvPr/>
        </p:nvSpPr>
        <p:spPr>
          <a:xfrm>
            <a:off x="518160" y="781050"/>
            <a:ext cx="6957592" cy="586740"/>
          </a:xfrm>
          <a:prstGeom prst="rect">
            <a:avLst/>
          </a:prstGeom>
          <a:noFill/>
          <a:ln>
            <a:noFill/>
          </a:ln>
        </p:spPr>
        <p:txBody>
          <a:bodyPr wrap="none" lIns="0" tIns="0" rIns="0" bIns="0" anchor="t" anchorCtr="0">
            <a:spAutoFit/>
          </a:bodyPr>
          <a:lstStyle/>
          <a:p>
            <a:pPr algn="l"/>
            <a:r>
              <a:rPr lang="en-US" sz="3000" b="1" dirty="0">
                <a:solidFill>
                  <a:schemeClr val="dk1"/>
                </a:solidFill>
                <a:latin typeface="+mn-lt"/>
                <a:ea typeface="+mn-ea"/>
                <a:cs typeface="+mn-cs"/>
              </a:rPr>
              <a:t>Two problems: a toy and real jets</a:t>
            </a:r>
          </a:p>
        </p:txBody>
      </p:sp>
      <p:sp>
        <p:nvSpPr>
          <p:cNvPr id="6" name="TextBox 6"/>
          <p:cNvSpPr txBox="1"/>
          <p:nvPr/>
        </p:nvSpPr>
        <p:spPr>
          <a:xfrm>
            <a:off x="11095485" y="534352"/>
            <a:ext cx="568449" cy="205359"/>
          </a:xfrm>
          <a:prstGeom prst="rect">
            <a:avLst/>
          </a:prstGeom>
          <a:noFill/>
          <a:ln>
            <a:noFill/>
          </a:ln>
        </p:spPr>
        <p:txBody>
          <a:bodyPr wrap="none" lIns="0" tIns="0" rIns="0" bIns="0" anchor="t" anchorCtr="0">
            <a:spAutoFit/>
          </a:bodyPr>
          <a:lstStyle/>
          <a:p>
            <a:pPr algn="r"/>
            <a:r>
              <a:rPr lang="en-US" sz="1050" b="1" spc="75" dirty="0">
                <a:solidFill>
                  <a:srgbClr val="6E85AC"/>
                </a:solidFill>
                <a:latin typeface="Consolas"/>
                <a:ea typeface="Consolas"/>
                <a:cs typeface="Consolas"/>
              </a:rPr>
              <a:t>06 / 10</a:t>
            </a:r>
          </a:p>
        </p:txBody>
      </p:sp>
      <p:sp>
        <p:nvSpPr>
          <p:cNvPr id="7" name="Line 7"/>
          <p:cNvSpPr/>
          <p:nvPr/>
        </p:nvSpPr>
        <p:spPr>
          <a:xfrm>
            <a:off x="533400" y="1314450"/>
            <a:ext cx="11125200" cy="9525"/>
          </a:xfrm>
          <a:custGeom>
            <a:avLst/>
            <a:gdLst/>
            <a:ahLst/>
            <a:cxnLst/>
            <a:rect l="l" t="t" r="r" b="b"/>
            <a:pathLst>
              <a:path w="11125200" h="9525">
                <a:moveTo>
                  <a:pt x="0" y="0"/>
                </a:moveTo>
                <a:lnTo>
                  <a:pt x="11125200" y="0"/>
                </a:lnTo>
              </a:path>
            </a:pathLst>
          </a:custGeom>
          <a:noFill/>
          <a:ln w="11430">
            <a:solidFill>
              <a:schemeClr val="accent4"/>
            </a:solidFill>
          </a:ln>
        </p:spPr>
        <p:txBody>
          <a:bodyPr/>
          <a:p/>
        </p:txBody>
      </p:sp>
      <p:grpSp>
        <p:nvGrpSpPr>
          <p:cNvPr id="11" name="Group 11"/>
          <p:cNvGrpSpPr/>
          <p:nvPr/>
        </p:nvGrpSpPr>
        <p:grpSpPr>
          <a:xfrm>
            <a:off x="533400" y="1524000"/>
            <a:ext cx="11125200" cy="590550"/>
            <a:chOff x="533400" y="1524000"/>
            <a:chExt cx="11125200" cy="590550"/>
          </a:xfrm>
        </p:grpSpPr>
        <p:sp>
          <p:nvSpPr>
            <p:cNvPr id="8" name="Rectangle 8"/>
            <p:cNvSpPr/>
            <p:nvPr/>
          </p:nvSpPr>
          <p:spPr>
            <a:xfrm>
              <a:off x="533400" y="1524000"/>
              <a:ext cx="11125200" cy="590550"/>
            </a:xfrm>
            <a:prstGeom prst="roundRect">
              <a:avLst>
                <a:gd name="adj" fmla="val 22581"/>
              </a:avLst>
            </a:prstGeom>
            <a:solidFill>
              <a:schemeClr val="accent5"/>
            </a:solidFill>
            <a:ln w="11430">
              <a:solidFill>
                <a:schemeClr val="accent4"/>
              </a:solidFill>
            </a:ln>
          </p:spPr>
        </p:sp>
        <p:sp>
          <p:nvSpPr>
            <p:cNvPr id="9" name="Rectangle 9"/>
            <p:cNvSpPr/>
            <p:nvPr/>
          </p:nvSpPr>
          <p:spPr>
            <a:xfrm>
              <a:off x="723900" y="1676400"/>
              <a:ext cx="47625" cy="285750"/>
            </a:xfrm>
            <a:prstGeom prst="roundRect">
              <a:avLst>
                <a:gd name="adj" fmla="val 50000"/>
              </a:avLst>
            </a:prstGeom>
            <a:solidFill>
              <a:srgbClr val="37DCC0"/>
            </a:solidFill>
            <a:ln>
              <a:noFill/>
            </a:ln>
          </p:spPr>
        </p:sp>
        <p:sp>
          <p:nvSpPr>
            <p:cNvPr id="10" name="TextBox 10"/>
            <p:cNvSpPr txBox="1"/>
            <p:nvPr/>
          </p:nvSpPr>
          <p:spPr>
            <a:xfrm>
              <a:off x="907161" y="1751171"/>
              <a:ext cx="5219928"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The method is tested on two very different problems</a:t>
              </a:r>
            </a:p>
          </p:txBody>
        </p:sp>
      </p:grpSp>
      <p:grpSp>
        <p:nvGrpSpPr>
          <p:cNvPr id="24" name="Group 24"/>
          <p:cNvGrpSpPr/>
          <p:nvPr/>
        </p:nvGrpSpPr>
        <p:grpSpPr>
          <a:xfrm>
            <a:off x="533400" y="2305050"/>
            <a:ext cx="6057900" cy="2781300"/>
            <a:chOff x="533400" y="2305050"/>
            <a:chExt cx="6057900" cy="2781300"/>
          </a:xfrm>
        </p:grpSpPr>
        <p:sp>
          <p:nvSpPr>
            <p:cNvPr id="12" name="Rectangle 12"/>
            <p:cNvSpPr/>
            <p:nvPr/>
          </p:nvSpPr>
          <p:spPr>
            <a:xfrm>
              <a:off x="533400" y="2305050"/>
              <a:ext cx="6057900" cy="2781300"/>
            </a:xfrm>
            <a:prstGeom prst="roundRect">
              <a:avLst>
                <a:gd name="adj" fmla="val 4795"/>
              </a:avLst>
            </a:prstGeom>
            <a:solidFill>
              <a:schemeClr val="accent5"/>
            </a:solidFill>
            <a:ln w="11430">
              <a:solidFill>
                <a:schemeClr val="accent4"/>
              </a:solidFill>
            </a:ln>
          </p:spPr>
        </p:sp>
        <p:sp>
          <p:nvSpPr>
            <p:cNvPr id="13" name="Rectangle 13"/>
            <p:cNvSpPr/>
            <p:nvPr/>
          </p:nvSpPr>
          <p:spPr>
            <a:xfrm>
              <a:off x="742950" y="2533650"/>
              <a:ext cx="47625" cy="285750"/>
            </a:xfrm>
            <a:prstGeom prst="roundRect">
              <a:avLst>
                <a:gd name="adj" fmla="val 50000"/>
              </a:avLst>
            </a:prstGeom>
            <a:solidFill>
              <a:schemeClr val="accent2"/>
            </a:solidFill>
            <a:ln>
              <a:noFill/>
            </a:ln>
          </p:spPr>
        </p:sp>
        <p:sp>
          <p:nvSpPr>
            <p:cNvPr id="14" name="TextBox 14"/>
            <p:cNvSpPr txBox="1"/>
            <p:nvPr/>
          </p:nvSpPr>
          <p:spPr>
            <a:xfrm>
              <a:off x="906780" y="2562225"/>
              <a:ext cx="1315257" cy="293370"/>
            </a:xfrm>
            <a:prstGeom prst="rect">
              <a:avLst/>
            </a:prstGeom>
            <a:noFill/>
            <a:ln>
              <a:noFill/>
            </a:ln>
          </p:spPr>
          <p:txBody>
            <a:bodyPr wrap="none" lIns="0" tIns="0" rIns="0" bIns="0" anchor="t" anchorCtr="0">
              <a:spAutoFit/>
            </a:bodyPr>
            <a:lstStyle/>
            <a:p>
              <a:pPr algn="l"/>
              <a:r>
                <a:rPr lang="en-US" sz="1500" b="1" dirty="0">
                  <a:solidFill>
                    <a:schemeClr val="dk1"/>
                  </a:solidFill>
                  <a:latin typeface="+mn-lt"/>
                  <a:ea typeface="+mn-ea"/>
                  <a:cs typeface="+mn-cs"/>
                </a:rPr>
                <a:t>Gaussian toy</a:t>
              </a:r>
            </a:p>
          </p:txBody>
        </p:sp>
        <p:sp>
          <p:nvSpPr>
            <p:cNvPr id="15" name="TextBox 15"/>
            <p:cNvSpPr txBox="1"/>
            <p:nvPr/>
          </p:nvSpPr>
          <p:spPr>
            <a:xfrm>
              <a:off x="909256" y="2843451"/>
              <a:ext cx="5360873" cy="198025"/>
            </a:xfrm>
            <a:prstGeom prst="rect">
              <a:avLst/>
            </a:prstGeom>
            <a:noFill/>
            <a:ln>
              <a:noFill/>
            </a:ln>
          </p:spPr>
          <p:txBody>
            <a:bodyPr wrap="none" lIns="0" tIns="0" rIns="0" bIns="0" anchor="t" anchorCtr="0">
              <a:spAutoFit/>
            </a:bodyPr>
            <a:lstStyle/>
            <a:p>
              <a:pPr algn="l"/>
              <a:r>
                <a:rPr lang="en-US" sz="1010" b="1" dirty="0">
                  <a:solidFill>
                    <a:schemeClr val="accent2"/>
                  </a:solidFill>
                  <a:latin typeface="+mn-lt"/>
                  <a:ea typeface="+mn-ea"/>
                  <a:cs typeface="+mn-cs"/>
                </a:rPr>
                <a:t>truth N(0,1) · generation shifted to mean −½ · wide Gaussian detector noise</a:t>
              </a:r>
            </a:p>
          </p:txBody>
        </p:sp>
        <p:sp>
          <p:nvSpPr>
            <p:cNvPr id="16" name="Line 16"/>
            <p:cNvSpPr/>
            <p:nvPr/>
          </p:nvSpPr>
          <p:spPr>
            <a:xfrm>
              <a:off x="914400" y="4133850"/>
              <a:ext cx="5295900" cy="9525"/>
            </a:xfrm>
            <a:custGeom>
              <a:avLst/>
              <a:gdLst/>
              <a:ahLst/>
              <a:cxnLst/>
              <a:rect l="l" t="t" r="r" b="b"/>
              <a:pathLst>
                <a:path w="5295900" h="9525">
                  <a:moveTo>
                    <a:pt x="0" y="0"/>
                  </a:moveTo>
                  <a:lnTo>
                    <a:pt x="5295900" y="0"/>
                  </a:lnTo>
                </a:path>
              </a:pathLst>
            </a:custGeom>
            <a:noFill/>
            <a:ln w="10478">
              <a:solidFill>
                <a:srgbClr val="6E85AC"/>
              </a:solidFill>
            </a:ln>
          </p:spPr>
        </p:sp>
        <p:sp>
          <p:nvSpPr>
            <p:cNvPr id="17" name="Polyline 17"/>
            <p:cNvSpPr/>
            <p:nvPr/>
          </p:nvSpPr>
          <p:spPr>
            <a:xfrm>
              <a:off x="914400" y="3310890"/>
              <a:ext cx="5295900" cy="822960"/>
            </a:xfrm>
            <a:custGeom>
              <a:avLst/>
              <a:gdLst/>
              <a:ahLst/>
              <a:cxnLst/>
              <a:rect l="l" t="t" r="r" b="b"/>
              <a:pathLst>
                <a:path w="5295900" h="822960">
                  <a:moveTo>
                    <a:pt x="0" y="822960"/>
                  </a:moveTo>
                  <a:lnTo>
                    <a:pt x="88582" y="822960"/>
                  </a:lnTo>
                  <a:lnTo>
                    <a:pt x="176212" y="822960"/>
                  </a:lnTo>
                  <a:lnTo>
                    <a:pt x="264795" y="822960"/>
                  </a:lnTo>
                  <a:lnTo>
                    <a:pt x="353377" y="822960"/>
                  </a:lnTo>
                  <a:lnTo>
                    <a:pt x="441008" y="822960"/>
                  </a:lnTo>
                  <a:lnTo>
                    <a:pt x="529590" y="822960"/>
                  </a:lnTo>
                  <a:lnTo>
                    <a:pt x="618172" y="822007"/>
                  </a:lnTo>
                  <a:lnTo>
                    <a:pt x="705802" y="821055"/>
                  </a:lnTo>
                  <a:lnTo>
                    <a:pt x="794385" y="820102"/>
                  </a:lnTo>
                  <a:lnTo>
                    <a:pt x="882967" y="818197"/>
                  </a:lnTo>
                  <a:lnTo>
                    <a:pt x="970598" y="815340"/>
                  </a:lnTo>
                  <a:lnTo>
                    <a:pt x="1059180" y="810577"/>
                  </a:lnTo>
                  <a:lnTo>
                    <a:pt x="1147762" y="803910"/>
                  </a:lnTo>
                  <a:lnTo>
                    <a:pt x="1235392" y="793432"/>
                  </a:lnTo>
                  <a:lnTo>
                    <a:pt x="1323975" y="779145"/>
                  </a:lnTo>
                  <a:lnTo>
                    <a:pt x="1412558" y="758190"/>
                  </a:lnTo>
                  <a:lnTo>
                    <a:pt x="1500188" y="731520"/>
                  </a:lnTo>
                  <a:lnTo>
                    <a:pt x="1588770" y="696277"/>
                  </a:lnTo>
                  <a:lnTo>
                    <a:pt x="1677353" y="652462"/>
                  </a:lnTo>
                  <a:lnTo>
                    <a:pt x="1764982" y="599122"/>
                  </a:lnTo>
                  <a:lnTo>
                    <a:pt x="1853565" y="536257"/>
                  </a:lnTo>
                  <a:lnTo>
                    <a:pt x="1942147" y="464820"/>
                  </a:lnTo>
                  <a:lnTo>
                    <a:pt x="2029778" y="387667"/>
                  </a:lnTo>
                  <a:lnTo>
                    <a:pt x="2118360" y="307657"/>
                  </a:lnTo>
                  <a:lnTo>
                    <a:pt x="2206942" y="228600"/>
                  </a:lnTo>
                  <a:lnTo>
                    <a:pt x="2294572" y="154305"/>
                  </a:lnTo>
                  <a:lnTo>
                    <a:pt x="2383155" y="90488"/>
                  </a:lnTo>
                  <a:lnTo>
                    <a:pt x="2471738" y="41910"/>
                  </a:lnTo>
                  <a:lnTo>
                    <a:pt x="2559368" y="10477"/>
                  </a:lnTo>
                  <a:lnTo>
                    <a:pt x="2647950" y="0"/>
                  </a:lnTo>
                  <a:lnTo>
                    <a:pt x="2736532" y="10477"/>
                  </a:lnTo>
                  <a:lnTo>
                    <a:pt x="2824162" y="41910"/>
                  </a:lnTo>
                  <a:lnTo>
                    <a:pt x="2912745" y="90488"/>
                  </a:lnTo>
                  <a:lnTo>
                    <a:pt x="3001328" y="154305"/>
                  </a:lnTo>
                  <a:lnTo>
                    <a:pt x="3088958" y="228600"/>
                  </a:lnTo>
                  <a:lnTo>
                    <a:pt x="3177540" y="307657"/>
                  </a:lnTo>
                  <a:lnTo>
                    <a:pt x="3266122" y="387667"/>
                  </a:lnTo>
                  <a:lnTo>
                    <a:pt x="3353752" y="464820"/>
                  </a:lnTo>
                  <a:lnTo>
                    <a:pt x="3442335" y="536257"/>
                  </a:lnTo>
                  <a:lnTo>
                    <a:pt x="3530918" y="599122"/>
                  </a:lnTo>
                  <a:lnTo>
                    <a:pt x="3618548" y="652462"/>
                  </a:lnTo>
                  <a:lnTo>
                    <a:pt x="3707130" y="696277"/>
                  </a:lnTo>
                  <a:lnTo>
                    <a:pt x="3795712" y="731520"/>
                  </a:lnTo>
                  <a:lnTo>
                    <a:pt x="3883342" y="758190"/>
                  </a:lnTo>
                  <a:lnTo>
                    <a:pt x="3971925" y="779145"/>
                  </a:lnTo>
                  <a:lnTo>
                    <a:pt x="4060507" y="793432"/>
                  </a:lnTo>
                  <a:lnTo>
                    <a:pt x="4148138" y="803910"/>
                  </a:lnTo>
                  <a:lnTo>
                    <a:pt x="4236720" y="810577"/>
                  </a:lnTo>
                  <a:lnTo>
                    <a:pt x="4325302" y="815340"/>
                  </a:lnTo>
                  <a:lnTo>
                    <a:pt x="4412932" y="818197"/>
                  </a:lnTo>
                  <a:lnTo>
                    <a:pt x="4501515" y="820102"/>
                  </a:lnTo>
                  <a:lnTo>
                    <a:pt x="4590098" y="821055"/>
                  </a:lnTo>
                  <a:lnTo>
                    <a:pt x="4677728" y="822007"/>
                  </a:lnTo>
                  <a:lnTo>
                    <a:pt x="4766310" y="822960"/>
                  </a:lnTo>
                  <a:lnTo>
                    <a:pt x="4854892" y="822960"/>
                  </a:lnTo>
                  <a:lnTo>
                    <a:pt x="4942522" y="822960"/>
                  </a:lnTo>
                  <a:lnTo>
                    <a:pt x="5031105" y="822960"/>
                  </a:lnTo>
                  <a:lnTo>
                    <a:pt x="5119688" y="822960"/>
                  </a:lnTo>
                  <a:lnTo>
                    <a:pt x="5207318" y="822960"/>
                  </a:lnTo>
                  <a:lnTo>
                    <a:pt x="5295900" y="822960"/>
                  </a:lnTo>
                </a:path>
              </a:pathLst>
            </a:custGeom>
            <a:noFill/>
            <a:ln w="22860">
              <a:solidFill>
                <a:srgbClr val="57D9A3"/>
              </a:solidFill>
            </a:ln>
          </p:spPr>
        </p:sp>
        <p:sp>
          <p:nvSpPr>
            <p:cNvPr id="18" name="Polyline 18"/>
            <p:cNvSpPr/>
            <p:nvPr/>
          </p:nvSpPr>
          <p:spPr>
            <a:xfrm>
              <a:off x="914400" y="3310890"/>
              <a:ext cx="5295900" cy="822960"/>
            </a:xfrm>
            <a:custGeom>
              <a:avLst/>
              <a:gdLst/>
              <a:ahLst/>
              <a:cxnLst/>
              <a:rect l="l" t="t" r="r" b="b"/>
              <a:pathLst>
                <a:path w="5295900" h="822960">
                  <a:moveTo>
                    <a:pt x="0" y="822960"/>
                  </a:moveTo>
                  <a:lnTo>
                    <a:pt x="88582" y="822960"/>
                  </a:lnTo>
                  <a:lnTo>
                    <a:pt x="176212" y="822007"/>
                  </a:lnTo>
                  <a:lnTo>
                    <a:pt x="264795" y="821055"/>
                  </a:lnTo>
                  <a:lnTo>
                    <a:pt x="353377" y="820102"/>
                  </a:lnTo>
                  <a:lnTo>
                    <a:pt x="441008" y="818197"/>
                  </a:lnTo>
                  <a:lnTo>
                    <a:pt x="529590" y="815340"/>
                  </a:lnTo>
                  <a:lnTo>
                    <a:pt x="618172" y="810577"/>
                  </a:lnTo>
                  <a:lnTo>
                    <a:pt x="705802" y="803910"/>
                  </a:lnTo>
                  <a:lnTo>
                    <a:pt x="794385" y="793432"/>
                  </a:lnTo>
                  <a:lnTo>
                    <a:pt x="882967" y="779145"/>
                  </a:lnTo>
                  <a:lnTo>
                    <a:pt x="970598" y="758190"/>
                  </a:lnTo>
                  <a:lnTo>
                    <a:pt x="1059180" y="731520"/>
                  </a:lnTo>
                  <a:lnTo>
                    <a:pt x="1147762" y="696277"/>
                  </a:lnTo>
                  <a:lnTo>
                    <a:pt x="1235392" y="652462"/>
                  </a:lnTo>
                  <a:lnTo>
                    <a:pt x="1323975" y="599122"/>
                  </a:lnTo>
                  <a:lnTo>
                    <a:pt x="1412558" y="536257"/>
                  </a:lnTo>
                  <a:lnTo>
                    <a:pt x="1500188" y="464820"/>
                  </a:lnTo>
                  <a:lnTo>
                    <a:pt x="1588770" y="387667"/>
                  </a:lnTo>
                  <a:lnTo>
                    <a:pt x="1677353" y="307657"/>
                  </a:lnTo>
                  <a:lnTo>
                    <a:pt x="1764982" y="228600"/>
                  </a:lnTo>
                  <a:lnTo>
                    <a:pt x="1853565" y="154305"/>
                  </a:lnTo>
                  <a:lnTo>
                    <a:pt x="1942147" y="90488"/>
                  </a:lnTo>
                  <a:lnTo>
                    <a:pt x="2029778" y="41910"/>
                  </a:lnTo>
                  <a:lnTo>
                    <a:pt x="2118360" y="10477"/>
                  </a:lnTo>
                  <a:lnTo>
                    <a:pt x="2206942" y="0"/>
                  </a:lnTo>
                  <a:lnTo>
                    <a:pt x="2294572" y="10477"/>
                  </a:lnTo>
                  <a:lnTo>
                    <a:pt x="2383155" y="41910"/>
                  </a:lnTo>
                  <a:lnTo>
                    <a:pt x="2471738" y="90488"/>
                  </a:lnTo>
                  <a:lnTo>
                    <a:pt x="2559368" y="154305"/>
                  </a:lnTo>
                  <a:lnTo>
                    <a:pt x="2647950" y="228600"/>
                  </a:lnTo>
                  <a:lnTo>
                    <a:pt x="2736532" y="307657"/>
                  </a:lnTo>
                  <a:lnTo>
                    <a:pt x="2824162" y="387667"/>
                  </a:lnTo>
                  <a:lnTo>
                    <a:pt x="2912745" y="464820"/>
                  </a:lnTo>
                  <a:lnTo>
                    <a:pt x="3001328" y="536257"/>
                  </a:lnTo>
                  <a:lnTo>
                    <a:pt x="3088958" y="599122"/>
                  </a:lnTo>
                  <a:lnTo>
                    <a:pt x="3177540" y="652462"/>
                  </a:lnTo>
                  <a:lnTo>
                    <a:pt x="3266122" y="696277"/>
                  </a:lnTo>
                  <a:lnTo>
                    <a:pt x="3353752" y="731520"/>
                  </a:lnTo>
                  <a:lnTo>
                    <a:pt x="3442335" y="758190"/>
                  </a:lnTo>
                  <a:lnTo>
                    <a:pt x="3530918" y="779145"/>
                  </a:lnTo>
                  <a:lnTo>
                    <a:pt x="3618548" y="793432"/>
                  </a:lnTo>
                  <a:lnTo>
                    <a:pt x="3707130" y="803910"/>
                  </a:lnTo>
                  <a:lnTo>
                    <a:pt x="3795712" y="810577"/>
                  </a:lnTo>
                  <a:lnTo>
                    <a:pt x="3883342" y="815340"/>
                  </a:lnTo>
                  <a:lnTo>
                    <a:pt x="3971925" y="818197"/>
                  </a:lnTo>
                  <a:lnTo>
                    <a:pt x="4060507" y="820102"/>
                  </a:lnTo>
                  <a:lnTo>
                    <a:pt x="4148138" y="821055"/>
                  </a:lnTo>
                  <a:lnTo>
                    <a:pt x="4236720" y="822007"/>
                  </a:lnTo>
                  <a:lnTo>
                    <a:pt x="4325302" y="822960"/>
                  </a:lnTo>
                  <a:lnTo>
                    <a:pt x="4412932" y="822960"/>
                  </a:lnTo>
                  <a:lnTo>
                    <a:pt x="4501515" y="822960"/>
                  </a:lnTo>
                  <a:lnTo>
                    <a:pt x="4590098" y="822960"/>
                  </a:lnTo>
                  <a:lnTo>
                    <a:pt x="4677728" y="822960"/>
                  </a:lnTo>
                  <a:lnTo>
                    <a:pt x="4766310" y="822960"/>
                  </a:lnTo>
                  <a:lnTo>
                    <a:pt x="4854892" y="822960"/>
                  </a:lnTo>
                  <a:lnTo>
                    <a:pt x="4942522" y="822960"/>
                  </a:lnTo>
                  <a:lnTo>
                    <a:pt x="5031105" y="822960"/>
                  </a:lnTo>
                  <a:lnTo>
                    <a:pt x="5119688" y="822960"/>
                  </a:lnTo>
                  <a:lnTo>
                    <a:pt x="5207318" y="822960"/>
                  </a:lnTo>
                  <a:lnTo>
                    <a:pt x="5295900" y="822960"/>
                  </a:lnTo>
                </a:path>
              </a:pathLst>
            </a:custGeom>
            <a:noFill/>
            <a:ln w="22860">
              <a:solidFill>
                <a:schemeClr val="accent2"/>
              </a:solidFill>
              <a:custDash>
                <a:ds d="208333" sp="166667"/>
              </a:custDash>
            </a:ln>
          </p:spPr>
        </p:sp>
        <p:sp>
          <p:nvSpPr>
            <p:cNvPr id="19" name="Polyline 19"/>
            <p:cNvSpPr/>
            <p:nvPr/>
          </p:nvSpPr>
          <p:spPr>
            <a:xfrm>
              <a:off x="914400" y="3630930"/>
              <a:ext cx="5295900" cy="498158"/>
            </a:xfrm>
            <a:custGeom>
              <a:avLst/>
              <a:gdLst/>
              <a:ahLst/>
              <a:cxnLst/>
              <a:rect l="l" t="t" r="r" b="b"/>
              <a:pathLst>
                <a:path w="5295900" h="498158">
                  <a:moveTo>
                    <a:pt x="0" y="455295"/>
                  </a:moveTo>
                  <a:lnTo>
                    <a:pt x="88582" y="445770"/>
                  </a:lnTo>
                  <a:lnTo>
                    <a:pt x="176212" y="435292"/>
                  </a:lnTo>
                  <a:lnTo>
                    <a:pt x="264795" y="421958"/>
                  </a:lnTo>
                  <a:lnTo>
                    <a:pt x="353377" y="407670"/>
                  </a:lnTo>
                  <a:lnTo>
                    <a:pt x="441008" y="392430"/>
                  </a:lnTo>
                  <a:lnTo>
                    <a:pt x="529590" y="374333"/>
                  </a:lnTo>
                  <a:lnTo>
                    <a:pt x="618172" y="355283"/>
                  </a:lnTo>
                  <a:lnTo>
                    <a:pt x="705802" y="334328"/>
                  </a:lnTo>
                  <a:lnTo>
                    <a:pt x="794385" y="311467"/>
                  </a:lnTo>
                  <a:lnTo>
                    <a:pt x="882967" y="287655"/>
                  </a:lnTo>
                  <a:lnTo>
                    <a:pt x="970598" y="262890"/>
                  </a:lnTo>
                  <a:lnTo>
                    <a:pt x="1059180" y="237173"/>
                  </a:lnTo>
                  <a:lnTo>
                    <a:pt x="1147762" y="211455"/>
                  </a:lnTo>
                  <a:lnTo>
                    <a:pt x="1235392" y="184785"/>
                  </a:lnTo>
                  <a:lnTo>
                    <a:pt x="1323975" y="158115"/>
                  </a:lnTo>
                  <a:lnTo>
                    <a:pt x="1412558" y="132398"/>
                  </a:lnTo>
                  <a:lnTo>
                    <a:pt x="1500188" y="107633"/>
                  </a:lnTo>
                  <a:lnTo>
                    <a:pt x="1588770" y="84773"/>
                  </a:lnTo>
                  <a:lnTo>
                    <a:pt x="1677353" y="63817"/>
                  </a:lnTo>
                  <a:lnTo>
                    <a:pt x="1764982" y="45720"/>
                  </a:lnTo>
                  <a:lnTo>
                    <a:pt x="1853565" y="29528"/>
                  </a:lnTo>
                  <a:lnTo>
                    <a:pt x="1942147" y="17145"/>
                  </a:lnTo>
                  <a:lnTo>
                    <a:pt x="2029778" y="7620"/>
                  </a:lnTo>
                  <a:lnTo>
                    <a:pt x="2118360" y="1905"/>
                  </a:lnTo>
                  <a:lnTo>
                    <a:pt x="2206942" y="0"/>
                  </a:lnTo>
                  <a:lnTo>
                    <a:pt x="2294572" y="1905"/>
                  </a:lnTo>
                  <a:lnTo>
                    <a:pt x="2383155" y="7620"/>
                  </a:lnTo>
                  <a:lnTo>
                    <a:pt x="2471738" y="17145"/>
                  </a:lnTo>
                  <a:lnTo>
                    <a:pt x="2559368" y="29528"/>
                  </a:lnTo>
                  <a:lnTo>
                    <a:pt x="2647950" y="45720"/>
                  </a:lnTo>
                  <a:lnTo>
                    <a:pt x="2736532" y="63817"/>
                  </a:lnTo>
                  <a:lnTo>
                    <a:pt x="2824162" y="84773"/>
                  </a:lnTo>
                  <a:lnTo>
                    <a:pt x="2912745" y="107633"/>
                  </a:lnTo>
                  <a:lnTo>
                    <a:pt x="3001328" y="132398"/>
                  </a:lnTo>
                  <a:lnTo>
                    <a:pt x="3088958" y="158115"/>
                  </a:lnTo>
                  <a:lnTo>
                    <a:pt x="3177540" y="184785"/>
                  </a:lnTo>
                  <a:lnTo>
                    <a:pt x="3266122" y="211455"/>
                  </a:lnTo>
                  <a:lnTo>
                    <a:pt x="3353752" y="237173"/>
                  </a:lnTo>
                  <a:lnTo>
                    <a:pt x="3442335" y="262890"/>
                  </a:lnTo>
                  <a:lnTo>
                    <a:pt x="3530918" y="287655"/>
                  </a:lnTo>
                  <a:lnTo>
                    <a:pt x="3618548" y="311467"/>
                  </a:lnTo>
                  <a:lnTo>
                    <a:pt x="3707130" y="334328"/>
                  </a:lnTo>
                  <a:lnTo>
                    <a:pt x="3795712" y="355283"/>
                  </a:lnTo>
                  <a:lnTo>
                    <a:pt x="3883342" y="374333"/>
                  </a:lnTo>
                  <a:lnTo>
                    <a:pt x="3971925" y="392430"/>
                  </a:lnTo>
                  <a:lnTo>
                    <a:pt x="4060507" y="407670"/>
                  </a:lnTo>
                  <a:lnTo>
                    <a:pt x="4148138" y="421958"/>
                  </a:lnTo>
                  <a:lnTo>
                    <a:pt x="4236720" y="435292"/>
                  </a:lnTo>
                  <a:lnTo>
                    <a:pt x="4325302" y="445770"/>
                  </a:lnTo>
                  <a:lnTo>
                    <a:pt x="4412932" y="455295"/>
                  </a:lnTo>
                  <a:lnTo>
                    <a:pt x="4501515" y="463867"/>
                  </a:lnTo>
                  <a:lnTo>
                    <a:pt x="4590098" y="470535"/>
                  </a:lnTo>
                  <a:lnTo>
                    <a:pt x="4677728" y="477203"/>
                  </a:lnTo>
                  <a:lnTo>
                    <a:pt x="4766310" y="481965"/>
                  </a:lnTo>
                  <a:lnTo>
                    <a:pt x="4854892" y="485775"/>
                  </a:lnTo>
                  <a:lnTo>
                    <a:pt x="4942522" y="489585"/>
                  </a:lnTo>
                  <a:lnTo>
                    <a:pt x="5031105" y="492442"/>
                  </a:lnTo>
                  <a:lnTo>
                    <a:pt x="5119688" y="494348"/>
                  </a:lnTo>
                  <a:lnTo>
                    <a:pt x="5207318" y="496253"/>
                  </a:lnTo>
                  <a:lnTo>
                    <a:pt x="5295900" y="498158"/>
                  </a:lnTo>
                </a:path>
              </a:pathLst>
            </a:custGeom>
            <a:noFill/>
            <a:ln w="22860">
              <a:solidFill>
                <a:srgbClr val="F7B84B"/>
              </a:solidFill>
              <a:custDash>
                <a:ds d="83333" sp="166667"/>
              </a:custDash>
            </a:ln>
          </p:spPr>
        </p:sp>
        <p:sp>
          <p:nvSpPr>
            <p:cNvPr id="20" name="TextBox 20"/>
            <p:cNvSpPr txBox="1"/>
            <p:nvPr/>
          </p:nvSpPr>
          <p:spPr>
            <a:xfrm>
              <a:off x="947738" y="3293745"/>
              <a:ext cx="824967" cy="176212"/>
            </a:xfrm>
            <a:prstGeom prst="rect">
              <a:avLst/>
            </a:prstGeom>
            <a:noFill/>
            <a:ln>
              <a:noFill/>
            </a:ln>
          </p:spPr>
          <p:txBody>
            <a:bodyPr wrap="none" lIns="0" tIns="0" rIns="0" bIns="0" anchor="t" anchorCtr="0">
              <a:spAutoFit/>
            </a:bodyPr>
            <a:lstStyle/>
            <a:p>
              <a:pPr algn="l"/>
              <a:r>
                <a:rPr lang="en-US" sz="900" b="1" dirty="0">
                  <a:solidFill>
                    <a:srgbClr val="57D9A3"/>
                  </a:solidFill>
                  <a:latin typeface="+mn-lt"/>
                  <a:ea typeface="+mn-ea"/>
                  <a:cs typeface="+mn-cs"/>
                </a:rPr>
                <a:t>truth N(0,1)</a:t>
              </a:r>
            </a:p>
          </p:txBody>
        </p:sp>
        <p:sp>
          <p:nvSpPr>
            <p:cNvPr id="21" name="TextBox 21"/>
            <p:cNvSpPr txBox="1"/>
            <p:nvPr/>
          </p:nvSpPr>
          <p:spPr>
            <a:xfrm>
              <a:off x="947738" y="3465195"/>
              <a:ext cx="893676" cy="176212"/>
            </a:xfrm>
            <a:prstGeom prst="rect">
              <a:avLst/>
            </a:prstGeom>
            <a:noFill/>
            <a:ln>
              <a:noFill/>
            </a:ln>
          </p:spPr>
          <p:txBody>
            <a:bodyPr wrap="none" lIns="0" tIns="0" rIns="0" bIns="0" anchor="t" anchorCtr="0">
              <a:spAutoFit/>
            </a:bodyPr>
            <a:lstStyle/>
            <a:p>
              <a:pPr algn="l"/>
              <a:r>
                <a:rPr lang="en-US" sz="900" b="1" dirty="0">
                  <a:solidFill>
                    <a:schemeClr val="accent2"/>
                  </a:solidFill>
                  <a:latin typeface="+mn-lt"/>
                  <a:ea typeface="+mn-ea"/>
                  <a:cs typeface="+mn-cs"/>
                </a:rPr>
                <a:t>gen shifted −½</a:t>
              </a:r>
            </a:p>
          </p:txBody>
        </p:sp>
        <p:sp>
          <p:nvSpPr>
            <p:cNvPr id="22" name="TextBox 22"/>
            <p:cNvSpPr txBox="1"/>
            <p:nvPr/>
          </p:nvSpPr>
          <p:spPr>
            <a:xfrm>
              <a:off x="947738" y="3636645"/>
              <a:ext cx="1033613" cy="176212"/>
            </a:xfrm>
            <a:prstGeom prst="rect">
              <a:avLst/>
            </a:prstGeom>
            <a:noFill/>
            <a:ln>
              <a:noFill/>
            </a:ln>
          </p:spPr>
          <p:txBody>
            <a:bodyPr wrap="none" lIns="0" tIns="0" rIns="0" bIns="0" anchor="t" anchorCtr="0">
              <a:spAutoFit/>
            </a:bodyPr>
            <a:lstStyle/>
            <a:p>
              <a:pPr algn="l"/>
              <a:r>
                <a:rPr lang="en-US" sz="900" b="1" dirty="0">
                  <a:solidFill>
                    <a:srgbClr val="F7B84B"/>
                  </a:solidFill>
                  <a:latin typeface="+mn-lt"/>
                  <a:ea typeface="+mn-ea"/>
                  <a:cs typeface="+mn-cs"/>
                </a:rPr>
                <a:t>+ detector noise</a:t>
              </a:r>
            </a:p>
          </p:txBody>
        </p:sp>
        <p:sp>
          <p:nvSpPr>
            <p:cNvPr id="23" name="TextBox 23"/>
            <p:cNvSpPr txBox="1"/>
            <p:nvPr/>
          </p:nvSpPr>
          <p:spPr>
            <a:xfrm>
              <a:off x="909066" y="4153852"/>
              <a:ext cx="3149720" cy="205359"/>
            </a:xfrm>
            <a:prstGeom prst="rect">
              <a:avLst/>
            </a:prstGeom>
            <a:noFill/>
            <a:ln>
              <a:noFill/>
            </a:ln>
          </p:spPr>
          <p:txBody>
            <a:bodyPr wrap="none" lIns="0" tIns="0" rIns="0" bIns="0" anchor="t" anchorCtr="0">
              <a:spAutoFit/>
            </a:bodyPr>
            <a:lstStyle/>
            <a:p>
              <a:pPr algn="l"/>
              <a:r>
                <a:rPr lang="en-US" sz="1050" b="1" dirty="0">
                  <a:solidFill>
                    <a:schemeClr val="dk1"/>
                  </a:solidFill>
                  <a:latin typeface="+mn-lt"/>
                  <a:ea typeface="+mn-ea"/>
                  <a:cs typeface="+mn-cs"/>
                </a:rPr>
                <a:t>1,000,000 samples · 3 : 1 train / test split</a:t>
              </a:r>
            </a:p>
          </p:txBody>
        </p:sp>
      </p:grpSp>
      <p:grpSp>
        <p:nvGrpSpPr>
          <p:cNvPr id="27" name="Group 27"/>
          <p:cNvGrpSpPr/>
          <p:nvPr/>
        </p:nvGrpSpPr>
        <p:grpSpPr>
          <a:xfrm>
            <a:off x="742950" y="4533900"/>
            <a:ext cx="6229941" cy="381000"/>
            <a:chOff x="742950" y="4533900"/>
            <a:chExt cx="6229941" cy="381000"/>
          </a:xfrm>
        </p:grpSpPr>
        <p:sp>
          <p:nvSpPr>
            <p:cNvPr id="25" name="Rectangle 25"/>
            <p:cNvSpPr/>
            <p:nvPr/>
          </p:nvSpPr>
          <p:spPr>
            <a:xfrm>
              <a:off x="742950" y="4533900"/>
              <a:ext cx="5638800" cy="381000"/>
            </a:xfrm>
            <a:prstGeom prst="roundRect">
              <a:avLst>
                <a:gd name="adj" fmla="val 22500"/>
              </a:avLst>
            </a:prstGeom>
            <a:solidFill>
              <a:schemeClr val="lt2"/>
            </a:solidFill>
            <a:ln>
              <a:noFill/>
            </a:ln>
          </p:spPr>
        </p:sp>
        <p:sp>
          <p:nvSpPr>
            <p:cNvPr id="26" name="TextBox 26"/>
            <p:cNvSpPr txBox="1"/>
            <p:nvPr/>
          </p:nvSpPr>
          <p:spPr>
            <a:xfrm>
              <a:off x="890206" y="4672251"/>
              <a:ext cx="6082685" cy="198025"/>
            </a:xfrm>
            <a:prstGeom prst="rect">
              <a:avLst/>
            </a:prstGeom>
            <a:noFill/>
            <a:ln>
              <a:noFill/>
            </a:ln>
          </p:spPr>
          <p:txBody>
            <a:bodyPr wrap="none" lIns="0" tIns="0" rIns="0" bIns="0" anchor="t" anchorCtr="0">
              <a:spAutoFit/>
            </a:bodyPr>
            <a:lstStyle/>
            <a:p>
              <a:pPr algn="l"/>
              <a:r>
                <a:rPr lang="en-US" sz="1010" b="1" dirty="0">
                  <a:solidFill>
                    <a:srgbClr val="37DCC0"/>
                  </a:solidFill>
                  <a:latin typeface="+mn-lt"/>
                  <a:ea typeface="+mn-ea"/>
                  <a:cs typeface="+mn-cs"/>
                </a:rPr>
                <a:t>Gaussian → finitely many moments ⇒ unfolding its moments = unfolding the whole density</a:t>
              </a:r>
            </a:p>
          </p:txBody>
        </p:sp>
      </p:grpSp>
      <p:grpSp>
        <p:nvGrpSpPr>
          <p:cNvPr id="39" name="Group 39"/>
          <p:cNvGrpSpPr/>
          <p:nvPr/>
        </p:nvGrpSpPr>
        <p:grpSpPr>
          <a:xfrm>
            <a:off x="6819900" y="2305050"/>
            <a:ext cx="4838700" cy="2781300"/>
            <a:chOff x="6819900" y="2305050"/>
            <a:chExt cx="4838700" cy="2781300"/>
          </a:xfrm>
        </p:grpSpPr>
        <p:sp>
          <p:nvSpPr>
            <p:cNvPr id="28" name="Rectangle 28"/>
            <p:cNvSpPr/>
            <p:nvPr/>
          </p:nvSpPr>
          <p:spPr>
            <a:xfrm>
              <a:off x="6819900" y="2305050"/>
              <a:ext cx="4838700" cy="2781300"/>
            </a:xfrm>
            <a:prstGeom prst="roundRect">
              <a:avLst>
                <a:gd name="adj" fmla="val 4795"/>
              </a:avLst>
            </a:prstGeom>
            <a:solidFill>
              <a:schemeClr val="accent6"/>
            </a:solidFill>
            <a:ln w="12382">
              <a:solidFill>
                <a:srgbClr val="F7B84B"/>
              </a:solidFill>
            </a:ln>
          </p:spPr>
        </p:sp>
        <p:sp>
          <p:nvSpPr>
            <p:cNvPr id="29" name="Rectangle 29"/>
            <p:cNvSpPr/>
            <p:nvPr/>
          </p:nvSpPr>
          <p:spPr>
            <a:xfrm>
              <a:off x="7029450" y="2533650"/>
              <a:ext cx="47625" cy="285750"/>
            </a:xfrm>
            <a:prstGeom prst="roundRect">
              <a:avLst>
                <a:gd name="adj" fmla="val 50000"/>
              </a:avLst>
            </a:prstGeom>
            <a:solidFill>
              <a:srgbClr val="F7B84B"/>
            </a:solidFill>
            <a:ln>
              <a:noFill/>
            </a:ln>
          </p:spPr>
        </p:sp>
        <p:sp>
          <p:nvSpPr>
            <p:cNvPr id="30" name="TextBox 30"/>
            <p:cNvSpPr txBox="1"/>
            <p:nvPr/>
          </p:nvSpPr>
          <p:spPr>
            <a:xfrm>
              <a:off x="7193280" y="2562225"/>
              <a:ext cx="1812385" cy="293370"/>
            </a:xfrm>
            <a:prstGeom prst="rect">
              <a:avLst/>
            </a:prstGeom>
            <a:noFill/>
            <a:ln>
              <a:noFill/>
            </a:ln>
          </p:spPr>
          <p:txBody>
            <a:bodyPr wrap="none" lIns="0" tIns="0" rIns="0" bIns="0" anchor="t" anchorCtr="0">
              <a:spAutoFit/>
            </a:bodyPr>
            <a:lstStyle/>
            <a:p>
              <a:pPr algn="l"/>
              <a:r>
                <a:rPr lang="en-US" sz="1500" b="1" dirty="0">
                  <a:solidFill>
                    <a:schemeClr val="dk1"/>
                  </a:solidFill>
                  <a:latin typeface="+mn-lt"/>
                  <a:ea typeface="+mn-ea"/>
                  <a:cs typeface="+mn-cs"/>
                </a:rPr>
                <a:t>Hadronic LHC jets</a:t>
              </a:r>
            </a:p>
          </p:txBody>
        </p:sp>
        <p:sp>
          <p:nvSpPr>
            <p:cNvPr id="31" name="TextBox 31"/>
            <p:cNvSpPr txBox="1"/>
            <p:nvPr/>
          </p:nvSpPr>
          <p:spPr>
            <a:xfrm>
              <a:off x="7024116" y="2953702"/>
              <a:ext cx="2389045"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Simulated LHC collisions, using the</a:t>
              </a:r>
            </a:p>
          </p:txBody>
        </p:sp>
        <p:sp>
          <p:nvSpPr>
            <p:cNvPr id="32" name="TextBox 32"/>
            <p:cNvSpPr txBox="1"/>
            <p:nvPr/>
          </p:nvSpPr>
          <p:spPr>
            <a:xfrm>
              <a:off x="7024116" y="3153728"/>
              <a:ext cx="2646864"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jet-width observable, drawn from the</a:t>
              </a:r>
            </a:p>
          </p:txBody>
        </p:sp>
        <p:sp>
          <p:nvSpPr>
            <p:cNvPr id="33" name="TextBox 33"/>
            <p:cNvSpPr txBox="1"/>
            <p:nvPr/>
          </p:nvSpPr>
          <p:spPr>
            <a:xfrm>
              <a:off x="7024116" y="3353752"/>
              <a:ext cx="2287055"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same Pythia and Herwig + Delphes</a:t>
              </a:r>
            </a:p>
          </p:txBody>
        </p:sp>
        <p:sp>
          <p:nvSpPr>
            <p:cNvPr id="34" name="TextBox 34"/>
            <p:cNvSpPr txBox="1"/>
            <p:nvPr/>
          </p:nvSpPr>
          <p:spPr>
            <a:xfrm>
              <a:off x="7024116" y="3553778"/>
              <a:ext cx="2275033"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datasets as the OmniFold paper.</a:t>
              </a:r>
            </a:p>
          </p:txBody>
        </p:sp>
        <p:sp>
          <p:nvSpPr>
            <p:cNvPr id="35" name="Rectangle 35"/>
            <p:cNvSpPr/>
            <p:nvPr/>
          </p:nvSpPr>
          <p:spPr>
            <a:xfrm>
              <a:off x="7029450" y="4095750"/>
              <a:ext cx="4419600" cy="781050"/>
            </a:xfrm>
            <a:prstGeom prst="roundRect">
              <a:avLst>
                <a:gd name="adj" fmla="val 12195"/>
              </a:avLst>
            </a:prstGeom>
            <a:solidFill>
              <a:schemeClr val="lt2"/>
            </a:solidFill>
            <a:ln>
              <a:noFill/>
            </a:ln>
          </p:spPr>
        </p:sp>
        <p:sp>
          <p:nvSpPr>
            <p:cNvPr id="36" name="TextBox 36"/>
            <p:cNvSpPr txBox="1"/>
            <p:nvPr/>
          </p:nvSpPr>
          <p:spPr>
            <a:xfrm>
              <a:off x="7176516" y="4230052"/>
              <a:ext cx="1569063" cy="205359"/>
            </a:xfrm>
            <a:prstGeom prst="rect">
              <a:avLst/>
            </a:prstGeom>
            <a:noFill/>
            <a:ln>
              <a:noFill/>
            </a:ln>
          </p:spPr>
          <p:txBody>
            <a:bodyPr wrap="none" lIns="0" tIns="0" rIns="0" bIns="0" anchor="t" anchorCtr="0">
              <a:spAutoFit/>
            </a:bodyPr>
            <a:lstStyle/>
            <a:p>
              <a:pPr algn="l"/>
              <a:r>
                <a:rPr lang="en-US" sz="1050" b="1" dirty="0">
                  <a:solidFill>
                    <a:srgbClr val="F7B84B"/>
                  </a:solidFill>
                  <a:latin typeface="Consolas"/>
                  <a:ea typeface="Consolas"/>
                  <a:cs typeface="Consolas"/>
                </a:rPr>
                <a:t>observable: jet width</a:t>
              </a:r>
            </a:p>
          </p:txBody>
        </p:sp>
        <p:sp>
          <p:nvSpPr>
            <p:cNvPr id="37" name="TextBox 37"/>
            <p:cNvSpPr txBox="1"/>
            <p:nvPr/>
          </p:nvSpPr>
          <p:spPr>
            <a:xfrm>
              <a:off x="7176706" y="4481751"/>
              <a:ext cx="1087082" cy="198025"/>
            </a:xfrm>
            <a:prstGeom prst="rect">
              <a:avLst/>
            </a:prstGeom>
            <a:noFill/>
            <a:ln>
              <a:noFill/>
            </a:ln>
          </p:spPr>
          <p:txBody>
            <a:bodyPr wrap="none" lIns="0" tIns="0" rIns="0" bIns="0" anchor="t" anchorCtr="0">
              <a:spAutoFit/>
            </a:bodyPr>
            <a:lstStyle/>
            <a:p>
              <a:pPr algn="l"/>
              <a:r>
                <a:rPr lang="en-US" sz="1010" b="1" dirty="0">
                  <a:solidFill>
                    <a:schemeClr val="dk1"/>
                  </a:solidFill>
                  <a:latin typeface="+mn-lt"/>
                  <a:ea typeface="+mn-ea"/>
                  <a:cs typeface="+mn-cs"/>
                </a:rPr>
                <a:t>Pythia = 'data'</a:t>
              </a:r>
            </a:p>
          </p:txBody>
        </p:sp>
        <p:sp>
          <p:nvSpPr>
            <p:cNvPr id="38" name="TextBox 38"/>
            <p:cNvSpPr txBox="1"/>
            <p:nvPr/>
          </p:nvSpPr>
          <p:spPr>
            <a:xfrm>
              <a:off x="7176706" y="4672251"/>
              <a:ext cx="2063789" cy="198025"/>
            </a:xfrm>
            <a:prstGeom prst="rect">
              <a:avLst/>
            </a:prstGeom>
            <a:noFill/>
            <a:ln>
              <a:noFill/>
            </a:ln>
          </p:spPr>
          <p:txBody>
            <a:bodyPr wrap="none" lIns="0" tIns="0" rIns="0" bIns="0" anchor="t" anchorCtr="0">
              <a:spAutoFit/>
            </a:bodyPr>
            <a:lstStyle/>
            <a:p>
              <a:pPr algn="l"/>
              <a:r>
                <a:rPr lang="en-US" sz="1010" b="1" dirty="0">
                  <a:solidFill>
                    <a:schemeClr val="dk1"/>
                  </a:solidFill>
                  <a:latin typeface="+mn-lt"/>
                  <a:ea typeface="+mn-ea"/>
                  <a:cs typeface="+mn-cs"/>
                </a:rPr>
                <a:t>Herwig = synthetic reference</a:t>
              </a:r>
            </a:p>
          </p:txBody>
        </p:sp>
      </p:grpSp>
      <p:sp>
        <p:nvSpPr>
          <p:cNvPr id="40" name="cue_s06_c1_method_tested_two_problems" title="cue_s06_c1_method_tested_two_problems" descr="cue_s06_c1_method_tested_two_problems The method is tested on two problems."/>
          <p:cNvSpPr/>
          <p:nvPr/>
        </p:nvSpPr>
        <p:spPr>
          <a:xfrm>
            <a:off x="532790" y="1523847"/>
            <a:ext cx="11125200" cy="590473"/>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cue_s06_c2_first_gaussian_toy_truth_standard" title="cue_s06_c2_first_gaussian_toy_truth_standard" descr="cue_s06_c2_first_gaussian_toy_truth_standard First, a Gaussian toy: the truth is a standard normal, the generation is shifted to mean minus one-half, and the detector adds wide Gaussian noise, with a million samples split three to one for training and testing."/>
          <p:cNvSpPr/>
          <p:nvPr/>
        </p:nvSpPr>
        <p:spPr>
          <a:xfrm>
            <a:off x="532790" y="2304973"/>
            <a:ext cx="6439814" cy="278160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cue_s06_c3_because_gaussian_only_finitely_many" title="cue_s06_c3_because_gaussian_only_finitely_many" descr="cue_s06_c3_because_gaussian_only_finitely_many Because a Gaussian has only finitely many moments, unfolding its moments is equivalent to unfolding the whole density."/>
          <p:cNvSpPr/>
          <p:nvPr/>
        </p:nvSpPr>
        <p:spPr>
          <a:xfrm>
            <a:off x="742492" y="4533823"/>
            <a:ext cx="6230112" cy="38130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cue_s06_c4_second_hadronic_jets_simulated_lhc" title="cue_s06_c4_second_hadronic_jets_simulated_lhc" descr="cue_s06_c4_second_hadronic_jets_simulated_lhc Second, hadronic jets from simulated LHC collisions, using the jet width observable, drawn from the same Pythia and Herwig plus Delphes datasets used in the OmniFold paper, where one simulation stands in for data and the other for the synthetic reference."/>
          <p:cNvSpPr/>
          <p:nvPr/>
        </p:nvSpPr>
        <p:spPr>
          <a:xfrm>
            <a:off x="6820204" y="2304973"/>
            <a:ext cx="4839004" cy="278160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gradFill>
            <a:gsLst>
              <a:gs pos="0">
                <a:schemeClr val="lt2">
                  <a:alpha val="90000"/>
                </a:schemeClr>
              </a:gs>
              <a:gs pos="60000">
                <a:schemeClr val="lt1">
                  <a:alpha val="0"/>
                </a:schemeClr>
              </a:gs>
            </a:gsLst>
            <a:path path="circle">
              <a:fillToRect l="50000" t="50000" r="50000" b="50000"/>
            </a:path>
          </a:gradFill>
          <a:ln>
            <a:noFill/>
          </a:ln>
        </p:spPr>
        <p:txBody>
          <a:bodyPr/>
          <a:p/>
        </p:txBody>
      </p:sp>
      <p:sp>
        <p:nvSpPr>
          <p:cNvPr id="3" name="Rectangle 3"/>
          <p:cNvSpPr/>
          <p:nvPr/>
        </p:nvSpPr>
        <p:spPr>
          <a:xfrm>
            <a:off x="533400" y="476250"/>
            <a:ext cx="57150" cy="209550"/>
          </a:xfrm>
          <a:prstGeom prst="roundRect">
            <a:avLst>
              <a:gd name="adj" fmla="val 41667"/>
            </a:avLst>
          </a:prstGeom>
          <a:solidFill>
            <a:schemeClr val="accent2"/>
          </a:solidFill>
          <a:ln>
            <a:noFill/>
          </a:ln>
        </p:spPr>
        <p:txBody>
          <a:bodyPr/>
          <a:p/>
        </p:txBody>
      </p:sp>
      <p:sp>
        <p:nvSpPr>
          <p:cNvPr id="4" name="TextBox 4"/>
          <p:cNvSpPr txBox="1"/>
          <p:nvPr/>
        </p:nvSpPr>
        <p:spPr>
          <a:xfrm>
            <a:off x="699135" y="526256"/>
            <a:ext cx="1177656" cy="220028"/>
          </a:xfrm>
          <a:prstGeom prst="rect">
            <a:avLst/>
          </a:prstGeom>
          <a:noFill/>
          <a:ln>
            <a:noFill/>
          </a:ln>
        </p:spPr>
        <p:txBody>
          <a:bodyPr wrap="none" lIns="0" tIns="0" rIns="0" bIns="0" anchor="t" anchorCtr="0">
            <a:spAutoFit/>
          </a:bodyPr>
          <a:lstStyle/>
          <a:p>
            <a:pPr algn="l"/>
            <a:r>
              <a:rPr lang="en-US" sz="1120" b="1" spc="225" dirty="0">
                <a:solidFill>
                  <a:schemeClr val="accent2"/>
                </a:solidFill>
                <a:latin typeface="+mn-lt"/>
                <a:ea typeface="+mn-ea"/>
                <a:cs typeface="+mn-cs"/>
              </a:rPr>
              <a:t>KEY RESULT</a:t>
            </a:r>
          </a:p>
        </p:txBody>
      </p:sp>
      <p:sp>
        <p:nvSpPr>
          <p:cNvPr id="5" name="TextBox 5"/>
          <p:cNvSpPr txBox="1"/>
          <p:nvPr/>
        </p:nvSpPr>
        <p:spPr>
          <a:xfrm>
            <a:off x="518160" y="781050"/>
            <a:ext cx="9353079" cy="586740"/>
          </a:xfrm>
          <a:prstGeom prst="rect">
            <a:avLst/>
          </a:prstGeom>
          <a:noFill/>
          <a:ln>
            <a:noFill/>
          </a:ln>
        </p:spPr>
        <p:txBody>
          <a:bodyPr wrap="none" lIns="0" tIns="0" rIns="0" bIns="0" anchor="t" anchorCtr="0">
            <a:spAutoFit/>
          </a:bodyPr>
          <a:lstStyle/>
          <a:p>
            <a:pPr algn="l"/>
            <a:r>
              <a:rPr lang="en-US" sz="3000" b="1" dirty="0">
                <a:solidFill>
                  <a:schemeClr val="dk1"/>
                </a:solidFill>
                <a:latin typeface="+mn-lt"/>
                <a:ea typeface="+mn-ea"/>
                <a:cs typeface="+mn-cs"/>
              </a:rPr>
              <a:t>Moments recovered to sub-percent accuracy</a:t>
            </a:r>
          </a:p>
        </p:txBody>
      </p:sp>
      <p:sp>
        <p:nvSpPr>
          <p:cNvPr id="6" name="TextBox 6"/>
          <p:cNvSpPr txBox="1"/>
          <p:nvPr/>
        </p:nvSpPr>
        <p:spPr>
          <a:xfrm>
            <a:off x="11095485" y="534352"/>
            <a:ext cx="568449" cy="205359"/>
          </a:xfrm>
          <a:prstGeom prst="rect">
            <a:avLst/>
          </a:prstGeom>
          <a:noFill/>
          <a:ln>
            <a:noFill/>
          </a:ln>
        </p:spPr>
        <p:txBody>
          <a:bodyPr wrap="none" lIns="0" tIns="0" rIns="0" bIns="0" anchor="t" anchorCtr="0">
            <a:spAutoFit/>
          </a:bodyPr>
          <a:lstStyle/>
          <a:p>
            <a:pPr algn="r"/>
            <a:r>
              <a:rPr lang="en-US" sz="1050" b="1" spc="75" dirty="0">
                <a:solidFill>
                  <a:srgbClr val="6E85AC"/>
                </a:solidFill>
                <a:latin typeface="Consolas"/>
                <a:ea typeface="Consolas"/>
                <a:cs typeface="Consolas"/>
              </a:rPr>
              <a:t>07 / 10</a:t>
            </a:r>
          </a:p>
        </p:txBody>
      </p:sp>
      <p:sp>
        <p:nvSpPr>
          <p:cNvPr id="7" name="Line 7"/>
          <p:cNvSpPr/>
          <p:nvPr/>
        </p:nvSpPr>
        <p:spPr>
          <a:xfrm>
            <a:off x="533400" y="1314450"/>
            <a:ext cx="11125200" cy="9525"/>
          </a:xfrm>
          <a:custGeom>
            <a:avLst/>
            <a:gdLst/>
            <a:ahLst/>
            <a:cxnLst/>
            <a:rect l="l" t="t" r="r" b="b"/>
            <a:pathLst>
              <a:path w="11125200" h="9525">
                <a:moveTo>
                  <a:pt x="0" y="0"/>
                </a:moveTo>
                <a:lnTo>
                  <a:pt x="11125200" y="0"/>
                </a:lnTo>
              </a:path>
            </a:pathLst>
          </a:custGeom>
          <a:noFill/>
          <a:ln w="11430">
            <a:solidFill>
              <a:schemeClr val="accent4"/>
            </a:solidFill>
          </a:ln>
        </p:spPr>
        <p:txBody>
          <a:bodyPr/>
          <a:p/>
        </p:txBody>
      </p:sp>
      <p:grpSp>
        <p:nvGrpSpPr>
          <p:cNvPr id="10" name="Group 10"/>
          <p:cNvGrpSpPr/>
          <p:nvPr/>
        </p:nvGrpSpPr>
        <p:grpSpPr>
          <a:xfrm>
            <a:off x="533400" y="1524000"/>
            <a:ext cx="11125200" cy="552450"/>
            <a:chOff x="533400" y="1524000"/>
            <a:chExt cx="11125200" cy="552450"/>
          </a:xfrm>
        </p:grpSpPr>
        <p:sp>
          <p:nvSpPr>
            <p:cNvPr id="8" name="Rectangle 8"/>
            <p:cNvSpPr/>
            <p:nvPr/>
          </p:nvSpPr>
          <p:spPr>
            <a:xfrm>
              <a:off x="533400" y="1524000"/>
              <a:ext cx="11125200" cy="552450"/>
            </a:xfrm>
            <a:prstGeom prst="roundRect">
              <a:avLst>
                <a:gd name="adj" fmla="val 20690"/>
              </a:avLst>
            </a:prstGeom>
            <a:solidFill>
              <a:schemeClr val="accent6"/>
            </a:solidFill>
            <a:ln w="11430">
              <a:solidFill>
                <a:srgbClr val="57D9A3"/>
              </a:solidFill>
            </a:ln>
          </p:spPr>
        </p:sp>
        <p:sp>
          <p:nvSpPr>
            <p:cNvPr id="9" name="TextBox 9"/>
            <p:cNvSpPr txBox="1"/>
            <p:nvPr/>
          </p:nvSpPr>
          <p:spPr>
            <a:xfrm>
              <a:off x="717042" y="1730692"/>
              <a:ext cx="7529381" cy="264033"/>
            </a:xfrm>
            <a:prstGeom prst="rect">
              <a:avLst/>
            </a:prstGeom>
            <a:noFill/>
            <a:ln>
              <a:noFill/>
            </a:ln>
          </p:spPr>
          <p:txBody>
            <a:bodyPr wrap="none" lIns="0" tIns="0" rIns="0" bIns="0" anchor="t" anchorCtr="0">
              <a:spAutoFit/>
            </a:bodyPr>
            <a:lstStyle/>
            <a:p>
              <a:pPr algn="l"/>
              <a:r>
                <a:rPr lang="en-US" sz="1350" b="1" dirty="0">
                  <a:solidFill>
                    <a:schemeClr val="dk1"/>
                  </a:solidFill>
                  <a:latin typeface="+mn-lt"/>
                  <a:ea typeface="+mn-ea"/>
                  <a:cs typeface="+mn-cs"/>
                </a:rPr>
                <a:t>Strong results on both tasks — the loss peaks land exactly on the true moments.</a:t>
              </a:r>
            </a:p>
          </p:txBody>
        </p:sp>
      </p:grpSp>
      <p:grpSp>
        <p:nvGrpSpPr>
          <p:cNvPr id="23" name="Group 23"/>
          <p:cNvGrpSpPr/>
          <p:nvPr/>
        </p:nvGrpSpPr>
        <p:grpSpPr>
          <a:xfrm>
            <a:off x="533400" y="2286000"/>
            <a:ext cx="5676900" cy="2819400"/>
            <a:chOff x="533400" y="2286000"/>
            <a:chExt cx="5676900" cy="2819400"/>
          </a:xfrm>
        </p:grpSpPr>
        <p:sp>
          <p:nvSpPr>
            <p:cNvPr id="11" name="Rectangle 11"/>
            <p:cNvSpPr/>
            <p:nvPr/>
          </p:nvSpPr>
          <p:spPr>
            <a:xfrm>
              <a:off x="533400" y="2286000"/>
              <a:ext cx="5676900" cy="2819400"/>
            </a:xfrm>
            <a:prstGeom prst="roundRect">
              <a:avLst>
                <a:gd name="adj" fmla="val 4730"/>
              </a:avLst>
            </a:prstGeom>
            <a:solidFill>
              <a:schemeClr val="accent5"/>
            </a:solidFill>
            <a:ln w="11430">
              <a:solidFill>
                <a:schemeClr val="accent4"/>
              </a:solidFill>
            </a:ln>
          </p:spPr>
        </p:sp>
        <p:sp>
          <p:nvSpPr>
            <p:cNvPr id="12" name="TextBox 12"/>
            <p:cNvSpPr txBox="1"/>
            <p:nvPr/>
          </p:nvSpPr>
          <p:spPr>
            <a:xfrm>
              <a:off x="755523" y="2529364"/>
              <a:ext cx="3402509" cy="249364"/>
            </a:xfrm>
            <a:prstGeom prst="rect">
              <a:avLst/>
            </a:prstGeom>
            <a:noFill/>
            <a:ln>
              <a:noFill/>
            </a:ln>
          </p:spPr>
          <p:txBody>
            <a:bodyPr wrap="none" lIns="0" tIns="0" rIns="0" bIns="0" anchor="t" anchorCtr="0">
              <a:spAutoFit/>
            </a:bodyPr>
            <a:lstStyle/>
            <a:p>
              <a:pPr algn="l"/>
              <a:r>
                <a:rPr lang="en-US" sz="1280" b="1" dirty="0">
                  <a:solidFill>
                    <a:schemeClr val="dk1"/>
                  </a:solidFill>
                  <a:latin typeface="+mn-lt"/>
                  <a:ea typeface="+mn-ea"/>
                  <a:cs typeface="+mn-cs"/>
                </a:rPr>
                <a:t>Loss scanned over a candidate moment</a:t>
              </a:r>
            </a:p>
          </p:txBody>
        </p:sp>
        <p:sp>
          <p:nvSpPr>
            <p:cNvPr id="13" name="TextBox 13"/>
            <p:cNvSpPr txBox="1"/>
            <p:nvPr/>
          </p:nvSpPr>
          <p:spPr>
            <a:xfrm>
              <a:off x="4820072" y="2561749"/>
              <a:ext cx="1166581" cy="190690"/>
            </a:xfrm>
            <a:prstGeom prst="rect">
              <a:avLst/>
            </a:prstGeom>
            <a:noFill/>
            <a:ln>
              <a:noFill/>
            </a:ln>
          </p:spPr>
          <p:txBody>
            <a:bodyPr wrap="none" lIns="0" tIns="0" rIns="0" bIns="0" anchor="t" anchorCtr="0">
              <a:spAutoFit/>
            </a:bodyPr>
            <a:lstStyle/>
            <a:p>
              <a:pPr algn="r"/>
              <a:r>
                <a:rPr lang="en-US" sz="980" b="1" dirty="0">
                  <a:solidFill>
                    <a:srgbClr val="57D9A3"/>
                  </a:solidFill>
                  <a:latin typeface="+mn-lt"/>
                  <a:ea typeface="+mn-ea"/>
                  <a:cs typeface="+mn-cs"/>
                </a:rPr>
                <a:t>peak = true value</a:t>
              </a:r>
            </a:p>
          </p:txBody>
        </p:sp>
        <p:sp>
          <p:nvSpPr>
            <p:cNvPr id="14" name="Line 14"/>
            <p:cNvSpPr/>
            <p:nvPr/>
          </p:nvSpPr>
          <p:spPr>
            <a:xfrm>
              <a:off x="1066800" y="2952750"/>
              <a:ext cx="9525" cy="1428750"/>
            </a:xfrm>
            <a:custGeom>
              <a:avLst/>
              <a:gdLst/>
              <a:ahLst/>
              <a:cxnLst/>
              <a:rect l="l" t="t" r="r" b="b"/>
              <a:pathLst>
                <a:path w="9525" h="1428750">
                  <a:moveTo>
                    <a:pt x="0" y="0"/>
                  </a:moveTo>
                  <a:lnTo>
                    <a:pt x="0" y="1428750"/>
                  </a:lnTo>
                </a:path>
              </a:pathLst>
            </a:custGeom>
            <a:noFill/>
            <a:ln w="11430">
              <a:solidFill>
                <a:srgbClr val="6E85AC"/>
              </a:solidFill>
            </a:ln>
          </p:spPr>
        </p:sp>
        <p:sp>
          <p:nvSpPr>
            <p:cNvPr id="15" name="Line 15"/>
            <p:cNvSpPr/>
            <p:nvPr/>
          </p:nvSpPr>
          <p:spPr>
            <a:xfrm>
              <a:off x="1066800" y="4381500"/>
              <a:ext cx="4762500" cy="9525"/>
            </a:xfrm>
            <a:custGeom>
              <a:avLst/>
              <a:gdLst/>
              <a:ahLst/>
              <a:cxnLst/>
              <a:rect l="l" t="t" r="r" b="b"/>
              <a:pathLst>
                <a:path w="4762500" h="9525">
                  <a:moveTo>
                    <a:pt x="0" y="0"/>
                  </a:moveTo>
                  <a:lnTo>
                    <a:pt x="4762500" y="0"/>
                  </a:lnTo>
                </a:path>
              </a:pathLst>
            </a:custGeom>
            <a:noFill/>
            <a:ln w="11430">
              <a:solidFill>
                <a:srgbClr val="6E85AC"/>
              </a:solidFill>
            </a:ln>
          </p:spPr>
        </p:sp>
        <p:sp>
          <p:nvSpPr>
            <p:cNvPr id="16" name="TextBox 16"/>
            <p:cNvSpPr txBox="1"/>
            <p:nvPr/>
          </p:nvSpPr>
          <p:spPr>
            <a:xfrm>
              <a:off x="748792" y="2916793"/>
              <a:ext cx="246571" cy="169069"/>
            </a:xfrm>
            <a:prstGeom prst="rect">
              <a:avLst/>
            </a:prstGeom>
            <a:noFill/>
            <a:ln>
              <a:noFill/>
            </a:ln>
          </p:spPr>
          <p:txBody>
            <a:bodyPr wrap="none" lIns="0" tIns="0" rIns="0" bIns="0" anchor="t" anchorCtr="0">
              <a:spAutoFit/>
            </a:bodyPr>
            <a:lstStyle/>
            <a:p>
              <a:pPr algn="r"/>
              <a:r>
                <a:rPr lang="en-US" sz="860" b="1" dirty="0">
                  <a:solidFill>
                    <a:srgbClr val="6E85AC"/>
                  </a:solidFill>
                  <a:latin typeface="+mn-lt"/>
                  <a:ea typeface="+mn-ea"/>
                  <a:cs typeface="+mn-cs"/>
                </a:rPr>
                <a:t>loss</a:t>
              </a:r>
            </a:p>
          </p:txBody>
        </p:sp>
        <p:sp>
          <p:nvSpPr>
            <p:cNvPr id="17" name="TextBox 17"/>
            <p:cNvSpPr txBox="1"/>
            <p:nvPr/>
          </p:nvSpPr>
          <p:spPr>
            <a:xfrm>
              <a:off x="4766949" y="4459843"/>
              <a:ext cx="1067113" cy="169069"/>
            </a:xfrm>
            <a:prstGeom prst="rect">
              <a:avLst/>
            </a:prstGeom>
            <a:noFill/>
            <a:ln>
              <a:noFill/>
            </a:ln>
          </p:spPr>
          <p:txBody>
            <a:bodyPr wrap="none" lIns="0" tIns="0" rIns="0" bIns="0" anchor="t" anchorCtr="0">
              <a:spAutoFit/>
            </a:bodyPr>
            <a:lstStyle/>
            <a:p>
              <a:pPr algn="r"/>
              <a:r>
                <a:rPr lang="en-US" sz="860" b="1" dirty="0">
                  <a:solidFill>
                    <a:srgbClr val="6E85AC"/>
                  </a:solidFill>
                  <a:latin typeface="+mn-lt"/>
                  <a:ea typeface="+mn-ea"/>
                  <a:cs typeface="+mn-cs"/>
                </a:rPr>
                <a:t>candidate moment</a:t>
              </a:r>
            </a:p>
          </p:txBody>
        </p:sp>
        <p:sp>
          <p:nvSpPr>
            <p:cNvPr id="18" name="Polyline 18"/>
            <p:cNvSpPr/>
            <p:nvPr/>
          </p:nvSpPr>
          <p:spPr>
            <a:xfrm>
              <a:off x="1066800" y="3067050"/>
              <a:ext cx="4762500" cy="1314450"/>
            </a:xfrm>
            <a:custGeom>
              <a:avLst/>
              <a:gdLst/>
              <a:ahLst/>
              <a:cxnLst/>
              <a:rect l="l" t="t" r="r" b="b"/>
              <a:pathLst>
                <a:path w="4762500" h="1314450">
                  <a:moveTo>
                    <a:pt x="0" y="1314450"/>
                  </a:moveTo>
                  <a:lnTo>
                    <a:pt x="79057" y="1314450"/>
                  </a:lnTo>
                  <a:lnTo>
                    <a:pt x="159067" y="1314450"/>
                  </a:lnTo>
                  <a:lnTo>
                    <a:pt x="238125" y="1314450"/>
                  </a:lnTo>
                  <a:lnTo>
                    <a:pt x="317183" y="1313497"/>
                  </a:lnTo>
                  <a:lnTo>
                    <a:pt x="397192" y="1313497"/>
                  </a:lnTo>
                  <a:lnTo>
                    <a:pt x="476250" y="1312545"/>
                  </a:lnTo>
                  <a:lnTo>
                    <a:pt x="555308" y="1311592"/>
                  </a:lnTo>
                  <a:lnTo>
                    <a:pt x="635317" y="1309688"/>
                  </a:lnTo>
                  <a:lnTo>
                    <a:pt x="714375" y="1305878"/>
                  </a:lnTo>
                  <a:lnTo>
                    <a:pt x="793433" y="1301115"/>
                  </a:lnTo>
                  <a:lnTo>
                    <a:pt x="873442" y="1293495"/>
                  </a:lnTo>
                  <a:lnTo>
                    <a:pt x="952500" y="1283018"/>
                  </a:lnTo>
                  <a:lnTo>
                    <a:pt x="1031558" y="1266825"/>
                  </a:lnTo>
                  <a:lnTo>
                    <a:pt x="1111568" y="1244918"/>
                  </a:lnTo>
                  <a:lnTo>
                    <a:pt x="1190625" y="1215390"/>
                  </a:lnTo>
                  <a:lnTo>
                    <a:pt x="1269682" y="1176338"/>
                  </a:lnTo>
                  <a:lnTo>
                    <a:pt x="1349692" y="1125855"/>
                  </a:lnTo>
                  <a:lnTo>
                    <a:pt x="1428750" y="1062990"/>
                  </a:lnTo>
                  <a:lnTo>
                    <a:pt x="1507808" y="986790"/>
                  </a:lnTo>
                  <a:lnTo>
                    <a:pt x="1587818" y="897255"/>
                  </a:lnTo>
                  <a:lnTo>
                    <a:pt x="1666875" y="795338"/>
                  </a:lnTo>
                  <a:lnTo>
                    <a:pt x="1745932" y="683895"/>
                  </a:lnTo>
                  <a:lnTo>
                    <a:pt x="1825942" y="565785"/>
                  </a:lnTo>
                  <a:lnTo>
                    <a:pt x="1905000" y="444817"/>
                  </a:lnTo>
                  <a:lnTo>
                    <a:pt x="1984058" y="327660"/>
                  </a:lnTo>
                  <a:lnTo>
                    <a:pt x="2064068" y="220980"/>
                  </a:lnTo>
                  <a:lnTo>
                    <a:pt x="2143125" y="128588"/>
                  </a:lnTo>
                  <a:lnTo>
                    <a:pt x="2222182" y="59055"/>
                  </a:lnTo>
                  <a:lnTo>
                    <a:pt x="2302192" y="15240"/>
                  </a:lnTo>
                  <a:lnTo>
                    <a:pt x="2381250" y="0"/>
                  </a:lnTo>
                  <a:lnTo>
                    <a:pt x="2460308" y="15240"/>
                  </a:lnTo>
                  <a:lnTo>
                    <a:pt x="2540318" y="59055"/>
                  </a:lnTo>
                  <a:lnTo>
                    <a:pt x="2619375" y="128588"/>
                  </a:lnTo>
                  <a:lnTo>
                    <a:pt x="2698432" y="220980"/>
                  </a:lnTo>
                  <a:lnTo>
                    <a:pt x="2778442" y="327660"/>
                  </a:lnTo>
                  <a:lnTo>
                    <a:pt x="2857500" y="444817"/>
                  </a:lnTo>
                  <a:lnTo>
                    <a:pt x="2936558" y="565785"/>
                  </a:lnTo>
                  <a:lnTo>
                    <a:pt x="3016568" y="683895"/>
                  </a:lnTo>
                  <a:lnTo>
                    <a:pt x="3095625" y="795338"/>
                  </a:lnTo>
                  <a:lnTo>
                    <a:pt x="3174682" y="897255"/>
                  </a:lnTo>
                  <a:lnTo>
                    <a:pt x="3254692" y="986790"/>
                  </a:lnTo>
                  <a:lnTo>
                    <a:pt x="3333750" y="1062990"/>
                  </a:lnTo>
                  <a:lnTo>
                    <a:pt x="3412808" y="1125855"/>
                  </a:lnTo>
                  <a:lnTo>
                    <a:pt x="3492818" y="1176338"/>
                  </a:lnTo>
                  <a:lnTo>
                    <a:pt x="3571875" y="1215390"/>
                  </a:lnTo>
                  <a:lnTo>
                    <a:pt x="3650932" y="1244918"/>
                  </a:lnTo>
                  <a:lnTo>
                    <a:pt x="3730942" y="1266825"/>
                  </a:lnTo>
                  <a:lnTo>
                    <a:pt x="3810000" y="1283018"/>
                  </a:lnTo>
                  <a:lnTo>
                    <a:pt x="3889057" y="1293495"/>
                  </a:lnTo>
                  <a:lnTo>
                    <a:pt x="3969068" y="1301115"/>
                  </a:lnTo>
                  <a:lnTo>
                    <a:pt x="4048125" y="1305878"/>
                  </a:lnTo>
                  <a:lnTo>
                    <a:pt x="4127182" y="1309688"/>
                  </a:lnTo>
                  <a:lnTo>
                    <a:pt x="4207192" y="1311592"/>
                  </a:lnTo>
                  <a:lnTo>
                    <a:pt x="4286250" y="1312545"/>
                  </a:lnTo>
                  <a:lnTo>
                    <a:pt x="4365308" y="1313497"/>
                  </a:lnTo>
                  <a:lnTo>
                    <a:pt x="4445318" y="1313497"/>
                  </a:lnTo>
                  <a:lnTo>
                    <a:pt x="4524375" y="1314450"/>
                  </a:lnTo>
                  <a:lnTo>
                    <a:pt x="4603432" y="1314450"/>
                  </a:lnTo>
                  <a:lnTo>
                    <a:pt x="4683442" y="1314450"/>
                  </a:lnTo>
                  <a:lnTo>
                    <a:pt x="4762500" y="1314450"/>
                  </a:lnTo>
                </a:path>
              </a:pathLst>
            </a:custGeom>
            <a:noFill/>
            <a:ln w="26670">
              <a:solidFill>
                <a:schemeClr val="accent2"/>
              </a:solidFill>
            </a:ln>
          </p:spPr>
        </p:sp>
        <p:sp>
          <p:nvSpPr>
            <p:cNvPr id="19" name="Line 19"/>
            <p:cNvSpPr/>
            <p:nvPr/>
          </p:nvSpPr>
          <p:spPr>
            <a:xfrm>
              <a:off x="3448050" y="2952750"/>
              <a:ext cx="9525" cy="1428750"/>
            </a:xfrm>
            <a:custGeom>
              <a:avLst/>
              <a:gdLst/>
              <a:ahLst/>
              <a:cxnLst/>
              <a:rect l="l" t="t" r="r" b="b"/>
              <a:pathLst>
                <a:path w="9525" h="1428750">
                  <a:moveTo>
                    <a:pt x="0" y="0"/>
                  </a:moveTo>
                  <a:lnTo>
                    <a:pt x="0" y="1428750"/>
                  </a:lnTo>
                </a:path>
              </a:pathLst>
            </a:custGeom>
            <a:noFill/>
            <a:ln w="15240">
              <a:solidFill>
                <a:srgbClr val="57D9A3"/>
              </a:solidFill>
              <a:custDash>
                <a:ds d="312500" sp="250000"/>
              </a:custDash>
            </a:ln>
          </p:spPr>
        </p:sp>
        <p:sp>
          <p:nvSpPr>
            <p:cNvPr id="20" name="Ellipse 20"/>
            <p:cNvSpPr/>
            <p:nvPr/>
          </p:nvSpPr>
          <p:spPr>
            <a:xfrm>
              <a:off x="3400425" y="3019425"/>
              <a:ext cx="95250" cy="95250"/>
            </a:xfrm>
            <a:prstGeom prst="ellipse">
              <a:avLst/>
            </a:prstGeom>
            <a:solidFill>
              <a:srgbClr val="57D9A3"/>
            </a:solidFill>
            <a:ln>
              <a:noFill/>
            </a:ln>
          </p:spPr>
        </p:sp>
        <p:sp>
          <p:nvSpPr>
            <p:cNvPr id="21" name="TextBox 21"/>
            <p:cNvSpPr txBox="1"/>
            <p:nvPr/>
          </p:nvSpPr>
          <p:spPr>
            <a:xfrm>
              <a:off x="3538538" y="3003947"/>
              <a:ext cx="660588" cy="183356"/>
            </a:xfrm>
            <a:prstGeom prst="rect">
              <a:avLst/>
            </a:prstGeom>
            <a:noFill/>
            <a:ln>
              <a:noFill/>
            </a:ln>
          </p:spPr>
          <p:txBody>
            <a:bodyPr wrap="none" lIns="0" tIns="0" rIns="0" bIns="0" anchor="t" anchorCtr="0">
              <a:spAutoFit/>
            </a:bodyPr>
            <a:lstStyle/>
            <a:p>
              <a:pPr algn="l"/>
              <a:r>
                <a:rPr lang="en-US" sz="940" b="1" dirty="0">
                  <a:solidFill>
                    <a:srgbClr val="57D9A3"/>
                  </a:solidFill>
                  <a:latin typeface="+mn-lt"/>
                  <a:ea typeface="+mn-ea"/>
                  <a:cs typeface="+mn-cs"/>
                </a:rPr>
                <a:t>true mean</a:t>
              </a:r>
            </a:p>
          </p:txBody>
        </p:sp>
        <p:sp>
          <p:nvSpPr>
            <p:cNvPr id="22" name="TextBox 22"/>
            <p:cNvSpPr txBox="1"/>
            <p:nvPr/>
          </p:nvSpPr>
          <p:spPr>
            <a:xfrm>
              <a:off x="756856" y="4843701"/>
              <a:ext cx="5018726"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Gaussian: peak confirms recovery · discriminator converges in ~10 epochs.</a:t>
              </a:r>
            </a:p>
          </p:txBody>
        </p:sp>
      </p:grpSp>
      <p:grpSp>
        <p:nvGrpSpPr>
          <p:cNvPr id="28" name="Group 28"/>
          <p:cNvGrpSpPr/>
          <p:nvPr/>
        </p:nvGrpSpPr>
        <p:grpSpPr>
          <a:xfrm>
            <a:off x="6438900" y="2286000"/>
            <a:ext cx="5219700" cy="876300"/>
            <a:chOff x="6438900" y="2286000"/>
            <a:chExt cx="5219700" cy="876300"/>
          </a:xfrm>
        </p:grpSpPr>
        <p:sp>
          <p:nvSpPr>
            <p:cNvPr id="24" name="Rectangle 24"/>
            <p:cNvSpPr/>
            <p:nvPr/>
          </p:nvSpPr>
          <p:spPr>
            <a:xfrm>
              <a:off x="6438900" y="2286000"/>
              <a:ext cx="5219700" cy="876300"/>
            </a:xfrm>
            <a:prstGeom prst="roundRect">
              <a:avLst>
                <a:gd name="adj" fmla="val 15217"/>
              </a:avLst>
            </a:prstGeom>
            <a:solidFill>
              <a:schemeClr val="accent5"/>
            </a:solidFill>
            <a:ln w="11430">
              <a:solidFill>
                <a:schemeClr val="accent4"/>
              </a:solidFill>
            </a:ln>
          </p:spPr>
        </p:sp>
        <p:sp>
          <p:nvSpPr>
            <p:cNvPr id="25" name="Rectangle 25"/>
            <p:cNvSpPr/>
            <p:nvPr/>
          </p:nvSpPr>
          <p:spPr>
            <a:xfrm>
              <a:off x="6648450" y="2495550"/>
              <a:ext cx="47625" cy="457200"/>
            </a:xfrm>
            <a:prstGeom prst="roundRect">
              <a:avLst>
                <a:gd name="adj" fmla="val 50000"/>
              </a:avLst>
            </a:prstGeom>
            <a:solidFill>
              <a:srgbClr val="37DCC0"/>
            </a:solidFill>
            <a:ln>
              <a:noFill/>
            </a:ln>
          </p:spPr>
        </p:sp>
        <p:sp>
          <p:nvSpPr>
            <p:cNvPr id="26" name="TextBox 26"/>
            <p:cNvSpPr txBox="1"/>
            <p:nvPr/>
          </p:nvSpPr>
          <p:spPr>
            <a:xfrm>
              <a:off x="6832473" y="2529364"/>
              <a:ext cx="860228" cy="249364"/>
            </a:xfrm>
            <a:prstGeom prst="rect">
              <a:avLst/>
            </a:prstGeom>
            <a:noFill/>
            <a:ln>
              <a:noFill/>
            </a:ln>
          </p:spPr>
          <p:txBody>
            <a:bodyPr wrap="none" lIns="0" tIns="0" rIns="0" bIns="0" anchor="t" anchorCtr="0">
              <a:spAutoFit/>
            </a:bodyPr>
            <a:lstStyle/>
            <a:p>
              <a:pPr algn="l"/>
              <a:r>
                <a:rPr lang="en-US" sz="1280" b="1" dirty="0">
                  <a:solidFill>
                    <a:schemeClr val="dk1"/>
                  </a:solidFill>
                  <a:latin typeface="+mn-lt"/>
                  <a:ea typeface="+mn-ea"/>
                  <a:cs typeface="+mn-cs"/>
                </a:rPr>
                <a:t>Jet width</a:t>
              </a:r>
            </a:p>
          </p:txBody>
        </p:sp>
        <p:sp>
          <p:nvSpPr>
            <p:cNvPr id="27" name="TextBox 27"/>
            <p:cNvSpPr txBox="1"/>
            <p:nvPr/>
          </p:nvSpPr>
          <p:spPr>
            <a:xfrm>
              <a:off x="6833616" y="2801302"/>
              <a:ext cx="3318281"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first + second moments unfolded simultaneously</a:t>
              </a:r>
            </a:p>
          </p:txBody>
        </p:sp>
      </p:grpSp>
      <p:grpSp>
        <p:nvGrpSpPr>
          <p:cNvPr id="34" name="Group 34"/>
          <p:cNvGrpSpPr/>
          <p:nvPr/>
        </p:nvGrpSpPr>
        <p:grpSpPr>
          <a:xfrm>
            <a:off x="6438900" y="3352800"/>
            <a:ext cx="5219700" cy="1752600"/>
            <a:chOff x="6438900" y="3352800"/>
            <a:chExt cx="5219700" cy="1752600"/>
          </a:xfrm>
        </p:grpSpPr>
        <p:sp>
          <p:nvSpPr>
            <p:cNvPr id="29" name="Rectangle 29"/>
            <p:cNvSpPr/>
            <p:nvPr/>
          </p:nvSpPr>
          <p:spPr>
            <a:xfrm>
              <a:off x="6438900" y="3352800"/>
              <a:ext cx="5219700" cy="1752600"/>
            </a:xfrm>
            <a:prstGeom prst="roundRect">
              <a:avLst>
                <a:gd name="adj" fmla="val 7609"/>
              </a:avLst>
            </a:prstGeom>
            <a:solidFill>
              <a:schemeClr val="accent6"/>
            </a:solidFill>
            <a:ln w="13335">
              <a:solidFill>
                <a:srgbClr val="57D9A3"/>
              </a:solidFill>
            </a:ln>
          </p:spPr>
        </p:sp>
        <p:sp>
          <p:nvSpPr>
            <p:cNvPr id="30" name="TextBox 30"/>
            <p:cNvSpPr txBox="1"/>
            <p:nvPr/>
          </p:nvSpPr>
          <p:spPr>
            <a:xfrm>
              <a:off x="6662738" y="3674745"/>
              <a:ext cx="1714378" cy="176212"/>
            </a:xfrm>
            <a:prstGeom prst="rect">
              <a:avLst/>
            </a:prstGeom>
            <a:noFill/>
            <a:ln>
              <a:noFill/>
            </a:ln>
          </p:spPr>
          <p:txBody>
            <a:bodyPr wrap="none" lIns="0" tIns="0" rIns="0" bIns="0" anchor="t" anchorCtr="0">
              <a:spAutoFit/>
            </a:bodyPr>
            <a:lstStyle/>
            <a:p>
              <a:pPr algn="l"/>
              <a:r>
                <a:rPr lang="en-US" sz="900" b="1" spc="112" dirty="0">
                  <a:solidFill>
                    <a:srgbClr val="57D9A3"/>
                  </a:solidFill>
                  <a:latin typeface="+mn-lt"/>
                  <a:ea typeface="+mn-ea"/>
                  <a:cs typeface="+mn-cs"/>
                </a:rPr>
                <a:t>MEAN ABSOLUTE ERROR</a:t>
              </a:r>
            </a:p>
          </p:txBody>
        </p:sp>
        <p:sp>
          <p:nvSpPr>
            <p:cNvPr id="31" name="TextBox 31"/>
            <p:cNvSpPr txBox="1"/>
            <p:nvPr/>
          </p:nvSpPr>
          <p:spPr>
            <a:xfrm>
              <a:off x="6648450" y="3906202"/>
              <a:ext cx="1726891" cy="790575"/>
            </a:xfrm>
            <a:prstGeom prst="rect">
              <a:avLst/>
            </a:prstGeom>
            <a:noFill/>
            <a:ln>
              <a:noFill/>
            </a:ln>
          </p:spPr>
          <p:txBody>
            <a:bodyPr wrap="none" lIns="0" tIns="0" rIns="0" bIns="0" anchor="t" anchorCtr="0">
              <a:spAutoFit/>
            </a:bodyPr>
            <a:lstStyle/>
            <a:p>
              <a:pPr algn="l"/>
              <a:r>
                <a:rPr lang="en-US" sz="4050" b="1" dirty="0">
                  <a:gradFill>
                    <a:gsLst>
                      <a:gs pos="0">
                        <a:srgbClr val="F7B84B"/>
                      </a:gs>
                      <a:gs pos="100000">
                        <a:srgbClr val="E8892E"/>
                      </a:gs>
                    </a:gsLst>
                    <a:lin ang="2700000" scaled="1"/>
                  </a:gradFill>
                  <a:latin typeface="+mn-lt"/>
                  <a:ea typeface="+mn-ea"/>
                  <a:cs typeface="+mn-cs"/>
                </a:rPr>
                <a:t>0.02%</a:t>
              </a:r>
            </a:p>
          </p:txBody>
        </p:sp>
        <p:sp>
          <p:nvSpPr>
            <p:cNvPr id="32" name="TextBox 32"/>
            <p:cNvSpPr txBox="1"/>
            <p:nvPr/>
          </p:nvSpPr>
          <p:spPr>
            <a:xfrm>
              <a:off x="6661976" y="4568904"/>
              <a:ext cx="2091029" cy="212693"/>
            </a:xfrm>
            <a:prstGeom prst="rect">
              <a:avLst/>
            </a:prstGeom>
            <a:noFill/>
            <a:ln>
              <a:noFill/>
            </a:ln>
          </p:spPr>
          <p:txBody>
            <a:bodyPr wrap="none" lIns="0" tIns="0" rIns="0" bIns="0" anchor="t" anchorCtr="0">
              <a:spAutoFit/>
            </a:bodyPr>
            <a:lstStyle/>
            <a:p>
              <a:pPr algn="l"/>
              <a:r>
                <a:rPr lang="en-US" sz="1090" b="1" dirty="0">
                  <a:solidFill>
                    <a:schemeClr val="dk1"/>
                  </a:solidFill>
                  <a:latin typeface="+mn-lt"/>
                  <a:ea typeface="+mn-ea"/>
                  <a:cs typeface="+mn-cs"/>
                </a:rPr>
                <a:t>or better between unfolded</a:t>
              </a:r>
            </a:p>
          </p:txBody>
        </p:sp>
        <p:sp>
          <p:nvSpPr>
            <p:cNvPr id="33" name="TextBox 33"/>
            <p:cNvSpPr txBox="1"/>
            <p:nvPr/>
          </p:nvSpPr>
          <p:spPr>
            <a:xfrm>
              <a:off x="6661976" y="4778454"/>
              <a:ext cx="2545543" cy="212693"/>
            </a:xfrm>
            <a:prstGeom prst="rect">
              <a:avLst/>
            </a:prstGeom>
            <a:noFill/>
            <a:ln>
              <a:noFill/>
            </a:ln>
          </p:spPr>
          <p:txBody>
            <a:bodyPr wrap="none" lIns="0" tIns="0" rIns="0" bIns="0" anchor="t" anchorCtr="0">
              <a:spAutoFit/>
            </a:bodyPr>
            <a:lstStyle/>
            <a:p>
              <a:pPr algn="l"/>
              <a:r>
                <a:rPr lang="en-US" sz="1090" b="1" dirty="0">
                  <a:solidFill>
                    <a:schemeClr val="dk1"/>
                  </a:solidFill>
                  <a:latin typeface="+mn-lt"/>
                  <a:ea typeface="+mn-ea"/>
                  <a:cs typeface="+mn-cs"/>
                </a:rPr>
                <a:t>and true moments — sub-percent.</a:t>
              </a:r>
            </a:p>
          </p:txBody>
        </p:sp>
      </p:grpSp>
      <p:sp>
        <p:nvSpPr>
          <p:cNvPr id="35" name="cue_s07_c1_results_strong_both_tasks_gaussian" title="cue_s07_c1_results_strong_both_tasks_gaussian" descr="cue_s07_c1_results_strong_both_tasks_gaussian The results are strong on both tasks. For the Gaussian example, the loss function peaks exactly at the true mean, confirming the method recovers the right answer, and the discriminator converges within about ten epochs."/>
          <p:cNvSpPr/>
          <p:nvPr/>
        </p:nvSpPr>
        <p:spPr>
          <a:xfrm>
            <a:off x="532790" y="1523847"/>
            <a:ext cx="11125200" cy="55275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cue_s07_c2_jet_width_team_unfolds_first" title="cue_s07_c2_jet_width_team_unfolds_first" descr="cue_s07_c2_jet_width_team_unfolds_first For the jet width, the team unfolds the first and second moments simultaneously."/>
          <p:cNvSpPr/>
          <p:nvPr/>
        </p:nvSpPr>
        <p:spPr>
          <a:xfrm>
            <a:off x="532790" y="2285771"/>
            <a:ext cx="5676595" cy="2819323"/>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cue_s07_c3_scanning_loss_function_candidate_mom" title="cue_s07_c3_scanning_loss_function_candidate_mom" descr="cue_s07_c3_scanning_loss_function_candidate_mom Scanning the loss as a function of each candidate moment produces curves whose peaks land on the true values, with a mean absolute error of two hundredths of a percent or better."/>
          <p:cNvSpPr/>
          <p:nvPr/>
        </p:nvSpPr>
        <p:spPr>
          <a:xfrm>
            <a:off x="6438595" y="2285771"/>
            <a:ext cx="5219395" cy="87645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cue_s07_c4_sub_percent_agreement_between_unfold" title="cue_s07_c4_sub_percent_agreement_between_unfold" descr="cue_s07_c4_sub_percent_agreement_between_unfold That is sub-percent agreement between the unfolded and true moments."/>
          <p:cNvSpPr/>
          <p:nvPr/>
        </p:nvSpPr>
        <p:spPr>
          <a:xfrm>
            <a:off x="6438595" y="3352876"/>
            <a:ext cx="5219395" cy="175290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gradFill>
            <a:gsLst>
              <a:gs pos="0">
                <a:schemeClr val="lt2">
                  <a:alpha val="90000"/>
                </a:schemeClr>
              </a:gs>
              <a:gs pos="60000">
                <a:schemeClr val="lt1">
                  <a:alpha val="0"/>
                </a:schemeClr>
              </a:gs>
            </a:gsLst>
            <a:path path="circle">
              <a:fillToRect l="50000" t="50000" r="50000" b="50000"/>
            </a:path>
          </a:gradFill>
          <a:ln>
            <a:noFill/>
          </a:ln>
        </p:spPr>
        <p:txBody>
          <a:bodyPr/>
          <a:p/>
        </p:txBody>
      </p:sp>
      <p:sp>
        <p:nvSpPr>
          <p:cNvPr id="3" name="Rectangle 3"/>
          <p:cNvSpPr/>
          <p:nvPr/>
        </p:nvSpPr>
        <p:spPr>
          <a:xfrm>
            <a:off x="533400" y="476250"/>
            <a:ext cx="57150" cy="209550"/>
          </a:xfrm>
          <a:prstGeom prst="roundRect">
            <a:avLst>
              <a:gd name="adj" fmla="val 41667"/>
            </a:avLst>
          </a:prstGeom>
          <a:solidFill>
            <a:schemeClr val="accent2"/>
          </a:solidFill>
          <a:ln>
            <a:noFill/>
          </a:ln>
        </p:spPr>
        <p:txBody>
          <a:bodyPr/>
          <a:p/>
        </p:txBody>
      </p:sp>
      <p:sp>
        <p:nvSpPr>
          <p:cNvPr id="4" name="TextBox 4"/>
          <p:cNvSpPr txBox="1"/>
          <p:nvPr/>
        </p:nvSpPr>
        <p:spPr>
          <a:xfrm>
            <a:off x="699135" y="526256"/>
            <a:ext cx="963101" cy="220028"/>
          </a:xfrm>
          <a:prstGeom prst="rect">
            <a:avLst/>
          </a:prstGeom>
          <a:noFill/>
          <a:ln>
            <a:noFill/>
          </a:ln>
        </p:spPr>
        <p:txBody>
          <a:bodyPr wrap="none" lIns="0" tIns="0" rIns="0" bIns="0" anchor="t" anchorCtr="0">
            <a:spAutoFit/>
          </a:bodyPr>
          <a:lstStyle/>
          <a:p>
            <a:pPr algn="l"/>
            <a:r>
              <a:rPr lang="en-US" sz="1120" b="1" spc="225" dirty="0">
                <a:solidFill>
                  <a:schemeClr val="accent2"/>
                </a:solidFill>
                <a:latin typeface="+mn-lt"/>
                <a:ea typeface="+mn-ea"/>
                <a:cs typeface="+mn-cs"/>
              </a:rPr>
              <a:t>ABLATION</a:t>
            </a:r>
          </a:p>
        </p:txBody>
      </p:sp>
      <p:sp>
        <p:nvSpPr>
          <p:cNvPr id="5" name="TextBox 5"/>
          <p:cNvSpPr txBox="1"/>
          <p:nvPr/>
        </p:nvSpPr>
        <p:spPr>
          <a:xfrm>
            <a:off x="518160" y="781050"/>
            <a:ext cx="10286614" cy="586740"/>
          </a:xfrm>
          <a:prstGeom prst="rect">
            <a:avLst/>
          </a:prstGeom>
          <a:noFill/>
          <a:ln>
            <a:noFill/>
          </a:ln>
        </p:spPr>
        <p:txBody>
          <a:bodyPr wrap="none" lIns="0" tIns="0" rIns="0" bIns="0" anchor="t" anchorCtr="0">
            <a:spAutoFit/>
          </a:bodyPr>
          <a:lstStyle/>
          <a:p>
            <a:pPr algn="l"/>
            <a:r>
              <a:rPr lang="en-US" sz="3000" b="1" dirty="0">
                <a:solidFill>
                  <a:schemeClr val="dk1"/>
                </a:solidFill>
                <a:latin typeface="+mn-lt"/>
                <a:ea typeface="+mn-ea"/>
                <a:cs typeface="+mn-cs"/>
              </a:rPr>
              <a:t>What controlling two moments does — and doesn't</a:t>
            </a:r>
          </a:p>
        </p:txBody>
      </p:sp>
      <p:sp>
        <p:nvSpPr>
          <p:cNvPr id="6" name="TextBox 6"/>
          <p:cNvSpPr txBox="1"/>
          <p:nvPr/>
        </p:nvSpPr>
        <p:spPr>
          <a:xfrm>
            <a:off x="11095485" y="534352"/>
            <a:ext cx="568449" cy="205359"/>
          </a:xfrm>
          <a:prstGeom prst="rect">
            <a:avLst/>
          </a:prstGeom>
          <a:noFill/>
          <a:ln>
            <a:noFill/>
          </a:ln>
        </p:spPr>
        <p:txBody>
          <a:bodyPr wrap="none" lIns="0" tIns="0" rIns="0" bIns="0" anchor="t" anchorCtr="0">
            <a:spAutoFit/>
          </a:bodyPr>
          <a:lstStyle/>
          <a:p>
            <a:pPr algn="r"/>
            <a:r>
              <a:rPr lang="en-US" sz="1050" b="1" spc="75" dirty="0">
                <a:solidFill>
                  <a:srgbClr val="6E85AC"/>
                </a:solidFill>
                <a:latin typeface="Consolas"/>
                <a:ea typeface="Consolas"/>
                <a:cs typeface="Consolas"/>
              </a:rPr>
              <a:t>08 / 10</a:t>
            </a:r>
          </a:p>
        </p:txBody>
      </p:sp>
      <p:sp>
        <p:nvSpPr>
          <p:cNvPr id="7" name="Line 7"/>
          <p:cNvSpPr/>
          <p:nvPr/>
        </p:nvSpPr>
        <p:spPr>
          <a:xfrm>
            <a:off x="533400" y="1314450"/>
            <a:ext cx="11125200" cy="9525"/>
          </a:xfrm>
          <a:custGeom>
            <a:avLst/>
            <a:gdLst/>
            <a:ahLst/>
            <a:cxnLst/>
            <a:rect l="l" t="t" r="r" b="b"/>
            <a:pathLst>
              <a:path w="11125200" h="9525">
                <a:moveTo>
                  <a:pt x="0" y="0"/>
                </a:moveTo>
                <a:lnTo>
                  <a:pt x="11125200" y="0"/>
                </a:lnTo>
              </a:path>
            </a:pathLst>
          </a:custGeom>
          <a:noFill/>
          <a:ln w="11430">
            <a:solidFill>
              <a:schemeClr val="accent4"/>
            </a:solidFill>
          </a:ln>
        </p:spPr>
        <p:txBody>
          <a:bodyPr/>
          <a:p/>
        </p:txBody>
      </p:sp>
      <p:grpSp>
        <p:nvGrpSpPr>
          <p:cNvPr id="11" name="Group 11"/>
          <p:cNvGrpSpPr/>
          <p:nvPr/>
        </p:nvGrpSpPr>
        <p:grpSpPr>
          <a:xfrm>
            <a:off x="533400" y="1524000"/>
            <a:ext cx="11125200" cy="552450"/>
            <a:chOff x="533400" y="1524000"/>
            <a:chExt cx="11125200" cy="552450"/>
          </a:xfrm>
        </p:grpSpPr>
        <p:sp>
          <p:nvSpPr>
            <p:cNvPr id="8" name="Rectangle 8"/>
            <p:cNvSpPr/>
            <p:nvPr/>
          </p:nvSpPr>
          <p:spPr>
            <a:xfrm>
              <a:off x="533400" y="1524000"/>
              <a:ext cx="11125200" cy="552450"/>
            </a:xfrm>
            <a:prstGeom prst="roundRect">
              <a:avLst>
                <a:gd name="adj" fmla="val 24138"/>
              </a:avLst>
            </a:prstGeom>
            <a:solidFill>
              <a:schemeClr val="accent5"/>
            </a:solidFill>
            <a:ln w="11430">
              <a:solidFill>
                <a:schemeClr val="accent4"/>
              </a:solidFill>
            </a:ln>
          </p:spPr>
        </p:sp>
        <p:sp>
          <p:nvSpPr>
            <p:cNvPr id="9" name="Rectangle 9"/>
            <p:cNvSpPr/>
            <p:nvPr/>
          </p:nvSpPr>
          <p:spPr>
            <a:xfrm>
              <a:off x="723900" y="1676400"/>
              <a:ext cx="47625" cy="247650"/>
            </a:xfrm>
            <a:prstGeom prst="roundRect">
              <a:avLst>
                <a:gd name="adj" fmla="val 50000"/>
              </a:avLst>
            </a:prstGeom>
            <a:solidFill>
              <a:schemeClr val="accent2"/>
            </a:solidFill>
            <a:ln>
              <a:noFill/>
            </a:ln>
          </p:spPr>
        </p:sp>
        <p:sp>
          <p:nvSpPr>
            <p:cNvPr id="10" name="TextBox 10"/>
            <p:cNvSpPr txBox="1"/>
            <p:nvPr/>
          </p:nvSpPr>
          <p:spPr>
            <a:xfrm>
              <a:off x="907542" y="1730692"/>
              <a:ext cx="6536602" cy="264033"/>
            </a:xfrm>
            <a:prstGeom prst="rect">
              <a:avLst/>
            </a:prstGeom>
            <a:noFill/>
            <a:ln>
              <a:noFill/>
            </a:ln>
          </p:spPr>
          <p:txBody>
            <a:bodyPr wrap="none" lIns="0" tIns="0" rIns="0" bIns="0" anchor="t" anchorCtr="0">
              <a:spAutoFit/>
            </a:bodyPr>
            <a:lstStyle/>
            <a:p>
              <a:pPr algn="l"/>
              <a:r>
                <a:rPr lang="en-US" sz="1350" b="1" dirty="0">
                  <a:solidFill>
                    <a:schemeClr val="dk1"/>
                  </a:solidFill>
                  <a:latin typeface="+mn-lt"/>
                  <a:ea typeface="+mn-ea"/>
                  <a:cs typeface="+mn-cs"/>
                </a:rPr>
                <a:t>An instructive look at the limits of unfolding only a couple of moments</a:t>
              </a:r>
            </a:p>
          </p:txBody>
        </p:sp>
      </p:grpSp>
      <p:grpSp>
        <p:nvGrpSpPr>
          <p:cNvPr id="21" name="Group 21"/>
          <p:cNvGrpSpPr/>
          <p:nvPr/>
        </p:nvGrpSpPr>
        <p:grpSpPr>
          <a:xfrm>
            <a:off x="533400" y="2286000"/>
            <a:ext cx="5676900" cy="2857500"/>
            <a:chOff x="533400" y="2286000"/>
            <a:chExt cx="5676900" cy="2857500"/>
          </a:xfrm>
        </p:grpSpPr>
        <p:sp>
          <p:nvSpPr>
            <p:cNvPr id="12" name="Rectangle 12"/>
            <p:cNvSpPr/>
            <p:nvPr/>
          </p:nvSpPr>
          <p:spPr>
            <a:xfrm>
              <a:off x="533400" y="2286000"/>
              <a:ext cx="5676900" cy="2857500"/>
            </a:xfrm>
            <a:prstGeom prst="roundRect">
              <a:avLst>
                <a:gd name="adj" fmla="val 4667"/>
              </a:avLst>
            </a:prstGeom>
            <a:solidFill>
              <a:schemeClr val="accent5"/>
            </a:solidFill>
            <a:ln w="11430">
              <a:solidFill>
                <a:schemeClr val="accent4"/>
              </a:solidFill>
            </a:ln>
          </p:spPr>
        </p:sp>
        <p:sp>
          <p:nvSpPr>
            <p:cNvPr id="13" name="Rectangle 13"/>
            <p:cNvSpPr/>
            <p:nvPr/>
          </p:nvSpPr>
          <p:spPr>
            <a:xfrm>
              <a:off x="742950" y="2514600"/>
              <a:ext cx="47625" cy="266700"/>
            </a:xfrm>
            <a:prstGeom prst="roundRect">
              <a:avLst>
                <a:gd name="adj" fmla="val 50000"/>
              </a:avLst>
            </a:prstGeom>
            <a:solidFill>
              <a:srgbClr val="F7B84B"/>
            </a:solidFill>
            <a:ln>
              <a:noFill/>
            </a:ln>
          </p:spPr>
        </p:sp>
        <p:sp>
          <p:nvSpPr>
            <p:cNvPr id="14" name="TextBox 14"/>
            <p:cNvSpPr txBox="1"/>
            <p:nvPr/>
          </p:nvSpPr>
          <p:spPr>
            <a:xfrm>
              <a:off x="907923" y="2567464"/>
              <a:ext cx="4325841" cy="249364"/>
            </a:xfrm>
            <a:prstGeom prst="rect">
              <a:avLst/>
            </a:prstGeom>
            <a:noFill/>
            <a:ln>
              <a:noFill/>
            </a:ln>
          </p:spPr>
          <p:txBody>
            <a:bodyPr wrap="none" lIns="0" tIns="0" rIns="0" bIns="0" anchor="t" anchorCtr="0">
              <a:spAutoFit/>
            </a:bodyPr>
            <a:lstStyle/>
            <a:p>
              <a:pPr algn="l"/>
              <a:r>
                <a:rPr lang="en-US" sz="1280" b="1" dirty="0">
                  <a:solidFill>
                    <a:schemeClr val="dk1"/>
                  </a:solidFill>
                  <a:latin typeface="+mn-lt"/>
                  <a:ea typeface="+mn-ea"/>
                  <a:cs typeface="+mn-cs"/>
                </a:rPr>
                <a:t>Matched on 1st + 2nd moment — still not identical</a:t>
              </a:r>
            </a:p>
          </p:txBody>
        </p:sp>
        <p:sp>
          <p:nvSpPr>
            <p:cNvPr id="15" name="Line 15"/>
            <p:cNvSpPr/>
            <p:nvPr/>
          </p:nvSpPr>
          <p:spPr>
            <a:xfrm>
              <a:off x="914400" y="4476750"/>
              <a:ext cx="4914900" cy="9525"/>
            </a:xfrm>
            <a:custGeom>
              <a:avLst/>
              <a:gdLst/>
              <a:ahLst/>
              <a:cxnLst/>
              <a:rect l="l" t="t" r="r" b="b"/>
              <a:pathLst>
                <a:path w="4914900" h="9525">
                  <a:moveTo>
                    <a:pt x="0" y="0"/>
                  </a:moveTo>
                  <a:lnTo>
                    <a:pt x="4914900" y="0"/>
                  </a:lnTo>
                </a:path>
              </a:pathLst>
            </a:custGeom>
            <a:noFill/>
            <a:ln w="10478">
              <a:solidFill>
                <a:srgbClr val="6E85AC"/>
              </a:solidFill>
            </a:ln>
          </p:spPr>
        </p:sp>
        <p:sp>
          <p:nvSpPr>
            <p:cNvPr id="16" name="Polyline 16"/>
            <p:cNvSpPr/>
            <p:nvPr/>
          </p:nvSpPr>
          <p:spPr>
            <a:xfrm>
              <a:off x="914400" y="3448050"/>
              <a:ext cx="4914900" cy="1026795"/>
            </a:xfrm>
            <a:custGeom>
              <a:avLst/>
              <a:gdLst/>
              <a:ahLst/>
              <a:cxnLst/>
              <a:rect l="l" t="t" r="r" b="b"/>
              <a:pathLst>
                <a:path w="4914900" h="1026795">
                  <a:moveTo>
                    <a:pt x="0" y="1026795"/>
                  </a:moveTo>
                  <a:lnTo>
                    <a:pt x="61912" y="1025842"/>
                  </a:lnTo>
                  <a:lnTo>
                    <a:pt x="122873" y="1024890"/>
                  </a:lnTo>
                  <a:lnTo>
                    <a:pt x="184785" y="1023938"/>
                  </a:lnTo>
                  <a:lnTo>
                    <a:pt x="245745" y="1022033"/>
                  </a:lnTo>
                  <a:lnTo>
                    <a:pt x="306705" y="1020128"/>
                  </a:lnTo>
                  <a:lnTo>
                    <a:pt x="368617" y="1017270"/>
                  </a:lnTo>
                  <a:lnTo>
                    <a:pt x="429577" y="1013460"/>
                  </a:lnTo>
                  <a:lnTo>
                    <a:pt x="491490" y="1009650"/>
                  </a:lnTo>
                  <a:lnTo>
                    <a:pt x="552450" y="1003935"/>
                  </a:lnTo>
                  <a:lnTo>
                    <a:pt x="614362" y="997267"/>
                  </a:lnTo>
                  <a:lnTo>
                    <a:pt x="676275" y="989647"/>
                  </a:lnTo>
                  <a:lnTo>
                    <a:pt x="737235" y="980122"/>
                  </a:lnTo>
                  <a:lnTo>
                    <a:pt x="799148" y="968692"/>
                  </a:lnTo>
                  <a:lnTo>
                    <a:pt x="860108" y="954405"/>
                  </a:lnTo>
                  <a:lnTo>
                    <a:pt x="922020" y="938212"/>
                  </a:lnTo>
                  <a:lnTo>
                    <a:pt x="982980" y="919162"/>
                  </a:lnTo>
                  <a:lnTo>
                    <a:pt x="1043940" y="897255"/>
                  </a:lnTo>
                  <a:lnTo>
                    <a:pt x="1105852" y="872490"/>
                  </a:lnTo>
                  <a:lnTo>
                    <a:pt x="1167765" y="843915"/>
                  </a:lnTo>
                  <a:lnTo>
                    <a:pt x="1228725" y="811530"/>
                  </a:lnTo>
                  <a:lnTo>
                    <a:pt x="1290638" y="776288"/>
                  </a:lnTo>
                  <a:lnTo>
                    <a:pt x="1351598" y="737235"/>
                  </a:lnTo>
                  <a:lnTo>
                    <a:pt x="1413510" y="694372"/>
                  </a:lnTo>
                  <a:lnTo>
                    <a:pt x="1474470" y="648653"/>
                  </a:lnTo>
                  <a:lnTo>
                    <a:pt x="1535430" y="600075"/>
                  </a:lnTo>
                  <a:lnTo>
                    <a:pt x="1597342" y="548640"/>
                  </a:lnTo>
                  <a:lnTo>
                    <a:pt x="1658303" y="496253"/>
                  </a:lnTo>
                  <a:lnTo>
                    <a:pt x="1720215" y="441008"/>
                  </a:lnTo>
                  <a:lnTo>
                    <a:pt x="1781175" y="386715"/>
                  </a:lnTo>
                  <a:lnTo>
                    <a:pt x="1843088" y="331470"/>
                  </a:lnTo>
                  <a:lnTo>
                    <a:pt x="1905000" y="278130"/>
                  </a:lnTo>
                  <a:lnTo>
                    <a:pt x="1965960" y="226695"/>
                  </a:lnTo>
                  <a:lnTo>
                    <a:pt x="2027872" y="179070"/>
                  </a:lnTo>
                  <a:lnTo>
                    <a:pt x="2088832" y="134303"/>
                  </a:lnTo>
                  <a:lnTo>
                    <a:pt x="2150745" y="95250"/>
                  </a:lnTo>
                  <a:lnTo>
                    <a:pt x="2211705" y="61912"/>
                  </a:lnTo>
                  <a:lnTo>
                    <a:pt x="2272665" y="35242"/>
                  </a:lnTo>
                  <a:lnTo>
                    <a:pt x="2334578" y="16192"/>
                  </a:lnTo>
                  <a:lnTo>
                    <a:pt x="2395538" y="3810"/>
                  </a:lnTo>
                  <a:lnTo>
                    <a:pt x="2457450" y="0"/>
                  </a:lnTo>
                  <a:lnTo>
                    <a:pt x="2519362" y="3810"/>
                  </a:lnTo>
                  <a:lnTo>
                    <a:pt x="2580322" y="16192"/>
                  </a:lnTo>
                  <a:lnTo>
                    <a:pt x="2641282" y="35242"/>
                  </a:lnTo>
                  <a:lnTo>
                    <a:pt x="2703195" y="61912"/>
                  </a:lnTo>
                  <a:lnTo>
                    <a:pt x="2764155" y="95250"/>
                  </a:lnTo>
                  <a:lnTo>
                    <a:pt x="2826068" y="134303"/>
                  </a:lnTo>
                  <a:lnTo>
                    <a:pt x="2887980" y="179070"/>
                  </a:lnTo>
                  <a:lnTo>
                    <a:pt x="2948940" y="226695"/>
                  </a:lnTo>
                  <a:lnTo>
                    <a:pt x="3009900" y="278130"/>
                  </a:lnTo>
                  <a:lnTo>
                    <a:pt x="3071812" y="331470"/>
                  </a:lnTo>
                  <a:lnTo>
                    <a:pt x="3133725" y="386715"/>
                  </a:lnTo>
                  <a:lnTo>
                    <a:pt x="3194685" y="441008"/>
                  </a:lnTo>
                  <a:lnTo>
                    <a:pt x="3255645" y="496253"/>
                  </a:lnTo>
                  <a:lnTo>
                    <a:pt x="3317558" y="548640"/>
                  </a:lnTo>
                  <a:lnTo>
                    <a:pt x="3379470" y="600075"/>
                  </a:lnTo>
                  <a:lnTo>
                    <a:pt x="3440430" y="648653"/>
                  </a:lnTo>
                  <a:lnTo>
                    <a:pt x="3502342" y="694372"/>
                  </a:lnTo>
                  <a:lnTo>
                    <a:pt x="3563302" y="737235"/>
                  </a:lnTo>
                  <a:lnTo>
                    <a:pt x="3624262" y="776288"/>
                  </a:lnTo>
                  <a:lnTo>
                    <a:pt x="3686175" y="811530"/>
                  </a:lnTo>
                  <a:lnTo>
                    <a:pt x="3748088" y="843915"/>
                  </a:lnTo>
                  <a:lnTo>
                    <a:pt x="3809048" y="872490"/>
                  </a:lnTo>
                  <a:lnTo>
                    <a:pt x="3870008" y="897255"/>
                  </a:lnTo>
                  <a:lnTo>
                    <a:pt x="3931920" y="919162"/>
                  </a:lnTo>
                  <a:lnTo>
                    <a:pt x="3992880" y="938212"/>
                  </a:lnTo>
                  <a:lnTo>
                    <a:pt x="4054793" y="954405"/>
                  </a:lnTo>
                  <a:lnTo>
                    <a:pt x="4116705" y="968692"/>
                  </a:lnTo>
                  <a:lnTo>
                    <a:pt x="4177665" y="980122"/>
                  </a:lnTo>
                  <a:lnTo>
                    <a:pt x="4238625" y="989647"/>
                  </a:lnTo>
                  <a:lnTo>
                    <a:pt x="4300538" y="997267"/>
                  </a:lnTo>
                  <a:lnTo>
                    <a:pt x="4362450" y="1003935"/>
                  </a:lnTo>
                  <a:lnTo>
                    <a:pt x="4423410" y="1009650"/>
                  </a:lnTo>
                  <a:lnTo>
                    <a:pt x="4484370" y="1013460"/>
                  </a:lnTo>
                  <a:lnTo>
                    <a:pt x="4546282" y="1017270"/>
                  </a:lnTo>
                  <a:lnTo>
                    <a:pt x="4608195" y="1020128"/>
                  </a:lnTo>
                  <a:lnTo>
                    <a:pt x="4669155" y="1022033"/>
                  </a:lnTo>
                  <a:lnTo>
                    <a:pt x="4731068" y="1023938"/>
                  </a:lnTo>
                  <a:lnTo>
                    <a:pt x="4792028" y="1024890"/>
                  </a:lnTo>
                  <a:lnTo>
                    <a:pt x="4852988" y="1025842"/>
                  </a:lnTo>
                  <a:lnTo>
                    <a:pt x="4914900" y="1026795"/>
                  </a:lnTo>
                </a:path>
              </a:pathLst>
            </a:custGeom>
            <a:noFill/>
            <a:ln w="24765">
              <a:solidFill>
                <a:srgbClr val="57D9A3"/>
              </a:solidFill>
            </a:ln>
          </p:spPr>
        </p:sp>
        <p:sp>
          <p:nvSpPr>
            <p:cNvPr id="17" name="Polyline 17"/>
            <p:cNvSpPr/>
            <p:nvPr/>
          </p:nvSpPr>
          <p:spPr>
            <a:xfrm>
              <a:off x="914400" y="3448050"/>
              <a:ext cx="4914900" cy="1024890"/>
            </a:xfrm>
            <a:custGeom>
              <a:avLst/>
              <a:gdLst/>
              <a:ahLst/>
              <a:cxnLst/>
              <a:rect l="l" t="t" r="r" b="b"/>
              <a:pathLst>
                <a:path w="4914900" h="1024890">
                  <a:moveTo>
                    <a:pt x="0" y="1024890"/>
                  </a:moveTo>
                  <a:lnTo>
                    <a:pt x="61912" y="1023938"/>
                  </a:lnTo>
                  <a:lnTo>
                    <a:pt x="122873" y="1022033"/>
                  </a:lnTo>
                  <a:lnTo>
                    <a:pt x="184785" y="1020128"/>
                  </a:lnTo>
                  <a:lnTo>
                    <a:pt x="245745" y="1017270"/>
                  </a:lnTo>
                  <a:lnTo>
                    <a:pt x="306705" y="1014412"/>
                  </a:lnTo>
                  <a:lnTo>
                    <a:pt x="368617" y="1009650"/>
                  </a:lnTo>
                  <a:lnTo>
                    <a:pt x="429577" y="1004888"/>
                  </a:lnTo>
                  <a:lnTo>
                    <a:pt x="491490" y="998220"/>
                  </a:lnTo>
                  <a:lnTo>
                    <a:pt x="552450" y="991553"/>
                  </a:lnTo>
                  <a:lnTo>
                    <a:pt x="614362" y="982028"/>
                  </a:lnTo>
                  <a:lnTo>
                    <a:pt x="676275" y="971550"/>
                  </a:lnTo>
                  <a:lnTo>
                    <a:pt x="737235" y="958215"/>
                  </a:lnTo>
                  <a:lnTo>
                    <a:pt x="799148" y="943928"/>
                  </a:lnTo>
                  <a:lnTo>
                    <a:pt x="860108" y="926783"/>
                  </a:lnTo>
                  <a:lnTo>
                    <a:pt x="922020" y="906780"/>
                  </a:lnTo>
                  <a:lnTo>
                    <a:pt x="982980" y="883920"/>
                  </a:lnTo>
                  <a:lnTo>
                    <a:pt x="1043940" y="858203"/>
                  </a:lnTo>
                  <a:lnTo>
                    <a:pt x="1105852" y="829628"/>
                  </a:lnTo>
                  <a:lnTo>
                    <a:pt x="1167765" y="798195"/>
                  </a:lnTo>
                  <a:lnTo>
                    <a:pt x="1228725" y="762953"/>
                  </a:lnTo>
                  <a:lnTo>
                    <a:pt x="1290638" y="724853"/>
                  </a:lnTo>
                  <a:lnTo>
                    <a:pt x="1351598" y="683895"/>
                  </a:lnTo>
                  <a:lnTo>
                    <a:pt x="1413510" y="640080"/>
                  </a:lnTo>
                  <a:lnTo>
                    <a:pt x="1474470" y="594360"/>
                  </a:lnTo>
                  <a:lnTo>
                    <a:pt x="1535430" y="545783"/>
                  </a:lnTo>
                  <a:lnTo>
                    <a:pt x="1597342" y="496253"/>
                  </a:lnTo>
                  <a:lnTo>
                    <a:pt x="1658303" y="444817"/>
                  </a:lnTo>
                  <a:lnTo>
                    <a:pt x="1720215" y="393383"/>
                  </a:lnTo>
                  <a:lnTo>
                    <a:pt x="1781175" y="342900"/>
                  </a:lnTo>
                  <a:lnTo>
                    <a:pt x="1843088" y="292417"/>
                  </a:lnTo>
                  <a:lnTo>
                    <a:pt x="1905000" y="243840"/>
                  </a:lnTo>
                  <a:lnTo>
                    <a:pt x="1965960" y="198120"/>
                  </a:lnTo>
                  <a:lnTo>
                    <a:pt x="2027872" y="155258"/>
                  </a:lnTo>
                  <a:lnTo>
                    <a:pt x="2088832" y="116205"/>
                  </a:lnTo>
                  <a:lnTo>
                    <a:pt x="2150745" y="81915"/>
                  </a:lnTo>
                  <a:lnTo>
                    <a:pt x="2211705" y="53340"/>
                  </a:lnTo>
                  <a:lnTo>
                    <a:pt x="2272665" y="30480"/>
                  </a:lnTo>
                  <a:lnTo>
                    <a:pt x="2334578" y="13335"/>
                  </a:lnTo>
                  <a:lnTo>
                    <a:pt x="2395538" y="3810"/>
                  </a:lnTo>
                  <a:lnTo>
                    <a:pt x="2457450" y="0"/>
                  </a:lnTo>
                  <a:lnTo>
                    <a:pt x="2519362" y="3810"/>
                  </a:lnTo>
                  <a:lnTo>
                    <a:pt x="2580322" y="13335"/>
                  </a:lnTo>
                  <a:lnTo>
                    <a:pt x="2641282" y="30480"/>
                  </a:lnTo>
                  <a:lnTo>
                    <a:pt x="2703195" y="53340"/>
                  </a:lnTo>
                  <a:lnTo>
                    <a:pt x="2764155" y="81915"/>
                  </a:lnTo>
                  <a:lnTo>
                    <a:pt x="2826068" y="116205"/>
                  </a:lnTo>
                  <a:lnTo>
                    <a:pt x="2887980" y="155258"/>
                  </a:lnTo>
                  <a:lnTo>
                    <a:pt x="2948940" y="198120"/>
                  </a:lnTo>
                  <a:lnTo>
                    <a:pt x="3009900" y="243840"/>
                  </a:lnTo>
                  <a:lnTo>
                    <a:pt x="3071812" y="292417"/>
                  </a:lnTo>
                  <a:lnTo>
                    <a:pt x="3133725" y="342900"/>
                  </a:lnTo>
                  <a:lnTo>
                    <a:pt x="3194685" y="393383"/>
                  </a:lnTo>
                  <a:lnTo>
                    <a:pt x="3255645" y="444817"/>
                  </a:lnTo>
                  <a:lnTo>
                    <a:pt x="3317558" y="496253"/>
                  </a:lnTo>
                  <a:lnTo>
                    <a:pt x="3379470" y="545783"/>
                  </a:lnTo>
                  <a:lnTo>
                    <a:pt x="3440430" y="594360"/>
                  </a:lnTo>
                  <a:lnTo>
                    <a:pt x="3502342" y="640080"/>
                  </a:lnTo>
                  <a:lnTo>
                    <a:pt x="3563302" y="683895"/>
                  </a:lnTo>
                  <a:lnTo>
                    <a:pt x="3624262" y="724853"/>
                  </a:lnTo>
                  <a:lnTo>
                    <a:pt x="3686175" y="762953"/>
                  </a:lnTo>
                  <a:lnTo>
                    <a:pt x="3748088" y="798195"/>
                  </a:lnTo>
                  <a:lnTo>
                    <a:pt x="3809048" y="829628"/>
                  </a:lnTo>
                  <a:lnTo>
                    <a:pt x="3870008" y="858203"/>
                  </a:lnTo>
                  <a:lnTo>
                    <a:pt x="3931920" y="883920"/>
                  </a:lnTo>
                  <a:lnTo>
                    <a:pt x="3992880" y="906780"/>
                  </a:lnTo>
                  <a:lnTo>
                    <a:pt x="4054793" y="926783"/>
                  </a:lnTo>
                  <a:lnTo>
                    <a:pt x="4116705" y="943928"/>
                  </a:lnTo>
                  <a:lnTo>
                    <a:pt x="4177665" y="958215"/>
                  </a:lnTo>
                  <a:lnTo>
                    <a:pt x="4238625" y="971550"/>
                  </a:lnTo>
                  <a:lnTo>
                    <a:pt x="4300538" y="982028"/>
                  </a:lnTo>
                  <a:lnTo>
                    <a:pt x="4362450" y="991553"/>
                  </a:lnTo>
                  <a:lnTo>
                    <a:pt x="4423410" y="998220"/>
                  </a:lnTo>
                  <a:lnTo>
                    <a:pt x="4484370" y="1004888"/>
                  </a:lnTo>
                  <a:lnTo>
                    <a:pt x="4546282" y="1009650"/>
                  </a:lnTo>
                  <a:lnTo>
                    <a:pt x="4608195" y="1014412"/>
                  </a:lnTo>
                  <a:lnTo>
                    <a:pt x="4669155" y="1017270"/>
                  </a:lnTo>
                  <a:lnTo>
                    <a:pt x="4731068" y="1020128"/>
                  </a:lnTo>
                  <a:lnTo>
                    <a:pt x="4792028" y="1022033"/>
                  </a:lnTo>
                  <a:lnTo>
                    <a:pt x="4852988" y="1023938"/>
                  </a:lnTo>
                  <a:lnTo>
                    <a:pt x="4914900" y="1024890"/>
                  </a:lnTo>
                </a:path>
              </a:pathLst>
            </a:custGeom>
            <a:noFill/>
            <a:ln w="24765">
              <a:solidFill>
                <a:schemeClr val="accent2"/>
              </a:solidFill>
              <a:custDash>
                <a:ds d="230769" sp="153846"/>
              </a:custDash>
            </a:ln>
          </p:spPr>
        </p:sp>
        <p:sp>
          <p:nvSpPr>
            <p:cNvPr id="18" name="TextBox 18"/>
            <p:cNvSpPr txBox="1"/>
            <p:nvPr/>
          </p:nvSpPr>
          <p:spPr>
            <a:xfrm>
              <a:off x="5401995" y="3118247"/>
              <a:ext cx="374917" cy="183356"/>
            </a:xfrm>
            <a:prstGeom prst="rect">
              <a:avLst/>
            </a:prstGeom>
            <a:noFill/>
            <a:ln>
              <a:noFill/>
            </a:ln>
          </p:spPr>
          <p:txBody>
            <a:bodyPr wrap="none" lIns="0" tIns="0" rIns="0" bIns="0" anchor="t" anchorCtr="0">
              <a:spAutoFit/>
            </a:bodyPr>
            <a:lstStyle/>
            <a:p>
              <a:pPr algn="r"/>
              <a:r>
                <a:rPr lang="en-US" sz="940" b="1" dirty="0">
                  <a:solidFill>
                    <a:srgbClr val="57D9A3"/>
                  </a:solidFill>
                  <a:latin typeface="+mn-lt"/>
                  <a:ea typeface="+mn-ea"/>
                  <a:cs typeface="+mn-cs"/>
                </a:rPr>
                <a:t>truth</a:t>
              </a:r>
            </a:p>
          </p:txBody>
        </p:sp>
        <p:sp>
          <p:nvSpPr>
            <p:cNvPr id="19" name="TextBox 19"/>
            <p:cNvSpPr txBox="1"/>
            <p:nvPr/>
          </p:nvSpPr>
          <p:spPr>
            <a:xfrm>
              <a:off x="4305818" y="3289697"/>
              <a:ext cx="1471094" cy="183356"/>
            </a:xfrm>
            <a:prstGeom prst="rect">
              <a:avLst/>
            </a:prstGeom>
            <a:noFill/>
            <a:ln>
              <a:noFill/>
            </a:ln>
          </p:spPr>
          <p:txBody>
            <a:bodyPr wrap="none" lIns="0" tIns="0" rIns="0" bIns="0" anchor="t" anchorCtr="0">
              <a:spAutoFit/>
            </a:bodyPr>
            <a:lstStyle/>
            <a:p>
              <a:pPr algn="r"/>
              <a:r>
                <a:rPr lang="en-US" sz="940" b="1" dirty="0">
                  <a:solidFill>
                    <a:schemeClr val="accent2"/>
                  </a:solidFill>
                  <a:latin typeface="+mn-lt"/>
                  <a:ea typeface="+mn-ea"/>
                  <a:cs typeface="+mn-cs"/>
                </a:rPr>
                <a:t>reweighted generation</a:t>
              </a:r>
            </a:p>
          </p:txBody>
        </p:sp>
        <p:sp>
          <p:nvSpPr>
            <p:cNvPr id="20" name="TextBox 20"/>
            <p:cNvSpPr txBox="1"/>
            <p:nvPr/>
          </p:nvSpPr>
          <p:spPr>
            <a:xfrm>
              <a:off x="756856" y="4881801"/>
              <a:ext cx="4705699"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Same mean and variance — but the full distributions differ in the tails.</a:t>
              </a:r>
            </a:p>
          </p:txBody>
        </p:sp>
      </p:grpSp>
      <p:grpSp>
        <p:nvGrpSpPr>
          <p:cNvPr id="28" name="Group 28"/>
          <p:cNvGrpSpPr/>
          <p:nvPr/>
        </p:nvGrpSpPr>
        <p:grpSpPr>
          <a:xfrm>
            <a:off x="6438900" y="2286000"/>
            <a:ext cx="5219700" cy="1314450"/>
            <a:chOff x="6438900" y="2286000"/>
            <a:chExt cx="5219700" cy="1314450"/>
          </a:xfrm>
        </p:grpSpPr>
        <p:sp>
          <p:nvSpPr>
            <p:cNvPr id="22" name="Rectangle 22"/>
            <p:cNvSpPr/>
            <p:nvPr/>
          </p:nvSpPr>
          <p:spPr>
            <a:xfrm>
              <a:off x="6438900" y="2286000"/>
              <a:ext cx="5219700" cy="1314450"/>
            </a:xfrm>
            <a:prstGeom prst="roundRect">
              <a:avLst>
                <a:gd name="adj" fmla="val 10145"/>
              </a:avLst>
            </a:prstGeom>
            <a:solidFill>
              <a:schemeClr val="accent6"/>
            </a:solidFill>
            <a:ln w="12382">
              <a:solidFill>
                <a:srgbClr val="F7B84B"/>
              </a:solidFill>
            </a:ln>
          </p:spPr>
        </p:sp>
        <p:sp>
          <p:nvSpPr>
            <p:cNvPr id="23" name="Rectangle 23"/>
            <p:cNvSpPr/>
            <p:nvPr/>
          </p:nvSpPr>
          <p:spPr>
            <a:xfrm>
              <a:off x="6648450" y="2514600"/>
              <a:ext cx="47625" cy="285750"/>
            </a:xfrm>
            <a:prstGeom prst="roundRect">
              <a:avLst>
                <a:gd name="adj" fmla="val 50000"/>
              </a:avLst>
            </a:prstGeom>
            <a:solidFill>
              <a:srgbClr val="F7B84B"/>
            </a:solidFill>
            <a:ln>
              <a:noFill/>
            </a:ln>
          </p:spPr>
        </p:sp>
        <p:sp>
          <p:nvSpPr>
            <p:cNvPr id="24" name="TextBox 24"/>
            <p:cNvSpPr txBox="1"/>
            <p:nvPr/>
          </p:nvSpPr>
          <p:spPr>
            <a:xfrm>
              <a:off x="6832854" y="2575560"/>
              <a:ext cx="2341483" cy="234696"/>
            </a:xfrm>
            <a:prstGeom prst="rect">
              <a:avLst/>
            </a:prstGeom>
            <a:noFill/>
            <a:ln>
              <a:noFill/>
            </a:ln>
          </p:spPr>
          <p:txBody>
            <a:bodyPr wrap="none" lIns="0" tIns="0" rIns="0" bIns="0" anchor="t" anchorCtr="0">
              <a:spAutoFit/>
            </a:bodyPr>
            <a:lstStyle/>
            <a:p>
              <a:pPr algn="l"/>
              <a:r>
                <a:rPr lang="en-US" sz="1200" b="1" dirty="0">
                  <a:solidFill>
                    <a:schemeClr val="dk1"/>
                  </a:solidFill>
                  <a:latin typeface="+mn-lt"/>
                  <a:ea typeface="+mn-ea"/>
                  <a:cs typeface="+mn-cs"/>
                </a:rPr>
                <a:t>Higher moments still matter</a:t>
              </a:r>
            </a:p>
          </p:txBody>
        </p:sp>
        <p:sp>
          <p:nvSpPr>
            <p:cNvPr id="25" name="TextBox 25"/>
            <p:cNvSpPr txBox="1"/>
            <p:nvPr/>
          </p:nvSpPr>
          <p:spPr>
            <a:xfrm>
              <a:off x="6643116" y="2877502"/>
              <a:ext cx="2581029"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The reason is simple: higher moments</a:t>
              </a:r>
            </a:p>
          </p:txBody>
        </p:sp>
        <p:sp>
          <p:nvSpPr>
            <p:cNvPr id="26" name="TextBox 26"/>
            <p:cNvSpPr txBox="1"/>
            <p:nvPr/>
          </p:nvSpPr>
          <p:spPr>
            <a:xfrm>
              <a:off x="6643116" y="3077528"/>
              <a:ext cx="2618594"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remain relevant, and they were never</a:t>
              </a:r>
            </a:p>
          </p:txBody>
        </p:sp>
        <p:sp>
          <p:nvSpPr>
            <p:cNvPr id="27" name="TextBox 27"/>
            <p:cNvSpPr txBox="1"/>
            <p:nvPr/>
          </p:nvSpPr>
          <p:spPr>
            <a:xfrm>
              <a:off x="6643116" y="3277552"/>
              <a:ext cx="1113206"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part of the fit.</a:t>
              </a:r>
            </a:p>
          </p:txBody>
        </p:sp>
      </p:grpSp>
      <p:grpSp>
        <p:nvGrpSpPr>
          <p:cNvPr id="35" name="Group 35"/>
          <p:cNvGrpSpPr/>
          <p:nvPr/>
        </p:nvGrpSpPr>
        <p:grpSpPr>
          <a:xfrm>
            <a:off x="6438900" y="3790950"/>
            <a:ext cx="5219700" cy="1352550"/>
            <a:chOff x="6438900" y="3790950"/>
            <a:chExt cx="5219700" cy="1352550"/>
          </a:xfrm>
        </p:grpSpPr>
        <p:sp>
          <p:nvSpPr>
            <p:cNvPr id="29" name="Rectangle 29"/>
            <p:cNvSpPr/>
            <p:nvPr/>
          </p:nvSpPr>
          <p:spPr>
            <a:xfrm>
              <a:off x="6438900" y="3790950"/>
              <a:ext cx="5219700" cy="1352550"/>
            </a:xfrm>
            <a:prstGeom prst="roundRect">
              <a:avLst>
                <a:gd name="adj" fmla="val 9859"/>
              </a:avLst>
            </a:prstGeom>
            <a:solidFill>
              <a:schemeClr val="accent6"/>
            </a:solidFill>
            <a:ln w="12382">
              <a:solidFill>
                <a:srgbClr val="57D9A3"/>
              </a:solidFill>
            </a:ln>
          </p:spPr>
        </p:sp>
        <p:sp>
          <p:nvSpPr>
            <p:cNvPr id="30" name="Rectangle 30"/>
            <p:cNvSpPr/>
            <p:nvPr/>
          </p:nvSpPr>
          <p:spPr>
            <a:xfrm>
              <a:off x="6648450" y="4019550"/>
              <a:ext cx="47625" cy="285750"/>
            </a:xfrm>
            <a:prstGeom prst="roundRect">
              <a:avLst>
                <a:gd name="adj" fmla="val 50000"/>
              </a:avLst>
            </a:prstGeom>
            <a:solidFill>
              <a:srgbClr val="57D9A3"/>
            </a:solidFill>
            <a:ln>
              <a:noFill/>
            </a:ln>
          </p:spPr>
        </p:sp>
        <p:sp>
          <p:nvSpPr>
            <p:cNvPr id="31" name="TextBox 31"/>
            <p:cNvSpPr txBox="1"/>
            <p:nvPr/>
          </p:nvSpPr>
          <p:spPr>
            <a:xfrm>
              <a:off x="6832854" y="4080510"/>
              <a:ext cx="1672239" cy="234696"/>
            </a:xfrm>
            <a:prstGeom prst="rect">
              <a:avLst/>
            </a:prstGeom>
            <a:noFill/>
            <a:ln>
              <a:noFill/>
            </a:ln>
          </p:spPr>
          <p:txBody>
            <a:bodyPr wrap="none" lIns="0" tIns="0" rIns="0" bIns="0" anchor="t" anchorCtr="0">
              <a:spAutoFit/>
            </a:bodyPr>
            <a:lstStyle/>
            <a:p>
              <a:pPr algn="l"/>
              <a:r>
                <a:rPr lang="en-US" sz="1200" b="1" dirty="0">
                  <a:solidFill>
                    <a:srgbClr val="57D9A3"/>
                  </a:solidFill>
                  <a:latin typeface="+mn-lt"/>
                  <a:ea typeface="+mn-ea"/>
                  <a:cs typeface="+mn-cs"/>
                </a:rPr>
                <a:t>By design, not a bug</a:t>
              </a:r>
            </a:p>
          </p:txBody>
        </p:sp>
        <p:sp>
          <p:nvSpPr>
            <p:cNvPr id="32" name="TextBox 32"/>
            <p:cNvSpPr txBox="1"/>
            <p:nvPr/>
          </p:nvSpPr>
          <p:spPr>
            <a:xfrm>
              <a:off x="6643116" y="4382452"/>
              <a:ext cx="2326429"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Expected behavior: the technique</a:t>
              </a:r>
            </a:p>
          </p:txBody>
        </p:sp>
        <p:sp>
          <p:nvSpPr>
            <p:cNvPr id="33" name="TextBox 33"/>
            <p:cNvSpPr txBox="1"/>
            <p:nvPr/>
          </p:nvSpPr>
          <p:spPr>
            <a:xfrm>
              <a:off x="6643116" y="4582478"/>
              <a:ext cx="2660999"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deliberately controls the moments you</a:t>
              </a:r>
            </a:p>
          </p:txBody>
        </p:sp>
        <p:sp>
          <p:nvSpPr>
            <p:cNvPr id="34" name="TextBox 34"/>
            <p:cNvSpPr txBox="1"/>
            <p:nvPr/>
          </p:nvSpPr>
          <p:spPr>
            <a:xfrm>
              <a:off x="6643116" y="4782502"/>
              <a:ext cx="2328824"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ask for and leaves the rest free.</a:t>
              </a:r>
            </a:p>
          </p:txBody>
        </p:sp>
      </p:grpSp>
      <p:sp>
        <p:nvSpPr>
          <p:cNvPr id="36" name="cue_s08_c1_one_instructive_observation_concerns" title="cue_s08_c1_one_instructive_observation_concerns" descr="cue_s08_c1_one_instructive_observation_concerns One instructive observation concerns the limits of unfolding only a couple of moments."/>
          <p:cNvSpPr/>
          <p:nvPr/>
        </p:nvSpPr>
        <p:spPr>
          <a:xfrm>
            <a:off x="532790" y="1523847"/>
            <a:ext cx="11125200" cy="55275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cue_s08_c2_after_moment_unfolding_matches_first" title="cue_s08_c2_after_moment_unfolding_matches_first" descr="cue_s08_c2_after_moment_unfolding_matches_first After Moment Unfolding matches the first and second moments of the jet width, the full distributions of truth and reweighted generation still are not statistically identical."/>
          <p:cNvSpPr/>
          <p:nvPr/>
        </p:nvSpPr>
        <p:spPr>
          <a:xfrm>
            <a:off x="532790" y="2285771"/>
            <a:ext cx="5676595" cy="28577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cue_s08_c3_reason_simply_higher_moments_remain" title="cue_s08_c3_reason_simply_higher_moments_remain" descr="cue_s08_c3_reason_simply_higher_moments_remain The reason is simply that higher moments remain relevant and were not part of the fit."/>
          <p:cNvSpPr/>
          <p:nvPr/>
        </p:nvSpPr>
        <p:spPr>
          <a:xfrm>
            <a:off x="6438595" y="2285771"/>
            <a:ext cx="5219395" cy="131467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cue_s08_c4_expected_behavior_clarifies_techniqu" title="cue_s08_c4_expected_behavior_clarifies_techniqu" descr="cue_s08_c4_expected_behavior_clarifies_techniqu This is expected behavior, and it clarifies that the technique deliberately controls the specific moments you ask for, leaving the rest free."/>
          <p:cNvSpPr/>
          <p:nvPr/>
        </p:nvSpPr>
        <p:spPr>
          <a:xfrm>
            <a:off x="6438595" y="3791102"/>
            <a:ext cx="5219395" cy="135239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gradFill>
            <a:gsLst>
              <a:gs pos="0">
                <a:schemeClr val="lt2">
                  <a:alpha val="90000"/>
                </a:schemeClr>
              </a:gs>
              <a:gs pos="60000">
                <a:schemeClr val="lt1">
                  <a:alpha val="0"/>
                </a:schemeClr>
              </a:gs>
            </a:gsLst>
            <a:path path="circle">
              <a:fillToRect l="50000" t="50000" r="50000" b="50000"/>
            </a:path>
          </a:gradFill>
          <a:ln>
            <a:noFill/>
          </a:ln>
        </p:spPr>
        <p:txBody>
          <a:bodyPr/>
          <a:p/>
        </p:txBody>
      </p:sp>
      <p:sp>
        <p:nvSpPr>
          <p:cNvPr id="3" name="Rectangle 3"/>
          <p:cNvSpPr/>
          <p:nvPr/>
        </p:nvSpPr>
        <p:spPr>
          <a:xfrm>
            <a:off x="533400" y="476250"/>
            <a:ext cx="57150" cy="209550"/>
          </a:xfrm>
          <a:prstGeom prst="roundRect">
            <a:avLst>
              <a:gd name="adj" fmla="val 41667"/>
            </a:avLst>
          </a:prstGeom>
          <a:solidFill>
            <a:schemeClr val="accent2"/>
          </a:solidFill>
          <a:ln>
            <a:noFill/>
          </a:ln>
        </p:spPr>
        <p:txBody>
          <a:bodyPr/>
          <a:p/>
        </p:txBody>
      </p:sp>
      <p:sp>
        <p:nvSpPr>
          <p:cNvPr id="4" name="TextBox 4"/>
          <p:cNvSpPr txBox="1"/>
          <p:nvPr/>
        </p:nvSpPr>
        <p:spPr>
          <a:xfrm>
            <a:off x="699135" y="526256"/>
            <a:ext cx="1665311" cy="220028"/>
          </a:xfrm>
          <a:prstGeom prst="rect">
            <a:avLst/>
          </a:prstGeom>
          <a:noFill/>
          <a:ln>
            <a:noFill/>
          </a:ln>
        </p:spPr>
        <p:txBody>
          <a:bodyPr wrap="none" lIns="0" tIns="0" rIns="0" bIns="0" anchor="t" anchorCtr="0">
            <a:spAutoFit/>
          </a:bodyPr>
          <a:lstStyle/>
          <a:p>
            <a:pPr algn="l"/>
            <a:r>
              <a:rPr lang="en-US" sz="1120" b="1" spc="225" dirty="0">
                <a:solidFill>
                  <a:schemeClr val="accent2"/>
                </a:solidFill>
                <a:latin typeface="+mn-lt"/>
                <a:ea typeface="+mn-ea"/>
                <a:cs typeface="+mn-cs"/>
              </a:rPr>
              <a:t>BY THE NUMBERS</a:t>
            </a:r>
          </a:p>
        </p:txBody>
      </p:sp>
      <p:sp>
        <p:nvSpPr>
          <p:cNvPr id="5" name="TextBox 5"/>
          <p:cNvSpPr txBox="1"/>
          <p:nvPr/>
        </p:nvSpPr>
        <p:spPr>
          <a:xfrm>
            <a:off x="518160" y="781050"/>
            <a:ext cx="6215003" cy="586740"/>
          </a:xfrm>
          <a:prstGeom prst="rect">
            <a:avLst/>
          </a:prstGeom>
          <a:noFill/>
          <a:ln>
            <a:noFill/>
          </a:ln>
        </p:spPr>
        <p:txBody>
          <a:bodyPr wrap="none" lIns="0" tIns="0" rIns="0" bIns="0" anchor="t" anchorCtr="0">
            <a:spAutoFit/>
          </a:bodyPr>
          <a:lstStyle/>
          <a:p>
            <a:pPr algn="l"/>
            <a:r>
              <a:rPr lang="en-US" sz="3000" b="1" dirty="0">
                <a:solidFill>
                  <a:schemeClr val="dk1"/>
                </a:solidFill>
                <a:latin typeface="+mn-lt"/>
                <a:ea typeface="+mn-ea"/>
                <a:cs typeface="+mn-cs"/>
              </a:rPr>
              <a:t>The results that matter most</a:t>
            </a:r>
          </a:p>
        </p:txBody>
      </p:sp>
      <p:sp>
        <p:nvSpPr>
          <p:cNvPr id="6" name="TextBox 6"/>
          <p:cNvSpPr txBox="1"/>
          <p:nvPr/>
        </p:nvSpPr>
        <p:spPr>
          <a:xfrm>
            <a:off x="11095485" y="534352"/>
            <a:ext cx="568449" cy="205359"/>
          </a:xfrm>
          <a:prstGeom prst="rect">
            <a:avLst/>
          </a:prstGeom>
          <a:noFill/>
          <a:ln>
            <a:noFill/>
          </a:ln>
        </p:spPr>
        <p:txBody>
          <a:bodyPr wrap="none" lIns="0" tIns="0" rIns="0" bIns="0" anchor="t" anchorCtr="0">
            <a:spAutoFit/>
          </a:bodyPr>
          <a:lstStyle/>
          <a:p>
            <a:pPr algn="r"/>
            <a:r>
              <a:rPr lang="en-US" sz="1050" b="1" spc="75" dirty="0">
                <a:solidFill>
                  <a:srgbClr val="6E85AC"/>
                </a:solidFill>
                <a:latin typeface="Consolas"/>
                <a:ea typeface="Consolas"/>
                <a:cs typeface="Consolas"/>
              </a:rPr>
              <a:t>09 / 10</a:t>
            </a:r>
          </a:p>
        </p:txBody>
      </p:sp>
      <p:sp>
        <p:nvSpPr>
          <p:cNvPr id="7" name="Line 7"/>
          <p:cNvSpPr/>
          <p:nvPr/>
        </p:nvSpPr>
        <p:spPr>
          <a:xfrm>
            <a:off x="533400" y="1314450"/>
            <a:ext cx="11125200" cy="9525"/>
          </a:xfrm>
          <a:custGeom>
            <a:avLst/>
            <a:gdLst/>
            <a:ahLst/>
            <a:cxnLst/>
            <a:rect l="l" t="t" r="r" b="b"/>
            <a:pathLst>
              <a:path w="11125200" h="9525">
                <a:moveTo>
                  <a:pt x="0" y="0"/>
                </a:moveTo>
                <a:lnTo>
                  <a:pt x="11125200" y="0"/>
                </a:lnTo>
              </a:path>
            </a:pathLst>
          </a:custGeom>
          <a:noFill/>
          <a:ln w="11430">
            <a:solidFill>
              <a:schemeClr val="accent4"/>
            </a:solidFill>
          </a:ln>
        </p:spPr>
        <p:txBody>
          <a:bodyPr/>
          <a:p/>
        </p:txBody>
      </p:sp>
      <p:grpSp>
        <p:nvGrpSpPr>
          <p:cNvPr id="11" name="Group 11"/>
          <p:cNvGrpSpPr/>
          <p:nvPr/>
        </p:nvGrpSpPr>
        <p:grpSpPr>
          <a:xfrm>
            <a:off x="533400" y="1524000"/>
            <a:ext cx="11125200" cy="457200"/>
            <a:chOff x="533400" y="1524000"/>
            <a:chExt cx="11125200" cy="457200"/>
          </a:xfrm>
        </p:grpSpPr>
        <p:sp>
          <p:nvSpPr>
            <p:cNvPr id="8" name="Rectangle 8"/>
            <p:cNvSpPr/>
            <p:nvPr/>
          </p:nvSpPr>
          <p:spPr>
            <a:xfrm>
              <a:off x="533400" y="1524000"/>
              <a:ext cx="11125200" cy="457200"/>
            </a:xfrm>
            <a:prstGeom prst="roundRect">
              <a:avLst>
                <a:gd name="adj" fmla="val 29167"/>
              </a:avLst>
            </a:prstGeom>
            <a:solidFill>
              <a:schemeClr val="accent5"/>
            </a:solidFill>
            <a:ln w="11430">
              <a:solidFill>
                <a:schemeClr val="accent4"/>
              </a:solidFill>
            </a:ln>
          </p:spPr>
        </p:sp>
        <p:sp>
          <p:nvSpPr>
            <p:cNvPr id="9" name="Rectangle 9"/>
            <p:cNvSpPr/>
            <p:nvPr/>
          </p:nvSpPr>
          <p:spPr>
            <a:xfrm>
              <a:off x="723900" y="1638300"/>
              <a:ext cx="47625" cy="228600"/>
            </a:xfrm>
            <a:prstGeom prst="roundRect">
              <a:avLst>
                <a:gd name="adj" fmla="val 50000"/>
              </a:avLst>
            </a:prstGeom>
            <a:solidFill>
              <a:srgbClr val="F7B84B"/>
            </a:solidFill>
            <a:ln>
              <a:noFill/>
            </a:ln>
          </p:spPr>
        </p:sp>
        <p:sp>
          <p:nvSpPr>
            <p:cNvPr id="10" name="TextBox 10"/>
            <p:cNvSpPr txBox="1"/>
            <p:nvPr/>
          </p:nvSpPr>
          <p:spPr>
            <a:xfrm>
              <a:off x="907542" y="1683068"/>
              <a:ext cx="3207155" cy="264033"/>
            </a:xfrm>
            <a:prstGeom prst="rect">
              <a:avLst/>
            </a:prstGeom>
            <a:noFill/>
            <a:ln>
              <a:noFill/>
            </a:ln>
          </p:spPr>
          <p:txBody>
            <a:bodyPr wrap="none" lIns="0" tIns="0" rIns="0" bIns="0" anchor="t" anchorCtr="0">
              <a:spAutoFit/>
            </a:bodyPr>
            <a:lstStyle/>
            <a:p>
              <a:pPr algn="l"/>
              <a:r>
                <a:rPr lang="en-US" sz="1350" b="1" dirty="0">
                  <a:solidFill>
                    <a:schemeClr val="dk1"/>
                  </a:solidFill>
                  <a:latin typeface="+mn-lt"/>
                  <a:ea typeface="+mn-ea"/>
                  <a:cs typeface="+mn-cs"/>
                </a:rPr>
                <a:t>A few numbers capture the impact</a:t>
              </a:r>
            </a:p>
          </p:txBody>
        </p:sp>
      </p:grpSp>
      <p:grpSp>
        <p:nvGrpSpPr>
          <p:cNvPr id="17" name="Group 17"/>
          <p:cNvGrpSpPr/>
          <p:nvPr/>
        </p:nvGrpSpPr>
        <p:grpSpPr>
          <a:xfrm>
            <a:off x="533400" y="2152650"/>
            <a:ext cx="3556000" cy="1676400"/>
            <a:chOff x="533400" y="2152650"/>
            <a:chExt cx="3556000" cy="1676400"/>
          </a:xfrm>
        </p:grpSpPr>
        <p:sp>
          <p:nvSpPr>
            <p:cNvPr id="12" name="Rectangle 12"/>
            <p:cNvSpPr/>
            <p:nvPr/>
          </p:nvSpPr>
          <p:spPr>
            <a:xfrm>
              <a:off x="533400" y="2152650"/>
              <a:ext cx="3556000" cy="1676400"/>
            </a:xfrm>
            <a:prstGeom prst="roundRect">
              <a:avLst>
                <a:gd name="adj" fmla="val 7955"/>
              </a:avLst>
            </a:prstGeom>
            <a:solidFill>
              <a:schemeClr val="accent6"/>
            </a:solidFill>
            <a:ln w="12382">
              <a:solidFill>
                <a:srgbClr val="57D9A3"/>
              </a:solidFill>
            </a:ln>
          </p:spPr>
        </p:sp>
        <p:sp>
          <p:nvSpPr>
            <p:cNvPr id="13" name="Rectangle 13"/>
            <p:cNvSpPr/>
            <p:nvPr/>
          </p:nvSpPr>
          <p:spPr>
            <a:xfrm>
              <a:off x="762000" y="2381250"/>
              <a:ext cx="47625" cy="247650"/>
            </a:xfrm>
            <a:prstGeom prst="roundRect">
              <a:avLst>
                <a:gd name="adj" fmla="val 50000"/>
              </a:avLst>
            </a:prstGeom>
            <a:solidFill>
              <a:srgbClr val="57D9A3"/>
            </a:solidFill>
            <a:ln>
              <a:noFill/>
            </a:ln>
          </p:spPr>
        </p:sp>
        <p:sp>
          <p:nvSpPr>
            <p:cNvPr id="14" name="TextBox 14"/>
            <p:cNvSpPr txBox="1"/>
            <p:nvPr/>
          </p:nvSpPr>
          <p:spPr>
            <a:xfrm>
              <a:off x="1447954" y="2706052"/>
              <a:ext cx="1726891" cy="790575"/>
            </a:xfrm>
            <a:prstGeom prst="rect">
              <a:avLst/>
            </a:prstGeom>
            <a:noFill/>
            <a:ln>
              <a:noFill/>
            </a:ln>
          </p:spPr>
          <p:txBody>
            <a:bodyPr wrap="none" lIns="0" tIns="0" rIns="0" bIns="0" anchor="t" anchorCtr="0">
              <a:spAutoFit/>
            </a:bodyPr>
            <a:lstStyle/>
            <a:p>
              <a:pPr algn="ctr"/>
              <a:r>
                <a:rPr lang="en-US" sz="4050" b="1" dirty="0">
                  <a:solidFill>
                    <a:srgbClr val="57D9A3"/>
                  </a:solidFill>
                  <a:latin typeface="+mn-lt"/>
                  <a:ea typeface="+mn-ea"/>
                  <a:cs typeface="+mn-cs"/>
                </a:rPr>
                <a:t>0.02%</a:t>
              </a:r>
            </a:p>
          </p:txBody>
        </p:sp>
        <p:sp>
          <p:nvSpPr>
            <p:cNvPr id="15" name="TextBox 15"/>
            <p:cNvSpPr txBox="1"/>
            <p:nvPr/>
          </p:nvSpPr>
          <p:spPr>
            <a:xfrm>
              <a:off x="1465679" y="3337560"/>
              <a:ext cx="1691442" cy="234696"/>
            </a:xfrm>
            <a:prstGeom prst="rect">
              <a:avLst/>
            </a:prstGeom>
            <a:noFill/>
            <a:ln>
              <a:noFill/>
            </a:ln>
          </p:spPr>
          <p:txBody>
            <a:bodyPr wrap="none" lIns="0" tIns="0" rIns="0" bIns="0" anchor="t" anchorCtr="0">
              <a:spAutoFit/>
            </a:bodyPr>
            <a:lstStyle/>
            <a:p>
              <a:pPr algn="ctr"/>
              <a:r>
                <a:rPr lang="en-US" sz="1200" b="1" dirty="0">
                  <a:solidFill>
                    <a:schemeClr val="dk1"/>
                  </a:solidFill>
                  <a:latin typeface="+mn-lt"/>
                  <a:ea typeface="+mn-ea"/>
                  <a:cs typeface="+mn-cs"/>
                </a:rPr>
                <a:t>mean absolute error</a:t>
              </a:r>
            </a:p>
          </p:txBody>
        </p:sp>
        <p:sp>
          <p:nvSpPr>
            <p:cNvPr id="16" name="TextBox 16"/>
            <p:cNvSpPr txBox="1"/>
            <p:nvPr/>
          </p:nvSpPr>
          <p:spPr>
            <a:xfrm>
              <a:off x="1474619" y="3594497"/>
              <a:ext cx="1673563" cy="183356"/>
            </a:xfrm>
            <a:prstGeom prst="rect">
              <a:avLst/>
            </a:prstGeom>
            <a:noFill/>
            <a:ln>
              <a:noFill/>
            </a:ln>
          </p:spPr>
          <p:txBody>
            <a:bodyPr wrap="none" lIns="0" tIns="0" rIns="0" bIns="0" anchor="t" anchorCtr="0">
              <a:spAutoFit/>
            </a:bodyPr>
            <a:lstStyle/>
            <a:p>
              <a:pPr algn="ctr"/>
              <a:r>
                <a:rPr lang="en-US" sz="940" dirty="0">
                  <a:solidFill>
                    <a:schemeClr val="dk2"/>
                  </a:solidFill>
                  <a:latin typeface="+mn-lt"/>
                  <a:ea typeface="+mn-ea"/>
                  <a:cs typeface="+mn-cs"/>
                </a:rPr>
                <a:t>unfolded vs. true moments</a:t>
              </a:r>
            </a:p>
          </p:txBody>
        </p:sp>
      </p:grpSp>
      <p:grpSp>
        <p:nvGrpSpPr>
          <p:cNvPr id="28" name="Group 28"/>
          <p:cNvGrpSpPr/>
          <p:nvPr/>
        </p:nvGrpSpPr>
        <p:grpSpPr>
          <a:xfrm>
            <a:off x="4318000" y="2152650"/>
            <a:ext cx="7340600" cy="1676400"/>
            <a:chOff x="4318000" y="2152650"/>
            <a:chExt cx="7340600" cy="1676400"/>
          </a:xfrm>
        </p:grpSpPr>
        <p:sp>
          <p:nvSpPr>
            <p:cNvPr id="18" name="Rectangle 18"/>
            <p:cNvSpPr/>
            <p:nvPr/>
          </p:nvSpPr>
          <p:spPr>
            <a:xfrm>
              <a:off x="4318000" y="2152650"/>
              <a:ext cx="3556000" cy="1676400"/>
            </a:xfrm>
            <a:prstGeom prst="roundRect">
              <a:avLst>
                <a:gd name="adj" fmla="val 7955"/>
              </a:avLst>
            </a:prstGeom>
            <a:solidFill>
              <a:schemeClr val="accent5"/>
            </a:solidFill>
            <a:ln w="11430">
              <a:solidFill>
                <a:schemeClr val="accent4"/>
              </a:solidFill>
            </a:ln>
          </p:spPr>
        </p:sp>
        <p:sp>
          <p:nvSpPr>
            <p:cNvPr id="19" name="Rectangle 19"/>
            <p:cNvSpPr/>
            <p:nvPr/>
          </p:nvSpPr>
          <p:spPr>
            <a:xfrm>
              <a:off x="4546600" y="2381250"/>
              <a:ext cx="47625" cy="247650"/>
            </a:xfrm>
            <a:prstGeom prst="roundRect">
              <a:avLst>
                <a:gd name="adj" fmla="val 50000"/>
              </a:avLst>
            </a:prstGeom>
            <a:solidFill>
              <a:schemeClr val="accent2"/>
            </a:solidFill>
            <a:ln>
              <a:noFill/>
            </a:ln>
          </p:spPr>
        </p:sp>
        <p:sp>
          <p:nvSpPr>
            <p:cNvPr id="20" name="TextBox 20"/>
            <p:cNvSpPr txBox="1"/>
            <p:nvPr/>
          </p:nvSpPr>
          <p:spPr>
            <a:xfrm>
              <a:off x="5913690" y="2689860"/>
              <a:ext cx="364621" cy="819150"/>
            </a:xfrm>
            <a:prstGeom prst="rect">
              <a:avLst/>
            </a:prstGeom>
            <a:noFill/>
            <a:ln>
              <a:noFill/>
            </a:ln>
          </p:spPr>
          <p:txBody>
            <a:bodyPr wrap="none" lIns="0" tIns="0" rIns="0" bIns="0" anchor="t" anchorCtr="0">
              <a:spAutoFit/>
            </a:bodyPr>
            <a:lstStyle/>
            <a:p>
              <a:pPr algn="ctr"/>
              <a:r>
                <a:rPr lang="en-US" sz="4200" b="1" dirty="0">
                  <a:solidFill>
                    <a:schemeClr val="accent2"/>
                  </a:solidFill>
                  <a:latin typeface="+mn-lt"/>
                  <a:ea typeface="+mn-ea"/>
                  <a:cs typeface="+mn-cs"/>
                </a:rPr>
                <a:t>2</a:t>
              </a:r>
            </a:p>
          </p:txBody>
        </p:sp>
        <p:sp>
          <p:nvSpPr>
            <p:cNvPr id="21" name="TextBox 21"/>
            <p:cNvSpPr txBox="1"/>
            <p:nvPr/>
          </p:nvSpPr>
          <p:spPr>
            <a:xfrm>
              <a:off x="5021290" y="3337560"/>
              <a:ext cx="2149419" cy="234696"/>
            </a:xfrm>
            <a:prstGeom prst="rect">
              <a:avLst/>
            </a:prstGeom>
            <a:noFill/>
            <a:ln>
              <a:noFill/>
            </a:ln>
          </p:spPr>
          <p:txBody>
            <a:bodyPr wrap="none" lIns="0" tIns="0" rIns="0" bIns="0" anchor="t" anchorCtr="0">
              <a:spAutoFit/>
            </a:bodyPr>
            <a:lstStyle/>
            <a:p>
              <a:pPr algn="ctr"/>
              <a:r>
                <a:rPr lang="en-US" sz="1200" b="1" dirty="0">
                  <a:solidFill>
                    <a:schemeClr val="dk1"/>
                  </a:solidFill>
                  <a:latin typeface="+mn-lt"/>
                  <a:ea typeface="+mn-ea"/>
                  <a:cs typeface="+mn-cs"/>
                </a:rPr>
                <a:t>moments unfolded at once</a:t>
              </a:r>
            </a:p>
          </p:txBody>
        </p:sp>
        <p:sp>
          <p:nvSpPr>
            <p:cNvPr id="22" name="TextBox 22"/>
            <p:cNvSpPr txBox="1"/>
            <p:nvPr/>
          </p:nvSpPr>
          <p:spPr>
            <a:xfrm>
              <a:off x="5300345" y="3594497"/>
              <a:ext cx="1591310" cy="183356"/>
            </a:xfrm>
            <a:prstGeom prst="rect">
              <a:avLst/>
            </a:prstGeom>
            <a:noFill/>
            <a:ln>
              <a:noFill/>
            </a:ln>
          </p:spPr>
          <p:txBody>
            <a:bodyPr wrap="none" lIns="0" tIns="0" rIns="0" bIns="0" anchor="t" anchorCtr="0">
              <a:spAutoFit/>
            </a:bodyPr>
            <a:lstStyle/>
            <a:p>
              <a:pPr algn="ctr"/>
              <a:r>
                <a:rPr lang="en-US" sz="940" dirty="0">
                  <a:solidFill>
                    <a:schemeClr val="dk2"/>
                  </a:solidFill>
                  <a:latin typeface="+mn-lt"/>
                  <a:ea typeface="+mn-ea"/>
                  <a:cs typeface="+mn-cs"/>
                </a:rPr>
                <a:t>1st + 2nd of the jet width</a:t>
              </a:r>
            </a:p>
          </p:txBody>
        </p:sp>
        <p:sp>
          <p:nvSpPr>
            <p:cNvPr id="23" name="Rectangle 23"/>
            <p:cNvSpPr/>
            <p:nvPr/>
          </p:nvSpPr>
          <p:spPr>
            <a:xfrm>
              <a:off x="8102600" y="2152650"/>
              <a:ext cx="3556000" cy="1676400"/>
            </a:xfrm>
            <a:prstGeom prst="roundRect">
              <a:avLst>
                <a:gd name="adj" fmla="val 7955"/>
              </a:avLst>
            </a:prstGeom>
            <a:solidFill>
              <a:schemeClr val="accent5"/>
            </a:solidFill>
            <a:ln w="11430">
              <a:solidFill>
                <a:schemeClr val="accent4"/>
              </a:solidFill>
            </a:ln>
          </p:spPr>
        </p:sp>
        <p:sp>
          <p:nvSpPr>
            <p:cNvPr id="24" name="Rectangle 24"/>
            <p:cNvSpPr/>
            <p:nvPr/>
          </p:nvSpPr>
          <p:spPr>
            <a:xfrm>
              <a:off x="8331200" y="2381250"/>
              <a:ext cx="47625" cy="247650"/>
            </a:xfrm>
            <a:prstGeom prst="roundRect">
              <a:avLst>
                <a:gd name="adj" fmla="val 50000"/>
              </a:avLst>
            </a:prstGeom>
            <a:solidFill>
              <a:srgbClr val="37DCC0"/>
            </a:solidFill>
            <a:ln>
              <a:noFill/>
            </a:ln>
          </p:spPr>
        </p:sp>
        <p:sp>
          <p:nvSpPr>
            <p:cNvPr id="25" name="TextBox 25"/>
            <p:cNvSpPr txBox="1"/>
            <p:nvPr/>
          </p:nvSpPr>
          <p:spPr>
            <a:xfrm>
              <a:off x="9535029" y="2689860"/>
              <a:ext cx="691142" cy="819150"/>
            </a:xfrm>
            <a:prstGeom prst="rect">
              <a:avLst/>
            </a:prstGeom>
            <a:noFill/>
            <a:ln>
              <a:noFill/>
            </a:ln>
          </p:spPr>
          <p:txBody>
            <a:bodyPr wrap="none" lIns="0" tIns="0" rIns="0" bIns="0" anchor="t" anchorCtr="0">
              <a:spAutoFit/>
            </a:bodyPr>
            <a:lstStyle/>
            <a:p>
              <a:pPr algn="ctr"/>
              <a:r>
                <a:rPr lang="en-US" sz="4200" b="1" dirty="0">
                  <a:solidFill>
                    <a:srgbClr val="37DCC0"/>
                  </a:solidFill>
                  <a:latin typeface="+mn-lt"/>
                  <a:ea typeface="+mn-ea"/>
                  <a:cs typeface="+mn-cs"/>
                </a:rPr>
                <a:t>10</a:t>
              </a:r>
            </a:p>
          </p:txBody>
        </p:sp>
        <p:sp>
          <p:nvSpPr>
            <p:cNvPr id="26" name="TextBox 26"/>
            <p:cNvSpPr txBox="1"/>
            <p:nvPr/>
          </p:nvSpPr>
          <p:spPr>
            <a:xfrm>
              <a:off x="9077284" y="3337560"/>
              <a:ext cx="1606631" cy="234696"/>
            </a:xfrm>
            <a:prstGeom prst="rect">
              <a:avLst/>
            </a:prstGeom>
            <a:noFill/>
            <a:ln>
              <a:noFill/>
            </a:ln>
          </p:spPr>
          <p:txBody>
            <a:bodyPr wrap="none" lIns="0" tIns="0" rIns="0" bIns="0" anchor="t" anchorCtr="0">
              <a:spAutoFit/>
            </a:bodyPr>
            <a:lstStyle/>
            <a:p>
              <a:pPr algn="ctr"/>
              <a:r>
                <a:rPr lang="en-US" sz="1200" b="1" dirty="0">
                  <a:solidFill>
                    <a:schemeClr val="dk1"/>
                  </a:solidFill>
                  <a:latin typeface="+mn-lt"/>
                  <a:ea typeface="+mn-ea"/>
                  <a:cs typeface="+mn-cs"/>
                </a:rPr>
                <a:t>epochs to converge</a:t>
              </a:r>
            </a:p>
          </p:txBody>
        </p:sp>
        <p:sp>
          <p:nvSpPr>
            <p:cNvPr id="27" name="TextBox 27"/>
            <p:cNvSpPr txBox="1"/>
            <p:nvPr/>
          </p:nvSpPr>
          <p:spPr>
            <a:xfrm>
              <a:off x="9056473" y="3594497"/>
              <a:ext cx="1648254" cy="183356"/>
            </a:xfrm>
            <a:prstGeom prst="rect">
              <a:avLst/>
            </a:prstGeom>
            <a:noFill/>
            <a:ln>
              <a:noFill/>
            </a:ln>
          </p:spPr>
          <p:txBody>
            <a:bodyPr wrap="none" lIns="0" tIns="0" rIns="0" bIns="0" anchor="t" anchorCtr="0">
              <a:spAutoFit/>
            </a:bodyPr>
            <a:lstStyle/>
            <a:p>
              <a:pPr algn="ctr"/>
              <a:r>
                <a:rPr lang="en-US" sz="940" dirty="0">
                  <a:solidFill>
                    <a:schemeClr val="dk2"/>
                  </a:solidFill>
                  <a:latin typeface="+mn-lt"/>
                  <a:ea typeface="+mn-ea"/>
                  <a:cs typeface="+mn-cs"/>
                </a:rPr>
                <a:t>discriminator convergence</a:t>
              </a:r>
            </a:p>
          </p:txBody>
        </p:sp>
      </p:grpSp>
      <p:grpSp>
        <p:nvGrpSpPr>
          <p:cNvPr id="37" name="Group 37"/>
          <p:cNvGrpSpPr/>
          <p:nvPr/>
        </p:nvGrpSpPr>
        <p:grpSpPr>
          <a:xfrm>
            <a:off x="533400" y="4038600"/>
            <a:ext cx="11125200" cy="1219200"/>
            <a:chOff x="533400" y="4038600"/>
            <a:chExt cx="11125200" cy="1219200"/>
          </a:xfrm>
        </p:grpSpPr>
        <p:sp>
          <p:nvSpPr>
            <p:cNvPr id="29" name="Rectangle 29"/>
            <p:cNvSpPr/>
            <p:nvPr/>
          </p:nvSpPr>
          <p:spPr>
            <a:xfrm>
              <a:off x="533400" y="4038600"/>
              <a:ext cx="5448300" cy="1219200"/>
            </a:xfrm>
            <a:prstGeom prst="roundRect">
              <a:avLst>
                <a:gd name="adj" fmla="val 10938"/>
              </a:avLst>
            </a:prstGeom>
            <a:solidFill>
              <a:schemeClr val="accent6"/>
            </a:solidFill>
            <a:ln w="12382">
              <a:solidFill>
                <a:schemeClr val="accent2"/>
              </a:solidFill>
            </a:ln>
          </p:spPr>
        </p:sp>
        <p:sp>
          <p:nvSpPr>
            <p:cNvPr id="30" name="TextBox 30"/>
            <p:cNvSpPr txBox="1"/>
            <p:nvPr/>
          </p:nvSpPr>
          <p:spPr>
            <a:xfrm>
              <a:off x="800862" y="4392930"/>
              <a:ext cx="735543" cy="704088"/>
            </a:xfrm>
            <a:prstGeom prst="rect">
              <a:avLst/>
            </a:prstGeom>
            <a:noFill/>
            <a:ln>
              <a:noFill/>
            </a:ln>
          </p:spPr>
          <p:txBody>
            <a:bodyPr wrap="none" lIns="0" tIns="0" rIns="0" bIns="0" anchor="t" anchorCtr="0">
              <a:spAutoFit/>
            </a:bodyPr>
            <a:lstStyle/>
            <a:p>
              <a:pPr algn="l"/>
              <a:r>
                <a:rPr lang="en-US" sz="3600" b="1" dirty="0">
                  <a:solidFill>
                    <a:schemeClr val="accent2"/>
                  </a:solidFill>
                  <a:latin typeface="+mn-lt"/>
                  <a:ea typeface="+mn-ea"/>
                  <a:cs typeface="+mn-cs"/>
                </a:rPr>
                <a:t>1M</a:t>
              </a:r>
            </a:p>
          </p:txBody>
        </p:sp>
        <p:sp>
          <p:nvSpPr>
            <p:cNvPr id="31" name="TextBox 31"/>
            <p:cNvSpPr txBox="1"/>
            <p:nvPr/>
          </p:nvSpPr>
          <p:spPr>
            <a:xfrm>
              <a:off x="1860804" y="4537710"/>
              <a:ext cx="1416848" cy="234696"/>
            </a:xfrm>
            <a:prstGeom prst="rect">
              <a:avLst/>
            </a:prstGeom>
            <a:noFill/>
            <a:ln>
              <a:noFill/>
            </a:ln>
          </p:spPr>
          <p:txBody>
            <a:bodyPr wrap="none" lIns="0" tIns="0" rIns="0" bIns="0" anchor="t" anchorCtr="0">
              <a:spAutoFit/>
            </a:bodyPr>
            <a:lstStyle/>
            <a:p>
              <a:pPr algn="l"/>
              <a:r>
                <a:rPr lang="en-US" sz="1200" b="1" dirty="0">
                  <a:solidFill>
                    <a:schemeClr val="dk1"/>
                  </a:solidFill>
                  <a:latin typeface="+mn-lt"/>
                  <a:ea typeface="+mn-ea"/>
                  <a:cs typeface="+mn-cs"/>
                </a:rPr>
                <a:t>Gaussian samples</a:t>
              </a:r>
            </a:p>
          </p:txBody>
        </p:sp>
        <p:sp>
          <p:nvSpPr>
            <p:cNvPr id="32" name="TextBox 32"/>
            <p:cNvSpPr txBox="1"/>
            <p:nvPr/>
          </p:nvSpPr>
          <p:spPr>
            <a:xfrm>
              <a:off x="1861756" y="4786551"/>
              <a:ext cx="1499117"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3 : 1 train / test split</a:t>
              </a:r>
            </a:p>
          </p:txBody>
        </p:sp>
        <p:sp>
          <p:nvSpPr>
            <p:cNvPr id="33" name="Rectangle 33"/>
            <p:cNvSpPr/>
            <p:nvPr/>
          </p:nvSpPr>
          <p:spPr>
            <a:xfrm>
              <a:off x="6210300" y="4038600"/>
              <a:ext cx="5448300" cy="1219200"/>
            </a:xfrm>
            <a:prstGeom prst="roundRect">
              <a:avLst>
                <a:gd name="adj" fmla="val 10938"/>
              </a:avLst>
            </a:prstGeom>
            <a:solidFill>
              <a:schemeClr val="accent6"/>
            </a:solidFill>
            <a:ln w="12382">
              <a:solidFill>
                <a:srgbClr val="F7B84B"/>
              </a:solidFill>
            </a:ln>
          </p:spPr>
        </p:sp>
        <p:sp>
          <p:nvSpPr>
            <p:cNvPr id="34" name="TextBox 34"/>
            <p:cNvSpPr txBox="1"/>
            <p:nvPr/>
          </p:nvSpPr>
          <p:spPr>
            <a:xfrm>
              <a:off x="6479286" y="4425315"/>
              <a:ext cx="1572840" cy="645414"/>
            </a:xfrm>
            <a:prstGeom prst="rect">
              <a:avLst/>
            </a:prstGeom>
            <a:noFill/>
            <a:ln>
              <a:noFill/>
            </a:ln>
          </p:spPr>
          <p:txBody>
            <a:bodyPr wrap="none" lIns="0" tIns="0" rIns="0" bIns="0" anchor="t" anchorCtr="0">
              <a:spAutoFit/>
            </a:bodyPr>
            <a:lstStyle/>
            <a:p>
              <a:pPr algn="l"/>
              <a:r>
                <a:rPr lang="en-US" sz="3300" b="1" dirty="0">
                  <a:solidFill>
                    <a:srgbClr val="F7B84B"/>
                  </a:solidFill>
                  <a:latin typeface="+mn-lt"/>
                  <a:ea typeface="+mn-ea"/>
                  <a:cs typeface="+mn-cs"/>
                </a:rPr>
                <a:t>&lt; 5 min</a:t>
              </a:r>
            </a:p>
          </p:txBody>
        </p:sp>
        <p:sp>
          <p:nvSpPr>
            <p:cNvPr id="35" name="TextBox 35"/>
            <p:cNvSpPr txBox="1"/>
            <p:nvPr/>
          </p:nvSpPr>
          <p:spPr>
            <a:xfrm>
              <a:off x="8109204" y="4537710"/>
              <a:ext cx="1428529" cy="234696"/>
            </a:xfrm>
            <a:prstGeom prst="rect">
              <a:avLst/>
            </a:prstGeom>
            <a:noFill/>
            <a:ln>
              <a:noFill/>
            </a:ln>
          </p:spPr>
          <p:txBody>
            <a:bodyPr wrap="none" lIns="0" tIns="0" rIns="0" bIns="0" anchor="t" anchorCtr="0">
              <a:spAutoFit/>
            </a:bodyPr>
            <a:lstStyle/>
            <a:p>
              <a:pPr algn="l"/>
              <a:r>
                <a:rPr lang="en-US" sz="1200" b="1" dirty="0">
                  <a:solidFill>
                    <a:schemeClr val="dk1"/>
                  </a:solidFill>
                  <a:latin typeface="+mn-lt"/>
                  <a:ea typeface="+mn-ea"/>
                  <a:cs typeface="+mn-cs"/>
                </a:rPr>
                <a:t>full reproduction</a:t>
              </a:r>
            </a:p>
          </p:txBody>
        </p:sp>
        <p:sp>
          <p:nvSpPr>
            <p:cNvPr id="36" name="TextBox 36"/>
            <p:cNvSpPr txBox="1"/>
            <p:nvPr/>
          </p:nvSpPr>
          <p:spPr>
            <a:xfrm>
              <a:off x="8110156" y="4786551"/>
              <a:ext cx="1677797"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single Nvidia RTX6000 GPU</a:t>
              </a:r>
            </a:p>
          </p:txBody>
        </p:sp>
      </p:grpSp>
      <p:sp>
        <p:nvSpPr>
          <p:cNvPr id="38" name="cue_s09_c1_few_numbers_capture_impact" title="cue_s09_c1_few_numbers_capture_impact" descr="cue_s09_c1_few_numbers_capture_impact A few numbers capture the impact."/>
          <p:cNvSpPr/>
          <p:nvPr/>
        </p:nvSpPr>
        <p:spPr>
          <a:xfrm>
            <a:off x="532790" y="1523847"/>
            <a:ext cx="11125200" cy="4574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cue_s09_c2_unfolded_moments_agree_true_moments" title="cue_s09_c2_unfolded_moments_agree_true_moments" descr="cue_s09_c2_unfolded_moments_agree_true_moments The unfolded moments agree with the true moments to within two hundredths of a percent mean absolute error."/>
          <p:cNvSpPr/>
          <p:nvPr/>
        </p:nvSpPr>
        <p:spPr>
          <a:xfrm>
            <a:off x="532790" y="2152726"/>
            <a:ext cx="3556406" cy="16760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cue_s09_c3_two_moments_jet_width_unfolded" title="cue_s09_c3_two_moments_jet_width_unfolded" descr="cue_s09_c3_two_moments_jet_width_unfolded Two moments of the jet width are unfolded at once. The discriminator converges within ten epochs."/>
          <p:cNvSpPr/>
          <p:nvPr/>
        </p:nvSpPr>
        <p:spPr>
          <a:xfrm>
            <a:off x="4318406" y="2152726"/>
            <a:ext cx="7340803" cy="16760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cue_s09_c4_gaussian_study_million_samples_three" title="cue_s09_c4_gaussian_study_million_samples_three" descr="cue_s09_c4_gaussian_study_million_samples_three The Gaussian study uses a million samples with a three-to-one train-test split, and the entire set of notebooks reproduces in under five minutes on a single Nvidia RTX6000 GPU."/>
          <p:cNvSpPr/>
          <p:nvPr/>
        </p:nvSpPr>
        <p:spPr>
          <a:xfrm>
            <a:off x="532790" y="4038676"/>
            <a:ext cx="11125200" cy="121935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gradFill>
            <a:gsLst>
              <a:gs pos="0">
                <a:schemeClr val="lt2">
                  <a:alpha val="90000"/>
                </a:schemeClr>
              </a:gs>
              <a:gs pos="60000">
                <a:schemeClr val="lt1">
                  <a:alpha val="0"/>
                </a:schemeClr>
              </a:gs>
            </a:gsLst>
            <a:path path="circle">
              <a:fillToRect l="50000" t="50000" r="50000" b="50000"/>
            </a:path>
          </a:gradFill>
          <a:ln>
            <a:noFill/>
          </a:ln>
        </p:spPr>
        <p:txBody>
          <a:bodyPr/>
          <a:p/>
        </p:txBody>
      </p:sp>
      <p:sp>
        <p:nvSpPr>
          <p:cNvPr id="3" name="Rectangle 3"/>
          <p:cNvSpPr/>
          <p:nvPr/>
        </p:nvSpPr>
        <p:spPr>
          <a:xfrm>
            <a:off x="533400" y="476250"/>
            <a:ext cx="57150" cy="209550"/>
          </a:xfrm>
          <a:prstGeom prst="roundRect">
            <a:avLst>
              <a:gd name="adj" fmla="val 41667"/>
            </a:avLst>
          </a:prstGeom>
          <a:solidFill>
            <a:schemeClr val="accent2"/>
          </a:solidFill>
          <a:ln>
            <a:noFill/>
          </a:ln>
        </p:spPr>
        <p:txBody>
          <a:bodyPr/>
          <a:p/>
        </p:txBody>
      </p:sp>
      <p:sp>
        <p:nvSpPr>
          <p:cNvPr id="4" name="TextBox 4"/>
          <p:cNvSpPr txBox="1"/>
          <p:nvPr/>
        </p:nvSpPr>
        <p:spPr>
          <a:xfrm>
            <a:off x="699135" y="526256"/>
            <a:ext cx="1004920" cy="220028"/>
          </a:xfrm>
          <a:prstGeom prst="rect">
            <a:avLst/>
          </a:prstGeom>
          <a:noFill/>
          <a:ln>
            <a:noFill/>
          </a:ln>
        </p:spPr>
        <p:txBody>
          <a:bodyPr wrap="none" lIns="0" tIns="0" rIns="0" bIns="0" anchor="t" anchorCtr="0">
            <a:spAutoFit/>
          </a:bodyPr>
          <a:lstStyle/>
          <a:p>
            <a:pPr algn="l"/>
            <a:r>
              <a:rPr lang="en-US" sz="1120" b="1" spc="225" dirty="0">
                <a:solidFill>
                  <a:schemeClr val="accent2"/>
                </a:solidFill>
                <a:latin typeface="+mn-lt"/>
                <a:ea typeface="+mn-ea"/>
                <a:cs typeface="+mn-cs"/>
              </a:rPr>
              <a:t>TAKEAWAY</a:t>
            </a:r>
          </a:p>
        </p:txBody>
      </p:sp>
      <p:sp>
        <p:nvSpPr>
          <p:cNvPr id="5" name="TextBox 5"/>
          <p:cNvSpPr txBox="1"/>
          <p:nvPr/>
        </p:nvSpPr>
        <p:spPr>
          <a:xfrm>
            <a:off x="518160" y="781050"/>
            <a:ext cx="7550380" cy="586740"/>
          </a:xfrm>
          <a:prstGeom prst="rect">
            <a:avLst/>
          </a:prstGeom>
          <a:noFill/>
          <a:ln>
            <a:noFill/>
          </a:ln>
        </p:spPr>
        <p:txBody>
          <a:bodyPr wrap="none" lIns="0" tIns="0" rIns="0" bIns="0" anchor="t" anchorCtr="0">
            <a:spAutoFit/>
          </a:bodyPr>
          <a:lstStyle/>
          <a:p>
            <a:pPr algn="l"/>
            <a:r>
              <a:rPr lang="en-US" sz="3000" b="1" dirty="0">
                <a:solidFill>
                  <a:schemeClr val="dk1"/>
                </a:solidFill>
                <a:latin typeface="+mn-lt"/>
                <a:ea typeface="+mn-ea"/>
                <a:cs typeface="+mn-cs"/>
              </a:rPr>
              <a:t>Unfold moments directly — no binning</a:t>
            </a:r>
          </a:p>
        </p:txBody>
      </p:sp>
      <p:sp>
        <p:nvSpPr>
          <p:cNvPr id="6" name="TextBox 6"/>
          <p:cNvSpPr txBox="1"/>
          <p:nvPr/>
        </p:nvSpPr>
        <p:spPr>
          <a:xfrm>
            <a:off x="11095485" y="534352"/>
            <a:ext cx="568449" cy="205359"/>
          </a:xfrm>
          <a:prstGeom prst="rect">
            <a:avLst/>
          </a:prstGeom>
          <a:noFill/>
          <a:ln>
            <a:noFill/>
          </a:ln>
        </p:spPr>
        <p:txBody>
          <a:bodyPr wrap="none" lIns="0" tIns="0" rIns="0" bIns="0" anchor="t" anchorCtr="0">
            <a:spAutoFit/>
          </a:bodyPr>
          <a:lstStyle/>
          <a:p>
            <a:pPr algn="r"/>
            <a:r>
              <a:rPr lang="en-US" sz="1050" b="1" spc="75" dirty="0">
                <a:solidFill>
                  <a:srgbClr val="6E85AC"/>
                </a:solidFill>
                <a:latin typeface="Consolas"/>
                <a:ea typeface="Consolas"/>
                <a:cs typeface="Consolas"/>
              </a:rPr>
              <a:t>10 / 10</a:t>
            </a:r>
          </a:p>
        </p:txBody>
      </p:sp>
      <p:sp>
        <p:nvSpPr>
          <p:cNvPr id="7" name="Line 7"/>
          <p:cNvSpPr/>
          <p:nvPr/>
        </p:nvSpPr>
        <p:spPr>
          <a:xfrm>
            <a:off x="533400" y="1314450"/>
            <a:ext cx="11125200" cy="9525"/>
          </a:xfrm>
          <a:custGeom>
            <a:avLst/>
            <a:gdLst/>
            <a:ahLst/>
            <a:cxnLst/>
            <a:rect l="l" t="t" r="r" b="b"/>
            <a:pathLst>
              <a:path w="11125200" h="9525">
                <a:moveTo>
                  <a:pt x="0" y="0"/>
                </a:moveTo>
                <a:lnTo>
                  <a:pt x="11125200" y="0"/>
                </a:lnTo>
              </a:path>
            </a:pathLst>
          </a:custGeom>
          <a:noFill/>
          <a:ln w="11430">
            <a:solidFill>
              <a:schemeClr val="accent4"/>
            </a:solidFill>
          </a:ln>
        </p:spPr>
        <p:txBody>
          <a:bodyPr/>
          <a:p/>
        </p:txBody>
      </p:sp>
      <p:grpSp>
        <p:nvGrpSpPr>
          <p:cNvPr id="11" name="Group 11"/>
          <p:cNvGrpSpPr/>
          <p:nvPr/>
        </p:nvGrpSpPr>
        <p:grpSpPr>
          <a:xfrm>
            <a:off x="533400" y="1524000"/>
            <a:ext cx="11125200" cy="666750"/>
            <a:chOff x="533400" y="1524000"/>
            <a:chExt cx="11125200" cy="666750"/>
          </a:xfrm>
        </p:grpSpPr>
        <p:sp>
          <p:nvSpPr>
            <p:cNvPr id="8" name="Rectangle 8"/>
            <p:cNvSpPr/>
            <p:nvPr/>
          </p:nvSpPr>
          <p:spPr>
            <a:xfrm>
              <a:off x="533400" y="1524000"/>
              <a:ext cx="11125200" cy="666750"/>
            </a:xfrm>
            <a:prstGeom prst="roundRect">
              <a:avLst>
                <a:gd name="adj" fmla="val 20000"/>
              </a:avLst>
            </a:prstGeom>
            <a:solidFill>
              <a:schemeClr val="accent6"/>
            </a:solidFill>
            <a:ln w="12382">
              <a:solidFill>
                <a:srgbClr val="37DCC0"/>
              </a:solidFill>
            </a:ln>
          </p:spPr>
        </p:sp>
        <p:sp>
          <p:nvSpPr>
            <p:cNvPr id="9" name="Rectangle 9"/>
            <p:cNvSpPr/>
            <p:nvPr/>
          </p:nvSpPr>
          <p:spPr>
            <a:xfrm>
              <a:off x="723900" y="1714500"/>
              <a:ext cx="47625" cy="285750"/>
            </a:xfrm>
            <a:prstGeom prst="roundRect">
              <a:avLst>
                <a:gd name="adj" fmla="val 50000"/>
              </a:avLst>
            </a:prstGeom>
            <a:solidFill>
              <a:srgbClr val="37DCC0"/>
            </a:solidFill>
            <a:ln>
              <a:noFill/>
            </a:ln>
          </p:spPr>
        </p:sp>
        <p:sp>
          <p:nvSpPr>
            <p:cNvPr id="10" name="TextBox 10"/>
            <p:cNvSpPr txBox="1"/>
            <p:nvPr/>
          </p:nvSpPr>
          <p:spPr>
            <a:xfrm>
              <a:off x="906399" y="1792129"/>
              <a:ext cx="7259627" cy="308039"/>
            </a:xfrm>
            <a:prstGeom prst="rect">
              <a:avLst/>
            </a:prstGeom>
            <a:noFill/>
            <a:ln>
              <a:noFill/>
            </a:ln>
          </p:spPr>
          <p:txBody>
            <a:bodyPr wrap="none" lIns="0" tIns="0" rIns="0" bIns="0" anchor="t" anchorCtr="0">
              <a:spAutoFit/>
            </a:bodyPr>
            <a:lstStyle/>
            <a:p>
              <a:pPr algn="l"/>
              <a:r>
                <a:rPr lang="en-US" sz="1580" b="1" dirty="0">
                  <a:solidFill>
                    <a:schemeClr val="dk1"/>
                  </a:solidFill>
                  <a:latin typeface="+mn-lt"/>
                  <a:ea typeface="+mn-ea"/>
                  <a:cs typeface="+mn-cs"/>
                </a:rPr>
                <a:t>You can unfold detector effects directly at the level of moments.</a:t>
              </a:r>
            </a:p>
          </p:txBody>
        </p:sp>
      </p:grpSp>
      <p:grpSp>
        <p:nvGrpSpPr>
          <p:cNvPr id="16" name="Group 16"/>
          <p:cNvGrpSpPr/>
          <p:nvPr/>
        </p:nvGrpSpPr>
        <p:grpSpPr>
          <a:xfrm>
            <a:off x="533400" y="2381250"/>
            <a:ext cx="11125200" cy="1028700"/>
            <a:chOff x="533400" y="2381250"/>
            <a:chExt cx="11125200" cy="1028700"/>
          </a:xfrm>
        </p:grpSpPr>
        <p:sp>
          <p:nvSpPr>
            <p:cNvPr id="12" name="Rectangle 12"/>
            <p:cNvSpPr/>
            <p:nvPr/>
          </p:nvSpPr>
          <p:spPr>
            <a:xfrm>
              <a:off x="533400" y="2381250"/>
              <a:ext cx="11125200" cy="1028700"/>
            </a:xfrm>
            <a:prstGeom prst="roundRect">
              <a:avLst>
                <a:gd name="adj" fmla="val 12963"/>
              </a:avLst>
            </a:prstGeom>
            <a:solidFill>
              <a:schemeClr val="accent5"/>
            </a:solidFill>
            <a:ln w="11430">
              <a:solidFill>
                <a:schemeClr val="accent4"/>
              </a:solidFill>
            </a:ln>
          </p:spPr>
        </p:sp>
        <p:sp>
          <p:nvSpPr>
            <p:cNvPr id="13" name="TextBox 13"/>
            <p:cNvSpPr txBox="1"/>
            <p:nvPr/>
          </p:nvSpPr>
          <p:spPr>
            <a:xfrm>
              <a:off x="755142" y="2616518"/>
              <a:ext cx="9140067" cy="264033"/>
            </a:xfrm>
            <a:prstGeom prst="rect">
              <a:avLst/>
            </a:prstGeom>
            <a:noFill/>
            <a:ln>
              <a:noFill/>
            </a:ln>
          </p:spPr>
          <p:txBody>
            <a:bodyPr wrap="none" lIns="0" tIns="0" rIns="0" bIns="0" anchor="t" anchorCtr="0">
              <a:spAutoFit/>
            </a:bodyPr>
            <a:lstStyle/>
            <a:p>
              <a:pPr algn="l"/>
              <a:r>
                <a:rPr lang="en-US" sz="1350" b="1" dirty="0">
                  <a:solidFill>
                    <a:schemeClr val="dk1"/>
                  </a:solidFill>
                  <a:latin typeface="+mn-lt"/>
                  <a:ea typeface="+mn-ea"/>
                  <a:cs typeface="+mn-cs"/>
                </a:rPr>
                <a:t>Moment Unfolding does this with a GAN-like generator whose parameters ARE the moments, trains</a:t>
              </a:r>
            </a:p>
          </p:txBody>
        </p:sp>
        <p:sp>
          <p:nvSpPr>
            <p:cNvPr id="14" name="TextBox 14"/>
            <p:cNvSpPr txBox="1"/>
            <p:nvPr/>
          </p:nvSpPr>
          <p:spPr>
            <a:xfrm>
              <a:off x="755142" y="2873692"/>
              <a:ext cx="9049225" cy="264033"/>
            </a:xfrm>
            <a:prstGeom prst="rect">
              <a:avLst/>
            </a:prstGeom>
            <a:noFill/>
            <a:ln>
              <a:noFill/>
            </a:ln>
          </p:spPr>
          <p:txBody>
            <a:bodyPr wrap="none" lIns="0" tIns="0" rIns="0" bIns="0" anchor="t" anchorCtr="0">
              <a:spAutoFit/>
            </a:bodyPr>
            <a:lstStyle/>
            <a:p>
              <a:pPr algn="l"/>
              <a:r>
                <a:rPr lang="en-US" sz="1350" b="1" dirty="0">
                  <a:solidFill>
                    <a:schemeClr val="dk1"/>
                  </a:solidFill>
                  <a:latin typeface="+mn-lt"/>
                  <a:ea typeface="+mn-ea"/>
                  <a:cs typeface="+mn-cs"/>
                </a:rPr>
                <a:t>only once instead of iterating, and recovers the true moments to better than 0.01% on realistic</a:t>
              </a:r>
            </a:p>
          </p:txBody>
        </p:sp>
        <p:sp>
          <p:nvSpPr>
            <p:cNvPr id="15" name="TextBox 15"/>
            <p:cNvSpPr txBox="1"/>
            <p:nvPr/>
          </p:nvSpPr>
          <p:spPr>
            <a:xfrm>
              <a:off x="755142" y="3130868"/>
              <a:ext cx="1883197" cy="264033"/>
            </a:xfrm>
            <a:prstGeom prst="rect">
              <a:avLst/>
            </a:prstGeom>
            <a:noFill/>
            <a:ln>
              <a:noFill/>
            </a:ln>
          </p:spPr>
          <p:txBody>
            <a:bodyPr wrap="none" lIns="0" tIns="0" rIns="0" bIns="0" anchor="t" anchorCtr="0">
              <a:spAutoFit/>
            </a:bodyPr>
            <a:lstStyle/>
            <a:p>
              <a:pPr algn="l"/>
              <a:r>
                <a:rPr lang="en-US" sz="1350" b="1" dirty="0">
                  <a:solidFill>
                    <a:schemeClr val="dk1"/>
                  </a:solidFill>
                  <a:latin typeface="+mn-lt"/>
                  <a:ea typeface="+mn-ea"/>
                  <a:cs typeface="+mn-cs"/>
                </a:rPr>
                <a:t>LHC jet simulations.</a:t>
              </a:r>
            </a:p>
          </p:txBody>
        </p:sp>
      </p:grpSp>
      <p:grpSp>
        <p:nvGrpSpPr>
          <p:cNvPr id="32" name="Group 32"/>
          <p:cNvGrpSpPr/>
          <p:nvPr/>
        </p:nvGrpSpPr>
        <p:grpSpPr>
          <a:xfrm>
            <a:off x="533400" y="3600450"/>
            <a:ext cx="11125200" cy="1409700"/>
            <a:chOff x="533400" y="3600450"/>
            <a:chExt cx="11125200" cy="1409700"/>
          </a:xfrm>
        </p:grpSpPr>
        <p:sp>
          <p:nvSpPr>
            <p:cNvPr id="17" name="Rectangle 17"/>
            <p:cNvSpPr/>
            <p:nvPr/>
          </p:nvSpPr>
          <p:spPr>
            <a:xfrm>
              <a:off x="533400" y="3600450"/>
              <a:ext cx="3556000" cy="1409700"/>
            </a:xfrm>
            <a:prstGeom prst="roundRect">
              <a:avLst>
                <a:gd name="adj" fmla="val 9459"/>
              </a:avLst>
            </a:prstGeom>
            <a:solidFill>
              <a:schemeClr val="accent5"/>
            </a:solidFill>
            <a:ln w="11430">
              <a:solidFill>
                <a:schemeClr val="accent4"/>
              </a:solidFill>
            </a:ln>
          </p:spPr>
        </p:sp>
        <p:sp>
          <p:nvSpPr>
            <p:cNvPr id="18" name="Rectangle 18"/>
            <p:cNvSpPr/>
            <p:nvPr/>
          </p:nvSpPr>
          <p:spPr>
            <a:xfrm>
              <a:off x="742950" y="3848100"/>
              <a:ext cx="47625" cy="285750"/>
            </a:xfrm>
            <a:prstGeom prst="roundRect">
              <a:avLst>
                <a:gd name="adj" fmla="val 50000"/>
              </a:avLst>
            </a:prstGeom>
            <a:solidFill>
              <a:schemeClr val="accent2"/>
            </a:solidFill>
            <a:ln>
              <a:noFill/>
            </a:ln>
          </p:spPr>
        </p:sp>
        <p:sp>
          <p:nvSpPr>
            <p:cNvPr id="19" name="TextBox 19"/>
            <p:cNvSpPr txBox="1"/>
            <p:nvPr/>
          </p:nvSpPr>
          <p:spPr>
            <a:xfrm>
              <a:off x="736473" y="4148614"/>
              <a:ext cx="1647901" cy="249364"/>
            </a:xfrm>
            <a:prstGeom prst="rect">
              <a:avLst/>
            </a:prstGeom>
            <a:noFill/>
            <a:ln>
              <a:noFill/>
            </a:ln>
          </p:spPr>
          <p:txBody>
            <a:bodyPr wrap="none" lIns="0" tIns="0" rIns="0" bIns="0" anchor="t" anchorCtr="0">
              <a:spAutoFit/>
            </a:bodyPr>
            <a:lstStyle/>
            <a:p>
              <a:pPr algn="l"/>
              <a:r>
                <a:rPr lang="en-US" sz="1280" b="1" dirty="0">
                  <a:solidFill>
                    <a:schemeClr val="dk1"/>
                  </a:solidFill>
                  <a:latin typeface="+mn-lt"/>
                  <a:ea typeface="+mn-ea"/>
                  <a:cs typeface="+mn-cs"/>
                </a:rPr>
                <a:t>Moments, not bins</a:t>
              </a:r>
            </a:p>
          </p:txBody>
        </p:sp>
        <p:sp>
          <p:nvSpPr>
            <p:cNvPr id="20" name="TextBox 20"/>
            <p:cNvSpPr txBox="1"/>
            <p:nvPr/>
          </p:nvSpPr>
          <p:spPr>
            <a:xfrm>
              <a:off x="737616" y="4439602"/>
              <a:ext cx="2456040"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unfold statistical moments without</a:t>
              </a:r>
            </a:p>
          </p:txBody>
        </p:sp>
        <p:sp>
          <p:nvSpPr>
            <p:cNvPr id="21" name="TextBox 21"/>
            <p:cNvSpPr txBox="1"/>
            <p:nvPr/>
          </p:nvSpPr>
          <p:spPr>
            <a:xfrm>
              <a:off x="737616" y="4639628"/>
              <a:ext cx="978922"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any histogram</a:t>
              </a:r>
            </a:p>
          </p:txBody>
        </p:sp>
        <p:sp>
          <p:nvSpPr>
            <p:cNvPr id="22" name="Rectangle 22"/>
            <p:cNvSpPr/>
            <p:nvPr/>
          </p:nvSpPr>
          <p:spPr>
            <a:xfrm>
              <a:off x="4318000" y="3600450"/>
              <a:ext cx="3556000" cy="1409700"/>
            </a:xfrm>
            <a:prstGeom prst="roundRect">
              <a:avLst>
                <a:gd name="adj" fmla="val 9459"/>
              </a:avLst>
            </a:prstGeom>
            <a:solidFill>
              <a:schemeClr val="accent5"/>
            </a:solidFill>
            <a:ln w="11430">
              <a:solidFill>
                <a:schemeClr val="accent4"/>
              </a:solidFill>
            </a:ln>
          </p:spPr>
        </p:sp>
        <p:sp>
          <p:nvSpPr>
            <p:cNvPr id="23" name="Rectangle 23"/>
            <p:cNvSpPr/>
            <p:nvPr/>
          </p:nvSpPr>
          <p:spPr>
            <a:xfrm>
              <a:off x="4527550" y="3848100"/>
              <a:ext cx="47625" cy="285750"/>
            </a:xfrm>
            <a:prstGeom prst="roundRect">
              <a:avLst>
                <a:gd name="adj" fmla="val 50000"/>
              </a:avLst>
            </a:prstGeom>
            <a:solidFill>
              <a:srgbClr val="37DCC0"/>
            </a:solidFill>
            <a:ln>
              <a:noFill/>
            </a:ln>
          </p:spPr>
        </p:sp>
        <p:sp>
          <p:nvSpPr>
            <p:cNvPr id="24" name="TextBox 24"/>
            <p:cNvSpPr txBox="1"/>
            <p:nvPr/>
          </p:nvSpPr>
          <p:spPr>
            <a:xfrm>
              <a:off x="4521073" y="4148614"/>
              <a:ext cx="923290" cy="249364"/>
            </a:xfrm>
            <a:prstGeom prst="rect">
              <a:avLst/>
            </a:prstGeom>
            <a:noFill/>
            <a:ln>
              <a:noFill/>
            </a:ln>
          </p:spPr>
          <p:txBody>
            <a:bodyPr wrap="none" lIns="0" tIns="0" rIns="0" bIns="0" anchor="t" anchorCtr="0">
              <a:spAutoFit/>
            </a:bodyPr>
            <a:lstStyle/>
            <a:p>
              <a:pPr algn="l"/>
              <a:r>
                <a:rPr lang="en-US" sz="1280" b="1" dirty="0">
                  <a:solidFill>
                    <a:schemeClr val="dk1"/>
                  </a:solidFill>
                  <a:latin typeface="+mn-lt"/>
                  <a:ea typeface="+mn-ea"/>
                  <a:cs typeface="+mn-cs"/>
                </a:rPr>
                <a:t>Train once</a:t>
              </a:r>
            </a:p>
          </p:txBody>
        </p:sp>
        <p:sp>
          <p:nvSpPr>
            <p:cNvPr id="25" name="TextBox 25"/>
            <p:cNvSpPr txBox="1"/>
            <p:nvPr/>
          </p:nvSpPr>
          <p:spPr>
            <a:xfrm>
              <a:off x="4522216" y="4439602"/>
              <a:ext cx="2343404"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a single GAN-like network pair, no</a:t>
              </a:r>
            </a:p>
          </p:txBody>
        </p:sp>
        <p:sp>
          <p:nvSpPr>
            <p:cNvPr id="26" name="TextBox 26"/>
            <p:cNvSpPr txBox="1"/>
            <p:nvPr/>
          </p:nvSpPr>
          <p:spPr>
            <a:xfrm>
              <a:off x="4522216" y="4639628"/>
              <a:ext cx="639680"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iteration</a:t>
              </a:r>
            </a:p>
          </p:txBody>
        </p:sp>
        <p:sp>
          <p:nvSpPr>
            <p:cNvPr id="27" name="Rectangle 27"/>
            <p:cNvSpPr/>
            <p:nvPr/>
          </p:nvSpPr>
          <p:spPr>
            <a:xfrm>
              <a:off x="8102600" y="3600450"/>
              <a:ext cx="3556000" cy="1409700"/>
            </a:xfrm>
            <a:prstGeom prst="roundRect">
              <a:avLst>
                <a:gd name="adj" fmla="val 9459"/>
              </a:avLst>
            </a:prstGeom>
            <a:solidFill>
              <a:schemeClr val="accent5"/>
            </a:solidFill>
            <a:ln w="11430">
              <a:solidFill>
                <a:schemeClr val="accent4"/>
              </a:solidFill>
            </a:ln>
          </p:spPr>
        </p:sp>
        <p:sp>
          <p:nvSpPr>
            <p:cNvPr id="28" name="Rectangle 28"/>
            <p:cNvSpPr/>
            <p:nvPr/>
          </p:nvSpPr>
          <p:spPr>
            <a:xfrm>
              <a:off x="8312150" y="3848100"/>
              <a:ext cx="47625" cy="285750"/>
            </a:xfrm>
            <a:prstGeom prst="roundRect">
              <a:avLst>
                <a:gd name="adj" fmla="val 50000"/>
              </a:avLst>
            </a:prstGeom>
            <a:solidFill>
              <a:srgbClr val="57D9A3"/>
            </a:solidFill>
            <a:ln>
              <a:noFill/>
            </a:ln>
          </p:spPr>
        </p:sp>
        <p:sp>
          <p:nvSpPr>
            <p:cNvPr id="29" name="TextBox 29"/>
            <p:cNvSpPr txBox="1"/>
            <p:nvPr/>
          </p:nvSpPr>
          <p:spPr>
            <a:xfrm>
              <a:off x="8305673" y="4148614"/>
              <a:ext cx="2081107" cy="249364"/>
            </a:xfrm>
            <a:prstGeom prst="rect">
              <a:avLst/>
            </a:prstGeom>
            <a:noFill/>
            <a:ln>
              <a:noFill/>
            </a:ln>
          </p:spPr>
          <p:txBody>
            <a:bodyPr wrap="none" lIns="0" tIns="0" rIns="0" bIns="0" anchor="t" anchorCtr="0">
              <a:spAutoFit/>
            </a:bodyPr>
            <a:lstStyle/>
            <a:p>
              <a:pPr algn="l"/>
              <a:r>
                <a:rPr lang="en-US" sz="1280" b="1" dirty="0">
                  <a:solidFill>
                    <a:schemeClr val="dk1"/>
                  </a:solidFill>
                  <a:latin typeface="+mn-lt"/>
                  <a:ea typeface="+mn-ea"/>
                  <a:cs typeface="+mn-cs"/>
                </a:rPr>
                <a:t>Beyond particle physics</a:t>
              </a:r>
            </a:p>
          </p:txBody>
        </p:sp>
        <p:sp>
          <p:nvSpPr>
            <p:cNvPr id="30" name="TextBox 30"/>
            <p:cNvSpPr txBox="1"/>
            <p:nvPr/>
          </p:nvSpPr>
          <p:spPr>
            <a:xfrm>
              <a:off x="8306816" y="4439602"/>
              <a:ext cx="2597391"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dataset-agnostic — any deconvolution</a:t>
              </a:r>
            </a:p>
          </p:txBody>
        </p:sp>
        <p:sp>
          <p:nvSpPr>
            <p:cNvPr id="31" name="TextBox 31"/>
            <p:cNvSpPr txBox="1"/>
            <p:nvPr/>
          </p:nvSpPr>
          <p:spPr>
            <a:xfrm>
              <a:off x="8306816" y="4639628"/>
              <a:ext cx="547802"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problem</a:t>
              </a:r>
            </a:p>
          </p:txBody>
        </p:sp>
      </p:grpSp>
      <p:sp>
        <p:nvSpPr>
          <p:cNvPr id="33" name="Line 33"/>
          <p:cNvSpPr/>
          <p:nvPr/>
        </p:nvSpPr>
        <p:spPr>
          <a:xfrm>
            <a:off x="533400" y="5257800"/>
            <a:ext cx="11125200" cy="9525"/>
          </a:xfrm>
          <a:custGeom>
            <a:avLst/>
            <a:gdLst/>
            <a:ahLst/>
            <a:cxnLst/>
            <a:rect l="l" t="t" r="r" b="b"/>
            <a:pathLst>
              <a:path w="11125200" h="9525">
                <a:moveTo>
                  <a:pt x="0" y="0"/>
                </a:moveTo>
                <a:lnTo>
                  <a:pt x="11125200" y="0"/>
                </a:lnTo>
              </a:path>
            </a:pathLst>
          </a:custGeom>
          <a:noFill/>
          <a:ln w="11430">
            <a:solidFill>
              <a:schemeClr val="accent4"/>
            </a:solidFill>
          </a:ln>
        </p:spPr>
        <p:txBody>
          <a:bodyPr/>
          <a:p/>
        </p:txBody>
      </p:sp>
      <p:sp>
        <p:nvSpPr>
          <p:cNvPr id="34" name="TextBox 34"/>
          <p:cNvSpPr txBox="1"/>
          <p:nvPr/>
        </p:nvSpPr>
        <p:spPr>
          <a:xfrm>
            <a:off x="527685" y="5384006"/>
            <a:ext cx="4824922"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Moment Unfolding · Desai, Nachman, Thaler · NeurIPS 2022 ML4PS</a:t>
            </a:r>
          </a:p>
        </p:txBody>
      </p:sp>
      <p:sp>
        <p:nvSpPr>
          <p:cNvPr id="35" name="TextBox 35"/>
          <p:cNvSpPr txBox="1"/>
          <p:nvPr/>
        </p:nvSpPr>
        <p:spPr>
          <a:xfrm>
            <a:off x="8882600" y="5392102"/>
            <a:ext cx="2781334" cy="205359"/>
          </a:xfrm>
          <a:prstGeom prst="rect">
            <a:avLst/>
          </a:prstGeom>
          <a:noFill/>
          <a:ln>
            <a:noFill/>
          </a:ln>
        </p:spPr>
        <p:txBody>
          <a:bodyPr wrap="none" lIns="0" tIns="0" rIns="0" bIns="0" anchor="t" anchorCtr="0">
            <a:spAutoFit/>
          </a:bodyPr>
          <a:lstStyle/>
          <a:p>
            <a:pPr algn="r"/>
            <a:r>
              <a:rPr lang="en-US" sz="1050" b="1" dirty="0">
                <a:solidFill>
                  <a:schemeClr val="accent2"/>
                </a:solidFill>
                <a:latin typeface="Consolas"/>
                <a:ea typeface="Consolas"/>
                <a:cs typeface="Consolas"/>
              </a:rPr>
              <a:t>github.com/hep-lbdl/MomentUnfolding</a:t>
            </a:r>
          </a:p>
        </p:txBody>
      </p:sp>
      <p:sp>
        <p:nvSpPr>
          <p:cNvPr id="36" name="cue_s10_c1_takeaway_you_unfold_detector_effects" title="cue_s10_c1_takeaway_you_unfold_detector_effects" descr="cue_s10_c1_takeaway_you_unfold_detector_effects The takeaway is that you can unfold detector effects directly at the level of moments, without ever binning the data."/>
          <p:cNvSpPr/>
          <p:nvPr/>
        </p:nvSpPr>
        <p:spPr>
          <a:xfrm>
            <a:off x="532790" y="1523847"/>
            <a:ext cx="11125200" cy="66659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cue_s10_c2_moment_unfolding_does_gan_like_gener" title="cue_s10_c2_moment_unfolding_does_gan_like_gener" descr="cue_s10_c2_moment_unfolding_does_gan_like_gener Moment Unfolding does this with a GAN-like generator whose parameters are the moments, trains only once rather than iterating, and recovers the true moments to better than a hundredth of a percent on realistic LHC jet simulations."/>
          <p:cNvSpPr/>
          <p:nvPr/>
        </p:nvSpPr>
        <p:spPr>
          <a:xfrm>
            <a:off x="532790" y="2381097"/>
            <a:ext cx="11125200" cy="102870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cue_s10_c3_because_algorithm_agnostic_dataset_s" title="cue_s10_c3_because_algorithm_agnostic_dataset_s" descr="cue_s10_c3_because_algorithm_agnostic_dataset_s Because the algorithm is agnostic to the dataset, the same idea could carry over to deconvolution problems well beyond particle physics."/>
          <p:cNvSpPr/>
          <p:nvPr/>
        </p:nvSpPr>
        <p:spPr>
          <a:xfrm>
            <a:off x="532790" y="3600450"/>
            <a:ext cx="11125200" cy="141000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deck">
  <a:themeElements>
    <a:clrScheme name="deck">
      <a:dk1>
        <a:srgbClr val="EAF1FB"/>
      </a:dk1>
      <a:lt1>
        <a:srgbClr val="0B1220"/>
      </a:lt1>
      <a:dk2>
        <a:srgbClr val="A6BADB"/>
      </a:dk2>
      <a:lt2>
        <a:srgbClr val="0E1A30"/>
      </a:lt2>
      <a:accent1>
        <a:srgbClr val="4F9DF7"/>
      </a:accent1>
      <a:accent2>
        <a:srgbClr val="4F9DF7"/>
      </a:accent2>
      <a:accent3>
        <a:srgbClr val="4F9DF7"/>
      </a:accent3>
      <a:accent4>
        <a:srgbClr val="2B4068"/>
      </a:accent4>
      <a:accent5>
        <a:srgbClr val="14223C"/>
      </a:accent5>
      <a:accent6>
        <a:srgbClr val="1A2B49"/>
      </a:accent6>
      <a:hlink>
        <a:srgbClr val="4F9DF7"/>
      </a:hlink>
      <a:folHlink>
        <a:srgbClr val="4F9DF7"/>
      </a:folHlink>
    </a:clrScheme>
    <a:fontScheme name="deck">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eck">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10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
  <cp:lastModifiedBy/>
  <cp:revision>1</cp:revision>
  <dcterms:created xsi:type="dcterms:W3CDTF">2026-07-15T20:01:21Z</dcterms:created>
  <dcterms:modified xsi:type="dcterms:W3CDTF">2026-07-15T20:01:21Z</dcterms:modified>
  <cp:category/>
  <cp:contentStatus/>
</cp:coreProperties>
</file>
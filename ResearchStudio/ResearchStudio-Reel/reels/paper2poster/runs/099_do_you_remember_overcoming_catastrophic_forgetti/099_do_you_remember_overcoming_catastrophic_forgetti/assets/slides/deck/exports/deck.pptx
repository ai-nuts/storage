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22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1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05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0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9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8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8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8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8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800" kern="1200">
          <a:solidFill>
            <a:schemeClr val="tx1"/>
          </a:solidFill>
          <a:latin typeface="+mn-lt"/>
          <a:ea typeface="+mn-ea"/>
          <a:cs typeface="+mn-cs"/>
        </a:defRPr>
      </a:lvl9pPr>
    </p:bodyStyle>
    <p:otherStyle>
      <a:defPPr>
        <a:defRPr lang="en-US"/>
      </a:defPPr>
      <a:lvl1pPr marL="0" algn="l" defTabSz="457200" rtl="0" eaLnBrk="1" latinLnBrk="0" hangingPunct="1">
        <a:defRPr sz="1100" kern="1200">
          <a:solidFill>
            <a:schemeClr val="tx1"/>
          </a:solidFill>
          <a:latin typeface="+mn-lt"/>
          <a:ea typeface="+mn-ea"/>
          <a:cs typeface="+mn-cs"/>
        </a:defRPr>
      </a:lvl1pPr>
      <a:lvl2pPr marL="457200" algn="l" defTabSz="457200" rtl="0" eaLnBrk="1" latinLnBrk="0" hangingPunct="1">
        <a:defRPr sz="1050" kern="1200">
          <a:solidFill>
            <a:schemeClr val="tx1"/>
          </a:solidFill>
          <a:latin typeface="+mn-lt"/>
          <a:ea typeface="+mn-ea"/>
          <a:cs typeface="+mn-cs"/>
        </a:defRPr>
      </a:lvl2pPr>
      <a:lvl3pPr marL="914400" algn="l" defTabSz="457200" rtl="0" eaLnBrk="1" latinLnBrk="0" hangingPunct="1">
        <a:defRPr sz="1000" kern="1200">
          <a:solidFill>
            <a:schemeClr val="tx1"/>
          </a:solidFill>
          <a:latin typeface="+mn-lt"/>
          <a:ea typeface="+mn-ea"/>
          <a:cs typeface="+mn-cs"/>
        </a:defRPr>
      </a:lvl3pPr>
      <a:lvl4pPr marL="1371600" algn="l" defTabSz="457200" rtl="0" eaLnBrk="1" latinLnBrk="0" hangingPunct="1">
        <a:defRPr sz="900" kern="1200">
          <a:solidFill>
            <a:schemeClr val="tx1"/>
          </a:solidFill>
          <a:latin typeface="+mn-lt"/>
          <a:ea typeface="+mn-ea"/>
          <a:cs typeface="+mn-cs"/>
        </a:defRPr>
      </a:lvl4pPr>
      <a:lvl5pPr marL="1828800" algn="l" defTabSz="457200" rtl="0" eaLnBrk="1" latinLnBrk="0" hangingPunct="1">
        <a:defRPr sz="850" kern="1200">
          <a:solidFill>
            <a:schemeClr val="tx1"/>
          </a:solidFill>
          <a:latin typeface="+mn-lt"/>
          <a:ea typeface="+mn-ea"/>
          <a:cs typeface="+mn-cs"/>
        </a:defRPr>
      </a:lvl5pPr>
      <a:lvl6pPr marL="2286000" algn="l" defTabSz="457200" rtl="0" eaLnBrk="1" latinLnBrk="0" hangingPunct="1">
        <a:defRPr sz="800" kern="1200">
          <a:solidFill>
            <a:schemeClr val="tx1"/>
          </a:solidFill>
          <a:latin typeface="+mn-lt"/>
          <a:ea typeface="+mn-ea"/>
          <a:cs typeface="+mn-cs"/>
        </a:defRPr>
      </a:lvl6pPr>
      <a:lvl7pPr marL="2743200" algn="l" defTabSz="457200" rtl="0" eaLnBrk="1" latinLnBrk="0" hangingPunct="1">
        <a:defRPr sz="800" kern="1200">
          <a:solidFill>
            <a:schemeClr val="tx1"/>
          </a:solidFill>
          <a:latin typeface="+mn-lt"/>
          <a:ea typeface="+mn-ea"/>
          <a:cs typeface="+mn-cs"/>
        </a:defRPr>
      </a:lvl7pPr>
      <a:lvl8pPr marL="3200400" algn="l" defTabSz="457200" rtl="0" eaLnBrk="1" latinLnBrk="0" hangingPunct="1">
        <a:defRPr sz="800" kern="1200">
          <a:solidFill>
            <a:schemeClr val="tx1"/>
          </a:solidFill>
          <a:latin typeface="+mn-lt"/>
          <a:ea typeface="+mn-ea"/>
          <a:cs typeface="+mn-cs"/>
        </a:defRPr>
      </a:lvl8pPr>
      <a:lvl9pPr marL="3657600" algn="l" defTabSz="457200" rtl="0" eaLnBrk="1" latinLnBrk="0" hangingPunct="1">
        <a:defRPr sz="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TextBox 2"/>
          <p:cNvSpPr txBox="1"/>
          <p:nvPr/>
        </p:nvSpPr>
        <p:spPr>
          <a:xfrm>
            <a:off x="604266" y="572452"/>
            <a:ext cx="995911" cy="205359"/>
          </a:xfrm>
          <a:prstGeom prst="rect">
            <a:avLst/>
          </a:prstGeom>
          <a:noFill/>
          <a:ln>
            <a:noFill/>
          </a:ln>
        </p:spPr>
        <p:txBody>
          <a:bodyPr wrap="none" lIns="0" tIns="0" rIns="0" bIns="0" anchor="t" anchorCtr="0">
            <a:spAutoFit/>
          </a:bodyPr>
          <a:lstStyle/>
          <a:p>
            <a:pPr algn="l"/>
            <a:r>
              <a:rPr lang="en-US" sz="1050" b="1" spc="225" dirty="0">
                <a:solidFill>
                  <a:schemeClr val="accent2"/>
                </a:solidFill>
                <a:latin typeface="+mn-lt"/>
                <a:ea typeface="+mn-ea"/>
                <a:cs typeface="+mn-cs"/>
              </a:rPr>
              <a:t>ICML 2023</a:t>
            </a:r>
          </a:p>
        </p:txBody>
      </p:sp>
      <p:sp>
        <p:nvSpPr>
          <p:cNvPr id="3" name="TextBox 3"/>
          <p:cNvSpPr txBox="1"/>
          <p:nvPr/>
        </p:nvSpPr>
        <p:spPr>
          <a:xfrm>
            <a:off x="6333185" y="576501"/>
            <a:ext cx="5254359" cy="198025"/>
          </a:xfrm>
          <a:prstGeom prst="rect">
            <a:avLst/>
          </a:prstGeom>
          <a:noFill/>
          <a:ln>
            <a:noFill/>
          </a:ln>
        </p:spPr>
        <p:txBody>
          <a:bodyPr wrap="none" lIns="0" tIns="0" rIns="0" bIns="0" anchor="t" anchorCtr="0">
            <a:spAutoFit/>
          </a:bodyPr>
          <a:lstStyle/>
          <a:p>
            <a:pPr algn="r"/>
            <a:r>
              <a:rPr lang="en-US" sz="1010" b="1" dirty="0">
                <a:solidFill>
                  <a:schemeClr val="dk2"/>
                </a:solidFill>
                <a:latin typeface="+mn-lt"/>
                <a:ea typeface="+mn-ea"/>
                <a:cs typeface="+mn-cs"/>
              </a:rPr>
              <a:t>Institute of Automation, CAS · Continual Learning for Fake Audio Detection</a:t>
            </a:r>
          </a:p>
        </p:txBody>
      </p:sp>
      <p:sp>
        <p:nvSpPr>
          <p:cNvPr id="4" name="Line 4"/>
          <p:cNvSpPr/>
          <p:nvPr/>
        </p:nvSpPr>
        <p:spPr>
          <a:xfrm>
            <a:off x="609600" y="8382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5" name="TextBox 5"/>
          <p:cNvSpPr txBox="1"/>
          <p:nvPr/>
        </p:nvSpPr>
        <p:spPr>
          <a:xfrm>
            <a:off x="593598" y="1088708"/>
            <a:ext cx="3956328" cy="616077"/>
          </a:xfrm>
          <a:prstGeom prst="rect">
            <a:avLst/>
          </a:prstGeom>
          <a:noFill/>
          <a:ln>
            <a:noFill/>
          </a:ln>
        </p:spPr>
        <p:txBody>
          <a:bodyPr wrap="none" lIns="0" tIns="0" rIns="0" bIns="0" anchor="t" anchorCtr="0">
            <a:spAutoFit/>
          </a:bodyPr>
          <a:lstStyle/>
          <a:p>
            <a:pPr algn="l"/>
            <a:r>
              <a:rPr lang="en-US" sz="3150" b="1" dirty="0">
                <a:solidFill>
                  <a:srgbClr val="FFFFFF"/>
                </a:solidFill>
                <a:latin typeface="+mn-lt"/>
                <a:ea typeface="+mn-ea"/>
                <a:cs typeface="+mn-cs"/>
              </a:rPr>
              <a:t>Do You Remember?</a:t>
            </a:r>
          </a:p>
        </p:txBody>
      </p:sp>
      <p:sp>
        <p:nvSpPr>
          <p:cNvPr id="6" name="TextBox 6"/>
          <p:cNvSpPr txBox="1"/>
          <p:nvPr/>
        </p:nvSpPr>
        <p:spPr>
          <a:xfrm>
            <a:off x="599694" y="1675448"/>
            <a:ext cx="8369573" cy="381381"/>
          </a:xfrm>
          <a:prstGeom prst="rect">
            <a:avLst/>
          </a:prstGeom>
          <a:noFill/>
          <a:ln>
            <a:noFill/>
          </a:ln>
        </p:spPr>
        <p:txBody>
          <a:bodyPr wrap="none" lIns="0" tIns="0" rIns="0" bIns="0" anchor="t" anchorCtr="0">
            <a:spAutoFit/>
          </a:bodyPr>
          <a:lstStyle/>
          <a:p>
            <a:pPr algn="l"/>
            <a:r>
              <a:rPr lang="en-US" sz="1950" b="1" dirty="0">
                <a:solidFill>
                  <a:schemeClr val="accent2"/>
                </a:solidFill>
                <a:latin typeface="+mn-lt"/>
                <a:ea typeface="+mn-ea"/>
                <a:cs typeface="+mn-cs"/>
              </a:rPr>
              <a:t>Overcoming Catastrophic Forgetting for Fake Audio Detection</a:t>
            </a:r>
          </a:p>
        </p:txBody>
      </p:sp>
      <p:sp>
        <p:nvSpPr>
          <p:cNvPr id="7" name="Line 7"/>
          <p:cNvSpPr/>
          <p:nvPr/>
        </p:nvSpPr>
        <p:spPr>
          <a:xfrm>
            <a:off x="8953500" y="1368802"/>
            <a:ext cx="9525" cy="119896"/>
          </a:xfrm>
          <a:custGeom>
            <a:avLst/>
            <a:gdLst/>
            <a:ahLst/>
            <a:cxnLst/>
            <a:rect l="l" t="t" r="r" b="b"/>
            <a:pathLst>
              <a:path w="9525" h="119896">
                <a:moveTo>
                  <a:pt x="0" y="0"/>
                </a:moveTo>
                <a:lnTo>
                  <a:pt x="0" y="119896"/>
                </a:lnTo>
              </a:path>
            </a:pathLst>
          </a:custGeom>
          <a:noFill/>
          <a:ln w="28575" cap="rnd">
            <a:solidFill>
              <a:srgbClr val="34D3C0"/>
            </a:solidFill>
          </a:ln>
        </p:spPr>
        <p:txBody>
          <a:bodyPr/>
          <a:p/>
        </p:txBody>
      </p:sp>
      <p:sp>
        <p:nvSpPr>
          <p:cNvPr id="8" name="Line 8"/>
          <p:cNvSpPr/>
          <p:nvPr/>
        </p:nvSpPr>
        <p:spPr>
          <a:xfrm>
            <a:off x="8995930" y="1329296"/>
            <a:ext cx="9525" cy="198908"/>
          </a:xfrm>
          <a:custGeom>
            <a:avLst/>
            <a:gdLst/>
            <a:ahLst/>
            <a:cxnLst/>
            <a:rect l="l" t="t" r="r" b="b"/>
            <a:pathLst>
              <a:path w="9525" h="198908">
                <a:moveTo>
                  <a:pt x="0" y="0"/>
                </a:moveTo>
                <a:lnTo>
                  <a:pt x="0" y="198908"/>
                </a:lnTo>
              </a:path>
            </a:pathLst>
          </a:custGeom>
          <a:noFill/>
          <a:ln w="28575" cap="rnd">
            <a:solidFill>
              <a:srgbClr val="34D3C0"/>
            </a:solidFill>
          </a:ln>
        </p:spPr>
        <p:txBody>
          <a:bodyPr/>
          <a:p/>
        </p:txBody>
      </p:sp>
      <p:sp>
        <p:nvSpPr>
          <p:cNvPr id="9" name="Line 9"/>
          <p:cNvSpPr/>
          <p:nvPr/>
        </p:nvSpPr>
        <p:spPr>
          <a:xfrm>
            <a:off x="9038359" y="1308343"/>
            <a:ext cx="9525" cy="240815"/>
          </a:xfrm>
          <a:custGeom>
            <a:avLst/>
            <a:gdLst/>
            <a:ahLst/>
            <a:cxnLst/>
            <a:rect l="l" t="t" r="r" b="b"/>
            <a:pathLst>
              <a:path w="9525" h="240815">
                <a:moveTo>
                  <a:pt x="0" y="0"/>
                </a:moveTo>
                <a:lnTo>
                  <a:pt x="0" y="240815"/>
                </a:lnTo>
              </a:path>
            </a:pathLst>
          </a:custGeom>
          <a:noFill/>
          <a:ln w="28575" cap="rnd">
            <a:solidFill>
              <a:srgbClr val="34D3C0"/>
            </a:solidFill>
          </a:ln>
        </p:spPr>
        <p:txBody>
          <a:bodyPr/>
          <a:p/>
        </p:txBody>
      </p:sp>
      <p:sp>
        <p:nvSpPr>
          <p:cNvPr id="10" name="Line 10"/>
          <p:cNvSpPr/>
          <p:nvPr/>
        </p:nvSpPr>
        <p:spPr>
          <a:xfrm>
            <a:off x="9080789" y="1279273"/>
            <a:ext cx="9525" cy="298953"/>
          </a:xfrm>
          <a:custGeom>
            <a:avLst/>
            <a:gdLst/>
            <a:ahLst/>
            <a:cxnLst/>
            <a:rect l="l" t="t" r="r" b="b"/>
            <a:pathLst>
              <a:path w="9525" h="298953">
                <a:moveTo>
                  <a:pt x="0" y="0"/>
                </a:moveTo>
                <a:lnTo>
                  <a:pt x="0" y="298953"/>
                </a:lnTo>
              </a:path>
            </a:pathLst>
          </a:custGeom>
          <a:noFill/>
          <a:ln w="28575" cap="rnd">
            <a:solidFill>
              <a:srgbClr val="34D3C0"/>
            </a:solidFill>
          </a:ln>
        </p:spPr>
        <p:txBody>
          <a:bodyPr/>
          <a:p/>
        </p:txBody>
      </p:sp>
      <p:sp>
        <p:nvSpPr>
          <p:cNvPr id="11" name="Line 11"/>
          <p:cNvSpPr/>
          <p:nvPr/>
        </p:nvSpPr>
        <p:spPr>
          <a:xfrm>
            <a:off x="9123218" y="1255489"/>
            <a:ext cx="9525" cy="346521"/>
          </a:xfrm>
          <a:custGeom>
            <a:avLst/>
            <a:gdLst/>
            <a:ahLst/>
            <a:cxnLst/>
            <a:rect l="l" t="t" r="r" b="b"/>
            <a:pathLst>
              <a:path w="9525" h="346521">
                <a:moveTo>
                  <a:pt x="0" y="0"/>
                </a:moveTo>
                <a:lnTo>
                  <a:pt x="0" y="346521"/>
                </a:lnTo>
              </a:path>
            </a:pathLst>
          </a:custGeom>
          <a:noFill/>
          <a:ln w="28575" cap="rnd">
            <a:solidFill>
              <a:srgbClr val="34D3C0"/>
            </a:solidFill>
          </a:ln>
        </p:spPr>
        <p:txBody>
          <a:bodyPr/>
          <a:p/>
        </p:txBody>
      </p:sp>
      <p:sp>
        <p:nvSpPr>
          <p:cNvPr id="12" name="Line 12"/>
          <p:cNvSpPr/>
          <p:nvPr/>
        </p:nvSpPr>
        <p:spPr>
          <a:xfrm>
            <a:off x="9165648" y="1244756"/>
            <a:ext cx="9525" cy="367988"/>
          </a:xfrm>
          <a:custGeom>
            <a:avLst/>
            <a:gdLst/>
            <a:ahLst/>
            <a:cxnLst/>
            <a:rect l="l" t="t" r="r" b="b"/>
            <a:pathLst>
              <a:path w="9525" h="367988">
                <a:moveTo>
                  <a:pt x="0" y="0"/>
                </a:moveTo>
                <a:lnTo>
                  <a:pt x="0" y="367988"/>
                </a:lnTo>
              </a:path>
            </a:pathLst>
          </a:custGeom>
          <a:noFill/>
          <a:ln w="28575" cap="rnd">
            <a:solidFill>
              <a:srgbClr val="34D3C0"/>
            </a:solidFill>
          </a:ln>
        </p:spPr>
        <p:txBody>
          <a:bodyPr/>
          <a:p/>
        </p:txBody>
      </p:sp>
      <p:sp>
        <p:nvSpPr>
          <p:cNvPr id="13" name="Line 13"/>
          <p:cNvSpPr/>
          <p:nvPr/>
        </p:nvSpPr>
        <p:spPr>
          <a:xfrm>
            <a:off x="9208077" y="1238250"/>
            <a:ext cx="9525" cy="381000"/>
          </a:xfrm>
          <a:custGeom>
            <a:avLst/>
            <a:gdLst/>
            <a:ahLst/>
            <a:cxnLst/>
            <a:rect l="l" t="t" r="r" b="b"/>
            <a:pathLst>
              <a:path w="9525" h="381000">
                <a:moveTo>
                  <a:pt x="0" y="0"/>
                </a:moveTo>
                <a:lnTo>
                  <a:pt x="0" y="381000"/>
                </a:lnTo>
              </a:path>
            </a:pathLst>
          </a:custGeom>
          <a:noFill/>
          <a:ln w="28575" cap="rnd">
            <a:solidFill>
              <a:srgbClr val="34D3C0"/>
            </a:solidFill>
          </a:ln>
        </p:spPr>
        <p:txBody>
          <a:bodyPr/>
          <a:p/>
        </p:txBody>
      </p:sp>
      <p:sp>
        <p:nvSpPr>
          <p:cNvPr id="14" name="Line 14"/>
          <p:cNvSpPr/>
          <p:nvPr/>
        </p:nvSpPr>
        <p:spPr>
          <a:xfrm>
            <a:off x="9250507" y="1246718"/>
            <a:ext cx="9525" cy="364064"/>
          </a:xfrm>
          <a:custGeom>
            <a:avLst/>
            <a:gdLst/>
            <a:ahLst/>
            <a:cxnLst/>
            <a:rect l="l" t="t" r="r" b="b"/>
            <a:pathLst>
              <a:path w="9525" h="364064">
                <a:moveTo>
                  <a:pt x="0" y="0"/>
                </a:moveTo>
                <a:lnTo>
                  <a:pt x="0" y="364064"/>
                </a:lnTo>
              </a:path>
            </a:pathLst>
          </a:custGeom>
          <a:noFill/>
          <a:ln w="28575" cap="rnd">
            <a:solidFill>
              <a:srgbClr val="34D3C0"/>
            </a:solidFill>
          </a:ln>
        </p:spPr>
        <p:txBody>
          <a:bodyPr/>
          <a:p/>
        </p:txBody>
      </p:sp>
      <p:sp>
        <p:nvSpPr>
          <p:cNvPr id="15" name="Line 15"/>
          <p:cNvSpPr/>
          <p:nvPr/>
        </p:nvSpPr>
        <p:spPr>
          <a:xfrm>
            <a:off x="9292936" y="1279539"/>
            <a:ext cx="9525" cy="298423"/>
          </a:xfrm>
          <a:custGeom>
            <a:avLst/>
            <a:gdLst/>
            <a:ahLst/>
            <a:cxnLst/>
            <a:rect l="l" t="t" r="r" b="b"/>
            <a:pathLst>
              <a:path w="9525" h="298423">
                <a:moveTo>
                  <a:pt x="0" y="0"/>
                </a:moveTo>
                <a:lnTo>
                  <a:pt x="0" y="298423"/>
                </a:lnTo>
              </a:path>
            </a:pathLst>
          </a:custGeom>
          <a:noFill/>
          <a:ln w="28575" cap="rnd">
            <a:solidFill>
              <a:srgbClr val="34D3C0"/>
            </a:solidFill>
          </a:ln>
        </p:spPr>
        <p:txBody>
          <a:bodyPr/>
          <a:p/>
        </p:txBody>
      </p:sp>
      <p:sp>
        <p:nvSpPr>
          <p:cNvPr id="16" name="Line 16"/>
          <p:cNvSpPr/>
          <p:nvPr/>
        </p:nvSpPr>
        <p:spPr>
          <a:xfrm>
            <a:off x="9335366" y="1306237"/>
            <a:ext cx="9525" cy="245026"/>
          </a:xfrm>
          <a:custGeom>
            <a:avLst/>
            <a:gdLst/>
            <a:ahLst/>
            <a:cxnLst/>
            <a:rect l="l" t="t" r="r" b="b"/>
            <a:pathLst>
              <a:path w="9525" h="245026">
                <a:moveTo>
                  <a:pt x="0" y="0"/>
                </a:moveTo>
                <a:lnTo>
                  <a:pt x="0" y="245026"/>
                </a:lnTo>
              </a:path>
            </a:pathLst>
          </a:custGeom>
          <a:noFill/>
          <a:ln w="28575" cap="rnd">
            <a:solidFill>
              <a:srgbClr val="34D3C0"/>
            </a:solidFill>
          </a:ln>
        </p:spPr>
        <p:txBody>
          <a:bodyPr/>
          <a:p/>
        </p:txBody>
      </p:sp>
      <p:sp>
        <p:nvSpPr>
          <p:cNvPr id="17" name="Line 17"/>
          <p:cNvSpPr/>
          <p:nvPr/>
        </p:nvSpPr>
        <p:spPr>
          <a:xfrm>
            <a:off x="9377795" y="1342042"/>
            <a:ext cx="9525" cy="173416"/>
          </a:xfrm>
          <a:custGeom>
            <a:avLst/>
            <a:gdLst/>
            <a:ahLst/>
            <a:cxnLst/>
            <a:rect l="l" t="t" r="r" b="b"/>
            <a:pathLst>
              <a:path w="9525" h="173416">
                <a:moveTo>
                  <a:pt x="0" y="0"/>
                </a:moveTo>
                <a:lnTo>
                  <a:pt x="0" y="173416"/>
                </a:lnTo>
              </a:path>
            </a:pathLst>
          </a:custGeom>
          <a:noFill/>
          <a:ln w="28575" cap="rnd">
            <a:solidFill>
              <a:srgbClr val="34D3C0"/>
            </a:solidFill>
          </a:ln>
        </p:spPr>
        <p:txBody>
          <a:bodyPr/>
          <a:p/>
        </p:txBody>
      </p:sp>
      <p:sp>
        <p:nvSpPr>
          <p:cNvPr id="18" name="Line 18"/>
          <p:cNvSpPr/>
          <p:nvPr/>
        </p:nvSpPr>
        <p:spPr>
          <a:xfrm>
            <a:off x="9420225" y="1373562"/>
            <a:ext cx="9525" cy="110376"/>
          </a:xfrm>
          <a:custGeom>
            <a:avLst/>
            <a:gdLst/>
            <a:ahLst/>
            <a:cxnLst/>
            <a:rect l="l" t="t" r="r" b="b"/>
            <a:pathLst>
              <a:path w="9525" h="110376">
                <a:moveTo>
                  <a:pt x="0" y="0"/>
                </a:moveTo>
                <a:lnTo>
                  <a:pt x="0" y="110376"/>
                </a:lnTo>
              </a:path>
            </a:pathLst>
          </a:custGeom>
          <a:noFill/>
          <a:ln w="28575" cap="rnd">
            <a:solidFill>
              <a:srgbClr val="34D3C0"/>
            </a:solidFill>
          </a:ln>
        </p:spPr>
        <p:txBody>
          <a:bodyPr/>
          <a:p/>
        </p:txBody>
      </p:sp>
      <p:sp>
        <p:nvSpPr>
          <p:cNvPr id="19" name="Line 19"/>
          <p:cNvSpPr/>
          <p:nvPr/>
        </p:nvSpPr>
        <p:spPr>
          <a:xfrm>
            <a:off x="9462655" y="1347891"/>
            <a:ext cx="9525" cy="161717"/>
          </a:xfrm>
          <a:custGeom>
            <a:avLst/>
            <a:gdLst/>
            <a:ahLst/>
            <a:cxnLst/>
            <a:rect l="l" t="t" r="r" b="b"/>
            <a:pathLst>
              <a:path w="9525" h="161717">
                <a:moveTo>
                  <a:pt x="0" y="0"/>
                </a:moveTo>
                <a:lnTo>
                  <a:pt x="0" y="161717"/>
                </a:lnTo>
              </a:path>
            </a:pathLst>
          </a:custGeom>
          <a:noFill/>
          <a:ln w="28575" cap="rnd">
            <a:solidFill>
              <a:srgbClr val="34D3C0"/>
            </a:solidFill>
          </a:ln>
        </p:spPr>
        <p:txBody>
          <a:bodyPr/>
          <a:p/>
        </p:txBody>
      </p:sp>
      <p:sp>
        <p:nvSpPr>
          <p:cNvPr id="20" name="Line 20"/>
          <p:cNvSpPr/>
          <p:nvPr/>
        </p:nvSpPr>
        <p:spPr>
          <a:xfrm>
            <a:off x="9505084" y="1306853"/>
            <a:ext cx="9525" cy="243794"/>
          </a:xfrm>
          <a:custGeom>
            <a:avLst/>
            <a:gdLst/>
            <a:ahLst/>
            <a:cxnLst/>
            <a:rect l="l" t="t" r="r" b="b"/>
            <a:pathLst>
              <a:path w="9525" h="243794">
                <a:moveTo>
                  <a:pt x="0" y="0"/>
                </a:moveTo>
                <a:lnTo>
                  <a:pt x="0" y="243794"/>
                </a:lnTo>
              </a:path>
            </a:pathLst>
          </a:custGeom>
          <a:noFill/>
          <a:ln w="28575" cap="rnd">
            <a:solidFill>
              <a:srgbClr val="34D3C0"/>
            </a:solidFill>
          </a:ln>
        </p:spPr>
        <p:txBody>
          <a:bodyPr/>
          <a:p/>
        </p:txBody>
      </p:sp>
      <p:sp>
        <p:nvSpPr>
          <p:cNvPr id="21" name="Line 21"/>
          <p:cNvSpPr/>
          <p:nvPr/>
        </p:nvSpPr>
        <p:spPr>
          <a:xfrm>
            <a:off x="9547514" y="1269270"/>
            <a:ext cx="9525" cy="318961"/>
          </a:xfrm>
          <a:custGeom>
            <a:avLst/>
            <a:gdLst/>
            <a:ahLst/>
            <a:cxnLst/>
            <a:rect l="l" t="t" r="r" b="b"/>
            <a:pathLst>
              <a:path w="9525" h="318961">
                <a:moveTo>
                  <a:pt x="0" y="0"/>
                </a:moveTo>
                <a:lnTo>
                  <a:pt x="0" y="318961"/>
                </a:lnTo>
              </a:path>
            </a:pathLst>
          </a:custGeom>
          <a:noFill/>
          <a:ln w="28575" cap="rnd">
            <a:solidFill>
              <a:srgbClr val="34D3C0"/>
            </a:solidFill>
          </a:ln>
        </p:spPr>
        <p:txBody>
          <a:bodyPr/>
          <a:p/>
        </p:txBody>
      </p:sp>
      <p:sp>
        <p:nvSpPr>
          <p:cNvPr id="22" name="Line 22"/>
          <p:cNvSpPr/>
          <p:nvPr/>
        </p:nvSpPr>
        <p:spPr>
          <a:xfrm>
            <a:off x="9589943" y="1250605"/>
            <a:ext cx="9525" cy="356290"/>
          </a:xfrm>
          <a:custGeom>
            <a:avLst/>
            <a:gdLst/>
            <a:ahLst/>
            <a:cxnLst/>
            <a:rect l="l" t="t" r="r" b="b"/>
            <a:pathLst>
              <a:path w="9525" h="356290">
                <a:moveTo>
                  <a:pt x="0" y="0"/>
                </a:moveTo>
                <a:lnTo>
                  <a:pt x="0" y="356290"/>
                </a:lnTo>
              </a:path>
            </a:pathLst>
          </a:custGeom>
          <a:noFill/>
          <a:ln w="28575" cap="rnd">
            <a:solidFill>
              <a:srgbClr val="34D3C0"/>
            </a:solidFill>
          </a:ln>
        </p:spPr>
        <p:txBody>
          <a:bodyPr/>
          <a:p/>
        </p:txBody>
      </p:sp>
      <p:sp>
        <p:nvSpPr>
          <p:cNvPr id="23" name="Line 23"/>
          <p:cNvSpPr/>
          <p:nvPr/>
        </p:nvSpPr>
        <p:spPr>
          <a:xfrm>
            <a:off x="9632373" y="1238250"/>
            <a:ext cx="9525" cy="381000"/>
          </a:xfrm>
          <a:custGeom>
            <a:avLst/>
            <a:gdLst/>
            <a:ahLst/>
            <a:cxnLst/>
            <a:rect l="l" t="t" r="r" b="b"/>
            <a:pathLst>
              <a:path w="9525" h="381000">
                <a:moveTo>
                  <a:pt x="0" y="0"/>
                </a:moveTo>
                <a:lnTo>
                  <a:pt x="0" y="381000"/>
                </a:lnTo>
              </a:path>
            </a:pathLst>
          </a:custGeom>
          <a:noFill/>
          <a:ln w="28575" cap="rnd">
            <a:solidFill>
              <a:srgbClr val="34D3C0"/>
            </a:solidFill>
          </a:ln>
        </p:spPr>
        <p:txBody>
          <a:bodyPr/>
          <a:p/>
        </p:txBody>
      </p:sp>
      <p:sp>
        <p:nvSpPr>
          <p:cNvPr id="24" name="Line 24"/>
          <p:cNvSpPr/>
          <p:nvPr/>
        </p:nvSpPr>
        <p:spPr>
          <a:xfrm>
            <a:off x="9674802" y="1242191"/>
            <a:ext cx="9525" cy="373118"/>
          </a:xfrm>
          <a:custGeom>
            <a:avLst/>
            <a:gdLst/>
            <a:ahLst/>
            <a:cxnLst/>
            <a:rect l="l" t="t" r="r" b="b"/>
            <a:pathLst>
              <a:path w="9525" h="373118">
                <a:moveTo>
                  <a:pt x="0" y="0"/>
                </a:moveTo>
                <a:lnTo>
                  <a:pt x="0" y="373118"/>
                </a:lnTo>
              </a:path>
            </a:pathLst>
          </a:custGeom>
          <a:noFill/>
          <a:ln w="28575" cap="rnd">
            <a:solidFill>
              <a:srgbClr val="34D3C0"/>
            </a:solidFill>
          </a:ln>
        </p:spPr>
        <p:txBody>
          <a:bodyPr/>
          <a:p/>
        </p:txBody>
      </p:sp>
      <p:sp>
        <p:nvSpPr>
          <p:cNvPr id="25" name="Line 25"/>
          <p:cNvSpPr/>
          <p:nvPr/>
        </p:nvSpPr>
        <p:spPr>
          <a:xfrm>
            <a:off x="9717232" y="1263821"/>
            <a:ext cx="9525" cy="329858"/>
          </a:xfrm>
          <a:custGeom>
            <a:avLst/>
            <a:gdLst/>
            <a:ahLst/>
            <a:cxnLst/>
            <a:rect l="l" t="t" r="r" b="b"/>
            <a:pathLst>
              <a:path w="9525" h="329858">
                <a:moveTo>
                  <a:pt x="0" y="0"/>
                </a:moveTo>
                <a:lnTo>
                  <a:pt x="0" y="329858"/>
                </a:lnTo>
              </a:path>
            </a:pathLst>
          </a:custGeom>
          <a:noFill/>
          <a:ln w="28575" cap="rnd">
            <a:solidFill>
              <a:srgbClr val="34D3C0"/>
            </a:solidFill>
          </a:ln>
        </p:spPr>
        <p:txBody>
          <a:bodyPr/>
          <a:p/>
        </p:txBody>
      </p:sp>
      <p:sp>
        <p:nvSpPr>
          <p:cNvPr id="26" name="Line 26"/>
          <p:cNvSpPr/>
          <p:nvPr/>
        </p:nvSpPr>
        <p:spPr>
          <a:xfrm>
            <a:off x="9759661" y="1275878"/>
            <a:ext cx="9525" cy="305744"/>
          </a:xfrm>
          <a:custGeom>
            <a:avLst/>
            <a:gdLst/>
            <a:ahLst/>
            <a:cxnLst/>
            <a:rect l="l" t="t" r="r" b="b"/>
            <a:pathLst>
              <a:path w="9525" h="305744">
                <a:moveTo>
                  <a:pt x="0" y="0"/>
                </a:moveTo>
                <a:lnTo>
                  <a:pt x="0" y="305744"/>
                </a:lnTo>
              </a:path>
            </a:pathLst>
          </a:custGeom>
          <a:noFill/>
          <a:ln w="28575" cap="rnd">
            <a:solidFill>
              <a:srgbClr val="34D3C0"/>
            </a:solidFill>
          </a:ln>
        </p:spPr>
        <p:txBody>
          <a:bodyPr/>
          <a:p/>
        </p:txBody>
      </p:sp>
      <p:sp>
        <p:nvSpPr>
          <p:cNvPr id="27" name="Line 27"/>
          <p:cNvSpPr/>
          <p:nvPr/>
        </p:nvSpPr>
        <p:spPr>
          <a:xfrm>
            <a:off x="9802091" y="1300245"/>
            <a:ext cx="9525" cy="257011"/>
          </a:xfrm>
          <a:custGeom>
            <a:avLst/>
            <a:gdLst/>
            <a:ahLst/>
            <a:cxnLst/>
            <a:rect l="l" t="t" r="r" b="b"/>
            <a:pathLst>
              <a:path w="9525" h="257011">
                <a:moveTo>
                  <a:pt x="0" y="0"/>
                </a:moveTo>
                <a:lnTo>
                  <a:pt x="0" y="257011"/>
                </a:lnTo>
              </a:path>
            </a:pathLst>
          </a:custGeom>
          <a:noFill/>
          <a:ln w="28575" cap="rnd">
            <a:solidFill>
              <a:srgbClr val="34D3C0"/>
            </a:solidFill>
          </a:ln>
        </p:spPr>
        <p:txBody>
          <a:bodyPr/>
          <a:p/>
        </p:txBody>
      </p:sp>
      <p:sp>
        <p:nvSpPr>
          <p:cNvPr id="28" name="Line 28"/>
          <p:cNvSpPr/>
          <p:nvPr/>
        </p:nvSpPr>
        <p:spPr>
          <a:xfrm>
            <a:off x="9844520" y="1334675"/>
            <a:ext cx="9525" cy="188149"/>
          </a:xfrm>
          <a:custGeom>
            <a:avLst/>
            <a:gdLst/>
            <a:ahLst/>
            <a:cxnLst/>
            <a:rect l="l" t="t" r="r" b="b"/>
            <a:pathLst>
              <a:path w="9525" h="188149">
                <a:moveTo>
                  <a:pt x="0" y="0"/>
                </a:moveTo>
                <a:lnTo>
                  <a:pt x="0" y="188149"/>
                </a:lnTo>
              </a:path>
            </a:pathLst>
          </a:custGeom>
          <a:noFill/>
          <a:ln w="28575" cap="rnd">
            <a:solidFill>
              <a:srgbClr val="34D3C0"/>
            </a:solidFill>
          </a:ln>
        </p:spPr>
        <p:txBody>
          <a:bodyPr/>
          <a:p/>
        </p:txBody>
      </p:sp>
      <p:sp>
        <p:nvSpPr>
          <p:cNvPr id="29" name="Line 29"/>
          <p:cNvSpPr/>
          <p:nvPr/>
        </p:nvSpPr>
        <p:spPr>
          <a:xfrm>
            <a:off x="9886950" y="1366954"/>
            <a:ext cx="9525" cy="123593"/>
          </a:xfrm>
          <a:custGeom>
            <a:avLst/>
            <a:gdLst/>
            <a:ahLst/>
            <a:cxnLst/>
            <a:rect l="l" t="t" r="r" b="b"/>
            <a:pathLst>
              <a:path w="9525" h="123593">
                <a:moveTo>
                  <a:pt x="0" y="0"/>
                </a:moveTo>
                <a:lnTo>
                  <a:pt x="0" y="123593"/>
                </a:lnTo>
              </a:path>
            </a:pathLst>
          </a:custGeom>
          <a:noFill/>
          <a:ln w="28575" cap="rnd">
            <a:solidFill>
              <a:srgbClr val="34D3C0"/>
            </a:solidFill>
          </a:ln>
        </p:spPr>
        <p:txBody>
          <a:bodyPr/>
          <a:p/>
        </p:txBody>
      </p:sp>
      <p:sp>
        <p:nvSpPr>
          <p:cNvPr id="30" name="Line 30"/>
          <p:cNvSpPr/>
          <p:nvPr/>
        </p:nvSpPr>
        <p:spPr>
          <a:xfrm>
            <a:off x="9929380" y="1335434"/>
            <a:ext cx="9525" cy="186632"/>
          </a:xfrm>
          <a:custGeom>
            <a:avLst/>
            <a:gdLst/>
            <a:ahLst/>
            <a:cxnLst/>
            <a:rect l="l" t="t" r="r" b="b"/>
            <a:pathLst>
              <a:path w="9525" h="186632">
                <a:moveTo>
                  <a:pt x="0" y="0"/>
                </a:moveTo>
                <a:lnTo>
                  <a:pt x="0" y="186632"/>
                </a:lnTo>
              </a:path>
            </a:pathLst>
          </a:custGeom>
          <a:noFill/>
          <a:ln w="28575" cap="rnd">
            <a:solidFill>
              <a:srgbClr val="34D3C0"/>
            </a:solidFill>
          </a:ln>
        </p:spPr>
        <p:txBody>
          <a:bodyPr/>
          <a:p/>
        </p:txBody>
      </p:sp>
      <p:sp>
        <p:nvSpPr>
          <p:cNvPr id="31" name="Line 31"/>
          <p:cNvSpPr/>
          <p:nvPr/>
        </p:nvSpPr>
        <p:spPr>
          <a:xfrm>
            <a:off x="9971809" y="1293021"/>
            <a:ext cx="9525" cy="271458"/>
          </a:xfrm>
          <a:custGeom>
            <a:avLst/>
            <a:gdLst/>
            <a:ahLst/>
            <a:cxnLst/>
            <a:rect l="l" t="t" r="r" b="b"/>
            <a:pathLst>
              <a:path w="9525" h="271458">
                <a:moveTo>
                  <a:pt x="0" y="0"/>
                </a:moveTo>
                <a:lnTo>
                  <a:pt x="0" y="271458"/>
                </a:lnTo>
              </a:path>
            </a:pathLst>
          </a:custGeom>
          <a:noFill/>
          <a:ln w="28575" cap="rnd">
            <a:solidFill>
              <a:srgbClr val="34D3C0"/>
            </a:solidFill>
          </a:ln>
        </p:spPr>
        <p:txBody>
          <a:bodyPr/>
          <a:p/>
        </p:txBody>
      </p:sp>
      <p:sp>
        <p:nvSpPr>
          <p:cNvPr id="32" name="Line 32"/>
          <p:cNvSpPr/>
          <p:nvPr/>
        </p:nvSpPr>
        <p:spPr>
          <a:xfrm>
            <a:off x="10014239" y="1272931"/>
            <a:ext cx="9525" cy="311639"/>
          </a:xfrm>
          <a:custGeom>
            <a:avLst/>
            <a:gdLst/>
            <a:ahLst/>
            <a:cxnLst/>
            <a:rect l="l" t="t" r="r" b="b"/>
            <a:pathLst>
              <a:path w="9525" h="311639">
                <a:moveTo>
                  <a:pt x="0" y="0"/>
                </a:moveTo>
                <a:lnTo>
                  <a:pt x="0" y="311639"/>
                </a:lnTo>
              </a:path>
            </a:pathLst>
          </a:custGeom>
          <a:noFill/>
          <a:ln w="28575" cap="rnd">
            <a:solidFill>
              <a:srgbClr val="34D3C0"/>
            </a:solidFill>
          </a:ln>
        </p:spPr>
        <p:txBody>
          <a:bodyPr/>
          <a:p/>
        </p:txBody>
      </p:sp>
      <p:sp>
        <p:nvSpPr>
          <p:cNvPr id="33" name="Line 33"/>
          <p:cNvSpPr/>
          <p:nvPr/>
        </p:nvSpPr>
        <p:spPr>
          <a:xfrm>
            <a:off x="10056668" y="1253326"/>
            <a:ext cx="9525" cy="350848"/>
          </a:xfrm>
          <a:custGeom>
            <a:avLst/>
            <a:gdLst/>
            <a:ahLst/>
            <a:cxnLst/>
            <a:rect l="l" t="t" r="r" b="b"/>
            <a:pathLst>
              <a:path w="9525" h="350848">
                <a:moveTo>
                  <a:pt x="0" y="0"/>
                </a:moveTo>
                <a:lnTo>
                  <a:pt x="0" y="350848"/>
                </a:lnTo>
              </a:path>
            </a:pathLst>
          </a:custGeom>
          <a:noFill/>
          <a:ln w="28575" cap="rnd">
            <a:solidFill>
              <a:srgbClr val="34D3C0"/>
            </a:solidFill>
          </a:ln>
        </p:spPr>
        <p:txBody>
          <a:bodyPr/>
          <a:p/>
        </p:txBody>
      </p:sp>
      <p:sp>
        <p:nvSpPr>
          <p:cNvPr id="34" name="Line 34"/>
          <p:cNvSpPr/>
          <p:nvPr/>
        </p:nvSpPr>
        <p:spPr>
          <a:xfrm>
            <a:off x="10099098" y="1246745"/>
            <a:ext cx="9525" cy="364010"/>
          </a:xfrm>
          <a:custGeom>
            <a:avLst/>
            <a:gdLst/>
            <a:ahLst/>
            <a:cxnLst/>
            <a:rect l="l" t="t" r="r" b="b"/>
            <a:pathLst>
              <a:path w="9525" h="364010">
                <a:moveTo>
                  <a:pt x="0" y="0"/>
                </a:moveTo>
                <a:lnTo>
                  <a:pt x="0" y="364010"/>
                </a:lnTo>
              </a:path>
            </a:pathLst>
          </a:custGeom>
          <a:noFill/>
          <a:ln w="28575" cap="rnd">
            <a:solidFill>
              <a:srgbClr val="34D3C0"/>
            </a:solidFill>
          </a:ln>
        </p:spPr>
        <p:txBody>
          <a:bodyPr/>
          <a:p/>
        </p:txBody>
      </p:sp>
      <p:sp>
        <p:nvSpPr>
          <p:cNvPr id="35" name="Line 35"/>
          <p:cNvSpPr/>
          <p:nvPr/>
        </p:nvSpPr>
        <p:spPr>
          <a:xfrm>
            <a:off x="10141527" y="1251364"/>
            <a:ext cx="9525" cy="354771"/>
          </a:xfrm>
          <a:custGeom>
            <a:avLst/>
            <a:gdLst/>
            <a:ahLst/>
            <a:cxnLst/>
            <a:rect l="l" t="t" r="r" b="b"/>
            <a:pathLst>
              <a:path w="9525" h="354771">
                <a:moveTo>
                  <a:pt x="0" y="0"/>
                </a:moveTo>
                <a:lnTo>
                  <a:pt x="0" y="354771"/>
                </a:lnTo>
              </a:path>
            </a:pathLst>
          </a:custGeom>
          <a:noFill/>
          <a:ln w="28575" cap="rnd">
            <a:solidFill>
              <a:srgbClr val="34D3C0"/>
            </a:solidFill>
          </a:ln>
        </p:spPr>
        <p:txBody>
          <a:bodyPr/>
          <a:p/>
        </p:txBody>
      </p:sp>
      <p:sp>
        <p:nvSpPr>
          <p:cNvPr id="36" name="Line 36"/>
          <p:cNvSpPr/>
          <p:nvPr/>
        </p:nvSpPr>
        <p:spPr>
          <a:xfrm>
            <a:off x="10183957" y="1248881"/>
            <a:ext cx="9525" cy="359737"/>
          </a:xfrm>
          <a:custGeom>
            <a:avLst/>
            <a:gdLst/>
            <a:ahLst/>
            <a:cxnLst/>
            <a:rect l="l" t="t" r="r" b="b"/>
            <a:pathLst>
              <a:path w="9525" h="359737">
                <a:moveTo>
                  <a:pt x="0" y="0"/>
                </a:moveTo>
                <a:lnTo>
                  <a:pt x="0" y="359737"/>
                </a:lnTo>
              </a:path>
            </a:pathLst>
          </a:custGeom>
          <a:noFill/>
          <a:ln w="28575" cap="rnd">
            <a:solidFill>
              <a:srgbClr val="34D3C0"/>
            </a:solidFill>
          </a:ln>
        </p:spPr>
        <p:txBody>
          <a:bodyPr/>
          <a:p/>
        </p:txBody>
      </p:sp>
      <p:sp>
        <p:nvSpPr>
          <p:cNvPr id="37" name="Line 37"/>
          <p:cNvSpPr/>
          <p:nvPr/>
        </p:nvSpPr>
        <p:spPr>
          <a:xfrm>
            <a:off x="10226386" y="1266057"/>
            <a:ext cx="9525" cy="325386"/>
          </a:xfrm>
          <a:custGeom>
            <a:avLst/>
            <a:gdLst/>
            <a:ahLst/>
            <a:cxnLst/>
            <a:rect l="l" t="t" r="r" b="b"/>
            <a:pathLst>
              <a:path w="9525" h="325386">
                <a:moveTo>
                  <a:pt x="0" y="0"/>
                </a:moveTo>
                <a:lnTo>
                  <a:pt x="0" y="325386"/>
                </a:lnTo>
              </a:path>
            </a:pathLst>
          </a:custGeom>
          <a:noFill/>
          <a:ln w="28575" cap="rnd">
            <a:solidFill>
              <a:srgbClr val="34D3C0"/>
            </a:solidFill>
          </a:ln>
        </p:spPr>
        <p:txBody>
          <a:bodyPr/>
          <a:p/>
        </p:txBody>
      </p:sp>
      <p:sp>
        <p:nvSpPr>
          <p:cNvPr id="38" name="Line 38"/>
          <p:cNvSpPr/>
          <p:nvPr/>
        </p:nvSpPr>
        <p:spPr>
          <a:xfrm>
            <a:off x="10268816" y="1301735"/>
            <a:ext cx="9525" cy="254031"/>
          </a:xfrm>
          <a:custGeom>
            <a:avLst/>
            <a:gdLst/>
            <a:ahLst/>
            <a:cxnLst/>
            <a:rect l="l" t="t" r="r" b="b"/>
            <a:pathLst>
              <a:path w="9525" h="254031">
                <a:moveTo>
                  <a:pt x="0" y="0"/>
                </a:moveTo>
                <a:lnTo>
                  <a:pt x="0" y="254031"/>
                </a:lnTo>
              </a:path>
            </a:pathLst>
          </a:custGeom>
          <a:noFill/>
          <a:ln w="28575" cap="rnd">
            <a:solidFill>
              <a:srgbClr val="34D3C0"/>
            </a:solidFill>
          </a:ln>
        </p:spPr>
        <p:txBody>
          <a:bodyPr/>
          <a:p/>
        </p:txBody>
      </p:sp>
      <p:sp>
        <p:nvSpPr>
          <p:cNvPr id="39" name="Line 39"/>
          <p:cNvSpPr/>
          <p:nvPr/>
        </p:nvSpPr>
        <p:spPr>
          <a:xfrm>
            <a:off x="10311245" y="1335904"/>
            <a:ext cx="9525" cy="185692"/>
          </a:xfrm>
          <a:custGeom>
            <a:avLst/>
            <a:gdLst/>
            <a:ahLst/>
            <a:cxnLst/>
            <a:rect l="l" t="t" r="r" b="b"/>
            <a:pathLst>
              <a:path w="9525" h="185692">
                <a:moveTo>
                  <a:pt x="0" y="0"/>
                </a:moveTo>
                <a:lnTo>
                  <a:pt x="0" y="185692"/>
                </a:lnTo>
              </a:path>
            </a:pathLst>
          </a:custGeom>
          <a:noFill/>
          <a:ln w="28575" cap="rnd">
            <a:solidFill>
              <a:srgbClr val="34D3C0"/>
            </a:solidFill>
          </a:ln>
        </p:spPr>
        <p:txBody>
          <a:bodyPr/>
          <a:p/>
        </p:txBody>
      </p:sp>
      <p:sp>
        <p:nvSpPr>
          <p:cNvPr id="40" name="Line 40"/>
          <p:cNvSpPr/>
          <p:nvPr/>
        </p:nvSpPr>
        <p:spPr>
          <a:xfrm>
            <a:off x="10353675" y="1368802"/>
            <a:ext cx="9525" cy="119896"/>
          </a:xfrm>
          <a:custGeom>
            <a:avLst/>
            <a:gdLst/>
            <a:ahLst/>
            <a:cxnLst/>
            <a:rect l="l" t="t" r="r" b="b"/>
            <a:pathLst>
              <a:path w="9525" h="119896">
                <a:moveTo>
                  <a:pt x="0" y="0"/>
                </a:moveTo>
                <a:lnTo>
                  <a:pt x="0" y="119896"/>
                </a:lnTo>
              </a:path>
            </a:pathLst>
          </a:custGeom>
          <a:noFill/>
          <a:ln w="28575" cap="rnd">
            <a:solidFill>
              <a:srgbClr val="34D3C0"/>
            </a:solidFill>
          </a:ln>
        </p:spPr>
        <p:txBody>
          <a:bodyPr/>
          <a:p/>
        </p:txBody>
      </p:sp>
      <p:sp>
        <p:nvSpPr>
          <p:cNvPr id="41" name="Line 41"/>
          <p:cNvSpPr/>
          <p:nvPr/>
        </p:nvSpPr>
        <p:spPr>
          <a:xfrm>
            <a:off x="8953500" y="1701223"/>
            <a:ext cx="9525" cy="331355"/>
          </a:xfrm>
          <a:custGeom>
            <a:avLst/>
            <a:gdLst/>
            <a:ahLst/>
            <a:cxnLst/>
            <a:rect l="l" t="t" r="r" b="b"/>
            <a:pathLst>
              <a:path w="9525" h="331355">
                <a:moveTo>
                  <a:pt x="0" y="0"/>
                </a:moveTo>
                <a:lnTo>
                  <a:pt x="0" y="331355"/>
                </a:lnTo>
              </a:path>
            </a:pathLst>
          </a:custGeom>
          <a:noFill/>
          <a:ln w="28575" cap="rnd">
            <a:solidFill>
              <a:srgbClr val="F2685C"/>
            </a:solidFill>
          </a:ln>
        </p:spPr>
        <p:txBody>
          <a:bodyPr/>
          <a:p/>
        </p:txBody>
      </p:sp>
      <p:sp>
        <p:nvSpPr>
          <p:cNvPr id="42" name="Line 42"/>
          <p:cNvSpPr/>
          <p:nvPr/>
        </p:nvSpPr>
        <p:spPr>
          <a:xfrm>
            <a:off x="8995930"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43" name="Line 43"/>
          <p:cNvSpPr/>
          <p:nvPr/>
        </p:nvSpPr>
        <p:spPr>
          <a:xfrm>
            <a:off x="9038359" y="1767237"/>
            <a:ext cx="9525" cy="199326"/>
          </a:xfrm>
          <a:custGeom>
            <a:avLst/>
            <a:gdLst/>
            <a:ahLst/>
            <a:cxnLst/>
            <a:rect l="l" t="t" r="r" b="b"/>
            <a:pathLst>
              <a:path w="9525" h="199326">
                <a:moveTo>
                  <a:pt x="0" y="0"/>
                </a:moveTo>
                <a:lnTo>
                  <a:pt x="0" y="199326"/>
                </a:lnTo>
              </a:path>
            </a:pathLst>
          </a:custGeom>
          <a:noFill/>
          <a:ln w="28575" cap="rnd">
            <a:solidFill>
              <a:srgbClr val="F2685C"/>
            </a:solidFill>
          </a:ln>
        </p:spPr>
        <p:txBody>
          <a:bodyPr/>
          <a:p/>
        </p:txBody>
      </p:sp>
      <p:sp>
        <p:nvSpPr>
          <p:cNvPr id="44" name="Line 44"/>
          <p:cNvSpPr/>
          <p:nvPr/>
        </p:nvSpPr>
        <p:spPr>
          <a:xfrm>
            <a:off x="9080789" y="1789345"/>
            <a:ext cx="9525" cy="155110"/>
          </a:xfrm>
          <a:custGeom>
            <a:avLst/>
            <a:gdLst/>
            <a:ahLst/>
            <a:cxnLst/>
            <a:rect l="l" t="t" r="r" b="b"/>
            <a:pathLst>
              <a:path w="9525" h="155110">
                <a:moveTo>
                  <a:pt x="0" y="0"/>
                </a:moveTo>
                <a:lnTo>
                  <a:pt x="0" y="155110"/>
                </a:lnTo>
              </a:path>
            </a:pathLst>
          </a:custGeom>
          <a:noFill/>
          <a:ln w="28575" cap="rnd">
            <a:solidFill>
              <a:srgbClr val="F2685C"/>
            </a:solidFill>
          </a:ln>
        </p:spPr>
        <p:txBody>
          <a:bodyPr/>
          <a:p/>
        </p:txBody>
      </p:sp>
      <p:sp>
        <p:nvSpPr>
          <p:cNvPr id="45" name="Line 45"/>
          <p:cNvSpPr/>
          <p:nvPr/>
        </p:nvSpPr>
        <p:spPr>
          <a:xfrm>
            <a:off x="9123218" y="1771151"/>
            <a:ext cx="9525" cy="191498"/>
          </a:xfrm>
          <a:custGeom>
            <a:avLst/>
            <a:gdLst/>
            <a:ahLst/>
            <a:cxnLst/>
            <a:rect l="l" t="t" r="r" b="b"/>
            <a:pathLst>
              <a:path w="9525" h="191498">
                <a:moveTo>
                  <a:pt x="0" y="0"/>
                </a:moveTo>
                <a:lnTo>
                  <a:pt x="0" y="191498"/>
                </a:lnTo>
              </a:path>
            </a:pathLst>
          </a:custGeom>
          <a:noFill/>
          <a:ln w="28575" cap="rnd">
            <a:solidFill>
              <a:srgbClr val="F2685C"/>
            </a:solidFill>
          </a:ln>
        </p:spPr>
        <p:txBody>
          <a:bodyPr/>
          <a:p/>
        </p:txBody>
      </p:sp>
      <p:sp>
        <p:nvSpPr>
          <p:cNvPr id="46" name="Line 46"/>
          <p:cNvSpPr/>
          <p:nvPr/>
        </p:nvSpPr>
        <p:spPr>
          <a:xfrm>
            <a:off x="9165648" y="1764668"/>
            <a:ext cx="9525" cy="204464"/>
          </a:xfrm>
          <a:custGeom>
            <a:avLst/>
            <a:gdLst/>
            <a:ahLst/>
            <a:cxnLst/>
            <a:rect l="l" t="t" r="r" b="b"/>
            <a:pathLst>
              <a:path w="9525" h="204464">
                <a:moveTo>
                  <a:pt x="0" y="0"/>
                </a:moveTo>
                <a:lnTo>
                  <a:pt x="0" y="204464"/>
                </a:lnTo>
              </a:path>
            </a:pathLst>
          </a:custGeom>
          <a:noFill/>
          <a:ln w="28575" cap="rnd">
            <a:solidFill>
              <a:srgbClr val="F2685C"/>
            </a:solidFill>
          </a:ln>
        </p:spPr>
        <p:txBody>
          <a:bodyPr/>
          <a:p/>
        </p:txBody>
      </p:sp>
      <p:sp>
        <p:nvSpPr>
          <p:cNvPr id="47" name="Line 47"/>
          <p:cNvSpPr/>
          <p:nvPr/>
        </p:nvSpPr>
        <p:spPr>
          <a:xfrm>
            <a:off x="9208077"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48" name="Line 48"/>
          <p:cNvSpPr/>
          <p:nvPr/>
        </p:nvSpPr>
        <p:spPr>
          <a:xfrm>
            <a:off x="9250507"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49" name="Line 49"/>
          <p:cNvSpPr/>
          <p:nvPr/>
        </p:nvSpPr>
        <p:spPr>
          <a:xfrm>
            <a:off x="9292936" y="1784835"/>
            <a:ext cx="9525" cy="164131"/>
          </a:xfrm>
          <a:custGeom>
            <a:avLst/>
            <a:gdLst/>
            <a:ahLst/>
            <a:cxnLst/>
            <a:rect l="l" t="t" r="r" b="b"/>
            <a:pathLst>
              <a:path w="9525" h="164131">
                <a:moveTo>
                  <a:pt x="0" y="0"/>
                </a:moveTo>
                <a:lnTo>
                  <a:pt x="0" y="164131"/>
                </a:lnTo>
              </a:path>
            </a:pathLst>
          </a:custGeom>
          <a:noFill/>
          <a:ln w="28575" cap="rnd">
            <a:solidFill>
              <a:srgbClr val="F2685C"/>
            </a:solidFill>
          </a:ln>
        </p:spPr>
        <p:txBody>
          <a:bodyPr/>
          <a:p/>
        </p:txBody>
      </p:sp>
      <p:sp>
        <p:nvSpPr>
          <p:cNvPr id="50" name="Line 50"/>
          <p:cNvSpPr/>
          <p:nvPr/>
        </p:nvSpPr>
        <p:spPr>
          <a:xfrm>
            <a:off x="9335366" y="1803030"/>
            <a:ext cx="9525" cy="127739"/>
          </a:xfrm>
          <a:custGeom>
            <a:avLst/>
            <a:gdLst/>
            <a:ahLst/>
            <a:cxnLst/>
            <a:rect l="l" t="t" r="r" b="b"/>
            <a:pathLst>
              <a:path w="9525" h="127739">
                <a:moveTo>
                  <a:pt x="0" y="0"/>
                </a:moveTo>
                <a:lnTo>
                  <a:pt x="0" y="127739"/>
                </a:lnTo>
              </a:path>
            </a:pathLst>
          </a:custGeom>
          <a:noFill/>
          <a:ln w="28575" cap="rnd">
            <a:solidFill>
              <a:srgbClr val="F2685C"/>
            </a:solidFill>
          </a:ln>
        </p:spPr>
        <p:txBody>
          <a:bodyPr/>
          <a:p/>
        </p:txBody>
      </p:sp>
      <p:sp>
        <p:nvSpPr>
          <p:cNvPr id="51" name="Line 51"/>
          <p:cNvSpPr/>
          <p:nvPr/>
        </p:nvSpPr>
        <p:spPr>
          <a:xfrm>
            <a:off x="9377795" y="1762536"/>
            <a:ext cx="9525" cy="208728"/>
          </a:xfrm>
          <a:custGeom>
            <a:avLst/>
            <a:gdLst/>
            <a:ahLst/>
            <a:cxnLst/>
            <a:rect l="l" t="t" r="r" b="b"/>
            <a:pathLst>
              <a:path w="9525" h="208728">
                <a:moveTo>
                  <a:pt x="0" y="0"/>
                </a:moveTo>
                <a:lnTo>
                  <a:pt x="0" y="208728"/>
                </a:lnTo>
              </a:path>
            </a:pathLst>
          </a:custGeom>
          <a:noFill/>
          <a:ln w="28575" cap="rnd">
            <a:solidFill>
              <a:srgbClr val="F2685C"/>
            </a:solidFill>
          </a:ln>
        </p:spPr>
        <p:txBody>
          <a:bodyPr/>
          <a:p/>
        </p:txBody>
      </p:sp>
      <p:sp>
        <p:nvSpPr>
          <p:cNvPr id="52" name="Line 52"/>
          <p:cNvSpPr/>
          <p:nvPr/>
        </p:nvSpPr>
        <p:spPr>
          <a:xfrm>
            <a:off x="9420225" y="1782140"/>
            <a:ext cx="9525" cy="169519"/>
          </a:xfrm>
          <a:custGeom>
            <a:avLst/>
            <a:gdLst/>
            <a:ahLst/>
            <a:cxnLst/>
            <a:rect l="l" t="t" r="r" b="b"/>
            <a:pathLst>
              <a:path w="9525" h="169519">
                <a:moveTo>
                  <a:pt x="0" y="0"/>
                </a:moveTo>
                <a:lnTo>
                  <a:pt x="0" y="169519"/>
                </a:lnTo>
              </a:path>
            </a:pathLst>
          </a:custGeom>
          <a:noFill/>
          <a:ln w="28575" cap="rnd">
            <a:solidFill>
              <a:srgbClr val="F2685C"/>
            </a:solidFill>
          </a:ln>
        </p:spPr>
        <p:txBody>
          <a:bodyPr/>
          <a:p/>
        </p:txBody>
      </p:sp>
      <p:sp>
        <p:nvSpPr>
          <p:cNvPr id="53" name="Line 53"/>
          <p:cNvSpPr/>
          <p:nvPr/>
        </p:nvSpPr>
        <p:spPr>
          <a:xfrm>
            <a:off x="9462655"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54" name="Line 54"/>
          <p:cNvSpPr/>
          <p:nvPr/>
        </p:nvSpPr>
        <p:spPr>
          <a:xfrm>
            <a:off x="9505084" y="1792563"/>
            <a:ext cx="9525" cy="148674"/>
          </a:xfrm>
          <a:custGeom>
            <a:avLst/>
            <a:gdLst/>
            <a:ahLst/>
            <a:cxnLst/>
            <a:rect l="l" t="t" r="r" b="b"/>
            <a:pathLst>
              <a:path w="9525" h="148674">
                <a:moveTo>
                  <a:pt x="0" y="0"/>
                </a:moveTo>
                <a:lnTo>
                  <a:pt x="0" y="148674"/>
                </a:lnTo>
              </a:path>
            </a:pathLst>
          </a:custGeom>
          <a:noFill/>
          <a:ln w="28575" cap="rnd">
            <a:solidFill>
              <a:srgbClr val="F2685C"/>
            </a:solidFill>
          </a:ln>
        </p:spPr>
        <p:txBody>
          <a:bodyPr/>
          <a:p/>
        </p:txBody>
      </p:sp>
      <p:sp>
        <p:nvSpPr>
          <p:cNvPr id="55" name="Line 55"/>
          <p:cNvSpPr/>
          <p:nvPr/>
        </p:nvSpPr>
        <p:spPr>
          <a:xfrm>
            <a:off x="9547514"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56" name="Line 56"/>
          <p:cNvSpPr/>
          <p:nvPr/>
        </p:nvSpPr>
        <p:spPr>
          <a:xfrm>
            <a:off x="9589943" y="1688117"/>
            <a:ext cx="9525" cy="357566"/>
          </a:xfrm>
          <a:custGeom>
            <a:avLst/>
            <a:gdLst/>
            <a:ahLst/>
            <a:cxnLst/>
            <a:rect l="l" t="t" r="r" b="b"/>
            <a:pathLst>
              <a:path w="9525" h="357566">
                <a:moveTo>
                  <a:pt x="0" y="0"/>
                </a:moveTo>
                <a:lnTo>
                  <a:pt x="0" y="357566"/>
                </a:lnTo>
              </a:path>
            </a:pathLst>
          </a:custGeom>
          <a:noFill/>
          <a:ln w="28575" cap="rnd">
            <a:solidFill>
              <a:srgbClr val="F2685C"/>
            </a:solidFill>
          </a:ln>
        </p:spPr>
        <p:txBody>
          <a:bodyPr/>
          <a:p/>
        </p:txBody>
      </p:sp>
      <p:sp>
        <p:nvSpPr>
          <p:cNvPr id="57" name="Line 57"/>
          <p:cNvSpPr/>
          <p:nvPr/>
        </p:nvSpPr>
        <p:spPr>
          <a:xfrm>
            <a:off x="9632373"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58" name="Line 58"/>
          <p:cNvSpPr/>
          <p:nvPr/>
        </p:nvSpPr>
        <p:spPr>
          <a:xfrm>
            <a:off x="9674802" y="1721062"/>
            <a:ext cx="9525" cy="291675"/>
          </a:xfrm>
          <a:custGeom>
            <a:avLst/>
            <a:gdLst/>
            <a:ahLst/>
            <a:cxnLst/>
            <a:rect l="l" t="t" r="r" b="b"/>
            <a:pathLst>
              <a:path w="9525" h="291675">
                <a:moveTo>
                  <a:pt x="0" y="0"/>
                </a:moveTo>
                <a:lnTo>
                  <a:pt x="0" y="291675"/>
                </a:lnTo>
              </a:path>
            </a:pathLst>
          </a:custGeom>
          <a:noFill/>
          <a:ln w="28575" cap="rnd">
            <a:solidFill>
              <a:srgbClr val="F2685C"/>
            </a:solidFill>
          </a:ln>
        </p:spPr>
        <p:txBody>
          <a:bodyPr/>
          <a:p/>
        </p:txBody>
      </p:sp>
      <p:sp>
        <p:nvSpPr>
          <p:cNvPr id="59" name="Line 59"/>
          <p:cNvSpPr/>
          <p:nvPr/>
        </p:nvSpPr>
        <p:spPr>
          <a:xfrm>
            <a:off x="9717232" y="1714328"/>
            <a:ext cx="9525" cy="305144"/>
          </a:xfrm>
          <a:custGeom>
            <a:avLst/>
            <a:gdLst/>
            <a:ahLst/>
            <a:cxnLst/>
            <a:rect l="l" t="t" r="r" b="b"/>
            <a:pathLst>
              <a:path w="9525" h="305144">
                <a:moveTo>
                  <a:pt x="0" y="0"/>
                </a:moveTo>
                <a:lnTo>
                  <a:pt x="0" y="305144"/>
                </a:lnTo>
              </a:path>
            </a:pathLst>
          </a:custGeom>
          <a:noFill/>
          <a:ln w="28575" cap="rnd">
            <a:solidFill>
              <a:srgbClr val="F2685C"/>
            </a:solidFill>
          </a:ln>
        </p:spPr>
        <p:txBody>
          <a:bodyPr/>
          <a:p/>
        </p:txBody>
      </p:sp>
      <p:sp>
        <p:nvSpPr>
          <p:cNvPr id="60" name="Line 60"/>
          <p:cNvSpPr/>
          <p:nvPr/>
        </p:nvSpPr>
        <p:spPr>
          <a:xfrm>
            <a:off x="9759661" y="1780050"/>
            <a:ext cx="9525" cy="173699"/>
          </a:xfrm>
          <a:custGeom>
            <a:avLst/>
            <a:gdLst/>
            <a:ahLst/>
            <a:cxnLst/>
            <a:rect l="l" t="t" r="r" b="b"/>
            <a:pathLst>
              <a:path w="9525" h="173699">
                <a:moveTo>
                  <a:pt x="0" y="0"/>
                </a:moveTo>
                <a:lnTo>
                  <a:pt x="0" y="173699"/>
                </a:lnTo>
              </a:path>
            </a:pathLst>
          </a:custGeom>
          <a:noFill/>
          <a:ln w="28575" cap="rnd">
            <a:solidFill>
              <a:srgbClr val="F2685C"/>
            </a:solidFill>
          </a:ln>
        </p:spPr>
        <p:txBody>
          <a:bodyPr/>
          <a:p/>
        </p:txBody>
      </p:sp>
      <p:sp>
        <p:nvSpPr>
          <p:cNvPr id="61" name="Line 61"/>
          <p:cNvSpPr/>
          <p:nvPr/>
        </p:nvSpPr>
        <p:spPr>
          <a:xfrm>
            <a:off x="9802091" y="1722219"/>
            <a:ext cx="9525" cy="289361"/>
          </a:xfrm>
          <a:custGeom>
            <a:avLst/>
            <a:gdLst/>
            <a:ahLst/>
            <a:cxnLst/>
            <a:rect l="l" t="t" r="r" b="b"/>
            <a:pathLst>
              <a:path w="9525" h="289361">
                <a:moveTo>
                  <a:pt x="0" y="0"/>
                </a:moveTo>
                <a:lnTo>
                  <a:pt x="0" y="289361"/>
                </a:lnTo>
              </a:path>
            </a:pathLst>
          </a:custGeom>
          <a:noFill/>
          <a:ln w="28575" cap="rnd">
            <a:solidFill>
              <a:srgbClr val="F2685C"/>
            </a:solidFill>
          </a:ln>
        </p:spPr>
        <p:txBody>
          <a:bodyPr/>
          <a:p/>
        </p:txBody>
      </p:sp>
      <p:sp>
        <p:nvSpPr>
          <p:cNvPr id="62" name="Line 62"/>
          <p:cNvSpPr/>
          <p:nvPr/>
        </p:nvSpPr>
        <p:spPr>
          <a:xfrm>
            <a:off x="9844520" y="1739349"/>
            <a:ext cx="9525" cy="255102"/>
          </a:xfrm>
          <a:custGeom>
            <a:avLst/>
            <a:gdLst/>
            <a:ahLst/>
            <a:cxnLst/>
            <a:rect l="l" t="t" r="r" b="b"/>
            <a:pathLst>
              <a:path w="9525" h="255102">
                <a:moveTo>
                  <a:pt x="0" y="0"/>
                </a:moveTo>
                <a:lnTo>
                  <a:pt x="0" y="255102"/>
                </a:lnTo>
              </a:path>
            </a:pathLst>
          </a:custGeom>
          <a:noFill/>
          <a:ln w="28575" cap="rnd">
            <a:solidFill>
              <a:srgbClr val="F2685C"/>
            </a:solidFill>
          </a:ln>
        </p:spPr>
        <p:txBody>
          <a:bodyPr/>
          <a:p/>
        </p:txBody>
      </p:sp>
      <p:sp>
        <p:nvSpPr>
          <p:cNvPr id="63" name="Line 63"/>
          <p:cNvSpPr/>
          <p:nvPr/>
        </p:nvSpPr>
        <p:spPr>
          <a:xfrm>
            <a:off x="9886950"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64" name="Line 64"/>
          <p:cNvSpPr/>
          <p:nvPr/>
        </p:nvSpPr>
        <p:spPr>
          <a:xfrm>
            <a:off x="9929380" y="1752246"/>
            <a:ext cx="9525" cy="229307"/>
          </a:xfrm>
          <a:custGeom>
            <a:avLst/>
            <a:gdLst/>
            <a:ahLst/>
            <a:cxnLst/>
            <a:rect l="l" t="t" r="r" b="b"/>
            <a:pathLst>
              <a:path w="9525" h="229307">
                <a:moveTo>
                  <a:pt x="0" y="0"/>
                </a:moveTo>
                <a:lnTo>
                  <a:pt x="0" y="229307"/>
                </a:lnTo>
              </a:path>
            </a:pathLst>
          </a:custGeom>
          <a:noFill/>
          <a:ln w="28575" cap="rnd">
            <a:solidFill>
              <a:srgbClr val="F2685C"/>
            </a:solidFill>
          </a:ln>
        </p:spPr>
        <p:txBody>
          <a:bodyPr/>
          <a:p/>
        </p:txBody>
      </p:sp>
      <p:sp>
        <p:nvSpPr>
          <p:cNvPr id="65" name="Line 65"/>
          <p:cNvSpPr/>
          <p:nvPr/>
        </p:nvSpPr>
        <p:spPr>
          <a:xfrm>
            <a:off x="9971809"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66" name="Line 66"/>
          <p:cNvSpPr/>
          <p:nvPr/>
        </p:nvSpPr>
        <p:spPr>
          <a:xfrm>
            <a:off x="10014239" y="1729948"/>
            <a:ext cx="9525" cy="273904"/>
          </a:xfrm>
          <a:custGeom>
            <a:avLst/>
            <a:gdLst/>
            <a:ahLst/>
            <a:cxnLst/>
            <a:rect l="l" t="t" r="r" b="b"/>
            <a:pathLst>
              <a:path w="9525" h="273904">
                <a:moveTo>
                  <a:pt x="0" y="0"/>
                </a:moveTo>
                <a:lnTo>
                  <a:pt x="0" y="273904"/>
                </a:lnTo>
              </a:path>
            </a:pathLst>
          </a:custGeom>
          <a:noFill/>
          <a:ln w="28575" cap="rnd">
            <a:solidFill>
              <a:srgbClr val="F2685C"/>
            </a:solidFill>
          </a:ln>
        </p:spPr>
        <p:txBody>
          <a:bodyPr/>
          <a:p/>
        </p:txBody>
      </p:sp>
      <p:sp>
        <p:nvSpPr>
          <p:cNvPr id="67" name="Line 67"/>
          <p:cNvSpPr/>
          <p:nvPr/>
        </p:nvSpPr>
        <p:spPr>
          <a:xfrm>
            <a:off x="10056668" y="1734377"/>
            <a:ext cx="9525" cy="265046"/>
          </a:xfrm>
          <a:custGeom>
            <a:avLst/>
            <a:gdLst/>
            <a:ahLst/>
            <a:cxnLst/>
            <a:rect l="l" t="t" r="r" b="b"/>
            <a:pathLst>
              <a:path w="9525" h="265046">
                <a:moveTo>
                  <a:pt x="0" y="0"/>
                </a:moveTo>
                <a:lnTo>
                  <a:pt x="0" y="265046"/>
                </a:lnTo>
              </a:path>
            </a:pathLst>
          </a:custGeom>
          <a:noFill/>
          <a:ln w="28575" cap="rnd">
            <a:solidFill>
              <a:srgbClr val="F2685C"/>
            </a:solidFill>
          </a:ln>
        </p:spPr>
        <p:txBody>
          <a:bodyPr/>
          <a:p/>
        </p:txBody>
      </p:sp>
      <p:sp>
        <p:nvSpPr>
          <p:cNvPr id="68" name="Line 68"/>
          <p:cNvSpPr/>
          <p:nvPr/>
        </p:nvSpPr>
        <p:spPr>
          <a:xfrm>
            <a:off x="10099098" y="1798475"/>
            <a:ext cx="9525" cy="136851"/>
          </a:xfrm>
          <a:custGeom>
            <a:avLst/>
            <a:gdLst/>
            <a:ahLst/>
            <a:cxnLst/>
            <a:rect l="l" t="t" r="r" b="b"/>
            <a:pathLst>
              <a:path w="9525" h="136851">
                <a:moveTo>
                  <a:pt x="0" y="0"/>
                </a:moveTo>
                <a:lnTo>
                  <a:pt x="0" y="136851"/>
                </a:lnTo>
              </a:path>
            </a:pathLst>
          </a:custGeom>
          <a:noFill/>
          <a:ln w="28575" cap="rnd">
            <a:solidFill>
              <a:srgbClr val="F2685C"/>
            </a:solidFill>
          </a:ln>
        </p:spPr>
        <p:txBody>
          <a:bodyPr/>
          <a:p/>
        </p:txBody>
      </p:sp>
      <p:sp>
        <p:nvSpPr>
          <p:cNvPr id="69" name="Line 69"/>
          <p:cNvSpPr/>
          <p:nvPr/>
        </p:nvSpPr>
        <p:spPr>
          <a:xfrm>
            <a:off x="10141527" y="1750115"/>
            <a:ext cx="9525" cy="233571"/>
          </a:xfrm>
          <a:custGeom>
            <a:avLst/>
            <a:gdLst/>
            <a:ahLst/>
            <a:cxnLst/>
            <a:rect l="l" t="t" r="r" b="b"/>
            <a:pathLst>
              <a:path w="9525" h="233571">
                <a:moveTo>
                  <a:pt x="0" y="0"/>
                </a:moveTo>
                <a:lnTo>
                  <a:pt x="0" y="233571"/>
                </a:lnTo>
              </a:path>
            </a:pathLst>
          </a:custGeom>
          <a:noFill/>
          <a:ln w="28575" cap="rnd">
            <a:solidFill>
              <a:srgbClr val="F2685C"/>
            </a:solidFill>
          </a:ln>
        </p:spPr>
        <p:txBody>
          <a:bodyPr/>
          <a:p/>
        </p:txBody>
      </p:sp>
      <p:sp>
        <p:nvSpPr>
          <p:cNvPr id="70" name="Line 70"/>
          <p:cNvSpPr/>
          <p:nvPr/>
        </p:nvSpPr>
        <p:spPr>
          <a:xfrm>
            <a:off x="10183957"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71" name="Line 71"/>
          <p:cNvSpPr/>
          <p:nvPr/>
        </p:nvSpPr>
        <p:spPr>
          <a:xfrm>
            <a:off x="10226386" y="1676400"/>
            <a:ext cx="9525" cy="381000"/>
          </a:xfrm>
          <a:custGeom>
            <a:avLst/>
            <a:gdLst/>
            <a:ahLst/>
            <a:cxnLst/>
            <a:rect l="l" t="t" r="r" b="b"/>
            <a:pathLst>
              <a:path w="9525" h="381000">
                <a:moveTo>
                  <a:pt x="0" y="0"/>
                </a:moveTo>
                <a:lnTo>
                  <a:pt x="0" y="381000"/>
                </a:lnTo>
              </a:path>
            </a:pathLst>
          </a:custGeom>
          <a:noFill/>
          <a:ln w="28575" cap="rnd">
            <a:solidFill>
              <a:srgbClr val="F2685C"/>
            </a:solidFill>
          </a:ln>
        </p:spPr>
        <p:txBody>
          <a:bodyPr/>
          <a:p/>
        </p:txBody>
      </p:sp>
      <p:sp>
        <p:nvSpPr>
          <p:cNvPr id="72" name="Line 72"/>
          <p:cNvSpPr/>
          <p:nvPr/>
        </p:nvSpPr>
        <p:spPr>
          <a:xfrm>
            <a:off x="10268816" y="1747545"/>
            <a:ext cx="9525" cy="238709"/>
          </a:xfrm>
          <a:custGeom>
            <a:avLst/>
            <a:gdLst/>
            <a:ahLst/>
            <a:cxnLst/>
            <a:rect l="l" t="t" r="r" b="b"/>
            <a:pathLst>
              <a:path w="9525" h="238709">
                <a:moveTo>
                  <a:pt x="0" y="0"/>
                </a:moveTo>
                <a:lnTo>
                  <a:pt x="0" y="238709"/>
                </a:lnTo>
              </a:path>
            </a:pathLst>
          </a:custGeom>
          <a:noFill/>
          <a:ln w="28575" cap="rnd">
            <a:solidFill>
              <a:srgbClr val="F2685C"/>
            </a:solidFill>
          </a:ln>
        </p:spPr>
        <p:txBody>
          <a:bodyPr/>
          <a:p/>
        </p:txBody>
      </p:sp>
      <p:sp>
        <p:nvSpPr>
          <p:cNvPr id="73" name="Line 73"/>
          <p:cNvSpPr/>
          <p:nvPr/>
        </p:nvSpPr>
        <p:spPr>
          <a:xfrm>
            <a:off x="10311245" y="1760235"/>
            <a:ext cx="9525" cy="213329"/>
          </a:xfrm>
          <a:custGeom>
            <a:avLst/>
            <a:gdLst/>
            <a:ahLst/>
            <a:cxnLst/>
            <a:rect l="l" t="t" r="r" b="b"/>
            <a:pathLst>
              <a:path w="9525" h="213329">
                <a:moveTo>
                  <a:pt x="0" y="0"/>
                </a:moveTo>
                <a:lnTo>
                  <a:pt x="0" y="213329"/>
                </a:lnTo>
              </a:path>
            </a:pathLst>
          </a:custGeom>
          <a:noFill/>
          <a:ln w="28575" cap="rnd">
            <a:solidFill>
              <a:srgbClr val="F2685C"/>
            </a:solidFill>
          </a:ln>
        </p:spPr>
        <p:txBody>
          <a:bodyPr/>
          <a:p/>
        </p:txBody>
      </p:sp>
      <p:sp>
        <p:nvSpPr>
          <p:cNvPr id="74" name="Line 74"/>
          <p:cNvSpPr/>
          <p:nvPr/>
        </p:nvSpPr>
        <p:spPr>
          <a:xfrm>
            <a:off x="10353675" y="1701223"/>
            <a:ext cx="9525" cy="331355"/>
          </a:xfrm>
          <a:custGeom>
            <a:avLst/>
            <a:gdLst/>
            <a:ahLst/>
            <a:cxnLst/>
            <a:rect l="l" t="t" r="r" b="b"/>
            <a:pathLst>
              <a:path w="9525" h="331355">
                <a:moveTo>
                  <a:pt x="0" y="0"/>
                </a:moveTo>
                <a:lnTo>
                  <a:pt x="0" y="331355"/>
                </a:lnTo>
              </a:path>
            </a:pathLst>
          </a:custGeom>
          <a:noFill/>
          <a:ln w="28575" cap="rnd">
            <a:solidFill>
              <a:srgbClr val="F2685C"/>
            </a:solidFill>
          </a:ln>
        </p:spPr>
        <p:txBody>
          <a:bodyPr/>
          <a:p/>
        </p:txBody>
      </p:sp>
      <p:sp>
        <p:nvSpPr>
          <p:cNvPr id="75" name="TextBox 75"/>
          <p:cNvSpPr txBox="1"/>
          <p:nvPr/>
        </p:nvSpPr>
        <p:spPr>
          <a:xfrm>
            <a:off x="9186053" y="2112645"/>
            <a:ext cx="963644" cy="176212"/>
          </a:xfrm>
          <a:prstGeom prst="rect">
            <a:avLst/>
          </a:prstGeom>
          <a:noFill/>
          <a:ln>
            <a:noFill/>
          </a:ln>
        </p:spPr>
        <p:txBody>
          <a:bodyPr wrap="none" lIns="0" tIns="0" rIns="0" bIns="0" anchor="t" anchorCtr="0">
            <a:spAutoFit/>
          </a:bodyPr>
          <a:lstStyle/>
          <a:p>
            <a:pPr algn="ctr"/>
            <a:r>
              <a:rPr lang="en-US" sz="900" b="1" dirty="0">
                <a:solidFill>
                  <a:srgbClr val="6E869C"/>
                </a:solidFill>
                <a:latin typeface="+mn-lt"/>
                <a:ea typeface="+mn-ea"/>
                <a:cs typeface="+mn-cs"/>
              </a:rPr>
              <a:t>genuine vs fake</a:t>
            </a:r>
          </a:p>
        </p:txBody>
      </p:sp>
      <p:sp>
        <p:nvSpPr>
          <p:cNvPr id="76" name="TextBox 76"/>
          <p:cNvSpPr txBox="1"/>
          <p:nvPr/>
        </p:nvSpPr>
        <p:spPr>
          <a:xfrm>
            <a:off x="604076" y="2130504"/>
            <a:ext cx="5941867"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Xiaohui Zhang · Jiangyan Yi · Jianhua Tao · Chenglong Wang · Chuyuan Zhang — RAWM</a:t>
            </a:r>
          </a:p>
        </p:txBody>
      </p:sp>
      <p:grpSp>
        <p:nvGrpSpPr>
          <p:cNvPr id="104" name="Group 104"/>
          <p:cNvGrpSpPr/>
          <p:nvPr/>
        </p:nvGrpSpPr>
        <p:grpSpPr>
          <a:xfrm>
            <a:off x="609600" y="2819400"/>
            <a:ext cx="2628900" cy="2247900"/>
            <a:chOff x="609600" y="2819400"/>
            <a:chExt cx="2628900" cy="2247900"/>
          </a:xfrm>
        </p:grpSpPr>
        <p:sp>
          <p:nvSpPr>
            <p:cNvPr id="77" name="Rectangle 77"/>
            <p:cNvSpPr/>
            <p:nvPr/>
          </p:nvSpPr>
          <p:spPr>
            <a:xfrm>
              <a:off x="609600" y="2819400"/>
              <a:ext cx="2628900" cy="2247900"/>
            </a:xfrm>
            <a:prstGeom prst="roundRect">
              <a:avLst>
                <a:gd name="adj" fmla="val 5932"/>
              </a:avLst>
            </a:prstGeom>
            <a:solidFill>
              <a:schemeClr val="accent5"/>
            </a:solidFill>
            <a:ln w="14288">
              <a:solidFill>
                <a:srgbClr val="26455F"/>
              </a:solidFill>
            </a:ln>
          </p:spPr>
        </p:sp>
        <p:sp>
          <p:nvSpPr>
            <p:cNvPr id="78" name="Rectangle 78"/>
            <p:cNvSpPr/>
            <p:nvPr/>
          </p:nvSpPr>
          <p:spPr>
            <a:xfrm>
              <a:off x="609600" y="2819400"/>
              <a:ext cx="2628900" cy="57150"/>
            </a:xfrm>
            <a:prstGeom prst="roundRect">
              <a:avLst>
                <a:gd name="adj" fmla="val 50000"/>
              </a:avLst>
            </a:prstGeom>
            <a:solidFill>
              <a:srgbClr val="F2685C"/>
            </a:solidFill>
            <a:ln>
              <a:noFill/>
            </a:ln>
          </p:spPr>
        </p:sp>
        <p:sp>
          <p:nvSpPr>
            <p:cNvPr id="79" name="Line 79"/>
            <p:cNvSpPr/>
            <p:nvPr/>
          </p:nvSpPr>
          <p:spPr>
            <a:xfrm>
              <a:off x="857250" y="3111760"/>
              <a:ext cx="9525" cy="215381"/>
            </a:xfrm>
            <a:custGeom>
              <a:avLst/>
              <a:gdLst/>
              <a:ahLst/>
              <a:cxnLst/>
              <a:rect l="l" t="t" r="r" b="b"/>
              <a:pathLst>
                <a:path w="9525" h="215381">
                  <a:moveTo>
                    <a:pt x="0" y="0"/>
                  </a:moveTo>
                  <a:lnTo>
                    <a:pt x="0" y="215381"/>
                  </a:lnTo>
                </a:path>
              </a:pathLst>
            </a:custGeom>
            <a:noFill/>
            <a:ln w="28575" cap="rnd">
              <a:solidFill>
                <a:srgbClr val="F2685C"/>
              </a:solidFill>
            </a:ln>
          </p:spPr>
        </p:sp>
        <p:sp>
          <p:nvSpPr>
            <p:cNvPr id="80" name="Line 80"/>
            <p:cNvSpPr/>
            <p:nvPr/>
          </p:nvSpPr>
          <p:spPr>
            <a:xfrm>
              <a:off x="915904" y="3182975"/>
              <a:ext cx="9525" cy="72950"/>
            </a:xfrm>
            <a:custGeom>
              <a:avLst/>
              <a:gdLst/>
              <a:ahLst/>
              <a:cxnLst/>
              <a:rect l="l" t="t" r="r" b="b"/>
              <a:pathLst>
                <a:path w="9525" h="72950">
                  <a:moveTo>
                    <a:pt x="0" y="0"/>
                  </a:moveTo>
                  <a:lnTo>
                    <a:pt x="0" y="72950"/>
                  </a:lnTo>
                </a:path>
              </a:pathLst>
            </a:custGeom>
            <a:noFill/>
            <a:ln w="28575" cap="rnd">
              <a:solidFill>
                <a:srgbClr val="F2685C"/>
              </a:solidFill>
            </a:ln>
          </p:spPr>
        </p:sp>
        <p:sp>
          <p:nvSpPr>
            <p:cNvPr id="81" name="Line 81"/>
            <p:cNvSpPr/>
            <p:nvPr/>
          </p:nvSpPr>
          <p:spPr>
            <a:xfrm>
              <a:off x="974558" y="3165308"/>
              <a:ext cx="9525" cy="108284"/>
            </a:xfrm>
            <a:custGeom>
              <a:avLst/>
              <a:gdLst/>
              <a:ahLst/>
              <a:cxnLst/>
              <a:rect l="l" t="t" r="r" b="b"/>
              <a:pathLst>
                <a:path w="9525" h="108284">
                  <a:moveTo>
                    <a:pt x="0" y="0"/>
                  </a:moveTo>
                  <a:lnTo>
                    <a:pt x="0" y="108284"/>
                  </a:lnTo>
                </a:path>
              </a:pathLst>
            </a:custGeom>
            <a:noFill/>
            <a:ln w="28575" cap="rnd">
              <a:solidFill>
                <a:srgbClr val="F2685C"/>
              </a:solidFill>
            </a:ln>
          </p:spPr>
        </p:sp>
        <p:sp>
          <p:nvSpPr>
            <p:cNvPr id="82" name="Line 82"/>
            <p:cNvSpPr/>
            <p:nvPr/>
          </p:nvSpPr>
          <p:spPr>
            <a:xfrm>
              <a:off x="1033212" y="3133237"/>
              <a:ext cx="9525" cy="172427"/>
            </a:xfrm>
            <a:custGeom>
              <a:avLst/>
              <a:gdLst/>
              <a:ahLst/>
              <a:cxnLst/>
              <a:rect l="l" t="t" r="r" b="b"/>
              <a:pathLst>
                <a:path w="9525" h="172427">
                  <a:moveTo>
                    <a:pt x="0" y="0"/>
                  </a:moveTo>
                  <a:lnTo>
                    <a:pt x="0" y="172427"/>
                  </a:lnTo>
                </a:path>
              </a:pathLst>
            </a:custGeom>
            <a:noFill/>
            <a:ln w="28575" cap="rnd">
              <a:solidFill>
                <a:srgbClr val="F2685C"/>
              </a:solidFill>
            </a:ln>
          </p:spPr>
        </p:sp>
        <p:sp>
          <p:nvSpPr>
            <p:cNvPr id="83" name="Line 83"/>
            <p:cNvSpPr/>
            <p:nvPr/>
          </p:nvSpPr>
          <p:spPr>
            <a:xfrm>
              <a:off x="1091866" y="3095625"/>
              <a:ext cx="9525" cy="247650"/>
            </a:xfrm>
            <a:custGeom>
              <a:avLst/>
              <a:gdLst/>
              <a:ahLst/>
              <a:cxnLst/>
              <a:rect l="l" t="t" r="r" b="b"/>
              <a:pathLst>
                <a:path w="9525" h="247650">
                  <a:moveTo>
                    <a:pt x="0" y="0"/>
                  </a:moveTo>
                  <a:lnTo>
                    <a:pt x="0" y="247650"/>
                  </a:lnTo>
                </a:path>
              </a:pathLst>
            </a:custGeom>
            <a:noFill/>
            <a:ln w="28575" cap="rnd">
              <a:solidFill>
                <a:srgbClr val="F2685C"/>
              </a:solidFill>
            </a:ln>
          </p:spPr>
        </p:sp>
        <p:sp>
          <p:nvSpPr>
            <p:cNvPr id="84" name="Line 84"/>
            <p:cNvSpPr/>
            <p:nvPr/>
          </p:nvSpPr>
          <p:spPr>
            <a:xfrm>
              <a:off x="1150520" y="3165923"/>
              <a:ext cx="9525" cy="107053"/>
            </a:xfrm>
            <a:custGeom>
              <a:avLst/>
              <a:gdLst/>
              <a:ahLst/>
              <a:cxnLst/>
              <a:rect l="l" t="t" r="r" b="b"/>
              <a:pathLst>
                <a:path w="9525" h="107053">
                  <a:moveTo>
                    <a:pt x="0" y="0"/>
                  </a:moveTo>
                  <a:lnTo>
                    <a:pt x="0" y="107053"/>
                  </a:lnTo>
                </a:path>
              </a:pathLst>
            </a:custGeom>
            <a:noFill/>
            <a:ln w="28575" cap="rnd">
              <a:solidFill>
                <a:srgbClr val="F2685C"/>
              </a:solidFill>
            </a:ln>
          </p:spPr>
        </p:sp>
        <p:sp>
          <p:nvSpPr>
            <p:cNvPr id="85" name="Line 85"/>
            <p:cNvSpPr/>
            <p:nvPr/>
          </p:nvSpPr>
          <p:spPr>
            <a:xfrm>
              <a:off x="1209174" y="3134780"/>
              <a:ext cx="9525" cy="169340"/>
            </a:xfrm>
            <a:custGeom>
              <a:avLst/>
              <a:gdLst/>
              <a:ahLst/>
              <a:cxnLst/>
              <a:rect l="l" t="t" r="r" b="b"/>
              <a:pathLst>
                <a:path w="9525" h="169340">
                  <a:moveTo>
                    <a:pt x="0" y="0"/>
                  </a:moveTo>
                  <a:lnTo>
                    <a:pt x="0" y="169340"/>
                  </a:lnTo>
                </a:path>
              </a:pathLst>
            </a:custGeom>
            <a:noFill/>
            <a:ln w="28575" cap="rnd">
              <a:solidFill>
                <a:srgbClr val="F2685C"/>
              </a:solidFill>
            </a:ln>
          </p:spPr>
        </p:sp>
        <p:sp>
          <p:nvSpPr>
            <p:cNvPr id="86" name="Line 86"/>
            <p:cNvSpPr/>
            <p:nvPr/>
          </p:nvSpPr>
          <p:spPr>
            <a:xfrm>
              <a:off x="1267828" y="3095625"/>
              <a:ext cx="9525" cy="247650"/>
            </a:xfrm>
            <a:custGeom>
              <a:avLst/>
              <a:gdLst/>
              <a:ahLst/>
              <a:cxnLst/>
              <a:rect l="l" t="t" r="r" b="b"/>
              <a:pathLst>
                <a:path w="9525" h="247650">
                  <a:moveTo>
                    <a:pt x="0" y="0"/>
                  </a:moveTo>
                  <a:lnTo>
                    <a:pt x="0" y="247650"/>
                  </a:lnTo>
                </a:path>
              </a:pathLst>
            </a:custGeom>
            <a:noFill/>
            <a:ln w="28575" cap="rnd">
              <a:solidFill>
                <a:srgbClr val="F2685C"/>
              </a:solidFill>
            </a:ln>
          </p:spPr>
        </p:sp>
        <p:sp>
          <p:nvSpPr>
            <p:cNvPr id="87" name="Line 87"/>
            <p:cNvSpPr/>
            <p:nvPr/>
          </p:nvSpPr>
          <p:spPr>
            <a:xfrm>
              <a:off x="1326482" y="3095625"/>
              <a:ext cx="9525" cy="247650"/>
            </a:xfrm>
            <a:custGeom>
              <a:avLst/>
              <a:gdLst/>
              <a:ahLst/>
              <a:cxnLst/>
              <a:rect l="l" t="t" r="r" b="b"/>
              <a:pathLst>
                <a:path w="9525" h="247650">
                  <a:moveTo>
                    <a:pt x="0" y="0"/>
                  </a:moveTo>
                  <a:lnTo>
                    <a:pt x="0" y="247650"/>
                  </a:lnTo>
                </a:path>
              </a:pathLst>
            </a:custGeom>
            <a:noFill/>
            <a:ln w="28575" cap="rnd">
              <a:solidFill>
                <a:srgbClr val="F2685C"/>
              </a:solidFill>
            </a:ln>
          </p:spPr>
        </p:sp>
        <p:sp>
          <p:nvSpPr>
            <p:cNvPr id="88" name="Line 88"/>
            <p:cNvSpPr/>
            <p:nvPr/>
          </p:nvSpPr>
          <p:spPr>
            <a:xfrm>
              <a:off x="1385136" y="3095625"/>
              <a:ext cx="9525" cy="247650"/>
            </a:xfrm>
            <a:custGeom>
              <a:avLst/>
              <a:gdLst/>
              <a:ahLst/>
              <a:cxnLst/>
              <a:rect l="l" t="t" r="r" b="b"/>
              <a:pathLst>
                <a:path w="9525" h="247650">
                  <a:moveTo>
                    <a:pt x="0" y="0"/>
                  </a:moveTo>
                  <a:lnTo>
                    <a:pt x="0" y="247650"/>
                  </a:lnTo>
                </a:path>
              </a:pathLst>
            </a:custGeom>
            <a:noFill/>
            <a:ln w="28575" cap="rnd">
              <a:solidFill>
                <a:srgbClr val="F2685C"/>
              </a:solidFill>
            </a:ln>
          </p:spPr>
        </p:sp>
        <p:sp>
          <p:nvSpPr>
            <p:cNvPr id="89" name="Line 89"/>
            <p:cNvSpPr/>
            <p:nvPr/>
          </p:nvSpPr>
          <p:spPr>
            <a:xfrm>
              <a:off x="1443789" y="3181885"/>
              <a:ext cx="9525" cy="75130"/>
            </a:xfrm>
            <a:custGeom>
              <a:avLst/>
              <a:gdLst/>
              <a:ahLst/>
              <a:cxnLst/>
              <a:rect l="l" t="t" r="r" b="b"/>
              <a:pathLst>
                <a:path w="9525" h="75130">
                  <a:moveTo>
                    <a:pt x="0" y="0"/>
                  </a:moveTo>
                  <a:lnTo>
                    <a:pt x="0" y="75130"/>
                  </a:lnTo>
                </a:path>
              </a:pathLst>
            </a:custGeom>
            <a:noFill/>
            <a:ln w="28575" cap="rnd">
              <a:solidFill>
                <a:srgbClr val="F2685C"/>
              </a:solidFill>
            </a:ln>
          </p:spPr>
        </p:sp>
        <p:sp>
          <p:nvSpPr>
            <p:cNvPr id="90" name="Line 90"/>
            <p:cNvSpPr/>
            <p:nvPr/>
          </p:nvSpPr>
          <p:spPr>
            <a:xfrm>
              <a:off x="1502443" y="3151318"/>
              <a:ext cx="9525" cy="136263"/>
            </a:xfrm>
            <a:custGeom>
              <a:avLst/>
              <a:gdLst/>
              <a:ahLst/>
              <a:cxnLst/>
              <a:rect l="l" t="t" r="r" b="b"/>
              <a:pathLst>
                <a:path w="9525" h="136263">
                  <a:moveTo>
                    <a:pt x="0" y="0"/>
                  </a:moveTo>
                  <a:lnTo>
                    <a:pt x="0" y="136263"/>
                  </a:lnTo>
                </a:path>
              </a:pathLst>
            </a:custGeom>
            <a:noFill/>
            <a:ln w="28575" cap="rnd">
              <a:solidFill>
                <a:srgbClr val="F2685C"/>
              </a:solidFill>
            </a:ln>
          </p:spPr>
        </p:sp>
        <p:sp>
          <p:nvSpPr>
            <p:cNvPr id="91" name="Line 91"/>
            <p:cNvSpPr/>
            <p:nvPr/>
          </p:nvSpPr>
          <p:spPr>
            <a:xfrm>
              <a:off x="1561097" y="3142300"/>
              <a:ext cx="9525" cy="154301"/>
            </a:xfrm>
            <a:custGeom>
              <a:avLst/>
              <a:gdLst/>
              <a:ahLst/>
              <a:cxnLst/>
              <a:rect l="l" t="t" r="r" b="b"/>
              <a:pathLst>
                <a:path w="9525" h="154301">
                  <a:moveTo>
                    <a:pt x="0" y="0"/>
                  </a:moveTo>
                  <a:lnTo>
                    <a:pt x="0" y="154301"/>
                  </a:lnTo>
                </a:path>
              </a:pathLst>
            </a:custGeom>
            <a:noFill/>
            <a:ln w="28575" cap="rnd">
              <a:solidFill>
                <a:srgbClr val="F2685C"/>
              </a:solidFill>
            </a:ln>
          </p:spPr>
        </p:sp>
        <p:sp>
          <p:nvSpPr>
            <p:cNvPr id="92" name="Line 92"/>
            <p:cNvSpPr/>
            <p:nvPr/>
          </p:nvSpPr>
          <p:spPr>
            <a:xfrm>
              <a:off x="1619751" y="3146840"/>
              <a:ext cx="9525" cy="145221"/>
            </a:xfrm>
            <a:custGeom>
              <a:avLst/>
              <a:gdLst/>
              <a:ahLst/>
              <a:cxnLst/>
              <a:rect l="l" t="t" r="r" b="b"/>
              <a:pathLst>
                <a:path w="9525" h="145221">
                  <a:moveTo>
                    <a:pt x="0" y="0"/>
                  </a:moveTo>
                  <a:lnTo>
                    <a:pt x="0" y="145221"/>
                  </a:lnTo>
                </a:path>
              </a:pathLst>
            </a:custGeom>
            <a:noFill/>
            <a:ln w="28575" cap="rnd">
              <a:solidFill>
                <a:srgbClr val="F2685C"/>
              </a:solidFill>
            </a:ln>
          </p:spPr>
        </p:sp>
        <p:sp>
          <p:nvSpPr>
            <p:cNvPr id="93" name="Line 93"/>
            <p:cNvSpPr/>
            <p:nvPr/>
          </p:nvSpPr>
          <p:spPr>
            <a:xfrm>
              <a:off x="1678405" y="3095625"/>
              <a:ext cx="9525" cy="247650"/>
            </a:xfrm>
            <a:custGeom>
              <a:avLst/>
              <a:gdLst/>
              <a:ahLst/>
              <a:cxnLst/>
              <a:rect l="l" t="t" r="r" b="b"/>
              <a:pathLst>
                <a:path w="9525" h="247650">
                  <a:moveTo>
                    <a:pt x="0" y="0"/>
                  </a:moveTo>
                  <a:lnTo>
                    <a:pt x="0" y="247650"/>
                  </a:lnTo>
                </a:path>
              </a:pathLst>
            </a:custGeom>
            <a:noFill/>
            <a:ln w="28575" cap="rnd">
              <a:solidFill>
                <a:srgbClr val="F2685C"/>
              </a:solidFill>
            </a:ln>
          </p:spPr>
        </p:sp>
        <p:sp>
          <p:nvSpPr>
            <p:cNvPr id="94" name="Line 94"/>
            <p:cNvSpPr/>
            <p:nvPr/>
          </p:nvSpPr>
          <p:spPr>
            <a:xfrm>
              <a:off x="1737059" y="3132220"/>
              <a:ext cx="9525" cy="174460"/>
            </a:xfrm>
            <a:custGeom>
              <a:avLst/>
              <a:gdLst/>
              <a:ahLst/>
              <a:cxnLst/>
              <a:rect l="l" t="t" r="r" b="b"/>
              <a:pathLst>
                <a:path w="9525" h="174460">
                  <a:moveTo>
                    <a:pt x="0" y="0"/>
                  </a:moveTo>
                  <a:lnTo>
                    <a:pt x="0" y="174460"/>
                  </a:lnTo>
                </a:path>
              </a:pathLst>
            </a:custGeom>
            <a:noFill/>
            <a:ln w="28575" cap="rnd">
              <a:solidFill>
                <a:srgbClr val="F2685C"/>
              </a:solidFill>
            </a:ln>
          </p:spPr>
        </p:sp>
        <p:sp>
          <p:nvSpPr>
            <p:cNvPr id="95" name="Line 95"/>
            <p:cNvSpPr/>
            <p:nvPr/>
          </p:nvSpPr>
          <p:spPr>
            <a:xfrm>
              <a:off x="1795713" y="3137412"/>
              <a:ext cx="9525" cy="164076"/>
            </a:xfrm>
            <a:custGeom>
              <a:avLst/>
              <a:gdLst/>
              <a:ahLst/>
              <a:cxnLst/>
              <a:rect l="l" t="t" r="r" b="b"/>
              <a:pathLst>
                <a:path w="9525" h="164076">
                  <a:moveTo>
                    <a:pt x="0" y="0"/>
                  </a:moveTo>
                  <a:lnTo>
                    <a:pt x="0" y="164076"/>
                  </a:lnTo>
                </a:path>
              </a:pathLst>
            </a:custGeom>
            <a:noFill/>
            <a:ln w="28575" cap="rnd">
              <a:solidFill>
                <a:srgbClr val="F2685C"/>
              </a:solidFill>
            </a:ln>
          </p:spPr>
        </p:sp>
        <p:sp>
          <p:nvSpPr>
            <p:cNvPr id="96" name="Line 96"/>
            <p:cNvSpPr/>
            <p:nvPr/>
          </p:nvSpPr>
          <p:spPr>
            <a:xfrm>
              <a:off x="1854367" y="3095625"/>
              <a:ext cx="9525" cy="247650"/>
            </a:xfrm>
            <a:custGeom>
              <a:avLst/>
              <a:gdLst/>
              <a:ahLst/>
              <a:cxnLst/>
              <a:rect l="l" t="t" r="r" b="b"/>
              <a:pathLst>
                <a:path w="9525" h="247650">
                  <a:moveTo>
                    <a:pt x="0" y="0"/>
                  </a:moveTo>
                  <a:lnTo>
                    <a:pt x="0" y="247650"/>
                  </a:lnTo>
                </a:path>
              </a:pathLst>
            </a:custGeom>
            <a:noFill/>
            <a:ln w="28575" cap="rnd">
              <a:solidFill>
                <a:srgbClr val="F2685C"/>
              </a:solidFill>
            </a:ln>
          </p:spPr>
        </p:sp>
        <p:sp>
          <p:nvSpPr>
            <p:cNvPr id="97" name="Line 97"/>
            <p:cNvSpPr/>
            <p:nvPr/>
          </p:nvSpPr>
          <p:spPr>
            <a:xfrm>
              <a:off x="1913021" y="3147125"/>
              <a:ext cx="9525" cy="144651"/>
            </a:xfrm>
            <a:custGeom>
              <a:avLst/>
              <a:gdLst/>
              <a:ahLst/>
              <a:cxnLst/>
              <a:rect l="l" t="t" r="r" b="b"/>
              <a:pathLst>
                <a:path w="9525" h="144651">
                  <a:moveTo>
                    <a:pt x="0" y="0"/>
                  </a:moveTo>
                  <a:lnTo>
                    <a:pt x="0" y="144651"/>
                  </a:lnTo>
                </a:path>
              </a:pathLst>
            </a:custGeom>
            <a:noFill/>
            <a:ln w="28575" cap="rnd">
              <a:solidFill>
                <a:srgbClr val="F2685C"/>
              </a:solidFill>
            </a:ln>
          </p:spPr>
        </p:sp>
        <p:sp>
          <p:nvSpPr>
            <p:cNvPr id="98" name="Line 98"/>
            <p:cNvSpPr/>
            <p:nvPr/>
          </p:nvSpPr>
          <p:spPr>
            <a:xfrm>
              <a:off x="1971675" y="3111760"/>
              <a:ext cx="9525" cy="215381"/>
            </a:xfrm>
            <a:custGeom>
              <a:avLst/>
              <a:gdLst/>
              <a:ahLst/>
              <a:cxnLst/>
              <a:rect l="l" t="t" r="r" b="b"/>
              <a:pathLst>
                <a:path w="9525" h="215381">
                  <a:moveTo>
                    <a:pt x="0" y="0"/>
                  </a:moveTo>
                  <a:lnTo>
                    <a:pt x="0" y="215381"/>
                  </a:lnTo>
                </a:path>
              </a:pathLst>
            </a:custGeom>
            <a:noFill/>
            <a:ln w="28575" cap="rnd">
              <a:solidFill>
                <a:srgbClr val="F2685C"/>
              </a:solidFill>
            </a:ln>
          </p:spPr>
        </p:sp>
        <p:sp>
          <p:nvSpPr>
            <p:cNvPr id="99" name="TextBox 99"/>
            <p:cNvSpPr txBox="1"/>
            <p:nvPr/>
          </p:nvSpPr>
          <p:spPr>
            <a:xfrm>
              <a:off x="831532" y="3592116"/>
              <a:ext cx="2371330"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Detectors don't transfer</a:t>
              </a:r>
            </a:p>
          </p:txBody>
        </p:sp>
        <p:sp>
          <p:nvSpPr>
            <p:cNvPr id="100" name="TextBox 100"/>
            <p:cNvSpPr txBox="1"/>
            <p:nvPr/>
          </p:nvSpPr>
          <p:spPr>
            <a:xfrm>
              <a:off x="833247" y="4142899"/>
              <a:ext cx="2197722"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Fake audio detectors work well on</a:t>
              </a:r>
            </a:p>
          </p:txBody>
        </p:sp>
        <p:sp>
          <p:nvSpPr>
            <p:cNvPr id="101" name="TextBox 101"/>
            <p:cNvSpPr txBox="1"/>
            <p:nvPr/>
          </p:nvSpPr>
          <p:spPr>
            <a:xfrm>
              <a:off x="833247" y="4323874"/>
              <a:ext cx="190306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their own data, but accuracy</a:t>
              </a:r>
            </a:p>
          </p:txBody>
        </p:sp>
        <p:sp>
          <p:nvSpPr>
            <p:cNvPr id="102" name="TextBox 102"/>
            <p:cNvSpPr txBox="1"/>
            <p:nvPr/>
          </p:nvSpPr>
          <p:spPr>
            <a:xfrm>
              <a:off x="833247" y="4504849"/>
              <a:ext cx="190306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collapses on audio from a new</a:t>
              </a:r>
            </a:p>
          </p:txBody>
        </p:sp>
        <p:sp>
          <p:nvSpPr>
            <p:cNvPr id="103" name="TextBox 103"/>
            <p:cNvSpPr txBox="1"/>
            <p:nvPr/>
          </p:nvSpPr>
          <p:spPr>
            <a:xfrm>
              <a:off x="833247" y="4685824"/>
              <a:ext cx="59038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dataset.</a:t>
              </a:r>
            </a:p>
          </p:txBody>
        </p:sp>
      </p:grpSp>
      <p:grpSp>
        <p:nvGrpSpPr>
          <p:cNvPr id="132" name="Group 132"/>
          <p:cNvGrpSpPr/>
          <p:nvPr/>
        </p:nvGrpSpPr>
        <p:grpSpPr>
          <a:xfrm>
            <a:off x="3390900" y="2819400"/>
            <a:ext cx="2628900" cy="2247900"/>
            <a:chOff x="3390900" y="2819400"/>
            <a:chExt cx="2628900" cy="2247900"/>
          </a:xfrm>
        </p:grpSpPr>
        <p:sp>
          <p:nvSpPr>
            <p:cNvPr id="105" name="Rectangle 105"/>
            <p:cNvSpPr/>
            <p:nvPr/>
          </p:nvSpPr>
          <p:spPr>
            <a:xfrm>
              <a:off x="3390900" y="2819400"/>
              <a:ext cx="2628900" cy="2247900"/>
            </a:xfrm>
            <a:prstGeom prst="roundRect">
              <a:avLst>
                <a:gd name="adj" fmla="val 5932"/>
              </a:avLst>
            </a:prstGeom>
            <a:solidFill>
              <a:schemeClr val="accent5"/>
            </a:solidFill>
            <a:ln w="14288">
              <a:solidFill>
                <a:srgbClr val="26455F"/>
              </a:solidFill>
            </a:ln>
          </p:spPr>
        </p:sp>
        <p:sp>
          <p:nvSpPr>
            <p:cNvPr id="106" name="Rectangle 106"/>
            <p:cNvSpPr/>
            <p:nvPr/>
          </p:nvSpPr>
          <p:spPr>
            <a:xfrm>
              <a:off x="3390900" y="2819400"/>
              <a:ext cx="2628900" cy="57150"/>
            </a:xfrm>
            <a:prstGeom prst="roundRect">
              <a:avLst>
                <a:gd name="adj" fmla="val 50000"/>
              </a:avLst>
            </a:prstGeom>
            <a:solidFill>
              <a:srgbClr val="F2C14E"/>
            </a:solidFill>
            <a:ln>
              <a:noFill/>
            </a:ln>
          </p:spPr>
        </p:sp>
        <p:sp>
          <p:nvSpPr>
            <p:cNvPr id="107" name="Line 107"/>
            <p:cNvSpPr/>
            <p:nvPr/>
          </p:nvSpPr>
          <p:spPr>
            <a:xfrm>
              <a:off x="3638550" y="3176188"/>
              <a:ext cx="9525" cy="86523"/>
            </a:xfrm>
            <a:custGeom>
              <a:avLst/>
              <a:gdLst/>
              <a:ahLst/>
              <a:cxnLst/>
              <a:rect l="l" t="t" r="r" b="b"/>
              <a:pathLst>
                <a:path w="9525" h="86523">
                  <a:moveTo>
                    <a:pt x="0" y="0"/>
                  </a:moveTo>
                  <a:lnTo>
                    <a:pt x="0" y="86523"/>
                  </a:lnTo>
                </a:path>
              </a:pathLst>
            </a:custGeom>
            <a:noFill/>
            <a:ln w="28575" cap="rnd">
              <a:solidFill>
                <a:srgbClr val="F2C14E"/>
              </a:solidFill>
            </a:ln>
          </p:spPr>
        </p:sp>
        <p:sp>
          <p:nvSpPr>
            <p:cNvPr id="108" name="Line 108"/>
            <p:cNvSpPr/>
            <p:nvPr/>
          </p:nvSpPr>
          <p:spPr>
            <a:xfrm>
              <a:off x="3697204" y="3147126"/>
              <a:ext cx="9525" cy="144648"/>
            </a:xfrm>
            <a:custGeom>
              <a:avLst/>
              <a:gdLst/>
              <a:ahLst/>
              <a:cxnLst/>
              <a:rect l="l" t="t" r="r" b="b"/>
              <a:pathLst>
                <a:path w="9525" h="144648">
                  <a:moveTo>
                    <a:pt x="0" y="0"/>
                  </a:moveTo>
                  <a:lnTo>
                    <a:pt x="0" y="144648"/>
                  </a:lnTo>
                </a:path>
              </a:pathLst>
            </a:custGeom>
            <a:noFill/>
            <a:ln w="28575" cap="rnd">
              <a:solidFill>
                <a:srgbClr val="F2C14E"/>
              </a:solidFill>
            </a:ln>
          </p:spPr>
        </p:sp>
        <p:sp>
          <p:nvSpPr>
            <p:cNvPr id="109" name="Line 109"/>
            <p:cNvSpPr/>
            <p:nvPr/>
          </p:nvSpPr>
          <p:spPr>
            <a:xfrm>
              <a:off x="3755858" y="3116632"/>
              <a:ext cx="9525" cy="205635"/>
            </a:xfrm>
            <a:custGeom>
              <a:avLst/>
              <a:gdLst/>
              <a:ahLst/>
              <a:cxnLst/>
              <a:rect l="l" t="t" r="r" b="b"/>
              <a:pathLst>
                <a:path w="9525" h="205635">
                  <a:moveTo>
                    <a:pt x="0" y="0"/>
                  </a:moveTo>
                  <a:lnTo>
                    <a:pt x="0" y="205635"/>
                  </a:lnTo>
                </a:path>
              </a:pathLst>
            </a:custGeom>
            <a:noFill/>
            <a:ln w="28575" cap="rnd">
              <a:solidFill>
                <a:srgbClr val="F2C14E"/>
              </a:solidFill>
            </a:ln>
          </p:spPr>
        </p:sp>
        <p:sp>
          <p:nvSpPr>
            <p:cNvPr id="110" name="Line 110"/>
            <p:cNvSpPr/>
            <p:nvPr/>
          </p:nvSpPr>
          <p:spPr>
            <a:xfrm>
              <a:off x="3814512" y="3100319"/>
              <a:ext cx="9525" cy="238263"/>
            </a:xfrm>
            <a:custGeom>
              <a:avLst/>
              <a:gdLst/>
              <a:ahLst/>
              <a:cxnLst/>
              <a:rect l="l" t="t" r="r" b="b"/>
              <a:pathLst>
                <a:path w="9525" h="238263">
                  <a:moveTo>
                    <a:pt x="0" y="0"/>
                  </a:moveTo>
                  <a:lnTo>
                    <a:pt x="0" y="238263"/>
                  </a:lnTo>
                </a:path>
              </a:pathLst>
            </a:custGeom>
            <a:noFill/>
            <a:ln w="28575" cap="rnd">
              <a:solidFill>
                <a:srgbClr val="F2C14E"/>
              </a:solidFill>
            </a:ln>
          </p:spPr>
        </p:sp>
        <p:sp>
          <p:nvSpPr>
            <p:cNvPr id="111" name="Line 111"/>
            <p:cNvSpPr/>
            <p:nvPr/>
          </p:nvSpPr>
          <p:spPr>
            <a:xfrm>
              <a:off x="3873166" y="3097159"/>
              <a:ext cx="9525" cy="244582"/>
            </a:xfrm>
            <a:custGeom>
              <a:avLst/>
              <a:gdLst/>
              <a:ahLst/>
              <a:cxnLst/>
              <a:rect l="l" t="t" r="r" b="b"/>
              <a:pathLst>
                <a:path w="9525" h="244582">
                  <a:moveTo>
                    <a:pt x="0" y="0"/>
                  </a:moveTo>
                  <a:lnTo>
                    <a:pt x="0" y="244582"/>
                  </a:lnTo>
                </a:path>
              </a:pathLst>
            </a:custGeom>
            <a:noFill/>
            <a:ln w="28575" cap="rnd">
              <a:solidFill>
                <a:srgbClr val="F2C14E"/>
              </a:solidFill>
            </a:ln>
          </p:spPr>
        </p:sp>
        <p:sp>
          <p:nvSpPr>
            <p:cNvPr id="112" name="Line 112"/>
            <p:cNvSpPr/>
            <p:nvPr/>
          </p:nvSpPr>
          <p:spPr>
            <a:xfrm>
              <a:off x="3931820" y="3138680"/>
              <a:ext cx="9525" cy="161540"/>
            </a:xfrm>
            <a:custGeom>
              <a:avLst/>
              <a:gdLst/>
              <a:ahLst/>
              <a:cxnLst/>
              <a:rect l="l" t="t" r="r" b="b"/>
              <a:pathLst>
                <a:path w="9525" h="161540">
                  <a:moveTo>
                    <a:pt x="0" y="0"/>
                  </a:moveTo>
                  <a:lnTo>
                    <a:pt x="0" y="161540"/>
                  </a:lnTo>
                </a:path>
              </a:pathLst>
            </a:custGeom>
            <a:noFill/>
            <a:ln w="28575" cap="rnd">
              <a:solidFill>
                <a:srgbClr val="F2C14E"/>
              </a:solidFill>
            </a:ln>
          </p:spPr>
        </p:sp>
        <p:sp>
          <p:nvSpPr>
            <p:cNvPr id="113" name="Line 113"/>
            <p:cNvSpPr/>
            <p:nvPr/>
          </p:nvSpPr>
          <p:spPr>
            <a:xfrm>
              <a:off x="3990474" y="3177713"/>
              <a:ext cx="9525" cy="83473"/>
            </a:xfrm>
            <a:custGeom>
              <a:avLst/>
              <a:gdLst/>
              <a:ahLst/>
              <a:cxnLst/>
              <a:rect l="l" t="t" r="r" b="b"/>
              <a:pathLst>
                <a:path w="9525" h="83473">
                  <a:moveTo>
                    <a:pt x="0" y="0"/>
                  </a:moveTo>
                  <a:lnTo>
                    <a:pt x="0" y="83473"/>
                  </a:lnTo>
                </a:path>
              </a:pathLst>
            </a:custGeom>
            <a:noFill/>
            <a:ln w="28575" cap="rnd">
              <a:solidFill>
                <a:srgbClr val="F2C14E"/>
              </a:solidFill>
            </a:ln>
          </p:spPr>
        </p:sp>
        <p:sp>
          <p:nvSpPr>
            <p:cNvPr id="114" name="Line 114"/>
            <p:cNvSpPr/>
            <p:nvPr/>
          </p:nvSpPr>
          <p:spPr>
            <a:xfrm>
              <a:off x="4049128" y="3171186"/>
              <a:ext cx="9525" cy="96529"/>
            </a:xfrm>
            <a:custGeom>
              <a:avLst/>
              <a:gdLst/>
              <a:ahLst/>
              <a:cxnLst/>
              <a:rect l="l" t="t" r="r" b="b"/>
              <a:pathLst>
                <a:path w="9525" h="96529">
                  <a:moveTo>
                    <a:pt x="0" y="0"/>
                  </a:moveTo>
                  <a:lnTo>
                    <a:pt x="0" y="96529"/>
                  </a:lnTo>
                </a:path>
              </a:pathLst>
            </a:custGeom>
            <a:noFill/>
            <a:ln w="28575" cap="rnd">
              <a:solidFill>
                <a:srgbClr val="F2C14E"/>
              </a:solidFill>
            </a:ln>
          </p:spPr>
        </p:sp>
        <p:sp>
          <p:nvSpPr>
            <p:cNvPr id="115" name="Line 115"/>
            <p:cNvSpPr/>
            <p:nvPr/>
          </p:nvSpPr>
          <p:spPr>
            <a:xfrm>
              <a:off x="4107782" y="3116065"/>
              <a:ext cx="9525" cy="206770"/>
            </a:xfrm>
            <a:custGeom>
              <a:avLst/>
              <a:gdLst/>
              <a:ahLst/>
              <a:cxnLst/>
              <a:rect l="l" t="t" r="r" b="b"/>
              <a:pathLst>
                <a:path w="9525" h="206770">
                  <a:moveTo>
                    <a:pt x="0" y="0"/>
                  </a:moveTo>
                  <a:lnTo>
                    <a:pt x="0" y="206770"/>
                  </a:lnTo>
                </a:path>
              </a:pathLst>
            </a:custGeom>
            <a:noFill/>
            <a:ln w="28575" cap="rnd">
              <a:solidFill>
                <a:srgbClr val="F2C14E"/>
              </a:solidFill>
            </a:ln>
          </p:spPr>
        </p:sp>
        <p:sp>
          <p:nvSpPr>
            <p:cNvPr id="116" name="Line 116"/>
            <p:cNvSpPr/>
            <p:nvPr/>
          </p:nvSpPr>
          <p:spPr>
            <a:xfrm>
              <a:off x="4166436" y="3095625"/>
              <a:ext cx="9525" cy="247650"/>
            </a:xfrm>
            <a:custGeom>
              <a:avLst/>
              <a:gdLst/>
              <a:ahLst/>
              <a:cxnLst/>
              <a:rect l="l" t="t" r="r" b="b"/>
              <a:pathLst>
                <a:path w="9525" h="247650">
                  <a:moveTo>
                    <a:pt x="0" y="0"/>
                  </a:moveTo>
                  <a:lnTo>
                    <a:pt x="0" y="247650"/>
                  </a:lnTo>
                </a:path>
              </a:pathLst>
            </a:custGeom>
            <a:noFill/>
            <a:ln w="28575" cap="rnd">
              <a:solidFill>
                <a:srgbClr val="F2C14E"/>
              </a:solidFill>
            </a:ln>
          </p:spPr>
        </p:sp>
        <p:sp>
          <p:nvSpPr>
            <p:cNvPr id="117" name="Line 117"/>
            <p:cNvSpPr/>
            <p:nvPr/>
          </p:nvSpPr>
          <p:spPr>
            <a:xfrm>
              <a:off x="4225089" y="3108861"/>
              <a:ext cx="9525" cy="221177"/>
            </a:xfrm>
            <a:custGeom>
              <a:avLst/>
              <a:gdLst/>
              <a:ahLst/>
              <a:cxnLst/>
              <a:rect l="l" t="t" r="r" b="b"/>
              <a:pathLst>
                <a:path w="9525" h="221177">
                  <a:moveTo>
                    <a:pt x="0" y="0"/>
                  </a:moveTo>
                  <a:lnTo>
                    <a:pt x="0" y="221177"/>
                  </a:lnTo>
                </a:path>
              </a:pathLst>
            </a:custGeom>
            <a:noFill/>
            <a:ln w="28575" cap="rnd">
              <a:solidFill>
                <a:srgbClr val="F2C14E"/>
              </a:solidFill>
            </a:ln>
          </p:spPr>
        </p:sp>
        <p:sp>
          <p:nvSpPr>
            <p:cNvPr id="118" name="Line 118"/>
            <p:cNvSpPr/>
            <p:nvPr/>
          </p:nvSpPr>
          <p:spPr>
            <a:xfrm>
              <a:off x="4283743" y="3122967"/>
              <a:ext cx="9525" cy="192967"/>
            </a:xfrm>
            <a:custGeom>
              <a:avLst/>
              <a:gdLst/>
              <a:ahLst/>
              <a:cxnLst/>
              <a:rect l="l" t="t" r="r" b="b"/>
              <a:pathLst>
                <a:path w="9525" h="192967">
                  <a:moveTo>
                    <a:pt x="0" y="0"/>
                  </a:moveTo>
                  <a:lnTo>
                    <a:pt x="0" y="192967"/>
                  </a:lnTo>
                </a:path>
              </a:pathLst>
            </a:custGeom>
            <a:noFill/>
            <a:ln w="28575" cap="rnd">
              <a:solidFill>
                <a:srgbClr val="F2C14E"/>
              </a:solidFill>
            </a:ln>
          </p:spPr>
        </p:sp>
        <p:sp>
          <p:nvSpPr>
            <p:cNvPr id="119" name="Line 119"/>
            <p:cNvSpPr/>
            <p:nvPr/>
          </p:nvSpPr>
          <p:spPr>
            <a:xfrm>
              <a:off x="4342397" y="3154239"/>
              <a:ext cx="9525" cy="130422"/>
            </a:xfrm>
            <a:custGeom>
              <a:avLst/>
              <a:gdLst/>
              <a:ahLst/>
              <a:cxnLst/>
              <a:rect l="l" t="t" r="r" b="b"/>
              <a:pathLst>
                <a:path w="9525" h="130422">
                  <a:moveTo>
                    <a:pt x="0" y="0"/>
                  </a:moveTo>
                  <a:lnTo>
                    <a:pt x="0" y="130422"/>
                  </a:lnTo>
                </a:path>
              </a:pathLst>
            </a:custGeom>
            <a:noFill/>
            <a:ln w="28575" cap="rnd">
              <a:solidFill>
                <a:srgbClr val="F2C14E"/>
              </a:solidFill>
            </a:ln>
          </p:spPr>
        </p:sp>
        <p:sp>
          <p:nvSpPr>
            <p:cNvPr id="120" name="Line 120"/>
            <p:cNvSpPr/>
            <p:nvPr/>
          </p:nvSpPr>
          <p:spPr>
            <a:xfrm>
              <a:off x="4401051" y="3176295"/>
              <a:ext cx="9525" cy="86311"/>
            </a:xfrm>
            <a:custGeom>
              <a:avLst/>
              <a:gdLst/>
              <a:ahLst/>
              <a:cxnLst/>
              <a:rect l="l" t="t" r="r" b="b"/>
              <a:pathLst>
                <a:path w="9525" h="86311">
                  <a:moveTo>
                    <a:pt x="0" y="0"/>
                  </a:moveTo>
                  <a:lnTo>
                    <a:pt x="0" y="86311"/>
                  </a:lnTo>
                </a:path>
              </a:pathLst>
            </a:custGeom>
            <a:noFill/>
            <a:ln w="28575" cap="rnd">
              <a:solidFill>
                <a:srgbClr val="F2C14E"/>
              </a:solidFill>
            </a:ln>
          </p:spPr>
        </p:sp>
        <p:sp>
          <p:nvSpPr>
            <p:cNvPr id="121" name="Line 121"/>
            <p:cNvSpPr/>
            <p:nvPr/>
          </p:nvSpPr>
          <p:spPr>
            <a:xfrm>
              <a:off x="4459705" y="3122430"/>
              <a:ext cx="9525" cy="194040"/>
            </a:xfrm>
            <a:custGeom>
              <a:avLst/>
              <a:gdLst/>
              <a:ahLst/>
              <a:cxnLst/>
              <a:rect l="l" t="t" r="r" b="b"/>
              <a:pathLst>
                <a:path w="9525" h="194040">
                  <a:moveTo>
                    <a:pt x="0" y="0"/>
                  </a:moveTo>
                  <a:lnTo>
                    <a:pt x="0" y="194040"/>
                  </a:lnTo>
                </a:path>
              </a:pathLst>
            </a:custGeom>
            <a:noFill/>
            <a:ln w="28575" cap="rnd">
              <a:solidFill>
                <a:srgbClr val="F2C14E"/>
              </a:solidFill>
            </a:ln>
          </p:spPr>
        </p:sp>
        <p:sp>
          <p:nvSpPr>
            <p:cNvPr id="122" name="Line 122"/>
            <p:cNvSpPr/>
            <p:nvPr/>
          </p:nvSpPr>
          <p:spPr>
            <a:xfrm>
              <a:off x="4518359" y="3106556"/>
              <a:ext cx="9525" cy="225788"/>
            </a:xfrm>
            <a:custGeom>
              <a:avLst/>
              <a:gdLst/>
              <a:ahLst/>
              <a:cxnLst/>
              <a:rect l="l" t="t" r="r" b="b"/>
              <a:pathLst>
                <a:path w="9525" h="225788">
                  <a:moveTo>
                    <a:pt x="0" y="0"/>
                  </a:moveTo>
                  <a:lnTo>
                    <a:pt x="0" y="225788"/>
                  </a:lnTo>
                </a:path>
              </a:pathLst>
            </a:custGeom>
            <a:noFill/>
            <a:ln w="28575" cap="rnd">
              <a:solidFill>
                <a:srgbClr val="F2C14E"/>
              </a:solidFill>
            </a:ln>
          </p:spPr>
        </p:sp>
        <p:sp>
          <p:nvSpPr>
            <p:cNvPr id="123" name="Line 123"/>
            <p:cNvSpPr/>
            <p:nvPr/>
          </p:nvSpPr>
          <p:spPr>
            <a:xfrm>
              <a:off x="4577013" y="3111955"/>
              <a:ext cx="9525" cy="214990"/>
            </a:xfrm>
            <a:custGeom>
              <a:avLst/>
              <a:gdLst/>
              <a:ahLst/>
              <a:cxnLst/>
              <a:rect l="l" t="t" r="r" b="b"/>
              <a:pathLst>
                <a:path w="9525" h="214990">
                  <a:moveTo>
                    <a:pt x="0" y="0"/>
                  </a:moveTo>
                  <a:lnTo>
                    <a:pt x="0" y="214990"/>
                  </a:lnTo>
                </a:path>
              </a:pathLst>
            </a:custGeom>
            <a:noFill/>
            <a:ln w="28575" cap="rnd">
              <a:solidFill>
                <a:srgbClr val="F2C14E"/>
              </a:solidFill>
            </a:ln>
          </p:spPr>
        </p:sp>
        <p:sp>
          <p:nvSpPr>
            <p:cNvPr id="124" name="Line 124"/>
            <p:cNvSpPr/>
            <p:nvPr/>
          </p:nvSpPr>
          <p:spPr>
            <a:xfrm>
              <a:off x="4635667" y="3101522"/>
              <a:ext cx="9525" cy="235856"/>
            </a:xfrm>
            <a:custGeom>
              <a:avLst/>
              <a:gdLst/>
              <a:ahLst/>
              <a:cxnLst/>
              <a:rect l="l" t="t" r="r" b="b"/>
              <a:pathLst>
                <a:path w="9525" h="235856">
                  <a:moveTo>
                    <a:pt x="0" y="0"/>
                  </a:moveTo>
                  <a:lnTo>
                    <a:pt x="0" y="235856"/>
                  </a:lnTo>
                </a:path>
              </a:pathLst>
            </a:custGeom>
            <a:noFill/>
            <a:ln w="28575" cap="rnd">
              <a:solidFill>
                <a:srgbClr val="F2C14E"/>
              </a:solidFill>
            </a:ln>
          </p:spPr>
        </p:sp>
        <p:sp>
          <p:nvSpPr>
            <p:cNvPr id="125" name="Line 125"/>
            <p:cNvSpPr/>
            <p:nvPr/>
          </p:nvSpPr>
          <p:spPr>
            <a:xfrm>
              <a:off x="4694321" y="3142909"/>
              <a:ext cx="9525" cy="153083"/>
            </a:xfrm>
            <a:custGeom>
              <a:avLst/>
              <a:gdLst/>
              <a:ahLst/>
              <a:cxnLst/>
              <a:rect l="l" t="t" r="r" b="b"/>
              <a:pathLst>
                <a:path w="9525" h="153083">
                  <a:moveTo>
                    <a:pt x="0" y="0"/>
                  </a:moveTo>
                  <a:lnTo>
                    <a:pt x="0" y="153083"/>
                  </a:lnTo>
                </a:path>
              </a:pathLst>
            </a:custGeom>
            <a:noFill/>
            <a:ln w="28575" cap="rnd">
              <a:solidFill>
                <a:srgbClr val="F2C14E"/>
              </a:solidFill>
            </a:ln>
          </p:spPr>
        </p:sp>
        <p:sp>
          <p:nvSpPr>
            <p:cNvPr id="126" name="Line 126"/>
            <p:cNvSpPr/>
            <p:nvPr/>
          </p:nvSpPr>
          <p:spPr>
            <a:xfrm>
              <a:off x="4752975" y="3176188"/>
              <a:ext cx="9525" cy="86523"/>
            </a:xfrm>
            <a:custGeom>
              <a:avLst/>
              <a:gdLst/>
              <a:ahLst/>
              <a:cxnLst/>
              <a:rect l="l" t="t" r="r" b="b"/>
              <a:pathLst>
                <a:path w="9525" h="86523">
                  <a:moveTo>
                    <a:pt x="0" y="0"/>
                  </a:moveTo>
                  <a:lnTo>
                    <a:pt x="0" y="86523"/>
                  </a:lnTo>
                </a:path>
              </a:pathLst>
            </a:custGeom>
            <a:noFill/>
            <a:ln w="28575" cap="rnd">
              <a:solidFill>
                <a:srgbClr val="F2C14E"/>
              </a:solidFill>
            </a:ln>
          </p:spPr>
        </p:sp>
        <p:sp>
          <p:nvSpPr>
            <p:cNvPr id="127" name="TextBox 127"/>
            <p:cNvSpPr txBox="1"/>
            <p:nvPr/>
          </p:nvSpPr>
          <p:spPr>
            <a:xfrm>
              <a:off x="3612832" y="3592116"/>
              <a:ext cx="1815463"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Fine-tuning forgets</a:t>
              </a:r>
            </a:p>
          </p:txBody>
        </p:sp>
        <p:sp>
          <p:nvSpPr>
            <p:cNvPr id="128" name="TextBox 128"/>
            <p:cNvSpPr txBox="1"/>
            <p:nvPr/>
          </p:nvSpPr>
          <p:spPr>
            <a:xfrm>
              <a:off x="3614547" y="4142899"/>
              <a:ext cx="223093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Fine-tuning on the new data makes</a:t>
              </a:r>
            </a:p>
          </p:txBody>
        </p:sp>
        <p:sp>
          <p:nvSpPr>
            <p:cNvPr id="129" name="TextBox 129"/>
            <p:cNvSpPr txBox="1"/>
            <p:nvPr/>
          </p:nvSpPr>
          <p:spPr>
            <a:xfrm>
              <a:off x="3614547" y="4323874"/>
              <a:ext cx="190966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the model forget the old, the</a:t>
              </a:r>
            </a:p>
          </p:txBody>
        </p:sp>
        <p:sp>
          <p:nvSpPr>
            <p:cNvPr id="130" name="TextBox 130"/>
            <p:cNvSpPr txBox="1"/>
            <p:nvPr/>
          </p:nvSpPr>
          <p:spPr>
            <a:xfrm>
              <a:off x="3614547" y="4504849"/>
              <a:ext cx="206138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classic catastrophic forgetting</a:t>
              </a:r>
            </a:p>
          </p:txBody>
        </p:sp>
        <p:sp>
          <p:nvSpPr>
            <p:cNvPr id="131" name="TextBox 131"/>
            <p:cNvSpPr txBox="1"/>
            <p:nvPr/>
          </p:nvSpPr>
          <p:spPr>
            <a:xfrm>
              <a:off x="3614547" y="4685824"/>
              <a:ext cx="583791"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problem.</a:t>
              </a:r>
            </a:p>
          </p:txBody>
        </p:sp>
      </p:grpSp>
      <p:grpSp>
        <p:nvGrpSpPr>
          <p:cNvPr id="160" name="Group 160"/>
          <p:cNvGrpSpPr/>
          <p:nvPr/>
        </p:nvGrpSpPr>
        <p:grpSpPr>
          <a:xfrm>
            <a:off x="6172200" y="2819400"/>
            <a:ext cx="2628900" cy="2247900"/>
            <a:chOff x="6172200" y="2819400"/>
            <a:chExt cx="2628900" cy="2247900"/>
          </a:xfrm>
        </p:grpSpPr>
        <p:sp>
          <p:nvSpPr>
            <p:cNvPr id="133" name="Rectangle 133"/>
            <p:cNvSpPr/>
            <p:nvPr/>
          </p:nvSpPr>
          <p:spPr>
            <a:xfrm>
              <a:off x="6172200" y="2819400"/>
              <a:ext cx="2628900" cy="2247900"/>
            </a:xfrm>
            <a:prstGeom prst="roundRect">
              <a:avLst>
                <a:gd name="adj" fmla="val 5932"/>
              </a:avLst>
            </a:prstGeom>
            <a:solidFill>
              <a:schemeClr val="accent5"/>
            </a:solidFill>
            <a:ln w="14288">
              <a:solidFill>
                <a:srgbClr val="26455F"/>
              </a:solidFill>
            </a:ln>
          </p:spPr>
        </p:sp>
        <p:sp>
          <p:nvSpPr>
            <p:cNvPr id="134" name="Rectangle 134"/>
            <p:cNvSpPr/>
            <p:nvPr/>
          </p:nvSpPr>
          <p:spPr>
            <a:xfrm>
              <a:off x="6172200" y="2819400"/>
              <a:ext cx="2628900" cy="57150"/>
            </a:xfrm>
            <a:prstGeom prst="roundRect">
              <a:avLst>
                <a:gd name="adj" fmla="val 50000"/>
              </a:avLst>
            </a:prstGeom>
            <a:solidFill>
              <a:schemeClr val="accent2"/>
            </a:solidFill>
            <a:ln>
              <a:noFill/>
            </a:ln>
          </p:spPr>
        </p:sp>
        <p:sp>
          <p:nvSpPr>
            <p:cNvPr id="135" name="Line 135"/>
            <p:cNvSpPr/>
            <p:nvPr/>
          </p:nvSpPr>
          <p:spPr>
            <a:xfrm>
              <a:off x="6419850" y="3176188"/>
              <a:ext cx="9525" cy="86523"/>
            </a:xfrm>
            <a:custGeom>
              <a:avLst/>
              <a:gdLst/>
              <a:ahLst/>
              <a:cxnLst/>
              <a:rect l="l" t="t" r="r" b="b"/>
              <a:pathLst>
                <a:path w="9525" h="86523">
                  <a:moveTo>
                    <a:pt x="0" y="0"/>
                  </a:moveTo>
                  <a:lnTo>
                    <a:pt x="0" y="86523"/>
                  </a:lnTo>
                </a:path>
              </a:pathLst>
            </a:custGeom>
            <a:noFill/>
            <a:ln w="28575" cap="rnd">
              <a:solidFill>
                <a:schemeClr val="accent2"/>
              </a:solidFill>
            </a:ln>
          </p:spPr>
        </p:sp>
        <p:sp>
          <p:nvSpPr>
            <p:cNvPr id="136" name="Line 136"/>
            <p:cNvSpPr/>
            <p:nvPr/>
          </p:nvSpPr>
          <p:spPr>
            <a:xfrm>
              <a:off x="6478504" y="3147126"/>
              <a:ext cx="9525" cy="144648"/>
            </a:xfrm>
            <a:custGeom>
              <a:avLst/>
              <a:gdLst/>
              <a:ahLst/>
              <a:cxnLst/>
              <a:rect l="l" t="t" r="r" b="b"/>
              <a:pathLst>
                <a:path w="9525" h="144648">
                  <a:moveTo>
                    <a:pt x="0" y="0"/>
                  </a:moveTo>
                  <a:lnTo>
                    <a:pt x="0" y="144648"/>
                  </a:lnTo>
                </a:path>
              </a:pathLst>
            </a:custGeom>
            <a:noFill/>
            <a:ln w="28575" cap="rnd">
              <a:solidFill>
                <a:schemeClr val="accent2"/>
              </a:solidFill>
            </a:ln>
          </p:spPr>
        </p:sp>
        <p:sp>
          <p:nvSpPr>
            <p:cNvPr id="137" name="Line 137"/>
            <p:cNvSpPr/>
            <p:nvPr/>
          </p:nvSpPr>
          <p:spPr>
            <a:xfrm>
              <a:off x="6537158" y="3116632"/>
              <a:ext cx="9525" cy="205635"/>
            </a:xfrm>
            <a:custGeom>
              <a:avLst/>
              <a:gdLst/>
              <a:ahLst/>
              <a:cxnLst/>
              <a:rect l="l" t="t" r="r" b="b"/>
              <a:pathLst>
                <a:path w="9525" h="205635">
                  <a:moveTo>
                    <a:pt x="0" y="0"/>
                  </a:moveTo>
                  <a:lnTo>
                    <a:pt x="0" y="205635"/>
                  </a:lnTo>
                </a:path>
              </a:pathLst>
            </a:custGeom>
            <a:noFill/>
            <a:ln w="28575" cap="rnd">
              <a:solidFill>
                <a:schemeClr val="accent2"/>
              </a:solidFill>
            </a:ln>
          </p:spPr>
        </p:sp>
        <p:sp>
          <p:nvSpPr>
            <p:cNvPr id="138" name="Line 138"/>
            <p:cNvSpPr/>
            <p:nvPr/>
          </p:nvSpPr>
          <p:spPr>
            <a:xfrm>
              <a:off x="6595812" y="3100319"/>
              <a:ext cx="9525" cy="238263"/>
            </a:xfrm>
            <a:custGeom>
              <a:avLst/>
              <a:gdLst/>
              <a:ahLst/>
              <a:cxnLst/>
              <a:rect l="l" t="t" r="r" b="b"/>
              <a:pathLst>
                <a:path w="9525" h="238263">
                  <a:moveTo>
                    <a:pt x="0" y="0"/>
                  </a:moveTo>
                  <a:lnTo>
                    <a:pt x="0" y="238263"/>
                  </a:lnTo>
                </a:path>
              </a:pathLst>
            </a:custGeom>
            <a:noFill/>
            <a:ln w="28575" cap="rnd">
              <a:solidFill>
                <a:schemeClr val="accent2"/>
              </a:solidFill>
            </a:ln>
          </p:spPr>
        </p:sp>
        <p:sp>
          <p:nvSpPr>
            <p:cNvPr id="139" name="Line 139"/>
            <p:cNvSpPr/>
            <p:nvPr/>
          </p:nvSpPr>
          <p:spPr>
            <a:xfrm>
              <a:off x="6654466" y="3097159"/>
              <a:ext cx="9525" cy="244582"/>
            </a:xfrm>
            <a:custGeom>
              <a:avLst/>
              <a:gdLst/>
              <a:ahLst/>
              <a:cxnLst/>
              <a:rect l="l" t="t" r="r" b="b"/>
              <a:pathLst>
                <a:path w="9525" h="244582">
                  <a:moveTo>
                    <a:pt x="0" y="0"/>
                  </a:moveTo>
                  <a:lnTo>
                    <a:pt x="0" y="244582"/>
                  </a:lnTo>
                </a:path>
              </a:pathLst>
            </a:custGeom>
            <a:noFill/>
            <a:ln w="28575" cap="rnd">
              <a:solidFill>
                <a:schemeClr val="accent2"/>
              </a:solidFill>
            </a:ln>
          </p:spPr>
        </p:sp>
        <p:sp>
          <p:nvSpPr>
            <p:cNvPr id="140" name="Line 140"/>
            <p:cNvSpPr/>
            <p:nvPr/>
          </p:nvSpPr>
          <p:spPr>
            <a:xfrm>
              <a:off x="6713120" y="3138680"/>
              <a:ext cx="9525" cy="161540"/>
            </a:xfrm>
            <a:custGeom>
              <a:avLst/>
              <a:gdLst/>
              <a:ahLst/>
              <a:cxnLst/>
              <a:rect l="l" t="t" r="r" b="b"/>
              <a:pathLst>
                <a:path w="9525" h="161540">
                  <a:moveTo>
                    <a:pt x="0" y="0"/>
                  </a:moveTo>
                  <a:lnTo>
                    <a:pt x="0" y="161540"/>
                  </a:lnTo>
                </a:path>
              </a:pathLst>
            </a:custGeom>
            <a:noFill/>
            <a:ln w="28575" cap="rnd">
              <a:solidFill>
                <a:schemeClr val="accent2"/>
              </a:solidFill>
            </a:ln>
          </p:spPr>
        </p:sp>
        <p:sp>
          <p:nvSpPr>
            <p:cNvPr id="141" name="Line 141"/>
            <p:cNvSpPr/>
            <p:nvPr/>
          </p:nvSpPr>
          <p:spPr>
            <a:xfrm>
              <a:off x="6771774" y="3177713"/>
              <a:ext cx="9525" cy="83473"/>
            </a:xfrm>
            <a:custGeom>
              <a:avLst/>
              <a:gdLst/>
              <a:ahLst/>
              <a:cxnLst/>
              <a:rect l="l" t="t" r="r" b="b"/>
              <a:pathLst>
                <a:path w="9525" h="83473">
                  <a:moveTo>
                    <a:pt x="0" y="0"/>
                  </a:moveTo>
                  <a:lnTo>
                    <a:pt x="0" y="83473"/>
                  </a:lnTo>
                </a:path>
              </a:pathLst>
            </a:custGeom>
            <a:noFill/>
            <a:ln w="28575" cap="rnd">
              <a:solidFill>
                <a:schemeClr val="accent2"/>
              </a:solidFill>
            </a:ln>
          </p:spPr>
        </p:sp>
        <p:sp>
          <p:nvSpPr>
            <p:cNvPr id="142" name="Line 142"/>
            <p:cNvSpPr/>
            <p:nvPr/>
          </p:nvSpPr>
          <p:spPr>
            <a:xfrm>
              <a:off x="6830428" y="3171186"/>
              <a:ext cx="9525" cy="96529"/>
            </a:xfrm>
            <a:custGeom>
              <a:avLst/>
              <a:gdLst/>
              <a:ahLst/>
              <a:cxnLst/>
              <a:rect l="l" t="t" r="r" b="b"/>
              <a:pathLst>
                <a:path w="9525" h="96529">
                  <a:moveTo>
                    <a:pt x="0" y="0"/>
                  </a:moveTo>
                  <a:lnTo>
                    <a:pt x="0" y="96529"/>
                  </a:lnTo>
                </a:path>
              </a:pathLst>
            </a:custGeom>
            <a:noFill/>
            <a:ln w="28575" cap="rnd">
              <a:solidFill>
                <a:schemeClr val="accent2"/>
              </a:solidFill>
            </a:ln>
          </p:spPr>
        </p:sp>
        <p:sp>
          <p:nvSpPr>
            <p:cNvPr id="143" name="Line 143"/>
            <p:cNvSpPr/>
            <p:nvPr/>
          </p:nvSpPr>
          <p:spPr>
            <a:xfrm>
              <a:off x="6889082" y="3116065"/>
              <a:ext cx="9525" cy="206770"/>
            </a:xfrm>
            <a:custGeom>
              <a:avLst/>
              <a:gdLst/>
              <a:ahLst/>
              <a:cxnLst/>
              <a:rect l="l" t="t" r="r" b="b"/>
              <a:pathLst>
                <a:path w="9525" h="206770">
                  <a:moveTo>
                    <a:pt x="0" y="0"/>
                  </a:moveTo>
                  <a:lnTo>
                    <a:pt x="0" y="206770"/>
                  </a:lnTo>
                </a:path>
              </a:pathLst>
            </a:custGeom>
            <a:noFill/>
            <a:ln w="28575" cap="rnd">
              <a:solidFill>
                <a:schemeClr val="accent2"/>
              </a:solidFill>
            </a:ln>
          </p:spPr>
        </p:sp>
        <p:sp>
          <p:nvSpPr>
            <p:cNvPr id="144" name="Line 144"/>
            <p:cNvSpPr/>
            <p:nvPr/>
          </p:nvSpPr>
          <p:spPr>
            <a:xfrm>
              <a:off x="6947736" y="3095625"/>
              <a:ext cx="9525" cy="247650"/>
            </a:xfrm>
            <a:custGeom>
              <a:avLst/>
              <a:gdLst/>
              <a:ahLst/>
              <a:cxnLst/>
              <a:rect l="l" t="t" r="r" b="b"/>
              <a:pathLst>
                <a:path w="9525" h="247650">
                  <a:moveTo>
                    <a:pt x="0" y="0"/>
                  </a:moveTo>
                  <a:lnTo>
                    <a:pt x="0" y="247650"/>
                  </a:lnTo>
                </a:path>
              </a:pathLst>
            </a:custGeom>
            <a:noFill/>
            <a:ln w="28575" cap="rnd">
              <a:solidFill>
                <a:schemeClr val="accent2"/>
              </a:solidFill>
            </a:ln>
          </p:spPr>
        </p:sp>
        <p:sp>
          <p:nvSpPr>
            <p:cNvPr id="145" name="Line 145"/>
            <p:cNvSpPr/>
            <p:nvPr/>
          </p:nvSpPr>
          <p:spPr>
            <a:xfrm>
              <a:off x="7006389" y="3108861"/>
              <a:ext cx="9525" cy="221177"/>
            </a:xfrm>
            <a:custGeom>
              <a:avLst/>
              <a:gdLst/>
              <a:ahLst/>
              <a:cxnLst/>
              <a:rect l="l" t="t" r="r" b="b"/>
              <a:pathLst>
                <a:path w="9525" h="221177">
                  <a:moveTo>
                    <a:pt x="0" y="0"/>
                  </a:moveTo>
                  <a:lnTo>
                    <a:pt x="0" y="221177"/>
                  </a:lnTo>
                </a:path>
              </a:pathLst>
            </a:custGeom>
            <a:noFill/>
            <a:ln w="28575" cap="rnd">
              <a:solidFill>
                <a:schemeClr val="accent2"/>
              </a:solidFill>
            </a:ln>
          </p:spPr>
        </p:sp>
        <p:sp>
          <p:nvSpPr>
            <p:cNvPr id="146" name="Line 146"/>
            <p:cNvSpPr/>
            <p:nvPr/>
          </p:nvSpPr>
          <p:spPr>
            <a:xfrm>
              <a:off x="7065043" y="3122967"/>
              <a:ext cx="9525" cy="192967"/>
            </a:xfrm>
            <a:custGeom>
              <a:avLst/>
              <a:gdLst/>
              <a:ahLst/>
              <a:cxnLst/>
              <a:rect l="l" t="t" r="r" b="b"/>
              <a:pathLst>
                <a:path w="9525" h="192967">
                  <a:moveTo>
                    <a:pt x="0" y="0"/>
                  </a:moveTo>
                  <a:lnTo>
                    <a:pt x="0" y="192967"/>
                  </a:lnTo>
                </a:path>
              </a:pathLst>
            </a:custGeom>
            <a:noFill/>
            <a:ln w="28575" cap="rnd">
              <a:solidFill>
                <a:schemeClr val="accent2"/>
              </a:solidFill>
            </a:ln>
          </p:spPr>
        </p:sp>
        <p:sp>
          <p:nvSpPr>
            <p:cNvPr id="147" name="Line 147"/>
            <p:cNvSpPr/>
            <p:nvPr/>
          </p:nvSpPr>
          <p:spPr>
            <a:xfrm>
              <a:off x="7123697" y="3154239"/>
              <a:ext cx="9525" cy="130422"/>
            </a:xfrm>
            <a:custGeom>
              <a:avLst/>
              <a:gdLst/>
              <a:ahLst/>
              <a:cxnLst/>
              <a:rect l="l" t="t" r="r" b="b"/>
              <a:pathLst>
                <a:path w="9525" h="130422">
                  <a:moveTo>
                    <a:pt x="0" y="0"/>
                  </a:moveTo>
                  <a:lnTo>
                    <a:pt x="0" y="130422"/>
                  </a:lnTo>
                </a:path>
              </a:pathLst>
            </a:custGeom>
            <a:noFill/>
            <a:ln w="28575" cap="rnd">
              <a:solidFill>
                <a:schemeClr val="accent2"/>
              </a:solidFill>
            </a:ln>
          </p:spPr>
        </p:sp>
        <p:sp>
          <p:nvSpPr>
            <p:cNvPr id="148" name="Line 148"/>
            <p:cNvSpPr/>
            <p:nvPr/>
          </p:nvSpPr>
          <p:spPr>
            <a:xfrm>
              <a:off x="7182351" y="3176295"/>
              <a:ext cx="9525" cy="86311"/>
            </a:xfrm>
            <a:custGeom>
              <a:avLst/>
              <a:gdLst/>
              <a:ahLst/>
              <a:cxnLst/>
              <a:rect l="l" t="t" r="r" b="b"/>
              <a:pathLst>
                <a:path w="9525" h="86311">
                  <a:moveTo>
                    <a:pt x="0" y="0"/>
                  </a:moveTo>
                  <a:lnTo>
                    <a:pt x="0" y="86311"/>
                  </a:lnTo>
                </a:path>
              </a:pathLst>
            </a:custGeom>
            <a:noFill/>
            <a:ln w="28575" cap="rnd">
              <a:solidFill>
                <a:schemeClr val="accent2"/>
              </a:solidFill>
            </a:ln>
          </p:spPr>
        </p:sp>
        <p:sp>
          <p:nvSpPr>
            <p:cNvPr id="149" name="Line 149"/>
            <p:cNvSpPr/>
            <p:nvPr/>
          </p:nvSpPr>
          <p:spPr>
            <a:xfrm>
              <a:off x="7241005" y="3122430"/>
              <a:ext cx="9525" cy="194040"/>
            </a:xfrm>
            <a:custGeom>
              <a:avLst/>
              <a:gdLst/>
              <a:ahLst/>
              <a:cxnLst/>
              <a:rect l="l" t="t" r="r" b="b"/>
              <a:pathLst>
                <a:path w="9525" h="194040">
                  <a:moveTo>
                    <a:pt x="0" y="0"/>
                  </a:moveTo>
                  <a:lnTo>
                    <a:pt x="0" y="194040"/>
                  </a:lnTo>
                </a:path>
              </a:pathLst>
            </a:custGeom>
            <a:noFill/>
            <a:ln w="28575" cap="rnd">
              <a:solidFill>
                <a:schemeClr val="accent2"/>
              </a:solidFill>
            </a:ln>
          </p:spPr>
        </p:sp>
        <p:sp>
          <p:nvSpPr>
            <p:cNvPr id="150" name="Line 150"/>
            <p:cNvSpPr/>
            <p:nvPr/>
          </p:nvSpPr>
          <p:spPr>
            <a:xfrm>
              <a:off x="7299659" y="3106556"/>
              <a:ext cx="9525" cy="225788"/>
            </a:xfrm>
            <a:custGeom>
              <a:avLst/>
              <a:gdLst/>
              <a:ahLst/>
              <a:cxnLst/>
              <a:rect l="l" t="t" r="r" b="b"/>
              <a:pathLst>
                <a:path w="9525" h="225788">
                  <a:moveTo>
                    <a:pt x="0" y="0"/>
                  </a:moveTo>
                  <a:lnTo>
                    <a:pt x="0" y="225788"/>
                  </a:lnTo>
                </a:path>
              </a:pathLst>
            </a:custGeom>
            <a:noFill/>
            <a:ln w="28575" cap="rnd">
              <a:solidFill>
                <a:schemeClr val="accent2"/>
              </a:solidFill>
            </a:ln>
          </p:spPr>
        </p:sp>
        <p:sp>
          <p:nvSpPr>
            <p:cNvPr id="151" name="Line 151"/>
            <p:cNvSpPr/>
            <p:nvPr/>
          </p:nvSpPr>
          <p:spPr>
            <a:xfrm>
              <a:off x="7358313" y="3111955"/>
              <a:ext cx="9525" cy="214990"/>
            </a:xfrm>
            <a:custGeom>
              <a:avLst/>
              <a:gdLst/>
              <a:ahLst/>
              <a:cxnLst/>
              <a:rect l="l" t="t" r="r" b="b"/>
              <a:pathLst>
                <a:path w="9525" h="214990">
                  <a:moveTo>
                    <a:pt x="0" y="0"/>
                  </a:moveTo>
                  <a:lnTo>
                    <a:pt x="0" y="214990"/>
                  </a:lnTo>
                </a:path>
              </a:pathLst>
            </a:custGeom>
            <a:noFill/>
            <a:ln w="28575" cap="rnd">
              <a:solidFill>
                <a:schemeClr val="accent2"/>
              </a:solidFill>
            </a:ln>
          </p:spPr>
        </p:sp>
        <p:sp>
          <p:nvSpPr>
            <p:cNvPr id="152" name="Line 152"/>
            <p:cNvSpPr/>
            <p:nvPr/>
          </p:nvSpPr>
          <p:spPr>
            <a:xfrm>
              <a:off x="7416967" y="3101522"/>
              <a:ext cx="9525" cy="235856"/>
            </a:xfrm>
            <a:custGeom>
              <a:avLst/>
              <a:gdLst/>
              <a:ahLst/>
              <a:cxnLst/>
              <a:rect l="l" t="t" r="r" b="b"/>
              <a:pathLst>
                <a:path w="9525" h="235856">
                  <a:moveTo>
                    <a:pt x="0" y="0"/>
                  </a:moveTo>
                  <a:lnTo>
                    <a:pt x="0" y="235856"/>
                  </a:lnTo>
                </a:path>
              </a:pathLst>
            </a:custGeom>
            <a:noFill/>
            <a:ln w="28575" cap="rnd">
              <a:solidFill>
                <a:schemeClr val="accent2"/>
              </a:solidFill>
            </a:ln>
          </p:spPr>
        </p:sp>
        <p:sp>
          <p:nvSpPr>
            <p:cNvPr id="153" name="Line 153"/>
            <p:cNvSpPr/>
            <p:nvPr/>
          </p:nvSpPr>
          <p:spPr>
            <a:xfrm>
              <a:off x="7475621" y="3142909"/>
              <a:ext cx="9525" cy="153083"/>
            </a:xfrm>
            <a:custGeom>
              <a:avLst/>
              <a:gdLst/>
              <a:ahLst/>
              <a:cxnLst/>
              <a:rect l="l" t="t" r="r" b="b"/>
              <a:pathLst>
                <a:path w="9525" h="153083">
                  <a:moveTo>
                    <a:pt x="0" y="0"/>
                  </a:moveTo>
                  <a:lnTo>
                    <a:pt x="0" y="153083"/>
                  </a:lnTo>
                </a:path>
              </a:pathLst>
            </a:custGeom>
            <a:noFill/>
            <a:ln w="28575" cap="rnd">
              <a:solidFill>
                <a:schemeClr val="accent2"/>
              </a:solidFill>
            </a:ln>
          </p:spPr>
        </p:sp>
        <p:sp>
          <p:nvSpPr>
            <p:cNvPr id="154" name="Line 154"/>
            <p:cNvSpPr/>
            <p:nvPr/>
          </p:nvSpPr>
          <p:spPr>
            <a:xfrm>
              <a:off x="7534275" y="3176188"/>
              <a:ext cx="9525" cy="86523"/>
            </a:xfrm>
            <a:custGeom>
              <a:avLst/>
              <a:gdLst/>
              <a:ahLst/>
              <a:cxnLst/>
              <a:rect l="l" t="t" r="r" b="b"/>
              <a:pathLst>
                <a:path w="9525" h="86523">
                  <a:moveTo>
                    <a:pt x="0" y="0"/>
                  </a:moveTo>
                  <a:lnTo>
                    <a:pt x="0" y="86523"/>
                  </a:lnTo>
                </a:path>
              </a:pathLst>
            </a:custGeom>
            <a:noFill/>
            <a:ln w="28575" cap="rnd">
              <a:solidFill>
                <a:schemeClr val="accent2"/>
              </a:solidFill>
            </a:ln>
          </p:spPr>
        </p:sp>
        <p:sp>
          <p:nvSpPr>
            <p:cNvPr id="155" name="TextBox 155"/>
            <p:cNvSpPr txBox="1"/>
            <p:nvPr/>
          </p:nvSpPr>
          <p:spPr>
            <a:xfrm>
              <a:off x="6394132" y="3592116"/>
              <a:ext cx="52202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RAWM</a:t>
              </a:r>
            </a:p>
          </p:txBody>
        </p:sp>
        <p:sp>
          <p:nvSpPr>
            <p:cNvPr id="156" name="TextBox 156"/>
            <p:cNvSpPr txBox="1"/>
            <p:nvPr/>
          </p:nvSpPr>
          <p:spPr>
            <a:xfrm>
              <a:off x="6395847" y="4142899"/>
              <a:ext cx="180966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Regularized Adaptive Weight</a:t>
              </a:r>
            </a:p>
          </p:txBody>
        </p:sp>
        <p:sp>
          <p:nvSpPr>
            <p:cNvPr id="157" name="TextBox 157"/>
            <p:cNvSpPr txBox="1"/>
            <p:nvPr/>
          </p:nvSpPr>
          <p:spPr>
            <a:xfrm>
              <a:off x="6395847" y="4323874"/>
              <a:ext cx="2276733"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Modification adapts updates by the</a:t>
              </a:r>
            </a:p>
          </p:txBody>
        </p:sp>
        <p:sp>
          <p:nvSpPr>
            <p:cNvPr id="158" name="TextBox 158"/>
            <p:cNvSpPr txBox="1"/>
            <p:nvPr/>
          </p:nvSpPr>
          <p:spPr>
            <a:xfrm>
              <a:off x="6395847" y="4504849"/>
              <a:ext cx="2133940"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genuine-to-fake ratio and adds a</a:t>
              </a:r>
            </a:p>
          </p:txBody>
        </p:sp>
        <p:sp>
          <p:nvSpPr>
            <p:cNvPr id="159" name="TextBox 159"/>
            <p:cNvSpPr txBox="1"/>
            <p:nvPr/>
          </p:nvSpPr>
          <p:spPr>
            <a:xfrm>
              <a:off x="6395847" y="4685824"/>
              <a:ext cx="134237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memory regularizer.</a:t>
              </a:r>
            </a:p>
          </p:txBody>
        </p:sp>
      </p:grpSp>
      <p:grpSp>
        <p:nvGrpSpPr>
          <p:cNvPr id="188" name="Group 188"/>
          <p:cNvGrpSpPr/>
          <p:nvPr/>
        </p:nvGrpSpPr>
        <p:grpSpPr>
          <a:xfrm>
            <a:off x="8953500" y="2819400"/>
            <a:ext cx="2628900" cy="2247900"/>
            <a:chOff x="8953500" y="2819400"/>
            <a:chExt cx="2628900" cy="2247900"/>
          </a:xfrm>
        </p:grpSpPr>
        <p:sp>
          <p:nvSpPr>
            <p:cNvPr id="161" name="Rectangle 161"/>
            <p:cNvSpPr/>
            <p:nvPr/>
          </p:nvSpPr>
          <p:spPr>
            <a:xfrm>
              <a:off x="8953500" y="2819400"/>
              <a:ext cx="2628900" cy="2247900"/>
            </a:xfrm>
            <a:prstGeom prst="roundRect">
              <a:avLst>
                <a:gd name="adj" fmla="val 5932"/>
              </a:avLst>
            </a:prstGeom>
            <a:solidFill>
              <a:schemeClr val="accent5"/>
            </a:solidFill>
            <a:ln w="14288">
              <a:solidFill>
                <a:srgbClr val="26455F"/>
              </a:solidFill>
            </a:ln>
          </p:spPr>
        </p:sp>
        <p:sp>
          <p:nvSpPr>
            <p:cNvPr id="162" name="Rectangle 162"/>
            <p:cNvSpPr/>
            <p:nvPr/>
          </p:nvSpPr>
          <p:spPr>
            <a:xfrm>
              <a:off x="8953500" y="2819400"/>
              <a:ext cx="2628900" cy="57150"/>
            </a:xfrm>
            <a:prstGeom prst="roundRect">
              <a:avLst>
                <a:gd name="adj" fmla="val 50000"/>
              </a:avLst>
            </a:prstGeom>
            <a:solidFill>
              <a:srgbClr val="48C78E"/>
            </a:solidFill>
            <a:ln>
              <a:noFill/>
            </a:ln>
          </p:spPr>
        </p:sp>
        <p:sp>
          <p:nvSpPr>
            <p:cNvPr id="163" name="Line 163"/>
            <p:cNvSpPr/>
            <p:nvPr/>
          </p:nvSpPr>
          <p:spPr>
            <a:xfrm>
              <a:off x="9201150" y="3176188"/>
              <a:ext cx="9525" cy="86523"/>
            </a:xfrm>
            <a:custGeom>
              <a:avLst/>
              <a:gdLst/>
              <a:ahLst/>
              <a:cxnLst/>
              <a:rect l="l" t="t" r="r" b="b"/>
              <a:pathLst>
                <a:path w="9525" h="86523">
                  <a:moveTo>
                    <a:pt x="0" y="0"/>
                  </a:moveTo>
                  <a:lnTo>
                    <a:pt x="0" y="86523"/>
                  </a:lnTo>
                </a:path>
              </a:pathLst>
            </a:custGeom>
            <a:noFill/>
            <a:ln w="28575" cap="rnd">
              <a:solidFill>
                <a:srgbClr val="48C78E"/>
              </a:solidFill>
            </a:ln>
          </p:spPr>
        </p:sp>
        <p:sp>
          <p:nvSpPr>
            <p:cNvPr id="164" name="Line 164"/>
            <p:cNvSpPr/>
            <p:nvPr/>
          </p:nvSpPr>
          <p:spPr>
            <a:xfrm>
              <a:off x="9259804" y="3147126"/>
              <a:ext cx="9525" cy="144648"/>
            </a:xfrm>
            <a:custGeom>
              <a:avLst/>
              <a:gdLst/>
              <a:ahLst/>
              <a:cxnLst/>
              <a:rect l="l" t="t" r="r" b="b"/>
              <a:pathLst>
                <a:path w="9525" h="144648">
                  <a:moveTo>
                    <a:pt x="0" y="0"/>
                  </a:moveTo>
                  <a:lnTo>
                    <a:pt x="0" y="144648"/>
                  </a:lnTo>
                </a:path>
              </a:pathLst>
            </a:custGeom>
            <a:noFill/>
            <a:ln w="28575" cap="rnd">
              <a:solidFill>
                <a:srgbClr val="48C78E"/>
              </a:solidFill>
            </a:ln>
          </p:spPr>
        </p:sp>
        <p:sp>
          <p:nvSpPr>
            <p:cNvPr id="165" name="Line 165"/>
            <p:cNvSpPr/>
            <p:nvPr/>
          </p:nvSpPr>
          <p:spPr>
            <a:xfrm>
              <a:off x="9318458" y="3116632"/>
              <a:ext cx="9525" cy="205635"/>
            </a:xfrm>
            <a:custGeom>
              <a:avLst/>
              <a:gdLst/>
              <a:ahLst/>
              <a:cxnLst/>
              <a:rect l="l" t="t" r="r" b="b"/>
              <a:pathLst>
                <a:path w="9525" h="205635">
                  <a:moveTo>
                    <a:pt x="0" y="0"/>
                  </a:moveTo>
                  <a:lnTo>
                    <a:pt x="0" y="205635"/>
                  </a:lnTo>
                </a:path>
              </a:pathLst>
            </a:custGeom>
            <a:noFill/>
            <a:ln w="28575" cap="rnd">
              <a:solidFill>
                <a:srgbClr val="48C78E"/>
              </a:solidFill>
            </a:ln>
          </p:spPr>
        </p:sp>
        <p:sp>
          <p:nvSpPr>
            <p:cNvPr id="166" name="Line 166"/>
            <p:cNvSpPr/>
            <p:nvPr/>
          </p:nvSpPr>
          <p:spPr>
            <a:xfrm>
              <a:off x="9377112" y="3100319"/>
              <a:ext cx="9525" cy="238263"/>
            </a:xfrm>
            <a:custGeom>
              <a:avLst/>
              <a:gdLst/>
              <a:ahLst/>
              <a:cxnLst/>
              <a:rect l="l" t="t" r="r" b="b"/>
              <a:pathLst>
                <a:path w="9525" h="238263">
                  <a:moveTo>
                    <a:pt x="0" y="0"/>
                  </a:moveTo>
                  <a:lnTo>
                    <a:pt x="0" y="238263"/>
                  </a:lnTo>
                </a:path>
              </a:pathLst>
            </a:custGeom>
            <a:noFill/>
            <a:ln w="28575" cap="rnd">
              <a:solidFill>
                <a:srgbClr val="48C78E"/>
              </a:solidFill>
            </a:ln>
          </p:spPr>
        </p:sp>
        <p:sp>
          <p:nvSpPr>
            <p:cNvPr id="167" name="Line 167"/>
            <p:cNvSpPr/>
            <p:nvPr/>
          </p:nvSpPr>
          <p:spPr>
            <a:xfrm>
              <a:off x="9435766" y="3097159"/>
              <a:ext cx="9525" cy="244582"/>
            </a:xfrm>
            <a:custGeom>
              <a:avLst/>
              <a:gdLst/>
              <a:ahLst/>
              <a:cxnLst/>
              <a:rect l="l" t="t" r="r" b="b"/>
              <a:pathLst>
                <a:path w="9525" h="244582">
                  <a:moveTo>
                    <a:pt x="0" y="0"/>
                  </a:moveTo>
                  <a:lnTo>
                    <a:pt x="0" y="244582"/>
                  </a:lnTo>
                </a:path>
              </a:pathLst>
            </a:custGeom>
            <a:noFill/>
            <a:ln w="28575" cap="rnd">
              <a:solidFill>
                <a:srgbClr val="48C78E"/>
              </a:solidFill>
            </a:ln>
          </p:spPr>
        </p:sp>
        <p:sp>
          <p:nvSpPr>
            <p:cNvPr id="168" name="Line 168"/>
            <p:cNvSpPr/>
            <p:nvPr/>
          </p:nvSpPr>
          <p:spPr>
            <a:xfrm>
              <a:off x="9494420" y="3138680"/>
              <a:ext cx="9525" cy="161540"/>
            </a:xfrm>
            <a:custGeom>
              <a:avLst/>
              <a:gdLst/>
              <a:ahLst/>
              <a:cxnLst/>
              <a:rect l="l" t="t" r="r" b="b"/>
              <a:pathLst>
                <a:path w="9525" h="161540">
                  <a:moveTo>
                    <a:pt x="0" y="0"/>
                  </a:moveTo>
                  <a:lnTo>
                    <a:pt x="0" y="161540"/>
                  </a:lnTo>
                </a:path>
              </a:pathLst>
            </a:custGeom>
            <a:noFill/>
            <a:ln w="28575" cap="rnd">
              <a:solidFill>
                <a:srgbClr val="48C78E"/>
              </a:solidFill>
            </a:ln>
          </p:spPr>
        </p:sp>
        <p:sp>
          <p:nvSpPr>
            <p:cNvPr id="169" name="Line 169"/>
            <p:cNvSpPr/>
            <p:nvPr/>
          </p:nvSpPr>
          <p:spPr>
            <a:xfrm>
              <a:off x="9553074" y="3177713"/>
              <a:ext cx="9525" cy="83473"/>
            </a:xfrm>
            <a:custGeom>
              <a:avLst/>
              <a:gdLst/>
              <a:ahLst/>
              <a:cxnLst/>
              <a:rect l="l" t="t" r="r" b="b"/>
              <a:pathLst>
                <a:path w="9525" h="83473">
                  <a:moveTo>
                    <a:pt x="0" y="0"/>
                  </a:moveTo>
                  <a:lnTo>
                    <a:pt x="0" y="83473"/>
                  </a:lnTo>
                </a:path>
              </a:pathLst>
            </a:custGeom>
            <a:noFill/>
            <a:ln w="28575" cap="rnd">
              <a:solidFill>
                <a:srgbClr val="48C78E"/>
              </a:solidFill>
            </a:ln>
          </p:spPr>
        </p:sp>
        <p:sp>
          <p:nvSpPr>
            <p:cNvPr id="170" name="Line 170"/>
            <p:cNvSpPr/>
            <p:nvPr/>
          </p:nvSpPr>
          <p:spPr>
            <a:xfrm>
              <a:off x="9611728" y="3171186"/>
              <a:ext cx="9525" cy="96529"/>
            </a:xfrm>
            <a:custGeom>
              <a:avLst/>
              <a:gdLst/>
              <a:ahLst/>
              <a:cxnLst/>
              <a:rect l="l" t="t" r="r" b="b"/>
              <a:pathLst>
                <a:path w="9525" h="96529">
                  <a:moveTo>
                    <a:pt x="0" y="0"/>
                  </a:moveTo>
                  <a:lnTo>
                    <a:pt x="0" y="96529"/>
                  </a:lnTo>
                </a:path>
              </a:pathLst>
            </a:custGeom>
            <a:noFill/>
            <a:ln w="28575" cap="rnd">
              <a:solidFill>
                <a:srgbClr val="48C78E"/>
              </a:solidFill>
            </a:ln>
          </p:spPr>
        </p:sp>
        <p:sp>
          <p:nvSpPr>
            <p:cNvPr id="171" name="Line 171"/>
            <p:cNvSpPr/>
            <p:nvPr/>
          </p:nvSpPr>
          <p:spPr>
            <a:xfrm>
              <a:off x="9670382" y="3116065"/>
              <a:ext cx="9525" cy="206770"/>
            </a:xfrm>
            <a:custGeom>
              <a:avLst/>
              <a:gdLst/>
              <a:ahLst/>
              <a:cxnLst/>
              <a:rect l="l" t="t" r="r" b="b"/>
              <a:pathLst>
                <a:path w="9525" h="206770">
                  <a:moveTo>
                    <a:pt x="0" y="0"/>
                  </a:moveTo>
                  <a:lnTo>
                    <a:pt x="0" y="206770"/>
                  </a:lnTo>
                </a:path>
              </a:pathLst>
            </a:custGeom>
            <a:noFill/>
            <a:ln w="28575" cap="rnd">
              <a:solidFill>
                <a:srgbClr val="48C78E"/>
              </a:solidFill>
            </a:ln>
          </p:spPr>
        </p:sp>
        <p:sp>
          <p:nvSpPr>
            <p:cNvPr id="172" name="Line 172"/>
            <p:cNvSpPr/>
            <p:nvPr/>
          </p:nvSpPr>
          <p:spPr>
            <a:xfrm>
              <a:off x="9729036" y="3095625"/>
              <a:ext cx="9525" cy="247650"/>
            </a:xfrm>
            <a:custGeom>
              <a:avLst/>
              <a:gdLst/>
              <a:ahLst/>
              <a:cxnLst/>
              <a:rect l="l" t="t" r="r" b="b"/>
              <a:pathLst>
                <a:path w="9525" h="247650">
                  <a:moveTo>
                    <a:pt x="0" y="0"/>
                  </a:moveTo>
                  <a:lnTo>
                    <a:pt x="0" y="247650"/>
                  </a:lnTo>
                </a:path>
              </a:pathLst>
            </a:custGeom>
            <a:noFill/>
            <a:ln w="28575" cap="rnd">
              <a:solidFill>
                <a:srgbClr val="48C78E"/>
              </a:solidFill>
            </a:ln>
          </p:spPr>
        </p:sp>
        <p:sp>
          <p:nvSpPr>
            <p:cNvPr id="173" name="Line 173"/>
            <p:cNvSpPr/>
            <p:nvPr/>
          </p:nvSpPr>
          <p:spPr>
            <a:xfrm>
              <a:off x="9787689" y="3108861"/>
              <a:ext cx="9525" cy="221177"/>
            </a:xfrm>
            <a:custGeom>
              <a:avLst/>
              <a:gdLst/>
              <a:ahLst/>
              <a:cxnLst/>
              <a:rect l="l" t="t" r="r" b="b"/>
              <a:pathLst>
                <a:path w="9525" h="221177">
                  <a:moveTo>
                    <a:pt x="0" y="0"/>
                  </a:moveTo>
                  <a:lnTo>
                    <a:pt x="0" y="221177"/>
                  </a:lnTo>
                </a:path>
              </a:pathLst>
            </a:custGeom>
            <a:noFill/>
            <a:ln w="28575" cap="rnd">
              <a:solidFill>
                <a:srgbClr val="48C78E"/>
              </a:solidFill>
            </a:ln>
          </p:spPr>
        </p:sp>
        <p:sp>
          <p:nvSpPr>
            <p:cNvPr id="174" name="Line 174"/>
            <p:cNvSpPr/>
            <p:nvPr/>
          </p:nvSpPr>
          <p:spPr>
            <a:xfrm>
              <a:off x="9846343" y="3122967"/>
              <a:ext cx="9525" cy="192967"/>
            </a:xfrm>
            <a:custGeom>
              <a:avLst/>
              <a:gdLst/>
              <a:ahLst/>
              <a:cxnLst/>
              <a:rect l="l" t="t" r="r" b="b"/>
              <a:pathLst>
                <a:path w="9525" h="192967">
                  <a:moveTo>
                    <a:pt x="0" y="0"/>
                  </a:moveTo>
                  <a:lnTo>
                    <a:pt x="0" y="192967"/>
                  </a:lnTo>
                </a:path>
              </a:pathLst>
            </a:custGeom>
            <a:noFill/>
            <a:ln w="28575" cap="rnd">
              <a:solidFill>
                <a:srgbClr val="48C78E"/>
              </a:solidFill>
            </a:ln>
          </p:spPr>
        </p:sp>
        <p:sp>
          <p:nvSpPr>
            <p:cNvPr id="175" name="Line 175"/>
            <p:cNvSpPr/>
            <p:nvPr/>
          </p:nvSpPr>
          <p:spPr>
            <a:xfrm>
              <a:off x="9904997" y="3154239"/>
              <a:ext cx="9525" cy="130422"/>
            </a:xfrm>
            <a:custGeom>
              <a:avLst/>
              <a:gdLst/>
              <a:ahLst/>
              <a:cxnLst/>
              <a:rect l="l" t="t" r="r" b="b"/>
              <a:pathLst>
                <a:path w="9525" h="130422">
                  <a:moveTo>
                    <a:pt x="0" y="0"/>
                  </a:moveTo>
                  <a:lnTo>
                    <a:pt x="0" y="130422"/>
                  </a:lnTo>
                </a:path>
              </a:pathLst>
            </a:custGeom>
            <a:noFill/>
            <a:ln w="28575" cap="rnd">
              <a:solidFill>
                <a:srgbClr val="48C78E"/>
              </a:solidFill>
            </a:ln>
          </p:spPr>
        </p:sp>
        <p:sp>
          <p:nvSpPr>
            <p:cNvPr id="176" name="Line 176"/>
            <p:cNvSpPr/>
            <p:nvPr/>
          </p:nvSpPr>
          <p:spPr>
            <a:xfrm>
              <a:off x="9963651" y="3176295"/>
              <a:ext cx="9525" cy="86311"/>
            </a:xfrm>
            <a:custGeom>
              <a:avLst/>
              <a:gdLst/>
              <a:ahLst/>
              <a:cxnLst/>
              <a:rect l="l" t="t" r="r" b="b"/>
              <a:pathLst>
                <a:path w="9525" h="86311">
                  <a:moveTo>
                    <a:pt x="0" y="0"/>
                  </a:moveTo>
                  <a:lnTo>
                    <a:pt x="0" y="86311"/>
                  </a:lnTo>
                </a:path>
              </a:pathLst>
            </a:custGeom>
            <a:noFill/>
            <a:ln w="28575" cap="rnd">
              <a:solidFill>
                <a:srgbClr val="48C78E"/>
              </a:solidFill>
            </a:ln>
          </p:spPr>
        </p:sp>
        <p:sp>
          <p:nvSpPr>
            <p:cNvPr id="177" name="Line 177"/>
            <p:cNvSpPr/>
            <p:nvPr/>
          </p:nvSpPr>
          <p:spPr>
            <a:xfrm>
              <a:off x="10022305" y="3122430"/>
              <a:ext cx="9525" cy="194040"/>
            </a:xfrm>
            <a:custGeom>
              <a:avLst/>
              <a:gdLst/>
              <a:ahLst/>
              <a:cxnLst/>
              <a:rect l="l" t="t" r="r" b="b"/>
              <a:pathLst>
                <a:path w="9525" h="194040">
                  <a:moveTo>
                    <a:pt x="0" y="0"/>
                  </a:moveTo>
                  <a:lnTo>
                    <a:pt x="0" y="194040"/>
                  </a:lnTo>
                </a:path>
              </a:pathLst>
            </a:custGeom>
            <a:noFill/>
            <a:ln w="28575" cap="rnd">
              <a:solidFill>
                <a:srgbClr val="48C78E"/>
              </a:solidFill>
            </a:ln>
          </p:spPr>
        </p:sp>
        <p:sp>
          <p:nvSpPr>
            <p:cNvPr id="178" name="Line 178"/>
            <p:cNvSpPr/>
            <p:nvPr/>
          </p:nvSpPr>
          <p:spPr>
            <a:xfrm>
              <a:off x="10080959" y="3106556"/>
              <a:ext cx="9525" cy="225788"/>
            </a:xfrm>
            <a:custGeom>
              <a:avLst/>
              <a:gdLst/>
              <a:ahLst/>
              <a:cxnLst/>
              <a:rect l="l" t="t" r="r" b="b"/>
              <a:pathLst>
                <a:path w="9525" h="225788">
                  <a:moveTo>
                    <a:pt x="0" y="0"/>
                  </a:moveTo>
                  <a:lnTo>
                    <a:pt x="0" y="225788"/>
                  </a:lnTo>
                </a:path>
              </a:pathLst>
            </a:custGeom>
            <a:noFill/>
            <a:ln w="28575" cap="rnd">
              <a:solidFill>
                <a:srgbClr val="48C78E"/>
              </a:solidFill>
            </a:ln>
          </p:spPr>
        </p:sp>
        <p:sp>
          <p:nvSpPr>
            <p:cNvPr id="179" name="Line 179"/>
            <p:cNvSpPr/>
            <p:nvPr/>
          </p:nvSpPr>
          <p:spPr>
            <a:xfrm>
              <a:off x="10139613" y="3111955"/>
              <a:ext cx="9525" cy="214990"/>
            </a:xfrm>
            <a:custGeom>
              <a:avLst/>
              <a:gdLst/>
              <a:ahLst/>
              <a:cxnLst/>
              <a:rect l="l" t="t" r="r" b="b"/>
              <a:pathLst>
                <a:path w="9525" h="214990">
                  <a:moveTo>
                    <a:pt x="0" y="0"/>
                  </a:moveTo>
                  <a:lnTo>
                    <a:pt x="0" y="214990"/>
                  </a:lnTo>
                </a:path>
              </a:pathLst>
            </a:custGeom>
            <a:noFill/>
            <a:ln w="28575" cap="rnd">
              <a:solidFill>
                <a:srgbClr val="48C78E"/>
              </a:solidFill>
            </a:ln>
          </p:spPr>
        </p:sp>
        <p:sp>
          <p:nvSpPr>
            <p:cNvPr id="180" name="Line 180"/>
            <p:cNvSpPr/>
            <p:nvPr/>
          </p:nvSpPr>
          <p:spPr>
            <a:xfrm>
              <a:off x="10198267" y="3101522"/>
              <a:ext cx="9525" cy="235856"/>
            </a:xfrm>
            <a:custGeom>
              <a:avLst/>
              <a:gdLst/>
              <a:ahLst/>
              <a:cxnLst/>
              <a:rect l="l" t="t" r="r" b="b"/>
              <a:pathLst>
                <a:path w="9525" h="235856">
                  <a:moveTo>
                    <a:pt x="0" y="0"/>
                  </a:moveTo>
                  <a:lnTo>
                    <a:pt x="0" y="235856"/>
                  </a:lnTo>
                </a:path>
              </a:pathLst>
            </a:custGeom>
            <a:noFill/>
            <a:ln w="28575" cap="rnd">
              <a:solidFill>
                <a:srgbClr val="48C78E"/>
              </a:solidFill>
            </a:ln>
          </p:spPr>
        </p:sp>
        <p:sp>
          <p:nvSpPr>
            <p:cNvPr id="181" name="Line 181"/>
            <p:cNvSpPr/>
            <p:nvPr/>
          </p:nvSpPr>
          <p:spPr>
            <a:xfrm>
              <a:off x="10256921" y="3142909"/>
              <a:ext cx="9525" cy="153083"/>
            </a:xfrm>
            <a:custGeom>
              <a:avLst/>
              <a:gdLst/>
              <a:ahLst/>
              <a:cxnLst/>
              <a:rect l="l" t="t" r="r" b="b"/>
              <a:pathLst>
                <a:path w="9525" h="153083">
                  <a:moveTo>
                    <a:pt x="0" y="0"/>
                  </a:moveTo>
                  <a:lnTo>
                    <a:pt x="0" y="153083"/>
                  </a:lnTo>
                </a:path>
              </a:pathLst>
            </a:custGeom>
            <a:noFill/>
            <a:ln w="28575" cap="rnd">
              <a:solidFill>
                <a:srgbClr val="48C78E"/>
              </a:solidFill>
            </a:ln>
          </p:spPr>
        </p:sp>
        <p:sp>
          <p:nvSpPr>
            <p:cNvPr id="182" name="Line 182"/>
            <p:cNvSpPr/>
            <p:nvPr/>
          </p:nvSpPr>
          <p:spPr>
            <a:xfrm>
              <a:off x="10315575" y="3176188"/>
              <a:ext cx="9525" cy="86523"/>
            </a:xfrm>
            <a:custGeom>
              <a:avLst/>
              <a:gdLst/>
              <a:ahLst/>
              <a:cxnLst/>
              <a:rect l="l" t="t" r="r" b="b"/>
              <a:pathLst>
                <a:path w="9525" h="86523">
                  <a:moveTo>
                    <a:pt x="0" y="0"/>
                  </a:moveTo>
                  <a:lnTo>
                    <a:pt x="0" y="86523"/>
                  </a:lnTo>
                </a:path>
              </a:pathLst>
            </a:custGeom>
            <a:noFill/>
            <a:ln w="28575" cap="rnd">
              <a:solidFill>
                <a:srgbClr val="48C78E"/>
              </a:solidFill>
            </a:ln>
          </p:spPr>
        </p:sp>
        <p:sp>
          <p:nvSpPr>
            <p:cNvPr id="183" name="TextBox 183"/>
            <p:cNvSpPr txBox="1"/>
            <p:nvPr/>
          </p:nvSpPr>
          <p:spPr>
            <a:xfrm>
              <a:off x="9175432" y="3592116"/>
              <a:ext cx="1724315"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No replay, 10x less</a:t>
              </a:r>
            </a:p>
          </p:txBody>
        </p:sp>
        <p:sp>
          <p:nvSpPr>
            <p:cNvPr id="184" name="TextBox 184"/>
            <p:cNvSpPr txBox="1"/>
            <p:nvPr/>
          </p:nvSpPr>
          <p:spPr>
            <a:xfrm>
              <a:off x="9177147" y="4142899"/>
              <a:ext cx="172918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Without replaying any past</a:t>
              </a:r>
            </a:p>
          </p:txBody>
        </p:sp>
        <p:sp>
          <p:nvSpPr>
            <p:cNvPr id="185" name="TextBox 185"/>
            <p:cNvSpPr txBox="1"/>
            <p:nvPr/>
          </p:nvSpPr>
          <p:spPr>
            <a:xfrm>
              <a:off x="9177147" y="4323874"/>
              <a:ext cx="2305446"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samples, forgetting drops to about</a:t>
              </a:r>
            </a:p>
          </p:txBody>
        </p:sp>
        <p:sp>
          <p:nvSpPr>
            <p:cNvPr id="186" name="TextBox 186"/>
            <p:cNvSpPr txBox="1"/>
            <p:nvPr/>
          </p:nvSpPr>
          <p:spPr>
            <a:xfrm>
              <a:off x="9177147" y="4504849"/>
              <a:ext cx="2213097"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one tenth, and it even generalizes</a:t>
              </a:r>
            </a:p>
          </p:txBody>
        </p:sp>
        <p:sp>
          <p:nvSpPr>
            <p:cNvPr id="187" name="TextBox 187"/>
            <p:cNvSpPr txBox="1"/>
            <p:nvPr/>
          </p:nvSpPr>
          <p:spPr>
            <a:xfrm>
              <a:off x="9177147" y="4685824"/>
              <a:ext cx="88722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beyond audio.</a:t>
              </a:r>
            </a:p>
          </p:txBody>
        </p:sp>
      </p:grpSp>
      <p:sp>
        <p:nvSpPr>
          <p:cNvPr id="189" name="Line 189"/>
          <p:cNvSpPr/>
          <p:nvPr/>
        </p:nvSpPr>
        <p:spPr>
          <a:xfrm>
            <a:off x="609600" y="535305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190" name="TextBox 190"/>
          <p:cNvSpPr txBox="1"/>
          <p:nvPr/>
        </p:nvSpPr>
        <p:spPr>
          <a:xfrm>
            <a:off x="604266" y="5582602"/>
            <a:ext cx="1294012" cy="205359"/>
          </a:xfrm>
          <a:prstGeom prst="rect">
            <a:avLst/>
          </a:prstGeom>
          <a:noFill/>
          <a:ln>
            <a:noFill/>
          </a:ln>
        </p:spPr>
        <p:txBody>
          <a:bodyPr wrap="none" lIns="0" tIns="0" rIns="0" bIns="0" anchor="t" anchorCtr="0">
            <a:spAutoFit/>
          </a:bodyPr>
          <a:lstStyle/>
          <a:p>
            <a:pPr algn="l"/>
            <a:r>
              <a:rPr lang="en-US" sz="1050" b="1" dirty="0">
                <a:solidFill>
                  <a:schemeClr val="accent2"/>
                </a:solidFill>
                <a:latin typeface="+mn-lt"/>
                <a:ea typeface="+mn-ea"/>
                <a:cs typeface="+mn-cs"/>
              </a:rPr>
              <a:t>arXiv:2308.03300</a:t>
            </a:r>
          </a:p>
        </p:txBody>
      </p:sp>
      <p:sp>
        <p:nvSpPr>
          <p:cNvPr id="191" name="TextBox 191"/>
          <p:cNvSpPr txBox="1"/>
          <p:nvPr/>
        </p:nvSpPr>
        <p:spPr>
          <a:xfrm>
            <a:off x="2852356" y="5586651"/>
            <a:ext cx="4516587"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github.com/Cecile-hi/Regularized-Adaptive-Weight-Modification</a:t>
            </a:r>
          </a:p>
        </p:txBody>
      </p:sp>
      <p:sp>
        <p:nvSpPr>
          <p:cNvPr id="192" name="TextBox 192"/>
          <p:cNvSpPr txBox="1"/>
          <p:nvPr/>
        </p:nvSpPr>
        <p:spPr>
          <a:xfrm>
            <a:off x="7883773" y="5582602"/>
            <a:ext cx="3703961"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Learn the new dataset without forgetting the old.</a:t>
            </a:r>
          </a:p>
        </p:txBody>
      </p:sp>
      <p:sp>
        <p:nvSpPr>
          <p:cNvPr id="193" name="cue_s01_c1_fake_audio_detectors_work_well" title="cue_s01_c1_fake_audio_detectors_work_well" descr="cue_s01_c1_fake_audio_detectors_work_well Fake audio detectors work well on the data they were trained on, but their accuracy collapses when they meet audio from a new dataset."/>
          <p:cNvSpPr/>
          <p:nvPr/>
        </p:nvSpPr>
        <p:spPr>
          <a:xfrm>
            <a:off x="609600"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cue_s01_c2_fine_tuning_new_makes_them_forget" title="cue_s01_c2_fine_tuning_new_makes_them_forget" descr="cue_s01_c2_fine_tuning_new_makes_them_forget Fine-tuning on the new data then makes them forget the old, a problem called catastrophic forgetting."/>
          <p:cNvSpPr/>
          <p:nvPr/>
        </p:nvSpPr>
        <p:spPr>
          <a:xfrm>
            <a:off x="3390595"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cue_s01_c3_icml_2023_introduces_regularized_ada" title="cue_s01_c3_icml_2023_introduces_regularized_ada" descr="cue_s01_c3_icml_2023_introduces_regularized_ada This ICML 2023 paper introduces Regularized Adaptive Weight Modification, or RAWM, a continual learning method that adapts how it modifies network weights based on the ratio of genuine to fake utterances, and adds a regularization term so the model remembers t"/>
          <p:cNvSpPr/>
          <p:nvPr/>
        </p:nvSpPr>
        <p:spPr>
          <a:xfrm>
            <a:off x="6171590"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cue_s01_c4_without_replaying_any_past_samples" title="cue_s01_c4_without_replaying_any_past_samples" descr="cue_s01_c4_without_replaying_any_past_samples Without replaying any past samples, RAWM cuts forgetting to roughly one tenth of naive fine-tuning and even generalizes beyond audio to speech emotion recognition and image recognition."/>
          <p:cNvSpPr/>
          <p:nvPr/>
        </p:nvSpPr>
        <p:spPr>
          <a:xfrm>
            <a:off x="8953804" y="2819323"/>
            <a:ext cx="2628595" cy="2248052"/>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882792"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PROBLEM</a:t>
            </a:r>
          </a:p>
        </p:txBody>
      </p:sp>
      <p:sp>
        <p:nvSpPr>
          <p:cNvPr id="4" name="TextBox 4"/>
          <p:cNvSpPr txBox="1"/>
          <p:nvPr/>
        </p:nvSpPr>
        <p:spPr>
          <a:xfrm>
            <a:off x="598170" y="804862"/>
            <a:ext cx="7253407"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Detectors don't cross datasets, fixes forget</a:t>
            </a:r>
          </a:p>
        </p:txBody>
      </p:sp>
      <p:grpSp>
        <p:nvGrpSpPr>
          <p:cNvPr id="49" name="Group 49"/>
          <p:cNvGrpSpPr/>
          <p:nvPr/>
        </p:nvGrpSpPr>
        <p:grpSpPr>
          <a:xfrm>
            <a:off x="609600" y="1504950"/>
            <a:ext cx="3848100" cy="3733800"/>
            <a:chOff x="609600" y="1504950"/>
            <a:chExt cx="3848100" cy="3733800"/>
          </a:xfrm>
        </p:grpSpPr>
        <p:sp>
          <p:nvSpPr>
            <p:cNvPr id="5" name="Rectangle 5"/>
            <p:cNvSpPr/>
            <p:nvPr/>
          </p:nvSpPr>
          <p:spPr>
            <a:xfrm>
              <a:off x="609600" y="1504950"/>
              <a:ext cx="3848100" cy="3733800"/>
            </a:xfrm>
            <a:prstGeom prst="roundRect">
              <a:avLst>
                <a:gd name="adj" fmla="val 3571"/>
              </a:avLst>
            </a:prstGeom>
            <a:solidFill>
              <a:schemeClr val="accent5"/>
            </a:solidFill>
            <a:ln w="14288">
              <a:solidFill>
                <a:srgbClr val="26455F"/>
              </a:solidFill>
            </a:ln>
          </p:spPr>
        </p:sp>
        <p:sp>
          <p:nvSpPr>
            <p:cNvPr id="6" name="Rectangle 6"/>
            <p:cNvSpPr/>
            <p:nvPr/>
          </p:nvSpPr>
          <p:spPr>
            <a:xfrm>
              <a:off x="609600" y="1504950"/>
              <a:ext cx="57150" cy="3733800"/>
            </a:xfrm>
            <a:prstGeom prst="roundRect">
              <a:avLst>
                <a:gd name="adj" fmla="val 50000"/>
              </a:avLst>
            </a:prstGeom>
            <a:solidFill>
              <a:schemeClr val="accent2"/>
            </a:solidFill>
            <a:ln>
              <a:noFill/>
            </a:ln>
          </p:spPr>
        </p:sp>
        <p:sp>
          <p:nvSpPr>
            <p:cNvPr id="7" name="TextBox 7"/>
            <p:cNvSpPr txBox="1"/>
            <p:nvPr/>
          </p:nvSpPr>
          <p:spPr>
            <a:xfrm>
              <a:off x="869442" y="1778318"/>
              <a:ext cx="2806315" cy="264033"/>
            </a:xfrm>
            <a:prstGeom prst="rect">
              <a:avLst/>
            </a:prstGeom>
            <a:noFill/>
            <a:ln>
              <a:noFill/>
            </a:ln>
          </p:spPr>
          <p:txBody>
            <a:bodyPr wrap="none" lIns="0" tIns="0" rIns="0" bIns="0" anchor="t" anchorCtr="0">
              <a:spAutoFit/>
            </a:bodyPr>
            <a:lstStyle/>
            <a:p>
              <a:pPr algn="l"/>
              <a:r>
                <a:rPr lang="en-US" sz="1350" b="1" dirty="0">
                  <a:solidFill>
                    <a:schemeClr val="dk1"/>
                  </a:solidFill>
                  <a:latin typeface="+mn-lt"/>
                  <a:ea typeface="+mn-ea"/>
                  <a:cs typeface="+mn-cs"/>
                </a:rPr>
                <a:t>Fake speech is now human-like</a:t>
              </a:r>
            </a:p>
          </p:txBody>
        </p:sp>
        <p:sp>
          <p:nvSpPr>
            <p:cNvPr id="8" name="TextBox 8"/>
            <p:cNvSpPr txBox="1"/>
            <p:nvPr/>
          </p:nvSpPr>
          <p:spPr>
            <a:xfrm>
              <a:off x="870776" y="2168604"/>
              <a:ext cx="274501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Speech synthesis and voice conversion</a:t>
              </a:r>
            </a:p>
          </p:txBody>
        </p:sp>
        <p:sp>
          <p:nvSpPr>
            <p:cNvPr id="9" name="TextBox 9"/>
            <p:cNvSpPr txBox="1"/>
            <p:nvPr/>
          </p:nvSpPr>
          <p:spPr>
            <a:xfrm>
              <a:off x="870776" y="2387679"/>
              <a:ext cx="277701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produce human-like speech, so reliable</a:t>
              </a:r>
            </a:p>
          </p:txBody>
        </p:sp>
        <p:sp>
          <p:nvSpPr>
            <p:cNvPr id="10" name="TextBox 10"/>
            <p:cNvSpPr txBox="1"/>
            <p:nvPr/>
          </p:nvSpPr>
          <p:spPr>
            <a:xfrm>
              <a:off x="870776" y="2606754"/>
              <a:ext cx="2982449"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fake audio detection has become critical.</a:t>
              </a:r>
            </a:p>
          </p:txBody>
        </p:sp>
        <p:sp>
          <p:nvSpPr>
            <p:cNvPr id="11" name="Rectangle 11"/>
            <p:cNvSpPr/>
            <p:nvPr/>
          </p:nvSpPr>
          <p:spPr>
            <a:xfrm>
              <a:off x="876300" y="3352800"/>
              <a:ext cx="3276600" cy="1390650"/>
            </a:xfrm>
            <a:prstGeom prst="roundRect">
              <a:avLst>
                <a:gd name="adj" fmla="val 6849"/>
              </a:avLst>
            </a:prstGeom>
            <a:solidFill>
              <a:schemeClr val="accent6"/>
            </a:solidFill>
            <a:ln w="14288">
              <a:solidFill>
                <a:srgbClr val="26455F"/>
              </a:solidFill>
            </a:ln>
          </p:spPr>
        </p:sp>
        <p:sp>
          <p:nvSpPr>
            <p:cNvPr id="12" name="TextBox 12"/>
            <p:cNvSpPr txBox="1"/>
            <p:nvPr/>
          </p:nvSpPr>
          <p:spPr>
            <a:xfrm>
              <a:off x="1062038" y="3537347"/>
              <a:ext cx="1942783"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real vs synthesized waveform</a:t>
              </a:r>
            </a:p>
          </p:txBody>
        </p:sp>
        <p:sp>
          <p:nvSpPr>
            <p:cNvPr id="13" name="Line 13"/>
            <p:cNvSpPr/>
            <p:nvPr/>
          </p:nvSpPr>
          <p:spPr>
            <a:xfrm>
              <a:off x="1066800" y="4034736"/>
              <a:ext cx="9525" cy="83927"/>
            </a:xfrm>
            <a:custGeom>
              <a:avLst/>
              <a:gdLst/>
              <a:ahLst/>
              <a:cxnLst/>
              <a:rect l="l" t="t" r="r" b="b"/>
              <a:pathLst>
                <a:path w="9525" h="83927">
                  <a:moveTo>
                    <a:pt x="0" y="0"/>
                  </a:moveTo>
                  <a:lnTo>
                    <a:pt x="0" y="83927"/>
                  </a:lnTo>
                </a:path>
              </a:pathLst>
            </a:custGeom>
            <a:noFill/>
            <a:ln w="28575" cap="rnd">
              <a:solidFill>
                <a:srgbClr val="34D3C0"/>
              </a:solidFill>
            </a:ln>
          </p:spPr>
        </p:sp>
        <p:sp>
          <p:nvSpPr>
            <p:cNvPr id="14" name="Line 14"/>
            <p:cNvSpPr/>
            <p:nvPr/>
          </p:nvSpPr>
          <p:spPr>
            <a:xfrm>
              <a:off x="1244413" y="3993320"/>
              <a:ext cx="9525" cy="166760"/>
            </a:xfrm>
            <a:custGeom>
              <a:avLst/>
              <a:gdLst/>
              <a:ahLst/>
              <a:cxnLst/>
              <a:rect l="l" t="t" r="r" b="b"/>
              <a:pathLst>
                <a:path w="9525" h="166760">
                  <a:moveTo>
                    <a:pt x="0" y="0"/>
                  </a:moveTo>
                  <a:lnTo>
                    <a:pt x="0" y="166760"/>
                  </a:lnTo>
                </a:path>
              </a:pathLst>
            </a:custGeom>
            <a:noFill/>
            <a:ln w="28575" cap="rnd">
              <a:solidFill>
                <a:srgbClr val="34D3C0"/>
              </a:solidFill>
            </a:ln>
          </p:spPr>
        </p:sp>
        <p:sp>
          <p:nvSpPr>
            <p:cNvPr id="15" name="Line 15"/>
            <p:cNvSpPr/>
            <p:nvPr/>
          </p:nvSpPr>
          <p:spPr>
            <a:xfrm>
              <a:off x="1422026" y="3956648"/>
              <a:ext cx="9525" cy="240103"/>
            </a:xfrm>
            <a:custGeom>
              <a:avLst/>
              <a:gdLst/>
              <a:ahLst/>
              <a:cxnLst/>
              <a:rect l="l" t="t" r="r" b="b"/>
              <a:pathLst>
                <a:path w="9525" h="240103">
                  <a:moveTo>
                    <a:pt x="0" y="0"/>
                  </a:moveTo>
                  <a:lnTo>
                    <a:pt x="0" y="240103"/>
                  </a:lnTo>
                </a:path>
              </a:pathLst>
            </a:custGeom>
            <a:noFill/>
            <a:ln w="28575" cap="rnd">
              <a:solidFill>
                <a:srgbClr val="34D3C0"/>
              </a:solidFill>
            </a:ln>
          </p:spPr>
        </p:sp>
        <p:sp>
          <p:nvSpPr>
            <p:cNvPr id="16" name="Line 16"/>
            <p:cNvSpPr/>
            <p:nvPr/>
          </p:nvSpPr>
          <p:spPr>
            <a:xfrm>
              <a:off x="1599640" y="3943350"/>
              <a:ext cx="9525" cy="266700"/>
            </a:xfrm>
            <a:custGeom>
              <a:avLst/>
              <a:gdLst/>
              <a:ahLst/>
              <a:cxnLst/>
              <a:rect l="l" t="t" r="r" b="b"/>
              <a:pathLst>
                <a:path w="9525" h="266700">
                  <a:moveTo>
                    <a:pt x="0" y="0"/>
                  </a:moveTo>
                  <a:lnTo>
                    <a:pt x="0" y="266700"/>
                  </a:lnTo>
                </a:path>
              </a:pathLst>
            </a:custGeom>
            <a:noFill/>
            <a:ln w="28575" cap="rnd">
              <a:solidFill>
                <a:srgbClr val="34D3C0"/>
              </a:solidFill>
            </a:ln>
          </p:spPr>
        </p:sp>
        <p:sp>
          <p:nvSpPr>
            <p:cNvPr id="17" name="Line 17"/>
            <p:cNvSpPr/>
            <p:nvPr/>
          </p:nvSpPr>
          <p:spPr>
            <a:xfrm>
              <a:off x="1777253" y="3967076"/>
              <a:ext cx="9525" cy="219247"/>
            </a:xfrm>
            <a:custGeom>
              <a:avLst/>
              <a:gdLst/>
              <a:ahLst/>
              <a:cxnLst/>
              <a:rect l="l" t="t" r="r" b="b"/>
              <a:pathLst>
                <a:path w="9525" h="219247">
                  <a:moveTo>
                    <a:pt x="0" y="0"/>
                  </a:moveTo>
                  <a:lnTo>
                    <a:pt x="0" y="219247"/>
                  </a:lnTo>
                </a:path>
              </a:pathLst>
            </a:custGeom>
            <a:noFill/>
            <a:ln w="28575" cap="rnd">
              <a:solidFill>
                <a:srgbClr val="34D3C0"/>
              </a:solidFill>
            </a:ln>
          </p:spPr>
        </p:sp>
        <p:sp>
          <p:nvSpPr>
            <p:cNvPr id="18" name="Line 18"/>
            <p:cNvSpPr/>
            <p:nvPr/>
          </p:nvSpPr>
          <p:spPr>
            <a:xfrm>
              <a:off x="1954866" y="4007715"/>
              <a:ext cx="9525" cy="137970"/>
            </a:xfrm>
            <a:custGeom>
              <a:avLst/>
              <a:gdLst/>
              <a:ahLst/>
              <a:cxnLst/>
              <a:rect l="l" t="t" r="r" b="b"/>
              <a:pathLst>
                <a:path w="9525" h="137970">
                  <a:moveTo>
                    <a:pt x="0" y="0"/>
                  </a:moveTo>
                  <a:lnTo>
                    <a:pt x="0" y="137970"/>
                  </a:lnTo>
                </a:path>
              </a:pathLst>
            </a:custGeom>
            <a:noFill/>
            <a:ln w="28575" cap="rnd">
              <a:solidFill>
                <a:srgbClr val="34D3C0"/>
              </a:solidFill>
            </a:ln>
          </p:spPr>
        </p:sp>
        <p:sp>
          <p:nvSpPr>
            <p:cNvPr id="19" name="Line 19"/>
            <p:cNvSpPr/>
            <p:nvPr/>
          </p:nvSpPr>
          <p:spPr>
            <a:xfrm>
              <a:off x="2132479" y="4026963"/>
              <a:ext cx="9525" cy="99475"/>
            </a:xfrm>
            <a:custGeom>
              <a:avLst/>
              <a:gdLst/>
              <a:ahLst/>
              <a:cxnLst/>
              <a:rect l="l" t="t" r="r" b="b"/>
              <a:pathLst>
                <a:path w="9525" h="99475">
                  <a:moveTo>
                    <a:pt x="0" y="0"/>
                  </a:moveTo>
                  <a:lnTo>
                    <a:pt x="0" y="99475"/>
                  </a:lnTo>
                </a:path>
              </a:pathLst>
            </a:custGeom>
            <a:noFill/>
            <a:ln w="28575" cap="rnd">
              <a:solidFill>
                <a:srgbClr val="34D3C0"/>
              </a:solidFill>
            </a:ln>
          </p:spPr>
        </p:sp>
        <p:sp>
          <p:nvSpPr>
            <p:cNvPr id="20" name="Line 20"/>
            <p:cNvSpPr/>
            <p:nvPr/>
          </p:nvSpPr>
          <p:spPr>
            <a:xfrm>
              <a:off x="2310093" y="3973957"/>
              <a:ext cx="9525" cy="205487"/>
            </a:xfrm>
            <a:custGeom>
              <a:avLst/>
              <a:gdLst/>
              <a:ahLst/>
              <a:cxnLst/>
              <a:rect l="l" t="t" r="r" b="b"/>
              <a:pathLst>
                <a:path w="9525" h="205487">
                  <a:moveTo>
                    <a:pt x="0" y="0"/>
                  </a:moveTo>
                  <a:lnTo>
                    <a:pt x="0" y="205487"/>
                  </a:lnTo>
                </a:path>
              </a:pathLst>
            </a:custGeom>
            <a:noFill/>
            <a:ln w="28575" cap="rnd">
              <a:solidFill>
                <a:srgbClr val="34D3C0"/>
              </a:solidFill>
            </a:ln>
          </p:spPr>
        </p:sp>
        <p:sp>
          <p:nvSpPr>
            <p:cNvPr id="21" name="Line 21"/>
            <p:cNvSpPr/>
            <p:nvPr/>
          </p:nvSpPr>
          <p:spPr>
            <a:xfrm>
              <a:off x="2487706" y="3945770"/>
              <a:ext cx="9525" cy="261861"/>
            </a:xfrm>
            <a:custGeom>
              <a:avLst/>
              <a:gdLst/>
              <a:ahLst/>
              <a:cxnLst/>
              <a:rect l="l" t="t" r="r" b="b"/>
              <a:pathLst>
                <a:path w="9525" h="261861">
                  <a:moveTo>
                    <a:pt x="0" y="0"/>
                  </a:moveTo>
                  <a:lnTo>
                    <a:pt x="0" y="261861"/>
                  </a:lnTo>
                </a:path>
              </a:pathLst>
            </a:custGeom>
            <a:noFill/>
            <a:ln w="28575" cap="rnd">
              <a:solidFill>
                <a:srgbClr val="34D3C0"/>
              </a:solidFill>
            </a:ln>
          </p:spPr>
        </p:sp>
        <p:sp>
          <p:nvSpPr>
            <p:cNvPr id="22" name="Line 22"/>
            <p:cNvSpPr/>
            <p:nvPr/>
          </p:nvSpPr>
          <p:spPr>
            <a:xfrm>
              <a:off x="2665319" y="3953635"/>
              <a:ext cx="9525" cy="246130"/>
            </a:xfrm>
            <a:custGeom>
              <a:avLst/>
              <a:gdLst/>
              <a:ahLst/>
              <a:cxnLst/>
              <a:rect l="l" t="t" r="r" b="b"/>
              <a:pathLst>
                <a:path w="9525" h="246130">
                  <a:moveTo>
                    <a:pt x="0" y="0"/>
                  </a:moveTo>
                  <a:lnTo>
                    <a:pt x="0" y="246130"/>
                  </a:lnTo>
                </a:path>
              </a:pathLst>
            </a:custGeom>
            <a:noFill/>
            <a:ln w="28575" cap="rnd">
              <a:solidFill>
                <a:srgbClr val="34D3C0"/>
              </a:solidFill>
            </a:ln>
          </p:spPr>
        </p:sp>
        <p:sp>
          <p:nvSpPr>
            <p:cNvPr id="23" name="Line 23"/>
            <p:cNvSpPr/>
            <p:nvPr/>
          </p:nvSpPr>
          <p:spPr>
            <a:xfrm>
              <a:off x="2842932" y="3974810"/>
              <a:ext cx="9525" cy="203780"/>
            </a:xfrm>
            <a:custGeom>
              <a:avLst/>
              <a:gdLst/>
              <a:ahLst/>
              <a:cxnLst/>
              <a:rect l="l" t="t" r="r" b="b"/>
              <a:pathLst>
                <a:path w="9525" h="203780">
                  <a:moveTo>
                    <a:pt x="0" y="0"/>
                  </a:moveTo>
                  <a:lnTo>
                    <a:pt x="0" y="203780"/>
                  </a:lnTo>
                </a:path>
              </a:pathLst>
            </a:custGeom>
            <a:noFill/>
            <a:ln w="28575" cap="rnd">
              <a:solidFill>
                <a:srgbClr val="34D3C0"/>
              </a:solidFill>
            </a:ln>
          </p:spPr>
        </p:sp>
        <p:sp>
          <p:nvSpPr>
            <p:cNvPr id="24" name="Line 24"/>
            <p:cNvSpPr/>
            <p:nvPr/>
          </p:nvSpPr>
          <p:spPr>
            <a:xfrm>
              <a:off x="3020546" y="4018336"/>
              <a:ext cx="9525" cy="116728"/>
            </a:xfrm>
            <a:custGeom>
              <a:avLst/>
              <a:gdLst/>
              <a:ahLst/>
              <a:cxnLst/>
              <a:rect l="l" t="t" r="r" b="b"/>
              <a:pathLst>
                <a:path w="9525" h="116728">
                  <a:moveTo>
                    <a:pt x="0" y="0"/>
                  </a:moveTo>
                  <a:lnTo>
                    <a:pt x="0" y="116728"/>
                  </a:lnTo>
                </a:path>
              </a:pathLst>
            </a:custGeom>
            <a:noFill/>
            <a:ln w="28575" cap="rnd">
              <a:solidFill>
                <a:srgbClr val="34D3C0"/>
              </a:solidFill>
            </a:ln>
          </p:spPr>
        </p:sp>
        <p:sp>
          <p:nvSpPr>
            <p:cNvPr id="25" name="Line 25"/>
            <p:cNvSpPr/>
            <p:nvPr/>
          </p:nvSpPr>
          <p:spPr>
            <a:xfrm>
              <a:off x="3198159" y="4000878"/>
              <a:ext cx="9525" cy="151643"/>
            </a:xfrm>
            <a:custGeom>
              <a:avLst/>
              <a:gdLst/>
              <a:ahLst/>
              <a:cxnLst/>
              <a:rect l="l" t="t" r="r" b="b"/>
              <a:pathLst>
                <a:path w="9525" h="151643">
                  <a:moveTo>
                    <a:pt x="0" y="0"/>
                  </a:moveTo>
                  <a:lnTo>
                    <a:pt x="0" y="151643"/>
                  </a:lnTo>
                </a:path>
              </a:pathLst>
            </a:custGeom>
            <a:noFill/>
            <a:ln w="28575" cap="rnd">
              <a:solidFill>
                <a:srgbClr val="34D3C0"/>
              </a:solidFill>
            </a:ln>
          </p:spPr>
        </p:sp>
        <p:sp>
          <p:nvSpPr>
            <p:cNvPr id="26" name="Line 26"/>
            <p:cNvSpPr/>
            <p:nvPr/>
          </p:nvSpPr>
          <p:spPr>
            <a:xfrm>
              <a:off x="3375772" y="3964545"/>
              <a:ext cx="9525" cy="224311"/>
            </a:xfrm>
            <a:custGeom>
              <a:avLst/>
              <a:gdLst/>
              <a:ahLst/>
              <a:cxnLst/>
              <a:rect l="l" t="t" r="r" b="b"/>
              <a:pathLst>
                <a:path w="9525" h="224311">
                  <a:moveTo>
                    <a:pt x="0" y="0"/>
                  </a:moveTo>
                  <a:lnTo>
                    <a:pt x="0" y="224311"/>
                  </a:lnTo>
                </a:path>
              </a:pathLst>
            </a:custGeom>
            <a:noFill/>
            <a:ln w="28575" cap="rnd">
              <a:solidFill>
                <a:srgbClr val="34D3C0"/>
              </a:solidFill>
            </a:ln>
          </p:spPr>
        </p:sp>
        <p:sp>
          <p:nvSpPr>
            <p:cNvPr id="27" name="Line 27"/>
            <p:cNvSpPr/>
            <p:nvPr/>
          </p:nvSpPr>
          <p:spPr>
            <a:xfrm>
              <a:off x="3553385" y="3949925"/>
              <a:ext cx="9525" cy="253550"/>
            </a:xfrm>
            <a:custGeom>
              <a:avLst/>
              <a:gdLst/>
              <a:ahLst/>
              <a:cxnLst/>
              <a:rect l="l" t="t" r="r" b="b"/>
              <a:pathLst>
                <a:path w="9525" h="253550">
                  <a:moveTo>
                    <a:pt x="0" y="0"/>
                  </a:moveTo>
                  <a:lnTo>
                    <a:pt x="0" y="253550"/>
                  </a:lnTo>
                </a:path>
              </a:pathLst>
            </a:custGeom>
            <a:noFill/>
            <a:ln w="28575" cap="rnd">
              <a:solidFill>
                <a:srgbClr val="34D3C0"/>
              </a:solidFill>
            </a:ln>
          </p:spPr>
        </p:sp>
        <p:sp>
          <p:nvSpPr>
            <p:cNvPr id="28" name="Line 28"/>
            <p:cNvSpPr/>
            <p:nvPr/>
          </p:nvSpPr>
          <p:spPr>
            <a:xfrm>
              <a:off x="3730999" y="3951073"/>
              <a:ext cx="9525" cy="251254"/>
            </a:xfrm>
            <a:custGeom>
              <a:avLst/>
              <a:gdLst/>
              <a:ahLst/>
              <a:cxnLst/>
              <a:rect l="l" t="t" r="r" b="b"/>
              <a:pathLst>
                <a:path w="9525" h="251254">
                  <a:moveTo>
                    <a:pt x="0" y="0"/>
                  </a:moveTo>
                  <a:lnTo>
                    <a:pt x="0" y="251254"/>
                  </a:lnTo>
                </a:path>
              </a:pathLst>
            </a:custGeom>
            <a:noFill/>
            <a:ln w="28575" cap="rnd">
              <a:solidFill>
                <a:srgbClr val="34D3C0"/>
              </a:solidFill>
            </a:ln>
          </p:spPr>
        </p:sp>
        <p:sp>
          <p:nvSpPr>
            <p:cNvPr id="29" name="Line 29"/>
            <p:cNvSpPr/>
            <p:nvPr/>
          </p:nvSpPr>
          <p:spPr>
            <a:xfrm>
              <a:off x="3908612" y="3989196"/>
              <a:ext cx="9525" cy="175008"/>
            </a:xfrm>
            <a:custGeom>
              <a:avLst/>
              <a:gdLst/>
              <a:ahLst/>
              <a:cxnLst/>
              <a:rect l="l" t="t" r="r" b="b"/>
              <a:pathLst>
                <a:path w="9525" h="175008">
                  <a:moveTo>
                    <a:pt x="0" y="0"/>
                  </a:moveTo>
                  <a:lnTo>
                    <a:pt x="0" y="175008"/>
                  </a:lnTo>
                </a:path>
              </a:pathLst>
            </a:custGeom>
            <a:noFill/>
            <a:ln w="28575" cap="rnd">
              <a:solidFill>
                <a:srgbClr val="34D3C0"/>
              </a:solidFill>
            </a:ln>
          </p:spPr>
        </p:sp>
        <p:sp>
          <p:nvSpPr>
            <p:cNvPr id="30" name="Line 30"/>
            <p:cNvSpPr/>
            <p:nvPr/>
          </p:nvSpPr>
          <p:spPr>
            <a:xfrm>
              <a:off x="4086225" y="4034736"/>
              <a:ext cx="9525" cy="83927"/>
            </a:xfrm>
            <a:custGeom>
              <a:avLst/>
              <a:gdLst/>
              <a:ahLst/>
              <a:cxnLst/>
              <a:rect l="l" t="t" r="r" b="b"/>
              <a:pathLst>
                <a:path w="9525" h="83927">
                  <a:moveTo>
                    <a:pt x="0" y="0"/>
                  </a:moveTo>
                  <a:lnTo>
                    <a:pt x="0" y="83927"/>
                  </a:lnTo>
                </a:path>
              </a:pathLst>
            </a:custGeom>
            <a:noFill/>
            <a:ln w="28575" cap="rnd">
              <a:solidFill>
                <a:srgbClr val="34D3C0"/>
              </a:solidFill>
            </a:ln>
          </p:spPr>
        </p:sp>
        <p:sp>
          <p:nvSpPr>
            <p:cNvPr id="31" name="Line 31"/>
            <p:cNvSpPr/>
            <p:nvPr/>
          </p:nvSpPr>
          <p:spPr>
            <a:xfrm>
              <a:off x="1066800" y="4360776"/>
              <a:ext cx="9525" cy="231948"/>
            </a:xfrm>
            <a:custGeom>
              <a:avLst/>
              <a:gdLst/>
              <a:ahLst/>
              <a:cxnLst/>
              <a:rect l="l" t="t" r="r" b="b"/>
              <a:pathLst>
                <a:path w="9525" h="231948">
                  <a:moveTo>
                    <a:pt x="0" y="0"/>
                  </a:moveTo>
                  <a:lnTo>
                    <a:pt x="0" y="231948"/>
                  </a:lnTo>
                </a:path>
              </a:pathLst>
            </a:custGeom>
            <a:noFill/>
            <a:ln w="28575" cap="rnd">
              <a:solidFill>
                <a:srgbClr val="F2685C"/>
              </a:solidFill>
            </a:ln>
          </p:spPr>
        </p:sp>
        <p:sp>
          <p:nvSpPr>
            <p:cNvPr id="32" name="Line 32"/>
            <p:cNvSpPr/>
            <p:nvPr/>
          </p:nvSpPr>
          <p:spPr>
            <a:xfrm>
              <a:off x="1244413" y="4413429"/>
              <a:ext cx="9525" cy="126642"/>
            </a:xfrm>
            <a:custGeom>
              <a:avLst/>
              <a:gdLst/>
              <a:ahLst/>
              <a:cxnLst/>
              <a:rect l="l" t="t" r="r" b="b"/>
              <a:pathLst>
                <a:path w="9525" h="126642">
                  <a:moveTo>
                    <a:pt x="0" y="0"/>
                  </a:moveTo>
                  <a:lnTo>
                    <a:pt x="0" y="126642"/>
                  </a:lnTo>
                </a:path>
              </a:pathLst>
            </a:custGeom>
            <a:noFill/>
            <a:ln w="28575" cap="rnd">
              <a:solidFill>
                <a:srgbClr val="F2685C"/>
              </a:solidFill>
            </a:ln>
          </p:spPr>
        </p:sp>
        <p:sp>
          <p:nvSpPr>
            <p:cNvPr id="33" name="Line 33"/>
            <p:cNvSpPr/>
            <p:nvPr/>
          </p:nvSpPr>
          <p:spPr>
            <a:xfrm>
              <a:off x="1422026" y="4408422"/>
              <a:ext cx="9525" cy="136657"/>
            </a:xfrm>
            <a:custGeom>
              <a:avLst/>
              <a:gdLst/>
              <a:ahLst/>
              <a:cxnLst/>
              <a:rect l="l" t="t" r="r" b="b"/>
              <a:pathLst>
                <a:path w="9525" h="136657">
                  <a:moveTo>
                    <a:pt x="0" y="0"/>
                  </a:moveTo>
                  <a:lnTo>
                    <a:pt x="0" y="136657"/>
                  </a:lnTo>
                </a:path>
              </a:pathLst>
            </a:custGeom>
            <a:noFill/>
            <a:ln w="28575" cap="rnd">
              <a:solidFill>
                <a:srgbClr val="F2685C"/>
              </a:solidFill>
            </a:ln>
          </p:spPr>
        </p:sp>
        <p:sp>
          <p:nvSpPr>
            <p:cNvPr id="34" name="Line 34"/>
            <p:cNvSpPr/>
            <p:nvPr/>
          </p:nvSpPr>
          <p:spPr>
            <a:xfrm>
              <a:off x="1599640" y="4343400"/>
              <a:ext cx="9525" cy="266700"/>
            </a:xfrm>
            <a:custGeom>
              <a:avLst/>
              <a:gdLst/>
              <a:ahLst/>
              <a:cxnLst/>
              <a:rect l="l" t="t" r="r" b="b"/>
              <a:pathLst>
                <a:path w="9525" h="266700">
                  <a:moveTo>
                    <a:pt x="0" y="0"/>
                  </a:moveTo>
                  <a:lnTo>
                    <a:pt x="0" y="266700"/>
                  </a:lnTo>
                </a:path>
              </a:pathLst>
            </a:custGeom>
            <a:noFill/>
            <a:ln w="28575" cap="rnd">
              <a:solidFill>
                <a:srgbClr val="F2685C"/>
              </a:solidFill>
            </a:ln>
          </p:spPr>
        </p:sp>
        <p:sp>
          <p:nvSpPr>
            <p:cNvPr id="35" name="Line 35"/>
            <p:cNvSpPr/>
            <p:nvPr/>
          </p:nvSpPr>
          <p:spPr>
            <a:xfrm>
              <a:off x="1777253" y="4436463"/>
              <a:ext cx="9525" cy="80575"/>
            </a:xfrm>
            <a:custGeom>
              <a:avLst/>
              <a:gdLst/>
              <a:ahLst/>
              <a:cxnLst/>
              <a:rect l="l" t="t" r="r" b="b"/>
              <a:pathLst>
                <a:path w="9525" h="80575">
                  <a:moveTo>
                    <a:pt x="0" y="0"/>
                  </a:moveTo>
                  <a:lnTo>
                    <a:pt x="0" y="80575"/>
                  </a:lnTo>
                </a:path>
              </a:pathLst>
            </a:custGeom>
            <a:noFill/>
            <a:ln w="28575" cap="rnd">
              <a:solidFill>
                <a:srgbClr val="F2685C"/>
              </a:solidFill>
            </a:ln>
          </p:spPr>
        </p:sp>
        <p:sp>
          <p:nvSpPr>
            <p:cNvPr id="36" name="Line 36"/>
            <p:cNvSpPr/>
            <p:nvPr/>
          </p:nvSpPr>
          <p:spPr>
            <a:xfrm>
              <a:off x="1954866" y="4422471"/>
              <a:ext cx="9525" cy="108557"/>
            </a:xfrm>
            <a:custGeom>
              <a:avLst/>
              <a:gdLst/>
              <a:ahLst/>
              <a:cxnLst/>
              <a:rect l="l" t="t" r="r" b="b"/>
              <a:pathLst>
                <a:path w="9525" h="108557">
                  <a:moveTo>
                    <a:pt x="0" y="0"/>
                  </a:moveTo>
                  <a:lnTo>
                    <a:pt x="0" y="108557"/>
                  </a:lnTo>
                </a:path>
              </a:pathLst>
            </a:custGeom>
            <a:noFill/>
            <a:ln w="28575" cap="rnd">
              <a:solidFill>
                <a:srgbClr val="F2685C"/>
              </a:solidFill>
            </a:ln>
          </p:spPr>
        </p:sp>
        <p:sp>
          <p:nvSpPr>
            <p:cNvPr id="37" name="Line 37"/>
            <p:cNvSpPr/>
            <p:nvPr/>
          </p:nvSpPr>
          <p:spPr>
            <a:xfrm>
              <a:off x="2132479" y="4367927"/>
              <a:ext cx="9525" cy="217645"/>
            </a:xfrm>
            <a:custGeom>
              <a:avLst/>
              <a:gdLst/>
              <a:ahLst/>
              <a:cxnLst/>
              <a:rect l="l" t="t" r="r" b="b"/>
              <a:pathLst>
                <a:path w="9525" h="217645">
                  <a:moveTo>
                    <a:pt x="0" y="0"/>
                  </a:moveTo>
                  <a:lnTo>
                    <a:pt x="0" y="217645"/>
                  </a:lnTo>
                </a:path>
              </a:pathLst>
            </a:custGeom>
            <a:noFill/>
            <a:ln w="28575" cap="rnd">
              <a:solidFill>
                <a:srgbClr val="F2685C"/>
              </a:solidFill>
            </a:ln>
          </p:spPr>
        </p:sp>
        <p:sp>
          <p:nvSpPr>
            <p:cNvPr id="38" name="Line 38"/>
            <p:cNvSpPr/>
            <p:nvPr/>
          </p:nvSpPr>
          <p:spPr>
            <a:xfrm>
              <a:off x="2310093" y="4362446"/>
              <a:ext cx="9525" cy="228608"/>
            </a:xfrm>
            <a:custGeom>
              <a:avLst/>
              <a:gdLst/>
              <a:ahLst/>
              <a:cxnLst/>
              <a:rect l="l" t="t" r="r" b="b"/>
              <a:pathLst>
                <a:path w="9525" h="228608">
                  <a:moveTo>
                    <a:pt x="0" y="0"/>
                  </a:moveTo>
                  <a:lnTo>
                    <a:pt x="0" y="228608"/>
                  </a:lnTo>
                </a:path>
              </a:pathLst>
            </a:custGeom>
            <a:noFill/>
            <a:ln w="28575" cap="rnd">
              <a:solidFill>
                <a:srgbClr val="F2685C"/>
              </a:solidFill>
            </a:ln>
          </p:spPr>
        </p:sp>
        <p:sp>
          <p:nvSpPr>
            <p:cNvPr id="39" name="Line 39"/>
            <p:cNvSpPr/>
            <p:nvPr/>
          </p:nvSpPr>
          <p:spPr>
            <a:xfrm>
              <a:off x="2487706" y="4343400"/>
              <a:ext cx="9525" cy="266700"/>
            </a:xfrm>
            <a:custGeom>
              <a:avLst/>
              <a:gdLst/>
              <a:ahLst/>
              <a:cxnLst/>
              <a:rect l="l" t="t" r="r" b="b"/>
              <a:pathLst>
                <a:path w="9525" h="266700">
                  <a:moveTo>
                    <a:pt x="0" y="0"/>
                  </a:moveTo>
                  <a:lnTo>
                    <a:pt x="0" y="266700"/>
                  </a:lnTo>
                </a:path>
              </a:pathLst>
            </a:custGeom>
            <a:noFill/>
            <a:ln w="28575" cap="rnd">
              <a:solidFill>
                <a:srgbClr val="F2685C"/>
              </a:solidFill>
            </a:ln>
          </p:spPr>
        </p:sp>
        <p:sp>
          <p:nvSpPr>
            <p:cNvPr id="40" name="Line 40"/>
            <p:cNvSpPr/>
            <p:nvPr/>
          </p:nvSpPr>
          <p:spPr>
            <a:xfrm>
              <a:off x="2665319" y="4419218"/>
              <a:ext cx="9525" cy="115064"/>
            </a:xfrm>
            <a:custGeom>
              <a:avLst/>
              <a:gdLst/>
              <a:ahLst/>
              <a:cxnLst/>
              <a:rect l="l" t="t" r="r" b="b"/>
              <a:pathLst>
                <a:path w="9525" h="115064">
                  <a:moveTo>
                    <a:pt x="0" y="0"/>
                  </a:moveTo>
                  <a:lnTo>
                    <a:pt x="0" y="115064"/>
                  </a:lnTo>
                </a:path>
              </a:pathLst>
            </a:custGeom>
            <a:noFill/>
            <a:ln w="28575" cap="rnd">
              <a:solidFill>
                <a:srgbClr val="F2685C"/>
              </a:solidFill>
            </a:ln>
          </p:spPr>
        </p:sp>
        <p:sp>
          <p:nvSpPr>
            <p:cNvPr id="41" name="Line 41"/>
            <p:cNvSpPr/>
            <p:nvPr/>
          </p:nvSpPr>
          <p:spPr>
            <a:xfrm>
              <a:off x="2842932" y="4376957"/>
              <a:ext cx="9525" cy="199586"/>
            </a:xfrm>
            <a:custGeom>
              <a:avLst/>
              <a:gdLst/>
              <a:ahLst/>
              <a:cxnLst/>
              <a:rect l="l" t="t" r="r" b="b"/>
              <a:pathLst>
                <a:path w="9525" h="199586">
                  <a:moveTo>
                    <a:pt x="0" y="0"/>
                  </a:moveTo>
                  <a:lnTo>
                    <a:pt x="0" y="199586"/>
                  </a:lnTo>
                </a:path>
              </a:pathLst>
            </a:custGeom>
            <a:noFill/>
            <a:ln w="28575" cap="rnd">
              <a:solidFill>
                <a:srgbClr val="F2685C"/>
              </a:solidFill>
            </a:ln>
          </p:spPr>
        </p:sp>
        <p:sp>
          <p:nvSpPr>
            <p:cNvPr id="42" name="Line 42"/>
            <p:cNvSpPr/>
            <p:nvPr/>
          </p:nvSpPr>
          <p:spPr>
            <a:xfrm>
              <a:off x="3020546" y="4364245"/>
              <a:ext cx="9525" cy="225011"/>
            </a:xfrm>
            <a:custGeom>
              <a:avLst/>
              <a:gdLst/>
              <a:ahLst/>
              <a:cxnLst/>
              <a:rect l="l" t="t" r="r" b="b"/>
              <a:pathLst>
                <a:path w="9525" h="225011">
                  <a:moveTo>
                    <a:pt x="0" y="0"/>
                  </a:moveTo>
                  <a:lnTo>
                    <a:pt x="0" y="225011"/>
                  </a:lnTo>
                </a:path>
              </a:pathLst>
            </a:custGeom>
            <a:noFill/>
            <a:ln w="28575" cap="rnd">
              <a:solidFill>
                <a:srgbClr val="F2685C"/>
              </a:solidFill>
            </a:ln>
          </p:spPr>
        </p:sp>
        <p:sp>
          <p:nvSpPr>
            <p:cNvPr id="43" name="Line 43"/>
            <p:cNvSpPr/>
            <p:nvPr/>
          </p:nvSpPr>
          <p:spPr>
            <a:xfrm>
              <a:off x="3198159" y="4343400"/>
              <a:ext cx="9525" cy="266700"/>
            </a:xfrm>
            <a:custGeom>
              <a:avLst/>
              <a:gdLst/>
              <a:ahLst/>
              <a:cxnLst/>
              <a:rect l="l" t="t" r="r" b="b"/>
              <a:pathLst>
                <a:path w="9525" h="266700">
                  <a:moveTo>
                    <a:pt x="0" y="0"/>
                  </a:moveTo>
                  <a:lnTo>
                    <a:pt x="0" y="266700"/>
                  </a:lnTo>
                </a:path>
              </a:pathLst>
            </a:custGeom>
            <a:noFill/>
            <a:ln w="28575" cap="rnd">
              <a:solidFill>
                <a:srgbClr val="F2685C"/>
              </a:solidFill>
            </a:ln>
          </p:spPr>
        </p:sp>
        <p:sp>
          <p:nvSpPr>
            <p:cNvPr id="44" name="Line 44"/>
            <p:cNvSpPr/>
            <p:nvPr/>
          </p:nvSpPr>
          <p:spPr>
            <a:xfrm>
              <a:off x="3375772" y="4393423"/>
              <a:ext cx="9525" cy="166654"/>
            </a:xfrm>
            <a:custGeom>
              <a:avLst/>
              <a:gdLst/>
              <a:ahLst/>
              <a:cxnLst/>
              <a:rect l="l" t="t" r="r" b="b"/>
              <a:pathLst>
                <a:path w="9525" h="166654">
                  <a:moveTo>
                    <a:pt x="0" y="0"/>
                  </a:moveTo>
                  <a:lnTo>
                    <a:pt x="0" y="166654"/>
                  </a:lnTo>
                </a:path>
              </a:pathLst>
            </a:custGeom>
            <a:noFill/>
            <a:ln w="28575" cap="rnd">
              <a:solidFill>
                <a:srgbClr val="F2685C"/>
              </a:solidFill>
            </a:ln>
          </p:spPr>
        </p:sp>
        <p:sp>
          <p:nvSpPr>
            <p:cNvPr id="45" name="Line 45"/>
            <p:cNvSpPr/>
            <p:nvPr/>
          </p:nvSpPr>
          <p:spPr>
            <a:xfrm>
              <a:off x="3553385" y="4430198"/>
              <a:ext cx="9525" cy="93103"/>
            </a:xfrm>
            <a:custGeom>
              <a:avLst/>
              <a:gdLst/>
              <a:ahLst/>
              <a:cxnLst/>
              <a:rect l="l" t="t" r="r" b="b"/>
              <a:pathLst>
                <a:path w="9525" h="93103">
                  <a:moveTo>
                    <a:pt x="0" y="0"/>
                  </a:moveTo>
                  <a:lnTo>
                    <a:pt x="0" y="93103"/>
                  </a:lnTo>
                </a:path>
              </a:pathLst>
            </a:custGeom>
            <a:noFill/>
            <a:ln w="28575" cap="rnd">
              <a:solidFill>
                <a:srgbClr val="F2685C"/>
              </a:solidFill>
            </a:ln>
          </p:spPr>
        </p:sp>
        <p:sp>
          <p:nvSpPr>
            <p:cNvPr id="46" name="Line 46"/>
            <p:cNvSpPr/>
            <p:nvPr/>
          </p:nvSpPr>
          <p:spPr>
            <a:xfrm>
              <a:off x="3730999" y="4343400"/>
              <a:ext cx="9525" cy="266700"/>
            </a:xfrm>
            <a:custGeom>
              <a:avLst/>
              <a:gdLst/>
              <a:ahLst/>
              <a:cxnLst/>
              <a:rect l="l" t="t" r="r" b="b"/>
              <a:pathLst>
                <a:path w="9525" h="266700">
                  <a:moveTo>
                    <a:pt x="0" y="0"/>
                  </a:moveTo>
                  <a:lnTo>
                    <a:pt x="0" y="266700"/>
                  </a:lnTo>
                </a:path>
              </a:pathLst>
            </a:custGeom>
            <a:noFill/>
            <a:ln w="28575" cap="rnd">
              <a:solidFill>
                <a:srgbClr val="F2685C"/>
              </a:solidFill>
            </a:ln>
          </p:spPr>
        </p:sp>
        <p:sp>
          <p:nvSpPr>
            <p:cNvPr id="47" name="Line 47"/>
            <p:cNvSpPr/>
            <p:nvPr/>
          </p:nvSpPr>
          <p:spPr>
            <a:xfrm>
              <a:off x="3908612" y="4395293"/>
              <a:ext cx="9525" cy="162915"/>
            </a:xfrm>
            <a:custGeom>
              <a:avLst/>
              <a:gdLst/>
              <a:ahLst/>
              <a:cxnLst/>
              <a:rect l="l" t="t" r="r" b="b"/>
              <a:pathLst>
                <a:path w="9525" h="162915">
                  <a:moveTo>
                    <a:pt x="0" y="0"/>
                  </a:moveTo>
                  <a:lnTo>
                    <a:pt x="0" y="162915"/>
                  </a:lnTo>
                </a:path>
              </a:pathLst>
            </a:custGeom>
            <a:noFill/>
            <a:ln w="28575" cap="rnd">
              <a:solidFill>
                <a:srgbClr val="F2685C"/>
              </a:solidFill>
            </a:ln>
          </p:spPr>
        </p:sp>
        <p:sp>
          <p:nvSpPr>
            <p:cNvPr id="48" name="Line 48"/>
            <p:cNvSpPr/>
            <p:nvPr/>
          </p:nvSpPr>
          <p:spPr>
            <a:xfrm>
              <a:off x="4086225" y="4360776"/>
              <a:ext cx="9525" cy="231948"/>
            </a:xfrm>
            <a:custGeom>
              <a:avLst/>
              <a:gdLst/>
              <a:ahLst/>
              <a:cxnLst/>
              <a:rect l="l" t="t" r="r" b="b"/>
              <a:pathLst>
                <a:path w="9525" h="231948">
                  <a:moveTo>
                    <a:pt x="0" y="0"/>
                  </a:moveTo>
                  <a:lnTo>
                    <a:pt x="0" y="231948"/>
                  </a:lnTo>
                </a:path>
              </a:pathLst>
            </a:custGeom>
            <a:noFill/>
            <a:ln w="28575" cap="rnd">
              <a:solidFill>
                <a:srgbClr val="F2685C"/>
              </a:solidFill>
            </a:ln>
          </p:spPr>
        </p:sp>
      </p:grpSp>
      <p:grpSp>
        <p:nvGrpSpPr>
          <p:cNvPr id="64" name="Group 64"/>
          <p:cNvGrpSpPr/>
          <p:nvPr/>
        </p:nvGrpSpPr>
        <p:grpSpPr>
          <a:xfrm>
            <a:off x="4762500" y="1504950"/>
            <a:ext cx="6819900" cy="1623632"/>
            <a:chOff x="4762500" y="1504950"/>
            <a:chExt cx="6819900" cy="1623632"/>
          </a:xfrm>
        </p:grpSpPr>
        <p:sp>
          <p:nvSpPr>
            <p:cNvPr id="50" name="Rectangle 50"/>
            <p:cNvSpPr/>
            <p:nvPr/>
          </p:nvSpPr>
          <p:spPr>
            <a:xfrm>
              <a:off x="4762500" y="1504950"/>
              <a:ext cx="6819900" cy="1428750"/>
            </a:xfrm>
            <a:prstGeom prst="roundRect">
              <a:avLst>
                <a:gd name="adj" fmla="val 9333"/>
              </a:avLst>
            </a:prstGeom>
            <a:solidFill>
              <a:schemeClr val="accent5"/>
            </a:solidFill>
            <a:ln w="14288">
              <a:solidFill>
                <a:srgbClr val="26455F"/>
              </a:solidFill>
            </a:ln>
          </p:spPr>
        </p:sp>
        <p:sp>
          <p:nvSpPr>
            <p:cNvPr id="51" name="Rectangle 51"/>
            <p:cNvSpPr/>
            <p:nvPr/>
          </p:nvSpPr>
          <p:spPr>
            <a:xfrm>
              <a:off x="4762500" y="1504950"/>
              <a:ext cx="57150" cy="1428750"/>
            </a:xfrm>
            <a:prstGeom prst="roundRect">
              <a:avLst>
                <a:gd name="adj" fmla="val 50000"/>
              </a:avLst>
            </a:prstGeom>
            <a:solidFill>
              <a:srgbClr val="F2685C"/>
            </a:solidFill>
            <a:ln>
              <a:noFill/>
            </a:ln>
          </p:spPr>
        </p:sp>
        <p:sp>
          <p:nvSpPr>
            <p:cNvPr id="52" name="TextBox 52"/>
            <p:cNvSpPr txBox="1"/>
            <p:nvPr/>
          </p:nvSpPr>
          <p:spPr>
            <a:xfrm>
              <a:off x="5022914" y="1733312"/>
              <a:ext cx="3322960"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Great on its own set, poor on the next</a:t>
              </a:r>
            </a:p>
          </p:txBody>
        </p:sp>
        <p:sp>
          <p:nvSpPr>
            <p:cNvPr id="53" name="TextBox 53"/>
            <p:cNvSpPr txBox="1"/>
            <p:nvPr/>
          </p:nvSpPr>
          <p:spPr>
            <a:xfrm>
              <a:off x="5023866" y="2039302"/>
              <a:ext cx="408429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detector performs well on its own dataset, but its Equal</a:t>
              </a:r>
            </a:p>
          </p:txBody>
        </p:sp>
        <p:sp>
          <p:nvSpPr>
            <p:cNvPr id="54" name="TextBox 54"/>
            <p:cNvSpPr txBox="1"/>
            <p:nvPr/>
          </p:nvSpPr>
          <p:spPr>
            <a:xfrm>
              <a:off x="5023866" y="2239328"/>
              <a:ext cx="361730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Error Rate rises dramatically on audio from another</a:t>
              </a:r>
            </a:p>
          </p:txBody>
        </p:sp>
        <p:sp>
          <p:nvSpPr>
            <p:cNvPr id="55" name="TextBox 55"/>
            <p:cNvSpPr txBox="1"/>
            <p:nvPr/>
          </p:nvSpPr>
          <p:spPr>
            <a:xfrm>
              <a:off x="5023866" y="2439352"/>
              <a:ext cx="6326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dataset.</a:t>
              </a:r>
            </a:p>
          </p:txBody>
        </p:sp>
        <p:sp>
          <p:nvSpPr>
            <p:cNvPr id="56" name="Rectangle 56"/>
            <p:cNvSpPr/>
            <p:nvPr/>
          </p:nvSpPr>
          <p:spPr>
            <a:xfrm>
              <a:off x="7143750" y="2571750"/>
              <a:ext cx="1905000" cy="228600"/>
            </a:xfrm>
            <a:prstGeom prst="roundRect">
              <a:avLst>
                <a:gd name="adj" fmla="val 25000"/>
              </a:avLst>
            </a:prstGeom>
            <a:solidFill>
              <a:srgbClr val="0E2334"/>
            </a:solidFill>
            <a:ln w="9525">
              <a:solidFill>
                <a:srgbClr val="26455F"/>
              </a:solidFill>
            </a:ln>
          </p:spPr>
        </p:sp>
        <p:sp>
          <p:nvSpPr>
            <p:cNvPr id="57" name="Rectangle 57"/>
            <p:cNvSpPr/>
            <p:nvPr/>
          </p:nvSpPr>
          <p:spPr>
            <a:xfrm>
              <a:off x="7143750" y="2571750"/>
              <a:ext cx="142875" cy="228600"/>
            </a:xfrm>
            <a:prstGeom prst="roundRect">
              <a:avLst>
                <a:gd name="adj" fmla="val 40000"/>
              </a:avLst>
            </a:prstGeom>
            <a:solidFill>
              <a:srgbClr val="34D3C0"/>
            </a:solidFill>
            <a:ln>
              <a:noFill/>
            </a:ln>
          </p:spPr>
        </p:sp>
        <p:sp>
          <p:nvSpPr>
            <p:cNvPr id="58" name="TextBox 58"/>
            <p:cNvSpPr txBox="1"/>
            <p:nvPr/>
          </p:nvSpPr>
          <p:spPr>
            <a:xfrm>
              <a:off x="6154607" y="2637473"/>
              <a:ext cx="88017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own set EER</a:t>
              </a:r>
            </a:p>
          </p:txBody>
        </p:sp>
        <p:sp>
          <p:nvSpPr>
            <p:cNvPr id="59" name="TextBox 59"/>
            <p:cNvSpPr txBox="1"/>
            <p:nvPr/>
          </p:nvSpPr>
          <p:spPr>
            <a:xfrm>
              <a:off x="7376541" y="2637473"/>
              <a:ext cx="248138" cy="205359"/>
            </a:xfrm>
            <a:prstGeom prst="rect">
              <a:avLst/>
            </a:prstGeom>
            <a:noFill/>
            <a:ln>
              <a:noFill/>
            </a:ln>
          </p:spPr>
          <p:txBody>
            <a:bodyPr wrap="none" lIns="0" tIns="0" rIns="0" bIns="0" anchor="t" anchorCtr="0">
              <a:spAutoFit/>
            </a:bodyPr>
            <a:lstStyle/>
            <a:p>
              <a:pPr algn="l"/>
              <a:r>
                <a:rPr lang="en-US" sz="1050" b="1" dirty="0">
                  <a:solidFill>
                    <a:srgbClr val="34D3C0"/>
                  </a:solidFill>
                  <a:latin typeface="+mn-lt"/>
                  <a:ea typeface="+mn-ea"/>
                  <a:cs typeface="+mn-cs"/>
                </a:rPr>
                <a:t>low</a:t>
              </a:r>
            </a:p>
          </p:txBody>
        </p:sp>
        <p:sp>
          <p:nvSpPr>
            <p:cNvPr id="60" name="Rectangle 60"/>
            <p:cNvSpPr/>
            <p:nvPr/>
          </p:nvSpPr>
          <p:spPr>
            <a:xfrm>
              <a:off x="7143750" y="2857500"/>
              <a:ext cx="1905000" cy="228600"/>
            </a:xfrm>
            <a:prstGeom prst="roundRect">
              <a:avLst>
                <a:gd name="adj" fmla="val 25000"/>
              </a:avLst>
            </a:prstGeom>
            <a:solidFill>
              <a:srgbClr val="0E2334"/>
            </a:solidFill>
            <a:ln w="9525">
              <a:solidFill>
                <a:srgbClr val="26455F"/>
              </a:solidFill>
            </a:ln>
          </p:spPr>
        </p:sp>
        <p:sp>
          <p:nvSpPr>
            <p:cNvPr id="61" name="Rectangle 61"/>
            <p:cNvSpPr/>
            <p:nvPr/>
          </p:nvSpPr>
          <p:spPr>
            <a:xfrm>
              <a:off x="7143750" y="2857500"/>
              <a:ext cx="1619250" cy="228600"/>
            </a:xfrm>
            <a:prstGeom prst="roundRect">
              <a:avLst>
                <a:gd name="adj" fmla="val 25000"/>
              </a:avLst>
            </a:prstGeom>
            <a:solidFill>
              <a:srgbClr val="F2685C"/>
            </a:solidFill>
            <a:ln>
              <a:noFill/>
            </a:ln>
          </p:spPr>
        </p:sp>
        <p:sp>
          <p:nvSpPr>
            <p:cNvPr id="62" name="TextBox 62"/>
            <p:cNvSpPr txBox="1"/>
            <p:nvPr/>
          </p:nvSpPr>
          <p:spPr>
            <a:xfrm>
              <a:off x="6154607" y="2923223"/>
              <a:ext cx="88017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new set EER</a:t>
              </a:r>
            </a:p>
          </p:txBody>
        </p:sp>
        <p:sp>
          <p:nvSpPr>
            <p:cNvPr id="63" name="TextBox 63"/>
            <p:cNvSpPr txBox="1"/>
            <p:nvPr/>
          </p:nvSpPr>
          <p:spPr>
            <a:xfrm>
              <a:off x="8852916" y="2923223"/>
              <a:ext cx="30008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high</a:t>
              </a:r>
            </a:p>
          </p:txBody>
        </p:sp>
      </p:grpSp>
      <p:grpSp>
        <p:nvGrpSpPr>
          <p:cNvPr id="70" name="Group 70"/>
          <p:cNvGrpSpPr/>
          <p:nvPr/>
        </p:nvGrpSpPr>
        <p:grpSpPr>
          <a:xfrm>
            <a:off x="4762500" y="3086100"/>
            <a:ext cx="6819900" cy="990600"/>
            <a:chOff x="4762500" y="3086100"/>
            <a:chExt cx="6819900" cy="990600"/>
          </a:xfrm>
        </p:grpSpPr>
        <p:sp>
          <p:nvSpPr>
            <p:cNvPr id="65" name="Rectangle 65"/>
            <p:cNvSpPr/>
            <p:nvPr/>
          </p:nvSpPr>
          <p:spPr>
            <a:xfrm>
              <a:off x="4762500" y="3086100"/>
              <a:ext cx="6819900" cy="990600"/>
            </a:xfrm>
            <a:prstGeom prst="roundRect">
              <a:avLst>
                <a:gd name="adj" fmla="val 13462"/>
              </a:avLst>
            </a:prstGeom>
            <a:solidFill>
              <a:srgbClr val="2A2417"/>
            </a:solidFill>
            <a:ln w="14288">
              <a:solidFill>
                <a:srgbClr val="F2C14E"/>
              </a:solidFill>
            </a:ln>
          </p:spPr>
        </p:sp>
        <p:sp>
          <p:nvSpPr>
            <p:cNvPr id="66" name="Rectangle 66"/>
            <p:cNvSpPr/>
            <p:nvPr/>
          </p:nvSpPr>
          <p:spPr>
            <a:xfrm>
              <a:off x="4762500" y="3086100"/>
              <a:ext cx="57150" cy="990600"/>
            </a:xfrm>
            <a:prstGeom prst="roundRect">
              <a:avLst>
                <a:gd name="adj" fmla="val 50000"/>
              </a:avLst>
            </a:prstGeom>
            <a:solidFill>
              <a:srgbClr val="F2C14E"/>
            </a:solidFill>
            <a:ln>
              <a:noFill/>
            </a:ln>
          </p:spPr>
        </p:sp>
        <p:sp>
          <p:nvSpPr>
            <p:cNvPr id="67" name="TextBox 67"/>
            <p:cNvSpPr txBox="1"/>
            <p:nvPr/>
          </p:nvSpPr>
          <p:spPr>
            <a:xfrm>
              <a:off x="5023104" y="3318510"/>
              <a:ext cx="2095398"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The obvious fix backfires</a:t>
              </a:r>
            </a:p>
          </p:txBody>
        </p:sp>
        <p:sp>
          <p:nvSpPr>
            <p:cNvPr id="68" name="TextBox 68"/>
            <p:cNvSpPr txBox="1"/>
            <p:nvPr/>
          </p:nvSpPr>
          <p:spPr>
            <a:xfrm>
              <a:off x="5023676" y="3616404"/>
              <a:ext cx="5041922"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Fine-tuning on the new data causes the network to forget what it had</a:t>
              </a:r>
            </a:p>
          </p:txBody>
        </p:sp>
        <p:sp>
          <p:nvSpPr>
            <p:cNvPr id="69" name="TextBox 69"/>
            <p:cNvSpPr txBox="1"/>
            <p:nvPr/>
          </p:nvSpPr>
          <p:spPr>
            <a:xfrm>
              <a:off x="5023676" y="3825954"/>
              <a:ext cx="1148251" cy="212693"/>
            </a:xfrm>
            <a:prstGeom prst="rect">
              <a:avLst/>
            </a:prstGeom>
            <a:noFill/>
            <a:ln>
              <a:noFill/>
            </a:ln>
          </p:spPr>
          <p:txBody>
            <a:bodyPr wrap="none" lIns="0" tIns="0" rIns="0" bIns="0" anchor="t" anchorCtr="0">
              <a:spAutoFit/>
            </a:bodyPr>
            <a:lstStyle/>
            <a:p>
              <a:pPr algn="l"/>
              <a:r>
                <a:rPr lang="en-US" sz="1090" dirty="0">
                  <a:solidFill>
                    <a:schemeClr val="dk1"/>
                  </a:solidFill>
                  <a:latin typeface="+mn-lt"/>
                  <a:ea typeface="+mn-ea"/>
                  <a:cs typeface="+mn-cs"/>
                </a:rPr>
                <a:t>learned before.</a:t>
              </a:r>
            </a:p>
          </p:txBody>
        </p:sp>
      </p:grpSp>
      <p:grpSp>
        <p:nvGrpSpPr>
          <p:cNvPr id="76" name="Group 76"/>
          <p:cNvGrpSpPr/>
          <p:nvPr/>
        </p:nvGrpSpPr>
        <p:grpSpPr>
          <a:xfrm>
            <a:off x="4762500" y="4229100"/>
            <a:ext cx="6819900" cy="1009650"/>
            <a:chOff x="4762500" y="4229100"/>
            <a:chExt cx="6819900" cy="1009650"/>
          </a:xfrm>
        </p:grpSpPr>
        <p:sp>
          <p:nvSpPr>
            <p:cNvPr id="71" name="Rectangle 71"/>
            <p:cNvSpPr/>
            <p:nvPr/>
          </p:nvSpPr>
          <p:spPr>
            <a:xfrm>
              <a:off x="4762500" y="4229100"/>
              <a:ext cx="6819900" cy="1009650"/>
            </a:xfrm>
            <a:prstGeom prst="roundRect">
              <a:avLst>
                <a:gd name="adj" fmla="val 13208"/>
              </a:avLst>
            </a:prstGeom>
            <a:solidFill>
              <a:schemeClr val="accent5"/>
            </a:solidFill>
            <a:ln w="14288">
              <a:solidFill>
                <a:srgbClr val="26455F"/>
              </a:solidFill>
            </a:ln>
          </p:spPr>
        </p:sp>
        <p:sp>
          <p:nvSpPr>
            <p:cNvPr id="72" name="Rectangle 72"/>
            <p:cNvSpPr/>
            <p:nvPr/>
          </p:nvSpPr>
          <p:spPr>
            <a:xfrm>
              <a:off x="4762500" y="4229100"/>
              <a:ext cx="57150" cy="1009650"/>
            </a:xfrm>
            <a:prstGeom prst="roundRect">
              <a:avLst>
                <a:gd name="adj" fmla="val 50000"/>
              </a:avLst>
            </a:prstGeom>
            <a:solidFill>
              <a:srgbClr val="34D3C0"/>
            </a:solidFill>
            <a:ln>
              <a:noFill/>
            </a:ln>
          </p:spPr>
        </p:sp>
        <p:sp>
          <p:nvSpPr>
            <p:cNvPr id="73" name="TextBox 73"/>
            <p:cNvSpPr txBox="1"/>
            <p:nvPr/>
          </p:nvSpPr>
          <p:spPr>
            <a:xfrm>
              <a:off x="5023104" y="4461510"/>
              <a:ext cx="2808310"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And you can't just replay old data</a:t>
              </a:r>
            </a:p>
          </p:txBody>
        </p:sp>
        <p:sp>
          <p:nvSpPr>
            <p:cNvPr id="74" name="TextBox 74"/>
            <p:cNvSpPr txBox="1"/>
            <p:nvPr/>
          </p:nvSpPr>
          <p:spPr>
            <a:xfrm>
              <a:off x="5023676" y="4759404"/>
              <a:ext cx="4755406"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Earlier remedies replay old samples, which is impractical when the</a:t>
              </a:r>
            </a:p>
          </p:txBody>
        </p:sp>
        <p:sp>
          <p:nvSpPr>
            <p:cNvPr id="75" name="TextBox 75"/>
            <p:cNvSpPr txBox="1"/>
            <p:nvPr/>
          </p:nvSpPr>
          <p:spPr>
            <a:xfrm>
              <a:off x="5023676" y="4968954"/>
              <a:ext cx="2065350" cy="212693"/>
            </a:xfrm>
            <a:prstGeom prst="rect">
              <a:avLst/>
            </a:prstGeom>
            <a:noFill/>
            <a:ln>
              <a:noFill/>
            </a:ln>
          </p:spPr>
          <p:txBody>
            <a:bodyPr wrap="none" lIns="0" tIns="0" rIns="0" bIns="0" anchor="t" anchorCtr="0">
              <a:spAutoFit/>
            </a:bodyPr>
            <a:lstStyle/>
            <a:p>
              <a:pPr algn="l"/>
              <a:r>
                <a:rPr lang="en-US" sz="1090" dirty="0">
                  <a:solidFill>
                    <a:schemeClr val="dk2"/>
                  </a:solidFill>
                  <a:latin typeface="+mn-lt"/>
                  <a:ea typeface="+mn-ea"/>
                  <a:cs typeface="+mn-cs"/>
                </a:rPr>
                <a:t>original data is inaccessible.</a:t>
              </a:r>
            </a:p>
          </p:txBody>
        </p:sp>
      </p:grpSp>
      <p:sp>
        <p:nvSpPr>
          <p:cNvPr id="77" name="cue_s02_c1_fake_audio_detection_become_critical" title="cue_s02_c1_fake_audio_detection_become_critical" descr="cue_s02_c1_fake_audio_detection_become_critical Fake audio detection has become critical as speech synthesis and voice conversion produce human-like speech."/>
          <p:cNvSpPr/>
          <p:nvPr/>
        </p:nvSpPr>
        <p:spPr>
          <a:xfrm>
            <a:off x="609600" y="1504645"/>
            <a:ext cx="3847795" cy="37334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ue_s02_c2_detectors_perform_well_their_own" title="cue_s02_c2_detectors_perform_well_their_own" descr="cue_s02_c2_detectors_perform_well_their_own Detectors perform well on their own dataset, but their equal error rate rises dramatically on audio from another dataset."/>
          <p:cNvSpPr/>
          <p:nvPr/>
        </p:nvSpPr>
        <p:spPr>
          <a:xfrm>
            <a:off x="4762195" y="1504645"/>
            <a:ext cx="6820204" cy="162328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cue_s02_c3_obvious_fix_fine_tuning_new_causes" title="cue_s02_c3_obvious_fix_fine_tuning_new_causes" descr="cue_s02_c3_obvious_fix_fine_tuning_new_causes The obvious fix, fine-tuning on the new data, causes the network to forget what it learned before."/>
          <p:cNvSpPr/>
          <p:nvPr/>
        </p:nvSpPr>
        <p:spPr>
          <a:xfrm>
            <a:off x="4762195" y="3086100"/>
            <a:ext cx="6820204" cy="9902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cue_s02_c4_earlier_remedies_require_replaying_o" title="cue_s02_c4_earlier_remedies_require_replaying_o" descr="cue_s02_c4_earlier_remedies_require_replaying_o Earlier remedies require replaying old samples, which is impractical when the original data is inaccessible."/>
          <p:cNvSpPr/>
          <p:nvPr/>
        </p:nvSpPr>
        <p:spPr>
          <a:xfrm>
            <a:off x="4762195" y="4229328"/>
            <a:ext cx="6820204" cy="10094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88836"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MOTIVATION</a:t>
            </a:r>
          </a:p>
        </p:txBody>
      </p:sp>
      <p:sp>
        <p:nvSpPr>
          <p:cNvPr id="4" name="TextBox 4"/>
          <p:cNvSpPr txBox="1"/>
          <p:nvPr/>
        </p:nvSpPr>
        <p:spPr>
          <a:xfrm>
            <a:off x="598170" y="804862"/>
            <a:ext cx="6250593"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Genuine speech is a regularity to exploit</a:t>
            </a:r>
          </a:p>
        </p:txBody>
      </p:sp>
      <p:grpSp>
        <p:nvGrpSpPr>
          <p:cNvPr id="13" name="Group 13"/>
          <p:cNvGrpSpPr/>
          <p:nvPr/>
        </p:nvGrpSpPr>
        <p:grpSpPr>
          <a:xfrm>
            <a:off x="609600" y="1504950"/>
            <a:ext cx="5334000" cy="1828800"/>
            <a:chOff x="609600" y="1504950"/>
            <a:chExt cx="5334000" cy="1828800"/>
          </a:xfrm>
        </p:grpSpPr>
        <p:sp>
          <p:nvSpPr>
            <p:cNvPr id="5" name="Rectangle 5"/>
            <p:cNvSpPr/>
            <p:nvPr/>
          </p:nvSpPr>
          <p:spPr>
            <a:xfrm>
              <a:off x="609600" y="1504950"/>
              <a:ext cx="5334000" cy="1828800"/>
            </a:xfrm>
            <a:prstGeom prst="roundRect">
              <a:avLst>
                <a:gd name="adj" fmla="val 7292"/>
              </a:avLst>
            </a:prstGeom>
            <a:solidFill>
              <a:schemeClr val="accent5"/>
            </a:solidFill>
            <a:ln w="14288">
              <a:solidFill>
                <a:srgbClr val="26455F"/>
              </a:solidFill>
            </a:ln>
          </p:spPr>
        </p:sp>
        <p:sp>
          <p:nvSpPr>
            <p:cNvPr id="6" name="Rectangle 6"/>
            <p:cNvSpPr/>
            <p:nvPr/>
          </p:nvSpPr>
          <p:spPr>
            <a:xfrm>
              <a:off x="609600" y="1504950"/>
              <a:ext cx="57150" cy="1828800"/>
            </a:xfrm>
            <a:prstGeom prst="roundRect">
              <a:avLst>
                <a:gd name="adj" fmla="val 50000"/>
              </a:avLst>
            </a:prstGeom>
            <a:solidFill>
              <a:schemeClr val="accent2"/>
            </a:solidFill>
            <a:ln>
              <a:noFill/>
            </a:ln>
          </p:spPr>
        </p:sp>
        <p:sp>
          <p:nvSpPr>
            <p:cNvPr id="7" name="TextBox 7"/>
            <p:cNvSpPr txBox="1"/>
            <p:nvPr/>
          </p:nvSpPr>
          <p:spPr>
            <a:xfrm>
              <a:off x="870014" y="1733312"/>
              <a:ext cx="252791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OWM treats every input alike</a:t>
              </a:r>
            </a:p>
          </p:txBody>
        </p:sp>
        <p:sp>
          <p:nvSpPr>
            <p:cNvPr id="8" name="TextBox 8"/>
            <p:cNvSpPr txBox="1"/>
            <p:nvPr/>
          </p:nvSpPr>
          <p:spPr>
            <a:xfrm>
              <a:off x="870966" y="2039302"/>
              <a:ext cx="424872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Existing weight-modification methods such as OWM constrain</a:t>
              </a:r>
            </a:p>
          </p:txBody>
        </p:sp>
        <p:sp>
          <p:nvSpPr>
            <p:cNvPr id="9" name="TextBox 9"/>
            <p:cNvSpPr txBox="1"/>
            <p:nvPr/>
          </p:nvSpPr>
          <p:spPr>
            <a:xfrm>
              <a:off x="870966" y="2239328"/>
              <a:ext cx="395436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every update the same way, ignoring which class an input</a:t>
              </a:r>
            </a:p>
          </p:txBody>
        </p:sp>
        <p:sp>
          <p:nvSpPr>
            <p:cNvPr id="10" name="TextBox 10"/>
            <p:cNvSpPr txBox="1"/>
            <p:nvPr/>
          </p:nvSpPr>
          <p:spPr>
            <a:xfrm>
              <a:off x="870966" y="2439352"/>
              <a:ext cx="7951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belongs to.</a:t>
              </a:r>
            </a:p>
          </p:txBody>
        </p:sp>
        <p:sp>
          <p:nvSpPr>
            <p:cNvPr id="11" name="Rectangle 11"/>
            <p:cNvSpPr/>
            <p:nvPr/>
          </p:nvSpPr>
          <p:spPr>
            <a:xfrm>
              <a:off x="876300" y="2857500"/>
              <a:ext cx="4800600" cy="419100"/>
            </a:xfrm>
            <a:prstGeom prst="roundRect">
              <a:avLst>
                <a:gd name="adj" fmla="val 18182"/>
              </a:avLst>
            </a:prstGeom>
            <a:solidFill>
              <a:schemeClr val="accent6"/>
            </a:solidFill>
            <a:ln w="14288">
              <a:solidFill>
                <a:srgbClr val="26455F"/>
              </a:solidFill>
            </a:ln>
          </p:spPr>
        </p:sp>
        <p:sp>
          <p:nvSpPr>
            <p:cNvPr id="12" name="TextBox 12"/>
            <p:cNvSpPr txBox="1"/>
            <p:nvPr/>
          </p:nvSpPr>
          <p:spPr>
            <a:xfrm>
              <a:off x="1833727" y="3014901"/>
              <a:ext cx="2885746"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OWM: W &lt;- W - lr * P * g (same P for all)</a:t>
              </a:r>
            </a:p>
          </p:txBody>
        </p:sp>
      </p:grpSp>
      <p:grpSp>
        <p:nvGrpSpPr>
          <p:cNvPr id="54" name="Group 54"/>
          <p:cNvGrpSpPr/>
          <p:nvPr/>
        </p:nvGrpSpPr>
        <p:grpSpPr>
          <a:xfrm>
            <a:off x="609600" y="3486150"/>
            <a:ext cx="5334000" cy="1752600"/>
            <a:chOff x="609600" y="3486150"/>
            <a:chExt cx="5334000" cy="1752600"/>
          </a:xfrm>
        </p:grpSpPr>
        <p:sp>
          <p:nvSpPr>
            <p:cNvPr id="14" name="Rectangle 14"/>
            <p:cNvSpPr/>
            <p:nvPr/>
          </p:nvSpPr>
          <p:spPr>
            <a:xfrm>
              <a:off x="609600" y="3486150"/>
              <a:ext cx="5334000" cy="1752600"/>
            </a:xfrm>
            <a:prstGeom prst="roundRect">
              <a:avLst>
                <a:gd name="adj" fmla="val 7609"/>
              </a:avLst>
            </a:prstGeom>
            <a:solidFill>
              <a:srgbClr val="0F2E2B"/>
            </a:solidFill>
            <a:ln w="14288">
              <a:solidFill>
                <a:srgbClr val="34D3C0"/>
              </a:solidFill>
            </a:ln>
          </p:spPr>
        </p:sp>
        <p:sp>
          <p:nvSpPr>
            <p:cNvPr id="15" name="Rectangle 15"/>
            <p:cNvSpPr/>
            <p:nvPr/>
          </p:nvSpPr>
          <p:spPr>
            <a:xfrm>
              <a:off x="609600" y="3486150"/>
              <a:ext cx="57150" cy="1752600"/>
            </a:xfrm>
            <a:prstGeom prst="roundRect">
              <a:avLst>
                <a:gd name="adj" fmla="val 50000"/>
              </a:avLst>
            </a:prstGeom>
            <a:solidFill>
              <a:srgbClr val="34D3C0"/>
            </a:solidFill>
            <a:ln>
              <a:noFill/>
            </a:ln>
          </p:spPr>
        </p:sp>
        <p:sp>
          <p:nvSpPr>
            <p:cNvPr id="16" name="TextBox 16"/>
            <p:cNvSpPr txBox="1"/>
            <p:nvPr/>
          </p:nvSpPr>
          <p:spPr>
            <a:xfrm>
              <a:off x="870204" y="3718560"/>
              <a:ext cx="2621336"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Genuine looks alike; fake drifts</a:t>
              </a:r>
            </a:p>
          </p:txBody>
        </p:sp>
        <p:sp>
          <p:nvSpPr>
            <p:cNvPr id="17" name="TextBox 17"/>
            <p:cNvSpPr txBox="1"/>
            <p:nvPr/>
          </p:nvSpPr>
          <p:spPr>
            <a:xfrm>
              <a:off x="870966" y="4020502"/>
              <a:ext cx="397306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In fake audio detection genuine speech stays similar from</a:t>
              </a:r>
            </a:p>
          </p:txBody>
        </p:sp>
        <p:sp>
          <p:nvSpPr>
            <p:cNvPr id="18" name="TextBox 18"/>
            <p:cNvSpPr txBox="1"/>
            <p:nvPr/>
          </p:nvSpPr>
          <p:spPr>
            <a:xfrm>
              <a:off x="870966" y="4220528"/>
              <a:ext cx="385541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one dataset to the next, while the fake speech varies a</a:t>
              </a:r>
            </a:p>
          </p:txBody>
        </p:sp>
        <p:sp>
          <p:nvSpPr>
            <p:cNvPr id="19" name="TextBox 19"/>
            <p:cNvSpPr txBox="1"/>
            <p:nvPr/>
          </p:nvSpPr>
          <p:spPr>
            <a:xfrm>
              <a:off x="870966" y="4420552"/>
              <a:ext cx="28630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lot.</a:t>
              </a:r>
            </a:p>
          </p:txBody>
        </p:sp>
        <p:sp>
          <p:nvSpPr>
            <p:cNvPr id="20" name="Line 20"/>
            <p:cNvSpPr/>
            <p:nvPr/>
          </p:nvSpPr>
          <p:spPr>
            <a:xfrm>
              <a:off x="876300" y="4878931"/>
              <a:ext cx="9525" cy="71938"/>
            </a:xfrm>
            <a:custGeom>
              <a:avLst/>
              <a:gdLst/>
              <a:ahLst/>
              <a:cxnLst/>
              <a:rect l="l" t="t" r="r" b="b"/>
              <a:pathLst>
                <a:path w="9525" h="71938">
                  <a:moveTo>
                    <a:pt x="0" y="0"/>
                  </a:moveTo>
                  <a:lnTo>
                    <a:pt x="0" y="71938"/>
                  </a:lnTo>
                </a:path>
              </a:pathLst>
            </a:custGeom>
            <a:noFill/>
            <a:ln w="28575" cap="rnd">
              <a:solidFill>
                <a:srgbClr val="34D3C0"/>
              </a:solidFill>
            </a:ln>
          </p:spPr>
        </p:sp>
        <p:sp>
          <p:nvSpPr>
            <p:cNvPr id="21" name="Line 21"/>
            <p:cNvSpPr/>
            <p:nvPr/>
          </p:nvSpPr>
          <p:spPr>
            <a:xfrm>
              <a:off x="1020445" y="4839781"/>
              <a:ext cx="9525" cy="150237"/>
            </a:xfrm>
            <a:custGeom>
              <a:avLst/>
              <a:gdLst/>
              <a:ahLst/>
              <a:cxnLst/>
              <a:rect l="l" t="t" r="r" b="b"/>
              <a:pathLst>
                <a:path w="9525" h="150237">
                  <a:moveTo>
                    <a:pt x="0" y="0"/>
                  </a:moveTo>
                  <a:lnTo>
                    <a:pt x="0" y="150237"/>
                  </a:lnTo>
                </a:path>
              </a:pathLst>
            </a:custGeom>
            <a:noFill/>
            <a:ln w="28575" cap="rnd">
              <a:solidFill>
                <a:srgbClr val="34D3C0"/>
              </a:solidFill>
            </a:ln>
          </p:spPr>
        </p:sp>
        <p:sp>
          <p:nvSpPr>
            <p:cNvPr id="22" name="Line 22"/>
            <p:cNvSpPr/>
            <p:nvPr/>
          </p:nvSpPr>
          <p:spPr>
            <a:xfrm>
              <a:off x="1164590" y="4808216"/>
              <a:ext cx="9525" cy="213369"/>
            </a:xfrm>
            <a:custGeom>
              <a:avLst/>
              <a:gdLst/>
              <a:ahLst/>
              <a:cxnLst/>
              <a:rect l="l" t="t" r="r" b="b"/>
              <a:pathLst>
                <a:path w="9525" h="213369">
                  <a:moveTo>
                    <a:pt x="0" y="0"/>
                  </a:moveTo>
                  <a:lnTo>
                    <a:pt x="0" y="213369"/>
                  </a:lnTo>
                </a:path>
              </a:pathLst>
            </a:custGeom>
            <a:noFill/>
            <a:ln w="28575" cap="rnd">
              <a:solidFill>
                <a:srgbClr val="34D3C0"/>
              </a:solidFill>
            </a:ln>
          </p:spPr>
        </p:sp>
        <p:sp>
          <p:nvSpPr>
            <p:cNvPr id="23" name="Line 23"/>
            <p:cNvSpPr/>
            <p:nvPr/>
          </p:nvSpPr>
          <p:spPr>
            <a:xfrm>
              <a:off x="1308735" y="4800600"/>
              <a:ext cx="9525" cy="228600"/>
            </a:xfrm>
            <a:custGeom>
              <a:avLst/>
              <a:gdLst/>
              <a:ahLst/>
              <a:cxnLst/>
              <a:rect l="l" t="t" r="r" b="b"/>
              <a:pathLst>
                <a:path w="9525" h="228600">
                  <a:moveTo>
                    <a:pt x="0" y="0"/>
                  </a:moveTo>
                  <a:lnTo>
                    <a:pt x="0" y="228600"/>
                  </a:lnTo>
                </a:path>
              </a:pathLst>
            </a:custGeom>
            <a:noFill/>
            <a:ln w="28575" cap="rnd">
              <a:solidFill>
                <a:srgbClr val="34D3C0"/>
              </a:solidFill>
            </a:ln>
          </p:spPr>
        </p:sp>
        <p:sp>
          <p:nvSpPr>
            <p:cNvPr id="24" name="Line 24"/>
            <p:cNvSpPr/>
            <p:nvPr/>
          </p:nvSpPr>
          <p:spPr>
            <a:xfrm>
              <a:off x="1452880" y="4838136"/>
              <a:ext cx="9525" cy="153528"/>
            </a:xfrm>
            <a:custGeom>
              <a:avLst/>
              <a:gdLst/>
              <a:ahLst/>
              <a:cxnLst/>
              <a:rect l="l" t="t" r="r" b="b"/>
              <a:pathLst>
                <a:path w="9525" h="153528">
                  <a:moveTo>
                    <a:pt x="0" y="0"/>
                  </a:moveTo>
                  <a:lnTo>
                    <a:pt x="0" y="153528"/>
                  </a:lnTo>
                </a:path>
              </a:pathLst>
            </a:custGeom>
            <a:noFill/>
            <a:ln w="28575" cap="rnd">
              <a:solidFill>
                <a:srgbClr val="34D3C0"/>
              </a:solidFill>
            </a:ln>
          </p:spPr>
        </p:sp>
        <p:sp>
          <p:nvSpPr>
            <p:cNvPr id="25" name="Line 25"/>
            <p:cNvSpPr/>
            <p:nvPr/>
          </p:nvSpPr>
          <p:spPr>
            <a:xfrm>
              <a:off x="1597025" y="4881787"/>
              <a:ext cx="9525" cy="66226"/>
            </a:xfrm>
            <a:custGeom>
              <a:avLst/>
              <a:gdLst/>
              <a:ahLst/>
              <a:cxnLst/>
              <a:rect l="l" t="t" r="r" b="b"/>
              <a:pathLst>
                <a:path w="9525" h="66226">
                  <a:moveTo>
                    <a:pt x="0" y="0"/>
                  </a:moveTo>
                  <a:lnTo>
                    <a:pt x="0" y="66226"/>
                  </a:lnTo>
                </a:path>
              </a:pathLst>
            </a:custGeom>
            <a:noFill/>
            <a:ln w="28575" cap="rnd">
              <a:solidFill>
                <a:srgbClr val="34D3C0"/>
              </a:solidFill>
            </a:ln>
          </p:spPr>
        </p:sp>
        <p:sp>
          <p:nvSpPr>
            <p:cNvPr id="26" name="Line 26"/>
            <p:cNvSpPr/>
            <p:nvPr/>
          </p:nvSpPr>
          <p:spPr>
            <a:xfrm>
              <a:off x="1741170" y="4836312"/>
              <a:ext cx="9525" cy="157176"/>
            </a:xfrm>
            <a:custGeom>
              <a:avLst/>
              <a:gdLst/>
              <a:ahLst/>
              <a:cxnLst/>
              <a:rect l="l" t="t" r="r" b="b"/>
              <a:pathLst>
                <a:path w="9525" h="157176">
                  <a:moveTo>
                    <a:pt x="0" y="0"/>
                  </a:moveTo>
                  <a:lnTo>
                    <a:pt x="0" y="157176"/>
                  </a:lnTo>
                </a:path>
              </a:pathLst>
            </a:custGeom>
            <a:noFill/>
            <a:ln w="28575" cap="rnd">
              <a:solidFill>
                <a:srgbClr val="34D3C0"/>
              </a:solidFill>
            </a:ln>
          </p:spPr>
        </p:sp>
        <p:sp>
          <p:nvSpPr>
            <p:cNvPr id="27" name="Line 27"/>
            <p:cNvSpPr/>
            <p:nvPr/>
          </p:nvSpPr>
          <p:spPr>
            <a:xfrm>
              <a:off x="1885315" y="4803958"/>
              <a:ext cx="9525" cy="221884"/>
            </a:xfrm>
            <a:custGeom>
              <a:avLst/>
              <a:gdLst/>
              <a:ahLst/>
              <a:cxnLst/>
              <a:rect l="l" t="t" r="r" b="b"/>
              <a:pathLst>
                <a:path w="9525" h="221884">
                  <a:moveTo>
                    <a:pt x="0" y="0"/>
                  </a:moveTo>
                  <a:lnTo>
                    <a:pt x="0" y="221884"/>
                  </a:lnTo>
                </a:path>
              </a:pathLst>
            </a:custGeom>
            <a:noFill/>
            <a:ln w="28575" cap="rnd">
              <a:solidFill>
                <a:srgbClr val="34D3C0"/>
              </a:solidFill>
            </a:ln>
          </p:spPr>
        </p:sp>
        <p:sp>
          <p:nvSpPr>
            <p:cNvPr id="28" name="Line 28"/>
            <p:cNvSpPr/>
            <p:nvPr/>
          </p:nvSpPr>
          <p:spPr>
            <a:xfrm>
              <a:off x="2029460" y="4811202"/>
              <a:ext cx="9525" cy="207395"/>
            </a:xfrm>
            <a:custGeom>
              <a:avLst/>
              <a:gdLst/>
              <a:ahLst/>
              <a:cxnLst/>
              <a:rect l="l" t="t" r="r" b="b"/>
              <a:pathLst>
                <a:path w="9525" h="207395">
                  <a:moveTo>
                    <a:pt x="0" y="0"/>
                  </a:moveTo>
                  <a:lnTo>
                    <a:pt x="0" y="207395"/>
                  </a:lnTo>
                </a:path>
              </a:pathLst>
            </a:custGeom>
            <a:noFill/>
            <a:ln w="28575" cap="rnd">
              <a:solidFill>
                <a:srgbClr val="34D3C0"/>
              </a:solidFill>
            </a:ln>
          </p:spPr>
        </p:sp>
        <p:sp>
          <p:nvSpPr>
            <p:cNvPr id="29" name="Line 29"/>
            <p:cNvSpPr/>
            <p:nvPr/>
          </p:nvSpPr>
          <p:spPr>
            <a:xfrm>
              <a:off x="2173605" y="4833862"/>
              <a:ext cx="9525" cy="162077"/>
            </a:xfrm>
            <a:custGeom>
              <a:avLst/>
              <a:gdLst/>
              <a:ahLst/>
              <a:cxnLst/>
              <a:rect l="l" t="t" r="r" b="b"/>
              <a:pathLst>
                <a:path w="9525" h="162077">
                  <a:moveTo>
                    <a:pt x="0" y="0"/>
                  </a:moveTo>
                  <a:lnTo>
                    <a:pt x="0" y="162077"/>
                  </a:lnTo>
                </a:path>
              </a:pathLst>
            </a:custGeom>
            <a:noFill/>
            <a:ln w="28575" cap="rnd">
              <a:solidFill>
                <a:srgbClr val="34D3C0"/>
              </a:solidFill>
            </a:ln>
          </p:spPr>
        </p:sp>
        <p:sp>
          <p:nvSpPr>
            <p:cNvPr id="30" name="Line 30"/>
            <p:cNvSpPr/>
            <p:nvPr/>
          </p:nvSpPr>
          <p:spPr>
            <a:xfrm>
              <a:off x="2317750" y="4877822"/>
              <a:ext cx="9525" cy="74156"/>
            </a:xfrm>
            <a:custGeom>
              <a:avLst/>
              <a:gdLst/>
              <a:ahLst/>
              <a:cxnLst/>
              <a:rect l="l" t="t" r="r" b="b"/>
              <a:pathLst>
                <a:path w="9525" h="74156">
                  <a:moveTo>
                    <a:pt x="0" y="0"/>
                  </a:moveTo>
                  <a:lnTo>
                    <a:pt x="0" y="74156"/>
                  </a:lnTo>
                </a:path>
              </a:pathLst>
            </a:custGeom>
            <a:noFill/>
            <a:ln w="28575" cap="rnd">
              <a:solidFill>
                <a:srgbClr val="34D3C0"/>
              </a:solidFill>
            </a:ln>
          </p:spPr>
        </p:sp>
        <p:sp>
          <p:nvSpPr>
            <p:cNvPr id="31" name="Line 31"/>
            <p:cNvSpPr/>
            <p:nvPr/>
          </p:nvSpPr>
          <p:spPr>
            <a:xfrm>
              <a:off x="2461895" y="4830380"/>
              <a:ext cx="9525" cy="169040"/>
            </a:xfrm>
            <a:custGeom>
              <a:avLst/>
              <a:gdLst/>
              <a:ahLst/>
              <a:cxnLst/>
              <a:rect l="l" t="t" r="r" b="b"/>
              <a:pathLst>
                <a:path w="9525" h="169040">
                  <a:moveTo>
                    <a:pt x="0" y="0"/>
                  </a:moveTo>
                  <a:lnTo>
                    <a:pt x="0" y="169040"/>
                  </a:lnTo>
                </a:path>
              </a:pathLst>
            </a:custGeom>
            <a:noFill/>
            <a:ln w="28575" cap="rnd">
              <a:solidFill>
                <a:srgbClr val="34D3C0"/>
              </a:solidFill>
            </a:ln>
          </p:spPr>
        </p:sp>
        <p:sp>
          <p:nvSpPr>
            <p:cNvPr id="32" name="Line 32"/>
            <p:cNvSpPr/>
            <p:nvPr/>
          </p:nvSpPr>
          <p:spPr>
            <a:xfrm>
              <a:off x="2606040" y="4806406"/>
              <a:ext cx="9525" cy="216988"/>
            </a:xfrm>
            <a:custGeom>
              <a:avLst/>
              <a:gdLst/>
              <a:ahLst/>
              <a:cxnLst/>
              <a:rect l="l" t="t" r="r" b="b"/>
              <a:pathLst>
                <a:path w="9525" h="216988">
                  <a:moveTo>
                    <a:pt x="0" y="0"/>
                  </a:moveTo>
                  <a:lnTo>
                    <a:pt x="0" y="216988"/>
                  </a:lnTo>
                </a:path>
              </a:pathLst>
            </a:custGeom>
            <a:noFill/>
            <a:ln w="28575" cap="rnd">
              <a:solidFill>
                <a:srgbClr val="34D3C0"/>
              </a:solidFill>
            </a:ln>
          </p:spPr>
        </p:sp>
        <p:sp>
          <p:nvSpPr>
            <p:cNvPr id="33" name="Line 33"/>
            <p:cNvSpPr/>
            <p:nvPr/>
          </p:nvSpPr>
          <p:spPr>
            <a:xfrm>
              <a:off x="2750185" y="4807387"/>
              <a:ext cx="9525" cy="215026"/>
            </a:xfrm>
            <a:custGeom>
              <a:avLst/>
              <a:gdLst/>
              <a:ahLst/>
              <a:cxnLst/>
              <a:rect l="l" t="t" r="r" b="b"/>
              <a:pathLst>
                <a:path w="9525" h="215026">
                  <a:moveTo>
                    <a:pt x="0" y="0"/>
                  </a:moveTo>
                  <a:lnTo>
                    <a:pt x="0" y="215026"/>
                  </a:lnTo>
                </a:path>
              </a:pathLst>
            </a:custGeom>
            <a:noFill/>
            <a:ln w="28575" cap="rnd">
              <a:solidFill>
                <a:srgbClr val="34D3C0"/>
              </a:solidFill>
            </a:ln>
          </p:spPr>
        </p:sp>
        <p:sp>
          <p:nvSpPr>
            <p:cNvPr id="34" name="Line 34"/>
            <p:cNvSpPr/>
            <p:nvPr/>
          </p:nvSpPr>
          <p:spPr>
            <a:xfrm>
              <a:off x="2894330" y="4834475"/>
              <a:ext cx="9525" cy="160849"/>
            </a:xfrm>
            <a:custGeom>
              <a:avLst/>
              <a:gdLst/>
              <a:ahLst/>
              <a:cxnLst/>
              <a:rect l="l" t="t" r="r" b="b"/>
              <a:pathLst>
                <a:path w="9525" h="160849">
                  <a:moveTo>
                    <a:pt x="0" y="0"/>
                  </a:moveTo>
                  <a:lnTo>
                    <a:pt x="0" y="160849"/>
                  </a:lnTo>
                </a:path>
              </a:pathLst>
            </a:custGeom>
            <a:noFill/>
            <a:ln w="28575" cap="rnd">
              <a:solidFill>
                <a:srgbClr val="34D3C0"/>
              </a:solidFill>
            </a:ln>
          </p:spPr>
        </p:sp>
        <p:sp>
          <p:nvSpPr>
            <p:cNvPr id="35" name="Line 35"/>
            <p:cNvSpPr/>
            <p:nvPr/>
          </p:nvSpPr>
          <p:spPr>
            <a:xfrm>
              <a:off x="3038475" y="4878931"/>
              <a:ext cx="9525" cy="71938"/>
            </a:xfrm>
            <a:custGeom>
              <a:avLst/>
              <a:gdLst/>
              <a:ahLst/>
              <a:cxnLst/>
              <a:rect l="l" t="t" r="r" b="b"/>
              <a:pathLst>
                <a:path w="9525" h="71938">
                  <a:moveTo>
                    <a:pt x="0" y="0"/>
                  </a:moveTo>
                  <a:lnTo>
                    <a:pt x="0" y="71938"/>
                  </a:lnTo>
                </a:path>
              </a:pathLst>
            </a:custGeom>
            <a:noFill/>
            <a:ln w="28575" cap="rnd">
              <a:solidFill>
                <a:srgbClr val="34D3C0"/>
              </a:solidFill>
            </a:ln>
          </p:spPr>
        </p:sp>
        <p:sp>
          <p:nvSpPr>
            <p:cNvPr id="36" name="TextBox 36"/>
            <p:cNvSpPr txBox="1"/>
            <p:nvPr/>
          </p:nvSpPr>
          <p:spPr>
            <a:xfrm>
              <a:off x="871538" y="5050393"/>
              <a:ext cx="921239"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genuine: stable</a:t>
              </a:r>
            </a:p>
          </p:txBody>
        </p:sp>
        <p:sp>
          <p:nvSpPr>
            <p:cNvPr id="37" name="Line 37"/>
            <p:cNvSpPr/>
            <p:nvPr/>
          </p:nvSpPr>
          <p:spPr>
            <a:xfrm>
              <a:off x="3429000" y="4811529"/>
              <a:ext cx="9525" cy="206743"/>
            </a:xfrm>
            <a:custGeom>
              <a:avLst/>
              <a:gdLst/>
              <a:ahLst/>
              <a:cxnLst/>
              <a:rect l="l" t="t" r="r" b="b"/>
              <a:pathLst>
                <a:path w="9525" h="206743">
                  <a:moveTo>
                    <a:pt x="0" y="0"/>
                  </a:moveTo>
                  <a:lnTo>
                    <a:pt x="0" y="206743"/>
                  </a:lnTo>
                </a:path>
              </a:pathLst>
            </a:custGeom>
            <a:noFill/>
            <a:ln w="28575" cap="rnd">
              <a:solidFill>
                <a:srgbClr val="F2685C"/>
              </a:solidFill>
            </a:ln>
          </p:spPr>
        </p:sp>
        <p:sp>
          <p:nvSpPr>
            <p:cNvPr id="38" name="Line 38"/>
            <p:cNvSpPr/>
            <p:nvPr/>
          </p:nvSpPr>
          <p:spPr>
            <a:xfrm>
              <a:off x="3573145" y="4836628"/>
              <a:ext cx="9525" cy="156545"/>
            </a:xfrm>
            <a:custGeom>
              <a:avLst/>
              <a:gdLst/>
              <a:ahLst/>
              <a:cxnLst/>
              <a:rect l="l" t="t" r="r" b="b"/>
              <a:pathLst>
                <a:path w="9525" h="156545">
                  <a:moveTo>
                    <a:pt x="0" y="0"/>
                  </a:moveTo>
                  <a:lnTo>
                    <a:pt x="0" y="156545"/>
                  </a:lnTo>
                </a:path>
              </a:pathLst>
            </a:custGeom>
            <a:noFill/>
            <a:ln w="28575" cap="rnd">
              <a:solidFill>
                <a:srgbClr val="F2685C"/>
              </a:solidFill>
            </a:ln>
          </p:spPr>
        </p:sp>
        <p:sp>
          <p:nvSpPr>
            <p:cNvPr id="39" name="Line 39"/>
            <p:cNvSpPr/>
            <p:nvPr/>
          </p:nvSpPr>
          <p:spPr>
            <a:xfrm>
              <a:off x="3717290" y="4869208"/>
              <a:ext cx="9525" cy="91384"/>
            </a:xfrm>
            <a:custGeom>
              <a:avLst/>
              <a:gdLst/>
              <a:ahLst/>
              <a:cxnLst/>
              <a:rect l="l" t="t" r="r" b="b"/>
              <a:pathLst>
                <a:path w="9525" h="91384">
                  <a:moveTo>
                    <a:pt x="0" y="0"/>
                  </a:moveTo>
                  <a:lnTo>
                    <a:pt x="0" y="91384"/>
                  </a:lnTo>
                </a:path>
              </a:pathLst>
            </a:custGeom>
            <a:noFill/>
            <a:ln w="28575" cap="rnd">
              <a:solidFill>
                <a:srgbClr val="F2685C"/>
              </a:solidFill>
            </a:ln>
          </p:spPr>
        </p:sp>
        <p:sp>
          <p:nvSpPr>
            <p:cNvPr id="40" name="Line 40"/>
            <p:cNvSpPr/>
            <p:nvPr/>
          </p:nvSpPr>
          <p:spPr>
            <a:xfrm>
              <a:off x="3861435" y="4800600"/>
              <a:ext cx="9525" cy="228600"/>
            </a:xfrm>
            <a:custGeom>
              <a:avLst/>
              <a:gdLst/>
              <a:ahLst/>
              <a:cxnLst/>
              <a:rect l="l" t="t" r="r" b="b"/>
              <a:pathLst>
                <a:path w="9525" h="228600">
                  <a:moveTo>
                    <a:pt x="0" y="0"/>
                  </a:moveTo>
                  <a:lnTo>
                    <a:pt x="0" y="228600"/>
                  </a:lnTo>
                </a:path>
              </a:pathLst>
            </a:custGeom>
            <a:noFill/>
            <a:ln w="28575" cap="rnd">
              <a:solidFill>
                <a:srgbClr val="F2685C"/>
              </a:solidFill>
            </a:ln>
          </p:spPr>
        </p:sp>
        <p:sp>
          <p:nvSpPr>
            <p:cNvPr id="41" name="Line 41"/>
            <p:cNvSpPr/>
            <p:nvPr/>
          </p:nvSpPr>
          <p:spPr>
            <a:xfrm>
              <a:off x="4005580" y="4866241"/>
              <a:ext cx="9525" cy="97318"/>
            </a:xfrm>
            <a:custGeom>
              <a:avLst/>
              <a:gdLst/>
              <a:ahLst/>
              <a:cxnLst/>
              <a:rect l="l" t="t" r="r" b="b"/>
              <a:pathLst>
                <a:path w="9525" h="97318">
                  <a:moveTo>
                    <a:pt x="0" y="0"/>
                  </a:moveTo>
                  <a:lnTo>
                    <a:pt x="0" y="97318"/>
                  </a:lnTo>
                </a:path>
              </a:pathLst>
            </a:custGeom>
            <a:noFill/>
            <a:ln w="28575" cap="rnd">
              <a:solidFill>
                <a:srgbClr val="F2685C"/>
              </a:solidFill>
            </a:ln>
          </p:spPr>
        </p:sp>
        <p:sp>
          <p:nvSpPr>
            <p:cNvPr id="42" name="Line 42"/>
            <p:cNvSpPr/>
            <p:nvPr/>
          </p:nvSpPr>
          <p:spPr>
            <a:xfrm>
              <a:off x="4149725" y="4862935"/>
              <a:ext cx="9525" cy="103929"/>
            </a:xfrm>
            <a:custGeom>
              <a:avLst/>
              <a:gdLst/>
              <a:ahLst/>
              <a:cxnLst/>
              <a:rect l="l" t="t" r="r" b="b"/>
              <a:pathLst>
                <a:path w="9525" h="103929">
                  <a:moveTo>
                    <a:pt x="0" y="0"/>
                  </a:moveTo>
                  <a:lnTo>
                    <a:pt x="0" y="103929"/>
                  </a:lnTo>
                </a:path>
              </a:pathLst>
            </a:custGeom>
            <a:noFill/>
            <a:ln w="28575" cap="rnd">
              <a:solidFill>
                <a:srgbClr val="F2685C"/>
              </a:solidFill>
            </a:ln>
          </p:spPr>
        </p:sp>
        <p:sp>
          <p:nvSpPr>
            <p:cNvPr id="43" name="Line 43"/>
            <p:cNvSpPr/>
            <p:nvPr/>
          </p:nvSpPr>
          <p:spPr>
            <a:xfrm>
              <a:off x="4293870" y="4866713"/>
              <a:ext cx="9525" cy="96373"/>
            </a:xfrm>
            <a:custGeom>
              <a:avLst/>
              <a:gdLst/>
              <a:ahLst/>
              <a:cxnLst/>
              <a:rect l="l" t="t" r="r" b="b"/>
              <a:pathLst>
                <a:path w="9525" h="96373">
                  <a:moveTo>
                    <a:pt x="0" y="0"/>
                  </a:moveTo>
                  <a:lnTo>
                    <a:pt x="0" y="96373"/>
                  </a:lnTo>
                </a:path>
              </a:pathLst>
            </a:custGeom>
            <a:noFill/>
            <a:ln w="28575" cap="rnd">
              <a:solidFill>
                <a:srgbClr val="F2685C"/>
              </a:solidFill>
            </a:ln>
          </p:spPr>
        </p:sp>
        <p:sp>
          <p:nvSpPr>
            <p:cNvPr id="44" name="Line 44"/>
            <p:cNvSpPr/>
            <p:nvPr/>
          </p:nvSpPr>
          <p:spPr>
            <a:xfrm>
              <a:off x="4438015" y="4800600"/>
              <a:ext cx="9525" cy="228600"/>
            </a:xfrm>
            <a:custGeom>
              <a:avLst/>
              <a:gdLst/>
              <a:ahLst/>
              <a:cxnLst/>
              <a:rect l="l" t="t" r="r" b="b"/>
              <a:pathLst>
                <a:path w="9525" h="228600">
                  <a:moveTo>
                    <a:pt x="0" y="0"/>
                  </a:moveTo>
                  <a:lnTo>
                    <a:pt x="0" y="228600"/>
                  </a:lnTo>
                </a:path>
              </a:pathLst>
            </a:custGeom>
            <a:noFill/>
            <a:ln w="28575" cap="rnd">
              <a:solidFill>
                <a:srgbClr val="F2685C"/>
              </a:solidFill>
            </a:ln>
          </p:spPr>
        </p:sp>
        <p:sp>
          <p:nvSpPr>
            <p:cNvPr id="45" name="Line 45"/>
            <p:cNvSpPr/>
            <p:nvPr/>
          </p:nvSpPr>
          <p:spPr>
            <a:xfrm>
              <a:off x="4582160" y="4842824"/>
              <a:ext cx="9525" cy="144153"/>
            </a:xfrm>
            <a:custGeom>
              <a:avLst/>
              <a:gdLst/>
              <a:ahLst/>
              <a:cxnLst/>
              <a:rect l="l" t="t" r="r" b="b"/>
              <a:pathLst>
                <a:path w="9525" h="144153">
                  <a:moveTo>
                    <a:pt x="0" y="0"/>
                  </a:moveTo>
                  <a:lnTo>
                    <a:pt x="0" y="144153"/>
                  </a:lnTo>
                </a:path>
              </a:pathLst>
            </a:custGeom>
            <a:noFill/>
            <a:ln w="28575" cap="rnd">
              <a:solidFill>
                <a:srgbClr val="F2685C"/>
              </a:solidFill>
            </a:ln>
          </p:spPr>
        </p:sp>
        <p:sp>
          <p:nvSpPr>
            <p:cNvPr id="46" name="Line 46"/>
            <p:cNvSpPr/>
            <p:nvPr/>
          </p:nvSpPr>
          <p:spPr>
            <a:xfrm>
              <a:off x="4726305" y="4822606"/>
              <a:ext cx="9525" cy="184588"/>
            </a:xfrm>
            <a:custGeom>
              <a:avLst/>
              <a:gdLst/>
              <a:ahLst/>
              <a:cxnLst/>
              <a:rect l="l" t="t" r="r" b="b"/>
              <a:pathLst>
                <a:path w="9525" h="184588">
                  <a:moveTo>
                    <a:pt x="0" y="0"/>
                  </a:moveTo>
                  <a:lnTo>
                    <a:pt x="0" y="184588"/>
                  </a:lnTo>
                </a:path>
              </a:pathLst>
            </a:custGeom>
            <a:noFill/>
            <a:ln w="28575" cap="rnd">
              <a:solidFill>
                <a:srgbClr val="F2685C"/>
              </a:solidFill>
            </a:ln>
          </p:spPr>
        </p:sp>
        <p:sp>
          <p:nvSpPr>
            <p:cNvPr id="47" name="Line 47"/>
            <p:cNvSpPr/>
            <p:nvPr/>
          </p:nvSpPr>
          <p:spPr>
            <a:xfrm>
              <a:off x="4870450" y="4800600"/>
              <a:ext cx="9525" cy="228600"/>
            </a:xfrm>
            <a:custGeom>
              <a:avLst/>
              <a:gdLst/>
              <a:ahLst/>
              <a:cxnLst/>
              <a:rect l="l" t="t" r="r" b="b"/>
              <a:pathLst>
                <a:path w="9525" h="228600">
                  <a:moveTo>
                    <a:pt x="0" y="0"/>
                  </a:moveTo>
                  <a:lnTo>
                    <a:pt x="0" y="228600"/>
                  </a:lnTo>
                </a:path>
              </a:pathLst>
            </a:custGeom>
            <a:noFill/>
            <a:ln w="28575" cap="rnd">
              <a:solidFill>
                <a:srgbClr val="F2685C"/>
              </a:solidFill>
            </a:ln>
          </p:spPr>
        </p:sp>
        <p:sp>
          <p:nvSpPr>
            <p:cNvPr id="48" name="Line 48"/>
            <p:cNvSpPr/>
            <p:nvPr/>
          </p:nvSpPr>
          <p:spPr>
            <a:xfrm>
              <a:off x="5014595" y="4800600"/>
              <a:ext cx="9525" cy="228600"/>
            </a:xfrm>
            <a:custGeom>
              <a:avLst/>
              <a:gdLst/>
              <a:ahLst/>
              <a:cxnLst/>
              <a:rect l="l" t="t" r="r" b="b"/>
              <a:pathLst>
                <a:path w="9525" h="228600">
                  <a:moveTo>
                    <a:pt x="0" y="0"/>
                  </a:moveTo>
                  <a:lnTo>
                    <a:pt x="0" y="228600"/>
                  </a:lnTo>
                </a:path>
              </a:pathLst>
            </a:custGeom>
            <a:noFill/>
            <a:ln w="28575" cap="rnd">
              <a:solidFill>
                <a:srgbClr val="F2685C"/>
              </a:solidFill>
            </a:ln>
          </p:spPr>
        </p:sp>
        <p:sp>
          <p:nvSpPr>
            <p:cNvPr id="49" name="Line 49"/>
            <p:cNvSpPr/>
            <p:nvPr/>
          </p:nvSpPr>
          <p:spPr>
            <a:xfrm>
              <a:off x="5158740" y="4836631"/>
              <a:ext cx="9525" cy="156537"/>
            </a:xfrm>
            <a:custGeom>
              <a:avLst/>
              <a:gdLst/>
              <a:ahLst/>
              <a:cxnLst/>
              <a:rect l="l" t="t" r="r" b="b"/>
              <a:pathLst>
                <a:path w="9525" h="156537">
                  <a:moveTo>
                    <a:pt x="0" y="0"/>
                  </a:moveTo>
                  <a:lnTo>
                    <a:pt x="0" y="156537"/>
                  </a:lnTo>
                </a:path>
              </a:pathLst>
            </a:custGeom>
            <a:noFill/>
            <a:ln w="28575" cap="rnd">
              <a:solidFill>
                <a:srgbClr val="F2685C"/>
              </a:solidFill>
            </a:ln>
          </p:spPr>
        </p:sp>
        <p:sp>
          <p:nvSpPr>
            <p:cNvPr id="50" name="Line 50"/>
            <p:cNvSpPr/>
            <p:nvPr/>
          </p:nvSpPr>
          <p:spPr>
            <a:xfrm>
              <a:off x="5302885" y="4854288"/>
              <a:ext cx="9525" cy="121224"/>
            </a:xfrm>
            <a:custGeom>
              <a:avLst/>
              <a:gdLst/>
              <a:ahLst/>
              <a:cxnLst/>
              <a:rect l="l" t="t" r="r" b="b"/>
              <a:pathLst>
                <a:path w="9525" h="121224">
                  <a:moveTo>
                    <a:pt x="0" y="0"/>
                  </a:moveTo>
                  <a:lnTo>
                    <a:pt x="0" y="121224"/>
                  </a:lnTo>
                </a:path>
              </a:pathLst>
            </a:custGeom>
            <a:noFill/>
            <a:ln w="28575" cap="rnd">
              <a:solidFill>
                <a:srgbClr val="F2685C"/>
              </a:solidFill>
            </a:ln>
          </p:spPr>
        </p:sp>
        <p:sp>
          <p:nvSpPr>
            <p:cNvPr id="51" name="Line 51"/>
            <p:cNvSpPr/>
            <p:nvPr/>
          </p:nvSpPr>
          <p:spPr>
            <a:xfrm>
              <a:off x="5447030" y="4833656"/>
              <a:ext cx="9525" cy="162487"/>
            </a:xfrm>
            <a:custGeom>
              <a:avLst/>
              <a:gdLst/>
              <a:ahLst/>
              <a:cxnLst/>
              <a:rect l="l" t="t" r="r" b="b"/>
              <a:pathLst>
                <a:path w="9525" h="162487">
                  <a:moveTo>
                    <a:pt x="0" y="0"/>
                  </a:moveTo>
                  <a:lnTo>
                    <a:pt x="0" y="162487"/>
                  </a:lnTo>
                </a:path>
              </a:pathLst>
            </a:custGeom>
            <a:noFill/>
            <a:ln w="28575" cap="rnd">
              <a:solidFill>
                <a:srgbClr val="F2685C"/>
              </a:solidFill>
            </a:ln>
          </p:spPr>
        </p:sp>
        <p:sp>
          <p:nvSpPr>
            <p:cNvPr id="52" name="Line 52"/>
            <p:cNvSpPr/>
            <p:nvPr/>
          </p:nvSpPr>
          <p:spPr>
            <a:xfrm>
              <a:off x="5591175" y="4811529"/>
              <a:ext cx="9525" cy="206743"/>
            </a:xfrm>
            <a:custGeom>
              <a:avLst/>
              <a:gdLst/>
              <a:ahLst/>
              <a:cxnLst/>
              <a:rect l="l" t="t" r="r" b="b"/>
              <a:pathLst>
                <a:path w="9525" h="206743">
                  <a:moveTo>
                    <a:pt x="0" y="0"/>
                  </a:moveTo>
                  <a:lnTo>
                    <a:pt x="0" y="206743"/>
                  </a:lnTo>
                </a:path>
              </a:pathLst>
            </a:custGeom>
            <a:noFill/>
            <a:ln w="28575" cap="rnd">
              <a:solidFill>
                <a:srgbClr val="F2685C"/>
              </a:solidFill>
            </a:ln>
          </p:spPr>
        </p:sp>
        <p:sp>
          <p:nvSpPr>
            <p:cNvPr id="53" name="TextBox 53"/>
            <p:cNvSpPr txBox="1"/>
            <p:nvPr/>
          </p:nvSpPr>
          <p:spPr>
            <a:xfrm>
              <a:off x="3424238" y="5050393"/>
              <a:ext cx="751052"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fake: varies</a:t>
              </a:r>
            </a:p>
          </p:txBody>
        </p:sp>
      </p:grpSp>
      <p:grpSp>
        <p:nvGrpSpPr>
          <p:cNvPr id="63" name="Group 63"/>
          <p:cNvGrpSpPr/>
          <p:nvPr/>
        </p:nvGrpSpPr>
        <p:grpSpPr>
          <a:xfrm>
            <a:off x="6172200" y="1504950"/>
            <a:ext cx="5410200" cy="1828800"/>
            <a:chOff x="6172200" y="1504950"/>
            <a:chExt cx="5410200" cy="1828800"/>
          </a:xfrm>
        </p:grpSpPr>
        <p:sp>
          <p:nvSpPr>
            <p:cNvPr id="55" name="Rectangle 55"/>
            <p:cNvSpPr/>
            <p:nvPr/>
          </p:nvSpPr>
          <p:spPr>
            <a:xfrm>
              <a:off x="6172200" y="1504950"/>
              <a:ext cx="5410200" cy="1828800"/>
            </a:xfrm>
            <a:prstGeom prst="roundRect">
              <a:avLst>
                <a:gd name="adj" fmla="val 7292"/>
              </a:avLst>
            </a:prstGeom>
            <a:solidFill>
              <a:schemeClr val="accent5"/>
            </a:solidFill>
            <a:ln w="14288">
              <a:solidFill>
                <a:srgbClr val="26455F"/>
              </a:solidFill>
            </a:ln>
          </p:spPr>
        </p:sp>
        <p:sp>
          <p:nvSpPr>
            <p:cNvPr id="56" name="Rectangle 56"/>
            <p:cNvSpPr/>
            <p:nvPr/>
          </p:nvSpPr>
          <p:spPr>
            <a:xfrm>
              <a:off x="6172200" y="1504950"/>
              <a:ext cx="57150" cy="1828800"/>
            </a:xfrm>
            <a:prstGeom prst="roundRect">
              <a:avLst>
                <a:gd name="adj" fmla="val 50000"/>
              </a:avLst>
            </a:prstGeom>
            <a:solidFill>
              <a:srgbClr val="F2C14E"/>
            </a:solidFill>
            <a:ln>
              <a:noFill/>
            </a:ln>
          </p:spPr>
        </p:sp>
        <p:sp>
          <p:nvSpPr>
            <p:cNvPr id="57" name="TextBox 57"/>
            <p:cNvSpPr txBox="1"/>
            <p:nvPr/>
          </p:nvSpPr>
          <p:spPr>
            <a:xfrm>
              <a:off x="6432614" y="1733312"/>
              <a:ext cx="2647425"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Let the update direction adapt</a:t>
              </a:r>
            </a:p>
          </p:txBody>
        </p:sp>
        <p:sp>
          <p:nvSpPr>
            <p:cNvPr id="58" name="TextBox 58"/>
            <p:cNvSpPr txBox="1"/>
            <p:nvPr/>
          </p:nvSpPr>
          <p:spPr>
            <a:xfrm>
              <a:off x="6433566" y="2039302"/>
              <a:ext cx="364098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That regularity is an opportunity: the direction of a</a:t>
              </a:r>
            </a:p>
          </p:txBody>
        </p:sp>
        <p:sp>
          <p:nvSpPr>
            <p:cNvPr id="59" name="TextBox 59"/>
            <p:cNvSpPr txBox="1"/>
            <p:nvPr/>
          </p:nvSpPr>
          <p:spPr>
            <a:xfrm>
              <a:off x="6433566" y="2239328"/>
              <a:ext cx="391195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 update should adapt to how genuine-heavy versus</a:t>
              </a:r>
            </a:p>
          </p:txBody>
        </p:sp>
        <p:sp>
          <p:nvSpPr>
            <p:cNvPr id="60" name="TextBox 60"/>
            <p:cNvSpPr txBox="1"/>
            <p:nvPr/>
          </p:nvSpPr>
          <p:spPr>
            <a:xfrm>
              <a:off x="6433566" y="2439352"/>
              <a:ext cx="18128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fake-heavy each batch is.</a:t>
              </a:r>
            </a:p>
          </p:txBody>
        </p:sp>
        <p:sp>
          <p:nvSpPr>
            <p:cNvPr id="61" name="Rectangle 61"/>
            <p:cNvSpPr/>
            <p:nvPr/>
          </p:nvSpPr>
          <p:spPr>
            <a:xfrm>
              <a:off x="6438900" y="2857500"/>
              <a:ext cx="4876800" cy="419100"/>
            </a:xfrm>
            <a:prstGeom prst="roundRect">
              <a:avLst>
                <a:gd name="adj" fmla="val 18182"/>
              </a:avLst>
            </a:prstGeom>
            <a:solidFill>
              <a:schemeClr val="accent6"/>
            </a:solidFill>
            <a:ln w="14288">
              <a:solidFill>
                <a:srgbClr val="26455F"/>
              </a:solidFill>
            </a:ln>
          </p:spPr>
        </p:sp>
        <p:sp>
          <p:nvSpPr>
            <p:cNvPr id="62" name="TextBox 62"/>
            <p:cNvSpPr txBox="1"/>
            <p:nvPr/>
          </p:nvSpPr>
          <p:spPr>
            <a:xfrm>
              <a:off x="7619398" y="3014901"/>
              <a:ext cx="2515804"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beta = #genuine / #fake in the batch</a:t>
              </a:r>
            </a:p>
          </p:txBody>
        </p:sp>
      </p:grpSp>
      <p:grpSp>
        <p:nvGrpSpPr>
          <p:cNvPr id="71" name="Group 71"/>
          <p:cNvGrpSpPr/>
          <p:nvPr/>
        </p:nvGrpSpPr>
        <p:grpSpPr>
          <a:xfrm>
            <a:off x="6172200" y="3486150"/>
            <a:ext cx="5410200" cy="1752600"/>
            <a:chOff x="6172200" y="3486150"/>
            <a:chExt cx="5410200" cy="1752600"/>
          </a:xfrm>
        </p:grpSpPr>
        <p:sp>
          <p:nvSpPr>
            <p:cNvPr id="64" name="Rectangle 64"/>
            <p:cNvSpPr/>
            <p:nvPr/>
          </p:nvSpPr>
          <p:spPr>
            <a:xfrm>
              <a:off x="6172200" y="3486150"/>
              <a:ext cx="5410200" cy="1752600"/>
            </a:xfrm>
            <a:prstGeom prst="roundRect">
              <a:avLst>
                <a:gd name="adj" fmla="val 7609"/>
              </a:avLst>
            </a:prstGeom>
            <a:solidFill>
              <a:srgbClr val="2A2417"/>
            </a:solidFill>
            <a:ln w="14288">
              <a:solidFill>
                <a:srgbClr val="F2C14E"/>
              </a:solidFill>
            </a:ln>
          </p:spPr>
        </p:sp>
        <p:sp>
          <p:nvSpPr>
            <p:cNvPr id="65" name="Rectangle 65"/>
            <p:cNvSpPr/>
            <p:nvPr/>
          </p:nvSpPr>
          <p:spPr>
            <a:xfrm>
              <a:off x="6172200" y="3486150"/>
              <a:ext cx="57150" cy="1752600"/>
            </a:xfrm>
            <a:prstGeom prst="roundRect">
              <a:avLst>
                <a:gd name="adj" fmla="val 50000"/>
              </a:avLst>
            </a:prstGeom>
            <a:solidFill>
              <a:srgbClr val="F2C14E"/>
            </a:solidFill>
            <a:ln>
              <a:noFill/>
            </a:ln>
          </p:spPr>
        </p:sp>
        <p:sp>
          <p:nvSpPr>
            <p:cNvPr id="66" name="TextBox 66"/>
            <p:cNvSpPr txBox="1"/>
            <p:nvPr/>
          </p:nvSpPr>
          <p:spPr>
            <a:xfrm>
              <a:off x="6432804" y="3718560"/>
              <a:ext cx="2307970"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Some sets need a safeguard</a:t>
              </a:r>
            </a:p>
          </p:txBody>
        </p:sp>
        <p:sp>
          <p:nvSpPr>
            <p:cNvPr id="67" name="TextBox 67"/>
            <p:cNvSpPr txBox="1"/>
            <p:nvPr/>
          </p:nvSpPr>
          <p:spPr>
            <a:xfrm>
              <a:off x="6433566" y="4020502"/>
              <a:ext cx="353494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Some datasets record genuine audio under acoustic</a:t>
              </a:r>
            </a:p>
          </p:txBody>
        </p:sp>
        <p:sp>
          <p:nvSpPr>
            <p:cNvPr id="68" name="TextBox 68"/>
            <p:cNvSpPr txBox="1"/>
            <p:nvPr/>
          </p:nvSpPr>
          <p:spPr>
            <a:xfrm>
              <a:off x="6433566" y="4220528"/>
              <a:ext cx="359391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conditions so different that a naive rule backfires,</a:t>
              </a:r>
            </a:p>
          </p:txBody>
        </p:sp>
        <p:sp>
          <p:nvSpPr>
            <p:cNvPr id="69" name="TextBox 69"/>
            <p:cNvSpPr txBox="1"/>
            <p:nvPr/>
          </p:nvSpPr>
          <p:spPr>
            <a:xfrm>
              <a:off x="6433566" y="4420552"/>
              <a:ext cx="2194541"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motivating an extra safeguard.</a:t>
              </a:r>
            </a:p>
          </p:txBody>
        </p:sp>
        <p:sp>
          <p:nvSpPr>
            <p:cNvPr id="70" name="TextBox 70"/>
            <p:cNvSpPr txBox="1"/>
            <p:nvPr/>
          </p:nvSpPr>
          <p:spPr>
            <a:xfrm>
              <a:off x="6433756" y="4862751"/>
              <a:ext cx="3308147" cy="198025"/>
            </a:xfrm>
            <a:prstGeom prst="rect">
              <a:avLst/>
            </a:prstGeom>
            <a:noFill/>
            <a:ln>
              <a:noFill/>
            </a:ln>
          </p:spPr>
          <p:txBody>
            <a:bodyPr wrap="none" lIns="0" tIns="0" rIns="0" bIns="0" anchor="t" anchorCtr="0">
              <a:spAutoFit/>
            </a:bodyPr>
            <a:lstStyle/>
            <a:p>
              <a:pPr algn="l"/>
              <a:r>
                <a:rPr lang="en-US" sz="1010" b="1" dirty="0">
                  <a:solidFill>
                    <a:srgbClr val="F2C14E"/>
                  </a:solidFill>
                  <a:latin typeface="Consolas"/>
                  <a:ea typeface="Consolas"/>
                  <a:cs typeface="Consolas"/>
                </a:rPr>
                <a:t>very different conditions -&gt; add regularization</a:t>
              </a:r>
            </a:p>
          </p:txBody>
        </p:sp>
      </p:grpSp>
      <p:sp>
        <p:nvSpPr>
          <p:cNvPr id="72" name="cue_s03_c1_existing_weight_modification_methods" title="cue_s03_c1_existing_weight_modification_methods" descr="cue_s03_c1_existing_weight_modification_methods Existing weight-modification methods like OWM treat every input the same when constraining updates."/>
          <p:cNvSpPr/>
          <p:nvPr/>
        </p:nvSpPr>
        <p:spPr>
          <a:xfrm>
            <a:off x="609600" y="1504645"/>
            <a:ext cx="533400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ue_s03_c2_but_fake_audio_detection_genuine" title="cue_s03_c2_but_fake_audio_detection_genuine" descr="cue_s03_c2_but_fake_audio_detection_genuine But in fake audio detection, genuine speech tends to look similar from one dataset to the next, while the fake speech varies."/>
          <p:cNvSpPr/>
          <p:nvPr/>
        </p:nvSpPr>
        <p:spPr>
          <a:xfrm>
            <a:off x="609600" y="3485921"/>
            <a:ext cx="533400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cue_s03_c3_regularity_opportunity_direction_wei" title="cue_s03_c3_regularity_opportunity_direction_wei" descr="cue_s03_c3_regularity_opportunity_direction_wei That regularity is an opportunity: the direction of a weight update should adapt to how much of a batch is genuine versus fake."/>
          <p:cNvSpPr/>
          <p:nvPr/>
        </p:nvSpPr>
        <p:spPr>
          <a:xfrm>
            <a:off x="6171590" y="1504645"/>
            <a:ext cx="5409590" cy="18290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cue_s03_c4_same_time_some_datasets_collect" title="cue_s03_c4_same_time_some_datasets_collect" descr="cue_s03_c4_same_time_some_datasets_collect At the same time, some datasets collect genuine audio under acoustic conditions so different that a naive rule backfires, motivating an extra safeguard."/>
          <p:cNvSpPr/>
          <p:nvPr/>
        </p:nvSpPr>
        <p:spPr>
          <a:xfrm>
            <a:off x="6171590" y="3485921"/>
            <a:ext cx="5409590" cy="1752904"/>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392865"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CONTRIBUTION</a:t>
            </a:r>
          </a:p>
        </p:txBody>
      </p:sp>
      <p:sp>
        <p:nvSpPr>
          <p:cNvPr id="4" name="TextBox 4"/>
          <p:cNvSpPr txBox="1"/>
          <p:nvPr/>
        </p:nvSpPr>
        <p:spPr>
          <a:xfrm>
            <a:off x="598170" y="804862"/>
            <a:ext cx="5170384"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One method, two essential steps</a:t>
            </a:r>
          </a:p>
        </p:txBody>
      </p:sp>
      <p:grpSp>
        <p:nvGrpSpPr>
          <p:cNvPr id="15" name="Group 15"/>
          <p:cNvGrpSpPr/>
          <p:nvPr/>
        </p:nvGrpSpPr>
        <p:grpSpPr>
          <a:xfrm>
            <a:off x="609600" y="1714500"/>
            <a:ext cx="2590800" cy="3543300"/>
            <a:chOff x="609600" y="1714500"/>
            <a:chExt cx="2590800" cy="3543300"/>
          </a:xfrm>
        </p:grpSpPr>
        <p:sp>
          <p:nvSpPr>
            <p:cNvPr id="5" name="Rectangle 5"/>
            <p:cNvSpPr/>
            <p:nvPr/>
          </p:nvSpPr>
          <p:spPr>
            <a:xfrm>
              <a:off x="609600" y="1714500"/>
              <a:ext cx="2590800" cy="3543300"/>
            </a:xfrm>
            <a:prstGeom prst="roundRect">
              <a:avLst>
                <a:gd name="adj" fmla="val 5147"/>
              </a:avLst>
            </a:prstGeom>
            <a:solidFill>
              <a:schemeClr val="accent5"/>
            </a:solidFill>
            <a:ln w="14288">
              <a:solidFill>
                <a:srgbClr val="26455F"/>
              </a:solidFill>
            </a:ln>
          </p:spPr>
        </p:sp>
        <p:sp>
          <p:nvSpPr>
            <p:cNvPr id="6" name="Rectangle 6"/>
            <p:cNvSpPr/>
            <p:nvPr/>
          </p:nvSpPr>
          <p:spPr>
            <a:xfrm>
              <a:off x="609600" y="1714500"/>
              <a:ext cx="2590800" cy="57150"/>
            </a:xfrm>
            <a:prstGeom prst="roundRect">
              <a:avLst>
                <a:gd name="adj" fmla="val 50000"/>
              </a:avLst>
            </a:prstGeom>
            <a:solidFill>
              <a:schemeClr val="accent2"/>
            </a:solidFill>
            <a:ln>
              <a:noFill/>
            </a:ln>
          </p:spPr>
        </p:sp>
        <p:sp>
          <p:nvSpPr>
            <p:cNvPr id="7" name="Ellipse 7"/>
            <p:cNvSpPr/>
            <p:nvPr/>
          </p:nvSpPr>
          <p:spPr>
            <a:xfrm>
              <a:off x="838200" y="2095500"/>
              <a:ext cx="495300" cy="495300"/>
            </a:xfrm>
            <a:prstGeom prst="ellipse">
              <a:avLst/>
            </a:prstGeom>
            <a:noFill/>
            <a:ln w="23812">
              <a:solidFill>
                <a:schemeClr val="accent2"/>
              </a:solidFill>
            </a:ln>
          </p:spPr>
        </p:sp>
        <p:sp>
          <p:nvSpPr>
            <p:cNvPr id="8" name="TextBox 8"/>
            <p:cNvSpPr txBox="1"/>
            <p:nvPr/>
          </p:nvSpPr>
          <p:spPr>
            <a:xfrm>
              <a:off x="816879" y="2273618"/>
              <a:ext cx="537942"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RAWM</a:t>
              </a:r>
            </a:p>
          </p:txBody>
        </p:sp>
        <p:sp>
          <p:nvSpPr>
            <p:cNvPr id="9" name="TextBox 9"/>
            <p:cNvSpPr txBox="1"/>
            <p:nvPr/>
          </p:nvSpPr>
          <p:spPr>
            <a:xfrm>
              <a:off x="831532" y="2849166"/>
              <a:ext cx="522028"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RAWM</a:t>
              </a:r>
            </a:p>
          </p:txBody>
        </p:sp>
        <p:sp>
          <p:nvSpPr>
            <p:cNvPr id="10" name="TextBox 10"/>
            <p:cNvSpPr txBox="1"/>
            <p:nvPr/>
          </p:nvSpPr>
          <p:spPr>
            <a:xfrm>
              <a:off x="832866" y="3239452"/>
              <a:ext cx="193898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Regularized Adaptive Weight</a:t>
              </a:r>
            </a:p>
          </p:txBody>
        </p:sp>
        <p:sp>
          <p:nvSpPr>
            <p:cNvPr id="11" name="TextBox 11"/>
            <p:cNvSpPr txBox="1"/>
            <p:nvPr/>
          </p:nvSpPr>
          <p:spPr>
            <a:xfrm>
              <a:off x="832866" y="3449002"/>
              <a:ext cx="19306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Modification: a replay-free</a:t>
              </a:r>
            </a:p>
          </p:txBody>
        </p:sp>
        <p:sp>
          <p:nvSpPr>
            <p:cNvPr id="12" name="TextBox 12"/>
            <p:cNvSpPr txBox="1"/>
            <p:nvPr/>
          </p:nvSpPr>
          <p:spPr>
            <a:xfrm>
              <a:off x="832866" y="3658552"/>
              <a:ext cx="17704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continual learning method</a:t>
              </a:r>
            </a:p>
          </p:txBody>
        </p:sp>
        <p:sp>
          <p:nvSpPr>
            <p:cNvPr id="13" name="TextBox 13"/>
            <p:cNvSpPr txBox="1"/>
            <p:nvPr/>
          </p:nvSpPr>
          <p:spPr>
            <a:xfrm>
              <a:off x="832866" y="3868102"/>
              <a:ext cx="168567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built from two essential</a:t>
              </a:r>
            </a:p>
          </p:txBody>
        </p:sp>
        <p:sp>
          <p:nvSpPr>
            <p:cNvPr id="14" name="TextBox 14"/>
            <p:cNvSpPr txBox="1"/>
            <p:nvPr/>
          </p:nvSpPr>
          <p:spPr>
            <a:xfrm>
              <a:off x="832866" y="4077652"/>
              <a:ext cx="47712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steps.</a:t>
              </a:r>
            </a:p>
          </p:txBody>
        </p:sp>
      </p:grpSp>
      <p:grpSp>
        <p:nvGrpSpPr>
          <p:cNvPr id="26" name="Group 26"/>
          <p:cNvGrpSpPr/>
          <p:nvPr/>
        </p:nvGrpSpPr>
        <p:grpSpPr>
          <a:xfrm>
            <a:off x="3429000" y="1714500"/>
            <a:ext cx="2590800" cy="3543300"/>
            <a:chOff x="3429000" y="1714500"/>
            <a:chExt cx="2590800" cy="3543300"/>
          </a:xfrm>
        </p:grpSpPr>
        <p:sp>
          <p:nvSpPr>
            <p:cNvPr id="16" name="Rectangle 16"/>
            <p:cNvSpPr/>
            <p:nvPr/>
          </p:nvSpPr>
          <p:spPr>
            <a:xfrm>
              <a:off x="3429000" y="1714500"/>
              <a:ext cx="2590800" cy="3543300"/>
            </a:xfrm>
            <a:prstGeom prst="roundRect">
              <a:avLst>
                <a:gd name="adj" fmla="val 5147"/>
              </a:avLst>
            </a:prstGeom>
            <a:solidFill>
              <a:schemeClr val="accent5"/>
            </a:solidFill>
            <a:ln w="14288">
              <a:solidFill>
                <a:srgbClr val="26455F"/>
              </a:solidFill>
            </a:ln>
          </p:spPr>
        </p:sp>
        <p:sp>
          <p:nvSpPr>
            <p:cNvPr id="17" name="Rectangle 17"/>
            <p:cNvSpPr/>
            <p:nvPr/>
          </p:nvSpPr>
          <p:spPr>
            <a:xfrm>
              <a:off x="3429000" y="1714500"/>
              <a:ext cx="2590800" cy="57150"/>
            </a:xfrm>
            <a:prstGeom prst="roundRect">
              <a:avLst>
                <a:gd name="adj" fmla="val 50000"/>
              </a:avLst>
            </a:prstGeom>
            <a:solidFill>
              <a:srgbClr val="34D3C0"/>
            </a:solidFill>
            <a:ln>
              <a:noFill/>
            </a:ln>
          </p:spPr>
        </p:sp>
        <p:sp>
          <p:nvSpPr>
            <p:cNvPr id="18" name="Ellipse 18"/>
            <p:cNvSpPr/>
            <p:nvPr/>
          </p:nvSpPr>
          <p:spPr>
            <a:xfrm>
              <a:off x="3657600" y="2095500"/>
              <a:ext cx="495300" cy="495300"/>
            </a:xfrm>
            <a:prstGeom prst="ellipse">
              <a:avLst/>
            </a:prstGeom>
            <a:noFill/>
            <a:ln w="23812">
              <a:solidFill>
                <a:srgbClr val="34D3C0"/>
              </a:solidFill>
            </a:ln>
          </p:spPr>
        </p:sp>
        <p:sp>
          <p:nvSpPr>
            <p:cNvPr id="19" name="TextBox 19"/>
            <p:cNvSpPr txBox="1"/>
            <p:nvPr/>
          </p:nvSpPr>
          <p:spPr>
            <a:xfrm>
              <a:off x="3819545" y="2208848"/>
              <a:ext cx="171411" cy="381381"/>
            </a:xfrm>
            <a:prstGeom prst="rect">
              <a:avLst/>
            </a:prstGeom>
            <a:noFill/>
            <a:ln>
              <a:noFill/>
            </a:ln>
          </p:spPr>
          <p:txBody>
            <a:bodyPr wrap="none" lIns="0" tIns="0" rIns="0" bIns="0" anchor="t" anchorCtr="0">
              <a:spAutoFit/>
            </a:bodyPr>
            <a:lstStyle/>
            <a:p>
              <a:pPr algn="ctr"/>
              <a:r>
                <a:rPr lang="en-US" sz="1950" b="1" dirty="0">
                  <a:solidFill>
                    <a:srgbClr val="34D3C0"/>
                  </a:solidFill>
                  <a:latin typeface="+mn-lt"/>
                  <a:ea typeface="+mn-ea"/>
                  <a:cs typeface="+mn-cs"/>
                </a:rPr>
                <a:t>1</a:t>
              </a:r>
            </a:p>
          </p:txBody>
        </p:sp>
        <p:sp>
          <p:nvSpPr>
            <p:cNvPr id="20" name="TextBox 20"/>
            <p:cNvSpPr txBox="1"/>
            <p:nvPr/>
          </p:nvSpPr>
          <p:spPr>
            <a:xfrm>
              <a:off x="3650932" y="2849166"/>
              <a:ext cx="170473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1 Adaptive weights</a:t>
              </a:r>
            </a:p>
          </p:txBody>
        </p:sp>
        <p:sp>
          <p:nvSpPr>
            <p:cNvPr id="21" name="TextBox 21"/>
            <p:cNvSpPr txBox="1"/>
            <p:nvPr/>
          </p:nvSpPr>
          <p:spPr>
            <a:xfrm>
              <a:off x="3652266" y="3239452"/>
              <a:ext cx="213554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 extra projector adjusts the</a:t>
              </a:r>
            </a:p>
          </p:txBody>
        </p:sp>
        <p:sp>
          <p:nvSpPr>
            <p:cNvPr id="22" name="TextBox 22"/>
            <p:cNvSpPr txBox="1"/>
            <p:nvPr/>
          </p:nvSpPr>
          <p:spPr>
            <a:xfrm>
              <a:off x="3652266" y="3449002"/>
              <a:ext cx="201785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update direction by the ratio</a:t>
              </a:r>
            </a:p>
          </p:txBody>
        </p:sp>
        <p:sp>
          <p:nvSpPr>
            <p:cNvPr id="23" name="TextBox 23"/>
            <p:cNvSpPr txBox="1"/>
            <p:nvPr/>
          </p:nvSpPr>
          <p:spPr>
            <a:xfrm>
              <a:off x="3652266" y="3658552"/>
              <a:ext cx="1579664"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of similar-distribution</a:t>
              </a:r>
            </a:p>
          </p:txBody>
        </p:sp>
        <p:sp>
          <p:nvSpPr>
            <p:cNvPr id="24" name="TextBox 24"/>
            <p:cNvSpPr txBox="1"/>
            <p:nvPr/>
          </p:nvSpPr>
          <p:spPr>
            <a:xfrm>
              <a:off x="3652266" y="3868102"/>
              <a:ext cx="169981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classes, such as genuine</a:t>
              </a:r>
            </a:p>
          </p:txBody>
        </p:sp>
        <p:sp>
          <p:nvSpPr>
            <p:cNvPr id="25" name="TextBox 25"/>
            <p:cNvSpPr txBox="1"/>
            <p:nvPr/>
          </p:nvSpPr>
          <p:spPr>
            <a:xfrm>
              <a:off x="3652266" y="4077652"/>
              <a:ext cx="177048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utterances, to the rest.</a:t>
              </a:r>
            </a:p>
          </p:txBody>
        </p:sp>
      </p:grpSp>
      <p:grpSp>
        <p:nvGrpSpPr>
          <p:cNvPr id="36" name="Group 36"/>
          <p:cNvGrpSpPr/>
          <p:nvPr/>
        </p:nvGrpSpPr>
        <p:grpSpPr>
          <a:xfrm>
            <a:off x="6248400" y="1714500"/>
            <a:ext cx="2590800" cy="3543300"/>
            <a:chOff x="6248400" y="1714500"/>
            <a:chExt cx="2590800" cy="3543300"/>
          </a:xfrm>
        </p:grpSpPr>
        <p:sp>
          <p:nvSpPr>
            <p:cNvPr id="27" name="Rectangle 27"/>
            <p:cNvSpPr/>
            <p:nvPr/>
          </p:nvSpPr>
          <p:spPr>
            <a:xfrm>
              <a:off x="6248400" y="1714500"/>
              <a:ext cx="2590800" cy="3543300"/>
            </a:xfrm>
            <a:prstGeom prst="roundRect">
              <a:avLst>
                <a:gd name="adj" fmla="val 5147"/>
              </a:avLst>
            </a:prstGeom>
            <a:solidFill>
              <a:schemeClr val="accent5"/>
            </a:solidFill>
            <a:ln w="14288">
              <a:solidFill>
                <a:srgbClr val="26455F"/>
              </a:solidFill>
            </a:ln>
          </p:spPr>
        </p:sp>
        <p:sp>
          <p:nvSpPr>
            <p:cNvPr id="28" name="Rectangle 28"/>
            <p:cNvSpPr/>
            <p:nvPr/>
          </p:nvSpPr>
          <p:spPr>
            <a:xfrm>
              <a:off x="6248400" y="1714500"/>
              <a:ext cx="2590800" cy="57150"/>
            </a:xfrm>
            <a:prstGeom prst="roundRect">
              <a:avLst>
                <a:gd name="adj" fmla="val 50000"/>
              </a:avLst>
            </a:prstGeom>
            <a:solidFill>
              <a:srgbClr val="F2C14E"/>
            </a:solidFill>
            <a:ln>
              <a:noFill/>
            </a:ln>
          </p:spPr>
        </p:sp>
        <p:sp>
          <p:nvSpPr>
            <p:cNvPr id="29" name="Ellipse 29"/>
            <p:cNvSpPr/>
            <p:nvPr/>
          </p:nvSpPr>
          <p:spPr>
            <a:xfrm>
              <a:off x="6477000" y="2095500"/>
              <a:ext cx="495300" cy="495300"/>
            </a:xfrm>
            <a:prstGeom prst="ellipse">
              <a:avLst/>
            </a:prstGeom>
            <a:noFill/>
            <a:ln w="23812">
              <a:solidFill>
                <a:srgbClr val="F2C14E"/>
              </a:solidFill>
            </a:ln>
          </p:spPr>
        </p:sp>
        <p:sp>
          <p:nvSpPr>
            <p:cNvPr id="30" name="TextBox 30"/>
            <p:cNvSpPr txBox="1"/>
            <p:nvPr/>
          </p:nvSpPr>
          <p:spPr>
            <a:xfrm>
              <a:off x="6638945" y="2208848"/>
              <a:ext cx="171411" cy="381381"/>
            </a:xfrm>
            <a:prstGeom prst="rect">
              <a:avLst/>
            </a:prstGeom>
            <a:noFill/>
            <a:ln>
              <a:noFill/>
            </a:ln>
          </p:spPr>
          <p:txBody>
            <a:bodyPr wrap="none" lIns="0" tIns="0" rIns="0" bIns="0" anchor="t" anchorCtr="0">
              <a:spAutoFit/>
            </a:bodyPr>
            <a:lstStyle/>
            <a:p>
              <a:pPr algn="ctr"/>
              <a:r>
                <a:rPr lang="en-US" sz="1950" b="1" dirty="0">
                  <a:solidFill>
                    <a:srgbClr val="F2C14E"/>
                  </a:solidFill>
                  <a:latin typeface="+mn-lt"/>
                  <a:ea typeface="+mn-ea"/>
                  <a:cs typeface="+mn-cs"/>
                </a:rPr>
                <a:t>2</a:t>
              </a:r>
            </a:p>
          </p:txBody>
        </p:sp>
        <p:sp>
          <p:nvSpPr>
            <p:cNvPr id="31" name="TextBox 31"/>
            <p:cNvSpPr txBox="1"/>
            <p:nvPr/>
          </p:nvSpPr>
          <p:spPr>
            <a:xfrm>
              <a:off x="6470332" y="2849166"/>
              <a:ext cx="146349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2 Regularization</a:t>
              </a:r>
            </a:p>
          </p:txBody>
        </p:sp>
        <p:sp>
          <p:nvSpPr>
            <p:cNvPr id="32" name="TextBox 32"/>
            <p:cNvSpPr txBox="1"/>
            <p:nvPr/>
          </p:nvSpPr>
          <p:spPr>
            <a:xfrm>
              <a:off x="6471666" y="3239452"/>
              <a:ext cx="18598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 term inspired by learning</a:t>
              </a:r>
            </a:p>
          </p:txBody>
        </p:sp>
        <p:sp>
          <p:nvSpPr>
            <p:cNvPr id="33" name="TextBox 33"/>
            <p:cNvSpPr txBox="1"/>
            <p:nvPr/>
          </p:nvSpPr>
          <p:spPr>
            <a:xfrm>
              <a:off x="6471666" y="3449002"/>
              <a:ext cx="2039055"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without forgetting keeps the</a:t>
              </a:r>
            </a:p>
          </p:txBody>
        </p:sp>
        <p:sp>
          <p:nvSpPr>
            <p:cNvPr id="34" name="TextBox 34"/>
            <p:cNvSpPr txBox="1"/>
            <p:nvPr/>
          </p:nvSpPr>
          <p:spPr>
            <a:xfrm>
              <a:off x="6471666" y="3658552"/>
              <a:ext cx="184823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new inference distribution</a:t>
              </a:r>
            </a:p>
          </p:txBody>
        </p:sp>
        <p:sp>
          <p:nvSpPr>
            <p:cNvPr id="35" name="TextBox 35"/>
            <p:cNvSpPr txBox="1"/>
            <p:nvPr/>
          </p:nvSpPr>
          <p:spPr>
            <a:xfrm>
              <a:off x="6471666" y="3868102"/>
              <a:ext cx="14312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close to the old one.</a:t>
              </a:r>
            </a:p>
          </p:txBody>
        </p:sp>
      </p:grpSp>
      <p:grpSp>
        <p:nvGrpSpPr>
          <p:cNvPr id="47" name="Group 47"/>
          <p:cNvGrpSpPr/>
          <p:nvPr/>
        </p:nvGrpSpPr>
        <p:grpSpPr>
          <a:xfrm>
            <a:off x="9067800" y="1714500"/>
            <a:ext cx="2590800" cy="3543300"/>
            <a:chOff x="9067800" y="1714500"/>
            <a:chExt cx="2590800" cy="3543300"/>
          </a:xfrm>
        </p:grpSpPr>
        <p:sp>
          <p:nvSpPr>
            <p:cNvPr id="37" name="Rectangle 37"/>
            <p:cNvSpPr/>
            <p:nvPr/>
          </p:nvSpPr>
          <p:spPr>
            <a:xfrm>
              <a:off x="9067800" y="1714500"/>
              <a:ext cx="2590800" cy="3543300"/>
            </a:xfrm>
            <a:prstGeom prst="roundRect">
              <a:avLst>
                <a:gd name="adj" fmla="val 5147"/>
              </a:avLst>
            </a:prstGeom>
            <a:solidFill>
              <a:schemeClr val="accent5"/>
            </a:solidFill>
            <a:ln w="14288">
              <a:solidFill>
                <a:srgbClr val="26455F"/>
              </a:solidFill>
            </a:ln>
          </p:spPr>
        </p:sp>
        <p:sp>
          <p:nvSpPr>
            <p:cNvPr id="38" name="Rectangle 38"/>
            <p:cNvSpPr/>
            <p:nvPr/>
          </p:nvSpPr>
          <p:spPr>
            <a:xfrm>
              <a:off x="9067800" y="1714500"/>
              <a:ext cx="2590800" cy="57150"/>
            </a:xfrm>
            <a:prstGeom prst="roundRect">
              <a:avLst>
                <a:gd name="adj" fmla="val 50000"/>
              </a:avLst>
            </a:prstGeom>
            <a:solidFill>
              <a:srgbClr val="48C78E"/>
            </a:solidFill>
            <a:ln>
              <a:noFill/>
            </a:ln>
          </p:spPr>
        </p:sp>
        <p:sp>
          <p:nvSpPr>
            <p:cNvPr id="39" name="Ellipse 39"/>
            <p:cNvSpPr/>
            <p:nvPr/>
          </p:nvSpPr>
          <p:spPr>
            <a:xfrm>
              <a:off x="9296400" y="2095500"/>
              <a:ext cx="495300" cy="495300"/>
            </a:xfrm>
            <a:prstGeom prst="ellipse">
              <a:avLst/>
            </a:prstGeom>
            <a:noFill/>
            <a:ln w="23812">
              <a:solidFill>
                <a:srgbClr val="48C78E"/>
              </a:solidFill>
            </a:ln>
          </p:spPr>
        </p:sp>
        <p:sp>
          <p:nvSpPr>
            <p:cNvPr id="40" name="TextBox 40"/>
            <p:cNvSpPr txBox="1"/>
            <p:nvPr/>
          </p:nvSpPr>
          <p:spPr>
            <a:xfrm>
              <a:off x="9458345" y="2208848"/>
              <a:ext cx="171411" cy="381381"/>
            </a:xfrm>
            <a:prstGeom prst="rect">
              <a:avLst/>
            </a:prstGeom>
            <a:noFill/>
            <a:ln>
              <a:noFill/>
            </a:ln>
          </p:spPr>
          <p:txBody>
            <a:bodyPr wrap="none" lIns="0" tIns="0" rIns="0" bIns="0" anchor="t" anchorCtr="0">
              <a:spAutoFit/>
            </a:bodyPr>
            <a:lstStyle/>
            <a:p>
              <a:pPr algn="ctr"/>
              <a:r>
                <a:rPr lang="en-US" sz="1950" b="1" dirty="0">
                  <a:solidFill>
                    <a:srgbClr val="48C78E"/>
                  </a:solidFill>
                  <a:latin typeface="+mn-lt"/>
                  <a:ea typeface="+mn-ea"/>
                  <a:cs typeface="+mn-cs"/>
                </a:rPr>
                <a:t>+</a:t>
              </a:r>
            </a:p>
          </p:txBody>
        </p:sp>
        <p:sp>
          <p:nvSpPr>
            <p:cNvPr id="41" name="TextBox 41"/>
            <p:cNvSpPr txBox="1"/>
            <p:nvPr/>
          </p:nvSpPr>
          <p:spPr>
            <a:xfrm>
              <a:off x="9289732" y="2849166"/>
              <a:ext cx="1195819"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Replay-free,</a:t>
              </a:r>
            </a:p>
          </p:txBody>
        </p:sp>
        <p:sp>
          <p:nvSpPr>
            <p:cNvPr id="42" name="TextBox 42"/>
            <p:cNvSpPr txBox="1"/>
            <p:nvPr/>
          </p:nvSpPr>
          <p:spPr>
            <a:xfrm>
              <a:off x="9289732" y="3096816"/>
              <a:ext cx="679946" cy="256699"/>
            </a:xfrm>
            <a:prstGeom prst="rect">
              <a:avLst/>
            </a:prstGeom>
            <a:noFill/>
            <a:ln>
              <a:noFill/>
            </a:ln>
          </p:spPr>
          <p:txBody>
            <a:bodyPr wrap="none" lIns="0" tIns="0" rIns="0" bIns="0" anchor="t" anchorCtr="0">
              <a:spAutoFit/>
            </a:bodyPr>
            <a:lstStyle/>
            <a:p>
              <a:pPr algn="l"/>
              <a:r>
                <a:rPr lang="en-US" sz="1310" b="1" dirty="0">
                  <a:solidFill>
                    <a:schemeClr val="dk1"/>
                  </a:solidFill>
                  <a:latin typeface="+mn-lt"/>
                  <a:ea typeface="+mn-ea"/>
                  <a:cs typeface="+mn-cs"/>
                </a:rPr>
                <a:t>general</a:t>
              </a:r>
            </a:p>
          </p:txBody>
        </p:sp>
        <p:sp>
          <p:nvSpPr>
            <p:cNvPr id="43" name="TextBox 43"/>
            <p:cNvSpPr txBox="1"/>
            <p:nvPr/>
          </p:nvSpPr>
          <p:spPr>
            <a:xfrm>
              <a:off x="9291066" y="3487102"/>
              <a:ext cx="16549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No previous samples are</a:t>
              </a:r>
            </a:p>
          </p:txBody>
        </p:sp>
        <p:sp>
          <p:nvSpPr>
            <p:cNvPr id="44" name="TextBox 44"/>
            <p:cNvSpPr txBox="1"/>
            <p:nvPr/>
          </p:nvSpPr>
          <p:spPr>
            <a:xfrm>
              <a:off x="9291066" y="3696652"/>
              <a:ext cx="207439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needed, and the authors show</a:t>
              </a:r>
            </a:p>
          </p:txBody>
        </p:sp>
        <p:sp>
          <p:nvSpPr>
            <p:cNvPr id="45" name="TextBox 45"/>
            <p:cNvSpPr txBox="1"/>
            <p:nvPr/>
          </p:nvSpPr>
          <p:spPr>
            <a:xfrm>
              <a:off x="9291066" y="3906202"/>
              <a:ext cx="2159203"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it transfers to speech emotion</a:t>
              </a:r>
            </a:p>
          </p:txBody>
        </p:sp>
        <p:sp>
          <p:nvSpPr>
            <p:cNvPr id="46" name="TextBox 46"/>
            <p:cNvSpPr txBox="1"/>
            <p:nvPr/>
          </p:nvSpPr>
          <p:spPr>
            <a:xfrm>
              <a:off x="9291066" y="4115752"/>
              <a:ext cx="1572597"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and image recognition.</a:t>
              </a:r>
            </a:p>
          </p:txBody>
        </p:sp>
      </p:grpSp>
      <p:sp>
        <p:nvSpPr>
          <p:cNvPr id="48" name="TextBox 48"/>
          <p:cNvSpPr txBox="1"/>
          <p:nvPr/>
        </p:nvSpPr>
        <p:spPr>
          <a:xfrm>
            <a:off x="603694" y="5456158"/>
            <a:ext cx="7478182" cy="227362"/>
          </a:xfrm>
          <a:prstGeom prst="rect">
            <a:avLst/>
          </a:prstGeom>
          <a:noFill/>
          <a:ln>
            <a:noFill/>
          </a:ln>
        </p:spPr>
        <p:txBody>
          <a:bodyPr wrap="none" lIns="0" tIns="0" rIns="0" bIns="0" anchor="t" anchorCtr="0">
            <a:spAutoFit/>
          </a:bodyPr>
          <a:lstStyle/>
          <a:p>
            <a:pPr algn="l"/>
            <a:r>
              <a:rPr lang="en-US" sz="1160" b="1" dirty="0">
                <a:solidFill>
                  <a:srgbClr val="34D3C0"/>
                </a:solidFill>
                <a:latin typeface="+mn-lt"/>
                <a:ea typeface="+mn-ea"/>
                <a:cs typeface="+mn-cs"/>
              </a:rPr>
              <a:t>Adapt the weights to the batch, and regularize the model to remember, with no stored data.</a:t>
            </a:r>
          </a:p>
        </p:txBody>
      </p:sp>
      <p:sp>
        <p:nvSpPr>
          <p:cNvPr id="49" name="cue_s04_c1_authors_contribute_regularized_adapt" title="cue_s04_c1_authors_contribute_regularized_adapt" descr="cue_s04_c1_authors_contribute_regularized_adapt The authors contribute Regularized Adaptive Weight Modification. It has two essential steps."/>
          <p:cNvSpPr/>
          <p:nvPr/>
        </p:nvSpPr>
        <p:spPr>
          <a:xfrm>
            <a:off x="60960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4_c2_first_adaptive_weight_modification_i" title="cue_s04_c2_first_adaptive_weight_modification_i" descr="cue_s04_c2_first_adaptive_weight_modification_i First, adaptive weight modification introduces an extra projector that adjusts the update direction according to the ratio of classes with similar feature distribution, such as genuine utterances, to the others."/>
          <p:cNvSpPr/>
          <p:nvPr/>
        </p:nvSpPr>
        <p:spPr>
          <a:xfrm>
            <a:off x="3428390"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4_c3_second_regularization_term_inspired" title="cue_s04_c3_second_regularization_term_inspired" descr="cue_s04_c3_second_regularization_term_inspired Second, a regularization term, inspired by learning without forgetting, keeps the new inference distribution close to the old one."/>
          <p:cNvSpPr/>
          <p:nvPr/>
        </p:nvSpPr>
        <p:spPr>
          <a:xfrm>
            <a:off x="624839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4_c4_method_needs_previous_samples_author" title="cue_s04_c4_method_needs_previous_samples_author" descr="cue_s04_c4_method_needs_previous_samples_author The method needs no previous samples, and the authors show it transfers to speech emotion recognition and image recognition."/>
          <p:cNvSpPr/>
          <p:nvPr/>
        </p:nvSpPr>
        <p:spPr>
          <a:xfrm>
            <a:off x="9068409" y="1714500"/>
            <a:ext cx="2590800" cy="3543528"/>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76405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METHOD</a:t>
            </a:r>
          </a:p>
        </p:txBody>
      </p:sp>
      <p:sp>
        <p:nvSpPr>
          <p:cNvPr id="4" name="TextBox 4"/>
          <p:cNvSpPr txBox="1"/>
          <p:nvPr/>
        </p:nvSpPr>
        <p:spPr>
          <a:xfrm>
            <a:off x="598170" y="804862"/>
            <a:ext cx="6267131"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Two projectors that balance old and new</a:t>
            </a:r>
          </a:p>
        </p:txBody>
      </p:sp>
      <p:grpSp>
        <p:nvGrpSpPr>
          <p:cNvPr id="13" name="Group 13"/>
          <p:cNvGrpSpPr/>
          <p:nvPr/>
        </p:nvGrpSpPr>
        <p:grpSpPr>
          <a:xfrm>
            <a:off x="609600" y="1504950"/>
            <a:ext cx="5410200" cy="1943100"/>
            <a:chOff x="609600" y="1504950"/>
            <a:chExt cx="5410200" cy="1943100"/>
          </a:xfrm>
        </p:grpSpPr>
        <p:sp>
          <p:nvSpPr>
            <p:cNvPr id="5" name="Rectangle 5"/>
            <p:cNvSpPr/>
            <p:nvPr/>
          </p:nvSpPr>
          <p:spPr>
            <a:xfrm>
              <a:off x="609600" y="1504950"/>
              <a:ext cx="5410200" cy="1943100"/>
            </a:xfrm>
            <a:prstGeom prst="roundRect">
              <a:avLst>
                <a:gd name="adj" fmla="val 6863"/>
              </a:avLst>
            </a:prstGeom>
            <a:solidFill>
              <a:schemeClr val="accent5"/>
            </a:solidFill>
            <a:ln w="14288">
              <a:solidFill>
                <a:srgbClr val="26455F"/>
              </a:solidFill>
            </a:ln>
          </p:spPr>
        </p:sp>
        <p:sp>
          <p:nvSpPr>
            <p:cNvPr id="6" name="Rectangle 6"/>
            <p:cNvSpPr/>
            <p:nvPr/>
          </p:nvSpPr>
          <p:spPr>
            <a:xfrm>
              <a:off x="609600" y="1504950"/>
              <a:ext cx="57150" cy="1943100"/>
            </a:xfrm>
            <a:prstGeom prst="roundRect">
              <a:avLst>
                <a:gd name="adj" fmla="val 50000"/>
              </a:avLst>
            </a:prstGeom>
            <a:solidFill>
              <a:schemeClr val="accent2"/>
            </a:solidFill>
            <a:ln>
              <a:noFill/>
            </a:ln>
          </p:spPr>
        </p:sp>
        <p:sp>
          <p:nvSpPr>
            <p:cNvPr id="7" name="TextBox 7"/>
            <p:cNvSpPr txBox="1"/>
            <p:nvPr/>
          </p:nvSpPr>
          <p:spPr>
            <a:xfrm>
              <a:off x="870014" y="1733312"/>
              <a:ext cx="2665182"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Start from OWM's projector P</a:t>
              </a:r>
            </a:p>
          </p:txBody>
        </p:sp>
        <p:sp>
          <p:nvSpPr>
            <p:cNvPr id="8" name="TextBox 8"/>
            <p:cNvSpPr txBox="1"/>
            <p:nvPr/>
          </p:nvSpPr>
          <p:spPr>
            <a:xfrm>
              <a:off x="871156" y="2024301"/>
              <a:ext cx="373364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P points the update away from the subspace of previous</a:t>
              </a:r>
            </a:p>
          </p:txBody>
        </p:sp>
        <p:sp>
          <p:nvSpPr>
            <p:cNvPr id="9" name="TextBox 9"/>
            <p:cNvSpPr txBox="1"/>
            <p:nvPr/>
          </p:nvSpPr>
          <p:spPr>
            <a:xfrm>
              <a:off x="871156" y="2214801"/>
              <a:ext cx="409135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inputs. RAWM adds a second projector Q, orthogonal to P and</a:t>
              </a:r>
            </a:p>
          </p:txBody>
        </p:sp>
        <p:sp>
          <p:nvSpPr>
            <p:cNvPr id="10" name="TextBox 10"/>
            <p:cNvSpPr txBox="1"/>
            <p:nvPr/>
          </p:nvSpPr>
          <p:spPr>
            <a:xfrm>
              <a:off x="871156" y="2405301"/>
              <a:ext cx="258004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scaled by the genuine/fake ratio beta.</a:t>
              </a:r>
            </a:p>
          </p:txBody>
        </p:sp>
        <p:sp>
          <p:nvSpPr>
            <p:cNvPr id="11" name="Rectangle 11"/>
            <p:cNvSpPr/>
            <p:nvPr/>
          </p:nvSpPr>
          <p:spPr>
            <a:xfrm>
              <a:off x="876300" y="2895600"/>
              <a:ext cx="4876800" cy="419100"/>
            </a:xfrm>
            <a:prstGeom prst="roundRect">
              <a:avLst>
                <a:gd name="adj" fmla="val 18182"/>
              </a:avLst>
            </a:prstGeom>
            <a:solidFill>
              <a:schemeClr val="accent6"/>
            </a:solidFill>
            <a:ln w="14288">
              <a:solidFill>
                <a:srgbClr val="26455F"/>
              </a:solidFill>
            </a:ln>
          </p:spPr>
        </p:sp>
        <p:sp>
          <p:nvSpPr>
            <p:cNvPr id="12" name="TextBox 12"/>
            <p:cNvSpPr txBox="1"/>
            <p:nvPr/>
          </p:nvSpPr>
          <p:spPr>
            <a:xfrm>
              <a:off x="1758975" y="3057049"/>
              <a:ext cx="3111449"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P g _|_ span(prev inputs); Q _|_ P, scale beta</a:t>
              </a:r>
            </a:p>
          </p:txBody>
        </p:sp>
      </p:grpSp>
      <p:grpSp>
        <p:nvGrpSpPr>
          <p:cNvPr id="22" name="Group 22"/>
          <p:cNvGrpSpPr/>
          <p:nvPr/>
        </p:nvGrpSpPr>
        <p:grpSpPr>
          <a:xfrm>
            <a:off x="609600" y="3600450"/>
            <a:ext cx="5410200" cy="1638300"/>
            <a:chOff x="609600" y="3600450"/>
            <a:chExt cx="5410200" cy="1638300"/>
          </a:xfrm>
        </p:grpSpPr>
        <p:sp>
          <p:nvSpPr>
            <p:cNvPr id="14" name="Rectangle 14"/>
            <p:cNvSpPr/>
            <p:nvPr/>
          </p:nvSpPr>
          <p:spPr>
            <a:xfrm>
              <a:off x="609600" y="3600450"/>
              <a:ext cx="5410200" cy="1638300"/>
            </a:xfrm>
            <a:prstGeom prst="roundRect">
              <a:avLst>
                <a:gd name="adj" fmla="val 8140"/>
              </a:avLst>
            </a:prstGeom>
            <a:solidFill>
              <a:srgbClr val="0F2E2B"/>
            </a:solidFill>
            <a:ln w="14288">
              <a:solidFill>
                <a:srgbClr val="34D3C0"/>
              </a:solidFill>
            </a:ln>
          </p:spPr>
        </p:sp>
        <p:sp>
          <p:nvSpPr>
            <p:cNvPr id="15" name="Rectangle 15"/>
            <p:cNvSpPr/>
            <p:nvPr/>
          </p:nvSpPr>
          <p:spPr>
            <a:xfrm>
              <a:off x="609600" y="3600450"/>
              <a:ext cx="57150" cy="1638300"/>
            </a:xfrm>
            <a:prstGeom prst="roundRect">
              <a:avLst>
                <a:gd name="adj" fmla="val 50000"/>
              </a:avLst>
            </a:prstGeom>
            <a:solidFill>
              <a:srgbClr val="34D3C0"/>
            </a:solidFill>
            <a:ln>
              <a:noFill/>
            </a:ln>
          </p:spPr>
        </p:sp>
        <p:sp>
          <p:nvSpPr>
            <p:cNvPr id="16" name="TextBox 16"/>
            <p:cNvSpPr txBox="1"/>
            <p:nvPr/>
          </p:nvSpPr>
          <p:spPr>
            <a:xfrm>
              <a:off x="870204" y="3832860"/>
              <a:ext cx="1998932" cy="234696"/>
            </a:xfrm>
            <a:prstGeom prst="rect">
              <a:avLst/>
            </a:prstGeom>
            <a:noFill/>
            <a:ln>
              <a:noFill/>
            </a:ln>
          </p:spPr>
          <p:txBody>
            <a:bodyPr wrap="none" lIns="0" tIns="0" rIns="0" bIns="0" anchor="t" anchorCtr="0">
              <a:spAutoFit/>
            </a:bodyPr>
            <a:lstStyle/>
            <a:p>
              <a:pPr algn="l"/>
              <a:r>
                <a:rPr lang="en-US" sz="1200" b="1" dirty="0">
                  <a:solidFill>
                    <a:srgbClr val="34D3C0"/>
                  </a:solidFill>
                  <a:latin typeface="+mn-lt"/>
                  <a:ea typeface="+mn-ea"/>
                  <a:cs typeface="+mn-cs"/>
                </a:rPr>
                <a:t>Combine into direction R</a:t>
              </a:r>
            </a:p>
          </p:txBody>
        </p:sp>
        <p:sp>
          <p:nvSpPr>
            <p:cNvPr id="17" name="TextBox 17"/>
            <p:cNvSpPr txBox="1"/>
            <p:nvPr/>
          </p:nvSpPr>
          <p:spPr>
            <a:xfrm>
              <a:off x="871156" y="4119801"/>
              <a:ext cx="416866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Normalized and combined, a mostly-genuine batch leans toward</a:t>
              </a:r>
            </a:p>
          </p:txBody>
        </p:sp>
        <p:sp>
          <p:nvSpPr>
            <p:cNvPr id="18" name="TextBox 18"/>
            <p:cNvSpPr txBox="1"/>
            <p:nvPr/>
          </p:nvSpPr>
          <p:spPr>
            <a:xfrm>
              <a:off x="871156" y="4310301"/>
              <a:ext cx="4068878"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preserving old knowledge; otherwise it leans toward learning</a:t>
              </a:r>
            </a:p>
          </p:txBody>
        </p:sp>
        <p:sp>
          <p:nvSpPr>
            <p:cNvPr id="19" name="TextBox 19"/>
            <p:cNvSpPr txBox="1"/>
            <p:nvPr/>
          </p:nvSpPr>
          <p:spPr>
            <a:xfrm>
              <a:off x="871156" y="4500801"/>
              <a:ext cx="941655"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the new data.</a:t>
              </a:r>
            </a:p>
          </p:txBody>
        </p:sp>
        <p:sp>
          <p:nvSpPr>
            <p:cNvPr id="20" name="Rectangle 20"/>
            <p:cNvSpPr/>
            <p:nvPr/>
          </p:nvSpPr>
          <p:spPr>
            <a:xfrm>
              <a:off x="876300" y="4819650"/>
              <a:ext cx="4876800" cy="419100"/>
            </a:xfrm>
            <a:prstGeom prst="roundRect">
              <a:avLst>
                <a:gd name="adj" fmla="val 18182"/>
              </a:avLst>
            </a:prstGeom>
            <a:solidFill>
              <a:schemeClr val="accent6"/>
            </a:solidFill>
            <a:ln w="14288">
              <a:solidFill>
                <a:srgbClr val="26455F"/>
              </a:solidFill>
            </a:ln>
          </p:spPr>
        </p:sp>
        <p:sp>
          <p:nvSpPr>
            <p:cNvPr id="21" name="TextBox 21"/>
            <p:cNvSpPr txBox="1"/>
            <p:nvPr/>
          </p:nvSpPr>
          <p:spPr>
            <a:xfrm>
              <a:off x="1956114" y="4977051"/>
              <a:ext cx="2717172" cy="198025"/>
            </a:xfrm>
            <a:prstGeom prst="rect">
              <a:avLst/>
            </a:prstGeom>
            <a:noFill/>
            <a:ln>
              <a:noFill/>
            </a:ln>
          </p:spPr>
          <p:txBody>
            <a:bodyPr wrap="none" lIns="0" tIns="0" rIns="0" bIns="0" anchor="t" anchorCtr="0">
              <a:spAutoFit/>
            </a:bodyPr>
            <a:lstStyle/>
            <a:p>
              <a:pPr algn="ctr"/>
              <a:r>
                <a:rPr lang="en-US" sz="1010" b="1" dirty="0">
                  <a:solidFill>
                    <a:schemeClr val="dk1"/>
                  </a:solidFill>
                  <a:latin typeface="Consolas"/>
                  <a:ea typeface="Consolas"/>
                  <a:cs typeface="Consolas"/>
                </a:rPr>
                <a:t>R = norm(P) + beta * norm(Q), Q _|_ P</a:t>
              </a:r>
            </a:p>
          </p:txBody>
        </p:sp>
      </p:grpSp>
      <p:grpSp>
        <p:nvGrpSpPr>
          <p:cNvPr id="32" name="Group 32"/>
          <p:cNvGrpSpPr/>
          <p:nvPr/>
        </p:nvGrpSpPr>
        <p:grpSpPr>
          <a:xfrm>
            <a:off x="6248400" y="1504950"/>
            <a:ext cx="5334000" cy="1943100"/>
            <a:chOff x="6248400" y="1504950"/>
            <a:chExt cx="5334000" cy="1943100"/>
          </a:xfrm>
        </p:grpSpPr>
        <p:sp>
          <p:nvSpPr>
            <p:cNvPr id="23" name="Rectangle 23"/>
            <p:cNvSpPr/>
            <p:nvPr/>
          </p:nvSpPr>
          <p:spPr>
            <a:xfrm>
              <a:off x="6248400" y="1504950"/>
              <a:ext cx="5334000" cy="1943100"/>
            </a:xfrm>
            <a:prstGeom prst="roundRect">
              <a:avLst>
                <a:gd name="adj" fmla="val 6863"/>
              </a:avLst>
            </a:prstGeom>
            <a:solidFill>
              <a:schemeClr val="accent5"/>
            </a:solidFill>
            <a:ln w="14288">
              <a:solidFill>
                <a:srgbClr val="26455F"/>
              </a:solidFill>
            </a:ln>
          </p:spPr>
        </p:sp>
        <p:sp>
          <p:nvSpPr>
            <p:cNvPr id="24" name="Rectangle 24"/>
            <p:cNvSpPr/>
            <p:nvPr/>
          </p:nvSpPr>
          <p:spPr>
            <a:xfrm>
              <a:off x="6248400" y="1504950"/>
              <a:ext cx="57150" cy="1943100"/>
            </a:xfrm>
            <a:prstGeom prst="roundRect">
              <a:avLst>
                <a:gd name="adj" fmla="val 50000"/>
              </a:avLst>
            </a:prstGeom>
            <a:solidFill>
              <a:srgbClr val="F2C14E"/>
            </a:solidFill>
            <a:ln>
              <a:noFill/>
            </a:ln>
          </p:spPr>
        </p:sp>
        <p:sp>
          <p:nvSpPr>
            <p:cNvPr id="25" name="TextBox 25"/>
            <p:cNvSpPr txBox="1"/>
            <p:nvPr/>
          </p:nvSpPr>
          <p:spPr>
            <a:xfrm>
              <a:off x="6508814" y="1733312"/>
              <a:ext cx="2831428" cy="242030"/>
            </a:xfrm>
            <a:prstGeom prst="rect">
              <a:avLst/>
            </a:prstGeom>
            <a:noFill/>
            <a:ln>
              <a:noFill/>
            </a:ln>
          </p:spPr>
          <p:txBody>
            <a:bodyPr wrap="none" lIns="0" tIns="0" rIns="0" bIns="0" anchor="t" anchorCtr="0">
              <a:spAutoFit/>
            </a:bodyPr>
            <a:lstStyle/>
            <a:p>
              <a:pPr algn="l"/>
              <a:r>
                <a:rPr lang="en-US" sz="1240" b="1" dirty="0">
                  <a:solidFill>
                    <a:srgbClr val="F2C14E"/>
                  </a:solidFill>
                  <a:latin typeface="+mn-lt"/>
                  <a:ea typeface="+mn-ea"/>
                  <a:cs typeface="+mn-cs"/>
                </a:rPr>
                <a:t>Regularize with a frozen teacher</a:t>
              </a:r>
            </a:p>
          </p:txBody>
        </p:sp>
        <p:sp>
          <p:nvSpPr>
            <p:cNvPr id="26" name="TextBox 26"/>
            <p:cNvSpPr txBox="1"/>
            <p:nvPr/>
          </p:nvSpPr>
          <p:spPr>
            <a:xfrm>
              <a:off x="6509956" y="2024301"/>
              <a:ext cx="40122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For datasets recorded under very different conditions, the</a:t>
              </a:r>
            </a:p>
          </p:txBody>
        </p:sp>
        <p:sp>
          <p:nvSpPr>
            <p:cNvPr id="27" name="TextBox 27"/>
            <p:cNvSpPr txBox="1"/>
            <p:nvPr/>
          </p:nvSpPr>
          <p:spPr>
            <a:xfrm>
              <a:off x="6509956" y="2214801"/>
              <a:ext cx="4000895"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frozen pre-trained model acts as a teacher; the fine-tuned</a:t>
              </a:r>
            </a:p>
          </p:txBody>
        </p:sp>
        <p:sp>
          <p:nvSpPr>
            <p:cNvPr id="28" name="TextBox 28"/>
            <p:cNvSpPr txBox="1"/>
            <p:nvPr/>
          </p:nvSpPr>
          <p:spPr>
            <a:xfrm>
              <a:off x="6509956" y="2405301"/>
              <a:ext cx="393971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student matches its softened outputs to remember the old</a:t>
              </a:r>
            </a:p>
          </p:txBody>
        </p:sp>
        <p:sp>
          <p:nvSpPr>
            <p:cNvPr id="29" name="TextBox 29"/>
            <p:cNvSpPr txBox="1"/>
            <p:nvPr/>
          </p:nvSpPr>
          <p:spPr>
            <a:xfrm>
              <a:off x="6509956" y="2595801"/>
              <a:ext cx="156030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inference distribution.</a:t>
              </a:r>
            </a:p>
          </p:txBody>
        </p:sp>
        <p:sp>
          <p:nvSpPr>
            <p:cNvPr id="30" name="Rectangle 30"/>
            <p:cNvSpPr/>
            <p:nvPr/>
          </p:nvSpPr>
          <p:spPr>
            <a:xfrm>
              <a:off x="6515100" y="3028950"/>
              <a:ext cx="4800600" cy="419100"/>
            </a:xfrm>
            <a:prstGeom prst="roundRect">
              <a:avLst>
                <a:gd name="adj" fmla="val 18182"/>
              </a:avLst>
            </a:prstGeom>
            <a:solidFill>
              <a:schemeClr val="accent6"/>
            </a:solidFill>
            <a:ln w="14288">
              <a:solidFill>
                <a:srgbClr val="26455F"/>
              </a:solidFill>
            </a:ln>
          </p:spPr>
        </p:sp>
        <p:sp>
          <p:nvSpPr>
            <p:cNvPr id="31" name="TextBox 31"/>
            <p:cNvSpPr txBox="1"/>
            <p:nvPr/>
          </p:nvSpPr>
          <p:spPr>
            <a:xfrm>
              <a:off x="7474718" y="3190399"/>
              <a:ext cx="2881363"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L = L_ce + lambda * KD(student || teacher)</a:t>
              </a:r>
            </a:p>
          </p:txBody>
        </p:sp>
      </p:grpSp>
      <p:grpSp>
        <p:nvGrpSpPr>
          <p:cNvPr id="39" name="Group 39"/>
          <p:cNvGrpSpPr/>
          <p:nvPr/>
        </p:nvGrpSpPr>
        <p:grpSpPr>
          <a:xfrm>
            <a:off x="6248400" y="3600450"/>
            <a:ext cx="5334000" cy="1638300"/>
            <a:chOff x="6248400" y="3600450"/>
            <a:chExt cx="5334000" cy="1638300"/>
          </a:xfrm>
        </p:grpSpPr>
        <p:sp>
          <p:nvSpPr>
            <p:cNvPr id="33" name="Rectangle 33"/>
            <p:cNvSpPr/>
            <p:nvPr/>
          </p:nvSpPr>
          <p:spPr>
            <a:xfrm>
              <a:off x="6248400" y="3600450"/>
              <a:ext cx="5334000" cy="1638300"/>
            </a:xfrm>
            <a:prstGeom prst="roundRect">
              <a:avLst>
                <a:gd name="adj" fmla="val 8140"/>
              </a:avLst>
            </a:prstGeom>
            <a:solidFill>
              <a:schemeClr val="accent5"/>
            </a:solidFill>
            <a:ln w="14288">
              <a:solidFill>
                <a:srgbClr val="26455F"/>
              </a:solidFill>
            </a:ln>
          </p:spPr>
        </p:sp>
        <p:sp>
          <p:nvSpPr>
            <p:cNvPr id="34" name="Rectangle 34"/>
            <p:cNvSpPr/>
            <p:nvPr/>
          </p:nvSpPr>
          <p:spPr>
            <a:xfrm>
              <a:off x="6248400" y="3600450"/>
              <a:ext cx="57150" cy="1638300"/>
            </a:xfrm>
            <a:prstGeom prst="roundRect">
              <a:avLst>
                <a:gd name="adj" fmla="val 50000"/>
              </a:avLst>
            </a:prstGeom>
            <a:solidFill>
              <a:srgbClr val="48C78E"/>
            </a:solidFill>
            <a:ln>
              <a:noFill/>
            </a:ln>
          </p:spPr>
        </p:sp>
        <p:sp>
          <p:nvSpPr>
            <p:cNvPr id="35" name="TextBox 35"/>
            <p:cNvSpPr txBox="1"/>
            <p:nvPr/>
          </p:nvSpPr>
          <p:spPr>
            <a:xfrm>
              <a:off x="6509004" y="3832860"/>
              <a:ext cx="1628959" cy="234696"/>
            </a:xfrm>
            <a:prstGeom prst="rect">
              <a:avLst/>
            </a:prstGeom>
            <a:noFill/>
            <a:ln>
              <a:noFill/>
            </a:ln>
          </p:spPr>
          <p:txBody>
            <a:bodyPr wrap="none" lIns="0" tIns="0" rIns="0" bIns="0" anchor="t" anchorCtr="0">
              <a:spAutoFit/>
            </a:bodyPr>
            <a:lstStyle/>
            <a:p>
              <a:pPr algn="l"/>
              <a:r>
                <a:rPr lang="en-US" sz="1200" b="1" dirty="0">
                  <a:solidFill>
                    <a:srgbClr val="48C78E"/>
                  </a:solidFill>
                  <a:latin typeface="+mn-lt"/>
                  <a:ea typeface="+mn-ea"/>
                  <a:cs typeface="+mn-cs"/>
                </a:rPr>
                <a:t>Crucially: no replay</a:t>
              </a:r>
            </a:p>
          </p:txBody>
        </p:sp>
        <p:sp>
          <p:nvSpPr>
            <p:cNvPr id="36" name="TextBox 36"/>
            <p:cNvSpPr txBox="1"/>
            <p:nvPr/>
          </p:nvSpPr>
          <p:spPr>
            <a:xfrm>
              <a:off x="6509956" y="4119801"/>
              <a:ext cx="3962606"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None of this stores or replays past samples. Old knowledge</a:t>
              </a:r>
            </a:p>
          </p:txBody>
        </p:sp>
        <p:sp>
          <p:nvSpPr>
            <p:cNvPr id="37" name="TextBox 37"/>
            <p:cNvSpPr txBox="1"/>
            <p:nvPr/>
          </p:nvSpPr>
          <p:spPr>
            <a:xfrm>
              <a:off x="6509956" y="4310301"/>
              <a:ext cx="3830937" cy="198025"/>
            </a:xfrm>
            <a:prstGeom prst="rect">
              <a:avLst/>
            </a:prstGeom>
            <a:noFill/>
            <a:ln>
              <a:noFill/>
            </a:ln>
          </p:spPr>
          <p:txBody>
            <a:bodyPr wrap="none" lIns="0" tIns="0" rIns="0" bIns="0" anchor="t" anchorCtr="0">
              <a:spAutoFit/>
            </a:bodyPr>
            <a:lstStyle/>
            <a:p>
              <a:pPr algn="l"/>
              <a:r>
                <a:rPr lang="en-US" sz="1010" dirty="0">
                  <a:solidFill>
                    <a:schemeClr val="dk1"/>
                  </a:solidFill>
                  <a:latin typeface="+mn-lt"/>
                  <a:ea typeface="+mn-ea"/>
                  <a:cs typeface="+mn-cs"/>
                </a:rPr>
                <a:t>is kept purely through the projector and the regularizer.</a:t>
              </a:r>
            </a:p>
          </p:txBody>
        </p:sp>
        <p:sp>
          <p:nvSpPr>
            <p:cNvPr id="38" name="TextBox 38"/>
            <p:cNvSpPr txBox="1"/>
            <p:nvPr/>
          </p:nvSpPr>
          <p:spPr>
            <a:xfrm>
              <a:off x="6509956" y="4919901"/>
              <a:ext cx="2915545" cy="198025"/>
            </a:xfrm>
            <a:prstGeom prst="rect">
              <a:avLst/>
            </a:prstGeom>
            <a:noFill/>
            <a:ln>
              <a:noFill/>
            </a:ln>
          </p:spPr>
          <p:txBody>
            <a:bodyPr wrap="none" lIns="0" tIns="0" rIns="0" bIns="0" anchor="t" anchorCtr="0">
              <a:spAutoFit/>
            </a:bodyPr>
            <a:lstStyle/>
            <a:p>
              <a:pPr algn="l"/>
              <a:r>
                <a:rPr lang="en-US" sz="1010" b="1" dirty="0">
                  <a:solidFill>
                    <a:srgbClr val="48C78E"/>
                  </a:solidFill>
                  <a:latin typeface="Consolas"/>
                  <a:ea typeface="Consolas"/>
                  <a:cs typeface="Consolas"/>
                </a:rPr>
                <a:t>memory kept in the weights, not a buffer</a:t>
              </a:r>
            </a:p>
          </p:txBody>
        </p:sp>
      </p:grpSp>
      <p:sp>
        <p:nvSpPr>
          <p:cNvPr id="40" name="cue_s05_c1_rawm_starts_orthogonal_projector_owm" title="cue_s05_c1_rawm_starts_orthogonal_projector_owm" descr="cue_s05_c1_rawm_starts_orthogonal_projector_owm RAWM starts from the orthogonal projector P of OWM, which points the update away from the subspace spanned by previous inputs. On top of it, the method builds a second projector Q that is orthogonal to P and scaled by the ratio beta of genuine to fake utteranc"/>
          <p:cNvSpPr/>
          <p:nvPr/>
        </p:nvSpPr>
        <p:spPr>
          <a:xfrm>
            <a:off x="609600" y="1504645"/>
            <a:ext cx="540959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ue_s05_c2_two_projectors_normalized_combined_m" title="cue_s05_c2_two_projectors_normalized_combined_m" descr="cue_s05_c2_two_projectors_normalized_combined_m The two projectors are normalized and combined into a modified direction R, so when a batch is mostly genuine the update leans toward preserving old knowledge, and otherwise it leans toward learning the new data."/>
          <p:cNvSpPr/>
          <p:nvPr/>
        </p:nvSpPr>
        <p:spPr>
          <a:xfrm>
            <a:off x="609600" y="3600450"/>
            <a:ext cx="540959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cue_s05_c3_datasets_recorded_under_very_differe" title="cue_s05_c3_datasets_recorded_under_very_differe" descr="cue_s05_c3_datasets_recorded_under_very_differe For datasets recorded under very different conditions, a regularization term treats the frozen pre-trained model as a teacher and forces the fine-tuned student to match its softened outputs, remembering the old inference distribution."/>
          <p:cNvSpPr/>
          <p:nvPr/>
        </p:nvSpPr>
        <p:spPr>
          <a:xfrm>
            <a:off x="6248399" y="1504645"/>
            <a:ext cx="5334000" cy="19428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cue_s05_c4_crucially_none_replays_past_samples" title="cue_s05_c4_crucially_none_replays_past_samples" descr="cue_s05_c4_crucially_none_replays_past_samples Crucially, none of this replays past samples."/>
          <p:cNvSpPr/>
          <p:nvPr/>
        </p:nvSpPr>
        <p:spPr>
          <a:xfrm>
            <a:off x="6248399" y="3600450"/>
            <a:ext cx="5334000" cy="163837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219060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DATASET / BENCHMARK</a:t>
            </a:r>
          </a:p>
        </p:txBody>
      </p:sp>
      <p:sp>
        <p:nvSpPr>
          <p:cNvPr id="4" name="TextBox 4"/>
          <p:cNvSpPr txBox="1"/>
          <p:nvPr/>
        </p:nvSpPr>
        <p:spPr>
          <a:xfrm>
            <a:off x="598170" y="804862"/>
            <a:ext cx="653792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Four fake-audio sets, plus two transfers</a:t>
            </a:r>
          </a:p>
        </p:txBody>
      </p:sp>
      <p:grpSp>
        <p:nvGrpSpPr>
          <p:cNvPr id="27" name="Group 27"/>
          <p:cNvGrpSpPr/>
          <p:nvPr/>
        </p:nvGrpSpPr>
        <p:grpSpPr>
          <a:xfrm>
            <a:off x="609600" y="1504950"/>
            <a:ext cx="10972800" cy="1257300"/>
            <a:chOff x="609600" y="1504950"/>
            <a:chExt cx="10972800" cy="1257300"/>
          </a:xfrm>
        </p:grpSpPr>
        <p:sp>
          <p:nvSpPr>
            <p:cNvPr id="5" name="Rectangle 5"/>
            <p:cNvSpPr/>
            <p:nvPr/>
          </p:nvSpPr>
          <p:spPr>
            <a:xfrm>
              <a:off x="609600" y="1504950"/>
              <a:ext cx="10972800" cy="1257300"/>
            </a:xfrm>
            <a:prstGeom prst="roundRect">
              <a:avLst>
                <a:gd name="adj" fmla="val 10606"/>
              </a:avLst>
            </a:prstGeom>
            <a:solidFill>
              <a:schemeClr val="accent5"/>
            </a:solidFill>
            <a:ln w="14288">
              <a:solidFill>
                <a:srgbClr val="26455F"/>
              </a:solidFill>
            </a:ln>
          </p:spPr>
        </p:sp>
        <p:sp>
          <p:nvSpPr>
            <p:cNvPr id="6" name="Rectangle 6"/>
            <p:cNvSpPr/>
            <p:nvPr/>
          </p:nvSpPr>
          <p:spPr>
            <a:xfrm>
              <a:off x="609600" y="1504950"/>
              <a:ext cx="57150" cy="1257300"/>
            </a:xfrm>
            <a:prstGeom prst="roundRect">
              <a:avLst>
                <a:gd name="adj" fmla="val 50000"/>
              </a:avLst>
            </a:prstGeom>
            <a:solidFill>
              <a:schemeClr val="accent2"/>
            </a:solidFill>
            <a:ln>
              <a:noFill/>
            </a:ln>
          </p:spPr>
        </p:sp>
        <p:sp>
          <p:nvSpPr>
            <p:cNvPr id="7" name="TextBox 7"/>
            <p:cNvSpPr txBox="1"/>
            <p:nvPr/>
          </p:nvSpPr>
          <p:spPr>
            <a:xfrm>
              <a:off x="870204" y="1718310"/>
              <a:ext cx="3927493" cy="234696"/>
            </a:xfrm>
            <a:prstGeom prst="rect">
              <a:avLst/>
            </a:prstGeom>
            <a:noFill/>
            <a:ln>
              <a:noFill/>
            </a:ln>
          </p:spPr>
          <p:txBody>
            <a:bodyPr wrap="none" lIns="0" tIns="0" rIns="0" bIns="0" anchor="t" anchorCtr="0">
              <a:spAutoFit/>
            </a:bodyPr>
            <a:lstStyle/>
            <a:p>
              <a:pPr algn="l"/>
              <a:r>
                <a:rPr lang="en-US" sz="1200" b="1" dirty="0">
                  <a:solidFill>
                    <a:schemeClr val="dk1"/>
                  </a:solidFill>
                  <a:latin typeface="+mn-lt"/>
                  <a:ea typeface="+mn-ea"/>
                  <a:cs typeface="+mn-cs"/>
                </a:rPr>
                <a:t>A continual-learning sequence of four datasets</a:t>
              </a:r>
            </a:p>
          </p:txBody>
        </p:sp>
        <p:sp>
          <p:nvSpPr>
            <p:cNvPr id="8" name="Rectangle 8"/>
            <p:cNvSpPr/>
            <p:nvPr/>
          </p:nvSpPr>
          <p:spPr>
            <a:xfrm>
              <a:off x="1066800" y="2114550"/>
              <a:ext cx="1866900" cy="495300"/>
            </a:xfrm>
            <a:prstGeom prst="roundRect">
              <a:avLst>
                <a:gd name="adj" fmla="val 19231"/>
              </a:avLst>
            </a:prstGeom>
            <a:solidFill>
              <a:schemeClr val="accent6"/>
            </a:solidFill>
            <a:ln w="14288">
              <a:solidFill>
                <a:schemeClr val="accent2"/>
              </a:solidFill>
            </a:ln>
          </p:spPr>
        </p:sp>
        <p:sp>
          <p:nvSpPr>
            <p:cNvPr id="9" name="Rectangle 9"/>
            <p:cNvSpPr/>
            <p:nvPr/>
          </p:nvSpPr>
          <p:spPr>
            <a:xfrm>
              <a:off x="1066800" y="2114550"/>
              <a:ext cx="47625" cy="495300"/>
            </a:xfrm>
            <a:prstGeom prst="roundRect">
              <a:avLst>
                <a:gd name="adj" fmla="val 40000"/>
              </a:avLst>
            </a:prstGeom>
            <a:solidFill>
              <a:schemeClr val="accent2"/>
            </a:solidFill>
            <a:ln>
              <a:noFill/>
            </a:ln>
          </p:spPr>
        </p:sp>
        <p:sp>
          <p:nvSpPr>
            <p:cNvPr id="10" name="TextBox 10"/>
            <p:cNvSpPr txBox="1"/>
            <p:nvPr/>
          </p:nvSpPr>
          <p:spPr>
            <a:xfrm>
              <a:off x="1214056" y="2233851"/>
              <a:ext cx="122876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ASVspoof 2019 LA</a:t>
              </a:r>
            </a:p>
          </p:txBody>
        </p:sp>
        <p:sp>
          <p:nvSpPr>
            <p:cNvPr id="11" name="TextBox 11"/>
            <p:cNvSpPr txBox="1"/>
            <p:nvPr/>
          </p:nvSpPr>
          <p:spPr>
            <a:xfrm>
              <a:off x="1214438" y="2421493"/>
              <a:ext cx="410679"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source</a:t>
              </a:r>
            </a:p>
          </p:txBody>
        </p:sp>
        <p:sp>
          <p:nvSpPr>
            <p:cNvPr id="12" name="TextBox 12"/>
            <p:cNvSpPr txBox="1"/>
            <p:nvPr/>
          </p:nvSpPr>
          <p:spPr>
            <a:xfrm>
              <a:off x="2911342" y="22031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-&gt;</a:t>
              </a:r>
            </a:p>
          </p:txBody>
        </p:sp>
        <p:sp>
          <p:nvSpPr>
            <p:cNvPr id="13" name="Rectangle 13"/>
            <p:cNvSpPr/>
            <p:nvPr/>
          </p:nvSpPr>
          <p:spPr>
            <a:xfrm>
              <a:off x="3314700" y="2114550"/>
              <a:ext cx="1866900" cy="495300"/>
            </a:xfrm>
            <a:prstGeom prst="roundRect">
              <a:avLst>
                <a:gd name="adj" fmla="val 19231"/>
              </a:avLst>
            </a:prstGeom>
            <a:solidFill>
              <a:schemeClr val="accent6"/>
            </a:solidFill>
            <a:ln w="14288">
              <a:solidFill>
                <a:srgbClr val="34D3C0"/>
              </a:solidFill>
            </a:ln>
          </p:spPr>
        </p:sp>
        <p:sp>
          <p:nvSpPr>
            <p:cNvPr id="14" name="Rectangle 14"/>
            <p:cNvSpPr/>
            <p:nvPr/>
          </p:nvSpPr>
          <p:spPr>
            <a:xfrm>
              <a:off x="3314700" y="2114550"/>
              <a:ext cx="47625" cy="495300"/>
            </a:xfrm>
            <a:prstGeom prst="roundRect">
              <a:avLst>
                <a:gd name="adj" fmla="val 40000"/>
              </a:avLst>
            </a:prstGeom>
            <a:solidFill>
              <a:srgbClr val="34D3C0"/>
            </a:solidFill>
            <a:ln>
              <a:noFill/>
            </a:ln>
          </p:spPr>
        </p:sp>
        <p:sp>
          <p:nvSpPr>
            <p:cNvPr id="15" name="TextBox 15"/>
            <p:cNvSpPr txBox="1"/>
            <p:nvPr/>
          </p:nvSpPr>
          <p:spPr>
            <a:xfrm>
              <a:off x="3461956" y="2233851"/>
              <a:ext cx="1016272"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ASVspoof 2015</a:t>
              </a:r>
            </a:p>
          </p:txBody>
        </p:sp>
        <p:sp>
          <p:nvSpPr>
            <p:cNvPr id="16" name="TextBox 16"/>
            <p:cNvSpPr txBox="1"/>
            <p:nvPr/>
          </p:nvSpPr>
          <p:spPr>
            <a:xfrm>
              <a:off x="3462338" y="2421493"/>
              <a:ext cx="143243"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t2</a:t>
              </a:r>
            </a:p>
          </p:txBody>
        </p:sp>
        <p:sp>
          <p:nvSpPr>
            <p:cNvPr id="17" name="TextBox 17"/>
            <p:cNvSpPr txBox="1"/>
            <p:nvPr/>
          </p:nvSpPr>
          <p:spPr>
            <a:xfrm>
              <a:off x="5159242" y="22031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-&gt;</a:t>
              </a:r>
            </a:p>
          </p:txBody>
        </p:sp>
        <p:sp>
          <p:nvSpPr>
            <p:cNvPr id="18" name="Rectangle 18"/>
            <p:cNvSpPr/>
            <p:nvPr/>
          </p:nvSpPr>
          <p:spPr>
            <a:xfrm>
              <a:off x="5562600" y="2114550"/>
              <a:ext cx="1866900" cy="495300"/>
            </a:xfrm>
            <a:prstGeom prst="roundRect">
              <a:avLst>
                <a:gd name="adj" fmla="val 19231"/>
              </a:avLst>
            </a:prstGeom>
            <a:solidFill>
              <a:schemeClr val="accent6"/>
            </a:solidFill>
            <a:ln w="14288">
              <a:solidFill>
                <a:srgbClr val="F2C14E"/>
              </a:solidFill>
            </a:ln>
          </p:spPr>
        </p:sp>
        <p:sp>
          <p:nvSpPr>
            <p:cNvPr id="19" name="Rectangle 19"/>
            <p:cNvSpPr/>
            <p:nvPr/>
          </p:nvSpPr>
          <p:spPr>
            <a:xfrm>
              <a:off x="5562600" y="2114550"/>
              <a:ext cx="47625" cy="495300"/>
            </a:xfrm>
            <a:prstGeom prst="roundRect">
              <a:avLst>
                <a:gd name="adj" fmla="val 40000"/>
              </a:avLst>
            </a:prstGeom>
            <a:solidFill>
              <a:srgbClr val="F2C14E"/>
            </a:solidFill>
            <a:ln>
              <a:noFill/>
            </a:ln>
          </p:spPr>
        </p:sp>
        <p:sp>
          <p:nvSpPr>
            <p:cNvPr id="20" name="TextBox 20"/>
            <p:cNvSpPr txBox="1"/>
            <p:nvPr/>
          </p:nvSpPr>
          <p:spPr>
            <a:xfrm>
              <a:off x="5709856" y="2233851"/>
              <a:ext cx="636296"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VCC 2020</a:t>
              </a:r>
            </a:p>
          </p:txBody>
        </p:sp>
        <p:sp>
          <p:nvSpPr>
            <p:cNvPr id="21" name="TextBox 21"/>
            <p:cNvSpPr txBox="1"/>
            <p:nvPr/>
          </p:nvSpPr>
          <p:spPr>
            <a:xfrm>
              <a:off x="5710238" y="2421493"/>
              <a:ext cx="143243"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t3</a:t>
              </a:r>
            </a:p>
          </p:txBody>
        </p:sp>
        <p:sp>
          <p:nvSpPr>
            <p:cNvPr id="22" name="TextBox 22"/>
            <p:cNvSpPr txBox="1"/>
            <p:nvPr/>
          </p:nvSpPr>
          <p:spPr>
            <a:xfrm>
              <a:off x="7407142" y="2203132"/>
              <a:ext cx="273316" cy="322707"/>
            </a:xfrm>
            <a:prstGeom prst="rect">
              <a:avLst/>
            </a:prstGeom>
            <a:noFill/>
            <a:ln>
              <a:noFill/>
            </a:ln>
          </p:spPr>
          <p:txBody>
            <a:bodyPr wrap="none" lIns="0" tIns="0" rIns="0" bIns="0" anchor="t" anchorCtr="0">
              <a:spAutoFit/>
            </a:bodyPr>
            <a:lstStyle/>
            <a:p>
              <a:pPr algn="ctr"/>
              <a:r>
                <a:rPr lang="en-US" sz="1650" b="1" dirty="0">
                  <a:solidFill>
                    <a:schemeClr val="dk2"/>
                  </a:solidFill>
                  <a:latin typeface="+mn-lt"/>
                  <a:ea typeface="+mn-ea"/>
                  <a:cs typeface="+mn-cs"/>
                </a:rPr>
                <a:t>-&gt;</a:t>
              </a:r>
            </a:p>
          </p:txBody>
        </p:sp>
        <p:sp>
          <p:nvSpPr>
            <p:cNvPr id="23" name="Rectangle 23"/>
            <p:cNvSpPr/>
            <p:nvPr/>
          </p:nvSpPr>
          <p:spPr>
            <a:xfrm>
              <a:off x="7810500" y="2114550"/>
              <a:ext cx="1866900" cy="495300"/>
            </a:xfrm>
            <a:prstGeom prst="roundRect">
              <a:avLst>
                <a:gd name="adj" fmla="val 19231"/>
              </a:avLst>
            </a:prstGeom>
            <a:solidFill>
              <a:schemeClr val="accent6"/>
            </a:solidFill>
            <a:ln w="14288">
              <a:solidFill>
                <a:srgbClr val="F2685C"/>
              </a:solidFill>
            </a:ln>
          </p:spPr>
        </p:sp>
        <p:sp>
          <p:nvSpPr>
            <p:cNvPr id="24" name="Rectangle 24"/>
            <p:cNvSpPr/>
            <p:nvPr/>
          </p:nvSpPr>
          <p:spPr>
            <a:xfrm>
              <a:off x="7810500" y="2114550"/>
              <a:ext cx="47625" cy="495300"/>
            </a:xfrm>
            <a:prstGeom prst="roundRect">
              <a:avLst>
                <a:gd name="adj" fmla="val 40000"/>
              </a:avLst>
            </a:prstGeom>
            <a:solidFill>
              <a:srgbClr val="F2685C"/>
            </a:solidFill>
            <a:ln>
              <a:noFill/>
            </a:ln>
          </p:spPr>
        </p:sp>
        <p:sp>
          <p:nvSpPr>
            <p:cNvPr id="25" name="TextBox 25"/>
            <p:cNvSpPr txBox="1"/>
            <p:nvPr/>
          </p:nvSpPr>
          <p:spPr>
            <a:xfrm>
              <a:off x="7957756" y="2233851"/>
              <a:ext cx="805369" cy="198025"/>
            </a:xfrm>
            <a:prstGeom prst="rect">
              <a:avLst/>
            </a:prstGeom>
            <a:noFill/>
            <a:ln>
              <a:noFill/>
            </a:ln>
          </p:spPr>
          <p:txBody>
            <a:bodyPr wrap="none" lIns="0" tIns="0" rIns="0" bIns="0" anchor="t" anchorCtr="0">
              <a:spAutoFit/>
            </a:bodyPr>
            <a:lstStyle/>
            <a:p>
              <a:pPr algn="l"/>
              <a:r>
                <a:rPr lang="en-US" sz="1010" b="1" dirty="0">
                  <a:solidFill>
                    <a:schemeClr val="dk1"/>
                  </a:solidFill>
                  <a:latin typeface="+mn-lt"/>
                  <a:ea typeface="+mn-ea"/>
                  <a:cs typeface="+mn-cs"/>
                </a:rPr>
                <a:t>In-the-Wild</a:t>
              </a:r>
            </a:p>
          </p:txBody>
        </p:sp>
        <p:sp>
          <p:nvSpPr>
            <p:cNvPr id="26" name="TextBox 26"/>
            <p:cNvSpPr txBox="1"/>
            <p:nvPr/>
          </p:nvSpPr>
          <p:spPr>
            <a:xfrm>
              <a:off x="7958138" y="2421493"/>
              <a:ext cx="143243" cy="169069"/>
            </a:xfrm>
            <a:prstGeom prst="rect">
              <a:avLst/>
            </a:prstGeom>
            <a:noFill/>
            <a:ln>
              <a:noFill/>
            </a:ln>
          </p:spPr>
          <p:txBody>
            <a:bodyPr wrap="none" lIns="0" tIns="0" rIns="0" bIns="0" anchor="t" anchorCtr="0">
              <a:spAutoFit/>
            </a:bodyPr>
            <a:lstStyle/>
            <a:p>
              <a:pPr algn="l"/>
              <a:r>
                <a:rPr lang="en-US" sz="860" b="1" dirty="0">
                  <a:solidFill>
                    <a:srgbClr val="6E869C"/>
                  </a:solidFill>
                  <a:latin typeface="+mn-lt"/>
                  <a:ea typeface="+mn-ea"/>
                  <a:cs typeface="+mn-cs"/>
                </a:rPr>
                <a:t>t4</a:t>
              </a:r>
            </a:p>
          </p:txBody>
        </p:sp>
      </p:grpSp>
      <p:grpSp>
        <p:nvGrpSpPr>
          <p:cNvPr id="33" name="Group 33"/>
          <p:cNvGrpSpPr/>
          <p:nvPr/>
        </p:nvGrpSpPr>
        <p:grpSpPr>
          <a:xfrm>
            <a:off x="609600" y="2914650"/>
            <a:ext cx="5334000" cy="1333500"/>
            <a:chOff x="609600" y="2914650"/>
            <a:chExt cx="5334000" cy="1333500"/>
          </a:xfrm>
        </p:grpSpPr>
        <p:sp>
          <p:nvSpPr>
            <p:cNvPr id="28" name="Rectangle 28"/>
            <p:cNvSpPr/>
            <p:nvPr/>
          </p:nvSpPr>
          <p:spPr>
            <a:xfrm>
              <a:off x="609600" y="2914650"/>
              <a:ext cx="5334000" cy="1333500"/>
            </a:xfrm>
            <a:prstGeom prst="roundRect">
              <a:avLst>
                <a:gd name="adj" fmla="val 10000"/>
              </a:avLst>
            </a:prstGeom>
            <a:solidFill>
              <a:schemeClr val="accent5"/>
            </a:solidFill>
            <a:ln w="14288">
              <a:solidFill>
                <a:srgbClr val="26455F"/>
              </a:solidFill>
            </a:ln>
          </p:spPr>
        </p:sp>
        <p:sp>
          <p:nvSpPr>
            <p:cNvPr id="29" name="Rectangle 29"/>
            <p:cNvSpPr/>
            <p:nvPr/>
          </p:nvSpPr>
          <p:spPr>
            <a:xfrm>
              <a:off x="609600" y="2914650"/>
              <a:ext cx="57150" cy="1333500"/>
            </a:xfrm>
            <a:prstGeom prst="roundRect">
              <a:avLst>
                <a:gd name="adj" fmla="val 50000"/>
              </a:avLst>
            </a:prstGeom>
            <a:solidFill>
              <a:srgbClr val="F2685C"/>
            </a:solidFill>
            <a:ln>
              <a:noFill/>
            </a:ln>
          </p:spPr>
        </p:sp>
        <p:sp>
          <p:nvSpPr>
            <p:cNvPr id="30" name="TextBox 30"/>
            <p:cNvSpPr txBox="1"/>
            <p:nvPr/>
          </p:nvSpPr>
          <p:spPr>
            <a:xfrm>
              <a:off x="870014" y="3123962"/>
              <a:ext cx="2121287" cy="242030"/>
            </a:xfrm>
            <a:prstGeom prst="rect">
              <a:avLst/>
            </a:prstGeom>
            <a:noFill/>
            <a:ln>
              <a:noFill/>
            </a:ln>
          </p:spPr>
          <p:txBody>
            <a:bodyPr wrap="none" lIns="0" tIns="0" rIns="0" bIns="0" anchor="t" anchorCtr="0">
              <a:spAutoFit/>
            </a:bodyPr>
            <a:lstStyle/>
            <a:p>
              <a:pPr algn="l"/>
              <a:r>
                <a:rPr lang="en-US" sz="1240" b="1" dirty="0">
                  <a:solidFill>
                    <a:srgbClr val="F2685C"/>
                  </a:solidFill>
                  <a:latin typeface="+mn-lt"/>
                  <a:ea typeface="+mn-ea"/>
                  <a:cs typeface="+mn-cs"/>
                </a:rPr>
                <a:t>Each a distinct condition</a:t>
              </a:r>
            </a:p>
          </p:txBody>
        </p:sp>
        <p:sp>
          <p:nvSpPr>
            <p:cNvPr id="31" name="TextBox 31"/>
            <p:cNvSpPr txBox="1"/>
            <p:nvPr/>
          </p:nvSpPr>
          <p:spPr>
            <a:xfrm>
              <a:off x="870966" y="3429952"/>
              <a:ext cx="383174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Every set has its own acoustic and linguistic condition;</a:t>
              </a:r>
            </a:p>
          </p:txBody>
        </p:sp>
        <p:sp>
          <p:nvSpPr>
            <p:cNvPr id="32" name="TextBox 32"/>
            <p:cNvSpPr txBox="1"/>
            <p:nvPr/>
          </p:nvSpPr>
          <p:spPr>
            <a:xfrm>
              <a:off x="870966" y="3629978"/>
              <a:ext cx="374485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In-the-Wild is real-world deepfakes of public figures.</a:t>
              </a:r>
            </a:p>
          </p:txBody>
        </p:sp>
      </p:grpSp>
      <p:grpSp>
        <p:nvGrpSpPr>
          <p:cNvPr id="41" name="Group 41"/>
          <p:cNvGrpSpPr/>
          <p:nvPr/>
        </p:nvGrpSpPr>
        <p:grpSpPr>
          <a:xfrm>
            <a:off x="6248400" y="2914650"/>
            <a:ext cx="5334000" cy="1333500"/>
            <a:chOff x="6248400" y="2914650"/>
            <a:chExt cx="5334000" cy="1333500"/>
          </a:xfrm>
        </p:grpSpPr>
        <p:sp>
          <p:nvSpPr>
            <p:cNvPr id="34" name="Rectangle 34"/>
            <p:cNvSpPr/>
            <p:nvPr/>
          </p:nvSpPr>
          <p:spPr>
            <a:xfrm>
              <a:off x="6248400" y="2914650"/>
              <a:ext cx="5334000" cy="1333500"/>
            </a:xfrm>
            <a:prstGeom prst="roundRect">
              <a:avLst>
                <a:gd name="adj" fmla="val 10000"/>
              </a:avLst>
            </a:prstGeom>
            <a:solidFill>
              <a:schemeClr val="accent5"/>
            </a:solidFill>
            <a:ln w="14288">
              <a:solidFill>
                <a:srgbClr val="26455F"/>
              </a:solidFill>
            </a:ln>
          </p:spPr>
        </p:sp>
        <p:sp>
          <p:nvSpPr>
            <p:cNvPr id="35" name="Rectangle 35"/>
            <p:cNvSpPr/>
            <p:nvPr/>
          </p:nvSpPr>
          <p:spPr>
            <a:xfrm>
              <a:off x="6248400" y="2914650"/>
              <a:ext cx="57150" cy="1333500"/>
            </a:xfrm>
            <a:prstGeom prst="roundRect">
              <a:avLst>
                <a:gd name="adj" fmla="val 50000"/>
              </a:avLst>
            </a:prstGeom>
            <a:solidFill>
              <a:srgbClr val="34D3C0"/>
            </a:solidFill>
            <a:ln>
              <a:noFill/>
            </a:ln>
          </p:spPr>
        </p:sp>
        <p:sp>
          <p:nvSpPr>
            <p:cNvPr id="36" name="TextBox 36"/>
            <p:cNvSpPr txBox="1"/>
            <p:nvPr/>
          </p:nvSpPr>
          <p:spPr>
            <a:xfrm>
              <a:off x="6508814" y="3123962"/>
              <a:ext cx="2551501"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Measured by Equal Error Rate</a:t>
              </a:r>
            </a:p>
          </p:txBody>
        </p:sp>
        <p:sp>
          <p:nvSpPr>
            <p:cNvPr id="37" name="TextBox 37"/>
            <p:cNvSpPr txBox="1"/>
            <p:nvPr/>
          </p:nvSpPr>
          <p:spPr>
            <a:xfrm>
              <a:off x="6509766" y="3429952"/>
              <a:ext cx="371164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Detection quality on every dataset is reported as the</a:t>
              </a:r>
            </a:p>
          </p:txBody>
        </p:sp>
        <p:sp>
          <p:nvSpPr>
            <p:cNvPr id="38" name="TextBox 38"/>
            <p:cNvSpPr txBox="1"/>
            <p:nvPr/>
          </p:nvSpPr>
          <p:spPr>
            <a:xfrm>
              <a:off x="6509766" y="3629978"/>
              <a:ext cx="180913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Equal Error Rate, or EER.</a:t>
              </a:r>
            </a:p>
          </p:txBody>
        </p:sp>
        <p:sp>
          <p:nvSpPr>
            <p:cNvPr id="39" name="Rectangle 39"/>
            <p:cNvSpPr/>
            <p:nvPr/>
          </p:nvSpPr>
          <p:spPr>
            <a:xfrm>
              <a:off x="6515100" y="3848100"/>
              <a:ext cx="4800600" cy="285750"/>
            </a:xfrm>
            <a:prstGeom prst="roundRect">
              <a:avLst>
                <a:gd name="adj" fmla="val 26667"/>
              </a:avLst>
            </a:prstGeom>
            <a:solidFill>
              <a:schemeClr val="accent6"/>
            </a:solidFill>
            <a:ln w="14288">
              <a:solidFill>
                <a:srgbClr val="26455F"/>
              </a:solidFill>
            </a:ln>
          </p:spPr>
        </p:sp>
        <p:sp>
          <p:nvSpPr>
            <p:cNvPr id="40" name="TextBox 40"/>
            <p:cNvSpPr txBox="1"/>
            <p:nvPr/>
          </p:nvSpPr>
          <p:spPr>
            <a:xfrm>
              <a:off x="7926643" y="3942874"/>
              <a:ext cx="1977515"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lower EER = better detection</a:t>
              </a:r>
            </a:p>
          </p:txBody>
        </p:sp>
      </p:grpSp>
      <p:grpSp>
        <p:nvGrpSpPr>
          <p:cNvPr id="47" name="Group 47"/>
          <p:cNvGrpSpPr/>
          <p:nvPr/>
        </p:nvGrpSpPr>
        <p:grpSpPr>
          <a:xfrm>
            <a:off x="609600" y="4400550"/>
            <a:ext cx="10972800" cy="838200"/>
            <a:chOff x="609600" y="4400550"/>
            <a:chExt cx="10972800" cy="838200"/>
          </a:xfrm>
        </p:grpSpPr>
        <p:sp>
          <p:nvSpPr>
            <p:cNvPr id="42" name="Rectangle 42"/>
            <p:cNvSpPr/>
            <p:nvPr/>
          </p:nvSpPr>
          <p:spPr>
            <a:xfrm>
              <a:off x="609600" y="4400550"/>
              <a:ext cx="10972800" cy="838200"/>
            </a:xfrm>
            <a:prstGeom prst="roundRect">
              <a:avLst>
                <a:gd name="adj" fmla="val 15909"/>
              </a:avLst>
            </a:prstGeom>
            <a:solidFill>
              <a:srgbClr val="2A2417"/>
            </a:solidFill>
            <a:ln w="14288">
              <a:solidFill>
                <a:srgbClr val="F2C14E"/>
              </a:solidFill>
            </a:ln>
          </p:spPr>
        </p:sp>
        <p:sp>
          <p:nvSpPr>
            <p:cNvPr id="43" name="Rectangle 43"/>
            <p:cNvSpPr/>
            <p:nvPr/>
          </p:nvSpPr>
          <p:spPr>
            <a:xfrm>
              <a:off x="609600" y="4400550"/>
              <a:ext cx="57150" cy="838200"/>
            </a:xfrm>
            <a:prstGeom prst="roundRect">
              <a:avLst>
                <a:gd name="adj" fmla="val 50000"/>
              </a:avLst>
            </a:prstGeom>
            <a:solidFill>
              <a:srgbClr val="F2C14E"/>
            </a:solidFill>
            <a:ln>
              <a:noFill/>
            </a:ln>
          </p:spPr>
        </p:sp>
        <p:sp>
          <p:nvSpPr>
            <p:cNvPr id="44" name="TextBox 44"/>
            <p:cNvSpPr txBox="1"/>
            <p:nvPr/>
          </p:nvSpPr>
          <p:spPr>
            <a:xfrm>
              <a:off x="870204" y="4613910"/>
              <a:ext cx="105220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Beyond audio</a:t>
              </a:r>
            </a:p>
          </p:txBody>
        </p:sp>
        <p:sp>
          <p:nvSpPr>
            <p:cNvPr id="45" name="TextBox 45"/>
            <p:cNvSpPr txBox="1"/>
            <p:nvPr/>
          </p:nvSpPr>
          <p:spPr>
            <a:xfrm>
              <a:off x="1994916" y="4572952"/>
              <a:ext cx="6386554"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To show breadth, RAWM is also evaluated on speech emotion recognition and on the CLEAR-10</a:t>
              </a:r>
            </a:p>
          </p:txBody>
        </p:sp>
        <p:sp>
          <p:nvSpPr>
            <p:cNvPr id="46" name="TextBox 46"/>
            <p:cNvSpPr txBox="1"/>
            <p:nvPr/>
          </p:nvSpPr>
          <p:spPr>
            <a:xfrm>
              <a:off x="1994916" y="4782502"/>
              <a:ext cx="2067325"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image recognition benchmark.</a:t>
              </a:r>
            </a:p>
          </p:txBody>
        </p:sp>
      </p:grpSp>
      <p:sp>
        <p:nvSpPr>
          <p:cNvPr id="48" name="cue_s06_c1_experiments_run_four_fake_audio" title="cue_s06_c1_experiments_run_four_fake_audio" descr="cue_s06_c1_experiments_run_four_fake_audio Experiments run on four fake audio datasets in a continual-learning sequence: ASVspoof 2019 LA as the source, then ASVspoof 2015, the Voice Conversion Challenge 2020 set, and the In-the-Wild dataset."/>
          <p:cNvSpPr/>
          <p:nvPr/>
        </p:nvSpPr>
        <p:spPr>
          <a:xfrm>
            <a:off x="609600" y="1504645"/>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ue_s06_c2_distinct_acoustic_linguistic_conditi" title="cue_s06_c2_distinct_acoustic_linguistic_conditi" descr="cue_s06_c2_distinct_acoustic_linguistic_conditi Each is a distinct acoustic and linguistic condition, with In-the-Wild being real-world deepfakes of public figures."/>
          <p:cNvSpPr/>
          <p:nvPr/>
        </p:nvSpPr>
        <p:spPr>
          <a:xfrm>
            <a:off x="609600" y="291465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6_c3_detection_quality_reported_equal_err" title="cue_s06_c3_detection_quality_reported_equal_err" descr="cue_s06_c3_detection_quality_reported_equal_err Detection quality is reported as Equal Error Rate."/>
          <p:cNvSpPr/>
          <p:nvPr/>
        </p:nvSpPr>
        <p:spPr>
          <a:xfrm>
            <a:off x="6248399" y="2914650"/>
            <a:ext cx="5334000" cy="1333195"/>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6_c4_show_breadth_method_also_evaluated" title="cue_s06_c4_show_breadth_method_also_evaluated" descr="cue_s06_c4_show_breadth_method_also_evaluated To show breadth, the method is also evaluated on speech emotion recognition and on the CLEAR-10 image recognition benchmark."/>
          <p:cNvSpPr/>
          <p:nvPr/>
        </p:nvSpPr>
        <p:spPr>
          <a:xfrm>
            <a:off x="609600" y="4400778"/>
            <a:ext cx="10972800" cy="83804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130290"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KEY RESULT</a:t>
            </a:r>
          </a:p>
        </p:txBody>
      </p:sp>
      <p:sp>
        <p:nvSpPr>
          <p:cNvPr id="4" name="TextBox 4"/>
          <p:cNvSpPr txBox="1"/>
          <p:nvPr/>
        </p:nvSpPr>
        <p:spPr>
          <a:xfrm>
            <a:off x="598170" y="804862"/>
            <a:ext cx="6203745"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Ten times less forgetting, best on both</a:t>
            </a:r>
          </a:p>
        </p:txBody>
      </p:sp>
      <p:grpSp>
        <p:nvGrpSpPr>
          <p:cNvPr id="25" name="Group 25"/>
          <p:cNvGrpSpPr/>
          <p:nvPr/>
        </p:nvGrpSpPr>
        <p:grpSpPr>
          <a:xfrm>
            <a:off x="609600" y="1504950"/>
            <a:ext cx="10972800" cy="1428750"/>
            <a:chOff x="609600" y="1504950"/>
            <a:chExt cx="10972800" cy="1428750"/>
          </a:xfrm>
        </p:grpSpPr>
        <p:sp>
          <p:nvSpPr>
            <p:cNvPr id="5" name="Rectangle 5"/>
            <p:cNvSpPr/>
            <p:nvPr/>
          </p:nvSpPr>
          <p:spPr>
            <a:xfrm>
              <a:off x="609600" y="1504950"/>
              <a:ext cx="10972800" cy="1428750"/>
            </a:xfrm>
            <a:prstGeom prst="roundRect">
              <a:avLst>
                <a:gd name="adj" fmla="val 9333"/>
              </a:avLst>
            </a:prstGeom>
            <a:solidFill>
              <a:srgbClr val="0F2E2B"/>
            </a:solidFill>
            <a:ln w="14288">
              <a:solidFill>
                <a:srgbClr val="48C78E"/>
              </a:solidFill>
            </a:ln>
          </p:spPr>
        </p:sp>
        <p:sp>
          <p:nvSpPr>
            <p:cNvPr id="6" name="Rectangle 6"/>
            <p:cNvSpPr/>
            <p:nvPr/>
          </p:nvSpPr>
          <p:spPr>
            <a:xfrm>
              <a:off x="609600" y="1504950"/>
              <a:ext cx="57150" cy="1428750"/>
            </a:xfrm>
            <a:prstGeom prst="roundRect">
              <a:avLst>
                <a:gd name="adj" fmla="val 50000"/>
              </a:avLst>
            </a:prstGeom>
            <a:solidFill>
              <a:srgbClr val="48C78E"/>
            </a:solidFill>
            <a:ln>
              <a:noFill/>
            </a:ln>
          </p:spPr>
        </p:sp>
        <p:sp>
          <p:nvSpPr>
            <p:cNvPr id="7" name="TextBox 7"/>
            <p:cNvSpPr txBox="1"/>
            <p:nvPr/>
          </p:nvSpPr>
          <p:spPr>
            <a:xfrm>
              <a:off x="870014" y="1733312"/>
              <a:ext cx="4830470"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RAWM cuts forgetting to about one tenth of fine-tuning</a:t>
              </a:r>
            </a:p>
          </p:txBody>
        </p:sp>
        <p:sp>
          <p:nvSpPr>
            <p:cNvPr id="8" name="Rectangle 8"/>
            <p:cNvSpPr/>
            <p:nvPr/>
          </p:nvSpPr>
          <p:spPr>
            <a:xfrm>
              <a:off x="876300" y="2038350"/>
              <a:ext cx="2095500" cy="762000"/>
            </a:xfrm>
            <a:prstGeom prst="roundRect">
              <a:avLst>
                <a:gd name="adj" fmla="val 15000"/>
              </a:avLst>
            </a:prstGeom>
            <a:solidFill>
              <a:schemeClr val="accent6"/>
            </a:solidFill>
            <a:ln w="14288">
              <a:solidFill>
                <a:srgbClr val="26455F"/>
              </a:solidFill>
            </a:ln>
          </p:spPr>
        </p:sp>
        <p:sp>
          <p:nvSpPr>
            <p:cNvPr id="9" name="TextBox 9"/>
            <p:cNvSpPr txBox="1"/>
            <p:nvPr/>
          </p:nvSpPr>
          <p:spPr>
            <a:xfrm>
              <a:off x="1517197" y="2214372"/>
              <a:ext cx="813706"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~1/10</a:t>
              </a:r>
            </a:p>
          </p:txBody>
        </p:sp>
        <p:sp>
          <p:nvSpPr>
            <p:cNvPr id="10" name="TextBox 10"/>
            <p:cNvSpPr txBox="1"/>
            <p:nvPr/>
          </p:nvSpPr>
          <p:spPr>
            <a:xfrm>
              <a:off x="1145320" y="2546747"/>
              <a:ext cx="155746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forgetting vs fine-tune</a:t>
              </a:r>
            </a:p>
          </p:txBody>
        </p:sp>
        <p:sp>
          <p:nvSpPr>
            <p:cNvPr id="11" name="Rectangle 11"/>
            <p:cNvSpPr/>
            <p:nvPr/>
          </p:nvSpPr>
          <p:spPr>
            <a:xfrm>
              <a:off x="3162300" y="2038350"/>
              <a:ext cx="2095500" cy="762000"/>
            </a:xfrm>
            <a:prstGeom prst="roundRect">
              <a:avLst>
                <a:gd name="adj" fmla="val 15000"/>
              </a:avLst>
            </a:prstGeom>
            <a:solidFill>
              <a:schemeClr val="accent6"/>
            </a:solidFill>
            <a:ln w="14288">
              <a:solidFill>
                <a:srgbClr val="26455F"/>
              </a:solidFill>
            </a:ln>
          </p:spPr>
        </p:sp>
        <p:sp>
          <p:nvSpPr>
            <p:cNvPr id="12" name="TextBox 12"/>
            <p:cNvSpPr txBox="1"/>
            <p:nvPr/>
          </p:nvSpPr>
          <p:spPr>
            <a:xfrm>
              <a:off x="3882495" y="2214372"/>
              <a:ext cx="655110"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~1/2</a:t>
              </a:r>
            </a:p>
          </p:txBody>
        </p:sp>
        <p:sp>
          <p:nvSpPr>
            <p:cNvPr id="13" name="TextBox 13"/>
            <p:cNvSpPr txBox="1"/>
            <p:nvPr/>
          </p:nvSpPr>
          <p:spPr>
            <a:xfrm>
              <a:off x="3527651" y="2546747"/>
              <a:ext cx="13647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error on the new set</a:t>
              </a:r>
            </a:p>
          </p:txBody>
        </p:sp>
        <p:sp>
          <p:nvSpPr>
            <p:cNvPr id="14" name="Rectangle 14"/>
            <p:cNvSpPr/>
            <p:nvPr/>
          </p:nvSpPr>
          <p:spPr>
            <a:xfrm>
              <a:off x="5486400" y="2038350"/>
              <a:ext cx="2857500" cy="762000"/>
            </a:xfrm>
            <a:prstGeom prst="roundRect">
              <a:avLst>
                <a:gd name="adj" fmla="val 10000"/>
              </a:avLst>
            </a:prstGeom>
            <a:solidFill>
              <a:srgbClr val="0E2334"/>
            </a:solidFill>
            <a:ln w="14288">
              <a:solidFill>
                <a:srgbClr val="26455F"/>
              </a:solidFill>
            </a:ln>
          </p:spPr>
        </p:sp>
        <p:sp>
          <p:nvSpPr>
            <p:cNvPr id="15" name="Line 15"/>
            <p:cNvSpPr/>
            <p:nvPr/>
          </p:nvSpPr>
          <p:spPr>
            <a:xfrm>
              <a:off x="5619750" y="2647950"/>
              <a:ext cx="2609850" cy="9525"/>
            </a:xfrm>
            <a:custGeom>
              <a:avLst/>
              <a:gdLst/>
              <a:ahLst/>
              <a:cxnLst/>
              <a:rect l="l" t="t" r="r" b="b"/>
              <a:pathLst>
                <a:path w="2609850" h="9525">
                  <a:moveTo>
                    <a:pt x="0" y="0"/>
                  </a:moveTo>
                  <a:lnTo>
                    <a:pt x="2609850" y="0"/>
                  </a:lnTo>
                </a:path>
              </a:pathLst>
            </a:custGeom>
            <a:noFill/>
            <a:ln w="11430" cap="rnd">
              <a:solidFill>
                <a:srgbClr val="26455F"/>
              </a:solidFill>
            </a:ln>
          </p:spPr>
        </p:sp>
        <p:sp>
          <p:nvSpPr>
            <p:cNvPr id="16" name="Line 16"/>
            <p:cNvSpPr/>
            <p:nvPr/>
          </p:nvSpPr>
          <p:spPr>
            <a:xfrm>
              <a:off x="5619750" y="2171700"/>
              <a:ext cx="9525" cy="476250"/>
            </a:xfrm>
            <a:custGeom>
              <a:avLst/>
              <a:gdLst/>
              <a:ahLst/>
              <a:cxnLst/>
              <a:rect l="l" t="t" r="r" b="b"/>
              <a:pathLst>
                <a:path w="9525" h="476250">
                  <a:moveTo>
                    <a:pt x="0" y="476250"/>
                  </a:moveTo>
                  <a:lnTo>
                    <a:pt x="0" y="0"/>
                  </a:lnTo>
                </a:path>
              </a:pathLst>
            </a:custGeom>
            <a:noFill/>
            <a:ln w="11430" cap="rnd">
              <a:solidFill>
                <a:srgbClr val="26455F"/>
              </a:solidFill>
            </a:ln>
          </p:spPr>
        </p:sp>
        <p:sp>
          <p:nvSpPr>
            <p:cNvPr id="17" name="Polyline 17"/>
            <p:cNvSpPr/>
            <p:nvPr/>
          </p:nvSpPr>
          <p:spPr>
            <a:xfrm>
              <a:off x="5619750" y="2219325"/>
              <a:ext cx="2609850" cy="28575"/>
            </a:xfrm>
            <a:custGeom>
              <a:avLst/>
              <a:gdLst/>
              <a:ahLst/>
              <a:cxnLst/>
              <a:rect l="l" t="t" r="r" b="b"/>
              <a:pathLst>
                <a:path w="2609850" h="28575">
                  <a:moveTo>
                    <a:pt x="0" y="0"/>
                  </a:moveTo>
                  <a:lnTo>
                    <a:pt x="130493" y="1429"/>
                  </a:lnTo>
                  <a:lnTo>
                    <a:pt x="260985" y="2858"/>
                  </a:lnTo>
                  <a:lnTo>
                    <a:pt x="391478" y="4286"/>
                  </a:lnTo>
                  <a:lnTo>
                    <a:pt x="521970" y="5715"/>
                  </a:lnTo>
                  <a:lnTo>
                    <a:pt x="652462" y="7144"/>
                  </a:lnTo>
                  <a:lnTo>
                    <a:pt x="782955" y="8573"/>
                  </a:lnTo>
                  <a:lnTo>
                    <a:pt x="913447" y="10001"/>
                  </a:lnTo>
                  <a:lnTo>
                    <a:pt x="1043940" y="11430"/>
                  </a:lnTo>
                  <a:lnTo>
                    <a:pt x="1174432" y="12859"/>
                  </a:lnTo>
                  <a:lnTo>
                    <a:pt x="1304925" y="14288"/>
                  </a:lnTo>
                  <a:lnTo>
                    <a:pt x="1435418" y="15716"/>
                  </a:lnTo>
                  <a:lnTo>
                    <a:pt x="1565910" y="17145"/>
                  </a:lnTo>
                  <a:lnTo>
                    <a:pt x="1696403" y="18574"/>
                  </a:lnTo>
                  <a:lnTo>
                    <a:pt x="1826895" y="20002"/>
                  </a:lnTo>
                  <a:lnTo>
                    <a:pt x="1957388" y="21431"/>
                  </a:lnTo>
                  <a:lnTo>
                    <a:pt x="2087880" y="22860"/>
                  </a:lnTo>
                  <a:lnTo>
                    <a:pt x="2218372" y="24289"/>
                  </a:lnTo>
                  <a:lnTo>
                    <a:pt x="2348865" y="25717"/>
                  </a:lnTo>
                  <a:lnTo>
                    <a:pt x="2479357" y="27146"/>
                  </a:lnTo>
                  <a:lnTo>
                    <a:pt x="2609850" y="28575"/>
                  </a:lnTo>
                </a:path>
              </a:pathLst>
            </a:custGeom>
            <a:noFill/>
            <a:ln w="24765" cap="rnd">
              <a:solidFill>
                <a:srgbClr val="48C78E"/>
              </a:solidFill>
              <a:round/>
            </a:ln>
          </p:spPr>
        </p:sp>
        <p:sp>
          <p:nvSpPr>
            <p:cNvPr id="18" name="Polyline 18"/>
            <p:cNvSpPr/>
            <p:nvPr/>
          </p:nvSpPr>
          <p:spPr>
            <a:xfrm>
              <a:off x="5619750" y="2195512"/>
              <a:ext cx="2609850" cy="396789"/>
            </a:xfrm>
            <a:custGeom>
              <a:avLst/>
              <a:gdLst/>
              <a:ahLst/>
              <a:cxnLst/>
              <a:rect l="l" t="t" r="r" b="b"/>
              <a:pathLst>
                <a:path w="2609850" h="396789">
                  <a:moveTo>
                    <a:pt x="0" y="0"/>
                  </a:moveTo>
                  <a:lnTo>
                    <a:pt x="130493" y="52251"/>
                  </a:lnTo>
                  <a:lnTo>
                    <a:pt x="260985" y="98133"/>
                  </a:lnTo>
                  <a:lnTo>
                    <a:pt x="391478" y="138421"/>
                  </a:lnTo>
                  <a:lnTo>
                    <a:pt x="521970" y="173799"/>
                  </a:lnTo>
                  <a:lnTo>
                    <a:pt x="652462" y="204863"/>
                  </a:lnTo>
                  <a:lnTo>
                    <a:pt x="782955" y="232141"/>
                  </a:lnTo>
                  <a:lnTo>
                    <a:pt x="913447" y="256093"/>
                  </a:lnTo>
                  <a:lnTo>
                    <a:pt x="1043940" y="277125"/>
                  </a:lnTo>
                  <a:lnTo>
                    <a:pt x="1174432" y="295594"/>
                  </a:lnTo>
                  <a:lnTo>
                    <a:pt x="1304925" y="311811"/>
                  </a:lnTo>
                  <a:lnTo>
                    <a:pt x="1435418" y="326051"/>
                  </a:lnTo>
                  <a:lnTo>
                    <a:pt x="1565910" y="338555"/>
                  </a:lnTo>
                  <a:lnTo>
                    <a:pt x="1696403" y="349535"/>
                  </a:lnTo>
                  <a:lnTo>
                    <a:pt x="1826895" y="359177"/>
                  </a:lnTo>
                  <a:lnTo>
                    <a:pt x="1957388" y="367643"/>
                  </a:lnTo>
                  <a:lnTo>
                    <a:pt x="2087880" y="375077"/>
                  </a:lnTo>
                  <a:lnTo>
                    <a:pt x="2218372" y="381605"/>
                  </a:lnTo>
                  <a:lnTo>
                    <a:pt x="2348865" y="387337"/>
                  </a:lnTo>
                  <a:lnTo>
                    <a:pt x="2479357" y="392370"/>
                  </a:lnTo>
                  <a:lnTo>
                    <a:pt x="2609850" y="396789"/>
                  </a:lnTo>
                </a:path>
              </a:pathLst>
            </a:custGeom>
            <a:noFill/>
            <a:ln w="24765" cap="rnd">
              <a:solidFill>
                <a:srgbClr val="F2685C"/>
              </a:solidFill>
              <a:custDash>
                <a:ds d="192308" sp="153846"/>
              </a:custDash>
              <a:round/>
            </a:ln>
          </p:spPr>
        </p:sp>
        <p:sp>
          <p:nvSpPr>
            <p:cNvPr id="19" name="TextBox 19"/>
            <p:cNvSpPr txBox="1"/>
            <p:nvPr/>
          </p:nvSpPr>
          <p:spPr>
            <a:xfrm>
              <a:off x="7899018" y="2105739"/>
              <a:ext cx="316294" cy="154781"/>
            </a:xfrm>
            <a:prstGeom prst="rect">
              <a:avLst/>
            </a:prstGeom>
            <a:noFill/>
            <a:ln>
              <a:noFill/>
            </a:ln>
          </p:spPr>
          <p:txBody>
            <a:bodyPr wrap="none" lIns="0" tIns="0" rIns="0" bIns="0" anchor="t" anchorCtr="0">
              <a:spAutoFit/>
            </a:bodyPr>
            <a:lstStyle/>
            <a:p>
              <a:pPr algn="r"/>
              <a:r>
                <a:rPr lang="en-US" sz="790" b="1" dirty="0">
                  <a:solidFill>
                    <a:srgbClr val="48C78E"/>
                  </a:solidFill>
                  <a:latin typeface="+mn-lt"/>
                  <a:ea typeface="+mn-ea"/>
                  <a:cs typeface="+mn-cs"/>
                </a:rPr>
                <a:t>RAWM</a:t>
              </a:r>
            </a:p>
          </p:txBody>
        </p:sp>
        <p:sp>
          <p:nvSpPr>
            <p:cNvPr id="20" name="TextBox 20"/>
            <p:cNvSpPr txBox="1"/>
            <p:nvPr/>
          </p:nvSpPr>
          <p:spPr>
            <a:xfrm>
              <a:off x="7680951" y="2534364"/>
              <a:ext cx="534361" cy="154781"/>
            </a:xfrm>
            <a:prstGeom prst="rect">
              <a:avLst/>
            </a:prstGeom>
            <a:noFill/>
            <a:ln>
              <a:noFill/>
            </a:ln>
          </p:spPr>
          <p:txBody>
            <a:bodyPr wrap="none" lIns="0" tIns="0" rIns="0" bIns="0" anchor="t" anchorCtr="0">
              <a:spAutoFit/>
            </a:bodyPr>
            <a:lstStyle/>
            <a:p>
              <a:pPr algn="r"/>
              <a:r>
                <a:rPr lang="en-US" sz="790" b="1" dirty="0">
                  <a:solidFill>
                    <a:srgbClr val="F2685C"/>
                  </a:solidFill>
                  <a:latin typeface="+mn-lt"/>
                  <a:ea typeface="+mn-ea"/>
                  <a:cs typeface="+mn-cs"/>
                </a:rPr>
                <a:t>fine-tune</a:t>
              </a:r>
            </a:p>
          </p:txBody>
        </p:sp>
        <p:sp>
          <p:nvSpPr>
            <p:cNvPr id="21" name="TextBox 21"/>
            <p:cNvSpPr txBox="1"/>
            <p:nvPr/>
          </p:nvSpPr>
          <p:spPr>
            <a:xfrm>
              <a:off x="5614988" y="2690812"/>
              <a:ext cx="449480" cy="147638"/>
            </a:xfrm>
            <a:prstGeom prst="rect">
              <a:avLst/>
            </a:prstGeom>
            <a:noFill/>
            <a:ln>
              <a:noFill/>
            </a:ln>
          </p:spPr>
          <p:txBody>
            <a:bodyPr wrap="none" lIns="0" tIns="0" rIns="0" bIns="0" anchor="t" anchorCtr="0">
              <a:spAutoFit/>
            </a:bodyPr>
            <a:lstStyle/>
            <a:p>
              <a:pPr algn="l"/>
              <a:r>
                <a:rPr lang="en-US" sz="750" b="1" dirty="0">
                  <a:solidFill>
                    <a:srgbClr val="6E869C"/>
                  </a:solidFill>
                  <a:latin typeface="+mn-lt"/>
                  <a:ea typeface="+mn-ea"/>
                  <a:cs typeface="+mn-cs"/>
                </a:rPr>
                <a:t>tasks -&gt;</a:t>
              </a:r>
            </a:p>
          </p:txBody>
        </p:sp>
        <p:sp>
          <p:nvSpPr>
            <p:cNvPr id="22" name="Rectangle 22"/>
            <p:cNvSpPr/>
            <p:nvPr/>
          </p:nvSpPr>
          <p:spPr>
            <a:xfrm>
              <a:off x="8572500" y="2038350"/>
              <a:ext cx="2857500" cy="762000"/>
            </a:xfrm>
            <a:prstGeom prst="roundRect">
              <a:avLst>
                <a:gd name="adj" fmla="val 15000"/>
              </a:avLst>
            </a:prstGeom>
            <a:solidFill>
              <a:schemeClr val="accent6"/>
            </a:solidFill>
            <a:ln w="14288">
              <a:solidFill>
                <a:srgbClr val="26455F"/>
              </a:solidFill>
            </a:ln>
          </p:spPr>
        </p:sp>
        <p:sp>
          <p:nvSpPr>
            <p:cNvPr id="23" name="TextBox 23"/>
            <p:cNvSpPr txBox="1"/>
            <p:nvPr/>
          </p:nvSpPr>
          <p:spPr>
            <a:xfrm>
              <a:off x="8758047" y="2218849"/>
              <a:ext cx="2553868"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Old knowledge is retained while the new</a:t>
              </a:r>
            </a:p>
          </p:txBody>
        </p:sp>
        <p:sp>
          <p:nvSpPr>
            <p:cNvPr id="24" name="TextBox 24"/>
            <p:cNvSpPr txBox="1"/>
            <p:nvPr/>
          </p:nvSpPr>
          <p:spPr>
            <a:xfrm>
              <a:off x="8758047" y="2409349"/>
              <a:ext cx="1560055" cy="190690"/>
            </a:xfrm>
            <a:prstGeom prst="rect">
              <a:avLst/>
            </a:prstGeom>
            <a:noFill/>
            <a:ln>
              <a:noFill/>
            </a:ln>
          </p:spPr>
          <p:txBody>
            <a:bodyPr wrap="none" lIns="0" tIns="0" rIns="0" bIns="0" anchor="t" anchorCtr="0">
              <a:spAutoFit/>
            </a:bodyPr>
            <a:lstStyle/>
            <a:p>
              <a:pPr algn="l"/>
              <a:r>
                <a:rPr lang="en-US" sz="980" dirty="0">
                  <a:solidFill>
                    <a:schemeClr val="dk2"/>
                  </a:solidFill>
                  <a:latin typeface="+mn-lt"/>
                  <a:ea typeface="+mn-ea"/>
                  <a:cs typeface="+mn-cs"/>
                </a:rPr>
                <a:t>dataset is still learned.</a:t>
              </a:r>
            </a:p>
          </p:txBody>
        </p:sp>
      </p:grpSp>
      <p:grpSp>
        <p:nvGrpSpPr>
          <p:cNvPr id="45" name="Group 45"/>
          <p:cNvGrpSpPr/>
          <p:nvPr/>
        </p:nvGrpSpPr>
        <p:grpSpPr>
          <a:xfrm>
            <a:off x="609600" y="3086100"/>
            <a:ext cx="5334000" cy="2136457"/>
            <a:chOff x="609600" y="3086100"/>
            <a:chExt cx="5334000" cy="2136457"/>
          </a:xfrm>
        </p:grpSpPr>
        <p:sp>
          <p:nvSpPr>
            <p:cNvPr id="26" name="Rectangle 26"/>
            <p:cNvSpPr/>
            <p:nvPr/>
          </p:nvSpPr>
          <p:spPr>
            <a:xfrm>
              <a:off x="609600" y="3086100"/>
              <a:ext cx="5334000" cy="2133600"/>
            </a:xfrm>
            <a:prstGeom prst="roundRect">
              <a:avLst>
                <a:gd name="adj" fmla="val 6250"/>
              </a:avLst>
            </a:prstGeom>
            <a:solidFill>
              <a:schemeClr val="accent5"/>
            </a:solidFill>
            <a:ln w="14288">
              <a:solidFill>
                <a:srgbClr val="26455F"/>
              </a:solidFill>
            </a:ln>
          </p:spPr>
        </p:sp>
        <p:sp>
          <p:nvSpPr>
            <p:cNvPr id="27" name="Rectangle 27"/>
            <p:cNvSpPr/>
            <p:nvPr/>
          </p:nvSpPr>
          <p:spPr>
            <a:xfrm>
              <a:off x="609600" y="3086100"/>
              <a:ext cx="57150" cy="2133600"/>
            </a:xfrm>
            <a:prstGeom prst="roundRect">
              <a:avLst>
                <a:gd name="adj" fmla="val 50000"/>
              </a:avLst>
            </a:prstGeom>
            <a:solidFill>
              <a:schemeClr val="accent2"/>
            </a:solidFill>
            <a:ln>
              <a:noFill/>
            </a:ln>
          </p:spPr>
        </p:sp>
        <p:sp>
          <p:nvSpPr>
            <p:cNvPr id="28" name="TextBox 28"/>
            <p:cNvSpPr txBox="1"/>
            <p:nvPr/>
          </p:nvSpPr>
          <p:spPr>
            <a:xfrm>
              <a:off x="870204" y="3299460"/>
              <a:ext cx="2182191" cy="234696"/>
            </a:xfrm>
            <a:prstGeom prst="rect">
              <a:avLst/>
            </a:prstGeom>
            <a:noFill/>
            <a:ln>
              <a:noFill/>
            </a:ln>
          </p:spPr>
          <p:txBody>
            <a:bodyPr wrap="none" lIns="0" tIns="0" rIns="0" bIns="0" anchor="t" anchorCtr="0">
              <a:spAutoFit/>
            </a:bodyPr>
            <a:lstStyle/>
            <a:p>
              <a:pPr algn="l"/>
              <a:r>
                <a:rPr lang="en-US" sz="1200" b="1" dirty="0">
                  <a:solidFill>
                    <a:schemeClr val="accent2"/>
                  </a:solidFill>
                  <a:latin typeface="+mn-lt"/>
                  <a:ea typeface="+mn-ea"/>
                  <a:cs typeface="+mn-cs"/>
                </a:rPr>
                <a:t>Lowest EER on old and new</a:t>
              </a:r>
            </a:p>
          </p:txBody>
        </p:sp>
        <p:sp>
          <p:nvSpPr>
            <p:cNvPr id="29" name="TextBox 29"/>
            <p:cNvSpPr txBox="1"/>
            <p:nvPr/>
          </p:nvSpPr>
          <p:spPr>
            <a:xfrm>
              <a:off x="871156" y="3586401"/>
              <a:ext cx="365195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Across two- and four-dataset sequences, RAWM beats</a:t>
              </a:r>
            </a:p>
          </p:txBody>
        </p:sp>
        <p:sp>
          <p:nvSpPr>
            <p:cNvPr id="30" name="TextBox 30"/>
            <p:cNvSpPr txBox="1"/>
            <p:nvPr/>
          </p:nvSpPr>
          <p:spPr>
            <a:xfrm>
              <a:off x="871156" y="3776901"/>
              <a:ext cx="3905719"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mainstream continual learning methods on both old and new</a:t>
              </a:r>
            </a:p>
          </p:txBody>
        </p:sp>
        <p:sp>
          <p:nvSpPr>
            <p:cNvPr id="31" name="TextBox 31"/>
            <p:cNvSpPr txBox="1"/>
            <p:nvPr/>
          </p:nvSpPr>
          <p:spPr>
            <a:xfrm>
              <a:off x="871156" y="3967401"/>
              <a:ext cx="38419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data.</a:t>
              </a:r>
            </a:p>
          </p:txBody>
        </p:sp>
        <p:sp>
          <p:nvSpPr>
            <p:cNvPr id="32" name="Rectangle 32"/>
            <p:cNvSpPr/>
            <p:nvPr/>
          </p:nvSpPr>
          <p:spPr>
            <a:xfrm>
              <a:off x="2857500" y="4305300"/>
              <a:ext cx="2381250" cy="209550"/>
            </a:xfrm>
            <a:prstGeom prst="roundRect">
              <a:avLst>
                <a:gd name="adj" fmla="val 27273"/>
              </a:avLst>
            </a:prstGeom>
            <a:solidFill>
              <a:srgbClr val="0E2334"/>
            </a:solidFill>
            <a:ln w="9525">
              <a:solidFill>
                <a:srgbClr val="26455F"/>
              </a:solidFill>
            </a:ln>
          </p:spPr>
        </p:sp>
        <p:sp>
          <p:nvSpPr>
            <p:cNvPr id="33" name="Rectangle 33"/>
            <p:cNvSpPr/>
            <p:nvPr/>
          </p:nvSpPr>
          <p:spPr>
            <a:xfrm>
              <a:off x="2857500" y="4305300"/>
              <a:ext cx="952500" cy="209550"/>
            </a:xfrm>
            <a:prstGeom prst="roundRect">
              <a:avLst>
                <a:gd name="adj" fmla="val 27273"/>
              </a:avLst>
            </a:prstGeom>
            <a:solidFill>
              <a:srgbClr val="F2685C"/>
            </a:solidFill>
            <a:ln>
              <a:noFill/>
            </a:ln>
          </p:spPr>
        </p:sp>
        <p:sp>
          <p:nvSpPr>
            <p:cNvPr id="34" name="TextBox 34"/>
            <p:cNvSpPr txBox="1"/>
            <p:nvPr/>
          </p:nvSpPr>
          <p:spPr>
            <a:xfrm>
              <a:off x="2040299" y="4357688"/>
              <a:ext cx="708235"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fine-tune</a:t>
              </a:r>
            </a:p>
          </p:txBody>
        </p:sp>
        <p:sp>
          <p:nvSpPr>
            <p:cNvPr id="35" name="TextBox 35"/>
            <p:cNvSpPr txBox="1"/>
            <p:nvPr/>
          </p:nvSpPr>
          <p:spPr>
            <a:xfrm>
              <a:off x="3899916" y="4357688"/>
              <a:ext cx="30008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high</a:t>
              </a:r>
            </a:p>
          </p:txBody>
        </p:sp>
        <p:sp>
          <p:nvSpPr>
            <p:cNvPr id="36" name="Rectangle 36"/>
            <p:cNvSpPr/>
            <p:nvPr/>
          </p:nvSpPr>
          <p:spPr>
            <a:xfrm>
              <a:off x="2857500" y="4572000"/>
              <a:ext cx="2381250" cy="209550"/>
            </a:xfrm>
            <a:prstGeom prst="roundRect">
              <a:avLst>
                <a:gd name="adj" fmla="val 27273"/>
              </a:avLst>
            </a:prstGeom>
            <a:solidFill>
              <a:srgbClr val="0E2334"/>
            </a:solidFill>
            <a:ln w="9525">
              <a:solidFill>
                <a:srgbClr val="26455F"/>
              </a:solidFill>
            </a:ln>
          </p:spPr>
        </p:sp>
        <p:sp>
          <p:nvSpPr>
            <p:cNvPr id="37" name="Rectangle 37"/>
            <p:cNvSpPr/>
            <p:nvPr/>
          </p:nvSpPr>
          <p:spPr>
            <a:xfrm>
              <a:off x="2857500" y="4572000"/>
              <a:ext cx="647700" cy="209550"/>
            </a:xfrm>
            <a:prstGeom prst="roundRect">
              <a:avLst>
                <a:gd name="adj" fmla="val 27273"/>
              </a:avLst>
            </a:prstGeom>
            <a:solidFill>
              <a:srgbClr val="F2C14E"/>
            </a:solidFill>
            <a:ln>
              <a:noFill/>
            </a:ln>
          </p:spPr>
        </p:sp>
        <p:sp>
          <p:nvSpPr>
            <p:cNvPr id="38" name="TextBox 38"/>
            <p:cNvSpPr txBox="1"/>
            <p:nvPr/>
          </p:nvSpPr>
          <p:spPr>
            <a:xfrm>
              <a:off x="1451805" y="4624388"/>
              <a:ext cx="129672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EWC / LwF / OWM</a:t>
              </a:r>
            </a:p>
          </p:txBody>
        </p:sp>
        <p:sp>
          <p:nvSpPr>
            <p:cNvPr id="39" name="TextBox 39"/>
            <p:cNvSpPr txBox="1"/>
            <p:nvPr/>
          </p:nvSpPr>
          <p:spPr>
            <a:xfrm>
              <a:off x="3595116" y="4624388"/>
              <a:ext cx="248138" cy="205359"/>
            </a:xfrm>
            <a:prstGeom prst="rect">
              <a:avLst/>
            </a:prstGeom>
            <a:noFill/>
            <a:ln>
              <a:noFill/>
            </a:ln>
          </p:spPr>
          <p:txBody>
            <a:bodyPr wrap="none" lIns="0" tIns="0" rIns="0" bIns="0" anchor="t" anchorCtr="0">
              <a:spAutoFit/>
            </a:bodyPr>
            <a:lstStyle/>
            <a:p>
              <a:pPr algn="l"/>
              <a:r>
                <a:rPr lang="en-US" sz="1050" b="1" dirty="0">
                  <a:solidFill>
                    <a:srgbClr val="F2C14E"/>
                  </a:solidFill>
                  <a:latin typeface="+mn-lt"/>
                  <a:ea typeface="+mn-ea"/>
                  <a:cs typeface="+mn-cs"/>
                </a:rPr>
                <a:t>mid</a:t>
              </a:r>
            </a:p>
          </p:txBody>
        </p:sp>
        <p:sp>
          <p:nvSpPr>
            <p:cNvPr id="40" name="Rectangle 40"/>
            <p:cNvSpPr/>
            <p:nvPr/>
          </p:nvSpPr>
          <p:spPr>
            <a:xfrm>
              <a:off x="2857500" y="4838700"/>
              <a:ext cx="2381250" cy="209550"/>
            </a:xfrm>
            <a:prstGeom prst="roundRect">
              <a:avLst>
                <a:gd name="adj" fmla="val 27273"/>
              </a:avLst>
            </a:prstGeom>
            <a:solidFill>
              <a:srgbClr val="0E2334"/>
            </a:solidFill>
            <a:ln w="9525">
              <a:solidFill>
                <a:srgbClr val="26455F"/>
              </a:solidFill>
            </a:ln>
          </p:spPr>
        </p:sp>
        <p:sp>
          <p:nvSpPr>
            <p:cNvPr id="41" name="Rectangle 41"/>
            <p:cNvSpPr/>
            <p:nvPr/>
          </p:nvSpPr>
          <p:spPr>
            <a:xfrm>
              <a:off x="2857500" y="4838700"/>
              <a:ext cx="190500" cy="209550"/>
            </a:xfrm>
            <a:prstGeom prst="roundRect">
              <a:avLst>
                <a:gd name="adj" fmla="val 30000"/>
              </a:avLst>
            </a:prstGeom>
            <a:solidFill>
              <a:srgbClr val="48C78E"/>
            </a:solidFill>
            <a:ln>
              <a:noFill/>
            </a:ln>
          </p:spPr>
        </p:sp>
        <p:sp>
          <p:nvSpPr>
            <p:cNvPr id="42" name="TextBox 42"/>
            <p:cNvSpPr txBox="1"/>
            <p:nvPr/>
          </p:nvSpPr>
          <p:spPr>
            <a:xfrm>
              <a:off x="2330135" y="4891088"/>
              <a:ext cx="418399"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RAWM</a:t>
              </a:r>
            </a:p>
          </p:txBody>
        </p:sp>
        <p:sp>
          <p:nvSpPr>
            <p:cNvPr id="43" name="TextBox 43"/>
            <p:cNvSpPr txBox="1"/>
            <p:nvPr/>
          </p:nvSpPr>
          <p:spPr>
            <a:xfrm>
              <a:off x="3137916" y="4891088"/>
              <a:ext cx="49302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lowest</a:t>
              </a:r>
            </a:p>
          </p:txBody>
        </p:sp>
        <p:sp>
          <p:nvSpPr>
            <p:cNvPr id="44" name="TextBox 44"/>
            <p:cNvSpPr txBox="1"/>
            <p:nvPr/>
          </p:nvSpPr>
          <p:spPr>
            <a:xfrm>
              <a:off x="2852738" y="5046345"/>
              <a:ext cx="1764816" cy="176212"/>
            </a:xfrm>
            <a:prstGeom prst="rect">
              <a:avLst/>
            </a:prstGeom>
            <a:noFill/>
            <a:ln>
              <a:noFill/>
            </a:ln>
          </p:spPr>
          <p:txBody>
            <a:bodyPr wrap="none" lIns="0" tIns="0" rIns="0" bIns="0" anchor="t" anchorCtr="0">
              <a:spAutoFit/>
            </a:bodyPr>
            <a:lstStyle/>
            <a:p>
              <a:pPr algn="l"/>
              <a:r>
                <a:rPr lang="en-US" sz="900" b="1" dirty="0">
                  <a:solidFill>
                    <a:srgbClr val="6E869C"/>
                  </a:solidFill>
                  <a:latin typeface="+mn-lt"/>
                  <a:ea typeface="+mn-ea"/>
                  <a:cs typeface="+mn-cs"/>
                </a:rPr>
                <a:t>vs EWC · LwF · OWM · DFWF</a:t>
              </a:r>
            </a:p>
          </p:txBody>
        </p:sp>
      </p:grpSp>
      <p:grpSp>
        <p:nvGrpSpPr>
          <p:cNvPr id="54" name="Group 54"/>
          <p:cNvGrpSpPr/>
          <p:nvPr/>
        </p:nvGrpSpPr>
        <p:grpSpPr>
          <a:xfrm>
            <a:off x="6248400" y="3086100"/>
            <a:ext cx="5334000" cy="2133600"/>
            <a:chOff x="6248400" y="3086100"/>
            <a:chExt cx="5334000" cy="2133600"/>
          </a:xfrm>
        </p:grpSpPr>
        <p:sp>
          <p:nvSpPr>
            <p:cNvPr id="46" name="Rectangle 46"/>
            <p:cNvSpPr/>
            <p:nvPr/>
          </p:nvSpPr>
          <p:spPr>
            <a:xfrm>
              <a:off x="6248400" y="3086100"/>
              <a:ext cx="5334000" cy="2133600"/>
            </a:xfrm>
            <a:prstGeom prst="roundRect">
              <a:avLst>
                <a:gd name="adj" fmla="val 6250"/>
              </a:avLst>
            </a:prstGeom>
            <a:solidFill>
              <a:schemeClr val="accent5"/>
            </a:solidFill>
            <a:ln w="14288">
              <a:solidFill>
                <a:srgbClr val="26455F"/>
              </a:solidFill>
            </a:ln>
          </p:spPr>
        </p:sp>
        <p:sp>
          <p:nvSpPr>
            <p:cNvPr id="47" name="Rectangle 47"/>
            <p:cNvSpPr/>
            <p:nvPr/>
          </p:nvSpPr>
          <p:spPr>
            <a:xfrm>
              <a:off x="6248400" y="3086100"/>
              <a:ext cx="57150" cy="2133600"/>
            </a:xfrm>
            <a:prstGeom prst="roundRect">
              <a:avLst>
                <a:gd name="adj" fmla="val 50000"/>
              </a:avLst>
            </a:prstGeom>
            <a:solidFill>
              <a:srgbClr val="F2C14E"/>
            </a:solidFill>
            <a:ln>
              <a:noFill/>
            </a:ln>
          </p:spPr>
        </p:sp>
        <p:sp>
          <p:nvSpPr>
            <p:cNvPr id="48" name="TextBox 48"/>
            <p:cNvSpPr txBox="1"/>
            <p:nvPr/>
          </p:nvSpPr>
          <p:spPr>
            <a:xfrm>
              <a:off x="6509004" y="3299460"/>
              <a:ext cx="2290477"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Coefficient one half is best</a:t>
              </a:r>
            </a:p>
          </p:txBody>
        </p:sp>
        <p:sp>
          <p:nvSpPr>
            <p:cNvPr id="49" name="TextBox 49"/>
            <p:cNvSpPr txBox="1"/>
            <p:nvPr/>
          </p:nvSpPr>
          <p:spPr>
            <a:xfrm>
              <a:off x="6509956" y="3586401"/>
              <a:ext cx="3610924"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With the regularization coefficient at one half, giving</a:t>
              </a:r>
            </a:p>
          </p:txBody>
        </p:sp>
        <p:sp>
          <p:nvSpPr>
            <p:cNvPr id="50" name="TextBox 50"/>
            <p:cNvSpPr txBox="1"/>
            <p:nvPr/>
          </p:nvSpPr>
          <p:spPr>
            <a:xfrm>
              <a:off x="6509956" y="3776901"/>
              <a:ext cx="3858130"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equal attention to old and new, error stays low across all</a:t>
              </a:r>
            </a:p>
          </p:txBody>
        </p:sp>
        <p:sp>
          <p:nvSpPr>
            <p:cNvPr id="51" name="TextBox 51"/>
            <p:cNvSpPr txBox="1"/>
            <p:nvPr/>
          </p:nvSpPr>
          <p:spPr>
            <a:xfrm>
              <a:off x="6509956" y="3967401"/>
              <a:ext cx="2885972"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four datasets even as a baseline collapses.</a:t>
              </a:r>
            </a:p>
          </p:txBody>
        </p:sp>
        <p:sp>
          <p:nvSpPr>
            <p:cNvPr id="52" name="Rectangle 52"/>
            <p:cNvSpPr/>
            <p:nvPr/>
          </p:nvSpPr>
          <p:spPr>
            <a:xfrm>
              <a:off x="6515100" y="4629150"/>
              <a:ext cx="4800600" cy="381000"/>
            </a:xfrm>
            <a:prstGeom prst="roundRect">
              <a:avLst>
                <a:gd name="adj" fmla="val 20000"/>
              </a:avLst>
            </a:prstGeom>
            <a:solidFill>
              <a:schemeClr val="accent6"/>
            </a:solidFill>
            <a:ln w="14288">
              <a:solidFill>
                <a:srgbClr val="26455F"/>
              </a:solidFill>
            </a:ln>
          </p:spPr>
        </p:sp>
        <p:sp>
          <p:nvSpPr>
            <p:cNvPr id="53" name="TextBox 53"/>
            <p:cNvSpPr txBox="1"/>
            <p:nvPr/>
          </p:nvSpPr>
          <p:spPr>
            <a:xfrm>
              <a:off x="7528670" y="4771549"/>
              <a:ext cx="2773459" cy="190690"/>
            </a:xfrm>
            <a:prstGeom prst="rect">
              <a:avLst/>
            </a:prstGeom>
            <a:noFill/>
            <a:ln>
              <a:noFill/>
            </a:ln>
          </p:spPr>
          <p:txBody>
            <a:bodyPr wrap="none" lIns="0" tIns="0" rIns="0" bIns="0" anchor="t" anchorCtr="0">
              <a:spAutoFit/>
            </a:bodyPr>
            <a:lstStyle/>
            <a:p>
              <a:pPr algn="ctr"/>
              <a:r>
                <a:rPr lang="en-US" sz="980" b="1" dirty="0">
                  <a:solidFill>
                    <a:schemeClr val="dk1"/>
                  </a:solidFill>
                  <a:latin typeface="Consolas"/>
                  <a:ea typeface="Consolas"/>
                  <a:cs typeface="Consolas"/>
                </a:rPr>
                <a:t>lambda = 1/2 -&gt; equal old / new attention</a:t>
              </a:r>
            </a:p>
          </p:txBody>
        </p:sp>
      </p:grpSp>
      <p:sp>
        <p:nvSpPr>
          <p:cNvPr id="55" name="cue_s07_c1_headline_finding_rawm_cuts_catastrop" title="cue_s07_c1_headline_finding_rawm_cuts_catastrop" descr="cue_s07_c1_headline_finding_rawm_cuts_catastrop The headline finding is that RAWM cuts catastrophic forgetting to roughly one tenth of naive fine-tuning, while also halving the error on the new dataset."/>
          <p:cNvSpPr/>
          <p:nvPr/>
        </p:nvSpPr>
        <p:spPr>
          <a:xfrm>
            <a:off x="609600" y="1504645"/>
            <a:ext cx="109728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cue_s07_c2_across_two_dataset_four_dataset_sequ" title="cue_s07_c2_across_two_dataset_four_dataset_sequ" descr="cue_s07_c2_across_two_dataset_four_dataset_sequ Across two-dataset and four-dataset sequences, it achieves the lowest equal error rate on both old and new datasets compared with mainstream continual learning methods including EWC, LwF, OWM, and the fake-audio-specific DFWF."/>
          <p:cNvSpPr/>
          <p:nvPr/>
        </p:nvSpPr>
        <p:spPr>
          <a:xfrm>
            <a:off x="609600" y="3086100"/>
            <a:ext cx="5334000" cy="213626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cue_s07_c3_regularization_coefficient_set_one_h" title="cue_s07_c3_regularization_coefficient_set_one_h" descr="cue_s07_c3_regularization_coefficient_set_one_h With the regularization coefficient set to one half, giving equal attention to old and new data, RAWM keeps error low across all four datasets even as a baseline collapses."/>
          <p:cNvSpPr/>
          <p:nvPr/>
        </p:nvSpPr>
        <p:spPr>
          <a:xfrm>
            <a:off x="6248399" y="3086100"/>
            <a:ext cx="5334000" cy="21335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596894"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ABLATION STUDY</a:t>
            </a:r>
          </a:p>
        </p:txBody>
      </p:sp>
      <p:sp>
        <p:nvSpPr>
          <p:cNvPr id="4" name="TextBox 4"/>
          <p:cNvSpPr txBox="1"/>
          <p:nvPr/>
        </p:nvSpPr>
        <p:spPr>
          <a:xfrm>
            <a:off x="598170" y="804862"/>
            <a:ext cx="561498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Which component carries the weight</a:t>
            </a:r>
          </a:p>
        </p:txBody>
      </p:sp>
      <p:grpSp>
        <p:nvGrpSpPr>
          <p:cNvPr id="14" name="Group 14"/>
          <p:cNvGrpSpPr/>
          <p:nvPr/>
        </p:nvGrpSpPr>
        <p:grpSpPr>
          <a:xfrm>
            <a:off x="609600" y="1504950"/>
            <a:ext cx="5334000" cy="1428750"/>
            <a:chOff x="609600" y="1504950"/>
            <a:chExt cx="5334000" cy="1428750"/>
          </a:xfrm>
        </p:grpSpPr>
        <p:sp>
          <p:nvSpPr>
            <p:cNvPr id="5" name="Rectangle 5"/>
            <p:cNvSpPr/>
            <p:nvPr/>
          </p:nvSpPr>
          <p:spPr>
            <a:xfrm>
              <a:off x="609600" y="1504950"/>
              <a:ext cx="5334000" cy="1428750"/>
            </a:xfrm>
            <a:prstGeom prst="roundRect">
              <a:avLst>
                <a:gd name="adj" fmla="val 9333"/>
              </a:avLst>
            </a:prstGeom>
            <a:solidFill>
              <a:schemeClr val="accent5"/>
            </a:solidFill>
            <a:ln w="14288">
              <a:solidFill>
                <a:srgbClr val="26455F"/>
              </a:solidFill>
            </a:ln>
          </p:spPr>
        </p:sp>
        <p:sp>
          <p:nvSpPr>
            <p:cNvPr id="6" name="Rectangle 6"/>
            <p:cNvSpPr/>
            <p:nvPr/>
          </p:nvSpPr>
          <p:spPr>
            <a:xfrm>
              <a:off x="609600" y="1504950"/>
              <a:ext cx="57150" cy="1428750"/>
            </a:xfrm>
            <a:prstGeom prst="roundRect">
              <a:avLst>
                <a:gd name="adj" fmla="val 50000"/>
              </a:avLst>
            </a:prstGeom>
            <a:solidFill>
              <a:schemeClr val="accent2"/>
            </a:solidFill>
            <a:ln>
              <a:noFill/>
            </a:ln>
          </p:spPr>
        </p:sp>
        <p:sp>
          <p:nvSpPr>
            <p:cNvPr id="7" name="TextBox 7"/>
            <p:cNvSpPr txBox="1"/>
            <p:nvPr/>
          </p:nvSpPr>
          <p:spPr>
            <a:xfrm>
              <a:off x="870014" y="1733312"/>
              <a:ext cx="2411236"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Two components, separated</a:t>
              </a:r>
            </a:p>
          </p:txBody>
        </p:sp>
        <p:sp>
          <p:nvSpPr>
            <p:cNvPr id="8" name="TextBox 8"/>
            <p:cNvSpPr txBox="1"/>
            <p:nvPr/>
          </p:nvSpPr>
          <p:spPr>
            <a:xfrm>
              <a:off x="870966" y="2039302"/>
              <a:ext cx="354691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The ablation isolates the two ingredients of RAWM:</a:t>
              </a:r>
            </a:p>
          </p:txBody>
        </p:sp>
        <p:sp>
          <p:nvSpPr>
            <p:cNvPr id="9" name="TextBox 9"/>
            <p:cNvSpPr txBox="1"/>
            <p:nvPr/>
          </p:nvSpPr>
          <p:spPr>
            <a:xfrm>
              <a:off x="870966" y="2239328"/>
              <a:ext cx="31133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adaptive weight modification and the memory</a:t>
              </a:r>
            </a:p>
          </p:txBody>
        </p:sp>
        <p:sp>
          <p:nvSpPr>
            <p:cNvPr id="10" name="TextBox 10"/>
            <p:cNvSpPr txBox="1"/>
            <p:nvPr/>
          </p:nvSpPr>
          <p:spPr>
            <a:xfrm>
              <a:off x="870966" y="2439352"/>
              <a:ext cx="1452448"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regularization term.</a:t>
              </a:r>
            </a:p>
          </p:txBody>
        </p:sp>
        <p:sp>
          <p:nvSpPr>
            <p:cNvPr id="11" name="Rectangle 11"/>
            <p:cNvSpPr/>
            <p:nvPr/>
          </p:nvSpPr>
          <p:spPr>
            <a:xfrm>
              <a:off x="876300" y="2552700"/>
              <a:ext cx="4457700" cy="266700"/>
            </a:xfrm>
            <a:prstGeom prst="roundRect">
              <a:avLst>
                <a:gd name="adj" fmla="val 28571"/>
              </a:avLst>
            </a:prstGeom>
            <a:solidFill>
              <a:schemeClr val="accent6"/>
            </a:solidFill>
            <a:ln w="14288">
              <a:solidFill>
                <a:srgbClr val="26455F"/>
              </a:solidFill>
            </a:ln>
          </p:spPr>
        </p:sp>
        <p:sp>
          <p:nvSpPr>
            <p:cNvPr id="12" name="Ellipse 12"/>
            <p:cNvSpPr/>
            <p:nvPr/>
          </p:nvSpPr>
          <p:spPr>
            <a:xfrm>
              <a:off x="1000125" y="2638425"/>
              <a:ext cx="95250" cy="95250"/>
            </a:xfrm>
            <a:prstGeom prst="ellipse">
              <a:avLst/>
            </a:prstGeom>
            <a:solidFill>
              <a:schemeClr val="accent2"/>
            </a:solidFill>
            <a:ln>
              <a:noFill/>
            </a:ln>
          </p:spPr>
        </p:sp>
        <p:sp>
          <p:nvSpPr>
            <p:cNvPr id="13" name="TextBox 13"/>
            <p:cNvSpPr txBox="1"/>
            <p:nvPr/>
          </p:nvSpPr>
          <p:spPr>
            <a:xfrm>
              <a:off x="1194626" y="2625804"/>
              <a:ext cx="1590507"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AWM + regularization</a:t>
              </a:r>
            </a:p>
          </p:txBody>
        </p:sp>
      </p:grpSp>
      <p:grpSp>
        <p:nvGrpSpPr>
          <p:cNvPr id="29" name="Group 29"/>
          <p:cNvGrpSpPr/>
          <p:nvPr/>
        </p:nvGrpSpPr>
        <p:grpSpPr>
          <a:xfrm>
            <a:off x="609600" y="3086100"/>
            <a:ext cx="5334000" cy="2152650"/>
            <a:chOff x="609600" y="3086100"/>
            <a:chExt cx="5334000" cy="2152650"/>
          </a:xfrm>
        </p:grpSpPr>
        <p:sp>
          <p:nvSpPr>
            <p:cNvPr id="15" name="Rectangle 15"/>
            <p:cNvSpPr/>
            <p:nvPr/>
          </p:nvSpPr>
          <p:spPr>
            <a:xfrm>
              <a:off x="609600" y="3086100"/>
              <a:ext cx="5334000" cy="2152650"/>
            </a:xfrm>
            <a:prstGeom prst="roundRect">
              <a:avLst>
                <a:gd name="adj" fmla="val 6195"/>
              </a:avLst>
            </a:prstGeom>
            <a:solidFill>
              <a:srgbClr val="0F2E2B"/>
            </a:solidFill>
            <a:ln w="14288">
              <a:solidFill>
                <a:srgbClr val="48C78E"/>
              </a:solidFill>
            </a:ln>
          </p:spPr>
        </p:sp>
        <p:sp>
          <p:nvSpPr>
            <p:cNvPr id="16" name="Rectangle 16"/>
            <p:cNvSpPr/>
            <p:nvPr/>
          </p:nvSpPr>
          <p:spPr>
            <a:xfrm>
              <a:off x="609600" y="3086100"/>
              <a:ext cx="57150" cy="2152650"/>
            </a:xfrm>
            <a:prstGeom prst="roundRect">
              <a:avLst>
                <a:gd name="adj" fmla="val 50000"/>
              </a:avLst>
            </a:prstGeom>
            <a:solidFill>
              <a:srgbClr val="48C78E"/>
            </a:solidFill>
            <a:ln>
              <a:noFill/>
            </a:ln>
          </p:spPr>
        </p:sp>
        <p:sp>
          <p:nvSpPr>
            <p:cNvPr id="17" name="TextBox 17"/>
            <p:cNvSpPr txBox="1"/>
            <p:nvPr/>
          </p:nvSpPr>
          <p:spPr>
            <a:xfrm>
              <a:off x="870014" y="3314462"/>
              <a:ext cx="2446332"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Similar sets: AWM carries it</a:t>
              </a:r>
            </a:p>
          </p:txBody>
        </p:sp>
        <p:sp>
          <p:nvSpPr>
            <p:cNvPr id="18" name="TextBox 18"/>
            <p:cNvSpPr txBox="1"/>
            <p:nvPr/>
          </p:nvSpPr>
          <p:spPr>
            <a:xfrm>
              <a:off x="870966" y="3620452"/>
              <a:ext cx="3485626"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When old and new datasets share a similar feature</a:t>
              </a:r>
            </a:p>
          </p:txBody>
        </p:sp>
        <p:sp>
          <p:nvSpPr>
            <p:cNvPr id="19" name="TextBox 19"/>
            <p:cNvSpPr txBox="1"/>
            <p:nvPr/>
          </p:nvSpPr>
          <p:spPr>
            <a:xfrm>
              <a:off x="870966" y="3820478"/>
              <a:ext cx="3876618"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distribution, adaptive weight modification does most of</a:t>
              </a:r>
            </a:p>
          </p:txBody>
        </p:sp>
        <p:sp>
          <p:nvSpPr>
            <p:cNvPr id="20" name="TextBox 20"/>
            <p:cNvSpPr txBox="1"/>
            <p:nvPr/>
          </p:nvSpPr>
          <p:spPr>
            <a:xfrm>
              <a:off x="870966" y="4020502"/>
              <a:ext cx="3056782" cy="205359"/>
            </a:xfrm>
            <a:prstGeom prst="rect">
              <a:avLst/>
            </a:prstGeom>
            <a:noFill/>
            <a:ln>
              <a:noFill/>
            </a:ln>
          </p:spPr>
          <p:txBody>
            <a:bodyPr wrap="none" lIns="0" tIns="0" rIns="0" bIns="0" anchor="t" anchorCtr="0">
              <a:spAutoFit/>
            </a:bodyPr>
            <a:lstStyle/>
            <a:p>
              <a:pPr algn="l"/>
              <a:r>
                <a:rPr lang="en-US" sz="1050" dirty="0">
                  <a:solidFill>
                    <a:schemeClr val="dk1"/>
                  </a:solidFill>
                  <a:latin typeface="+mn-lt"/>
                  <a:ea typeface="+mn-ea"/>
                  <a:cs typeface="+mn-cs"/>
                </a:rPr>
                <a:t>the work; removing it sharply raises error.</a:t>
              </a:r>
            </a:p>
          </p:txBody>
        </p:sp>
        <p:sp>
          <p:nvSpPr>
            <p:cNvPr id="21" name="Rectangle 21"/>
            <p:cNvSpPr/>
            <p:nvPr/>
          </p:nvSpPr>
          <p:spPr>
            <a:xfrm>
              <a:off x="2857500" y="4495800"/>
              <a:ext cx="2381250" cy="228600"/>
            </a:xfrm>
            <a:prstGeom prst="roundRect">
              <a:avLst>
                <a:gd name="adj" fmla="val 25000"/>
              </a:avLst>
            </a:prstGeom>
            <a:solidFill>
              <a:srgbClr val="0E2334"/>
            </a:solidFill>
            <a:ln w="9525">
              <a:solidFill>
                <a:srgbClr val="26455F"/>
              </a:solidFill>
            </a:ln>
          </p:spPr>
        </p:sp>
        <p:sp>
          <p:nvSpPr>
            <p:cNvPr id="22" name="Rectangle 22"/>
            <p:cNvSpPr/>
            <p:nvPr/>
          </p:nvSpPr>
          <p:spPr>
            <a:xfrm>
              <a:off x="2857500" y="4495800"/>
              <a:ext cx="352425" cy="228600"/>
            </a:xfrm>
            <a:prstGeom prst="roundRect">
              <a:avLst>
                <a:gd name="adj" fmla="val 25000"/>
              </a:avLst>
            </a:prstGeom>
            <a:solidFill>
              <a:srgbClr val="48C78E"/>
            </a:solidFill>
            <a:ln>
              <a:noFill/>
            </a:ln>
          </p:spPr>
        </p:sp>
        <p:sp>
          <p:nvSpPr>
            <p:cNvPr id="23" name="TextBox 23"/>
            <p:cNvSpPr txBox="1"/>
            <p:nvPr/>
          </p:nvSpPr>
          <p:spPr>
            <a:xfrm>
              <a:off x="2053780" y="4561522"/>
              <a:ext cx="694754"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with AWM</a:t>
              </a:r>
            </a:p>
          </p:txBody>
        </p:sp>
        <p:sp>
          <p:nvSpPr>
            <p:cNvPr id="24" name="TextBox 24"/>
            <p:cNvSpPr txBox="1"/>
            <p:nvPr/>
          </p:nvSpPr>
          <p:spPr>
            <a:xfrm>
              <a:off x="3299841" y="4561522"/>
              <a:ext cx="248138" cy="205359"/>
            </a:xfrm>
            <a:prstGeom prst="rect">
              <a:avLst/>
            </a:prstGeom>
            <a:noFill/>
            <a:ln>
              <a:noFill/>
            </a:ln>
          </p:spPr>
          <p:txBody>
            <a:bodyPr wrap="none" lIns="0" tIns="0" rIns="0" bIns="0" anchor="t" anchorCtr="0">
              <a:spAutoFit/>
            </a:bodyPr>
            <a:lstStyle/>
            <a:p>
              <a:pPr algn="l"/>
              <a:r>
                <a:rPr lang="en-US" sz="1050" b="1" dirty="0">
                  <a:solidFill>
                    <a:srgbClr val="48C78E"/>
                  </a:solidFill>
                  <a:latin typeface="+mn-lt"/>
                  <a:ea typeface="+mn-ea"/>
                  <a:cs typeface="+mn-cs"/>
                </a:rPr>
                <a:t>low</a:t>
              </a:r>
            </a:p>
          </p:txBody>
        </p:sp>
        <p:sp>
          <p:nvSpPr>
            <p:cNvPr id="25" name="Rectangle 25"/>
            <p:cNvSpPr/>
            <p:nvPr/>
          </p:nvSpPr>
          <p:spPr>
            <a:xfrm>
              <a:off x="2857500" y="4819650"/>
              <a:ext cx="2381250" cy="228600"/>
            </a:xfrm>
            <a:prstGeom prst="roundRect">
              <a:avLst>
                <a:gd name="adj" fmla="val 25000"/>
              </a:avLst>
            </a:prstGeom>
            <a:solidFill>
              <a:srgbClr val="0E2334"/>
            </a:solidFill>
            <a:ln w="9525">
              <a:solidFill>
                <a:srgbClr val="26455F"/>
              </a:solidFill>
            </a:ln>
          </p:spPr>
        </p:sp>
        <p:sp>
          <p:nvSpPr>
            <p:cNvPr id="26" name="Rectangle 26"/>
            <p:cNvSpPr/>
            <p:nvPr/>
          </p:nvSpPr>
          <p:spPr>
            <a:xfrm>
              <a:off x="2857500" y="4819650"/>
              <a:ext cx="1666875" cy="228600"/>
            </a:xfrm>
            <a:prstGeom prst="roundRect">
              <a:avLst>
                <a:gd name="adj" fmla="val 25000"/>
              </a:avLst>
            </a:prstGeom>
            <a:solidFill>
              <a:srgbClr val="F2685C"/>
            </a:solidFill>
            <a:ln>
              <a:noFill/>
            </a:ln>
          </p:spPr>
        </p:sp>
        <p:sp>
          <p:nvSpPr>
            <p:cNvPr id="27" name="TextBox 27"/>
            <p:cNvSpPr txBox="1"/>
            <p:nvPr/>
          </p:nvSpPr>
          <p:spPr>
            <a:xfrm>
              <a:off x="1771857" y="4885372"/>
              <a:ext cx="976677"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AWM removed</a:t>
              </a:r>
            </a:p>
          </p:txBody>
        </p:sp>
        <p:sp>
          <p:nvSpPr>
            <p:cNvPr id="28" name="TextBox 28"/>
            <p:cNvSpPr txBox="1"/>
            <p:nvPr/>
          </p:nvSpPr>
          <p:spPr>
            <a:xfrm>
              <a:off x="4614291" y="4885372"/>
              <a:ext cx="300084" cy="205359"/>
            </a:xfrm>
            <a:prstGeom prst="rect">
              <a:avLst/>
            </a:prstGeom>
            <a:noFill/>
            <a:ln>
              <a:noFill/>
            </a:ln>
          </p:spPr>
          <p:txBody>
            <a:bodyPr wrap="none" lIns="0" tIns="0" rIns="0" bIns="0" anchor="t" anchorCtr="0">
              <a:spAutoFit/>
            </a:bodyPr>
            <a:lstStyle/>
            <a:p>
              <a:pPr algn="l"/>
              <a:r>
                <a:rPr lang="en-US" sz="1050" b="1" dirty="0">
                  <a:solidFill>
                    <a:srgbClr val="F2685C"/>
                  </a:solidFill>
                  <a:latin typeface="+mn-lt"/>
                  <a:ea typeface="+mn-ea"/>
                  <a:cs typeface="+mn-cs"/>
                </a:rPr>
                <a:t>high</a:t>
              </a:r>
            </a:p>
          </p:txBody>
        </p:sp>
      </p:grpSp>
      <p:grpSp>
        <p:nvGrpSpPr>
          <p:cNvPr id="36" name="Group 36"/>
          <p:cNvGrpSpPr/>
          <p:nvPr/>
        </p:nvGrpSpPr>
        <p:grpSpPr>
          <a:xfrm>
            <a:off x="6248400" y="1504950"/>
            <a:ext cx="5334000" cy="1428750"/>
            <a:chOff x="6248400" y="1504950"/>
            <a:chExt cx="5334000" cy="1428750"/>
          </a:xfrm>
        </p:grpSpPr>
        <p:sp>
          <p:nvSpPr>
            <p:cNvPr id="30" name="Rectangle 30"/>
            <p:cNvSpPr/>
            <p:nvPr/>
          </p:nvSpPr>
          <p:spPr>
            <a:xfrm>
              <a:off x="6248400" y="1504950"/>
              <a:ext cx="5334000" cy="1428750"/>
            </a:xfrm>
            <a:prstGeom prst="roundRect">
              <a:avLst>
                <a:gd name="adj" fmla="val 9333"/>
              </a:avLst>
            </a:prstGeom>
            <a:solidFill>
              <a:schemeClr val="accent5"/>
            </a:solidFill>
            <a:ln w="14288">
              <a:solidFill>
                <a:srgbClr val="26455F"/>
              </a:solidFill>
            </a:ln>
          </p:spPr>
        </p:sp>
        <p:sp>
          <p:nvSpPr>
            <p:cNvPr id="31" name="Rectangle 31"/>
            <p:cNvSpPr/>
            <p:nvPr/>
          </p:nvSpPr>
          <p:spPr>
            <a:xfrm>
              <a:off x="6248400" y="1504950"/>
              <a:ext cx="57150" cy="1428750"/>
            </a:xfrm>
            <a:prstGeom prst="roundRect">
              <a:avLst>
                <a:gd name="adj" fmla="val 50000"/>
              </a:avLst>
            </a:prstGeom>
            <a:solidFill>
              <a:srgbClr val="F2C14E"/>
            </a:solidFill>
            <a:ln>
              <a:noFill/>
            </a:ln>
          </p:spPr>
        </p:sp>
        <p:sp>
          <p:nvSpPr>
            <p:cNvPr id="32" name="TextBox 32"/>
            <p:cNvSpPr txBox="1"/>
            <p:nvPr/>
          </p:nvSpPr>
          <p:spPr>
            <a:xfrm>
              <a:off x="6509004" y="1737360"/>
              <a:ext cx="3087766" cy="234696"/>
            </a:xfrm>
            <a:prstGeom prst="rect">
              <a:avLst/>
            </a:prstGeom>
            <a:noFill/>
            <a:ln>
              <a:noFill/>
            </a:ln>
          </p:spPr>
          <p:txBody>
            <a:bodyPr wrap="none" lIns="0" tIns="0" rIns="0" bIns="0" anchor="t" anchorCtr="0">
              <a:spAutoFit/>
            </a:bodyPr>
            <a:lstStyle/>
            <a:p>
              <a:pPr algn="l"/>
              <a:r>
                <a:rPr lang="en-US" sz="1200" b="1" dirty="0">
                  <a:solidFill>
                    <a:srgbClr val="F2C14E"/>
                  </a:solidFill>
                  <a:latin typeface="+mn-lt"/>
                  <a:ea typeface="+mn-ea"/>
                  <a:cs typeface="+mn-cs"/>
                </a:rPr>
                <a:t>Different sets: regularization is key</a:t>
              </a:r>
            </a:p>
          </p:txBody>
        </p:sp>
        <p:sp>
          <p:nvSpPr>
            <p:cNvPr id="33" name="TextBox 33"/>
            <p:cNvSpPr txBox="1"/>
            <p:nvPr/>
          </p:nvSpPr>
          <p:spPr>
            <a:xfrm>
              <a:off x="6509766" y="2039302"/>
              <a:ext cx="3450239"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When datasets are recorded under very different</a:t>
              </a:r>
            </a:p>
          </p:txBody>
        </p:sp>
        <p:sp>
          <p:nvSpPr>
            <p:cNvPr id="34" name="TextBox 34"/>
            <p:cNvSpPr txBox="1"/>
            <p:nvPr/>
          </p:nvSpPr>
          <p:spPr>
            <a:xfrm>
              <a:off x="6509766" y="2239328"/>
              <a:ext cx="3841280"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conditions, the regularization term becomes the key to</a:t>
              </a:r>
            </a:p>
          </p:txBody>
        </p:sp>
        <p:sp>
          <p:nvSpPr>
            <p:cNvPr id="35" name="TextBox 35"/>
            <p:cNvSpPr txBox="1"/>
            <p:nvPr/>
          </p:nvSpPr>
          <p:spPr>
            <a:xfrm>
              <a:off x="6509766" y="2439352"/>
              <a:ext cx="164327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overcoming forgetting.</a:t>
              </a:r>
            </a:p>
          </p:txBody>
        </p:sp>
      </p:grpSp>
      <p:grpSp>
        <p:nvGrpSpPr>
          <p:cNvPr id="49" name="Group 49"/>
          <p:cNvGrpSpPr/>
          <p:nvPr/>
        </p:nvGrpSpPr>
        <p:grpSpPr>
          <a:xfrm>
            <a:off x="6248400" y="3086100"/>
            <a:ext cx="5334000" cy="2152650"/>
            <a:chOff x="6248400" y="3086100"/>
            <a:chExt cx="5334000" cy="2152650"/>
          </a:xfrm>
        </p:grpSpPr>
        <p:sp>
          <p:nvSpPr>
            <p:cNvPr id="37" name="Rectangle 37"/>
            <p:cNvSpPr/>
            <p:nvPr/>
          </p:nvSpPr>
          <p:spPr>
            <a:xfrm>
              <a:off x="6248400" y="3086100"/>
              <a:ext cx="5334000" cy="2152650"/>
            </a:xfrm>
            <a:prstGeom prst="roundRect">
              <a:avLst>
                <a:gd name="adj" fmla="val 6195"/>
              </a:avLst>
            </a:prstGeom>
            <a:solidFill>
              <a:schemeClr val="accent5"/>
            </a:solidFill>
            <a:ln w="14288">
              <a:solidFill>
                <a:srgbClr val="26455F"/>
              </a:solidFill>
            </a:ln>
          </p:spPr>
        </p:sp>
        <p:sp>
          <p:nvSpPr>
            <p:cNvPr id="38" name="Rectangle 38"/>
            <p:cNvSpPr/>
            <p:nvPr/>
          </p:nvSpPr>
          <p:spPr>
            <a:xfrm>
              <a:off x="6248400" y="3086100"/>
              <a:ext cx="57150" cy="2152650"/>
            </a:xfrm>
            <a:prstGeom prst="roundRect">
              <a:avLst>
                <a:gd name="adj" fmla="val 50000"/>
              </a:avLst>
            </a:prstGeom>
            <a:solidFill>
              <a:srgbClr val="34D3C0"/>
            </a:solidFill>
            <a:ln>
              <a:noFill/>
            </a:ln>
          </p:spPr>
        </p:sp>
        <p:sp>
          <p:nvSpPr>
            <p:cNvPr id="39" name="TextBox 39"/>
            <p:cNvSpPr txBox="1"/>
            <p:nvPr/>
          </p:nvSpPr>
          <p:spPr>
            <a:xfrm>
              <a:off x="6508814" y="3314462"/>
              <a:ext cx="2238899" cy="242030"/>
            </a:xfrm>
            <a:prstGeom prst="rect">
              <a:avLst/>
            </a:prstGeom>
            <a:noFill/>
            <a:ln>
              <a:noFill/>
            </a:ln>
          </p:spPr>
          <p:txBody>
            <a:bodyPr wrap="none" lIns="0" tIns="0" rIns="0" bIns="0" anchor="t" anchorCtr="0">
              <a:spAutoFit/>
            </a:bodyPr>
            <a:lstStyle/>
            <a:p>
              <a:pPr algn="l"/>
              <a:r>
                <a:rPr lang="en-US" sz="1240" b="1" dirty="0">
                  <a:solidFill>
                    <a:srgbClr val="34D3C0"/>
                  </a:solidFill>
                  <a:latin typeface="+mn-lt"/>
                  <a:ea typeface="+mn-ea"/>
                  <a:cs typeface="+mn-cs"/>
                </a:rPr>
                <a:t>AWM is the primary driver</a:t>
              </a:r>
            </a:p>
          </p:txBody>
        </p:sp>
        <p:sp>
          <p:nvSpPr>
            <p:cNvPr id="40" name="TextBox 40"/>
            <p:cNvSpPr txBox="1"/>
            <p:nvPr/>
          </p:nvSpPr>
          <p:spPr>
            <a:xfrm>
              <a:off x="6509766" y="3620452"/>
              <a:ext cx="4043922"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Across the full four-dataset sequence, removing adaptive</a:t>
              </a:r>
            </a:p>
          </p:txBody>
        </p:sp>
        <p:sp>
          <p:nvSpPr>
            <p:cNvPr id="41" name="TextBox 41"/>
            <p:cNvSpPr txBox="1"/>
            <p:nvPr/>
          </p:nvSpPr>
          <p:spPr>
            <a:xfrm>
              <a:off x="6509766" y="3820478"/>
              <a:ext cx="3191066"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weight modification hurts more than removing</a:t>
              </a:r>
            </a:p>
          </p:txBody>
        </p:sp>
        <p:sp>
          <p:nvSpPr>
            <p:cNvPr id="42" name="TextBox 42"/>
            <p:cNvSpPr txBox="1"/>
            <p:nvPr/>
          </p:nvSpPr>
          <p:spPr>
            <a:xfrm>
              <a:off x="6509766" y="4020502"/>
              <a:ext cx="1070801" cy="205359"/>
            </a:xfrm>
            <a:prstGeom prst="rect">
              <a:avLst/>
            </a:prstGeom>
            <a:noFill/>
            <a:ln>
              <a:noFill/>
            </a:ln>
          </p:spPr>
          <p:txBody>
            <a:bodyPr wrap="none" lIns="0" tIns="0" rIns="0" bIns="0" anchor="t" anchorCtr="0">
              <a:spAutoFit/>
            </a:bodyPr>
            <a:lstStyle/>
            <a:p>
              <a:pPr algn="l"/>
              <a:r>
                <a:rPr lang="en-US" sz="1050" dirty="0">
                  <a:solidFill>
                    <a:schemeClr val="dk2"/>
                  </a:solidFill>
                  <a:latin typeface="+mn-lt"/>
                  <a:ea typeface="+mn-ea"/>
                  <a:cs typeface="+mn-cs"/>
                </a:rPr>
                <a:t>regularization.</a:t>
              </a:r>
            </a:p>
          </p:txBody>
        </p:sp>
        <p:sp>
          <p:nvSpPr>
            <p:cNvPr id="43" name="Rectangle 43"/>
            <p:cNvSpPr/>
            <p:nvPr/>
          </p:nvSpPr>
          <p:spPr>
            <a:xfrm>
              <a:off x="6515100" y="4457700"/>
              <a:ext cx="4800600" cy="285750"/>
            </a:xfrm>
            <a:prstGeom prst="roundRect">
              <a:avLst>
                <a:gd name="adj" fmla="val 26667"/>
              </a:avLst>
            </a:prstGeom>
            <a:solidFill>
              <a:schemeClr val="accent6"/>
            </a:solidFill>
            <a:ln w="14288">
              <a:solidFill>
                <a:srgbClr val="26455F"/>
              </a:solidFill>
            </a:ln>
          </p:spPr>
        </p:sp>
        <p:sp>
          <p:nvSpPr>
            <p:cNvPr id="44" name="Ellipse 44"/>
            <p:cNvSpPr/>
            <p:nvPr/>
          </p:nvSpPr>
          <p:spPr>
            <a:xfrm>
              <a:off x="6638925" y="4552950"/>
              <a:ext cx="95250" cy="95250"/>
            </a:xfrm>
            <a:prstGeom prst="ellipse">
              <a:avLst/>
            </a:prstGeom>
            <a:solidFill>
              <a:srgbClr val="F2685C"/>
            </a:solidFill>
            <a:ln>
              <a:noFill/>
            </a:ln>
          </p:spPr>
        </p:sp>
        <p:sp>
          <p:nvSpPr>
            <p:cNvPr id="45" name="TextBox 45"/>
            <p:cNvSpPr txBox="1"/>
            <p:nvPr/>
          </p:nvSpPr>
          <p:spPr>
            <a:xfrm>
              <a:off x="6833426" y="4540329"/>
              <a:ext cx="2509169"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remove AWM -&gt; larger error jump</a:t>
              </a:r>
            </a:p>
          </p:txBody>
        </p:sp>
        <p:sp>
          <p:nvSpPr>
            <p:cNvPr id="46" name="Rectangle 46"/>
            <p:cNvSpPr/>
            <p:nvPr/>
          </p:nvSpPr>
          <p:spPr>
            <a:xfrm>
              <a:off x="6515100" y="4819650"/>
              <a:ext cx="4800600" cy="285750"/>
            </a:xfrm>
            <a:prstGeom prst="roundRect">
              <a:avLst>
                <a:gd name="adj" fmla="val 26667"/>
              </a:avLst>
            </a:prstGeom>
            <a:solidFill>
              <a:schemeClr val="accent6"/>
            </a:solidFill>
            <a:ln w="14288">
              <a:solidFill>
                <a:srgbClr val="26455F"/>
              </a:solidFill>
            </a:ln>
          </p:spPr>
        </p:sp>
        <p:sp>
          <p:nvSpPr>
            <p:cNvPr id="47" name="Ellipse 47"/>
            <p:cNvSpPr/>
            <p:nvPr/>
          </p:nvSpPr>
          <p:spPr>
            <a:xfrm>
              <a:off x="6638925" y="4914900"/>
              <a:ext cx="95250" cy="95250"/>
            </a:xfrm>
            <a:prstGeom prst="ellipse">
              <a:avLst/>
            </a:prstGeom>
            <a:solidFill>
              <a:srgbClr val="34D3C0"/>
            </a:solidFill>
            <a:ln>
              <a:noFill/>
            </a:ln>
          </p:spPr>
        </p:sp>
        <p:sp>
          <p:nvSpPr>
            <p:cNvPr id="48" name="TextBox 48"/>
            <p:cNvSpPr txBox="1"/>
            <p:nvPr/>
          </p:nvSpPr>
          <p:spPr>
            <a:xfrm>
              <a:off x="6833426" y="4902279"/>
              <a:ext cx="2730430" cy="212693"/>
            </a:xfrm>
            <a:prstGeom prst="rect">
              <a:avLst/>
            </a:prstGeom>
            <a:noFill/>
            <a:ln>
              <a:noFill/>
            </a:ln>
          </p:spPr>
          <p:txBody>
            <a:bodyPr wrap="none" lIns="0" tIns="0" rIns="0" bIns="0" anchor="t" anchorCtr="0">
              <a:spAutoFit/>
            </a:bodyPr>
            <a:lstStyle/>
            <a:p>
              <a:pPr algn="l"/>
              <a:r>
                <a:rPr lang="en-US" sz="1090" b="1" dirty="0">
                  <a:solidFill>
                    <a:schemeClr val="dk1"/>
                  </a:solidFill>
                  <a:latin typeface="+mn-lt"/>
                  <a:ea typeface="+mn-ea"/>
                  <a:cs typeface="+mn-cs"/>
                </a:rPr>
                <a:t>regularization: valuable complement</a:t>
              </a:r>
            </a:p>
          </p:txBody>
        </p:sp>
      </p:grpSp>
      <p:sp>
        <p:nvSpPr>
          <p:cNvPr id="50" name="cue_s08_c1_ablation_separates_two_components" title="cue_s08_c1_ablation_separates_two_components" descr="cue_s08_c1_ablation_separates_two_components An ablation separates the two components."/>
          <p:cNvSpPr/>
          <p:nvPr/>
        </p:nvSpPr>
        <p:spPr>
          <a:xfrm>
            <a:off x="609600"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8_c2_when_old_new_datasets_share" title="cue_s08_c2_when_old_new_datasets_share" descr="cue_s08_c2_when_old_new_datasets_share When old and new datasets share a similar feature distribution, adaptive weight modification does most of the work, and removing it sharply raises error."/>
          <p:cNvSpPr/>
          <p:nvPr/>
        </p:nvSpPr>
        <p:spPr>
          <a:xfrm>
            <a:off x="609600"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8_c3_when_datasets_recorded_under_very" title="cue_s08_c3_when_datasets_recorded_under_very" descr="cue_s08_c3_when_datasets_recorded_under_very When the datasets are recorded under very different conditions, the regularization term becomes the key to overcoming forgetting."/>
          <p:cNvSpPr/>
          <p:nvPr/>
        </p:nvSpPr>
        <p:spPr>
          <a:xfrm>
            <a:off x="6248399" y="1504645"/>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cue_s08_c4_across_full_four_dataset_sequence_re" title="cue_s08_c4_across_full_four_dataset_sequence_re" descr="cue_s08_c4_across_full_four_dataset_sequence_re Across the full four-dataset sequence, removing adaptive weight modification hurts more than removing regularization, so it is the primary driver, with regularization a valuable complement."/>
          <p:cNvSpPr/>
          <p:nvPr/>
        </p:nvSpPr>
        <p:spPr>
          <a:xfrm>
            <a:off x="6248399" y="3086100"/>
            <a:ext cx="5334000" cy="2152726"/>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1834378"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HEADLINE NUMBERS</a:t>
            </a:r>
          </a:p>
        </p:txBody>
      </p:sp>
      <p:sp>
        <p:nvSpPr>
          <p:cNvPr id="4" name="TextBox 4"/>
          <p:cNvSpPr txBox="1"/>
          <p:nvPr/>
        </p:nvSpPr>
        <p:spPr>
          <a:xfrm>
            <a:off x="598170" y="804862"/>
            <a:ext cx="3563618"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The impact in one place</a:t>
            </a:r>
          </a:p>
        </p:txBody>
      </p:sp>
      <p:grpSp>
        <p:nvGrpSpPr>
          <p:cNvPr id="17" name="Group 17"/>
          <p:cNvGrpSpPr/>
          <p:nvPr/>
        </p:nvGrpSpPr>
        <p:grpSpPr>
          <a:xfrm>
            <a:off x="609600" y="1581150"/>
            <a:ext cx="10972800" cy="1257300"/>
            <a:chOff x="609600" y="1581150"/>
            <a:chExt cx="10972800" cy="1257300"/>
          </a:xfrm>
        </p:grpSpPr>
        <p:sp>
          <p:nvSpPr>
            <p:cNvPr id="5" name="Rectangle 5"/>
            <p:cNvSpPr/>
            <p:nvPr/>
          </p:nvSpPr>
          <p:spPr>
            <a:xfrm>
              <a:off x="609600" y="1581150"/>
              <a:ext cx="10972800" cy="1257300"/>
            </a:xfrm>
            <a:prstGeom prst="roundRect">
              <a:avLst>
                <a:gd name="adj" fmla="val 10606"/>
              </a:avLst>
            </a:prstGeom>
            <a:solidFill>
              <a:schemeClr val="accent5"/>
            </a:solidFill>
            <a:ln w="14288">
              <a:solidFill>
                <a:srgbClr val="26455F"/>
              </a:solidFill>
            </a:ln>
          </p:spPr>
        </p:sp>
        <p:sp>
          <p:nvSpPr>
            <p:cNvPr id="6" name="Rectangle 6"/>
            <p:cNvSpPr/>
            <p:nvPr/>
          </p:nvSpPr>
          <p:spPr>
            <a:xfrm>
              <a:off x="609600" y="1581150"/>
              <a:ext cx="57150" cy="1257300"/>
            </a:xfrm>
            <a:prstGeom prst="roundRect">
              <a:avLst>
                <a:gd name="adj" fmla="val 50000"/>
              </a:avLst>
            </a:prstGeom>
            <a:solidFill>
              <a:srgbClr val="48C78E"/>
            </a:solidFill>
            <a:ln>
              <a:noFill/>
            </a:ln>
          </p:spPr>
        </p:sp>
        <p:sp>
          <p:nvSpPr>
            <p:cNvPr id="7" name="TextBox 7"/>
            <p:cNvSpPr txBox="1"/>
            <p:nvPr/>
          </p:nvSpPr>
          <p:spPr>
            <a:xfrm>
              <a:off x="870014" y="1790462"/>
              <a:ext cx="3795863"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Forgetting and new-set error, both slashed</a:t>
              </a:r>
            </a:p>
          </p:txBody>
        </p:sp>
        <p:sp>
          <p:nvSpPr>
            <p:cNvPr id="8" name="Rectangle 8"/>
            <p:cNvSpPr/>
            <p:nvPr/>
          </p:nvSpPr>
          <p:spPr>
            <a:xfrm>
              <a:off x="876300" y="2095500"/>
              <a:ext cx="2381250" cy="628650"/>
            </a:xfrm>
            <a:prstGeom prst="roundRect">
              <a:avLst>
                <a:gd name="adj" fmla="val 18182"/>
              </a:avLst>
            </a:prstGeom>
            <a:solidFill>
              <a:schemeClr val="accent6"/>
            </a:solidFill>
            <a:ln w="14288">
              <a:solidFill>
                <a:srgbClr val="26455F"/>
              </a:solidFill>
            </a:ln>
          </p:spPr>
        </p:sp>
        <p:sp>
          <p:nvSpPr>
            <p:cNvPr id="9" name="TextBox 9"/>
            <p:cNvSpPr txBox="1"/>
            <p:nvPr/>
          </p:nvSpPr>
          <p:spPr>
            <a:xfrm>
              <a:off x="1731855" y="2240718"/>
              <a:ext cx="670141" cy="329161"/>
            </a:xfrm>
            <a:prstGeom prst="rect">
              <a:avLst/>
            </a:prstGeom>
            <a:noFill/>
            <a:ln>
              <a:noFill/>
            </a:ln>
          </p:spPr>
          <p:txBody>
            <a:bodyPr wrap="none" lIns="0" tIns="0" rIns="0" bIns="0" anchor="t" anchorCtr="0">
              <a:spAutoFit/>
            </a:bodyPr>
            <a:lstStyle/>
            <a:p>
              <a:pPr algn="ctr"/>
              <a:r>
                <a:rPr lang="en-US" sz="1680" b="1" dirty="0">
                  <a:solidFill>
                    <a:srgbClr val="48C78E"/>
                  </a:solidFill>
                  <a:latin typeface="+mn-lt"/>
                  <a:ea typeface="+mn-ea"/>
                  <a:cs typeface="+mn-cs"/>
                </a:rPr>
                <a:t>~1/10</a:t>
              </a:r>
            </a:p>
          </p:txBody>
        </p:sp>
        <p:sp>
          <p:nvSpPr>
            <p:cNvPr id="10" name="TextBox 10"/>
            <p:cNvSpPr txBox="1"/>
            <p:nvPr/>
          </p:nvSpPr>
          <p:spPr>
            <a:xfrm>
              <a:off x="1288195" y="2497217"/>
              <a:ext cx="155746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forgetting vs fine-tune</a:t>
              </a:r>
            </a:p>
          </p:txBody>
        </p:sp>
        <p:sp>
          <p:nvSpPr>
            <p:cNvPr id="11" name="Rectangle 11"/>
            <p:cNvSpPr/>
            <p:nvPr/>
          </p:nvSpPr>
          <p:spPr>
            <a:xfrm>
              <a:off x="3429000" y="2095500"/>
              <a:ext cx="2381250" cy="628650"/>
            </a:xfrm>
            <a:prstGeom prst="roundRect">
              <a:avLst>
                <a:gd name="adj" fmla="val 18182"/>
              </a:avLst>
            </a:prstGeom>
            <a:solidFill>
              <a:schemeClr val="accent6"/>
            </a:solidFill>
            <a:ln w="14288">
              <a:solidFill>
                <a:srgbClr val="26455F"/>
              </a:solidFill>
            </a:ln>
          </p:spPr>
        </p:sp>
        <p:sp>
          <p:nvSpPr>
            <p:cNvPr id="12" name="TextBox 12"/>
            <p:cNvSpPr txBox="1"/>
            <p:nvPr/>
          </p:nvSpPr>
          <p:spPr>
            <a:xfrm>
              <a:off x="4349859" y="2240718"/>
              <a:ext cx="539533" cy="329161"/>
            </a:xfrm>
            <a:prstGeom prst="rect">
              <a:avLst/>
            </a:prstGeom>
            <a:noFill/>
            <a:ln>
              <a:noFill/>
            </a:ln>
          </p:spPr>
          <p:txBody>
            <a:bodyPr wrap="none" lIns="0" tIns="0" rIns="0" bIns="0" anchor="t" anchorCtr="0">
              <a:spAutoFit/>
            </a:bodyPr>
            <a:lstStyle/>
            <a:p>
              <a:pPr algn="ctr"/>
              <a:r>
                <a:rPr lang="en-US" sz="1680" b="1" dirty="0">
                  <a:solidFill>
                    <a:srgbClr val="34D3C0"/>
                  </a:solidFill>
                  <a:latin typeface="+mn-lt"/>
                  <a:ea typeface="+mn-ea"/>
                  <a:cs typeface="+mn-cs"/>
                </a:rPr>
                <a:t>~1/2</a:t>
              </a:r>
            </a:p>
          </p:txBody>
        </p:sp>
        <p:sp>
          <p:nvSpPr>
            <p:cNvPr id="13" name="TextBox 13"/>
            <p:cNvSpPr txBox="1"/>
            <p:nvPr/>
          </p:nvSpPr>
          <p:spPr>
            <a:xfrm>
              <a:off x="3937226" y="2497217"/>
              <a:ext cx="1364798"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error on the new set</a:t>
              </a:r>
            </a:p>
          </p:txBody>
        </p:sp>
        <p:sp>
          <p:nvSpPr>
            <p:cNvPr id="14" name="Rectangle 14"/>
            <p:cNvSpPr/>
            <p:nvPr/>
          </p:nvSpPr>
          <p:spPr>
            <a:xfrm>
              <a:off x="6000750" y="2095500"/>
              <a:ext cx="5581650" cy="628650"/>
            </a:xfrm>
            <a:prstGeom prst="roundRect">
              <a:avLst>
                <a:gd name="adj" fmla="val 18182"/>
              </a:avLst>
            </a:prstGeom>
            <a:solidFill>
              <a:schemeClr val="accent6"/>
            </a:solidFill>
            <a:ln w="14288">
              <a:solidFill>
                <a:srgbClr val="26455F"/>
              </a:solidFill>
            </a:ln>
          </p:spPr>
        </p:sp>
        <p:sp>
          <p:nvSpPr>
            <p:cNvPr id="15" name="TextBox 15"/>
            <p:cNvSpPr txBox="1"/>
            <p:nvPr/>
          </p:nvSpPr>
          <p:spPr>
            <a:xfrm>
              <a:off x="6186106" y="2252901"/>
              <a:ext cx="4787358"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Old datasets stay accurate while the new one is learned, with no replay</a:t>
              </a:r>
            </a:p>
          </p:txBody>
        </p:sp>
        <p:sp>
          <p:nvSpPr>
            <p:cNvPr id="16" name="TextBox 16"/>
            <p:cNvSpPr txBox="1"/>
            <p:nvPr/>
          </p:nvSpPr>
          <p:spPr>
            <a:xfrm>
              <a:off x="6186106" y="2443401"/>
              <a:ext cx="533757" cy="198025"/>
            </a:xfrm>
            <a:prstGeom prst="rect">
              <a:avLst/>
            </a:prstGeom>
            <a:noFill/>
            <a:ln>
              <a:noFill/>
            </a:ln>
          </p:spPr>
          <p:txBody>
            <a:bodyPr wrap="none" lIns="0" tIns="0" rIns="0" bIns="0" anchor="t" anchorCtr="0">
              <a:spAutoFit/>
            </a:bodyPr>
            <a:lstStyle/>
            <a:p>
              <a:pPr algn="l"/>
              <a:r>
                <a:rPr lang="en-US" sz="1010" dirty="0">
                  <a:solidFill>
                    <a:schemeClr val="dk2"/>
                  </a:solidFill>
                  <a:latin typeface="+mn-lt"/>
                  <a:ea typeface="+mn-ea"/>
                  <a:cs typeface="+mn-cs"/>
                </a:rPr>
                <a:t>buffer.</a:t>
              </a:r>
            </a:p>
          </p:txBody>
        </p:sp>
      </p:grpSp>
      <p:grpSp>
        <p:nvGrpSpPr>
          <p:cNvPr id="30" name="Group 30"/>
          <p:cNvGrpSpPr/>
          <p:nvPr/>
        </p:nvGrpSpPr>
        <p:grpSpPr>
          <a:xfrm>
            <a:off x="609600" y="2990850"/>
            <a:ext cx="5334000" cy="1428750"/>
            <a:chOff x="609600" y="2990850"/>
            <a:chExt cx="5334000" cy="1428750"/>
          </a:xfrm>
        </p:grpSpPr>
        <p:sp>
          <p:nvSpPr>
            <p:cNvPr id="18" name="Rectangle 18"/>
            <p:cNvSpPr/>
            <p:nvPr/>
          </p:nvSpPr>
          <p:spPr>
            <a:xfrm>
              <a:off x="609600" y="2990850"/>
              <a:ext cx="5334000" cy="1428750"/>
            </a:xfrm>
            <a:prstGeom prst="roundRect">
              <a:avLst>
                <a:gd name="adj" fmla="val 9333"/>
              </a:avLst>
            </a:prstGeom>
            <a:solidFill>
              <a:srgbClr val="0F2E2B"/>
            </a:solidFill>
            <a:ln w="14288">
              <a:solidFill>
                <a:srgbClr val="48C78E"/>
              </a:solidFill>
            </a:ln>
          </p:spPr>
        </p:sp>
        <p:sp>
          <p:nvSpPr>
            <p:cNvPr id="19" name="Rectangle 19"/>
            <p:cNvSpPr/>
            <p:nvPr/>
          </p:nvSpPr>
          <p:spPr>
            <a:xfrm>
              <a:off x="609600" y="2990850"/>
              <a:ext cx="57150" cy="1428750"/>
            </a:xfrm>
            <a:prstGeom prst="roundRect">
              <a:avLst>
                <a:gd name="adj" fmla="val 50000"/>
              </a:avLst>
            </a:prstGeom>
            <a:solidFill>
              <a:srgbClr val="48C78E"/>
            </a:solidFill>
            <a:ln>
              <a:noFill/>
            </a:ln>
          </p:spPr>
        </p:sp>
        <p:sp>
          <p:nvSpPr>
            <p:cNvPr id="20" name="TextBox 20"/>
            <p:cNvSpPr txBox="1"/>
            <p:nvPr/>
          </p:nvSpPr>
          <p:spPr>
            <a:xfrm>
              <a:off x="870014" y="3219212"/>
              <a:ext cx="1834006" cy="242030"/>
            </a:xfrm>
            <a:prstGeom prst="rect">
              <a:avLst/>
            </a:prstGeom>
            <a:noFill/>
            <a:ln>
              <a:noFill/>
            </a:ln>
          </p:spPr>
          <p:txBody>
            <a:bodyPr wrap="none" lIns="0" tIns="0" rIns="0" bIns="0" anchor="t" anchorCtr="0">
              <a:spAutoFit/>
            </a:bodyPr>
            <a:lstStyle/>
            <a:p>
              <a:pPr algn="l"/>
              <a:r>
                <a:rPr lang="en-US" sz="1240" b="1" dirty="0">
                  <a:solidFill>
                    <a:srgbClr val="48C78E"/>
                  </a:solidFill>
                  <a:latin typeface="+mn-lt"/>
                  <a:ea typeface="+mn-ea"/>
                  <a:cs typeface="+mn-cs"/>
                </a:rPr>
                <a:t>Only 100 new samples</a:t>
              </a:r>
            </a:p>
          </p:txBody>
        </p:sp>
        <p:sp>
          <p:nvSpPr>
            <p:cNvPr id="21" name="Rectangle 21"/>
            <p:cNvSpPr/>
            <p:nvPr/>
          </p:nvSpPr>
          <p:spPr>
            <a:xfrm>
              <a:off x="876300" y="3505200"/>
              <a:ext cx="1504950" cy="762000"/>
            </a:xfrm>
            <a:prstGeom prst="roundRect">
              <a:avLst>
                <a:gd name="adj" fmla="val 15000"/>
              </a:avLst>
            </a:prstGeom>
            <a:solidFill>
              <a:schemeClr val="accent6"/>
            </a:solidFill>
            <a:ln w="14288">
              <a:solidFill>
                <a:srgbClr val="26455F"/>
              </a:solidFill>
            </a:ln>
          </p:spPr>
        </p:sp>
        <p:sp>
          <p:nvSpPr>
            <p:cNvPr id="22" name="TextBox 22"/>
            <p:cNvSpPr txBox="1"/>
            <p:nvPr/>
          </p:nvSpPr>
          <p:spPr>
            <a:xfrm>
              <a:off x="1301220" y="3681222"/>
              <a:ext cx="655110" cy="398983"/>
            </a:xfrm>
            <a:prstGeom prst="rect">
              <a:avLst/>
            </a:prstGeom>
            <a:noFill/>
            <a:ln>
              <a:noFill/>
            </a:ln>
          </p:spPr>
          <p:txBody>
            <a:bodyPr wrap="none" lIns="0" tIns="0" rIns="0" bIns="0" anchor="t" anchorCtr="0">
              <a:spAutoFit/>
            </a:bodyPr>
            <a:lstStyle/>
            <a:p>
              <a:pPr algn="ctr"/>
              <a:r>
                <a:rPr lang="en-US" sz="2040" b="1" dirty="0">
                  <a:solidFill>
                    <a:srgbClr val="48C78E"/>
                  </a:solidFill>
                  <a:latin typeface="+mn-lt"/>
                  <a:ea typeface="+mn-ea"/>
                  <a:cs typeface="+mn-cs"/>
                </a:rPr>
                <a:t>0.92</a:t>
              </a:r>
            </a:p>
          </p:txBody>
        </p:sp>
        <p:sp>
          <p:nvSpPr>
            <p:cNvPr id="23" name="TextBox 23"/>
            <p:cNvSpPr txBox="1"/>
            <p:nvPr/>
          </p:nvSpPr>
          <p:spPr>
            <a:xfrm>
              <a:off x="1265264" y="4013597"/>
              <a:ext cx="727023"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EER old set</a:t>
              </a:r>
            </a:p>
          </p:txBody>
        </p:sp>
        <p:sp>
          <p:nvSpPr>
            <p:cNvPr id="24" name="Rectangle 24"/>
            <p:cNvSpPr/>
            <p:nvPr/>
          </p:nvSpPr>
          <p:spPr>
            <a:xfrm>
              <a:off x="2495550" y="3505200"/>
              <a:ext cx="1504950" cy="762000"/>
            </a:xfrm>
            <a:prstGeom prst="roundRect">
              <a:avLst>
                <a:gd name="adj" fmla="val 15000"/>
              </a:avLst>
            </a:prstGeom>
            <a:solidFill>
              <a:schemeClr val="accent6"/>
            </a:solidFill>
            <a:ln w="14288">
              <a:solidFill>
                <a:srgbClr val="26455F"/>
              </a:solidFill>
            </a:ln>
          </p:spPr>
        </p:sp>
        <p:sp>
          <p:nvSpPr>
            <p:cNvPr id="25" name="TextBox 25"/>
            <p:cNvSpPr txBox="1"/>
            <p:nvPr/>
          </p:nvSpPr>
          <p:spPr>
            <a:xfrm>
              <a:off x="2920470" y="3681222"/>
              <a:ext cx="655110"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0.31</a:t>
              </a:r>
            </a:p>
          </p:txBody>
        </p:sp>
        <p:sp>
          <p:nvSpPr>
            <p:cNvPr id="26" name="TextBox 26"/>
            <p:cNvSpPr txBox="1"/>
            <p:nvPr/>
          </p:nvSpPr>
          <p:spPr>
            <a:xfrm>
              <a:off x="2854054" y="4013597"/>
              <a:ext cx="787942"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EER new set</a:t>
              </a:r>
            </a:p>
          </p:txBody>
        </p:sp>
        <p:sp>
          <p:nvSpPr>
            <p:cNvPr id="27" name="Rectangle 27"/>
            <p:cNvSpPr/>
            <p:nvPr/>
          </p:nvSpPr>
          <p:spPr>
            <a:xfrm>
              <a:off x="4114800" y="3505200"/>
              <a:ext cx="1504950" cy="762000"/>
            </a:xfrm>
            <a:prstGeom prst="roundRect">
              <a:avLst>
                <a:gd name="adj" fmla="val 15000"/>
              </a:avLst>
            </a:prstGeom>
            <a:solidFill>
              <a:schemeClr val="accent6"/>
            </a:solidFill>
            <a:ln w="14288">
              <a:solidFill>
                <a:srgbClr val="26455F"/>
              </a:solidFill>
            </a:ln>
          </p:spPr>
        </p:sp>
        <p:sp>
          <p:nvSpPr>
            <p:cNvPr id="28" name="TextBox 28"/>
            <p:cNvSpPr txBox="1"/>
            <p:nvPr/>
          </p:nvSpPr>
          <p:spPr>
            <a:xfrm>
              <a:off x="4698316" y="3681222"/>
              <a:ext cx="337918" cy="398983"/>
            </a:xfrm>
            <a:prstGeom prst="rect">
              <a:avLst/>
            </a:prstGeom>
            <a:noFill/>
            <a:ln>
              <a:noFill/>
            </a:ln>
          </p:spPr>
          <p:txBody>
            <a:bodyPr wrap="none" lIns="0" tIns="0" rIns="0" bIns="0" anchor="t" anchorCtr="0">
              <a:spAutoFit/>
            </a:bodyPr>
            <a:lstStyle/>
            <a:p>
              <a:pPr algn="ctr"/>
              <a:r>
                <a:rPr lang="en-US" sz="2040" b="1" dirty="0">
                  <a:solidFill>
                    <a:srgbClr val="F2685C"/>
                  </a:solidFill>
                  <a:latin typeface="+mn-lt"/>
                  <a:ea typeface="+mn-ea"/>
                  <a:cs typeface="+mn-cs"/>
                </a:rPr>
                <a:t>~8</a:t>
              </a:r>
            </a:p>
          </p:txBody>
        </p:sp>
        <p:sp>
          <p:nvSpPr>
            <p:cNvPr id="29" name="TextBox 29"/>
            <p:cNvSpPr txBox="1"/>
            <p:nvPr/>
          </p:nvSpPr>
          <p:spPr>
            <a:xfrm>
              <a:off x="4413900" y="4013597"/>
              <a:ext cx="906750"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fine-tune EER</a:t>
              </a:r>
            </a:p>
          </p:txBody>
        </p:sp>
      </p:grpSp>
      <p:grpSp>
        <p:nvGrpSpPr>
          <p:cNvPr id="41" name="Group 41"/>
          <p:cNvGrpSpPr/>
          <p:nvPr/>
        </p:nvGrpSpPr>
        <p:grpSpPr>
          <a:xfrm>
            <a:off x="6248400" y="2990850"/>
            <a:ext cx="5334000" cy="1434703"/>
            <a:chOff x="6248400" y="2990850"/>
            <a:chExt cx="5334000" cy="1434703"/>
          </a:xfrm>
        </p:grpSpPr>
        <p:sp>
          <p:nvSpPr>
            <p:cNvPr id="31" name="Rectangle 31"/>
            <p:cNvSpPr/>
            <p:nvPr/>
          </p:nvSpPr>
          <p:spPr>
            <a:xfrm>
              <a:off x="6248400" y="2990850"/>
              <a:ext cx="5334000" cy="1428750"/>
            </a:xfrm>
            <a:prstGeom prst="roundRect">
              <a:avLst>
                <a:gd name="adj" fmla="val 9333"/>
              </a:avLst>
            </a:prstGeom>
            <a:solidFill>
              <a:schemeClr val="accent5"/>
            </a:solidFill>
            <a:ln w="14288">
              <a:solidFill>
                <a:srgbClr val="26455F"/>
              </a:solidFill>
            </a:ln>
          </p:spPr>
        </p:sp>
        <p:sp>
          <p:nvSpPr>
            <p:cNvPr id="32" name="Rectangle 32"/>
            <p:cNvSpPr/>
            <p:nvPr/>
          </p:nvSpPr>
          <p:spPr>
            <a:xfrm>
              <a:off x="6248400" y="2990850"/>
              <a:ext cx="57150" cy="1428750"/>
            </a:xfrm>
            <a:prstGeom prst="roundRect">
              <a:avLst>
                <a:gd name="adj" fmla="val 50000"/>
              </a:avLst>
            </a:prstGeom>
            <a:solidFill>
              <a:schemeClr val="accent2"/>
            </a:solidFill>
            <a:ln>
              <a:noFill/>
            </a:ln>
          </p:spPr>
        </p:sp>
        <p:sp>
          <p:nvSpPr>
            <p:cNvPr id="33" name="TextBox 33"/>
            <p:cNvSpPr txBox="1"/>
            <p:nvPr/>
          </p:nvSpPr>
          <p:spPr>
            <a:xfrm>
              <a:off x="6508814" y="3219212"/>
              <a:ext cx="2340447" cy="242030"/>
            </a:xfrm>
            <a:prstGeom prst="rect">
              <a:avLst/>
            </a:prstGeom>
            <a:noFill/>
            <a:ln>
              <a:noFill/>
            </a:ln>
          </p:spPr>
          <p:txBody>
            <a:bodyPr wrap="none" lIns="0" tIns="0" rIns="0" bIns="0" anchor="t" anchorCtr="0">
              <a:spAutoFit/>
            </a:bodyPr>
            <a:lstStyle/>
            <a:p>
              <a:pPr algn="l"/>
              <a:r>
                <a:rPr lang="en-US" sz="1240" b="1" dirty="0">
                  <a:solidFill>
                    <a:schemeClr val="accent2"/>
                  </a:solidFill>
                  <a:latin typeface="+mn-lt"/>
                  <a:ea typeface="+mn-ea"/>
                  <a:cs typeface="+mn-cs"/>
                </a:rPr>
                <a:t>Speech emotion recognition</a:t>
              </a:r>
            </a:p>
          </p:txBody>
        </p:sp>
        <p:sp>
          <p:nvSpPr>
            <p:cNvPr id="34" name="Rectangle 34"/>
            <p:cNvSpPr/>
            <p:nvPr/>
          </p:nvSpPr>
          <p:spPr>
            <a:xfrm>
              <a:off x="6515100" y="3505200"/>
              <a:ext cx="2381250" cy="762000"/>
            </a:xfrm>
            <a:prstGeom prst="roundRect">
              <a:avLst>
                <a:gd name="adj" fmla="val 15000"/>
              </a:avLst>
            </a:prstGeom>
            <a:solidFill>
              <a:schemeClr val="accent6"/>
            </a:solidFill>
            <a:ln w="14288">
              <a:solidFill>
                <a:srgbClr val="26455F"/>
              </a:solidFill>
            </a:ln>
          </p:spPr>
        </p:sp>
        <p:sp>
          <p:nvSpPr>
            <p:cNvPr id="35" name="TextBox 35"/>
            <p:cNvSpPr txBox="1"/>
            <p:nvPr/>
          </p:nvSpPr>
          <p:spPr>
            <a:xfrm>
              <a:off x="7349335" y="3681222"/>
              <a:ext cx="712781" cy="398983"/>
            </a:xfrm>
            <a:prstGeom prst="rect">
              <a:avLst/>
            </a:prstGeom>
            <a:noFill/>
            <a:ln>
              <a:noFill/>
            </a:ln>
          </p:spPr>
          <p:txBody>
            <a:bodyPr wrap="none" lIns="0" tIns="0" rIns="0" bIns="0" anchor="t" anchorCtr="0">
              <a:spAutoFit/>
            </a:bodyPr>
            <a:lstStyle/>
            <a:p>
              <a:pPr algn="ctr"/>
              <a:r>
                <a:rPr lang="en-US" sz="2040" b="1" dirty="0">
                  <a:solidFill>
                    <a:schemeClr val="accent2"/>
                  </a:solidFill>
                  <a:latin typeface="+mn-lt"/>
                  <a:ea typeface="+mn-ea"/>
                  <a:cs typeface="+mn-cs"/>
                </a:rPr>
                <a:t>~42%</a:t>
              </a:r>
            </a:p>
          </p:txBody>
        </p:sp>
        <p:sp>
          <p:nvSpPr>
            <p:cNvPr id="36" name="TextBox 36"/>
            <p:cNvSpPr txBox="1"/>
            <p:nvPr/>
          </p:nvSpPr>
          <p:spPr>
            <a:xfrm>
              <a:off x="7146708" y="4013597"/>
              <a:ext cx="1118034"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MSP-Podcast acc</a:t>
              </a:r>
            </a:p>
          </p:txBody>
        </p:sp>
        <p:sp>
          <p:nvSpPr>
            <p:cNvPr id="37" name="Rectangle 37"/>
            <p:cNvSpPr/>
            <p:nvPr/>
          </p:nvSpPr>
          <p:spPr>
            <a:xfrm>
              <a:off x="9124950" y="3505200"/>
              <a:ext cx="2381250" cy="762000"/>
            </a:xfrm>
            <a:prstGeom prst="roundRect">
              <a:avLst>
                <a:gd name="adj" fmla="val 15000"/>
              </a:avLst>
            </a:prstGeom>
            <a:solidFill>
              <a:schemeClr val="accent6"/>
            </a:solidFill>
            <a:ln w="14288">
              <a:solidFill>
                <a:srgbClr val="26455F"/>
              </a:solidFill>
            </a:ln>
          </p:spPr>
        </p:sp>
        <p:sp>
          <p:nvSpPr>
            <p:cNvPr id="38" name="TextBox 38"/>
            <p:cNvSpPr txBox="1"/>
            <p:nvPr/>
          </p:nvSpPr>
          <p:spPr>
            <a:xfrm>
              <a:off x="10038482" y="3681222"/>
              <a:ext cx="554185" cy="398983"/>
            </a:xfrm>
            <a:prstGeom prst="rect">
              <a:avLst/>
            </a:prstGeom>
            <a:noFill/>
            <a:ln>
              <a:noFill/>
            </a:ln>
          </p:spPr>
          <p:txBody>
            <a:bodyPr wrap="none" lIns="0" tIns="0" rIns="0" bIns="0" anchor="t" anchorCtr="0">
              <a:spAutoFit/>
            </a:bodyPr>
            <a:lstStyle/>
            <a:p>
              <a:pPr algn="ctr"/>
              <a:r>
                <a:rPr lang="en-US" sz="2040" b="1" dirty="0">
                  <a:solidFill>
                    <a:srgbClr val="34D3C0"/>
                  </a:solidFill>
                  <a:latin typeface="+mn-lt"/>
                  <a:ea typeface="+mn-ea"/>
                  <a:cs typeface="+mn-cs"/>
                </a:rPr>
                <a:t>54%</a:t>
              </a:r>
            </a:p>
          </p:txBody>
        </p:sp>
        <p:sp>
          <p:nvSpPr>
            <p:cNvPr id="39" name="TextBox 39"/>
            <p:cNvSpPr txBox="1"/>
            <p:nvPr/>
          </p:nvSpPr>
          <p:spPr>
            <a:xfrm>
              <a:off x="9899862" y="4013597"/>
              <a:ext cx="831426" cy="183356"/>
            </a:xfrm>
            <a:prstGeom prst="rect">
              <a:avLst/>
            </a:prstGeom>
            <a:noFill/>
            <a:ln>
              <a:noFill/>
            </a:ln>
          </p:spPr>
          <p:txBody>
            <a:bodyPr wrap="none" lIns="0" tIns="0" rIns="0" bIns="0" anchor="t" anchorCtr="0">
              <a:spAutoFit/>
            </a:bodyPr>
            <a:lstStyle/>
            <a:p>
              <a:pPr algn="ctr"/>
              <a:r>
                <a:rPr lang="en-US" sz="940" b="1" dirty="0">
                  <a:solidFill>
                    <a:schemeClr val="dk2"/>
                  </a:solidFill>
                  <a:latin typeface="+mn-lt"/>
                  <a:ea typeface="+mn-ea"/>
                  <a:cs typeface="+mn-cs"/>
                </a:rPr>
                <a:t>IEMOCAP acc</a:t>
              </a:r>
            </a:p>
          </p:txBody>
        </p:sp>
        <p:sp>
          <p:nvSpPr>
            <p:cNvPr id="40" name="TextBox 40"/>
            <p:cNvSpPr txBox="1"/>
            <p:nvPr/>
          </p:nvSpPr>
          <p:spPr>
            <a:xfrm>
              <a:off x="6510338" y="4242197"/>
              <a:ext cx="2926020" cy="183356"/>
            </a:xfrm>
            <a:prstGeom prst="rect">
              <a:avLst/>
            </a:prstGeom>
            <a:noFill/>
            <a:ln>
              <a:noFill/>
            </a:ln>
          </p:spPr>
          <p:txBody>
            <a:bodyPr wrap="none" lIns="0" tIns="0" rIns="0" bIns="0" anchor="t" anchorCtr="0">
              <a:spAutoFit/>
            </a:bodyPr>
            <a:lstStyle/>
            <a:p>
              <a:pPr algn="l"/>
              <a:r>
                <a:rPr lang="en-US" sz="940" b="1" dirty="0">
                  <a:solidFill>
                    <a:srgbClr val="6E869C"/>
                  </a:solidFill>
                  <a:latin typeface="+mn-lt"/>
                  <a:ea typeface="+mn-ea"/>
                  <a:cs typeface="+mn-cs"/>
                </a:rPr>
                <a:t>best of all continual learning methods tested</a:t>
              </a:r>
            </a:p>
          </p:txBody>
        </p:sp>
      </p:grpSp>
      <p:grpSp>
        <p:nvGrpSpPr>
          <p:cNvPr id="48" name="Group 48"/>
          <p:cNvGrpSpPr/>
          <p:nvPr/>
        </p:nvGrpSpPr>
        <p:grpSpPr>
          <a:xfrm>
            <a:off x="609600" y="4572000"/>
            <a:ext cx="10972800" cy="666750"/>
            <a:chOff x="609600" y="4572000"/>
            <a:chExt cx="10972800" cy="666750"/>
          </a:xfrm>
        </p:grpSpPr>
        <p:sp>
          <p:nvSpPr>
            <p:cNvPr id="42" name="Rectangle 42"/>
            <p:cNvSpPr/>
            <p:nvPr/>
          </p:nvSpPr>
          <p:spPr>
            <a:xfrm>
              <a:off x="609600" y="4572000"/>
              <a:ext cx="10972800" cy="666750"/>
            </a:xfrm>
            <a:prstGeom prst="roundRect">
              <a:avLst>
                <a:gd name="adj" fmla="val 20000"/>
              </a:avLst>
            </a:prstGeom>
            <a:solidFill>
              <a:srgbClr val="2A2417"/>
            </a:solidFill>
            <a:ln w="14288">
              <a:solidFill>
                <a:srgbClr val="F2C14E"/>
              </a:solidFill>
            </a:ln>
          </p:spPr>
        </p:sp>
        <p:sp>
          <p:nvSpPr>
            <p:cNvPr id="43" name="Rectangle 43"/>
            <p:cNvSpPr/>
            <p:nvPr/>
          </p:nvSpPr>
          <p:spPr>
            <a:xfrm>
              <a:off x="609600" y="4572000"/>
              <a:ext cx="57150" cy="666750"/>
            </a:xfrm>
            <a:prstGeom prst="roundRect">
              <a:avLst>
                <a:gd name="adj" fmla="val 50000"/>
              </a:avLst>
            </a:prstGeom>
            <a:solidFill>
              <a:srgbClr val="F2C14E"/>
            </a:solidFill>
            <a:ln>
              <a:noFill/>
            </a:ln>
          </p:spPr>
        </p:sp>
        <p:sp>
          <p:nvSpPr>
            <p:cNvPr id="44" name="TextBox 44"/>
            <p:cNvSpPr txBox="1"/>
            <p:nvPr/>
          </p:nvSpPr>
          <p:spPr>
            <a:xfrm>
              <a:off x="870394" y="4732258"/>
              <a:ext cx="2402535" cy="227362"/>
            </a:xfrm>
            <a:prstGeom prst="rect">
              <a:avLst/>
            </a:prstGeom>
            <a:noFill/>
            <a:ln>
              <a:noFill/>
            </a:ln>
          </p:spPr>
          <p:txBody>
            <a:bodyPr wrap="none" lIns="0" tIns="0" rIns="0" bIns="0" anchor="t" anchorCtr="0">
              <a:spAutoFit/>
            </a:bodyPr>
            <a:lstStyle/>
            <a:p>
              <a:pPr algn="l"/>
              <a:r>
                <a:rPr lang="en-US" sz="1160" b="1" dirty="0">
                  <a:solidFill>
                    <a:srgbClr val="F2C14E"/>
                  </a:solidFill>
                  <a:latin typeface="+mn-lt"/>
                  <a:ea typeface="+mn-ea"/>
                  <a:cs typeface="+mn-cs"/>
                </a:rPr>
                <a:t>Optimal regularization weight</a:t>
              </a:r>
            </a:p>
          </p:txBody>
        </p:sp>
        <p:sp>
          <p:nvSpPr>
            <p:cNvPr id="45" name="TextBox 45"/>
            <p:cNvSpPr txBox="1"/>
            <p:nvPr/>
          </p:nvSpPr>
          <p:spPr>
            <a:xfrm>
              <a:off x="871156" y="4977051"/>
              <a:ext cx="3370250" cy="198025"/>
            </a:xfrm>
            <a:prstGeom prst="rect">
              <a:avLst/>
            </a:prstGeom>
            <a:noFill/>
            <a:ln>
              <a:noFill/>
            </a:ln>
          </p:spPr>
          <p:txBody>
            <a:bodyPr wrap="none" lIns="0" tIns="0" rIns="0" bIns="0" anchor="t" anchorCtr="0">
              <a:spAutoFit/>
            </a:bodyPr>
            <a:lstStyle/>
            <a:p>
              <a:pPr algn="l"/>
              <a:r>
                <a:rPr lang="en-US" sz="1010" b="1" dirty="0">
                  <a:solidFill>
                    <a:schemeClr val="dk2"/>
                  </a:solidFill>
                  <a:latin typeface="+mn-lt"/>
                  <a:ea typeface="+mn-ea"/>
                  <a:cs typeface="+mn-cs"/>
                </a:rPr>
                <a:t>Equal attention to old and new data works best.</a:t>
              </a:r>
            </a:p>
          </p:txBody>
        </p:sp>
        <p:sp>
          <p:nvSpPr>
            <p:cNvPr id="46" name="Rectangle 46"/>
            <p:cNvSpPr/>
            <p:nvPr/>
          </p:nvSpPr>
          <p:spPr>
            <a:xfrm>
              <a:off x="8229600" y="4686300"/>
              <a:ext cx="3352800" cy="438150"/>
            </a:xfrm>
            <a:prstGeom prst="roundRect">
              <a:avLst>
                <a:gd name="adj" fmla="val 17391"/>
              </a:avLst>
            </a:prstGeom>
            <a:solidFill>
              <a:schemeClr val="accent6"/>
            </a:solidFill>
            <a:ln w="14288">
              <a:solidFill>
                <a:srgbClr val="26455F"/>
              </a:solidFill>
            </a:ln>
          </p:spPr>
        </p:sp>
        <p:sp>
          <p:nvSpPr>
            <p:cNvPr id="47" name="TextBox 47"/>
            <p:cNvSpPr txBox="1"/>
            <p:nvPr/>
          </p:nvSpPr>
          <p:spPr>
            <a:xfrm>
              <a:off x="9421388" y="4841081"/>
              <a:ext cx="969224" cy="220028"/>
            </a:xfrm>
            <a:prstGeom prst="rect">
              <a:avLst/>
            </a:prstGeom>
            <a:noFill/>
            <a:ln>
              <a:noFill/>
            </a:ln>
          </p:spPr>
          <p:txBody>
            <a:bodyPr wrap="none" lIns="0" tIns="0" rIns="0" bIns="0" anchor="t" anchorCtr="0">
              <a:spAutoFit/>
            </a:bodyPr>
            <a:lstStyle/>
            <a:p>
              <a:pPr algn="ctr"/>
              <a:r>
                <a:rPr lang="en-US" sz="1120" b="1" dirty="0">
                  <a:solidFill>
                    <a:schemeClr val="dk1"/>
                  </a:solidFill>
                  <a:latin typeface="Consolas"/>
                  <a:ea typeface="Consolas"/>
                  <a:cs typeface="Consolas"/>
                </a:rPr>
                <a:t>lambda = 1/2</a:t>
              </a:r>
            </a:p>
          </p:txBody>
        </p:sp>
      </p:grpSp>
      <p:sp>
        <p:nvSpPr>
          <p:cNvPr id="49" name="cue_s09_c1_numbers_forgetting_drops_about_one" title="cue_s09_c1_numbers_forgetting_drops_about_one" descr="cue_s09_c1_numbers_forgetting_drops_about_one In numbers: forgetting drops to about one tenth of fine-tuning, and new-dataset error to about one half."/>
          <p:cNvSpPr/>
          <p:nvPr/>
        </p:nvSpPr>
        <p:spPr>
          <a:xfrm>
            <a:off x="609600" y="1581454"/>
            <a:ext cx="10972800" cy="125707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cue_s09_c2_few_sample_regime_only_one_hundred" title="cue_s09_c2_few_sample_regime_only_one_hundred" descr="cue_s09_c2_few_sample_regime_only_one_hundred In the few-sample regime with only one hundred new samples, RAWM scores an equal error rate of zero point nine two on the old set and zero point three one on the new, far ahead of fine-tuning's near eight."/>
          <p:cNvSpPr/>
          <p:nvPr/>
        </p:nvSpPr>
        <p:spPr>
          <a:xfrm>
            <a:off x="609600" y="2990773"/>
            <a:ext cx="5334000" cy="1428521"/>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cue_s09_c3_speech_emotion_recognition_reaches_a" title="cue_s09_c3_speech_emotion_recognition_reaches_a" descr="cue_s09_c3_speech_emotion_recognition_reaches_a On speech emotion recognition it reaches about forty-two percent accuracy on MSP-Podcast and fifty-four percent on IEMOCAP, the best of all continual learning methods tested."/>
          <p:cNvSpPr/>
          <p:nvPr/>
        </p:nvSpPr>
        <p:spPr>
          <a:xfrm>
            <a:off x="6248399" y="2990773"/>
            <a:ext cx="5334000" cy="143469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cue_s09_c4_optimal_regularization_weight_one_ha" title="cue_s09_c4_optimal_regularization_weight_one_ha" descr="cue_s09_c4_optimal_regularization_weight_one_ha The optimal regularization weight is one half."/>
          <p:cNvSpPr/>
          <p:nvPr/>
        </p:nvSpPr>
        <p:spPr>
          <a:xfrm>
            <a:off x="609600" y="4572228"/>
            <a:ext cx="10972800" cy="666597"/>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609600" y="495300"/>
            <a:ext cx="47625" cy="247650"/>
          </a:xfrm>
          <a:prstGeom prst="roundRect">
            <a:avLst>
              <a:gd name="adj" fmla="val 40000"/>
            </a:avLst>
          </a:prstGeom>
          <a:solidFill>
            <a:schemeClr val="accent2"/>
          </a:solidFill>
          <a:ln>
            <a:noFill/>
          </a:ln>
        </p:spPr>
        <p:txBody>
          <a:bodyPr/>
          <a:p/>
        </p:txBody>
      </p:sp>
      <p:sp>
        <p:nvSpPr>
          <p:cNvPr id="3" name="TextBox 3"/>
          <p:cNvSpPr txBox="1"/>
          <p:nvPr/>
        </p:nvSpPr>
        <p:spPr>
          <a:xfrm>
            <a:off x="775335" y="564356"/>
            <a:ext cx="968079" cy="220028"/>
          </a:xfrm>
          <a:prstGeom prst="rect">
            <a:avLst/>
          </a:prstGeom>
          <a:noFill/>
          <a:ln>
            <a:noFill/>
          </a:ln>
        </p:spPr>
        <p:txBody>
          <a:bodyPr wrap="none" lIns="0" tIns="0" rIns="0" bIns="0" anchor="t" anchorCtr="0">
            <a:spAutoFit/>
          </a:bodyPr>
          <a:lstStyle/>
          <a:p>
            <a:pPr algn="l"/>
            <a:r>
              <a:rPr lang="en-US" sz="1120" b="1" spc="188" dirty="0">
                <a:solidFill>
                  <a:schemeClr val="dk2"/>
                </a:solidFill>
                <a:latin typeface="+mn-lt"/>
                <a:ea typeface="+mn-ea"/>
                <a:cs typeface="+mn-cs"/>
              </a:rPr>
              <a:t>TAKEAWAY</a:t>
            </a:r>
          </a:p>
        </p:txBody>
      </p:sp>
      <p:sp>
        <p:nvSpPr>
          <p:cNvPr id="4" name="TextBox 4"/>
          <p:cNvSpPr txBox="1"/>
          <p:nvPr/>
        </p:nvSpPr>
        <p:spPr>
          <a:xfrm>
            <a:off x="598170" y="804862"/>
            <a:ext cx="672908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Learn the new, keep the old, store nothing</a:t>
            </a:r>
          </a:p>
        </p:txBody>
      </p:sp>
      <p:grpSp>
        <p:nvGrpSpPr>
          <p:cNvPr id="11" name="Group 11"/>
          <p:cNvGrpSpPr/>
          <p:nvPr/>
        </p:nvGrpSpPr>
        <p:grpSpPr>
          <a:xfrm>
            <a:off x="609600" y="1676400"/>
            <a:ext cx="10972800" cy="1104900"/>
            <a:chOff x="609600" y="1676400"/>
            <a:chExt cx="10972800" cy="1104900"/>
          </a:xfrm>
        </p:grpSpPr>
        <p:sp>
          <p:nvSpPr>
            <p:cNvPr id="5" name="Rectangle 5"/>
            <p:cNvSpPr/>
            <p:nvPr/>
          </p:nvSpPr>
          <p:spPr>
            <a:xfrm>
              <a:off x="609600" y="1676400"/>
              <a:ext cx="10972800" cy="1104900"/>
            </a:xfrm>
            <a:prstGeom prst="roundRect">
              <a:avLst>
                <a:gd name="adj" fmla="val 12069"/>
              </a:avLst>
            </a:prstGeom>
            <a:solidFill>
              <a:schemeClr val="accent5"/>
            </a:solidFill>
            <a:ln w="14288">
              <a:solidFill>
                <a:srgbClr val="26455F"/>
              </a:solidFill>
            </a:ln>
          </p:spPr>
        </p:sp>
        <p:sp>
          <p:nvSpPr>
            <p:cNvPr id="6" name="Rectangle 6"/>
            <p:cNvSpPr/>
            <p:nvPr/>
          </p:nvSpPr>
          <p:spPr>
            <a:xfrm>
              <a:off x="609600" y="1676400"/>
              <a:ext cx="57150" cy="1104900"/>
            </a:xfrm>
            <a:prstGeom prst="roundRect">
              <a:avLst>
                <a:gd name="adj" fmla="val 50000"/>
              </a:avLst>
            </a:prstGeom>
            <a:solidFill>
              <a:schemeClr val="accent2"/>
            </a:solidFill>
            <a:ln>
              <a:noFill/>
            </a:ln>
          </p:spPr>
        </p:sp>
        <p:sp>
          <p:nvSpPr>
            <p:cNvPr id="7" name="Ellipse 7"/>
            <p:cNvSpPr/>
            <p:nvPr/>
          </p:nvSpPr>
          <p:spPr>
            <a:xfrm>
              <a:off x="971550" y="2133600"/>
              <a:ext cx="190500" cy="190500"/>
            </a:xfrm>
            <a:prstGeom prst="ellipse">
              <a:avLst/>
            </a:prstGeom>
            <a:solidFill>
              <a:schemeClr val="accent2"/>
            </a:solidFill>
            <a:ln>
              <a:noFill/>
            </a:ln>
          </p:spPr>
        </p:sp>
        <p:sp>
          <p:nvSpPr>
            <p:cNvPr id="8" name="TextBox 8"/>
            <p:cNvSpPr txBox="1"/>
            <p:nvPr/>
          </p:nvSpPr>
          <p:spPr>
            <a:xfrm>
              <a:off x="1421511" y="1960721"/>
              <a:ext cx="3443407"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Teach new sets without forgetting</a:t>
              </a:r>
            </a:p>
          </p:txBody>
        </p:sp>
        <p:sp>
          <p:nvSpPr>
            <p:cNvPr id="9" name="TextBox 9"/>
            <p:cNvSpPr txBox="1"/>
            <p:nvPr/>
          </p:nvSpPr>
          <p:spPr>
            <a:xfrm>
              <a:off x="1422844" y="2293858"/>
              <a:ext cx="6466554"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You can teach a fake audio detector new datasets without it forgetting the old, and</a:t>
              </a:r>
            </a:p>
          </p:txBody>
        </p:sp>
        <p:sp>
          <p:nvSpPr>
            <p:cNvPr id="10" name="TextBox 10"/>
            <p:cNvSpPr txBox="1"/>
            <p:nvPr/>
          </p:nvSpPr>
          <p:spPr>
            <a:xfrm>
              <a:off x="1422844" y="2522458"/>
              <a:ext cx="334581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without keeping any of the old data around.</a:t>
              </a:r>
            </a:p>
          </p:txBody>
        </p:sp>
      </p:grpSp>
      <p:grpSp>
        <p:nvGrpSpPr>
          <p:cNvPr id="18" name="Group 18"/>
          <p:cNvGrpSpPr/>
          <p:nvPr/>
        </p:nvGrpSpPr>
        <p:grpSpPr>
          <a:xfrm>
            <a:off x="609600" y="2933700"/>
            <a:ext cx="10972800" cy="1104900"/>
            <a:chOff x="609600" y="2933700"/>
            <a:chExt cx="10972800" cy="1104900"/>
          </a:xfrm>
        </p:grpSpPr>
        <p:sp>
          <p:nvSpPr>
            <p:cNvPr id="12" name="Rectangle 12"/>
            <p:cNvSpPr/>
            <p:nvPr/>
          </p:nvSpPr>
          <p:spPr>
            <a:xfrm>
              <a:off x="609600" y="2933700"/>
              <a:ext cx="10972800" cy="1104900"/>
            </a:xfrm>
            <a:prstGeom prst="roundRect">
              <a:avLst>
                <a:gd name="adj" fmla="val 12069"/>
              </a:avLst>
            </a:prstGeom>
            <a:solidFill>
              <a:schemeClr val="accent5"/>
            </a:solidFill>
            <a:ln w="14288">
              <a:solidFill>
                <a:srgbClr val="26455F"/>
              </a:solidFill>
            </a:ln>
          </p:spPr>
        </p:sp>
        <p:sp>
          <p:nvSpPr>
            <p:cNvPr id="13" name="Rectangle 13"/>
            <p:cNvSpPr/>
            <p:nvPr/>
          </p:nvSpPr>
          <p:spPr>
            <a:xfrm>
              <a:off x="609600" y="2933700"/>
              <a:ext cx="57150" cy="1104900"/>
            </a:xfrm>
            <a:prstGeom prst="roundRect">
              <a:avLst>
                <a:gd name="adj" fmla="val 50000"/>
              </a:avLst>
            </a:prstGeom>
            <a:solidFill>
              <a:srgbClr val="34D3C0"/>
            </a:solidFill>
            <a:ln>
              <a:noFill/>
            </a:ln>
          </p:spPr>
        </p:sp>
        <p:sp>
          <p:nvSpPr>
            <p:cNvPr id="14" name="Ellipse 14"/>
            <p:cNvSpPr/>
            <p:nvPr/>
          </p:nvSpPr>
          <p:spPr>
            <a:xfrm>
              <a:off x="971550" y="3390900"/>
              <a:ext cx="190500" cy="190500"/>
            </a:xfrm>
            <a:prstGeom prst="ellipse">
              <a:avLst/>
            </a:prstGeom>
            <a:solidFill>
              <a:srgbClr val="34D3C0"/>
            </a:solidFill>
            <a:ln>
              <a:noFill/>
            </a:ln>
          </p:spPr>
        </p:sp>
        <p:sp>
          <p:nvSpPr>
            <p:cNvPr id="15" name="TextBox 15"/>
            <p:cNvSpPr txBox="1"/>
            <p:nvPr/>
          </p:nvSpPr>
          <p:spPr>
            <a:xfrm>
              <a:off x="1421511" y="3218021"/>
              <a:ext cx="4055838"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Adapt the update, regularize the memory</a:t>
              </a:r>
            </a:p>
          </p:txBody>
        </p:sp>
        <p:sp>
          <p:nvSpPr>
            <p:cNvPr id="16" name="TextBox 16"/>
            <p:cNvSpPr txBox="1"/>
            <p:nvPr/>
          </p:nvSpPr>
          <p:spPr>
            <a:xfrm>
              <a:off x="1422844" y="3551158"/>
              <a:ext cx="6873396"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RAWM makes the weight update adapt to how genuine-heavy each batch is, and regularizes</a:t>
              </a:r>
            </a:p>
          </p:txBody>
        </p:sp>
        <p:sp>
          <p:nvSpPr>
            <p:cNvPr id="17" name="TextBox 17"/>
            <p:cNvSpPr txBox="1"/>
            <p:nvPr/>
          </p:nvSpPr>
          <p:spPr>
            <a:xfrm>
              <a:off x="1422844" y="3779758"/>
              <a:ext cx="3494161"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the model to remember its previous behavior.</a:t>
              </a:r>
            </a:p>
          </p:txBody>
        </p:sp>
      </p:grpSp>
      <p:grpSp>
        <p:nvGrpSpPr>
          <p:cNvPr id="25" name="Group 25"/>
          <p:cNvGrpSpPr/>
          <p:nvPr/>
        </p:nvGrpSpPr>
        <p:grpSpPr>
          <a:xfrm>
            <a:off x="609600" y="4191000"/>
            <a:ext cx="10972800" cy="1104900"/>
            <a:chOff x="609600" y="4191000"/>
            <a:chExt cx="10972800" cy="1104900"/>
          </a:xfrm>
        </p:grpSpPr>
        <p:sp>
          <p:nvSpPr>
            <p:cNvPr id="19" name="Rectangle 19"/>
            <p:cNvSpPr/>
            <p:nvPr/>
          </p:nvSpPr>
          <p:spPr>
            <a:xfrm>
              <a:off x="609600" y="4191000"/>
              <a:ext cx="10972800" cy="1104900"/>
            </a:xfrm>
            <a:prstGeom prst="roundRect">
              <a:avLst>
                <a:gd name="adj" fmla="val 12069"/>
              </a:avLst>
            </a:prstGeom>
            <a:solidFill>
              <a:schemeClr val="accent5"/>
            </a:solidFill>
            <a:ln w="14288">
              <a:solidFill>
                <a:srgbClr val="26455F"/>
              </a:solidFill>
            </a:ln>
          </p:spPr>
        </p:sp>
        <p:sp>
          <p:nvSpPr>
            <p:cNvPr id="20" name="Rectangle 20"/>
            <p:cNvSpPr/>
            <p:nvPr/>
          </p:nvSpPr>
          <p:spPr>
            <a:xfrm>
              <a:off x="609600" y="4191000"/>
              <a:ext cx="57150" cy="1104900"/>
            </a:xfrm>
            <a:prstGeom prst="roundRect">
              <a:avLst>
                <a:gd name="adj" fmla="val 50000"/>
              </a:avLst>
            </a:prstGeom>
            <a:solidFill>
              <a:srgbClr val="48C78E"/>
            </a:solidFill>
            <a:ln>
              <a:noFill/>
            </a:ln>
          </p:spPr>
        </p:sp>
        <p:sp>
          <p:nvSpPr>
            <p:cNvPr id="21" name="Ellipse 21"/>
            <p:cNvSpPr/>
            <p:nvPr/>
          </p:nvSpPr>
          <p:spPr>
            <a:xfrm>
              <a:off x="971550" y="4648200"/>
              <a:ext cx="190500" cy="190500"/>
            </a:xfrm>
            <a:prstGeom prst="ellipse">
              <a:avLst/>
            </a:prstGeom>
            <a:solidFill>
              <a:srgbClr val="48C78E"/>
            </a:solidFill>
            <a:ln>
              <a:noFill/>
            </a:ln>
          </p:spPr>
        </p:sp>
        <p:sp>
          <p:nvSpPr>
            <p:cNvPr id="22" name="TextBox 22"/>
            <p:cNvSpPr txBox="1"/>
            <p:nvPr/>
          </p:nvSpPr>
          <p:spPr>
            <a:xfrm>
              <a:off x="1421511" y="4475321"/>
              <a:ext cx="2870885" cy="278702"/>
            </a:xfrm>
            <a:prstGeom prst="rect">
              <a:avLst/>
            </a:prstGeom>
            <a:noFill/>
            <a:ln>
              <a:noFill/>
            </a:ln>
          </p:spPr>
          <p:txBody>
            <a:bodyPr wrap="none" lIns="0" tIns="0" rIns="0" bIns="0" anchor="t" anchorCtr="0">
              <a:spAutoFit/>
            </a:bodyPr>
            <a:lstStyle/>
            <a:p>
              <a:pPr algn="l"/>
              <a:r>
                <a:rPr lang="en-US" sz="1420" b="1" dirty="0">
                  <a:solidFill>
                    <a:schemeClr val="dk1"/>
                  </a:solidFill>
                  <a:latin typeface="+mn-lt"/>
                  <a:ea typeface="+mn-ea"/>
                  <a:cs typeface="+mn-cs"/>
                </a:rPr>
                <a:t>A regularity that generalizes</a:t>
              </a:r>
            </a:p>
          </p:txBody>
        </p:sp>
        <p:sp>
          <p:nvSpPr>
            <p:cNvPr id="23" name="TextBox 23"/>
            <p:cNvSpPr txBox="1"/>
            <p:nvPr/>
          </p:nvSpPr>
          <p:spPr>
            <a:xfrm>
              <a:off x="1422844" y="4808458"/>
              <a:ext cx="6560172"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Because some classes stay similar across datasets in many problems, the same recipe</a:t>
              </a:r>
            </a:p>
          </p:txBody>
        </p:sp>
        <p:sp>
          <p:nvSpPr>
            <p:cNvPr id="24" name="TextBox 24"/>
            <p:cNvSpPr txBox="1"/>
            <p:nvPr/>
          </p:nvSpPr>
          <p:spPr>
            <a:xfrm>
              <a:off x="1422844" y="5037058"/>
              <a:ext cx="3806480" cy="227362"/>
            </a:xfrm>
            <a:prstGeom prst="rect">
              <a:avLst/>
            </a:prstGeom>
            <a:noFill/>
            <a:ln>
              <a:noFill/>
            </a:ln>
          </p:spPr>
          <p:txBody>
            <a:bodyPr wrap="none" lIns="0" tIns="0" rIns="0" bIns="0" anchor="t" anchorCtr="0">
              <a:spAutoFit/>
            </a:bodyPr>
            <a:lstStyle/>
            <a:p>
              <a:pPr algn="l"/>
              <a:r>
                <a:rPr lang="en-US" sz="1160" dirty="0">
                  <a:solidFill>
                    <a:schemeClr val="dk2"/>
                  </a:solidFill>
                  <a:latin typeface="+mn-lt"/>
                  <a:ea typeface="+mn-ea"/>
                  <a:cs typeface="+mn-cs"/>
                </a:rPr>
                <a:t>extends to speech emotion and image recognition.</a:t>
              </a:r>
            </a:p>
          </p:txBody>
        </p:sp>
      </p:grpSp>
      <p:sp>
        <p:nvSpPr>
          <p:cNvPr id="26" name="Line 26"/>
          <p:cNvSpPr/>
          <p:nvPr/>
        </p:nvSpPr>
        <p:spPr>
          <a:xfrm>
            <a:off x="609600" y="5676900"/>
            <a:ext cx="10972800" cy="9525"/>
          </a:xfrm>
          <a:custGeom>
            <a:avLst/>
            <a:gdLst/>
            <a:ahLst/>
            <a:cxnLst/>
            <a:rect l="l" t="t" r="r" b="b"/>
            <a:pathLst>
              <a:path w="10972800" h="9525">
                <a:moveTo>
                  <a:pt x="0" y="0"/>
                </a:moveTo>
                <a:lnTo>
                  <a:pt x="10972800" y="0"/>
                </a:lnTo>
              </a:path>
            </a:pathLst>
          </a:custGeom>
          <a:noFill/>
          <a:ln w="9525" cap="rnd">
            <a:solidFill>
              <a:srgbClr val="26455F"/>
            </a:solidFill>
          </a:ln>
        </p:spPr>
        <p:txBody>
          <a:bodyPr/>
          <a:p/>
        </p:txBody>
      </p:sp>
      <p:sp>
        <p:nvSpPr>
          <p:cNvPr id="27" name="Line 27"/>
          <p:cNvSpPr/>
          <p:nvPr/>
        </p:nvSpPr>
        <p:spPr>
          <a:xfrm>
            <a:off x="609600" y="5904634"/>
            <a:ext cx="9525" cy="77933"/>
          </a:xfrm>
          <a:custGeom>
            <a:avLst/>
            <a:gdLst/>
            <a:ahLst/>
            <a:cxnLst/>
            <a:rect l="l" t="t" r="r" b="b"/>
            <a:pathLst>
              <a:path w="9525" h="77933">
                <a:moveTo>
                  <a:pt x="0" y="0"/>
                </a:moveTo>
                <a:lnTo>
                  <a:pt x="0" y="77933"/>
                </a:lnTo>
              </a:path>
            </a:pathLst>
          </a:custGeom>
          <a:noFill/>
          <a:ln w="28575" cap="rnd">
            <a:solidFill>
              <a:srgbClr val="34D3C0"/>
            </a:solidFill>
          </a:ln>
        </p:spPr>
        <p:txBody>
          <a:bodyPr/>
          <a:p/>
        </p:txBody>
      </p:sp>
      <p:sp>
        <p:nvSpPr>
          <p:cNvPr id="28" name="Line 28"/>
          <p:cNvSpPr/>
          <p:nvPr/>
        </p:nvSpPr>
        <p:spPr>
          <a:xfrm>
            <a:off x="691963" y="5866175"/>
            <a:ext cx="9525" cy="154849"/>
          </a:xfrm>
          <a:custGeom>
            <a:avLst/>
            <a:gdLst/>
            <a:ahLst/>
            <a:cxnLst/>
            <a:rect l="l" t="t" r="r" b="b"/>
            <a:pathLst>
              <a:path w="9525" h="154849">
                <a:moveTo>
                  <a:pt x="0" y="0"/>
                </a:moveTo>
                <a:lnTo>
                  <a:pt x="0" y="154849"/>
                </a:lnTo>
              </a:path>
            </a:pathLst>
          </a:custGeom>
          <a:noFill/>
          <a:ln w="28575" cap="rnd">
            <a:solidFill>
              <a:srgbClr val="34D3C0"/>
            </a:solidFill>
          </a:ln>
        </p:spPr>
        <p:txBody>
          <a:bodyPr/>
          <a:p/>
        </p:txBody>
      </p:sp>
      <p:sp>
        <p:nvSpPr>
          <p:cNvPr id="29" name="Line 29"/>
          <p:cNvSpPr/>
          <p:nvPr/>
        </p:nvSpPr>
        <p:spPr>
          <a:xfrm>
            <a:off x="774326" y="5832123"/>
            <a:ext cx="9525" cy="222953"/>
          </a:xfrm>
          <a:custGeom>
            <a:avLst/>
            <a:gdLst/>
            <a:ahLst/>
            <a:cxnLst/>
            <a:rect l="l" t="t" r="r" b="b"/>
            <a:pathLst>
              <a:path w="9525" h="222953">
                <a:moveTo>
                  <a:pt x="0" y="0"/>
                </a:moveTo>
                <a:lnTo>
                  <a:pt x="0" y="222953"/>
                </a:lnTo>
              </a:path>
            </a:pathLst>
          </a:custGeom>
          <a:noFill/>
          <a:ln w="28575" cap="rnd">
            <a:solidFill>
              <a:srgbClr val="34D3C0"/>
            </a:solidFill>
          </a:ln>
        </p:spPr>
        <p:txBody>
          <a:bodyPr/>
          <a:p/>
        </p:txBody>
      </p:sp>
      <p:sp>
        <p:nvSpPr>
          <p:cNvPr id="30" name="Line 30"/>
          <p:cNvSpPr/>
          <p:nvPr/>
        </p:nvSpPr>
        <p:spPr>
          <a:xfrm>
            <a:off x="856690" y="5819775"/>
            <a:ext cx="9525" cy="247650"/>
          </a:xfrm>
          <a:custGeom>
            <a:avLst/>
            <a:gdLst/>
            <a:ahLst/>
            <a:cxnLst/>
            <a:rect l="l" t="t" r="r" b="b"/>
            <a:pathLst>
              <a:path w="9525" h="247650">
                <a:moveTo>
                  <a:pt x="0" y="0"/>
                </a:moveTo>
                <a:lnTo>
                  <a:pt x="0" y="247650"/>
                </a:lnTo>
              </a:path>
            </a:pathLst>
          </a:custGeom>
          <a:noFill/>
          <a:ln w="28575" cap="rnd">
            <a:solidFill>
              <a:srgbClr val="34D3C0"/>
            </a:solidFill>
          </a:ln>
        </p:spPr>
        <p:txBody>
          <a:bodyPr/>
          <a:p/>
        </p:txBody>
      </p:sp>
      <p:sp>
        <p:nvSpPr>
          <p:cNvPr id="31" name="Line 31"/>
          <p:cNvSpPr/>
          <p:nvPr/>
        </p:nvSpPr>
        <p:spPr>
          <a:xfrm>
            <a:off x="939053" y="5841807"/>
            <a:ext cx="9525" cy="203587"/>
          </a:xfrm>
          <a:custGeom>
            <a:avLst/>
            <a:gdLst/>
            <a:ahLst/>
            <a:cxnLst/>
            <a:rect l="l" t="t" r="r" b="b"/>
            <a:pathLst>
              <a:path w="9525" h="203587">
                <a:moveTo>
                  <a:pt x="0" y="0"/>
                </a:moveTo>
                <a:lnTo>
                  <a:pt x="0" y="203587"/>
                </a:lnTo>
              </a:path>
            </a:pathLst>
          </a:custGeom>
          <a:noFill/>
          <a:ln w="28575" cap="rnd">
            <a:solidFill>
              <a:srgbClr val="34D3C0"/>
            </a:solidFill>
          </a:ln>
        </p:spPr>
        <p:txBody>
          <a:bodyPr/>
          <a:p/>
        </p:txBody>
      </p:sp>
      <p:sp>
        <p:nvSpPr>
          <p:cNvPr id="32" name="Line 32"/>
          <p:cNvSpPr/>
          <p:nvPr/>
        </p:nvSpPr>
        <p:spPr>
          <a:xfrm>
            <a:off x="1021416" y="5879543"/>
            <a:ext cx="9525" cy="128115"/>
          </a:xfrm>
          <a:custGeom>
            <a:avLst/>
            <a:gdLst/>
            <a:ahLst/>
            <a:cxnLst/>
            <a:rect l="l" t="t" r="r" b="b"/>
            <a:pathLst>
              <a:path w="9525" h="128115">
                <a:moveTo>
                  <a:pt x="0" y="0"/>
                </a:moveTo>
                <a:lnTo>
                  <a:pt x="0" y="128115"/>
                </a:lnTo>
              </a:path>
            </a:pathLst>
          </a:custGeom>
          <a:noFill/>
          <a:ln w="28575" cap="rnd">
            <a:solidFill>
              <a:srgbClr val="34D3C0"/>
            </a:solidFill>
          </a:ln>
        </p:spPr>
        <p:txBody>
          <a:bodyPr/>
          <a:p/>
        </p:txBody>
      </p:sp>
      <p:sp>
        <p:nvSpPr>
          <p:cNvPr id="33" name="Line 33"/>
          <p:cNvSpPr/>
          <p:nvPr/>
        </p:nvSpPr>
        <p:spPr>
          <a:xfrm>
            <a:off x="1103779" y="5897415"/>
            <a:ext cx="9525" cy="92369"/>
          </a:xfrm>
          <a:custGeom>
            <a:avLst/>
            <a:gdLst/>
            <a:ahLst/>
            <a:cxnLst/>
            <a:rect l="l" t="t" r="r" b="b"/>
            <a:pathLst>
              <a:path w="9525" h="92369">
                <a:moveTo>
                  <a:pt x="0" y="0"/>
                </a:moveTo>
                <a:lnTo>
                  <a:pt x="0" y="92369"/>
                </a:lnTo>
              </a:path>
            </a:pathLst>
          </a:custGeom>
          <a:noFill/>
          <a:ln w="28575" cap="rnd">
            <a:solidFill>
              <a:srgbClr val="34D3C0"/>
            </a:solidFill>
          </a:ln>
        </p:spPr>
        <p:txBody>
          <a:bodyPr/>
          <a:p/>
        </p:txBody>
      </p:sp>
      <p:sp>
        <p:nvSpPr>
          <p:cNvPr id="34" name="Line 34"/>
          <p:cNvSpPr/>
          <p:nvPr/>
        </p:nvSpPr>
        <p:spPr>
          <a:xfrm>
            <a:off x="1186143" y="5848195"/>
            <a:ext cx="9525" cy="190809"/>
          </a:xfrm>
          <a:custGeom>
            <a:avLst/>
            <a:gdLst/>
            <a:ahLst/>
            <a:cxnLst/>
            <a:rect l="l" t="t" r="r" b="b"/>
            <a:pathLst>
              <a:path w="9525" h="190809">
                <a:moveTo>
                  <a:pt x="0" y="0"/>
                </a:moveTo>
                <a:lnTo>
                  <a:pt x="0" y="190809"/>
                </a:lnTo>
              </a:path>
            </a:pathLst>
          </a:custGeom>
          <a:noFill/>
          <a:ln w="28575" cap="rnd">
            <a:solidFill>
              <a:srgbClr val="34D3C0"/>
            </a:solidFill>
          </a:ln>
        </p:spPr>
        <p:txBody>
          <a:bodyPr/>
          <a:p/>
        </p:txBody>
      </p:sp>
      <p:sp>
        <p:nvSpPr>
          <p:cNvPr id="35" name="Line 35"/>
          <p:cNvSpPr/>
          <p:nvPr/>
        </p:nvSpPr>
        <p:spPr>
          <a:xfrm>
            <a:off x="1268506" y="5822022"/>
            <a:ext cx="9525" cy="243156"/>
          </a:xfrm>
          <a:custGeom>
            <a:avLst/>
            <a:gdLst/>
            <a:ahLst/>
            <a:cxnLst/>
            <a:rect l="l" t="t" r="r" b="b"/>
            <a:pathLst>
              <a:path w="9525" h="243156">
                <a:moveTo>
                  <a:pt x="0" y="0"/>
                </a:moveTo>
                <a:lnTo>
                  <a:pt x="0" y="243156"/>
                </a:lnTo>
              </a:path>
            </a:pathLst>
          </a:custGeom>
          <a:noFill/>
          <a:ln w="28575" cap="rnd">
            <a:solidFill>
              <a:srgbClr val="34D3C0"/>
            </a:solidFill>
          </a:ln>
        </p:spPr>
        <p:txBody>
          <a:bodyPr/>
          <a:p/>
        </p:txBody>
      </p:sp>
      <p:sp>
        <p:nvSpPr>
          <p:cNvPr id="36" name="Line 36"/>
          <p:cNvSpPr/>
          <p:nvPr/>
        </p:nvSpPr>
        <p:spPr>
          <a:xfrm>
            <a:off x="1350869" y="5829326"/>
            <a:ext cx="9525" cy="228549"/>
          </a:xfrm>
          <a:custGeom>
            <a:avLst/>
            <a:gdLst/>
            <a:ahLst/>
            <a:cxnLst/>
            <a:rect l="l" t="t" r="r" b="b"/>
            <a:pathLst>
              <a:path w="9525" h="228549">
                <a:moveTo>
                  <a:pt x="0" y="0"/>
                </a:moveTo>
                <a:lnTo>
                  <a:pt x="0" y="228549"/>
                </a:lnTo>
              </a:path>
            </a:pathLst>
          </a:custGeom>
          <a:noFill/>
          <a:ln w="28575" cap="rnd">
            <a:solidFill>
              <a:srgbClr val="34D3C0"/>
            </a:solidFill>
          </a:ln>
        </p:spPr>
        <p:txBody>
          <a:bodyPr/>
          <a:p/>
        </p:txBody>
      </p:sp>
      <p:sp>
        <p:nvSpPr>
          <p:cNvPr id="37" name="Line 37"/>
          <p:cNvSpPr/>
          <p:nvPr/>
        </p:nvSpPr>
        <p:spPr>
          <a:xfrm>
            <a:off x="1433232" y="5848988"/>
            <a:ext cx="9525" cy="189224"/>
          </a:xfrm>
          <a:custGeom>
            <a:avLst/>
            <a:gdLst/>
            <a:ahLst/>
            <a:cxnLst/>
            <a:rect l="l" t="t" r="r" b="b"/>
            <a:pathLst>
              <a:path w="9525" h="189224">
                <a:moveTo>
                  <a:pt x="0" y="0"/>
                </a:moveTo>
                <a:lnTo>
                  <a:pt x="0" y="189224"/>
                </a:lnTo>
              </a:path>
            </a:pathLst>
          </a:custGeom>
          <a:noFill/>
          <a:ln w="28575" cap="rnd">
            <a:solidFill>
              <a:srgbClr val="34D3C0"/>
            </a:solidFill>
          </a:ln>
        </p:spPr>
        <p:txBody>
          <a:bodyPr/>
          <a:p/>
        </p:txBody>
      </p:sp>
      <p:sp>
        <p:nvSpPr>
          <p:cNvPr id="38" name="Line 38"/>
          <p:cNvSpPr/>
          <p:nvPr/>
        </p:nvSpPr>
        <p:spPr>
          <a:xfrm>
            <a:off x="1515596" y="5889405"/>
            <a:ext cx="9525" cy="108390"/>
          </a:xfrm>
          <a:custGeom>
            <a:avLst/>
            <a:gdLst/>
            <a:ahLst/>
            <a:cxnLst/>
            <a:rect l="l" t="t" r="r" b="b"/>
            <a:pathLst>
              <a:path w="9525" h="108390">
                <a:moveTo>
                  <a:pt x="0" y="0"/>
                </a:moveTo>
                <a:lnTo>
                  <a:pt x="0" y="108390"/>
                </a:lnTo>
              </a:path>
            </a:pathLst>
          </a:custGeom>
          <a:noFill/>
          <a:ln w="28575" cap="rnd">
            <a:solidFill>
              <a:srgbClr val="34D3C0"/>
            </a:solidFill>
          </a:ln>
        </p:spPr>
        <p:txBody>
          <a:bodyPr/>
          <a:p/>
        </p:txBody>
      </p:sp>
      <p:sp>
        <p:nvSpPr>
          <p:cNvPr id="39" name="Line 39"/>
          <p:cNvSpPr/>
          <p:nvPr/>
        </p:nvSpPr>
        <p:spPr>
          <a:xfrm>
            <a:off x="1597959" y="5873194"/>
            <a:ext cx="9525" cy="140812"/>
          </a:xfrm>
          <a:custGeom>
            <a:avLst/>
            <a:gdLst/>
            <a:ahLst/>
            <a:cxnLst/>
            <a:rect l="l" t="t" r="r" b="b"/>
            <a:pathLst>
              <a:path w="9525" h="140812">
                <a:moveTo>
                  <a:pt x="0" y="0"/>
                </a:moveTo>
                <a:lnTo>
                  <a:pt x="0" y="140812"/>
                </a:lnTo>
              </a:path>
            </a:pathLst>
          </a:custGeom>
          <a:noFill/>
          <a:ln w="28575" cap="rnd">
            <a:solidFill>
              <a:srgbClr val="34D3C0"/>
            </a:solidFill>
          </a:ln>
        </p:spPr>
        <p:txBody>
          <a:bodyPr/>
          <a:p/>
        </p:txBody>
      </p:sp>
      <p:sp>
        <p:nvSpPr>
          <p:cNvPr id="40" name="Line 40"/>
          <p:cNvSpPr/>
          <p:nvPr/>
        </p:nvSpPr>
        <p:spPr>
          <a:xfrm>
            <a:off x="1680322" y="5839456"/>
            <a:ext cx="9525" cy="208289"/>
          </a:xfrm>
          <a:custGeom>
            <a:avLst/>
            <a:gdLst/>
            <a:ahLst/>
            <a:cxnLst/>
            <a:rect l="l" t="t" r="r" b="b"/>
            <a:pathLst>
              <a:path w="9525" h="208289">
                <a:moveTo>
                  <a:pt x="0" y="0"/>
                </a:moveTo>
                <a:lnTo>
                  <a:pt x="0" y="208289"/>
                </a:lnTo>
              </a:path>
            </a:pathLst>
          </a:custGeom>
          <a:noFill/>
          <a:ln w="28575" cap="rnd">
            <a:solidFill>
              <a:srgbClr val="34D3C0"/>
            </a:solidFill>
          </a:ln>
        </p:spPr>
        <p:txBody>
          <a:bodyPr/>
          <a:p/>
        </p:txBody>
      </p:sp>
      <p:sp>
        <p:nvSpPr>
          <p:cNvPr id="41" name="Line 41"/>
          <p:cNvSpPr/>
          <p:nvPr/>
        </p:nvSpPr>
        <p:spPr>
          <a:xfrm>
            <a:off x="1762685" y="5825881"/>
            <a:ext cx="9525" cy="235439"/>
          </a:xfrm>
          <a:custGeom>
            <a:avLst/>
            <a:gdLst/>
            <a:ahLst/>
            <a:cxnLst/>
            <a:rect l="l" t="t" r="r" b="b"/>
            <a:pathLst>
              <a:path w="9525" h="235439">
                <a:moveTo>
                  <a:pt x="0" y="0"/>
                </a:moveTo>
                <a:lnTo>
                  <a:pt x="0" y="235439"/>
                </a:lnTo>
              </a:path>
            </a:pathLst>
          </a:custGeom>
          <a:noFill/>
          <a:ln w="28575" cap="rnd">
            <a:solidFill>
              <a:srgbClr val="34D3C0"/>
            </a:solidFill>
          </a:ln>
        </p:spPr>
        <p:txBody>
          <a:bodyPr/>
          <a:p/>
        </p:txBody>
      </p:sp>
      <p:sp>
        <p:nvSpPr>
          <p:cNvPr id="42" name="Line 42"/>
          <p:cNvSpPr/>
          <p:nvPr/>
        </p:nvSpPr>
        <p:spPr>
          <a:xfrm>
            <a:off x="1845049" y="5826946"/>
            <a:ext cx="9525" cy="233307"/>
          </a:xfrm>
          <a:custGeom>
            <a:avLst/>
            <a:gdLst/>
            <a:ahLst/>
            <a:cxnLst/>
            <a:rect l="l" t="t" r="r" b="b"/>
            <a:pathLst>
              <a:path w="9525" h="233307">
                <a:moveTo>
                  <a:pt x="0" y="0"/>
                </a:moveTo>
                <a:lnTo>
                  <a:pt x="0" y="233307"/>
                </a:lnTo>
              </a:path>
            </a:pathLst>
          </a:custGeom>
          <a:noFill/>
          <a:ln w="28575" cap="rnd">
            <a:solidFill>
              <a:srgbClr val="34D3C0"/>
            </a:solidFill>
          </a:ln>
        </p:spPr>
        <p:txBody>
          <a:bodyPr/>
          <a:p/>
        </p:txBody>
      </p:sp>
      <p:sp>
        <p:nvSpPr>
          <p:cNvPr id="43" name="Line 43"/>
          <p:cNvSpPr/>
          <p:nvPr/>
        </p:nvSpPr>
        <p:spPr>
          <a:xfrm>
            <a:off x="1927412" y="5862346"/>
            <a:ext cx="9525" cy="162507"/>
          </a:xfrm>
          <a:custGeom>
            <a:avLst/>
            <a:gdLst/>
            <a:ahLst/>
            <a:cxnLst/>
            <a:rect l="l" t="t" r="r" b="b"/>
            <a:pathLst>
              <a:path w="9525" h="162507">
                <a:moveTo>
                  <a:pt x="0" y="0"/>
                </a:moveTo>
                <a:lnTo>
                  <a:pt x="0" y="162507"/>
                </a:lnTo>
              </a:path>
            </a:pathLst>
          </a:custGeom>
          <a:noFill/>
          <a:ln w="28575" cap="rnd">
            <a:solidFill>
              <a:srgbClr val="34D3C0"/>
            </a:solidFill>
          </a:ln>
        </p:spPr>
        <p:txBody>
          <a:bodyPr/>
          <a:p/>
        </p:txBody>
      </p:sp>
      <p:sp>
        <p:nvSpPr>
          <p:cNvPr id="44" name="Line 44"/>
          <p:cNvSpPr/>
          <p:nvPr/>
        </p:nvSpPr>
        <p:spPr>
          <a:xfrm>
            <a:off x="2009775" y="5904634"/>
            <a:ext cx="9525" cy="77933"/>
          </a:xfrm>
          <a:custGeom>
            <a:avLst/>
            <a:gdLst/>
            <a:ahLst/>
            <a:cxnLst/>
            <a:rect l="l" t="t" r="r" b="b"/>
            <a:pathLst>
              <a:path w="9525" h="77933">
                <a:moveTo>
                  <a:pt x="0" y="0"/>
                </a:moveTo>
                <a:lnTo>
                  <a:pt x="0" y="77933"/>
                </a:lnTo>
              </a:path>
            </a:pathLst>
          </a:custGeom>
          <a:noFill/>
          <a:ln w="28575" cap="rnd">
            <a:solidFill>
              <a:srgbClr val="34D3C0"/>
            </a:solidFill>
          </a:ln>
        </p:spPr>
        <p:txBody>
          <a:bodyPr/>
          <a:p/>
        </p:txBody>
      </p:sp>
      <p:sp>
        <p:nvSpPr>
          <p:cNvPr id="45" name="Line 45"/>
          <p:cNvSpPr/>
          <p:nvPr/>
        </p:nvSpPr>
        <p:spPr>
          <a:xfrm>
            <a:off x="2209800" y="5835910"/>
            <a:ext cx="9525" cy="215381"/>
          </a:xfrm>
          <a:custGeom>
            <a:avLst/>
            <a:gdLst/>
            <a:ahLst/>
            <a:cxnLst/>
            <a:rect l="l" t="t" r="r" b="b"/>
            <a:pathLst>
              <a:path w="9525" h="215381">
                <a:moveTo>
                  <a:pt x="0" y="0"/>
                </a:moveTo>
                <a:lnTo>
                  <a:pt x="0" y="215381"/>
                </a:lnTo>
              </a:path>
            </a:pathLst>
          </a:custGeom>
          <a:noFill/>
          <a:ln w="28575" cap="rnd">
            <a:solidFill>
              <a:srgbClr val="F2685C"/>
            </a:solidFill>
          </a:ln>
        </p:spPr>
        <p:txBody>
          <a:bodyPr/>
          <a:p/>
        </p:txBody>
      </p:sp>
      <p:sp>
        <p:nvSpPr>
          <p:cNvPr id="46" name="Line 46"/>
          <p:cNvSpPr/>
          <p:nvPr/>
        </p:nvSpPr>
        <p:spPr>
          <a:xfrm>
            <a:off x="2292163" y="5884802"/>
            <a:ext cx="9525" cy="117596"/>
          </a:xfrm>
          <a:custGeom>
            <a:avLst/>
            <a:gdLst/>
            <a:ahLst/>
            <a:cxnLst/>
            <a:rect l="l" t="t" r="r" b="b"/>
            <a:pathLst>
              <a:path w="9525" h="117596">
                <a:moveTo>
                  <a:pt x="0" y="0"/>
                </a:moveTo>
                <a:lnTo>
                  <a:pt x="0" y="117596"/>
                </a:lnTo>
              </a:path>
            </a:pathLst>
          </a:custGeom>
          <a:noFill/>
          <a:ln w="28575" cap="rnd">
            <a:solidFill>
              <a:srgbClr val="F2685C"/>
            </a:solidFill>
          </a:ln>
        </p:spPr>
        <p:txBody>
          <a:bodyPr/>
          <a:p/>
        </p:txBody>
      </p:sp>
      <p:sp>
        <p:nvSpPr>
          <p:cNvPr id="47" name="Line 47"/>
          <p:cNvSpPr/>
          <p:nvPr/>
        </p:nvSpPr>
        <p:spPr>
          <a:xfrm>
            <a:off x="2374526" y="5880152"/>
            <a:ext cx="9525" cy="126895"/>
          </a:xfrm>
          <a:custGeom>
            <a:avLst/>
            <a:gdLst/>
            <a:ahLst/>
            <a:cxnLst/>
            <a:rect l="l" t="t" r="r" b="b"/>
            <a:pathLst>
              <a:path w="9525" h="126895">
                <a:moveTo>
                  <a:pt x="0" y="0"/>
                </a:moveTo>
                <a:lnTo>
                  <a:pt x="0" y="126895"/>
                </a:lnTo>
              </a:path>
            </a:pathLst>
          </a:custGeom>
          <a:noFill/>
          <a:ln w="28575" cap="rnd">
            <a:solidFill>
              <a:srgbClr val="F2685C"/>
            </a:solidFill>
          </a:ln>
        </p:spPr>
        <p:txBody>
          <a:bodyPr/>
          <a:p/>
        </p:txBody>
      </p:sp>
      <p:sp>
        <p:nvSpPr>
          <p:cNvPr id="48" name="Line 48"/>
          <p:cNvSpPr/>
          <p:nvPr/>
        </p:nvSpPr>
        <p:spPr>
          <a:xfrm>
            <a:off x="2456890" y="5819775"/>
            <a:ext cx="9525" cy="247650"/>
          </a:xfrm>
          <a:custGeom>
            <a:avLst/>
            <a:gdLst/>
            <a:ahLst/>
            <a:cxnLst/>
            <a:rect l="l" t="t" r="r" b="b"/>
            <a:pathLst>
              <a:path w="9525" h="247650">
                <a:moveTo>
                  <a:pt x="0" y="0"/>
                </a:moveTo>
                <a:lnTo>
                  <a:pt x="0" y="247650"/>
                </a:lnTo>
              </a:path>
            </a:pathLst>
          </a:custGeom>
          <a:noFill/>
          <a:ln w="28575" cap="rnd">
            <a:solidFill>
              <a:srgbClr val="F2685C"/>
            </a:solidFill>
          </a:ln>
        </p:spPr>
        <p:txBody>
          <a:bodyPr/>
          <a:p/>
        </p:txBody>
      </p:sp>
      <p:sp>
        <p:nvSpPr>
          <p:cNvPr id="49" name="Line 49"/>
          <p:cNvSpPr/>
          <p:nvPr/>
        </p:nvSpPr>
        <p:spPr>
          <a:xfrm>
            <a:off x="2539253" y="5906190"/>
            <a:ext cx="9525" cy="74819"/>
          </a:xfrm>
          <a:custGeom>
            <a:avLst/>
            <a:gdLst/>
            <a:ahLst/>
            <a:cxnLst/>
            <a:rect l="l" t="t" r="r" b="b"/>
            <a:pathLst>
              <a:path w="9525" h="74819">
                <a:moveTo>
                  <a:pt x="0" y="0"/>
                </a:moveTo>
                <a:lnTo>
                  <a:pt x="0" y="74819"/>
                </a:lnTo>
              </a:path>
            </a:pathLst>
          </a:custGeom>
          <a:noFill/>
          <a:ln w="28575" cap="rnd">
            <a:solidFill>
              <a:srgbClr val="F2685C"/>
            </a:solidFill>
          </a:ln>
        </p:spPr>
        <p:txBody>
          <a:bodyPr/>
          <a:p/>
        </p:txBody>
      </p:sp>
      <p:sp>
        <p:nvSpPr>
          <p:cNvPr id="50" name="Line 50"/>
          <p:cNvSpPr/>
          <p:nvPr/>
        </p:nvSpPr>
        <p:spPr>
          <a:xfrm>
            <a:off x="2621616" y="5893198"/>
            <a:ext cx="9525" cy="100803"/>
          </a:xfrm>
          <a:custGeom>
            <a:avLst/>
            <a:gdLst/>
            <a:ahLst/>
            <a:cxnLst/>
            <a:rect l="l" t="t" r="r" b="b"/>
            <a:pathLst>
              <a:path w="9525" h="100803">
                <a:moveTo>
                  <a:pt x="0" y="0"/>
                </a:moveTo>
                <a:lnTo>
                  <a:pt x="0" y="100803"/>
                </a:lnTo>
              </a:path>
            </a:pathLst>
          </a:custGeom>
          <a:noFill/>
          <a:ln w="28575" cap="rnd">
            <a:solidFill>
              <a:srgbClr val="F2685C"/>
            </a:solidFill>
          </a:ln>
        </p:spPr>
        <p:txBody>
          <a:bodyPr/>
          <a:p/>
        </p:txBody>
      </p:sp>
      <p:sp>
        <p:nvSpPr>
          <p:cNvPr id="51" name="Line 51"/>
          <p:cNvSpPr/>
          <p:nvPr/>
        </p:nvSpPr>
        <p:spPr>
          <a:xfrm>
            <a:off x="2703979" y="5842550"/>
            <a:ext cx="9525" cy="202099"/>
          </a:xfrm>
          <a:custGeom>
            <a:avLst/>
            <a:gdLst/>
            <a:ahLst/>
            <a:cxnLst/>
            <a:rect l="l" t="t" r="r" b="b"/>
            <a:pathLst>
              <a:path w="9525" h="202099">
                <a:moveTo>
                  <a:pt x="0" y="0"/>
                </a:moveTo>
                <a:lnTo>
                  <a:pt x="0" y="202099"/>
                </a:lnTo>
              </a:path>
            </a:pathLst>
          </a:custGeom>
          <a:noFill/>
          <a:ln w="28575" cap="rnd">
            <a:solidFill>
              <a:srgbClr val="F2685C"/>
            </a:solidFill>
          </a:ln>
        </p:spPr>
        <p:txBody>
          <a:bodyPr/>
          <a:p/>
        </p:txBody>
      </p:sp>
      <p:sp>
        <p:nvSpPr>
          <p:cNvPr id="52" name="Line 52"/>
          <p:cNvSpPr/>
          <p:nvPr/>
        </p:nvSpPr>
        <p:spPr>
          <a:xfrm>
            <a:off x="2786343" y="5837461"/>
            <a:ext cx="9525" cy="212279"/>
          </a:xfrm>
          <a:custGeom>
            <a:avLst/>
            <a:gdLst/>
            <a:ahLst/>
            <a:cxnLst/>
            <a:rect l="l" t="t" r="r" b="b"/>
            <a:pathLst>
              <a:path w="9525" h="212279">
                <a:moveTo>
                  <a:pt x="0" y="0"/>
                </a:moveTo>
                <a:lnTo>
                  <a:pt x="0" y="212279"/>
                </a:lnTo>
              </a:path>
            </a:pathLst>
          </a:custGeom>
          <a:noFill/>
          <a:ln w="28575" cap="rnd">
            <a:solidFill>
              <a:srgbClr val="F2685C"/>
            </a:solidFill>
          </a:ln>
        </p:spPr>
        <p:txBody>
          <a:bodyPr/>
          <a:p/>
        </p:txBody>
      </p:sp>
      <p:sp>
        <p:nvSpPr>
          <p:cNvPr id="53" name="Line 53"/>
          <p:cNvSpPr/>
          <p:nvPr/>
        </p:nvSpPr>
        <p:spPr>
          <a:xfrm>
            <a:off x="2868706" y="5819775"/>
            <a:ext cx="9525" cy="247650"/>
          </a:xfrm>
          <a:custGeom>
            <a:avLst/>
            <a:gdLst/>
            <a:ahLst/>
            <a:cxnLst/>
            <a:rect l="l" t="t" r="r" b="b"/>
            <a:pathLst>
              <a:path w="9525" h="247650">
                <a:moveTo>
                  <a:pt x="0" y="0"/>
                </a:moveTo>
                <a:lnTo>
                  <a:pt x="0" y="247650"/>
                </a:lnTo>
              </a:path>
            </a:pathLst>
          </a:custGeom>
          <a:noFill/>
          <a:ln w="28575" cap="rnd">
            <a:solidFill>
              <a:srgbClr val="F2685C"/>
            </a:solidFill>
          </a:ln>
        </p:spPr>
        <p:txBody>
          <a:bodyPr/>
          <a:p/>
        </p:txBody>
      </p:sp>
      <p:sp>
        <p:nvSpPr>
          <p:cNvPr id="54" name="Line 54"/>
          <p:cNvSpPr/>
          <p:nvPr/>
        </p:nvSpPr>
        <p:spPr>
          <a:xfrm>
            <a:off x="2951069" y="5890177"/>
            <a:ext cx="9525" cy="106845"/>
          </a:xfrm>
          <a:custGeom>
            <a:avLst/>
            <a:gdLst/>
            <a:ahLst/>
            <a:cxnLst/>
            <a:rect l="l" t="t" r="r" b="b"/>
            <a:pathLst>
              <a:path w="9525" h="106845">
                <a:moveTo>
                  <a:pt x="0" y="0"/>
                </a:moveTo>
                <a:lnTo>
                  <a:pt x="0" y="106845"/>
                </a:lnTo>
              </a:path>
            </a:pathLst>
          </a:custGeom>
          <a:noFill/>
          <a:ln w="28575" cap="rnd">
            <a:solidFill>
              <a:srgbClr val="F2685C"/>
            </a:solidFill>
          </a:ln>
        </p:spPr>
        <p:txBody>
          <a:bodyPr/>
          <a:p/>
        </p:txBody>
      </p:sp>
      <p:sp>
        <p:nvSpPr>
          <p:cNvPr id="55" name="Line 55"/>
          <p:cNvSpPr/>
          <p:nvPr/>
        </p:nvSpPr>
        <p:spPr>
          <a:xfrm>
            <a:off x="3033432" y="5850935"/>
            <a:ext cx="9525" cy="185329"/>
          </a:xfrm>
          <a:custGeom>
            <a:avLst/>
            <a:gdLst/>
            <a:ahLst/>
            <a:cxnLst/>
            <a:rect l="l" t="t" r="r" b="b"/>
            <a:pathLst>
              <a:path w="9525" h="185329">
                <a:moveTo>
                  <a:pt x="0" y="0"/>
                </a:moveTo>
                <a:lnTo>
                  <a:pt x="0" y="185329"/>
                </a:lnTo>
              </a:path>
            </a:pathLst>
          </a:custGeom>
          <a:noFill/>
          <a:ln w="28575" cap="rnd">
            <a:solidFill>
              <a:srgbClr val="F2685C"/>
            </a:solidFill>
          </a:ln>
        </p:spPr>
        <p:txBody>
          <a:bodyPr/>
          <a:p/>
        </p:txBody>
      </p:sp>
      <p:sp>
        <p:nvSpPr>
          <p:cNvPr id="56" name="Line 56"/>
          <p:cNvSpPr/>
          <p:nvPr/>
        </p:nvSpPr>
        <p:spPr>
          <a:xfrm>
            <a:off x="3115796" y="5839131"/>
            <a:ext cx="9525" cy="208939"/>
          </a:xfrm>
          <a:custGeom>
            <a:avLst/>
            <a:gdLst/>
            <a:ahLst/>
            <a:cxnLst/>
            <a:rect l="l" t="t" r="r" b="b"/>
            <a:pathLst>
              <a:path w="9525" h="208939">
                <a:moveTo>
                  <a:pt x="0" y="0"/>
                </a:moveTo>
                <a:lnTo>
                  <a:pt x="0" y="208939"/>
                </a:lnTo>
              </a:path>
            </a:pathLst>
          </a:custGeom>
          <a:noFill/>
          <a:ln w="28575" cap="rnd">
            <a:solidFill>
              <a:srgbClr val="F2685C"/>
            </a:solidFill>
          </a:ln>
        </p:spPr>
        <p:txBody>
          <a:bodyPr/>
          <a:p/>
        </p:txBody>
      </p:sp>
      <p:sp>
        <p:nvSpPr>
          <p:cNvPr id="57" name="Line 57"/>
          <p:cNvSpPr/>
          <p:nvPr/>
        </p:nvSpPr>
        <p:spPr>
          <a:xfrm>
            <a:off x="3198159" y="5819775"/>
            <a:ext cx="9525" cy="247650"/>
          </a:xfrm>
          <a:custGeom>
            <a:avLst/>
            <a:gdLst/>
            <a:ahLst/>
            <a:cxnLst/>
            <a:rect l="l" t="t" r="r" b="b"/>
            <a:pathLst>
              <a:path w="9525" h="247650">
                <a:moveTo>
                  <a:pt x="0" y="0"/>
                </a:moveTo>
                <a:lnTo>
                  <a:pt x="0" y="247650"/>
                </a:lnTo>
              </a:path>
            </a:pathLst>
          </a:custGeom>
          <a:noFill/>
          <a:ln w="28575" cap="rnd">
            <a:solidFill>
              <a:srgbClr val="F2685C"/>
            </a:solidFill>
          </a:ln>
        </p:spPr>
        <p:txBody>
          <a:bodyPr/>
          <a:p/>
        </p:txBody>
      </p:sp>
      <p:sp>
        <p:nvSpPr>
          <p:cNvPr id="58" name="Line 58"/>
          <p:cNvSpPr/>
          <p:nvPr/>
        </p:nvSpPr>
        <p:spPr>
          <a:xfrm>
            <a:off x="3280522" y="5866225"/>
            <a:ext cx="9525" cy="154750"/>
          </a:xfrm>
          <a:custGeom>
            <a:avLst/>
            <a:gdLst/>
            <a:ahLst/>
            <a:cxnLst/>
            <a:rect l="l" t="t" r="r" b="b"/>
            <a:pathLst>
              <a:path w="9525" h="154750">
                <a:moveTo>
                  <a:pt x="0" y="0"/>
                </a:moveTo>
                <a:lnTo>
                  <a:pt x="0" y="154750"/>
                </a:lnTo>
              </a:path>
            </a:pathLst>
          </a:custGeom>
          <a:noFill/>
          <a:ln w="28575" cap="rnd">
            <a:solidFill>
              <a:srgbClr val="F2685C"/>
            </a:solidFill>
          </a:ln>
        </p:spPr>
        <p:txBody>
          <a:bodyPr/>
          <a:p/>
        </p:txBody>
      </p:sp>
      <p:sp>
        <p:nvSpPr>
          <p:cNvPr id="59" name="Line 59"/>
          <p:cNvSpPr/>
          <p:nvPr/>
        </p:nvSpPr>
        <p:spPr>
          <a:xfrm>
            <a:off x="3362885" y="5900374"/>
            <a:ext cx="9525" cy="86453"/>
          </a:xfrm>
          <a:custGeom>
            <a:avLst/>
            <a:gdLst/>
            <a:ahLst/>
            <a:cxnLst/>
            <a:rect l="l" t="t" r="r" b="b"/>
            <a:pathLst>
              <a:path w="9525" h="86453">
                <a:moveTo>
                  <a:pt x="0" y="0"/>
                </a:moveTo>
                <a:lnTo>
                  <a:pt x="0" y="86453"/>
                </a:lnTo>
              </a:path>
            </a:pathLst>
          </a:custGeom>
          <a:noFill/>
          <a:ln w="28575" cap="rnd">
            <a:solidFill>
              <a:srgbClr val="F2685C"/>
            </a:solidFill>
          </a:ln>
        </p:spPr>
        <p:txBody>
          <a:bodyPr/>
          <a:p/>
        </p:txBody>
      </p:sp>
      <p:sp>
        <p:nvSpPr>
          <p:cNvPr id="60" name="Line 60"/>
          <p:cNvSpPr/>
          <p:nvPr/>
        </p:nvSpPr>
        <p:spPr>
          <a:xfrm>
            <a:off x="3445249" y="5819775"/>
            <a:ext cx="9525" cy="247650"/>
          </a:xfrm>
          <a:custGeom>
            <a:avLst/>
            <a:gdLst/>
            <a:ahLst/>
            <a:cxnLst/>
            <a:rect l="l" t="t" r="r" b="b"/>
            <a:pathLst>
              <a:path w="9525" h="247650">
                <a:moveTo>
                  <a:pt x="0" y="0"/>
                </a:moveTo>
                <a:lnTo>
                  <a:pt x="0" y="247650"/>
                </a:lnTo>
              </a:path>
            </a:pathLst>
          </a:custGeom>
          <a:noFill/>
          <a:ln w="28575" cap="rnd">
            <a:solidFill>
              <a:srgbClr val="F2685C"/>
            </a:solidFill>
          </a:ln>
        </p:spPr>
        <p:txBody>
          <a:bodyPr/>
          <a:p/>
        </p:txBody>
      </p:sp>
      <p:sp>
        <p:nvSpPr>
          <p:cNvPr id="61" name="Line 61"/>
          <p:cNvSpPr/>
          <p:nvPr/>
        </p:nvSpPr>
        <p:spPr>
          <a:xfrm>
            <a:off x="3527612" y="5867961"/>
            <a:ext cx="9525" cy="151278"/>
          </a:xfrm>
          <a:custGeom>
            <a:avLst/>
            <a:gdLst/>
            <a:ahLst/>
            <a:cxnLst/>
            <a:rect l="l" t="t" r="r" b="b"/>
            <a:pathLst>
              <a:path w="9525" h="151278">
                <a:moveTo>
                  <a:pt x="0" y="0"/>
                </a:moveTo>
                <a:lnTo>
                  <a:pt x="0" y="151278"/>
                </a:lnTo>
              </a:path>
            </a:pathLst>
          </a:custGeom>
          <a:noFill/>
          <a:ln w="28575" cap="rnd">
            <a:solidFill>
              <a:srgbClr val="F2685C"/>
            </a:solidFill>
          </a:ln>
        </p:spPr>
        <p:txBody>
          <a:bodyPr/>
          <a:p/>
        </p:txBody>
      </p:sp>
      <p:sp>
        <p:nvSpPr>
          <p:cNvPr id="62" name="Line 62"/>
          <p:cNvSpPr/>
          <p:nvPr/>
        </p:nvSpPr>
        <p:spPr>
          <a:xfrm>
            <a:off x="3609975" y="5835910"/>
            <a:ext cx="9525" cy="215381"/>
          </a:xfrm>
          <a:custGeom>
            <a:avLst/>
            <a:gdLst/>
            <a:ahLst/>
            <a:cxnLst/>
            <a:rect l="l" t="t" r="r" b="b"/>
            <a:pathLst>
              <a:path w="9525" h="215381">
                <a:moveTo>
                  <a:pt x="0" y="0"/>
                </a:moveTo>
                <a:lnTo>
                  <a:pt x="0" y="215381"/>
                </a:lnTo>
              </a:path>
            </a:pathLst>
          </a:custGeom>
          <a:noFill/>
          <a:ln w="28575" cap="rnd">
            <a:solidFill>
              <a:srgbClr val="F2685C"/>
            </a:solidFill>
          </a:ln>
        </p:spPr>
        <p:txBody>
          <a:bodyPr/>
          <a:p/>
        </p:txBody>
      </p:sp>
      <p:sp>
        <p:nvSpPr>
          <p:cNvPr id="63" name="TextBox 63"/>
          <p:cNvSpPr txBox="1"/>
          <p:nvPr/>
        </p:nvSpPr>
        <p:spPr>
          <a:xfrm>
            <a:off x="5615821" y="5906452"/>
            <a:ext cx="5971913" cy="205359"/>
          </a:xfrm>
          <a:prstGeom prst="rect">
            <a:avLst/>
          </a:prstGeom>
          <a:noFill/>
          <a:ln>
            <a:noFill/>
          </a:ln>
        </p:spPr>
        <p:txBody>
          <a:bodyPr wrap="none" lIns="0" tIns="0" rIns="0" bIns="0" anchor="t" anchorCtr="0">
            <a:spAutoFit/>
          </a:bodyPr>
          <a:lstStyle/>
          <a:p>
            <a:pPr algn="r"/>
            <a:r>
              <a:rPr lang="en-US" sz="1050" b="1" dirty="0">
                <a:solidFill>
                  <a:schemeClr val="dk2"/>
                </a:solidFill>
                <a:latin typeface="+mn-lt"/>
                <a:ea typeface="+mn-ea"/>
                <a:cs typeface="+mn-cs"/>
              </a:rPr>
              <a:t>RAWM · Overcoming Catastrophic Forgetting for Fake Audio Detection · ICML 2023</a:t>
            </a:r>
          </a:p>
        </p:txBody>
      </p:sp>
      <p:sp>
        <p:nvSpPr>
          <p:cNvPr id="64" name="cue_s10_c1_takeaway_simple_you_teach_fake" title="cue_s10_c1_takeaway_simple_you_teach_fake" descr="cue_s10_c1_takeaway_simple_you_teach_fake The takeaway is simple: you can teach a fake audio detector new datasets without it forgetting the old, and without keeping any of the old data around."/>
          <p:cNvSpPr/>
          <p:nvPr/>
        </p:nvSpPr>
        <p:spPr>
          <a:xfrm>
            <a:off x="609600" y="1676095"/>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cue_s10_c2_rawm_does_making_weight_update" title="cue_s10_c2_rawm_does_making_weight_update" descr="cue_s10_c2_rawm_does_making_weight_update RAWM does this by making the weight update adapt to how genuine-heavy each batch is and by regularizing the model to remember its previous behavior."/>
          <p:cNvSpPr/>
          <p:nvPr/>
        </p:nvSpPr>
        <p:spPr>
          <a:xfrm>
            <a:off x="609600" y="2933852"/>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cue_s10_c3_because_underlying_regularity_some_c" title="cue_s10_c3_because_underlying_regularity_some_c" descr="cue_s10_c3_because_underlying_regularity_some_c Because the underlying regularity, some classes staying similar across datasets, appears in many problems, the same recipe extends to speech emotion recognition and image recognition."/>
          <p:cNvSpPr/>
          <p:nvPr/>
        </p:nvSpPr>
        <p:spPr>
          <a:xfrm>
            <a:off x="609600" y="4190923"/>
            <a:ext cx="10972800" cy="1104823"/>
          </a:xfrm>
          <a:prstGeom prst="rect">
            <a:avLst/>
          </a:prstGeom>
          <a:solidFill>
            <a:srgbClr val="FFFFFF">
              <a:alpha val="0"/>
            </a:srgbClr>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deck">
  <a:themeElements>
    <a:clrScheme name="deck">
      <a:dk1>
        <a:srgbClr val="EAF2FB"/>
      </a:dk1>
      <a:lt1>
        <a:srgbClr val="0B1B2B"/>
      </a:lt1>
      <a:dk2>
        <a:srgbClr val="9DB3C8"/>
      </a:dk2>
      <a:lt2>
        <a:srgbClr val="0B1B2B"/>
      </a:lt2>
      <a:accent1>
        <a:srgbClr val="4C9BE8"/>
      </a:accent1>
      <a:accent2>
        <a:srgbClr val="4C9BE8"/>
      </a:accent2>
      <a:accent3>
        <a:srgbClr val="4C9BE8"/>
      </a:accent3>
      <a:accent4>
        <a:srgbClr val="8064A2"/>
      </a:accent4>
      <a:accent5>
        <a:srgbClr val="12293D"/>
      </a:accent5>
      <a:accent6>
        <a:srgbClr val="16324A"/>
      </a:accent6>
      <a:hlink>
        <a:srgbClr val="4C9BE8"/>
      </a:hlink>
      <a:folHlink>
        <a:srgbClr val="4C9BE8"/>
      </a:folHlink>
    </a:clrScheme>
    <a:fontScheme name="deck">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2026-07-16T09:30:27Z</dcterms:created>
  <dcterms:modified xsi:type="dcterms:W3CDTF">2026-07-16T09:30:27Z</dcterms:modified>
  <cp:category/>
  <cp:contentStatus/>
</cp:coreProperties>
</file>
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248461"/>
          </a:xfrm>
          <a:prstGeom prst="roundRect">
            <a:avLst>
              <a:gd name="adj" fmla="val 4378"/>
            </a:avLst>
          </a:prstGeom>
          <a:solidFill>
            <a:srgbClr val="E8EDF7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4421802"/>
            <a:ext cx="16349682" cy="6655832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428289" y="4421802"/>
            <a:ext cx="16349682" cy="25650150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204691" y="4421802"/>
            <a:ext cx="16349821" cy="12350988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1887" y="11409481"/>
            <a:ext cx="16349682" cy="18662471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204691" y="17104637"/>
            <a:ext cx="16349821" cy="6397189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04691" y="23833673"/>
            <a:ext cx="16349821" cy="6238279"/>
          </a:xfrm>
          <a:prstGeom prst="rect">
            <a:avLst/>
          </a:prstGeom>
          <a:solidFill>
            <a:srgbClr val="EDF1F7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04691" y="23833673"/>
            <a:ext cx="16349821" cy="35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518952" y="23833673"/>
            <a:ext cx="35560" cy="623827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04691" y="30036392"/>
            <a:ext cx="16349821" cy="35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04691" y="23833673"/>
            <a:ext cx="53340" cy="6238279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619465" y="6113819"/>
            <a:ext cx="15520273" cy="1647984"/>
          </a:xfrm>
          <a:prstGeom prst="roundRect">
            <a:avLst>
              <a:gd name="adj" fmla="val 12659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6661" y="8503840"/>
            <a:ext cx="15520134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6661" y="8503840"/>
            <a:ext cx="124460" cy="215902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843063" y="13312775"/>
            <a:ext cx="15520134" cy="2646025"/>
          </a:xfrm>
          <a:prstGeom prst="roundRect">
            <a:avLst>
              <a:gd name="adj" fmla="val 8514"/>
            </a:avLst>
          </a:prstGeom>
          <a:solidFill>
            <a:srgbClr val="F1F3F8"/>
          </a:solidFill>
          <a:ln w="8890">
            <a:solidFill>
              <a:srgbClr val="B6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619465" y="15503882"/>
            <a:ext cx="15520273" cy="89636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619465" y="15503882"/>
            <a:ext cx="15520273" cy="11557"/>
          </a:xfrm>
          <a:prstGeom prst="rect">
            <a:avLst/>
          </a:prstGeom>
          <a:solidFill>
            <a:srgbClr val="B0BA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university-college-lond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0422" y="2614539"/>
            <a:ext cx="737037" cy="888907"/>
          </a:xfrm>
          <a:prstGeom prst="rect">
            <a:avLst/>
          </a:prstGeom>
        </p:spPr>
      </p:pic>
      <p:pic>
        <p:nvPicPr>
          <p:cNvPr id="20" name="Picture 19" descr="goo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4433" y="2614497"/>
            <a:ext cx="2927171" cy="88899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34619465" y="8197413"/>
            <a:ext cx="15520273" cy="5852259"/>
          </a:xfrm>
          <a:prstGeom prst="roundRect">
            <a:avLst>
              <a:gd name="adj" fmla="val 60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igur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19558" y="8197413"/>
            <a:ext cx="15520088" cy="5852259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17843063" y="17050047"/>
            <a:ext cx="15520134" cy="10682308"/>
          </a:xfrm>
          <a:prstGeom prst="roundRect">
            <a:avLst>
              <a:gd name="adj" fmla="val 332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43134" y="17050047"/>
            <a:ext cx="15519992" cy="1068230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1066661" y="18386742"/>
            <a:ext cx="7343001" cy="3348752"/>
          </a:xfrm>
          <a:prstGeom prst="roundRect">
            <a:avLst>
              <a:gd name="adj" fmla="val 6229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43655" y="18386742"/>
            <a:ext cx="7343140" cy="3348752"/>
          </a:xfrm>
          <a:prstGeom prst="roundRect">
            <a:avLst>
              <a:gd name="adj" fmla="val 6229"/>
            </a:avLst>
          </a:prstGeom>
          <a:solidFill>
            <a:srgbClr val="F1F3F8"/>
          </a:solidFill>
          <a:ln w="8890">
            <a:solidFill>
              <a:srgbClr val="1D3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15556" y="22275145"/>
            <a:ext cx="15422205" cy="5546665"/>
          </a:xfrm>
          <a:prstGeom prst="roundRect">
            <a:avLst>
              <a:gd name="adj" fmla="val 64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igur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641" y="22275145"/>
            <a:ext cx="15422034" cy="5546665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34637245" y="27900709"/>
            <a:ext cx="4993680" cy="1776333"/>
          </a:xfrm>
          <a:prstGeom prst="roundRect">
            <a:avLst>
              <a:gd name="adj" fmla="val 14680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9891652" y="27900709"/>
            <a:ext cx="4993680" cy="1776333"/>
          </a:xfrm>
          <a:prstGeom prst="roundRect">
            <a:avLst>
              <a:gd name="adj" fmla="val 14680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146059" y="27900709"/>
            <a:ext cx="4993679" cy="1776333"/>
          </a:xfrm>
          <a:prstGeom prst="roundRect">
            <a:avLst>
              <a:gd name="adj" fmla="val 14680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0163" y="19338389"/>
            <a:ext cx="6538599" cy="2403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Raw densities — entangled across orders, weak, need resampling.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7157" y="19338389"/>
            <a:ext cx="6448176" cy="2403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Redundancy removed — more power, same cost, no resampling.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5581" y="1007487"/>
            <a:ext cx="44105234" cy="1295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70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1D3A87"/>
                </a:solidFill>
                <a:latin typeface="Arial"/>
              </a:rPr>
              <a:t>Quantifying Network Similarity using Graph Cumulants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5581" y="2363350"/>
            <a:ext cx="44105234" cy="744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Arial"/>
              </a:rPr>
              <a:t>Gecia Bravo-Hermsdorff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Lee M. Gunderson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Pierre-André Maugis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Carey E. Priebe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15581" y="3063577"/>
            <a:ext cx="44105234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University College London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Google Research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Johns Hopkins University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52687" y="1149727"/>
            <a:ext cx="3763260" cy="11463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849"/>
              </a:lnSpc>
              <a:spcBef>
                <a:spcPts val="0"/>
              </a:spcBef>
              <a:spcAft>
                <a:spcPts val="0"/>
              </a:spcAft>
            </a:pPr>
            <a:r>
              <a:rPr sz="5413" b="1" spc="54">
                <a:solidFill>
                  <a:srgbClr val="1D3A87"/>
                </a:solidFill>
                <a:latin typeface="Arial"/>
              </a:rPr>
              <a:t>JMLR 2023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6661" y="4836576"/>
            <a:ext cx="1594685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843063" y="4836576"/>
            <a:ext cx="15946854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619465" y="4836576"/>
            <a:ext cx="1594699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6661" y="5956716"/>
            <a:ext cx="1594685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Given two samples of graphs drawn i.i.d. from </a:t>
            </a:r>
            <a:r>
              <a:rPr sz="4106" b="1">
                <a:solidFill>
                  <a:srgbClr val="111111"/>
                </a:solidFill>
                <a:latin typeface="Arial"/>
              </a:rPr>
              <a:t>unknown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distributions</a:t>
            </a:r>
            <a:r>
              <a:rPr sz="4106" b="0">
                <a:solidFill>
                  <a:srgbClr val="1C1C1C"/>
                </a:solidFill>
                <a:latin typeface="Arial"/>
              </a:rPr>
              <a:t>, decide whether they </a:t>
            </a:r>
            <a:r>
              <a:rPr sz="4106" b="1">
                <a:solidFill>
                  <a:srgbClr val="111111"/>
                </a:solidFill>
                <a:latin typeface="Arial"/>
              </a:rPr>
              <a:t>differ</a:t>
            </a:r>
            <a:r>
              <a:rPr sz="4106" b="0">
                <a:solidFill>
                  <a:srgbClr val="1C1C1C"/>
                </a:solidFill>
                <a:latin typeface="Arial"/>
              </a:rPr>
              <a:t> — using only statistics of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their exchangeable,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unlabeled</a:t>
            </a:r>
            <a:r>
              <a:rPr sz="4106" b="0">
                <a:solidFill>
                  <a:srgbClr val="1C1C1C"/>
                </a:solidFill>
                <a:latin typeface="Arial"/>
              </a:rPr>
              <a:t> edges.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619465" y="6113819"/>
            <a:ext cx="15946993" cy="1895181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Arial"/>
              </a:rPr>
              <a:t>Cumulants win at </a:t>
            </a:r>
            <a:r>
              <a:rPr sz="4106" b="1">
                <a:solidFill>
                  <a:srgbClr val="111111"/>
                </a:solidFill>
                <a:latin typeface="Arial"/>
              </a:rPr>
              <a:t>every sample size</a:t>
            </a:r>
            <a:r>
              <a:rPr sz="4106" b="0">
                <a:solidFill>
                  <a:srgbClr val="1D3A87"/>
                </a:solidFill>
                <a:latin typeface="Arial"/>
              </a:rPr>
              <a:t> — the moment test is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Arial"/>
              </a:rPr>
              <a:t>undefined below </a:t>
            </a:r>
            <a:r>
              <a:rPr sz="4106" b="1">
                <a:solidFill>
                  <a:srgbClr val="111111"/>
                </a:solidFill>
                <a:latin typeface="Arial"/>
              </a:rPr>
              <a:t>s=4</a:t>
            </a:r>
            <a:r>
              <a:rPr sz="4106" b="0">
                <a:solidFill>
                  <a:srgbClr val="1D3A87"/>
                </a:solidFill>
                <a:latin typeface="Arial"/>
              </a:rPr>
              <a:t>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6661" y="8503840"/>
            <a:ext cx="15946854" cy="2482873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This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two-sample testing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problem underlies comparing brain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connectomes and distinguishing biological interaction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networks.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6661" y="11824255"/>
            <a:ext cx="1594685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619465" y="15503882"/>
            <a:ext cx="15946993" cy="1030816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Higher AUC at every sample size on synthetic SBMs.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36432" y="15518467"/>
            <a:ext cx="13115255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Cambria Math"/>
              </a:rPr>
              <a:t>squared Mahalanobis distance between the two samples’ cumulant vectors κ, weighted by analytic covariances 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619465" y="17519411"/>
            <a:ext cx="1594699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ABLATION: SUBGRAPH ORDER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637245" y="24248447"/>
            <a:ext cx="1592921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637245" y="25361086"/>
            <a:ext cx="1592921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Analyzing networks with subgraph or motif densities? Convert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them to </a:t>
            </a:r>
            <a:r>
              <a:rPr sz="4106" b="1">
                <a:solidFill>
                  <a:srgbClr val="111111"/>
                </a:solidFill>
                <a:latin typeface="Arial"/>
              </a:rPr>
              <a:t>graph cumulants</a:t>
            </a:r>
            <a:r>
              <a:rPr sz="4106" b="0">
                <a:solidFill>
                  <a:srgbClr val="1C1C1C"/>
                </a:solidFill>
                <a:latin typeface="Arial"/>
              </a:rPr>
              <a:t> — more power, an analytic χ² null, and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single-graph</a:t>
            </a:r>
            <a:r>
              <a:rPr sz="4106" b="0">
                <a:solidFill>
                  <a:srgbClr val="1C1C1C"/>
                </a:solidFill>
                <a:latin typeface="Arial"/>
              </a:rPr>
              <a:t> testing at </a:t>
            </a:r>
            <a:r>
              <a:rPr sz="4106" b="1">
                <a:solidFill>
                  <a:srgbClr val="111111"/>
                </a:solidFill>
                <a:latin typeface="Arial"/>
              </a:rPr>
              <a:t>no extra cost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843045" y="6628745"/>
            <a:ext cx="1594687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Both tests map subgraph counts to a coordinate vector — </a:t>
            </a:r>
            <a:r>
              <a:rPr sz="4106" b="1">
                <a:solidFill>
                  <a:srgbClr val="111111"/>
                </a:solidFill>
                <a:latin typeface="Arial"/>
              </a:rPr>
              <a:t>graph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moments</a:t>
            </a:r>
            <a:r>
              <a:rPr sz="4106" b="0">
                <a:solidFill>
                  <a:srgbClr val="1C1C1C"/>
                </a:solidFill>
                <a:latin typeface="Arial"/>
              </a:rPr>
              <a:t> vs. </a:t>
            </a:r>
            <a:r>
              <a:rPr sz="4106" b="1">
                <a:solidFill>
                  <a:srgbClr val="111111"/>
                </a:solidFill>
                <a:latin typeface="Arial"/>
              </a:rPr>
              <a:t>graph cumulants</a:t>
            </a:r>
            <a:r>
              <a:rPr sz="4106" b="0">
                <a:solidFill>
                  <a:srgbClr val="1C1C1C"/>
                </a:solidFill>
                <a:latin typeface="Arial"/>
              </a:rPr>
              <a:t> — and compare samples via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the </a:t>
            </a:r>
            <a:r>
              <a:rPr sz="4106" b="1">
                <a:solidFill>
                  <a:srgbClr val="111111"/>
                </a:solidFill>
                <a:latin typeface="Arial"/>
              </a:rPr>
              <a:t>squared Mahalanobis distance</a:t>
            </a:r>
            <a:r>
              <a:rPr sz="4106" b="0">
                <a:solidFill>
                  <a:srgbClr val="1C1C1C"/>
                </a:solidFill>
                <a:latin typeface="Arial"/>
              </a:rPr>
              <a:t> with analytic covariances.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843045" y="9079884"/>
            <a:ext cx="15946872" cy="3702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Cumulants come from moments by a connectivity-respecting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Möbius transform</a:t>
            </a:r>
            <a:r>
              <a:rPr sz="4106" b="0">
                <a:solidFill>
                  <a:srgbClr val="1C1C1C"/>
                </a:solidFill>
                <a:latin typeface="Arial"/>
              </a:rPr>
              <a:t> over edge partitions, capturing a subgraph's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 i="1">
                <a:solidFill>
                  <a:srgbClr val="1C1C1C"/>
                </a:solidFill>
                <a:latin typeface="Arial"/>
              </a:rPr>
              <a:t>excess propensity</a:t>
            </a:r>
            <a:r>
              <a:rPr sz="4106" b="0">
                <a:solidFill>
                  <a:srgbClr val="1C1C1C"/>
                </a:solidFill>
                <a:latin typeface="Arial"/>
              </a:rPr>
              <a:t>. Using subgraphs up to </a:t>
            </a:r>
            <a:r>
              <a:rPr sz="4353" b="1">
                <a:solidFill>
                  <a:srgbClr val="111111"/>
                </a:solidFill>
                <a:latin typeface="Arial"/>
              </a:rPr>
              <a:t>r=3</a:t>
            </a:r>
            <a:r>
              <a:rPr sz="4106" b="0">
                <a:solidFill>
                  <a:srgbClr val="1C1C1C"/>
                </a:solidFill>
                <a:latin typeface="Arial"/>
              </a:rPr>
              <a:t> edges, both tests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share the same </a:t>
            </a:r>
            <a:r>
              <a:rPr sz="4353" b="1">
                <a:solidFill>
                  <a:srgbClr val="111111"/>
                </a:solidFill>
                <a:latin typeface="Arial"/>
              </a:rPr>
              <a:t>O(n</a:t>
            </a:r>
            <a:r>
              <a:rPr sz="6094" b="1" baseline="30000">
                <a:solidFill>
                  <a:srgbClr val="111111"/>
                </a:solidFill>
                <a:latin typeface="Arial"/>
              </a:rPr>
              <a:t>ω</a:t>
            </a:r>
            <a:r>
              <a:rPr sz="4353" b="1">
                <a:solidFill>
                  <a:srgbClr val="111111"/>
                </a:solidFill>
                <a:latin typeface="Arial"/>
              </a:rPr>
              <a:t>)</a:t>
            </a:r>
            <a:r>
              <a:rPr sz="4106" b="0">
                <a:solidFill>
                  <a:srgbClr val="1C1C1C"/>
                </a:solidFill>
                <a:latin typeface="Arial"/>
              </a:rPr>
              <a:t> cost.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6642" y="13205539"/>
            <a:ext cx="1594687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Networks are summarized by </a:t>
            </a:r>
            <a:r>
              <a:rPr sz="4106" b="1">
                <a:solidFill>
                  <a:srgbClr val="111111"/>
                </a:solidFill>
                <a:latin typeface="Arial"/>
              </a:rPr>
              <a:t>subgraph / motif densities</a:t>
            </a:r>
            <a:r>
              <a:rPr sz="4106" b="0">
                <a:solidFill>
                  <a:srgbClr val="1C1C1C"/>
                </a:solidFill>
                <a:latin typeface="Arial"/>
              </a:rPr>
              <a:t>, but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raw densities are strongly </a:t>
            </a:r>
            <a:r>
              <a:rPr sz="4106" b="1">
                <a:solidFill>
                  <a:srgbClr val="111111"/>
                </a:solidFill>
                <a:latin typeface="Arial"/>
              </a:rPr>
              <a:t>correlated across orders</a:t>
            </a:r>
            <a:r>
              <a:rPr sz="4106" b="0">
                <a:solidFill>
                  <a:srgbClr val="1C1C1C"/>
                </a:solidFill>
                <a:latin typeface="Arial"/>
              </a:rPr>
              <a:t>, giving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statistically weak comparisons — especially with few graphs.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40237" y="14199274"/>
            <a:ext cx="14705310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Under the null, the cumulant statistic tracks its limiting χ²₅ distribution even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for few graphs per sample, while the moment statistic deviates.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6642" y="15656679"/>
            <a:ext cx="15946873" cy="26089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tests often need </a:t>
            </a:r>
            <a:r>
              <a:rPr sz="4106" b="1">
                <a:solidFill>
                  <a:srgbClr val="111111"/>
                </a:solidFill>
                <a:latin typeface="Arial"/>
              </a:rPr>
              <a:t>expensive resampling</a:t>
            </a:r>
            <a:r>
              <a:rPr sz="4106" b="0">
                <a:solidFill>
                  <a:srgbClr val="1C1C1C"/>
                </a:solidFill>
                <a:latin typeface="Arial"/>
              </a:rPr>
              <a:t> to judge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significance; a coordinate system that removes lower-order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redundancy could make tests </a:t>
            </a:r>
            <a:r>
              <a:rPr sz="4106" b="1">
                <a:solidFill>
                  <a:srgbClr val="111111"/>
                </a:solidFill>
                <a:latin typeface="Arial"/>
              </a:rPr>
              <a:t>stronger and cheaper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39956" y="18386742"/>
            <a:ext cx="590607" cy="869636"/>
          </a:xfrm>
          <a:prstGeom prst="rect">
            <a:avLst/>
          </a:prstGeom>
          <a:noFill/>
        </p:spPr>
        <p:txBody>
          <a:bodyPr wrap="none" lIns="26077" rIns="26077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D3A87"/>
                </a:solidFill>
                <a:latin typeface="Arial"/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619447" y="18648441"/>
            <a:ext cx="15947011" cy="17915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Cumulants' edge grows with order r; at </a:t>
            </a:r>
            <a:r>
              <a:rPr sz="4353" b="1">
                <a:solidFill>
                  <a:srgbClr val="111111"/>
                </a:solidFill>
                <a:latin typeface="Arial"/>
              </a:rPr>
              <a:t>r=3</a:t>
            </a:r>
            <a:r>
              <a:rPr sz="4106" b="0">
                <a:solidFill>
                  <a:srgbClr val="1C1C1C"/>
                </a:solidFill>
                <a:latin typeface="Arial"/>
              </a:rPr>
              <a:t> moments overfit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while cumulants keep improving.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619447" y="20388798"/>
            <a:ext cx="15947011" cy="18370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advantage is robust across SBM parameters ε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h</a:t>
            </a:r>
            <a:r>
              <a:rPr sz="4106" b="0">
                <a:solidFill>
                  <a:srgbClr val="1C1C1C"/>
                </a:solidFill>
                <a:latin typeface="Arial"/>
              </a:rPr>
              <a:t>, ε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a</a:t>
            </a:r>
            <a:r>
              <a:rPr sz="4106" b="0">
                <a:solidFill>
                  <a:srgbClr val="1C1C1C"/>
                </a:solidFill>
                <a:latin typeface="Arial"/>
              </a:rPr>
              <a:t>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sample sizes s — not a quirk of one regime.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619447" y="22168742"/>
            <a:ext cx="15947011" cy="869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same order sweep holds on the real genetic networks.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463835" y="27881957"/>
            <a:ext cx="14705171" cy="1917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Graph cumulants κ expand graph moments μ over connectivity-respecting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partitions of a subgraph's edges (analogous to classical moments ↔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cumulants).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32438" y="27971412"/>
            <a:ext cx="14613950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Real genetic networks (Arabidopsis vs. Mouse), density-matched: low-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order (r=1) tests can't separate them; only higher-order subgraphs can —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and cumulants exploit them far better than moments.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10163" y="18604130"/>
            <a:ext cx="7061675" cy="6522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GRAPH MOMENTS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87157" y="18604130"/>
            <a:ext cx="7061819" cy="6522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GRAPH CUMULANTS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354557" y="28057117"/>
            <a:ext cx="4713983" cy="1156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O(n</a:t>
            </a:r>
            <a:r>
              <a:rPr sz="9198" b="1" baseline="30000">
                <a:solidFill>
                  <a:srgbClr val="1D3A87"/>
                </a:solidFill>
                <a:latin typeface="Arial"/>
              </a:rPr>
              <a:t>ω</a:t>
            </a:r>
            <a:r>
              <a:rPr sz="6570" b="1">
                <a:solidFill>
                  <a:srgbClr val="1D3A87"/>
                </a:solidFill>
                <a:latin typeface="Arial"/>
              </a:rPr>
              <a:t>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845744" y="28228528"/>
            <a:ext cx="4713983" cy="959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s = 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100150" y="28228528"/>
            <a:ext cx="4713983" cy="959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r = 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845744" y="29130724"/>
            <a:ext cx="4713983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min graphs / sample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100150" y="29130724"/>
            <a:ext cx="4713983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subgraph edges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354557" y="29130724"/>
            <a:ext cx="4713983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same cost</a:t>
            </a:r>
          </a:p>
        </p:txBody>
      </p:sp>
      <p:pic>
        <p:nvPicPr>
          <p:cNvPr id="69" name="Picture 68" descr="e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46169" y="13952438"/>
            <a:ext cx="14713922" cy="9583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
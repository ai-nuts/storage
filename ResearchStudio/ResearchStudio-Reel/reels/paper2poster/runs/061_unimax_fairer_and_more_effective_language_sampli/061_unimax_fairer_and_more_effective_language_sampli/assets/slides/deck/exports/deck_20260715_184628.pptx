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7467600" y="1428750"/>
            <a:ext cx="4114800" cy="2857500"/>
          </a:xfrm>
          <a:prstGeom prst="roundRect">
            <a:avLst>
              <a:gd name="adj" fmla="val 6667"/>
            </a:avLst>
          </a:prstGeom>
          <a:solidFill>
            <a:schemeClr val="lt2"/>
          </a:solidFill>
          <a:ln w="9525">
            <a:solidFill>
              <a:schemeClr val="accent4"/>
            </a:solidFill>
          </a:ln>
        </p:spPr>
        <p:txBody>
          <a:bodyPr/>
          <a:p/>
        </p:txBody>
      </p:sp>
      <p:sp>
        <p:nvSpPr>
          <p:cNvPr id="3" name="TextBox 3"/>
          <p:cNvSpPr txBox="1"/>
          <p:nvPr/>
        </p:nvSpPr>
        <p:spPr>
          <a:xfrm>
            <a:off x="7767447" y="1704499"/>
            <a:ext cx="1370375" cy="190690"/>
          </a:xfrm>
          <a:prstGeom prst="rect">
            <a:avLst/>
          </a:prstGeom>
          <a:noFill/>
          <a:ln>
            <a:noFill/>
          </a:ln>
        </p:spPr>
        <p:txBody>
          <a:bodyPr wrap="none" lIns="0" tIns="0" rIns="0" bIns="0" anchor="t" anchorCtr="0">
            <a:spAutoFit/>
          </a:bodyPr>
          <a:lstStyle/>
          <a:p>
            <a:pPr algn="l"/>
            <a:r>
              <a:rPr lang="en-US" sz="980" b="1" spc="150" dirty="0">
                <a:solidFill>
                  <a:srgbClr val="63788F"/>
                </a:solidFill>
                <a:latin typeface="+mn-lt"/>
                <a:ea typeface="+mn-ea"/>
                <a:cs typeface="+mn-cs"/>
              </a:rPr>
              <a:t>SAMPLING SHAPE</a:t>
            </a:r>
          </a:p>
        </p:txBody>
      </p:sp>
      <p:sp>
        <p:nvSpPr>
          <p:cNvPr id="4" name="TextBox 4"/>
          <p:cNvSpPr txBox="1"/>
          <p:nvPr/>
        </p:nvSpPr>
        <p:spPr>
          <a:xfrm>
            <a:off x="7767066" y="1886902"/>
            <a:ext cx="943057" cy="205359"/>
          </a:xfrm>
          <a:prstGeom prst="rect">
            <a:avLst/>
          </a:prstGeom>
          <a:noFill/>
          <a:ln>
            <a:noFill/>
          </a:ln>
        </p:spPr>
        <p:txBody>
          <a:bodyPr wrap="none" lIns="0" tIns="0" rIns="0" bIns="0" anchor="t" anchorCtr="0">
            <a:spAutoFit/>
          </a:bodyPr>
          <a:lstStyle/>
          <a:p>
            <a:pPr algn="l"/>
            <a:r>
              <a:rPr lang="en-US" sz="1050" b="1" dirty="0">
                <a:solidFill>
                  <a:srgbClr val="F87171"/>
                </a:solidFill>
                <a:latin typeface="+mn-lt"/>
                <a:ea typeface="+mn-ea"/>
                <a:cs typeface="+mn-cs"/>
              </a:rPr>
              <a:t>Temperature</a:t>
            </a:r>
          </a:p>
        </p:txBody>
      </p:sp>
      <p:sp>
        <p:nvSpPr>
          <p:cNvPr id="5" name="Rectangle 5"/>
          <p:cNvSpPr/>
          <p:nvPr/>
        </p:nvSpPr>
        <p:spPr>
          <a:xfrm>
            <a:off x="7772400" y="2171700"/>
            <a:ext cx="400050" cy="685800"/>
          </a:xfrm>
          <a:prstGeom prst="roundRect">
            <a:avLst>
              <a:gd name="adj" fmla="val 9524"/>
            </a:avLst>
          </a:prstGeom>
          <a:solidFill>
            <a:srgbClr val="F87171">
              <a:alpha val="80000"/>
            </a:srgbClr>
          </a:solidFill>
          <a:ln>
            <a:noFill/>
          </a:ln>
        </p:spPr>
        <p:txBody>
          <a:bodyPr/>
          <a:p/>
        </p:txBody>
      </p:sp>
      <p:sp>
        <p:nvSpPr>
          <p:cNvPr id="6" name="Rectangle 6"/>
          <p:cNvSpPr/>
          <p:nvPr/>
        </p:nvSpPr>
        <p:spPr>
          <a:xfrm>
            <a:off x="8362950" y="2362200"/>
            <a:ext cx="400050" cy="495300"/>
          </a:xfrm>
          <a:prstGeom prst="roundRect">
            <a:avLst>
              <a:gd name="adj" fmla="val 9524"/>
            </a:avLst>
          </a:prstGeom>
          <a:solidFill>
            <a:srgbClr val="F87171">
              <a:alpha val="80000"/>
            </a:srgbClr>
          </a:solidFill>
          <a:ln>
            <a:noFill/>
          </a:ln>
        </p:spPr>
        <p:txBody>
          <a:bodyPr/>
          <a:p/>
        </p:txBody>
      </p:sp>
      <p:sp>
        <p:nvSpPr>
          <p:cNvPr id="7" name="Rectangle 7"/>
          <p:cNvSpPr/>
          <p:nvPr/>
        </p:nvSpPr>
        <p:spPr>
          <a:xfrm>
            <a:off x="8953500" y="2552700"/>
            <a:ext cx="400050" cy="304800"/>
          </a:xfrm>
          <a:prstGeom prst="roundRect">
            <a:avLst>
              <a:gd name="adj" fmla="val 12500"/>
            </a:avLst>
          </a:prstGeom>
          <a:solidFill>
            <a:srgbClr val="F87171">
              <a:alpha val="80000"/>
            </a:srgbClr>
          </a:solidFill>
          <a:ln>
            <a:noFill/>
          </a:ln>
        </p:spPr>
        <p:txBody>
          <a:bodyPr/>
          <a:p/>
        </p:txBody>
      </p:sp>
      <p:sp>
        <p:nvSpPr>
          <p:cNvPr id="8" name="Rectangle 8"/>
          <p:cNvSpPr/>
          <p:nvPr/>
        </p:nvSpPr>
        <p:spPr>
          <a:xfrm>
            <a:off x="9544050" y="2686050"/>
            <a:ext cx="400050" cy="171450"/>
          </a:xfrm>
          <a:prstGeom prst="roundRect">
            <a:avLst>
              <a:gd name="adj" fmla="val 22222"/>
            </a:avLst>
          </a:prstGeom>
          <a:solidFill>
            <a:srgbClr val="F87171">
              <a:alpha val="80000"/>
            </a:srgbClr>
          </a:solidFill>
          <a:ln>
            <a:noFill/>
          </a:ln>
        </p:spPr>
        <p:txBody>
          <a:bodyPr/>
          <a:p/>
        </p:txBody>
      </p:sp>
      <p:sp>
        <p:nvSpPr>
          <p:cNvPr id="9" name="Rectangle 9"/>
          <p:cNvSpPr/>
          <p:nvPr/>
        </p:nvSpPr>
        <p:spPr>
          <a:xfrm>
            <a:off x="10134600" y="2762250"/>
            <a:ext cx="400050" cy="95250"/>
          </a:xfrm>
          <a:prstGeom prst="roundRect">
            <a:avLst>
              <a:gd name="adj" fmla="val 40000"/>
            </a:avLst>
          </a:prstGeom>
          <a:solidFill>
            <a:srgbClr val="F87171">
              <a:alpha val="80000"/>
            </a:srgbClr>
          </a:solidFill>
          <a:ln>
            <a:noFill/>
          </a:ln>
        </p:spPr>
        <p:txBody>
          <a:bodyPr/>
          <a:p/>
        </p:txBody>
      </p:sp>
      <p:sp>
        <p:nvSpPr>
          <p:cNvPr id="10" name="Rectangle 10"/>
          <p:cNvSpPr/>
          <p:nvPr/>
        </p:nvSpPr>
        <p:spPr>
          <a:xfrm>
            <a:off x="10725150" y="2809875"/>
            <a:ext cx="400050" cy="47625"/>
          </a:xfrm>
          <a:prstGeom prst="roundRect">
            <a:avLst>
              <a:gd name="adj" fmla="val 50000"/>
            </a:avLst>
          </a:prstGeom>
          <a:solidFill>
            <a:srgbClr val="F87171">
              <a:alpha val="80000"/>
            </a:srgbClr>
          </a:solidFill>
          <a:ln>
            <a:noFill/>
          </a:ln>
        </p:spPr>
        <p:txBody>
          <a:bodyPr/>
          <a:p/>
        </p:txBody>
      </p:sp>
      <p:sp>
        <p:nvSpPr>
          <p:cNvPr id="11" name="Line 11"/>
          <p:cNvSpPr/>
          <p:nvPr/>
        </p:nvSpPr>
        <p:spPr>
          <a:xfrm>
            <a:off x="7772400" y="2857500"/>
            <a:ext cx="3505200" cy="9525"/>
          </a:xfrm>
          <a:custGeom>
            <a:avLst/>
            <a:gdLst/>
            <a:ahLst/>
            <a:cxnLst/>
            <a:rect l="l" t="t" r="r" b="b"/>
            <a:pathLst>
              <a:path w="3505200" h="9525">
                <a:moveTo>
                  <a:pt x="0" y="0"/>
                </a:moveTo>
                <a:lnTo>
                  <a:pt x="3505200" y="0"/>
                </a:lnTo>
              </a:path>
            </a:pathLst>
          </a:custGeom>
          <a:noFill/>
          <a:ln w="9525">
            <a:solidFill>
              <a:schemeClr val="accent4"/>
            </a:solidFill>
          </a:ln>
        </p:spPr>
        <p:txBody>
          <a:bodyPr/>
          <a:p/>
        </p:txBody>
      </p:sp>
      <p:sp>
        <p:nvSpPr>
          <p:cNvPr id="12" name="TextBox 12"/>
          <p:cNvSpPr txBox="1"/>
          <p:nvPr/>
        </p:nvSpPr>
        <p:spPr>
          <a:xfrm>
            <a:off x="7767066" y="3087052"/>
            <a:ext cx="50212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UniMax</a:t>
            </a:r>
          </a:p>
        </p:txBody>
      </p:sp>
      <p:sp>
        <p:nvSpPr>
          <p:cNvPr id="13" name="Rectangle 13"/>
          <p:cNvSpPr/>
          <p:nvPr/>
        </p:nvSpPr>
        <p:spPr>
          <a:xfrm>
            <a:off x="7772400" y="3409950"/>
            <a:ext cx="400050" cy="495300"/>
          </a:xfrm>
          <a:prstGeom prst="roundRect">
            <a:avLst>
              <a:gd name="adj" fmla="val 9524"/>
            </a:avLst>
          </a:prstGeom>
          <a:solidFill>
            <a:schemeClr val="accent2">
              <a:alpha val="85000"/>
            </a:schemeClr>
          </a:solidFill>
          <a:ln>
            <a:noFill/>
          </a:ln>
        </p:spPr>
        <p:txBody>
          <a:bodyPr/>
          <a:p/>
        </p:txBody>
      </p:sp>
      <p:sp>
        <p:nvSpPr>
          <p:cNvPr id="14" name="Rectangle 14"/>
          <p:cNvSpPr/>
          <p:nvPr/>
        </p:nvSpPr>
        <p:spPr>
          <a:xfrm>
            <a:off x="8362950" y="3409950"/>
            <a:ext cx="400050" cy="495300"/>
          </a:xfrm>
          <a:prstGeom prst="roundRect">
            <a:avLst>
              <a:gd name="adj" fmla="val 9524"/>
            </a:avLst>
          </a:prstGeom>
          <a:solidFill>
            <a:schemeClr val="accent2">
              <a:alpha val="85000"/>
            </a:schemeClr>
          </a:solidFill>
          <a:ln>
            <a:noFill/>
          </a:ln>
        </p:spPr>
        <p:txBody>
          <a:bodyPr/>
          <a:p/>
        </p:txBody>
      </p:sp>
      <p:sp>
        <p:nvSpPr>
          <p:cNvPr id="15" name="Rectangle 15"/>
          <p:cNvSpPr/>
          <p:nvPr/>
        </p:nvSpPr>
        <p:spPr>
          <a:xfrm>
            <a:off x="8953500" y="3409950"/>
            <a:ext cx="400050" cy="495300"/>
          </a:xfrm>
          <a:prstGeom prst="roundRect">
            <a:avLst>
              <a:gd name="adj" fmla="val 9524"/>
            </a:avLst>
          </a:prstGeom>
          <a:solidFill>
            <a:schemeClr val="accent2">
              <a:alpha val="85000"/>
            </a:schemeClr>
          </a:solidFill>
          <a:ln>
            <a:noFill/>
          </a:ln>
        </p:spPr>
        <p:txBody>
          <a:bodyPr/>
          <a:p/>
        </p:txBody>
      </p:sp>
      <p:sp>
        <p:nvSpPr>
          <p:cNvPr id="16" name="Rectangle 16"/>
          <p:cNvSpPr/>
          <p:nvPr/>
        </p:nvSpPr>
        <p:spPr>
          <a:xfrm>
            <a:off x="9544050" y="3409950"/>
            <a:ext cx="400050" cy="495300"/>
          </a:xfrm>
          <a:prstGeom prst="roundRect">
            <a:avLst>
              <a:gd name="adj" fmla="val 9524"/>
            </a:avLst>
          </a:prstGeom>
          <a:solidFill>
            <a:schemeClr val="accent2">
              <a:alpha val="85000"/>
            </a:schemeClr>
          </a:solidFill>
          <a:ln>
            <a:noFill/>
          </a:ln>
        </p:spPr>
        <p:txBody>
          <a:bodyPr/>
          <a:p/>
        </p:txBody>
      </p:sp>
      <p:sp>
        <p:nvSpPr>
          <p:cNvPr id="17" name="Rectangle 17"/>
          <p:cNvSpPr/>
          <p:nvPr/>
        </p:nvSpPr>
        <p:spPr>
          <a:xfrm>
            <a:off x="10134600" y="3486150"/>
            <a:ext cx="400050" cy="419100"/>
          </a:xfrm>
          <a:prstGeom prst="roundRect">
            <a:avLst>
              <a:gd name="adj" fmla="val 9524"/>
            </a:avLst>
          </a:prstGeom>
          <a:solidFill>
            <a:schemeClr val="accent2">
              <a:alpha val="85000"/>
            </a:schemeClr>
          </a:solidFill>
          <a:ln>
            <a:noFill/>
          </a:ln>
        </p:spPr>
        <p:txBody>
          <a:bodyPr/>
          <a:p/>
        </p:txBody>
      </p:sp>
      <p:sp>
        <p:nvSpPr>
          <p:cNvPr id="18" name="Rectangle 18"/>
          <p:cNvSpPr/>
          <p:nvPr/>
        </p:nvSpPr>
        <p:spPr>
          <a:xfrm>
            <a:off x="10725150" y="3619500"/>
            <a:ext cx="400050" cy="285750"/>
          </a:xfrm>
          <a:prstGeom prst="roundRect">
            <a:avLst>
              <a:gd name="adj" fmla="val 13333"/>
            </a:avLst>
          </a:prstGeom>
          <a:solidFill>
            <a:schemeClr val="accent2">
              <a:alpha val="85000"/>
            </a:schemeClr>
          </a:solidFill>
          <a:ln>
            <a:noFill/>
          </a:ln>
        </p:spPr>
        <p:txBody>
          <a:bodyPr/>
          <a:p/>
        </p:txBody>
      </p:sp>
      <p:sp>
        <p:nvSpPr>
          <p:cNvPr id="19" name="Line 19"/>
          <p:cNvSpPr/>
          <p:nvPr/>
        </p:nvSpPr>
        <p:spPr>
          <a:xfrm>
            <a:off x="7772400" y="3905250"/>
            <a:ext cx="3505200" cy="9525"/>
          </a:xfrm>
          <a:custGeom>
            <a:avLst/>
            <a:gdLst/>
            <a:ahLst/>
            <a:cxnLst/>
            <a:rect l="l" t="t" r="r" b="b"/>
            <a:pathLst>
              <a:path w="3505200" h="9525">
                <a:moveTo>
                  <a:pt x="0" y="0"/>
                </a:moveTo>
                <a:lnTo>
                  <a:pt x="3505200" y="0"/>
                </a:lnTo>
              </a:path>
            </a:pathLst>
          </a:custGeom>
          <a:noFill/>
          <a:ln w="9525">
            <a:solidFill>
              <a:schemeClr val="accent4"/>
            </a:solidFill>
          </a:ln>
        </p:spPr>
        <p:txBody>
          <a:bodyPr/>
          <a:p/>
        </p:txBody>
      </p:sp>
      <p:sp>
        <p:nvSpPr>
          <p:cNvPr id="20" name="TextBox 20"/>
          <p:cNvSpPr txBox="1"/>
          <p:nvPr/>
        </p:nvSpPr>
        <p:spPr>
          <a:xfrm>
            <a:off x="7767638" y="4017645"/>
            <a:ext cx="1778432" cy="176212"/>
          </a:xfrm>
          <a:prstGeom prst="rect">
            <a:avLst/>
          </a:prstGeom>
          <a:noFill/>
          <a:ln>
            <a:noFill/>
          </a:ln>
        </p:spPr>
        <p:txBody>
          <a:bodyPr wrap="none" lIns="0" tIns="0" rIns="0" bIns="0" anchor="t" anchorCtr="0">
            <a:spAutoFit/>
          </a:bodyPr>
          <a:lstStyle/>
          <a:p>
            <a:pPr algn="l"/>
            <a:r>
              <a:rPr lang="en-US" sz="900" dirty="0">
                <a:solidFill>
                  <a:srgbClr val="63788F"/>
                </a:solidFill>
                <a:latin typeface="+mn-lt"/>
                <a:ea typeface="+mn-ea"/>
                <a:cs typeface="+mn-cs"/>
              </a:rPr>
              <a:t>high-resource → low-resource</a:t>
            </a:r>
          </a:p>
        </p:txBody>
      </p:sp>
      <p:grpSp>
        <p:nvGrpSpPr>
          <p:cNvPr id="27" name="Group 27"/>
          <p:cNvGrpSpPr/>
          <p:nvPr/>
        </p:nvGrpSpPr>
        <p:grpSpPr>
          <a:xfrm>
            <a:off x="590550" y="1307306"/>
            <a:ext cx="6082540" cy="2640045"/>
            <a:chOff x="590550" y="1307306"/>
            <a:chExt cx="6082540" cy="2640045"/>
          </a:xfrm>
        </p:grpSpPr>
        <p:sp>
          <p:nvSpPr>
            <p:cNvPr id="21" name="Rectangle 21"/>
            <p:cNvSpPr/>
            <p:nvPr/>
          </p:nvSpPr>
          <p:spPr>
            <a:xfrm>
              <a:off x="609600" y="1428750"/>
              <a:ext cx="323850" cy="57150"/>
            </a:xfrm>
            <a:prstGeom prst="roundRect">
              <a:avLst>
                <a:gd name="adj" fmla="val 50000"/>
              </a:avLst>
            </a:prstGeom>
            <a:solidFill>
              <a:schemeClr val="accent1"/>
            </a:solidFill>
            <a:ln>
              <a:noFill/>
            </a:ln>
          </p:spPr>
        </p:sp>
        <p:sp>
          <p:nvSpPr>
            <p:cNvPr id="22" name="TextBox 22"/>
            <p:cNvSpPr txBox="1"/>
            <p:nvPr/>
          </p:nvSpPr>
          <p:spPr>
            <a:xfrm>
              <a:off x="603885" y="1307306"/>
              <a:ext cx="2908005" cy="220028"/>
            </a:xfrm>
            <a:prstGeom prst="rect">
              <a:avLst/>
            </a:prstGeom>
            <a:noFill/>
            <a:ln>
              <a:noFill/>
            </a:ln>
          </p:spPr>
          <p:txBody>
            <a:bodyPr wrap="none" lIns="0" tIns="0" rIns="0" bIns="0" anchor="t" anchorCtr="0">
              <a:spAutoFit/>
            </a:bodyPr>
            <a:lstStyle/>
            <a:p>
              <a:pPr algn="l"/>
              <a:r>
                <a:rPr lang="en-US" sz="1120" b="1" spc="150" dirty="0">
                  <a:solidFill>
                    <a:schemeClr val="accent1"/>
                  </a:solidFill>
                  <a:latin typeface="+mn-lt"/>
                  <a:ea typeface="+mn-ea"/>
                  <a:cs typeface="+mn-cs"/>
                </a:rPr>
                <a:t>GOOGLE RESEARCH · ICLR 2023</a:t>
              </a:r>
            </a:p>
          </p:txBody>
        </p:sp>
        <p:sp>
          <p:nvSpPr>
            <p:cNvPr id="23" name="TextBox 23"/>
            <p:cNvSpPr txBox="1"/>
            <p:nvPr/>
          </p:nvSpPr>
          <p:spPr>
            <a:xfrm>
              <a:off x="590550" y="1775460"/>
              <a:ext cx="3408121" cy="1390650"/>
            </a:xfrm>
            <a:prstGeom prst="rect">
              <a:avLst/>
            </a:prstGeom>
            <a:noFill/>
            <a:ln>
              <a:noFill/>
            </a:ln>
          </p:spPr>
          <p:txBody>
            <a:bodyPr wrap="none" lIns="0" tIns="0" rIns="0" bIns="0" anchor="t" anchorCtr="0">
              <a:spAutoFit/>
            </a:bodyPr>
            <a:lstStyle/>
            <a:p>
              <a:pPr algn="l"/>
              <a:r>
                <a:rPr lang="en-US" sz="7200" b="1" dirty="0">
                  <a:solidFill>
                    <a:schemeClr val="dk1"/>
                  </a:solidFill>
                  <a:latin typeface="+mn-lt"/>
                  <a:ea typeface="+mn-ea"/>
                  <a:cs typeface="+mn-cs"/>
                </a:rPr>
                <a:t>UniMax</a:t>
              </a:r>
            </a:p>
          </p:txBody>
        </p:sp>
        <p:sp>
          <p:nvSpPr>
            <p:cNvPr id="24" name="TextBox 24"/>
            <p:cNvSpPr txBox="1"/>
            <p:nvPr/>
          </p:nvSpPr>
          <p:spPr>
            <a:xfrm>
              <a:off x="599694" y="2837498"/>
              <a:ext cx="6073396"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Fairer and More Effective Language Sampling</a:t>
              </a:r>
            </a:p>
          </p:txBody>
        </p:sp>
        <p:sp>
          <p:nvSpPr>
            <p:cNvPr id="25" name="TextBox 25"/>
            <p:cNvSpPr txBox="1"/>
            <p:nvPr/>
          </p:nvSpPr>
          <p:spPr>
            <a:xfrm>
              <a:off x="599694" y="3180398"/>
              <a:ext cx="5414620"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for Large-Scale Multilingual Pretraining</a:t>
              </a:r>
            </a:p>
          </p:txBody>
        </p:sp>
        <p:sp>
          <p:nvSpPr>
            <p:cNvPr id="26" name="TextBox 26"/>
            <p:cNvSpPr txBox="1"/>
            <p:nvPr/>
          </p:nvSpPr>
          <p:spPr>
            <a:xfrm>
              <a:off x="602742" y="3683318"/>
              <a:ext cx="590805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Uniform budget allocation with a hard cap on per-language repeats</a:t>
              </a:r>
            </a:p>
          </p:txBody>
        </p:sp>
      </p:grpSp>
      <p:sp>
        <p:nvSpPr>
          <p:cNvPr id="28" name="TextBox 28"/>
          <p:cNvSpPr txBox="1"/>
          <p:nvPr/>
        </p:nvSpPr>
        <p:spPr>
          <a:xfrm>
            <a:off x="603885" y="4183856"/>
            <a:ext cx="5684566" cy="220028"/>
          </a:xfrm>
          <a:prstGeom prst="rect">
            <a:avLst/>
          </a:prstGeom>
          <a:noFill/>
          <a:ln>
            <a:noFill/>
          </a:ln>
        </p:spPr>
        <p:txBody>
          <a:bodyPr wrap="none" lIns="0" tIns="0" rIns="0" bIns="0" anchor="t" anchorCtr="0">
            <a:spAutoFit/>
          </a:bodyPr>
          <a:lstStyle/>
          <a:p>
            <a:pPr algn="l"/>
            <a:r>
              <a:rPr lang="en-US" sz="1120" b="1" dirty="0">
                <a:solidFill>
                  <a:srgbClr val="63788F"/>
                </a:solidFill>
                <a:latin typeface="+mn-lt"/>
                <a:ea typeface="+mn-ea"/>
                <a:cs typeface="+mn-cs"/>
              </a:rPr>
              <a:t>Chung, Constant, Garcia, Roberts, Tay, Narang, Firat · Google Research</a:t>
            </a:r>
          </a:p>
        </p:txBody>
      </p:sp>
      <p:grpSp>
        <p:nvGrpSpPr>
          <p:cNvPr id="35" name="Group 35"/>
          <p:cNvGrpSpPr/>
          <p:nvPr/>
        </p:nvGrpSpPr>
        <p:grpSpPr>
          <a:xfrm>
            <a:off x="609600" y="4762500"/>
            <a:ext cx="3492500" cy="1752600"/>
            <a:chOff x="609600" y="4762500"/>
            <a:chExt cx="3492500" cy="1752600"/>
          </a:xfrm>
        </p:grpSpPr>
        <p:sp>
          <p:nvSpPr>
            <p:cNvPr id="29" name="Rectangle 29"/>
            <p:cNvSpPr/>
            <p:nvPr/>
          </p:nvSpPr>
          <p:spPr>
            <a:xfrm>
              <a:off x="609600" y="4762500"/>
              <a:ext cx="3492500" cy="1752600"/>
            </a:xfrm>
            <a:prstGeom prst="roundRect">
              <a:avLst>
                <a:gd name="adj" fmla="val 8696"/>
              </a:avLst>
            </a:prstGeom>
            <a:solidFill>
              <a:schemeClr val="lt2"/>
            </a:solidFill>
            <a:ln w="9525">
              <a:solidFill>
                <a:schemeClr val="accent4"/>
              </a:solidFill>
            </a:ln>
          </p:spPr>
        </p:sp>
        <p:sp>
          <p:nvSpPr>
            <p:cNvPr id="30" name="Rectangle 30"/>
            <p:cNvSpPr/>
            <p:nvPr/>
          </p:nvSpPr>
          <p:spPr>
            <a:xfrm>
              <a:off x="609600" y="4933950"/>
              <a:ext cx="47625" cy="1409700"/>
            </a:xfrm>
            <a:prstGeom prst="roundRect">
              <a:avLst>
                <a:gd name="adj" fmla="val 50000"/>
              </a:avLst>
            </a:prstGeom>
            <a:solidFill>
              <a:schemeClr val="accent1"/>
            </a:solidFill>
            <a:ln>
              <a:noFill/>
            </a:ln>
          </p:spPr>
        </p:sp>
        <p:sp>
          <p:nvSpPr>
            <p:cNvPr id="31" name="TextBox 31"/>
            <p:cNvSpPr txBox="1"/>
            <p:nvPr/>
          </p:nvSpPr>
          <p:spPr>
            <a:xfrm>
              <a:off x="833247" y="5000149"/>
              <a:ext cx="658136"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METHOD</a:t>
              </a:r>
            </a:p>
          </p:txBody>
        </p:sp>
        <p:sp>
          <p:nvSpPr>
            <p:cNvPr id="32" name="TextBox 32"/>
            <p:cNvSpPr txBox="1"/>
            <p:nvPr/>
          </p:nvSpPr>
          <p:spPr>
            <a:xfrm>
              <a:off x="829818" y="5251132"/>
              <a:ext cx="162067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Uniform + Max</a:t>
              </a:r>
            </a:p>
          </p:txBody>
        </p:sp>
        <p:sp>
          <p:nvSpPr>
            <p:cNvPr id="33" name="TextBox 33"/>
            <p:cNvSpPr txBox="1"/>
            <p:nvPr/>
          </p:nvSpPr>
          <p:spPr>
            <a:xfrm>
              <a:off x="832866" y="5582602"/>
              <a:ext cx="21217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Spread budget evenly; cap how</a:t>
              </a:r>
            </a:p>
          </p:txBody>
        </p:sp>
        <p:sp>
          <p:nvSpPr>
            <p:cNvPr id="34" name="TextBox 34"/>
            <p:cNvSpPr txBox="1"/>
            <p:nvPr/>
          </p:nvSpPr>
          <p:spPr>
            <a:xfrm>
              <a:off x="832866" y="5763578"/>
              <a:ext cx="19683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often any language repeats.</a:t>
              </a:r>
            </a:p>
          </p:txBody>
        </p:sp>
      </p:grpSp>
      <p:grpSp>
        <p:nvGrpSpPr>
          <p:cNvPr id="42" name="Group 42"/>
          <p:cNvGrpSpPr/>
          <p:nvPr/>
        </p:nvGrpSpPr>
        <p:grpSpPr>
          <a:xfrm>
            <a:off x="4349750" y="4762500"/>
            <a:ext cx="3492500" cy="1752600"/>
            <a:chOff x="4349750" y="4762500"/>
            <a:chExt cx="3492500" cy="1752600"/>
          </a:xfrm>
        </p:grpSpPr>
        <p:sp>
          <p:nvSpPr>
            <p:cNvPr id="36" name="Rectangle 36"/>
            <p:cNvSpPr/>
            <p:nvPr/>
          </p:nvSpPr>
          <p:spPr>
            <a:xfrm>
              <a:off x="4349750" y="4762500"/>
              <a:ext cx="3492500" cy="1752600"/>
            </a:xfrm>
            <a:prstGeom prst="roundRect">
              <a:avLst>
                <a:gd name="adj" fmla="val 8696"/>
              </a:avLst>
            </a:prstGeom>
            <a:solidFill>
              <a:schemeClr val="lt2"/>
            </a:solidFill>
            <a:ln w="9525">
              <a:solidFill>
                <a:schemeClr val="accent4"/>
              </a:solidFill>
            </a:ln>
          </p:spPr>
        </p:sp>
        <p:sp>
          <p:nvSpPr>
            <p:cNvPr id="37" name="Rectangle 37"/>
            <p:cNvSpPr/>
            <p:nvPr/>
          </p:nvSpPr>
          <p:spPr>
            <a:xfrm>
              <a:off x="4349750" y="4933950"/>
              <a:ext cx="47625" cy="1409700"/>
            </a:xfrm>
            <a:prstGeom prst="roundRect">
              <a:avLst>
                <a:gd name="adj" fmla="val 50000"/>
              </a:avLst>
            </a:prstGeom>
            <a:solidFill>
              <a:schemeClr val="accent2"/>
            </a:solidFill>
            <a:ln>
              <a:noFill/>
            </a:ln>
          </p:spPr>
        </p:sp>
        <p:sp>
          <p:nvSpPr>
            <p:cNvPr id="38" name="TextBox 38"/>
            <p:cNvSpPr txBox="1"/>
            <p:nvPr/>
          </p:nvSpPr>
          <p:spPr>
            <a:xfrm>
              <a:off x="4573397" y="5000149"/>
              <a:ext cx="599590"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RESULT</a:t>
              </a:r>
            </a:p>
          </p:txBody>
        </p:sp>
        <p:sp>
          <p:nvSpPr>
            <p:cNvPr id="39" name="TextBox 39"/>
            <p:cNvSpPr txBox="1"/>
            <p:nvPr/>
          </p:nvSpPr>
          <p:spPr>
            <a:xfrm>
              <a:off x="4569968" y="5251132"/>
              <a:ext cx="219346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Beats temperature</a:t>
              </a:r>
            </a:p>
          </p:txBody>
        </p:sp>
        <p:sp>
          <p:nvSpPr>
            <p:cNvPr id="40" name="TextBox 40"/>
            <p:cNvSpPr txBox="1"/>
            <p:nvPr/>
          </p:nvSpPr>
          <p:spPr>
            <a:xfrm>
              <a:off x="4573016" y="5582602"/>
              <a:ext cx="23830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Wins across benchmarks and every</a:t>
              </a:r>
            </a:p>
          </p:txBody>
        </p:sp>
        <p:sp>
          <p:nvSpPr>
            <p:cNvPr id="41" name="TextBox 41"/>
            <p:cNvSpPr txBox="1"/>
            <p:nvPr/>
          </p:nvSpPr>
          <p:spPr>
            <a:xfrm>
              <a:off x="4573016" y="5763578"/>
              <a:ext cx="23853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scale, gains grow with size.</a:t>
              </a:r>
            </a:p>
          </p:txBody>
        </p:sp>
      </p:grpSp>
      <p:grpSp>
        <p:nvGrpSpPr>
          <p:cNvPr id="49" name="Group 49"/>
          <p:cNvGrpSpPr/>
          <p:nvPr/>
        </p:nvGrpSpPr>
        <p:grpSpPr>
          <a:xfrm>
            <a:off x="8089900" y="4762500"/>
            <a:ext cx="3492500" cy="1752600"/>
            <a:chOff x="8089900" y="4762500"/>
            <a:chExt cx="3492500" cy="1752600"/>
          </a:xfrm>
        </p:grpSpPr>
        <p:sp>
          <p:nvSpPr>
            <p:cNvPr id="43" name="Rectangle 43"/>
            <p:cNvSpPr/>
            <p:nvPr/>
          </p:nvSpPr>
          <p:spPr>
            <a:xfrm>
              <a:off x="8089900" y="4762500"/>
              <a:ext cx="3492500" cy="1752600"/>
            </a:xfrm>
            <a:prstGeom prst="roundRect">
              <a:avLst>
                <a:gd name="adj" fmla="val 8696"/>
              </a:avLst>
            </a:prstGeom>
            <a:solidFill>
              <a:schemeClr val="lt2"/>
            </a:solidFill>
            <a:ln w="9525">
              <a:solidFill>
                <a:schemeClr val="accent4"/>
              </a:solidFill>
            </a:ln>
          </p:spPr>
        </p:sp>
        <p:sp>
          <p:nvSpPr>
            <p:cNvPr id="44" name="Rectangle 44"/>
            <p:cNvSpPr/>
            <p:nvPr/>
          </p:nvSpPr>
          <p:spPr>
            <a:xfrm>
              <a:off x="8089900" y="4933950"/>
              <a:ext cx="47625" cy="1409700"/>
            </a:xfrm>
            <a:prstGeom prst="roundRect">
              <a:avLst>
                <a:gd name="adj" fmla="val 50000"/>
              </a:avLst>
            </a:prstGeom>
            <a:solidFill>
              <a:srgbClr val="FBBF24"/>
            </a:solidFill>
            <a:ln>
              <a:noFill/>
            </a:ln>
          </p:spPr>
        </p:sp>
        <p:sp>
          <p:nvSpPr>
            <p:cNvPr id="45" name="TextBox 45"/>
            <p:cNvSpPr txBox="1"/>
            <p:nvPr/>
          </p:nvSpPr>
          <p:spPr>
            <a:xfrm>
              <a:off x="8313547" y="5000149"/>
              <a:ext cx="701427"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RELEASE</a:t>
              </a:r>
            </a:p>
          </p:txBody>
        </p:sp>
        <p:sp>
          <p:nvSpPr>
            <p:cNvPr id="46" name="TextBox 46"/>
            <p:cNvSpPr txBox="1"/>
            <p:nvPr/>
          </p:nvSpPr>
          <p:spPr>
            <a:xfrm>
              <a:off x="8310118" y="5251132"/>
              <a:ext cx="156912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29T-char mC4</a:t>
              </a:r>
            </a:p>
          </p:txBody>
        </p:sp>
        <p:sp>
          <p:nvSpPr>
            <p:cNvPr id="47" name="TextBox 47"/>
            <p:cNvSpPr txBox="1"/>
            <p:nvPr/>
          </p:nvSpPr>
          <p:spPr>
            <a:xfrm>
              <a:off x="8313166" y="5582602"/>
              <a:ext cx="24047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Refreshed corpus of 107 languages</a:t>
              </a:r>
            </a:p>
          </p:txBody>
        </p:sp>
        <p:sp>
          <p:nvSpPr>
            <p:cNvPr id="48" name="TextBox 48"/>
            <p:cNvSpPr txBox="1"/>
            <p:nvPr/>
          </p:nvSpPr>
          <p:spPr>
            <a:xfrm>
              <a:off x="8313166" y="5763578"/>
              <a:ext cx="14157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 umT5 checkpoints.</a:t>
              </a:r>
            </a:p>
          </p:txBody>
        </p:sp>
      </p:grpSp>
      <p:sp>
        <p:nvSpPr>
          <p:cNvPr id="50" name="cue_s01_c1_multilingual_language_models_must_de" title="cue_s01_c1_multilingual_language_models_must_de" descr="cue_s01_c1_multilingual_language_models_must_de Multilingual language models must decide how much to train on each language, and the standard answer has been temperature-based sampling."/>
          <p:cNvSpPr/>
          <p:nvPr/>
        </p:nvSpPr>
        <p:spPr>
          <a:xfrm>
            <a:off x="590092" y="1307134"/>
            <a:ext cx="6082588" cy="264033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1_c2_google_research_introduces_unimax_si" title="cue_s01_c2_google_research_introduces_unimax_si" descr="cue_s01_c2_google_research_introduces_unimax_si This paper from Google Research introduces UniMax, a simple sampling method that gives more uniform coverage to high-resource languages while explicitly capping how many times any low-resource language's data is repeated."/>
          <p:cNvSpPr/>
          <p:nvPr/>
        </p:nvSpPr>
        <p:spPr>
          <a:xfrm>
            <a:off x="609600" y="4762195"/>
            <a:ext cx="3493007"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1_c3_across_many_benchmarks_scales_unimax" title="cue_s01_c3_across_many_benchmarks_scales_unimax" descr="cue_s01_c3_across_many_benchmarks_scales_unimax Across many benchmarks and model scales, UniMax beats temperature sampling, and the gains persist as models grow."/>
          <p:cNvSpPr/>
          <p:nvPr/>
        </p:nvSpPr>
        <p:spPr>
          <a:xfrm>
            <a:off x="4350105" y="4762195"/>
            <a:ext cx="3493007"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1_c4_authors_also_release_refreshed_mc4" title="cue_s01_c4_authors_also_release_refreshed_mc4" descr="cue_s01_c4_authors_also_release_refreshed_mc4 The authors also release a refreshed mC4 corpus of twenty-nine trillion characters across one hundred seven languages, along with umT5 checkpoints trained with UniMax."/>
          <p:cNvSpPr/>
          <p:nvPr/>
        </p:nvSpPr>
        <p:spPr>
          <a:xfrm>
            <a:off x="8089392" y="4762195"/>
            <a:ext cx="3493007"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882792"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PROBLEM</a:t>
            </a:r>
          </a:p>
        </p:txBody>
      </p:sp>
      <p:sp>
        <p:nvSpPr>
          <p:cNvPr id="5" name="TextBox 5"/>
          <p:cNvSpPr txBox="1"/>
          <p:nvPr/>
        </p:nvSpPr>
        <p:spPr>
          <a:xfrm>
            <a:off x="596646" y="715328"/>
            <a:ext cx="643445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Multilingual data is wildly imbalanced</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02 / 10</a:t>
            </a:r>
          </a:p>
        </p:txBody>
      </p:sp>
      <p:grpSp>
        <p:nvGrpSpPr>
          <p:cNvPr id="13" name="Group 13"/>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2003350"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WHY SAMPLING MATTERS</a:t>
              </a:r>
            </a:p>
          </p:txBody>
        </p:sp>
        <p:sp>
          <p:nvSpPr>
            <p:cNvPr id="10" name="TextBox 10"/>
            <p:cNvSpPr txBox="1"/>
            <p:nvPr/>
          </p:nvSpPr>
          <p:spPr>
            <a:xfrm>
              <a:off x="851344" y="2008108"/>
              <a:ext cx="297643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mix you train on is a design choice.</a:t>
              </a:r>
            </a:p>
          </p:txBody>
        </p:sp>
        <p:sp>
          <p:nvSpPr>
            <p:cNvPr id="11" name="TextBox 11"/>
            <p:cNvSpPr txBox="1"/>
            <p:nvPr/>
          </p:nvSpPr>
          <p:spPr>
            <a:xfrm>
              <a:off x="851344" y="2217658"/>
              <a:ext cx="26087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Massively multilingual corpora are</a:t>
              </a:r>
            </a:p>
          </p:txBody>
        </p:sp>
        <p:sp>
          <p:nvSpPr>
            <p:cNvPr id="12" name="TextBox 12"/>
            <p:cNvSpPr txBox="1"/>
            <p:nvPr/>
          </p:nvSpPr>
          <p:spPr>
            <a:xfrm>
              <a:off x="851344" y="2427208"/>
              <a:ext cx="174517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anything but balanced.</a:t>
              </a:r>
            </a:p>
          </p:txBody>
        </p:sp>
      </p:grpSp>
      <p:grpSp>
        <p:nvGrpSpPr>
          <p:cNvPr id="30" name="Group 30"/>
          <p:cNvGrpSpPr/>
          <p:nvPr/>
        </p:nvGrpSpPr>
        <p:grpSpPr>
          <a:xfrm>
            <a:off x="6219825" y="1428750"/>
            <a:ext cx="5362575" cy="2419350"/>
            <a:chOff x="6219825" y="1428750"/>
            <a:chExt cx="5362575" cy="2419350"/>
          </a:xfrm>
        </p:grpSpPr>
        <p:sp>
          <p:nvSpPr>
            <p:cNvPr id="14" name="Rectangle 14"/>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5" name="Rectangle 15"/>
            <p:cNvSpPr/>
            <p:nvPr/>
          </p:nvSpPr>
          <p:spPr>
            <a:xfrm>
              <a:off x="6219825" y="1600200"/>
              <a:ext cx="47625" cy="2076450"/>
            </a:xfrm>
            <a:prstGeom prst="roundRect">
              <a:avLst>
                <a:gd name="adj" fmla="val 50000"/>
              </a:avLst>
            </a:prstGeom>
            <a:solidFill>
              <a:srgbClr val="F87171"/>
            </a:solidFill>
            <a:ln>
              <a:noFill/>
            </a:ln>
          </p:spPr>
        </p:sp>
        <p:sp>
          <p:nvSpPr>
            <p:cNvPr id="16" name="TextBox 16"/>
            <p:cNvSpPr txBox="1"/>
            <p:nvPr/>
          </p:nvSpPr>
          <p:spPr>
            <a:xfrm>
              <a:off x="6462522" y="1704499"/>
              <a:ext cx="1627655"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ENGLISH vs YORUBA</a:t>
              </a:r>
            </a:p>
          </p:txBody>
        </p:sp>
        <p:sp>
          <p:nvSpPr>
            <p:cNvPr id="17" name="TextBox 17"/>
            <p:cNvSpPr txBox="1"/>
            <p:nvPr/>
          </p:nvSpPr>
          <p:spPr>
            <a:xfrm>
              <a:off x="6449949" y="1913572"/>
              <a:ext cx="1912547"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92,000×</a:t>
              </a:r>
            </a:p>
          </p:txBody>
        </p:sp>
        <p:sp>
          <p:nvSpPr>
            <p:cNvPr id="18" name="TextBox 18"/>
            <p:cNvSpPr txBox="1"/>
            <p:nvPr/>
          </p:nvSpPr>
          <p:spPr>
            <a:xfrm>
              <a:off x="6462141" y="2420302"/>
              <a:ext cx="2169598"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gap in mC4 (≈9.7T vs the tail)</a:t>
              </a:r>
            </a:p>
          </p:txBody>
        </p:sp>
        <p:sp>
          <p:nvSpPr>
            <p:cNvPr id="19" name="TextBox 19"/>
            <p:cNvSpPr txBox="1"/>
            <p:nvPr/>
          </p:nvSpPr>
          <p:spPr>
            <a:xfrm>
              <a:off x="6461570" y="2636758"/>
              <a:ext cx="276539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English dwarfs the lowest-resource</a:t>
              </a:r>
            </a:p>
          </p:txBody>
        </p:sp>
        <p:sp>
          <p:nvSpPr>
            <p:cNvPr id="20" name="TextBox 20"/>
            <p:cNvSpPr txBox="1"/>
            <p:nvPr/>
          </p:nvSpPr>
          <p:spPr>
            <a:xfrm>
              <a:off x="6461570" y="2846308"/>
              <a:ext cx="74575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language.</a:t>
              </a:r>
            </a:p>
          </p:txBody>
        </p:sp>
        <p:sp>
          <p:nvSpPr>
            <p:cNvPr id="21" name="TextBox 21"/>
            <p:cNvSpPr txBox="1"/>
            <p:nvPr/>
          </p:nvSpPr>
          <p:spPr>
            <a:xfrm>
              <a:off x="6462712" y="3027045"/>
              <a:ext cx="1343948" cy="176212"/>
            </a:xfrm>
            <a:prstGeom prst="rect">
              <a:avLst/>
            </a:prstGeom>
            <a:noFill/>
            <a:ln>
              <a:noFill/>
            </a:ln>
          </p:spPr>
          <p:txBody>
            <a:bodyPr wrap="none" lIns="0" tIns="0" rIns="0" bIns="0" anchor="t" anchorCtr="0">
              <a:spAutoFit/>
            </a:bodyPr>
            <a:lstStyle/>
            <a:p>
              <a:pPr algn="l"/>
              <a:r>
                <a:rPr lang="en-US" sz="900" b="1" dirty="0">
                  <a:solidFill>
                    <a:srgbClr val="63788F"/>
                  </a:solidFill>
                  <a:latin typeface="+mn-lt"/>
                  <a:ea typeface="+mn-ea"/>
                  <a:cs typeface="+mn-cs"/>
                </a:rPr>
                <a:t>mC4 characters (log)</a:t>
              </a:r>
            </a:p>
          </p:txBody>
        </p:sp>
        <p:sp>
          <p:nvSpPr>
            <p:cNvPr id="22" name="TextBox 22"/>
            <p:cNvSpPr txBox="1"/>
            <p:nvPr/>
          </p:nvSpPr>
          <p:spPr>
            <a:xfrm>
              <a:off x="6461760" y="3183731"/>
              <a:ext cx="546067"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English</a:t>
              </a:r>
            </a:p>
          </p:txBody>
        </p:sp>
        <p:sp>
          <p:nvSpPr>
            <p:cNvPr id="23" name="Rectangle 23"/>
            <p:cNvSpPr/>
            <p:nvPr/>
          </p:nvSpPr>
          <p:spPr>
            <a:xfrm>
              <a:off x="7686675" y="3181350"/>
              <a:ext cx="3076575" cy="152400"/>
            </a:xfrm>
            <a:prstGeom prst="roundRect">
              <a:avLst>
                <a:gd name="adj" fmla="val 50000"/>
              </a:avLst>
            </a:prstGeom>
            <a:solidFill>
              <a:srgbClr val="22304A"/>
            </a:solidFill>
            <a:ln>
              <a:noFill/>
            </a:ln>
          </p:spPr>
        </p:sp>
        <p:sp>
          <p:nvSpPr>
            <p:cNvPr id="24" name="Rectangle 24"/>
            <p:cNvSpPr/>
            <p:nvPr/>
          </p:nvSpPr>
          <p:spPr>
            <a:xfrm>
              <a:off x="7686675" y="3181350"/>
              <a:ext cx="2984182" cy="152400"/>
            </a:xfrm>
            <a:prstGeom prst="roundRect">
              <a:avLst>
                <a:gd name="adj" fmla="val 50000"/>
              </a:avLst>
            </a:prstGeom>
            <a:solidFill>
              <a:schemeClr val="accent1"/>
            </a:solidFill>
            <a:ln>
              <a:noFill/>
            </a:ln>
          </p:spPr>
        </p:sp>
        <p:sp>
          <p:nvSpPr>
            <p:cNvPr id="25" name="TextBox 25"/>
            <p:cNvSpPr txBox="1"/>
            <p:nvPr/>
          </p:nvSpPr>
          <p:spPr>
            <a:xfrm>
              <a:off x="10760107" y="3175635"/>
              <a:ext cx="19877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97</a:t>
              </a:r>
            </a:p>
          </p:txBody>
        </p:sp>
        <p:sp>
          <p:nvSpPr>
            <p:cNvPr id="26" name="TextBox 26"/>
            <p:cNvSpPr txBox="1"/>
            <p:nvPr/>
          </p:nvSpPr>
          <p:spPr>
            <a:xfrm>
              <a:off x="6461760" y="3450431"/>
              <a:ext cx="538792"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Yoruba</a:t>
              </a:r>
            </a:p>
          </p:txBody>
        </p:sp>
        <p:sp>
          <p:nvSpPr>
            <p:cNvPr id="27" name="Rectangle 27"/>
            <p:cNvSpPr/>
            <p:nvPr/>
          </p:nvSpPr>
          <p:spPr>
            <a:xfrm>
              <a:off x="7686675" y="3448050"/>
              <a:ext cx="3076575" cy="152400"/>
            </a:xfrm>
            <a:prstGeom prst="roundRect">
              <a:avLst>
                <a:gd name="adj" fmla="val 50000"/>
              </a:avLst>
            </a:prstGeom>
            <a:solidFill>
              <a:srgbClr val="22304A"/>
            </a:solidFill>
            <a:ln>
              <a:noFill/>
            </a:ln>
          </p:spPr>
        </p:sp>
        <p:sp>
          <p:nvSpPr>
            <p:cNvPr id="28" name="Rectangle 28"/>
            <p:cNvSpPr/>
            <p:nvPr/>
          </p:nvSpPr>
          <p:spPr>
            <a:xfrm>
              <a:off x="7686675" y="3448050"/>
              <a:ext cx="92392" cy="152400"/>
            </a:xfrm>
            <a:prstGeom prst="roundRect">
              <a:avLst>
                <a:gd name="adj" fmla="val 50000"/>
              </a:avLst>
            </a:prstGeom>
            <a:solidFill>
              <a:srgbClr val="F87171"/>
            </a:solidFill>
            <a:ln>
              <a:noFill/>
            </a:ln>
          </p:spPr>
        </p:sp>
        <p:sp>
          <p:nvSpPr>
            <p:cNvPr id="29" name="TextBox 29"/>
            <p:cNvSpPr txBox="1"/>
            <p:nvPr/>
          </p:nvSpPr>
          <p:spPr>
            <a:xfrm>
              <a:off x="7868126" y="3442335"/>
              <a:ext cx="10548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3</a:t>
              </a:r>
            </a:p>
          </p:txBody>
        </p:sp>
      </p:grpSp>
      <p:grpSp>
        <p:nvGrpSpPr>
          <p:cNvPr id="36" name="Group 36"/>
          <p:cNvGrpSpPr/>
          <p:nvPr/>
        </p:nvGrpSpPr>
        <p:grpSpPr>
          <a:xfrm>
            <a:off x="609600" y="4095750"/>
            <a:ext cx="5362575" cy="2419350"/>
            <a:chOff x="609600" y="4095750"/>
            <a:chExt cx="5362575" cy="2419350"/>
          </a:xfrm>
        </p:grpSpPr>
        <p:sp>
          <p:nvSpPr>
            <p:cNvPr id="31" name="Rectangle 31"/>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32" name="Rectangle 32"/>
            <p:cNvSpPr/>
            <p:nvPr/>
          </p:nvSpPr>
          <p:spPr>
            <a:xfrm>
              <a:off x="609600" y="4267200"/>
              <a:ext cx="47625" cy="2076450"/>
            </a:xfrm>
            <a:prstGeom prst="roundRect">
              <a:avLst>
                <a:gd name="adj" fmla="val 50000"/>
              </a:avLst>
            </a:prstGeom>
            <a:solidFill>
              <a:srgbClr val="FBBF24"/>
            </a:solidFill>
            <a:ln>
              <a:noFill/>
            </a:ln>
          </p:spPr>
        </p:sp>
        <p:sp>
          <p:nvSpPr>
            <p:cNvPr id="33" name="TextBox 33"/>
            <p:cNvSpPr txBox="1"/>
            <p:nvPr/>
          </p:nvSpPr>
          <p:spPr>
            <a:xfrm>
              <a:off x="852297" y="4371499"/>
              <a:ext cx="1733812"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TRAIN ON RAW DATA?</a:t>
              </a:r>
            </a:p>
          </p:txBody>
        </p:sp>
        <p:sp>
          <p:nvSpPr>
            <p:cNvPr id="34" name="TextBox 34"/>
            <p:cNvSpPr txBox="1"/>
            <p:nvPr/>
          </p:nvSpPr>
          <p:spPr>
            <a:xfrm>
              <a:off x="851344" y="4675108"/>
              <a:ext cx="308560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Sample in proportion to raw size and the</a:t>
              </a:r>
            </a:p>
          </p:txBody>
        </p:sp>
        <p:sp>
          <p:nvSpPr>
            <p:cNvPr id="35" name="TextBox 35"/>
            <p:cNvSpPr txBox="1"/>
            <p:nvPr/>
          </p:nvSpPr>
          <p:spPr>
            <a:xfrm>
              <a:off x="851344" y="4884658"/>
              <a:ext cx="280706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tail languages barely register at all.</a:t>
              </a:r>
            </a:p>
          </p:txBody>
        </p:sp>
      </p:grpSp>
      <p:grpSp>
        <p:nvGrpSpPr>
          <p:cNvPr id="43" name="Group 43"/>
          <p:cNvGrpSpPr/>
          <p:nvPr/>
        </p:nvGrpSpPr>
        <p:grpSpPr>
          <a:xfrm>
            <a:off x="6219825" y="4095750"/>
            <a:ext cx="5362575" cy="2419350"/>
            <a:chOff x="6219825" y="4095750"/>
            <a:chExt cx="5362575" cy="2419350"/>
          </a:xfrm>
        </p:grpSpPr>
        <p:sp>
          <p:nvSpPr>
            <p:cNvPr id="37" name="Rectangle 37"/>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8" name="Rectangle 38"/>
            <p:cNvSpPr/>
            <p:nvPr/>
          </p:nvSpPr>
          <p:spPr>
            <a:xfrm>
              <a:off x="6219825" y="4267200"/>
              <a:ext cx="47625" cy="2076450"/>
            </a:xfrm>
            <a:prstGeom prst="roundRect">
              <a:avLst>
                <a:gd name="adj" fmla="val 50000"/>
              </a:avLst>
            </a:prstGeom>
            <a:solidFill>
              <a:schemeClr val="accent1"/>
            </a:solidFill>
            <a:ln>
              <a:noFill/>
            </a:ln>
          </p:spPr>
        </p:sp>
        <p:sp>
          <p:nvSpPr>
            <p:cNvPr id="39" name="TextBox 39"/>
            <p:cNvSpPr txBox="1"/>
            <p:nvPr/>
          </p:nvSpPr>
          <p:spPr>
            <a:xfrm>
              <a:off x="6462522" y="4371499"/>
              <a:ext cx="1537457"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OPEN &amp; EXPENSIVE</a:t>
              </a:r>
            </a:p>
          </p:txBody>
        </p:sp>
        <p:sp>
          <p:nvSpPr>
            <p:cNvPr id="40" name="TextBox 40"/>
            <p:cNvSpPr txBox="1"/>
            <p:nvPr/>
          </p:nvSpPr>
          <p:spPr>
            <a:xfrm>
              <a:off x="6461570" y="4675108"/>
              <a:ext cx="306198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Balancing languages is unsolved, and the</a:t>
              </a:r>
            </a:p>
          </p:txBody>
        </p:sp>
        <p:sp>
          <p:nvSpPr>
            <p:cNvPr id="41" name="TextBox 41"/>
            <p:cNvSpPr txBox="1"/>
            <p:nvPr/>
          </p:nvSpPr>
          <p:spPr>
            <a:xfrm>
              <a:off x="6461570" y="4884658"/>
              <a:ext cx="305691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default fix, temperature sampling, was</a:t>
              </a:r>
            </a:p>
          </p:txBody>
        </p:sp>
        <p:sp>
          <p:nvSpPr>
            <p:cNvPr id="42" name="TextBox 42"/>
            <p:cNvSpPr txBox="1"/>
            <p:nvPr/>
          </p:nvSpPr>
          <p:spPr>
            <a:xfrm>
              <a:off x="6461570" y="5094208"/>
              <a:ext cx="217461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never tested across scales.</a:t>
              </a:r>
            </a:p>
          </p:txBody>
        </p:sp>
      </p:grpSp>
      <p:sp>
        <p:nvSpPr>
          <p:cNvPr id="44" name="cue_s02_c1_why_does_language_sampling_matter" title="cue_s02_c1_why_does_language_sampling_matter" descr="cue_s02_c1_why_does_language_sampling_matter So why does language sampling matter so much? Massively multilingual corpora are wildly imbalanced."/>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2_mc4_dataset_english_alone_about" title="cue_s02_c2_mc4_dataset_english_alone_about" descr="cue_s02_c2_mc4_dataset_english_alone_about In the mC4 dataset, English alone has about nine point seven trillion characters, more than ninety-two thousand times the data available for the lowest-resource language, Yoruba."/>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3_you_train_proportion_raw_tail" title="cue_s02_c3_you_train_proportion_raw_tail" descr="cue_s02_c3_you_train_proportion_raw_tail If you train in proportion to the raw data, the tail languages barely register at all."/>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4_deciding_how_balance_them_open" title="cue_s02_c4_deciding_how_balance_them_open" descr="cue_s02_c4_deciding_how_balance_them_open Deciding how to balance them is an open and expensive question, and the field's default answer, temperature-based sampling, had never actually been evaluated systematically across model scales."/>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188836"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MOTIVATION</a:t>
            </a:r>
          </a:p>
        </p:txBody>
      </p:sp>
      <p:sp>
        <p:nvSpPr>
          <p:cNvPr id="5" name="TextBox 5"/>
          <p:cNvSpPr txBox="1"/>
          <p:nvPr/>
        </p:nvSpPr>
        <p:spPr>
          <a:xfrm>
            <a:off x="596646" y="715328"/>
            <a:ext cx="778733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Temperature sampling over-repeats the tail</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03 / 10</a:t>
            </a:r>
          </a:p>
        </p:txBody>
      </p:sp>
      <p:grpSp>
        <p:nvGrpSpPr>
          <p:cNvPr id="13" name="Group 13"/>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2010668"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TEMPERATURE SAMPLING</a:t>
              </a:r>
            </a:p>
          </p:txBody>
        </p:sp>
        <p:sp>
          <p:nvSpPr>
            <p:cNvPr id="10" name="TextBox 10"/>
            <p:cNvSpPr txBox="1"/>
            <p:nvPr/>
          </p:nvSpPr>
          <p:spPr>
            <a:xfrm>
              <a:off x="851344" y="2008108"/>
              <a:ext cx="269516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Reshapes the data mix with a single</a:t>
              </a:r>
            </a:p>
          </p:txBody>
        </p:sp>
        <p:sp>
          <p:nvSpPr>
            <p:cNvPr id="11" name="TextBox 11"/>
            <p:cNvSpPr txBox="1"/>
            <p:nvPr/>
          </p:nvSpPr>
          <p:spPr>
            <a:xfrm>
              <a:off x="851344" y="2217658"/>
              <a:ext cx="287530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exponent, tau. Simple, but there is a</a:t>
              </a:r>
            </a:p>
          </p:txBody>
        </p:sp>
        <p:sp>
          <p:nvSpPr>
            <p:cNvPr id="12" name="TextBox 12"/>
            <p:cNvSpPr txBox="1"/>
            <p:nvPr/>
          </p:nvSpPr>
          <p:spPr>
            <a:xfrm>
              <a:off x="851344" y="2427208"/>
              <a:ext cx="52713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catch.</a:t>
              </a:r>
            </a:p>
          </p:txBody>
        </p:sp>
      </p:grpSp>
      <p:grpSp>
        <p:nvGrpSpPr>
          <p:cNvPr id="19" name="Group 19"/>
          <p:cNvGrpSpPr/>
          <p:nvPr/>
        </p:nvGrpSpPr>
        <p:grpSpPr>
          <a:xfrm>
            <a:off x="6219825" y="1428750"/>
            <a:ext cx="5362575" cy="2419350"/>
            <a:chOff x="6219825" y="1428750"/>
            <a:chExt cx="5362575" cy="2419350"/>
          </a:xfrm>
        </p:grpSpPr>
        <p:sp>
          <p:nvSpPr>
            <p:cNvPr id="14" name="Rectangle 14"/>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5" name="Rectangle 15"/>
            <p:cNvSpPr/>
            <p:nvPr/>
          </p:nvSpPr>
          <p:spPr>
            <a:xfrm>
              <a:off x="6219825" y="1600200"/>
              <a:ext cx="47625" cy="2076450"/>
            </a:xfrm>
            <a:prstGeom prst="roundRect">
              <a:avLst>
                <a:gd name="adj" fmla="val 50000"/>
              </a:avLst>
            </a:prstGeom>
            <a:solidFill>
              <a:srgbClr val="FBBF24"/>
            </a:solidFill>
            <a:ln>
              <a:noFill/>
            </a:ln>
          </p:spPr>
        </p:sp>
        <p:sp>
          <p:nvSpPr>
            <p:cNvPr id="16" name="TextBox 16"/>
            <p:cNvSpPr txBox="1"/>
            <p:nvPr/>
          </p:nvSpPr>
          <p:spPr>
            <a:xfrm>
              <a:off x="6462522" y="1704499"/>
              <a:ext cx="1878940"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TUNE HEAD, HURT TAIL</a:t>
              </a:r>
            </a:p>
          </p:txBody>
        </p:sp>
        <p:sp>
          <p:nvSpPr>
            <p:cNvPr id="17" name="TextBox 17"/>
            <p:cNvSpPr txBox="1"/>
            <p:nvPr/>
          </p:nvSpPr>
          <p:spPr>
            <a:xfrm>
              <a:off x="6461570" y="2008108"/>
              <a:ext cx="31791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Boosting the head languages forces heavy</a:t>
              </a:r>
            </a:p>
          </p:txBody>
        </p:sp>
        <p:sp>
          <p:nvSpPr>
            <p:cNvPr id="18" name="TextBox 18"/>
            <p:cNvSpPr txBox="1"/>
            <p:nvPr/>
          </p:nvSpPr>
          <p:spPr>
            <a:xfrm>
              <a:off x="6461570" y="2217658"/>
              <a:ext cx="249474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over-repetition of the long tail.</a:t>
              </a:r>
            </a:p>
          </p:txBody>
        </p:sp>
      </p:grpSp>
      <p:grpSp>
        <p:nvGrpSpPr>
          <p:cNvPr id="27" name="Group 27"/>
          <p:cNvGrpSpPr/>
          <p:nvPr/>
        </p:nvGrpSpPr>
        <p:grpSpPr>
          <a:xfrm>
            <a:off x="609600" y="4095750"/>
            <a:ext cx="5362575" cy="2419350"/>
            <a:chOff x="609600" y="4095750"/>
            <a:chExt cx="5362575" cy="2419350"/>
          </a:xfrm>
        </p:grpSpPr>
        <p:sp>
          <p:nvSpPr>
            <p:cNvPr id="20" name="Rectangle 20"/>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21" name="Rectangle 21"/>
            <p:cNvSpPr/>
            <p:nvPr/>
          </p:nvSpPr>
          <p:spPr>
            <a:xfrm>
              <a:off x="609600" y="4267200"/>
              <a:ext cx="47625" cy="2076450"/>
            </a:xfrm>
            <a:prstGeom prst="roundRect">
              <a:avLst>
                <a:gd name="adj" fmla="val 50000"/>
              </a:avLst>
            </a:prstGeom>
            <a:solidFill>
              <a:srgbClr val="F87171"/>
            </a:solidFill>
            <a:ln>
              <a:noFill/>
            </a:ln>
          </p:spPr>
        </p:sp>
        <p:sp>
          <p:nvSpPr>
            <p:cNvPr id="22" name="TextBox 22"/>
            <p:cNvSpPr txBox="1"/>
            <p:nvPr/>
          </p:nvSpPr>
          <p:spPr>
            <a:xfrm>
              <a:off x="852297" y="4371499"/>
              <a:ext cx="2074682"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TAIL REPEATS AT τ=3.33</a:t>
              </a:r>
            </a:p>
          </p:txBody>
        </p:sp>
        <p:sp>
          <p:nvSpPr>
            <p:cNvPr id="23" name="TextBox 23"/>
            <p:cNvSpPr txBox="1"/>
            <p:nvPr/>
          </p:nvSpPr>
          <p:spPr>
            <a:xfrm>
              <a:off x="839724" y="4580572"/>
              <a:ext cx="1376120"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&gt;100×</a:t>
              </a:r>
            </a:p>
          </p:txBody>
        </p:sp>
        <p:sp>
          <p:nvSpPr>
            <p:cNvPr id="24" name="TextBox 24"/>
            <p:cNvSpPr txBox="1"/>
            <p:nvPr/>
          </p:nvSpPr>
          <p:spPr>
            <a:xfrm>
              <a:off x="851916" y="5087302"/>
              <a:ext cx="1693382"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with a 1T-token budget</a:t>
              </a:r>
            </a:p>
          </p:txBody>
        </p:sp>
        <p:sp>
          <p:nvSpPr>
            <p:cNvPr id="25" name="TextBox 25"/>
            <p:cNvSpPr txBox="1"/>
            <p:nvPr/>
          </p:nvSpPr>
          <p:spPr>
            <a:xfrm>
              <a:off x="851344" y="5303758"/>
              <a:ext cx="307778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lowest-resource languages are seen</a:t>
              </a:r>
            </a:p>
          </p:txBody>
        </p:sp>
        <p:sp>
          <p:nvSpPr>
            <p:cNvPr id="26" name="TextBox 26"/>
            <p:cNvSpPr txBox="1"/>
            <p:nvPr/>
          </p:nvSpPr>
          <p:spPr>
            <a:xfrm>
              <a:off x="851344" y="5513308"/>
              <a:ext cx="169052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over a hundred times.</a:t>
              </a:r>
            </a:p>
          </p:txBody>
        </p:sp>
      </p:grpSp>
      <p:grpSp>
        <p:nvGrpSpPr>
          <p:cNvPr id="34" name="Group 34"/>
          <p:cNvGrpSpPr/>
          <p:nvPr/>
        </p:nvGrpSpPr>
        <p:grpSpPr>
          <a:xfrm>
            <a:off x="6219825" y="4095750"/>
            <a:ext cx="5362575" cy="2419350"/>
            <a:chOff x="6219825" y="4095750"/>
            <a:chExt cx="5362575" cy="2419350"/>
          </a:xfrm>
        </p:grpSpPr>
        <p:sp>
          <p:nvSpPr>
            <p:cNvPr id="28" name="Rectangle 28"/>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29" name="Rectangle 29"/>
            <p:cNvSpPr/>
            <p:nvPr/>
          </p:nvSpPr>
          <p:spPr>
            <a:xfrm>
              <a:off x="6219825" y="4267200"/>
              <a:ext cx="47625" cy="2076450"/>
            </a:xfrm>
            <a:prstGeom prst="roundRect">
              <a:avLst>
                <a:gd name="adj" fmla="val 50000"/>
              </a:avLst>
            </a:prstGeom>
            <a:solidFill>
              <a:srgbClr val="F87171"/>
            </a:solidFill>
            <a:ln>
              <a:noFill/>
            </a:ln>
          </p:spPr>
        </p:sp>
        <p:sp>
          <p:nvSpPr>
            <p:cNvPr id="30" name="TextBox 30"/>
            <p:cNvSpPr txBox="1"/>
            <p:nvPr/>
          </p:nvSpPr>
          <p:spPr>
            <a:xfrm>
              <a:off x="6462522" y="4371499"/>
              <a:ext cx="795946"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THE COST</a:t>
              </a:r>
            </a:p>
          </p:txBody>
        </p:sp>
        <p:sp>
          <p:nvSpPr>
            <p:cNvPr id="31" name="TextBox 31"/>
            <p:cNvSpPr txBox="1"/>
            <p:nvPr/>
          </p:nvSpPr>
          <p:spPr>
            <a:xfrm>
              <a:off x="6461570" y="4675108"/>
              <a:ext cx="278087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Over-repetition drives overfitting,</a:t>
              </a:r>
            </a:p>
          </p:txBody>
        </p:sp>
        <p:sp>
          <p:nvSpPr>
            <p:cNvPr id="32" name="TextBox 32"/>
            <p:cNvSpPr txBox="1"/>
            <p:nvPr/>
          </p:nvSpPr>
          <p:spPr>
            <a:xfrm>
              <a:off x="6461570" y="4884658"/>
              <a:ext cx="304910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memorized private content, and wasted</a:t>
              </a:r>
            </a:p>
          </p:txBody>
        </p:sp>
        <p:sp>
          <p:nvSpPr>
            <p:cNvPr id="33" name="TextBox 33"/>
            <p:cNvSpPr txBox="1"/>
            <p:nvPr/>
          </p:nvSpPr>
          <p:spPr>
            <a:xfrm>
              <a:off x="6461570" y="5094208"/>
              <a:ext cx="220584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compute, all worse at scale.</a:t>
              </a:r>
            </a:p>
          </p:txBody>
        </p:sp>
      </p:grpSp>
      <p:sp>
        <p:nvSpPr>
          <p:cNvPr id="35" name="cue_s03_c1_temperature_sampling_reshapes_distri" title="cue_s03_c1_temperature_sampling_reshapes_distri" descr="cue_s03_c1_temperature_sampling_reshapes_distri Temperature sampling reshapes the data distribution using a single exponent, tau. But there is a catch."/>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3_c2_when_you_tune_tau_give" title="cue_s03_c2_when_you_tune_tau_give" descr="cue_s03_c2_when_you_tune_tau_give When you tune tau to give the head languages more presence, you end up over-repeating the tail."/>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3_c3_tau_equals_three_point_three" title="cue_s03_c3_tau_equals_three_point_three" descr="cue_s03_c3_tau_equals_three_point_three At tau equals three point three three, with a trillion-token budget, the lowest-resource languages get repeated more than a hundred times."/>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4_much_repetition_causes_overfitting_h" title="cue_s03_c4_much_repetition_causes_overfitting_h" descr="cue_s03_c4_much_repetition_causes_overfitting_h That much repetition causes overfitting that hurts downstream tasks, it raises the risk of memorizing private content, and it wastes compute on duplicate examples, and every one of these harms only gets worse as models scale."/>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392865"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CONTRIBUTION</a:t>
            </a:r>
          </a:p>
        </p:txBody>
      </p:sp>
      <p:sp>
        <p:nvSpPr>
          <p:cNvPr id="5" name="TextBox 5"/>
          <p:cNvSpPr txBox="1"/>
          <p:nvPr/>
        </p:nvSpPr>
        <p:spPr>
          <a:xfrm>
            <a:off x="596646" y="715328"/>
            <a:ext cx="333496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Four contributions</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04 / 10</a:t>
            </a:r>
          </a:p>
        </p:txBody>
      </p:sp>
      <p:grpSp>
        <p:nvGrpSpPr>
          <p:cNvPr id="14" name="Group 14"/>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Ellipse 9"/>
            <p:cNvSpPr/>
            <p:nvPr/>
          </p:nvSpPr>
          <p:spPr>
            <a:xfrm>
              <a:off x="819150" y="1638300"/>
              <a:ext cx="381000" cy="381000"/>
            </a:xfrm>
            <a:prstGeom prst="ellipse">
              <a:avLst/>
            </a:prstGeom>
            <a:noFill/>
            <a:ln w="19050">
              <a:solidFill>
                <a:schemeClr val="accent1"/>
              </a:solidFill>
            </a:ln>
          </p:spPr>
        </p:sp>
        <p:sp>
          <p:nvSpPr>
            <p:cNvPr id="10" name="TextBox 10"/>
            <p:cNvSpPr txBox="1"/>
            <p:nvPr/>
          </p:nvSpPr>
          <p:spPr>
            <a:xfrm>
              <a:off x="937130"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a:t>
              </a:r>
            </a:p>
          </p:txBody>
        </p:sp>
        <p:sp>
          <p:nvSpPr>
            <p:cNvPr id="11" name="TextBox 11"/>
            <p:cNvSpPr txBox="1"/>
            <p:nvPr/>
          </p:nvSpPr>
          <p:spPr>
            <a:xfrm>
              <a:off x="1347597" y="1666399"/>
              <a:ext cx="102889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METHOD</a:t>
              </a:r>
            </a:p>
          </p:txBody>
        </p:sp>
        <p:sp>
          <p:nvSpPr>
            <p:cNvPr id="12" name="TextBox 12"/>
            <p:cNvSpPr txBox="1"/>
            <p:nvPr/>
          </p:nvSpPr>
          <p:spPr>
            <a:xfrm>
              <a:off x="1346644" y="1893808"/>
              <a:ext cx="2910977"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UniMax: allocate the budget uniformly</a:t>
              </a:r>
            </a:p>
          </p:txBody>
        </p:sp>
        <p:sp>
          <p:nvSpPr>
            <p:cNvPr id="13" name="TextBox 13"/>
            <p:cNvSpPr txBox="1"/>
            <p:nvPr/>
          </p:nvSpPr>
          <p:spPr>
            <a:xfrm>
              <a:off x="1346644" y="2112883"/>
              <a:ext cx="277582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while capping per-language repeats.</a:t>
              </a:r>
            </a:p>
          </p:txBody>
        </p:sp>
      </p:grpSp>
      <p:grpSp>
        <p:nvGrpSpPr>
          <p:cNvPr id="22" name="Group 22"/>
          <p:cNvGrpSpPr/>
          <p:nvPr/>
        </p:nvGrpSpPr>
        <p:grpSpPr>
          <a:xfrm>
            <a:off x="6219825" y="1428750"/>
            <a:ext cx="5362575" cy="2419350"/>
            <a:chOff x="6219825" y="1428750"/>
            <a:chExt cx="5362575" cy="2419350"/>
          </a:xfrm>
        </p:grpSpPr>
        <p:sp>
          <p:nvSpPr>
            <p:cNvPr id="15" name="Rectangle 15"/>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6" name="Rectangle 16"/>
            <p:cNvSpPr/>
            <p:nvPr/>
          </p:nvSpPr>
          <p:spPr>
            <a:xfrm>
              <a:off x="6219825" y="1600200"/>
              <a:ext cx="47625" cy="2076450"/>
            </a:xfrm>
            <a:prstGeom prst="roundRect">
              <a:avLst>
                <a:gd name="adj" fmla="val 50000"/>
              </a:avLst>
            </a:prstGeom>
            <a:solidFill>
              <a:schemeClr val="accent2"/>
            </a:solidFill>
            <a:ln>
              <a:noFill/>
            </a:ln>
          </p:spPr>
        </p:sp>
        <p:sp>
          <p:nvSpPr>
            <p:cNvPr id="17" name="Ellipse 17"/>
            <p:cNvSpPr/>
            <p:nvPr/>
          </p:nvSpPr>
          <p:spPr>
            <a:xfrm>
              <a:off x="6429375" y="1638300"/>
              <a:ext cx="381000" cy="381000"/>
            </a:xfrm>
            <a:prstGeom prst="ellipse">
              <a:avLst/>
            </a:prstGeom>
            <a:noFill/>
            <a:ln w="19050">
              <a:solidFill>
                <a:schemeClr val="accent2"/>
              </a:solidFill>
            </a:ln>
          </p:spPr>
        </p:sp>
        <p:sp>
          <p:nvSpPr>
            <p:cNvPr id="18" name="TextBox 18"/>
            <p:cNvSpPr txBox="1"/>
            <p:nvPr/>
          </p:nvSpPr>
          <p:spPr>
            <a:xfrm>
              <a:off x="6547355"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2</a:t>
              </a:r>
            </a:p>
          </p:txBody>
        </p:sp>
        <p:sp>
          <p:nvSpPr>
            <p:cNvPr id="19" name="TextBox 19"/>
            <p:cNvSpPr txBox="1"/>
            <p:nvPr/>
          </p:nvSpPr>
          <p:spPr>
            <a:xfrm>
              <a:off x="6957822" y="1666399"/>
              <a:ext cx="1574048"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SYSTEMATIC STUDY</a:t>
              </a:r>
            </a:p>
          </p:txBody>
        </p:sp>
        <p:sp>
          <p:nvSpPr>
            <p:cNvPr id="20" name="TextBox 20"/>
            <p:cNvSpPr txBox="1"/>
            <p:nvPr/>
          </p:nvSpPr>
          <p:spPr>
            <a:xfrm>
              <a:off x="6956870" y="1893808"/>
              <a:ext cx="231216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Extensive ablation of sampling</a:t>
              </a:r>
            </a:p>
          </p:txBody>
        </p:sp>
        <p:sp>
          <p:nvSpPr>
            <p:cNvPr id="21" name="TextBox 21"/>
            <p:cNvSpPr txBox="1"/>
            <p:nvPr/>
          </p:nvSpPr>
          <p:spPr>
            <a:xfrm>
              <a:off x="6956870" y="2112883"/>
              <a:ext cx="277582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strategies run across model scales.</a:t>
              </a:r>
            </a:p>
          </p:txBody>
        </p:sp>
      </p:grpSp>
      <p:grpSp>
        <p:nvGrpSpPr>
          <p:cNvPr id="30" name="Group 30"/>
          <p:cNvGrpSpPr/>
          <p:nvPr/>
        </p:nvGrpSpPr>
        <p:grpSpPr>
          <a:xfrm>
            <a:off x="609600" y="4095750"/>
            <a:ext cx="5362575" cy="2419350"/>
            <a:chOff x="609600" y="4095750"/>
            <a:chExt cx="5362575" cy="2419350"/>
          </a:xfrm>
        </p:grpSpPr>
        <p:sp>
          <p:nvSpPr>
            <p:cNvPr id="23" name="Rectangle 23"/>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24" name="Rectangle 24"/>
            <p:cNvSpPr/>
            <p:nvPr/>
          </p:nvSpPr>
          <p:spPr>
            <a:xfrm>
              <a:off x="609600" y="4267200"/>
              <a:ext cx="47625" cy="2076450"/>
            </a:xfrm>
            <a:prstGeom prst="roundRect">
              <a:avLst>
                <a:gd name="adj" fmla="val 50000"/>
              </a:avLst>
            </a:prstGeom>
            <a:solidFill>
              <a:srgbClr val="FBBF24"/>
            </a:solidFill>
            <a:ln>
              <a:noFill/>
            </a:ln>
          </p:spPr>
        </p:sp>
        <p:sp>
          <p:nvSpPr>
            <p:cNvPr id="25" name="Ellipse 25"/>
            <p:cNvSpPr/>
            <p:nvPr/>
          </p:nvSpPr>
          <p:spPr>
            <a:xfrm>
              <a:off x="819150" y="4305300"/>
              <a:ext cx="381000" cy="381000"/>
            </a:xfrm>
            <a:prstGeom prst="ellipse">
              <a:avLst/>
            </a:prstGeom>
            <a:noFill/>
            <a:ln w="19050">
              <a:solidFill>
                <a:srgbClr val="FBBF24"/>
              </a:solidFill>
            </a:ln>
          </p:spPr>
        </p:sp>
        <p:sp>
          <p:nvSpPr>
            <p:cNvPr id="26" name="TextBox 26"/>
            <p:cNvSpPr txBox="1"/>
            <p:nvPr/>
          </p:nvSpPr>
          <p:spPr>
            <a:xfrm>
              <a:off x="937130" y="4384358"/>
              <a:ext cx="145040" cy="322707"/>
            </a:xfrm>
            <a:prstGeom prst="rect">
              <a:avLst/>
            </a:prstGeom>
            <a:noFill/>
            <a:ln>
              <a:noFill/>
            </a:ln>
          </p:spPr>
          <p:txBody>
            <a:bodyPr wrap="none" lIns="0" tIns="0" rIns="0" bIns="0" anchor="t" anchorCtr="0">
              <a:spAutoFit/>
            </a:bodyPr>
            <a:lstStyle/>
            <a:p>
              <a:pPr algn="ctr"/>
              <a:r>
                <a:rPr lang="en-US" sz="1650" b="1" dirty="0">
                  <a:solidFill>
                    <a:srgbClr val="FBBF24"/>
                  </a:solidFill>
                  <a:latin typeface="+mn-lt"/>
                  <a:ea typeface="+mn-ea"/>
                  <a:cs typeface="+mn-cs"/>
                </a:rPr>
                <a:t>3</a:t>
              </a:r>
            </a:p>
          </p:txBody>
        </p:sp>
        <p:sp>
          <p:nvSpPr>
            <p:cNvPr id="27" name="TextBox 27"/>
            <p:cNvSpPr txBox="1"/>
            <p:nvPr/>
          </p:nvSpPr>
          <p:spPr>
            <a:xfrm>
              <a:off x="1347597" y="4333399"/>
              <a:ext cx="1610639"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REFRESHED CORPUS</a:t>
              </a:r>
            </a:p>
          </p:txBody>
        </p:sp>
        <p:sp>
          <p:nvSpPr>
            <p:cNvPr id="28" name="TextBox 28"/>
            <p:cNvSpPr txBox="1"/>
            <p:nvPr/>
          </p:nvSpPr>
          <p:spPr>
            <a:xfrm>
              <a:off x="1346644" y="4560808"/>
              <a:ext cx="270160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 new mC4 of 29 trillion characters</a:t>
              </a:r>
            </a:p>
          </p:txBody>
        </p:sp>
        <p:sp>
          <p:nvSpPr>
            <p:cNvPr id="29" name="TextBox 29"/>
            <p:cNvSpPr txBox="1"/>
            <p:nvPr/>
          </p:nvSpPr>
          <p:spPr>
            <a:xfrm>
              <a:off x="1346644" y="4779883"/>
              <a:ext cx="1698330"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across 107 languages.</a:t>
              </a:r>
            </a:p>
          </p:txBody>
        </p:sp>
      </p:grpSp>
      <p:grpSp>
        <p:nvGrpSpPr>
          <p:cNvPr id="38" name="Group 38"/>
          <p:cNvGrpSpPr/>
          <p:nvPr/>
        </p:nvGrpSpPr>
        <p:grpSpPr>
          <a:xfrm>
            <a:off x="6219825" y="4095750"/>
            <a:ext cx="5362575" cy="2419350"/>
            <a:chOff x="6219825" y="4095750"/>
            <a:chExt cx="5362575" cy="2419350"/>
          </a:xfrm>
        </p:grpSpPr>
        <p:sp>
          <p:nvSpPr>
            <p:cNvPr id="31" name="Rectangle 31"/>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2" name="Rectangle 32"/>
            <p:cNvSpPr/>
            <p:nvPr/>
          </p:nvSpPr>
          <p:spPr>
            <a:xfrm>
              <a:off x="6219825" y="4267200"/>
              <a:ext cx="47625" cy="2076450"/>
            </a:xfrm>
            <a:prstGeom prst="roundRect">
              <a:avLst>
                <a:gd name="adj" fmla="val 50000"/>
              </a:avLst>
            </a:prstGeom>
            <a:solidFill>
              <a:schemeClr val="accent1"/>
            </a:solidFill>
            <a:ln>
              <a:noFill/>
            </a:ln>
          </p:spPr>
        </p:sp>
        <p:sp>
          <p:nvSpPr>
            <p:cNvPr id="33" name="Ellipse 33"/>
            <p:cNvSpPr/>
            <p:nvPr/>
          </p:nvSpPr>
          <p:spPr>
            <a:xfrm>
              <a:off x="6429375" y="4305300"/>
              <a:ext cx="381000" cy="381000"/>
            </a:xfrm>
            <a:prstGeom prst="ellipse">
              <a:avLst/>
            </a:prstGeom>
            <a:noFill/>
            <a:ln w="19050">
              <a:solidFill>
                <a:schemeClr val="accent1"/>
              </a:solidFill>
            </a:ln>
          </p:spPr>
        </p:sp>
        <p:sp>
          <p:nvSpPr>
            <p:cNvPr id="34" name="TextBox 34"/>
            <p:cNvSpPr txBox="1"/>
            <p:nvPr/>
          </p:nvSpPr>
          <p:spPr>
            <a:xfrm>
              <a:off x="6547355" y="4384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4</a:t>
              </a:r>
            </a:p>
          </p:txBody>
        </p:sp>
        <p:sp>
          <p:nvSpPr>
            <p:cNvPr id="35" name="TextBox 35"/>
            <p:cNvSpPr txBox="1"/>
            <p:nvPr/>
          </p:nvSpPr>
          <p:spPr>
            <a:xfrm>
              <a:off x="6957822" y="4333399"/>
              <a:ext cx="1603321"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OPEN CHECKPOINTS</a:t>
              </a:r>
            </a:p>
          </p:txBody>
        </p:sp>
        <p:sp>
          <p:nvSpPr>
            <p:cNvPr id="36" name="TextBox 36"/>
            <p:cNvSpPr txBox="1"/>
            <p:nvPr/>
          </p:nvSpPr>
          <p:spPr>
            <a:xfrm>
              <a:off x="6956870" y="4560808"/>
              <a:ext cx="3036023"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Released umT5 checkpoints trained with</a:t>
              </a:r>
            </a:p>
          </p:txBody>
        </p:sp>
        <p:sp>
          <p:nvSpPr>
            <p:cNvPr id="37" name="TextBox 37"/>
            <p:cNvSpPr txBox="1"/>
            <p:nvPr/>
          </p:nvSpPr>
          <p:spPr>
            <a:xfrm>
              <a:off x="6956870" y="4779883"/>
              <a:ext cx="2106797"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UniMax to build on directly.</a:t>
              </a:r>
            </a:p>
          </p:txBody>
        </p:sp>
      </p:grpSp>
      <p:sp>
        <p:nvSpPr>
          <p:cNvPr id="39" name="cue_s04_c1_unimax_makes_four_contributions_firs" title="cue_s04_c1_unimax_makes_four_contributions_firs" descr="cue_s04_c1_unimax_makes_four_contributions_firs UniMax makes four contributions. First, the method itself, which allocates the training budget uniformly while capping how many times any single language repeats."/>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second_extensive_ablation_sampling_s" title="cue_s04_c2_second_extensive_ablation_sampling_s" descr="cue_s04_c2_second_extensive_ablation_sampling_s Second, an extensive ablation of sampling strategies run across model scales, the systematic study the field had been missing."/>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third_refreshed_mc4_corpus_twenty_ni" title="cue_s04_c3_third_refreshed_mc4_corpus_twenty_ni" descr="cue_s04_c3_third_refreshed_mc4_corpus_twenty_ni Third, a refreshed mC4 corpus of twenty-nine trillion characters spanning one hundred seven languages."/>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4_fourth_released_umt5_checkpoints_tra" title="cue_s04_c4_fourth_released_umt5_checkpoints_tra" descr="cue_s04_c4_fourth_released_umt5_checkpoints_tra And fourth, released umT5 checkpoints trained with UniMax, so practitioners can build on this work directly."/>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76405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METHOD</a:t>
            </a:r>
          </a:p>
        </p:txBody>
      </p:sp>
      <p:sp>
        <p:nvSpPr>
          <p:cNvPr id="5" name="TextBox 5"/>
          <p:cNvSpPr txBox="1"/>
          <p:nvPr/>
        </p:nvSpPr>
        <p:spPr>
          <a:xfrm>
            <a:off x="596646" y="715328"/>
            <a:ext cx="780128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UniMax = uniform allocation + max-epoch cap</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05 / 10</a:t>
            </a:r>
          </a:p>
        </p:txBody>
      </p:sp>
      <p:grpSp>
        <p:nvGrpSpPr>
          <p:cNvPr id="15" name="Group 15"/>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Ellipse 9"/>
            <p:cNvSpPr/>
            <p:nvPr/>
          </p:nvSpPr>
          <p:spPr>
            <a:xfrm>
              <a:off x="819150" y="1638300"/>
              <a:ext cx="381000" cy="381000"/>
            </a:xfrm>
            <a:prstGeom prst="ellipse">
              <a:avLst/>
            </a:prstGeom>
            <a:noFill/>
            <a:ln w="19050">
              <a:solidFill>
                <a:schemeClr val="accent1"/>
              </a:solidFill>
            </a:ln>
          </p:spPr>
        </p:sp>
        <p:sp>
          <p:nvSpPr>
            <p:cNvPr id="10" name="TextBox 10"/>
            <p:cNvSpPr txBox="1"/>
            <p:nvPr/>
          </p:nvSpPr>
          <p:spPr>
            <a:xfrm>
              <a:off x="937130"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a:t>
              </a:r>
            </a:p>
          </p:txBody>
        </p:sp>
        <p:sp>
          <p:nvSpPr>
            <p:cNvPr id="11" name="TextBox 11"/>
            <p:cNvSpPr txBox="1"/>
            <p:nvPr/>
          </p:nvSpPr>
          <p:spPr>
            <a:xfrm>
              <a:off x="1347597" y="1666399"/>
              <a:ext cx="1290493"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UNIFORM + MAX</a:t>
              </a:r>
            </a:p>
          </p:txBody>
        </p:sp>
        <p:sp>
          <p:nvSpPr>
            <p:cNvPr id="12" name="TextBox 12"/>
            <p:cNvSpPr txBox="1"/>
            <p:nvPr/>
          </p:nvSpPr>
          <p:spPr>
            <a:xfrm>
              <a:off x="1346644" y="1893808"/>
              <a:ext cx="3044526"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Start from a fixed character budget C;</a:t>
              </a:r>
            </a:p>
          </p:txBody>
        </p:sp>
        <p:sp>
          <p:nvSpPr>
            <p:cNvPr id="13" name="TextBox 13"/>
            <p:cNvSpPr txBox="1"/>
            <p:nvPr/>
          </p:nvSpPr>
          <p:spPr>
            <a:xfrm>
              <a:off x="1346644" y="2112883"/>
              <a:ext cx="265870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spread it as uniformly as possible,</a:t>
              </a:r>
            </a:p>
          </p:txBody>
        </p:sp>
        <p:sp>
          <p:nvSpPr>
            <p:cNvPr id="14" name="TextBox 14"/>
            <p:cNvSpPr txBox="1"/>
            <p:nvPr/>
          </p:nvSpPr>
          <p:spPr>
            <a:xfrm>
              <a:off x="1346644" y="2331958"/>
              <a:ext cx="1651483"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low to high resource.</a:t>
              </a:r>
            </a:p>
          </p:txBody>
        </p:sp>
      </p:grpSp>
      <p:grpSp>
        <p:nvGrpSpPr>
          <p:cNvPr id="23" name="Group 23"/>
          <p:cNvGrpSpPr/>
          <p:nvPr/>
        </p:nvGrpSpPr>
        <p:grpSpPr>
          <a:xfrm>
            <a:off x="6219825" y="1428750"/>
            <a:ext cx="5362575" cy="2419350"/>
            <a:chOff x="6219825" y="1428750"/>
            <a:chExt cx="5362575" cy="2419350"/>
          </a:xfrm>
        </p:grpSpPr>
        <p:sp>
          <p:nvSpPr>
            <p:cNvPr id="16" name="Rectangle 16"/>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7" name="Rectangle 17"/>
            <p:cNvSpPr/>
            <p:nvPr/>
          </p:nvSpPr>
          <p:spPr>
            <a:xfrm>
              <a:off x="6219825" y="1600200"/>
              <a:ext cx="47625" cy="2076450"/>
            </a:xfrm>
            <a:prstGeom prst="roundRect">
              <a:avLst>
                <a:gd name="adj" fmla="val 50000"/>
              </a:avLst>
            </a:prstGeom>
            <a:solidFill>
              <a:schemeClr val="accent1"/>
            </a:solidFill>
            <a:ln>
              <a:noFill/>
            </a:ln>
          </p:spPr>
        </p:sp>
        <p:sp>
          <p:nvSpPr>
            <p:cNvPr id="18" name="Ellipse 18"/>
            <p:cNvSpPr/>
            <p:nvPr/>
          </p:nvSpPr>
          <p:spPr>
            <a:xfrm>
              <a:off x="6429375" y="1638300"/>
              <a:ext cx="381000" cy="381000"/>
            </a:xfrm>
            <a:prstGeom prst="ellipse">
              <a:avLst/>
            </a:prstGeom>
            <a:noFill/>
            <a:ln w="19050">
              <a:solidFill>
                <a:schemeClr val="accent1"/>
              </a:solidFill>
            </a:ln>
          </p:spPr>
        </p:sp>
        <p:sp>
          <p:nvSpPr>
            <p:cNvPr id="19" name="TextBox 19"/>
            <p:cNvSpPr txBox="1"/>
            <p:nvPr/>
          </p:nvSpPr>
          <p:spPr>
            <a:xfrm>
              <a:off x="6547355" y="1717358"/>
              <a:ext cx="14504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a:t>
              </a:r>
            </a:p>
          </p:txBody>
        </p:sp>
        <p:sp>
          <p:nvSpPr>
            <p:cNvPr id="20" name="TextBox 20"/>
            <p:cNvSpPr txBox="1"/>
            <p:nvPr/>
          </p:nvSpPr>
          <p:spPr>
            <a:xfrm>
              <a:off x="6957822" y="1666399"/>
              <a:ext cx="1442938"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CHECK EACH STEP</a:t>
              </a:r>
            </a:p>
          </p:txBody>
        </p:sp>
        <p:sp>
          <p:nvSpPr>
            <p:cNvPr id="21" name="TextBox 21"/>
            <p:cNvSpPr txBox="1"/>
            <p:nvPr/>
          </p:nvSpPr>
          <p:spPr>
            <a:xfrm>
              <a:off x="6956870" y="1893808"/>
              <a:ext cx="273447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At each language, test whether the</a:t>
              </a:r>
            </a:p>
          </p:txBody>
        </p:sp>
        <p:sp>
          <p:nvSpPr>
            <p:cNvPr id="22" name="TextBox 22"/>
            <p:cNvSpPr txBox="1"/>
            <p:nvPr/>
          </p:nvSpPr>
          <p:spPr>
            <a:xfrm>
              <a:off x="6956870" y="2112883"/>
              <a:ext cx="2752405"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remaining budget still splits evenly.</a:t>
              </a:r>
            </a:p>
          </p:txBody>
        </p:sp>
      </p:grpSp>
      <p:grpSp>
        <p:nvGrpSpPr>
          <p:cNvPr id="32" name="Group 32"/>
          <p:cNvGrpSpPr/>
          <p:nvPr/>
        </p:nvGrpSpPr>
        <p:grpSpPr>
          <a:xfrm>
            <a:off x="609600" y="4095750"/>
            <a:ext cx="5362575" cy="2419350"/>
            <a:chOff x="609600" y="4095750"/>
            <a:chExt cx="5362575" cy="2419350"/>
          </a:xfrm>
        </p:grpSpPr>
        <p:sp>
          <p:nvSpPr>
            <p:cNvPr id="24" name="Rectangle 24"/>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25" name="Rectangle 25"/>
            <p:cNvSpPr/>
            <p:nvPr/>
          </p:nvSpPr>
          <p:spPr>
            <a:xfrm>
              <a:off x="609600" y="4267200"/>
              <a:ext cx="47625" cy="2076450"/>
            </a:xfrm>
            <a:prstGeom prst="roundRect">
              <a:avLst>
                <a:gd name="adj" fmla="val 50000"/>
              </a:avLst>
            </a:prstGeom>
            <a:solidFill>
              <a:srgbClr val="FBBF24"/>
            </a:solidFill>
            <a:ln>
              <a:noFill/>
            </a:ln>
          </p:spPr>
        </p:sp>
        <p:sp>
          <p:nvSpPr>
            <p:cNvPr id="26" name="Ellipse 26"/>
            <p:cNvSpPr/>
            <p:nvPr/>
          </p:nvSpPr>
          <p:spPr>
            <a:xfrm>
              <a:off x="819150" y="4305300"/>
              <a:ext cx="381000" cy="381000"/>
            </a:xfrm>
            <a:prstGeom prst="ellipse">
              <a:avLst/>
            </a:prstGeom>
            <a:noFill/>
            <a:ln w="19050">
              <a:solidFill>
                <a:srgbClr val="FBBF24"/>
              </a:solidFill>
            </a:ln>
          </p:spPr>
        </p:sp>
        <p:sp>
          <p:nvSpPr>
            <p:cNvPr id="27" name="TextBox 27"/>
            <p:cNvSpPr txBox="1"/>
            <p:nvPr/>
          </p:nvSpPr>
          <p:spPr>
            <a:xfrm>
              <a:off x="937130" y="4384358"/>
              <a:ext cx="145040" cy="322707"/>
            </a:xfrm>
            <a:prstGeom prst="rect">
              <a:avLst/>
            </a:prstGeom>
            <a:noFill/>
            <a:ln>
              <a:noFill/>
            </a:ln>
          </p:spPr>
          <p:txBody>
            <a:bodyPr wrap="none" lIns="0" tIns="0" rIns="0" bIns="0" anchor="t" anchorCtr="0">
              <a:spAutoFit/>
            </a:bodyPr>
            <a:lstStyle/>
            <a:p>
              <a:pPr algn="ctr"/>
              <a:r>
                <a:rPr lang="en-US" sz="1650" b="1" dirty="0">
                  <a:solidFill>
                    <a:srgbClr val="FBBF24"/>
                  </a:solidFill>
                  <a:latin typeface="+mn-lt"/>
                  <a:ea typeface="+mn-ea"/>
                  <a:cs typeface="+mn-cs"/>
                </a:rPr>
                <a:t>3</a:t>
              </a:r>
            </a:p>
          </p:txBody>
        </p:sp>
        <p:sp>
          <p:nvSpPr>
            <p:cNvPr id="28" name="TextBox 28"/>
            <p:cNvSpPr txBox="1"/>
            <p:nvPr/>
          </p:nvSpPr>
          <p:spPr>
            <a:xfrm>
              <a:off x="1347597" y="4333399"/>
              <a:ext cx="1435620"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CAP AT N EPOCHS</a:t>
              </a:r>
            </a:p>
          </p:txBody>
        </p:sp>
        <p:sp>
          <p:nvSpPr>
            <p:cNvPr id="29" name="TextBox 29"/>
            <p:cNvSpPr txBox="1"/>
            <p:nvPr/>
          </p:nvSpPr>
          <p:spPr>
            <a:xfrm>
              <a:off x="1346644" y="4560808"/>
              <a:ext cx="2794457"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If a language would exceed N epochs,</a:t>
              </a:r>
            </a:p>
          </p:txBody>
        </p:sp>
        <p:sp>
          <p:nvSpPr>
            <p:cNvPr id="30" name="TextBox 30"/>
            <p:cNvSpPr txBox="1"/>
            <p:nvPr/>
          </p:nvSpPr>
          <p:spPr>
            <a:xfrm>
              <a:off x="1346644" y="4779883"/>
              <a:ext cx="253378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cap it and redistribute the freed</a:t>
              </a:r>
            </a:p>
          </p:txBody>
        </p:sp>
        <p:sp>
          <p:nvSpPr>
            <p:cNvPr id="31" name="TextBox 31"/>
            <p:cNvSpPr txBox="1"/>
            <p:nvPr/>
          </p:nvSpPr>
          <p:spPr>
            <a:xfrm>
              <a:off x="1346644" y="4998958"/>
              <a:ext cx="138601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budget uniformly.</a:t>
              </a:r>
            </a:p>
          </p:txBody>
        </p:sp>
      </p:grpSp>
      <p:grpSp>
        <p:nvGrpSpPr>
          <p:cNvPr id="41" name="Group 41"/>
          <p:cNvGrpSpPr/>
          <p:nvPr/>
        </p:nvGrpSpPr>
        <p:grpSpPr>
          <a:xfrm>
            <a:off x="6219825" y="4095750"/>
            <a:ext cx="5362575" cy="2419350"/>
            <a:chOff x="6219825" y="4095750"/>
            <a:chExt cx="5362575" cy="2419350"/>
          </a:xfrm>
        </p:grpSpPr>
        <p:sp>
          <p:nvSpPr>
            <p:cNvPr id="33" name="Rectangle 33"/>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4" name="Rectangle 34"/>
            <p:cNvSpPr/>
            <p:nvPr/>
          </p:nvSpPr>
          <p:spPr>
            <a:xfrm>
              <a:off x="6219825" y="4267200"/>
              <a:ext cx="47625" cy="2076450"/>
            </a:xfrm>
            <a:prstGeom prst="roundRect">
              <a:avLst>
                <a:gd name="adj" fmla="val 50000"/>
              </a:avLst>
            </a:prstGeom>
            <a:solidFill>
              <a:schemeClr val="accent2"/>
            </a:solidFill>
            <a:ln>
              <a:noFill/>
            </a:ln>
          </p:spPr>
        </p:sp>
        <p:sp>
          <p:nvSpPr>
            <p:cNvPr id="35" name="Ellipse 35"/>
            <p:cNvSpPr/>
            <p:nvPr/>
          </p:nvSpPr>
          <p:spPr>
            <a:xfrm>
              <a:off x="6429375" y="4305300"/>
              <a:ext cx="381000" cy="381000"/>
            </a:xfrm>
            <a:prstGeom prst="ellipse">
              <a:avLst/>
            </a:prstGeom>
            <a:noFill/>
            <a:ln w="19050">
              <a:solidFill>
                <a:schemeClr val="accent2"/>
              </a:solidFill>
            </a:ln>
          </p:spPr>
        </p:sp>
        <p:sp>
          <p:nvSpPr>
            <p:cNvPr id="36" name="TextBox 36"/>
            <p:cNvSpPr txBox="1"/>
            <p:nvPr/>
          </p:nvSpPr>
          <p:spPr>
            <a:xfrm>
              <a:off x="6547355" y="4384358"/>
              <a:ext cx="145040"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4</a:t>
              </a:r>
            </a:p>
          </p:txBody>
        </p:sp>
        <p:sp>
          <p:nvSpPr>
            <p:cNvPr id="37" name="TextBox 37"/>
            <p:cNvSpPr txBox="1"/>
            <p:nvPr/>
          </p:nvSpPr>
          <p:spPr>
            <a:xfrm>
              <a:off x="6957822" y="4333399"/>
              <a:ext cx="97034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RESULT</a:t>
              </a:r>
            </a:p>
          </p:txBody>
        </p:sp>
        <p:sp>
          <p:nvSpPr>
            <p:cNvPr id="38" name="TextBox 38"/>
            <p:cNvSpPr txBox="1"/>
            <p:nvPr/>
          </p:nvSpPr>
          <p:spPr>
            <a:xfrm>
              <a:off x="6956870" y="4560808"/>
              <a:ext cx="2773401"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More uniform head coverage; no tail</a:t>
              </a:r>
            </a:p>
          </p:txBody>
        </p:sp>
        <p:sp>
          <p:nvSpPr>
            <p:cNvPr id="39" name="TextBox 39"/>
            <p:cNvSpPr txBox="1"/>
            <p:nvPr/>
          </p:nvSpPr>
          <p:spPr>
            <a:xfrm>
              <a:off x="6956870" y="4779883"/>
              <a:ext cx="2701602"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repeated over N times (default N=1</a:t>
              </a:r>
            </a:p>
          </p:txBody>
        </p:sp>
        <p:sp>
          <p:nvSpPr>
            <p:cNvPr id="40" name="TextBox 40"/>
            <p:cNvSpPr txBox="1"/>
            <p:nvPr/>
          </p:nvSpPr>
          <p:spPr>
            <a:xfrm>
              <a:off x="6956870" y="4998958"/>
              <a:ext cx="1510939"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means no repeats).</a:t>
              </a:r>
            </a:p>
          </p:txBody>
        </p:sp>
      </p:grpSp>
      <p:sp>
        <p:nvSpPr>
          <p:cNvPr id="42" name="cue_s05_c1_how_unimax_works_name_means" title="cue_s05_c1_how_unimax_works_name_means" descr="cue_s05_c1_how_unimax_works_name_means Here is how UniMax works. The name means uniform plus max. You start from a fixed character budget, C, and distribute it as uniformly as possible across the languages, processing them from lowest to highest resource."/>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2_step_algorithm_checks_whether_remain" title="cue_s05_c2_step_algorithm_checks_whether_remain" descr="cue_s05_c2_step_algorithm_checks_whether_remain At each step, the algorithm checks whether the remaining per-language budget can still be split evenly."/>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3_language_would_exceed_epochs_over" title="cue_s05_c3_language_would_exceed_epochs_over" descr="cue_s05_c3_language_would_exceed_epochs_over If a language would exceed N epochs over its own corpus, it is capped at N epochs, and the freed budget is redistributed uniformly among the languages that remain."/>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5_c4_result_more_uniform_coverage_head" title="cue_s05_c4_result_more_uniform_coverage_head" descr="cue_s05_c4_result_more_uniform_coverage_head The result is more uniform coverage of the head languages, while no tail language is ever repeated more than N times. With the default of N equals one, nothing repeats at all."/>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2428088"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DATASET AND BENCHMARK</a:t>
            </a:r>
          </a:p>
        </p:txBody>
      </p:sp>
      <p:sp>
        <p:nvSpPr>
          <p:cNvPr id="5" name="TextBox 5"/>
          <p:cNvSpPr txBox="1"/>
          <p:nvPr/>
        </p:nvSpPr>
        <p:spPr>
          <a:xfrm>
            <a:off x="596646" y="715328"/>
            <a:ext cx="740500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Refreshed mC4 + a broad evaluation sweep</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06 / 10</a:t>
            </a:r>
          </a:p>
        </p:txBody>
      </p:sp>
      <p:grpSp>
        <p:nvGrpSpPr>
          <p:cNvPr id="14" name="Group 14"/>
          <p:cNvGrpSpPr/>
          <p:nvPr/>
        </p:nvGrpSpPr>
        <p:grpSpPr>
          <a:xfrm>
            <a:off x="609600" y="1428750"/>
            <a:ext cx="3492500" cy="5086350"/>
            <a:chOff x="609600" y="1428750"/>
            <a:chExt cx="3492500" cy="5086350"/>
          </a:xfrm>
        </p:grpSpPr>
        <p:sp>
          <p:nvSpPr>
            <p:cNvPr id="7" name="Rectangle 7"/>
            <p:cNvSpPr/>
            <p:nvPr/>
          </p:nvSpPr>
          <p:spPr>
            <a:xfrm>
              <a:off x="609600" y="1428750"/>
              <a:ext cx="3492500" cy="5086350"/>
            </a:xfrm>
            <a:prstGeom prst="roundRect">
              <a:avLst>
                <a:gd name="adj" fmla="val 4364"/>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rgbClr val="FBBF24"/>
            </a:solidFill>
            <a:ln>
              <a:noFill/>
            </a:ln>
          </p:spPr>
        </p:sp>
        <p:sp>
          <p:nvSpPr>
            <p:cNvPr id="9" name="TextBox 9"/>
            <p:cNvSpPr txBox="1"/>
            <p:nvPr/>
          </p:nvSpPr>
          <p:spPr>
            <a:xfrm>
              <a:off x="852297" y="1704499"/>
              <a:ext cx="1741130"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PRETRAINING CORPUS</a:t>
              </a:r>
            </a:p>
          </p:txBody>
        </p:sp>
        <p:sp>
          <p:nvSpPr>
            <p:cNvPr id="10" name="TextBox 10"/>
            <p:cNvSpPr txBox="1"/>
            <p:nvPr/>
          </p:nvSpPr>
          <p:spPr>
            <a:xfrm>
              <a:off x="839724" y="1913572"/>
              <a:ext cx="885238"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29T</a:t>
              </a:r>
            </a:p>
          </p:txBody>
        </p:sp>
        <p:sp>
          <p:nvSpPr>
            <p:cNvPr id="11" name="TextBox 11"/>
            <p:cNvSpPr txBox="1"/>
            <p:nvPr/>
          </p:nvSpPr>
          <p:spPr>
            <a:xfrm>
              <a:off x="851916" y="2420302"/>
              <a:ext cx="198463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characters · 107 languages</a:t>
              </a:r>
            </a:p>
          </p:txBody>
        </p:sp>
        <p:sp>
          <p:nvSpPr>
            <p:cNvPr id="12" name="TextBox 12"/>
            <p:cNvSpPr txBox="1"/>
            <p:nvPr/>
          </p:nvSpPr>
          <p:spPr>
            <a:xfrm>
              <a:off x="851344" y="2636758"/>
              <a:ext cx="213132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refreshed mC4 used for</a:t>
              </a:r>
            </a:p>
          </p:txBody>
        </p:sp>
        <p:sp>
          <p:nvSpPr>
            <p:cNvPr id="13" name="TextBox 13"/>
            <p:cNvSpPr txBox="1"/>
            <p:nvPr/>
          </p:nvSpPr>
          <p:spPr>
            <a:xfrm>
              <a:off x="851344" y="2846308"/>
              <a:ext cx="96438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pretraining.</a:t>
              </a:r>
            </a:p>
          </p:txBody>
        </p:sp>
      </p:grpSp>
      <p:grpSp>
        <p:nvGrpSpPr>
          <p:cNvPr id="20" name="Group 20"/>
          <p:cNvGrpSpPr/>
          <p:nvPr/>
        </p:nvGrpSpPr>
        <p:grpSpPr>
          <a:xfrm>
            <a:off x="4349750" y="1428750"/>
            <a:ext cx="3492500" cy="5086350"/>
            <a:chOff x="4349750" y="1428750"/>
            <a:chExt cx="3492500" cy="5086350"/>
          </a:xfrm>
        </p:grpSpPr>
        <p:sp>
          <p:nvSpPr>
            <p:cNvPr id="15" name="Rectangle 15"/>
            <p:cNvSpPr/>
            <p:nvPr/>
          </p:nvSpPr>
          <p:spPr>
            <a:xfrm>
              <a:off x="4349750" y="1428750"/>
              <a:ext cx="3492500" cy="5086350"/>
            </a:xfrm>
            <a:prstGeom prst="roundRect">
              <a:avLst>
                <a:gd name="adj" fmla="val 4364"/>
              </a:avLst>
            </a:prstGeom>
            <a:solidFill>
              <a:schemeClr val="lt2"/>
            </a:solidFill>
            <a:ln w="9525">
              <a:solidFill>
                <a:schemeClr val="accent4"/>
              </a:solidFill>
            </a:ln>
          </p:spPr>
        </p:sp>
        <p:sp>
          <p:nvSpPr>
            <p:cNvPr id="16" name="Rectangle 16"/>
            <p:cNvSpPr/>
            <p:nvPr/>
          </p:nvSpPr>
          <p:spPr>
            <a:xfrm>
              <a:off x="4349750" y="1600200"/>
              <a:ext cx="47625" cy="4743450"/>
            </a:xfrm>
            <a:prstGeom prst="roundRect">
              <a:avLst>
                <a:gd name="adj" fmla="val 50000"/>
              </a:avLst>
            </a:prstGeom>
            <a:solidFill>
              <a:schemeClr val="accent1"/>
            </a:solidFill>
            <a:ln>
              <a:noFill/>
            </a:ln>
          </p:spPr>
        </p:sp>
        <p:sp>
          <p:nvSpPr>
            <p:cNvPr id="17" name="TextBox 17"/>
            <p:cNvSpPr txBox="1"/>
            <p:nvPr/>
          </p:nvSpPr>
          <p:spPr>
            <a:xfrm>
              <a:off x="4592447" y="1704499"/>
              <a:ext cx="1537457"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EVALUATION SUITE</a:t>
              </a:r>
            </a:p>
          </p:txBody>
        </p:sp>
        <p:sp>
          <p:nvSpPr>
            <p:cNvPr id="18" name="TextBox 18"/>
            <p:cNvSpPr txBox="1"/>
            <p:nvPr/>
          </p:nvSpPr>
          <p:spPr>
            <a:xfrm>
              <a:off x="4591494" y="2008108"/>
              <a:ext cx="268077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TyDi QA GoldP, WMT21 translation,</a:t>
              </a:r>
            </a:p>
          </p:txBody>
        </p:sp>
        <p:sp>
          <p:nvSpPr>
            <p:cNvPr id="19" name="TextBox 19"/>
            <p:cNvSpPr txBox="1"/>
            <p:nvPr/>
          </p:nvSpPr>
          <p:spPr>
            <a:xfrm>
              <a:off x="4591494" y="2217658"/>
              <a:ext cx="263301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XNLI, XQuAD, MLQA, and PAWS-X.</a:t>
              </a:r>
            </a:p>
          </p:txBody>
        </p:sp>
      </p:grpSp>
      <p:grpSp>
        <p:nvGrpSpPr>
          <p:cNvPr id="27" name="Group 27"/>
          <p:cNvGrpSpPr/>
          <p:nvPr/>
        </p:nvGrpSpPr>
        <p:grpSpPr>
          <a:xfrm>
            <a:off x="8089900" y="1428750"/>
            <a:ext cx="3492500" cy="5086350"/>
            <a:chOff x="8089900" y="1428750"/>
            <a:chExt cx="3492500" cy="5086350"/>
          </a:xfrm>
        </p:grpSpPr>
        <p:sp>
          <p:nvSpPr>
            <p:cNvPr id="21" name="Rectangle 21"/>
            <p:cNvSpPr/>
            <p:nvPr/>
          </p:nvSpPr>
          <p:spPr>
            <a:xfrm>
              <a:off x="8089900" y="1428750"/>
              <a:ext cx="3492500" cy="5086350"/>
            </a:xfrm>
            <a:prstGeom prst="roundRect">
              <a:avLst>
                <a:gd name="adj" fmla="val 4364"/>
              </a:avLst>
            </a:prstGeom>
            <a:solidFill>
              <a:schemeClr val="lt2"/>
            </a:solidFill>
            <a:ln w="9525">
              <a:solidFill>
                <a:schemeClr val="accent4"/>
              </a:solidFill>
            </a:ln>
          </p:spPr>
        </p:sp>
        <p:sp>
          <p:nvSpPr>
            <p:cNvPr id="22" name="Rectangle 22"/>
            <p:cNvSpPr/>
            <p:nvPr/>
          </p:nvSpPr>
          <p:spPr>
            <a:xfrm>
              <a:off x="8089900" y="1600200"/>
              <a:ext cx="47625" cy="4743450"/>
            </a:xfrm>
            <a:prstGeom prst="roundRect">
              <a:avLst>
                <a:gd name="adj" fmla="val 50000"/>
              </a:avLst>
            </a:prstGeom>
            <a:solidFill>
              <a:schemeClr val="accent2"/>
            </a:solidFill>
            <a:ln>
              <a:noFill/>
            </a:ln>
          </p:spPr>
        </p:sp>
        <p:sp>
          <p:nvSpPr>
            <p:cNvPr id="23" name="TextBox 23"/>
            <p:cNvSpPr txBox="1"/>
            <p:nvPr/>
          </p:nvSpPr>
          <p:spPr>
            <a:xfrm>
              <a:off x="8332597" y="1704499"/>
              <a:ext cx="147221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SWEEP THE SCALE</a:t>
              </a:r>
            </a:p>
          </p:txBody>
        </p:sp>
        <p:sp>
          <p:nvSpPr>
            <p:cNvPr id="24" name="TextBox 24"/>
            <p:cNvSpPr txBox="1"/>
            <p:nvPr/>
          </p:nvSpPr>
          <p:spPr>
            <a:xfrm>
              <a:off x="8331644" y="2008108"/>
              <a:ext cx="271607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Compare every strategy from Small</a:t>
              </a:r>
            </a:p>
          </p:txBody>
        </p:sp>
        <p:sp>
          <p:nvSpPr>
            <p:cNvPr id="25" name="TextBox 25"/>
            <p:cNvSpPr txBox="1"/>
            <p:nvPr/>
          </p:nvSpPr>
          <p:spPr>
            <a:xfrm>
              <a:off x="8331644" y="2217658"/>
              <a:ext cx="266750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up to XXL to see whether the gains</a:t>
              </a:r>
            </a:p>
          </p:txBody>
        </p:sp>
        <p:sp>
          <p:nvSpPr>
            <p:cNvPr id="26" name="TextBox 26"/>
            <p:cNvSpPr txBox="1"/>
            <p:nvPr/>
          </p:nvSpPr>
          <p:spPr>
            <a:xfrm>
              <a:off x="8331644" y="2427208"/>
              <a:ext cx="65987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persist.</a:t>
              </a:r>
            </a:p>
          </p:txBody>
        </p:sp>
      </p:grpSp>
      <p:sp>
        <p:nvSpPr>
          <p:cNvPr id="28" name="cue_s06_c1_evaluation_pretraining_refreshed_mc4" title="cue_s06_c1_evaluation_pretraining_refreshed_mc4" descr="cue_s06_c1_evaluation_pretraining_refreshed_mc4 For evaluation, pretraining uses that refreshed mC4 corpus, twenty-nine trillion characters across one hundred seven languages."/>
          <p:cNvSpPr/>
          <p:nvPr/>
        </p:nvSpPr>
        <p:spPr>
          <a:xfrm>
            <a:off x="609600"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ue_s06_c2_trained_models_tested_broad_suite" title="cue_s06_c2_trained_models_tested_broad_suite" descr="cue_s06_c2_trained_models_tested_broad_suite The trained models are then tested on a broad suite of tasks: TyDi QA GoldP, WMT21 multilingual translation, XNLI, XQuAD, MLQA, and PAWS-X."/>
          <p:cNvSpPr/>
          <p:nvPr/>
        </p:nvSpPr>
        <p:spPr>
          <a:xfrm>
            <a:off x="4350105"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06_c3_crucially_every_sampling_strategy_co" title="cue_s06_c3_crucially_every_sampling_strategy_co" descr="cue_s06_c3_crucially_every_sampling_strategy_co Crucially, every sampling strategy is compared while sweeping the model scale from Small all the way up to XXL, so the study can isolate whether the benefits actually persist as the models get bigger."/>
          <p:cNvSpPr/>
          <p:nvPr/>
        </p:nvSpPr>
        <p:spPr>
          <a:xfrm>
            <a:off x="8089392"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130290"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KEY RESULT</a:t>
            </a:r>
          </a:p>
        </p:txBody>
      </p:sp>
      <p:sp>
        <p:nvSpPr>
          <p:cNvPr id="5" name="TextBox 5"/>
          <p:cNvSpPr txBox="1"/>
          <p:nvPr/>
        </p:nvSpPr>
        <p:spPr>
          <a:xfrm>
            <a:off x="596646" y="715328"/>
            <a:ext cx="641177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UniMax wins across tasks and scales</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07 / 10</a:t>
            </a:r>
          </a:p>
        </p:txBody>
      </p:sp>
      <p:grpSp>
        <p:nvGrpSpPr>
          <p:cNvPr id="12" name="Group 12"/>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2"/>
            </a:solidFill>
            <a:ln>
              <a:noFill/>
            </a:ln>
          </p:spPr>
        </p:sp>
        <p:sp>
          <p:nvSpPr>
            <p:cNvPr id="9" name="TextBox 9"/>
            <p:cNvSpPr txBox="1"/>
            <p:nvPr/>
          </p:nvSpPr>
          <p:spPr>
            <a:xfrm>
              <a:off x="852297" y="1704499"/>
              <a:ext cx="1464893"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CONSISTENT WINS</a:t>
              </a:r>
            </a:p>
          </p:txBody>
        </p:sp>
        <p:sp>
          <p:nvSpPr>
            <p:cNvPr id="10" name="TextBox 10"/>
            <p:cNvSpPr txBox="1"/>
            <p:nvPr/>
          </p:nvSpPr>
          <p:spPr>
            <a:xfrm>
              <a:off x="851344" y="2008108"/>
              <a:ext cx="29607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advantage holds across the board,</a:t>
              </a:r>
            </a:p>
          </p:txBody>
        </p:sp>
        <p:sp>
          <p:nvSpPr>
            <p:cNvPr id="11" name="TextBox 11"/>
            <p:cNvSpPr txBox="1"/>
            <p:nvPr/>
          </p:nvSpPr>
          <p:spPr>
            <a:xfrm>
              <a:off x="851344" y="2217658"/>
              <a:ext cx="157340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not just on average.</a:t>
              </a:r>
            </a:p>
          </p:txBody>
        </p:sp>
      </p:grpSp>
      <p:grpSp>
        <p:nvGrpSpPr>
          <p:cNvPr id="31" name="Group 31"/>
          <p:cNvGrpSpPr/>
          <p:nvPr/>
        </p:nvGrpSpPr>
        <p:grpSpPr>
          <a:xfrm>
            <a:off x="6219825" y="1428750"/>
            <a:ext cx="5362575" cy="2419350"/>
            <a:chOff x="6219825" y="1428750"/>
            <a:chExt cx="5362575" cy="2419350"/>
          </a:xfrm>
        </p:grpSpPr>
        <p:sp>
          <p:nvSpPr>
            <p:cNvPr id="13" name="Rectangle 13"/>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4" name="Rectangle 14"/>
            <p:cNvSpPr/>
            <p:nvPr/>
          </p:nvSpPr>
          <p:spPr>
            <a:xfrm>
              <a:off x="6219825" y="1600200"/>
              <a:ext cx="47625" cy="2076450"/>
            </a:xfrm>
            <a:prstGeom prst="roundRect">
              <a:avLst>
                <a:gd name="adj" fmla="val 50000"/>
              </a:avLst>
            </a:prstGeom>
            <a:solidFill>
              <a:schemeClr val="accent2"/>
            </a:solidFill>
            <a:ln>
              <a:noFill/>
            </a:ln>
          </p:spPr>
        </p:sp>
        <p:sp>
          <p:nvSpPr>
            <p:cNvPr id="15" name="TextBox 15"/>
            <p:cNvSpPr txBox="1"/>
            <p:nvPr/>
          </p:nvSpPr>
          <p:spPr>
            <a:xfrm>
              <a:off x="6462522" y="1704499"/>
              <a:ext cx="144034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TyDi QA &amp; WMT21</a:t>
              </a:r>
            </a:p>
          </p:txBody>
        </p:sp>
        <p:sp>
          <p:nvSpPr>
            <p:cNvPr id="16" name="TextBox 16"/>
            <p:cNvSpPr txBox="1"/>
            <p:nvPr/>
          </p:nvSpPr>
          <p:spPr>
            <a:xfrm>
              <a:off x="6461570" y="2008108"/>
              <a:ext cx="306809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Wins average TyDi QA at all three sizes,</a:t>
              </a:r>
            </a:p>
          </p:txBody>
        </p:sp>
        <p:sp>
          <p:nvSpPr>
            <p:cNvPr id="17" name="TextBox 17"/>
            <p:cNvSpPr txBox="1"/>
            <p:nvPr/>
          </p:nvSpPr>
          <p:spPr>
            <a:xfrm>
              <a:off x="6461570" y="2217658"/>
              <a:ext cx="204526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and WMT21 at every scale.</a:t>
              </a:r>
            </a:p>
          </p:txBody>
        </p:sp>
        <p:sp>
          <p:nvSpPr>
            <p:cNvPr id="18" name="TextBox 18"/>
            <p:cNvSpPr txBox="1"/>
            <p:nvPr/>
          </p:nvSpPr>
          <p:spPr>
            <a:xfrm>
              <a:off x="6462712" y="2550795"/>
              <a:ext cx="1652064" cy="176212"/>
            </a:xfrm>
            <a:prstGeom prst="rect">
              <a:avLst/>
            </a:prstGeom>
            <a:noFill/>
            <a:ln>
              <a:noFill/>
            </a:ln>
          </p:spPr>
          <p:txBody>
            <a:bodyPr wrap="none" lIns="0" tIns="0" rIns="0" bIns="0" anchor="t" anchorCtr="0">
              <a:spAutoFit/>
            </a:bodyPr>
            <a:lstStyle/>
            <a:p>
              <a:pPr algn="l"/>
              <a:r>
                <a:rPr lang="en-US" sz="900" b="1" dirty="0">
                  <a:solidFill>
                    <a:srgbClr val="63788F"/>
                  </a:solidFill>
                  <a:latin typeface="+mn-lt"/>
                  <a:ea typeface="+mn-ea"/>
                  <a:cs typeface="+mn-cs"/>
                </a:rPr>
                <a:t>TyDi QA (½ budget, Large)</a:t>
              </a:r>
            </a:p>
          </p:txBody>
        </p:sp>
        <p:sp>
          <p:nvSpPr>
            <p:cNvPr id="19" name="TextBox 19"/>
            <p:cNvSpPr txBox="1"/>
            <p:nvPr/>
          </p:nvSpPr>
          <p:spPr>
            <a:xfrm>
              <a:off x="6461760" y="2764631"/>
              <a:ext cx="535656"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UniMax</a:t>
              </a:r>
            </a:p>
          </p:txBody>
        </p:sp>
        <p:sp>
          <p:nvSpPr>
            <p:cNvPr id="20" name="Rectangle 20"/>
            <p:cNvSpPr/>
            <p:nvPr/>
          </p:nvSpPr>
          <p:spPr>
            <a:xfrm>
              <a:off x="7686675" y="2724150"/>
              <a:ext cx="3076575" cy="228600"/>
            </a:xfrm>
            <a:prstGeom prst="roundRect">
              <a:avLst>
                <a:gd name="adj" fmla="val 50000"/>
              </a:avLst>
            </a:prstGeom>
            <a:solidFill>
              <a:srgbClr val="22304A"/>
            </a:solidFill>
            <a:ln>
              <a:noFill/>
            </a:ln>
          </p:spPr>
        </p:sp>
        <p:sp>
          <p:nvSpPr>
            <p:cNvPr id="21" name="Rectangle 21"/>
            <p:cNvSpPr/>
            <p:nvPr/>
          </p:nvSpPr>
          <p:spPr>
            <a:xfrm>
              <a:off x="7686675" y="2724150"/>
              <a:ext cx="3043238" cy="228600"/>
            </a:xfrm>
            <a:prstGeom prst="roundRect">
              <a:avLst>
                <a:gd name="adj" fmla="val 50000"/>
              </a:avLst>
            </a:prstGeom>
            <a:solidFill>
              <a:schemeClr val="accent2"/>
            </a:solidFill>
            <a:ln>
              <a:noFill/>
            </a:ln>
          </p:spPr>
        </p:sp>
        <p:sp>
          <p:nvSpPr>
            <p:cNvPr id="22" name="TextBox 22"/>
            <p:cNvSpPr txBox="1"/>
            <p:nvPr/>
          </p:nvSpPr>
          <p:spPr>
            <a:xfrm>
              <a:off x="10819441" y="27565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83.1</a:t>
              </a:r>
            </a:p>
          </p:txBody>
        </p:sp>
        <p:sp>
          <p:nvSpPr>
            <p:cNvPr id="23" name="TextBox 23"/>
            <p:cNvSpPr txBox="1"/>
            <p:nvPr/>
          </p:nvSpPr>
          <p:spPr>
            <a:xfrm>
              <a:off x="6461760" y="3107531"/>
              <a:ext cx="533863"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τ=3.33</a:t>
              </a:r>
            </a:p>
          </p:txBody>
        </p:sp>
        <p:sp>
          <p:nvSpPr>
            <p:cNvPr id="24" name="Rectangle 24"/>
            <p:cNvSpPr/>
            <p:nvPr/>
          </p:nvSpPr>
          <p:spPr>
            <a:xfrm>
              <a:off x="7686675" y="3067050"/>
              <a:ext cx="3076575" cy="228600"/>
            </a:xfrm>
            <a:prstGeom prst="roundRect">
              <a:avLst>
                <a:gd name="adj" fmla="val 50000"/>
              </a:avLst>
            </a:prstGeom>
            <a:solidFill>
              <a:srgbClr val="22304A"/>
            </a:solidFill>
            <a:ln>
              <a:noFill/>
            </a:ln>
          </p:spPr>
        </p:sp>
        <p:sp>
          <p:nvSpPr>
            <p:cNvPr id="25" name="Rectangle 25"/>
            <p:cNvSpPr/>
            <p:nvPr/>
          </p:nvSpPr>
          <p:spPr>
            <a:xfrm>
              <a:off x="7686675" y="3067050"/>
              <a:ext cx="3032760" cy="228600"/>
            </a:xfrm>
            <a:prstGeom prst="roundRect">
              <a:avLst>
                <a:gd name="adj" fmla="val 50000"/>
              </a:avLst>
            </a:prstGeom>
            <a:solidFill>
              <a:schemeClr val="accent1"/>
            </a:solidFill>
            <a:ln>
              <a:noFill/>
            </a:ln>
          </p:spPr>
        </p:sp>
        <p:sp>
          <p:nvSpPr>
            <p:cNvPr id="26" name="TextBox 26"/>
            <p:cNvSpPr txBox="1"/>
            <p:nvPr/>
          </p:nvSpPr>
          <p:spPr>
            <a:xfrm>
              <a:off x="10808453" y="30994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82.8</a:t>
              </a:r>
            </a:p>
          </p:txBody>
        </p:sp>
        <p:sp>
          <p:nvSpPr>
            <p:cNvPr id="27" name="TextBox 27"/>
            <p:cNvSpPr txBox="1"/>
            <p:nvPr/>
          </p:nvSpPr>
          <p:spPr>
            <a:xfrm>
              <a:off x="6461760" y="3450431"/>
              <a:ext cx="272647"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τ=1</a:t>
              </a:r>
            </a:p>
          </p:txBody>
        </p:sp>
        <p:sp>
          <p:nvSpPr>
            <p:cNvPr id="28" name="Rectangle 28"/>
            <p:cNvSpPr/>
            <p:nvPr/>
          </p:nvSpPr>
          <p:spPr>
            <a:xfrm>
              <a:off x="7686675" y="3409950"/>
              <a:ext cx="3076575" cy="228600"/>
            </a:xfrm>
            <a:prstGeom prst="roundRect">
              <a:avLst>
                <a:gd name="adj" fmla="val 50000"/>
              </a:avLst>
            </a:prstGeom>
            <a:solidFill>
              <a:srgbClr val="22304A"/>
            </a:solidFill>
            <a:ln>
              <a:noFill/>
            </a:ln>
          </p:spPr>
        </p:sp>
        <p:sp>
          <p:nvSpPr>
            <p:cNvPr id="29" name="Rectangle 29"/>
            <p:cNvSpPr/>
            <p:nvPr/>
          </p:nvSpPr>
          <p:spPr>
            <a:xfrm>
              <a:off x="7686675" y="3409950"/>
              <a:ext cx="2973705" cy="228600"/>
            </a:xfrm>
            <a:prstGeom prst="roundRect">
              <a:avLst>
                <a:gd name="adj" fmla="val 50000"/>
              </a:avLst>
            </a:prstGeom>
            <a:solidFill>
              <a:srgbClr val="63788F"/>
            </a:solidFill>
            <a:ln>
              <a:noFill/>
            </a:ln>
          </p:spPr>
        </p:sp>
        <p:sp>
          <p:nvSpPr>
            <p:cNvPr id="30" name="TextBox 30"/>
            <p:cNvSpPr txBox="1"/>
            <p:nvPr/>
          </p:nvSpPr>
          <p:spPr>
            <a:xfrm>
              <a:off x="10749852" y="34423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81.2</a:t>
              </a:r>
            </a:p>
          </p:txBody>
        </p:sp>
      </p:grpSp>
      <p:grpSp>
        <p:nvGrpSpPr>
          <p:cNvPr id="37" name="Group 37"/>
          <p:cNvGrpSpPr/>
          <p:nvPr/>
        </p:nvGrpSpPr>
        <p:grpSpPr>
          <a:xfrm>
            <a:off x="609600" y="4095750"/>
            <a:ext cx="5362575" cy="2419350"/>
            <a:chOff x="609600" y="4095750"/>
            <a:chExt cx="5362575" cy="2419350"/>
          </a:xfrm>
        </p:grpSpPr>
        <p:sp>
          <p:nvSpPr>
            <p:cNvPr id="32" name="Rectangle 32"/>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33" name="Rectangle 33"/>
            <p:cNvSpPr/>
            <p:nvPr/>
          </p:nvSpPr>
          <p:spPr>
            <a:xfrm>
              <a:off x="609600" y="4267200"/>
              <a:ext cx="47625" cy="2076450"/>
            </a:xfrm>
            <a:prstGeom prst="roundRect">
              <a:avLst>
                <a:gd name="adj" fmla="val 50000"/>
              </a:avLst>
            </a:prstGeom>
            <a:solidFill>
              <a:schemeClr val="accent1"/>
            </a:solidFill>
            <a:ln>
              <a:noFill/>
            </a:ln>
          </p:spPr>
        </p:sp>
        <p:sp>
          <p:nvSpPr>
            <p:cNvPr id="34" name="TextBox 34"/>
            <p:cNvSpPr txBox="1"/>
            <p:nvPr/>
          </p:nvSpPr>
          <p:spPr>
            <a:xfrm>
              <a:off x="852297" y="4371499"/>
              <a:ext cx="1305129"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HIGH-RESOURCE</a:t>
              </a:r>
            </a:p>
          </p:txBody>
        </p:sp>
        <p:sp>
          <p:nvSpPr>
            <p:cNvPr id="35" name="TextBox 35"/>
            <p:cNvSpPr txBox="1"/>
            <p:nvPr/>
          </p:nvSpPr>
          <p:spPr>
            <a:xfrm>
              <a:off x="851344" y="4675108"/>
              <a:ext cx="310267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Beats tau=3.33, and only trails tau=1 at</a:t>
              </a:r>
            </a:p>
          </p:txBody>
        </p:sp>
        <p:sp>
          <p:nvSpPr>
            <p:cNvPr id="36" name="TextBox 36"/>
            <p:cNvSpPr txBox="1"/>
            <p:nvPr/>
          </p:nvSpPr>
          <p:spPr>
            <a:xfrm>
              <a:off x="851344" y="4884658"/>
              <a:ext cx="179202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very largest scale.</a:t>
              </a:r>
            </a:p>
          </p:txBody>
        </p:sp>
      </p:grpSp>
      <p:grpSp>
        <p:nvGrpSpPr>
          <p:cNvPr id="44" name="Group 44"/>
          <p:cNvGrpSpPr/>
          <p:nvPr/>
        </p:nvGrpSpPr>
        <p:grpSpPr>
          <a:xfrm>
            <a:off x="6219825" y="4095750"/>
            <a:ext cx="5362575" cy="2419350"/>
            <a:chOff x="6219825" y="4095750"/>
            <a:chExt cx="5362575" cy="2419350"/>
          </a:xfrm>
        </p:grpSpPr>
        <p:sp>
          <p:nvSpPr>
            <p:cNvPr id="38" name="Rectangle 38"/>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9" name="Rectangle 39"/>
            <p:cNvSpPr/>
            <p:nvPr/>
          </p:nvSpPr>
          <p:spPr>
            <a:xfrm>
              <a:off x="6219825" y="4267200"/>
              <a:ext cx="47625" cy="2076450"/>
            </a:xfrm>
            <a:prstGeom prst="roundRect">
              <a:avLst>
                <a:gd name="adj" fmla="val 50000"/>
              </a:avLst>
            </a:prstGeom>
            <a:solidFill>
              <a:schemeClr val="accent2"/>
            </a:solidFill>
            <a:ln>
              <a:noFill/>
            </a:ln>
          </p:spPr>
        </p:sp>
        <p:sp>
          <p:nvSpPr>
            <p:cNvPr id="40" name="TextBox 40"/>
            <p:cNvSpPr txBox="1"/>
            <p:nvPr/>
          </p:nvSpPr>
          <p:spPr>
            <a:xfrm>
              <a:off x="6462522" y="4371499"/>
              <a:ext cx="1298430"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LOW-RESOURCE</a:t>
              </a:r>
            </a:p>
          </p:txBody>
        </p:sp>
        <p:sp>
          <p:nvSpPr>
            <p:cNvPr id="41" name="TextBox 41"/>
            <p:cNvSpPr txBox="1"/>
            <p:nvPr/>
          </p:nvSpPr>
          <p:spPr>
            <a:xfrm>
              <a:off x="6461570" y="4675108"/>
              <a:ext cx="295452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Wins outright, e.g. beats tau=3.33 on</a:t>
              </a:r>
            </a:p>
          </p:txBody>
        </p:sp>
        <p:sp>
          <p:nvSpPr>
            <p:cNvPr id="42" name="TextBox 42"/>
            <p:cNvSpPr txBox="1"/>
            <p:nvPr/>
          </p:nvSpPr>
          <p:spPr>
            <a:xfrm>
              <a:off x="6461570" y="4884658"/>
              <a:ext cx="273859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Swahili despite seeing fewer Swahili</a:t>
              </a:r>
            </a:p>
          </p:txBody>
        </p:sp>
        <p:sp>
          <p:nvSpPr>
            <p:cNvPr id="43" name="TextBox 43"/>
            <p:cNvSpPr txBox="1"/>
            <p:nvPr/>
          </p:nvSpPr>
          <p:spPr>
            <a:xfrm>
              <a:off x="6461570" y="5094208"/>
              <a:ext cx="77699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examples.</a:t>
              </a:r>
            </a:p>
          </p:txBody>
        </p:sp>
      </p:grpSp>
      <p:sp>
        <p:nvSpPr>
          <p:cNvPr id="45" name="cue_s07_c1_results_remarkably_consistent" title="cue_s07_c1_results_remarkably_consistent" descr="cue_s07_c1_results_remarkably_consistent And the results are remarkably consistent."/>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7_c2_unimax_outperforms_both_temperature" title="cue_s07_c2_unimax_outperforms_both_temperature" descr="cue_s07_c2_unimax_outperforms_both_temperature UniMax outperforms both temperature settings, tau equals one and tau equals three point three three, on average TyDi QA across all three model sizes, and it beats temperature sampling on WMT21 translation at every scale, with the majority of language pairs imp"/>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3_high_resource_languages_beats_tau_eq" title="cue_s07_c3_high_resource_languages_beats_tau_eq" descr="cue_s07_c3_high_resource_languages_beats_tau_eq On high-resource languages it beats tau equals three point three three, and only trails tau equals one at the very largest scale."/>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4_low_resource_languages_wins_outright" title="cue_s07_c4_low_resource_languages_wins_outright" descr="cue_s07_c4_low_resource_languages_wins_outright On low-resource languages it wins outright, even outperforming tau equals three point three three on Swahili despite seeing fewer Swahili examples."/>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596894"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ABLATION STUDY</a:t>
            </a:r>
          </a:p>
        </p:txBody>
      </p:sp>
      <p:sp>
        <p:nvSpPr>
          <p:cNvPr id="5" name="TextBox 5"/>
          <p:cNvSpPr txBox="1"/>
          <p:nvPr/>
        </p:nvSpPr>
        <p:spPr>
          <a:xfrm>
            <a:off x="596646" y="715328"/>
            <a:ext cx="751879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How much does the max-epoch cap matter?</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08 / 10</a:t>
            </a:r>
          </a:p>
        </p:txBody>
      </p:sp>
      <p:grpSp>
        <p:nvGrpSpPr>
          <p:cNvPr id="25" name="Group 25"/>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1130729"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MAX-EPOCH N</a:t>
              </a:r>
            </a:p>
          </p:txBody>
        </p:sp>
        <p:sp>
          <p:nvSpPr>
            <p:cNvPr id="10" name="TextBox 10"/>
            <p:cNvSpPr txBox="1"/>
            <p:nvPr/>
          </p:nvSpPr>
          <p:spPr>
            <a:xfrm>
              <a:off x="851344" y="2008108"/>
              <a:ext cx="268798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Ablate N over 1, 5, and 10 on Large</a:t>
              </a:r>
            </a:p>
          </p:txBody>
        </p:sp>
        <p:sp>
          <p:nvSpPr>
            <p:cNvPr id="11" name="TextBox 11"/>
            <p:cNvSpPr txBox="1"/>
            <p:nvPr/>
          </p:nvSpPr>
          <p:spPr>
            <a:xfrm>
              <a:off x="851344" y="2217658"/>
              <a:ext cx="60521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models.</a:t>
              </a:r>
            </a:p>
          </p:txBody>
        </p:sp>
        <p:sp>
          <p:nvSpPr>
            <p:cNvPr id="12" name="TextBox 12"/>
            <p:cNvSpPr txBox="1"/>
            <p:nvPr/>
          </p:nvSpPr>
          <p:spPr>
            <a:xfrm>
              <a:off x="852488" y="2550795"/>
              <a:ext cx="2035078" cy="176212"/>
            </a:xfrm>
            <a:prstGeom prst="rect">
              <a:avLst/>
            </a:prstGeom>
            <a:noFill/>
            <a:ln>
              <a:noFill/>
            </a:ln>
          </p:spPr>
          <p:txBody>
            <a:bodyPr wrap="none" lIns="0" tIns="0" rIns="0" bIns="0" anchor="t" anchorCtr="0">
              <a:spAutoFit/>
            </a:bodyPr>
            <a:lstStyle/>
            <a:p>
              <a:pPr algn="l"/>
              <a:r>
                <a:rPr lang="en-US" sz="900" b="1" dirty="0">
                  <a:solidFill>
                    <a:srgbClr val="63788F"/>
                  </a:solidFill>
                  <a:latin typeface="+mn-lt"/>
                  <a:ea typeface="+mn-ea"/>
                  <a:cs typeface="+mn-cs"/>
                </a:rPr>
                <a:t>TyDi QA on Large by max-epoch N</a:t>
              </a:r>
            </a:p>
          </p:txBody>
        </p:sp>
        <p:sp>
          <p:nvSpPr>
            <p:cNvPr id="13" name="TextBox 13"/>
            <p:cNvSpPr txBox="1"/>
            <p:nvPr/>
          </p:nvSpPr>
          <p:spPr>
            <a:xfrm>
              <a:off x="851535" y="2764631"/>
              <a:ext cx="287432"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N=1</a:t>
              </a:r>
            </a:p>
          </p:txBody>
        </p:sp>
        <p:sp>
          <p:nvSpPr>
            <p:cNvPr id="14" name="Rectangle 14"/>
            <p:cNvSpPr/>
            <p:nvPr/>
          </p:nvSpPr>
          <p:spPr>
            <a:xfrm>
              <a:off x="2076450" y="2724150"/>
              <a:ext cx="3076575" cy="228600"/>
            </a:xfrm>
            <a:prstGeom prst="roundRect">
              <a:avLst>
                <a:gd name="adj" fmla="val 50000"/>
              </a:avLst>
            </a:prstGeom>
            <a:solidFill>
              <a:srgbClr val="22304A"/>
            </a:solidFill>
            <a:ln>
              <a:noFill/>
            </a:ln>
          </p:spPr>
        </p:sp>
        <p:sp>
          <p:nvSpPr>
            <p:cNvPr id="15" name="Rectangle 15"/>
            <p:cNvSpPr/>
            <p:nvPr/>
          </p:nvSpPr>
          <p:spPr>
            <a:xfrm>
              <a:off x="2076450" y="2724150"/>
              <a:ext cx="3047048" cy="228600"/>
            </a:xfrm>
            <a:prstGeom prst="roundRect">
              <a:avLst>
                <a:gd name="adj" fmla="val 50000"/>
              </a:avLst>
            </a:prstGeom>
            <a:solidFill>
              <a:schemeClr val="accent2"/>
            </a:solidFill>
            <a:ln>
              <a:noFill/>
            </a:ln>
          </p:spPr>
        </p:sp>
        <p:sp>
          <p:nvSpPr>
            <p:cNvPr id="16" name="TextBox 16"/>
            <p:cNvSpPr txBox="1"/>
            <p:nvPr/>
          </p:nvSpPr>
          <p:spPr>
            <a:xfrm>
              <a:off x="5212525" y="27565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82.2</a:t>
              </a:r>
            </a:p>
          </p:txBody>
        </p:sp>
        <p:sp>
          <p:nvSpPr>
            <p:cNvPr id="17" name="TextBox 17"/>
            <p:cNvSpPr txBox="1"/>
            <p:nvPr/>
          </p:nvSpPr>
          <p:spPr>
            <a:xfrm>
              <a:off x="851535" y="3107531"/>
              <a:ext cx="287432"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N=5</a:t>
              </a:r>
            </a:p>
          </p:txBody>
        </p:sp>
        <p:sp>
          <p:nvSpPr>
            <p:cNvPr id="18" name="Rectangle 18"/>
            <p:cNvSpPr/>
            <p:nvPr/>
          </p:nvSpPr>
          <p:spPr>
            <a:xfrm>
              <a:off x="2076450" y="3067050"/>
              <a:ext cx="3076575" cy="228600"/>
            </a:xfrm>
            <a:prstGeom prst="roundRect">
              <a:avLst>
                <a:gd name="adj" fmla="val 50000"/>
              </a:avLst>
            </a:prstGeom>
            <a:solidFill>
              <a:srgbClr val="22304A"/>
            </a:solidFill>
            <a:ln>
              <a:noFill/>
            </a:ln>
          </p:spPr>
        </p:sp>
        <p:sp>
          <p:nvSpPr>
            <p:cNvPr id="19" name="Rectangle 19"/>
            <p:cNvSpPr/>
            <p:nvPr/>
          </p:nvSpPr>
          <p:spPr>
            <a:xfrm>
              <a:off x="2076450" y="3067050"/>
              <a:ext cx="3021330" cy="228600"/>
            </a:xfrm>
            <a:prstGeom prst="roundRect">
              <a:avLst>
                <a:gd name="adj" fmla="val 50000"/>
              </a:avLst>
            </a:prstGeom>
            <a:solidFill>
              <a:schemeClr val="accent1"/>
            </a:solidFill>
            <a:ln>
              <a:noFill/>
            </a:ln>
          </p:spPr>
        </p:sp>
        <p:sp>
          <p:nvSpPr>
            <p:cNvPr id="20" name="TextBox 20"/>
            <p:cNvSpPr txBox="1"/>
            <p:nvPr/>
          </p:nvSpPr>
          <p:spPr>
            <a:xfrm>
              <a:off x="5186578" y="30994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81.5</a:t>
              </a:r>
            </a:p>
          </p:txBody>
        </p:sp>
        <p:sp>
          <p:nvSpPr>
            <p:cNvPr id="21" name="TextBox 21"/>
            <p:cNvSpPr txBox="1"/>
            <p:nvPr/>
          </p:nvSpPr>
          <p:spPr>
            <a:xfrm>
              <a:off x="851535" y="3450431"/>
              <a:ext cx="379433"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N=10</a:t>
              </a:r>
            </a:p>
          </p:txBody>
        </p:sp>
        <p:sp>
          <p:nvSpPr>
            <p:cNvPr id="22" name="Rectangle 22"/>
            <p:cNvSpPr/>
            <p:nvPr/>
          </p:nvSpPr>
          <p:spPr>
            <a:xfrm>
              <a:off x="2076450" y="3409950"/>
              <a:ext cx="3076575" cy="228600"/>
            </a:xfrm>
            <a:prstGeom prst="roundRect">
              <a:avLst>
                <a:gd name="adj" fmla="val 50000"/>
              </a:avLst>
            </a:prstGeom>
            <a:solidFill>
              <a:srgbClr val="22304A"/>
            </a:solidFill>
            <a:ln>
              <a:noFill/>
            </a:ln>
          </p:spPr>
        </p:sp>
        <p:sp>
          <p:nvSpPr>
            <p:cNvPr id="23" name="Rectangle 23"/>
            <p:cNvSpPr/>
            <p:nvPr/>
          </p:nvSpPr>
          <p:spPr>
            <a:xfrm>
              <a:off x="2076450" y="3409950"/>
              <a:ext cx="3031808" cy="228600"/>
            </a:xfrm>
            <a:prstGeom prst="roundRect">
              <a:avLst>
                <a:gd name="adj" fmla="val 50000"/>
              </a:avLst>
            </a:prstGeom>
            <a:solidFill>
              <a:schemeClr val="accent1"/>
            </a:solidFill>
            <a:ln>
              <a:noFill/>
            </a:ln>
          </p:spPr>
        </p:sp>
        <p:sp>
          <p:nvSpPr>
            <p:cNvPr id="24" name="TextBox 24"/>
            <p:cNvSpPr txBox="1"/>
            <p:nvPr/>
          </p:nvSpPr>
          <p:spPr>
            <a:xfrm>
              <a:off x="5197698" y="34423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81.8</a:t>
              </a:r>
            </a:p>
          </p:txBody>
        </p:sp>
      </p:grpSp>
      <p:grpSp>
        <p:nvGrpSpPr>
          <p:cNvPr id="31" name="Group 31"/>
          <p:cNvGrpSpPr/>
          <p:nvPr/>
        </p:nvGrpSpPr>
        <p:grpSpPr>
          <a:xfrm>
            <a:off x="6219825" y="1428750"/>
            <a:ext cx="5362575" cy="2419350"/>
            <a:chOff x="6219825" y="1428750"/>
            <a:chExt cx="5362575" cy="2419350"/>
          </a:xfrm>
        </p:grpSpPr>
        <p:sp>
          <p:nvSpPr>
            <p:cNvPr id="26" name="Rectangle 26"/>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27" name="Rectangle 27"/>
            <p:cNvSpPr/>
            <p:nvPr/>
          </p:nvSpPr>
          <p:spPr>
            <a:xfrm>
              <a:off x="6219825" y="1600200"/>
              <a:ext cx="47625" cy="2076450"/>
            </a:xfrm>
            <a:prstGeom prst="roundRect">
              <a:avLst>
                <a:gd name="adj" fmla="val 50000"/>
              </a:avLst>
            </a:prstGeom>
            <a:solidFill>
              <a:schemeClr val="accent2"/>
            </a:solidFill>
            <a:ln>
              <a:noFill/>
            </a:ln>
          </p:spPr>
        </p:sp>
        <p:sp>
          <p:nvSpPr>
            <p:cNvPr id="28" name="TextBox 28"/>
            <p:cNvSpPr txBox="1"/>
            <p:nvPr/>
          </p:nvSpPr>
          <p:spPr>
            <a:xfrm>
              <a:off x="6462522" y="1704499"/>
              <a:ext cx="759354"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N=1 WINS</a:t>
              </a:r>
            </a:p>
          </p:txBody>
        </p:sp>
        <p:sp>
          <p:nvSpPr>
            <p:cNvPr id="29" name="TextBox 29"/>
            <p:cNvSpPr txBox="1"/>
            <p:nvPr/>
          </p:nvSpPr>
          <p:spPr>
            <a:xfrm>
              <a:off x="6461570" y="2008108"/>
              <a:ext cx="279636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Disallowing repeats entirely is best,</a:t>
              </a:r>
            </a:p>
          </p:txBody>
        </p:sp>
        <p:sp>
          <p:nvSpPr>
            <p:cNvPr id="30" name="TextBox 30"/>
            <p:cNvSpPr txBox="1"/>
            <p:nvPr/>
          </p:nvSpPr>
          <p:spPr>
            <a:xfrm>
              <a:off x="6461570" y="2217658"/>
              <a:ext cx="208092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though the margin is small.</a:t>
              </a:r>
            </a:p>
          </p:txBody>
        </p:sp>
      </p:grpSp>
      <p:grpSp>
        <p:nvGrpSpPr>
          <p:cNvPr id="37" name="Group 37"/>
          <p:cNvGrpSpPr/>
          <p:nvPr/>
        </p:nvGrpSpPr>
        <p:grpSpPr>
          <a:xfrm>
            <a:off x="609600" y="4095750"/>
            <a:ext cx="5362575" cy="2419350"/>
            <a:chOff x="609600" y="4095750"/>
            <a:chExt cx="5362575" cy="2419350"/>
          </a:xfrm>
        </p:grpSpPr>
        <p:sp>
          <p:nvSpPr>
            <p:cNvPr id="32" name="Rectangle 32"/>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33" name="Rectangle 33"/>
            <p:cNvSpPr/>
            <p:nvPr/>
          </p:nvSpPr>
          <p:spPr>
            <a:xfrm>
              <a:off x="609600" y="4267200"/>
              <a:ext cx="47625" cy="2076450"/>
            </a:xfrm>
            <a:prstGeom prst="roundRect">
              <a:avLst>
                <a:gd name="adj" fmla="val 50000"/>
              </a:avLst>
            </a:prstGeom>
            <a:solidFill>
              <a:srgbClr val="FBBF24"/>
            </a:solidFill>
            <a:ln>
              <a:noFill/>
            </a:ln>
          </p:spPr>
        </p:sp>
        <p:sp>
          <p:nvSpPr>
            <p:cNvPr id="34" name="TextBox 34"/>
            <p:cNvSpPr txBox="1"/>
            <p:nvPr/>
          </p:nvSpPr>
          <p:spPr>
            <a:xfrm>
              <a:off x="852297" y="4371499"/>
              <a:ext cx="1544775"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4× LARGER BUDGET</a:t>
              </a:r>
            </a:p>
          </p:txBody>
        </p:sp>
        <p:sp>
          <p:nvSpPr>
            <p:cNvPr id="35" name="TextBox 35"/>
            <p:cNvSpPr txBox="1"/>
            <p:nvPr/>
          </p:nvSpPr>
          <p:spPr>
            <a:xfrm>
              <a:off x="851344" y="4675108"/>
              <a:ext cx="322248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UniMax 83.1 versus 82.8 for tau=3.33 and</a:t>
              </a:r>
            </a:p>
          </p:txBody>
        </p:sp>
        <p:sp>
          <p:nvSpPr>
            <p:cNvPr id="36" name="TextBox 36"/>
            <p:cNvSpPr txBox="1"/>
            <p:nvPr/>
          </p:nvSpPr>
          <p:spPr>
            <a:xfrm>
              <a:off x="851344" y="4884658"/>
              <a:ext cx="122204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81.2 for tau=1.</a:t>
              </a:r>
            </a:p>
          </p:txBody>
        </p:sp>
      </p:grpSp>
      <p:grpSp>
        <p:nvGrpSpPr>
          <p:cNvPr id="43" name="Group 43"/>
          <p:cNvGrpSpPr/>
          <p:nvPr/>
        </p:nvGrpSpPr>
        <p:grpSpPr>
          <a:xfrm>
            <a:off x="6219825" y="4095750"/>
            <a:ext cx="5362575" cy="2419350"/>
            <a:chOff x="6219825" y="4095750"/>
            <a:chExt cx="5362575" cy="2419350"/>
          </a:xfrm>
        </p:grpSpPr>
        <p:sp>
          <p:nvSpPr>
            <p:cNvPr id="38" name="Rectangle 38"/>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39" name="Rectangle 39"/>
            <p:cNvSpPr/>
            <p:nvPr/>
          </p:nvSpPr>
          <p:spPr>
            <a:xfrm>
              <a:off x="6219825" y="4267200"/>
              <a:ext cx="47625" cy="2076450"/>
            </a:xfrm>
            <a:prstGeom prst="roundRect">
              <a:avLst>
                <a:gd name="adj" fmla="val 50000"/>
              </a:avLst>
            </a:prstGeom>
            <a:solidFill>
              <a:srgbClr val="F87171"/>
            </a:solidFill>
            <a:ln>
              <a:noFill/>
            </a:ln>
          </p:spPr>
        </p:sp>
        <p:sp>
          <p:nvSpPr>
            <p:cNvPr id="40" name="TextBox 40"/>
            <p:cNvSpPr txBox="1"/>
            <p:nvPr/>
          </p:nvSpPr>
          <p:spPr>
            <a:xfrm>
              <a:off x="6462522" y="4371499"/>
              <a:ext cx="1101456"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LOSS CURVES</a:t>
              </a:r>
            </a:p>
          </p:txBody>
        </p:sp>
        <p:sp>
          <p:nvSpPr>
            <p:cNvPr id="41" name="TextBox 41"/>
            <p:cNvSpPr txBox="1"/>
            <p:nvPr/>
          </p:nvSpPr>
          <p:spPr>
            <a:xfrm>
              <a:off x="6461570" y="4675108"/>
              <a:ext cx="297610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High-temperature overfitting worsens</a:t>
              </a:r>
            </a:p>
          </p:txBody>
        </p:sp>
        <p:sp>
          <p:nvSpPr>
            <p:cNvPr id="42" name="TextBox 42"/>
            <p:cNvSpPr txBox="1"/>
            <p:nvPr/>
          </p:nvSpPr>
          <p:spPr>
            <a:xfrm>
              <a:off x="6461570" y="4884658"/>
              <a:ext cx="295048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with scale, while UniMax stays stable.</a:t>
              </a:r>
            </a:p>
          </p:txBody>
        </p:sp>
      </p:grpSp>
      <p:sp>
        <p:nvSpPr>
          <p:cNvPr id="44" name="cue_s08_c1_what_about_max_epoch_parameter_ablat" title="cue_s08_c1_what_about_max_epoch_parameter_ablat" descr="cue_s08_c1_what_about_max_epoch_parameter_ablat What about that max-epoch parameter, N? Ablating N over one, five, and ten on Large models gives TyDi QA scores of eighty-two point two, eighty-one point five, and eighty-one point eight."/>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2_disallowing_repeats_entirely_equals" title="cue_s08_c2_disallowing_repeats_entirely_equals" descr="cue_s08_c2_disallowing_repeats_entirely_equals Disallowing repeats entirely, N equals one, comes out best, though the effect is small."/>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3_four_times_larger_budget_unimax_scor" title="cue_s08_c3_four_times_larger_budget_unimax_scor" descr="cue_s08_c3_four_times_larger_budget_unimax_scor At a four-times-larger budget, UniMax scores eighty-three point one, versus eighty-two point eight for temperature and eighty-one point two for tau equals one."/>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4_loss_curves_tell_story_high_temperat" title="cue_s08_c4_loss_curves_tell_story_high_temperat" descr="cue_s08_c4_loss_curves_tell_story_high_temperat The loss curves tell the story: high-temperature overfitting grows more severe with scale, while UniMax stays stable."/>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1834378"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HEADLINE NUMBERS</a:t>
            </a:r>
          </a:p>
        </p:txBody>
      </p:sp>
      <p:sp>
        <p:nvSpPr>
          <p:cNvPr id="5" name="TextBox 5"/>
          <p:cNvSpPr txBox="1"/>
          <p:nvPr/>
        </p:nvSpPr>
        <p:spPr>
          <a:xfrm>
            <a:off x="596646" y="715328"/>
            <a:ext cx="447193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 numbers that matter</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09 / 10</a:t>
            </a:r>
          </a:p>
        </p:txBody>
      </p:sp>
      <p:grpSp>
        <p:nvGrpSpPr>
          <p:cNvPr id="12" name="Group 12"/>
          <p:cNvGrpSpPr/>
          <p:nvPr/>
        </p:nvGrpSpPr>
        <p:grpSpPr>
          <a:xfrm>
            <a:off x="609600" y="1428750"/>
            <a:ext cx="5362575" cy="2419350"/>
            <a:chOff x="609600" y="1428750"/>
            <a:chExt cx="5362575" cy="2419350"/>
          </a:xfrm>
        </p:grpSpPr>
        <p:sp>
          <p:nvSpPr>
            <p:cNvPr id="7" name="Rectangle 7"/>
            <p:cNvSpPr/>
            <p:nvPr/>
          </p:nvSpPr>
          <p:spPr>
            <a:xfrm>
              <a:off x="609600" y="1428750"/>
              <a:ext cx="5362575" cy="2419350"/>
            </a:xfrm>
            <a:prstGeom prst="roundRect">
              <a:avLst>
                <a:gd name="adj" fmla="val 6299"/>
              </a:avLst>
            </a:prstGeom>
            <a:solidFill>
              <a:schemeClr val="lt2"/>
            </a:solidFill>
            <a:ln w="9525">
              <a:solidFill>
                <a:schemeClr val="accent4"/>
              </a:solidFill>
            </a:ln>
          </p:spPr>
        </p:sp>
        <p:sp>
          <p:nvSpPr>
            <p:cNvPr id="8" name="Rectangle 8"/>
            <p:cNvSpPr/>
            <p:nvPr/>
          </p:nvSpPr>
          <p:spPr>
            <a:xfrm>
              <a:off x="609600" y="1600200"/>
              <a:ext cx="47625" cy="2076450"/>
            </a:xfrm>
            <a:prstGeom prst="roundRect">
              <a:avLst>
                <a:gd name="adj" fmla="val 50000"/>
              </a:avLst>
            </a:prstGeom>
            <a:solidFill>
              <a:schemeClr val="accent1"/>
            </a:solidFill>
            <a:ln>
              <a:noFill/>
            </a:ln>
          </p:spPr>
        </p:sp>
        <p:sp>
          <p:nvSpPr>
            <p:cNvPr id="9" name="TextBox 9"/>
            <p:cNvSpPr txBox="1"/>
            <p:nvPr/>
          </p:nvSpPr>
          <p:spPr>
            <a:xfrm>
              <a:off x="852297" y="1704499"/>
              <a:ext cx="103559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AT A GLANCE</a:t>
              </a:r>
            </a:p>
          </p:txBody>
        </p:sp>
        <p:sp>
          <p:nvSpPr>
            <p:cNvPr id="10" name="TextBox 10"/>
            <p:cNvSpPr txBox="1"/>
            <p:nvPr/>
          </p:nvSpPr>
          <p:spPr>
            <a:xfrm>
              <a:off x="851344" y="2008108"/>
              <a:ext cx="307258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Four figures that summarize UniMax and</a:t>
              </a:r>
            </a:p>
          </p:txBody>
        </p:sp>
        <p:sp>
          <p:nvSpPr>
            <p:cNvPr id="11" name="TextBox 11"/>
            <p:cNvSpPr txBox="1"/>
            <p:nvPr/>
          </p:nvSpPr>
          <p:spPr>
            <a:xfrm>
              <a:off x="851344" y="2217658"/>
              <a:ext cx="173737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refreshed corpus.</a:t>
              </a:r>
            </a:p>
          </p:txBody>
        </p:sp>
      </p:grpSp>
      <p:grpSp>
        <p:nvGrpSpPr>
          <p:cNvPr id="20" name="Group 20"/>
          <p:cNvGrpSpPr/>
          <p:nvPr/>
        </p:nvGrpSpPr>
        <p:grpSpPr>
          <a:xfrm>
            <a:off x="6219825" y="1428750"/>
            <a:ext cx="5362575" cy="2419350"/>
            <a:chOff x="6219825" y="1428750"/>
            <a:chExt cx="5362575" cy="2419350"/>
          </a:xfrm>
        </p:grpSpPr>
        <p:sp>
          <p:nvSpPr>
            <p:cNvPr id="13" name="Rectangle 13"/>
            <p:cNvSpPr/>
            <p:nvPr/>
          </p:nvSpPr>
          <p:spPr>
            <a:xfrm>
              <a:off x="6219825" y="1428750"/>
              <a:ext cx="5362575" cy="2419350"/>
            </a:xfrm>
            <a:prstGeom prst="roundRect">
              <a:avLst>
                <a:gd name="adj" fmla="val 6299"/>
              </a:avLst>
            </a:prstGeom>
            <a:solidFill>
              <a:schemeClr val="lt2"/>
            </a:solidFill>
            <a:ln w="9525">
              <a:solidFill>
                <a:schemeClr val="accent4"/>
              </a:solidFill>
            </a:ln>
          </p:spPr>
        </p:sp>
        <p:sp>
          <p:nvSpPr>
            <p:cNvPr id="14" name="Rectangle 14"/>
            <p:cNvSpPr/>
            <p:nvPr/>
          </p:nvSpPr>
          <p:spPr>
            <a:xfrm>
              <a:off x="6219825" y="1600200"/>
              <a:ext cx="47625" cy="2076450"/>
            </a:xfrm>
            <a:prstGeom prst="roundRect">
              <a:avLst>
                <a:gd name="adj" fmla="val 50000"/>
              </a:avLst>
            </a:prstGeom>
            <a:solidFill>
              <a:srgbClr val="FBBF24"/>
            </a:solidFill>
            <a:ln>
              <a:noFill/>
            </a:ln>
          </p:spPr>
        </p:sp>
        <p:sp>
          <p:nvSpPr>
            <p:cNvPr id="15" name="TextBox 15"/>
            <p:cNvSpPr txBox="1"/>
            <p:nvPr/>
          </p:nvSpPr>
          <p:spPr>
            <a:xfrm>
              <a:off x="6462522" y="1704499"/>
              <a:ext cx="1298821"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REFRESHED mC4</a:t>
              </a:r>
            </a:p>
          </p:txBody>
        </p:sp>
        <p:sp>
          <p:nvSpPr>
            <p:cNvPr id="16" name="TextBox 16"/>
            <p:cNvSpPr txBox="1"/>
            <p:nvPr/>
          </p:nvSpPr>
          <p:spPr>
            <a:xfrm>
              <a:off x="6449949" y="1913572"/>
              <a:ext cx="885238"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29T</a:t>
              </a:r>
            </a:p>
          </p:txBody>
        </p:sp>
        <p:sp>
          <p:nvSpPr>
            <p:cNvPr id="17" name="TextBox 17"/>
            <p:cNvSpPr txBox="1"/>
            <p:nvPr/>
          </p:nvSpPr>
          <p:spPr>
            <a:xfrm>
              <a:off x="6462141" y="2420302"/>
              <a:ext cx="157648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chars · 107 languages</a:t>
              </a:r>
            </a:p>
          </p:txBody>
        </p:sp>
        <p:sp>
          <p:nvSpPr>
            <p:cNvPr id="18" name="TextBox 18"/>
            <p:cNvSpPr txBox="1"/>
            <p:nvPr/>
          </p:nvSpPr>
          <p:spPr>
            <a:xfrm>
              <a:off x="6461570" y="2636758"/>
              <a:ext cx="226831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+35% larger, about 9.0 billion</a:t>
              </a:r>
            </a:p>
          </p:txBody>
        </p:sp>
        <p:sp>
          <p:nvSpPr>
            <p:cNvPr id="19" name="TextBox 19"/>
            <p:cNvSpPr txBox="1"/>
            <p:nvPr/>
          </p:nvSpPr>
          <p:spPr>
            <a:xfrm>
              <a:off x="6461570" y="2846308"/>
              <a:ext cx="90191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documents.</a:t>
              </a:r>
            </a:p>
          </p:txBody>
        </p:sp>
      </p:grpSp>
      <p:grpSp>
        <p:nvGrpSpPr>
          <p:cNvPr id="27" name="Group 27"/>
          <p:cNvGrpSpPr/>
          <p:nvPr/>
        </p:nvGrpSpPr>
        <p:grpSpPr>
          <a:xfrm>
            <a:off x="609600" y="4095750"/>
            <a:ext cx="5362575" cy="2419350"/>
            <a:chOff x="609600" y="4095750"/>
            <a:chExt cx="5362575" cy="2419350"/>
          </a:xfrm>
        </p:grpSpPr>
        <p:sp>
          <p:nvSpPr>
            <p:cNvPr id="21" name="Rectangle 21"/>
            <p:cNvSpPr/>
            <p:nvPr/>
          </p:nvSpPr>
          <p:spPr>
            <a:xfrm>
              <a:off x="609600" y="4095750"/>
              <a:ext cx="5362575" cy="2419350"/>
            </a:xfrm>
            <a:prstGeom prst="roundRect">
              <a:avLst>
                <a:gd name="adj" fmla="val 6299"/>
              </a:avLst>
            </a:prstGeom>
            <a:solidFill>
              <a:schemeClr val="lt2"/>
            </a:solidFill>
            <a:ln w="9525">
              <a:solidFill>
                <a:schemeClr val="accent4"/>
              </a:solidFill>
            </a:ln>
          </p:spPr>
        </p:sp>
        <p:sp>
          <p:nvSpPr>
            <p:cNvPr id="22" name="Rectangle 22"/>
            <p:cNvSpPr/>
            <p:nvPr/>
          </p:nvSpPr>
          <p:spPr>
            <a:xfrm>
              <a:off x="609600" y="4267200"/>
              <a:ext cx="47625" cy="2076450"/>
            </a:xfrm>
            <a:prstGeom prst="roundRect">
              <a:avLst>
                <a:gd name="adj" fmla="val 50000"/>
              </a:avLst>
            </a:prstGeom>
            <a:solidFill>
              <a:schemeClr val="accent2"/>
            </a:solidFill>
            <a:ln>
              <a:noFill/>
            </a:ln>
          </p:spPr>
        </p:sp>
        <p:sp>
          <p:nvSpPr>
            <p:cNvPr id="23" name="TextBox 23"/>
            <p:cNvSpPr txBox="1"/>
            <p:nvPr/>
          </p:nvSpPr>
          <p:spPr>
            <a:xfrm>
              <a:off x="852297" y="4371499"/>
              <a:ext cx="1644017"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TyDi QA (½ budget)</a:t>
              </a:r>
            </a:p>
          </p:txBody>
        </p:sp>
        <p:sp>
          <p:nvSpPr>
            <p:cNvPr id="24" name="TextBox 24"/>
            <p:cNvSpPr txBox="1"/>
            <p:nvPr/>
          </p:nvSpPr>
          <p:spPr>
            <a:xfrm>
              <a:off x="839724" y="4580572"/>
              <a:ext cx="1107906"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83.1</a:t>
              </a:r>
            </a:p>
          </p:txBody>
        </p:sp>
        <p:sp>
          <p:nvSpPr>
            <p:cNvPr id="25" name="TextBox 25"/>
            <p:cNvSpPr txBox="1"/>
            <p:nvPr/>
          </p:nvSpPr>
          <p:spPr>
            <a:xfrm>
              <a:off x="851916" y="5087302"/>
              <a:ext cx="282726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UniMax vs 82.8 (τ=3.33) vs 81.2 (τ=1)</a:t>
              </a:r>
            </a:p>
          </p:txBody>
        </p:sp>
        <p:sp>
          <p:nvSpPr>
            <p:cNvPr id="26" name="TextBox 26"/>
            <p:cNvSpPr txBox="1"/>
            <p:nvPr/>
          </p:nvSpPr>
          <p:spPr>
            <a:xfrm>
              <a:off x="851344" y="5303758"/>
              <a:ext cx="321875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umT5-XXL also beats mT5-XXL on TyDi QA.</a:t>
              </a:r>
            </a:p>
          </p:txBody>
        </p:sp>
      </p:grpSp>
      <p:grpSp>
        <p:nvGrpSpPr>
          <p:cNvPr id="35" name="Group 35"/>
          <p:cNvGrpSpPr/>
          <p:nvPr/>
        </p:nvGrpSpPr>
        <p:grpSpPr>
          <a:xfrm>
            <a:off x="6219825" y="4095750"/>
            <a:ext cx="5362575" cy="2419350"/>
            <a:chOff x="6219825" y="4095750"/>
            <a:chExt cx="5362575" cy="2419350"/>
          </a:xfrm>
        </p:grpSpPr>
        <p:sp>
          <p:nvSpPr>
            <p:cNvPr id="28" name="Rectangle 28"/>
            <p:cNvSpPr/>
            <p:nvPr/>
          </p:nvSpPr>
          <p:spPr>
            <a:xfrm>
              <a:off x="6219825" y="4095750"/>
              <a:ext cx="5362575" cy="2419350"/>
            </a:xfrm>
            <a:prstGeom prst="roundRect">
              <a:avLst>
                <a:gd name="adj" fmla="val 6299"/>
              </a:avLst>
            </a:prstGeom>
            <a:solidFill>
              <a:schemeClr val="lt2"/>
            </a:solidFill>
            <a:ln w="9525">
              <a:solidFill>
                <a:schemeClr val="accent4"/>
              </a:solidFill>
            </a:ln>
          </p:spPr>
        </p:sp>
        <p:sp>
          <p:nvSpPr>
            <p:cNvPr id="29" name="Rectangle 29"/>
            <p:cNvSpPr/>
            <p:nvPr/>
          </p:nvSpPr>
          <p:spPr>
            <a:xfrm>
              <a:off x="6219825" y="4267200"/>
              <a:ext cx="47625" cy="2076450"/>
            </a:xfrm>
            <a:prstGeom prst="roundRect">
              <a:avLst>
                <a:gd name="adj" fmla="val 50000"/>
              </a:avLst>
            </a:prstGeom>
            <a:solidFill>
              <a:srgbClr val="F87171"/>
            </a:solidFill>
            <a:ln>
              <a:noFill/>
            </a:ln>
          </p:spPr>
        </p:sp>
        <p:sp>
          <p:nvSpPr>
            <p:cNvPr id="30" name="TextBox 30"/>
            <p:cNvSpPr txBox="1"/>
            <p:nvPr/>
          </p:nvSpPr>
          <p:spPr>
            <a:xfrm>
              <a:off x="6462522" y="4371499"/>
              <a:ext cx="2003350" cy="190690"/>
            </a:xfrm>
            <a:prstGeom prst="rect">
              <a:avLst/>
            </a:prstGeom>
            <a:noFill/>
            <a:ln>
              <a:noFill/>
            </a:ln>
          </p:spPr>
          <p:txBody>
            <a:bodyPr wrap="none" lIns="0" tIns="0" rIns="0" bIns="0" anchor="t" anchorCtr="0">
              <a:spAutoFit/>
            </a:bodyPr>
            <a:lstStyle/>
            <a:p>
              <a:pPr algn="l"/>
              <a:r>
                <a:rPr lang="en-US" sz="980" b="1" spc="150" dirty="0">
                  <a:solidFill>
                    <a:srgbClr val="F87171"/>
                  </a:solidFill>
                  <a:latin typeface="+mn-lt"/>
                  <a:ea typeface="+mn-ea"/>
                  <a:cs typeface="+mn-cs"/>
                </a:rPr>
                <a:t>WHAT THE CAP REMOVES</a:t>
              </a:r>
            </a:p>
          </p:txBody>
        </p:sp>
        <p:sp>
          <p:nvSpPr>
            <p:cNvPr id="31" name="TextBox 31"/>
            <p:cNvSpPr txBox="1"/>
            <p:nvPr/>
          </p:nvSpPr>
          <p:spPr>
            <a:xfrm>
              <a:off x="6449949" y="4580572"/>
              <a:ext cx="1376120" cy="674751"/>
            </a:xfrm>
            <a:prstGeom prst="rect">
              <a:avLst/>
            </a:prstGeom>
            <a:noFill/>
            <a:ln>
              <a:noFill/>
            </a:ln>
          </p:spPr>
          <p:txBody>
            <a:bodyPr wrap="none" lIns="0" tIns="0" rIns="0" bIns="0" anchor="t" anchorCtr="0">
              <a:spAutoFit/>
            </a:bodyPr>
            <a:lstStyle/>
            <a:p>
              <a:pPr algn="l"/>
              <a:r>
                <a:rPr lang="en-US" sz="3450" b="1" dirty="0">
                  <a:solidFill>
                    <a:schemeClr val="dk1"/>
                  </a:solidFill>
                  <a:latin typeface="+mn-lt"/>
                  <a:ea typeface="+mn-ea"/>
                  <a:cs typeface="+mn-cs"/>
                </a:rPr>
                <a:t>&gt;100×</a:t>
              </a:r>
            </a:p>
          </p:txBody>
        </p:sp>
        <p:sp>
          <p:nvSpPr>
            <p:cNvPr id="32" name="TextBox 32"/>
            <p:cNvSpPr txBox="1"/>
            <p:nvPr/>
          </p:nvSpPr>
          <p:spPr>
            <a:xfrm>
              <a:off x="6462141" y="5087302"/>
              <a:ext cx="162100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tail repeats at τ=3.33</a:t>
              </a:r>
            </a:p>
          </p:txBody>
        </p:sp>
        <p:sp>
          <p:nvSpPr>
            <p:cNvPr id="33" name="TextBox 33"/>
            <p:cNvSpPr txBox="1"/>
            <p:nvPr/>
          </p:nvSpPr>
          <p:spPr>
            <a:xfrm>
              <a:off x="6461570" y="5303758"/>
              <a:ext cx="308092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Exactly what UniMax's per-language cap</a:t>
              </a:r>
            </a:p>
          </p:txBody>
        </p:sp>
        <p:sp>
          <p:nvSpPr>
            <p:cNvPr id="34" name="TextBox 34"/>
            <p:cNvSpPr txBox="1"/>
            <p:nvPr/>
          </p:nvSpPr>
          <p:spPr>
            <a:xfrm>
              <a:off x="6461570" y="5513308"/>
              <a:ext cx="8706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eliminates.</a:t>
              </a:r>
            </a:p>
          </p:txBody>
        </p:sp>
      </p:grpSp>
      <p:sp>
        <p:nvSpPr>
          <p:cNvPr id="36" name="cue_s09_c1_let_put_headline_numbers_together" title="cue_s09_c1_let_put_headline_numbers_together" descr="cue_s09_c1_let_put_headline_numbers_together Let us put the headline numbers together."/>
          <p:cNvSpPr/>
          <p:nvPr/>
        </p:nvSpPr>
        <p:spPr>
          <a:xfrm>
            <a:off x="609600"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2_refreshed_mc4_twenty_nine_trillion_c" title="cue_s09_c2_refreshed_mc4_twenty_nine_trillion_c" descr="cue_s09_c2_refreshed_mc4_twenty_nine_trillion_c The refreshed mC4 has twenty-nine trillion characters across one hundred seven languages, a thirty-five percent size increase."/>
          <p:cNvSpPr/>
          <p:nvPr/>
        </p:nvSpPr>
        <p:spPr>
          <a:xfrm>
            <a:off x="6220358" y="1428521"/>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3_tydi_larger_budget_unimax_scores" title="cue_s09_c3_tydi_larger_budget_unimax_scores" descr="cue_s09_c3_tydi_larger_budget_unimax_scores On TyDi QA at the larger budget, UniMax scores eighty-three point one, ahead of both baselines. The umT5 XXL checkpoint beats the earlier mT5 XXL on TyDi QA."/>
          <p:cNvSpPr/>
          <p:nvPr/>
        </p:nvSpPr>
        <p:spPr>
          <a:xfrm>
            <a:off x="609600"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4_remember_tau_equals_three_point" title="cue_s09_c4_remember_tau_equals_three_point" descr="cue_s09_c4_remember_tau_equals_three_point And remember, at tau equals three point three three, the lowest-resource languages were being repeated more than a hundred times over."/>
          <p:cNvSpPr/>
          <p:nvPr/>
        </p:nvSpPr>
        <p:spPr>
          <a:xfrm>
            <a:off x="6220358" y="4095597"/>
            <a:ext cx="5362041" cy="24195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1200150"/>
            <a:ext cx="10972800" cy="14288"/>
          </a:xfrm>
          <a:prstGeom prst="rect">
            <a:avLst/>
          </a:prstGeom>
          <a:solidFill>
            <a:schemeClr val="accent4"/>
          </a:solidFill>
          <a:ln>
            <a:noFill/>
          </a:ln>
        </p:spPr>
        <p:txBody>
          <a:bodyPr/>
          <a:p/>
        </p:txBody>
      </p:sp>
      <p:sp>
        <p:nvSpPr>
          <p:cNvPr id="3" name="Rectangle 3"/>
          <p:cNvSpPr/>
          <p:nvPr/>
        </p:nvSpPr>
        <p:spPr>
          <a:xfrm>
            <a:off x="609600" y="495300"/>
            <a:ext cx="323850" cy="57150"/>
          </a:xfrm>
          <a:prstGeom prst="roundRect">
            <a:avLst>
              <a:gd name="adj" fmla="val 50000"/>
            </a:avLst>
          </a:prstGeom>
          <a:solidFill>
            <a:schemeClr val="accent1"/>
          </a:solidFill>
          <a:ln>
            <a:noFill/>
          </a:ln>
        </p:spPr>
        <p:txBody>
          <a:bodyPr/>
          <a:p/>
        </p:txBody>
      </p:sp>
      <p:sp>
        <p:nvSpPr>
          <p:cNvPr id="4" name="TextBox 4"/>
          <p:cNvSpPr txBox="1"/>
          <p:nvPr/>
        </p:nvSpPr>
        <p:spPr>
          <a:xfrm>
            <a:off x="1022985" y="469106"/>
            <a:ext cx="968079" cy="220028"/>
          </a:xfrm>
          <a:prstGeom prst="rect">
            <a:avLst/>
          </a:prstGeom>
          <a:noFill/>
          <a:ln>
            <a:noFill/>
          </a:ln>
        </p:spPr>
        <p:txBody>
          <a:bodyPr wrap="none" lIns="0" tIns="0" rIns="0" bIns="0" anchor="t" anchorCtr="0">
            <a:spAutoFit/>
          </a:bodyPr>
          <a:lstStyle/>
          <a:p>
            <a:pPr algn="l"/>
            <a:r>
              <a:rPr lang="en-US" sz="1120" b="1" spc="188" dirty="0">
                <a:solidFill>
                  <a:schemeClr val="accent1"/>
                </a:solidFill>
                <a:latin typeface="+mn-lt"/>
                <a:ea typeface="+mn-ea"/>
                <a:cs typeface="+mn-cs"/>
              </a:rPr>
              <a:t>TAKEAWAY</a:t>
            </a:r>
          </a:p>
        </p:txBody>
      </p:sp>
      <p:sp>
        <p:nvSpPr>
          <p:cNvPr id="5" name="TextBox 5"/>
          <p:cNvSpPr txBox="1"/>
          <p:nvPr/>
        </p:nvSpPr>
        <p:spPr>
          <a:xfrm>
            <a:off x="596646" y="715328"/>
            <a:ext cx="701285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Cap repeats, spread the rest uniformly</a:t>
            </a:r>
          </a:p>
        </p:txBody>
      </p:sp>
      <p:sp>
        <p:nvSpPr>
          <p:cNvPr id="6" name="TextBox 6"/>
          <p:cNvSpPr txBox="1"/>
          <p:nvPr/>
        </p:nvSpPr>
        <p:spPr>
          <a:xfrm>
            <a:off x="10989399" y="477202"/>
            <a:ext cx="598335" cy="205359"/>
          </a:xfrm>
          <a:prstGeom prst="rect">
            <a:avLst/>
          </a:prstGeom>
          <a:noFill/>
          <a:ln>
            <a:noFill/>
          </a:ln>
        </p:spPr>
        <p:txBody>
          <a:bodyPr wrap="none" lIns="0" tIns="0" rIns="0" bIns="0" anchor="t" anchorCtr="0">
            <a:spAutoFit/>
          </a:bodyPr>
          <a:lstStyle/>
          <a:p>
            <a:pPr algn="r"/>
            <a:r>
              <a:rPr lang="en-US" sz="1050" b="1" spc="112" dirty="0">
                <a:solidFill>
                  <a:srgbClr val="63788F"/>
                </a:solidFill>
                <a:latin typeface="+mn-lt"/>
                <a:ea typeface="+mn-ea"/>
                <a:cs typeface="+mn-cs"/>
              </a:rPr>
              <a:t>10 / 10</a:t>
            </a:r>
          </a:p>
        </p:txBody>
      </p:sp>
      <p:grpSp>
        <p:nvGrpSpPr>
          <p:cNvPr id="13" name="Group 13"/>
          <p:cNvGrpSpPr/>
          <p:nvPr/>
        </p:nvGrpSpPr>
        <p:grpSpPr>
          <a:xfrm>
            <a:off x="609600" y="1428750"/>
            <a:ext cx="3492500" cy="5086350"/>
            <a:chOff x="609600" y="1428750"/>
            <a:chExt cx="3492500" cy="5086350"/>
          </a:xfrm>
        </p:grpSpPr>
        <p:sp>
          <p:nvSpPr>
            <p:cNvPr id="7" name="Rectangle 7"/>
            <p:cNvSpPr/>
            <p:nvPr/>
          </p:nvSpPr>
          <p:spPr>
            <a:xfrm>
              <a:off x="609600" y="1428750"/>
              <a:ext cx="3492500" cy="5086350"/>
            </a:xfrm>
            <a:prstGeom prst="roundRect">
              <a:avLst>
                <a:gd name="adj" fmla="val 4364"/>
              </a:avLst>
            </a:prstGeom>
            <a:solidFill>
              <a:schemeClr val="lt2"/>
            </a:solidFill>
            <a:ln w="9525">
              <a:solidFill>
                <a:schemeClr val="accent4"/>
              </a:solidFill>
            </a:ln>
          </p:spPr>
        </p:sp>
        <p:sp>
          <p:nvSpPr>
            <p:cNvPr id="8" name="Rectangle 8"/>
            <p:cNvSpPr/>
            <p:nvPr/>
          </p:nvSpPr>
          <p:spPr>
            <a:xfrm>
              <a:off x="609600" y="1600200"/>
              <a:ext cx="47625" cy="4743450"/>
            </a:xfrm>
            <a:prstGeom prst="roundRect">
              <a:avLst>
                <a:gd name="adj" fmla="val 50000"/>
              </a:avLst>
            </a:prstGeom>
            <a:solidFill>
              <a:schemeClr val="accent1"/>
            </a:solidFill>
            <a:ln>
              <a:noFill/>
            </a:ln>
          </p:spPr>
        </p:sp>
        <p:sp>
          <p:nvSpPr>
            <p:cNvPr id="9" name="TextBox 9"/>
            <p:cNvSpPr txBox="1"/>
            <p:nvPr/>
          </p:nvSpPr>
          <p:spPr>
            <a:xfrm>
              <a:off x="852297" y="1704499"/>
              <a:ext cx="1203292" cy="190690"/>
            </a:xfrm>
            <a:prstGeom prst="rect">
              <a:avLst/>
            </a:prstGeom>
            <a:noFill/>
            <a:ln>
              <a:noFill/>
            </a:ln>
          </p:spPr>
          <p:txBody>
            <a:bodyPr wrap="none" lIns="0" tIns="0" rIns="0" bIns="0" anchor="t" anchorCtr="0">
              <a:spAutoFit/>
            </a:bodyPr>
            <a:lstStyle/>
            <a:p>
              <a:pPr algn="l"/>
              <a:r>
                <a:rPr lang="en-US" sz="980" b="1" spc="150" dirty="0">
                  <a:solidFill>
                    <a:schemeClr val="accent1"/>
                  </a:solidFill>
                  <a:latin typeface="+mn-lt"/>
                  <a:ea typeface="+mn-ea"/>
                  <a:cs typeface="+mn-cs"/>
                </a:rPr>
                <a:t>THE TAKEAWAY</a:t>
              </a:r>
            </a:p>
          </p:txBody>
        </p:sp>
        <p:sp>
          <p:nvSpPr>
            <p:cNvPr id="10" name="TextBox 10"/>
            <p:cNvSpPr txBox="1"/>
            <p:nvPr/>
          </p:nvSpPr>
          <p:spPr>
            <a:xfrm>
              <a:off x="851344" y="2008108"/>
              <a:ext cx="208649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One idea: cap per-language</a:t>
              </a:r>
            </a:p>
          </p:txBody>
        </p:sp>
        <p:sp>
          <p:nvSpPr>
            <p:cNvPr id="11" name="TextBox 11"/>
            <p:cNvSpPr txBox="1"/>
            <p:nvPr/>
          </p:nvSpPr>
          <p:spPr>
            <a:xfrm>
              <a:off x="851344" y="2217658"/>
              <a:ext cx="213557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repeats, and distribute the</a:t>
              </a:r>
            </a:p>
          </p:txBody>
        </p:sp>
        <p:sp>
          <p:nvSpPr>
            <p:cNvPr id="12" name="TextBox 12"/>
            <p:cNvSpPr txBox="1"/>
            <p:nvPr/>
          </p:nvSpPr>
          <p:spPr>
            <a:xfrm>
              <a:off x="851344" y="2427208"/>
              <a:ext cx="215900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remaining budget uniformly.</a:t>
              </a:r>
            </a:p>
          </p:txBody>
        </p:sp>
      </p:grpSp>
      <p:grpSp>
        <p:nvGrpSpPr>
          <p:cNvPr id="20" name="Group 20"/>
          <p:cNvGrpSpPr/>
          <p:nvPr/>
        </p:nvGrpSpPr>
        <p:grpSpPr>
          <a:xfrm>
            <a:off x="4349750" y="1428750"/>
            <a:ext cx="3492500" cy="5086350"/>
            <a:chOff x="4349750" y="1428750"/>
            <a:chExt cx="3492500" cy="5086350"/>
          </a:xfrm>
        </p:grpSpPr>
        <p:sp>
          <p:nvSpPr>
            <p:cNvPr id="14" name="Rectangle 14"/>
            <p:cNvSpPr/>
            <p:nvPr/>
          </p:nvSpPr>
          <p:spPr>
            <a:xfrm>
              <a:off x="4349750" y="1428750"/>
              <a:ext cx="3492500" cy="5086350"/>
            </a:xfrm>
            <a:prstGeom prst="roundRect">
              <a:avLst>
                <a:gd name="adj" fmla="val 4364"/>
              </a:avLst>
            </a:prstGeom>
            <a:solidFill>
              <a:schemeClr val="lt2"/>
            </a:solidFill>
            <a:ln w="9525">
              <a:solidFill>
                <a:schemeClr val="accent4"/>
              </a:solidFill>
            </a:ln>
          </p:spPr>
        </p:sp>
        <p:sp>
          <p:nvSpPr>
            <p:cNvPr id="15" name="Rectangle 15"/>
            <p:cNvSpPr/>
            <p:nvPr/>
          </p:nvSpPr>
          <p:spPr>
            <a:xfrm>
              <a:off x="4349750" y="1600200"/>
              <a:ext cx="47625" cy="4743450"/>
            </a:xfrm>
            <a:prstGeom prst="roundRect">
              <a:avLst>
                <a:gd name="adj" fmla="val 50000"/>
              </a:avLst>
            </a:prstGeom>
            <a:solidFill>
              <a:schemeClr val="accent2"/>
            </a:solidFill>
            <a:ln>
              <a:noFill/>
            </a:ln>
          </p:spPr>
        </p:sp>
        <p:sp>
          <p:nvSpPr>
            <p:cNvPr id="16" name="TextBox 16"/>
            <p:cNvSpPr txBox="1"/>
            <p:nvPr/>
          </p:nvSpPr>
          <p:spPr>
            <a:xfrm>
              <a:off x="4592447" y="1704499"/>
              <a:ext cx="171247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BEATS TEMPERATURE</a:t>
              </a:r>
            </a:p>
          </p:txBody>
        </p:sp>
        <p:sp>
          <p:nvSpPr>
            <p:cNvPr id="17" name="TextBox 17"/>
            <p:cNvSpPr txBox="1"/>
            <p:nvPr/>
          </p:nvSpPr>
          <p:spPr>
            <a:xfrm>
              <a:off x="4591494" y="2008108"/>
              <a:ext cx="273410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Outperforms temperature sampling</a:t>
              </a:r>
            </a:p>
          </p:txBody>
        </p:sp>
        <p:sp>
          <p:nvSpPr>
            <p:cNvPr id="18" name="TextBox 18"/>
            <p:cNvSpPr txBox="1"/>
            <p:nvPr/>
          </p:nvSpPr>
          <p:spPr>
            <a:xfrm>
              <a:off x="4591494" y="2217658"/>
              <a:ext cx="248693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for multilingual pretraining, and</a:t>
              </a:r>
            </a:p>
          </p:txBody>
        </p:sp>
        <p:sp>
          <p:nvSpPr>
            <p:cNvPr id="19" name="TextBox 19"/>
            <p:cNvSpPr txBox="1"/>
            <p:nvPr/>
          </p:nvSpPr>
          <p:spPr>
            <a:xfrm>
              <a:off x="4591494" y="2427208"/>
              <a:ext cx="239323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edge holds as models scale.</a:t>
              </a:r>
            </a:p>
          </p:txBody>
        </p:sp>
      </p:grpSp>
      <p:grpSp>
        <p:nvGrpSpPr>
          <p:cNvPr id="27" name="Group 27"/>
          <p:cNvGrpSpPr/>
          <p:nvPr/>
        </p:nvGrpSpPr>
        <p:grpSpPr>
          <a:xfrm>
            <a:off x="8089900" y="1428750"/>
            <a:ext cx="3492500" cy="5086350"/>
            <a:chOff x="8089900" y="1428750"/>
            <a:chExt cx="3492500" cy="5086350"/>
          </a:xfrm>
        </p:grpSpPr>
        <p:sp>
          <p:nvSpPr>
            <p:cNvPr id="21" name="Rectangle 21"/>
            <p:cNvSpPr/>
            <p:nvPr/>
          </p:nvSpPr>
          <p:spPr>
            <a:xfrm>
              <a:off x="8089900" y="1428750"/>
              <a:ext cx="3492500" cy="5086350"/>
            </a:xfrm>
            <a:prstGeom prst="roundRect">
              <a:avLst>
                <a:gd name="adj" fmla="val 4364"/>
              </a:avLst>
            </a:prstGeom>
            <a:solidFill>
              <a:schemeClr val="lt2"/>
            </a:solidFill>
            <a:ln w="9525">
              <a:solidFill>
                <a:schemeClr val="accent4"/>
              </a:solidFill>
            </a:ln>
          </p:spPr>
        </p:sp>
        <p:sp>
          <p:nvSpPr>
            <p:cNvPr id="22" name="Rectangle 22"/>
            <p:cNvSpPr/>
            <p:nvPr/>
          </p:nvSpPr>
          <p:spPr>
            <a:xfrm>
              <a:off x="8089900" y="1600200"/>
              <a:ext cx="47625" cy="4743450"/>
            </a:xfrm>
            <a:prstGeom prst="roundRect">
              <a:avLst>
                <a:gd name="adj" fmla="val 50000"/>
              </a:avLst>
            </a:prstGeom>
            <a:solidFill>
              <a:srgbClr val="FBBF24"/>
            </a:solidFill>
            <a:ln>
              <a:noFill/>
            </a:ln>
          </p:spPr>
        </p:sp>
        <p:sp>
          <p:nvSpPr>
            <p:cNvPr id="23" name="TextBox 23"/>
            <p:cNvSpPr txBox="1"/>
            <p:nvPr/>
          </p:nvSpPr>
          <p:spPr>
            <a:xfrm>
              <a:off x="8332597" y="1704499"/>
              <a:ext cx="1908831" cy="190690"/>
            </a:xfrm>
            <a:prstGeom prst="rect">
              <a:avLst/>
            </a:prstGeom>
            <a:noFill/>
            <a:ln>
              <a:noFill/>
            </a:ln>
          </p:spPr>
          <p:txBody>
            <a:bodyPr wrap="none" lIns="0" tIns="0" rIns="0" bIns="0" anchor="t" anchorCtr="0">
              <a:spAutoFit/>
            </a:bodyPr>
            <a:lstStyle/>
            <a:p>
              <a:pPr algn="l"/>
              <a:r>
                <a:rPr lang="en-US" sz="980" b="1" spc="150" dirty="0">
                  <a:solidFill>
                    <a:srgbClr val="FBBF24"/>
                  </a:solidFill>
                  <a:latin typeface="+mn-lt"/>
                  <a:ea typeface="+mn-ea"/>
                  <a:cs typeface="+mn-cs"/>
                </a:rPr>
                <a:t>DROP-IN REPLACEMENT</a:t>
              </a:r>
            </a:p>
          </p:txBody>
        </p:sp>
        <p:sp>
          <p:nvSpPr>
            <p:cNvPr id="24" name="TextBox 24"/>
            <p:cNvSpPr txBox="1"/>
            <p:nvPr/>
          </p:nvSpPr>
          <p:spPr>
            <a:xfrm>
              <a:off x="8331644" y="2008108"/>
              <a:ext cx="259364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Hyperparameter-light; ships with</a:t>
              </a:r>
            </a:p>
          </p:txBody>
        </p:sp>
        <p:sp>
          <p:nvSpPr>
            <p:cNvPr id="25" name="TextBox 25"/>
            <p:cNvSpPr txBox="1"/>
            <p:nvPr/>
          </p:nvSpPr>
          <p:spPr>
            <a:xfrm>
              <a:off x="8331644" y="2217658"/>
              <a:ext cx="216330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refreshed mC4 and umT5</a:t>
              </a:r>
            </a:p>
          </p:txBody>
        </p:sp>
        <p:sp>
          <p:nvSpPr>
            <p:cNvPr id="26" name="TextBox 26"/>
            <p:cNvSpPr txBox="1"/>
            <p:nvPr/>
          </p:nvSpPr>
          <p:spPr>
            <a:xfrm>
              <a:off x="8331644" y="2427208"/>
              <a:ext cx="239323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checkpoints you can use today.</a:t>
              </a:r>
            </a:p>
          </p:txBody>
        </p:sp>
      </p:grpSp>
      <p:sp>
        <p:nvSpPr>
          <p:cNvPr id="28" name="cue_s10_c1_takeaway_simple" title="cue_s10_c1_takeaway_simple" descr="cue_s10_c1_takeaway_simple The takeaway is simple."/>
          <p:cNvSpPr/>
          <p:nvPr/>
        </p:nvSpPr>
        <p:spPr>
          <a:xfrm>
            <a:off x="609600"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ue_s10_c2_capping_per_language_repeats_spreadi" title="cue_s10_c2_capping_per_language_repeats_spreadi" descr="cue_s10_c2_capping_per_language_repeats_spreadi Capping per-language repeats, and spreading the rest of the budget uniformly, beats temperature sampling for multilingual pretraining, and that advantage holds as models scale."/>
          <p:cNvSpPr/>
          <p:nvPr/>
        </p:nvSpPr>
        <p:spPr>
          <a:xfrm>
            <a:off x="4350105"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3_unimax_drop_in_hyperparameter_light" title="cue_s10_c3_unimax_drop_in_hyperparameter_light" descr="cue_s10_c3_unimax_drop_in_hyperparameter_light UniMax is a drop-in, hyperparameter-light replacement for temperature sampling, and it ships with a refreshed corpus and umT5 checkpoints you can use today."/>
          <p:cNvSpPr/>
          <p:nvPr/>
        </p:nvSpPr>
        <p:spPr>
          <a:xfrm>
            <a:off x="8089392" y="1428521"/>
            <a:ext cx="3493007" cy="50865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8EEF7"/>
      </a:dk1>
      <a:lt1>
        <a:srgbClr val="0F1626"/>
      </a:lt1>
      <a:dk2>
        <a:srgbClr val="9FB2C6"/>
      </a:dk2>
      <a:lt2>
        <a:srgbClr val="1A2438"/>
      </a:lt2>
      <a:accent1>
        <a:srgbClr val="4EA1FF"/>
      </a:accent1>
      <a:accent2>
        <a:srgbClr val="6EE7B7"/>
      </a:accent2>
      <a:accent3>
        <a:srgbClr val="6EE7B7"/>
      </a:accent3>
      <a:accent4>
        <a:srgbClr val="2B3B57"/>
      </a:accent4>
      <a:accent5>
        <a:srgbClr val="1A2438"/>
      </a:accent5>
      <a:accent6>
        <a:srgbClr val="162033"/>
      </a:accent6>
      <a:hlink>
        <a:srgbClr val="6EE7B7"/>
      </a:hlink>
      <a:folHlink>
        <a:srgbClr val="6EE7B7"/>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2026-07-15T18:46:28Z</dcterms:created>
  <dcterms:modified xsi:type="dcterms:W3CDTF">2026-07-15T18:46:28Z</dcterms:modified>
  <cp:category/>
  <cp:contentStatus/>
</cp:coreProperties>
</file>
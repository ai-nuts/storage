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nubot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nubot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48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8e5dae1b057c210.png"/><Relationship Id="rId3" Type="http://schemas.openxmlformats.org/officeDocument/2006/relationships/image" Target="../media/image_b91528760eca9355.png"/><Relationship Id="rId4" Type="http://schemas.openxmlformats.org/officeDocument/2006/relationships/image" Target="../media/image_a539f160932ed145.png"/><Relationship Id="rId5" Type="http://schemas.openxmlformats.org/officeDocument/2006/relationships/image" Target="../media/image_0b339d322e8b24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d68c95420648618c.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2eb9e019618a38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da41e3e018617bc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b6284baf79f0478e.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762952"/>
            <a:ext cx="6071700" cy="205359"/>
            <a:chOff x="762000" y="762952"/>
            <a:chExt cx="6071700" cy="205359"/>
          </a:xfrm>
        </p:grpSpPr>
        <p:sp>
          <p:nvSpPr>
            <p:cNvPr id="2" name="Rectangle 2"/>
            <p:cNvSpPr/>
            <p:nvPr/>
          </p:nvSpPr>
          <p:spPr>
            <a:xfrm>
              <a:off x="762000" y="800100"/>
              <a:ext cx="438150" cy="38100"/>
            </a:xfrm>
            <a:prstGeom prst="rect">
              <a:avLst/>
            </a:prstGeom>
            <a:solidFill>
              <a:schemeClr val="accent1"/>
            </a:solidFill>
            <a:ln>
              <a:noFill/>
            </a:ln>
          </p:spPr>
        </p:sp>
        <p:sp>
          <p:nvSpPr>
            <p:cNvPr id="3" name="TextBox 3"/>
            <p:cNvSpPr txBox="1"/>
            <p:nvPr/>
          </p:nvSpPr>
          <p:spPr>
            <a:xfrm>
              <a:off x="1309116" y="762952"/>
              <a:ext cx="552458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OPTIMAL TRANSPORT · SINGLE-CELL BIOLOGY · NEURIPS 2022</a:t>
              </a:r>
            </a:p>
          </p:txBody>
        </p:sp>
      </p:grpSp>
      <p:grpSp>
        <p:nvGrpSpPr>
          <p:cNvPr id="8" name="Group 8"/>
          <p:cNvGrpSpPr/>
          <p:nvPr/>
        </p:nvGrpSpPr>
        <p:grpSpPr>
          <a:xfrm>
            <a:off x="723900" y="1190625"/>
            <a:ext cx="4633581" cy="1379887"/>
            <a:chOff x="723900" y="1190625"/>
            <a:chExt cx="4633581" cy="1379887"/>
          </a:xfrm>
        </p:grpSpPr>
        <p:sp>
          <p:nvSpPr>
            <p:cNvPr id="5" name="TextBox 5"/>
            <p:cNvSpPr txBox="1"/>
            <p:nvPr/>
          </p:nvSpPr>
          <p:spPr>
            <a:xfrm>
              <a:off x="723900" y="1190625"/>
              <a:ext cx="1978262"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NubOT</a:t>
              </a:r>
            </a:p>
          </p:txBody>
        </p:sp>
        <p:sp>
          <p:nvSpPr>
            <p:cNvPr id="6" name="TextBox 6"/>
            <p:cNvSpPr txBox="1"/>
            <p:nvPr/>
          </p:nvSpPr>
          <p:spPr>
            <a:xfrm>
              <a:off x="772287" y="1947386"/>
              <a:ext cx="4585194" cy="337376"/>
            </a:xfrm>
            <a:prstGeom prst="rect">
              <a:avLst/>
            </a:prstGeom>
            <a:noFill/>
            <a:ln>
              <a:noFill/>
            </a:ln>
          </p:spPr>
          <p:txBody>
            <a:bodyPr wrap="none" lIns="0" tIns="0" rIns="0" bIns="0" anchor="t" anchorCtr="0">
              <a:spAutoFit/>
            </a:bodyPr>
            <a:lstStyle/>
            <a:p>
              <a:pPr algn="l"/>
              <a:r>
                <a:rPr lang="en-US" sz="1720" dirty="0">
                  <a:solidFill>
                    <a:schemeClr val="dk2"/>
                  </a:solidFill>
                  <a:latin typeface="+mn-lt"/>
                  <a:ea typeface="+mn-ea"/>
                  <a:cs typeface="+mn-cs"/>
                </a:rPr>
                <a:t>Neural Unbalanced Optimal Transport via</a:t>
              </a:r>
            </a:p>
          </p:txBody>
        </p:sp>
        <p:sp>
          <p:nvSpPr>
            <p:cNvPr id="7" name="TextBox 7"/>
            <p:cNvSpPr txBox="1"/>
            <p:nvPr/>
          </p:nvSpPr>
          <p:spPr>
            <a:xfrm>
              <a:off x="772287" y="2233136"/>
              <a:ext cx="3693871" cy="337376"/>
            </a:xfrm>
            <a:prstGeom prst="rect">
              <a:avLst/>
            </a:prstGeom>
            <a:noFill/>
            <a:ln>
              <a:noFill/>
            </a:ln>
          </p:spPr>
          <p:txBody>
            <a:bodyPr wrap="none" lIns="0" tIns="0" rIns="0" bIns="0" anchor="t" anchorCtr="0">
              <a:spAutoFit/>
            </a:bodyPr>
            <a:lstStyle/>
            <a:p>
              <a:pPr algn="l"/>
              <a:r>
                <a:rPr lang="en-US" sz="1720" dirty="0">
                  <a:solidFill>
                    <a:schemeClr val="dk2"/>
                  </a:solidFill>
                  <a:latin typeface="+mn-lt"/>
                  <a:ea typeface="+mn-ea"/>
                  <a:cs typeface="+mn-cs"/>
                </a:rPr>
                <a:t>Cycle-Consistent Semi-Couplings</a:t>
              </a:r>
            </a:p>
          </p:txBody>
        </p:sp>
      </p:grpSp>
      <p:grpSp>
        <p:nvGrpSpPr>
          <p:cNvPr id="11" name="Group 11"/>
          <p:cNvGrpSpPr/>
          <p:nvPr/>
        </p:nvGrpSpPr>
        <p:grpSpPr>
          <a:xfrm>
            <a:off x="775716" y="2706052"/>
            <a:ext cx="5143242" cy="395859"/>
            <a:chOff x="775716" y="2706052"/>
            <a:chExt cx="5143242" cy="395859"/>
          </a:xfrm>
        </p:grpSpPr>
        <p:sp>
          <p:nvSpPr>
            <p:cNvPr id="9" name="TextBox 9"/>
            <p:cNvSpPr txBox="1"/>
            <p:nvPr/>
          </p:nvSpPr>
          <p:spPr>
            <a:xfrm>
              <a:off x="775716" y="2706052"/>
              <a:ext cx="5143242"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Frederike Lübeck · Charlotte Bunne · Gabriele Gut · J. Sarabia del Castillo</a:t>
              </a:r>
            </a:p>
          </p:txBody>
        </p:sp>
        <p:sp>
          <p:nvSpPr>
            <p:cNvPr id="10" name="TextBox 10"/>
            <p:cNvSpPr txBox="1"/>
            <p:nvPr/>
          </p:nvSpPr>
          <p:spPr>
            <a:xfrm>
              <a:off x="775716" y="2896552"/>
              <a:ext cx="4904192"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Lucas Pelkmans · David Alvarez-Melis · ETH Zurich · Univ. Zurich · MSR</a:t>
              </a:r>
            </a:p>
          </p:txBody>
        </p:sp>
      </p:grpSp>
      <p:grpSp>
        <p:nvGrpSpPr>
          <p:cNvPr id="15" name="Group 15"/>
          <p:cNvGrpSpPr/>
          <p:nvPr/>
        </p:nvGrpSpPr>
        <p:grpSpPr>
          <a:xfrm>
            <a:off x="781050" y="3238500"/>
            <a:ext cx="4505325" cy="400050"/>
            <a:chOff x="781050" y="3238500"/>
            <a:chExt cx="4505325" cy="400050"/>
          </a:xfrm>
        </p:grpSpPr>
        <p:pic>
          <p:nvPicPr>
            <p:cNvPr id="12" name="Image 12"/>
            <p:cNvPicPr>
              <a:picLocks noChangeAspect="1"/>
            </p:cNvPicPr>
            <p:nvPr/>
          </p:nvPicPr>
          <p:blipFill>
            <a:blip r:embed="rId2"/>
            <a:stretch>
              <a:fillRect/>
            </a:stretch>
          </p:blipFill>
          <p:spPr>
            <a:xfrm>
              <a:off x="781050" y="3319462"/>
              <a:ext cx="1428750" cy="238125"/>
            </a:xfrm>
            <a:prstGeom prst="rect">
              <a:avLst/>
            </a:prstGeom>
          </p:spPr>
        </p:pic>
        <p:pic>
          <p:nvPicPr>
            <p:cNvPr id="13" name="Image 13"/>
            <p:cNvPicPr>
              <a:picLocks noChangeAspect="1"/>
            </p:cNvPicPr>
            <p:nvPr/>
          </p:nvPicPr>
          <p:blipFill>
            <a:blip r:embed="rId3"/>
            <a:stretch>
              <a:fillRect/>
            </a:stretch>
          </p:blipFill>
          <p:spPr>
            <a:xfrm>
              <a:off x="2457450" y="3238500"/>
              <a:ext cx="1162050" cy="400050"/>
            </a:xfrm>
            <a:prstGeom prst="rect">
              <a:avLst/>
            </a:prstGeom>
          </p:spPr>
        </p:pic>
        <p:pic>
          <p:nvPicPr>
            <p:cNvPr id="14" name="Image 14"/>
            <p:cNvPicPr>
              <a:picLocks noChangeAspect="1"/>
            </p:cNvPicPr>
            <p:nvPr/>
          </p:nvPicPr>
          <p:blipFill>
            <a:blip r:embed="rId4"/>
            <a:stretch>
              <a:fillRect/>
            </a:stretch>
          </p:blipFill>
          <p:spPr>
            <a:xfrm>
              <a:off x="3867150" y="3238500"/>
              <a:ext cx="1419225" cy="400050"/>
            </a:xfrm>
            <a:prstGeom prst="rect">
              <a:avLst/>
            </a:prstGeom>
          </p:spPr>
        </p:pic>
      </p:grpSp>
      <p:grpSp>
        <p:nvGrpSpPr>
          <p:cNvPr id="19" name="Group 19"/>
          <p:cNvGrpSpPr/>
          <p:nvPr/>
        </p:nvGrpSpPr>
        <p:grpSpPr>
          <a:xfrm>
            <a:off x="776097" y="3905250"/>
            <a:ext cx="2820740" cy="2199989"/>
            <a:chOff x="776097" y="3905250"/>
            <a:chExt cx="2820740" cy="2199989"/>
          </a:xfrm>
        </p:grpSpPr>
        <p:sp>
          <p:nvSpPr>
            <p:cNvPr id="16" name="Rectangle 16"/>
            <p:cNvSpPr/>
            <p:nvPr/>
          </p:nvSpPr>
          <p:spPr>
            <a:xfrm>
              <a:off x="781050" y="3905250"/>
              <a:ext cx="1866900" cy="1866900"/>
            </a:xfrm>
            <a:prstGeom prst="rect">
              <a:avLst/>
            </a:prstGeom>
            <a:solidFill>
              <a:schemeClr val="lt1"/>
            </a:solidFill>
            <a:ln w="9525">
              <a:solidFill>
                <a:schemeClr val="accent4"/>
              </a:solidFill>
            </a:ln>
          </p:spPr>
        </p:sp>
        <p:pic>
          <p:nvPicPr>
            <p:cNvPr id="17" name="Image 17"/>
            <p:cNvPicPr>
              <a:picLocks noChangeAspect="1"/>
            </p:cNvPicPr>
            <p:nvPr/>
          </p:nvPicPr>
          <p:blipFill>
            <a:blip r:embed="rId5"/>
            <a:stretch>
              <a:fillRect/>
            </a:stretch>
          </p:blipFill>
          <p:spPr>
            <a:xfrm>
              <a:off x="781050" y="3905250"/>
              <a:ext cx="1866900" cy="1866900"/>
            </a:xfrm>
            <a:prstGeom prst="rect">
              <a:avLst/>
            </a:prstGeom>
          </p:spPr>
        </p:pic>
        <p:sp>
          <p:nvSpPr>
            <p:cNvPr id="18" name="TextBox 18"/>
            <p:cNvSpPr txBox="1"/>
            <p:nvPr/>
          </p:nvSpPr>
          <p:spPr>
            <a:xfrm>
              <a:off x="776097" y="5914549"/>
              <a:ext cx="2820740" cy="190690"/>
            </a:xfrm>
            <a:prstGeom prst="rect">
              <a:avLst/>
            </a:prstGeom>
            <a:noFill/>
            <a:ln>
              <a:noFill/>
            </a:ln>
          </p:spPr>
          <p:txBody>
            <a:bodyPr wrap="none" lIns="0" tIns="0" rIns="0" bIns="0" anchor="t" anchorCtr="0">
              <a:spAutoFit/>
            </a:bodyPr>
            <a:lstStyle/>
            <a:p>
              <a:pPr algn="l"/>
              <a:r>
                <a:rPr lang="en-US" sz="980" dirty="0">
                  <a:solidFill>
                    <a:srgbClr val="8A97A8"/>
                  </a:solidFill>
                  <a:latin typeface="+mn-lt"/>
                  <a:ea typeface="+mn-ea"/>
                  <a:cs typeface="+mn-cs"/>
                </a:rPr>
                <a:t>Code · github.com/FrederikeLuebeck/nubot</a:t>
              </a:r>
            </a:p>
          </p:txBody>
        </p:sp>
      </p:grpSp>
      <p:grpSp>
        <p:nvGrpSpPr>
          <p:cNvPr id="26" name="Group 26"/>
          <p:cNvGrpSpPr/>
          <p:nvPr/>
        </p:nvGrpSpPr>
        <p:grpSpPr>
          <a:xfrm>
            <a:off x="2857500" y="3905250"/>
            <a:ext cx="3466384" cy="1866900"/>
            <a:chOff x="2857500" y="3905250"/>
            <a:chExt cx="3466384" cy="1866900"/>
          </a:xfrm>
        </p:grpSpPr>
        <p:sp>
          <p:nvSpPr>
            <p:cNvPr id="20" name="Rectangle 20"/>
            <p:cNvSpPr/>
            <p:nvPr/>
          </p:nvSpPr>
          <p:spPr>
            <a:xfrm>
              <a:off x="2857500" y="3905250"/>
              <a:ext cx="3162300" cy="1866900"/>
            </a:xfrm>
            <a:prstGeom prst="roundRect">
              <a:avLst>
                <a:gd name="adj" fmla="val 6122"/>
              </a:avLst>
            </a:prstGeom>
            <a:solidFill>
              <a:schemeClr val="accent6"/>
            </a:solidFill>
            <a:ln w="9525">
              <a:solidFill>
                <a:srgbClr val="C6D6FB"/>
              </a:solidFill>
            </a:ln>
          </p:spPr>
        </p:sp>
        <p:sp>
          <p:nvSpPr>
            <p:cNvPr id="21" name="TextBox 21"/>
            <p:cNvSpPr txBox="1"/>
            <p:nvPr/>
          </p:nvSpPr>
          <p:spPr>
            <a:xfrm>
              <a:off x="3099816" y="4172902"/>
              <a:ext cx="1695305"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THE IDEA IN ONE LINE</a:t>
              </a:r>
            </a:p>
          </p:txBody>
        </p:sp>
        <p:sp>
          <p:nvSpPr>
            <p:cNvPr id="22" name="TextBox 22"/>
            <p:cNvSpPr txBox="1"/>
            <p:nvPr/>
          </p:nvSpPr>
          <p:spPr>
            <a:xfrm>
              <a:off x="3097911" y="4551521"/>
              <a:ext cx="278086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Optimal transport that lets</a:t>
              </a:r>
            </a:p>
          </p:txBody>
        </p:sp>
        <p:sp>
          <p:nvSpPr>
            <p:cNvPr id="23" name="TextBox 23"/>
            <p:cNvSpPr txBox="1"/>
            <p:nvPr/>
          </p:nvSpPr>
          <p:spPr>
            <a:xfrm>
              <a:off x="3097911" y="4799171"/>
              <a:ext cx="322597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mass be created and destroyed —</a:t>
              </a:r>
            </a:p>
          </p:txBody>
        </p:sp>
        <p:sp>
          <p:nvSpPr>
            <p:cNvPr id="24" name="TextBox 24"/>
            <p:cNvSpPr txBox="1"/>
            <p:nvPr/>
          </p:nvSpPr>
          <p:spPr>
            <a:xfrm>
              <a:off x="3097149" y="5125879"/>
              <a:ext cx="2830018"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modeling where cells move</a:t>
              </a:r>
            </a:p>
          </p:txBody>
        </p:sp>
        <p:sp>
          <p:nvSpPr>
            <p:cNvPr id="25" name="TextBox 25"/>
            <p:cNvSpPr txBox="1"/>
            <p:nvPr/>
          </p:nvSpPr>
          <p:spPr>
            <a:xfrm>
              <a:off x="3097149" y="5392579"/>
              <a:ext cx="284118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and how they grow or die.</a:t>
              </a:r>
            </a:p>
          </p:txBody>
        </p:sp>
      </p:grpSp>
      <p:grpSp>
        <p:nvGrpSpPr>
          <p:cNvPr id="29" name="Group 29"/>
          <p:cNvGrpSpPr/>
          <p:nvPr/>
        </p:nvGrpSpPr>
        <p:grpSpPr>
          <a:xfrm>
            <a:off x="6286500" y="990600"/>
            <a:ext cx="5143500" cy="4781550"/>
            <a:chOff x="6286500" y="990600"/>
            <a:chExt cx="5143500" cy="4781550"/>
          </a:xfrm>
        </p:grpSpPr>
        <p:sp>
          <p:nvSpPr>
            <p:cNvPr id="27" name="Rectangle 27"/>
            <p:cNvSpPr/>
            <p:nvPr/>
          </p:nvSpPr>
          <p:spPr>
            <a:xfrm>
              <a:off x="6286500" y="990600"/>
              <a:ext cx="5143500" cy="4781550"/>
            </a:xfrm>
            <a:prstGeom prst="roundRect">
              <a:avLst>
                <a:gd name="adj" fmla="val 2789"/>
              </a:avLst>
            </a:prstGeom>
            <a:solidFill>
              <a:schemeClr val="lt2"/>
            </a:solidFill>
            <a:ln>
              <a:noFill/>
            </a:ln>
          </p:spPr>
        </p:sp>
        <p:sp>
          <p:nvSpPr>
            <p:cNvPr id="28" name="TextBox 28"/>
            <p:cNvSpPr txBox="1"/>
            <p:nvPr/>
          </p:nvSpPr>
          <p:spPr>
            <a:xfrm>
              <a:off x="6547866" y="1258252"/>
              <a:ext cx="98769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AT A GLANCE</a:t>
              </a:r>
            </a:p>
          </p:txBody>
        </p:sp>
      </p:grpSp>
      <p:grpSp>
        <p:nvGrpSpPr>
          <p:cNvPr id="36" name="Group 36"/>
          <p:cNvGrpSpPr/>
          <p:nvPr/>
        </p:nvGrpSpPr>
        <p:grpSpPr>
          <a:xfrm>
            <a:off x="6553200" y="1543050"/>
            <a:ext cx="4610100" cy="1257300"/>
            <a:chOff x="6553200" y="1543050"/>
            <a:chExt cx="4610100" cy="1257300"/>
          </a:xfrm>
        </p:grpSpPr>
        <p:sp>
          <p:nvSpPr>
            <p:cNvPr id="30" name="Rectangle 30"/>
            <p:cNvSpPr/>
            <p:nvPr/>
          </p:nvSpPr>
          <p:spPr>
            <a:xfrm>
              <a:off x="6553200" y="1543050"/>
              <a:ext cx="4610100" cy="1257300"/>
            </a:xfrm>
            <a:prstGeom prst="roundRect">
              <a:avLst>
                <a:gd name="adj" fmla="val 7576"/>
              </a:avLst>
            </a:prstGeom>
            <a:solidFill>
              <a:schemeClr val="lt1"/>
            </a:solidFill>
            <a:ln w="9525">
              <a:solidFill>
                <a:schemeClr val="accent4"/>
              </a:solidFill>
            </a:ln>
          </p:spPr>
        </p:sp>
        <p:sp>
          <p:nvSpPr>
            <p:cNvPr id="31" name="Rectangle 31"/>
            <p:cNvSpPr/>
            <p:nvPr/>
          </p:nvSpPr>
          <p:spPr>
            <a:xfrm>
              <a:off x="6553200" y="1543050"/>
              <a:ext cx="57150" cy="1257300"/>
            </a:xfrm>
            <a:prstGeom prst="roundRect">
              <a:avLst>
                <a:gd name="adj" fmla="val 50000"/>
              </a:avLst>
            </a:prstGeom>
            <a:solidFill>
              <a:schemeClr val="accent3"/>
            </a:solidFill>
            <a:ln>
              <a:noFill/>
            </a:ln>
          </p:spPr>
        </p:sp>
        <p:sp>
          <p:nvSpPr>
            <p:cNvPr id="32" name="TextBox 32"/>
            <p:cNvSpPr txBox="1"/>
            <p:nvPr/>
          </p:nvSpPr>
          <p:spPr>
            <a:xfrm>
              <a:off x="6813042" y="1721168"/>
              <a:ext cx="272931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Unpaired snapshots in biology</a:t>
              </a:r>
            </a:p>
          </p:txBody>
        </p:sp>
        <p:sp>
          <p:nvSpPr>
            <p:cNvPr id="33" name="TextBox 33"/>
            <p:cNvSpPr txBox="1"/>
            <p:nvPr/>
          </p:nvSpPr>
          <p:spPr>
            <a:xfrm>
              <a:off x="6814185" y="2050256"/>
              <a:ext cx="324293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Measuring a cell destroys it, so populations</a:t>
              </a:r>
            </a:p>
          </p:txBody>
        </p:sp>
        <p:sp>
          <p:nvSpPr>
            <p:cNvPr id="34" name="TextBox 34"/>
            <p:cNvSpPr txBox="1"/>
            <p:nvPr/>
          </p:nvSpPr>
          <p:spPr>
            <a:xfrm>
              <a:off x="6814185" y="2259806"/>
              <a:ext cx="32229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 only be compared as unpaired snapshots</a:t>
              </a:r>
            </a:p>
          </p:txBody>
        </p:sp>
        <p:sp>
          <p:nvSpPr>
            <p:cNvPr id="35" name="TextBox 35"/>
            <p:cNvSpPr txBox="1"/>
            <p:nvPr/>
          </p:nvSpPr>
          <p:spPr>
            <a:xfrm>
              <a:off x="6814185" y="2469356"/>
              <a:ext cx="25218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taken at different points in time.</a:t>
              </a:r>
            </a:p>
          </p:txBody>
        </p:sp>
      </p:grpSp>
      <p:grpSp>
        <p:nvGrpSpPr>
          <p:cNvPr id="42" name="Group 42"/>
          <p:cNvGrpSpPr/>
          <p:nvPr/>
        </p:nvGrpSpPr>
        <p:grpSpPr>
          <a:xfrm>
            <a:off x="6553200" y="2914650"/>
            <a:ext cx="4610100" cy="1143000"/>
            <a:chOff x="6553200" y="2914650"/>
            <a:chExt cx="4610100" cy="1143000"/>
          </a:xfrm>
        </p:grpSpPr>
        <p:sp>
          <p:nvSpPr>
            <p:cNvPr id="37" name="Rectangle 37"/>
            <p:cNvSpPr/>
            <p:nvPr/>
          </p:nvSpPr>
          <p:spPr>
            <a:xfrm>
              <a:off x="6553200" y="2914650"/>
              <a:ext cx="4610100" cy="1143000"/>
            </a:xfrm>
            <a:prstGeom prst="roundRect">
              <a:avLst>
                <a:gd name="adj" fmla="val 8333"/>
              </a:avLst>
            </a:prstGeom>
            <a:solidFill>
              <a:schemeClr val="lt1"/>
            </a:solidFill>
            <a:ln w="9525">
              <a:solidFill>
                <a:schemeClr val="accent4"/>
              </a:solidFill>
            </a:ln>
          </p:spPr>
        </p:sp>
        <p:sp>
          <p:nvSpPr>
            <p:cNvPr id="38" name="Rectangle 38"/>
            <p:cNvSpPr/>
            <p:nvPr/>
          </p:nvSpPr>
          <p:spPr>
            <a:xfrm>
              <a:off x="6553200" y="2914650"/>
              <a:ext cx="57150" cy="1143000"/>
            </a:xfrm>
            <a:prstGeom prst="roundRect">
              <a:avLst>
                <a:gd name="adj" fmla="val 50000"/>
              </a:avLst>
            </a:prstGeom>
            <a:solidFill>
              <a:schemeClr val="accent2"/>
            </a:solidFill>
            <a:ln>
              <a:noFill/>
            </a:ln>
          </p:spPr>
        </p:sp>
        <p:sp>
          <p:nvSpPr>
            <p:cNvPr id="39" name="TextBox 39"/>
            <p:cNvSpPr txBox="1"/>
            <p:nvPr/>
          </p:nvSpPr>
          <p:spPr>
            <a:xfrm>
              <a:off x="6813042" y="3092768"/>
              <a:ext cx="281866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Classical OT breaks on growth</a:t>
              </a:r>
            </a:p>
          </p:txBody>
        </p:sp>
        <p:sp>
          <p:nvSpPr>
            <p:cNvPr id="40" name="TextBox 40"/>
            <p:cNvSpPr txBox="1"/>
            <p:nvPr/>
          </p:nvSpPr>
          <p:spPr>
            <a:xfrm>
              <a:off x="6814185" y="3421856"/>
              <a:ext cx="33788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Standard optimal transport conserves mass —</a:t>
              </a:r>
            </a:p>
          </p:txBody>
        </p:sp>
        <p:sp>
          <p:nvSpPr>
            <p:cNvPr id="41" name="TextBox 41"/>
            <p:cNvSpPr txBox="1"/>
            <p:nvPr/>
          </p:nvSpPr>
          <p:spPr>
            <a:xfrm>
              <a:off x="6814185" y="3631406"/>
              <a:ext cx="27479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it fails when cells proliferate or die.</a:t>
              </a:r>
            </a:p>
          </p:txBody>
        </p:sp>
      </p:grpSp>
      <p:grpSp>
        <p:nvGrpSpPr>
          <p:cNvPr id="47" name="Group 47"/>
          <p:cNvGrpSpPr/>
          <p:nvPr/>
        </p:nvGrpSpPr>
        <p:grpSpPr>
          <a:xfrm>
            <a:off x="6553200" y="4171950"/>
            <a:ext cx="4610100" cy="704850"/>
            <a:chOff x="6553200" y="4171950"/>
            <a:chExt cx="4610100" cy="704850"/>
          </a:xfrm>
        </p:grpSpPr>
        <p:sp>
          <p:nvSpPr>
            <p:cNvPr id="43" name="Rectangle 43"/>
            <p:cNvSpPr/>
            <p:nvPr/>
          </p:nvSpPr>
          <p:spPr>
            <a:xfrm>
              <a:off x="6553200" y="4171950"/>
              <a:ext cx="4610100" cy="704850"/>
            </a:xfrm>
            <a:prstGeom prst="roundRect">
              <a:avLst>
                <a:gd name="adj" fmla="val 13514"/>
              </a:avLst>
            </a:prstGeom>
            <a:solidFill>
              <a:schemeClr val="accent6"/>
            </a:solidFill>
            <a:ln w="9525">
              <a:solidFill>
                <a:srgbClr val="C6D6FB"/>
              </a:solidFill>
            </a:ln>
          </p:spPr>
        </p:sp>
        <p:sp>
          <p:nvSpPr>
            <p:cNvPr id="44" name="Rectangle 44"/>
            <p:cNvSpPr/>
            <p:nvPr/>
          </p:nvSpPr>
          <p:spPr>
            <a:xfrm>
              <a:off x="6553200" y="4171950"/>
              <a:ext cx="57150" cy="704850"/>
            </a:xfrm>
            <a:prstGeom prst="roundRect">
              <a:avLst>
                <a:gd name="adj" fmla="val 50000"/>
              </a:avLst>
            </a:prstGeom>
            <a:solidFill>
              <a:schemeClr val="accent1"/>
            </a:solidFill>
            <a:ln>
              <a:noFill/>
            </a:ln>
          </p:spPr>
        </p:sp>
        <p:sp>
          <p:nvSpPr>
            <p:cNvPr id="45" name="TextBox 45"/>
            <p:cNvSpPr txBox="1"/>
            <p:nvPr/>
          </p:nvSpPr>
          <p:spPr>
            <a:xfrm>
              <a:off x="6813423" y="4339114"/>
              <a:ext cx="3261453"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NubOT: semi-couplings let mass vary</a:t>
              </a:r>
            </a:p>
          </p:txBody>
        </p:sp>
        <p:sp>
          <p:nvSpPr>
            <p:cNvPr id="46" name="TextBox 46"/>
            <p:cNvSpPr txBox="1"/>
            <p:nvPr/>
          </p:nvSpPr>
          <p:spPr>
            <a:xfrm>
              <a:off x="6814185" y="4583906"/>
              <a:ext cx="25546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neural unbalanced OT estimator.</a:t>
              </a:r>
            </a:p>
          </p:txBody>
        </p:sp>
      </p:grpSp>
      <p:grpSp>
        <p:nvGrpSpPr>
          <p:cNvPr id="52" name="Group 52"/>
          <p:cNvGrpSpPr/>
          <p:nvPr/>
        </p:nvGrpSpPr>
        <p:grpSpPr>
          <a:xfrm>
            <a:off x="6553200" y="4991100"/>
            <a:ext cx="4610100" cy="628650"/>
            <a:chOff x="6553200" y="4991100"/>
            <a:chExt cx="4610100" cy="628650"/>
          </a:xfrm>
        </p:grpSpPr>
        <p:sp>
          <p:nvSpPr>
            <p:cNvPr id="48" name="Rectangle 48"/>
            <p:cNvSpPr/>
            <p:nvPr/>
          </p:nvSpPr>
          <p:spPr>
            <a:xfrm>
              <a:off x="6553200" y="4991100"/>
              <a:ext cx="4610100" cy="628650"/>
            </a:xfrm>
            <a:prstGeom prst="roundRect">
              <a:avLst>
                <a:gd name="adj" fmla="val 15152"/>
              </a:avLst>
            </a:prstGeom>
            <a:solidFill>
              <a:srgbClr val="E1F3F0"/>
            </a:solidFill>
            <a:ln w="9525">
              <a:solidFill>
                <a:srgbClr val="B7E2DA"/>
              </a:solidFill>
            </a:ln>
          </p:spPr>
        </p:sp>
        <p:sp>
          <p:nvSpPr>
            <p:cNvPr id="49" name="Rectangle 49"/>
            <p:cNvSpPr/>
            <p:nvPr/>
          </p:nvSpPr>
          <p:spPr>
            <a:xfrm>
              <a:off x="6553200" y="4991100"/>
              <a:ext cx="57150" cy="628650"/>
            </a:xfrm>
            <a:prstGeom prst="roundRect">
              <a:avLst>
                <a:gd name="adj" fmla="val 50000"/>
              </a:avLst>
            </a:prstGeom>
            <a:solidFill>
              <a:schemeClr val="accent2"/>
            </a:solidFill>
            <a:ln>
              <a:noFill/>
            </a:ln>
          </p:spPr>
        </p:sp>
        <p:sp>
          <p:nvSpPr>
            <p:cNvPr id="50" name="TextBox 50"/>
            <p:cNvSpPr txBox="1"/>
            <p:nvPr/>
          </p:nvSpPr>
          <p:spPr>
            <a:xfrm>
              <a:off x="6813804" y="5128260"/>
              <a:ext cx="3506297"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Cycle-consistent training beats prior OT,</a:t>
              </a:r>
            </a:p>
          </p:txBody>
        </p:sp>
        <p:sp>
          <p:nvSpPr>
            <p:cNvPr id="51" name="TextBox 51"/>
            <p:cNvSpPr txBox="1"/>
            <p:nvPr/>
          </p:nvSpPr>
          <p:spPr>
            <a:xfrm>
              <a:off x="6814185" y="5345906"/>
              <a:ext cx="337369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recovering real proliferation &amp; death signals.</a:t>
              </a:r>
            </a:p>
          </p:txBody>
        </p:sp>
      </p:grpSp>
      <p:grpSp>
        <p:nvGrpSpPr>
          <p:cNvPr id="55" name="Group 55"/>
          <p:cNvGrpSpPr/>
          <p:nvPr/>
        </p:nvGrpSpPr>
        <p:grpSpPr>
          <a:xfrm>
            <a:off x="757238" y="6570345"/>
            <a:ext cx="10677524" cy="176212"/>
            <a:chOff x="757238" y="6570345"/>
            <a:chExt cx="10677524" cy="176212"/>
          </a:xfrm>
        </p:grpSpPr>
        <p:sp>
          <p:nvSpPr>
            <p:cNvPr id="53" name="TextBox 53"/>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54" name="TextBox 5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01 / 10</a:t>
              </a:r>
            </a:p>
          </p:txBody>
        </p:sp>
      </p:grpSp>
      <p:sp>
        <p:nvSpPr>
          <p:cNvPr id="56" name="cue_s01_c1_comparing_unpaired_samples_populatio" title="cue_s01_c1_comparing_unpaired_samples_populatio" descr="cue_s01_c1_comparing_unpaired_samples_populatio Comparing unpaired samples of a population measured at different points in time is a core challenge in biology, where measuring cells often destroys them."/>
          <p:cNvSpPr/>
          <p:nvPr/>
        </p:nvSpPr>
        <p:spPr>
          <a:xfrm>
            <a:off x="6553200" y="1543050"/>
            <a:ext cx="4609795"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1_c2_optimal_transport_recover_how_sample" title="cue_s01_c2_optimal_transport_recover_how_sample" descr="cue_s01_c2_optimal_transport_recover_how_sample Optimal transport can recover how samples map across distributions, but classical OT assumes mass is conserved, which breaks down when populations grow or shrink through cell proliferation and death."/>
          <p:cNvSpPr/>
          <p:nvPr/>
        </p:nvSpPr>
        <p:spPr>
          <a:xfrm>
            <a:off x="6553200" y="2914650"/>
            <a:ext cx="4609795"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1_c3_introduces_nubot_neural_unbalanced_o" title="cue_s01_c3_introduces_nubot_neural_unbalanced_o" descr="cue_s01_c3_introduces_nubot_neural_unbalanced_o This paper introduces NubOT, a neural unbalanced optimal transport method built on the formalism of semi-couplings, letting it explicitly account for the creation and destruction of mass."/>
          <p:cNvSpPr/>
          <p:nvPr/>
        </p:nvSpPr>
        <p:spPr>
          <a:xfrm>
            <a:off x="6553200" y="4171721"/>
            <a:ext cx="4609795" cy="705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1_c4_through_cycle_consistent_scheme_nubo" title="cue_s01_c4_through_cycle_consistent_scheme_nubo" descr="cue_s01_c4_through_cycle_consistent_scheme_nubo Through a cycle-consistent training scheme, NubOT learns both where cells move and how their mass rescales, and when applied to forecasting how cancer cell lines respond to dozens of drugs, it outperforms prior neural OT methods while recovering biologically m"/>
          <p:cNvSpPr/>
          <p:nvPr/>
        </p:nvSpPr>
        <p:spPr>
          <a:xfrm>
            <a:off x="6553200" y="4991252"/>
            <a:ext cx="4609795"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64691"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02 · PROBLEM</a:t>
              </a:r>
            </a:p>
          </p:txBody>
        </p:sp>
        <p:sp>
          <p:nvSpPr>
            <p:cNvPr id="4" name="TextBox 4"/>
            <p:cNvSpPr txBox="1"/>
            <p:nvPr/>
          </p:nvSpPr>
          <p:spPr>
            <a:xfrm>
              <a:off x="749808" y="883920"/>
              <a:ext cx="866973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Unpaired snapshots, and mass that will not stay put</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733550"/>
            <a:ext cx="5257800" cy="1428750"/>
            <a:chOff x="762000" y="1733550"/>
            <a:chExt cx="5257800" cy="1428750"/>
          </a:xfrm>
        </p:grpSpPr>
        <p:sp>
          <p:nvSpPr>
            <p:cNvPr id="7" name="Rectangle 7"/>
            <p:cNvSpPr/>
            <p:nvPr/>
          </p:nvSpPr>
          <p:spPr>
            <a:xfrm>
              <a:off x="762000" y="1733550"/>
              <a:ext cx="5257800" cy="1428750"/>
            </a:xfrm>
            <a:prstGeom prst="roundRect">
              <a:avLst>
                <a:gd name="adj" fmla="val 8000"/>
              </a:avLst>
            </a:prstGeom>
            <a:solidFill>
              <a:schemeClr val="accent6"/>
            </a:solidFill>
            <a:ln w="9525">
              <a:solidFill>
                <a:srgbClr val="C6D6FB"/>
              </a:solidFill>
            </a:ln>
          </p:spPr>
        </p:sp>
        <p:sp>
          <p:nvSpPr>
            <p:cNvPr id="8" name="Rectangle 8"/>
            <p:cNvSpPr/>
            <p:nvPr/>
          </p:nvSpPr>
          <p:spPr>
            <a:xfrm>
              <a:off x="762000" y="1733550"/>
              <a:ext cx="57150" cy="1428750"/>
            </a:xfrm>
            <a:prstGeom prst="roundRect">
              <a:avLst>
                <a:gd name="adj" fmla="val 50000"/>
              </a:avLst>
            </a:prstGeom>
            <a:solidFill>
              <a:schemeClr val="accent1"/>
            </a:solidFill>
            <a:ln>
              <a:noFill/>
            </a:ln>
          </p:spPr>
        </p:sp>
        <p:sp>
          <p:nvSpPr>
            <p:cNvPr id="9" name="TextBox 9"/>
            <p:cNvSpPr txBox="1"/>
            <p:nvPr/>
          </p:nvSpPr>
          <p:spPr>
            <a:xfrm>
              <a:off x="1023366" y="1982152"/>
              <a:ext cx="2276178"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THE MEASUREMENT PROBLEM</a:t>
              </a:r>
            </a:p>
          </p:txBody>
        </p:sp>
        <p:sp>
          <p:nvSpPr>
            <p:cNvPr id="10" name="TextBox 10"/>
            <p:cNvSpPr txBox="1"/>
            <p:nvPr/>
          </p:nvSpPr>
          <p:spPr>
            <a:xfrm>
              <a:off x="1021461" y="2303621"/>
              <a:ext cx="317236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Model how a population responds</a:t>
              </a:r>
            </a:p>
          </p:txBody>
        </p:sp>
        <p:sp>
          <p:nvSpPr>
            <p:cNvPr id="11" name="TextBox 11"/>
            <p:cNvSpPr txBox="1"/>
            <p:nvPr/>
          </p:nvSpPr>
          <p:spPr>
            <a:xfrm>
              <a:off x="1022985" y="2640806"/>
              <a:ext cx="316786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 want how a population changes after an</a:t>
              </a:r>
            </a:p>
          </p:txBody>
        </p:sp>
        <p:sp>
          <p:nvSpPr>
            <p:cNvPr id="12" name="TextBox 12"/>
            <p:cNvSpPr txBox="1"/>
            <p:nvPr/>
          </p:nvSpPr>
          <p:spPr>
            <a:xfrm>
              <a:off x="1022985" y="2850356"/>
              <a:ext cx="335108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intervention — from unpaired snapshots only.</a:t>
              </a:r>
            </a:p>
          </p:txBody>
        </p:sp>
      </p:grpSp>
      <p:grpSp>
        <p:nvGrpSpPr>
          <p:cNvPr id="35" name="Group 35"/>
          <p:cNvGrpSpPr/>
          <p:nvPr/>
        </p:nvGrpSpPr>
        <p:grpSpPr>
          <a:xfrm>
            <a:off x="762000" y="3352800"/>
            <a:ext cx="5266850" cy="2724150"/>
            <a:chOff x="762000" y="3352800"/>
            <a:chExt cx="5266850" cy="2724150"/>
          </a:xfrm>
        </p:grpSpPr>
        <p:sp>
          <p:nvSpPr>
            <p:cNvPr id="14" name="Rectangle 14"/>
            <p:cNvSpPr/>
            <p:nvPr/>
          </p:nvSpPr>
          <p:spPr>
            <a:xfrm>
              <a:off x="762000" y="3352800"/>
              <a:ext cx="5257800" cy="2724150"/>
            </a:xfrm>
            <a:prstGeom prst="roundRect">
              <a:avLst>
                <a:gd name="adj" fmla="val 4196"/>
              </a:avLst>
            </a:prstGeom>
            <a:solidFill>
              <a:schemeClr val="lt1"/>
            </a:solidFill>
            <a:ln w="9525">
              <a:solidFill>
                <a:schemeClr val="accent4"/>
              </a:solidFill>
            </a:ln>
          </p:spPr>
        </p:sp>
        <p:sp>
          <p:nvSpPr>
            <p:cNvPr id="15" name="Rectangle 15"/>
            <p:cNvSpPr/>
            <p:nvPr/>
          </p:nvSpPr>
          <p:spPr>
            <a:xfrm>
              <a:off x="762000" y="3352800"/>
              <a:ext cx="57150" cy="2724150"/>
            </a:xfrm>
            <a:prstGeom prst="roundRect">
              <a:avLst>
                <a:gd name="adj" fmla="val 50000"/>
              </a:avLst>
            </a:prstGeom>
            <a:solidFill>
              <a:schemeClr val="accent3"/>
            </a:solidFill>
            <a:ln>
              <a:noFill/>
            </a:ln>
          </p:spPr>
        </p:sp>
        <p:sp>
          <p:nvSpPr>
            <p:cNvPr id="16" name="TextBox 16"/>
            <p:cNvSpPr txBox="1"/>
            <p:nvPr/>
          </p:nvSpPr>
          <p:spPr>
            <a:xfrm>
              <a:off x="1023366" y="3601402"/>
              <a:ext cx="2355228"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WHY UNPAIRED · SINGLE-CELL</a:t>
              </a:r>
            </a:p>
          </p:txBody>
        </p:sp>
        <p:sp>
          <p:nvSpPr>
            <p:cNvPr id="17" name="TextBox 17"/>
            <p:cNvSpPr txBox="1"/>
            <p:nvPr/>
          </p:nvSpPr>
          <p:spPr>
            <a:xfrm>
              <a:off x="1021842" y="3892868"/>
              <a:ext cx="2481149"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Profiling a cell destroys it</a:t>
              </a:r>
            </a:p>
          </p:txBody>
        </p:sp>
        <p:sp>
          <p:nvSpPr>
            <p:cNvPr id="18" name="TextBox 18"/>
            <p:cNvSpPr txBox="1"/>
            <p:nvPr/>
          </p:nvSpPr>
          <p:spPr>
            <a:xfrm>
              <a:off x="1022985" y="4183856"/>
              <a:ext cx="342428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same cell can never be measured twice, so</a:t>
              </a:r>
            </a:p>
          </p:txBody>
        </p:sp>
        <p:sp>
          <p:nvSpPr>
            <p:cNvPr id="19" name="TextBox 19"/>
            <p:cNvSpPr txBox="1"/>
            <p:nvPr/>
          </p:nvSpPr>
          <p:spPr>
            <a:xfrm>
              <a:off x="1022985" y="4393406"/>
              <a:ext cx="298168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individuals cannot be tracked over time.</a:t>
              </a:r>
            </a:p>
          </p:txBody>
        </p:sp>
        <p:sp>
          <p:nvSpPr>
            <p:cNvPr id="20" name="Rectangle 20"/>
            <p:cNvSpPr/>
            <p:nvPr/>
          </p:nvSpPr>
          <p:spPr>
            <a:xfrm>
              <a:off x="1028700" y="4724400"/>
              <a:ext cx="4724400" cy="1181100"/>
            </a:xfrm>
            <a:prstGeom prst="roundRect">
              <a:avLst>
                <a:gd name="adj" fmla="val 8065"/>
              </a:avLst>
            </a:prstGeom>
            <a:solidFill>
              <a:schemeClr val="accent5"/>
            </a:solidFill>
            <a:ln w="9525">
              <a:solidFill>
                <a:schemeClr val="accent4"/>
              </a:solidFill>
            </a:ln>
          </p:spPr>
        </p:sp>
        <p:sp>
          <p:nvSpPr>
            <p:cNvPr id="21" name="TextBox 21"/>
            <p:cNvSpPr txBox="1"/>
            <p:nvPr/>
          </p:nvSpPr>
          <p:spPr>
            <a:xfrm>
              <a:off x="1251966" y="4858702"/>
              <a:ext cx="1086702"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 = 0 (control)</a:t>
              </a:r>
            </a:p>
          </p:txBody>
        </p:sp>
        <p:sp>
          <p:nvSpPr>
            <p:cNvPr id="22" name="TextBox 22"/>
            <p:cNvSpPr txBox="1"/>
            <p:nvPr/>
          </p:nvSpPr>
          <p:spPr>
            <a:xfrm>
              <a:off x="4452366" y="4858702"/>
              <a:ext cx="157648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 = later (perturbed)</a:t>
              </a:r>
            </a:p>
          </p:txBody>
        </p:sp>
        <p:sp>
          <p:nvSpPr>
            <p:cNvPr id="23" name="Ellipse 23"/>
            <p:cNvSpPr/>
            <p:nvPr/>
          </p:nvSpPr>
          <p:spPr>
            <a:xfrm>
              <a:off x="1362075" y="5267325"/>
              <a:ext cx="133350" cy="133350"/>
            </a:xfrm>
            <a:prstGeom prst="ellipse">
              <a:avLst/>
            </a:prstGeom>
            <a:solidFill>
              <a:schemeClr val="accent1"/>
            </a:solidFill>
            <a:ln>
              <a:noFill/>
            </a:ln>
          </p:spPr>
        </p:sp>
        <p:sp>
          <p:nvSpPr>
            <p:cNvPr id="24" name="Ellipse 24"/>
            <p:cNvSpPr/>
            <p:nvPr/>
          </p:nvSpPr>
          <p:spPr>
            <a:xfrm>
              <a:off x="1609725" y="5267325"/>
              <a:ext cx="133350" cy="133350"/>
            </a:xfrm>
            <a:prstGeom prst="ellipse">
              <a:avLst/>
            </a:prstGeom>
            <a:solidFill>
              <a:schemeClr val="accent1"/>
            </a:solidFill>
            <a:ln>
              <a:noFill/>
            </a:ln>
          </p:spPr>
        </p:sp>
        <p:sp>
          <p:nvSpPr>
            <p:cNvPr id="25" name="Ellipse 25"/>
            <p:cNvSpPr/>
            <p:nvPr/>
          </p:nvSpPr>
          <p:spPr>
            <a:xfrm>
              <a:off x="1857375" y="5267325"/>
              <a:ext cx="133350" cy="133350"/>
            </a:xfrm>
            <a:prstGeom prst="ellipse">
              <a:avLst/>
            </a:prstGeom>
            <a:solidFill>
              <a:schemeClr val="accent1"/>
            </a:solidFill>
            <a:ln>
              <a:noFill/>
            </a:ln>
          </p:spPr>
        </p:sp>
        <p:sp>
          <p:nvSpPr>
            <p:cNvPr id="26" name="Ellipse 26"/>
            <p:cNvSpPr/>
            <p:nvPr/>
          </p:nvSpPr>
          <p:spPr>
            <a:xfrm>
              <a:off x="2105025" y="5267325"/>
              <a:ext cx="133350" cy="133350"/>
            </a:xfrm>
            <a:prstGeom prst="ellipse">
              <a:avLst/>
            </a:prstGeom>
            <a:solidFill>
              <a:schemeClr val="accent1"/>
            </a:solidFill>
            <a:ln>
              <a:noFill/>
            </a:ln>
          </p:spPr>
        </p:sp>
        <p:sp>
          <p:nvSpPr>
            <p:cNvPr id="27" name="Ellipse 27"/>
            <p:cNvSpPr/>
            <p:nvPr/>
          </p:nvSpPr>
          <p:spPr>
            <a:xfrm>
              <a:off x="2352675" y="5267325"/>
              <a:ext cx="133350" cy="133350"/>
            </a:xfrm>
            <a:prstGeom prst="ellipse">
              <a:avLst/>
            </a:prstGeom>
            <a:solidFill>
              <a:schemeClr val="accent1"/>
            </a:solidFill>
            <a:ln>
              <a:noFill/>
            </a:ln>
          </p:spPr>
        </p:sp>
        <p:sp>
          <p:nvSpPr>
            <p:cNvPr id="28" name="Ellipse 28"/>
            <p:cNvSpPr/>
            <p:nvPr/>
          </p:nvSpPr>
          <p:spPr>
            <a:xfrm>
              <a:off x="4410075" y="5229225"/>
              <a:ext cx="133350" cy="133350"/>
            </a:xfrm>
            <a:prstGeom prst="ellipse">
              <a:avLst/>
            </a:prstGeom>
            <a:solidFill>
              <a:schemeClr val="accent2"/>
            </a:solidFill>
            <a:ln>
              <a:noFill/>
            </a:ln>
          </p:spPr>
        </p:sp>
        <p:sp>
          <p:nvSpPr>
            <p:cNvPr id="29" name="Ellipse 29"/>
            <p:cNvSpPr/>
            <p:nvPr/>
          </p:nvSpPr>
          <p:spPr>
            <a:xfrm>
              <a:off x="4657725" y="5229225"/>
              <a:ext cx="133350" cy="133350"/>
            </a:xfrm>
            <a:prstGeom prst="ellipse">
              <a:avLst/>
            </a:prstGeom>
            <a:solidFill>
              <a:schemeClr val="accent2"/>
            </a:solidFill>
            <a:ln>
              <a:noFill/>
            </a:ln>
          </p:spPr>
        </p:sp>
        <p:sp>
          <p:nvSpPr>
            <p:cNvPr id="30" name="Ellipse 30"/>
            <p:cNvSpPr/>
            <p:nvPr/>
          </p:nvSpPr>
          <p:spPr>
            <a:xfrm>
              <a:off x="4905375" y="5229225"/>
              <a:ext cx="133350" cy="133350"/>
            </a:xfrm>
            <a:prstGeom prst="ellipse">
              <a:avLst/>
            </a:prstGeom>
            <a:solidFill>
              <a:schemeClr val="accent2"/>
            </a:solidFill>
            <a:ln>
              <a:noFill/>
            </a:ln>
          </p:spPr>
        </p:sp>
        <p:sp>
          <p:nvSpPr>
            <p:cNvPr id="31" name="Ellipse 31"/>
            <p:cNvSpPr/>
            <p:nvPr/>
          </p:nvSpPr>
          <p:spPr>
            <a:xfrm>
              <a:off x="5153025" y="5229225"/>
              <a:ext cx="133350" cy="133350"/>
            </a:xfrm>
            <a:prstGeom prst="ellipse">
              <a:avLst/>
            </a:prstGeom>
            <a:solidFill>
              <a:schemeClr val="accent2"/>
            </a:solidFill>
            <a:ln>
              <a:noFill/>
            </a:ln>
          </p:spPr>
        </p:sp>
        <p:sp>
          <p:nvSpPr>
            <p:cNvPr id="32" name="TextBox 32"/>
            <p:cNvSpPr txBox="1"/>
            <p:nvPr/>
          </p:nvSpPr>
          <p:spPr>
            <a:xfrm>
              <a:off x="1252347" y="5609749"/>
              <a:ext cx="706882" cy="190690"/>
            </a:xfrm>
            <a:prstGeom prst="rect">
              <a:avLst/>
            </a:prstGeom>
            <a:noFill/>
            <a:ln>
              <a:noFill/>
            </a:ln>
          </p:spPr>
          <p:txBody>
            <a:bodyPr wrap="none" lIns="0" tIns="0" rIns="0" bIns="0" anchor="t" anchorCtr="0">
              <a:spAutoFit/>
            </a:bodyPr>
            <a:lstStyle/>
            <a:p>
              <a:pPr algn="l"/>
              <a:r>
                <a:rPr lang="en-US" sz="980" dirty="0">
                  <a:solidFill>
                    <a:srgbClr val="8A97A8"/>
                  </a:solidFill>
                  <a:latin typeface="+mn-lt"/>
                  <a:ea typeface="+mn-ea"/>
                  <a:cs typeface="+mn-cs"/>
                </a:rPr>
                <a:t>snapshot A</a:t>
              </a:r>
            </a:p>
          </p:txBody>
        </p:sp>
        <p:sp>
          <p:nvSpPr>
            <p:cNvPr id="33" name="TextBox 33"/>
            <p:cNvSpPr txBox="1"/>
            <p:nvPr/>
          </p:nvSpPr>
          <p:spPr>
            <a:xfrm>
              <a:off x="4452747" y="5609749"/>
              <a:ext cx="1485525" cy="190690"/>
            </a:xfrm>
            <a:prstGeom prst="rect">
              <a:avLst/>
            </a:prstGeom>
            <a:noFill/>
            <a:ln>
              <a:noFill/>
            </a:ln>
          </p:spPr>
          <p:txBody>
            <a:bodyPr wrap="none" lIns="0" tIns="0" rIns="0" bIns="0" anchor="t" anchorCtr="0">
              <a:spAutoFit/>
            </a:bodyPr>
            <a:lstStyle/>
            <a:p>
              <a:pPr algn="l"/>
              <a:r>
                <a:rPr lang="en-US" sz="980" dirty="0">
                  <a:solidFill>
                    <a:srgbClr val="8A97A8"/>
                  </a:solidFill>
                  <a:latin typeface="+mn-lt"/>
                  <a:ea typeface="+mn-ea"/>
                  <a:cs typeface="+mn-cs"/>
                </a:rPr>
                <a:t>snapshot B — no pairing</a:t>
              </a:r>
            </a:p>
          </p:txBody>
        </p:sp>
        <p:sp>
          <p:nvSpPr>
            <p:cNvPr id="34" name="Line 34"/>
            <p:cNvSpPr/>
            <p:nvPr/>
          </p:nvSpPr>
          <p:spPr>
            <a:xfrm>
              <a:off x="2857500" y="5334000"/>
              <a:ext cx="1238250" cy="9525"/>
            </a:xfrm>
            <a:custGeom>
              <a:avLst/>
              <a:gdLst/>
              <a:ahLst/>
              <a:cxnLst/>
              <a:rect l="l" t="t" r="r" b="b"/>
              <a:pathLst>
                <a:path w="1238250" h="9525">
                  <a:moveTo>
                    <a:pt x="0" y="0"/>
                  </a:moveTo>
                  <a:lnTo>
                    <a:pt x="1238250" y="0"/>
                  </a:lnTo>
                </a:path>
              </a:pathLst>
            </a:custGeom>
            <a:noFill/>
            <a:ln w="9525">
              <a:solidFill>
                <a:schemeClr val="accent4"/>
              </a:solidFill>
            </a:ln>
          </p:spPr>
        </p:sp>
      </p:grpSp>
      <p:grpSp>
        <p:nvGrpSpPr>
          <p:cNvPr id="45" name="Group 45"/>
          <p:cNvGrpSpPr/>
          <p:nvPr/>
        </p:nvGrpSpPr>
        <p:grpSpPr>
          <a:xfrm>
            <a:off x="6286500" y="1733550"/>
            <a:ext cx="5143500" cy="2209800"/>
            <a:chOff x="6286500" y="1733550"/>
            <a:chExt cx="5143500" cy="2209800"/>
          </a:xfrm>
        </p:grpSpPr>
        <p:sp>
          <p:nvSpPr>
            <p:cNvPr id="36" name="Rectangle 36"/>
            <p:cNvSpPr/>
            <p:nvPr/>
          </p:nvSpPr>
          <p:spPr>
            <a:xfrm>
              <a:off x="6286500" y="1733550"/>
              <a:ext cx="5143500" cy="2209800"/>
            </a:xfrm>
            <a:prstGeom prst="roundRect">
              <a:avLst>
                <a:gd name="adj" fmla="val 5172"/>
              </a:avLst>
            </a:prstGeom>
            <a:solidFill>
              <a:schemeClr val="lt1"/>
            </a:solidFill>
            <a:ln w="9525">
              <a:solidFill>
                <a:schemeClr val="accent4"/>
              </a:solidFill>
            </a:ln>
          </p:spPr>
        </p:sp>
        <p:sp>
          <p:nvSpPr>
            <p:cNvPr id="37" name="Rectangle 37"/>
            <p:cNvSpPr/>
            <p:nvPr/>
          </p:nvSpPr>
          <p:spPr>
            <a:xfrm>
              <a:off x="6286500" y="1733550"/>
              <a:ext cx="57150" cy="2209800"/>
            </a:xfrm>
            <a:prstGeom prst="roundRect">
              <a:avLst>
                <a:gd name="adj" fmla="val 50000"/>
              </a:avLst>
            </a:prstGeom>
            <a:solidFill>
              <a:schemeClr val="accent1"/>
            </a:solidFill>
            <a:ln>
              <a:noFill/>
            </a:ln>
          </p:spPr>
        </p:sp>
        <p:sp>
          <p:nvSpPr>
            <p:cNvPr id="38" name="TextBox 38"/>
            <p:cNvSpPr txBox="1"/>
            <p:nvPr/>
          </p:nvSpPr>
          <p:spPr>
            <a:xfrm>
              <a:off x="6547866" y="1982152"/>
              <a:ext cx="2771440"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OPTIMAL TRANSPORT AS THE TOOL</a:t>
              </a:r>
            </a:p>
          </p:txBody>
        </p:sp>
        <p:sp>
          <p:nvSpPr>
            <p:cNvPr id="39" name="TextBox 39"/>
            <p:cNvSpPr txBox="1"/>
            <p:nvPr/>
          </p:nvSpPr>
          <p:spPr>
            <a:xfrm>
              <a:off x="6546342" y="2292668"/>
              <a:ext cx="281236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OT infers the correspondence</a:t>
              </a:r>
            </a:p>
          </p:txBody>
        </p:sp>
        <p:sp>
          <p:nvSpPr>
            <p:cNvPr id="40" name="TextBox 40"/>
            <p:cNvSpPr txBox="1"/>
            <p:nvPr/>
          </p:nvSpPr>
          <p:spPr>
            <a:xfrm>
              <a:off x="6547485" y="2621756"/>
              <a:ext cx="330308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Optimal transport learns an optimal coupling</a:t>
              </a:r>
            </a:p>
          </p:txBody>
        </p:sp>
        <p:sp>
          <p:nvSpPr>
            <p:cNvPr id="41" name="TextBox 41"/>
            <p:cNvSpPr txBox="1"/>
            <p:nvPr/>
          </p:nvSpPr>
          <p:spPr>
            <a:xfrm>
              <a:off x="6547485" y="2831306"/>
              <a:ext cx="338877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between the source and target distributions.</a:t>
              </a:r>
            </a:p>
          </p:txBody>
        </p:sp>
        <p:sp>
          <p:nvSpPr>
            <p:cNvPr id="42" name="Rectangle 42"/>
            <p:cNvSpPr/>
            <p:nvPr/>
          </p:nvSpPr>
          <p:spPr>
            <a:xfrm>
              <a:off x="6553200" y="3162300"/>
              <a:ext cx="4610100" cy="628650"/>
            </a:xfrm>
            <a:prstGeom prst="roundRect">
              <a:avLst>
                <a:gd name="adj" fmla="val 15152"/>
              </a:avLst>
            </a:prstGeom>
            <a:solidFill>
              <a:schemeClr val="accent6"/>
            </a:solidFill>
            <a:ln w="9525">
              <a:solidFill>
                <a:srgbClr val="C6D6FB"/>
              </a:solidFill>
            </a:ln>
          </p:spPr>
        </p:sp>
        <p:sp>
          <p:nvSpPr>
            <p:cNvPr id="43" name="TextBox 43"/>
            <p:cNvSpPr txBox="1"/>
            <p:nvPr/>
          </p:nvSpPr>
          <p:spPr>
            <a:xfrm>
              <a:off x="6775704" y="3318510"/>
              <a:ext cx="287190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But standard OT conserves mass —</a:t>
              </a:r>
            </a:p>
          </p:txBody>
        </p:sp>
        <p:sp>
          <p:nvSpPr>
            <p:cNvPr id="44" name="TextBox 44"/>
            <p:cNvSpPr txBox="1"/>
            <p:nvPr/>
          </p:nvSpPr>
          <p:spPr>
            <a:xfrm>
              <a:off x="6776085" y="3536156"/>
              <a:ext cx="32756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every unit must be transported somewhere.</a:t>
              </a:r>
            </a:p>
          </p:txBody>
        </p:sp>
      </p:grpSp>
      <p:grpSp>
        <p:nvGrpSpPr>
          <p:cNvPr id="53" name="Group 53"/>
          <p:cNvGrpSpPr/>
          <p:nvPr/>
        </p:nvGrpSpPr>
        <p:grpSpPr>
          <a:xfrm>
            <a:off x="6286500" y="4133850"/>
            <a:ext cx="5143500" cy="1943100"/>
            <a:chOff x="6286500" y="4133850"/>
            <a:chExt cx="5143500" cy="1943100"/>
          </a:xfrm>
        </p:grpSpPr>
        <p:sp>
          <p:nvSpPr>
            <p:cNvPr id="46" name="Rectangle 46"/>
            <p:cNvSpPr/>
            <p:nvPr/>
          </p:nvSpPr>
          <p:spPr>
            <a:xfrm>
              <a:off x="6286500" y="4133850"/>
              <a:ext cx="5143500" cy="1943100"/>
            </a:xfrm>
            <a:prstGeom prst="roundRect">
              <a:avLst>
                <a:gd name="adj" fmla="val 5882"/>
              </a:avLst>
            </a:prstGeom>
            <a:solidFill>
              <a:schemeClr val="dk1"/>
            </a:solidFill>
            <a:ln>
              <a:noFill/>
            </a:ln>
          </p:spPr>
        </p:sp>
        <p:sp>
          <p:nvSpPr>
            <p:cNvPr id="47" name="TextBox 47"/>
            <p:cNvSpPr txBox="1"/>
            <p:nvPr/>
          </p:nvSpPr>
          <p:spPr>
            <a:xfrm>
              <a:off x="6547866" y="4382452"/>
              <a:ext cx="2554079"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WHERE THE ASSUMPTION BREAKS</a:t>
              </a:r>
            </a:p>
          </p:txBody>
        </p:sp>
        <p:sp>
          <p:nvSpPr>
            <p:cNvPr id="48" name="TextBox 48"/>
            <p:cNvSpPr txBox="1"/>
            <p:nvPr/>
          </p:nvSpPr>
          <p:spPr>
            <a:xfrm>
              <a:off x="6545580" y="4714875"/>
              <a:ext cx="251296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Cells proliferate and die</a:t>
              </a:r>
            </a:p>
          </p:txBody>
        </p:sp>
        <p:sp>
          <p:nvSpPr>
            <p:cNvPr id="49" name="TextBox 49"/>
            <p:cNvSpPr txBox="1"/>
            <p:nvPr/>
          </p:nvSpPr>
          <p:spPr>
            <a:xfrm>
              <a:off x="6547485" y="5060156"/>
              <a:ext cx="3167309"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In unbalanced settings the total population</a:t>
              </a:r>
            </a:p>
          </p:txBody>
        </p:sp>
        <p:sp>
          <p:nvSpPr>
            <p:cNvPr id="50" name="TextBox 50"/>
            <p:cNvSpPr txBox="1"/>
            <p:nvPr/>
          </p:nvSpPr>
          <p:spPr>
            <a:xfrm>
              <a:off x="6547485" y="5269706"/>
              <a:ext cx="328323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size shifts between measurements — exactly</a:t>
              </a:r>
            </a:p>
          </p:txBody>
        </p:sp>
        <p:sp>
          <p:nvSpPr>
            <p:cNvPr id="51" name="TextBox 51"/>
            <p:cNvSpPr txBox="1"/>
            <p:nvPr/>
          </p:nvSpPr>
          <p:spPr>
            <a:xfrm>
              <a:off x="6547485" y="5479256"/>
              <a:ext cx="2883682"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when conservation of mass is violated.</a:t>
              </a:r>
            </a:p>
          </p:txBody>
        </p:sp>
        <p:sp>
          <p:nvSpPr>
            <p:cNvPr id="52" name="TextBox 52"/>
            <p:cNvSpPr txBox="1"/>
            <p:nvPr/>
          </p:nvSpPr>
          <p:spPr>
            <a:xfrm>
              <a:off x="6547485" y="5784056"/>
              <a:ext cx="2936605" cy="220028"/>
            </a:xfrm>
            <a:prstGeom prst="rect">
              <a:avLst/>
            </a:prstGeom>
            <a:noFill/>
            <a:ln>
              <a:noFill/>
            </a:ln>
          </p:spPr>
          <p:txBody>
            <a:bodyPr wrap="none" lIns="0" tIns="0" rIns="0" bIns="0" anchor="t" anchorCtr="0">
              <a:spAutoFit/>
            </a:bodyPr>
            <a:lstStyle/>
            <a:p>
              <a:pPr algn="l"/>
              <a:r>
                <a:rPr lang="en-US" sz="1120" b="1" dirty="0">
                  <a:solidFill>
                    <a:srgbClr val="8BE0D4"/>
                  </a:solidFill>
                  <a:latin typeface="+mn-lt"/>
                  <a:ea typeface="+mn-ea"/>
                  <a:cs typeface="+mn-cs"/>
                </a:rPr>
                <a:t>balanced OT ✗ · unbalanced reality ✓</a:t>
              </a:r>
            </a:p>
          </p:txBody>
        </p:sp>
      </p:grpSp>
      <p:grpSp>
        <p:nvGrpSpPr>
          <p:cNvPr id="56" name="Group 56"/>
          <p:cNvGrpSpPr/>
          <p:nvPr/>
        </p:nvGrpSpPr>
        <p:grpSpPr>
          <a:xfrm>
            <a:off x="757238" y="6570345"/>
            <a:ext cx="10677524" cy="176212"/>
            <a:chOff x="757238" y="6570345"/>
            <a:chExt cx="10677524" cy="176212"/>
          </a:xfrm>
        </p:grpSpPr>
        <p:sp>
          <p:nvSpPr>
            <p:cNvPr id="54" name="TextBox 54"/>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55" name="TextBox 5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02 / 10</a:t>
              </a:r>
            </a:p>
          </p:txBody>
        </p:sp>
      </p:grpSp>
      <p:sp>
        <p:nvSpPr>
          <p:cNvPr id="57" name="cue_s02_c1_recurring_problem_natural_sciences_m" title="cue_s02_c1_recurring_problem_natural_sciences_m" descr="cue_s02_c1_recurring_problem_natural_sciences_m A recurring problem in the natural sciences is modeling how a population changes after an intervention, when you can only observe unpaired snapshots rather than track individuals."/>
          <p:cNvSpPr/>
          <p:nvPr/>
        </p:nvSpPr>
        <p:spPr>
          <a:xfrm>
            <a:off x="762000" y="1733702"/>
            <a:ext cx="52584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2_c2_single_cell_biology_unavoidable_beca" title="cue_s02_c2_single_cell_biology_unavoidable_beca" descr="cue_s02_c2_single_cell_biology_unavoidable_beca In single-cell biology this is unavoidable, because profiling a cell destroys it, so the same cell can never be measured twice."/>
          <p:cNvSpPr/>
          <p:nvPr/>
        </p:nvSpPr>
        <p:spPr>
          <a:xfrm>
            <a:off x="762000" y="3352876"/>
            <a:ext cx="5266944" cy="27239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2_c3_optimal_transport_offers_principled" title="cue_s02_c3_optimal_transport_offers_principled" descr="cue_s02_c3_optimal_transport_offers_principled Optimal transport offers a principled way to infer these correspondences by learning an optimal coupling between distributions. But the standard formulation assumes conservation of mass, meaning every unit of source mass must be transported somewhere."/>
          <p:cNvSpPr/>
          <p:nvPr/>
        </p:nvSpPr>
        <p:spPr>
          <a:xfrm>
            <a:off x="6286195" y="1733702"/>
            <a:ext cx="5143804"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2_c4_assumption_violated_exactly_when_mat" title="cue_s02_c4_assumption_violated_exactly_when_mat" descr="cue_s02_c4_assumption_violated_exactly_when_mat That assumption is violated exactly when it matters most, in unbalanced settings where cells proliferate or die, and the total population size shifts between measurements."/>
          <p:cNvSpPr/>
          <p:nvPr/>
        </p:nvSpPr>
        <p:spPr>
          <a:xfrm>
            <a:off x="6286195" y="4134002"/>
            <a:ext cx="5143804"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54040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03 · MOTIVATION</a:t>
              </a:r>
            </a:p>
          </p:txBody>
        </p:sp>
        <p:sp>
          <p:nvSpPr>
            <p:cNvPr id="4" name="TextBox 4"/>
            <p:cNvSpPr txBox="1"/>
            <p:nvPr/>
          </p:nvSpPr>
          <p:spPr>
            <a:xfrm>
              <a:off x="749808" y="883920"/>
              <a:ext cx="8567062"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Heterogeneous responses need faithful reweighting</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5" name="Group 15"/>
          <p:cNvGrpSpPr/>
          <p:nvPr/>
        </p:nvGrpSpPr>
        <p:grpSpPr>
          <a:xfrm>
            <a:off x="762000" y="1733550"/>
            <a:ext cx="5257800" cy="2038350"/>
            <a:chOff x="762000" y="1733550"/>
            <a:chExt cx="5257800" cy="2038350"/>
          </a:xfrm>
        </p:grpSpPr>
        <p:sp>
          <p:nvSpPr>
            <p:cNvPr id="7" name="Rectangle 7"/>
            <p:cNvSpPr/>
            <p:nvPr/>
          </p:nvSpPr>
          <p:spPr>
            <a:xfrm>
              <a:off x="762000" y="1733550"/>
              <a:ext cx="5257800" cy="2038350"/>
            </a:xfrm>
            <a:prstGeom prst="roundRect">
              <a:avLst>
                <a:gd name="adj" fmla="val 5607"/>
              </a:avLst>
            </a:prstGeom>
            <a:solidFill>
              <a:srgbClr val="FBE9E2"/>
            </a:solidFill>
            <a:ln w="9525">
              <a:solidFill>
                <a:srgbClr val="F2C6B4"/>
              </a:solidFill>
            </a:ln>
          </p:spPr>
        </p:sp>
        <p:sp>
          <p:nvSpPr>
            <p:cNvPr id="8" name="Rectangle 8"/>
            <p:cNvSpPr/>
            <p:nvPr/>
          </p:nvSpPr>
          <p:spPr>
            <a:xfrm>
              <a:off x="762000" y="1733550"/>
              <a:ext cx="57150" cy="2038350"/>
            </a:xfrm>
            <a:prstGeom prst="roundRect">
              <a:avLst>
                <a:gd name="adj" fmla="val 50000"/>
              </a:avLst>
            </a:prstGeom>
            <a:solidFill>
              <a:schemeClr val="accent3"/>
            </a:solidFill>
            <a:ln>
              <a:noFill/>
            </a:ln>
          </p:spPr>
        </p:sp>
        <p:sp>
          <p:nvSpPr>
            <p:cNvPr id="9" name="TextBox 9"/>
            <p:cNvSpPr txBox="1"/>
            <p:nvPr/>
          </p:nvSpPr>
          <p:spPr>
            <a:xfrm>
              <a:off x="1023366" y="1982152"/>
              <a:ext cx="263248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RESPONSES ARE HETEROGENEOUS</a:t>
              </a:r>
            </a:p>
          </p:txBody>
        </p:sp>
        <p:sp>
          <p:nvSpPr>
            <p:cNvPr id="10" name="TextBox 10"/>
            <p:cNvSpPr txBox="1"/>
            <p:nvPr/>
          </p:nvSpPr>
          <p:spPr>
            <a:xfrm>
              <a:off x="1021461" y="2303621"/>
              <a:ext cx="266104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Opposite fates, same drug</a:t>
              </a:r>
            </a:p>
          </p:txBody>
        </p:sp>
        <p:sp>
          <p:nvSpPr>
            <p:cNvPr id="11" name="TextBox 11"/>
            <p:cNvSpPr txBox="1"/>
            <p:nvPr/>
          </p:nvSpPr>
          <p:spPr>
            <a:xfrm>
              <a:off x="1022985" y="2640806"/>
              <a:ext cx="31222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Different cell types and states respond in</a:t>
              </a:r>
            </a:p>
          </p:txBody>
        </p:sp>
        <p:sp>
          <p:nvSpPr>
            <p:cNvPr id="12" name="TextBox 12"/>
            <p:cNvSpPr txBox="1"/>
            <p:nvPr/>
          </p:nvSpPr>
          <p:spPr>
            <a:xfrm>
              <a:off x="1022985" y="2850356"/>
              <a:ext cx="28761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opposite ways — some proliferate while</a:t>
              </a:r>
            </a:p>
          </p:txBody>
        </p:sp>
        <p:sp>
          <p:nvSpPr>
            <p:cNvPr id="13" name="TextBox 13"/>
            <p:cNvSpPr txBox="1"/>
            <p:nvPr/>
          </p:nvSpPr>
          <p:spPr>
            <a:xfrm>
              <a:off x="1022985" y="3059906"/>
              <a:ext cx="30118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others die under the same perturbation.</a:t>
              </a:r>
            </a:p>
          </p:txBody>
        </p:sp>
        <p:sp>
          <p:nvSpPr>
            <p:cNvPr id="14" name="TextBox 14"/>
            <p:cNvSpPr txBox="1"/>
            <p:nvPr/>
          </p:nvSpPr>
          <p:spPr>
            <a:xfrm>
              <a:off x="1022604" y="3413760"/>
              <a:ext cx="2242711"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proliferation ↑ cell death ↓</a:t>
              </a:r>
            </a:p>
          </p:txBody>
        </p:sp>
      </p:grpSp>
      <p:grpSp>
        <p:nvGrpSpPr>
          <p:cNvPr id="25" name="Group 25"/>
          <p:cNvGrpSpPr/>
          <p:nvPr/>
        </p:nvGrpSpPr>
        <p:grpSpPr>
          <a:xfrm>
            <a:off x="762000" y="3962400"/>
            <a:ext cx="5257800" cy="2114550"/>
            <a:chOff x="762000" y="3962400"/>
            <a:chExt cx="5257800" cy="2114550"/>
          </a:xfrm>
        </p:grpSpPr>
        <p:sp>
          <p:nvSpPr>
            <p:cNvPr id="16" name="Rectangle 16"/>
            <p:cNvSpPr/>
            <p:nvPr/>
          </p:nvSpPr>
          <p:spPr>
            <a:xfrm>
              <a:off x="762000" y="3962400"/>
              <a:ext cx="5257800" cy="2114550"/>
            </a:xfrm>
            <a:prstGeom prst="roundRect">
              <a:avLst>
                <a:gd name="adj" fmla="val 5405"/>
              </a:avLst>
            </a:prstGeom>
            <a:solidFill>
              <a:schemeClr val="lt1"/>
            </a:solidFill>
            <a:ln w="9525">
              <a:solidFill>
                <a:schemeClr val="accent4"/>
              </a:solidFill>
            </a:ln>
          </p:spPr>
        </p:sp>
        <p:sp>
          <p:nvSpPr>
            <p:cNvPr id="17" name="Rectangle 17"/>
            <p:cNvSpPr/>
            <p:nvPr/>
          </p:nvSpPr>
          <p:spPr>
            <a:xfrm>
              <a:off x="762000" y="3962400"/>
              <a:ext cx="57150" cy="2114550"/>
            </a:xfrm>
            <a:prstGeom prst="roundRect">
              <a:avLst>
                <a:gd name="adj" fmla="val 50000"/>
              </a:avLst>
            </a:prstGeom>
            <a:solidFill>
              <a:schemeClr val="accent2"/>
            </a:solidFill>
            <a:ln>
              <a:noFill/>
            </a:ln>
          </p:spPr>
        </p:sp>
        <p:sp>
          <p:nvSpPr>
            <p:cNvPr id="18" name="TextBox 18"/>
            <p:cNvSpPr txBox="1"/>
            <p:nvPr/>
          </p:nvSpPr>
          <p:spPr>
            <a:xfrm>
              <a:off x="1023366" y="4211002"/>
              <a:ext cx="145660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WHAT IS REQUIRED</a:t>
              </a:r>
            </a:p>
          </p:txBody>
        </p:sp>
        <p:sp>
          <p:nvSpPr>
            <p:cNvPr id="19" name="TextBox 19"/>
            <p:cNvSpPr txBox="1"/>
            <p:nvPr/>
          </p:nvSpPr>
          <p:spPr>
            <a:xfrm>
              <a:off x="1021842" y="4540568"/>
              <a:ext cx="2729314"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Nonlinear maps per single cell</a:t>
              </a:r>
            </a:p>
          </p:txBody>
        </p:sp>
        <p:sp>
          <p:nvSpPr>
            <p:cNvPr id="20" name="TextBox 20"/>
            <p:cNvSpPr txBox="1"/>
            <p:nvPr/>
          </p:nvSpPr>
          <p:spPr>
            <a:xfrm>
              <a:off x="1022985" y="4869656"/>
              <a:ext cx="315246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Capturing this needs nonlinear maps at the</a:t>
              </a:r>
            </a:p>
          </p:txBody>
        </p:sp>
        <p:sp>
          <p:nvSpPr>
            <p:cNvPr id="21" name="TextBox 21"/>
            <p:cNvSpPr txBox="1"/>
            <p:nvPr/>
          </p:nvSpPr>
          <p:spPr>
            <a:xfrm>
              <a:off x="1022985" y="5079206"/>
              <a:ext cx="288368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level of individual cells — not aggregate</a:t>
              </a:r>
            </a:p>
          </p:txBody>
        </p:sp>
        <p:sp>
          <p:nvSpPr>
            <p:cNvPr id="22" name="TextBox 22"/>
            <p:cNvSpPr txBox="1"/>
            <p:nvPr/>
          </p:nvSpPr>
          <p:spPr>
            <a:xfrm>
              <a:off x="1022985" y="5288756"/>
              <a:ext cx="321538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averages that wash out the heterogeneity.</a:t>
              </a:r>
            </a:p>
          </p:txBody>
        </p:sp>
        <p:sp>
          <p:nvSpPr>
            <p:cNvPr id="23" name="Rectangle 23"/>
            <p:cNvSpPr/>
            <p:nvPr/>
          </p:nvSpPr>
          <p:spPr>
            <a:xfrm>
              <a:off x="1028700" y="5600700"/>
              <a:ext cx="4724400" cy="323850"/>
            </a:xfrm>
            <a:prstGeom prst="roundRect">
              <a:avLst>
                <a:gd name="adj" fmla="val 23529"/>
              </a:avLst>
            </a:prstGeom>
            <a:solidFill>
              <a:srgbClr val="E1F3F0"/>
            </a:solidFill>
            <a:ln w="9525">
              <a:solidFill>
                <a:srgbClr val="B7E2DA"/>
              </a:solidFill>
            </a:ln>
          </p:spPr>
        </p:sp>
        <p:sp>
          <p:nvSpPr>
            <p:cNvPr id="24" name="TextBox 24"/>
            <p:cNvSpPr txBox="1"/>
            <p:nvPr/>
          </p:nvSpPr>
          <p:spPr>
            <a:xfrm>
              <a:off x="1213485" y="5688806"/>
              <a:ext cx="3399331"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single-cell resolution, not population means</a:t>
              </a:r>
            </a:p>
          </p:txBody>
        </p:sp>
      </p:grpSp>
      <p:grpSp>
        <p:nvGrpSpPr>
          <p:cNvPr id="37" name="Group 37"/>
          <p:cNvGrpSpPr/>
          <p:nvPr/>
        </p:nvGrpSpPr>
        <p:grpSpPr>
          <a:xfrm>
            <a:off x="6286500" y="1733550"/>
            <a:ext cx="5143500" cy="2552700"/>
            <a:chOff x="6286500" y="1733550"/>
            <a:chExt cx="5143500" cy="2552700"/>
          </a:xfrm>
        </p:grpSpPr>
        <p:sp>
          <p:nvSpPr>
            <p:cNvPr id="26" name="Rectangle 26"/>
            <p:cNvSpPr/>
            <p:nvPr/>
          </p:nvSpPr>
          <p:spPr>
            <a:xfrm>
              <a:off x="6286500" y="1733550"/>
              <a:ext cx="5143500" cy="2552700"/>
            </a:xfrm>
            <a:prstGeom prst="roundRect">
              <a:avLst>
                <a:gd name="adj" fmla="val 4478"/>
              </a:avLst>
            </a:prstGeom>
            <a:solidFill>
              <a:schemeClr val="lt1"/>
            </a:solidFill>
            <a:ln w="9525">
              <a:solidFill>
                <a:schemeClr val="accent4"/>
              </a:solidFill>
            </a:ln>
          </p:spPr>
        </p:sp>
        <p:sp>
          <p:nvSpPr>
            <p:cNvPr id="27" name="Rectangle 27"/>
            <p:cNvSpPr/>
            <p:nvPr/>
          </p:nvSpPr>
          <p:spPr>
            <a:xfrm>
              <a:off x="6286500" y="1733550"/>
              <a:ext cx="57150" cy="2552700"/>
            </a:xfrm>
            <a:prstGeom prst="roundRect">
              <a:avLst>
                <a:gd name="adj" fmla="val 50000"/>
              </a:avLst>
            </a:prstGeom>
            <a:solidFill>
              <a:schemeClr val="accent1"/>
            </a:solidFill>
            <a:ln>
              <a:noFill/>
            </a:ln>
          </p:spPr>
        </p:sp>
        <p:sp>
          <p:nvSpPr>
            <p:cNvPr id="28" name="TextBox 28"/>
            <p:cNvSpPr txBox="1"/>
            <p:nvPr/>
          </p:nvSpPr>
          <p:spPr>
            <a:xfrm>
              <a:off x="6547866" y="1982152"/>
              <a:ext cx="286835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WHERE PRIOR METHODS FALL SHORT</a:t>
              </a:r>
            </a:p>
          </p:txBody>
        </p:sp>
        <p:sp>
          <p:nvSpPr>
            <p:cNvPr id="29" name="Rectangle 29"/>
            <p:cNvSpPr/>
            <p:nvPr/>
          </p:nvSpPr>
          <p:spPr>
            <a:xfrm>
              <a:off x="6553200" y="2286000"/>
              <a:ext cx="4610100" cy="857250"/>
            </a:xfrm>
            <a:prstGeom prst="roundRect">
              <a:avLst>
                <a:gd name="adj" fmla="val 11111"/>
              </a:avLst>
            </a:prstGeom>
            <a:solidFill>
              <a:schemeClr val="accent5"/>
            </a:solidFill>
            <a:ln w="9525">
              <a:solidFill>
                <a:schemeClr val="accent4"/>
              </a:solidFill>
            </a:ln>
          </p:spPr>
        </p:sp>
        <p:sp>
          <p:nvSpPr>
            <p:cNvPr id="30" name="TextBox 30"/>
            <p:cNvSpPr txBox="1"/>
            <p:nvPr/>
          </p:nvSpPr>
          <p:spPr>
            <a:xfrm>
              <a:off x="6756654" y="2461260"/>
              <a:ext cx="157212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Balanced neural OT</a:t>
              </a:r>
            </a:p>
          </p:txBody>
        </p:sp>
        <p:sp>
          <p:nvSpPr>
            <p:cNvPr id="31" name="TextBox 31"/>
            <p:cNvSpPr txBox="1"/>
            <p:nvPr/>
          </p:nvSpPr>
          <p:spPr>
            <a:xfrm>
              <a:off x="6757035" y="2736056"/>
              <a:ext cx="30721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assumes mass is conserved — cannot grow</a:t>
              </a:r>
            </a:p>
          </p:txBody>
        </p:sp>
        <p:sp>
          <p:nvSpPr>
            <p:cNvPr id="32" name="TextBox 32"/>
            <p:cNvSpPr txBox="1"/>
            <p:nvPr/>
          </p:nvSpPr>
          <p:spPr>
            <a:xfrm>
              <a:off x="6757035" y="2926556"/>
              <a:ext cx="1896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or shrink subpopulations.</a:t>
              </a:r>
            </a:p>
          </p:txBody>
        </p:sp>
        <p:sp>
          <p:nvSpPr>
            <p:cNvPr id="33" name="Rectangle 33"/>
            <p:cNvSpPr/>
            <p:nvPr/>
          </p:nvSpPr>
          <p:spPr>
            <a:xfrm>
              <a:off x="6553200" y="3257550"/>
              <a:ext cx="4610100" cy="914400"/>
            </a:xfrm>
            <a:prstGeom prst="roundRect">
              <a:avLst>
                <a:gd name="adj" fmla="val 10417"/>
              </a:avLst>
            </a:prstGeom>
            <a:solidFill>
              <a:schemeClr val="accent5"/>
            </a:solidFill>
            <a:ln w="9525">
              <a:solidFill>
                <a:schemeClr val="accent4"/>
              </a:solidFill>
            </a:ln>
          </p:spPr>
        </p:sp>
        <p:sp>
          <p:nvSpPr>
            <p:cNvPr id="34" name="TextBox 34"/>
            <p:cNvSpPr txBox="1"/>
            <p:nvPr/>
          </p:nvSpPr>
          <p:spPr>
            <a:xfrm>
              <a:off x="6756654" y="3432810"/>
              <a:ext cx="2801094"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State-of-the-art unbalanced GAN</a:t>
              </a:r>
            </a:p>
          </p:txBody>
        </p:sp>
        <p:sp>
          <p:nvSpPr>
            <p:cNvPr id="35" name="TextBox 35"/>
            <p:cNvSpPr txBox="1"/>
            <p:nvPr/>
          </p:nvSpPr>
          <p:spPr>
            <a:xfrm>
              <a:off x="6757035" y="3707606"/>
              <a:ext cx="32229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captures only the general trend of growth,</a:t>
              </a:r>
            </a:p>
          </p:txBody>
        </p:sp>
        <p:sp>
          <p:nvSpPr>
            <p:cNvPr id="36" name="TextBox 36"/>
            <p:cNvSpPr txBox="1"/>
            <p:nvPr/>
          </p:nvSpPr>
          <p:spPr>
            <a:xfrm>
              <a:off x="6757035" y="3898106"/>
              <a:ext cx="292891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not the exact per-cluster reweighting.</a:t>
              </a:r>
            </a:p>
          </p:txBody>
        </p:sp>
      </p:grpSp>
      <p:grpSp>
        <p:nvGrpSpPr>
          <p:cNvPr id="45" name="Group 45"/>
          <p:cNvGrpSpPr/>
          <p:nvPr/>
        </p:nvGrpSpPr>
        <p:grpSpPr>
          <a:xfrm>
            <a:off x="6286500" y="4476750"/>
            <a:ext cx="5143500" cy="1600200"/>
            <a:chOff x="6286500" y="4476750"/>
            <a:chExt cx="5143500" cy="1600200"/>
          </a:xfrm>
        </p:grpSpPr>
        <p:sp>
          <p:nvSpPr>
            <p:cNvPr id="38" name="Rectangle 38"/>
            <p:cNvSpPr/>
            <p:nvPr/>
          </p:nvSpPr>
          <p:spPr>
            <a:xfrm>
              <a:off x="6286500" y="4476750"/>
              <a:ext cx="5143500" cy="1600200"/>
            </a:xfrm>
            <a:prstGeom prst="roundRect">
              <a:avLst>
                <a:gd name="adj" fmla="val 7143"/>
              </a:avLst>
            </a:prstGeom>
            <a:solidFill>
              <a:schemeClr val="accent6"/>
            </a:solidFill>
            <a:ln w="9525">
              <a:solidFill>
                <a:srgbClr val="C6D6FB"/>
              </a:solidFill>
            </a:ln>
          </p:spPr>
        </p:sp>
        <p:sp>
          <p:nvSpPr>
            <p:cNvPr id="39" name="Rectangle 39"/>
            <p:cNvSpPr/>
            <p:nvPr/>
          </p:nvSpPr>
          <p:spPr>
            <a:xfrm>
              <a:off x="6286500" y="4476750"/>
              <a:ext cx="57150" cy="1600200"/>
            </a:xfrm>
            <a:prstGeom prst="roundRect">
              <a:avLst>
                <a:gd name="adj" fmla="val 50000"/>
              </a:avLst>
            </a:prstGeom>
            <a:solidFill>
              <a:schemeClr val="accent1"/>
            </a:solidFill>
            <a:ln>
              <a:noFill/>
            </a:ln>
          </p:spPr>
        </p:sp>
        <p:sp>
          <p:nvSpPr>
            <p:cNvPr id="40" name="TextBox 40"/>
            <p:cNvSpPr txBox="1"/>
            <p:nvPr/>
          </p:nvSpPr>
          <p:spPr>
            <a:xfrm>
              <a:off x="6547866" y="4725352"/>
              <a:ext cx="148295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THE MISSING PIECE</a:t>
              </a:r>
            </a:p>
          </p:txBody>
        </p:sp>
        <p:sp>
          <p:nvSpPr>
            <p:cNvPr id="41" name="TextBox 41"/>
            <p:cNvSpPr txBox="1"/>
            <p:nvPr/>
          </p:nvSpPr>
          <p:spPr>
            <a:xfrm>
              <a:off x="6545961" y="5065871"/>
              <a:ext cx="2469356"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Jointly map AND reweight</a:t>
              </a:r>
            </a:p>
          </p:txBody>
        </p:sp>
        <p:sp>
          <p:nvSpPr>
            <p:cNvPr id="42" name="TextBox 42"/>
            <p:cNvSpPr txBox="1"/>
            <p:nvPr/>
          </p:nvSpPr>
          <p:spPr>
            <a:xfrm>
              <a:off x="6547485" y="5403056"/>
              <a:ext cx="3318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method that accurately models where mass</a:t>
              </a:r>
            </a:p>
          </p:txBody>
        </p:sp>
        <p:sp>
          <p:nvSpPr>
            <p:cNvPr id="43" name="TextBox 43"/>
            <p:cNvSpPr txBox="1"/>
            <p:nvPr/>
          </p:nvSpPr>
          <p:spPr>
            <a:xfrm>
              <a:off x="6547485" y="5612606"/>
              <a:ext cx="34113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moves and how much is created or destroyed —</a:t>
              </a:r>
            </a:p>
          </p:txBody>
        </p:sp>
        <p:sp>
          <p:nvSpPr>
            <p:cNvPr id="44" name="TextBox 44"/>
            <p:cNvSpPr txBox="1"/>
            <p:nvPr/>
          </p:nvSpPr>
          <p:spPr>
            <a:xfrm>
              <a:off x="6547485" y="5822156"/>
              <a:ext cx="23258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staying faithful to the biology.</a:t>
              </a:r>
            </a:p>
          </p:txBody>
        </p:sp>
      </p:grpSp>
      <p:grpSp>
        <p:nvGrpSpPr>
          <p:cNvPr id="48" name="Group 48"/>
          <p:cNvGrpSpPr/>
          <p:nvPr/>
        </p:nvGrpSpPr>
        <p:grpSpPr>
          <a:xfrm>
            <a:off x="757238" y="6570345"/>
            <a:ext cx="10677524" cy="176212"/>
            <a:chOff x="757238" y="6570345"/>
            <a:chExt cx="10677524" cy="176212"/>
          </a:xfrm>
        </p:grpSpPr>
        <p:sp>
          <p:nvSpPr>
            <p:cNvPr id="46" name="TextBox 46"/>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47" name="TextBox 47"/>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03 / 10</a:t>
              </a:r>
            </a:p>
          </p:txBody>
        </p:sp>
      </p:grpSp>
      <p:sp>
        <p:nvSpPr>
          <p:cNvPr id="49" name="cue_s03_c1_cellular_responses_drugs_highly_hete" title="cue_s03_c1_cellular_responses_drugs_highly_hete" descr="cue_s03_c1_cellular_responses_drugs_highly_hete Cellular responses to drugs are highly heterogeneous: different cell types and states can respond in opposite ways, some proliferating while others die."/>
          <p:cNvSpPr/>
          <p:nvPr/>
        </p:nvSpPr>
        <p:spPr>
          <a:xfrm>
            <a:off x="762000" y="1733702"/>
            <a:ext cx="5258409"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2_capturing_requires_nonlinear_maps_le" title="cue_s03_c2_capturing_requires_nonlinear_maps_le" descr="cue_s03_c2_capturing_requires_nonlinear_maps_le Capturing this requires nonlinear maps at the level of single cells, not aggregate averages."/>
          <p:cNvSpPr/>
          <p:nvPr/>
        </p:nvSpPr>
        <p:spPr>
          <a:xfrm>
            <a:off x="762000" y="3962552"/>
            <a:ext cx="5258409" cy="21143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3_prior_neural_optimal_transport_metho" title="cue_s03_c3_prior_neural_optimal_transport_metho" descr="cue_s03_c3_prior_neural_optimal_transport_metho Prior neural optimal transport methods can learn such maps, but they either assume the balanced setting where mass is conserved, or, like the state-of-the-art unbalanced GAN approach, they only capture the general trend of growth and shrinkage without recoveri"/>
          <p:cNvSpPr/>
          <p:nvPr/>
        </p:nvSpPr>
        <p:spPr>
          <a:xfrm>
            <a:off x="6286195" y="1733702"/>
            <a:ext cx="5143804" cy="25525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4_what_been_missing_method_jointly" title="cue_s03_c4_what_been_missing_method_jointly" descr="cue_s03_c4_what_been_missing_method_jointly What has been missing is a method that jointly and accurately models where mass moves and how much of it is created or destroyed, in a way that stays faithful to the biology."/>
          <p:cNvSpPr/>
          <p:nvPr/>
        </p:nvSpPr>
        <p:spPr>
          <a:xfrm>
            <a:off x="6286195" y="4476902"/>
            <a:ext cx="5143804"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72421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04 · CONTRIBUTION</a:t>
              </a:r>
            </a:p>
          </p:txBody>
        </p:sp>
        <p:sp>
          <p:nvSpPr>
            <p:cNvPr id="4" name="TextBox 4"/>
            <p:cNvSpPr txBox="1"/>
            <p:nvPr/>
          </p:nvSpPr>
          <p:spPr>
            <a:xfrm>
              <a:off x="749808" y="883920"/>
              <a:ext cx="941549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Three contributions, one neural semi-coupling estimator</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5" name="Group 15"/>
          <p:cNvGrpSpPr/>
          <p:nvPr/>
        </p:nvGrpSpPr>
        <p:grpSpPr>
          <a:xfrm>
            <a:off x="762000" y="1733550"/>
            <a:ext cx="5257800" cy="1581150"/>
            <a:chOff x="762000" y="1733550"/>
            <a:chExt cx="5257800" cy="1581150"/>
          </a:xfrm>
        </p:grpSpPr>
        <p:sp>
          <p:nvSpPr>
            <p:cNvPr id="7" name="Rectangle 7"/>
            <p:cNvSpPr/>
            <p:nvPr/>
          </p:nvSpPr>
          <p:spPr>
            <a:xfrm>
              <a:off x="762000" y="1733550"/>
              <a:ext cx="5257800" cy="1581150"/>
            </a:xfrm>
            <a:prstGeom prst="roundRect">
              <a:avLst>
                <a:gd name="adj" fmla="val 7229"/>
              </a:avLst>
            </a:prstGeom>
            <a:solidFill>
              <a:schemeClr val="accent6"/>
            </a:solidFill>
            <a:ln w="9525">
              <a:solidFill>
                <a:srgbClr val="C6D6FB"/>
              </a:solidFill>
            </a:ln>
          </p:spPr>
        </p:sp>
        <p:sp>
          <p:nvSpPr>
            <p:cNvPr id="8" name="Rectangle 8"/>
            <p:cNvSpPr/>
            <p:nvPr/>
          </p:nvSpPr>
          <p:spPr>
            <a:xfrm>
              <a:off x="762000" y="1733550"/>
              <a:ext cx="57150" cy="1581150"/>
            </a:xfrm>
            <a:prstGeom prst="roundRect">
              <a:avLst>
                <a:gd name="adj" fmla="val 50000"/>
              </a:avLst>
            </a:prstGeom>
            <a:solidFill>
              <a:schemeClr val="accent1"/>
            </a:solidFill>
            <a:ln>
              <a:noFill/>
            </a:ln>
          </p:spPr>
        </p:sp>
        <p:sp>
          <p:nvSpPr>
            <p:cNvPr id="9" name="TextBox 9"/>
            <p:cNvSpPr txBox="1"/>
            <p:nvPr/>
          </p:nvSpPr>
          <p:spPr>
            <a:xfrm>
              <a:off x="1023366" y="1982152"/>
              <a:ext cx="1500828"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NEW FORMULATION</a:t>
              </a:r>
            </a:p>
          </p:txBody>
        </p:sp>
        <p:sp>
          <p:nvSpPr>
            <p:cNvPr id="10" name="TextBox 10"/>
            <p:cNvSpPr txBox="1"/>
            <p:nvPr/>
          </p:nvSpPr>
          <p:spPr>
            <a:xfrm>
              <a:off x="1017270" y="2157412"/>
              <a:ext cx="197782"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1</a:t>
              </a:r>
            </a:p>
          </p:txBody>
        </p:sp>
        <p:sp>
          <p:nvSpPr>
            <p:cNvPr id="11" name="TextBox 11"/>
            <p:cNvSpPr txBox="1"/>
            <p:nvPr/>
          </p:nvSpPr>
          <p:spPr>
            <a:xfrm>
              <a:off x="1421892" y="2254568"/>
              <a:ext cx="285709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Semi-couplings meet neural OT</a:t>
              </a:r>
            </a:p>
          </p:txBody>
        </p:sp>
        <p:sp>
          <p:nvSpPr>
            <p:cNvPr id="12" name="TextBox 12"/>
            <p:cNvSpPr txBox="1"/>
            <p:nvPr/>
          </p:nvSpPr>
          <p:spPr>
            <a:xfrm>
              <a:off x="1423035" y="2602706"/>
              <a:ext cx="36049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Connects the rigorous theory of semi-couplings,</a:t>
              </a:r>
            </a:p>
          </p:txBody>
        </p:sp>
        <p:sp>
          <p:nvSpPr>
            <p:cNvPr id="13" name="TextBox 13"/>
            <p:cNvSpPr txBox="1"/>
            <p:nvPr/>
          </p:nvSpPr>
          <p:spPr>
            <a:xfrm>
              <a:off x="1423035" y="2812256"/>
              <a:ext cx="333600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which let mass vary, with a scalable optimal-</a:t>
              </a:r>
            </a:p>
          </p:txBody>
        </p:sp>
        <p:sp>
          <p:nvSpPr>
            <p:cNvPr id="14" name="TextBox 14"/>
            <p:cNvSpPr txBox="1"/>
            <p:nvPr/>
          </p:nvSpPr>
          <p:spPr>
            <a:xfrm>
              <a:off x="1423035" y="3021806"/>
              <a:ext cx="22428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transport mapping estimator.</a:t>
              </a:r>
            </a:p>
          </p:txBody>
        </p:sp>
      </p:grpSp>
      <p:grpSp>
        <p:nvGrpSpPr>
          <p:cNvPr id="27" name="Group 27"/>
          <p:cNvGrpSpPr/>
          <p:nvPr/>
        </p:nvGrpSpPr>
        <p:grpSpPr>
          <a:xfrm>
            <a:off x="762000" y="3505200"/>
            <a:ext cx="5257800" cy="2571750"/>
            <a:chOff x="762000" y="3505200"/>
            <a:chExt cx="5257800" cy="2571750"/>
          </a:xfrm>
        </p:grpSpPr>
        <p:sp>
          <p:nvSpPr>
            <p:cNvPr id="16" name="Rectangle 16"/>
            <p:cNvSpPr/>
            <p:nvPr/>
          </p:nvSpPr>
          <p:spPr>
            <a:xfrm>
              <a:off x="762000" y="3505200"/>
              <a:ext cx="5257800" cy="2571750"/>
            </a:xfrm>
            <a:prstGeom prst="roundRect">
              <a:avLst>
                <a:gd name="adj" fmla="val 4444"/>
              </a:avLst>
            </a:prstGeom>
            <a:solidFill>
              <a:schemeClr val="lt1"/>
            </a:solidFill>
            <a:ln w="9525">
              <a:solidFill>
                <a:schemeClr val="accent4"/>
              </a:solidFill>
            </a:ln>
          </p:spPr>
        </p:sp>
        <p:sp>
          <p:nvSpPr>
            <p:cNvPr id="17" name="Rectangle 17"/>
            <p:cNvSpPr/>
            <p:nvPr/>
          </p:nvSpPr>
          <p:spPr>
            <a:xfrm>
              <a:off x="762000" y="3505200"/>
              <a:ext cx="57150" cy="2571750"/>
            </a:xfrm>
            <a:prstGeom prst="roundRect">
              <a:avLst>
                <a:gd name="adj" fmla="val 50000"/>
              </a:avLst>
            </a:prstGeom>
            <a:solidFill>
              <a:schemeClr val="accent2"/>
            </a:solidFill>
            <a:ln>
              <a:noFill/>
            </a:ln>
          </p:spPr>
        </p:sp>
        <p:sp>
          <p:nvSpPr>
            <p:cNvPr id="18" name="TextBox 18"/>
            <p:cNvSpPr txBox="1"/>
            <p:nvPr/>
          </p:nvSpPr>
          <p:spPr>
            <a:xfrm>
              <a:off x="1023366" y="3753802"/>
              <a:ext cx="2166404"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FEASIBLE IMPLEMENTATION</a:t>
              </a:r>
            </a:p>
          </p:txBody>
        </p:sp>
        <p:sp>
          <p:nvSpPr>
            <p:cNvPr id="19" name="TextBox 19"/>
            <p:cNvSpPr txBox="1"/>
            <p:nvPr/>
          </p:nvSpPr>
          <p:spPr>
            <a:xfrm>
              <a:off x="1017270" y="39290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20" name="TextBox 20"/>
            <p:cNvSpPr txBox="1"/>
            <p:nvPr/>
          </p:nvSpPr>
          <p:spPr>
            <a:xfrm>
              <a:off x="1421892" y="4026218"/>
              <a:ext cx="273934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ICNN duals + reweighting nets</a:t>
              </a:r>
            </a:p>
          </p:txBody>
        </p:sp>
        <p:sp>
          <p:nvSpPr>
            <p:cNvPr id="21" name="TextBox 21"/>
            <p:cNvSpPr txBox="1"/>
            <p:nvPr/>
          </p:nvSpPr>
          <p:spPr>
            <a:xfrm>
              <a:off x="1423035" y="4374356"/>
              <a:ext cx="31523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Dual potentials are parameterized by input</a:t>
              </a:r>
            </a:p>
          </p:txBody>
        </p:sp>
        <p:sp>
          <p:nvSpPr>
            <p:cNvPr id="22" name="TextBox 22"/>
            <p:cNvSpPr txBox="1"/>
            <p:nvPr/>
          </p:nvSpPr>
          <p:spPr>
            <a:xfrm>
              <a:off x="1423035" y="4583906"/>
              <a:ext cx="32983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convex neural networks, paired with learned</a:t>
              </a:r>
            </a:p>
          </p:txBody>
        </p:sp>
        <p:sp>
          <p:nvSpPr>
            <p:cNvPr id="23" name="TextBox 23"/>
            <p:cNvSpPr txBox="1"/>
            <p:nvPr/>
          </p:nvSpPr>
          <p:spPr>
            <a:xfrm>
              <a:off x="1423035" y="4793456"/>
              <a:ext cx="36300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reweighting functions that predict mass change.</a:t>
              </a:r>
            </a:p>
          </p:txBody>
        </p:sp>
        <p:sp>
          <p:nvSpPr>
            <p:cNvPr id="24" name="Rectangle 24"/>
            <p:cNvSpPr/>
            <p:nvPr/>
          </p:nvSpPr>
          <p:spPr>
            <a:xfrm>
              <a:off x="1428750" y="5143500"/>
              <a:ext cx="4305300" cy="762000"/>
            </a:xfrm>
            <a:prstGeom prst="roundRect">
              <a:avLst>
                <a:gd name="adj" fmla="val 12500"/>
              </a:avLst>
            </a:prstGeom>
            <a:solidFill>
              <a:srgbClr val="E1F3F0"/>
            </a:solidFill>
            <a:ln w="9525">
              <a:solidFill>
                <a:srgbClr val="B7E2DA"/>
              </a:solidFill>
            </a:ln>
          </p:spPr>
        </p:sp>
        <p:sp>
          <p:nvSpPr>
            <p:cNvPr id="25" name="TextBox 25"/>
            <p:cNvSpPr txBox="1"/>
            <p:nvPr/>
          </p:nvSpPr>
          <p:spPr>
            <a:xfrm>
              <a:off x="1670304" y="5318760"/>
              <a:ext cx="2675603"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∇f, ∇g → Monge maps η, ζ → mass</a:t>
              </a:r>
            </a:p>
          </p:txBody>
        </p:sp>
        <p:sp>
          <p:nvSpPr>
            <p:cNvPr id="26" name="TextBox 26"/>
            <p:cNvSpPr txBox="1"/>
            <p:nvPr/>
          </p:nvSpPr>
          <p:spPr>
            <a:xfrm>
              <a:off x="1671066" y="5601652"/>
              <a:ext cx="31133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convex potentials + scalar reweighting fields</a:t>
              </a:r>
            </a:p>
          </p:txBody>
        </p:sp>
      </p:grpSp>
      <p:grpSp>
        <p:nvGrpSpPr>
          <p:cNvPr id="39" name="Group 39"/>
          <p:cNvGrpSpPr/>
          <p:nvPr/>
        </p:nvGrpSpPr>
        <p:grpSpPr>
          <a:xfrm>
            <a:off x="6286500" y="1733550"/>
            <a:ext cx="5143500" cy="2324100"/>
            <a:chOff x="6286500" y="1733550"/>
            <a:chExt cx="5143500" cy="2324100"/>
          </a:xfrm>
        </p:grpSpPr>
        <p:sp>
          <p:nvSpPr>
            <p:cNvPr id="28" name="Rectangle 28"/>
            <p:cNvSpPr/>
            <p:nvPr/>
          </p:nvSpPr>
          <p:spPr>
            <a:xfrm>
              <a:off x="6286500" y="1733550"/>
              <a:ext cx="5143500" cy="2324100"/>
            </a:xfrm>
            <a:prstGeom prst="roundRect">
              <a:avLst>
                <a:gd name="adj" fmla="val 4918"/>
              </a:avLst>
            </a:prstGeom>
            <a:solidFill>
              <a:schemeClr val="lt1"/>
            </a:solidFill>
            <a:ln w="9525">
              <a:solidFill>
                <a:schemeClr val="accent4"/>
              </a:solidFill>
            </a:ln>
          </p:spPr>
        </p:sp>
        <p:sp>
          <p:nvSpPr>
            <p:cNvPr id="29" name="Rectangle 29"/>
            <p:cNvSpPr/>
            <p:nvPr/>
          </p:nvSpPr>
          <p:spPr>
            <a:xfrm>
              <a:off x="6286500" y="1733550"/>
              <a:ext cx="57150" cy="2324100"/>
            </a:xfrm>
            <a:prstGeom prst="roundRect">
              <a:avLst>
                <a:gd name="adj" fmla="val 50000"/>
              </a:avLst>
            </a:prstGeom>
            <a:solidFill>
              <a:schemeClr val="accent3"/>
            </a:solidFill>
            <a:ln>
              <a:noFill/>
            </a:ln>
          </p:spPr>
        </p:sp>
        <p:sp>
          <p:nvSpPr>
            <p:cNvPr id="30" name="TextBox 30"/>
            <p:cNvSpPr txBox="1"/>
            <p:nvPr/>
          </p:nvSpPr>
          <p:spPr>
            <a:xfrm>
              <a:off x="6547866" y="1982152"/>
              <a:ext cx="2297514"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CYCLE-CONSISTENT TRAINING</a:t>
              </a:r>
            </a:p>
          </p:txBody>
        </p:sp>
        <p:sp>
          <p:nvSpPr>
            <p:cNvPr id="31" name="TextBox 31"/>
            <p:cNvSpPr txBox="1"/>
            <p:nvPr/>
          </p:nvSpPr>
          <p:spPr>
            <a:xfrm>
              <a:off x="6541770" y="21574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3</a:t>
              </a:r>
            </a:p>
          </p:txBody>
        </p:sp>
        <p:sp>
          <p:nvSpPr>
            <p:cNvPr id="32" name="TextBox 32"/>
            <p:cNvSpPr txBox="1"/>
            <p:nvPr/>
          </p:nvSpPr>
          <p:spPr>
            <a:xfrm>
              <a:off x="6946392" y="2254568"/>
              <a:ext cx="250080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Alternate maps ⇄ rescaling</a:t>
              </a:r>
            </a:p>
          </p:txBody>
        </p:sp>
        <p:sp>
          <p:nvSpPr>
            <p:cNvPr id="33" name="TextBox 33"/>
            <p:cNvSpPr txBox="1"/>
            <p:nvPr/>
          </p:nvSpPr>
          <p:spPr>
            <a:xfrm>
              <a:off x="6547485" y="2640806"/>
              <a:ext cx="33485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new cycle-consistent procedure alternates</a:t>
              </a:r>
            </a:p>
          </p:txBody>
        </p:sp>
        <p:sp>
          <p:nvSpPr>
            <p:cNvPr id="34" name="TextBox 34"/>
            <p:cNvSpPr txBox="1"/>
            <p:nvPr/>
          </p:nvSpPr>
          <p:spPr>
            <a:xfrm>
              <a:off x="6547485" y="2850356"/>
              <a:ext cx="337369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between updating the transport maps and the</a:t>
              </a:r>
            </a:p>
          </p:txBody>
        </p:sp>
        <p:sp>
          <p:nvSpPr>
            <p:cNvPr id="35" name="TextBox 35"/>
            <p:cNvSpPr txBox="1"/>
            <p:nvPr/>
          </p:nvSpPr>
          <p:spPr>
            <a:xfrm>
              <a:off x="6547485" y="3059906"/>
              <a:ext cx="271029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rescaling functions — and crucially it</a:t>
              </a:r>
            </a:p>
          </p:txBody>
        </p:sp>
        <p:sp>
          <p:nvSpPr>
            <p:cNvPr id="36" name="TextBox 36"/>
            <p:cNvSpPr txBox="1"/>
            <p:nvPr/>
          </p:nvSpPr>
          <p:spPr>
            <a:xfrm>
              <a:off x="6547485" y="3269456"/>
              <a:ext cx="3049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generalizes to new, out-of-sample cells.</a:t>
              </a:r>
            </a:p>
          </p:txBody>
        </p:sp>
        <p:sp>
          <p:nvSpPr>
            <p:cNvPr id="37" name="Rectangle 37"/>
            <p:cNvSpPr/>
            <p:nvPr/>
          </p:nvSpPr>
          <p:spPr>
            <a:xfrm>
              <a:off x="6553200" y="3600450"/>
              <a:ext cx="4610100" cy="323850"/>
            </a:xfrm>
            <a:prstGeom prst="roundRect">
              <a:avLst>
                <a:gd name="adj" fmla="val 23529"/>
              </a:avLst>
            </a:prstGeom>
            <a:solidFill>
              <a:srgbClr val="FBE9E2"/>
            </a:solidFill>
            <a:ln w="9525">
              <a:solidFill>
                <a:srgbClr val="F2C6B4"/>
              </a:solidFill>
            </a:ln>
          </p:spPr>
        </p:sp>
        <p:sp>
          <p:nvSpPr>
            <p:cNvPr id="38" name="TextBox 38"/>
            <p:cNvSpPr txBox="1"/>
            <p:nvPr/>
          </p:nvSpPr>
          <p:spPr>
            <a:xfrm>
              <a:off x="6776085" y="3688556"/>
              <a:ext cx="3557644"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train-time alternation → test-time prediction</a:t>
              </a:r>
            </a:p>
          </p:txBody>
        </p:sp>
      </p:grpSp>
      <p:grpSp>
        <p:nvGrpSpPr>
          <p:cNvPr id="47" name="Group 47"/>
          <p:cNvGrpSpPr/>
          <p:nvPr/>
        </p:nvGrpSpPr>
        <p:grpSpPr>
          <a:xfrm>
            <a:off x="6286500" y="4248150"/>
            <a:ext cx="5143500" cy="1828800"/>
            <a:chOff x="6286500" y="4248150"/>
            <a:chExt cx="5143500" cy="1828800"/>
          </a:xfrm>
        </p:grpSpPr>
        <p:sp>
          <p:nvSpPr>
            <p:cNvPr id="40" name="Rectangle 40"/>
            <p:cNvSpPr/>
            <p:nvPr/>
          </p:nvSpPr>
          <p:spPr>
            <a:xfrm>
              <a:off x="6286500" y="4248150"/>
              <a:ext cx="5143500" cy="1828800"/>
            </a:xfrm>
            <a:prstGeom prst="roundRect">
              <a:avLst>
                <a:gd name="adj" fmla="val 6250"/>
              </a:avLst>
            </a:prstGeom>
            <a:solidFill>
              <a:schemeClr val="dk1"/>
            </a:solidFill>
            <a:ln>
              <a:noFill/>
            </a:ln>
          </p:spPr>
        </p:sp>
        <p:sp>
          <p:nvSpPr>
            <p:cNvPr id="41" name="TextBox 41"/>
            <p:cNvSpPr txBox="1"/>
            <p:nvPr/>
          </p:nvSpPr>
          <p:spPr>
            <a:xfrm>
              <a:off x="6547866" y="4496752"/>
              <a:ext cx="961347"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THE UPSHOT</a:t>
              </a:r>
            </a:p>
          </p:txBody>
        </p:sp>
        <p:sp>
          <p:nvSpPr>
            <p:cNvPr id="42" name="TextBox 42"/>
            <p:cNvSpPr txBox="1"/>
            <p:nvPr/>
          </p:nvSpPr>
          <p:spPr>
            <a:xfrm>
              <a:off x="6544818" y="4851082"/>
              <a:ext cx="3126028"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First neural semi-couplings</a:t>
              </a:r>
            </a:p>
          </p:txBody>
        </p:sp>
        <p:sp>
          <p:nvSpPr>
            <p:cNvPr id="43" name="TextBox 43"/>
            <p:cNvSpPr txBox="1"/>
            <p:nvPr/>
          </p:nvSpPr>
          <p:spPr>
            <a:xfrm>
              <a:off x="6547485" y="5231606"/>
              <a:ext cx="3130105"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The first neural method to estimate semi-</a:t>
              </a:r>
            </a:p>
          </p:txBody>
        </p:sp>
        <p:sp>
          <p:nvSpPr>
            <p:cNvPr id="44" name="TextBox 44"/>
            <p:cNvSpPr txBox="1"/>
            <p:nvPr/>
          </p:nvSpPr>
          <p:spPr>
            <a:xfrm>
              <a:off x="6547485" y="5441156"/>
              <a:ext cx="3081775"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couplings for unbalanced OT at single-cell</a:t>
              </a:r>
            </a:p>
          </p:txBody>
        </p:sp>
        <p:sp>
          <p:nvSpPr>
            <p:cNvPr id="45" name="TextBox 45"/>
            <p:cNvSpPr txBox="1"/>
            <p:nvPr/>
          </p:nvSpPr>
          <p:spPr>
            <a:xfrm>
              <a:off x="6547485" y="5650706"/>
              <a:ext cx="471292"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scale.</a:t>
              </a:r>
            </a:p>
          </p:txBody>
        </p:sp>
        <p:sp>
          <p:nvSpPr>
            <p:cNvPr id="46" name="TextBox 46"/>
            <p:cNvSpPr txBox="1"/>
            <p:nvPr/>
          </p:nvSpPr>
          <p:spPr>
            <a:xfrm>
              <a:off x="9629255" y="4915852"/>
              <a:ext cx="1539379" cy="205359"/>
            </a:xfrm>
            <a:prstGeom prst="rect">
              <a:avLst/>
            </a:prstGeom>
            <a:noFill/>
            <a:ln>
              <a:noFill/>
            </a:ln>
          </p:spPr>
          <p:txBody>
            <a:bodyPr wrap="none" lIns="0" tIns="0" rIns="0" bIns="0" anchor="t" anchorCtr="0">
              <a:spAutoFit/>
            </a:bodyPr>
            <a:lstStyle/>
            <a:p>
              <a:pPr algn="r"/>
              <a:r>
                <a:rPr lang="en-US" sz="1050" b="1" dirty="0">
                  <a:solidFill>
                    <a:srgbClr val="8BE0D4"/>
                  </a:solidFill>
                  <a:latin typeface="+mn-lt"/>
                  <a:ea typeface="+mn-ea"/>
                  <a:cs typeface="+mn-cs"/>
                </a:rPr>
                <a:t>unbalanced · scalable</a:t>
              </a:r>
            </a:p>
          </p:txBody>
        </p:sp>
      </p:grpSp>
      <p:grpSp>
        <p:nvGrpSpPr>
          <p:cNvPr id="50" name="Group 50"/>
          <p:cNvGrpSpPr/>
          <p:nvPr/>
        </p:nvGrpSpPr>
        <p:grpSpPr>
          <a:xfrm>
            <a:off x="757238" y="6570345"/>
            <a:ext cx="10677524" cy="176212"/>
            <a:chOff x="757238" y="6570345"/>
            <a:chExt cx="10677524" cy="176212"/>
          </a:xfrm>
        </p:grpSpPr>
        <p:sp>
          <p:nvSpPr>
            <p:cNvPr id="48" name="TextBox 48"/>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49" name="TextBox 49"/>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04 / 10</a:t>
              </a:r>
            </a:p>
          </p:txBody>
        </p:sp>
      </p:grpSp>
      <p:sp>
        <p:nvSpPr>
          <p:cNvPr id="51" name="cue_s04_c1_makes_three_main_contributions_first" title="cue_s04_c1_makes_three_main_contributions_first" descr="cue_s04_c1_makes_three_main_contributions_first The paper makes three main contributions. First, it introduces a novel formulation of the unbalanced optimal transport problem that connects the rigorous theory of semi-couplings, which allow mass to vary, with a practical and scalable optimal-transport mappin"/>
          <p:cNvSpPr/>
          <p:nvPr/>
        </p:nvSpPr>
        <p:spPr>
          <a:xfrm>
            <a:off x="762000" y="1733702"/>
            <a:ext cx="5258409" cy="15814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2_second_derives_computationally_feasi" title="cue_s04_c2_second_derives_computationally_feasi" descr="cue_s04_c2_second_derives_computationally_feasi Second, it derives a computationally feasible implementation based on dual potentials parameterized by input convex neural networks, together with learned reweighting functions that predict mass changes."/>
          <p:cNvSpPr/>
          <p:nvPr/>
        </p:nvSpPr>
        <p:spPr>
          <a:xfrm>
            <a:off x="762000" y="3505123"/>
            <a:ext cx="5258409"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3_third_proposes_new_cycle_consistent" title="cue_s04_c3_third_proposes_new_cycle_consistent" descr="cue_s04_c3_third_proposes_new_cycle_consistent Third, it proposes a new cycle-consistent training procedure that alternates between updating these maps and rescaling functions, and crucially generalizes to new, out-of-sample cells."/>
          <p:cNvSpPr/>
          <p:nvPr/>
        </p:nvSpPr>
        <p:spPr>
          <a:xfrm>
            <a:off x="6286195" y="1733702"/>
            <a:ext cx="5143804"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4_together_these_give_first_neural" title="cue_s04_c4_together_these_give_first_neural" descr="cue_s04_c4_together_these_give_first_neural Together these give the first neural method that estimates semi-couplings for unbalanced OT at single-cell scale."/>
          <p:cNvSpPr/>
          <p:nvPr/>
        </p:nvSpPr>
        <p:spPr>
          <a:xfrm>
            <a:off x="6286195" y="4247845"/>
            <a:ext cx="5143804"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15710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05 · METHOD</a:t>
              </a:r>
            </a:p>
          </p:txBody>
        </p:sp>
        <p:sp>
          <p:nvSpPr>
            <p:cNvPr id="4" name="TextBox 4"/>
            <p:cNvSpPr txBox="1"/>
            <p:nvPr/>
          </p:nvSpPr>
          <p:spPr>
            <a:xfrm>
              <a:off x="749808" y="883920"/>
              <a:ext cx="9229417"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Split the problem: reweight to balance, then transport</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95450"/>
            <a:ext cx="10668000" cy="1619250"/>
            <a:chOff x="762000" y="1695450"/>
            <a:chExt cx="10668000" cy="1619250"/>
          </a:xfrm>
        </p:grpSpPr>
        <p:sp>
          <p:nvSpPr>
            <p:cNvPr id="7" name="Rectangle 7"/>
            <p:cNvSpPr/>
            <p:nvPr/>
          </p:nvSpPr>
          <p:spPr>
            <a:xfrm>
              <a:off x="762000" y="1695450"/>
              <a:ext cx="10668000" cy="1619250"/>
            </a:xfrm>
            <a:prstGeom prst="roundRect">
              <a:avLst>
                <a:gd name="adj" fmla="val 7059"/>
              </a:avLst>
            </a:prstGeom>
            <a:solidFill>
              <a:schemeClr val="lt1"/>
            </a:solidFill>
            <a:ln w="9525">
              <a:solidFill>
                <a:schemeClr val="accent4"/>
              </a:solidFill>
            </a:ln>
          </p:spPr>
        </p:sp>
        <p:sp>
          <p:nvSpPr>
            <p:cNvPr id="8" name="Rectangle 8"/>
            <p:cNvSpPr/>
            <p:nvPr/>
          </p:nvSpPr>
          <p:spPr>
            <a:xfrm>
              <a:off x="762000" y="1695450"/>
              <a:ext cx="57150" cy="1619250"/>
            </a:xfrm>
            <a:prstGeom prst="roundRect">
              <a:avLst>
                <a:gd name="adj" fmla="val 50000"/>
              </a:avLst>
            </a:prstGeom>
            <a:solidFill>
              <a:schemeClr val="accent1"/>
            </a:solidFill>
            <a:ln>
              <a:noFill/>
            </a:ln>
          </p:spPr>
        </p:sp>
        <p:sp>
          <p:nvSpPr>
            <p:cNvPr id="9" name="TextBox 9"/>
            <p:cNvSpPr txBox="1"/>
            <p:nvPr/>
          </p:nvSpPr>
          <p:spPr>
            <a:xfrm>
              <a:off x="1023366" y="1848802"/>
              <a:ext cx="426223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SEMI-COUPLINGS → BALANCED MONGE MAP (FIGURE 1)</a:t>
              </a:r>
            </a:p>
          </p:txBody>
        </p:sp>
        <p:pic>
          <p:nvPicPr>
            <p:cNvPr id="10" name="Image 10"/>
            <p:cNvPicPr>
              <a:picLocks noChangeAspect="1"/>
            </p:cNvPicPr>
            <p:nvPr/>
          </p:nvPicPr>
          <p:blipFill>
            <a:blip r:embed="rId2"/>
            <a:stretch>
              <a:fillRect/>
            </a:stretch>
          </p:blipFill>
          <p:spPr>
            <a:xfrm>
              <a:off x="3127075" y="2038350"/>
              <a:ext cx="5937849" cy="1123950"/>
            </a:xfrm>
            <a:prstGeom prst="rect">
              <a:avLst/>
            </a:prstGeom>
          </p:spPr>
        </p:pic>
      </p:grpSp>
      <p:grpSp>
        <p:nvGrpSpPr>
          <p:cNvPr id="22" name="Group 22"/>
          <p:cNvGrpSpPr/>
          <p:nvPr/>
        </p:nvGrpSpPr>
        <p:grpSpPr>
          <a:xfrm>
            <a:off x="762000" y="3448050"/>
            <a:ext cx="3295650" cy="2628900"/>
            <a:chOff x="762000" y="3448050"/>
            <a:chExt cx="3295650" cy="2628900"/>
          </a:xfrm>
        </p:grpSpPr>
        <p:sp>
          <p:nvSpPr>
            <p:cNvPr id="12" name="Rectangle 12"/>
            <p:cNvSpPr/>
            <p:nvPr/>
          </p:nvSpPr>
          <p:spPr>
            <a:xfrm>
              <a:off x="762000" y="3448050"/>
              <a:ext cx="3295650" cy="2628900"/>
            </a:xfrm>
            <a:prstGeom prst="roundRect">
              <a:avLst>
                <a:gd name="adj" fmla="val 4348"/>
              </a:avLst>
            </a:prstGeom>
            <a:solidFill>
              <a:schemeClr val="lt1"/>
            </a:solidFill>
            <a:ln w="9525">
              <a:solidFill>
                <a:schemeClr val="accent4"/>
              </a:solidFill>
            </a:ln>
          </p:spPr>
        </p:sp>
        <p:sp>
          <p:nvSpPr>
            <p:cNvPr id="13" name="Rectangle 13"/>
            <p:cNvSpPr/>
            <p:nvPr/>
          </p:nvSpPr>
          <p:spPr>
            <a:xfrm>
              <a:off x="762000" y="3448050"/>
              <a:ext cx="57150" cy="2628900"/>
            </a:xfrm>
            <a:prstGeom prst="roundRect">
              <a:avLst>
                <a:gd name="adj" fmla="val 50000"/>
              </a:avLst>
            </a:prstGeom>
            <a:solidFill>
              <a:schemeClr val="accent2"/>
            </a:solidFill>
            <a:ln>
              <a:noFill/>
            </a:ln>
          </p:spPr>
        </p:sp>
        <p:sp>
          <p:nvSpPr>
            <p:cNvPr id="14" name="TextBox 14"/>
            <p:cNvSpPr txBox="1"/>
            <p:nvPr/>
          </p:nvSpPr>
          <p:spPr>
            <a:xfrm>
              <a:off x="985266" y="3639502"/>
              <a:ext cx="1786570"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REWEIGHT TO BALANCE</a:t>
              </a:r>
            </a:p>
          </p:txBody>
        </p:sp>
        <p:sp>
          <p:nvSpPr>
            <p:cNvPr id="15" name="TextBox 15"/>
            <p:cNvSpPr txBox="1"/>
            <p:nvPr/>
          </p:nvSpPr>
          <p:spPr>
            <a:xfrm>
              <a:off x="984504" y="3909060"/>
              <a:ext cx="2341981"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Proxy measures, equal mass</a:t>
              </a:r>
            </a:p>
          </p:txBody>
        </p:sp>
        <p:sp>
          <p:nvSpPr>
            <p:cNvPr id="16" name="TextBox 16"/>
            <p:cNvSpPr txBox="1"/>
            <p:nvPr/>
          </p:nvSpPr>
          <p:spPr>
            <a:xfrm>
              <a:off x="985266" y="4191952"/>
              <a:ext cx="22274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Scalar fields η and ζ rescale the</a:t>
              </a:r>
            </a:p>
          </p:txBody>
        </p:sp>
        <p:sp>
          <p:nvSpPr>
            <p:cNvPr id="17" name="TextBox 17"/>
            <p:cNvSpPr txBox="1"/>
            <p:nvPr/>
          </p:nvSpPr>
          <p:spPr>
            <a:xfrm>
              <a:off x="985266" y="4382452"/>
              <a:ext cx="24489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source and target into proxies μ̂, ν̂</a:t>
              </a:r>
            </a:p>
          </p:txBody>
        </p:sp>
        <p:sp>
          <p:nvSpPr>
            <p:cNvPr id="18" name="TextBox 18"/>
            <p:cNvSpPr txBox="1"/>
            <p:nvPr/>
          </p:nvSpPr>
          <p:spPr>
            <a:xfrm>
              <a:off x="985266" y="4572952"/>
              <a:ext cx="24979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equal mass. Between them NubOT</a:t>
              </a:r>
            </a:p>
          </p:txBody>
        </p:sp>
        <p:sp>
          <p:nvSpPr>
            <p:cNvPr id="19" name="TextBox 19"/>
            <p:cNvSpPr txBox="1"/>
            <p:nvPr/>
          </p:nvSpPr>
          <p:spPr>
            <a:xfrm>
              <a:off x="985266" y="4763452"/>
              <a:ext cx="21196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solves a standard OT problem,</a:t>
              </a:r>
            </a:p>
          </p:txBody>
        </p:sp>
        <p:sp>
          <p:nvSpPr>
            <p:cNvPr id="20" name="TextBox 20"/>
            <p:cNvSpPr txBox="1"/>
            <p:nvPr/>
          </p:nvSpPr>
          <p:spPr>
            <a:xfrm>
              <a:off x="985266" y="4953952"/>
              <a:ext cx="23122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learning Monge maps as gradients</a:t>
              </a:r>
            </a:p>
          </p:txBody>
        </p:sp>
        <p:sp>
          <p:nvSpPr>
            <p:cNvPr id="21" name="TextBox 21"/>
            <p:cNvSpPr txBox="1"/>
            <p:nvPr/>
          </p:nvSpPr>
          <p:spPr>
            <a:xfrm>
              <a:off x="985266" y="5144452"/>
              <a:ext cx="231502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 ∇g of convex ICNN potentials.</a:t>
              </a:r>
            </a:p>
          </p:txBody>
        </p:sp>
      </p:grpSp>
      <p:grpSp>
        <p:nvGrpSpPr>
          <p:cNvPr id="34" name="Group 34"/>
          <p:cNvGrpSpPr/>
          <p:nvPr/>
        </p:nvGrpSpPr>
        <p:grpSpPr>
          <a:xfrm>
            <a:off x="4362450" y="3448050"/>
            <a:ext cx="3295650" cy="2628900"/>
            <a:chOff x="4362450" y="3448050"/>
            <a:chExt cx="3295650" cy="2628900"/>
          </a:xfrm>
        </p:grpSpPr>
        <p:sp>
          <p:nvSpPr>
            <p:cNvPr id="23" name="Rectangle 23"/>
            <p:cNvSpPr/>
            <p:nvPr/>
          </p:nvSpPr>
          <p:spPr>
            <a:xfrm>
              <a:off x="4362450" y="3448050"/>
              <a:ext cx="3295650" cy="2628900"/>
            </a:xfrm>
            <a:prstGeom prst="roundRect">
              <a:avLst>
                <a:gd name="adj" fmla="val 4348"/>
              </a:avLst>
            </a:prstGeom>
            <a:solidFill>
              <a:schemeClr val="dk1"/>
            </a:solidFill>
            <a:ln>
              <a:noFill/>
            </a:ln>
          </p:spPr>
        </p:sp>
        <p:sp>
          <p:nvSpPr>
            <p:cNvPr id="24" name="TextBox 24"/>
            <p:cNvSpPr txBox="1"/>
            <p:nvPr/>
          </p:nvSpPr>
          <p:spPr>
            <a:xfrm>
              <a:off x="4585716" y="3639502"/>
              <a:ext cx="2184913"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ALTERNATING MINIMIZATION</a:t>
              </a:r>
            </a:p>
          </p:txBody>
        </p:sp>
        <p:sp>
          <p:nvSpPr>
            <p:cNvPr id="25" name="TextBox 25"/>
            <p:cNvSpPr txBox="1"/>
            <p:nvPr/>
          </p:nvSpPr>
          <p:spPr>
            <a:xfrm>
              <a:off x="4584954" y="3909060"/>
              <a:ext cx="184135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Cycle the two updates</a:t>
              </a:r>
            </a:p>
          </p:txBody>
        </p:sp>
        <p:sp>
          <p:nvSpPr>
            <p:cNvPr id="26" name="TextBox 26"/>
            <p:cNvSpPr txBox="1"/>
            <p:nvPr/>
          </p:nvSpPr>
          <p:spPr>
            <a:xfrm>
              <a:off x="4585716" y="4191952"/>
              <a:ext cx="2396926" cy="205359"/>
            </a:xfrm>
            <a:prstGeom prst="rect">
              <a:avLst/>
            </a:prstGeom>
            <a:noFill/>
            <a:ln>
              <a:noFill/>
            </a:ln>
          </p:spPr>
          <p:txBody>
            <a:bodyPr wrap="none" lIns="0" tIns="0" rIns="0" bIns="0" anchor="t" anchorCtr="0">
              <a:spAutoFit/>
            </a:bodyPr>
            <a:lstStyle/>
            <a:p>
              <a:pPr algn="l"/>
              <a:r>
                <a:rPr lang="en-US" sz="1050" dirty="0">
                  <a:solidFill>
                    <a:srgbClr val="C7CFDA"/>
                  </a:solidFill>
                  <a:latin typeface="+mn-lt"/>
                  <a:ea typeface="+mn-ea"/>
                  <a:cs typeface="+mn-cs"/>
                </a:rPr>
                <a:t>The marginals shift as reweighting</a:t>
              </a:r>
            </a:p>
          </p:txBody>
        </p:sp>
        <p:sp>
          <p:nvSpPr>
            <p:cNvPr id="27" name="TextBox 27"/>
            <p:cNvSpPr txBox="1"/>
            <p:nvPr/>
          </p:nvSpPr>
          <p:spPr>
            <a:xfrm>
              <a:off x="4585716" y="4382452"/>
              <a:ext cx="2287646" cy="205359"/>
            </a:xfrm>
            <a:prstGeom prst="rect">
              <a:avLst/>
            </a:prstGeom>
            <a:noFill/>
            <a:ln>
              <a:noFill/>
            </a:ln>
          </p:spPr>
          <p:txBody>
            <a:bodyPr wrap="none" lIns="0" tIns="0" rIns="0" bIns="0" anchor="t" anchorCtr="0">
              <a:spAutoFit/>
            </a:bodyPr>
            <a:lstStyle/>
            <a:p>
              <a:pPr algn="l"/>
              <a:r>
                <a:rPr lang="en-US" sz="1050" dirty="0">
                  <a:solidFill>
                    <a:srgbClr val="C7CFDA"/>
                  </a:solidFill>
                  <a:latin typeface="+mn-lt"/>
                  <a:ea typeface="+mn-ea"/>
                  <a:cs typeface="+mn-cs"/>
                </a:rPr>
                <a:t>updates, so NubOT alternates: a</a:t>
              </a:r>
            </a:p>
          </p:txBody>
        </p:sp>
        <p:sp>
          <p:nvSpPr>
            <p:cNvPr id="28" name="TextBox 28"/>
            <p:cNvSpPr txBox="1"/>
            <p:nvPr/>
          </p:nvSpPr>
          <p:spPr>
            <a:xfrm>
              <a:off x="4585716" y="4572952"/>
              <a:ext cx="2213119" cy="205359"/>
            </a:xfrm>
            <a:prstGeom prst="rect">
              <a:avLst/>
            </a:prstGeom>
            <a:noFill/>
            <a:ln>
              <a:noFill/>
            </a:ln>
          </p:spPr>
          <p:txBody>
            <a:bodyPr wrap="none" lIns="0" tIns="0" rIns="0" bIns="0" anchor="t" anchorCtr="0">
              <a:spAutoFit/>
            </a:bodyPr>
            <a:lstStyle/>
            <a:p>
              <a:pPr algn="l"/>
              <a:r>
                <a:rPr lang="en-US" sz="1050" dirty="0">
                  <a:solidFill>
                    <a:srgbClr val="C7CFDA"/>
                  </a:solidFill>
                  <a:latin typeface="+mn-lt"/>
                  <a:ea typeface="+mn-ea"/>
                  <a:cs typeface="+mn-cs"/>
                </a:rPr>
                <a:t>single-step unbalanced Sinkhorn</a:t>
              </a:r>
            </a:p>
          </p:txBody>
        </p:sp>
        <p:sp>
          <p:nvSpPr>
            <p:cNvPr id="29" name="TextBox 29"/>
            <p:cNvSpPr txBox="1"/>
            <p:nvPr/>
          </p:nvSpPr>
          <p:spPr>
            <a:xfrm>
              <a:off x="4585716" y="4763452"/>
              <a:ext cx="2512581" cy="205359"/>
            </a:xfrm>
            <a:prstGeom prst="rect">
              <a:avLst/>
            </a:prstGeom>
            <a:noFill/>
            <a:ln>
              <a:noFill/>
            </a:ln>
          </p:spPr>
          <p:txBody>
            <a:bodyPr wrap="none" lIns="0" tIns="0" rIns="0" bIns="0" anchor="t" anchorCtr="0">
              <a:spAutoFit/>
            </a:bodyPr>
            <a:lstStyle/>
            <a:p>
              <a:pPr algn="l"/>
              <a:r>
                <a:rPr lang="en-US" sz="1050" dirty="0">
                  <a:solidFill>
                    <a:srgbClr val="C7CFDA"/>
                  </a:solidFill>
                  <a:latin typeface="+mn-lt"/>
                  <a:ea typeface="+mn-ea"/>
                  <a:cs typeface="+mn-cs"/>
                </a:rPr>
                <a:t>update for the mass rescaling, then</a:t>
              </a:r>
            </a:p>
          </p:txBody>
        </p:sp>
        <p:sp>
          <p:nvSpPr>
            <p:cNvPr id="30" name="TextBox 30"/>
            <p:cNvSpPr txBox="1"/>
            <p:nvPr/>
          </p:nvSpPr>
          <p:spPr>
            <a:xfrm>
              <a:off x="4585716" y="4953952"/>
              <a:ext cx="2420703" cy="205359"/>
            </a:xfrm>
            <a:prstGeom prst="rect">
              <a:avLst/>
            </a:prstGeom>
            <a:noFill/>
            <a:ln>
              <a:noFill/>
            </a:ln>
          </p:spPr>
          <p:txBody>
            <a:bodyPr wrap="none" lIns="0" tIns="0" rIns="0" bIns="0" anchor="t" anchorCtr="0">
              <a:spAutoFit/>
            </a:bodyPr>
            <a:lstStyle/>
            <a:p>
              <a:pPr algn="l"/>
              <a:r>
                <a:rPr lang="en-US" sz="1050" dirty="0">
                  <a:solidFill>
                    <a:srgbClr val="C7CFDA"/>
                  </a:solidFill>
                  <a:latin typeface="+mn-lt"/>
                  <a:ea typeface="+mn-ea"/>
                  <a:cs typeface="+mn-cs"/>
                </a:rPr>
                <a:t>a min-max update of the transport</a:t>
              </a:r>
            </a:p>
          </p:txBody>
        </p:sp>
        <p:sp>
          <p:nvSpPr>
            <p:cNvPr id="31" name="TextBox 31"/>
            <p:cNvSpPr txBox="1"/>
            <p:nvPr/>
          </p:nvSpPr>
          <p:spPr>
            <a:xfrm>
              <a:off x="4585716" y="5144452"/>
              <a:ext cx="795166" cy="205359"/>
            </a:xfrm>
            <a:prstGeom prst="rect">
              <a:avLst/>
            </a:prstGeom>
            <a:noFill/>
            <a:ln>
              <a:noFill/>
            </a:ln>
          </p:spPr>
          <p:txBody>
            <a:bodyPr wrap="none" lIns="0" tIns="0" rIns="0" bIns="0" anchor="t" anchorCtr="0">
              <a:spAutoFit/>
            </a:bodyPr>
            <a:lstStyle/>
            <a:p>
              <a:pPr algn="l"/>
              <a:r>
                <a:rPr lang="en-US" sz="1050" dirty="0">
                  <a:solidFill>
                    <a:srgbClr val="C7CFDA"/>
                  </a:solidFill>
                  <a:latin typeface="+mn-lt"/>
                  <a:ea typeface="+mn-ea"/>
                  <a:cs typeface="+mn-cs"/>
                </a:rPr>
                <a:t>potentials.</a:t>
              </a:r>
            </a:p>
          </p:txBody>
        </p:sp>
        <p:sp>
          <p:nvSpPr>
            <p:cNvPr id="32" name="Rectangle 32"/>
            <p:cNvSpPr/>
            <p:nvPr/>
          </p:nvSpPr>
          <p:spPr>
            <a:xfrm>
              <a:off x="4591050" y="5448300"/>
              <a:ext cx="2838450" cy="381000"/>
            </a:xfrm>
            <a:prstGeom prst="roundRect">
              <a:avLst>
                <a:gd name="adj" fmla="val 20000"/>
              </a:avLst>
            </a:prstGeom>
            <a:solidFill>
              <a:srgbClr val="1B2540"/>
            </a:solidFill>
            <a:ln>
              <a:noFill/>
            </a:ln>
          </p:spPr>
        </p:sp>
        <p:sp>
          <p:nvSpPr>
            <p:cNvPr id="33" name="TextBox 33"/>
            <p:cNvSpPr txBox="1"/>
            <p:nvPr/>
          </p:nvSpPr>
          <p:spPr>
            <a:xfrm>
              <a:off x="4738116" y="5573078"/>
              <a:ext cx="2175472" cy="205359"/>
            </a:xfrm>
            <a:prstGeom prst="rect">
              <a:avLst/>
            </a:prstGeom>
            <a:noFill/>
            <a:ln>
              <a:noFill/>
            </a:ln>
          </p:spPr>
          <p:txBody>
            <a:bodyPr wrap="none" lIns="0" tIns="0" rIns="0" bIns="0" anchor="t" anchorCtr="0">
              <a:spAutoFit/>
            </a:bodyPr>
            <a:lstStyle/>
            <a:p>
              <a:pPr algn="l"/>
              <a:r>
                <a:rPr lang="en-US" sz="1050" b="1" dirty="0">
                  <a:solidFill>
                    <a:srgbClr val="8BE0D4"/>
                  </a:solidFill>
                  <a:latin typeface="+mn-lt"/>
                  <a:ea typeface="+mn-ea"/>
                  <a:cs typeface="+mn-cs"/>
                </a:rPr>
                <a:t>Sinkhorn ⇄ min-max transport</a:t>
              </a:r>
            </a:p>
          </p:txBody>
        </p:sp>
      </p:grpSp>
      <p:grpSp>
        <p:nvGrpSpPr>
          <p:cNvPr id="47" name="Group 47"/>
          <p:cNvGrpSpPr/>
          <p:nvPr/>
        </p:nvGrpSpPr>
        <p:grpSpPr>
          <a:xfrm>
            <a:off x="7962900" y="3448050"/>
            <a:ext cx="3295650" cy="2628900"/>
            <a:chOff x="7962900" y="3448050"/>
            <a:chExt cx="3295650" cy="2628900"/>
          </a:xfrm>
        </p:grpSpPr>
        <p:sp>
          <p:nvSpPr>
            <p:cNvPr id="35" name="Rectangle 35"/>
            <p:cNvSpPr/>
            <p:nvPr/>
          </p:nvSpPr>
          <p:spPr>
            <a:xfrm>
              <a:off x="7962900" y="3448050"/>
              <a:ext cx="3295650" cy="2628900"/>
            </a:xfrm>
            <a:prstGeom prst="roundRect">
              <a:avLst>
                <a:gd name="adj" fmla="val 4348"/>
              </a:avLst>
            </a:prstGeom>
            <a:solidFill>
              <a:schemeClr val="accent6"/>
            </a:solidFill>
            <a:ln w="9525">
              <a:solidFill>
                <a:srgbClr val="C6D6FB"/>
              </a:solidFill>
            </a:ln>
          </p:spPr>
        </p:sp>
        <p:sp>
          <p:nvSpPr>
            <p:cNvPr id="36" name="Rectangle 36"/>
            <p:cNvSpPr/>
            <p:nvPr/>
          </p:nvSpPr>
          <p:spPr>
            <a:xfrm>
              <a:off x="7962900" y="3448050"/>
              <a:ext cx="57150" cy="2628900"/>
            </a:xfrm>
            <a:prstGeom prst="roundRect">
              <a:avLst>
                <a:gd name="adj" fmla="val 50000"/>
              </a:avLst>
            </a:prstGeom>
            <a:solidFill>
              <a:schemeClr val="accent1"/>
            </a:solidFill>
            <a:ln>
              <a:noFill/>
            </a:ln>
          </p:spPr>
        </p:sp>
        <p:sp>
          <p:nvSpPr>
            <p:cNvPr id="37" name="TextBox 37"/>
            <p:cNvSpPr txBox="1"/>
            <p:nvPr/>
          </p:nvSpPr>
          <p:spPr>
            <a:xfrm>
              <a:off x="8186166" y="3639502"/>
              <a:ext cx="1914853"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REWEIGHTING NETWORKS</a:t>
              </a:r>
            </a:p>
          </p:txBody>
        </p:sp>
        <p:sp>
          <p:nvSpPr>
            <p:cNvPr id="38" name="TextBox 38"/>
            <p:cNvSpPr txBox="1"/>
            <p:nvPr/>
          </p:nvSpPr>
          <p:spPr>
            <a:xfrm>
              <a:off x="8185404" y="3909060"/>
              <a:ext cx="198536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Predicts grow or shrink</a:t>
              </a:r>
            </a:p>
          </p:txBody>
        </p:sp>
        <p:sp>
          <p:nvSpPr>
            <p:cNvPr id="39" name="TextBox 39"/>
            <p:cNvSpPr txBox="1"/>
            <p:nvPr/>
          </p:nvSpPr>
          <p:spPr>
            <a:xfrm>
              <a:off x="8186166" y="4191952"/>
              <a:ext cx="23264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reweighting functions η and ζ</a:t>
              </a:r>
            </a:p>
          </p:txBody>
        </p:sp>
        <p:sp>
          <p:nvSpPr>
            <p:cNvPr id="40" name="TextBox 40"/>
            <p:cNvSpPr txBox="1"/>
            <p:nvPr/>
          </p:nvSpPr>
          <p:spPr>
            <a:xfrm>
              <a:off x="8186166" y="4382452"/>
              <a:ext cx="24348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are learned as neural networks, so</a:t>
              </a:r>
            </a:p>
          </p:txBody>
        </p:sp>
        <p:sp>
          <p:nvSpPr>
            <p:cNvPr id="41" name="TextBox 41"/>
            <p:cNvSpPr txBox="1"/>
            <p:nvPr/>
          </p:nvSpPr>
          <p:spPr>
            <a:xfrm>
              <a:off x="8186166" y="4572952"/>
              <a:ext cx="226521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at test time the model can map a</a:t>
              </a:r>
            </a:p>
          </p:txBody>
        </p:sp>
        <p:sp>
          <p:nvSpPr>
            <p:cNvPr id="42" name="TextBox 42"/>
            <p:cNvSpPr txBox="1"/>
            <p:nvPr/>
          </p:nvSpPr>
          <p:spPr>
            <a:xfrm>
              <a:off x="8186166" y="4763452"/>
              <a:ext cx="25055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out-of-sample cell and predict</a:t>
              </a:r>
            </a:p>
          </p:txBody>
        </p:sp>
        <p:sp>
          <p:nvSpPr>
            <p:cNvPr id="43" name="TextBox 43"/>
            <p:cNvSpPr txBox="1"/>
            <p:nvPr/>
          </p:nvSpPr>
          <p:spPr>
            <a:xfrm>
              <a:off x="8186166" y="4953952"/>
              <a:ext cx="22581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whether its mass should grow or</a:t>
              </a:r>
            </a:p>
          </p:txBody>
        </p:sp>
        <p:sp>
          <p:nvSpPr>
            <p:cNvPr id="44" name="TextBox 44"/>
            <p:cNvSpPr txBox="1"/>
            <p:nvPr/>
          </p:nvSpPr>
          <p:spPr>
            <a:xfrm>
              <a:off x="8186166" y="5144452"/>
              <a:ext cx="5195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shrink.</a:t>
              </a:r>
            </a:p>
          </p:txBody>
        </p:sp>
        <p:sp>
          <p:nvSpPr>
            <p:cNvPr id="45" name="Rectangle 45"/>
            <p:cNvSpPr/>
            <p:nvPr/>
          </p:nvSpPr>
          <p:spPr>
            <a:xfrm>
              <a:off x="8191500" y="5448300"/>
              <a:ext cx="2838450" cy="381000"/>
            </a:xfrm>
            <a:prstGeom prst="roundRect">
              <a:avLst>
                <a:gd name="adj" fmla="val 20000"/>
              </a:avLst>
            </a:prstGeom>
            <a:solidFill>
              <a:schemeClr val="lt1"/>
            </a:solidFill>
            <a:ln w="9525">
              <a:solidFill>
                <a:srgbClr val="C6D6FB"/>
              </a:solidFill>
            </a:ln>
          </p:spPr>
        </p:sp>
        <p:sp>
          <p:nvSpPr>
            <p:cNvPr id="46" name="TextBox 46"/>
            <p:cNvSpPr txBox="1"/>
            <p:nvPr/>
          </p:nvSpPr>
          <p:spPr>
            <a:xfrm>
              <a:off x="8338566" y="5573078"/>
              <a:ext cx="173974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generalizes to new cells</a:t>
              </a:r>
            </a:p>
          </p:txBody>
        </p:sp>
      </p:grpSp>
      <p:grpSp>
        <p:nvGrpSpPr>
          <p:cNvPr id="50" name="Group 50"/>
          <p:cNvGrpSpPr/>
          <p:nvPr/>
        </p:nvGrpSpPr>
        <p:grpSpPr>
          <a:xfrm>
            <a:off x="757238" y="6570345"/>
            <a:ext cx="10677524" cy="176212"/>
            <a:chOff x="757238" y="6570345"/>
            <a:chExt cx="10677524" cy="176212"/>
          </a:xfrm>
        </p:grpSpPr>
        <p:sp>
          <p:nvSpPr>
            <p:cNvPr id="48" name="TextBox 48"/>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49" name="TextBox 49"/>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05 / 10</a:t>
              </a:r>
            </a:p>
          </p:txBody>
        </p:sp>
      </p:grpSp>
      <p:sp>
        <p:nvSpPr>
          <p:cNvPr id="51" name="cue_s05_c1_nubot_key_idea_split_hard" title="cue_s05_c1_nubot_key_idea_split_hard" descr="cue_s05_c1_nubot_key_idea_split_hard NubOT's key idea is to split the hard unbalanced problem into two coupled pieces: feature transformation and mass rescaling. It introduces proxy measures that are simply rescaled versions of the source and target, weighted by scalar fields eta and zeta, chosen"/>
          <p:cNvSpPr/>
          <p:nvPr/>
        </p:nvSpPr>
        <p:spPr>
          <a:xfrm>
            <a:off x="762000" y="1695297"/>
            <a:ext cx="10668000"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2_between_these_now_balanced_measures" title="cue_s05_c2_between_these_now_balanced_measures" descr="cue_s05_c2_between_these_now_balanced_measures Between these now-balanced measures it solves a standard optimal transport problem, learning forward and backward Monge maps as the gradients of convex potentials represented by input convex neural networks."/>
          <p:cNvSpPr/>
          <p:nvPr/>
        </p:nvSpPr>
        <p:spPr>
          <a:xfrm>
            <a:off x="762000" y="3448202"/>
            <a:ext cx="3295497" cy="26286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3_because_marginals_themselves_shift_r" title="cue_s05_c3_because_marginals_themselves_shift_r" descr="cue_s05_c3_because_marginals_themselves_shift_r Because the marginals themselves shift as the reweighting functions update, NubOT uses an alternating minimization: it estimates the mass rescaling with an efficient single-step unbalanced Sinkhorn update, then updates the transport potentials through a min-ma"/>
          <p:cNvSpPr/>
          <p:nvPr/>
        </p:nvSpPr>
        <p:spPr>
          <a:xfrm>
            <a:off x="4362297" y="3448202"/>
            <a:ext cx="3295497" cy="26286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4_reweighting_functions_learned_neural" title="cue_s05_c4_reweighting_functions_learned_neural" descr="cue_s05_c4_reweighting_functions_learned_neural The reweighting functions are learned as neural networks, so at test time the model can map a new cell and simultaneously predict whether its mass should grow or shrink."/>
          <p:cNvSpPr/>
          <p:nvPr/>
        </p:nvSpPr>
        <p:spPr>
          <a:xfrm>
            <a:off x="7962595" y="3448202"/>
            <a:ext cx="3295497" cy="26286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44595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06 · DATASET / BENCHMARK</a:t>
              </a:r>
            </a:p>
          </p:txBody>
        </p:sp>
        <p:sp>
          <p:nvSpPr>
            <p:cNvPr id="4" name="TextBox 4"/>
            <p:cNvSpPr txBox="1"/>
            <p:nvPr/>
          </p:nvSpPr>
          <p:spPr>
            <a:xfrm>
              <a:off x="749808" y="883920"/>
              <a:ext cx="814347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One synthetic testbed, one real single-cell atlas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43" name="Group 43"/>
          <p:cNvGrpSpPr/>
          <p:nvPr/>
        </p:nvGrpSpPr>
        <p:grpSpPr>
          <a:xfrm>
            <a:off x="762000" y="1733550"/>
            <a:ext cx="5257800" cy="2286000"/>
            <a:chOff x="762000" y="1733550"/>
            <a:chExt cx="5257800" cy="2286000"/>
          </a:xfrm>
        </p:grpSpPr>
        <p:sp>
          <p:nvSpPr>
            <p:cNvPr id="7" name="Rectangle 7"/>
            <p:cNvSpPr/>
            <p:nvPr/>
          </p:nvSpPr>
          <p:spPr>
            <a:xfrm>
              <a:off x="762000" y="1733550"/>
              <a:ext cx="5257800" cy="2286000"/>
            </a:xfrm>
            <a:prstGeom prst="roundRect">
              <a:avLst>
                <a:gd name="adj" fmla="val 5000"/>
              </a:avLst>
            </a:prstGeom>
            <a:solidFill>
              <a:schemeClr val="lt1"/>
            </a:solidFill>
            <a:ln w="9525">
              <a:solidFill>
                <a:schemeClr val="accent4"/>
              </a:solidFill>
            </a:ln>
          </p:spPr>
        </p:sp>
        <p:sp>
          <p:nvSpPr>
            <p:cNvPr id="8" name="Rectangle 8"/>
            <p:cNvSpPr/>
            <p:nvPr/>
          </p:nvSpPr>
          <p:spPr>
            <a:xfrm>
              <a:off x="762000" y="1733550"/>
              <a:ext cx="57150" cy="2286000"/>
            </a:xfrm>
            <a:prstGeom prst="roundRect">
              <a:avLst>
                <a:gd name="adj" fmla="val 50000"/>
              </a:avLst>
            </a:prstGeom>
            <a:solidFill>
              <a:schemeClr val="accent1"/>
            </a:solidFill>
            <a:ln>
              <a:noFill/>
            </a:ln>
          </p:spPr>
        </p:sp>
        <p:sp>
          <p:nvSpPr>
            <p:cNvPr id="9" name="TextBox 9"/>
            <p:cNvSpPr txBox="1"/>
            <p:nvPr/>
          </p:nvSpPr>
          <p:spPr>
            <a:xfrm>
              <a:off x="1023366" y="1982152"/>
              <a:ext cx="1839270"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SETTING 1 · SYNTHETIC</a:t>
              </a:r>
            </a:p>
          </p:txBody>
        </p:sp>
        <p:sp>
          <p:nvSpPr>
            <p:cNvPr id="10" name="TextBox 10"/>
            <p:cNvSpPr txBox="1"/>
            <p:nvPr/>
          </p:nvSpPr>
          <p:spPr>
            <a:xfrm>
              <a:off x="1022223" y="2281714"/>
              <a:ext cx="308259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Three Gaussian clusters, reshaped</a:t>
              </a:r>
            </a:p>
          </p:txBody>
        </p:sp>
        <p:sp>
          <p:nvSpPr>
            <p:cNvPr id="11" name="TextBox 11"/>
            <p:cNvSpPr txBox="1"/>
            <p:nvPr/>
          </p:nvSpPr>
          <p:spPr>
            <a:xfrm>
              <a:off x="1022985" y="2602706"/>
              <a:ext cx="32793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2-D mixture of three clusters; the target</a:t>
              </a:r>
            </a:p>
          </p:txBody>
        </p:sp>
        <p:sp>
          <p:nvSpPr>
            <p:cNvPr id="12" name="TextBox 12"/>
            <p:cNvSpPr txBox="1"/>
            <p:nvPr/>
          </p:nvSpPr>
          <p:spPr>
            <a:xfrm>
              <a:off x="1022985" y="2812256"/>
              <a:ext cx="35244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keeps the clusters but changes proportions and</a:t>
              </a:r>
            </a:p>
          </p:txBody>
        </p:sp>
        <p:sp>
          <p:nvSpPr>
            <p:cNvPr id="13" name="TextBox 13"/>
            <p:cNvSpPr txBox="1"/>
            <p:nvPr/>
          </p:nvSpPr>
          <p:spPr>
            <a:xfrm>
              <a:off x="1022985" y="3021806"/>
              <a:ext cx="32606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shifts them — three scenarios of imbalance.</a:t>
              </a:r>
            </a:p>
          </p:txBody>
        </p:sp>
        <p:sp>
          <p:nvSpPr>
            <p:cNvPr id="14" name="Rectangle 14"/>
            <p:cNvSpPr/>
            <p:nvPr/>
          </p:nvSpPr>
          <p:spPr>
            <a:xfrm>
              <a:off x="1028700" y="3333750"/>
              <a:ext cx="4724400" cy="571500"/>
            </a:xfrm>
            <a:prstGeom prst="roundRect">
              <a:avLst>
                <a:gd name="adj" fmla="val 13333"/>
              </a:avLst>
            </a:prstGeom>
            <a:solidFill>
              <a:schemeClr val="accent5"/>
            </a:solidFill>
            <a:ln w="9525">
              <a:solidFill>
                <a:schemeClr val="accent4"/>
              </a:solidFill>
            </a:ln>
          </p:spPr>
        </p:sp>
        <p:sp>
          <p:nvSpPr>
            <p:cNvPr id="15" name="Ellipse 15"/>
            <p:cNvSpPr/>
            <p:nvPr/>
          </p:nvSpPr>
          <p:spPr>
            <a:xfrm>
              <a:off x="1400175" y="3505200"/>
              <a:ext cx="57150" cy="57150"/>
            </a:xfrm>
            <a:prstGeom prst="ellipse">
              <a:avLst/>
            </a:prstGeom>
            <a:solidFill>
              <a:schemeClr val="accent1"/>
            </a:solidFill>
            <a:ln>
              <a:noFill/>
            </a:ln>
          </p:spPr>
        </p:sp>
        <p:sp>
          <p:nvSpPr>
            <p:cNvPr id="16" name="Ellipse 16"/>
            <p:cNvSpPr/>
            <p:nvPr/>
          </p:nvSpPr>
          <p:spPr>
            <a:xfrm>
              <a:off x="1438275" y="3571875"/>
              <a:ext cx="57150" cy="57150"/>
            </a:xfrm>
            <a:prstGeom prst="ellipse">
              <a:avLst/>
            </a:prstGeom>
            <a:solidFill>
              <a:schemeClr val="accent1"/>
            </a:solidFill>
            <a:ln>
              <a:noFill/>
            </a:ln>
          </p:spPr>
        </p:sp>
        <p:sp>
          <p:nvSpPr>
            <p:cNvPr id="17" name="Ellipse 17"/>
            <p:cNvSpPr/>
            <p:nvPr/>
          </p:nvSpPr>
          <p:spPr>
            <a:xfrm>
              <a:off x="1476375" y="3638550"/>
              <a:ext cx="57150" cy="57150"/>
            </a:xfrm>
            <a:prstGeom prst="ellipse">
              <a:avLst/>
            </a:prstGeom>
            <a:solidFill>
              <a:schemeClr val="accent1"/>
            </a:solidFill>
            <a:ln>
              <a:noFill/>
            </a:ln>
          </p:spPr>
        </p:sp>
        <p:sp>
          <p:nvSpPr>
            <p:cNvPr id="18" name="Ellipse 18"/>
            <p:cNvSpPr/>
            <p:nvPr/>
          </p:nvSpPr>
          <p:spPr>
            <a:xfrm>
              <a:off x="1514475" y="3533775"/>
              <a:ext cx="57150" cy="57150"/>
            </a:xfrm>
            <a:prstGeom prst="ellipse">
              <a:avLst/>
            </a:prstGeom>
            <a:solidFill>
              <a:schemeClr val="accent1"/>
            </a:solidFill>
            <a:ln>
              <a:noFill/>
            </a:ln>
          </p:spPr>
        </p:sp>
        <p:sp>
          <p:nvSpPr>
            <p:cNvPr id="19" name="Ellipse 19"/>
            <p:cNvSpPr/>
            <p:nvPr/>
          </p:nvSpPr>
          <p:spPr>
            <a:xfrm>
              <a:off x="1552575" y="3600450"/>
              <a:ext cx="57150" cy="57150"/>
            </a:xfrm>
            <a:prstGeom prst="ellipse">
              <a:avLst/>
            </a:prstGeom>
            <a:solidFill>
              <a:schemeClr val="accent1"/>
            </a:solidFill>
            <a:ln>
              <a:noFill/>
            </a:ln>
          </p:spPr>
        </p:sp>
        <p:sp>
          <p:nvSpPr>
            <p:cNvPr id="20" name="Ellipse 20"/>
            <p:cNvSpPr/>
            <p:nvPr/>
          </p:nvSpPr>
          <p:spPr>
            <a:xfrm>
              <a:off x="1590675" y="3667125"/>
              <a:ext cx="57150" cy="57150"/>
            </a:xfrm>
            <a:prstGeom prst="ellipse">
              <a:avLst/>
            </a:prstGeom>
            <a:solidFill>
              <a:schemeClr val="accent1"/>
            </a:solidFill>
            <a:ln>
              <a:noFill/>
            </a:ln>
          </p:spPr>
        </p:sp>
        <p:sp>
          <p:nvSpPr>
            <p:cNvPr id="21" name="Ellipse 21"/>
            <p:cNvSpPr/>
            <p:nvPr/>
          </p:nvSpPr>
          <p:spPr>
            <a:xfrm>
              <a:off x="1628775" y="3562350"/>
              <a:ext cx="57150" cy="57150"/>
            </a:xfrm>
            <a:prstGeom prst="ellipse">
              <a:avLst/>
            </a:prstGeom>
            <a:solidFill>
              <a:schemeClr val="accent1"/>
            </a:solidFill>
            <a:ln>
              <a:noFill/>
            </a:ln>
          </p:spPr>
        </p:sp>
        <p:sp>
          <p:nvSpPr>
            <p:cNvPr id="22" name="Ellipse 22"/>
            <p:cNvSpPr/>
            <p:nvPr/>
          </p:nvSpPr>
          <p:spPr>
            <a:xfrm>
              <a:off x="1666875" y="3629025"/>
              <a:ext cx="57150" cy="57150"/>
            </a:xfrm>
            <a:prstGeom prst="ellipse">
              <a:avLst/>
            </a:prstGeom>
            <a:solidFill>
              <a:schemeClr val="accent1"/>
            </a:solidFill>
            <a:ln>
              <a:noFill/>
            </a:ln>
          </p:spPr>
        </p:sp>
        <p:sp>
          <p:nvSpPr>
            <p:cNvPr id="23" name="Ellipse 23"/>
            <p:cNvSpPr/>
            <p:nvPr/>
          </p:nvSpPr>
          <p:spPr>
            <a:xfrm>
              <a:off x="1704975" y="3524250"/>
              <a:ext cx="57150" cy="57150"/>
            </a:xfrm>
            <a:prstGeom prst="ellipse">
              <a:avLst/>
            </a:prstGeom>
            <a:solidFill>
              <a:schemeClr val="accent1"/>
            </a:solidFill>
            <a:ln>
              <a:noFill/>
            </a:ln>
          </p:spPr>
        </p:sp>
        <p:sp>
          <p:nvSpPr>
            <p:cNvPr id="24" name="Ellipse 24"/>
            <p:cNvSpPr/>
            <p:nvPr/>
          </p:nvSpPr>
          <p:spPr>
            <a:xfrm>
              <a:off x="2828925" y="3438525"/>
              <a:ext cx="57150" cy="57150"/>
            </a:xfrm>
            <a:prstGeom prst="ellipse">
              <a:avLst/>
            </a:prstGeom>
            <a:solidFill>
              <a:srgbClr val="8A97A8"/>
            </a:solidFill>
            <a:ln>
              <a:noFill/>
            </a:ln>
          </p:spPr>
        </p:sp>
        <p:sp>
          <p:nvSpPr>
            <p:cNvPr id="25" name="Ellipse 25"/>
            <p:cNvSpPr/>
            <p:nvPr/>
          </p:nvSpPr>
          <p:spPr>
            <a:xfrm>
              <a:off x="2867025" y="3486150"/>
              <a:ext cx="57150" cy="57150"/>
            </a:xfrm>
            <a:prstGeom prst="ellipse">
              <a:avLst/>
            </a:prstGeom>
            <a:solidFill>
              <a:srgbClr val="8A97A8"/>
            </a:solidFill>
            <a:ln>
              <a:noFill/>
            </a:ln>
          </p:spPr>
        </p:sp>
        <p:sp>
          <p:nvSpPr>
            <p:cNvPr id="26" name="Ellipse 26"/>
            <p:cNvSpPr/>
            <p:nvPr/>
          </p:nvSpPr>
          <p:spPr>
            <a:xfrm>
              <a:off x="2905125" y="3533775"/>
              <a:ext cx="57150" cy="57150"/>
            </a:xfrm>
            <a:prstGeom prst="ellipse">
              <a:avLst/>
            </a:prstGeom>
            <a:solidFill>
              <a:srgbClr val="8A97A8"/>
            </a:solidFill>
            <a:ln>
              <a:noFill/>
            </a:ln>
          </p:spPr>
        </p:sp>
        <p:sp>
          <p:nvSpPr>
            <p:cNvPr id="27" name="Ellipse 27"/>
            <p:cNvSpPr/>
            <p:nvPr/>
          </p:nvSpPr>
          <p:spPr>
            <a:xfrm>
              <a:off x="2943225" y="3581400"/>
              <a:ext cx="57150" cy="57150"/>
            </a:xfrm>
            <a:prstGeom prst="ellipse">
              <a:avLst/>
            </a:prstGeom>
            <a:solidFill>
              <a:srgbClr val="8A97A8"/>
            </a:solidFill>
            <a:ln>
              <a:noFill/>
            </a:ln>
          </p:spPr>
        </p:sp>
        <p:sp>
          <p:nvSpPr>
            <p:cNvPr id="28" name="Ellipse 28"/>
            <p:cNvSpPr/>
            <p:nvPr/>
          </p:nvSpPr>
          <p:spPr>
            <a:xfrm>
              <a:off x="2981325" y="3476625"/>
              <a:ext cx="57150" cy="57150"/>
            </a:xfrm>
            <a:prstGeom prst="ellipse">
              <a:avLst/>
            </a:prstGeom>
            <a:solidFill>
              <a:srgbClr val="8A97A8"/>
            </a:solidFill>
            <a:ln>
              <a:noFill/>
            </a:ln>
          </p:spPr>
        </p:sp>
        <p:sp>
          <p:nvSpPr>
            <p:cNvPr id="29" name="Ellipse 29"/>
            <p:cNvSpPr/>
            <p:nvPr/>
          </p:nvSpPr>
          <p:spPr>
            <a:xfrm>
              <a:off x="3019425" y="3524250"/>
              <a:ext cx="57150" cy="57150"/>
            </a:xfrm>
            <a:prstGeom prst="ellipse">
              <a:avLst/>
            </a:prstGeom>
            <a:solidFill>
              <a:srgbClr val="8A97A8"/>
            </a:solidFill>
            <a:ln>
              <a:noFill/>
            </a:ln>
          </p:spPr>
        </p:sp>
        <p:sp>
          <p:nvSpPr>
            <p:cNvPr id="30" name="Ellipse 30"/>
            <p:cNvSpPr/>
            <p:nvPr/>
          </p:nvSpPr>
          <p:spPr>
            <a:xfrm>
              <a:off x="3057525" y="3571875"/>
              <a:ext cx="57150" cy="57150"/>
            </a:xfrm>
            <a:prstGeom prst="ellipse">
              <a:avLst/>
            </a:prstGeom>
            <a:solidFill>
              <a:srgbClr val="8A97A8"/>
            </a:solidFill>
            <a:ln>
              <a:noFill/>
            </a:ln>
          </p:spPr>
        </p:sp>
        <p:sp>
          <p:nvSpPr>
            <p:cNvPr id="31" name="Ellipse 31"/>
            <p:cNvSpPr/>
            <p:nvPr/>
          </p:nvSpPr>
          <p:spPr>
            <a:xfrm>
              <a:off x="3095625" y="3467100"/>
              <a:ext cx="57150" cy="57150"/>
            </a:xfrm>
            <a:prstGeom prst="ellipse">
              <a:avLst/>
            </a:prstGeom>
            <a:solidFill>
              <a:srgbClr val="8A97A8"/>
            </a:solidFill>
            <a:ln>
              <a:noFill/>
            </a:ln>
          </p:spPr>
        </p:sp>
        <p:sp>
          <p:nvSpPr>
            <p:cNvPr id="32" name="Ellipse 32"/>
            <p:cNvSpPr/>
            <p:nvPr/>
          </p:nvSpPr>
          <p:spPr>
            <a:xfrm>
              <a:off x="3133725" y="3514725"/>
              <a:ext cx="57150" cy="57150"/>
            </a:xfrm>
            <a:prstGeom prst="ellipse">
              <a:avLst/>
            </a:prstGeom>
            <a:solidFill>
              <a:srgbClr val="8A97A8"/>
            </a:solidFill>
            <a:ln>
              <a:noFill/>
            </a:ln>
          </p:spPr>
        </p:sp>
        <p:sp>
          <p:nvSpPr>
            <p:cNvPr id="33" name="Ellipse 33"/>
            <p:cNvSpPr/>
            <p:nvPr/>
          </p:nvSpPr>
          <p:spPr>
            <a:xfrm>
              <a:off x="4448175" y="3600450"/>
              <a:ext cx="57150" cy="57150"/>
            </a:xfrm>
            <a:prstGeom prst="ellipse">
              <a:avLst/>
            </a:prstGeom>
            <a:solidFill>
              <a:schemeClr val="accent2"/>
            </a:solidFill>
            <a:ln>
              <a:noFill/>
            </a:ln>
          </p:spPr>
        </p:sp>
        <p:sp>
          <p:nvSpPr>
            <p:cNvPr id="34" name="Ellipse 34"/>
            <p:cNvSpPr/>
            <p:nvPr/>
          </p:nvSpPr>
          <p:spPr>
            <a:xfrm>
              <a:off x="4486275" y="3686175"/>
              <a:ext cx="57150" cy="57150"/>
            </a:xfrm>
            <a:prstGeom prst="ellipse">
              <a:avLst/>
            </a:prstGeom>
            <a:solidFill>
              <a:schemeClr val="accent2"/>
            </a:solidFill>
            <a:ln>
              <a:noFill/>
            </a:ln>
          </p:spPr>
        </p:sp>
        <p:sp>
          <p:nvSpPr>
            <p:cNvPr id="35" name="Ellipse 35"/>
            <p:cNvSpPr/>
            <p:nvPr/>
          </p:nvSpPr>
          <p:spPr>
            <a:xfrm>
              <a:off x="4524375" y="3638550"/>
              <a:ext cx="57150" cy="57150"/>
            </a:xfrm>
            <a:prstGeom prst="ellipse">
              <a:avLst/>
            </a:prstGeom>
            <a:solidFill>
              <a:schemeClr val="accent2"/>
            </a:solidFill>
            <a:ln>
              <a:noFill/>
            </a:ln>
          </p:spPr>
        </p:sp>
        <p:sp>
          <p:nvSpPr>
            <p:cNvPr id="36" name="Ellipse 36"/>
            <p:cNvSpPr/>
            <p:nvPr/>
          </p:nvSpPr>
          <p:spPr>
            <a:xfrm>
              <a:off x="4562475" y="3724275"/>
              <a:ext cx="57150" cy="57150"/>
            </a:xfrm>
            <a:prstGeom prst="ellipse">
              <a:avLst/>
            </a:prstGeom>
            <a:solidFill>
              <a:schemeClr val="accent2"/>
            </a:solidFill>
            <a:ln>
              <a:noFill/>
            </a:ln>
          </p:spPr>
        </p:sp>
        <p:sp>
          <p:nvSpPr>
            <p:cNvPr id="37" name="Ellipse 37"/>
            <p:cNvSpPr/>
            <p:nvPr/>
          </p:nvSpPr>
          <p:spPr>
            <a:xfrm>
              <a:off x="4600575" y="3676650"/>
              <a:ext cx="57150" cy="57150"/>
            </a:xfrm>
            <a:prstGeom prst="ellipse">
              <a:avLst/>
            </a:prstGeom>
            <a:solidFill>
              <a:schemeClr val="accent2"/>
            </a:solidFill>
            <a:ln>
              <a:noFill/>
            </a:ln>
          </p:spPr>
        </p:sp>
        <p:sp>
          <p:nvSpPr>
            <p:cNvPr id="38" name="Ellipse 38"/>
            <p:cNvSpPr/>
            <p:nvPr/>
          </p:nvSpPr>
          <p:spPr>
            <a:xfrm>
              <a:off x="4638675" y="3629025"/>
              <a:ext cx="57150" cy="57150"/>
            </a:xfrm>
            <a:prstGeom prst="ellipse">
              <a:avLst/>
            </a:prstGeom>
            <a:solidFill>
              <a:schemeClr val="accent2"/>
            </a:solidFill>
            <a:ln>
              <a:noFill/>
            </a:ln>
          </p:spPr>
        </p:sp>
        <p:sp>
          <p:nvSpPr>
            <p:cNvPr id="39" name="Ellipse 39"/>
            <p:cNvSpPr/>
            <p:nvPr/>
          </p:nvSpPr>
          <p:spPr>
            <a:xfrm>
              <a:off x="4676775" y="3714750"/>
              <a:ext cx="57150" cy="57150"/>
            </a:xfrm>
            <a:prstGeom prst="ellipse">
              <a:avLst/>
            </a:prstGeom>
            <a:solidFill>
              <a:schemeClr val="accent2"/>
            </a:solidFill>
            <a:ln>
              <a:noFill/>
            </a:ln>
          </p:spPr>
        </p:sp>
        <p:sp>
          <p:nvSpPr>
            <p:cNvPr id="40" name="Ellipse 40"/>
            <p:cNvSpPr/>
            <p:nvPr/>
          </p:nvSpPr>
          <p:spPr>
            <a:xfrm>
              <a:off x="4714875" y="3667125"/>
              <a:ext cx="57150" cy="57150"/>
            </a:xfrm>
            <a:prstGeom prst="ellipse">
              <a:avLst/>
            </a:prstGeom>
            <a:solidFill>
              <a:schemeClr val="accent2"/>
            </a:solidFill>
            <a:ln>
              <a:noFill/>
            </a:ln>
          </p:spPr>
        </p:sp>
        <p:sp>
          <p:nvSpPr>
            <p:cNvPr id="41" name="Ellipse 41"/>
            <p:cNvSpPr/>
            <p:nvPr/>
          </p:nvSpPr>
          <p:spPr>
            <a:xfrm>
              <a:off x="4752975" y="3619500"/>
              <a:ext cx="57150" cy="57150"/>
            </a:xfrm>
            <a:prstGeom prst="ellipse">
              <a:avLst/>
            </a:prstGeom>
            <a:solidFill>
              <a:schemeClr val="accent2"/>
            </a:solidFill>
            <a:ln>
              <a:noFill/>
            </a:ln>
          </p:spPr>
        </p:sp>
        <p:sp>
          <p:nvSpPr>
            <p:cNvPr id="42" name="TextBox 42"/>
            <p:cNvSpPr txBox="1"/>
            <p:nvPr/>
          </p:nvSpPr>
          <p:spPr>
            <a:xfrm>
              <a:off x="1023747" y="3590449"/>
              <a:ext cx="86094"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a</a:t>
              </a:r>
            </a:p>
          </p:txBody>
        </p:sp>
      </p:grpSp>
      <p:grpSp>
        <p:nvGrpSpPr>
          <p:cNvPr id="52" name="Group 52"/>
          <p:cNvGrpSpPr/>
          <p:nvPr/>
        </p:nvGrpSpPr>
        <p:grpSpPr>
          <a:xfrm>
            <a:off x="762000" y="4210050"/>
            <a:ext cx="5257800" cy="1866900"/>
            <a:chOff x="762000" y="4210050"/>
            <a:chExt cx="5257800" cy="1866900"/>
          </a:xfrm>
        </p:grpSpPr>
        <p:sp>
          <p:nvSpPr>
            <p:cNvPr id="44" name="Rectangle 44"/>
            <p:cNvSpPr/>
            <p:nvPr/>
          </p:nvSpPr>
          <p:spPr>
            <a:xfrm>
              <a:off x="762000" y="4210050"/>
              <a:ext cx="5257800" cy="1866900"/>
            </a:xfrm>
            <a:prstGeom prst="roundRect">
              <a:avLst>
                <a:gd name="adj" fmla="val 6122"/>
              </a:avLst>
            </a:prstGeom>
            <a:solidFill>
              <a:srgbClr val="FBE9E2"/>
            </a:solidFill>
            <a:ln w="9525">
              <a:solidFill>
                <a:srgbClr val="F2C6B4"/>
              </a:solidFill>
            </a:ln>
          </p:spPr>
        </p:sp>
        <p:sp>
          <p:nvSpPr>
            <p:cNvPr id="45" name="Rectangle 45"/>
            <p:cNvSpPr/>
            <p:nvPr/>
          </p:nvSpPr>
          <p:spPr>
            <a:xfrm>
              <a:off x="762000" y="4210050"/>
              <a:ext cx="57150" cy="1866900"/>
            </a:xfrm>
            <a:prstGeom prst="roundRect">
              <a:avLst>
                <a:gd name="adj" fmla="val 50000"/>
              </a:avLst>
            </a:prstGeom>
            <a:solidFill>
              <a:schemeClr val="accent3"/>
            </a:solidFill>
            <a:ln>
              <a:noFill/>
            </a:ln>
          </p:spPr>
        </p:sp>
        <p:sp>
          <p:nvSpPr>
            <p:cNvPr id="46" name="TextBox 46"/>
            <p:cNvSpPr txBox="1"/>
            <p:nvPr/>
          </p:nvSpPr>
          <p:spPr>
            <a:xfrm>
              <a:off x="1023366" y="4458652"/>
              <a:ext cx="2288885"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SETTING 2 · REAL 4i IMAGING</a:t>
              </a:r>
            </a:p>
          </p:txBody>
        </p:sp>
        <p:sp>
          <p:nvSpPr>
            <p:cNvPr id="47" name="TextBox 47"/>
            <p:cNvSpPr txBox="1"/>
            <p:nvPr/>
          </p:nvSpPr>
          <p:spPr>
            <a:xfrm>
              <a:off x="1022223" y="4758214"/>
              <a:ext cx="2661022"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Melanoma cells under 25 drugs</a:t>
              </a:r>
            </a:p>
          </p:txBody>
        </p:sp>
        <p:sp>
          <p:nvSpPr>
            <p:cNvPr id="48" name="TextBox 48"/>
            <p:cNvSpPr txBox="1"/>
            <p:nvPr/>
          </p:nvSpPr>
          <p:spPr>
            <a:xfrm>
              <a:off x="1022985" y="5079206"/>
              <a:ext cx="34916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single-cell perturbation atlas from 4i imaging</a:t>
              </a:r>
            </a:p>
          </p:txBody>
        </p:sp>
        <p:sp>
          <p:nvSpPr>
            <p:cNvPr id="49" name="TextBox 49"/>
            <p:cNvSpPr txBox="1"/>
            <p:nvPr/>
          </p:nvSpPr>
          <p:spPr>
            <a:xfrm>
              <a:off x="1022985" y="5288756"/>
              <a:ext cx="31701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tracks two co-cultured melanoma cell lines</a:t>
              </a:r>
            </a:p>
          </p:txBody>
        </p:sp>
        <p:sp>
          <p:nvSpPr>
            <p:cNvPr id="50" name="TextBox 50"/>
            <p:cNvSpPr txBox="1"/>
            <p:nvPr/>
          </p:nvSpPr>
          <p:spPr>
            <a:xfrm>
              <a:off x="1022985" y="5498306"/>
              <a:ext cx="32606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responding to twenty-five different drugs.</a:t>
              </a:r>
            </a:p>
          </p:txBody>
        </p:sp>
        <p:sp>
          <p:nvSpPr>
            <p:cNvPr id="51" name="TextBox 51"/>
            <p:cNvSpPr txBox="1"/>
            <p:nvPr/>
          </p:nvSpPr>
          <p:spPr>
            <a:xfrm>
              <a:off x="1022985" y="5822156"/>
              <a:ext cx="3169777"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4i multiplexed imaging · 25 perturbations</a:t>
              </a:r>
            </a:p>
          </p:txBody>
        </p:sp>
      </p:grpSp>
      <p:grpSp>
        <p:nvGrpSpPr>
          <p:cNvPr id="67" name="Group 67"/>
          <p:cNvGrpSpPr/>
          <p:nvPr/>
        </p:nvGrpSpPr>
        <p:grpSpPr>
          <a:xfrm>
            <a:off x="6286500" y="1733550"/>
            <a:ext cx="5143500" cy="2085689"/>
            <a:chOff x="6286500" y="1733550"/>
            <a:chExt cx="5143500" cy="2085689"/>
          </a:xfrm>
        </p:grpSpPr>
        <p:sp>
          <p:nvSpPr>
            <p:cNvPr id="53" name="Rectangle 53"/>
            <p:cNvSpPr/>
            <p:nvPr/>
          </p:nvSpPr>
          <p:spPr>
            <a:xfrm>
              <a:off x="6286500" y="1733550"/>
              <a:ext cx="5143500" cy="2038350"/>
            </a:xfrm>
            <a:prstGeom prst="roundRect">
              <a:avLst>
                <a:gd name="adj" fmla="val 5607"/>
              </a:avLst>
            </a:prstGeom>
            <a:solidFill>
              <a:schemeClr val="lt1"/>
            </a:solidFill>
            <a:ln w="9525">
              <a:solidFill>
                <a:schemeClr val="accent4"/>
              </a:solidFill>
            </a:ln>
          </p:spPr>
        </p:sp>
        <p:sp>
          <p:nvSpPr>
            <p:cNvPr id="54" name="Rectangle 54"/>
            <p:cNvSpPr/>
            <p:nvPr/>
          </p:nvSpPr>
          <p:spPr>
            <a:xfrm>
              <a:off x="6286500" y="1733550"/>
              <a:ext cx="57150" cy="2038350"/>
            </a:xfrm>
            <a:prstGeom prst="roundRect">
              <a:avLst>
                <a:gd name="adj" fmla="val 50000"/>
              </a:avLst>
            </a:prstGeom>
            <a:solidFill>
              <a:schemeClr val="accent2"/>
            </a:solidFill>
            <a:ln>
              <a:noFill/>
            </a:ln>
          </p:spPr>
        </p:sp>
        <p:sp>
          <p:nvSpPr>
            <p:cNvPr id="55" name="TextBox 55"/>
            <p:cNvSpPr txBox="1"/>
            <p:nvPr/>
          </p:nvSpPr>
          <p:spPr>
            <a:xfrm>
              <a:off x="6547866" y="1982152"/>
              <a:ext cx="210084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TIME COURSE &amp; CONTROLS</a:t>
              </a:r>
            </a:p>
          </p:txBody>
        </p:sp>
        <p:sp>
          <p:nvSpPr>
            <p:cNvPr id="56" name="TextBox 56"/>
            <p:cNvSpPr txBox="1"/>
            <p:nvPr/>
          </p:nvSpPr>
          <p:spPr>
            <a:xfrm>
              <a:off x="6546723" y="2281714"/>
              <a:ext cx="2135818"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Source = vehicle control</a:t>
              </a:r>
            </a:p>
          </p:txBody>
        </p:sp>
        <p:sp>
          <p:nvSpPr>
            <p:cNvPr id="57" name="TextBox 57"/>
            <p:cNvSpPr txBox="1"/>
            <p:nvPr/>
          </p:nvSpPr>
          <p:spPr>
            <a:xfrm>
              <a:off x="6547485" y="2602706"/>
              <a:ext cx="30712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Cells are measured at 0, 8, and 24 hours.</a:t>
              </a:r>
            </a:p>
          </p:txBody>
        </p:sp>
        <p:sp>
          <p:nvSpPr>
            <p:cNvPr id="58" name="TextBox 58"/>
            <p:cNvSpPr txBox="1"/>
            <p:nvPr/>
          </p:nvSpPr>
          <p:spPr>
            <a:xfrm>
              <a:off x="6547485" y="2812256"/>
              <a:ext cx="32507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Control (vehicle-only) cells are the source;</a:t>
              </a:r>
            </a:p>
          </p:txBody>
        </p:sp>
        <p:sp>
          <p:nvSpPr>
            <p:cNvPr id="59" name="TextBox 59"/>
            <p:cNvSpPr txBox="1"/>
            <p:nvPr/>
          </p:nvSpPr>
          <p:spPr>
            <a:xfrm>
              <a:off x="6547485" y="3021806"/>
              <a:ext cx="29364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perturbed populations are the targets.</a:t>
              </a:r>
            </a:p>
          </p:txBody>
        </p:sp>
        <p:sp>
          <p:nvSpPr>
            <p:cNvPr id="60" name="Line 60"/>
            <p:cNvSpPr/>
            <p:nvPr/>
          </p:nvSpPr>
          <p:spPr>
            <a:xfrm>
              <a:off x="6781800" y="3505200"/>
              <a:ext cx="4076700" cy="9525"/>
            </a:xfrm>
            <a:custGeom>
              <a:avLst/>
              <a:gdLst/>
              <a:ahLst/>
              <a:cxnLst/>
              <a:rect l="l" t="t" r="r" b="b"/>
              <a:pathLst>
                <a:path w="4076700" h="9525">
                  <a:moveTo>
                    <a:pt x="0" y="0"/>
                  </a:moveTo>
                  <a:lnTo>
                    <a:pt x="4076700" y="0"/>
                  </a:lnTo>
                </a:path>
              </a:pathLst>
            </a:custGeom>
            <a:noFill/>
            <a:ln w="19050">
              <a:solidFill>
                <a:schemeClr val="accent4"/>
              </a:solidFill>
            </a:ln>
          </p:spPr>
        </p:sp>
        <p:sp>
          <p:nvSpPr>
            <p:cNvPr id="61" name="Ellipse 61"/>
            <p:cNvSpPr/>
            <p:nvPr/>
          </p:nvSpPr>
          <p:spPr>
            <a:xfrm>
              <a:off x="6724650" y="3448050"/>
              <a:ext cx="114300" cy="114300"/>
            </a:xfrm>
            <a:prstGeom prst="ellipse">
              <a:avLst/>
            </a:prstGeom>
            <a:solidFill>
              <a:srgbClr val="8A97A8"/>
            </a:solidFill>
            <a:ln>
              <a:noFill/>
            </a:ln>
          </p:spPr>
        </p:sp>
        <p:sp>
          <p:nvSpPr>
            <p:cNvPr id="62" name="Ellipse 62"/>
            <p:cNvSpPr/>
            <p:nvPr/>
          </p:nvSpPr>
          <p:spPr>
            <a:xfrm>
              <a:off x="8763000" y="3448050"/>
              <a:ext cx="114300" cy="114300"/>
            </a:xfrm>
            <a:prstGeom prst="ellipse">
              <a:avLst/>
            </a:prstGeom>
            <a:solidFill>
              <a:schemeClr val="accent1"/>
            </a:solidFill>
            <a:ln>
              <a:noFill/>
            </a:ln>
          </p:spPr>
        </p:sp>
        <p:sp>
          <p:nvSpPr>
            <p:cNvPr id="63" name="Ellipse 63"/>
            <p:cNvSpPr/>
            <p:nvPr/>
          </p:nvSpPr>
          <p:spPr>
            <a:xfrm>
              <a:off x="10801350" y="3448050"/>
              <a:ext cx="114300" cy="114300"/>
            </a:xfrm>
            <a:prstGeom prst="ellipse">
              <a:avLst/>
            </a:prstGeom>
            <a:solidFill>
              <a:schemeClr val="accent2"/>
            </a:solidFill>
            <a:ln>
              <a:noFill/>
            </a:ln>
          </p:spPr>
        </p:sp>
        <p:sp>
          <p:nvSpPr>
            <p:cNvPr id="64" name="TextBox 64"/>
            <p:cNvSpPr txBox="1"/>
            <p:nvPr/>
          </p:nvSpPr>
          <p:spPr>
            <a:xfrm>
              <a:off x="6776847" y="3628549"/>
              <a:ext cx="162282"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0h</a:t>
              </a:r>
            </a:p>
          </p:txBody>
        </p:sp>
        <p:sp>
          <p:nvSpPr>
            <p:cNvPr id="65" name="TextBox 65"/>
            <p:cNvSpPr txBox="1"/>
            <p:nvPr/>
          </p:nvSpPr>
          <p:spPr>
            <a:xfrm>
              <a:off x="8662797" y="3628549"/>
              <a:ext cx="162282"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8h</a:t>
              </a:r>
            </a:p>
          </p:txBody>
        </p:sp>
        <p:sp>
          <p:nvSpPr>
            <p:cNvPr id="66" name="TextBox 66"/>
            <p:cNvSpPr txBox="1"/>
            <p:nvPr/>
          </p:nvSpPr>
          <p:spPr>
            <a:xfrm>
              <a:off x="10701147" y="3628549"/>
              <a:ext cx="238471"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24h</a:t>
              </a:r>
            </a:p>
          </p:txBody>
        </p:sp>
      </p:grpSp>
      <p:grpSp>
        <p:nvGrpSpPr>
          <p:cNvPr id="78" name="Group 78"/>
          <p:cNvGrpSpPr/>
          <p:nvPr/>
        </p:nvGrpSpPr>
        <p:grpSpPr>
          <a:xfrm>
            <a:off x="6286500" y="3962400"/>
            <a:ext cx="5143500" cy="2114550"/>
            <a:chOff x="6286500" y="3962400"/>
            <a:chExt cx="5143500" cy="2114550"/>
          </a:xfrm>
        </p:grpSpPr>
        <p:sp>
          <p:nvSpPr>
            <p:cNvPr id="68" name="Rectangle 68"/>
            <p:cNvSpPr/>
            <p:nvPr/>
          </p:nvSpPr>
          <p:spPr>
            <a:xfrm>
              <a:off x="6286500" y="3962400"/>
              <a:ext cx="5143500" cy="2114550"/>
            </a:xfrm>
            <a:prstGeom prst="roundRect">
              <a:avLst>
                <a:gd name="adj" fmla="val 5405"/>
              </a:avLst>
            </a:prstGeom>
            <a:solidFill>
              <a:schemeClr val="lt1"/>
            </a:solidFill>
            <a:ln w="9525">
              <a:solidFill>
                <a:schemeClr val="accent4"/>
              </a:solidFill>
            </a:ln>
          </p:spPr>
        </p:sp>
        <p:sp>
          <p:nvSpPr>
            <p:cNvPr id="69" name="Rectangle 69"/>
            <p:cNvSpPr/>
            <p:nvPr/>
          </p:nvSpPr>
          <p:spPr>
            <a:xfrm>
              <a:off x="6286500" y="3962400"/>
              <a:ext cx="57150" cy="2114550"/>
            </a:xfrm>
            <a:prstGeom prst="roundRect">
              <a:avLst>
                <a:gd name="adj" fmla="val 50000"/>
              </a:avLst>
            </a:prstGeom>
            <a:solidFill>
              <a:schemeClr val="accent1"/>
            </a:solidFill>
            <a:ln>
              <a:noFill/>
            </a:ln>
          </p:spPr>
        </p:sp>
        <p:sp>
          <p:nvSpPr>
            <p:cNvPr id="70" name="TextBox 70"/>
            <p:cNvSpPr txBox="1"/>
            <p:nvPr/>
          </p:nvSpPr>
          <p:spPr>
            <a:xfrm>
              <a:off x="6547866" y="4211002"/>
              <a:ext cx="2328878"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MARKERS ENABLE VALIDATION</a:t>
              </a:r>
            </a:p>
          </p:txBody>
        </p:sp>
        <p:sp>
          <p:nvSpPr>
            <p:cNvPr id="71" name="TextBox 71"/>
            <p:cNvSpPr txBox="1"/>
            <p:nvPr/>
          </p:nvSpPr>
          <p:spPr>
            <a:xfrm>
              <a:off x="6546723" y="4510564"/>
              <a:ext cx="269225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MelA / Sox9 split the two lines</a:t>
              </a:r>
            </a:p>
          </p:txBody>
        </p:sp>
        <p:sp>
          <p:nvSpPr>
            <p:cNvPr id="72" name="TextBox 72"/>
            <p:cNvSpPr txBox="1"/>
            <p:nvPr/>
          </p:nvSpPr>
          <p:spPr>
            <a:xfrm>
              <a:off x="6547485" y="4831556"/>
              <a:ext cx="34538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two cell lines are distinguished by mutually</a:t>
              </a:r>
            </a:p>
          </p:txBody>
        </p:sp>
        <p:sp>
          <p:nvSpPr>
            <p:cNvPr id="73" name="TextBox 73"/>
            <p:cNvSpPr txBox="1"/>
            <p:nvPr/>
          </p:nvSpPr>
          <p:spPr>
            <a:xfrm>
              <a:off x="6547485" y="5041106"/>
              <a:ext cx="348676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exclusive markers MelA and Sox9; proliferation</a:t>
              </a:r>
            </a:p>
          </p:txBody>
        </p:sp>
        <p:sp>
          <p:nvSpPr>
            <p:cNvPr id="74" name="TextBox 74"/>
            <p:cNvSpPr txBox="1"/>
            <p:nvPr/>
          </p:nvSpPr>
          <p:spPr>
            <a:xfrm>
              <a:off x="6547485" y="5250656"/>
              <a:ext cx="34189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death markers let predicted mass changes</a:t>
              </a:r>
            </a:p>
          </p:txBody>
        </p:sp>
        <p:sp>
          <p:nvSpPr>
            <p:cNvPr id="75" name="TextBox 75"/>
            <p:cNvSpPr txBox="1"/>
            <p:nvPr/>
          </p:nvSpPr>
          <p:spPr>
            <a:xfrm>
              <a:off x="6547485" y="54602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 checked against biology.</a:t>
              </a:r>
            </a:p>
          </p:txBody>
        </p:sp>
        <p:sp>
          <p:nvSpPr>
            <p:cNvPr id="76" name="Rectangle 76"/>
            <p:cNvSpPr/>
            <p:nvPr/>
          </p:nvSpPr>
          <p:spPr>
            <a:xfrm>
              <a:off x="6553200" y="5772150"/>
              <a:ext cx="4610100" cy="190500"/>
            </a:xfrm>
            <a:prstGeom prst="roundRect">
              <a:avLst>
                <a:gd name="adj" fmla="val 30000"/>
              </a:avLst>
            </a:prstGeom>
            <a:solidFill>
              <a:schemeClr val="accent6"/>
            </a:solidFill>
            <a:ln w="9525">
              <a:solidFill>
                <a:srgbClr val="C6D6FB"/>
              </a:solidFill>
            </a:ln>
          </p:spPr>
        </p:sp>
        <p:sp>
          <p:nvSpPr>
            <p:cNvPr id="77" name="TextBox 77"/>
            <p:cNvSpPr txBox="1"/>
            <p:nvPr/>
          </p:nvSpPr>
          <p:spPr>
            <a:xfrm>
              <a:off x="6662547" y="5800249"/>
              <a:ext cx="3640538"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MelA · Sox9 · Ki67 (proliferation) · apoptosis marker</a:t>
              </a:r>
            </a:p>
          </p:txBody>
        </p:sp>
      </p:grpSp>
      <p:grpSp>
        <p:nvGrpSpPr>
          <p:cNvPr id="81" name="Group 81"/>
          <p:cNvGrpSpPr/>
          <p:nvPr/>
        </p:nvGrpSpPr>
        <p:grpSpPr>
          <a:xfrm>
            <a:off x="757238" y="6570345"/>
            <a:ext cx="10677524" cy="176212"/>
            <a:chOff x="757238" y="6570345"/>
            <a:chExt cx="10677524" cy="176212"/>
          </a:xfrm>
        </p:grpSpPr>
        <p:sp>
          <p:nvSpPr>
            <p:cNvPr id="79" name="TextBox 79"/>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80" name="TextBox 80"/>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06 / 10</a:t>
              </a:r>
            </a:p>
          </p:txBody>
        </p:sp>
      </p:grpSp>
      <p:sp>
        <p:nvSpPr>
          <p:cNvPr id="82" name="cue_s06_c1_method_evaluated_two_settings_first" title="cue_s06_c1_method_evaluated_two_settings_first" descr="cue_s06_c1_method_evaluated_two_settings_first The method is evaluated on two settings. The first is a synthetic benchmark: a two-dimensional mixture of three Gaussian clusters, where the target keeps the same clusters but changes their proportions and shifts them in space, across three scenarios of increa"/>
          <p:cNvSpPr/>
          <p:nvPr/>
        </p:nvSpPr>
        <p:spPr>
          <a:xfrm>
            <a:off x="762000" y="1733702"/>
            <a:ext cx="5258409"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ue_s06_c2_second_real_single_cell_perturbation" title="cue_s06_c2_second_real_single_cell_perturbation" descr="cue_s06_c2_second_real_single_cell_perturbation The second is a real single-cell perturbation dataset, generated with the imaging technology called 4i, that tracks two co-cultured melanoma cell lines responding to twenty-five different drugs."/>
          <p:cNvSpPr/>
          <p:nvPr/>
        </p:nvSpPr>
        <p:spPr>
          <a:xfrm>
            <a:off x="762000" y="4210126"/>
            <a:ext cx="5258409"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ue_s06_c3_cells_measured_zero_eight_twenty_fou" title="cue_s06_c3_cells_measured_zero_eight_twenty_fou" descr="cue_s06_c3_cells_measured_zero_eight_twenty_fou Cells are measured at zero, eight, and twenty-four hours, with control cells exposed only to a vehicle serving as the source and the perturbed populations serving as targets."/>
          <p:cNvSpPr/>
          <p:nvPr/>
        </p:nvSpPr>
        <p:spPr>
          <a:xfrm>
            <a:off x="6286195" y="1733702"/>
            <a:ext cx="5143804" cy="208551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ue_s06_c4_two_cell_lines_distinguished_mutuall" title="cue_s06_c4_two_cell_lines_distinguished_mutuall" descr="cue_s06_c4_two_cell_lines_distinguished_mutuall The two cell lines are distinguished by mutually exclusive protein markers, MelA and Sox9, and additional markers for proliferation and cell death allow the predicted mass changes to be checked against biology."/>
          <p:cNvSpPr/>
          <p:nvPr/>
        </p:nvSpPr>
        <p:spPr>
          <a:xfrm>
            <a:off x="6286195" y="3962552"/>
            <a:ext cx="5143804" cy="21143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4855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07 · KEY RESULT</a:t>
              </a:r>
            </a:p>
          </p:txBody>
        </p:sp>
        <p:sp>
          <p:nvSpPr>
            <p:cNvPr id="4" name="TextBox 4"/>
            <p:cNvSpPr txBox="1"/>
            <p:nvPr/>
          </p:nvSpPr>
          <p:spPr>
            <a:xfrm>
              <a:off x="749808" y="883920"/>
              <a:ext cx="878809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Best distributional fit — with the mass changes right</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4" name="Group 14"/>
          <p:cNvGrpSpPr/>
          <p:nvPr/>
        </p:nvGrpSpPr>
        <p:grpSpPr>
          <a:xfrm>
            <a:off x="762000" y="1733550"/>
            <a:ext cx="5143500" cy="1470184"/>
            <a:chOff x="762000" y="1733550"/>
            <a:chExt cx="5143500" cy="1470184"/>
          </a:xfrm>
        </p:grpSpPr>
        <p:sp>
          <p:nvSpPr>
            <p:cNvPr id="7" name="Rectangle 7"/>
            <p:cNvSpPr/>
            <p:nvPr/>
          </p:nvSpPr>
          <p:spPr>
            <a:xfrm>
              <a:off x="762000" y="1733550"/>
              <a:ext cx="5143500" cy="1428750"/>
            </a:xfrm>
            <a:prstGeom prst="roundRect">
              <a:avLst>
                <a:gd name="adj" fmla="val 8000"/>
              </a:avLst>
            </a:prstGeom>
            <a:solidFill>
              <a:schemeClr val="accent6"/>
            </a:solidFill>
            <a:ln w="9525">
              <a:solidFill>
                <a:srgbClr val="C6D6FB"/>
              </a:solidFill>
            </a:ln>
          </p:spPr>
        </p:sp>
        <p:sp>
          <p:nvSpPr>
            <p:cNvPr id="8" name="Rectangle 8"/>
            <p:cNvSpPr/>
            <p:nvPr/>
          </p:nvSpPr>
          <p:spPr>
            <a:xfrm>
              <a:off x="762000" y="1733550"/>
              <a:ext cx="57150" cy="1428750"/>
            </a:xfrm>
            <a:prstGeom prst="roundRect">
              <a:avLst>
                <a:gd name="adj" fmla="val 50000"/>
              </a:avLst>
            </a:prstGeom>
            <a:solidFill>
              <a:schemeClr val="accent1"/>
            </a:solidFill>
            <a:ln>
              <a:noFill/>
            </a:ln>
          </p:spPr>
        </p:sp>
        <p:sp>
          <p:nvSpPr>
            <p:cNvPr id="9" name="TextBox 9"/>
            <p:cNvSpPr txBox="1"/>
            <p:nvPr/>
          </p:nvSpPr>
          <p:spPr>
            <a:xfrm>
              <a:off x="1023366" y="1963102"/>
              <a:ext cx="157987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DISTRIBUTIONAL FIT</a:t>
              </a:r>
            </a:p>
          </p:txBody>
        </p:sp>
        <p:sp>
          <p:nvSpPr>
            <p:cNvPr id="10" name="TextBox 10"/>
            <p:cNvSpPr txBox="1"/>
            <p:nvPr/>
          </p:nvSpPr>
          <p:spPr>
            <a:xfrm>
              <a:off x="1021842" y="2235518"/>
              <a:ext cx="192795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Beats every baseline</a:t>
              </a:r>
            </a:p>
          </p:txBody>
        </p:sp>
        <p:sp>
          <p:nvSpPr>
            <p:cNvPr id="11" name="TextBox 11"/>
            <p:cNvSpPr txBox="1"/>
            <p:nvPr/>
          </p:nvSpPr>
          <p:spPr>
            <a:xfrm>
              <a:off x="1022985" y="2564606"/>
              <a:ext cx="33900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NubOT wins on almost all 25 drugs by weighted</a:t>
              </a:r>
            </a:p>
          </p:txBody>
        </p:sp>
        <p:sp>
          <p:nvSpPr>
            <p:cNvPr id="12" name="TextBox 12"/>
            <p:cNvSpPr txBox="1"/>
            <p:nvPr/>
          </p:nvSpPr>
          <p:spPr>
            <a:xfrm>
              <a:off x="1022985" y="2774156"/>
              <a:ext cx="323850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kernel MMD to observed cells — beating even</a:t>
              </a:r>
            </a:p>
          </p:txBody>
        </p:sp>
        <p:sp>
          <p:nvSpPr>
            <p:cNvPr id="13" name="TextBox 13"/>
            <p:cNvSpPr txBox="1"/>
            <p:nvPr/>
          </p:nvSpPr>
          <p:spPr>
            <a:xfrm>
              <a:off x="1022985" y="2983706"/>
              <a:ext cx="28625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state-of-the-art unbalanced GAN.</a:t>
              </a:r>
            </a:p>
          </p:txBody>
        </p:sp>
      </p:grpSp>
      <p:grpSp>
        <p:nvGrpSpPr>
          <p:cNvPr id="22" name="Group 22"/>
          <p:cNvGrpSpPr/>
          <p:nvPr/>
        </p:nvGrpSpPr>
        <p:grpSpPr>
          <a:xfrm>
            <a:off x="6286500" y="1733550"/>
            <a:ext cx="5143500" cy="1470184"/>
            <a:chOff x="6286500" y="1733550"/>
            <a:chExt cx="5143500" cy="1470184"/>
          </a:xfrm>
        </p:grpSpPr>
        <p:sp>
          <p:nvSpPr>
            <p:cNvPr id="15" name="Rectangle 15"/>
            <p:cNvSpPr/>
            <p:nvPr/>
          </p:nvSpPr>
          <p:spPr>
            <a:xfrm>
              <a:off x="6286500" y="1733550"/>
              <a:ext cx="5143500" cy="1428750"/>
            </a:xfrm>
            <a:prstGeom prst="roundRect">
              <a:avLst>
                <a:gd name="adj" fmla="val 8000"/>
              </a:avLst>
            </a:prstGeom>
            <a:solidFill>
              <a:schemeClr val="lt1"/>
            </a:solidFill>
            <a:ln w="9525">
              <a:solidFill>
                <a:schemeClr val="accent4"/>
              </a:solidFill>
            </a:ln>
          </p:spPr>
        </p:sp>
        <p:sp>
          <p:nvSpPr>
            <p:cNvPr id="16" name="Rectangle 16"/>
            <p:cNvSpPr/>
            <p:nvPr/>
          </p:nvSpPr>
          <p:spPr>
            <a:xfrm>
              <a:off x="6286500" y="1733550"/>
              <a:ext cx="57150" cy="1428750"/>
            </a:xfrm>
            <a:prstGeom prst="roundRect">
              <a:avLst>
                <a:gd name="adj" fmla="val 50000"/>
              </a:avLst>
            </a:prstGeom>
            <a:solidFill>
              <a:schemeClr val="accent2"/>
            </a:solidFill>
            <a:ln>
              <a:noFill/>
            </a:ln>
          </p:spPr>
        </p:sp>
        <p:sp>
          <p:nvSpPr>
            <p:cNvPr id="17" name="TextBox 17"/>
            <p:cNvSpPr txBox="1"/>
            <p:nvPr/>
          </p:nvSpPr>
          <p:spPr>
            <a:xfrm>
              <a:off x="6547866" y="1963102"/>
              <a:ext cx="223195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MASS CHANGES, DONE RIGHT</a:t>
              </a:r>
            </a:p>
          </p:txBody>
        </p:sp>
        <p:sp>
          <p:nvSpPr>
            <p:cNvPr id="18" name="TextBox 18"/>
            <p:cNvSpPr txBox="1"/>
            <p:nvPr/>
          </p:nvSpPr>
          <p:spPr>
            <a:xfrm>
              <a:off x="6546342" y="2235518"/>
              <a:ext cx="3025492"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Correct reweighting, no leakage</a:t>
              </a:r>
            </a:p>
          </p:txBody>
        </p:sp>
        <p:sp>
          <p:nvSpPr>
            <p:cNvPr id="19" name="TextBox 19"/>
            <p:cNvSpPr txBox="1"/>
            <p:nvPr/>
          </p:nvSpPr>
          <p:spPr>
            <a:xfrm>
              <a:off x="6547485" y="2564606"/>
              <a:ext cx="335619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synthetic data it maps each cluster to its</a:t>
              </a:r>
            </a:p>
          </p:txBody>
        </p:sp>
        <p:sp>
          <p:nvSpPr>
            <p:cNvPr id="20" name="TextBox 20"/>
            <p:cNvSpPr txBox="1"/>
            <p:nvPr/>
          </p:nvSpPr>
          <p:spPr>
            <a:xfrm>
              <a:off x="6547485" y="2774156"/>
              <a:ext cx="376571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correct target and predicts the exact reweighting</a:t>
              </a:r>
            </a:p>
          </p:txBody>
        </p:sp>
        <p:sp>
          <p:nvSpPr>
            <p:cNvPr id="21" name="TextBox 21"/>
            <p:cNvSpPr txBox="1"/>
            <p:nvPr/>
          </p:nvSpPr>
          <p:spPr>
            <a:xfrm>
              <a:off x="6547485" y="2983706"/>
              <a:ext cx="345772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 where the GAN gets only the broad direction.</a:t>
              </a:r>
            </a:p>
          </p:txBody>
        </p:sp>
      </p:grpSp>
      <p:grpSp>
        <p:nvGrpSpPr>
          <p:cNvPr id="28" name="Group 28"/>
          <p:cNvGrpSpPr/>
          <p:nvPr/>
        </p:nvGrpSpPr>
        <p:grpSpPr>
          <a:xfrm>
            <a:off x="762000" y="3295650"/>
            <a:ext cx="10668000" cy="2784634"/>
            <a:chOff x="762000" y="3295650"/>
            <a:chExt cx="10668000" cy="2784634"/>
          </a:xfrm>
        </p:grpSpPr>
        <p:sp>
          <p:nvSpPr>
            <p:cNvPr id="23" name="Rectangle 23"/>
            <p:cNvSpPr/>
            <p:nvPr/>
          </p:nvSpPr>
          <p:spPr>
            <a:xfrm>
              <a:off x="762000" y="3295650"/>
              <a:ext cx="10668000" cy="2781300"/>
            </a:xfrm>
            <a:prstGeom prst="roundRect">
              <a:avLst>
                <a:gd name="adj" fmla="val 4110"/>
              </a:avLst>
            </a:prstGeom>
            <a:solidFill>
              <a:schemeClr val="lt1"/>
            </a:solidFill>
            <a:ln w="9525">
              <a:solidFill>
                <a:schemeClr val="accent4"/>
              </a:solidFill>
            </a:ln>
          </p:spPr>
        </p:sp>
        <p:sp>
          <p:nvSpPr>
            <p:cNvPr id="24" name="Rectangle 24"/>
            <p:cNvSpPr/>
            <p:nvPr/>
          </p:nvSpPr>
          <p:spPr>
            <a:xfrm>
              <a:off x="762000" y="3295650"/>
              <a:ext cx="57150" cy="2781300"/>
            </a:xfrm>
            <a:prstGeom prst="roundRect">
              <a:avLst>
                <a:gd name="adj" fmla="val 50000"/>
              </a:avLst>
            </a:prstGeom>
            <a:solidFill>
              <a:schemeClr val="accent3"/>
            </a:solidFill>
            <a:ln>
              <a:noFill/>
            </a:ln>
          </p:spPr>
        </p:sp>
        <p:sp>
          <p:nvSpPr>
            <p:cNvPr id="25" name="TextBox 25"/>
            <p:cNvSpPr txBox="1"/>
            <p:nvPr/>
          </p:nvSpPr>
          <p:spPr>
            <a:xfrm>
              <a:off x="1023366" y="3525202"/>
              <a:ext cx="494745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SYNTHETIC SAMPLE MAPPING · NubOT vs ubOT GAN (FIGURE 2)</a:t>
              </a:r>
            </a:p>
          </p:txBody>
        </p:sp>
        <p:pic>
          <p:nvPicPr>
            <p:cNvPr id="26" name="Image 26"/>
            <p:cNvPicPr>
              <a:picLocks noChangeAspect="1"/>
            </p:cNvPicPr>
            <p:nvPr/>
          </p:nvPicPr>
          <p:blipFill>
            <a:blip r:embed="rId2"/>
            <a:stretch>
              <a:fillRect/>
            </a:stretch>
          </p:blipFill>
          <p:spPr>
            <a:xfrm>
              <a:off x="1333500" y="3752850"/>
              <a:ext cx="9525000" cy="2190750"/>
            </a:xfrm>
            <a:prstGeom prst="rect">
              <a:avLst/>
            </a:prstGeom>
          </p:spPr>
        </p:pic>
        <p:sp>
          <p:nvSpPr>
            <p:cNvPr id="27" name="TextBox 27"/>
            <p:cNvSpPr txBox="1"/>
            <p:nvPr/>
          </p:nvSpPr>
          <p:spPr>
            <a:xfrm>
              <a:off x="1022985" y="5860256"/>
              <a:ext cx="715775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Accurate feature mapping AND accurate mass rescaling together are what set NubOT apart.</a:t>
              </a:r>
            </a:p>
          </p:txBody>
        </p:sp>
      </p:grpSp>
      <p:grpSp>
        <p:nvGrpSpPr>
          <p:cNvPr id="31" name="Group 31"/>
          <p:cNvGrpSpPr/>
          <p:nvPr/>
        </p:nvGrpSpPr>
        <p:grpSpPr>
          <a:xfrm>
            <a:off x="757238" y="6570345"/>
            <a:ext cx="10677524" cy="176212"/>
            <a:chOff x="757238" y="6570345"/>
            <a:chExt cx="10677524" cy="176212"/>
          </a:xfrm>
        </p:grpSpPr>
        <p:sp>
          <p:nvSpPr>
            <p:cNvPr id="29" name="TextBox 29"/>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30" name="TextBox 30"/>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07 / 10</a:t>
              </a:r>
            </a:p>
          </p:txBody>
        </p:sp>
      </p:grpSp>
      <p:sp>
        <p:nvSpPr>
          <p:cNvPr id="32" name="cue_s07_c1_across_real_single_cell_task_nubot" title="cue_s07_c1_across_real_single_cell_task_nubot" descr="cue_s07_c1_across_real_single_cell_task_nubot Across the real single-cell task, NubOT outperforms every baseline, including the current state-of-the-art unbalanced GAN, in almost all of the twenty-five drug perturbations, measured by a weighted version of kernel maximum mean discrepancy between predicted"/>
          <p:cNvSpPr/>
          <p:nvPr/>
        </p:nvSpPr>
        <p:spPr>
          <a:xfrm>
            <a:off x="762000" y="1733702"/>
            <a:ext cx="5143804" cy="147035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7_c2_just_importantly_does_while_getting" title="cue_s07_c2_just_importantly_does_while_getting" descr="cue_s07_c2_just_importantly_does_while_getting Just as importantly, it does so while getting the mass changes right: on the synthetic benchmark it maps each cluster to its correct target without leaking mass between clusters, and it predicts the exact reweighting each cluster needs, where the GAN baseline"/>
          <p:cNvSpPr/>
          <p:nvPr/>
        </p:nvSpPr>
        <p:spPr>
          <a:xfrm>
            <a:off x="6286195" y="1733702"/>
            <a:ext cx="5143804" cy="147035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7_c3_combination_accurate_feature_mapping" title="cue_s07_c3_combination_accurate_feature_mapping" descr="cue_s07_c3_combination_accurate_feature_mapping This combination of accurate feature mapping and accurate mass rescaling is what sets NubOT apart."/>
          <p:cNvSpPr/>
          <p:nvPr/>
        </p:nvSpPr>
        <p:spPr>
          <a:xfrm>
            <a:off x="762000" y="3295954"/>
            <a:ext cx="10668000"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0170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08 · ABLATION</a:t>
              </a:r>
            </a:p>
          </p:txBody>
        </p:sp>
        <p:sp>
          <p:nvSpPr>
            <p:cNvPr id="4" name="TextBox 4"/>
            <p:cNvSpPr txBox="1"/>
            <p:nvPr/>
          </p:nvSpPr>
          <p:spPr>
            <a:xfrm>
              <a:off x="749808" y="883920"/>
              <a:ext cx="705774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Predicted mass changes match real biology</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2" name="Group 12"/>
          <p:cNvGrpSpPr/>
          <p:nvPr/>
        </p:nvGrpSpPr>
        <p:grpSpPr>
          <a:xfrm>
            <a:off x="762000" y="1733550"/>
            <a:ext cx="10668000" cy="952500"/>
            <a:chOff x="762000" y="1733550"/>
            <a:chExt cx="10668000" cy="952500"/>
          </a:xfrm>
        </p:grpSpPr>
        <p:sp>
          <p:nvSpPr>
            <p:cNvPr id="7" name="Rectangle 7"/>
            <p:cNvSpPr/>
            <p:nvPr/>
          </p:nvSpPr>
          <p:spPr>
            <a:xfrm>
              <a:off x="762000" y="1733550"/>
              <a:ext cx="10668000" cy="952500"/>
            </a:xfrm>
            <a:prstGeom prst="roundRect">
              <a:avLst>
                <a:gd name="adj" fmla="val 12000"/>
              </a:avLst>
            </a:prstGeom>
            <a:solidFill>
              <a:schemeClr val="accent6"/>
            </a:solidFill>
            <a:ln w="9525">
              <a:solidFill>
                <a:srgbClr val="C6D6FB"/>
              </a:solidFill>
            </a:ln>
          </p:spPr>
        </p:sp>
        <p:sp>
          <p:nvSpPr>
            <p:cNvPr id="8" name="Rectangle 8"/>
            <p:cNvSpPr/>
            <p:nvPr/>
          </p:nvSpPr>
          <p:spPr>
            <a:xfrm>
              <a:off x="762000" y="1733550"/>
              <a:ext cx="57150" cy="952500"/>
            </a:xfrm>
            <a:prstGeom prst="roundRect">
              <a:avLst>
                <a:gd name="adj" fmla="val 50000"/>
              </a:avLst>
            </a:prstGeom>
            <a:solidFill>
              <a:schemeClr val="accent1"/>
            </a:solidFill>
            <a:ln>
              <a:noFill/>
            </a:ln>
          </p:spPr>
        </p:sp>
        <p:sp>
          <p:nvSpPr>
            <p:cNvPr id="9" name="TextBox 9"/>
            <p:cNvSpPr txBox="1"/>
            <p:nvPr/>
          </p:nvSpPr>
          <p:spPr>
            <a:xfrm>
              <a:off x="1023366" y="1944052"/>
              <a:ext cx="212719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THE VALIDATION QUESTION</a:t>
              </a:r>
            </a:p>
          </p:txBody>
        </p:sp>
        <p:sp>
          <p:nvSpPr>
            <p:cNvPr id="10" name="TextBox 10"/>
            <p:cNvSpPr txBox="1"/>
            <p:nvPr/>
          </p:nvSpPr>
          <p:spPr>
            <a:xfrm>
              <a:off x="1021461" y="2227421"/>
              <a:ext cx="5470409"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Are the predicted mass changes biologically meaningful?</a:t>
              </a:r>
            </a:p>
          </p:txBody>
        </p:sp>
        <p:sp>
          <p:nvSpPr>
            <p:cNvPr id="11" name="TextBox 11"/>
            <p:cNvSpPr txBox="1"/>
            <p:nvPr/>
          </p:nvSpPr>
          <p:spPr>
            <a:xfrm>
              <a:off x="7233285" y="2259806"/>
              <a:ext cx="41652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 checked against independent, held-out measurements.</a:t>
              </a:r>
            </a:p>
          </p:txBody>
        </p:sp>
      </p:grpSp>
      <p:grpSp>
        <p:nvGrpSpPr>
          <p:cNvPr id="17" name="Group 17"/>
          <p:cNvGrpSpPr/>
          <p:nvPr/>
        </p:nvGrpSpPr>
        <p:grpSpPr>
          <a:xfrm>
            <a:off x="762000" y="2800350"/>
            <a:ext cx="10668000" cy="2038350"/>
            <a:chOff x="762000" y="2800350"/>
            <a:chExt cx="10668000" cy="2038350"/>
          </a:xfrm>
        </p:grpSpPr>
        <p:sp>
          <p:nvSpPr>
            <p:cNvPr id="13" name="Rectangle 13"/>
            <p:cNvSpPr/>
            <p:nvPr/>
          </p:nvSpPr>
          <p:spPr>
            <a:xfrm>
              <a:off x="762000" y="2800350"/>
              <a:ext cx="10668000" cy="2038350"/>
            </a:xfrm>
            <a:prstGeom prst="roundRect">
              <a:avLst>
                <a:gd name="adj" fmla="val 5607"/>
              </a:avLst>
            </a:prstGeom>
            <a:solidFill>
              <a:schemeClr val="lt1"/>
            </a:solidFill>
            <a:ln w="9525">
              <a:solidFill>
                <a:schemeClr val="accent4"/>
              </a:solidFill>
            </a:ln>
          </p:spPr>
        </p:sp>
        <p:sp>
          <p:nvSpPr>
            <p:cNvPr id="14" name="Rectangle 14"/>
            <p:cNvSpPr/>
            <p:nvPr/>
          </p:nvSpPr>
          <p:spPr>
            <a:xfrm>
              <a:off x="762000" y="2800350"/>
              <a:ext cx="57150" cy="2038350"/>
            </a:xfrm>
            <a:prstGeom prst="roundRect">
              <a:avLst>
                <a:gd name="adj" fmla="val 50000"/>
              </a:avLst>
            </a:prstGeom>
            <a:solidFill>
              <a:schemeClr val="accent1"/>
            </a:solidFill>
            <a:ln>
              <a:noFill/>
            </a:ln>
          </p:spPr>
        </p:sp>
        <p:sp>
          <p:nvSpPr>
            <p:cNvPr id="15" name="TextBox 15"/>
            <p:cNvSpPr txBox="1"/>
            <p:nvPr/>
          </p:nvSpPr>
          <p:spPr>
            <a:xfrm>
              <a:off x="1023366" y="2953702"/>
              <a:ext cx="8747896"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SPATIAL MARKER ALIGNMENT · UMAP — weights &gt; 1 ↔ Ki67 proliferation · weights &lt; 1 ↔ apoptosis (FIGURE 4)</a:t>
              </a:r>
            </a:p>
          </p:txBody>
        </p:sp>
        <p:pic>
          <p:nvPicPr>
            <p:cNvPr id="16" name="Image 16"/>
            <p:cNvPicPr>
              <a:picLocks noChangeAspect="1"/>
            </p:cNvPicPr>
            <p:nvPr/>
          </p:nvPicPr>
          <p:blipFill>
            <a:blip r:embed="rId2"/>
            <a:stretch>
              <a:fillRect/>
            </a:stretch>
          </p:blipFill>
          <p:spPr>
            <a:xfrm>
              <a:off x="1571625" y="3162300"/>
              <a:ext cx="9048750" cy="1647825"/>
            </a:xfrm>
            <a:prstGeom prst="rect">
              <a:avLst/>
            </a:prstGeom>
          </p:spPr>
        </p:pic>
      </p:grpSp>
      <p:grpSp>
        <p:nvGrpSpPr>
          <p:cNvPr id="24" name="Group 24"/>
          <p:cNvGrpSpPr/>
          <p:nvPr/>
        </p:nvGrpSpPr>
        <p:grpSpPr>
          <a:xfrm>
            <a:off x="762000" y="4972050"/>
            <a:ext cx="5143500" cy="1104900"/>
            <a:chOff x="762000" y="4972050"/>
            <a:chExt cx="5143500" cy="1104900"/>
          </a:xfrm>
        </p:grpSpPr>
        <p:sp>
          <p:nvSpPr>
            <p:cNvPr id="18" name="Rectangle 18"/>
            <p:cNvSpPr/>
            <p:nvPr/>
          </p:nvSpPr>
          <p:spPr>
            <a:xfrm>
              <a:off x="762000" y="4972050"/>
              <a:ext cx="5143500" cy="1104900"/>
            </a:xfrm>
            <a:prstGeom prst="roundRect">
              <a:avLst>
                <a:gd name="adj" fmla="val 10345"/>
              </a:avLst>
            </a:prstGeom>
            <a:solidFill>
              <a:schemeClr val="lt1"/>
            </a:solidFill>
            <a:ln w="9525">
              <a:solidFill>
                <a:schemeClr val="accent4"/>
              </a:solidFill>
            </a:ln>
          </p:spPr>
        </p:sp>
        <p:sp>
          <p:nvSpPr>
            <p:cNvPr id="19" name="Rectangle 19"/>
            <p:cNvSpPr/>
            <p:nvPr/>
          </p:nvSpPr>
          <p:spPr>
            <a:xfrm>
              <a:off x="762000" y="4972050"/>
              <a:ext cx="57150" cy="1104900"/>
            </a:xfrm>
            <a:prstGeom prst="roundRect">
              <a:avLst>
                <a:gd name="adj" fmla="val 50000"/>
              </a:avLst>
            </a:prstGeom>
            <a:solidFill>
              <a:schemeClr val="accent2"/>
            </a:solidFill>
            <a:ln>
              <a:noFill/>
            </a:ln>
          </p:spPr>
        </p:sp>
        <p:sp>
          <p:nvSpPr>
            <p:cNvPr id="20" name="TextBox 20"/>
            <p:cNvSpPr txBox="1"/>
            <p:nvPr/>
          </p:nvSpPr>
          <p:spPr>
            <a:xfrm>
              <a:off x="1023366" y="5144452"/>
              <a:ext cx="1011343"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COUNTS @ 8h</a:t>
              </a:r>
            </a:p>
          </p:txBody>
        </p:sp>
        <p:sp>
          <p:nvSpPr>
            <p:cNvPr id="21" name="TextBox 21"/>
            <p:cNvSpPr txBox="1"/>
            <p:nvPr/>
          </p:nvSpPr>
          <p:spPr>
            <a:xfrm>
              <a:off x="1018032" y="5412105"/>
              <a:ext cx="117900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r = 0.95</a:t>
              </a:r>
            </a:p>
          </p:txBody>
        </p:sp>
        <p:sp>
          <p:nvSpPr>
            <p:cNvPr id="22" name="TextBox 22"/>
            <p:cNvSpPr txBox="1"/>
            <p:nvPr/>
          </p:nvSpPr>
          <p:spPr>
            <a:xfrm>
              <a:off x="2375916" y="5411152"/>
              <a:ext cx="24112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Summed per-subpopulation weights</a:t>
              </a:r>
            </a:p>
          </p:txBody>
        </p:sp>
        <p:sp>
          <p:nvSpPr>
            <p:cNvPr id="23" name="TextBox 23"/>
            <p:cNvSpPr txBox="1"/>
            <p:nvPr/>
          </p:nvSpPr>
          <p:spPr>
            <a:xfrm>
              <a:off x="2375916" y="5620702"/>
              <a:ext cx="271047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track observed count change strongly.</a:t>
              </a:r>
            </a:p>
          </p:txBody>
        </p:sp>
      </p:grpSp>
      <p:grpSp>
        <p:nvGrpSpPr>
          <p:cNvPr id="31" name="Group 31"/>
          <p:cNvGrpSpPr/>
          <p:nvPr/>
        </p:nvGrpSpPr>
        <p:grpSpPr>
          <a:xfrm>
            <a:off x="6286500" y="4972050"/>
            <a:ext cx="5143500" cy="1104900"/>
            <a:chOff x="6286500" y="4972050"/>
            <a:chExt cx="5143500" cy="1104900"/>
          </a:xfrm>
        </p:grpSpPr>
        <p:sp>
          <p:nvSpPr>
            <p:cNvPr id="25" name="Rectangle 25"/>
            <p:cNvSpPr/>
            <p:nvPr/>
          </p:nvSpPr>
          <p:spPr>
            <a:xfrm>
              <a:off x="6286500" y="4972050"/>
              <a:ext cx="5143500" cy="1104900"/>
            </a:xfrm>
            <a:prstGeom prst="roundRect">
              <a:avLst>
                <a:gd name="adj" fmla="val 10345"/>
              </a:avLst>
            </a:prstGeom>
            <a:solidFill>
              <a:schemeClr val="lt1"/>
            </a:solidFill>
            <a:ln w="9525">
              <a:solidFill>
                <a:schemeClr val="accent4"/>
              </a:solidFill>
            </a:ln>
          </p:spPr>
        </p:sp>
        <p:sp>
          <p:nvSpPr>
            <p:cNvPr id="26" name="Rectangle 26"/>
            <p:cNvSpPr/>
            <p:nvPr/>
          </p:nvSpPr>
          <p:spPr>
            <a:xfrm>
              <a:off x="6286500" y="4972050"/>
              <a:ext cx="57150" cy="1104900"/>
            </a:xfrm>
            <a:prstGeom prst="roundRect">
              <a:avLst>
                <a:gd name="adj" fmla="val 50000"/>
              </a:avLst>
            </a:prstGeom>
            <a:solidFill>
              <a:schemeClr val="accent3"/>
            </a:solidFill>
            <a:ln>
              <a:noFill/>
            </a:ln>
          </p:spPr>
        </p:sp>
        <p:sp>
          <p:nvSpPr>
            <p:cNvPr id="27" name="TextBox 27"/>
            <p:cNvSpPr txBox="1"/>
            <p:nvPr/>
          </p:nvSpPr>
          <p:spPr>
            <a:xfrm>
              <a:off x="6547866" y="5144452"/>
              <a:ext cx="1107520"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COUNTS @ 24h</a:t>
              </a:r>
            </a:p>
          </p:txBody>
        </p:sp>
        <p:sp>
          <p:nvSpPr>
            <p:cNvPr id="28" name="TextBox 28"/>
            <p:cNvSpPr txBox="1"/>
            <p:nvPr/>
          </p:nvSpPr>
          <p:spPr>
            <a:xfrm>
              <a:off x="6542532" y="5412105"/>
              <a:ext cx="1179001"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r = 0.44</a:t>
              </a:r>
            </a:p>
          </p:txBody>
        </p:sp>
        <p:sp>
          <p:nvSpPr>
            <p:cNvPr id="29" name="TextBox 29"/>
            <p:cNvSpPr txBox="1"/>
            <p:nvPr/>
          </p:nvSpPr>
          <p:spPr>
            <a:xfrm>
              <a:off x="7900416" y="5411152"/>
              <a:ext cx="252438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Severe drug-induced death thins the</a:t>
              </a:r>
            </a:p>
          </p:txBody>
        </p:sp>
        <p:sp>
          <p:nvSpPr>
            <p:cNvPr id="30" name="TextBox 30"/>
            <p:cNvSpPr txBox="1"/>
            <p:nvPr/>
          </p:nvSpPr>
          <p:spPr>
            <a:xfrm>
              <a:off x="7900416" y="5620702"/>
              <a:ext cx="26539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populations, yet the trend still holds.</a:t>
              </a:r>
            </a:p>
          </p:txBody>
        </p:sp>
      </p:grpSp>
      <p:grpSp>
        <p:nvGrpSpPr>
          <p:cNvPr id="34" name="Group 34"/>
          <p:cNvGrpSpPr/>
          <p:nvPr/>
        </p:nvGrpSpPr>
        <p:grpSpPr>
          <a:xfrm>
            <a:off x="757238" y="6570345"/>
            <a:ext cx="10677524" cy="176212"/>
            <a:chOff x="757238" y="6570345"/>
            <a:chExt cx="10677524" cy="176212"/>
          </a:xfrm>
        </p:grpSpPr>
        <p:sp>
          <p:nvSpPr>
            <p:cNvPr id="32" name="TextBox 32"/>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33" name="TextBox 3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08 / 10</a:t>
              </a:r>
            </a:p>
          </p:txBody>
        </p:sp>
      </p:grpSp>
      <p:sp>
        <p:nvSpPr>
          <p:cNvPr id="35" name="cue_s08_c1_test_whether_predicted_mass_changes" title="cue_s08_c1_test_whether_predicted_mass_changes" descr="cue_s08_c1_test_whether_predicted_mass_changes To test whether the predicted mass changes are biologically meaningful, the authors compare them against independent measurements."/>
          <p:cNvSpPr/>
          <p:nvPr/>
        </p:nvSpPr>
        <p:spPr>
          <a:xfrm>
            <a:off x="762000" y="1733702"/>
            <a:ext cx="106680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8_c2_summing_nubot_predicted_weights_with" title="cue_s08_c2_summing_nubot_predicted_weights_with" descr="cue_s08_c2_summing_nubot_predicted_weights_with Summing NubOT's predicted weights within each subpopulation, they find a strong correlation with the observed change in cell counts after eight hours, with a correlation coefficient of point nine five."/>
          <p:cNvSpPr/>
          <p:nvPr/>
        </p:nvSpPr>
        <p:spPr>
          <a:xfrm>
            <a:off x="762000" y="4972050"/>
            <a:ext cx="5143804"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8_c3_after_twenty_four_hours_correlation" title="cue_s08_c3_after_twenty_four_hours_correlation" descr="cue_s08_c3_after_twenty_four_hours_correlation After twenty-four hours the correlation drops to point four four, because for some drugs the induced cell death is so severe that too few cells remain to evaluate reliably, yet the overall trend still holds."/>
          <p:cNvSpPr/>
          <p:nvPr/>
        </p:nvSpPr>
        <p:spPr>
          <a:xfrm>
            <a:off x="6286195" y="4972050"/>
            <a:ext cx="5143804"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8_c4_going_further_predicted_weights_line" title="cue_s08_c4_going_further_predicted_weights_line" descr="cue_s08_c4_going_further_predicted_weights_line Going further, the predicted weights line up spatially with a proliferation marker, Ki67, where NubOT predicts weights above one, and with an apoptosis marker where it predicts weights below one, confirming that the model is recovering real proliferation and d"/>
          <p:cNvSpPr/>
          <p:nvPr/>
        </p:nvSpPr>
        <p:spPr>
          <a:xfrm>
            <a:off x="762000" y="2800121"/>
            <a:ext cx="106680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12319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09 · HEADLINE NUMBERS</a:t>
              </a:r>
            </a:p>
          </p:txBody>
        </p:sp>
        <p:sp>
          <p:nvSpPr>
            <p:cNvPr id="4" name="TextBox 4"/>
            <p:cNvSpPr txBox="1"/>
            <p:nvPr/>
          </p:nvSpPr>
          <p:spPr>
            <a:xfrm>
              <a:off x="749808" y="883920"/>
              <a:ext cx="463243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The results in four numbers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21" name="Group 21"/>
          <p:cNvGrpSpPr/>
          <p:nvPr/>
        </p:nvGrpSpPr>
        <p:grpSpPr>
          <a:xfrm>
            <a:off x="762000" y="1733550"/>
            <a:ext cx="10668000" cy="1171289"/>
            <a:chOff x="762000" y="1733550"/>
            <a:chExt cx="10668000" cy="1171289"/>
          </a:xfrm>
        </p:grpSpPr>
        <p:sp>
          <p:nvSpPr>
            <p:cNvPr id="7" name="Rectangle 7"/>
            <p:cNvSpPr/>
            <p:nvPr/>
          </p:nvSpPr>
          <p:spPr>
            <a:xfrm>
              <a:off x="762000" y="1733550"/>
              <a:ext cx="10668000" cy="1143000"/>
            </a:xfrm>
            <a:prstGeom prst="roundRect">
              <a:avLst>
                <a:gd name="adj" fmla="val 10000"/>
              </a:avLst>
            </a:prstGeom>
            <a:solidFill>
              <a:schemeClr val="lt2"/>
            </a:solidFill>
            <a:ln w="9525">
              <a:solidFill>
                <a:schemeClr val="accent4"/>
              </a:solidFill>
            </a:ln>
          </p:spPr>
        </p:sp>
        <p:sp>
          <p:nvSpPr>
            <p:cNvPr id="8" name="TextBox 8"/>
            <p:cNvSpPr txBox="1"/>
            <p:nvPr/>
          </p:nvSpPr>
          <p:spPr>
            <a:xfrm>
              <a:off x="985266" y="1925002"/>
              <a:ext cx="2192754"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A CLEAR STORY IN NUMBERS</a:t>
              </a:r>
            </a:p>
          </p:txBody>
        </p:sp>
        <p:sp>
          <p:nvSpPr>
            <p:cNvPr id="9" name="Rectangle 9"/>
            <p:cNvSpPr/>
            <p:nvPr/>
          </p:nvSpPr>
          <p:spPr>
            <a:xfrm>
              <a:off x="1143000" y="2209800"/>
              <a:ext cx="2343150" cy="495300"/>
            </a:xfrm>
            <a:prstGeom prst="roundRect">
              <a:avLst>
                <a:gd name="adj" fmla="val 19231"/>
              </a:avLst>
            </a:prstGeom>
            <a:solidFill>
              <a:schemeClr val="accent6"/>
            </a:solidFill>
            <a:ln w="9525">
              <a:solidFill>
                <a:srgbClr val="C6D6FB"/>
              </a:solidFill>
            </a:ln>
          </p:spPr>
        </p:sp>
        <p:sp>
          <p:nvSpPr>
            <p:cNvPr id="10" name="TextBox 10"/>
            <p:cNvSpPr txBox="1"/>
            <p:nvPr/>
          </p:nvSpPr>
          <p:spPr>
            <a:xfrm>
              <a:off x="1245870" y="2309812"/>
              <a:ext cx="37270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25</a:t>
              </a:r>
            </a:p>
          </p:txBody>
        </p:sp>
        <p:sp>
          <p:nvSpPr>
            <p:cNvPr id="11" name="TextBox 11"/>
            <p:cNvSpPr txBox="1"/>
            <p:nvPr/>
          </p:nvSpPr>
          <p:spPr>
            <a:xfrm>
              <a:off x="1252347" y="2714149"/>
              <a:ext cx="125002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drug perturbations</a:t>
              </a:r>
            </a:p>
          </p:txBody>
        </p:sp>
        <p:sp>
          <p:nvSpPr>
            <p:cNvPr id="12" name="Rectangle 12"/>
            <p:cNvSpPr/>
            <p:nvPr/>
          </p:nvSpPr>
          <p:spPr>
            <a:xfrm>
              <a:off x="3714750" y="2209800"/>
              <a:ext cx="2343150" cy="495300"/>
            </a:xfrm>
            <a:prstGeom prst="roundRect">
              <a:avLst>
                <a:gd name="adj" fmla="val 19231"/>
              </a:avLst>
            </a:prstGeom>
            <a:solidFill>
              <a:srgbClr val="E1F3F0"/>
            </a:solidFill>
            <a:ln w="9525">
              <a:solidFill>
                <a:srgbClr val="B7E2DA"/>
              </a:solidFill>
            </a:ln>
          </p:spPr>
        </p:sp>
        <p:sp>
          <p:nvSpPr>
            <p:cNvPr id="13" name="TextBox 13"/>
            <p:cNvSpPr txBox="1"/>
            <p:nvPr/>
          </p:nvSpPr>
          <p:spPr>
            <a:xfrm>
              <a:off x="3817620" y="2309812"/>
              <a:ext cx="722547"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0.95</a:t>
              </a:r>
            </a:p>
          </p:txBody>
        </p:sp>
        <p:sp>
          <p:nvSpPr>
            <p:cNvPr id="14" name="TextBox 14"/>
            <p:cNvSpPr txBox="1"/>
            <p:nvPr/>
          </p:nvSpPr>
          <p:spPr>
            <a:xfrm>
              <a:off x="3824097" y="2714149"/>
              <a:ext cx="107192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count corr. @ 8h</a:t>
              </a:r>
            </a:p>
          </p:txBody>
        </p:sp>
        <p:sp>
          <p:nvSpPr>
            <p:cNvPr id="15" name="Rectangle 15"/>
            <p:cNvSpPr/>
            <p:nvPr/>
          </p:nvSpPr>
          <p:spPr>
            <a:xfrm>
              <a:off x="6286500" y="2209800"/>
              <a:ext cx="2343150" cy="495300"/>
            </a:xfrm>
            <a:prstGeom prst="roundRect">
              <a:avLst>
                <a:gd name="adj" fmla="val 19231"/>
              </a:avLst>
            </a:prstGeom>
            <a:solidFill>
              <a:srgbClr val="FBE9E2"/>
            </a:solidFill>
            <a:ln w="9525">
              <a:solidFill>
                <a:srgbClr val="F2C6B4"/>
              </a:solidFill>
            </a:ln>
          </p:spPr>
        </p:sp>
        <p:sp>
          <p:nvSpPr>
            <p:cNvPr id="16" name="TextBox 16"/>
            <p:cNvSpPr txBox="1"/>
            <p:nvPr/>
          </p:nvSpPr>
          <p:spPr>
            <a:xfrm>
              <a:off x="6389370" y="2309812"/>
              <a:ext cx="722547"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0.44</a:t>
              </a:r>
            </a:p>
          </p:txBody>
        </p:sp>
        <p:sp>
          <p:nvSpPr>
            <p:cNvPr id="17" name="TextBox 17"/>
            <p:cNvSpPr txBox="1"/>
            <p:nvPr/>
          </p:nvSpPr>
          <p:spPr>
            <a:xfrm>
              <a:off x="6395847" y="2714149"/>
              <a:ext cx="114448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count corr. @ 24h</a:t>
              </a:r>
            </a:p>
          </p:txBody>
        </p:sp>
        <p:sp>
          <p:nvSpPr>
            <p:cNvPr id="18" name="Rectangle 18"/>
            <p:cNvSpPr/>
            <p:nvPr/>
          </p:nvSpPr>
          <p:spPr>
            <a:xfrm>
              <a:off x="8858250" y="2209800"/>
              <a:ext cx="2343150" cy="495300"/>
            </a:xfrm>
            <a:prstGeom prst="roundRect">
              <a:avLst>
                <a:gd name="adj" fmla="val 19231"/>
              </a:avLst>
            </a:prstGeom>
            <a:solidFill>
              <a:schemeClr val="accent6"/>
            </a:solidFill>
            <a:ln w="9525">
              <a:solidFill>
                <a:srgbClr val="C6D6FB"/>
              </a:solidFill>
            </a:ln>
          </p:spPr>
        </p:sp>
        <p:sp>
          <p:nvSpPr>
            <p:cNvPr id="19" name="TextBox 19"/>
            <p:cNvSpPr txBox="1"/>
            <p:nvPr/>
          </p:nvSpPr>
          <p:spPr>
            <a:xfrm>
              <a:off x="8961120" y="2309812"/>
              <a:ext cx="197782"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3</a:t>
              </a:r>
            </a:p>
          </p:txBody>
        </p:sp>
        <p:sp>
          <p:nvSpPr>
            <p:cNvPr id="20" name="TextBox 20"/>
            <p:cNvSpPr txBox="1"/>
            <p:nvPr/>
          </p:nvSpPr>
          <p:spPr>
            <a:xfrm>
              <a:off x="8967597" y="2714149"/>
              <a:ext cx="142812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time points (0/8/24h)</a:t>
              </a:r>
            </a:p>
          </p:txBody>
        </p:sp>
      </p:grpSp>
      <p:grpSp>
        <p:nvGrpSpPr>
          <p:cNvPr id="28" name="Group 28"/>
          <p:cNvGrpSpPr/>
          <p:nvPr/>
        </p:nvGrpSpPr>
        <p:grpSpPr>
          <a:xfrm>
            <a:off x="762000" y="3028950"/>
            <a:ext cx="5257800" cy="1428750"/>
            <a:chOff x="762000" y="3028950"/>
            <a:chExt cx="5257800" cy="1428750"/>
          </a:xfrm>
        </p:grpSpPr>
        <p:sp>
          <p:nvSpPr>
            <p:cNvPr id="22" name="Rectangle 22"/>
            <p:cNvSpPr/>
            <p:nvPr/>
          </p:nvSpPr>
          <p:spPr>
            <a:xfrm>
              <a:off x="762000" y="3028950"/>
              <a:ext cx="5257800" cy="1428750"/>
            </a:xfrm>
            <a:prstGeom prst="roundRect">
              <a:avLst>
                <a:gd name="adj" fmla="val 8000"/>
              </a:avLst>
            </a:prstGeom>
            <a:solidFill>
              <a:schemeClr val="accent6"/>
            </a:solidFill>
            <a:ln w="9525">
              <a:solidFill>
                <a:srgbClr val="C6D6FB"/>
              </a:solidFill>
            </a:ln>
          </p:spPr>
        </p:sp>
        <p:sp>
          <p:nvSpPr>
            <p:cNvPr id="23" name="Rectangle 23"/>
            <p:cNvSpPr/>
            <p:nvPr/>
          </p:nvSpPr>
          <p:spPr>
            <a:xfrm>
              <a:off x="762000" y="3028950"/>
              <a:ext cx="57150" cy="1428750"/>
            </a:xfrm>
            <a:prstGeom prst="roundRect">
              <a:avLst>
                <a:gd name="adj" fmla="val 50000"/>
              </a:avLst>
            </a:prstGeom>
            <a:solidFill>
              <a:schemeClr val="accent1"/>
            </a:solidFill>
            <a:ln>
              <a:noFill/>
            </a:ln>
          </p:spPr>
        </p:sp>
        <p:sp>
          <p:nvSpPr>
            <p:cNvPr id="24" name="TextBox 24"/>
            <p:cNvSpPr txBox="1"/>
            <p:nvPr/>
          </p:nvSpPr>
          <p:spPr>
            <a:xfrm>
              <a:off x="1023366" y="3277552"/>
              <a:ext cx="157987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DISTRIBUTIONAL FIT</a:t>
              </a:r>
            </a:p>
          </p:txBody>
        </p:sp>
        <p:sp>
          <p:nvSpPr>
            <p:cNvPr id="25" name="TextBox 25"/>
            <p:cNvSpPr txBox="1"/>
            <p:nvPr/>
          </p:nvSpPr>
          <p:spPr>
            <a:xfrm>
              <a:off x="1021842" y="3607118"/>
              <a:ext cx="250144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Wins on almost all 25 drugs</a:t>
              </a:r>
            </a:p>
          </p:txBody>
        </p:sp>
        <p:sp>
          <p:nvSpPr>
            <p:cNvPr id="26" name="TextBox 26"/>
            <p:cNvSpPr txBox="1"/>
            <p:nvPr/>
          </p:nvSpPr>
          <p:spPr>
            <a:xfrm>
              <a:off x="1022985" y="3936206"/>
              <a:ext cx="313289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NubOT beats every baseline in nearly all 25</a:t>
              </a:r>
            </a:p>
          </p:txBody>
        </p:sp>
        <p:sp>
          <p:nvSpPr>
            <p:cNvPr id="27" name="TextBox 27"/>
            <p:cNvSpPr txBox="1"/>
            <p:nvPr/>
          </p:nvSpPr>
          <p:spPr>
            <a:xfrm>
              <a:off x="1022985" y="4145756"/>
              <a:ext cx="32839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perturbations on the weighted-MMD metric.</a:t>
              </a:r>
            </a:p>
          </p:txBody>
        </p:sp>
      </p:grpSp>
      <p:grpSp>
        <p:nvGrpSpPr>
          <p:cNvPr id="35" name="Group 35"/>
          <p:cNvGrpSpPr/>
          <p:nvPr/>
        </p:nvGrpSpPr>
        <p:grpSpPr>
          <a:xfrm>
            <a:off x="762000" y="4629150"/>
            <a:ext cx="5257800" cy="1447800"/>
            <a:chOff x="762000" y="4629150"/>
            <a:chExt cx="5257800" cy="1447800"/>
          </a:xfrm>
        </p:grpSpPr>
        <p:sp>
          <p:nvSpPr>
            <p:cNvPr id="29" name="Rectangle 29"/>
            <p:cNvSpPr/>
            <p:nvPr/>
          </p:nvSpPr>
          <p:spPr>
            <a:xfrm>
              <a:off x="762000" y="4629150"/>
              <a:ext cx="5257800" cy="1447800"/>
            </a:xfrm>
            <a:prstGeom prst="roundRect">
              <a:avLst>
                <a:gd name="adj" fmla="val 7895"/>
              </a:avLst>
            </a:prstGeom>
            <a:solidFill>
              <a:schemeClr val="lt1"/>
            </a:solidFill>
            <a:ln w="9525">
              <a:solidFill>
                <a:schemeClr val="accent4"/>
              </a:solidFill>
            </a:ln>
          </p:spPr>
        </p:sp>
        <p:sp>
          <p:nvSpPr>
            <p:cNvPr id="30" name="Rectangle 30"/>
            <p:cNvSpPr/>
            <p:nvPr/>
          </p:nvSpPr>
          <p:spPr>
            <a:xfrm>
              <a:off x="762000" y="4629150"/>
              <a:ext cx="57150" cy="1447800"/>
            </a:xfrm>
            <a:prstGeom prst="roundRect">
              <a:avLst>
                <a:gd name="adj" fmla="val 50000"/>
              </a:avLst>
            </a:prstGeom>
            <a:solidFill>
              <a:schemeClr val="accent3"/>
            </a:solidFill>
            <a:ln>
              <a:noFill/>
            </a:ln>
          </p:spPr>
        </p:sp>
        <p:sp>
          <p:nvSpPr>
            <p:cNvPr id="31" name="TextBox 31"/>
            <p:cNvSpPr txBox="1"/>
            <p:nvPr/>
          </p:nvSpPr>
          <p:spPr>
            <a:xfrm>
              <a:off x="1023366" y="4877752"/>
              <a:ext cx="153501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EVALUATION SCOPE</a:t>
              </a:r>
            </a:p>
          </p:txBody>
        </p:sp>
        <p:sp>
          <p:nvSpPr>
            <p:cNvPr id="32" name="TextBox 32"/>
            <p:cNvSpPr txBox="1"/>
            <p:nvPr/>
          </p:nvSpPr>
          <p:spPr>
            <a:xfrm>
              <a:off x="1022223" y="5177314"/>
              <a:ext cx="295305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2 cell lines · 3 times · 4 baselines</a:t>
              </a:r>
            </a:p>
          </p:txBody>
        </p:sp>
        <p:sp>
          <p:nvSpPr>
            <p:cNvPr id="33" name="TextBox 33"/>
            <p:cNvSpPr txBox="1"/>
            <p:nvPr/>
          </p:nvSpPr>
          <p:spPr>
            <a:xfrm>
              <a:off x="1022985" y="5498306"/>
              <a:ext cx="347267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Two co-cultured melanoma lines (MelA / Sox9),</a:t>
              </a:r>
            </a:p>
          </p:txBody>
        </p:sp>
        <p:sp>
          <p:nvSpPr>
            <p:cNvPr id="34" name="TextBox 34"/>
            <p:cNvSpPr txBox="1"/>
            <p:nvPr/>
          </p:nvSpPr>
          <p:spPr>
            <a:xfrm>
              <a:off x="1022985" y="5707856"/>
              <a:ext cx="33797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imaged with 4i; vs 4 baselines incl. ubOT GAN.</a:t>
              </a:r>
            </a:p>
          </p:txBody>
        </p:sp>
      </p:grpSp>
      <p:grpSp>
        <p:nvGrpSpPr>
          <p:cNvPr id="42" name="Group 42"/>
          <p:cNvGrpSpPr/>
          <p:nvPr/>
        </p:nvGrpSpPr>
        <p:grpSpPr>
          <a:xfrm>
            <a:off x="6286500" y="3028950"/>
            <a:ext cx="5143500" cy="3048000"/>
            <a:chOff x="6286500" y="3028950"/>
            <a:chExt cx="5143500" cy="3048000"/>
          </a:xfrm>
        </p:grpSpPr>
        <p:sp>
          <p:nvSpPr>
            <p:cNvPr id="36" name="Rectangle 36"/>
            <p:cNvSpPr/>
            <p:nvPr/>
          </p:nvSpPr>
          <p:spPr>
            <a:xfrm>
              <a:off x="6286500" y="3028950"/>
              <a:ext cx="5143500" cy="3048000"/>
            </a:xfrm>
            <a:prstGeom prst="roundRect">
              <a:avLst>
                <a:gd name="adj" fmla="val 3750"/>
              </a:avLst>
            </a:prstGeom>
            <a:solidFill>
              <a:schemeClr val="lt1"/>
            </a:solidFill>
            <a:ln w="9525">
              <a:solidFill>
                <a:schemeClr val="accent4"/>
              </a:solidFill>
            </a:ln>
          </p:spPr>
        </p:sp>
        <p:sp>
          <p:nvSpPr>
            <p:cNvPr id="37" name="Rectangle 37"/>
            <p:cNvSpPr/>
            <p:nvPr/>
          </p:nvSpPr>
          <p:spPr>
            <a:xfrm>
              <a:off x="6286500" y="3028950"/>
              <a:ext cx="57150" cy="3048000"/>
            </a:xfrm>
            <a:prstGeom prst="roundRect">
              <a:avLst>
                <a:gd name="adj" fmla="val 50000"/>
              </a:avLst>
            </a:prstGeom>
            <a:solidFill>
              <a:schemeClr val="accent2"/>
            </a:solidFill>
            <a:ln>
              <a:noFill/>
            </a:ln>
          </p:spPr>
        </p:sp>
        <p:sp>
          <p:nvSpPr>
            <p:cNvPr id="38" name="TextBox 38"/>
            <p:cNvSpPr txBox="1"/>
            <p:nvPr/>
          </p:nvSpPr>
          <p:spPr>
            <a:xfrm>
              <a:off x="6547866" y="3277552"/>
              <a:ext cx="359164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WEIGHTED MMD ACROSS 25 DRUGS (FIGURE 3)</a:t>
              </a:r>
            </a:p>
          </p:txBody>
        </p:sp>
        <p:pic>
          <p:nvPicPr>
            <p:cNvPr id="39" name="Image 39"/>
            <p:cNvPicPr>
              <a:picLocks noChangeAspect="1"/>
            </p:cNvPicPr>
            <p:nvPr/>
          </p:nvPicPr>
          <p:blipFill>
            <a:blip r:embed="rId2"/>
            <a:stretch>
              <a:fillRect/>
            </a:stretch>
          </p:blipFill>
          <p:spPr>
            <a:xfrm>
              <a:off x="6438900" y="3585351"/>
              <a:ext cx="4838700" cy="1335123"/>
            </a:xfrm>
            <a:prstGeom prst="rect">
              <a:avLst/>
            </a:prstGeom>
          </p:spPr>
        </p:pic>
        <p:sp>
          <p:nvSpPr>
            <p:cNvPr id="40" name="TextBox 40"/>
            <p:cNvSpPr txBox="1"/>
            <p:nvPr/>
          </p:nvSpPr>
          <p:spPr>
            <a:xfrm>
              <a:off x="6547866" y="5173028"/>
              <a:ext cx="3343917"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NubOT (red) attains the lowest error at both</a:t>
              </a:r>
            </a:p>
          </p:txBody>
        </p:sp>
        <p:sp>
          <p:nvSpPr>
            <p:cNvPr id="41" name="TextBox 41"/>
            <p:cNvSpPr txBox="1"/>
            <p:nvPr/>
          </p:nvSpPr>
          <p:spPr>
            <a:xfrm>
              <a:off x="6547866" y="5363528"/>
              <a:ext cx="32688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8h and 24h; weights correlate at r = 0.95 @ 8h.</a:t>
              </a:r>
            </a:p>
          </p:txBody>
        </p:sp>
      </p:grpSp>
      <p:grpSp>
        <p:nvGrpSpPr>
          <p:cNvPr id="45" name="Group 45"/>
          <p:cNvGrpSpPr/>
          <p:nvPr/>
        </p:nvGrpSpPr>
        <p:grpSpPr>
          <a:xfrm>
            <a:off x="757238" y="6570345"/>
            <a:ext cx="10677524" cy="176212"/>
            <a:chOff x="757238" y="6570345"/>
            <a:chExt cx="10677524" cy="176212"/>
          </a:xfrm>
        </p:grpSpPr>
        <p:sp>
          <p:nvSpPr>
            <p:cNvPr id="43" name="TextBox 43"/>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44" name="TextBox 4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09 / 10</a:t>
              </a:r>
            </a:p>
          </p:txBody>
        </p:sp>
      </p:grpSp>
      <p:sp>
        <p:nvSpPr>
          <p:cNvPr id="46" name="cue_s09_c1_headline_numbers_tell_clear_story" title="cue_s09_c1_headline_numbers_tell_clear_story" descr="cue_s09_c1_headline_numbers_tell_clear_story The headline numbers tell a clear story."/>
          <p:cNvSpPr/>
          <p:nvPr/>
        </p:nvSpPr>
        <p:spPr>
          <a:xfrm>
            <a:off x="762000" y="1733702"/>
            <a:ext cx="10668000" cy="117134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2_nubot_beats_every_baseline_almost" title="cue_s09_c2_nubot_beats_every_baseline_almost" descr="cue_s09_c2_nubot_beats_every_baseline_almost NubOT beats every baseline in almost all of the twenty-five drug perturbations on the distributional fit metric."/>
          <p:cNvSpPr/>
          <p:nvPr/>
        </p:nvSpPr>
        <p:spPr>
          <a:xfrm>
            <a:off x="762000" y="3029178"/>
            <a:ext cx="52584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9_c3_its_predicted_per_subpopulation_weig" title="cue_s09_c3_its_predicted_per_subpopulation_weig" descr="cue_s09_c3_its_predicted_per_subpopulation_weig Its predicted per-subpopulation weights correlate with observed cell counts at a coefficient of point nine five after eight hours, an extremely strong agreement, and still at point four four after twenty-four hours despite drug-induced cell death thinning the"/>
          <p:cNvSpPr/>
          <p:nvPr/>
        </p:nvSpPr>
        <p:spPr>
          <a:xfrm>
            <a:off x="6286195" y="3029178"/>
            <a:ext cx="5143804"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9_c4_evaluation_spans_two_co_cultured_mel" title="cue_s09_c4_evaluation_spans_two_co_cultured_mel" descr="cue_s09_c4_evaluation_spans_two_co_cultured_mel The evaluation spans two co-cultured melanoma cell lines distinguished by the MelA and Sox9 markers, imaged at three time points with the 4i technology, and compares against four baselines including the prior state-of-the-art unbalanced GAN."/>
          <p:cNvSpPr/>
          <p:nvPr/>
        </p:nvSpPr>
        <p:spPr>
          <a:xfrm>
            <a:off x="762000" y="4629150"/>
            <a:ext cx="5258409"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808" y="572452"/>
            <a:ext cx="10680192" cy="865823"/>
            <a:chOff x="749808" y="572452"/>
            <a:chExt cx="10680192"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4091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10 · TAKEAWAY</a:t>
              </a:r>
            </a:p>
          </p:txBody>
        </p:sp>
        <p:sp>
          <p:nvSpPr>
            <p:cNvPr id="4" name="TextBox 4"/>
            <p:cNvSpPr txBox="1"/>
            <p:nvPr/>
          </p:nvSpPr>
          <p:spPr>
            <a:xfrm>
              <a:off x="749808" y="883920"/>
              <a:ext cx="904312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Model cell birth and death, don't assume mass is fixed</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2" name="Group 12"/>
          <p:cNvGrpSpPr/>
          <p:nvPr/>
        </p:nvGrpSpPr>
        <p:grpSpPr>
          <a:xfrm>
            <a:off x="762000" y="1733550"/>
            <a:ext cx="10668000" cy="1184434"/>
            <a:chOff x="762000" y="1733550"/>
            <a:chExt cx="10668000" cy="1184434"/>
          </a:xfrm>
        </p:grpSpPr>
        <p:sp>
          <p:nvSpPr>
            <p:cNvPr id="7" name="Rectangle 7"/>
            <p:cNvSpPr/>
            <p:nvPr/>
          </p:nvSpPr>
          <p:spPr>
            <a:xfrm>
              <a:off x="762000" y="1733550"/>
              <a:ext cx="10668000" cy="1143000"/>
            </a:xfrm>
            <a:prstGeom prst="roundRect">
              <a:avLst>
                <a:gd name="adj" fmla="val 10000"/>
              </a:avLst>
            </a:prstGeom>
            <a:solidFill>
              <a:schemeClr val="accent6"/>
            </a:solidFill>
            <a:ln w="9525">
              <a:solidFill>
                <a:srgbClr val="C6D6FB"/>
              </a:solidFill>
            </a:ln>
          </p:spPr>
        </p:sp>
        <p:sp>
          <p:nvSpPr>
            <p:cNvPr id="8" name="Rectangle 8"/>
            <p:cNvSpPr/>
            <p:nvPr/>
          </p:nvSpPr>
          <p:spPr>
            <a:xfrm>
              <a:off x="762000" y="1733550"/>
              <a:ext cx="57150" cy="1143000"/>
            </a:xfrm>
            <a:prstGeom prst="roundRect">
              <a:avLst>
                <a:gd name="adj" fmla="val 50000"/>
              </a:avLst>
            </a:prstGeom>
            <a:solidFill>
              <a:schemeClr val="accent1"/>
            </a:solidFill>
            <a:ln>
              <a:noFill/>
            </a:ln>
          </p:spPr>
        </p:sp>
        <p:sp>
          <p:nvSpPr>
            <p:cNvPr id="9" name="TextBox 9"/>
            <p:cNvSpPr txBox="1"/>
            <p:nvPr/>
          </p:nvSpPr>
          <p:spPr>
            <a:xfrm>
              <a:off x="1023366" y="1982152"/>
              <a:ext cx="1081789"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BOTTOM LINE</a:t>
              </a:r>
            </a:p>
          </p:txBody>
        </p:sp>
        <p:sp>
          <p:nvSpPr>
            <p:cNvPr id="10" name="TextBox 10"/>
            <p:cNvSpPr txBox="1"/>
            <p:nvPr/>
          </p:nvSpPr>
          <p:spPr>
            <a:xfrm>
              <a:off x="1018794" y="2342198"/>
              <a:ext cx="8107951"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Unbalanced OT can be both practical and biologically faithful</a:t>
              </a:r>
            </a:p>
          </p:txBody>
        </p:sp>
        <p:sp>
          <p:nvSpPr>
            <p:cNvPr id="11" name="TextBox 11"/>
            <p:cNvSpPr txBox="1"/>
            <p:nvPr/>
          </p:nvSpPr>
          <p:spPr>
            <a:xfrm>
              <a:off x="1022985" y="2697956"/>
              <a:ext cx="38637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learnable semi-couplings + cycle-consistent training</a:t>
              </a:r>
            </a:p>
          </p:txBody>
        </p:sp>
      </p:grpSp>
      <p:grpSp>
        <p:nvGrpSpPr>
          <p:cNvPr id="26" name="Group 26"/>
          <p:cNvGrpSpPr/>
          <p:nvPr/>
        </p:nvGrpSpPr>
        <p:grpSpPr>
          <a:xfrm>
            <a:off x="762000" y="3048000"/>
            <a:ext cx="5257800" cy="3028950"/>
            <a:chOff x="762000" y="3048000"/>
            <a:chExt cx="5257800" cy="3028950"/>
          </a:xfrm>
        </p:grpSpPr>
        <p:sp>
          <p:nvSpPr>
            <p:cNvPr id="13" name="Rectangle 13"/>
            <p:cNvSpPr/>
            <p:nvPr/>
          </p:nvSpPr>
          <p:spPr>
            <a:xfrm>
              <a:off x="762000" y="3048000"/>
              <a:ext cx="5257800" cy="3028950"/>
            </a:xfrm>
            <a:prstGeom prst="roundRect">
              <a:avLst>
                <a:gd name="adj" fmla="val 3774"/>
              </a:avLst>
            </a:prstGeom>
            <a:solidFill>
              <a:schemeClr val="lt1"/>
            </a:solidFill>
            <a:ln w="9525">
              <a:solidFill>
                <a:schemeClr val="accent4"/>
              </a:solidFill>
            </a:ln>
          </p:spPr>
        </p:sp>
        <p:sp>
          <p:nvSpPr>
            <p:cNvPr id="14" name="Rectangle 14"/>
            <p:cNvSpPr/>
            <p:nvPr/>
          </p:nvSpPr>
          <p:spPr>
            <a:xfrm>
              <a:off x="762000" y="3048000"/>
              <a:ext cx="57150" cy="3028950"/>
            </a:xfrm>
            <a:prstGeom prst="roundRect">
              <a:avLst>
                <a:gd name="adj" fmla="val 50000"/>
              </a:avLst>
            </a:prstGeom>
            <a:solidFill>
              <a:schemeClr val="accent2"/>
            </a:solidFill>
            <a:ln>
              <a:noFill/>
            </a:ln>
          </p:spPr>
        </p:sp>
        <p:sp>
          <p:nvSpPr>
            <p:cNvPr id="15" name="TextBox 15"/>
            <p:cNvSpPr txBox="1"/>
            <p:nvPr/>
          </p:nvSpPr>
          <p:spPr>
            <a:xfrm>
              <a:off x="1023366" y="3296602"/>
              <a:ext cx="353484"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HOW</a:t>
              </a:r>
            </a:p>
          </p:txBody>
        </p:sp>
        <p:sp>
          <p:nvSpPr>
            <p:cNvPr id="16" name="TextBox 16"/>
            <p:cNvSpPr txBox="1"/>
            <p:nvPr/>
          </p:nvSpPr>
          <p:spPr>
            <a:xfrm>
              <a:off x="1021842" y="3588068"/>
              <a:ext cx="2739648"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Move and reweight, together</a:t>
              </a:r>
            </a:p>
          </p:txBody>
        </p:sp>
        <p:sp>
          <p:nvSpPr>
            <p:cNvPr id="17" name="TextBox 17"/>
            <p:cNvSpPr txBox="1"/>
            <p:nvPr/>
          </p:nvSpPr>
          <p:spPr>
            <a:xfrm>
              <a:off x="1022985" y="3917156"/>
              <a:ext cx="33058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By reformulating OT through learnable semi-</a:t>
              </a:r>
            </a:p>
          </p:txBody>
        </p:sp>
        <p:sp>
          <p:nvSpPr>
            <p:cNvPr id="18" name="TextBox 18"/>
            <p:cNvSpPr txBox="1"/>
            <p:nvPr/>
          </p:nvSpPr>
          <p:spPr>
            <a:xfrm>
              <a:off x="1022985" y="4126706"/>
              <a:ext cx="35169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couplings and training the maps and reweighting</a:t>
              </a:r>
            </a:p>
          </p:txBody>
        </p:sp>
        <p:sp>
          <p:nvSpPr>
            <p:cNvPr id="19" name="TextBox 19"/>
            <p:cNvSpPr txBox="1"/>
            <p:nvPr/>
          </p:nvSpPr>
          <p:spPr>
            <a:xfrm>
              <a:off x="1022985" y="4336256"/>
              <a:ext cx="339631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functions with a cycle-consistent alternating</a:t>
              </a:r>
            </a:p>
          </p:txBody>
        </p:sp>
        <p:sp>
          <p:nvSpPr>
            <p:cNvPr id="20" name="TextBox 20"/>
            <p:cNvSpPr txBox="1"/>
            <p:nvPr/>
          </p:nvSpPr>
          <p:spPr>
            <a:xfrm>
              <a:off x="1022985" y="4545806"/>
              <a:ext cx="34047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scheme, NubOT predicts, per single cell, both</a:t>
              </a:r>
            </a:p>
          </p:txBody>
        </p:sp>
        <p:sp>
          <p:nvSpPr>
            <p:cNvPr id="21" name="TextBox 21"/>
            <p:cNvSpPr txBox="1"/>
            <p:nvPr/>
          </p:nvSpPr>
          <p:spPr>
            <a:xfrm>
              <a:off x="1022985" y="4755356"/>
              <a:ext cx="34189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movement and the creation or destruction</a:t>
              </a:r>
            </a:p>
          </p:txBody>
        </p:sp>
        <p:sp>
          <p:nvSpPr>
            <p:cNvPr id="22" name="TextBox 22"/>
            <p:cNvSpPr txBox="1"/>
            <p:nvPr/>
          </p:nvSpPr>
          <p:spPr>
            <a:xfrm>
              <a:off x="1022985" y="4964906"/>
              <a:ext cx="66729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mass.</a:t>
              </a:r>
            </a:p>
          </p:txBody>
        </p:sp>
        <p:sp>
          <p:nvSpPr>
            <p:cNvPr id="23" name="Rectangle 23"/>
            <p:cNvSpPr/>
            <p:nvPr/>
          </p:nvSpPr>
          <p:spPr>
            <a:xfrm>
              <a:off x="1028700" y="5295900"/>
              <a:ext cx="4724400" cy="571500"/>
            </a:xfrm>
            <a:prstGeom prst="roundRect">
              <a:avLst>
                <a:gd name="adj" fmla="val 16667"/>
              </a:avLst>
            </a:prstGeom>
            <a:solidFill>
              <a:srgbClr val="E1F3F0"/>
            </a:solidFill>
            <a:ln w="9525">
              <a:solidFill>
                <a:srgbClr val="B7E2DA"/>
              </a:solidFill>
            </a:ln>
          </p:spPr>
        </p:sp>
        <p:sp>
          <p:nvSpPr>
            <p:cNvPr id="24" name="TextBox 24"/>
            <p:cNvSpPr txBox="1"/>
            <p:nvPr/>
          </p:nvSpPr>
          <p:spPr>
            <a:xfrm>
              <a:off x="1251204" y="5414010"/>
              <a:ext cx="3124741"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where cells move + how mass rescales</a:t>
              </a:r>
            </a:p>
          </p:txBody>
        </p:sp>
        <p:sp>
          <p:nvSpPr>
            <p:cNvPr id="25" name="TextBox 25"/>
            <p:cNvSpPr txBox="1"/>
            <p:nvPr/>
          </p:nvSpPr>
          <p:spPr>
            <a:xfrm>
              <a:off x="1251966" y="5639752"/>
              <a:ext cx="22298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jointly, at single-cell resolution</a:t>
              </a:r>
            </a:p>
          </p:txBody>
        </p:sp>
      </p:grpSp>
      <p:grpSp>
        <p:nvGrpSpPr>
          <p:cNvPr id="34" name="Group 34"/>
          <p:cNvGrpSpPr/>
          <p:nvPr/>
        </p:nvGrpSpPr>
        <p:grpSpPr>
          <a:xfrm>
            <a:off x="6286500" y="3048000"/>
            <a:ext cx="5143500" cy="1508284"/>
            <a:chOff x="6286500" y="3048000"/>
            <a:chExt cx="5143500" cy="1508284"/>
          </a:xfrm>
        </p:grpSpPr>
        <p:sp>
          <p:nvSpPr>
            <p:cNvPr id="27" name="Rectangle 27"/>
            <p:cNvSpPr/>
            <p:nvPr/>
          </p:nvSpPr>
          <p:spPr>
            <a:xfrm>
              <a:off x="6286500" y="3048000"/>
              <a:ext cx="5143500" cy="1428750"/>
            </a:xfrm>
            <a:prstGeom prst="roundRect">
              <a:avLst>
                <a:gd name="adj" fmla="val 8000"/>
              </a:avLst>
            </a:prstGeom>
            <a:solidFill>
              <a:schemeClr val="lt1"/>
            </a:solidFill>
            <a:ln w="9525">
              <a:solidFill>
                <a:schemeClr val="accent4"/>
              </a:solidFill>
            </a:ln>
          </p:spPr>
        </p:sp>
        <p:sp>
          <p:nvSpPr>
            <p:cNvPr id="28" name="Rectangle 28"/>
            <p:cNvSpPr/>
            <p:nvPr/>
          </p:nvSpPr>
          <p:spPr>
            <a:xfrm>
              <a:off x="6286500" y="3048000"/>
              <a:ext cx="57150" cy="1428750"/>
            </a:xfrm>
            <a:prstGeom prst="roundRect">
              <a:avLst>
                <a:gd name="adj" fmla="val 50000"/>
              </a:avLst>
            </a:prstGeom>
            <a:solidFill>
              <a:schemeClr val="accent1"/>
            </a:solidFill>
            <a:ln>
              <a:noFill/>
            </a:ln>
          </p:spPr>
        </p:sp>
        <p:sp>
          <p:nvSpPr>
            <p:cNvPr id="29" name="TextBox 29"/>
            <p:cNvSpPr txBox="1"/>
            <p:nvPr/>
          </p:nvSpPr>
          <p:spPr>
            <a:xfrm>
              <a:off x="6547866" y="3296602"/>
              <a:ext cx="1425245"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WHAT IT DELIVERS</a:t>
              </a:r>
            </a:p>
          </p:txBody>
        </p:sp>
        <p:sp>
          <p:nvSpPr>
            <p:cNvPr id="30" name="TextBox 30"/>
            <p:cNvSpPr txBox="1"/>
            <p:nvPr/>
          </p:nvSpPr>
          <p:spPr>
            <a:xfrm>
              <a:off x="6546342" y="3588068"/>
              <a:ext cx="274258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Outperforms prior neural OT</a:t>
              </a:r>
            </a:p>
          </p:txBody>
        </p:sp>
        <p:sp>
          <p:nvSpPr>
            <p:cNvPr id="31" name="TextBox 31"/>
            <p:cNvSpPr txBox="1"/>
            <p:nvPr/>
          </p:nvSpPr>
          <p:spPr>
            <a:xfrm>
              <a:off x="6547485" y="3917156"/>
              <a:ext cx="32731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forecasting drug response of cancer cell</a:t>
              </a:r>
            </a:p>
          </p:txBody>
        </p:sp>
        <p:sp>
          <p:nvSpPr>
            <p:cNvPr id="32" name="TextBox 32"/>
            <p:cNvSpPr txBox="1"/>
            <p:nvPr/>
          </p:nvSpPr>
          <p:spPr>
            <a:xfrm>
              <a:off x="6547485" y="4126706"/>
              <a:ext cx="33058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lines, with predictions that align with known</a:t>
              </a:r>
            </a:p>
          </p:txBody>
        </p:sp>
        <p:sp>
          <p:nvSpPr>
            <p:cNvPr id="33" name="TextBox 33"/>
            <p:cNvSpPr txBox="1"/>
            <p:nvPr/>
          </p:nvSpPr>
          <p:spPr>
            <a:xfrm>
              <a:off x="6547485" y="4336256"/>
              <a:ext cx="24690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proliferation and death markers.</a:t>
              </a:r>
            </a:p>
          </p:txBody>
        </p:sp>
      </p:grpSp>
      <p:grpSp>
        <p:nvGrpSpPr>
          <p:cNvPr id="40" name="Group 40"/>
          <p:cNvGrpSpPr/>
          <p:nvPr/>
        </p:nvGrpSpPr>
        <p:grpSpPr>
          <a:xfrm>
            <a:off x="6286500" y="4629150"/>
            <a:ext cx="5143500" cy="1447800"/>
            <a:chOff x="6286500" y="4629150"/>
            <a:chExt cx="5143500" cy="1447800"/>
          </a:xfrm>
        </p:grpSpPr>
        <p:sp>
          <p:nvSpPr>
            <p:cNvPr id="35" name="Rectangle 35"/>
            <p:cNvSpPr/>
            <p:nvPr/>
          </p:nvSpPr>
          <p:spPr>
            <a:xfrm>
              <a:off x="6286500" y="4629150"/>
              <a:ext cx="5143500" cy="1447800"/>
            </a:xfrm>
            <a:prstGeom prst="roundRect">
              <a:avLst>
                <a:gd name="adj" fmla="val 7895"/>
              </a:avLst>
            </a:prstGeom>
            <a:solidFill>
              <a:schemeClr val="dk1"/>
            </a:solidFill>
            <a:ln>
              <a:noFill/>
            </a:ln>
          </p:spPr>
        </p:sp>
        <p:sp>
          <p:nvSpPr>
            <p:cNvPr id="36" name="TextBox 36"/>
            <p:cNvSpPr txBox="1"/>
            <p:nvPr/>
          </p:nvSpPr>
          <p:spPr>
            <a:xfrm>
              <a:off x="6547866" y="4877752"/>
              <a:ext cx="1139502"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WHY IT WORKS</a:t>
              </a:r>
            </a:p>
          </p:txBody>
        </p:sp>
        <p:sp>
          <p:nvSpPr>
            <p:cNvPr id="37" name="TextBox 37"/>
            <p:cNvSpPr txBox="1"/>
            <p:nvPr/>
          </p:nvSpPr>
          <p:spPr>
            <a:xfrm>
              <a:off x="6545580" y="5210175"/>
              <a:ext cx="2640504"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Explicit cell birth &amp; death</a:t>
              </a:r>
            </a:p>
          </p:txBody>
        </p:sp>
        <p:sp>
          <p:nvSpPr>
            <p:cNvPr id="38" name="TextBox 38"/>
            <p:cNvSpPr txBox="1"/>
            <p:nvPr/>
          </p:nvSpPr>
          <p:spPr>
            <a:xfrm>
              <a:off x="6547485" y="5555456"/>
              <a:ext cx="3054592"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Modeling mass creation and destruction —</a:t>
              </a:r>
            </a:p>
          </p:txBody>
        </p:sp>
        <p:sp>
          <p:nvSpPr>
            <p:cNvPr id="39" name="TextBox 39"/>
            <p:cNvSpPr txBox="1"/>
            <p:nvPr/>
          </p:nvSpPr>
          <p:spPr>
            <a:xfrm>
              <a:off x="6547485" y="5765006"/>
              <a:ext cx="2808295"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rather than assuming it is conserved.</a:t>
              </a:r>
            </a:p>
          </p:txBody>
        </p:sp>
      </p:grpSp>
      <p:grpSp>
        <p:nvGrpSpPr>
          <p:cNvPr id="43" name="Group 43"/>
          <p:cNvGrpSpPr/>
          <p:nvPr/>
        </p:nvGrpSpPr>
        <p:grpSpPr>
          <a:xfrm>
            <a:off x="757238" y="6570345"/>
            <a:ext cx="10677524" cy="176212"/>
            <a:chOff x="757238" y="6570345"/>
            <a:chExt cx="10677524" cy="176212"/>
          </a:xfrm>
        </p:grpSpPr>
        <p:sp>
          <p:nvSpPr>
            <p:cNvPr id="41" name="TextBox 41"/>
            <p:cNvSpPr txBox="1"/>
            <p:nvPr/>
          </p:nvSpPr>
          <p:spPr>
            <a:xfrm>
              <a:off x="757238" y="6570345"/>
              <a:ext cx="3603546"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NubOT · Neural Unbalanced Optimal Transport · NeurIPS 2022</a:t>
              </a:r>
            </a:p>
          </p:txBody>
        </p:sp>
        <p:sp>
          <p:nvSpPr>
            <p:cNvPr id="42" name="TextBox 42"/>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10 / 10</a:t>
              </a:r>
            </a:p>
          </p:txBody>
        </p:sp>
      </p:grpSp>
      <p:sp>
        <p:nvSpPr>
          <p:cNvPr id="44" name="cue_s10_c1_takeaway_unbalanced_optimal_transpor" title="cue_s10_c1_takeaway_unbalanced_optimal_transpor" descr="cue_s10_c1_takeaway_unbalanced_optimal_transpor The takeaway is that unbalanced optimal transport can be made both practical and biologically faithful."/>
          <p:cNvSpPr/>
          <p:nvPr/>
        </p:nvSpPr>
        <p:spPr>
          <a:xfrm>
            <a:off x="762000" y="1733702"/>
            <a:ext cx="10668000" cy="1184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10_c2_reformulating_through_learnable_semi" title="cue_s10_c2_reformulating_through_learnable_semi" descr="cue_s10_c2_reformulating_through_learnable_semi By reformulating it through learnable semi-couplings, and training the maps and reweighting functions with a cycle-consistent alternating scheme, NubOT simultaneously predicts the movement and the creation or destruction of mass at the level of individual cell"/>
          <p:cNvSpPr/>
          <p:nvPr/>
        </p:nvSpPr>
        <p:spPr>
          <a:xfrm>
            <a:off x="762000" y="3047695"/>
            <a:ext cx="5258409" cy="30291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10_c3_outperforms_previous_neural_optimal" title="cue_s10_c3_outperforms_previous_neural_optimal" descr="cue_s10_c3_outperforms_previous_neural_optimal It outperforms previous neural optimal transport methods on the challenging task of forecasting how cancer cell lines respond to drugs, and it does so while producing predictions that align with known proliferation and death markers."/>
          <p:cNvSpPr/>
          <p:nvPr/>
        </p:nvSpPr>
        <p:spPr>
          <a:xfrm>
            <a:off x="6286195" y="3047695"/>
            <a:ext cx="5143804" cy="150807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10_c4_explicitly_modeling_cell_birth_death" title="cue_s10_c4_explicitly_modeling_cell_birth_death" descr="cue_s10_c4_explicitly_modeling_cell_birth_death Explicitly modeling cell birth and death, rather than assuming mass is conserved, is what makes this possible."/>
          <p:cNvSpPr/>
          <p:nvPr/>
        </p:nvSpPr>
        <p:spPr>
          <a:xfrm>
            <a:off x="6286195" y="4629150"/>
            <a:ext cx="5143804"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nubot_video">
  <a:themeElements>
    <a:clrScheme name="nubot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nubo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ubo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2026-07-16T15:55:35Z</dcterms:created>
  <dcterms:modified xsi:type="dcterms:W3CDTF">2026-07-16T15:55:35Z</dcterms:modified>
  <cp:category/>
  <cp:contentStatus/>
</cp:coreProperties>
</file>
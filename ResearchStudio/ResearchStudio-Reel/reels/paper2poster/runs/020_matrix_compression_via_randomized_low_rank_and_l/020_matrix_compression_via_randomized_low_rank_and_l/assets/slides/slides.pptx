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p2v_020_matrixcompress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p2v_020_matrixcompress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25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25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1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9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85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25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9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85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_f55e911293e18e7d.png"/><Relationship Id="rId3" Type="http://schemas.openxmlformats.org/officeDocument/2006/relationships/image" Target="../media/image_62b96bf5e6b70874.png"/><Relationship Id="rId4" Type="http://schemas.openxmlformats.org/officeDocument/2006/relationships/image" Target="../media/image_086cd95ee232612d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_b6b210aff198988a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_b6b210aff198988a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_bb00cf1c7e7ea497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95250" cy="6858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604647" y="666750"/>
            <a:ext cx="5010437" cy="447389"/>
            <a:chOff x="604647" y="666750"/>
            <a:chExt cx="5010437" cy="447389"/>
          </a:xfrm>
        </p:grpSpPr>
        <p:sp>
          <p:nvSpPr>
            <p:cNvPr id="5" name="Rectangle 5"/>
            <p:cNvSpPr/>
            <p:nvPr/>
          </p:nvSpPr>
          <p:spPr>
            <a:xfrm>
              <a:off x="609600" y="666750"/>
              <a:ext cx="609600" cy="38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604647" y="923449"/>
              <a:ext cx="50104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spc="188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PAPER · DEEP READ · NeurIPS 2023 · arXiv:2310.11028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597027" y="1313974"/>
            <a:ext cx="6456755" cy="1705165"/>
            <a:chOff x="597027" y="1313974"/>
            <a:chExt cx="6456755" cy="1705165"/>
          </a:xfrm>
        </p:grpSpPr>
        <p:sp>
          <p:nvSpPr>
            <p:cNvPr id="8" name="TextBox 8"/>
            <p:cNvSpPr txBox="1"/>
            <p:nvPr/>
          </p:nvSpPr>
          <p:spPr>
            <a:xfrm>
              <a:off x="597027" y="1313974"/>
              <a:ext cx="6456755" cy="4840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8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Matrix Compression via Randomized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97027" y="1694974"/>
              <a:ext cx="4709085" cy="4840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8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Low Rank &amp; Low Precision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02742" y="2216468"/>
              <a:ext cx="579912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i="1" dirty="0">
                  <a:solidFill>
                    <a:schemeClr val="dk2"/>
                  </a:solidFill>
                  <a:latin typeface="+mj-lt"/>
                  <a:ea typeface="+mj-ea"/>
                  <a:cs typeface="+mj-cs"/>
                </a:rPr>
                <a:t>LPLR — one algorithm that is both low-rank and low-precision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03885" y="2583656"/>
              <a:ext cx="365322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Rajarshi Saha · Varun Srivastava · Mert Pilanci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04647" y="2828449"/>
              <a:ext cx="129765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Stanford University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609600" y="3276600"/>
            <a:ext cx="5715000" cy="1127284"/>
            <a:chOff x="609600" y="3276600"/>
            <a:chExt cx="5715000" cy="1127284"/>
          </a:xfrm>
        </p:grpSpPr>
        <p:sp>
          <p:nvSpPr>
            <p:cNvPr id="14" name="Rectangle 14"/>
            <p:cNvSpPr/>
            <p:nvPr/>
          </p:nvSpPr>
          <p:spPr>
            <a:xfrm>
              <a:off x="609600" y="3276600"/>
              <a:ext cx="5715000" cy="1066800"/>
            </a:xfrm>
            <a:prstGeom prst="roundRect">
              <a:avLst>
                <a:gd name="adj" fmla="val 8929"/>
              </a:avLst>
            </a:prstGeom>
            <a:solidFill>
              <a:schemeClr val="lt1"/>
            </a:solidFill>
            <a:ln w="14288">
              <a:solidFill>
                <a:schemeClr val="accent4"/>
              </a:solidFill>
            </a:ln>
            <a:effectLst>
              <a:outerShdw blurRad="76200" dist="28575" dir="5400000" algn="ctr" rotWithShape="0">
                <a:srgbClr val="0B2E52">
                  <a:alpha val="6000"/>
                </a:srgbClr>
              </a:outerShdw>
            </a:effectLst>
          </p:spPr>
        </p:sp>
        <p:sp>
          <p:nvSpPr>
            <p:cNvPr id="15" name="Rectangle 15"/>
            <p:cNvSpPr/>
            <p:nvPr/>
          </p:nvSpPr>
          <p:spPr>
            <a:xfrm>
              <a:off x="609600" y="3276600"/>
              <a:ext cx="57150" cy="1066800"/>
            </a:xfrm>
            <a:prstGeom prst="roundRect">
              <a:avLst>
                <a:gd name="adj" fmla="val 50000"/>
              </a:avLst>
            </a:prstGeom>
            <a:solidFill>
              <a:srgbClr val="C0392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33247" y="3476149"/>
              <a:ext cx="98154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spc="112" dirty="0">
                  <a:solidFill>
                    <a:srgbClr val="C0392B"/>
                  </a:solidFill>
                  <a:latin typeface="+mn-lt"/>
                  <a:ea typeface="+mn-ea"/>
                  <a:cs typeface="+mn-cs"/>
                </a:rPr>
                <a:t>THE SETTING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30961" y="3713321"/>
              <a:ext cx="405948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Billions of entries, but nearly low rank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32485" y="3993356"/>
              <a:ext cx="414041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Modern matrices strain memory and compute, yet carry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32485" y="4183856"/>
              <a:ext cx="34415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far less information than their size suggests.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609600" y="4457700"/>
            <a:ext cx="5715000" cy="1127284"/>
            <a:chOff x="609600" y="4457700"/>
            <a:chExt cx="5715000" cy="1127284"/>
          </a:xfrm>
        </p:grpSpPr>
        <p:sp>
          <p:nvSpPr>
            <p:cNvPr id="21" name="Rectangle 21"/>
            <p:cNvSpPr/>
            <p:nvPr/>
          </p:nvSpPr>
          <p:spPr>
            <a:xfrm>
              <a:off x="609600" y="4457700"/>
              <a:ext cx="5715000" cy="1123950"/>
            </a:xfrm>
            <a:prstGeom prst="roundRect">
              <a:avLst>
                <a:gd name="adj" fmla="val 8475"/>
              </a:avLst>
            </a:prstGeom>
            <a:solidFill>
              <a:schemeClr val="accent6"/>
            </a:solidFill>
            <a:ln w="14288">
              <a:solidFill>
                <a:schemeClr val="accent2"/>
              </a:solidFill>
            </a:ln>
            <a:effectLst>
              <a:outerShdw blurRad="76200" dist="28575" dir="5400000" algn="ctr" rotWithShape="0">
                <a:srgbClr val="0B2E52">
                  <a:alpha val="6000"/>
                </a:srgbClr>
              </a:outerShdw>
            </a:effectLst>
          </p:spPr>
        </p:sp>
        <p:sp>
          <p:nvSpPr>
            <p:cNvPr id="22" name="Rectangle 22"/>
            <p:cNvSpPr/>
            <p:nvPr/>
          </p:nvSpPr>
          <p:spPr>
            <a:xfrm>
              <a:off x="609600" y="4457700"/>
              <a:ext cx="57150" cy="112395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33247" y="4657249"/>
              <a:ext cx="158208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spc="112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THE METHOD · LPLR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30961" y="4894421"/>
              <a:ext cx="408252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Low-rank and low-precision in one step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32485" y="5174456"/>
              <a:ext cx="408745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A randomized factorization into two low-rank factors,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32485" y="5364956"/>
              <a:ext cx="356216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quantized down to about one bit per coordinate.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6667500" y="1428750"/>
            <a:ext cx="4914900" cy="2438400"/>
            <a:chOff x="6667500" y="1428750"/>
            <a:chExt cx="4914900" cy="2438400"/>
          </a:xfrm>
        </p:grpSpPr>
        <p:sp>
          <p:nvSpPr>
            <p:cNvPr id="28" name="Rectangle 28"/>
            <p:cNvSpPr/>
            <p:nvPr/>
          </p:nvSpPr>
          <p:spPr>
            <a:xfrm>
              <a:off x="6667500" y="1428750"/>
              <a:ext cx="4914900" cy="2438400"/>
            </a:xfrm>
            <a:prstGeom prst="roundRect">
              <a:avLst>
                <a:gd name="adj" fmla="val 4688"/>
              </a:avLst>
            </a:prstGeom>
            <a:solidFill>
              <a:schemeClr val="lt1"/>
            </a:solidFill>
            <a:ln w="14288">
              <a:solidFill>
                <a:schemeClr val="accent4"/>
              </a:solidFill>
            </a:ln>
            <a:effectLst>
              <a:outerShdw blurRad="76200" dist="28575" dir="5400000" algn="ctr" rotWithShape="0">
                <a:srgbClr val="0B2E52">
                  <a:alpha val="6000"/>
                </a:srgbClr>
              </a:outerShdw>
            </a:effectLst>
          </p:spPr>
        </p:sp>
        <p:sp>
          <p:nvSpPr>
            <p:cNvPr id="29" name="TextBox 29"/>
            <p:cNvSpPr txBox="1"/>
            <p:nvPr/>
          </p:nvSpPr>
          <p:spPr>
            <a:xfrm>
              <a:off x="6891147" y="1647349"/>
              <a:ext cx="28456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spc="112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A ≈ L · R, EACH FACTOR QUANTIZED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7067550" y="2133600"/>
              <a:ext cx="1143000" cy="1143000"/>
            </a:xfrm>
            <a:prstGeom prst="roundRect">
              <a:avLst>
                <a:gd name="adj" fmla="val 5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498920" y="2506028"/>
              <a:ext cx="28026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550" b="1" dirty="0">
                  <a:solidFill>
                    <a:srgbClr val="FFFFFF"/>
                  </a:solidFill>
                  <a:latin typeface="Georgia"/>
                  <a:ea typeface="Georgia"/>
                  <a:cs typeface="Georgia"/>
                </a:rPr>
                <a:t>A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485678" y="3399949"/>
              <a:ext cx="30674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n × d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396859" y="2538412"/>
              <a:ext cx="19888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250" dirty="0">
                  <a:solidFill>
                    <a:schemeClr val="dk2"/>
                  </a:solidFill>
                  <a:latin typeface="Georgia"/>
                  <a:ea typeface="Georgia"/>
                  <a:cs typeface="Georgia"/>
                </a:rPr>
                <a:t>≈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8839200" y="2133600"/>
              <a:ext cx="495300" cy="1143000"/>
            </a:xfrm>
            <a:prstGeom prst="roundRect">
              <a:avLst>
                <a:gd name="adj" fmla="val 11538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8987935" y="2586990"/>
              <a:ext cx="19783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FFFFFF"/>
                  </a:solidFill>
                  <a:latin typeface="Georgia"/>
                  <a:ea typeface="Georgia"/>
                  <a:cs typeface="Georgia"/>
                </a:rPr>
                <a:t>L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933478" y="3399949"/>
              <a:ext cx="30674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n × r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9476918" y="2570798"/>
              <a:ext cx="17236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950" dirty="0">
                  <a:solidFill>
                    <a:schemeClr val="dk2"/>
                  </a:solidFill>
                  <a:latin typeface="Georgia"/>
                  <a:ea typeface="Georgia"/>
                  <a:cs typeface="Georgia"/>
                </a:rPr>
                <a:t>·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9791700" y="2362200"/>
              <a:ext cx="1524000" cy="495300"/>
            </a:xfrm>
            <a:prstGeom prst="roundRect">
              <a:avLst>
                <a:gd name="adj" fmla="val 11538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10454785" y="2491740"/>
              <a:ext cx="19783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chemeClr val="accent1"/>
                  </a:solidFill>
                  <a:latin typeface="Georgia"/>
                  <a:ea typeface="Georgia"/>
                  <a:cs typeface="Georgia"/>
                </a:rPr>
                <a:t>R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0400328" y="2961799"/>
              <a:ext cx="30674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r × d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0103682" y="2036445"/>
              <a:ext cx="90003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7A46"/>
                  </a:solidFill>
                  <a:latin typeface="+mn-lt"/>
                  <a:ea typeface="+mn-ea"/>
                  <a:cs typeface="+mn-cs"/>
                </a:rPr>
                <a:t>≈ 1 bit / entry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6667500" y="4000500"/>
            <a:ext cx="5825304" cy="902017"/>
            <a:chOff x="6667500" y="4000500"/>
            <a:chExt cx="5825304" cy="902017"/>
          </a:xfrm>
        </p:grpSpPr>
        <p:sp>
          <p:nvSpPr>
            <p:cNvPr id="43" name="Rectangle 43"/>
            <p:cNvSpPr/>
            <p:nvPr/>
          </p:nvSpPr>
          <p:spPr>
            <a:xfrm>
              <a:off x="6667500" y="4000500"/>
              <a:ext cx="4914900" cy="857250"/>
            </a:xfrm>
            <a:prstGeom prst="roundRect">
              <a:avLst>
                <a:gd name="adj" fmla="val 13333"/>
              </a:avLst>
            </a:prstGeom>
            <a:solidFill>
              <a:schemeClr val="accent1"/>
            </a:solidFill>
            <a:ln>
              <a:noFill/>
            </a:ln>
            <a:effectLst>
              <a:outerShdw blurRad="76200" dist="28575" dir="5400000" algn="ctr" rotWithShape="0">
                <a:srgbClr val="0B2E52">
                  <a:alpha val="6000"/>
                </a:srgbClr>
              </a:outerShdw>
            </a:effectLst>
          </p:spPr>
        </p:sp>
        <p:sp>
          <p:nvSpPr>
            <p:cNvPr id="44" name="TextBox 44"/>
            <p:cNvSpPr txBox="1"/>
            <p:nvPr/>
          </p:nvSpPr>
          <p:spPr>
            <a:xfrm>
              <a:off x="6891147" y="4238149"/>
              <a:ext cx="366333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spc="9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EXTREME COMPRESSION · ACCURACY PRESERVED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884670" y="4462462"/>
              <a:ext cx="560813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250" b="1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≈ 1 bit / coord</a:t>
              </a:r>
              <a:r>
                <a:rPr lang="en-US" sz="1280" b="1" dirty="0">
                  <a:solidFill>
                    <a:srgbClr val="DBE3EE"/>
                  </a:solidFill>
                  <a:latin typeface="+mn-lt"/>
                  <a:ea typeface="+mn-ea"/>
                  <a:cs typeface="+mn-cs"/>
                </a:rPr>
                <a:t xml:space="preserve"> · images · embeddings · LlaMa-7b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6667500" y="4991100"/>
            <a:ext cx="4914900" cy="1276350"/>
            <a:chOff x="6667500" y="4991100"/>
            <a:chExt cx="4914900" cy="1276350"/>
          </a:xfrm>
        </p:grpSpPr>
        <p:sp>
          <p:nvSpPr>
            <p:cNvPr id="47" name="Rectangle 47"/>
            <p:cNvSpPr/>
            <p:nvPr/>
          </p:nvSpPr>
          <p:spPr>
            <a:xfrm>
              <a:off x="6667500" y="4991100"/>
              <a:ext cx="1619250" cy="1276350"/>
            </a:xfrm>
            <a:prstGeom prst="roundRect">
              <a:avLst>
                <a:gd name="adj" fmla="val 7463"/>
              </a:avLst>
            </a:prstGeom>
            <a:solidFill>
              <a:schemeClr val="lt1"/>
            </a:solidFill>
            <a:ln w="14288">
              <a:solidFill>
                <a:schemeClr val="accent4"/>
              </a:solidFill>
            </a:ln>
          </p:spPr>
        </p:sp>
        <p:pic>
          <p:nvPicPr>
            <p:cNvPr id="48" name="Image 4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819900" y="5143500"/>
              <a:ext cx="971550" cy="971550"/>
            </a:xfrm>
            <a:prstGeom prst="rect">
              <a:avLst/>
            </a:prstGeom>
          </p:spPr>
        </p:pic>
        <p:sp>
          <p:nvSpPr>
            <p:cNvPr id="49" name="TextBox 49"/>
            <p:cNvSpPr txBox="1"/>
            <p:nvPr/>
          </p:nvSpPr>
          <p:spPr>
            <a:xfrm>
              <a:off x="7881747" y="5285899"/>
              <a:ext cx="31897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Code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881938" y="5511641"/>
              <a:ext cx="35256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GitHub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881938" y="5664041"/>
              <a:ext cx="50627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pilancilab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8439150" y="4991100"/>
              <a:ext cx="3143250" cy="1276350"/>
            </a:xfrm>
            <a:prstGeom prst="roundRect">
              <a:avLst>
                <a:gd name="adj" fmla="val 7463"/>
              </a:avLst>
            </a:prstGeom>
            <a:solidFill>
              <a:schemeClr val="lt2"/>
            </a:solidFill>
            <a:ln w="14288">
              <a:solidFill>
                <a:schemeClr val="accent4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8624888" y="5122545"/>
              <a:ext cx="150347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b="1" spc="9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AFFILIATION · VENUE</a:t>
              </a:r>
            </a:p>
          </p:txBody>
        </p:sp>
        <p:pic>
          <p:nvPicPr>
            <p:cNvPr id="54" name="Image 5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572500" y="5304310"/>
              <a:ext cx="3009900" cy="630881"/>
            </a:xfrm>
            <a:prstGeom prst="rect">
              <a:avLst/>
            </a:prstGeom>
          </p:spPr>
        </p:pic>
        <p:pic>
          <p:nvPicPr>
            <p:cNvPr id="55" name="Image 55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726957" y="5981700"/>
              <a:ext cx="567386" cy="247650"/>
            </a:xfrm>
            <a:prstGeom prst="rect">
              <a:avLst/>
            </a:prstGeom>
          </p:spPr>
        </p:pic>
      </p:grpSp>
      <p:sp>
        <p:nvSpPr>
          <p:cNvPr id="57" name="TextBox 57"/>
          <p:cNvSpPr txBox="1"/>
          <p:nvPr/>
        </p:nvSpPr>
        <p:spPr>
          <a:xfrm>
            <a:off x="11207836" y="6578441"/>
            <a:ext cx="379326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82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01 / 10</a:t>
            </a:r>
          </a:p>
        </p:txBody>
      </p:sp>
      <p:sp>
        <p:nvSpPr>
          <p:cNvPr id="58" name="cue_s01_c1_modern_matrices_hold_billions_entrie" title="cue_s01_c1_modern_matrices_hold_billions_entrie" descr="cue_s01_c1_modern_matrices_hold_billions_entrie Modern matrices can hold billions of entries, yet they're often nearly low rank."/>
          <p:cNvSpPr/>
          <p:nvPr/>
        </p:nvSpPr>
        <p:spPr>
          <a:xfrm>
            <a:off x="609600" y="3276752"/>
            <a:ext cx="5715609" cy="1127455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cue_s01_c2_stanford_work_introduces_lplr_random" title="cue_s01_c2_stanford_work_introduces_lplr_random" descr="cue_s01_c2_stanford_work_introduces_lplr_random This Stanford work introduces LPLR, a randomized algorithm that factorizes any matrix into two low-rank factors, then quantizes them to low precision, compressing to one bit per coordinate while matching prior compression on images, embeddings, and LlaMa-7b we"/>
          <p:cNvSpPr/>
          <p:nvPr/>
        </p:nvSpPr>
        <p:spPr>
          <a:xfrm>
            <a:off x="609600" y="4457700"/>
            <a:ext cx="5715609" cy="1127455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09600" y="533400"/>
            <a:ext cx="5243093" cy="675989"/>
            <a:chOff x="609600" y="533400"/>
            <a:chExt cx="5243093" cy="675989"/>
          </a:xfrm>
        </p:grpSpPr>
        <p:sp>
          <p:nvSpPr>
            <p:cNvPr id="2" name="Rectangle 2"/>
            <p:cNvSpPr/>
            <p:nvPr/>
          </p:nvSpPr>
          <p:spPr>
            <a:xfrm>
              <a:off x="609600" y="533400"/>
              <a:ext cx="57150" cy="381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825246" y="562928"/>
              <a:ext cx="502744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5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Big matrices, one open gap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833247" y="1018699"/>
              <a:ext cx="423223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spc="112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PROBLEM · WHY MATRIX COMPRESSION IS STILL HARD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609600" y="1428750"/>
            <a:ext cx="10972800" cy="1219200"/>
            <a:chOff x="609600" y="1428750"/>
            <a:chExt cx="10972800" cy="1219200"/>
          </a:xfrm>
        </p:grpSpPr>
        <p:sp>
          <p:nvSpPr>
            <p:cNvPr id="6" name="Rectangle 6"/>
            <p:cNvSpPr/>
            <p:nvPr/>
          </p:nvSpPr>
          <p:spPr>
            <a:xfrm>
              <a:off x="609600" y="1428750"/>
              <a:ext cx="10972800" cy="1219200"/>
            </a:xfrm>
            <a:prstGeom prst="roundRect">
              <a:avLst>
                <a:gd name="adj" fmla="val 7812"/>
              </a:avLst>
            </a:prstGeom>
            <a:solidFill>
              <a:schemeClr val="lt1"/>
            </a:solidFill>
            <a:ln w="14288">
              <a:solidFill>
                <a:schemeClr val="accent4"/>
              </a:solidFill>
            </a:ln>
            <a:effectLst>
              <a:outerShdw blurRad="76200" dist="28575" dir="5400000" algn="ctr" rotWithShape="0">
                <a:srgbClr val="0B2E52">
                  <a:alpha val="6000"/>
                </a:srgbClr>
              </a:outerShdw>
            </a:effectLst>
          </p:spPr>
        </p:sp>
        <p:sp>
          <p:nvSpPr>
            <p:cNvPr id="7" name="Rectangle 7"/>
            <p:cNvSpPr/>
            <p:nvPr/>
          </p:nvSpPr>
          <p:spPr>
            <a:xfrm>
              <a:off x="609600" y="1428750"/>
              <a:ext cx="57150" cy="1219200"/>
            </a:xfrm>
            <a:prstGeom prst="roundRect">
              <a:avLst>
                <a:gd name="adj" fmla="val 50000"/>
              </a:avLst>
            </a:prstGeom>
            <a:solidFill>
              <a:srgbClr val="C0392B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28929" y="1695450"/>
              <a:ext cx="523342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3000" b="1" dirty="0">
                  <a:solidFill>
                    <a:srgbClr val="C0392B"/>
                  </a:solidFill>
                  <a:latin typeface="Georgia"/>
                  <a:ea typeface="Georgia"/>
                  <a:cs typeface="Georgia"/>
                </a:rPr>
                <a:t>01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1428750" y="1657350"/>
              <a:ext cx="9525" cy="762000"/>
            </a:xfrm>
            <a:custGeom>
              <a:avLst/>
              <a:gdLst/>
              <a:ahLst/>
              <a:cxnLst/>
              <a:rect l="l" t="t" r="r" b="b"/>
              <a:pathLst>
                <a:path w="9525" h="762000">
                  <a:moveTo>
                    <a:pt x="0" y="0"/>
                  </a:moveTo>
                  <a:lnTo>
                    <a:pt x="0" y="76200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728597" y="1704499"/>
              <a:ext cx="85694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spc="90" dirty="0">
                  <a:solidFill>
                    <a:srgbClr val="C0392B"/>
                  </a:solidFill>
                  <a:latin typeface="+mn-lt"/>
                  <a:ea typeface="+mn-ea"/>
                  <a:cs typeface="+mn-cs"/>
                </a:rPr>
                <a:t>THE STRAIN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725549" y="1944529"/>
              <a:ext cx="4799225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8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Modern matrices hold billions of elements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727454" y="2270760"/>
              <a:ext cx="843776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The workhorse of science and ML, but at scale, storing and processing them strains memory and compute.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609600" y="2800350"/>
            <a:ext cx="10972800" cy="1162050"/>
            <a:chOff x="609600" y="2800350"/>
            <a:chExt cx="10972800" cy="1162050"/>
          </a:xfrm>
        </p:grpSpPr>
        <p:sp>
          <p:nvSpPr>
            <p:cNvPr id="14" name="Rectangle 14"/>
            <p:cNvSpPr/>
            <p:nvPr/>
          </p:nvSpPr>
          <p:spPr>
            <a:xfrm>
              <a:off x="609600" y="2800350"/>
              <a:ext cx="10972800" cy="1162050"/>
            </a:xfrm>
            <a:prstGeom prst="roundRect">
              <a:avLst>
                <a:gd name="adj" fmla="val 8197"/>
              </a:avLst>
            </a:prstGeom>
            <a:solidFill>
              <a:schemeClr val="accent6"/>
            </a:solidFill>
            <a:ln w="14288">
              <a:solidFill>
                <a:schemeClr val="accent2"/>
              </a:solidFill>
            </a:ln>
            <a:effectLst>
              <a:outerShdw blurRad="76200" dist="28575" dir="5400000" algn="ctr" rotWithShape="0">
                <a:srgbClr val="0B2E52">
                  <a:alpha val="6000"/>
                </a:srgbClr>
              </a:outerShdw>
            </a:effectLst>
          </p:spPr>
        </p:sp>
        <p:sp>
          <p:nvSpPr>
            <p:cNvPr id="15" name="Rectangle 15"/>
            <p:cNvSpPr/>
            <p:nvPr/>
          </p:nvSpPr>
          <p:spPr>
            <a:xfrm>
              <a:off x="609600" y="2800350"/>
              <a:ext cx="57150" cy="116205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28929" y="3028950"/>
              <a:ext cx="523342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3000" b="1" dirty="0">
                  <a:solidFill>
                    <a:schemeClr val="accent2"/>
                  </a:solidFill>
                  <a:latin typeface="Georgia"/>
                  <a:ea typeface="Georgia"/>
                  <a:cs typeface="Georgia"/>
                </a:rPr>
                <a:t>02</a:t>
              </a:r>
            </a:p>
          </p:txBody>
        </p:sp>
        <p:sp>
          <p:nvSpPr>
            <p:cNvPr id="17" name="Line 17"/>
            <p:cNvSpPr/>
            <p:nvPr/>
          </p:nvSpPr>
          <p:spPr>
            <a:xfrm>
              <a:off x="1428750" y="3009900"/>
              <a:ext cx="9525" cy="742950"/>
            </a:xfrm>
            <a:custGeom>
              <a:avLst/>
              <a:gdLst/>
              <a:ahLst/>
              <a:cxnLst/>
              <a:rect l="l" t="t" r="r" b="b"/>
              <a:pathLst>
                <a:path w="9525" h="742950">
                  <a:moveTo>
                    <a:pt x="0" y="0"/>
                  </a:moveTo>
                  <a:lnTo>
                    <a:pt x="0" y="742950"/>
                  </a:lnTo>
                </a:path>
              </a:pathLst>
            </a:custGeom>
            <a:noFill/>
            <a:ln w="9525">
              <a:solidFill>
                <a:srgbClr val="C6DAF5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728597" y="3057049"/>
              <a:ext cx="13820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spc="9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THE OPPORTUNITY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725549" y="3297079"/>
              <a:ext cx="3797801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8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Many are approximately low rank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727454" y="3623310"/>
              <a:ext cx="84502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Real-world matrices carry far less information than their size suggests — room to compress aggressively.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609600" y="4114800"/>
            <a:ext cx="10972800" cy="1219200"/>
            <a:chOff x="609600" y="4114800"/>
            <a:chExt cx="10972800" cy="1219200"/>
          </a:xfrm>
        </p:grpSpPr>
        <p:sp>
          <p:nvSpPr>
            <p:cNvPr id="22" name="Rectangle 22"/>
            <p:cNvSpPr/>
            <p:nvPr/>
          </p:nvSpPr>
          <p:spPr>
            <a:xfrm>
              <a:off x="609600" y="4114800"/>
              <a:ext cx="10972800" cy="1219200"/>
            </a:xfrm>
            <a:prstGeom prst="roundRect">
              <a:avLst>
                <a:gd name="adj" fmla="val 7812"/>
              </a:avLst>
            </a:prstGeom>
            <a:solidFill>
              <a:schemeClr val="accent1"/>
            </a:solidFill>
            <a:ln>
              <a:noFill/>
            </a:ln>
            <a:effectLst>
              <a:outerShdw blurRad="76200" dist="28575" dir="5400000" algn="ctr" rotWithShape="0">
                <a:srgbClr val="0B2E52">
                  <a:alpha val="6000"/>
                </a:srgbClr>
              </a:outerShdw>
            </a:effectLst>
          </p:spPr>
        </p:sp>
        <p:sp>
          <p:nvSpPr>
            <p:cNvPr id="23" name="Rectangle 23"/>
            <p:cNvSpPr/>
            <p:nvPr/>
          </p:nvSpPr>
          <p:spPr>
            <a:xfrm>
              <a:off x="609600" y="4114800"/>
              <a:ext cx="57150" cy="12192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28929" y="4400550"/>
              <a:ext cx="523342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3000" b="1" dirty="0">
                  <a:solidFill>
                    <a:schemeClr val="accent3"/>
                  </a:solidFill>
                  <a:latin typeface="Georgia"/>
                  <a:ea typeface="Georgia"/>
                  <a:cs typeface="Georgia"/>
                </a:rPr>
                <a:t>03</a:t>
              </a:r>
            </a:p>
          </p:txBody>
        </p:sp>
        <p:sp>
          <p:nvSpPr>
            <p:cNvPr id="25" name="Line 25"/>
            <p:cNvSpPr/>
            <p:nvPr/>
          </p:nvSpPr>
          <p:spPr>
            <a:xfrm>
              <a:off x="1428750" y="4343400"/>
              <a:ext cx="9525" cy="762000"/>
            </a:xfrm>
            <a:custGeom>
              <a:avLst/>
              <a:gdLst/>
              <a:ahLst/>
              <a:cxnLst/>
              <a:rect l="l" t="t" r="r" b="b"/>
              <a:pathLst>
                <a:path w="9525" h="762000">
                  <a:moveTo>
                    <a:pt x="0" y="0"/>
                  </a:moveTo>
                  <a:lnTo>
                    <a:pt x="0" y="762000"/>
                  </a:lnTo>
                </a:path>
              </a:pathLst>
            </a:custGeom>
            <a:noFill/>
            <a:ln w="9525">
              <a:solidFill>
                <a:schemeClr val="accent2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1728597" y="4390549"/>
              <a:ext cx="15612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spc="9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THE OPEN QUESTION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725549" y="4630579"/>
              <a:ext cx="5001841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80" b="1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Combine both — with provable error control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727454" y="4956810"/>
              <a:ext cx="882989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DBE3EE"/>
                  </a:solidFill>
                  <a:latin typeface="+mn-lt"/>
                  <a:ea typeface="+mn-ea"/>
                  <a:cs typeface="+mn-cs"/>
                </a:rPr>
                <a:t>Prior methods used low-rank structure or low-precision alone; fusing both into one factorization stayed open.</a:t>
              </a:r>
            </a:p>
          </p:txBody>
        </p:sp>
      </p:grpSp>
      <p:sp>
        <p:nvSpPr>
          <p:cNvPr id="30" name="TextBox 30"/>
          <p:cNvSpPr txBox="1"/>
          <p:nvPr/>
        </p:nvSpPr>
        <p:spPr>
          <a:xfrm>
            <a:off x="11207836" y="6578441"/>
            <a:ext cx="379326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82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02 / 10</a:t>
            </a:r>
          </a:p>
        </p:txBody>
      </p:sp>
      <p:sp>
        <p:nvSpPr>
          <p:cNvPr id="31" name="cue_s02_c1_matrices_everywhere_science_machine" title="cue_s02_c1_matrices_everywhere_science_machine" descr="cue_s02_c1_matrices_everywhere_science_machine Matrices are everywhere in science and machine learning, but modern ones hold billions of elements that strain memory and compute."/>
          <p:cNvSpPr/>
          <p:nvPr/>
        </p:nvSpPr>
        <p:spPr>
          <a:xfrm>
            <a:off x="609600" y="1428521"/>
            <a:ext cx="10972800" cy="1219352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cue_s02_c2_luckily_many_approximately_low_rank" title="cue_s02_c2_luckily_many_approximately_low_rank" descr="cue_s02_c2_luckily_many_approximately_low_rank Luckily, many are approximately low rank."/>
          <p:cNvSpPr/>
          <p:nvPr/>
        </p:nvSpPr>
        <p:spPr>
          <a:xfrm>
            <a:off x="609600" y="2800121"/>
            <a:ext cx="10972800" cy="1161745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cue_s02_c3_prior_work_exploited_either_low_rank" title="cue_s02_c3_prior_work_exploited_either_low_rank" descr="cue_s02_c3_prior_work_exploited_either_low_rank Prior work exploited either low-rank structure or low-precision quantization alone; combining both in one factorization, with provable error control, stayed open."/>
          <p:cNvSpPr/>
          <p:nvPr/>
        </p:nvSpPr>
        <p:spPr>
          <a:xfrm>
            <a:off x="609600" y="4114800"/>
            <a:ext cx="10972800" cy="1219352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09600" y="533400"/>
            <a:ext cx="6763804" cy="675989"/>
            <a:chOff x="609600" y="533400"/>
            <a:chExt cx="6763804" cy="675989"/>
          </a:xfrm>
        </p:grpSpPr>
        <p:sp>
          <p:nvSpPr>
            <p:cNvPr id="2" name="Rectangle 2"/>
            <p:cNvSpPr/>
            <p:nvPr/>
          </p:nvSpPr>
          <p:spPr>
            <a:xfrm>
              <a:off x="609600" y="533400"/>
              <a:ext cx="57150" cy="381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825246" y="562928"/>
              <a:ext cx="654815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5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Cheap in theory, tricky in practice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833247" y="1018699"/>
              <a:ext cx="458137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spc="112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MOTIVATION · WHY A FAST RANDOMIZED ROUTE IS NEEDED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609600" y="1428750"/>
            <a:ext cx="5334000" cy="4286250"/>
            <a:chOff x="609600" y="1428750"/>
            <a:chExt cx="5334000" cy="4286250"/>
          </a:xfrm>
        </p:grpSpPr>
        <p:sp>
          <p:nvSpPr>
            <p:cNvPr id="6" name="Rectangle 6"/>
            <p:cNvSpPr/>
            <p:nvPr/>
          </p:nvSpPr>
          <p:spPr>
            <a:xfrm>
              <a:off x="609600" y="1428750"/>
              <a:ext cx="5334000" cy="4286250"/>
            </a:xfrm>
            <a:prstGeom prst="roundRect">
              <a:avLst>
                <a:gd name="adj" fmla="val 2667"/>
              </a:avLst>
            </a:prstGeom>
            <a:solidFill>
              <a:schemeClr val="lt1"/>
            </a:solidFill>
            <a:ln w="14288">
              <a:solidFill>
                <a:schemeClr val="accent4"/>
              </a:solidFill>
            </a:ln>
            <a:effectLst>
              <a:outerShdw blurRad="76200" dist="28575" dir="5400000" algn="ctr" rotWithShape="0">
                <a:srgbClr val="0B2E52">
                  <a:alpha val="6000"/>
                </a:srgbClr>
              </a:outerShdw>
            </a:effectLst>
          </p:spPr>
        </p:sp>
        <p:sp>
          <p:nvSpPr>
            <p:cNvPr id="7" name="Rectangle 7"/>
            <p:cNvSpPr/>
            <p:nvPr/>
          </p:nvSpPr>
          <p:spPr>
            <a:xfrm>
              <a:off x="609600" y="1428750"/>
              <a:ext cx="57150" cy="428625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09447" y="1685449"/>
              <a:ext cx="259126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spc="9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THE IDEA · TWO SAVINGS AT ONCE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906018" y="1917382"/>
              <a:ext cx="384432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Fewer entries, then fewer bits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914400" y="2305050"/>
              <a:ext cx="4743450" cy="1905000"/>
            </a:xfrm>
            <a:prstGeom prst="roundRect">
              <a:avLst>
                <a:gd name="adj" fmla="val 4000"/>
              </a:avLst>
            </a:pr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sp>
          <p:nvSpPr>
            <p:cNvPr id="11" name="Rectangle 11"/>
            <p:cNvSpPr/>
            <p:nvPr/>
          </p:nvSpPr>
          <p:spPr>
            <a:xfrm>
              <a:off x="1333500" y="2724150"/>
              <a:ext cx="990600" cy="990600"/>
            </a:xfrm>
            <a:prstGeom prst="roundRect">
              <a:avLst>
                <a:gd name="adj" fmla="val 5769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705156" y="3052762"/>
              <a:ext cx="247288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250" b="1" dirty="0">
                  <a:solidFill>
                    <a:srgbClr val="FFFFFF"/>
                  </a:solidFill>
                  <a:latin typeface="Georgia"/>
                  <a:ea typeface="Georgia"/>
                  <a:cs typeface="Georgia"/>
                </a:rPr>
                <a:t>A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474239" y="3819049"/>
              <a:ext cx="70912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n × d dense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542718" y="3085148"/>
              <a:ext cx="17236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950" dirty="0">
                  <a:solidFill>
                    <a:schemeClr val="dk2"/>
                  </a:solidFill>
                  <a:latin typeface="Georgia"/>
                  <a:ea typeface="Georgia"/>
                  <a:cs typeface="Georgia"/>
                </a:rPr>
                <a:t>=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3009900" y="2724150"/>
              <a:ext cx="400050" cy="990600"/>
            </a:xfrm>
            <a:prstGeom prst="roundRect">
              <a:avLst>
                <a:gd name="adj" fmla="val 11905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135739" y="3149918"/>
              <a:ext cx="14837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FFFFF"/>
                  </a:solidFill>
                  <a:latin typeface="Georgia"/>
                  <a:ea typeface="Georgia"/>
                  <a:cs typeface="Georgia"/>
                </a:rPr>
                <a:t>L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102178" y="3827145"/>
              <a:ext cx="215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tall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527527" y="3117532"/>
              <a:ext cx="14584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dirty="0">
                  <a:solidFill>
                    <a:schemeClr val="dk2"/>
                  </a:solidFill>
                  <a:latin typeface="Georgia"/>
                  <a:ea typeface="Georgia"/>
                  <a:cs typeface="Georgia"/>
                </a:rPr>
                <a:t>·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3848100" y="2895600"/>
              <a:ext cx="1219200" cy="400050"/>
            </a:xfrm>
            <a:prstGeom prst="roundRect">
              <a:avLst>
                <a:gd name="adj" fmla="val 11905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383514" y="3016568"/>
              <a:ext cx="14837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chemeClr val="accent1"/>
                  </a:solidFill>
                  <a:latin typeface="Georgia"/>
                  <a:ea typeface="Georgia"/>
                  <a:cs typeface="Georgia"/>
                </a:rPr>
                <a:t>R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322693" y="3484245"/>
              <a:ext cx="27001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wide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330649" y="3990499"/>
              <a:ext cx="191095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7A46"/>
                  </a:solidFill>
                  <a:latin typeface="+mn-lt"/>
                  <a:ea typeface="+mn-ea"/>
                  <a:cs typeface="+mn-cs"/>
                </a:rPr>
                <a:t>+ store L, R in low precision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08304" y="4442460"/>
              <a:ext cx="395930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A low-rank matrix splits into a tall factor times a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08304" y="4671060"/>
              <a:ext cx="417769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wide one — far fewer entries. Store those entries in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08304" y="4899660"/>
              <a:ext cx="317845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low precision and the savings compound.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6229350" y="1428750"/>
            <a:ext cx="5353050" cy="2057400"/>
            <a:chOff x="6229350" y="1428750"/>
            <a:chExt cx="5353050" cy="2057400"/>
          </a:xfrm>
        </p:grpSpPr>
        <p:sp>
          <p:nvSpPr>
            <p:cNvPr id="27" name="Rectangle 27"/>
            <p:cNvSpPr/>
            <p:nvPr/>
          </p:nvSpPr>
          <p:spPr>
            <a:xfrm>
              <a:off x="6229350" y="1428750"/>
              <a:ext cx="5353050" cy="2057400"/>
            </a:xfrm>
            <a:prstGeom prst="roundRect">
              <a:avLst>
                <a:gd name="adj" fmla="val 5556"/>
              </a:avLst>
            </a:prstGeom>
            <a:solidFill>
              <a:schemeClr val="lt1"/>
            </a:solidFill>
            <a:ln w="14288">
              <a:solidFill>
                <a:schemeClr val="accent4"/>
              </a:solidFill>
            </a:ln>
            <a:effectLst>
              <a:outerShdw blurRad="76200" dist="28575" dir="5400000" algn="ctr" rotWithShape="0">
                <a:srgbClr val="0B2E52">
                  <a:alpha val="6000"/>
                </a:srgbClr>
              </a:outerShdw>
            </a:effectLst>
          </p:spPr>
        </p:sp>
        <p:sp>
          <p:nvSpPr>
            <p:cNvPr id="28" name="Rectangle 28"/>
            <p:cNvSpPr/>
            <p:nvPr/>
          </p:nvSpPr>
          <p:spPr>
            <a:xfrm>
              <a:off x="6229350" y="1428750"/>
              <a:ext cx="57150" cy="2057400"/>
            </a:xfrm>
            <a:prstGeom prst="roundRect">
              <a:avLst>
                <a:gd name="adj" fmla="val 50000"/>
              </a:avLst>
            </a:prstGeom>
            <a:solidFill>
              <a:srgbClr val="C0392B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529197" y="1685449"/>
              <a:ext cx="8002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spc="90" dirty="0">
                  <a:solidFill>
                    <a:srgbClr val="C0392B"/>
                  </a:solidFill>
                  <a:latin typeface="+mn-lt"/>
                  <a:ea typeface="+mn-ea"/>
                  <a:cs typeface="+mn-cs"/>
                </a:rPr>
                <a:t>THE CATCH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526149" y="1925479"/>
              <a:ext cx="3745463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8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Crude quantization &amp; costly SVD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528054" y="2270760"/>
              <a:ext cx="418538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At very low bit budgets, naive quantization degrades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528054" y="2499360"/>
              <a:ext cx="432287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accuracy fast. And the exact route through a singular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528054" y="2727960"/>
              <a:ext cx="206380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value decomposition costs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6534150" y="3009900"/>
              <a:ext cx="1428750" cy="323850"/>
            </a:xfrm>
            <a:prstGeom prst="roundRect">
              <a:avLst>
                <a:gd name="adj" fmla="val 17647"/>
              </a:avLst>
            </a:prstGeom>
            <a:solidFill>
              <a:srgbClr val="FBEAE8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891796" y="3091339"/>
              <a:ext cx="71345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C0392B"/>
                  </a:solidFill>
                  <a:latin typeface="Consolas"/>
                  <a:ea typeface="Consolas"/>
                  <a:cs typeface="Consolas"/>
                </a:rPr>
                <a:t>O(n d²)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109204" y="3099435"/>
              <a:ext cx="163570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prohibitive at scale.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6229350" y="3657600"/>
            <a:ext cx="5353050" cy="2057400"/>
            <a:chOff x="6229350" y="3657600"/>
            <a:chExt cx="5353050" cy="2057400"/>
          </a:xfrm>
        </p:grpSpPr>
        <p:sp>
          <p:nvSpPr>
            <p:cNvPr id="38" name="Rectangle 38"/>
            <p:cNvSpPr/>
            <p:nvPr/>
          </p:nvSpPr>
          <p:spPr>
            <a:xfrm>
              <a:off x="6229350" y="3657600"/>
              <a:ext cx="5353050" cy="2057400"/>
            </a:xfrm>
            <a:prstGeom prst="roundRect">
              <a:avLst>
                <a:gd name="adj" fmla="val 5556"/>
              </a:avLst>
            </a:prstGeom>
            <a:solidFill>
              <a:schemeClr val="accent1"/>
            </a:solidFill>
            <a:ln>
              <a:noFill/>
            </a:ln>
            <a:effectLst>
              <a:outerShdw blurRad="76200" dist="28575" dir="5400000" algn="ctr" rotWithShape="0">
                <a:srgbClr val="0B2E52">
                  <a:alpha val="6000"/>
                </a:srgbClr>
              </a:outerShdw>
            </a:effectLst>
          </p:spPr>
        </p:sp>
        <p:sp>
          <p:nvSpPr>
            <p:cNvPr id="39" name="Rectangle 39"/>
            <p:cNvSpPr/>
            <p:nvPr/>
          </p:nvSpPr>
          <p:spPr>
            <a:xfrm>
              <a:off x="6229350" y="3657600"/>
              <a:ext cx="57150" cy="20574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529197" y="3914299"/>
              <a:ext cx="73620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spc="9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THE GOAL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526149" y="4154329"/>
              <a:ext cx="3891850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80" b="1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A fast, randomized factorization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528054" y="4537710"/>
              <a:ext cx="45571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DBE3EE"/>
                  </a:solidFill>
                  <a:latin typeface="+mn-lt"/>
                  <a:ea typeface="+mn-ea"/>
                  <a:cs typeface="+mn-cs"/>
                </a:rPr>
                <a:t>Obtain the low-rank and low-precision factors together,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528054" y="4766310"/>
              <a:ext cx="40991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DBE3EE"/>
                  </a:solidFill>
                  <a:latin typeface="+mn-lt"/>
                  <a:ea typeface="+mn-ea"/>
                  <a:cs typeface="+mn-cs"/>
                </a:rPr>
                <a:t>without a full SVD — while keeping the approximation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528054" y="4994910"/>
              <a:ext cx="306537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DBE3EE"/>
                  </a:solidFill>
                  <a:latin typeface="+mn-lt"/>
                  <a:ea typeface="+mn-ea"/>
                  <a:cs typeface="+mn-cs"/>
                </a:rPr>
                <a:t>error small and, crucially, analyzable.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528054" y="5337810"/>
              <a:ext cx="317258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i="1" dirty="0">
                  <a:solidFill>
                    <a:schemeClr val="accent3"/>
                  </a:solidFill>
                  <a:latin typeface="Georgia"/>
                  <a:ea typeface="Georgia"/>
                  <a:cs typeface="Georgia"/>
                </a:rPr>
                <a:t>Small, analyzable error — by design.</a:t>
              </a:r>
            </a:p>
          </p:txBody>
        </p:sp>
      </p:grpSp>
      <p:sp>
        <p:nvSpPr>
          <p:cNvPr id="47" name="TextBox 47"/>
          <p:cNvSpPr txBox="1"/>
          <p:nvPr/>
        </p:nvSpPr>
        <p:spPr>
          <a:xfrm>
            <a:off x="11207836" y="6578441"/>
            <a:ext cx="379326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82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03 / 10</a:t>
            </a:r>
          </a:p>
        </p:txBody>
      </p:sp>
      <p:sp>
        <p:nvSpPr>
          <p:cNvPr id="48" name="cue_s03_c1_matrix_low_rank_write_tall" title="cue_s03_c1_matrix_low_rank_write_tall" descr="cue_s03_c1_matrix_low_rank_write_tall If a matrix is low rank, we can write it as a tall factor times a wide one, and storing those in low precision saves more."/>
          <p:cNvSpPr/>
          <p:nvPr/>
        </p:nvSpPr>
        <p:spPr>
          <a:xfrm>
            <a:off x="609600" y="1428521"/>
            <a:ext cx="5334000" cy="4286250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cue_s03_c2_but_doing_crudely_low_bit" title="cue_s03_c2_but_doing_crudely_low_bit" descr="cue_s03_c2_but_doing_crudely_low_bit But doing this crudely at low bit budgets degrades accuracy fast, and the exact SVD route costs order n d squared, prohibitive at scale."/>
          <p:cNvSpPr/>
          <p:nvPr/>
        </p:nvSpPr>
        <p:spPr>
          <a:xfrm>
            <a:off x="6228892" y="1428521"/>
            <a:ext cx="5353507" cy="2057400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cue_s03_c3_seeks_randomized_way_get_both" title="cue_s03_c3_seeks_randomized_way_get_both" descr="cue_s03_c3_seeks_randomized_way_get_both It seeks a randomized way to get both factors with small, analyzable error."/>
          <p:cNvSpPr/>
          <p:nvPr/>
        </p:nvSpPr>
        <p:spPr>
          <a:xfrm>
            <a:off x="6228892" y="3657371"/>
            <a:ext cx="5353507" cy="2057400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09600" y="533400"/>
            <a:ext cx="5931631" cy="675989"/>
            <a:chOff x="609600" y="533400"/>
            <a:chExt cx="5931631" cy="675989"/>
          </a:xfrm>
        </p:grpSpPr>
        <p:sp>
          <p:nvSpPr>
            <p:cNvPr id="2" name="Rectangle 2"/>
            <p:cNvSpPr/>
            <p:nvPr/>
          </p:nvSpPr>
          <p:spPr>
            <a:xfrm>
              <a:off x="609600" y="533400"/>
              <a:ext cx="57150" cy="381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825246" y="562928"/>
              <a:ext cx="445147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5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What LPLR contributes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833247" y="1018699"/>
              <a:ext cx="570798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spc="112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CONTRIBUTION · ONE ALGORITHM, PROVABLE BOUNDS, A TUNABLE KNOB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609600" y="1428750"/>
            <a:ext cx="10972800" cy="1428750"/>
            <a:chOff x="609600" y="1428750"/>
            <a:chExt cx="10972800" cy="1428750"/>
          </a:xfrm>
        </p:grpSpPr>
        <p:sp>
          <p:nvSpPr>
            <p:cNvPr id="6" name="Rectangle 6"/>
            <p:cNvSpPr/>
            <p:nvPr/>
          </p:nvSpPr>
          <p:spPr>
            <a:xfrm>
              <a:off x="609600" y="1428750"/>
              <a:ext cx="10972800" cy="1428750"/>
            </a:xfrm>
            <a:prstGeom prst="roundRect">
              <a:avLst>
                <a:gd name="adj" fmla="val 8000"/>
              </a:avLst>
            </a:prstGeom>
            <a:solidFill>
              <a:schemeClr val="accent6"/>
            </a:solidFill>
            <a:ln w="14288">
              <a:solidFill>
                <a:schemeClr val="accent2"/>
              </a:solidFill>
            </a:ln>
            <a:effectLst>
              <a:outerShdw blurRad="76200" dist="28575" dir="5400000" algn="ctr" rotWithShape="0">
                <a:srgbClr val="0B2E52">
                  <a:alpha val="6000"/>
                </a:srgbClr>
              </a:outerShdw>
            </a:effectLst>
          </p:spPr>
        </p:sp>
        <p:sp>
          <p:nvSpPr>
            <p:cNvPr id="7" name="Rectangle 7"/>
            <p:cNvSpPr/>
            <p:nvPr/>
          </p:nvSpPr>
          <p:spPr>
            <a:xfrm>
              <a:off x="609600" y="1428750"/>
              <a:ext cx="57150" cy="142875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09447" y="1666399"/>
              <a:ext cx="177533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spc="9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THE ALGORITHM · LPLR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904494" y="1923098"/>
              <a:ext cx="561181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Low-Precision Low-Rank factorization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07923" y="2319814"/>
              <a:ext cx="816894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A single randomized algorithm that simultaneously exploits low-rank structure and quantizes the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07923" y="2567464"/>
              <a:ext cx="600085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resulting factors to low precision — both savings captured in one pass.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609600" y="3009900"/>
            <a:ext cx="5353050" cy="2705100"/>
            <a:chOff x="609600" y="3009900"/>
            <a:chExt cx="5353050" cy="2705100"/>
          </a:xfrm>
        </p:grpSpPr>
        <p:sp>
          <p:nvSpPr>
            <p:cNvPr id="13" name="Rectangle 13"/>
            <p:cNvSpPr/>
            <p:nvPr/>
          </p:nvSpPr>
          <p:spPr>
            <a:xfrm>
              <a:off x="609600" y="3009900"/>
              <a:ext cx="5353050" cy="2705100"/>
            </a:xfrm>
            <a:prstGeom prst="roundRect">
              <a:avLst>
                <a:gd name="adj" fmla="val 4225"/>
              </a:avLst>
            </a:prstGeom>
            <a:solidFill>
              <a:schemeClr val="lt1"/>
            </a:solidFill>
            <a:ln w="14288">
              <a:solidFill>
                <a:schemeClr val="accent4"/>
              </a:solidFill>
            </a:ln>
            <a:effectLst>
              <a:outerShdw blurRad="76200" dist="28575" dir="5400000" algn="ctr" rotWithShape="0">
                <a:srgbClr val="0B2E52">
                  <a:alpha val="6000"/>
                </a:srgbClr>
              </a:outerShdw>
            </a:effectLst>
          </p:spPr>
        </p:sp>
        <p:sp>
          <p:nvSpPr>
            <p:cNvPr id="14" name="Rectangle 14"/>
            <p:cNvSpPr/>
            <p:nvPr/>
          </p:nvSpPr>
          <p:spPr>
            <a:xfrm>
              <a:off x="609600" y="3009900"/>
              <a:ext cx="57150" cy="27051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9447" y="3247549"/>
              <a:ext cx="176253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spc="9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PROVABLE GUARANTEES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06399" y="3487579"/>
              <a:ext cx="2593287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8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Rigorous error bounds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08304" y="3832860"/>
              <a:ext cx="425830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Upper bounds on the approximation error, in terms of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08304" y="4061460"/>
              <a:ext cx="387309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the target rank and the quantization bit budget.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914400" y="4400550"/>
              <a:ext cx="4743450" cy="571500"/>
            </a:xfrm>
            <a:prstGeom prst="roundRect">
              <a:avLst>
                <a:gd name="adj" fmla="val 13333"/>
              </a:avLst>
            </a:pr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137666" y="4534852"/>
              <a:ext cx="11711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A TUNABLE KNOB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137285" y="4736306"/>
              <a:ext cx="394427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A clean compression-vs-accuracy tradeoff to dial in.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08304" y="5166360"/>
              <a:ext cx="424212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Error depends on rank and bits — so practitioners can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08304" y="5394960"/>
              <a:ext cx="358231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trade compression for accuracy predictably.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6229350" y="3009900"/>
            <a:ext cx="5353050" cy="2705100"/>
            <a:chOff x="6229350" y="3009900"/>
            <a:chExt cx="5353050" cy="2705100"/>
          </a:xfrm>
        </p:grpSpPr>
        <p:sp>
          <p:nvSpPr>
            <p:cNvPr id="25" name="Rectangle 25"/>
            <p:cNvSpPr/>
            <p:nvPr/>
          </p:nvSpPr>
          <p:spPr>
            <a:xfrm>
              <a:off x="6229350" y="3009900"/>
              <a:ext cx="5353050" cy="2705100"/>
            </a:xfrm>
            <a:prstGeom prst="roundRect">
              <a:avLst>
                <a:gd name="adj" fmla="val 4225"/>
              </a:avLst>
            </a:prstGeom>
            <a:solidFill>
              <a:schemeClr val="lt1"/>
            </a:solidFill>
            <a:ln w="14288">
              <a:solidFill>
                <a:schemeClr val="accent4"/>
              </a:solidFill>
            </a:ln>
            <a:effectLst>
              <a:outerShdw blurRad="76200" dist="28575" dir="5400000" algn="ctr" rotWithShape="0">
                <a:srgbClr val="0B2E52">
                  <a:alpha val="6000"/>
                </a:srgbClr>
              </a:outerShdw>
            </a:effectLst>
          </p:spPr>
        </p:sp>
        <p:sp>
          <p:nvSpPr>
            <p:cNvPr id="26" name="Rectangle 26"/>
            <p:cNvSpPr/>
            <p:nvPr/>
          </p:nvSpPr>
          <p:spPr>
            <a:xfrm>
              <a:off x="6229350" y="3009900"/>
              <a:ext cx="57150" cy="27051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529197" y="3247549"/>
              <a:ext cx="274859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spc="9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A VARIANT · AND BROAD VALIDATION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526149" y="3487579"/>
              <a:ext cx="3292853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8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LPLR-SVD, validated widely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528054" y="3832860"/>
              <a:ext cx="40348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An SVD-based variant, LPLR-SVD, complements the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528054" y="4061460"/>
              <a:ext cx="375750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randomized method. Both are validated across: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6534150" y="4381500"/>
              <a:ext cx="1504950" cy="1143000"/>
            </a:xfrm>
            <a:prstGeom prst="roundRect">
              <a:avLst>
                <a:gd name="adj" fmla="val 6667"/>
              </a:avLst>
            </a:pr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993804" y="4590098"/>
              <a:ext cx="585643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950" b="1" dirty="0">
                  <a:solidFill>
                    <a:schemeClr val="accent2"/>
                  </a:solidFill>
                  <a:latin typeface="Georgia"/>
                  <a:ea typeface="Georgia"/>
                  <a:cs typeface="Georgia"/>
                </a:rPr>
                <a:t>IMG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037836" y="4992052"/>
              <a:ext cx="4975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Images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790242" y="5209699"/>
              <a:ext cx="99276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reconstruction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8153400" y="4381500"/>
              <a:ext cx="1504950" cy="1143000"/>
            </a:xfrm>
            <a:prstGeom prst="roundRect">
              <a:avLst>
                <a:gd name="adj" fmla="val 6667"/>
              </a:avLst>
            </a:pr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8506960" y="4551998"/>
              <a:ext cx="797829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950" b="1" dirty="0">
                  <a:solidFill>
                    <a:schemeClr val="accent2"/>
                  </a:solidFill>
                  <a:latin typeface="Georgia"/>
                  <a:ea typeface="Georgia"/>
                  <a:cs typeface="Georgia"/>
                </a:rPr>
                <a:t>3-NN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493811" y="4992052"/>
              <a:ext cx="8241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Embeddings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458965" y="5209699"/>
              <a:ext cx="89382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classification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9772650" y="4381500"/>
              <a:ext cx="1504950" cy="1143000"/>
            </a:xfrm>
            <a:prstGeom prst="roundRect">
              <a:avLst>
                <a:gd name="adj" fmla="val 6667"/>
              </a:avLst>
            </a:pr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10336439" y="4568190"/>
              <a:ext cx="37737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chemeClr val="accent2"/>
                  </a:solidFill>
                  <a:latin typeface="Georgia"/>
                  <a:ea typeface="Georgia"/>
                  <a:cs typeface="Georgia"/>
                </a:rPr>
                <a:t>7B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0190890" y="4992052"/>
              <a:ext cx="6684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LlaMa-7b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0269510" y="5209699"/>
              <a:ext cx="51123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weights</a:t>
              </a:r>
            </a:p>
          </p:txBody>
        </p:sp>
      </p:grpSp>
      <p:sp>
        <p:nvSpPr>
          <p:cNvPr id="44" name="TextBox 44"/>
          <p:cNvSpPr txBox="1"/>
          <p:nvPr/>
        </p:nvSpPr>
        <p:spPr>
          <a:xfrm>
            <a:off x="11207836" y="6578441"/>
            <a:ext cx="379326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82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04 / 10</a:t>
            </a:r>
          </a:p>
        </p:txBody>
      </p:sp>
      <p:sp>
        <p:nvSpPr>
          <p:cNvPr id="45" name="cue_s04_c1_core_contribution_lplr_low_precision" title="cue_s04_c1_core_contribution_lplr_low_precision" descr="cue_s04_c1_core_contribution_lplr_low_precision The core contribution is LPLR, Low-Precision Low-Rank factorization: a randomized algorithm that exploits low-rank structure and quantizes the resulting factors."/>
          <p:cNvSpPr/>
          <p:nvPr/>
        </p:nvSpPr>
        <p:spPr>
          <a:xfrm>
            <a:off x="609600" y="1428521"/>
            <a:ext cx="10972800" cy="1428521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cue_s04_c2_authors_derive_rigorous_upper_bounds" title="cue_s04_c2_authors_derive_rigorous_upper_bounds" descr="cue_s04_c2_authors_derive_rigorous_upper_bounds The authors derive rigorous upper bounds on the approximation error in terms of target rank and bit budget, exposing a tunable compression-accuracy tradeoff."/>
          <p:cNvSpPr/>
          <p:nvPr/>
        </p:nvSpPr>
        <p:spPr>
          <a:xfrm>
            <a:off x="609600" y="3009976"/>
            <a:ext cx="5353507" cy="2704795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cue_s04_c3_they_add_svd_based_variant_lplr_svd" title="cue_s04_c3_they_add_svd_based_variant_lplr_svd" descr="cue_s04_c3_they_add_svd_based_variant_lplr_svd They add an SVD-based variant, LPLR-SVD, and validate on images, embedding classification, and LlaMa-7b weights."/>
          <p:cNvSpPr/>
          <p:nvPr/>
        </p:nvSpPr>
        <p:spPr>
          <a:xfrm>
            <a:off x="6228892" y="3009976"/>
            <a:ext cx="5353507" cy="2704795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09600" y="457200"/>
            <a:ext cx="6467605" cy="675989"/>
            <a:chOff x="609600" y="457200"/>
            <a:chExt cx="6467605" cy="675989"/>
          </a:xfrm>
        </p:grpSpPr>
        <p:sp>
          <p:nvSpPr>
            <p:cNvPr id="2" name="Rectangle 2"/>
            <p:cNvSpPr/>
            <p:nvPr/>
          </p:nvSpPr>
          <p:spPr>
            <a:xfrm>
              <a:off x="609600" y="457200"/>
              <a:ext cx="57150" cy="381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825246" y="486728"/>
              <a:ext cx="317878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5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How LPLR works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833247" y="942499"/>
              <a:ext cx="624395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spc="112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METHOD · SKETCH → PROJECT → QUANTIZE, WITH AN EQUALIZATION GUARANTEE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609600" y="1257300"/>
            <a:ext cx="10972800" cy="476250"/>
            <a:chOff x="609600" y="1257300"/>
            <a:chExt cx="10972800" cy="476250"/>
          </a:xfrm>
        </p:grpSpPr>
        <p:sp>
          <p:nvSpPr>
            <p:cNvPr id="6" name="Rectangle 6"/>
            <p:cNvSpPr/>
            <p:nvPr/>
          </p:nvSpPr>
          <p:spPr>
            <a:xfrm>
              <a:off x="609600" y="1257300"/>
              <a:ext cx="10972800" cy="476250"/>
            </a:xfrm>
            <a:prstGeom prst="roundRect">
              <a:avLst>
                <a:gd name="adj" fmla="val 16000"/>
              </a:avLst>
            </a:pr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32104" y="1423035"/>
              <a:ext cx="822484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LPLR runs in a few steps</a:t>
              </a:r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 xml:space="preserve"> — a randomized rangefinder, a least-squares projection, and two quantizers.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609600" y="1905000"/>
            <a:ext cx="5219700" cy="1965484"/>
            <a:chOff x="609600" y="1905000"/>
            <a:chExt cx="5219700" cy="1965484"/>
          </a:xfrm>
        </p:grpSpPr>
        <p:sp>
          <p:nvSpPr>
            <p:cNvPr id="9" name="Rectangle 9"/>
            <p:cNvSpPr/>
            <p:nvPr/>
          </p:nvSpPr>
          <p:spPr>
            <a:xfrm>
              <a:off x="609600" y="1905000"/>
              <a:ext cx="5219700" cy="1943100"/>
            </a:xfrm>
            <a:prstGeom prst="roundRect">
              <a:avLst>
                <a:gd name="adj" fmla="val 5882"/>
              </a:avLst>
            </a:prstGeom>
            <a:solidFill>
              <a:schemeClr val="lt1"/>
            </a:solidFill>
            <a:ln w="14288">
              <a:solidFill>
                <a:schemeClr val="accent4"/>
              </a:solidFill>
            </a:ln>
            <a:effectLst>
              <a:outerShdw blurRad="76200" dist="28575" dir="5400000" algn="ctr" rotWithShape="0">
                <a:srgbClr val="0B2E52">
                  <a:alpha val="6000"/>
                </a:srgbClr>
              </a:outerShdw>
            </a:effectLst>
          </p:spPr>
        </p:sp>
        <p:sp>
          <p:nvSpPr>
            <p:cNvPr id="10" name="Rectangle 10"/>
            <p:cNvSpPr/>
            <p:nvPr/>
          </p:nvSpPr>
          <p:spPr>
            <a:xfrm>
              <a:off x="609600" y="1905000"/>
              <a:ext cx="57150" cy="19431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9447" y="2123599"/>
              <a:ext cx="27284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spc="9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STEP 1 · RANDOMIZED RANGEFINDER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06780" y="2352675"/>
              <a:ext cx="352758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Sketch, then quantize the basis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914400" y="2686050"/>
              <a:ext cx="4610100" cy="400050"/>
            </a:xfrm>
            <a:prstGeom prst="roundRect">
              <a:avLst>
                <a:gd name="adj" fmla="val 14286"/>
              </a:avLst>
            </a:prstGeom>
            <a:solidFill>
              <a:srgbClr val="EAF0F9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060323" y="2805589"/>
              <a:ext cx="154231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A·S → Q(A·S) = L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08685" y="3231356"/>
              <a:ext cx="346928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Draw a Gaussian sketch S; the product A·S is a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08685" y="3440906"/>
              <a:ext cx="34241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randomized rangefinder for A's column space.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08685" y="3650456"/>
              <a:ext cx="34865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Quantize it to the low-precision basis Q(A·S).</a:t>
              </a:r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5865731" y="2707005"/>
            <a:ext cx="193838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2100" b="1" dirty="0">
                <a:solidFill>
                  <a:schemeClr val="accent5"/>
                </a:solidFill>
                <a:latin typeface="Georgia"/>
                <a:ea typeface="Georgia"/>
                <a:cs typeface="Georgia"/>
              </a:rPr>
              <a:t>→</a:t>
            </a:r>
          </a:p>
        </p:txBody>
      </p:sp>
      <p:grpSp>
        <p:nvGrpSpPr>
          <p:cNvPr id="29" name="Group 29"/>
          <p:cNvGrpSpPr/>
          <p:nvPr/>
        </p:nvGrpSpPr>
        <p:grpSpPr>
          <a:xfrm>
            <a:off x="6362700" y="1905000"/>
            <a:ext cx="5219700" cy="1965484"/>
            <a:chOff x="6362700" y="1905000"/>
            <a:chExt cx="5219700" cy="1965484"/>
          </a:xfrm>
        </p:grpSpPr>
        <p:sp>
          <p:nvSpPr>
            <p:cNvPr id="20" name="Rectangle 20"/>
            <p:cNvSpPr/>
            <p:nvPr/>
          </p:nvSpPr>
          <p:spPr>
            <a:xfrm>
              <a:off x="6362700" y="1905000"/>
              <a:ext cx="5219700" cy="1943100"/>
            </a:xfrm>
            <a:prstGeom prst="roundRect">
              <a:avLst>
                <a:gd name="adj" fmla="val 5882"/>
              </a:avLst>
            </a:prstGeom>
            <a:solidFill>
              <a:schemeClr val="lt1"/>
            </a:solidFill>
            <a:ln w="14288">
              <a:solidFill>
                <a:schemeClr val="accent4"/>
              </a:solidFill>
            </a:ln>
            <a:effectLst>
              <a:outerShdw blurRad="76200" dist="28575" dir="5400000" algn="ctr" rotWithShape="0">
                <a:srgbClr val="0B2E52">
                  <a:alpha val="6000"/>
                </a:srgbClr>
              </a:outerShdw>
            </a:effectLst>
          </p:spPr>
        </p:sp>
        <p:sp>
          <p:nvSpPr>
            <p:cNvPr id="21" name="Rectangle 21"/>
            <p:cNvSpPr/>
            <p:nvPr/>
          </p:nvSpPr>
          <p:spPr>
            <a:xfrm>
              <a:off x="6362700" y="1905000"/>
              <a:ext cx="57150" cy="19431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662547" y="2123599"/>
              <a:ext cx="23552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spc="9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STEP 2 · PROJECT &amp; QUANTIZE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659880" y="2352675"/>
              <a:ext cx="325100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Solve for W*, return L and R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6667500" y="2686050"/>
              <a:ext cx="4610100" cy="400050"/>
            </a:xfrm>
            <a:prstGeom prst="roundRect">
              <a:avLst>
                <a:gd name="adj" fmla="val 14286"/>
              </a:avLst>
            </a:prstGeom>
            <a:solidFill>
              <a:srgbClr val="EAF0F9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814185" y="2821781"/>
              <a:ext cx="220607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W* = argmin ‖Q(A·S)W − A‖</a:t>
              </a:r>
              <a:r>
                <a:rPr lang="en-US" sz="82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F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661785" y="3231356"/>
              <a:ext cx="36896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Least-squares-project A's columns onto Q(A·S),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661785" y="3440906"/>
              <a:ext cx="380891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solve for W* (closed form or conjugate gradients),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661785" y="3650456"/>
              <a:ext cx="355505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quantize it, and return L = Q(A·S), R = Q(W*).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609600" y="4038600"/>
            <a:ext cx="10972800" cy="1866900"/>
            <a:chOff x="609600" y="4038600"/>
            <a:chExt cx="10972800" cy="1866900"/>
          </a:xfrm>
        </p:grpSpPr>
        <p:sp>
          <p:nvSpPr>
            <p:cNvPr id="30" name="Rectangle 30"/>
            <p:cNvSpPr/>
            <p:nvPr/>
          </p:nvSpPr>
          <p:spPr>
            <a:xfrm>
              <a:off x="609600" y="4038600"/>
              <a:ext cx="10972800" cy="1866900"/>
            </a:xfrm>
            <a:prstGeom prst="roundRect">
              <a:avLst>
                <a:gd name="adj" fmla="val 6122"/>
              </a:avLst>
            </a:prstGeom>
            <a:solidFill>
              <a:schemeClr val="accent1"/>
            </a:solidFill>
            <a:ln>
              <a:noFill/>
            </a:ln>
            <a:effectLst>
              <a:outerShdw blurRad="76200" dist="28575" dir="5400000" algn="ctr" rotWithShape="0">
                <a:srgbClr val="0B2E52">
                  <a:alpha val="6000"/>
                </a:srgbClr>
              </a:outerShdw>
            </a:effectLst>
          </p:spPr>
        </p:sp>
        <p:sp>
          <p:nvSpPr>
            <p:cNvPr id="31" name="Rectangle 31"/>
            <p:cNvSpPr/>
            <p:nvPr/>
          </p:nvSpPr>
          <p:spPr>
            <a:xfrm>
              <a:off x="609600" y="4038600"/>
              <a:ext cx="57150" cy="1866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909447" y="4276249"/>
              <a:ext cx="329925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spc="9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THE KEY INSIGHT · WHY IT STAYS ACCURATE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905637" y="4538186"/>
              <a:ext cx="6328964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720" b="1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Gaussian sketches equalize the quantization error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08304" y="4899660"/>
              <a:ext cx="758040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DBE3EE"/>
                  </a:solidFill>
                  <a:latin typeface="+mn-lt"/>
                  <a:ea typeface="+mn-ea"/>
                  <a:cs typeface="+mn-cs"/>
                </a:rPr>
                <a:t>Gaussian sketches are Johnson-Lindenstrauss embeddings with an equalization property, so the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08304" y="5128260"/>
              <a:ext cx="786323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DBE3EE"/>
                  </a:solidFill>
                  <a:latin typeface="+mn-lt"/>
                  <a:ea typeface="+mn-ea"/>
                  <a:cs typeface="+mn-cs"/>
                </a:rPr>
                <a:t>reconstruction's quantization error stays order one and does not grow with the matrix dimension.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914400" y="5429250"/>
              <a:ext cx="10363200" cy="323850"/>
            </a:xfrm>
            <a:prstGeom prst="roundRect">
              <a:avLst>
                <a:gd name="adj" fmla="val 17647"/>
              </a:avLst>
            </a:prstGeom>
            <a:solidFill>
              <a:srgbClr val="12365F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1061085" y="5526881"/>
              <a:ext cx="75731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Consequence:</a:t>
              </a:r>
              <a:r>
                <a:rPr lang="en-US" sz="11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 LPLR remains accurate even at one bit per coordinate — the equalization is exactly why.</a:t>
              </a:r>
            </a:p>
          </p:txBody>
        </p:sp>
      </p:grpSp>
      <p:sp>
        <p:nvSpPr>
          <p:cNvPr id="39" name="TextBox 39"/>
          <p:cNvSpPr txBox="1"/>
          <p:nvPr/>
        </p:nvSpPr>
        <p:spPr>
          <a:xfrm>
            <a:off x="11207836" y="6578441"/>
            <a:ext cx="379326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82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05 / 10</a:t>
            </a:r>
          </a:p>
        </p:txBody>
      </p:sp>
      <p:sp>
        <p:nvSpPr>
          <p:cNvPr id="40" name="cue_s05_c1_lplr_runs_few_steps" title="cue_s05_c1_lplr_runs_few_steps" descr="cue_s05_c1_lplr_runs_few_steps LPLR runs in a few steps."/>
          <p:cNvSpPr/>
          <p:nvPr/>
        </p:nvSpPr>
        <p:spPr>
          <a:xfrm>
            <a:off x="609600" y="1257071"/>
            <a:ext cx="10972800" cy="475945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cue_s05_c2_draws_gaussian_sketching_matrix_form" title="cue_s05_c2_draws_gaussian_sketching_matrix_form" descr="cue_s05_c2_draws_gaussian_sketching_matrix_form It draws a Gaussian sketching matrix S and forms the sketch A times S, a randomized rangefinder for the column space of A, then quantizes it to get Q of A S."/>
          <p:cNvSpPr/>
          <p:nvPr/>
        </p:nvSpPr>
        <p:spPr>
          <a:xfrm>
            <a:off x="609600" y="1905152"/>
            <a:ext cx="5219395" cy="1965502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cue_s05_c3_next_least_squares_projects_columns" title="cue_s05_c3_next_least_squares_projects_columns" descr="cue_s05_c3_next_least_squares_projects_columns Next it least-squares-projects A's columns onto this quantized basis, solving for the projection W star, then quantizes W star too, returning factors L and R."/>
          <p:cNvSpPr/>
          <p:nvPr/>
        </p:nvSpPr>
        <p:spPr>
          <a:xfrm>
            <a:off x="6363004" y="1905152"/>
            <a:ext cx="5219395" cy="1965502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cue_s05_c4_key_insight_gaussian_sketches_johnso" title="cue_s05_c4_key_insight_gaussian_sketches_johnso" descr="cue_s05_c4_key_insight_gaussian_sketches_johnso The key insight: Gaussian sketches are Johnson-Lindenstrauss embeddings with an equalization property, so reconstruction error stays order one and doesn't grow with dimension, keeping LPLR accurate even at one bit."/>
          <p:cNvSpPr/>
          <p:nvPr/>
        </p:nvSpPr>
        <p:spPr>
          <a:xfrm>
            <a:off x="609600" y="4038676"/>
            <a:ext cx="10972800" cy="1866747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09600" y="457200"/>
            <a:ext cx="6936451" cy="675989"/>
            <a:chOff x="609600" y="457200"/>
            <a:chExt cx="6936451" cy="675989"/>
          </a:xfrm>
        </p:grpSpPr>
        <p:sp>
          <p:nvSpPr>
            <p:cNvPr id="2" name="Rectangle 2"/>
            <p:cNvSpPr/>
            <p:nvPr/>
          </p:nvSpPr>
          <p:spPr>
            <a:xfrm>
              <a:off x="609600" y="457200"/>
              <a:ext cx="57150" cy="381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825246" y="486728"/>
              <a:ext cx="672080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5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Tested on a diverse zoo of matrices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833247" y="942499"/>
              <a:ext cx="533087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spc="112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DATASETS &amp; BENCHMARK · IMAGES, EMBEDDINGS, AND LLM WEIGHTS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609600" y="1257300"/>
            <a:ext cx="10972800" cy="476250"/>
            <a:chOff x="609600" y="1257300"/>
            <a:chExt cx="10972800" cy="476250"/>
          </a:xfrm>
        </p:grpSpPr>
        <p:sp>
          <p:nvSpPr>
            <p:cNvPr id="6" name="Rectangle 6"/>
            <p:cNvSpPr/>
            <p:nvPr/>
          </p:nvSpPr>
          <p:spPr>
            <a:xfrm>
              <a:off x="609600" y="1257300"/>
              <a:ext cx="10972800" cy="476250"/>
            </a:xfrm>
            <a:prstGeom prst="roundRect">
              <a:avLst>
                <a:gd name="adj" fmla="val 16000"/>
              </a:avLst>
            </a:pr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32104" y="1423035"/>
              <a:ext cx="86555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Experiments span a deliberately diverse set of matrices</a:t>
              </a:r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 xml:space="preserve"> — from medical images to language-model weights.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609600" y="1924050"/>
            <a:ext cx="3505200" cy="3790950"/>
            <a:chOff x="609600" y="1924050"/>
            <a:chExt cx="3505200" cy="3790950"/>
          </a:xfrm>
        </p:grpSpPr>
        <p:sp>
          <p:nvSpPr>
            <p:cNvPr id="9" name="Rectangle 9"/>
            <p:cNvSpPr/>
            <p:nvPr/>
          </p:nvSpPr>
          <p:spPr>
            <a:xfrm>
              <a:off x="609600" y="1924050"/>
              <a:ext cx="3505200" cy="3790950"/>
            </a:xfrm>
            <a:prstGeom prst="roundRect">
              <a:avLst>
                <a:gd name="adj" fmla="val 3261"/>
              </a:avLst>
            </a:prstGeom>
            <a:solidFill>
              <a:schemeClr val="lt1"/>
            </a:solidFill>
            <a:ln w="14288">
              <a:solidFill>
                <a:schemeClr val="accent4"/>
              </a:solidFill>
            </a:ln>
            <a:effectLst>
              <a:outerShdw blurRad="76200" dist="28575" dir="5400000" algn="ctr" rotWithShape="0">
                <a:srgbClr val="0B2E52">
                  <a:alpha val="6000"/>
                </a:srgbClr>
              </a:outerShdw>
            </a:effectLst>
          </p:spPr>
        </p:sp>
        <p:sp>
          <p:nvSpPr>
            <p:cNvPr id="10" name="Rectangle 10"/>
            <p:cNvSpPr/>
            <p:nvPr/>
          </p:nvSpPr>
          <p:spPr>
            <a:xfrm>
              <a:off x="609600" y="1924050"/>
              <a:ext cx="3505200" cy="5715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71347" y="2199799"/>
              <a:ext cx="14881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spc="9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DOMAIN 1 · IMAGES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67918" y="2412682"/>
              <a:ext cx="262100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Image reconstruction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666750" y="2857500"/>
              <a:ext cx="3162300" cy="1257300"/>
            </a:xfrm>
            <a:prstGeom prst="roundRect">
              <a:avLst>
                <a:gd name="adj" fmla="val 6061"/>
              </a:avLst>
            </a:pr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pic>
          <p:nvPicPr>
            <p:cNvPr id="14" name="Image 1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23900" y="3105150"/>
              <a:ext cx="3048000" cy="704850"/>
            </a:xfrm>
            <a:prstGeom prst="rect">
              <a:avLst/>
            </a:prstGeom>
          </p:spPr>
        </p:pic>
        <p:sp>
          <p:nvSpPr>
            <p:cNvPr id="15" name="TextBox 15"/>
            <p:cNvSpPr txBox="1"/>
            <p:nvPr/>
          </p:nvSpPr>
          <p:spPr>
            <a:xfrm>
              <a:off x="1124278" y="3941445"/>
              <a:ext cx="224724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i="1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Shepp-Logan phantom, reconstructed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70585" y="4393406"/>
              <a:ext cx="283453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0904" indent="-120904">
                <a:buClr>
                  <a:schemeClr val="dk1"/>
                </a:buClr>
                <a:buSzTx/>
                <a:buFontTx/>
                <a:buChar char="•"/>
              </a:pPr>
              <a:r>
                <a:rPr lang="en-US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Shepp-Logan phantom (medical test)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70585" y="4641056"/>
              <a:ext cx="185331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0904" indent="-120904">
                <a:buClr>
                  <a:schemeClr val="dk1"/>
                </a:buClr>
                <a:buSzTx/>
                <a:buFontTx/>
                <a:buChar char="•"/>
              </a:pPr>
              <a:r>
                <a:rPr lang="en-US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Hubble image of Jupiter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70585" y="4888706"/>
              <a:ext cx="11376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0904" indent="-120904">
                <a:buClr>
                  <a:schemeClr val="dk1"/>
                </a:buClr>
                <a:buSzTx/>
                <a:buFontTx/>
                <a:buChar char="•"/>
              </a:pPr>
              <a:r>
                <a:rPr lang="en-US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MR brain scan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70966" y="5277802"/>
              <a:ext cx="282810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Standard reconstruction targets across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70966" y="5468302"/>
              <a:ext cx="234296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medical and astronomical imaging.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4343400" y="1924050"/>
            <a:ext cx="3505200" cy="3790950"/>
            <a:chOff x="4343400" y="1924050"/>
            <a:chExt cx="3505200" cy="3790950"/>
          </a:xfrm>
        </p:grpSpPr>
        <p:sp>
          <p:nvSpPr>
            <p:cNvPr id="22" name="Rectangle 22"/>
            <p:cNvSpPr/>
            <p:nvPr/>
          </p:nvSpPr>
          <p:spPr>
            <a:xfrm>
              <a:off x="4343400" y="1924050"/>
              <a:ext cx="3505200" cy="3790950"/>
            </a:xfrm>
            <a:prstGeom prst="roundRect">
              <a:avLst>
                <a:gd name="adj" fmla="val 3261"/>
              </a:avLst>
            </a:prstGeom>
            <a:solidFill>
              <a:schemeClr val="lt1"/>
            </a:solidFill>
            <a:ln w="14288">
              <a:solidFill>
                <a:schemeClr val="accent4"/>
              </a:solidFill>
            </a:ln>
            <a:effectLst>
              <a:outerShdw blurRad="76200" dist="28575" dir="5400000" algn="ctr" rotWithShape="0">
                <a:srgbClr val="0B2E52">
                  <a:alpha val="6000"/>
                </a:srgbClr>
              </a:outerShdw>
            </a:effectLst>
          </p:spPr>
        </p:sp>
        <p:sp>
          <p:nvSpPr>
            <p:cNvPr id="23" name="Rectangle 23"/>
            <p:cNvSpPr/>
            <p:nvPr/>
          </p:nvSpPr>
          <p:spPr>
            <a:xfrm>
              <a:off x="4343400" y="1924050"/>
              <a:ext cx="3505200" cy="5715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4605147" y="2199799"/>
              <a:ext cx="18613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spc="9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DOMAIN 2 · EMBEDDINGS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601718" y="2412682"/>
              <a:ext cx="234465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3-NN classification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4610100" y="2781300"/>
              <a:ext cx="2971800" cy="685800"/>
            </a:xfrm>
            <a:prstGeom prst="roundRect">
              <a:avLst>
                <a:gd name="adj" fmla="val 11111"/>
              </a:avLst>
            </a:pr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757166" y="2915602"/>
              <a:ext cx="147849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IMAGE · MobileNetV3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756785" y="3155156"/>
              <a:ext cx="160451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CIFAR-10 · CIFAR-100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4610100" y="3562350"/>
              <a:ext cx="2971800" cy="685800"/>
            </a:xfrm>
            <a:prstGeom prst="roundRect">
              <a:avLst>
                <a:gd name="adj" fmla="val 11111"/>
              </a:avLst>
            </a:pr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4757166" y="3696652"/>
              <a:ext cx="88101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TEXT · BERT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756785" y="3936206"/>
              <a:ext cx="110947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IMDB · Emotion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604385" y="4469606"/>
              <a:ext cx="268534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Scored by a three-nearest-neighbor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604385" y="4679156"/>
              <a:ext cx="294162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classifier on accuracy and weighted F1.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604766" y="5087302"/>
              <a:ext cx="255963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Both vision and language embeddings,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604766" y="5277802"/>
              <a:ext cx="226521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quantized to as little as one bit.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8077200" y="1924050"/>
            <a:ext cx="3505200" cy="3790950"/>
            <a:chOff x="8077200" y="1924050"/>
            <a:chExt cx="3505200" cy="3790950"/>
          </a:xfrm>
        </p:grpSpPr>
        <p:sp>
          <p:nvSpPr>
            <p:cNvPr id="37" name="Rectangle 37"/>
            <p:cNvSpPr/>
            <p:nvPr/>
          </p:nvSpPr>
          <p:spPr>
            <a:xfrm>
              <a:off x="8077200" y="1924050"/>
              <a:ext cx="3505200" cy="3790950"/>
            </a:xfrm>
            <a:prstGeom prst="roundRect">
              <a:avLst>
                <a:gd name="adj" fmla="val 3261"/>
              </a:avLst>
            </a:prstGeom>
            <a:solidFill>
              <a:schemeClr val="accent1"/>
            </a:solidFill>
            <a:ln>
              <a:noFill/>
            </a:ln>
            <a:effectLst>
              <a:outerShdw blurRad="76200" dist="28575" dir="5400000" algn="ctr" rotWithShape="0">
                <a:srgbClr val="0B2E52">
                  <a:alpha val="6000"/>
                </a:srgbClr>
              </a:outerShdw>
            </a:effectLst>
          </p:spPr>
        </p:sp>
        <p:sp>
          <p:nvSpPr>
            <p:cNvPr id="38" name="Rectangle 38"/>
            <p:cNvSpPr/>
            <p:nvPr/>
          </p:nvSpPr>
          <p:spPr>
            <a:xfrm>
              <a:off x="8077200" y="1924050"/>
              <a:ext cx="3505200" cy="5715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8338947" y="2199799"/>
              <a:ext cx="194730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spc="9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DOMAIN 3 · LLM WEIGHTS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335518" y="2412682"/>
              <a:ext cx="27074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LlaMa-7b compression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326374" y="2637472"/>
              <a:ext cx="1321087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450" b="1" dirty="0">
                  <a:solidFill>
                    <a:srgbClr val="FFFFFF"/>
                  </a:solidFill>
                  <a:latin typeface="Georgia"/>
                  <a:ea typeface="Georgia"/>
                  <a:cs typeface="Georgia"/>
                </a:rPr>
                <a:t>7B</a:t>
              </a:r>
              <a:r>
                <a:rPr lang="en-US" sz="1200" b="1" dirty="0">
                  <a:solidFill>
                    <a:srgbClr val="DBE3EE"/>
                  </a:solidFill>
                  <a:latin typeface="+mn-lt"/>
                  <a:ea typeface="+mn-ea"/>
                  <a:cs typeface="+mn-cs"/>
                </a:rPr>
                <a:t xml:space="preserve"> params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338185" y="3212306"/>
              <a:ext cx="274543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DBE3EE"/>
                  </a:solidFill>
                  <a:latin typeface="+mn-lt"/>
                  <a:ea typeface="+mn-ea"/>
                  <a:cs typeface="+mn-cs"/>
                </a:rPr>
                <a:t>Weight matrices compressed layer by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338185" y="3421856"/>
              <a:ext cx="2416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DBE3EE"/>
                  </a:solidFill>
                  <a:latin typeface="+mn-lt"/>
                  <a:ea typeface="+mn-ea"/>
                  <a:cs typeface="+mn-cs"/>
                </a:rPr>
                <a:t>layer across the whole network.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8343900" y="3733800"/>
              <a:ext cx="2971800" cy="819150"/>
            </a:xfrm>
            <a:prstGeom prst="roundRect">
              <a:avLst>
                <a:gd name="adj" fmla="val 9302"/>
              </a:avLst>
            </a:prstGeom>
            <a:solidFill>
              <a:srgbClr val="12365F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8491347" y="3876199"/>
              <a:ext cx="184119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spc="9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FAIR-PARITY PROTOCOL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490585" y="4107656"/>
              <a:ext cx="25044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Every method gets the same total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8490585" y="4317206"/>
              <a:ext cx="19865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bit budget — no free lunch.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8338185" y="4793456"/>
              <a:ext cx="24740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DBE3EE"/>
                  </a:solidFill>
                  <a:latin typeface="+mn-lt"/>
                  <a:ea typeface="+mn-ea"/>
                  <a:cs typeface="+mn-cs"/>
                </a:rPr>
                <a:t>Reported alongside task metrics: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8337042" y="5054918"/>
              <a:ext cx="244660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relative Frobenius error</a:t>
              </a:r>
            </a:p>
          </p:txBody>
        </p:sp>
      </p:grpSp>
      <p:sp>
        <p:nvSpPr>
          <p:cNvPr id="51" name="TextBox 51"/>
          <p:cNvSpPr txBox="1"/>
          <p:nvPr/>
        </p:nvSpPr>
        <p:spPr>
          <a:xfrm>
            <a:off x="11207836" y="6578441"/>
            <a:ext cx="379326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82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06 / 10</a:t>
            </a:r>
          </a:p>
        </p:txBody>
      </p:sp>
      <p:sp>
        <p:nvSpPr>
          <p:cNvPr id="52" name="cue_s06_c1_experiments_span_deliberately_divers" title="cue_s06_c1_experiments_span_deliberately_divers" descr="cue_s06_c1_experiments_span_deliberately_divers Experiments span a deliberately diverse set of matrices."/>
          <p:cNvSpPr/>
          <p:nvPr/>
        </p:nvSpPr>
        <p:spPr>
          <a:xfrm>
            <a:off x="609600" y="1257071"/>
            <a:ext cx="10972800" cy="475945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cue_s06_c2_images_shepp_logan_phantom_hubble_im" title="cue_s06_c2_images_shepp_logan_phantom_hubble_im" descr="cue_s06_c2_images_shepp_logan_phantom_hubble_im For images: the Shepp-Logan phantom, a Hubble image of Jupiter, and an MR brain scan."/>
          <p:cNvSpPr/>
          <p:nvPr/>
        </p:nvSpPr>
        <p:spPr>
          <a:xfrm>
            <a:off x="609600" y="1924354"/>
            <a:ext cx="3505199" cy="3791102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cue_s06_c3_embeddings_cifar_10_cifar_100_mobile" title="cue_s06_c3_embeddings_cifar_10_cifar_100_mobile" descr="cue_s06_c3_embeddings_cifar_10_cifar_100_mobile For embeddings: CIFAR-10 and CIFAR-100 from MobileNetV3, and IMDB and Emotion text from BERT, scored by a three-nearest-neighbor classifier."/>
          <p:cNvSpPr/>
          <p:nvPr/>
        </p:nvSpPr>
        <p:spPr>
          <a:xfrm>
            <a:off x="4344009" y="1924354"/>
            <a:ext cx="3505199" cy="3791102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cue_s06_c4_llms_weight_matrices_llama_7b_every" title="cue_s06_c4_llms_weight_matrices_llama_7b_every" descr="cue_s06_c4_llms_weight_matrices_llama_7b_every And for LLMs, the weight matrices of LlaMa-7b. Every method gets the same total bit budget, reporting relative Frobenius error."/>
          <p:cNvSpPr/>
          <p:nvPr/>
        </p:nvSpPr>
        <p:spPr>
          <a:xfrm>
            <a:off x="8077200" y="1924354"/>
            <a:ext cx="3505199" cy="3791102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09600" y="457200"/>
            <a:ext cx="5804632" cy="675989"/>
            <a:chOff x="609600" y="457200"/>
            <a:chExt cx="5804632" cy="675989"/>
          </a:xfrm>
        </p:grpSpPr>
        <p:sp>
          <p:nvSpPr>
            <p:cNvPr id="2" name="Rectangle 2"/>
            <p:cNvSpPr/>
            <p:nvPr/>
          </p:nvSpPr>
          <p:spPr>
            <a:xfrm>
              <a:off x="609600" y="457200"/>
              <a:ext cx="57150" cy="381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825246" y="486728"/>
              <a:ext cx="470278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5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One bit, accuracy intact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833247" y="942499"/>
              <a:ext cx="558098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spc="112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KEY RESULT · EXTREME COMPRESSION WITHOUT LOSING PERFORMANCE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609600" y="1257300"/>
            <a:ext cx="5353050" cy="4457700"/>
            <a:chOff x="609600" y="1257300"/>
            <a:chExt cx="5353050" cy="4457700"/>
          </a:xfrm>
        </p:grpSpPr>
        <p:sp>
          <p:nvSpPr>
            <p:cNvPr id="6" name="Rectangle 6"/>
            <p:cNvSpPr/>
            <p:nvPr/>
          </p:nvSpPr>
          <p:spPr>
            <a:xfrm>
              <a:off x="609600" y="1257300"/>
              <a:ext cx="5353050" cy="4457700"/>
            </a:xfrm>
            <a:prstGeom prst="roundRect">
              <a:avLst>
                <a:gd name="adj" fmla="val 2564"/>
              </a:avLst>
            </a:prstGeom>
            <a:solidFill>
              <a:schemeClr val="lt1"/>
            </a:solidFill>
            <a:ln w="14288">
              <a:solidFill>
                <a:schemeClr val="accent4"/>
              </a:solidFill>
            </a:ln>
            <a:effectLst>
              <a:outerShdw blurRad="76200" dist="28575" dir="5400000" algn="ctr" rotWithShape="0">
                <a:srgbClr val="0B2E52">
                  <a:alpha val="6000"/>
                </a:srgbClr>
              </a:outerShdw>
            </a:effectLst>
          </p:spPr>
        </p:sp>
        <p:sp>
          <p:nvSpPr>
            <p:cNvPr id="7" name="Rectangle 7"/>
            <p:cNvSpPr/>
            <p:nvPr/>
          </p:nvSpPr>
          <p:spPr>
            <a:xfrm>
              <a:off x="609600" y="1257300"/>
              <a:ext cx="57150" cy="44577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09447" y="1494949"/>
              <a:ext cx="31327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spc="9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VISUAL PROOF · SHEPP-LOGAN PHANTOM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906018" y="1726882"/>
              <a:ext cx="479136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Extreme compression, detail preserved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914400" y="2114550"/>
              <a:ext cx="4743450" cy="1676400"/>
            </a:xfrm>
            <a:prstGeom prst="roundRect">
              <a:avLst>
                <a:gd name="adj" fmla="val 4545"/>
              </a:avLst>
            </a:pr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pic>
          <p:nvPicPr>
            <p:cNvPr id="11" name="Image 1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90600" y="2362200"/>
              <a:ext cx="4591050" cy="1057275"/>
            </a:xfrm>
            <a:prstGeom prst="rect">
              <a:avLst/>
            </a:prstGeom>
          </p:spPr>
        </p:pic>
        <p:sp>
          <p:nvSpPr>
            <p:cNvPr id="12" name="TextBox 12"/>
            <p:cNvSpPr txBox="1"/>
            <p:nvPr/>
          </p:nvSpPr>
          <p:spPr>
            <a:xfrm>
              <a:off x="1004349" y="3560445"/>
              <a:ext cx="456355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i="1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Same bit budget: naive quant. and DSVD blur; LPLR / LSVD keep the anatomy.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08304" y="4042410"/>
              <a:ext cx="42182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LPLR delivers extreme compression — down to roughly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08304" y="4271010"/>
              <a:ext cx="381655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one bit per matrix coordinate — while preserving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08304" y="4499610"/>
              <a:ext cx="38385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performance. On the phantom, it keeps the fine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08304" y="4728210"/>
              <a:ext cx="42284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anatomical details that competing methods wash out.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914400" y="5048250"/>
              <a:ext cx="4743450" cy="457200"/>
            </a:xfrm>
            <a:prstGeom prst="roundRect">
              <a:avLst>
                <a:gd name="adj" fmla="val 16667"/>
              </a:avLst>
            </a:prstGeom>
            <a:solidFill>
              <a:srgbClr val="EAF3EC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136142" y="5188268"/>
              <a:ext cx="346648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1F7A46"/>
                  </a:solidFill>
                  <a:latin typeface="+mj-lt"/>
                  <a:ea typeface="+mj-ea"/>
                  <a:cs typeface="+mj-cs"/>
                </a:rPr>
                <a:t>≈ 1 bit / coordinate</a:t>
              </a:r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 xml:space="preserve"> — performance held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6229350" y="1257300"/>
            <a:ext cx="5353050" cy="1428750"/>
            <a:chOff x="6229350" y="1257300"/>
            <a:chExt cx="5353050" cy="1428750"/>
          </a:xfrm>
        </p:grpSpPr>
        <p:sp>
          <p:nvSpPr>
            <p:cNvPr id="20" name="Rectangle 20"/>
            <p:cNvSpPr/>
            <p:nvPr/>
          </p:nvSpPr>
          <p:spPr>
            <a:xfrm>
              <a:off x="6229350" y="1257300"/>
              <a:ext cx="5353050" cy="1428750"/>
            </a:xfrm>
            <a:prstGeom prst="roundRect">
              <a:avLst>
                <a:gd name="adj" fmla="val 8000"/>
              </a:avLst>
            </a:prstGeom>
            <a:solidFill>
              <a:schemeClr val="lt1"/>
            </a:solidFill>
            <a:ln w="14288">
              <a:solidFill>
                <a:schemeClr val="accent4"/>
              </a:solidFill>
            </a:ln>
            <a:effectLst>
              <a:outerShdw blurRad="76200" dist="28575" dir="5400000" algn="ctr" rotWithShape="0">
                <a:srgbClr val="0B2E52">
                  <a:alpha val="6000"/>
                </a:srgbClr>
              </a:outerShdw>
            </a:effectLst>
          </p:spPr>
        </p:sp>
        <p:sp>
          <p:nvSpPr>
            <p:cNvPr id="21" name="Rectangle 21"/>
            <p:cNvSpPr/>
            <p:nvPr/>
          </p:nvSpPr>
          <p:spPr>
            <a:xfrm>
              <a:off x="6229350" y="1257300"/>
              <a:ext cx="57150" cy="1428750"/>
            </a:xfrm>
            <a:prstGeom prst="roundRect">
              <a:avLst>
                <a:gd name="adj" fmla="val 50000"/>
              </a:avLst>
            </a:prstGeom>
            <a:solidFill>
              <a:srgbClr val="1F7A46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529197" y="1456849"/>
              <a:ext cx="228940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spc="90" dirty="0">
                  <a:solidFill>
                    <a:srgbClr val="1F7A46"/>
                  </a:solidFill>
                  <a:latin typeface="+mn-lt"/>
                  <a:ea typeface="+mn-ea"/>
                  <a:cs typeface="+mn-cs"/>
                </a:rPr>
                <a:t>CIFAR-10 EMBEDDINGS · 1 BIT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516624" y="1646872"/>
              <a:ext cx="2373116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450" b="1" dirty="0">
                  <a:solidFill>
                    <a:srgbClr val="1F7A46"/>
                  </a:solidFill>
                  <a:latin typeface="Georgia"/>
                  <a:ea typeface="Georgia"/>
                  <a:cs typeface="Georgia"/>
                </a:rPr>
                <a:t>92%</a:t>
              </a:r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 xml:space="preserve"> LPLR accuracy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528435" y="2240756"/>
              <a:ext cx="22942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Matches the unquantized 91% —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528435" y="2450306"/>
              <a:ext cx="227304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while naive quant. collapses to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0369296" y="1744028"/>
              <a:ext cx="73047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550" b="1" dirty="0">
                  <a:solidFill>
                    <a:srgbClr val="C0392B"/>
                  </a:solidFill>
                  <a:latin typeface="Georgia"/>
                  <a:ea typeface="Georgia"/>
                  <a:cs typeface="Georgia"/>
                </a:rPr>
                <a:t>11%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0377297" y="2180749"/>
              <a:ext cx="81466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naive quant.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6229350" y="2857500"/>
            <a:ext cx="5353050" cy="1428750"/>
            <a:chOff x="6229350" y="2857500"/>
            <a:chExt cx="5353050" cy="1428750"/>
          </a:xfrm>
        </p:grpSpPr>
        <p:sp>
          <p:nvSpPr>
            <p:cNvPr id="29" name="Rectangle 29"/>
            <p:cNvSpPr/>
            <p:nvPr/>
          </p:nvSpPr>
          <p:spPr>
            <a:xfrm>
              <a:off x="6229350" y="2857500"/>
              <a:ext cx="5353050" cy="1428750"/>
            </a:xfrm>
            <a:prstGeom prst="roundRect">
              <a:avLst>
                <a:gd name="adj" fmla="val 8000"/>
              </a:avLst>
            </a:prstGeom>
            <a:solidFill>
              <a:schemeClr val="lt1"/>
            </a:solidFill>
            <a:ln w="14288">
              <a:solidFill>
                <a:schemeClr val="accent4"/>
              </a:solidFill>
            </a:ln>
            <a:effectLst>
              <a:outerShdw blurRad="76200" dist="28575" dir="5400000" algn="ctr" rotWithShape="0">
                <a:srgbClr val="0B2E52">
                  <a:alpha val="6000"/>
                </a:srgbClr>
              </a:outerShdw>
            </a:effectLst>
          </p:spPr>
        </p:sp>
        <p:sp>
          <p:nvSpPr>
            <p:cNvPr id="30" name="Rectangle 30"/>
            <p:cNvSpPr/>
            <p:nvPr/>
          </p:nvSpPr>
          <p:spPr>
            <a:xfrm>
              <a:off x="6229350" y="2857500"/>
              <a:ext cx="57150" cy="142875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529197" y="3057049"/>
              <a:ext cx="238270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spc="9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CIFAR-100 EMBEDDINGS · 1 BIT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516624" y="3247072"/>
              <a:ext cx="2373116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450" b="1" dirty="0">
                  <a:solidFill>
                    <a:schemeClr val="accent2"/>
                  </a:solidFill>
                  <a:latin typeface="Georgia"/>
                  <a:ea typeface="Georgia"/>
                  <a:cs typeface="Georgia"/>
                </a:rPr>
                <a:t>79%</a:t>
              </a:r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 xml:space="preserve"> LPLR accuracy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528435" y="3840956"/>
              <a:ext cx="25270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An even starker gap on the harder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528435" y="4050506"/>
              <a:ext cx="280829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100-class task, where naive quant. is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0369296" y="3344228"/>
              <a:ext cx="73047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550" b="1" dirty="0">
                  <a:solidFill>
                    <a:srgbClr val="C0392B"/>
                  </a:solidFill>
                  <a:latin typeface="Georgia"/>
                  <a:ea typeface="Georgia"/>
                  <a:cs typeface="Georgia"/>
                </a:rPr>
                <a:t>≈1%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0377297" y="3780949"/>
              <a:ext cx="81466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naive quant.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6229350" y="4457700"/>
            <a:ext cx="5353050" cy="1257300"/>
            <a:chOff x="6229350" y="4457700"/>
            <a:chExt cx="5353050" cy="1257300"/>
          </a:xfrm>
        </p:grpSpPr>
        <p:sp>
          <p:nvSpPr>
            <p:cNvPr id="38" name="Rectangle 38"/>
            <p:cNvSpPr/>
            <p:nvPr/>
          </p:nvSpPr>
          <p:spPr>
            <a:xfrm>
              <a:off x="6229350" y="4457700"/>
              <a:ext cx="5353050" cy="1257300"/>
            </a:xfrm>
            <a:prstGeom prst="roundRect">
              <a:avLst>
                <a:gd name="adj" fmla="val 9091"/>
              </a:avLst>
            </a:prstGeom>
            <a:solidFill>
              <a:schemeClr val="accent1"/>
            </a:solidFill>
            <a:ln>
              <a:noFill/>
            </a:ln>
            <a:effectLst>
              <a:outerShdw blurRad="76200" dist="28575" dir="5400000" algn="ctr" rotWithShape="0">
                <a:srgbClr val="0B2E52">
                  <a:alpha val="6000"/>
                </a:srgbClr>
              </a:outerShdw>
            </a:effectLst>
          </p:spPr>
        </p:sp>
        <p:sp>
          <p:nvSpPr>
            <p:cNvPr id="39" name="Rectangle 39"/>
            <p:cNvSpPr/>
            <p:nvPr/>
          </p:nvSpPr>
          <p:spPr>
            <a:xfrm>
              <a:off x="6229350" y="4457700"/>
              <a:ext cx="57150" cy="12573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529197" y="4657249"/>
              <a:ext cx="343561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spc="9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LlaMa-7b WEIGHTS · REL. FROBENIUS ERROR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518910" y="4895850"/>
              <a:ext cx="2136628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000" b="1" dirty="0">
                  <a:solidFill>
                    <a:srgbClr val="FFFFFF"/>
                  </a:solidFill>
                  <a:latin typeface="Georgia"/>
                  <a:ea typeface="Georgia"/>
                  <a:cs typeface="Georgia"/>
                </a:rPr>
                <a:t>0.54</a:t>
              </a:r>
              <a:r>
                <a:rPr lang="en-US" sz="1120" dirty="0">
                  <a:solidFill>
                    <a:srgbClr val="DBE3EE"/>
                  </a:solidFill>
                  <a:latin typeface="+mn-lt"/>
                  <a:ea typeface="+mn-ea"/>
                  <a:cs typeface="+mn-cs"/>
                </a:rPr>
                <a:t xml:space="preserve"> LPLR-SVD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528435" y="5403056"/>
              <a:ext cx="346930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DBE3EE"/>
                  </a:solidFill>
                  <a:latin typeface="+mn-lt"/>
                  <a:ea typeface="+mn-ea"/>
                  <a:cs typeface="+mn-cs"/>
                </a:rPr>
                <a:t>Lower error and lower variance across layers.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0123170" y="4976812"/>
              <a:ext cx="76215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250" b="1" dirty="0">
                  <a:solidFill>
                    <a:srgbClr val="C0392B"/>
                  </a:solidFill>
                  <a:latin typeface="Georgia"/>
                  <a:ea typeface="Georgia"/>
                  <a:cs typeface="Georgia"/>
                </a:rPr>
                <a:t>0.84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0129647" y="5381149"/>
              <a:ext cx="81466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DBE3EE"/>
                  </a:solidFill>
                  <a:latin typeface="+mn-lt"/>
                  <a:ea typeface="+mn-ea"/>
                  <a:cs typeface="+mn-cs"/>
                </a:rPr>
                <a:t>naive quant.</a:t>
              </a:r>
            </a:p>
          </p:txBody>
        </p:sp>
      </p:grpSp>
      <p:sp>
        <p:nvSpPr>
          <p:cNvPr id="46" name="TextBox 46"/>
          <p:cNvSpPr txBox="1"/>
          <p:nvPr/>
        </p:nvSpPr>
        <p:spPr>
          <a:xfrm>
            <a:off x="11207836" y="6578441"/>
            <a:ext cx="379326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82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07 / 10</a:t>
            </a:r>
          </a:p>
        </p:txBody>
      </p:sp>
      <p:sp>
        <p:nvSpPr>
          <p:cNvPr id="47" name="cue_s07_c1_headline_lplr_delivers_extreme_compr" title="cue_s07_c1_headline_lplr_delivers_extreme_compr" descr="cue_s07_c1_headline_lplr_delivers_extreme_compr The headline: LPLR delivers extreme compression, near one bit per coordinate, while preserving performance."/>
          <p:cNvSpPr/>
          <p:nvPr/>
        </p:nvSpPr>
        <p:spPr>
          <a:xfrm>
            <a:off x="609600" y="1257071"/>
            <a:ext cx="5353507" cy="4457700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cue_s07_c2_cifar_10_embeddings_single_bit_retai" title="cue_s07_c2_cifar_10_embeddings_single_bit_retai" descr="cue_s07_c2_cifar_10_embeddings_single_bit_retai On CIFAR-10 embeddings at a single bit, it retains ninety-two percent accuracy, matching the unquantized ninety-one, while naive quantization collapses to eleven."/>
          <p:cNvSpPr/>
          <p:nvPr/>
        </p:nvSpPr>
        <p:spPr>
          <a:xfrm>
            <a:off x="6228892" y="1257071"/>
            <a:ext cx="5353507" cy="1428521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cue_s07_c3_cifar_100_seventy_nine_percent_versu" title="cue_s07_c3_cifar_100_seventy_nine_percent_versu" descr="cue_s07_c3_cifar_100_seventy_nine_percent_versu On CIFAR-100, seventy-nine percent versus about one."/>
          <p:cNvSpPr/>
          <p:nvPr/>
        </p:nvSpPr>
        <p:spPr>
          <a:xfrm>
            <a:off x="6228892" y="2857728"/>
            <a:ext cx="5353507" cy="1428521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cue_s07_c4_llama_7b_weights_lplr_svd_reaches_me" title="cue_s07_c4_llama_7b_weights_lplr_svd_reaches_me" descr="cue_s07_c4_llama_7b_weights_lplr_svd_reaches_me On LlaMa-7b weights, LPLR-SVD reaches mean relative Frobenius error near zero point five four, against zero point eight four for naive quant, with lower variance."/>
          <p:cNvSpPr/>
          <p:nvPr/>
        </p:nvSpPr>
        <p:spPr>
          <a:xfrm>
            <a:off x="6228892" y="4457700"/>
            <a:ext cx="5353507" cy="1257071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09600" y="457200"/>
            <a:ext cx="5680221" cy="675989"/>
            <a:chOff x="609600" y="457200"/>
            <a:chExt cx="5680221" cy="675989"/>
          </a:xfrm>
        </p:grpSpPr>
        <p:sp>
          <p:nvSpPr>
            <p:cNvPr id="2" name="Rectangle 2"/>
            <p:cNvSpPr/>
            <p:nvPr/>
          </p:nvSpPr>
          <p:spPr>
            <a:xfrm>
              <a:off x="609600" y="457200"/>
              <a:ext cx="57150" cy="381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825246" y="486728"/>
              <a:ext cx="525168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5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Pulling the two levers apart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833247" y="942499"/>
              <a:ext cx="545657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spc="112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ABLATION · LOW-RANK STRUCTURE VERSUS QUANTIZATION PRECISION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09600" y="1257300"/>
            <a:ext cx="10972800" cy="914400"/>
            <a:chOff x="609600" y="1257300"/>
            <a:chExt cx="10972800" cy="914400"/>
          </a:xfrm>
        </p:grpSpPr>
        <p:sp>
          <p:nvSpPr>
            <p:cNvPr id="6" name="Rectangle 6"/>
            <p:cNvSpPr/>
            <p:nvPr/>
          </p:nvSpPr>
          <p:spPr>
            <a:xfrm>
              <a:off x="609600" y="1257300"/>
              <a:ext cx="10972800" cy="914400"/>
            </a:xfrm>
            <a:prstGeom prst="roundRect">
              <a:avLst>
                <a:gd name="adj" fmla="val 12500"/>
              </a:avLst>
            </a:prstGeom>
            <a:solidFill>
              <a:schemeClr val="accent6"/>
            </a:solidFill>
            <a:ln w="14288">
              <a:solidFill>
                <a:schemeClr val="accent2"/>
              </a:solidFill>
            </a:ln>
            <a:effectLst>
              <a:outerShdw blurRad="76200" dist="28575" dir="5400000" algn="ctr" rotWithShape="0">
                <a:srgbClr val="0B2E52">
                  <a:alpha val="6000"/>
                </a:srgbClr>
              </a:outerShdw>
            </a:effectLst>
          </p:spPr>
        </p:sp>
        <p:sp>
          <p:nvSpPr>
            <p:cNvPr id="7" name="Rectangle 7"/>
            <p:cNvSpPr/>
            <p:nvPr/>
          </p:nvSpPr>
          <p:spPr>
            <a:xfrm>
              <a:off x="609600" y="1257300"/>
              <a:ext cx="57150" cy="9144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09447" y="1475899"/>
              <a:ext cx="23552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spc="9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THE DESIGN OF THE ABLATIONS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906018" y="1726882"/>
              <a:ext cx="876027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Two effects, separated: low-rank structure vs. quantization precision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804785" y="1783556"/>
              <a:ext cx="19689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Each swept independently.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609600" y="2324100"/>
            <a:ext cx="5353050" cy="3390900"/>
            <a:chOff x="609600" y="2324100"/>
            <a:chExt cx="5353050" cy="3390900"/>
          </a:xfrm>
        </p:grpSpPr>
        <p:sp>
          <p:nvSpPr>
            <p:cNvPr id="12" name="Rectangle 12"/>
            <p:cNvSpPr/>
            <p:nvPr/>
          </p:nvSpPr>
          <p:spPr>
            <a:xfrm>
              <a:off x="609600" y="2324100"/>
              <a:ext cx="5353050" cy="3390900"/>
            </a:xfrm>
            <a:prstGeom prst="roundRect">
              <a:avLst>
                <a:gd name="adj" fmla="val 3371"/>
              </a:avLst>
            </a:prstGeom>
            <a:solidFill>
              <a:schemeClr val="lt1"/>
            </a:solidFill>
            <a:ln w="14288">
              <a:solidFill>
                <a:schemeClr val="accent4"/>
              </a:solidFill>
            </a:ln>
            <a:effectLst>
              <a:outerShdw blurRad="76200" dist="28575" dir="5400000" algn="ctr" rotWithShape="0">
                <a:srgbClr val="0B2E52">
                  <a:alpha val="6000"/>
                </a:srgbClr>
              </a:outerShdw>
            </a:effectLst>
          </p:spPr>
        </p:sp>
        <p:sp>
          <p:nvSpPr>
            <p:cNvPr id="13" name="Rectangle 13"/>
            <p:cNvSpPr/>
            <p:nvPr/>
          </p:nvSpPr>
          <p:spPr>
            <a:xfrm>
              <a:off x="609600" y="2324100"/>
              <a:ext cx="57150" cy="3390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09447" y="2542699"/>
              <a:ext cx="39834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spc="9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TABLE 3 · BIT-BUDGET SWEEP, FIXED COMPRESSION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06780" y="2790825"/>
              <a:ext cx="471566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Shift budget to the reference → less error</a:t>
              </a:r>
            </a:p>
          </p:txBody>
        </p:sp>
        <p:grpSp>
          <p:nvGrpSpPr>
            <p:cNvPr id="27" name="Group 27"/>
            <p:cNvGrpSpPr/>
            <p:nvPr/>
          </p:nvGrpSpPr>
          <p:grpSpPr>
            <a:xfrm>
              <a:off x="1143000" y="3201352"/>
              <a:ext cx="4381500" cy="2218087"/>
              <a:chOff x="1143000" y="3201352"/>
              <a:chExt cx="4381500" cy="2218087"/>
            </a:xfrm>
          </p:grpSpPr>
          <p:sp>
            <p:nvSpPr>
              <p:cNvPr id="16" name="Line 16"/>
              <p:cNvSpPr/>
              <p:nvPr/>
            </p:nvSpPr>
            <p:spPr>
              <a:xfrm>
                <a:off x="1143000" y="4953000"/>
                <a:ext cx="4381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381500" h="9525">
                    <a:moveTo>
                      <a:pt x="0" y="0"/>
                    </a:moveTo>
                    <a:lnTo>
                      <a:pt x="4381500" y="0"/>
                    </a:lnTo>
                  </a:path>
                </a:pathLst>
              </a:custGeom>
              <a:noFill/>
              <a:ln w="14288">
                <a:solidFill>
                  <a:schemeClr val="accent4"/>
                </a:solidFill>
              </a:ln>
            </p:spPr>
          </p:sp>
          <p:sp>
            <p:nvSpPr>
              <p:cNvPr id="17" name="Rectangle 17"/>
              <p:cNvSpPr/>
              <p:nvPr/>
            </p:nvSpPr>
            <p:spPr>
              <a:xfrm>
                <a:off x="1428750" y="3429000"/>
                <a:ext cx="666750" cy="1524000"/>
              </a:xfrm>
              <a:prstGeom prst="roundRect">
                <a:avLst>
                  <a:gd name="adj" fmla="val 5714"/>
                </a:avLst>
              </a:prstGeom>
              <a:solidFill>
                <a:srgbClr val="B9CBE4"/>
              </a:solidFill>
              <a:ln>
                <a:noFill/>
              </a:ln>
            </p:spPr>
          </p:sp>
          <p:sp>
            <p:nvSpPr>
              <p:cNvPr id="18" name="Rectangle 18"/>
              <p:cNvSpPr/>
              <p:nvPr/>
            </p:nvSpPr>
            <p:spPr>
              <a:xfrm>
                <a:off x="2667000" y="3733800"/>
                <a:ext cx="666750" cy="1219200"/>
              </a:xfrm>
              <a:prstGeom prst="roundRect">
                <a:avLst>
                  <a:gd name="adj" fmla="val 5714"/>
                </a:avLst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19" name="Rectangle 19"/>
              <p:cNvSpPr/>
              <p:nvPr/>
            </p:nvSpPr>
            <p:spPr>
              <a:xfrm>
                <a:off x="3905250" y="4076700"/>
                <a:ext cx="666750" cy="876300"/>
              </a:xfrm>
              <a:prstGeom prst="roundRect">
                <a:avLst>
                  <a:gd name="adj" fmla="val 5714"/>
                </a:avLst>
              </a:prstGeom>
              <a:solidFill>
                <a:srgbClr val="1F7A46"/>
              </a:solidFill>
              <a:ln>
                <a:noFill/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1612083" y="3201352"/>
                <a:ext cx="300084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050" b="1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high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2876306" y="3506152"/>
                <a:ext cx="248138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050" b="1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mid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4114556" y="3849052"/>
                <a:ext cx="248138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050" b="1" dirty="0">
                    <a:solidFill>
                      <a:srgbClr val="1F7A46"/>
                    </a:solidFill>
                    <a:latin typeface="+mn-lt"/>
                    <a:ea typeface="+mn-ea"/>
                    <a:cs typeface="+mn-cs"/>
                  </a:rPr>
                  <a:t>low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1447142" y="5057299"/>
                <a:ext cx="629966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98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budget on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1503211" y="5228749"/>
                <a:ext cx="517827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98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factors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3923642" y="5057299"/>
                <a:ext cx="629966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98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budget on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3907151" y="5228749"/>
                <a:ext cx="662948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98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reference</a:t>
                </a:r>
              </a:p>
            </p:txBody>
          </p:sp>
        </p:grpSp>
        <p:sp>
          <p:nvSpPr>
            <p:cNvPr id="28" name="TextBox 28"/>
            <p:cNvSpPr txBox="1"/>
            <p:nvPr/>
          </p:nvSpPr>
          <p:spPr>
            <a:xfrm>
              <a:off x="909066" y="5487352"/>
              <a:ext cx="352538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i="1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Frobenius error falls for both LPLR and LPLR-SVD.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6229350" y="2324100"/>
            <a:ext cx="5353050" cy="3390900"/>
            <a:chOff x="6229350" y="2324100"/>
            <a:chExt cx="5353050" cy="3390900"/>
          </a:xfrm>
        </p:grpSpPr>
        <p:sp>
          <p:nvSpPr>
            <p:cNvPr id="30" name="Rectangle 30"/>
            <p:cNvSpPr/>
            <p:nvPr/>
          </p:nvSpPr>
          <p:spPr>
            <a:xfrm>
              <a:off x="6229350" y="2324100"/>
              <a:ext cx="5353050" cy="3390900"/>
            </a:xfrm>
            <a:prstGeom prst="roundRect">
              <a:avLst>
                <a:gd name="adj" fmla="val 3371"/>
              </a:avLst>
            </a:prstGeom>
            <a:solidFill>
              <a:schemeClr val="lt1"/>
            </a:solidFill>
            <a:ln w="14288">
              <a:solidFill>
                <a:schemeClr val="accent4"/>
              </a:solidFill>
            </a:ln>
            <a:effectLst>
              <a:outerShdw blurRad="76200" dist="28575" dir="5400000" algn="ctr" rotWithShape="0">
                <a:srgbClr val="0B2E52">
                  <a:alpha val="6000"/>
                </a:srgbClr>
              </a:outerShdw>
            </a:effectLst>
          </p:spPr>
        </p:sp>
        <p:sp>
          <p:nvSpPr>
            <p:cNvPr id="31" name="Rectangle 31"/>
            <p:cNvSpPr/>
            <p:nvPr/>
          </p:nvSpPr>
          <p:spPr>
            <a:xfrm>
              <a:off x="6229350" y="2324100"/>
              <a:ext cx="57150" cy="3390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529197" y="2542699"/>
              <a:ext cx="35946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spc="9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EMBEDDINGS · QUANT. BUDGET Bnq: 1 → 4 BITS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526530" y="2790825"/>
              <a:ext cx="417623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Biggest edge where compression bites</a:t>
              </a:r>
            </a:p>
          </p:txBody>
        </p:sp>
        <p:grpSp>
          <p:nvGrpSpPr>
            <p:cNvPr id="45" name="Group 45"/>
            <p:cNvGrpSpPr/>
            <p:nvPr/>
          </p:nvGrpSpPr>
          <p:grpSpPr>
            <a:xfrm>
              <a:off x="6762750" y="3209449"/>
              <a:ext cx="4476750" cy="2216562"/>
              <a:chOff x="6762750" y="3209449"/>
              <a:chExt cx="4476750" cy="2216562"/>
            </a:xfrm>
          </p:grpSpPr>
          <p:sp>
            <p:nvSpPr>
              <p:cNvPr id="34" name="Line 34"/>
              <p:cNvSpPr/>
              <p:nvPr/>
            </p:nvSpPr>
            <p:spPr>
              <a:xfrm>
                <a:off x="6762750" y="4953000"/>
                <a:ext cx="44767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476750" h="9525">
                    <a:moveTo>
                      <a:pt x="0" y="0"/>
                    </a:moveTo>
                    <a:lnTo>
                      <a:pt x="4476750" y="0"/>
                    </a:lnTo>
                  </a:path>
                </a:pathLst>
              </a:custGeom>
              <a:noFill/>
              <a:ln w="14288">
                <a:solidFill>
                  <a:schemeClr val="accent4"/>
                </a:solidFill>
              </a:ln>
            </p:spPr>
          </p:sp>
          <p:sp>
            <p:nvSpPr>
              <p:cNvPr id="35" name="Rectangle 35"/>
              <p:cNvSpPr/>
              <p:nvPr/>
            </p:nvSpPr>
            <p:spPr>
              <a:xfrm>
                <a:off x="7124700" y="3429000"/>
                <a:ext cx="571500" cy="1524000"/>
              </a:xfrm>
              <a:prstGeom prst="roundRect">
                <a:avLst>
                  <a:gd name="adj" fmla="val 6667"/>
                </a:avLst>
              </a:prstGeom>
              <a:solidFill>
                <a:srgbClr val="1F7A46"/>
              </a:solidFill>
              <a:ln>
                <a:noFill/>
              </a:ln>
            </p:spPr>
          </p:sp>
          <p:sp>
            <p:nvSpPr>
              <p:cNvPr id="36" name="Rectangle 36"/>
              <p:cNvSpPr/>
              <p:nvPr/>
            </p:nvSpPr>
            <p:spPr>
              <a:xfrm>
                <a:off x="7753350" y="4305300"/>
                <a:ext cx="571500" cy="647700"/>
              </a:xfrm>
              <a:prstGeom prst="roundRect">
                <a:avLst>
                  <a:gd name="adj" fmla="val 6667"/>
                </a:avLst>
              </a:prstGeom>
              <a:solidFill>
                <a:srgbClr val="C0392B"/>
              </a:solidFill>
              <a:ln>
                <a:noFill/>
              </a:ln>
            </p:spPr>
          </p:sp>
          <p:sp>
            <p:nvSpPr>
              <p:cNvPr id="37" name="TextBox 37"/>
              <p:cNvSpPr txBox="1"/>
              <p:nvPr/>
            </p:nvSpPr>
            <p:spPr>
              <a:xfrm>
                <a:off x="7244496" y="3209449"/>
                <a:ext cx="331909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980" b="1" dirty="0">
                    <a:solidFill>
                      <a:srgbClr val="1F7A46"/>
                    </a:solidFill>
                    <a:latin typeface="+mn-lt"/>
                    <a:ea typeface="+mn-ea"/>
                    <a:cs typeface="+mn-cs"/>
                  </a:rPr>
                  <a:t>LPLR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7860992" y="4085749"/>
                <a:ext cx="356216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980" b="1" dirty="0">
                    <a:solidFill>
                      <a:srgbClr val="C0392B"/>
                    </a:solidFill>
                    <a:latin typeface="+mn-lt"/>
                    <a:ea typeface="+mn-ea"/>
                    <a:cs typeface="+mn-cs"/>
                  </a:rPr>
                  <a:t>naive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6984199" y="5220652"/>
                <a:ext cx="1481152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0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1 bit — LPLR wins big</a:t>
                </a:r>
              </a:p>
            </p:txBody>
          </p:sp>
          <p:sp>
            <p:nvSpPr>
              <p:cNvPr id="40" name="Rectangle 40"/>
              <p:cNvSpPr/>
              <p:nvPr/>
            </p:nvSpPr>
            <p:spPr>
              <a:xfrm>
                <a:off x="9715500" y="3733800"/>
                <a:ext cx="571500" cy="1219200"/>
              </a:xfrm>
              <a:prstGeom prst="roundRect">
                <a:avLst>
                  <a:gd name="adj" fmla="val 6667"/>
                </a:avLst>
              </a:prstGeom>
              <a:solidFill>
                <a:srgbClr val="1F7A46"/>
              </a:solidFill>
              <a:ln>
                <a:noFill/>
              </a:ln>
            </p:spPr>
          </p:sp>
          <p:sp>
            <p:nvSpPr>
              <p:cNvPr id="41" name="Rectangle 41"/>
              <p:cNvSpPr/>
              <p:nvPr/>
            </p:nvSpPr>
            <p:spPr>
              <a:xfrm>
                <a:off x="10344150" y="3810000"/>
                <a:ext cx="571500" cy="1143000"/>
              </a:xfrm>
              <a:prstGeom prst="roundRect">
                <a:avLst>
                  <a:gd name="adj" fmla="val 6667"/>
                </a:avLst>
              </a:prstGeom>
              <a:solidFill>
                <a:srgbClr val="C0392B"/>
              </a:solidFill>
              <a:ln>
                <a:noFill/>
              </a:ln>
            </p:spPr>
          </p:sp>
          <p:sp>
            <p:nvSpPr>
              <p:cNvPr id="42" name="TextBox 42"/>
              <p:cNvSpPr txBox="1"/>
              <p:nvPr/>
            </p:nvSpPr>
            <p:spPr>
              <a:xfrm>
                <a:off x="9835296" y="3514249"/>
                <a:ext cx="331909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980" b="1" dirty="0">
                    <a:solidFill>
                      <a:srgbClr val="1F7A46"/>
                    </a:solidFill>
                    <a:latin typeface="+mn-lt"/>
                    <a:ea typeface="+mn-ea"/>
                    <a:cs typeface="+mn-cs"/>
                  </a:rPr>
                  <a:t>LPLR</a:t>
                </a: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10451792" y="3590449"/>
                <a:ext cx="356216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980" b="1" dirty="0">
                    <a:solidFill>
                      <a:srgbClr val="C0392B"/>
                    </a:solidFill>
                    <a:latin typeface="+mn-lt"/>
                    <a:ea typeface="+mn-ea"/>
                    <a:cs typeface="+mn-cs"/>
                  </a:rPr>
                  <a:t>naive</a:t>
                </a: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9605253" y="5220652"/>
                <a:ext cx="1420644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0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4 bits — near parity</a:t>
                </a:r>
              </a:p>
            </p:txBody>
          </p:sp>
        </p:grpSp>
        <p:sp>
          <p:nvSpPr>
            <p:cNvPr id="46" name="TextBox 46"/>
            <p:cNvSpPr txBox="1"/>
            <p:nvPr/>
          </p:nvSpPr>
          <p:spPr>
            <a:xfrm>
              <a:off x="6528816" y="5487352"/>
              <a:ext cx="425659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i="1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LPLR's advantage is largest at the most aggressive budgets.</a:t>
              </a:r>
            </a:p>
          </p:txBody>
        </p:sp>
      </p:grpSp>
      <p:sp>
        <p:nvSpPr>
          <p:cNvPr id="48" name="TextBox 48"/>
          <p:cNvSpPr txBox="1"/>
          <p:nvPr/>
        </p:nvSpPr>
        <p:spPr>
          <a:xfrm>
            <a:off x="11207836" y="6578441"/>
            <a:ext cx="379326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82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08 / 10</a:t>
            </a:r>
          </a:p>
        </p:txBody>
      </p:sp>
      <p:sp>
        <p:nvSpPr>
          <p:cNvPr id="49" name="cue_s08_c1_separates_two_effects_low_rank_struc" title="cue_s08_c1_separates_two_effects_low_rank_struc" descr="cue_s08_c1_separates_two_effects_low_rank_struc The paper separates two effects: low-rank structure and quantization precision."/>
          <p:cNvSpPr/>
          <p:nvPr/>
        </p:nvSpPr>
        <p:spPr>
          <a:xfrm>
            <a:off x="609600" y="1257071"/>
            <a:ext cx="10972800" cy="914171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cue_s08_c2_table_3_sweeps_bit_budget_triplet" title="cue_s08_c2_table_3_sweeps_bit_budget_triplet" descr="cue_s08_c2_table_3_sweeps_bit_budget_triplet Table 3 sweeps the bit-budget triplet at fixed compression, showing that shifting budget toward the non-quantized reference steadily lowers Frobenius error for LPLR and its SVD variant."/>
          <p:cNvSpPr/>
          <p:nvPr/>
        </p:nvSpPr>
        <p:spPr>
          <a:xfrm>
            <a:off x="609600" y="2324176"/>
            <a:ext cx="5353507" cy="3390595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cue_s08_c3_across_embedding_tables_raising_quan" title="cue_s08_c3_across_embedding_tables_raising_quan" descr="cue_s08_c3_across_embedding_tables_raising_quan Across embedding tables, raising the quantization budget from one to four bits moves LPLR from beating baselines toward parity, its edge largest where compression is extreme."/>
          <p:cNvSpPr/>
          <p:nvPr/>
        </p:nvSpPr>
        <p:spPr>
          <a:xfrm>
            <a:off x="6228892" y="2324176"/>
            <a:ext cx="5353507" cy="3390595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09600" y="457200"/>
            <a:ext cx="4515724" cy="675989"/>
            <a:chOff x="609600" y="457200"/>
            <a:chExt cx="4515724" cy="675989"/>
          </a:xfrm>
        </p:grpSpPr>
        <p:sp>
          <p:nvSpPr>
            <p:cNvPr id="2" name="Rectangle 2"/>
            <p:cNvSpPr/>
            <p:nvPr/>
          </p:nvSpPr>
          <p:spPr>
            <a:xfrm>
              <a:off x="609600" y="457200"/>
              <a:ext cx="57150" cy="381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825246" y="486728"/>
              <a:ext cx="395679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5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The headline numbers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833247" y="942499"/>
              <a:ext cx="429207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spc="112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RESULTS AT A GLANCE · ACCURACY, ERROR, AND COST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609600" y="1428750"/>
            <a:ext cx="3429000" cy="1714500"/>
            <a:chOff x="609600" y="1428750"/>
            <a:chExt cx="3429000" cy="1714500"/>
          </a:xfrm>
        </p:grpSpPr>
        <p:sp>
          <p:nvSpPr>
            <p:cNvPr id="6" name="Rectangle 6"/>
            <p:cNvSpPr/>
            <p:nvPr/>
          </p:nvSpPr>
          <p:spPr>
            <a:xfrm>
              <a:off x="609600" y="1428750"/>
              <a:ext cx="3429000" cy="1714500"/>
            </a:xfrm>
            <a:prstGeom prst="roundRect">
              <a:avLst>
                <a:gd name="adj" fmla="val 6667"/>
              </a:avLst>
            </a:prstGeom>
            <a:solidFill>
              <a:schemeClr val="accent1"/>
            </a:solidFill>
            <a:ln>
              <a:noFill/>
            </a:ln>
            <a:effectLst>
              <a:outerShdw blurRad="76200" dist="28575" dir="5400000" algn="ctr" rotWithShape="0">
                <a:srgbClr val="0B2E52">
                  <a:alpha val="6000"/>
                </a:srgbClr>
              </a:outerShdw>
            </a:effectLst>
          </p:spPr>
        </p:sp>
        <p:sp>
          <p:nvSpPr>
            <p:cNvPr id="7" name="Rectangle 7"/>
            <p:cNvSpPr/>
            <p:nvPr/>
          </p:nvSpPr>
          <p:spPr>
            <a:xfrm>
              <a:off x="609600" y="1428750"/>
              <a:ext cx="57150" cy="17145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33247" y="1666399"/>
              <a:ext cx="107465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spc="9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COMPRESSION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20674" y="2027872"/>
              <a:ext cx="1632372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450" b="1" dirty="0">
                  <a:solidFill>
                    <a:srgbClr val="FFFFFF"/>
                  </a:solidFill>
                  <a:latin typeface="Georgia"/>
                  <a:ea typeface="Georgia"/>
                  <a:cs typeface="Georgia"/>
                </a:rPr>
                <a:t>≈ 1 bit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30580" y="2543175"/>
              <a:ext cx="242354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per matrix coordinate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32485" y="2869406"/>
              <a:ext cx="227683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DBE3EE"/>
                  </a:solidFill>
                  <a:latin typeface="+mn-lt"/>
                  <a:ea typeface="+mn-ea"/>
                  <a:cs typeface="+mn-cs"/>
                </a:rPr>
                <a:t>The regime where LPLR shines.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4267200" y="1428750"/>
            <a:ext cx="7315200" cy="1714500"/>
            <a:chOff x="4267200" y="1428750"/>
            <a:chExt cx="7315200" cy="1714500"/>
          </a:xfrm>
        </p:grpSpPr>
        <p:sp>
          <p:nvSpPr>
            <p:cNvPr id="13" name="Rectangle 13"/>
            <p:cNvSpPr/>
            <p:nvPr/>
          </p:nvSpPr>
          <p:spPr>
            <a:xfrm>
              <a:off x="4267200" y="1428750"/>
              <a:ext cx="7315200" cy="1714500"/>
            </a:xfrm>
            <a:prstGeom prst="roundRect">
              <a:avLst>
                <a:gd name="adj" fmla="val 6667"/>
              </a:avLst>
            </a:prstGeom>
            <a:solidFill>
              <a:schemeClr val="lt1"/>
            </a:solidFill>
            <a:ln w="14288">
              <a:solidFill>
                <a:schemeClr val="accent4"/>
              </a:solidFill>
            </a:ln>
            <a:effectLst>
              <a:outerShdw blurRad="76200" dist="28575" dir="5400000" algn="ctr" rotWithShape="0">
                <a:srgbClr val="0B2E52">
                  <a:alpha val="6000"/>
                </a:srgbClr>
              </a:outerShdw>
            </a:effectLst>
          </p:spPr>
        </p:sp>
        <p:sp>
          <p:nvSpPr>
            <p:cNvPr id="14" name="Rectangle 14"/>
            <p:cNvSpPr/>
            <p:nvPr/>
          </p:nvSpPr>
          <p:spPr>
            <a:xfrm>
              <a:off x="4267200" y="1428750"/>
              <a:ext cx="57150" cy="1714500"/>
            </a:xfrm>
            <a:prstGeom prst="roundRect">
              <a:avLst>
                <a:gd name="adj" fmla="val 50000"/>
              </a:avLst>
            </a:prstGeom>
            <a:solidFill>
              <a:srgbClr val="1F7A46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4490847" y="1647349"/>
              <a:ext cx="312912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spc="90" dirty="0">
                  <a:solidFill>
                    <a:srgbClr val="1F7A46"/>
                  </a:solidFill>
                  <a:latin typeface="+mn-lt"/>
                  <a:ea typeface="+mn-ea"/>
                  <a:cs typeface="+mn-cs"/>
                </a:rPr>
                <a:t>CIFAR-10 EMBEDDINGS · 1-BIT ACCURACY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476750" y="1952625"/>
              <a:ext cx="1281455" cy="8763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500" b="1" dirty="0">
                  <a:solidFill>
                    <a:srgbClr val="1F7A46"/>
                  </a:solidFill>
                  <a:latin typeface="Georgia"/>
                  <a:ea typeface="Georgia"/>
                  <a:cs typeface="Georgia"/>
                </a:rPr>
                <a:t>92%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661404" y="2080260"/>
              <a:ext cx="237667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LPLR accuracy at a single bit,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661404" y="2308860"/>
              <a:ext cx="245150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matching the unquantized 91%.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495800" y="2667000"/>
              <a:ext cx="6858000" cy="9525"/>
            </a:xfrm>
            <a:custGeom>
              <a:avLst/>
              <a:gdLst/>
              <a:ahLst/>
              <a:cxnLst/>
              <a:rect l="l" t="t" r="r" b="b"/>
              <a:pathLst>
                <a:path w="6858000" h="9525">
                  <a:moveTo>
                    <a:pt x="0" y="0"/>
                  </a:moveTo>
                  <a:lnTo>
                    <a:pt x="68580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487418" y="2793682"/>
              <a:ext cx="47266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chemeClr val="accent1"/>
                  </a:solidFill>
                  <a:latin typeface="Georgia"/>
                  <a:ea typeface="Georgia"/>
                  <a:cs typeface="Georgia"/>
                </a:rPr>
                <a:t>91%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099685" y="2850356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unquantized baseline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535418" y="2793682"/>
              <a:ext cx="47266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C0392B"/>
                  </a:solidFill>
                  <a:latin typeface="Georgia"/>
                  <a:ea typeface="Georgia"/>
                  <a:cs typeface="Georgia"/>
                </a:rPr>
                <a:t>11%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147685" y="2850356"/>
              <a:ext cx="194888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naive quantization at 1 bit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609600" y="3352800"/>
            <a:ext cx="6199201" cy="2384584"/>
            <a:chOff x="609600" y="3352800"/>
            <a:chExt cx="6199201" cy="2384584"/>
          </a:xfrm>
        </p:grpSpPr>
        <p:sp>
          <p:nvSpPr>
            <p:cNvPr id="25" name="Rectangle 25"/>
            <p:cNvSpPr/>
            <p:nvPr/>
          </p:nvSpPr>
          <p:spPr>
            <a:xfrm>
              <a:off x="609600" y="3352800"/>
              <a:ext cx="5353050" cy="2362200"/>
            </a:xfrm>
            <a:prstGeom prst="roundRect">
              <a:avLst>
                <a:gd name="adj" fmla="val 4839"/>
              </a:avLst>
            </a:prstGeom>
            <a:solidFill>
              <a:schemeClr val="lt1"/>
            </a:solidFill>
            <a:ln w="14288">
              <a:solidFill>
                <a:schemeClr val="accent4"/>
              </a:solidFill>
            </a:ln>
            <a:effectLst>
              <a:outerShdw blurRad="76200" dist="28575" dir="5400000" algn="ctr" rotWithShape="0">
                <a:srgbClr val="0B2E52">
                  <a:alpha val="6000"/>
                </a:srgbClr>
              </a:outerShdw>
            </a:effectLst>
          </p:spPr>
        </p:sp>
        <p:sp>
          <p:nvSpPr>
            <p:cNvPr id="26" name="Rectangle 26"/>
            <p:cNvSpPr/>
            <p:nvPr/>
          </p:nvSpPr>
          <p:spPr>
            <a:xfrm>
              <a:off x="609600" y="3352800"/>
              <a:ext cx="57150" cy="23622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909447" y="3533299"/>
              <a:ext cx="42108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spc="9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CIFAR-100: 79% vs ≈1% · LlaMa-7b PER-LAYER ERROR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914400" y="3733800"/>
              <a:ext cx="4743450" cy="1733550"/>
            </a:xfrm>
            <a:prstGeom prst="roundRect">
              <a:avLst>
                <a:gd name="adj" fmla="val 4396"/>
              </a:avLst>
            </a:pr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796574" y="3771900"/>
              <a:ext cx="2979102" cy="1676400"/>
            </a:xfrm>
            <a:prstGeom prst="rect">
              <a:avLst/>
            </a:prstGeom>
          </p:spPr>
        </p:pic>
        <p:sp>
          <p:nvSpPr>
            <p:cNvPr id="30" name="TextBox 30"/>
            <p:cNvSpPr txBox="1"/>
            <p:nvPr/>
          </p:nvSpPr>
          <p:spPr>
            <a:xfrm>
              <a:off x="908685" y="5517356"/>
              <a:ext cx="590011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 xml:space="preserve">LlaMa-7b weights: LPLR-SVD </a:t>
              </a:r>
              <a:r>
                <a:rPr lang="en-US" sz="1120" b="1" dirty="0">
                  <a:solidFill>
                    <a:srgbClr val="1F7A46"/>
                  </a:solidFill>
                  <a:latin typeface="+mn-lt"/>
                  <a:ea typeface="+mn-ea"/>
                  <a:cs typeface="+mn-cs"/>
                </a:rPr>
                <a:t>0.54</a:t>
              </a:r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 xml:space="preserve"> vs naive </a:t>
              </a:r>
              <a:r>
                <a:rPr lang="en-US" sz="1120" b="1" dirty="0">
                  <a:solidFill>
                    <a:srgbClr val="C0392B"/>
                  </a:solidFill>
                  <a:latin typeface="+mn-lt"/>
                  <a:ea typeface="+mn-ea"/>
                  <a:cs typeface="+mn-cs"/>
                </a:rPr>
                <a:t>0.84</a:t>
              </a:r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 xml:space="preserve"> — lower and steadier per layer.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6229350" y="3352800"/>
            <a:ext cx="5353050" cy="2362200"/>
            <a:chOff x="6229350" y="3352800"/>
            <a:chExt cx="5353050" cy="2362200"/>
          </a:xfrm>
        </p:grpSpPr>
        <p:sp>
          <p:nvSpPr>
            <p:cNvPr id="32" name="Rectangle 32"/>
            <p:cNvSpPr/>
            <p:nvPr/>
          </p:nvSpPr>
          <p:spPr>
            <a:xfrm>
              <a:off x="6229350" y="3352800"/>
              <a:ext cx="5353050" cy="2362200"/>
            </a:xfrm>
            <a:prstGeom prst="roundRect">
              <a:avLst>
                <a:gd name="adj" fmla="val 4839"/>
              </a:avLst>
            </a:prstGeom>
            <a:solidFill>
              <a:schemeClr val="accent6"/>
            </a:solidFill>
            <a:ln w="14288">
              <a:solidFill>
                <a:schemeClr val="accent2"/>
              </a:solidFill>
            </a:ln>
            <a:effectLst>
              <a:outerShdw blurRad="76200" dist="28575" dir="5400000" algn="ctr" rotWithShape="0">
                <a:srgbClr val="0B2E52">
                  <a:alpha val="6000"/>
                </a:srgbClr>
              </a:outerShdw>
            </a:effectLst>
          </p:spPr>
        </p:sp>
        <p:sp>
          <p:nvSpPr>
            <p:cNvPr id="33" name="Rectangle 33"/>
            <p:cNvSpPr/>
            <p:nvPr/>
          </p:nvSpPr>
          <p:spPr>
            <a:xfrm>
              <a:off x="6229350" y="3352800"/>
              <a:ext cx="57150" cy="2362200"/>
            </a:xfrm>
            <a:prstGeom prst="roundRect">
              <a:avLst>
                <a:gd name="adj" fmla="val 50000"/>
              </a:avLst>
            </a:prstGeom>
            <a:solidFill>
              <a:srgbClr val="1F7A46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529197" y="3571399"/>
              <a:ext cx="116796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spc="90" dirty="0">
                  <a:solidFill>
                    <a:srgbClr val="1F7A46"/>
                  </a:solidFill>
                  <a:latin typeface="+mn-lt"/>
                  <a:ea typeface="+mn-ea"/>
                  <a:cs typeface="+mn-cs"/>
                </a:rPr>
                <a:t>COMPUTE COST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6534150" y="3848100"/>
              <a:ext cx="1905000" cy="4572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9525">
              <a:solidFill>
                <a:schemeClr val="accent4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969729" y="3974782"/>
              <a:ext cx="103384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b="1" dirty="0">
                  <a:solidFill>
                    <a:srgbClr val="1F7A46"/>
                  </a:solidFill>
                  <a:latin typeface="Consolas"/>
                  <a:ea typeface="Consolas"/>
                  <a:cs typeface="Consolas"/>
                </a:rPr>
                <a:t>O(n d m)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623173" y="4015264"/>
              <a:ext cx="112087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LPLR runtime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526530" y="4467225"/>
              <a:ext cx="306434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Far cheaper than a full SVD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528054" y="4804410"/>
              <a:ext cx="181877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A large saving over the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6534150" y="5048250"/>
              <a:ext cx="1428750" cy="342900"/>
            </a:xfrm>
            <a:prstGeom prst="roundRect">
              <a:avLst>
                <a:gd name="adj" fmla="val 16667"/>
              </a:avLst>
            </a:prstGeom>
            <a:solidFill>
              <a:srgbClr val="FBEAE8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891796" y="5148739"/>
              <a:ext cx="71345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C0392B"/>
                  </a:solidFill>
                  <a:latin typeface="Consolas"/>
                  <a:ea typeface="Consolas"/>
                  <a:cs typeface="Consolas"/>
                </a:rPr>
                <a:t>O(n d²)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109204" y="5156835"/>
              <a:ext cx="150824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cost of exact SVD.</a:t>
              </a:r>
            </a:p>
          </p:txBody>
        </p:sp>
      </p:grpSp>
      <p:sp>
        <p:nvSpPr>
          <p:cNvPr id="44" name="TextBox 44"/>
          <p:cNvSpPr txBox="1"/>
          <p:nvPr/>
        </p:nvSpPr>
        <p:spPr>
          <a:xfrm>
            <a:off x="11207836" y="6578441"/>
            <a:ext cx="379326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82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09 / 10</a:t>
            </a:r>
          </a:p>
        </p:txBody>
      </p:sp>
      <p:sp>
        <p:nvSpPr>
          <p:cNvPr id="45" name="cue_s09_c1_numbers_lplr_compresses_one_bit" title="cue_s09_c1_numbers_lplr_compresses_one_bit" descr="cue_s09_c1_numbers_lplr_compresses_one_bit By the numbers: LPLR compresses to one bit per coordinate."/>
          <p:cNvSpPr/>
          <p:nvPr/>
        </p:nvSpPr>
        <p:spPr>
          <a:xfrm>
            <a:off x="609600" y="1428521"/>
            <a:ext cx="3428390" cy="1714500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cue_s09_c2_cifar_10_one_bit_ninety_two_percent" title="cue_s09_c2_cifar_10_one_bit_ninety_two_percent" descr="cue_s09_c2_cifar_10_one_bit_ninety_two_percent On CIFAR-10 at one bit, ninety-two percent accuracy versus eleven for naive quant, matching the unquantized ninety-one."/>
          <p:cNvSpPr/>
          <p:nvPr/>
        </p:nvSpPr>
        <p:spPr>
          <a:xfrm>
            <a:off x="4267200" y="1428521"/>
            <a:ext cx="7315200" cy="1714500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cue_s09_c3_cifar_100_seventy_nine_versus_one_ll" title="cue_s09_c3_cifar_100_seventy_nine_versus_one_ll" descr="cue_s09_c3_cifar_100_seventy_nine_versus_one_ll On CIFAR-100, seventy-nine versus one. On LlaMa-7b, mean Frobenius error zero point five four for LPLR-SVD versus zero point eight four."/>
          <p:cNvSpPr/>
          <p:nvPr/>
        </p:nvSpPr>
        <p:spPr>
          <a:xfrm>
            <a:off x="609600" y="3352876"/>
            <a:ext cx="5353507" cy="2361895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cue_s09_c4_runs_order_time_far_cheaper" title="cue_s09_c4_runs_order_time_far_cheaper" descr="cue_s09_c4_runs_order_time_far_cheaper And it runs in order n d m time, far cheaper than a full SVD."/>
          <p:cNvSpPr/>
          <p:nvPr/>
        </p:nvSpPr>
        <p:spPr>
          <a:xfrm>
            <a:off x="6228892" y="3352876"/>
            <a:ext cx="5353507" cy="2361895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95250" cy="6858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604647" y="666750"/>
            <a:ext cx="4077778" cy="447389"/>
            <a:chOff x="604647" y="666750"/>
            <a:chExt cx="4077778" cy="447389"/>
          </a:xfrm>
        </p:grpSpPr>
        <p:sp>
          <p:nvSpPr>
            <p:cNvPr id="5" name="Rectangle 5"/>
            <p:cNvSpPr/>
            <p:nvPr/>
          </p:nvSpPr>
          <p:spPr>
            <a:xfrm>
              <a:off x="609600" y="666750"/>
              <a:ext cx="609600" cy="38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604647" y="923449"/>
              <a:ext cx="407777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spc="188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TAKEAWAY · LOW RANK MEETS LOW PRECISION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609600" y="1333500"/>
            <a:ext cx="10972800" cy="1464278"/>
            <a:chOff x="609600" y="1333500"/>
            <a:chExt cx="10972800" cy="1464278"/>
          </a:xfrm>
        </p:grpSpPr>
        <p:sp>
          <p:nvSpPr>
            <p:cNvPr id="8" name="Rectangle 8"/>
            <p:cNvSpPr/>
            <p:nvPr/>
          </p:nvSpPr>
          <p:spPr>
            <a:xfrm>
              <a:off x="609600" y="1333500"/>
              <a:ext cx="10972800" cy="1428750"/>
            </a:xfrm>
            <a:prstGeom prst="roundRect">
              <a:avLst>
                <a:gd name="adj" fmla="val 8000"/>
              </a:avLst>
            </a:prstGeom>
            <a:solidFill>
              <a:schemeClr val="accent1"/>
            </a:solidFill>
            <a:ln>
              <a:noFill/>
            </a:ln>
            <a:effectLst>
              <a:outerShdw blurRad="76200" dist="28575" dir="5400000" algn="ctr" rotWithShape="0">
                <a:srgbClr val="0B2E52">
                  <a:alpha val="6000"/>
                </a:srgbClr>
              </a:outerShdw>
            </a:effectLst>
          </p:spPr>
        </p:sp>
        <p:sp>
          <p:nvSpPr>
            <p:cNvPr id="9" name="Rectangle 9"/>
            <p:cNvSpPr/>
            <p:nvPr/>
          </p:nvSpPr>
          <p:spPr>
            <a:xfrm>
              <a:off x="609600" y="1333500"/>
              <a:ext cx="57150" cy="142875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909447" y="1590199"/>
              <a:ext cx="97036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spc="9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THE BIG IDEA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02970" y="1852612"/>
              <a:ext cx="762644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250" b="1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Low rank and low precision are complementary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07923" y="2319814"/>
              <a:ext cx="874651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DBE3EE"/>
                  </a:solidFill>
                  <a:latin typeface="+mn-lt"/>
                  <a:ea typeface="+mn-ea"/>
                  <a:cs typeface="+mn-cs"/>
                </a:rPr>
                <a:t>Exploiting both together — not just one — is what unlocks extreme compression without losing accuracy.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07923" y="2548414"/>
              <a:ext cx="349984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DBE3EE"/>
                  </a:solidFill>
                  <a:latin typeface="+mn-lt"/>
                  <a:ea typeface="+mn-ea"/>
                  <a:cs typeface="+mn-cs"/>
                </a:rPr>
                <a:t>That fusion is the paper's core message.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609600" y="2914650"/>
            <a:ext cx="7048500" cy="2800350"/>
            <a:chOff x="609600" y="2914650"/>
            <a:chExt cx="7048500" cy="2800350"/>
          </a:xfrm>
        </p:grpSpPr>
        <p:sp>
          <p:nvSpPr>
            <p:cNvPr id="15" name="Rectangle 15"/>
            <p:cNvSpPr/>
            <p:nvPr/>
          </p:nvSpPr>
          <p:spPr>
            <a:xfrm>
              <a:off x="609600" y="2914650"/>
              <a:ext cx="7048500" cy="2800350"/>
            </a:xfrm>
            <a:prstGeom prst="roundRect">
              <a:avLst>
                <a:gd name="adj" fmla="val 4082"/>
              </a:avLst>
            </a:prstGeom>
            <a:solidFill>
              <a:schemeClr val="lt1"/>
            </a:solidFill>
            <a:ln w="14288">
              <a:solidFill>
                <a:schemeClr val="accent4"/>
              </a:solidFill>
            </a:ln>
            <a:effectLst>
              <a:outerShdw blurRad="76200" dist="28575" dir="5400000" algn="ctr" rotWithShape="0">
                <a:srgbClr val="0B2E52">
                  <a:alpha val="6000"/>
                </a:srgbClr>
              </a:outerShdw>
            </a:effectLst>
          </p:spPr>
        </p:sp>
        <p:sp>
          <p:nvSpPr>
            <p:cNvPr id="16" name="Rectangle 16"/>
            <p:cNvSpPr/>
            <p:nvPr/>
          </p:nvSpPr>
          <p:spPr>
            <a:xfrm>
              <a:off x="609600" y="2914650"/>
              <a:ext cx="57150" cy="280035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9447" y="3152299"/>
              <a:ext cx="159604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spc="9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WHAT LPLR DELIVERS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06018" y="3384232"/>
              <a:ext cx="513963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Sketch, quantize, compress — with bounds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08304" y="3737610"/>
              <a:ext cx="610491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Sketch a matrix with a Gaussian random projection and quantize the resulting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08304" y="3966210"/>
              <a:ext cx="5157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factors — and compression reaches about one bit per coordinate.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914400" y="4305300"/>
              <a:ext cx="2095500" cy="571500"/>
            </a:xfrm>
            <a:prstGeom prst="roundRect">
              <a:avLst>
                <a:gd name="adj" fmla="val 13333"/>
              </a:avLst>
            </a:prstGeom>
            <a:solidFill>
              <a:srgbClr val="EAF3EC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250986" y="4447699"/>
              <a:ext cx="142232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7A46"/>
                  </a:solidFill>
                  <a:latin typeface="+mn-lt"/>
                  <a:ea typeface="+mn-ea"/>
                  <a:cs typeface="+mn-cs"/>
                </a:rPr>
                <a:t>ACCURACY PRESERVED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001723" y="4649152"/>
              <a:ext cx="192085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images · embeddings · LLMs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3162300" y="4305300"/>
              <a:ext cx="2095500" cy="571500"/>
            </a:xfrm>
            <a:prstGeom prst="roundRect">
              <a:avLst>
                <a:gd name="adj" fmla="val 13333"/>
              </a:avLst>
            </a:prstGeom>
            <a:solidFill>
              <a:srgbClr val="EAF0F9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3590364" y="4447699"/>
              <a:ext cx="123937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PROVABLE BOUNDS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141050" y="4649152"/>
              <a:ext cx="213800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error controlled by rank &amp; bits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410200" y="4305300"/>
              <a:ext cx="1943100" cy="571500"/>
            </a:xfrm>
            <a:prstGeom prst="roundRect">
              <a:avLst>
                <a:gd name="adj" fmla="val 13333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5835247" y="4447699"/>
              <a:ext cx="10930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≈ 1 BIT / COORD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644925" y="4649152"/>
              <a:ext cx="147365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extreme compression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08304" y="5090160"/>
              <a:ext cx="58414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One randomized pass gives both low-rank and low-precision factors, with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08304" y="5318760"/>
              <a:ext cx="489889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upper bounds on the approximation error the whole way down.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7886700" y="2914650"/>
            <a:ext cx="3695700" cy="2800350"/>
            <a:chOff x="7886700" y="2914650"/>
            <a:chExt cx="3695700" cy="2800350"/>
          </a:xfrm>
        </p:grpSpPr>
        <p:sp>
          <p:nvSpPr>
            <p:cNvPr id="33" name="Rectangle 33"/>
            <p:cNvSpPr/>
            <p:nvPr/>
          </p:nvSpPr>
          <p:spPr>
            <a:xfrm>
              <a:off x="7886700" y="2914650"/>
              <a:ext cx="3695700" cy="2800350"/>
            </a:xfrm>
            <a:prstGeom prst="roundRect">
              <a:avLst>
                <a:gd name="adj" fmla="val 4082"/>
              </a:avLst>
            </a:prstGeom>
            <a:solidFill>
              <a:schemeClr val="accent6"/>
            </a:solidFill>
            <a:ln w="14288">
              <a:solidFill>
                <a:schemeClr val="accent2"/>
              </a:solidFill>
            </a:ln>
            <a:effectLst>
              <a:outerShdw blurRad="76200" dist="28575" dir="5400000" algn="ctr" rotWithShape="0">
                <a:srgbClr val="0B2E52">
                  <a:alpha val="6000"/>
                </a:srgbClr>
              </a:outerShdw>
            </a:effectLst>
          </p:spPr>
        </p:sp>
        <p:sp>
          <p:nvSpPr>
            <p:cNvPr id="34" name="Rectangle 34"/>
            <p:cNvSpPr/>
            <p:nvPr/>
          </p:nvSpPr>
          <p:spPr>
            <a:xfrm>
              <a:off x="7886700" y="2914650"/>
              <a:ext cx="57150" cy="2800350"/>
            </a:xfrm>
            <a:prstGeom prst="roundRect">
              <a:avLst>
                <a:gd name="adj" fmla="val 50000"/>
              </a:avLst>
            </a:prstGeom>
            <a:solidFill>
              <a:srgbClr val="1F7A46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8186547" y="3152299"/>
              <a:ext cx="11295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spc="90" dirty="0">
                  <a:solidFill>
                    <a:srgbClr val="1F7A46"/>
                  </a:solidFill>
                  <a:latin typeface="+mn-lt"/>
                  <a:ea typeface="+mn-ea"/>
                  <a:cs typeface="+mn-cs"/>
                </a:rPr>
                <a:t>WHY IT SCALES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183118" y="3422332"/>
              <a:ext cx="212198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No expensive SVD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8191500" y="3790950"/>
              <a:ext cx="1714500" cy="438150"/>
            </a:xfrm>
            <a:prstGeom prst="roundRect">
              <a:avLst>
                <a:gd name="adj" fmla="val 17391"/>
              </a:avLst>
            </a:prstGeom>
            <a:solidFill>
              <a:schemeClr val="lt1"/>
            </a:solidFill>
            <a:ln w="9525">
              <a:solidFill>
                <a:schemeClr val="accent4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603860" y="3922871"/>
              <a:ext cx="88978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420" b="1" dirty="0">
                  <a:solidFill>
                    <a:srgbClr val="1F7A46"/>
                  </a:solidFill>
                  <a:latin typeface="Consolas"/>
                  <a:ea typeface="Consolas"/>
                  <a:cs typeface="Consolas"/>
                </a:rPr>
                <a:t>O(n d m)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185404" y="4385310"/>
              <a:ext cx="258575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Avoiding the exact singular value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185404" y="4594860"/>
              <a:ext cx="297309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decomposition makes LPLR a practical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185404" y="4804410"/>
              <a:ext cx="30572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option for the very largest matrices —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185404" y="5013960"/>
              <a:ext cx="32188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exactly where exact methods do not fit.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185785" y="5384006"/>
              <a:ext cx="264930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i="1" dirty="0">
                  <a:solidFill>
                    <a:schemeClr val="accent2"/>
                  </a:solidFill>
                  <a:latin typeface="Georgia"/>
                  <a:ea typeface="Georgia"/>
                  <a:cs typeface="Georgia"/>
                </a:rPr>
                <a:t>Practical at billion-entry scale.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604838" y="6570345"/>
            <a:ext cx="10982324" cy="176212"/>
            <a:chOff x="604838" y="6570345"/>
            <a:chExt cx="10982324" cy="176212"/>
          </a:xfrm>
        </p:grpSpPr>
        <p:sp>
          <p:nvSpPr>
            <p:cNvPr id="45" name="TextBox 45"/>
            <p:cNvSpPr txBox="1"/>
            <p:nvPr/>
          </p:nvSpPr>
          <p:spPr>
            <a:xfrm>
              <a:off x="604838" y="6570345"/>
              <a:ext cx="491575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Saha, Srivastava, Pilanci · Stanford University · NeurIPS 2023 · arXiv:2310.11028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1207836" y="6578441"/>
              <a:ext cx="37932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10 / 10</a:t>
              </a:r>
            </a:p>
          </p:txBody>
        </p:sp>
      </p:grpSp>
      <p:sp>
        <p:nvSpPr>
          <p:cNvPr id="48" name="cue_s10_c1_takeaway_low_rank_low_precision" title="cue_s10_c1_takeaway_low_rank_low_precision" descr="cue_s10_c1_takeaway_low_rank_low_precision The takeaway: low rank and low precision are complementary, and exploiting them together pays off."/>
          <p:cNvSpPr/>
          <p:nvPr/>
        </p:nvSpPr>
        <p:spPr>
          <a:xfrm>
            <a:off x="609600" y="1333195"/>
            <a:ext cx="10972800" cy="1464183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cue_s10_c2_sketching_matrix_gaussian_projection" title="cue_s10_c2_sketching_matrix_gaussian_projection" descr="cue_s10_c2_sketching_matrix_gaussian_projection By sketching a matrix with a Gaussian projection and quantizing the factors, LPLR compresses to one bit per coordinate while preserving accuracy on images, embeddings, and LLM weights, with provable error bounds."/>
          <p:cNvSpPr/>
          <p:nvPr/>
        </p:nvSpPr>
        <p:spPr>
          <a:xfrm>
            <a:off x="609600" y="2914650"/>
            <a:ext cx="7048195" cy="2800121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cue_s10_c3_avoiding_costly_svd_scales_largest" title="cue_s10_c3_avoiding_costly_svd_scales_largest" descr="cue_s10_c3_avoiding_costly_svd_scales_largest And by avoiding costly SVD, it scales to largest matrices."/>
          <p:cNvSpPr/>
          <p:nvPr/>
        </p:nvSpPr>
        <p:spPr>
          <a:xfrm>
            <a:off x="7887004" y="2914650"/>
            <a:ext cx="3695395" cy="2800121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p2v_020_matrixcompress">
  <a:themeElements>
    <a:clrScheme name="p2v_020_matrixcompress">
      <a:dk1>
        <a:srgbClr val="12202E"/>
      </a:dk1>
      <a:lt1>
        <a:srgbClr val="FFFFFF"/>
      </a:lt1>
      <a:dk2>
        <a:srgbClr val="46586A"/>
      </a:dk2>
      <a:lt2>
        <a:srgbClr val="F4F7FB"/>
      </a:lt2>
      <a:accent1>
        <a:srgbClr val="0B2E52"/>
      </a:accent1>
      <a:accent2>
        <a:srgbClr val="2C6FE0"/>
      </a:accent2>
      <a:accent3>
        <a:srgbClr val="6FA5EC"/>
      </a:accent3>
      <a:accent4>
        <a:srgbClr val="DBE3EE"/>
      </a:accent4>
      <a:accent5>
        <a:srgbClr val="93A2B2"/>
      </a:accent5>
      <a:accent6>
        <a:srgbClr val="E9F1FC"/>
      </a:accent6>
      <a:hlink>
        <a:srgbClr val="2C6FE0"/>
      </a:hlink>
      <a:folHlink>
        <a:srgbClr val="6FA5EC"/>
      </a:folHlink>
    </a:clrScheme>
    <a:fontScheme name="p2v_020_matrixcompress">
      <a:majorFont>
        <a:latin typeface="Georgia"/>
        <a:ea typeface="Microsoft YaHei"/>
        <a:cs typeface="Georgia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2v_020_matrixcompres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2026-07-15T09:31:39Z</dcterms:created>
  <dcterms:modified xsi:type="dcterms:W3CDTF">2026-07-15T09:31:39Z</dcterms:modified>
  <cp:category/>
  <cp:contentStatus/>
</cp:coreProperties>
</file>
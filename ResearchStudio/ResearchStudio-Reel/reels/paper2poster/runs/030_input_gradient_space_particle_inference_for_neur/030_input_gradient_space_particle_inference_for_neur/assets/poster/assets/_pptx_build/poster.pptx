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51206400" cy="3072384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Relationship Id="rId5" Type="http://schemas.openxmlformats.org/officeDocument/2006/relationships/image" Target="../media/image4.png"/><Relationship Id="rId6" Type="http://schemas.openxmlformats.org/officeDocument/2006/relationships/image" Target="../media/image5.png"/><Relationship Id="rId7" Type="http://schemas.openxmlformats.org/officeDocument/2006/relationships/image" Target="../media/image6.png"/><Relationship Id="rId8" Type="http://schemas.openxmlformats.org/officeDocument/2006/relationships/image" Target="../media/image7.png"/><Relationship Id="rId9" Type="http://schemas.openxmlformats.org/officeDocument/2006/relationships/image" Target="../media/image8.png"/><Relationship Id="rId10" Type="http://schemas.openxmlformats.org/officeDocument/2006/relationships/image" Target="../media/image9.png"/><Relationship Id="rId11" Type="http://schemas.openxmlformats.org/officeDocument/2006/relationships/image" Target="../media/image10.png"/><Relationship Id="rId12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ounded Rectangle 1"/>
          <p:cNvSpPr/>
          <p:nvPr/>
        </p:nvSpPr>
        <p:spPr>
          <a:xfrm>
            <a:off x="651887" y="651887"/>
            <a:ext cx="49902625" cy="5081190"/>
          </a:xfrm>
          <a:prstGeom prst="roundRect">
            <a:avLst>
              <a:gd name="adj" fmla="val 2799"/>
            </a:avLst>
          </a:prstGeom>
          <a:solidFill>
            <a:srgbClr val="E6F0EA"/>
          </a:solidFill>
          <a:ln>
            <a:noFill/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ounded Rectangle 2"/>
          <p:cNvSpPr/>
          <p:nvPr/>
        </p:nvSpPr>
        <p:spPr>
          <a:xfrm>
            <a:off x="651887" y="6254531"/>
            <a:ext cx="16349682" cy="8076982"/>
          </a:xfrm>
          <a:prstGeom prst="roundRect">
            <a:avLst>
              <a:gd name="adj" fmla="val 2054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ounded Rectangle 3"/>
          <p:cNvSpPr/>
          <p:nvPr/>
        </p:nvSpPr>
        <p:spPr>
          <a:xfrm>
            <a:off x="17428289" y="6254531"/>
            <a:ext cx="16349682" cy="16275368"/>
          </a:xfrm>
          <a:prstGeom prst="roundRect">
            <a:avLst>
              <a:gd name="adj" fmla="val 1019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34204691" y="6254531"/>
            <a:ext cx="16349821" cy="16309261"/>
          </a:xfrm>
          <a:prstGeom prst="roundRect">
            <a:avLst>
              <a:gd name="adj" fmla="val 1017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651887" y="14663360"/>
            <a:ext cx="16349682" cy="15408592"/>
          </a:xfrm>
          <a:prstGeom prst="roundRect">
            <a:avLst>
              <a:gd name="adj" fmla="val 1076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7428289" y="22861746"/>
            <a:ext cx="16349682" cy="7210206"/>
          </a:xfrm>
          <a:prstGeom prst="roundRect">
            <a:avLst>
              <a:gd name="adj" fmla="val 2301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Rounded Rectangle 7"/>
          <p:cNvSpPr/>
          <p:nvPr/>
        </p:nvSpPr>
        <p:spPr>
          <a:xfrm>
            <a:off x="34204691" y="22895639"/>
            <a:ext cx="16349821" cy="7176313"/>
          </a:xfrm>
          <a:prstGeom prst="roundRect">
            <a:avLst>
              <a:gd name="adj" fmla="val 2312"/>
            </a:avLst>
          </a:prstGeom>
          <a:solidFill>
            <a:srgbClr val="FFFFFF"/>
          </a:solidFill>
          <a:ln w="8890">
            <a:solidFill>
              <a:srgbClr val="EEEEEE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9" name="Picture 8" descr="_venu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805544" y="3958140"/>
            <a:ext cx="5048131" cy="1466836"/>
          </a:xfrm>
          <a:prstGeom prst="rect">
            <a:avLst/>
          </a:prstGeom>
        </p:spPr>
      </p:pic>
      <p:pic>
        <p:nvPicPr>
          <p:cNvPr id="10" name="Picture 9" descr="aalto-university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090649" y="3958146"/>
            <a:ext cx="1613813" cy="1466824"/>
          </a:xfrm>
          <a:prstGeom prst="rect">
            <a:avLst/>
          </a:prstGeom>
        </p:spPr>
      </p:pic>
      <p:pic>
        <p:nvPicPr>
          <p:cNvPr id="11" name="Picture 10" descr="university-of-helsinki-finlan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5941436" y="3958192"/>
            <a:ext cx="1509356" cy="1466732"/>
          </a:xfrm>
          <a:prstGeom prst="rect">
            <a:avLst/>
          </a:prstGeom>
        </p:spPr>
      </p:pic>
      <p:pic>
        <p:nvPicPr>
          <p:cNvPr id="12" name="Picture 11" descr="university-of-manchester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7687766" y="3958143"/>
            <a:ext cx="4712950" cy="1466830"/>
          </a:xfrm>
          <a:prstGeom prst="rect">
            <a:avLst/>
          </a:prstGeom>
        </p:spPr>
      </p:pic>
      <p:sp>
        <p:nvSpPr>
          <p:cNvPr id="13" name="Rectangle 12"/>
          <p:cNvSpPr/>
          <p:nvPr/>
        </p:nvSpPr>
        <p:spPr>
          <a:xfrm>
            <a:off x="1039991" y="6642635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1039991" y="7552888"/>
            <a:ext cx="1557347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17816393" y="6642635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Rectangle 15"/>
          <p:cNvSpPr/>
          <p:nvPr/>
        </p:nvSpPr>
        <p:spPr>
          <a:xfrm>
            <a:off x="17816393" y="7552888"/>
            <a:ext cx="1557347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7" name="Rectangle 16"/>
          <p:cNvSpPr/>
          <p:nvPr/>
        </p:nvSpPr>
        <p:spPr>
          <a:xfrm>
            <a:off x="34592795" y="6642635"/>
            <a:ext cx="1557361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Rectangle 17"/>
          <p:cNvSpPr/>
          <p:nvPr/>
        </p:nvSpPr>
        <p:spPr>
          <a:xfrm>
            <a:off x="34592795" y="7552888"/>
            <a:ext cx="1557361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9" name="Rectangle 18"/>
          <p:cNvSpPr/>
          <p:nvPr/>
        </p:nvSpPr>
        <p:spPr>
          <a:xfrm>
            <a:off x="1039991" y="12201663"/>
            <a:ext cx="15573474" cy="148101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1039991" y="12201663"/>
            <a:ext cx="124460" cy="1481019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1" name="Rounded Rectangle 20"/>
          <p:cNvSpPr/>
          <p:nvPr/>
        </p:nvSpPr>
        <p:spPr>
          <a:xfrm>
            <a:off x="17816393" y="13952993"/>
            <a:ext cx="15573474" cy="2707561"/>
          </a:xfrm>
          <a:prstGeom prst="roundRect">
            <a:avLst>
              <a:gd name="adj" fmla="val 5393"/>
            </a:avLst>
          </a:prstGeom>
          <a:solidFill>
            <a:srgbClr val="F2F5F3"/>
          </a:solidFill>
          <a:ln w="8890">
            <a:solidFill>
              <a:srgbClr val="BBCCC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1039991" y="15051464"/>
            <a:ext cx="15573474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Rectangle 22"/>
          <p:cNvSpPr/>
          <p:nvPr/>
        </p:nvSpPr>
        <p:spPr>
          <a:xfrm>
            <a:off x="1039991" y="15961717"/>
            <a:ext cx="1557347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4" name="Rounded Rectangle 23"/>
          <p:cNvSpPr/>
          <p:nvPr/>
        </p:nvSpPr>
        <p:spPr>
          <a:xfrm>
            <a:off x="1039991" y="22557263"/>
            <a:ext cx="15573474" cy="1647984"/>
          </a:xfrm>
          <a:prstGeom prst="roundRect">
            <a:avLst>
              <a:gd name="adj" fmla="val 12659"/>
            </a:avLst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Rectangle 24"/>
          <p:cNvSpPr/>
          <p:nvPr/>
        </p:nvSpPr>
        <p:spPr>
          <a:xfrm>
            <a:off x="17816393" y="23249850"/>
            <a:ext cx="15573474" cy="92803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Rectangle 25"/>
          <p:cNvSpPr/>
          <p:nvPr/>
        </p:nvSpPr>
        <p:spPr>
          <a:xfrm>
            <a:off x="17816393" y="24160102"/>
            <a:ext cx="15573474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7" name="Rectangle 26"/>
          <p:cNvSpPr/>
          <p:nvPr/>
        </p:nvSpPr>
        <p:spPr>
          <a:xfrm>
            <a:off x="34592795" y="23283743"/>
            <a:ext cx="15573613" cy="928033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Rectangle 27"/>
          <p:cNvSpPr/>
          <p:nvPr/>
        </p:nvSpPr>
        <p:spPr>
          <a:xfrm>
            <a:off x="34592795" y="24193996"/>
            <a:ext cx="15573613" cy="17780"/>
          </a:xfrm>
          <a:prstGeom prst="rect">
            <a:avLst/>
          </a:prstGeom>
          <a:solidFill>
            <a:srgbClr val="D1DCD5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9" name="Rounded Rectangle 28"/>
          <p:cNvSpPr/>
          <p:nvPr/>
        </p:nvSpPr>
        <p:spPr>
          <a:xfrm>
            <a:off x="34592795" y="24665305"/>
            <a:ext cx="15573613" cy="3223736"/>
          </a:xfrm>
          <a:prstGeom prst="roundRect">
            <a:avLst>
              <a:gd name="adj" fmla="val 2206"/>
            </a:avLst>
          </a:prstGeom>
          <a:gradFill rotWithShape="1" flip="none">
            <a:gsLst>
              <a:gs pos="0">
                <a:srgbClr val="E6ECE8"/>
              </a:gs>
              <a:gs pos="100000">
                <a:srgbClr val="F2F5F3"/>
              </a:gs>
            </a:gsLst>
            <a:lin ang="5400000" scaled="0"/>
          </a:gradFill>
          <a:ln w="8890">
            <a:solidFill>
              <a:srgbClr val="CAD7CF"/>
            </a:solidFill>
          </a:ln>
          <a:effectLst>
            <a:outerShdw blurRad="63500" dist="19050" dir="10800000" algn="ctr" rotWithShape="0">
              <a:srgbClr val="000000">
                <a:alpha val="15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34592795" y="28022530"/>
            <a:ext cx="15573613" cy="1481018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Rectangle 30"/>
          <p:cNvSpPr/>
          <p:nvPr/>
        </p:nvSpPr>
        <p:spPr>
          <a:xfrm>
            <a:off x="34592795" y="28022530"/>
            <a:ext cx="124460" cy="1481018"/>
          </a:xfrm>
          <a:prstGeom prst="rect">
            <a:avLst/>
          </a:prstGeom>
          <a:solidFill>
            <a:srgbClr val="2D5F3E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32" name="Rounded Rectangle 31"/>
          <p:cNvSpPr/>
          <p:nvPr/>
        </p:nvSpPr>
        <p:spPr>
          <a:xfrm>
            <a:off x="34592795" y="10286007"/>
            <a:ext cx="15573613" cy="5221625"/>
          </a:xfrm>
          <a:prstGeom prst="roundRect">
            <a:avLst>
              <a:gd name="adj" fmla="val 681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3" name="Picture 32" descr="figure4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4592928" y="10286007"/>
            <a:ext cx="15573348" cy="5221625"/>
          </a:xfrm>
          <a:prstGeom prst="rect">
            <a:avLst/>
          </a:prstGeom>
        </p:spPr>
      </p:pic>
      <p:sp>
        <p:nvSpPr>
          <p:cNvPr id="34" name="Rounded Rectangle 33"/>
          <p:cNvSpPr/>
          <p:nvPr/>
        </p:nvSpPr>
        <p:spPr>
          <a:xfrm>
            <a:off x="34652942" y="17075467"/>
            <a:ext cx="15453320" cy="3820755"/>
          </a:xfrm>
          <a:prstGeom prst="roundRect">
            <a:avLst>
              <a:gd name="adj" fmla="val 930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5" name="Picture 34" descr="figure3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34653089" y="17075467"/>
            <a:ext cx="15453025" cy="3820755"/>
          </a:xfrm>
          <a:prstGeom prst="rect">
            <a:avLst/>
          </a:prstGeom>
        </p:spPr>
      </p:pic>
      <p:sp>
        <p:nvSpPr>
          <p:cNvPr id="36" name="Rounded Rectangle 35"/>
          <p:cNvSpPr/>
          <p:nvPr/>
        </p:nvSpPr>
        <p:spPr>
          <a:xfrm>
            <a:off x="17852647" y="17168812"/>
            <a:ext cx="15500966" cy="3693517"/>
          </a:xfrm>
          <a:prstGeom prst="roundRect">
            <a:avLst>
              <a:gd name="adj" fmla="val 962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7" name="Picture 36" descr="figure1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7852823" y="17168812"/>
            <a:ext cx="15500614" cy="3693517"/>
          </a:xfrm>
          <a:prstGeom prst="rect">
            <a:avLst/>
          </a:prstGeom>
        </p:spPr>
      </p:pic>
      <p:sp>
        <p:nvSpPr>
          <p:cNvPr id="38" name="Rounded Rectangle 37"/>
          <p:cNvSpPr/>
          <p:nvPr/>
        </p:nvSpPr>
        <p:spPr>
          <a:xfrm>
            <a:off x="1058048" y="24765595"/>
            <a:ext cx="15537359" cy="3638788"/>
          </a:xfrm>
          <a:prstGeom prst="roundRect">
            <a:avLst>
              <a:gd name="adj" fmla="val 977"/>
            </a:avLst>
          </a:prstGeom>
          <a:solidFill>
            <a:srgbClr val="FFFFFF"/>
          </a:solidFill>
          <a:ln w="8890">
            <a:solidFill>
              <a:srgbClr val="E5E5E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pic>
        <p:nvPicPr>
          <p:cNvPr id="39" name="Picture 38" descr="figure2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058229" y="24765595"/>
            <a:ext cx="15536998" cy="3638788"/>
          </a:xfrm>
          <a:prstGeom prst="rect">
            <a:avLst/>
          </a:prstGeom>
        </p:spPr>
      </p:pic>
      <p:sp>
        <p:nvSpPr>
          <p:cNvPr id="40" name="Rectangle 39"/>
          <p:cNvSpPr/>
          <p:nvPr/>
        </p:nvSpPr>
        <p:spPr>
          <a:xfrm>
            <a:off x="43284576" y="24887555"/>
            <a:ext cx="6635968" cy="2826742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1" name="Rectangle 40"/>
          <p:cNvSpPr/>
          <p:nvPr/>
        </p:nvSpPr>
        <p:spPr>
          <a:xfrm>
            <a:off x="43284576" y="24887555"/>
            <a:ext cx="11557" cy="2826742"/>
          </a:xfrm>
          <a:prstGeom prst="rect">
            <a:avLst/>
          </a:prstGeom>
          <a:solidFill>
            <a:srgbClr val="CAD7CF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42" name="Rounded Rectangle 41"/>
          <p:cNvSpPr/>
          <p:nvPr/>
        </p:nvSpPr>
        <p:spPr>
          <a:xfrm>
            <a:off x="17816393" y="27887791"/>
            <a:ext cx="2457946" cy="819824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CIFAR-10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20430747" y="27887791"/>
            <a:ext cx="2704505" cy="819824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CIFAR-100</a:t>
            </a:r>
          </a:p>
        </p:txBody>
      </p:sp>
      <p:sp>
        <p:nvSpPr>
          <p:cNvPr id="44" name="Rounded Rectangle 43"/>
          <p:cNvSpPr/>
          <p:nvPr/>
        </p:nvSpPr>
        <p:spPr>
          <a:xfrm>
            <a:off x="23291661" y="27887791"/>
            <a:ext cx="3386117" cy="819824"/>
          </a:xfrm>
          <a:prstGeom prst="roundRect">
            <a:avLst>
              <a:gd name="adj" fmla="val 50000"/>
            </a:avLst>
          </a:prstGeom>
          <a:solidFill>
            <a:srgbClr val="EAEFE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2D5F3E"/>
                </a:solidFill>
                <a:latin typeface="Arial"/>
              </a:rPr>
              <a:t>TinyImageNet</a:t>
            </a:r>
          </a:p>
        </p:txBody>
      </p:sp>
      <p:sp>
        <p:nvSpPr>
          <p:cNvPr id="45" name="Rounded Rectangle 44"/>
          <p:cNvSpPr/>
          <p:nvPr/>
        </p:nvSpPr>
        <p:spPr>
          <a:xfrm>
            <a:off x="26834187" y="27887791"/>
            <a:ext cx="2925782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CIFAR-10-C</a:t>
            </a:r>
          </a:p>
        </p:txBody>
      </p:sp>
      <p:sp>
        <p:nvSpPr>
          <p:cNvPr id="46" name="Rounded Rectangle 45"/>
          <p:cNvSpPr/>
          <p:nvPr/>
        </p:nvSpPr>
        <p:spPr>
          <a:xfrm>
            <a:off x="29916377" y="27887791"/>
            <a:ext cx="3172203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CIFAR-100-C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7816393" y="28864024"/>
            <a:ext cx="3853815" cy="819824"/>
          </a:xfrm>
          <a:prstGeom prst="roundRect">
            <a:avLst>
              <a:gd name="adj" fmla="val 50000"/>
            </a:avLst>
          </a:prstGeom>
          <a:solidFill>
            <a:srgbClr val="F7E9E8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0" rIns="0" tIns="0" bIns="0" wrap="none"/>
          <a:lstStyle/>
          <a:p>
            <a:pPr algn="ctr"/>
            <a:r>
              <a:rPr sz="3490" b="1">
                <a:solidFill>
                  <a:srgbClr val="AE2622"/>
                </a:solidFill>
                <a:latin typeface="Arial"/>
              </a:rPr>
              <a:t>TinyImageNet-C</a:t>
            </a:r>
          </a:p>
        </p:txBody>
      </p:sp>
      <p:sp>
        <p:nvSpPr>
          <p:cNvPr id="48" name="Rounded Rectangle 47"/>
          <p:cNvSpPr/>
          <p:nvPr/>
        </p:nvSpPr>
        <p:spPr>
          <a:xfrm>
            <a:off x="21826616" y="28864024"/>
            <a:ext cx="6486644" cy="819824"/>
          </a:xfrm>
          <a:prstGeom prst="roundRect">
            <a:avLst>
              <a:gd name="adj" fmla="val 50000"/>
            </a:avLst>
          </a:prstGeom>
          <a:solidFill>
            <a:srgbClr val="EAEA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Rectangle 48"/>
          <p:cNvSpPr/>
          <p:nvPr/>
        </p:nvSpPr>
        <p:spPr>
          <a:xfrm>
            <a:off x="34592795" y="8003917"/>
            <a:ext cx="4875749" cy="66008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0" name="Rectangle 49"/>
          <p:cNvSpPr/>
          <p:nvPr/>
        </p:nvSpPr>
        <p:spPr>
          <a:xfrm>
            <a:off x="34592795" y="8655109"/>
            <a:ext cx="487574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1" name="Rectangle 50"/>
          <p:cNvSpPr/>
          <p:nvPr/>
        </p:nvSpPr>
        <p:spPr>
          <a:xfrm>
            <a:off x="39468544" y="8003917"/>
            <a:ext cx="3973135" cy="66008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Rectangle 51"/>
          <p:cNvSpPr/>
          <p:nvPr/>
        </p:nvSpPr>
        <p:spPr>
          <a:xfrm>
            <a:off x="39468544" y="8655109"/>
            <a:ext cx="39731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3" name="Rectangle 52"/>
          <p:cNvSpPr/>
          <p:nvPr/>
        </p:nvSpPr>
        <p:spPr>
          <a:xfrm>
            <a:off x="43441679" y="8003917"/>
            <a:ext cx="6724729" cy="660082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Rectangle 53"/>
          <p:cNvSpPr/>
          <p:nvPr/>
        </p:nvSpPr>
        <p:spPr>
          <a:xfrm>
            <a:off x="43441679" y="8655109"/>
            <a:ext cx="672472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5" name="Rectangle 54"/>
          <p:cNvSpPr/>
          <p:nvPr/>
        </p:nvSpPr>
        <p:spPr>
          <a:xfrm>
            <a:off x="34592795" y="8663999"/>
            <a:ext cx="4875749" cy="66452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Rectangle 55"/>
          <p:cNvSpPr/>
          <p:nvPr/>
        </p:nvSpPr>
        <p:spPr>
          <a:xfrm>
            <a:off x="34592795" y="9319637"/>
            <a:ext cx="487574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7" name="Rectangle 56"/>
          <p:cNvSpPr/>
          <p:nvPr/>
        </p:nvSpPr>
        <p:spPr>
          <a:xfrm>
            <a:off x="39468544" y="8663999"/>
            <a:ext cx="3973135" cy="66452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Rectangle 57"/>
          <p:cNvSpPr/>
          <p:nvPr/>
        </p:nvSpPr>
        <p:spPr>
          <a:xfrm>
            <a:off x="39468544" y="9319637"/>
            <a:ext cx="39731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9" name="Rectangle 58"/>
          <p:cNvSpPr/>
          <p:nvPr/>
        </p:nvSpPr>
        <p:spPr>
          <a:xfrm>
            <a:off x="43441679" y="8663999"/>
            <a:ext cx="6724729" cy="664528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Rectangle 59"/>
          <p:cNvSpPr/>
          <p:nvPr/>
        </p:nvSpPr>
        <p:spPr>
          <a:xfrm>
            <a:off x="43441679" y="9319637"/>
            <a:ext cx="672472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1" name="Rectangle 60"/>
          <p:cNvSpPr/>
          <p:nvPr/>
        </p:nvSpPr>
        <p:spPr>
          <a:xfrm>
            <a:off x="34592795" y="9328527"/>
            <a:ext cx="4875749" cy="664527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2" name="Rectangle 61"/>
          <p:cNvSpPr/>
          <p:nvPr/>
        </p:nvSpPr>
        <p:spPr>
          <a:xfrm>
            <a:off x="34592795" y="9984164"/>
            <a:ext cx="487574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3" name="Rectangle 62"/>
          <p:cNvSpPr/>
          <p:nvPr/>
        </p:nvSpPr>
        <p:spPr>
          <a:xfrm>
            <a:off x="39468544" y="9328527"/>
            <a:ext cx="3973135" cy="664527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Rectangle 63"/>
          <p:cNvSpPr/>
          <p:nvPr/>
        </p:nvSpPr>
        <p:spPr>
          <a:xfrm>
            <a:off x="39468544" y="9984164"/>
            <a:ext cx="3973135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5" name="Rectangle 64"/>
          <p:cNvSpPr/>
          <p:nvPr/>
        </p:nvSpPr>
        <p:spPr>
          <a:xfrm>
            <a:off x="43441679" y="9328527"/>
            <a:ext cx="6724729" cy="664527"/>
          </a:xfrm>
          <a:prstGeom prst="rect">
            <a:avLst/>
          </a:prstGeom>
          <a:solidFill>
            <a:srgbClr val="E6F0E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Rectangle 65"/>
          <p:cNvSpPr/>
          <p:nvPr/>
        </p:nvSpPr>
        <p:spPr>
          <a:xfrm>
            <a:off x="43441679" y="9984164"/>
            <a:ext cx="6724729" cy="11557"/>
          </a:xfrm>
          <a:prstGeom prst="rect">
            <a:avLst/>
          </a:prstGeom>
          <a:solidFill>
            <a:srgbClr val="E5E5E0"/>
          </a:solidFill>
          <a:ln>
            <a:noFill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67" name="TextBox 66"/>
          <p:cNvSpPr txBox="1"/>
          <p:nvPr/>
        </p:nvSpPr>
        <p:spPr>
          <a:xfrm>
            <a:off x="1315581" y="1007487"/>
            <a:ext cx="49001957" cy="137953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9445"/>
              </a:lnSpc>
              <a:spcBef>
                <a:spcPts val="0"/>
              </a:spcBef>
              <a:spcAft>
                <a:spcPts val="0"/>
              </a:spcAft>
            </a:pPr>
            <a:r>
              <a:rPr sz="8586" b="1" spc="-85">
                <a:solidFill>
                  <a:srgbClr val="2D5F3E"/>
                </a:solidFill>
                <a:latin typeface="Arial"/>
              </a:rPr>
              <a:t>Input-Gradient Space Particle Inference for Neural Network Ensembles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1315581" y="2446972"/>
            <a:ext cx="49001957" cy="779701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B2331"/>
                </a:solidFill>
                <a:latin typeface="Arial"/>
              </a:rPr>
              <a:t>Trung Trinh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   Markus Heinonen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</a:t>
            </a:r>
            <a:r>
              <a:rPr sz="4106" b="0">
                <a:solidFill>
                  <a:srgbClr val="1B2331"/>
                </a:solidFill>
                <a:latin typeface="Arial"/>
              </a:rPr>
              <a:t>   Luigi Acerbi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2</a:t>
            </a:r>
            <a:r>
              <a:rPr sz="4106" b="0">
                <a:solidFill>
                  <a:srgbClr val="1B2331"/>
                </a:solidFill>
                <a:latin typeface="Arial"/>
              </a:rPr>
              <a:t>   Samuel Kaski</a:t>
            </a:r>
            <a:r>
              <a:rPr sz="5749" b="0" baseline="30000">
                <a:solidFill>
                  <a:srgbClr val="1B2331"/>
                </a:solidFill>
                <a:latin typeface="Arial"/>
              </a:rPr>
              <a:t>1,3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315581" y="3181786"/>
            <a:ext cx="49001957" cy="592963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ctr">
              <a:lnSpc>
                <a:spcPts val="4060"/>
              </a:lnSpc>
              <a:spcBef>
                <a:spcPts val="0"/>
              </a:spcBef>
              <a:spcAft>
                <a:spcPts val="0"/>
              </a:spcAft>
            </a:pPr>
            <a:r>
              <a:rPr sz="2430" b="0" spc="56" baseline="30000">
                <a:solidFill>
                  <a:srgbClr val="55617A"/>
                </a:solidFill>
                <a:latin typeface="Arial"/>
              </a:rPr>
              <a:t>1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Aalto University  ·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2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Helsinki  ·  </a:t>
            </a:r>
            <a:r>
              <a:rPr sz="3920" b="0" spc="56" baseline="30000">
                <a:solidFill>
                  <a:srgbClr val="55617A"/>
                </a:solidFill>
                <a:latin typeface="Arial"/>
              </a:rPr>
              <a:t>3</a:t>
            </a:r>
            <a:r>
              <a:rPr sz="2800" b="0" spc="56">
                <a:solidFill>
                  <a:srgbClr val="55617A"/>
                </a:solidFill>
                <a:latin typeface="Arial"/>
              </a:rPr>
              <a:t> University of Manchester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1039991" y="6642635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Problem </a:t>
            </a:r>
          </a:p>
        </p:txBody>
      </p:sp>
      <p:sp>
        <p:nvSpPr>
          <p:cNvPr id="71" name="TextBox 70"/>
          <p:cNvSpPr txBox="1"/>
          <p:nvPr/>
        </p:nvSpPr>
        <p:spPr>
          <a:xfrm>
            <a:off x="17816393" y="6642635"/>
            <a:ext cx="16000194" cy="1067237"/>
          </a:xfrm>
          <a:prstGeom prst="rect">
            <a:avLst/>
          </a:prstGeom>
          <a:noFill/>
        </p:spPr>
        <p:txBody>
          <a:bodyPr wrap="non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Method </a:t>
            </a:r>
          </a:p>
        </p:txBody>
      </p:sp>
      <p:sp>
        <p:nvSpPr>
          <p:cNvPr id="72" name="TextBox 71"/>
          <p:cNvSpPr txBox="1"/>
          <p:nvPr/>
        </p:nvSpPr>
        <p:spPr>
          <a:xfrm>
            <a:off x="34592795" y="6642635"/>
            <a:ext cx="16000333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Key Results </a:t>
            </a:r>
          </a:p>
        </p:txBody>
      </p:sp>
      <p:sp>
        <p:nvSpPr>
          <p:cNvPr id="73" name="TextBox 72"/>
          <p:cNvSpPr txBox="1"/>
          <p:nvPr/>
        </p:nvSpPr>
        <p:spPr>
          <a:xfrm>
            <a:off x="1039991" y="8025308"/>
            <a:ext cx="16000194" cy="434818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Deep ensembles gain accuracy and calibration from </a:t>
            </a:r>
            <a:r>
              <a:rPr sz="4106" b="1">
                <a:solidFill>
                  <a:srgbClr val="111111"/>
                </a:solidFill>
                <a:latin typeface="Arial"/>
              </a:rPr>
              <a:t>functional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diversity</a:t>
            </a:r>
            <a:r>
              <a:rPr sz="4106" b="0">
                <a:solidFill>
                  <a:srgbClr val="1C1C1C"/>
                </a:solidFill>
                <a:latin typeface="Arial"/>
              </a:rPr>
              <a:t>, but existing repulsive schemes fail to produce it: </a:t>
            </a:r>
            <a:r>
              <a:rPr sz="4106" b="0">
                <a:solidFill>
                  <a:srgbClr val="1C1C1C"/>
                </a:solidFill>
                <a:latin typeface="Arial"/>
              </a:rPr>
              <a:t>weight-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space</a:t>
            </a:r>
            <a:r>
              <a:rPr sz="4106" b="0">
                <a:solidFill>
                  <a:srgbClr val="1C1C1C"/>
                </a:solidFill>
                <a:latin typeface="Arial"/>
              </a:rPr>
              <a:t> repulsion is wasteful under </a:t>
            </a:r>
            <a:r>
              <a:rPr sz="4106" b="1">
                <a:solidFill>
                  <a:srgbClr val="111111"/>
                </a:solidFill>
                <a:latin typeface="Arial"/>
              </a:rPr>
              <a:t>over-parameterization</a:t>
            </a:r>
            <a:r>
              <a:rPr sz="4106" b="0">
                <a:solidFill>
                  <a:srgbClr val="1C1C1C"/>
                </a:solidFill>
                <a:latin typeface="Arial"/>
              </a:rPr>
              <a:t> (many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weights encode the same function), while </a:t>
            </a:r>
            <a:r>
              <a:rPr sz="4106" b="0">
                <a:solidFill>
                  <a:srgbClr val="1C1C1C"/>
                </a:solidFill>
                <a:latin typeface="Arial"/>
              </a:rPr>
              <a:t>function-space</a:t>
            </a:r>
            <a:r>
              <a:rPr sz="4106" b="0">
                <a:solidFill>
                  <a:srgbClr val="1C1C1C"/>
                </a:solidFill>
                <a:latin typeface="Arial"/>
              </a:rPr>
              <a:t> repulsion</a:t>
            </a:r>
          </a:p>
          <a:p>
            <a:pPr algn="l">
              <a:lnSpc>
                <a:spcPts val="5954"/>
              </a:lnSpc>
              <a:spcBef>
                <a:spcPts val="0"/>
              </a:spcBef>
              <a:spcAft>
                <a:spcPts val="0"/>
              </a:spcAft>
            </a:pPr>
            <a:r>
              <a:rPr sz="4106" b="0">
                <a:solidFill>
                  <a:srgbClr val="1C1C1C"/>
                </a:solidFill>
                <a:latin typeface="Arial"/>
              </a:rPr>
              <a:t>needs an intractable function kernel and, in practice, underfits.</a:t>
            </a:r>
          </a:p>
        </p:txBody>
      </p:sp>
      <p:sp>
        <p:nvSpPr>
          <p:cNvPr id="74" name="TextBox 73"/>
          <p:cNvSpPr txBox="1"/>
          <p:nvPr/>
        </p:nvSpPr>
        <p:spPr>
          <a:xfrm>
            <a:off x="1039991" y="12201663"/>
            <a:ext cx="16000194" cy="1703171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Neither weight-space nor function-space repulsion has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meaningfully beaten a plain deep ensemble.</a:t>
            </a:r>
          </a:p>
        </p:txBody>
      </p:sp>
      <p:sp>
        <p:nvSpPr>
          <p:cNvPr id="75" name="TextBox 74"/>
          <p:cNvSpPr txBox="1"/>
          <p:nvPr/>
        </p:nvSpPr>
        <p:spPr>
          <a:xfrm>
            <a:off x="1039991" y="15051464"/>
            <a:ext cx="16000194" cy="1067237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Motivation </a:t>
            </a:r>
          </a:p>
        </p:txBody>
      </p:sp>
      <p:sp>
        <p:nvSpPr>
          <p:cNvPr id="76" name="TextBox 75"/>
          <p:cNvSpPr txBox="1"/>
          <p:nvPr/>
        </p:nvSpPr>
        <p:spPr>
          <a:xfrm>
            <a:off x="18495645" y="16105346"/>
            <a:ext cx="14641276" cy="529225"/>
          </a:xfrm>
          <a:prstGeom prst="rect">
            <a:avLst/>
          </a:prstGeom>
          <a:noFill/>
        </p:spPr>
        <p:txBody>
          <a:bodyPr wrap="square" lIns="255558" rIns="255558" tIns="43809" bIns="43809">
            <a:spAutoFit/>
          </a:bodyPr>
          <a:lstStyle/>
          <a:p>
            <a:pPr algn="ctr">
              <a:lnSpc>
                <a:spcPts val="2084"/>
              </a:lnSpc>
              <a:spcBef>
                <a:spcPts val="0"/>
              </a:spcBef>
              <a:spcAft>
                <a:spcPts val="0"/>
              </a:spcAft>
            </a:pPr>
            <a:r>
              <a:rPr sz="1437" b="0" i="1">
                <a:solidFill>
                  <a:srgbClr val="555555"/>
                </a:solidFill>
                <a:latin typeface="Cambria Math"/>
              </a:rPr>
              <a:t>Driving force toward the posterior + kernel repulsion. Kernel </a:t>
            </a:r>
            <a:r>
              <a:rPr sz="1437" b="0" i="1">
                <a:solidFill>
                  <a:srgbClr val="555555"/>
                </a:solidFill>
                <a:latin typeface="Cambria Math"/>
              </a:rPr>
              <a:t>   </a:t>
            </a:r>
            <a:r>
              <a:rPr sz="1437" b="0" i="1">
                <a:solidFill>
                  <a:srgbClr val="555555"/>
                </a:solidFill>
                <a:latin typeface="Cambria Math"/>
              </a:rPr>
              <a:t> compares </a:t>
            </a:r>
            <a:r>
              <a:rPr sz="1437" b="1" i="1">
                <a:solidFill>
                  <a:srgbClr val="111111"/>
                </a:solidFill>
                <a:latin typeface="Cambria Math"/>
              </a:rPr>
              <a:t>normalized input gradients</a:t>
            </a:r>
            <a:r>
              <a:rPr sz="1437" b="0" i="1">
                <a:solidFill>
                  <a:srgbClr val="555555"/>
                </a:solidFill>
                <a:latin typeface="Cambria Math"/>
              </a:rPr>
              <a:t> </a:t>
            </a:r>
            <a:r>
              <a:rPr sz="1437" b="0" i="1">
                <a:solidFill>
                  <a:srgbClr val="555555"/>
                </a:solidFill>
                <a:latin typeface="Cambria Math"/>
              </a:rPr>
              <a:t>                                                               </a:t>
            </a:r>
            <a:r>
              <a:rPr sz="1437" b="0" i="1">
                <a:solidFill>
                  <a:srgbClr val="555555"/>
                </a:solidFill>
                <a:latin typeface="Cambria Math"/>
              </a:rPr>
              <a:t> with an RBF on the unit sphere, using PCA-derived lengthscales.</a:t>
            </a:r>
          </a:p>
        </p:txBody>
      </p:sp>
      <p:sp>
        <p:nvSpPr>
          <p:cNvPr id="77" name="TextBox 76"/>
          <p:cNvSpPr txBox="1"/>
          <p:nvPr/>
        </p:nvSpPr>
        <p:spPr>
          <a:xfrm>
            <a:off x="1039991" y="22557263"/>
            <a:ext cx="16000194" cy="1895181"/>
          </a:xfrm>
          <a:prstGeom prst="rect">
            <a:avLst/>
          </a:prstGeom>
          <a:noFill/>
        </p:spPr>
        <p:txBody>
          <a:bodyPr wrap="none" lIns="339005" rIns="339005" tIns="146033" bIns="146033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Third view of a network:</a:t>
            </a:r>
            <a:r>
              <a:rPr sz="4106" b="0">
                <a:solidFill>
                  <a:srgbClr val="2D5F3E"/>
                </a:solidFill>
                <a:latin typeface="Arial"/>
              </a:rPr>
              <a:t> not its weights, not its outputs — its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1">
                <a:solidFill>
                  <a:srgbClr val="111111"/>
                </a:solidFill>
                <a:latin typeface="Arial"/>
              </a:rPr>
              <a:t>input gradients</a:t>
            </a:r>
            <a:r>
              <a:rPr sz="4106" b="0">
                <a:solidFill>
                  <a:srgbClr val="2D5F3E"/>
                </a:solidFill>
                <a:latin typeface="Arial"/>
              </a:rPr>
              <a:t>.</a:t>
            </a:r>
          </a:p>
        </p:txBody>
      </p:sp>
      <p:sp>
        <p:nvSpPr>
          <p:cNvPr id="78" name="TextBox 77"/>
          <p:cNvSpPr txBox="1"/>
          <p:nvPr/>
        </p:nvSpPr>
        <p:spPr>
          <a:xfrm>
            <a:off x="17816393" y="23249850"/>
            <a:ext cx="16000194" cy="1067236"/>
          </a:xfrm>
          <a:prstGeom prst="rect">
            <a:avLst/>
          </a:prstGeom>
          <a:noFill/>
        </p:spPr>
        <p:txBody>
          <a:bodyPr wrap="square" lIns="0" rIns="391160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Dataset / Benchmark </a:t>
            </a:r>
          </a:p>
        </p:txBody>
      </p:sp>
      <p:sp>
        <p:nvSpPr>
          <p:cNvPr id="79" name="TextBox 78"/>
          <p:cNvSpPr txBox="1"/>
          <p:nvPr/>
        </p:nvSpPr>
        <p:spPr>
          <a:xfrm>
            <a:off x="34592795" y="23283743"/>
            <a:ext cx="16000333" cy="1067237"/>
          </a:xfrm>
          <a:prstGeom prst="rect">
            <a:avLst/>
          </a:prstGeom>
          <a:noFill/>
        </p:spPr>
        <p:txBody>
          <a:bodyPr wrap="square" lIns="0" rIns="0" tIns="0" bIns="128016">
            <a:spAutoFit/>
          </a:bodyPr>
          <a:lstStyle/>
          <a:p>
            <a:pPr algn="l">
              <a:lnSpc>
                <a:spcPts val="6160"/>
              </a:lnSpc>
              <a:spcBef>
                <a:spcPts val="0"/>
              </a:spcBef>
              <a:spcAft>
                <a:spcPts val="0"/>
              </a:spcAft>
            </a:pPr>
            <a:r>
              <a:rPr sz="5600" b="1">
                <a:solidFill>
                  <a:srgbClr val="2D5F3E"/>
                </a:solidFill>
                <a:latin typeface="Arial"/>
              </a:rPr>
              <a:t>Headline Numbers</a:t>
            </a:r>
          </a:p>
        </p:txBody>
      </p:sp>
      <p:sp>
        <p:nvSpPr>
          <p:cNvPr id="80" name="TextBox 79"/>
          <p:cNvSpPr txBox="1"/>
          <p:nvPr/>
        </p:nvSpPr>
        <p:spPr>
          <a:xfrm>
            <a:off x="34592795" y="28022530"/>
            <a:ext cx="16000333" cy="1703170"/>
          </a:xfrm>
          <a:prstGeom prst="rect">
            <a:avLst/>
          </a:prstGeom>
          <a:noFill/>
        </p:spPr>
        <p:txBody>
          <a:bodyPr wrap="none" lIns="365082" rIns="365082" tIns="62585" bIns="62585">
            <a:spAutoFit/>
          </a:bodyPr>
          <a:lstStyle/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Diversity in the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compact input-gradient space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: </a:t>
            </a:r>
            <a:r>
              <a:rPr sz="4106" b="1" i="1">
                <a:solidFill>
                  <a:srgbClr val="111111"/>
                </a:solidFill>
                <a:latin typeface="Arial"/>
              </a:rPr>
              <a:t>where</a:t>
            </a:r>
            <a:r>
              <a:rPr sz="4106" b="0" i="1">
                <a:solidFill>
                  <a:srgbClr val="1C1C1C"/>
                </a:solidFill>
                <a:latin typeface="Arial"/>
              </a:rPr>
              <a:t> you</a:t>
            </a:r>
          </a:p>
          <a:p>
            <a:pPr algn="l">
              <a:lnSpc>
                <a:spcPts val="5338"/>
              </a:lnSpc>
              <a:spcBef>
                <a:spcPts val="0"/>
              </a:spcBef>
              <a:spcAft>
                <a:spcPts val="0"/>
              </a:spcAft>
            </a:pPr>
            <a:r>
              <a:rPr sz="4106" b="0" i="1">
                <a:solidFill>
                  <a:srgbClr val="1C1C1C"/>
                </a:solidFill>
                <a:latin typeface="Arial"/>
              </a:rPr>
              <a:t>repel matters as much as how much.</a:t>
            </a:r>
          </a:p>
        </p:txBody>
      </p:sp>
      <p:sp>
        <p:nvSpPr>
          <p:cNvPr id="81" name="TextBox 80"/>
          <p:cNvSpPr txBox="1"/>
          <p:nvPr/>
        </p:nvSpPr>
        <p:spPr>
          <a:xfrm>
            <a:off x="17816375" y="8046977"/>
            <a:ext cx="16000212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FoRDE runs </a:t>
            </a:r>
            <a:r>
              <a:rPr sz="4106" b="1">
                <a:solidFill>
                  <a:srgbClr val="111111"/>
                </a:solidFill>
                <a:latin typeface="Arial"/>
              </a:rPr>
              <a:t>Wasserstein gradient descent</a:t>
            </a:r>
            <a:r>
              <a:rPr sz="4106" b="0">
                <a:solidFill>
                  <a:srgbClr val="1C1C1C"/>
                </a:solidFill>
                <a:latin typeface="Arial"/>
              </a:rPr>
              <a:t>: each network is 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particle whose update sums a </a:t>
            </a:r>
            <a:r>
              <a:rPr sz="4106" b="0">
                <a:solidFill>
                  <a:srgbClr val="1C1C1C"/>
                </a:solidFill>
                <a:latin typeface="Arial"/>
              </a:rPr>
              <a:t>driving force</a:t>
            </a:r>
            <a:r>
              <a:rPr sz="4106" b="0">
                <a:solidFill>
                  <a:srgbClr val="1C1C1C"/>
                </a:solidFill>
                <a:latin typeface="Arial"/>
              </a:rPr>
              <a:t> toward the Bayesian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posterior and a </a:t>
            </a:r>
            <a:r>
              <a:rPr sz="4106" b="0">
                <a:solidFill>
                  <a:srgbClr val="1C1C1C"/>
                </a:solidFill>
                <a:latin typeface="Arial"/>
              </a:rPr>
              <a:t>repulsion force</a:t>
            </a:r>
            <a:r>
              <a:rPr sz="4106" b="0">
                <a:solidFill>
                  <a:srgbClr val="1C1C1C"/>
                </a:solidFill>
                <a:latin typeface="Arial"/>
              </a:rPr>
              <a:t> from a kernel.</a:t>
            </a:r>
          </a:p>
        </p:txBody>
      </p:sp>
      <p:sp>
        <p:nvSpPr>
          <p:cNvPr id="82" name="TextBox 81"/>
          <p:cNvSpPr txBox="1"/>
          <p:nvPr/>
        </p:nvSpPr>
        <p:spPr>
          <a:xfrm>
            <a:off x="17816375" y="10498117"/>
            <a:ext cx="16000212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The kernel compares members' </a:t>
            </a:r>
            <a:r>
              <a:rPr sz="4106" b="1">
                <a:solidFill>
                  <a:srgbClr val="111111"/>
                </a:solidFill>
                <a:latin typeface="Arial"/>
              </a:rPr>
              <a:t>normalized true-label input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gradients</a:t>
            </a:r>
            <a:r>
              <a:rPr sz="4106" b="0">
                <a:solidFill>
                  <a:srgbClr val="1C1C1C"/>
                </a:solidFill>
                <a:latin typeface="Arial"/>
              </a:rPr>
              <a:t> with an RBF on the unit sphere, using </a:t>
            </a:r>
            <a:r>
              <a:rPr sz="4106" b="1">
                <a:solidFill>
                  <a:srgbClr val="111111"/>
                </a:solidFill>
                <a:latin typeface="Arial"/>
              </a:rPr>
              <a:t>PCA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lengthscales</a:t>
            </a:r>
            <a:r>
              <a:rPr sz="4106" b="0">
                <a:solidFill>
                  <a:srgbClr val="1C1C1C"/>
                </a:solidFill>
                <a:latin typeface="Arial"/>
              </a:rPr>
              <a:t> so repulsion targets high-variance directions; cost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stays linear in samples.</a:t>
            </a:r>
          </a:p>
        </p:txBody>
      </p:sp>
      <p:sp>
        <p:nvSpPr>
          <p:cNvPr id="83" name="TextBox 82"/>
          <p:cNvSpPr txBox="1"/>
          <p:nvPr/>
        </p:nvSpPr>
        <p:spPr>
          <a:xfrm>
            <a:off x="35215790" y="15657234"/>
            <a:ext cx="14754344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FoRDE (purple) beats every baseline on NLL, ECE, accuracy and OOD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uncertainty.</a:t>
            </a:r>
          </a:p>
        </p:txBody>
      </p:sp>
      <p:sp>
        <p:nvSpPr>
          <p:cNvPr id="84" name="TextBox 83"/>
          <p:cNvSpPr txBox="1"/>
          <p:nvPr/>
        </p:nvSpPr>
        <p:spPr>
          <a:xfrm>
            <a:off x="1039972" y="16599157"/>
            <a:ext cx="16000213" cy="260890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A function can be represented </a:t>
            </a:r>
            <a:r>
              <a:rPr sz="4106" b="1">
                <a:solidFill>
                  <a:srgbClr val="111111"/>
                </a:solidFill>
                <a:latin typeface="Arial"/>
              </a:rPr>
              <a:t>up to a translation</a:t>
            </a:r>
            <a:r>
              <a:rPr sz="4106" b="0">
                <a:solidFill>
                  <a:srgbClr val="1C1C1C"/>
                </a:solidFill>
                <a:latin typeface="Arial"/>
              </a:rPr>
              <a:t> by its </a:t>
            </a:r>
            <a:r>
              <a:rPr sz="4106" b="1">
                <a:solidFill>
                  <a:srgbClr val="111111"/>
                </a:solidFill>
                <a:latin typeface="Arial"/>
              </a:rPr>
              <a:t>first-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order input gradients</a:t>
            </a:r>
            <a:r>
              <a:rPr sz="4106" b="0">
                <a:solidFill>
                  <a:srgbClr val="1C1C1C"/>
                </a:solidFill>
                <a:latin typeface="Arial"/>
              </a:rPr>
              <a:t> — the derivatives of the output with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respect to each input dimension.</a:t>
            </a:r>
          </a:p>
        </p:txBody>
      </p:sp>
      <p:sp>
        <p:nvSpPr>
          <p:cNvPr id="85" name="TextBox 84"/>
          <p:cNvSpPr txBox="1"/>
          <p:nvPr/>
        </p:nvSpPr>
        <p:spPr>
          <a:xfrm>
            <a:off x="1039972" y="19050297"/>
            <a:ext cx="16000213" cy="347854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Input gradients are the </a:t>
            </a:r>
            <a:r>
              <a:rPr sz="4106" b="1">
                <a:solidFill>
                  <a:srgbClr val="111111"/>
                </a:solidFill>
                <a:latin typeface="Arial"/>
              </a:rPr>
              <a:t>size of the input</a:t>
            </a:r>
            <a:r>
              <a:rPr sz="4106" b="0">
                <a:solidFill>
                  <a:srgbClr val="1C1C1C"/>
                </a:solidFill>
                <a:latin typeface="Arial"/>
              </a:rPr>
              <a:t>, far smaller than the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weight vector, so a kernel compares them cheaply — and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repelling them forces members to rely on </a:t>
            </a:r>
            <a:r>
              <a:rPr sz="4106" b="1">
                <a:solidFill>
                  <a:srgbClr val="111111"/>
                </a:solidFill>
                <a:latin typeface="Arial"/>
              </a:rPr>
              <a:t>complementary input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1">
                <a:solidFill>
                  <a:srgbClr val="111111"/>
                </a:solidFill>
                <a:latin typeface="Arial"/>
              </a:rPr>
              <a:t>features</a:t>
            </a:r>
            <a:r>
              <a:rPr sz="4106" b="0">
                <a:solidFill>
                  <a:srgbClr val="1C1C1C"/>
                </a:solidFill>
                <a:latin typeface="Arial"/>
              </a:rPr>
              <a:t>, boosting robustness under perturbations.</a:t>
            </a:r>
          </a:p>
        </p:txBody>
      </p:sp>
      <p:sp>
        <p:nvSpPr>
          <p:cNvPr id="86" name="TextBox 85"/>
          <p:cNvSpPr txBox="1"/>
          <p:nvPr/>
        </p:nvSpPr>
        <p:spPr>
          <a:xfrm>
            <a:off x="18472725" y="21011931"/>
            <a:ext cx="14687530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Input-gradient repulsion pushes each model's gradient arrows apart on a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unit sphere, growing functional diversity over training (left → right).</a:t>
            </a:r>
          </a:p>
        </p:txBody>
      </p:sp>
      <p:sp>
        <p:nvSpPr>
          <p:cNvPr id="87" name="TextBox 86"/>
          <p:cNvSpPr txBox="1"/>
          <p:nvPr/>
        </p:nvSpPr>
        <p:spPr>
          <a:xfrm>
            <a:off x="35271075" y="21045824"/>
            <a:ext cx="14643565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2D classification: FoRDE (right) stays far more uncertain outside the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training data.</a:t>
            </a:r>
          </a:p>
        </p:txBody>
      </p:sp>
      <p:sp>
        <p:nvSpPr>
          <p:cNvPr id="88" name="TextBox 87"/>
          <p:cNvSpPr txBox="1"/>
          <p:nvPr/>
        </p:nvSpPr>
        <p:spPr>
          <a:xfrm>
            <a:off x="17816375" y="24497922"/>
            <a:ext cx="16000212" cy="1739273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Image classification on </a:t>
            </a:r>
            <a:r>
              <a:rPr sz="4106" b="1">
                <a:solidFill>
                  <a:srgbClr val="111111"/>
                </a:solidFill>
                <a:latin typeface="Arial"/>
              </a:rPr>
              <a:t>CIFAR-10 / CIFAR-100 / TinyImageNet</a:t>
            </a:r>
            <a:r>
              <a:rPr sz="4106" b="0">
                <a:solidFill>
                  <a:srgbClr val="1C1C1C"/>
                </a:solidFill>
                <a:latin typeface="Arial"/>
              </a:rPr>
              <a:t>;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10-member ensembles (ResNet18 / PreActResNet18).</a:t>
            </a:r>
          </a:p>
        </p:txBody>
      </p:sp>
      <p:sp>
        <p:nvSpPr>
          <p:cNvPr id="89" name="TextBox 88"/>
          <p:cNvSpPr txBox="1"/>
          <p:nvPr/>
        </p:nvSpPr>
        <p:spPr>
          <a:xfrm>
            <a:off x="17816375" y="26192857"/>
            <a:ext cx="16000212" cy="1739272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 marL="573701" indent="-573701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Clr>
                <a:srgbClr val="1C1C1C"/>
              </a:buClr>
              <a:buFont typeface="Arial" panose="020B0604020202020204" pitchFamily="34" charset="0"/>
              <a:buChar char="•"/>
            </a:pPr>
            <a:r>
              <a:rPr sz="4106" b="0">
                <a:solidFill>
                  <a:srgbClr val="1C1C1C"/>
                </a:solidFill>
                <a:latin typeface="Arial"/>
              </a:rPr>
              <a:t>Robustness on the </a:t>
            </a:r>
            <a:r>
              <a:rPr sz="4106" b="1">
                <a:solidFill>
                  <a:srgbClr val="111111"/>
                </a:solidFill>
                <a:latin typeface="Arial"/>
              </a:rPr>
              <a:t>-C</a:t>
            </a:r>
            <a:r>
              <a:rPr sz="4106" b="0">
                <a:solidFill>
                  <a:srgbClr val="1C1C1C"/>
                </a:solidFill>
                <a:latin typeface="Arial"/>
              </a:rPr>
              <a:t> corrupted sets: </a:t>
            </a:r>
            <a:r>
              <a:rPr sz="4106" b="0">
                <a:solidFill>
                  <a:srgbClr val="1C1C1C"/>
                </a:solidFill>
                <a:latin typeface="Arial"/>
              </a:rPr>
              <a:t>19</a:t>
            </a:r>
            <a:r>
              <a:rPr sz="4106" b="0">
                <a:solidFill>
                  <a:srgbClr val="1C1C1C"/>
                </a:solidFill>
                <a:latin typeface="Arial"/>
              </a:rPr>
              <a:t> types × </a:t>
            </a:r>
            <a:r>
              <a:rPr sz="4106" b="0">
                <a:solidFill>
                  <a:srgbClr val="1C1C1C"/>
                </a:solidFill>
                <a:latin typeface="Arial"/>
              </a:rPr>
              <a:t>5</a:t>
            </a:r>
            <a:r>
              <a:rPr sz="4106" b="0">
                <a:solidFill>
                  <a:srgbClr val="1C1C1C"/>
                </a:solidFill>
                <a:latin typeface="Arial"/>
              </a:rPr>
              <a:t> severities.</a:t>
            </a:r>
          </a:p>
          <a:p>
            <a:pPr algn="l" marL="573701" indent="0">
              <a:lnSpc>
                <a:spcPts val="5954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sz="4106" b="0">
                <a:solidFill>
                  <a:srgbClr val="1C1C1C"/>
                </a:solidFill>
                <a:latin typeface="Arial"/>
              </a:rPr>
              <a:t>Metrics: accuracy, NLL, ECE.</a:t>
            </a:r>
          </a:p>
        </p:txBody>
      </p:sp>
      <p:sp>
        <p:nvSpPr>
          <p:cNvPr id="90" name="TextBox 89"/>
          <p:cNvSpPr txBox="1"/>
          <p:nvPr/>
        </p:nvSpPr>
        <p:spPr>
          <a:xfrm>
            <a:off x="1679515" y="28553985"/>
            <a:ext cx="14721007" cy="12785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FoRDE captures higher predictive uncertainty than deep-ensemble and</a:t>
            </a:r>
          </a:p>
          <a:p>
            <a:pPr algn="ctr">
              <a:lnSpc>
                <a:spcPts val="4377"/>
              </a:lnSpc>
              <a:spcBef>
                <a:spcPts val="0"/>
              </a:spcBef>
              <a:spcAft>
                <a:spcPts val="0"/>
              </a:spcAft>
            </a:pPr>
            <a:r>
              <a:rPr sz="3367" b="0" i="1">
                <a:solidFill>
                  <a:srgbClr val="555555"/>
                </a:solidFill>
                <a:latin typeface="Arial"/>
              </a:rPr>
              <a:t>repulsive baselines in 1D regression.</a:t>
            </a:r>
          </a:p>
        </p:txBody>
      </p:sp>
      <p:sp>
        <p:nvSpPr>
          <p:cNvPr id="91" name="TextBox 90"/>
          <p:cNvSpPr txBox="1"/>
          <p:nvPr/>
        </p:nvSpPr>
        <p:spPr>
          <a:xfrm>
            <a:off x="34838659" y="24887555"/>
            <a:ext cx="8108401" cy="1553971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10640"/>
              </a:lnSpc>
              <a:spcBef>
                <a:spcPts val="0"/>
              </a:spcBef>
              <a:spcAft>
                <a:spcPts val="0"/>
              </a:spcAft>
            </a:pPr>
            <a:r>
              <a:rPr sz="11200" b="1" spc="-224">
                <a:solidFill>
                  <a:srgbClr val="2D5F3E"/>
                </a:solidFill>
                <a:latin typeface="Arial"/>
              </a:rPr>
              <a:t>+2.4%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34838659" y="26262449"/>
            <a:ext cx="8108401" cy="119934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Accuracy on CIFAR-10-C over the</a:t>
            </a:r>
          </a:p>
          <a:p>
            <a:pPr algn="l">
              <a:lnSpc>
                <a:spcPts val="4106"/>
              </a:lnSpc>
              <a:spcBef>
                <a:spcPts val="0"/>
              </a:spcBef>
              <a:spcAft>
                <a:spcPts val="0"/>
              </a:spcAft>
            </a:pPr>
            <a:r>
              <a:rPr sz="3733" b="1">
                <a:solidFill>
                  <a:srgbClr val="1C1C1C"/>
                </a:solidFill>
                <a:latin typeface="Arial"/>
              </a:rPr>
              <a:t>second-best method</a:t>
            </a:r>
          </a:p>
        </p:txBody>
      </p:sp>
      <p:sp>
        <p:nvSpPr>
          <p:cNvPr id="93" name="TextBox 92"/>
          <p:cNvSpPr txBox="1"/>
          <p:nvPr/>
        </p:nvSpPr>
        <p:spPr>
          <a:xfrm>
            <a:off x="34838659" y="27305357"/>
            <a:ext cx="8108401" cy="470280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220"/>
              </a:lnSpc>
              <a:spcBef>
                <a:spcPts val="0"/>
              </a:spcBef>
              <a:spcAft>
                <a:spcPts val="0"/>
              </a:spcAft>
            </a:pPr>
            <a:r>
              <a:rPr sz="2800" b="0" i="1">
                <a:solidFill>
                  <a:srgbClr val="555555"/>
                </a:solidFill>
                <a:latin typeface="Arial"/>
              </a:rPr>
              <a:t>Largest robustness gain among all baselines</a:t>
            </a:r>
          </a:p>
        </p:txBody>
      </p:sp>
      <p:sp>
        <p:nvSpPr>
          <p:cNvPr id="94" name="TextBox 93"/>
          <p:cNvSpPr txBox="1"/>
          <p:nvPr/>
        </p:nvSpPr>
        <p:spPr>
          <a:xfrm>
            <a:off x="34592795" y="8003917"/>
            <a:ext cx="5022021" cy="759094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Corrupted set</a:t>
            </a:r>
          </a:p>
        </p:txBody>
      </p:sp>
      <p:sp>
        <p:nvSpPr>
          <p:cNvPr id="95" name="TextBox 94"/>
          <p:cNvSpPr txBox="1"/>
          <p:nvPr/>
        </p:nvSpPr>
        <p:spPr>
          <a:xfrm>
            <a:off x="39468544" y="8003917"/>
            <a:ext cx="4092329" cy="759094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Metric</a:t>
            </a:r>
          </a:p>
        </p:txBody>
      </p:sp>
      <p:sp>
        <p:nvSpPr>
          <p:cNvPr id="96" name="TextBox 95"/>
          <p:cNvSpPr txBox="1"/>
          <p:nvPr/>
        </p:nvSpPr>
        <p:spPr>
          <a:xfrm>
            <a:off x="43441679" y="8003917"/>
            <a:ext cx="6926470" cy="759094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FoRDE vs 2nd-best</a:t>
            </a:r>
          </a:p>
        </p:txBody>
      </p:sp>
      <p:sp>
        <p:nvSpPr>
          <p:cNvPr id="97" name="TextBox 96"/>
          <p:cNvSpPr txBox="1"/>
          <p:nvPr/>
        </p:nvSpPr>
        <p:spPr>
          <a:xfrm>
            <a:off x="34592795" y="8663999"/>
            <a:ext cx="5022021" cy="764207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CIFAR-10-C</a:t>
            </a:r>
          </a:p>
        </p:txBody>
      </p:sp>
      <p:sp>
        <p:nvSpPr>
          <p:cNvPr id="98" name="TextBox 97"/>
          <p:cNvSpPr txBox="1"/>
          <p:nvPr/>
        </p:nvSpPr>
        <p:spPr>
          <a:xfrm>
            <a:off x="39468544" y="8663999"/>
            <a:ext cx="4092329" cy="764207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Accuracy ↑</a:t>
            </a:r>
          </a:p>
        </p:txBody>
      </p:sp>
      <p:sp>
        <p:nvSpPr>
          <p:cNvPr id="99" name="TextBox 98"/>
          <p:cNvSpPr txBox="1"/>
          <p:nvPr/>
        </p:nvSpPr>
        <p:spPr>
          <a:xfrm>
            <a:off x="43441679" y="8663999"/>
            <a:ext cx="6926470" cy="764207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+2.4%</a:t>
            </a:r>
          </a:p>
        </p:txBody>
      </p:sp>
      <p:sp>
        <p:nvSpPr>
          <p:cNvPr id="100" name="TextBox 99"/>
          <p:cNvSpPr txBox="1"/>
          <p:nvPr/>
        </p:nvSpPr>
        <p:spPr>
          <a:xfrm>
            <a:off x="34592795" y="9328527"/>
            <a:ext cx="5022021" cy="764206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l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CIFAR-100-C</a:t>
            </a:r>
          </a:p>
        </p:txBody>
      </p:sp>
      <p:sp>
        <p:nvSpPr>
          <p:cNvPr id="101" name="TextBox 100"/>
          <p:cNvSpPr txBox="1"/>
          <p:nvPr/>
        </p:nvSpPr>
        <p:spPr>
          <a:xfrm>
            <a:off x="39468544" y="9328527"/>
            <a:ext cx="4092329" cy="764206"/>
          </a:xfrm>
          <a:prstGeom prst="rect">
            <a:avLst/>
          </a:prstGeom>
          <a:noFill/>
        </p:spPr>
        <p:txBody>
          <a:bodyPr wrap="square" lIns="71120" rIns="71120" tIns="17780" bIns="1778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Accuracy ↑</a:t>
            </a:r>
          </a:p>
        </p:txBody>
      </p:sp>
      <p:sp>
        <p:nvSpPr>
          <p:cNvPr id="102" name="TextBox 101"/>
          <p:cNvSpPr txBox="1"/>
          <p:nvPr/>
        </p:nvSpPr>
        <p:spPr>
          <a:xfrm>
            <a:off x="43441679" y="9328527"/>
            <a:ext cx="6926470" cy="764206"/>
          </a:xfrm>
          <a:prstGeom prst="rect">
            <a:avLst/>
          </a:prstGeom>
          <a:noFill/>
        </p:spPr>
        <p:txBody>
          <a:bodyPr wrap="none" lIns="71120" rIns="71120" tIns="17780" bIns="17780">
            <a:spAutoFit/>
          </a:bodyPr>
          <a:lstStyle/>
          <a:p>
            <a:pPr algn="ctr">
              <a:lnSpc>
                <a:spcPts val="4882"/>
              </a:lnSpc>
              <a:spcBef>
                <a:spcPts val="0"/>
              </a:spcBef>
              <a:spcAft>
                <a:spcPts val="0"/>
              </a:spcAft>
            </a:pPr>
            <a:r>
              <a:rPr sz="3367" b="1">
                <a:solidFill>
                  <a:srgbClr val="2D5F3E"/>
                </a:solidFill>
                <a:latin typeface="Arial"/>
              </a:rPr>
              <a:t>+1.3%</a:t>
            </a:r>
          </a:p>
        </p:txBody>
      </p:sp>
      <p:sp>
        <p:nvSpPr>
          <p:cNvPr id="103" name="TextBox 102"/>
          <p:cNvSpPr txBox="1"/>
          <p:nvPr/>
        </p:nvSpPr>
        <p:spPr>
          <a:xfrm>
            <a:off x="43762830" y="24887555"/>
            <a:ext cx="1579960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+1.3%</a:t>
            </a:r>
          </a:p>
        </p:txBody>
      </p:sp>
      <p:sp>
        <p:nvSpPr>
          <p:cNvPr id="104" name="TextBox 103"/>
          <p:cNvSpPr txBox="1"/>
          <p:nvPr/>
        </p:nvSpPr>
        <p:spPr>
          <a:xfrm>
            <a:off x="45479295" y="25020905"/>
            <a:ext cx="3521465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Acc. on CIFAR-100-C</a:t>
            </a:r>
          </a:p>
        </p:txBody>
      </p:sp>
      <p:sp>
        <p:nvSpPr>
          <p:cNvPr id="105" name="TextBox 104"/>
          <p:cNvSpPr txBox="1"/>
          <p:nvPr/>
        </p:nvSpPr>
        <p:spPr>
          <a:xfrm>
            <a:off x="43762830" y="25755719"/>
            <a:ext cx="1545623" cy="1253976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10 =</a:t>
            </a:r>
          </a:p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30</a:t>
            </a:r>
          </a:p>
        </p:txBody>
      </p:sp>
      <p:sp>
        <p:nvSpPr>
          <p:cNvPr id="106" name="TextBox 105"/>
          <p:cNvSpPr txBox="1"/>
          <p:nvPr/>
        </p:nvSpPr>
        <p:spPr>
          <a:xfrm>
            <a:off x="45445957" y="25889069"/>
            <a:ext cx="4608824" cy="98145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members match a 30-</a:t>
            </a:r>
          </a:p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member DE</a:t>
            </a:r>
          </a:p>
        </p:txBody>
      </p:sp>
      <p:sp>
        <p:nvSpPr>
          <p:cNvPr id="107" name="TextBox 106"/>
          <p:cNvSpPr txBox="1"/>
          <p:nvPr/>
        </p:nvSpPr>
        <p:spPr>
          <a:xfrm>
            <a:off x="43762830" y="27106860"/>
            <a:ext cx="1242449" cy="626988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lnSpc>
                <a:spcPts val="4293"/>
              </a:lnSpc>
              <a:spcBef>
                <a:spcPts val="0"/>
              </a:spcBef>
              <a:spcAft>
                <a:spcPts val="0"/>
              </a:spcAft>
            </a:pPr>
            <a:r>
              <a:rPr sz="4293" b="1" spc="-42">
                <a:solidFill>
                  <a:srgbClr val="AE2622"/>
                </a:solidFill>
                <a:latin typeface="Arial"/>
              </a:rPr>
              <a:t>19×5</a:t>
            </a:r>
          </a:p>
        </p:txBody>
      </p:sp>
      <p:sp>
        <p:nvSpPr>
          <p:cNvPr id="108" name="TextBox 107"/>
          <p:cNvSpPr txBox="1"/>
          <p:nvPr/>
        </p:nvSpPr>
        <p:spPr>
          <a:xfrm>
            <a:off x="45151615" y="27240210"/>
            <a:ext cx="3776280" cy="490727"/>
          </a:xfrm>
          <a:prstGeom prst="rect">
            <a:avLst/>
          </a:prstGeom>
          <a:noFill/>
        </p:spPr>
        <p:txBody>
          <a:bodyPr wrap="square" lIns="0" rIns="0" tIns="0" bIns="0">
            <a:spAutoFit/>
          </a:bodyPr>
          <a:lstStyle/>
          <a:p>
            <a:pPr algn="l">
              <a:lnSpc>
                <a:spcPts val="3360"/>
              </a:lnSpc>
              <a:spcBef>
                <a:spcPts val="0"/>
              </a:spcBef>
              <a:spcAft>
                <a:spcPts val="0"/>
              </a:spcAft>
            </a:pPr>
            <a:r>
              <a:rPr sz="2800" b="0">
                <a:solidFill>
                  <a:srgbClr val="555555"/>
                </a:solidFill>
                <a:latin typeface="Arial"/>
              </a:rPr>
              <a:t>corruptions × severities</a:t>
            </a:r>
          </a:p>
        </p:txBody>
      </p:sp>
      <p:pic>
        <p:nvPicPr>
          <p:cNvPr id="109" name="Picture 108" descr="eq0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18080732" y="14370685"/>
            <a:ext cx="15044797" cy="1325165"/>
          </a:xfrm>
          <a:prstGeom prst="rect">
            <a:avLst/>
          </a:prstGeom>
        </p:spPr>
      </p:pic>
      <p:pic>
        <p:nvPicPr>
          <p:cNvPr id="110" name="Picture 109" descr="eq1.png"/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23046074" y="16060896"/>
            <a:ext cx="122516" cy="257810"/>
          </a:xfrm>
          <a:prstGeom prst="rect">
            <a:avLst/>
          </a:prstGeom>
        </p:spPr>
      </p:pic>
      <p:pic>
        <p:nvPicPr>
          <p:cNvPr id="111" name="Picture 110" descr="eq2.png"/>
          <p:cNvPicPr>
            <a:picLocks noChangeAspect="1"/>
          </p:cNvPicPr>
          <p:nvPr/>
        </p:nvPicPr>
        <p:blipFill>
          <a:blip r:embed="rId12"/>
          <a:stretch>
            <a:fillRect/>
          </a:stretch>
        </p:blipFill>
        <p:spPr>
          <a:xfrm>
            <a:off x="26034920" y="16060896"/>
            <a:ext cx="2872998" cy="25781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
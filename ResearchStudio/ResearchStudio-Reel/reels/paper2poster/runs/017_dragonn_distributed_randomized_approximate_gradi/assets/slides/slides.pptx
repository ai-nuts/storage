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deck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deck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2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35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2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2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1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9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350" kern="1200">
          <a:solidFill>
            <a:schemeClr val="tx1"/>
          </a:solidFill>
          <a:latin typeface="+mn-lt"/>
          <a:ea typeface="+mn-ea"/>
          <a:cs typeface="+mn-cs"/>
        </a:defRPr>
      </a:lvl1pPr>
      <a:lvl2pPr marL="457200" algn="l" defTabSz="457200" rtl="0" eaLnBrk="1" latinLnBrk="0" hangingPunct="1">
        <a:defRPr sz="125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100" kern="1200">
          <a:solidFill>
            <a:schemeClr val="tx1"/>
          </a:solidFill>
          <a:latin typeface="+mn-lt"/>
          <a:ea typeface="+mn-ea"/>
          <a:cs typeface="+mn-cs"/>
        </a:defRPr>
      </a:lvl4pPr>
      <a:lvl5pPr marL="1828800" algn="l" defTabSz="457200" rtl="0" eaLnBrk="1" latinLnBrk="0" hangingPunct="1">
        <a:defRPr sz="1000" kern="1200">
          <a:solidFill>
            <a:schemeClr val="tx1"/>
          </a:solidFill>
          <a:latin typeface="+mn-lt"/>
          <a:ea typeface="+mn-ea"/>
          <a:cs typeface="+mn-cs"/>
        </a:defRPr>
      </a:lvl5pPr>
      <a:lvl6pPr marL="2286000" algn="l" defTabSz="457200" rtl="0" eaLnBrk="1" latinLnBrk="0" hangingPunct="1">
        <a:defRPr sz="950" kern="1200">
          <a:solidFill>
            <a:schemeClr val="tx1"/>
          </a:solidFill>
          <a:latin typeface="+mn-lt"/>
          <a:ea typeface="+mn-ea"/>
          <a:cs typeface="+mn-cs"/>
        </a:defRPr>
      </a:lvl6pPr>
      <a:lvl7pPr marL="2743200" algn="l" defTabSz="457200" rtl="0" eaLnBrk="1" latinLnBrk="0" hangingPunct="1">
        <a:defRPr sz="85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604266" y="572452"/>
            <a:ext cx="995911" cy="205359"/>
          </a:xfrm>
          <a:prstGeom prst="rect">
            <a:avLst/>
          </a:prstGeom>
          <a:noFill/>
          <a:ln>
            <a:noFill/>
          </a:ln>
        </p:spPr>
        <p:txBody>
          <a:bodyPr wrap="none" lIns="0" tIns="0" rIns="0" bIns="0" anchor="t" anchorCtr="0">
            <a:spAutoFit/>
          </a:bodyPr>
          <a:lstStyle/>
          <a:p>
            <a:pPr algn="l"/>
            <a:r>
              <a:rPr lang="en-US" sz="1050" b="1" spc="225" dirty="0">
                <a:solidFill>
                  <a:schemeClr val="accent2"/>
                </a:solidFill>
                <a:latin typeface="+mn-lt"/>
                <a:ea typeface="+mn-ea"/>
                <a:cs typeface="+mn-cs"/>
              </a:rPr>
              <a:t>ICML 2022</a:t>
            </a:r>
          </a:p>
        </p:txBody>
      </p:sp>
      <p:sp>
        <p:nvSpPr>
          <p:cNvPr id="3" name="TextBox 3"/>
          <p:cNvSpPr txBox="1"/>
          <p:nvPr/>
        </p:nvSpPr>
        <p:spPr>
          <a:xfrm>
            <a:off x="9433370" y="572452"/>
            <a:ext cx="2154364"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Rice University · ThirdAI Corp</a:t>
            </a:r>
          </a:p>
        </p:txBody>
      </p:sp>
      <p:sp>
        <p:nvSpPr>
          <p:cNvPr id="4" name="Line 4"/>
          <p:cNvSpPr/>
          <p:nvPr/>
        </p:nvSpPr>
        <p:spPr>
          <a:xfrm>
            <a:off x="609600" y="83820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5" name="TextBox 5"/>
          <p:cNvSpPr txBox="1"/>
          <p:nvPr/>
        </p:nvSpPr>
        <p:spPr>
          <a:xfrm>
            <a:off x="592074" y="1132522"/>
            <a:ext cx="2121873" cy="674751"/>
          </a:xfrm>
          <a:prstGeom prst="rect">
            <a:avLst/>
          </a:prstGeom>
          <a:noFill/>
          <a:ln>
            <a:noFill/>
          </a:ln>
        </p:spPr>
        <p:txBody>
          <a:bodyPr wrap="none" lIns="0" tIns="0" rIns="0" bIns="0" anchor="t" anchorCtr="0">
            <a:spAutoFit/>
          </a:bodyPr>
          <a:lstStyle/>
          <a:p>
            <a:pPr algn="l"/>
            <a:r>
              <a:rPr lang="en-US" sz="3450" b="1" dirty="0">
                <a:solidFill>
                  <a:srgbClr val="FFFFFF"/>
                </a:solidFill>
                <a:latin typeface="+mn-lt"/>
                <a:ea typeface="+mn-ea"/>
                <a:cs typeface="+mn-cs"/>
              </a:rPr>
              <a:t>DRAGONN</a:t>
            </a:r>
          </a:p>
        </p:txBody>
      </p:sp>
      <p:sp>
        <p:nvSpPr>
          <p:cNvPr id="6" name="TextBox 6"/>
          <p:cNvSpPr txBox="1"/>
          <p:nvPr/>
        </p:nvSpPr>
        <p:spPr>
          <a:xfrm>
            <a:off x="598170" y="1700212"/>
            <a:ext cx="5650063"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Distributed Randomized Approximate</a:t>
            </a:r>
          </a:p>
        </p:txBody>
      </p:sp>
      <p:sp>
        <p:nvSpPr>
          <p:cNvPr id="7" name="TextBox 7"/>
          <p:cNvSpPr txBox="1"/>
          <p:nvPr/>
        </p:nvSpPr>
        <p:spPr>
          <a:xfrm>
            <a:off x="598170" y="2062162"/>
            <a:ext cx="4617730"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Gradients of Neural Networks</a:t>
            </a:r>
          </a:p>
        </p:txBody>
      </p:sp>
      <p:sp>
        <p:nvSpPr>
          <p:cNvPr id="8" name="TextBox 8"/>
          <p:cNvSpPr txBox="1"/>
          <p:nvPr/>
        </p:nvSpPr>
        <p:spPr>
          <a:xfrm>
            <a:off x="603885" y="2564606"/>
            <a:ext cx="651589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Zhuang Wang · Zhaozhuo Xu · Xinyu Crystal Wu · Anshumali Shrivastava · T. S. Eugene Ng</a:t>
            </a:r>
          </a:p>
        </p:txBody>
      </p:sp>
      <p:grpSp>
        <p:nvGrpSpPr>
          <p:cNvPr id="14" name="Group 14"/>
          <p:cNvGrpSpPr/>
          <p:nvPr/>
        </p:nvGrpSpPr>
        <p:grpSpPr>
          <a:xfrm>
            <a:off x="609600" y="3048000"/>
            <a:ext cx="5334000" cy="1123950"/>
            <a:chOff x="609600" y="3048000"/>
            <a:chExt cx="5334000" cy="1123950"/>
          </a:xfrm>
        </p:grpSpPr>
        <p:sp>
          <p:nvSpPr>
            <p:cNvPr id="9" name="Rectangle 9"/>
            <p:cNvSpPr/>
            <p:nvPr/>
          </p:nvSpPr>
          <p:spPr>
            <a:xfrm>
              <a:off x="609600" y="3048000"/>
              <a:ext cx="5334000" cy="1123950"/>
            </a:xfrm>
            <a:prstGeom prst="roundRect">
              <a:avLst>
                <a:gd name="adj" fmla="val 11864"/>
              </a:avLst>
            </a:prstGeom>
            <a:solidFill>
              <a:schemeClr val="accent5"/>
            </a:solidFill>
            <a:ln w="14288">
              <a:solidFill>
                <a:srgbClr val="26455F"/>
              </a:solidFill>
            </a:ln>
          </p:spPr>
        </p:sp>
        <p:sp>
          <p:nvSpPr>
            <p:cNvPr id="10" name="Rectangle 10"/>
            <p:cNvSpPr/>
            <p:nvPr/>
          </p:nvSpPr>
          <p:spPr>
            <a:xfrm>
              <a:off x="609600" y="3048000"/>
              <a:ext cx="57150" cy="1123950"/>
            </a:xfrm>
            <a:prstGeom prst="roundRect">
              <a:avLst>
                <a:gd name="adj" fmla="val 50000"/>
              </a:avLst>
            </a:prstGeom>
            <a:solidFill>
              <a:schemeClr val="accent2"/>
            </a:solidFill>
            <a:ln>
              <a:noFill/>
            </a:ln>
          </p:spPr>
        </p:sp>
        <p:sp>
          <p:nvSpPr>
            <p:cNvPr id="11" name="TextBox 11"/>
            <p:cNvSpPr txBox="1"/>
            <p:nvPr/>
          </p:nvSpPr>
          <p:spPr>
            <a:xfrm>
              <a:off x="869442" y="3245168"/>
              <a:ext cx="3111312"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A randomized hashing compressor</a:t>
              </a:r>
            </a:p>
          </p:txBody>
        </p:sp>
        <p:sp>
          <p:nvSpPr>
            <p:cNvPr id="12" name="TextBox 12"/>
            <p:cNvSpPr txBox="1"/>
            <p:nvPr/>
          </p:nvSpPr>
          <p:spPr>
            <a:xfrm>
              <a:off x="870966" y="3525202"/>
              <a:ext cx="447394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DRAGONN sparsifies gradients by direct hashing instead of exact</a:t>
              </a:r>
            </a:p>
          </p:txBody>
        </p:sp>
        <p:sp>
          <p:nvSpPr>
            <p:cNvPr id="13" name="TextBox 13"/>
            <p:cNvSpPr txBox="1"/>
            <p:nvPr/>
          </p:nvSpPr>
          <p:spPr>
            <a:xfrm>
              <a:off x="870966" y="3725228"/>
              <a:ext cx="386955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top-k selection, for data-parallel distributed training.</a:t>
              </a:r>
            </a:p>
          </p:txBody>
        </p:sp>
      </p:grpSp>
      <p:grpSp>
        <p:nvGrpSpPr>
          <p:cNvPr id="21" name="Group 21"/>
          <p:cNvGrpSpPr/>
          <p:nvPr/>
        </p:nvGrpSpPr>
        <p:grpSpPr>
          <a:xfrm>
            <a:off x="6248400" y="3048000"/>
            <a:ext cx="5334000" cy="1123950"/>
            <a:chOff x="6248400" y="3048000"/>
            <a:chExt cx="5334000" cy="1123950"/>
          </a:xfrm>
        </p:grpSpPr>
        <p:sp>
          <p:nvSpPr>
            <p:cNvPr id="15" name="Rectangle 15"/>
            <p:cNvSpPr/>
            <p:nvPr/>
          </p:nvSpPr>
          <p:spPr>
            <a:xfrm>
              <a:off x="6248400" y="3048000"/>
              <a:ext cx="5334000" cy="1123950"/>
            </a:xfrm>
            <a:prstGeom prst="roundRect">
              <a:avLst>
                <a:gd name="adj" fmla="val 11864"/>
              </a:avLst>
            </a:prstGeom>
            <a:solidFill>
              <a:schemeClr val="accent5"/>
            </a:solidFill>
            <a:ln w="14288">
              <a:solidFill>
                <a:srgbClr val="26455F"/>
              </a:solidFill>
            </a:ln>
          </p:spPr>
        </p:sp>
        <p:sp>
          <p:nvSpPr>
            <p:cNvPr id="16" name="Rectangle 16"/>
            <p:cNvSpPr/>
            <p:nvPr/>
          </p:nvSpPr>
          <p:spPr>
            <a:xfrm>
              <a:off x="6248400" y="3048000"/>
              <a:ext cx="57150" cy="1123950"/>
            </a:xfrm>
            <a:prstGeom prst="roundRect">
              <a:avLst>
                <a:gd name="adj" fmla="val 50000"/>
              </a:avLst>
            </a:prstGeom>
            <a:solidFill>
              <a:srgbClr val="F2C14E"/>
            </a:solidFill>
            <a:ln>
              <a:noFill/>
            </a:ln>
          </p:spPr>
        </p:sp>
        <p:sp>
          <p:nvSpPr>
            <p:cNvPr id="17" name="TextBox 17"/>
            <p:cNvSpPr txBox="1"/>
            <p:nvPr/>
          </p:nvSpPr>
          <p:spPr>
            <a:xfrm>
              <a:off x="6508242" y="3245168"/>
              <a:ext cx="2071184"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The moving bottleneck</a:t>
              </a:r>
            </a:p>
          </p:txBody>
        </p:sp>
        <p:sp>
          <p:nvSpPr>
            <p:cNvPr id="18" name="TextBox 18"/>
            <p:cNvSpPr txBox="1"/>
            <p:nvPr/>
          </p:nvSpPr>
          <p:spPr>
            <a:xfrm>
              <a:off x="6509766" y="3525202"/>
              <a:ext cx="472862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Synchronizing gradients across GPUs dominates cost; sparsification</a:t>
              </a:r>
            </a:p>
          </p:txBody>
        </p:sp>
        <p:sp>
          <p:nvSpPr>
            <p:cNvPr id="19" name="TextBox 19"/>
            <p:cNvSpPr txBox="1"/>
            <p:nvPr/>
          </p:nvSpPr>
          <p:spPr>
            <a:xfrm>
              <a:off x="6509766" y="3725228"/>
              <a:ext cx="451269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was meant to help, but its compression overhead became the new</a:t>
              </a:r>
            </a:p>
          </p:txBody>
        </p:sp>
        <p:sp>
          <p:nvSpPr>
            <p:cNvPr id="20" name="TextBox 20"/>
            <p:cNvSpPr txBox="1"/>
            <p:nvPr/>
          </p:nvSpPr>
          <p:spPr>
            <a:xfrm>
              <a:off x="6509766" y="3925252"/>
              <a:ext cx="83050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bottleneck.</a:t>
              </a:r>
            </a:p>
          </p:txBody>
        </p:sp>
      </p:grpSp>
      <p:grpSp>
        <p:nvGrpSpPr>
          <p:cNvPr id="26" name="Group 26"/>
          <p:cNvGrpSpPr/>
          <p:nvPr/>
        </p:nvGrpSpPr>
        <p:grpSpPr>
          <a:xfrm>
            <a:off x="609600" y="4381500"/>
            <a:ext cx="10972800" cy="1123950"/>
            <a:chOff x="609600" y="4381500"/>
            <a:chExt cx="10972800" cy="1123950"/>
          </a:xfrm>
        </p:grpSpPr>
        <p:sp>
          <p:nvSpPr>
            <p:cNvPr id="22" name="Rectangle 22"/>
            <p:cNvSpPr/>
            <p:nvPr/>
          </p:nvSpPr>
          <p:spPr>
            <a:xfrm>
              <a:off x="609600" y="4381500"/>
              <a:ext cx="10972800" cy="1123950"/>
            </a:xfrm>
            <a:prstGeom prst="roundRect">
              <a:avLst>
                <a:gd name="adj" fmla="val 11864"/>
              </a:avLst>
            </a:prstGeom>
            <a:solidFill>
              <a:srgbClr val="0F2E2B"/>
            </a:solidFill>
            <a:ln w="14288">
              <a:solidFill>
                <a:srgbClr val="34D3C0"/>
              </a:solidFill>
            </a:ln>
          </p:spPr>
        </p:sp>
        <p:sp>
          <p:nvSpPr>
            <p:cNvPr id="23" name="Rectangle 23"/>
            <p:cNvSpPr/>
            <p:nvPr/>
          </p:nvSpPr>
          <p:spPr>
            <a:xfrm>
              <a:off x="609600" y="4381500"/>
              <a:ext cx="57150" cy="1123950"/>
            </a:xfrm>
            <a:prstGeom prst="roundRect">
              <a:avLst>
                <a:gd name="adj" fmla="val 50000"/>
              </a:avLst>
            </a:prstGeom>
            <a:solidFill>
              <a:srgbClr val="34D3C0"/>
            </a:solidFill>
            <a:ln>
              <a:noFill/>
            </a:ln>
          </p:spPr>
        </p:sp>
        <p:sp>
          <p:nvSpPr>
            <p:cNvPr id="24" name="TextBox 24"/>
            <p:cNvSpPr txBox="1"/>
            <p:nvPr/>
          </p:nvSpPr>
          <p:spPr>
            <a:xfrm>
              <a:off x="869442" y="4578668"/>
              <a:ext cx="1021842" cy="264033"/>
            </a:xfrm>
            <a:prstGeom prst="rect">
              <a:avLst/>
            </a:prstGeom>
            <a:noFill/>
            <a:ln>
              <a:noFill/>
            </a:ln>
          </p:spPr>
          <p:txBody>
            <a:bodyPr wrap="none" lIns="0" tIns="0" rIns="0" bIns="0" anchor="t" anchorCtr="0">
              <a:spAutoFit/>
            </a:bodyPr>
            <a:lstStyle/>
            <a:p>
              <a:pPr algn="l"/>
              <a:r>
                <a:rPr lang="en-US" sz="1350" b="1" dirty="0">
                  <a:solidFill>
                    <a:srgbClr val="34D3C0"/>
                  </a:solidFill>
                  <a:latin typeface="+mn-lt"/>
                  <a:ea typeface="+mn-ea"/>
                  <a:cs typeface="+mn-cs"/>
                </a:rPr>
                <a:t>The payoff</a:t>
              </a:r>
            </a:p>
          </p:txBody>
        </p:sp>
        <p:sp>
          <p:nvSpPr>
            <p:cNvPr id="25" name="TextBox 25"/>
            <p:cNvSpPr txBox="1"/>
            <p:nvPr/>
          </p:nvSpPr>
          <p:spPr>
            <a:xfrm>
              <a:off x="870776" y="4854654"/>
              <a:ext cx="9693542"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Replacing exact parallel-prefix-sum with direct hashing cuts compression time by up to 70% and speeds up total training by up to 3.5x.</a:t>
              </a:r>
            </a:p>
          </p:txBody>
        </p:sp>
      </p:grpSp>
      <p:sp>
        <p:nvSpPr>
          <p:cNvPr id="27" name="Line 27"/>
          <p:cNvSpPr/>
          <p:nvPr/>
        </p:nvSpPr>
        <p:spPr>
          <a:xfrm>
            <a:off x="609600" y="586740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28" name="TextBox 28"/>
          <p:cNvSpPr txBox="1"/>
          <p:nvPr/>
        </p:nvSpPr>
        <p:spPr>
          <a:xfrm>
            <a:off x="604266" y="6077902"/>
            <a:ext cx="2563467"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mn-lt"/>
                <a:ea typeface="+mn-ea"/>
                <a:cs typeface="+mn-cs"/>
              </a:rPr>
              <a:t>github.com/zhuangwang93/dragonn</a:t>
            </a:r>
          </a:p>
        </p:txBody>
      </p:sp>
      <p:sp>
        <p:nvSpPr>
          <p:cNvPr id="29" name="TextBox 29"/>
          <p:cNvSpPr txBox="1"/>
          <p:nvPr/>
        </p:nvSpPr>
        <p:spPr>
          <a:xfrm>
            <a:off x="3995166" y="6077902"/>
            <a:ext cx="7407014"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Sparsification only needs an approximate set of top gradients — so it should not pay for an exact one.</a:t>
            </a:r>
          </a:p>
        </p:txBody>
      </p:sp>
      <p:sp>
        <p:nvSpPr>
          <p:cNvPr id="30" name="cue_s01_c1_dragonn_randomized_hashing_algorithm" title="cue_s01_c1_dragonn_randomized_hashing_algorithm" descr="cue_s01_c1_dragonn_randomized_hashing_algorithm DRAGONN is a randomized hashing algorithm for gradient sparsification in data-parallel distributed training, from Rice University and ThirdAI."/>
          <p:cNvSpPr/>
          <p:nvPr/>
        </p:nvSpPr>
        <p:spPr>
          <a:xfrm>
            <a:off x="609600" y="3047695"/>
            <a:ext cx="5334000" cy="11240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cue_s01_c2_distributed_synchronizing_gradients" title="cue_s01_c2_distributed_synchronizing_gradients" descr="cue_s01_c2_distributed_synchronizing_gradients In distributed training, synchronizing gradients across GPUs is the main efficiency bottleneck, and gradient sparsification methods were meant to help, but their own compression overhead has become the new bottleneck."/>
          <p:cNvSpPr/>
          <p:nvPr/>
        </p:nvSpPr>
        <p:spPr>
          <a:xfrm>
            <a:off x="6248399" y="3047695"/>
            <a:ext cx="5334000" cy="11240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cue_s01_c3_dragonn_replaces_exact_parallel_pref" title="cue_s01_c3_dragonn_replaces_exact_parallel_pref" descr="cue_s01_c3_dragonn_replaces_exact_parallel_pref DRAGONN replaces the exact parallel-prefix-sum operations used by prior methods with direct hashing, cutting compression time by up to seventy percent and delivering up to three-and-a-half times faster training throughput."/>
          <p:cNvSpPr/>
          <p:nvPr/>
        </p:nvSpPr>
        <p:spPr>
          <a:xfrm>
            <a:off x="609600" y="4381576"/>
            <a:ext cx="10972800" cy="11240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882792"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PROBLEM</a:t>
            </a:r>
          </a:p>
        </p:txBody>
      </p:sp>
      <p:sp>
        <p:nvSpPr>
          <p:cNvPr id="4" name="TextBox 4"/>
          <p:cNvSpPr txBox="1"/>
          <p:nvPr/>
        </p:nvSpPr>
        <p:spPr>
          <a:xfrm>
            <a:off x="598170" y="804862"/>
            <a:ext cx="6760279"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When compression costs more than it saves</a:t>
            </a:r>
          </a:p>
        </p:txBody>
      </p:sp>
      <p:grpSp>
        <p:nvGrpSpPr>
          <p:cNvPr id="26" name="Group 26"/>
          <p:cNvGrpSpPr/>
          <p:nvPr/>
        </p:nvGrpSpPr>
        <p:grpSpPr>
          <a:xfrm>
            <a:off x="609600" y="1504950"/>
            <a:ext cx="3848100" cy="3733800"/>
            <a:chOff x="609600" y="1504950"/>
            <a:chExt cx="3848100" cy="3733800"/>
          </a:xfrm>
        </p:grpSpPr>
        <p:sp>
          <p:nvSpPr>
            <p:cNvPr id="5" name="Rectangle 5"/>
            <p:cNvSpPr/>
            <p:nvPr/>
          </p:nvSpPr>
          <p:spPr>
            <a:xfrm>
              <a:off x="609600" y="1504950"/>
              <a:ext cx="3848100" cy="3733800"/>
            </a:xfrm>
            <a:prstGeom prst="roundRect">
              <a:avLst>
                <a:gd name="adj" fmla="val 3571"/>
              </a:avLst>
            </a:prstGeom>
            <a:solidFill>
              <a:schemeClr val="accent5"/>
            </a:solidFill>
            <a:ln w="14288">
              <a:solidFill>
                <a:srgbClr val="26455F"/>
              </a:solidFill>
            </a:ln>
          </p:spPr>
        </p:sp>
        <p:sp>
          <p:nvSpPr>
            <p:cNvPr id="6" name="Rectangle 6"/>
            <p:cNvSpPr/>
            <p:nvPr/>
          </p:nvSpPr>
          <p:spPr>
            <a:xfrm>
              <a:off x="609600" y="1504950"/>
              <a:ext cx="57150" cy="3733800"/>
            </a:xfrm>
            <a:prstGeom prst="roundRect">
              <a:avLst>
                <a:gd name="adj" fmla="val 50000"/>
              </a:avLst>
            </a:prstGeom>
            <a:solidFill>
              <a:schemeClr val="accent2"/>
            </a:solidFill>
            <a:ln>
              <a:noFill/>
            </a:ln>
          </p:spPr>
        </p:sp>
        <p:sp>
          <p:nvSpPr>
            <p:cNvPr id="7" name="TextBox 7"/>
            <p:cNvSpPr txBox="1"/>
            <p:nvPr/>
          </p:nvSpPr>
          <p:spPr>
            <a:xfrm>
              <a:off x="869442" y="1778318"/>
              <a:ext cx="1699303"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The dominant cost</a:t>
              </a:r>
            </a:p>
          </p:txBody>
        </p:sp>
        <p:sp>
          <p:nvSpPr>
            <p:cNvPr id="8" name="TextBox 8"/>
            <p:cNvSpPr txBox="1"/>
            <p:nvPr/>
          </p:nvSpPr>
          <p:spPr>
            <a:xfrm>
              <a:off x="870585" y="2164556"/>
              <a:ext cx="311471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Data-parallel training is the standard way</a:t>
              </a:r>
            </a:p>
          </p:txBody>
        </p:sp>
        <p:sp>
          <p:nvSpPr>
            <p:cNvPr id="9" name="TextBox 9"/>
            <p:cNvSpPr txBox="1"/>
            <p:nvPr/>
          </p:nvSpPr>
          <p:spPr>
            <a:xfrm>
              <a:off x="870585" y="2393156"/>
              <a:ext cx="303485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to scale deep learning across many GPUs,</a:t>
              </a:r>
            </a:p>
          </p:txBody>
        </p:sp>
        <p:sp>
          <p:nvSpPr>
            <p:cNvPr id="10" name="TextBox 10"/>
            <p:cNvSpPr txBox="1"/>
            <p:nvPr/>
          </p:nvSpPr>
          <p:spPr>
            <a:xfrm>
              <a:off x="870585" y="2621756"/>
              <a:ext cx="271783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but synchronizing gradients between</a:t>
              </a:r>
            </a:p>
          </p:txBody>
        </p:sp>
        <p:sp>
          <p:nvSpPr>
            <p:cNvPr id="11" name="TextBox 11"/>
            <p:cNvSpPr txBox="1"/>
            <p:nvPr/>
          </p:nvSpPr>
          <p:spPr>
            <a:xfrm>
              <a:off x="870585" y="2850356"/>
              <a:ext cx="260475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workers is the single largest cost.</a:t>
              </a:r>
            </a:p>
          </p:txBody>
        </p:sp>
        <p:sp>
          <p:nvSpPr>
            <p:cNvPr id="12" name="Rectangle 12"/>
            <p:cNvSpPr/>
            <p:nvPr/>
          </p:nvSpPr>
          <p:spPr>
            <a:xfrm>
              <a:off x="876300" y="3429000"/>
              <a:ext cx="3276600" cy="1428750"/>
            </a:xfrm>
            <a:prstGeom prst="roundRect">
              <a:avLst>
                <a:gd name="adj" fmla="val 6667"/>
              </a:avLst>
            </a:prstGeom>
            <a:solidFill>
              <a:schemeClr val="accent6"/>
            </a:solidFill>
            <a:ln w="14288">
              <a:solidFill>
                <a:srgbClr val="26455F"/>
              </a:solidFill>
            </a:ln>
          </p:spPr>
        </p:sp>
        <p:sp>
          <p:nvSpPr>
            <p:cNvPr id="13" name="TextBox 13"/>
            <p:cNvSpPr txBox="1"/>
            <p:nvPr/>
          </p:nvSpPr>
          <p:spPr>
            <a:xfrm>
              <a:off x="1062038" y="3594497"/>
              <a:ext cx="1265146" cy="183356"/>
            </a:xfrm>
            <a:prstGeom prst="rect">
              <a:avLst/>
            </a:prstGeom>
            <a:noFill/>
            <a:ln>
              <a:noFill/>
            </a:ln>
          </p:spPr>
          <p:txBody>
            <a:bodyPr wrap="none" lIns="0" tIns="0" rIns="0" bIns="0" anchor="t" anchorCtr="0">
              <a:spAutoFit/>
            </a:bodyPr>
            <a:lstStyle/>
            <a:p>
              <a:pPr algn="l"/>
              <a:r>
                <a:rPr lang="en-US" sz="940" b="1" dirty="0">
                  <a:solidFill>
                    <a:srgbClr val="6E869C"/>
                  </a:solidFill>
                  <a:latin typeface="+mn-lt"/>
                  <a:ea typeface="+mn-ea"/>
                  <a:cs typeface="+mn-cs"/>
                </a:rPr>
                <a:t>gradient all-reduce</a:t>
              </a:r>
            </a:p>
          </p:txBody>
        </p:sp>
        <p:sp>
          <p:nvSpPr>
            <p:cNvPr id="14" name="Ellipse 14"/>
            <p:cNvSpPr/>
            <p:nvPr/>
          </p:nvSpPr>
          <p:spPr>
            <a:xfrm>
              <a:off x="1285875" y="4105275"/>
              <a:ext cx="285750" cy="285750"/>
            </a:xfrm>
            <a:prstGeom prst="ellipse">
              <a:avLst/>
            </a:prstGeom>
            <a:solidFill>
              <a:schemeClr val="accent2"/>
            </a:solidFill>
            <a:ln>
              <a:noFill/>
            </a:ln>
          </p:spPr>
        </p:sp>
        <p:sp>
          <p:nvSpPr>
            <p:cNvPr id="15" name="Ellipse 15"/>
            <p:cNvSpPr/>
            <p:nvPr/>
          </p:nvSpPr>
          <p:spPr>
            <a:xfrm>
              <a:off x="2047875" y="4105275"/>
              <a:ext cx="285750" cy="285750"/>
            </a:xfrm>
            <a:prstGeom prst="ellipse">
              <a:avLst/>
            </a:prstGeom>
            <a:solidFill>
              <a:schemeClr val="accent2"/>
            </a:solidFill>
            <a:ln>
              <a:noFill/>
            </a:ln>
          </p:spPr>
        </p:sp>
        <p:sp>
          <p:nvSpPr>
            <p:cNvPr id="16" name="Ellipse 16"/>
            <p:cNvSpPr/>
            <p:nvPr/>
          </p:nvSpPr>
          <p:spPr>
            <a:xfrm>
              <a:off x="2809875" y="4105275"/>
              <a:ext cx="285750" cy="285750"/>
            </a:xfrm>
            <a:prstGeom prst="ellipse">
              <a:avLst/>
            </a:prstGeom>
            <a:solidFill>
              <a:schemeClr val="accent2"/>
            </a:solidFill>
            <a:ln>
              <a:noFill/>
            </a:ln>
          </p:spPr>
        </p:sp>
        <p:sp>
          <p:nvSpPr>
            <p:cNvPr id="17" name="Ellipse 17"/>
            <p:cNvSpPr/>
            <p:nvPr/>
          </p:nvSpPr>
          <p:spPr>
            <a:xfrm>
              <a:off x="3571875" y="4105275"/>
              <a:ext cx="285750" cy="285750"/>
            </a:xfrm>
            <a:prstGeom prst="ellipse">
              <a:avLst/>
            </a:prstGeom>
            <a:solidFill>
              <a:schemeClr val="accent2"/>
            </a:solidFill>
            <a:ln>
              <a:noFill/>
            </a:ln>
          </p:spPr>
        </p:sp>
        <p:sp>
          <p:nvSpPr>
            <p:cNvPr id="18" name="TextBox 18"/>
            <p:cNvSpPr txBox="1"/>
            <p:nvPr/>
          </p:nvSpPr>
          <p:spPr>
            <a:xfrm>
              <a:off x="1360238" y="4206716"/>
              <a:ext cx="137024" cy="161925"/>
            </a:xfrm>
            <a:prstGeom prst="rect">
              <a:avLst/>
            </a:prstGeom>
            <a:noFill/>
            <a:ln>
              <a:noFill/>
            </a:ln>
          </p:spPr>
          <p:txBody>
            <a:bodyPr wrap="none" lIns="0" tIns="0" rIns="0" bIns="0" anchor="t" anchorCtr="0">
              <a:spAutoFit/>
            </a:bodyPr>
            <a:lstStyle/>
            <a:p>
              <a:pPr algn="ctr"/>
              <a:r>
                <a:rPr lang="en-US" sz="820" b="1" dirty="0">
                  <a:solidFill>
                    <a:srgbClr val="0B1B2B"/>
                  </a:solidFill>
                  <a:latin typeface="+mn-lt"/>
                  <a:ea typeface="+mn-ea"/>
                  <a:cs typeface="+mn-cs"/>
                </a:rPr>
                <a:t>g0</a:t>
              </a:r>
            </a:p>
          </p:txBody>
        </p:sp>
        <p:sp>
          <p:nvSpPr>
            <p:cNvPr id="19" name="TextBox 19"/>
            <p:cNvSpPr txBox="1"/>
            <p:nvPr/>
          </p:nvSpPr>
          <p:spPr>
            <a:xfrm>
              <a:off x="2122238" y="4206716"/>
              <a:ext cx="137024" cy="161925"/>
            </a:xfrm>
            <a:prstGeom prst="rect">
              <a:avLst/>
            </a:prstGeom>
            <a:noFill/>
            <a:ln>
              <a:noFill/>
            </a:ln>
          </p:spPr>
          <p:txBody>
            <a:bodyPr wrap="none" lIns="0" tIns="0" rIns="0" bIns="0" anchor="t" anchorCtr="0">
              <a:spAutoFit/>
            </a:bodyPr>
            <a:lstStyle/>
            <a:p>
              <a:pPr algn="ctr"/>
              <a:r>
                <a:rPr lang="en-US" sz="820" b="1" dirty="0">
                  <a:solidFill>
                    <a:srgbClr val="0B1B2B"/>
                  </a:solidFill>
                  <a:latin typeface="+mn-lt"/>
                  <a:ea typeface="+mn-ea"/>
                  <a:cs typeface="+mn-cs"/>
                </a:rPr>
                <a:t>g1</a:t>
              </a:r>
            </a:p>
          </p:txBody>
        </p:sp>
        <p:sp>
          <p:nvSpPr>
            <p:cNvPr id="20" name="TextBox 20"/>
            <p:cNvSpPr txBox="1"/>
            <p:nvPr/>
          </p:nvSpPr>
          <p:spPr>
            <a:xfrm>
              <a:off x="2884238" y="4206716"/>
              <a:ext cx="137024" cy="161925"/>
            </a:xfrm>
            <a:prstGeom prst="rect">
              <a:avLst/>
            </a:prstGeom>
            <a:noFill/>
            <a:ln>
              <a:noFill/>
            </a:ln>
          </p:spPr>
          <p:txBody>
            <a:bodyPr wrap="none" lIns="0" tIns="0" rIns="0" bIns="0" anchor="t" anchorCtr="0">
              <a:spAutoFit/>
            </a:bodyPr>
            <a:lstStyle/>
            <a:p>
              <a:pPr algn="ctr"/>
              <a:r>
                <a:rPr lang="en-US" sz="820" b="1" dirty="0">
                  <a:solidFill>
                    <a:srgbClr val="0B1B2B"/>
                  </a:solidFill>
                  <a:latin typeface="+mn-lt"/>
                  <a:ea typeface="+mn-ea"/>
                  <a:cs typeface="+mn-cs"/>
                </a:rPr>
                <a:t>g2</a:t>
              </a:r>
            </a:p>
          </p:txBody>
        </p:sp>
        <p:sp>
          <p:nvSpPr>
            <p:cNvPr id="21" name="TextBox 21"/>
            <p:cNvSpPr txBox="1"/>
            <p:nvPr/>
          </p:nvSpPr>
          <p:spPr>
            <a:xfrm>
              <a:off x="3646238" y="4206716"/>
              <a:ext cx="137024" cy="161925"/>
            </a:xfrm>
            <a:prstGeom prst="rect">
              <a:avLst/>
            </a:prstGeom>
            <a:noFill/>
            <a:ln>
              <a:noFill/>
            </a:ln>
          </p:spPr>
          <p:txBody>
            <a:bodyPr wrap="none" lIns="0" tIns="0" rIns="0" bIns="0" anchor="t" anchorCtr="0">
              <a:spAutoFit/>
            </a:bodyPr>
            <a:lstStyle/>
            <a:p>
              <a:pPr algn="ctr"/>
              <a:r>
                <a:rPr lang="en-US" sz="820" b="1" dirty="0">
                  <a:solidFill>
                    <a:srgbClr val="0B1B2B"/>
                  </a:solidFill>
                  <a:latin typeface="+mn-lt"/>
                  <a:ea typeface="+mn-ea"/>
                  <a:cs typeface="+mn-cs"/>
                </a:rPr>
                <a:t>g3</a:t>
              </a:r>
            </a:p>
          </p:txBody>
        </p:sp>
        <p:sp>
          <p:nvSpPr>
            <p:cNvPr id="22" name="Line 22"/>
            <p:cNvSpPr/>
            <p:nvPr/>
          </p:nvSpPr>
          <p:spPr>
            <a:xfrm>
              <a:off x="1571625" y="4248150"/>
              <a:ext cx="476250" cy="9525"/>
            </a:xfrm>
            <a:custGeom>
              <a:avLst/>
              <a:gdLst/>
              <a:ahLst/>
              <a:cxnLst/>
              <a:rect l="l" t="t" r="r" b="b"/>
              <a:pathLst>
                <a:path w="476250" h="9525">
                  <a:moveTo>
                    <a:pt x="0" y="0"/>
                  </a:moveTo>
                  <a:lnTo>
                    <a:pt x="476250" y="0"/>
                  </a:lnTo>
                </a:path>
              </a:pathLst>
            </a:custGeom>
            <a:noFill/>
            <a:ln w="19050" cap="rnd">
              <a:solidFill>
                <a:srgbClr val="F2C14E"/>
              </a:solidFill>
            </a:ln>
          </p:spPr>
        </p:sp>
        <p:sp>
          <p:nvSpPr>
            <p:cNvPr id="23" name="Line 23"/>
            <p:cNvSpPr/>
            <p:nvPr/>
          </p:nvSpPr>
          <p:spPr>
            <a:xfrm>
              <a:off x="2333625" y="4248150"/>
              <a:ext cx="476250" cy="9525"/>
            </a:xfrm>
            <a:custGeom>
              <a:avLst/>
              <a:gdLst/>
              <a:ahLst/>
              <a:cxnLst/>
              <a:rect l="l" t="t" r="r" b="b"/>
              <a:pathLst>
                <a:path w="476250" h="9525">
                  <a:moveTo>
                    <a:pt x="0" y="0"/>
                  </a:moveTo>
                  <a:lnTo>
                    <a:pt x="476250" y="0"/>
                  </a:lnTo>
                </a:path>
              </a:pathLst>
            </a:custGeom>
            <a:noFill/>
            <a:ln w="19050" cap="rnd">
              <a:solidFill>
                <a:srgbClr val="F2C14E"/>
              </a:solidFill>
            </a:ln>
          </p:spPr>
        </p:sp>
        <p:sp>
          <p:nvSpPr>
            <p:cNvPr id="24" name="Line 24"/>
            <p:cNvSpPr/>
            <p:nvPr/>
          </p:nvSpPr>
          <p:spPr>
            <a:xfrm>
              <a:off x="3095625" y="4248150"/>
              <a:ext cx="476250" cy="9525"/>
            </a:xfrm>
            <a:custGeom>
              <a:avLst/>
              <a:gdLst/>
              <a:ahLst/>
              <a:cxnLst/>
              <a:rect l="l" t="t" r="r" b="b"/>
              <a:pathLst>
                <a:path w="476250" h="9525">
                  <a:moveTo>
                    <a:pt x="0" y="0"/>
                  </a:moveTo>
                  <a:lnTo>
                    <a:pt x="476250" y="0"/>
                  </a:lnTo>
                </a:path>
              </a:pathLst>
            </a:custGeom>
            <a:noFill/>
            <a:ln w="19050" cap="rnd">
              <a:solidFill>
                <a:srgbClr val="F2C14E"/>
              </a:solidFill>
            </a:ln>
          </p:spPr>
        </p:sp>
        <p:sp>
          <p:nvSpPr>
            <p:cNvPr id="25" name="TextBox 25"/>
            <p:cNvSpPr txBox="1"/>
            <p:nvPr/>
          </p:nvSpPr>
          <p:spPr>
            <a:xfrm>
              <a:off x="1081486" y="4585097"/>
              <a:ext cx="2866229" cy="183356"/>
            </a:xfrm>
            <a:prstGeom prst="rect">
              <a:avLst/>
            </a:prstGeom>
            <a:noFill/>
            <a:ln>
              <a:noFill/>
            </a:ln>
          </p:spPr>
          <p:txBody>
            <a:bodyPr wrap="none" lIns="0" tIns="0" rIns="0" bIns="0" anchor="t" anchorCtr="0">
              <a:spAutoFit/>
            </a:bodyPr>
            <a:lstStyle/>
            <a:p>
              <a:pPr algn="ctr"/>
              <a:r>
                <a:rPr lang="en-US" sz="940" b="1" dirty="0">
                  <a:solidFill>
                    <a:srgbClr val="F2C14E"/>
                  </a:solidFill>
                  <a:latin typeface="+mn-lt"/>
                  <a:ea typeface="+mn-ea"/>
                  <a:cs typeface="+mn-cs"/>
                </a:rPr>
                <a:t>sync every step = communication bottleneck</a:t>
              </a:r>
            </a:p>
          </p:txBody>
        </p:sp>
      </p:grpSp>
      <p:grpSp>
        <p:nvGrpSpPr>
          <p:cNvPr id="38" name="Group 38"/>
          <p:cNvGrpSpPr/>
          <p:nvPr/>
        </p:nvGrpSpPr>
        <p:grpSpPr>
          <a:xfrm>
            <a:off x="4762500" y="1504950"/>
            <a:ext cx="6819900" cy="1428750"/>
            <a:chOff x="4762500" y="1504950"/>
            <a:chExt cx="6819900" cy="1428750"/>
          </a:xfrm>
        </p:grpSpPr>
        <p:sp>
          <p:nvSpPr>
            <p:cNvPr id="27" name="Rectangle 27"/>
            <p:cNvSpPr/>
            <p:nvPr/>
          </p:nvSpPr>
          <p:spPr>
            <a:xfrm>
              <a:off x="4762500" y="1504950"/>
              <a:ext cx="6819900" cy="1428750"/>
            </a:xfrm>
            <a:prstGeom prst="roundRect">
              <a:avLst>
                <a:gd name="adj" fmla="val 9333"/>
              </a:avLst>
            </a:prstGeom>
            <a:solidFill>
              <a:schemeClr val="accent5"/>
            </a:solidFill>
            <a:ln w="14288">
              <a:solidFill>
                <a:srgbClr val="26455F"/>
              </a:solidFill>
            </a:ln>
          </p:spPr>
        </p:sp>
        <p:sp>
          <p:nvSpPr>
            <p:cNvPr id="28" name="Rectangle 28"/>
            <p:cNvSpPr/>
            <p:nvPr/>
          </p:nvSpPr>
          <p:spPr>
            <a:xfrm>
              <a:off x="4762500" y="1504950"/>
              <a:ext cx="57150" cy="1428750"/>
            </a:xfrm>
            <a:prstGeom prst="roundRect">
              <a:avLst>
                <a:gd name="adj" fmla="val 50000"/>
              </a:avLst>
            </a:prstGeom>
            <a:solidFill>
              <a:srgbClr val="F2C14E"/>
            </a:solidFill>
            <a:ln>
              <a:noFill/>
            </a:ln>
          </p:spPr>
        </p:sp>
        <p:sp>
          <p:nvSpPr>
            <p:cNvPr id="29" name="TextBox 29"/>
            <p:cNvSpPr txBox="1"/>
            <p:nvPr/>
          </p:nvSpPr>
          <p:spPr>
            <a:xfrm>
              <a:off x="5022723" y="1729264"/>
              <a:ext cx="3836248" cy="249364"/>
            </a:xfrm>
            <a:prstGeom prst="rect">
              <a:avLst/>
            </a:prstGeom>
            <a:noFill/>
            <a:ln>
              <a:noFill/>
            </a:ln>
          </p:spPr>
          <p:txBody>
            <a:bodyPr wrap="none" lIns="0" tIns="0" rIns="0" bIns="0" anchor="t" anchorCtr="0">
              <a:spAutoFit/>
            </a:bodyPr>
            <a:lstStyle/>
            <a:p>
              <a:pPr algn="l"/>
              <a:r>
                <a:rPr lang="en-US" sz="1280" b="1" dirty="0">
                  <a:solidFill>
                    <a:srgbClr val="F2C14E"/>
                  </a:solidFill>
                  <a:latin typeface="+mn-lt"/>
                  <a:ea typeface="+mn-ea"/>
                  <a:cs typeface="+mn-cs"/>
                </a:rPr>
                <a:t>Gradient sparsification: promise vs reality</a:t>
              </a:r>
            </a:p>
          </p:txBody>
        </p:sp>
        <p:sp>
          <p:nvSpPr>
            <p:cNvPr id="30" name="Rectangle 30"/>
            <p:cNvSpPr/>
            <p:nvPr/>
          </p:nvSpPr>
          <p:spPr>
            <a:xfrm>
              <a:off x="5029200" y="2057400"/>
              <a:ext cx="3162300" cy="685800"/>
            </a:xfrm>
            <a:prstGeom prst="roundRect">
              <a:avLst>
                <a:gd name="adj" fmla="val 11111"/>
              </a:avLst>
            </a:prstGeom>
            <a:solidFill>
              <a:schemeClr val="accent6"/>
            </a:solidFill>
            <a:ln w="14288">
              <a:solidFill>
                <a:srgbClr val="26455F"/>
              </a:solidFill>
            </a:ln>
          </p:spPr>
        </p:sp>
        <p:sp>
          <p:nvSpPr>
            <p:cNvPr id="31" name="Ellipse 31"/>
            <p:cNvSpPr/>
            <p:nvPr/>
          </p:nvSpPr>
          <p:spPr>
            <a:xfrm>
              <a:off x="5200650" y="2228850"/>
              <a:ext cx="114300" cy="114300"/>
            </a:xfrm>
            <a:prstGeom prst="ellipse">
              <a:avLst/>
            </a:prstGeom>
            <a:solidFill>
              <a:srgbClr val="34D3C0"/>
            </a:solidFill>
            <a:ln>
              <a:noFill/>
            </a:ln>
          </p:spPr>
        </p:sp>
        <p:sp>
          <p:nvSpPr>
            <p:cNvPr id="32" name="TextBox 32"/>
            <p:cNvSpPr txBox="1"/>
            <p:nvPr/>
          </p:nvSpPr>
          <p:spPr>
            <a:xfrm>
              <a:off x="5424106" y="2224326"/>
              <a:ext cx="557179" cy="198025"/>
            </a:xfrm>
            <a:prstGeom prst="rect">
              <a:avLst/>
            </a:prstGeom>
            <a:noFill/>
            <a:ln>
              <a:noFill/>
            </a:ln>
          </p:spPr>
          <p:txBody>
            <a:bodyPr wrap="none" lIns="0" tIns="0" rIns="0" bIns="0" anchor="t" anchorCtr="0">
              <a:spAutoFit/>
            </a:bodyPr>
            <a:lstStyle/>
            <a:p>
              <a:pPr algn="l"/>
              <a:r>
                <a:rPr lang="en-US" sz="1010" b="1" dirty="0">
                  <a:solidFill>
                    <a:srgbClr val="34D3C0"/>
                  </a:solidFill>
                  <a:latin typeface="+mn-lt"/>
                  <a:ea typeface="+mn-ea"/>
                  <a:cs typeface="+mn-cs"/>
                </a:rPr>
                <a:t>Promise</a:t>
              </a:r>
            </a:p>
          </p:txBody>
        </p:sp>
        <p:sp>
          <p:nvSpPr>
            <p:cNvPr id="33" name="TextBox 33"/>
            <p:cNvSpPr txBox="1"/>
            <p:nvPr/>
          </p:nvSpPr>
          <p:spPr>
            <a:xfrm>
              <a:off x="5424488" y="2432447"/>
              <a:ext cx="2293623" cy="183356"/>
            </a:xfrm>
            <a:prstGeom prst="rect">
              <a:avLst/>
            </a:prstGeom>
            <a:noFill/>
            <a:ln>
              <a:noFill/>
            </a:ln>
          </p:spPr>
          <p:txBody>
            <a:bodyPr wrap="none" lIns="0" tIns="0" rIns="0" bIns="0" anchor="t" anchorCtr="0">
              <a:spAutoFit/>
            </a:bodyPr>
            <a:lstStyle/>
            <a:p>
              <a:pPr algn="l"/>
              <a:r>
                <a:rPr lang="en-US" sz="940" dirty="0">
                  <a:solidFill>
                    <a:schemeClr val="dk2"/>
                  </a:solidFill>
                  <a:latin typeface="+mn-lt"/>
                  <a:ea typeface="+mn-ea"/>
                  <a:cs typeface="+mn-cs"/>
                </a:rPr>
                <a:t>send only a small subset of gradients</a:t>
              </a:r>
            </a:p>
          </p:txBody>
        </p:sp>
        <p:sp>
          <p:nvSpPr>
            <p:cNvPr id="34" name="Rectangle 34"/>
            <p:cNvSpPr/>
            <p:nvPr/>
          </p:nvSpPr>
          <p:spPr>
            <a:xfrm>
              <a:off x="8382000" y="2057400"/>
              <a:ext cx="2933700" cy="685800"/>
            </a:xfrm>
            <a:prstGeom prst="roundRect">
              <a:avLst>
                <a:gd name="adj" fmla="val 11111"/>
              </a:avLst>
            </a:prstGeom>
            <a:solidFill>
              <a:schemeClr val="accent6"/>
            </a:solidFill>
            <a:ln w="14288">
              <a:solidFill>
                <a:srgbClr val="26455F"/>
              </a:solidFill>
            </a:ln>
          </p:spPr>
        </p:sp>
        <p:sp>
          <p:nvSpPr>
            <p:cNvPr id="35" name="Ellipse 35"/>
            <p:cNvSpPr/>
            <p:nvPr/>
          </p:nvSpPr>
          <p:spPr>
            <a:xfrm>
              <a:off x="8553450" y="2228850"/>
              <a:ext cx="114300" cy="114300"/>
            </a:xfrm>
            <a:prstGeom prst="ellipse">
              <a:avLst/>
            </a:prstGeom>
            <a:solidFill>
              <a:srgbClr val="F2685C"/>
            </a:solidFill>
            <a:ln>
              <a:noFill/>
            </a:ln>
          </p:spPr>
        </p:sp>
        <p:sp>
          <p:nvSpPr>
            <p:cNvPr id="36" name="TextBox 36"/>
            <p:cNvSpPr txBox="1"/>
            <p:nvPr/>
          </p:nvSpPr>
          <p:spPr>
            <a:xfrm>
              <a:off x="8776906" y="2224326"/>
              <a:ext cx="492415" cy="198025"/>
            </a:xfrm>
            <a:prstGeom prst="rect">
              <a:avLst/>
            </a:prstGeom>
            <a:noFill/>
            <a:ln>
              <a:noFill/>
            </a:ln>
          </p:spPr>
          <p:txBody>
            <a:bodyPr wrap="none" lIns="0" tIns="0" rIns="0" bIns="0" anchor="t" anchorCtr="0">
              <a:spAutoFit/>
            </a:bodyPr>
            <a:lstStyle/>
            <a:p>
              <a:pPr algn="l"/>
              <a:r>
                <a:rPr lang="en-US" sz="1010" b="1" dirty="0">
                  <a:solidFill>
                    <a:srgbClr val="F2685C"/>
                  </a:solidFill>
                  <a:latin typeface="+mn-lt"/>
                  <a:ea typeface="+mn-ea"/>
                  <a:cs typeface="+mn-cs"/>
                </a:rPr>
                <a:t>Reality</a:t>
              </a:r>
            </a:p>
          </p:txBody>
        </p:sp>
        <p:sp>
          <p:nvSpPr>
            <p:cNvPr id="37" name="TextBox 37"/>
            <p:cNvSpPr txBox="1"/>
            <p:nvPr/>
          </p:nvSpPr>
          <p:spPr>
            <a:xfrm>
              <a:off x="8777288" y="2432447"/>
              <a:ext cx="2312604" cy="183356"/>
            </a:xfrm>
            <a:prstGeom prst="rect">
              <a:avLst/>
            </a:prstGeom>
            <a:noFill/>
            <a:ln>
              <a:noFill/>
            </a:ln>
          </p:spPr>
          <p:txBody>
            <a:bodyPr wrap="none" lIns="0" tIns="0" rIns="0" bIns="0" anchor="t" anchorCtr="0">
              <a:spAutoFit/>
            </a:bodyPr>
            <a:lstStyle/>
            <a:p>
              <a:pPr algn="l"/>
              <a:r>
                <a:rPr lang="en-US" sz="940" dirty="0">
                  <a:solidFill>
                    <a:schemeClr val="dk2"/>
                  </a:solidFill>
                  <a:latin typeface="+mn-lt"/>
                  <a:ea typeface="+mn-ea"/>
                  <a:cs typeface="+mn-cs"/>
                </a:rPr>
                <a:t>compression time cancels the savings</a:t>
              </a:r>
            </a:p>
          </p:txBody>
        </p:sp>
      </p:grpSp>
      <p:grpSp>
        <p:nvGrpSpPr>
          <p:cNvPr id="61" name="Group 61"/>
          <p:cNvGrpSpPr/>
          <p:nvPr/>
        </p:nvGrpSpPr>
        <p:grpSpPr>
          <a:xfrm>
            <a:off x="4762500" y="3105150"/>
            <a:ext cx="6819900" cy="2133600"/>
            <a:chOff x="4762500" y="3105150"/>
            <a:chExt cx="6819900" cy="2133600"/>
          </a:xfrm>
        </p:grpSpPr>
        <p:sp>
          <p:nvSpPr>
            <p:cNvPr id="39" name="Rectangle 39"/>
            <p:cNvSpPr/>
            <p:nvPr/>
          </p:nvSpPr>
          <p:spPr>
            <a:xfrm>
              <a:off x="4762500" y="3105150"/>
              <a:ext cx="6819900" cy="2133600"/>
            </a:xfrm>
            <a:prstGeom prst="roundRect">
              <a:avLst>
                <a:gd name="adj" fmla="val 6250"/>
              </a:avLst>
            </a:prstGeom>
            <a:solidFill>
              <a:srgbClr val="2A1720"/>
            </a:solidFill>
            <a:ln w="14288">
              <a:solidFill>
                <a:srgbClr val="F2685C"/>
              </a:solidFill>
            </a:ln>
          </p:spPr>
        </p:sp>
        <p:sp>
          <p:nvSpPr>
            <p:cNvPr id="40" name="Rectangle 40"/>
            <p:cNvSpPr/>
            <p:nvPr/>
          </p:nvSpPr>
          <p:spPr>
            <a:xfrm>
              <a:off x="4762500" y="3105150"/>
              <a:ext cx="57150" cy="2133600"/>
            </a:xfrm>
            <a:prstGeom prst="roundRect">
              <a:avLst>
                <a:gd name="adj" fmla="val 50000"/>
              </a:avLst>
            </a:prstGeom>
            <a:solidFill>
              <a:srgbClr val="F2685C"/>
            </a:solidFill>
            <a:ln>
              <a:noFill/>
            </a:ln>
          </p:spPr>
        </p:sp>
        <p:sp>
          <p:nvSpPr>
            <p:cNvPr id="41" name="TextBox 41"/>
            <p:cNvSpPr txBox="1"/>
            <p:nvPr/>
          </p:nvSpPr>
          <p:spPr>
            <a:xfrm>
              <a:off x="5023294" y="3322558"/>
              <a:ext cx="4721690" cy="227362"/>
            </a:xfrm>
            <a:prstGeom prst="rect">
              <a:avLst/>
            </a:prstGeom>
            <a:noFill/>
            <a:ln>
              <a:noFill/>
            </a:ln>
          </p:spPr>
          <p:txBody>
            <a:bodyPr wrap="none" lIns="0" tIns="0" rIns="0" bIns="0" anchor="t" anchorCtr="0">
              <a:spAutoFit/>
            </a:bodyPr>
            <a:lstStyle/>
            <a:p>
              <a:pPr algn="l"/>
              <a:r>
                <a:rPr lang="en-US" sz="1160" b="1" dirty="0">
                  <a:solidFill>
                    <a:srgbClr val="F2685C"/>
                  </a:solidFill>
                  <a:latin typeface="+mn-lt"/>
                  <a:ea typeface="+mn-ea"/>
                  <a:cs typeface="+mn-cs"/>
                </a:rPr>
                <a:t>Compression overhead dominates past ~16 MB (2^24 bytes)</a:t>
              </a:r>
            </a:p>
          </p:txBody>
        </p:sp>
        <p:sp>
          <p:nvSpPr>
            <p:cNvPr id="42" name="Rectangle 42"/>
            <p:cNvSpPr/>
            <p:nvPr/>
          </p:nvSpPr>
          <p:spPr>
            <a:xfrm>
              <a:off x="7620000" y="3600450"/>
              <a:ext cx="3695700" cy="1428750"/>
            </a:xfrm>
            <a:prstGeom prst="roundRect">
              <a:avLst>
                <a:gd name="adj" fmla="val 5333"/>
              </a:avLst>
            </a:prstGeom>
            <a:solidFill>
              <a:srgbClr val="1A1016"/>
            </a:solidFill>
            <a:ln w="14288">
              <a:solidFill>
                <a:srgbClr val="26455F"/>
              </a:solidFill>
            </a:ln>
          </p:spPr>
        </p:sp>
        <p:sp>
          <p:nvSpPr>
            <p:cNvPr id="43" name="Line 43"/>
            <p:cNvSpPr/>
            <p:nvPr/>
          </p:nvSpPr>
          <p:spPr>
            <a:xfrm>
              <a:off x="7905750" y="4781550"/>
              <a:ext cx="3276600" cy="9525"/>
            </a:xfrm>
            <a:custGeom>
              <a:avLst/>
              <a:gdLst/>
              <a:ahLst/>
              <a:cxnLst/>
              <a:rect l="l" t="t" r="r" b="b"/>
              <a:pathLst>
                <a:path w="3276600" h="9525">
                  <a:moveTo>
                    <a:pt x="0" y="0"/>
                  </a:moveTo>
                  <a:lnTo>
                    <a:pt x="3276600" y="0"/>
                  </a:lnTo>
                </a:path>
              </a:pathLst>
            </a:custGeom>
            <a:noFill/>
            <a:ln w="11430" cap="rnd">
              <a:solidFill>
                <a:srgbClr val="26455F"/>
              </a:solidFill>
            </a:ln>
          </p:spPr>
        </p:sp>
        <p:sp>
          <p:nvSpPr>
            <p:cNvPr id="44" name="TextBox 44"/>
            <p:cNvSpPr txBox="1"/>
            <p:nvPr/>
          </p:nvSpPr>
          <p:spPr>
            <a:xfrm>
              <a:off x="7843838" y="3667839"/>
              <a:ext cx="1020114" cy="154781"/>
            </a:xfrm>
            <a:prstGeom prst="rect">
              <a:avLst/>
            </a:prstGeom>
            <a:noFill/>
            <a:ln>
              <a:noFill/>
            </a:ln>
          </p:spPr>
          <p:txBody>
            <a:bodyPr wrap="none" lIns="0" tIns="0" rIns="0" bIns="0" anchor="t" anchorCtr="0">
              <a:spAutoFit/>
            </a:bodyPr>
            <a:lstStyle/>
            <a:p>
              <a:pPr algn="l"/>
              <a:r>
                <a:rPr lang="en-US" sz="790" b="1" dirty="0">
                  <a:solidFill>
                    <a:srgbClr val="6E869C"/>
                  </a:solidFill>
                  <a:latin typeface="+mn-lt"/>
                  <a:ea typeface="+mn-ea"/>
                  <a:cs typeface="+mn-cs"/>
                </a:rPr>
                <a:t>compression share</a:t>
              </a:r>
            </a:p>
          </p:txBody>
        </p:sp>
        <p:sp>
          <p:nvSpPr>
            <p:cNvPr id="45" name="TextBox 45"/>
            <p:cNvSpPr txBox="1"/>
            <p:nvPr/>
          </p:nvSpPr>
          <p:spPr>
            <a:xfrm>
              <a:off x="10401500" y="3667839"/>
              <a:ext cx="785613" cy="154781"/>
            </a:xfrm>
            <a:prstGeom prst="rect">
              <a:avLst/>
            </a:prstGeom>
            <a:noFill/>
            <a:ln>
              <a:noFill/>
            </a:ln>
          </p:spPr>
          <p:txBody>
            <a:bodyPr wrap="none" lIns="0" tIns="0" rIns="0" bIns="0" anchor="t" anchorCtr="0">
              <a:spAutoFit/>
            </a:bodyPr>
            <a:lstStyle/>
            <a:p>
              <a:pPr algn="r"/>
              <a:r>
                <a:rPr lang="en-US" sz="790" b="1" dirty="0">
                  <a:solidFill>
                    <a:srgbClr val="6E869C"/>
                  </a:solidFill>
                  <a:latin typeface="+mn-lt"/>
                  <a:ea typeface="+mn-ea"/>
                  <a:cs typeface="+mn-cs"/>
                </a:rPr>
                <a:t>tensor size -&gt;</a:t>
              </a:r>
            </a:p>
          </p:txBody>
        </p:sp>
        <p:sp>
          <p:nvSpPr>
            <p:cNvPr id="46" name="Rectangle 46"/>
            <p:cNvSpPr/>
            <p:nvPr/>
          </p:nvSpPr>
          <p:spPr>
            <a:xfrm>
              <a:off x="8001000" y="4524375"/>
              <a:ext cx="571500" cy="257175"/>
            </a:xfrm>
            <a:prstGeom prst="roundRect">
              <a:avLst>
                <a:gd name="adj" fmla="val 14815"/>
              </a:avLst>
            </a:prstGeom>
            <a:solidFill>
              <a:srgbClr val="F2C14E"/>
            </a:solidFill>
            <a:ln>
              <a:noFill/>
            </a:ln>
          </p:spPr>
        </p:sp>
        <p:sp>
          <p:nvSpPr>
            <p:cNvPr id="47" name="TextBox 47"/>
            <p:cNvSpPr txBox="1"/>
            <p:nvPr/>
          </p:nvSpPr>
          <p:spPr>
            <a:xfrm>
              <a:off x="8169543" y="4374118"/>
              <a:ext cx="234414" cy="169069"/>
            </a:xfrm>
            <a:prstGeom prst="rect">
              <a:avLst/>
            </a:prstGeom>
            <a:noFill/>
            <a:ln>
              <a:noFill/>
            </a:ln>
          </p:spPr>
          <p:txBody>
            <a:bodyPr wrap="none" lIns="0" tIns="0" rIns="0" bIns="0" anchor="t" anchorCtr="0">
              <a:spAutoFit/>
            </a:bodyPr>
            <a:lstStyle/>
            <a:p>
              <a:pPr algn="ctr"/>
              <a:r>
                <a:rPr lang="en-US" sz="860" b="1" dirty="0">
                  <a:solidFill>
                    <a:srgbClr val="F2C14E"/>
                  </a:solidFill>
                  <a:latin typeface="+mn-lt"/>
                  <a:ea typeface="+mn-ea"/>
                  <a:cs typeface="+mn-cs"/>
                </a:rPr>
                <a:t>28%</a:t>
              </a:r>
            </a:p>
          </p:txBody>
        </p:sp>
        <p:sp>
          <p:nvSpPr>
            <p:cNvPr id="48" name="TextBox 48"/>
            <p:cNvSpPr txBox="1"/>
            <p:nvPr/>
          </p:nvSpPr>
          <p:spPr>
            <a:xfrm>
              <a:off x="8150334" y="4844891"/>
              <a:ext cx="272833" cy="161925"/>
            </a:xfrm>
            <a:prstGeom prst="rect">
              <a:avLst/>
            </a:prstGeom>
            <a:noFill/>
            <a:ln>
              <a:noFill/>
            </a:ln>
          </p:spPr>
          <p:txBody>
            <a:bodyPr wrap="none" lIns="0" tIns="0" rIns="0" bIns="0" anchor="t" anchorCtr="0">
              <a:spAutoFit/>
            </a:bodyPr>
            <a:lstStyle/>
            <a:p>
              <a:pPr algn="ctr"/>
              <a:r>
                <a:rPr lang="en-US" sz="820" b="1" dirty="0">
                  <a:solidFill>
                    <a:schemeClr val="dk2"/>
                  </a:solidFill>
                  <a:latin typeface="+mn-lt"/>
                  <a:ea typeface="+mn-ea"/>
                  <a:cs typeface="+mn-cs"/>
                </a:rPr>
                <a:t>1 MB</a:t>
              </a:r>
            </a:p>
          </p:txBody>
        </p:sp>
        <p:sp>
          <p:nvSpPr>
            <p:cNvPr id="49" name="Rectangle 49"/>
            <p:cNvSpPr/>
            <p:nvPr/>
          </p:nvSpPr>
          <p:spPr>
            <a:xfrm>
              <a:off x="9029700" y="4210050"/>
              <a:ext cx="571500" cy="571500"/>
            </a:xfrm>
            <a:prstGeom prst="roundRect">
              <a:avLst>
                <a:gd name="adj" fmla="val 6667"/>
              </a:avLst>
            </a:prstGeom>
            <a:solidFill>
              <a:srgbClr val="F2C14E"/>
            </a:solidFill>
            <a:ln>
              <a:noFill/>
            </a:ln>
          </p:spPr>
        </p:sp>
        <p:sp>
          <p:nvSpPr>
            <p:cNvPr id="50" name="TextBox 50"/>
            <p:cNvSpPr txBox="1"/>
            <p:nvPr/>
          </p:nvSpPr>
          <p:spPr>
            <a:xfrm>
              <a:off x="9198243" y="4059793"/>
              <a:ext cx="234414" cy="169069"/>
            </a:xfrm>
            <a:prstGeom prst="rect">
              <a:avLst/>
            </a:prstGeom>
            <a:noFill/>
            <a:ln>
              <a:noFill/>
            </a:ln>
          </p:spPr>
          <p:txBody>
            <a:bodyPr wrap="none" lIns="0" tIns="0" rIns="0" bIns="0" anchor="t" anchorCtr="0">
              <a:spAutoFit/>
            </a:bodyPr>
            <a:lstStyle/>
            <a:p>
              <a:pPr algn="ctr"/>
              <a:r>
                <a:rPr lang="en-US" sz="860" b="1" dirty="0">
                  <a:solidFill>
                    <a:srgbClr val="F2C14E"/>
                  </a:solidFill>
                  <a:latin typeface="+mn-lt"/>
                  <a:ea typeface="+mn-ea"/>
                  <a:cs typeface="+mn-cs"/>
                </a:rPr>
                <a:t>62%</a:t>
              </a:r>
            </a:p>
          </p:txBody>
        </p:sp>
        <p:sp>
          <p:nvSpPr>
            <p:cNvPr id="51" name="TextBox 51"/>
            <p:cNvSpPr txBox="1"/>
            <p:nvPr/>
          </p:nvSpPr>
          <p:spPr>
            <a:xfrm>
              <a:off x="9145355" y="4844891"/>
              <a:ext cx="340190" cy="161925"/>
            </a:xfrm>
            <a:prstGeom prst="rect">
              <a:avLst/>
            </a:prstGeom>
            <a:noFill/>
            <a:ln>
              <a:noFill/>
            </a:ln>
          </p:spPr>
          <p:txBody>
            <a:bodyPr wrap="none" lIns="0" tIns="0" rIns="0" bIns="0" anchor="t" anchorCtr="0">
              <a:spAutoFit/>
            </a:bodyPr>
            <a:lstStyle/>
            <a:p>
              <a:pPr algn="ctr"/>
              <a:r>
                <a:rPr lang="en-US" sz="820" b="1" dirty="0">
                  <a:solidFill>
                    <a:schemeClr val="dk2"/>
                  </a:solidFill>
                  <a:latin typeface="+mn-lt"/>
                  <a:ea typeface="+mn-ea"/>
                  <a:cs typeface="+mn-cs"/>
                </a:rPr>
                <a:t>16 MB</a:t>
              </a:r>
            </a:p>
          </p:txBody>
        </p:sp>
        <p:sp>
          <p:nvSpPr>
            <p:cNvPr id="52" name="Rectangle 52"/>
            <p:cNvSpPr/>
            <p:nvPr/>
          </p:nvSpPr>
          <p:spPr>
            <a:xfrm>
              <a:off x="10058400" y="3943350"/>
              <a:ext cx="571500" cy="838200"/>
            </a:xfrm>
            <a:prstGeom prst="roundRect">
              <a:avLst>
                <a:gd name="adj" fmla="val 6667"/>
              </a:avLst>
            </a:prstGeom>
            <a:solidFill>
              <a:srgbClr val="F2685C"/>
            </a:solidFill>
            <a:ln>
              <a:noFill/>
            </a:ln>
          </p:spPr>
        </p:sp>
        <p:sp>
          <p:nvSpPr>
            <p:cNvPr id="53" name="TextBox 53"/>
            <p:cNvSpPr txBox="1"/>
            <p:nvPr/>
          </p:nvSpPr>
          <p:spPr>
            <a:xfrm>
              <a:off x="10226943" y="3793093"/>
              <a:ext cx="234414" cy="169069"/>
            </a:xfrm>
            <a:prstGeom prst="rect">
              <a:avLst/>
            </a:prstGeom>
            <a:noFill/>
            <a:ln>
              <a:noFill/>
            </a:ln>
          </p:spPr>
          <p:txBody>
            <a:bodyPr wrap="none" lIns="0" tIns="0" rIns="0" bIns="0" anchor="t" anchorCtr="0">
              <a:spAutoFit/>
            </a:bodyPr>
            <a:lstStyle/>
            <a:p>
              <a:pPr algn="ctr"/>
              <a:r>
                <a:rPr lang="en-US" sz="860" b="1" dirty="0">
                  <a:solidFill>
                    <a:srgbClr val="F2685C"/>
                  </a:solidFill>
                  <a:latin typeface="+mn-lt"/>
                  <a:ea typeface="+mn-ea"/>
                  <a:cs typeface="+mn-cs"/>
                </a:rPr>
                <a:t>90%</a:t>
              </a:r>
            </a:p>
          </p:txBody>
        </p:sp>
        <p:sp>
          <p:nvSpPr>
            <p:cNvPr id="54" name="TextBox 54"/>
            <p:cNvSpPr txBox="1"/>
            <p:nvPr/>
          </p:nvSpPr>
          <p:spPr>
            <a:xfrm>
              <a:off x="10140376" y="4844891"/>
              <a:ext cx="407548" cy="161925"/>
            </a:xfrm>
            <a:prstGeom prst="rect">
              <a:avLst/>
            </a:prstGeom>
            <a:noFill/>
            <a:ln>
              <a:noFill/>
            </a:ln>
          </p:spPr>
          <p:txBody>
            <a:bodyPr wrap="none" lIns="0" tIns="0" rIns="0" bIns="0" anchor="t" anchorCtr="0">
              <a:spAutoFit/>
            </a:bodyPr>
            <a:lstStyle/>
            <a:p>
              <a:pPr algn="ctr"/>
              <a:r>
                <a:rPr lang="en-US" sz="820" b="1" dirty="0">
                  <a:solidFill>
                    <a:schemeClr val="dk2"/>
                  </a:solidFill>
                  <a:latin typeface="+mn-lt"/>
                  <a:ea typeface="+mn-ea"/>
                  <a:cs typeface="+mn-cs"/>
                </a:rPr>
                <a:t>&gt;16 MB</a:t>
              </a:r>
            </a:p>
          </p:txBody>
        </p:sp>
        <p:sp>
          <p:nvSpPr>
            <p:cNvPr id="55" name="TextBox 55"/>
            <p:cNvSpPr txBox="1"/>
            <p:nvPr/>
          </p:nvSpPr>
          <p:spPr>
            <a:xfrm>
              <a:off x="5024056" y="3681651"/>
              <a:ext cx="2299137"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Above the crossover, compression</a:t>
              </a:r>
            </a:p>
          </p:txBody>
        </p:sp>
        <p:sp>
          <p:nvSpPr>
            <p:cNvPr id="56" name="TextBox 56"/>
            <p:cNvSpPr txBox="1"/>
            <p:nvPr/>
          </p:nvSpPr>
          <p:spPr>
            <a:xfrm>
              <a:off x="5024056" y="3881676"/>
              <a:ext cx="2063377"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is the single largest efficiency</a:t>
              </a:r>
            </a:p>
          </p:txBody>
        </p:sp>
        <p:sp>
          <p:nvSpPr>
            <p:cNvPr id="57" name="TextBox 57"/>
            <p:cNvSpPr txBox="1"/>
            <p:nvPr/>
          </p:nvSpPr>
          <p:spPr>
            <a:xfrm>
              <a:off x="5024056" y="4081701"/>
              <a:ext cx="798891"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bottleneck.</a:t>
              </a:r>
            </a:p>
          </p:txBody>
        </p:sp>
        <p:sp>
          <p:nvSpPr>
            <p:cNvPr id="58" name="TextBox 58"/>
            <p:cNvSpPr txBox="1"/>
            <p:nvPr/>
          </p:nvSpPr>
          <p:spPr>
            <a:xfrm>
              <a:off x="5024056" y="4367451"/>
              <a:ext cx="2237673" cy="198025"/>
            </a:xfrm>
            <a:prstGeom prst="rect">
              <a:avLst/>
            </a:prstGeom>
            <a:noFill/>
            <a:ln>
              <a:noFill/>
            </a:ln>
          </p:spPr>
          <p:txBody>
            <a:bodyPr wrap="none" lIns="0" tIns="0" rIns="0" bIns="0" anchor="t" anchorCtr="0">
              <a:spAutoFit/>
            </a:bodyPr>
            <a:lstStyle/>
            <a:p>
              <a:pPr algn="l"/>
              <a:r>
                <a:rPr lang="en-US" sz="1010" dirty="0">
                  <a:solidFill>
                    <a:srgbClr val="6E869C"/>
                  </a:solidFill>
                  <a:latin typeface="+mn-lt"/>
                  <a:ea typeface="+mn-ea"/>
                  <a:cs typeface="+mn-cs"/>
                </a:rPr>
                <a:t>For small tensors, sparsification</a:t>
              </a:r>
            </a:p>
          </p:txBody>
        </p:sp>
        <p:sp>
          <p:nvSpPr>
            <p:cNvPr id="59" name="TextBox 59"/>
            <p:cNvSpPr txBox="1"/>
            <p:nvPr/>
          </p:nvSpPr>
          <p:spPr>
            <a:xfrm>
              <a:off x="5024056" y="4567476"/>
              <a:ext cx="2117763" cy="198025"/>
            </a:xfrm>
            <a:prstGeom prst="rect">
              <a:avLst/>
            </a:prstGeom>
            <a:noFill/>
            <a:ln>
              <a:noFill/>
            </a:ln>
          </p:spPr>
          <p:txBody>
            <a:bodyPr wrap="none" lIns="0" tIns="0" rIns="0" bIns="0" anchor="t" anchorCtr="0">
              <a:spAutoFit/>
            </a:bodyPr>
            <a:lstStyle/>
            <a:p>
              <a:pPr algn="l"/>
              <a:r>
                <a:rPr lang="en-US" sz="1010" dirty="0">
                  <a:solidFill>
                    <a:srgbClr val="6E869C"/>
                  </a:solidFill>
                  <a:latin typeface="+mn-lt"/>
                  <a:ea typeface="+mn-ea"/>
                  <a:cs typeface="+mn-cs"/>
                </a:rPr>
                <a:t>can even be slower than sending</a:t>
              </a:r>
            </a:p>
          </p:txBody>
        </p:sp>
        <p:sp>
          <p:nvSpPr>
            <p:cNvPr id="60" name="TextBox 60"/>
            <p:cNvSpPr txBox="1"/>
            <p:nvPr/>
          </p:nvSpPr>
          <p:spPr>
            <a:xfrm>
              <a:off x="5024056" y="4767501"/>
              <a:ext cx="798891" cy="198025"/>
            </a:xfrm>
            <a:prstGeom prst="rect">
              <a:avLst/>
            </a:prstGeom>
            <a:noFill/>
            <a:ln>
              <a:noFill/>
            </a:ln>
          </p:spPr>
          <p:txBody>
            <a:bodyPr wrap="none" lIns="0" tIns="0" rIns="0" bIns="0" anchor="t" anchorCtr="0">
              <a:spAutoFit/>
            </a:bodyPr>
            <a:lstStyle/>
            <a:p>
              <a:pPr algn="l"/>
              <a:r>
                <a:rPr lang="en-US" sz="1010" dirty="0">
                  <a:solidFill>
                    <a:srgbClr val="6E869C"/>
                  </a:solidFill>
                  <a:latin typeface="+mn-lt"/>
                  <a:ea typeface="+mn-ea"/>
                  <a:cs typeface="+mn-cs"/>
                </a:rPr>
                <a:t>everything.</a:t>
              </a:r>
            </a:p>
          </p:txBody>
        </p:sp>
      </p:grpSp>
      <p:sp>
        <p:nvSpPr>
          <p:cNvPr id="62" name="cue_s02_c1_data_parallel_distributed_standard_w" title="cue_s02_c1_data_parallel_distributed_standard_w" descr="cue_s02_c1_data_parallel_distributed_standard_w Data-parallel distributed training is the standard way to scale deep learning across many GPUs, but synchronizing gradients between workers is the dominant cost."/>
          <p:cNvSpPr/>
          <p:nvPr/>
        </p:nvSpPr>
        <p:spPr>
          <a:xfrm>
            <a:off x="609600" y="1504645"/>
            <a:ext cx="3847795" cy="37334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cue_s02_c2_gradient_sparsification_promised_rel" title="cue_s02_c2_gradient_sparsification_promised_rel" descr="cue_s02_c2_gradient_sparsification_promised_rel Gradient sparsification promised relief by transmitting only a small subset of gradients, yet in practice the time spent compressing the gradients grew so large that it cancelled out the communication savings."/>
          <p:cNvSpPr/>
          <p:nvPr/>
        </p:nvSpPr>
        <p:spPr>
          <a:xfrm>
            <a:off x="4762195" y="1504645"/>
            <a:ext cx="6820204"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cue_s02_c3_shows_once_tensor_exceeds_about" title="cue_s02_c3_shows_once_tensor_exceeds_about" descr="cue_s02_c3_shows_once_tensor_exceeds_about The paper shows that once a tensor exceeds about sixteen megabytes, this compression overhead becomes the single largest efficiency bottleneck, and for small tensors sparsification can even be slower than sending everything."/>
          <p:cNvSpPr/>
          <p:nvPr/>
        </p:nvSpPr>
        <p:spPr>
          <a:xfrm>
            <a:off x="4762195" y="3105302"/>
            <a:ext cx="6820204" cy="21335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188836"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MOTIVATION</a:t>
            </a:r>
          </a:p>
        </p:txBody>
      </p:sp>
      <p:sp>
        <p:nvSpPr>
          <p:cNvPr id="4" name="TextBox 4"/>
          <p:cNvSpPr txBox="1"/>
          <p:nvPr/>
        </p:nvSpPr>
        <p:spPr>
          <a:xfrm>
            <a:off x="598170" y="804862"/>
            <a:ext cx="6807470"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An exact algorithm doing an approximate job</a:t>
            </a:r>
          </a:p>
        </p:txBody>
      </p:sp>
      <p:grpSp>
        <p:nvGrpSpPr>
          <p:cNvPr id="12" name="Group 12"/>
          <p:cNvGrpSpPr/>
          <p:nvPr/>
        </p:nvGrpSpPr>
        <p:grpSpPr>
          <a:xfrm>
            <a:off x="609600" y="1504950"/>
            <a:ext cx="5334000" cy="1714500"/>
            <a:chOff x="609600" y="1504950"/>
            <a:chExt cx="5334000" cy="1714500"/>
          </a:xfrm>
        </p:grpSpPr>
        <p:sp>
          <p:nvSpPr>
            <p:cNvPr id="5" name="Rectangle 5"/>
            <p:cNvSpPr/>
            <p:nvPr/>
          </p:nvSpPr>
          <p:spPr>
            <a:xfrm>
              <a:off x="609600" y="1504950"/>
              <a:ext cx="5334000" cy="1714500"/>
            </a:xfrm>
            <a:prstGeom prst="roundRect">
              <a:avLst>
                <a:gd name="adj" fmla="val 7778"/>
              </a:avLst>
            </a:prstGeom>
            <a:solidFill>
              <a:schemeClr val="accent5"/>
            </a:solidFill>
            <a:ln w="14288">
              <a:solidFill>
                <a:srgbClr val="26455F"/>
              </a:solidFill>
            </a:ln>
          </p:spPr>
        </p:sp>
        <p:sp>
          <p:nvSpPr>
            <p:cNvPr id="6" name="Rectangle 6"/>
            <p:cNvSpPr/>
            <p:nvPr/>
          </p:nvSpPr>
          <p:spPr>
            <a:xfrm>
              <a:off x="609600" y="1504950"/>
              <a:ext cx="57150" cy="1714500"/>
            </a:xfrm>
            <a:prstGeom prst="roundRect">
              <a:avLst>
                <a:gd name="adj" fmla="val 50000"/>
              </a:avLst>
            </a:prstGeom>
            <a:solidFill>
              <a:schemeClr val="accent2"/>
            </a:solidFill>
            <a:ln>
              <a:noFill/>
            </a:ln>
          </p:spPr>
        </p:sp>
        <p:sp>
          <p:nvSpPr>
            <p:cNvPr id="7" name="TextBox 7"/>
            <p:cNvSpPr txBox="1"/>
            <p:nvPr/>
          </p:nvSpPr>
          <p:spPr>
            <a:xfrm>
              <a:off x="870014" y="1733312"/>
              <a:ext cx="3807175"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How Deep Gradient Compression (DGC) works</a:t>
              </a:r>
            </a:p>
          </p:txBody>
        </p:sp>
        <p:sp>
          <p:nvSpPr>
            <p:cNvPr id="8" name="TextBox 8"/>
            <p:cNvSpPr txBox="1"/>
            <p:nvPr/>
          </p:nvSpPr>
          <p:spPr>
            <a:xfrm>
              <a:off x="870776" y="2035254"/>
              <a:ext cx="4148912"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DGC keeps gradients whose magnitude clears an estimated</a:t>
              </a:r>
            </a:p>
          </p:txBody>
        </p:sp>
        <p:sp>
          <p:nvSpPr>
            <p:cNvPr id="9" name="TextBox 9"/>
            <p:cNvSpPr txBox="1"/>
            <p:nvPr/>
          </p:nvSpPr>
          <p:spPr>
            <a:xfrm>
              <a:off x="870776" y="2244804"/>
              <a:ext cx="3510698"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threshold — an inherently approximate selection.</a:t>
              </a:r>
            </a:p>
          </p:txBody>
        </p:sp>
        <p:sp>
          <p:nvSpPr>
            <p:cNvPr id="10" name="Rectangle 10"/>
            <p:cNvSpPr/>
            <p:nvPr/>
          </p:nvSpPr>
          <p:spPr>
            <a:xfrm>
              <a:off x="876300" y="2762250"/>
              <a:ext cx="4800600" cy="323850"/>
            </a:xfrm>
            <a:prstGeom prst="roundRect">
              <a:avLst>
                <a:gd name="adj" fmla="val 23529"/>
              </a:avLst>
            </a:prstGeom>
            <a:solidFill>
              <a:schemeClr val="accent6"/>
            </a:solidFill>
            <a:ln w="14288">
              <a:solidFill>
                <a:srgbClr val="26455F"/>
              </a:solidFill>
            </a:ln>
          </p:spPr>
        </p:sp>
        <p:sp>
          <p:nvSpPr>
            <p:cNvPr id="11" name="TextBox 11"/>
            <p:cNvSpPr txBox="1"/>
            <p:nvPr/>
          </p:nvSpPr>
          <p:spPr>
            <a:xfrm>
              <a:off x="1727713" y="2858452"/>
              <a:ext cx="3097774" cy="205359"/>
            </a:xfrm>
            <a:prstGeom prst="rect">
              <a:avLst/>
            </a:prstGeom>
            <a:noFill/>
            <a:ln>
              <a:noFill/>
            </a:ln>
          </p:spPr>
          <p:txBody>
            <a:bodyPr wrap="none" lIns="0" tIns="0" rIns="0" bIns="0" anchor="t" anchorCtr="0">
              <a:spAutoFit/>
            </a:bodyPr>
            <a:lstStyle/>
            <a:p>
              <a:pPr algn="ctr"/>
              <a:r>
                <a:rPr lang="en-US" sz="1050" b="1" dirty="0">
                  <a:solidFill>
                    <a:schemeClr val="accent2"/>
                  </a:solidFill>
                  <a:latin typeface="Consolas"/>
                  <a:ea typeface="Consolas"/>
                  <a:cs typeface="Consolas"/>
                </a:rPr>
                <a:t>select |g| &gt; threshold (approximate top-k)</a:t>
              </a:r>
            </a:p>
          </p:txBody>
        </p:sp>
      </p:grpSp>
      <p:grpSp>
        <p:nvGrpSpPr>
          <p:cNvPr id="28" name="Group 28"/>
          <p:cNvGrpSpPr/>
          <p:nvPr/>
        </p:nvGrpSpPr>
        <p:grpSpPr>
          <a:xfrm>
            <a:off x="609600" y="3371850"/>
            <a:ext cx="5334000" cy="1866900"/>
            <a:chOff x="609600" y="3371850"/>
            <a:chExt cx="5334000" cy="1866900"/>
          </a:xfrm>
        </p:grpSpPr>
        <p:sp>
          <p:nvSpPr>
            <p:cNvPr id="13" name="Rectangle 13"/>
            <p:cNvSpPr/>
            <p:nvPr/>
          </p:nvSpPr>
          <p:spPr>
            <a:xfrm>
              <a:off x="609600" y="3371850"/>
              <a:ext cx="5334000" cy="1866900"/>
            </a:xfrm>
            <a:prstGeom prst="roundRect">
              <a:avLst>
                <a:gd name="adj" fmla="val 7143"/>
              </a:avLst>
            </a:prstGeom>
            <a:solidFill>
              <a:schemeClr val="accent5"/>
            </a:solidFill>
            <a:ln w="14288">
              <a:solidFill>
                <a:srgbClr val="26455F"/>
              </a:solidFill>
            </a:ln>
          </p:spPr>
        </p:sp>
        <p:sp>
          <p:nvSpPr>
            <p:cNvPr id="14" name="Rectangle 14"/>
            <p:cNvSpPr/>
            <p:nvPr/>
          </p:nvSpPr>
          <p:spPr>
            <a:xfrm>
              <a:off x="609600" y="3371850"/>
              <a:ext cx="57150" cy="1866900"/>
            </a:xfrm>
            <a:prstGeom prst="roundRect">
              <a:avLst>
                <a:gd name="adj" fmla="val 50000"/>
              </a:avLst>
            </a:prstGeom>
            <a:solidFill>
              <a:srgbClr val="F2685C"/>
            </a:solidFill>
            <a:ln>
              <a:noFill/>
            </a:ln>
          </p:spPr>
        </p:sp>
        <p:sp>
          <p:nvSpPr>
            <p:cNvPr id="15" name="TextBox 15"/>
            <p:cNvSpPr txBox="1"/>
            <p:nvPr/>
          </p:nvSpPr>
          <p:spPr>
            <a:xfrm>
              <a:off x="870204" y="3604260"/>
              <a:ext cx="3998290" cy="234696"/>
            </a:xfrm>
            <a:prstGeom prst="rect">
              <a:avLst/>
            </a:prstGeom>
            <a:noFill/>
            <a:ln>
              <a:noFill/>
            </a:ln>
          </p:spPr>
          <p:txBody>
            <a:bodyPr wrap="none" lIns="0" tIns="0" rIns="0" bIns="0" anchor="t" anchorCtr="0">
              <a:spAutoFit/>
            </a:bodyPr>
            <a:lstStyle/>
            <a:p>
              <a:pPr algn="l"/>
              <a:r>
                <a:rPr lang="en-US" sz="1200" b="1" dirty="0">
                  <a:solidFill>
                    <a:srgbClr val="F2685C"/>
                  </a:solidFill>
                  <a:latin typeface="+mn-lt"/>
                  <a:ea typeface="+mn-ea"/>
                  <a:cs typeface="+mn-cs"/>
                </a:rPr>
                <a:t>...but placement uses exact parallel prefix sum</a:t>
              </a:r>
            </a:p>
          </p:txBody>
        </p:sp>
        <p:sp>
          <p:nvSpPr>
            <p:cNvPr id="16" name="TextBox 16"/>
            <p:cNvSpPr txBox="1"/>
            <p:nvPr/>
          </p:nvSpPr>
          <p:spPr>
            <a:xfrm>
              <a:off x="871156" y="3891201"/>
              <a:ext cx="3617855"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To pack kept gradients without conflicts, DGC builds a</a:t>
              </a:r>
            </a:p>
          </p:txBody>
        </p:sp>
        <p:sp>
          <p:nvSpPr>
            <p:cNvPr id="17" name="TextBox 17"/>
            <p:cNvSpPr txBox="1"/>
            <p:nvPr/>
          </p:nvSpPr>
          <p:spPr>
            <a:xfrm>
              <a:off x="871156" y="4081701"/>
              <a:ext cx="3862971"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balanced binary tree, runs O(log d) sequential steps, and</a:t>
              </a:r>
            </a:p>
          </p:txBody>
        </p:sp>
        <p:sp>
          <p:nvSpPr>
            <p:cNvPr id="18" name="TextBox 18"/>
            <p:cNvSpPr txBox="1"/>
            <p:nvPr/>
          </p:nvSpPr>
          <p:spPr>
            <a:xfrm>
              <a:off x="871156" y="4272201"/>
              <a:ext cx="3212291"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touches memory ~7x more than the lower bound.</a:t>
              </a:r>
            </a:p>
          </p:txBody>
        </p:sp>
        <p:sp>
          <p:nvSpPr>
            <p:cNvPr id="19" name="TextBox 19"/>
            <p:cNvSpPr txBox="1"/>
            <p:nvPr/>
          </p:nvSpPr>
          <p:spPr>
            <a:xfrm>
              <a:off x="1282299" y="4540091"/>
              <a:ext cx="1846664" cy="161925"/>
            </a:xfrm>
            <a:prstGeom prst="rect">
              <a:avLst/>
            </a:prstGeom>
            <a:noFill/>
            <a:ln>
              <a:noFill/>
            </a:ln>
          </p:spPr>
          <p:txBody>
            <a:bodyPr wrap="none" lIns="0" tIns="0" rIns="0" bIns="0" anchor="t" anchorCtr="0">
              <a:spAutoFit/>
            </a:bodyPr>
            <a:lstStyle/>
            <a:p>
              <a:pPr algn="r"/>
              <a:r>
                <a:rPr lang="en-US" sz="820" b="1" dirty="0">
                  <a:solidFill>
                    <a:srgbClr val="6E869C"/>
                  </a:solidFill>
                  <a:latin typeface="+mn-lt"/>
                  <a:ea typeface="+mn-ea"/>
                  <a:cs typeface="+mn-cs"/>
                </a:rPr>
                <a:t>memory accesses vs lower bound</a:t>
              </a:r>
            </a:p>
          </p:txBody>
        </p:sp>
        <p:sp>
          <p:nvSpPr>
            <p:cNvPr id="20" name="Rectangle 20"/>
            <p:cNvSpPr/>
            <p:nvPr/>
          </p:nvSpPr>
          <p:spPr>
            <a:xfrm>
              <a:off x="3238500" y="4724400"/>
              <a:ext cx="2286000" cy="123825"/>
            </a:xfrm>
            <a:prstGeom prst="roundRect">
              <a:avLst>
                <a:gd name="adj" fmla="val 46154"/>
              </a:avLst>
            </a:prstGeom>
            <a:solidFill>
              <a:srgbClr val="0E2334"/>
            </a:solidFill>
            <a:ln w="9525">
              <a:solidFill>
                <a:srgbClr val="26455F"/>
              </a:solidFill>
            </a:ln>
          </p:spPr>
        </p:sp>
        <p:sp>
          <p:nvSpPr>
            <p:cNvPr id="21" name="Rectangle 21"/>
            <p:cNvSpPr/>
            <p:nvPr/>
          </p:nvSpPr>
          <p:spPr>
            <a:xfrm>
              <a:off x="3238500" y="4724400"/>
              <a:ext cx="323850" cy="123825"/>
            </a:xfrm>
            <a:prstGeom prst="roundRect">
              <a:avLst>
                <a:gd name="adj" fmla="val 46154"/>
              </a:avLst>
            </a:prstGeom>
            <a:solidFill>
              <a:srgbClr val="34D3C0"/>
            </a:solidFill>
            <a:ln>
              <a:noFill/>
            </a:ln>
          </p:spPr>
        </p:sp>
        <p:sp>
          <p:nvSpPr>
            <p:cNvPr id="22" name="TextBox 22"/>
            <p:cNvSpPr txBox="1"/>
            <p:nvPr/>
          </p:nvSpPr>
          <p:spPr>
            <a:xfrm>
              <a:off x="2265459" y="4700206"/>
              <a:ext cx="864075"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lower bound</a:t>
              </a:r>
            </a:p>
          </p:txBody>
        </p:sp>
        <p:sp>
          <p:nvSpPr>
            <p:cNvPr id="23" name="TextBox 23"/>
            <p:cNvSpPr txBox="1"/>
            <p:nvPr/>
          </p:nvSpPr>
          <p:spPr>
            <a:xfrm>
              <a:off x="3652266" y="4700206"/>
              <a:ext cx="173928" cy="205359"/>
            </a:xfrm>
            <a:prstGeom prst="rect">
              <a:avLst/>
            </a:prstGeom>
            <a:noFill/>
            <a:ln>
              <a:noFill/>
            </a:ln>
          </p:spPr>
          <p:txBody>
            <a:bodyPr wrap="none" lIns="0" tIns="0" rIns="0" bIns="0" anchor="t" anchorCtr="0">
              <a:spAutoFit/>
            </a:bodyPr>
            <a:lstStyle/>
            <a:p>
              <a:pPr algn="l"/>
              <a:r>
                <a:rPr lang="en-US" sz="1050" b="1" dirty="0">
                  <a:solidFill>
                    <a:srgbClr val="34D3C0"/>
                  </a:solidFill>
                  <a:latin typeface="+mn-lt"/>
                  <a:ea typeface="+mn-ea"/>
                  <a:cs typeface="+mn-cs"/>
                </a:rPr>
                <a:t>1x</a:t>
              </a:r>
            </a:p>
          </p:txBody>
        </p:sp>
        <p:sp>
          <p:nvSpPr>
            <p:cNvPr id="24" name="Rectangle 24"/>
            <p:cNvSpPr/>
            <p:nvPr/>
          </p:nvSpPr>
          <p:spPr>
            <a:xfrm>
              <a:off x="3238500" y="4914900"/>
              <a:ext cx="2286000" cy="123825"/>
            </a:xfrm>
            <a:prstGeom prst="roundRect">
              <a:avLst>
                <a:gd name="adj" fmla="val 46154"/>
              </a:avLst>
            </a:prstGeom>
            <a:solidFill>
              <a:srgbClr val="0E2334"/>
            </a:solidFill>
            <a:ln w="9525">
              <a:solidFill>
                <a:srgbClr val="26455F"/>
              </a:solidFill>
            </a:ln>
          </p:spPr>
        </p:sp>
        <p:sp>
          <p:nvSpPr>
            <p:cNvPr id="25" name="Rectangle 25"/>
            <p:cNvSpPr/>
            <p:nvPr/>
          </p:nvSpPr>
          <p:spPr>
            <a:xfrm>
              <a:off x="3238500" y="4914900"/>
              <a:ext cx="2286000" cy="123825"/>
            </a:xfrm>
            <a:prstGeom prst="roundRect">
              <a:avLst>
                <a:gd name="adj" fmla="val 46154"/>
              </a:avLst>
            </a:prstGeom>
            <a:solidFill>
              <a:srgbClr val="F2685C"/>
            </a:solidFill>
            <a:ln>
              <a:noFill/>
            </a:ln>
          </p:spPr>
        </p:sp>
        <p:sp>
          <p:nvSpPr>
            <p:cNvPr id="26" name="TextBox 26"/>
            <p:cNvSpPr txBox="1"/>
            <p:nvPr/>
          </p:nvSpPr>
          <p:spPr>
            <a:xfrm>
              <a:off x="2347090" y="4890706"/>
              <a:ext cx="782444"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prefix sum</a:t>
              </a:r>
            </a:p>
          </p:txBody>
        </p:sp>
        <p:sp>
          <p:nvSpPr>
            <p:cNvPr id="27" name="TextBox 27"/>
            <p:cNvSpPr txBox="1"/>
            <p:nvPr/>
          </p:nvSpPr>
          <p:spPr>
            <a:xfrm>
              <a:off x="5614416" y="4890706"/>
              <a:ext cx="255559" cy="205359"/>
            </a:xfrm>
            <a:prstGeom prst="rect">
              <a:avLst/>
            </a:prstGeom>
            <a:noFill/>
            <a:ln>
              <a:noFill/>
            </a:ln>
          </p:spPr>
          <p:txBody>
            <a:bodyPr wrap="none" lIns="0" tIns="0" rIns="0" bIns="0" anchor="t" anchorCtr="0">
              <a:spAutoFit/>
            </a:bodyPr>
            <a:lstStyle/>
            <a:p>
              <a:pPr algn="l"/>
              <a:r>
                <a:rPr lang="en-US" sz="1050" b="1" dirty="0">
                  <a:solidFill>
                    <a:srgbClr val="F2685C"/>
                  </a:solidFill>
                  <a:latin typeface="+mn-lt"/>
                  <a:ea typeface="+mn-ea"/>
                  <a:cs typeface="+mn-cs"/>
                </a:rPr>
                <a:t>~7x</a:t>
              </a:r>
            </a:p>
          </p:txBody>
        </p:sp>
      </p:grpSp>
      <p:grpSp>
        <p:nvGrpSpPr>
          <p:cNvPr id="45" name="Group 45"/>
          <p:cNvGrpSpPr/>
          <p:nvPr/>
        </p:nvGrpSpPr>
        <p:grpSpPr>
          <a:xfrm>
            <a:off x="6248400" y="1504950"/>
            <a:ext cx="5334000" cy="3733800"/>
            <a:chOff x="6248400" y="1504950"/>
            <a:chExt cx="5334000" cy="3733800"/>
          </a:xfrm>
        </p:grpSpPr>
        <p:sp>
          <p:nvSpPr>
            <p:cNvPr id="29" name="Rectangle 29"/>
            <p:cNvSpPr/>
            <p:nvPr/>
          </p:nvSpPr>
          <p:spPr>
            <a:xfrm>
              <a:off x="6248400" y="1504950"/>
              <a:ext cx="5334000" cy="3733800"/>
            </a:xfrm>
            <a:prstGeom prst="roundRect">
              <a:avLst>
                <a:gd name="adj" fmla="val 3571"/>
              </a:avLst>
            </a:prstGeom>
            <a:solidFill>
              <a:srgbClr val="2A2417"/>
            </a:solidFill>
            <a:ln w="14288">
              <a:solidFill>
                <a:srgbClr val="F2C14E"/>
              </a:solidFill>
            </a:ln>
          </p:spPr>
        </p:sp>
        <p:sp>
          <p:nvSpPr>
            <p:cNvPr id="30" name="Rectangle 30"/>
            <p:cNvSpPr/>
            <p:nvPr/>
          </p:nvSpPr>
          <p:spPr>
            <a:xfrm>
              <a:off x="6248400" y="1504950"/>
              <a:ext cx="57150" cy="3733800"/>
            </a:xfrm>
            <a:prstGeom prst="roundRect">
              <a:avLst>
                <a:gd name="adj" fmla="val 50000"/>
              </a:avLst>
            </a:prstGeom>
            <a:solidFill>
              <a:srgbClr val="F2C14E"/>
            </a:solidFill>
            <a:ln>
              <a:noFill/>
            </a:ln>
          </p:spPr>
        </p:sp>
        <p:sp>
          <p:nvSpPr>
            <p:cNvPr id="31" name="TextBox 31"/>
            <p:cNvSpPr txBox="1"/>
            <p:nvPr/>
          </p:nvSpPr>
          <p:spPr>
            <a:xfrm>
              <a:off x="6507861" y="1751171"/>
              <a:ext cx="3252819" cy="278702"/>
            </a:xfrm>
            <a:prstGeom prst="rect">
              <a:avLst/>
            </a:prstGeom>
            <a:noFill/>
            <a:ln>
              <a:noFill/>
            </a:ln>
          </p:spPr>
          <p:txBody>
            <a:bodyPr wrap="none" lIns="0" tIns="0" rIns="0" bIns="0" anchor="t" anchorCtr="0">
              <a:spAutoFit/>
            </a:bodyPr>
            <a:lstStyle/>
            <a:p>
              <a:pPr algn="l"/>
              <a:r>
                <a:rPr lang="en-US" sz="1420" b="1" dirty="0">
                  <a:solidFill>
                    <a:srgbClr val="F2C14E"/>
                  </a:solidFill>
                  <a:latin typeface="+mn-lt"/>
                  <a:ea typeface="+mn-ea"/>
                  <a:cs typeface="+mn-cs"/>
                </a:rPr>
                <a:t>The exact-approximate mismatch</a:t>
              </a:r>
            </a:p>
          </p:txBody>
        </p:sp>
        <p:sp>
          <p:nvSpPr>
            <p:cNvPr id="32" name="Rectangle 32"/>
            <p:cNvSpPr/>
            <p:nvPr/>
          </p:nvSpPr>
          <p:spPr>
            <a:xfrm>
              <a:off x="6515100" y="2209800"/>
              <a:ext cx="2343150" cy="1428750"/>
            </a:xfrm>
            <a:prstGeom prst="roundRect">
              <a:avLst>
                <a:gd name="adj" fmla="val 6667"/>
              </a:avLst>
            </a:prstGeom>
            <a:solidFill>
              <a:schemeClr val="accent6"/>
            </a:solidFill>
            <a:ln w="14288">
              <a:solidFill>
                <a:srgbClr val="26455F"/>
              </a:solidFill>
            </a:ln>
          </p:spPr>
        </p:sp>
        <p:sp>
          <p:nvSpPr>
            <p:cNvPr id="33" name="TextBox 33"/>
            <p:cNvSpPr txBox="1"/>
            <p:nvPr/>
          </p:nvSpPr>
          <p:spPr>
            <a:xfrm>
              <a:off x="7184163" y="2390299"/>
              <a:ext cx="1005024" cy="190690"/>
            </a:xfrm>
            <a:prstGeom prst="rect">
              <a:avLst/>
            </a:prstGeom>
            <a:noFill/>
            <a:ln>
              <a:noFill/>
            </a:ln>
          </p:spPr>
          <p:txBody>
            <a:bodyPr wrap="none" lIns="0" tIns="0" rIns="0" bIns="0" anchor="t" anchorCtr="0">
              <a:spAutoFit/>
            </a:bodyPr>
            <a:lstStyle/>
            <a:p>
              <a:pPr algn="ctr"/>
              <a:r>
                <a:rPr lang="en-US" sz="980" b="1" dirty="0">
                  <a:solidFill>
                    <a:srgbClr val="34D3C0"/>
                  </a:solidFill>
                  <a:latin typeface="+mn-lt"/>
                  <a:ea typeface="+mn-ea"/>
                  <a:cs typeface="+mn-cs"/>
                </a:rPr>
                <a:t>What is needed</a:t>
              </a:r>
            </a:p>
          </p:txBody>
        </p:sp>
        <p:sp>
          <p:nvSpPr>
            <p:cNvPr id="34" name="TextBox 34"/>
            <p:cNvSpPr txBox="1"/>
            <p:nvPr/>
          </p:nvSpPr>
          <p:spPr>
            <a:xfrm>
              <a:off x="7042976" y="2695575"/>
              <a:ext cx="1287399" cy="293370"/>
            </a:xfrm>
            <a:prstGeom prst="rect">
              <a:avLst/>
            </a:prstGeom>
            <a:noFill/>
            <a:ln>
              <a:noFill/>
            </a:ln>
          </p:spPr>
          <p:txBody>
            <a:bodyPr wrap="none" lIns="0" tIns="0" rIns="0" bIns="0" anchor="t" anchorCtr="0">
              <a:spAutoFit/>
            </a:bodyPr>
            <a:lstStyle/>
            <a:p>
              <a:pPr algn="ctr"/>
              <a:r>
                <a:rPr lang="en-US" sz="1500" b="1" dirty="0">
                  <a:solidFill>
                    <a:srgbClr val="34D3C0"/>
                  </a:solidFill>
                  <a:latin typeface="+mn-lt"/>
                  <a:ea typeface="+mn-ea"/>
                  <a:cs typeface="+mn-cs"/>
                </a:rPr>
                <a:t>approximate</a:t>
              </a:r>
            </a:p>
          </p:txBody>
        </p:sp>
        <p:sp>
          <p:nvSpPr>
            <p:cNvPr id="35" name="TextBox 35"/>
            <p:cNvSpPr txBox="1"/>
            <p:nvPr/>
          </p:nvSpPr>
          <p:spPr>
            <a:xfrm>
              <a:off x="6989102" y="2999899"/>
              <a:ext cx="1395146" cy="190690"/>
            </a:xfrm>
            <a:prstGeom prst="rect">
              <a:avLst/>
            </a:prstGeom>
            <a:noFill/>
            <a:ln>
              <a:noFill/>
            </a:ln>
          </p:spPr>
          <p:txBody>
            <a:bodyPr wrap="none" lIns="0" tIns="0" rIns="0" bIns="0" anchor="t" anchorCtr="0">
              <a:spAutoFit/>
            </a:bodyPr>
            <a:lstStyle/>
            <a:p>
              <a:pPr algn="ctr"/>
              <a:r>
                <a:rPr lang="en-US" sz="980" b="1" dirty="0">
                  <a:solidFill>
                    <a:schemeClr val="dk2"/>
                  </a:solidFill>
                  <a:latin typeface="+mn-lt"/>
                  <a:ea typeface="+mn-ea"/>
                  <a:cs typeface="+mn-cs"/>
                </a:rPr>
                <a:t>set of top gradients</a:t>
              </a:r>
            </a:p>
          </p:txBody>
        </p:sp>
        <p:sp>
          <p:nvSpPr>
            <p:cNvPr id="36" name="TextBox 36"/>
            <p:cNvSpPr txBox="1"/>
            <p:nvPr/>
          </p:nvSpPr>
          <p:spPr>
            <a:xfrm>
              <a:off x="7273337" y="3327797"/>
              <a:ext cx="826675" cy="183356"/>
            </a:xfrm>
            <a:prstGeom prst="rect">
              <a:avLst/>
            </a:prstGeom>
            <a:noFill/>
            <a:ln>
              <a:noFill/>
            </a:ln>
          </p:spPr>
          <p:txBody>
            <a:bodyPr wrap="none" lIns="0" tIns="0" rIns="0" bIns="0" anchor="t" anchorCtr="0">
              <a:spAutoFit/>
            </a:bodyPr>
            <a:lstStyle/>
            <a:p>
              <a:pPr algn="ctr"/>
              <a:r>
                <a:rPr lang="en-US" sz="940" b="1" dirty="0">
                  <a:solidFill>
                    <a:srgbClr val="6E869C"/>
                  </a:solidFill>
                  <a:latin typeface="+mn-lt"/>
                  <a:ea typeface="+mn-ea"/>
                  <a:cs typeface="+mn-cs"/>
                </a:rPr>
                <a:t>cheap is fine</a:t>
              </a:r>
            </a:p>
          </p:txBody>
        </p:sp>
        <p:sp>
          <p:nvSpPr>
            <p:cNvPr id="37" name="Rectangle 37"/>
            <p:cNvSpPr/>
            <p:nvPr/>
          </p:nvSpPr>
          <p:spPr>
            <a:xfrm>
              <a:off x="8972550" y="2209800"/>
              <a:ext cx="2343150" cy="1428750"/>
            </a:xfrm>
            <a:prstGeom prst="roundRect">
              <a:avLst>
                <a:gd name="adj" fmla="val 6667"/>
              </a:avLst>
            </a:prstGeom>
            <a:solidFill>
              <a:schemeClr val="accent6"/>
            </a:solidFill>
            <a:ln w="14288">
              <a:solidFill>
                <a:srgbClr val="26455F"/>
              </a:solidFill>
            </a:ln>
          </p:spPr>
        </p:sp>
        <p:sp>
          <p:nvSpPr>
            <p:cNvPr id="38" name="TextBox 38"/>
            <p:cNvSpPr txBox="1"/>
            <p:nvPr/>
          </p:nvSpPr>
          <p:spPr>
            <a:xfrm>
              <a:off x="9654962" y="2390299"/>
              <a:ext cx="978326" cy="190690"/>
            </a:xfrm>
            <a:prstGeom prst="rect">
              <a:avLst/>
            </a:prstGeom>
            <a:noFill/>
            <a:ln>
              <a:noFill/>
            </a:ln>
          </p:spPr>
          <p:txBody>
            <a:bodyPr wrap="none" lIns="0" tIns="0" rIns="0" bIns="0" anchor="t" anchorCtr="0">
              <a:spAutoFit/>
            </a:bodyPr>
            <a:lstStyle/>
            <a:p>
              <a:pPr algn="ctr"/>
              <a:r>
                <a:rPr lang="en-US" sz="980" b="1" dirty="0">
                  <a:solidFill>
                    <a:srgbClr val="F2685C"/>
                  </a:solidFill>
                  <a:latin typeface="+mn-lt"/>
                  <a:ea typeface="+mn-ea"/>
                  <a:cs typeface="+mn-cs"/>
                </a:rPr>
                <a:t>What DGC uses</a:t>
              </a:r>
            </a:p>
          </p:txBody>
        </p:sp>
        <p:sp>
          <p:nvSpPr>
            <p:cNvPr id="39" name="TextBox 39"/>
            <p:cNvSpPr txBox="1"/>
            <p:nvPr/>
          </p:nvSpPr>
          <p:spPr>
            <a:xfrm>
              <a:off x="9844969" y="2695575"/>
              <a:ext cx="598313" cy="293370"/>
            </a:xfrm>
            <a:prstGeom prst="rect">
              <a:avLst/>
            </a:prstGeom>
            <a:noFill/>
            <a:ln>
              <a:noFill/>
            </a:ln>
          </p:spPr>
          <p:txBody>
            <a:bodyPr wrap="none" lIns="0" tIns="0" rIns="0" bIns="0" anchor="t" anchorCtr="0">
              <a:spAutoFit/>
            </a:bodyPr>
            <a:lstStyle/>
            <a:p>
              <a:pPr algn="ctr"/>
              <a:r>
                <a:rPr lang="en-US" sz="1500" b="1" dirty="0">
                  <a:solidFill>
                    <a:srgbClr val="F2685C"/>
                  </a:solidFill>
                  <a:latin typeface="+mn-lt"/>
                  <a:ea typeface="+mn-ea"/>
                  <a:cs typeface="+mn-cs"/>
                </a:rPr>
                <a:t>exact</a:t>
              </a:r>
            </a:p>
          </p:txBody>
        </p:sp>
        <p:sp>
          <p:nvSpPr>
            <p:cNvPr id="40" name="TextBox 40"/>
            <p:cNvSpPr txBox="1"/>
            <p:nvPr/>
          </p:nvSpPr>
          <p:spPr>
            <a:xfrm>
              <a:off x="9401532" y="2999899"/>
              <a:ext cx="1485186" cy="190690"/>
            </a:xfrm>
            <a:prstGeom prst="rect">
              <a:avLst/>
            </a:prstGeom>
            <a:noFill/>
            <a:ln>
              <a:noFill/>
            </a:ln>
          </p:spPr>
          <p:txBody>
            <a:bodyPr wrap="none" lIns="0" tIns="0" rIns="0" bIns="0" anchor="t" anchorCtr="0">
              <a:spAutoFit/>
            </a:bodyPr>
            <a:lstStyle/>
            <a:p>
              <a:pPr algn="ctr"/>
              <a:r>
                <a:rPr lang="en-US" sz="980" b="1" dirty="0">
                  <a:solidFill>
                    <a:schemeClr val="dk2"/>
                  </a:solidFill>
                  <a:latin typeface="+mn-lt"/>
                  <a:ea typeface="+mn-ea"/>
                  <a:cs typeface="+mn-cs"/>
                </a:rPr>
                <a:t>prefix-sum placement</a:t>
              </a:r>
            </a:p>
          </p:txBody>
        </p:sp>
        <p:sp>
          <p:nvSpPr>
            <p:cNvPr id="41" name="TextBox 41"/>
            <p:cNvSpPr txBox="1"/>
            <p:nvPr/>
          </p:nvSpPr>
          <p:spPr>
            <a:xfrm>
              <a:off x="9418543" y="3327797"/>
              <a:ext cx="1451164" cy="183356"/>
            </a:xfrm>
            <a:prstGeom prst="rect">
              <a:avLst/>
            </a:prstGeom>
            <a:noFill/>
            <a:ln>
              <a:noFill/>
            </a:ln>
          </p:spPr>
          <p:txBody>
            <a:bodyPr wrap="none" lIns="0" tIns="0" rIns="0" bIns="0" anchor="t" anchorCtr="0">
              <a:spAutoFit/>
            </a:bodyPr>
            <a:lstStyle/>
            <a:p>
              <a:pPr algn="ctr"/>
              <a:r>
                <a:rPr lang="en-US" sz="940" b="1" dirty="0">
                  <a:solidFill>
                    <a:srgbClr val="6E869C"/>
                  </a:solidFill>
                  <a:latin typeface="+mn-lt"/>
                  <a:ea typeface="+mn-ea"/>
                  <a:cs typeface="+mn-cs"/>
                </a:rPr>
                <a:t>expensive &amp; sequential</a:t>
              </a:r>
            </a:p>
          </p:txBody>
        </p:sp>
        <p:sp>
          <p:nvSpPr>
            <p:cNvPr id="42" name="TextBox 42"/>
            <p:cNvSpPr txBox="1"/>
            <p:nvPr/>
          </p:nvSpPr>
          <p:spPr>
            <a:xfrm>
              <a:off x="6509576" y="3883104"/>
              <a:ext cx="3757625"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Paying for an exact selection algorithm when only an</a:t>
              </a:r>
            </a:p>
          </p:txBody>
        </p:sp>
        <p:sp>
          <p:nvSpPr>
            <p:cNvPr id="43" name="TextBox 43"/>
            <p:cNvSpPr txBox="1"/>
            <p:nvPr/>
          </p:nvSpPr>
          <p:spPr>
            <a:xfrm>
              <a:off x="6509576" y="4102179"/>
              <a:ext cx="3540045"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approximate result is required is wasted effort.</a:t>
              </a:r>
            </a:p>
          </p:txBody>
        </p:sp>
        <p:sp>
          <p:nvSpPr>
            <p:cNvPr id="44" name="TextBox 44"/>
            <p:cNvSpPr txBox="1"/>
            <p:nvPr/>
          </p:nvSpPr>
          <p:spPr>
            <a:xfrm>
              <a:off x="6509576" y="4759404"/>
              <a:ext cx="3930031" cy="212693"/>
            </a:xfrm>
            <a:prstGeom prst="rect">
              <a:avLst/>
            </a:prstGeom>
            <a:noFill/>
            <a:ln>
              <a:noFill/>
            </a:ln>
          </p:spPr>
          <p:txBody>
            <a:bodyPr wrap="none" lIns="0" tIns="0" rIns="0" bIns="0" anchor="t" anchorCtr="0">
              <a:spAutoFit/>
            </a:bodyPr>
            <a:lstStyle/>
            <a:p>
              <a:pPr algn="l"/>
              <a:r>
                <a:rPr lang="en-US" sz="1090" b="1" dirty="0">
                  <a:solidFill>
                    <a:srgbClr val="F2C14E"/>
                  </a:solidFill>
                  <a:latin typeface="+mn-lt"/>
                  <a:ea typeface="+mn-ea"/>
                  <a:cs typeface="+mn-cs"/>
                </a:rPr>
                <a:t>Idea: match the algorithm's exactness to the task.</a:t>
              </a:r>
            </a:p>
          </p:txBody>
        </p:sp>
      </p:grpSp>
      <p:sp>
        <p:nvSpPr>
          <p:cNvPr id="46" name="cue_s03_c1_leading_sparsification_method_deep_g" title="cue_s03_c1_leading_sparsification_method_deep_g" descr="cue_s03_c1_leading_sparsification_method_deep_g The leading sparsification method, Deep Gradient Compression, selects gradients above an estimated threshold, which is an approximate operation."/>
          <p:cNvSpPr/>
          <p:nvPr/>
        </p:nvSpPr>
        <p:spPr>
          <a:xfrm>
            <a:off x="609600" y="1504645"/>
            <a:ext cx="5334000" cy="17145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3_c2_but_place_those_gradients_memory" title="cue_s03_c2_but_place_those_gradients_memory" descr="cue_s03_c2_but_place_those_gradients_memory But to place those gradients into memory without conflicts it relies on parallel prefix sum, an exact algorithm that builds a balanced binary tree, runs in logarithmic sequential steps, and touches memory about seven times more than the theoretical lower bound"/>
          <p:cNvSpPr/>
          <p:nvPr/>
        </p:nvSpPr>
        <p:spPr>
          <a:xfrm>
            <a:off x="609600" y="3372078"/>
            <a:ext cx="5334000" cy="18667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3_c3_authors_call_exact_approximate_misma" title="cue_s03_c3_authors_call_exact_approximate_misma" descr="cue_s03_c3_authors_call_exact_approximate_misma The authors call this an exact-approximate mismatch: since only an approximate set of top gradients is required, using an expensive exact algorithm to place them is wasted effort."/>
          <p:cNvSpPr/>
          <p:nvPr/>
        </p:nvSpPr>
        <p:spPr>
          <a:xfrm>
            <a:off x="6248399" y="1504645"/>
            <a:ext cx="5334000" cy="37334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392865"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CONTRIBUTION</a:t>
            </a:r>
          </a:p>
        </p:txBody>
      </p:sp>
      <p:sp>
        <p:nvSpPr>
          <p:cNvPr id="4" name="TextBox 4"/>
          <p:cNvSpPr txBox="1"/>
          <p:nvPr/>
        </p:nvSpPr>
        <p:spPr>
          <a:xfrm>
            <a:off x="598170" y="804862"/>
            <a:ext cx="3117547"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Three contributions</a:t>
            </a:r>
          </a:p>
        </p:txBody>
      </p:sp>
      <p:grpSp>
        <p:nvGrpSpPr>
          <p:cNvPr id="8" name="Group 8"/>
          <p:cNvGrpSpPr/>
          <p:nvPr/>
        </p:nvGrpSpPr>
        <p:grpSpPr>
          <a:xfrm>
            <a:off x="609600" y="1504950"/>
            <a:ext cx="10972800" cy="533400"/>
            <a:chOff x="609600" y="1504950"/>
            <a:chExt cx="10972800" cy="533400"/>
          </a:xfrm>
        </p:grpSpPr>
        <p:sp>
          <p:nvSpPr>
            <p:cNvPr id="5" name="Rectangle 5"/>
            <p:cNvSpPr/>
            <p:nvPr/>
          </p:nvSpPr>
          <p:spPr>
            <a:xfrm>
              <a:off x="609600" y="1504950"/>
              <a:ext cx="10972800" cy="533400"/>
            </a:xfrm>
            <a:prstGeom prst="roundRect">
              <a:avLst>
                <a:gd name="adj" fmla="val 25000"/>
              </a:avLst>
            </a:prstGeom>
            <a:solidFill>
              <a:schemeClr val="accent5"/>
            </a:solidFill>
            <a:ln w="14288">
              <a:solidFill>
                <a:srgbClr val="26455F"/>
              </a:solidFill>
            </a:ln>
          </p:spPr>
        </p:sp>
        <p:sp>
          <p:nvSpPr>
            <p:cNvPr id="6" name="Rectangle 6"/>
            <p:cNvSpPr/>
            <p:nvPr/>
          </p:nvSpPr>
          <p:spPr>
            <a:xfrm>
              <a:off x="609600" y="1504950"/>
              <a:ext cx="57150" cy="533400"/>
            </a:xfrm>
            <a:prstGeom prst="roundRect">
              <a:avLst>
                <a:gd name="adj" fmla="val 50000"/>
              </a:avLst>
            </a:prstGeom>
            <a:solidFill>
              <a:schemeClr val="accent2"/>
            </a:solidFill>
            <a:ln>
              <a:noFill/>
            </a:ln>
          </p:spPr>
        </p:sp>
        <p:sp>
          <p:nvSpPr>
            <p:cNvPr id="7" name="TextBox 7"/>
            <p:cNvSpPr txBox="1"/>
            <p:nvPr/>
          </p:nvSpPr>
          <p:spPr>
            <a:xfrm>
              <a:off x="870204" y="1699260"/>
              <a:ext cx="8626269"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The paper contributes one new algorithm, two system-level optimizations, and a broad empirical study.</a:t>
              </a:r>
            </a:p>
          </p:txBody>
        </p:sp>
      </p:grpSp>
      <p:grpSp>
        <p:nvGrpSpPr>
          <p:cNvPr id="19" name="Group 19"/>
          <p:cNvGrpSpPr/>
          <p:nvPr/>
        </p:nvGrpSpPr>
        <p:grpSpPr>
          <a:xfrm>
            <a:off x="609600" y="2286000"/>
            <a:ext cx="3505200" cy="2952750"/>
            <a:chOff x="609600" y="2286000"/>
            <a:chExt cx="3505200" cy="2952750"/>
          </a:xfrm>
        </p:grpSpPr>
        <p:sp>
          <p:nvSpPr>
            <p:cNvPr id="9" name="Rectangle 9"/>
            <p:cNvSpPr/>
            <p:nvPr/>
          </p:nvSpPr>
          <p:spPr>
            <a:xfrm>
              <a:off x="609600" y="2286000"/>
              <a:ext cx="3505200" cy="2952750"/>
            </a:xfrm>
            <a:prstGeom prst="roundRect">
              <a:avLst>
                <a:gd name="adj" fmla="val 4516"/>
              </a:avLst>
            </a:prstGeom>
            <a:solidFill>
              <a:schemeClr val="accent5"/>
            </a:solidFill>
            <a:ln w="14288">
              <a:solidFill>
                <a:srgbClr val="26455F"/>
              </a:solidFill>
            </a:ln>
          </p:spPr>
        </p:sp>
        <p:sp>
          <p:nvSpPr>
            <p:cNvPr id="10" name="Rectangle 10"/>
            <p:cNvSpPr/>
            <p:nvPr/>
          </p:nvSpPr>
          <p:spPr>
            <a:xfrm>
              <a:off x="609600" y="2286000"/>
              <a:ext cx="3505200" cy="57150"/>
            </a:xfrm>
            <a:prstGeom prst="roundRect">
              <a:avLst>
                <a:gd name="adj" fmla="val 50000"/>
              </a:avLst>
            </a:prstGeom>
            <a:solidFill>
              <a:schemeClr val="accent2"/>
            </a:solidFill>
            <a:ln>
              <a:noFill/>
            </a:ln>
          </p:spPr>
        </p:sp>
        <p:sp>
          <p:nvSpPr>
            <p:cNvPr id="11" name="Ellipse 11"/>
            <p:cNvSpPr/>
            <p:nvPr/>
          </p:nvSpPr>
          <p:spPr>
            <a:xfrm>
              <a:off x="876300" y="2705100"/>
              <a:ext cx="533400" cy="533400"/>
            </a:xfrm>
            <a:prstGeom prst="ellipse">
              <a:avLst/>
            </a:prstGeom>
            <a:noFill/>
            <a:ln w="23812">
              <a:solidFill>
                <a:schemeClr val="accent2"/>
              </a:solidFill>
            </a:ln>
          </p:spPr>
        </p:sp>
        <p:sp>
          <p:nvSpPr>
            <p:cNvPr id="12" name="TextBox 12"/>
            <p:cNvSpPr txBox="1"/>
            <p:nvPr/>
          </p:nvSpPr>
          <p:spPr>
            <a:xfrm>
              <a:off x="1044109" y="2833688"/>
              <a:ext cx="197782" cy="440055"/>
            </a:xfrm>
            <a:prstGeom prst="rect">
              <a:avLst/>
            </a:prstGeom>
            <a:noFill/>
            <a:ln>
              <a:noFill/>
            </a:ln>
          </p:spPr>
          <p:txBody>
            <a:bodyPr wrap="none" lIns="0" tIns="0" rIns="0" bIns="0" anchor="t" anchorCtr="0">
              <a:spAutoFit/>
            </a:bodyPr>
            <a:lstStyle/>
            <a:p>
              <a:pPr algn="ctr"/>
              <a:r>
                <a:rPr lang="en-US" sz="2250" b="1" dirty="0">
                  <a:solidFill>
                    <a:schemeClr val="accent2"/>
                  </a:solidFill>
                  <a:latin typeface="+mn-lt"/>
                  <a:ea typeface="+mn-ea"/>
                  <a:cs typeface="+mn-cs"/>
                </a:rPr>
                <a:t>1</a:t>
              </a:r>
            </a:p>
          </p:txBody>
        </p:sp>
        <p:sp>
          <p:nvSpPr>
            <p:cNvPr id="13" name="TextBox 13"/>
            <p:cNvSpPr txBox="1"/>
            <p:nvPr/>
          </p:nvSpPr>
          <p:spPr>
            <a:xfrm>
              <a:off x="869061" y="3541871"/>
              <a:ext cx="1865679"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DRAGONN algorithm</a:t>
              </a:r>
            </a:p>
          </p:txBody>
        </p:sp>
        <p:sp>
          <p:nvSpPr>
            <p:cNvPr id="14" name="TextBox 14"/>
            <p:cNvSpPr txBox="1"/>
            <p:nvPr/>
          </p:nvSpPr>
          <p:spPr>
            <a:xfrm>
              <a:off x="870776" y="3978354"/>
              <a:ext cx="2869812"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A hashing-based sparsifier that slashes</a:t>
              </a:r>
            </a:p>
          </p:txBody>
        </p:sp>
        <p:sp>
          <p:nvSpPr>
            <p:cNvPr id="15" name="TextBox 15"/>
            <p:cNvSpPr txBox="1"/>
            <p:nvPr/>
          </p:nvSpPr>
          <p:spPr>
            <a:xfrm>
              <a:off x="870776" y="4197429"/>
              <a:ext cx="2843050"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compression overhead while keeping the</a:t>
              </a:r>
            </a:p>
          </p:txBody>
        </p:sp>
        <p:sp>
          <p:nvSpPr>
            <p:cNvPr id="16" name="TextBox 16"/>
            <p:cNvSpPr txBox="1"/>
            <p:nvPr/>
          </p:nvSpPr>
          <p:spPr>
            <a:xfrm>
              <a:off x="870776" y="4416504"/>
              <a:ext cx="2755008"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same per-iteration convergence, with</a:t>
              </a:r>
            </a:p>
          </p:txBody>
        </p:sp>
        <p:sp>
          <p:nvSpPr>
            <p:cNvPr id="17" name="TextBox 17"/>
            <p:cNvSpPr txBox="1"/>
            <p:nvPr/>
          </p:nvSpPr>
          <p:spPr>
            <a:xfrm>
              <a:off x="870776" y="4635579"/>
              <a:ext cx="2769682"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theoretical bounds on compression and</a:t>
              </a:r>
            </a:p>
          </p:txBody>
        </p:sp>
        <p:sp>
          <p:nvSpPr>
            <p:cNvPr id="18" name="TextBox 18"/>
            <p:cNvSpPr txBox="1"/>
            <p:nvPr/>
          </p:nvSpPr>
          <p:spPr>
            <a:xfrm>
              <a:off x="870776" y="4854654"/>
              <a:ext cx="1559112"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generalization error.</a:t>
              </a:r>
            </a:p>
          </p:txBody>
        </p:sp>
      </p:grpSp>
      <p:grpSp>
        <p:nvGrpSpPr>
          <p:cNvPr id="30" name="Group 30"/>
          <p:cNvGrpSpPr/>
          <p:nvPr/>
        </p:nvGrpSpPr>
        <p:grpSpPr>
          <a:xfrm>
            <a:off x="4343400" y="2286000"/>
            <a:ext cx="3505200" cy="2952750"/>
            <a:chOff x="4343400" y="2286000"/>
            <a:chExt cx="3505200" cy="2952750"/>
          </a:xfrm>
        </p:grpSpPr>
        <p:sp>
          <p:nvSpPr>
            <p:cNvPr id="20" name="Rectangle 20"/>
            <p:cNvSpPr/>
            <p:nvPr/>
          </p:nvSpPr>
          <p:spPr>
            <a:xfrm>
              <a:off x="4343400" y="2286000"/>
              <a:ext cx="3505200" cy="2952750"/>
            </a:xfrm>
            <a:prstGeom prst="roundRect">
              <a:avLst>
                <a:gd name="adj" fmla="val 4516"/>
              </a:avLst>
            </a:prstGeom>
            <a:solidFill>
              <a:schemeClr val="accent5"/>
            </a:solidFill>
            <a:ln w="14288">
              <a:solidFill>
                <a:srgbClr val="26455F"/>
              </a:solidFill>
            </a:ln>
          </p:spPr>
        </p:sp>
        <p:sp>
          <p:nvSpPr>
            <p:cNvPr id="21" name="Rectangle 21"/>
            <p:cNvSpPr/>
            <p:nvPr/>
          </p:nvSpPr>
          <p:spPr>
            <a:xfrm>
              <a:off x="4343400" y="2286000"/>
              <a:ext cx="3505200" cy="57150"/>
            </a:xfrm>
            <a:prstGeom prst="roundRect">
              <a:avLst>
                <a:gd name="adj" fmla="val 50000"/>
              </a:avLst>
            </a:prstGeom>
            <a:solidFill>
              <a:srgbClr val="F2C14E"/>
            </a:solidFill>
            <a:ln>
              <a:noFill/>
            </a:ln>
          </p:spPr>
        </p:sp>
        <p:sp>
          <p:nvSpPr>
            <p:cNvPr id="22" name="Ellipse 22"/>
            <p:cNvSpPr/>
            <p:nvPr/>
          </p:nvSpPr>
          <p:spPr>
            <a:xfrm>
              <a:off x="4610100" y="2705100"/>
              <a:ext cx="533400" cy="533400"/>
            </a:xfrm>
            <a:prstGeom prst="ellipse">
              <a:avLst/>
            </a:prstGeom>
            <a:noFill/>
            <a:ln w="23812">
              <a:solidFill>
                <a:srgbClr val="F2C14E"/>
              </a:solidFill>
            </a:ln>
          </p:spPr>
        </p:sp>
        <p:sp>
          <p:nvSpPr>
            <p:cNvPr id="23" name="TextBox 23"/>
            <p:cNvSpPr txBox="1"/>
            <p:nvPr/>
          </p:nvSpPr>
          <p:spPr>
            <a:xfrm>
              <a:off x="4777909" y="2833688"/>
              <a:ext cx="197782" cy="440055"/>
            </a:xfrm>
            <a:prstGeom prst="rect">
              <a:avLst/>
            </a:prstGeom>
            <a:noFill/>
            <a:ln>
              <a:noFill/>
            </a:ln>
          </p:spPr>
          <p:txBody>
            <a:bodyPr wrap="none" lIns="0" tIns="0" rIns="0" bIns="0" anchor="t" anchorCtr="0">
              <a:spAutoFit/>
            </a:bodyPr>
            <a:lstStyle/>
            <a:p>
              <a:pPr algn="ctr"/>
              <a:r>
                <a:rPr lang="en-US" sz="2250" b="1" dirty="0">
                  <a:solidFill>
                    <a:srgbClr val="F2C14E"/>
                  </a:solidFill>
                  <a:latin typeface="+mn-lt"/>
                  <a:ea typeface="+mn-ea"/>
                  <a:cs typeface="+mn-cs"/>
                </a:rPr>
                <a:t>2</a:t>
              </a:r>
            </a:p>
          </p:txBody>
        </p:sp>
        <p:sp>
          <p:nvSpPr>
            <p:cNvPr id="24" name="TextBox 24"/>
            <p:cNvSpPr txBox="1"/>
            <p:nvPr/>
          </p:nvSpPr>
          <p:spPr>
            <a:xfrm>
              <a:off x="4602861" y="3541871"/>
              <a:ext cx="1155670"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Two system</a:t>
              </a:r>
            </a:p>
          </p:txBody>
        </p:sp>
        <p:sp>
          <p:nvSpPr>
            <p:cNvPr id="25" name="TextBox 25"/>
            <p:cNvSpPr txBox="1"/>
            <p:nvPr/>
          </p:nvSpPr>
          <p:spPr>
            <a:xfrm>
              <a:off x="4602861" y="3808571"/>
              <a:ext cx="1339220"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optimizations</a:t>
              </a:r>
            </a:p>
          </p:txBody>
        </p:sp>
        <p:sp>
          <p:nvSpPr>
            <p:cNvPr id="26" name="TextBox 26"/>
            <p:cNvSpPr txBox="1"/>
            <p:nvPr/>
          </p:nvSpPr>
          <p:spPr>
            <a:xfrm>
              <a:off x="4604576" y="4245054"/>
              <a:ext cx="2488212"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Efficiency-aware tensor selection</a:t>
              </a:r>
            </a:p>
          </p:txBody>
        </p:sp>
        <p:sp>
          <p:nvSpPr>
            <p:cNvPr id="27" name="TextBox 27"/>
            <p:cNvSpPr txBox="1"/>
            <p:nvPr/>
          </p:nvSpPr>
          <p:spPr>
            <a:xfrm>
              <a:off x="4604576" y="4464129"/>
              <a:ext cx="255691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compresses only where it pays off;</a:t>
              </a:r>
            </a:p>
          </p:txBody>
        </p:sp>
        <p:sp>
          <p:nvSpPr>
            <p:cNvPr id="28" name="TextBox 28"/>
            <p:cNvSpPr txBox="1"/>
            <p:nvPr/>
          </p:nvSpPr>
          <p:spPr>
            <a:xfrm>
              <a:off x="4604576" y="4683204"/>
              <a:ext cx="2887071"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sparse decoding keeps decode cost from</a:t>
              </a:r>
            </a:p>
          </p:txBody>
        </p:sp>
        <p:sp>
          <p:nvSpPr>
            <p:cNvPr id="29" name="TextBox 29"/>
            <p:cNvSpPr txBox="1"/>
            <p:nvPr/>
          </p:nvSpPr>
          <p:spPr>
            <a:xfrm>
              <a:off x="4604576" y="4902279"/>
              <a:ext cx="2440618"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growing with the number of GPUs.</a:t>
              </a:r>
            </a:p>
          </p:txBody>
        </p:sp>
      </p:grpSp>
      <p:grpSp>
        <p:nvGrpSpPr>
          <p:cNvPr id="39" name="Group 39"/>
          <p:cNvGrpSpPr/>
          <p:nvPr/>
        </p:nvGrpSpPr>
        <p:grpSpPr>
          <a:xfrm>
            <a:off x="8077200" y="2286000"/>
            <a:ext cx="3505200" cy="2952750"/>
            <a:chOff x="8077200" y="2286000"/>
            <a:chExt cx="3505200" cy="2952750"/>
          </a:xfrm>
        </p:grpSpPr>
        <p:sp>
          <p:nvSpPr>
            <p:cNvPr id="31" name="Rectangle 31"/>
            <p:cNvSpPr/>
            <p:nvPr/>
          </p:nvSpPr>
          <p:spPr>
            <a:xfrm>
              <a:off x="8077200" y="2286000"/>
              <a:ext cx="3505200" cy="2952750"/>
            </a:xfrm>
            <a:prstGeom prst="roundRect">
              <a:avLst>
                <a:gd name="adj" fmla="val 4516"/>
              </a:avLst>
            </a:prstGeom>
            <a:solidFill>
              <a:schemeClr val="accent5"/>
            </a:solidFill>
            <a:ln w="14288">
              <a:solidFill>
                <a:srgbClr val="26455F"/>
              </a:solidFill>
            </a:ln>
          </p:spPr>
        </p:sp>
        <p:sp>
          <p:nvSpPr>
            <p:cNvPr id="32" name="Rectangle 32"/>
            <p:cNvSpPr/>
            <p:nvPr/>
          </p:nvSpPr>
          <p:spPr>
            <a:xfrm>
              <a:off x="8077200" y="2286000"/>
              <a:ext cx="3505200" cy="57150"/>
            </a:xfrm>
            <a:prstGeom prst="roundRect">
              <a:avLst>
                <a:gd name="adj" fmla="val 50000"/>
              </a:avLst>
            </a:prstGeom>
            <a:solidFill>
              <a:srgbClr val="48C78E"/>
            </a:solidFill>
            <a:ln>
              <a:noFill/>
            </a:ln>
          </p:spPr>
        </p:sp>
        <p:sp>
          <p:nvSpPr>
            <p:cNvPr id="33" name="Ellipse 33"/>
            <p:cNvSpPr/>
            <p:nvPr/>
          </p:nvSpPr>
          <p:spPr>
            <a:xfrm>
              <a:off x="8343900" y="2705100"/>
              <a:ext cx="533400" cy="533400"/>
            </a:xfrm>
            <a:prstGeom prst="ellipse">
              <a:avLst/>
            </a:prstGeom>
            <a:noFill/>
            <a:ln w="23812">
              <a:solidFill>
                <a:srgbClr val="48C78E"/>
              </a:solidFill>
            </a:ln>
          </p:spPr>
        </p:sp>
        <p:sp>
          <p:nvSpPr>
            <p:cNvPr id="34" name="TextBox 34"/>
            <p:cNvSpPr txBox="1"/>
            <p:nvPr/>
          </p:nvSpPr>
          <p:spPr>
            <a:xfrm>
              <a:off x="8511709" y="2833688"/>
              <a:ext cx="197782" cy="440055"/>
            </a:xfrm>
            <a:prstGeom prst="rect">
              <a:avLst/>
            </a:prstGeom>
            <a:noFill/>
            <a:ln>
              <a:noFill/>
            </a:ln>
          </p:spPr>
          <p:txBody>
            <a:bodyPr wrap="none" lIns="0" tIns="0" rIns="0" bIns="0" anchor="t" anchorCtr="0">
              <a:spAutoFit/>
            </a:bodyPr>
            <a:lstStyle/>
            <a:p>
              <a:pPr algn="ctr"/>
              <a:r>
                <a:rPr lang="en-US" sz="2250" b="1" dirty="0">
                  <a:solidFill>
                    <a:srgbClr val="48C78E"/>
                  </a:solidFill>
                  <a:latin typeface="+mn-lt"/>
                  <a:ea typeface="+mn-ea"/>
                  <a:cs typeface="+mn-cs"/>
                </a:rPr>
                <a:t>3</a:t>
              </a:r>
            </a:p>
          </p:txBody>
        </p:sp>
        <p:sp>
          <p:nvSpPr>
            <p:cNvPr id="35" name="TextBox 35"/>
            <p:cNvSpPr txBox="1"/>
            <p:nvPr/>
          </p:nvSpPr>
          <p:spPr>
            <a:xfrm>
              <a:off x="8336661" y="3541871"/>
              <a:ext cx="1636359"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Broad evaluation</a:t>
              </a:r>
            </a:p>
          </p:txBody>
        </p:sp>
        <p:sp>
          <p:nvSpPr>
            <p:cNvPr id="36" name="TextBox 36"/>
            <p:cNvSpPr txBox="1"/>
            <p:nvPr/>
          </p:nvSpPr>
          <p:spPr>
            <a:xfrm>
              <a:off x="8338376" y="3978354"/>
              <a:ext cx="2965208"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Tested across vision and recommendation</a:t>
              </a:r>
            </a:p>
          </p:txBody>
        </p:sp>
        <p:sp>
          <p:nvSpPr>
            <p:cNvPr id="37" name="TextBox 37"/>
            <p:cNvSpPr txBox="1"/>
            <p:nvPr/>
          </p:nvSpPr>
          <p:spPr>
            <a:xfrm>
              <a:off x="8338376" y="4197429"/>
              <a:ext cx="2960439"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models, demonstrating large, consistent</a:t>
              </a:r>
            </a:p>
          </p:txBody>
        </p:sp>
        <p:sp>
          <p:nvSpPr>
            <p:cNvPr id="38" name="TextBox 38"/>
            <p:cNvSpPr txBox="1"/>
            <p:nvPr/>
          </p:nvSpPr>
          <p:spPr>
            <a:xfrm>
              <a:off x="8338376" y="4416504"/>
              <a:ext cx="2204749"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end-to-end training speedups.</a:t>
              </a:r>
            </a:p>
          </p:txBody>
        </p:sp>
      </p:grpSp>
      <p:sp>
        <p:nvSpPr>
          <p:cNvPr id="40" name="TextBox 40"/>
          <p:cNvSpPr txBox="1"/>
          <p:nvPr/>
        </p:nvSpPr>
        <p:spPr>
          <a:xfrm>
            <a:off x="603694" y="5475208"/>
            <a:ext cx="3895906" cy="227362"/>
          </a:xfrm>
          <a:prstGeom prst="rect">
            <a:avLst/>
          </a:prstGeom>
          <a:noFill/>
          <a:ln>
            <a:noFill/>
          </a:ln>
        </p:spPr>
        <p:txBody>
          <a:bodyPr wrap="none" lIns="0" tIns="0" rIns="0" bIns="0" anchor="t" anchorCtr="0">
            <a:spAutoFit/>
          </a:bodyPr>
          <a:lstStyle/>
          <a:p>
            <a:pPr algn="l"/>
            <a:r>
              <a:rPr lang="en-US" sz="1160" b="1" dirty="0">
                <a:solidFill>
                  <a:srgbClr val="34D3C0"/>
                </a:solidFill>
                <a:latin typeface="+mn-lt"/>
                <a:ea typeface="+mn-ea"/>
                <a:cs typeface="+mn-cs"/>
              </a:rPr>
              <a:t>One idea — hash, do not sort — unlocks all three.</a:t>
            </a:r>
          </a:p>
        </p:txBody>
      </p:sp>
      <p:sp>
        <p:nvSpPr>
          <p:cNvPr id="41" name="cue_s04_c1_makes_three_contributions" title="cue_s04_c1_makes_three_contributions" descr="cue_s04_c1_makes_three_contributions The paper makes three contributions."/>
          <p:cNvSpPr/>
          <p:nvPr/>
        </p:nvSpPr>
        <p:spPr>
          <a:xfrm>
            <a:off x="609600" y="1504645"/>
            <a:ext cx="10972800" cy="5335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4_c2_first_proposes_dragonn_hashing_based" title="cue_s04_c2_first_proposes_dragonn_hashing_based" descr="cue_s04_c2_first_proposes_dragonn_hashing_based First, it proposes DRAGONN, a hashing-based sparsification algorithm that slashes compression overhead while keeping the same per-iteration convergence, backed by theoretical bounds on both compression error and generalization error."/>
          <p:cNvSpPr/>
          <p:nvPr/>
        </p:nvSpPr>
        <p:spPr>
          <a:xfrm>
            <a:off x="609600" y="2285771"/>
            <a:ext cx="3505199" cy="29530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4_c3_second_adds_two_system_level_optimiz" title="cue_s04_c3_second_adds_two_system_level_optimiz" descr="cue_s04_c3_second_adds_two_system_level_optimiz Second, it adds two system-level optimizations: an efficiency-aware tensor selection that only compresses tensors where it actually pays off, and a sparse decoding scheme that keeps decode cost from growing with the number of GPUs."/>
          <p:cNvSpPr/>
          <p:nvPr/>
        </p:nvSpPr>
        <p:spPr>
          <a:xfrm>
            <a:off x="4344009" y="2285771"/>
            <a:ext cx="3505199" cy="29530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4_c4_third_evaluates_method_broadly_acros" title="cue_s04_c4_third_evaluates_method_broadly_acros" descr="cue_s04_c4_third_evaluates_method_broadly_acros Third, it evaluates the method broadly across vision and recommendation models and demonstrates substantial end-to-end training speedups."/>
          <p:cNvSpPr/>
          <p:nvPr/>
        </p:nvSpPr>
        <p:spPr>
          <a:xfrm>
            <a:off x="8077200" y="2285771"/>
            <a:ext cx="3505199" cy="29530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764050"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METHOD</a:t>
            </a:r>
          </a:p>
        </p:txBody>
      </p:sp>
      <p:sp>
        <p:nvSpPr>
          <p:cNvPr id="4" name="TextBox 4"/>
          <p:cNvSpPr txBox="1"/>
          <p:nvPr/>
        </p:nvSpPr>
        <p:spPr>
          <a:xfrm>
            <a:off x="598170" y="804862"/>
            <a:ext cx="5869213"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Hash gradients straight into a buffer</a:t>
            </a:r>
          </a:p>
        </p:txBody>
      </p:sp>
      <p:grpSp>
        <p:nvGrpSpPr>
          <p:cNvPr id="29" name="Group 29"/>
          <p:cNvGrpSpPr/>
          <p:nvPr/>
        </p:nvGrpSpPr>
        <p:grpSpPr>
          <a:xfrm>
            <a:off x="609600" y="1504950"/>
            <a:ext cx="5334000" cy="2209800"/>
            <a:chOff x="609600" y="1504950"/>
            <a:chExt cx="5334000" cy="2209800"/>
          </a:xfrm>
        </p:grpSpPr>
        <p:sp>
          <p:nvSpPr>
            <p:cNvPr id="5" name="Rectangle 5"/>
            <p:cNvSpPr/>
            <p:nvPr/>
          </p:nvSpPr>
          <p:spPr>
            <a:xfrm>
              <a:off x="609600" y="1504950"/>
              <a:ext cx="5334000" cy="2209800"/>
            </a:xfrm>
            <a:prstGeom prst="roundRect">
              <a:avLst>
                <a:gd name="adj" fmla="val 6034"/>
              </a:avLst>
            </a:prstGeom>
            <a:solidFill>
              <a:schemeClr val="accent5"/>
            </a:solidFill>
            <a:ln w="14288">
              <a:solidFill>
                <a:srgbClr val="26455F"/>
              </a:solidFill>
            </a:ln>
          </p:spPr>
        </p:sp>
        <p:sp>
          <p:nvSpPr>
            <p:cNvPr id="6" name="Rectangle 6"/>
            <p:cNvSpPr/>
            <p:nvPr/>
          </p:nvSpPr>
          <p:spPr>
            <a:xfrm>
              <a:off x="609600" y="1504950"/>
              <a:ext cx="57150" cy="2209800"/>
            </a:xfrm>
            <a:prstGeom prst="roundRect">
              <a:avLst>
                <a:gd name="adj" fmla="val 50000"/>
              </a:avLst>
            </a:prstGeom>
            <a:solidFill>
              <a:schemeClr val="accent2"/>
            </a:solidFill>
            <a:ln>
              <a:noFill/>
            </a:ln>
          </p:spPr>
        </p:sp>
        <p:sp>
          <p:nvSpPr>
            <p:cNvPr id="7" name="TextBox 7"/>
            <p:cNvSpPr txBox="1"/>
            <p:nvPr/>
          </p:nvSpPr>
          <p:spPr>
            <a:xfrm>
              <a:off x="870014" y="1733312"/>
              <a:ext cx="3016063"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Pre-allocate, then hash-and-write</a:t>
              </a:r>
            </a:p>
          </p:txBody>
        </p:sp>
        <p:sp>
          <p:nvSpPr>
            <p:cNvPr id="8" name="TextBox 8"/>
            <p:cNvSpPr txBox="1"/>
            <p:nvPr/>
          </p:nvSpPr>
          <p:spPr>
            <a:xfrm>
              <a:off x="871156" y="2043351"/>
              <a:ext cx="4281932"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Allocate a small buffer sized to the compression ratio. For each</a:t>
              </a:r>
            </a:p>
          </p:txBody>
        </p:sp>
        <p:sp>
          <p:nvSpPr>
            <p:cNvPr id="9" name="TextBox 9"/>
            <p:cNvSpPr txBox="1"/>
            <p:nvPr/>
          </p:nvSpPr>
          <p:spPr>
            <a:xfrm>
              <a:off x="871156" y="2233851"/>
              <a:ext cx="3905719"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gradient whose |value| clears the threshold, hash its index</a:t>
              </a:r>
            </a:p>
          </p:txBody>
        </p:sp>
        <p:sp>
          <p:nvSpPr>
            <p:cNvPr id="10" name="TextBox 10"/>
            <p:cNvSpPr txBox="1"/>
            <p:nvPr/>
          </p:nvSpPr>
          <p:spPr>
            <a:xfrm>
              <a:off x="871156" y="2424351"/>
              <a:ext cx="4177651"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directly to a slot and write it — no scan for nonzero positions.</a:t>
              </a:r>
            </a:p>
          </p:txBody>
        </p:sp>
        <p:sp>
          <p:nvSpPr>
            <p:cNvPr id="11" name="TextBox 11"/>
            <p:cNvSpPr txBox="1"/>
            <p:nvPr/>
          </p:nvSpPr>
          <p:spPr>
            <a:xfrm>
              <a:off x="871538" y="2806541"/>
              <a:ext cx="2866653" cy="161925"/>
            </a:xfrm>
            <a:prstGeom prst="rect">
              <a:avLst/>
            </a:prstGeom>
            <a:noFill/>
            <a:ln>
              <a:noFill/>
            </a:ln>
          </p:spPr>
          <p:txBody>
            <a:bodyPr wrap="none" lIns="0" tIns="0" rIns="0" bIns="0" anchor="t" anchorCtr="0">
              <a:spAutoFit/>
            </a:bodyPr>
            <a:lstStyle/>
            <a:p>
              <a:pPr algn="l"/>
              <a:r>
                <a:rPr lang="en-US" sz="820" b="1" dirty="0">
                  <a:solidFill>
                    <a:srgbClr val="6E869C"/>
                  </a:solidFill>
                  <a:latin typeface="+mn-lt"/>
                  <a:ea typeface="+mn-ea"/>
                  <a:cs typeface="+mn-cs"/>
                </a:rPr>
                <a:t>two indices hash to one slot — the later write wins</a:t>
              </a:r>
            </a:p>
          </p:txBody>
        </p:sp>
        <p:sp>
          <p:nvSpPr>
            <p:cNvPr id="12" name="Rectangle 12"/>
            <p:cNvSpPr/>
            <p:nvPr/>
          </p:nvSpPr>
          <p:spPr>
            <a:xfrm>
              <a:off x="876300" y="3009900"/>
              <a:ext cx="552450" cy="190500"/>
            </a:xfrm>
            <a:prstGeom prst="roundRect">
              <a:avLst>
                <a:gd name="adj" fmla="val 30000"/>
              </a:avLst>
            </a:prstGeom>
            <a:solidFill>
              <a:schemeClr val="accent6"/>
            </a:solidFill>
            <a:ln w="13335">
              <a:solidFill>
                <a:srgbClr val="34D3C0"/>
              </a:solidFill>
            </a:ln>
          </p:spPr>
        </p:sp>
        <p:sp>
          <p:nvSpPr>
            <p:cNvPr id="13" name="TextBox 13"/>
            <p:cNvSpPr txBox="1"/>
            <p:nvPr/>
          </p:nvSpPr>
          <p:spPr>
            <a:xfrm>
              <a:off x="1062669" y="3050143"/>
              <a:ext cx="179712" cy="169069"/>
            </a:xfrm>
            <a:prstGeom prst="rect">
              <a:avLst/>
            </a:prstGeom>
            <a:noFill/>
            <a:ln>
              <a:noFill/>
            </a:ln>
          </p:spPr>
          <p:txBody>
            <a:bodyPr wrap="none" lIns="0" tIns="0" rIns="0" bIns="0" anchor="t" anchorCtr="0">
              <a:spAutoFit/>
            </a:bodyPr>
            <a:lstStyle/>
            <a:p>
              <a:pPr algn="ctr"/>
              <a:r>
                <a:rPr lang="en-US" sz="860" b="1" dirty="0">
                  <a:solidFill>
                    <a:srgbClr val="34D3C0"/>
                  </a:solidFill>
                  <a:latin typeface="+mn-lt"/>
                  <a:ea typeface="+mn-ea"/>
                  <a:cs typeface="+mn-cs"/>
                </a:rPr>
                <a:t>i=9</a:t>
              </a:r>
            </a:p>
          </p:txBody>
        </p:sp>
        <p:sp>
          <p:nvSpPr>
            <p:cNvPr id="14" name="Rectangle 14"/>
            <p:cNvSpPr/>
            <p:nvPr/>
          </p:nvSpPr>
          <p:spPr>
            <a:xfrm>
              <a:off x="876300" y="3257550"/>
              <a:ext cx="552450" cy="190500"/>
            </a:xfrm>
            <a:prstGeom prst="roundRect">
              <a:avLst>
                <a:gd name="adj" fmla="val 30000"/>
              </a:avLst>
            </a:prstGeom>
            <a:solidFill>
              <a:schemeClr val="accent6"/>
            </a:solidFill>
            <a:ln w="13335">
              <a:solidFill>
                <a:srgbClr val="F2C14E"/>
              </a:solidFill>
            </a:ln>
          </p:spPr>
        </p:sp>
        <p:sp>
          <p:nvSpPr>
            <p:cNvPr id="15" name="TextBox 15"/>
            <p:cNvSpPr txBox="1"/>
            <p:nvPr/>
          </p:nvSpPr>
          <p:spPr>
            <a:xfrm>
              <a:off x="1029240" y="3297793"/>
              <a:ext cx="246571" cy="169069"/>
            </a:xfrm>
            <a:prstGeom prst="rect">
              <a:avLst/>
            </a:prstGeom>
            <a:noFill/>
            <a:ln>
              <a:noFill/>
            </a:ln>
          </p:spPr>
          <p:txBody>
            <a:bodyPr wrap="none" lIns="0" tIns="0" rIns="0" bIns="0" anchor="t" anchorCtr="0">
              <a:spAutoFit/>
            </a:bodyPr>
            <a:lstStyle/>
            <a:p>
              <a:pPr algn="ctr"/>
              <a:r>
                <a:rPr lang="en-US" sz="860" b="1" dirty="0">
                  <a:solidFill>
                    <a:srgbClr val="F2C14E"/>
                  </a:solidFill>
                  <a:latin typeface="+mn-lt"/>
                  <a:ea typeface="+mn-ea"/>
                  <a:cs typeface="+mn-cs"/>
                </a:rPr>
                <a:t>i=17</a:t>
              </a:r>
            </a:p>
          </p:txBody>
        </p:sp>
        <p:sp>
          <p:nvSpPr>
            <p:cNvPr id="16" name="Rectangle 16"/>
            <p:cNvSpPr/>
            <p:nvPr/>
          </p:nvSpPr>
          <p:spPr>
            <a:xfrm>
              <a:off x="1771650" y="3133725"/>
              <a:ext cx="514350" cy="190500"/>
            </a:xfrm>
            <a:prstGeom prst="roundRect">
              <a:avLst>
                <a:gd name="adj" fmla="val 50000"/>
              </a:avLst>
            </a:prstGeom>
            <a:solidFill>
              <a:srgbClr val="0E2334"/>
            </a:solidFill>
            <a:ln w="11430">
              <a:solidFill>
                <a:schemeClr val="accent2"/>
              </a:solidFill>
            </a:ln>
          </p:spPr>
        </p:sp>
        <p:sp>
          <p:nvSpPr>
            <p:cNvPr id="17" name="TextBox 17"/>
            <p:cNvSpPr txBox="1"/>
            <p:nvPr/>
          </p:nvSpPr>
          <p:spPr>
            <a:xfrm>
              <a:off x="1890344" y="3173968"/>
              <a:ext cx="276961" cy="169069"/>
            </a:xfrm>
            <a:prstGeom prst="rect">
              <a:avLst/>
            </a:prstGeom>
            <a:noFill/>
            <a:ln>
              <a:noFill/>
            </a:ln>
          </p:spPr>
          <p:txBody>
            <a:bodyPr wrap="none" lIns="0" tIns="0" rIns="0" bIns="0" anchor="t" anchorCtr="0">
              <a:spAutoFit/>
            </a:bodyPr>
            <a:lstStyle/>
            <a:p>
              <a:pPr algn="ctr"/>
              <a:r>
                <a:rPr lang="en-US" sz="860" b="1" dirty="0">
                  <a:solidFill>
                    <a:schemeClr val="accent2"/>
                  </a:solidFill>
                  <a:latin typeface="+mn-lt"/>
                  <a:ea typeface="+mn-ea"/>
                  <a:cs typeface="+mn-cs"/>
                </a:rPr>
                <a:t>hash</a:t>
              </a:r>
            </a:p>
          </p:txBody>
        </p:sp>
        <p:sp>
          <p:nvSpPr>
            <p:cNvPr id="18" name="Line 18"/>
            <p:cNvSpPr/>
            <p:nvPr/>
          </p:nvSpPr>
          <p:spPr>
            <a:xfrm>
              <a:off x="1428750" y="3105150"/>
              <a:ext cx="342900" cy="104775"/>
            </a:xfrm>
            <a:custGeom>
              <a:avLst/>
              <a:gdLst/>
              <a:ahLst/>
              <a:cxnLst/>
              <a:rect l="l" t="t" r="r" b="b"/>
              <a:pathLst>
                <a:path w="342900" h="104775">
                  <a:moveTo>
                    <a:pt x="0" y="0"/>
                  </a:moveTo>
                  <a:lnTo>
                    <a:pt x="342900" y="104775"/>
                  </a:lnTo>
                </a:path>
              </a:pathLst>
            </a:custGeom>
            <a:noFill/>
            <a:ln w="14288" cap="rnd">
              <a:solidFill>
                <a:srgbClr val="34D3C0"/>
              </a:solidFill>
              <a:custDash>
                <a:ds d="200000" sp="200000"/>
              </a:custDash>
            </a:ln>
          </p:spPr>
        </p:sp>
        <p:sp>
          <p:nvSpPr>
            <p:cNvPr id="19" name="Line 19"/>
            <p:cNvSpPr/>
            <p:nvPr/>
          </p:nvSpPr>
          <p:spPr>
            <a:xfrm>
              <a:off x="1428750" y="3248025"/>
              <a:ext cx="342900" cy="104775"/>
            </a:xfrm>
            <a:custGeom>
              <a:avLst/>
              <a:gdLst/>
              <a:ahLst/>
              <a:cxnLst/>
              <a:rect l="l" t="t" r="r" b="b"/>
              <a:pathLst>
                <a:path w="342900" h="104775">
                  <a:moveTo>
                    <a:pt x="0" y="104775"/>
                  </a:moveTo>
                  <a:lnTo>
                    <a:pt x="342900" y="0"/>
                  </a:lnTo>
                </a:path>
              </a:pathLst>
            </a:custGeom>
            <a:noFill/>
            <a:ln w="14288" cap="rnd">
              <a:solidFill>
                <a:srgbClr val="F2C14E"/>
              </a:solidFill>
              <a:custDash>
                <a:ds d="200000" sp="200000"/>
              </a:custDash>
            </a:ln>
          </p:spPr>
        </p:sp>
        <p:sp>
          <p:nvSpPr>
            <p:cNvPr id="20" name="TextBox 20"/>
            <p:cNvSpPr txBox="1"/>
            <p:nvPr/>
          </p:nvSpPr>
          <p:spPr>
            <a:xfrm>
              <a:off x="3671888" y="2972514"/>
              <a:ext cx="378027" cy="154781"/>
            </a:xfrm>
            <a:prstGeom prst="rect">
              <a:avLst/>
            </a:prstGeom>
            <a:noFill/>
            <a:ln>
              <a:noFill/>
            </a:ln>
          </p:spPr>
          <p:txBody>
            <a:bodyPr wrap="none" lIns="0" tIns="0" rIns="0" bIns="0" anchor="t" anchorCtr="0">
              <a:spAutoFit/>
            </a:bodyPr>
            <a:lstStyle/>
            <a:p>
              <a:pPr algn="l"/>
              <a:r>
                <a:rPr lang="en-US" sz="790" b="1" dirty="0">
                  <a:solidFill>
                    <a:srgbClr val="6E869C"/>
                  </a:solidFill>
                  <a:latin typeface="+mn-lt"/>
                  <a:ea typeface="+mn-ea"/>
                  <a:cs typeface="+mn-cs"/>
                </a:rPr>
                <a:t>buffer</a:t>
              </a:r>
            </a:p>
          </p:txBody>
        </p:sp>
        <p:sp>
          <p:nvSpPr>
            <p:cNvPr id="21" name="Rectangle 21"/>
            <p:cNvSpPr/>
            <p:nvPr/>
          </p:nvSpPr>
          <p:spPr>
            <a:xfrm>
              <a:off x="3676650" y="3133725"/>
              <a:ext cx="285750" cy="247650"/>
            </a:xfrm>
            <a:prstGeom prst="roundRect">
              <a:avLst>
                <a:gd name="adj" fmla="val 19231"/>
              </a:avLst>
            </a:prstGeom>
            <a:solidFill>
              <a:schemeClr val="accent6"/>
            </a:solidFill>
            <a:ln w="9525">
              <a:solidFill>
                <a:srgbClr val="26455F"/>
              </a:solidFill>
            </a:ln>
          </p:spPr>
        </p:sp>
        <p:sp>
          <p:nvSpPr>
            <p:cNvPr id="22" name="Rectangle 22"/>
            <p:cNvSpPr/>
            <p:nvPr/>
          </p:nvSpPr>
          <p:spPr>
            <a:xfrm>
              <a:off x="4019550" y="3133725"/>
              <a:ext cx="285750" cy="247650"/>
            </a:xfrm>
            <a:prstGeom prst="roundRect">
              <a:avLst>
                <a:gd name="adj" fmla="val 19231"/>
              </a:avLst>
            </a:prstGeom>
            <a:solidFill>
              <a:schemeClr val="accent6"/>
            </a:solidFill>
            <a:ln w="9525">
              <a:solidFill>
                <a:srgbClr val="26455F"/>
              </a:solidFill>
            </a:ln>
          </p:spPr>
        </p:sp>
        <p:sp>
          <p:nvSpPr>
            <p:cNvPr id="23" name="Rectangle 23"/>
            <p:cNvSpPr/>
            <p:nvPr/>
          </p:nvSpPr>
          <p:spPr>
            <a:xfrm>
              <a:off x="4362450" y="3133725"/>
              <a:ext cx="285750" cy="247650"/>
            </a:xfrm>
            <a:prstGeom prst="roundRect">
              <a:avLst>
                <a:gd name="adj" fmla="val 19231"/>
              </a:avLst>
            </a:prstGeom>
            <a:solidFill>
              <a:schemeClr val="accent6"/>
            </a:solidFill>
            <a:ln w="9525">
              <a:solidFill>
                <a:srgbClr val="26455F"/>
              </a:solidFill>
            </a:ln>
          </p:spPr>
        </p:sp>
        <p:sp>
          <p:nvSpPr>
            <p:cNvPr id="24" name="Rectangle 24"/>
            <p:cNvSpPr/>
            <p:nvPr/>
          </p:nvSpPr>
          <p:spPr>
            <a:xfrm>
              <a:off x="4705350" y="3133725"/>
              <a:ext cx="285750" cy="247650"/>
            </a:xfrm>
            <a:prstGeom prst="roundRect">
              <a:avLst>
                <a:gd name="adj" fmla="val 19231"/>
              </a:avLst>
            </a:prstGeom>
            <a:solidFill>
              <a:srgbClr val="2A2417"/>
            </a:solidFill>
            <a:ln w="13335">
              <a:solidFill>
                <a:srgbClr val="F2C14E"/>
              </a:solidFill>
            </a:ln>
          </p:spPr>
        </p:sp>
        <p:sp>
          <p:nvSpPr>
            <p:cNvPr id="25" name="TextBox 25"/>
            <p:cNvSpPr txBox="1"/>
            <p:nvPr/>
          </p:nvSpPr>
          <p:spPr>
            <a:xfrm>
              <a:off x="4773494" y="3208020"/>
              <a:ext cx="149462" cy="176212"/>
            </a:xfrm>
            <a:prstGeom prst="rect">
              <a:avLst/>
            </a:prstGeom>
            <a:noFill/>
            <a:ln>
              <a:noFill/>
            </a:ln>
          </p:spPr>
          <p:txBody>
            <a:bodyPr wrap="none" lIns="0" tIns="0" rIns="0" bIns="0" anchor="t" anchorCtr="0">
              <a:spAutoFit/>
            </a:bodyPr>
            <a:lstStyle/>
            <a:p>
              <a:pPr algn="ctr"/>
              <a:r>
                <a:rPr lang="en-US" sz="900" b="1" dirty="0">
                  <a:solidFill>
                    <a:srgbClr val="F2C14E"/>
                  </a:solidFill>
                  <a:latin typeface="+mn-lt"/>
                  <a:ea typeface="+mn-ea"/>
                  <a:cs typeface="+mn-cs"/>
                </a:rPr>
                <a:t>17</a:t>
              </a:r>
            </a:p>
          </p:txBody>
        </p:sp>
        <p:sp>
          <p:nvSpPr>
            <p:cNvPr id="26" name="Rectangle 26"/>
            <p:cNvSpPr/>
            <p:nvPr/>
          </p:nvSpPr>
          <p:spPr>
            <a:xfrm>
              <a:off x="5048250" y="3133725"/>
              <a:ext cx="285750" cy="247650"/>
            </a:xfrm>
            <a:prstGeom prst="roundRect">
              <a:avLst>
                <a:gd name="adj" fmla="val 19231"/>
              </a:avLst>
            </a:prstGeom>
            <a:solidFill>
              <a:schemeClr val="accent6"/>
            </a:solidFill>
            <a:ln w="9525">
              <a:solidFill>
                <a:srgbClr val="26455F"/>
              </a:solidFill>
            </a:ln>
          </p:spPr>
        </p:sp>
        <p:sp>
          <p:nvSpPr>
            <p:cNvPr id="27" name="Rectangle 27"/>
            <p:cNvSpPr/>
            <p:nvPr/>
          </p:nvSpPr>
          <p:spPr>
            <a:xfrm>
              <a:off x="5391150" y="3133725"/>
              <a:ext cx="285750" cy="247650"/>
            </a:xfrm>
            <a:prstGeom prst="roundRect">
              <a:avLst>
                <a:gd name="adj" fmla="val 19231"/>
              </a:avLst>
            </a:prstGeom>
            <a:solidFill>
              <a:schemeClr val="accent6"/>
            </a:solidFill>
            <a:ln w="9525">
              <a:solidFill>
                <a:srgbClr val="26455F"/>
              </a:solidFill>
            </a:ln>
          </p:spPr>
        </p:sp>
        <p:sp>
          <p:nvSpPr>
            <p:cNvPr id="28" name="Line 28"/>
            <p:cNvSpPr/>
            <p:nvPr/>
          </p:nvSpPr>
          <p:spPr>
            <a:xfrm>
              <a:off x="2286000" y="3228975"/>
              <a:ext cx="2419350" cy="28575"/>
            </a:xfrm>
            <a:custGeom>
              <a:avLst/>
              <a:gdLst/>
              <a:ahLst/>
              <a:cxnLst/>
              <a:rect l="l" t="t" r="r" b="b"/>
              <a:pathLst>
                <a:path w="2419350" h="28575">
                  <a:moveTo>
                    <a:pt x="0" y="0"/>
                  </a:moveTo>
                  <a:lnTo>
                    <a:pt x="2419350" y="28575"/>
                  </a:lnTo>
                </a:path>
              </a:pathLst>
            </a:custGeom>
            <a:noFill/>
            <a:ln w="14288" cap="rnd">
              <a:solidFill>
                <a:schemeClr val="accent2"/>
              </a:solidFill>
              <a:custDash>
                <a:ds d="200000" sp="200000"/>
              </a:custDash>
            </a:ln>
          </p:spPr>
        </p:sp>
      </p:grpSp>
      <p:grpSp>
        <p:nvGrpSpPr>
          <p:cNvPr id="38" name="Group 38"/>
          <p:cNvGrpSpPr/>
          <p:nvPr/>
        </p:nvGrpSpPr>
        <p:grpSpPr>
          <a:xfrm>
            <a:off x="609600" y="3848100"/>
            <a:ext cx="5334000" cy="1390650"/>
            <a:chOff x="609600" y="3848100"/>
            <a:chExt cx="5334000" cy="1390650"/>
          </a:xfrm>
        </p:grpSpPr>
        <p:sp>
          <p:nvSpPr>
            <p:cNvPr id="30" name="Rectangle 30"/>
            <p:cNvSpPr/>
            <p:nvPr/>
          </p:nvSpPr>
          <p:spPr>
            <a:xfrm>
              <a:off x="609600" y="3848100"/>
              <a:ext cx="5334000" cy="1390650"/>
            </a:xfrm>
            <a:prstGeom prst="roundRect">
              <a:avLst>
                <a:gd name="adj" fmla="val 9589"/>
              </a:avLst>
            </a:prstGeom>
            <a:solidFill>
              <a:schemeClr val="accent5"/>
            </a:solidFill>
            <a:ln w="14288">
              <a:solidFill>
                <a:srgbClr val="26455F"/>
              </a:solidFill>
            </a:ln>
          </p:spPr>
        </p:sp>
        <p:sp>
          <p:nvSpPr>
            <p:cNvPr id="31" name="Rectangle 31"/>
            <p:cNvSpPr/>
            <p:nvPr/>
          </p:nvSpPr>
          <p:spPr>
            <a:xfrm>
              <a:off x="609600" y="3848100"/>
              <a:ext cx="57150" cy="1390650"/>
            </a:xfrm>
            <a:prstGeom prst="roundRect">
              <a:avLst>
                <a:gd name="adj" fmla="val 50000"/>
              </a:avLst>
            </a:prstGeom>
            <a:solidFill>
              <a:srgbClr val="F2C14E"/>
            </a:solidFill>
            <a:ln>
              <a:noFill/>
            </a:ln>
          </p:spPr>
        </p:sp>
        <p:sp>
          <p:nvSpPr>
            <p:cNvPr id="32" name="TextBox 32"/>
            <p:cNvSpPr txBox="1"/>
            <p:nvPr/>
          </p:nvSpPr>
          <p:spPr>
            <a:xfrm>
              <a:off x="870204" y="4061460"/>
              <a:ext cx="2434556" cy="234696"/>
            </a:xfrm>
            <a:prstGeom prst="rect">
              <a:avLst/>
            </a:prstGeom>
            <a:noFill/>
            <a:ln>
              <a:noFill/>
            </a:ln>
          </p:spPr>
          <p:txBody>
            <a:bodyPr wrap="none" lIns="0" tIns="0" rIns="0" bIns="0" anchor="t" anchorCtr="0">
              <a:spAutoFit/>
            </a:bodyPr>
            <a:lstStyle/>
            <a:p>
              <a:pPr algn="l"/>
              <a:r>
                <a:rPr lang="en-US" sz="1200" b="1" dirty="0">
                  <a:solidFill>
                    <a:srgbClr val="F2C14E"/>
                  </a:solidFill>
                  <a:latin typeface="+mn-lt"/>
                  <a:ea typeface="+mn-ea"/>
                  <a:cs typeface="+mn-cs"/>
                </a:rPr>
                <a:t>Collisions are cheap by design</a:t>
              </a:r>
            </a:p>
          </p:txBody>
        </p:sp>
        <p:sp>
          <p:nvSpPr>
            <p:cNvPr id="33" name="TextBox 33"/>
            <p:cNvSpPr txBox="1"/>
            <p:nvPr/>
          </p:nvSpPr>
          <p:spPr>
            <a:xfrm>
              <a:off x="870966" y="4363402"/>
              <a:ext cx="365536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If two indices hash to the same slot, the later write</a:t>
              </a:r>
            </a:p>
          </p:txBody>
        </p:sp>
        <p:sp>
          <p:nvSpPr>
            <p:cNvPr id="34" name="TextBox 34"/>
            <p:cNvSpPr txBox="1"/>
            <p:nvPr/>
          </p:nvSpPr>
          <p:spPr>
            <a:xfrm>
              <a:off x="870966" y="4553902"/>
              <a:ext cx="387661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overwrites the earlier one; any slot left empty maps to</a:t>
              </a:r>
            </a:p>
          </p:txBody>
        </p:sp>
        <p:sp>
          <p:nvSpPr>
            <p:cNvPr id="35" name="TextBox 35"/>
            <p:cNvSpPr txBox="1"/>
            <p:nvPr/>
          </p:nvSpPr>
          <p:spPr>
            <a:xfrm>
              <a:off x="870966" y="4744402"/>
              <a:ext cx="39938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zero.</a:t>
              </a:r>
            </a:p>
          </p:txBody>
        </p:sp>
        <p:sp>
          <p:nvSpPr>
            <p:cNvPr id="36" name="Rectangle 36"/>
            <p:cNvSpPr/>
            <p:nvPr/>
          </p:nvSpPr>
          <p:spPr>
            <a:xfrm>
              <a:off x="876300" y="4838700"/>
              <a:ext cx="4800600" cy="342900"/>
            </a:xfrm>
            <a:prstGeom prst="roundRect">
              <a:avLst>
                <a:gd name="adj" fmla="val 22222"/>
              </a:avLst>
            </a:prstGeom>
            <a:solidFill>
              <a:schemeClr val="accent6"/>
            </a:solidFill>
            <a:ln w="14288">
              <a:solidFill>
                <a:srgbClr val="26455F"/>
              </a:solidFill>
            </a:ln>
          </p:spPr>
        </p:sp>
        <p:sp>
          <p:nvSpPr>
            <p:cNvPr id="37" name="TextBox 37"/>
            <p:cNvSpPr txBox="1"/>
            <p:nvPr/>
          </p:nvSpPr>
          <p:spPr>
            <a:xfrm>
              <a:off x="1786706" y="4958001"/>
              <a:ext cx="2979789" cy="198025"/>
            </a:xfrm>
            <a:prstGeom prst="rect">
              <a:avLst/>
            </a:prstGeom>
            <a:noFill/>
            <a:ln>
              <a:noFill/>
            </a:ln>
          </p:spPr>
          <p:txBody>
            <a:bodyPr wrap="none" lIns="0" tIns="0" rIns="0" bIns="0" anchor="t" anchorCtr="0">
              <a:spAutoFit/>
            </a:bodyPr>
            <a:lstStyle/>
            <a:p>
              <a:pPr algn="ctr"/>
              <a:r>
                <a:rPr lang="en-US" sz="1010" b="1" dirty="0">
                  <a:solidFill>
                    <a:schemeClr val="dk1"/>
                  </a:solidFill>
                  <a:latin typeface="Consolas"/>
                  <a:ea typeface="Consolas"/>
                  <a:cs typeface="Consolas"/>
                </a:rPr>
                <a:t>collision -&gt; overwrite empty slot (-1) -&gt; 0</a:t>
              </a:r>
            </a:p>
          </p:txBody>
        </p:sp>
      </p:grpSp>
      <p:grpSp>
        <p:nvGrpSpPr>
          <p:cNvPr id="48" name="Group 48"/>
          <p:cNvGrpSpPr/>
          <p:nvPr/>
        </p:nvGrpSpPr>
        <p:grpSpPr>
          <a:xfrm>
            <a:off x="6248400" y="1504950"/>
            <a:ext cx="5334000" cy="2038350"/>
            <a:chOff x="6248400" y="1504950"/>
            <a:chExt cx="5334000" cy="2038350"/>
          </a:xfrm>
        </p:grpSpPr>
        <p:sp>
          <p:nvSpPr>
            <p:cNvPr id="39" name="Rectangle 39"/>
            <p:cNvSpPr/>
            <p:nvPr/>
          </p:nvSpPr>
          <p:spPr>
            <a:xfrm>
              <a:off x="6248400" y="1504950"/>
              <a:ext cx="5334000" cy="2038350"/>
            </a:xfrm>
            <a:prstGeom prst="roundRect">
              <a:avLst>
                <a:gd name="adj" fmla="val 6542"/>
              </a:avLst>
            </a:prstGeom>
            <a:solidFill>
              <a:srgbClr val="0F2E2B"/>
            </a:solidFill>
            <a:ln w="14288">
              <a:solidFill>
                <a:srgbClr val="34D3C0"/>
              </a:solidFill>
            </a:ln>
          </p:spPr>
        </p:sp>
        <p:sp>
          <p:nvSpPr>
            <p:cNvPr id="40" name="Rectangle 40"/>
            <p:cNvSpPr/>
            <p:nvPr/>
          </p:nvSpPr>
          <p:spPr>
            <a:xfrm>
              <a:off x="6248400" y="1504950"/>
              <a:ext cx="57150" cy="2038350"/>
            </a:xfrm>
            <a:prstGeom prst="roundRect">
              <a:avLst>
                <a:gd name="adj" fmla="val 50000"/>
              </a:avLst>
            </a:prstGeom>
            <a:solidFill>
              <a:srgbClr val="34D3C0"/>
            </a:solidFill>
            <a:ln>
              <a:noFill/>
            </a:ln>
          </p:spPr>
        </p:sp>
        <p:sp>
          <p:nvSpPr>
            <p:cNvPr id="41" name="TextBox 41"/>
            <p:cNvSpPr txBox="1"/>
            <p:nvPr/>
          </p:nvSpPr>
          <p:spPr>
            <a:xfrm>
              <a:off x="6508814" y="1733312"/>
              <a:ext cx="2952931" cy="242030"/>
            </a:xfrm>
            <a:prstGeom prst="rect">
              <a:avLst/>
            </a:prstGeom>
            <a:noFill/>
            <a:ln>
              <a:noFill/>
            </a:ln>
          </p:spPr>
          <p:txBody>
            <a:bodyPr wrap="none" lIns="0" tIns="0" rIns="0" bIns="0" anchor="t" anchorCtr="0">
              <a:spAutoFit/>
            </a:bodyPr>
            <a:lstStyle/>
            <a:p>
              <a:pPr algn="l"/>
              <a:r>
                <a:rPr lang="en-US" sz="1240" b="1" dirty="0">
                  <a:solidFill>
                    <a:srgbClr val="34D3C0"/>
                  </a:solidFill>
                  <a:latin typeface="+mn-lt"/>
                  <a:ea typeface="+mn-ea"/>
                  <a:cs typeface="+mn-cs"/>
                </a:rPr>
                <a:t>Embarrassingly parallel on the GPU</a:t>
              </a:r>
            </a:p>
          </p:txBody>
        </p:sp>
        <p:sp>
          <p:nvSpPr>
            <p:cNvPr id="42" name="TextBox 42"/>
            <p:cNvSpPr txBox="1"/>
            <p:nvPr/>
          </p:nvSpPr>
          <p:spPr>
            <a:xfrm>
              <a:off x="6509956" y="2043351"/>
              <a:ext cx="3938556"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Because GPU memory writes are atomic, many threads hash</a:t>
              </a:r>
            </a:p>
          </p:txBody>
        </p:sp>
        <p:sp>
          <p:nvSpPr>
            <p:cNvPr id="43" name="TextBox 43"/>
            <p:cNvSpPr txBox="1"/>
            <p:nvPr/>
          </p:nvSpPr>
          <p:spPr>
            <a:xfrm>
              <a:off x="6509956" y="2233851"/>
              <a:ext cx="3620190"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and write at once with no ordering dependency, so the</a:t>
              </a:r>
            </a:p>
          </p:txBody>
        </p:sp>
        <p:sp>
          <p:nvSpPr>
            <p:cNvPr id="44" name="TextBox 44"/>
            <p:cNvSpPr txBox="1"/>
            <p:nvPr/>
          </p:nvSpPr>
          <p:spPr>
            <a:xfrm>
              <a:off x="6509956" y="2424351"/>
              <a:ext cx="3314266"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whole compression needs only d comparisons plus l</a:t>
              </a:r>
            </a:p>
          </p:txBody>
        </p:sp>
        <p:sp>
          <p:nvSpPr>
            <p:cNvPr id="45" name="TextBox 45"/>
            <p:cNvSpPr txBox="1"/>
            <p:nvPr/>
          </p:nvSpPr>
          <p:spPr>
            <a:xfrm>
              <a:off x="6509956" y="2614851"/>
              <a:ext cx="533757"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hashes.</a:t>
              </a:r>
            </a:p>
          </p:txBody>
        </p:sp>
        <p:sp>
          <p:nvSpPr>
            <p:cNvPr id="46" name="Rectangle 46"/>
            <p:cNvSpPr/>
            <p:nvPr/>
          </p:nvSpPr>
          <p:spPr>
            <a:xfrm>
              <a:off x="6515100" y="2933700"/>
              <a:ext cx="4800600" cy="419100"/>
            </a:xfrm>
            <a:prstGeom prst="roundRect">
              <a:avLst>
                <a:gd name="adj" fmla="val 18182"/>
              </a:avLst>
            </a:prstGeom>
            <a:solidFill>
              <a:schemeClr val="accent6"/>
            </a:solidFill>
            <a:ln w="14288">
              <a:solidFill>
                <a:srgbClr val="26455F"/>
              </a:solidFill>
            </a:ln>
          </p:spPr>
        </p:sp>
        <p:sp>
          <p:nvSpPr>
            <p:cNvPr id="47" name="TextBox 47"/>
            <p:cNvSpPr txBox="1"/>
            <p:nvPr/>
          </p:nvSpPr>
          <p:spPr>
            <a:xfrm>
              <a:off x="7266331" y="3087052"/>
              <a:ext cx="3298139" cy="205359"/>
            </a:xfrm>
            <a:prstGeom prst="rect">
              <a:avLst/>
            </a:prstGeom>
            <a:noFill/>
            <a:ln>
              <a:noFill/>
            </a:ln>
          </p:spPr>
          <p:txBody>
            <a:bodyPr wrap="none" lIns="0" tIns="0" rIns="0" bIns="0" anchor="t" anchorCtr="0">
              <a:spAutoFit/>
            </a:bodyPr>
            <a:lstStyle/>
            <a:p>
              <a:pPr algn="ctr"/>
              <a:r>
                <a:rPr lang="en-US" sz="1050" b="1" dirty="0">
                  <a:solidFill>
                    <a:schemeClr val="dk1"/>
                  </a:solidFill>
                  <a:latin typeface="Consolas"/>
                  <a:ea typeface="Consolas"/>
                  <a:cs typeface="Consolas"/>
                </a:rPr>
                <a:t>cost = d comparisons + l hashes ~ lower bound</a:t>
              </a:r>
            </a:p>
          </p:txBody>
        </p:sp>
      </p:grpSp>
      <p:grpSp>
        <p:nvGrpSpPr>
          <p:cNvPr id="61" name="Group 61"/>
          <p:cNvGrpSpPr/>
          <p:nvPr/>
        </p:nvGrpSpPr>
        <p:grpSpPr>
          <a:xfrm>
            <a:off x="6248400" y="3695700"/>
            <a:ext cx="5334000" cy="1543050"/>
            <a:chOff x="6248400" y="3695700"/>
            <a:chExt cx="5334000" cy="1543050"/>
          </a:xfrm>
        </p:grpSpPr>
        <p:sp>
          <p:nvSpPr>
            <p:cNvPr id="49" name="Rectangle 49"/>
            <p:cNvSpPr/>
            <p:nvPr/>
          </p:nvSpPr>
          <p:spPr>
            <a:xfrm>
              <a:off x="6248400" y="3695700"/>
              <a:ext cx="5334000" cy="1543050"/>
            </a:xfrm>
            <a:prstGeom prst="roundRect">
              <a:avLst>
                <a:gd name="adj" fmla="val 8642"/>
              </a:avLst>
            </a:prstGeom>
            <a:solidFill>
              <a:schemeClr val="accent5"/>
            </a:solidFill>
            <a:ln w="14288">
              <a:solidFill>
                <a:srgbClr val="26455F"/>
              </a:solidFill>
            </a:ln>
          </p:spPr>
        </p:sp>
        <p:sp>
          <p:nvSpPr>
            <p:cNvPr id="50" name="Rectangle 50"/>
            <p:cNvSpPr/>
            <p:nvPr/>
          </p:nvSpPr>
          <p:spPr>
            <a:xfrm>
              <a:off x="6248400" y="3695700"/>
              <a:ext cx="57150" cy="1543050"/>
            </a:xfrm>
            <a:prstGeom prst="roundRect">
              <a:avLst>
                <a:gd name="adj" fmla="val 50000"/>
              </a:avLst>
            </a:prstGeom>
            <a:solidFill>
              <a:srgbClr val="48C78E"/>
            </a:solidFill>
            <a:ln>
              <a:noFill/>
            </a:ln>
          </p:spPr>
        </p:sp>
        <p:sp>
          <p:nvSpPr>
            <p:cNvPr id="51" name="TextBox 51"/>
            <p:cNvSpPr txBox="1"/>
            <p:nvPr/>
          </p:nvSpPr>
          <p:spPr>
            <a:xfrm>
              <a:off x="6509004" y="3909060"/>
              <a:ext cx="2587548" cy="234696"/>
            </a:xfrm>
            <a:prstGeom prst="rect">
              <a:avLst/>
            </a:prstGeom>
            <a:noFill/>
            <a:ln>
              <a:noFill/>
            </a:ln>
          </p:spPr>
          <p:txBody>
            <a:bodyPr wrap="none" lIns="0" tIns="0" rIns="0" bIns="0" anchor="t" anchorCtr="0">
              <a:spAutoFit/>
            </a:bodyPr>
            <a:lstStyle/>
            <a:p>
              <a:pPr algn="l"/>
              <a:r>
                <a:rPr lang="en-US" sz="1200" b="1" dirty="0">
                  <a:solidFill>
                    <a:srgbClr val="48C78E"/>
                  </a:solidFill>
                  <a:latin typeface="+mn-lt"/>
                  <a:ea typeface="+mn-ea"/>
                  <a:cs typeface="+mn-cs"/>
                </a:rPr>
                <a:t>Two tricks for real deployment</a:t>
              </a:r>
            </a:p>
          </p:txBody>
        </p:sp>
        <p:sp>
          <p:nvSpPr>
            <p:cNvPr id="52" name="Rectangle 52"/>
            <p:cNvSpPr/>
            <p:nvPr/>
          </p:nvSpPr>
          <p:spPr>
            <a:xfrm>
              <a:off x="6515100" y="4191000"/>
              <a:ext cx="2400300" cy="876300"/>
            </a:xfrm>
            <a:prstGeom prst="roundRect">
              <a:avLst>
                <a:gd name="adj" fmla="val 8696"/>
              </a:avLst>
            </a:prstGeom>
            <a:solidFill>
              <a:schemeClr val="accent6"/>
            </a:solidFill>
            <a:ln w="14288">
              <a:solidFill>
                <a:srgbClr val="26455F"/>
              </a:solidFill>
            </a:ln>
          </p:spPr>
        </p:sp>
        <p:sp>
          <p:nvSpPr>
            <p:cNvPr id="53" name="TextBox 53"/>
            <p:cNvSpPr txBox="1"/>
            <p:nvPr/>
          </p:nvSpPr>
          <p:spPr>
            <a:xfrm>
              <a:off x="6662356" y="4329351"/>
              <a:ext cx="1163878" cy="198025"/>
            </a:xfrm>
            <a:prstGeom prst="rect">
              <a:avLst/>
            </a:prstGeom>
            <a:noFill/>
            <a:ln>
              <a:noFill/>
            </a:ln>
          </p:spPr>
          <p:txBody>
            <a:bodyPr wrap="none" lIns="0" tIns="0" rIns="0" bIns="0" anchor="t" anchorCtr="0">
              <a:spAutoFit/>
            </a:bodyPr>
            <a:lstStyle/>
            <a:p>
              <a:pPr algn="l"/>
              <a:r>
                <a:rPr lang="en-US" sz="1010" b="1" dirty="0">
                  <a:solidFill>
                    <a:srgbClr val="48C78E"/>
                  </a:solidFill>
                  <a:latin typeface="+mn-lt"/>
                  <a:ea typeface="+mn-ea"/>
                  <a:cs typeface="+mn-cs"/>
                </a:rPr>
                <a:t>Tensor selection</a:t>
              </a:r>
            </a:p>
          </p:txBody>
        </p:sp>
        <p:sp>
          <p:nvSpPr>
            <p:cNvPr id="54" name="TextBox 54"/>
            <p:cNvSpPr txBox="1"/>
            <p:nvPr/>
          </p:nvSpPr>
          <p:spPr>
            <a:xfrm>
              <a:off x="6662738" y="4551045"/>
              <a:ext cx="1845069" cy="176212"/>
            </a:xfrm>
            <a:prstGeom prst="rect">
              <a:avLst/>
            </a:prstGeom>
            <a:noFill/>
            <a:ln>
              <a:noFill/>
            </a:ln>
          </p:spPr>
          <p:txBody>
            <a:bodyPr wrap="none" lIns="0" tIns="0" rIns="0" bIns="0" anchor="t" anchorCtr="0">
              <a:spAutoFit/>
            </a:bodyPr>
            <a:lstStyle/>
            <a:p>
              <a:pPr algn="l"/>
              <a:r>
                <a:rPr lang="en-US" sz="900" dirty="0">
                  <a:solidFill>
                    <a:schemeClr val="dk2"/>
                  </a:solidFill>
                  <a:latin typeface="+mn-lt"/>
                  <a:ea typeface="+mn-ea"/>
                  <a:cs typeface="+mn-cs"/>
                </a:rPr>
                <a:t>compress a tensor only when it</a:t>
              </a:r>
            </a:p>
          </p:txBody>
        </p:sp>
        <p:sp>
          <p:nvSpPr>
            <p:cNvPr id="55" name="TextBox 55"/>
            <p:cNvSpPr txBox="1"/>
            <p:nvPr/>
          </p:nvSpPr>
          <p:spPr>
            <a:xfrm>
              <a:off x="6662738" y="4703445"/>
              <a:ext cx="1481595" cy="176212"/>
            </a:xfrm>
            <a:prstGeom prst="rect">
              <a:avLst/>
            </a:prstGeom>
            <a:noFill/>
            <a:ln>
              <a:noFill/>
            </a:ln>
          </p:spPr>
          <p:txBody>
            <a:bodyPr wrap="none" lIns="0" tIns="0" rIns="0" bIns="0" anchor="t" anchorCtr="0">
              <a:spAutoFit/>
            </a:bodyPr>
            <a:lstStyle/>
            <a:p>
              <a:pPr algn="l"/>
              <a:r>
                <a:rPr lang="en-US" sz="900" dirty="0">
                  <a:solidFill>
                    <a:schemeClr val="dk2"/>
                  </a:solidFill>
                  <a:latin typeface="+mn-lt"/>
                  <a:ea typeface="+mn-ea"/>
                  <a:cs typeface="+mn-cs"/>
                </a:rPr>
                <a:t>saves more than it costs</a:t>
              </a:r>
            </a:p>
          </p:txBody>
        </p:sp>
        <p:sp>
          <p:nvSpPr>
            <p:cNvPr id="56" name="Rectangle 56"/>
            <p:cNvSpPr/>
            <p:nvPr/>
          </p:nvSpPr>
          <p:spPr>
            <a:xfrm>
              <a:off x="9067800" y="4191000"/>
              <a:ext cx="2247900" cy="876300"/>
            </a:xfrm>
            <a:prstGeom prst="roundRect">
              <a:avLst>
                <a:gd name="adj" fmla="val 8696"/>
              </a:avLst>
            </a:prstGeom>
            <a:solidFill>
              <a:schemeClr val="accent6"/>
            </a:solidFill>
            <a:ln w="14288">
              <a:solidFill>
                <a:srgbClr val="26455F"/>
              </a:solidFill>
            </a:ln>
          </p:spPr>
        </p:sp>
        <p:sp>
          <p:nvSpPr>
            <p:cNvPr id="57" name="TextBox 57"/>
            <p:cNvSpPr txBox="1"/>
            <p:nvPr/>
          </p:nvSpPr>
          <p:spPr>
            <a:xfrm>
              <a:off x="9215056" y="4329351"/>
              <a:ext cx="1121185" cy="198025"/>
            </a:xfrm>
            <a:prstGeom prst="rect">
              <a:avLst/>
            </a:prstGeom>
            <a:noFill/>
            <a:ln>
              <a:noFill/>
            </a:ln>
          </p:spPr>
          <p:txBody>
            <a:bodyPr wrap="none" lIns="0" tIns="0" rIns="0" bIns="0" anchor="t" anchorCtr="0">
              <a:spAutoFit/>
            </a:bodyPr>
            <a:lstStyle/>
            <a:p>
              <a:pPr algn="l"/>
              <a:r>
                <a:rPr lang="en-US" sz="1010" b="1" dirty="0">
                  <a:solidFill>
                    <a:srgbClr val="48C78E"/>
                  </a:solidFill>
                  <a:latin typeface="+mn-lt"/>
                  <a:ea typeface="+mn-ea"/>
                  <a:cs typeface="+mn-cs"/>
                </a:rPr>
                <a:t>Sparse decoding</a:t>
              </a:r>
            </a:p>
          </p:txBody>
        </p:sp>
        <p:sp>
          <p:nvSpPr>
            <p:cNvPr id="58" name="TextBox 58"/>
            <p:cNvSpPr txBox="1"/>
            <p:nvPr/>
          </p:nvSpPr>
          <p:spPr>
            <a:xfrm>
              <a:off x="9215438" y="4551045"/>
              <a:ext cx="1560347" cy="176212"/>
            </a:xfrm>
            <a:prstGeom prst="rect">
              <a:avLst/>
            </a:prstGeom>
            <a:noFill/>
            <a:ln>
              <a:noFill/>
            </a:ln>
          </p:spPr>
          <p:txBody>
            <a:bodyPr wrap="none" lIns="0" tIns="0" rIns="0" bIns="0" anchor="t" anchorCtr="0">
              <a:spAutoFit/>
            </a:bodyPr>
            <a:lstStyle/>
            <a:p>
              <a:pPr algn="l"/>
              <a:r>
                <a:rPr lang="en-US" sz="900" dirty="0">
                  <a:solidFill>
                    <a:schemeClr val="dk2"/>
                  </a:solidFill>
                  <a:latin typeface="+mn-lt"/>
                  <a:ea typeface="+mn-ea"/>
                  <a:cs typeface="+mn-cs"/>
                </a:rPr>
                <a:t>batch all received tensors</a:t>
              </a:r>
            </a:p>
          </p:txBody>
        </p:sp>
        <p:sp>
          <p:nvSpPr>
            <p:cNvPr id="59" name="TextBox 59"/>
            <p:cNvSpPr txBox="1"/>
            <p:nvPr/>
          </p:nvSpPr>
          <p:spPr>
            <a:xfrm>
              <a:off x="9215438" y="4703445"/>
              <a:ext cx="1390726" cy="176212"/>
            </a:xfrm>
            <a:prstGeom prst="rect">
              <a:avLst/>
            </a:prstGeom>
            <a:noFill/>
            <a:ln>
              <a:noFill/>
            </a:ln>
          </p:spPr>
          <p:txBody>
            <a:bodyPr wrap="none" lIns="0" tIns="0" rIns="0" bIns="0" anchor="t" anchorCtr="0">
              <a:spAutoFit/>
            </a:bodyPr>
            <a:lstStyle/>
            <a:p>
              <a:pPr algn="l"/>
              <a:r>
                <a:rPr lang="en-US" sz="900" dirty="0">
                  <a:solidFill>
                    <a:schemeClr val="dk2"/>
                  </a:solidFill>
                  <a:latin typeface="+mn-lt"/>
                  <a:ea typeface="+mn-ea"/>
                  <a:cs typeface="+mn-cs"/>
                </a:rPr>
                <a:t>into one decode; cost ~</a:t>
              </a:r>
            </a:p>
          </p:txBody>
        </p:sp>
        <p:sp>
          <p:nvSpPr>
            <p:cNvPr id="60" name="TextBox 60"/>
            <p:cNvSpPr txBox="1"/>
            <p:nvPr/>
          </p:nvSpPr>
          <p:spPr>
            <a:xfrm>
              <a:off x="9215438" y="4855845"/>
              <a:ext cx="996677" cy="176212"/>
            </a:xfrm>
            <a:prstGeom prst="rect">
              <a:avLst/>
            </a:prstGeom>
            <a:noFill/>
            <a:ln>
              <a:noFill/>
            </a:ln>
          </p:spPr>
          <p:txBody>
            <a:bodyPr wrap="none" lIns="0" tIns="0" rIns="0" bIns="0" anchor="t" anchorCtr="0">
              <a:spAutoFit/>
            </a:bodyPr>
            <a:lstStyle/>
            <a:p>
              <a:pPr algn="l"/>
              <a:r>
                <a:rPr lang="en-US" sz="900" dirty="0">
                  <a:solidFill>
                    <a:schemeClr val="dk2"/>
                  </a:solidFill>
                  <a:latin typeface="+mn-lt"/>
                  <a:ea typeface="+mn-ea"/>
                  <a:cs typeface="+mn-cs"/>
                </a:rPr>
                <a:t>constant in GPUs</a:t>
              </a:r>
            </a:p>
          </p:txBody>
        </p:sp>
      </p:grpSp>
      <p:sp>
        <p:nvSpPr>
          <p:cNvPr id="62" name="cue_s05_c1_dragonn_works_pre_allocating_small_m" title="cue_s05_c1_dragonn_works_pre_allocating_small_m" descr="cue_s05_c1_dragonn_works_pre_allocating_small_m DRAGONN works by pre-allocating a small memory buffer sized to the compression ratio. For each gradient whose absolute value clears the threshold, it hashes the gradient's index to a slot and writes it directly, rather than scanning to compute nonzero position"/>
          <p:cNvSpPr/>
          <p:nvPr/>
        </p:nvSpPr>
        <p:spPr>
          <a:xfrm>
            <a:off x="609600" y="1504645"/>
            <a:ext cx="5334000" cy="22096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cue_s05_c2_two_indices_collide_later_one" title="cue_s05_c2_two_indices_collide_later_one" descr="cue_s05_c2_two_indices_collide_later_one If two indices collide, the later one simply overwrites the earlier, and any slot left empty maps to zero."/>
          <p:cNvSpPr/>
          <p:nvPr/>
        </p:nvSpPr>
        <p:spPr>
          <a:xfrm>
            <a:off x="609600" y="3848023"/>
            <a:ext cx="5334000" cy="13908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cue_s05_c3_because_writing_memory_atomic_operat" title="cue_s05_c3_because_writing_memory_atomic_operat" descr="cue_s05_c3_because_writing_memory_atomic_operat Because writing memory is an atomic operation on GPUs, many threads can hash and write at the same time with no dependency between them, so the whole compression needs only d comparisons plus l hash operations, essentially the theoretical lower bound."/>
          <p:cNvSpPr/>
          <p:nvPr/>
        </p:nvSpPr>
        <p:spPr>
          <a:xfrm>
            <a:off x="6248399" y="1504645"/>
            <a:ext cx="5334000" cy="20381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cue_s05_c4_deploy_well_dragonn_adds_two" title="cue_s05_c4_deploy_well_dragonn_adds_two" descr="cue_s05_c4_deploy_well_dragonn_adds_two To deploy it well, DRAGONN adds two tricks: it only compresses a tensor when the compression time is smaller than the communication it would save, and it batches all the compressed tensors received from other workers into one sparse decode, so decoding cost st"/>
          <p:cNvSpPr/>
          <p:nvPr/>
        </p:nvSpPr>
        <p:spPr>
          <a:xfrm>
            <a:off x="6248399" y="3695776"/>
            <a:ext cx="5334000" cy="15430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2190604"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DATASET / BENCHMARK</a:t>
            </a:r>
          </a:p>
        </p:txBody>
      </p:sp>
      <p:sp>
        <p:nvSpPr>
          <p:cNvPr id="4" name="TextBox 4"/>
          <p:cNvSpPr txBox="1"/>
          <p:nvPr/>
        </p:nvSpPr>
        <p:spPr>
          <a:xfrm>
            <a:off x="598170" y="804862"/>
            <a:ext cx="5789562"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Vision and recommendation workloads</a:t>
            </a:r>
          </a:p>
        </p:txBody>
      </p:sp>
      <p:grpSp>
        <p:nvGrpSpPr>
          <p:cNvPr id="28" name="Group 28"/>
          <p:cNvGrpSpPr/>
          <p:nvPr/>
        </p:nvGrpSpPr>
        <p:grpSpPr>
          <a:xfrm>
            <a:off x="609600" y="1504950"/>
            <a:ext cx="6667500" cy="3733800"/>
            <a:chOff x="609600" y="1504950"/>
            <a:chExt cx="6667500" cy="3733800"/>
          </a:xfrm>
        </p:grpSpPr>
        <p:sp>
          <p:nvSpPr>
            <p:cNvPr id="5" name="Rectangle 5"/>
            <p:cNvSpPr/>
            <p:nvPr/>
          </p:nvSpPr>
          <p:spPr>
            <a:xfrm>
              <a:off x="609600" y="1504950"/>
              <a:ext cx="6667500" cy="3733800"/>
            </a:xfrm>
            <a:prstGeom prst="roundRect">
              <a:avLst>
                <a:gd name="adj" fmla="val 3571"/>
              </a:avLst>
            </a:prstGeom>
            <a:solidFill>
              <a:schemeClr val="accent5"/>
            </a:solidFill>
            <a:ln w="14288">
              <a:solidFill>
                <a:srgbClr val="26455F"/>
              </a:solidFill>
            </a:ln>
          </p:spPr>
        </p:sp>
        <p:sp>
          <p:nvSpPr>
            <p:cNvPr id="6" name="Rectangle 6"/>
            <p:cNvSpPr/>
            <p:nvPr/>
          </p:nvSpPr>
          <p:spPr>
            <a:xfrm>
              <a:off x="609600" y="1504950"/>
              <a:ext cx="57150" cy="3733800"/>
            </a:xfrm>
            <a:prstGeom prst="roundRect">
              <a:avLst>
                <a:gd name="adj" fmla="val 50000"/>
              </a:avLst>
            </a:prstGeom>
            <a:solidFill>
              <a:schemeClr val="accent2"/>
            </a:solidFill>
            <a:ln>
              <a:noFill/>
            </a:ln>
          </p:spPr>
        </p:sp>
        <p:sp>
          <p:nvSpPr>
            <p:cNvPr id="7" name="TextBox 7"/>
            <p:cNvSpPr txBox="1"/>
            <p:nvPr/>
          </p:nvSpPr>
          <p:spPr>
            <a:xfrm>
              <a:off x="869442" y="1759268"/>
              <a:ext cx="2415333"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Four models, two domains</a:t>
              </a:r>
            </a:p>
          </p:txBody>
        </p:sp>
        <p:sp>
          <p:nvSpPr>
            <p:cNvPr id="8" name="Rectangle 8"/>
            <p:cNvSpPr/>
            <p:nvPr/>
          </p:nvSpPr>
          <p:spPr>
            <a:xfrm>
              <a:off x="876300" y="2209800"/>
              <a:ext cx="6134100" cy="628650"/>
            </a:xfrm>
            <a:prstGeom prst="roundRect">
              <a:avLst>
                <a:gd name="adj" fmla="val 15152"/>
              </a:avLst>
            </a:prstGeom>
            <a:solidFill>
              <a:schemeClr val="accent6"/>
            </a:solidFill>
            <a:ln w="14288">
              <a:solidFill>
                <a:srgbClr val="26455F"/>
              </a:solidFill>
            </a:ln>
          </p:spPr>
        </p:sp>
        <p:sp>
          <p:nvSpPr>
            <p:cNvPr id="9" name="Rectangle 9"/>
            <p:cNvSpPr/>
            <p:nvPr/>
          </p:nvSpPr>
          <p:spPr>
            <a:xfrm>
              <a:off x="876300" y="2209800"/>
              <a:ext cx="47625" cy="628650"/>
            </a:xfrm>
            <a:prstGeom prst="roundRect">
              <a:avLst>
                <a:gd name="adj" fmla="val 50000"/>
              </a:avLst>
            </a:prstGeom>
            <a:solidFill>
              <a:schemeClr val="accent2"/>
            </a:solidFill>
            <a:ln>
              <a:noFill/>
            </a:ln>
          </p:spPr>
        </p:sp>
        <p:sp>
          <p:nvSpPr>
            <p:cNvPr id="10" name="TextBox 10"/>
            <p:cNvSpPr txBox="1"/>
            <p:nvPr/>
          </p:nvSpPr>
          <p:spPr>
            <a:xfrm>
              <a:off x="1098804" y="2366010"/>
              <a:ext cx="772607"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ResNet50</a:t>
              </a:r>
            </a:p>
          </p:txBody>
        </p:sp>
        <p:sp>
          <p:nvSpPr>
            <p:cNvPr id="11" name="TextBox 11"/>
            <p:cNvSpPr txBox="1"/>
            <p:nvPr/>
          </p:nvSpPr>
          <p:spPr>
            <a:xfrm>
              <a:off x="1099947" y="2599849"/>
              <a:ext cx="856732" cy="190690"/>
            </a:xfrm>
            <a:prstGeom prst="rect">
              <a:avLst/>
            </a:prstGeom>
            <a:noFill/>
            <a:ln>
              <a:noFill/>
            </a:ln>
          </p:spPr>
          <p:txBody>
            <a:bodyPr wrap="none" lIns="0" tIns="0" rIns="0" bIns="0" anchor="t" anchorCtr="0">
              <a:spAutoFit/>
            </a:bodyPr>
            <a:lstStyle/>
            <a:p>
              <a:pPr algn="l"/>
              <a:r>
                <a:rPr lang="en-US" sz="980" b="1" dirty="0">
                  <a:solidFill>
                    <a:schemeClr val="dk2"/>
                  </a:solidFill>
                  <a:latin typeface="+mn-lt"/>
                  <a:ea typeface="+mn-ea"/>
                  <a:cs typeface="+mn-cs"/>
                </a:rPr>
                <a:t>ImageNet-1K</a:t>
              </a:r>
            </a:p>
          </p:txBody>
        </p:sp>
        <p:sp>
          <p:nvSpPr>
            <p:cNvPr id="12" name="TextBox 12"/>
            <p:cNvSpPr txBox="1"/>
            <p:nvPr/>
          </p:nvSpPr>
          <p:spPr>
            <a:xfrm>
              <a:off x="6057027" y="2394347"/>
              <a:ext cx="767636" cy="183356"/>
            </a:xfrm>
            <a:prstGeom prst="rect">
              <a:avLst/>
            </a:prstGeom>
            <a:noFill/>
            <a:ln>
              <a:noFill/>
            </a:ln>
          </p:spPr>
          <p:txBody>
            <a:bodyPr wrap="none" lIns="0" tIns="0" rIns="0" bIns="0" anchor="t" anchorCtr="0">
              <a:spAutoFit/>
            </a:bodyPr>
            <a:lstStyle/>
            <a:p>
              <a:pPr algn="r"/>
              <a:r>
                <a:rPr lang="en-US" sz="940" b="1" dirty="0">
                  <a:solidFill>
                    <a:schemeClr val="accent2"/>
                  </a:solidFill>
                  <a:latin typeface="+mn-lt"/>
                  <a:ea typeface="+mn-ea"/>
                  <a:cs typeface="+mn-cs"/>
                </a:rPr>
                <a:t>vision · CNN</a:t>
              </a:r>
            </a:p>
          </p:txBody>
        </p:sp>
        <p:sp>
          <p:nvSpPr>
            <p:cNvPr id="13" name="Rectangle 13"/>
            <p:cNvSpPr/>
            <p:nvPr/>
          </p:nvSpPr>
          <p:spPr>
            <a:xfrm>
              <a:off x="876300" y="2971800"/>
              <a:ext cx="6134100" cy="628650"/>
            </a:xfrm>
            <a:prstGeom prst="roundRect">
              <a:avLst>
                <a:gd name="adj" fmla="val 15152"/>
              </a:avLst>
            </a:prstGeom>
            <a:solidFill>
              <a:schemeClr val="accent6"/>
            </a:solidFill>
            <a:ln w="14288">
              <a:solidFill>
                <a:srgbClr val="26455F"/>
              </a:solidFill>
            </a:ln>
          </p:spPr>
        </p:sp>
        <p:sp>
          <p:nvSpPr>
            <p:cNvPr id="14" name="Rectangle 14"/>
            <p:cNvSpPr/>
            <p:nvPr/>
          </p:nvSpPr>
          <p:spPr>
            <a:xfrm>
              <a:off x="876300" y="2971800"/>
              <a:ext cx="47625" cy="628650"/>
            </a:xfrm>
            <a:prstGeom prst="roundRect">
              <a:avLst>
                <a:gd name="adj" fmla="val 50000"/>
              </a:avLst>
            </a:prstGeom>
            <a:solidFill>
              <a:srgbClr val="34D3C0"/>
            </a:solidFill>
            <a:ln>
              <a:noFill/>
            </a:ln>
          </p:spPr>
        </p:sp>
        <p:sp>
          <p:nvSpPr>
            <p:cNvPr id="15" name="TextBox 15"/>
            <p:cNvSpPr txBox="1"/>
            <p:nvPr/>
          </p:nvSpPr>
          <p:spPr>
            <a:xfrm>
              <a:off x="1098804" y="3128010"/>
              <a:ext cx="1608712"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Vision Transformer</a:t>
              </a:r>
            </a:p>
          </p:txBody>
        </p:sp>
        <p:sp>
          <p:nvSpPr>
            <p:cNvPr id="16" name="TextBox 16"/>
            <p:cNvSpPr txBox="1"/>
            <p:nvPr/>
          </p:nvSpPr>
          <p:spPr>
            <a:xfrm>
              <a:off x="1099947" y="3361849"/>
              <a:ext cx="2243397" cy="190690"/>
            </a:xfrm>
            <a:prstGeom prst="rect">
              <a:avLst/>
            </a:prstGeom>
            <a:noFill/>
            <a:ln>
              <a:noFill/>
            </a:ln>
          </p:spPr>
          <p:txBody>
            <a:bodyPr wrap="none" lIns="0" tIns="0" rIns="0" bIns="0" anchor="t" anchorCtr="0">
              <a:spAutoFit/>
            </a:bodyPr>
            <a:lstStyle/>
            <a:p>
              <a:pPr algn="l"/>
              <a:r>
                <a:rPr lang="en-US" sz="980" b="1" dirty="0">
                  <a:solidFill>
                    <a:schemeClr val="dk2"/>
                  </a:solidFill>
                  <a:latin typeface="+mn-lt"/>
                  <a:ea typeface="+mn-ea"/>
                  <a:cs typeface="+mn-cs"/>
                </a:rPr>
                <a:t>Cifar10 (ImageNet-21k pretrain)</a:t>
              </a:r>
            </a:p>
          </p:txBody>
        </p:sp>
        <p:sp>
          <p:nvSpPr>
            <p:cNvPr id="17" name="TextBox 17"/>
            <p:cNvSpPr txBox="1"/>
            <p:nvPr/>
          </p:nvSpPr>
          <p:spPr>
            <a:xfrm>
              <a:off x="5665813" y="3156347"/>
              <a:ext cx="1158850" cy="183356"/>
            </a:xfrm>
            <a:prstGeom prst="rect">
              <a:avLst/>
            </a:prstGeom>
            <a:noFill/>
            <a:ln>
              <a:noFill/>
            </a:ln>
          </p:spPr>
          <p:txBody>
            <a:bodyPr wrap="none" lIns="0" tIns="0" rIns="0" bIns="0" anchor="t" anchorCtr="0">
              <a:spAutoFit/>
            </a:bodyPr>
            <a:lstStyle/>
            <a:p>
              <a:pPr algn="r"/>
              <a:r>
                <a:rPr lang="en-US" sz="940" b="1" dirty="0">
                  <a:solidFill>
                    <a:srgbClr val="34D3C0"/>
                  </a:solidFill>
                  <a:latin typeface="+mn-lt"/>
                  <a:ea typeface="+mn-ea"/>
                  <a:cs typeface="+mn-cs"/>
                </a:rPr>
                <a:t>vision · fine-tune</a:t>
              </a:r>
            </a:p>
          </p:txBody>
        </p:sp>
        <p:sp>
          <p:nvSpPr>
            <p:cNvPr id="18" name="Rectangle 18"/>
            <p:cNvSpPr/>
            <p:nvPr/>
          </p:nvSpPr>
          <p:spPr>
            <a:xfrm>
              <a:off x="876300" y="3733800"/>
              <a:ext cx="6134100" cy="628650"/>
            </a:xfrm>
            <a:prstGeom prst="roundRect">
              <a:avLst>
                <a:gd name="adj" fmla="val 15152"/>
              </a:avLst>
            </a:prstGeom>
            <a:solidFill>
              <a:schemeClr val="accent6"/>
            </a:solidFill>
            <a:ln w="14288">
              <a:solidFill>
                <a:srgbClr val="26455F"/>
              </a:solidFill>
            </a:ln>
          </p:spPr>
        </p:sp>
        <p:sp>
          <p:nvSpPr>
            <p:cNvPr id="19" name="Rectangle 19"/>
            <p:cNvSpPr/>
            <p:nvPr/>
          </p:nvSpPr>
          <p:spPr>
            <a:xfrm>
              <a:off x="876300" y="3733800"/>
              <a:ext cx="47625" cy="628650"/>
            </a:xfrm>
            <a:prstGeom prst="roundRect">
              <a:avLst>
                <a:gd name="adj" fmla="val 50000"/>
              </a:avLst>
            </a:prstGeom>
            <a:solidFill>
              <a:srgbClr val="F2C14E"/>
            </a:solidFill>
            <a:ln>
              <a:noFill/>
            </a:ln>
          </p:spPr>
        </p:sp>
        <p:sp>
          <p:nvSpPr>
            <p:cNvPr id="20" name="TextBox 20"/>
            <p:cNvSpPr txBox="1"/>
            <p:nvPr/>
          </p:nvSpPr>
          <p:spPr>
            <a:xfrm>
              <a:off x="1098804" y="3890010"/>
              <a:ext cx="901743"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MLP-Mixer</a:t>
              </a:r>
            </a:p>
          </p:txBody>
        </p:sp>
        <p:sp>
          <p:nvSpPr>
            <p:cNvPr id="21" name="TextBox 21"/>
            <p:cNvSpPr txBox="1"/>
            <p:nvPr/>
          </p:nvSpPr>
          <p:spPr>
            <a:xfrm>
              <a:off x="1099947" y="4123849"/>
              <a:ext cx="2243397" cy="190690"/>
            </a:xfrm>
            <a:prstGeom prst="rect">
              <a:avLst/>
            </a:prstGeom>
            <a:noFill/>
            <a:ln>
              <a:noFill/>
            </a:ln>
          </p:spPr>
          <p:txBody>
            <a:bodyPr wrap="none" lIns="0" tIns="0" rIns="0" bIns="0" anchor="t" anchorCtr="0">
              <a:spAutoFit/>
            </a:bodyPr>
            <a:lstStyle/>
            <a:p>
              <a:pPr algn="l"/>
              <a:r>
                <a:rPr lang="en-US" sz="980" b="1" dirty="0">
                  <a:solidFill>
                    <a:schemeClr val="dk2"/>
                  </a:solidFill>
                  <a:latin typeface="+mn-lt"/>
                  <a:ea typeface="+mn-ea"/>
                  <a:cs typeface="+mn-cs"/>
                </a:rPr>
                <a:t>Cifar10 (ImageNet-21k pretrain)</a:t>
              </a:r>
            </a:p>
          </p:txBody>
        </p:sp>
        <p:sp>
          <p:nvSpPr>
            <p:cNvPr id="22" name="TextBox 22"/>
            <p:cNvSpPr txBox="1"/>
            <p:nvPr/>
          </p:nvSpPr>
          <p:spPr>
            <a:xfrm>
              <a:off x="5665813" y="3918347"/>
              <a:ext cx="1158850" cy="183356"/>
            </a:xfrm>
            <a:prstGeom prst="rect">
              <a:avLst/>
            </a:prstGeom>
            <a:noFill/>
            <a:ln>
              <a:noFill/>
            </a:ln>
          </p:spPr>
          <p:txBody>
            <a:bodyPr wrap="none" lIns="0" tIns="0" rIns="0" bIns="0" anchor="t" anchorCtr="0">
              <a:spAutoFit/>
            </a:bodyPr>
            <a:lstStyle/>
            <a:p>
              <a:pPr algn="r"/>
              <a:r>
                <a:rPr lang="en-US" sz="940" b="1" dirty="0">
                  <a:solidFill>
                    <a:srgbClr val="F2C14E"/>
                  </a:solidFill>
                  <a:latin typeface="+mn-lt"/>
                  <a:ea typeface="+mn-ea"/>
                  <a:cs typeface="+mn-cs"/>
                </a:rPr>
                <a:t>vision · fine-tune</a:t>
              </a:r>
            </a:p>
          </p:txBody>
        </p:sp>
        <p:sp>
          <p:nvSpPr>
            <p:cNvPr id="23" name="Rectangle 23"/>
            <p:cNvSpPr/>
            <p:nvPr/>
          </p:nvSpPr>
          <p:spPr>
            <a:xfrm>
              <a:off x="876300" y="4495800"/>
              <a:ext cx="6134100" cy="628650"/>
            </a:xfrm>
            <a:prstGeom prst="roundRect">
              <a:avLst>
                <a:gd name="adj" fmla="val 15152"/>
              </a:avLst>
            </a:prstGeom>
            <a:solidFill>
              <a:schemeClr val="accent6"/>
            </a:solidFill>
            <a:ln w="14288">
              <a:solidFill>
                <a:srgbClr val="26455F"/>
              </a:solidFill>
            </a:ln>
          </p:spPr>
        </p:sp>
        <p:sp>
          <p:nvSpPr>
            <p:cNvPr id="24" name="Rectangle 24"/>
            <p:cNvSpPr/>
            <p:nvPr/>
          </p:nvSpPr>
          <p:spPr>
            <a:xfrm>
              <a:off x="876300" y="4495800"/>
              <a:ext cx="47625" cy="628650"/>
            </a:xfrm>
            <a:prstGeom prst="roundRect">
              <a:avLst>
                <a:gd name="adj" fmla="val 50000"/>
              </a:avLst>
            </a:prstGeom>
            <a:solidFill>
              <a:srgbClr val="48C78E"/>
            </a:solidFill>
            <a:ln>
              <a:noFill/>
            </a:ln>
          </p:spPr>
        </p:sp>
        <p:sp>
          <p:nvSpPr>
            <p:cNvPr id="25" name="TextBox 25"/>
            <p:cNvSpPr txBox="1"/>
            <p:nvPr/>
          </p:nvSpPr>
          <p:spPr>
            <a:xfrm>
              <a:off x="1098804" y="4652010"/>
              <a:ext cx="1197866"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XML classifier</a:t>
              </a:r>
            </a:p>
          </p:txBody>
        </p:sp>
        <p:sp>
          <p:nvSpPr>
            <p:cNvPr id="26" name="TextBox 26"/>
            <p:cNvSpPr txBox="1"/>
            <p:nvPr/>
          </p:nvSpPr>
          <p:spPr>
            <a:xfrm>
              <a:off x="1099947" y="4885849"/>
              <a:ext cx="746540" cy="190690"/>
            </a:xfrm>
            <a:prstGeom prst="rect">
              <a:avLst/>
            </a:prstGeom>
            <a:noFill/>
            <a:ln>
              <a:noFill/>
            </a:ln>
          </p:spPr>
          <p:txBody>
            <a:bodyPr wrap="none" lIns="0" tIns="0" rIns="0" bIns="0" anchor="t" anchorCtr="0">
              <a:spAutoFit/>
            </a:bodyPr>
            <a:lstStyle/>
            <a:p>
              <a:pPr algn="l"/>
              <a:r>
                <a:rPr lang="en-US" sz="980" b="1" dirty="0">
                  <a:solidFill>
                    <a:schemeClr val="dk2"/>
                  </a:solidFill>
                  <a:latin typeface="+mn-lt"/>
                  <a:ea typeface="+mn-ea"/>
                  <a:cs typeface="+mn-cs"/>
                </a:rPr>
                <a:t>Wiki10-31K</a:t>
              </a:r>
            </a:p>
          </p:txBody>
        </p:sp>
        <p:sp>
          <p:nvSpPr>
            <p:cNvPr id="27" name="TextBox 27"/>
            <p:cNvSpPr txBox="1"/>
            <p:nvPr/>
          </p:nvSpPr>
          <p:spPr>
            <a:xfrm>
              <a:off x="5539586" y="4680347"/>
              <a:ext cx="1285076" cy="183356"/>
            </a:xfrm>
            <a:prstGeom prst="rect">
              <a:avLst/>
            </a:prstGeom>
            <a:noFill/>
            <a:ln>
              <a:noFill/>
            </a:ln>
          </p:spPr>
          <p:txBody>
            <a:bodyPr wrap="none" lIns="0" tIns="0" rIns="0" bIns="0" anchor="t" anchorCtr="0">
              <a:spAutoFit/>
            </a:bodyPr>
            <a:lstStyle/>
            <a:p>
              <a:pPr algn="r"/>
              <a:r>
                <a:rPr lang="en-US" sz="940" b="1" dirty="0">
                  <a:solidFill>
                    <a:srgbClr val="48C78E"/>
                  </a:solidFill>
                  <a:latin typeface="+mn-lt"/>
                  <a:ea typeface="+mn-ea"/>
                  <a:cs typeface="+mn-cs"/>
                </a:rPr>
                <a:t>extreme multi-label</a:t>
              </a:r>
            </a:p>
          </p:txBody>
        </p:sp>
      </p:grpSp>
      <p:grpSp>
        <p:nvGrpSpPr>
          <p:cNvPr id="48" name="Group 48"/>
          <p:cNvGrpSpPr/>
          <p:nvPr/>
        </p:nvGrpSpPr>
        <p:grpSpPr>
          <a:xfrm>
            <a:off x="7505700" y="1504950"/>
            <a:ext cx="4076700" cy="3733800"/>
            <a:chOff x="7505700" y="1504950"/>
            <a:chExt cx="4076700" cy="3733800"/>
          </a:xfrm>
        </p:grpSpPr>
        <p:sp>
          <p:nvSpPr>
            <p:cNvPr id="29" name="Rectangle 29"/>
            <p:cNvSpPr/>
            <p:nvPr/>
          </p:nvSpPr>
          <p:spPr>
            <a:xfrm>
              <a:off x="7505700" y="1504950"/>
              <a:ext cx="4076700" cy="3733800"/>
            </a:xfrm>
            <a:prstGeom prst="roundRect">
              <a:avLst>
                <a:gd name="adj" fmla="val 3571"/>
              </a:avLst>
            </a:prstGeom>
            <a:solidFill>
              <a:srgbClr val="0F2E2B"/>
            </a:solidFill>
            <a:ln w="14288">
              <a:solidFill>
                <a:srgbClr val="34D3C0"/>
              </a:solidFill>
            </a:ln>
          </p:spPr>
        </p:sp>
        <p:sp>
          <p:nvSpPr>
            <p:cNvPr id="30" name="Rectangle 30"/>
            <p:cNvSpPr/>
            <p:nvPr/>
          </p:nvSpPr>
          <p:spPr>
            <a:xfrm>
              <a:off x="7505700" y="1504950"/>
              <a:ext cx="57150" cy="3733800"/>
            </a:xfrm>
            <a:prstGeom prst="roundRect">
              <a:avLst>
                <a:gd name="adj" fmla="val 50000"/>
              </a:avLst>
            </a:prstGeom>
            <a:solidFill>
              <a:srgbClr val="34D3C0"/>
            </a:solidFill>
            <a:ln>
              <a:noFill/>
            </a:ln>
          </p:spPr>
        </p:sp>
        <p:sp>
          <p:nvSpPr>
            <p:cNvPr id="31" name="TextBox 31"/>
            <p:cNvSpPr txBox="1"/>
            <p:nvPr/>
          </p:nvSpPr>
          <p:spPr>
            <a:xfrm>
              <a:off x="7765542" y="1759268"/>
              <a:ext cx="754329" cy="264033"/>
            </a:xfrm>
            <a:prstGeom prst="rect">
              <a:avLst/>
            </a:prstGeom>
            <a:noFill/>
            <a:ln>
              <a:noFill/>
            </a:ln>
          </p:spPr>
          <p:txBody>
            <a:bodyPr wrap="none" lIns="0" tIns="0" rIns="0" bIns="0" anchor="t" anchorCtr="0">
              <a:spAutoFit/>
            </a:bodyPr>
            <a:lstStyle/>
            <a:p>
              <a:pPr algn="l"/>
              <a:r>
                <a:rPr lang="en-US" sz="1350" b="1" dirty="0">
                  <a:solidFill>
                    <a:srgbClr val="34D3C0"/>
                  </a:solidFill>
                  <a:latin typeface="+mn-lt"/>
                  <a:ea typeface="+mn-ea"/>
                  <a:cs typeface="+mn-cs"/>
                </a:rPr>
                <a:t>Testbed</a:t>
              </a:r>
            </a:p>
          </p:txBody>
        </p:sp>
        <p:sp>
          <p:nvSpPr>
            <p:cNvPr id="32" name="Rectangle 32"/>
            <p:cNvSpPr/>
            <p:nvPr/>
          </p:nvSpPr>
          <p:spPr>
            <a:xfrm>
              <a:off x="7772400" y="2133600"/>
              <a:ext cx="1714500" cy="876300"/>
            </a:xfrm>
            <a:prstGeom prst="roundRect">
              <a:avLst>
                <a:gd name="adj" fmla="val 13043"/>
              </a:avLst>
            </a:prstGeom>
            <a:solidFill>
              <a:schemeClr val="accent6"/>
            </a:solidFill>
            <a:ln w="14288">
              <a:solidFill>
                <a:srgbClr val="26455F"/>
              </a:solidFill>
            </a:ln>
          </p:spPr>
        </p:sp>
        <p:sp>
          <p:nvSpPr>
            <p:cNvPr id="33" name="TextBox 33"/>
            <p:cNvSpPr txBox="1"/>
            <p:nvPr/>
          </p:nvSpPr>
          <p:spPr>
            <a:xfrm>
              <a:off x="8430875" y="2330196"/>
              <a:ext cx="397551" cy="469392"/>
            </a:xfrm>
            <a:prstGeom prst="rect">
              <a:avLst/>
            </a:prstGeom>
            <a:noFill/>
            <a:ln>
              <a:noFill/>
            </a:ln>
          </p:spPr>
          <p:txBody>
            <a:bodyPr wrap="none" lIns="0" tIns="0" rIns="0" bIns="0" anchor="t" anchorCtr="0">
              <a:spAutoFit/>
            </a:bodyPr>
            <a:lstStyle/>
            <a:p>
              <a:pPr algn="ctr"/>
              <a:r>
                <a:rPr lang="en-US" sz="2400" b="1" dirty="0">
                  <a:solidFill>
                    <a:srgbClr val="34D3C0"/>
                  </a:solidFill>
                  <a:latin typeface="+mn-lt"/>
                  <a:ea typeface="+mn-ea"/>
                  <a:cs typeface="+mn-cs"/>
                </a:rPr>
                <a:t>16</a:t>
              </a:r>
            </a:p>
          </p:txBody>
        </p:sp>
        <p:sp>
          <p:nvSpPr>
            <p:cNvPr id="34" name="TextBox 34"/>
            <p:cNvSpPr txBox="1"/>
            <p:nvPr/>
          </p:nvSpPr>
          <p:spPr>
            <a:xfrm>
              <a:off x="8105934" y="2756297"/>
              <a:ext cx="1047433"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V100-32GB GPUs</a:t>
              </a:r>
            </a:p>
          </p:txBody>
        </p:sp>
        <p:sp>
          <p:nvSpPr>
            <p:cNvPr id="35" name="Rectangle 35"/>
            <p:cNvSpPr/>
            <p:nvPr/>
          </p:nvSpPr>
          <p:spPr>
            <a:xfrm>
              <a:off x="9639300" y="2133600"/>
              <a:ext cx="1714500" cy="876300"/>
            </a:xfrm>
            <a:prstGeom prst="roundRect">
              <a:avLst>
                <a:gd name="adj" fmla="val 13043"/>
              </a:avLst>
            </a:prstGeom>
            <a:solidFill>
              <a:schemeClr val="accent6"/>
            </a:solidFill>
            <a:ln w="14288">
              <a:solidFill>
                <a:srgbClr val="26455F"/>
              </a:solidFill>
            </a:ln>
          </p:spPr>
        </p:sp>
        <p:sp>
          <p:nvSpPr>
            <p:cNvPr id="36" name="TextBox 36"/>
            <p:cNvSpPr txBox="1"/>
            <p:nvPr/>
          </p:nvSpPr>
          <p:spPr>
            <a:xfrm>
              <a:off x="10022948" y="2394966"/>
              <a:ext cx="947204" cy="352044"/>
            </a:xfrm>
            <a:prstGeom prst="rect">
              <a:avLst/>
            </a:prstGeom>
            <a:noFill/>
            <a:ln>
              <a:noFill/>
            </a:ln>
          </p:spPr>
          <p:txBody>
            <a:bodyPr wrap="none" lIns="0" tIns="0" rIns="0" bIns="0" anchor="t" anchorCtr="0">
              <a:spAutoFit/>
            </a:bodyPr>
            <a:lstStyle/>
            <a:p>
              <a:pPr algn="ctr"/>
              <a:r>
                <a:rPr lang="en-US" sz="1800" b="1" dirty="0">
                  <a:solidFill>
                    <a:srgbClr val="34D3C0"/>
                  </a:solidFill>
                  <a:latin typeface="+mn-lt"/>
                  <a:ea typeface="+mn-ea"/>
                  <a:cs typeface="+mn-cs"/>
                </a:rPr>
                <a:t>25 Gbps</a:t>
              </a:r>
            </a:p>
          </p:txBody>
        </p:sp>
        <p:sp>
          <p:nvSpPr>
            <p:cNvPr id="37" name="TextBox 37"/>
            <p:cNvSpPr txBox="1"/>
            <p:nvPr/>
          </p:nvSpPr>
          <p:spPr>
            <a:xfrm>
              <a:off x="10222726" y="2756297"/>
              <a:ext cx="547648"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network</a:t>
              </a:r>
            </a:p>
          </p:txBody>
        </p:sp>
        <p:sp>
          <p:nvSpPr>
            <p:cNvPr id="38" name="Rectangle 38"/>
            <p:cNvSpPr/>
            <p:nvPr/>
          </p:nvSpPr>
          <p:spPr>
            <a:xfrm>
              <a:off x="7772400" y="3162300"/>
              <a:ext cx="1714500" cy="876300"/>
            </a:xfrm>
            <a:prstGeom prst="roundRect">
              <a:avLst>
                <a:gd name="adj" fmla="val 13043"/>
              </a:avLst>
            </a:prstGeom>
            <a:solidFill>
              <a:schemeClr val="accent6"/>
            </a:solidFill>
            <a:ln w="14288">
              <a:solidFill>
                <a:srgbClr val="26455F"/>
              </a:solidFill>
            </a:ln>
          </p:spPr>
        </p:sp>
        <p:sp>
          <p:nvSpPr>
            <p:cNvPr id="39" name="TextBox 39"/>
            <p:cNvSpPr txBox="1"/>
            <p:nvPr/>
          </p:nvSpPr>
          <p:spPr>
            <a:xfrm>
              <a:off x="8285040" y="3391281"/>
              <a:ext cx="689219" cy="410718"/>
            </a:xfrm>
            <a:prstGeom prst="rect">
              <a:avLst/>
            </a:prstGeom>
            <a:noFill/>
            <a:ln>
              <a:noFill/>
            </a:ln>
          </p:spPr>
          <p:txBody>
            <a:bodyPr wrap="none" lIns="0" tIns="0" rIns="0" bIns="0" anchor="t" anchorCtr="0">
              <a:spAutoFit/>
            </a:bodyPr>
            <a:lstStyle/>
            <a:p>
              <a:pPr algn="ctr"/>
              <a:r>
                <a:rPr lang="en-US" sz="2100" b="1" dirty="0">
                  <a:solidFill>
                    <a:schemeClr val="accent2"/>
                  </a:solidFill>
                  <a:latin typeface="+mn-lt"/>
                  <a:ea typeface="+mn-ea"/>
                  <a:cs typeface="+mn-cs"/>
                </a:rPr>
                <a:t>2 x 8</a:t>
              </a:r>
            </a:p>
          </p:txBody>
        </p:sp>
        <p:sp>
          <p:nvSpPr>
            <p:cNvPr id="40" name="TextBox 40"/>
            <p:cNvSpPr txBox="1"/>
            <p:nvPr/>
          </p:nvSpPr>
          <p:spPr>
            <a:xfrm>
              <a:off x="8193060" y="3784997"/>
              <a:ext cx="873180"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two machines</a:t>
              </a:r>
            </a:p>
          </p:txBody>
        </p:sp>
        <p:sp>
          <p:nvSpPr>
            <p:cNvPr id="41" name="Rectangle 41"/>
            <p:cNvSpPr/>
            <p:nvPr/>
          </p:nvSpPr>
          <p:spPr>
            <a:xfrm>
              <a:off x="9639300" y="3162300"/>
              <a:ext cx="1714500" cy="876300"/>
            </a:xfrm>
            <a:prstGeom prst="roundRect">
              <a:avLst>
                <a:gd name="adj" fmla="val 13043"/>
              </a:avLst>
            </a:prstGeom>
            <a:solidFill>
              <a:schemeClr val="accent6"/>
            </a:solidFill>
            <a:ln w="14288">
              <a:solidFill>
                <a:srgbClr val="26455F"/>
              </a:solidFill>
            </a:ln>
          </p:spPr>
        </p:sp>
        <p:sp>
          <p:nvSpPr>
            <p:cNvPr id="42" name="TextBox 42"/>
            <p:cNvSpPr txBox="1"/>
            <p:nvPr/>
          </p:nvSpPr>
          <p:spPr>
            <a:xfrm>
              <a:off x="10166284" y="3407474"/>
              <a:ext cx="660532" cy="381381"/>
            </a:xfrm>
            <a:prstGeom prst="rect">
              <a:avLst/>
            </a:prstGeom>
            <a:noFill/>
            <a:ln>
              <a:noFill/>
            </a:ln>
          </p:spPr>
          <p:txBody>
            <a:bodyPr wrap="none" lIns="0" tIns="0" rIns="0" bIns="0" anchor="t" anchorCtr="0">
              <a:spAutoFit/>
            </a:bodyPr>
            <a:lstStyle/>
            <a:p>
              <a:pPr algn="ctr"/>
              <a:r>
                <a:rPr lang="en-US" sz="1950" b="1" dirty="0">
                  <a:solidFill>
                    <a:schemeClr val="accent2"/>
                  </a:solidFill>
                  <a:latin typeface="+mn-lt"/>
                  <a:ea typeface="+mn-ea"/>
                  <a:cs typeface="+mn-cs"/>
                </a:rPr>
                <a:t>NCCL</a:t>
              </a:r>
            </a:p>
          </p:txBody>
        </p:sp>
        <p:sp>
          <p:nvSpPr>
            <p:cNvPr id="43" name="TextBox 43"/>
            <p:cNvSpPr txBox="1"/>
            <p:nvPr/>
          </p:nvSpPr>
          <p:spPr>
            <a:xfrm>
              <a:off x="10177018" y="3784997"/>
              <a:ext cx="639063"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 Horovod</a:t>
              </a:r>
            </a:p>
          </p:txBody>
        </p:sp>
        <p:sp>
          <p:nvSpPr>
            <p:cNvPr id="44" name="Rectangle 44"/>
            <p:cNvSpPr/>
            <p:nvPr/>
          </p:nvSpPr>
          <p:spPr>
            <a:xfrm>
              <a:off x="7772400" y="4191000"/>
              <a:ext cx="3810000" cy="876300"/>
            </a:xfrm>
            <a:prstGeom prst="roundRect">
              <a:avLst>
                <a:gd name="adj" fmla="val 10870"/>
              </a:avLst>
            </a:prstGeom>
            <a:solidFill>
              <a:schemeClr val="accent6"/>
            </a:solidFill>
            <a:ln w="14288">
              <a:solidFill>
                <a:srgbClr val="26455F"/>
              </a:solidFill>
            </a:ln>
          </p:spPr>
        </p:sp>
        <p:sp>
          <p:nvSpPr>
            <p:cNvPr id="45" name="TextBox 45"/>
            <p:cNvSpPr txBox="1"/>
            <p:nvPr/>
          </p:nvSpPr>
          <p:spPr>
            <a:xfrm>
              <a:off x="7957947" y="4352449"/>
              <a:ext cx="1420899" cy="190690"/>
            </a:xfrm>
            <a:prstGeom prst="rect">
              <a:avLst/>
            </a:prstGeom>
            <a:noFill/>
            <a:ln>
              <a:noFill/>
            </a:ln>
          </p:spPr>
          <p:txBody>
            <a:bodyPr wrap="none" lIns="0" tIns="0" rIns="0" bIns="0" anchor="t" anchorCtr="0">
              <a:spAutoFit/>
            </a:bodyPr>
            <a:lstStyle/>
            <a:p>
              <a:pPr algn="l"/>
              <a:r>
                <a:rPr lang="en-US" sz="980" b="1" dirty="0">
                  <a:solidFill>
                    <a:schemeClr val="dk2"/>
                  </a:solidFill>
                  <a:latin typeface="+mn-lt"/>
                  <a:ea typeface="+mn-ea"/>
                  <a:cs typeface="+mn-cs"/>
                </a:rPr>
                <a:t>Software &amp; accuracy</a:t>
              </a:r>
            </a:p>
          </p:txBody>
        </p:sp>
        <p:sp>
          <p:nvSpPr>
            <p:cNvPr id="46" name="TextBox 46"/>
            <p:cNvSpPr txBox="1"/>
            <p:nvPr/>
          </p:nvSpPr>
          <p:spPr>
            <a:xfrm>
              <a:off x="7957947" y="4561999"/>
              <a:ext cx="3358776"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PyTorch 1.8 · CUDA 11.0 · memory-momentum error</a:t>
              </a:r>
            </a:p>
          </p:txBody>
        </p:sp>
        <p:sp>
          <p:nvSpPr>
            <p:cNvPr id="47" name="TextBox 47"/>
            <p:cNvSpPr txBox="1"/>
            <p:nvPr/>
          </p:nvSpPr>
          <p:spPr>
            <a:xfrm>
              <a:off x="7957947" y="4742974"/>
              <a:ext cx="3136590"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feedback preserves accuracy for every method.</a:t>
              </a:r>
            </a:p>
          </p:txBody>
        </p:sp>
      </p:grpSp>
      <p:sp>
        <p:nvSpPr>
          <p:cNvPr id="49" name="cue_s06_c1_experiments_span_four_models_coverin" title="cue_s06_c1_experiments_span_four_models_coverin" descr="cue_s06_c1_experiments_span_four_models_coverin The experiments span four models covering both vision and recommendation-style workloads: ResNet50 trained on ImageNet, Vision Transformer and MLP-Mixer fine-tuned on Cifar10 from ImageNet-21k pretraining, and an extreme multi-label classification model on the"/>
          <p:cNvSpPr/>
          <p:nvPr/>
        </p:nvSpPr>
        <p:spPr>
          <a:xfrm>
            <a:off x="609600" y="1504645"/>
            <a:ext cx="6953097" cy="37334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6_c2_testbed_sixteen_nvidia_v100_gpus" title="cue_s06_c2_testbed_sixteen_nvidia_v100_gpus" descr="cue_s06_c2_testbed_sixteen_nvidia_v100_gpus The testbed is sixteen Nvidia V100 GPUs across two machines connected by a twenty-five gigabit network, running PyTorch with Horovod and NCCL, and using memory-momentum error feedback to preserve accuracy across all sparsification methods."/>
          <p:cNvSpPr/>
          <p:nvPr/>
        </p:nvSpPr>
        <p:spPr>
          <a:xfrm>
            <a:off x="7505395" y="1504645"/>
            <a:ext cx="4077004" cy="37334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130290"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KEY RESULT</a:t>
            </a:r>
          </a:p>
        </p:txBody>
      </p:sp>
      <p:sp>
        <p:nvSpPr>
          <p:cNvPr id="4" name="TextBox 4"/>
          <p:cNvSpPr txBox="1"/>
          <p:nvPr/>
        </p:nvSpPr>
        <p:spPr>
          <a:xfrm>
            <a:off x="598170" y="804862"/>
            <a:ext cx="6171246"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Compression cut, throughput multiplied</a:t>
            </a:r>
          </a:p>
        </p:txBody>
      </p:sp>
      <p:grpSp>
        <p:nvGrpSpPr>
          <p:cNvPr id="14" name="Group 14"/>
          <p:cNvGrpSpPr/>
          <p:nvPr/>
        </p:nvGrpSpPr>
        <p:grpSpPr>
          <a:xfrm>
            <a:off x="609600" y="1504950"/>
            <a:ext cx="5334000" cy="1428750"/>
            <a:chOff x="609600" y="1504950"/>
            <a:chExt cx="5334000" cy="1428750"/>
          </a:xfrm>
        </p:grpSpPr>
        <p:sp>
          <p:nvSpPr>
            <p:cNvPr id="5" name="Rectangle 5"/>
            <p:cNvSpPr/>
            <p:nvPr/>
          </p:nvSpPr>
          <p:spPr>
            <a:xfrm>
              <a:off x="609600" y="1504950"/>
              <a:ext cx="5334000" cy="1428750"/>
            </a:xfrm>
            <a:prstGeom prst="roundRect">
              <a:avLst>
                <a:gd name="adj" fmla="val 9333"/>
              </a:avLst>
            </a:prstGeom>
            <a:solidFill>
              <a:schemeClr val="accent5"/>
            </a:solidFill>
            <a:ln w="14288">
              <a:solidFill>
                <a:srgbClr val="26455F"/>
              </a:solidFill>
            </a:ln>
          </p:spPr>
        </p:sp>
        <p:sp>
          <p:nvSpPr>
            <p:cNvPr id="6" name="Rectangle 6"/>
            <p:cNvSpPr/>
            <p:nvPr/>
          </p:nvSpPr>
          <p:spPr>
            <a:xfrm>
              <a:off x="609600" y="1504950"/>
              <a:ext cx="57150" cy="1428750"/>
            </a:xfrm>
            <a:prstGeom prst="roundRect">
              <a:avLst>
                <a:gd name="adj" fmla="val 50000"/>
              </a:avLst>
            </a:prstGeom>
            <a:solidFill>
              <a:srgbClr val="34D3C0"/>
            </a:solidFill>
            <a:ln>
              <a:noFill/>
            </a:ln>
          </p:spPr>
        </p:sp>
        <p:sp>
          <p:nvSpPr>
            <p:cNvPr id="7" name="TextBox 7"/>
            <p:cNvSpPr txBox="1"/>
            <p:nvPr/>
          </p:nvSpPr>
          <p:spPr>
            <a:xfrm>
              <a:off x="870014" y="1733312"/>
              <a:ext cx="1499238" cy="242030"/>
            </a:xfrm>
            <a:prstGeom prst="rect">
              <a:avLst/>
            </a:prstGeom>
            <a:noFill/>
            <a:ln>
              <a:noFill/>
            </a:ln>
          </p:spPr>
          <p:txBody>
            <a:bodyPr wrap="none" lIns="0" tIns="0" rIns="0" bIns="0" anchor="t" anchorCtr="0">
              <a:spAutoFit/>
            </a:bodyPr>
            <a:lstStyle/>
            <a:p>
              <a:pPr algn="l"/>
              <a:r>
                <a:rPr lang="en-US" sz="1240" b="1" dirty="0">
                  <a:solidFill>
                    <a:srgbClr val="34D3C0"/>
                  </a:solidFill>
                  <a:latin typeface="+mn-lt"/>
                  <a:ea typeface="+mn-ea"/>
                  <a:cs typeface="+mn-cs"/>
                </a:rPr>
                <a:t>Compression time</a:t>
              </a:r>
            </a:p>
          </p:txBody>
        </p:sp>
        <p:sp>
          <p:nvSpPr>
            <p:cNvPr id="8" name="Rectangle 8"/>
            <p:cNvSpPr/>
            <p:nvPr/>
          </p:nvSpPr>
          <p:spPr>
            <a:xfrm>
              <a:off x="876300" y="2038350"/>
              <a:ext cx="1714500" cy="742950"/>
            </a:xfrm>
            <a:prstGeom prst="roundRect">
              <a:avLst>
                <a:gd name="adj" fmla="val 15385"/>
              </a:avLst>
            </a:prstGeom>
            <a:solidFill>
              <a:schemeClr val="accent6"/>
            </a:solidFill>
            <a:ln w="14288">
              <a:solidFill>
                <a:srgbClr val="26455F"/>
              </a:solidFill>
            </a:ln>
          </p:spPr>
        </p:sp>
        <p:sp>
          <p:nvSpPr>
            <p:cNvPr id="9" name="TextBox 9"/>
            <p:cNvSpPr txBox="1"/>
            <p:nvPr/>
          </p:nvSpPr>
          <p:spPr>
            <a:xfrm>
              <a:off x="1314267" y="2165604"/>
              <a:ext cx="838566" cy="469392"/>
            </a:xfrm>
            <a:prstGeom prst="rect">
              <a:avLst/>
            </a:prstGeom>
            <a:noFill/>
            <a:ln>
              <a:noFill/>
            </a:ln>
          </p:spPr>
          <p:txBody>
            <a:bodyPr wrap="none" lIns="0" tIns="0" rIns="0" bIns="0" anchor="t" anchorCtr="0">
              <a:spAutoFit/>
            </a:bodyPr>
            <a:lstStyle/>
            <a:p>
              <a:pPr algn="ctr"/>
              <a:r>
                <a:rPr lang="en-US" sz="2400" b="1" dirty="0">
                  <a:solidFill>
                    <a:srgbClr val="34D3C0"/>
                  </a:solidFill>
                  <a:latin typeface="+mn-lt"/>
                  <a:ea typeface="+mn-ea"/>
                  <a:cs typeface="+mn-cs"/>
                </a:rPr>
                <a:t>-70%</a:t>
              </a:r>
            </a:p>
          </p:txBody>
        </p:sp>
        <p:sp>
          <p:nvSpPr>
            <p:cNvPr id="10" name="TextBox 10"/>
            <p:cNvSpPr txBox="1"/>
            <p:nvPr/>
          </p:nvSpPr>
          <p:spPr>
            <a:xfrm>
              <a:off x="1113261" y="2527697"/>
              <a:ext cx="1240578"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vs best existing GS</a:t>
              </a:r>
            </a:p>
          </p:txBody>
        </p:sp>
        <p:sp>
          <p:nvSpPr>
            <p:cNvPr id="11" name="TextBox 11"/>
            <p:cNvSpPr txBox="1"/>
            <p:nvPr/>
          </p:nvSpPr>
          <p:spPr>
            <a:xfrm>
              <a:off x="2776156" y="2138601"/>
              <a:ext cx="2694457"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DRAGONN cuts compression time by up to</a:t>
              </a:r>
            </a:p>
          </p:txBody>
        </p:sp>
        <p:sp>
          <p:nvSpPr>
            <p:cNvPr id="12" name="TextBox 12"/>
            <p:cNvSpPr txBox="1"/>
            <p:nvPr/>
          </p:nvSpPr>
          <p:spPr>
            <a:xfrm>
              <a:off x="2776156" y="2329101"/>
              <a:ext cx="2702418"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seventy percent compared with the best</a:t>
              </a:r>
            </a:p>
          </p:txBody>
        </p:sp>
        <p:sp>
          <p:nvSpPr>
            <p:cNvPr id="13" name="TextBox 13"/>
            <p:cNvSpPr txBox="1"/>
            <p:nvPr/>
          </p:nvSpPr>
          <p:spPr>
            <a:xfrm>
              <a:off x="2776156" y="2519601"/>
              <a:ext cx="2002192"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prior sparsification methods.</a:t>
              </a:r>
            </a:p>
          </p:txBody>
        </p:sp>
      </p:grpSp>
      <p:grpSp>
        <p:nvGrpSpPr>
          <p:cNvPr id="32" name="Group 32"/>
          <p:cNvGrpSpPr/>
          <p:nvPr/>
        </p:nvGrpSpPr>
        <p:grpSpPr>
          <a:xfrm>
            <a:off x="609600" y="3086100"/>
            <a:ext cx="5458207" cy="2152650"/>
            <a:chOff x="609600" y="3086100"/>
            <a:chExt cx="5458207" cy="2152650"/>
          </a:xfrm>
        </p:grpSpPr>
        <p:sp>
          <p:nvSpPr>
            <p:cNvPr id="15" name="Rectangle 15"/>
            <p:cNvSpPr/>
            <p:nvPr/>
          </p:nvSpPr>
          <p:spPr>
            <a:xfrm>
              <a:off x="609600" y="3086100"/>
              <a:ext cx="5334000" cy="2152650"/>
            </a:xfrm>
            <a:prstGeom prst="roundRect">
              <a:avLst>
                <a:gd name="adj" fmla="val 6195"/>
              </a:avLst>
            </a:prstGeom>
            <a:solidFill>
              <a:schemeClr val="accent5"/>
            </a:solidFill>
            <a:ln w="14288">
              <a:solidFill>
                <a:srgbClr val="26455F"/>
              </a:solidFill>
            </a:ln>
          </p:spPr>
        </p:sp>
        <p:sp>
          <p:nvSpPr>
            <p:cNvPr id="16" name="Rectangle 16"/>
            <p:cNvSpPr/>
            <p:nvPr/>
          </p:nvSpPr>
          <p:spPr>
            <a:xfrm>
              <a:off x="609600" y="3086100"/>
              <a:ext cx="57150" cy="2152650"/>
            </a:xfrm>
            <a:prstGeom prst="roundRect">
              <a:avLst>
                <a:gd name="adj" fmla="val 50000"/>
              </a:avLst>
            </a:prstGeom>
            <a:solidFill>
              <a:srgbClr val="48C78E"/>
            </a:solidFill>
            <a:ln>
              <a:noFill/>
            </a:ln>
          </p:spPr>
        </p:sp>
        <p:sp>
          <p:nvSpPr>
            <p:cNvPr id="17" name="TextBox 17"/>
            <p:cNvSpPr txBox="1"/>
            <p:nvPr/>
          </p:nvSpPr>
          <p:spPr>
            <a:xfrm>
              <a:off x="870585" y="3307556"/>
              <a:ext cx="3665585"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Total training throughput at equal convergence</a:t>
              </a:r>
            </a:p>
          </p:txBody>
        </p:sp>
        <p:sp>
          <p:nvSpPr>
            <p:cNvPr id="18" name="Rectangle 18"/>
            <p:cNvSpPr/>
            <p:nvPr/>
          </p:nvSpPr>
          <p:spPr>
            <a:xfrm>
              <a:off x="2857500" y="3657600"/>
              <a:ext cx="2286000" cy="247650"/>
            </a:xfrm>
            <a:prstGeom prst="roundRect">
              <a:avLst>
                <a:gd name="adj" fmla="val 23077"/>
              </a:avLst>
            </a:prstGeom>
            <a:solidFill>
              <a:srgbClr val="0E2334"/>
            </a:solidFill>
            <a:ln w="9525">
              <a:solidFill>
                <a:srgbClr val="26455F"/>
              </a:solidFill>
            </a:ln>
          </p:spPr>
        </p:sp>
        <p:sp>
          <p:nvSpPr>
            <p:cNvPr id="19" name="Rectangle 19"/>
            <p:cNvSpPr/>
            <p:nvPr/>
          </p:nvSpPr>
          <p:spPr>
            <a:xfrm>
              <a:off x="2857500" y="3657600"/>
              <a:ext cx="57150" cy="247650"/>
            </a:xfrm>
            <a:prstGeom prst="roundRect">
              <a:avLst>
                <a:gd name="adj" fmla="val 50000"/>
              </a:avLst>
            </a:prstGeom>
            <a:solidFill>
              <a:schemeClr val="dk2"/>
            </a:solidFill>
            <a:ln>
              <a:noFill/>
            </a:ln>
          </p:spPr>
        </p:sp>
        <p:sp>
          <p:nvSpPr>
            <p:cNvPr id="20" name="TextBox 20"/>
            <p:cNvSpPr txBox="1"/>
            <p:nvPr/>
          </p:nvSpPr>
          <p:spPr>
            <a:xfrm>
              <a:off x="2020556" y="3722561"/>
              <a:ext cx="727978"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FULL sync</a:t>
              </a:r>
            </a:p>
          </p:txBody>
        </p:sp>
        <p:sp>
          <p:nvSpPr>
            <p:cNvPr id="21" name="TextBox 21"/>
            <p:cNvSpPr txBox="1"/>
            <p:nvPr/>
          </p:nvSpPr>
          <p:spPr>
            <a:xfrm>
              <a:off x="3004566" y="3722561"/>
              <a:ext cx="173928"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1x</a:t>
              </a:r>
            </a:p>
          </p:txBody>
        </p:sp>
        <p:sp>
          <p:nvSpPr>
            <p:cNvPr id="22" name="Rectangle 22"/>
            <p:cNvSpPr/>
            <p:nvPr/>
          </p:nvSpPr>
          <p:spPr>
            <a:xfrm>
              <a:off x="2857500" y="4000500"/>
              <a:ext cx="2286000" cy="247650"/>
            </a:xfrm>
            <a:prstGeom prst="roundRect">
              <a:avLst>
                <a:gd name="adj" fmla="val 23077"/>
              </a:avLst>
            </a:prstGeom>
            <a:solidFill>
              <a:srgbClr val="0E2334"/>
            </a:solidFill>
            <a:ln w="9525">
              <a:solidFill>
                <a:srgbClr val="26455F"/>
              </a:solidFill>
            </a:ln>
          </p:spPr>
        </p:sp>
        <p:sp>
          <p:nvSpPr>
            <p:cNvPr id="23" name="Rectangle 23"/>
            <p:cNvSpPr/>
            <p:nvPr/>
          </p:nvSpPr>
          <p:spPr>
            <a:xfrm>
              <a:off x="2857500" y="4000500"/>
              <a:ext cx="647700" cy="247650"/>
            </a:xfrm>
            <a:prstGeom prst="roundRect">
              <a:avLst>
                <a:gd name="adj" fmla="val 23077"/>
              </a:avLst>
            </a:prstGeom>
            <a:solidFill>
              <a:schemeClr val="accent2"/>
            </a:solidFill>
            <a:ln>
              <a:noFill/>
            </a:ln>
          </p:spPr>
        </p:sp>
        <p:sp>
          <p:nvSpPr>
            <p:cNvPr id="24" name="TextBox 24"/>
            <p:cNvSpPr txBox="1"/>
            <p:nvPr/>
          </p:nvSpPr>
          <p:spPr>
            <a:xfrm>
              <a:off x="2479114" y="4065461"/>
              <a:ext cx="269420"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DGC</a:t>
              </a:r>
            </a:p>
          </p:txBody>
        </p:sp>
        <p:sp>
          <p:nvSpPr>
            <p:cNvPr id="25" name="TextBox 25"/>
            <p:cNvSpPr txBox="1"/>
            <p:nvPr/>
          </p:nvSpPr>
          <p:spPr>
            <a:xfrm>
              <a:off x="3595116" y="4065461"/>
              <a:ext cx="337189"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mn-lt"/>
                  <a:ea typeface="+mn-ea"/>
                  <a:cs typeface="+mn-cs"/>
                </a:rPr>
                <a:t>~10x</a:t>
              </a:r>
            </a:p>
          </p:txBody>
        </p:sp>
        <p:sp>
          <p:nvSpPr>
            <p:cNvPr id="26" name="Rectangle 26"/>
            <p:cNvSpPr/>
            <p:nvPr/>
          </p:nvSpPr>
          <p:spPr>
            <a:xfrm>
              <a:off x="2857500" y="4343400"/>
              <a:ext cx="2286000" cy="247650"/>
            </a:xfrm>
            <a:prstGeom prst="roundRect">
              <a:avLst>
                <a:gd name="adj" fmla="val 23077"/>
              </a:avLst>
            </a:prstGeom>
            <a:solidFill>
              <a:srgbClr val="0E2334"/>
            </a:solidFill>
            <a:ln w="9525">
              <a:solidFill>
                <a:srgbClr val="26455F"/>
              </a:solidFill>
            </a:ln>
          </p:spPr>
        </p:sp>
        <p:sp>
          <p:nvSpPr>
            <p:cNvPr id="27" name="Rectangle 27"/>
            <p:cNvSpPr/>
            <p:nvPr/>
          </p:nvSpPr>
          <p:spPr>
            <a:xfrm>
              <a:off x="2857500" y="4343400"/>
              <a:ext cx="2286000" cy="247650"/>
            </a:xfrm>
            <a:prstGeom prst="roundRect">
              <a:avLst>
                <a:gd name="adj" fmla="val 23077"/>
              </a:avLst>
            </a:prstGeom>
            <a:solidFill>
              <a:srgbClr val="48C78E"/>
            </a:solidFill>
            <a:ln>
              <a:noFill/>
            </a:ln>
          </p:spPr>
        </p:sp>
        <p:sp>
          <p:nvSpPr>
            <p:cNvPr id="28" name="TextBox 28"/>
            <p:cNvSpPr txBox="1"/>
            <p:nvPr/>
          </p:nvSpPr>
          <p:spPr>
            <a:xfrm>
              <a:off x="2102747" y="4408361"/>
              <a:ext cx="645787"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DRAGONN</a:t>
              </a:r>
            </a:p>
          </p:txBody>
        </p:sp>
        <p:sp>
          <p:nvSpPr>
            <p:cNvPr id="29" name="TextBox 29"/>
            <p:cNvSpPr txBox="1"/>
            <p:nvPr/>
          </p:nvSpPr>
          <p:spPr>
            <a:xfrm>
              <a:off x="5233416" y="4408361"/>
              <a:ext cx="834391" cy="205359"/>
            </a:xfrm>
            <a:prstGeom prst="rect">
              <a:avLst/>
            </a:prstGeom>
            <a:noFill/>
            <a:ln>
              <a:noFill/>
            </a:ln>
          </p:spPr>
          <p:txBody>
            <a:bodyPr wrap="none" lIns="0" tIns="0" rIns="0" bIns="0" anchor="t" anchorCtr="0">
              <a:spAutoFit/>
            </a:bodyPr>
            <a:lstStyle/>
            <a:p>
              <a:pPr algn="l"/>
              <a:r>
                <a:rPr lang="en-US" sz="1050" b="1" dirty="0">
                  <a:solidFill>
                    <a:srgbClr val="48C78E"/>
                  </a:solidFill>
                  <a:latin typeface="+mn-lt"/>
                  <a:ea typeface="+mn-ea"/>
                  <a:cs typeface="+mn-cs"/>
                </a:rPr>
                <a:t>up to 35.9x</a:t>
              </a:r>
            </a:p>
          </p:txBody>
        </p:sp>
        <p:sp>
          <p:nvSpPr>
            <p:cNvPr id="30" name="Rectangle 30"/>
            <p:cNvSpPr/>
            <p:nvPr/>
          </p:nvSpPr>
          <p:spPr>
            <a:xfrm>
              <a:off x="876300" y="4724400"/>
              <a:ext cx="4800600" cy="400050"/>
            </a:xfrm>
            <a:prstGeom prst="roundRect">
              <a:avLst>
                <a:gd name="adj" fmla="val 23810"/>
              </a:avLst>
            </a:prstGeom>
            <a:solidFill>
              <a:srgbClr val="0F2E2B"/>
            </a:solidFill>
            <a:ln w="14288">
              <a:solidFill>
                <a:srgbClr val="48C78E"/>
              </a:solidFill>
            </a:ln>
          </p:spPr>
        </p:sp>
        <p:sp>
          <p:nvSpPr>
            <p:cNvPr id="31" name="TextBox 31"/>
            <p:cNvSpPr txBox="1"/>
            <p:nvPr/>
          </p:nvSpPr>
          <p:spPr>
            <a:xfrm>
              <a:off x="1061466" y="4858702"/>
              <a:ext cx="4377349" cy="205359"/>
            </a:xfrm>
            <a:prstGeom prst="rect">
              <a:avLst/>
            </a:prstGeom>
            <a:noFill/>
            <a:ln>
              <a:noFill/>
            </a:ln>
          </p:spPr>
          <p:txBody>
            <a:bodyPr wrap="none" lIns="0" tIns="0" rIns="0" bIns="0" anchor="t" anchorCtr="0">
              <a:spAutoFit/>
            </a:bodyPr>
            <a:lstStyle/>
            <a:p>
              <a:pPr algn="l"/>
              <a:r>
                <a:rPr lang="en-US" sz="1050" b="1" dirty="0">
                  <a:solidFill>
                    <a:srgbClr val="48C78E"/>
                  </a:solidFill>
                  <a:latin typeface="+mn-lt"/>
                  <a:ea typeface="+mn-ea"/>
                  <a:cs typeface="+mn-cs"/>
                </a:rPr>
                <a:t>Up to 3.52x over DGC — and it matches FULL's test accuracy</a:t>
              </a:r>
            </a:p>
          </p:txBody>
        </p:sp>
      </p:grpSp>
      <p:grpSp>
        <p:nvGrpSpPr>
          <p:cNvPr id="53" name="Group 53"/>
          <p:cNvGrpSpPr/>
          <p:nvPr/>
        </p:nvGrpSpPr>
        <p:grpSpPr>
          <a:xfrm>
            <a:off x="6248400" y="1504950"/>
            <a:ext cx="5334000" cy="3733800"/>
            <a:chOff x="6248400" y="1504950"/>
            <a:chExt cx="5334000" cy="3733800"/>
          </a:xfrm>
        </p:grpSpPr>
        <p:sp>
          <p:nvSpPr>
            <p:cNvPr id="33" name="Rectangle 33"/>
            <p:cNvSpPr/>
            <p:nvPr/>
          </p:nvSpPr>
          <p:spPr>
            <a:xfrm>
              <a:off x="6248400" y="1504950"/>
              <a:ext cx="5334000" cy="3733800"/>
            </a:xfrm>
            <a:prstGeom prst="roundRect">
              <a:avLst>
                <a:gd name="adj" fmla="val 3571"/>
              </a:avLst>
            </a:prstGeom>
            <a:solidFill>
              <a:srgbClr val="2A2417"/>
            </a:solidFill>
            <a:ln w="14288">
              <a:solidFill>
                <a:srgbClr val="F2C14E"/>
              </a:solidFill>
            </a:ln>
          </p:spPr>
        </p:sp>
        <p:sp>
          <p:nvSpPr>
            <p:cNvPr id="34" name="Rectangle 34"/>
            <p:cNvSpPr/>
            <p:nvPr/>
          </p:nvSpPr>
          <p:spPr>
            <a:xfrm>
              <a:off x="6248400" y="1504950"/>
              <a:ext cx="57150" cy="3733800"/>
            </a:xfrm>
            <a:prstGeom prst="roundRect">
              <a:avLst>
                <a:gd name="adj" fmla="val 50000"/>
              </a:avLst>
            </a:prstGeom>
            <a:solidFill>
              <a:srgbClr val="F2C14E"/>
            </a:solidFill>
            <a:ln>
              <a:noFill/>
            </a:ln>
          </p:spPr>
        </p:sp>
        <p:sp>
          <p:nvSpPr>
            <p:cNvPr id="35" name="TextBox 35"/>
            <p:cNvSpPr txBox="1"/>
            <p:nvPr/>
          </p:nvSpPr>
          <p:spPr>
            <a:xfrm>
              <a:off x="6508242" y="1759268"/>
              <a:ext cx="2386310" cy="264033"/>
            </a:xfrm>
            <a:prstGeom prst="rect">
              <a:avLst/>
            </a:prstGeom>
            <a:noFill/>
            <a:ln>
              <a:noFill/>
            </a:ln>
          </p:spPr>
          <p:txBody>
            <a:bodyPr wrap="none" lIns="0" tIns="0" rIns="0" bIns="0" anchor="t" anchorCtr="0">
              <a:spAutoFit/>
            </a:bodyPr>
            <a:lstStyle/>
            <a:p>
              <a:pPr algn="l"/>
              <a:r>
                <a:rPr lang="en-US" sz="1350" b="1" dirty="0">
                  <a:solidFill>
                    <a:srgbClr val="F2C14E"/>
                  </a:solidFill>
                  <a:latin typeface="+mn-lt"/>
                  <a:ea typeface="+mn-ea"/>
                  <a:cs typeface="+mn-cs"/>
                </a:rPr>
                <a:t>The lead grows with scale</a:t>
              </a:r>
            </a:p>
          </p:txBody>
        </p:sp>
        <p:sp>
          <p:nvSpPr>
            <p:cNvPr id="36" name="TextBox 36"/>
            <p:cNvSpPr txBox="1"/>
            <p:nvPr/>
          </p:nvSpPr>
          <p:spPr>
            <a:xfrm>
              <a:off x="6509576" y="2092404"/>
              <a:ext cx="4033252"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DRAGONN's advantage over DGC widens as more GPUs are</a:t>
              </a:r>
            </a:p>
          </p:txBody>
        </p:sp>
        <p:sp>
          <p:nvSpPr>
            <p:cNvPr id="37" name="TextBox 37"/>
            <p:cNvSpPr txBox="1"/>
            <p:nvPr/>
          </p:nvSpPr>
          <p:spPr>
            <a:xfrm>
              <a:off x="6509576" y="2301954"/>
              <a:ext cx="2791692"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added — evidence of strong scalability.</a:t>
              </a:r>
            </a:p>
          </p:txBody>
        </p:sp>
        <p:sp>
          <p:nvSpPr>
            <p:cNvPr id="38" name="Rectangle 38"/>
            <p:cNvSpPr/>
            <p:nvPr/>
          </p:nvSpPr>
          <p:spPr>
            <a:xfrm>
              <a:off x="6515100" y="2819400"/>
              <a:ext cx="4800600" cy="1809750"/>
            </a:xfrm>
            <a:prstGeom prst="roundRect">
              <a:avLst>
                <a:gd name="adj" fmla="val 5263"/>
              </a:avLst>
            </a:prstGeom>
            <a:solidFill>
              <a:srgbClr val="1A1608"/>
            </a:solidFill>
            <a:ln w="14288">
              <a:solidFill>
                <a:srgbClr val="26455F"/>
              </a:solidFill>
            </a:ln>
          </p:spPr>
        </p:sp>
        <p:sp>
          <p:nvSpPr>
            <p:cNvPr id="39" name="Line 39"/>
            <p:cNvSpPr/>
            <p:nvPr/>
          </p:nvSpPr>
          <p:spPr>
            <a:xfrm>
              <a:off x="6934200" y="2990850"/>
              <a:ext cx="9525" cy="1352550"/>
            </a:xfrm>
            <a:custGeom>
              <a:avLst/>
              <a:gdLst/>
              <a:ahLst/>
              <a:cxnLst/>
              <a:rect l="l" t="t" r="r" b="b"/>
              <a:pathLst>
                <a:path w="9525" h="1352550">
                  <a:moveTo>
                    <a:pt x="0" y="0"/>
                  </a:moveTo>
                  <a:lnTo>
                    <a:pt x="0" y="1352550"/>
                  </a:lnTo>
                </a:path>
              </a:pathLst>
            </a:custGeom>
            <a:noFill/>
            <a:ln w="11430" cap="rnd">
              <a:solidFill>
                <a:srgbClr val="26455F"/>
              </a:solidFill>
            </a:ln>
          </p:spPr>
        </p:sp>
        <p:sp>
          <p:nvSpPr>
            <p:cNvPr id="40" name="Line 40"/>
            <p:cNvSpPr/>
            <p:nvPr/>
          </p:nvSpPr>
          <p:spPr>
            <a:xfrm>
              <a:off x="6934200" y="4343400"/>
              <a:ext cx="4191000" cy="9525"/>
            </a:xfrm>
            <a:custGeom>
              <a:avLst/>
              <a:gdLst/>
              <a:ahLst/>
              <a:cxnLst/>
              <a:rect l="l" t="t" r="r" b="b"/>
              <a:pathLst>
                <a:path w="4191000" h="9525">
                  <a:moveTo>
                    <a:pt x="0" y="0"/>
                  </a:moveTo>
                  <a:lnTo>
                    <a:pt x="4191000" y="0"/>
                  </a:lnTo>
                </a:path>
              </a:pathLst>
            </a:custGeom>
            <a:noFill/>
            <a:ln w="11430" cap="rnd">
              <a:solidFill>
                <a:srgbClr val="26455F"/>
              </a:solidFill>
            </a:ln>
          </p:spPr>
        </p:sp>
        <p:sp>
          <p:nvSpPr>
            <p:cNvPr id="41" name="TextBox 41"/>
            <p:cNvSpPr txBox="1"/>
            <p:nvPr/>
          </p:nvSpPr>
          <p:spPr>
            <a:xfrm>
              <a:off x="6700838" y="3020139"/>
              <a:ext cx="439444" cy="154781"/>
            </a:xfrm>
            <a:prstGeom prst="rect">
              <a:avLst/>
            </a:prstGeom>
            <a:noFill/>
            <a:ln>
              <a:noFill/>
            </a:ln>
          </p:spPr>
          <p:txBody>
            <a:bodyPr wrap="none" lIns="0" tIns="0" rIns="0" bIns="0" anchor="t" anchorCtr="0">
              <a:spAutoFit/>
            </a:bodyPr>
            <a:lstStyle/>
            <a:p>
              <a:pPr algn="l"/>
              <a:r>
                <a:rPr lang="en-US" sz="790" b="1" dirty="0">
                  <a:solidFill>
                    <a:srgbClr val="6E869C"/>
                  </a:solidFill>
                  <a:latin typeface="+mn-lt"/>
                  <a:ea typeface="+mn-ea"/>
                  <a:cs typeface="+mn-cs"/>
                </a:rPr>
                <a:t>speedup</a:t>
              </a:r>
            </a:p>
          </p:txBody>
        </p:sp>
        <p:sp>
          <p:nvSpPr>
            <p:cNvPr id="42" name="TextBox 42"/>
            <p:cNvSpPr txBox="1"/>
            <p:nvPr/>
          </p:nvSpPr>
          <p:spPr>
            <a:xfrm>
              <a:off x="10582751" y="4444841"/>
              <a:ext cx="547212" cy="161925"/>
            </a:xfrm>
            <a:prstGeom prst="rect">
              <a:avLst/>
            </a:prstGeom>
            <a:noFill/>
            <a:ln>
              <a:noFill/>
            </a:ln>
          </p:spPr>
          <p:txBody>
            <a:bodyPr wrap="none" lIns="0" tIns="0" rIns="0" bIns="0" anchor="t" anchorCtr="0">
              <a:spAutoFit/>
            </a:bodyPr>
            <a:lstStyle/>
            <a:p>
              <a:pPr algn="r"/>
              <a:r>
                <a:rPr lang="en-US" sz="820" b="1" dirty="0">
                  <a:solidFill>
                    <a:srgbClr val="6E869C"/>
                  </a:solidFill>
                  <a:latin typeface="+mn-lt"/>
                  <a:ea typeface="+mn-ea"/>
                  <a:cs typeface="+mn-cs"/>
                </a:rPr>
                <a:t># GPUs -&gt;</a:t>
              </a:r>
            </a:p>
          </p:txBody>
        </p:sp>
        <p:sp>
          <p:nvSpPr>
            <p:cNvPr id="43" name="TextBox 43"/>
            <p:cNvSpPr txBox="1"/>
            <p:nvPr/>
          </p:nvSpPr>
          <p:spPr>
            <a:xfrm>
              <a:off x="7278563" y="4425791"/>
              <a:ext cx="73274" cy="161925"/>
            </a:xfrm>
            <a:prstGeom prst="rect">
              <a:avLst/>
            </a:prstGeom>
            <a:noFill/>
            <a:ln>
              <a:noFill/>
            </a:ln>
          </p:spPr>
          <p:txBody>
            <a:bodyPr wrap="none" lIns="0" tIns="0" rIns="0" bIns="0" anchor="t" anchorCtr="0">
              <a:spAutoFit/>
            </a:bodyPr>
            <a:lstStyle/>
            <a:p>
              <a:pPr algn="ctr"/>
              <a:r>
                <a:rPr lang="en-US" sz="820" b="1" dirty="0">
                  <a:solidFill>
                    <a:schemeClr val="dk2"/>
                  </a:solidFill>
                  <a:latin typeface="+mn-lt"/>
                  <a:ea typeface="+mn-ea"/>
                  <a:cs typeface="+mn-cs"/>
                </a:rPr>
                <a:t>4</a:t>
              </a:r>
            </a:p>
          </p:txBody>
        </p:sp>
        <p:sp>
          <p:nvSpPr>
            <p:cNvPr id="44" name="Ellipse 44"/>
            <p:cNvSpPr/>
            <p:nvPr/>
          </p:nvSpPr>
          <p:spPr>
            <a:xfrm>
              <a:off x="7267575" y="3790950"/>
              <a:ext cx="95250" cy="95250"/>
            </a:xfrm>
            <a:prstGeom prst="ellipse">
              <a:avLst/>
            </a:prstGeom>
            <a:solidFill>
              <a:srgbClr val="F2C14E"/>
            </a:solidFill>
            <a:ln>
              <a:noFill/>
            </a:ln>
          </p:spPr>
        </p:sp>
        <p:sp>
          <p:nvSpPr>
            <p:cNvPr id="45" name="TextBox 45"/>
            <p:cNvSpPr txBox="1"/>
            <p:nvPr/>
          </p:nvSpPr>
          <p:spPr>
            <a:xfrm>
              <a:off x="7135516" y="3627120"/>
              <a:ext cx="359369" cy="176212"/>
            </a:xfrm>
            <a:prstGeom prst="rect">
              <a:avLst/>
            </a:prstGeom>
            <a:noFill/>
            <a:ln>
              <a:noFill/>
            </a:ln>
          </p:spPr>
          <p:txBody>
            <a:bodyPr wrap="none" lIns="0" tIns="0" rIns="0" bIns="0" anchor="t" anchorCtr="0">
              <a:spAutoFit/>
            </a:bodyPr>
            <a:lstStyle/>
            <a:p>
              <a:pPr algn="ctr"/>
              <a:r>
                <a:rPr lang="en-US" sz="900" b="1" dirty="0">
                  <a:solidFill>
                    <a:srgbClr val="F2C14E"/>
                  </a:solidFill>
                  <a:latin typeface="+mn-lt"/>
                  <a:ea typeface="+mn-ea"/>
                  <a:cs typeface="+mn-cs"/>
                </a:rPr>
                <a:t>1.60x</a:t>
              </a:r>
            </a:p>
          </p:txBody>
        </p:sp>
        <p:sp>
          <p:nvSpPr>
            <p:cNvPr id="46" name="TextBox 46"/>
            <p:cNvSpPr txBox="1"/>
            <p:nvPr/>
          </p:nvSpPr>
          <p:spPr>
            <a:xfrm>
              <a:off x="8612063" y="4425791"/>
              <a:ext cx="73274" cy="161925"/>
            </a:xfrm>
            <a:prstGeom prst="rect">
              <a:avLst/>
            </a:prstGeom>
            <a:noFill/>
            <a:ln>
              <a:noFill/>
            </a:ln>
          </p:spPr>
          <p:txBody>
            <a:bodyPr wrap="none" lIns="0" tIns="0" rIns="0" bIns="0" anchor="t" anchorCtr="0">
              <a:spAutoFit/>
            </a:bodyPr>
            <a:lstStyle/>
            <a:p>
              <a:pPr algn="ctr"/>
              <a:r>
                <a:rPr lang="en-US" sz="820" b="1" dirty="0">
                  <a:solidFill>
                    <a:schemeClr val="dk2"/>
                  </a:solidFill>
                  <a:latin typeface="+mn-lt"/>
                  <a:ea typeface="+mn-ea"/>
                  <a:cs typeface="+mn-cs"/>
                </a:rPr>
                <a:t>8</a:t>
              </a:r>
            </a:p>
          </p:txBody>
        </p:sp>
        <p:sp>
          <p:nvSpPr>
            <p:cNvPr id="47" name="Ellipse 47"/>
            <p:cNvSpPr/>
            <p:nvPr/>
          </p:nvSpPr>
          <p:spPr>
            <a:xfrm>
              <a:off x="8601075" y="3562350"/>
              <a:ext cx="95250" cy="95250"/>
            </a:xfrm>
            <a:prstGeom prst="ellipse">
              <a:avLst/>
            </a:prstGeom>
            <a:solidFill>
              <a:srgbClr val="F2C14E"/>
            </a:solidFill>
            <a:ln>
              <a:noFill/>
            </a:ln>
          </p:spPr>
        </p:sp>
        <p:sp>
          <p:nvSpPr>
            <p:cNvPr id="48" name="TextBox 48"/>
            <p:cNvSpPr txBox="1"/>
            <p:nvPr/>
          </p:nvSpPr>
          <p:spPr>
            <a:xfrm>
              <a:off x="8469016" y="3398520"/>
              <a:ext cx="359369" cy="176212"/>
            </a:xfrm>
            <a:prstGeom prst="rect">
              <a:avLst/>
            </a:prstGeom>
            <a:noFill/>
            <a:ln>
              <a:noFill/>
            </a:ln>
          </p:spPr>
          <p:txBody>
            <a:bodyPr wrap="none" lIns="0" tIns="0" rIns="0" bIns="0" anchor="t" anchorCtr="0">
              <a:spAutoFit/>
            </a:bodyPr>
            <a:lstStyle/>
            <a:p>
              <a:pPr algn="ctr"/>
              <a:r>
                <a:rPr lang="en-US" sz="900" b="1" dirty="0">
                  <a:solidFill>
                    <a:srgbClr val="F2C14E"/>
                  </a:solidFill>
                  <a:latin typeface="+mn-lt"/>
                  <a:ea typeface="+mn-ea"/>
                  <a:cs typeface="+mn-cs"/>
                </a:rPr>
                <a:t>2.30x</a:t>
              </a:r>
            </a:p>
          </p:txBody>
        </p:sp>
        <p:sp>
          <p:nvSpPr>
            <p:cNvPr id="49" name="TextBox 49"/>
            <p:cNvSpPr txBox="1"/>
            <p:nvPr/>
          </p:nvSpPr>
          <p:spPr>
            <a:xfrm>
              <a:off x="10104188" y="4425791"/>
              <a:ext cx="137024" cy="161925"/>
            </a:xfrm>
            <a:prstGeom prst="rect">
              <a:avLst/>
            </a:prstGeom>
            <a:noFill/>
            <a:ln>
              <a:noFill/>
            </a:ln>
          </p:spPr>
          <p:txBody>
            <a:bodyPr wrap="none" lIns="0" tIns="0" rIns="0" bIns="0" anchor="t" anchorCtr="0">
              <a:spAutoFit/>
            </a:bodyPr>
            <a:lstStyle/>
            <a:p>
              <a:pPr algn="ctr"/>
              <a:r>
                <a:rPr lang="en-US" sz="820" b="1" dirty="0">
                  <a:solidFill>
                    <a:schemeClr val="dk2"/>
                  </a:solidFill>
                  <a:latin typeface="+mn-lt"/>
                  <a:ea typeface="+mn-ea"/>
                  <a:cs typeface="+mn-cs"/>
                </a:rPr>
                <a:t>16</a:t>
              </a:r>
            </a:p>
          </p:txBody>
        </p:sp>
        <p:sp>
          <p:nvSpPr>
            <p:cNvPr id="50" name="Ellipse 50"/>
            <p:cNvSpPr/>
            <p:nvPr/>
          </p:nvSpPr>
          <p:spPr>
            <a:xfrm>
              <a:off x="10125075" y="3181350"/>
              <a:ext cx="95250" cy="95250"/>
            </a:xfrm>
            <a:prstGeom prst="ellipse">
              <a:avLst/>
            </a:prstGeom>
            <a:solidFill>
              <a:srgbClr val="F2C14E"/>
            </a:solidFill>
            <a:ln>
              <a:noFill/>
            </a:ln>
          </p:spPr>
        </p:sp>
        <p:sp>
          <p:nvSpPr>
            <p:cNvPr id="51" name="TextBox 51"/>
            <p:cNvSpPr txBox="1"/>
            <p:nvPr/>
          </p:nvSpPr>
          <p:spPr>
            <a:xfrm>
              <a:off x="9993016" y="3017520"/>
              <a:ext cx="359369" cy="176212"/>
            </a:xfrm>
            <a:prstGeom prst="rect">
              <a:avLst/>
            </a:prstGeom>
            <a:noFill/>
            <a:ln>
              <a:noFill/>
            </a:ln>
          </p:spPr>
          <p:txBody>
            <a:bodyPr wrap="none" lIns="0" tIns="0" rIns="0" bIns="0" anchor="t" anchorCtr="0">
              <a:spAutoFit/>
            </a:bodyPr>
            <a:lstStyle/>
            <a:p>
              <a:pPr algn="ctr"/>
              <a:r>
                <a:rPr lang="en-US" sz="900" b="1" dirty="0">
                  <a:solidFill>
                    <a:srgbClr val="F2C14E"/>
                  </a:solidFill>
                  <a:latin typeface="+mn-lt"/>
                  <a:ea typeface="+mn-ea"/>
                  <a:cs typeface="+mn-cs"/>
                </a:rPr>
                <a:t>3.52x</a:t>
              </a:r>
            </a:p>
          </p:txBody>
        </p:sp>
        <p:sp>
          <p:nvSpPr>
            <p:cNvPr id="52" name="Polyline 52"/>
            <p:cNvSpPr/>
            <p:nvPr/>
          </p:nvSpPr>
          <p:spPr>
            <a:xfrm>
              <a:off x="7315200" y="3228975"/>
              <a:ext cx="2857500" cy="609600"/>
            </a:xfrm>
            <a:custGeom>
              <a:avLst/>
              <a:gdLst/>
              <a:ahLst/>
              <a:cxnLst/>
              <a:rect l="l" t="t" r="r" b="b"/>
              <a:pathLst>
                <a:path w="2857500" h="609600">
                  <a:moveTo>
                    <a:pt x="0" y="609600"/>
                  </a:moveTo>
                  <a:lnTo>
                    <a:pt x="1333500" y="381000"/>
                  </a:lnTo>
                  <a:lnTo>
                    <a:pt x="2857500" y="0"/>
                  </a:lnTo>
                </a:path>
              </a:pathLst>
            </a:custGeom>
            <a:noFill/>
            <a:ln w="24765">
              <a:solidFill>
                <a:srgbClr val="F2C14E"/>
              </a:solidFill>
            </a:ln>
          </p:spPr>
        </p:sp>
      </p:grpSp>
      <p:sp>
        <p:nvSpPr>
          <p:cNvPr id="54" name="TextBox 54"/>
          <p:cNvSpPr txBox="1"/>
          <p:nvPr/>
        </p:nvSpPr>
        <p:spPr>
          <a:xfrm>
            <a:off x="604266" y="6077902"/>
            <a:ext cx="6523868"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Faster networks would tilt the balance further toward compression — widening the gains.</a:t>
            </a:r>
          </a:p>
        </p:txBody>
      </p:sp>
      <p:sp>
        <p:nvSpPr>
          <p:cNvPr id="55" name="cue_s07_c1_headline_result_dragonn_cuts_compres" title="cue_s07_c1_headline_result_dragonn_cuts_compres" descr="cue_s07_c1_headline_result_dragonn_cuts_compres The headline result is that DRAGONN cuts compression time by up to seventy percent compared to the best existing sparsification methods."/>
          <p:cNvSpPr/>
          <p:nvPr/>
        </p:nvSpPr>
        <p:spPr>
          <a:xfrm>
            <a:off x="609600" y="1504645"/>
            <a:ext cx="53340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cue_s07_c2_reaching_same_level_convergence_deli" title="cue_s07_c2_reaching_same_level_convergence_deli" descr="cue_s07_c2_reaching_same_level_convergence_deli Reaching the same level of convergence, it delivers up to three-and-a-half times higher total training throughput than Deep Gradient Compression, and up to nearly thirty-six times over full gradient synchronization, all while matching the test accuracy of full"/>
          <p:cNvSpPr/>
          <p:nvPr/>
        </p:nvSpPr>
        <p:spPr>
          <a:xfrm>
            <a:off x="609600" y="3086100"/>
            <a:ext cx="5458358" cy="21527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cue_s07_c3_importantly_its_advantage_over_dgc" title="cue_s07_c3_importantly_its_advantage_over_dgc" descr="cue_s07_c3_importantly_its_advantage_over_dgc Importantly, its advantage over DGC grows as more GPUs are added, which signals strong scalability, and the authors expect the gains to widen further on faster networks."/>
          <p:cNvSpPr/>
          <p:nvPr/>
        </p:nvSpPr>
        <p:spPr>
          <a:xfrm>
            <a:off x="6248399" y="1504645"/>
            <a:ext cx="5334000" cy="37334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596894"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ABLATION STUDY</a:t>
            </a:r>
          </a:p>
        </p:txBody>
      </p:sp>
      <p:sp>
        <p:nvSpPr>
          <p:cNvPr id="4" name="TextBox 4"/>
          <p:cNvSpPr txBox="1"/>
          <p:nvPr/>
        </p:nvSpPr>
        <p:spPr>
          <a:xfrm>
            <a:off x="598170" y="804862"/>
            <a:ext cx="4581555"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Each component adds speedup</a:t>
            </a:r>
          </a:p>
        </p:txBody>
      </p:sp>
      <p:grpSp>
        <p:nvGrpSpPr>
          <p:cNvPr id="8" name="Group 8"/>
          <p:cNvGrpSpPr/>
          <p:nvPr/>
        </p:nvGrpSpPr>
        <p:grpSpPr>
          <a:xfrm>
            <a:off x="609600" y="1504950"/>
            <a:ext cx="10972800" cy="514350"/>
            <a:chOff x="609600" y="1504950"/>
            <a:chExt cx="10972800" cy="514350"/>
          </a:xfrm>
        </p:grpSpPr>
        <p:sp>
          <p:nvSpPr>
            <p:cNvPr id="5" name="Rectangle 5"/>
            <p:cNvSpPr/>
            <p:nvPr/>
          </p:nvSpPr>
          <p:spPr>
            <a:xfrm>
              <a:off x="609600" y="1504950"/>
              <a:ext cx="10972800" cy="514350"/>
            </a:xfrm>
            <a:prstGeom prst="roundRect">
              <a:avLst>
                <a:gd name="adj" fmla="val 25926"/>
              </a:avLst>
            </a:prstGeom>
            <a:solidFill>
              <a:schemeClr val="accent5"/>
            </a:solidFill>
            <a:ln w="14288">
              <a:solidFill>
                <a:srgbClr val="26455F"/>
              </a:solidFill>
            </a:ln>
          </p:spPr>
        </p:sp>
        <p:sp>
          <p:nvSpPr>
            <p:cNvPr id="6" name="Rectangle 6"/>
            <p:cNvSpPr/>
            <p:nvPr/>
          </p:nvSpPr>
          <p:spPr>
            <a:xfrm>
              <a:off x="609600" y="1504950"/>
              <a:ext cx="57150" cy="514350"/>
            </a:xfrm>
            <a:prstGeom prst="roundRect">
              <a:avLst>
                <a:gd name="adj" fmla="val 50000"/>
              </a:avLst>
            </a:prstGeom>
            <a:solidFill>
              <a:schemeClr val="accent2"/>
            </a:solidFill>
            <a:ln>
              <a:noFill/>
            </a:ln>
          </p:spPr>
        </p:sp>
        <p:sp>
          <p:nvSpPr>
            <p:cNvPr id="7" name="TextBox 7"/>
            <p:cNvSpPr txBox="1"/>
            <p:nvPr/>
          </p:nvSpPr>
          <p:spPr>
            <a:xfrm>
              <a:off x="870204" y="1699260"/>
              <a:ext cx="6674968"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A component ablation isolates the three parts of DRAGONN, added one at a time.</a:t>
              </a:r>
            </a:p>
          </p:txBody>
        </p:sp>
      </p:grpSp>
      <p:grpSp>
        <p:nvGrpSpPr>
          <p:cNvPr id="26" name="Group 26"/>
          <p:cNvGrpSpPr/>
          <p:nvPr/>
        </p:nvGrpSpPr>
        <p:grpSpPr>
          <a:xfrm>
            <a:off x="609600" y="2190750"/>
            <a:ext cx="5334000" cy="3048000"/>
            <a:chOff x="609600" y="2190750"/>
            <a:chExt cx="5334000" cy="3048000"/>
          </a:xfrm>
        </p:grpSpPr>
        <p:sp>
          <p:nvSpPr>
            <p:cNvPr id="9" name="Rectangle 9"/>
            <p:cNvSpPr/>
            <p:nvPr/>
          </p:nvSpPr>
          <p:spPr>
            <a:xfrm>
              <a:off x="609600" y="2190750"/>
              <a:ext cx="5334000" cy="3048000"/>
            </a:xfrm>
            <a:prstGeom prst="roundRect">
              <a:avLst>
                <a:gd name="adj" fmla="val 4375"/>
              </a:avLst>
            </a:prstGeom>
            <a:solidFill>
              <a:schemeClr val="accent5"/>
            </a:solidFill>
            <a:ln w="14288">
              <a:solidFill>
                <a:srgbClr val="26455F"/>
              </a:solidFill>
            </a:ln>
          </p:spPr>
        </p:sp>
        <p:sp>
          <p:nvSpPr>
            <p:cNvPr id="10" name="Rectangle 10"/>
            <p:cNvSpPr/>
            <p:nvPr/>
          </p:nvSpPr>
          <p:spPr>
            <a:xfrm>
              <a:off x="609600" y="2190750"/>
              <a:ext cx="57150" cy="3048000"/>
            </a:xfrm>
            <a:prstGeom prst="roundRect">
              <a:avLst>
                <a:gd name="adj" fmla="val 50000"/>
              </a:avLst>
            </a:prstGeom>
            <a:solidFill>
              <a:srgbClr val="34D3C0"/>
            </a:solidFill>
            <a:ln>
              <a:noFill/>
            </a:ln>
          </p:spPr>
        </p:sp>
        <p:sp>
          <p:nvSpPr>
            <p:cNvPr id="11" name="TextBox 11"/>
            <p:cNvSpPr txBox="1"/>
            <p:nvPr/>
          </p:nvSpPr>
          <p:spPr>
            <a:xfrm>
              <a:off x="870204" y="2423160"/>
              <a:ext cx="2460748" cy="234696"/>
            </a:xfrm>
            <a:prstGeom prst="rect">
              <a:avLst/>
            </a:prstGeom>
            <a:noFill/>
            <a:ln>
              <a:noFill/>
            </a:ln>
          </p:spPr>
          <p:txBody>
            <a:bodyPr wrap="none" lIns="0" tIns="0" rIns="0" bIns="0" anchor="t" anchorCtr="0">
              <a:spAutoFit/>
            </a:bodyPr>
            <a:lstStyle/>
            <a:p>
              <a:pPr algn="l"/>
              <a:r>
                <a:rPr lang="en-US" sz="1200" b="1" dirty="0">
                  <a:solidFill>
                    <a:srgbClr val="34D3C0"/>
                  </a:solidFill>
                  <a:latin typeface="+mn-lt"/>
                  <a:ea typeface="+mn-ea"/>
                  <a:cs typeface="+mn-cs"/>
                </a:rPr>
                <a:t>Speedup builds up (one model)</a:t>
              </a:r>
            </a:p>
          </p:txBody>
        </p:sp>
        <p:sp>
          <p:nvSpPr>
            <p:cNvPr id="12" name="Line 12"/>
            <p:cNvSpPr/>
            <p:nvPr/>
          </p:nvSpPr>
          <p:spPr>
            <a:xfrm>
              <a:off x="1181100" y="4781550"/>
              <a:ext cx="4095750" cy="9525"/>
            </a:xfrm>
            <a:custGeom>
              <a:avLst/>
              <a:gdLst/>
              <a:ahLst/>
              <a:cxnLst/>
              <a:rect l="l" t="t" r="r" b="b"/>
              <a:pathLst>
                <a:path w="4095750" h="9525">
                  <a:moveTo>
                    <a:pt x="0" y="0"/>
                  </a:moveTo>
                  <a:lnTo>
                    <a:pt x="4095750" y="0"/>
                  </a:lnTo>
                </a:path>
              </a:pathLst>
            </a:custGeom>
            <a:noFill/>
            <a:ln w="11430" cap="rnd">
              <a:solidFill>
                <a:srgbClr val="26455F"/>
              </a:solidFill>
            </a:ln>
          </p:spPr>
        </p:sp>
        <p:sp>
          <p:nvSpPr>
            <p:cNvPr id="13" name="TextBox 13"/>
            <p:cNvSpPr txBox="1"/>
            <p:nvPr/>
          </p:nvSpPr>
          <p:spPr>
            <a:xfrm>
              <a:off x="1119188" y="2848689"/>
              <a:ext cx="439444" cy="154781"/>
            </a:xfrm>
            <a:prstGeom prst="rect">
              <a:avLst/>
            </a:prstGeom>
            <a:noFill/>
            <a:ln>
              <a:noFill/>
            </a:ln>
          </p:spPr>
          <p:txBody>
            <a:bodyPr wrap="none" lIns="0" tIns="0" rIns="0" bIns="0" anchor="t" anchorCtr="0">
              <a:spAutoFit/>
            </a:bodyPr>
            <a:lstStyle/>
            <a:p>
              <a:pPr algn="l"/>
              <a:r>
                <a:rPr lang="en-US" sz="790" b="1" dirty="0">
                  <a:solidFill>
                    <a:srgbClr val="6E869C"/>
                  </a:solidFill>
                  <a:latin typeface="+mn-lt"/>
                  <a:ea typeface="+mn-ea"/>
                  <a:cs typeface="+mn-cs"/>
                </a:rPr>
                <a:t>speedup</a:t>
              </a:r>
            </a:p>
          </p:txBody>
        </p:sp>
        <p:sp>
          <p:nvSpPr>
            <p:cNvPr id="14" name="Rectangle 14"/>
            <p:cNvSpPr/>
            <p:nvPr/>
          </p:nvSpPr>
          <p:spPr>
            <a:xfrm>
              <a:off x="1238250" y="4400550"/>
              <a:ext cx="1047750" cy="381000"/>
            </a:xfrm>
            <a:prstGeom prst="roundRect">
              <a:avLst>
                <a:gd name="adj" fmla="val 12500"/>
              </a:avLst>
            </a:prstGeom>
            <a:solidFill>
              <a:schemeClr val="accent2"/>
            </a:solidFill>
            <a:ln>
              <a:noFill/>
            </a:ln>
          </p:spPr>
        </p:sp>
        <p:sp>
          <p:nvSpPr>
            <p:cNvPr id="15" name="TextBox 15"/>
            <p:cNvSpPr txBox="1"/>
            <p:nvPr/>
          </p:nvSpPr>
          <p:spPr>
            <a:xfrm>
              <a:off x="1593531" y="4211002"/>
              <a:ext cx="337189" cy="205359"/>
            </a:xfrm>
            <a:prstGeom prst="rect">
              <a:avLst/>
            </a:prstGeom>
            <a:noFill/>
            <a:ln>
              <a:noFill/>
            </a:ln>
          </p:spPr>
          <p:txBody>
            <a:bodyPr wrap="none" lIns="0" tIns="0" rIns="0" bIns="0" anchor="t" anchorCtr="0">
              <a:spAutoFit/>
            </a:bodyPr>
            <a:lstStyle/>
            <a:p>
              <a:pPr algn="ctr"/>
              <a:r>
                <a:rPr lang="en-US" sz="1050" b="1" dirty="0">
                  <a:solidFill>
                    <a:schemeClr val="accent2"/>
                  </a:solidFill>
                  <a:latin typeface="+mn-lt"/>
                  <a:ea typeface="+mn-ea"/>
                  <a:cs typeface="+mn-cs"/>
                </a:rPr>
                <a:t>1.0x</a:t>
              </a:r>
            </a:p>
          </p:txBody>
        </p:sp>
        <p:sp>
          <p:nvSpPr>
            <p:cNvPr id="16" name="TextBox 16"/>
            <p:cNvSpPr txBox="1"/>
            <p:nvPr/>
          </p:nvSpPr>
          <p:spPr>
            <a:xfrm>
              <a:off x="1548728" y="4844891"/>
              <a:ext cx="426793" cy="161925"/>
            </a:xfrm>
            <a:prstGeom prst="rect">
              <a:avLst/>
            </a:prstGeom>
            <a:noFill/>
            <a:ln>
              <a:noFill/>
            </a:ln>
          </p:spPr>
          <p:txBody>
            <a:bodyPr wrap="none" lIns="0" tIns="0" rIns="0" bIns="0" anchor="t" anchorCtr="0">
              <a:spAutoFit/>
            </a:bodyPr>
            <a:lstStyle/>
            <a:p>
              <a:pPr algn="ctr"/>
              <a:r>
                <a:rPr lang="en-US" sz="820" b="1" dirty="0">
                  <a:solidFill>
                    <a:schemeClr val="dk2"/>
                  </a:solidFill>
                  <a:latin typeface="+mn-lt"/>
                  <a:ea typeface="+mn-ea"/>
                  <a:cs typeface="+mn-cs"/>
                </a:rPr>
                <a:t>hashing</a:t>
              </a:r>
            </a:p>
          </p:txBody>
        </p:sp>
        <p:sp>
          <p:nvSpPr>
            <p:cNvPr id="17" name="TextBox 17"/>
            <p:cNvSpPr txBox="1"/>
            <p:nvPr/>
          </p:nvSpPr>
          <p:spPr>
            <a:xfrm>
              <a:off x="1644352" y="4987766"/>
              <a:ext cx="235545" cy="161925"/>
            </a:xfrm>
            <a:prstGeom prst="rect">
              <a:avLst/>
            </a:prstGeom>
            <a:noFill/>
            <a:ln>
              <a:noFill/>
            </a:ln>
          </p:spPr>
          <p:txBody>
            <a:bodyPr wrap="none" lIns="0" tIns="0" rIns="0" bIns="0" anchor="t" anchorCtr="0">
              <a:spAutoFit/>
            </a:bodyPr>
            <a:lstStyle/>
            <a:p>
              <a:pPr algn="ctr"/>
              <a:r>
                <a:rPr lang="en-US" sz="820" b="1" dirty="0">
                  <a:solidFill>
                    <a:schemeClr val="dk2"/>
                  </a:solidFill>
                  <a:latin typeface="+mn-lt"/>
                  <a:ea typeface="+mn-ea"/>
                  <a:cs typeface="+mn-cs"/>
                </a:rPr>
                <a:t>only</a:t>
              </a:r>
            </a:p>
          </p:txBody>
        </p:sp>
        <p:sp>
          <p:nvSpPr>
            <p:cNvPr id="18" name="Rectangle 18"/>
            <p:cNvSpPr/>
            <p:nvPr/>
          </p:nvSpPr>
          <p:spPr>
            <a:xfrm>
              <a:off x="2667000" y="4038600"/>
              <a:ext cx="1047750" cy="742950"/>
            </a:xfrm>
            <a:prstGeom prst="roundRect">
              <a:avLst>
                <a:gd name="adj" fmla="val 6410"/>
              </a:avLst>
            </a:prstGeom>
            <a:solidFill>
              <a:srgbClr val="34D3C0"/>
            </a:solidFill>
            <a:ln>
              <a:noFill/>
            </a:ln>
          </p:spPr>
        </p:sp>
        <p:sp>
          <p:nvSpPr>
            <p:cNvPr id="19" name="TextBox 19"/>
            <p:cNvSpPr txBox="1"/>
            <p:nvPr/>
          </p:nvSpPr>
          <p:spPr>
            <a:xfrm>
              <a:off x="2981465" y="3849052"/>
              <a:ext cx="418819" cy="205359"/>
            </a:xfrm>
            <a:prstGeom prst="rect">
              <a:avLst/>
            </a:prstGeom>
            <a:noFill/>
            <a:ln>
              <a:noFill/>
            </a:ln>
          </p:spPr>
          <p:txBody>
            <a:bodyPr wrap="none" lIns="0" tIns="0" rIns="0" bIns="0" anchor="t" anchorCtr="0">
              <a:spAutoFit/>
            </a:bodyPr>
            <a:lstStyle/>
            <a:p>
              <a:pPr algn="ctr"/>
              <a:r>
                <a:rPr lang="en-US" sz="1050" b="1" dirty="0">
                  <a:solidFill>
                    <a:srgbClr val="34D3C0"/>
                  </a:solidFill>
                  <a:latin typeface="+mn-lt"/>
                  <a:ea typeface="+mn-ea"/>
                  <a:cs typeface="+mn-cs"/>
                </a:rPr>
                <a:t>1.92x</a:t>
              </a:r>
            </a:p>
          </p:txBody>
        </p:sp>
        <p:sp>
          <p:nvSpPr>
            <p:cNvPr id="20" name="TextBox 20"/>
            <p:cNvSpPr txBox="1"/>
            <p:nvPr/>
          </p:nvSpPr>
          <p:spPr>
            <a:xfrm>
              <a:off x="2945604" y="4844891"/>
              <a:ext cx="490542" cy="161925"/>
            </a:xfrm>
            <a:prstGeom prst="rect">
              <a:avLst/>
            </a:prstGeom>
            <a:noFill/>
            <a:ln>
              <a:noFill/>
            </a:ln>
          </p:spPr>
          <p:txBody>
            <a:bodyPr wrap="none" lIns="0" tIns="0" rIns="0" bIns="0" anchor="t" anchorCtr="0">
              <a:spAutoFit/>
            </a:bodyPr>
            <a:lstStyle/>
            <a:p>
              <a:pPr algn="ctr"/>
              <a:r>
                <a:rPr lang="en-US" sz="820" b="1" dirty="0">
                  <a:solidFill>
                    <a:schemeClr val="dk2"/>
                  </a:solidFill>
                  <a:latin typeface="+mn-lt"/>
                  <a:ea typeface="+mn-ea"/>
                  <a:cs typeface="+mn-cs"/>
                </a:rPr>
                <a:t>+ tensor</a:t>
              </a:r>
            </a:p>
          </p:txBody>
        </p:sp>
        <p:sp>
          <p:nvSpPr>
            <p:cNvPr id="21" name="TextBox 21"/>
            <p:cNvSpPr txBox="1"/>
            <p:nvPr/>
          </p:nvSpPr>
          <p:spPr>
            <a:xfrm>
              <a:off x="2928218" y="4987766"/>
              <a:ext cx="525315" cy="161925"/>
            </a:xfrm>
            <a:prstGeom prst="rect">
              <a:avLst/>
            </a:prstGeom>
            <a:noFill/>
            <a:ln>
              <a:noFill/>
            </a:ln>
          </p:spPr>
          <p:txBody>
            <a:bodyPr wrap="none" lIns="0" tIns="0" rIns="0" bIns="0" anchor="t" anchorCtr="0">
              <a:spAutoFit/>
            </a:bodyPr>
            <a:lstStyle/>
            <a:p>
              <a:pPr algn="ctr"/>
              <a:r>
                <a:rPr lang="en-US" sz="820" b="1" dirty="0">
                  <a:solidFill>
                    <a:schemeClr val="dk2"/>
                  </a:solidFill>
                  <a:latin typeface="+mn-lt"/>
                  <a:ea typeface="+mn-ea"/>
                  <a:cs typeface="+mn-cs"/>
                </a:rPr>
                <a:t>selection</a:t>
              </a:r>
            </a:p>
          </p:txBody>
        </p:sp>
        <p:sp>
          <p:nvSpPr>
            <p:cNvPr id="22" name="Rectangle 22"/>
            <p:cNvSpPr/>
            <p:nvPr/>
          </p:nvSpPr>
          <p:spPr>
            <a:xfrm>
              <a:off x="4095750" y="3105150"/>
              <a:ext cx="1047750" cy="1676400"/>
            </a:xfrm>
            <a:prstGeom prst="roundRect">
              <a:avLst>
                <a:gd name="adj" fmla="val 4545"/>
              </a:avLst>
            </a:prstGeom>
            <a:solidFill>
              <a:srgbClr val="48C78E"/>
            </a:solidFill>
            <a:ln>
              <a:noFill/>
            </a:ln>
          </p:spPr>
        </p:sp>
        <p:sp>
          <p:nvSpPr>
            <p:cNvPr id="23" name="TextBox 23"/>
            <p:cNvSpPr txBox="1"/>
            <p:nvPr/>
          </p:nvSpPr>
          <p:spPr>
            <a:xfrm>
              <a:off x="4410215" y="2915602"/>
              <a:ext cx="418819" cy="205359"/>
            </a:xfrm>
            <a:prstGeom prst="rect">
              <a:avLst/>
            </a:prstGeom>
            <a:noFill/>
            <a:ln>
              <a:noFill/>
            </a:ln>
          </p:spPr>
          <p:txBody>
            <a:bodyPr wrap="none" lIns="0" tIns="0" rIns="0" bIns="0" anchor="t" anchorCtr="0">
              <a:spAutoFit/>
            </a:bodyPr>
            <a:lstStyle/>
            <a:p>
              <a:pPr algn="ctr"/>
              <a:r>
                <a:rPr lang="en-US" sz="1050" b="1" dirty="0">
                  <a:solidFill>
                    <a:srgbClr val="48C78E"/>
                  </a:solidFill>
                  <a:latin typeface="+mn-lt"/>
                  <a:ea typeface="+mn-ea"/>
                  <a:cs typeface="+mn-cs"/>
                </a:rPr>
                <a:t>4.33x</a:t>
              </a:r>
            </a:p>
          </p:txBody>
        </p:sp>
        <p:sp>
          <p:nvSpPr>
            <p:cNvPr id="24" name="TextBox 24"/>
            <p:cNvSpPr txBox="1"/>
            <p:nvPr/>
          </p:nvSpPr>
          <p:spPr>
            <a:xfrm>
              <a:off x="4374354" y="4844891"/>
              <a:ext cx="490542" cy="161925"/>
            </a:xfrm>
            <a:prstGeom prst="rect">
              <a:avLst/>
            </a:prstGeom>
            <a:noFill/>
            <a:ln>
              <a:noFill/>
            </a:ln>
          </p:spPr>
          <p:txBody>
            <a:bodyPr wrap="none" lIns="0" tIns="0" rIns="0" bIns="0" anchor="t" anchorCtr="0">
              <a:spAutoFit/>
            </a:bodyPr>
            <a:lstStyle/>
            <a:p>
              <a:pPr algn="ctr"/>
              <a:r>
                <a:rPr lang="en-US" sz="820" b="1" dirty="0">
                  <a:solidFill>
                    <a:schemeClr val="dk2"/>
                  </a:solidFill>
                  <a:latin typeface="+mn-lt"/>
                  <a:ea typeface="+mn-ea"/>
                  <a:cs typeface="+mn-cs"/>
                </a:rPr>
                <a:t>+ sparse</a:t>
              </a:r>
            </a:p>
          </p:txBody>
        </p:sp>
        <p:sp>
          <p:nvSpPr>
            <p:cNvPr id="25" name="TextBox 25"/>
            <p:cNvSpPr txBox="1"/>
            <p:nvPr/>
          </p:nvSpPr>
          <p:spPr>
            <a:xfrm>
              <a:off x="4374354" y="4987766"/>
              <a:ext cx="490542" cy="161925"/>
            </a:xfrm>
            <a:prstGeom prst="rect">
              <a:avLst/>
            </a:prstGeom>
            <a:noFill/>
            <a:ln>
              <a:noFill/>
            </a:ln>
          </p:spPr>
          <p:txBody>
            <a:bodyPr wrap="none" lIns="0" tIns="0" rIns="0" bIns="0" anchor="t" anchorCtr="0">
              <a:spAutoFit/>
            </a:bodyPr>
            <a:lstStyle/>
            <a:p>
              <a:pPr algn="ctr"/>
              <a:r>
                <a:rPr lang="en-US" sz="820" b="1" dirty="0">
                  <a:solidFill>
                    <a:schemeClr val="dk2"/>
                  </a:solidFill>
                  <a:latin typeface="+mn-lt"/>
                  <a:ea typeface="+mn-ea"/>
                  <a:cs typeface="+mn-cs"/>
                </a:rPr>
                <a:t>decoding</a:t>
              </a:r>
            </a:p>
          </p:txBody>
        </p:sp>
      </p:grpSp>
      <p:grpSp>
        <p:nvGrpSpPr>
          <p:cNvPr id="33" name="Group 33"/>
          <p:cNvGrpSpPr/>
          <p:nvPr/>
        </p:nvGrpSpPr>
        <p:grpSpPr>
          <a:xfrm>
            <a:off x="6248400" y="2190750"/>
            <a:ext cx="5334000" cy="1428750"/>
            <a:chOff x="6248400" y="2190750"/>
            <a:chExt cx="5334000" cy="1428750"/>
          </a:xfrm>
        </p:grpSpPr>
        <p:sp>
          <p:nvSpPr>
            <p:cNvPr id="27" name="Rectangle 27"/>
            <p:cNvSpPr/>
            <p:nvPr/>
          </p:nvSpPr>
          <p:spPr>
            <a:xfrm>
              <a:off x="6248400" y="2190750"/>
              <a:ext cx="5334000" cy="1428750"/>
            </a:xfrm>
            <a:prstGeom prst="roundRect">
              <a:avLst>
                <a:gd name="adj" fmla="val 9333"/>
              </a:avLst>
            </a:prstGeom>
            <a:solidFill>
              <a:srgbClr val="0F2E2B"/>
            </a:solidFill>
            <a:ln w="14288">
              <a:solidFill>
                <a:srgbClr val="48C78E"/>
              </a:solidFill>
            </a:ln>
          </p:spPr>
        </p:sp>
        <p:sp>
          <p:nvSpPr>
            <p:cNvPr id="28" name="Rectangle 28"/>
            <p:cNvSpPr/>
            <p:nvPr/>
          </p:nvSpPr>
          <p:spPr>
            <a:xfrm>
              <a:off x="6248400" y="2190750"/>
              <a:ext cx="57150" cy="1428750"/>
            </a:xfrm>
            <a:prstGeom prst="roundRect">
              <a:avLst>
                <a:gd name="adj" fmla="val 50000"/>
              </a:avLst>
            </a:prstGeom>
            <a:solidFill>
              <a:srgbClr val="48C78E"/>
            </a:solidFill>
            <a:ln>
              <a:noFill/>
            </a:ln>
          </p:spPr>
        </p:sp>
        <p:sp>
          <p:nvSpPr>
            <p:cNvPr id="29" name="TextBox 29"/>
            <p:cNvSpPr txBox="1"/>
            <p:nvPr/>
          </p:nvSpPr>
          <p:spPr>
            <a:xfrm>
              <a:off x="6509194" y="2427208"/>
              <a:ext cx="3132875" cy="227362"/>
            </a:xfrm>
            <a:prstGeom prst="rect">
              <a:avLst/>
            </a:prstGeom>
            <a:noFill/>
            <a:ln>
              <a:noFill/>
            </a:ln>
          </p:spPr>
          <p:txBody>
            <a:bodyPr wrap="none" lIns="0" tIns="0" rIns="0" bIns="0" anchor="t" anchorCtr="0">
              <a:spAutoFit/>
            </a:bodyPr>
            <a:lstStyle/>
            <a:p>
              <a:pPr algn="l"/>
              <a:r>
                <a:rPr lang="en-US" sz="1160" b="1" dirty="0">
                  <a:solidFill>
                    <a:srgbClr val="48C78E"/>
                  </a:solidFill>
                  <a:latin typeface="+mn-lt"/>
                  <a:ea typeface="+mn-ea"/>
                  <a:cs typeface="+mn-cs"/>
                </a:rPr>
                <a:t>Why the gain exceeds the worker count</a:t>
              </a:r>
            </a:p>
          </p:txBody>
        </p:sp>
        <p:sp>
          <p:nvSpPr>
            <p:cNvPr id="30" name="TextBox 30"/>
            <p:cNvSpPr txBox="1"/>
            <p:nvPr/>
          </p:nvSpPr>
          <p:spPr>
            <a:xfrm>
              <a:off x="6509766" y="2725102"/>
              <a:ext cx="395203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Sparse decoding removes the decode cost that otherwise</a:t>
              </a:r>
            </a:p>
          </p:txBody>
        </p:sp>
        <p:sp>
          <p:nvSpPr>
            <p:cNvPr id="31" name="TextBox 31"/>
            <p:cNvSpPr txBox="1"/>
            <p:nvPr/>
          </p:nvSpPr>
          <p:spPr>
            <a:xfrm>
              <a:off x="6509766" y="2934652"/>
              <a:ext cx="405372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grows linearly with the number of GPUs, so its benefit can</a:t>
              </a:r>
            </a:p>
          </p:txBody>
        </p:sp>
        <p:sp>
          <p:nvSpPr>
            <p:cNvPr id="32" name="TextBox 32"/>
            <p:cNvSpPr txBox="1"/>
            <p:nvPr/>
          </p:nvSpPr>
          <p:spPr>
            <a:xfrm>
              <a:off x="6509766" y="3144202"/>
              <a:ext cx="103363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exceed K-fold.</a:t>
              </a:r>
            </a:p>
          </p:txBody>
        </p:sp>
      </p:grpSp>
      <p:grpSp>
        <p:nvGrpSpPr>
          <p:cNvPr id="45" name="Group 45"/>
          <p:cNvGrpSpPr/>
          <p:nvPr/>
        </p:nvGrpSpPr>
        <p:grpSpPr>
          <a:xfrm>
            <a:off x="6248400" y="3771900"/>
            <a:ext cx="5334000" cy="1466850"/>
            <a:chOff x="6248400" y="3771900"/>
            <a:chExt cx="5334000" cy="1466850"/>
          </a:xfrm>
        </p:grpSpPr>
        <p:sp>
          <p:nvSpPr>
            <p:cNvPr id="34" name="Rectangle 34"/>
            <p:cNvSpPr/>
            <p:nvPr/>
          </p:nvSpPr>
          <p:spPr>
            <a:xfrm>
              <a:off x="6248400" y="3771900"/>
              <a:ext cx="5334000" cy="1466850"/>
            </a:xfrm>
            <a:prstGeom prst="roundRect">
              <a:avLst>
                <a:gd name="adj" fmla="val 9091"/>
              </a:avLst>
            </a:prstGeom>
            <a:solidFill>
              <a:schemeClr val="accent5"/>
            </a:solidFill>
            <a:ln w="14288">
              <a:solidFill>
                <a:srgbClr val="26455F"/>
              </a:solidFill>
            </a:ln>
          </p:spPr>
        </p:sp>
        <p:sp>
          <p:nvSpPr>
            <p:cNvPr id="35" name="Rectangle 35"/>
            <p:cNvSpPr/>
            <p:nvPr/>
          </p:nvSpPr>
          <p:spPr>
            <a:xfrm>
              <a:off x="6248400" y="3771900"/>
              <a:ext cx="57150" cy="1466850"/>
            </a:xfrm>
            <a:prstGeom prst="roundRect">
              <a:avLst>
                <a:gd name="adj" fmla="val 50000"/>
              </a:avLst>
            </a:prstGeom>
            <a:solidFill>
              <a:srgbClr val="F2C14E"/>
            </a:solidFill>
            <a:ln>
              <a:noFill/>
            </a:ln>
          </p:spPr>
        </p:sp>
        <p:sp>
          <p:nvSpPr>
            <p:cNvPr id="36" name="TextBox 36"/>
            <p:cNvSpPr txBox="1"/>
            <p:nvPr/>
          </p:nvSpPr>
          <p:spPr>
            <a:xfrm>
              <a:off x="6509194" y="3989308"/>
              <a:ext cx="2345636" cy="227362"/>
            </a:xfrm>
            <a:prstGeom prst="rect">
              <a:avLst/>
            </a:prstGeom>
            <a:noFill/>
            <a:ln>
              <a:noFill/>
            </a:ln>
          </p:spPr>
          <p:txBody>
            <a:bodyPr wrap="none" lIns="0" tIns="0" rIns="0" bIns="0" anchor="t" anchorCtr="0">
              <a:spAutoFit/>
            </a:bodyPr>
            <a:lstStyle/>
            <a:p>
              <a:pPr algn="l"/>
              <a:r>
                <a:rPr lang="en-US" sz="1160" b="1" dirty="0">
                  <a:solidFill>
                    <a:srgbClr val="F2C14E"/>
                  </a:solidFill>
                  <a:latin typeface="+mn-lt"/>
                  <a:ea typeface="+mn-ea"/>
                  <a:cs typeface="+mn-cs"/>
                </a:rPr>
                <a:t>Micro-benchmarks confirm it</a:t>
              </a:r>
            </a:p>
          </p:txBody>
        </p:sp>
        <p:sp>
          <p:nvSpPr>
            <p:cNvPr id="37" name="Rectangle 37"/>
            <p:cNvSpPr/>
            <p:nvPr/>
          </p:nvSpPr>
          <p:spPr>
            <a:xfrm>
              <a:off x="6515100" y="4267200"/>
              <a:ext cx="4800600" cy="304800"/>
            </a:xfrm>
            <a:prstGeom prst="roundRect">
              <a:avLst>
                <a:gd name="adj" fmla="val 25000"/>
              </a:avLst>
            </a:prstGeom>
            <a:solidFill>
              <a:schemeClr val="accent6"/>
            </a:solidFill>
            <a:ln w="14288">
              <a:solidFill>
                <a:srgbClr val="26455F"/>
              </a:solidFill>
            </a:ln>
          </p:spPr>
        </p:sp>
        <p:sp>
          <p:nvSpPr>
            <p:cNvPr id="38" name="Ellipse 38"/>
            <p:cNvSpPr/>
            <p:nvPr/>
          </p:nvSpPr>
          <p:spPr>
            <a:xfrm>
              <a:off x="6638925" y="4371975"/>
              <a:ext cx="95250" cy="95250"/>
            </a:xfrm>
            <a:prstGeom prst="ellipse">
              <a:avLst/>
            </a:prstGeom>
            <a:solidFill>
              <a:srgbClr val="F2C14E"/>
            </a:solidFill>
            <a:ln>
              <a:noFill/>
            </a:ln>
          </p:spPr>
        </p:sp>
        <p:sp>
          <p:nvSpPr>
            <p:cNvPr id="39" name="TextBox 39"/>
            <p:cNvSpPr txBox="1"/>
            <p:nvPr/>
          </p:nvSpPr>
          <p:spPr>
            <a:xfrm>
              <a:off x="6833426" y="4359354"/>
              <a:ext cx="3382550"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Lowest encoding time across all tensor sizes</a:t>
              </a:r>
            </a:p>
          </p:txBody>
        </p:sp>
        <p:sp>
          <p:nvSpPr>
            <p:cNvPr id="40" name="TextBox 40"/>
            <p:cNvSpPr txBox="1"/>
            <p:nvPr/>
          </p:nvSpPr>
          <p:spPr>
            <a:xfrm>
              <a:off x="6510338" y="4593193"/>
              <a:ext cx="1590987" cy="169069"/>
            </a:xfrm>
            <a:prstGeom prst="rect">
              <a:avLst/>
            </a:prstGeom>
            <a:noFill/>
            <a:ln>
              <a:noFill/>
            </a:ln>
          </p:spPr>
          <p:txBody>
            <a:bodyPr wrap="none" lIns="0" tIns="0" rIns="0" bIns="0" anchor="t" anchorCtr="0">
              <a:spAutoFit/>
            </a:bodyPr>
            <a:lstStyle/>
            <a:p>
              <a:pPr algn="l"/>
              <a:r>
                <a:rPr lang="en-US" sz="860" b="1" dirty="0">
                  <a:solidFill>
                    <a:srgbClr val="6E869C"/>
                  </a:solidFill>
                  <a:latin typeface="+mn-lt"/>
                  <a:ea typeface="+mn-ea"/>
                  <a:cs typeface="+mn-cs"/>
                </a:rPr>
                <a:t>decode time as GPUs grow:</a:t>
              </a:r>
            </a:p>
          </p:txBody>
        </p:sp>
        <p:sp>
          <p:nvSpPr>
            <p:cNvPr id="41" name="Line 41"/>
            <p:cNvSpPr/>
            <p:nvPr/>
          </p:nvSpPr>
          <p:spPr>
            <a:xfrm>
              <a:off x="8610600" y="4762500"/>
              <a:ext cx="2552700" cy="304800"/>
            </a:xfrm>
            <a:custGeom>
              <a:avLst/>
              <a:gdLst/>
              <a:ahLst/>
              <a:cxnLst/>
              <a:rect l="l" t="t" r="r" b="b"/>
              <a:pathLst>
                <a:path w="2552700" h="304800">
                  <a:moveTo>
                    <a:pt x="0" y="304800"/>
                  </a:moveTo>
                  <a:lnTo>
                    <a:pt x="2552700" y="0"/>
                  </a:lnTo>
                </a:path>
              </a:pathLst>
            </a:custGeom>
            <a:noFill/>
            <a:ln w="20955" cap="rnd">
              <a:solidFill>
                <a:srgbClr val="F2685C"/>
              </a:solidFill>
            </a:ln>
          </p:spPr>
        </p:sp>
        <p:sp>
          <p:nvSpPr>
            <p:cNvPr id="42" name="TextBox 42"/>
            <p:cNvSpPr txBox="1"/>
            <p:nvPr/>
          </p:nvSpPr>
          <p:spPr>
            <a:xfrm>
              <a:off x="10382450" y="4658439"/>
              <a:ext cx="785613" cy="154781"/>
            </a:xfrm>
            <a:prstGeom prst="rect">
              <a:avLst/>
            </a:prstGeom>
            <a:noFill/>
            <a:ln>
              <a:noFill/>
            </a:ln>
          </p:spPr>
          <p:txBody>
            <a:bodyPr wrap="none" lIns="0" tIns="0" rIns="0" bIns="0" anchor="t" anchorCtr="0">
              <a:spAutoFit/>
            </a:bodyPr>
            <a:lstStyle/>
            <a:p>
              <a:pPr algn="r"/>
              <a:r>
                <a:rPr lang="en-US" sz="790" b="1" dirty="0">
                  <a:solidFill>
                    <a:srgbClr val="F2685C"/>
                  </a:solidFill>
                  <a:latin typeface="+mn-lt"/>
                  <a:ea typeface="+mn-ea"/>
                  <a:cs typeface="+mn-cs"/>
                </a:rPr>
                <a:t>dense (linear)</a:t>
              </a:r>
            </a:p>
          </p:txBody>
        </p:sp>
        <p:sp>
          <p:nvSpPr>
            <p:cNvPr id="43" name="Line 43"/>
            <p:cNvSpPr/>
            <p:nvPr/>
          </p:nvSpPr>
          <p:spPr>
            <a:xfrm>
              <a:off x="8610600" y="5029200"/>
              <a:ext cx="2552700" cy="19050"/>
            </a:xfrm>
            <a:custGeom>
              <a:avLst/>
              <a:gdLst/>
              <a:ahLst/>
              <a:cxnLst/>
              <a:rect l="l" t="t" r="r" b="b"/>
              <a:pathLst>
                <a:path w="2552700" h="19050">
                  <a:moveTo>
                    <a:pt x="0" y="19050"/>
                  </a:moveTo>
                  <a:lnTo>
                    <a:pt x="2552700" y="0"/>
                  </a:lnTo>
                </a:path>
              </a:pathLst>
            </a:custGeom>
            <a:noFill/>
            <a:ln w="20955" cap="rnd">
              <a:solidFill>
                <a:srgbClr val="48C78E"/>
              </a:solidFill>
            </a:ln>
          </p:spPr>
        </p:sp>
        <p:sp>
          <p:nvSpPr>
            <p:cNvPr id="44" name="TextBox 44"/>
            <p:cNvSpPr txBox="1"/>
            <p:nvPr/>
          </p:nvSpPr>
          <p:spPr>
            <a:xfrm>
              <a:off x="10415950" y="4906089"/>
              <a:ext cx="752112" cy="154781"/>
            </a:xfrm>
            <a:prstGeom prst="rect">
              <a:avLst/>
            </a:prstGeom>
            <a:noFill/>
            <a:ln>
              <a:noFill/>
            </a:ln>
          </p:spPr>
          <p:txBody>
            <a:bodyPr wrap="none" lIns="0" tIns="0" rIns="0" bIns="0" anchor="t" anchorCtr="0">
              <a:spAutoFit/>
            </a:bodyPr>
            <a:lstStyle/>
            <a:p>
              <a:pPr algn="r"/>
              <a:r>
                <a:rPr lang="en-US" sz="790" b="1" dirty="0">
                  <a:solidFill>
                    <a:srgbClr val="48C78E"/>
                  </a:solidFill>
                  <a:latin typeface="+mn-lt"/>
                  <a:ea typeface="+mn-ea"/>
                  <a:cs typeface="+mn-cs"/>
                </a:rPr>
                <a:t>sparse (flat)</a:t>
              </a:r>
            </a:p>
          </p:txBody>
        </p:sp>
      </p:grpSp>
      <p:sp>
        <p:nvSpPr>
          <p:cNvPr id="46" name="cue_s08_c1_ablation_study_separates_contributio" title="cue_s08_c1_ablation_study_separates_contributio" descr="cue_s08_c1_ablation_study_separates_contributio An ablation study separates the contributions of the three components."/>
          <p:cNvSpPr/>
          <p:nvPr/>
        </p:nvSpPr>
        <p:spPr>
          <a:xfrm>
            <a:off x="609600" y="1504645"/>
            <a:ext cx="10972800" cy="5143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8_c2_hashing_based_compressor_itself_prov" title="cue_s08_c2_hashing_based_compressor_itself_prov" descr="cue_s08_c2_hashing_based_compressor_itself_prov The hashing-based compressor by itself provides the base improvement; layering on efficiency-aware tensor selection increases the speedup, for example to about one-point-nine times on one model, and adding sparse decoding pushes it as high as four-point-three"/>
          <p:cNvSpPr/>
          <p:nvPr/>
        </p:nvSpPr>
        <p:spPr>
          <a:xfrm>
            <a:off x="609600" y="2190445"/>
            <a:ext cx="5334000" cy="30476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8_c3_notably_benefit_sparse_decoding_exce" title="cue_s08_c3_notably_benefit_sparse_decoding_exce" descr="cue_s08_c3_notably_benefit_sparse_decoding_exce Notably, the benefit of sparse decoding can exceed the number of workers, because it eliminates the decode cost that otherwise grows linearly with the number of GPUs."/>
          <p:cNvSpPr/>
          <p:nvPr/>
        </p:nvSpPr>
        <p:spPr>
          <a:xfrm>
            <a:off x="6248399" y="2190445"/>
            <a:ext cx="53340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8_c4_micro_benchmarks_confirm_dragonn_low" title="cue_s08_c4_micro_benchmarks_confirm_dragonn_low" descr="cue_s08_c4_micro_benchmarks_confirm_dragonn_low Micro-benchmarks confirm DRAGONN has the lowest encoding time across all tensor sizes and that its decode time stays nearly flat as GPUs are added."/>
          <p:cNvSpPr/>
          <p:nvPr/>
        </p:nvSpPr>
        <p:spPr>
          <a:xfrm>
            <a:off x="6248399" y="3771900"/>
            <a:ext cx="5334000" cy="14669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834378"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HEADLINE NUMBERS</a:t>
            </a:r>
          </a:p>
        </p:txBody>
      </p:sp>
      <p:sp>
        <p:nvSpPr>
          <p:cNvPr id="4" name="TextBox 4"/>
          <p:cNvSpPr txBox="1"/>
          <p:nvPr/>
        </p:nvSpPr>
        <p:spPr>
          <a:xfrm>
            <a:off x="598170" y="804862"/>
            <a:ext cx="3674721"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The results in one place</a:t>
            </a:r>
          </a:p>
        </p:txBody>
      </p:sp>
      <p:grpSp>
        <p:nvGrpSpPr>
          <p:cNvPr id="40" name="Group 40"/>
          <p:cNvGrpSpPr/>
          <p:nvPr/>
        </p:nvGrpSpPr>
        <p:grpSpPr>
          <a:xfrm>
            <a:off x="609600" y="1581150"/>
            <a:ext cx="10972800" cy="3657600"/>
            <a:chOff x="609600" y="1581150"/>
            <a:chExt cx="10972800" cy="3657600"/>
          </a:xfrm>
        </p:grpSpPr>
        <p:sp>
          <p:nvSpPr>
            <p:cNvPr id="5" name="Rectangle 5"/>
            <p:cNvSpPr/>
            <p:nvPr/>
          </p:nvSpPr>
          <p:spPr>
            <a:xfrm>
              <a:off x="609600" y="1581150"/>
              <a:ext cx="10972800" cy="3657600"/>
            </a:xfrm>
            <a:prstGeom prst="roundRect">
              <a:avLst>
                <a:gd name="adj" fmla="val 3646"/>
              </a:avLst>
            </a:prstGeom>
            <a:solidFill>
              <a:schemeClr val="accent5"/>
            </a:solidFill>
            <a:ln w="14288">
              <a:solidFill>
                <a:srgbClr val="26455F"/>
              </a:solidFill>
            </a:ln>
          </p:spPr>
        </p:sp>
        <p:sp>
          <p:nvSpPr>
            <p:cNvPr id="6" name="Rectangle 6"/>
            <p:cNvSpPr/>
            <p:nvPr/>
          </p:nvSpPr>
          <p:spPr>
            <a:xfrm>
              <a:off x="609600" y="1581150"/>
              <a:ext cx="57150" cy="3657600"/>
            </a:xfrm>
            <a:prstGeom prst="roundRect">
              <a:avLst>
                <a:gd name="adj" fmla="val 50000"/>
              </a:avLst>
            </a:prstGeom>
            <a:solidFill>
              <a:srgbClr val="48C78E"/>
            </a:solidFill>
            <a:ln>
              <a:noFill/>
            </a:ln>
          </p:spPr>
        </p:sp>
        <p:sp>
          <p:nvSpPr>
            <p:cNvPr id="7" name="TextBox 7"/>
            <p:cNvSpPr txBox="1"/>
            <p:nvPr/>
          </p:nvSpPr>
          <p:spPr>
            <a:xfrm>
              <a:off x="869823" y="1824514"/>
              <a:ext cx="2907754" cy="249364"/>
            </a:xfrm>
            <a:prstGeom prst="rect">
              <a:avLst/>
            </a:prstGeom>
            <a:noFill/>
            <a:ln>
              <a:noFill/>
            </a:ln>
          </p:spPr>
          <p:txBody>
            <a:bodyPr wrap="none" lIns="0" tIns="0" rIns="0" bIns="0" anchor="t" anchorCtr="0">
              <a:spAutoFit/>
            </a:bodyPr>
            <a:lstStyle/>
            <a:p>
              <a:pPr algn="l"/>
              <a:r>
                <a:rPr lang="en-US" sz="1280" b="1" dirty="0">
                  <a:solidFill>
                    <a:srgbClr val="48C78E"/>
                  </a:solidFill>
                  <a:latin typeface="+mn-lt"/>
                  <a:ea typeface="+mn-ea"/>
                  <a:cs typeface="+mn-cs"/>
                </a:rPr>
                <a:t>DRAGONN vs the state of the art</a:t>
              </a:r>
            </a:p>
          </p:txBody>
        </p:sp>
        <p:sp>
          <p:nvSpPr>
            <p:cNvPr id="8" name="Rectangle 8"/>
            <p:cNvSpPr/>
            <p:nvPr/>
          </p:nvSpPr>
          <p:spPr>
            <a:xfrm>
              <a:off x="876300" y="2152650"/>
              <a:ext cx="3352800" cy="990600"/>
            </a:xfrm>
            <a:prstGeom prst="roundRect">
              <a:avLst>
                <a:gd name="adj" fmla="val 11538"/>
              </a:avLst>
            </a:prstGeom>
            <a:solidFill>
              <a:schemeClr val="accent6"/>
            </a:solidFill>
            <a:ln w="14288">
              <a:solidFill>
                <a:srgbClr val="26455F"/>
              </a:solidFill>
            </a:ln>
          </p:spPr>
        </p:sp>
        <p:sp>
          <p:nvSpPr>
            <p:cNvPr id="9" name="TextBox 9"/>
            <p:cNvSpPr txBox="1"/>
            <p:nvPr/>
          </p:nvSpPr>
          <p:spPr>
            <a:xfrm>
              <a:off x="2107212" y="2392490"/>
              <a:ext cx="890976" cy="498729"/>
            </a:xfrm>
            <a:prstGeom prst="rect">
              <a:avLst/>
            </a:prstGeom>
            <a:noFill/>
            <a:ln>
              <a:noFill/>
            </a:ln>
          </p:spPr>
          <p:txBody>
            <a:bodyPr wrap="none" lIns="0" tIns="0" rIns="0" bIns="0" anchor="t" anchorCtr="0">
              <a:spAutoFit/>
            </a:bodyPr>
            <a:lstStyle/>
            <a:p>
              <a:pPr algn="ctr"/>
              <a:r>
                <a:rPr lang="en-US" sz="2550" b="1" dirty="0">
                  <a:solidFill>
                    <a:srgbClr val="34D3C0"/>
                  </a:solidFill>
                  <a:latin typeface="+mn-lt"/>
                  <a:ea typeface="+mn-ea"/>
                  <a:cs typeface="+mn-cs"/>
                </a:rPr>
                <a:t>-70%</a:t>
              </a:r>
            </a:p>
          </p:txBody>
        </p:sp>
        <p:sp>
          <p:nvSpPr>
            <p:cNvPr id="10" name="TextBox 10"/>
            <p:cNvSpPr txBox="1"/>
            <p:nvPr/>
          </p:nvSpPr>
          <p:spPr>
            <a:xfrm>
              <a:off x="1607485" y="2889647"/>
              <a:ext cx="1890430"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compression time vs SOTA GS</a:t>
              </a:r>
            </a:p>
          </p:txBody>
        </p:sp>
        <p:sp>
          <p:nvSpPr>
            <p:cNvPr id="11" name="Rectangle 11"/>
            <p:cNvSpPr/>
            <p:nvPr/>
          </p:nvSpPr>
          <p:spPr>
            <a:xfrm>
              <a:off x="4419600" y="2152650"/>
              <a:ext cx="3352800" cy="990600"/>
            </a:xfrm>
            <a:prstGeom prst="roundRect">
              <a:avLst>
                <a:gd name="adj" fmla="val 11538"/>
              </a:avLst>
            </a:prstGeom>
            <a:solidFill>
              <a:schemeClr val="accent6"/>
            </a:solidFill>
            <a:ln w="14288">
              <a:solidFill>
                <a:srgbClr val="26455F"/>
              </a:solidFill>
            </a:ln>
          </p:spPr>
        </p:sp>
        <p:sp>
          <p:nvSpPr>
            <p:cNvPr id="12" name="TextBox 12"/>
            <p:cNvSpPr txBox="1"/>
            <p:nvPr/>
          </p:nvSpPr>
          <p:spPr>
            <a:xfrm>
              <a:off x="5587434" y="2392490"/>
              <a:ext cx="1017132" cy="498729"/>
            </a:xfrm>
            <a:prstGeom prst="rect">
              <a:avLst/>
            </a:prstGeom>
            <a:noFill/>
            <a:ln>
              <a:noFill/>
            </a:ln>
          </p:spPr>
          <p:txBody>
            <a:bodyPr wrap="none" lIns="0" tIns="0" rIns="0" bIns="0" anchor="t" anchorCtr="0">
              <a:spAutoFit/>
            </a:bodyPr>
            <a:lstStyle/>
            <a:p>
              <a:pPr algn="ctr"/>
              <a:r>
                <a:rPr lang="en-US" sz="2550" b="1" dirty="0">
                  <a:solidFill>
                    <a:srgbClr val="48C78E"/>
                  </a:solidFill>
                  <a:latin typeface="+mn-lt"/>
                  <a:ea typeface="+mn-ea"/>
                  <a:cs typeface="+mn-cs"/>
                </a:rPr>
                <a:t>3.52x</a:t>
              </a:r>
            </a:p>
          </p:txBody>
        </p:sp>
        <p:sp>
          <p:nvSpPr>
            <p:cNvPr id="13" name="TextBox 13"/>
            <p:cNvSpPr txBox="1"/>
            <p:nvPr/>
          </p:nvSpPr>
          <p:spPr>
            <a:xfrm>
              <a:off x="5347219" y="2889647"/>
              <a:ext cx="1497563"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total speedup over DGC</a:t>
              </a:r>
            </a:p>
          </p:txBody>
        </p:sp>
        <p:sp>
          <p:nvSpPr>
            <p:cNvPr id="14" name="Rectangle 14"/>
            <p:cNvSpPr/>
            <p:nvPr/>
          </p:nvSpPr>
          <p:spPr>
            <a:xfrm>
              <a:off x="7962900" y="2152650"/>
              <a:ext cx="3352800" cy="990600"/>
            </a:xfrm>
            <a:prstGeom prst="roundRect">
              <a:avLst>
                <a:gd name="adj" fmla="val 11538"/>
              </a:avLst>
            </a:prstGeom>
            <a:solidFill>
              <a:schemeClr val="accent6"/>
            </a:solidFill>
            <a:ln w="14288">
              <a:solidFill>
                <a:srgbClr val="26455F"/>
              </a:solidFill>
            </a:ln>
          </p:spPr>
        </p:sp>
        <p:sp>
          <p:nvSpPr>
            <p:cNvPr id="15" name="TextBox 15"/>
            <p:cNvSpPr txBox="1"/>
            <p:nvPr/>
          </p:nvSpPr>
          <p:spPr>
            <a:xfrm>
              <a:off x="9130734" y="2392490"/>
              <a:ext cx="1017132" cy="498729"/>
            </a:xfrm>
            <a:prstGeom prst="rect">
              <a:avLst/>
            </a:prstGeom>
            <a:noFill/>
            <a:ln>
              <a:noFill/>
            </a:ln>
          </p:spPr>
          <p:txBody>
            <a:bodyPr wrap="none" lIns="0" tIns="0" rIns="0" bIns="0" anchor="t" anchorCtr="0">
              <a:spAutoFit/>
            </a:bodyPr>
            <a:lstStyle/>
            <a:p>
              <a:pPr algn="ctr"/>
              <a:r>
                <a:rPr lang="en-US" sz="2550" b="1" dirty="0">
                  <a:solidFill>
                    <a:srgbClr val="F2C14E"/>
                  </a:solidFill>
                  <a:latin typeface="+mn-lt"/>
                  <a:ea typeface="+mn-ea"/>
                  <a:cs typeface="+mn-cs"/>
                </a:rPr>
                <a:t>35.9x</a:t>
              </a:r>
            </a:p>
          </p:txBody>
        </p:sp>
        <p:sp>
          <p:nvSpPr>
            <p:cNvPr id="16" name="TextBox 16"/>
            <p:cNvSpPr txBox="1"/>
            <p:nvPr/>
          </p:nvSpPr>
          <p:spPr>
            <a:xfrm>
              <a:off x="8779153" y="2889647"/>
              <a:ext cx="1720294"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over FULL synchronization</a:t>
              </a:r>
            </a:p>
          </p:txBody>
        </p:sp>
        <p:sp>
          <p:nvSpPr>
            <p:cNvPr id="17" name="TextBox 17"/>
            <p:cNvSpPr txBox="1"/>
            <p:nvPr/>
          </p:nvSpPr>
          <p:spPr>
            <a:xfrm>
              <a:off x="870776" y="3349704"/>
              <a:ext cx="2852348"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Per-model speedup over DGC (Table 2)</a:t>
              </a:r>
            </a:p>
          </p:txBody>
        </p:sp>
        <p:sp>
          <p:nvSpPr>
            <p:cNvPr id="18" name="Rectangle 18"/>
            <p:cNvSpPr/>
            <p:nvPr/>
          </p:nvSpPr>
          <p:spPr>
            <a:xfrm>
              <a:off x="2857500" y="3657600"/>
              <a:ext cx="2857500" cy="228600"/>
            </a:xfrm>
            <a:prstGeom prst="roundRect">
              <a:avLst>
                <a:gd name="adj" fmla="val 25000"/>
              </a:avLst>
            </a:prstGeom>
            <a:solidFill>
              <a:srgbClr val="0E2334"/>
            </a:solidFill>
            <a:ln w="9525">
              <a:solidFill>
                <a:srgbClr val="26455F"/>
              </a:solidFill>
            </a:ln>
          </p:spPr>
        </p:sp>
        <p:sp>
          <p:nvSpPr>
            <p:cNvPr id="19" name="Rectangle 19"/>
            <p:cNvSpPr/>
            <p:nvPr/>
          </p:nvSpPr>
          <p:spPr>
            <a:xfrm>
              <a:off x="2857500" y="3657600"/>
              <a:ext cx="1152525" cy="228600"/>
            </a:xfrm>
            <a:prstGeom prst="roundRect">
              <a:avLst>
                <a:gd name="adj" fmla="val 25000"/>
              </a:avLst>
            </a:prstGeom>
            <a:solidFill>
              <a:schemeClr val="accent2"/>
            </a:solidFill>
            <a:ln>
              <a:noFill/>
            </a:ln>
          </p:spPr>
        </p:sp>
        <p:sp>
          <p:nvSpPr>
            <p:cNvPr id="20" name="TextBox 20"/>
            <p:cNvSpPr txBox="1"/>
            <p:nvPr/>
          </p:nvSpPr>
          <p:spPr>
            <a:xfrm>
              <a:off x="2072503" y="3708844"/>
              <a:ext cx="676031"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ResNet50</a:t>
              </a:r>
            </a:p>
          </p:txBody>
        </p:sp>
        <p:sp>
          <p:nvSpPr>
            <p:cNvPr id="21" name="TextBox 21"/>
            <p:cNvSpPr txBox="1"/>
            <p:nvPr/>
          </p:nvSpPr>
          <p:spPr>
            <a:xfrm>
              <a:off x="4099941" y="3708844"/>
              <a:ext cx="418819"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mn-lt"/>
                  <a:ea typeface="+mn-ea"/>
                  <a:cs typeface="+mn-cs"/>
                </a:rPr>
                <a:t>1.42x</a:t>
              </a:r>
            </a:p>
          </p:txBody>
        </p:sp>
        <p:sp>
          <p:nvSpPr>
            <p:cNvPr id="22" name="Rectangle 22"/>
            <p:cNvSpPr/>
            <p:nvPr/>
          </p:nvSpPr>
          <p:spPr>
            <a:xfrm>
              <a:off x="2857500" y="3962400"/>
              <a:ext cx="2857500" cy="228600"/>
            </a:xfrm>
            <a:prstGeom prst="roundRect">
              <a:avLst>
                <a:gd name="adj" fmla="val 25000"/>
              </a:avLst>
            </a:prstGeom>
            <a:solidFill>
              <a:srgbClr val="0E2334"/>
            </a:solidFill>
            <a:ln w="9525">
              <a:solidFill>
                <a:srgbClr val="26455F"/>
              </a:solidFill>
            </a:ln>
          </p:spPr>
        </p:sp>
        <p:sp>
          <p:nvSpPr>
            <p:cNvPr id="23" name="Rectangle 23"/>
            <p:cNvSpPr/>
            <p:nvPr/>
          </p:nvSpPr>
          <p:spPr>
            <a:xfrm>
              <a:off x="2857500" y="3962400"/>
              <a:ext cx="1743075" cy="228600"/>
            </a:xfrm>
            <a:prstGeom prst="roundRect">
              <a:avLst>
                <a:gd name="adj" fmla="val 25000"/>
              </a:avLst>
            </a:prstGeom>
            <a:solidFill>
              <a:schemeClr val="accent2"/>
            </a:solidFill>
            <a:ln>
              <a:noFill/>
            </a:ln>
          </p:spPr>
        </p:sp>
        <p:sp>
          <p:nvSpPr>
            <p:cNvPr id="24" name="TextBox 24"/>
            <p:cNvSpPr txBox="1"/>
            <p:nvPr/>
          </p:nvSpPr>
          <p:spPr>
            <a:xfrm>
              <a:off x="2522239" y="4013644"/>
              <a:ext cx="226295"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ViT</a:t>
              </a:r>
            </a:p>
          </p:txBody>
        </p:sp>
        <p:sp>
          <p:nvSpPr>
            <p:cNvPr id="25" name="TextBox 25"/>
            <p:cNvSpPr txBox="1"/>
            <p:nvPr/>
          </p:nvSpPr>
          <p:spPr>
            <a:xfrm>
              <a:off x="4690491" y="4013644"/>
              <a:ext cx="418819"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mn-lt"/>
                  <a:ea typeface="+mn-ea"/>
                  <a:cs typeface="+mn-cs"/>
                </a:rPr>
                <a:t>2.15x</a:t>
              </a:r>
            </a:p>
          </p:txBody>
        </p:sp>
        <p:sp>
          <p:nvSpPr>
            <p:cNvPr id="26" name="Rectangle 26"/>
            <p:cNvSpPr/>
            <p:nvPr/>
          </p:nvSpPr>
          <p:spPr>
            <a:xfrm>
              <a:off x="2857500" y="4267200"/>
              <a:ext cx="2857500" cy="228600"/>
            </a:xfrm>
            <a:prstGeom prst="roundRect">
              <a:avLst>
                <a:gd name="adj" fmla="val 25000"/>
              </a:avLst>
            </a:prstGeom>
            <a:solidFill>
              <a:srgbClr val="0E2334"/>
            </a:solidFill>
            <a:ln w="9525">
              <a:solidFill>
                <a:srgbClr val="26455F"/>
              </a:solidFill>
            </a:ln>
          </p:spPr>
        </p:sp>
        <p:sp>
          <p:nvSpPr>
            <p:cNvPr id="27" name="Rectangle 27"/>
            <p:cNvSpPr/>
            <p:nvPr/>
          </p:nvSpPr>
          <p:spPr>
            <a:xfrm>
              <a:off x="2857500" y="4267200"/>
              <a:ext cx="1390650" cy="228600"/>
            </a:xfrm>
            <a:prstGeom prst="roundRect">
              <a:avLst>
                <a:gd name="adj" fmla="val 25000"/>
              </a:avLst>
            </a:prstGeom>
            <a:solidFill>
              <a:schemeClr val="accent2"/>
            </a:solidFill>
            <a:ln>
              <a:noFill/>
            </a:ln>
          </p:spPr>
        </p:sp>
        <p:sp>
          <p:nvSpPr>
            <p:cNvPr id="28" name="TextBox 28"/>
            <p:cNvSpPr txBox="1"/>
            <p:nvPr/>
          </p:nvSpPr>
          <p:spPr>
            <a:xfrm>
              <a:off x="1959509" y="4318444"/>
              <a:ext cx="789025"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MLP-Mixer</a:t>
              </a:r>
            </a:p>
          </p:txBody>
        </p:sp>
        <p:sp>
          <p:nvSpPr>
            <p:cNvPr id="29" name="TextBox 29"/>
            <p:cNvSpPr txBox="1"/>
            <p:nvPr/>
          </p:nvSpPr>
          <p:spPr>
            <a:xfrm>
              <a:off x="4338066" y="4318444"/>
              <a:ext cx="418819"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mn-lt"/>
                  <a:ea typeface="+mn-ea"/>
                  <a:cs typeface="+mn-cs"/>
                </a:rPr>
                <a:t>1.72x</a:t>
              </a:r>
            </a:p>
          </p:txBody>
        </p:sp>
        <p:sp>
          <p:nvSpPr>
            <p:cNvPr id="30" name="Rectangle 30"/>
            <p:cNvSpPr/>
            <p:nvPr/>
          </p:nvSpPr>
          <p:spPr>
            <a:xfrm>
              <a:off x="2857500" y="4572000"/>
              <a:ext cx="2857500" cy="228600"/>
            </a:xfrm>
            <a:prstGeom prst="roundRect">
              <a:avLst>
                <a:gd name="adj" fmla="val 25000"/>
              </a:avLst>
            </a:prstGeom>
            <a:solidFill>
              <a:srgbClr val="0E2334"/>
            </a:solidFill>
            <a:ln w="9525">
              <a:solidFill>
                <a:srgbClr val="26455F"/>
              </a:solidFill>
            </a:ln>
          </p:spPr>
        </p:sp>
        <p:sp>
          <p:nvSpPr>
            <p:cNvPr id="31" name="Rectangle 31"/>
            <p:cNvSpPr/>
            <p:nvPr/>
          </p:nvSpPr>
          <p:spPr>
            <a:xfrm>
              <a:off x="2857500" y="4572000"/>
              <a:ext cx="2857500" cy="228600"/>
            </a:xfrm>
            <a:prstGeom prst="roundRect">
              <a:avLst>
                <a:gd name="adj" fmla="val 25000"/>
              </a:avLst>
            </a:prstGeom>
            <a:solidFill>
              <a:srgbClr val="48C78E"/>
            </a:solidFill>
            <a:ln>
              <a:noFill/>
            </a:ln>
          </p:spPr>
        </p:sp>
        <p:sp>
          <p:nvSpPr>
            <p:cNvPr id="32" name="TextBox 32"/>
            <p:cNvSpPr txBox="1"/>
            <p:nvPr/>
          </p:nvSpPr>
          <p:spPr>
            <a:xfrm>
              <a:off x="2447750" y="4623244"/>
              <a:ext cx="300784"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XML</a:t>
              </a:r>
            </a:p>
          </p:txBody>
        </p:sp>
        <p:sp>
          <p:nvSpPr>
            <p:cNvPr id="33" name="TextBox 33"/>
            <p:cNvSpPr txBox="1"/>
            <p:nvPr/>
          </p:nvSpPr>
          <p:spPr>
            <a:xfrm>
              <a:off x="5804916" y="4623244"/>
              <a:ext cx="418819" cy="205359"/>
            </a:xfrm>
            <a:prstGeom prst="rect">
              <a:avLst/>
            </a:prstGeom>
            <a:noFill/>
            <a:ln>
              <a:noFill/>
            </a:ln>
          </p:spPr>
          <p:txBody>
            <a:bodyPr wrap="none" lIns="0" tIns="0" rIns="0" bIns="0" anchor="t" anchorCtr="0">
              <a:spAutoFit/>
            </a:bodyPr>
            <a:lstStyle/>
            <a:p>
              <a:pPr algn="l"/>
              <a:r>
                <a:rPr lang="en-US" sz="1050" b="1" dirty="0">
                  <a:solidFill>
                    <a:srgbClr val="48C78E"/>
                  </a:solidFill>
                  <a:latin typeface="+mn-lt"/>
                  <a:ea typeface="+mn-ea"/>
                  <a:cs typeface="+mn-cs"/>
                </a:rPr>
                <a:t>3.52x</a:t>
              </a:r>
            </a:p>
          </p:txBody>
        </p:sp>
        <p:sp>
          <p:nvSpPr>
            <p:cNvPr id="34" name="Rectangle 34"/>
            <p:cNvSpPr/>
            <p:nvPr/>
          </p:nvSpPr>
          <p:spPr>
            <a:xfrm>
              <a:off x="6667500" y="3581400"/>
              <a:ext cx="4648200" cy="1428750"/>
            </a:xfrm>
            <a:prstGeom prst="roundRect">
              <a:avLst>
                <a:gd name="adj" fmla="val 8000"/>
              </a:avLst>
            </a:prstGeom>
            <a:solidFill>
              <a:schemeClr val="accent6"/>
            </a:solidFill>
            <a:ln w="14288">
              <a:solidFill>
                <a:srgbClr val="26455F"/>
              </a:solidFill>
            </a:ln>
          </p:spPr>
        </p:sp>
        <p:sp>
          <p:nvSpPr>
            <p:cNvPr id="35" name="TextBox 35"/>
            <p:cNvSpPr txBox="1"/>
            <p:nvPr/>
          </p:nvSpPr>
          <p:spPr>
            <a:xfrm>
              <a:off x="6890576" y="3749754"/>
              <a:ext cx="1849702" cy="212693"/>
            </a:xfrm>
            <a:prstGeom prst="rect">
              <a:avLst/>
            </a:prstGeom>
            <a:noFill/>
            <a:ln>
              <a:noFill/>
            </a:ln>
          </p:spPr>
          <p:txBody>
            <a:bodyPr wrap="none" lIns="0" tIns="0" rIns="0" bIns="0" anchor="t" anchorCtr="0">
              <a:spAutoFit/>
            </a:bodyPr>
            <a:lstStyle/>
            <a:p>
              <a:pPr algn="l"/>
              <a:r>
                <a:rPr lang="en-US" sz="1090" b="1" dirty="0">
                  <a:solidFill>
                    <a:srgbClr val="F2C14E"/>
                  </a:solidFill>
                  <a:latin typeface="+mn-lt"/>
                  <a:ea typeface="+mn-ea"/>
                  <a:cs typeface="+mn-cs"/>
                </a:rPr>
                <a:t>And the decode overhead</a:t>
              </a:r>
            </a:p>
          </p:txBody>
        </p:sp>
        <p:sp>
          <p:nvSpPr>
            <p:cNvPr id="36" name="TextBox 36"/>
            <p:cNvSpPr txBox="1"/>
            <p:nvPr/>
          </p:nvSpPr>
          <p:spPr>
            <a:xfrm>
              <a:off x="6888480" y="4143375"/>
              <a:ext cx="1520428" cy="293370"/>
            </a:xfrm>
            <a:prstGeom prst="rect">
              <a:avLst/>
            </a:prstGeom>
            <a:noFill/>
            <a:ln>
              <a:noFill/>
            </a:ln>
          </p:spPr>
          <p:txBody>
            <a:bodyPr wrap="none" lIns="0" tIns="0" rIns="0" bIns="0" anchor="t" anchorCtr="0">
              <a:spAutoFit/>
            </a:bodyPr>
            <a:lstStyle/>
            <a:p>
              <a:pPr algn="l"/>
              <a:r>
                <a:rPr lang="en-US" sz="1500" b="1" dirty="0">
                  <a:solidFill>
                    <a:srgbClr val="F2685C"/>
                  </a:solidFill>
                  <a:latin typeface="+mn-lt"/>
                  <a:ea typeface="+mn-ea"/>
                  <a:cs typeface="+mn-cs"/>
                </a:rPr>
                <a:t>linear in #GPUs</a:t>
              </a:r>
            </a:p>
          </p:txBody>
        </p:sp>
        <p:sp>
          <p:nvSpPr>
            <p:cNvPr id="37" name="TextBox 37"/>
            <p:cNvSpPr txBox="1"/>
            <p:nvPr/>
          </p:nvSpPr>
          <p:spPr>
            <a:xfrm>
              <a:off x="6887718" y="4374832"/>
              <a:ext cx="273316" cy="322707"/>
            </a:xfrm>
            <a:prstGeom prst="rect">
              <a:avLst/>
            </a:prstGeom>
            <a:noFill/>
            <a:ln>
              <a:noFill/>
            </a:ln>
          </p:spPr>
          <p:txBody>
            <a:bodyPr wrap="none" lIns="0" tIns="0" rIns="0" bIns="0" anchor="t" anchorCtr="0">
              <a:spAutoFit/>
            </a:bodyPr>
            <a:lstStyle/>
            <a:p>
              <a:pPr algn="l"/>
              <a:r>
                <a:rPr lang="en-US" sz="1650" b="1" dirty="0">
                  <a:solidFill>
                    <a:schemeClr val="dk2"/>
                  </a:solidFill>
                  <a:latin typeface="+mn-lt"/>
                  <a:ea typeface="+mn-ea"/>
                  <a:cs typeface="+mn-cs"/>
                </a:rPr>
                <a:t>-&gt;</a:t>
              </a:r>
            </a:p>
          </p:txBody>
        </p:sp>
        <p:sp>
          <p:nvSpPr>
            <p:cNvPr id="38" name="TextBox 38"/>
            <p:cNvSpPr txBox="1"/>
            <p:nvPr/>
          </p:nvSpPr>
          <p:spPr>
            <a:xfrm>
              <a:off x="7326630" y="4391025"/>
              <a:ext cx="1658445" cy="293370"/>
            </a:xfrm>
            <a:prstGeom prst="rect">
              <a:avLst/>
            </a:prstGeom>
            <a:noFill/>
            <a:ln>
              <a:noFill/>
            </a:ln>
          </p:spPr>
          <p:txBody>
            <a:bodyPr wrap="none" lIns="0" tIns="0" rIns="0" bIns="0" anchor="t" anchorCtr="0">
              <a:spAutoFit/>
            </a:bodyPr>
            <a:lstStyle/>
            <a:p>
              <a:pPr algn="l"/>
              <a:r>
                <a:rPr lang="en-US" sz="1500" b="1" dirty="0">
                  <a:solidFill>
                    <a:srgbClr val="48C78E"/>
                  </a:solidFill>
                  <a:latin typeface="+mn-lt"/>
                  <a:ea typeface="+mn-ea"/>
                  <a:cs typeface="+mn-cs"/>
                </a:rPr>
                <a:t>nearly constant</a:t>
              </a:r>
            </a:p>
          </p:txBody>
        </p:sp>
        <p:sp>
          <p:nvSpPr>
            <p:cNvPr id="39" name="TextBox 39"/>
            <p:cNvSpPr txBox="1"/>
            <p:nvPr/>
          </p:nvSpPr>
          <p:spPr>
            <a:xfrm>
              <a:off x="6891147" y="4752499"/>
              <a:ext cx="1776087" cy="190690"/>
            </a:xfrm>
            <a:prstGeom prst="rect">
              <a:avLst/>
            </a:prstGeom>
            <a:noFill/>
            <a:ln>
              <a:noFill/>
            </a:ln>
          </p:spPr>
          <p:txBody>
            <a:bodyPr wrap="none" lIns="0" tIns="0" rIns="0" bIns="0" anchor="t" anchorCtr="0">
              <a:spAutoFit/>
            </a:bodyPr>
            <a:lstStyle/>
            <a:p>
              <a:pPr algn="l"/>
              <a:r>
                <a:rPr lang="en-US" sz="980" b="1" dirty="0">
                  <a:solidFill>
                    <a:schemeClr val="dk2"/>
                  </a:solidFill>
                  <a:latin typeface="+mn-lt"/>
                  <a:ea typeface="+mn-ea"/>
                  <a:cs typeface="+mn-cs"/>
                </a:rPr>
                <a:t>thanks to sparse decoding</a:t>
              </a:r>
            </a:p>
          </p:txBody>
        </p:sp>
      </p:grpSp>
      <p:sp>
        <p:nvSpPr>
          <p:cNvPr id="41" name="cue_s09_c1_key_numbers_seventy_percent_reductio" title="cue_s09_c1_key_numbers_seventy_percent_reductio" descr="cue_s09_c1_key_numbers_seventy_percent_reductio The key numbers are: up to a seventy percent reduction in compression time versus state-of-the-art sparsification; up to three-and-a-half times faster total training than DGC and up to thirty-six times faster than full synchronization at equal convergence; per"/>
          <p:cNvSpPr/>
          <p:nvPr/>
        </p:nvSpPr>
        <p:spPr>
          <a:xfrm>
            <a:off x="609600" y="1581454"/>
            <a:ext cx="10972800" cy="36573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968079"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TAKEAWAY</a:t>
            </a:r>
          </a:p>
        </p:txBody>
      </p:sp>
      <p:sp>
        <p:nvSpPr>
          <p:cNvPr id="4" name="TextBox 4"/>
          <p:cNvSpPr txBox="1"/>
          <p:nvPr/>
        </p:nvSpPr>
        <p:spPr>
          <a:xfrm>
            <a:off x="598170" y="804862"/>
            <a:ext cx="5026955"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Match the algorithm to the task</a:t>
            </a:r>
          </a:p>
        </p:txBody>
      </p:sp>
      <p:grpSp>
        <p:nvGrpSpPr>
          <p:cNvPr id="11" name="Group 11"/>
          <p:cNvGrpSpPr/>
          <p:nvPr/>
        </p:nvGrpSpPr>
        <p:grpSpPr>
          <a:xfrm>
            <a:off x="609600" y="1676400"/>
            <a:ext cx="10972800" cy="1428750"/>
            <a:chOff x="609600" y="1676400"/>
            <a:chExt cx="10972800" cy="1428750"/>
          </a:xfrm>
        </p:grpSpPr>
        <p:sp>
          <p:nvSpPr>
            <p:cNvPr id="5" name="Rectangle 5"/>
            <p:cNvSpPr/>
            <p:nvPr/>
          </p:nvSpPr>
          <p:spPr>
            <a:xfrm>
              <a:off x="609600" y="1676400"/>
              <a:ext cx="10972800" cy="1428750"/>
            </a:xfrm>
            <a:prstGeom prst="roundRect">
              <a:avLst>
                <a:gd name="adj" fmla="val 9333"/>
              </a:avLst>
            </a:prstGeom>
            <a:solidFill>
              <a:schemeClr val="accent5"/>
            </a:solidFill>
            <a:ln w="14288">
              <a:solidFill>
                <a:srgbClr val="26455F"/>
              </a:solidFill>
            </a:ln>
          </p:spPr>
        </p:sp>
        <p:sp>
          <p:nvSpPr>
            <p:cNvPr id="6" name="Rectangle 6"/>
            <p:cNvSpPr/>
            <p:nvPr/>
          </p:nvSpPr>
          <p:spPr>
            <a:xfrm>
              <a:off x="609600" y="1676400"/>
              <a:ext cx="57150" cy="1428750"/>
            </a:xfrm>
            <a:prstGeom prst="roundRect">
              <a:avLst>
                <a:gd name="adj" fmla="val 50000"/>
              </a:avLst>
            </a:prstGeom>
            <a:solidFill>
              <a:schemeClr val="accent2"/>
            </a:solidFill>
            <a:ln>
              <a:noFill/>
            </a:ln>
          </p:spPr>
        </p:sp>
        <p:sp>
          <p:nvSpPr>
            <p:cNvPr id="7" name="Ellipse 7"/>
            <p:cNvSpPr/>
            <p:nvPr/>
          </p:nvSpPr>
          <p:spPr>
            <a:xfrm>
              <a:off x="971550" y="2114550"/>
              <a:ext cx="190500" cy="190500"/>
            </a:xfrm>
            <a:prstGeom prst="ellipse">
              <a:avLst/>
            </a:prstGeom>
            <a:solidFill>
              <a:schemeClr val="accent2"/>
            </a:solidFill>
            <a:ln>
              <a:noFill/>
            </a:ln>
          </p:spPr>
        </p:sp>
        <p:sp>
          <p:nvSpPr>
            <p:cNvPr id="8" name="TextBox 8"/>
            <p:cNvSpPr txBox="1"/>
            <p:nvPr/>
          </p:nvSpPr>
          <p:spPr>
            <a:xfrm>
              <a:off x="1421511" y="1979771"/>
              <a:ext cx="4035947"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Do not pay for exactness you do not need</a:t>
              </a:r>
            </a:p>
          </p:txBody>
        </p:sp>
        <p:sp>
          <p:nvSpPr>
            <p:cNvPr id="9" name="TextBox 9"/>
            <p:cNvSpPr txBox="1"/>
            <p:nvPr/>
          </p:nvSpPr>
          <p:spPr>
            <a:xfrm>
              <a:off x="1422844" y="2312908"/>
              <a:ext cx="6786490"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Gradient sparsification only ever needs an approximate set of top gradients, so using an</a:t>
              </a:r>
            </a:p>
          </p:txBody>
        </p:sp>
        <p:sp>
          <p:nvSpPr>
            <p:cNvPr id="10" name="TextBox 10"/>
            <p:cNvSpPr txBox="1"/>
            <p:nvPr/>
          </p:nvSpPr>
          <p:spPr>
            <a:xfrm>
              <a:off x="1422844" y="2541508"/>
              <a:ext cx="5235336"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expensive exact selection algorithm to place them is wasted effort.</a:t>
              </a:r>
            </a:p>
          </p:txBody>
        </p:sp>
      </p:grpSp>
      <p:grpSp>
        <p:nvGrpSpPr>
          <p:cNvPr id="19" name="Group 19"/>
          <p:cNvGrpSpPr/>
          <p:nvPr/>
        </p:nvGrpSpPr>
        <p:grpSpPr>
          <a:xfrm>
            <a:off x="609600" y="3257550"/>
            <a:ext cx="10972800" cy="1428750"/>
            <a:chOff x="609600" y="3257550"/>
            <a:chExt cx="10972800" cy="1428750"/>
          </a:xfrm>
        </p:grpSpPr>
        <p:sp>
          <p:nvSpPr>
            <p:cNvPr id="12" name="Rectangle 12"/>
            <p:cNvSpPr/>
            <p:nvPr/>
          </p:nvSpPr>
          <p:spPr>
            <a:xfrm>
              <a:off x="609600" y="3257550"/>
              <a:ext cx="10972800" cy="1428750"/>
            </a:xfrm>
            <a:prstGeom prst="roundRect">
              <a:avLst>
                <a:gd name="adj" fmla="val 9333"/>
              </a:avLst>
            </a:prstGeom>
            <a:solidFill>
              <a:srgbClr val="0F2E2B"/>
            </a:solidFill>
            <a:ln w="14288">
              <a:solidFill>
                <a:srgbClr val="34D3C0"/>
              </a:solidFill>
            </a:ln>
          </p:spPr>
        </p:sp>
        <p:sp>
          <p:nvSpPr>
            <p:cNvPr id="13" name="Rectangle 13"/>
            <p:cNvSpPr/>
            <p:nvPr/>
          </p:nvSpPr>
          <p:spPr>
            <a:xfrm>
              <a:off x="609600" y="3257550"/>
              <a:ext cx="57150" cy="1428750"/>
            </a:xfrm>
            <a:prstGeom prst="roundRect">
              <a:avLst>
                <a:gd name="adj" fmla="val 50000"/>
              </a:avLst>
            </a:prstGeom>
            <a:solidFill>
              <a:srgbClr val="34D3C0"/>
            </a:solidFill>
            <a:ln>
              <a:noFill/>
            </a:ln>
          </p:spPr>
        </p:sp>
        <p:sp>
          <p:nvSpPr>
            <p:cNvPr id="14" name="Ellipse 14"/>
            <p:cNvSpPr/>
            <p:nvPr/>
          </p:nvSpPr>
          <p:spPr>
            <a:xfrm>
              <a:off x="971550" y="3695700"/>
              <a:ext cx="190500" cy="190500"/>
            </a:xfrm>
            <a:prstGeom prst="ellipse">
              <a:avLst/>
            </a:prstGeom>
            <a:solidFill>
              <a:srgbClr val="34D3C0"/>
            </a:solidFill>
            <a:ln>
              <a:noFill/>
            </a:ln>
          </p:spPr>
        </p:sp>
        <p:sp>
          <p:nvSpPr>
            <p:cNvPr id="15" name="TextBox 15"/>
            <p:cNvSpPr txBox="1"/>
            <p:nvPr/>
          </p:nvSpPr>
          <p:spPr>
            <a:xfrm>
              <a:off x="1421511" y="3560921"/>
              <a:ext cx="4316086"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Hashing makes sparsification finally pay off</a:t>
              </a:r>
            </a:p>
          </p:txBody>
        </p:sp>
        <p:sp>
          <p:nvSpPr>
            <p:cNvPr id="16" name="TextBox 16"/>
            <p:cNvSpPr txBox="1"/>
            <p:nvPr/>
          </p:nvSpPr>
          <p:spPr>
            <a:xfrm>
              <a:off x="1422844" y="3894058"/>
              <a:ext cx="7309671"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Swapping exact prefix sum for direct randomized hashing turns a sequential, dependency-heavy</a:t>
              </a:r>
            </a:p>
          </p:txBody>
        </p:sp>
        <p:sp>
          <p:nvSpPr>
            <p:cNvPr id="17" name="TextBox 17"/>
            <p:cNvSpPr txBox="1"/>
            <p:nvPr/>
          </p:nvSpPr>
          <p:spPr>
            <a:xfrm>
              <a:off x="1422844" y="4122658"/>
              <a:ext cx="7218558"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step into an embarrassingly parallel one; with tensor selection and sparse decoding it delivers</a:t>
              </a:r>
            </a:p>
          </p:txBody>
        </p:sp>
        <p:sp>
          <p:nvSpPr>
            <p:cNvPr id="18" name="TextBox 18"/>
            <p:cNvSpPr txBox="1"/>
            <p:nvPr/>
          </p:nvSpPr>
          <p:spPr>
            <a:xfrm>
              <a:off x="1422844" y="4351258"/>
              <a:ext cx="3423890"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scalable speedups without hurting accuracy.</a:t>
              </a:r>
            </a:p>
          </p:txBody>
        </p:sp>
      </p:grpSp>
      <p:sp>
        <p:nvSpPr>
          <p:cNvPr id="20" name="Line 20"/>
          <p:cNvSpPr/>
          <p:nvPr/>
        </p:nvSpPr>
        <p:spPr>
          <a:xfrm>
            <a:off x="609600" y="510540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21" name="TextBox 21"/>
          <p:cNvSpPr txBox="1"/>
          <p:nvPr/>
        </p:nvSpPr>
        <p:spPr>
          <a:xfrm>
            <a:off x="603694" y="5322808"/>
            <a:ext cx="6173227" cy="227362"/>
          </a:xfrm>
          <a:prstGeom prst="rect">
            <a:avLst/>
          </a:prstGeom>
          <a:noFill/>
          <a:ln>
            <a:noFill/>
          </a:ln>
        </p:spPr>
        <p:txBody>
          <a:bodyPr wrap="none" lIns="0" tIns="0" rIns="0" bIns="0" anchor="t" anchorCtr="0">
            <a:spAutoFit/>
          </a:bodyPr>
          <a:lstStyle/>
          <a:p>
            <a:pPr algn="l"/>
            <a:r>
              <a:rPr lang="en-US" sz="1160" b="1" dirty="0">
                <a:solidFill>
                  <a:schemeClr val="dk1"/>
                </a:solidFill>
                <a:latin typeface="+mn-lt"/>
                <a:ea typeface="+mn-ea"/>
                <a:cs typeface="+mn-cs"/>
              </a:rPr>
              <a:t>DRAGONN: Distributed Randomized Approximate Gradients of Neural Networks</a:t>
            </a:r>
          </a:p>
        </p:txBody>
      </p:sp>
      <p:sp>
        <p:nvSpPr>
          <p:cNvPr id="22" name="TextBox 22"/>
          <p:cNvSpPr txBox="1"/>
          <p:nvPr/>
        </p:nvSpPr>
        <p:spPr>
          <a:xfrm>
            <a:off x="604456" y="5605701"/>
            <a:ext cx="5186728"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ICML 2022 · Rice University &amp; ThirdAI · github.com/zhuangwang93/dragonn</a:t>
            </a:r>
          </a:p>
        </p:txBody>
      </p:sp>
      <p:sp>
        <p:nvSpPr>
          <p:cNvPr id="23" name="cue_s10_c1_lasting_lesson_simple_since_gradient" title="cue_s10_c1_lasting_lesson_simple_since_gradient" descr="cue_s10_c1_lasting_lesson_simple_since_gradient The lasting lesson is simple: since gradient sparsification only ever needs an approximate set of top gradients, it should not pay for an exact selection algorithm."/>
          <p:cNvSpPr/>
          <p:nvPr/>
        </p:nvSpPr>
        <p:spPr>
          <a:xfrm>
            <a:off x="609600" y="1676095"/>
            <a:ext cx="109728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cue_s10_c2_swapping_exact_parallel_prefix_sum" title="cue_s10_c2_swapping_exact_parallel_prefix_sum" descr="cue_s10_c2_swapping_exact_parallel_prefix_sum By swapping exact parallel prefix sum for direct randomized hashing, DRAGONN turns a sequential, dependency-heavy compression step into an embarrassingly parallel one, removes the overhead that had been cancelling out sparsification's benefits, and, together w"/>
          <p:cNvSpPr/>
          <p:nvPr/>
        </p:nvSpPr>
        <p:spPr>
          <a:xfrm>
            <a:off x="609600" y="3257550"/>
            <a:ext cx="109728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deck">
  <a:themeElements>
    <a:clrScheme name="deck">
      <a:dk1>
        <a:srgbClr val="EAF2FB"/>
      </a:dk1>
      <a:lt1>
        <a:srgbClr val="0B1B2B"/>
      </a:lt1>
      <a:dk2>
        <a:srgbClr val="9DB3C8"/>
      </a:dk2>
      <a:lt2>
        <a:srgbClr val="0B1B2B"/>
      </a:lt2>
      <a:accent1>
        <a:srgbClr val="4C9BE8"/>
      </a:accent1>
      <a:accent2>
        <a:srgbClr val="4C9BE8"/>
      </a:accent2>
      <a:accent3>
        <a:srgbClr val="4C9BE8"/>
      </a:accent3>
      <a:accent4>
        <a:srgbClr val="8064A2"/>
      </a:accent4>
      <a:accent5>
        <a:srgbClr val="12293D"/>
      </a:accent5>
      <a:accent6>
        <a:srgbClr val="16324A"/>
      </a:accent6>
      <a:hlink>
        <a:srgbClr val="4C9BE8"/>
      </a:hlink>
      <a:folHlink>
        <a:srgbClr val="4C9BE8"/>
      </a:folHlink>
    </a:clrScheme>
    <a:fontScheme name="deck">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2026-07-16T04:46:33Z</dcterms:created>
  <dcterms:modified xsi:type="dcterms:W3CDTF">2026-07-16T04:46:33Z</dcterms:modified>
  <cp:category/>
  <cp:contentStatus/>
</cp:coreProperties>
</file>
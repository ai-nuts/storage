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1887" y="651887"/>
            <a:ext cx="49902625" cy="441930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1887" y="5026739"/>
            <a:ext cx="49902625" cy="44450"/>
          </a:xfrm>
          <a:prstGeom prst="rect">
            <a:avLst/>
          </a:prstGeom>
          <a:solidFill>
            <a:srgbClr val="3846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1887" y="5592643"/>
            <a:ext cx="10804961" cy="84610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1887" y="5592643"/>
            <a:ext cx="10804961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3568" y="5592643"/>
            <a:ext cx="13506133" cy="2447930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83568" y="5592643"/>
            <a:ext cx="13506133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816421" y="5592643"/>
            <a:ext cx="13506271" cy="2447930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816421" y="5592643"/>
            <a:ext cx="13506271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749412" y="5592643"/>
            <a:ext cx="10804962" cy="52149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749412" y="5592643"/>
            <a:ext cx="10804962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749412" y="11139447"/>
            <a:ext cx="10804962" cy="13175953"/>
          </a:xfrm>
          <a:prstGeom prst="rect">
            <a:avLst/>
          </a:prstGeom>
          <a:solidFill>
            <a:srgbClr val="F0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749412" y="11139447"/>
            <a:ext cx="10804962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749412" y="11139447"/>
            <a:ext cx="53340" cy="13175953"/>
          </a:xfrm>
          <a:prstGeom prst="rect">
            <a:avLst/>
          </a:prstGeom>
          <a:solidFill>
            <a:srgbClr val="3846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1887" y="14385547"/>
            <a:ext cx="10804961" cy="1568640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1887" y="14385547"/>
            <a:ext cx="10804961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749412" y="24647247"/>
            <a:ext cx="10804962" cy="542470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9749412" y="24647247"/>
            <a:ext cx="10804962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_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10221" y="1149746"/>
            <a:ext cx="4496117" cy="1517095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39986386" y="6985317"/>
            <a:ext cx="10331014" cy="3632676"/>
          </a:xfrm>
          <a:prstGeom prst="roundRect">
            <a:avLst>
              <a:gd name="adj" fmla="val 1957"/>
            </a:avLst>
          </a:prstGeom>
          <a:gradFill rotWithShape="1" flip="none">
            <a:gsLst>
              <a:gs pos="0">
                <a:srgbClr val="E7E9EB"/>
              </a:gs>
              <a:gs pos="100000">
                <a:srgbClr val="F3F4F5"/>
              </a:gs>
            </a:gsLst>
            <a:lin ang="5400000" scaled="0"/>
          </a:gradFill>
          <a:ln w="8890">
            <a:solidFill>
              <a:srgbClr val="CDD1D6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8861" y="11027072"/>
            <a:ext cx="10331013" cy="283702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8861" y="11027072"/>
            <a:ext cx="124460" cy="2837021"/>
          </a:xfrm>
          <a:prstGeom prst="rect">
            <a:avLst/>
          </a:prstGeom>
          <a:solidFill>
            <a:srgbClr val="3846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0039726" y="12615326"/>
            <a:ext cx="10277674" cy="3702824"/>
          </a:xfrm>
          <a:prstGeom prst="roundRect">
            <a:avLst>
              <a:gd name="adj" fmla="val 5634"/>
            </a:avLst>
          </a:prstGeom>
          <a:solidFill>
            <a:srgbClr val="384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0039726" y="16401355"/>
            <a:ext cx="10277674" cy="969982"/>
          </a:xfrm>
          <a:prstGeom prst="roundRect">
            <a:avLst>
              <a:gd name="adj" fmla="val 21507"/>
            </a:avLst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2120542" y="16660137"/>
            <a:ext cx="13032185" cy="1437541"/>
          </a:xfrm>
          <a:prstGeom prst="roundRect">
            <a:avLst>
              <a:gd name="adj" fmla="val 15673"/>
            </a:avLst>
          </a:prstGeom>
          <a:solidFill>
            <a:srgbClr val="F3F4F5"/>
          </a:solidFill>
          <a:ln w="8890">
            <a:solidFill>
              <a:srgbClr val="BFC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6053395" y="23907710"/>
            <a:ext cx="13032323" cy="2632273"/>
          </a:xfrm>
          <a:prstGeom prst="roundRect">
            <a:avLst>
              <a:gd name="adj" fmla="val 50000"/>
            </a:avLst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88861" y="25305246"/>
            <a:ext cx="10331013" cy="2325985"/>
          </a:xfrm>
          <a:prstGeom prst="roundRect">
            <a:avLst>
              <a:gd name="adj" fmla="val 8969"/>
            </a:avLst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6053395" y="27342722"/>
            <a:ext cx="13032323" cy="223958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6053395" y="27342722"/>
            <a:ext cx="13032323" cy="11557"/>
          </a:xfrm>
          <a:prstGeom prst="rect">
            <a:avLst/>
          </a:prstGeom>
          <a:solidFill>
            <a:srgbClr val="BAB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Picture 29" descr="universit-de-montr-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63096" y="3286673"/>
            <a:ext cx="3111222" cy="1191234"/>
          </a:xfrm>
          <a:prstGeom prst="rect">
            <a:avLst/>
          </a:prstGeom>
        </p:spPr>
      </p:pic>
      <p:pic>
        <p:nvPicPr>
          <p:cNvPr id="31" name="Picture 30" descr="mila-quebec-artificial-intelligence-institu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11292" y="3286669"/>
            <a:ext cx="4034949" cy="1191243"/>
          </a:xfrm>
          <a:prstGeom prst="rect">
            <a:avLst/>
          </a:prstGeom>
        </p:spPr>
      </p:pic>
      <p:pic>
        <p:nvPicPr>
          <p:cNvPr id="32" name="Picture 31" descr="ciela-montreal-institute-for-astrophysical-data-analysis-and-machine-learnin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83215" y="3286660"/>
            <a:ext cx="1191260" cy="1191260"/>
          </a:xfrm>
          <a:prstGeom prst="rect">
            <a:avLst/>
          </a:prstGeom>
        </p:spPr>
      </p:pic>
      <p:pic>
        <p:nvPicPr>
          <p:cNvPr id="33" name="Picture 32" descr="center-for-computational-astrophysics-flatiron-institu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11449" y="3286682"/>
            <a:ext cx="3348891" cy="1191216"/>
          </a:xfrm>
          <a:prstGeom prst="rect">
            <a:avLst/>
          </a:prstGeom>
        </p:spPr>
      </p:pic>
      <p:pic>
        <p:nvPicPr>
          <p:cNvPr id="34" name="Picture 33" descr="perimeter-institute-for-theoretical-physic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97314" y="3286671"/>
            <a:ext cx="3593504" cy="1191239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45742383" y="7207567"/>
            <a:ext cx="4329152" cy="323568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42383" y="7207567"/>
            <a:ext cx="11557" cy="3235682"/>
          </a:xfrm>
          <a:prstGeom prst="rect">
            <a:avLst/>
          </a:prstGeom>
          <a:solidFill>
            <a:srgbClr val="CDD1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6053395" y="7767776"/>
            <a:ext cx="13032323" cy="12946062"/>
          </a:xfrm>
          <a:prstGeom prst="roundRect">
            <a:avLst>
              <a:gd name="adj" fmla="val 274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page4_figure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053461" y="7767776"/>
            <a:ext cx="13032190" cy="12946062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12120542" y="14685168"/>
            <a:ext cx="4170244" cy="1661041"/>
          </a:xfrm>
          <a:prstGeom prst="roundRect">
            <a:avLst>
              <a:gd name="adj" fmla="val 15699"/>
            </a:avLst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6551513" y="14685168"/>
            <a:ext cx="4170243" cy="1661041"/>
          </a:xfrm>
          <a:prstGeom prst="roundRect">
            <a:avLst>
              <a:gd name="adj" fmla="val 15699"/>
            </a:avLst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20982483" y="14685168"/>
            <a:ext cx="4170244" cy="1661041"/>
          </a:xfrm>
          <a:prstGeom prst="roundRect">
            <a:avLst>
              <a:gd name="adj" fmla="val 15699"/>
            </a:avLst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2120542" y="18672333"/>
            <a:ext cx="13032185" cy="8509536"/>
          </a:xfrm>
          <a:prstGeom prst="roundRect">
            <a:avLst>
              <a:gd name="adj" fmla="val 417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page3_figure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120625" y="18672333"/>
            <a:ext cx="13032019" cy="8509536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41459765" y="25684182"/>
            <a:ext cx="7384256" cy="4198163"/>
          </a:xfrm>
          <a:prstGeom prst="roundRect">
            <a:avLst>
              <a:gd name="adj" fmla="val 5082"/>
            </a:avLst>
          </a:prstGeom>
          <a:solidFill>
            <a:srgbClr val="E9ECF3"/>
          </a:solidFill>
          <a:ln w="17780">
            <a:solidFill>
              <a:srgbClr val="384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88861" y="27961828"/>
            <a:ext cx="1571029" cy="819824"/>
          </a:xfrm>
          <a:prstGeom prst="roundRect">
            <a:avLst>
              <a:gd name="adj" fmla="val 50000"/>
            </a:avLst>
          </a:prstGeom>
          <a:solidFill>
            <a:srgbClr val="EBE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38465C"/>
                </a:solidFill>
                <a:latin typeface="Arial"/>
              </a:rPr>
              <a:t>LIGO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616299" y="27961828"/>
            <a:ext cx="1612423" cy="819824"/>
          </a:xfrm>
          <a:prstGeom prst="roundRect">
            <a:avLst>
              <a:gd name="adj" fmla="val 50000"/>
            </a:avLst>
          </a:prstGeom>
          <a:solidFill>
            <a:srgbClr val="EBE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38465C"/>
                </a:solidFill>
                <a:latin typeface="Arial"/>
              </a:rPr>
              <a:t>Virgo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85131" y="27961828"/>
            <a:ext cx="2112764" cy="819824"/>
          </a:xfrm>
          <a:prstGeom prst="roundRect">
            <a:avLst>
              <a:gd name="adj" fmla="val 50000"/>
            </a:avLst>
          </a:prstGeom>
          <a:solidFill>
            <a:srgbClr val="EBE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38465C"/>
                </a:solidFill>
                <a:latin typeface="Arial"/>
              </a:rPr>
              <a:t>KAGRA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654303" y="27961828"/>
            <a:ext cx="4010224" cy="819824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Cosmic Explorer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88861" y="28938061"/>
            <a:ext cx="4470003" cy="819824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Einstein Telescope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2696864" y="25986442"/>
            <a:ext cx="1425317" cy="488116"/>
          </a:xfrm>
          <a:prstGeom prst="roundRect">
            <a:avLst>
              <a:gd name="adj" fmla="val 50000"/>
            </a:avLst>
          </a:prstGeom>
          <a:solidFill>
            <a:srgbClr val="384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426" b="1">
                <a:solidFill>
                  <a:srgbClr val="FFFFFF"/>
                </a:solidFill>
                <a:latin typeface="Arial"/>
              </a:rPr>
              <a:t>Paper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6224666" y="25986442"/>
            <a:ext cx="1339195" cy="488116"/>
          </a:xfrm>
          <a:prstGeom prst="roundRect">
            <a:avLst>
              <a:gd name="adj" fmla="val 50000"/>
            </a:avLst>
          </a:prstGeom>
          <a:solidFill>
            <a:srgbClr val="384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426" b="1">
                <a:solidFill>
                  <a:srgbClr val="FFFFFF"/>
                </a:solidFill>
                <a:latin typeface="Arial"/>
              </a:rPr>
              <a:t>Code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1927879" y="26616798"/>
            <a:ext cx="2963287" cy="2963287"/>
          </a:xfrm>
          <a:prstGeom prst="roundRect">
            <a:avLst>
              <a:gd name="adj" fmla="val 5200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pap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046412" y="26735331"/>
            <a:ext cx="2726221" cy="2726221"/>
          </a:xfrm>
          <a:prstGeom prst="rect">
            <a:avLst/>
          </a:prstGeom>
        </p:spPr>
      </p:pic>
      <p:sp>
        <p:nvSpPr>
          <p:cNvPr id="54" name="Rounded Rectangle 53"/>
          <p:cNvSpPr/>
          <p:nvPr/>
        </p:nvSpPr>
        <p:spPr>
          <a:xfrm>
            <a:off x="45412620" y="26616798"/>
            <a:ext cx="2963287" cy="2963287"/>
          </a:xfrm>
          <a:prstGeom prst="roundRect">
            <a:avLst>
              <a:gd name="adj" fmla="val 5200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cod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531153" y="26735331"/>
            <a:ext cx="2726221" cy="2726221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315581" y="1007487"/>
            <a:ext cx="32157908" cy="25906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8465"/>
              </a:lnSpc>
              <a:spcBef>
                <a:spcPts val="0"/>
              </a:spcBef>
              <a:spcAft>
                <a:spcPts val="0"/>
              </a:spcAft>
            </a:pPr>
            <a:r>
              <a:rPr sz="7838" b="1" spc="-82">
                <a:solidFill>
                  <a:srgbClr val="111111"/>
                </a:solidFill>
                <a:latin typeface="Arial"/>
              </a:rPr>
              <a:t>Towards Unbiased Gravitational-Wave Parameter Estimation</a:t>
            </a:r>
          </a:p>
          <a:p>
            <a:pPr algn="l">
              <a:lnSpc>
                <a:spcPts val="8465"/>
              </a:lnSpc>
              <a:spcBef>
                <a:spcPts val="0"/>
              </a:spcBef>
              <a:spcAft>
                <a:spcPts val="0"/>
              </a:spcAft>
            </a:pPr>
            <a:r>
              <a:rPr sz="7838" b="1" spc="-82">
                <a:solidFill>
                  <a:srgbClr val="111111"/>
                </a:solidFill>
                <a:latin typeface="Arial"/>
              </a:rPr>
              <a:t>using Score-Based Likelihood Characterization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15581" y="3489741"/>
            <a:ext cx="32157908" cy="7442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095"/>
              </a:lnSpc>
              <a:spcBef>
                <a:spcPts val="0"/>
              </a:spcBef>
              <a:spcAft>
                <a:spcPts val="0"/>
              </a:spcAft>
            </a:pPr>
            <a:r>
              <a:rPr sz="3920" b="0">
                <a:solidFill>
                  <a:srgbClr val="1C1C1C"/>
                </a:solidFill>
                <a:latin typeface="Arial"/>
              </a:rPr>
              <a:t>Ronan Legin</a:t>
            </a:r>
            <a:r>
              <a:rPr sz="5487" b="0" baseline="30000">
                <a:solidFill>
                  <a:srgbClr val="1C1C1C"/>
                </a:solidFill>
                <a:latin typeface="Arial"/>
              </a:rPr>
              <a:t>1,2,3</a:t>
            </a:r>
            <a:r>
              <a:rPr sz="3920" b="0">
                <a:solidFill>
                  <a:srgbClr val="1C1C1C"/>
                </a:solidFill>
                <a:latin typeface="Arial"/>
              </a:rPr>
              <a:t>, Maximiliano Isi</a:t>
            </a:r>
            <a:r>
              <a:rPr sz="5487" b="0" baseline="30000">
                <a:solidFill>
                  <a:srgbClr val="1C1C1C"/>
                </a:solidFill>
                <a:latin typeface="Arial"/>
              </a:rPr>
              <a:t>4</a:t>
            </a:r>
            <a:r>
              <a:rPr sz="3920" b="0">
                <a:solidFill>
                  <a:srgbClr val="1C1C1C"/>
                </a:solidFill>
                <a:latin typeface="Arial"/>
              </a:rPr>
              <a:t>, Kaze Wong</a:t>
            </a:r>
            <a:r>
              <a:rPr sz="5487" b="0" baseline="30000">
                <a:solidFill>
                  <a:srgbClr val="1C1C1C"/>
                </a:solidFill>
                <a:latin typeface="Arial"/>
              </a:rPr>
              <a:t>4</a:t>
            </a:r>
            <a:r>
              <a:rPr sz="3920" b="0">
                <a:solidFill>
                  <a:srgbClr val="1C1C1C"/>
                </a:solidFill>
                <a:latin typeface="Arial"/>
              </a:rPr>
              <a:t>, Alexandre Adam</a:t>
            </a:r>
            <a:r>
              <a:rPr sz="5487" b="0" baseline="30000">
                <a:solidFill>
                  <a:srgbClr val="1C1C1C"/>
                </a:solidFill>
                <a:latin typeface="Arial"/>
              </a:rPr>
              <a:t>1,2,3</a:t>
            </a:r>
            <a:r>
              <a:rPr sz="3920" b="0">
                <a:solidFill>
                  <a:srgbClr val="1C1C1C"/>
                </a:solidFill>
                <a:latin typeface="Arial"/>
              </a:rPr>
              <a:t>, Laurence Perreault-Levasseur</a:t>
            </a:r>
            <a:r>
              <a:rPr sz="5487" b="0" baseline="30000">
                <a:solidFill>
                  <a:srgbClr val="1C1C1C"/>
                </a:solidFill>
                <a:latin typeface="Arial"/>
              </a:rPr>
              <a:t>1,2,3,4,5</a:t>
            </a:r>
            <a:r>
              <a:rPr sz="3920" b="0">
                <a:solidFill>
                  <a:srgbClr val="1C1C1C"/>
                </a:solidFill>
                <a:latin typeface="Arial"/>
              </a:rPr>
              <a:t>, Yashar Hezaveh</a:t>
            </a:r>
            <a:r>
              <a:rPr sz="5487" b="0" baseline="30000">
                <a:solidFill>
                  <a:srgbClr val="1C1C1C"/>
                </a:solidFill>
                <a:latin typeface="Arial"/>
              </a:rPr>
              <a:t>1,2,3,4,5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315581" y="4189968"/>
            <a:ext cx="32157908" cy="5533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268" b="0" spc="52" baseline="30000">
                <a:solidFill>
                  <a:srgbClr val="5A5A5A"/>
                </a:solidFill>
                <a:latin typeface="Arial"/>
              </a:rPr>
              <a:t>1</a:t>
            </a:r>
            <a:r>
              <a:rPr sz="2613" b="0" spc="52">
                <a:solidFill>
                  <a:srgbClr val="5A5A5A"/>
                </a:solidFill>
                <a:latin typeface="Arial"/>
              </a:rPr>
              <a:t> Université de Montréal    </a:t>
            </a:r>
            <a:r>
              <a:rPr sz="3658" b="0" spc="52" baseline="30000">
                <a:solidFill>
                  <a:srgbClr val="5A5A5A"/>
                </a:solidFill>
                <a:latin typeface="Arial"/>
              </a:rPr>
              <a:t>2</a:t>
            </a:r>
            <a:r>
              <a:rPr sz="2613" b="0" spc="52">
                <a:solidFill>
                  <a:srgbClr val="5A5A5A"/>
                </a:solidFill>
                <a:latin typeface="Arial"/>
              </a:rPr>
              <a:t> Mila    </a:t>
            </a:r>
            <a:r>
              <a:rPr sz="3658" b="0" spc="52" baseline="30000">
                <a:solidFill>
                  <a:srgbClr val="5A5A5A"/>
                </a:solidFill>
                <a:latin typeface="Arial"/>
              </a:rPr>
              <a:t>3</a:t>
            </a:r>
            <a:r>
              <a:rPr sz="2613" b="0" spc="52">
                <a:solidFill>
                  <a:srgbClr val="5A5A5A"/>
                </a:solidFill>
                <a:latin typeface="Arial"/>
              </a:rPr>
              <a:t> Ciela Institute    </a:t>
            </a:r>
            <a:r>
              <a:rPr sz="3658" b="0" spc="52" baseline="30000">
                <a:solidFill>
                  <a:srgbClr val="5A5A5A"/>
                </a:solidFill>
                <a:latin typeface="Arial"/>
              </a:rPr>
              <a:t>4</a:t>
            </a:r>
            <a:r>
              <a:rPr sz="2613" b="0" spc="52">
                <a:solidFill>
                  <a:srgbClr val="5A5A5A"/>
                </a:solidFill>
                <a:latin typeface="Arial"/>
              </a:rPr>
              <a:t> Flatiron CCA    </a:t>
            </a:r>
            <a:r>
              <a:rPr sz="3658" b="0" spc="52" baseline="30000">
                <a:solidFill>
                  <a:srgbClr val="5A5A5A"/>
                </a:solidFill>
                <a:latin typeface="Arial"/>
              </a:rPr>
              <a:t>5</a:t>
            </a:r>
            <a:r>
              <a:rPr sz="2613" b="0" spc="52">
                <a:solidFill>
                  <a:srgbClr val="5A5A5A"/>
                </a:solidFill>
                <a:latin typeface="Arial"/>
              </a:rPr>
              <a:t> Perimeter Institute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8861" y="5918517"/>
            <a:ext cx="10640943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-28">
                <a:solidFill>
                  <a:srgbClr val="111111"/>
                </a:solidFill>
                <a:latin typeface="Arial"/>
              </a:rPr>
              <a:t>Problem 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120542" y="5918517"/>
            <a:ext cx="13423150" cy="899667"/>
          </a:xfrm>
          <a:prstGeom prst="rect">
            <a:avLst/>
          </a:prstGeom>
          <a:noFill/>
        </p:spPr>
        <p:txBody>
          <a:bodyPr wrap="non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-28">
                <a:solidFill>
                  <a:srgbClr val="111111"/>
                </a:solidFill>
                <a:latin typeface="Arial"/>
              </a:rPr>
              <a:t>Method 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6053395" y="5918517"/>
            <a:ext cx="13423292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-28">
                <a:solidFill>
                  <a:srgbClr val="111111"/>
                </a:solidFill>
                <a:latin typeface="Arial"/>
              </a:rPr>
              <a:t>Key Results 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9986386" y="5918517"/>
            <a:ext cx="10640944" cy="899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-28">
                <a:solidFill>
                  <a:srgbClr val="111111"/>
                </a:solidFill>
                <a:latin typeface="Arial"/>
              </a:rPr>
              <a:t>Headline Numbers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8861" y="6985317"/>
            <a:ext cx="10640943" cy="43481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Gravitational-wave parameter estimation conventionally assumes </a:t>
            </a:r>
            <a:r>
              <a:rPr sz="4106" b="1">
                <a:solidFill>
                  <a:srgbClr val="111111"/>
                </a:solidFill>
                <a:latin typeface="Arial"/>
              </a:rPr>
              <a:t>Gaussian, stationary</a:t>
            </a:r>
            <a:r>
              <a:rPr sz="4106" b="0">
                <a:solidFill>
                  <a:srgbClr val="1C1C1C"/>
                </a:solidFill>
                <a:latin typeface="Arial"/>
              </a:rPr>
              <a:t> detector noise — but real LIGO, Virgo, and KAGRA data deviate strongly, </a:t>
            </a:r>
            <a:r>
              <a:rPr sz="4106" b="1">
                <a:solidFill>
                  <a:srgbClr val="111111"/>
                </a:solidFill>
                <a:latin typeface="Arial"/>
              </a:rPr>
              <a:t>biasing inference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88861" y="11027072"/>
            <a:ext cx="10640943" cy="3262574"/>
          </a:xfrm>
          <a:prstGeom prst="rect">
            <a:avLst/>
          </a:prstGeom>
          <a:noFill/>
        </p:spPr>
        <p:txBody>
          <a:bodyPr wrap="squar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Real data carry glitches, drifting spectral lines, and subthreshold signals — handled today by costly, bias-prone fixes.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039726" y="11465321"/>
            <a:ext cx="10586004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-28">
                <a:solidFill>
                  <a:srgbClr val="111111"/>
                </a:solidFill>
                <a:latin typeface="Arial"/>
              </a:rPr>
              <a:t>Takeaway 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0039726" y="12615326"/>
            <a:ext cx="10586004" cy="4258247"/>
          </a:xfrm>
          <a:prstGeom prst="rect">
            <a:avLst/>
          </a:prstGeom>
          <a:noFill/>
        </p:spPr>
        <p:txBody>
          <a:bodyPr wrap="squar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Learn the real noise with a diffusion model, couple it to a differentiable waveform — and get unbiased GW likelihoods without assuming Gaussian, stationary noise.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88861" y="14711422"/>
            <a:ext cx="10640943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-28">
                <a:solidFill>
                  <a:srgbClr val="111111"/>
                </a:solidFill>
                <a:latin typeface="Arial"/>
              </a:rPr>
              <a:t>Motivation 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0039726" y="16401355"/>
            <a:ext cx="10586004" cy="1115479"/>
          </a:xfrm>
          <a:prstGeom prst="rect">
            <a:avLst/>
          </a:prstGeom>
          <a:noFill/>
        </p:spPr>
        <p:txBody>
          <a:bodyPr wrap="squar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38465C"/>
                </a:solidFill>
                <a:latin typeface="Arial"/>
              </a:rPr>
              <a:t>Scope &amp; next steps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3034267" y="17657345"/>
            <a:ext cx="11540876" cy="357822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4435" b="0">
                <a:solidFill>
                  <a:srgbClr val="1C1C1C"/>
                </a:solidFill>
                <a:latin typeface="Cambria Math"/>
              </a:rPr>
              <a:t>                                                                                     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learned noise score × waveform Jacobian gives an unbiased likelihood score, with x_O = M(θ) + x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6053395" y="23907710"/>
            <a:ext cx="13423292" cy="3027113"/>
          </a:xfrm>
          <a:prstGeom prst="rect">
            <a:avLst/>
          </a:prstGeom>
          <a:noFill/>
        </p:spPr>
        <p:txBody>
          <a:bodyPr wrap="square" lIns="485560" rIns="485560" tIns="281113" bIns="281113">
            <a:spAutoFit/>
          </a:bodyPr>
          <a:lstStyle/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38465C"/>
                </a:solidFill>
                <a:latin typeface="Arial"/>
              </a:rPr>
              <a:t>SLIC recovers all 5 parameters with high credibility — and a </a:t>
            </a:r>
            <a:r>
              <a:rPr sz="4024" b="1">
                <a:solidFill>
                  <a:srgbClr val="111111"/>
                </a:solidFill>
                <a:latin typeface="Arial"/>
              </a:rPr>
              <a:t>tighter posterior</a:t>
            </a:r>
            <a:r>
              <a:rPr sz="4024" b="1">
                <a:solidFill>
                  <a:srgbClr val="38465C"/>
                </a:solidFill>
                <a:latin typeface="Arial"/>
              </a:rPr>
              <a:t> than the Gaussian likelihood.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88861" y="25305246"/>
            <a:ext cx="10640943" cy="2674882"/>
          </a:xfrm>
          <a:prstGeom prst="rect">
            <a:avLst/>
          </a:prstGeom>
          <a:noFill/>
        </p:spPr>
        <p:txBody>
          <a:bodyPr wrap="squar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38465C"/>
                </a:solidFill>
                <a:latin typeface="Arial"/>
              </a:rPr>
              <a:t>A tiny non-Gaussian bias, multiplied across a growing catalog of events, compounds into a systematic error.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6053395" y="27342722"/>
            <a:ext cx="13423292" cy="2575523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The learned noise model matches the real LIGO PSD (incl. fine spectral lines) and yields unbiased, lower-variance parameter recovery.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120524" y="7158533"/>
            <a:ext cx="13423169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Cast inference as an </a:t>
            </a:r>
            <a:r>
              <a:rPr sz="4106" b="1">
                <a:solidFill>
                  <a:srgbClr val="111111"/>
                </a:solidFill>
                <a:latin typeface="Arial"/>
              </a:rPr>
              <a:t>additive-noise inverse problem</a:t>
            </a:r>
            <a:r>
              <a:rPr sz="4106" b="0">
                <a:solidFill>
                  <a:srgbClr val="1C1C1C"/>
                </a:solidFill>
                <a:latin typeface="Arial"/>
              </a:rPr>
              <a:t>: the observation is a deterministic waveform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M(θ)</a:t>
            </a:r>
            <a:r>
              <a:rPr sz="4106" b="0">
                <a:solidFill>
                  <a:srgbClr val="1C1C1C"/>
                </a:solidFill>
                <a:latin typeface="Arial"/>
              </a:rPr>
              <a:t> plus noise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x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2120524" y="9609673"/>
            <a:ext cx="13423169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A </a:t>
            </a:r>
            <a:r>
              <a:rPr sz="4106" b="1">
                <a:solidFill>
                  <a:srgbClr val="111111"/>
                </a:solidFill>
                <a:latin typeface="Arial"/>
              </a:rPr>
              <a:t>score-based diffusion model</a:t>
            </a:r>
            <a:r>
              <a:rPr sz="4106" b="0">
                <a:solidFill>
                  <a:srgbClr val="1C1C1C"/>
                </a:solidFill>
                <a:latin typeface="Arial"/>
              </a:rPr>
              <a:t> learns the noise score ∇ₓ log Q(x) directly from real LIGO data via denoising score matching.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2120524" y="12060812"/>
            <a:ext cx="13423169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Chain it with the Jacobian of a differentiable </a:t>
            </a:r>
            <a:r>
              <a:rPr sz="4106" b="1">
                <a:solidFill>
                  <a:srgbClr val="111111"/>
                </a:solidFill>
                <a:latin typeface="Arial"/>
              </a:rPr>
              <a:t>IMRPhenomD</a:t>
            </a:r>
            <a:r>
              <a:rPr sz="4106" b="0">
                <a:solidFill>
                  <a:srgbClr val="1C1C1C"/>
                </a:solidFill>
                <a:latin typeface="Arial"/>
              </a:rPr>
              <a:t> waveform (</a:t>
            </a:r>
            <a:r>
              <a:rPr sz="4106" b="0" i="1">
                <a:solidFill>
                  <a:srgbClr val="1C1C1C"/>
                </a:solidFill>
                <a:latin typeface="Arial"/>
              </a:rPr>
              <a:t>ripple</a:t>
            </a:r>
            <a:r>
              <a:rPr sz="4106" b="0">
                <a:solidFill>
                  <a:srgbClr val="1C1C1C"/>
                </a:solidFill>
                <a:latin typeface="Arial"/>
              </a:rPr>
              <a:t>) to form the likelihood score; sample with </a:t>
            </a:r>
            <a:r>
              <a:rPr sz="4106" b="1">
                <a:solidFill>
                  <a:srgbClr val="111111"/>
                </a:solidFill>
                <a:latin typeface="Arial"/>
              </a:rPr>
              <a:t>MALA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88842" y="16108818"/>
            <a:ext cx="10640962" cy="34785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As catalogs grow, analyzing many signals makes the pipeline sensitive to </a:t>
            </a:r>
            <a:r>
              <a:rPr sz="4106" b="1">
                <a:solidFill>
                  <a:srgbClr val="111111"/>
                </a:solidFill>
                <a:latin typeface="Arial"/>
              </a:rPr>
              <a:t>tiny departures</a:t>
            </a:r>
            <a:r>
              <a:rPr sz="4106" b="0">
                <a:solidFill>
                  <a:srgbClr val="1C1C1C"/>
                </a:solidFill>
                <a:latin typeface="Arial"/>
              </a:rPr>
              <a:t> from Gaussianity that accumulate into systematic biases.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0039708" y="17454542"/>
            <a:ext cx="10586022" cy="1739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Proof of concept:</a:t>
            </a:r>
            <a:r>
              <a:rPr sz="4106" b="0">
                <a:solidFill>
                  <a:srgbClr val="1C1C1C"/>
                </a:solidFill>
                <a:latin typeface="Arial"/>
              </a:rPr>
              <a:t> 4 s single-detector segments sampled with MALA.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0039708" y="19149476"/>
            <a:ext cx="10586022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Scaling up:</a:t>
            </a:r>
            <a:r>
              <a:rPr sz="4106" b="0">
                <a:solidFill>
                  <a:srgbClr val="1C1C1C"/>
                </a:solidFill>
                <a:latin typeface="Arial"/>
              </a:rPr>
              <a:t> longer segments for neutron-star signals; coherent multi-detector analysis.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88842" y="19316164"/>
            <a:ext cx="10640962" cy="34785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Keep the trusted </a:t>
            </a:r>
            <a:r>
              <a:rPr sz="4106" b="1">
                <a:solidFill>
                  <a:srgbClr val="111111"/>
                </a:solidFill>
                <a:latin typeface="Arial"/>
              </a:rPr>
              <a:t>deterministic waveform models</a:t>
            </a:r>
            <a:r>
              <a:rPr sz="4106" b="0">
                <a:solidFill>
                  <a:srgbClr val="1C1C1C"/>
                </a:solidFill>
                <a:latin typeface="Arial"/>
              </a:rPr>
              <a:t>, but drop the unrealistic noise assumption — no bespoke data surgery per artifact.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6574710" y="20863440"/>
            <a:ext cx="12349383" cy="25571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Posterior over the five recovered parameters using SLIC (orange) vs. the standard Gaussian likelihood (blue); black lines mark the true injected values. Contours: 10%, 39.35%, 90%.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0039708" y="21600616"/>
            <a:ext cx="10586022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Faster inference:</a:t>
            </a:r>
            <a:r>
              <a:rPr sz="4106" b="0">
                <a:solidFill>
                  <a:srgbClr val="1C1C1C"/>
                </a:solidFill>
                <a:latin typeface="Arial"/>
              </a:rPr>
              <a:t> pair the learned likelihood with samplers like flowMC for the full 15-D problem.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88842" y="22523509"/>
            <a:ext cx="10640962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Next-gen observatories will record far more events, so a scalable, assumption-free noise model becomes </a:t>
            </a:r>
            <a:r>
              <a:rPr sz="4106" b="1">
                <a:solidFill>
                  <a:srgbClr val="111111"/>
                </a:solidFill>
                <a:latin typeface="Arial"/>
              </a:rPr>
              <a:t>foundational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3664346" y="24973121"/>
            <a:ext cx="3064203" cy="5723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3733" b="1" spc="-18">
                <a:solidFill>
                  <a:srgbClr val="38465C"/>
                </a:solidFill>
                <a:latin typeface="Arial"/>
              </a:rPr>
              <a:t>Scan to Read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2641857" y="27331471"/>
            <a:ext cx="12349240" cy="2557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One-sided noise PSD from 1024 synthetic segments of the score-based model (SLIC, blue) vs. a Welch estimate from real LIGO-Hanford noise (dashed); SLIC resolves spectral lines more finely (11 h vs 1 h of data).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0232250" y="7207567"/>
            <a:ext cx="5084543" cy="15539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38465C"/>
                </a:solidFill>
                <a:latin typeface="Arial"/>
              </a:rPr>
              <a:t>11 h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0232250" y="8582461"/>
            <a:ext cx="5084543" cy="1199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real LIGO-Hanford noise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0232250" y="9625369"/>
            <a:ext cx="5084543" cy="94056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score-model training data (GW150914 epoch)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1190981" y="14841577"/>
            <a:ext cx="3865844" cy="9595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38465C"/>
                </a:solidFill>
                <a:latin typeface="Arial"/>
              </a:rPr>
              <a:t>20 Hz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2329040" y="14897695"/>
            <a:ext cx="3865844" cy="959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38465C"/>
                </a:solidFill>
                <a:latin typeface="Arial"/>
              </a:rPr>
              <a:t>4096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6760011" y="14897695"/>
            <a:ext cx="3865844" cy="9595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38465C"/>
                </a:solidFill>
                <a:latin typeface="Arial"/>
              </a:rPr>
              <a:t>4 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1190981" y="15743773"/>
            <a:ext cx="3865844" cy="5129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integration f</a:t>
            </a:r>
            <a:r>
              <a:rPr sz="3737" b="0" baseline="-25000">
                <a:solidFill>
                  <a:srgbClr val="555555"/>
                </a:solidFill>
                <a:latin typeface="Arial"/>
              </a:rPr>
              <a:t>low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2329040" y="15799891"/>
            <a:ext cx="3865844" cy="4483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Hz sample rate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6760011" y="15799891"/>
            <a:ext cx="3865844" cy="4483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segment length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6220637" y="7207567"/>
            <a:ext cx="1226855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1024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7594281" y="7340917"/>
            <a:ext cx="2551571" cy="981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synthetic noise draws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6220637" y="8455084"/>
            <a:ext cx="306749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5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6700975" y="8588434"/>
            <a:ext cx="2951891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params recovered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6220637" y="9352835"/>
            <a:ext cx="1401404" cy="1253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4096 Hz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7763747" y="9486185"/>
            <a:ext cx="2377021" cy="981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sample rate, 4 s segs</a:t>
            </a:r>
          </a:p>
        </p:txBody>
      </p:sp>
      <p:pic>
        <p:nvPicPr>
          <p:cNvPr id="100" name="Picture 99" descr="eq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629217" y="16745426"/>
            <a:ext cx="12014835" cy="800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
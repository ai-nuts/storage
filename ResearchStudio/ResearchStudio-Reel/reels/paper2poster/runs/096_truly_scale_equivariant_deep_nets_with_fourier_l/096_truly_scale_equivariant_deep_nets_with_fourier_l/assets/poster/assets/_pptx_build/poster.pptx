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8ED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0804961" cy="7575391"/>
          </a:xfrm>
          <a:prstGeom prst="roundRect">
            <a:avLst>
              <a:gd name="adj" fmla="val 938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5376783"/>
            <a:ext cx="13506133" cy="24695169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5376783"/>
            <a:ext cx="13506271" cy="6803211"/>
          </a:xfrm>
          <a:prstGeom prst="roundRect">
            <a:avLst>
              <a:gd name="adj" fmla="val 104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5376783"/>
            <a:ext cx="10804962" cy="6001027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1709657"/>
            <a:ext cx="10804962" cy="12622967"/>
          </a:xfrm>
          <a:prstGeom prst="roundRect">
            <a:avLst>
              <a:gd name="adj" fmla="val 658"/>
            </a:avLst>
          </a:prstGeom>
          <a:solidFill>
            <a:srgbClr val="EDF1F7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1709657"/>
            <a:ext cx="53340" cy="12622967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816421" y="12511841"/>
            <a:ext cx="13506271" cy="7605812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887" y="13284021"/>
            <a:ext cx="10804961" cy="16787931"/>
          </a:xfrm>
          <a:prstGeom prst="roundRect">
            <a:avLst>
              <a:gd name="adj" fmla="val 658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816421" y="20449500"/>
            <a:ext cx="13506271" cy="9622452"/>
          </a:xfrm>
          <a:prstGeom prst="roundRect">
            <a:avLst>
              <a:gd name="adj" fmla="val 739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49412" y="24664471"/>
            <a:ext cx="10804962" cy="5407481"/>
          </a:xfrm>
          <a:prstGeom prst="roundRect">
            <a:avLst>
              <a:gd name="adj" fmla="val 131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urdue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4805" y="1731193"/>
            <a:ext cx="11329888" cy="2044690"/>
          </a:xfrm>
          <a:prstGeom prst="rect">
            <a:avLst/>
          </a:prstGeom>
        </p:spPr>
      </p:pic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087" y="1805367"/>
            <a:ext cx="4344988" cy="189648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9991" y="5764887"/>
            <a:ext cx="10028753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5764887"/>
            <a:ext cx="10028753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6772790"/>
            <a:ext cx="10028753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271672" y="5764887"/>
            <a:ext cx="12729925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271672" y="5764887"/>
            <a:ext cx="12729925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271672" y="6772790"/>
            <a:ext cx="12729925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204525" y="5764887"/>
            <a:ext cx="12730063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204525" y="5764887"/>
            <a:ext cx="12730063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204525" y="6772790"/>
            <a:ext cx="12730063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37516" y="5764887"/>
            <a:ext cx="10028754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37516" y="5764887"/>
            <a:ext cx="10028754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137516" y="6772790"/>
            <a:ext cx="10028754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137516" y="7119500"/>
            <a:ext cx="10028754" cy="3878819"/>
          </a:xfrm>
          <a:prstGeom prst="roundRect">
            <a:avLst>
              <a:gd name="adj" fmla="val 1833"/>
            </a:avLst>
          </a:prstGeom>
          <a:gradFill rotWithShape="1" flip="none">
            <a:gsLst>
              <a:gs pos="0">
                <a:srgbClr val="E4E7F1"/>
              </a:gs>
              <a:gs pos="100000">
                <a:srgbClr val="F1F3F8"/>
              </a:gs>
            </a:gsLst>
            <a:lin ang="5400000" scaled="0"/>
          </a:gradFill>
          <a:ln w="8890">
            <a:solidFill>
              <a:srgbClr val="C6CEE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9991" y="10405050"/>
            <a:ext cx="1002875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9991" y="10405050"/>
            <a:ext cx="124460" cy="215902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181966" y="12097762"/>
            <a:ext cx="9984304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81966" y="12097762"/>
            <a:ext cx="9984304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181966" y="13105665"/>
            <a:ext cx="9984304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204525" y="12899945"/>
            <a:ext cx="1273006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204525" y="12899945"/>
            <a:ext cx="12730063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204525" y="13907849"/>
            <a:ext cx="12730063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9991" y="13672125"/>
            <a:ext cx="1002875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39991" y="13672125"/>
            <a:ext cx="10028753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9991" y="14680029"/>
            <a:ext cx="10028753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271672" y="15663207"/>
            <a:ext cx="12729925" cy="2304733"/>
          </a:xfrm>
          <a:prstGeom prst="roundRect">
            <a:avLst>
              <a:gd name="adj" fmla="val 9775"/>
            </a:avLst>
          </a:prstGeom>
          <a:solidFill>
            <a:srgbClr val="F1F3F8"/>
          </a:solidFill>
          <a:ln w="8890">
            <a:solidFill>
              <a:srgbClr val="B6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181966" y="17956966"/>
            <a:ext cx="9984304" cy="2346821"/>
          </a:xfrm>
          <a:prstGeom prst="roundRect">
            <a:avLst>
              <a:gd name="adj" fmla="val 8889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204525" y="18047533"/>
            <a:ext cx="1273006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204525" y="18047533"/>
            <a:ext cx="12730063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0181966" y="20535205"/>
            <a:ext cx="9984304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181966" y="20535205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204525" y="20837604"/>
            <a:ext cx="1273006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204525" y="20837604"/>
            <a:ext cx="12730063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204525" y="21845508"/>
            <a:ext cx="12730063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39991" y="22022057"/>
            <a:ext cx="10028753" cy="2325986"/>
          </a:xfrm>
          <a:prstGeom prst="roundRect">
            <a:avLst>
              <a:gd name="adj" fmla="val 8969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204525" y="28038921"/>
            <a:ext cx="12730063" cy="15679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204525" y="28038921"/>
            <a:ext cx="12730063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4187" y="7341750"/>
            <a:ext cx="4196218" cy="3481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4187" y="7341750"/>
            <a:ext cx="11557" cy="3481825"/>
          </a:xfrm>
          <a:prstGeom prst="rect">
            <a:avLst/>
          </a:prstGeom>
          <a:solidFill>
            <a:srgbClr val="C6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6204525" y="11083051"/>
            <a:ext cx="3098859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MNIST-scale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459793" y="11083051"/>
            <a:ext cx="3074689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STL10-scale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690891" y="11083051"/>
            <a:ext cx="1497687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ideal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344987" y="11083051"/>
            <a:ext cx="245752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non-ideal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271672" y="18848744"/>
            <a:ext cx="12729925" cy="8893890"/>
          </a:xfrm>
          <a:prstGeom prst="roundRect">
            <a:avLst>
              <a:gd name="adj" fmla="val 39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1733" y="18848744"/>
            <a:ext cx="12729803" cy="889389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40671472" y="20691613"/>
            <a:ext cx="2474892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PROVABLE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54298" y="24899084"/>
            <a:ext cx="10000000" cy="2949396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465" y="24899084"/>
            <a:ext cx="9999666" cy="2949396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43650177" y="25052575"/>
            <a:ext cx="3003431" cy="6835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650177" y="25052575"/>
            <a:ext cx="3003431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650177" y="25709463"/>
            <a:ext cx="3003431" cy="2667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6204525" y="26202163"/>
            <a:ext cx="4069536" cy="1604923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0534788" y="26202163"/>
            <a:ext cx="4069537" cy="1604923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4865052" y="26202163"/>
            <a:ext cx="4069536" cy="1604923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204525" y="16974621"/>
            <a:ext cx="12730063" cy="945118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204525" y="25020766"/>
            <a:ext cx="12730063" cy="945118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6204525" y="14377908"/>
            <a:ext cx="5513189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204525" y="15075495"/>
            <a:ext cx="5513189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1717714" y="14377908"/>
            <a:ext cx="3798391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1717714" y="15075495"/>
            <a:ext cx="379839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516105" y="14377908"/>
            <a:ext cx="3418483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5516105" y="15075495"/>
            <a:ext cx="341848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6204525" y="15084385"/>
            <a:ext cx="551318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204525" y="16020613"/>
            <a:ext cx="5513189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1717714" y="15084385"/>
            <a:ext cx="379839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1717714" y="16020613"/>
            <a:ext cx="379839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5516105" y="15084385"/>
            <a:ext cx="341848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516105" y="16020613"/>
            <a:ext cx="341848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6204525" y="16029503"/>
            <a:ext cx="551318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6204525" y="16965731"/>
            <a:ext cx="5513189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1717714" y="16029503"/>
            <a:ext cx="379839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717714" y="16965731"/>
            <a:ext cx="379839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5516105" y="16029503"/>
            <a:ext cx="341848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5516105" y="16965731"/>
            <a:ext cx="341848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204525" y="16974621"/>
            <a:ext cx="551318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204525" y="17910849"/>
            <a:ext cx="5513189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1717714" y="16974621"/>
            <a:ext cx="379839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1717714" y="17910849"/>
            <a:ext cx="379839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5516105" y="16974621"/>
            <a:ext cx="341848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5516105" y="17910849"/>
            <a:ext cx="341848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6204525" y="22424052"/>
            <a:ext cx="5446792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6204525" y="23121639"/>
            <a:ext cx="544679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1651317" y="22424052"/>
            <a:ext cx="2325568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1651317" y="23121639"/>
            <a:ext cx="2325568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3976885" y="22424052"/>
            <a:ext cx="2490450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3976885" y="23121639"/>
            <a:ext cx="2490450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6467335" y="22424052"/>
            <a:ext cx="2467253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6467335" y="23121639"/>
            <a:ext cx="246725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6204525" y="23130529"/>
            <a:ext cx="544679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6204525" y="24066757"/>
            <a:ext cx="544679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1651317" y="23130529"/>
            <a:ext cx="232556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1651317" y="24066757"/>
            <a:ext cx="2325568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3976885" y="23130529"/>
            <a:ext cx="249045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3976885" y="24066757"/>
            <a:ext cx="2490450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6467335" y="23130529"/>
            <a:ext cx="246725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6467335" y="24066757"/>
            <a:ext cx="246725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6204525" y="24075647"/>
            <a:ext cx="5446792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6204525" y="25011876"/>
            <a:ext cx="544679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1651317" y="24075647"/>
            <a:ext cx="2325568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1651317" y="25011876"/>
            <a:ext cx="2325568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3976885" y="24075647"/>
            <a:ext cx="2490450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3976885" y="25011876"/>
            <a:ext cx="2490450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6467335" y="24075647"/>
            <a:ext cx="2467253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6467335" y="25011876"/>
            <a:ext cx="246725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6204525" y="25020766"/>
            <a:ext cx="544679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6204525" y="25956994"/>
            <a:ext cx="544679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1651317" y="25020766"/>
            <a:ext cx="232556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1651317" y="25956994"/>
            <a:ext cx="2325568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3976885" y="25020766"/>
            <a:ext cx="249045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3976885" y="25956994"/>
            <a:ext cx="2490450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467335" y="25020766"/>
            <a:ext cx="246725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6467335" y="25956994"/>
            <a:ext cx="246725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41773832" y="25925740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2365" y="26044273"/>
            <a:ext cx="2844708" cy="2844708"/>
          </a:xfrm>
          <a:prstGeom prst="rect">
            <a:avLst/>
          </a:prstGeom>
        </p:spPr>
      </p:pic>
      <p:sp>
        <p:nvSpPr>
          <p:cNvPr id="128" name="Rounded Rectangle 127"/>
          <p:cNvSpPr/>
          <p:nvPr/>
        </p:nvSpPr>
        <p:spPr>
          <a:xfrm>
            <a:off x="45448180" y="25925740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6713" y="26044273"/>
            <a:ext cx="2844708" cy="2844708"/>
          </a:xfrm>
          <a:prstGeom prst="rect">
            <a:avLst/>
          </a:prstGeom>
        </p:spPr>
      </p:pic>
      <p:sp>
        <p:nvSpPr>
          <p:cNvPr id="130" name="Rounded Rectangle 129"/>
          <p:cNvSpPr/>
          <p:nvPr/>
        </p:nvSpPr>
        <p:spPr>
          <a:xfrm>
            <a:off x="42669638" y="29149754"/>
            <a:ext cx="1290022" cy="541595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1D3A87"/>
                </a:solidFill>
                <a:latin typeface="Arial"/>
              </a:rPr>
              <a:t>Paper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6390103" y="29149754"/>
            <a:ext cx="1197789" cy="541595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1D3A87"/>
                </a:solidFill>
                <a:latin typeface="Arial"/>
              </a:rPr>
              <a:t>Code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473"/>
              </a:lnSpc>
              <a:spcBef>
                <a:spcPts val="0"/>
              </a:spcBef>
              <a:spcAft>
                <a:spcPts val="0"/>
              </a:spcAft>
            </a:pPr>
            <a:r>
              <a:rPr sz="7702" b="1" spc="-78">
                <a:solidFill>
                  <a:srgbClr val="1D3A87"/>
                </a:solidFill>
                <a:latin typeface="Arial"/>
              </a:rPr>
              <a:t>Truly Scale-Equivariant Deep Nets with Fourier</a:t>
            </a:r>
          </a:p>
          <a:p>
            <a:pPr algn="ctr">
              <a:lnSpc>
                <a:spcPts val="8473"/>
              </a:lnSpc>
              <a:spcBef>
                <a:spcPts val="0"/>
              </a:spcBef>
              <a:spcAft>
                <a:spcPts val="0"/>
              </a:spcAft>
            </a:pPr>
            <a:r>
              <a:rPr sz="7702" b="1" spc="-78">
                <a:solidFill>
                  <a:srgbClr val="1D3A87"/>
                </a:solidFill>
                <a:latin typeface="Arial"/>
              </a:rPr>
              <a:t>Layers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Md Ashiqur Rahman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Raymond A. Yeh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Department of Computer Science, Purdue University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39991" y="5764887"/>
            <a:ext cx="10329615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271672" y="5764887"/>
            <a:ext cx="13111822" cy="1189758"/>
          </a:xfrm>
          <a:prstGeom prst="rect">
            <a:avLst/>
          </a:prstGeom>
          <a:noFill/>
        </p:spPr>
        <p:txBody>
          <a:bodyPr wrap="non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6204525" y="5764887"/>
            <a:ext cx="13111964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Dataset / Benchmark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0137516" y="5764887"/>
            <a:ext cx="10329616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39991" y="7119500"/>
            <a:ext cx="1032961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Scale-equivariant CNNs are not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truly</a:t>
            </a:r>
            <a:r>
              <a:rPr sz="4106" b="0">
                <a:solidFill>
                  <a:srgbClr val="1C1C1C"/>
                </a:solidFill>
                <a:latin typeface="Arial"/>
              </a:rPr>
              <a:t> scale-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equivariant: weight-sharing and kernel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resizing still leave a </a:t>
            </a:r>
            <a:r>
              <a:rPr sz="4106" b="1">
                <a:solidFill>
                  <a:srgbClr val="111111"/>
                </a:solidFill>
                <a:latin typeface="Arial"/>
              </a:rPr>
              <a:t>non-negligible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equivariance error</a:t>
            </a:r>
            <a:r>
              <a:rPr sz="4106" b="0">
                <a:solidFill>
                  <a:srgbClr val="1C1C1C"/>
                </a:solidFill>
                <a:latin typeface="Arial"/>
              </a:rPr>
              <a:t> in practice.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991" y="10405050"/>
            <a:ext cx="10329615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Derived in the continuous domain, then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discretized — the gap surfaces as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residual error.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0181966" y="12097762"/>
            <a:ext cx="10283833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6204525" y="12899945"/>
            <a:ext cx="1311196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Ablation Study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39991" y="13672125"/>
            <a:ext cx="10329615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0181966" y="13683793"/>
            <a:ext cx="10283833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Formulate down-scaling as ideal, anti-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aliased downsampling and enforce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frequency-dependency rule via Fourier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layers: the network becomes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exactly</a:t>
            </a:r>
            <a:r>
              <a:rPr sz="4106" b="0">
                <a:solidFill>
                  <a:srgbClr val="1C1C1C"/>
                </a:solidFill>
                <a:latin typeface="Arial"/>
              </a:rPr>
              <a:t> scale-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equivariant, not merely approximately.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353752" y="17527607"/>
            <a:ext cx="10882594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each output frequency uses only equal-or-lower input frequencies ⇒ exact scale-equivariance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0181966" y="17956966"/>
            <a:ext cx="10283833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Get the signal processing right, and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approximate equivariance becomes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provable, absolute equivariance.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6204525" y="18047533"/>
            <a:ext cx="13111964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The hinge consistency loss lifts accuracy and scale-consistency at every training-set size.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204525" y="20837604"/>
            <a:ext cx="1311196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9991" y="22022057"/>
            <a:ext cx="10329615" cy="2674883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To be </a:t>
            </a:r>
            <a:r>
              <a:rPr sz="4106" b="1">
                <a:solidFill>
                  <a:srgbClr val="111111"/>
                </a:solidFill>
                <a:latin typeface="Arial"/>
              </a:rPr>
              <a:t>truly</a:t>
            </a:r>
            <a:r>
              <a:rPr sz="4106" b="0">
                <a:solidFill>
                  <a:srgbClr val="1D3A87"/>
                </a:solidFill>
                <a:latin typeface="Arial"/>
              </a:rPr>
              <a:t> equivariant, formulate down-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scaling directly in the discrete domain,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with anti-aliasing built in.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6204525" y="28038921"/>
            <a:ext cx="13111964" cy="1803168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Best on every metric, with a ~15-pt margin on STL10-scale.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6204506" y="7119500"/>
            <a:ext cx="13111984" cy="43481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MNIST-scale</a:t>
            </a:r>
            <a:r>
              <a:rPr sz="4106" b="0">
                <a:solidFill>
                  <a:srgbClr val="1C1C1C"/>
                </a:solidFill>
                <a:latin typeface="Arial"/>
              </a:rPr>
              <a:t> (8×8→28×28) and </a:t>
            </a:r>
            <a:r>
              <a:rPr sz="4106" b="1">
                <a:solidFill>
                  <a:srgbClr val="111111"/>
                </a:solidFill>
                <a:latin typeface="Arial"/>
              </a:rPr>
              <a:t>STL10-scale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(48→97) — standard scale-equivariance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benchmarks, tested under </a:t>
            </a:r>
            <a:r>
              <a:rPr sz="4106" b="1">
                <a:solidFill>
                  <a:srgbClr val="111111"/>
                </a:solidFill>
                <a:latin typeface="Arial"/>
              </a:rPr>
              <a:t>ideal</a:t>
            </a:r>
            <a:r>
              <a:rPr sz="4106" b="0">
                <a:solidFill>
                  <a:srgbClr val="1C1C1C"/>
                </a:solidFill>
                <a:latin typeface="Arial"/>
              </a:rPr>
              <a:t> and non-ideal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(Gibbs-ringing) downsampling, unseen scales,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low data.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2271654" y="7687766"/>
            <a:ext cx="12511075" cy="2456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Define down-scaling as </a:t>
            </a:r>
            <a:r>
              <a:rPr sz="4106" b="1">
                <a:solidFill>
                  <a:srgbClr val="111111"/>
                </a:solidFill>
                <a:latin typeface="Arial"/>
              </a:rPr>
              <a:t>ideal downsampling</a:t>
            </a:r>
            <a:r>
              <a:rPr sz="4106" b="0">
                <a:solidFill>
                  <a:srgbClr val="1C1C1C"/>
                </a:solidFill>
                <a:latin typeface="Arial"/>
              </a:rPr>
              <a:t>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: an ideal low-pass filter, then subsampling.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271654" y="10184328"/>
            <a:ext cx="12433100" cy="2456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Claim 1:</a:t>
            </a:r>
            <a:r>
              <a:rPr sz="4106" b="0">
                <a:solidFill>
                  <a:srgbClr val="1C1C1C"/>
                </a:solidFill>
                <a:latin typeface="Arial"/>
              </a:rPr>
              <a:t> a net is scale-equivariant iff every output frequency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depends only on equal-or-lower input frequencies.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271654" y="12591990"/>
            <a:ext cx="1311184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Redesign every module — a spatially-local </a:t>
            </a:r>
            <a:r>
              <a:rPr sz="4106" b="1">
                <a:solidFill>
                  <a:srgbClr val="111111"/>
                </a:solidFill>
                <a:latin typeface="Arial"/>
              </a:rPr>
              <a:t>Fourier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convolution</a:t>
            </a:r>
            <a:r>
              <a:rPr sz="4106" b="0">
                <a:solidFill>
                  <a:srgbClr val="1C1C1C"/>
                </a:solidFill>
                <a:latin typeface="Arial"/>
              </a:rPr>
              <a:t>, a frequency-aware non-linearity,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Fourier pooling — to satisfy the condition.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9972" y="15317053"/>
            <a:ext cx="1032963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Down-scaling a discrete signal is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signal-processing operation: the Nyquist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theorem </a:t>
            </a:r>
            <a:r>
              <a:rPr sz="4106" b="1">
                <a:solidFill>
                  <a:srgbClr val="111111"/>
                </a:solidFill>
                <a:latin typeface="Arial"/>
              </a:rPr>
              <a:t>requires an anti-aliasing filter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before subsampling.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39972" y="18524398"/>
            <a:ext cx="1032963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</a:t>
            </a:r>
            <a:r>
              <a:rPr sz="4106" b="1">
                <a:solidFill>
                  <a:srgbClr val="111111"/>
                </a:solidFill>
                <a:latin typeface="Arial"/>
              </a:rPr>
              <a:t>continuous-domain</a:t>
            </a:r>
            <a:r>
              <a:rPr sz="4106" b="0">
                <a:solidFill>
                  <a:srgbClr val="1C1C1C"/>
                </a:solidFill>
                <a:latin typeface="Arial"/>
              </a:rPr>
              <a:t> methods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have no anti-aliasing, so high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frequencies alias into low ones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break equivariance.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0671472" y="21538803"/>
            <a:ext cx="940364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Zero equivariance error by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construction, and the most data-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efficient scale-equivariant net.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3650177" y="25052575"/>
            <a:ext cx="3093533" cy="786091"/>
          </a:xfrm>
          <a:prstGeom prst="rect">
            <a:avLst/>
          </a:prstGeom>
          <a:noFill/>
        </p:spPr>
        <p:txBody>
          <a:bodyPr wrap="square" lIns="0" rIns="0" tIns="66378" bIns="66378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D3A87"/>
                </a:solidFill>
                <a:latin typeface="Arial"/>
              </a:rPr>
              <a:t>Scan to Read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780902" y="27892236"/>
            <a:ext cx="12062807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Downsampling our high-res feature reproduces the low-res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feature exactly; a regular CNN's features diverge across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resolutions.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454348" y="27998082"/>
            <a:ext cx="9475897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Ideal low-pass (anti-aliasing) filter H zeros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frequencies above the new Nyquist limit before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subsampling.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0383380" y="7669291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1D3A87"/>
                </a:solidFill>
                <a:latin typeface="Arial"/>
              </a:rPr>
              <a:t>0.00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0383380" y="9044185"/>
            <a:ext cx="4910137" cy="1199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End-to-end scale-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equivariance error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0383380" y="10087094"/>
            <a:ext cx="491013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exact, by construction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6413023" y="26358572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0.7332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0743286" y="26358572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+15pt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5073550" y="26358572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0.00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6413023" y="27260768"/>
            <a:ext cx="376211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STL10-scale acc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0743286" y="27260768"/>
            <a:ext cx="376211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over next best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5073550" y="27260768"/>
            <a:ext cx="376211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equi-error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6202441" y="7341750"/>
            <a:ext cx="168397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0.9889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8019890" y="7475100"/>
            <a:ext cx="1957530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MNIST-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scale acc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202441" y="8589267"/>
            <a:ext cx="1683973" cy="6269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0.7332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8019890" y="8722617"/>
            <a:ext cx="1957530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STL10-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scale acc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6202441" y="9836785"/>
            <a:ext cx="168397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0.9716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8019890" y="9970135"/>
            <a:ext cx="1957530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scale-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consistency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6204525" y="14377908"/>
            <a:ext cx="5678584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CONSISTENCY LOSS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1717714" y="14377908"/>
            <a:ext cx="3912342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SC-CON W/O↑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5516105" y="14377908"/>
            <a:ext cx="3521037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SC-CON W/↑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6204525" y="15084385"/>
            <a:ext cx="567858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5000 samples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1717714" y="15084385"/>
            <a:ext cx="391234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0.9150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5516105" y="15084385"/>
            <a:ext cx="352103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0.9296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6204525" y="16029503"/>
            <a:ext cx="567858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2500 samples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1717714" y="16029503"/>
            <a:ext cx="391234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0.8633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5516105" y="16029503"/>
            <a:ext cx="352103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0.8906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6204525" y="16974621"/>
            <a:ext cx="567858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1000 samples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1717714" y="16974621"/>
            <a:ext cx="391234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0.8144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5516105" y="16974621"/>
            <a:ext cx="352103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0.8183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6204525" y="22424052"/>
            <a:ext cx="5610195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MNIST-SCALE (IDEAL)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1651317" y="22424052"/>
            <a:ext cx="2395335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ACC↑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3976885" y="22424052"/>
            <a:ext cx="2565163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SC-CON↑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6467335" y="22424052"/>
            <a:ext cx="2541270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EQ-ERR↓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6204525" y="23130529"/>
            <a:ext cx="561019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DISCO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1651317" y="23130529"/>
            <a:ext cx="239533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0.9856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3976885" y="23130529"/>
            <a:ext cx="256516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0.5585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6467335" y="23130529"/>
            <a:ext cx="254127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0.44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6204525" y="24075647"/>
            <a:ext cx="5610195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Fourier CNN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1651317" y="24075647"/>
            <a:ext cx="2395335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0.9713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3976885" y="24075647"/>
            <a:ext cx="2565163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0.2421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6467335" y="24075647"/>
            <a:ext cx="2541270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0.28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6204525" y="25020766"/>
            <a:ext cx="561019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Ours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1651317" y="25020766"/>
            <a:ext cx="239533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0.9889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3976885" y="25020766"/>
            <a:ext cx="256516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0.9716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6467335" y="25020766"/>
            <a:ext cx="254127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0.00</a:t>
            </a:r>
          </a:p>
        </p:txBody>
      </p:sp>
      <p:pic>
        <p:nvPicPr>
          <p:cNvPr id="204" name="Picture 203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45355" y="8363962"/>
            <a:ext cx="6007973" cy="737870"/>
          </a:xfrm>
          <a:prstGeom prst="rect">
            <a:avLst/>
          </a:prstGeom>
        </p:spPr>
      </p:pic>
      <p:pic>
        <p:nvPicPr>
          <p:cNvPr id="205" name="Picture 204" descr="eq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80382" y="10860524"/>
            <a:ext cx="1209040" cy="737870"/>
          </a:xfrm>
          <a:prstGeom prst="rect">
            <a:avLst/>
          </a:prstGeom>
        </p:spPr>
      </p:pic>
      <p:pic>
        <p:nvPicPr>
          <p:cNvPr id="206" name="Picture 205" descr="eq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73589" y="15753357"/>
            <a:ext cx="8726091" cy="16624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
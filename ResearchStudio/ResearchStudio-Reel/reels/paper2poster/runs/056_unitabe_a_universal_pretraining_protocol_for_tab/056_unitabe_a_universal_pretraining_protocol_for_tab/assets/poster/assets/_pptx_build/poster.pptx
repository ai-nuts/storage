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1206400" cy="307238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1887" y="651887"/>
            <a:ext cx="49902625" cy="4203442"/>
          </a:xfrm>
          <a:prstGeom prst="roundRect">
            <a:avLst>
              <a:gd name="adj" fmla="val 3383"/>
            </a:avLst>
          </a:prstGeom>
          <a:solidFill>
            <a:srgbClr val="F6ECE1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1887" y="5376783"/>
            <a:ext cx="10804961" cy="7906127"/>
          </a:xfrm>
          <a:prstGeom prst="roundRect">
            <a:avLst>
              <a:gd name="adj" fmla="val 899"/>
            </a:avLst>
          </a:prstGeom>
          <a:solidFill>
            <a:srgbClr val="FFFFFF"/>
          </a:solidFill>
          <a:ln w="8890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3568" y="5376783"/>
            <a:ext cx="27439124" cy="14618493"/>
          </a:xfrm>
          <a:prstGeom prst="roundRect">
            <a:avLst>
              <a:gd name="adj" fmla="val 486"/>
            </a:avLst>
          </a:prstGeom>
          <a:solidFill>
            <a:srgbClr val="FFFFFF"/>
          </a:solidFill>
          <a:ln w="8890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9749412" y="5376783"/>
            <a:ext cx="10804962" cy="6017557"/>
          </a:xfrm>
          <a:prstGeom prst="roundRect">
            <a:avLst>
              <a:gd name="adj" fmla="val 1181"/>
            </a:avLst>
          </a:prstGeom>
          <a:solidFill>
            <a:srgbClr val="FFFFFF"/>
          </a:solidFill>
          <a:ln w="8890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9749412" y="11726187"/>
            <a:ext cx="10804962" cy="5733634"/>
          </a:xfrm>
          <a:prstGeom prst="roundRect">
            <a:avLst>
              <a:gd name="adj" fmla="val 1240"/>
            </a:avLst>
          </a:prstGeom>
          <a:solidFill>
            <a:srgbClr val="FFFFFF"/>
          </a:solidFill>
          <a:ln w="8890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1887" y="13614757"/>
            <a:ext cx="10804961" cy="7570113"/>
          </a:xfrm>
          <a:prstGeom prst="roundRect">
            <a:avLst>
              <a:gd name="adj" fmla="val 939"/>
            </a:avLst>
          </a:prstGeom>
          <a:solidFill>
            <a:srgbClr val="FFFFFF"/>
          </a:solidFill>
          <a:ln w="8890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9749412" y="17791668"/>
            <a:ext cx="10804962" cy="7430512"/>
          </a:xfrm>
          <a:prstGeom prst="roundRect">
            <a:avLst>
              <a:gd name="adj" fmla="val 957"/>
            </a:avLst>
          </a:prstGeom>
          <a:solidFill>
            <a:srgbClr val="F7F0E8"/>
          </a:solidFill>
          <a:ln w="8890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9749412" y="17791668"/>
            <a:ext cx="53340" cy="7430512"/>
          </a:xfrm>
          <a:prstGeom prst="rect">
            <a:avLst/>
          </a:prstGeom>
          <a:solidFill>
            <a:srgbClr val="A252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1887" y="21516717"/>
            <a:ext cx="10804961" cy="8555235"/>
          </a:xfrm>
          <a:prstGeom prst="roundRect">
            <a:avLst>
              <a:gd name="adj" fmla="val 831"/>
            </a:avLst>
          </a:prstGeom>
          <a:solidFill>
            <a:srgbClr val="FFFFFF"/>
          </a:solidFill>
          <a:ln w="8890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9749412" y="25554027"/>
            <a:ext cx="10804962" cy="4517925"/>
          </a:xfrm>
          <a:prstGeom prst="roundRect">
            <a:avLst>
              <a:gd name="adj" fmla="val 1574"/>
            </a:avLst>
          </a:prstGeom>
          <a:solidFill>
            <a:srgbClr val="FFFFFF"/>
          </a:solidFill>
          <a:ln w="8890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he-university-of-hong-ko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39879" y="1301559"/>
            <a:ext cx="6982123" cy="1369044"/>
          </a:xfrm>
          <a:prstGeom prst="rect">
            <a:avLst/>
          </a:prstGeom>
        </p:spPr>
      </p:pic>
      <p:pic>
        <p:nvPicPr>
          <p:cNvPr id="13" name="Picture 12" descr="beijing-academy-of-artificial-intellig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58976" y="1301555"/>
            <a:ext cx="2920642" cy="1369052"/>
          </a:xfrm>
          <a:prstGeom prst="rect">
            <a:avLst/>
          </a:prstGeom>
        </p:spPr>
      </p:pic>
      <p:pic>
        <p:nvPicPr>
          <p:cNvPr id="14" name="Picture 13" descr="_ven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3256" y="1805383"/>
            <a:ext cx="6526649" cy="1896449"/>
          </a:xfrm>
          <a:prstGeom prst="rect">
            <a:avLst/>
          </a:prstGeom>
        </p:spPr>
      </p:pic>
      <p:pic>
        <p:nvPicPr>
          <p:cNvPr id="15" name="Picture 14" descr="creatify-a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25149" y="2836465"/>
            <a:ext cx="1369060" cy="136906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1039991" y="5764887"/>
            <a:ext cx="10028753" cy="9245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39991" y="6618327"/>
            <a:ext cx="10028753" cy="71120"/>
          </a:xfrm>
          <a:prstGeom prst="rect">
            <a:avLst/>
          </a:prstGeom>
          <a:solidFill>
            <a:srgbClr val="A252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271672" y="5764887"/>
            <a:ext cx="26662916" cy="9245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2271672" y="6618327"/>
            <a:ext cx="26662916" cy="71120"/>
          </a:xfrm>
          <a:prstGeom prst="rect">
            <a:avLst/>
          </a:prstGeom>
          <a:solidFill>
            <a:srgbClr val="A252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0137516" y="5764887"/>
            <a:ext cx="10028754" cy="1706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0137516" y="7400647"/>
            <a:ext cx="10028754" cy="71120"/>
          </a:xfrm>
          <a:prstGeom prst="rect">
            <a:avLst/>
          </a:prstGeom>
          <a:solidFill>
            <a:srgbClr val="A252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39991" y="9547721"/>
            <a:ext cx="10028753" cy="3428623"/>
          </a:xfrm>
          <a:prstGeom prst="roundRect">
            <a:avLst>
              <a:gd name="adj" fmla="val 5324"/>
            </a:avLst>
          </a:prstGeom>
          <a:solidFill>
            <a:srgbClr val="F5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39991" y="9547721"/>
            <a:ext cx="124460" cy="3428623"/>
          </a:xfrm>
          <a:prstGeom prst="rect">
            <a:avLst/>
          </a:prstGeom>
          <a:solidFill>
            <a:srgbClr val="AE262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0137516" y="12114291"/>
            <a:ext cx="10028754" cy="9245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0137516" y="12967731"/>
            <a:ext cx="10028754" cy="71120"/>
          </a:xfrm>
          <a:prstGeom prst="rect">
            <a:avLst/>
          </a:prstGeom>
          <a:solidFill>
            <a:srgbClr val="A252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0137516" y="13358891"/>
            <a:ext cx="10028754" cy="3878819"/>
          </a:xfrm>
          <a:prstGeom prst="roundRect">
            <a:avLst>
              <a:gd name="adj" fmla="val 1833"/>
            </a:avLst>
          </a:prstGeom>
          <a:gradFill rotWithShape="1" flip="none">
            <a:gsLst>
              <a:gs pos="0">
                <a:srgbClr val="F4EAE4"/>
              </a:gs>
              <a:gs pos="100000">
                <a:srgbClr val="F9F5F1"/>
              </a:gs>
            </a:gsLst>
            <a:lin ang="5400000" scaled="0"/>
          </a:gradFill>
          <a:ln w="8890">
            <a:solidFill>
              <a:srgbClr val="E8D4C6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39991" y="14002861"/>
            <a:ext cx="10028753" cy="9245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39991" y="14856301"/>
            <a:ext cx="10028753" cy="71120"/>
          </a:xfrm>
          <a:prstGeom prst="rect">
            <a:avLst/>
          </a:prstGeom>
          <a:solidFill>
            <a:srgbClr val="A252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0181966" y="18179772"/>
            <a:ext cx="9984304" cy="9245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0181966" y="19033212"/>
            <a:ext cx="9984304" cy="71120"/>
          </a:xfrm>
          <a:prstGeom prst="rect">
            <a:avLst/>
          </a:prstGeom>
          <a:solidFill>
            <a:srgbClr val="A252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39991" y="19393535"/>
            <a:ext cx="10028753" cy="14810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39991" y="19393535"/>
            <a:ext cx="124460" cy="1481018"/>
          </a:xfrm>
          <a:prstGeom prst="rect">
            <a:avLst/>
          </a:prstGeom>
          <a:solidFill>
            <a:srgbClr val="A252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1883568" y="20327123"/>
            <a:ext cx="13553639" cy="9744829"/>
          </a:xfrm>
          <a:prstGeom prst="roundRect">
            <a:avLst>
              <a:gd name="adj" fmla="val 729"/>
            </a:avLst>
          </a:prstGeom>
          <a:solidFill>
            <a:srgbClr val="FFFFFF"/>
          </a:solidFill>
          <a:ln w="8890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25769054" y="20327123"/>
            <a:ext cx="13553638" cy="9744829"/>
          </a:xfrm>
          <a:prstGeom prst="roundRect">
            <a:avLst>
              <a:gd name="adj" fmla="val 729"/>
            </a:avLst>
          </a:prstGeom>
          <a:solidFill>
            <a:srgbClr val="FFFFFF"/>
          </a:solidFill>
          <a:ln w="8890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39991" y="21904821"/>
            <a:ext cx="10028753" cy="9245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39991" y="22758261"/>
            <a:ext cx="10028753" cy="71120"/>
          </a:xfrm>
          <a:prstGeom prst="rect">
            <a:avLst/>
          </a:prstGeom>
          <a:solidFill>
            <a:srgbClr val="A252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0181966" y="22709921"/>
            <a:ext cx="9984304" cy="2346821"/>
          </a:xfrm>
          <a:prstGeom prst="roundRect">
            <a:avLst>
              <a:gd name="adj" fmla="val 8889"/>
            </a:avLst>
          </a:prstGeom>
          <a:solidFill>
            <a:srgbClr val="A25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39991" y="27965022"/>
            <a:ext cx="10028753" cy="156797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39991" y="27965022"/>
            <a:ext cx="10028753" cy="11557"/>
          </a:xfrm>
          <a:prstGeom prst="rect">
            <a:avLst/>
          </a:prstGeom>
          <a:solidFill>
            <a:srgbClr val="DFC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529496" y="9704129"/>
            <a:ext cx="1173897" cy="638691"/>
          </a:xfrm>
          <a:prstGeom prst="roundRect">
            <a:avLst>
              <a:gd name="adj" fmla="val 14290"/>
            </a:avLst>
          </a:prstGeom>
          <a:solidFill>
            <a:srgbClr val="AE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874" b="1">
                <a:solidFill>
                  <a:srgbClr val="FFFFFF"/>
                </a:solidFill>
                <a:latin typeface="Arial"/>
              </a:rPr>
              <a:t>GAP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2271672" y="9950410"/>
            <a:ext cx="26662916" cy="1060688"/>
          </a:xfrm>
          <a:prstGeom prst="roundRect">
            <a:avLst>
              <a:gd name="adj" fmla="val 21241"/>
            </a:avLst>
          </a:prstGeom>
          <a:solidFill>
            <a:srgbClr val="F9F5F1"/>
          </a:solidFill>
          <a:ln w="8890">
            <a:solidFill>
              <a:srgbClr val="E1C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4187" y="13581141"/>
            <a:ext cx="4196218" cy="348182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4187" y="13581141"/>
            <a:ext cx="11557" cy="3481824"/>
          </a:xfrm>
          <a:prstGeom prst="rect">
            <a:avLst/>
          </a:prstGeom>
          <a:solidFill>
            <a:srgbClr val="E8D4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2271672" y="20715227"/>
            <a:ext cx="12777430" cy="9245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2271672" y="21568667"/>
            <a:ext cx="12777430" cy="71120"/>
          </a:xfrm>
          <a:prstGeom prst="rect">
            <a:avLst/>
          </a:prstGeom>
          <a:solidFill>
            <a:srgbClr val="A252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6157158" y="20715227"/>
            <a:ext cx="12777430" cy="9245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6157158" y="21568667"/>
            <a:ext cx="12777430" cy="71120"/>
          </a:xfrm>
          <a:prstGeom prst="rect">
            <a:avLst/>
          </a:prstGeom>
          <a:solidFill>
            <a:srgbClr val="A252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12271672" y="25710157"/>
            <a:ext cx="12777430" cy="1942188"/>
          </a:xfrm>
          <a:prstGeom prst="roundRect">
            <a:avLst>
              <a:gd name="adj" fmla="val 50000"/>
            </a:avLst>
          </a:prstGeom>
          <a:solidFill>
            <a:srgbClr val="F6E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2271672" y="27933352"/>
            <a:ext cx="12777430" cy="156797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2271672" y="27933352"/>
            <a:ext cx="12777430" cy="11557"/>
          </a:xfrm>
          <a:prstGeom prst="rect">
            <a:avLst/>
          </a:prstGeom>
          <a:solidFill>
            <a:srgbClr val="DFC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12835909" y="11412537"/>
            <a:ext cx="25534303" cy="7552750"/>
          </a:xfrm>
          <a:prstGeom prst="roundRect">
            <a:avLst>
              <a:gd name="adj" fmla="val 470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figure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36104" y="11412537"/>
            <a:ext cx="25533913" cy="7552750"/>
          </a:xfrm>
          <a:prstGeom prst="rect">
            <a:avLst/>
          </a:prstGeom>
        </p:spPr>
      </p:pic>
      <p:sp>
        <p:nvSpPr>
          <p:cNvPr id="53" name="Rounded Rectangle 52"/>
          <p:cNvSpPr/>
          <p:nvPr/>
        </p:nvSpPr>
        <p:spPr>
          <a:xfrm>
            <a:off x="26166325" y="22286257"/>
            <a:ext cx="12759095" cy="6118126"/>
          </a:xfrm>
          <a:prstGeom prst="roundRect">
            <a:avLst>
              <a:gd name="adj" fmla="val 581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figure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166385" y="22286257"/>
            <a:ext cx="12758976" cy="6118126"/>
          </a:xfrm>
          <a:prstGeom prst="rect">
            <a:avLst/>
          </a:prstGeom>
        </p:spPr>
      </p:pic>
      <p:sp>
        <p:nvSpPr>
          <p:cNvPr id="55" name="Rectangle 54"/>
          <p:cNvSpPr/>
          <p:nvPr/>
        </p:nvSpPr>
        <p:spPr>
          <a:xfrm>
            <a:off x="1039991" y="24018001"/>
            <a:ext cx="10028753" cy="945119"/>
          </a:xfrm>
          <a:prstGeom prst="rect">
            <a:avLst/>
          </a:prstGeom>
          <a:solidFill>
            <a:srgbClr val="F6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47028377" y="25942131"/>
            <a:ext cx="3075246" cy="3075245"/>
          </a:xfrm>
          <a:prstGeom prst="roundRect">
            <a:avLst>
              <a:gd name="adj" fmla="val 5010"/>
            </a:avLst>
          </a:prstGeom>
          <a:solidFill>
            <a:srgbClr val="FFFFFF"/>
          </a:solidFill>
          <a:ln w="8890">
            <a:solidFill>
              <a:srgbClr val="F0F0F0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pap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146910" y="26060664"/>
            <a:ext cx="2838180" cy="2838179"/>
          </a:xfrm>
          <a:prstGeom prst="rect">
            <a:avLst/>
          </a:prstGeom>
        </p:spPr>
      </p:pic>
      <p:sp>
        <p:nvSpPr>
          <p:cNvPr id="58" name="Rectangle 57"/>
          <p:cNvSpPr/>
          <p:nvPr/>
        </p:nvSpPr>
        <p:spPr>
          <a:xfrm>
            <a:off x="40137516" y="26328151"/>
            <a:ext cx="6472754" cy="56882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0137516" y="26825852"/>
            <a:ext cx="6472754" cy="71120"/>
          </a:xfrm>
          <a:prstGeom prst="rect">
            <a:avLst/>
          </a:prstGeom>
          <a:solidFill>
            <a:srgbClr val="A252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47938074" y="29159616"/>
            <a:ext cx="1255991" cy="524232"/>
          </a:xfrm>
          <a:prstGeom prst="roundRect">
            <a:avLst>
              <a:gd name="adj" fmla="val 50000"/>
            </a:avLst>
          </a:prstGeom>
          <a:solidFill>
            <a:srgbClr val="F6E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333" b="1">
                <a:solidFill>
                  <a:srgbClr val="A2521C"/>
                </a:solidFill>
                <a:latin typeface="Arial"/>
              </a:rPr>
              <a:t>Paper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2271672" y="7009487"/>
            <a:ext cx="703977" cy="703977"/>
          </a:xfrm>
          <a:prstGeom prst="roundRect">
            <a:avLst>
              <a:gd name="adj" fmla="val 50000"/>
            </a:avLst>
          </a:prstGeom>
          <a:solidFill>
            <a:srgbClr val="A25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696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2271672" y="8931116"/>
            <a:ext cx="703977" cy="703977"/>
          </a:xfrm>
          <a:prstGeom prst="roundRect">
            <a:avLst>
              <a:gd name="adj" fmla="val 50000"/>
            </a:avLst>
          </a:prstGeom>
          <a:solidFill>
            <a:srgbClr val="A25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696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39991" y="23311524"/>
            <a:ext cx="6331902" cy="706477"/>
          </a:xfrm>
          <a:prstGeom prst="rect">
            <a:avLst/>
          </a:prstGeom>
          <a:solidFill>
            <a:srgbClr val="FA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039991" y="24009111"/>
            <a:ext cx="6331902" cy="11557"/>
          </a:xfrm>
          <a:prstGeom prst="rect">
            <a:avLst/>
          </a:prstGeom>
          <a:solidFill>
            <a:srgbClr val="F1E5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371893" y="23311524"/>
            <a:ext cx="3696851" cy="706477"/>
          </a:xfrm>
          <a:prstGeom prst="rect">
            <a:avLst/>
          </a:prstGeom>
          <a:solidFill>
            <a:srgbClr val="FA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371893" y="24009111"/>
            <a:ext cx="3696851" cy="11557"/>
          </a:xfrm>
          <a:prstGeom prst="rect">
            <a:avLst/>
          </a:prstGeom>
          <a:solidFill>
            <a:srgbClr val="F1E5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039991" y="24018001"/>
            <a:ext cx="6331902" cy="9451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039991" y="24954230"/>
            <a:ext cx="6331902" cy="11557"/>
          </a:xfrm>
          <a:prstGeom prst="rect">
            <a:avLst/>
          </a:prstGeom>
          <a:solidFill>
            <a:srgbClr val="F1E5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71893" y="24018001"/>
            <a:ext cx="3696851" cy="9451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371893" y="24954230"/>
            <a:ext cx="3696851" cy="11557"/>
          </a:xfrm>
          <a:prstGeom prst="rect">
            <a:avLst/>
          </a:prstGeom>
          <a:solidFill>
            <a:srgbClr val="F1E5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039991" y="24963120"/>
            <a:ext cx="6331902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039991" y="25899348"/>
            <a:ext cx="6331902" cy="11557"/>
          </a:xfrm>
          <a:prstGeom prst="rect">
            <a:avLst/>
          </a:prstGeom>
          <a:solidFill>
            <a:srgbClr val="F1E5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371893" y="24963120"/>
            <a:ext cx="3696851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371893" y="25899348"/>
            <a:ext cx="3696851" cy="11557"/>
          </a:xfrm>
          <a:prstGeom prst="rect">
            <a:avLst/>
          </a:prstGeom>
          <a:solidFill>
            <a:srgbClr val="F1E5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039991" y="25908238"/>
            <a:ext cx="6331902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039991" y="26844466"/>
            <a:ext cx="6331902" cy="11557"/>
          </a:xfrm>
          <a:prstGeom prst="rect">
            <a:avLst/>
          </a:prstGeom>
          <a:solidFill>
            <a:srgbClr val="F1E5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371893" y="25908238"/>
            <a:ext cx="3696851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71893" y="26844466"/>
            <a:ext cx="3696851" cy="11557"/>
          </a:xfrm>
          <a:prstGeom prst="rect">
            <a:avLst/>
          </a:prstGeom>
          <a:solidFill>
            <a:srgbClr val="F1E5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039991" y="26853356"/>
            <a:ext cx="6331902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039991" y="27789584"/>
            <a:ext cx="6331902" cy="11557"/>
          </a:xfrm>
          <a:prstGeom prst="rect">
            <a:avLst/>
          </a:prstGeom>
          <a:solidFill>
            <a:srgbClr val="F1E5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371893" y="26853356"/>
            <a:ext cx="3696851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371893" y="27789584"/>
            <a:ext cx="3696851" cy="11557"/>
          </a:xfrm>
          <a:prstGeom prst="rect">
            <a:avLst/>
          </a:prstGeom>
          <a:solidFill>
            <a:srgbClr val="F1E5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40137516" y="27086579"/>
            <a:ext cx="4276924" cy="1040408"/>
          </a:xfrm>
          <a:prstGeom prst="roundRect">
            <a:avLst>
              <a:gd name="adj" fmla="val 13671"/>
            </a:avLst>
          </a:prstGeom>
          <a:solidFill>
            <a:srgbClr val="F6ECE1"/>
          </a:solidFill>
          <a:ln w="17780">
            <a:solidFill>
              <a:srgbClr val="A252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40137516" y="28257281"/>
            <a:ext cx="3491964" cy="1040408"/>
          </a:xfrm>
          <a:prstGeom prst="roundRect">
            <a:avLst>
              <a:gd name="adj" fmla="val 13671"/>
            </a:avLst>
          </a:prstGeom>
          <a:solidFill>
            <a:srgbClr val="F6ECE1"/>
          </a:solidFill>
          <a:ln w="17780">
            <a:solidFill>
              <a:srgbClr val="A252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2271672" y="22153741"/>
            <a:ext cx="5683072" cy="814407"/>
          </a:xfrm>
          <a:prstGeom prst="rect">
            <a:avLst/>
          </a:prstGeom>
          <a:solidFill>
            <a:srgbClr val="F6E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2271672" y="22959258"/>
            <a:ext cx="5683072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7954744" y="22153741"/>
            <a:ext cx="7094358" cy="814407"/>
          </a:xfrm>
          <a:prstGeom prst="rect">
            <a:avLst/>
          </a:prstGeom>
          <a:solidFill>
            <a:srgbClr val="F6E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7954744" y="22959258"/>
            <a:ext cx="7094358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2271672" y="22968148"/>
            <a:ext cx="5683072" cy="818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2271672" y="23778110"/>
            <a:ext cx="5683072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7954744" y="22968148"/>
            <a:ext cx="7094358" cy="818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7954744" y="23778110"/>
            <a:ext cx="7094358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2271672" y="23787000"/>
            <a:ext cx="5683072" cy="81885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2271672" y="24596963"/>
            <a:ext cx="5683072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7954744" y="23787000"/>
            <a:ext cx="7094358" cy="81885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7954744" y="24596963"/>
            <a:ext cx="7094358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2271672" y="24605853"/>
            <a:ext cx="5683072" cy="818852"/>
          </a:xfrm>
          <a:prstGeom prst="rect">
            <a:avLst/>
          </a:prstGeom>
          <a:solidFill>
            <a:srgbClr val="F6E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2271672" y="25415815"/>
            <a:ext cx="5683072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7954744" y="24605853"/>
            <a:ext cx="7094358" cy="818852"/>
          </a:xfrm>
          <a:prstGeom prst="rect">
            <a:avLst/>
          </a:prstGeom>
          <a:solidFill>
            <a:srgbClr val="F6E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7954744" y="25415815"/>
            <a:ext cx="7094358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3446402" y="983734"/>
            <a:ext cx="24740176" cy="25188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8624"/>
              </a:lnSpc>
              <a:spcBef>
                <a:spcPts val="0"/>
              </a:spcBef>
              <a:spcAft>
                <a:spcPts val="0"/>
              </a:spcAft>
            </a:pPr>
            <a:r>
              <a:rPr sz="7840" b="1" spc="-78">
                <a:solidFill>
                  <a:srgbClr val="A2521C"/>
                </a:solidFill>
                <a:latin typeface="Arial"/>
              </a:rPr>
              <a:t>UniTabE: A Universal Pretraining Protocol for</a:t>
            </a:r>
          </a:p>
          <a:p>
            <a:pPr algn="ctr">
              <a:lnSpc>
                <a:spcPts val="8624"/>
              </a:lnSpc>
              <a:spcBef>
                <a:spcPts val="0"/>
              </a:spcBef>
              <a:spcAft>
                <a:spcPts val="0"/>
              </a:spcAft>
            </a:pPr>
            <a:r>
              <a:rPr sz="7840" b="1" spc="-78">
                <a:solidFill>
                  <a:srgbClr val="A2521C"/>
                </a:solidFill>
                <a:latin typeface="Arial"/>
              </a:rPr>
              <a:t>Tabular Foundation Model in Data Science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3446402" y="3373060"/>
            <a:ext cx="24740176" cy="708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853"/>
              </a:lnSpc>
              <a:spcBef>
                <a:spcPts val="0"/>
              </a:spcBef>
              <a:spcAft>
                <a:spcPts val="0"/>
              </a:spcAft>
            </a:pPr>
            <a:r>
              <a:rPr sz="3733" b="0">
                <a:solidFill>
                  <a:srgbClr val="1B2331"/>
                </a:solidFill>
                <a:latin typeface="Arial"/>
              </a:rPr>
              <a:t>Yazheng Yang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3733" b="0">
                <a:solidFill>
                  <a:srgbClr val="1B2331"/>
                </a:solidFill>
                <a:latin typeface="Arial"/>
              </a:rPr>
              <a:t>, YuQi Wang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3733" b="0">
                <a:solidFill>
                  <a:srgbClr val="1B2331"/>
                </a:solidFill>
                <a:latin typeface="Arial"/>
              </a:rPr>
              <a:t>, Guang Liu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2</a:t>
            </a:r>
            <a:r>
              <a:rPr sz="3733" b="0">
                <a:solidFill>
                  <a:srgbClr val="1B2331"/>
                </a:solidFill>
                <a:latin typeface="Arial"/>
              </a:rPr>
              <a:t>, Ledell Wu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3</a:t>
            </a:r>
            <a:r>
              <a:rPr sz="3733" b="0">
                <a:solidFill>
                  <a:srgbClr val="1B2331"/>
                </a:solidFill>
                <a:latin typeface="Arial"/>
              </a:rPr>
              <a:t>, Qi Liu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3446402" y="4042310"/>
            <a:ext cx="24740176" cy="5533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789"/>
              </a:lnSpc>
              <a:spcBef>
                <a:spcPts val="0"/>
              </a:spcBef>
              <a:spcAft>
                <a:spcPts val="0"/>
              </a:spcAft>
            </a:pPr>
            <a:r>
              <a:rPr sz="2268" b="0" spc="52" baseline="30000">
                <a:solidFill>
                  <a:srgbClr val="55617A"/>
                </a:solidFill>
                <a:latin typeface="Arial"/>
              </a:rPr>
              <a:t>1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 The University of Hong Kong    </a:t>
            </a:r>
            <a:r>
              <a:rPr sz="3658" b="0" spc="52" baseline="30000">
                <a:solidFill>
                  <a:srgbClr val="55617A"/>
                </a:solidFill>
                <a:latin typeface="Arial"/>
              </a:rPr>
              <a:t>2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 Beijing Academy of Artificial Intelligence    </a:t>
            </a:r>
            <a:r>
              <a:rPr sz="3658" b="0" spc="52" baseline="30000">
                <a:solidFill>
                  <a:srgbClr val="55617A"/>
                </a:solidFill>
                <a:latin typeface="Arial"/>
              </a:rPr>
              <a:t>3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 Creatify AI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39991" y="5764887"/>
            <a:ext cx="10329615" cy="1063244"/>
          </a:xfrm>
          <a:prstGeom prst="rect">
            <a:avLst/>
          </a:prstGeom>
          <a:noFill/>
        </p:spPr>
        <p:txBody>
          <a:bodyPr wrap="square" lIns="0" rIns="3911600" tIns="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A2521C"/>
                </a:solidFill>
                <a:latin typeface="Arial"/>
              </a:rPr>
              <a:t>Problem 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2271672" y="5764887"/>
            <a:ext cx="27089636" cy="1063244"/>
          </a:xfrm>
          <a:prstGeom prst="rect">
            <a:avLst/>
          </a:prstGeom>
          <a:noFill/>
        </p:spPr>
        <p:txBody>
          <a:bodyPr wrap="none" lIns="0" rIns="3911600" tIns="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A2521C"/>
                </a:solidFill>
                <a:latin typeface="Arial"/>
              </a:rPr>
              <a:t>Method 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0137516" y="5764887"/>
            <a:ext cx="10329616" cy="1962911"/>
          </a:xfrm>
          <a:prstGeom prst="rect">
            <a:avLst/>
          </a:prstGeom>
          <a:noFill/>
        </p:spPr>
        <p:txBody>
          <a:bodyPr wrap="square" lIns="0" rIns="3911600" tIns="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A2521C"/>
                </a:solidFill>
                <a:latin typeface="Arial"/>
              </a:rPr>
              <a:t>Robustness &amp; Zero-Shot 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39991" y="7013932"/>
            <a:ext cx="10329615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Tabular prediction has </a:t>
            </a:r>
            <a:r>
              <a:rPr sz="4106" b="1">
                <a:solidFill>
                  <a:srgbClr val="111111"/>
                </a:solidFill>
                <a:latin typeface="Arial"/>
              </a:rPr>
              <a:t>no universal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foundation model</a:t>
            </a:r>
            <a:r>
              <a:rPr sz="4106" b="0">
                <a:solidFill>
                  <a:srgbClr val="1C1C1C"/>
                </a:solidFill>
                <a:latin typeface="Arial"/>
              </a:rPr>
              <a:t>: every task carries a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different schema, blocking transfer.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0137516" y="12114291"/>
            <a:ext cx="10329616" cy="1063244"/>
          </a:xfrm>
          <a:prstGeom prst="rect">
            <a:avLst/>
          </a:prstGeom>
          <a:noFill/>
        </p:spPr>
        <p:txBody>
          <a:bodyPr wrap="square" lIns="0" rIns="0" tIns="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A2521C"/>
                </a:solidFill>
                <a:latin typeface="Arial"/>
              </a:rPr>
              <a:t>Headline Numbers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39991" y="14002861"/>
            <a:ext cx="10329615" cy="1063244"/>
          </a:xfrm>
          <a:prstGeom prst="rect">
            <a:avLst/>
          </a:prstGeom>
          <a:noFill/>
        </p:spPr>
        <p:txBody>
          <a:bodyPr wrap="square" lIns="0" rIns="3911600" tIns="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A2521C"/>
                </a:solidFill>
                <a:latin typeface="Arial"/>
              </a:rPr>
              <a:t>Motivation 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0181966" y="18179772"/>
            <a:ext cx="10283833" cy="1063244"/>
          </a:xfrm>
          <a:prstGeom prst="rect">
            <a:avLst/>
          </a:prstGeom>
          <a:noFill/>
        </p:spPr>
        <p:txBody>
          <a:bodyPr wrap="square" lIns="0" rIns="3911600" tIns="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A2521C"/>
                </a:solidFill>
                <a:latin typeface="Arial"/>
              </a:rPr>
              <a:t>Takeaway 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039991" y="19393535"/>
            <a:ext cx="10329615" cy="1703170"/>
          </a:xfrm>
          <a:prstGeom prst="rect">
            <a:avLst/>
          </a:prstGeom>
          <a:noFill/>
        </p:spPr>
        <p:txBody>
          <a:bodyPr wrap="none" lIns="365082" rIns="365082" tIns="62585" bIns="62585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Self-supervision works for text and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images — why not tables?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0181966" y="19424372"/>
            <a:ext cx="10283833" cy="34785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A schema-agnostic cell encoder plus free-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form prompts, pretrained on 13B samples,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yields the </a:t>
            </a:r>
            <a:r>
              <a:rPr sz="4106" b="1">
                <a:solidFill>
                  <a:srgbClr val="111111"/>
                </a:solidFill>
                <a:latin typeface="Arial"/>
              </a:rPr>
              <a:t>first transferable tabular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foundation model</a:t>
            </a:r>
            <a:r>
              <a:rPr sz="4106" b="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039991" y="21904821"/>
            <a:ext cx="10329615" cy="1063244"/>
          </a:xfrm>
          <a:prstGeom prst="rect">
            <a:avLst/>
          </a:prstGeom>
          <a:noFill/>
        </p:spPr>
        <p:txBody>
          <a:bodyPr wrap="square" lIns="0" rIns="3911600" tIns="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A2521C"/>
                </a:solidFill>
                <a:latin typeface="Arial"/>
              </a:rPr>
              <a:t>Ablation Study 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0181966" y="22709921"/>
            <a:ext cx="10283833" cy="2698844"/>
          </a:xfrm>
          <a:prstGeom prst="rect">
            <a:avLst/>
          </a:prstGeom>
          <a:noFill/>
        </p:spPr>
        <p:txBody>
          <a:bodyPr wrap="none" lIns="365082" rIns="365082" tIns="156464" bIns="156464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Respect table structure instead of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flattening it, and pretrain-then-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transfer works for tables.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39991" y="27965022"/>
            <a:ext cx="10329615" cy="1803170"/>
          </a:xfrm>
          <a:prstGeom prst="rect">
            <a:avLst/>
          </a:prstGeom>
          <a:noFill/>
        </p:spPr>
        <p:txBody>
          <a:bodyPr wrap="square" lIns="0" rIns="0" tIns="215920" bIns="0">
            <a:spAutoFit/>
          </a:bodyPr>
          <a:lstStyle/>
          <a:p>
            <a:pPr algn="l">
              <a:lnSpc>
                <a:spcPts val="5289"/>
              </a:lnSpc>
              <a:spcBef>
                <a:spcPts val="0"/>
              </a:spcBef>
              <a:spcAft>
                <a:spcPts val="0"/>
              </a:spcAft>
            </a:pPr>
            <a:r>
              <a:rPr sz="2946" b="1" spc="176">
                <a:solidFill>
                  <a:srgbClr val="111111"/>
                </a:solidFill>
                <a:latin typeface="Arial"/>
              </a:rPr>
              <a:t>SO WHAT → </a:t>
            </a:r>
            <a:r>
              <a:rPr sz="3778" b="0" i="1">
                <a:solidFill>
                  <a:srgbClr val="1C1C1C"/>
                </a:solidFill>
                <a:latin typeface="Arial"/>
              </a:rPr>
              <a:t>The linking layer (column↔value binding) matters most of all.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0137498" y="7791807"/>
            <a:ext cx="10329635" cy="17392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Zero-shot:</a:t>
            </a:r>
            <a:r>
              <a:rPr sz="4106" b="0">
                <a:solidFill>
                  <a:srgbClr val="1C1C1C"/>
                </a:solidFill>
                <a:latin typeface="Arial"/>
              </a:rPr>
              <a:t> </a:t>
            </a:r>
            <a:r>
              <a:rPr sz="4106" b="1">
                <a:solidFill>
                  <a:srgbClr val="111111"/>
                </a:solidFill>
                <a:highlight>
                  <a:srgbClr val="ECECEC"/>
                </a:highlight>
                <a:latin typeface="Arial"/>
              </a:rPr>
              <a:t>0.94</a:t>
            </a:r>
            <a:r>
              <a:rPr sz="4106" b="0">
                <a:solidFill>
                  <a:srgbClr val="1C1C1C"/>
                </a:solidFill>
                <a:latin typeface="Arial"/>
              </a:rPr>
              <a:t> AUC (IO), </a:t>
            </a:r>
            <a:r>
              <a:rPr sz="4106" b="1">
                <a:solidFill>
                  <a:srgbClr val="111111"/>
                </a:solidFill>
                <a:highlight>
                  <a:srgbClr val="ECECEC"/>
                </a:highlight>
                <a:latin typeface="Arial"/>
              </a:rPr>
              <a:t>0.89</a:t>
            </a:r>
            <a:r>
              <a:rPr sz="4106" b="0">
                <a:solidFill>
                  <a:srgbClr val="1C1C1C"/>
                </a:solidFill>
                <a:latin typeface="Arial"/>
              </a:rPr>
              <a:t> (CA),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no finetuning.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0137498" y="9486741"/>
            <a:ext cx="10329635" cy="17392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Incremental columns:</a:t>
            </a:r>
            <a:r>
              <a:rPr sz="4106" b="0">
                <a:solidFill>
                  <a:srgbClr val="1C1C1C"/>
                </a:solidFill>
                <a:latin typeface="Arial"/>
              </a:rPr>
              <a:t> </a:t>
            </a:r>
            <a:r>
              <a:rPr sz="4106" b="1">
                <a:solidFill>
                  <a:srgbClr val="111111"/>
                </a:solidFill>
                <a:highlight>
                  <a:srgbClr val="ECECEC"/>
                </a:highlight>
                <a:latin typeface="Arial"/>
              </a:rPr>
              <a:t>3.5%</a:t>
            </a:r>
            <a:r>
              <a:rPr sz="4106" b="0">
                <a:solidFill>
                  <a:srgbClr val="1C1C1C"/>
                </a:solidFill>
                <a:latin typeface="Arial"/>
              </a:rPr>
              <a:t> AUC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drop vs </a:t>
            </a:r>
            <a:r>
              <a:rPr sz="4106" b="1">
                <a:solidFill>
                  <a:srgbClr val="111111"/>
                </a:solidFill>
                <a:highlight>
                  <a:srgbClr val="ECECEC"/>
                </a:highlight>
                <a:latin typeface="Arial"/>
              </a:rPr>
              <a:t>7.5%</a:t>
            </a:r>
            <a:r>
              <a:rPr sz="4106" b="0">
                <a:solidFill>
                  <a:srgbClr val="1C1C1C"/>
                </a:solidFill>
                <a:latin typeface="Arial"/>
              </a:rPr>
              <a:t> for TransTab-LSTM.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2271672" y="9950410"/>
            <a:ext cx="27089636" cy="1219791"/>
          </a:xfrm>
          <a:prstGeom prst="rect">
            <a:avLst/>
          </a:prstGeom>
          <a:noFill/>
        </p:spPr>
        <p:txBody>
          <a:bodyPr wrap="square" lIns="394289" rIns="394289" tIns="67592" bIns="67592">
            <a:spAutoFit/>
          </a:bodyPr>
          <a:lstStyle/>
          <a:p>
            <a:pPr algn="ctr">
              <a:lnSpc>
                <a:spcPts val="6431"/>
              </a:lnSpc>
              <a:spcBef>
                <a:spcPts val="0"/>
              </a:spcBef>
              <a:spcAft>
                <a:spcPts val="0"/>
              </a:spcAft>
            </a:pPr>
            <a:r>
              <a:rPr sz="4435" b="0">
                <a:solidFill>
                  <a:srgbClr val="1C1C1C"/>
                </a:solidFill>
                <a:latin typeface="Arimo"/>
              </a:rPr>
              <a:t>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529496" y="10551318"/>
            <a:ext cx="9449428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Prior methods either </a:t>
            </a:r>
            <a:r>
              <a:rPr sz="4106" b="1">
                <a:solidFill>
                  <a:srgbClr val="111111"/>
                </a:solidFill>
                <a:latin typeface="Arial"/>
              </a:rPr>
              <a:t>textualize tables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(losing numerics) or </a:t>
            </a:r>
            <a:r>
              <a:rPr sz="4106" b="1">
                <a:solidFill>
                  <a:srgbClr val="111111"/>
                </a:solidFill>
                <a:latin typeface="Arial"/>
              </a:rPr>
              <a:t>fix the column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structure</a:t>
            </a:r>
            <a:r>
              <a:rPr sz="4106" b="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039972" y="15247461"/>
            <a:ext cx="10329635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One protocol for </a:t>
            </a:r>
            <a:r>
              <a:rPr sz="4106" b="1">
                <a:solidFill>
                  <a:srgbClr val="111111"/>
                </a:solidFill>
                <a:latin typeface="Arial"/>
              </a:rPr>
              <a:t>arbitrarily structured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1">
                <a:solidFill>
                  <a:srgbClr val="111111"/>
                </a:solidFill>
                <a:latin typeface="Arial"/>
              </a:rPr>
              <a:t>tables</a:t>
            </a:r>
            <a:r>
              <a:rPr sz="4106" b="0">
                <a:solidFill>
                  <a:srgbClr val="1C1C1C"/>
                </a:solidFill>
                <a:latin typeface="Arial"/>
              </a:rPr>
              <a:t>, pretrained at scale, could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transfer across tasks.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039972" y="17698600"/>
            <a:ext cx="10329635" cy="17392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Handling </a:t>
            </a:r>
            <a:r>
              <a:rPr sz="4106" b="1">
                <a:solidFill>
                  <a:srgbClr val="111111"/>
                </a:solidFill>
                <a:highlight>
                  <a:srgbClr val="ECECEC"/>
                </a:highlight>
                <a:latin typeface="Arial"/>
              </a:rPr>
              <a:t>missing values</a:t>
            </a:r>
            <a:r>
              <a:rPr sz="4106" b="0">
                <a:solidFill>
                  <a:srgbClr val="1C1C1C"/>
                </a:solidFill>
                <a:latin typeface="Arial"/>
              </a:rPr>
              <a:t>, </a:t>
            </a:r>
            <a:r>
              <a:rPr sz="4106" b="1">
                <a:solidFill>
                  <a:srgbClr val="111111"/>
                </a:solidFill>
                <a:highlight>
                  <a:srgbClr val="ECECEC"/>
                </a:highlight>
                <a:latin typeface="Arial"/>
              </a:rPr>
              <a:t>zero-shot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tasks, and new columns.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2271672" y="20715227"/>
            <a:ext cx="13160752" cy="1063244"/>
          </a:xfrm>
          <a:prstGeom prst="rect">
            <a:avLst/>
          </a:prstGeom>
          <a:noFill/>
        </p:spPr>
        <p:txBody>
          <a:bodyPr wrap="square" lIns="0" rIns="3911600" tIns="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A2521C"/>
                </a:solidFill>
                <a:latin typeface="Arial"/>
              </a:rPr>
              <a:t>Key Results 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6157158" y="20715227"/>
            <a:ext cx="13160752" cy="1063244"/>
          </a:xfrm>
          <a:prstGeom prst="rect">
            <a:avLst/>
          </a:prstGeom>
          <a:noFill/>
        </p:spPr>
        <p:txBody>
          <a:bodyPr wrap="square" lIns="0" rIns="3911600" tIns="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A2521C"/>
                </a:solidFill>
                <a:latin typeface="Arial"/>
              </a:rPr>
              <a:t>Dataset / Benchmark 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2271672" y="25710157"/>
            <a:ext cx="13160752" cy="2233516"/>
          </a:xfrm>
          <a:prstGeom prst="rect">
            <a:avLst/>
          </a:prstGeom>
          <a:noFill/>
        </p:spPr>
        <p:txBody>
          <a:bodyPr wrap="none" lIns="485560" rIns="485560" tIns="281113" bIns="281113">
            <a:spAutoFit/>
          </a:bodyPr>
          <a:lstStyle/>
          <a:p>
            <a:pPr algn="ctr">
              <a:lnSpc>
                <a:spcPts val="5433"/>
              </a:lnSpc>
              <a:spcBef>
                <a:spcPts val="0"/>
              </a:spcBef>
              <a:spcAft>
                <a:spcPts val="0"/>
              </a:spcAft>
            </a:pPr>
            <a:r>
              <a:rPr sz="4024" b="1">
                <a:solidFill>
                  <a:srgbClr val="A2521C"/>
                </a:solidFill>
                <a:latin typeface="Arial"/>
              </a:rPr>
              <a:t>+0.02 avg AUC over the best baseline; also wins</a:t>
            </a:r>
          </a:p>
          <a:p>
            <a:pPr algn="ctr">
              <a:lnSpc>
                <a:spcPts val="5433"/>
              </a:lnSpc>
              <a:spcBef>
                <a:spcPts val="0"/>
              </a:spcBef>
              <a:spcAft>
                <a:spcPts val="0"/>
              </a:spcAft>
            </a:pPr>
            <a:r>
              <a:rPr sz="4024" b="1">
                <a:solidFill>
                  <a:srgbClr val="A2521C"/>
                </a:solidFill>
                <a:latin typeface="Arial"/>
              </a:rPr>
              <a:t>all 12 held-out Kaggle tasks on AUC &amp; R²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2271672" y="27933352"/>
            <a:ext cx="13160752" cy="1803170"/>
          </a:xfrm>
          <a:prstGeom prst="rect">
            <a:avLst/>
          </a:prstGeom>
          <a:noFill/>
        </p:spPr>
        <p:txBody>
          <a:bodyPr wrap="square" lIns="0" rIns="0" tIns="215920" bIns="0">
            <a:spAutoFit/>
          </a:bodyPr>
          <a:lstStyle/>
          <a:p>
            <a:pPr algn="l">
              <a:lnSpc>
                <a:spcPts val="5289"/>
              </a:lnSpc>
              <a:spcBef>
                <a:spcPts val="0"/>
              </a:spcBef>
              <a:spcAft>
                <a:spcPts val="0"/>
              </a:spcAft>
            </a:pPr>
            <a:r>
              <a:rPr sz="2946" b="1" spc="176">
                <a:solidFill>
                  <a:srgbClr val="111111"/>
                </a:solidFill>
                <a:latin typeface="Arial"/>
              </a:rPr>
              <a:t>SO WHAT → </a:t>
            </a:r>
            <a:r>
              <a:rPr sz="3778" b="0" i="1">
                <a:solidFill>
                  <a:srgbClr val="1C1C1C"/>
                </a:solidFill>
                <a:latin typeface="Arial"/>
              </a:rPr>
              <a:t>Pretraining transfers: UniTabE beats XGBoost and prior tabular models on classification and regression.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3233815" y="7009487"/>
            <a:ext cx="26127493" cy="18501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TabUnit</a:t>
            </a:r>
            <a:r>
              <a:rPr sz="4106" b="0">
                <a:solidFill>
                  <a:srgbClr val="1C1C1C"/>
                </a:solidFill>
                <a:latin typeface="Arial"/>
              </a:rPr>
              <a:t> encodes each cell as a key–value pair; a fuse layer gates data-type, a linking layer binds</a:t>
            </a:r>
          </a:p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column→values.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3233815" y="8931116"/>
            <a:ext cx="26127493" cy="101036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Transformer encoder</a:t>
            </a:r>
            <a:r>
              <a:rPr sz="4106" b="0">
                <a:solidFill>
                  <a:srgbClr val="1C1C1C"/>
                </a:solidFill>
                <a:latin typeface="Arial"/>
              </a:rPr>
              <a:t> builds the representation; a shallow decoder + prompt generates targets.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40383380" y="13908682"/>
            <a:ext cx="4910137" cy="15539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0640"/>
              </a:lnSpc>
              <a:spcBef>
                <a:spcPts val="0"/>
              </a:spcBef>
              <a:spcAft>
                <a:spcPts val="0"/>
              </a:spcAft>
            </a:pPr>
            <a:r>
              <a:rPr sz="11200" b="1" spc="-224">
                <a:solidFill>
                  <a:srgbClr val="A2521C"/>
                </a:solidFill>
                <a:latin typeface="Arial"/>
              </a:rPr>
              <a:t>0.83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0383380" y="15283576"/>
            <a:ext cx="4910137" cy="11993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Avg AUC · 7 public</a:t>
            </a:r>
          </a:p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benchmarks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40383380" y="16326485"/>
            <a:ext cx="4910137" cy="47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22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1">
                <a:solidFill>
                  <a:srgbClr val="555555"/>
                </a:solidFill>
                <a:latin typeface="Arial"/>
              </a:rPr>
              <a:t>beats XGBoost &amp; Tapas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22664082" y="19114889"/>
            <a:ext cx="6054152" cy="6392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UniTabE architecture overview.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40137516" y="26328151"/>
            <a:ext cx="6666936" cy="654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920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A2521C"/>
                </a:solidFill>
                <a:latin typeface="Arial"/>
              </a:rPr>
              <a:t>Scan to Read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26676667" y="28553985"/>
            <a:ext cx="12090421" cy="12785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1" i="1">
                <a:solidFill>
                  <a:srgbClr val="111111"/>
                </a:solidFill>
                <a:latin typeface="Arial"/>
              </a:rPr>
              <a:t>7TB</a:t>
            </a:r>
            <a:r>
              <a:rPr sz="3367" b="0" i="1">
                <a:solidFill>
                  <a:srgbClr val="555555"/>
                </a:solidFill>
                <a:latin typeface="Arial"/>
              </a:rPr>
              <a:t> · </a:t>
            </a:r>
            <a:r>
              <a:rPr sz="3367" b="1" i="1">
                <a:solidFill>
                  <a:srgbClr val="111111"/>
                </a:solidFill>
                <a:latin typeface="Arial"/>
              </a:rPr>
              <a:t>283K</a:t>
            </a:r>
            <a:r>
              <a:rPr sz="3367" b="0" i="1">
                <a:solidFill>
                  <a:srgbClr val="555555"/>
                </a:solidFill>
                <a:latin typeface="Arial"/>
              </a:rPr>
              <a:t> tables · </a:t>
            </a:r>
            <a:r>
              <a:rPr sz="3367" b="1" i="1">
                <a:solidFill>
                  <a:srgbClr val="111111"/>
                </a:solidFill>
                <a:latin typeface="Arial"/>
              </a:rPr>
              <a:t>303</a:t>
            </a:r>
            <a:r>
              <a:rPr sz="3367" b="0" i="1">
                <a:solidFill>
                  <a:srgbClr val="555555"/>
                </a:solidFill>
                <a:latin typeface="Arial"/>
              </a:rPr>
              <a:t> domains · </a:t>
            </a:r>
            <a:r>
              <a:rPr sz="3367" b="1" i="1">
                <a:solidFill>
                  <a:srgbClr val="111111"/>
                </a:solidFill>
                <a:latin typeface="Arial"/>
              </a:rPr>
              <a:t>~13B</a:t>
            </a:r>
            <a:r>
              <a:rPr sz="3367" b="0" i="1">
                <a:solidFill>
                  <a:srgbClr val="555555"/>
                </a:solidFill>
                <a:latin typeface="Arial"/>
              </a:rPr>
              <a:t> examples. Domain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distribution (a) and per-split data-type mix (b).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46202441" y="13581141"/>
            <a:ext cx="1335733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~13B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47681792" y="13714491"/>
            <a:ext cx="2305771" cy="9814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pretraining</a:t>
            </a:r>
          </a:p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samples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6202441" y="14828658"/>
            <a:ext cx="1257615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3.5%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7605950" y="14962008"/>
            <a:ext cx="2383888" cy="9814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drop · 1 new</a:t>
            </a:r>
          </a:p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column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6202441" y="16076175"/>
            <a:ext cx="1070618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0.94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7424399" y="16209525"/>
            <a:ext cx="2570886" cy="9814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zero-shot AUC</a:t>
            </a:r>
          </a:p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(IO)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039991" y="23311524"/>
            <a:ext cx="6521859" cy="812448"/>
          </a:xfrm>
          <a:prstGeom prst="rect">
            <a:avLst/>
          </a:prstGeom>
          <a:noFill/>
        </p:spPr>
        <p:txBody>
          <a:bodyPr wrap="squar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CONFIGURATION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7371893" y="23311524"/>
            <a:ext cx="3807756" cy="812448"/>
          </a:xfrm>
          <a:prstGeom prst="rect">
            <a:avLst/>
          </a:prstGeom>
          <a:noFill/>
        </p:spPr>
        <p:txBody>
          <a:bodyPr wrap="squar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AVG AUC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039991" y="24018001"/>
            <a:ext cx="6521859" cy="1086886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Full UniTabE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371893" y="24018001"/>
            <a:ext cx="3807756" cy="1086886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0.83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039991" y="24963120"/>
            <a:ext cx="6521859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− Fuse layer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7371893" y="24963120"/>
            <a:ext cx="3807756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0.77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039991" y="25908238"/>
            <a:ext cx="6521859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− Linking layer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7371893" y="25908238"/>
            <a:ext cx="3807756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0.75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039991" y="26853356"/>
            <a:ext cx="6521859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− Both layers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7371893" y="26853356"/>
            <a:ext cx="3807756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0.72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40137516" y="27086579"/>
            <a:ext cx="4405231" cy="1196469"/>
          </a:xfrm>
          <a:prstGeom prst="rect">
            <a:avLst/>
          </a:prstGeom>
          <a:noFill/>
        </p:spPr>
        <p:txBody>
          <a:bodyPr wrap="none" lIns="237066" rIns="237066" tIns="154093" bIns="154093">
            <a:spAutoFit/>
          </a:bodyPr>
          <a:lstStyle/>
          <a:p>
            <a:pPr algn="l">
              <a:lnSpc>
                <a:spcPts val="2464"/>
              </a:lnSpc>
              <a:spcBef>
                <a:spcPts val="0"/>
              </a:spcBef>
              <a:spcAft>
                <a:spcPts val="0"/>
              </a:spcAft>
            </a:pPr>
            <a:r>
              <a:rPr sz="2240" b="1">
                <a:solidFill>
                  <a:srgbClr val="A2521C"/>
                </a:solidFill>
                <a:latin typeface="Arial"/>
              </a:rPr>
              <a:t>Paper</a:t>
            </a:r>
          </a:p>
          <a:p>
            <a:pPr algn="l">
              <a:lnSpc>
                <a:spcPts val="2464"/>
              </a:lnSpc>
              <a:spcBef>
                <a:spcPts val="0"/>
              </a:spcBef>
              <a:spcAft>
                <a:spcPts val="0"/>
              </a:spcAft>
            </a:pPr>
            <a:r>
              <a:rPr sz="2053" b="0">
                <a:solidFill>
                  <a:srgbClr val="555555"/>
                </a:solidFill>
                <a:latin typeface="JetBrains Mono"/>
              </a:rPr>
              <a:t>arxiv.org/abs/2307.09249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0137516" y="28257281"/>
            <a:ext cx="3596722" cy="1196469"/>
          </a:xfrm>
          <a:prstGeom prst="rect">
            <a:avLst/>
          </a:prstGeom>
          <a:noFill/>
        </p:spPr>
        <p:txBody>
          <a:bodyPr wrap="none" lIns="237066" rIns="237066" tIns="154093" bIns="154093">
            <a:spAutoFit/>
          </a:bodyPr>
          <a:lstStyle/>
          <a:p>
            <a:pPr algn="l">
              <a:lnSpc>
                <a:spcPts val="2464"/>
              </a:lnSpc>
              <a:spcBef>
                <a:spcPts val="0"/>
              </a:spcBef>
              <a:spcAft>
                <a:spcPts val="0"/>
              </a:spcAft>
            </a:pPr>
            <a:r>
              <a:rPr sz="2240" b="1">
                <a:solidFill>
                  <a:srgbClr val="A2521C"/>
                </a:solidFill>
                <a:latin typeface="Arial"/>
              </a:rPr>
              <a:t>Venue</a:t>
            </a:r>
          </a:p>
          <a:p>
            <a:pPr algn="l">
              <a:lnSpc>
                <a:spcPts val="2464"/>
              </a:lnSpc>
              <a:spcBef>
                <a:spcPts val="0"/>
              </a:spcBef>
              <a:spcAft>
                <a:spcPts val="0"/>
              </a:spcAft>
            </a:pPr>
            <a:r>
              <a:rPr sz="2053" b="0">
                <a:solidFill>
                  <a:srgbClr val="555555"/>
                </a:solidFill>
                <a:latin typeface="JetBrains Mono"/>
              </a:rPr>
              <a:t>UniTabE · ICLR 2024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2271672" y="22153741"/>
            <a:ext cx="5853564" cy="936568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A2521C"/>
                </a:solidFill>
                <a:latin typeface="Arial"/>
              </a:rPr>
              <a:t>Method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7954744" y="22153741"/>
            <a:ext cx="7307188" cy="936568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A2521C"/>
                </a:solidFill>
                <a:latin typeface="Arial"/>
              </a:rPr>
              <a:t>Avg AUC · 7 public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2271672" y="22968148"/>
            <a:ext cx="5853564" cy="941679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1C1C1C"/>
                </a:solidFill>
                <a:latin typeface="Arial"/>
              </a:rPr>
              <a:t>XGBoost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7954744" y="22968148"/>
            <a:ext cx="7307188" cy="94167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0.79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2271672" y="23787000"/>
            <a:ext cx="5853564" cy="941680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1C1C1C"/>
                </a:solidFill>
                <a:latin typeface="Arial"/>
              </a:rPr>
              <a:t>Tapas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17954744" y="23787000"/>
            <a:ext cx="7307188" cy="941680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0.81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12271672" y="24605853"/>
            <a:ext cx="5853564" cy="941679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A2521C"/>
                </a:solidFill>
                <a:latin typeface="Arial"/>
              </a:rPr>
              <a:t>UniTabE (ours)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7954744" y="24605853"/>
            <a:ext cx="7307188" cy="94167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A2521C"/>
                </a:solidFill>
                <a:latin typeface="Arial"/>
              </a:rPr>
              <a:t>0.83</a:t>
            </a:r>
          </a:p>
        </p:txBody>
      </p:sp>
      <p:pic>
        <p:nvPicPr>
          <p:cNvPr id="160" name="Picture 159" descr="eq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549304" y="10035698"/>
            <a:ext cx="20107513" cy="800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
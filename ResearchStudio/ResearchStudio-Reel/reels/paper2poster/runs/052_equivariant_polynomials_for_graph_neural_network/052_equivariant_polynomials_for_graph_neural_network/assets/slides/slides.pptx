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eqpoly_video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eqpoly_video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44474b48462bb289.png"/><Relationship Id="rId3" Type="http://schemas.openxmlformats.org/officeDocument/2006/relationships/image" Target="../media/image_0d2ecb624216c345.png"/><Relationship Id="rId4" Type="http://schemas.openxmlformats.org/officeDocument/2006/relationships/image" Target="../media/image_331ba7a73a37f823.png"/><Relationship Id="rId5" Type="http://schemas.openxmlformats.org/officeDocument/2006/relationships/image" Target="../media/image_4144d41f2927a43a.png"/><Relationship Id="rId6" Type="http://schemas.openxmlformats.org/officeDocument/2006/relationships/image" Target="../media/image_5e0492aafedfc9c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15dc99e6299a1b20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rgbClr val="F08A5D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590550" y="689610"/>
            <a:ext cx="6955442" cy="2399824"/>
            <a:chOff x="590550" y="689610"/>
            <a:chExt cx="6955442" cy="2399824"/>
          </a:xfrm>
        </p:grpSpPr>
        <p:sp>
          <p:nvSpPr>
            <p:cNvPr id="5" name="TextBox 5"/>
            <p:cNvSpPr txBox="1"/>
            <p:nvPr/>
          </p:nvSpPr>
          <p:spPr>
            <a:xfrm>
              <a:off x="603504" y="689610"/>
              <a:ext cx="36504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22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ICML 2023 · PAPER WALKTHROUGH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0550" y="1100138"/>
              <a:ext cx="6085310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7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Equivariant Polynomials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0550" y="1633538"/>
              <a:ext cx="6955442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7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for Graph Neural Networks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28650" y="2266950"/>
              <a:ext cx="876300" cy="571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02742" y="2597468"/>
              <a:ext cx="64682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Omri Puny · Derek Lim · Bobak T. Kiani · Haggai Maron · Yaron Lipman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3885" y="2869406"/>
              <a:ext cx="50831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Weizmann Institute · MIT CSAIL · NVIDIA Research · Meta AI Research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9600" y="3295650"/>
            <a:ext cx="5905500" cy="927925"/>
            <a:chOff x="609600" y="3295650"/>
            <a:chExt cx="5905500" cy="927925"/>
          </a:xfrm>
        </p:grpSpPr>
        <p:sp>
          <p:nvSpPr>
            <p:cNvPr id="12" name="Rectangle 12"/>
            <p:cNvSpPr/>
            <p:nvPr/>
          </p:nvSpPr>
          <p:spPr>
            <a:xfrm>
              <a:off x="609600" y="3295650"/>
              <a:ext cx="5905500" cy="819150"/>
            </a:xfrm>
            <a:prstGeom prst="roundRect">
              <a:avLst>
                <a:gd name="adj" fmla="val 16279"/>
              </a:avLst>
            </a:prstGeom>
            <a:solidFill>
              <a:srgbClr val="EAF0F8"/>
            </a:solidFill>
            <a:ln w="9525">
              <a:solidFill>
                <a:schemeClr val="accent4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09600" y="3295650"/>
              <a:ext cx="66675" cy="819150"/>
            </a:xfrm>
            <a:prstGeom prst="roundRect">
              <a:avLst>
                <a:gd name="adj" fmla="val 4285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51535" y="3479006"/>
              <a:ext cx="16541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THE NEW YARDSTICK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0392" y="3740468"/>
              <a:ext cx="51817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Grade a graph network by which equivariant polynomials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0392" y="3959542"/>
              <a:ext cx="35057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of the graph it can actually compute.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9600" y="4438650"/>
            <a:ext cx="5905500" cy="999839"/>
            <a:chOff x="609600" y="4438650"/>
            <a:chExt cx="5905500" cy="999839"/>
          </a:xfrm>
        </p:grpSpPr>
        <p:grpSp>
          <p:nvGrpSpPr>
            <p:cNvPr id="23" name="Group 23"/>
            <p:cNvGrpSpPr/>
            <p:nvPr/>
          </p:nvGrpSpPr>
          <p:grpSpPr>
            <a:xfrm>
              <a:off x="609600" y="4438650"/>
              <a:ext cx="1885950" cy="999839"/>
              <a:chOff x="609600" y="4438650"/>
              <a:chExt cx="1885950" cy="999839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609600" y="4438650"/>
                <a:ext cx="1885950" cy="914400"/>
              </a:xfrm>
              <a:prstGeom prst="roundRect">
                <a:avLst>
                  <a:gd name="adj" fmla="val 12500"/>
                </a:avLst>
              </a:prstGeom>
              <a:solidFill>
                <a:schemeClr val="lt1"/>
              </a:solidFill>
              <a:ln w="14288">
                <a:solidFill>
                  <a:schemeClr val="accent4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56666" y="4630102"/>
                <a:ext cx="1739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55523" y="4853464"/>
                <a:ext cx="131223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Complete basis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57047" y="5095399"/>
                <a:ext cx="132918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of equivariant graph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57047" y="5247799"/>
                <a:ext cx="73550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polynomials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2619375" y="4438650"/>
              <a:ext cx="1885950" cy="999839"/>
              <a:chOff x="2619375" y="4438650"/>
              <a:chExt cx="1885950" cy="999839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2619375" y="4438650"/>
                <a:ext cx="1885950" cy="914400"/>
              </a:xfrm>
              <a:prstGeom prst="roundRect">
                <a:avLst>
                  <a:gd name="adj" fmla="val 12500"/>
                </a:avLst>
              </a:prstGeom>
              <a:solidFill>
                <a:schemeClr val="lt1"/>
              </a:solidFill>
              <a:ln w="14288">
                <a:solidFill>
                  <a:schemeClr val="accent4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2766441" y="4630102"/>
                <a:ext cx="1739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2765298" y="4853464"/>
                <a:ext cx="131223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Power analysis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2766822" y="5095399"/>
                <a:ext cx="125002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linear-time test of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2766822" y="5247799"/>
                <a:ext cx="135651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what a GNN computes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629150" y="4438650"/>
              <a:ext cx="1885950" cy="999839"/>
              <a:chOff x="4629150" y="4438650"/>
              <a:chExt cx="1885950" cy="999839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4629150" y="4438650"/>
                <a:ext cx="1885950" cy="914400"/>
              </a:xfrm>
              <a:prstGeom prst="roundRect">
                <a:avLst>
                  <a:gd name="adj" fmla="val 125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776216" y="4630102"/>
                <a:ext cx="1739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F08A5D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775073" y="4853464"/>
                <a:ext cx="64381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PPGN++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776597" y="5095399"/>
                <a:ext cx="154026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rgbClr val="B9C6D8"/>
                    </a:solidFill>
                    <a:latin typeface="+mn-lt"/>
                    <a:ea typeface="+mn-ea"/>
                    <a:cs typeface="+mn-cs"/>
                  </a:rPr>
                  <a:t>new state of the art on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776597" y="5247799"/>
                <a:ext cx="141493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rgbClr val="B9C6D8"/>
                    </a:solidFill>
                    <a:latin typeface="+mn-lt"/>
                    <a:ea typeface="+mn-ea"/>
                    <a:cs typeface="+mn-cs"/>
                  </a:rPr>
                  <a:t>molecular benchmarks</a:t>
                </a:r>
              </a:p>
            </p:txBody>
          </p:sp>
        </p:grpSp>
      </p:grpSp>
      <p:grpSp>
        <p:nvGrpSpPr>
          <p:cNvPr id="60" name="Group 60"/>
          <p:cNvGrpSpPr/>
          <p:nvPr/>
        </p:nvGrpSpPr>
        <p:grpSpPr>
          <a:xfrm>
            <a:off x="7048500" y="819150"/>
            <a:ext cx="4533900" cy="3562350"/>
            <a:chOff x="7048500" y="819150"/>
            <a:chExt cx="4533900" cy="3562350"/>
          </a:xfrm>
        </p:grpSpPr>
        <p:sp>
          <p:nvSpPr>
            <p:cNvPr id="37" name="Rectangle 37"/>
            <p:cNvSpPr/>
            <p:nvPr/>
          </p:nvSpPr>
          <p:spPr>
            <a:xfrm>
              <a:off x="7048500" y="819150"/>
              <a:ext cx="4533900" cy="3562350"/>
            </a:xfrm>
            <a:prstGeom prst="roundRect">
              <a:avLst>
                <a:gd name="adj" fmla="val 4813"/>
              </a:avLst>
            </a:prstGeom>
            <a:gradFill>
              <a:gsLst>
                <a:gs pos="0">
                  <a:schemeClr val="accent1"/>
                </a:gs>
                <a:gs pos="100000">
                  <a:srgbClr val="0F1B2E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328535" y="1078706"/>
              <a:ext cx="13377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rgbClr val="F08A5D"/>
                  </a:solidFill>
                  <a:latin typeface="+mn-lt"/>
                  <a:ea typeface="+mn-ea"/>
                  <a:cs typeface="+mn-cs"/>
                </a:rPr>
                <a:t>THE LIMITATION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27392" y="1340168"/>
              <a:ext cx="32172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GNN power is bounded — and WL is a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27392" y="1559242"/>
              <a:ext cx="31813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coarse, hard-to-interpret ruler.</a:t>
              </a:r>
            </a:p>
          </p:txBody>
        </p:sp>
        <p:grpSp>
          <p:nvGrpSpPr>
            <p:cNvPr id="50" name="Group 50"/>
            <p:cNvGrpSpPr/>
            <p:nvPr/>
          </p:nvGrpSpPr>
          <p:grpSpPr>
            <a:xfrm>
              <a:off x="7321285" y="2076450"/>
              <a:ext cx="2070365" cy="1571339"/>
              <a:chOff x="7321285" y="2076450"/>
              <a:chExt cx="2070365" cy="1571339"/>
            </a:xfrm>
          </p:grpSpPr>
          <p:sp>
            <p:nvSpPr>
              <p:cNvPr id="41" name="Line 41"/>
              <p:cNvSpPr/>
              <p:nvPr/>
            </p:nvSpPr>
            <p:spPr>
              <a:xfrm>
                <a:off x="7734300" y="2209800"/>
                <a:ext cx="9525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00" h="152400">
                    <a:moveTo>
                      <a:pt x="0" y="152400"/>
                    </a:moveTo>
                    <a:lnTo>
                      <a:pt x="952500" y="0"/>
                    </a:lnTo>
                  </a:path>
                </a:pathLst>
              </a:custGeom>
              <a:noFill/>
              <a:ln w="28575">
                <a:solidFill>
                  <a:srgbClr val="7E93AD"/>
                </a:solidFill>
              </a:ln>
            </p:spPr>
          </p:sp>
          <p:sp>
            <p:nvSpPr>
              <p:cNvPr id="42" name="Line 42"/>
              <p:cNvSpPr/>
              <p:nvPr/>
            </p:nvSpPr>
            <p:spPr>
              <a:xfrm>
                <a:off x="8686800" y="2209800"/>
                <a:ext cx="571500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723900">
                    <a:moveTo>
                      <a:pt x="0" y="0"/>
                    </a:moveTo>
                    <a:lnTo>
                      <a:pt x="571500" y="723900"/>
                    </a:lnTo>
                  </a:path>
                </a:pathLst>
              </a:custGeom>
              <a:noFill/>
              <a:ln w="28575">
                <a:solidFill>
                  <a:srgbClr val="7E93AD"/>
                </a:solidFill>
              </a:ln>
            </p:spPr>
          </p:sp>
          <p:sp>
            <p:nvSpPr>
              <p:cNvPr id="43" name="Line 43"/>
              <p:cNvSpPr/>
              <p:nvPr/>
            </p:nvSpPr>
            <p:spPr>
              <a:xfrm>
                <a:off x="7734300" y="2362200"/>
                <a:ext cx="571500" cy="838200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838200">
                    <a:moveTo>
                      <a:pt x="0" y="0"/>
                    </a:moveTo>
                    <a:lnTo>
                      <a:pt x="571500" y="838200"/>
                    </a:lnTo>
                  </a:path>
                </a:pathLst>
              </a:custGeom>
              <a:noFill/>
              <a:ln w="28575">
                <a:solidFill>
                  <a:srgbClr val="7E93AD"/>
                </a:solidFill>
              </a:ln>
            </p:spPr>
          </p:sp>
          <p:sp>
            <p:nvSpPr>
              <p:cNvPr id="44" name="Line 44"/>
              <p:cNvSpPr/>
              <p:nvPr/>
            </p:nvSpPr>
            <p:spPr>
              <a:xfrm>
                <a:off x="8305800" y="2933700"/>
                <a:ext cx="9525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952500" h="266700">
                    <a:moveTo>
                      <a:pt x="0" y="266700"/>
                    </a:moveTo>
                    <a:lnTo>
                      <a:pt x="952500" y="0"/>
                    </a:lnTo>
                  </a:path>
                </a:pathLst>
              </a:custGeom>
              <a:noFill/>
              <a:ln w="38100">
                <a:solidFill>
                  <a:schemeClr val="accent2"/>
                </a:solidFill>
              </a:ln>
            </p:spPr>
          </p:sp>
          <p:sp>
            <p:nvSpPr>
              <p:cNvPr id="45" name="Ellipse 45"/>
              <p:cNvSpPr/>
              <p:nvPr/>
            </p:nvSpPr>
            <p:spPr>
              <a:xfrm>
                <a:off x="7600950" y="2228850"/>
                <a:ext cx="266700" cy="2667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6" name="Ellipse 46"/>
              <p:cNvSpPr/>
              <p:nvPr/>
            </p:nvSpPr>
            <p:spPr>
              <a:xfrm>
                <a:off x="8553450" y="2076450"/>
                <a:ext cx="266700" cy="2667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7" name="Ellipse 47"/>
              <p:cNvSpPr/>
              <p:nvPr/>
            </p:nvSpPr>
            <p:spPr>
              <a:xfrm>
                <a:off x="9124950" y="2800350"/>
                <a:ext cx="266700" cy="2667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8" name="Ellipse 48"/>
              <p:cNvSpPr/>
              <p:nvPr/>
            </p:nvSpPr>
            <p:spPr>
              <a:xfrm>
                <a:off x="8172450" y="3067050"/>
                <a:ext cx="266700" cy="26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7321285" y="3457099"/>
                <a:ext cx="196903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rgbClr val="B9C6D8"/>
                    </a:solidFill>
                    <a:latin typeface="+mn-lt"/>
                    <a:ea typeface="+mn-ea"/>
                    <a:cs typeface="+mn-cs"/>
                  </a:rPr>
                  <a:t>a graph, with one marked edge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9753600" y="2057400"/>
              <a:ext cx="1524000" cy="1428750"/>
              <a:chOff x="9753600" y="2057400"/>
              <a:chExt cx="1524000" cy="1428750"/>
            </a:xfrm>
          </p:grpSpPr>
          <p:sp>
            <p:nvSpPr>
              <p:cNvPr id="51" name="Rectangle 51"/>
              <p:cNvSpPr/>
              <p:nvPr/>
            </p:nvSpPr>
            <p:spPr>
              <a:xfrm>
                <a:off x="9753600" y="2057400"/>
                <a:ext cx="1524000" cy="1428750"/>
              </a:xfrm>
              <a:prstGeom prst="roundRect">
                <a:avLst>
                  <a:gd name="adj" fmla="val 6667"/>
                </a:avLst>
              </a:prstGeom>
              <a:solidFill>
                <a:srgbClr val="0B1526"/>
              </a:solidFill>
              <a:ln w="9525">
                <a:solidFill>
                  <a:srgbClr val="2A3B54"/>
                </a:solidFill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10181516" y="2188845"/>
                <a:ext cx="66816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rgbClr val="7E93AD"/>
                    </a:solidFill>
                    <a:latin typeface="+mn-lt"/>
                    <a:ea typeface="+mn-ea"/>
                    <a:cs typeface="+mn-cs"/>
                  </a:rPr>
                  <a:t>WL LADDER</a:t>
                </a:r>
              </a:p>
            </p:txBody>
          </p:sp>
          <p:sp>
            <p:nvSpPr>
              <p:cNvPr id="53" name="Rectangle 53"/>
              <p:cNvSpPr/>
              <p:nvPr/>
            </p:nvSpPr>
            <p:spPr>
              <a:xfrm>
                <a:off x="9944100" y="2419350"/>
                <a:ext cx="1143000" cy="133350"/>
              </a:xfrm>
              <a:prstGeom prst="roundRect">
                <a:avLst>
                  <a:gd name="adj" fmla="val 21429"/>
                </a:avLst>
              </a:prstGeom>
              <a:solidFill>
                <a:srgbClr val="33465F"/>
              </a:solidFill>
              <a:ln>
                <a:noFill/>
              </a:ln>
            </p:spPr>
          </p:sp>
          <p:sp>
            <p:nvSpPr>
              <p:cNvPr id="54" name="Rectangle 54"/>
              <p:cNvSpPr/>
              <p:nvPr/>
            </p:nvSpPr>
            <p:spPr>
              <a:xfrm>
                <a:off x="9944100" y="2781300"/>
                <a:ext cx="1143000" cy="133350"/>
              </a:xfrm>
              <a:prstGeom prst="roundRect">
                <a:avLst>
                  <a:gd name="adj" fmla="val 21429"/>
                </a:avLst>
              </a:prstGeom>
              <a:solidFill>
                <a:srgbClr val="33465F"/>
              </a:solidFill>
              <a:ln>
                <a:noFill/>
              </a:ln>
            </p:spPr>
          </p:sp>
          <p:sp>
            <p:nvSpPr>
              <p:cNvPr id="55" name="Rectangle 55"/>
              <p:cNvSpPr/>
              <p:nvPr/>
            </p:nvSpPr>
            <p:spPr>
              <a:xfrm>
                <a:off x="9944100" y="3143250"/>
                <a:ext cx="1143000" cy="133350"/>
              </a:xfrm>
              <a:prstGeom prst="roundRect">
                <a:avLst>
                  <a:gd name="adj" fmla="val 21429"/>
                </a:avLst>
              </a:prstGeom>
              <a:solidFill>
                <a:srgbClr val="33465F"/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10083082" y="2635091"/>
                <a:ext cx="865035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8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rungs far apart</a:t>
                </a:r>
              </a:p>
            </p:txBody>
          </p:sp>
        </p:grpSp>
        <p:sp>
          <p:nvSpPr>
            <p:cNvPr id="58" name="Rectangle 58"/>
            <p:cNvSpPr/>
            <p:nvPr/>
          </p:nvSpPr>
          <p:spPr>
            <a:xfrm>
              <a:off x="7334250" y="3733800"/>
              <a:ext cx="3962400" cy="495300"/>
            </a:xfrm>
            <a:prstGeom prst="roundRect">
              <a:avLst>
                <a:gd name="adj" fmla="val 19231"/>
              </a:avLst>
            </a:prstGeom>
            <a:solidFill>
              <a:srgbClr val="0B1526"/>
            </a:solidFill>
            <a:ln w="9525">
              <a:solidFill>
                <a:srgbClr val="2A3B54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519416" y="3915728"/>
              <a:ext cx="3552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BD8E6"/>
                  </a:solidFill>
                  <a:latin typeface="+mn-lt"/>
                  <a:ea typeface="+mn-ea"/>
                  <a:cs typeface="+mn-cs"/>
                </a:rPr>
                <a:t>Many different GNNs collapse to the same WL level.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604266" y="4629150"/>
            <a:ext cx="10978134" cy="2073211"/>
            <a:chOff x="604266" y="4629150"/>
            <a:chExt cx="10978134" cy="2073211"/>
          </a:xfrm>
        </p:grpSpPr>
        <p:sp>
          <p:nvSpPr>
            <p:cNvPr id="61" name="TextBox 61"/>
            <p:cNvSpPr txBox="1"/>
            <p:nvPr/>
          </p:nvSpPr>
          <p:spPr>
            <a:xfrm>
              <a:off x="604838" y="5789295"/>
              <a:ext cx="15322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spc="7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AUTHORS' INSTITUTES</a:t>
              </a:r>
            </a:p>
          </p:txBody>
        </p:sp>
        <p:pic>
          <p:nvPicPr>
            <p:cNvPr id="62" name="Image 6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6026677"/>
              <a:ext cx="304800" cy="271996"/>
            </a:xfrm>
            <a:prstGeom prst="rect">
              <a:avLst/>
            </a:prstGeom>
          </p:spPr>
        </p:pic>
        <p:pic>
          <p:nvPicPr>
            <p:cNvPr id="63" name="Image 6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46762" y="6076950"/>
              <a:ext cx="335376" cy="190500"/>
            </a:xfrm>
            <a:prstGeom prst="rect">
              <a:avLst/>
            </a:prstGeom>
          </p:spPr>
        </p:pic>
        <p:pic>
          <p:nvPicPr>
            <p:cNvPr id="64" name="Image 6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20298" y="6076950"/>
              <a:ext cx="1007603" cy="190500"/>
            </a:xfrm>
            <a:prstGeom prst="rect">
              <a:avLst/>
            </a:prstGeom>
          </p:spPr>
        </p:pic>
        <p:pic>
          <p:nvPicPr>
            <p:cNvPr id="65" name="Image 6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13416" y="6076950"/>
              <a:ext cx="945518" cy="190500"/>
            </a:xfrm>
            <a:prstGeom prst="rect">
              <a:avLst/>
            </a:prstGeom>
          </p:spPr>
        </p:pic>
        <p:sp>
          <p:nvSpPr>
            <p:cNvPr id="66" name="TextBox 66"/>
            <p:cNvSpPr txBox="1"/>
            <p:nvPr/>
          </p:nvSpPr>
          <p:spPr>
            <a:xfrm>
              <a:off x="604266" y="6497002"/>
              <a:ext cx="12329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arXiv:2302.11556</a:t>
              </a:r>
            </a:p>
          </p:txBody>
        </p:sp>
        <p:grpSp>
          <p:nvGrpSpPr>
            <p:cNvPr id="70" name="Group 70"/>
            <p:cNvGrpSpPr/>
            <p:nvPr/>
          </p:nvGrpSpPr>
          <p:grpSpPr>
            <a:xfrm>
              <a:off x="9677400" y="4629150"/>
              <a:ext cx="1905000" cy="2057400"/>
              <a:chOff x="9677400" y="4629150"/>
              <a:chExt cx="1905000" cy="2057400"/>
            </a:xfrm>
          </p:grpSpPr>
          <p:sp>
            <p:nvSpPr>
              <p:cNvPr id="67" name="Rectangle 67"/>
              <p:cNvSpPr/>
              <p:nvPr/>
            </p:nvSpPr>
            <p:spPr>
              <a:xfrm>
                <a:off x="9677400" y="4629150"/>
                <a:ext cx="1905000" cy="2057400"/>
              </a:xfrm>
              <a:prstGeom prst="roundRect">
                <a:avLst>
                  <a:gd name="adj" fmla="val 6000"/>
                </a:avLst>
              </a:prstGeom>
              <a:solidFill>
                <a:schemeClr val="lt1"/>
              </a:solidFill>
              <a:ln w="14288">
                <a:solidFill>
                  <a:schemeClr val="accent4"/>
                </a:solidFill>
              </a:ln>
            </p:spPr>
          </p:sp>
          <p:pic>
            <p:nvPicPr>
              <p:cNvPr id="68" name="Image 68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791700" y="4724400"/>
                <a:ext cx="1676400" cy="1676400"/>
              </a:xfrm>
              <a:prstGeom prst="rect">
                <a:avLst/>
              </a:prstGeom>
            </p:spPr>
          </p:pic>
          <p:sp>
            <p:nvSpPr>
              <p:cNvPr id="69" name="TextBox 69"/>
              <p:cNvSpPr txBox="1"/>
              <p:nvPr/>
            </p:nvSpPr>
            <p:spPr>
              <a:xfrm>
                <a:off x="10128535" y="6477952"/>
                <a:ext cx="100273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Scan for code</a:t>
                </a:r>
              </a:p>
            </p:txBody>
          </p:sp>
        </p:grpSp>
      </p:grpSp>
      <p:sp>
        <p:nvSpPr>
          <p:cNvPr id="72" name="cue_s01_c1_graph_neural_networks_limited_what" title="cue_s01_c1_graph_neural_networks_limited_what" descr="cue_s01_c1_graph_neural_networks_limited_what Graph neural networks are limited in what they can compute, and the yardstick, the Weisfeiler-Lehman hierarchy, is hard to interpret and too coarse to separate architectures."/>
          <p:cNvSpPr/>
          <p:nvPr/>
        </p:nvSpPr>
        <p:spPr>
          <a:xfrm>
            <a:off x="7048195" y="818845"/>
            <a:ext cx="4534204" cy="356204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cue_s01_c2_icml_2023_measures_graph_network" title="cue_s01_c2_icml_2023_measures_graph_network" descr="cue_s01_c2_icml_2023_measures_graph_network This ICML 2023 paper measures a graph network instead by which equivariant polynomials it can compute."/>
          <p:cNvSpPr/>
          <p:nvPr/>
        </p:nvSpPr>
        <p:spPr>
          <a:xfrm>
            <a:off x="609600" y="3295954"/>
            <a:ext cx="5905804" cy="92788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cue_s01_c3_authors_give_complete_basis_these" title="cue_s01_c3_authors_give_complete_basis_these" descr="cue_s01_c3_authors_give_complete_basis_these The authors give a complete basis for these polynomials, build tools to read off any model's exact power, and design a stronger network that reaches state of the art on molecular benchmarks."/>
          <p:cNvSpPr/>
          <p:nvPr/>
        </p:nvSpPr>
        <p:spPr>
          <a:xfrm>
            <a:off x="609600" y="4438497"/>
            <a:ext cx="5905804" cy="99989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96646" y="678656"/>
            <a:ext cx="9362989" cy="976122"/>
            <a:chOff x="596646" y="678656"/>
            <a:chExt cx="9362989" cy="976122"/>
          </a:xfrm>
        </p:grpSpPr>
        <p:sp>
          <p:nvSpPr>
            <p:cNvPr id="5" name="TextBox 5"/>
            <p:cNvSpPr txBox="1"/>
            <p:nvPr/>
          </p:nvSpPr>
          <p:spPr>
            <a:xfrm>
              <a:off x="603885" y="678656"/>
              <a:ext cx="17449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· THE PROBLEM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6646" y="962978"/>
              <a:ext cx="93629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Expressive power is bounded — and WL is a blunt ruler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3123" y="1405414"/>
              <a:ext cx="89485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field measures GNN power with the Weisfeiler-Lehman hierarchy, but that ruler is coarse and opaque.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" y="1905000"/>
            <a:ext cx="3505200" cy="3009900"/>
            <a:chOff x="609600" y="1905000"/>
            <a:chExt cx="3505200" cy="3009900"/>
          </a:xfrm>
        </p:grpSpPr>
        <p:sp>
          <p:nvSpPr>
            <p:cNvPr id="9" name="Rectangle 9"/>
            <p:cNvSpPr/>
            <p:nvPr/>
          </p:nvSpPr>
          <p:spPr>
            <a:xfrm>
              <a:off x="609600" y="1905000"/>
              <a:ext cx="3505200" cy="3009900"/>
            </a:xfrm>
            <a:prstGeom prst="roundRect">
              <a:avLst>
                <a:gd name="adj" fmla="val 5063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09600" y="1905000"/>
              <a:ext cx="3505200" cy="762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32866" y="2286952"/>
              <a:ext cx="13204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WHAT IS LIMITED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9818" y="2546032"/>
              <a:ext cx="1680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Bounded power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2104" y="2937510"/>
              <a:ext cx="24651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Only some functions of a graph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2104" y="3156585"/>
              <a:ext cx="20799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can be represented at all.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1219200" y="3581400"/>
              <a:ext cx="2286000" cy="1126807"/>
              <a:chOff x="1219200" y="3581400"/>
              <a:chExt cx="2286000" cy="1126807"/>
            </a:xfrm>
          </p:grpSpPr>
          <p:sp>
            <p:nvSpPr>
              <p:cNvPr id="15" name="Ellipse 15"/>
              <p:cNvSpPr/>
              <p:nvPr/>
            </p:nvSpPr>
            <p:spPr>
              <a:xfrm>
                <a:off x="1219200" y="3581400"/>
                <a:ext cx="2286000" cy="990600"/>
              </a:xfrm>
              <a:prstGeom prst="ellipse">
                <a:avLst/>
              </a:prstGeom>
              <a:solidFill>
                <a:srgbClr val="EAF0F8"/>
              </a:solidFill>
              <a:ln w="14288">
                <a:solidFill>
                  <a:schemeClr val="accent3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979769" y="3876199"/>
                <a:ext cx="76486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computable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2047217" y="4066699"/>
                <a:ext cx="62996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functions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669866" y="4531995"/>
                <a:ext cx="1384668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many others lie outside</a:t>
                </a:r>
              </a:p>
            </p:txBody>
          </p:sp>
        </p:grpSp>
      </p:grpSp>
      <p:grpSp>
        <p:nvGrpSpPr>
          <p:cNvPr id="35" name="Group 35"/>
          <p:cNvGrpSpPr/>
          <p:nvPr/>
        </p:nvGrpSpPr>
        <p:grpSpPr>
          <a:xfrm>
            <a:off x="4343400" y="1905000"/>
            <a:ext cx="3505200" cy="3009900"/>
            <a:chOff x="4343400" y="1905000"/>
            <a:chExt cx="3505200" cy="3009900"/>
          </a:xfrm>
        </p:grpSpPr>
        <p:sp>
          <p:nvSpPr>
            <p:cNvPr id="21" name="Rectangle 21"/>
            <p:cNvSpPr/>
            <p:nvPr/>
          </p:nvSpPr>
          <p:spPr>
            <a:xfrm>
              <a:off x="4343400" y="1905000"/>
              <a:ext cx="3505200" cy="3009900"/>
            </a:xfrm>
            <a:prstGeom prst="roundRect">
              <a:avLst>
                <a:gd name="adj" fmla="val 5063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343400" y="1905000"/>
              <a:ext cx="3505200" cy="76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566666" y="2286952"/>
              <a:ext cx="16426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HOW IT IS MEASURED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63618" y="2546032"/>
              <a:ext cx="19642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The WL hierarchy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65904" y="2899410"/>
              <a:ext cx="2408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family of graph-isomorphism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65904" y="3118485"/>
              <a:ext cx="21343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tests, from 1-WL upward.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4757738" y="3505200"/>
              <a:ext cx="2671762" cy="1279207"/>
              <a:chOff x="4757738" y="3505200"/>
              <a:chExt cx="2671762" cy="1279207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4762500" y="3505200"/>
                <a:ext cx="2667000" cy="285750"/>
              </a:xfrm>
              <a:prstGeom prst="roundRect">
                <a:avLst>
                  <a:gd name="adj" fmla="val 20000"/>
                </a:avLst>
              </a:prstGeom>
              <a:solidFill>
                <a:srgbClr val="EEF1F6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4909566" y="3582352"/>
                <a:ext cx="38703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1-WL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4762500" y="3848100"/>
                <a:ext cx="2667000" cy="285750"/>
              </a:xfrm>
              <a:prstGeom prst="roundRect">
                <a:avLst>
                  <a:gd name="adj" fmla="val 20000"/>
                </a:avLst>
              </a:prstGeom>
              <a:solidFill>
                <a:srgbClr val="E4E9F1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4909566" y="3925252"/>
                <a:ext cx="94374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455263"/>
                    </a:solidFill>
                    <a:latin typeface="+mn-lt"/>
                    <a:ea typeface="+mn-ea"/>
                    <a:cs typeface="+mn-cs"/>
                  </a:rPr>
                  <a:t>2-WL / 3-WL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4762500" y="4191000"/>
                <a:ext cx="2667000" cy="285750"/>
              </a:xfrm>
              <a:prstGeom prst="roundRect">
                <a:avLst>
                  <a:gd name="adj" fmla="val 20000"/>
                </a:avLst>
              </a:prstGeom>
              <a:solidFill>
                <a:srgbClr val="D7DEEA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4909566" y="4268152"/>
                <a:ext cx="51123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k-WL …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757738" y="4608195"/>
                <a:ext cx="196016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a discrete ladder of power levels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8077200" y="1905000"/>
            <a:ext cx="3505200" cy="3009900"/>
            <a:chOff x="8077200" y="1905000"/>
            <a:chExt cx="3505200" cy="3009900"/>
          </a:xfrm>
        </p:grpSpPr>
        <p:sp>
          <p:nvSpPr>
            <p:cNvPr id="36" name="Rectangle 36"/>
            <p:cNvSpPr/>
            <p:nvPr/>
          </p:nvSpPr>
          <p:spPr>
            <a:xfrm>
              <a:off x="8077200" y="1905000"/>
              <a:ext cx="3505200" cy="3009900"/>
            </a:xfrm>
            <a:prstGeom prst="roundRect">
              <a:avLst>
                <a:gd name="adj" fmla="val 506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8077200" y="1905000"/>
              <a:ext cx="3505200" cy="76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300466" y="2286952"/>
              <a:ext cx="14929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F08A5D"/>
                  </a:solidFill>
                  <a:latin typeface="+mn-lt"/>
                  <a:ea typeface="+mn-ea"/>
                  <a:cs typeface="+mn-cs"/>
                </a:rPr>
                <a:t>TWO FLAWS OF WL</a:t>
              </a:r>
            </a:p>
          </p:txBody>
        </p:sp>
        <p:grpSp>
          <p:nvGrpSpPr>
            <p:cNvPr id="42" name="Group 42"/>
            <p:cNvGrpSpPr/>
            <p:nvPr/>
          </p:nvGrpSpPr>
          <p:grpSpPr>
            <a:xfrm>
              <a:off x="8298180" y="2619375"/>
              <a:ext cx="2068913" cy="727234"/>
              <a:chOff x="8298180" y="2619375"/>
              <a:chExt cx="2068913" cy="727234"/>
            </a:xfrm>
          </p:grpSpPr>
          <p:sp>
            <p:nvSpPr>
              <p:cNvPr id="39" name="TextBox 39"/>
              <p:cNvSpPr txBox="1"/>
              <p:nvPr/>
            </p:nvSpPr>
            <p:spPr>
              <a:xfrm>
                <a:off x="8298180" y="2619375"/>
                <a:ext cx="142070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Combinatorial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300085" y="2926556"/>
                <a:ext cx="206700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CBD8E6"/>
                    </a:solidFill>
                    <a:latin typeface="+mn-lt"/>
                    <a:ea typeface="+mn-ea"/>
                    <a:cs typeface="+mn-cs"/>
                  </a:rPr>
                  <a:t>Gives no recipe for making a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8300085" y="3126581"/>
                <a:ext cx="141363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CBD8E6"/>
                    </a:solidFill>
                    <a:latin typeface="+mn-lt"/>
                    <a:ea typeface="+mn-ea"/>
                    <a:cs typeface="+mn-cs"/>
                  </a:rPr>
                  <a:t>network stronger.</a:t>
                </a:r>
              </a:p>
            </p:txBody>
          </p:sp>
        </p:grpSp>
        <p:sp>
          <p:nvSpPr>
            <p:cNvPr id="43" name="Line 43"/>
            <p:cNvSpPr/>
            <p:nvPr/>
          </p:nvSpPr>
          <p:spPr>
            <a:xfrm>
              <a:off x="8305800" y="348615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2A3B54"/>
              </a:solidFill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8298180" y="3724275"/>
              <a:ext cx="2293239" cy="1028414"/>
              <a:chOff x="8298180" y="3724275"/>
              <a:chExt cx="2293239" cy="1028414"/>
            </a:xfrm>
          </p:grpSpPr>
          <p:sp>
            <p:nvSpPr>
              <p:cNvPr id="44" name="TextBox 44"/>
              <p:cNvSpPr txBox="1"/>
              <p:nvPr/>
            </p:nvSpPr>
            <p:spPr>
              <a:xfrm>
                <a:off x="8298180" y="3724275"/>
                <a:ext cx="16656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Rungs far apart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8300085" y="4031456"/>
                <a:ext cx="229133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CBD8E6"/>
                    </a:solidFill>
                    <a:latin typeface="+mn-lt"/>
                    <a:ea typeface="+mn-ea"/>
                    <a:cs typeface="+mn-cs"/>
                  </a:rPr>
                  <a:t>Architecturally different GNNs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8300085" y="4231481"/>
                <a:ext cx="223069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CBD8E6"/>
                    </a:solidFill>
                    <a:latin typeface="+mn-lt"/>
                    <a:ea typeface="+mn-ea"/>
                    <a:cs typeface="+mn-cs"/>
                  </a:rPr>
                  <a:t>collapse to the same WL level.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8300847" y="4561999"/>
                <a:ext cx="218671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rgbClr val="7E93AD"/>
                    </a:solidFill>
                    <a:latin typeface="+mn-lt"/>
                    <a:ea typeface="+mn-ea"/>
                    <a:cs typeface="+mn-cs"/>
                  </a:rPr>
                  <a:t>→ hard to separate modern models</a:t>
                </a:r>
              </a:p>
            </p:txBody>
          </p:sp>
        </p:grpSp>
      </p:grpSp>
      <p:grpSp>
        <p:nvGrpSpPr>
          <p:cNvPr id="54" name="Group 54"/>
          <p:cNvGrpSpPr/>
          <p:nvPr/>
        </p:nvGrpSpPr>
        <p:grpSpPr>
          <a:xfrm>
            <a:off x="609600" y="5200650"/>
            <a:ext cx="10972800" cy="990600"/>
            <a:chOff x="609600" y="5200650"/>
            <a:chExt cx="10972800" cy="990600"/>
          </a:xfrm>
        </p:grpSpPr>
        <p:sp>
          <p:nvSpPr>
            <p:cNvPr id="50" name="Rectangle 50"/>
            <p:cNvSpPr/>
            <p:nvPr/>
          </p:nvSpPr>
          <p:spPr>
            <a:xfrm>
              <a:off x="609600" y="5200650"/>
              <a:ext cx="10972800" cy="990600"/>
            </a:xfrm>
            <a:prstGeom prst="roundRect">
              <a:avLst>
                <a:gd name="adj" fmla="val 15385"/>
              </a:avLst>
            </a:prstGeom>
            <a:solidFill>
              <a:srgbClr val="FCEEE8"/>
            </a:solidFill>
            <a:ln w="14288">
              <a:solidFill>
                <a:schemeClr val="accent2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09600" y="5200650"/>
              <a:ext cx="76200" cy="9906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47166" y="5468302"/>
              <a:ext cx="6392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THE ASK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43356" y="5711190"/>
              <a:ext cx="76855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We need a finer, more actionable ruler for expressive power.</a:t>
              </a:r>
            </a:p>
          </p:txBody>
        </p:sp>
      </p:grpSp>
      <p:sp>
        <p:nvSpPr>
          <p:cNvPr id="55" name="cue_s02_c1_graph_networks_bounded_expressive_po" title="cue_s02_c1_graph_networks_bounded_expressive_po" descr="cue_s02_c1_graph_networks_bounded_expressive_po Graph networks have bounded expressive power: only some functions of a graph can be represented."/>
          <p:cNvSpPr/>
          <p:nvPr/>
        </p:nvSpPr>
        <p:spPr>
          <a:xfrm>
            <a:off x="609600" y="1905152"/>
            <a:ext cx="3505199" cy="300997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cue_s02_c2_field_measures_weisfeiler_lehman_hie" title="cue_s02_c2_field_measures_weisfeiler_lehman_hie" descr="cue_s02_c2_field_measures_weisfeiler_lehman_hie The field measures this with the Weisfeiler-Lehman hierarchy of isomorphism tests."/>
          <p:cNvSpPr/>
          <p:nvPr/>
        </p:nvSpPr>
        <p:spPr>
          <a:xfrm>
            <a:off x="4344009" y="1905152"/>
            <a:ext cx="3505199" cy="300997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cue_s02_c3_but_combinatorial_giving_recipe_make" title="cue_s02_c3_but_combinatorial_giving_recipe_make" descr="cue_s02_c3_but_combinatorial_giving_recipe_make But WL is combinatorial, giving no recipe to make a network stronger, and its rungs are so far apart that very different GNNs collapse to the same level."/>
          <p:cNvSpPr/>
          <p:nvPr/>
        </p:nvSpPr>
        <p:spPr>
          <a:xfrm>
            <a:off x="8077200" y="1905152"/>
            <a:ext cx="3505199" cy="300997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cue_s02_c4_need_finer_more_actionable_ruler" title="cue_s02_c4_need_finer_more_actionable_ruler" descr="cue_s02_c4_need_finer_more_actionable_ruler We need a finer, more actionable ruler."/>
          <p:cNvSpPr/>
          <p:nvPr/>
        </p:nvSpPr>
        <p:spPr>
          <a:xfrm>
            <a:off x="609600" y="5200421"/>
            <a:ext cx="10972800" cy="9902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96646" y="678656"/>
            <a:ext cx="9175236" cy="976122"/>
            <a:chOff x="596646" y="678656"/>
            <a:chExt cx="9175236" cy="976122"/>
          </a:xfrm>
        </p:grpSpPr>
        <p:sp>
          <p:nvSpPr>
            <p:cNvPr id="5" name="TextBox 5"/>
            <p:cNvSpPr txBox="1"/>
            <p:nvPr/>
          </p:nvSpPr>
          <p:spPr>
            <a:xfrm>
              <a:off x="603885" y="678656"/>
              <a:ext cx="12961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· THE IDEA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6646" y="962978"/>
              <a:ext cx="870687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Grade a network by the quantities it can compute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3123" y="1405414"/>
              <a:ext cx="91687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Equivariant graph polynomials are natural, meaningful targets — and they give a to-do list, not just a score.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09600" y="1905000"/>
            <a:ext cx="5219700" cy="3009900"/>
            <a:chOff x="609600" y="1905000"/>
            <a:chExt cx="5219700" cy="3009900"/>
          </a:xfrm>
        </p:grpSpPr>
        <p:sp>
          <p:nvSpPr>
            <p:cNvPr id="9" name="Rectangle 9"/>
            <p:cNvSpPr/>
            <p:nvPr/>
          </p:nvSpPr>
          <p:spPr>
            <a:xfrm>
              <a:off x="609600" y="1905000"/>
              <a:ext cx="5219700" cy="3009900"/>
            </a:xfrm>
            <a:prstGeom prst="roundRect">
              <a:avLst>
                <a:gd name="adj" fmla="val 5063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09600" y="1905000"/>
              <a:ext cx="5219700" cy="762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51916" y="2286952"/>
              <a:ext cx="15613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THE RIGHT MEASURE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8487" y="2556986"/>
              <a:ext cx="311279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Which concrete quantities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8487" y="2842736"/>
              <a:ext cx="314166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can the network compute?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51154" y="3261360"/>
              <a:ext cx="29172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Many useful structural features are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1154" y="3480435"/>
              <a:ext cx="20234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exactly such polynomials: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857250" y="3810000"/>
              <a:ext cx="4724400" cy="381000"/>
              <a:chOff x="857250" y="3810000"/>
              <a:chExt cx="4724400" cy="3810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857250" y="3810000"/>
                <a:ext cx="1428750" cy="381000"/>
              </a:xfrm>
              <a:prstGeom prst="roundRect">
                <a:avLst>
                  <a:gd name="adj" fmla="val 20000"/>
                </a:avLst>
              </a:prstGeom>
              <a:solidFill>
                <a:srgbClr val="EAF0F8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972236" y="3926681"/>
                <a:ext cx="119877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triangle counts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2400300" y="3810000"/>
                <a:ext cx="1428750" cy="381000"/>
              </a:xfrm>
              <a:prstGeom prst="roundRect">
                <a:avLst>
                  <a:gd name="adj" fmla="val 20000"/>
                </a:avLst>
              </a:prstGeom>
              <a:solidFill>
                <a:srgbClr val="EAF0F8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2626105" y="3926681"/>
                <a:ext cx="97714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cycle counts</a:t>
                </a: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3943350" y="3810000"/>
                <a:ext cx="1638300" cy="381000"/>
              </a:xfrm>
              <a:prstGeom prst="roundRect">
                <a:avLst>
                  <a:gd name="adj" fmla="val 20000"/>
                </a:avLst>
              </a:prstGeom>
              <a:solidFill>
                <a:srgbClr val="EAF0F8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4036460" y="3926681"/>
                <a:ext cx="145207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subgraph features</a:t>
                </a:r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852297" y="4485799"/>
              <a:ext cx="39323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Computable quantities are interpretable and directly useful.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057900" y="1905000"/>
            <a:ext cx="5524500" cy="3009900"/>
            <a:chOff x="6057900" y="1905000"/>
            <a:chExt cx="5524500" cy="3009900"/>
          </a:xfrm>
        </p:grpSpPr>
        <p:sp>
          <p:nvSpPr>
            <p:cNvPr id="25" name="Rectangle 25"/>
            <p:cNvSpPr/>
            <p:nvPr/>
          </p:nvSpPr>
          <p:spPr>
            <a:xfrm>
              <a:off x="6057900" y="1905000"/>
              <a:ext cx="5524500" cy="3009900"/>
            </a:xfrm>
            <a:prstGeom prst="roundRect">
              <a:avLst>
                <a:gd name="adj" fmla="val 506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057900" y="1905000"/>
              <a:ext cx="5524500" cy="76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00216" y="2286952"/>
              <a:ext cx="27400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F08A5D"/>
                  </a:solidFill>
                  <a:latin typeface="+mn-lt"/>
                  <a:ea typeface="+mn-ea"/>
                  <a:cs typeface="+mn-cs"/>
                </a:rPr>
                <a:t>EQUIVARIANT GRAPH POLYNOMIALS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99073" y="2605564"/>
              <a:ext cx="31688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CBD8E6"/>
                  </a:solidFill>
                  <a:latin typeface="+mn-lt"/>
                  <a:ea typeface="+mn-ea"/>
                  <a:cs typeface="+mn-cs"/>
                </a:rPr>
                <a:t>Polynomials of the adjacency matrix A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99073" y="2824639"/>
              <a:ext cx="25028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CBD8E6"/>
                  </a:solidFill>
                  <a:latin typeface="+mn-lt"/>
                  <a:ea typeface="+mn-ea"/>
                  <a:cs typeface="+mn-cs"/>
                </a:rPr>
                <a:t>that respect node relabeling: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305550" y="3162300"/>
              <a:ext cx="5029200" cy="685800"/>
            </a:xfrm>
            <a:prstGeom prst="roundRect">
              <a:avLst>
                <a:gd name="adj" fmla="val 13889"/>
              </a:avLst>
            </a:prstGeom>
            <a:solidFill>
              <a:srgbClr val="0B1526"/>
            </a:solidFill>
            <a:ln w="9525">
              <a:solidFill>
                <a:srgbClr val="2A3B54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122146" y="3389948"/>
              <a:ext cx="339600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p(P A Pᵀ) = P · p(A) · Pᵀ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299835" y="4069556"/>
              <a:ext cx="37458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B9C6D8"/>
                  </a:solidFill>
                  <a:latin typeface="+mn-lt"/>
                  <a:ea typeface="+mn-ea"/>
                  <a:cs typeface="+mn-cs"/>
                </a:rPr>
                <a:t>For any permutation P of the nodes, relabeling the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99835" y="4279106"/>
              <a:ext cx="39767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B9C6D8"/>
                  </a:solidFill>
                  <a:latin typeface="+mn-lt"/>
                  <a:ea typeface="+mn-ea"/>
                  <a:cs typeface="+mn-cs"/>
                </a:rPr>
                <a:t>input just relabels the output — the value is intrinsic.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00597" y="4619149"/>
              <a:ext cx="32202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7E93AD"/>
                  </a:solidFill>
                  <a:latin typeface="+mn-lt"/>
                  <a:ea typeface="+mn-ea"/>
                  <a:cs typeface="+mn-cs"/>
                </a:rPr>
                <a:t>Prior work only described very low-degree cases.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9600" y="5143500"/>
            <a:ext cx="10972800" cy="1071468"/>
            <a:chOff x="609600" y="5143500"/>
            <a:chExt cx="10972800" cy="1071468"/>
          </a:xfrm>
        </p:grpSpPr>
        <p:sp>
          <p:nvSpPr>
            <p:cNvPr id="36" name="Rectangle 36"/>
            <p:cNvSpPr/>
            <p:nvPr/>
          </p:nvSpPr>
          <p:spPr>
            <a:xfrm>
              <a:off x="609600" y="5143500"/>
              <a:ext cx="10972800" cy="1047750"/>
            </a:xfrm>
            <a:prstGeom prst="roundRect">
              <a:avLst>
                <a:gd name="adj" fmla="val 14545"/>
              </a:avLst>
            </a:prstGeom>
            <a:solidFill>
              <a:srgbClr val="FCEEE8"/>
            </a:solidFill>
            <a:ln w="14288">
              <a:solidFill>
                <a:schemeClr val="accent2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09600" y="5143500"/>
              <a:ext cx="76200" cy="10477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47166" y="5411152"/>
              <a:ext cx="13596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WHY IT PAYS OFF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44499" y="5659279"/>
              <a:ext cx="848823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Know the full space of these polynomials — and which a network can evaluate —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44499" y="5906929"/>
              <a:ext cx="834638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and you get both a fine-grained ruler and a to-do list of missing operations.</a:t>
              </a:r>
            </a:p>
          </p:txBody>
        </p:sp>
      </p:grpSp>
      <p:sp>
        <p:nvSpPr>
          <p:cNvPr id="42" name="cue_s03_c1_authors_argue_right_way_grade" title="cue_s03_c1_authors_argue_right_way_grade" descr="cue_s03_c1_authors_argue_right_way_grade The authors argue the right way to grade a graph network is by the quantities it can compute."/>
          <p:cNvSpPr/>
          <p:nvPr/>
        </p:nvSpPr>
        <p:spPr>
          <a:xfrm>
            <a:off x="609600" y="1905152"/>
            <a:ext cx="5219395" cy="300997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ue_s03_c2_equivariant_polynomials_polynomials" title="cue_s03_c2_equivariant_polynomials_polynomials" descr="cue_s03_c2_equivariant_polynomials_polynomials Equivariant polynomials, polynomials of the adjacency matrix that respect node relabeling, are natural candidates: subgraph counts and many structural features are exactly such polynomials."/>
          <p:cNvSpPr/>
          <p:nvPr/>
        </p:nvSpPr>
        <p:spPr>
          <a:xfrm>
            <a:off x="6058204" y="1905152"/>
            <a:ext cx="5524195" cy="300997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ue_s03_c3_knowing_their_full_space_which" title="cue_s03_c3_knowing_their_full_space_which" descr="cue_s03_c3_knowing_their_full_space_which Knowing their full space, and which a network can evaluate, gives both a fine-grained ruler and a to-do list of missing operations."/>
          <p:cNvSpPr/>
          <p:nvPr/>
        </p:nvSpPr>
        <p:spPr>
          <a:xfrm>
            <a:off x="609600" y="5143500"/>
            <a:ext cx="10972800" cy="1071219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96646" y="602456"/>
            <a:ext cx="9932570" cy="764001"/>
            <a:chOff x="596646" y="602456"/>
            <a:chExt cx="9932570" cy="764001"/>
          </a:xfrm>
        </p:grpSpPr>
        <p:sp>
          <p:nvSpPr>
            <p:cNvPr id="5" name="TextBox 5"/>
            <p:cNvSpPr txBox="1"/>
            <p:nvPr/>
          </p:nvSpPr>
          <p:spPr>
            <a:xfrm>
              <a:off x="603885" y="602456"/>
              <a:ext cx="12200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· METHOD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6646" y="867728"/>
              <a:ext cx="993257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 basis of multi-graphs, read out by tensor contraction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9600" y="1428750"/>
            <a:ext cx="4305300" cy="4819650"/>
            <a:chOff x="609600" y="1428750"/>
            <a:chExt cx="4305300" cy="4819650"/>
          </a:xfrm>
        </p:grpSpPr>
        <p:sp>
          <p:nvSpPr>
            <p:cNvPr id="8" name="Rectangle 8"/>
            <p:cNvSpPr/>
            <p:nvPr/>
          </p:nvSpPr>
          <p:spPr>
            <a:xfrm>
              <a:off x="609600" y="1428750"/>
              <a:ext cx="4305300" cy="4819650"/>
            </a:xfrm>
            <a:prstGeom prst="roundRect">
              <a:avLst>
                <a:gd name="adj" fmla="val 3540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609600" y="1428750"/>
              <a:ext cx="4305300" cy="76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2866" y="1753552"/>
              <a:ext cx="14381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THE CORE OBJECT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1342" y="1987868"/>
              <a:ext cx="34363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Basis element = multi-graph = einsum</a:t>
              </a:r>
            </a:p>
          </p:txBody>
        </p:sp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01391" y="2286000"/>
              <a:ext cx="2321719" cy="2857500"/>
            </a:xfrm>
            <a:prstGeom prst="rect">
              <a:avLst/>
            </a:prstGeom>
          </p:spPr>
        </p:pic>
        <p:sp>
          <p:nvSpPr>
            <p:cNvPr id="13" name="TextBox 13"/>
            <p:cNvSpPr txBox="1"/>
            <p:nvPr/>
          </p:nvSpPr>
          <p:spPr>
            <a:xfrm>
              <a:off x="1615277" y="5247799"/>
              <a:ext cx="229394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Paper Fig. 1 — node-valued (top),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00192" y="5419249"/>
              <a:ext cx="25241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edge-valued (bottom) basis elements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2866" y="5754052"/>
              <a:ext cx="28615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directed multi-graph H with one marked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2866" y="5944552"/>
              <a:ext cx="27297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red edge; its value is an einsum over A.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143500" y="1428750"/>
            <a:ext cx="6438900" cy="1447800"/>
            <a:chOff x="5143500" y="1428750"/>
            <a:chExt cx="6438900" cy="1447800"/>
          </a:xfrm>
        </p:grpSpPr>
        <p:sp>
          <p:nvSpPr>
            <p:cNvPr id="18" name="Rectangle 18"/>
            <p:cNvSpPr/>
            <p:nvPr/>
          </p:nvSpPr>
          <p:spPr>
            <a:xfrm>
              <a:off x="5143500" y="1428750"/>
              <a:ext cx="6438900" cy="1447800"/>
            </a:xfrm>
            <a:prstGeom prst="roundRect">
              <a:avLst>
                <a:gd name="adj" fmla="val 9211"/>
              </a:avLst>
            </a:pr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385816" y="1677352"/>
              <a:ext cx="18627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MAKING IT EQUIVARIANT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383530" y="1933575"/>
              <a:ext cx="18983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Reynolds operator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385054" y="2251710"/>
              <a:ext cx="42557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Average each monomial over all node permutations Sₙ.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385054" y="2499360"/>
              <a:ext cx="43208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paper shows this equals a sum over the orbit of H.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143500" y="3028950"/>
            <a:ext cx="6438900" cy="1447800"/>
            <a:chOff x="5143500" y="3028950"/>
            <a:chExt cx="6438900" cy="1447800"/>
          </a:xfrm>
        </p:grpSpPr>
        <p:sp>
          <p:nvSpPr>
            <p:cNvPr id="24" name="Rectangle 24"/>
            <p:cNvSpPr/>
            <p:nvPr/>
          </p:nvSpPr>
          <p:spPr>
            <a:xfrm>
              <a:off x="5143500" y="3028950"/>
              <a:ext cx="6438900" cy="1447800"/>
            </a:xfrm>
            <a:prstGeom prst="roundRect">
              <a:avLst>
                <a:gd name="adj" fmla="val 9211"/>
              </a:avLst>
            </a:pr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385816" y="3277552"/>
              <a:ext cx="17865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ANALYZING A NETWORK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383530" y="3533775"/>
              <a:ext cx="31916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Bank of primitive contractions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385054" y="3851910"/>
              <a:ext cx="47106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Treat the network as a bank of contractions; a linear-time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385054" y="4099560"/>
              <a:ext cx="47858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algorithm decides exactly which polynomials it can assemble.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143500" y="4629150"/>
            <a:ext cx="6438900" cy="1619250"/>
            <a:chOff x="5143500" y="4629150"/>
            <a:chExt cx="6438900" cy="1619250"/>
          </a:xfrm>
        </p:grpSpPr>
        <p:sp>
          <p:nvSpPr>
            <p:cNvPr id="30" name="Rectangle 30"/>
            <p:cNvSpPr/>
            <p:nvPr/>
          </p:nvSpPr>
          <p:spPr>
            <a:xfrm>
              <a:off x="5143500" y="4629150"/>
              <a:ext cx="6438900" cy="1619250"/>
            </a:xfrm>
            <a:prstGeom prst="roundRect">
              <a:avLst>
                <a:gd name="adj" fmla="val 823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143500" y="4629150"/>
              <a:ext cx="76200" cy="16192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385816" y="4877752"/>
              <a:ext cx="24963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rgbClr val="F08A5D"/>
                  </a:solidFill>
                  <a:latin typeface="+mn-lt"/>
                  <a:ea typeface="+mn-ea"/>
                  <a:cs typeface="+mn-cs"/>
                </a:rPr>
                <a:t>WL CORRESPONDENCE → PPGN++</a:t>
              </a:r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5391150" y="5143500"/>
              <a:ext cx="5943600" cy="400050"/>
              <a:chOff x="5391150" y="5143500"/>
              <a:chExt cx="5943600" cy="40005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5391150" y="5143500"/>
                <a:ext cx="2857500" cy="400050"/>
              </a:xfrm>
              <a:prstGeom prst="roundRect">
                <a:avLst>
                  <a:gd name="adj" fmla="val 19048"/>
                </a:avLst>
              </a:prstGeom>
              <a:solidFill>
                <a:srgbClr val="0B1526"/>
              </a:solidFill>
              <a:ln w="9525">
                <a:solidFill>
                  <a:srgbClr val="2A3B54"/>
                </a:solidFill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5537835" y="5279231"/>
                <a:ext cx="185516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CBD8E6"/>
                    </a:solidFill>
                    <a:latin typeface="+mn-lt"/>
                    <a:ea typeface="+mn-ea"/>
                    <a:cs typeface="+mn-cs"/>
                  </a:rPr>
                  <a:t>Node-based banks = 1-WL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8382000" y="5143500"/>
                <a:ext cx="2952750" cy="400050"/>
              </a:xfrm>
              <a:prstGeom prst="roundRect">
                <a:avLst>
                  <a:gd name="adj" fmla="val 19048"/>
                </a:avLst>
              </a:prstGeom>
              <a:solidFill>
                <a:srgbClr val="0B1526"/>
              </a:solidFill>
              <a:ln w="9525">
                <a:solidFill>
                  <a:srgbClr val="2A3B54"/>
                </a:solidFill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8528685" y="5279231"/>
                <a:ext cx="253600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CBD8E6"/>
                    </a:solidFill>
                    <a:latin typeface="+mn-lt"/>
                    <a:ea typeface="+mn-ea"/>
                    <a:cs typeface="+mn-cs"/>
                  </a:rPr>
                  <a:t>Edge-based banks = 2-FWL (3-WL)</a:t>
                </a:r>
              </a:p>
            </p:txBody>
          </p:sp>
        </p:grpSp>
        <p:sp>
          <p:nvSpPr>
            <p:cNvPr id="38" name="TextBox 38"/>
            <p:cNvSpPr txBox="1"/>
            <p:nvPr/>
          </p:nvSpPr>
          <p:spPr>
            <a:xfrm>
              <a:off x="5384673" y="5729764"/>
              <a:ext cx="4379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PPGN++ feeds in precomputed polynomial features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384673" y="5958364"/>
              <a:ext cx="19270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08A5D"/>
                  </a:solidFill>
                  <a:latin typeface="+mn-lt"/>
                  <a:ea typeface="+mn-ea"/>
                  <a:cs typeface="+mn-cs"/>
                </a:rPr>
                <a:t>→ strictly above 3-WL</a:t>
              </a:r>
            </a:p>
          </p:txBody>
        </p:sp>
      </p:grpSp>
      <p:sp>
        <p:nvSpPr>
          <p:cNvPr id="41" name="cue_s04_c1_core_object_basis_equivariant_graph" title="cue_s04_c1_core_object_basis_equivariant_graph" descr="cue_s04_c1_core_object_basis_equivariant_graph The core object is a basis for equivariant graph polynomials. Each basis element is a directed multi-graph with a marked red edge, and its value is a tensor contraction, an einsum over adjacency entries that sums over internal nodes."/>
          <p:cNvSpPr/>
          <p:nvPr/>
        </p:nvSpPr>
        <p:spPr>
          <a:xfrm>
            <a:off x="609600" y="1428521"/>
            <a:ext cx="4304995" cy="4819802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ue_s04_c2_averaging_monomials_over_all_node" title="cue_s04_c2_averaging_monomials_over_all_node" descr="cue_s04_c2_averaging_monomials_over_all_node Averaging monomials over all node permutations, the Reynolds operator, makes them equivariant."/>
          <p:cNvSpPr/>
          <p:nvPr/>
        </p:nvSpPr>
        <p:spPr>
          <a:xfrm>
            <a:off x="5143804" y="1428521"/>
            <a:ext cx="6438595" cy="1447723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ue_s04_c3_analyze_network_authors_treat_bank" title="cue_s04_c3_analyze_network_authors_treat_bank" descr="cue_s04_c3_analyze_network_authors_treat_bank To analyze a network, the authors treat it as a bank of primitive contractions and give a linear-time algorithm deciding which polynomials it can assemble."/>
          <p:cNvSpPr/>
          <p:nvPr/>
        </p:nvSpPr>
        <p:spPr>
          <a:xfrm>
            <a:off x="5143804" y="3029178"/>
            <a:ext cx="6438595" cy="1447723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ue_s04_c4_node_based_banks_equal_one_wl_edge_b" title="cue_s04_c4_node_based_banks_equal_one_wl_edge_b" descr="cue_s04_c4_node_based_banks_equal_one_wl_edge_b Node-based banks equal one-WL, edge-based banks equal two-FWL, that is three-WL. Building on this, PPGN plus plus feeds in precomputed polynomial features, lifting it strictly above three-WL."/>
          <p:cNvSpPr/>
          <p:nvPr/>
        </p:nvSpPr>
        <p:spPr>
          <a:xfrm>
            <a:off x="5143804" y="4629150"/>
            <a:ext cx="6438595" cy="1619173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96646" y="564356"/>
            <a:ext cx="7391229" cy="725901"/>
            <a:chOff x="596646" y="564356"/>
            <a:chExt cx="7391229" cy="725901"/>
          </a:xfrm>
        </p:grpSpPr>
        <p:sp>
          <p:nvSpPr>
            <p:cNvPr id="5" name="TextBox 5"/>
            <p:cNvSpPr txBox="1"/>
            <p:nvPr/>
          </p:nvSpPr>
          <p:spPr>
            <a:xfrm>
              <a:off x="603885" y="564356"/>
              <a:ext cx="12664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· RESULTS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6646" y="791528"/>
              <a:ext cx="739122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State of the art on molecular benchmarks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9600" y="1257300"/>
            <a:ext cx="10972800" cy="609600"/>
            <a:chOff x="609600" y="1257300"/>
            <a:chExt cx="10972800" cy="609600"/>
          </a:xfrm>
        </p:grpSpPr>
        <p:sp>
          <p:nvSpPr>
            <p:cNvPr id="8" name="Rectangle 8"/>
            <p:cNvSpPr/>
            <p:nvPr/>
          </p:nvSpPr>
          <p:spPr>
            <a:xfrm>
              <a:off x="609600" y="1257300"/>
              <a:ext cx="10972800" cy="609600"/>
            </a:xfrm>
            <a:prstGeom prst="roundRect">
              <a:avLst>
                <a:gd name="adj" fmla="val 1875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609600" y="1257300"/>
              <a:ext cx="76200" cy="6096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06780" y="1476375"/>
              <a:ext cx="88089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The result is state of the art across the board — all under a 500K parameter budget.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9600" y="2057400"/>
            <a:ext cx="5905500" cy="4191000"/>
            <a:chOff x="609600" y="2057400"/>
            <a:chExt cx="5905500" cy="4191000"/>
          </a:xfrm>
        </p:grpSpPr>
        <p:sp>
          <p:nvSpPr>
            <p:cNvPr id="12" name="Rectangle 12"/>
            <p:cNvSpPr/>
            <p:nvPr/>
          </p:nvSpPr>
          <p:spPr>
            <a:xfrm>
              <a:off x="609600" y="2057400"/>
              <a:ext cx="5905500" cy="4191000"/>
            </a:xfrm>
            <a:prstGeom prst="roundRect">
              <a:avLst>
                <a:gd name="adj" fmla="val 3636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32866" y="2325052"/>
              <a:ext cx="33664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ZINC-12K · TEST MAE (LOWER IS BETTER)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143000" y="548640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1428750" y="3054668"/>
              <a:ext cx="1143000" cy="2765488"/>
              <a:chOff x="1428750" y="3054668"/>
              <a:chExt cx="1143000" cy="2765488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1428750" y="3295650"/>
                <a:ext cx="1143000" cy="2190750"/>
              </a:xfrm>
              <a:prstGeom prst="roundRect">
                <a:avLst>
                  <a:gd name="adj" fmla="val 3333"/>
                </a:avLst>
              </a:prstGeom>
              <a:solidFill>
                <a:srgbClr val="C3CCDA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731009" y="3054668"/>
                <a:ext cx="53848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0.163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868698" y="5585460"/>
                <a:ext cx="26310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GIN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3143250" y="4188142"/>
              <a:ext cx="1143000" cy="1632014"/>
              <a:chOff x="3143250" y="4188142"/>
              <a:chExt cx="1143000" cy="1632014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3143250" y="4429125"/>
                <a:ext cx="1143000" cy="1057275"/>
              </a:xfrm>
              <a:prstGeom prst="roundRect">
                <a:avLst>
                  <a:gd name="adj" fmla="val 3604"/>
                </a:avLst>
              </a:prstGeom>
              <a:solidFill>
                <a:srgbClr val="C3CCDA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3445509" y="4188142"/>
                <a:ext cx="53848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0.079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583198" y="5585460"/>
                <a:ext cx="26310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CIN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4857750" y="4283392"/>
              <a:ext cx="1143000" cy="1701165"/>
              <a:chOff x="4857750" y="4283392"/>
              <a:chExt cx="1143000" cy="1701165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4857750" y="4524375"/>
                <a:ext cx="1143000" cy="962025"/>
              </a:xfrm>
              <a:prstGeom prst="roundRect">
                <a:avLst>
                  <a:gd name="adj" fmla="val 396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5160009" y="4283392"/>
                <a:ext cx="53848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0.071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127437" y="5585460"/>
                <a:ext cx="60362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PPGN++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873219" y="5808345"/>
                <a:ext cx="111206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degree-6 features</a:t>
                </a:r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833247" y="6028849"/>
              <a:ext cx="44966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PPGN++ beats strong baselines CIN and GIN — the best reported error.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743700" y="2057400"/>
            <a:ext cx="4838700" cy="1866900"/>
            <a:chOff x="6743700" y="2057400"/>
            <a:chExt cx="4838700" cy="1866900"/>
          </a:xfrm>
        </p:grpSpPr>
        <p:sp>
          <p:nvSpPr>
            <p:cNvPr id="30" name="Rectangle 30"/>
            <p:cNvSpPr/>
            <p:nvPr/>
          </p:nvSpPr>
          <p:spPr>
            <a:xfrm>
              <a:off x="6743700" y="2057400"/>
              <a:ext cx="4838700" cy="1866900"/>
            </a:xfrm>
            <a:prstGeom prst="roundRect">
              <a:avLst>
                <a:gd name="adj" fmla="val 8163"/>
              </a:avLst>
            </a:pr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966966" y="2306002"/>
              <a:ext cx="31148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MORE DATASETS · BOTH BEST IN CLASS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6953250" y="2779395"/>
              <a:ext cx="1554089" cy="805339"/>
              <a:chOff x="6953250" y="2779395"/>
              <a:chExt cx="1554089" cy="805339"/>
            </a:xfrm>
          </p:grpSpPr>
          <p:sp>
            <p:nvSpPr>
              <p:cNvPr id="32" name="TextBox 32"/>
              <p:cNvSpPr txBox="1"/>
              <p:nvPr/>
            </p:nvSpPr>
            <p:spPr>
              <a:xfrm>
                <a:off x="6953250" y="2779395"/>
                <a:ext cx="1554089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9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0.020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966585" y="3364706"/>
                <a:ext cx="105292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b="1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ZINC-full MAE</a:t>
                </a:r>
              </a:p>
            </p:txBody>
          </p:sp>
        </p:grpSp>
        <p:sp>
          <p:nvSpPr>
            <p:cNvPr id="35" name="Line 35"/>
            <p:cNvSpPr/>
            <p:nvPr/>
          </p:nvSpPr>
          <p:spPr>
            <a:xfrm>
              <a:off x="9220200" y="2667000"/>
              <a:ext cx="9525" cy="990600"/>
            </a:xfrm>
            <a:custGeom>
              <a:avLst/>
              <a:gdLst/>
              <a:ahLst/>
              <a:cxnLst/>
              <a:rect l="l" t="t" r="r" b="b"/>
              <a:pathLst>
                <a:path w="9525" h="990600">
                  <a:moveTo>
                    <a:pt x="0" y="0"/>
                  </a:moveTo>
                  <a:lnTo>
                    <a:pt x="0" y="99060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9429750" y="2779395"/>
              <a:ext cx="1554089" cy="805339"/>
              <a:chOff x="9429750" y="2779395"/>
              <a:chExt cx="1554089" cy="805339"/>
            </a:xfrm>
          </p:grpSpPr>
          <p:sp>
            <p:nvSpPr>
              <p:cNvPr id="36" name="TextBox 36"/>
              <p:cNvSpPr txBox="1"/>
              <p:nvPr/>
            </p:nvSpPr>
            <p:spPr>
              <a:xfrm>
                <a:off x="9429750" y="2779395"/>
                <a:ext cx="1554089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9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0.109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9443085" y="3364706"/>
                <a:ext cx="97472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b="1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Alchemy MAE</a:t>
                </a:r>
              </a:p>
            </p:txBody>
          </p:sp>
        </p:grpSp>
      </p:grpSp>
      <p:grpSp>
        <p:nvGrpSpPr>
          <p:cNvPr id="52" name="Group 52"/>
          <p:cNvGrpSpPr/>
          <p:nvPr/>
        </p:nvGrpSpPr>
        <p:grpSpPr>
          <a:xfrm>
            <a:off x="6743700" y="4076700"/>
            <a:ext cx="4838700" cy="2171700"/>
            <a:chOff x="6743700" y="4076700"/>
            <a:chExt cx="4838700" cy="2171700"/>
          </a:xfrm>
        </p:grpSpPr>
        <p:sp>
          <p:nvSpPr>
            <p:cNvPr id="40" name="Rectangle 40"/>
            <p:cNvSpPr/>
            <p:nvPr/>
          </p:nvSpPr>
          <p:spPr>
            <a:xfrm>
              <a:off x="6743700" y="4076700"/>
              <a:ext cx="4838700" cy="2171700"/>
            </a:xfrm>
            <a:prstGeom prst="roundRect">
              <a:avLst>
                <a:gd name="adj" fmla="val 7018"/>
              </a:avLst>
            </a:prstGeom>
            <a:solidFill>
              <a:srgbClr val="FCEEE8"/>
            </a:solidFill>
            <a:ln w="14288">
              <a:solidFill>
                <a:schemeClr val="accent2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966966" y="4325302"/>
              <a:ext cx="2593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FEATURES ARE MODEL-AGNOSTIC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965823" y="4605814"/>
              <a:ext cx="41158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Bolt degree-6 features onto a plain GatedGCN:</a:t>
              </a:r>
            </a:p>
          </p:txBody>
        </p:sp>
        <p:grpSp>
          <p:nvGrpSpPr>
            <p:cNvPr id="50" name="Group 50"/>
            <p:cNvGrpSpPr/>
            <p:nvPr/>
          </p:nvGrpSpPr>
          <p:grpSpPr>
            <a:xfrm>
              <a:off x="6972300" y="4914900"/>
              <a:ext cx="3771900" cy="914400"/>
              <a:chOff x="6972300" y="4914900"/>
              <a:chExt cx="3771900" cy="914400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6972300" y="4914900"/>
                <a:ext cx="1714500" cy="914400"/>
              </a:xfrm>
              <a:prstGeom prst="roundRect">
                <a:avLst>
                  <a:gd name="adj" fmla="val 10417"/>
                </a:avLst>
              </a:prstGeom>
              <a:solidFill>
                <a:schemeClr val="lt1"/>
              </a:solidFill>
              <a:ln w="14288">
                <a:solidFill>
                  <a:schemeClr val="accent4"/>
                </a:solidFill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7590987" y="5106352"/>
                <a:ext cx="47712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before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320984" y="5325428"/>
                <a:ext cx="1017132" cy="49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550" b="1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0.265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8746174" y="5192078"/>
                <a:ext cx="224153" cy="49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5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→</a:t>
                </a:r>
              </a:p>
            </p:txBody>
          </p:sp>
          <p:sp>
            <p:nvSpPr>
              <p:cNvPr id="47" name="Rectangle 47"/>
              <p:cNvSpPr/>
              <p:nvPr/>
            </p:nvSpPr>
            <p:spPr>
              <a:xfrm>
                <a:off x="9029700" y="4914900"/>
                <a:ext cx="1714500" cy="914400"/>
              </a:xfrm>
              <a:prstGeom prst="roundRect">
                <a:avLst>
                  <a:gd name="adj" fmla="val 10417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9687258" y="5106352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rgbClr val="B9C6D8"/>
                    </a:solidFill>
                    <a:latin typeface="+mn-lt"/>
                    <a:ea typeface="+mn-ea"/>
                    <a:cs typeface="+mn-cs"/>
                  </a:rPr>
                  <a:t>after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9378384" y="5325428"/>
                <a:ext cx="1017132" cy="49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5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0.106</a:t>
                </a:r>
              </a:p>
            </p:txBody>
          </p:sp>
        </p:grpSp>
        <p:sp>
          <p:nvSpPr>
            <p:cNvPr id="51" name="TextBox 51"/>
            <p:cNvSpPr txBox="1"/>
            <p:nvPr/>
          </p:nvSpPr>
          <p:spPr>
            <a:xfrm>
              <a:off x="6967347" y="5990749"/>
              <a:ext cx="42825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Precomputed — so extra power comes without heavy runtime cost.</a:t>
              </a:r>
            </a:p>
          </p:txBody>
        </p:sp>
      </p:grpSp>
      <p:sp>
        <p:nvSpPr>
          <p:cNvPr id="53" name="cue_s05_c1_result_state_art_across_board" title="cue_s05_c1_result_state_art_across_board" descr="cue_s05_c1_result_state_art_across_board The result is state of the art across the board."/>
          <p:cNvSpPr/>
          <p:nvPr/>
        </p:nvSpPr>
        <p:spPr>
          <a:xfrm>
            <a:off x="609600" y="1257071"/>
            <a:ext cx="10972800" cy="609676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cue_s05_c2_zinc_12k_ppgn_plus_plus_degree_six" title="cue_s05_c2_zinc_12k_ppgn_plus_plus_degree_six" descr="cue_s05_c2_zinc_12k_ppgn_plus_plus_degree_six On ZINC-12K, PPGN plus plus with degree-six polynomial features reaches 0.071 test error, beating CIN at 0.079 and GIN at 0.163."/>
          <p:cNvSpPr/>
          <p:nvPr/>
        </p:nvSpPr>
        <p:spPr>
          <a:xfrm>
            <a:off x="609600" y="2057400"/>
            <a:ext cx="5905804" cy="4190923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cue_s05_c3_zinc_full_hits_0_020_alchemy_0_109" title="cue_s05_c3_zinc_full_hits_0_020_alchemy_0_109" descr="cue_s05_c3_zinc_full_hits_0_020_alchemy_0_109 On ZINC-full it hits 0.020 and on Alchemy 0.109, both best in class."/>
          <p:cNvSpPr/>
          <p:nvPr/>
        </p:nvSpPr>
        <p:spPr>
          <a:xfrm>
            <a:off x="6743395" y="2057400"/>
            <a:ext cx="4839004" cy="186674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cue_s05_c4_features_model_agnostic_adding_them" title="cue_s05_c4_features_model_agnostic_adding_them" descr="cue_s05_c4_features_model_agnostic_adding_them And the features are model-agnostic: adding them to a plain GatedGCN cuts its ZINC error from 0.265 to 0.106, all under a modest parameter budget."/>
          <p:cNvSpPr/>
          <p:nvPr/>
        </p:nvSpPr>
        <p:spPr>
          <a:xfrm>
            <a:off x="6743395" y="4076395"/>
            <a:ext cx="4839004" cy="2171928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603885" y="678656"/>
            <a:ext cx="141329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5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05 · TAKEAWAY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09600" y="1066800"/>
            <a:ext cx="10972800" cy="1676400"/>
            <a:chOff x="609600" y="1066800"/>
            <a:chExt cx="10972800" cy="1676400"/>
          </a:xfrm>
        </p:grpSpPr>
        <p:sp>
          <p:nvSpPr>
            <p:cNvPr id="6" name="Rectangle 6"/>
            <p:cNvSpPr/>
            <p:nvPr/>
          </p:nvSpPr>
          <p:spPr>
            <a:xfrm>
              <a:off x="609600" y="1066800"/>
              <a:ext cx="10972800" cy="1676400"/>
            </a:xfrm>
            <a:prstGeom prst="roundRect">
              <a:avLst>
                <a:gd name="adj" fmla="val 10227"/>
              </a:avLst>
            </a:prstGeom>
            <a:gradFill>
              <a:gsLst>
                <a:gs pos="0">
                  <a:schemeClr val="accent1"/>
                </a:gs>
                <a:gs pos="100000">
                  <a:srgbClr val="0F1B2E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46785" y="1421606"/>
              <a:ext cx="18594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75" dirty="0">
                  <a:solidFill>
                    <a:srgbClr val="F08A5D"/>
                  </a:solidFill>
                  <a:latin typeface="+mn-lt"/>
                  <a:ea typeface="+mn-ea"/>
                  <a:cs typeface="+mn-cs"/>
                </a:rPr>
                <a:t>THE LASTING MESSAGE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40308" y="1760220"/>
              <a:ext cx="928063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Express a network's power as: which equivariant graph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0308" y="2160270"/>
              <a:ext cx="460415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polynomials can it compute?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9600" y="2971800"/>
            <a:ext cx="5334000" cy="2438400"/>
            <a:chOff x="609600" y="2971800"/>
            <a:chExt cx="5334000" cy="2438400"/>
          </a:xfrm>
        </p:grpSpPr>
        <p:sp>
          <p:nvSpPr>
            <p:cNvPr id="11" name="Rectangle 11"/>
            <p:cNvSpPr/>
            <p:nvPr/>
          </p:nvSpPr>
          <p:spPr>
            <a:xfrm>
              <a:off x="609600" y="2971800"/>
              <a:ext cx="5334000" cy="2438400"/>
            </a:xfrm>
            <a:prstGeom prst="roundRect">
              <a:avLst>
                <a:gd name="adj" fmla="val 6250"/>
              </a:avLst>
            </a:pr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09600" y="2971800"/>
              <a:ext cx="5334000" cy="762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51916" y="3315652"/>
              <a:ext cx="28134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 CONCRETE, CONSTRUCTIVE RULER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50011" y="3637121"/>
              <a:ext cx="257993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Every polynomial is a small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0011" y="3884771"/>
              <a:ext cx="35671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multi-graph, read by a contraction.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1154" y="4271010"/>
              <a:ext cx="29062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This is a finer ruler than Weisfeiler-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51154" y="4499610"/>
              <a:ext cx="25784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Lehman — and a direct list of the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51154" y="472821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operations a network is missing.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248400" y="2971800"/>
            <a:ext cx="5334000" cy="2438400"/>
            <a:chOff x="6248400" y="2971800"/>
            <a:chExt cx="5334000" cy="2438400"/>
          </a:xfrm>
        </p:grpSpPr>
        <p:sp>
          <p:nvSpPr>
            <p:cNvPr id="20" name="Rectangle 20"/>
            <p:cNvSpPr/>
            <p:nvPr/>
          </p:nvSpPr>
          <p:spPr>
            <a:xfrm>
              <a:off x="6248400" y="2971800"/>
              <a:ext cx="5334000" cy="2438400"/>
            </a:xfrm>
            <a:prstGeom prst="roundRect">
              <a:avLst>
                <a:gd name="adj" fmla="val 6250"/>
              </a:avLst>
            </a:prstGeom>
            <a:solidFill>
              <a:srgbClr val="FCEEE8"/>
            </a:solidFill>
            <a:ln w="14288">
              <a:solidFill>
                <a:schemeClr val="accent2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248400" y="2971800"/>
              <a:ext cx="5334000" cy="76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90716" y="3315652"/>
              <a:ext cx="15798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ACTING ON THE LIST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88811" y="3637121"/>
              <a:ext cx="32724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Precomputed polynomial features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88811" y="3884771"/>
              <a:ext cx="33247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push GNNs past the 3-WL barrier.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89954" y="4271010"/>
              <a:ext cx="24972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Ordinary graph networks reach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89954" y="4499610"/>
              <a:ext cx="28715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best-in-class accuracy on molecular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89954" y="4728210"/>
              <a:ext cx="16680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property prediction.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3504" y="5848350"/>
            <a:ext cx="10984231" cy="682561"/>
            <a:chOff x="603504" y="5848350"/>
            <a:chExt cx="10984231" cy="682561"/>
          </a:xfrm>
        </p:grpSpPr>
        <p:sp>
          <p:nvSpPr>
            <p:cNvPr id="29" name="Line 29"/>
            <p:cNvSpPr/>
            <p:nvPr/>
          </p:nvSpPr>
          <p:spPr>
            <a:xfrm>
              <a:off x="609600" y="5848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03504" y="6080760"/>
              <a:ext cx="42117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Equivariant Polynomials for Graph Neural Networks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04266" y="6325552"/>
              <a:ext cx="30998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Puny, Lim, Kiani, Maron, Lipman · ICML 2023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354833" y="6096952"/>
              <a:ext cx="12329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arXiv:2302.11556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86382" y="6325552"/>
              <a:ext cx="32013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github.com/omri1348/Equivariant-Polynomials</a:t>
              </a:r>
            </a:p>
          </p:txBody>
        </p:sp>
      </p:grpSp>
      <p:sp>
        <p:nvSpPr>
          <p:cNvPr id="35" name="cue_s06_c1_lasting_message_express_network_powe" title="cue_s06_c1_lasting_message_express_network_powe" descr="cue_s06_c1_lasting_message_express_network_powe The lasting message: express a network's power as which equivariant graph polynomials it can compute."/>
          <p:cNvSpPr/>
          <p:nvPr/>
        </p:nvSpPr>
        <p:spPr>
          <a:xfrm>
            <a:off x="609600" y="1067104"/>
            <a:ext cx="10972800" cy="1676095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ue_s06_c2_small_multi_graph_evaluated_tensor_c" title="cue_s06_c2_small_multi_graph_evaluated_tensor_c" descr="cue_s06_c2_small_multi_graph_evaluated_tensor_c Each is a small multi-graph evaluated by a tensor contraction, a finer ruler than Weisfeiler-Lehman and a direct list of missing operations."/>
          <p:cNvSpPr/>
          <p:nvPr/>
        </p:nvSpPr>
        <p:spPr>
          <a:xfrm>
            <a:off x="609600" y="2971571"/>
            <a:ext cx="5334000" cy="243870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ue_s06_c3_acting_list_precomputed_polynomial_f" title="cue_s06_c3_acting_list_precomputed_polynomial_f" descr="cue_s06_c3_acting_list_precomputed_polynomial_f Acting on that list, precomputed polynomial features push ordinary graph networks past three-WL to best-in-class molecular property prediction."/>
          <p:cNvSpPr/>
          <p:nvPr/>
        </p:nvSpPr>
        <p:spPr>
          <a:xfrm>
            <a:off x="6248399" y="2971571"/>
            <a:ext cx="5334000" cy="2438704"/>
          </a:xfrm>
          <a:prstGeom prst="rect">
            <a:avLst/>
          </a:prstGeom>
          <a:solidFill>
            <a:srgbClr val="FFFFFF">
              <a:alpha val="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eqpoly_video">
  <a:themeElements>
    <a:clrScheme name="eqpoly_video">
      <a:dk1>
        <a:srgbClr val="1B2430"/>
      </a:dk1>
      <a:lt1>
        <a:srgbClr val="FFFFFF"/>
      </a:lt1>
      <a:dk2>
        <a:srgbClr val="55606E"/>
      </a:dk2>
      <a:lt2>
        <a:srgbClr val="F5F7FB"/>
      </a:lt2>
      <a:accent1>
        <a:srgbClr val="14243D"/>
      </a:accent1>
      <a:accent2>
        <a:srgbClr val="E4572E"/>
      </a:accent2>
      <a:accent3>
        <a:srgbClr val="2F6DB5"/>
      </a:accent3>
      <a:accent4>
        <a:srgbClr val="DCE3ED"/>
      </a:accent4>
      <a:accent5>
        <a:srgbClr val="8A94A1"/>
      </a:accent5>
      <a:accent6>
        <a:srgbClr val="2E7D32"/>
      </a:accent6>
      <a:hlink>
        <a:srgbClr val="E4572E"/>
      </a:hlink>
      <a:folHlink>
        <a:srgbClr val="2F6DB5"/>
      </a:folHlink>
    </a:clrScheme>
    <a:fontScheme name="eqpoly_video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qpoly_vide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2026-07-15T16:17:15Z</dcterms:created>
  <dcterms:modified xsi:type="dcterms:W3CDTF">2026-07-15T16:17:15Z</dcterms:modified>
  <cp:category/>
  <cp:contentStatus/>
</cp:coreProperties>
</file>
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Graph neural networks are increasingly deployed in safety-critical settings, but their confidence estimates often become unreliable when the test data shifts away from training. This paper, from the University of Michigan and Lawrence Livermore National Laboratory, introduces G-Delta-UQ, a single-model method for estimating epistemic uncertainty in graph neural networks. By adapting stochastic centering and partial stochasticity to structured graph data, G-Delta-UQ produces better-calibrated confidence indicators across size, concept, and covariate distribution shifts, and improves downstream tasks like out-of-distribution detection and generalization gap prediction.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Graph neural networks are being deployed in high-stakes applications where the test-time data rarely matches training conditions. In these shifted settings, downstream safety metrics such as calibration error, out-of-distribution rejection, and generalization gap prediction all rely on the model's confidence indicators. While the computer vision community has long known that confidence quality deteriorates under distribution shift, this behavior has remained under-explored for graph neural networks. This paper asks whether GNN confidence indicators can be made reliable under realistic structural, size, concept, and covariate shifts.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There is a common expectation that adopting more advanced or expressive architectures will inherently improve calibration. Through a controlled case study on a structural distortion benchmark, the authors demonstrate this expectation is false: graph transformers and positional encodings do not meaningfully improve calibration over vanilla message-passing networks, and increasing model size can even make calibration worse. This finding motivates a different path. Rather than chasing expressivity, the paper advocates for epistemic uncertainty quantification to directly modulate confidence indicators.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contributions. First, a rigorous case study establishing that improving graph neural network expressivity does not mitigate poor calibration under distribution shift. Second, G-Delta-UQ, a novel single-model uncertainty method that extends the stochastic centering framework to structured graph data and, crucially, supports partial stochasticity so that only part of the network is made stochastic. Third, an extensive empirical evaluation spanning covariate, concept, and graph size shifts, across the safety-critical tasks of calibration, generalization gap prediction, and out-of-distribution detection.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G-Delta-UQ builds on the principle of stochastic anchoring. Each input sample is transformed into a relative representation by subtracting a randomly chosen anchor and concatenating it channel-wise, producing an anchored input. By varying the anchor across iterations, the model emulates sampling from a distribution of hypotheses, and the variance of predictions over multiple anchors captures epistemic uncertainty. Because directly anchoring on graph adjacency would introduce artificial edges, the authors anchor in node-feature or hidden-representation space. They introduce three variants, applying anchoring at the node features, at an intermediate message-passing layer, or after the readout. A particularly practical variant freezes a pretrained backbone and only trains an anchored classifier head, delivering inexpensive, partial stochasticity. At inference, predictions are averaged over K anchors to produce both a calibrated prediction and an uncertainty estimate.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evaluation is deliberately broad. For structural shift, the authors build a Rotated Super-pixel MNIST benchmark where increasing rotation induces controlled distortion. For size shift, they use standard graph classification datasets including D and D, NCI1, NCI109, and PROTEINS with GCN, GIN, and PNA backbones. For concept and covariate shifts, they use the GOOD benchmark suite covering colored MNIST, motif, and SST2 datasets. Across all of these they compare against strong uncertainty baselines including deep ensembles, temperature scaling, and Monte Carlo dropout, measuring calibration error, out-of-distribution detection AUROC, and generalization gap mean absolute error.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Across the board, G-Delta-UQ improves the reliability of confidence indicators. On the structural distortion benchmark it achieves substantial reductions in expected calibration error even at severe rotations, while keeping accuracy close to the vanilla model. Under size shift, last-layer anchoring lowers calibration error while maintaining or improving accuracy, with the largest gains on the most severe shift. Under concept and covariate shifts it delivers competitive in-distribution and out-of-distribution accuracy alongside better calibration than other single-model methods. And when its confidence estimates feed downstream tasks, it is among the best single-model estimators for generalization gap prediction and is highly competitive for out-of-distribution detection, with the pretrained variant frequently the strongest under covariate shift.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carefully ablates where stochastic anchoring should be applied. On the D and D dataset, which has the most severe size shift, applying anchoring after the readout layer dramatically improves both accuracy and calibration as network depth grows, while earlier-layer anchoring converges less well. This leads to a practical recommendation to anchor at the last layer for size-shift settings. The authors also validate that partial stochasticity, in the form of the pretrained variant that only trains an anchored classifier head, is both effective and scalable, and a neural tangent kernel analysis confirms that intermediate constant shifts truly alter the model's function rather than acting as a trivial reparameterization.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numbers, G-Delta-UQ is a single-model method offering three anchoring variants plus a pretrained partial-stochasticity option. It is evaluated across three distinct types of distribution shift and three safety-critical downstream tasks, and compared against four established uncertainty baselines including deep ensembles. Despite requiring only a single model, it consistently matches or outperforms these baselines on calibration, out-of-distribution detection, and generalization gap prediction.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message is simple. Do not expect larger or more expressive graph neural networks to automatically give trustworthy confidence estimates under distribution shift. Instead, adapt the principle of stochastic anchoring to graphs. G-Delta-UQ is a flexible, scalable, single-model framework that produces reliable, well-calibrated uncertainty across structural, size, concept, and covariate shifts, and its pretrained variant makes it inexpensive to add to models you already have.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duq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duq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5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9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2af197da5b6ed84.png"/>
  <Relationship Id="rId3" Type="http://schemas.openxmlformats.org/officeDocument/2006/relationships/image" Target="../media/image_39aa8801cc00e447.png"/>
  <Relationship Id="rId4" Type="http://schemas.openxmlformats.org/officeDocument/2006/relationships/image" Target="../media/image_25edaa96b63be1eb.png"/>
  <Relationship Id="rId5" Type="http://schemas.openxmlformats.org/officeDocument/2006/relationships/image" Target="../media/image_119df3af3d27c0d0.png"/>
  <Relationship Id="rId6"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6881427d316db1.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e2b69f9e62b7c10.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a55c67352ed1d.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f67f29a503714ec.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5edaa96b63be1eb.png"/>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762000" y="743902"/>
            <a:ext cx="3421235" cy="205359"/>
            <a:chOff x="762000" y="743902"/>
            <a:chExt cx="3421235" cy="205359"/>
          </a:xfrm>
        </p:grpSpPr>
        <p:sp>
          <p:nvSpPr>
            <p:cNvPr id="2" name="Rectangle 2"/>
            <p:cNvSpPr/>
            <p:nvPr/>
          </p:nvSpPr>
          <p:spPr>
            <a:xfrm>
              <a:off x="762000" y="781050"/>
              <a:ext cx="438150" cy="38100"/>
            </a:xfrm>
            <a:prstGeom prst="rect">
              <a:avLst/>
            </a:prstGeom>
            <a:solidFill>
              <a:schemeClr val="accent1"/>
            </a:solidFill>
            <a:ln>
              <a:noFill/>
            </a:ln>
          </p:spPr>
        </p:sp>
        <p:sp>
          <p:nvSpPr>
            <p:cNvPr id="3" name="TextBox 3"/>
            <p:cNvSpPr txBox="1"/>
            <p:nvPr/>
          </p:nvSpPr>
          <p:spPr>
            <a:xfrm>
              <a:off x="1309116" y="743902"/>
              <a:ext cx="28741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ICLR 2024 · GRAPH UNCERTAINTY</a:t>
              </a:r>
            </a:p>
          </p:txBody>
        </p:sp>
      </p:grpSp>
      <p:grpSp>
        <p:nvGrpSpPr>
          <p:cNvPr id="7" name="Group 7"/>
          <p:cNvGrpSpPr/>
          <p:nvPr/>
        </p:nvGrpSpPr>
        <p:grpSpPr>
          <a:xfrm>
            <a:off x="8575823" y="666750"/>
            <a:ext cx="2816077" cy="285750"/>
            <a:chOff x="8575823" y="666750"/>
            <a:chExt cx="2816077" cy="285750"/>
          </a:xfrm>
        </p:grpSpPr>
        <p:pic>
          <p:nvPicPr>
            <p:cNvPr id="5" name="Image 5"/>
            <p:cNvPicPr>
              <a:picLocks noChangeAspect="1"/>
            </p:cNvPicPr>
            <p:nvPr/>
          </p:nvPicPr>
          <p:blipFill>
            <a:blip r:embed="rId2"/>
            <a:stretch>
              <a:fillRect/>
            </a:stretch>
          </p:blipFill>
          <p:spPr>
            <a:xfrm>
              <a:off x="8575823" y="666750"/>
              <a:ext cx="1422105" cy="285750"/>
            </a:xfrm>
            <a:prstGeom prst="rect">
              <a:avLst/>
            </a:prstGeom>
          </p:spPr>
        </p:pic>
        <p:pic>
          <p:nvPicPr>
            <p:cNvPr id="6" name="Image 6"/>
            <p:cNvPicPr>
              <a:picLocks noChangeAspect="1"/>
            </p:cNvPicPr>
            <p:nvPr/>
          </p:nvPicPr>
          <p:blipFill>
            <a:blip r:embed="rId3"/>
            <a:stretch>
              <a:fillRect/>
            </a:stretch>
          </p:blipFill>
          <p:spPr>
            <a:xfrm>
              <a:off x="10134600" y="704433"/>
              <a:ext cx="1257300" cy="210385"/>
            </a:xfrm>
            <a:prstGeom prst="rect">
              <a:avLst/>
            </a:prstGeom>
          </p:spPr>
        </p:pic>
      </p:grpSp>
      <p:grpSp>
        <p:nvGrpSpPr>
          <p:cNvPr id="12" name="Group 12"/>
          <p:cNvGrpSpPr/>
          <p:nvPr/>
        </p:nvGrpSpPr>
        <p:grpSpPr>
          <a:xfrm>
            <a:off x="723900" y="1251585"/>
            <a:ext cx="6573297" cy="1920621"/>
            <a:chOff x="723900" y="1251585"/>
            <a:chExt cx="6573297" cy="1920621"/>
          </a:xfrm>
        </p:grpSpPr>
        <p:sp>
          <p:nvSpPr>
            <p:cNvPr id="8" name="TextBox 8"/>
            <p:cNvSpPr txBox="1"/>
            <p:nvPr/>
          </p:nvSpPr>
          <p:spPr>
            <a:xfrm>
              <a:off x="723900" y="1251585"/>
              <a:ext cx="2549454" cy="1104900"/>
            </a:xfrm>
            <a:prstGeom prst="rect">
              <a:avLst/>
            </a:prstGeom>
            <a:noFill/>
            <a:ln>
              <a:noFill/>
            </a:ln>
          </p:spPr>
          <p:txBody>
            <a:bodyPr wrap="none" lIns="0" tIns="0" rIns="0" bIns="0" anchor="t" anchorCtr="0">
              <a:spAutoFit/>
            </a:bodyPr>
            <a:lstStyle/>
            <a:p>
              <a:pPr algn="l"/>
              <a:r>
                <a:rPr lang="en-US" sz="5700" b="1" dirty="0">
                  <a:solidFill>
                    <a:schemeClr val="dk1"/>
                  </a:solidFill>
                  <a:latin typeface="+mn-lt"/>
                  <a:ea typeface="+mn-ea"/>
                  <a:cs typeface="+mn-cs"/>
                </a:rPr>
                <a:t>G-ΔUQ</a:t>
              </a:r>
            </a:p>
          </p:txBody>
        </p:sp>
        <p:sp>
          <p:nvSpPr>
            <p:cNvPr id="9" name="TextBox 9"/>
            <p:cNvSpPr txBox="1"/>
            <p:nvPr/>
          </p:nvSpPr>
          <p:spPr>
            <a:xfrm>
              <a:off x="771906" y="2091690"/>
              <a:ext cx="492076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Accurate, scalable epistemic uncertainty</a:t>
              </a:r>
            </a:p>
          </p:txBody>
        </p:sp>
        <p:sp>
          <p:nvSpPr>
            <p:cNvPr id="10" name="TextBox 10"/>
            <p:cNvSpPr txBox="1"/>
            <p:nvPr/>
          </p:nvSpPr>
          <p:spPr>
            <a:xfrm>
              <a:off x="771906" y="2396490"/>
              <a:ext cx="457382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for graph neural networks under shift</a:t>
              </a:r>
            </a:p>
          </p:txBody>
        </p:sp>
        <p:sp>
          <p:nvSpPr>
            <p:cNvPr id="11" name="TextBox 11"/>
            <p:cNvSpPr txBox="1"/>
            <p:nvPr/>
          </p:nvSpPr>
          <p:spPr>
            <a:xfrm>
              <a:off x="774954" y="2937510"/>
              <a:ext cx="6522243" cy="234696"/>
            </a:xfrm>
            <a:prstGeom prst="rect">
              <a:avLst/>
            </a:prstGeom>
            <a:noFill/>
            <a:ln>
              <a:noFill/>
            </a:ln>
          </p:spPr>
          <p:txBody>
            <a:bodyPr wrap="none" lIns="0" tIns="0" rIns="0" bIns="0" anchor="t" anchorCtr="0">
              <a:spAutoFit/>
            </a:bodyPr>
            <a:lstStyle/>
            <a:p>
              <a:pPr algn="l"/>
              <a:r>
                <a:rPr lang="en-US" sz="1200" dirty="0">
                  <a:solidFill>
                    <a:srgbClr val="8A97A8"/>
                  </a:solidFill>
                  <a:latin typeface="+mn-lt"/>
                  <a:ea typeface="+mn-ea"/>
                  <a:cs typeface="+mn-cs"/>
                </a:rPr>
                <a:t>GNN confidence turns unreliable exactly when the test graph drifts from training.</a:t>
              </a:r>
            </a:p>
          </p:txBody>
        </p:sp>
      </p:grpSp>
      <p:grpSp>
        <p:nvGrpSpPr>
          <p:cNvPr id="15" name="Group 15"/>
          <p:cNvGrpSpPr/>
          <p:nvPr/>
        </p:nvGrpSpPr>
        <p:grpSpPr>
          <a:xfrm>
            <a:off x="775716" y="3429952"/>
            <a:ext cx="5988315" cy="433959"/>
            <a:chOff x="775716" y="3429952"/>
            <a:chExt cx="5988315" cy="433959"/>
          </a:xfrm>
        </p:grpSpPr>
        <p:sp>
          <p:nvSpPr>
            <p:cNvPr id="13" name="TextBox 13"/>
            <p:cNvSpPr txBox="1"/>
            <p:nvPr/>
          </p:nvSpPr>
          <p:spPr>
            <a:xfrm>
              <a:off x="775716" y="3429952"/>
              <a:ext cx="598831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Puja Trivedi · Mark Heimann · Rushil Anirudh · Danai Koutra · Jayaraman J. Thiagarajan</a:t>
              </a:r>
            </a:p>
          </p:txBody>
        </p:sp>
        <p:sp>
          <p:nvSpPr>
            <p:cNvPr id="14" name="TextBox 14"/>
            <p:cNvSpPr txBox="1"/>
            <p:nvPr/>
          </p:nvSpPr>
          <p:spPr>
            <a:xfrm>
              <a:off x="775716" y="3658552"/>
              <a:ext cx="452627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University of Michigan · Lawrence Livermore National Laboratory</a:t>
              </a:r>
            </a:p>
          </p:txBody>
        </p:sp>
      </p:grpSp>
      <p:grpSp>
        <p:nvGrpSpPr>
          <p:cNvPr id="24" name="Group 24"/>
          <p:cNvGrpSpPr/>
          <p:nvPr/>
        </p:nvGrpSpPr>
        <p:grpSpPr>
          <a:xfrm>
            <a:off x="776097" y="4305300"/>
            <a:ext cx="3293212" cy="1888807"/>
            <a:chOff x="776097" y="4305300"/>
            <a:chExt cx="3293212" cy="1888807"/>
          </a:xfrm>
        </p:grpSpPr>
        <p:sp>
          <p:nvSpPr>
            <p:cNvPr id="16" name="Rectangle 16"/>
            <p:cNvSpPr/>
            <p:nvPr/>
          </p:nvSpPr>
          <p:spPr>
            <a:xfrm>
              <a:off x="781050" y="4305300"/>
              <a:ext cx="1428750" cy="1428750"/>
            </a:xfrm>
            <a:prstGeom prst="rect">
              <a:avLst/>
            </a:prstGeom>
            <a:solidFill>
              <a:schemeClr val="lt1"/>
            </a:solidFill>
            <a:ln w="9525">
              <a:solidFill>
                <a:schemeClr val="accent4"/>
              </a:solidFill>
            </a:ln>
          </p:spPr>
        </p:sp>
        <p:pic>
          <p:nvPicPr>
            <p:cNvPr id="17" name="Image 17"/>
            <p:cNvPicPr>
              <a:picLocks noChangeAspect="1"/>
            </p:cNvPicPr>
            <p:nvPr/>
          </p:nvPicPr>
          <p:blipFill>
            <a:blip r:embed="rId4"/>
            <a:stretch>
              <a:fillRect/>
            </a:stretch>
          </p:blipFill>
          <p:spPr>
            <a:xfrm>
              <a:off x="838200" y="4362450"/>
              <a:ext cx="1314450" cy="1314450"/>
            </a:xfrm>
            <a:prstGeom prst="rect">
              <a:avLst/>
            </a:prstGeom>
          </p:spPr>
        </p:pic>
        <p:sp>
          <p:nvSpPr>
            <p:cNvPr id="18" name="TextBox 18"/>
            <p:cNvSpPr txBox="1"/>
            <p:nvPr/>
          </p:nvSpPr>
          <p:spPr>
            <a:xfrm>
              <a:off x="776097" y="5838349"/>
              <a:ext cx="318971"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Code</a:t>
              </a:r>
            </a:p>
          </p:txBody>
        </p:sp>
        <p:sp>
          <p:nvSpPr>
            <p:cNvPr id="19" name="TextBox 19"/>
            <p:cNvSpPr txBox="1"/>
            <p:nvPr/>
          </p:nvSpPr>
          <p:spPr>
            <a:xfrm>
              <a:off x="776288" y="6017895"/>
              <a:ext cx="186324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github.com/pujacomputes/gduq</a:t>
              </a:r>
            </a:p>
          </p:txBody>
        </p:sp>
        <p:sp>
          <p:nvSpPr>
            <p:cNvPr id="20" name="Rectangle 20"/>
            <p:cNvSpPr/>
            <p:nvPr/>
          </p:nvSpPr>
          <p:spPr>
            <a:xfrm>
              <a:off x="2495550" y="4495800"/>
              <a:ext cx="1238250" cy="1238250"/>
            </a:xfrm>
            <a:prstGeom prst="rect">
              <a:avLst/>
            </a:prstGeom>
            <a:solidFill>
              <a:schemeClr val="lt1"/>
            </a:solidFill>
            <a:ln w="9525">
              <a:solidFill>
                <a:schemeClr val="accent4"/>
              </a:solidFill>
            </a:ln>
          </p:spPr>
        </p:sp>
        <p:pic>
          <p:nvPicPr>
            <p:cNvPr id="21" name="Image 21"/>
            <p:cNvPicPr>
              <a:picLocks noChangeAspect="1"/>
            </p:cNvPicPr>
            <p:nvPr/>
          </p:nvPicPr>
          <p:blipFill>
            <a:blip r:embed="rId5"/>
            <a:stretch>
              <a:fillRect/>
            </a:stretch>
          </p:blipFill>
          <p:spPr>
            <a:xfrm>
              <a:off x="2543175" y="4543425"/>
              <a:ext cx="1143000" cy="1143000"/>
            </a:xfrm>
            <a:prstGeom prst="rect">
              <a:avLst/>
            </a:prstGeom>
          </p:spPr>
        </p:pic>
        <p:sp>
          <p:nvSpPr>
            <p:cNvPr id="22" name="TextBox 22"/>
            <p:cNvSpPr txBox="1"/>
            <p:nvPr/>
          </p:nvSpPr>
          <p:spPr>
            <a:xfrm>
              <a:off x="2490597" y="5838349"/>
              <a:ext cx="39515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Paper</a:t>
              </a:r>
            </a:p>
          </p:txBody>
        </p:sp>
        <p:sp>
          <p:nvSpPr>
            <p:cNvPr id="23" name="TextBox 23"/>
            <p:cNvSpPr txBox="1"/>
            <p:nvPr/>
          </p:nvSpPr>
          <p:spPr>
            <a:xfrm>
              <a:off x="2490788" y="6017895"/>
              <a:ext cx="1578521"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arxiv.org/abs/2309.10976</a:t>
              </a:r>
            </a:p>
          </p:txBody>
        </p:sp>
      </p:grpSp>
      <p:grpSp>
        <p:nvGrpSpPr>
          <p:cNvPr id="27" name="Group 27"/>
          <p:cNvGrpSpPr/>
          <p:nvPr/>
        </p:nvGrpSpPr>
        <p:grpSpPr>
          <a:xfrm>
            <a:off x="6667500" y="1428750"/>
            <a:ext cx="4762500" cy="4305300"/>
            <a:chOff x="6667500" y="1428750"/>
            <a:chExt cx="4762500" cy="4305300"/>
          </a:xfrm>
        </p:grpSpPr>
        <p:sp>
          <p:nvSpPr>
            <p:cNvPr id="25" name="Rectangle 25"/>
            <p:cNvSpPr/>
            <p:nvPr/>
          </p:nvSpPr>
          <p:spPr>
            <a:xfrm>
              <a:off x="6667500" y="1428750"/>
              <a:ext cx="4762500" cy="4305300"/>
            </a:xfrm>
            <a:prstGeom prst="roundRect">
              <a:avLst>
                <a:gd name="adj" fmla="val 3097"/>
              </a:avLst>
            </a:prstGeom>
            <a:solidFill>
              <a:schemeClr val="lt2"/>
            </a:solidFill>
            <a:ln>
              <a:noFill/>
            </a:ln>
          </p:spPr>
        </p:sp>
        <p:sp>
          <p:nvSpPr>
            <p:cNvPr id="26" name="TextBox 26"/>
            <p:cNvSpPr txBox="1"/>
            <p:nvPr/>
          </p:nvSpPr>
          <p:spPr>
            <a:xfrm>
              <a:off x="6966966" y="1753552"/>
              <a:ext cx="1094377"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AT A GLANCE</a:t>
              </a:r>
            </a:p>
          </p:txBody>
        </p:sp>
      </p:grpSp>
      <p:grpSp>
        <p:nvGrpSpPr>
          <p:cNvPr id="35" name="Group 35"/>
          <p:cNvGrpSpPr/>
          <p:nvPr/>
        </p:nvGrpSpPr>
        <p:grpSpPr>
          <a:xfrm>
            <a:off x="6972300" y="2057400"/>
            <a:ext cx="4152900" cy="1600200"/>
            <a:chOff x="6972300" y="2057400"/>
            <a:chExt cx="4152900" cy="1600200"/>
          </a:xfrm>
        </p:grpSpPr>
        <p:sp>
          <p:nvSpPr>
            <p:cNvPr id="28" name="Rectangle 28"/>
            <p:cNvSpPr/>
            <p:nvPr/>
          </p:nvSpPr>
          <p:spPr>
            <a:xfrm>
              <a:off x="6972300" y="2057400"/>
              <a:ext cx="4152900" cy="1600200"/>
            </a:xfrm>
            <a:prstGeom prst="roundRect">
              <a:avLst>
                <a:gd name="adj" fmla="val 5952"/>
              </a:avLst>
            </a:prstGeom>
            <a:solidFill>
              <a:schemeClr val="lt1"/>
            </a:solidFill>
            <a:ln w="9525">
              <a:solidFill>
                <a:schemeClr val="accent4"/>
              </a:solidFill>
            </a:ln>
          </p:spPr>
        </p:sp>
        <p:sp>
          <p:nvSpPr>
            <p:cNvPr id="29" name="Rectangle 29"/>
            <p:cNvSpPr/>
            <p:nvPr/>
          </p:nvSpPr>
          <p:spPr>
            <a:xfrm>
              <a:off x="6972300" y="2057400"/>
              <a:ext cx="57150" cy="1600200"/>
            </a:xfrm>
            <a:prstGeom prst="roundRect">
              <a:avLst>
                <a:gd name="adj" fmla="val 50000"/>
              </a:avLst>
            </a:prstGeom>
            <a:solidFill>
              <a:schemeClr val="accent1"/>
            </a:solidFill>
            <a:ln>
              <a:noFill/>
            </a:ln>
          </p:spPr>
        </p:sp>
        <p:sp>
          <p:nvSpPr>
            <p:cNvPr id="30" name="TextBox 30"/>
            <p:cNvSpPr txBox="1"/>
            <p:nvPr/>
          </p:nvSpPr>
          <p:spPr>
            <a:xfrm>
              <a:off x="7231761" y="2246471"/>
              <a:ext cx="301568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G-ΔUQ — a single-model method</a:t>
              </a:r>
            </a:p>
          </p:txBody>
        </p:sp>
        <p:sp>
          <p:nvSpPr>
            <p:cNvPr id="31" name="TextBox 31"/>
            <p:cNvSpPr txBox="1"/>
            <p:nvPr/>
          </p:nvSpPr>
          <p:spPr>
            <a:xfrm>
              <a:off x="7233285" y="2583656"/>
              <a:ext cx="28659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trained model estimates epistemic</a:t>
              </a:r>
            </a:p>
          </p:txBody>
        </p:sp>
        <p:sp>
          <p:nvSpPr>
            <p:cNvPr id="32" name="TextBox 32"/>
            <p:cNvSpPr txBox="1"/>
            <p:nvPr/>
          </p:nvSpPr>
          <p:spPr>
            <a:xfrm>
              <a:off x="7233285" y="2793206"/>
              <a:ext cx="28241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uncertainty for GNNs — no ensemble of</a:t>
              </a:r>
            </a:p>
          </p:txBody>
        </p:sp>
        <p:sp>
          <p:nvSpPr>
            <p:cNvPr id="33" name="TextBox 33"/>
            <p:cNvSpPr txBox="1"/>
            <p:nvPr/>
          </p:nvSpPr>
          <p:spPr>
            <a:xfrm>
              <a:off x="7233285" y="3002756"/>
              <a:ext cx="14588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networks required.</a:t>
              </a:r>
            </a:p>
          </p:txBody>
        </p:sp>
        <p:sp>
          <p:nvSpPr>
            <p:cNvPr id="34" name="TextBox 34"/>
            <p:cNvSpPr txBox="1"/>
            <p:nvPr/>
          </p:nvSpPr>
          <p:spPr>
            <a:xfrm>
              <a:off x="7233285" y="3326606"/>
              <a:ext cx="317503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Stochastic centering, adapted to graphs</a:t>
              </a:r>
            </a:p>
          </p:txBody>
        </p:sp>
      </p:grpSp>
      <p:grpSp>
        <p:nvGrpSpPr>
          <p:cNvPr id="44" name="Group 44"/>
          <p:cNvGrpSpPr/>
          <p:nvPr/>
        </p:nvGrpSpPr>
        <p:grpSpPr>
          <a:xfrm>
            <a:off x="6972300" y="3810000"/>
            <a:ext cx="4152900" cy="1752600"/>
            <a:chOff x="6972300" y="3810000"/>
            <a:chExt cx="4152900" cy="1752600"/>
          </a:xfrm>
        </p:grpSpPr>
        <p:sp>
          <p:nvSpPr>
            <p:cNvPr id="36" name="Rectangle 36"/>
            <p:cNvSpPr/>
            <p:nvPr/>
          </p:nvSpPr>
          <p:spPr>
            <a:xfrm>
              <a:off x="6972300" y="3810000"/>
              <a:ext cx="4152900" cy="1752600"/>
            </a:xfrm>
            <a:prstGeom prst="roundRect">
              <a:avLst>
                <a:gd name="adj" fmla="val 5435"/>
              </a:avLst>
            </a:prstGeom>
            <a:solidFill>
              <a:schemeClr val="lt1"/>
            </a:solidFill>
            <a:ln w="9525">
              <a:solidFill>
                <a:schemeClr val="accent4"/>
              </a:solidFill>
            </a:ln>
          </p:spPr>
        </p:sp>
        <p:sp>
          <p:nvSpPr>
            <p:cNvPr id="37" name="Rectangle 37"/>
            <p:cNvSpPr/>
            <p:nvPr/>
          </p:nvSpPr>
          <p:spPr>
            <a:xfrm>
              <a:off x="6972300" y="3810000"/>
              <a:ext cx="57150" cy="1752600"/>
            </a:xfrm>
            <a:prstGeom prst="roundRect">
              <a:avLst>
                <a:gd name="adj" fmla="val 50000"/>
              </a:avLst>
            </a:prstGeom>
            <a:solidFill>
              <a:schemeClr val="accent2"/>
            </a:solidFill>
            <a:ln>
              <a:noFill/>
            </a:ln>
          </p:spPr>
        </p:sp>
        <p:sp>
          <p:nvSpPr>
            <p:cNvPr id="38" name="TextBox 38"/>
            <p:cNvSpPr txBox="1"/>
            <p:nvPr/>
          </p:nvSpPr>
          <p:spPr>
            <a:xfrm>
              <a:off x="7231761" y="3999071"/>
              <a:ext cx="298128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Better calibration under shift</a:t>
              </a:r>
            </a:p>
          </p:txBody>
        </p:sp>
        <p:sp>
          <p:nvSpPr>
            <p:cNvPr id="39" name="TextBox 39"/>
            <p:cNvSpPr txBox="1"/>
            <p:nvPr/>
          </p:nvSpPr>
          <p:spPr>
            <a:xfrm>
              <a:off x="7233285" y="4336256"/>
              <a:ext cx="29413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Well-calibrated confidence across size,</a:t>
              </a:r>
            </a:p>
          </p:txBody>
        </p:sp>
        <p:sp>
          <p:nvSpPr>
            <p:cNvPr id="40" name="TextBox 40"/>
            <p:cNvSpPr txBox="1"/>
            <p:nvPr/>
          </p:nvSpPr>
          <p:spPr>
            <a:xfrm>
              <a:off x="7233285" y="4545806"/>
              <a:ext cx="31550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concept and covariate distribution shifts.</a:t>
              </a:r>
            </a:p>
          </p:txBody>
        </p:sp>
        <p:sp>
          <p:nvSpPr>
            <p:cNvPr id="41" name="TextBox 41"/>
            <p:cNvSpPr txBox="1"/>
            <p:nvPr/>
          </p:nvSpPr>
          <p:spPr>
            <a:xfrm>
              <a:off x="7233285" y="4850606"/>
              <a:ext cx="274585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Lifts downstream OOD detection and</a:t>
              </a:r>
            </a:p>
          </p:txBody>
        </p:sp>
        <p:sp>
          <p:nvSpPr>
            <p:cNvPr id="42" name="TextBox 42"/>
            <p:cNvSpPr txBox="1"/>
            <p:nvPr/>
          </p:nvSpPr>
          <p:spPr>
            <a:xfrm>
              <a:off x="7233285" y="5060156"/>
              <a:ext cx="28233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generalization-gap prediction, and its</a:t>
              </a:r>
            </a:p>
          </p:txBody>
        </p:sp>
        <p:sp>
          <p:nvSpPr>
            <p:cNvPr id="43" name="TextBox 43"/>
            <p:cNvSpPr txBox="1"/>
            <p:nvPr/>
          </p:nvSpPr>
          <p:spPr>
            <a:xfrm>
              <a:off x="7233285" y="5269706"/>
              <a:ext cx="2612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pretrained variant is cheap to add.</a:t>
              </a:r>
            </a:p>
          </p:txBody>
        </p:sp>
      </p:grpSp>
      <p:grpSp>
        <p:nvGrpSpPr>
          <p:cNvPr id="47" name="Group 47"/>
          <p:cNvGrpSpPr/>
          <p:nvPr/>
        </p:nvGrpSpPr>
        <p:grpSpPr>
          <a:xfrm>
            <a:off x="757238" y="6570345"/>
            <a:ext cx="10677524" cy="176212"/>
            <a:chOff x="757238" y="6570345"/>
            <a:chExt cx="10677524" cy="176212"/>
          </a:xfrm>
        </p:grpSpPr>
        <p:sp>
          <p:nvSpPr>
            <p:cNvPr id="45" name="TextBox 4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6" name="TextBox 4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01 /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264691"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02 · PROBLEM</a:t>
              </a:r>
            </a:p>
          </p:txBody>
        </p:sp>
        <p:sp>
          <p:nvSpPr>
            <p:cNvPr id="4" name="TextBox 4"/>
            <p:cNvSpPr txBox="1"/>
            <p:nvPr/>
          </p:nvSpPr>
          <p:spPr>
            <a:xfrm>
              <a:off x="749046" y="867728"/>
              <a:ext cx="9825003"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Trustworthy GNN confidence — exactly when data shifts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914400"/>
            <a:chOff x="762000" y="1676400"/>
            <a:chExt cx="10668000" cy="914400"/>
          </a:xfrm>
        </p:grpSpPr>
        <p:sp>
          <p:nvSpPr>
            <p:cNvPr id="7" name="Rectangle 7"/>
            <p:cNvSpPr/>
            <p:nvPr/>
          </p:nvSpPr>
          <p:spPr>
            <a:xfrm>
              <a:off x="762000" y="1676400"/>
              <a:ext cx="10668000" cy="914400"/>
            </a:xfrm>
            <a:prstGeom prst="roundRect">
              <a:avLst>
                <a:gd name="adj" fmla="val 12500"/>
              </a:avLst>
            </a:prstGeom>
            <a:solidFill>
              <a:srgbClr val="FBE9E2"/>
            </a:solidFill>
            <a:ln w="9525">
              <a:solidFill>
                <a:srgbClr val="F2C6B4"/>
              </a:solidFill>
            </a:ln>
          </p:spPr>
        </p:sp>
        <p:sp>
          <p:nvSpPr>
            <p:cNvPr id="8" name="Rectangle 8"/>
            <p:cNvSpPr/>
            <p:nvPr/>
          </p:nvSpPr>
          <p:spPr>
            <a:xfrm>
              <a:off x="762000" y="1676400"/>
              <a:ext cx="57150" cy="914400"/>
            </a:xfrm>
            <a:prstGeom prst="roundRect">
              <a:avLst>
                <a:gd name="adj" fmla="val 50000"/>
              </a:avLst>
            </a:prstGeom>
            <a:solidFill>
              <a:schemeClr val="accent3"/>
            </a:solidFill>
            <a:ln>
              <a:noFill/>
            </a:ln>
          </p:spPr>
        </p:sp>
        <p:sp>
          <p:nvSpPr>
            <p:cNvPr id="9" name="TextBox 9"/>
            <p:cNvSpPr txBox="1"/>
            <p:nvPr/>
          </p:nvSpPr>
          <p:spPr>
            <a:xfrm>
              <a:off x="1059180" y="1876425"/>
              <a:ext cx="447499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High-stakes deployment, shifted test data</a:t>
              </a:r>
            </a:p>
          </p:txBody>
        </p:sp>
        <p:sp>
          <p:nvSpPr>
            <p:cNvPr id="10" name="TextBox 10"/>
            <p:cNvSpPr txBox="1"/>
            <p:nvPr/>
          </p:nvSpPr>
          <p:spPr>
            <a:xfrm>
              <a:off x="1060704" y="2213610"/>
              <a:ext cx="955138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GNNs increasingly power high-stakes applications, yet the test-time graphs they meet rarely match training conditions.</a:t>
              </a:r>
            </a:p>
          </p:txBody>
        </p:sp>
      </p:grpSp>
      <p:grpSp>
        <p:nvGrpSpPr>
          <p:cNvPr id="22" name="Group 22"/>
          <p:cNvGrpSpPr/>
          <p:nvPr/>
        </p:nvGrpSpPr>
        <p:grpSpPr>
          <a:xfrm>
            <a:off x="762000" y="2781300"/>
            <a:ext cx="3429000" cy="3352800"/>
            <a:chOff x="762000" y="2781300"/>
            <a:chExt cx="3429000" cy="3352800"/>
          </a:xfrm>
        </p:grpSpPr>
        <p:sp>
          <p:nvSpPr>
            <p:cNvPr id="12" name="Rectangle 12"/>
            <p:cNvSpPr/>
            <p:nvPr/>
          </p:nvSpPr>
          <p:spPr>
            <a:xfrm>
              <a:off x="762000" y="2781300"/>
              <a:ext cx="3429000" cy="3352800"/>
            </a:xfrm>
            <a:prstGeom prst="roundRect">
              <a:avLst>
                <a:gd name="adj" fmla="val 3409"/>
              </a:avLst>
            </a:prstGeom>
            <a:solidFill>
              <a:schemeClr val="accent5"/>
            </a:solidFill>
            <a:ln w="9525">
              <a:solidFill>
                <a:schemeClr val="accent4"/>
              </a:solidFill>
            </a:ln>
          </p:spPr>
        </p:sp>
        <p:sp>
          <p:nvSpPr>
            <p:cNvPr id="13" name="Rectangle 13"/>
            <p:cNvSpPr/>
            <p:nvPr/>
          </p:nvSpPr>
          <p:spPr>
            <a:xfrm>
              <a:off x="762000" y="2781300"/>
              <a:ext cx="57150" cy="3352800"/>
            </a:xfrm>
            <a:prstGeom prst="roundRect">
              <a:avLst>
                <a:gd name="adj" fmla="val 50000"/>
              </a:avLst>
            </a:prstGeom>
            <a:solidFill>
              <a:schemeClr val="accent1"/>
            </a:solidFill>
            <a:ln>
              <a:noFill/>
            </a:ln>
          </p:spPr>
        </p:sp>
        <p:sp>
          <p:nvSpPr>
            <p:cNvPr id="14" name="TextBox 14"/>
            <p:cNvSpPr txBox="1"/>
            <p:nvPr/>
          </p:nvSpPr>
          <p:spPr>
            <a:xfrm>
              <a:off x="1021461" y="2989421"/>
              <a:ext cx="26403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Safety rides on confidence</a:t>
              </a:r>
            </a:p>
          </p:txBody>
        </p:sp>
        <p:sp>
          <p:nvSpPr>
            <p:cNvPr id="15" name="TextBox 15"/>
            <p:cNvSpPr txBox="1"/>
            <p:nvPr/>
          </p:nvSpPr>
          <p:spPr>
            <a:xfrm>
              <a:off x="1022985" y="3326606"/>
              <a:ext cx="26098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 shift, key safety metrics all</a:t>
              </a:r>
            </a:p>
          </p:txBody>
        </p:sp>
        <p:sp>
          <p:nvSpPr>
            <p:cNvPr id="16" name="TextBox 16"/>
            <p:cNvSpPr txBox="1"/>
            <p:nvPr/>
          </p:nvSpPr>
          <p:spPr>
            <a:xfrm>
              <a:off x="1022985" y="3536156"/>
              <a:ext cx="2175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read the model's confidence:</a:t>
              </a:r>
            </a:p>
          </p:txBody>
        </p:sp>
        <p:sp>
          <p:nvSpPr>
            <p:cNvPr id="17" name="TextBox 17"/>
            <p:cNvSpPr txBox="1"/>
            <p:nvPr/>
          </p:nvSpPr>
          <p:spPr>
            <a:xfrm>
              <a:off x="1137285" y="3917156"/>
              <a:ext cx="1871645"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Calibration error (ECE)</a:t>
              </a:r>
            </a:p>
          </p:txBody>
        </p:sp>
        <p:sp>
          <p:nvSpPr>
            <p:cNvPr id="18" name="TextBox 18"/>
            <p:cNvSpPr txBox="1"/>
            <p:nvPr/>
          </p:nvSpPr>
          <p:spPr>
            <a:xfrm>
              <a:off x="1137285" y="4221956"/>
              <a:ext cx="234598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Out-of-distribution rejection</a:t>
              </a:r>
            </a:p>
          </p:txBody>
        </p:sp>
        <p:sp>
          <p:nvSpPr>
            <p:cNvPr id="19" name="TextBox 19"/>
            <p:cNvSpPr txBox="1"/>
            <p:nvPr/>
          </p:nvSpPr>
          <p:spPr>
            <a:xfrm>
              <a:off x="1137285" y="4526756"/>
              <a:ext cx="2315592"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Generalization-gap prediction</a:t>
              </a:r>
            </a:p>
          </p:txBody>
        </p:sp>
        <p:sp>
          <p:nvSpPr>
            <p:cNvPr id="20" name="TextBox 20"/>
            <p:cNvSpPr txBox="1"/>
            <p:nvPr/>
          </p:nvSpPr>
          <p:spPr>
            <a:xfrm>
              <a:off x="1022985" y="4983956"/>
              <a:ext cx="24817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If confidence is wrong, every one</a:t>
              </a:r>
            </a:p>
          </p:txBody>
        </p:sp>
        <p:sp>
          <p:nvSpPr>
            <p:cNvPr id="21" name="TextBox 21"/>
            <p:cNvSpPr txBox="1"/>
            <p:nvPr/>
          </p:nvSpPr>
          <p:spPr>
            <a:xfrm>
              <a:off x="1022985" y="5193506"/>
              <a:ext cx="25821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these downstream checks fails.</a:t>
              </a:r>
            </a:p>
          </p:txBody>
        </p:sp>
      </p:grpSp>
      <p:grpSp>
        <p:nvGrpSpPr>
          <p:cNvPr id="32" name="Group 32"/>
          <p:cNvGrpSpPr/>
          <p:nvPr/>
        </p:nvGrpSpPr>
        <p:grpSpPr>
          <a:xfrm>
            <a:off x="4381500" y="2781300"/>
            <a:ext cx="3452194" cy="3352800"/>
            <a:chOff x="4381500" y="2781300"/>
            <a:chExt cx="3452194" cy="3352800"/>
          </a:xfrm>
        </p:grpSpPr>
        <p:sp>
          <p:nvSpPr>
            <p:cNvPr id="23" name="Rectangle 23"/>
            <p:cNvSpPr/>
            <p:nvPr/>
          </p:nvSpPr>
          <p:spPr>
            <a:xfrm>
              <a:off x="4381500" y="2781300"/>
              <a:ext cx="3429000" cy="3352800"/>
            </a:xfrm>
            <a:prstGeom prst="roundRect">
              <a:avLst>
                <a:gd name="adj" fmla="val 3409"/>
              </a:avLst>
            </a:prstGeom>
            <a:solidFill>
              <a:schemeClr val="accent5"/>
            </a:solidFill>
            <a:ln w="9525">
              <a:solidFill>
                <a:schemeClr val="accent4"/>
              </a:solidFill>
            </a:ln>
          </p:spPr>
        </p:sp>
        <p:sp>
          <p:nvSpPr>
            <p:cNvPr id="24" name="Rectangle 24"/>
            <p:cNvSpPr/>
            <p:nvPr/>
          </p:nvSpPr>
          <p:spPr>
            <a:xfrm>
              <a:off x="4381500" y="2781300"/>
              <a:ext cx="57150" cy="3352800"/>
            </a:xfrm>
            <a:prstGeom prst="roundRect">
              <a:avLst>
                <a:gd name="adj" fmla="val 50000"/>
              </a:avLst>
            </a:prstGeom>
            <a:solidFill>
              <a:srgbClr val="8A97A8"/>
            </a:solidFill>
            <a:ln>
              <a:noFill/>
            </a:ln>
          </p:spPr>
        </p:sp>
        <p:sp>
          <p:nvSpPr>
            <p:cNvPr id="25" name="TextBox 25"/>
            <p:cNvSpPr txBox="1"/>
            <p:nvPr/>
          </p:nvSpPr>
          <p:spPr>
            <a:xfrm>
              <a:off x="4640961" y="2989421"/>
              <a:ext cx="319273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Known in vision, open for graphs</a:t>
              </a:r>
            </a:p>
          </p:txBody>
        </p:sp>
        <p:sp>
          <p:nvSpPr>
            <p:cNvPr id="26" name="TextBox 26"/>
            <p:cNvSpPr txBox="1"/>
            <p:nvPr/>
          </p:nvSpPr>
          <p:spPr>
            <a:xfrm>
              <a:off x="4642485" y="3364706"/>
              <a:ext cx="23006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Computer vision has long shown</a:t>
              </a:r>
            </a:p>
          </p:txBody>
        </p:sp>
        <p:sp>
          <p:nvSpPr>
            <p:cNvPr id="27" name="TextBox 27"/>
            <p:cNvSpPr txBox="1"/>
            <p:nvPr/>
          </p:nvSpPr>
          <p:spPr>
            <a:xfrm>
              <a:off x="4642485" y="3574256"/>
              <a:ext cx="24388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confidence quality degrades</a:t>
              </a:r>
            </a:p>
          </p:txBody>
        </p:sp>
        <p:sp>
          <p:nvSpPr>
            <p:cNvPr id="28" name="TextBox 28"/>
            <p:cNvSpPr txBox="1"/>
            <p:nvPr/>
          </p:nvSpPr>
          <p:spPr>
            <a:xfrm>
              <a:off x="4642485" y="3783806"/>
              <a:ext cx="18584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 distribution shift.</a:t>
              </a:r>
            </a:p>
          </p:txBody>
        </p:sp>
        <p:sp>
          <p:nvSpPr>
            <p:cNvPr id="29" name="TextBox 29"/>
            <p:cNvSpPr txBox="1"/>
            <p:nvPr/>
          </p:nvSpPr>
          <p:spPr>
            <a:xfrm>
              <a:off x="4642485" y="4183856"/>
              <a:ext cx="23912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graph neural networks, this</a:t>
              </a:r>
            </a:p>
          </p:txBody>
        </p:sp>
        <p:sp>
          <p:nvSpPr>
            <p:cNvPr id="30" name="TextBox 30"/>
            <p:cNvSpPr txBox="1"/>
            <p:nvPr/>
          </p:nvSpPr>
          <p:spPr>
            <a:xfrm>
              <a:off x="4642485" y="4393406"/>
              <a:ext cx="2024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behavior has stayed largely</a:t>
              </a:r>
            </a:p>
          </p:txBody>
        </p:sp>
        <p:sp>
          <p:nvSpPr>
            <p:cNvPr id="31" name="TextBox 31"/>
            <p:cNvSpPr txBox="1"/>
            <p:nvPr/>
          </p:nvSpPr>
          <p:spPr>
            <a:xfrm>
              <a:off x="4642485" y="4602956"/>
              <a:ext cx="2054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under-explored — until now.</a:t>
              </a:r>
            </a:p>
          </p:txBody>
        </p:sp>
      </p:grpSp>
      <p:grpSp>
        <p:nvGrpSpPr>
          <p:cNvPr id="43" name="Group 43"/>
          <p:cNvGrpSpPr/>
          <p:nvPr/>
        </p:nvGrpSpPr>
        <p:grpSpPr>
          <a:xfrm>
            <a:off x="8001000" y="2781300"/>
            <a:ext cx="3429000" cy="3352800"/>
            <a:chOff x="8001000" y="2781300"/>
            <a:chExt cx="3429000" cy="3352800"/>
          </a:xfrm>
        </p:grpSpPr>
        <p:sp>
          <p:nvSpPr>
            <p:cNvPr id="33" name="Rectangle 33"/>
            <p:cNvSpPr/>
            <p:nvPr/>
          </p:nvSpPr>
          <p:spPr>
            <a:xfrm>
              <a:off x="8001000" y="2781300"/>
              <a:ext cx="3429000" cy="3352800"/>
            </a:xfrm>
            <a:prstGeom prst="roundRect">
              <a:avLst>
                <a:gd name="adj" fmla="val 3409"/>
              </a:avLst>
            </a:prstGeom>
            <a:solidFill>
              <a:schemeClr val="accent6"/>
            </a:solidFill>
            <a:ln w="9525">
              <a:solidFill>
                <a:srgbClr val="C6D6FB"/>
              </a:solidFill>
            </a:ln>
          </p:spPr>
        </p:sp>
        <p:sp>
          <p:nvSpPr>
            <p:cNvPr id="34" name="Rectangle 34"/>
            <p:cNvSpPr/>
            <p:nvPr/>
          </p:nvSpPr>
          <p:spPr>
            <a:xfrm>
              <a:off x="8001000" y="2781300"/>
              <a:ext cx="57150" cy="3352800"/>
            </a:xfrm>
            <a:prstGeom prst="roundRect">
              <a:avLst>
                <a:gd name="adj" fmla="val 50000"/>
              </a:avLst>
            </a:prstGeom>
            <a:solidFill>
              <a:schemeClr val="accent1"/>
            </a:solidFill>
            <a:ln>
              <a:noFill/>
            </a:ln>
          </p:spPr>
        </p:sp>
        <p:sp>
          <p:nvSpPr>
            <p:cNvPr id="35" name="TextBox 35"/>
            <p:cNvSpPr txBox="1"/>
            <p:nvPr/>
          </p:nvSpPr>
          <p:spPr>
            <a:xfrm>
              <a:off x="8260461" y="2989421"/>
              <a:ext cx="124516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question</a:t>
              </a:r>
            </a:p>
          </p:txBody>
        </p:sp>
        <p:sp>
          <p:nvSpPr>
            <p:cNvPr id="36" name="TextBox 36"/>
            <p:cNvSpPr txBox="1"/>
            <p:nvPr/>
          </p:nvSpPr>
          <p:spPr>
            <a:xfrm>
              <a:off x="8261985" y="3364706"/>
              <a:ext cx="24205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Can GNN confidence indicators be</a:t>
              </a:r>
            </a:p>
          </p:txBody>
        </p:sp>
        <p:sp>
          <p:nvSpPr>
            <p:cNvPr id="37" name="TextBox 37"/>
            <p:cNvSpPr txBox="1"/>
            <p:nvPr/>
          </p:nvSpPr>
          <p:spPr>
            <a:xfrm>
              <a:off x="8261985" y="3574256"/>
              <a:ext cx="2612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made reliable under realistic shift?</a:t>
              </a:r>
            </a:p>
          </p:txBody>
        </p:sp>
        <p:sp>
          <p:nvSpPr>
            <p:cNvPr id="38" name="TextBox 38"/>
            <p:cNvSpPr txBox="1"/>
            <p:nvPr/>
          </p:nvSpPr>
          <p:spPr>
            <a:xfrm>
              <a:off x="8261985" y="3993356"/>
              <a:ext cx="1908371"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Four shift types studied</a:t>
              </a:r>
            </a:p>
          </p:txBody>
        </p:sp>
        <p:sp>
          <p:nvSpPr>
            <p:cNvPr id="39" name="TextBox 39"/>
            <p:cNvSpPr txBox="1"/>
            <p:nvPr/>
          </p:nvSpPr>
          <p:spPr>
            <a:xfrm>
              <a:off x="8376285" y="4298156"/>
              <a:ext cx="1727506"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Structural distortion</a:t>
              </a:r>
            </a:p>
          </p:txBody>
        </p:sp>
        <p:sp>
          <p:nvSpPr>
            <p:cNvPr id="40" name="TextBox 40"/>
            <p:cNvSpPr txBox="1"/>
            <p:nvPr/>
          </p:nvSpPr>
          <p:spPr>
            <a:xfrm>
              <a:off x="8376285" y="4564856"/>
              <a:ext cx="890947"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Graph size</a:t>
              </a:r>
            </a:p>
          </p:txBody>
        </p:sp>
        <p:sp>
          <p:nvSpPr>
            <p:cNvPr id="41" name="TextBox 41"/>
            <p:cNvSpPr txBox="1"/>
            <p:nvPr/>
          </p:nvSpPr>
          <p:spPr>
            <a:xfrm>
              <a:off x="8376285" y="4831556"/>
              <a:ext cx="717509"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Concept</a:t>
              </a:r>
            </a:p>
          </p:txBody>
        </p:sp>
        <p:sp>
          <p:nvSpPr>
            <p:cNvPr id="42" name="TextBox 42"/>
            <p:cNvSpPr txBox="1"/>
            <p:nvPr/>
          </p:nvSpPr>
          <p:spPr>
            <a:xfrm>
              <a:off x="8376285" y="5098256"/>
              <a:ext cx="845431"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Covariate</a:t>
              </a:r>
            </a:p>
          </p:txBody>
        </p:sp>
      </p:grpSp>
      <p:grpSp>
        <p:nvGrpSpPr>
          <p:cNvPr id="46" name="Group 46"/>
          <p:cNvGrpSpPr/>
          <p:nvPr/>
        </p:nvGrpSpPr>
        <p:grpSpPr>
          <a:xfrm>
            <a:off x="757238" y="6570345"/>
            <a:ext cx="10677524" cy="176212"/>
            <a:chOff x="757238" y="6570345"/>
            <a:chExt cx="10677524" cy="176212"/>
          </a:xfrm>
        </p:grpSpPr>
        <p:sp>
          <p:nvSpPr>
            <p:cNvPr id="44" name="TextBox 44"/>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5" name="TextBox 45"/>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54040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03 · MOTIVATION</a:t>
              </a:r>
            </a:p>
          </p:txBody>
        </p:sp>
        <p:sp>
          <p:nvSpPr>
            <p:cNvPr id="4" name="TextBox 4"/>
            <p:cNvSpPr txBox="1"/>
            <p:nvPr/>
          </p:nvSpPr>
          <p:spPr>
            <a:xfrm>
              <a:off x="749046" y="867728"/>
              <a:ext cx="840006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More expressive models do not calibrate better</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7" name="Group 17"/>
          <p:cNvGrpSpPr/>
          <p:nvPr/>
        </p:nvGrpSpPr>
        <p:grpSpPr>
          <a:xfrm>
            <a:off x="762000" y="1676400"/>
            <a:ext cx="3429000" cy="2400300"/>
            <a:chOff x="762000" y="1676400"/>
            <a:chExt cx="3429000" cy="2400300"/>
          </a:xfrm>
        </p:grpSpPr>
        <p:sp>
          <p:nvSpPr>
            <p:cNvPr id="7" name="Rectangle 7"/>
            <p:cNvSpPr/>
            <p:nvPr/>
          </p:nvSpPr>
          <p:spPr>
            <a:xfrm>
              <a:off x="762000" y="1676400"/>
              <a:ext cx="3429000" cy="2400300"/>
            </a:xfrm>
            <a:prstGeom prst="roundRect">
              <a:avLst>
                <a:gd name="adj" fmla="val 4762"/>
              </a:avLst>
            </a:prstGeom>
            <a:solidFill>
              <a:srgbClr val="FBE9E2"/>
            </a:solidFill>
            <a:ln w="9525">
              <a:solidFill>
                <a:srgbClr val="F2C6B4"/>
              </a:solidFill>
            </a:ln>
          </p:spPr>
        </p:sp>
        <p:sp>
          <p:nvSpPr>
            <p:cNvPr id="8" name="Rectangle 8"/>
            <p:cNvSpPr/>
            <p:nvPr/>
          </p:nvSpPr>
          <p:spPr>
            <a:xfrm>
              <a:off x="762000" y="1676400"/>
              <a:ext cx="57150" cy="2400300"/>
            </a:xfrm>
            <a:prstGeom prst="roundRect">
              <a:avLst>
                <a:gd name="adj" fmla="val 50000"/>
              </a:avLst>
            </a:prstGeom>
            <a:solidFill>
              <a:schemeClr val="accent3"/>
            </a:solidFill>
            <a:ln>
              <a:noFill/>
            </a:ln>
          </p:spPr>
        </p:sp>
        <p:sp>
          <p:nvSpPr>
            <p:cNvPr id="9" name="TextBox 9"/>
            <p:cNvSpPr txBox="1"/>
            <p:nvPr/>
          </p:nvSpPr>
          <p:spPr>
            <a:xfrm>
              <a:off x="1023366" y="1925002"/>
              <a:ext cx="2105863" cy="205359"/>
            </a:xfrm>
            <a:prstGeom prst="rect">
              <a:avLst/>
            </a:prstGeom>
            <a:noFill/>
            <a:ln>
              <a:noFill/>
            </a:ln>
          </p:spPr>
          <p:txBody>
            <a:bodyPr wrap="none" lIns="0" tIns="0" rIns="0" bIns="0" anchor="t" anchorCtr="0">
              <a:spAutoFit/>
            </a:bodyPr>
            <a:lstStyle/>
            <a:p>
              <a:pPr algn="l"/>
              <a:r>
                <a:rPr lang="en-US" sz="1050" b="1" spc="75" dirty="0">
                  <a:solidFill>
                    <a:srgbClr val="C4562F"/>
                  </a:solidFill>
                  <a:latin typeface="+mn-lt"/>
                  <a:ea typeface="+mn-ea"/>
                  <a:cs typeface="+mn-cs"/>
                </a:rPr>
                <a:t>THE COMMON ASSUMPTION</a:t>
              </a:r>
            </a:p>
          </p:txBody>
        </p:sp>
        <p:sp>
          <p:nvSpPr>
            <p:cNvPr id="10" name="TextBox 10"/>
            <p:cNvSpPr txBox="1"/>
            <p:nvPr/>
          </p:nvSpPr>
          <p:spPr>
            <a:xfrm>
              <a:off x="1021461" y="2246471"/>
              <a:ext cx="234974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"Bigger, fancier models</a:t>
              </a:r>
            </a:p>
          </p:txBody>
        </p:sp>
        <p:sp>
          <p:nvSpPr>
            <p:cNvPr id="11" name="TextBox 11"/>
            <p:cNvSpPr txBox="1"/>
            <p:nvPr/>
          </p:nvSpPr>
          <p:spPr>
            <a:xfrm>
              <a:off x="1021461" y="2494121"/>
              <a:ext cx="263385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will be better calibrated."</a:t>
              </a:r>
            </a:p>
          </p:txBody>
        </p:sp>
        <p:sp>
          <p:nvSpPr>
            <p:cNvPr id="12" name="TextBox 12"/>
            <p:cNvSpPr txBox="1"/>
            <p:nvPr/>
          </p:nvSpPr>
          <p:spPr>
            <a:xfrm>
              <a:off x="1022985" y="2907506"/>
              <a:ext cx="26400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intuition: graph transformers,</a:t>
              </a:r>
            </a:p>
          </p:txBody>
        </p:sp>
        <p:sp>
          <p:nvSpPr>
            <p:cNvPr id="13" name="TextBox 13"/>
            <p:cNvSpPr txBox="1"/>
            <p:nvPr/>
          </p:nvSpPr>
          <p:spPr>
            <a:xfrm>
              <a:off x="1022985" y="3117056"/>
              <a:ext cx="22655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positional encodings, and more</a:t>
              </a:r>
            </a:p>
          </p:txBody>
        </p:sp>
        <p:sp>
          <p:nvSpPr>
            <p:cNvPr id="14" name="TextBox 14"/>
            <p:cNvSpPr txBox="1"/>
            <p:nvPr/>
          </p:nvSpPr>
          <p:spPr>
            <a:xfrm>
              <a:off x="1022985" y="3326606"/>
              <a:ext cx="2182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depth or width should tighten</a:t>
              </a:r>
            </a:p>
          </p:txBody>
        </p:sp>
        <p:sp>
          <p:nvSpPr>
            <p:cNvPr id="15" name="TextBox 15"/>
            <p:cNvSpPr txBox="1"/>
            <p:nvPr/>
          </p:nvSpPr>
          <p:spPr>
            <a:xfrm>
              <a:off x="1022985" y="3536156"/>
              <a:ext cx="16850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confidence — for free.</a:t>
              </a:r>
            </a:p>
          </p:txBody>
        </p:sp>
        <p:sp>
          <p:nvSpPr>
            <p:cNvPr id="16" name="TextBox 16"/>
            <p:cNvSpPr txBox="1"/>
            <p:nvPr/>
          </p:nvSpPr>
          <p:spPr>
            <a:xfrm>
              <a:off x="1022985" y="3840956"/>
              <a:ext cx="2351836"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The paper tests this directly.</a:t>
              </a:r>
            </a:p>
          </p:txBody>
        </p:sp>
      </p:grpSp>
      <p:grpSp>
        <p:nvGrpSpPr>
          <p:cNvPr id="24" name="Group 24"/>
          <p:cNvGrpSpPr/>
          <p:nvPr/>
        </p:nvGrpSpPr>
        <p:grpSpPr>
          <a:xfrm>
            <a:off x="4381500" y="1676400"/>
            <a:ext cx="9300463" cy="2403634"/>
            <a:chOff x="4381500" y="1676400"/>
            <a:chExt cx="9300463" cy="2403634"/>
          </a:xfrm>
        </p:grpSpPr>
        <p:sp>
          <p:nvSpPr>
            <p:cNvPr id="18" name="Rectangle 18"/>
            <p:cNvSpPr/>
            <p:nvPr/>
          </p:nvSpPr>
          <p:spPr>
            <a:xfrm>
              <a:off x="4381500" y="1676400"/>
              <a:ext cx="7048500" cy="2400300"/>
            </a:xfrm>
            <a:prstGeom prst="roundRect">
              <a:avLst>
                <a:gd name="adj" fmla="val 4762"/>
              </a:avLst>
            </a:prstGeom>
            <a:solidFill>
              <a:schemeClr val="accent5"/>
            </a:solidFill>
            <a:ln w="9525">
              <a:solidFill>
                <a:schemeClr val="accent4"/>
              </a:solidFill>
            </a:ln>
          </p:spPr>
        </p:sp>
        <p:sp>
          <p:nvSpPr>
            <p:cNvPr id="19" name="TextBox 19"/>
            <p:cNvSpPr txBox="1"/>
            <p:nvPr/>
          </p:nvSpPr>
          <p:spPr>
            <a:xfrm>
              <a:off x="4642866" y="1848802"/>
              <a:ext cx="507283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CONTROLLED CASE STUDY: STRUCTURAL DISTORTION (Figure 1)</a:t>
              </a:r>
            </a:p>
          </p:txBody>
        </p:sp>
        <p:sp>
          <p:nvSpPr>
            <p:cNvPr id="20" name="Rectangle 20"/>
            <p:cNvSpPr/>
            <p:nvPr/>
          </p:nvSpPr>
          <p:spPr>
            <a:xfrm>
              <a:off x="4629150" y="2095500"/>
              <a:ext cx="6553200" cy="1428750"/>
            </a:xfrm>
            <a:prstGeom prst="roundRect">
              <a:avLst>
                <a:gd name="adj" fmla="val 5333"/>
              </a:avLst>
            </a:prstGeom>
            <a:solidFill>
              <a:schemeClr val="lt1"/>
            </a:solidFill>
            <a:ln w="9525">
              <a:solidFill>
                <a:schemeClr val="accent4"/>
              </a:solidFill>
            </a:ln>
          </p:spPr>
        </p:sp>
        <p:pic>
          <p:nvPicPr>
            <p:cNvPr id="21" name="Image 21"/>
            <p:cNvPicPr>
              <a:picLocks noChangeAspect="1"/>
            </p:cNvPicPr>
            <p:nvPr/>
          </p:nvPicPr>
          <p:blipFill>
            <a:blip r:embed="rId2"/>
            <a:stretch>
              <a:fillRect/>
            </a:stretch>
          </p:blipFill>
          <p:spPr>
            <a:xfrm>
              <a:off x="5351165" y="2152650"/>
              <a:ext cx="5109170" cy="1314450"/>
            </a:xfrm>
            <a:prstGeom prst="rect">
              <a:avLst/>
            </a:prstGeom>
          </p:spPr>
        </p:pic>
        <p:sp>
          <p:nvSpPr>
            <p:cNvPr id="22" name="TextBox 22"/>
            <p:cNvSpPr txBox="1"/>
            <p:nvPr/>
          </p:nvSpPr>
          <p:spPr>
            <a:xfrm>
              <a:off x="4642485" y="3669506"/>
              <a:ext cx="903947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 rotation grows, accuracy drops as expected — but expected calibration error grows sharply too. Transformers (GPS),</a:t>
              </a:r>
            </a:p>
          </p:txBody>
        </p:sp>
        <p:sp>
          <p:nvSpPr>
            <p:cNvPr id="23" name="TextBox 23"/>
            <p:cNvSpPr txBox="1"/>
            <p:nvPr/>
          </p:nvSpPr>
          <p:spPr>
            <a:xfrm>
              <a:off x="4642485" y="3860006"/>
              <a:ext cx="80312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deeper and wider models do not fix it; only G-ΔUQ cuts ECE while keeping accuracy close to the vanilla model.</a:t>
              </a:r>
            </a:p>
          </p:txBody>
        </p:sp>
      </p:grpSp>
      <p:grpSp>
        <p:nvGrpSpPr>
          <p:cNvPr id="31" name="Group 31"/>
          <p:cNvGrpSpPr/>
          <p:nvPr/>
        </p:nvGrpSpPr>
        <p:grpSpPr>
          <a:xfrm>
            <a:off x="762000" y="4267200"/>
            <a:ext cx="3429000" cy="1866900"/>
            <a:chOff x="762000" y="4267200"/>
            <a:chExt cx="3429000" cy="1866900"/>
          </a:xfrm>
        </p:grpSpPr>
        <p:sp>
          <p:nvSpPr>
            <p:cNvPr id="25" name="Rectangle 25"/>
            <p:cNvSpPr/>
            <p:nvPr/>
          </p:nvSpPr>
          <p:spPr>
            <a:xfrm>
              <a:off x="762000" y="4267200"/>
              <a:ext cx="3429000" cy="1866900"/>
            </a:xfrm>
            <a:prstGeom prst="roundRect">
              <a:avLst>
                <a:gd name="adj" fmla="val 6122"/>
              </a:avLst>
            </a:prstGeom>
            <a:solidFill>
              <a:schemeClr val="dk1"/>
            </a:solidFill>
            <a:ln>
              <a:noFill/>
            </a:ln>
          </p:spPr>
        </p:sp>
        <p:sp>
          <p:nvSpPr>
            <p:cNvPr id="26" name="TextBox 26"/>
            <p:cNvSpPr txBox="1"/>
            <p:nvPr/>
          </p:nvSpPr>
          <p:spPr>
            <a:xfrm>
              <a:off x="1023366" y="4553902"/>
              <a:ext cx="1210071"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SO WHAT NOW?</a:t>
              </a:r>
            </a:p>
          </p:txBody>
        </p:sp>
        <p:sp>
          <p:nvSpPr>
            <p:cNvPr id="27" name="TextBox 27"/>
            <p:cNvSpPr txBox="1"/>
            <p:nvPr/>
          </p:nvSpPr>
          <p:spPr>
            <a:xfrm>
              <a:off x="1020318" y="4870132"/>
              <a:ext cx="216961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Expressivity is not</a:t>
              </a:r>
            </a:p>
          </p:txBody>
        </p:sp>
        <p:sp>
          <p:nvSpPr>
            <p:cNvPr id="28" name="TextBox 28"/>
            <p:cNvSpPr txBox="1"/>
            <p:nvPr/>
          </p:nvSpPr>
          <p:spPr>
            <a:xfrm>
              <a:off x="1020318" y="5136832"/>
              <a:ext cx="141613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the answer.</a:t>
              </a:r>
            </a:p>
          </p:txBody>
        </p:sp>
        <p:sp>
          <p:nvSpPr>
            <p:cNvPr id="29" name="TextBox 29"/>
            <p:cNvSpPr txBox="1"/>
            <p:nvPr/>
          </p:nvSpPr>
          <p:spPr>
            <a:xfrm>
              <a:off x="1022985" y="5593556"/>
              <a:ext cx="2526560"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This finding motivates a different</a:t>
              </a:r>
            </a:p>
          </p:txBody>
        </p:sp>
        <p:sp>
          <p:nvSpPr>
            <p:cNvPr id="30" name="TextBox 30"/>
            <p:cNvSpPr txBox="1"/>
            <p:nvPr/>
          </p:nvSpPr>
          <p:spPr>
            <a:xfrm>
              <a:off x="1022985" y="5803106"/>
              <a:ext cx="246151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path to trustworthy confidence.</a:t>
              </a:r>
            </a:p>
          </p:txBody>
        </p:sp>
      </p:grpSp>
      <p:grpSp>
        <p:nvGrpSpPr>
          <p:cNvPr id="39" name="Group 39"/>
          <p:cNvGrpSpPr/>
          <p:nvPr/>
        </p:nvGrpSpPr>
        <p:grpSpPr>
          <a:xfrm>
            <a:off x="4381500" y="4267200"/>
            <a:ext cx="7048500" cy="1866900"/>
            <a:chOff x="4381500" y="4267200"/>
            <a:chExt cx="7048500" cy="1866900"/>
          </a:xfrm>
        </p:grpSpPr>
        <p:sp>
          <p:nvSpPr>
            <p:cNvPr id="32" name="Rectangle 32"/>
            <p:cNvSpPr/>
            <p:nvPr/>
          </p:nvSpPr>
          <p:spPr>
            <a:xfrm>
              <a:off x="4381500" y="4267200"/>
              <a:ext cx="7048500" cy="1866900"/>
            </a:xfrm>
            <a:prstGeom prst="roundRect">
              <a:avLst>
                <a:gd name="adj" fmla="val 6122"/>
              </a:avLst>
            </a:prstGeom>
            <a:solidFill>
              <a:srgbClr val="E1F3F0"/>
            </a:solidFill>
            <a:ln w="9525">
              <a:solidFill>
                <a:srgbClr val="B7E2DA"/>
              </a:solidFill>
            </a:ln>
          </p:spPr>
        </p:sp>
        <p:sp>
          <p:nvSpPr>
            <p:cNvPr id="33" name="Rectangle 33"/>
            <p:cNvSpPr/>
            <p:nvPr/>
          </p:nvSpPr>
          <p:spPr>
            <a:xfrm>
              <a:off x="4381500" y="4267200"/>
              <a:ext cx="57150" cy="1866900"/>
            </a:xfrm>
            <a:prstGeom prst="roundRect">
              <a:avLst>
                <a:gd name="adj" fmla="val 50000"/>
              </a:avLst>
            </a:prstGeom>
            <a:solidFill>
              <a:schemeClr val="accent2"/>
            </a:solidFill>
            <a:ln>
              <a:noFill/>
            </a:ln>
          </p:spPr>
        </p:sp>
        <p:sp>
          <p:nvSpPr>
            <p:cNvPr id="34" name="TextBox 34"/>
            <p:cNvSpPr txBox="1"/>
            <p:nvPr/>
          </p:nvSpPr>
          <p:spPr>
            <a:xfrm>
              <a:off x="4642866" y="4553902"/>
              <a:ext cx="2069485"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THE PROPOSED DIRECTION</a:t>
              </a:r>
            </a:p>
          </p:txBody>
        </p:sp>
        <p:sp>
          <p:nvSpPr>
            <p:cNvPr id="35" name="TextBox 35"/>
            <p:cNvSpPr txBox="1"/>
            <p:nvPr/>
          </p:nvSpPr>
          <p:spPr>
            <a:xfrm>
              <a:off x="4640199" y="4859179"/>
              <a:ext cx="403173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Model epistemic uncertainty directly</a:t>
              </a:r>
            </a:p>
          </p:txBody>
        </p:sp>
        <p:sp>
          <p:nvSpPr>
            <p:cNvPr id="36" name="TextBox 36"/>
            <p:cNvSpPr txBox="1"/>
            <p:nvPr/>
          </p:nvSpPr>
          <p:spPr>
            <a:xfrm>
              <a:off x="4642104" y="5261610"/>
              <a:ext cx="613996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Instead of chasing more expressive architectures, use epistemic uncertainty</a:t>
              </a:r>
            </a:p>
          </p:txBody>
        </p:sp>
        <p:sp>
          <p:nvSpPr>
            <p:cNvPr id="37" name="TextBox 37"/>
            <p:cNvSpPr txBox="1"/>
            <p:nvPr/>
          </p:nvSpPr>
          <p:spPr>
            <a:xfrm>
              <a:off x="4642104" y="5471160"/>
              <a:ext cx="646587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quantification to directly modulate the confidence indicators the model reports —</a:t>
              </a:r>
            </a:p>
          </p:txBody>
        </p:sp>
        <p:sp>
          <p:nvSpPr>
            <p:cNvPr id="38" name="TextBox 38"/>
            <p:cNvSpPr txBox="1"/>
            <p:nvPr/>
          </p:nvSpPr>
          <p:spPr>
            <a:xfrm>
              <a:off x="4642104" y="5680710"/>
              <a:ext cx="461619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 calibration improves without redesigning the backbone.</a:t>
              </a:r>
            </a:p>
          </p:txBody>
        </p:sp>
      </p:grpSp>
      <p:grpSp>
        <p:nvGrpSpPr>
          <p:cNvPr id="42" name="Group 42"/>
          <p:cNvGrpSpPr/>
          <p:nvPr/>
        </p:nvGrpSpPr>
        <p:grpSpPr>
          <a:xfrm>
            <a:off x="757238" y="6570345"/>
            <a:ext cx="10677524" cy="176212"/>
            <a:chOff x="757238" y="6570345"/>
            <a:chExt cx="10677524" cy="176212"/>
          </a:xfrm>
        </p:grpSpPr>
        <p:sp>
          <p:nvSpPr>
            <p:cNvPr id="40" name="TextBox 40"/>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1" name="TextBox 4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72421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04 · CONTRIBUTION</a:t>
              </a:r>
            </a:p>
          </p:txBody>
        </p:sp>
        <p:sp>
          <p:nvSpPr>
            <p:cNvPr id="4" name="TextBox 4"/>
            <p:cNvSpPr txBox="1"/>
            <p:nvPr/>
          </p:nvSpPr>
          <p:spPr>
            <a:xfrm>
              <a:off x="749046" y="867728"/>
              <a:ext cx="353322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Three contributions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742950"/>
            <a:chOff x="762000" y="1676400"/>
            <a:chExt cx="10668000" cy="742950"/>
          </a:xfrm>
        </p:grpSpPr>
        <p:sp>
          <p:nvSpPr>
            <p:cNvPr id="7" name="Rectangle 7"/>
            <p:cNvSpPr/>
            <p:nvPr/>
          </p:nvSpPr>
          <p:spPr>
            <a:xfrm>
              <a:off x="762000" y="1676400"/>
              <a:ext cx="10668000" cy="742950"/>
            </a:xfrm>
            <a:prstGeom prst="roundRect">
              <a:avLst>
                <a:gd name="adj" fmla="val 15385"/>
              </a:avLst>
            </a:prstGeom>
            <a:solidFill>
              <a:schemeClr val="accent6"/>
            </a:solidFill>
            <a:ln w="9525">
              <a:solidFill>
                <a:srgbClr val="C6D6FB"/>
              </a:solidFill>
            </a:ln>
          </p:spPr>
        </p:sp>
        <p:sp>
          <p:nvSpPr>
            <p:cNvPr id="8" name="Rectangle 8"/>
            <p:cNvSpPr/>
            <p:nvPr/>
          </p:nvSpPr>
          <p:spPr>
            <a:xfrm>
              <a:off x="762000" y="1676400"/>
              <a:ext cx="57150" cy="742950"/>
            </a:xfrm>
            <a:prstGeom prst="roundRect">
              <a:avLst>
                <a:gd name="adj" fmla="val 50000"/>
              </a:avLst>
            </a:prstGeom>
            <a:solidFill>
              <a:schemeClr val="accent1"/>
            </a:solidFill>
            <a:ln>
              <a:noFill/>
            </a:ln>
          </p:spPr>
        </p:sp>
        <p:sp>
          <p:nvSpPr>
            <p:cNvPr id="9" name="TextBox 9"/>
            <p:cNvSpPr txBox="1"/>
            <p:nvPr/>
          </p:nvSpPr>
          <p:spPr>
            <a:xfrm>
              <a:off x="1059561" y="1846421"/>
              <a:ext cx="478845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One diagnosis, one method, one broad evaluation</a:t>
              </a:r>
            </a:p>
          </p:txBody>
        </p:sp>
        <p:sp>
          <p:nvSpPr>
            <p:cNvPr id="10" name="TextBox 10"/>
            <p:cNvSpPr txBox="1"/>
            <p:nvPr/>
          </p:nvSpPr>
          <p:spPr>
            <a:xfrm>
              <a:off x="1060704" y="2137410"/>
              <a:ext cx="877344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paper contributes a case study, a new single-model uncertainty method, and an extensive empirical study.</a:t>
              </a:r>
            </a:p>
          </p:txBody>
        </p:sp>
      </p:grpSp>
      <p:grpSp>
        <p:nvGrpSpPr>
          <p:cNvPr id="24" name="Group 24"/>
          <p:cNvGrpSpPr/>
          <p:nvPr/>
        </p:nvGrpSpPr>
        <p:grpSpPr>
          <a:xfrm>
            <a:off x="762000" y="2609850"/>
            <a:ext cx="3429000" cy="3524250"/>
            <a:chOff x="762000" y="2609850"/>
            <a:chExt cx="3429000" cy="3524250"/>
          </a:xfrm>
        </p:grpSpPr>
        <p:sp>
          <p:nvSpPr>
            <p:cNvPr id="12" name="Rectangle 12"/>
            <p:cNvSpPr/>
            <p:nvPr/>
          </p:nvSpPr>
          <p:spPr>
            <a:xfrm>
              <a:off x="762000" y="2609850"/>
              <a:ext cx="3429000" cy="3524250"/>
            </a:xfrm>
            <a:prstGeom prst="roundRect">
              <a:avLst>
                <a:gd name="adj" fmla="val 3333"/>
              </a:avLst>
            </a:prstGeom>
            <a:solidFill>
              <a:schemeClr val="accent5"/>
            </a:solidFill>
            <a:ln w="9525">
              <a:solidFill>
                <a:schemeClr val="accent4"/>
              </a:solidFill>
            </a:ln>
          </p:spPr>
        </p:sp>
        <p:sp>
          <p:nvSpPr>
            <p:cNvPr id="13" name="Rectangle 13"/>
            <p:cNvSpPr/>
            <p:nvPr/>
          </p:nvSpPr>
          <p:spPr>
            <a:xfrm>
              <a:off x="762000" y="2609850"/>
              <a:ext cx="57150" cy="3524250"/>
            </a:xfrm>
            <a:prstGeom prst="roundRect">
              <a:avLst>
                <a:gd name="adj" fmla="val 50000"/>
              </a:avLst>
            </a:prstGeom>
            <a:solidFill>
              <a:schemeClr val="accent3"/>
            </a:solidFill>
            <a:ln>
              <a:noFill/>
            </a:ln>
          </p:spPr>
        </p:sp>
        <p:sp>
          <p:nvSpPr>
            <p:cNvPr id="14" name="TextBox 14"/>
            <p:cNvSpPr txBox="1"/>
            <p:nvPr/>
          </p:nvSpPr>
          <p:spPr>
            <a:xfrm>
              <a:off x="1049274" y="2770822"/>
              <a:ext cx="571479" cy="674751"/>
            </a:xfrm>
            <a:prstGeom prst="rect">
              <a:avLst/>
            </a:prstGeom>
            <a:noFill/>
            <a:ln>
              <a:noFill/>
            </a:ln>
          </p:spPr>
          <p:txBody>
            <a:bodyPr wrap="none" lIns="0" tIns="0" rIns="0" bIns="0" anchor="t" anchorCtr="0">
              <a:spAutoFit/>
            </a:bodyPr>
            <a:lstStyle/>
            <a:p>
              <a:pPr algn="l"/>
              <a:r>
                <a:rPr lang="en-US" sz="3450" b="1" dirty="0">
                  <a:solidFill>
                    <a:srgbClr val="F2A488"/>
                  </a:solidFill>
                  <a:latin typeface="+mn-lt"/>
                  <a:ea typeface="+mn-ea"/>
                  <a:cs typeface="+mn-cs"/>
                </a:rPr>
                <a:t>01</a:t>
              </a:r>
            </a:p>
          </p:txBody>
        </p:sp>
        <p:sp>
          <p:nvSpPr>
            <p:cNvPr id="15" name="TextBox 15"/>
            <p:cNvSpPr txBox="1"/>
            <p:nvPr/>
          </p:nvSpPr>
          <p:spPr>
            <a:xfrm>
              <a:off x="1059180" y="3381375"/>
              <a:ext cx="108204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rigorous</a:t>
              </a:r>
            </a:p>
          </p:txBody>
        </p:sp>
        <p:sp>
          <p:nvSpPr>
            <p:cNvPr id="16" name="TextBox 16"/>
            <p:cNvSpPr txBox="1"/>
            <p:nvPr/>
          </p:nvSpPr>
          <p:spPr>
            <a:xfrm>
              <a:off x="1059180" y="3629025"/>
              <a:ext cx="11283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case study</a:t>
              </a:r>
            </a:p>
          </p:txBody>
        </p:sp>
        <p:sp>
          <p:nvSpPr>
            <p:cNvPr id="17" name="TextBox 17"/>
            <p:cNvSpPr txBox="1"/>
            <p:nvPr/>
          </p:nvSpPr>
          <p:spPr>
            <a:xfrm>
              <a:off x="1061085" y="4069556"/>
              <a:ext cx="18935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Shows that improving GNN</a:t>
              </a:r>
            </a:p>
          </p:txBody>
        </p:sp>
        <p:sp>
          <p:nvSpPr>
            <p:cNvPr id="18" name="TextBox 18"/>
            <p:cNvSpPr txBox="1"/>
            <p:nvPr/>
          </p:nvSpPr>
          <p:spPr>
            <a:xfrm>
              <a:off x="1061085" y="4279106"/>
              <a:ext cx="22655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expressivity does not mitigate</a:t>
              </a:r>
            </a:p>
          </p:txBody>
        </p:sp>
        <p:sp>
          <p:nvSpPr>
            <p:cNvPr id="19" name="TextBox 19"/>
            <p:cNvSpPr txBox="1"/>
            <p:nvPr/>
          </p:nvSpPr>
          <p:spPr>
            <a:xfrm>
              <a:off x="1061085" y="4488656"/>
              <a:ext cx="16473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poor calibration under</a:t>
              </a:r>
            </a:p>
          </p:txBody>
        </p:sp>
        <p:sp>
          <p:nvSpPr>
            <p:cNvPr id="20" name="TextBox 20"/>
            <p:cNvSpPr txBox="1"/>
            <p:nvPr/>
          </p:nvSpPr>
          <p:spPr>
            <a:xfrm>
              <a:off x="1061085" y="4698206"/>
              <a:ext cx="13985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distribution shift.</a:t>
              </a:r>
            </a:p>
          </p:txBody>
        </p:sp>
        <p:sp>
          <p:nvSpPr>
            <p:cNvPr id="21" name="TextBox 21"/>
            <p:cNvSpPr txBox="1"/>
            <p:nvPr/>
          </p:nvSpPr>
          <p:spPr>
            <a:xfrm>
              <a:off x="1061085" y="5098256"/>
              <a:ext cx="18858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Transformers, positional</a:t>
              </a:r>
            </a:p>
          </p:txBody>
        </p:sp>
        <p:sp>
          <p:nvSpPr>
            <p:cNvPr id="22" name="TextBox 22"/>
            <p:cNvSpPr txBox="1"/>
            <p:nvPr/>
          </p:nvSpPr>
          <p:spPr>
            <a:xfrm>
              <a:off x="1061085" y="5307806"/>
              <a:ext cx="2054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encodings and larger models</a:t>
              </a:r>
            </a:p>
          </p:txBody>
        </p:sp>
        <p:sp>
          <p:nvSpPr>
            <p:cNvPr id="23" name="TextBox 23"/>
            <p:cNvSpPr txBox="1"/>
            <p:nvPr/>
          </p:nvSpPr>
          <p:spPr>
            <a:xfrm>
              <a:off x="1061085" y="5517356"/>
              <a:ext cx="19111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all leave calibration poor.</a:t>
              </a:r>
            </a:p>
          </p:txBody>
        </p:sp>
      </p:grpSp>
      <p:grpSp>
        <p:nvGrpSpPr>
          <p:cNvPr id="37" name="Group 37"/>
          <p:cNvGrpSpPr/>
          <p:nvPr/>
        </p:nvGrpSpPr>
        <p:grpSpPr>
          <a:xfrm>
            <a:off x="4381500" y="2609850"/>
            <a:ext cx="3429000" cy="3524250"/>
            <a:chOff x="4381500" y="2609850"/>
            <a:chExt cx="3429000" cy="3524250"/>
          </a:xfrm>
        </p:grpSpPr>
        <p:sp>
          <p:nvSpPr>
            <p:cNvPr id="25" name="Rectangle 25"/>
            <p:cNvSpPr/>
            <p:nvPr/>
          </p:nvSpPr>
          <p:spPr>
            <a:xfrm>
              <a:off x="4381500" y="2609850"/>
              <a:ext cx="3429000" cy="3524250"/>
            </a:xfrm>
            <a:prstGeom prst="roundRect">
              <a:avLst>
                <a:gd name="adj" fmla="val 3333"/>
              </a:avLst>
            </a:prstGeom>
            <a:solidFill>
              <a:srgbClr val="E1F3F0"/>
            </a:solidFill>
            <a:ln w="9525">
              <a:solidFill>
                <a:srgbClr val="B7E2DA"/>
              </a:solidFill>
            </a:ln>
          </p:spPr>
        </p:sp>
        <p:sp>
          <p:nvSpPr>
            <p:cNvPr id="26" name="Rectangle 26"/>
            <p:cNvSpPr/>
            <p:nvPr/>
          </p:nvSpPr>
          <p:spPr>
            <a:xfrm>
              <a:off x="4381500" y="2609850"/>
              <a:ext cx="57150" cy="3524250"/>
            </a:xfrm>
            <a:prstGeom prst="roundRect">
              <a:avLst>
                <a:gd name="adj" fmla="val 50000"/>
              </a:avLst>
            </a:prstGeom>
            <a:solidFill>
              <a:schemeClr val="accent2"/>
            </a:solidFill>
            <a:ln>
              <a:noFill/>
            </a:ln>
          </p:spPr>
        </p:sp>
        <p:sp>
          <p:nvSpPr>
            <p:cNvPr id="27" name="TextBox 27"/>
            <p:cNvSpPr txBox="1"/>
            <p:nvPr/>
          </p:nvSpPr>
          <p:spPr>
            <a:xfrm>
              <a:off x="4668774" y="2770822"/>
              <a:ext cx="571479" cy="674751"/>
            </a:xfrm>
            <a:prstGeom prst="rect">
              <a:avLst/>
            </a:prstGeom>
            <a:noFill/>
            <a:ln>
              <a:noFill/>
            </a:ln>
          </p:spPr>
          <p:txBody>
            <a:bodyPr wrap="none" lIns="0" tIns="0" rIns="0" bIns="0" anchor="t" anchorCtr="0">
              <a:spAutoFit/>
            </a:bodyPr>
            <a:lstStyle/>
            <a:p>
              <a:pPr algn="l"/>
              <a:r>
                <a:rPr lang="en-US" sz="3450" b="1" dirty="0">
                  <a:solidFill>
                    <a:srgbClr val="7FCFC1"/>
                  </a:solidFill>
                  <a:latin typeface="+mn-lt"/>
                  <a:ea typeface="+mn-ea"/>
                  <a:cs typeface="+mn-cs"/>
                </a:rPr>
                <a:t>02</a:t>
              </a:r>
            </a:p>
          </p:txBody>
        </p:sp>
        <p:sp>
          <p:nvSpPr>
            <p:cNvPr id="28" name="TextBox 28"/>
            <p:cNvSpPr txBox="1"/>
            <p:nvPr/>
          </p:nvSpPr>
          <p:spPr>
            <a:xfrm>
              <a:off x="4678680" y="3381375"/>
              <a:ext cx="143241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G-ΔUQ, a new</a:t>
              </a:r>
            </a:p>
          </p:txBody>
        </p:sp>
        <p:sp>
          <p:nvSpPr>
            <p:cNvPr id="29" name="TextBox 29"/>
            <p:cNvSpPr txBox="1"/>
            <p:nvPr/>
          </p:nvSpPr>
          <p:spPr>
            <a:xfrm>
              <a:off x="4678680" y="3629025"/>
              <a:ext cx="210370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single-model method</a:t>
              </a:r>
            </a:p>
          </p:txBody>
        </p:sp>
        <p:sp>
          <p:nvSpPr>
            <p:cNvPr id="30" name="TextBox 30"/>
            <p:cNvSpPr txBox="1"/>
            <p:nvPr/>
          </p:nvSpPr>
          <p:spPr>
            <a:xfrm>
              <a:off x="4680585" y="4069556"/>
              <a:ext cx="248140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Extends the stochastic centering</a:t>
              </a:r>
            </a:p>
          </p:txBody>
        </p:sp>
        <p:sp>
          <p:nvSpPr>
            <p:cNvPr id="31" name="TextBox 31"/>
            <p:cNvSpPr txBox="1"/>
            <p:nvPr/>
          </p:nvSpPr>
          <p:spPr>
            <a:xfrm>
              <a:off x="4680585" y="427910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framework to structured graph</a:t>
              </a:r>
            </a:p>
          </p:txBody>
        </p:sp>
        <p:sp>
          <p:nvSpPr>
            <p:cNvPr id="32" name="TextBox 32"/>
            <p:cNvSpPr txBox="1"/>
            <p:nvPr/>
          </p:nvSpPr>
          <p:spPr>
            <a:xfrm>
              <a:off x="4680585" y="4488656"/>
              <a:ext cx="4260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a:t>
              </a:r>
            </a:p>
          </p:txBody>
        </p:sp>
        <p:sp>
          <p:nvSpPr>
            <p:cNvPr id="33" name="TextBox 33"/>
            <p:cNvSpPr txBox="1"/>
            <p:nvPr/>
          </p:nvSpPr>
          <p:spPr>
            <a:xfrm>
              <a:off x="4680585" y="4888706"/>
              <a:ext cx="19912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Crucially, supports partial</a:t>
              </a:r>
            </a:p>
          </p:txBody>
        </p:sp>
        <p:sp>
          <p:nvSpPr>
            <p:cNvPr id="34" name="TextBox 34"/>
            <p:cNvSpPr txBox="1"/>
            <p:nvPr/>
          </p:nvSpPr>
          <p:spPr>
            <a:xfrm>
              <a:off x="4680585" y="509825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stochasticity — only part of the</a:t>
              </a:r>
            </a:p>
          </p:txBody>
        </p:sp>
        <p:sp>
          <p:nvSpPr>
            <p:cNvPr id="35" name="TextBox 35"/>
            <p:cNvSpPr txBox="1"/>
            <p:nvPr/>
          </p:nvSpPr>
          <p:spPr>
            <a:xfrm>
              <a:off x="4680585" y="5307806"/>
              <a:ext cx="25067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 is made stochastic, so it</a:t>
              </a:r>
            </a:p>
          </p:txBody>
        </p:sp>
        <p:sp>
          <p:nvSpPr>
            <p:cNvPr id="36" name="TextBox 36"/>
            <p:cNvSpPr txBox="1"/>
            <p:nvPr/>
          </p:nvSpPr>
          <p:spPr>
            <a:xfrm>
              <a:off x="4680585" y="5517356"/>
              <a:ext cx="1896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stays cheap and scalable.</a:t>
              </a:r>
            </a:p>
          </p:txBody>
        </p:sp>
      </p:grpSp>
      <p:grpSp>
        <p:nvGrpSpPr>
          <p:cNvPr id="49" name="Group 49"/>
          <p:cNvGrpSpPr/>
          <p:nvPr/>
        </p:nvGrpSpPr>
        <p:grpSpPr>
          <a:xfrm>
            <a:off x="8001000" y="2609850"/>
            <a:ext cx="3429000" cy="3524250"/>
            <a:chOff x="8001000" y="2609850"/>
            <a:chExt cx="3429000" cy="3524250"/>
          </a:xfrm>
        </p:grpSpPr>
        <p:sp>
          <p:nvSpPr>
            <p:cNvPr id="38" name="Rectangle 38"/>
            <p:cNvSpPr/>
            <p:nvPr/>
          </p:nvSpPr>
          <p:spPr>
            <a:xfrm>
              <a:off x="8001000" y="2609850"/>
              <a:ext cx="3429000" cy="3524250"/>
            </a:xfrm>
            <a:prstGeom prst="roundRect">
              <a:avLst>
                <a:gd name="adj" fmla="val 3333"/>
              </a:avLst>
            </a:prstGeom>
            <a:solidFill>
              <a:schemeClr val="accent5"/>
            </a:solidFill>
            <a:ln w="9525">
              <a:solidFill>
                <a:schemeClr val="accent4"/>
              </a:solidFill>
            </a:ln>
          </p:spPr>
        </p:sp>
        <p:sp>
          <p:nvSpPr>
            <p:cNvPr id="39" name="Rectangle 39"/>
            <p:cNvSpPr/>
            <p:nvPr/>
          </p:nvSpPr>
          <p:spPr>
            <a:xfrm>
              <a:off x="8001000" y="2609850"/>
              <a:ext cx="57150" cy="3524250"/>
            </a:xfrm>
            <a:prstGeom prst="roundRect">
              <a:avLst>
                <a:gd name="adj" fmla="val 50000"/>
              </a:avLst>
            </a:prstGeom>
            <a:solidFill>
              <a:schemeClr val="accent1"/>
            </a:solidFill>
            <a:ln>
              <a:noFill/>
            </a:ln>
          </p:spPr>
        </p:sp>
        <p:sp>
          <p:nvSpPr>
            <p:cNvPr id="40" name="TextBox 40"/>
            <p:cNvSpPr txBox="1"/>
            <p:nvPr/>
          </p:nvSpPr>
          <p:spPr>
            <a:xfrm>
              <a:off x="8288274" y="2770822"/>
              <a:ext cx="571479" cy="674751"/>
            </a:xfrm>
            <a:prstGeom prst="rect">
              <a:avLst/>
            </a:prstGeom>
            <a:noFill/>
            <a:ln>
              <a:noFill/>
            </a:ln>
          </p:spPr>
          <p:txBody>
            <a:bodyPr wrap="none" lIns="0" tIns="0" rIns="0" bIns="0" anchor="t" anchorCtr="0">
              <a:spAutoFit/>
            </a:bodyPr>
            <a:lstStyle/>
            <a:p>
              <a:pPr algn="l"/>
              <a:r>
                <a:rPr lang="en-US" sz="3450" b="1" dirty="0">
                  <a:solidFill>
                    <a:srgbClr val="7CA0EC"/>
                  </a:solidFill>
                  <a:latin typeface="+mn-lt"/>
                  <a:ea typeface="+mn-ea"/>
                  <a:cs typeface="+mn-cs"/>
                </a:rPr>
                <a:t>03</a:t>
              </a:r>
            </a:p>
          </p:txBody>
        </p:sp>
        <p:sp>
          <p:nvSpPr>
            <p:cNvPr id="41" name="TextBox 41"/>
            <p:cNvSpPr txBox="1"/>
            <p:nvPr/>
          </p:nvSpPr>
          <p:spPr>
            <a:xfrm>
              <a:off x="8298180" y="3381375"/>
              <a:ext cx="131525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An extensive</a:t>
              </a:r>
            </a:p>
          </p:txBody>
        </p:sp>
        <p:sp>
          <p:nvSpPr>
            <p:cNvPr id="42" name="TextBox 42"/>
            <p:cNvSpPr txBox="1"/>
            <p:nvPr/>
          </p:nvSpPr>
          <p:spPr>
            <a:xfrm>
              <a:off x="8298180" y="3629025"/>
              <a:ext cx="159483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empirical study</a:t>
              </a:r>
            </a:p>
          </p:txBody>
        </p:sp>
        <p:sp>
          <p:nvSpPr>
            <p:cNvPr id="43" name="TextBox 43"/>
            <p:cNvSpPr txBox="1"/>
            <p:nvPr/>
          </p:nvSpPr>
          <p:spPr>
            <a:xfrm>
              <a:off x="8300085" y="4069556"/>
              <a:ext cx="20670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Spanning three shift types:</a:t>
              </a:r>
            </a:p>
          </p:txBody>
        </p:sp>
        <p:sp>
          <p:nvSpPr>
            <p:cNvPr id="44" name="TextBox 44"/>
            <p:cNvSpPr txBox="1"/>
            <p:nvPr/>
          </p:nvSpPr>
          <p:spPr>
            <a:xfrm>
              <a:off x="8414385" y="4336256"/>
              <a:ext cx="2062246"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covariate · concept · size</a:t>
              </a:r>
            </a:p>
          </p:txBody>
        </p:sp>
        <p:sp>
          <p:nvSpPr>
            <p:cNvPr id="45" name="TextBox 45"/>
            <p:cNvSpPr txBox="1"/>
            <p:nvPr/>
          </p:nvSpPr>
          <p:spPr>
            <a:xfrm>
              <a:off x="8300085" y="4736306"/>
              <a:ext cx="26927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Across three safety-critical tasks:</a:t>
              </a:r>
            </a:p>
          </p:txBody>
        </p:sp>
        <p:sp>
          <p:nvSpPr>
            <p:cNvPr id="46" name="TextBox 46"/>
            <p:cNvSpPr txBox="1"/>
            <p:nvPr/>
          </p:nvSpPr>
          <p:spPr>
            <a:xfrm>
              <a:off x="8414385" y="5003006"/>
              <a:ext cx="93143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calibration</a:t>
              </a:r>
            </a:p>
          </p:txBody>
        </p:sp>
        <p:sp>
          <p:nvSpPr>
            <p:cNvPr id="47" name="TextBox 47"/>
            <p:cNvSpPr txBox="1"/>
            <p:nvPr/>
          </p:nvSpPr>
          <p:spPr>
            <a:xfrm>
              <a:off x="8414385" y="5269706"/>
              <a:ext cx="2311024"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generalization-gap prediction</a:t>
              </a:r>
            </a:p>
          </p:txBody>
        </p:sp>
        <p:sp>
          <p:nvSpPr>
            <p:cNvPr id="48" name="TextBox 48"/>
            <p:cNvSpPr txBox="1"/>
            <p:nvPr/>
          </p:nvSpPr>
          <p:spPr>
            <a:xfrm>
              <a:off x="8414385" y="5536406"/>
              <a:ext cx="234871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out-of-distribution detection</a:t>
              </a:r>
            </a:p>
          </p:txBody>
        </p:sp>
      </p:grpSp>
      <p:grpSp>
        <p:nvGrpSpPr>
          <p:cNvPr id="52" name="Group 52"/>
          <p:cNvGrpSpPr/>
          <p:nvPr/>
        </p:nvGrpSpPr>
        <p:grpSpPr>
          <a:xfrm>
            <a:off x="757238" y="6570345"/>
            <a:ext cx="10677524" cy="176212"/>
            <a:chOff x="757238" y="6570345"/>
            <a:chExt cx="10677524" cy="176212"/>
          </a:xfrm>
        </p:grpSpPr>
        <p:sp>
          <p:nvSpPr>
            <p:cNvPr id="50" name="TextBox 50"/>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51" name="TextBox 5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15710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05 · METHOD</a:t>
              </a:r>
            </a:p>
          </p:txBody>
        </p:sp>
        <p:sp>
          <p:nvSpPr>
            <p:cNvPr id="4" name="TextBox 4"/>
            <p:cNvSpPr txBox="1"/>
            <p:nvPr/>
          </p:nvSpPr>
          <p:spPr>
            <a:xfrm>
              <a:off x="749046" y="867728"/>
              <a:ext cx="722875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Stochastic anchoring, adapted to graphs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4" name="Group 14"/>
          <p:cNvGrpSpPr/>
          <p:nvPr/>
        </p:nvGrpSpPr>
        <p:grpSpPr>
          <a:xfrm>
            <a:off x="762000" y="1676400"/>
            <a:ext cx="5334000" cy="1428750"/>
            <a:chOff x="762000" y="1676400"/>
            <a:chExt cx="5334000" cy="1428750"/>
          </a:xfrm>
        </p:grpSpPr>
        <p:sp>
          <p:nvSpPr>
            <p:cNvPr id="7" name="Rectangle 7"/>
            <p:cNvSpPr/>
            <p:nvPr/>
          </p:nvSpPr>
          <p:spPr>
            <a:xfrm>
              <a:off x="762000" y="1676400"/>
              <a:ext cx="5334000" cy="1428750"/>
            </a:xfrm>
            <a:prstGeom prst="roundRect">
              <a:avLst>
                <a:gd name="adj" fmla="val 8000"/>
              </a:avLst>
            </a:prstGeom>
            <a:solidFill>
              <a:schemeClr val="accent5"/>
            </a:solidFill>
            <a:ln w="9525">
              <a:solidFill>
                <a:schemeClr val="accent4"/>
              </a:solidFill>
            </a:ln>
          </p:spPr>
        </p:sp>
        <p:sp>
          <p:nvSpPr>
            <p:cNvPr id="8" name="Rectangle 8"/>
            <p:cNvSpPr/>
            <p:nvPr/>
          </p:nvSpPr>
          <p:spPr>
            <a:xfrm>
              <a:off x="762000" y="1676400"/>
              <a:ext cx="57150" cy="1428750"/>
            </a:xfrm>
            <a:prstGeom prst="roundRect">
              <a:avLst>
                <a:gd name="adj" fmla="val 50000"/>
              </a:avLst>
            </a:prstGeom>
            <a:solidFill>
              <a:schemeClr val="accent1"/>
            </a:solidFill>
            <a:ln>
              <a:noFill/>
            </a:ln>
          </p:spPr>
        </p:sp>
        <p:sp>
          <p:nvSpPr>
            <p:cNvPr id="9" name="TextBox 9"/>
            <p:cNvSpPr txBox="1"/>
            <p:nvPr/>
          </p:nvSpPr>
          <p:spPr>
            <a:xfrm>
              <a:off x="1021842" y="1835468"/>
              <a:ext cx="188177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1 · Anchor the input</a:t>
              </a:r>
            </a:p>
          </p:txBody>
        </p:sp>
        <p:sp>
          <p:nvSpPr>
            <p:cNvPr id="10" name="TextBox 10"/>
            <p:cNvSpPr txBox="1"/>
            <p:nvPr/>
          </p:nvSpPr>
          <p:spPr>
            <a:xfrm>
              <a:off x="1022985" y="2145506"/>
              <a:ext cx="37708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Pick a random anchor, subtract it and concatenate</a:t>
              </a:r>
            </a:p>
          </p:txBody>
        </p:sp>
        <p:sp>
          <p:nvSpPr>
            <p:cNvPr id="11" name="TextBox 11"/>
            <p:cNvSpPr txBox="1"/>
            <p:nvPr/>
          </p:nvSpPr>
          <p:spPr>
            <a:xfrm>
              <a:off x="1022985" y="2355056"/>
              <a:ext cx="37204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channel-wise to form a relative "anchored input":</a:t>
              </a:r>
            </a:p>
          </p:txBody>
        </p:sp>
        <p:sp>
          <p:nvSpPr>
            <p:cNvPr id="12" name="Rectangle 12"/>
            <p:cNvSpPr/>
            <p:nvPr/>
          </p:nvSpPr>
          <p:spPr>
            <a:xfrm>
              <a:off x="1028700" y="2628900"/>
              <a:ext cx="4800600" cy="323850"/>
            </a:xfrm>
            <a:prstGeom prst="roundRect">
              <a:avLst>
                <a:gd name="adj" fmla="val 17647"/>
              </a:avLst>
            </a:prstGeom>
            <a:solidFill>
              <a:srgbClr val="EEF1F7"/>
            </a:solidFill>
            <a:ln>
              <a:noFill/>
            </a:ln>
          </p:spPr>
        </p:sp>
        <p:sp>
          <p:nvSpPr>
            <p:cNvPr id="13" name="TextBox 13"/>
            <p:cNvSpPr txBox="1"/>
            <p:nvPr/>
          </p:nvSpPr>
          <p:spPr>
            <a:xfrm>
              <a:off x="1156335" y="2726531"/>
              <a:ext cx="356216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anchored(x) = [ x − c , c ] with random anchor c</a:t>
              </a:r>
            </a:p>
          </p:txBody>
        </p:sp>
      </p:grpSp>
      <p:grpSp>
        <p:nvGrpSpPr>
          <p:cNvPr id="22" name="Group 22"/>
          <p:cNvGrpSpPr/>
          <p:nvPr/>
        </p:nvGrpSpPr>
        <p:grpSpPr>
          <a:xfrm>
            <a:off x="6286500" y="1676400"/>
            <a:ext cx="5143500" cy="1428750"/>
            <a:chOff x="6286500" y="1676400"/>
            <a:chExt cx="5143500" cy="1428750"/>
          </a:xfrm>
        </p:grpSpPr>
        <p:sp>
          <p:nvSpPr>
            <p:cNvPr id="15" name="Rectangle 15"/>
            <p:cNvSpPr/>
            <p:nvPr/>
          </p:nvSpPr>
          <p:spPr>
            <a:xfrm>
              <a:off x="6286500" y="1676400"/>
              <a:ext cx="5143500" cy="1428750"/>
            </a:xfrm>
            <a:prstGeom prst="roundRect">
              <a:avLst>
                <a:gd name="adj" fmla="val 8000"/>
              </a:avLst>
            </a:prstGeom>
            <a:solidFill>
              <a:srgbClr val="E1F3F0"/>
            </a:solidFill>
            <a:ln w="9525">
              <a:solidFill>
                <a:srgbClr val="B7E2DA"/>
              </a:solidFill>
            </a:ln>
          </p:spPr>
        </p:sp>
        <p:sp>
          <p:nvSpPr>
            <p:cNvPr id="16" name="Rectangle 16"/>
            <p:cNvSpPr/>
            <p:nvPr/>
          </p:nvSpPr>
          <p:spPr>
            <a:xfrm>
              <a:off x="6286500" y="1676400"/>
              <a:ext cx="57150" cy="1428750"/>
            </a:xfrm>
            <a:prstGeom prst="roundRect">
              <a:avLst>
                <a:gd name="adj" fmla="val 50000"/>
              </a:avLst>
            </a:prstGeom>
            <a:solidFill>
              <a:schemeClr val="accent2"/>
            </a:solidFill>
            <a:ln>
              <a:noFill/>
            </a:ln>
          </p:spPr>
        </p:sp>
        <p:sp>
          <p:nvSpPr>
            <p:cNvPr id="17" name="TextBox 17"/>
            <p:cNvSpPr txBox="1"/>
            <p:nvPr/>
          </p:nvSpPr>
          <p:spPr>
            <a:xfrm>
              <a:off x="6546342" y="1835468"/>
              <a:ext cx="288343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2 · Vary anchors → uncertainty</a:t>
              </a:r>
            </a:p>
          </p:txBody>
        </p:sp>
        <p:sp>
          <p:nvSpPr>
            <p:cNvPr id="18" name="TextBox 18"/>
            <p:cNvSpPr txBox="1"/>
            <p:nvPr/>
          </p:nvSpPr>
          <p:spPr>
            <a:xfrm>
              <a:off x="6547485" y="2145506"/>
              <a:ext cx="35217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Changing the anchor across iterations emulates</a:t>
              </a:r>
            </a:p>
          </p:txBody>
        </p:sp>
        <p:sp>
          <p:nvSpPr>
            <p:cNvPr id="19" name="TextBox 19"/>
            <p:cNvSpPr txBox="1"/>
            <p:nvPr/>
          </p:nvSpPr>
          <p:spPr>
            <a:xfrm>
              <a:off x="6547485" y="2355056"/>
              <a:ext cx="32606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sampling from a distribution of hypotheses.</a:t>
              </a:r>
            </a:p>
          </p:txBody>
        </p:sp>
        <p:sp>
          <p:nvSpPr>
            <p:cNvPr id="20" name="TextBox 20"/>
            <p:cNvSpPr txBox="1"/>
            <p:nvPr/>
          </p:nvSpPr>
          <p:spPr>
            <a:xfrm>
              <a:off x="6547485" y="2640806"/>
              <a:ext cx="34389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variance of predictions over many anchors</a:t>
              </a:r>
            </a:p>
          </p:txBody>
        </p:sp>
        <p:sp>
          <p:nvSpPr>
            <p:cNvPr id="21" name="TextBox 21"/>
            <p:cNvSpPr txBox="1"/>
            <p:nvPr/>
          </p:nvSpPr>
          <p:spPr>
            <a:xfrm>
              <a:off x="6547485" y="2850356"/>
              <a:ext cx="3027295"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is the epistemic uncertainty estimate.</a:t>
              </a:r>
            </a:p>
          </p:txBody>
        </p:sp>
      </p:grpSp>
      <p:grpSp>
        <p:nvGrpSpPr>
          <p:cNvPr id="29" name="Group 29"/>
          <p:cNvGrpSpPr/>
          <p:nvPr/>
        </p:nvGrpSpPr>
        <p:grpSpPr>
          <a:xfrm>
            <a:off x="762000" y="3257550"/>
            <a:ext cx="7706518" cy="2879884"/>
            <a:chOff x="762000" y="3257550"/>
            <a:chExt cx="7706518" cy="2879884"/>
          </a:xfrm>
        </p:grpSpPr>
        <p:sp>
          <p:nvSpPr>
            <p:cNvPr id="23" name="Rectangle 23"/>
            <p:cNvSpPr/>
            <p:nvPr/>
          </p:nvSpPr>
          <p:spPr>
            <a:xfrm>
              <a:off x="762000" y="3257550"/>
              <a:ext cx="6953250" cy="2876550"/>
            </a:xfrm>
            <a:prstGeom prst="roundRect">
              <a:avLst>
                <a:gd name="adj" fmla="val 3974"/>
              </a:avLst>
            </a:prstGeom>
            <a:solidFill>
              <a:schemeClr val="accent5"/>
            </a:solidFill>
            <a:ln w="9525">
              <a:solidFill>
                <a:schemeClr val="accent4"/>
              </a:solidFill>
            </a:ln>
          </p:spPr>
        </p:sp>
        <p:sp>
          <p:nvSpPr>
            <p:cNvPr id="24" name="TextBox 24"/>
            <p:cNvSpPr txBox="1"/>
            <p:nvPr/>
          </p:nvSpPr>
          <p:spPr>
            <a:xfrm>
              <a:off x="1023366" y="3449002"/>
              <a:ext cx="744515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THREE ANCHORING VARIANTS (Figure 2) — anchor in feature / hidden space, never adjacency</a:t>
              </a:r>
            </a:p>
          </p:txBody>
        </p:sp>
        <p:sp>
          <p:nvSpPr>
            <p:cNvPr id="25" name="Rectangle 25"/>
            <p:cNvSpPr/>
            <p:nvPr/>
          </p:nvSpPr>
          <p:spPr>
            <a:xfrm>
              <a:off x="1009650" y="3695700"/>
              <a:ext cx="6477000" cy="1905000"/>
            </a:xfrm>
            <a:prstGeom prst="roundRect">
              <a:avLst>
                <a:gd name="adj" fmla="val 4000"/>
              </a:avLst>
            </a:prstGeom>
            <a:solidFill>
              <a:schemeClr val="lt1"/>
            </a:solidFill>
            <a:ln w="9525">
              <a:solidFill>
                <a:schemeClr val="accent4"/>
              </a:solidFill>
            </a:ln>
          </p:spPr>
        </p:sp>
        <p:pic>
          <p:nvPicPr>
            <p:cNvPr id="26" name="Image 26"/>
            <p:cNvPicPr>
              <a:picLocks noChangeAspect="1"/>
            </p:cNvPicPr>
            <p:nvPr/>
          </p:nvPicPr>
          <p:blipFill>
            <a:blip r:embed="rId2"/>
            <a:stretch>
              <a:fillRect/>
            </a:stretch>
          </p:blipFill>
          <p:spPr>
            <a:xfrm>
              <a:off x="1683458" y="3752850"/>
              <a:ext cx="5129385" cy="1790700"/>
            </a:xfrm>
            <a:prstGeom prst="rect">
              <a:avLst/>
            </a:prstGeom>
          </p:spPr>
        </p:pic>
        <p:sp>
          <p:nvSpPr>
            <p:cNvPr id="27" name="TextBox 27"/>
            <p:cNvSpPr txBox="1"/>
            <p:nvPr/>
          </p:nvSpPr>
          <p:spPr>
            <a:xfrm>
              <a:off x="1022985" y="5726906"/>
              <a:ext cx="67788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Anchoring adjacency would add fake edges, so anchor at the node features, an intermediate</a:t>
              </a:r>
            </a:p>
          </p:txBody>
        </p:sp>
        <p:sp>
          <p:nvSpPr>
            <p:cNvPr id="28" name="TextBox 28"/>
            <p:cNvSpPr txBox="1"/>
            <p:nvPr/>
          </p:nvSpPr>
          <p:spPr>
            <a:xfrm>
              <a:off x="1022985" y="5917406"/>
              <a:ext cx="6374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message-passing layer, or after readout — inducing different levels of stochasticity.</a:t>
              </a:r>
            </a:p>
          </p:txBody>
        </p:sp>
      </p:grpSp>
      <p:grpSp>
        <p:nvGrpSpPr>
          <p:cNvPr id="41" name="Group 41"/>
          <p:cNvGrpSpPr/>
          <p:nvPr/>
        </p:nvGrpSpPr>
        <p:grpSpPr>
          <a:xfrm>
            <a:off x="7905750" y="3257550"/>
            <a:ext cx="3524250" cy="2876550"/>
            <a:chOff x="7905750" y="3257550"/>
            <a:chExt cx="3524250" cy="2876550"/>
          </a:xfrm>
        </p:grpSpPr>
        <p:sp>
          <p:nvSpPr>
            <p:cNvPr id="30" name="Rectangle 30"/>
            <p:cNvSpPr/>
            <p:nvPr/>
          </p:nvSpPr>
          <p:spPr>
            <a:xfrm>
              <a:off x="7905750" y="3257550"/>
              <a:ext cx="3524250" cy="2876550"/>
            </a:xfrm>
            <a:prstGeom prst="roundRect">
              <a:avLst>
                <a:gd name="adj" fmla="val 3974"/>
              </a:avLst>
            </a:prstGeom>
            <a:solidFill>
              <a:schemeClr val="dk1"/>
            </a:solidFill>
            <a:ln>
              <a:noFill/>
            </a:ln>
          </p:spPr>
        </p:sp>
        <p:sp>
          <p:nvSpPr>
            <p:cNvPr id="31" name="TextBox 31"/>
            <p:cNvSpPr txBox="1"/>
            <p:nvPr/>
          </p:nvSpPr>
          <p:spPr>
            <a:xfrm>
              <a:off x="8167116" y="3487102"/>
              <a:ext cx="1530005"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PRACTICAL VARIANT</a:t>
              </a:r>
            </a:p>
          </p:txBody>
        </p:sp>
        <p:sp>
          <p:nvSpPr>
            <p:cNvPr id="32" name="TextBox 32"/>
            <p:cNvSpPr txBox="1"/>
            <p:nvPr/>
          </p:nvSpPr>
          <p:spPr>
            <a:xfrm>
              <a:off x="8165211" y="3770471"/>
              <a:ext cx="2167857"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Pretrained + READOUT</a:t>
              </a:r>
            </a:p>
          </p:txBody>
        </p:sp>
        <p:sp>
          <p:nvSpPr>
            <p:cNvPr id="33" name="TextBox 33"/>
            <p:cNvSpPr txBox="1"/>
            <p:nvPr/>
          </p:nvSpPr>
          <p:spPr>
            <a:xfrm>
              <a:off x="8166735" y="4126706"/>
              <a:ext cx="2481575"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Freeze a pretrained backbone and</a:t>
              </a:r>
            </a:p>
          </p:txBody>
        </p:sp>
        <p:sp>
          <p:nvSpPr>
            <p:cNvPr id="34" name="TextBox 34"/>
            <p:cNvSpPr txBox="1"/>
            <p:nvPr/>
          </p:nvSpPr>
          <p:spPr>
            <a:xfrm>
              <a:off x="8166735" y="4336256"/>
              <a:ext cx="2408743"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train only an anchored classifier</a:t>
              </a:r>
            </a:p>
          </p:txBody>
        </p:sp>
        <p:sp>
          <p:nvSpPr>
            <p:cNvPr id="35" name="TextBox 35"/>
            <p:cNvSpPr txBox="1"/>
            <p:nvPr/>
          </p:nvSpPr>
          <p:spPr>
            <a:xfrm>
              <a:off x="8166735" y="4545806"/>
              <a:ext cx="269521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head — cheap, partial stochasticity.</a:t>
              </a:r>
            </a:p>
          </p:txBody>
        </p:sp>
        <p:sp>
          <p:nvSpPr>
            <p:cNvPr id="36" name="Line 36"/>
            <p:cNvSpPr/>
            <p:nvPr/>
          </p:nvSpPr>
          <p:spPr>
            <a:xfrm>
              <a:off x="8172450" y="4876800"/>
              <a:ext cx="2990850" cy="9525"/>
            </a:xfrm>
            <a:custGeom>
              <a:avLst/>
              <a:gdLst/>
              <a:ahLst/>
              <a:cxnLst/>
              <a:rect l="l" t="t" r="r" b="b"/>
              <a:pathLst>
                <a:path w="2990850" h="9525">
                  <a:moveTo>
                    <a:pt x="0" y="0"/>
                  </a:moveTo>
                  <a:lnTo>
                    <a:pt x="2990850" y="0"/>
                  </a:lnTo>
                </a:path>
              </a:pathLst>
            </a:custGeom>
            <a:noFill/>
            <a:ln w="9525">
              <a:solidFill>
                <a:srgbClr val="33405A"/>
              </a:solidFill>
            </a:ln>
          </p:spPr>
        </p:sp>
        <p:sp>
          <p:nvSpPr>
            <p:cNvPr id="37" name="TextBox 37"/>
            <p:cNvSpPr txBox="1"/>
            <p:nvPr/>
          </p:nvSpPr>
          <p:spPr>
            <a:xfrm>
              <a:off x="8166735" y="5060156"/>
              <a:ext cx="252672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At inference, average predictions</a:t>
              </a:r>
            </a:p>
          </p:txBody>
        </p:sp>
        <p:sp>
          <p:nvSpPr>
            <p:cNvPr id="38" name="TextBox 38"/>
            <p:cNvSpPr txBox="1"/>
            <p:nvPr/>
          </p:nvSpPr>
          <p:spPr>
            <a:xfrm>
              <a:off x="8166735" y="5269706"/>
              <a:ext cx="2067489"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over K anchors to get both:</a:t>
              </a:r>
            </a:p>
          </p:txBody>
        </p:sp>
        <p:sp>
          <p:nvSpPr>
            <p:cNvPr id="39" name="TextBox 39"/>
            <p:cNvSpPr txBox="1"/>
            <p:nvPr/>
          </p:nvSpPr>
          <p:spPr>
            <a:xfrm>
              <a:off x="8281035" y="5555456"/>
              <a:ext cx="1903570" cy="220028"/>
            </a:xfrm>
            <a:prstGeom prst="rect">
              <a:avLst/>
            </a:prstGeom>
            <a:noFill/>
            <a:ln>
              <a:noFill/>
            </a:ln>
          </p:spPr>
          <p:txBody>
            <a:bodyPr wrap="none" lIns="0" tIns="0" rIns="0" bIns="0" anchor="t" anchorCtr="0">
              <a:spAutoFit/>
            </a:bodyPr>
            <a:lstStyle/>
            <a:p>
              <a:pPr algn="l" marL="126949" indent="-126949">
                <a:buClr>
                  <a:srgbClr val="FFFFFF"/>
                </a:buClr>
                <a:buSzTx/>
                <a:buFontTx/>
                <a:buChar char="•"/>
              </a:pPr>
              <a:r>
                <a:rPr lang="en-US" sz="1120" b="1" dirty="0">
                  <a:solidFill>
                    <a:srgbClr val="FFFFFF"/>
                  </a:solidFill>
                  <a:latin typeface="+mn-lt"/>
                  <a:ea typeface="+mn-ea"/>
                  <a:cs typeface="+mn-cs"/>
                </a:rPr>
                <a:t>a calibrated prediction</a:t>
              </a:r>
            </a:p>
          </p:txBody>
        </p:sp>
        <p:sp>
          <p:nvSpPr>
            <p:cNvPr id="40" name="TextBox 40"/>
            <p:cNvSpPr txBox="1"/>
            <p:nvPr/>
          </p:nvSpPr>
          <p:spPr>
            <a:xfrm>
              <a:off x="8281035" y="5803106"/>
              <a:ext cx="2014390" cy="220028"/>
            </a:xfrm>
            <a:prstGeom prst="rect">
              <a:avLst/>
            </a:prstGeom>
            <a:noFill/>
            <a:ln>
              <a:noFill/>
            </a:ln>
          </p:spPr>
          <p:txBody>
            <a:bodyPr wrap="none" lIns="0" tIns="0" rIns="0" bIns="0" anchor="t" anchorCtr="0">
              <a:spAutoFit/>
            </a:bodyPr>
            <a:lstStyle/>
            <a:p>
              <a:pPr algn="l" marL="126949" indent="-126949">
                <a:buClr>
                  <a:srgbClr val="FFFFFF"/>
                </a:buClr>
                <a:buSzTx/>
                <a:buFontTx/>
                <a:buChar char="•"/>
              </a:pPr>
              <a:r>
                <a:rPr lang="en-US" sz="1120" b="1" dirty="0">
                  <a:solidFill>
                    <a:srgbClr val="FFFFFF"/>
                  </a:solidFill>
                  <a:latin typeface="+mn-lt"/>
                  <a:ea typeface="+mn-ea"/>
                  <a:cs typeface="+mn-cs"/>
                </a:rPr>
                <a:t>an uncertainty estimate</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44595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06 · DATASET / BENCHMARK</a:t>
              </a:r>
            </a:p>
          </p:txBody>
        </p:sp>
        <p:sp>
          <p:nvSpPr>
            <p:cNvPr id="4" name="TextBox 4"/>
            <p:cNvSpPr txBox="1"/>
            <p:nvPr/>
          </p:nvSpPr>
          <p:spPr>
            <a:xfrm>
              <a:off x="749046" y="867728"/>
              <a:ext cx="546157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deliberately broad evaluation</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8" name="Group 18"/>
          <p:cNvGrpSpPr/>
          <p:nvPr/>
        </p:nvGrpSpPr>
        <p:grpSpPr>
          <a:xfrm>
            <a:off x="762000" y="1676400"/>
            <a:ext cx="3429000" cy="2762250"/>
            <a:chOff x="762000" y="1676400"/>
            <a:chExt cx="3429000" cy="2762250"/>
          </a:xfrm>
        </p:grpSpPr>
        <p:sp>
          <p:nvSpPr>
            <p:cNvPr id="7" name="Rectangle 7"/>
            <p:cNvSpPr/>
            <p:nvPr/>
          </p:nvSpPr>
          <p:spPr>
            <a:xfrm>
              <a:off x="762000" y="1676400"/>
              <a:ext cx="3429000" cy="2762250"/>
            </a:xfrm>
            <a:prstGeom prst="roundRect">
              <a:avLst>
                <a:gd name="adj" fmla="val 4138"/>
              </a:avLst>
            </a:prstGeom>
            <a:solidFill>
              <a:schemeClr val="accent5"/>
            </a:solidFill>
            <a:ln w="9525">
              <a:solidFill>
                <a:schemeClr val="accent4"/>
              </a:solidFill>
            </a:ln>
          </p:spPr>
        </p:sp>
        <p:sp>
          <p:nvSpPr>
            <p:cNvPr id="8" name="Rectangle 8"/>
            <p:cNvSpPr/>
            <p:nvPr/>
          </p:nvSpPr>
          <p:spPr>
            <a:xfrm>
              <a:off x="762000" y="1676400"/>
              <a:ext cx="57150" cy="2762250"/>
            </a:xfrm>
            <a:prstGeom prst="roundRect">
              <a:avLst>
                <a:gd name="adj" fmla="val 50000"/>
              </a:avLst>
            </a:prstGeom>
            <a:solidFill>
              <a:schemeClr val="accent1"/>
            </a:solidFill>
            <a:ln>
              <a:noFill/>
            </a:ln>
          </p:spPr>
        </p:sp>
        <p:sp>
          <p:nvSpPr>
            <p:cNvPr id="9" name="TextBox 9"/>
            <p:cNvSpPr txBox="1"/>
            <p:nvPr/>
          </p:nvSpPr>
          <p:spPr>
            <a:xfrm>
              <a:off x="1023366" y="1905952"/>
              <a:ext cx="1781556"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SHIFT 1 · STRUCTURAL</a:t>
              </a:r>
            </a:p>
          </p:txBody>
        </p:sp>
        <p:sp>
          <p:nvSpPr>
            <p:cNvPr id="10" name="TextBox 10"/>
            <p:cNvSpPr txBox="1"/>
            <p:nvPr/>
          </p:nvSpPr>
          <p:spPr>
            <a:xfrm>
              <a:off x="1021461" y="2208371"/>
              <a:ext cx="197441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Rotated Super-pixel</a:t>
              </a:r>
            </a:p>
          </p:txBody>
        </p:sp>
        <p:sp>
          <p:nvSpPr>
            <p:cNvPr id="11" name="TextBox 11"/>
            <p:cNvSpPr txBox="1"/>
            <p:nvPr/>
          </p:nvSpPr>
          <p:spPr>
            <a:xfrm>
              <a:off x="1021461" y="2456021"/>
              <a:ext cx="58709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MNIST</a:t>
              </a:r>
            </a:p>
          </p:txBody>
        </p:sp>
        <p:sp>
          <p:nvSpPr>
            <p:cNvPr id="12" name="TextBox 12"/>
            <p:cNvSpPr txBox="1"/>
            <p:nvPr/>
          </p:nvSpPr>
          <p:spPr>
            <a:xfrm>
              <a:off x="1022985" y="2850356"/>
              <a:ext cx="20141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controlled benchmark the</a:t>
              </a:r>
            </a:p>
          </p:txBody>
        </p:sp>
        <p:sp>
          <p:nvSpPr>
            <p:cNvPr id="13" name="TextBox 13"/>
            <p:cNvSpPr txBox="1"/>
            <p:nvPr/>
          </p:nvSpPr>
          <p:spPr>
            <a:xfrm>
              <a:off x="1022985" y="3059906"/>
              <a:ext cx="23287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authors build: super-pixel k-NN</a:t>
              </a:r>
            </a:p>
          </p:txBody>
        </p:sp>
        <p:sp>
          <p:nvSpPr>
            <p:cNvPr id="14" name="TextBox 14"/>
            <p:cNvSpPr txBox="1"/>
            <p:nvPr/>
          </p:nvSpPr>
          <p:spPr>
            <a:xfrm>
              <a:off x="1022985" y="3269456"/>
              <a:ext cx="2570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graphs from rotated MNIST digits.</a:t>
              </a:r>
            </a:p>
          </p:txBody>
        </p:sp>
        <p:sp>
          <p:nvSpPr>
            <p:cNvPr id="15" name="TextBox 15"/>
            <p:cNvSpPr txBox="1"/>
            <p:nvPr/>
          </p:nvSpPr>
          <p:spPr>
            <a:xfrm>
              <a:off x="1022985" y="3669506"/>
              <a:ext cx="21570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Increasing the rotation angle</a:t>
              </a:r>
            </a:p>
          </p:txBody>
        </p:sp>
        <p:sp>
          <p:nvSpPr>
            <p:cNvPr id="16" name="TextBox 16"/>
            <p:cNvSpPr txBox="1"/>
            <p:nvPr/>
          </p:nvSpPr>
          <p:spPr>
            <a:xfrm>
              <a:off x="1022985" y="387905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induces a controlled, escalating</a:t>
              </a:r>
            </a:p>
          </p:txBody>
        </p:sp>
        <p:sp>
          <p:nvSpPr>
            <p:cNvPr id="17" name="TextBox 17"/>
            <p:cNvSpPr txBox="1"/>
            <p:nvPr/>
          </p:nvSpPr>
          <p:spPr>
            <a:xfrm>
              <a:off x="1022985" y="4088606"/>
              <a:ext cx="21071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structural distortion shift.</a:t>
              </a:r>
            </a:p>
          </p:txBody>
        </p:sp>
      </p:grpSp>
      <p:grpSp>
        <p:nvGrpSpPr>
          <p:cNvPr id="30" name="Group 30"/>
          <p:cNvGrpSpPr/>
          <p:nvPr/>
        </p:nvGrpSpPr>
        <p:grpSpPr>
          <a:xfrm>
            <a:off x="4381500" y="1676400"/>
            <a:ext cx="3429000" cy="2762250"/>
            <a:chOff x="4381500" y="1676400"/>
            <a:chExt cx="3429000" cy="2762250"/>
          </a:xfrm>
        </p:grpSpPr>
        <p:sp>
          <p:nvSpPr>
            <p:cNvPr id="19" name="Rectangle 19"/>
            <p:cNvSpPr/>
            <p:nvPr/>
          </p:nvSpPr>
          <p:spPr>
            <a:xfrm>
              <a:off x="4381500" y="1676400"/>
              <a:ext cx="3429000" cy="2762250"/>
            </a:xfrm>
            <a:prstGeom prst="roundRect">
              <a:avLst>
                <a:gd name="adj" fmla="val 4138"/>
              </a:avLst>
            </a:prstGeom>
            <a:solidFill>
              <a:schemeClr val="accent5"/>
            </a:solidFill>
            <a:ln w="9525">
              <a:solidFill>
                <a:schemeClr val="accent4"/>
              </a:solidFill>
            </a:ln>
          </p:spPr>
        </p:sp>
        <p:sp>
          <p:nvSpPr>
            <p:cNvPr id="20" name="Rectangle 20"/>
            <p:cNvSpPr/>
            <p:nvPr/>
          </p:nvSpPr>
          <p:spPr>
            <a:xfrm>
              <a:off x="4381500" y="1676400"/>
              <a:ext cx="57150" cy="2762250"/>
            </a:xfrm>
            <a:prstGeom prst="roundRect">
              <a:avLst>
                <a:gd name="adj" fmla="val 50000"/>
              </a:avLst>
            </a:prstGeom>
            <a:solidFill>
              <a:schemeClr val="accent2"/>
            </a:solidFill>
            <a:ln>
              <a:noFill/>
            </a:ln>
          </p:spPr>
        </p:sp>
        <p:sp>
          <p:nvSpPr>
            <p:cNvPr id="21" name="TextBox 21"/>
            <p:cNvSpPr txBox="1"/>
            <p:nvPr/>
          </p:nvSpPr>
          <p:spPr>
            <a:xfrm>
              <a:off x="4642866" y="1905952"/>
              <a:ext cx="1703146"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SHIFT 2 · GRAPH SIZE</a:t>
              </a:r>
            </a:p>
          </p:txBody>
        </p:sp>
        <p:sp>
          <p:nvSpPr>
            <p:cNvPr id="22" name="TextBox 22"/>
            <p:cNvSpPr txBox="1"/>
            <p:nvPr/>
          </p:nvSpPr>
          <p:spPr>
            <a:xfrm>
              <a:off x="4640961" y="2208371"/>
              <a:ext cx="151634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Standard graph</a:t>
              </a:r>
            </a:p>
          </p:txBody>
        </p:sp>
        <p:sp>
          <p:nvSpPr>
            <p:cNvPr id="23" name="TextBox 23"/>
            <p:cNvSpPr txBox="1"/>
            <p:nvPr/>
          </p:nvSpPr>
          <p:spPr>
            <a:xfrm>
              <a:off x="4640961" y="2456021"/>
              <a:ext cx="186108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classification sets</a:t>
              </a:r>
            </a:p>
          </p:txBody>
        </p:sp>
        <p:sp>
          <p:nvSpPr>
            <p:cNvPr id="24" name="TextBox 24"/>
            <p:cNvSpPr txBox="1"/>
            <p:nvPr/>
          </p:nvSpPr>
          <p:spPr>
            <a:xfrm>
              <a:off x="4642485" y="2850356"/>
              <a:ext cx="22330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Train on small graphs, test on</a:t>
              </a:r>
            </a:p>
          </p:txBody>
        </p:sp>
        <p:sp>
          <p:nvSpPr>
            <p:cNvPr id="25" name="TextBox 25"/>
            <p:cNvSpPr txBox="1"/>
            <p:nvPr/>
          </p:nvSpPr>
          <p:spPr>
            <a:xfrm>
              <a:off x="4642485" y="3059906"/>
              <a:ext cx="172810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larger ones. Datasets:</a:t>
              </a:r>
            </a:p>
          </p:txBody>
        </p:sp>
        <p:sp>
          <p:nvSpPr>
            <p:cNvPr id="26" name="TextBox 26"/>
            <p:cNvSpPr txBox="1"/>
            <p:nvPr/>
          </p:nvSpPr>
          <p:spPr>
            <a:xfrm>
              <a:off x="4756785" y="3364706"/>
              <a:ext cx="242854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D&amp;D · NCI1 · NCI109 · PROTEINS</a:t>
              </a:r>
            </a:p>
          </p:txBody>
        </p:sp>
        <p:sp>
          <p:nvSpPr>
            <p:cNvPr id="27" name="TextBox 27"/>
            <p:cNvSpPr txBox="1"/>
            <p:nvPr/>
          </p:nvSpPr>
          <p:spPr>
            <a:xfrm>
              <a:off x="4642485" y="3726656"/>
              <a:ext cx="20364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Evaluated across three GNN</a:t>
              </a:r>
            </a:p>
          </p:txBody>
        </p:sp>
        <p:sp>
          <p:nvSpPr>
            <p:cNvPr id="28" name="TextBox 28"/>
            <p:cNvSpPr txBox="1"/>
            <p:nvPr/>
          </p:nvSpPr>
          <p:spPr>
            <a:xfrm>
              <a:off x="4642485" y="3936206"/>
              <a:ext cx="84068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backbones:</a:t>
              </a:r>
            </a:p>
          </p:txBody>
        </p:sp>
        <p:sp>
          <p:nvSpPr>
            <p:cNvPr id="29" name="TextBox 29"/>
            <p:cNvSpPr txBox="1"/>
            <p:nvPr/>
          </p:nvSpPr>
          <p:spPr>
            <a:xfrm>
              <a:off x="4756785" y="4183856"/>
              <a:ext cx="1182350"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GCN · GIN · PNA</a:t>
              </a:r>
            </a:p>
          </p:txBody>
        </p:sp>
      </p:grpSp>
      <p:grpSp>
        <p:nvGrpSpPr>
          <p:cNvPr id="42" name="Group 42"/>
          <p:cNvGrpSpPr/>
          <p:nvPr/>
        </p:nvGrpSpPr>
        <p:grpSpPr>
          <a:xfrm>
            <a:off x="8001000" y="1676400"/>
            <a:ext cx="3429000" cy="2762250"/>
            <a:chOff x="8001000" y="1676400"/>
            <a:chExt cx="3429000" cy="2762250"/>
          </a:xfrm>
        </p:grpSpPr>
        <p:sp>
          <p:nvSpPr>
            <p:cNvPr id="31" name="Rectangle 31"/>
            <p:cNvSpPr/>
            <p:nvPr/>
          </p:nvSpPr>
          <p:spPr>
            <a:xfrm>
              <a:off x="8001000" y="1676400"/>
              <a:ext cx="3429000" cy="2762250"/>
            </a:xfrm>
            <a:prstGeom prst="roundRect">
              <a:avLst>
                <a:gd name="adj" fmla="val 4138"/>
              </a:avLst>
            </a:prstGeom>
            <a:solidFill>
              <a:schemeClr val="accent5"/>
            </a:solidFill>
            <a:ln w="9525">
              <a:solidFill>
                <a:schemeClr val="accent4"/>
              </a:solidFill>
            </a:ln>
          </p:spPr>
        </p:sp>
        <p:sp>
          <p:nvSpPr>
            <p:cNvPr id="32" name="Rectangle 32"/>
            <p:cNvSpPr/>
            <p:nvPr/>
          </p:nvSpPr>
          <p:spPr>
            <a:xfrm>
              <a:off x="8001000" y="1676400"/>
              <a:ext cx="57150" cy="2762250"/>
            </a:xfrm>
            <a:prstGeom prst="roundRect">
              <a:avLst>
                <a:gd name="adj" fmla="val 50000"/>
              </a:avLst>
            </a:prstGeom>
            <a:solidFill>
              <a:schemeClr val="accent3"/>
            </a:solidFill>
            <a:ln>
              <a:noFill/>
            </a:ln>
          </p:spPr>
        </p:sp>
        <p:sp>
          <p:nvSpPr>
            <p:cNvPr id="33" name="TextBox 33"/>
            <p:cNvSpPr txBox="1"/>
            <p:nvPr/>
          </p:nvSpPr>
          <p:spPr>
            <a:xfrm>
              <a:off x="8262366" y="1905952"/>
              <a:ext cx="2598938" cy="205359"/>
            </a:xfrm>
            <a:prstGeom prst="rect">
              <a:avLst/>
            </a:prstGeom>
            <a:noFill/>
            <a:ln>
              <a:noFill/>
            </a:ln>
          </p:spPr>
          <p:txBody>
            <a:bodyPr wrap="none" lIns="0" tIns="0" rIns="0" bIns="0" anchor="t" anchorCtr="0">
              <a:spAutoFit/>
            </a:bodyPr>
            <a:lstStyle/>
            <a:p>
              <a:pPr algn="l"/>
              <a:r>
                <a:rPr lang="en-US" sz="1050" b="1" spc="75" dirty="0">
                  <a:solidFill>
                    <a:srgbClr val="C4562F"/>
                  </a:solidFill>
                  <a:latin typeface="+mn-lt"/>
                  <a:ea typeface="+mn-ea"/>
                  <a:cs typeface="+mn-cs"/>
                </a:rPr>
                <a:t>SHIFT 3 · CONCEPT &amp; COVARIATE</a:t>
              </a:r>
            </a:p>
          </p:txBody>
        </p:sp>
        <p:sp>
          <p:nvSpPr>
            <p:cNvPr id="34" name="TextBox 34"/>
            <p:cNvSpPr txBox="1"/>
            <p:nvPr/>
          </p:nvSpPr>
          <p:spPr>
            <a:xfrm>
              <a:off x="8260461" y="2208371"/>
              <a:ext cx="96467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GOOD</a:t>
              </a:r>
            </a:p>
          </p:txBody>
        </p:sp>
        <p:sp>
          <p:nvSpPr>
            <p:cNvPr id="35" name="TextBox 35"/>
            <p:cNvSpPr txBox="1"/>
            <p:nvPr/>
          </p:nvSpPr>
          <p:spPr>
            <a:xfrm>
              <a:off x="8260461" y="2456021"/>
              <a:ext cx="161018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benchmark suite</a:t>
              </a:r>
            </a:p>
          </p:txBody>
        </p:sp>
        <p:sp>
          <p:nvSpPr>
            <p:cNvPr id="36" name="TextBox 36"/>
            <p:cNvSpPr txBox="1"/>
            <p:nvPr/>
          </p:nvSpPr>
          <p:spPr>
            <a:xfrm>
              <a:off x="8261985" y="2850356"/>
              <a:ext cx="20292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dedicated suite for graph</a:t>
              </a:r>
            </a:p>
          </p:txBody>
        </p:sp>
        <p:sp>
          <p:nvSpPr>
            <p:cNvPr id="37" name="TextBox 37"/>
            <p:cNvSpPr txBox="1"/>
            <p:nvPr/>
          </p:nvSpPr>
          <p:spPr>
            <a:xfrm>
              <a:off x="8261985" y="3059906"/>
              <a:ext cx="24313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out-of-distribution shifts, with</a:t>
              </a:r>
            </a:p>
          </p:txBody>
        </p:sp>
        <p:sp>
          <p:nvSpPr>
            <p:cNvPr id="38" name="TextBox 38"/>
            <p:cNvSpPr txBox="1"/>
            <p:nvPr/>
          </p:nvSpPr>
          <p:spPr>
            <a:xfrm>
              <a:off x="8261985" y="3269456"/>
              <a:ext cx="256705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both concept and covariate splits.</a:t>
              </a:r>
            </a:p>
          </p:txBody>
        </p:sp>
        <p:sp>
          <p:nvSpPr>
            <p:cNvPr id="39" name="TextBox 39"/>
            <p:cNvSpPr txBox="1"/>
            <p:nvPr/>
          </p:nvSpPr>
          <p:spPr>
            <a:xfrm>
              <a:off x="8261985" y="3669506"/>
              <a:ext cx="11399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Datasets used:</a:t>
              </a:r>
            </a:p>
          </p:txBody>
        </p:sp>
        <p:sp>
          <p:nvSpPr>
            <p:cNvPr id="40" name="TextBox 40"/>
            <p:cNvSpPr txBox="1"/>
            <p:nvPr/>
          </p:nvSpPr>
          <p:spPr>
            <a:xfrm>
              <a:off x="8376285" y="3974306"/>
              <a:ext cx="1212817" cy="220028"/>
            </a:xfrm>
            <a:prstGeom prst="rect">
              <a:avLst/>
            </a:prstGeom>
            <a:noFill/>
            <a:ln>
              <a:noFill/>
            </a:ln>
          </p:spPr>
          <p:txBody>
            <a:bodyPr wrap="none" lIns="0" tIns="0" rIns="0" bIns="0" anchor="t" anchorCtr="0">
              <a:spAutoFit/>
            </a:bodyPr>
            <a:lstStyle/>
            <a:p>
              <a:pPr algn="l" marL="126949" indent="-126949">
                <a:buClr>
                  <a:schemeClr val="dk1"/>
                </a:buClr>
                <a:buSzTx/>
                <a:buFontTx/>
                <a:buChar char="•"/>
              </a:pPr>
              <a:r>
                <a:rPr lang="en-US" sz="1120" b="1" dirty="0">
                  <a:solidFill>
                    <a:schemeClr val="dk1"/>
                  </a:solidFill>
                  <a:latin typeface="+mn-lt"/>
                  <a:ea typeface="+mn-ea"/>
                  <a:cs typeface="+mn-cs"/>
                </a:rPr>
                <a:t>Colored MNIST</a:t>
              </a:r>
            </a:p>
          </p:txBody>
        </p:sp>
        <p:sp>
          <p:nvSpPr>
            <p:cNvPr id="41" name="TextBox 41"/>
            <p:cNvSpPr txBox="1"/>
            <p:nvPr/>
          </p:nvSpPr>
          <p:spPr>
            <a:xfrm>
              <a:off x="8376285" y="4183856"/>
              <a:ext cx="1123281" cy="220028"/>
            </a:xfrm>
            <a:prstGeom prst="rect">
              <a:avLst/>
            </a:prstGeom>
            <a:noFill/>
            <a:ln>
              <a:noFill/>
            </a:ln>
          </p:spPr>
          <p:txBody>
            <a:bodyPr wrap="none" lIns="0" tIns="0" rIns="0" bIns="0" anchor="t" anchorCtr="0">
              <a:spAutoFit/>
            </a:bodyPr>
            <a:lstStyle/>
            <a:p>
              <a:pPr algn="l" marL="126949" indent="-126949">
                <a:buClr>
                  <a:schemeClr val="dk1"/>
                </a:buClr>
                <a:buSzTx/>
                <a:buFontTx/>
                <a:buChar char="•"/>
              </a:pPr>
              <a:r>
                <a:rPr lang="en-US" sz="1120" b="1" dirty="0">
                  <a:solidFill>
                    <a:schemeClr val="dk1"/>
                  </a:solidFill>
                  <a:latin typeface="+mn-lt"/>
                  <a:ea typeface="+mn-ea"/>
                  <a:cs typeface="+mn-cs"/>
                </a:rPr>
                <a:t>Motif · SST2</a:t>
              </a:r>
            </a:p>
          </p:txBody>
        </p:sp>
      </p:grpSp>
      <p:grpSp>
        <p:nvGrpSpPr>
          <p:cNvPr id="54" name="Group 54"/>
          <p:cNvGrpSpPr/>
          <p:nvPr/>
        </p:nvGrpSpPr>
        <p:grpSpPr>
          <a:xfrm>
            <a:off x="762000" y="4629150"/>
            <a:ext cx="10668000" cy="1504950"/>
            <a:chOff x="762000" y="4629150"/>
            <a:chExt cx="10668000" cy="1504950"/>
          </a:xfrm>
        </p:grpSpPr>
        <p:sp>
          <p:nvSpPr>
            <p:cNvPr id="43" name="Rectangle 43"/>
            <p:cNvSpPr/>
            <p:nvPr/>
          </p:nvSpPr>
          <p:spPr>
            <a:xfrm>
              <a:off x="762000" y="4629150"/>
              <a:ext cx="10668000" cy="1504950"/>
            </a:xfrm>
            <a:prstGeom prst="roundRect">
              <a:avLst>
                <a:gd name="adj" fmla="val 7595"/>
              </a:avLst>
            </a:prstGeom>
            <a:solidFill>
              <a:schemeClr val="lt2"/>
            </a:solidFill>
            <a:ln>
              <a:noFill/>
            </a:ln>
          </p:spPr>
        </p:sp>
        <p:sp>
          <p:nvSpPr>
            <p:cNvPr id="44" name="TextBox 44"/>
            <p:cNvSpPr txBox="1"/>
            <p:nvPr/>
          </p:nvSpPr>
          <p:spPr>
            <a:xfrm>
              <a:off x="1023366" y="4858702"/>
              <a:ext cx="630820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COMPARED AGAINST STRONG BASELINES — MEASURED ON THREE SAFETY METRICS</a:t>
              </a:r>
            </a:p>
          </p:txBody>
        </p:sp>
        <p:sp>
          <p:nvSpPr>
            <p:cNvPr id="45" name="Rectangle 45"/>
            <p:cNvSpPr/>
            <p:nvPr/>
          </p:nvSpPr>
          <p:spPr>
            <a:xfrm>
              <a:off x="1028700" y="5143500"/>
              <a:ext cx="3143250" cy="762000"/>
            </a:xfrm>
            <a:prstGeom prst="roundRect">
              <a:avLst>
                <a:gd name="adj" fmla="val 10000"/>
              </a:avLst>
            </a:prstGeom>
            <a:solidFill>
              <a:schemeClr val="lt1"/>
            </a:solidFill>
            <a:ln w="9525">
              <a:solidFill>
                <a:schemeClr val="accent4"/>
              </a:solidFill>
            </a:ln>
          </p:spPr>
        </p:sp>
        <p:sp>
          <p:nvSpPr>
            <p:cNvPr id="46" name="TextBox 46"/>
            <p:cNvSpPr txBox="1"/>
            <p:nvPr/>
          </p:nvSpPr>
          <p:spPr>
            <a:xfrm>
              <a:off x="1213485" y="5307806"/>
              <a:ext cx="72035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Baselines</a:t>
              </a:r>
            </a:p>
          </p:txBody>
        </p:sp>
        <p:sp>
          <p:nvSpPr>
            <p:cNvPr id="47" name="TextBox 47"/>
            <p:cNvSpPr txBox="1"/>
            <p:nvPr/>
          </p:nvSpPr>
          <p:spPr>
            <a:xfrm>
              <a:off x="1213866" y="5563552"/>
              <a:ext cx="31219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Deep Ensembles · Temp. Scaling · MC Dropout</a:t>
              </a:r>
            </a:p>
          </p:txBody>
        </p:sp>
        <p:sp>
          <p:nvSpPr>
            <p:cNvPr id="48" name="Rectangle 48"/>
            <p:cNvSpPr/>
            <p:nvPr/>
          </p:nvSpPr>
          <p:spPr>
            <a:xfrm>
              <a:off x="4362450" y="5143500"/>
              <a:ext cx="3143250" cy="762000"/>
            </a:xfrm>
            <a:prstGeom prst="roundRect">
              <a:avLst>
                <a:gd name="adj" fmla="val 10000"/>
              </a:avLst>
            </a:prstGeom>
            <a:solidFill>
              <a:schemeClr val="lt1"/>
            </a:solidFill>
            <a:ln w="9525">
              <a:solidFill>
                <a:schemeClr val="accent4"/>
              </a:solidFill>
            </a:ln>
          </p:spPr>
        </p:sp>
        <p:sp>
          <p:nvSpPr>
            <p:cNvPr id="49" name="TextBox 49"/>
            <p:cNvSpPr txBox="1"/>
            <p:nvPr/>
          </p:nvSpPr>
          <p:spPr>
            <a:xfrm>
              <a:off x="4547235" y="5307806"/>
              <a:ext cx="61788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Metrics</a:t>
              </a:r>
            </a:p>
          </p:txBody>
        </p:sp>
        <p:sp>
          <p:nvSpPr>
            <p:cNvPr id="50" name="TextBox 50"/>
            <p:cNvSpPr txBox="1"/>
            <p:nvPr/>
          </p:nvSpPr>
          <p:spPr>
            <a:xfrm>
              <a:off x="4547616" y="5563552"/>
              <a:ext cx="30439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Calibration ECE · OOD AUROC · Gen-gap MAE</a:t>
              </a:r>
            </a:p>
          </p:txBody>
        </p:sp>
        <p:sp>
          <p:nvSpPr>
            <p:cNvPr id="51" name="Rectangle 51"/>
            <p:cNvSpPr/>
            <p:nvPr/>
          </p:nvSpPr>
          <p:spPr>
            <a:xfrm>
              <a:off x="7696200" y="5143500"/>
              <a:ext cx="3543300" cy="762000"/>
            </a:xfrm>
            <a:prstGeom prst="roundRect">
              <a:avLst>
                <a:gd name="adj" fmla="val 10000"/>
              </a:avLst>
            </a:prstGeom>
            <a:solidFill>
              <a:schemeClr val="accent6"/>
            </a:solidFill>
            <a:ln w="9525">
              <a:solidFill>
                <a:srgbClr val="C6D6FB"/>
              </a:solidFill>
            </a:ln>
          </p:spPr>
        </p:sp>
        <p:sp>
          <p:nvSpPr>
            <p:cNvPr id="52" name="TextBox 52"/>
            <p:cNvSpPr txBox="1"/>
            <p:nvPr/>
          </p:nvSpPr>
          <p:spPr>
            <a:xfrm>
              <a:off x="7880985" y="5307806"/>
              <a:ext cx="712936"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Coverage</a:t>
              </a:r>
            </a:p>
          </p:txBody>
        </p:sp>
        <p:sp>
          <p:nvSpPr>
            <p:cNvPr id="53" name="TextBox 53"/>
            <p:cNvSpPr txBox="1"/>
            <p:nvPr/>
          </p:nvSpPr>
          <p:spPr>
            <a:xfrm>
              <a:off x="7881366" y="5563552"/>
              <a:ext cx="29719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3 shift types × 3 downstream safety tasks</a:t>
              </a:r>
            </a:p>
          </p:txBody>
        </p:sp>
      </p:grpSp>
      <p:grpSp>
        <p:nvGrpSpPr>
          <p:cNvPr id="57" name="Group 57"/>
          <p:cNvGrpSpPr/>
          <p:nvPr/>
        </p:nvGrpSpPr>
        <p:grpSpPr>
          <a:xfrm>
            <a:off x="757238" y="6570345"/>
            <a:ext cx="10677524" cy="176212"/>
            <a:chOff x="757238" y="6570345"/>
            <a:chExt cx="10677524" cy="176212"/>
          </a:xfrm>
        </p:grpSpPr>
        <p:sp>
          <p:nvSpPr>
            <p:cNvPr id="55" name="TextBox 5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56" name="TextBox 5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4855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07 · KEY RESULT</a:t>
              </a:r>
            </a:p>
          </p:txBody>
        </p:sp>
        <p:sp>
          <p:nvSpPr>
            <p:cNvPr id="4" name="TextBox 4"/>
            <p:cNvSpPr txBox="1"/>
            <p:nvPr/>
          </p:nvSpPr>
          <p:spPr>
            <a:xfrm>
              <a:off x="749046" y="867728"/>
              <a:ext cx="883262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Better-calibrated confidence, across every shift</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676400"/>
            <a:ext cx="5334000" cy="1333500"/>
            <a:chOff x="762000" y="1676400"/>
            <a:chExt cx="5334000" cy="1333500"/>
          </a:xfrm>
        </p:grpSpPr>
        <p:sp>
          <p:nvSpPr>
            <p:cNvPr id="7" name="Rectangle 7"/>
            <p:cNvSpPr/>
            <p:nvPr/>
          </p:nvSpPr>
          <p:spPr>
            <a:xfrm>
              <a:off x="762000" y="1676400"/>
              <a:ext cx="5334000" cy="1333500"/>
            </a:xfrm>
            <a:prstGeom prst="roundRect">
              <a:avLst>
                <a:gd name="adj" fmla="val 8571"/>
              </a:avLst>
            </a:prstGeom>
            <a:solidFill>
              <a:schemeClr val="accent5"/>
            </a:solidFill>
            <a:ln w="9525">
              <a:solidFill>
                <a:schemeClr val="accent4"/>
              </a:solidFill>
            </a:ln>
          </p:spPr>
        </p:sp>
        <p:sp>
          <p:nvSpPr>
            <p:cNvPr id="8" name="Rectangle 8"/>
            <p:cNvSpPr/>
            <p:nvPr/>
          </p:nvSpPr>
          <p:spPr>
            <a:xfrm>
              <a:off x="762000" y="1676400"/>
              <a:ext cx="57150" cy="1333500"/>
            </a:xfrm>
            <a:prstGeom prst="roundRect">
              <a:avLst>
                <a:gd name="adj" fmla="val 50000"/>
              </a:avLst>
            </a:prstGeom>
            <a:solidFill>
              <a:schemeClr val="accent1"/>
            </a:solidFill>
            <a:ln>
              <a:noFill/>
            </a:ln>
          </p:spPr>
        </p:sp>
        <p:sp>
          <p:nvSpPr>
            <p:cNvPr id="9" name="TextBox 9"/>
            <p:cNvSpPr txBox="1"/>
            <p:nvPr/>
          </p:nvSpPr>
          <p:spPr>
            <a:xfrm>
              <a:off x="1021842" y="1835468"/>
              <a:ext cx="203260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Structural distortion</a:t>
              </a:r>
            </a:p>
          </p:txBody>
        </p:sp>
        <p:sp>
          <p:nvSpPr>
            <p:cNvPr id="10" name="TextBox 10"/>
            <p:cNvSpPr txBox="1"/>
            <p:nvPr/>
          </p:nvSpPr>
          <p:spPr>
            <a:xfrm>
              <a:off x="1022985" y="2145506"/>
              <a:ext cx="39664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Substantial ECE reductions even at severe rotations,</a:t>
              </a:r>
            </a:p>
          </p:txBody>
        </p:sp>
        <p:sp>
          <p:nvSpPr>
            <p:cNvPr id="11" name="TextBox 11"/>
            <p:cNvSpPr txBox="1"/>
            <p:nvPr/>
          </p:nvSpPr>
          <p:spPr>
            <a:xfrm>
              <a:off x="1022985" y="2355056"/>
              <a:ext cx="35244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accuracy stays close to the vanilla model.</a:t>
              </a:r>
            </a:p>
          </p:txBody>
        </p:sp>
        <p:sp>
          <p:nvSpPr>
            <p:cNvPr id="12" name="TextBox 12"/>
            <p:cNvSpPr txBox="1"/>
            <p:nvPr/>
          </p:nvSpPr>
          <p:spPr>
            <a:xfrm>
              <a:off x="1022985" y="2697956"/>
              <a:ext cx="296110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Reliability improves across the board.</a:t>
              </a:r>
            </a:p>
          </p:txBody>
        </p:sp>
      </p:grpSp>
      <p:grpSp>
        <p:nvGrpSpPr>
          <p:cNvPr id="20" name="Group 20"/>
          <p:cNvGrpSpPr/>
          <p:nvPr/>
        </p:nvGrpSpPr>
        <p:grpSpPr>
          <a:xfrm>
            <a:off x="762000" y="3162300"/>
            <a:ext cx="5334000" cy="1333500"/>
            <a:chOff x="762000" y="3162300"/>
            <a:chExt cx="5334000" cy="1333500"/>
          </a:xfrm>
        </p:grpSpPr>
        <p:sp>
          <p:nvSpPr>
            <p:cNvPr id="14" name="Rectangle 14"/>
            <p:cNvSpPr/>
            <p:nvPr/>
          </p:nvSpPr>
          <p:spPr>
            <a:xfrm>
              <a:off x="762000" y="3162300"/>
              <a:ext cx="5334000" cy="1333500"/>
            </a:xfrm>
            <a:prstGeom prst="roundRect">
              <a:avLst>
                <a:gd name="adj" fmla="val 8571"/>
              </a:avLst>
            </a:prstGeom>
            <a:solidFill>
              <a:srgbClr val="E1F3F0"/>
            </a:solidFill>
            <a:ln w="9525">
              <a:solidFill>
                <a:srgbClr val="B7E2DA"/>
              </a:solidFill>
            </a:ln>
          </p:spPr>
        </p:sp>
        <p:sp>
          <p:nvSpPr>
            <p:cNvPr id="15" name="Rectangle 15"/>
            <p:cNvSpPr/>
            <p:nvPr/>
          </p:nvSpPr>
          <p:spPr>
            <a:xfrm>
              <a:off x="762000" y="3162300"/>
              <a:ext cx="57150" cy="1333500"/>
            </a:xfrm>
            <a:prstGeom prst="roundRect">
              <a:avLst>
                <a:gd name="adj" fmla="val 50000"/>
              </a:avLst>
            </a:prstGeom>
            <a:solidFill>
              <a:schemeClr val="accent2"/>
            </a:solidFill>
            <a:ln>
              <a:noFill/>
            </a:ln>
          </p:spPr>
        </p:sp>
        <p:sp>
          <p:nvSpPr>
            <p:cNvPr id="16" name="TextBox 16"/>
            <p:cNvSpPr txBox="1"/>
            <p:nvPr/>
          </p:nvSpPr>
          <p:spPr>
            <a:xfrm>
              <a:off x="1021842" y="3321368"/>
              <a:ext cx="92583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Size shift</a:t>
              </a:r>
            </a:p>
          </p:txBody>
        </p:sp>
        <p:sp>
          <p:nvSpPr>
            <p:cNvPr id="17" name="TextBox 17"/>
            <p:cNvSpPr txBox="1"/>
            <p:nvPr/>
          </p:nvSpPr>
          <p:spPr>
            <a:xfrm>
              <a:off x="1022985" y="3631406"/>
              <a:ext cx="42585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Last-layer (READOUT) anchoring lowers calibration error</a:t>
              </a:r>
            </a:p>
          </p:txBody>
        </p:sp>
        <p:sp>
          <p:nvSpPr>
            <p:cNvPr id="18" name="TextBox 18"/>
            <p:cNvSpPr txBox="1"/>
            <p:nvPr/>
          </p:nvSpPr>
          <p:spPr>
            <a:xfrm>
              <a:off x="1022985" y="3840956"/>
              <a:ext cx="3049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maintaining or improving accuracy —</a:t>
              </a:r>
            </a:p>
          </p:txBody>
        </p:sp>
        <p:sp>
          <p:nvSpPr>
            <p:cNvPr id="19" name="TextBox 19"/>
            <p:cNvSpPr txBox="1"/>
            <p:nvPr/>
          </p:nvSpPr>
          <p:spPr>
            <a:xfrm>
              <a:off x="1022985" y="4183856"/>
              <a:ext cx="3082705"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largest gains on the most severe shift.</a:t>
              </a:r>
            </a:p>
          </p:txBody>
        </p:sp>
      </p:grpSp>
      <p:grpSp>
        <p:nvGrpSpPr>
          <p:cNvPr id="26" name="Group 26"/>
          <p:cNvGrpSpPr/>
          <p:nvPr/>
        </p:nvGrpSpPr>
        <p:grpSpPr>
          <a:xfrm>
            <a:off x="762000" y="4648200"/>
            <a:ext cx="5703546" cy="1485900"/>
            <a:chOff x="762000" y="4648200"/>
            <a:chExt cx="5703546" cy="1485900"/>
          </a:xfrm>
        </p:grpSpPr>
        <p:sp>
          <p:nvSpPr>
            <p:cNvPr id="21" name="Rectangle 21"/>
            <p:cNvSpPr/>
            <p:nvPr/>
          </p:nvSpPr>
          <p:spPr>
            <a:xfrm>
              <a:off x="762000" y="4648200"/>
              <a:ext cx="5334000" cy="1485900"/>
            </a:xfrm>
            <a:prstGeom prst="roundRect">
              <a:avLst>
                <a:gd name="adj" fmla="val 7692"/>
              </a:avLst>
            </a:prstGeom>
            <a:solidFill>
              <a:schemeClr val="dk1"/>
            </a:solidFill>
            <a:ln>
              <a:noFill/>
            </a:ln>
          </p:spPr>
        </p:sp>
        <p:sp>
          <p:nvSpPr>
            <p:cNvPr id="22" name="TextBox 22"/>
            <p:cNvSpPr txBox="1"/>
            <p:nvPr/>
          </p:nvSpPr>
          <p:spPr>
            <a:xfrm>
              <a:off x="1023366" y="4858702"/>
              <a:ext cx="2787122"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FEEDS DOWNSTREAM SAFETY TASKS</a:t>
              </a:r>
            </a:p>
          </p:txBody>
        </p:sp>
        <p:sp>
          <p:nvSpPr>
            <p:cNvPr id="23" name="TextBox 23"/>
            <p:cNvSpPr txBox="1"/>
            <p:nvPr/>
          </p:nvSpPr>
          <p:spPr>
            <a:xfrm>
              <a:off x="1022604" y="5166360"/>
              <a:ext cx="500923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Among the best single-model estimators for generalization-gap</a:t>
              </a:r>
            </a:p>
          </p:txBody>
        </p:sp>
        <p:sp>
          <p:nvSpPr>
            <p:cNvPr id="24" name="TextBox 24"/>
            <p:cNvSpPr txBox="1"/>
            <p:nvPr/>
          </p:nvSpPr>
          <p:spPr>
            <a:xfrm>
              <a:off x="1022604" y="5375910"/>
              <a:ext cx="4309262"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prediction, and highly competitive for OOD detection.</a:t>
              </a:r>
            </a:p>
          </p:txBody>
        </p:sp>
        <p:sp>
          <p:nvSpPr>
            <p:cNvPr id="25" name="TextBox 25"/>
            <p:cNvSpPr txBox="1"/>
            <p:nvPr/>
          </p:nvSpPr>
          <p:spPr>
            <a:xfrm>
              <a:off x="1022604" y="5718810"/>
              <a:ext cx="5442942"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Pretrained G-ΔUQ is frequently strongest under covariate shift.</a:t>
              </a:r>
            </a:p>
          </p:txBody>
        </p:sp>
      </p:grpSp>
      <p:grpSp>
        <p:nvGrpSpPr>
          <p:cNvPr id="34" name="Group 34"/>
          <p:cNvGrpSpPr/>
          <p:nvPr/>
        </p:nvGrpSpPr>
        <p:grpSpPr>
          <a:xfrm>
            <a:off x="6286500" y="1676400"/>
            <a:ext cx="5143500" cy="4457700"/>
            <a:chOff x="6286500" y="1676400"/>
            <a:chExt cx="5143500" cy="4457700"/>
          </a:xfrm>
        </p:grpSpPr>
        <p:sp>
          <p:nvSpPr>
            <p:cNvPr id="27" name="Rectangle 27"/>
            <p:cNvSpPr/>
            <p:nvPr/>
          </p:nvSpPr>
          <p:spPr>
            <a:xfrm>
              <a:off x="6286500" y="1676400"/>
              <a:ext cx="5143500" cy="4457700"/>
            </a:xfrm>
            <a:prstGeom prst="roundRect">
              <a:avLst>
                <a:gd name="adj" fmla="val 2564"/>
              </a:avLst>
            </a:prstGeom>
            <a:solidFill>
              <a:schemeClr val="accent5"/>
            </a:solidFill>
            <a:ln w="9525">
              <a:solidFill>
                <a:schemeClr val="accent4"/>
              </a:solidFill>
            </a:ln>
          </p:spPr>
        </p:sp>
        <p:sp>
          <p:nvSpPr>
            <p:cNvPr id="28" name="TextBox 28"/>
            <p:cNvSpPr txBox="1"/>
            <p:nvPr/>
          </p:nvSpPr>
          <p:spPr>
            <a:xfrm>
              <a:off x="6547866" y="1867852"/>
              <a:ext cx="3303281"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CONCEPT &amp; COVARIATE SHIFTS (Figure 5)</a:t>
              </a:r>
            </a:p>
          </p:txBody>
        </p:sp>
        <p:sp>
          <p:nvSpPr>
            <p:cNvPr id="29" name="Rectangle 29"/>
            <p:cNvSpPr/>
            <p:nvPr/>
          </p:nvSpPr>
          <p:spPr>
            <a:xfrm>
              <a:off x="6534150" y="2114550"/>
              <a:ext cx="4648200" cy="3143250"/>
            </a:xfrm>
            <a:prstGeom prst="roundRect">
              <a:avLst>
                <a:gd name="adj" fmla="val 2424"/>
              </a:avLst>
            </a:prstGeom>
            <a:solidFill>
              <a:schemeClr val="lt1"/>
            </a:solidFill>
            <a:ln w="9525">
              <a:solidFill>
                <a:schemeClr val="accent4"/>
              </a:solidFill>
            </a:ln>
          </p:spPr>
        </p:sp>
        <p:pic>
          <p:nvPicPr>
            <p:cNvPr id="30" name="Image 30"/>
            <p:cNvPicPr>
              <a:picLocks noChangeAspect="1"/>
            </p:cNvPicPr>
            <p:nvPr/>
          </p:nvPicPr>
          <p:blipFill>
            <a:blip r:embed="rId2"/>
            <a:stretch>
              <a:fillRect/>
            </a:stretch>
          </p:blipFill>
          <p:spPr>
            <a:xfrm>
              <a:off x="6591300" y="2532091"/>
              <a:ext cx="4533900" cy="2308167"/>
            </a:xfrm>
            <a:prstGeom prst="rect">
              <a:avLst/>
            </a:prstGeom>
          </p:spPr>
        </p:pic>
        <p:sp>
          <p:nvSpPr>
            <p:cNvPr id="31" name="TextBox 31"/>
            <p:cNvSpPr txBox="1"/>
            <p:nvPr/>
          </p:nvSpPr>
          <p:spPr>
            <a:xfrm>
              <a:off x="6547485" y="5422106"/>
              <a:ext cx="45319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Competitive in-distribution and out-of-distribution accuracy</a:t>
              </a:r>
            </a:p>
          </p:txBody>
        </p:sp>
        <p:sp>
          <p:nvSpPr>
            <p:cNvPr id="32" name="TextBox 32"/>
            <p:cNvSpPr txBox="1"/>
            <p:nvPr/>
          </p:nvSpPr>
          <p:spPr>
            <a:xfrm>
              <a:off x="6547485" y="5631656"/>
              <a:ext cx="38637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improving calibration — especially versus other</a:t>
              </a:r>
            </a:p>
          </p:txBody>
        </p:sp>
        <p:sp>
          <p:nvSpPr>
            <p:cNvPr id="33" name="TextBox 33"/>
            <p:cNvSpPr txBox="1"/>
            <p:nvPr/>
          </p:nvSpPr>
          <p:spPr>
            <a:xfrm>
              <a:off x="6547485" y="5841206"/>
              <a:ext cx="2009506"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single-model UQ methods.</a:t>
              </a:r>
            </a:p>
          </p:txBody>
        </p:sp>
      </p:grpSp>
      <p:grpSp>
        <p:nvGrpSpPr>
          <p:cNvPr id="37" name="Group 37"/>
          <p:cNvGrpSpPr/>
          <p:nvPr/>
        </p:nvGrpSpPr>
        <p:grpSpPr>
          <a:xfrm>
            <a:off x="757238" y="6570345"/>
            <a:ext cx="10677524" cy="176212"/>
            <a:chOff x="757238" y="6570345"/>
            <a:chExt cx="10677524" cy="176212"/>
          </a:xfrm>
        </p:grpSpPr>
        <p:sp>
          <p:nvSpPr>
            <p:cNvPr id="35" name="TextBox 3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36" name="TextBox 3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0170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08 · ABLATION</a:t>
              </a:r>
            </a:p>
          </p:txBody>
        </p:sp>
        <p:sp>
          <p:nvSpPr>
            <p:cNvPr id="4" name="TextBox 4"/>
            <p:cNvSpPr txBox="1"/>
            <p:nvPr/>
          </p:nvSpPr>
          <p:spPr>
            <a:xfrm>
              <a:off x="749046" y="867728"/>
              <a:ext cx="612931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Where should anchoring be applied?</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685800"/>
            <a:chOff x="762000" y="1676400"/>
            <a:chExt cx="10668000" cy="685800"/>
          </a:xfrm>
        </p:grpSpPr>
        <p:sp>
          <p:nvSpPr>
            <p:cNvPr id="7" name="Rectangle 7"/>
            <p:cNvSpPr/>
            <p:nvPr/>
          </p:nvSpPr>
          <p:spPr>
            <a:xfrm>
              <a:off x="762000" y="1676400"/>
              <a:ext cx="10668000" cy="685800"/>
            </a:xfrm>
            <a:prstGeom prst="roundRect">
              <a:avLst>
                <a:gd name="adj" fmla="val 16667"/>
              </a:avLst>
            </a:prstGeom>
            <a:solidFill>
              <a:schemeClr val="accent6"/>
            </a:solidFill>
            <a:ln w="9525">
              <a:solidFill>
                <a:srgbClr val="C6D6FB"/>
              </a:solidFill>
            </a:ln>
          </p:spPr>
        </p:sp>
        <p:sp>
          <p:nvSpPr>
            <p:cNvPr id="8" name="Rectangle 8"/>
            <p:cNvSpPr/>
            <p:nvPr/>
          </p:nvSpPr>
          <p:spPr>
            <a:xfrm>
              <a:off x="762000" y="1676400"/>
              <a:ext cx="57150" cy="685800"/>
            </a:xfrm>
            <a:prstGeom prst="roundRect">
              <a:avLst>
                <a:gd name="adj" fmla="val 50000"/>
              </a:avLst>
            </a:prstGeom>
            <a:solidFill>
              <a:schemeClr val="accent1"/>
            </a:solidFill>
            <a:ln>
              <a:noFill/>
            </a:ln>
          </p:spPr>
        </p:sp>
        <p:sp>
          <p:nvSpPr>
            <p:cNvPr id="9" name="TextBox 9"/>
            <p:cNvSpPr txBox="1"/>
            <p:nvPr/>
          </p:nvSpPr>
          <p:spPr>
            <a:xfrm>
              <a:off x="1059942" y="1835468"/>
              <a:ext cx="535395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Node features, an intermediate layer, or after readout?</a:t>
              </a:r>
            </a:p>
          </p:txBody>
        </p:sp>
        <p:sp>
          <p:nvSpPr>
            <p:cNvPr id="10" name="TextBox 10"/>
            <p:cNvSpPr txBox="1"/>
            <p:nvPr/>
          </p:nvSpPr>
          <p:spPr>
            <a:xfrm>
              <a:off x="1061085" y="2107406"/>
              <a:ext cx="64394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paper carefully ablates the placement of stochastic anchoring within the network.</a:t>
              </a:r>
            </a:p>
          </p:txBody>
        </p:sp>
      </p:grpSp>
      <p:grpSp>
        <p:nvGrpSpPr>
          <p:cNvPr id="18" name="Group 18"/>
          <p:cNvGrpSpPr/>
          <p:nvPr/>
        </p:nvGrpSpPr>
        <p:grpSpPr>
          <a:xfrm>
            <a:off x="762000" y="2552700"/>
            <a:ext cx="10668000" cy="2175034"/>
            <a:chOff x="762000" y="2552700"/>
            <a:chExt cx="10668000" cy="2175034"/>
          </a:xfrm>
        </p:grpSpPr>
        <p:sp>
          <p:nvSpPr>
            <p:cNvPr id="12" name="Rectangle 12"/>
            <p:cNvSpPr/>
            <p:nvPr/>
          </p:nvSpPr>
          <p:spPr>
            <a:xfrm>
              <a:off x="762000" y="2552700"/>
              <a:ext cx="10668000" cy="2171700"/>
            </a:xfrm>
            <a:prstGeom prst="roundRect">
              <a:avLst>
                <a:gd name="adj" fmla="val 5263"/>
              </a:avLst>
            </a:prstGeom>
            <a:solidFill>
              <a:schemeClr val="accent5"/>
            </a:solidFill>
            <a:ln w="9525">
              <a:solidFill>
                <a:schemeClr val="accent4"/>
              </a:solidFill>
            </a:ln>
          </p:spPr>
        </p:sp>
        <p:sp>
          <p:nvSpPr>
            <p:cNvPr id="13" name="TextBox 13"/>
            <p:cNvSpPr txBox="1"/>
            <p:nvPr/>
          </p:nvSpPr>
          <p:spPr>
            <a:xfrm>
              <a:off x="1023366" y="2725102"/>
              <a:ext cx="719577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PREDICTIVE UNCERTAINTY UNDER SIZE SHIFT — D&amp;D HAS THE MOST SEVERE SHIFT (Figure 4)</a:t>
              </a:r>
            </a:p>
          </p:txBody>
        </p:sp>
        <p:sp>
          <p:nvSpPr>
            <p:cNvPr id="14" name="Rectangle 14"/>
            <p:cNvSpPr/>
            <p:nvPr/>
          </p:nvSpPr>
          <p:spPr>
            <a:xfrm>
              <a:off x="1009650" y="2952750"/>
              <a:ext cx="10172700" cy="1238250"/>
            </a:xfrm>
            <a:prstGeom prst="roundRect">
              <a:avLst>
                <a:gd name="adj" fmla="val 6154"/>
              </a:avLst>
            </a:prstGeom>
            <a:solidFill>
              <a:schemeClr val="lt1"/>
            </a:solidFill>
            <a:ln w="9525">
              <a:solidFill>
                <a:schemeClr val="accent4"/>
              </a:solidFill>
            </a:ln>
          </p:spPr>
        </p:sp>
        <p:pic>
          <p:nvPicPr>
            <p:cNvPr id="15" name="Image 15"/>
            <p:cNvPicPr>
              <a:picLocks noChangeAspect="1"/>
            </p:cNvPicPr>
            <p:nvPr/>
          </p:nvPicPr>
          <p:blipFill>
            <a:blip r:embed="rId2"/>
            <a:stretch>
              <a:fillRect/>
            </a:stretch>
          </p:blipFill>
          <p:spPr>
            <a:xfrm>
              <a:off x="2142226" y="3000375"/>
              <a:ext cx="7907547" cy="1143000"/>
            </a:xfrm>
            <a:prstGeom prst="rect">
              <a:avLst/>
            </a:prstGeom>
          </p:spPr>
        </p:pic>
        <p:sp>
          <p:nvSpPr>
            <p:cNvPr id="16" name="TextBox 16"/>
            <p:cNvSpPr txBox="1"/>
            <p:nvPr/>
          </p:nvSpPr>
          <p:spPr>
            <a:xfrm>
              <a:off x="1022985" y="4317206"/>
              <a:ext cx="83480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D&amp;D, anchoring after the READOUT layer dramatically improves both accuracy and calibration as depth grows,</a:t>
              </a:r>
            </a:p>
          </p:txBody>
        </p:sp>
        <p:sp>
          <p:nvSpPr>
            <p:cNvPr id="17" name="TextBox 17"/>
            <p:cNvSpPr txBox="1"/>
            <p:nvPr/>
          </p:nvSpPr>
          <p:spPr>
            <a:xfrm>
              <a:off x="1022985" y="4507706"/>
              <a:ext cx="39315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whereas earlier-layer anchoring converges less well.</a:t>
              </a:r>
            </a:p>
          </p:txBody>
        </p:sp>
      </p:grpSp>
      <p:grpSp>
        <p:nvGrpSpPr>
          <p:cNvPr id="25" name="Group 25"/>
          <p:cNvGrpSpPr/>
          <p:nvPr/>
        </p:nvGrpSpPr>
        <p:grpSpPr>
          <a:xfrm>
            <a:off x="762000" y="4914900"/>
            <a:ext cx="4191000" cy="1222534"/>
            <a:chOff x="762000" y="4914900"/>
            <a:chExt cx="4191000" cy="1222534"/>
          </a:xfrm>
        </p:grpSpPr>
        <p:sp>
          <p:nvSpPr>
            <p:cNvPr id="19" name="Rectangle 19"/>
            <p:cNvSpPr/>
            <p:nvPr/>
          </p:nvSpPr>
          <p:spPr>
            <a:xfrm>
              <a:off x="762000" y="4914900"/>
              <a:ext cx="4191000" cy="1219200"/>
            </a:xfrm>
            <a:prstGeom prst="roundRect">
              <a:avLst>
                <a:gd name="adj" fmla="val 9375"/>
              </a:avLst>
            </a:prstGeom>
            <a:solidFill>
              <a:srgbClr val="E1F3F0"/>
            </a:solidFill>
            <a:ln w="9525">
              <a:solidFill>
                <a:srgbClr val="B7E2DA"/>
              </a:solidFill>
            </a:ln>
          </p:spPr>
        </p:sp>
        <p:sp>
          <p:nvSpPr>
            <p:cNvPr id="20" name="Rectangle 20"/>
            <p:cNvSpPr/>
            <p:nvPr/>
          </p:nvSpPr>
          <p:spPr>
            <a:xfrm>
              <a:off x="762000" y="4914900"/>
              <a:ext cx="57150" cy="1219200"/>
            </a:xfrm>
            <a:prstGeom prst="roundRect">
              <a:avLst>
                <a:gd name="adj" fmla="val 50000"/>
              </a:avLst>
            </a:prstGeom>
            <a:solidFill>
              <a:schemeClr val="accent2"/>
            </a:solidFill>
            <a:ln>
              <a:noFill/>
            </a:ln>
          </p:spPr>
        </p:sp>
        <p:sp>
          <p:nvSpPr>
            <p:cNvPr id="21" name="TextBox 21"/>
            <p:cNvSpPr txBox="1"/>
            <p:nvPr/>
          </p:nvSpPr>
          <p:spPr>
            <a:xfrm>
              <a:off x="1023366" y="5125402"/>
              <a:ext cx="2333892"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PRACTICAL RECOMMENDATION</a:t>
              </a:r>
            </a:p>
          </p:txBody>
        </p:sp>
        <p:sp>
          <p:nvSpPr>
            <p:cNvPr id="22" name="TextBox 22"/>
            <p:cNvSpPr txBox="1"/>
            <p:nvPr/>
          </p:nvSpPr>
          <p:spPr>
            <a:xfrm>
              <a:off x="1021461" y="5408771"/>
              <a:ext cx="236953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Anchor at the last layer</a:t>
              </a:r>
            </a:p>
          </p:txBody>
        </p:sp>
        <p:sp>
          <p:nvSpPr>
            <p:cNvPr id="23" name="TextBox 23"/>
            <p:cNvSpPr txBox="1"/>
            <p:nvPr/>
          </p:nvSpPr>
          <p:spPr>
            <a:xfrm>
              <a:off x="1022985" y="5707856"/>
              <a:ext cx="34770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size-shift settings, READOUT (last-layer)</a:t>
              </a:r>
            </a:p>
          </p:txBody>
        </p:sp>
        <p:sp>
          <p:nvSpPr>
            <p:cNvPr id="24" name="TextBox 24"/>
            <p:cNvSpPr txBox="1"/>
            <p:nvPr/>
          </p:nvSpPr>
          <p:spPr>
            <a:xfrm>
              <a:off x="1022985" y="5917406"/>
              <a:ext cx="245397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anchoring is the reliable default.</a:t>
              </a:r>
            </a:p>
          </p:txBody>
        </p:sp>
      </p:grpSp>
      <p:grpSp>
        <p:nvGrpSpPr>
          <p:cNvPr id="32" name="Group 32"/>
          <p:cNvGrpSpPr/>
          <p:nvPr/>
        </p:nvGrpSpPr>
        <p:grpSpPr>
          <a:xfrm>
            <a:off x="5143500" y="4914900"/>
            <a:ext cx="6466570" cy="1219200"/>
            <a:chOff x="5143500" y="4914900"/>
            <a:chExt cx="6466570" cy="1219200"/>
          </a:xfrm>
        </p:grpSpPr>
        <p:sp>
          <p:nvSpPr>
            <p:cNvPr id="26" name="Rectangle 26"/>
            <p:cNvSpPr/>
            <p:nvPr/>
          </p:nvSpPr>
          <p:spPr>
            <a:xfrm>
              <a:off x="5143500" y="4914900"/>
              <a:ext cx="6286500" cy="1219200"/>
            </a:xfrm>
            <a:prstGeom prst="roundRect">
              <a:avLst>
                <a:gd name="adj" fmla="val 9375"/>
              </a:avLst>
            </a:prstGeom>
            <a:solidFill>
              <a:schemeClr val="accent5"/>
            </a:solidFill>
            <a:ln w="9525">
              <a:solidFill>
                <a:schemeClr val="accent4"/>
              </a:solidFill>
            </a:ln>
          </p:spPr>
        </p:sp>
        <p:sp>
          <p:nvSpPr>
            <p:cNvPr id="27" name="Rectangle 27"/>
            <p:cNvSpPr/>
            <p:nvPr/>
          </p:nvSpPr>
          <p:spPr>
            <a:xfrm>
              <a:off x="5143500" y="4914900"/>
              <a:ext cx="57150" cy="1219200"/>
            </a:xfrm>
            <a:prstGeom prst="roundRect">
              <a:avLst>
                <a:gd name="adj" fmla="val 50000"/>
              </a:avLst>
            </a:prstGeom>
            <a:solidFill>
              <a:schemeClr val="accent1"/>
            </a:solidFill>
            <a:ln>
              <a:noFill/>
            </a:ln>
          </p:spPr>
        </p:sp>
        <p:sp>
          <p:nvSpPr>
            <p:cNvPr id="28" name="TextBox 28"/>
            <p:cNvSpPr txBox="1"/>
            <p:nvPr/>
          </p:nvSpPr>
          <p:spPr>
            <a:xfrm>
              <a:off x="5404866" y="5125402"/>
              <a:ext cx="2897535"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PARTIAL STOCHASTICITY, VALIDATED</a:t>
              </a:r>
            </a:p>
          </p:txBody>
        </p:sp>
        <p:sp>
          <p:nvSpPr>
            <p:cNvPr id="29" name="TextBox 29"/>
            <p:cNvSpPr txBox="1"/>
            <p:nvPr/>
          </p:nvSpPr>
          <p:spPr>
            <a:xfrm>
              <a:off x="5404485" y="5403056"/>
              <a:ext cx="55272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pretrained variant — training only an anchored classifier head — is both</a:t>
              </a:r>
            </a:p>
          </p:txBody>
        </p:sp>
        <p:sp>
          <p:nvSpPr>
            <p:cNvPr id="30" name="TextBox 30"/>
            <p:cNvSpPr txBox="1"/>
            <p:nvPr/>
          </p:nvSpPr>
          <p:spPr>
            <a:xfrm>
              <a:off x="5404485" y="5612606"/>
              <a:ext cx="62055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effective and scalable. A neural tangent kernel analysis confirms that intermediate</a:t>
              </a:r>
            </a:p>
          </p:txBody>
        </p:sp>
        <p:sp>
          <p:nvSpPr>
            <p:cNvPr id="31" name="TextBox 31"/>
            <p:cNvSpPr txBox="1"/>
            <p:nvPr/>
          </p:nvSpPr>
          <p:spPr>
            <a:xfrm>
              <a:off x="5404485" y="5822156"/>
              <a:ext cx="620071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constant shifts truly alter the model's function, not a trivial reparameterization.</a:t>
              </a:r>
            </a:p>
          </p:txBody>
        </p:sp>
      </p:grpSp>
      <p:grpSp>
        <p:nvGrpSpPr>
          <p:cNvPr id="35" name="Group 35"/>
          <p:cNvGrpSpPr/>
          <p:nvPr/>
        </p:nvGrpSpPr>
        <p:grpSpPr>
          <a:xfrm>
            <a:off x="757238" y="6570345"/>
            <a:ext cx="10677524" cy="176212"/>
            <a:chOff x="757238" y="6570345"/>
            <a:chExt cx="10677524" cy="176212"/>
          </a:xfrm>
        </p:grpSpPr>
        <p:sp>
          <p:nvSpPr>
            <p:cNvPr id="33" name="TextBox 33"/>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34" name="TextBox 3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90802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09 · BY THE NUMBERS</a:t>
              </a:r>
            </a:p>
          </p:txBody>
        </p:sp>
        <p:sp>
          <p:nvSpPr>
            <p:cNvPr id="4" name="TextBox 4"/>
            <p:cNvSpPr txBox="1"/>
            <p:nvPr/>
          </p:nvSpPr>
          <p:spPr>
            <a:xfrm>
              <a:off x="749046" y="867728"/>
              <a:ext cx="768006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One model, broad coverage, strong results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5" name="Group 15"/>
          <p:cNvGrpSpPr/>
          <p:nvPr/>
        </p:nvGrpSpPr>
        <p:grpSpPr>
          <a:xfrm>
            <a:off x="762000" y="1676400"/>
            <a:ext cx="5334000" cy="1866900"/>
            <a:chOff x="762000" y="1676400"/>
            <a:chExt cx="5334000" cy="1866900"/>
          </a:xfrm>
        </p:grpSpPr>
        <p:sp>
          <p:nvSpPr>
            <p:cNvPr id="7" name="Rectangle 7"/>
            <p:cNvSpPr/>
            <p:nvPr/>
          </p:nvSpPr>
          <p:spPr>
            <a:xfrm>
              <a:off x="762000" y="1676400"/>
              <a:ext cx="5334000" cy="1866900"/>
            </a:xfrm>
            <a:prstGeom prst="roundRect">
              <a:avLst>
                <a:gd name="adj" fmla="val 6122"/>
              </a:avLst>
            </a:prstGeom>
            <a:solidFill>
              <a:schemeClr val="accent5"/>
            </a:solidFill>
            <a:ln w="9525">
              <a:solidFill>
                <a:schemeClr val="accent4"/>
              </a:solidFill>
            </a:ln>
          </p:spPr>
        </p:sp>
        <p:sp>
          <p:nvSpPr>
            <p:cNvPr id="8" name="Rectangle 8"/>
            <p:cNvSpPr/>
            <p:nvPr/>
          </p:nvSpPr>
          <p:spPr>
            <a:xfrm>
              <a:off x="762000" y="1676400"/>
              <a:ext cx="57150" cy="1866900"/>
            </a:xfrm>
            <a:prstGeom prst="roundRect">
              <a:avLst>
                <a:gd name="adj" fmla="val 50000"/>
              </a:avLst>
            </a:prstGeom>
            <a:solidFill>
              <a:schemeClr val="accent1"/>
            </a:solidFill>
            <a:ln>
              <a:noFill/>
            </a:ln>
          </p:spPr>
        </p:sp>
        <p:sp>
          <p:nvSpPr>
            <p:cNvPr id="9" name="TextBox 9"/>
            <p:cNvSpPr txBox="1"/>
            <p:nvPr/>
          </p:nvSpPr>
          <p:spPr>
            <a:xfrm>
              <a:off x="1023366" y="1886902"/>
              <a:ext cx="992711"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THE METHOD</a:t>
              </a:r>
            </a:p>
          </p:txBody>
        </p:sp>
        <p:sp>
          <p:nvSpPr>
            <p:cNvPr id="10" name="TextBox 10"/>
            <p:cNvSpPr txBox="1"/>
            <p:nvPr/>
          </p:nvSpPr>
          <p:spPr>
            <a:xfrm>
              <a:off x="1047750" y="2198370"/>
              <a:ext cx="457912"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n-lt"/>
                  <a:ea typeface="+mn-ea"/>
                  <a:cs typeface="+mn-cs"/>
                </a:rPr>
                <a:t>1</a:t>
              </a:r>
            </a:p>
          </p:txBody>
        </p:sp>
        <p:sp>
          <p:nvSpPr>
            <p:cNvPr id="11" name="TextBox 11"/>
            <p:cNvSpPr txBox="1"/>
            <p:nvPr/>
          </p:nvSpPr>
          <p:spPr>
            <a:xfrm>
              <a:off x="1993011" y="2360771"/>
              <a:ext cx="196144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single trained model</a:t>
              </a:r>
            </a:p>
          </p:txBody>
        </p:sp>
        <p:sp>
          <p:nvSpPr>
            <p:cNvPr id="12" name="TextBox 12"/>
            <p:cNvSpPr txBox="1"/>
            <p:nvPr/>
          </p:nvSpPr>
          <p:spPr>
            <a:xfrm>
              <a:off x="1994535" y="2659856"/>
              <a:ext cx="24992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 ensemble of networks required</a:t>
              </a:r>
            </a:p>
          </p:txBody>
        </p:sp>
        <p:sp>
          <p:nvSpPr>
            <p:cNvPr id="13" name="Line 13"/>
            <p:cNvSpPr/>
            <p:nvPr/>
          </p:nvSpPr>
          <p:spPr>
            <a:xfrm>
              <a:off x="1028700" y="3009900"/>
              <a:ext cx="4800600" cy="9525"/>
            </a:xfrm>
            <a:custGeom>
              <a:avLst/>
              <a:gdLst/>
              <a:ahLst/>
              <a:cxnLst/>
              <a:rect l="l" t="t" r="r" b="b"/>
              <a:pathLst>
                <a:path w="4800600" h="9525">
                  <a:moveTo>
                    <a:pt x="0" y="0"/>
                  </a:moveTo>
                  <a:lnTo>
                    <a:pt x="4800600" y="0"/>
                  </a:lnTo>
                </a:path>
              </a:pathLst>
            </a:custGeom>
            <a:noFill/>
            <a:ln w="9525">
              <a:solidFill>
                <a:schemeClr val="accent4"/>
              </a:solidFill>
            </a:ln>
          </p:spPr>
        </p:sp>
        <p:sp>
          <p:nvSpPr>
            <p:cNvPr id="14" name="TextBox 14"/>
            <p:cNvSpPr txBox="1"/>
            <p:nvPr/>
          </p:nvSpPr>
          <p:spPr>
            <a:xfrm>
              <a:off x="1061085" y="3269456"/>
              <a:ext cx="4843985" cy="220028"/>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3</a:t>
              </a:r>
              <a:r>
                <a:rPr lang="en-US" sz="1120" dirty="0">
                  <a:solidFill>
                    <a:schemeClr val="dk2"/>
                  </a:solidFill>
                  <a:latin typeface="+mn-lt"/>
                  <a:ea typeface="+mn-ea"/>
                  <a:cs typeface="+mn-cs"/>
                </a:rPr>
                <a:t xml:space="preserve"> anchoring variants + </a:t>
              </a:r>
              <a:r>
                <a:rPr lang="en-US" sz="1650" b="1" dirty="0">
                  <a:solidFill>
                    <a:schemeClr val="accent2"/>
                  </a:solidFill>
                  <a:latin typeface="+mn-lt"/>
                  <a:ea typeface="+mn-ea"/>
                  <a:cs typeface="+mn-cs"/>
                </a:rPr>
                <a:t>1</a:t>
              </a:r>
              <a:r>
                <a:rPr lang="en-US" sz="1120" dirty="0">
                  <a:solidFill>
                    <a:schemeClr val="dk2"/>
                  </a:solidFill>
                  <a:latin typeface="+mn-lt"/>
                  <a:ea typeface="+mn-ea"/>
                  <a:cs typeface="+mn-cs"/>
                </a:rPr>
                <a:t xml:space="preserve"> pretrained partial-stochasticity option</a:t>
              </a:r>
            </a:p>
          </p:txBody>
        </p:sp>
      </p:grpSp>
      <p:grpSp>
        <p:nvGrpSpPr>
          <p:cNvPr id="27" name="Group 27"/>
          <p:cNvGrpSpPr/>
          <p:nvPr/>
        </p:nvGrpSpPr>
        <p:grpSpPr>
          <a:xfrm>
            <a:off x="6286500" y="1676400"/>
            <a:ext cx="5143500" cy="1866900"/>
            <a:chOff x="6286500" y="1676400"/>
            <a:chExt cx="5143500" cy="1866900"/>
          </a:xfrm>
        </p:grpSpPr>
        <p:sp>
          <p:nvSpPr>
            <p:cNvPr id="16" name="Rectangle 16"/>
            <p:cNvSpPr/>
            <p:nvPr/>
          </p:nvSpPr>
          <p:spPr>
            <a:xfrm>
              <a:off x="6286500" y="1676400"/>
              <a:ext cx="5143500" cy="1866900"/>
            </a:xfrm>
            <a:prstGeom prst="roundRect">
              <a:avLst>
                <a:gd name="adj" fmla="val 6122"/>
              </a:avLst>
            </a:prstGeom>
            <a:solidFill>
              <a:schemeClr val="lt2"/>
            </a:solidFill>
            <a:ln>
              <a:noFill/>
            </a:ln>
          </p:spPr>
        </p:sp>
        <p:sp>
          <p:nvSpPr>
            <p:cNvPr id="17" name="TextBox 17"/>
            <p:cNvSpPr txBox="1"/>
            <p:nvPr/>
          </p:nvSpPr>
          <p:spPr>
            <a:xfrm>
              <a:off x="6547866" y="1886902"/>
              <a:ext cx="1309817"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THE EVALUATION</a:t>
              </a:r>
            </a:p>
          </p:txBody>
        </p:sp>
        <p:sp>
          <p:nvSpPr>
            <p:cNvPr id="18" name="Rectangle 18"/>
            <p:cNvSpPr/>
            <p:nvPr/>
          </p:nvSpPr>
          <p:spPr>
            <a:xfrm>
              <a:off x="6553200" y="2152650"/>
              <a:ext cx="1428750" cy="1143000"/>
            </a:xfrm>
            <a:prstGeom prst="roundRect">
              <a:avLst>
                <a:gd name="adj" fmla="val 6667"/>
              </a:avLst>
            </a:prstGeom>
            <a:solidFill>
              <a:schemeClr val="lt1"/>
            </a:solidFill>
            <a:ln w="9525">
              <a:solidFill>
                <a:schemeClr val="accent4"/>
              </a:solidFill>
            </a:ln>
          </p:spPr>
        </p:sp>
        <p:sp>
          <p:nvSpPr>
            <p:cNvPr id="19" name="TextBox 19"/>
            <p:cNvSpPr txBox="1"/>
            <p:nvPr/>
          </p:nvSpPr>
          <p:spPr>
            <a:xfrm>
              <a:off x="7115942"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n-lt"/>
                  <a:ea typeface="+mn-ea"/>
                  <a:cs typeface="+mn-cs"/>
                </a:rPr>
                <a:t>3</a:t>
              </a:r>
            </a:p>
          </p:txBody>
        </p:sp>
        <p:sp>
          <p:nvSpPr>
            <p:cNvPr id="20" name="TextBox 20"/>
            <p:cNvSpPr txBox="1"/>
            <p:nvPr/>
          </p:nvSpPr>
          <p:spPr>
            <a:xfrm>
              <a:off x="6869992" y="2934652"/>
              <a:ext cx="79516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shift types</a:t>
              </a:r>
            </a:p>
          </p:txBody>
        </p:sp>
        <p:sp>
          <p:nvSpPr>
            <p:cNvPr id="21" name="Rectangle 21"/>
            <p:cNvSpPr/>
            <p:nvPr/>
          </p:nvSpPr>
          <p:spPr>
            <a:xfrm>
              <a:off x="8124825" y="2152650"/>
              <a:ext cx="1428750" cy="1143000"/>
            </a:xfrm>
            <a:prstGeom prst="roundRect">
              <a:avLst>
                <a:gd name="adj" fmla="val 6667"/>
              </a:avLst>
            </a:prstGeom>
            <a:solidFill>
              <a:schemeClr val="lt1"/>
            </a:solidFill>
            <a:ln w="9525">
              <a:solidFill>
                <a:schemeClr val="accent4"/>
              </a:solidFill>
            </a:ln>
          </p:spPr>
        </p:sp>
        <p:sp>
          <p:nvSpPr>
            <p:cNvPr id="22" name="TextBox 22"/>
            <p:cNvSpPr txBox="1"/>
            <p:nvPr/>
          </p:nvSpPr>
          <p:spPr>
            <a:xfrm>
              <a:off x="8687567"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3</a:t>
              </a:r>
            </a:p>
          </p:txBody>
        </p:sp>
        <p:sp>
          <p:nvSpPr>
            <p:cNvPr id="23" name="TextBox 23"/>
            <p:cNvSpPr txBox="1"/>
            <p:nvPr/>
          </p:nvSpPr>
          <p:spPr>
            <a:xfrm>
              <a:off x="8201320" y="2934652"/>
              <a:ext cx="127575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downstream tasks</a:t>
              </a:r>
            </a:p>
          </p:txBody>
        </p:sp>
        <p:sp>
          <p:nvSpPr>
            <p:cNvPr id="24" name="Rectangle 24"/>
            <p:cNvSpPr/>
            <p:nvPr/>
          </p:nvSpPr>
          <p:spPr>
            <a:xfrm>
              <a:off x="9696450" y="2152650"/>
              <a:ext cx="1428750" cy="1143000"/>
            </a:xfrm>
            <a:prstGeom prst="roundRect">
              <a:avLst>
                <a:gd name="adj" fmla="val 6667"/>
              </a:avLst>
            </a:prstGeom>
            <a:solidFill>
              <a:schemeClr val="lt1"/>
            </a:solidFill>
            <a:ln w="9525">
              <a:solidFill>
                <a:schemeClr val="accent4"/>
              </a:solidFill>
            </a:ln>
          </p:spPr>
        </p:sp>
        <p:sp>
          <p:nvSpPr>
            <p:cNvPr id="25" name="TextBox 25"/>
            <p:cNvSpPr txBox="1"/>
            <p:nvPr/>
          </p:nvSpPr>
          <p:spPr>
            <a:xfrm>
              <a:off x="10259192"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3"/>
                  </a:solidFill>
                  <a:latin typeface="+mn-lt"/>
                  <a:ea typeface="+mn-ea"/>
                  <a:cs typeface="+mn-cs"/>
                </a:rPr>
                <a:t>4</a:t>
              </a:r>
            </a:p>
          </p:txBody>
        </p:sp>
        <p:sp>
          <p:nvSpPr>
            <p:cNvPr id="26" name="TextBox 26"/>
            <p:cNvSpPr txBox="1"/>
            <p:nvPr/>
          </p:nvSpPr>
          <p:spPr>
            <a:xfrm>
              <a:off x="9534816" y="2934652"/>
              <a:ext cx="175201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baselines (incl. DeepEns)</a:t>
              </a:r>
            </a:p>
          </p:txBody>
        </p:sp>
      </p:grpSp>
      <p:grpSp>
        <p:nvGrpSpPr>
          <p:cNvPr id="41" name="Group 41"/>
          <p:cNvGrpSpPr/>
          <p:nvPr/>
        </p:nvGrpSpPr>
        <p:grpSpPr>
          <a:xfrm>
            <a:off x="762000" y="3733800"/>
            <a:ext cx="10668000" cy="2400300"/>
            <a:chOff x="762000" y="3733800"/>
            <a:chExt cx="10668000" cy="2400300"/>
          </a:xfrm>
        </p:grpSpPr>
        <p:sp>
          <p:nvSpPr>
            <p:cNvPr id="28" name="Rectangle 28"/>
            <p:cNvSpPr/>
            <p:nvPr/>
          </p:nvSpPr>
          <p:spPr>
            <a:xfrm>
              <a:off x="762000" y="3733800"/>
              <a:ext cx="10668000" cy="2400300"/>
            </a:xfrm>
            <a:prstGeom prst="roundRect">
              <a:avLst>
                <a:gd name="adj" fmla="val 4762"/>
              </a:avLst>
            </a:prstGeom>
            <a:solidFill>
              <a:schemeClr val="dk1"/>
            </a:solidFill>
            <a:ln>
              <a:noFill/>
            </a:ln>
          </p:spPr>
        </p:sp>
        <p:sp>
          <p:nvSpPr>
            <p:cNvPr id="29" name="TextBox 29"/>
            <p:cNvSpPr txBox="1"/>
            <p:nvPr/>
          </p:nvSpPr>
          <p:spPr>
            <a:xfrm>
              <a:off x="1061466" y="4039552"/>
              <a:ext cx="1579611" cy="205359"/>
            </a:xfrm>
            <a:prstGeom prst="rect">
              <a:avLst/>
            </a:prstGeom>
            <a:noFill/>
            <a:ln>
              <a:noFill/>
            </a:ln>
          </p:spPr>
          <p:txBody>
            <a:bodyPr wrap="none" lIns="0" tIns="0" rIns="0" bIns="0" anchor="t" anchorCtr="0">
              <a:spAutoFit/>
            </a:bodyPr>
            <a:lstStyle/>
            <a:p>
              <a:pPr algn="l"/>
              <a:r>
                <a:rPr lang="en-US" sz="1050" b="1" spc="150" dirty="0">
                  <a:solidFill>
                    <a:srgbClr val="7CA0EC"/>
                  </a:solidFill>
                  <a:latin typeface="+mn-lt"/>
                  <a:ea typeface="+mn-ea"/>
                  <a:cs typeface="+mn-cs"/>
                </a:rPr>
                <a:t>THE BOTTOM LINE</a:t>
              </a:r>
            </a:p>
          </p:txBody>
        </p:sp>
        <p:sp>
          <p:nvSpPr>
            <p:cNvPr id="30" name="TextBox 30"/>
            <p:cNvSpPr txBox="1"/>
            <p:nvPr/>
          </p:nvSpPr>
          <p:spPr>
            <a:xfrm>
              <a:off x="1055370" y="4386262"/>
              <a:ext cx="691841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Single-model cost, ensemble-level reliability</a:t>
              </a:r>
            </a:p>
          </p:txBody>
        </p:sp>
        <p:sp>
          <p:nvSpPr>
            <p:cNvPr id="31" name="TextBox 31"/>
            <p:cNvSpPr txBox="1"/>
            <p:nvPr/>
          </p:nvSpPr>
          <p:spPr>
            <a:xfrm>
              <a:off x="1060323" y="4853464"/>
              <a:ext cx="9760394"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Despite requiring only one model, G-ΔUQ consistently matches or outperforms these baselines on all three metrics:</a:t>
              </a:r>
            </a:p>
          </p:txBody>
        </p:sp>
        <p:sp>
          <p:nvSpPr>
            <p:cNvPr id="32" name="Rectangle 32"/>
            <p:cNvSpPr/>
            <p:nvPr/>
          </p:nvSpPr>
          <p:spPr>
            <a:xfrm>
              <a:off x="1066800" y="5219700"/>
              <a:ext cx="3238500" cy="685800"/>
            </a:xfrm>
            <a:prstGeom prst="roundRect">
              <a:avLst>
                <a:gd name="adj" fmla="val 11111"/>
              </a:avLst>
            </a:prstGeom>
            <a:solidFill>
              <a:srgbClr val="1D2740"/>
            </a:solidFill>
            <a:ln>
              <a:noFill/>
            </a:ln>
          </p:spPr>
        </p:sp>
        <p:sp>
          <p:nvSpPr>
            <p:cNvPr id="33" name="TextBox 33"/>
            <p:cNvSpPr txBox="1"/>
            <p:nvPr/>
          </p:nvSpPr>
          <p:spPr>
            <a:xfrm>
              <a:off x="1251204" y="5394960"/>
              <a:ext cx="145143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Calibration (ECE)</a:t>
              </a:r>
            </a:p>
          </p:txBody>
        </p:sp>
        <p:sp>
          <p:nvSpPr>
            <p:cNvPr id="34" name="TextBox 34"/>
            <p:cNvSpPr txBox="1"/>
            <p:nvPr/>
          </p:nvSpPr>
          <p:spPr>
            <a:xfrm>
              <a:off x="1251966" y="5658802"/>
              <a:ext cx="2121566"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Lower error under every shift</a:t>
              </a:r>
            </a:p>
          </p:txBody>
        </p:sp>
        <p:sp>
          <p:nvSpPr>
            <p:cNvPr id="35" name="Rectangle 35"/>
            <p:cNvSpPr/>
            <p:nvPr/>
          </p:nvSpPr>
          <p:spPr>
            <a:xfrm>
              <a:off x="4476750" y="5219700"/>
              <a:ext cx="3238500" cy="685800"/>
            </a:xfrm>
            <a:prstGeom prst="roundRect">
              <a:avLst>
                <a:gd name="adj" fmla="val 11111"/>
              </a:avLst>
            </a:prstGeom>
            <a:solidFill>
              <a:srgbClr val="1D2740"/>
            </a:solidFill>
            <a:ln>
              <a:noFill/>
            </a:ln>
          </p:spPr>
        </p:sp>
        <p:sp>
          <p:nvSpPr>
            <p:cNvPr id="36" name="TextBox 36"/>
            <p:cNvSpPr txBox="1"/>
            <p:nvPr/>
          </p:nvSpPr>
          <p:spPr>
            <a:xfrm>
              <a:off x="4661154" y="5394960"/>
              <a:ext cx="1997381"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OOD detection (AUROC)</a:t>
              </a:r>
            </a:p>
          </p:txBody>
        </p:sp>
        <p:sp>
          <p:nvSpPr>
            <p:cNvPr id="37" name="TextBox 37"/>
            <p:cNvSpPr txBox="1"/>
            <p:nvPr/>
          </p:nvSpPr>
          <p:spPr>
            <a:xfrm>
              <a:off x="4661916" y="5658802"/>
              <a:ext cx="2213119"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Highly competitive vs. baselines</a:t>
              </a:r>
            </a:p>
          </p:txBody>
        </p:sp>
        <p:sp>
          <p:nvSpPr>
            <p:cNvPr id="38" name="Rectangle 38"/>
            <p:cNvSpPr/>
            <p:nvPr/>
          </p:nvSpPr>
          <p:spPr>
            <a:xfrm>
              <a:off x="7886700" y="5219700"/>
              <a:ext cx="3238500" cy="685800"/>
            </a:xfrm>
            <a:prstGeom prst="roundRect">
              <a:avLst>
                <a:gd name="adj" fmla="val 11111"/>
              </a:avLst>
            </a:prstGeom>
            <a:solidFill>
              <a:srgbClr val="1D2740"/>
            </a:solidFill>
            <a:ln>
              <a:noFill/>
            </a:ln>
          </p:spPr>
        </p:sp>
        <p:sp>
          <p:nvSpPr>
            <p:cNvPr id="39" name="TextBox 39"/>
            <p:cNvSpPr txBox="1"/>
            <p:nvPr/>
          </p:nvSpPr>
          <p:spPr>
            <a:xfrm>
              <a:off x="8071104" y="5394960"/>
              <a:ext cx="214055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Gen-gap prediction (MAE)</a:t>
              </a:r>
            </a:p>
          </p:txBody>
        </p:sp>
        <p:sp>
          <p:nvSpPr>
            <p:cNvPr id="40" name="TextBox 40"/>
            <p:cNvSpPr txBox="1"/>
            <p:nvPr/>
          </p:nvSpPr>
          <p:spPr>
            <a:xfrm>
              <a:off x="8071866" y="5658802"/>
              <a:ext cx="2496059"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Among best single-model estimators</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572452"/>
            <a:ext cx="10668000" cy="865823"/>
            <a:chOff x="762000" y="572452"/>
            <a:chExt cx="10668000"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4091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10 · TAKEAWAY</a:t>
              </a:r>
            </a:p>
          </p:txBody>
        </p:sp>
        <p:sp>
          <p:nvSpPr>
            <p:cNvPr id="4" name="Line 4"/>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7" name="Group 7"/>
          <p:cNvGrpSpPr/>
          <p:nvPr/>
        </p:nvGrpSpPr>
        <p:grpSpPr>
          <a:xfrm>
            <a:off x="749046" y="886778"/>
            <a:ext cx="4705681" cy="498729"/>
            <a:chOff x="749046" y="886778"/>
            <a:chExt cx="4705681" cy="498729"/>
          </a:xfrm>
        </p:grpSpPr>
        <p:sp>
          <p:nvSpPr>
            <p:cNvPr id="6" name="TextBox 6"/>
            <p:cNvSpPr txBox="1"/>
            <p:nvPr/>
          </p:nvSpPr>
          <p:spPr>
            <a:xfrm>
              <a:off x="749046" y="886778"/>
              <a:ext cx="470568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The core message is simple</a:t>
              </a:r>
            </a:p>
          </p:txBody>
        </p:sp>
      </p:grpSp>
      <p:grpSp>
        <p:nvGrpSpPr>
          <p:cNvPr id="16" name="Group 16"/>
          <p:cNvGrpSpPr/>
          <p:nvPr/>
        </p:nvGrpSpPr>
        <p:grpSpPr>
          <a:xfrm>
            <a:off x="762000" y="1733550"/>
            <a:ext cx="5286375" cy="2019300"/>
            <a:chOff x="762000" y="1733550"/>
            <a:chExt cx="5286375" cy="2019300"/>
          </a:xfrm>
        </p:grpSpPr>
        <p:sp>
          <p:nvSpPr>
            <p:cNvPr id="8" name="Rectangle 8"/>
            <p:cNvSpPr/>
            <p:nvPr/>
          </p:nvSpPr>
          <p:spPr>
            <a:xfrm>
              <a:off x="762000" y="1733550"/>
              <a:ext cx="5286375" cy="2019300"/>
            </a:xfrm>
            <a:prstGeom prst="roundRect">
              <a:avLst>
                <a:gd name="adj" fmla="val 5660"/>
              </a:avLst>
            </a:prstGeom>
            <a:solidFill>
              <a:srgbClr val="FBE9E2"/>
            </a:solidFill>
            <a:ln w="9525">
              <a:solidFill>
                <a:srgbClr val="F2C6B4"/>
              </a:solidFill>
            </a:ln>
          </p:spPr>
        </p:sp>
        <p:sp>
          <p:nvSpPr>
            <p:cNvPr id="9" name="Rectangle 9"/>
            <p:cNvSpPr/>
            <p:nvPr/>
          </p:nvSpPr>
          <p:spPr>
            <a:xfrm>
              <a:off x="762000" y="1733550"/>
              <a:ext cx="57150" cy="2019300"/>
            </a:xfrm>
            <a:prstGeom prst="roundRect">
              <a:avLst>
                <a:gd name="adj" fmla="val 50000"/>
              </a:avLst>
            </a:prstGeom>
            <a:solidFill>
              <a:schemeClr val="accent3"/>
            </a:solidFill>
            <a:ln>
              <a:noFill/>
            </a:ln>
          </p:spPr>
        </p:sp>
        <p:sp>
          <p:nvSpPr>
            <p:cNvPr id="10" name="TextBox 10"/>
            <p:cNvSpPr txBox="1"/>
            <p:nvPr/>
          </p:nvSpPr>
          <p:spPr>
            <a:xfrm>
              <a:off x="1061085" y="1993106"/>
              <a:ext cx="547561" cy="220028"/>
            </a:xfrm>
            <a:prstGeom prst="rect">
              <a:avLst/>
            </a:prstGeom>
            <a:noFill/>
            <a:ln>
              <a:noFill/>
            </a:ln>
          </p:spPr>
          <p:txBody>
            <a:bodyPr wrap="none" lIns="0" tIns="0" rIns="0" bIns="0" anchor="t" anchorCtr="0">
              <a:spAutoFit/>
            </a:bodyPr>
            <a:lstStyle/>
            <a:p>
              <a:pPr algn="l"/>
              <a:r>
                <a:rPr lang="en-US" sz="1120" b="1" spc="75" dirty="0">
                  <a:solidFill>
                    <a:srgbClr val="C4562F"/>
                  </a:solidFill>
                  <a:latin typeface="+mn-lt"/>
                  <a:ea typeface="+mn-ea"/>
                  <a:cs typeface="+mn-cs"/>
                </a:rPr>
                <a:t>DON'T</a:t>
              </a:r>
            </a:p>
          </p:txBody>
        </p:sp>
        <p:sp>
          <p:nvSpPr>
            <p:cNvPr id="11" name="TextBox 11"/>
            <p:cNvSpPr txBox="1"/>
            <p:nvPr/>
          </p:nvSpPr>
          <p:spPr>
            <a:xfrm>
              <a:off x="1057656" y="2301240"/>
              <a:ext cx="236789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Don't rely on scale</a:t>
              </a:r>
            </a:p>
          </p:txBody>
        </p:sp>
        <p:sp>
          <p:nvSpPr>
            <p:cNvPr id="12" name="TextBox 12"/>
            <p:cNvSpPr txBox="1"/>
            <p:nvPr/>
          </p:nvSpPr>
          <p:spPr>
            <a:xfrm>
              <a:off x="1060704" y="2766060"/>
              <a:ext cx="307140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Larger or more expressive GNNs do not</a:t>
              </a:r>
            </a:p>
          </p:txBody>
        </p:sp>
        <p:sp>
          <p:nvSpPr>
            <p:cNvPr id="13" name="TextBox 13"/>
            <p:cNvSpPr txBox="1"/>
            <p:nvPr/>
          </p:nvSpPr>
          <p:spPr>
            <a:xfrm>
              <a:off x="1060704" y="2975610"/>
              <a:ext cx="33965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automatically give trustworthy confidence</a:t>
              </a:r>
            </a:p>
          </p:txBody>
        </p:sp>
        <p:sp>
          <p:nvSpPr>
            <p:cNvPr id="14" name="TextBox 14"/>
            <p:cNvSpPr txBox="1"/>
            <p:nvPr/>
          </p:nvSpPr>
          <p:spPr>
            <a:xfrm>
              <a:off x="1060704" y="3185160"/>
              <a:ext cx="283113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estimates under distribution shift.</a:t>
              </a:r>
            </a:p>
          </p:txBody>
        </p:sp>
        <p:sp>
          <p:nvSpPr>
            <p:cNvPr id="15" name="TextBox 15"/>
            <p:cNvSpPr txBox="1"/>
            <p:nvPr/>
          </p:nvSpPr>
          <p:spPr>
            <a:xfrm>
              <a:off x="1060704" y="3489960"/>
              <a:ext cx="2621141"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Expressivity is not calibration.</a:t>
              </a:r>
            </a:p>
          </p:txBody>
        </p:sp>
      </p:grpSp>
      <p:grpSp>
        <p:nvGrpSpPr>
          <p:cNvPr id="25" name="Group 25"/>
          <p:cNvGrpSpPr/>
          <p:nvPr/>
        </p:nvGrpSpPr>
        <p:grpSpPr>
          <a:xfrm>
            <a:off x="6238875" y="1733550"/>
            <a:ext cx="5191125" cy="2019300"/>
            <a:chOff x="6238875" y="1733550"/>
            <a:chExt cx="5191125" cy="2019300"/>
          </a:xfrm>
        </p:grpSpPr>
        <p:sp>
          <p:nvSpPr>
            <p:cNvPr id="17" name="Rectangle 17"/>
            <p:cNvSpPr/>
            <p:nvPr/>
          </p:nvSpPr>
          <p:spPr>
            <a:xfrm>
              <a:off x="6238875" y="1733550"/>
              <a:ext cx="5191125" cy="2019300"/>
            </a:xfrm>
            <a:prstGeom prst="roundRect">
              <a:avLst>
                <a:gd name="adj" fmla="val 5660"/>
              </a:avLst>
            </a:prstGeom>
            <a:solidFill>
              <a:srgbClr val="E1F3F0"/>
            </a:solidFill>
            <a:ln w="9525">
              <a:solidFill>
                <a:srgbClr val="B7E2DA"/>
              </a:solidFill>
            </a:ln>
          </p:spPr>
        </p:sp>
        <p:sp>
          <p:nvSpPr>
            <p:cNvPr id="18" name="Rectangle 18"/>
            <p:cNvSpPr/>
            <p:nvPr/>
          </p:nvSpPr>
          <p:spPr>
            <a:xfrm>
              <a:off x="6238875" y="1733550"/>
              <a:ext cx="57150" cy="2019300"/>
            </a:xfrm>
            <a:prstGeom prst="roundRect">
              <a:avLst>
                <a:gd name="adj" fmla="val 50000"/>
              </a:avLst>
            </a:prstGeom>
            <a:solidFill>
              <a:schemeClr val="accent2"/>
            </a:solidFill>
            <a:ln>
              <a:noFill/>
            </a:ln>
          </p:spPr>
        </p:sp>
        <p:sp>
          <p:nvSpPr>
            <p:cNvPr id="19" name="TextBox 19"/>
            <p:cNvSpPr txBox="1"/>
            <p:nvPr/>
          </p:nvSpPr>
          <p:spPr>
            <a:xfrm>
              <a:off x="6537960" y="1993106"/>
              <a:ext cx="239555"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DO</a:t>
              </a:r>
            </a:p>
          </p:txBody>
        </p:sp>
        <p:sp>
          <p:nvSpPr>
            <p:cNvPr id="20" name="TextBox 20"/>
            <p:cNvSpPr txBox="1"/>
            <p:nvPr/>
          </p:nvSpPr>
          <p:spPr>
            <a:xfrm>
              <a:off x="6534531" y="2301240"/>
              <a:ext cx="271014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Anchor stochastically</a:t>
              </a:r>
            </a:p>
          </p:txBody>
        </p:sp>
        <p:sp>
          <p:nvSpPr>
            <p:cNvPr id="21" name="TextBox 21"/>
            <p:cNvSpPr txBox="1"/>
            <p:nvPr/>
          </p:nvSpPr>
          <p:spPr>
            <a:xfrm>
              <a:off x="6537579" y="2766060"/>
              <a:ext cx="343393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Adapt the principle of stochastic anchoring</a:t>
              </a:r>
            </a:p>
          </p:txBody>
        </p:sp>
        <p:sp>
          <p:nvSpPr>
            <p:cNvPr id="22" name="TextBox 22"/>
            <p:cNvSpPr txBox="1"/>
            <p:nvPr/>
          </p:nvSpPr>
          <p:spPr>
            <a:xfrm>
              <a:off x="6537579" y="2975610"/>
              <a:ext cx="36469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graphs: anchor in feature or hidden space,</a:t>
              </a:r>
            </a:p>
          </p:txBody>
        </p:sp>
        <p:sp>
          <p:nvSpPr>
            <p:cNvPr id="23" name="TextBox 23"/>
            <p:cNvSpPr txBox="1"/>
            <p:nvPr/>
          </p:nvSpPr>
          <p:spPr>
            <a:xfrm>
              <a:off x="6537579" y="3185160"/>
              <a:ext cx="358231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vary anchors, and read uncertainty from the</a:t>
              </a:r>
            </a:p>
          </p:txBody>
        </p:sp>
        <p:sp>
          <p:nvSpPr>
            <p:cNvPr id="24" name="TextBox 24"/>
            <p:cNvSpPr txBox="1"/>
            <p:nvPr/>
          </p:nvSpPr>
          <p:spPr>
            <a:xfrm>
              <a:off x="6537579" y="3394710"/>
              <a:ext cx="194264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variance of predictions.</a:t>
              </a:r>
            </a:p>
          </p:txBody>
        </p:sp>
      </p:grpSp>
      <p:grpSp>
        <p:nvGrpSpPr>
          <p:cNvPr id="41" name="Group 41"/>
          <p:cNvGrpSpPr/>
          <p:nvPr/>
        </p:nvGrpSpPr>
        <p:grpSpPr>
          <a:xfrm>
            <a:off x="762000" y="3905250"/>
            <a:ext cx="10668000" cy="2228850"/>
            <a:chOff x="762000" y="3905250"/>
            <a:chExt cx="10668000" cy="2228850"/>
          </a:xfrm>
        </p:grpSpPr>
        <p:sp>
          <p:nvSpPr>
            <p:cNvPr id="26" name="Rectangle 26"/>
            <p:cNvSpPr/>
            <p:nvPr/>
          </p:nvSpPr>
          <p:spPr>
            <a:xfrm>
              <a:off x="762000" y="3905250"/>
              <a:ext cx="10668000" cy="2228850"/>
            </a:xfrm>
            <a:prstGeom prst="roundRect">
              <a:avLst>
                <a:gd name="adj" fmla="val 5128"/>
              </a:avLst>
            </a:prstGeom>
            <a:solidFill>
              <a:schemeClr val="dk1"/>
            </a:solidFill>
            <a:ln>
              <a:noFill/>
            </a:ln>
          </p:spPr>
        </p:sp>
        <p:sp>
          <p:nvSpPr>
            <p:cNvPr id="27" name="TextBox 27"/>
            <p:cNvSpPr txBox="1"/>
            <p:nvPr/>
          </p:nvSpPr>
          <p:spPr>
            <a:xfrm>
              <a:off x="1061466" y="4191952"/>
              <a:ext cx="558630" cy="205359"/>
            </a:xfrm>
            <a:prstGeom prst="rect">
              <a:avLst/>
            </a:prstGeom>
            <a:noFill/>
            <a:ln>
              <a:noFill/>
            </a:ln>
          </p:spPr>
          <p:txBody>
            <a:bodyPr wrap="none" lIns="0" tIns="0" rIns="0" bIns="0" anchor="t" anchorCtr="0">
              <a:spAutoFit/>
            </a:bodyPr>
            <a:lstStyle/>
            <a:p>
              <a:pPr algn="l"/>
              <a:r>
                <a:rPr lang="en-US" sz="1050" b="1" spc="150" dirty="0">
                  <a:solidFill>
                    <a:srgbClr val="7CA0EC"/>
                  </a:solidFill>
                  <a:latin typeface="+mn-lt"/>
                  <a:ea typeface="+mn-ea"/>
                  <a:cs typeface="+mn-cs"/>
                </a:rPr>
                <a:t>G-ΔUQ</a:t>
              </a:r>
            </a:p>
          </p:txBody>
        </p:sp>
        <p:sp>
          <p:nvSpPr>
            <p:cNvPr id="28" name="TextBox 28"/>
            <p:cNvSpPr txBox="1"/>
            <p:nvPr/>
          </p:nvSpPr>
          <p:spPr>
            <a:xfrm>
              <a:off x="1056513" y="4505801"/>
              <a:ext cx="7996228"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n-lt"/>
                  <a:ea typeface="+mn-ea"/>
                  <a:cs typeface="+mn-cs"/>
                </a:rPr>
                <a:t>A flexible, scalable, single-model uncertainty framework</a:t>
              </a:r>
            </a:p>
          </p:txBody>
        </p:sp>
        <p:sp>
          <p:nvSpPr>
            <p:cNvPr id="29" name="TextBox 29"/>
            <p:cNvSpPr txBox="1"/>
            <p:nvPr/>
          </p:nvSpPr>
          <p:spPr>
            <a:xfrm>
              <a:off x="1060704" y="4937760"/>
              <a:ext cx="751327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Reliable, well-calibrated uncertainty across structural, size, concept, and covariate shifts —</a:t>
              </a:r>
            </a:p>
          </p:txBody>
        </p:sp>
        <p:sp>
          <p:nvSpPr>
            <p:cNvPr id="30" name="TextBox 30"/>
            <p:cNvSpPr txBox="1"/>
            <p:nvPr/>
          </p:nvSpPr>
          <p:spPr>
            <a:xfrm>
              <a:off x="1060704" y="5147310"/>
              <a:ext cx="6304331"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and its pretrained variant is inexpensive to add to the models you already have.</a:t>
              </a:r>
            </a:p>
          </p:txBody>
        </p:sp>
        <p:sp>
          <p:nvSpPr>
            <p:cNvPr id="31" name="Rectangle 31"/>
            <p:cNvSpPr/>
            <p:nvPr/>
          </p:nvSpPr>
          <p:spPr>
            <a:xfrm>
              <a:off x="1066800" y="5486400"/>
              <a:ext cx="2381250" cy="457200"/>
            </a:xfrm>
            <a:prstGeom prst="roundRect">
              <a:avLst>
                <a:gd name="adj" fmla="val 16667"/>
              </a:avLst>
            </a:prstGeom>
            <a:solidFill>
              <a:srgbClr val="1D2740"/>
            </a:solidFill>
            <a:ln>
              <a:noFill/>
            </a:ln>
          </p:spPr>
        </p:sp>
        <p:sp>
          <p:nvSpPr>
            <p:cNvPr id="32" name="TextBox 32"/>
            <p:cNvSpPr txBox="1"/>
            <p:nvPr/>
          </p:nvSpPr>
          <p:spPr>
            <a:xfrm>
              <a:off x="1251585" y="5641181"/>
              <a:ext cx="1874178"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Structural · Size shifts</a:t>
              </a:r>
            </a:p>
          </p:txBody>
        </p:sp>
        <p:sp>
          <p:nvSpPr>
            <p:cNvPr id="33" name="Rectangle 33"/>
            <p:cNvSpPr/>
            <p:nvPr/>
          </p:nvSpPr>
          <p:spPr>
            <a:xfrm>
              <a:off x="3600450" y="5486400"/>
              <a:ext cx="2381250" cy="457200"/>
            </a:xfrm>
            <a:prstGeom prst="roundRect">
              <a:avLst>
                <a:gd name="adj" fmla="val 16667"/>
              </a:avLst>
            </a:prstGeom>
            <a:solidFill>
              <a:srgbClr val="1D2740"/>
            </a:solidFill>
            <a:ln>
              <a:noFill/>
            </a:ln>
          </p:spPr>
        </p:sp>
        <p:sp>
          <p:nvSpPr>
            <p:cNvPr id="34" name="TextBox 34"/>
            <p:cNvSpPr txBox="1"/>
            <p:nvPr/>
          </p:nvSpPr>
          <p:spPr>
            <a:xfrm>
              <a:off x="3785235" y="5641181"/>
              <a:ext cx="2088047"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Concept · Covariate shifts</a:t>
              </a:r>
            </a:p>
          </p:txBody>
        </p:sp>
        <p:sp>
          <p:nvSpPr>
            <p:cNvPr id="35" name="Rectangle 35"/>
            <p:cNvSpPr/>
            <p:nvPr/>
          </p:nvSpPr>
          <p:spPr>
            <a:xfrm>
              <a:off x="6134100" y="5486400"/>
              <a:ext cx="2762250" cy="457200"/>
            </a:xfrm>
            <a:prstGeom prst="roundRect">
              <a:avLst>
                <a:gd name="adj" fmla="val 16667"/>
              </a:avLst>
            </a:prstGeom>
            <a:solidFill>
              <a:schemeClr val="accent2"/>
            </a:solidFill>
            <a:ln>
              <a:noFill/>
            </a:ln>
          </p:spPr>
        </p:sp>
        <p:sp>
          <p:nvSpPr>
            <p:cNvPr id="36" name="TextBox 36"/>
            <p:cNvSpPr txBox="1"/>
            <p:nvPr/>
          </p:nvSpPr>
          <p:spPr>
            <a:xfrm>
              <a:off x="6318885" y="5641181"/>
              <a:ext cx="2170028"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Pretrained = cheap to adopt</a:t>
              </a:r>
            </a:p>
          </p:txBody>
        </p:sp>
        <p:sp>
          <p:nvSpPr>
            <p:cNvPr id="37" name="Rectangle 37"/>
            <p:cNvSpPr/>
            <p:nvPr/>
          </p:nvSpPr>
          <p:spPr>
            <a:xfrm>
              <a:off x="9315450" y="5486400"/>
              <a:ext cx="1428750" cy="457200"/>
            </a:xfrm>
            <a:prstGeom prst="roundRect">
              <a:avLst>
                <a:gd name="adj" fmla="val 16667"/>
              </a:avLst>
            </a:prstGeom>
            <a:solidFill>
              <a:schemeClr val="lt1"/>
            </a:solidFill>
            <a:ln>
              <a:noFill/>
            </a:ln>
          </p:spPr>
        </p:sp>
        <p:pic>
          <p:nvPicPr>
            <p:cNvPr id="38" name="Image 38"/>
            <p:cNvPicPr>
              <a:picLocks noChangeAspect="1"/>
            </p:cNvPicPr>
            <p:nvPr/>
          </p:nvPicPr>
          <p:blipFill>
            <a:blip r:embed="rId2"/>
            <a:stretch>
              <a:fillRect/>
            </a:stretch>
          </p:blipFill>
          <p:spPr>
            <a:xfrm>
              <a:off x="9372600" y="5524500"/>
              <a:ext cx="381000" cy="381000"/>
            </a:xfrm>
            <a:prstGeom prst="rect">
              <a:avLst/>
            </a:prstGeom>
          </p:spPr>
        </p:pic>
        <p:sp>
          <p:nvSpPr>
            <p:cNvPr id="39" name="TextBox 39"/>
            <p:cNvSpPr txBox="1"/>
            <p:nvPr/>
          </p:nvSpPr>
          <p:spPr>
            <a:xfrm>
              <a:off x="9843897" y="5571649"/>
              <a:ext cx="318971"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Code</a:t>
              </a:r>
            </a:p>
          </p:txBody>
        </p:sp>
        <p:sp>
          <p:nvSpPr>
            <p:cNvPr id="40" name="TextBox 40"/>
            <p:cNvSpPr txBox="1"/>
            <p:nvPr/>
          </p:nvSpPr>
          <p:spPr>
            <a:xfrm>
              <a:off x="9844088" y="5759291"/>
              <a:ext cx="1096851"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/pujacomputes/gduq</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duq_video">
  <a:themeElements>
    <a:clrScheme name="gduq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gduq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duq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duq_video">
  <a:themeElements>
    <a:clrScheme name="gduq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gduq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duq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2026-07-15T09:09:59Z</dcterms:created>
  <dcterms:modified xsi:type="dcterms:W3CDTF">2026-07-15T09:09:59Z</dcterms:modified>
  <cp:category/>
  <cp:contentStatus/>
</cp:coreProperties>
</file>
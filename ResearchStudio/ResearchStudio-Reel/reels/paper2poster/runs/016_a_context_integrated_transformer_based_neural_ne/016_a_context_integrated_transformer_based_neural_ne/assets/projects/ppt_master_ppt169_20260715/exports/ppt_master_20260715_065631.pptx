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mast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mast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714f4fa6eae9858f.png"/><Relationship Id="rId3" Type="http://schemas.openxmlformats.org/officeDocument/2006/relationships/image" Target="../media/image_11adc0c1fcd0f6ce.png"/><Relationship Id="rId4" Type="http://schemas.openxmlformats.org/officeDocument/2006/relationships/image" Target="../media/image_3f8b86cb2d0e9a10.png"/><Relationship Id="rId5" Type="http://schemas.openxmlformats.org/officeDocument/2006/relationships/image" Target="../media/image_714f4fa6eae9858f.png"/><Relationship Id="rId6" Type="http://schemas.openxmlformats.org/officeDocument/2006/relationships/image" Target="../media/image_f2e516a0e64d7a89.png"/><Relationship Id="rId7" Type="http://schemas.openxmlformats.org/officeDocument/2006/relationships/image" Target="../media/image_452e26312d6105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698c192aabac3c6e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9934625dc0420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8293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82980" y="962025"/>
            <a:ext cx="4116705" cy="293370"/>
            <a:chOff x="982980" y="962025"/>
            <a:chExt cx="4116705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982980" y="962025"/>
              <a:ext cx="1313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ICML 2022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3130" y="962025"/>
              <a:ext cx="2916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0975" indent="-180975">
                <a:buClr>
                  <a:schemeClr val="dk2"/>
                </a:buClr>
                <a:buSzTx/>
                <a:buFontTx/>
                <a:buChar char="•"/>
              </a:pPr>
              <a:r>
                <a:rPr lang="en-US" sz="1500" spc="1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NEURAL AUCTION DESIGN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500" y="1428750"/>
            <a:ext cx="9563100" cy="2286000"/>
            <a:chOff x="952500" y="1428750"/>
            <a:chExt cx="9563100" cy="2286000"/>
          </a:xfrm>
        </p:grpSpPr>
        <p:sp>
          <p:nvSpPr>
            <p:cNvPr id="9" name="Rectangle 9"/>
            <p:cNvSpPr/>
            <p:nvPr/>
          </p:nvSpPr>
          <p:spPr>
            <a:xfrm>
              <a:off x="990600" y="1428750"/>
              <a:ext cx="9525000" cy="22860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2500" y="1729740"/>
              <a:ext cx="6050406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8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CITransNet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8794" y="2932748"/>
              <a:ext cx="78165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Context-Integrated Transformer-Based Neural Network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8794" y="3275648"/>
              <a:ext cx="24903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 Auction Design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0699" y="3925729"/>
            <a:ext cx="9548403" cy="593122"/>
            <a:chOff x="1020699" y="3925729"/>
            <a:chExt cx="9548403" cy="593122"/>
          </a:xfrm>
        </p:grpSpPr>
        <p:sp>
          <p:nvSpPr>
            <p:cNvPr id="14" name="TextBox 14"/>
            <p:cNvSpPr txBox="1"/>
            <p:nvPr/>
          </p:nvSpPr>
          <p:spPr>
            <a:xfrm>
              <a:off x="1020699" y="3925729"/>
              <a:ext cx="95484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Zhijian Duan · Jingwu Tang · Yutong Yin · Zhe Feng · Xiang Yan · Manzil Zaheer · Xiaotie Deng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842" y="4254818"/>
              <a:ext cx="7613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Peking University · Google Research · Shanghai Jiao Tong University · Google DeepMind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0600" y="4762500"/>
            <a:ext cx="7620000" cy="819150"/>
            <a:chOff x="990600" y="4762500"/>
            <a:chExt cx="7620000" cy="819150"/>
          </a:xfrm>
        </p:grpSpPr>
        <p:sp>
          <p:nvSpPr>
            <p:cNvPr id="17" name="Rectangle 17"/>
            <p:cNvSpPr/>
            <p:nvPr/>
          </p:nvSpPr>
          <p:spPr>
            <a:xfrm>
              <a:off x="990600" y="4762500"/>
              <a:ext cx="76200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2723" y="4939189"/>
              <a:ext cx="1838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REVENUE-MAXIMIZING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3104" y="5252085"/>
              <a:ext cx="1664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Incentive-compatible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8500" y="4933950"/>
              <a:ext cx="14288" cy="476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36823" y="4939189"/>
              <a:ext cx="10930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ASYMMETRIC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37204" y="5252085"/>
              <a:ext cx="1738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Not forced symmetric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0" y="4933950"/>
              <a:ext cx="14288" cy="476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32323" y="4939189"/>
              <a:ext cx="1657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SIZE-GENERALIZING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32704" y="5252085"/>
              <a:ext cx="1939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Transfers across scales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6153150"/>
            <a:ext cx="3524250" cy="504825"/>
            <a:chOff x="1028700" y="6153150"/>
            <a:chExt cx="3524250" cy="504825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700" y="6153150"/>
              <a:ext cx="419100" cy="419100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6400" y="6276975"/>
              <a:ext cx="1257300" cy="38100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4200" y="6305550"/>
              <a:ext cx="1428750" cy="333375"/>
            </a:xfrm>
            <a:prstGeom prst="rect">
              <a:avLst/>
            </a:prstGeom>
          </p:spPr>
        </p:pic>
      </p:grpSp>
      <p:grpSp>
        <p:nvGrpSpPr>
          <p:cNvPr id="33" name="Group 33"/>
          <p:cNvGrpSpPr/>
          <p:nvPr/>
        </p:nvGrpSpPr>
        <p:grpSpPr>
          <a:xfrm>
            <a:off x="9563100" y="1431230"/>
            <a:ext cx="1790700" cy="2160076"/>
            <a:chOff x="9563100" y="1431230"/>
            <a:chExt cx="1790700" cy="2160076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63100" y="1431230"/>
              <a:ext cx="1790700" cy="178574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9773136" y="3356610"/>
              <a:ext cx="1370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Peking University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77400" y="4476750"/>
            <a:ext cx="1790700" cy="1104900"/>
            <a:chOff x="9677400" y="4476750"/>
            <a:chExt cx="1790700" cy="1104900"/>
          </a:xfrm>
        </p:grpSpPr>
        <p:sp>
          <p:nvSpPr>
            <p:cNvPr id="34" name="Rectangle 34"/>
            <p:cNvSpPr/>
            <p:nvPr/>
          </p:nvSpPr>
          <p:spPr>
            <a:xfrm>
              <a:off x="9677400" y="4476750"/>
              <a:ext cx="838200" cy="1104900"/>
            </a:xfrm>
            <a:prstGeom prst="roundRect">
              <a:avLst>
                <a:gd name="adj" fmla="val 11364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91700" y="4591050"/>
              <a:ext cx="609600" cy="6096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9914176" y="530780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629900" y="4476750"/>
              <a:ext cx="838200" cy="1104900"/>
            </a:xfrm>
            <a:prstGeom prst="roundRect">
              <a:avLst>
                <a:gd name="adj" fmla="val 11364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44200" y="4591050"/>
              <a:ext cx="609600" cy="60960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10823140" y="5307806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027067" y="6271260"/>
            <a:ext cx="14090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arXiv:2201.12489</a:t>
            </a:r>
          </a:p>
        </p:txBody>
      </p:sp>
      <p:sp>
        <p:nvSpPr>
          <p:cNvPr id="42" name="cue_s01_c1_peking_university_google_citransnet" title="cue_s01_c1_peking_university_google_citransnet" descr="cue_s01_c1_peking_university_google_citransnet From Peking University and Google, CITransNet is a context-integrated transformer for auction design."/>
          <p:cNvSpPr/>
          <p:nvPr/>
        </p:nvSpPr>
        <p:spPr>
          <a:xfrm>
            <a:off x="991209" y="1428521"/>
            <a:ext cx="9524390" cy="22857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1_c2_maximizes_seller_revenue_while_stayi" title="cue_s01_c2_maximizes_seller_revenue_while_stayi" descr="cue_s01_c2_maximizes_seller_revenue_while_stayi It maximizes seller revenue while staying incentive-compatible, discovers asymmetric solutions, and generalizes to auction sizes it never saw during training."/>
          <p:cNvSpPr/>
          <p:nvPr/>
        </p:nvSpPr>
        <p:spPr>
          <a:xfrm>
            <a:off x="991209" y="4762195"/>
            <a:ext cx="7620000" cy="8188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657225"/>
            <a:ext cx="10690860" cy="1060704"/>
            <a:chOff x="745236" y="657225"/>
            <a:chExt cx="10690860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1823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PROBLEM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63469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four-decade open problem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62000" y="2019300"/>
            <a:ext cx="5143500" cy="4095750"/>
            <a:chOff x="762000" y="2019300"/>
            <a:chExt cx="5143500" cy="4095750"/>
          </a:xfrm>
        </p:grpSpPr>
        <p:sp>
          <p:nvSpPr>
            <p:cNvPr id="10" name="Rectangle 10"/>
            <p:cNvSpPr/>
            <p:nvPr/>
          </p:nvSpPr>
          <p:spPr>
            <a:xfrm>
              <a:off x="762000" y="2019300"/>
              <a:ext cx="5143500" cy="4095750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323" y="2396014"/>
              <a:ext cx="993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GOAL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5370" y="2786062"/>
              <a:ext cx="36587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Design one auction that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5370" y="3338512"/>
              <a:ext cx="28852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maximizes revenue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5370" y="3795712"/>
              <a:ext cx="310784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stays truthful.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66800" y="4476750"/>
              <a:ext cx="45339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561" y="4761071"/>
              <a:ext cx="3427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Incentive-compatible (IC): no bidder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561" y="5027771"/>
              <a:ext cx="3426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ever gains by lying about valuations.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9561" y="5561171"/>
              <a:ext cx="305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Revenue is the seller's expected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561" y="5827871"/>
              <a:ext cx="27002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payment across the auction.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2019300"/>
            <a:ext cx="5143500" cy="4119468"/>
            <a:chOff x="6286500" y="2019300"/>
            <a:chExt cx="5143500" cy="4119468"/>
          </a:xfrm>
        </p:grpSpPr>
        <p:grpSp>
          <p:nvGrpSpPr>
            <p:cNvPr id="26" name="Group 26"/>
            <p:cNvGrpSpPr/>
            <p:nvPr/>
          </p:nvGrpSpPr>
          <p:grpSpPr>
            <a:xfrm>
              <a:off x="6286500" y="2019300"/>
              <a:ext cx="5143500" cy="1143000"/>
              <a:chOff x="6286500" y="2019300"/>
              <a:chExt cx="5143500" cy="1143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286500" y="2019300"/>
                <a:ext cx="5143500" cy="1143000"/>
              </a:xfrm>
              <a:prstGeom prst="roundRect">
                <a:avLst>
                  <a:gd name="adj" fmla="val 11667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6610350" y="249555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039356" y="2301240"/>
                <a:ext cx="18393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Myerson, 1981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41261" y="2665571"/>
                <a:ext cx="346185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Single-item optimal auction — solved.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751801" y="2429828"/>
                <a:ext cx="386353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5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✓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286500" y="3314700"/>
              <a:ext cx="5143500" cy="1143000"/>
              <a:chOff x="6286500" y="3314700"/>
              <a:chExt cx="5143500" cy="114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3314700"/>
                <a:ext cx="5143500" cy="1143000"/>
              </a:xfrm>
              <a:prstGeom prst="roundRect">
                <a:avLst>
                  <a:gd name="adj" fmla="val 11667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610350" y="3790950"/>
                <a:ext cx="190500" cy="19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039356" y="3596640"/>
                <a:ext cx="26982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Multi-item, still open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41261" y="3960971"/>
                <a:ext cx="35775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Unsolved even for 2 bidders × 2 items.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938848" y="37576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2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?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286500" y="4610100"/>
              <a:ext cx="5143500" cy="1528668"/>
              <a:chOff x="6286500" y="4610100"/>
              <a:chExt cx="5143500" cy="1528668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286500" y="4610100"/>
                <a:ext cx="5143500" cy="1504950"/>
              </a:xfrm>
              <a:prstGeom prst="roundRect">
                <a:avLst>
                  <a:gd name="adj" fmla="val 886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84823" y="4929664"/>
                <a:ext cx="2239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spc="1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PRIOR DEEP METHODS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83299" y="5297329"/>
                <a:ext cx="30328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Handle only a fixed number of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83299" y="5564029"/>
                <a:ext cx="331284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bidders and items, or force the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83299" y="5830729"/>
                <a:ext cx="264284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 to be symmetric.</a:t>
                </a:r>
              </a:p>
            </p:txBody>
          </p:sp>
        </p:grpSp>
      </p:grpSp>
      <p:sp>
        <p:nvSpPr>
          <p:cNvPr id="40" name="cue_s02_c1_classic_problem_auction_theory_desig" title="cue_s02_c1_classic_problem_auction_theory_desig" descr="cue_s02_c1_classic_problem_auction_theory_desig A classic problem in auction theory is designing a mechanism that maximizes the seller's revenue while staying incentive-compatible."/>
          <p:cNvSpPr/>
          <p:nvPr/>
        </p:nvSpPr>
        <p:spPr>
          <a:xfrm>
            <a:off x="762000" y="2018995"/>
            <a:ext cx="5143804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2_c2_myerson_solved_single_item_case_1981" title="cue_s02_c2_myerson_solved_single_item_case_1981" descr="cue_s02_c2_myerson_solved_single_item_case_1981 Myerson solved the single-item case in 1981, but the multi-item case remains open, and prior deep methods assume fixed or symmetric auctions."/>
          <p:cNvSpPr/>
          <p:nvPr/>
        </p:nvSpPr>
        <p:spPr>
          <a:xfrm>
            <a:off x="6286195" y="2018995"/>
            <a:ext cx="5143804" cy="1143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657225"/>
            <a:ext cx="10690860" cy="1060704"/>
            <a:chOff x="745236" y="657225"/>
            <a:chExt cx="10690860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2221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MOTIVATION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550580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Real auctions are </a:t>
              </a:r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richer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2019300"/>
            <a:ext cx="11163655" cy="838200"/>
            <a:chOff x="762000" y="2019300"/>
            <a:chExt cx="11163655" cy="838200"/>
          </a:xfrm>
        </p:grpSpPr>
        <p:sp>
          <p:nvSpPr>
            <p:cNvPr id="10" name="Rectangle 10"/>
            <p:cNvSpPr/>
            <p:nvPr/>
          </p:nvSpPr>
          <p:spPr>
            <a:xfrm>
              <a:off x="762000" y="2019300"/>
              <a:ext cx="10668000" cy="838200"/>
            </a:xfrm>
            <a:prstGeom prst="roundRect">
              <a:avLst>
                <a:gd name="adj" fmla="val 15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6894" y="2323148"/>
              <a:ext cx="108687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The simple settings prior work assumed do not match markets like </a:t>
              </a:r>
              <a:r>
                <a:rPr lang="en-US" sz="19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e-commerce ads</a:t>
              </a: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3143250"/>
            <a:ext cx="6858000" cy="3007995"/>
            <a:chOff x="762000" y="3143250"/>
            <a:chExt cx="6858000" cy="3007995"/>
          </a:xfrm>
        </p:grpSpPr>
        <p:sp>
          <p:nvSpPr>
            <p:cNvPr id="13" name="Rectangle 13"/>
            <p:cNvSpPr/>
            <p:nvPr/>
          </p:nvSpPr>
          <p:spPr>
            <a:xfrm>
              <a:off x="762000" y="3143250"/>
              <a:ext cx="6858000" cy="2971800"/>
            </a:xfrm>
            <a:prstGeom prst="roundRect">
              <a:avLst>
                <a:gd name="adj" fmla="val 5128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500914"/>
              <a:ext cx="274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E-COMMERCE ADVERTISING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49274" y="3818572"/>
              <a:ext cx="4081004" cy="827723"/>
              <a:chOff x="1049274" y="3818572"/>
              <a:chExt cx="4081004" cy="827723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049274" y="3818572"/>
                <a:ext cx="297769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4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Many × Many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59180" y="4352925"/>
                <a:ext cx="40710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Many bidders compete for many ad slots.</a:t>
                </a:r>
              </a:p>
            </p:txBody>
          </p:sp>
        </p:grpSp>
        <p:sp>
          <p:nvSpPr>
            <p:cNvPr id="18" name="Rectangle 18"/>
            <p:cNvSpPr/>
            <p:nvPr/>
          </p:nvSpPr>
          <p:spPr>
            <a:xfrm>
              <a:off x="1066800" y="4762500"/>
              <a:ext cx="62484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58799" y="4973479"/>
              <a:ext cx="4949353" cy="587216"/>
              <a:chOff x="1058799" y="4973479"/>
              <a:chExt cx="4949353" cy="587216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058799" y="4973479"/>
                <a:ext cx="169778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Public features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59180" y="5267325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Each bidder and item carries descriptive context.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58799" y="5621179"/>
              <a:ext cx="4828356" cy="530066"/>
              <a:chOff x="1058799" y="5621179"/>
              <a:chExt cx="4828356" cy="530066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058799" y="5621179"/>
                <a:ext cx="132923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Varying size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59180" y="5857875"/>
                <a:ext cx="48279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 different number of participants every round.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7810500" y="3143250"/>
            <a:ext cx="3619500" cy="2971800"/>
            <a:chOff x="7810500" y="3143250"/>
            <a:chExt cx="3619500" cy="2971800"/>
          </a:xfrm>
        </p:grpSpPr>
        <p:sp>
          <p:nvSpPr>
            <p:cNvPr id="26" name="Rectangle 26"/>
            <p:cNvSpPr/>
            <p:nvPr/>
          </p:nvSpPr>
          <p:spPr>
            <a:xfrm>
              <a:off x="7810500" y="3143250"/>
              <a:ext cx="3619500" cy="2971800"/>
            </a:xfrm>
            <a:prstGeom prst="roundRect">
              <a:avLst>
                <a:gd name="adj" fmla="val 512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08823" y="3500914"/>
              <a:ext cx="1490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WHAT WE NEED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5394" y="3980498"/>
              <a:ext cx="28539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 architecture that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6156" y="4568190"/>
              <a:ext cx="19083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▸ absorbs public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53806" y="4872990"/>
              <a:ext cx="2429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features as context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6156" y="5406390"/>
              <a:ext cx="2041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▸ handles varying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53806" y="5711190"/>
              <a:ext cx="15691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auction sizes</a:t>
              </a:r>
            </a:p>
          </p:txBody>
        </p:sp>
      </p:grpSp>
      <p:sp>
        <p:nvSpPr>
          <p:cNvPr id="34" name="cue_s03_c1_real_auctions_richer" title="cue_s03_c1_real_auctions_richer" descr="cue_s03_c1_real_auctions_richer Real auctions are richer."/>
          <p:cNvSpPr/>
          <p:nvPr/>
        </p:nvSpPr>
        <p:spPr>
          <a:xfrm>
            <a:off x="762000" y="2018995"/>
            <a:ext cx="11164214" cy="8380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3_c2_e_commerce_advertising_many_bidders" title="cue_s03_c2_e_commerce_advertising_many_bidders" descr="cue_s03_c2_e_commerce_advertising_many_bidders In e-commerce advertising, many bidders compete for many ad slots described by features, and every round has a different number of participants."/>
          <p:cNvSpPr/>
          <p:nvPr/>
        </p:nvSpPr>
        <p:spPr>
          <a:xfrm>
            <a:off x="762000" y="3143021"/>
            <a:ext cx="6858000" cy="29715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3_c3_need_architecture_absorbs_context_ha" title="cue_s03_c3_need_architecture_absorbs_context_ha" descr="cue_s03_c3_need_architecture_absorbs_context_ha We need an architecture that absorbs context and handles varying auction sizes."/>
          <p:cNvSpPr/>
          <p:nvPr/>
        </p:nvSpPr>
        <p:spPr>
          <a:xfrm>
            <a:off x="7810195" y="3143021"/>
            <a:ext cx="3619804" cy="29715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5236" y="657225"/>
            <a:ext cx="10694670" cy="1060704"/>
            <a:chOff x="745236" y="657225"/>
            <a:chExt cx="10694670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2487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· CONTRIBUTION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415288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contributions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810500" y="1123950"/>
              <a:ext cx="3629406" cy="475679"/>
              <a:chOff x="7810500" y="1123950"/>
              <a:chExt cx="3629406" cy="475679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810500" y="1123950"/>
                <a:ext cx="3619500" cy="400050"/>
              </a:xfrm>
              <a:prstGeom prst="roundRect">
                <a:avLst>
                  <a:gd name="adj" fmla="val 19048"/>
                </a:avLst>
              </a:prstGeom>
              <a:solidFill>
                <a:schemeClr val="lt1">
                  <a:alpha val="0"/>
                </a:scheme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187005" y="1218248"/>
                <a:ext cx="32529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9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 xml:space="preserve">A framework </a:t>
                </a:r>
                <a:r>
                  <a:rPr lang="en-US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en-US" sz="19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 xml:space="preserve"> a network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762000" y="2019300"/>
            <a:ext cx="5191125" cy="4095750"/>
            <a:chOff x="762000" y="2019300"/>
            <a:chExt cx="5191125" cy="4095750"/>
          </a:xfrm>
        </p:grpSpPr>
        <p:sp>
          <p:nvSpPr>
            <p:cNvPr id="13" name="Rectangle 13"/>
            <p:cNvSpPr/>
            <p:nvPr/>
          </p:nvSpPr>
          <p:spPr>
            <a:xfrm>
              <a:off x="762000" y="2019300"/>
              <a:ext cx="5191125" cy="4095750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7750" y="22250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6132" y="3030855"/>
              <a:ext cx="3087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contextual learning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6132" y="3373755"/>
              <a:ext cx="16094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framework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66800" y="3905250"/>
              <a:ext cx="4581525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8799" y="4192429"/>
              <a:ext cx="38876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Extends the RegretNet framework to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8799" y="4478179"/>
              <a:ext cx="4025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contextual setting: optimal design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799" y="4763929"/>
              <a:ext cx="30150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 constrained optimization.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66800" y="5257800"/>
              <a:ext cx="3523291" cy="571500"/>
              <a:chOff x="1066800" y="5257800"/>
              <a:chExt cx="3523291" cy="571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66800" y="5257800"/>
                <a:ext cx="3429000" cy="571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49680" y="5457825"/>
                <a:ext cx="33404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Sample-complexity bound proved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238875" y="2019300"/>
            <a:ext cx="5191125" cy="4095750"/>
            <a:chOff x="6238875" y="2019300"/>
            <a:chExt cx="5191125" cy="4095750"/>
          </a:xfrm>
        </p:grpSpPr>
        <p:sp>
          <p:nvSpPr>
            <p:cNvPr id="25" name="Rectangle 25"/>
            <p:cNvSpPr/>
            <p:nvPr/>
          </p:nvSpPr>
          <p:spPr>
            <a:xfrm>
              <a:off x="6238875" y="2019300"/>
              <a:ext cx="5191125" cy="4095750"/>
            </a:xfrm>
            <a:prstGeom prst="roundRect">
              <a:avLst>
                <a:gd name="adj" fmla="val 37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24625" y="22250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33007" y="3030855"/>
              <a:ext cx="3653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CITransNet, the network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43675" y="3543300"/>
              <a:ext cx="4581525" cy="9525"/>
            </a:xfrm>
            <a:prstGeom prst="rect">
              <a:avLst/>
            </a:prstGeom>
            <a:solidFill>
              <a:srgbClr val="33507C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535293" y="3860482"/>
              <a:ext cx="3456036" cy="608457"/>
              <a:chOff x="6535293" y="3860482"/>
              <a:chExt cx="3456036" cy="608457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6535293" y="3860482"/>
                <a:ext cx="345603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▸ Permutation-equivariant over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82943" y="4146232"/>
                <a:ext cx="24823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both bids and contexts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535293" y="4603432"/>
              <a:ext cx="3323070" cy="608457"/>
              <a:chOff x="6535293" y="4603432"/>
              <a:chExt cx="3323070" cy="608457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535293" y="4603432"/>
                <a:ext cx="33230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▸ Not restricted to symmetric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82943" y="4889182"/>
                <a:ext cx="9385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auctions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35293" y="5346382"/>
              <a:ext cx="3389547" cy="608457"/>
              <a:chOff x="6535293" y="5346382"/>
              <a:chExt cx="3389547" cy="608457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535293" y="5346382"/>
                <a:ext cx="33895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▸ Parameter count independent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82943" y="5632132"/>
                <a:ext cx="17493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of auction scale</a:t>
                </a:r>
              </a:p>
            </p:txBody>
          </p:sp>
        </p:grpSp>
      </p:grpSp>
      <p:sp>
        <p:nvSpPr>
          <p:cNvPr id="39" name="cue_s04_c1_makes_two_contributions" title="cue_s04_c1_makes_two_contributions" descr="cue_s04_c1_makes_two_contributions The paper makes two contributions."/>
          <p:cNvSpPr/>
          <p:nvPr/>
        </p:nvSpPr>
        <p:spPr>
          <a:xfrm>
            <a:off x="7810195" y="1124026"/>
            <a:ext cx="3629558" cy="4759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4_c2_extends_regretnet_framework_contextu" title="cue_s04_c2_extends_regretnet_framework_contextu" descr="cue_s04_c2_extends_regretnet_framework_contextu It extends the RegretNet framework to the contextual setting and proves a sample-complexity bound."/>
          <p:cNvSpPr/>
          <p:nvPr/>
        </p:nvSpPr>
        <p:spPr>
          <a:xfrm>
            <a:off x="762000" y="2018995"/>
            <a:ext cx="5191353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4_c3_introduces_citransnet_permutation_eq" title="cue_s04_c3_introduces_citransnet_permutation_eq" descr="cue_s04_c3_introduces_citransnet_permutation_eq And it introduces CITransNet, permutation-equivariant over bids and contexts, not restricted to symmetric auctions, with a parameter count independent of auction scale."/>
          <p:cNvSpPr/>
          <p:nvPr/>
        </p:nvSpPr>
        <p:spPr>
          <a:xfrm>
            <a:off x="6238646" y="2018995"/>
            <a:ext cx="5191353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657225"/>
            <a:ext cx="10690860" cy="1060704"/>
            <a:chOff x="745236" y="657225"/>
            <a:chExt cx="10690860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16682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· METHOD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399735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Inside CITransNet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2019300"/>
            <a:ext cx="3143250" cy="2019300"/>
            <a:chOff x="762000" y="2019300"/>
            <a:chExt cx="3143250" cy="2019300"/>
          </a:xfrm>
        </p:grpSpPr>
        <p:sp>
          <p:nvSpPr>
            <p:cNvPr id="10" name="Rectangle 10"/>
            <p:cNvSpPr/>
            <p:nvPr/>
          </p:nvSpPr>
          <p:spPr>
            <a:xfrm>
              <a:off x="762000" y="2019300"/>
              <a:ext cx="3143250" cy="2019300"/>
            </a:xfrm>
            <a:prstGeom prst="roundRect">
              <a:avLst>
                <a:gd name="adj" fmla="val 660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2223" y="2300764"/>
              <a:ext cx="14137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THREE INPUTS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318" y="2717482"/>
              <a:ext cx="1962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▸ Bidding profile </a:t>
              </a:r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0318" y="3136582"/>
              <a:ext cx="21856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▸ Bidder-contexts </a:t>
              </a:r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0318" y="3555682"/>
              <a:ext cx="1986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▸ Item-contexts </a:t>
              </a:r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4191000"/>
            <a:ext cx="3205439" cy="2019300"/>
            <a:chOff x="762000" y="4191000"/>
            <a:chExt cx="3205439" cy="2019300"/>
          </a:xfrm>
        </p:grpSpPr>
        <p:sp>
          <p:nvSpPr>
            <p:cNvPr id="16" name="Rectangle 16"/>
            <p:cNvSpPr/>
            <p:nvPr/>
          </p:nvSpPr>
          <p:spPr>
            <a:xfrm>
              <a:off x="762000" y="4191000"/>
              <a:ext cx="3143250" cy="2019300"/>
            </a:xfrm>
            <a:prstGeom prst="roundRect">
              <a:avLst>
                <a:gd name="adj" fmla="val 66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2223" y="4472464"/>
              <a:ext cx="1499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OUTPUT LAYER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0318" y="4889182"/>
              <a:ext cx="2699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▸ Allocation probabilities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0318" y="5308282"/>
              <a:ext cx="1235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▸ Payments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28700" y="5715000"/>
              <a:ext cx="2609850" cy="9525"/>
            </a:xfrm>
            <a:prstGeom prst="rect">
              <a:avLst/>
            </a:prstGeom>
            <a:solidFill>
              <a:srgbClr val="33507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1842" y="5912168"/>
              <a:ext cx="2945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Zero-regret enforced in training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0" y="2019300"/>
            <a:ext cx="7239000" cy="3429000"/>
            <a:chOff x="4191000" y="2019300"/>
            <a:chExt cx="7239000" cy="3429000"/>
          </a:xfrm>
        </p:grpSpPr>
        <p:sp>
          <p:nvSpPr>
            <p:cNvPr id="23" name="Rectangle 23"/>
            <p:cNvSpPr/>
            <p:nvPr/>
          </p:nvSpPr>
          <p:spPr>
            <a:xfrm>
              <a:off x="4191000" y="2019300"/>
              <a:ext cx="7239000" cy="3429000"/>
            </a:xfrm>
            <a:prstGeom prst="roundRect">
              <a:avLst>
                <a:gd name="adj" fmla="val 388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35500" y="2171700"/>
              <a:ext cx="6350000" cy="2857500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6096000" y="2247900"/>
              <a:ext cx="3429000" cy="2705100"/>
            </a:xfrm>
            <a:prstGeom prst="rect">
              <a:avLst/>
            </a:prstGeom>
            <a:solidFill>
              <a:schemeClr val="accent2">
                <a:alpha val="0"/>
              </a:scheme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89323" y="5158264"/>
              <a:ext cx="3090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TRANSFORMER INTERACTION LAYERS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4023" y="5158264"/>
              <a:ext cx="27140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Figure 1 — CITransNet schematic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1000" y="5619750"/>
            <a:ext cx="7710148" cy="590550"/>
            <a:chOff x="4191000" y="5619750"/>
            <a:chExt cx="7710148" cy="590550"/>
          </a:xfrm>
        </p:grpSpPr>
        <p:sp>
          <p:nvSpPr>
            <p:cNvPr id="29" name="Rectangle 29"/>
            <p:cNvSpPr/>
            <p:nvPr/>
          </p:nvSpPr>
          <p:spPr>
            <a:xfrm>
              <a:off x="4191000" y="5619750"/>
              <a:ext cx="7239000" cy="590550"/>
            </a:xfrm>
            <a:prstGeom prst="roundRect">
              <a:avLst>
                <a:gd name="adj" fmla="val 1935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88180" y="5819775"/>
              <a:ext cx="7412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Global average, row, and column transformers — permutation-equivariant.</a:t>
              </a:r>
            </a:p>
          </p:txBody>
        </p:sp>
      </p:grpSp>
      <p:sp>
        <p:nvSpPr>
          <p:cNvPr id="32" name="cue_s05_c1_citransnet_takes_three_inputs_biddin" title="cue_s05_c1_citransnet_takes_three_inputs_biddin" descr="cue_s05_c1_citransnet_takes_three_inputs_biddin CITransNet takes three inputs: the bidding profile, bidder-contexts, and item-contexts."/>
          <p:cNvSpPr/>
          <p:nvPr/>
        </p:nvSpPr>
        <p:spPr>
          <a:xfrm>
            <a:off x="762000" y="2018995"/>
            <a:ext cx="3143097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5_c2_embeds_contexts_bids_representation" title="cue_s05_c2_embeds_contexts_bids_representation" descr="cue_s05_c2_embeds_contexts_bids_representation It embeds contexts with bids into a representation per bidder-item pair, then passes it through transformer interaction layers that mix a global average with row and column transformers, staying permutation-equivariant."/>
          <p:cNvSpPr/>
          <p:nvPr/>
        </p:nvSpPr>
        <p:spPr>
          <a:xfrm>
            <a:off x="4191609" y="2018995"/>
            <a:ext cx="7239609" cy="3429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5_c3_final_layer_outputs_allocations_paym" title="cue_s05_c3_final_layer_outputs_allocations_paym" descr="cue_s05_c3_final_layer_outputs_allocations_paym A final layer outputs allocations and payments, with zero-regret enforced during training."/>
          <p:cNvSpPr/>
          <p:nvPr/>
        </p:nvSpPr>
        <p:spPr>
          <a:xfrm>
            <a:off x="762000" y="4190923"/>
            <a:ext cx="3205276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657225"/>
            <a:ext cx="10690860" cy="1060704"/>
            <a:chOff x="745236" y="657225"/>
            <a:chExt cx="10690860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3529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· DATASET / BENCHMARK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536548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Nine synthetic settings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62000" y="2019300"/>
            <a:ext cx="3143250" cy="4095750"/>
            <a:chOff x="762000" y="2019300"/>
            <a:chExt cx="3143250" cy="4095750"/>
          </a:xfrm>
        </p:grpSpPr>
        <p:sp>
          <p:nvSpPr>
            <p:cNvPr id="10" name="Rectangle 10"/>
            <p:cNvSpPr/>
            <p:nvPr/>
          </p:nvSpPr>
          <p:spPr>
            <a:xfrm>
              <a:off x="762000" y="2019300"/>
              <a:ext cx="3143250" cy="4095750"/>
            </a:xfrm>
            <a:prstGeom prst="roundRect">
              <a:avLst>
                <a:gd name="adj" fmla="val 48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323" y="2300764"/>
              <a:ext cx="1246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EVALUATION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9650" y="2519362"/>
              <a:ext cx="912709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3996690"/>
              <a:ext cx="1214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synthetic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4282440"/>
              <a:ext cx="2066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auction settings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66800" y="4781550"/>
              <a:ext cx="2533650" cy="9525"/>
            </a:xfrm>
            <a:prstGeom prst="rect">
              <a:avLst/>
            </a:prstGeom>
            <a:solidFill>
              <a:srgbClr val="33507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180" y="5057775"/>
              <a:ext cx="1576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Every number 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180" y="532447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averaged over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3846" y="5592128"/>
              <a:ext cx="11252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 runs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191000" y="2019300"/>
            <a:ext cx="3429000" cy="4095750"/>
            <a:chOff x="4191000" y="2019300"/>
            <a:chExt cx="3429000" cy="4095750"/>
          </a:xfrm>
        </p:grpSpPr>
        <p:sp>
          <p:nvSpPr>
            <p:cNvPr id="20" name="Rectangle 20"/>
            <p:cNvSpPr/>
            <p:nvPr/>
          </p:nvSpPr>
          <p:spPr>
            <a:xfrm>
              <a:off x="4191000" y="2019300"/>
              <a:ext cx="3429000" cy="409575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89323" y="2300764"/>
              <a:ext cx="14137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SANITY CHECK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4370" y="2671762"/>
              <a:ext cx="24056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Single-item (3)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4495800" y="3200400"/>
              <a:ext cx="2686050" cy="623507"/>
              <a:chOff x="4495800" y="3200400"/>
              <a:chExt cx="2686050" cy="623507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495800" y="3200400"/>
                <a:ext cx="81915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87688" y="3325178"/>
                <a:ext cx="235374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429250" y="3200400"/>
                <a:ext cx="81915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721138" y="3325178"/>
                <a:ext cx="235374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362700" y="3200400"/>
                <a:ext cx="81915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54588" y="3325178"/>
                <a:ext cx="235374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</p:grpSp>
        <p:sp>
          <p:nvSpPr>
            <p:cNvPr id="30" name="Rectangle 30"/>
            <p:cNvSpPr/>
            <p:nvPr/>
          </p:nvSpPr>
          <p:spPr>
            <a:xfrm>
              <a:off x="4495800" y="4152900"/>
              <a:ext cx="28194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87799" y="4459129"/>
              <a:ext cx="25219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Optimal solutions known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87799" y="4744879"/>
              <a:ext cx="29475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analytically from Myerson's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87799" y="5030629"/>
              <a:ext cx="28555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theory — used to verify the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87799" y="5316379"/>
              <a:ext cx="28874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learned mechanism is right.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905750" y="2019300"/>
            <a:ext cx="3524250" cy="4095750"/>
            <a:chOff x="7905750" y="2019300"/>
            <a:chExt cx="3524250" cy="4095750"/>
          </a:xfrm>
        </p:grpSpPr>
        <p:sp>
          <p:nvSpPr>
            <p:cNvPr id="36" name="Rectangle 36"/>
            <p:cNvSpPr/>
            <p:nvPr/>
          </p:nvSpPr>
          <p:spPr>
            <a:xfrm>
              <a:off x="7905750" y="2019300"/>
              <a:ext cx="3524250" cy="4095750"/>
            </a:xfrm>
            <a:prstGeom prst="roundRect">
              <a:avLst>
                <a:gd name="adj" fmla="val 4324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04073" y="2300764"/>
              <a:ext cx="1666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HARD CASES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99120" y="2671762"/>
              <a:ext cx="22951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Multi-item (6)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210550" y="3200400"/>
              <a:ext cx="3086100" cy="481584"/>
              <a:chOff x="8210550" y="3200400"/>
              <a:chExt cx="3086100" cy="481584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210550" y="3200400"/>
                <a:ext cx="476250" cy="476250"/>
              </a:xfrm>
              <a:prstGeom prst="roundRect">
                <a:avLst>
                  <a:gd name="adj" fmla="val 18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65602" y="3329940"/>
                <a:ext cx="1661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763000" y="3200400"/>
                <a:ext cx="476250" cy="476250"/>
              </a:xfrm>
              <a:prstGeom prst="roundRect">
                <a:avLst>
                  <a:gd name="adj" fmla="val 18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918052" y="3329940"/>
                <a:ext cx="1661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9315450" y="3200400"/>
                <a:ext cx="476250" cy="476250"/>
              </a:xfrm>
              <a:prstGeom prst="roundRect">
                <a:avLst>
                  <a:gd name="adj" fmla="val 18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470502" y="3329940"/>
                <a:ext cx="1661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9867900" y="3200400"/>
                <a:ext cx="476250" cy="476250"/>
              </a:xfrm>
              <a:prstGeom prst="roundRect">
                <a:avLst>
                  <a:gd name="adj" fmla="val 18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022952" y="3329940"/>
                <a:ext cx="1661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10420350" y="3200400"/>
                <a:ext cx="476250" cy="476250"/>
              </a:xfrm>
              <a:prstGeom prst="roundRect">
                <a:avLst>
                  <a:gd name="adj" fmla="val 18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575402" y="3329940"/>
                <a:ext cx="1661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972800" y="3200400"/>
                <a:ext cx="323850" cy="476250"/>
              </a:xfrm>
              <a:prstGeom prst="roundRect">
                <a:avLst>
                  <a:gd name="adj" fmla="val 2647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1085256" y="3329940"/>
                <a:ext cx="989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I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8210550" y="4000500"/>
              <a:ext cx="29146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191500" y="4401979"/>
              <a:ext cx="3175005" cy="1508189"/>
              <a:chOff x="8191500" y="4401979"/>
              <a:chExt cx="3175005" cy="1508189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8202549" y="4401979"/>
                <a:ext cx="5552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Up to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91500" y="4722495"/>
                <a:ext cx="1581653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 × 10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02549" y="5316379"/>
                <a:ext cx="30257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bidders × items — the largest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02549" y="5602129"/>
                <a:ext cx="316395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size studied in the literature.</a:t>
                </a:r>
              </a:p>
            </p:txBody>
          </p:sp>
        </p:grpSp>
      </p:grpSp>
      <p:sp>
        <p:nvSpPr>
          <p:cNvPr id="59" name="cue_s06_c1_they_evaluate_nine_synthetic_setting" title="cue_s06_c1_they_evaluate_nine_synthetic_setting" descr="cue_s06_c1_they_evaluate_nine_synthetic_setting They evaluate on nine synthetic settings."/>
          <p:cNvSpPr/>
          <p:nvPr/>
        </p:nvSpPr>
        <p:spPr>
          <a:xfrm>
            <a:off x="762000" y="2018995"/>
            <a:ext cx="3143097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e_s06_c2_three_single_item_cases_through_know" title="cue_s06_c2_three_single_item_cases_through_know" descr="cue_s06_c2_three_single_item_cases_through_know Three single-item cases, A through C, have known Myerson-optimal solutions as a sanity check."/>
          <p:cNvSpPr/>
          <p:nvPr/>
        </p:nvSpPr>
        <p:spPr>
          <a:xfrm>
            <a:off x="4191609" y="2018995"/>
            <a:ext cx="3428390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ue_s06_c3_other_six_through_multi_item_auction" title="cue_s06_c3_other_six_through_multi_item_auction" descr="cue_s06_c3_other_six_through_multi_item_auction The other six, D through I, are multi-item auctions up to five bidders and ten items, the largest size in the auction-design literature."/>
          <p:cNvSpPr/>
          <p:nvPr/>
        </p:nvSpPr>
        <p:spPr>
          <a:xfrm>
            <a:off x="7905292" y="2018995"/>
            <a:ext cx="3524707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5236" y="657225"/>
            <a:ext cx="10693908" cy="1060704"/>
            <a:chOff x="745236" y="657225"/>
            <a:chExt cx="10693908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2143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· KEY RESULT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532205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 works — in two parts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53255" y="1123950"/>
              <a:ext cx="3685889" cy="462534"/>
              <a:chOff x="7753255" y="1123950"/>
              <a:chExt cx="3685889" cy="462534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572500" y="1123950"/>
                <a:ext cx="2857500" cy="400050"/>
              </a:xfrm>
              <a:prstGeom prst="roundRect">
                <a:avLst>
                  <a:gd name="adj" fmla="val 19048"/>
                </a:avLst>
              </a:prstGeom>
              <a:solidFill>
                <a:schemeClr val="lt1">
                  <a:alpha val="0"/>
                </a:scheme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753255" y="1234440"/>
                <a:ext cx="36858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Known optima, then hard cases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762000" y="2019300"/>
            <a:ext cx="5191125" cy="4095750"/>
            <a:chOff x="762000" y="2019300"/>
            <a:chExt cx="5191125" cy="4095750"/>
          </a:xfrm>
        </p:grpSpPr>
        <p:sp>
          <p:nvSpPr>
            <p:cNvPr id="13" name="Rectangle 13"/>
            <p:cNvSpPr/>
            <p:nvPr/>
          </p:nvSpPr>
          <p:spPr>
            <a:xfrm>
              <a:off x="762000" y="2019300"/>
              <a:ext cx="5191125" cy="4095750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2300764"/>
              <a:ext cx="2320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PART 1 · SINGLE-ITEM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2586990"/>
              <a:ext cx="3563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Recovers the known optimum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047750" y="3150870"/>
              <a:ext cx="4461262" cy="1047750"/>
              <a:chOff x="1047750" y="3150870"/>
              <a:chExt cx="4461262" cy="104775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047750" y="3150870"/>
                <a:ext cx="2137162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0.593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9180" y="3876675"/>
                <a:ext cx="19386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CITransNet revenue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371850" y="3150870"/>
                <a:ext cx="2137162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0.594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83280" y="3876675"/>
                <a:ext cx="16676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Myerson-optimal</a:t>
                </a: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1066800" y="4305300"/>
              <a:ext cx="4581525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8799" y="4592479"/>
              <a:ext cx="43069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Regret </a:t>
              </a:r>
              <a:r>
                <a:rPr lang="en-US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&lt; 0.001</a:t>
              </a:r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— genuinely near-optimal.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066800" y="4991100"/>
              <a:ext cx="4581525" cy="975551"/>
              <a:chOff x="1066800" y="4991100"/>
              <a:chExt cx="4581525" cy="97555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66800" y="4991100"/>
                <a:ext cx="4581525" cy="895350"/>
              </a:xfrm>
              <a:prstGeom prst="roundRect">
                <a:avLst>
                  <a:gd name="adj" fmla="val 10638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50061" y="5199221"/>
                <a:ext cx="332252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Context-blind baselines fall short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50442" y="5512118"/>
                <a:ext cx="4191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RegretNet &amp; EquivariantNet miss the optimum —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50442" y="5702618"/>
                <a:ext cx="29487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integrating context is essential.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238875" y="2019300"/>
            <a:ext cx="5191125" cy="4095750"/>
            <a:chOff x="6238875" y="2019300"/>
            <a:chExt cx="5191125" cy="4095750"/>
          </a:xfrm>
        </p:grpSpPr>
        <p:sp>
          <p:nvSpPr>
            <p:cNvPr id="29" name="Rectangle 29"/>
            <p:cNvSpPr/>
            <p:nvPr/>
          </p:nvSpPr>
          <p:spPr>
            <a:xfrm>
              <a:off x="6238875" y="2019300"/>
              <a:ext cx="5191125" cy="4095750"/>
            </a:xfrm>
            <a:prstGeom prst="roundRect">
              <a:avLst>
                <a:gd name="adj" fmla="val 37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37198" y="2300764"/>
              <a:ext cx="2232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PART 2 · MULTI-ITEM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34531" y="2586990"/>
              <a:ext cx="3206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Beats the strong baseline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524625" y="3151822"/>
              <a:ext cx="2817744" cy="1247775"/>
              <a:chOff x="6524625" y="3151822"/>
              <a:chExt cx="2817744" cy="1247775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524625" y="3151822"/>
                <a:ext cx="1542428" cy="1247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64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6/6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35674" y="4020979"/>
                <a:ext cx="280669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wins vs Item-wise Myerson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144000" y="3009900"/>
              <a:ext cx="1981200" cy="1257300"/>
              <a:chOff x="9144000" y="3009900"/>
              <a:chExt cx="1981200" cy="1257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144000" y="3009900"/>
                <a:ext cx="1981200" cy="1257300"/>
              </a:xfrm>
              <a:prstGeom prst="roundRect">
                <a:avLst>
                  <a:gd name="adj" fmla="val 9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403141" y="3204210"/>
                <a:ext cx="1462918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+10%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252802" y="3846671"/>
                <a:ext cx="176359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revenue gain, peak</a:t>
                </a:r>
              </a:p>
            </p:txBody>
          </p:sp>
        </p:grpSp>
        <p:sp>
          <p:nvSpPr>
            <p:cNvPr id="39" name="Rectangle 39"/>
            <p:cNvSpPr/>
            <p:nvPr/>
          </p:nvSpPr>
          <p:spPr>
            <a:xfrm>
              <a:off x="6543675" y="4514850"/>
              <a:ext cx="4581525" cy="9525"/>
            </a:xfrm>
            <a:prstGeom prst="rect">
              <a:avLst/>
            </a:prstGeom>
            <a:solidFill>
              <a:srgbClr val="33507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35674" y="4802029"/>
              <a:ext cx="43620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Also outperforms the context-integrated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35674" y="5087779"/>
              <a:ext cx="44679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versions of RegretNet and EquivariantNet,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35674" y="5373529"/>
              <a:ext cx="37382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where no analytical solution exists.</a:t>
              </a:r>
            </a:p>
          </p:txBody>
        </p:sp>
      </p:grpSp>
      <p:sp>
        <p:nvSpPr>
          <p:cNvPr id="44" name="cue_s07_c1_results_come_two_parts" title="cue_s07_c1_results_come_two_parts" descr="cue_s07_c1_results_come_two_parts Results come in two parts."/>
          <p:cNvSpPr/>
          <p:nvPr/>
        </p:nvSpPr>
        <p:spPr>
          <a:xfrm>
            <a:off x="7752892" y="1124026"/>
            <a:ext cx="3685641" cy="46222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7_c2_single_item_settings_citransnet_near" title="cue_s07_c2_single_item_settings_citransnet_near" descr="cue_s07_c2_single_item_settings_citransnet_near On single-item settings, CITransNet nearly recovers Myerson's optimal revenue, 0.593 against 0.594, with regret below one thousandth, while context-blind baselines fall short."/>
          <p:cNvSpPr/>
          <p:nvPr/>
        </p:nvSpPr>
        <p:spPr>
          <a:xfrm>
            <a:off x="762000" y="2018995"/>
            <a:ext cx="5191353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7_c3_harder_multi_item_settings_beats_ite" title="cue_s07_c3_harder_multi_item_settings_beats_ite" descr="cue_s07_c3_harder_multi_item_settings_beats_ite On the harder multi-item settings, it beats the Item-wise Myerson baseline in all six configurations, with gains reaching ten percent."/>
          <p:cNvSpPr/>
          <p:nvPr/>
        </p:nvSpPr>
        <p:spPr>
          <a:xfrm>
            <a:off x="6238646" y="2018995"/>
            <a:ext cx="5191353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657225"/>
            <a:ext cx="10690860" cy="1060704"/>
            <a:chOff x="745236" y="657225"/>
            <a:chExt cx="10690860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2753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· ABLATION STUDY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690599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actually drives the gain?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2000" y="2019300"/>
            <a:ext cx="5191125" cy="4095750"/>
            <a:chOff x="762000" y="2019300"/>
            <a:chExt cx="5191125" cy="4095750"/>
          </a:xfrm>
        </p:grpSpPr>
        <p:sp>
          <p:nvSpPr>
            <p:cNvPr id="10" name="Rectangle 10"/>
            <p:cNvSpPr/>
            <p:nvPr/>
          </p:nvSpPr>
          <p:spPr>
            <a:xfrm>
              <a:off x="762000" y="2019300"/>
              <a:ext cx="5191125" cy="4095750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323" y="2300764"/>
              <a:ext cx="1831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SWAP THE LAYERS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8418" y="2622232"/>
              <a:ext cx="3356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Keep the context, replace only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2888932"/>
              <a:ext cx="3778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CITransNet's transformer layers: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66800" y="3295650"/>
              <a:ext cx="4581525" cy="1143000"/>
              <a:chOff x="1066800" y="3295650"/>
              <a:chExt cx="4581525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066800" y="3295650"/>
                <a:ext cx="4581525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85875" y="3493294"/>
                <a:ext cx="1592066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CIRegretNet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8161" y="3846671"/>
                <a:ext cx="260637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Transformer → RegretNet's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88161" y="4094321"/>
                <a:ext cx="213635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fully-connected layers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066800" y="4591050"/>
              <a:ext cx="4581525" cy="1143000"/>
              <a:chOff x="1066800" y="4591050"/>
              <a:chExt cx="4581525" cy="1143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66800" y="4591050"/>
                <a:ext cx="4581525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85875" y="4788694"/>
                <a:ext cx="2188528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CIEquivariantNet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88161" y="5142071"/>
                <a:ext cx="303529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Transformer → EquivariantNet's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88161" y="5389721"/>
                <a:ext cx="171580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equivariant layers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238875" y="2019300"/>
            <a:ext cx="5191125" cy="2400300"/>
            <a:chOff x="6238875" y="2019300"/>
            <a:chExt cx="5191125" cy="2400300"/>
          </a:xfrm>
        </p:grpSpPr>
        <p:sp>
          <p:nvSpPr>
            <p:cNvPr id="25" name="Rectangle 25"/>
            <p:cNvSpPr/>
            <p:nvPr/>
          </p:nvSpPr>
          <p:spPr>
            <a:xfrm>
              <a:off x="6238875" y="2019300"/>
              <a:ext cx="5191125" cy="2400300"/>
            </a:xfrm>
            <a:prstGeom prst="roundRect">
              <a:avLst>
                <a:gd name="adj" fmla="val 634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7198" y="2300764"/>
              <a:ext cx="1239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FINDING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32245" y="2690812"/>
              <a:ext cx="35636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Both earn </a:t>
              </a:r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less revenue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32245" y="3071812"/>
              <a:ext cx="201060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everywhere.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43675" y="3562350"/>
              <a:ext cx="4581525" cy="9525"/>
            </a:xfrm>
            <a:prstGeom prst="rect">
              <a:avLst/>
            </a:prstGeom>
            <a:solidFill>
              <a:srgbClr val="33507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35674" y="3792379"/>
              <a:ext cx="4181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Across every multi-item setting — which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35674" y="4059079"/>
              <a:ext cx="44507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pins the improvement on the transformer.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38875" y="4591050"/>
            <a:ext cx="5191125" cy="1586484"/>
            <a:chOff x="6238875" y="4591050"/>
            <a:chExt cx="5191125" cy="1586484"/>
          </a:xfrm>
        </p:grpSpPr>
        <p:sp>
          <p:nvSpPr>
            <p:cNvPr id="33" name="Rectangle 33"/>
            <p:cNvSpPr/>
            <p:nvPr/>
          </p:nvSpPr>
          <p:spPr>
            <a:xfrm>
              <a:off x="6238875" y="4591050"/>
              <a:ext cx="5191125" cy="1524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37198" y="4853464"/>
              <a:ext cx="203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GOING FURTHER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4531" y="5215890"/>
              <a:ext cx="36011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Removing context altogether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34531" y="5520690"/>
              <a:ext cx="3961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hurts even the easy single-item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4531" y="5825490"/>
              <a:ext cx="1214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settings.</a:t>
              </a:r>
            </a:p>
          </p:txBody>
        </p:sp>
      </p:grpSp>
      <p:sp>
        <p:nvSpPr>
          <p:cNvPr id="39" name="cue_s08_c1_isolate_why_works_authors_replace" title="cue_s08_c1_isolate_why_works_authors_replace" descr="cue_s08_c1_isolate_why_works_authors_replace To isolate why it works, the authors replace the transformer layers with RegretNet's fully-connected and EquivariantNet's equivariant layers, giving CIRegretNet and CIEquivariantNet."/>
          <p:cNvSpPr/>
          <p:nvPr/>
        </p:nvSpPr>
        <p:spPr>
          <a:xfrm>
            <a:off x="762000" y="2018995"/>
            <a:ext cx="5191353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8_c2_both_still_get_context_yet" title="cue_s08_c2_both_still_get_context_yet" descr="cue_s08_c2_both_still_get_context_yet Both still get context, yet earn less revenue everywhere, pinning the gain on the transformer layers."/>
          <p:cNvSpPr/>
          <p:nvPr/>
        </p:nvSpPr>
        <p:spPr>
          <a:xfrm>
            <a:off x="6238646" y="2018995"/>
            <a:ext cx="5191353" cy="24003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8_c3_removing_context_hurts_even_easy" title="cue_s08_c3_removing_context_hurts_even_easy" descr="cue_s08_c3_removing_context_hurts_even_easy Removing context hurts even easy settings."/>
          <p:cNvSpPr/>
          <p:nvPr/>
        </p:nvSpPr>
        <p:spPr>
          <a:xfrm>
            <a:off x="6238646" y="4590745"/>
            <a:ext cx="5191353" cy="158625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657225"/>
            <a:ext cx="10690860" cy="1060704"/>
            <a:chOff x="745236" y="657225"/>
            <a:chExt cx="10690860" cy="1060704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3063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· HEADLINE NUMBERS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1581" y="6896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72515"/>
              <a:ext cx="28481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numbers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6764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1943100"/>
            <a:ext cx="10668000" cy="571500"/>
            <a:chOff x="762000" y="1943100"/>
            <a:chExt cx="10668000" cy="571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943100"/>
              <a:ext cx="106680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2218" y="2126932"/>
              <a:ext cx="83764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few numbers capture the impact — revenue is higher and regret stays tiny.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2743200"/>
            <a:ext cx="3143250" cy="2362200"/>
            <a:chOff x="762000" y="2743200"/>
            <a:chExt cx="3143250" cy="2362200"/>
          </a:xfrm>
        </p:grpSpPr>
        <p:sp>
          <p:nvSpPr>
            <p:cNvPr id="13" name="Rectangle 13"/>
            <p:cNvSpPr/>
            <p:nvPr/>
          </p:nvSpPr>
          <p:spPr>
            <a:xfrm>
              <a:off x="762000" y="2743200"/>
              <a:ext cx="31432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005614"/>
              <a:ext cx="16343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SINGLE-ITEM (A)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7750" y="3338512"/>
              <a:ext cx="2078855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0.593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9180" y="4067175"/>
              <a:ext cx="1658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vs optimal </a:t>
              </a:r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0.594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66800" y="4438650"/>
              <a:ext cx="25336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561" y="4684871"/>
              <a:ext cx="28084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Essentially matches Myerson.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095750" y="2743200"/>
            <a:ext cx="7334250" cy="2362200"/>
            <a:chOff x="4095750" y="2743200"/>
            <a:chExt cx="7334250" cy="2362200"/>
          </a:xfrm>
        </p:grpSpPr>
        <p:sp>
          <p:nvSpPr>
            <p:cNvPr id="20" name="Rectangle 20"/>
            <p:cNvSpPr/>
            <p:nvPr/>
          </p:nvSpPr>
          <p:spPr>
            <a:xfrm>
              <a:off x="4095750" y="2743200"/>
              <a:ext cx="7334250" cy="2362200"/>
            </a:xfrm>
            <a:prstGeom prst="roundRect">
              <a:avLst>
                <a:gd name="adj" fmla="val 645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381500" y="3005614"/>
              <a:ext cx="2829320" cy="1965865"/>
              <a:chOff x="4381500" y="3005614"/>
              <a:chExt cx="2829320" cy="1965865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94073" y="3005614"/>
                <a:ext cx="2407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spc="75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MULTI-ITEM · 3 × 10 (E)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381500" y="3338512"/>
                <a:ext cx="2078855" cy="1019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6.872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92930" y="4067175"/>
                <a:ext cx="2817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 xml:space="preserve">vs Item-wise Myerson </a:t>
                </a:r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6.509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390644" y="4590098"/>
                <a:ext cx="106722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≈ +5.6%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7886700" y="3009900"/>
              <a:ext cx="14288" cy="1866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191500" y="3005614"/>
              <a:ext cx="2534043" cy="1965865"/>
              <a:chOff x="8191500" y="3005614"/>
              <a:chExt cx="2534043" cy="1965865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8204073" y="3005614"/>
                <a:ext cx="25214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spc="75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CONTINUOUS CONTEXT (G)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91500" y="3338512"/>
                <a:ext cx="2078855" cy="1019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1.177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02930" y="4067175"/>
                <a:ext cx="172912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 xml:space="preserve">vs </a:t>
                </a:r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1.071</a:t>
                </a:r>
                <a:r>
                  <a:rPr lang="en-US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 xml:space="preserve"> baseline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00644" y="4590098"/>
                <a:ext cx="106722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≈ +9.9%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762000" y="5295900"/>
            <a:ext cx="10853985" cy="819150"/>
            <a:chOff x="762000" y="5295900"/>
            <a:chExt cx="10853985" cy="819150"/>
          </a:xfrm>
        </p:grpSpPr>
        <p:sp>
          <p:nvSpPr>
            <p:cNvPr id="33" name="Rectangle 33"/>
            <p:cNvSpPr/>
            <p:nvPr/>
          </p:nvSpPr>
          <p:spPr>
            <a:xfrm>
              <a:off x="762000" y="5295900"/>
              <a:ext cx="10668000" cy="819150"/>
            </a:xfrm>
            <a:prstGeom prst="roundRect">
              <a:avLst>
                <a:gd name="adj" fmla="val 1627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51560" y="5505450"/>
              <a:ext cx="9845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77618" y="5536882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multi-item settings won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79142" y="5835968"/>
              <a:ext cx="4178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against the strong Item-wise Myerson baseline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39000" y="5486400"/>
              <a:ext cx="14288" cy="438150"/>
            </a:xfrm>
            <a:prstGeom prst="rect">
              <a:avLst/>
            </a:prstGeom>
            <a:solidFill>
              <a:srgbClr val="33507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1618" y="5536882"/>
              <a:ext cx="2999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Regret </a:t>
              </a:r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≤ 0.003</a:t>
              </a:r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everywhere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13142" y="5835968"/>
              <a:ext cx="4002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incentive compatibility essentially preserved</a:t>
              </a:r>
            </a:p>
          </p:txBody>
        </p:sp>
      </p:grpSp>
      <p:sp>
        <p:nvSpPr>
          <p:cNvPr id="41" name="cue_s09_c1_few_numbers_capture_impact" title="cue_s09_c1_few_numbers_capture_impact" descr="cue_s09_c1_few_numbers_capture_impact A few numbers capture the impact."/>
          <p:cNvSpPr/>
          <p:nvPr/>
        </p:nvSpPr>
        <p:spPr>
          <a:xfrm>
            <a:off x="762000" y="1942871"/>
            <a:ext cx="10668000" cy="5712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9_c2_single_item_benchmark_citransnet_rea" title="cue_s09_c2_single_item_benchmark_citransnet_rea" descr="cue_s09_c2_single_item_benchmark_citransnet_rea On the single-item benchmark, CITransNet reaches 0.593 versus the optimal 0.594."/>
          <p:cNvSpPr/>
          <p:nvPr/>
        </p:nvSpPr>
        <p:spPr>
          <a:xfrm>
            <a:off x="762000" y="2743200"/>
            <a:ext cx="3143097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9_c3_three_bidder_ten_item_setting_earns" title="cue_s09_c3_three_bidder_ten_item_setting_earns" descr="cue_s09_c3_three_bidder_ten_item_setting_earns In the three-bidder ten-item setting it earns 6.872 against Item-wise Myerson's 6.509, and one continuous-context margin nears ten percent."/>
          <p:cNvSpPr/>
          <p:nvPr/>
        </p:nvSpPr>
        <p:spPr>
          <a:xfrm>
            <a:off x="4095292" y="2743200"/>
            <a:ext cx="7334707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9_c4_wins_all_six_multi_item_settings" title="cue_s09_c4_wins_all_six_multi_item_settings" descr="cue_s09_c4_wins_all_six_multi_item_settings It wins all six multi-item settings."/>
          <p:cNvSpPr/>
          <p:nvPr/>
        </p:nvSpPr>
        <p:spPr>
          <a:xfrm>
            <a:off x="762000" y="5295747"/>
            <a:ext cx="10854537" cy="8188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54380" y="657225"/>
            <a:ext cx="10681716" cy="423863"/>
            <a:chOff x="754380" y="657225"/>
            <a:chExt cx="10681716" cy="423863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657225"/>
              <a:ext cx="1933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 · TAKEAWAY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82732" y="689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 / 10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0668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5236" y="1428750"/>
            <a:ext cx="6112764" cy="2422779"/>
            <a:chOff x="745236" y="1428750"/>
            <a:chExt cx="6112764" cy="2422779"/>
          </a:xfrm>
        </p:grpSpPr>
        <p:sp>
          <p:nvSpPr>
            <p:cNvPr id="9" name="Rectangle 9"/>
            <p:cNvSpPr/>
            <p:nvPr/>
          </p:nvSpPr>
          <p:spPr>
            <a:xfrm>
              <a:off x="762000" y="1428750"/>
              <a:ext cx="6096000" cy="2190750"/>
            </a:xfrm>
            <a:prstGeom prst="roundRect">
              <a:avLst>
                <a:gd name="adj" fmla="val 6957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5236" y="1663065"/>
              <a:ext cx="31530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Context, as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236" y="2177415"/>
              <a:ext cx="41850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first-class input,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236" y="2691765"/>
              <a:ext cx="3392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unlocks better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236" y="3206115"/>
              <a:ext cx="40450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learned auctions.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962400"/>
            <a:ext cx="6485011" cy="914400"/>
            <a:chOff x="762000" y="3962400"/>
            <a:chExt cx="6485011" cy="914400"/>
          </a:xfrm>
        </p:grpSpPr>
        <p:sp>
          <p:nvSpPr>
            <p:cNvPr id="15" name="Rectangle 15"/>
            <p:cNvSpPr/>
            <p:nvPr/>
          </p:nvSpPr>
          <p:spPr>
            <a:xfrm>
              <a:off x="762000" y="3962400"/>
              <a:ext cx="6096000" cy="914400"/>
            </a:xfrm>
            <a:prstGeom prst="roundRect">
              <a:avLst>
                <a:gd name="adj" fmla="val 1458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4504" y="4175760"/>
              <a:ext cx="3808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CITransNet LEARNS MECHANISMS THAT ARE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1456" y="4491990"/>
              <a:ext cx="6265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Near-optimal · Asymmetric · Incentive-compatible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62800" y="1428750"/>
            <a:ext cx="4267200" cy="3490151"/>
            <a:chOff x="7162800" y="1428750"/>
            <a:chExt cx="4267200" cy="3490151"/>
          </a:xfrm>
        </p:grpSpPr>
        <p:sp>
          <p:nvSpPr>
            <p:cNvPr id="19" name="Rectangle 19"/>
            <p:cNvSpPr/>
            <p:nvPr/>
          </p:nvSpPr>
          <p:spPr>
            <a:xfrm>
              <a:off x="7162800" y="1428750"/>
              <a:ext cx="4267200" cy="3448050"/>
            </a:xfrm>
            <a:prstGeom prst="roundRect">
              <a:avLst>
                <a:gd name="adj" fmla="val 44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61123" y="1729264"/>
              <a:ext cx="1919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SIZE-INDEPENDENT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7694" y="2056448"/>
              <a:ext cx="2440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One trained model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7694" y="2361248"/>
              <a:ext cx="3534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transfers to </a:t>
              </a:r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unseen sizes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467600" y="2838450"/>
              <a:ext cx="365760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62850" y="3016976"/>
              <a:ext cx="3467100" cy="1071698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460742" y="4445318"/>
              <a:ext cx="370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Figure 2 — out-of-setting generalization: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60742" y="4654868"/>
              <a:ext cx="3902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trained at one scale, evaluated at another.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2856" y="5334000"/>
            <a:ext cx="10684002" cy="899351"/>
            <a:chOff x="752856" y="5334000"/>
            <a:chExt cx="10684002" cy="899351"/>
          </a:xfrm>
        </p:grpSpPr>
        <p:sp>
          <p:nvSpPr>
            <p:cNvPr id="28" name="Rectangle 28"/>
            <p:cNvSpPr/>
            <p:nvPr/>
          </p:nvSpPr>
          <p:spPr>
            <a:xfrm>
              <a:off x="762000" y="5334000"/>
              <a:ext cx="10668000" cy="142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856" y="5634990"/>
              <a:ext cx="1384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CITransNet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142" y="5969318"/>
              <a:ext cx="574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Context-Integrated Transformer for Auction Design · ICML 2022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99906" y="5683568"/>
              <a:ext cx="2736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github.com/zjduan/CITransNet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51700" y="5969318"/>
              <a:ext cx="1585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arXiv:2201.12489</a:t>
              </a:r>
            </a:p>
          </p:txBody>
        </p:sp>
      </p:grpSp>
      <p:sp>
        <p:nvSpPr>
          <p:cNvPr id="34" name="cue_s10_c1_takeaway_context_first_class_input_u" title="cue_s10_c1_takeaway_context_first_class_input_u" descr="cue_s10_c1_takeaway_context_first_class_input_u The takeaway: context as a first-class input unlocks better learned auctions."/>
          <p:cNvSpPr/>
          <p:nvPr/>
        </p:nvSpPr>
        <p:spPr>
          <a:xfrm>
            <a:off x="744931" y="1428521"/>
            <a:ext cx="6113068" cy="242293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10_c2_citransnet_near_optimal_asymmetric_w" title="cue_s10_c2_citransnet_near_optimal_asymmetric_w" descr="cue_s10_c2_citransnet_near_optimal_asymmetric_w CITransNet is near-optimal, asymmetric when needed, and incentive-compatible."/>
          <p:cNvSpPr/>
          <p:nvPr/>
        </p:nvSpPr>
        <p:spPr>
          <a:xfrm>
            <a:off x="762000" y="3962552"/>
            <a:ext cx="6484924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10_c3_its_size_independent_parameter_count" title="cue_s10_c3_its_size_independent_parameter_count" descr="cue_s10_c3_its_size_independent_parameter_count Its size-independent parameter count lets one trained model transfer to auction sizes it never saw."/>
          <p:cNvSpPr/>
          <p:nvPr/>
        </p:nvSpPr>
        <p:spPr>
          <a:xfrm>
            <a:off x="7162800" y="1428521"/>
            <a:ext cx="4267200" cy="34482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master">
  <a:themeElements>
    <a:clrScheme name="ppt_master">
      <a:dk1>
        <a:srgbClr val="14264C"/>
      </a:dk1>
      <a:lt1>
        <a:srgbClr val="FFFFFF"/>
      </a:lt1>
      <a:dk2>
        <a:srgbClr val="5A6473"/>
      </a:dk2>
      <a:lt2>
        <a:srgbClr val="F3F6FB"/>
      </a:lt2>
      <a:accent1>
        <a:srgbClr val="14264C"/>
      </a:accent1>
      <a:accent2>
        <a:srgbClr val="2563EB"/>
      </a:accent2>
      <a:accent3>
        <a:srgbClr val="D98A0B"/>
      </a:accent3>
      <a:accent4>
        <a:srgbClr val="DCE2EC"/>
      </a:accent4>
      <a:accent5>
        <a:srgbClr val="8FB4F5"/>
      </a:accent5>
      <a:accent6>
        <a:srgbClr val="BFD4FB"/>
      </a:accent6>
      <a:hlink>
        <a:srgbClr val="2563EB"/>
      </a:hlink>
      <a:folHlink>
        <a:srgbClr val="D98A0B"/>
      </a:folHlink>
    </a:clrScheme>
    <a:fontScheme name="ppt_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2026-07-15T06:56:33Z</dcterms:created>
  <dcterms:modified xsi:type="dcterms:W3CDTF">2026-07-15T06:56:33Z</dcterms:modified>
  <cp:category/>
  <cp:contentStatus/>
</cp:coreProperties>
</file>
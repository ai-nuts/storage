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513064"/>
          </a:xfrm>
          <a:prstGeom prst="roundRect">
            <a:avLst>
              <a:gd name="adj" fmla="val 3151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686405"/>
            <a:ext cx="10804961" cy="12450028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686405"/>
            <a:ext cx="27439124" cy="13156922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5686405"/>
            <a:ext cx="10804962" cy="7559417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3577669"/>
            <a:ext cx="10804962" cy="7321609"/>
          </a:xfrm>
          <a:prstGeom prst="roundRect">
            <a:avLst>
              <a:gd name="adj" fmla="val 226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8468280"/>
            <a:ext cx="10804961" cy="1160367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21231125"/>
            <a:ext cx="10804962" cy="8840827"/>
          </a:xfrm>
          <a:prstGeom prst="roundRect">
            <a:avLst>
              <a:gd name="adj" fmla="val 1877"/>
            </a:avLst>
          </a:prstGeom>
          <a:solidFill>
            <a:srgbClr val="F6ECF1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21231125"/>
            <a:ext cx="53340" cy="8840827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7938" y="1185006"/>
            <a:ext cx="4978400" cy="14465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39991" y="6074509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6984761"/>
            <a:ext cx="10028753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271672" y="6074509"/>
            <a:ext cx="26662916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271672" y="6984761"/>
            <a:ext cx="26662916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37516" y="6074509"/>
            <a:ext cx="1002875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37516" y="6984761"/>
            <a:ext cx="10028754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37516" y="11055826"/>
            <a:ext cx="10028754" cy="1771610"/>
          </a:xfrm>
          <a:prstGeom prst="roundRect">
            <a:avLst>
              <a:gd name="adj" fmla="val 11775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37516" y="13965773"/>
            <a:ext cx="1002875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37516" y="14876025"/>
            <a:ext cx="10028754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137516" y="15321776"/>
            <a:ext cx="10028754" cy="5158978"/>
          </a:xfrm>
          <a:prstGeom prst="roundRect">
            <a:avLst>
              <a:gd name="adj" fmla="val 1378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9991" y="15406092"/>
            <a:ext cx="10028753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8856384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9766637"/>
            <a:ext cx="10028753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883568" y="19175174"/>
            <a:ext cx="13553639" cy="10896778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769054" y="19175174"/>
            <a:ext cx="13553638" cy="10896778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81966" y="21619229"/>
            <a:ext cx="998430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81966" y="22529482"/>
            <a:ext cx="9984304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181966" y="26224805"/>
            <a:ext cx="998430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81966" y="2622480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27528996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27528996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8418" y="3093581"/>
            <a:ext cx="1422400" cy="14224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685" y="3152847"/>
            <a:ext cx="1303867" cy="130386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2271672" y="10966648"/>
            <a:ext cx="26662916" cy="1506160"/>
          </a:xfrm>
          <a:prstGeom prst="roundRect">
            <a:avLst>
              <a:gd name="adj" fmla="val 14959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4187" y="15544026"/>
            <a:ext cx="4196218" cy="4761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4187" y="15544026"/>
            <a:ext cx="11557" cy="4761984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271672" y="19563278"/>
            <a:ext cx="12777430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271672" y="20473531"/>
            <a:ext cx="12777430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57158" y="19563278"/>
            <a:ext cx="12777430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57158" y="20473531"/>
            <a:ext cx="12777430" cy="17780"/>
          </a:xfrm>
          <a:prstGeom prst="rect">
            <a:avLst/>
          </a:prstGeom>
          <a:solidFill>
            <a:srgbClr val="E2D0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0671472" y="26381213"/>
            <a:ext cx="1936214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INSIGHT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157158" y="27700684"/>
            <a:ext cx="12777430" cy="2029698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271672" y="28722617"/>
            <a:ext cx="12777430" cy="969983"/>
          </a:xfrm>
          <a:prstGeom prst="roundRect">
            <a:avLst>
              <a:gd name="adj" fmla="val 21507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singhua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1167" y="3542547"/>
            <a:ext cx="2587962" cy="817837"/>
          </a:xfrm>
          <a:prstGeom prst="rect">
            <a:avLst/>
          </a:prstGeom>
        </p:spPr>
      </p:pic>
      <p:pic>
        <p:nvPicPr>
          <p:cNvPr id="45" name="Picture 44" descr="huawei-i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6103" y="3542533"/>
            <a:ext cx="5057854" cy="817866"/>
          </a:xfrm>
          <a:prstGeom prst="rect">
            <a:avLst/>
          </a:prstGeom>
        </p:spPr>
      </p:pic>
      <p:pic>
        <p:nvPicPr>
          <p:cNvPr id="46" name="Picture 45" descr="university-of-science-and-technology-of-chi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60931" y="3542526"/>
            <a:ext cx="817880" cy="81788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2271672" y="12874247"/>
            <a:ext cx="26662916" cy="5129114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page6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1955" y="12874247"/>
            <a:ext cx="26662351" cy="512911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26157158" y="21072078"/>
            <a:ext cx="12777430" cy="4867275"/>
          </a:xfrm>
          <a:prstGeom prst="roundRect">
            <a:avLst>
              <a:gd name="adj" fmla="val 73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ge8_figur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7230" y="21072078"/>
            <a:ext cx="12777286" cy="4867275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2271672" y="26865441"/>
            <a:ext cx="3369171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MS-COCO val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5797252" y="26865441"/>
            <a:ext cx="1546443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FID 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500103" y="26865441"/>
            <a:ext cx="3189149" cy="819824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CLIP Score 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845660" y="26865441"/>
            <a:ext cx="386131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Stable Diffusion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271672" y="27841674"/>
            <a:ext cx="1636871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U-ViT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064952" y="27841674"/>
            <a:ext cx="208915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SD v1.5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15581" y="1007487"/>
            <a:ext cx="37835979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7D2860"/>
                </a:solidFill>
                <a:latin typeface="Arial"/>
              </a:rPr>
              <a:t>Inner Classifier-Free Guidance and Its Taylor Expansion for Diffusion Models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15581" y="2363350"/>
            <a:ext cx="37835979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Shikun Sun¹², Longhui Wei³, Zhicai Wang⁴, Zixuan Wang¹², Junliang Xing¹², Jia Jia¹², Qi Tian³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5581" y="3063577"/>
            <a:ext cx="37835979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¹Tsinghua University · ²BNRist · ³Huawei Inc. · ⁴University of Science and Technology of China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8418" y="3093581"/>
            <a:ext cx="1465072" cy="1973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4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991" y="6074509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71672" y="6074509"/>
            <a:ext cx="27089636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137516" y="6074509"/>
            <a:ext cx="10329616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991" y="7322581"/>
            <a:ext cx="10329615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Classifier-free guidance (</a:t>
            </a:r>
            <a:r>
              <a:rPr sz="4106" b="1">
                <a:solidFill>
                  <a:srgbClr val="111111"/>
                </a:solidFill>
                <a:latin typeface="Arial"/>
              </a:rPr>
              <a:t>CFG</a:t>
            </a:r>
            <a:r>
              <a:rPr sz="4106" b="0">
                <a:solidFill>
                  <a:srgbClr val="1C1C1C"/>
                </a:solidFill>
                <a:latin typeface="Arial"/>
              </a:rPr>
              <a:t>) balances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diversity and fidelity in conditional diffusion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models, but it imposes </a:t>
            </a:r>
            <a:r>
              <a:rPr sz="4106" b="1">
                <a:solidFill>
                  <a:srgbClr val="111111"/>
                </a:solidFill>
                <a:latin typeface="Arial"/>
              </a:rPr>
              <a:t>no structure</a:t>
            </a:r>
            <a:r>
              <a:rPr sz="4106" b="0">
                <a:solidFill>
                  <a:srgbClr val="1C1C1C"/>
                </a:solidFill>
                <a:latin typeface="Arial"/>
              </a:rPr>
              <a:t> on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condition space. When the condition is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continuous, CFG cannot exploit that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continuity.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76447" y="11317386"/>
            <a:ext cx="8389970" cy="150461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Robust across </a:t>
            </a:r>
            <a:r>
              <a:rPr sz="4106" b="0">
                <a:solidFill>
                  <a:srgbClr val="7D2860"/>
                </a:solidFill>
                <a:latin typeface="Arial"/>
              </a:rPr>
              <a:t>    </a:t>
            </a:r>
            <a:r>
              <a:rPr sz="4106" b="0">
                <a:solidFill>
                  <a:srgbClr val="7D2860"/>
                </a:solidFill>
                <a:latin typeface="Arial"/>
              </a:rPr>
              <a:t> and the sampling budget.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12120542"/>
            <a:ext cx="1032961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For text-based models like Stable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Diffusion, a structured condition space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could sharpen the trade-off, yet CFG has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way to reach it.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37516" y="13965773"/>
            <a:ext cx="10329616" cy="1067236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91" y="15406092"/>
            <a:ext cx="10329615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CFG treats a continuous condition as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 opaque label – can we use its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structure?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18856384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81966" y="21619229"/>
            <a:ext cx="102838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181966" y="22903279"/>
            <a:ext cx="1028383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CFG is just the </a:t>
            </a:r>
            <a:r>
              <a:rPr sz="4106" b="1">
                <a:solidFill>
                  <a:srgbClr val="111111"/>
                </a:solidFill>
                <a:latin typeface="Arial"/>
              </a:rPr>
              <a:t>first-order Taylor term</a:t>
            </a:r>
            <a:r>
              <a:rPr sz="4106" b="0">
                <a:solidFill>
                  <a:srgbClr val="1C1C1C"/>
                </a:solidFill>
                <a:latin typeface="Arial"/>
              </a:rPr>
              <a:t>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inner CFG. The second-order term buys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better fidelity–diversity balance </a:t>
            </a:r>
            <a:r>
              <a:rPr sz="4106" b="1">
                <a:solidFill>
                  <a:srgbClr val="111111"/>
                </a:solidFill>
                <a:latin typeface="Arial"/>
              </a:rPr>
              <a:t>for free</a:t>
            </a:r>
            <a:r>
              <a:rPr sz="4106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retraining.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27528996"/>
            <a:ext cx="10329615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Continuity is a resource CFG never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spends – the opening for a better trade-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off.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137498" y="7518995"/>
            <a:ext cx="10110875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Middle point </a:t>
            </a:r>
            <a:r>
              <a:rPr sz="4106" b="1">
                <a:solidFill>
                  <a:srgbClr val="111111"/>
                </a:solidFill>
                <a:latin typeface="Arial"/>
              </a:rPr>
              <a:t>    </a:t>
            </a:r>
            <a:r>
              <a:rPr sz="4106" b="1">
                <a:solidFill>
                  <a:srgbClr val="111111"/>
                </a:solidFill>
                <a:latin typeface="Arial"/>
              </a:rPr>
              <a:t>:</a:t>
            </a:r>
            <a:r>
              <a:rPr sz="4106" b="0">
                <a:solidFill>
                  <a:srgbClr val="1C1C1C"/>
                </a:solidFill>
                <a:latin typeface="Arial"/>
              </a:rPr>
              <a:t> FID is </a:t>
            </a:r>
            <a:r>
              <a:rPr sz="4106" b="1">
                <a:solidFill>
                  <a:srgbClr val="111111"/>
                </a:solidFill>
                <a:latin typeface="Arial"/>
              </a:rPr>
              <a:t>U-shaped</a:t>
            </a:r>
            <a:r>
              <a:rPr sz="4106" b="0">
                <a:solidFill>
                  <a:srgbClr val="1C1C1C"/>
                </a:solidFill>
                <a:latin typeface="Arial"/>
              </a:rPr>
              <a:t>, best </a:t>
            </a:r>
            <a:r>
              <a:rPr sz="4106" b="1">
                <a:solidFill>
                  <a:srgbClr val="111111"/>
                </a:solidFill>
                <a:latin typeface="Arial"/>
              </a:rPr>
              <a:t>15.42</a:t>
            </a:r>
            <a:r>
              <a:rPr sz="4106" b="0">
                <a:solidFill>
                  <a:srgbClr val="1C1C1C"/>
                </a:solidFill>
                <a:latin typeface="Arial"/>
              </a:rPr>
              <a:t> at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137498" y="9304774"/>
            <a:ext cx="8441637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Sampling steps:</a:t>
            </a:r>
            <a:r>
              <a:rPr sz="4106" b="0">
                <a:solidFill>
                  <a:srgbClr val="1C1C1C"/>
                </a:solidFill>
                <a:latin typeface="Arial"/>
              </a:rPr>
              <a:t> strong even at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(FID 15.80), 15.28 at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271672" y="10966648"/>
            <a:ext cx="27089636" cy="1732083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71672" y="19563278"/>
            <a:ext cx="13160752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 / Benchmark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157158" y="19563278"/>
            <a:ext cx="13160752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72" y="20231278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two dominant guidance routes,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external classifiers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classifier-free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guidance</a:t>
            </a:r>
            <a:r>
              <a:rPr sz="4106" b="0">
                <a:solidFill>
                  <a:srgbClr val="1C1C1C"/>
                </a:solidFill>
                <a:latin typeface="Arial"/>
              </a:rPr>
              <a:t>, both ignore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geometry</a:t>
            </a:r>
            <a:r>
              <a:rPr sz="4106" b="0">
                <a:solidFill>
                  <a:srgbClr val="1C1C1C"/>
                </a:solidFill>
                <a:latin typeface="Arial"/>
              </a:rPr>
              <a:t> of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continuous condition space.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72" y="23438623"/>
            <a:ext cx="10329635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 Stable Diffusion the text encoder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induces a rich continuous space; if that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space has a </a:t>
            </a:r>
            <a:r>
              <a:rPr sz="4106" b="1">
                <a:solidFill>
                  <a:srgbClr val="111111"/>
                </a:solidFill>
                <a:latin typeface="Arial"/>
              </a:rPr>
              <a:t>"cone" structure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guidance can be extended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along</a:t>
            </a:r>
            <a:r>
              <a:rPr sz="4106" b="0">
                <a:solidFill>
                  <a:srgbClr val="1C1C1C"/>
                </a:solidFill>
                <a:latin typeface="Arial"/>
              </a:rPr>
              <a:t> it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gain new, valuable information.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671472" y="27228403"/>
            <a:ext cx="94036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well-defined "cone"-structured space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lets ICFG extend naturally to higher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orders.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54720" y="28088371"/>
            <a:ext cx="12135775" cy="1487199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11111"/>
                </a:solidFill>
                <a:latin typeface="Arial"/>
              </a:rPr>
              <a:t>FID 15.28 / CLIP 26.11</a:t>
            </a:r>
            <a:r>
              <a:rPr sz="4024" b="1">
                <a:solidFill>
                  <a:srgbClr val="7D2860"/>
                </a:solidFill>
                <a:latin typeface="Arial"/>
              </a:rPr>
              <a:t> at </a:t>
            </a:r>
            <a:r>
              <a:rPr sz="4024" b="1">
                <a:solidFill>
                  <a:srgbClr val="7D2860"/>
                </a:solidFill>
                <a:latin typeface="Arial"/>
              </a:rPr>
              <a:t>            </a:t>
            </a:r>
            <a:r>
              <a:rPr sz="4024" b="1">
                <a:solidFill>
                  <a:srgbClr val="7D2860"/>
                </a:solidFill>
                <a:latin typeface="Arial"/>
              </a:rPr>
              <a:t>, </a:t>
            </a:r>
            <a:r>
              <a:rPr sz="4024" b="1">
                <a:solidFill>
                  <a:srgbClr val="7D2860"/>
                </a:solidFill>
                <a:latin typeface="Arial"/>
              </a:rPr>
              <a:t>             </a:t>
            </a:r>
            <a:r>
              <a:rPr sz="4024" b="1">
                <a:solidFill>
                  <a:srgbClr val="7D2860"/>
                </a:solidFill>
                <a:latin typeface="Arial"/>
              </a:rPr>
              <a:t> – beats CFG's 15.42 / 25.80 on both.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71672" y="28722617"/>
            <a:ext cx="13160752" cy="11154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7D2860"/>
                </a:solidFill>
                <a:latin typeface="Arial"/>
              </a:rPr>
              <a:t>FID and CLIP Score reported for every setting.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271654" y="7547471"/>
            <a:ext cx="25816856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Inner CFG (ICFG).</a:t>
            </a:r>
            <a:r>
              <a:rPr sz="4106" b="0">
                <a:solidFill>
                  <a:srgbClr val="1C1C1C"/>
                </a:solidFill>
                <a:latin typeface="Arial"/>
              </a:rPr>
              <a:t> Model the enhanced distribution as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with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271654" y="9244488"/>
            <a:ext cx="26991169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CFG is the first-order term; the </a:t>
            </a:r>
            <a:r>
              <a:rPr sz="4106" b="1">
                <a:solidFill>
                  <a:srgbClr val="111111"/>
                </a:solidFill>
                <a:latin typeface="Arial"/>
              </a:rPr>
              <a:t>        </a:t>
            </a:r>
            <a:r>
              <a:rPr sz="4106" b="1">
                <a:solidFill>
                  <a:srgbClr val="111111"/>
                </a:solidFill>
                <a:latin typeface="Arial"/>
              </a:rPr>
              <a:t> term is new.</a:t>
            </a:r>
            <a:r>
              <a:rPr sz="4106" b="0">
                <a:solidFill>
                  <a:srgbClr val="1C1C1C"/>
                </a:solidFill>
                <a:latin typeface="Arial"/>
              </a:rPr>
              <a:t> The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term reproduces CFG; the second-order term (via a middle point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) adds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new</a:t>
            </a:r>
            <a:r>
              <a:rPr sz="4106" b="0">
                <a:solidFill>
                  <a:srgbClr val="1C1C1C"/>
                </a:solidFill>
                <a:latin typeface="Arial"/>
              </a:rPr>
              <a:t> information — </a:t>
            </a:r>
            <a:r>
              <a:rPr sz="4106" b="1">
                <a:solidFill>
                  <a:srgbClr val="111111"/>
                </a:solidFill>
                <a:latin typeface="Arial"/>
              </a:rPr>
              <a:t>no retraining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383380" y="16614854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15.28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383380" y="17980858"/>
            <a:ext cx="4421971" cy="1325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best MS-COCO FID at </a:t>
            </a:r>
            <a:r>
              <a:rPr sz="3733" b="1">
                <a:solidFill>
                  <a:srgbClr val="1C1C1C"/>
                </a:solidFill>
                <a:latin typeface="Arial"/>
              </a:rPr>
              <a:t>            </a:t>
            </a:r>
            <a:r>
              <a:rPr sz="3733" b="1">
                <a:solidFill>
                  <a:srgbClr val="1C1C1C"/>
                </a:solidFill>
                <a:latin typeface="Arial"/>
              </a:rPr>
              <a:t>, </a:t>
            </a:r>
            <a:r>
              <a:rPr sz="3733" b="1">
                <a:solidFill>
                  <a:srgbClr val="1C1C1C"/>
                </a:solidFill>
                <a:latin typeface="Arial"/>
              </a:rPr>
              <a:t>             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593587" y="18241863"/>
            <a:ext cx="16445806" cy="552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Figure 1.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Score norms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      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     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and their distance over 50 CFG timesteps.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271654" y="20872469"/>
            <a:ext cx="13160771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Text-to-image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MS-COCO</a:t>
            </a:r>
            <a:r>
              <a:rPr sz="4106" b="0">
                <a:solidFill>
                  <a:srgbClr val="1C1C1C"/>
                </a:solidFill>
                <a:latin typeface="Arial"/>
              </a:rPr>
              <a:t> validation set; </a:t>
            </a:r>
            <a:r>
              <a:rPr sz="4106" b="1">
                <a:solidFill>
                  <a:srgbClr val="111111"/>
                </a:solidFill>
                <a:latin typeface="Arial"/>
              </a:rPr>
              <a:t>FID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(fidelity, ↓) and </a:t>
            </a:r>
            <a:r>
              <a:rPr sz="4106" b="1">
                <a:solidFill>
                  <a:srgbClr val="111111"/>
                </a:solidFill>
                <a:latin typeface="Arial"/>
              </a:rPr>
              <a:t>CLIP Score</a:t>
            </a:r>
            <a:r>
              <a:rPr sz="4106" b="0">
                <a:solidFill>
                  <a:srgbClr val="1C1C1C"/>
                </a:solidFill>
                <a:latin typeface="Arial"/>
              </a:rPr>
              <a:t> (alignment, ↑).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271654" y="22567403"/>
            <a:ext cx="1316077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Run on pretrained </a:t>
            </a:r>
            <a:r>
              <a:rPr sz="4106" b="1">
                <a:solidFill>
                  <a:srgbClr val="111111"/>
                </a:solidFill>
                <a:latin typeface="Arial"/>
              </a:rPr>
              <a:t>Stable Diffusion</a:t>
            </a:r>
            <a:r>
              <a:rPr sz="4106" b="0">
                <a:solidFill>
                  <a:srgbClr val="1C1C1C"/>
                </a:solidFill>
                <a:latin typeface="Arial"/>
              </a:rPr>
              <a:t>, with a class-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conditional study on </a:t>
            </a:r>
            <a:r>
              <a:rPr sz="4106" b="1">
                <a:solidFill>
                  <a:srgbClr val="111111"/>
                </a:solidFill>
                <a:latin typeface="Arial"/>
              </a:rPr>
              <a:t>U-ViT</a:t>
            </a:r>
            <a:r>
              <a:rPr sz="4106" b="0">
                <a:solidFill>
                  <a:srgbClr val="1C1C1C"/>
                </a:solidFill>
                <a:latin typeface="Arial"/>
              </a:rPr>
              <a:t> and few-shot fine-tuning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 </a:t>
            </a:r>
            <a:r>
              <a:rPr sz="4106" b="1">
                <a:solidFill>
                  <a:srgbClr val="111111"/>
                </a:solidFill>
                <a:latin typeface="Arial"/>
              </a:rPr>
              <a:t>SD v1.5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71654" y="25134113"/>
            <a:ext cx="13084228" cy="158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Guidance strength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and second-order weight </a:t>
            </a:r>
            <a:r>
              <a:rPr sz="4106" b="0">
                <a:solidFill>
                  <a:srgbClr val="1C1C1C"/>
                </a:solidFill>
                <a:latin typeface="Arial"/>
              </a:rPr>
              <a:t>  </a:t>
            </a:r>
            <a:r>
              <a:rPr sz="4106" b="0">
                <a:solidFill>
                  <a:srgbClr val="1C1C1C"/>
                </a:solidFill>
                <a:latin typeface="Arial"/>
              </a:rPr>
              <a:t> are swept across condition spaces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224097" y="26177855"/>
            <a:ext cx="10962715" cy="1307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Figure 2.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FID–CLIP trade-off across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and condition space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   </a:t>
            </a:r>
            <a:r>
              <a:rPr sz="3367" b="0" i="1">
                <a:solidFill>
                  <a:srgbClr val="555555"/>
                </a:solidFill>
                <a:latin typeface="Arial"/>
              </a:rPr>
              <a:t>; ICFG sits below CFG.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202441" y="15544026"/>
            <a:ext cx="13463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26.11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692071" y="15677376"/>
            <a:ext cx="2295184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CLIP Score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(vs CFG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25.80)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202441" y="17218263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24.69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722075" y="17351613"/>
            <a:ext cx="2264279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U-ViT FID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@5k (CFG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34.23)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202441" y="18892500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7.92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424399" y="19025850"/>
            <a:ext cx="2570886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U-ViT FID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@80k (CFG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8.10)</a:t>
            </a:r>
          </a:p>
        </p:txBody>
      </p:sp>
      <p:pic>
        <p:nvPicPr>
          <p:cNvPr id="98" name="Picture 97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26258" y="7440791"/>
            <a:ext cx="10818435" cy="737870"/>
          </a:xfrm>
          <a:prstGeom prst="rect">
            <a:avLst/>
          </a:prstGeom>
        </p:spPr>
      </p:pic>
      <p:pic>
        <p:nvPicPr>
          <p:cNvPr id="99" name="Picture 98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45355" y="7440791"/>
            <a:ext cx="26044783" cy="1539498"/>
          </a:xfrm>
          <a:prstGeom prst="rect">
            <a:avLst/>
          </a:prstGeom>
        </p:spPr>
      </p:pic>
      <p:pic>
        <p:nvPicPr>
          <p:cNvPr id="100" name="Picture 99" descr="eq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10214" y="9137808"/>
            <a:ext cx="1157784" cy="737870"/>
          </a:xfrm>
          <a:prstGeom prst="rect">
            <a:avLst/>
          </a:prstGeom>
        </p:spPr>
      </p:pic>
      <p:pic>
        <p:nvPicPr>
          <p:cNvPr id="101" name="Picture 100" descr="eq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86315" y="9137808"/>
            <a:ext cx="1157784" cy="737870"/>
          </a:xfrm>
          <a:prstGeom prst="rect">
            <a:avLst/>
          </a:prstGeom>
        </p:spPr>
      </p:pic>
      <p:pic>
        <p:nvPicPr>
          <p:cNvPr id="102" name="Picture 101" descr="eq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36890" y="9939436"/>
            <a:ext cx="551180" cy="737870"/>
          </a:xfrm>
          <a:prstGeom prst="rect">
            <a:avLst/>
          </a:prstGeom>
        </p:spPr>
      </p:pic>
      <p:pic>
        <p:nvPicPr>
          <p:cNvPr id="103" name="Picture 102" descr="eq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41221" y="11213484"/>
            <a:ext cx="18323818" cy="800100"/>
          </a:xfrm>
          <a:prstGeom prst="rect">
            <a:avLst/>
          </a:prstGeom>
        </p:spPr>
      </p:pic>
      <p:pic>
        <p:nvPicPr>
          <p:cNvPr id="104" name="Picture 103" descr="eq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36643" y="18152963"/>
            <a:ext cx="1931352" cy="613410"/>
          </a:xfrm>
          <a:prstGeom prst="rect">
            <a:avLst/>
          </a:prstGeom>
        </p:spPr>
      </p:pic>
      <p:pic>
        <p:nvPicPr>
          <p:cNvPr id="105" name="Picture 104" descr="eq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205664" y="18152963"/>
            <a:ext cx="1279604" cy="613410"/>
          </a:xfrm>
          <a:prstGeom prst="rect">
            <a:avLst/>
          </a:prstGeom>
        </p:spPr>
      </p:pic>
      <p:pic>
        <p:nvPicPr>
          <p:cNvPr id="106" name="Picture 105" descr="eq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51600" y="25027433"/>
            <a:ext cx="470337" cy="737870"/>
          </a:xfrm>
          <a:prstGeom prst="rect">
            <a:avLst/>
          </a:prstGeom>
        </p:spPr>
      </p:pic>
      <p:pic>
        <p:nvPicPr>
          <p:cNvPr id="107" name="Picture 106" descr="eq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51301" y="25027433"/>
            <a:ext cx="324902" cy="737870"/>
          </a:xfrm>
          <a:prstGeom prst="rect">
            <a:avLst/>
          </a:prstGeom>
        </p:spPr>
      </p:pic>
      <p:pic>
        <p:nvPicPr>
          <p:cNvPr id="108" name="Picture 107" descr="eq1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062507" y="25829061"/>
            <a:ext cx="956092" cy="737870"/>
          </a:xfrm>
          <a:prstGeom prst="rect">
            <a:avLst/>
          </a:prstGeom>
        </p:spPr>
      </p:pic>
      <p:pic>
        <p:nvPicPr>
          <p:cNvPr id="109" name="Picture 108" descr="eq1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178466" y="25829061"/>
            <a:ext cx="1631732" cy="737870"/>
          </a:xfrm>
          <a:prstGeom prst="rect">
            <a:avLst/>
          </a:prstGeom>
        </p:spPr>
      </p:pic>
      <p:pic>
        <p:nvPicPr>
          <p:cNvPr id="110" name="Picture 109" descr="eq1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93857" y="26088955"/>
            <a:ext cx="387270" cy="613410"/>
          </a:xfrm>
          <a:prstGeom prst="rect">
            <a:avLst/>
          </a:prstGeom>
        </p:spPr>
      </p:pic>
      <p:pic>
        <p:nvPicPr>
          <p:cNvPr id="111" name="Picture 110" descr="eq1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818796" y="26088955"/>
            <a:ext cx="267394" cy="613410"/>
          </a:xfrm>
          <a:prstGeom prst="rect">
            <a:avLst/>
          </a:prstGeom>
        </p:spPr>
      </p:pic>
      <p:pic>
        <p:nvPicPr>
          <p:cNvPr id="112" name="Picture 111" descr="eq1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777457" y="26745426"/>
            <a:ext cx="401439" cy="613410"/>
          </a:xfrm>
          <a:prstGeom prst="rect">
            <a:avLst/>
          </a:prstGeom>
        </p:spPr>
      </p:pic>
      <p:pic>
        <p:nvPicPr>
          <p:cNvPr id="113" name="Picture 112" descr="eq1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610603" y="27981691"/>
            <a:ext cx="1732300" cy="728980"/>
          </a:xfrm>
          <a:prstGeom prst="rect">
            <a:avLst/>
          </a:prstGeom>
        </p:spPr>
      </p:pic>
      <p:pic>
        <p:nvPicPr>
          <p:cNvPr id="114" name="Picture 113" descr="eq16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626966" y="27981691"/>
            <a:ext cx="1906766" cy="728980"/>
          </a:xfrm>
          <a:prstGeom prst="rect">
            <a:avLst/>
          </a:prstGeom>
        </p:spPr>
      </p:pic>
      <p:pic>
        <p:nvPicPr>
          <p:cNvPr id="115" name="Picture 114" descr="eq1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926323" y="7412315"/>
            <a:ext cx="551180" cy="737870"/>
          </a:xfrm>
          <a:prstGeom prst="rect">
            <a:avLst/>
          </a:prstGeom>
        </p:spPr>
      </p:pic>
      <p:pic>
        <p:nvPicPr>
          <p:cNvPr id="116" name="Picture 115" descr="eq18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740897" y="8213943"/>
            <a:ext cx="1858010" cy="737870"/>
          </a:xfrm>
          <a:prstGeom prst="rect">
            <a:avLst/>
          </a:prstGeom>
        </p:spPr>
      </p:pic>
      <p:pic>
        <p:nvPicPr>
          <p:cNvPr id="117" name="Picture 116" descr="eq19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333263" y="9198094"/>
            <a:ext cx="1581169" cy="737870"/>
          </a:xfrm>
          <a:prstGeom prst="rect">
            <a:avLst/>
          </a:prstGeom>
        </p:spPr>
      </p:pic>
      <p:pic>
        <p:nvPicPr>
          <p:cNvPr id="118" name="Picture 117" descr="eq2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667652" y="9999722"/>
            <a:ext cx="1581170" cy="737870"/>
          </a:xfrm>
          <a:prstGeom prst="rect">
            <a:avLst/>
          </a:prstGeom>
        </p:spPr>
      </p:pic>
      <p:pic>
        <p:nvPicPr>
          <p:cNvPr id="119" name="Picture 118" descr="eq2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954382" y="11210706"/>
            <a:ext cx="551180" cy="737870"/>
          </a:xfrm>
          <a:prstGeom prst="rect">
            <a:avLst/>
          </a:prstGeom>
        </p:spPr>
      </p:pic>
      <p:pic>
        <p:nvPicPr>
          <p:cNvPr id="120" name="Picture 119" descr="eq2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36644" y="18511202"/>
            <a:ext cx="1633398" cy="675640"/>
          </a:xfrm>
          <a:prstGeom prst="rect">
            <a:avLst/>
          </a:prstGeom>
        </p:spPr>
      </p:pic>
      <p:pic>
        <p:nvPicPr>
          <p:cNvPr id="121" name="Picture 120" descr="eq2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833547" y="18511202"/>
            <a:ext cx="1798559" cy="67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
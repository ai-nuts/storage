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401814"/>
          </a:xfrm>
          <a:prstGeom prst="roundRect">
            <a:avLst>
              <a:gd name="adj" fmla="val 4181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575155"/>
            <a:ext cx="10804961" cy="9842480"/>
          </a:xfrm>
          <a:prstGeom prst="roundRect">
            <a:avLst>
              <a:gd name="adj" fmla="val 1686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4575155"/>
            <a:ext cx="13506133" cy="25496797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4575155"/>
            <a:ext cx="13506271" cy="878595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4575155"/>
            <a:ext cx="10804962" cy="6260643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0930532"/>
            <a:ext cx="10804962" cy="5752664"/>
          </a:xfrm>
          <a:prstGeom prst="roundRect">
            <a:avLst>
              <a:gd name="adj" fmla="val 288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16421" y="13692961"/>
            <a:ext cx="13506271" cy="16378991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4749482"/>
            <a:ext cx="10804961" cy="15322470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16777930"/>
            <a:ext cx="10804962" cy="7722910"/>
          </a:xfrm>
          <a:prstGeom prst="roundRect">
            <a:avLst>
              <a:gd name="adj" fmla="val 2148"/>
            </a:avLst>
          </a:prstGeom>
          <a:solidFill>
            <a:srgbClr val="ECF3EE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16777930"/>
            <a:ext cx="53340" cy="772291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4595574"/>
            <a:ext cx="10804962" cy="547637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9991" y="4963259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5873511"/>
            <a:ext cx="1002875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71672" y="4963259"/>
            <a:ext cx="12729925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5873511"/>
            <a:ext cx="12729925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204525" y="4963259"/>
            <a:ext cx="1273006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04525" y="5873511"/>
            <a:ext cx="1273006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4963259"/>
            <a:ext cx="1002875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5873511"/>
            <a:ext cx="1002875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137516" y="6346070"/>
            <a:ext cx="10028754" cy="2325986"/>
          </a:xfrm>
          <a:prstGeom prst="roundRect">
            <a:avLst>
              <a:gd name="adj" fmla="val 8969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271672" y="6980872"/>
            <a:ext cx="12729925" cy="2330430"/>
          </a:xfrm>
          <a:prstGeom prst="roundRect">
            <a:avLst>
              <a:gd name="adj" fmla="val 9668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1009292"/>
            <a:ext cx="10028753" cy="303037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11009292"/>
            <a:ext cx="124460" cy="3030379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37516" y="11318636"/>
            <a:ext cx="1002875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37516" y="12228889"/>
            <a:ext cx="1002875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137516" y="12693392"/>
            <a:ext cx="10028754" cy="3555722"/>
          </a:xfrm>
          <a:prstGeom prst="roundRect">
            <a:avLst>
              <a:gd name="adj" fmla="val 2000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204525" y="14081065"/>
            <a:ext cx="1273006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204525" y="14991318"/>
            <a:ext cx="1273006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5137586"/>
            <a:ext cx="1002875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9991" y="16047839"/>
            <a:ext cx="1002875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81966" y="17166034"/>
            <a:ext cx="998430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181966" y="18076287"/>
            <a:ext cx="998430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181966" y="18495645"/>
            <a:ext cx="9984304" cy="3885624"/>
          </a:xfrm>
          <a:prstGeom prst="roundRect">
            <a:avLst>
              <a:gd name="adj" fmla="val 536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204525" y="21738967"/>
            <a:ext cx="12730063" cy="28203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04525" y="25053964"/>
            <a:ext cx="12730063" cy="22983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25053964"/>
            <a:ext cx="12730063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9991" y="25488463"/>
            <a:ext cx="10028753" cy="4211499"/>
          </a:xfrm>
          <a:prstGeom prst="roundRect">
            <a:avLst>
              <a:gd name="adj" fmla="val 433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9991" y="25488463"/>
            <a:ext cx="124460" cy="4211499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6204525" y="27805836"/>
            <a:ext cx="12730063" cy="1895237"/>
          </a:xfrm>
          <a:prstGeom prst="roundRect">
            <a:avLst>
              <a:gd name="adj" fmla="val 11007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university-of-illinois-urbana-champa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3804" y="3093583"/>
            <a:ext cx="3297356" cy="604515"/>
          </a:xfrm>
          <a:prstGeom prst="rect">
            <a:avLst/>
          </a:prstGeom>
        </p:spPr>
      </p:pic>
      <p:pic>
        <p:nvPicPr>
          <p:cNvPr id="43" name="Picture 42" descr="massachusetts-institute-of-techn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134" y="3093599"/>
            <a:ext cx="1135281" cy="604483"/>
          </a:xfrm>
          <a:prstGeom prst="rect">
            <a:avLst/>
          </a:prstGeom>
        </p:spPr>
      </p:pic>
      <p:pic>
        <p:nvPicPr>
          <p:cNvPr id="44" name="Picture 43" descr="goo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0389" y="3093597"/>
            <a:ext cx="1990388" cy="604488"/>
          </a:xfrm>
          <a:prstGeom prst="rect">
            <a:avLst/>
          </a:prstGeom>
        </p:spPr>
      </p:pic>
      <p:pic>
        <p:nvPicPr>
          <p:cNvPr id="45" name="Picture 44" descr="carnegie-mellon-univer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7751" y="3093581"/>
            <a:ext cx="6763067" cy="6045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26204525" y="11185703"/>
            <a:ext cx="2359322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isotropic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720256" y="11185703"/>
            <a:ext cx="3073995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log-concave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950660" y="11185703"/>
            <a:ext cx="2925504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soft-margin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032572" y="11185703"/>
            <a:ext cx="3886181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sub-exponential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204525" y="12161936"/>
            <a:ext cx="3721576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bounded ‖x‖≤B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4187" y="12915642"/>
            <a:ext cx="4196218" cy="31587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4187" y="12915642"/>
            <a:ext cx="11557" cy="3158728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2271672" y="17732910"/>
            <a:ext cx="12729925" cy="10366990"/>
          </a:xfrm>
          <a:prstGeom prst="roundRect">
            <a:avLst>
              <a:gd name="adj" fmla="val 34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age4_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1698" y="17732910"/>
            <a:ext cx="12729872" cy="1036699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529496" y="25644871"/>
            <a:ext cx="1778000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WARNS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324178" y="28592323"/>
            <a:ext cx="5655429" cy="513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324178" y="29087802"/>
            <a:ext cx="5655429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2271672" y="10080843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271672" y="1364073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204525" y="19576335"/>
            <a:ext cx="12730063" cy="1663541"/>
          </a:xfrm>
          <a:prstGeom prst="rect">
            <a:avLst/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430428" y="24983678"/>
            <a:ext cx="3442791" cy="3442791"/>
          </a:xfrm>
          <a:prstGeom prst="roundRect">
            <a:avLst>
              <a:gd name="adj" fmla="val 4475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48961" y="25102211"/>
            <a:ext cx="3205725" cy="3205725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26204525" y="15542775"/>
            <a:ext cx="5495131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204525" y="16240363"/>
            <a:ext cx="549513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699656" y="15542775"/>
            <a:ext cx="3217208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699656" y="16240363"/>
            <a:ext cx="321720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916864" y="15542775"/>
            <a:ext cx="4017724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916864" y="16240363"/>
            <a:ext cx="40177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204525" y="16249253"/>
            <a:ext cx="549513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204525" y="17903904"/>
            <a:ext cx="549513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699656" y="16249253"/>
            <a:ext cx="3217208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699656" y="17903904"/>
            <a:ext cx="321720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916864" y="16249253"/>
            <a:ext cx="4017724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916864" y="17903904"/>
            <a:ext cx="40177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204525" y="17912794"/>
            <a:ext cx="549513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204525" y="19567445"/>
            <a:ext cx="549513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1699656" y="17912794"/>
            <a:ext cx="3217208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699656" y="19567445"/>
            <a:ext cx="321720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916864" y="17912794"/>
            <a:ext cx="4017724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916864" y="19567445"/>
            <a:ext cx="40177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204525" y="19576335"/>
            <a:ext cx="549513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204525" y="21230986"/>
            <a:ext cx="549513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1699656" y="19576335"/>
            <a:ext cx="3217208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699656" y="21230986"/>
            <a:ext cx="321720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916864" y="19576335"/>
            <a:ext cx="4017724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4916864" y="21230986"/>
            <a:ext cx="40177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15581" y="1007487"/>
            <a:ext cx="34488616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2D5F3E"/>
                </a:solidFill>
                <a:latin typeface="Arial"/>
              </a:rPr>
              <a:t>Agnostic Learnability of Halfspaces via Logistic Loss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15581" y="2363350"/>
            <a:ext cx="34488616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Ziwei Ji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Kwangjun Ahn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Pranjal Awasthi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Satyen Kale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Stefani Karp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3,4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5581" y="3063577"/>
            <a:ext cx="34488616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UIUC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MIT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Google Research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CMU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991" y="4963259"/>
            <a:ext cx="10329615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Problem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271672" y="4963259"/>
            <a:ext cx="13111822" cy="1067236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Method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204525" y="4963259"/>
            <a:ext cx="1311196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Setting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137516" y="4963259"/>
            <a:ext cx="10329616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Analysis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91" y="6211331"/>
            <a:ext cx="10329615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How well does plain </a:t>
            </a:r>
            <a:r>
              <a:rPr sz="4106" b="1">
                <a:solidFill>
                  <a:srgbClr val="111111"/>
                </a:solidFill>
                <a:latin typeface="Arial"/>
              </a:rPr>
              <a:t>logistic regression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agnostically learn homogeneous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halfspaces? An adversary corrupts 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OPT</a:t>
            </a:r>
            <a:r>
              <a:rPr sz="4106" b="0">
                <a:solidFill>
                  <a:srgbClr val="1C1C1C"/>
                </a:solidFill>
                <a:latin typeface="Arial"/>
              </a:rPr>
              <a:t> fraction of labels, and we must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compete with the best linear classifier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whose zero-one risk is exactly OPT.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137516" y="6346070"/>
            <a:ext cx="10329616" cy="2674883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The versatile argument extends to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hinge loss</a:t>
            </a:r>
            <a:r>
              <a:rPr sz="4106" b="0">
                <a:solidFill>
                  <a:srgbClr val="2D5F3E"/>
                </a:solidFill>
                <a:latin typeface="Arial"/>
              </a:rPr>
              <a:t>, enabling the perceptron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phase.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37516" y="8806795"/>
            <a:ext cx="10329616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same guarantee also covers general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well-behaved distributions.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835201" y="8861663"/>
            <a:ext cx="6006079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two convex surrogates; minimize the empirical risk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  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29496" y="11116250"/>
            <a:ext cx="8779129" cy="322599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Prior work left a wide gap: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                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lower bound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all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convex surrogates, versus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                    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upper bound for logistic regression.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137516" y="11318636"/>
            <a:ext cx="10329616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Headline Numbers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04525" y="14081065"/>
            <a:ext cx="1311196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Key Results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91" y="15137586"/>
            <a:ext cx="10329615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Motivation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181966" y="17166034"/>
            <a:ext cx="102838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Takeaway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547012" y="18696503"/>
            <a:ext cx="9491634" cy="399355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Logistic regression alone is provably </a:t>
            </a:r>
            <a:r>
              <a:rPr sz="4106" b="1">
                <a:solidFill>
                  <a:srgbClr val="111111"/>
                </a:solidFill>
                <a:latin typeface="Arial"/>
              </a:rPr>
              <a:t>tight</a:t>
            </a:r>
            <a:r>
              <a:rPr sz="4106" b="1">
                <a:solidFill>
                  <a:srgbClr val="FFFFFF"/>
                </a:solidFill>
                <a:latin typeface="Arial"/>
              </a:rPr>
              <a:t> at </a:t>
            </a:r>
            <a:r>
              <a:rPr sz="4106" b="1">
                <a:solidFill>
                  <a:srgbClr val="FFFFFF"/>
                </a:solidFill>
                <a:latin typeface="Arial"/>
              </a:rPr>
              <a:t>             </a:t>
            </a:r>
            <a:r>
              <a:rPr sz="4106" b="1">
                <a:solidFill>
                  <a:srgbClr val="FFFFFF"/>
                </a:solidFill>
                <a:latin typeface="Arial"/>
              </a:rPr>
              <a:t>; one perceptron step from its solution restores near-optimal </a:t>
            </a:r>
            <a:r>
              <a:rPr sz="4106" b="1">
                <a:solidFill>
                  <a:srgbClr val="FFFFFF"/>
                </a:solidFill>
                <a:latin typeface="Arial"/>
              </a:rPr>
              <a:t>                </a:t>
            </a:r>
            <a:r>
              <a:rPr sz="4106" b="1">
                <a:solidFill>
                  <a:srgbClr val="FFFFFF"/>
                </a:solidFill>
                <a:latin typeface="Arial"/>
              </a:rPr>
              <a:t> error on any well-behaved distribution.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234223" y="22126654"/>
            <a:ext cx="10126594" cy="2396451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Matching lower bound </a:t>
            </a:r>
            <a:r>
              <a:rPr sz="4024" b="1">
                <a:solidFill>
                  <a:srgbClr val="2D5F3E"/>
                </a:solidFill>
                <a:latin typeface="Arial"/>
              </a:rPr>
              <a:t>                                                                     </a:t>
            </a:r>
            <a:r>
              <a:rPr sz="4024" b="1">
                <a:solidFill>
                  <a:srgbClr val="2D5F3E"/>
                </a:solidFill>
                <a:latin typeface="Arial"/>
              </a:rPr>
              <a:t> — proving </a:t>
            </a:r>
            <a:r>
              <a:rPr sz="4024" b="1">
                <a:solidFill>
                  <a:srgbClr val="2D5F3E"/>
                </a:solidFill>
                <a:latin typeface="Arial"/>
              </a:rPr>
              <a:t>             </a:t>
            </a:r>
            <a:r>
              <a:rPr sz="4024" b="1">
                <a:solidFill>
                  <a:srgbClr val="2D5F3E"/>
                </a:solidFill>
                <a:latin typeface="Arial"/>
              </a:rPr>
              <a:t> is </a:t>
            </a:r>
            <a:r>
              <a:rPr sz="4024" b="1">
                <a:solidFill>
                  <a:srgbClr val="111111"/>
                </a:solidFill>
                <a:latin typeface="Arial"/>
              </a:rPr>
              <a:t>tight</a:t>
            </a:r>
            <a:r>
              <a:rPr sz="4024" b="1">
                <a:solidFill>
                  <a:srgbClr val="2D5F3E"/>
                </a:solidFill>
                <a:latin typeface="Arial"/>
              </a:rPr>
              <a:t> for logistic regression.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181966" y="22551707"/>
            <a:ext cx="9284893" cy="1584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Radial-Lipschitzness alone already lets logistic regression reach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04525" y="25340945"/>
            <a:ext cx="12579016" cy="2225687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 single perceptron phase closes the long-standing gap: near-optimal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                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error on every well-behaved distribution.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543456" y="28067396"/>
            <a:ext cx="10598593" cy="1586399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Two-phase error: </a:t>
            </a:r>
            <a:r>
              <a:rPr sz="4106" b="0">
                <a:solidFill>
                  <a:srgbClr val="2D5F3E"/>
                </a:solidFill>
                <a:latin typeface="Arial"/>
              </a:rPr>
              <a:t>                       </a:t>
            </a:r>
            <a:r>
              <a:rPr sz="4106" b="0">
                <a:solidFill>
                  <a:srgbClr val="2D5F3E"/>
                </a:solidFill>
                <a:latin typeface="Arial"/>
              </a:rPr>
              <a:t> (bounded) / </a:t>
            </a:r>
            <a:r>
              <a:rPr sz="4106" b="0">
                <a:solidFill>
                  <a:srgbClr val="2D5F3E"/>
                </a:solidFill>
                <a:latin typeface="Arial"/>
              </a:rPr>
              <a:t>                                    </a:t>
            </a:r>
            <a:r>
              <a:rPr sz="4106" b="0">
                <a:solidFill>
                  <a:srgbClr val="2D5F3E"/>
                </a:solidFill>
                <a:latin typeface="Arial"/>
              </a:rPr>
              <a:t> (sub-exp).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204506" y="6211331"/>
            <a:ext cx="1311198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No empirical datasets — a learning-theory paper.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Positive results hold for every </a:t>
            </a:r>
            <a:r>
              <a:rPr sz="4106" b="1">
                <a:solidFill>
                  <a:srgbClr val="111111"/>
                </a:solidFill>
                <a:latin typeface="Arial"/>
              </a:rPr>
              <a:t>well-behaved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distribution.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204506" y="8751371"/>
            <a:ext cx="12652861" cy="24867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lower bound is a concrete counterexample: an explicit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over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with four parts, valid when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233815" y="10151963"/>
            <a:ext cx="12120815" cy="35588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Phase 1 — Logistic GD.</a:t>
            </a:r>
            <a:r>
              <a:rPr sz="4106" b="0">
                <a:solidFill>
                  <a:srgbClr val="1C1C1C"/>
                </a:solidFill>
                <a:latin typeface="Arial"/>
              </a:rPr>
              <a:t> Projected gradient descent on the logistic risk inside a ball of radius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returns a direction within angle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of the target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233815" y="13711852"/>
            <a:ext cx="12120815" cy="3507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Phase 2 — Perceptron.</a:t>
            </a:r>
            <a:r>
              <a:rPr sz="4106" b="0">
                <a:solidFill>
                  <a:srgbClr val="1C1C1C"/>
                </a:solidFill>
                <a:latin typeface="Arial"/>
              </a:rPr>
              <a:t> Projected SGD on the hinge loss (the classical perceptron update), warm-started from Phase 1 over a bounded domain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, sharpening the angle to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9972" y="16860162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Logistic regression is the </a:t>
            </a:r>
            <a:r>
              <a:rPr sz="4106" b="1">
                <a:solidFill>
                  <a:srgbClr val="111111"/>
                </a:solidFill>
                <a:latin typeface="Arial"/>
              </a:rPr>
              <a:t>default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classifier in practice, so its agnostic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guarantees are far from academic.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9972" y="19311302"/>
            <a:ext cx="1032963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Restricting to </a:t>
            </a:r>
            <a:r>
              <a:rPr sz="4106" b="1">
                <a:solidFill>
                  <a:srgbClr val="111111"/>
                </a:solidFill>
                <a:latin typeface="Arial"/>
              </a:rPr>
              <a:t>well-behaved</a:t>
            </a:r>
            <a:r>
              <a:rPr sz="4106" b="0">
                <a:solidFill>
                  <a:srgbClr val="1C1C1C"/>
                </a:solidFill>
                <a:latin typeface="Arial"/>
              </a:rPr>
              <a:t> (isotropic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log-concave) distributions makes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problem tractable — yet the exact rate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logistic regression attains there stayed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open.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9972" y="23363753"/>
            <a:ext cx="7936016" cy="1584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rate sat unknown between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29496" y="26580961"/>
            <a:ext cx="9373313" cy="3304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Ben-David et al. (2012): the logistic-risk minimizer can suffer zero-one risk as bad as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on adversarial distributions.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037601" y="28338402"/>
            <a:ext cx="11533865" cy="1316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 1: the explicit 2-D well-behaved distribution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(parts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–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) that forces the logistic minimizer to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       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error.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324178" y="28592323"/>
            <a:ext cx="5825091" cy="590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546" b="1">
                <a:solidFill>
                  <a:srgbClr val="2D5F3E"/>
                </a:solidFill>
                <a:latin typeface="Arial"/>
              </a:rPr>
              <a:t>Scan to read the full paper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557110" y="29271436"/>
            <a:ext cx="3285109" cy="474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arxiv.org/abs/2201.13419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383380" y="13286105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Õ(OPT)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383380" y="14660999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Two-phase algorithm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error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202441" y="12915642"/>
            <a:ext cx="144017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√OPT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783194" y="13048992"/>
            <a:ext cx="2201327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LR lower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bound (tight)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202441" y="14163159"/>
            <a:ext cx="1325431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Õ(d/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ε²)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671791" y="14296509"/>
            <a:ext cx="231607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sample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complexity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202441" y="15514300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204525" y="15542775"/>
            <a:ext cx="5659984" cy="81244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699656" y="15542775"/>
            <a:ext cx="3313724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0–1 ERROR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916864" y="15542775"/>
            <a:ext cx="4138255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ASSUMPTION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682779" y="15647650"/>
            <a:ext cx="213780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convex steps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204525" y="16249253"/>
            <a:ext cx="565998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Logistic regression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699656" y="16249253"/>
            <a:ext cx="331372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                    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916864" y="16249253"/>
            <a:ext cx="413825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well-behaved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 i="1">
                <a:solidFill>
                  <a:srgbClr val="1C1C1C"/>
                </a:solidFill>
                <a:latin typeface="Arial"/>
              </a:rPr>
              <a:t>(tight)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204525" y="17912794"/>
            <a:ext cx="565998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LR + radial-Lipschitz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699656" y="17912794"/>
            <a:ext cx="331372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               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16864" y="17912794"/>
            <a:ext cx="413825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Lipschitz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density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204525" y="19576335"/>
            <a:ext cx="5659984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Two-phase (LR +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perceptron)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699656" y="19576335"/>
            <a:ext cx="331372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               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916864" y="19576335"/>
            <a:ext cx="413825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well-behaved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only</a:t>
            </a:r>
          </a:p>
        </p:txBody>
      </p:sp>
      <p:pic>
        <p:nvPicPr>
          <p:cNvPr id="139" name="Picture 138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9496" y="11776194"/>
            <a:ext cx="2320290" cy="737870"/>
          </a:xfrm>
          <a:prstGeom prst="rect">
            <a:avLst/>
          </a:prstGeom>
        </p:spPr>
      </p:pic>
      <p:pic>
        <p:nvPicPr>
          <p:cNvPr id="140" name="Picture 139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8613" y="12550874"/>
            <a:ext cx="2890084" cy="737870"/>
          </a:xfrm>
          <a:prstGeom prst="rect">
            <a:avLst/>
          </a:prstGeom>
        </p:spPr>
      </p:pic>
      <p:pic>
        <p:nvPicPr>
          <p:cNvPr id="141" name="Picture 140" descr="eq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3673" y="24057451"/>
            <a:ext cx="2364463" cy="737870"/>
          </a:xfrm>
          <a:prstGeom prst="rect">
            <a:avLst/>
          </a:prstGeom>
        </p:spPr>
      </p:pic>
      <p:pic>
        <p:nvPicPr>
          <p:cNvPr id="142" name="Picture 141" descr="eq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8003" y="24057451"/>
            <a:ext cx="2890083" cy="737870"/>
          </a:xfrm>
          <a:prstGeom prst="rect">
            <a:avLst/>
          </a:prstGeom>
        </p:spPr>
      </p:pic>
      <p:pic>
        <p:nvPicPr>
          <p:cNvPr id="143" name="Picture 142" descr="eq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0127" y="28013362"/>
            <a:ext cx="2458363" cy="737870"/>
          </a:xfrm>
          <a:prstGeom prst="rect">
            <a:avLst/>
          </a:prstGeom>
        </p:spPr>
      </p:pic>
      <p:pic>
        <p:nvPicPr>
          <p:cNvPr id="144" name="Picture 143" descr="eq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65470" y="7066160"/>
            <a:ext cx="9742329" cy="1662430"/>
          </a:xfrm>
          <a:prstGeom prst="rect">
            <a:avLst/>
          </a:prstGeom>
        </p:spPr>
      </p:pic>
      <p:pic>
        <p:nvPicPr>
          <p:cNvPr id="145" name="Picture 144" descr="eq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666346" y="8799433"/>
            <a:ext cx="3771583" cy="400050"/>
          </a:xfrm>
          <a:prstGeom prst="rect">
            <a:avLst/>
          </a:prstGeom>
        </p:spPr>
      </p:pic>
      <p:pic>
        <p:nvPicPr>
          <p:cNvPr id="146" name="Picture 145" descr="eq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76002" y="10968315"/>
            <a:ext cx="1423511" cy="737870"/>
          </a:xfrm>
          <a:prstGeom prst="rect">
            <a:avLst/>
          </a:prstGeom>
        </p:spPr>
      </p:pic>
      <p:pic>
        <p:nvPicPr>
          <p:cNvPr id="147" name="Picture 146" descr="eq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489102" y="11760497"/>
            <a:ext cx="3917156" cy="737870"/>
          </a:xfrm>
          <a:prstGeom prst="rect">
            <a:avLst/>
          </a:prstGeom>
        </p:spPr>
      </p:pic>
      <p:pic>
        <p:nvPicPr>
          <p:cNvPr id="148" name="Picture 147" descr="eq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50051" y="12562125"/>
            <a:ext cx="364490" cy="737870"/>
          </a:xfrm>
          <a:prstGeom prst="rect">
            <a:avLst/>
          </a:prstGeom>
        </p:spPr>
      </p:pic>
      <p:pic>
        <p:nvPicPr>
          <p:cNvPr id="149" name="Picture 148" descr="eq1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881054" y="15258434"/>
            <a:ext cx="542012" cy="737870"/>
          </a:xfrm>
          <a:prstGeom prst="rect">
            <a:avLst/>
          </a:prstGeom>
        </p:spPr>
      </p:pic>
      <p:pic>
        <p:nvPicPr>
          <p:cNvPr id="150" name="Picture 149" descr="eq1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867233" y="16077565"/>
            <a:ext cx="2364462" cy="737870"/>
          </a:xfrm>
          <a:prstGeom prst="rect">
            <a:avLst/>
          </a:prstGeom>
        </p:spPr>
      </p:pic>
      <p:pic>
        <p:nvPicPr>
          <p:cNvPr id="151" name="Picture 150" descr="eq1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614770" y="28249502"/>
            <a:ext cx="408940" cy="613410"/>
          </a:xfrm>
          <a:prstGeom prst="rect">
            <a:avLst/>
          </a:prstGeom>
        </p:spPr>
      </p:pic>
      <p:pic>
        <p:nvPicPr>
          <p:cNvPr id="152" name="Picture 151" descr="eq1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84829" y="28914308"/>
            <a:ext cx="621467" cy="613410"/>
          </a:xfrm>
          <a:prstGeom prst="rect">
            <a:avLst/>
          </a:prstGeom>
        </p:spPr>
      </p:pic>
      <p:pic>
        <p:nvPicPr>
          <p:cNvPr id="153" name="Picture 152" descr="eq1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944103" y="28914308"/>
            <a:ext cx="621467" cy="613410"/>
          </a:xfrm>
          <a:prstGeom prst="rect">
            <a:avLst/>
          </a:prstGeom>
        </p:spPr>
      </p:pic>
      <p:pic>
        <p:nvPicPr>
          <p:cNvPr id="154" name="Picture 153" descr="eq1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503798" y="28914308"/>
            <a:ext cx="1560056" cy="613410"/>
          </a:xfrm>
          <a:prstGeom prst="rect">
            <a:avLst/>
          </a:prstGeom>
        </p:spPr>
      </p:pic>
      <p:pic>
        <p:nvPicPr>
          <p:cNvPr id="155" name="Picture 154" descr="eq16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517036" y="9427567"/>
            <a:ext cx="497840" cy="737870"/>
          </a:xfrm>
          <a:prstGeom prst="rect">
            <a:avLst/>
          </a:prstGeom>
        </p:spPr>
      </p:pic>
      <p:pic>
        <p:nvPicPr>
          <p:cNvPr id="156" name="Picture 155" descr="eq17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319067" y="9427567"/>
            <a:ext cx="4017446" cy="737870"/>
          </a:xfrm>
          <a:prstGeom prst="rect">
            <a:avLst/>
          </a:prstGeom>
        </p:spPr>
      </p:pic>
      <p:pic>
        <p:nvPicPr>
          <p:cNvPr id="157" name="Picture 156" descr="eq18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9387006" y="10229195"/>
            <a:ext cx="3808809" cy="737870"/>
          </a:xfrm>
          <a:prstGeom prst="rect">
            <a:avLst/>
          </a:prstGeom>
        </p:spPr>
      </p:pic>
      <p:pic>
        <p:nvPicPr>
          <p:cNvPr id="158" name="Picture 157" descr="eq19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947326" y="16719589"/>
            <a:ext cx="2721868" cy="702310"/>
          </a:xfrm>
          <a:prstGeom prst="rect">
            <a:avLst/>
          </a:prstGeom>
        </p:spPr>
      </p:pic>
      <p:pic>
        <p:nvPicPr>
          <p:cNvPr id="159" name="Picture 158" descr="eq2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947326" y="18388131"/>
            <a:ext cx="2230140" cy="702310"/>
          </a:xfrm>
          <a:prstGeom prst="rect">
            <a:avLst/>
          </a:prstGeom>
        </p:spPr>
      </p:pic>
      <p:pic>
        <p:nvPicPr>
          <p:cNvPr id="160" name="Picture 159" descr="eq2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947326" y="20051672"/>
            <a:ext cx="2230140" cy="702310"/>
          </a:xfrm>
          <a:prstGeom prst="rect">
            <a:avLst/>
          </a:prstGeom>
        </p:spPr>
      </p:pic>
      <p:pic>
        <p:nvPicPr>
          <p:cNvPr id="161" name="Picture 160" descr="eq2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7073244" y="22019974"/>
            <a:ext cx="9831646" cy="1519634"/>
          </a:xfrm>
          <a:prstGeom prst="rect">
            <a:avLst/>
          </a:prstGeom>
        </p:spPr>
      </p:pic>
      <p:pic>
        <p:nvPicPr>
          <p:cNvPr id="162" name="Picture 161" descr="eq2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550443" y="22810628"/>
            <a:ext cx="1875234" cy="728980"/>
          </a:xfrm>
          <a:prstGeom prst="rect">
            <a:avLst/>
          </a:prstGeom>
        </p:spPr>
      </p:pic>
      <p:pic>
        <p:nvPicPr>
          <p:cNvPr id="163" name="Picture 162" descr="eq24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10250" y="25973524"/>
            <a:ext cx="2167493" cy="684530"/>
          </a:xfrm>
          <a:prstGeom prst="rect">
            <a:avLst/>
          </a:prstGeom>
        </p:spPr>
      </p:pic>
      <p:pic>
        <p:nvPicPr>
          <p:cNvPr id="164" name="Picture 163" descr="eq25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0629800" y="27960716"/>
            <a:ext cx="3391535" cy="737870"/>
          </a:xfrm>
          <a:prstGeom prst="rect">
            <a:avLst/>
          </a:prstGeom>
        </p:spPr>
      </p:pic>
      <p:pic>
        <p:nvPicPr>
          <p:cNvPr id="165" name="Picture 164" descr="eq26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6543456" y="28762344"/>
            <a:ext cx="5246767" cy="737870"/>
          </a:xfrm>
          <a:prstGeom prst="rect">
            <a:avLst/>
          </a:prstGeom>
        </p:spPr>
      </p:pic>
      <p:pic>
        <p:nvPicPr>
          <p:cNvPr id="166" name="Picture 165" descr="eq27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429747" y="19345890"/>
            <a:ext cx="1894681" cy="737870"/>
          </a:xfrm>
          <a:prstGeom prst="rect">
            <a:avLst/>
          </a:prstGeom>
        </p:spPr>
      </p:pic>
      <p:pic>
        <p:nvPicPr>
          <p:cNvPr id="167" name="Picture 166" descr="eq28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546012" y="20798571"/>
            <a:ext cx="2364462" cy="737870"/>
          </a:xfrm>
          <a:prstGeom prst="rect">
            <a:avLst/>
          </a:prstGeom>
        </p:spPr>
      </p:pic>
      <p:pic>
        <p:nvPicPr>
          <p:cNvPr id="168" name="Picture 167" descr="eq29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5949631" y="23245405"/>
            <a:ext cx="2364463" cy="737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
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work sharply analyzes the test error of finite-rank kernel ridge regression, the model behind tuning a frozen network's last layer. It derives matching upper and lower bounds that stay tight for any regularization.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Kernel ridge regression helps explain generalization, and tuning a network's last layer behaves like it with a finite-rank kernel. But classical bounds are far too loose here: they keep the ridge above zero, give only upper bounds, and go vacuous as regularization vanishes.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Freezing a pre-trained backbone and retraining only the final layer is everywhere, and it defines a finite-rank kernel. Yet the theory lags: many results need the input dimension to grow, others fix how the ridge decays, and almost none give a lower bound, without which tightness cannot be claimed.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contribution is threefold. First, the bounds improve as the ridge goes to zero. Second, a sharp lower bound matches the upper bound as samples grow, so both are tight. Third, experiments show a large gain over prior work. The key trick: work in the eigenfunction basis, separating spectrum from sampling noise.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method starts from the kernel-ridge estimator and splits the test error into a bias term and a variance term, each bounded with high probability. The key ingredients: careful algebra on the ridge terms, a sub-Gaussian covariance concentration inequality, and a Neumann-series expansion. That lets the bounds hold for any ridge value.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Being a theory paper, the experiments use controlled synthetic settings. The authors test two finite-rank kernels: a truncated neural tangent kernel and a constructed low-rank kernel. For each they sweep sample sizes from ten to two hundred and many ridge values, averaging ten trials with median and quartile bars.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new upper and lower bounds bracket the error across sample sizes on both kernels, and squeeze together as samples grow. Against Bach's bound the gain is stark: the new bound hugs the true error while Bach's floats far above. In the ridgeless limit, bias reduces to the finite-rank error and variance to the noise.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paper ablates its bound. The finite-rank error is an irreducible floor, while residue terms shrink at a log-N-over-N rate and vanish for large samples. Dropped, the simplified bounds fail only in the small-sample regime, as predicted. A ridge sweep shows the new bound improves toward the ridgeless limit while the prior worsens.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bounds hold with probability at least one minus two over N. The upper bound decays at a log-N-over-N rate, faster than the square-root Rademacher rate. Variance scales as noise times twice the rank over N. And these are the first finite-rank bounds with a high-probability lower bound.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takeaway: finite-rank kernel ridge regression, behind last-layer fine-tuning, has sharp bounds, matching upper and lower, tight for any regularization including none. The key idea, working in the eigenfunction basis to separate spectrum from sampling noise, is a template others can borrow.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_projec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_projec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70a1e07f6ede383e.png"/><Relationship Id="rId3" Type="http://schemas.openxmlformats.org/officeDocument/2006/relationships/image" Target="../media/image_eb13eefca05397f5.png"/><Relationship Id="rId4" Type="http://schemas.openxmlformats.org/officeDocument/2006/relationships/image" Target="../media/image_773c780946cb374c.png"/><Relationship Id="rId5" Type="http://schemas.openxmlformats.org/officeDocument/2006/relationships/image" Target="../media/image_c3e0e958ab0d4b88.png"/><Relationship Id="rId6" Type="http://schemas.openxmlformats.org/officeDocument/2006/relationships/image" Target="../media/image_c45ca6b70020553f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64d70568c1e39a78.png"/><Relationship Id="rId3" Type="http://schemas.openxmlformats.org/officeDocument/2006/relationships/image" Target="../media/image_248cfdc11701754f.png"/><Relationship Id="rId4" Type="http://schemas.openxmlformats.org/officeDocument/2006/relationships/image" Target="../media/image_4bff3383d2f122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dfa03c921cbdd47d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88fd46e6266c075.jpg"/><Relationship Id="rId3" Type="http://schemas.openxmlformats.org/officeDocument/2006/relationships/image" Target="../media/image_89f85223c747eb8a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50bf87707ec22c7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c45ca6b70020553f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5142" y="730568"/>
            <a:ext cx="4006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NEURIPS 2023 · LEARNING THEORY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474" y="1189672"/>
            <a:ext cx="962359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Theoretical Analysis of the Test Error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474" y="1742122"/>
            <a:ext cx="920792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4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of Finite-Rank Kernel Ridge Regression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2533650"/>
            <a:ext cx="9165458" cy="767334"/>
            <a:chOff x="762000" y="2533650"/>
            <a:chExt cx="9165458" cy="767334"/>
          </a:xfrm>
        </p:grpSpPr>
        <p:sp>
          <p:nvSpPr>
            <p:cNvPr id="7" name="Rectangle 7"/>
            <p:cNvSpPr/>
            <p:nvPr/>
          </p:nvSpPr>
          <p:spPr>
            <a:xfrm>
              <a:off x="762000" y="253365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2625090"/>
              <a:ext cx="89460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 sharply analyze the test error of finite-rank KRR — the model behind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1456" y="2948940"/>
              <a:ext cx="6290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tuning a frozen pre-trained network's last layer.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3543300"/>
            <a:ext cx="10668000" cy="742950"/>
            <a:chOff x="762000" y="3543300"/>
            <a:chExt cx="10668000" cy="742950"/>
          </a:xfrm>
        </p:grpSpPr>
        <p:sp>
          <p:nvSpPr>
            <p:cNvPr id="11" name="Rectangle 11"/>
            <p:cNvSpPr/>
            <p:nvPr/>
          </p:nvSpPr>
          <p:spPr>
            <a:xfrm>
              <a:off x="762000" y="3543300"/>
              <a:ext cx="1066800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83857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314450" y="3838575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68018" y="3679508"/>
              <a:ext cx="3488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Matching upper &amp; lower bounds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9161" y="3970496"/>
              <a:ext cx="85084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Non-asymptotic and two-sided — tight for any regularization, including the ridgeless limit.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54761" y="4722971"/>
            <a:ext cx="807959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Tin Sum Cheng · Aurélien Lucchi · Ivan Dokmanić · Anastasis Kratsios · David Belius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904" y="5013960"/>
            <a:ext cx="64796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University of Basel · McMaster University · Vector Institute · UniDistance Suisse</a:t>
            </a:r>
          </a:p>
        </p:txBody>
      </p:sp>
      <p:pic>
        <p:nvPicPr>
          <p:cNvPr id="19" name="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22" y="5524500"/>
            <a:ext cx="1372906" cy="438150"/>
          </a:xfrm>
          <a:prstGeom prst="rect">
            <a:avLst/>
          </a:prstGeom>
        </p:spPr>
      </p:pic>
      <p:pic>
        <p:nvPicPr>
          <p:cNvPr id="20" name="Imag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05" y="5524500"/>
            <a:ext cx="800141" cy="438150"/>
          </a:xfrm>
          <a:prstGeom prst="rect">
            <a:avLst/>
          </a:prstGeom>
        </p:spPr>
      </p:pic>
      <p:pic>
        <p:nvPicPr>
          <p:cNvPr id="21" name="Imag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592357"/>
            <a:ext cx="1428750" cy="302436"/>
          </a:xfrm>
          <a:prstGeom prst="rect">
            <a:avLst/>
          </a:prstGeom>
        </p:spPr>
      </p:pic>
      <p:pic>
        <p:nvPicPr>
          <p:cNvPr id="22" name="Imag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475" y="5524500"/>
            <a:ext cx="1225451" cy="438150"/>
          </a:xfrm>
          <a:prstGeom prst="rect">
            <a:avLst/>
          </a:prstGeom>
        </p:spPr>
      </p:pic>
      <p:sp>
        <p:nvSpPr>
          <p:cNvPr id="23" name="Rectangle 23"/>
          <p:cNvSpPr/>
          <p:nvPr/>
        </p:nvSpPr>
        <p:spPr>
          <a:xfrm>
            <a:off x="10229850" y="4876800"/>
            <a:ext cx="1200150" cy="1428750"/>
          </a:xfrm>
          <a:prstGeom prst="roundRect">
            <a:avLst>
              <a:gd name="adj" fmla="val 9524"/>
            </a:avLst>
          </a:prstGeom>
          <a:solidFill>
            <a:schemeClr val="lt2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pic>
        <p:nvPicPr>
          <p:cNvPr id="24" name="Imag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0" y="4991100"/>
            <a:ext cx="895350" cy="89535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572872" y="6012656"/>
            <a:ext cx="514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PAPER</a:t>
            </a:r>
          </a:p>
        </p:txBody>
      </p:sp>
      <p:sp>
        <p:nvSpPr>
          <p:cNvPr id="26" name="cue_s01_c1_work_sharply_analyzes_test_error" title="cue_s01_c1_work_sharply_analyzes_test_error" descr="cue_s01_c1_work_sharply_analyzes_test_error This work sharply analyzes the test error of finite-rank kernel ridge regression, the model behind tuning a frozen network's last layer."/>
          <p:cNvSpPr/>
          <p:nvPr/>
        </p:nvSpPr>
        <p:spPr>
          <a:xfrm>
            <a:off x="762000" y="2533345"/>
            <a:ext cx="9165945" cy="76741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ue_s01_c2_derives_matching_upper_lower_bounds" title="cue_s01_c2_derives_matching_upper_lower_bounds" descr="cue_s01_c2_derives_matching_upper_lower_bounds It derives matching upper and lower bounds that stay tight for any regularization."/>
          <p:cNvSpPr/>
          <p:nvPr/>
        </p:nvSpPr>
        <p:spPr>
          <a:xfrm>
            <a:off x="762000" y="3543528"/>
            <a:ext cx="10668000" cy="7427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5589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 ·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1019999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Tight guarantees are missing for finite-rank KRR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25" name="Group 25"/>
          <p:cNvGrpSpPr/>
          <p:nvPr/>
        </p:nvGrpSpPr>
        <p:grpSpPr>
          <a:xfrm>
            <a:off x="609600" y="1695450"/>
            <a:ext cx="5303242" cy="4305300"/>
            <a:chOff x="609600" y="1695450"/>
            <a:chExt cx="5303242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295900" cy="4305300"/>
            </a:xfrm>
            <a:prstGeom prst="roundRect">
              <a:avLst>
                <a:gd name="adj" fmla="val 354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85010"/>
              <a:ext cx="9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SETUP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2246948"/>
              <a:ext cx="50464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Last-layer learning = finite-rank KRR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2695575"/>
              <a:ext cx="4221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ridge regression is a workhorse for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2943225"/>
              <a:ext cx="2983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understanding generalization.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3324225"/>
              <a:ext cx="4727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Freeze a pre-trained network and train only its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357187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last layer → regression with a finite-rank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3819525"/>
              <a:ext cx="1749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of rank M.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4476750"/>
              <a:ext cx="142875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82848" y="4739164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Frozen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6154" y="4967764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backbone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3454" y="4780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86050" y="4476750"/>
              <a:ext cx="142875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93087" y="4739164"/>
              <a:ext cx="81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Features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91380" y="496776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φ(x) ∈ ℝᵐ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23204" y="4780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95800" y="4476750"/>
              <a:ext cx="1143000" cy="914400"/>
            </a:xfrm>
            <a:prstGeom prst="roundRect">
              <a:avLst>
                <a:gd name="adj" fmla="val 1041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55902" y="4739164"/>
              <a:ext cx="1022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Finite-rank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4906" y="4967764"/>
              <a:ext cx="564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kernel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695450"/>
            <a:ext cx="5312474" cy="4305300"/>
            <a:chOff x="6286500" y="1695450"/>
            <a:chExt cx="5312474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695450"/>
              <a:ext cx="5295900" cy="4305300"/>
            </a:xfrm>
            <a:prstGeom prst="roundRect">
              <a:avLst>
                <a:gd name="adj" fmla="val 3540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7104" y="1985010"/>
              <a:ext cx="1246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TROUBLE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3294" y="2246948"/>
              <a:ext cx="456284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Classical bounds are far too loose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38925" y="2943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149" y="2906554"/>
              <a:ext cx="440135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 the ridge λ bounded away from 0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38925" y="35337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07149" y="3497104"/>
              <a:ext cx="41778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Provide only upper bounds (one-sided)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38925" y="4124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07149" y="4087654"/>
              <a:ext cx="39220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Become vacuous as λ → 0 (ridgeless)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62500"/>
              <a:ext cx="4762500" cy="914400"/>
            </a:xfrm>
            <a:prstGeom prst="roundRect">
              <a:avLst>
                <a:gd name="adj" fmla="val 10417"/>
              </a:avLst>
            </a:prstGeom>
            <a:solidFill>
              <a:srgbClr val="FDEC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80" y="5000625"/>
              <a:ext cx="482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No tight, two-sided certificate exactly where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74180" y="5267325"/>
              <a:ext cx="2368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last-layer models live.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41" name="cue_s02_c1_kernel_ridge_regression_helps_explai" title="cue_s02_c1_kernel_ridge_regression_helps_explai" descr="cue_s02_c1_kernel_ridge_regression_helps_explai Kernel ridge regression helps explain generalization, and tuning a network's last layer behaves like it with a finite-rank kernel."/>
          <p:cNvSpPr/>
          <p:nvPr/>
        </p:nvSpPr>
        <p:spPr>
          <a:xfrm>
            <a:off x="609600" y="1695297"/>
            <a:ext cx="5296204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2_c2_but_classical_bounds_far_too" title="cue_s02_c2_but_classical_bounds_far_too" descr="cue_s02_c2_but_classical_bounds_far_too But classical bounds are far too loose here: they keep the ridge above zero, give only upper bounds, and go vacuous as regularization vanishes."/>
          <p:cNvSpPr/>
          <p:nvPr/>
        </p:nvSpPr>
        <p:spPr>
          <a:xfrm>
            <a:off x="6286195" y="1695297"/>
            <a:ext cx="5296204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8951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 · 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918360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common recipe, but the theory lags behind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609600" y="1695450"/>
            <a:ext cx="11821235" cy="1752600"/>
            <a:chOff x="609600" y="1695450"/>
            <a:chExt cx="11821235" cy="17526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10972800" cy="1752600"/>
            </a:xfrm>
            <a:prstGeom prst="roundRect">
              <a:avLst>
                <a:gd name="adj" fmla="val 869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65960"/>
              <a:ext cx="860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NOW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2227898"/>
              <a:ext cx="115644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Freeze the backbone, retrain only the final layer — and it defines a finite-rank kernel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763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25366" y="2895600"/>
              <a:ext cx="184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Transfer learning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02173" y="2895600"/>
              <a:ext cx="212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Reservoir computing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505700" y="2724150"/>
              <a:ext cx="3143250" cy="5334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33268" y="2895600"/>
              <a:ext cx="1888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Few-shot learning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676650"/>
            <a:ext cx="10972800" cy="2324100"/>
            <a:chOff x="609600" y="3676650"/>
            <a:chExt cx="10972800" cy="2324100"/>
          </a:xfrm>
        </p:grpSpPr>
        <p:sp>
          <p:nvSpPr>
            <p:cNvPr id="16" name="Rectangle 16"/>
            <p:cNvSpPr/>
            <p:nvPr/>
          </p:nvSpPr>
          <p:spPr>
            <a:xfrm>
              <a:off x="609600" y="3676650"/>
              <a:ext cx="10972800" cy="2324100"/>
            </a:xfrm>
            <a:prstGeom prst="roundRect">
              <a:avLst>
                <a:gd name="adj" fmla="val 655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3947160"/>
              <a:ext cx="2470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PRIOR WORK MISSES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6899" y="4459129"/>
              <a:ext cx="19457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Need input dim → 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8423" y="4758214"/>
              <a:ext cx="3002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asymptotic, high-dimensional limits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196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40199" y="4459129"/>
              <a:ext cx="27119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 a ridge schedule λ(N)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1723" y="4758214"/>
              <a:ext cx="270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hold only for a prescribed decay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962900" y="4248150"/>
              <a:ext cx="3352800" cy="838200"/>
            </a:xfrm>
            <a:prstGeom prst="roundRect">
              <a:avLst>
                <a:gd name="adj" fmla="val 1136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83499" y="4459129"/>
              <a:ext cx="2368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Bound expected error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023" y="47582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 high-probability control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76300" y="5257800"/>
              <a:ext cx="10439400" cy="552450"/>
            </a:xfrm>
            <a:prstGeom prst="roundRect">
              <a:avLst>
                <a:gd name="adj" fmla="val 17241"/>
              </a:avLst>
            </a:prstGeom>
            <a:solidFill>
              <a:srgbClr val="FDEC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6899" y="5430679"/>
              <a:ext cx="89461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B7391A"/>
                  </a:solidFill>
                  <a:latin typeface="+mn-lt"/>
                  <a:ea typeface="+mn-ea"/>
                  <a:cs typeface="+mn-cs"/>
                </a:rPr>
                <a:t>Almost none give a lower bound — so you can never claim your upper bound is tight.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32" name="cue_s03_c1_freezing_pre_trained_backbone_retrai" title="cue_s03_c1_freezing_pre_trained_backbone_retrai" descr="cue_s03_c1_freezing_pre_trained_backbone_retrai Freezing a pre-trained backbone and retraining only the final layer is everywhere, and it defines a finite-rank kernel."/>
          <p:cNvSpPr/>
          <p:nvPr/>
        </p:nvSpPr>
        <p:spPr>
          <a:xfrm>
            <a:off x="609600" y="1695297"/>
            <a:ext cx="10972800" cy="17529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3_c2_yet_theory_lags_many_results" title="cue_s03_c2_yet_theory_lags_many_results" descr="cue_s03_c2_yet_theory_lags_many_results Yet the theory lags: many results need the input dimension to grow, others fix how the ridge decays, and almost none give a lower bound, without which tightness cannot be claimed."/>
          <p:cNvSpPr/>
          <p:nvPr/>
        </p:nvSpPr>
        <p:spPr>
          <a:xfrm>
            <a:off x="609600" y="3676573"/>
            <a:ext cx="10972800" cy="23241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1193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 · 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945968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Sharp, two-sided bounds — valid for any ridge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609600" y="1695450"/>
            <a:ext cx="3505200" cy="2381250"/>
            <a:chOff x="609600" y="1695450"/>
            <a:chExt cx="3505200" cy="238125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9240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46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356" y="1996440"/>
              <a:ext cx="20012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Improve as λ → 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7730" y="2581275"/>
              <a:ext cx="2970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Bounds get better toward the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28289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ridgeless limit — and stay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7730" y="307657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non-vacuous, unlike prior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7730" y="3324225"/>
              <a:ext cx="610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work.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43400" y="1695450"/>
            <a:ext cx="3505200" cy="2381250"/>
            <a:chOff x="4343400" y="1695450"/>
            <a:chExt cx="3505200" cy="2381250"/>
          </a:xfrm>
        </p:grpSpPr>
        <p:sp>
          <p:nvSpPr>
            <p:cNvPr id="15" name="Rectangle 15"/>
            <p:cNvSpPr/>
            <p:nvPr/>
          </p:nvSpPr>
          <p:spPr>
            <a:xfrm>
              <a:off x="43434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533900" y="192405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584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8156" y="1996440"/>
              <a:ext cx="26727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Matching lower bound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1530" y="2581275"/>
              <a:ext cx="2869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sharp lower bound provably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1530" y="2828925"/>
              <a:ext cx="2920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matches the upper bound as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1530" y="307657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grows — tight in a precise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21530" y="33242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sense.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77200" y="1695450"/>
            <a:ext cx="3505200" cy="2381250"/>
            <a:chOff x="8077200" y="1695450"/>
            <a:chExt cx="35052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8077200" y="1695450"/>
              <a:ext cx="3505200" cy="2381250"/>
            </a:xfrm>
            <a:prstGeom prst="roundRect">
              <a:avLst>
                <a:gd name="adj" fmla="val 64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267700" y="19240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922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91956" y="1996440"/>
              <a:ext cx="2494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Large empirical gain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55330" y="2581275"/>
              <a:ext cx="2929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Dramatically tighter than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55330" y="2828925"/>
              <a:ext cx="2829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closest prior bound (Bach) 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55330" y="3076575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validated on two finite-rank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55330" y="33242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4305300"/>
            <a:ext cx="10972800" cy="1695450"/>
            <a:chOff x="609600" y="4305300"/>
            <a:chExt cx="10972800" cy="1695450"/>
          </a:xfrm>
        </p:grpSpPr>
        <p:sp>
          <p:nvSpPr>
            <p:cNvPr id="33" name="Rectangle 33"/>
            <p:cNvSpPr/>
            <p:nvPr/>
          </p:nvSpPr>
          <p:spPr>
            <a:xfrm>
              <a:off x="609600" y="4305300"/>
              <a:ext cx="10972800" cy="1695450"/>
            </a:xfrm>
            <a:prstGeom prst="roundRect">
              <a:avLst>
                <a:gd name="adj" fmla="val 89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0204" y="4594860"/>
              <a:ext cx="199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KEY TECHNICAL TRICK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6394" y="4894898"/>
              <a:ext cx="7329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Analyze the target in the L²ρ eigenfunction basis {ψₖ}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8299" y="5316379"/>
              <a:ext cx="95310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Decouple the kernel spectrum from the randomness of sampling — the source of the sharper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8299" y="5583079"/>
              <a:ext cx="51183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constants, instead of working in the RKHS basis.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41" name="cue_s04_c1_contribution_threefold_first_bounds" title="cue_s04_c1_contribution_threefold_first_bounds" descr="cue_s04_c1_contribution_threefold_first_bounds The contribution is threefold. First, the bounds improve as the ridge goes to zero."/>
          <p:cNvSpPr/>
          <p:nvPr/>
        </p:nvSpPr>
        <p:spPr>
          <a:xfrm>
            <a:off x="609600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2_second_sharp_lower_bound_matches" title="cue_s04_c2_second_sharp_lower_bound_matches" descr="cue_s04_c2_second_sharp_lower_bound_matches Second, a sharp lower bound matches the upper bound as samples grow, so both are tight."/>
          <p:cNvSpPr/>
          <p:nvPr/>
        </p:nvSpPr>
        <p:spPr>
          <a:xfrm>
            <a:off x="4344009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3_third_experiments_show_large_gain" title="cue_s04_c3_third_experiments_show_large_gain" descr="cue_s04_c3_third_experiments_show_large_gain Third, experiments show a large gain over prior work."/>
          <p:cNvSpPr/>
          <p:nvPr/>
        </p:nvSpPr>
        <p:spPr>
          <a:xfrm>
            <a:off x="8077200" y="1695297"/>
            <a:ext cx="3505199" cy="23810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4_c4_key_trick_work_eigenfunction_basis" title="cue_s04_c4_key_trick_work_eigenfunction_basis" descr="cue_s04_c4_key_trick_work_eigenfunction_basis The key trick: work in the eigenfunction basis, separating spectrum from sampling noise."/>
          <p:cNvSpPr/>
          <p:nvPr/>
        </p:nvSpPr>
        <p:spPr>
          <a:xfrm>
            <a:off x="609600" y="4305452"/>
            <a:ext cx="10972800" cy="16952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4267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 · 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78009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Bias–variance split, bounded for any ridge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609600" y="1695450"/>
            <a:ext cx="6786631" cy="2838450"/>
            <a:chOff x="609600" y="1695450"/>
            <a:chExt cx="6786631" cy="283845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486400" cy="2838450"/>
            </a:xfrm>
            <a:prstGeom prst="roundRect">
              <a:avLst>
                <a:gd name="adj" fmla="val 536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65960"/>
              <a:ext cx="1835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ESTIMATOR → SPLIT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254568"/>
              <a:ext cx="3861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Regularized least squares over the RKHS: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6300" y="2533650"/>
              <a:ext cx="4762500" cy="7239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869442" y="3454718"/>
              <a:ext cx="3874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Test error splits cleanly into two terms: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300" y="3742125"/>
              <a:ext cx="4876800" cy="3072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869823" y="4205764"/>
              <a:ext cx="6526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bias = noiseless error  ·  variance = label-noise error — each bounded w.h.p.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24600" y="1695450"/>
            <a:ext cx="5257800" cy="2838450"/>
            <a:chOff x="6324600" y="1695450"/>
            <a:chExt cx="5257800" cy="283845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95450"/>
              <a:ext cx="5257800" cy="2838450"/>
            </a:xfrm>
            <a:prstGeom prst="roundRect">
              <a:avLst>
                <a:gd name="adj" fmla="val 536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85204" y="1965960"/>
              <a:ext cx="1579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KEY INGREDIENTS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591300" y="226695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73799" y="2477929"/>
              <a:ext cx="3797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Careful algebra on the ridge terms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591300" y="300990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73799" y="3220879"/>
              <a:ext cx="42958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Sub-Gaussian covariance concentration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91300" y="3752850"/>
              <a:ext cx="47244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3799" y="3963829"/>
              <a:ext cx="37194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Neumann-series inverse expansion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762500"/>
            <a:ext cx="11238967" cy="1238250"/>
            <a:chOff x="609600" y="4762500"/>
            <a:chExt cx="11238967" cy="12382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62500"/>
              <a:ext cx="10972800" cy="1238250"/>
            </a:xfrm>
            <a:prstGeom prst="roundRect">
              <a:avLst>
                <a:gd name="adj" fmla="val 1230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0204" y="5033010"/>
              <a:ext cx="2706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HOLDS FOR ANY RIDGE VALUE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3290" y="5295900"/>
              <a:ext cx="5260019" cy="5715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6659880" y="5229225"/>
              <a:ext cx="399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Valid for λ chosen independently of N 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59880" y="5514975"/>
              <a:ext cx="51886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not only for a ridge that shrinks with the sample.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31" name="cue_s05_c1_method_starts_kernel_ridge_estimator" title="cue_s05_c1_method_starts_kernel_ridge_estimator" descr="cue_s05_c1_method_starts_kernel_ridge_estimator The method starts from the kernel-ridge estimator and splits the test error into a bias term and a variance term, each bounded with high probability."/>
          <p:cNvSpPr/>
          <p:nvPr/>
        </p:nvSpPr>
        <p:spPr>
          <a:xfrm>
            <a:off x="609600" y="1695297"/>
            <a:ext cx="5486400" cy="28385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e_s05_c2_key_ingredients_careful_algebra_ridg" title="cue_s05_c2_key_ingredients_careful_algebra_ridg" descr="cue_s05_c2_key_ingredients_careful_algebra_ridg The key ingredients: careful algebra on the ridge terms, a sub-Gaussian covariance concentration inequality, and a Neumann-series expansion."/>
          <p:cNvSpPr/>
          <p:nvPr/>
        </p:nvSpPr>
        <p:spPr>
          <a:xfrm>
            <a:off x="6325209" y="1695297"/>
            <a:ext cx="5258409" cy="283852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5_c3_lets_bounds_hold_any_ridge" title="cue_s05_c3_lets_bounds_hold_any_ridge" descr="cue_s05_c3_lets_bounds_hold_any_ridge That lets the bounds hold for any ridge value."/>
          <p:cNvSpPr/>
          <p:nvPr/>
        </p:nvSpPr>
        <p:spPr>
          <a:xfrm>
            <a:off x="609600" y="4762195"/>
            <a:ext cx="11238585" cy="12385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30045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05 · 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41869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Controlled synthetic finite-rank kernels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695450"/>
            <a:ext cx="4953000" cy="1312545"/>
            <a:chOff x="609600" y="1695450"/>
            <a:chExt cx="4953000" cy="1312545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4953000" cy="125730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927860"/>
              <a:ext cx="1545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THEORY PAPER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219325"/>
              <a:ext cx="45066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Controlled synthetic settings — no natural-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2466975"/>
              <a:ext cx="3754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image data. True spectrum &amp; target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714625"/>
              <a:ext cx="2686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decomposition are known.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067050"/>
            <a:ext cx="4953000" cy="1676400"/>
            <a:chOff x="609600" y="3067050"/>
            <a:chExt cx="4953000" cy="1676400"/>
          </a:xfrm>
        </p:grpSpPr>
        <p:sp>
          <p:nvSpPr>
            <p:cNvPr id="12" name="Rectangle 12"/>
            <p:cNvSpPr/>
            <p:nvPr/>
          </p:nvSpPr>
          <p:spPr>
            <a:xfrm>
              <a:off x="609600" y="3067050"/>
              <a:ext cx="49530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104" y="3299460"/>
              <a:ext cx="2522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TWO FINITE-RANK KERNELS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581400"/>
              <a:ext cx="449580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38200" y="35814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561" y="3646646"/>
              <a:ext cx="38990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tNTK — truncated Neural Tangent Kernel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085" y="38790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mimics a wide network's last layer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4152900"/>
              <a:ext cx="449580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41529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9561" y="4218146"/>
              <a:ext cx="3471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LK — a constructed low-rank kernel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1085" y="4450556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separately built finite-rank kernel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4857750"/>
            <a:ext cx="4953000" cy="1143000"/>
            <a:chOff x="609600" y="4857750"/>
            <a:chExt cx="49530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609600" y="4857750"/>
              <a:ext cx="4953000" cy="1143000"/>
            </a:xfrm>
            <a:prstGeom prst="roundRect">
              <a:avLst>
                <a:gd name="adj" fmla="val 1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104" y="5090160"/>
              <a:ext cx="2039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EXPERIMENTAL SWEEP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0199" y="5392579"/>
              <a:ext cx="39933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≈ 10 → 200  ·  many ridge values 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199" y="5659279"/>
              <a:ext cx="466136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10 trials  ·  median + quartile error bars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791200" y="1695450"/>
            <a:ext cx="5791200" cy="4305300"/>
          </a:xfrm>
          <a:prstGeom prst="roundRect">
            <a:avLst>
              <a:gd name="adj" fmla="val 3540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29" name="TextBox 29"/>
          <p:cNvSpPr txBox="1"/>
          <p:nvPr/>
        </p:nvSpPr>
        <p:spPr>
          <a:xfrm>
            <a:off x="6013704" y="1927860"/>
            <a:ext cx="39351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112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FIGURE 1 · KRR ON A FINITE-RANK KERNEL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484250"/>
            <a:ext cx="5334000" cy="2232401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6013323" y="5196364"/>
            <a:ext cx="46943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Left: KRR training. Right: test error vs sample size N,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13323" y="5424964"/>
            <a:ext cx="48377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over 10 iterations; upper/lower quartiles as error bars.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35" name="cue_s06_c1_being_theory_experiments_controlled" title="cue_s06_c1_being_theory_experiments_controlled" descr="cue_s06_c1_being_theory_experiments_controlled Being a theory paper, the experiments use controlled synthetic settings."/>
          <p:cNvSpPr/>
          <p:nvPr/>
        </p:nvSpPr>
        <p:spPr>
          <a:xfrm>
            <a:off x="609600" y="1695297"/>
            <a:ext cx="4952390" cy="13126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6_c2_authors_test_two_finite_rank_kernels" title="cue_s06_c2_authors_test_two_finite_rank_kernels" descr="cue_s06_c2_authors_test_two_finite_rank_kernels The authors test two finite-rank kernels: a truncated neural tangent kernel and a constructed low-rank kernel."/>
          <p:cNvSpPr/>
          <p:nvPr/>
        </p:nvSpPr>
        <p:spPr>
          <a:xfrm>
            <a:off x="609600" y="3066897"/>
            <a:ext cx="495239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6_c3_they_sweep_sample_sizes_ten" title="cue_s06_c3_they_sweep_sample_sizes_ten" descr="cue_s06_c3_they_sweep_sample_sizes_ten For each they sweep sample sizes from ten to two hundred and many ridge values, averaging ten trials with median and quartile bars."/>
          <p:cNvSpPr/>
          <p:nvPr/>
        </p:nvSpPr>
        <p:spPr>
          <a:xfrm>
            <a:off x="609600" y="4857521"/>
            <a:ext cx="4952390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18246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06 · 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2716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bounds bracket the true test error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6" name="Rectangle 6"/>
          <p:cNvSpPr/>
          <p:nvPr/>
        </p:nvSpPr>
        <p:spPr>
          <a:xfrm>
            <a:off x="609600" y="1695450"/>
            <a:ext cx="5791200" cy="4305300"/>
          </a:xfrm>
          <a:prstGeom prst="roundRect">
            <a:avLst>
              <a:gd name="adj" fmla="val 3540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p/>
        </p:txBody>
      </p:sp>
      <p:sp>
        <p:nvSpPr>
          <p:cNvPr id="7" name="TextBox 7"/>
          <p:cNvSpPr txBox="1"/>
          <p:nvPr/>
        </p:nvSpPr>
        <p:spPr>
          <a:xfrm>
            <a:off x="832104" y="1927860"/>
            <a:ext cx="4662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spc="112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FIGURE 2 · COMPARISON OF TEST-ERROR BOUNDS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9477"/>
            <a:ext cx="5334000" cy="2241947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31723" y="5196364"/>
            <a:ext cx="47739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Upper bounds vs N (left) and vs 1/λ (right), natural-log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723" y="5424964"/>
            <a:ext cx="5419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scale. New bound tracks the true error; Bach's sits far above.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29400" y="1695450"/>
            <a:ext cx="4953000" cy="1333500"/>
            <a:chOff x="6629400" y="1695450"/>
            <a:chExt cx="4953000" cy="1333500"/>
          </a:xfrm>
        </p:grpSpPr>
        <p:sp>
          <p:nvSpPr>
            <p:cNvPr id="11" name="Rectangle 11"/>
            <p:cNvSpPr/>
            <p:nvPr/>
          </p:nvSpPr>
          <p:spPr>
            <a:xfrm>
              <a:off x="6629400" y="1695450"/>
              <a:ext cx="4953000" cy="133350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51904" y="1908810"/>
              <a:ext cx="1913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SANDWICHED &amp; TIGHT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49999" y="2211229"/>
              <a:ext cx="46581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Upper &amp; lower bounds bracket the error 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49999" y="2458879"/>
              <a:ext cx="4490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both kernels — and squeeze together as 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9999" y="2706529"/>
              <a:ext cx="40248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grows (the signature of tightness).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29400" y="3162300"/>
            <a:ext cx="4953000" cy="1333500"/>
            <a:chOff x="6629400" y="3162300"/>
            <a:chExt cx="49530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6629400" y="3162300"/>
              <a:ext cx="4953000" cy="133350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51904" y="3375660"/>
              <a:ext cx="2971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VS. THE CLOSEST PRIOR BOUND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49999" y="3678079"/>
              <a:ext cx="42972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Stark gain against Bach: the new bound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9999" y="3925729"/>
              <a:ext cx="435635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hugs the true error while Bach's floats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9999" y="4173379"/>
              <a:ext cx="37121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far above (orders of magnitude).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29400" y="4629150"/>
            <a:ext cx="4953000" cy="1401223"/>
            <a:chOff x="6629400" y="4629150"/>
            <a:chExt cx="4953000" cy="1401223"/>
          </a:xfrm>
        </p:grpSpPr>
        <p:sp>
          <p:nvSpPr>
            <p:cNvPr id="23" name="Rectangle 23"/>
            <p:cNvSpPr/>
            <p:nvPr/>
          </p:nvSpPr>
          <p:spPr>
            <a:xfrm>
              <a:off x="6629400" y="4629150"/>
              <a:ext cx="4953000" cy="1371600"/>
            </a:xfrm>
            <a:prstGeom prst="roundRect">
              <a:avLst>
                <a:gd name="adj" fmla="val 11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1904" y="4842510"/>
              <a:ext cx="1570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RIDGELESS LIMIT</a:t>
              </a:r>
            </a:p>
          </p:txBody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0" y="5105400"/>
              <a:ext cx="4495800" cy="28575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6850761" y="5523071"/>
              <a:ext cx="36040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Bias → irreducible finite-rank error;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0761" y="5751671"/>
              <a:ext cx="31557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variance → the noise level alone.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31" name="cue_s07_c1_new_upper_lower_bounds_bracket" title="cue_s07_c1_new_upper_lower_bounds_bracket" descr="cue_s07_c1_new_upper_lower_bounds_bracket The new upper and lower bounds bracket the error across sample sizes on both kernels, and squeeze together as samples grow."/>
          <p:cNvSpPr/>
          <p:nvPr/>
        </p:nvSpPr>
        <p:spPr>
          <a:xfrm>
            <a:off x="6628790" y="1695297"/>
            <a:ext cx="495239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e_s07_c2_against_bach_bound_gain_stark" title="cue_s07_c2_against_bach_bound_gain_stark" descr="cue_s07_c2_against_bach_bound_gain_stark Against Bach's bound the gain is stark: the new bound hugs the true error while Bach's floats far above."/>
          <p:cNvSpPr/>
          <p:nvPr/>
        </p:nvSpPr>
        <p:spPr>
          <a:xfrm>
            <a:off x="6628790" y="3162223"/>
            <a:ext cx="495239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7_c3_ridgeless_limit_bias_reduces_finite" title="cue_s07_c3_ridgeless_limit_bias_reduces_finite" descr="cue_s07_c3_ridgeless_limit_bias_reduces_finite In the ridgeless limit, bias reduces to the finite-rank error and variance to the noise."/>
          <p:cNvSpPr/>
          <p:nvPr/>
        </p:nvSpPr>
        <p:spPr>
          <a:xfrm>
            <a:off x="6628790" y="4629150"/>
            <a:ext cx="4952390" cy="140108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3434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 · 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848454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Which terms matter, and which wash out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609600" y="1695450"/>
            <a:ext cx="4953000" cy="838200"/>
            <a:chOff x="609600" y="1695450"/>
            <a:chExt cx="4953000" cy="8382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4953000" cy="838200"/>
            </a:xfrm>
            <a:prstGeom prst="roundRect">
              <a:avLst>
                <a:gd name="adj" fmla="val 1818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927860"/>
              <a:ext cx="147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SELF-ABLATION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167890"/>
              <a:ext cx="39457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Ablate the bound, term by term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686050"/>
            <a:ext cx="4953000" cy="1562100"/>
            <a:chOff x="609600" y="2686050"/>
            <a:chExt cx="4953000" cy="1562100"/>
          </a:xfrm>
        </p:grpSpPr>
        <p:sp>
          <p:nvSpPr>
            <p:cNvPr id="10" name="Rectangle 10"/>
            <p:cNvSpPr/>
            <p:nvPr/>
          </p:nvSpPr>
          <p:spPr>
            <a:xfrm>
              <a:off x="609600" y="2686050"/>
              <a:ext cx="4953000" cy="1562100"/>
            </a:xfrm>
            <a:prstGeom prst="roundRect">
              <a:avLst>
                <a:gd name="adj" fmla="val 975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2914650"/>
              <a:ext cx="449580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9146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180" y="3000375"/>
              <a:ext cx="3806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Finite-rank error — irreducible floor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1085" y="3250406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never vanishes, even with infinite data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3581400"/>
              <a:ext cx="4495800" cy="571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38200" y="35814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180" y="3667125"/>
              <a:ext cx="3706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Residue terms — shrink like log N / 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085" y="3917156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negligible for large samples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4400550"/>
            <a:ext cx="4982317" cy="1600200"/>
            <a:chOff x="609600" y="4400550"/>
            <a:chExt cx="4982317" cy="1600200"/>
          </a:xfrm>
        </p:grpSpPr>
        <p:sp>
          <p:nvSpPr>
            <p:cNvPr id="20" name="Rectangle 20"/>
            <p:cNvSpPr/>
            <p:nvPr/>
          </p:nvSpPr>
          <p:spPr>
            <a:xfrm>
              <a:off x="609600" y="4400550"/>
              <a:ext cx="4953000" cy="1600200"/>
            </a:xfrm>
            <a:prstGeom prst="roundRect">
              <a:avLst>
                <a:gd name="adj" fmla="val 9524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104" y="4632960"/>
              <a:ext cx="12020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RIDGE SWEEP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199" y="4935379"/>
              <a:ext cx="37660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New bound → improves toward λ =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199" y="5297329"/>
              <a:ext cx="26041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Bach's bound → worsens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723" y="5653564"/>
              <a:ext cx="4760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isolating the ridge-dependence as the source of the gain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91200" y="1695450"/>
            <a:ext cx="5791200" cy="4305300"/>
            <a:chOff x="5791200" y="1695450"/>
            <a:chExt cx="5791200" cy="4305300"/>
          </a:xfrm>
        </p:grpSpPr>
        <p:sp>
          <p:nvSpPr>
            <p:cNvPr id="26" name="Rectangle 26"/>
            <p:cNvSpPr/>
            <p:nvPr/>
          </p:nvSpPr>
          <p:spPr>
            <a:xfrm>
              <a:off x="5791200" y="1695450"/>
              <a:ext cx="5791200" cy="4305300"/>
            </a:xfrm>
            <a:prstGeom prst="roundRect">
              <a:avLst>
                <a:gd name="adj" fmla="val 354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3704" y="1927860"/>
              <a:ext cx="4420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3 · RESIDUES DROPPED FOR SIMPLICITY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19800" y="2470993"/>
              <a:ext cx="5334000" cy="2239863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6012942" y="5169218"/>
              <a:ext cx="4796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Simplified bounds stop bracketing only for small N 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2942" y="5416868"/>
              <a:ext cx="5363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exactly as predicted — and recover tightness as N grows.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34" name="cue_s08_c1_ablates_its_bound" title="cue_s08_c1_ablates_its_bound" descr="cue_s08_c1_ablates_its_bound The paper ablates its bound."/>
          <p:cNvSpPr/>
          <p:nvPr/>
        </p:nvSpPr>
        <p:spPr>
          <a:xfrm>
            <a:off x="609600" y="1695297"/>
            <a:ext cx="4952390" cy="8380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8_c2_finite_rank_error_irreducible_floor" title="cue_s08_c2_finite_rank_error_irreducible_floor" descr="cue_s08_c2_finite_rank_error_irreducible_floor The finite-rank error is an irreducible floor, while residue terms shrink at a log-N-over-N rate and vanish for large samples."/>
          <p:cNvSpPr/>
          <p:nvPr/>
        </p:nvSpPr>
        <p:spPr>
          <a:xfrm>
            <a:off x="609600" y="2686278"/>
            <a:ext cx="4952390" cy="15622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8_c3_dropped_simplified_bounds_fail_only" title="cue_s08_c3_dropped_simplified_bounds_fail_only" descr="cue_s08_c3_dropped_simplified_bounds_fail_only Dropped, the simplified bounds fail only in the small-sample regime, as predicted."/>
          <p:cNvSpPr/>
          <p:nvPr/>
        </p:nvSpPr>
        <p:spPr>
          <a:xfrm>
            <a:off x="5791200" y="1695297"/>
            <a:ext cx="5791200" cy="43054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8_c4_ridge_sweep_shows_new_bound" title="cue_s08_c4_ridge_sweep_shows_new_bound" descr="cue_s08_c4_ridge_sweep_shows_new_bound A ridge sweep shows the new bound improves toward the ridgeless limit while the prior worsens."/>
          <p:cNvSpPr/>
          <p:nvPr/>
        </p:nvSpPr>
        <p:spPr>
          <a:xfrm>
            <a:off x="609600" y="4400778"/>
            <a:ext cx="4982870" cy="15999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55245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TextBox 3"/>
          <p:cNvSpPr txBox="1"/>
          <p:nvPr/>
        </p:nvSpPr>
        <p:spPr>
          <a:xfrm>
            <a:off x="793242" y="578168"/>
            <a:ext cx="26079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1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08 · 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4860" y="819150"/>
            <a:ext cx="58974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bounds, in four numbers</a:t>
            </a:r>
          </a:p>
        </p:txBody>
      </p:sp>
      <p:sp>
        <p:nvSpPr>
          <p:cNvPr id="5" name="Line 5"/>
          <p:cNvSpPr/>
          <p:nvPr/>
        </p:nvSpPr>
        <p:spPr>
          <a:xfrm>
            <a:off x="609600" y="13906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4"/>
            </a:solidFill>
          </a:ln>
        </p:spPr>
        <p:txBody>
          <a:bodyPr/>
          <a:p/>
        </p:txBody>
      </p:sp>
      <p:grpSp>
        <p:nvGrpSpPr>
          <p:cNvPr id="11" name="Group 11"/>
          <p:cNvGrpSpPr/>
          <p:nvPr/>
        </p:nvGrpSpPr>
        <p:grpSpPr>
          <a:xfrm>
            <a:off x="609600" y="1695450"/>
            <a:ext cx="5334000" cy="1943100"/>
            <a:chOff x="609600" y="1695450"/>
            <a:chExt cx="5334000" cy="1943100"/>
          </a:xfrm>
        </p:grpSpPr>
        <p:sp>
          <p:nvSpPr>
            <p:cNvPr id="6" name="Rectangle 6"/>
            <p:cNvSpPr/>
            <p:nvPr/>
          </p:nvSpPr>
          <p:spPr>
            <a:xfrm>
              <a:off x="609600" y="16954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985010"/>
              <a:ext cx="1132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CONFIDENCE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7250" y="2371725"/>
              <a:ext cx="286085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≥ 1 − 2/N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3114675"/>
              <a:ext cx="3171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Holds with high probability — the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343275"/>
              <a:ext cx="3878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confidence itself sharpens as N grows.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48400" y="1695450"/>
            <a:ext cx="5334000" cy="1943100"/>
            <a:chOff x="6248400" y="1695450"/>
            <a:chExt cx="5334000" cy="1943100"/>
          </a:xfrm>
        </p:grpSpPr>
        <p:sp>
          <p:nvSpPr>
            <p:cNvPr id="12" name="Rectangle 12"/>
            <p:cNvSpPr/>
            <p:nvPr/>
          </p:nvSpPr>
          <p:spPr>
            <a:xfrm>
              <a:off x="6248400" y="16954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09004" y="1985010"/>
              <a:ext cx="1933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UPPER-BOUND DECAY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96050" y="2371725"/>
              <a:ext cx="383177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O(log N / 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07480" y="3114675"/>
              <a:ext cx="3818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order of magnitude faster than the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7480" y="3343275"/>
              <a:ext cx="2999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√(log N / N) Rademacher rate.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29050"/>
            <a:ext cx="5334000" cy="1943100"/>
            <a:chOff x="609600" y="3829050"/>
            <a:chExt cx="5334000" cy="1943100"/>
          </a:xfrm>
        </p:grpSpPr>
        <p:sp>
          <p:nvSpPr>
            <p:cNvPr id="18" name="Rectangle 18"/>
            <p:cNvSpPr/>
            <p:nvPr/>
          </p:nvSpPr>
          <p:spPr>
            <a:xfrm>
              <a:off x="609600" y="38290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4118610"/>
              <a:ext cx="1545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VARIANCE BOUND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7250" y="4505325"/>
              <a:ext cx="350353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σ² · 2M /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8680" y="5248275"/>
              <a:ext cx="35668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 = kernel rank — valid in the under-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8680" y="5476875"/>
              <a:ext cx="2847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parameterized regime N &gt; M.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48400" y="3829050"/>
            <a:ext cx="5334000" cy="1943100"/>
            <a:chOff x="6248400" y="3829050"/>
            <a:chExt cx="5334000" cy="1943100"/>
          </a:xfrm>
        </p:grpSpPr>
        <p:sp>
          <p:nvSpPr>
            <p:cNvPr id="24" name="Rectangle 24"/>
            <p:cNvSpPr/>
            <p:nvPr/>
          </p:nvSpPr>
          <p:spPr>
            <a:xfrm>
              <a:off x="6248400" y="382905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9004" y="4118610"/>
              <a:ext cx="1684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A NEW CAPABILITY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6050" y="4537710"/>
              <a:ext cx="460939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1st lower bound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7480" y="5248275"/>
              <a:ext cx="4171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The first high-probability lower bound for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7480" y="5476875"/>
              <a:ext cx="4287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finite-rank KRR — prior work offered none.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647" y="6505099"/>
            <a:ext cx="2005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Finite-Rank KRR · NeurIPS 2023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13392" y="6505099"/>
            <a:ext cx="4739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32" name="cue_s09_c1_bounds_hold_probability_least_one" title="cue_s09_c1_bounds_hold_probability_least_one" descr="cue_s09_c1_bounds_hold_probability_least_one The bounds hold with probability at least one minus two over N."/>
          <p:cNvSpPr/>
          <p:nvPr/>
        </p:nvSpPr>
        <p:spPr>
          <a:xfrm>
            <a:off x="609600" y="1695297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ue_s09_c2_upper_bound_decays_log_n_over_n_rate" title="cue_s09_c2_upper_bound_decays_log_n_over_n_rate" descr="cue_s09_c2_upper_bound_decays_log_n_over_n_rate The upper bound decays at a log-N-over-N rate, faster than the square-root Rademacher rate."/>
          <p:cNvSpPr/>
          <p:nvPr/>
        </p:nvSpPr>
        <p:spPr>
          <a:xfrm>
            <a:off x="6248399" y="1695297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ue_s09_c3_variance_scales_noise_times_twice" title="cue_s09_c3_variance_scales_noise_times_twice" descr="cue_s09_c3_variance_scales_noise_times_twice Variance scales as noise times twice the rank over N."/>
          <p:cNvSpPr/>
          <p:nvPr/>
        </p:nvSpPr>
        <p:spPr>
          <a:xfrm>
            <a:off x="609600" y="3828821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9_c4_these_first_finite_rank_bounds_high" title="cue_s09_c4_these_first_finite_rank_bounds_high" descr="cue_s09_c4_these_first_finite_rank_bounds_high And these are the first finite-rank bounds with a high-probability lower bound."/>
          <p:cNvSpPr/>
          <p:nvPr/>
        </p:nvSpPr>
        <p:spPr>
          <a:xfrm>
            <a:off x="6248399" y="3828821"/>
            <a:ext cx="5334000" cy="19428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p/>
        </p:txBody>
      </p:sp>
      <p:sp>
        <p:nvSpPr>
          <p:cNvPr id="4" name="TextBox 4"/>
          <p:cNvSpPr txBox="1"/>
          <p:nvPr/>
        </p:nvSpPr>
        <p:spPr>
          <a:xfrm>
            <a:off x="755142" y="768668"/>
            <a:ext cx="17788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spc="225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09 · TAKEAWAY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6760" y="1409700"/>
            <a:ext cx="9762496" cy="2266950"/>
            <a:chOff x="746760" y="1409700"/>
            <a:chExt cx="9762496" cy="226695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1409700"/>
              <a:ext cx="93969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Finite-rank KRR — the model behind last-layer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6760" y="1905000"/>
              <a:ext cx="955047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fine-tuning — now has </a:t>
              </a:r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genuinely sharp</a:t>
              </a:r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bounds: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6760" y="2400300"/>
              <a:ext cx="97624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matching upper and lower, tight for </a:t>
              </a:r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any ridge</a:t>
              </a:r>
              <a:r>
                <a:rPr lang="en-US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3143250"/>
              <a:ext cx="3429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2042" y="3324225"/>
              <a:ext cx="22289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Matching U.B. + L.B.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43400" y="3143250"/>
              <a:ext cx="28575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92308" y="3324225"/>
              <a:ext cx="15596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Tight for any λ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353300" y="3143250"/>
              <a:ext cx="3048000" cy="533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17878" y="3324225"/>
              <a:ext cx="19188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Including ridgeless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152900"/>
            <a:ext cx="10668000" cy="1676400"/>
            <a:chOff x="762000" y="4152900"/>
            <a:chExt cx="10668000" cy="1676400"/>
          </a:xfrm>
        </p:grpSpPr>
        <p:sp>
          <p:nvSpPr>
            <p:cNvPr id="15" name="Rectangle 15"/>
            <p:cNvSpPr/>
            <p:nvPr/>
          </p:nvSpPr>
          <p:spPr>
            <a:xfrm>
              <a:off x="762000" y="4152900"/>
              <a:ext cx="10668000" cy="1676400"/>
            </a:xfrm>
            <a:prstGeom prst="roundRect">
              <a:avLst>
                <a:gd name="adj" fmla="val 90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4442460"/>
              <a:ext cx="1235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8FA0FF"/>
                  </a:solidFill>
                  <a:latin typeface="+mn-lt"/>
                  <a:ea typeface="+mn-ea"/>
                  <a:cs typeface="+mn-cs"/>
                </a:rPr>
                <a:t>THE KEY IDEA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6894" y="4780598"/>
              <a:ext cx="99930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Work in the eigenfunction basis, separating spectrum from sampling noise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8799" y="5221129"/>
              <a:ext cx="96800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A far more honest certificate of test error than loose, one-sided, asymptotic guarantees 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8799" y="5487829"/>
              <a:ext cx="571635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C9D2F5"/>
                  </a:solidFill>
                  <a:latin typeface="+mn-lt"/>
                  <a:ea typeface="+mn-ea"/>
                  <a:cs typeface="+mn-cs"/>
                </a:rPr>
                <a:t>and a template other finite-rank analyses can borrow.</a:t>
              </a:r>
            </a:p>
          </p:txBody>
        </p:sp>
      </p:grp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0" y="819150"/>
            <a:ext cx="876300" cy="876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749553" y="1753552"/>
            <a:ext cx="4845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spc="75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PAPER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5904" y="6233160"/>
            <a:ext cx="47791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Cheng, Lucchi, Dokmanić, Kratsios, Belius · NeurIPS 2023</a:t>
            </a:r>
          </a:p>
        </p:txBody>
      </p:sp>
      <p:sp>
        <p:nvSpPr>
          <p:cNvPr id="24" name="cue_s10_c1_takeaway_finite_rank_kernel_ridge_re" title="cue_s10_c1_takeaway_finite_rank_kernel_ridge_re" descr="cue_s10_c1_takeaway_finite_rank_kernel_ridge_re The takeaway: finite-rank kernel ridge regression, behind last-layer fine-tuning, has sharp bounds, matching upper and lower, tight for any regularization including none."/>
          <p:cNvSpPr/>
          <p:nvPr/>
        </p:nvSpPr>
        <p:spPr>
          <a:xfrm>
            <a:off x="746150" y="1410004"/>
            <a:ext cx="9762134" cy="226725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ue_s10_c2_key_idea_working_eigenfunction_basis" title="cue_s10_c2_key_idea_working_eigenfunction_basis" descr="cue_s10_c2_key_idea_working_eigenfunction_basis The key idea, working in the eigenfunction basis to separate spectrum from sampling noise, is a template others can borrow."/>
          <p:cNvSpPr/>
          <p:nvPr/>
        </p:nvSpPr>
        <p:spPr>
          <a:xfrm>
            <a:off x="762000" y="4153204"/>
            <a:ext cx="106680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_project">
  <a:themeElements>
    <a:clrScheme name="ppt_project">
      <a:dk1>
        <a:srgbClr val="141A33"/>
      </a:dk1>
      <a:lt1>
        <a:srgbClr val="FFFFFF"/>
      </a:lt1>
      <a:dk2>
        <a:srgbClr val="5A6079"/>
      </a:dk2>
      <a:lt2>
        <a:srgbClr val="F4F6FB"/>
      </a:lt2>
      <a:accent1>
        <a:srgbClr val="2540D9"/>
      </a:accent1>
      <a:accent2>
        <a:srgbClr val="16205C"/>
      </a:accent2>
      <a:accent3>
        <a:srgbClr val="E0552D"/>
      </a:accent3>
      <a:accent4>
        <a:srgbClr val="DCE1EE"/>
      </a:accent4>
      <a:accent5>
        <a:srgbClr val="1F9D6B"/>
      </a:accent5>
      <a:accent6>
        <a:srgbClr val="8A90A6"/>
      </a:accent6>
      <a:hlink>
        <a:srgbClr val="16205C"/>
      </a:hlink>
      <a:folHlink>
        <a:srgbClr val="E0552D"/>
      </a:folHlink>
    </a:clrScheme>
    <a:fontScheme name="ppt_project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_project">
  <a:themeElements>
    <a:clrScheme name="ppt_project">
      <a:dk1>
        <a:srgbClr val="141A33"/>
      </a:dk1>
      <a:lt1>
        <a:srgbClr val="FFFFFF"/>
      </a:lt1>
      <a:dk2>
        <a:srgbClr val="5A6079"/>
      </a:dk2>
      <a:lt2>
        <a:srgbClr val="F4F6FB"/>
      </a:lt2>
      <a:accent1>
        <a:srgbClr val="2540D9"/>
      </a:accent1>
      <a:accent2>
        <a:srgbClr val="16205C"/>
      </a:accent2>
      <a:accent3>
        <a:srgbClr val="E0552D"/>
      </a:accent3>
      <a:accent4>
        <a:srgbClr val="DCE1EE"/>
      </a:accent4>
      <a:accent5>
        <a:srgbClr val="1F9D6B"/>
      </a:accent5>
      <a:accent6>
        <a:srgbClr val="8A90A6"/>
      </a:accent6>
      <a:hlink>
        <a:srgbClr val="16205C"/>
      </a:hlink>
      <a:folHlink>
        <a:srgbClr val="E0552D"/>
      </a:folHlink>
    </a:clrScheme>
    <a:fontScheme name="ppt_project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_projec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2026-07-15T15:41:57Z</dcterms:created>
  <dcterms:modified xsi:type="dcterms:W3CDTF">2026-07-15T15:41:57Z</dcterms:modified>
  <cp:category/>
  <cp:contentStatus/>
</cp:coreProperties>
</file>
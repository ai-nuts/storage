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2478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855329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421233"/>
            <a:ext cx="14130516" cy="62078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421233"/>
            <a:ext cx="14130516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09123" y="5421233"/>
            <a:ext cx="20788153" cy="24650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209123" y="5421233"/>
            <a:ext cx="2078815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423996" y="5421233"/>
            <a:ext cx="14130516" cy="195200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423996" y="5421233"/>
            <a:ext cx="14130516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1960939"/>
            <a:ext cx="14130516" cy="1062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1887" y="11960939"/>
            <a:ext cx="14130516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887" y="22917586"/>
            <a:ext cx="14130516" cy="7154366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887" y="22917586"/>
            <a:ext cx="14130516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887" y="22917586"/>
            <a:ext cx="53340" cy="7154366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423996" y="25273158"/>
            <a:ext cx="14130516" cy="47987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996" y="25273158"/>
            <a:ext cx="14130516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national-institute-of-informa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0500" y="1646761"/>
            <a:ext cx="3342917" cy="2213554"/>
          </a:xfrm>
          <a:prstGeom prst="rect">
            <a:avLst/>
          </a:prstGeom>
        </p:spPr>
      </p:pic>
      <p:pic>
        <p:nvPicPr>
          <p:cNvPr id="18" name="Picture 17" descr="the-graduate-university-for-advanced-stud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0392" y="1646737"/>
            <a:ext cx="7738606" cy="2213602"/>
          </a:xfrm>
          <a:prstGeom prst="rect">
            <a:avLst/>
          </a:prstGeom>
        </p:spPr>
      </p:pic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256" y="1805383"/>
            <a:ext cx="6526649" cy="189644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6660970" y="7278131"/>
            <a:ext cx="13656568" cy="2632274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861" y="10099456"/>
            <a:ext cx="13656568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861" y="10099456"/>
            <a:ext cx="124460" cy="1481019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446097" y="13779083"/>
            <a:ext cx="20314205" cy="2669917"/>
          </a:xfrm>
          <a:prstGeom prst="roundRect">
            <a:avLst>
              <a:gd name="adj" fmla="val 8438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660970" y="22304037"/>
            <a:ext cx="13656568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660970" y="22304037"/>
            <a:ext cx="13656568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2201" y="24440554"/>
            <a:ext cx="13603228" cy="3702824"/>
          </a:xfrm>
          <a:prstGeom prst="roundRect">
            <a:avLst>
              <a:gd name="adj" fmla="val 5634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660970" y="26665832"/>
            <a:ext cx="13656568" cy="3223737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660970" y="10635357"/>
            <a:ext cx="13656568" cy="9650372"/>
          </a:xfrm>
          <a:prstGeom prst="roundRect">
            <a:avLst>
              <a:gd name="adj" fmla="val 36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1007" y="10635357"/>
            <a:ext cx="13656494" cy="9650372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5446097" y="16872803"/>
            <a:ext cx="20314205" cy="11426706"/>
          </a:xfrm>
          <a:prstGeom prst="roundRect">
            <a:avLst>
              <a:gd name="adj" fmla="val 31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46128" y="16872803"/>
            <a:ext cx="20314143" cy="1142670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440874" y="17760414"/>
            <a:ext cx="12552402" cy="3050937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874" y="17760417"/>
            <a:ext cx="12552402" cy="3050931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5344278" y="26888082"/>
            <a:ext cx="4727396" cy="28267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344278" y="26888082"/>
            <a:ext cx="11557" cy="2826743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</a:pPr>
            <a:r>
              <a:rPr sz="6980" b="1" spc="-78">
                <a:solidFill>
                  <a:srgbClr val="111111"/>
                </a:solidFill>
                <a:latin typeface="Arial"/>
              </a:rPr>
              <a:t>A Neural Tangent Kernel Perspective of Infinite Tree</a:t>
            </a:r>
          </a:p>
          <a:p>
            <a:pPr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</a:pPr>
            <a:r>
              <a:rPr sz="6980" b="1" spc="-78">
                <a:solidFill>
                  <a:srgbClr val="111111"/>
                </a:solidFill>
                <a:latin typeface="Arial"/>
              </a:rPr>
              <a:t>Ensembles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Ryuichi Kanoh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733" b="0">
                <a:solidFill>
                  <a:srgbClr val="1C1C1C"/>
                </a:solidFill>
                <a:latin typeface="Arial"/>
              </a:rPr>
              <a:t>, Mahito Sugiyama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1,2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National Institute of Informatics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The Graduate University for Advanced Studies, SOKENDAI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861" y="5747107"/>
            <a:ext cx="1406626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446097" y="5747107"/>
            <a:ext cx="20740925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60970" y="5747107"/>
            <a:ext cx="1406626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861" y="6813907"/>
            <a:ext cx="1406626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Soft tree ensembles are trained by gradient descent and excel on tabular data, yet almost no theory explains their training dynamics, generalization, or the empirical tricks practitioners rely 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660970" y="7278131"/>
            <a:ext cx="14066265" cy="30271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TNTK beats the MLP-induced NTK on </a:t>
            </a:r>
            <a:r>
              <a:rPr sz="4024" b="1">
                <a:solidFill>
                  <a:srgbClr val="111111"/>
                </a:solidFill>
                <a:latin typeface="Arial"/>
              </a:rPr>
              <a:t>&gt;30%</a:t>
            </a:r>
            <a:r>
              <a:rPr sz="4024" b="1">
                <a:solidFill>
                  <a:srgbClr val="38465C"/>
                </a:solidFill>
                <a:latin typeface="Arial"/>
              </a:rPr>
              <a:t> of the 90 datasets — at a kernel cost independent of tree depth.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861" y="10099456"/>
            <a:ext cx="14066265" cy="1703171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Strong in practice, opaque in theory — gradient-trained trees had no kernel-theoretic foundation.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861" y="12286813"/>
            <a:ext cx="1406626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757788" y="16008667"/>
            <a:ext cx="1811754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Closed-form TNTK for depth-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d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perfect binary trees.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= split expectation,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Σ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= input inner product. Constant during training ⇒ learning = kernel regression.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660970" y="22304037"/>
            <a:ext cx="14066265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The finite-ensemble kernel converges to the closed-form TNTK, training dynamics match kernel regression, and harder splits win more often.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2201" y="23243460"/>
            <a:ext cx="1401132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2201" y="24440554"/>
            <a:ext cx="14011324" cy="4258247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Tree NTK gives the first kernel theory of infinite soft-tree ensembles — explaining global convergence, why oblivious trees lose nothing, why deep trees degenerate, and why harder splits help.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660970" y="25599032"/>
            <a:ext cx="14066265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2201" y="28273672"/>
            <a:ext cx="1401132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It also delivers a depth-free kernel, competitive with and often superior to the MLP-induced NTK.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446078" y="6836271"/>
            <a:ext cx="20740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Take the number of trees to infinity (</a:t>
            </a:r>
            <a:r>
              <a:rPr sz="4106" b="0" i="1">
                <a:solidFill>
                  <a:srgbClr val="1C1C1C"/>
                </a:solidFill>
                <a:latin typeface="Arial"/>
              </a:rPr>
              <a:t>M</a:t>
            </a:r>
            <a:r>
              <a:rPr sz="4106" b="0">
                <a:solidFill>
                  <a:srgbClr val="1C1C1C"/>
                </a:solidFill>
                <a:latin typeface="Arial"/>
              </a:rPr>
              <a:t> → ∞): the Tree NTK converges in probability to a deterministic kernel with separate inner-node and leaf contributions.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446078" y="8531205"/>
            <a:ext cx="20740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Soft splits use a scaled error function (smooth sigmoid) of hardness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α</a:t>
            </a:r>
            <a:r>
              <a:rPr sz="4106" b="0">
                <a:solidFill>
                  <a:srgbClr val="1C1C1C"/>
                </a:solidFill>
                <a:latin typeface="Arial"/>
              </a:rPr>
              <a:t>; all split expectations are closed-form, so the kernel is analytic and non-recursive in depth.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46078" y="10226139"/>
            <a:ext cx="20740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TNTK is positive-definite and stays fixed during training, so learning is exactly kernel regression and gradient descent is guaranteed to converge globally.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446078" y="11921073"/>
            <a:ext cx="20740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Oblivious trees (NODE-style depth-wise parameter sharing) induce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same</a:t>
            </a:r>
            <a:r>
              <a:rPr sz="4106" b="0">
                <a:solidFill>
                  <a:srgbClr val="1C1C1C"/>
                </a:solidFill>
                <a:latin typeface="Arial"/>
              </a:rPr>
              <a:t> TNTK as ordinary trees — the architectural constraint is free in the infinite limit.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8842" y="13353613"/>
            <a:ext cx="1406628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Neural Tangent Kernel (NTK) explains training and generalization of infinitely-wide networks — and every architecture induces its own distinct kernel.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842" y="15804753"/>
            <a:ext cx="1406628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But an NTK had never been derived for tree models, leaving infinite soft-tree ensembles theoretically opaque.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207289" y="20435331"/>
            <a:ext cx="12940848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Left: averaged test accuracy over 90 datasets vs. depth. Right: kernel computation time — the TNTK stays flat as depth grows while the MLP-NTK rises.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43020" y="20960953"/>
            <a:ext cx="11894553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Normal tree (left) vs. oblivious tree (right): oblivious trees share the splitting rule within each depth, while leaf values stay free.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258698" y="28449111"/>
            <a:ext cx="19115723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An ensemble of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M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soft trees: each internal node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w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applies a soft split, leaf outputs π are averaged and scaled by 1/√</a:t>
            </a:r>
            <a:r>
              <a:rPr sz="3367" b="0" i="1">
                <a:solidFill>
                  <a:srgbClr val="555555"/>
                </a:solidFill>
                <a:latin typeface="Arial"/>
              </a:rPr>
              <a:t>M</a:t>
            </a:r>
            <a:r>
              <a:rPr sz="3367" b="0" i="1">
                <a:solidFill>
                  <a:srgbClr val="555555"/>
                </a:solidFill>
                <a:latin typeface="Arial"/>
              </a:rPr>
              <a:t>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906835" y="26888082"/>
            <a:ext cx="8099672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&gt;30%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906835" y="28262976"/>
            <a:ext cx="8099672" cy="1199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datasets where TNTK beats the MLP-NTK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906835" y="29305885"/>
            <a:ext cx="8099672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of 90 real-world datasets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822532" y="26888082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34.9%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23717" y="27021432"/>
            <a:ext cx="262439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peak win (α=32)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822532" y="27917239"/>
            <a:ext cx="1533317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11.8%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493713" y="28050589"/>
            <a:ext cx="219875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RBF baseline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22532" y="28946395"/>
            <a:ext cx="110066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O(1)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73661" y="29079745"/>
            <a:ext cx="215811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cost vs depth</a:t>
            </a:r>
          </a:p>
        </p:txBody>
      </p:sp>
      <p:pic>
        <p:nvPicPr>
          <p:cNvPr id="70" name="Picture 69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49203" y="14418746"/>
            <a:ext cx="19507993" cy="9822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
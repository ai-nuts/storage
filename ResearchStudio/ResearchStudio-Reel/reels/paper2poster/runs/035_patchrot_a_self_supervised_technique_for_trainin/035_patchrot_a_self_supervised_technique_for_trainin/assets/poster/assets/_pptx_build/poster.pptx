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4203442"/>
          </a:xfrm>
          <a:prstGeom prst="roundRect">
            <a:avLst>
              <a:gd name="adj" fmla="val 3383"/>
            </a:avLst>
          </a:prstGeom>
          <a:solidFill>
            <a:srgbClr val="E9ECF3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5376783"/>
            <a:ext cx="16349682" cy="7641232"/>
          </a:xfrm>
          <a:prstGeom prst="roundRect">
            <a:avLst>
              <a:gd name="adj" fmla="val 1085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5376783"/>
            <a:ext cx="16349682" cy="24695169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5376783"/>
            <a:ext cx="16349821" cy="11875651"/>
          </a:xfrm>
          <a:prstGeom prst="roundRect">
            <a:avLst>
              <a:gd name="adj" fmla="val 698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3349862"/>
            <a:ext cx="16349682" cy="16722090"/>
          </a:xfrm>
          <a:prstGeom prst="roundRect">
            <a:avLst>
              <a:gd name="adj" fmla="val 507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34204691" y="17489408"/>
            <a:ext cx="16349821" cy="5480268"/>
          </a:xfrm>
          <a:prstGeom prst="roundRect">
            <a:avLst>
              <a:gd name="adj" fmla="val 1514"/>
            </a:avLst>
          </a:prstGeom>
          <a:solidFill>
            <a:srgbClr val="FFFFFF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3206650"/>
            <a:ext cx="16349821" cy="6865302"/>
          </a:xfrm>
          <a:prstGeom prst="roundRect">
            <a:avLst>
              <a:gd name="adj" fmla="val 1208"/>
            </a:avLst>
          </a:prstGeom>
          <a:solidFill>
            <a:srgbClr val="EEF0F4"/>
          </a:solidFill>
          <a:ln w="8890">
            <a:solidFill>
              <a:srgbClr val="E2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204691" y="23206650"/>
            <a:ext cx="53340" cy="6865302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0" name="Picture 9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4087" y="1805367"/>
            <a:ext cx="4344988" cy="1896481"/>
          </a:xfrm>
          <a:prstGeom prst="rect">
            <a:avLst/>
          </a:prstGeom>
        </p:spPr>
      </p:pic>
      <p:pic>
        <p:nvPicPr>
          <p:cNvPr id="11" name="Picture 10" descr="arizona-state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61334" y="1931219"/>
            <a:ext cx="9040158" cy="1644638"/>
          </a:xfrm>
          <a:prstGeom prst="rect">
            <a:avLst/>
          </a:prstGeom>
        </p:spPr>
      </p:pic>
      <p:pic>
        <p:nvPicPr>
          <p:cNvPr id="12" name="Picture 11" descr="georgia-state-univers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8466" y="1931229"/>
            <a:ext cx="2019558" cy="1644619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39991" y="5764887"/>
            <a:ext cx="3442791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816393" y="5764887"/>
            <a:ext cx="3125391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4592795" y="5764887"/>
            <a:ext cx="466863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039991" y="10303926"/>
            <a:ext cx="15573474" cy="2325985"/>
          </a:xfrm>
          <a:prstGeom prst="roundRect">
            <a:avLst>
              <a:gd name="adj" fmla="val 8969"/>
            </a:avLst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039991" y="13737967"/>
            <a:ext cx="4153019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92795" y="14408050"/>
            <a:ext cx="15573613" cy="245058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4592795" y="14408050"/>
            <a:ext cx="15573613" cy="11557"/>
          </a:xfrm>
          <a:prstGeom prst="rect">
            <a:avLst/>
          </a:prstGeom>
          <a:solidFill>
            <a:srgbClr val="B8BD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7816393" y="15365114"/>
            <a:ext cx="15573474" cy="2550041"/>
          </a:xfrm>
          <a:prstGeom prst="roundRect">
            <a:avLst>
              <a:gd name="adj" fmla="val 8835"/>
            </a:avLst>
          </a:prstGeom>
          <a:solidFill>
            <a:srgbClr val="F3F4F5"/>
          </a:solidFill>
          <a:ln w="8890">
            <a:solidFill>
              <a:srgbClr val="BDC2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4592795" y="17877512"/>
            <a:ext cx="6841828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4592795" y="19122112"/>
            <a:ext cx="15573613" cy="3558778"/>
          </a:xfrm>
          <a:prstGeom prst="roundRect">
            <a:avLst>
              <a:gd name="adj" fmla="val 1998"/>
            </a:avLst>
          </a:prstGeom>
          <a:gradFill rotWithShape="1" flip="none">
            <a:gsLst>
              <a:gs pos="0">
                <a:srgbClr val="E7E8EC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CCFD7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20641052"/>
            <a:ext cx="15573474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39991" y="20641052"/>
            <a:ext cx="124460" cy="1481018"/>
          </a:xfrm>
          <a:prstGeom prst="rect">
            <a:avLst/>
          </a:prstGeom>
          <a:solidFill>
            <a:srgbClr val="33415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4637245" y="23594754"/>
            <a:ext cx="3905350" cy="924560"/>
          </a:xfrm>
          <a:prstGeom prst="roundRect">
            <a:avLst>
              <a:gd name="adj" fmla="val 10256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4637245" y="24665443"/>
            <a:ext cx="15529163" cy="3402648"/>
          </a:xfrm>
          <a:prstGeom prst="roundRect">
            <a:avLst>
              <a:gd name="adj" fmla="val 6131"/>
            </a:avLst>
          </a:prstGeom>
          <a:solidFill>
            <a:srgbClr val="334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4592795" y="12353349"/>
            <a:ext cx="5017294" cy="1994833"/>
          </a:xfrm>
          <a:prstGeom prst="roundRect">
            <a:avLst>
              <a:gd name="adj" fmla="val 13072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9870816" y="12353349"/>
            <a:ext cx="5017433" cy="1994833"/>
          </a:xfrm>
          <a:prstGeom prst="roundRect">
            <a:avLst>
              <a:gd name="adj" fmla="val 13072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148976" y="12353349"/>
            <a:ext cx="5017432" cy="1994833"/>
          </a:xfrm>
          <a:prstGeom prst="roundRect">
            <a:avLst>
              <a:gd name="adj" fmla="val 13072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17816393" y="18460501"/>
            <a:ext cx="15573474" cy="9282133"/>
          </a:xfrm>
          <a:prstGeom prst="roundRect">
            <a:avLst>
              <a:gd name="adj" fmla="val 383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figure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16422" y="18460501"/>
            <a:ext cx="15573416" cy="9282133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44787264" y="19166562"/>
            <a:ext cx="5133280" cy="348182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4787264" y="19166562"/>
            <a:ext cx="11557" cy="3481824"/>
          </a:xfrm>
          <a:prstGeom prst="rect">
            <a:avLst/>
          </a:prstGeom>
          <a:solidFill>
            <a:srgbClr val="CCCFD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1136253" y="22382797"/>
            <a:ext cx="15380811" cy="6021586"/>
          </a:xfrm>
          <a:prstGeom prst="roundRect">
            <a:avLst>
              <a:gd name="adj" fmla="val 59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gure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36342" y="22382797"/>
            <a:ext cx="15380633" cy="6021586"/>
          </a:xfrm>
          <a:prstGeom prst="rect">
            <a:avLst/>
          </a:prstGeom>
        </p:spPr>
      </p:pic>
      <p:sp>
        <p:nvSpPr>
          <p:cNvPr id="36" name="Rectangle 35"/>
          <p:cNvSpPr/>
          <p:nvPr/>
        </p:nvSpPr>
        <p:spPr>
          <a:xfrm>
            <a:off x="34592795" y="7263268"/>
            <a:ext cx="7845286" cy="814408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4592795" y="8068786"/>
            <a:ext cx="78452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2438081" y="7263268"/>
            <a:ext cx="3649762" cy="814408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38081" y="8068786"/>
            <a:ext cx="36497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087843" y="7263268"/>
            <a:ext cx="4078565" cy="814408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6087843" y="8068786"/>
            <a:ext cx="4078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4592795" y="8077676"/>
            <a:ext cx="7845286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4592795" y="8887638"/>
            <a:ext cx="78452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2438081" y="8077676"/>
            <a:ext cx="364976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2438081" y="8887638"/>
            <a:ext cx="36497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6087843" y="8077676"/>
            <a:ext cx="407856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6087843" y="8887638"/>
            <a:ext cx="4078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4592795" y="8896528"/>
            <a:ext cx="7845286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9706490"/>
            <a:ext cx="78452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42438081" y="8896528"/>
            <a:ext cx="3649762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2438081" y="9706490"/>
            <a:ext cx="36497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6087843" y="8896528"/>
            <a:ext cx="4078565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6087843" y="9706490"/>
            <a:ext cx="4078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4592795" y="9715380"/>
            <a:ext cx="7845286" cy="818853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592795" y="10525343"/>
            <a:ext cx="7845286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438081" y="9715380"/>
            <a:ext cx="3649762" cy="818853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2438081" y="10525343"/>
            <a:ext cx="3649762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46087843" y="9715380"/>
            <a:ext cx="4078565" cy="818853"/>
          </a:xfrm>
          <a:prstGeom prst="rect">
            <a:avLst/>
          </a:prstGeom>
          <a:solidFill>
            <a:srgbClr val="E9EC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087843" y="10525343"/>
            <a:ext cx="407856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3446402" y="983734"/>
            <a:ext cx="24740176" cy="251881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7705"/>
              </a:lnSpc>
              <a:spcBef>
                <a:spcPts val="0"/>
              </a:spcBef>
              <a:spcAft>
                <a:spcPts val="0"/>
              </a:spcAft>
            </a:pPr>
            <a:r>
              <a:rPr sz="7005" b="1" spc="-78">
                <a:solidFill>
                  <a:srgbClr val="33415E"/>
                </a:solidFill>
                <a:latin typeface="Arial"/>
              </a:rPr>
              <a:t>PatchRot: A Self-Supervised Technique for Training</a:t>
            </a:r>
          </a:p>
          <a:p>
            <a:pPr algn="ctr">
              <a:lnSpc>
                <a:spcPts val="7705"/>
              </a:lnSpc>
              <a:spcBef>
                <a:spcPts val="0"/>
              </a:spcBef>
              <a:spcAft>
                <a:spcPts val="0"/>
              </a:spcAft>
            </a:pPr>
            <a:r>
              <a:rPr sz="7005" b="1" spc="-78">
                <a:solidFill>
                  <a:srgbClr val="33415E"/>
                </a:solidFill>
                <a:latin typeface="Arial"/>
              </a:rPr>
              <a:t>Vision Transformers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3446402" y="3373060"/>
            <a:ext cx="24740176" cy="708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853"/>
              </a:lnSpc>
              <a:spcBef>
                <a:spcPts val="0"/>
              </a:spcBef>
              <a:spcAft>
                <a:spcPts val="0"/>
              </a:spcAft>
            </a:pPr>
            <a:r>
              <a:rPr sz="3733" b="0">
                <a:solidFill>
                  <a:srgbClr val="1B2331"/>
                </a:solidFill>
                <a:latin typeface="Arial"/>
              </a:rPr>
              <a:t>Sachin Chhabra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Prabal Bijoy Dutta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3733" b="0">
                <a:solidFill>
                  <a:srgbClr val="1B2331"/>
                </a:solidFill>
                <a:latin typeface="Arial"/>
              </a:rPr>
              <a:t>, Hemanth Venkateswara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3733" b="0">
                <a:solidFill>
                  <a:srgbClr val="1B2331"/>
                </a:solidFill>
                <a:latin typeface="Arial"/>
              </a:rPr>
              <a:t>, Baoxin Li</a:t>
            </a:r>
            <a:r>
              <a:rPr sz="5226" b="0" baseline="30000">
                <a:solidFill>
                  <a:srgbClr val="1B2331"/>
                </a:solidFill>
                <a:latin typeface="Arial"/>
              </a:rPr>
              <a:t>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446402" y="4042310"/>
            <a:ext cx="24740176" cy="55334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Arizona State University    </a:t>
            </a:r>
            <a:r>
              <a:rPr sz="3658" b="0" spc="52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613" b="0" spc="52">
                <a:solidFill>
                  <a:srgbClr val="55617A"/>
                </a:solidFill>
                <a:latin typeface="Arial"/>
              </a:rPr>
              <a:t> Georgia State University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9991" y="5764887"/>
            <a:ext cx="3546074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Problem 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7816393" y="5764887"/>
            <a:ext cx="3219152" cy="1063244"/>
          </a:xfrm>
          <a:prstGeom prst="rect">
            <a:avLst/>
          </a:prstGeom>
          <a:noFill/>
        </p:spPr>
        <p:txBody>
          <a:bodyPr wrap="non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Method 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592795" y="5764887"/>
            <a:ext cx="4808698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Key Results 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39991" y="7013932"/>
            <a:ext cx="16000194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Vision transformers (ViTs) lack the built-in inductive biases of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ConvNets — locality and translation equivariance — so they only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outperform CNNs when </a:t>
            </a:r>
            <a:r>
              <a:rPr sz="4106" b="1">
                <a:solidFill>
                  <a:srgbClr val="111111"/>
                </a:solidFill>
                <a:latin typeface="Arial"/>
              </a:rPr>
              <a:t>huge labeled datasets</a:t>
            </a:r>
            <a:r>
              <a:rPr sz="4106" b="0">
                <a:solidFill>
                  <a:srgbClr val="1C1C1C"/>
                </a:solidFill>
                <a:latin typeface="Arial"/>
              </a:rPr>
              <a:t> are available.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Labeling data at that scale is expensive and time-consuming.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39991" y="10303926"/>
            <a:ext cx="16000194" cy="2674882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Existing self-supervised pretext tasks (jigsaw, colorization,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image rotation) were designed for ConvNets and ignore the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33415E"/>
                </a:solidFill>
                <a:latin typeface="Arial"/>
              </a:rPr>
              <a:t>patch-token structure that makes ViTs distinctive.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39991" y="13737967"/>
            <a:ext cx="4277609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Motivation 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4592795" y="14408050"/>
            <a:ext cx="16000333" cy="2818171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4382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Even </a:t>
            </a:r>
            <a:r>
              <a:rPr sz="3778" b="1" i="1">
                <a:solidFill>
                  <a:srgbClr val="111111"/>
                </a:solidFill>
                <a:latin typeface="Arial"/>
              </a:rPr>
              <a:t>linear probing</a:t>
            </a:r>
            <a:r>
              <a:rPr sz="3778" b="0" i="1">
                <a:solidFill>
                  <a:srgbClr val="1C1C1C"/>
                </a:solidFill>
                <a:latin typeface="Arial"/>
              </a:rPr>
              <a:t> (frozen network, head only) nears supervised accuracy, and fine-tuning one encoder block already beats training from scratch — 81.1% with just 4k labels vs 53.7% supervised. The features also localize salient objects with no labels.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8769845" y="17474822"/>
            <a:ext cx="14076423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2217" b="0" i="1">
                <a:solidFill>
                  <a:srgbClr val="555555"/>
                </a:solidFill>
                <a:latin typeface="Cambria Math"/>
              </a:rPr>
              <a:t>predict the rotation index ι (4-way) for the whole image via the class token and for each of N patches via new MLP heads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592795" y="17877512"/>
            <a:ext cx="7047082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Headline Numbers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39991" y="20641052"/>
            <a:ext cx="16000194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 self-supervised task built for ViTs should learn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global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structure (whole image) and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local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detail (each patch) at once.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637245" y="23594754"/>
            <a:ext cx="4022510" cy="1063244"/>
          </a:xfrm>
          <a:prstGeom prst="rect">
            <a:avLst/>
          </a:prstGeom>
          <a:noFill/>
        </p:spPr>
        <p:txBody>
          <a:bodyPr wrap="square" lIns="298704" rIns="298704" tIns="71120" bIns="7112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FFFFFF"/>
                </a:solidFill>
                <a:latin typeface="Arial"/>
              </a:rPr>
              <a:t>Takeaway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637245" y="24665443"/>
            <a:ext cx="15955883" cy="3913045"/>
          </a:xfrm>
          <a:prstGeom prst="rect">
            <a:avLst/>
          </a:prstGeom>
          <a:noFill/>
        </p:spPr>
        <p:txBody>
          <a:bodyPr wrap="none" lIns="365082" rIns="365082" tIns="130386" bIns="130386">
            <a:spAutoFit/>
          </a:bodyPr>
          <a:lstStyle/>
          <a:p>
            <a:pPr algn="l">
              <a:lnSpc>
                <a:spcPts val="494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A simple, ViT-native pretext task — rotate images and</a:t>
            </a:r>
          </a:p>
          <a:p>
            <a:pPr algn="l">
              <a:lnSpc>
                <a:spcPts val="494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patches to learn global + local features, and beat</a:t>
            </a:r>
          </a:p>
          <a:p>
            <a:pPr algn="l">
              <a:lnSpc>
                <a:spcPts val="494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supervised-from-scratch and RotNet across datasets,</a:t>
            </a:r>
          </a:p>
          <a:p>
            <a:pPr algn="l">
              <a:lnSpc>
                <a:spcPts val="494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transfer, and low-label settings. The buffer-gap trick and</a:t>
            </a:r>
          </a:p>
          <a:p>
            <a:pPr algn="l">
              <a:lnSpc>
                <a:spcPts val="494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FFFFFF"/>
                </a:solidFill>
                <a:latin typeface="Arial"/>
              </a:rPr>
              <a:t>reduced-resolution pretraining keep it cheap and general.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637245" y="28277284"/>
            <a:ext cx="15955883" cy="1489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</a:pPr>
            <a:r>
              <a:rPr sz="3778" b="1">
                <a:solidFill>
                  <a:srgbClr val="111111"/>
                </a:solidFill>
                <a:latin typeface="Arial"/>
              </a:rPr>
              <a:t>Paper:</a:t>
            </a:r>
            <a:r>
              <a:rPr sz="3778" b="0">
                <a:solidFill>
                  <a:srgbClr val="555555"/>
                </a:solidFill>
                <a:latin typeface="Arial"/>
              </a:rPr>
              <a:t> arxiv.org/abs/2210.15722</a:t>
            </a:r>
          </a:p>
          <a:p>
            <a:pPr algn="ctr">
              <a:lnSpc>
                <a:spcPts val="5100"/>
              </a:lnSpc>
              <a:spcBef>
                <a:spcPts val="0"/>
              </a:spcBef>
              <a:spcAft>
                <a:spcPts val="0"/>
              </a:spcAft>
            </a:pPr>
            <a:r>
              <a:rPr sz="3778" b="1">
                <a:solidFill>
                  <a:srgbClr val="111111"/>
                </a:solidFill>
                <a:latin typeface="Arial"/>
              </a:rPr>
              <a:t>Code:</a:t>
            </a:r>
            <a:r>
              <a:rPr sz="3778" b="0">
                <a:solidFill>
                  <a:srgbClr val="555555"/>
                </a:solidFill>
                <a:latin typeface="Arial"/>
              </a:rPr>
              <a:t> github.com/s-chh/PatchRot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7816375" y="7153394"/>
            <a:ext cx="16000212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Rotate the whole image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or</a:t>
            </a:r>
            <a:r>
              <a:rPr sz="4106" b="0">
                <a:solidFill>
                  <a:srgbClr val="1C1C1C"/>
                </a:solidFill>
                <a:latin typeface="Arial"/>
              </a:rPr>
              <a:t> each patch by a random multiple of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90° (0/90/180/270) and train the ViT to predict every angle as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4-way classification</a:t>
            </a:r>
            <a:r>
              <a:rPr sz="4106" b="0">
                <a:solidFill>
                  <a:srgbClr val="1C1C1C"/>
                </a:solidFill>
                <a:latin typeface="Arial"/>
              </a:rPr>
              <a:t>. The class token's head predicts the image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rotation (global); new per-patch MLP heads predict each patch's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rotation (local).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4592777" y="10598546"/>
            <a:ext cx="16000351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PatchRot &gt; RotNet &gt; Supervised at </a:t>
            </a:r>
            <a:r>
              <a:rPr sz="4106" b="1">
                <a:solidFill>
                  <a:srgbClr val="111111"/>
                </a:solidFill>
                <a:latin typeface="Arial"/>
              </a:rPr>
              <a:t>every</a:t>
            </a:r>
            <a:r>
              <a:rPr sz="4106" b="0">
                <a:solidFill>
                  <a:srgbClr val="1C1C1C"/>
                </a:solidFill>
                <a:latin typeface="Arial"/>
              </a:rPr>
              <a:t> fine-tuning depth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(NF→MLP) across all four datasets.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75" y="11116945"/>
            <a:ext cx="16000212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buffer gap</a:t>
            </a:r>
            <a:r>
              <a:rPr sz="4106" b="0">
                <a:solidFill>
                  <a:srgbClr val="1C1C1C"/>
                </a:solidFill>
                <a:latin typeface="Arial"/>
              </a:rPr>
              <a:t> between patches (cut from a larger P+B grid, then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randomly cropped) stops the model cheating via edge continuity.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Pretraining runs at reduced resolution; the patch heads are then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discarded and only the class-token head is fine-tuned at full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resolution with interpolated positional embeddings.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1039972" y="14982567"/>
            <a:ext cx="16000213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ViT processes an image as a sequence of </a:t>
            </a:r>
            <a:r>
              <a:rPr sz="4106" b="1">
                <a:solidFill>
                  <a:srgbClr val="111111"/>
                </a:solidFill>
                <a:latin typeface="Arial"/>
              </a:rPr>
              <a:t>patch tokens</a:t>
            </a:r>
            <a:r>
              <a:rPr sz="4106" b="0">
                <a:solidFill>
                  <a:srgbClr val="1C1C1C"/>
                </a:solidFill>
                <a:latin typeface="Arial"/>
              </a:rPr>
              <a:t>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self-attention, so it can emit an output for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every patch</a:t>
            </a:r>
            <a:r>
              <a:rPr sz="4106" b="0">
                <a:solidFill>
                  <a:srgbClr val="1C1C1C"/>
                </a:solidFill>
                <a:latin typeface="Arial"/>
              </a:rPr>
              <a:t> — not just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one global vector like a ConvNet.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039972" y="17433706"/>
            <a:ext cx="1600021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RotNet showed that predicting a single image-level rotation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angle already teaches a ConvNet rich features; pushing rotation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prediction to the </a:t>
            </a:r>
            <a:r>
              <a:rPr sz="4106" b="1">
                <a:solidFill>
                  <a:srgbClr val="111111"/>
                </a:solidFill>
                <a:latin typeface="Arial"/>
              </a:rPr>
              <a:t>patch level</a:t>
            </a:r>
            <a:r>
              <a:rPr sz="4106" b="0">
                <a:solidFill>
                  <a:srgbClr val="1C1C1C"/>
                </a:solidFill>
                <a:latin typeface="Arial"/>
              </a:rPr>
              <a:t> is a natural fit for a token-based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model, yet unexplored.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8439387" y="27892236"/>
            <a:ext cx="14754206" cy="191786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PatchRot pipeline: image and per-patch rotations are predicted in separate,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weight-shared passes — the class token predicts image rotation, new MLP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heads predict each patch's rotation.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51468" y="28553985"/>
            <a:ext cx="1457474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Attention maps of a PatchRot-trained ViT (Tiny-ImageNet): the model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attends to the salient object with no labels.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4801294" y="12509757"/>
            <a:ext cx="4738305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3415E"/>
                </a:solidFill>
                <a:latin typeface="Arial"/>
              </a:rPr>
              <a:t>81.1%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079314" y="12509757"/>
            <a:ext cx="4738449" cy="9595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3415E"/>
                </a:solidFill>
                <a:latin typeface="Arial"/>
              </a:rPr>
              <a:t>90.2%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5357474" y="12509757"/>
            <a:ext cx="4738449" cy="9595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6570"/>
              </a:lnSpc>
              <a:spcBef>
                <a:spcPts val="0"/>
              </a:spcBef>
              <a:spcAft>
                <a:spcPts val="0"/>
              </a:spcAft>
            </a:pPr>
            <a:r>
              <a:rPr sz="6570" b="1">
                <a:solidFill>
                  <a:srgbClr val="33415E"/>
                </a:solidFill>
                <a:latin typeface="Arial"/>
              </a:rPr>
              <a:t>4 / 4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4801294" y="13411954"/>
            <a:ext cx="4738305" cy="896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semi-sup CIFAR-10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(4k labels)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0079314" y="13411954"/>
            <a:ext cx="4738449" cy="896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CIFAR-100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top-5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357474" y="13411954"/>
            <a:ext cx="4738449" cy="89679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datasets beat</a:t>
            </a:r>
          </a:p>
          <a:p>
            <a:pPr algn="ctr">
              <a:lnSpc>
                <a:spcPts val="3069"/>
              </a:lnSpc>
              <a:spcBef>
                <a:spcPts val="0"/>
              </a:spcBef>
              <a:spcAft>
                <a:spcPts val="0"/>
              </a:spcAft>
            </a:pPr>
            <a:r>
              <a:rPr sz="2669" b="0">
                <a:solidFill>
                  <a:srgbClr val="555555"/>
                </a:solidFill>
                <a:latin typeface="Arial"/>
              </a:rPr>
              <a:t>both baselines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4838659" y="19891791"/>
            <a:ext cx="10225602" cy="170924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11704"/>
              </a:lnSpc>
              <a:spcBef>
                <a:spcPts val="0"/>
              </a:spcBef>
              <a:spcAft>
                <a:spcPts val="0"/>
              </a:spcAft>
            </a:pPr>
            <a:r>
              <a:rPr sz="12320" b="1" spc="-246">
                <a:solidFill>
                  <a:srgbClr val="33415E"/>
                </a:solidFill>
                <a:latin typeface="Arial"/>
              </a:rPr>
              <a:t>+20.4 pts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4838659" y="21401702"/>
            <a:ext cx="10225602" cy="599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CIFAR-100 top-1 gain (70.6 vs 50.2%)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592795" y="7263268"/>
            <a:ext cx="8080644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Method (top-1 %)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2438081" y="7263268"/>
            <a:ext cx="3759254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CIFAR-10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6087843" y="7263268"/>
            <a:ext cx="4200921" cy="93656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CIFAR-100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8077676"/>
            <a:ext cx="808064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Supervised (scratch)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2438081" y="8077676"/>
            <a:ext cx="375925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83.9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6087843" y="8077676"/>
            <a:ext cx="420092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50.2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95" y="8896528"/>
            <a:ext cx="808064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RotNet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438081" y="8896528"/>
            <a:ext cx="3759254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88.7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6087843" y="8896528"/>
            <a:ext cx="4200921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62.5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92795" y="9715380"/>
            <a:ext cx="8080644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PatchRot (ours)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42438081" y="9715380"/>
            <a:ext cx="3759254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92.6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087843" y="9715380"/>
            <a:ext cx="4200921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3415E"/>
                </a:solidFill>
                <a:latin typeface="Arial"/>
              </a:rPr>
              <a:t>70.6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5265518" y="19166562"/>
            <a:ext cx="2062117" cy="6269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+8.7 pts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7450097" y="19299912"/>
            <a:ext cx="2544560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CIFAR-10 top-1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(full fine-tune)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5265518" y="20414079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94.1%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966703" y="20547429"/>
            <a:ext cx="2442549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FashionMNIST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top-1 accuracy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5265518" y="21661596"/>
            <a:ext cx="1564221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73.4%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6966703" y="21794946"/>
            <a:ext cx="2402203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Tiny-ImageNet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top-5 accuracy</a:t>
            </a:r>
          </a:p>
        </p:txBody>
      </p:sp>
      <p:pic>
        <p:nvPicPr>
          <p:cNvPr id="109" name="Picture 108" descr="eq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19499" y="16004778"/>
            <a:ext cx="14767262" cy="8623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
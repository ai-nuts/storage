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1887" y="651887"/>
            <a:ext cx="49902625" cy="632523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6932672"/>
            <a:ext cx="49902625" cy="44450"/>
          </a:xfrm>
          <a:prstGeom prst="rect">
            <a:avLst/>
          </a:prstGeom>
          <a:solidFill>
            <a:srgbClr val="384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1887" y="7498576"/>
            <a:ext cx="10804961" cy="99734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1887" y="7498576"/>
            <a:ext cx="1080496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3568" y="7498576"/>
            <a:ext cx="27439124" cy="126693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3568" y="7498576"/>
            <a:ext cx="27439124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749412" y="7498576"/>
            <a:ext cx="10804962" cy="61125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749412" y="7498576"/>
            <a:ext cx="1080496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49412" y="13942992"/>
            <a:ext cx="10804962" cy="5381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49412" y="13942992"/>
            <a:ext cx="1080496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1887" y="17803891"/>
            <a:ext cx="10804961" cy="122680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1887" y="17803891"/>
            <a:ext cx="1080496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749412" y="19656623"/>
            <a:ext cx="10804962" cy="6696809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49412" y="19656623"/>
            <a:ext cx="1080496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749412" y="19656623"/>
            <a:ext cx="53340" cy="6696809"/>
          </a:xfrm>
          <a:prstGeom prst="rect">
            <a:avLst/>
          </a:prstGeom>
          <a:solidFill>
            <a:srgbClr val="384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749412" y="26685279"/>
            <a:ext cx="10804962" cy="33866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749412" y="26685279"/>
            <a:ext cx="1080496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3725" y="5157752"/>
            <a:ext cx="3360559" cy="1466801"/>
          </a:xfrm>
          <a:prstGeom prst="rect">
            <a:avLst/>
          </a:prstGeom>
        </p:spPr>
      </p:pic>
      <p:pic>
        <p:nvPicPr>
          <p:cNvPr id="20" name="Picture 19" descr="stanford-unive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1258" y="5157731"/>
            <a:ext cx="6998236" cy="1466843"/>
          </a:xfrm>
          <a:prstGeom prst="rect">
            <a:avLst/>
          </a:prstGeom>
        </p:spPr>
      </p:pic>
      <p:pic>
        <p:nvPicPr>
          <p:cNvPr id="21" name="Picture 20" descr="microsoft-re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16468" y="5157738"/>
            <a:ext cx="5206206" cy="146682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39986386" y="11625480"/>
            <a:ext cx="10331014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986386" y="11625480"/>
            <a:ext cx="10331014" cy="11557"/>
          </a:xfrm>
          <a:prstGeom prst="rect">
            <a:avLst/>
          </a:prstGeom>
          <a:solidFill>
            <a:srgbClr val="BAB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8861" y="14445416"/>
            <a:ext cx="10331013" cy="283702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861" y="14445416"/>
            <a:ext cx="124460" cy="2837021"/>
          </a:xfrm>
          <a:prstGeom prst="rect">
            <a:avLst/>
          </a:prstGeom>
          <a:solidFill>
            <a:srgbClr val="384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9986386" y="15228986"/>
            <a:ext cx="10331014" cy="3917990"/>
          </a:xfrm>
          <a:prstGeom prst="roundRect">
            <a:avLst>
              <a:gd name="adj" fmla="val 1815"/>
            </a:avLst>
          </a:prstGeom>
          <a:gradFill rotWithShape="1" flip="none">
            <a:gsLst>
              <a:gs pos="0">
                <a:srgbClr val="E7E9EB"/>
              </a:gs>
              <a:gs pos="100000">
                <a:srgbClr val="F3F4F5"/>
              </a:gs>
            </a:gsLst>
            <a:lin ang="5400000" scaled="0"/>
          </a:gradFill>
          <a:ln w="8890">
            <a:solidFill>
              <a:srgbClr val="CDD1D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883568" y="20499784"/>
            <a:ext cx="13553639" cy="9572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883568" y="20499784"/>
            <a:ext cx="13553639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769054" y="20499784"/>
            <a:ext cx="13553638" cy="9572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769054" y="20499784"/>
            <a:ext cx="13553638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0039726" y="23828672"/>
            <a:ext cx="10277674" cy="2346821"/>
          </a:xfrm>
          <a:prstGeom prst="roundRect">
            <a:avLst>
              <a:gd name="adj" fmla="val 8889"/>
            </a:avLst>
          </a:prstGeom>
          <a:solidFill>
            <a:srgbClr val="38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88861" y="26144378"/>
            <a:ext cx="10331013" cy="3681988"/>
          </a:xfrm>
          <a:prstGeom prst="roundRect">
            <a:avLst>
              <a:gd name="adj" fmla="val 5665"/>
            </a:avLst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42383" y="15451236"/>
            <a:ext cx="4329152" cy="35209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42383" y="15451236"/>
            <a:ext cx="11557" cy="3520996"/>
          </a:xfrm>
          <a:prstGeom prst="rect">
            <a:avLst/>
          </a:prstGeom>
          <a:solidFill>
            <a:srgbClr val="CD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6006028" y="25642788"/>
            <a:ext cx="13079690" cy="1942187"/>
          </a:xfrm>
          <a:prstGeom prst="roundRect">
            <a:avLst>
              <a:gd name="adj" fmla="val 50000"/>
            </a:avLst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006028" y="27865982"/>
            <a:ext cx="13079690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006028" y="27865982"/>
            <a:ext cx="13079690" cy="11557"/>
          </a:xfrm>
          <a:prstGeom prst="rect">
            <a:avLst/>
          </a:prstGeom>
          <a:solidFill>
            <a:srgbClr val="BAB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986386" y="10556041"/>
            <a:ext cx="10331014" cy="945118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3200122" y="12413357"/>
            <a:ext cx="24806017" cy="6077287"/>
          </a:xfrm>
          <a:prstGeom prst="roundRect">
            <a:avLst>
              <a:gd name="adj" fmla="val 585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page2_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00283" y="12413357"/>
            <a:ext cx="24805695" cy="6077287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45315385" y="26904473"/>
            <a:ext cx="2323207" cy="2323207"/>
          </a:xfrm>
          <a:prstGeom prst="roundRect">
            <a:avLst>
              <a:gd name="adj" fmla="val 6632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pap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33918" y="27023006"/>
            <a:ext cx="2086141" cy="2086141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47994192" y="26904473"/>
            <a:ext cx="2323208" cy="2323207"/>
          </a:xfrm>
          <a:prstGeom prst="roundRect">
            <a:avLst>
              <a:gd name="adj" fmla="val 6632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2726" y="27023006"/>
            <a:ext cx="2086140" cy="2086141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12120542" y="27446624"/>
            <a:ext cx="4786571" cy="819825"/>
          </a:xfrm>
          <a:prstGeom prst="roundRect">
            <a:avLst>
              <a:gd name="adj" fmla="val 50000"/>
            </a:avLst>
          </a:prstGeom>
          <a:solidFill>
            <a:srgbClr val="EB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38465C"/>
                </a:solidFill>
                <a:latin typeface="Arial"/>
              </a:rPr>
              <a:t>N = 30 programmers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7063521" y="27446624"/>
            <a:ext cx="3124418" cy="819825"/>
          </a:xfrm>
          <a:prstGeom prst="roundRect">
            <a:avLst>
              <a:gd name="adj" fmla="val 50000"/>
            </a:avLst>
          </a:prstGeom>
          <a:solidFill>
            <a:srgbClr val="EB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38465C"/>
                </a:solidFill>
                <a:latin typeface="Arial"/>
              </a:rPr>
              <a:t>3 tasks each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0344348" y="27446624"/>
            <a:ext cx="4036615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LeetCode "easy"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120542" y="28422857"/>
            <a:ext cx="3148449" cy="81982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10 min / task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5425400" y="28422857"/>
            <a:ext cx="4231223" cy="81982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randomized order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848924" y="29369920"/>
            <a:ext cx="1255991" cy="524232"/>
          </a:xfrm>
          <a:prstGeom prst="roundRect">
            <a:avLst>
              <a:gd name="adj" fmla="val 50000"/>
            </a:avLst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333" b="1">
                <a:solidFill>
                  <a:srgbClr val="38465C"/>
                </a:solidFill>
                <a:latin typeface="Arial"/>
              </a:rPr>
              <a:t>Paper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431330" y="29369920"/>
            <a:ext cx="1448793" cy="524232"/>
          </a:xfrm>
          <a:prstGeom prst="roundRect">
            <a:avLst>
              <a:gd name="adj" fmla="val 50000"/>
            </a:avLst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333" b="1">
                <a:solidFill>
                  <a:srgbClr val="38465C"/>
                </a:solidFill>
                <a:latin typeface="Arial"/>
              </a:rPr>
              <a:t>Project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2120542" y="8891250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38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986386" y="8904446"/>
            <a:ext cx="4647248" cy="706477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9986386" y="9602033"/>
            <a:ext cx="4647248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4633634" y="8904446"/>
            <a:ext cx="2269172" cy="706477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4633634" y="9602033"/>
            <a:ext cx="2269172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6902806" y="8904446"/>
            <a:ext cx="3414594" cy="706477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6902806" y="9602033"/>
            <a:ext cx="3414594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9986386" y="9610923"/>
            <a:ext cx="464724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9986386" y="10547151"/>
            <a:ext cx="4647248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4633634" y="9610923"/>
            <a:ext cx="226917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4633634" y="10547151"/>
            <a:ext cx="2269172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6902806" y="9610923"/>
            <a:ext cx="3414594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6902806" y="10547151"/>
            <a:ext cx="3414594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2120542" y="10082649"/>
            <a:ext cx="703977" cy="703976"/>
          </a:xfrm>
          <a:prstGeom prst="roundRect">
            <a:avLst>
              <a:gd name="adj" fmla="val 50000"/>
            </a:avLst>
          </a:prstGeom>
          <a:solidFill>
            <a:srgbClr val="38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9986386" y="10556041"/>
            <a:ext cx="464724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9986386" y="11492269"/>
            <a:ext cx="4647248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4633634" y="10556041"/>
            <a:ext cx="226917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4633634" y="11492269"/>
            <a:ext cx="2269172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6902806" y="10556041"/>
            <a:ext cx="3414594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6902806" y="11492269"/>
            <a:ext cx="3414594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2120542" y="11274047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38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9986386" y="27637343"/>
            <a:ext cx="4276924" cy="1040407"/>
          </a:xfrm>
          <a:prstGeom prst="roundRect">
            <a:avLst>
              <a:gd name="adj" fmla="val 13671"/>
            </a:avLst>
          </a:prstGeom>
          <a:solidFill>
            <a:srgbClr val="EEEFF1"/>
          </a:solidFill>
          <a:ln w="17780">
            <a:solidFill>
              <a:srgbClr val="384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9986386" y="28808045"/>
            <a:ext cx="2393216" cy="1040407"/>
          </a:xfrm>
          <a:prstGeom prst="roundRect">
            <a:avLst>
              <a:gd name="adj" fmla="val 13671"/>
            </a:avLst>
          </a:prstGeom>
          <a:solidFill>
            <a:srgbClr val="EEEFF1"/>
          </a:solidFill>
          <a:ln w="17780">
            <a:solidFill>
              <a:srgbClr val="384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6006028" y="22086371"/>
            <a:ext cx="4903807" cy="814407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6006028" y="22891888"/>
            <a:ext cx="490380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0909835" y="22086371"/>
            <a:ext cx="3109972" cy="814407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0909835" y="22891888"/>
            <a:ext cx="310997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4019807" y="22086371"/>
            <a:ext cx="5065911" cy="814407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4019807" y="22891888"/>
            <a:ext cx="506591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6006028" y="22900778"/>
            <a:ext cx="4903807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6006028" y="23710741"/>
            <a:ext cx="490380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0909835" y="22900778"/>
            <a:ext cx="3109972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0909835" y="23710741"/>
            <a:ext cx="310997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4019807" y="22900778"/>
            <a:ext cx="5065911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4019807" y="23710741"/>
            <a:ext cx="506591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6006028" y="23719631"/>
            <a:ext cx="4903807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6006028" y="24529593"/>
            <a:ext cx="490380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0909835" y="23719631"/>
            <a:ext cx="3109972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0909835" y="24529593"/>
            <a:ext cx="310997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4019807" y="23719631"/>
            <a:ext cx="5065911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4019807" y="24529593"/>
            <a:ext cx="506591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6006028" y="24538483"/>
            <a:ext cx="4903807" cy="818852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6006028" y="25348445"/>
            <a:ext cx="490380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0909835" y="24538483"/>
            <a:ext cx="3109972" cy="818852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0909835" y="25348445"/>
            <a:ext cx="310997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4019807" y="24538483"/>
            <a:ext cx="5065911" cy="818852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4019807" y="25348445"/>
            <a:ext cx="506591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315581" y="1007487"/>
            <a:ext cx="49001957" cy="27590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445"/>
              </a:lnSpc>
              <a:spcBef>
                <a:spcPts val="0"/>
              </a:spcBef>
              <a:spcAft>
                <a:spcPts val="0"/>
              </a:spcAft>
            </a:pPr>
            <a:r>
              <a:rPr sz="8586" b="1" spc="-85">
                <a:solidFill>
                  <a:srgbClr val="111111"/>
                </a:solidFill>
                <a:latin typeface="Arial"/>
              </a:rPr>
              <a:t>Generation Probabilities Are Not Enough: Improving Error Highlighting for AI Code</a:t>
            </a:r>
          </a:p>
          <a:p>
            <a:pPr algn="ctr">
              <a:lnSpc>
                <a:spcPts val="9445"/>
              </a:lnSpc>
              <a:spcBef>
                <a:spcPts val="0"/>
              </a:spcBef>
              <a:spcAft>
                <a:spcPts val="0"/>
              </a:spcAft>
            </a:pPr>
            <a:r>
              <a:rPr sz="8586" b="1" spc="-85">
                <a:solidFill>
                  <a:srgbClr val="111111"/>
                </a:solidFill>
                <a:latin typeface="Arial"/>
              </a:rPr>
              <a:t>Suggestions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315581" y="3646566"/>
            <a:ext cx="49001957" cy="7797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Helena Vasconcelos¹ · Gagan Bansal² · Adam Fourney² · Q. Vera Liao² · Jennifer Wortman Vaughan²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315581" y="4381380"/>
            <a:ext cx="49001957" cy="5929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spc="56">
                <a:solidFill>
                  <a:srgbClr val="5A5A5A"/>
                </a:solidFill>
                <a:latin typeface="Arial"/>
              </a:rPr>
              <a:t>¹Stanford University · ²Microsoft Research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9986386" y="7717770"/>
            <a:ext cx="1064094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Token Survival 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88861" y="7824450"/>
            <a:ext cx="1064094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Problem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2120542" y="7824450"/>
            <a:ext cx="27391896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Method 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88861" y="8891250"/>
            <a:ext cx="10640943" cy="60874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AI code-completion models produce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erroneous suggestions</a:t>
            </a:r>
            <a:r>
              <a:rPr sz="4106" b="0">
                <a:solidFill>
                  <a:srgbClr val="1C1C1C"/>
                </a:solidFill>
                <a:latin typeface="Arial"/>
              </a:rPr>
              <a:t> that can inject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bugs. Users, prone to </a:t>
            </a:r>
            <a:r>
              <a:rPr sz="4106" b="1">
                <a:solidFill>
                  <a:srgbClr val="111111"/>
                </a:solidFill>
                <a:latin typeface="Arial"/>
              </a:rPr>
              <a:t>automation bias</a:t>
            </a:r>
            <a:r>
              <a:rPr sz="4106" b="0">
                <a:solidFill>
                  <a:srgbClr val="1C1C1C"/>
                </a:solidFill>
                <a:latin typeface="Arial"/>
              </a:rPr>
              <a:t>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must first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detect</a:t>
            </a:r>
            <a:r>
              <a:rPr sz="4106" b="0">
                <a:solidFill>
                  <a:srgbClr val="1C1C1C"/>
                </a:solidFill>
                <a:latin typeface="Arial"/>
              </a:rPr>
              <a:t> those errors, yet a single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suggestion holds hundreds of token-level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decisions, so how to surface that uncertainty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is unclear.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9986386" y="11625480"/>
            <a:ext cx="10640944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Low highlighted-token survival = well-aimed highlights.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9986386" y="14162186"/>
            <a:ext cx="10640944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Headline Numbers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8861" y="14445416"/>
            <a:ext cx="10640943" cy="3262574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Prior uncertainty work targets single-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decision support (one classification or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diagnosis), not a token-by-token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generative setting.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88861" y="18129765"/>
            <a:ext cx="1064094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Motivation 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0039726" y="19875817"/>
            <a:ext cx="1058600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Takeaway 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0039726" y="21120973"/>
            <a:ext cx="1058600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Highlight what a person will likely </a:t>
            </a:r>
            <a:r>
              <a:rPr sz="4106" b="1">
                <a:solidFill>
                  <a:srgbClr val="111111"/>
                </a:solidFill>
                <a:latin typeface="Arial"/>
              </a:rPr>
              <a:t>edit</a:t>
            </a:r>
            <a:r>
              <a:rPr sz="4106" b="0">
                <a:solidFill>
                  <a:srgbClr val="1C1C1C"/>
                </a:solidFill>
                <a:latin typeface="Arial"/>
              </a:rPr>
              <a:t>, not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what the model found improbable — the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payoff: faster, more surgical edits.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0039726" y="23828672"/>
            <a:ext cx="10586004" cy="2698844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Generation probabilities alone are not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enough; edit telemetry (à la Copilot)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could train this at scale.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88861" y="26144378"/>
            <a:ext cx="10640943" cy="4234286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8465C"/>
                </a:solidFill>
                <a:latin typeface="Arial"/>
              </a:rPr>
              <a:t>The default strategy, highlighting the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8465C"/>
                </a:solidFill>
                <a:latin typeface="Arial"/>
              </a:rPr>
              <a:t>model's lowest-probability tokens, ships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8465C"/>
                </a:solidFill>
                <a:latin typeface="Arial"/>
              </a:rPr>
              <a:t>in OpenAI's Playground, yet "low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8465C"/>
                </a:solidFill>
                <a:latin typeface="Arial"/>
              </a:rPr>
              <a:t>probability = likely error" was never tested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8465C"/>
                </a:solidFill>
                <a:latin typeface="Arial"/>
              </a:rPr>
              <a:t>against human edits.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88842" y="19463127"/>
            <a:ext cx="10640962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Highlight what needs oversight.</a:t>
            </a:r>
            <a:r>
              <a:rPr sz="4106" b="0">
                <a:solidFill>
                  <a:srgbClr val="1C1C1C"/>
                </a:solidFill>
                <a:latin typeface="Arial"/>
              </a:rPr>
              <a:t> Token-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level highlighting, like in-line spell-check,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could draw the programmer's eye to the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code regions that most need careful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human review.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120542" y="20825658"/>
            <a:ext cx="13472080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Study Design 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6006028" y="20825658"/>
            <a:ext cx="13472080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Key Results 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2120542" y="21892458"/>
            <a:ext cx="13472080" cy="60874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30 participants</a:t>
            </a:r>
            <a:r>
              <a:rPr sz="4106" b="0">
                <a:solidFill>
                  <a:srgbClr val="1C1C1C"/>
                </a:solidFill>
                <a:latin typeface="Arial"/>
              </a:rPr>
              <a:t> — experienced Python programmers at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large US tech company — each solved </a:t>
            </a:r>
            <a:r>
              <a:rPr sz="4106" b="1">
                <a:solidFill>
                  <a:srgbClr val="111111"/>
                </a:solidFill>
                <a:latin typeface="Arial"/>
              </a:rPr>
              <a:t>3 LeetCode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"easy" tasks</a:t>
            </a:r>
            <a:r>
              <a:rPr sz="4106" b="0">
                <a:solidFill>
                  <a:srgbClr val="1C1C1C"/>
                </a:solidFill>
                <a:latin typeface="Arial"/>
              </a:rPr>
              <a:t> (10-min cap each) in paid ~1-hour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sessions, running provided unit tests to debug. Task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order and tool assignment were randomized;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participants were paid </a:t>
            </a:r>
            <a:r>
              <a:rPr sz="4106" b="0">
                <a:solidFill>
                  <a:srgbClr val="1C1C1C"/>
                </a:solidFill>
                <a:latin typeface="Arial"/>
              </a:rPr>
              <a:t>$50, and the edit model was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trained earlier on a separate group of 9 coders.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88842" y="23426677"/>
            <a:ext cx="1064096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But which signal?</a:t>
            </a:r>
            <a:r>
              <a:rPr sz="4106" b="0">
                <a:solidFill>
                  <a:srgbClr val="1C1C1C"/>
                </a:solidFill>
                <a:latin typeface="Arial"/>
              </a:rPr>
              <a:t> It was unknown which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token signal to highlight, or whether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highlighting helps at all.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6006028" y="25642788"/>
            <a:ext cx="13472080" cy="2233515"/>
          </a:xfrm>
          <a:prstGeom prst="rect">
            <a:avLst/>
          </a:prstGeom>
          <a:noFill/>
        </p:spPr>
        <p:txBody>
          <a:bodyPr wrap="non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111111"/>
                </a:solidFill>
                <a:latin typeface="Arial"/>
              </a:rPr>
              <a:t>~1.0 min faster</a:t>
            </a:r>
            <a:r>
              <a:rPr sz="4024" b="1">
                <a:solidFill>
                  <a:srgbClr val="38465C"/>
                </a:solidFill>
                <a:latin typeface="Arial"/>
              </a:rPr>
              <a:t> than generation probability (p =</a:t>
            </a:r>
          </a:p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38465C"/>
                </a:solidFill>
                <a:latin typeface="Arial"/>
              </a:rPr>
              <a:t>0.003) — the </a:t>
            </a:r>
            <a:r>
              <a:rPr sz="4024" b="1" i="1">
                <a:solidFill>
                  <a:srgbClr val="38465C"/>
                </a:solidFill>
                <a:latin typeface="Arial"/>
              </a:rPr>
              <a:t>slowest</a:t>
            </a:r>
            <a:r>
              <a:rPr sz="4024" b="1">
                <a:solidFill>
                  <a:srgbClr val="38465C"/>
                </a:solidFill>
                <a:latin typeface="Arial"/>
              </a:rPr>
              <a:t> of all three.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6006028" y="27865982"/>
            <a:ext cx="13472080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What you highlight matters more than whether you do.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3082685" y="8891250"/>
            <a:ext cx="26429753" cy="1010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Prediction only.</a:t>
            </a:r>
            <a:r>
              <a:rPr sz="4106" b="0">
                <a:solidFill>
                  <a:srgbClr val="1C1C1C"/>
                </a:solidFill>
                <a:latin typeface="Arial"/>
              </a:rPr>
              <a:t> Show the raw Codex completion with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no highlights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3082685" y="10082649"/>
            <a:ext cx="26429753" cy="1010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Generation Probability.</a:t>
            </a:r>
            <a:r>
              <a:rPr sz="4106" b="0">
                <a:solidFill>
                  <a:srgbClr val="1C1C1C"/>
                </a:solidFill>
                <a:latin typeface="Arial"/>
              </a:rPr>
              <a:t> Highlight the tokens the model was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least confident</a:t>
            </a:r>
            <a:r>
              <a:rPr sz="4106" b="0">
                <a:solidFill>
                  <a:srgbClr val="1C1C1C"/>
                </a:solidFill>
                <a:latin typeface="Arial"/>
              </a:rPr>
              <a:t> in (threshold 71%).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3082685" y="11274047"/>
            <a:ext cx="26429753" cy="10103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Edit Model.</a:t>
            </a:r>
            <a:r>
              <a:rPr sz="4106" b="0">
                <a:solidFill>
                  <a:srgbClr val="1C1C1C"/>
                </a:solidFill>
                <a:latin typeface="Arial"/>
              </a:rPr>
              <a:t> Highlight the tokens a person is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most likely to edit</a:t>
            </a:r>
            <a:r>
              <a:rPr sz="4106" b="0">
                <a:solidFill>
                  <a:srgbClr val="1C1C1C"/>
                </a:solidFill>
                <a:latin typeface="Arial"/>
              </a:rPr>
              <a:t> (threshold 66%), from a learned model.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0232250" y="15451236"/>
            <a:ext cx="5084543" cy="2822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9664"/>
              </a:lnSpc>
              <a:spcBef>
                <a:spcPts val="0"/>
              </a:spcBef>
              <a:spcAft>
                <a:spcPts val="0"/>
              </a:spcAft>
            </a:pPr>
            <a:r>
              <a:rPr sz="10173" b="1" spc="-203">
                <a:solidFill>
                  <a:srgbClr val="38465C"/>
                </a:solidFill>
                <a:latin typeface="Arial"/>
              </a:rPr>
              <a:t>8.59</a:t>
            </a:r>
          </a:p>
          <a:p>
            <a:pPr algn="l">
              <a:lnSpc>
                <a:spcPts val="9664"/>
              </a:lnSpc>
              <a:spcBef>
                <a:spcPts val="0"/>
              </a:spcBef>
              <a:spcAft>
                <a:spcPts val="0"/>
              </a:spcAft>
            </a:pPr>
            <a:r>
              <a:rPr sz="10173" b="1" spc="-203">
                <a:solidFill>
                  <a:srgbClr val="38465C"/>
                </a:solidFill>
                <a:latin typeface="Arial"/>
              </a:rPr>
              <a:t>min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0232250" y="17929324"/>
            <a:ext cx="5084543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Task time, Edit Model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· p = 0.003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4192329" y="18640246"/>
            <a:ext cx="23248183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1" i="1">
                <a:solidFill>
                  <a:srgbClr val="111111"/>
                </a:solidFill>
                <a:latin typeface="Arial"/>
              </a:rPr>
              <a:t>Figure 1.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Study outcomes by condition — all use the same Codex with equal total highlights: </a:t>
            </a:r>
            <a:r>
              <a:rPr sz="3367" b="1" i="1">
                <a:solidFill>
                  <a:srgbClr val="111111"/>
                </a:solidFill>
                <a:latin typeface="Arial"/>
              </a:rPr>
              <a:t>(a)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time on task, </a:t>
            </a:r>
            <a:r>
              <a:rPr sz="3367" b="1" i="1">
                <a:solidFill>
                  <a:srgbClr val="111111"/>
                </a:solidFill>
                <a:latin typeface="Arial"/>
              </a:rPr>
              <a:t>(b)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token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survival by highlight status, </a:t>
            </a:r>
            <a:r>
              <a:rPr sz="3367" b="1" i="1">
                <a:solidFill>
                  <a:srgbClr val="111111"/>
                </a:solidFill>
                <a:latin typeface="Arial"/>
              </a:rPr>
              <a:t>(c)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preference.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9986386" y="26950035"/>
            <a:ext cx="5122600" cy="57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 spc="-18">
                <a:solidFill>
                  <a:srgbClr val="38465C"/>
                </a:solidFill>
                <a:latin typeface="Arial"/>
              </a:rPr>
              <a:t>Scan to Read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9986386" y="8904446"/>
            <a:ext cx="4786665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CONDITION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4633634" y="8904446"/>
            <a:ext cx="2337247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NOT-HLT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6902806" y="8904446"/>
            <a:ext cx="3517031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HIGHLIGHTED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9986386" y="9610923"/>
            <a:ext cx="4786665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Generation Prob.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4633634" y="9610923"/>
            <a:ext cx="233724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0.81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6902806" y="9610923"/>
            <a:ext cx="3517031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0.74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9986386" y="10556041"/>
            <a:ext cx="4786665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Edit Model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4633634" y="10556041"/>
            <a:ext cx="233724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0.87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6902806" y="10556041"/>
            <a:ext cx="3517031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0.35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220637" y="15451236"/>
            <a:ext cx="107061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0.35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7442596" y="15584586"/>
            <a:ext cx="2707807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Highlight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survival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6220637" y="16711810"/>
            <a:ext cx="107061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3.94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7442596" y="16845160"/>
            <a:ext cx="2707807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Preference (7-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pt)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6220637" y="17972385"/>
            <a:ext cx="1636474" cy="626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N = 30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7991970" y="18105735"/>
            <a:ext cx="1913607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Participants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9986386" y="27637343"/>
            <a:ext cx="4405231" cy="1196468"/>
          </a:xfrm>
          <a:prstGeom prst="rect">
            <a:avLst/>
          </a:prstGeom>
          <a:noFill/>
        </p:spPr>
        <p:txBody>
          <a:bodyPr wrap="none" lIns="237066" rIns="237066" tIns="154093" bIns="154093">
            <a:spAutoFit/>
          </a:bodyPr>
          <a:lstStyle/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38465C"/>
                </a:solidFill>
                <a:latin typeface="Arial"/>
              </a:rPr>
              <a:t>Paper</a:t>
            </a:r>
          </a:p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053" b="0">
                <a:solidFill>
                  <a:srgbClr val="555555"/>
                </a:solidFill>
                <a:latin typeface="JetBrains Mono"/>
              </a:rPr>
              <a:t>arxiv.org/abs/2302.07248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9986386" y="28808045"/>
            <a:ext cx="2465012" cy="1196468"/>
          </a:xfrm>
          <a:prstGeom prst="rect">
            <a:avLst/>
          </a:prstGeom>
          <a:noFill/>
        </p:spPr>
        <p:txBody>
          <a:bodyPr wrap="none" lIns="237066" rIns="237066" tIns="154093" bIns="154093">
            <a:spAutoFit/>
          </a:bodyPr>
          <a:lstStyle/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38465C"/>
                </a:solidFill>
                <a:latin typeface="Arial"/>
              </a:rPr>
              <a:t>Project · OSF</a:t>
            </a:r>
          </a:p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053" b="0">
                <a:solidFill>
                  <a:srgbClr val="555555"/>
                </a:solidFill>
                <a:latin typeface="JetBrains Mono"/>
              </a:rPr>
              <a:t>osf.io/tymah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6006028" y="22086371"/>
            <a:ext cx="5050921" cy="936568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8465C"/>
                </a:solidFill>
                <a:latin typeface="Arial"/>
              </a:rPr>
              <a:t>Condition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0909835" y="22086371"/>
            <a:ext cx="3203271" cy="936568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8465C"/>
                </a:solidFill>
                <a:latin typeface="Arial"/>
              </a:rPr>
              <a:t>Time (min)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4019807" y="22086371"/>
            <a:ext cx="5217888" cy="936568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8465C"/>
                </a:solidFill>
                <a:latin typeface="Arial"/>
              </a:rPr>
              <a:t>Highlight survival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6006028" y="22900778"/>
            <a:ext cx="5050921" cy="941680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Prediction only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0909835" y="22900778"/>
            <a:ext cx="3203271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9.27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4019807" y="22900778"/>
            <a:ext cx="5217888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—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6006028" y="23719631"/>
            <a:ext cx="5050921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Generation Prob.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0909835" y="23719631"/>
            <a:ext cx="3203271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9.61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4019807" y="23719631"/>
            <a:ext cx="5217888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0.74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6006028" y="24538483"/>
            <a:ext cx="5050921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8465C"/>
                </a:solidFill>
                <a:latin typeface="Arial"/>
              </a:rPr>
              <a:t>Edit Model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0909835" y="24538483"/>
            <a:ext cx="3203271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8465C"/>
                </a:solidFill>
                <a:latin typeface="Arial"/>
              </a:rPr>
              <a:t>8.59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4019807" y="24538483"/>
            <a:ext cx="5217888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8465C"/>
                </a:solidFill>
                <a:latin typeface="Arial"/>
              </a:rPr>
              <a:t>0.35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
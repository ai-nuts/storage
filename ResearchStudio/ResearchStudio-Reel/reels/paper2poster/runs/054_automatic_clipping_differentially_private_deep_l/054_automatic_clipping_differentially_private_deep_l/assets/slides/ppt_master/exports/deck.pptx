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mast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mast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1428750"/>
            <a:ext cx="57150" cy="1428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851154" y="1299210"/>
            <a:ext cx="15748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300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NEURIPS 2023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38200" y="1568768"/>
            <a:ext cx="5515998" cy="1428083"/>
            <a:chOff x="838200" y="1568768"/>
            <a:chExt cx="5515998" cy="1428083"/>
          </a:xfrm>
        </p:grpSpPr>
        <p:sp>
          <p:nvSpPr>
            <p:cNvPr id="5" name="TextBox 5"/>
            <p:cNvSpPr txBox="1"/>
            <p:nvPr/>
          </p:nvSpPr>
          <p:spPr>
            <a:xfrm>
              <a:off x="838200" y="1568768"/>
              <a:ext cx="551599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Automatic Clipping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6963" y="2276951"/>
              <a:ext cx="482573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Differentially Private Deep Learning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6963" y="2600801"/>
              <a:ext cx="341980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Made Easier and Stronger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857250" y="3143250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TextBox 10"/>
          <p:cNvSpPr txBox="1"/>
          <p:nvPr/>
        </p:nvSpPr>
        <p:spPr>
          <a:xfrm>
            <a:off x="850011" y="3313271"/>
            <a:ext cx="52708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Zhiqi Bu · Yu-Xiang Wang · Sheng Zha · George Karypis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3604260"/>
            <a:ext cx="20773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AWS AI · UC Santa Barbara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535" y="3840956"/>
            <a:ext cx="34943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github.com/awslabs/fast-differential-privacy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734300" y="1866900"/>
            <a:ext cx="3848100" cy="2857500"/>
            <a:chOff x="7734300" y="1866900"/>
            <a:chExt cx="3848100" cy="2857500"/>
          </a:xfrm>
        </p:grpSpPr>
        <p:sp>
          <p:nvSpPr>
            <p:cNvPr id="13" name="Rectangle 13"/>
            <p:cNvSpPr/>
            <p:nvPr/>
          </p:nvSpPr>
          <p:spPr>
            <a:xfrm>
              <a:off x="7734300" y="1866900"/>
              <a:ext cx="3848100" cy="2857500"/>
            </a:xfrm>
            <a:prstGeom prst="roundRect">
              <a:avLst>
                <a:gd name="adj" fmla="val 6000"/>
              </a:avLst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34300" y="1866900"/>
              <a:ext cx="38481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91856" y="2167890"/>
              <a:ext cx="2545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Drop-in replacement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94142" y="2597468"/>
              <a:ext cx="1827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Removes the clipping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94142" y="2845118"/>
              <a:ext cx="1873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threshold R from any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94142" y="3092768"/>
              <a:ext cx="1124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DP optimizer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01000" y="3505200"/>
              <a:ext cx="3314700" cy="838200"/>
            </a:xfrm>
            <a:prstGeom prst="roundRect">
              <a:avLst>
                <a:gd name="adj" fmla="val 11364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5018" y="3689032"/>
              <a:ext cx="23311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FB6A8"/>
                  </a:solidFill>
                  <a:latin typeface="Consolas"/>
                  <a:ea typeface="Consolas"/>
                  <a:cs typeface="Consolas"/>
                </a:rPr>
                <a:t>R / (||g|| + γ) → R =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7685" y="403145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one line of code</a:t>
              </a:r>
            </a:p>
          </p:txBody>
        </p:sp>
      </p:grpSp>
      <p:sp>
        <p:nvSpPr>
          <p:cNvPr id="23" name="cue_s01_c1_work_aws_santa_barbara_titled" title="cue_s01_c1_work_aws_santa_barbara_titled" descr="cue_s01_c1_work_aws_santa_barbara_titled This work, from AWS AI and UC Santa Barbara, is titled &quot;Automatic Clipping: Differentially Private Deep Learning Made Easier and Stronger.&quot; Differentially private training of deep networks relies on per-sample gradient clipping, but the clipping threshold R is"/>
          <p:cNvSpPr/>
          <p:nvPr/>
        </p:nvSpPr>
        <p:spPr>
          <a:xfrm>
            <a:off x="838809" y="1569110"/>
            <a:ext cx="5515660" cy="142783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ue_s01_c2_authors_propose_automatic_clipping_d" title="cue_s01_c2_authors_propose_automatic_clipping_d" descr="cue_s01_c2_authors_propose_automatic_clipping_d The authors propose automatic clipping, a drop-in replacement that removes R entirely from any DP optimizer, so private training becomes as tuning-friendly as ordinary training while matching or beating the state of the art."/>
          <p:cNvSpPr/>
          <p:nvPr/>
        </p:nvSpPr>
        <p:spPr>
          <a:xfrm>
            <a:off x="7734604" y="1866747"/>
            <a:ext cx="3847795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E9603E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4385" y="583406"/>
            <a:ext cx="9143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7146" y="715328"/>
            <a:ext cx="590524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clipping threshold R is fragile</a:t>
            </a:r>
          </a:p>
        </p:txBody>
      </p:sp>
      <p:sp>
        <p:nvSpPr>
          <p:cNvPr id="5" name="Line 5"/>
          <p:cNvSpPr/>
          <p:nvPr/>
        </p:nvSpPr>
        <p:spPr>
          <a:xfrm>
            <a:off x="800100" y="1162050"/>
            <a:ext cx="10782300" cy="9525"/>
          </a:xfrm>
          <a:custGeom>
            <a:avLst/>
            <a:gdLst/>
            <a:ahLst/>
            <a:cxnLst/>
            <a:rect l="l" t="t" r="r" b="b"/>
            <a:pathLst>
              <a:path w="10782300" h="952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2" name="Group 12"/>
          <p:cNvGrpSpPr/>
          <p:nvPr/>
        </p:nvGrpSpPr>
        <p:grpSpPr>
          <a:xfrm>
            <a:off x="609600" y="1809750"/>
            <a:ext cx="3492818" cy="3238500"/>
            <a:chOff x="609600" y="1809750"/>
            <a:chExt cx="3492818" cy="3238500"/>
          </a:xfrm>
        </p:grpSpPr>
        <p:sp>
          <p:nvSpPr>
            <p:cNvPr id="6" name="Rectangle 6"/>
            <p:cNvSpPr/>
            <p:nvPr/>
          </p:nvSpPr>
          <p:spPr>
            <a:xfrm>
              <a:off x="609600" y="1809750"/>
              <a:ext cx="3492818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809750"/>
              <a:ext cx="47625" cy="32385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199" y="2020729"/>
              <a:ext cx="212233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Per-sample clipping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2330768"/>
              <a:ext cx="2609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Every gradient is clipped to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2578418"/>
              <a:ext cx="239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fixed norm R, then noise 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28260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added.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50068" y="1809750"/>
            <a:ext cx="3492818" cy="3238500"/>
            <a:chOff x="4350068" y="1809750"/>
            <a:chExt cx="3492818" cy="3238500"/>
          </a:xfrm>
        </p:grpSpPr>
        <p:sp>
          <p:nvSpPr>
            <p:cNvPr id="13" name="Rectangle 13"/>
            <p:cNvSpPr/>
            <p:nvPr/>
          </p:nvSpPr>
          <p:spPr>
            <a:xfrm>
              <a:off x="4350068" y="1809750"/>
              <a:ext cx="3492818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50068" y="1809750"/>
              <a:ext cx="47625" cy="3238500"/>
            </a:xfrm>
            <a:prstGeom prst="roundRect">
              <a:avLst>
                <a:gd name="adj" fmla="val 40000"/>
              </a:avLst>
            </a:prstGeom>
            <a:solidFill>
              <a:srgbClr val="E9603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70666" y="2020729"/>
              <a:ext cx="18846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Wrong R is costly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71810" y="2330768"/>
              <a:ext cx="2538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ImageNet ResNet18 accuracy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62550" y="3510915"/>
              <a:ext cx="514350" cy="908685"/>
            </a:xfrm>
            <a:prstGeom prst="roundRect">
              <a:avLst>
                <a:gd name="adj" fmla="val 7407"/>
              </a:avLst>
            </a:prstGeom>
            <a:solidFill>
              <a:srgbClr val="38C08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6729" y="3305175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8C08A"/>
                  </a:solidFill>
                  <a:latin typeface="+mn-lt"/>
                  <a:ea typeface="+mn-ea"/>
                  <a:cs typeface="+mn-cs"/>
                </a:rPr>
                <a:t>45%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94605" y="4474845"/>
              <a:ext cx="250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R ok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30315" y="3793808"/>
              <a:ext cx="514350" cy="625792"/>
            </a:xfrm>
            <a:prstGeom prst="roundRect">
              <a:avLst>
                <a:gd name="adj" fmla="val 7407"/>
              </a:avLst>
            </a:prstGeom>
            <a:solidFill>
              <a:srgbClr val="E9603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24494" y="3588068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9603E"/>
                  </a:solidFill>
                  <a:latin typeface="+mn-lt"/>
                  <a:ea typeface="+mn-ea"/>
                  <a:cs typeface="+mn-cs"/>
                </a:rPr>
                <a:t>31%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0356" y="4474845"/>
              <a:ext cx="4742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R wrong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676900" y="3514725"/>
              <a:ext cx="657225" cy="276225"/>
            </a:xfrm>
            <a:custGeom>
              <a:avLst/>
              <a:gdLst/>
              <a:ahLst/>
              <a:cxnLst/>
              <a:rect l="l" t="t" r="r" b="b"/>
              <a:pathLst>
                <a:path w="657225" h="276225">
                  <a:moveTo>
                    <a:pt x="0" y="0"/>
                  </a:moveTo>
                  <a:lnTo>
                    <a:pt x="657225" y="276225"/>
                  </a:lnTo>
                </a:path>
              </a:pathLst>
            </a:custGeom>
            <a:noFill/>
            <a:ln w="19050">
              <a:solidFill>
                <a:srgbClr val="E9603E"/>
              </a:solidFill>
              <a:prstDash val="dash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089582" y="1809750"/>
            <a:ext cx="3492818" cy="3238500"/>
            <a:chOff x="8089582" y="1809750"/>
            <a:chExt cx="3492818" cy="3238500"/>
          </a:xfrm>
        </p:grpSpPr>
        <p:sp>
          <p:nvSpPr>
            <p:cNvPr id="25" name="Rectangle 25"/>
            <p:cNvSpPr/>
            <p:nvPr/>
          </p:nvSpPr>
          <p:spPr>
            <a:xfrm>
              <a:off x="8089582" y="1809750"/>
              <a:ext cx="3492818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89582" y="1809750"/>
              <a:ext cx="47625" cy="3238500"/>
            </a:xfrm>
            <a:prstGeom prst="roundRect">
              <a:avLst>
                <a:gd name="adj" fmla="val 40000"/>
              </a:avLst>
            </a:prstGeom>
            <a:solidFill>
              <a:srgbClr val="2FB6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10181" y="2020729"/>
              <a:ext cx="19641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SOTA needs tiny 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1324" y="2330768"/>
              <a:ext cx="2745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Best thresholds are found only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1324" y="257841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by careful, expensive tuning.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838" y="6551295"/>
            <a:ext cx="26058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Automatic Clipping · Bu et al., NeurIPS 2023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08641" y="6551295"/>
            <a:ext cx="1578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E82A0"/>
                </a:solidFill>
                <a:latin typeface="Consolas"/>
                <a:ea typeface="Consolas"/>
                <a:cs typeface="Consolas"/>
              </a:rPr>
              <a:t>arxiv.org/abs/2206.07136</a:t>
            </a:r>
          </a:p>
        </p:txBody>
      </p:sp>
      <p:sp>
        <p:nvSpPr>
          <p:cNvPr id="33" name="cue_s02_c1_differentially_private_deep_learning" title="cue_s02_c1_differentially_private_deep_learning" descr="cue_s02_c1_differentially_private_deep_learning In differentially private deep learning, every per-sample gradient is clipped to a fixed norm R before noise is added, and that single threshold R turns out to be decisive for accuracy."/>
          <p:cNvSpPr/>
          <p:nvPr/>
        </p:nvSpPr>
        <p:spPr>
          <a:xfrm>
            <a:off x="609600" y="1809826"/>
            <a:ext cx="3493007" cy="32383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02_c2_picking_wrong_costly_imagenet_resnet" title="cue_s02_c2_picking_wrong_costly_imagenet_resnet" descr="cue_s02_c2_picking_wrong_costly_imagenet_resnet Picking it wrong is costly: on ImageNet, ResNet18 accuracy can collapse from forty-five percent to thirty-one percent when R is merely doubled."/>
          <p:cNvSpPr/>
          <p:nvPr/>
        </p:nvSpPr>
        <p:spPr>
          <a:xfrm>
            <a:off x="4350105" y="1809826"/>
            <a:ext cx="3493007" cy="32383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2_c3_state_of_the_art_private_models_tend" title="cue_s02_c3_state_of_the_art_private_models_tend" descr="cue_s02_c3_state_of_the_art_private_models_tend State-of-the-art private models tend to need very small clipping thresholds that can only be found through careful, expensive tuning."/>
          <p:cNvSpPr/>
          <p:nvPr/>
        </p:nvSpPr>
        <p:spPr>
          <a:xfrm>
            <a:off x="8089392" y="1809826"/>
            <a:ext cx="3493007" cy="32383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E7B24C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4385" y="583406"/>
            <a:ext cx="12362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7146" y="715328"/>
            <a:ext cx="447544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Why DP training is painful</a:t>
            </a:r>
          </a:p>
        </p:txBody>
      </p:sp>
      <p:sp>
        <p:nvSpPr>
          <p:cNvPr id="5" name="Line 5"/>
          <p:cNvSpPr/>
          <p:nvPr/>
        </p:nvSpPr>
        <p:spPr>
          <a:xfrm>
            <a:off x="800100" y="1162050"/>
            <a:ext cx="10782300" cy="9525"/>
          </a:xfrm>
          <a:custGeom>
            <a:avLst/>
            <a:gdLst/>
            <a:ahLst/>
            <a:cxnLst/>
            <a:rect l="l" t="t" r="r" b="b"/>
            <a:pathLst>
              <a:path w="10782300" h="952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1" name="Group 11"/>
          <p:cNvGrpSpPr/>
          <p:nvPr/>
        </p:nvGrpSpPr>
        <p:grpSpPr>
          <a:xfrm>
            <a:off x="609600" y="1809750"/>
            <a:ext cx="3492818" cy="3238500"/>
            <a:chOff x="609600" y="1809750"/>
            <a:chExt cx="3492818" cy="3238500"/>
          </a:xfrm>
        </p:grpSpPr>
        <p:sp>
          <p:nvSpPr>
            <p:cNvPr id="6" name="Rectangle 6"/>
            <p:cNvSpPr/>
            <p:nvPr/>
          </p:nvSpPr>
          <p:spPr>
            <a:xfrm>
              <a:off x="609600" y="1809750"/>
              <a:ext cx="3492818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809750"/>
              <a:ext cx="47625" cy="32385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199" y="2020729"/>
              <a:ext cx="32169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Joint hyperparameter search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2330768"/>
              <a:ext cx="2560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Tune the clipping threshold 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2578418"/>
              <a:ext cx="28397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and the learning rate together.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50068" y="1809750"/>
            <a:ext cx="3492818" cy="3238500"/>
            <a:chOff x="4350068" y="1809750"/>
            <a:chExt cx="3492818" cy="3238500"/>
          </a:xfrm>
        </p:grpSpPr>
        <p:sp>
          <p:nvSpPr>
            <p:cNvPr id="12" name="Rectangle 12"/>
            <p:cNvSpPr/>
            <p:nvPr/>
          </p:nvSpPr>
          <p:spPr>
            <a:xfrm>
              <a:off x="4350068" y="1809750"/>
              <a:ext cx="3492818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50068" y="1809750"/>
              <a:ext cx="47625" cy="3238500"/>
            </a:xfrm>
            <a:prstGeom prst="roundRect">
              <a:avLst>
                <a:gd name="adj" fmla="val 40000"/>
              </a:avLst>
            </a:prstGeom>
            <a:solidFill>
              <a:srgbClr val="E9603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70666" y="2020729"/>
              <a:ext cx="20107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Costly grid search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71810" y="2330768"/>
              <a:ext cx="2510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Days to months of compute,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71810" y="257841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and it spends privacy budget.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89582" y="1809750"/>
            <a:ext cx="3492818" cy="3238500"/>
            <a:chOff x="8089582" y="1809750"/>
            <a:chExt cx="3492818" cy="3238500"/>
          </a:xfrm>
        </p:grpSpPr>
        <p:sp>
          <p:nvSpPr>
            <p:cNvPr id="18" name="Rectangle 18"/>
            <p:cNvSpPr/>
            <p:nvPr/>
          </p:nvSpPr>
          <p:spPr>
            <a:xfrm>
              <a:off x="8089582" y="1809750"/>
              <a:ext cx="3492818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89582" y="1809750"/>
              <a:ext cx="47625" cy="3238500"/>
            </a:xfrm>
            <a:prstGeom prst="roundRect">
              <a:avLst>
                <a:gd name="adj" fmla="val 40000"/>
              </a:avLst>
            </a:prstGeom>
            <a:solidFill>
              <a:srgbClr val="2FB6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0181" y="2020729"/>
              <a:ext cx="14713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Best R is tiny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11324" y="2330768"/>
              <a:ext cx="2336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So small that nearly every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11324" y="2578418"/>
              <a:ext cx="274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gradient is clipped every step.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04838" y="6551295"/>
            <a:ext cx="26058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Automatic Clipping · Bu et al., NeurIPS 2023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08641" y="6551295"/>
            <a:ext cx="1578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E82A0"/>
                </a:solidFill>
                <a:latin typeface="Consolas"/>
                <a:ea typeface="Consolas"/>
                <a:cs typeface="Consolas"/>
              </a:rPr>
              <a:t>arxiv.org/abs/2206.07136</a:t>
            </a:r>
          </a:p>
        </p:txBody>
      </p:sp>
      <p:sp>
        <p:nvSpPr>
          <p:cNvPr id="26" name="cue_s03_c1_searching_jointly_over_clipping_thre" title="cue_s03_c1_searching_jointly_over_clipping_thre" descr="cue_s03_c1_searching_jointly_over_clipping_thre Searching jointly over the clipping threshold and the learning rate is one of the main reasons DP training is painful."/>
          <p:cNvSpPr/>
          <p:nvPr/>
        </p:nvSpPr>
        <p:spPr>
          <a:xfrm>
            <a:off x="609600" y="1809826"/>
            <a:ext cx="3493007" cy="32383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ue_s03_c2_large_models_grid_search_take" title="cue_s03_c2_large_models_grid_search_take" descr="cue_s03_c2_large_models_grid_search_take For large models this grid search can take days to months of compute, and because it inspects private data it also spends additional privacy budget."/>
          <p:cNvSpPr/>
          <p:nvPr/>
        </p:nvSpPr>
        <p:spPr>
          <a:xfrm>
            <a:off x="4350105" y="1809826"/>
            <a:ext cx="3493007" cy="32383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ue_s03_c3_crucially_best_thresholds_usually_sm" title="cue_s03_c3_crucially_best_thresholds_usually_sm" descr="cue_s03_c3_crucially_best_thresholds_usually_sm Crucially, the best thresholds are usually so small that nearly every per-sample gradient is clipped at every step, which hints that the precise value of R may not matter at all if we reformulate the clipping."/>
          <p:cNvSpPr/>
          <p:nvPr/>
        </p:nvSpPr>
        <p:spPr>
          <a:xfrm>
            <a:off x="8089392" y="1809826"/>
            <a:ext cx="3493007" cy="32383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4385" y="583406"/>
            <a:ext cx="1450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7146" y="715328"/>
            <a:ext cx="333496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Four contributions</a:t>
            </a:r>
          </a:p>
        </p:txBody>
      </p:sp>
      <p:sp>
        <p:nvSpPr>
          <p:cNvPr id="5" name="Line 5"/>
          <p:cNvSpPr/>
          <p:nvPr/>
        </p:nvSpPr>
        <p:spPr>
          <a:xfrm>
            <a:off x="800100" y="1162050"/>
            <a:ext cx="10782300" cy="9525"/>
          </a:xfrm>
          <a:custGeom>
            <a:avLst/>
            <a:gdLst/>
            <a:ahLst/>
            <a:cxnLst/>
            <a:rect l="l" t="t" r="r" b="b"/>
            <a:pathLst>
              <a:path w="10782300" h="952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609600" y="1676400"/>
            <a:ext cx="5362575" cy="1905000"/>
            <a:chOff x="609600" y="1676400"/>
            <a:chExt cx="536257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7640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7640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857375"/>
              <a:ext cx="285750" cy="28575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0233" y="19183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2149" y="1887379"/>
              <a:ext cx="19990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Automatic clipping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2197418"/>
              <a:ext cx="29926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Expunge R from the DP optimizer,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244506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a drop-in replacement.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19825" y="1676400"/>
            <a:ext cx="5362575" cy="1905000"/>
            <a:chOff x="6219825" y="1676400"/>
            <a:chExt cx="5362575" cy="1905000"/>
          </a:xfrm>
        </p:grpSpPr>
        <p:sp>
          <p:nvSpPr>
            <p:cNvPr id="14" name="Rectangle 14"/>
            <p:cNvSpPr/>
            <p:nvPr/>
          </p:nvSpPr>
          <p:spPr>
            <a:xfrm>
              <a:off x="6219825" y="167640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19825" y="167640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2FB6A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10325" y="1857375"/>
              <a:ext cx="285750" cy="285750"/>
            </a:xfrm>
            <a:prstGeom prst="ellipse">
              <a:avLst/>
            </a:prstGeom>
            <a:solidFill>
              <a:srgbClr val="2FB6A8">
                <a:alpha val="1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00458" y="19183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B6A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2374" y="1887379"/>
              <a:ext cx="205553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Convergence proof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41567" y="2197418"/>
              <a:ext cx="2655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Non-convex; same asymptotic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1567" y="2445068"/>
              <a:ext cx="1996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rate as standard SGD.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790950"/>
            <a:ext cx="5362575" cy="1905000"/>
            <a:chOff x="609600" y="3790950"/>
            <a:chExt cx="5362575" cy="1905000"/>
          </a:xfrm>
        </p:grpSpPr>
        <p:sp>
          <p:nvSpPr>
            <p:cNvPr id="22" name="Rectangle 22"/>
            <p:cNvSpPr/>
            <p:nvPr/>
          </p:nvSpPr>
          <p:spPr>
            <a:xfrm>
              <a:off x="609600" y="379095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79095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38C08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00100" y="3971925"/>
              <a:ext cx="285750" cy="285750"/>
            </a:xfrm>
            <a:prstGeom prst="ellipse">
              <a:avLst/>
            </a:prstGeom>
            <a:solidFill>
              <a:srgbClr val="38C08A">
                <a:alpha val="1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233" y="4032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8C08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2149" y="4001929"/>
              <a:ext cx="230117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default suffices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311968"/>
              <a:ext cx="2097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Any positive constant 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4559618"/>
              <a:ext cx="1956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is equivalent to R = 1.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19825" y="3790950"/>
            <a:ext cx="5362575" cy="1905000"/>
            <a:chOff x="6219825" y="3790950"/>
            <a:chExt cx="5362575" cy="1905000"/>
          </a:xfrm>
        </p:grpSpPr>
        <p:sp>
          <p:nvSpPr>
            <p:cNvPr id="30" name="Rectangle 30"/>
            <p:cNvSpPr/>
            <p:nvPr/>
          </p:nvSpPr>
          <p:spPr>
            <a:xfrm>
              <a:off x="6219825" y="379095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19825" y="379095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E7B24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410325" y="3971925"/>
              <a:ext cx="285750" cy="285750"/>
            </a:xfrm>
            <a:prstGeom prst="ellipse">
              <a:avLst/>
            </a:prstGeom>
            <a:solidFill>
              <a:srgbClr val="E7B24C">
                <a:alpha val="1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0458" y="4032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7B24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2374" y="4001929"/>
              <a:ext cx="18766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Stronger results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1567" y="4311968"/>
              <a:ext cx="2262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Vision + language SOTA by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1567" y="4559618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changing a single line.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04838" y="6551295"/>
            <a:ext cx="26058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Automatic Clipping · Bu et al., NeurIPS 2023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08641" y="6551295"/>
            <a:ext cx="1578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E82A0"/>
                </a:solidFill>
                <a:latin typeface="Consolas"/>
                <a:ea typeface="Consolas"/>
                <a:cs typeface="Consolas"/>
              </a:rPr>
              <a:t>arxiv.org/abs/2206.07136</a:t>
            </a:r>
          </a:p>
        </p:txBody>
      </p:sp>
      <p:sp>
        <p:nvSpPr>
          <p:cNvPr id="40" name="cue_s04_c1_authors_make_four_contributions_firs" title="cue_s04_c1_authors_make_four_contributions_firs" descr="cue_s04_c1_authors_make_four_contributions_firs The authors make four contributions. First, they propose automatic clipping, which mathematically expunges the clipping threshold from general DP optimizers including DP-SGD, DP-Adam, and DP-LAMB."/>
          <p:cNvSpPr/>
          <p:nvPr/>
        </p:nvSpPr>
        <p:spPr>
          <a:xfrm>
            <a:off x="609600" y="1676095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4_c2_second_they_prove_automatic_dp_sgd" title="cue_s04_c2_second_they_prove_automatic_dp_sgd" descr="cue_s04_c2_second_they_prove_automatic_dp_sgd Second, they prove that automatic DP-SGD converges in the non-convex setting at the same asymptotic rate as standard SGD."/>
          <p:cNvSpPr/>
          <p:nvPr/>
        </p:nvSpPr>
        <p:spPr>
          <a:xfrm>
            <a:off x="6220358" y="1676095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4_c3_third_they_show_any_positive" title="cue_s04_c3_third_they_show_any_positive" descr="cue_s04_c3_third_they_show_any_positive Third, they show any positive constant threshold is equivalent to setting it to one, so a single default suffices."/>
          <p:cNvSpPr/>
          <p:nvPr/>
        </p:nvSpPr>
        <p:spPr>
          <a:xfrm>
            <a:off x="609600" y="3791102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4_c4_fourth_they_demonstrate_superior_res" title="cue_s04_c4_fourth_they_demonstrate_superior_res" descr="cue_s04_c4_fourth_they_demonstrate_superior_res And fourth, they demonstrate superior results across vision and language benchmarks, achievable by changing a single line of code in popular libraries."/>
          <p:cNvSpPr/>
          <p:nvPr/>
        </p:nvSpPr>
        <p:spPr>
          <a:xfrm>
            <a:off x="6220358" y="3791102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B6A8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4385" y="583406"/>
            <a:ext cx="7903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7146" y="715328"/>
            <a:ext cx="614120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From Abadi's clip to automatic clip</a:t>
            </a:r>
          </a:p>
        </p:txBody>
      </p:sp>
      <p:sp>
        <p:nvSpPr>
          <p:cNvPr id="5" name="Line 5"/>
          <p:cNvSpPr/>
          <p:nvPr/>
        </p:nvSpPr>
        <p:spPr>
          <a:xfrm>
            <a:off x="800100" y="1162050"/>
            <a:ext cx="10782300" cy="9525"/>
          </a:xfrm>
          <a:custGeom>
            <a:avLst/>
            <a:gdLst/>
            <a:ahLst/>
            <a:cxnLst/>
            <a:rect l="l" t="t" r="r" b="b"/>
            <a:pathLst>
              <a:path w="10782300" h="952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609600" y="1676400"/>
            <a:ext cx="5362575" cy="1905000"/>
            <a:chOff x="609600" y="1676400"/>
            <a:chExt cx="536257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7640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7640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857375"/>
              <a:ext cx="285750" cy="28575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0233" y="19183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2149" y="1887379"/>
              <a:ext cx="13629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Observation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2197418"/>
              <a:ext cx="2962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Small R ⇒ min(R/||g||, 1) ≈ R/||g||;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2445068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the clip almost always fires.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19825" y="1676400"/>
            <a:ext cx="5362575" cy="1905000"/>
            <a:chOff x="6219825" y="1676400"/>
            <a:chExt cx="5362575" cy="1905000"/>
          </a:xfrm>
        </p:grpSpPr>
        <p:sp>
          <p:nvSpPr>
            <p:cNvPr id="14" name="Rectangle 14"/>
            <p:cNvSpPr/>
            <p:nvPr/>
          </p:nvSpPr>
          <p:spPr>
            <a:xfrm>
              <a:off x="6219825" y="167640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19825" y="167640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2FB6A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10325" y="1857375"/>
              <a:ext cx="285750" cy="285750"/>
            </a:xfrm>
            <a:prstGeom prst="ellipse">
              <a:avLst/>
            </a:prstGeom>
            <a:solidFill>
              <a:srgbClr val="2FB6A8">
                <a:alpha val="1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00458" y="19183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B6A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2374" y="1887379"/>
              <a:ext cx="20666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AUTO-V: normalize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41567" y="2197418"/>
              <a:ext cx="2546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Drop the minimum, normalize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1567" y="2445068"/>
              <a:ext cx="25214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every gradient: g · R / ||g||.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790950"/>
            <a:ext cx="5362575" cy="1905000"/>
            <a:chOff x="609600" y="3790950"/>
            <a:chExt cx="5362575" cy="1905000"/>
          </a:xfrm>
        </p:grpSpPr>
        <p:sp>
          <p:nvSpPr>
            <p:cNvPr id="22" name="Rectangle 22"/>
            <p:cNvSpPr/>
            <p:nvPr/>
          </p:nvSpPr>
          <p:spPr>
            <a:xfrm>
              <a:off x="609600" y="379095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79095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38C08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00100" y="3971925"/>
              <a:ext cx="285750" cy="285750"/>
            </a:xfrm>
            <a:prstGeom prst="ellipse">
              <a:avLst/>
            </a:prstGeom>
            <a:solidFill>
              <a:srgbClr val="38C08A">
                <a:alpha val="1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233" y="4032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8C08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2149" y="4001929"/>
              <a:ext cx="19641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AUTO-S: stabilize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311968"/>
              <a:ext cx="2400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Add a stability constant γ: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4559618"/>
              <a:ext cx="1580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g · R / (||g|| + γ).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19825" y="3790950"/>
            <a:ext cx="5362575" cy="1905000"/>
            <a:chOff x="6219825" y="3790950"/>
            <a:chExt cx="5362575" cy="1905000"/>
          </a:xfrm>
        </p:grpSpPr>
        <p:sp>
          <p:nvSpPr>
            <p:cNvPr id="30" name="Rectangle 30"/>
            <p:cNvSpPr/>
            <p:nvPr/>
          </p:nvSpPr>
          <p:spPr>
            <a:xfrm>
              <a:off x="6219825" y="379095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19825" y="379095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E7B24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410325" y="3971925"/>
              <a:ext cx="285750" cy="285750"/>
            </a:xfrm>
            <a:prstGeom prst="ellipse">
              <a:avLst/>
            </a:prstGeom>
            <a:solidFill>
              <a:srgbClr val="E7B24C">
                <a:alpha val="1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0458" y="4032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7B24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2374" y="4001929"/>
              <a:ext cx="17213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knob fewer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1567" y="4311968"/>
              <a:ext cx="2725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Fix R = 1, γ = 0.01; a constant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1567" y="455961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threshold just rescales lr.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04838" y="6551295"/>
            <a:ext cx="26058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Automatic Clipping · Bu et al., NeurIPS 2023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08641" y="6551295"/>
            <a:ext cx="1578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E82A0"/>
                </a:solidFill>
                <a:latin typeface="Consolas"/>
                <a:ea typeface="Consolas"/>
                <a:cs typeface="Consolas"/>
              </a:rPr>
              <a:t>arxiv.org/abs/2206.07136</a:t>
            </a:r>
          </a:p>
        </p:txBody>
      </p:sp>
      <p:sp>
        <p:nvSpPr>
          <p:cNvPr id="40" name="cue_s05_c1_idea_starts_simple_observation_when" title="cue_s05_c1_idea_starts_simple_observation_when" descr="cue_s05_c1_idea_starts_simple_observation_when The idea starts from a simple observation: when the threshold is small, Abadi's clipping factor, the minimum of R over the gradient norm and one, is almost always just R over the gradient norm."/>
          <p:cNvSpPr/>
          <p:nvPr/>
        </p:nvSpPr>
        <p:spPr>
          <a:xfrm>
            <a:off x="609600" y="1676095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5_c2_authors_drop_minimum_entirely_normal" title="cue_s05_c2_authors_drop_minimum_entirely_normal" descr="cue_s05_c2_authors_drop_minimum_entirely_normal So the authors drop the minimum entirely and normalize every per-sample gradient, a variant they call AUTO-V for vanilla. This maximizes alignment between the private and true gradient, but it makes all gradients the same size, creating a lazy region where upd"/>
          <p:cNvSpPr/>
          <p:nvPr/>
        </p:nvSpPr>
        <p:spPr>
          <a:xfrm>
            <a:off x="6220358" y="1676095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5_c3_fix_they_add_small_stability" title="cue_s05_c3_fix_they_add_small_stability" descr="cue_s05_c3_fix_they_add_small_stability To fix this they add a small stability constant gamma in the denominator, giving AUTO-S: R divided by the gradient norm plus gamma. This preserves relative magnitudes, letting small gradients shrink toward zero."/>
          <p:cNvSpPr/>
          <p:nvPr/>
        </p:nvSpPr>
        <p:spPr>
          <a:xfrm>
            <a:off x="609600" y="3791102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5_c4_finally_because_any_constant_thresho" title="cue_s05_c4_finally_because_any_constant_thresho" descr="cue_s05_c4_finally_because_any_constant_thresho Finally, because any constant threshold simply rescales the learning rate, they fix R to one, and set gamma to a default of zero point zero one, leaving a fully threshold-free optimizer."/>
          <p:cNvSpPr/>
          <p:nvPr/>
        </p:nvSpPr>
        <p:spPr>
          <a:xfrm>
            <a:off x="6220358" y="3791102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4385" y="583406"/>
            <a:ext cx="12529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BENCHMARKS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7146" y="715328"/>
            <a:ext cx="605708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Evaluated across vision &amp; language</a:t>
            </a:r>
          </a:p>
        </p:txBody>
      </p:sp>
      <p:sp>
        <p:nvSpPr>
          <p:cNvPr id="5" name="Line 5"/>
          <p:cNvSpPr/>
          <p:nvPr/>
        </p:nvSpPr>
        <p:spPr>
          <a:xfrm>
            <a:off x="800100" y="1162050"/>
            <a:ext cx="10782300" cy="9525"/>
          </a:xfrm>
          <a:custGeom>
            <a:avLst/>
            <a:gdLst/>
            <a:ahLst/>
            <a:cxnLst/>
            <a:rect l="l" t="t" r="r" b="b"/>
            <a:pathLst>
              <a:path w="10782300" h="952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609600" y="1676400"/>
            <a:ext cx="5362575" cy="1905000"/>
            <a:chOff x="609600" y="1676400"/>
            <a:chExt cx="536257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7640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7640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857375"/>
              <a:ext cx="285750" cy="28575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0233" y="19183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2149" y="1887379"/>
              <a:ext cx="18206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Broad evaluation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2197418"/>
              <a:ext cx="25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Vision and language, reusing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2445068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the same recipes as prior work.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19825" y="1676400"/>
            <a:ext cx="5362575" cy="1905000"/>
            <a:chOff x="6219825" y="1676400"/>
            <a:chExt cx="5362575" cy="1905000"/>
          </a:xfrm>
        </p:grpSpPr>
        <p:sp>
          <p:nvSpPr>
            <p:cNvPr id="14" name="Rectangle 14"/>
            <p:cNvSpPr/>
            <p:nvPr/>
          </p:nvSpPr>
          <p:spPr>
            <a:xfrm>
              <a:off x="6219825" y="167640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19825" y="167640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2FB6A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10325" y="1857375"/>
              <a:ext cx="285750" cy="285750"/>
            </a:xfrm>
            <a:prstGeom prst="ellipse">
              <a:avLst/>
            </a:prstGeom>
            <a:solidFill>
              <a:srgbClr val="2FB6A8">
                <a:alpha val="1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00458" y="19183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B6A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2374" y="1887379"/>
              <a:ext cx="10056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Language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41567" y="2197418"/>
              <a:ext cx="2486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RoBERTa base/large on GLUE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1567" y="2445068"/>
              <a:ext cx="3777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(MNLI, QQP, QNLI, SST-2); GPT2 on E2E.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790950"/>
            <a:ext cx="5362575" cy="1905000"/>
            <a:chOff x="609600" y="3790950"/>
            <a:chExt cx="5362575" cy="1905000"/>
          </a:xfrm>
        </p:grpSpPr>
        <p:sp>
          <p:nvSpPr>
            <p:cNvPr id="22" name="Rectangle 22"/>
            <p:cNvSpPr/>
            <p:nvPr/>
          </p:nvSpPr>
          <p:spPr>
            <a:xfrm>
              <a:off x="609600" y="379095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79095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38C08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00100" y="3971925"/>
              <a:ext cx="285750" cy="285750"/>
            </a:xfrm>
            <a:prstGeom prst="ellipse">
              <a:avLst/>
            </a:prstGeom>
            <a:solidFill>
              <a:srgbClr val="38C08A">
                <a:alpha val="1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233" y="4032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8C08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2149" y="4001929"/>
              <a:ext cx="6472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311968"/>
              <a:ext cx="3041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CIFAR-10 (SimCLRv2), ImageNette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4559618"/>
              <a:ext cx="3063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(ResNet9), ImageNet (ResNet18).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19825" y="3790950"/>
            <a:ext cx="5362575" cy="1905000"/>
            <a:chOff x="6219825" y="3790950"/>
            <a:chExt cx="5362575" cy="1905000"/>
          </a:xfrm>
        </p:grpSpPr>
        <p:sp>
          <p:nvSpPr>
            <p:cNvPr id="30" name="Rectangle 30"/>
            <p:cNvSpPr/>
            <p:nvPr/>
          </p:nvSpPr>
          <p:spPr>
            <a:xfrm>
              <a:off x="6219825" y="379095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19825" y="379095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E7B24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410325" y="3971925"/>
              <a:ext cx="285750" cy="285750"/>
            </a:xfrm>
            <a:prstGeom prst="ellipse">
              <a:avLst/>
            </a:prstGeom>
            <a:solidFill>
              <a:srgbClr val="E7B24C">
                <a:alpha val="1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0458" y="4032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7B24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2374" y="4001929"/>
              <a:ext cx="17538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Privacy budgets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1567" y="4311968"/>
              <a:ext cx="204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ε = 3 and ε = 8, reusing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1567" y="4559618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prior hyperparameters exactly.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04838" y="6551295"/>
            <a:ext cx="26058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Automatic Clipping · Bu et al., NeurIPS 2023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08641" y="6551295"/>
            <a:ext cx="1578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E82A0"/>
                </a:solidFill>
                <a:latin typeface="Consolas"/>
                <a:ea typeface="Consolas"/>
                <a:cs typeface="Consolas"/>
              </a:rPr>
              <a:t>arxiv.org/abs/2206.07136</a:t>
            </a:r>
          </a:p>
        </p:txBody>
      </p:sp>
      <p:sp>
        <p:nvSpPr>
          <p:cNvPr id="40" name="cue_s06_c1_method_tested_broadly" title="cue_s06_c1_method_tested_broadly" descr="cue_s06_c1_method_tested_broadly The method is tested broadly."/>
          <p:cNvSpPr/>
          <p:nvPr/>
        </p:nvSpPr>
        <p:spPr>
          <a:xfrm>
            <a:off x="609600" y="1676095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6_c2_language_authors_finetune_roberta_ba" title="cue_s06_c2_language_authors_finetune_roberta_ba" descr="cue_s06_c2_language_authors_finetune_roberta_ba On language, the authors finetune RoBERTa base and large on the GLUE tasks MNLI, QQP, QNLI, and SST-2, and finetune GPT2 in three sizes for table-to-text generation on the E2E and DART datasets."/>
          <p:cNvSpPr/>
          <p:nvPr/>
        </p:nvSpPr>
        <p:spPr>
          <a:xfrm>
            <a:off x="6220358" y="1676095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6_c3_vision_they_evaluate_cifar_10_pretra" title="cue_s06_c3_vision_they_evaluate_cifar_10_pretra" descr="cue_s06_c3_vision_they_evaluate_cifar_10_pretra On vision, they evaluate CIFAR-10 with a pretrained SimCLRv2, ImageNette with a ResNet9, and ImageNet with ResNet18."/>
          <p:cNvSpPr/>
          <p:nvPr/>
        </p:nvSpPr>
        <p:spPr>
          <a:xfrm>
            <a:off x="609600" y="3791102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6_c4_they_standard_privacy_budgets_epsilo" title="cue_s06_c4_they_standard_privacy_budgets_epsilo" descr="cue_s06_c4_they_standard_privacy_budgets_epsilo They use standard privacy budgets of epsilon three and epsilon eight and reuse the exact hyperparameters of prior state-of-the-art work, changing only the clipping."/>
          <p:cNvSpPr/>
          <p:nvPr/>
        </p:nvSpPr>
        <p:spPr>
          <a:xfrm>
            <a:off x="6220358" y="3791102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8C08A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4385" y="583406"/>
            <a:ext cx="11776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7146" y="715328"/>
            <a:ext cx="743881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Matches or beats SOTA — without tuning R</a:t>
            </a:r>
          </a:p>
        </p:txBody>
      </p:sp>
      <p:sp>
        <p:nvSpPr>
          <p:cNvPr id="5" name="Line 5"/>
          <p:cNvSpPr/>
          <p:nvPr/>
        </p:nvSpPr>
        <p:spPr>
          <a:xfrm>
            <a:off x="800100" y="1162050"/>
            <a:ext cx="10782300" cy="9525"/>
          </a:xfrm>
          <a:custGeom>
            <a:avLst/>
            <a:gdLst/>
            <a:ahLst/>
            <a:cxnLst/>
            <a:rect l="l" t="t" r="r" b="b"/>
            <a:pathLst>
              <a:path w="10782300" h="952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2" name="Group 12"/>
          <p:cNvGrpSpPr/>
          <p:nvPr/>
        </p:nvGrpSpPr>
        <p:grpSpPr>
          <a:xfrm>
            <a:off x="609600" y="2000250"/>
            <a:ext cx="2586038" cy="2857500"/>
            <a:chOff x="609600" y="2000250"/>
            <a:chExt cx="2586038" cy="285750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2586038" cy="2857500"/>
            </a:xfrm>
            <a:prstGeom prst="roundRect">
              <a:avLst>
                <a:gd name="adj" fmla="val 515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000250"/>
              <a:ext cx="47625" cy="28575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199" y="2211229"/>
              <a:ext cx="121456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R tuning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723" y="2529364"/>
              <a:ext cx="1888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Tune the learning rate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2767489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only — about 5×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cheaper.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405188" y="2000250"/>
            <a:ext cx="2586038" cy="2857500"/>
            <a:chOff x="3405188" y="2000250"/>
            <a:chExt cx="2586038" cy="2857500"/>
          </a:xfrm>
        </p:grpSpPr>
        <p:sp>
          <p:nvSpPr>
            <p:cNvPr id="13" name="Rectangle 13"/>
            <p:cNvSpPr/>
            <p:nvPr/>
          </p:nvSpPr>
          <p:spPr>
            <a:xfrm>
              <a:off x="3405188" y="2000250"/>
              <a:ext cx="2586038" cy="2857500"/>
            </a:xfrm>
            <a:prstGeom prst="roundRect">
              <a:avLst>
                <a:gd name="adj" fmla="val 515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05188" y="2000250"/>
              <a:ext cx="2586038" cy="47625"/>
            </a:xfrm>
            <a:prstGeom prst="roundRect">
              <a:avLst>
                <a:gd name="adj" fmla="val 40000"/>
              </a:avLst>
            </a:prstGeom>
            <a:solidFill>
              <a:srgbClr val="2FB6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39586" y="29584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2FB6A8"/>
                  </a:solidFill>
                  <a:latin typeface="+mn-lt"/>
                  <a:ea typeface="+mn-ea"/>
                  <a:cs typeface="+mn-cs"/>
                </a:rPr>
                <a:t>64.18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70971" y="3487102"/>
              <a:ext cx="105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GPT2 E2E BLEU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56665" y="460819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ε = 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00775" y="2000250"/>
            <a:ext cx="2586038" cy="2857500"/>
            <a:chOff x="6200775" y="2000250"/>
            <a:chExt cx="2586038" cy="2857500"/>
          </a:xfrm>
        </p:grpSpPr>
        <p:sp>
          <p:nvSpPr>
            <p:cNvPr id="19" name="Rectangle 19"/>
            <p:cNvSpPr/>
            <p:nvPr/>
          </p:nvSpPr>
          <p:spPr>
            <a:xfrm>
              <a:off x="6200775" y="2000250"/>
              <a:ext cx="2586038" cy="2857500"/>
            </a:xfrm>
            <a:prstGeom prst="roundRect">
              <a:avLst>
                <a:gd name="adj" fmla="val 515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00775" y="2000250"/>
              <a:ext cx="2586038" cy="47625"/>
            </a:xfrm>
            <a:prstGeom prst="roundRect">
              <a:avLst>
                <a:gd name="adj" fmla="val 40000"/>
              </a:avLst>
            </a:prstGeom>
            <a:solidFill>
              <a:srgbClr val="38C08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1204" y="2958465"/>
              <a:ext cx="16661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38C08A"/>
                  </a:solidFill>
                  <a:latin typeface="+mn-lt"/>
                  <a:ea typeface="+mn-ea"/>
                  <a:cs typeface="+mn-cs"/>
                </a:rPr>
                <a:t>92.32%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49654" y="3487102"/>
              <a:ext cx="148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RoBERTa-base SST-2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56368" y="4608195"/>
              <a:ext cx="875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&gt; prior 91.86%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996362" y="2000250"/>
            <a:ext cx="2586038" cy="2857500"/>
            <a:chOff x="8996362" y="2000250"/>
            <a:chExt cx="2586038" cy="2857500"/>
          </a:xfrm>
        </p:grpSpPr>
        <p:sp>
          <p:nvSpPr>
            <p:cNvPr id="25" name="Rectangle 25"/>
            <p:cNvSpPr/>
            <p:nvPr/>
          </p:nvSpPr>
          <p:spPr>
            <a:xfrm>
              <a:off x="8996362" y="2000250"/>
              <a:ext cx="2586038" cy="2857500"/>
            </a:xfrm>
            <a:prstGeom prst="roundRect">
              <a:avLst>
                <a:gd name="adj" fmla="val 515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996362" y="2000250"/>
              <a:ext cx="2586038" cy="47625"/>
            </a:xfrm>
            <a:prstGeom prst="roundRect">
              <a:avLst>
                <a:gd name="adj" fmla="val 40000"/>
              </a:avLst>
            </a:prstGeom>
            <a:solidFill>
              <a:srgbClr val="E7B24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584115" y="2958465"/>
              <a:ext cx="14095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E7B24C"/>
                  </a:solidFill>
                  <a:latin typeface="+mn-lt"/>
                  <a:ea typeface="+mn-ea"/>
                  <a:cs typeface="+mn-cs"/>
                </a:rPr>
                <a:t>92.7%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02806" y="3487102"/>
              <a:ext cx="1372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CIFAR-10 SimCLRv2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47840" y="460819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ε = 2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838" y="6551295"/>
            <a:ext cx="26058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Automatic Clipping · Bu et al., NeurIPS 2023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08641" y="6551295"/>
            <a:ext cx="1578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E82A0"/>
                </a:solidFill>
                <a:latin typeface="Consolas"/>
                <a:ea typeface="Consolas"/>
                <a:cs typeface="Consolas"/>
              </a:rPr>
              <a:t>arxiv.org/abs/2206.07136</a:t>
            </a:r>
          </a:p>
        </p:txBody>
      </p:sp>
      <p:sp>
        <p:nvSpPr>
          <p:cNvPr id="33" name="cue_s07_c1_across_board_automatic_clipping_matc" title="cue_s07_c1_across_board_automatic_clipping_matc" descr="cue_s07_c1_across_board_automatic_clipping_matc Across the board, automatic clipping matches or outperforms the state of the art, and it does so without ever tuning the threshold."/>
          <p:cNvSpPr/>
          <p:nvPr/>
        </p:nvSpPr>
        <p:spPr>
          <a:xfrm>
            <a:off x="609600" y="2000478"/>
            <a:ext cx="2585923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07_c2_gpt2_text_generation_e2e_auto_s" title="cue_s07_c2_gpt2_text_generation_e2e_auto_s" descr="cue_s07_c2_gpt2_text_generation_e2e_auto_s For GPT2 text generation on E2E, AUTO-S reaches a BLEU score of sixty-four point one eight at epsilon three, edging past the prior best of sixty-three point eight five."/>
          <p:cNvSpPr/>
          <p:nvPr/>
        </p:nvSpPr>
        <p:spPr>
          <a:xfrm>
            <a:off x="3405225" y="2000478"/>
            <a:ext cx="2585923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7_c3_roberta_base_sst_2_reaches_ninety_tw" title="cue_s07_c3_roberta_base_sst_2_reaches_ninety_tw" descr="cue_s07_c3_roberta_base_sst_2_reaches_ninety_tw For RoBERTa-base on SST-2, it reaches ninety-two point three two percent, above the prior ninety-one point eight six."/>
          <p:cNvSpPr/>
          <p:nvPr/>
        </p:nvSpPr>
        <p:spPr>
          <a:xfrm>
            <a:off x="6200851" y="2000478"/>
            <a:ext cx="2585923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7_c4_cifar_10_pretrained_simclrv2_hits_ni" title="cue_s07_c4_cifar_10_pretrained_simclrv2_hits_ni" descr="cue_s07_c4_cifar_10_pretrained_simclrv2_hits_ni On CIFAR-10 with a pretrained SimCLRv2 it hits ninety-two point seven percent at epsilon two. And because only the learning rate needs searching, the tuning cost drops by about five times."/>
          <p:cNvSpPr/>
          <p:nvPr/>
        </p:nvSpPr>
        <p:spPr>
          <a:xfrm>
            <a:off x="8996476" y="2000478"/>
            <a:ext cx="2585923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B6A8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4385" y="583406"/>
            <a:ext cx="9631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ABLATION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7146" y="715328"/>
            <a:ext cx="63455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What makes automatic clipping work</a:t>
            </a:r>
          </a:p>
        </p:txBody>
      </p:sp>
      <p:sp>
        <p:nvSpPr>
          <p:cNvPr id="5" name="Line 5"/>
          <p:cNvSpPr/>
          <p:nvPr/>
        </p:nvSpPr>
        <p:spPr>
          <a:xfrm>
            <a:off x="800100" y="1162050"/>
            <a:ext cx="10782300" cy="9525"/>
          </a:xfrm>
          <a:custGeom>
            <a:avLst/>
            <a:gdLst/>
            <a:ahLst/>
            <a:cxnLst/>
            <a:rect l="l" t="t" r="r" b="b"/>
            <a:pathLst>
              <a:path w="10782300" h="952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609600" y="1676400"/>
            <a:ext cx="5362575" cy="1905000"/>
            <a:chOff x="609600" y="1676400"/>
            <a:chExt cx="536257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7640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7640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857375"/>
              <a:ext cx="285750" cy="28575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0233" y="19183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2149" y="1887379"/>
              <a:ext cx="14969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ablations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2197418"/>
              <a:ext cx="2590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Isolating the two ingredients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2445068"/>
              <a:ext cx="1631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behind the design.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19825" y="1676400"/>
            <a:ext cx="5362575" cy="1905000"/>
            <a:chOff x="6219825" y="1676400"/>
            <a:chExt cx="5362575" cy="1905000"/>
          </a:xfrm>
        </p:grpSpPr>
        <p:sp>
          <p:nvSpPr>
            <p:cNvPr id="14" name="Rectangle 14"/>
            <p:cNvSpPr/>
            <p:nvPr/>
          </p:nvSpPr>
          <p:spPr>
            <a:xfrm>
              <a:off x="6219825" y="167640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19825" y="167640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2FB6A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10325" y="1857375"/>
              <a:ext cx="285750" cy="285750"/>
            </a:xfrm>
            <a:prstGeom prst="ellipse">
              <a:avLst/>
            </a:prstGeom>
            <a:solidFill>
              <a:srgbClr val="2FB6A8">
                <a:alpha val="1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00458" y="19183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B6A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2374" y="1887379"/>
              <a:ext cx="205066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AUTO-V vs AUTO-S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41567" y="2197418"/>
              <a:ext cx="2600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Stability γ restores gradient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1567" y="2445068"/>
              <a:ext cx="2718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magnitude: AUTO-S ≥ AUTO-V.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790950"/>
            <a:ext cx="5362575" cy="1905000"/>
            <a:chOff x="609600" y="3790950"/>
            <a:chExt cx="5362575" cy="1905000"/>
          </a:xfrm>
        </p:grpSpPr>
        <p:sp>
          <p:nvSpPr>
            <p:cNvPr id="22" name="Rectangle 22"/>
            <p:cNvSpPr/>
            <p:nvPr/>
          </p:nvSpPr>
          <p:spPr>
            <a:xfrm>
              <a:off x="609600" y="379095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79095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38C08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00100" y="3971925"/>
              <a:ext cx="285750" cy="285750"/>
            </a:xfrm>
            <a:prstGeom prst="ellipse">
              <a:avLst/>
            </a:prstGeom>
            <a:solidFill>
              <a:srgbClr val="38C08A">
                <a:alpha val="1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233" y="4032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8C08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2149" y="4001929"/>
              <a:ext cx="17089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Insensitive to 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311968"/>
              <a:ext cx="2182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Sweeping γ: any positive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4559618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value works, no tuning.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19825" y="3790950"/>
            <a:ext cx="5362575" cy="1905000"/>
            <a:chOff x="6219825" y="3790950"/>
            <a:chExt cx="5362575" cy="1905000"/>
          </a:xfrm>
        </p:grpSpPr>
        <p:sp>
          <p:nvSpPr>
            <p:cNvPr id="30" name="Rectangle 30"/>
            <p:cNvSpPr/>
            <p:nvPr/>
          </p:nvSpPr>
          <p:spPr>
            <a:xfrm>
              <a:off x="6219825" y="3790950"/>
              <a:ext cx="5362575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19825" y="3790950"/>
              <a:ext cx="47625" cy="1905000"/>
            </a:xfrm>
            <a:prstGeom prst="roundRect">
              <a:avLst>
                <a:gd name="adj" fmla="val 40000"/>
              </a:avLst>
            </a:prstGeom>
            <a:solidFill>
              <a:srgbClr val="E7B24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410325" y="3971925"/>
              <a:ext cx="285750" cy="285750"/>
            </a:xfrm>
            <a:prstGeom prst="ellipse">
              <a:avLst/>
            </a:prstGeom>
            <a:solidFill>
              <a:srgbClr val="E7B24C">
                <a:alpha val="1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0458" y="4032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7B24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2374" y="4001929"/>
              <a:ext cx="16884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 × lr heatmaps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1567" y="4311968"/>
              <a:ext cx="2308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AUTO-S lands right at the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1567" y="4559618"/>
              <a:ext cx="193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best hand-tuned cell.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04838" y="6551295"/>
            <a:ext cx="26058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Automatic Clipping · Bu et al., NeurIPS 2023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08641" y="6551295"/>
            <a:ext cx="1578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E82A0"/>
                </a:solidFill>
                <a:latin typeface="Consolas"/>
                <a:ea typeface="Consolas"/>
                <a:cs typeface="Consolas"/>
              </a:rPr>
              <a:t>arxiv.org/abs/2206.07136</a:t>
            </a:r>
          </a:p>
        </p:txBody>
      </p:sp>
      <p:sp>
        <p:nvSpPr>
          <p:cNvPr id="40" name="cue_s08_c1_two_ablations_anchor_design" title="cue_s08_c1_two_ablations_anchor_design" descr="cue_s08_c1_two_ablations_anchor_design Two ablations anchor the design."/>
          <p:cNvSpPr/>
          <p:nvPr/>
        </p:nvSpPr>
        <p:spPr>
          <a:xfrm>
            <a:off x="609600" y="1676095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8_c2_first_comparing_auto_v_auto_s_shows" title="cue_s08_c2_first_comparing_auto_v_auto_s_shows" descr="cue_s08_c2_first_comparing_auto_v_auto_s_shows First, comparing AUTO-V and AUTO-S shows that once the small stability constant restores gradient magnitude, AUTO-S consistently wins, confirming that the lazy region really does hurt AUTO-V."/>
          <p:cNvSpPr/>
          <p:nvPr/>
        </p:nvSpPr>
        <p:spPr>
          <a:xfrm>
            <a:off x="6220358" y="1676095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8_c3_second_sweeping_stability_constant_g" title="cue_s08_c3_second_sweeping_stability_constant_g" descr="cue_s08_c3_second_sweeping_stability_constant_g Second, sweeping the stability constant gamma shows the method is essentially insensitive to it: any positive gamma gives the same asymptotic convergence rate, which is why a single default of zero point zero one works everywhere."/>
          <p:cNvSpPr/>
          <p:nvPr/>
        </p:nvSpPr>
        <p:spPr>
          <a:xfrm>
            <a:off x="609600" y="3791102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8_c4_heatmaps_over_threshold_learning_rat" title="cue_s08_c4_heatmaps_over_threshold_learning_rat" descr="cue_s08_c4_heatmaps_over_threshold_learning_rat Heatmaps over threshold and learning rate further show the AUTO-S result landing right at the best hand-tuned threshold."/>
          <p:cNvSpPr/>
          <p:nvPr/>
        </p:nvSpPr>
        <p:spPr>
          <a:xfrm>
            <a:off x="6220358" y="3791102"/>
            <a:ext cx="5362041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4385" y="583406"/>
            <a:ext cx="8474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7146" y="715328"/>
            <a:ext cx="301080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5" name="Line 5"/>
          <p:cNvSpPr/>
          <p:nvPr/>
        </p:nvSpPr>
        <p:spPr>
          <a:xfrm>
            <a:off x="800100" y="1162050"/>
            <a:ext cx="10782300" cy="9525"/>
          </a:xfrm>
          <a:custGeom>
            <a:avLst/>
            <a:gdLst/>
            <a:ahLst/>
            <a:cxnLst/>
            <a:rect l="l" t="t" r="r" b="b"/>
            <a:pathLst>
              <a:path w="10782300" h="952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1" name="Group 11"/>
          <p:cNvGrpSpPr/>
          <p:nvPr/>
        </p:nvGrpSpPr>
        <p:grpSpPr>
          <a:xfrm>
            <a:off x="609600" y="2000250"/>
            <a:ext cx="2586038" cy="2857500"/>
            <a:chOff x="609600" y="2000250"/>
            <a:chExt cx="2586038" cy="285750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2586038" cy="2857500"/>
            </a:xfrm>
            <a:prstGeom prst="roundRect">
              <a:avLst>
                <a:gd name="adj" fmla="val 515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000250"/>
              <a:ext cx="2586038" cy="47625"/>
            </a:xfrm>
            <a:prstGeom prst="roundRect">
              <a:avLst>
                <a:gd name="adj" fmla="val 40000"/>
              </a:avLst>
            </a:prstGeom>
            <a:solidFill>
              <a:srgbClr val="2FB6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44951" y="29584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2FB6A8"/>
                  </a:solidFill>
                  <a:latin typeface="+mn-lt"/>
                  <a:ea typeface="+mn-ea"/>
                  <a:cs typeface="+mn-cs"/>
                </a:rPr>
                <a:t>64.18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76336" y="3487102"/>
              <a:ext cx="105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GPT2 E2E BLEU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8801" y="4608195"/>
              <a:ext cx="7485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ε=3, vs 63.8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05188" y="2000250"/>
            <a:ext cx="2586038" cy="2857500"/>
            <a:chOff x="3405188" y="2000250"/>
            <a:chExt cx="2586038" cy="2857500"/>
          </a:xfrm>
        </p:grpSpPr>
        <p:sp>
          <p:nvSpPr>
            <p:cNvPr id="12" name="Rectangle 12"/>
            <p:cNvSpPr/>
            <p:nvPr/>
          </p:nvSpPr>
          <p:spPr>
            <a:xfrm>
              <a:off x="3405188" y="2000250"/>
              <a:ext cx="2586038" cy="2857500"/>
            </a:xfrm>
            <a:prstGeom prst="roundRect">
              <a:avLst>
                <a:gd name="adj" fmla="val 515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05188" y="2000250"/>
              <a:ext cx="2586038" cy="47625"/>
            </a:xfrm>
            <a:prstGeom prst="roundRect">
              <a:avLst>
                <a:gd name="adj" fmla="val 40000"/>
              </a:avLst>
            </a:prstGeom>
            <a:solidFill>
              <a:srgbClr val="38C08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64664" y="2958465"/>
              <a:ext cx="16661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38C08A"/>
                  </a:solidFill>
                  <a:latin typeface="+mn-lt"/>
                  <a:ea typeface="+mn-ea"/>
                  <a:cs typeface="+mn-cs"/>
                </a:rPr>
                <a:t>92.32%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53114" y="3487102"/>
              <a:ext cx="148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RoBERTa-base SST-2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1320" y="460819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large: 96.2%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00775" y="2000250"/>
            <a:ext cx="2586038" cy="2857500"/>
            <a:chOff x="6200775" y="2000250"/>
            <a:chExt cx="2586038" cy="2857500"/>
          </a:xfrm>
        </p:grpSpPr>
        <p:sp>
          <p:nvSpPr>
            <p:cNvPr id="18" name="Rectangle 18"/>
            <p:cNvSpPr/>
            <p:nvPr/>
          </p:nvSpPr>
          <p:spPr>
            <a:xfrm>
              <a:off x="6200775" y="2000250"/>
              <a:ext cx="2586038" cy="2857500"/>
            </a:xfrm>
            <a:prstGeom prst="roundRect">
              <a:avLst>
                <a:gd name="adj" fmla="val 515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00775" y="2000250"/>
              <a:ext cx="2586038" cy="47625"/>
            </a:xfrm>
            <a:prstGeom prst="roundRect">
              <a:avLst>
                <a:gd name="adj" fmla="val 40000"/>
              </a:avLst>
            </a:prstGeom>
            <a:solidFill>
              <a:srgbClr val="E7B24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89480" y="2958465"/>
              <a:ext cx="14095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E7B24C"/>
                  </a:solidFill>
                  <a:latin typeface="+mn-lt"/>
                  <a:ea typeface="+mn-ea"/>
                  <a:cs typeface="+mn-cs"/>
                </a:rPr>
                <a:t>92.7%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08171" y="3487102"/>
              <a:ext cx="1372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CIFAR-10 SimCLRv2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205" y="460819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ε = 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996362" y="2000250"/>
            <a:ext cx="2586038" cy="2857500"/>
            <a:chOff x="8996362" y="2000250"/>
            <a:chExt cx="2586038" cy="2857500"/>
          </a:xfrm>
        </p:grpSpPr>
        <p:sp>
          <p:nvSpPr>
            <p:cNvPr id="24" name="Rectangle 24"/>
            <p:cNvSpPr/>
            <p:nvPr/>
          </p:nvSpPr>
          <p:spPr>
            <a:xfrm>
              <a:off x="8996362" y="2000250"/>
              <a:ext cx="2586038" cy="2857500"/>
            </a:xfrm>
            <a:prstGeom prst="roundRect">
              <a:avLst>
                <a:gd name="adj" fmla="val 515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996362" y="2000250"/>
              <a:ext cx="2586038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58919" y="2958465"/>
              <a:ext cx="16599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T^−1/4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83242" y="3487102"/>
              <a:ext cx="1011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min E||g|| rate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41240" y="4608195"/>
              <a:ext cx="8953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82A0"/>
                  </a:solidFill>
                  <a:latin typeface="+mn-lt"/>
                  <a:ea typeface="+mn-ea"/>
                  <a:cs typeface="+mn-cs"/>
                </a:rPr>
                <a:t>= standard SGD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4838" y="6551295"/>
            <a:ext cx="26058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Automatic Clipping · Bu et al., NeurIPS 2023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08641" y="6551295"/>
            <a:ext cx="1578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E82A0"/>
                </a:solidFill>
                <a:latin typeface="Consolas"/>
                <a:ea typeface="Consolas"/>
                <a:cs typeface="Consolas"/>
              </a:rPr>
              <a:t>arxiv.org/abs/2206.07136</a:t>
            </a:r>
          </a:p>
        </p:txBody>
      </p:sp>
      <p:sp>
        <p:nvSpPr>
          <p:cNvPr id="32" name="cue_s09_c1_headline_numbers_gpt2_e2e_reaches" title="cue_s09_c1_headline_numbers_gpt2_e2e_reaches" descr="cue_s09_c1_headline_numbers_gpt2_e2e_reaches The headline numbers: GPT2 on E2E reaches BLEU sixty-four point one eight at epsilon three, versus sixty-three point eight five for the prior best."/>
          <p:cNvSpPr/>
          <p:nvPr/>
        </p:nvSpPr>
        <p:spPr>
          <a:xfrm>
            <a:off x="609600" y="2000478"/>
            <a:ext cx="2585923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9_c2_roberta_base_sst_2_reaches_ninety_tw" title="cue_s09_c2_roberta_base_sst_2_reaches_ninety_tw" descr="cue_s09_c2_roberta_base_sst_2_reaches_ninety_tw RoBERTa-base on SST-2 reaches ninety-two point three two percent, and RoBERTa-large on the same task reaches ninety-four point six one percent at epsilon eight."/>
          <p:cNvSpPr/>
          <p:nvPr/>
        </p:nvSpPr>
        <p:spPr>
          <a:xfrm>
            <a:off x="3405225" y="2000478"/>
            <a:ext cx="2585923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09_c3_cifar_10_simclrv2_hits_ninety_two_po" title="cue_s09_c3_cifar_10_simclrv2_hits_ninety_two_po" descr="cue_s09_c3_cifar_10_simclrv2_hits_ninety_two_po CIFAR-10 with SimCLRv2 hits ninety-two point seven percent at epsilon two. The sensitivity of the old approach is stark: on ImageNet, doubling the threshold drops ResNet18 accuracy from forty-five to thirty-one percent."/>
          <p:cNvSpPr/>
          <p:nvPr/>
        </p:nvSpPr>
        <p:spPr>
          <a:xfrm>
            <a:off x="6200851" y="2000478"/>
            <a:ext cx="2585923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9_c4_theoretically_minimum_expected_gradi" title="cue_s09_c4_theoretically_minimum_expected_gradi" descr="cue_s09_c4_theoretically_minimum_expected_gradi Theoretically, the minimum expected gradient norm shrinks at the rate T to the minus one quarter, matching standard SGD."/>
          <p:cNvSpPr/>
          <p:nvPr/>
        </p:nvSpPr>
        <p:spPr>
          <a:xfrm>
            <a:off x="8996476" y="2000478"/>
            <a:ext cx="2585923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8C08A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4385" y="583406"/>
            <a:ext cx="10049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rgbClr val="2FB6A8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7146" y="715328"/>
            <a:ext cx="497615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 need not be a critical knob</a:t>
            </a:r>
          </a:p>
        </p:txBody>
      </p:sp>
      <p:sp>
        <p:nvSpPr>
          <p:cNvPr id="5" name="Line 5"/>
          <p:cNvSpPr/>
          <p:nvPr/>
        </p:nvSpPr>
        <p:spPr>
          <a:xfrm>
            <a:off x="800100" y="1162050"/>
            <a:ext cx="10782300" cy="9525"/>
          </a:xfrm>
          <a:custGeom>
            <a:avLst/>
            <a:gdLst/>
            <a:ahLst/>
            <a:cxnLst/>
            <a:rect l="l" t="t" r="r" b="b"/>
            <a:pathLst>
              <a:path w="10782300" h="952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1" name="Group 11"/>
          <p:cNvGrpSpPr/>
          <p:nvPr/>
        </p:nvGrpSpPr>
        <p:grpSpPr>
          <a:xfrm>
            <a:off x="609600" y="1809750"/>
            <a:ext cx="3492818" cy="3238500"/>
            <a:chOff x="609600" y="1809750"/>
            <a:chExt cx="3492818" cy="3238500"/>
          </a:xfrm>
        </p:grpSpPr>
        <p:sp>
          <p:nvSpPr>
            <p:cNvPr id="6" name="Rectangle 6"/>
            <p:cNvSpPr/>
            <p:nvPr/>
          </p:nvSpPr>
          <p:spPr>
            <a:xfrm>
              <a:off x="609600" y="1809750"/>
              <a:ext cx="3492818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809750"/>
              <a:ext cx="47625" cy="32385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199" y="2020729"/>
              <a:ext cx="23792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Rethink the threshold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2330768"/>
              <a:ext cx="2245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Long treated as critical,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2578418"/>
              <a:ext cx="2346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R can simply be fixed to 1.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50068" y="1809750"/>
            <a:ext cx="3492818" cy="3238500"/>
            <a:chOff x="4350068" y="1809750"/>
            <a:chExt cx="3492818" cy="3238500"/>
          </a:xfrm>
        </p:grpSpPr>
        <p:sp>
          <p:nvSpPr>
            <p:cNvPr id="12" name="Rectangle 12"/>
            <p:cNvSpPr/>
            <p:nvPr/>
          </p:nvSpPr>
          <p:spPr>
            <a:xfrm>
              <a:off x="4350068" y="1809750"/>
              <a:ext cx="3492818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50068" y="1809750"/>
              <a:ext cx="47625" cy="3238500"/>
            </a:xfrm>
            <a:prstGeom prst="roundRect">
              <a:avLst>
                <a:gd name="adj" fmla="val 40000"/>
              </a:avLst>
            </a:prstGeom>
            <a:solidFill>
              <a:srgbClr val="2FB6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70666" y="2020729"/>
              <a:ext cx="22563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Normalize + stabilize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71810" y="2330768"/>
              <a:ext cx="2827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Per-sample normalization plus 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71810" y="2578418"/>
              <a:ext cx="2367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tiny γ matches best-tuned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71810" y="282606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accuracy.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89582" y="1809750"/>
            <a:ext cx="3492818" cy="3238500"/>
            <a:chOff x="8089582" y="1809750"/>
            <a:chExt cx="3492818" cy="3238500"/>
          </a:xfrm>
        </p:grpSpPr>
        <p:sp>
          <p:nvSpPr>
            <p:cNvPr id="19" name="Rectangle 19"/>
            <p:cNvSpPr/>
            <p:nvPr/>
          </p:nvSpPr>
          <p:spPr>
            <a:xfrm>
              <a:off x="8089582" y="1809750"/>
              <a:ext cx="3492818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089582" y="1809750"/>
              <a:ext cx="47625" cy="3238500"/>
            </a:xfrm>
            <a:prstGeom prst="roundRect">
              <a:avLst>
                <a:gd name="adj" fmla="val 40000"/>
              </a:avLst>
            </a:prstGeom>
            <a:solidFill>
              <a:srgbClr val="38C08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0181" y="2020729"/>
              <a:ext cx="17431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One-line change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11324" y="2330768"/>
              <a:ext cx="27092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Drop-in for existing libraries;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11324" y="2578418"/>
              <a:ext cx="2861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8"/>
                  </a:solidFill>
                  <a:latin typeface="+mn-lt"/>
                  <a:ea typeface="+mn-ea"/>
                  <a:cs typeface="+mn-cs"/>
                </a:rPr>
                <a:t>DP as easy as ordinary training.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04838" y="6551295"/>
            <a:ext cx="26058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E82A0"/>
                </a:solidFill>
                <a:latin typeface="+mn-lt"/>
                <a:ea typeface="+mn-ea"/>
                <a:cs typeface="+mn-cs"/>
              </a:rPr>
              <a:t>Automatic Clipping · Bu et al., NeurIPS 2023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08641" y="6551295"/>
            <a:ext cx="1578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E82A0"/>
                </a:solidFill>
                <a:latin typeface="Consolas"/>
                <a:ea typeface="Consolas"/>
                <a:cs typeface="Consolas"/>
              </a:rPr>
              <a:t>arxiv.org/abs/2206.07136</a:t>
            </a:r>
          </a:p>
        </p:txBody>
      </p:sp>
      <p:sp>
        <p:nvSpPr>
          <p:cNvPr id="27" name="cue_s10_c1_lasting_message_clipping_threshold_l" title="cue_s10_c1_lasting_message_clipping_threshold_l" descr="cue_s10_c1_lasting_message_clipping_threshold_l The lasting message is that the clipping threshold, long treated as a critical knob in differentially private training, can simply be removed."/>
          <p:cNvSpPr/>
          <p:nvPr/>
        </p:nvSpPr>
        <p:spPr>
          <a:xfrm>
            <a:off x="609600" y="1809826"/>
            <a:ext cx="3493007" cy="32383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ue_s10_c2_normalizing_per_sample_gradient_addi" title="cue_s10_c2_normalizing_per_sample_gradient_addi" descr="cue_s10_c2_normalizing_per_sample_gradient_addi By normalizing each per-sample gradient and adding a tiny stability constant, you get an optimizer that is just as private, just as fast, and just as accurate as the best hand-tuned methods, backed by a convergence guarantee matching standard SGD."/>
          <p:cNvSpPr/>
          <p:nvPr/>
        </p:nvSpPr>
        <p:spPr>
          <a:xfrm>
            <a:off x="4350105" y="1809826"/>
            <a:ext cx="3493007" cy="32383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ue_s10_c3_one_line_change_existing_libraries_w" title="cue_s10_c3_one_line_change_existing_libraries_w" descr="cue_s10_c3_one_line_change_existing_libraries_w It is a one-line change in existing libraries, which finally makes DP training about as easy as ordinary training."/>
          <p:cNvSpPr/>
          <p:nvPr/>
        </p:nvSpPr>
        <p:spPr>
          <a:xfrm>
            <a:off x="8089392" y="1809826"/>
            <a:ext cx="3493007" cy="32383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master">
  <a:themeElements>
    <a:clrScheme name="ppt_master">
      <a:dk1>
        <a:srgbClr val="E8EEF7"/>
      </a:dk1>
      <a:lt1>
        <a:srgbClr val="0E1826"/>
      </a:lt1>
      <a:dk2>
        <a:srgbClr val="E8EEF7"/>
      </a:dk2>
      <a:lt2>
        <a:srgbClr val="0E1826"/>
      </a:lt2>
      <a:accent1>
        <a:srgbClr val="4C86F0"/>
      </a:accent1>
      <a:accent2>
        <a:srgbClr val="4C86F0"/>
      </a:accent2>
      <a:accent3>
        <a:srgbClr val="4C86F0"/>
      </a:accent3>
      <a:accent4>
        <a:srgbClr val="29405F"/>
      </a:accent4>
      <a:accent5>
        <a:srgbClr val="16233A"/>
      </a:accent5>
      <a:accent6>
        <a:srgbClr val="1B2E4A"/>
      </a:accent6>
      <a:hlink>
        <a:srgbClr val="4C86F0"/>
      </a:hlink>
      <a:folHlink>
        <a:srgbClr val="4C86F0"/>
      </a:folHlink>
    </a:clrScheme>
    <a:fontScheme name="ppt_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2026-07-15T19:47:02Z</dcterms:created>
  <dcterms:modified xsi:type="dcterms:W3CDTF">2026-07-15T19:47:02Z</dcterms:modified>
  <cp:category/>
  <cp:contentStatus/>
</cp:coreProperties>
</file>
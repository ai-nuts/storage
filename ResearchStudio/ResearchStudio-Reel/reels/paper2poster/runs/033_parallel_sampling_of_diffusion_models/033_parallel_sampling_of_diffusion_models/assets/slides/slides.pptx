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_project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_project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48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1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1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9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150" kern="1200">
          <a:solidFill>
            <a:schemeClr val="tx1"/>
          </a:solidFill>
          <a:latin typeface="+mn-lt"/>
          <a:ea typeface="+mn-ea"/>
          <a:cs typeface="+mn-cs"/>
        </a:defRPr>
      </a:lvl1pPr>
      <a:lvl2pPr marL="457200" algn="l" defTabSz="457200" rtl="0" eaLnBrk="1" latinLnBrk="0" hangingPunct="1">
        <a:defRPr sz="1100" kern="1200">
          <a:solidFill>
            <a:schemeClr val="tx1"/>
          </a:solidFill>
          <a:latin typeface="+mn-lt"/>
          <a:ea typeface="+mn-ea"/>
          <a:cs typeface="+mn-cs"/>
        </a:defRPr>
      </a:lvl2pPr>
      <a:lvl3pPr marL="914400" algn="l" defTabSz="457200" rtl="0" eaLnBrk="1" latinLnBrk="0" hangingPunct="1">
        <a:defRPr sz="1000" kern="1200">
          <a:solidFill>
            <a:schemeClr val="tx1"/>
          </a:solidFill>
          <a:latin typeface="+mn-lt"/>
          <a:ea typeface="+mn-ea"/>
          <a:cs typeface="+mn-cs"/>
        </a:defRPr>
      </a:lvl3pPr>
      <a:lvl4pPr marL="1371600" algn="l" defTabSz="457200" rtl="0" eaLnBrk="1" latinLnBrk="0" hangingPunct="1">
        <a:defRPr sz="950" kern="1200">
          <a:solidFill>
            <a:schemeClr val="tx1"/>
          </a:solidFill>
          <a:latin typeface="+mn-lt"/>
          <a:ea typeface="+mn-ea"/>
          <a:cs typeface="+mn-cs"/>
        </a:defRPr>
      </a:lvl4pPr>
      <a:lvl5pPr marL="1828800" algn="l" defTabSz="457200" rtl="0" eaLnBrk="1" latinLnBrk="0" hangingPunct="1">
        <a:defRPr sz="85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5"/>
            </a:gs>
            <a:gs pos="100000">
              <a:schemeClr val="accent6"/>
            </a:gs>
          </a:gsLst>
          <a:lin ang="2700000" scaled="1"/>
        </a:gradFill>
        <a:effectLst/>
      </p:bgPr>
    </p:bg>
    <p:spTree>
      <p:nvGrpSpPr>
        <p:cNvPr id="1" name=""/>
        <p:cNvGrpSpPr/>
        <p:nvPr/>
      </p:nvGrpSpPr>
      <p:grpSpPr>
        <a:xfrm>
          <a:off x="0" y="0"/>
          <a:ext cx="0" cy="0"/>
          <a:chOff x="0" y="0"/>
          <a:chExt cx="0" cy="0"/>
        </a:xfrm>
      </p:grpSpPr>
      <p:sp>
        <p:nvSpPr>
          <p:cNvPr id="2" name="Ellipse 2"/>
          <p:cNvSpPr/>
          <p:nvPr/>
        </p:nvSpPr>
        <p:spPr>
          <a:xfrm>
            <a:off x="4191000" y="-571500"/>
            <a:ext cx="9906000" cy="6858000"/>
          </a:xfrm>
          <a:prstGeom prst="ellipse">
            <a:avLst/>
          </a:prstGeom>
          <a:gradFill>
            <a:gsLst>
              <a:gs pos="0">
                <a:schemeClr val="accent2">
                  <a:alpha val="16000"/>
                </a:schemeClr>
              </a:gs>
              <a:gs pos="100000">
                <a:schemeClr val="accent2">
                  <a:alpha val="0"/>
                </a:schemeClr>
              </a:gs>
            </a:gsLst>
            <a:path path="circle">
              <a:fillToRect l="50000" t="50000" r="50000" b="50000"/>
            </a:path>
          </a:gradFill>
          <a:ln>
            <a:noFill/>
          </a:ln>
        </p:spPr>
        <p:txBody>
          <a:bodyPr/>
          <a:p/>
        </p:txBody>
      </p:sp>
      <p:sp>
        <p:nvSpPr>
          <p:cNvPr id="3" name="Rectangle 3"/>
          <p:cNvSpPr/>
          <p:nvPr/>
        </p:nvSpPr>
        <p:spPr>
          <a:xfrm>
            <a:off x="609600" y="1143000"/>
            <a:ext cx="57150" cy="285750"/>
          </a:xfrm>
          <a:prstGeom prst="roundRect">
            <a:avLst>
              <a:gd name="adj" fmla="val 50000"/>
            </a:avLst>
          </a:prstGeom>
          <a:solidFill>
            <a:schemeClr val="accent2"/>
          </a:solidFill>
          <a:ln>
            <a:noFill/>
          </a:ln>
        </p:spPr>
        <p:txBody>
          <a:bodyPr/>
          <a:p/>
        </p:txBody>
      </p:sp>
      <p:sp>
        <p:nvSpPr>
          <p:cNvPr id="4" name="TextBox 4"/>
          <p:cNvSpPr txBox="1"/>
          <p:nvPr/>
        </p:nvSpPr>
        <p:spPr>
          <a:xfrm>
            <a:off x="794004" y="1223010"/>
            <a:ext cx="3968313" cy="234696"/>
          </a:xfrm>
          <a:prstGeom prst="rect">
            <a:avLst/>
          </a:prstGeom>
          <a:noFill/>
          <a:ln>
            <a:noFill/>
          </a:ln>
        </p:spPr>
        <p:txBody>
          <a:bodyPr wrap="none" lIns="0" tIns="0" rIns="0" bIns="0" anchor="t" anchorCtr="0">
            <a:spAutoFit/>
          </a:bodyPr>
          <a:lstStyle/>
          <a:p>
            <a:pPr algn="l"/>
            <a:r>
              <a:rPr lang="en-US" sz="1200" b="1" spc="188" dirty="0">
                <a:solidFill>
                  <a:schemeClr val="accent2"/>
                </a:solidFill>
                <a:latin typeface="+mn-lt"/>
                <a:ea typeface="+mn-ea"/>
                <a:cs typeface="+mn-cs"/>
              </a:rPr>
              <a:t>NEURIPS 2023 · STANFORD UNIVERSITY</a:t>
            </a:r>
          </a:p>
        </p:txBody>
      </p:sp>
      <p:sp>
        <p:nvSpPr>
          <p:cNvPr id="5" name="TextBox 5"/>
          <p:cNvSpPr txBox="1"/>
          <p:nvPr/>
        </p:nvSpPr>
        <p:spPr>
          <a:xfrm>
            <a:off x="590550" y="1536382"/>
            <a:ext cx="5366658" cy="904875"/>
          </a:xfrm>
          <a:prstGeom prst="rect">
            <a:avLst/>
          </a:prstGeom>
          <a:noFill/>
          <a:ln>
            <a:noFill/>
          </a:ln>
        </p:spPr>
        <p:txBody>
          <a:bodyPr wrap="none" lIns="0" tIns="0" rIns="0" bIns="0" anchor="t" anchorCtr="0">
            <a:spAutoFit/>
          </a:bodyPr>
          <a:lstStyle/>
          <a:p>
            <a:pPr algn="l"/>
            <a:r>
              <a:rPr lang="en-US" sz="4650" b="1" dirty="0">
                <a:solidFill>
                  <a:schemeClr val="dk1"/>
                </a:solidFill>
                <a:latin typeface="+mn-lt"/>
                <a:ea typeface="+mn-ea"/>
                <a:cs typeface="+mn-cs"/>
              </a:rPr>
              <a:t>Parallel Sampling</a:t>
            </a:r>
          </a:p>
        </p:txBody>
      </p:sp>
      <p:sp>
        <p:nvSpPr>
          <p:cNvPr id="6" name="TextBox 6"/>
          <p:cNvSpPr txBox="1"/>
          <p:nvPr/>
        </p:nvSpPr>
        <p:spPr>
          <a:xfrm>
            <a:off x="590550" y="2184082"/>
            <a:ext cx="6257696" cy="904875"/>
          </a:xfrm>
          <a:prstGeom prst="rect">
            <a:avLst/>
          </a:prstGeom>
          <a:noFill/>
          <a:ln>
            <a:noFill/>
          </a:ln>
        </p:spPr>
        <p:txBody>
          <a:bodyPr wrap="none" lIns="0" tIns="0" rIns="0" bIns="0" anchor="t" anchorCtr="0">
            <a:spAutoFit/>
          </a:bodyPr>
          <a:lstStyle/>
          <a:p>
            <a:pPr algn="l"/>
            <a:r>
              <a:rPr lang="en-US" sz="4650" b="1" dirty="0">
                <a:solidFill>
                  <a:schemeClr val="dk1"/>
                </a:solidFill>
                <a:latin typeface="+mn-lt"/>
                <a:ea typeface="+mn-ea"/>
                <a:cs typeface="+mn-cs"/>
              </a:rPr>
              <a:t>of Diffusion Models</a:t>
            </a:r>
          </a:p>
        </p:txBody>
      </p:sp>
      <p:sp>
        <p:nvSpPr>
          <p:cNvPr id="7" name="TextBox 7"/>
          <p:cNvSpPr txBox="1"/>
          <p:nvPr/>
        </p:nvSpPr>
        <p:spPr>
          <a:xfrm>
            <a:off x="601218" y="2965132"/>
            <a:ext cx="6037572" cy="322707"/>
          </a:xfrm>
          <a:prstGeom prst="rect">
            <a:avLst/>
          </a:prstGeom>
          <a:noFill/>
          <a:ln>
            <a:noFill/>
          </a:ln>
        </p:spPr>
        <p:txBody>
          <a:bodyPr wrap="none" lIns="0" tIns="0" rIns="0" bIns="0" anchor="t" anchorCtr="0">
            <a:spAutoFit/>
          </a:bodyPr>
          <a:lstStyle/>
          <a:p>
            <a:pPr algn="l"/>
            <a:r>
              <a:rPr lang="en-US" sz="1650" b="1" dirty="0">
                <a:solidFill>
                  <a:srgbClr val="2DD4BF"/>
                </a:solidFill>
                <a:latin typeface="+mn-lt"/>
                <a:ea typeface="+mn-ea"/>
                <a:cs typeface="+mn-cs"/>
              </a:rPr>
              <a:t>ParaDiGMS: spend parallel compute for lower latency</a:t>
            </a:r>
          </a:p>
        </p:txBody>
      </p:sp>
      <p:sp>
        <p:nvSpPr>
          <p:cNvPr id="8" name="TextBox 8"/>
          <p:cNvSpPr txBox="1"/>
          <p:nvPr/>
        </p:nvSpPr>
        <p:spPr>
          <a:xfrm>
            <a:off x="603314" y="3409712"/>
            <a:ext cx="5823550" cy="242030"/>
          </a:xfrm>
          <a:prstGeom prst="rect">
            <a:avLst/>
          </a:prstGeom>
          <a:noFill/>
          <a:ln>
            <a:noFill/>
          </a:ln>
        </p:spPr>
        <p:txBody>
          <a:bodyPr wrap="none" lIns="0" tIns="0" rIns="0" bIns="0" anchor="t" anchorCtr="0">
            <a:spAutoFit/>
          </a:bodyPr>
          <a:lstStyle/>
          <a:p>
            <a:pPr algn="l"/>
            <a:r>
              <a:rPr lang="en-US" sz="1240" dirty="0">
                <a:solidFill>
                  <a:srgbClr val="8FA3B8"/>
                </a:solidFill>
                <a:latin typeface="+mn-lt"/>
                <a:ea typeface="+mn-ea"/>
                <a:cs typeface="+mn-cs"/>
              </a:rPr>
              <a:t>Andy Shih · Suneel Belkhale · Stefano Ermon · Dorsa Sadigh · Nima Anari</a:t>
            </a:r>
          </a:p>
        </p:txBody>
      </p:sp>
      <p:sp>
        <p:nvSpPr>
          <p:cNvPr id="9" name="Rectangle 9"/>
          <p:cNvSpPr/>
          <p:nvPr/>
        </p:nvSpPr>
        <p:spPr>
          <a:xfrm>
            <a:off x="6572250" y="1428750"/>
            <a:ext cx="5010150" cy="2209800"/>
          </a:xfrm>
          <a:prstGeom prst="roundRect">
            <a:avLst>
              <a:gd name="adj" fmla="val 7759"/>
            </a:avLst>
          </a:prstGeom>
          <a:solidFill>
            <a:srgbClr val="172331"/>
          </a:solidFill>
          <a:ln w="14288">
            <a:solidFill>
              <a:schemeClr val="accent4"/>
            </a:solidFill>
          </a:ln>
        </p:spPr>
        <p:txBody>
          <a:bodyPr/>
          <a:p/>
        </p:txBody>
      </p:sp>
      <p:sp>
        <p:nvSpPr>
          <p:cNvPr id="10" name="TextBox 10"/>
          <p:cNvSpPr txBox="1"/>
          <p:nvPr/>
        </p:nvSpPr>
        <p:spPr>
          <a:xfrm>
            <a:off x="6795135" y="1631156"/>
            <a:ext cx="1559581" cy="220028"/>
          </a:xfrm>
          <a:prstGeom prst="rect">
            <a:avLst/>
          </a:prstGeom>
          <a:noFill/>
          <a:ln>
            <a:noFill/>
          </a:ln>
        </p:spPr>
        <p:txBody>
          <a:bodyPr wrap="none" lIns="0" tIns="0" rIns="0" bIns="0" anchor="t" anchorCtr="0">
            <a:spAutoFit/>
          </a:bodyPr>
          <a:lstStyle/>
          <a:p>
            <a:pPr algn="l"/>
            <a:r>
              <a:rPr lang="en-US" sz="1120" b="1" dirty="0">
                <a:solidFill>
                  <a:srgbClr val="8FA3B8"/>
                </a:solidFill>
                <a:latin typeface="+mn-lt"/>
                <a:ea typeface="+mn-ea"/>
                <a:cs typeface="+mn-cs"/>
              </a:rPr>
              <a:t>Sequential denoising</a:t>
            </a:r>
          </a:p>
        </p:txBody>
      </p:sp>
      <p:sp>
        <p:nvSpPr>
          <p:cNvPr id="11" name="Ellipse 11"/>
          <p:cNvSpPr/>
          <p:nvPr/>
        </p:nvSpPr>
        <p:spPr>
          <a:xfrm>
            <a:off x="6867525" y="1952625"/>
            <a:ext cx="171450" cy="171450"/>
          </a:xfrm>
          <a:prstGeom prst="ellipse">
            <a:avLst/>
          </a:prstGeom>
          <a:solidFill>
            <a:schemeClr val="accent2"/>
          </a:solidFill>
          <a:ln>
            <a:noFill/>
          </a:ln>
        </p:spPr>
        <p:txBody>
          <a:bodyPr/>
          <a:p/>
        </p:txBody>
      </p:sp>
      <p:sp>
        <p:nvSpPr>
          <p:cNvPr id="12" name="Line 12"/>
          <p:cNvSpPr/>
          <p:nvPr/>
        </p:nvSpPr>
        <p:spPr>
          <a:xfrm>
            <a:off x="7048500" y="2038350"/>
            <a:ext cx="247650" cy="9525"/>
          </a:xfrm>
          <a:custGeom>
            <a:avLst/>
            <a:gdLst/>
            <a:ahLst/>
            <a:cxnLst/>
            <a:rect l="l" t="t" r="r" b="b"/>
            <a:pathLst>
              <a:path w="247650" h="9525">
                <a:moveTo>
                  <a:pt x="0" y="0"/>
                </a:moveTo>
                <a:lnTo>
                  <a:pt x="247650" y="0"/>
                </a:lnTo>
              </a:path>
            </a:pathLst>
          </a:custGeom>
          <a:noFill/>
          <a:ln w="19050" cap="rnd">
            <a:solidFill>
              <a:srgbClr val="8FA3B8"/>
            </a:solidFill>
          </a:ln>
        </p:spPr>
        <p:txBody>
          <a:bodyPr/>
          <a:p/>
        </p:txBody>
      </p:sp>
      <p:sp>
        <p:nvSpPr>
          <p:cNvPr id="13" name="Ellipse 13"/>
          <p:cNvSpPr/>
          <p:nvPr/>
        </p:nvSpPr>
        <p:spPr>
          <a:xfrm>
            <a:off x="7305675" y="1952625"/>
            <a:ext cx="171450" cy="171450"/>
          </a:xfrm>
          <a:prstGeom prst="ellipse">
            <a:avLst/>
          </a:prstGeom>
          <a:solidFill>
            <a:schemeClr val="accent4"/>
          </a:solidFill>
          <a:ln>
            <a:noFill/>
          </a:ln>
        </p:spPr>
        <p:txBody>
          <a:bodyPr/>
          <a:p/>
        </p:txBody>
      </p:sp>
      <p:sp>
        <p:nvSpPr>
          <p:cNvPr id="14" name="Line 14"/>
          <p:cNvSpPr/>
          <p:nvPr/>
        </p:nvSpPr>
        <p:spPr>
          <a:xfrm>
            <a:off x="7486650" y="2038350"/>
            <a:ext cx="247650" cy="9525"/>
          </a:xfrm>
          <a:custGeom>
            <a:avLst/>
            <a:gdLst/>
            <a:ahLst/>
            <a:cxnLst/>
            <a:rect l="l" t="t" r="r" b="b"/>
            <a:pathLst>
              <a:path w="247650" h="9525">
                <a:moveTo>
                  <a:pt x="0" y="0"/>
                </a:moveTo>
                <a:lnTo>
                  <a:pt x="247650" y="0"/>
                </a:lnTo>
              </a:path>
            </a:pathLst>
          </a:custGeom>
          <a:noFill/>
          <a:ln w="19050" cap="rnd">
            <a:solidFill>
              <a:srgbClr val="8FA3B8"/>
            </a:solidFill>
          </a:ln>
        </p:spPr>
        <p:txBody>
          <a:bodyPr/>
          <a:p/>
        </p:txBody>
      </p:sp>
      <p:sp>
        <p:nvSpPr>
          <p:cNvPr id="15" name="Ellipse 15"/>
          <p:cNvSpPr/>
          <p:nvPr/>
        </p:nvSpPr>
        <p:spPr>
          <a:xfrm>
            <a:off x="7743825" y="1952625"/>
            <a:ext cx="171450" cy="171450"/>
          </a:xfrm>
          <a:prstGeom prst="ellipse">
            <a:avLst/>
          </a:prstGeom>
          <a:solidFill>
            <a:schemeClr val="accent4"/>
          </a:solidFill>
          <a:ln>
            <a:noFill/>
          </a:ln>
        </p:spPr>
        <p:txBody>
          <a:bodyPr/>
          <a:p/>
        </p:txBody>
      </p:sp>
      <p:sp>
        <p:nvSpPr>
          <p:cNvPr id="16" name="Line 16"/>
          <p:cNvSpPr/>
          <p:nvPr/>
        </p:nvSpPr>
        <p:spPr>
          <a:xfrm>
            <a:off x="7924800" y="2038350"/>
            <a:ext cx="247650" cy="9525"/>
          </a:xfrm>
          <a:custGeom>
            <a:avLst/>
            <a:gdLst/>
            <a:ahLst/>
            <a:cxnLst/>
            <a:rect l="l" t="t" r="r" b="b"/>
            <a:pathLst>
              <a:path w="247650" h="9525">
                <a:moveTo>
                  <a:pt x="0" y="0"/>
                </a:moveTo>
                <a:lnTo>
                  <a:pt x="247650" y="0"/>
                </a:lnTo>
              </a:path>
            </a:pathLst>
          </a:custGeom>
          <a:noFill/>
          <a:ln w="19050" cap="rnd">
            <a:solidFill>
              <a:srgbClr val="8FA3B8"/>
            </a:solidFill>
          </a:ln>
        </p:spPr>
        <p:txBody>
          <a:bodyPr/>
          <a:p/>
        </p:txBody>
      </p:sp>
      <p:sp>
        <p:nvSpPr>
          <p:cNvPr id="17" name="Ellipse 17"/>
          <p:cNvSpPr/>
          <p:nvPr/>
        </p:nvSpPr>
        <p:spPr>
          <a:xfrm>
            <a:off x="8181975" y="1952625"/>
            <a:ext cx="171450" cy="171450"/>
          </a:xfrm>
          <a:prstGeom prst="ellipse">
            <a:avLst/>
          </a:prstGeom>
          <a:solidFill>
            <a:schemeClr val="accent4"/>
          </a:solidFill>
          <a:ln>
            <a:noFill/>
          </a:ln>
        </p:spPr>
        <p:txBody>
          <a:bodyPr/>
          <a:p/>
        </p:txBody>
      </p:sp>
      <p:sp>
        <p:nvSpPr>
          <p:cNvPr id="18" name="Line 18"/>
          <p:cNvSpPr/>
          <p:nvPr/>
        </p:nvSpPr>
        <p:spPr>
          <a:xfrm>
            <a:off x="8362950" y="2038350"/>
            <a:ext cx="247650" cy="9525"/>
          </a:xfrm>
          <a:custGeom>
            <a:avLst/>
            <a:gdLst/>
            <a:ahLst/>
            <a:cxnLst/>
            <a:rect l="l" t="t" r="r" b="b"/>
            <a:pathLst>
              <a:path w="247650" h="9525">
                <a:moveTo>
                  <a:pt x="0" y="0"/>
                </a:moveTo>
                <a:lnTo>
                  <a:pt x="247650" y="0"/>
                </a:lnTo>
              </a:path>
            </a:pathLst>
          </a:custGeom>
          <a:noFill/>
          <a:ln w="19050" cap="rnd">
            <a:solidFill>
              <a:srgbClr val="8FA3B8"/>
            </a:solidFill>
          </a:ln>
        </p:spPr>
        <p:txBody>
          <a:bodyPr/>
          <a:p/>
        </p:txBody>
      </p:sp>
      <p:sp>
        <p:nvSpPr>
          <p:cNvPr id="19" name="Ellipse 19"/>
          <p:cNvSpPr/>
          <p:nvPr/>
        </p:nvSpPr>
        <p:spPr>
          <a:xfrm>
            <a:off x="8620125" y="1952625"/>
            <a:ext cx="171450" cy="171450"/>
          </a:xfrm>
          <a:prstGeom prst="ellipse">
            <a:avLst/>
          </a:prstGeom>
          <a:solidFill>
            <a:schemeClr val="accent4"/>
          </a:solidFill>
          <a:ln>
            <a:noFill/>
          </a:ln>
        </p:spPr>
        <p:txBody>
          <a:bodyPr/>
          <a:p/>
        </p:txBody>
      </p:sp>
      <p:sp>
        <p:nvSpPr>
          <p:cNvPr id="20" name="Line 20"/>
          <p:cNvSpPr/>
          <p:nvPr/>
        </p:nvSpPr>
        <p:spPr>
          <a:xfrm>
            <a:off x="8801100" y="2038350"/>
            <a:ext cx="247650" cy="9525"/>
          </a:xfrm>
          <a:custGeom>
            <a:avLst/>
            <a:gdLst/>
            <a:ahLst/>
            <a:cxnLst/>
            <a:rect l="l" t="t" r="r" b="b"/>
            <a:pathLst>
              <a:path w="247650" h="9525">
                <a:moveTo>
                  <a:pt x="0" y="0"/>
                </a:moveTo>
                <a:lnTo>
                  <a:pt x="247650" y="0"/>
                </a:lnTo>
              </a:path>
            </a:pathLst>
          </a:custGeom>
          <a:noFill/>
          <a:ln w="19050" cap="rnd">
            <a:solidFill>
              <a:srgbClr val="8FA3B8"/>
            </a:solidFill>
          </a:ln>
        </p:spPr>
        <p:txBody>
          <a:bodyPr/>
          <a:p/>
        </p:txBody>
      </p:sp>
      <p:sp>
        <p:nvSpPr>
          <p:cNvPr id="21" name="Ellipse 21"/>
          <p:cNvSpPr/>
          <p:nvPr/>
        </p:nvSpPr>
        <p:spPr>
          <a:xfrm>
            <a:off x="9058275" y="1952625"/>
            <a:ext cx="171450" cy="171450"/>
          </a:xfrm>
          <a:prstGeom prst="ellipse">
            <a:avLst/>
          </a:prstGeom>
          <a:solidFill>
            <a:schemeClr val="accent4"/>
          </a:solidFill>
          <a:ln>
            <a:noFill/>
          </a:ln>
        </p:spPr>
        <p:txBody>
          <a:bodyPr/>
          <a:p/>
        </p:txBody>
      </p:sp>
      <p:sp>
        <p:nvSpPr>
          <p:cNvPr id="22" name="TextBox 22"/>
          <p:cNvSpPr txBox="1"/>
          <p:nvPr/>
        </p:nvSpPr>
        <p:spPr>
          <a:xfrm>
            <a:off x="6948106" y="2233851"/>
            <a:ext cx="2226536" cy="198025"/>
          </a:xfrm>
          <a:prstGeom prst="rect">
            <a:avLst/>
          </a:prstGeom>
          <a:noFill/>
          <a:ln>
            <a:noFill/>
          </a:ln>
        </p:spPr>
        <p:txBody>
          <a:bodyPr wrap="none" lIns="0" tIns="0" rIns="0" bIns="0" anchor="t" anchorCtr="0">
            <a:spAutoFit/>
          </a:bodyPr>
          <a:lstStyle/>
          <a:p>
            <a:pPr algn="l"/>
            <a:r>
              <a:rPr lang="en-US" sz="1010" dirty="0">
                <a:solidFill>
                  <a:srgbClr val="C6D4E2"/>
                </a:solidFill>
                <a:latin typeface="+mn-lt"/>
                <a:ea typeface="+mn-ea"/>
                <a:cs typeface="+mn-cs"/>
              </a:rPr>
              <a:t>~1000 steps, one at a time → slow</a:t>
            </a:r>
          </a:p>
        </p:txBody>
      </p:sp>
      <p:sp>
        <p:nvSpPr>
          <p:cNvPr id="23" name="Line 23"/>
          <p:cNvSpPr/>
          <p:nvPr/>
        </p:nvSpPr>
        <p:spPr>
          <a:xfrm>
            <a:off x="6800850" y="2552700"/>
            <a:ext cx="4552950" cy="9525"/>
          </a:xfrm>
          <a:custGeom>
            <a:avLst/>
            <a:gdLst/>
            <a:ahLst/>
            <a:cxnLst/>
            <a:rect l="l" t="t" r="r" b="b"/>
            <a:pathLst>
              <a:path w="4552950" h="9525">
                <a:moveTo>
                  <a:pt x="0" y="0"/>
                </a:moveTo>
                <a:lnTo>
                  <a:pt x="4552950" y="0"/>
                </a:lnTo>
              </a:path>
            </a:pathLst>
          </a:custGeom>
          <a:noFill/>
          <a:ln w="9525" cap="rnd">
            <a:solidFill>
              <a:schemeClr val="accent4"/>
            </a:solidFill>
          </a:ln>
        </p:spPr>
        <p:txBody>
          <a:bodyPr/>
          <a:p/>
        </p:txBody>
      </p:sp>
      <p:sp>
        <p:nvSpPr>
          <p:cNvPr id="24" name="TextBox 24"/>
          <p:cNvSpPr txBox="1"/>
          <p:nvPr/>
        </p:nvSpPr>
        <p:spPr>
          <a:xfrm>
            <a:off x="6795135" y="2697956"/>
            <a:ext cx="1722929" cy="220028"/>
          </a:xfrm>
          <a:prstGeom prst="rect">
            <a:avLst/>
          </a:prstGeom>
          <a:noFill/>
          <a:ln>
            <a:noFill/>
          </a:ln>
        </p:spPr>
        <p:txBody>
          <a:bodyPr wrap="none" lIns="0" tIns="0" rIns="0" bIns="0" anchor="t" anchorCtr="0">
            <a:spAutoFit/>
          </a:bodyPr>
          <a:lstStyle/>
          <a:p>
            <a:pPr algn="l"/>
            <a:r>
              <a:rPr lang="en-US" sz="1120" b="1" dirty="0">
                <a:solidFill>
                  <a:srgbClr val="2DD4BF"/>
                </a:solidFill>
                <a:latin typeface="+mn-lt"/>
                <a:ea typeface="+mn-ea"/>
                <a:cs typeface="+mn-cs"/>
              </a:rPr>
              <a:t>Parallel Picard window</a:t>
            </a:r>
          </a:p>
        </p:txBody>
      </p:sp>
      <p:sp>
        <p:nvSpPr>
          <p:cNvPr id="25" name="Ellipse 25"/>
          <p:cNvSpPr/>
          <p:nvPr/>
        </p:nvSpPr>
        <p:spPr>
          <a:xfrm>
            <a:off x="6867525" y="3019425"/>
            <a:ext cx="171450" cy="171450"/>
          </a:xfrm>
          <a:prstGeom prst="ellipse">
            <a:avLst/>
          </a:prstGeom>
          <a:solidFill>
            <a:srgbClr val="2DD4BF"/>
          </a:solidFill>
          <a:ln>
            <a:noFill/>
          </a:ln>
        </p:spPr>
        <p:txBody>
          <a:bodyPr/>
          <a:p/>
        </p:txBody>
      </p:sp>
      <p:sp>
        <p:nvSpPr>
          <p:cNvPr id="26" name="Line 26"/>
          <p:cNvSpPr/>
          <p:nvPr/>
        </p:nvSpPr>
        <p:spPr>
          <a:xfrm>
            <a:off x="6953250" y="3219450"/>
            <a:ext cx="9525" cy="152400"/>
          </a:xfrm>
          <a:custGeom>
            <a:avLst/>
            <a:gdLst/>
            <a:ahLst/>
            <a:cxnLst/>
            <a:rect l="l" t="t" r="r" b="b"/>
            <a:pathLst>
              <a:path w="9525" h="152400">
                <a:moveTo>
                  <a:pt x="0" y="0"/>
                </a:moveTo>
                <a:lnTo>
                  <a:pt x="0" y="152400"/>
                </a:lnTo>
              </a:path>
            </a:pathLst>
          </a:custGeom>
          <a:noFill/>
          <a:ln w="19050" cap="rnd">
            <a:solidFill>
              <a:srgbClr val="2DD4BF"/>
            </a:solidFill>
          </a:ln>
        </p:spPr>
        <p:txBody>
          <a:bodyPr/>
          <a:p/>
        </p:txBody>
      </p:sp>
      <p:sp>
        <p:nvSpPr>
          <p:cNvPr id="27" name="Ellipse 27"/>
          <p:cNvSpPr/>
          <p:nvPr/>
        </p:nvSpPr>
        <p:spPr>
          <a:xfrm>
            <a:off x="7305675" y="3019425"/>
            <a:ext cx="171450" cy="171450"/>
          </a:xfrm>
          <a:prstGeom prst="ellipse">
            <a:avLst/>
          </a:prstGeom>
          <a:solidFill>
            <a:srgbClr val="2DD4BF"/>
          </a:solidFill>
          <a:ln>
            <a:noFill/>
          </a:ln>
        </p:spPr>
        <p:txBody>
          <a:bodyPr/>
          <a:p/>
        </p:txBody>
      </p:sp>
      <p:sp>
        <p:nvSpPr>
          <p:cNvPr id="28" name="Line 28"/>
          <p:cNvSpPr/>
          <p:nvPr/>
        </p:nvSpPr>
        <p:spPr>
          <a:xfrm>
            <a:off x="7391400" y="3219450"/>
            <a:ext cx="9525" cy="152400"/>
          </a:xfrm>
          <a:custGeom>
            <a:avLst/>
            <a:gdLst/>
            <a:ahLst/>
            <a:cxnLst/>
            <a:rect l="l" t="t" r="r" b="b"/>
            <a:pathLst>
              <a:path w="9525" h="152400">
                <a:moveTo>
                  <a:pt x="0" y="0"/>
                </a:moveTo>
                <a:lnTo>
                  <a:pt x="0" y="152400"/>
                </a:lnTo>
              </a:path>
            </a:pathLst>
          </a:custGeom>
          <a:noFill/>
          <a:ln w="19050" cap="rnd">
            <a:solidFill>
              <a:srgbClr val="2DD4BF"/>
            </a:solidFill>
          </a:ln>
        </p:spPr>
        <p:txBody>
          <a:bodyPr/>
          <a:p/>
        </p:txBody>
      </p:sp>
      <p:sp>
        <p:nvSpPr>
          <p:cNvPr id="29" name="Ellipse 29"/>
          <p:cNvSpPr/>
          <p:nvPr/>
        </p:nvSpPr>
        <p:spPr>
          <a:xfrm>
            <a:off x="7743825" y="3019425"/>
            <a:ext cx="171450" cy="171450"/>
          </a:xfrm>
          <a:prstGeom prst="ellipse">
            <a:avLst/>
          </a:prstGeom>
          <a:solidFill>
            <a:srgbClr val="2DD4BF"/>
          </a:solidFill>
          <a:ln>
            <a:noFill/>
          </a:ln>
        </p:spPr>
        <p:txBody>
          <a:bodyPr/>
          <a:p/>
        </p:txBody>
      </p:sp>
      <p:sp>
        <p:nvSpPr>
          <p:cNvPr id="30" name="Line 30"/>
          <p:cNvSpPr/>
          <p:nvPr/>
        </p:nvSpPr>
        <p:spPr>
          <a:xfrm>
            <a:off x="7829550" y="3219450"/>
            <a:ext cx="9525" cy="152400"/>
          </a:xfrm>
          <a:custGeom>
            <a:avLst/>
            <a:gdLst/>
            <a:ahLst/>
            <a:cxnLst/>
            <a:rect l="l" t="t" r="r" b="b"/>
            <a:pathLst>
              <a:path w="9525" h="152400">
                <a:moveTo>
                  <a:pt x="0" y="0"/>
                </a:moveTo>
                <a:lnTo>
                  <a:pt x="0" y="152400"/>
                </a:lnTo>
              </a:path>
            </a:pathLst>
          </a:custGeom>
          <a:noFill/>
          <a:ln w="19050" cap="rnd">
            <a:solidFill>
              <a:srgbClr val="2DD4BF"/>
            </a:solidFill>
          </a:ln>
        </p:spPr>
        <p:txBody>
          <a:bodyPr/>
          <a:p/>
        </p:txBody>
      </p:sp>
      <p:sp>
        <p:nvSpPr>
          <p:cNvPr id="31" name="Ellipse 31"/>
          <p:cNvSpPr/>
          <p:nvPr/>
        </p:nvSpPr>
        <p:spPr>
          <a:xfrm>
            <a:off x="8181975" y="3019425"/>
            <a:ext cx="171450" cy="171450"/>
          </a:xfrm>
          <a:prstGeom prst="ellipse">
            <a:avLst/>
          </a:prstGeom>
          <a:solidFill>
            <a:srgbClr val="2DD4BF"/>
          </a:solidFill>
          <a:ln>
            <a:noFill/>
          </a:ln>
        </p:spPr>
        <p:txBody>
          <a:bodyPr/>
          <a:p/>
        </p:txBody>
      </p:sp>
      <p:sp>
        <p:nvSpPr>
          <p:cNvPr id="32" name="Line 32"/>
          <p:cNvSpPr/>
          <p:nvPr/>
        </p:nvSpPr>
        <p:spPr>
          <a:xfrm>
            <a:off x="8267700" y="3219450"/>
            <a:ext cx="9525" cy="152400"/>
          </a:xfrm>
          <a:custGeom>
            <a:avLst/>
            <a:gdLst/>
            <a:ahLst/>
            <a:cxnLst/>
            <a:rect l="l" t="t" r="r" b="b"/>
            <a:pathLst>
              <a:path w="9525" h="152400">
                <a:moveTo>
                  <a:pt x="0" y="0"/>
                </a:moveTo>
                <a:lnTo>
                  <a:pt x="0" y="152400"/>
                </a:lnTo>
              </a:path>
            </a:pathLst>
          </a:custGeom>
          <a:noFill/>
          <a:ln w="19050" cap="rnd">
            <a:solidFill>
              <a:srgbClr val="2DD4BF"/>
            </a:solidFill>
          </a:ln>
        </p:spPr>
        <p:txBody>
          <a:bodyPr/>
          <a:p/>
        </p:txBody>
      </p:sp>
      <p:sp>
        <p:nvSpPr>
          <p:cNvPr id="33" name="Ellipse 33"/>
          <p:cNvSpPr/>
          <p:nvPr/>
        </p:nvSpPr>
        <p:spPr>
          <a:xfrm>
            <a:off x="8620125" y="3019425"/>
            <a:ext cx="171450" cy="171450"/>
          </a:xfrm>
          <a:prstGeom prst="ellipse">
            <a:avLst/>
          </a:prstGeom>
          <a:solidFill>
            <a:srgbClr val="2DD4BF"/>
          </a:solidFill>
          <a:ln>
            <a:noFill/>
          </a:ln>
        </p:spPr>
        <p:txBody>
          <a:bodyPr/>
          <a:p/>
        </p:txBody>
      </p:sp>
      <p:sp>
        <p:nvSpPr>
          <p:cNvPr id="34" name="Line 34"/>
          <p:cNvSpPr/>
          <p:nvPr/>
        </p:nvSpPr>
        <p:spPr>
          <a:xfrm>
            <a:off x="8705850" y="3219450"/>
            <a:ext cx="9525" cy="152400"/>
          </a:xfrm>
          <a:custGeom>
            <a:avLst/>
            <a:gdLst/>
            <a:ahLst/>
            <a:cxnLst/>
            <a:rect l="l" t="t" r="r" b="b"/>
            <a:pathLst>
              <a:path w="9525" h="152400">
                <a:moveTo>
                  <a:pt x="0" y="0"/>
                </a:moveTo>
                <a:lnTo>
                  <a:pt x="0" y="152400"/>
                </a:lnTo>
              </a:path>
            </a:pathLst>
          </a:custGeom>
          <a:noFill/>
          <a:ln w="19050" cap="rnd">
            <a:solidFill>
              <a:srgbClr val="2DD4BF"/>
            </a:solidFill>
          </a:ln>
        </p:spPr>
        <p:txBody>
          <a:bodyPr/>
          <a:p/>
        </p:txBody>
      </p:sp>
      <p:sp>
        <p:nvSpPr>
          <p:cNvPr id="35" name="Ellipse 35"/>
          <p:cNvSpPr/>
          <p:nvPr/>
        </p:nvSpPr>
        <p:spPr>
          <a:xfrm>
            <a:off x="9058275" y="3019425"/>
            <a:ext cx="171450" cy="171450"/>
          </a:xfrm>
          <a:prstGeom prst="ellipse">
            <a:avLst/>
          </a:prstGeom>
          <a:solidFill>
            <a:srgbClr val="2DD4BF"/>
          </a:solidFill>
          <a:ln>
            <a:noFill/>
          </a:ln>
        </p:spPr>
        <p:txBody>
          <a:bodyPr/>
          <a:p/>
        </p:txBody>
      </p:sp>
      <p:sp>
        <p:nvSpPr>
          <p:cNvPr id="36" name="Line 36"/>
          <p:cNvSpPr/>
          <p:nvPr/>
        </p:nvSpPr>
        <p:spPr>
          <a:xfrm>
            <a:off x="9144000" y="3219450"/>
            <a:ext cx="9525" cy="152400"/>
          </a:xfrm>
          <a:custGeom>
            <a:avLst/>
            <a:gdLst/>
            <a:ahLst/>
            <a:cxnLst/>
            <a:rect l="l" t="t" r="r" b="b"/>
            <a:pathLst>
              <a:path w="9525" h="152400">
                <a:moveTo>
                  <a:pt x="0" y="0"/>
                </a:moveTo>
                <a:lnTo>
                  <a:pt x="0" y="152400"/>
                </a:lnTo>
              </a:path>
            </a:pathLst>
          </a:custGeom>
          <a:noFill/>
          <a:ln w="19050" cap="rnd">
            <a:solidFill>
              <a:srgbClr val="2DD4BF"/>
            </a:solidFill>
          </a:ln>
        </p:spPr>
        <p:txBody>
          <a:bodyPr/>
          <a:p/>
        </p:txBody>
      </p:sp>
      <p:sp>
        <p:nvSpPr>
          <p:cNvPr id="37" name="Rectangle 37"/>
          <p:cNvSpPr/>
          <p:nvPr/>
        </p:nvSpPr>
        <p:spPr>
          <a:xfrm>
            <a:off x="6838950" y="2952750"/>
            <a:ext cx="2400300" cy="323850"/>
          </a:xfrm>
          <a:prstGeom prst="roundRect">
            <a:avLst>
              <a:gd name="adj" fmla="val 23529"/>
            </a:avLst>
          </a:prstGeom>
          <a:noFill/>
          <a:ln w="14288">
            <a:solidFill>
              <a:srgbClr val="2DD4BF"/>
            </a:solidFill>
            <a:prstDash val="dash"/>
          </a:ln>
        </p:spPr>
        <p:txBody>
          <a:bodyPr/>
          <a:p/>
        </p:txBody>
      </p:sp>
      <p:sp>
        <p:nvSpPr>
          <p:cNvPr id="38" name="TextBox 38"/>
          <p:cNvSpPr txBox="1"/>
          <p:nvPr/>
        </p:nvSpPr>
        <p:spPr>
          <a:xfrm>
            <a:off x="6948106" y="3434001"/>
            <a:ext cx="2829886" cy="198025"/>
          </a:xfrm>
          <a:prstGeom prst="rect">
            <a:avLst/>
          </a:prstGeom>
          <a:noFill/>
          <a:ln>
            <a:noFill/>
          </a:ln>
        </p:spPr>
        <p:txBody>
          <a:bodyPr wrap="none" lIns="0" tIns="0" rIns="0" bIns="0" anchor="t" anchorCtr="0">
            <a:spAutoFit/>
          </a:bodyPr>
          <a:lstStyle/>
          <a:p>
            <a:pPr algn="l"/>
            <a:r>
              <a:rPr lang="en-US" sz="1010" b="1" dirty="0">
                <a:solidFill>
                  <a:srgbClr val="34D399"/>
                </a:solidFill>
                <a:latin typeface="+mn-lt"/>
                <a:ea typeface="+mn-ea"/>
                <a:cs typeface="+mn-cs"/>
              </a:rPr>
              <a:t>all steps refined together → 2–4× faster</a:t>
            </a:r>
          </a:p>
        </p:txBody>
      </p:sp>
      <p:grpSp>
        <p:nvGrpSpPr>
          <p:cNvPr id="46" name="Group 46"/>
          <p:cNvGrpSpPr/>
          <p:nvPr/>
        </p:nvGrpSpPr>
        <p:grpSpPr>
          <a:xfrm>
            <a:off x="609600" y="4095750"/>
            <a:ext cx="2667000" cy="2000250"/>
            <a:chOff x="609600" y="4095750"/>
            <a:chExt cx="2667000" cy="2000250"/>
          </a:xfrm>
        </p:grpSpPr>
        <p:sp>
          <p:nvSpPr>
            <p:cNvPr id="39" name="Rectangle 39"/>
            <p:cNvSpPr/>
            <p:nvPr/>
          </p:nvSpPr>
          <p:spPr>
            <a:xfrm>
              <a:off x="609600" y="4095750"/>
              <a:ext cx="2667000" cy="2000250"/>
            </a:xfrm>
            <a:prstGeom prst="roundRect">
              <a:avLst>
                <a:gd name="adj" fmla="val 7619"/>
              </a:avLst>
            </a:prstGeom>
            <a:solidFill>
              <a:srgbClr val="172331"/>
            </a:solidFill>
            <a:ln w="14288">
              <a:solidFill>
                <a:schemeClr val="accent4"/>
              </a:solidFill>
            </a:ln>
          </p:spPr>
        </p:sp>
        <p:sp>
          <p:nvSpPr>
            <p:cNvPr id="40" name="Rectangle 40"/>
            <p:cNvSpPr/>
            <p:nvPr/>
          </p:nvSpPr>
          <p:spPr>
            <a:xfrm>
              <a:off x="609600" y="4229100"/>
              <a:ext cx="47625" cy="1733550"/>
            </a:xfrm>
            <a:prstGeom prst="roundRect">
              <a:avLst>
                <a:gd name="adj" fmla="val 50000"/>
              </a:avLst>
            </a:prstGeom>
            <a:solidFill>
              <a:srgbClr val="FBBF24"/>
            </a:solidFill>
            <a:ln>
              <a:noFill/>
            </a:ln>
          </p:spPr>
        </p:sp>
        <p:sp>
          <p:nvSpPr>
            <p:cNvPr id="41" name="Ellipse 41"/>
            <p:cNvSpPr/>
            <p:nvPr/>
          </p:nvSpPr>
          <p:spPr>
            <a:xfrm>
              <a:off x="771525" y="4352925"/>
              <a:ext cx="247650" cy="247650"/>
            </a:xfrm>
            <a:prstGeom prst="ellipse">
              <a:avLst/>
            </a:prstGeom>
            <a:solidFill>
              <a:srgbClr val="FBBF24"/>
            </a:solidFill>
            <a:ln>
              <a:noFill/>
            </a:ln>
          </p:spPr>
        </p:sp>
        <p:sp>
          <p:nvSpPr>
            <p:cNvPr id="42" name="TextBox 42"/>
            <p:cNvSpPr txBox="1"/>
            <p:nvPr/>
          </p:nvSpPr>
          <p:spPr>
            <a:xfrm>
              <a:off x="846099" y="4402931"/>
              <a:ext cx="98502" cy="220028"/>
            </a:xfrm>
            <a:prstGeom prst="rect">
              <a:avLst/>
            </a:prstGeom>
            <a:noFill/>
            <a:ln>
              <a:noFill/>
            </a:ln>
          </p:spPr>
          <p:txBody>
            <a:bodyPr wrap="none" lIns="0" tIns="0" rIns="0" bIns="0" anchor="t" anchorCtr="0">
              <a:spAutoFit/>
            </a:bodyPr>
            <a:lstStyle/>
            <a:p>
              <a:pPr algn="ctr"/>
              <a:r>
                <a:rPr lang="en-US" sz="1120" b="1" dirty="0">
                  <a:solidFill>
                    <a:srgbClr val="0B1119"/>
                  </a:solidFill>
                  <a:latin typeface="+mn-lt"/>
                  <a:ea typeface="+mn-ea"/>
                  <a:cs typeface="+mn-cs"/>
                </a:rPr>
                <a:t>1</a:t>
              </a:r>
            </a:p>
          </p:txBody>
        </p:sp>
        <p:sp>
          <p:nvSpPr>
            <p:cNvPr id="43" name="TextBox 43"/>
            <p:cNvSpPr txBox="1"/>
            <p:nvPr/>
          </p:nvSpPr>
          <p:spPr>
            <a:xfrm>
              <a:off x="811530" y="4810125"/>
              <a:ext cx="152772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Slow to sample</a:t>
              </a:r>
            </a:p>
          </p:txBody>
        </p:sp>
        <p:sp>
          <p:nvSpPr>
            <p:cNvPr id="44" name="TextBox 44"/>
            <p:cNvSpPr txBox="1"/>
            <p:nvPr/>
          </p:nvSpPr>
          <p:spPr>
            <a:xfrm>
              <a:off x="813435" y="5193506"/>
              <a:ext cx="1896110" cy="220028"/>
            </a:xfrm>
            <a:prstGeom prst="rect">
              <a:avLst/>
            </a:prstGeom>
            <a:noFill/>
            <a:ln>
              <a:noFill/>
            </a:ln>
          </p:spPr>
          <p:txBody>
            <a:bodyPr wrap="none" lIns="0" tIns="0" rIns="0" bIns="0" anchor="t" anchorCtr="0">
              <a:spAutoFit/>
            </a:bodyPr>
            <a:lstStyle/>
            <a:p>
              <a:pPr algn="l"/>
              <a:r>
                <a:rPr lang="en-US" sz="1120" dirty="0">
                  <a:solidFill>
                    <a:srgbClr val="C6D4E2"/>
                  </a:solidFill>
                  <a:latin typeface="+mn-lt"/>
                  <a:ea typeface="+mn-ea"/>
                  <a:cs typeface="+mn-cs"/>
                </a:rPr>
                <a:t>1000 sequential steps per</a:t>
              </a:r>
            </a:p>
          </p:txBody>
        </p:sp>
        <p:sp>
          <p:nvSpPr>
            <p:cNvPr id="45" name="TextBox 45"/>
            <p:cNvSpPr txBox="1"/>
            <p:nvPr/>
          </p:nvSpPr>
          <p:spPr>
            <a:xfrm>
              <a:off x="813435" y="5403056"/>
              <a:ext cx="418521" cy="220028"/>
            </a:xfrm>
            <a:prstGeom prst="rect">
              <a:avLst/>
            </a:prstGeom>
            <a:noFill/>
            <a:ln>
              <a:noFill/>
            </a:ln>
          </p:spPr>
          <p:txBody>
            <a:bodyPr wrap="none" lIns="0" tIns="0" rIns="0" bIns="0" anchor="t" anchorCtr="0">
              <a:spAutoFit/>
            </a:bodyPr>
            <a:lstStyle/>
            <a:p>
              <a:pPr algn="l"/>
              <a:r>
                <a:rPr lang="en-US" sz="1120" dirty="0">
                  <a:solidFill>
                    <a:srgbClr val="C6D4E2"/>
                  </a:solidFill>
                  <a:latin typeface="+mn-lt"/>
                  <a:ea typeface="+mn-ea"/>
                  <a:cs typeface="+mn-cs"/>
                </a:rPr>
                <a:t>image</a:t>
              </a:r>
            </a:p>
          </p:txBody>
        </p:sp>
      </p:grpSp>
      <p:grpSp>
        <p:nvGrpSpPr>
          <p:cNvPr id="54" name="Group 54"/>
          <p:cNvGrpSpPr/>
          <p:nvPr/>
        </p:nvGrpSpPr>
        <p:grpSpPr>
          <a:xfrm>
            <a:off x="3429000" y="4095750"/>
            <a:ext cx="2667000" cy="2000250"/>
            <a:chOff x="3429000" y="4095750"/>
            <a:chExt cx="2667000" cy="2000250"/>
          </a:xfrm>
        </p:grpSpPr>
        <p:sp>
          <p:nvSpPr>
            <p:cNvPr id="47" name="Rectangle 47"/>
            <p:cNvSpPr/>
            <p:nvPr/>
          </p:nvSpPr>
          <p:spPr>
            <a:xfrm>
              <a:off x="3429000" y="4095750"/>
              <a:ext cx="2667000" cy="2000250"/>
            </a:xfrm>
            <a:prstGeom prst="roundRect">
              <a:avLst>
                <a:gd name="adj" fmla="val 7619"/>
              </a:avLst>
            </a:prstGeom>
            <a:solidFill>
              <a:srgbClr val="172331"/>
            </a:solidFill>
            <a:ln w="14288">
              <a:solidFill>
                <a:schemeClr val="accent4"/>
              </a:solidFill>
            </a:ln>
          </p:spPr>
        </p:sp>
        <p:sp>
          <p:nvSpPr>
            <p:cNvPr id="48" name="Rectangle 48"/>
            <p:cNvSpPr/>
            <p:nvPr/>
          </p:nvSpPr>
          <p:spPr>
            <a:xfrm>
              <a:off x="3429000" y="4229100"/>
              <a:ext cx="47625" cy="1733550"/>
            </a:xfrm>
            <a:prstGeom prst="roundRect">
              <a:avLst>
                <a:gd name="adj" fmla="val 50000"/>
              </a:avLst>
            </a:prstGeom>
            <a:solidFill>
              <a:schemeClr val="accent2"/>
            </a:solidFill>
            <a:ln>
              <a:noFill/>
            </a:ln>
          </p:spPr>
        </p:sp>
        <p:sp>
          <p:nvSpPr>
            <p:cNvPr id="49" name="Ellipse 49"/>
            <p:cNvSpPr/>
            <p:nvPr/>
          </p:nvSpPr>
          <p:spPr>
            <a:xfrm>
              <a:off x="3590925" y="4352925"/>
              <a:ext cx="247650" cy="247650"/>
            </a:xfrm>
            <a:prstGeom prst="ellipse">
              <a:avLst/>
            </a:prstGeom>
            <a:solidFill>
              <a:schemeClr val="accent2"/>
            </a:solidFill>
            <a:ln>
              <a:noFill/>
            </a:ln>
          </p:spPr>
        </p:sp>
        <p:sp>
          <p:nvSpPr>
            <p:cNvPr id="50" name="TextBox 50"/>
            <p:cNvSpPr txBox="1"/>
            <p:nvPr/>
          </p:nvSpPr>
          <p:spPr>
            <a:xfrm>
              <a:off x="3665499" y="4402931"/>
              <a:ext cx="98502" cy="220028"/>
            </a:xfrm>
            <a:prstGeom prst="rect">
              <a:avLst/>
            </a:prstGeom>
            <a:noFill/>
            <a:ln>
              <a:noFill/>
            </a:ln>
          </p:spPr>
          <p:txBody>
            <a:bodyPr wrap="none" lIns="0" tIns="0" rIns="0" bIns="0" anchor="t" anchorCtr="0">
              <a:spAutoFit/>
            </a:bodyPr>
            <a:lstStyle/>
            <a:p>
              <a:pPr algn="ctr"/>
              <a:r>
                <a:rPr lang="en-US" sz="1120" b="1" dirty="0">
                  <a:solidFill>
                    <a:srgbClr val="0B1119"/>
                  </a:solidFill>
                  <a:latin typeface="+mn-lt"/>
                  <a:ea typeface="+mn-ea"/>
                  <a:cs typeface="+mn-cs"/>
                </a:rPr>
                <a:t>2</a:t>
              </a:r>
            </a:p>
          </p:txBody>
        </p:sp>
        <p:sp>
          <p:nvSpPr>
            <p:cNvPr id="51" name="TextBox 51"/>
            <p:cNvSpPr txBox="1"/>
            <p:nvPr/>
          </p:nvSpPr>
          <p:spPr>
            <a:xfrm>
              <a:off x="3630930" y="4810125"/>
              <a:ext cx="2142173"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A different question</a:t>
              </a:r>
            </a:p>
          </p:txBody>
        </p:sp>
        <p:sp>
          <p:nvSpPr>
            <p:cNvPr id="52" name="TextBox 52"/>
            <p:cNvSpPr txBox="1"/>
            <p:nvPr/>
          </p:nvSpPr>
          <p:spPr>
            <a:xfrm>
              <a:off x="3632835" y="5193506"/>
              <a:ext cx="1963958" cy="220028"/>
            </a:xfrm>
            <a:prstGeom prst="rect">
              <a:avLst/>
            </a:prstGeom>
            <a:noFill/>
            <a:ln>
              <a:noFill/>
            </a:ln>
          </p:spPr>
          <p:txBody>
            <a:bodyPr wrap="none" lIns="0" tIns="0" rIns="0" bIns="0" anchor="t" anchorCtr="0">
              <a:spAutoFit/>
            </a:bodyPr>
            <a:lstStyle/>
            <a:p>
              <a:pPr algn="l"/>
              <a:r>
                <a:rPr lang="en-US" sz="1120" dirty="0">
                  <a:solidFill>
                    <a:srgbClr val="C6D4E2"/>
                  </a:solidFill>
                  <a:latin typeface="+mn-lt"/>
                  <a:ea typeface="+mn-ea"/>
                  <a:cs typeface="+mn-cs"/>
                </a:rPr>
                <a:t>keep every step, run them</a:t>
              </a:r>
            </a:p>
          </p:txBody>
        </p:sp>
        <p:sp>
          <p:nvSpPr>
            <p:cNvPr id="53" name="TextBox 53"/>
            <p:cNvSpPr txBox="1"/>
            <p:nvPr/>
          </p:nvSpPr>
          <p:spPr>
            <a:xfrm>
              <a:off x="3632835" y="5403056"/>
              <a:ext cx="735147" cy="220028"/>
            </a:xfrm>
            <a:prstGeom prst="rect">
              <a:avLst/>
            </a:prstGeom>
            <a:noFill/>
            <a:ln>
              <a:noFill/>
            </a:ln>
          </p:spPr>
          <p:txBody>
            <a:bodyPr wrap="none" lIns="0" tIns="0" rIns="0" bIns="0" anchor="t" anchorCtr="0">
              <a:spAutoFit/>
            </a:bodyPr>
            <a:lstStyle/>
            <a:p>
              <a:pPr algn="l"/>
              <a:r>
                <a:rPr lang="en-US" sz="1120" dirty="0">
                  <a:solidFill>
                    <a:srgbClr val="C6D4E2"/>
                  </a:solidFill>
                  <a:latin typeface="+mn-lt"/>
                  <a:ea typeface="+mn-ea"/>
                  <a:cs typeface="+mn-cs"/>
                </a:rPr>
                <a:t>in parallel</a:t>
              </a:r>
            </a:p>
          </p:txBody>
        </p:sp>
      </p:grpSp>
      <p:grpSp>
        <p:nvGrpSpPr>
          <p:cNvPr id="62" name="Group 62"/>
          <p:cNvGrpSpPr/>
          <p:nvPr/>
        </p:nvGrpSpPr>
        <p:grpSpPr>
          <a:xfrm>
            <a:off x="6248400" y="4095750"/>
            <a:ext cx="2667000" cy="2000250"/>
            <a:chOff x="6248400" y="4095750"/>
            <a:chExt cx="2667000" cy="2000250"/>
          </a:xfrm>
        </p:grpSpPr>
        <p:sp>
          <p:nvSpPr>
            <p:cNvPr id="55" name="Rectangle 55"/>
            <p:cNvSpPr/>
            <p:nvPr/>
          </p:nvSpPr>
          <p:spPr>
            <a:xfrm>
              <a:off x="6248400" y="4095750"/>
              <a:ext cx="2667000" cy="2000250"/>
            </a:xfrm>
            <a:prstGeom prst="roundRect">
              <a:avLst>
                <a:gd name="adj" fmla="val 7619"/>
              </a:avLst>
            </a:prstGeom>
            <a:solidFill>
              <a:srgbClr val="172331"/>
            </a:solidFill>
            <a:ln w="14288">
              <a:solidFill>
                <a:schemeClr val="accent4"/>
              </a:solidFill>
            </a:ln>
          </p:spPr>
        </p:sp>
        <p:sp>
          <p:nvSpPr>
            <p:cNvPr id="56" name="Rectangle 56"/>
            <p:cNvSpPr/>
            <p:nvPr/>
          </p:nvSpPr>
          <p:spPr>
            <a:xfrm>
              <a:off x="6248400" y="4229100"/>
              <a:ext cx="47625" cy="1733550"/>
            </a:xfrm>
            <a:prstGeom prst="roundRect">
              <a:avLst>
                <a:gd name="adj" fmla="val 50000"/>
              </a:avLst>
            </a:prstGeom>
            <a:solidFill>
              <a:srgbClr val="2DD4BF"/>
            </a:solidFill>
            <a:ln>
              <a:noFill/>
            </a:ln>
          </p:spPr>
        </p:sp>
        <p:sp>
          <p:nvSpPr>
            <p:cNvPr id="57" name="Ellipse 57"/>
            <p:cNvSpPr/>
            <p:nvPr/>
          </p:nvSpPr>
          <p:spPr>
            <a:xfrm>
              <a:off x="6410325" y="4352925"/>
              <a:ext cx="247650" cy="247650"/>
            </a:xfrm>
            <a:prstGeom prst="ellipse">
              <a:avLst/>
            </a:prstGeom>
            <a:solidFill>
              <a:srgbClr val="2DD4BF"/>
            </a:solidFill>
            <a:ln>
              <a:noFill/>
            </a:ln>
          </p:spPr>
        </p:sp>
        <p:sp>
          <p:nvSpPr>
            <p:cNvPr id="58" name="TextBox 58"/>
            <p:cNvSpPr txBox="1"/>
            <p:nvPr/>
          </p:nvSpPr>
          <p:spPr>
            <a:xfrm>
              <a:off x="6484899" y="4402931"/>
              <a:ext cx="98502" cy="220028"/>
            </a:xfrm>
            <a:prstGeom prst="rect">
              <a:avLst/>
            </a:prstGeom>
            <a:noFill/>
            <a:ln>
              <a:noFill/>
            </a:ln>
          </p:spPr>
          <p:txBody>
            <a:bodyPr wrap="none" lIns="0" tIns="0" rIns="0" bIns="0" anchor="t" anchorCtr="0">
              <a:spAutoFit/>
            </a:bodyPr>
            <a:lstStyle/>
            <a:p>
              <a:pPr algn="ctr"/>
              <a:r>
                <a:rPr lang="en-US" sz="1120" b="1" dirty="0">
                  <a:solidFill>
                    <a:srgbClr val="0B1119"/>
                  </a:solidFill>
                  <a:latin typeface="+mn-lt"/>
                  <a:ea typeface="+mn-ea"/>
                  <a:cs typeface="+mn-cs"/>
                </a:rPr>
                <a:t>3</a:t>
              </a:r>
            </a:p>
          </p:txBody>
        </p:sp>
        <p:sp>
          <p:nvSpPr>
            <p:cNvPr id="59" name="TextBox 59"/>
            <p:cNvSpPr txBox="1"/>
            <p:nvPr/>
          </p:nvSpPr>
          <p:spPr>
            <a:xfrm>
              <a:off x="6450330" y="4810125"/>
              <a:ext cx="108684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ParaDiGMS</a:t>
              </a:r>
            </a:p>
          </p:txBody>
        </p:sp>
        <p:sp>
          <p:nvSpPr>
            <p:cNvPr id="60" name="TextBox 60"/>
            <p:cNvSpPr txBox="1"/>
            <p:nvPr/>
          </p:nvSpPr>
          <p:spPr>
            <a:xfrm>
              <a:off x="6452235" y="5193506"/>
              <a:ext cx="1863395" cy="220028"/>
            </a:xfrm>
            <a:prstGeom prst="rect">
              <a:avLst/>
            </a:prstGeom>
            <a:noFill/>
            <a:ln>
              <a:noFill/>
            </a:ln>
          </p:spPr>
          <p:txBody>
            <a:bodyPr wrap="none" lIns="0" tIns="0" rIns="0" bIns="0" anchor="t" anchorCtr="0">
              <a:spAutoFit/>
            </a:bodyPr>
            <a:lstStyle/>
            <a:p>
              <a:pPr algn="l"/>
              <a:r>
                <a:rPr lang="en-US" sz="1120" dirty="0">
                  <a:solidFill>
                    <a:srgbClr val="C6D4E2"/>
                  </a:solidFill>
                  <a:latin typeface="+mn-lt"/>
                  <a:ea typeface="+mn-ea"/>
                  <a:cs typeface="+mn-cs"/>
                </a:rPr>
                <a:t>Picard iterations guess &amp;</a:t>
              </a:r>
            </a:p>
          </p:txBody>
        </p:sp>
        <p:sp>
          <p:nvSpPr>
            <p:cNvPr id="61" name="TextBox 61"/>
            <p:cNvSpPr txBox="1"/>
            <p:nvPr/>
          </p:nvSpPr>
          <p:spPr>
            <a:xfrm>
              <a:off x="6452235" y="5403056"/>
              <a:ext cx="1142238" cy="220028"/>
            </a:xfrm>
            <a:prstGeom prst="rect">
              <a:avLst/>
            </a:prstGeom>
            <a:noFill/>
            <a:ln>
              <a:noFill/>
            </a:ln>
          </p:spPr>
          <p:txBody>
            <a:bodyPr wrap="none" lIns="0" tIns="0" rIns="0" bIns="0" anchor="t" anchorCtr="0">
              <a:spAutoFit/>
            </a:bodyPr>
            <a:lstStyle/>
            <a:p>
              <a:pPr algn="l"/>
              <a:r>
                <a:rPr lang="en-US" sz="1120" dirty="0">
                  <a:solidFill>
                    <a:srgbClr val="C6D4E2"/>
                  </a:solidFill>
                  <a:latin typeface="+mn-lt"/>
                  <a:ea typeface="+mn-ea"/>
                  <a:cs typeface="+mn-cs"/>
                </a:rPr>
                <a:t>refine the path</a:t>
              </a:r>
            </a:p>
          </p:txBody>
        </p:sp>
      </p:grpSp>
      <p:grpSp>
        <p:nvGrpSpPr>
          <p:cNvPr id="70" name="Group 70"/>
          <p:cNvGrpSpPr/>
          <p:nvPr/>
        </p:nvGrpSpPr>
        <p:grpSpPr>
          <a:xfrm>
            <a:off x="9067800" y="4095750"/>
            <a:ext cx="2667000" cy="2000250"/>
            <a:chOff x="9067800" y="4095750"/>
            <a:chExt cx="2667000" cy="2000250"/>
          </a:xfrm>
        </p:grpSpPr>
        <p:sp>
          <p:nvSpPr>
            <p:cNvPr id="63" name="Rectangle 63"/>
            <p:cNvSpPr/>
            <p:nvPr/>
          </p:nvSpPr>
          <p:spPr>
            <a:xfrm>
              <a:off x="9067800" y="4095750"/>
              <a:ext cx="2667000" cy="2000250"/>
            </a:xfrm>
            <a:prstGeom prst="roundRect">
              <a:avLst>
                <a:gd name="adj" fmla="val 7619"/>
              </a:avLst>
            </a:prstGeom>
            <a:solidFill>
              <a:srgbClr val="172331"/>
            </a:solidFill>
            <a:ln w="14288">
              <a:solidFill>
                <a:schemeClr val="accent4"/>
              </a:solidFill>
            </a:ln>
          </p:spPr>
        </p:sp>
        <p:sp>
          <p:nvSpPr>
            <p:cNvPr id="64" name="Rectangle 64"/>
            <p:cNvSpPr/>
            <p:nvPr/>
          </p:nvSpPr>
          <p:spPr>
            <a:xfrm>
              <a:off x="9067800" y="4229100"/>
              <a:ext cx="47625" cy="1733550"/>
            </a:xfrm>
            <a:prstGeom prst="roundRect">
              <a:avLst>
                <a:gd name="adj" fmla="val 50000"/>
              </a:avLst>
            </a:prstGeom>
            <a:solidFill>
              <a:srgbClr val="34D399"/>
            </a:solidFill>
            <a:ln>
              <a:noFill/>
            </a:ln>
          </p:spPr>
        </p:sp>
        <p:sp>
          <p:nvSpPr>
            <p:cNvPr id="65" name="Ellipse 65"/>
            <p:cNvSpPr/>
            <p:nvPr/>
          </p:nvSpPr>
          <p:spPr>
            <a:xfrm>
              <a:off x="9229725" y="4352925"/>
              <a:ext cx="247650" cy="247650"/>
            </a:xfrm>
            <a:prstGeom prst="ellipse">
              <a:avLst/>
            </a:prstGeom>
            <a:solidFill>
              <a:srgbClr val="34D399"/>
            </a:solidFill>
            <a:ln>
              <a:noFill/>
            </a:ln>
          </p:spPr>
        </p:sp>
        <p:sp>
          <p:nvSpPr>
            <p:cNvPr id="66" name="TextBox 66"/>
            <p:cNvSpPr txBox="1"/>
            <p:nvPr/>
          </p:nvSpPr>
          <p:spPr>
            <a:xfrm>
              <a:off x="9304299" y="4402931"/>
              <a:ext cx="98502" cy="220028"/>
            </a:xfrm>
            <a:prstGeom prst="rect">
              <a:avLst/>
            </a:prstGeom>
            <a:noFill/>
            <a:ln>
              <a:noFill/>
            </a:ln>
          </p:spPr>
          <p:txBody>
            <a:bodyPr wrap="none" lIns="0" tIns="0" rIns="0" bIns="0" anchor="t" anchorCtr="0">
              <a:spAutoFit/>
            </a:bodyPr>
            <a:lstStyle/>
            <a:p>
              <a:pPr algn="ctr"/>
              <a:r>
                <a:rPr lang="en-US" sz="1120" b="1" dirty="0">
                  <a:solidFill>
                    <a:srgbClr val="0B1119"/>
                  </a:solidFill>
                  <a:latin typeface="+mn-lt"/>
                  <a:ea typeface="+mn-ea"/>
                  <a:cs typeface="+mn-cs"/>
                </a:rPr>
                <a:t>4</a:t>
              </a:r>
            </a:p>
          </p:txBody>
        </p:sp>
        <p:sp>
          <p:nvSpPr>
            <p:cNvPr id="67" name="TextBox 67"/>
            <p:cNvSpPr txBox="1"/>
            <p:nvPr/>
          </p:nvSpPr>
          <p:spPr>
            <a:xfrm>
              <a:off x="9269730" y="4810125"/>
              <a:ext cx="1244994"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2–4× faster</a:t>
              </a:r>
            </a:p>
          </p:txBody>
        </p:sp>
        <p:sp>
          <p:nvSpPr>
            <p:cNvPr id="68" name="TextBox 68"/>
            <p:cNvSpPr txBox="1"/>
            <p:nvPr/>
          </p:nvSpPr>
          <p:spPr>
            <a:xfrm>
              <a:off x="9271635" y="5193506"/>
              <a:ext cx="1594561" cy="220028"/>
            </a:xfrm>
            <a:prstGeom prst="rect">
              <a:avLst/>
            </a:prstGeom>
            <a:noFill/>
            <a:ln>
              <a:noFill/>
            </a:ln>
          </p:spPr>
          <p:txBody>
            <a:bodyPr wrap="none" lIns="0" tIns="0" rIns="0" bIns="0" anchor="t" anchorCtr="0">
              <a:spAutoFit/>
            </a:bodyPr>
            <a:lstStyle/>
            <a:p>
              <a:pPr algn="l"/>
              <a:r>
                <a:rPr lang="en-US" sz="1120" dirty="0">
                  <a:solidFill>
                    <a:srgbClr val="C6D4E2"/>
                  </a:solidFill>
                  <a:latin typeface="+mn-lt"/>
                  <a:ea typeface="+mn-ea"/>
                  <a:cs typeface="+mn-cs"/>
                </a:rPr>
                <a:t>no measurable drop in</a:t>
              </a:r>
            </a:p>
          </p:txBody>
        </p:sp>
        <p:sp>
          <p:nvSpPr>
            <p:cNvPr id="69" name="TextBox 69"/>
            <p:cNvSpPr txBox="1"/>
            <p:nvPr/>
          </p:nvSpPr>
          <p:spPr>
            <a:xfrm>
              <a:off x="9271635" y="5403056"/>
              <a:ext cx="516524" cy="220028"/>
            </a:xfrm>
            <a:prstGeom prst="rect">
              <a:avLst/>
            </a:prstGeom>
            <a:noFill/>
            <a:ln>
              <a:noFill/>
            </a:ln>
          </p:spPr>
          <p:txBody>
            <a:bodyPr wrap="none" lIns="0" tIns="0" rIns="0" bIns="0" anchor="t" anchorCtr="0">
              <a:spAutoFit/>
            </a:bodyPr>
            <a:lstStyle/>
            <a:p>
              <a:pPr algn="l"/>
              <a:r>
                <a:rPr lang="en-US" sz="1120" dirty="0">
                  <a:solidFill>
                    <a:srgbClr val="C6D4E2"/>
                  </a:solidFill>
                  <a:latin typeface="+mn-lt"/>
                  <a:ea typeface="+mn-ea"/>
                  <a:cs typeface="+mn-cs"/>
                </a:rPr>
                <a:t>quality</a:t>
              </a:r>
            </a:p>
          </p:txBody>
        </p:sp>
      </p:grpSp>
      <p:sp>
        <p:nvSpPr>
          <p:cNvPr id="71" name="TextBox 71"/>
          <p:cNvSpPr txBox="1"/>
          <p:nvPr/>
        </p:nvSpPr>
        <p:spPr>
          <a:xfrm>
            <a:off x="604647" y="6562249"/>
            <a:ext cx="2487873" cy="190690"/>
          </a:xfrm>
          <a:prstGeom prst="rect">
            <a:avLst/>
          </a:prstGeom>
          <a:noFill/>
          <a:ln>
            <a:noFill/>
          </a:ln>
        </p:spPr>
        <p:txBody>
          <a:bodyPr wrap="none" lIns="0" tIns="0" rIns="0" bIns="0" anchor="t" anchorCtr="0">
            <a:spAutoFit/>
          </a:bodyPr>
          <a:lstStyle/>
          <a:p>
            <a:pPr algn="l"/>
            <a:r>
              <a:rPr lang="en-US" sz="980" dirty="0">
                <a:solidFill>
                  <a:srgbClr val="8FA3B8"/>
                </a:solidFill>
                <a:latin typeface="+mn-lt"/>
                <a:ea typeface="+mn-ea"/>
                <a:cs typeface="+mn-cs"/>
              </a:rPr>
              <a:t>ParaDiGMS · Shih et al. · NeurIPS 2023</a:t>
            </a:r>
          </a:p>
        </p:txBody>
      </p:sp>
      <p:sp>
        <p:nvSpPr>
          <p:cNvPr id="72" name="TextBox 72"/>
          <p:cNvSpPr txBox="1"/>
          <p:nvPr/>
        </p:nvSpPr>
        <p:spPr>
          <a:xfrm>
            <a:off x="9868985" y="6562249"/>
            <a:ext cx="1718368" cy="190690"/>
          </a:xfrm>
          <a:prstGeom prst="rect">
            <a:avLst/>
          </a:prstGeom>
          <a:noFill/>
          <a:ln>
            <a:noFill/>
          </a:ln>
        </p:spPr>
        <p:txBody>
          <a:bodyPr wrap="none" lIns="0" tIns="0" rIns="0" bIns="0" anchor="t" anchorCtr="0">
            <a:spAutoFit/>
          </a:bodyPr>
          <a:lstStyle/>
          <a:p>
            <a:pPr algn="r"/>
            <a:r>
              <a:rPr lang="en-US" sz="980" dirty="0">
                <a:solidFill>
                  <a:srgbClr val="8FA3B8"/>
                </a:solidFill>
                <a:latin typeface="+mn-lt"/>
                <a:ea typeface="+mn-ea"/>
                <a:cs typeface="+mn-cs"/>
              </a:rPr>
              <a:t>arxiv.org/abs/2305.16317</a:t>
            </a:r>
          </a:p>
        </p:txBody>
      </p:sp>
      <p:sp>
        <p:nvSpPr>
          <p:cNvPr id="73" name="cue_s01_c1_diffusion_models_produce_stunning_sa" title="cue_s01_c1_diffusion_models_produce_stunning_sa" descr="cue_s01_c1_diffusion_models_produce_stunning_sa Diffusion models produce stunning samples, but they are slow, often needing a thousand sequential denoising steps to generate a single sample. This paper from Stanford asks a different question than most prior work."/>
          <p:cNvSpPr/>
          <p:nvPr/>
        </p:nvSpPr>
        <p:spPr>
          <a:xfrm>
            <a:off x="609600" y="4095597"/>
            <a:ext cx="2667609"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cue_s01_c2_instead_cutting_number_steps_paying" title="cue_s01_c2_instead_cutting_number_steps_paying" descr="cue_s01_c2_instead_cutting_number_steps_paying Instead of cutting the number of steps and paying with sample quality, can we keep every step but run them in parallel, trading extra compute for lower latency?"/>
          <p:cNvSpPr/>
          <p:nvPr/>
        </p:nvSpPr>
        <p:spPr>
          <a:xfrm>
            <a:off x="3428390" y="4095597"/>
            <a:ext cx="2667609"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cue_s01_c3_answer_method_called_paradigms_which" title="cue_s01_c3_answer_method_called_paradigms_which" descr="cue_s01_c3_answer_method_called_paradigms_which The answer is a method called ParaDiGMS, which uses Picard iterations to guess the whole denoising trajectory and refine it in parallel until it converges."/>
          <p:cNvSpPr/>
          <p:nvPr/>
        </p:nvSpPr>
        <p:spPr>
          <a:xfrm>
            <a:off x="6248399" y="4095597"/>
            <a:ext cx="2667609"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cue_s01_c4_delivers_two_to_four_times_faster_sa" title="cue_s01_c4_delivers_two_to_four_times_faster_sa" descr="cue_s01_c4_delivers_two_to_four_times_faster_sa It delivers two-to-four times faster sampling with no measurable drop in quality."/>
          <p:cNvSpPr/>
          <p:nvPr/>
        </p:nvSpPr>
        <p:spPr>
          <a:xfrm>
            <a:off x="9068409" y="4095597"/>
            <a:ext cx="2667609"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5"/>
            </a:gs>
            <a:gs pos="100000">
              <a:schemeClr val="accent6"/>
            </a:gs>
          </a:gsLst>
          <a:lin ang="2700000" scaled="1"/>
        </a:gradFill>
        <a:effectLst/>
      </p:bgPr>
    </p:bg>
    <p:spTree>
      <p:nvGrpSpPr>
        <p:cNvPr id="1" name=""/>
        <p:cNvGrpSpPr/>
        <p:nvPr/>
      </p:nvGrpSpPr>
      <p:grpSpPr>
        <a:xfrm>
          <a:off x="0" y="0"/>
          <a:ext cx="0" cy="0"/>
          <a:chOff x="0" y="0"/>
          <a:chExt cx="0" cy="0"/>
        </a:xfrm>
      </p:grpSpPr>
      <p:sp>
        <p:nvSpPr>
          <p:cNvPr id="2" name="Rectangle 2"/>
          <p:cNvSpPr/>
          <p:nvPr/>
        </p:nvSpPr>
        <p:spPr>
          <a:xfrm>
            <a:off x="609600" y="495300"/>
            <a:ext cx="57150" cy="285750"/>
          </a:xfrm>
          <a:prstGeom prst="roundRect">
            <a:avLst>
              <a:gd name="adj" fmla="val 50000"/>
            </a:avLst>
          </a:prstGeom>
          <a:solidFill>
            <a:srgbClr val="F2726F"/>
          </a:solidFill>
          <a:ln>
            <a:noFill/>
          </a:ln>
        </p:spPr>
        <p:txBody>
          <a:bodyPr/>
          <a:p/>
        </p:txBody>
      </p:sp>
      <p:sp>
        <p:nvSpPr>
          <p:cNvPr id="3" name="TextBox 3"/>
          <p:cNvSpPr txBox="1"/>
          <p:nvPr/>
        </p:nvSpPr>
        <p:spPr>
          <a:xfrm>
            <a:off x="794385" y="507206"/>
            <a:ext cx="882792" cy="220028"/>
          </a:xfrm>
          <a:prstGeom prst="rect">
            <a:avLst/>
          </a:prstGeom>
          <a:noFill/>
          <a:ln>
            <a:noFill/>
          </a:ln>
        </p:spPr>
        <p:txBody>
          <a:bodyPr wrap="none" lIns="0" tIns="0" rIns="0" bIns="0" anchor="t" anchorCtr="0">
            <a:spAutoFit/>
          </a:bodyPr>
          <a:lstStyle/>
          <a:p>
            <a:pPr algn="l"/>
            <a:r>
              <a:rPr lang="en-US" sz="1120" b="1" spc="188" dirty="0">
                <a:solidFill>
                  <a:srgbClr val="F2726F"/>
                </a:solidFill>
                <a:latin typeface="+mn-lt"/>
                <a:ea typeface="+mn-ea"/>
                <a:cs typeface="+mn-cs"/>
              </a:rPr>
              <a:t>PROBLEM</a:t>
            </a:r>
          </a:p>
        </p:txBody>
      </p:sp>
      <p:sp>
        <p:nvSpPr>
          <p:cNvPr id="4" name="TextBox 4"/>
          <p:cNvSpPr txBox="1"/>
          <p:nvPr/>
        </p:nvSpPr>
        <p:spPr>
          <a:xfrm>
            <a:off x="787527" y="647224"/>
            <a:ext cx="4400240"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n-lt"/>
                <a:ea typeface="+mn-ea"/>
                <a:cs typeface="+mn-cs"/>
              </a:rPr>
              <a:t>Diffusion sampling is slow</a:t>
            </a:r>
          </a:p>
        </p:txBody>
      </p:sp>
      <p:sp>
        <p:nvSpPr>
          <p:cNvPr id="5" name="Line 5"/>
          <p:cNvSpPr/>
          <p:nvPr/>
        </p:nvSpPr>
        <p:spPr>
          <a:xfrm>
            <a:off x="609600" y="1123950"/>
            <a:ext cx="10972800" cy="9525"/>
          </a:xfrm>
          <a:custGeom>
            <a:avLst/>
            <a:gdLst/>
            <a:ahLst/>
            <a:cxnLst/>
            <a:rect l="l" t="t" r="r" b="b"/>
            <a:pathLst>
              <a:path w="10972800" h="9525">
                <a:moveTo>
                  <a:pt x="0" y="0"/>
                </a:moveTo>
                <a:lnTo>
                  <a:pt x="10972800" y="0"/>
                </a:lnTo>
              </a:path>
            </a:pathLst>
          </a:custGeom>
          <a:noFill/>
          <a:ln w="11430" cap="rnd">
            <a:solidFill>
              <a:schemeClr val="accent4"/>
            </a:solidFill>
          </a:ln>
        </p:spPr>
        <p:txBody>
          <a:bodyPr/>
          <a:p/>
        </p:txBody>
      </p:sp>
      <p:sp>
        <p:nvSpPr>
          <p:cNvPr id="6" name="TextBox 6"/>
          <p:cNvSpPr txBox="1"/>
          <p:nvPr/>
        </p:nvSpPr>
        <p:spPr>
          <a:xfrm>
            <a:off x="10989399" y="515302"/>
            <a:ext cx="598335" cy="205359"/>
          </a:xfrm>
          <a:prstGeom prst="rect">
            <a:avLst/>
          </a:prstGeom>
          <a:noFill/>
          <a:ln>
            <a:noFill/>
          </a:ln>
        </p:spPr>
        <p:txBody>
          <a:bodyPr wrap="none" lIns="0" tIns="0" rIns="0" bIns="0" anchor="t" anchorCtr="0">
            <a:spAutoFit/>
          </a:bodyPr>
          <a:lstStyle/>
          <a:p>
            <a:pPr algn="r"/>
            <a:r>
              <a:rPr lang="en-US" sz="1050" b="1" spc="112" dirty="0">
                <a:solidFill>
                  <a:srgbClr val="8FA3B8"/>
                </a:solidFill>
                <a:latin typeface="+mn-lt"/>
                <a:ea typeface="+mn-ea"/>
                <a:cs typeface="+mn-cs"/>
              </a:rPr>
              <a:t>02 / 10</a:t>
            </a:r>
          </a:p>
        </p:txBody>
      </p:sp>
      <p:grpSp>
        <p:nvGrpSpPr>
          <p:cNvPr id="16" name="Group 16"/>
          <p:cNvGrpSpPr/>
          <p:nvPr/>
        </p:nvGrpSpPr>
        <p:grpSpPr>
          <a:xfrm>
            <a:off x="609600" y="1314450"/>
            <a:ext cx="5372100" cy="2457450"/>
            <a:chOff x="609600" y="1314450"/>
            <a:chExt cx="5372100" cy="2457450"/>
          </a:xfrm>
        </p:grpSpPr>
        <p:sp>
          <p:nvSpPr>
            <p:cNvPr id="7" name="Rectangle 7"/>
            <p:cNvSpPr/>
            <p:nvPr/>
          </p:nvSpPr>
          <p:spPr>
            <a:xfrm>
              <a:off x="609600" y="1314450"/>
              <a:ext cx="5372100" cy="2457450"/>
            </a:xfrm>
            <a:prstGeom prst="roundRect">
              <a:avLst>
                <a:gd name="adj" fmla="val 6202"/>
              </a:avLst>
            </a:prstGeom>
            <a:solidFill>
              <a:srgbClr val="172331"/>
            </a:solidFill>
            <a:ln w="14288">
              <a:solidFill>
                <a:schemeClr val="accent4"/>
              </a:solidFill>
            </a:ln>
          </p:spPr>
        </p:sp>
        <p:sp>
          <p:nvSpPr>
            <p:cNvPr id="8" name="Rectangle 8"/>
            <p:cNvSpPr/>
            <p:nvPr/>
          </p:nvSpPr>
          <p:spPr>
            <a:xfrm>
              <a:off x="609600" y="1447800"/>
              <a:ext cx="47625" cy="2190750"/>
            </a:xfrm>
            <a:prstGeom prst="roundRect">
              <a:avLst>
                <a:gd name="adj" fmla="val 50000"/>
              </a:avLst>
            </a:prstGeom>
            <a:solidFill>
              <a:srgbClr val="F2726F"/>
            </a:solidFill>
            <a:ln>
              <a:noFill/>
            </a:ln>
          </p:spPr>
        </p:sp>
        <p:sp>
          <p:nvSpPr>
            <p:cNvPr id="9" name="Ellipse 9"/>
            <p:cNvSpPr/>
            <p:nvPr/>
          </p:nvSpPr>
          <p:spPr>
            <a:xfrm>
              <a:off x="838200" y="1514475"/>
              <a:ext cx="285750" cy="285750"/>
            </a:xfrm>
            <a:prstGeom prst="ellipse">
              <a:avLst/>
            </a:prstGeom>
            <a:solidFill>
              <a:srgbClr val="F2726F"/>
            </a:solidFill>
            <a:ln>
              <a:noFill/>
            </a:ln>
          </p:spPr>
        </p:sp>
        <p:sp>
          <p:nvSpPr>
            <p:cNvPr id="10" name="TextBox 10"/>
            <p:cNvSpPr txBox="1"/>
            <p:nvPr/>
          </p:nvSpPr>
          <p:spPr>
            <a:xfrm>
              <a:off x="928333" y="158496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1</a:t>
              </a:r>
            </a:p>
          </p:txBody>
        </p:sp>
        <p:sp>
          <p:nvSpPr>
            <p:cNvPr id="11" name="TextBox 11"/>
            <p:cNvSpPr txBox="1"/>
            <p:nvPr/>
          </p:nvSpPr>
          <p:spPr>
            <a:xfrm>
              <a:off x="1211961" y="1598771"/>
              <a:ext cx="185716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The core limitation</a:t>
              </a:r>
            </a:p>
          </p:txBody>
        </p:sp>
        <p:sp>
          <p:nvSpPr>
            <p:cNvPr id="12" name="TextBox 12"/>
            <p:cNvSpPr txBox="1"/>
            <p:nvPr/>
          </p:nvSpPr>
          <p:spPr>
            <a:xfrm>
              <a:off x="851344" y="1912858"/>
              <a:ext cx="2226467"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Sampling speed is the central</a:t>
              </a:r>
            </a:p>
          </p:txBody>
        </p:sp>
        <p:sp>
          <p:nvSpPr>
            <p:cNvPr id="13" name="TextBox 13"/>
            <p:cNvSpPr txBox="1"/>
            <p:nvPr/>
          </p:nvSpPr>
          <p:spPr>
            <a:xfrm>
              <a:off x="851344" y="2141458"/>
              <a:ext cx="2432279"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bottleneck of diffusion models.</a:t>
              </a:r>
            </a:p>
          </p:txBody>
        </p:sp>
        <p:sp>
          <p:nvSpPr>
            <p:cNvPr id="14" name="TextBox 14"/>
            <p:cNvSpPr txBox="1"/>
            <p:nvPr/>
          </p:nvSpPr>
          <p:spPr>
            <a:xfrm>
              <a:off x="851344" y="2370058"/>
              <a:ext cx="2187766"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Latency, not quality, blocks</a:t>
              </a:r>
            </a:p>
          </p:txBody>
        </p:sp>
        <p:sp>
          <p:nvSpPr>
            <p:cNvPr id="15" name="TextBox 15"/>
            <p:cNvSpPr txBox="1"/>
            <p:nvPr/>
          </p:nvSpPr>
          <p:spPr>
            <a:xfrm>
              <a:off x="851344" y="2598658"/>
              <a:ext cx="2041881"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interactive real-time use.</a:t>
              </a:r>
            </a:p>
          </p:txBody>
        </p:sp>
      </p:grpSp>
      <p:grpSp>
        <p:nvGrpSpPr>
          <p:cNvPr id="26" name="Group 26"/>
          <p:cNvGrpSpPr/>
          <p:nvPr/>
        </p:nvGrpSpPr>
        <p:grpSpPr>
          <a:xfrm>
            <a:off x="6210300" y="1314450"/>
            <a:ext cx="5372100" cy="2457450"/>
            <a:chOff x="6210300" y="1314450"/>
            <a:chExt cx="5372100" cy="2457450"/>
          </a:xfrm>
        </p:grpSpPr>
        <p:sp>
          <p:nvSpPr>
            <p:cNvPr id="17" name="Rectangle 17"/>
            <p:cNvSpPr/>
            <p:nvPr/>
          </p:nvSpPr>
          <p:spPr>
            <a:xfrm>
              <a:off x="6210300" y="1314450"/>
              <a:ext cx="5372100" cy="2457450"/>
            </a:xfrm>
            <a:prstGeom prst="roundRect">
              <a:avLst>
                <a:gd name="adj" fmla="val 6202"/>
              </a:avLst>
            </a:prstGeom>
            <a:solidFill>
              <a:srgbClr val="172331"/>
            </a:solidFill>
            <a:ln w="14288">
              <a:solidFill>
                <a:schemeClr val="accent4"/>
              </a:solidFill>
            </a:ln>
          </p:spPr>
        </p:sp>
        <p:sp>
          <p:nvSpPr>
            <p:cNvPr id="18" name="Rectangle 18"/>
            <p:cNvSpPr/>
            <p:nvPr/>
          </p:nvSpPr>
          <p:spPr>
            <a:xfrm>
              <a:off x="6210300" y="1447800"/>
              <a:ext cx="47625" cy="2190750"/>
            </a:xfrm>
            <a:prstGeom prst="roundRect">
              <a:avLst>
                <a:gd name="adj" fmla="val 50000"/>
              </a:avLst>
            </a:prstGeom>
            <a:solidFill>
              <a:srgbClr val="FBBF24"/>
            </a:solidFill>
            <a:ln>
              <a:noFill/>
            </a:ln>
          </p:spPr>
        </p:sp>
        <p:sp>
          <p:nvSpPr>
            <p:cNvPr id="19" name="Ellipse 19"/>
            <p:cNvSpPr/>
            <p:nvPr/>
          </p:nvSpPr>
          <p:spPr>
            <a:xfrm>
              <a:off x="6438900" y="1514475"/>
              <a:ext cx="285750" cy="285750"/>
            </a:xfrm>
            <a:prstGeom prst="ellipse">
              <a:avLst/>
            </a:prstGeom>
            <a:solidFill>
              <a:srgbClr val="FBBF24"/>
            </a:solidFill>
            <a:ln>
              <a:noFill/>
            </a:ln>
          </p:spPr>
        </p:sp>
        <p:sp>
          <p:nvSpPr>
            <p:cNvPr id="20" name="TextBox 20"/>
            <p:cNvSpPr txBox="1"/>
            <p:nvPr/>
          </p:nvSpPr>
          <p:spPr>
            <a:xfrm>
              <a:off x="6529033" y="158496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2</a:t>
              </a:r>
            </a:p>
          </p:txBody>
        </p:sp>
        <p:sp>
          <p:nvSpPr>
            <p:cNvPr id="21" name="TextBox 21"/>
            <p:cNvSpPr txBox="1"/>
            <p:nvPr/>
          </p:nvSpPr>
          <p:spPr>
            <a:xfrm>
              <a:off x="6812661" y="1598771"/>
              <a:ext cx="2242452"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1000 sequential passes</a:t>
              </a:r>
            </a:p>
          </p:txBody>
        </p:sp>
        <p:sp>
          <p:nvSpPr>
            <p:cNvPr id="22" name="TextBox 22"/>
            <p:cNvSpPr txBox="1"/>
            <p:nvPr/>
          </p:nvSpPr>
          <p:spPr>
            <a:xfrm>
              <a:off x="6452044" y="1912858"/>
              <a:ext cx="2108806"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A standard DDPM runs up to</a:t>
              </a:r>
            </a:p>
          </p:txBody>
        </p:sp>
        <p:sp>
          <p:nvSpPr>
            <p:cNvPr id="23" name="TextBox 23"/>
            <p:cNvSpPr txBox="1"/>
            <p:nvPr/>
          </p:nvSpPr>
          <p:spPr>
            <a:xfrm>
              <a:off x="6452044" y="2141458"/>
              <a:ext cx="2034073"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1000 network evaluations,</a:t>
              </a:r>
            </a:p>
          </p:txBody>
        </p:sp>
        <p:sp>
          <p:nvSpPr>
            <p:cNvPr id="24" name="TextBox 24"/>
            <p:cNvSpPr txBox="1"/>
            <p:nvPr/>
          </p:nvSpPr>
          <p:spPr>
            <a:xfrm>
              <a:off x="6452044" y="2370058"/>
              <a:ext cx="2135576"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strictly one after another,</a:t>
              </a:r>
            </a:p>
          </p:txBody>
        </p:sp>
        <p:sp>
          <p:nvSpPr>
            <p:cNvPr id="25" name="TextBox 25"/>
            <p:cNvSpPr txBox="1"/>
            <p:nvPr/>
          </p:nvSpPr>
          <p:spPr>
            <a:xfrm>
              <a:off x="6452044" y="2598658"/>
              <a:ext cx="1862298"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to make a single sample.</a:t>
              </a:r>
            </a:p>
          </p:txBody>
        </p:sp>
      </p:grpSp>
      <p:grpSp>
        <p:nvGrpSpPr>
          <p:cNvPr id="36" name="Group 36"/>
          <p:cNvGrpSpPr/>
          <p:nvPr/>
        </p:nvGrpSpPr>
        <p:grpSpPr>
          <a:xfrm>
            <a:off x="609600" y="4000500"/>
            <a:ext cx="5372100" cy="2457450"/>
            <a:chOff x="609600" y="4000500"/>
            <a:chExt cx="5372100" cy="2457450"/>
          </a:xfrm>
        </p:grpSpPr>
        <p:sp>
          <p:nvSpPr>
            <p:cNvPr id="27" name="Rectangle 27"/>
            <p:cNvSpPr/>
            <p:nvPr/>
          </p:nvSpPr>
          <p:spPr>
            <a:xfrm>
              <a:off x="609600" y="4000500"/>
              <a:ext cx="5372100" cy="2457450"/>
            </a:xfrm>
            <a:prstGeom prst="roundRect">
              <a:avLst>
                <a:gd name="adj" fmla="val 6202"/>
              </a:avLst>
            </a:prstGeom>
            <a:solidFill>
              <a:srgbClr val="172331"/>
            </a:solidFill>
            <a:ln w="14288">
              <a:solidFill>
                <a:schemeClr val="accent4"/>
              </a:solidFill>
            </a:ln>
          </p:spPr>
        </p:sp>
        <p:sp>
          <p:nvSpPr>
            <p:cNvPr id="28" name="Rectangle 28"/>
            <p:cNvSpPr/>
            <p:nvPr/>
          </p:nvSpPr>
          <p:spPr>
            <a:xfrm>
              <a:off x="609600" y="4133850"/>
              <a:ext cx="47625" cy="2190750"/>
            </a:xfrm>
            <a:prstGeom prst="roundRect">
              <a:avLst>
                <a:gd name="adj" fmla="val 50000"/>
              </a:avLst>
            </a:prstGeom>
            <a:solidFill>
              <a:schemeClr val="accent2"/>
            </a:solidFill>
            <a:ln>
              <a:noFill/>
            </a:ln>
          </p:spPr>
        </p:sp>
        <p:sp>
          <p:nvSpPr>
            <p:cNvPr id="29" name="Ellipse 29"/>
            <p:cNvSpPr/>
            <p:nvPr/>
          </p:nvSpPr>
          <p:spPr>
            <a:xfrm>
              <a:off x="838200" y="4200525"/>
              <a:ext cx="285750" cy="285750"/>
            </a:xfrm>
            <a:prstGeom prst="ellipse">
              <a:avLst/>
            </a:prstGeom>
            <a:solidFill>
              <a:schemeClr val="accent2"/>
            </a:solidFill>
            <a:ln>
              <a:noFill/>
            </a:ln>
          </p:spPr>
        </p:sp>
        <p:sp>
          <p:nvSpPr>
            <p:cNvPr id="30" name="TextBox 30"/>
            <p:cNvSpPr txBox="1"/>
            <p:nvPr/>
          </p:nvSpPr>
          <p:spPr>
            <a:xfrm>
              <a:off x="928333" y="427101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3</a:t>
              </a:r>
            </a:p>
          </p:txBody>
        </p:sp>
        <p:sp>
          <p:nvSpPr>
            <p:cNvPr id="31" name="TextBox 31"/>
            <p:cNvSpPr txBox="1"/>
            <p:nvPr/>
          </p:nvSpPr>
          <p:spPr>
            <a:xfrm>
              <a:off x="1211961" y="4284821"/>
              <a:ext cx="285157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The popular fix: fewer steps</a:t>
              </a:r>
            </a:p>
          </p:txBody>
        </p:sp>
        <p:sp>
          <p:nvSpPr>
            <p:cNvPr id="32" name="TextBox 32"/>
            <p:cNvSpPr txBox="1"/>
            <p:nvPr/>
          </p:nvSpPr>
          <p:spPr>
            <a:xfrm>
              <a:off x="851344" y="4598908"/>
              <a:ext cx="2115541"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DDIM and DPMSolver cut the</a:t>
              </a:r>
            </a:p>
          </p:txBody>
        </p:sp>
        <p:sp>
          <p:nvSpPr>
            <p:cNvPr id="33" name="TextBox 33"/>
            <p:cNvSpPr txBox="1"/>
            <p:nvPr/>
          </p:nvSpPr>
          <p:spPr>
            <a:xfrm>
              <a:off x="851344" y="4827508"/>
              <a:ext cx="2213656"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number of denoising steps to</a:t>
              </a:r>
            </a:p>
          </p:txBody>
        </p:sp>
        <p:sp>
          <p:nvSpPr>
            <p:cNvPr id="34" name="TextBox 34"/>
            <p:cNvSpPr txBox="1"/>
            <p:nvPr/>
          </p:nvSpPr>
          <p:spPr>
            <a:xfrm>
              <a:off x="851344" y="5056108"/>
              <a:ext cx="2119960"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go faster, but fewer steps</a:t>
              </a:r>
            </a:p>
          </p:txBody>
        </p:sp>
        <p:sp>
          <p:nvSpPr>
            <p:cNvPr id="35" name="TextBox 35"/>
            <p:cNvSpPr txBox="1"/>
            <p:nvPr/>
          </p:nvSpPr>
          <p:spPr>
            <a:xfrm>
              <a:off x="851344" y="5284708"/>
              <a:ext cx="1909145"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degrades sample quality.</a:t>
              </a:r>
            </a:p>
          </p:txBody>
        </p:sp>
      </p:grpSp>
      <p:grpSp>
        <p:nvGrpSpPr>
          <p:cNvPr id="46" name="Group 46"/>
          <p:cNvGrpSpPr/>
          <p:nvPr/>
        </p:nvGrpSpPr>
        <p:grpSpPr>
          <a:xfrm>
            <a:off x="6210300" y="4000500"/>
            <a:ext cx="5372100" cy="2457450"/>
            <a:chOff x="6210300" y="4000500"/>
            <a:chExt cx="5372100" cy="2457450"/>
          </a:xfrm>
        </p:grpSpPr>
        <p:sp>
          <p:nvSpPr>
            <p:cNvPr id="37" name="Rectangle 37"/>
            <p:cNvSpPr/>
            <p:nvPr/>
          </p:nvSpPr>
          <p:spPr>
            <a:xfrm>
              <a:off x="6210300" y="4000500"/>
              <a:ext cx="5372100" cy="2457450"/>
            </a:xfrm>
            <a:prstGeom prst="roundRect">
              <a:avLst>
                <a:gd name="adj" fmla="val 6202"/>
              </a:avLst>
            </a:prstGeom>
            <a:solidFill>
              <a:srgbClr val="172331"/>
            </a:solidFill>
            <a:ln w="14288">
              <a:solidFill>
                <a:schemeClr val="accent4"/>
              </a:solidFill>
            </a:ln>
          </p:spPr>
        </p:sp>
        <p:sp>
          <p:nvSpPr>
            <p:cNvPr id="38" name="Rectangle 38"/>
            <p:cNvSpPr/>
            <p:nvPr/>
          </p:nvSpPr>
          <p:spPr>
            <a:xfrm>
              <a:off x="6210300" y="4133850"/>
              <a:ext cx="47625" cy="2190750"/>
            </a:xfrm>
            <a:prstGeom prst="roundRect">
              <a:avLst>
                <a:gd name="adj" fmla="val 50000"/>
              </a:avLst>
            </a:prstGeom>
            <a:solidFill>
              <a:srgbClr val="A78BFA"/>
            </a:solidFill>
            <a:ln>
              <a:noFill/>
            </a:ln>
          </p:spPr>
        </p:sp>
        <p:sp>
          <p:nvSpPr>
            <p:cNvPr id="39" name="Ellipse 39"/>
            <p:cNvSpPr/>
            <p:nvPr/>
          </p:nvSpPr>
          <p:spPr>
            <a:xfrm>
              <a:off x="6438900" y="4200525"/>
              <a:ext cx="285750" cy="285750"/>
            </a:xfrm>
            <a:prstGeom prst="ellipse">
              <a:avLst/>
            </a:prstGeom>
            <a:solidFill>
              <a:srgbClr val="A78BFA"/>
            </a:solidFill>
            <a:ln>
              <a:noFill/>
            </a:ln>
          </p:spPr>
        </p:sp>
        <p:sp>
          <p:nvSpPr>
            <p:cNvPr id="40" name="TextBox 40"/>
            <p:cNvSpPr txBox="1"/>
            <p:nvPr/>
          </p:nvSpPr>
          <p:spPr>
            <a:xfrm>
              <a:off x="6529033" y="427101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4</a:t>
              </a:r>
            </a:p>
          </p:txBody>
        </p:sp>
        <p:sp>
          <p:nvSpPr>
            <p:cNvPr id="41" name="TextBox 41"/>
            <p:cNvSpPr txBox="1"/>
            <p:nvPr/>
          </p:nvSpPr>
          <p:spPr>
            <a:xfrm>
              <a:off x="6812661" y="4284821"/>
              <a:ext cx="212864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An accepted tradeoff</a:t>
              </a:r>
            </a:p>
          </p:txBody>
        </p:sp>
        <p:sp>
          <p:nvSpPr>
            <p:cNvPr id="42" name="TextBox 42"/>
            <p:cNvSpPr txBox="1"/>
            <p:nvPr/>
          </p:nvSpPr>
          <p:spPr>
            <a:xfrm>
              <a:off x="6452044" y="4598908"/>
              <a:ext cx="2281049"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The field has largely accepted</a:t>
              </a:r>
            </a:p>
          </p:txBody>
        </p:sp>
        <p:sp>
          <p:nvSpPr>
            <p:cNvPr id="43" name="TextBox 43"/>
            <p:cNvSpPr txBox="1"/>
            <p:nvPr/>
          </p:nvSpPr>
          <p:spPr>
            <a:xfrm>
              <a:off x="6452044" y="4827508"/>
              <a:ext cx="2182424"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this quality-for-speed deal.</a:t>
              </a:r>
            </a:p>
          </p:txBody>
        </p:sp>
        <p:sp>
          <p:nvSpPr>
            <p:cNvPr id="44" name="TextBox 44"/>
            <p:cNvSpPr txBox="1"/>
            <p:nvPr/>
          </p:nvSpPr>
          <p:spPr>
            <a:xfrm>
              <a:off x="6452044" y="5056108"/>
              <a:ext cx="2257769"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This paper questions whether</a:t>
              </a:r>
            </a:p>
          </p:txBody>
        </p:sp>
        <p:sp>
          <p:nvSpPr>
            <p:cNvPr id="45" name="TextBox 45"/>
            <p:cNvSpPr txBox="1"/>
            <p:nvPr/>
          </p:nvSpPr>
          <p:spPr>
            <a:xfrm>
              <a:off x="6452044" y="5284708"/>
              <a:ext cx="1713946"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it is really necessary.</a:t>
              </a:r>
            </a:p>
          </p:txBody>
        </p:sp>
      </p:grpSp>
      <p:sp>
        <p:nvSpPr>
          <p:cNvPr id="47" name="TextBox 47"/>
          <p:cNvSpPr txBox="1"/>
          <p:nvPr/>
        </p:nvSpPr>
        <p:spPr>
          <a:xfrm>
            <a:off x="604647" y="6562249"/>
            <a:ext cx="2487873" cy="190690"/>
          </a:xfrm>
          <a:prstGeom prst="rect">
            <a:avLst/>
          </a:prstGeom>
          <a:noFill/>
          <a:ln>
            <a:noFill/>
          </a:ln>
        </p:spPr>
        <p:txBody>
          <a:bodyPr wrap="none" lIns="0" tIns="0" rIns="0" bIns="0" anchor="t" anchorCtr="0">
            <a:spAutoFit/>
          </a:bodyPr>
          <a:lstStyle/>
          <a:p>
            <a:pPr algn="l"/>
            <a:r>
              <a:rPr lang="en-US" sz="980" dirty="0">
                <a:solidFill>
                  <a:srgbClr val="8FA3B8"/>
                </a:solidFill>
                <a:latin typeface="+mn-lt"/>
                <a:ea typeface="+mn-ea"/>
                <a:cs typeface="+mn-cs"/>
              </a:rPr>
              <a:t>ParaDiGMS · Shih et al. · NeurIPS 2023</a:t>
            </a:r>
          </a:p>
        </p:txBody>
      </p:sp>
      <p:sp>
        <p:nvSpPr>
          <p:cNvPr id="48" name="TextBox 48"/>
          <p:cNvSpPr txBox="1"/>
          <p:nvPr/>
        </p:nvSpPr>
        <p:spPr>
          <a:xfrm>
            <a:off x="9868985" y="6562249"/>
            <a:ext cx="1718368" cy="190690"/>
          </a:xfrm>
          <a:prstGeom prst="rect">
            <a:avLst/>
          </a:prstGeom>
          <a:noFill/>
          <a:ln>
            <a:noFill/>
          </a:ln>
        </p:spPr>
        <p:txBody>
          <a:bodyPr wrap="none" lIns="0" tIns="0" rIns="0" bIns="0" anchor="t" anchorCtr="0">
            <a:spAutoFit/>
          </a:bodyPr>
          <a:lstStyle/>
          <a:p>
            <a:pPr algn="r"/>
            <a:r>
              <a:rPr lang="en-US" sz="980" dirty="0">
                <a:solidFill>
                  <a:srgbClr val="8FA3B8"/>
                </a:solidFill>
                <a:latin typeface="+mn-lt"/>
                <a:ea typeface="+mn-ea"/>
                <a:cs typeface="+mn-cs"/>
              </a:rPr>
              <a:t>arxiv.org/abs/2305.16317</a:t>
            </a:r>
          </a:p>
        </p:txBody>
      </p:sp>
      <p:sp>
        <p:nvSpPr>
          <p:cNvPr id="49" name="cue_s02_c1_central_limitation_diffusion_models" title="cue_s02_c1_central_limitation_diffusion_models" descr="cue_s02_c1_central_limitation_diffusion_models The central limitation of diffusion models is sampling speed."/>
          <p:cNvSpPr/>
          <p:nvPr/>
        </p:nvSpPr>
        <p:spPr>
          <a:xfrm>
            <a:off x="609600" y="1314678"/>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2_c2_standard_denoising_diffusion_probabi" title="cue_s02_c2_standard_denoising_diffusion_probabi" descr="cue_s02_c2_standard_denoising_diffusion_probabi A standard denoising diffusion probabilistic model can take a thousand sequential passes through the neural network to create one sample, which is far too slow for interactive use."/>
          <p:cNvSpPr/>
          <p:nvPr/>
        </p:nvSpPr>
        <p:spPr>
          <a:xfrm>
            <a:off x="6210604" y="1314678"/>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2_c3_popular_fix_simply_fewer_denoising" title="cue_s02_c3_popular_fix_simply_fewer_denoising" descr="cue_s02_c3_popular_fix_simply_fewer_denoising The popular fix is to simply use fewer denoising steps, as DDIM and DPMSolver do, but reducing steps comes at the cost of sample quality."/>
          <p:cNvSpPr/>
          <p:nvPr/>
        </p:nvSpPr>
        <p:spPr>
          <a:xfrm>
            <a:off x="609600" y="40002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2_c4_field_largely_accepted_quality_for_s" title="cue_s02_c4_field_largely_accepted_quality_for_s" descr="cue_s02_c4_field_largely_accepted_quality_for_s The field has largely accepted this quality-for-speed tradeoff."/>
          <p:cNvSpPr/>
          <p:nvPr/>
        </p:nvSpPr>
        <p:spPr>
          <a:xfrm>
            <a:off x="6210604" y="40002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5"/>
            </a:gs>
            <a:gs pos="100000">
              <a:schemeClr val="accent6"/>
            </a:gs>
          </a:gsLst>
          <a:lin ang="2700000" scaled="1"/>
        </a:gradFill>
        <a:effectLst/>
      </p:bgPr>
    </p:bg>
    <p:spTree>
      <p:nvGrpSpPr>
        <p:cNvPr id="1" name=""/>
        <p:cNvGrpSpPr/>
        <p:nvPr/>
      </p:nvGrpSpPr>
      <p:grpSpPr>
        <a:xfrm>
          <a:off x="0" y="0"/>
          <a:ext cx="0" cy="0"/>
          <a:chOff x="0" y="0"/>
          <a:chExt cx="0" cy="0"/>
        </a:xfrm>
      </p:grpSpPr>
      <p:sp>
        <p:nvSpPr>
          <p:cNvPr id="2" name="Rectangle 2"/>
          <p:cNvSpPr/>
          <p:nvPr/>
        </p:nvSpPr>
        <p:spPr>
          <a:xfrm>
            <a:off x="609600" y="495300"/>
            <a:ext cx="57150" cy="285750"/>
          </a:xfrm>
          <a:prstGeom prst="roundRect">
            <a:avLst>
              <a:gd name="adj" fmla="val 50000"/>
            </a:avLst>
          </a:prstGeom>
          <a:solidFill>
            <a:schemeClr val="accent2"/>
          </a:solidFill>
          <a:ln>
            <a:noFill/>
          </a:ln>
        </p:spPr>
        <p:txBody>
          <a:bodyPr/>
          <a:p/>
        </p:txBody>
      </p:sp>
      <p:sp>
        <p:nvSpPr>
          <p:cNvPr id="3" name="TextBox 3"/>
          <p:cNvSpPr txBox="1"/>
          <p:nvPr/>
        </p:nvSpPr>
        <p:spPr>
          <a:xfrm>
            <a:off x="794385" y="507206"/>
            <a:ext cx="1188836" cy="220028"/>
          </a:xfrm>
          <a:prstGeom prst="rect">
            <a:avLst/>
          </a:prstGeom>
          <a:noFill/>
          <a:ln>
            <a:noFill/>
          </a:ln>
        </p:spPr>
        <p:txBody>
          <a:bodyPr wrap="none" lIns="0" tIns="0" rIns="0" bIns="0" anchor="t" anchorCtr="0">
            <a:spAutoFit/>
          </a:bodyPr>
          <a:lstStyle/>
          <a:p>
            <a:pPr algn="l"/>
            <a:r>
              <a:rPr lang="en-US" sz="1120" b="1" spc="188" dirty="0">
                <a:solidFill>
                  <a:schemeClr val="accent2"/>
                </a:solidFill>
                <a:latin typeface="+mn-lt"/>
                <a:ea typeface="+mn-ea"/>
                <a:cs typeface="+mn-cs"/>
              </a:rPr>
              <a:t>MOTIVATION</a:t>
            </a:r>
          </a:p>
        </p:txBody>
      </p:sp>
      <p:sp>
        <p:nvSpPr>
          <p:cNvPr id="4" name="TextBox 4"/>
          <p:cNvSpPr txBox="1"/>
          <p:nvPr/>
        </p:nvSpPr>
        <p:spPr>
          <a:xfrm>
            <a:off x="787527" y="647224"/>
            <a:ext cx="6434763"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n-lt"/>
                <a:ea typeface="+mn-ea"/>
                <a:cs typeface="+mn-cs"/>
              </a:rPr>
              <a:t>Trade compute for speed, not quality</a:t>
            </a:r>
          </a:p>
        </p:txBody>
      </p:sp>
      <p:sp>
        <p:nvSpPr>
          <p:cNvPr id="5" name="Line 5"/>
          <p:cNvSpPr/>
          <p:nvPr/>
        </p:nvSpPr>
        <p:spPr>
          <a:xfrm>
            <a:off x="609600" y="1123950"/>
            <a:ext cx="10972800" cy="9525"/>
          </a:xfrm>
          <a:custGeom>
            <a:avLst/>
            <a:gdLst/>
            <a:ahLst/>
            <a:cxnLst/>
            <a:rect l="l" t="t" r="r" b="b"/>
            <a:pathLst>
              <a:path w="10972800" h="9525">
                <a:moveTo>
                  <a:pt x="0" y="0"/>
                </a:moveTo>
                <a:lnTo>
                  <a:pt x="10972800" y="0"/>
                </a:lnTo>
              </a:path>
            </a:pathLst>
          </a:custGeom>
          <a:noFill/>
          <a:ln w="11430" cap="rnd">
            <a:solidFill>
              <a:schemeClr val="accent4"/>
            </a:solidFill>
          </a:ln>
        </p:spPr>
        <p:txBody>
          <a:bodyPr/>
          <a:p/>
        </p:txBody>
      </p:sp>
      <p:sp>
        <p:nvSpPr>
          <p:cNvPr id="6" name="TextBox 6"/>
          <p:cNvSpPr txBox="1"/>
          <p:nvPr/>
        </p:nvSpPr>
        <p:spPr>
          <a:xfrm>
            <a:off x="10989399" y="515302"/>
            <a:ext cx="598335" cy="205359"/>
          </a:xfrm>
          <a:prstGeom prst="rect">
            <a:avLst/>
          </a:prstGeom>
          <a:noFill/>
          <a:ln>
            <a:noFill/>
          </a:ln>
        </p:spPr>
        <p:txBody>
          <a:bodyPr wrap="none" lIns="0" tIns="0" rIns="0" bIns="0" anchor="t" anchorCtr="0">
            <a:spAutoFit/>
          </a:bodyPr>
          <a:lstStyle/>
          <a:p>
            <a:pPr algn="r"/>
            <a:r>
              <a:rPr lang="en-US" sz="1050" b="1" spc="112" dirty="0">
                <a:solidFill>
                  <a:srgbClr val="8FA3B8"/>
                </a:solidFill>
                <a:latin typeface="+mn-lt"/>
                <a:ea typeface="+mn-ea"/>
                <a:cs typeface="+mn-cs"/>
              </a:rPr>
              <a:t>03 / 10</a:t>
            </a:r>
          </a:p>
        </p:txBody>
      </p:sp>
      <p:grpSp>
        <p:nvGrpSpPr>
          <p:cNvPr id="16" name="Group 16"/>
          <p:cNvGrpSpPr/>
          <p:nvPr/>
        </p:nvGrpSpPr>
        <p:grpSpPr>
          <a:xfrm>
            <a:off x="609600" y="1314450"/>
            <a:ext cx="5372100" cy="2457450"/>
            <a:chOff x="609600" y="1314450"/>
            <a:chExt cx="5372100" cy="2457450"/>
          </a:xfrm>
        </p:grpSpPr>
        <p:sp>
          <p:nvSpPr>
            <p:cNvPr id="7" name="Rectangle 7"/>
            <p:cNvSpPr/>
            <p:nvPr/>
          </p:nvSpPr>
          <p:spPr>
            <a:xfrm>
              <a:off x="609600" y="1314450"/>
              <a:ext cx="5372100" cy="2457450"/>
            </a:xfrm>
            <a:prstGeom prst="roundRect">
              <a:avLst>
                <a:gd name="adj" fmla="val 6202"/>
              </a:avLst>
            </a:prstGeom>
            <a:solidFill>
              <a:srgbClr val="172331"/>
            </a:solidFill>
            <a:ln w="14288">
              <a:solidFill>
                <a:schemeClr val="accent4"/>
              </a:solidFill>
            </a:ln>
          </p:spPr>
        </p:sp>
        <p:sp>
          <p:nvSpPr>
            <p:cNvPr id="8" name="Rectangle 8"/>
            <p:cNvSpPr/>
            <p:nvPr/>
          </p:nvSpPr>
          <p:spPr>
            <a:xfrm>
              <a:off x="609600" y="1447800"/>
              <a:ext cx="47625" cy="2190750"/>
            </a:xfrm>
            <a:prstGeom prst="roundRect">
              <a:avLst>
                <a:gd name="adj" fmla="val 50000"/>
              </a:avLst>
            </a:prstGeom>
            <a:solidFill>
              <a:schemeClr val="accent2"/>
            </a:solidFill>
            <a:ln>
              <a:noFill/>
            </a:ln>
          </p:spPr>
        </p:sp>
        <p:sp>
          <p:nvSpPr>
            <p:cNvPr id="9" name="Ellipse 9"/>
            <p:cNvSpPr/>
            <p:nvPr/>
          </p:nvSpPr>
          <p:spPr>
            <a:xfrm>
              <a:off x="838200" y="1514475"/>
              <a:ext cx="285750" cy="285750"/>
            </a:xfrm>
            <a:prstGeom prst="ellipse">
              <a:avLst/>
            </a:prstGeom>
            <a:solidFill>
              <a:schemeClr val="accent2"/>
            </a:solidFill>
            <a:ln>
              <a:noFill/>
            </a:ln>
          </p:spPr>
        </p:sp>
        <p:sp>
          <p:nvSpPr>
            <p:cNvPr id="10" name="TextBox 10"/>
            <p:cNvSpPr txBox="1"/>
            <p:nvPr/>
          </p:nvSpPr>
          <p:spPr>
            <a:xfrm>
              <a:off x="928333" y="158496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1</a:t>
              </a:r>
            </a:p>
          </p:txBody>
        </p:sp>
        <p:sp>
          <p:nvSpPr>
            <p:cNvPr id="11" name="TextBox 11"/>
            <p:cNvSpPr txBox="1"/>
            <p:nvPr/>
          </p:nvSpPr>
          <p:spPr>
            <a:xfrm>
              <a:off x="1211961" y="1598771"/>
              <a:ext cx="230883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An orthogonal direction</a:t>
              </a:r>
            </a:p>
          </p:txBody>
        </p:sp>
        <p:sp>
          <p:nvSpPr>
            <p:cNvPr id="12" name="TextBox 12"/>
            <p:cNvSpPr txBox="1"/>
            <p:nvPr/>
          </p:nvSpPr>
          <p:spPr>
            <a:xfrm>
              <a:off x="851344" y="1912858"/>
              <a:ext cx="2281049"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Instead of trading quality for</a:t>
              </a:r>
            </a:p>
          </p:txBody>
        </p:sp>
        <p:sp>
          <p:nvSpPr>
            <p:cNvPr id="13" name="TextBox 13"/>
            <p:cNvSpPr txBox="1"/>
            <p:nvPr/>
          </p:nvSpPr>
          <p:spPr>
            <a:xfrm>
              <a:off x="851344" y="2141458"/>
              <a:ext cx="2080920"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speed, ask a new question:</a:t>
              </a:r>
            </a:p>
          </p:txBody>
        </p:sp>
        <p:sp>
          <p:nvSpPr>
            <p:cNvPr id="14" name="TextBox 14"/>
            <p:cNvSpPr txBox="1"/>
            <p:nvPr/>
          </p:nvSpPr>
          <p:spPr>
            <a:xfrm>
              <a:off x="851344" y="2370058"/>
              <a:ext cx="2041881"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can extra parallel compute</a:t>
              </a:r>
            </a:p>
          </p:txBody>
        </p:sp>
        <p:sp>
          <p:nvSpPr>
            <p:cNvPr id="15" name="TextBox 15"/>
            <p:cNvSpPr txBox="1"/>
            <p:nvPr/>
          </p:nvSpPr>
          <p:spPr>
            <a:xfrm>
              <a:off x="851344" y="2598658"/>
              <a:ext cx="1432860"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buy lower latency?</a:t>
              </a:r>
            </a:p>
          </p:txBody>
        </p:sp>
      </p:grpSp>
      <p:grpSp>
        <p:nvGrpSpPr>
          <p:cNvPr id="26" name="Group 26"/>
          <p:cNvGrpSpPr/>
          <p:nvPr/>
        </p:nvGrpSpPr>
        <p:grpSpPr>
          <a:xfrm>
            <a:off x="6210300" y="1314450"/>
            <a:ext cx="5372100" cy="2457450"/>
            <a:chOff x="6210300" y="1314450"/>
            <a:chExt cx="5372100" cy="2457450"/>
          </a:xfrm>
        </p:grpSpPr>
        <p:sp>
          <p:nvSpPr>
            <p:cNvPr id="17" name="Rectangle 17"/>
            <p:cNvSpPr/>
            <p:nvPr/>
          </p:nvSpPr>
          <p:spPr>
            <a:xfrm>
              <a:off x="6210300" y="1314450"/>
              <a:ext cx="5372100" cy="2457450"/>
            </a:xfrm>
            <a:prstGeom prst="roundRect">
              <a:avLst>
                <a:gd name="adj" fmla="val 6202"/>
              </a:avLst>
            </a:prstGeom>
            <a:solidFill>
              <a:srgbClr val="172331"/>
            </a:solidFill>
            <a:ln w="14288">
              <a:solidFill>
                <a:schemeClr val="accent4"/>
              </a:solidFill>
            </a:ln>
          </p:spPr>
        </p:sp>
        <p:sp>
          <p:nvSpPr>
            <p:cNvPr id="18" name="Rectangle 18"/>
            <p:cNvSpPr/>
            <p:nvPr/>
          </p:nvSpPr>
          <p:spPr>
            <a:xfrm>
              <a:off x="6210300" y="1447800"/>
              <a:ext cx="47625" cy="2190750"/>
            </a:xfrm>
            <a:prstGeom prst="roundRect">
              <a:avLst>
                <a:gd name="adj" fmla="val 50000"/>
              </a:avLst>
            </a:prstGeom>
            <a:solidFill>
              <a:srgbClr val="2DD4BF"/>
            </a:solidFill>
            <a:ln>
              <a:noFill/>
            </a:ln>
          </p:spPr>
        </p:sp>
        <p:sp>
          <p:nvSpPr>
            <p:cNvPr id="19" name="Ellipse 19"/>
            <p:cNvSpPr/>
            <p:nvPr/>
          </p:nvSpPr>
          <p:spPr>
            <a:xfrm>
              <a:off x="6438900" y="1514475"/>
              <a:ext cx="285750" cy="285750"/>
            </a:xfrm>
            <a:prstGeom prst="ellipse">
              <a:avLst/>
            </a:prstGeom>
            <a:solidFill>
              <a:srgbClr val="2DD4BF"/>
            </a:solidFill>
            <a:ln>
              <a:noFill/>
            </a:ln>
          </p:spPr>
        </p:sp>
        <p:sp>
          <p:nvSpPr>
            <p:cNvPr id="20" name="TextBox 20"/>
            <p:cNvSpPr txBox="1"/>
            <p:nvPr/>
          </p:nvSpPr>
          <p:spPr>
            <a:xfrm>
              <a:off x="6529033" y="158496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2</a:t>
              </a:r>
            </a:p>
          </p:txBody>
        </p:sp>
        <p:sp>
          <p:nvSpPr>
            <p:cNvPr id="21" name="TextBox 21"/>
            <p:cNvSpPr txBox="1"/>
            <p:nvPr/>
          </p:nvSpPr>
          <p:spPr>
            <a:xfrm>
              <a:off x="6812661" y="1598771"/>
              <a:ext cx="246010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Latency, not throughput</a:t>
              </a:r>
            </a:p>
          </p:txBody>
        </p:sp>
        <p:sp>
          <p:nvSpPr>
            <p:cNvPr id="22" name="TextBox 22"/>
            <p:cNvSpPr txBox="1"/>
            <p:nvPr/>
          </p:nvSpPr>
          <p:spPr>
            <a:xfrm>
              <a:off x="6452044" y="1912858"/>
              <a:ext cx="2250383"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Goal: make one sample appear</a:t>
              </a:r>
            </a:p>
          </p:txBody>
        </p:sp>
        <p:sp>
          <p:nvSpPr>
            <p:cNvPr id="23" name="TextBox 23"/>
            <p:cNvSpPr txBox="1"/>
            <p:nvPr/>
          </p:nvSpPr>
          <p:spPr>
            <a:xfrm>
              <a:off x="6452044" y="2141458"/>
              <a:ext cx="1995033"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faster in wall-clock time,</a:t>
              </a:r>
            </a:p>
          </p:txBody>
        </p:sp>
        <p:sp>
          <p:nvSpPr>
            <p:cNvPr id="24" name="TextBox 24"/>
            <p:cNvSpPr txBox="1"/>
            <p:nvPr/>
          </p:nvSpPr>
          <p:spPr>
            <a:xfrm>
              <a:off x="6452044" y="2370058"/>
              <a:ext cx="1776410"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not just generate many</a:t>
              </a:r>
            </a:p>
          </p:txBody>
        </p:sp>
        <p:sp>
          <p:nvSpPr>
            <p:cNvPr id="25" name="TextBox 25"/>
            <p:cNvSpPr txBox="1"/>
            <p:nvPr/>
          </p:nvSpPr>
          <p:spPr>
            <a:xfrm>
              <a:off x="6452044" y="2598658"/>
              <a:ext cx="1487515"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samples in parallel.</a:t>
              </a:r>
            </a:p>
          </p:txBody>
        </p:sp>
      </p:grpSp>
      <p:grpSp>
        <p:nvGrpSpPr>
          <p:cNvPr id="36" name="Group 36"/>
          <p:cNvGrpSpPr/>
          <p:nvPr/>
        </p:nvGrpSpPr>
        <p:grpSpPr>
          <a:xfrm>
            <a:off x="609600" y="4000500"/>
            <a:ext cx="5372100" cy="2457450"/>
            <a:chOff x="609600" y="4000500"/>
            <a:chExt cx="5372100" cy="2457450"/>
          </a:xfrm>
        </p:grpSpPr>
        <p:sp>
          <p:nvSpPr>
            <p:cNvPr id="27" name="Rectangle 27"/>
            <p:cNvSpPr/>
            <p:nvPr/>
          </p:nvSpPr>
          <p:spPr>
            <a:xfrm>
              <a:off x="609600" y="4000500"/>
              <a:ext cx="5372100" cy="2457450"/>
            </a:xfrm>
            <a:prstGeom prst="roundRect">
              <a:avLst>
                <a:gd name="adj" fmla="val 6202"/>
              </a:avLst>
            </a:prstGeom>
            <a:solidFill>
              <a:srgbClr val="172331"/>
            </a:solidFill>
            <a:ln w="14288">
              <a:solidFill>
                <a:schemeClr val="accent4"/>
              </a:solidFill>
            </a:ln>
          </p:spPr>
        </p:sp>
        <p:sp>
          <p:nvSpPr>
            <p:cNvPr id="28" name="Rectangle 28"/>
            <p:cNvSpPr/>
            <p:nvPr/>
          </p:nvSpPr>
          <p:spPr>
            <a:xfrm>
              <a:off x="609600" y="4133850"/>
              <a:ext cx="47625" cy="2190750"/>
            </a:xfrm>
            <a:prstGeom prst="roundRect">
              <a:avLst>
                <a:gd name="adj" fmla="val 50000"/>
              </a:avLst>
            </a:prstGeom>
            <a:solidFill>
              <a:srgbClr val="FBBF24"/>
            </a:solidFill>
            <a:ln>
              <a:noFill/>
            </a:ln>
          </p:spPr>
        </p:sp>
        <p:sp>
          <p:nvSpPr>
            <p:cNvPr id="29" name="Ellipse 29"/>
            <p:cNvSpPr/>
            <p:nvPr/>
          </p:nvSpPr>
          <p:spPr>
            <a:xfrm>
              <a:off x="838200" y="4200525"/>
              <a:ext cx="285750" cy="285750"/>
            </a:xfrm>
            <a:prstGeom prst="ellipse">
              <a:avLst/>
            </a:prstGeom>
            <a:solidFill>
              <a:srgbClr val="FBBF24"/>
            </a:solidFill>
            <a:ln>
              <a:noFill/>
            </a:ln>
          </p:spPr>
        </p:sp>
        <p:sp>
          <p:nvSpPr>
            <p:cNvPr id="30" name="TextBox 30"/>
            <p:cNvSpPr txBox="1"/>
            <p:nvPr/>
          </p:nvSpPr>
          <p:spPr>
            <a:xfrm>
              <a:off x="928333" y="427101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3</a:t>
              </a:r>
            </a:p>
          </p:txBody>
        </p:sp>
        <p:sp>
          <p:nvSpPr>
            <p:cNvPr id="31" name="TextBox 31"/>
            <p:cNvSpPr txBox="1"/>
            <p:nvPr/>
          </p:nvSpPr>
          <p:spPr>
            <a:xfrm>
              <a:off x="1211961" y="4284821"/>
              <a:ext cx="220820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Denoising is sequential</a:t>
              </a:r>
            </a:p>
          </p:txBody>
        </p:sp>
        <p:sp>
          <p:nvSpPr>
            <p:cNvPr id="32" name="TextBox 32"/>
            <p:cNvSpPr txBox="1"/>
            <p:nvPr/>
          </p:nvSpPr>
          <p:spPr>
            <a:xfrm>
              <a:off x="851344" y="4598908"/>
              <a:ext cx="1922345"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Each step depends on the</a:t>
              </a:r>
            </a:p>
          </p:txBody>
        </p:sp>
        <p:sp>
          <p:nvSpPr>
            <p:cNvPr id="33" name="TextBox 33"/>
            <p:cNvSpPr txBox="1"/>
            <p:nvPr/>
          </p:nvSpPr>
          <p:spPr>
            <a:xfrm>
              <a:off x="851344" y="4827508"/>
              <a:ext cx="2182424"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previous one, so speeding up</a:t>
              </a:r>
            </a:p>
          </p:txBody>
        </p:sp>
        <p:sp>
          <p:nvSpPr>
            <p:cNvPr id="34" name="TextBox 34"/>
            <p:cNvSpPr txBox="1"/>
            <p:nvPr/>
          </p:nvSpPr>
          <p:spPr>
            <a:xfrm>
              <a:off x="851344" y="5056108"/>
              <a:ext cx="1885721"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a single trajectory looks</a:t>
              </a:r>
            </a:p>
          </p:txBody>
        </p:sp>
        <p:sp>
          <p:nvSpPr>
            <p:cNvPr id="35" name="TextBox 35"/>
            <p:cNvSpPr txBox="1"/>
            <p:nvPr/>
          </p:nvSpPr>
          <p:spPr>
            <a:xfrm>
              <a:off x="851344" y="5284708"/>
              <a:ext cx="1526555"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impossible at first.</a:t>
              </a:r>
            </a:p>
          </p:txBody>
        </p:sp>
      </p:grpSp>
      <p:grpSp>
        <p:nvGrpSpPr>
          <p:cNvPr id="46" name="Group 46"/>
          <p:cNvGrpSpPr/>
          <p:nvPr/>
        </p:nvGrpSpPr>
        <p:grpSpPr>
          <a:xfrm>
            <a:off x="6210300" y="4000500"/>
            <a:ext cx="5372100" cy="2457450"/>
            <a:chOff x="6210300" y="4000500"/>
            <a:chExt cx="5372100" cy="2457450"/>
          </a:xfrm>
        </p:grpSpPr>
        <p:sp>
          <p:nvSpPr>
            <p:cNvPr id="37" name="Rectangle 37"/>
            <p:cNvSpPr/>
            <p:nvPr/>
          </p:nvSpPr>
          <p:spPr>
            <a:xfrm>
              <a:off x="6210300" y="4000500"/>
              <a:ext cx="5372100" cy="2457450"/>
            </a:xfrm>
            <a:prstGeom prst="roundRect">
              <a:avLst>
                <a:gd name="adj" fmla="val 6202"/>
              </a:avLst>
            </a:prstGeom>
            <a:solidFill>
              <a:srgbClr val="172331"/>
            </a:solidFill>
            <a:ln w="14288">
              <a:solidFill>
                <a:schemeClr val="accent4"/>
              </a:solidFill>
            </a:ln>
          </p:spPr>
        </p:sp>
        <p:sp>
          <p:nvSpPr>
            <p:cNvPr id="38" name="Rectangle 38"/>
            <p:cNvSpPr/>
            <p:nvPr/>
          </p:nvSpPr>
          <p:spPr>
            <a:xfrm>
              <a:off x="6210300" y="4133850"/>
              <a:ext cx="47625" cy="2190750"/>
            </a:xfrm>
            <a:prstGeom prst="roundRect">
              <a:avLst>
                <a:gd name="adj" fmla="val 50000"/>
              </a:avLst>
            </a:prstGeom>
            <a:solidFill>
              <a:srgbClr val="A78BFA"/>
            </a:solidFill>
            <a:ln>
              <a:noFill/>
            </a:ln>
          </p:spPr>
        </p:sp>
        <p:sp>
          <p:nvSpPr>
            <p:cNvPr id="39" name="Ellipse 39"/>
            <p:cNvSpPr/>
            <p:nvPr/>
          </p:nvSpPr>
          <p:spPr>
            <a:xfrm>
              <a:off x="6438900" y="4200525"/>
              <a:ext cx="285750" cy="285750"/>
            </a:xfrm>
            <a:prstGeom prst="ellipse">
              <a:avLst/>
            </a:prstGeom>
            <a:solidFill>
              <a:srgbClr val="A78BFA"/>
            </a:solidFill>
            <a:ln>
              <a:noFill/>
            </a:ln>
          </p:spPr>
        </p:sp>
        <p:sp>
          <p:nvSpPr>
            <p:cNvPr id="40" name="TextBox 40"/>
            <p:cNvSpPr txBox="1"/>
            <p:nvPr/>
          </p:nvSpPr>
          <p:spPr>
            <a:xfrm>
              <a:off x="6529033" y="427101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4</a:t>
              </a:r>
            </a:p>
          </p:txBody>
        </p:sp>
        <p:sp>
          <p:nvSpPr>
            <p:cNvPr id="41" name="TextBox 41"/>
            <p:cNvSpPr txBox="1"/>
            <p:nvPr/>
          </p:nvSpPr>
          <p:spPr>
            <a:xfrm>
              <a:off x="6812661" y="4284821"/>
              <a:ext cx="276024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Naive parallelism falls short</a:t>
              </a:r>
            </a:p>
          </p:txBody>
        </p:sp>
        <p:sp>
          <p:nvSpPr>
            <p:cNvPr id="42" name="TextBox 42"/>
            <p:cNvSpPr txBox="1"/>
            <p:nvPr/>
          </p:nvSpPr>
          <p:spPr>
            <a:xfrm>
              <a:off x="6452044" y="4598908"/>
              <a:ext cx="2250154"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Running many samples at once</a:t>
              </a:r>
            </a:p>
          </p:txBody>
        </p:sp>
        <p:sp>
          <p:nvSpPr>
            <p:cNvPr id="43" name="TextBox 43"/>
            <p:cNvSpPr txBox="1"/>
            <p:nvPr/>
          </p:nvSpPr>
          <p:spPr>
            <a:xfrm>
              <a:off x="6452044" y="4827508"/>
              <a:ext cx="1831066"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raises throughput only.</a:t>
              </a:r>
            </a:p>
          </p:txBody>
        </p:sp>
        <p:sp>
          <p:nvSpPr>
            <p:cNvPr id="44" name="TextBox 44"/>
            <p:cNvSpPr txBox="1"/>
            <p:nvPr/>
          </p:nvSpPr>
          <p:spPr>
            <a:xfrm>
              <a:off x="6452044" y="5056108"/>
              <a:ext cx="2265399"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Cutting single-sample latency</a:t>
              </a:r>
            </a:p>
          </p:txBody>
        </p:sp>
        <p:sp>
          <p:nvSpPr>
            <p:cNvPr id="45" name="TextBox 45"/>
            <p:cNvSpPr txBox="1"/>
            <p:nvPr/>
          </p:nvSpPr>
          <p:spPr>
            <a:xfrm>
              <a:off x="6452044" y="5284708"/>
              <a:ext cx="2159000"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is the much harder problem.</a:t>
              </a:r>
            </a:p>
          </p:txBody>
        </p:sp>
      </p:grpSp>
      <p:sp>
        <p:nvSpPr>
          <p:cNvPr id="47" name="TextBox 47"/>
          <p:cNvSpPr txBox="1"/>
          <p:nvPr/>
        </p:nvSpPr>
        <p:spPr>
          <a:xfrm>
            <a:off x="604647" y="6562249"/>
            <a:ext cx="2487873" cy="190690"/>
          </a:xfrm>
          <a:prstGeom prst="rect">
            <a:avLst/>
          </a:prstGeom>
          <a:noFill/>
          <a:ln>
            <a:noFill/>
          </a:ln>
        </p:spPr>
        <p:txBody>
          <a:bodyPr wrap="none" lIns="0" tIns="0" rIns="0" bIns="0" anchor="t" anchorCtr="0">
            <a:spAutoFit/>
          </a:bodyPr>
          <a:lstStyle/>
          <a:p>
            <a:pPr algn="l"/>
            <a:r>
              <a:rPr lang="en-US" sz="980" dirty="0">
                <a:solidFill>
                  <a:srgbClr val="8FA3B8"/>
                </a:solidFill>
                <a:latin typeface="+mn-lt"/>
                <a:ea typeface="+mn-ea"/>
                <a:cs typeface="+mn-cs"/>
              </a:rPr>
              <a:t>ParaDiGMS · Shih et al. · NeurIPS 2023</a:t>
            </a:r>
          </a:p>
        </p:txBody>
      </p:sp>
      <p:sp>
        <p:nvSpPr>
          <p:cNvPr id="48" name="TextBox 48"/>
          <p:cNvSpPr txBox="1"/>
          <p:nvPr/>
        </p:nvSpPr>
        <p:spPr>
          <a:xfrm>
            <a:off x="9868985" y="6562249"/>
            <a:ext cx="1718368" cy="190690"/>
          </a:xfrm>
          <a:prstGeom prst="rect">
            <a:avLst/>
          </a:prstGeom>
          <a:noFill/>
          <a:ln>
            <a:noFill/>
          </a:ln>
        </p:spPr>
        <p:txBody>
          <a:bodyPr wrap="none" lIns="0" tIns="0" rIns="0" bIns="0" anchor="t" anchorCtr="0">
            <a:spAutoFit/>
          </a:bodyPr>
          <a:lstStyle/>
          <a:p>
            <a:pPr algn="r"/>
            <a:r>
              <a:rPr lang="en-US" sz="980" dirty="0">
                <a:solidFill>
                  <a:srgbClr val="8FA3B8"/>
                </a:solidFill>
                <a:latin typeface="+mn-lt"/>
                <a:ea typeface="+mn-ea"/>
                <a:cs typeface="+mn-cs"/>
              </a:rPr>
              <a:t>arxiv.org/abs/2305.16317</a:t>
            </a:r>
          </a:p>
        </p:txBody>
      </p:sp>
      <p:sp>
        <p:nvSpPr>
          <p:cNvPr id="49" name="cue_s03_c1_authors_pursue_orthogonal_direction" title="cue_s03_c1_authors_pursue_orthogonal_direction" descr="cue_s03_c1_authors_pursue_orthogonal_direction The authors pursue an orthogonal direction. Instead of trading quality for speed, they ask whether we can trade compute for speed."/>
          <p:cNvSpPr/>
          <p:nvPr/>
        </p:nvSpPr>
        <p:spPr>
          <a:xfrm>
            <a:off x="609600" y="1314678"/>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3_c2_goal_lower_latency_generating_single" title="cue_s03_c2_goal_lower_latency_generating_single" descr="cue_s03_c2_goal_lower_latency_generating_single The goal is to lower the latency of generating a single sample, not just the throughput of generating many."/>
          <p:cNvSpPr/>
          <p:nvPr/>
        </p:nvSpPr>
        <p:spPr>
          <a:xfrm>
            <a:off x="6210604" y="1314678"/>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3_c3_first_seems_impossible_because_denoi" title="cue_s03_c3_first_seems_impossible_because_denoi" descr="cue_s03_c3_first_seems_impossible_because_denoi At first this seems impossible, because denoising is inherently sequential: each step depends on the previous one."/>
          <p:cNvSpPr/>
          <p:nvPr/>
        </p:nvSpPr>
        <p:spPr>
          <a:xfrm>
            <a:off x="609600" y="40002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3_c4_naive_parallelization_generate_multi" title="cue_s03_c4_naive_parallelization_generate_multi" descr="cue_s03_c4_naive_parallelization_generate_multi Naive parallelization can generate multiple samples at once, but making a single sample appear faster in wall-clock time is a much harder problem."/>
          <p:cNvSpPr/>
          <p:nvPr/>
        </p:nvSpPr>
        <p:spPr>
          <a:xfrm>
            <a:off x="6210604" y="40002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5"/>
            </a:gs>
            <a:gs pos="100000">
              <a:schemeClr val="accent6"/>
            </a:gs>
          </a:gsLst>
          <a:lin ang="2700000" scaled="1"/>
        </a:gradFill>
        <a:effectLst/>
      </p:bgPr>
    </p:bg>
    <p:spTree>
      <p:nvGrpSpPr>
        <p:cNvPr id="1" name=""/>
        <p:cNvGrpSpPr/>
        <p:nvPr/>
      </p:nvGrpSpPr>
      <p:grpSpPr>
        <a:xfrm>
          <a:off x="0" y="0"/>
          <a:ext cx="0" cy="0"/>
          <a:chOff x="0" y="0"/>
          <a:chExt cx="0" cy="0"/>
        </a:xfrm>
      </p:grpSpPr>
      <p:sp>
        <p:nvSpPr>
          <p:cNvPr id="2" name="Rectangle 2"/>
          <p:cNvSpPr/>
          <p:nvPr/>
        </p:nvSpPr>
        <p:spPr>
          <a:xfrm>
            <a:off x="609600" y="495300"/>
            <a:ext cx="57150" cy="285750"/>
          </a:xfrm>
          <a:prstGeom prst="roundRect">
            <a:avLst>
              <a:gd name="adj" fmla="val 50000"/>
            </a:avLst>
          </a:prstGeom>
          <a:solidFill>
            <a:srgbClr val="2DD4BF"/>
          </a:solidFill>
          <a:ln>
            <a:noFill/>
          </a:ln>
        </p:spPr>
        <p:txBody>
          <a:bodyPr/>
          <a:p/>
        </p:txBody>
      </p:sp>
      <p:sp>
        <p:nvSpPr>
          <p:cNvPr id="3" name="TextBox 3"/>
          <p:cNvSpPr txBox="1"/>
          <p:nvPr/>
        </p:nvSpPr>
        <p:spPr>
          <a:xfrm>
            <a:off x="794385" y="507206"/>
            <a:ext cx="1392865" cy="220028"/>
          </a:xfrm>
          <a:prstGeom prst="rect">
            <a:avLst/>
          </a:prstGeom>
          <a:noFill/>
          <a:ln>
            <a:noFill/>
          </a:ln>
        </p:spPr>
        <p:txBody>
          <a:bodyPr wrap="none" lIns="0" tIns="0" rIns="0" bIns="0" anchor="t" anchorCtr="0">
            <a:spAutoFit/>
          </a:bodyPr>
          <a:lstStyle/>
          <a:p>
            <a:pPr algn="l"/>
            <a:r>
              <a:rPr lang="en-US" sz="1120" b="1" spc="188" dirty="0">
                <a:solidFill>
                  <a:srgbClr val="2DD4BF"/>
                </a:solidFill>
                <a:latin typeface="+mn-lt"/>
                <a:ea typeface="+mn-ea"/>
                <a:cs typeface="+mn-cs"/>
              </a:rPr>
              <a:t>CONTRIBUTION</a:t>
            </a:r>
          </a:p>
        </p:txBody>
      </p:sp>
      <p:sp>
        <p:nvSpPr>
          <p:cNvPr id="4" name="TextBox 4"/>
          <p:cNvSpPr txBox="1"/>
          <p:nvPr/>
        </p:nvSpPr>
        <p:spPr>
          <a:xfrm>
            <a:off x="787527" y="647224"/>
            <a:ext cx="5783599"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n-lt"/>
                <a:ea typeface="+mn-ea"/>
                <a:cs typeface="+mn-cs"/>
              </a:rPr>
              <a:t>ParaDiGMS: a new axis of speedup</a:t>
            </a:r>
          </a:p>
        </p:txBody>
      </p:sp>
      <p:sp>
        <p:nvSpPr>
          <p:cNvPr id="5" name="Line 5"/>
          <p:cNvSpPr/>
          <p:nvPr/>
        </p:nvSpPr>
        <p:spPr>
          <a:xfrm>
            <a:off x="609600" y="1123950"/>
            <a:ext cx="10972800" cy="9525"/>
          </a:xfrm>
          <a:custGeom>
            <a:avLst/>
            <a:gdLst/>
            <a:ahLst/>
            <a:cxnLst/>
            <a:rect l="l" t="t" r="r" b="b"/>
            <a:pathLst>
              <a:path w="10972800" h="9525">
                <a:moveTo>
                  <a:pt x="0" y="0"/>
                </a:moveTo>
                <a:lnTo>
                  <a:pt x="10972800" y="0"/>
                </a:lnTo>
              </a:path>
            </a:pathLst>
          </a:custGeom>
          <a:noFill/>
          <a:ln w="11430" cap="rnd">
            <a:solidFill>
              <a:schemeClr val="accent4"/>
            </a:solidFill>
          </a:ln>
        </p:spPr>
        <p:txBody>
          <a:bodyPr/>
          <a:p/>
        </p:txBody>
      </p:sp>
      <p:sp>
        <p:nvSpPr>
          <p:cNvPr id="6" name="TextBox 6"/>
          <p:cNvSpPr txBox="1"/>
          <p:nvPr/>
        </p:nvSpPr>
        <p:spPr>
          <a:xfrm>
            <a:off x="10989399" y="515302"/>
            <a:ext cx="598335" cy="205359"/>
          </a:xfrm>
          <a:prstGeom prst="rect">
            <a:avLst/>
          </a:prstGeom>
          <a:noFill/>
          <a:ln>
            <a:noFill/>
          </a:ln>
        </p:spPr>
        <p:txBody>
          <a:bodyPr wrap="none" lIns="0" tIns="0" rIns="0" bIns="0" anchor="t" anchorCtr="0">
            <a:spAutoFit/>
          </a:bodyPr>
          <a:lstStyle/>
          <a:p>
            <a:pPr algn="r"/>
            <a:r>
              <a:rPr lang="en-US" sz="1050" b="1" spc="112" dirty="0">
                <a:solidFill>
                  <a:srgbClr val="8FA3B8"/>
                </a:solidFill>
                <a:latin typeface="+mn-lt"/>
                <a:ea typeface="+mn-ea"/>
                <a:cs typeface="+mn-cs"/>
              </a:rPr>
              <a:t>04 / 10</a:t>
            </a:r>
          </a:p>
        </p:txBody>
      </p:sp>
      <p:grpSp>
        <p:nvGrpSpPr>
          <p:cNvPr id="16" name="Group 16"/>
          <p:cNvGrpSpPr/>
          <p:nvPr/>
        </p:nvGrpSpPr>
        <p:grpSpPr>
          <a:xfrm>
            <a:off x="609600" y="1314450"/>
            <a:ext cx="5372100" cy="2457450"/>
            <a:chOff x="609600" y="1314450"/>
            <a:chExt cx="5372100" cy="2457450"/>
          </a:xfrm>
        </p:grpSpPr>
        <p:sp>
          <p:nvSpPr>
            <p:cNvPr id="7" name="Rectangle 7"/>
            <p:cNvSpPr/>
            <p:nvPr/>
          </p:nvSpPr>
          <p:spPr>
            <a:xfrm>
              <a:off x="609600" y="1314450"/>
              <a:ext cx="5372100" cy="2457450"/>
            </a:xfrm>
            <a:prstGeom prst="roundRect">
              <a:avLst>
                <a:gd name="adj" fmla="val 6202"/>
              </a:avLst>
            </a:prstGeom>
            <a:solidFill>
              <a:srgbClr val="172331"/>
            </a:solidFill>
            <a:ln w="14288">
              <a:solidFill>
                <a:schemeClr val="accent4"/>
              </a:solidFill>
            </a:ln>
          </p:spPr>
        </p:sp>
        <p:sp>
          <p:nvSpPr>
            <p:cNvPr id="8" name="Rectangle 8"/>
            <p:cNvSpPr/>
            <p:nvPr/>
          </p:nvSpPr>
          <p:spPr>
            <a:xfrm>
              <a:off x="609600" y="1447800"/>
              <a:ext cx="47625" cy="2190750"/>
            </a:xfrm>
            <a:prstGeom prst="roundRect">
              <a:avLst>
                <a:gd name="adj" fmla="val 50000"/>
              </a:avLst>
            </a:prstGeom>
            <a:solidFill>
              <a:srgbClr val="2DD4BF"/>
            </a:solidFill>
            <a:ln>
              <a:noFill/>
            </a:ln>
          </p:spPr>
        </p:sp>
        <p:sp>
          <p:nvSpPr>
            <p:cNvPr id="9" name="Ellipse 9"/>
            <p:cNvSpPr/>
            <p:nvPr/>
          </p:nvSpPr>
          <p:spPr>
            <a:xfrm>
              <a:off x="838200" y="1514475"/>
              <a:ext cx="285750" cy="285750"/>
            </a:xfrm>
            <a:prstGeom prst="ellipse">
              <a:avLst/>
            </a:prstGeom>
            <a:solidFill>
              <a:srgbClr val="2DD4BF"/>
            </a:solidFill>
            <a:ln>
              <a:noFill/>
            </a:ln>
          </p:spPr>
        </p:sp>
        <p:sp>
          <p:nvSpPr>
            <p:cNvPr id="10" name="TextBox 10"/>
            <p:cNvSpPr txBox="1"/>
            <p:nvPr/>
          </p:nvSpPr>
          <p:spPr>
            <a:xfrm>
              <a:off x="928333" y="158496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1</a:t>
              </a:r>
            </a:p>
          </p:txBody>
        </p:sp>
        <p:sp>
          <p:nvSpPr>
            <p:cNvPr id="11" name="TextBox 11"/>
            <p:cNvSpPr txBox="1"/>
            <p:nvPr/>
          </p:nvSpPr>
          <p:spPr>
            <a:xfrm>
              <a:off x="1211961" y="1598771"/>
              <a:ext cx="96452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What it is</a:t>
              </a:r>
            </a:p>
          </p:txBody>
        </p:sp>
        <p:sp>
          <p:nvSpPr>
            <p:cNvPr id="12" name="TextBox 12"/>
            <p:cNvSpPr txBox="1"/>
            <p:nvPr/>
          </p:nvSpPr>
          <p:spPr>
            <a:xfrm>
              <a:off x="851344" y="1912858"/>
              <a:ext cx="2302699"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ParaDiGMS = Parallel Diffusion</a:t>
              </a:r>
            </a:p>
          </p:txBody>
        </p:sp>
        <p:sp>
          <p:nvSpPr>
            <p:cNvPr id="13" name="TextBox 13"/>
            <p:cNvSpPr txBox="1"/>
            <p:nvPr/>
          </p:nvSpPr>
          <p:spPr>
            <a:xfrm>
              <a:off x="851344" y="2141458"/>
              <a:ext cx="2088331"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Generative Model Sampling.</a:t>
              </a:r>
            </a:p>
          </p:txBody>
        </p:sp>
        <p:sp>
          <p:nvSpPr>
            <p:cNvPr id="14" name="TextBox 14"/>
            <p:cNvSpPr txBox="1"/>
            <p:nvPr/>
          </p:nvSpPr>
          <p:spPr>
            <a:xfrm>
              <a:off x="851344" y="2370058"/>
              <a:ext cx="2132976"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The first general method to</a:t>
              </a:r>
            </a:p>
          </p:txBody>
        </p:sp>
        <p:sp>
          <p:nvSpPr>
            <p:cNvPr id="15" name="TextBox 15"/>
            <p:cNvSpPr txBox="1"/>
            <p:nvPr/>
          </p:nvSpPr>
          <p:spPr>
            <a:xfrm>
              <a:off x="851344" y="2598658"/>
              <a:ext cx="1987225"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trade compute for speed.</a:t>
              </a:r>
            </a:p>
          </p:txBody>
        </p:sp>
      </p:grpSp>
      <p:grpSp>
        <p:nvGrpSpPr>
          <p:cNvPr id="26" name="Group 26"/>
          <p:cNvGrpSpPr/>
          <p:nvPr/>
        </p:nvGrpSpPr>
        <p:grpSpPr>
          <a:xfrm>
            <a:off x="6210300" y="1314450"/>
            <a:ext cx="5372100" cy="2457450"/>
            <a:chOff x="6210300" y="1314450"/>
            <a:chExt cx="5372100" cy="2457450"/>
          </a:xfrm>
        </p:grpSpPr>
        <p:sp>
          <p:nvSpPr>
            <p:cNvPr id="17" name="Rectangle 17"/>
            <p:cNvSpPr/>
            <p:nvPr/>
          </p:nvSpPr>
          <p:spPr>
            <a:xfrm>
              <a:off x="6210300" y="1314450"/>
              <a:ext cx="5372100" cy="2457450"/>
            </a:xfrm>
            <a:prstGeom prst="roundRect">
              <a:avLst>
                <a:gd name="adj" fmla="val 6202"/>
              </a:avLst>
            </a:prstGeom>
            <a:solidFill>
              <a:srgbClr val="172331"/>
            </a:solidFill>
            <a:ln w="14288">
              <a:solidFill>
                <a:schemeClr val="accent4"/>
              </a:solidFill>
            </a:ln>
          </p:spPr>
        </p:sp>
        <p:sp>
          <p:nvSpPr>
            <p:cNvPr id="18" name="Rectangle 18"/>
            <p:cNvSpPr/>
            <p:nvPr/>
          </p:nvSpPr>
          <p:spPr>
            <a:xfrm>
              <a:off x="6210300" y="1447800"/>
              <a:ext cx="47625" cy="2190750"/>
            </a:xfrm>
            <a:prstGeom prst="roundRect">
              <a:avLst>
                <a:gd name="adj" fmla="val 50000"/>
              </a:avLst>
            </a:prstGeom>
            <a:solidFill>
              <a:srgbClr val="34D399"/>
            </a:solidFill>
            <a:ln>
              <a:noFill/>
            </a:ln>
          </p:spPr>
        </p:sp>
        <p:sp>
          <p:nvSpPr>
            <p:cNvPr id="19" name="Ellipse 19"/>
            <p:cNvSpPr/>
            <p:nvPr/>
          </p:nvSpPr>
          <p:spPr>
            <a:xfrm>
              <a:off x="6438900" y="1514475"/>
              <a:ext cx="285750" cy="285750"/>
            </a:xfrm>
            <a:prstGeom prst="ellipse">
              <a:avLst/>
            </a:prstGeom>
            <a:solidFill>
              <a:srgbClr val="34D399"/>
            </a:solidFill>
            <a:ln>
              <a:noFill/>
            </a:ln>
          </p:spPr>
        </p:sp>
        <p:sp>
          <p:nvSpPr>
            <p:cNvPr id="20" name="TextBox 20"/>
            <p:cNvSpPr txBox="1"/>
            <p:nvPr/>
          </p:nvSpPr>
          <p:spPr>
            <a:xfrm>
              <a:off x="6529033" y="158496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2</a:t>
              </a:r>
            </a:p>
          </p:txBody>
        </p:sp>
        <p:sp>
          <p:nvSpPr>
            <p:cNvPr id="21" name="TextBox 21"/>
            <p:cNvSpPr txBox="1"/>
            <p:nvPr/>
          </p:nvSpPr>
          <p:spPr>
            <a:xfrm>
              <a:off x="6812661" y="1598771"/>
              <a:ext cx="2027974"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No retraining needed</a:t>
              </a:r>
            </a:p>
          </p:txBody>
        </p:sp>
        <p:sp>
          <p:nvSpPr>
            <p:cNvPr id="22" name="TextBox 22"/>
            <p:cNvSpPr txBox="1"/>
            <p:nvPr/>
          </p:nvSpPr>
          <p:spPr>
            <a:xfrm>
              <a:off x="6452044" y="1912858"/>
              <a:ext cx="1867535"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Works on any pretrained</a:t>
              </a:r>
            </a:p>
          </p:txBody>
        </p:sp>
        <p:sp>
          <p:nvSpPr>
            <p:cNvPr id="23" name="TextBox 23"/>
            <p:cNvSpPr txBox="1"/>
            <p:nvPr/>
          </p:nvSpPr>
          <p:spPr>
            <a:xfrm>
              <a:off x="6452044" y="2141458"/>
              <a:ext cx="2307351"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diffusion model out of the box</a:t>
              </a:r>
            </a:p>
          </p:txBody>
        </p:sp>
        <p:sp>
          <p:nvSpPr>
            <p:cNvPr id="24" name="TextBox 24"/>
            <p:cNvSpPr txBox="1"/>
            <p:nvPr/>
          </p:nvSpPr>
          <p:spPr>
            <a:xfrm>
              <a:off x="6452044" y="2370058"/>
              <a:ext cx="1971609"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by spending extra parallel</a:t>
              </a:r>
            </a:p>
          </p:txBody>
        </p:sp>
        <p:sp>
          <p:nvSpPr>
            <p:cNvPr id="25" name="TextBox 25"/>
            <p:cNvSpPr txBox="1"/>
            <p:nvPr/>
          </p:nvSpPr>
          <p:spPr>
            <a:xfrm>
              <a:off x="6452044" y="2598658"/>
              <a:ext cx="2018457"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compute at sampling time.</a:t>
              </a:r>
            </a:p>
          </p:txBody>
        </p:sp>
      </p:grpSp>
      <p:grpSp>
        <p:nvGrpSpPr>
          <p:cNvPr id="36" name="Group 36"/>
          <p:cNvGrpSpPr/>
          <p:nvPr/>
        </p:nvGrpSpPr>
        <p:grpSpPr>
          <a:xfrm>
            <a:off x="609600" y="4000500"/>
            <a:ext cx="5372100" cy="2457450"/>
            <a:chOff x="609600" y="4000500"/>
            <a:chExt cx="5372100" cy="2457450"/>
          </a:xfrm>
        </p:grpSpPr>
        <p:sp>
          <p:nvSpPr>
            <p:cNvPr id="27" name="Rectangle 27"/>
            <p:cNvSpPr/>
            <p:nvPr/>
          </p:nvSpPr>
          <p:spPr>
            <a:xfrm>
              <a:off x="609600" y="4000500"/>
              <a:ext cx="5372100" cy="2457450"/>
            </a:xfrm>
            <a:prstGeom prst="roundRect">
              <a:avLst>
                <a:gd name="adj" fmla="val 6202"/>
              </a:avLst>
            </a:prstGeom>
            <a:solidFill>
              <a:srgbClr val="172331"/>
            </a:solidFill>
            <a:ln w="14288">
              <a:solidFill>
                <a:schemeClr val="accent4"/>
              </a:solidFill>
            </a:ln>
          </p:spPr>
        </p:sp>
        <p:sp>
          <p:nvSpPr>
            <p:cNvPr id="28" name="Rectangle 28"/>
            <p:cNvSpPr/>
            <p:nvPr/>
          </p:nvSpPr>
          <p:spPr>
            <a:xfrm>
              <a:off x="609600" y="4133850"/>
              <a:ext cx="47625" cy="2190750"/>
            </a:xfrm>
            <a:prstGeom prst="roundRect">
              <a:avLst>
                <a:gd name="adj" fmla="val 50000"/>
              </a:avLst>
            </a:prstGeom>
            <a:solidFill>
              <a:schemeClr val="accent2"/>
            </a:solidFill>
            <a:ln>
              <a:noFill/>
            </a:ln>
          </p:spPr>
        </p:sp>
        <p:sp>
          <p:nvSpPr>
            <p:cNvPr id="29" name="Ellipse 29"/>
            <p:cNvSpPr/>
            <p:nvPr/>
          </p:nvSpPr>
          <p:spPr>
            <a:xfrm>
              <a:off x="838200" y="4200525"/>
              <a:ext cx="285750" cy="285750"/>
            </a:xfrm>
            <a:prstGeom prst="ellipse">
              <a:avLst/>
            </a:prstGeom>
            <a:solidFill>
              <a:schemeClr val="accent2"/>
            </a:solidFill>
            <a:ln>
              <a:noFill/>
            </a:ln>
          </p:spPr>
        </p:sp>
        <p:sp>
          <p:nvSpPr>
            <p:cNvPr id="30" name="TextBox 30"/>
            <p:cNvSpPr txBox="1"/>
            <p:nvPr/>
          </p:nvSpPr>
          <p:spPr>
            <a:xfrm>
              <a:off x="928333" y="427101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3</a:t>
              </a:r>
            </a:p>
          </p:txBody>
        </p:sp>
        <p:sp>
          <p:nvSpPr>
            <p:cNvPr id="31" name="TextBox 31"/>
            <p:cNvSpPr txBox="1"/>
            <p:nvPr/>
          </p:nvSpPr>
          <p:spPr>
            <a:xfrm>
              <a:off x="1211961" y="4284821"/>
              <a:ext cx="243998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Orthogonal &amp; composable</a:t>
              </a:r>
            </a:p>
          </p:txBody>
        </p:sp>
        <p:sp>
          <p:nvSpPr>
            <p:cNvPr id="32" name="TextBox 32"/>
            <p:cNvSpPr txBox="1"/>
            <p:nvPr/>
          </p:nvSpPr>
          <p:spPr>
            <a:xfrm>
              <a:off x="851344" y="4598908"/>
              <a:ext cx="1983505"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Layers on top of DDIM and</a:t>
              </a:r>
            </a:p>
          </p:txBody>
        </p:sp>
        <p:sp>
          <p:nvSpPr>
            <p:cNvPr id="33" name="TextBox 33"/>
            <p:cNvSpPr txBox="1"/>
            <p:nvPr/>
          </p:nvSpPr>
          <p:spPr>
            <a:xfrm>
              <a:off x="851344" y="4827508"/>
              <a:ext cx="2118769"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DPMSolver to give ParaDDIM</a:t>
              </a:r>
            </a:p>
          </p:txBody>
        </p:sp>
        <p:sp>
          <p:nvSpPr>
            <p:cNvPr id="34" name="TextBox 34"/>
            <p:cNvSpPr txBox="1"/>
            <p:nvPr/>
          </p:nvSpPr>
          <p:spPr>
            <a:xfrm>
              <a:off x="851344" y="5056108"/>
              <a:ext cx="1928076"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and ParaDPMSolver, both</a:t>
              </a:r>
            </a:p>
          </p:txBody>
        </p:sp>
        <p:sp>
          <p:nvSpPr>
            <p:cNvPr id="35" name="TextBox 35"/>
            <p:cNvSpPr txBox="1"/>
            <p:nvPr/>
          </p:nvSpPr>
          <p:spPr>
            <a:xfrm>
              <a:off x="851344" y="5284708"/>
              <a:ext cx="2034073"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axes of speedup combined.</a:t>
              </a:r>
            </a:p>
          </p:txBody>
        </p:sp>
      </p:grpSp>
      <p:grpSp>
        <p:nvGrpSpPr>
          <p:cNvPr id="46" name="Group 46"/>
          <p:cNvGrpSpPr/>
          <p:nvPr/>
        </p:nvGrpSpPr>
        <p:grpSpPr>
          <a:xfrm>
            <a:off x="6210300" y="4000500"/>
            <a:ext cx="5372100" cy="2457450"/>
            <a:chOff x="6210300" y="4000500"/>
            <a:chExt cx="5372100" cy="2457450"/>
          </a:xfrm>
        </p:grpSpPr>
        <p:sp>
          <p:nvSpPr>
            <p:cNvPr id="37" name="Rectangle 37"/>
            <p:cNvSpPr/>
            <p:nvPr/>
          </p:nvSpPr>
          <p:spPr>
            <a:xfrm>
              <a:off x="6210300" y="4000500"/>
              <a:ext cx="5372100" cy="2457450"/>
            </a:xfrm>
            <a:prstGeom prst="roundRect">
              <a:avLst>
                <a:gd name="adj" fmla="val 6202"/>
              </a:avLst>
            </a:prstGeom>
            <a:solidFill>
              <a:srgbClr val="172331"/>
            </a:solidFill>
            <a:ln w="14288">
              <a:solidFill>
                <a:schemeClr val="accent4"/>
              </a:solidFill>
            </a:ln>
          </p:spPr>
        </p:sp>
        <p:sp>
          <p:nvSpPr>
            <p:cNvPr id="38" name="Rectangle 38"/>
            <p:cNvSpPr/>
            <p:nvPr/>
          </p:nvSpPr>
          <p:spPr>
            <a:xfrm>
              <a:off x="6210300" y="4133850"/>
              <a:ext cx="47625" cy="2190750"/>
            </a:xfrm>
            <a:prstGeom prst="roundRect">
              <a:avLst>
                <a:gd name="adj" fmla="val 50000"/>
              </a:avLst>
            </a:prstGeom>
            <a:solidFill>
              <a:srgbClr val="A78BFA"/>
            </a:solidFill>
            <a:ln>
              <a:noFill/>
            </a:ln>
          </p:spPr>
        </p:sp>
        <p:sp>
          <p:nvSpPr>
            <p:cNvPr id="39" name="Ellipse 39"/>
            <p:cNvSpPr/>
            <p:nvPr/>
          </p:nvSpPr>
          <p:spPr>
            <a:xfrm>
              <a:off x="6438900" y="4200525"/>
              <a:ext cx="285750" cy="285750"/>
            </a:xfrm>
            <a:prstGeom prst="ellipse">
              <a:avLst/>
            </a:prstGeom>
            <a:solidFill>
              <a:srgbClr val="A78BFA"/>
            </a:solidFill>
            <a:ln>
              <a:noFill/>
            </a:ln>
          </p:spPr>
        </p:sp>
        <p:sp>
          <p:nvSpPr>
            <p:cNvPr id="40" name="TextBox 40"/>
            <p:cNvSpPr txBox="1"/>
            <p:nvPr/>
          </p:nvSpPr>
          <p:spPr>
            <a:xfrm>
              <a:off x="6529033" y="427101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4</a:t>
              </a:r>
            </a:p>
          </p:txBody>
        </p:sp>
        <p:sp>
          <p:nvSpPr>
            <p:cNvPr id="41" name="TextBox 41"/>
            <p:cNvSpPr txBox="1"/>
            <p:nvPr/>
          </p:nvSpPr>
          <p:spPr>
            <a:xfrm>
              <a:off x="6812661" y="4284821"/>
              <a:ext cx="200783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Guidance-compatible</a:t>
              </a:r>
            </a:p>
          </p:txBody>
        </p:sp>
        <p:sp>
          <p:nvSpPr>
            <p:cNvPr id="42" name="TextBox 42"/>
            <p:cNvSpPr txBox="1"/>
            <p:nvPr/>
          </p:nvSpPr>
          <p:spPr>
            <a:xfrm>
              <a:off x="6452044" y="4598908"/>
              <a:ext cx="1562649"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Also compatible with</a:t>
              </a:r>
            </a:p>
          </p:txBody>
        </p:sp>
        <p:sp>
          <p:nvSpPr>
            <p:cNvPr id="43" name="TextBox 43"/>
            <p:cNvSpPr txBox="1"/>
            <p:nvPr/>
          </p:nvSpPr>
          <p:spPr>
            <a:xfrm>
              <a:off x="6452044" y="4827508"/>
              <a:ext cx="1963801"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classifier-free guidance,</a:t>
              </a:r>
            </a:p>
          </p:txBody>
        </p:sp>
        <p:sp>
          <p:nvSpPr>
            <p:cNvPr id="44" name="TextBox 44"/>
            <p:cNvSpPr txBox="1"/>
            <p:nvPr/>
          </p:nvSpPr>
          <p:spPr>
            <a:xfrm>
              <a:off x="6452044" y="5056108"/>
              <a:ext cx="1963801"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the standard trick behind</a:t>
              </a:r>
            </a:p>
          </p:txBody>
        </p:sp>
        <p:sp>
          <p:nvSpPr>
            <p:cNvPr id="45" name="TextBox 45"/>
            <p:cNvSpPr txBox="1"/>
            <p:nvPr/>
          </p:nvSpPr>
          <p:spPr>
            <a:xfrm>
              <a:off x="6452044" y="5284708"/>
              <a:ext cx="1792026"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conditional generation.</a:t>
              </a:r>
            </a:p>
          </p:txBody>
        </p:sp>
      </p:grpSp>
      <p:sp>
        <p:nvSpPr>
          <p:cNvPr id="47" name="TextBox 47"/>
          <p:cNvSpPr txBox="1"/>
          <p:nvPr/>
        </p:nvSpPr>
        <p:spPr>
          <a:xfrm>
            <a:off x="604647" y="6562249"/>
            <a:ext cx="2487873" cy="190690"/>
          </a:xfrm>
          <a:prstGeom prst="rect">
            <a:avLst/>
          </a:prstGeom>
          <a:noFill/>
          <a:ln>
            <a:noFill/>
          </a:ln>
        </p:spPr>
        <p:txBody>
          <a:bodyPr wrap="none" lIns="0" tIns="0" rIns="0" bIns="0" anchor="t" anchorCtr="0">
            <a:spAutoFit/>
          </a:bodyPr>
          <a:lstStyle/>
          <a:p>
            <a:pPr algn="l"/>
            <a:r>
              <a:rPr lang="en-US" sz="980" dirty="0">
                <a:solidFill>
                  <a:srgbClr val="8FA3B8"/>
                </a:solidFill>
                <a:latin typeface="+mn-lt"/>
                <a:ea typeface="+mn-ea"/>
                <a:cs typeface="+mn-cs"/>
              </a:rPr>
              <a:t>ParaDiGMS · Shih et al. · NeurIPS 2023</a:t>
            </a:r>
          </a:p>
        </p:txBody>
      </p:sp>
      <p:sp>
        <p:nvSpPr>
          <p:cNvPr id="48" name="TextBox 48"/>
          <p:cNvSpPr txBox="1"/>
          <p:nvPr/>
        </p:nvSpPr>
        <p:spPr>
          <a:xfrm>
            <a:off x="9868985" y="6562249"/>
            <a:ext cx="1718368" cy="190690"/>
          </a:xfrm>
          <a:prstGeom prst="rect">
            <a:avLst/>
          </a:prstGeom>
          <a:noFill/>
          <a:ln>
            <a:noFill/>
          </a:ln>
        </p:spPr>
        <p:txBody>
          <a:bodyPr wrap="none" lIns="0" tIns="0" rIns="0" bIns="0" anchor="t" anchorCtr="0">
            <a:spAutoFit/>
          </a:bodyPr>
          <a:lstStyle/>
          <a:p>
            <a:pPr algn="r"/>
            <a:r>
              <a:rPr lang="en-US" sz="980" dirty="0">
                <a:solidFill>
                  <a:srgbClr val="8FA3B8"/>
                </a:solidFill>
                <a:latin typeface="+mn-lt"/>
                <a:ea typeface="+mn-ea"/>
                <a:cs typeface="+mn-cs"/>
              </a:rPr>
              <a:t>arxiv.org/abs/2305.16317</a:t>
            </a:r>
          </a:p>
        </p:txBody>
      </p:sp>
      <p:sp>
        <p:nvSpPr>
          <p:cNvPr id="49" name="cue_s04_c1_key_contribution_paradigms_short_par" title="cue_s04_c1_key_contribution_paradigms_short_par" descr="cue_s04_c1_key_contribution_paradigms_short_par The key contribution is ParaDiGMS, short for Parallel Diffusion Generative Model Sampling."/>
          <p:cNvSpPr/>
          <p:nvPr/>
        </p:nvSpPr>
        <p:spPr>
          <a:xfrm>
            <a:off x="609600" y="1314678"/>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4_c2_first_general_method_lets_you" title="cue_s04_c2_first_general_method_lets_you" descr="cue_s04_c2_first_general_method_lets_you It is the first general method that lets you spend extra parallel compute to sample a pretrained diffusion model faster, without any retraining."/>
          <p:cNvSpPr/>
          <p:nvPr/>
        </p:nvSpPr>
        <p:spPr>
          <a:xfrm>
            <a:off x="6210604" y="1314678"/>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4_c3_crucially_orthogonal_existing_techni" title="cue_s04_c3_crucially_orthogonal_existing_techni" descr="cue_s04_c3_crucially_orthogonal_existing_techni Crucially, it is orthogonal to existing techniques, so it can be layered on top of DDIM or DPMSolver to yield ParaDDIM and ParaDPMSolver, combining both axes of speedup."/>
          <p:cNvSpPr/>
          <p:nvPr/>
        </p:nvSpPr>
        <p:spPr>
          <a:xfrm>
            <a:off x="609600" y="40002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4_c4_also_compatible_classifier_free_guid" title="cue_s04_c4_also_compatible_classifier_free_guid" descr="cue_s04_c4_also_compatible_classifier_free_guid It is also compatible with classifier-free guidance."/>
          <p:cNvSpPr/>
          <p:nvPr/>
        </p:nvSpPr>
        <p:spPr>
          <a:xfrm>
            <a:off x="6210604" y="40002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5"/>
            </a:gs>
            <a:gs pos="100000">
              <a:schemeClr val="accent6"/>
            </a:gs>
          </a:gsLst>
          <a:lin ang="2700000" scaled="1"/>
        </a:gradFill>
        <a:effectLst/>
      </p:bgPr>
    </p:bg>
    <p:spTree>
      <p:nvGrpSpPr>
        <p:cNvPr id="1" name=""/>
        <p:cNvGrpSpPr/>
        <p:nvPr/>
      </p:nvGrpSpPr>
      <p:grpSpPr>
        <a:xfrm>
          <a:off x="0" y="0"/>
          <a:ext cx="0" cy="0"/>
          <a:chOff x="0" y="0"/>
          <a:chExt cx="0" cy="0"/>
        </a:xfrm>
      </p:grpSpPr>
      <p:sp>
        <p:nvSpPr>
          <p:cNvPr id="2" name="Rectangle 2"/>
          <p:cNvSpPr/>
          <p:nvPr/>
        </p:nvSpPr>
        <p:spPr>
          <a:xfrm>
            <a:off x="609600" y="495300"/>
            <a:ext cx="57150" cy="285750"/>
          </a:xfrm>
          <a:prstGeom prst="roundRect">
            <a:avLst>
              <a:gd name="adj" fmla="val 50000"/>
            </a:avLst>
          </a:prstGeom>
          <a:solidFill>
            <a:schemeClr val="accent2"/>
          </a:solidFill>
          <a:ln>
            <a:noFill/>
          </a:ln>
        </p:spPr>
        <p:txBody>
          <a:bodyPr/>
          <a:p/>
        </p:txBody>
      </p:sp>
      <p:sp>
        <p:nvSpPr>
          <p:cNvPr id="3" name="TextBox 3"/>
          <p:cNvSpPr txBox="1"/>
          <p:nvPr/>
        </p:nvSpPr>
        <p:spPr>
          <a:xfrm>
            <a:off x="794385" y="507206"/>
            <a:ext cx="764050" cy="220028"/>
          </a:xfrm>
          <a:prstGeom prst="rect">
            <a:avLst/>
          </a:prstGeom>
          <a:noFill/>
          <a:ln>
            <a:noFill/>
          </a:ln>
        </p:spPr>
        <p:txBody>
          <a:bodyPr wrap="none" lIns="0" tIns="0" rIns="0" bIns="0" anchor="t" anchorCtr="0">
            <a:spAutoFit/>
          </a:bodyPr>
          <a:lstStyle/>
          <a:p>
            <a:pPr algn="l"/>
            <a:r>
              <a:rPr lang="en-US" sz="1120" b="1" spc="188" dirty="0">
                <a:solidFill>
                  <a:schemeClr val="accent2"/>
                </a:solidFill>
                <a:latin typeface="+mn-lt"/>
                <a:ea typeface="+mn-ea"/>
                <a:cs typeface="+mn-cs"/>
              </a:rPr>
              <a:t>METHOD</a:t>
            </a:r>
          </a:p>
        </p:txBody>
      </p:sp>
      <p:sp>
        <p:nvSpPr>
          <p:cNvPr id="4" name="TextBox 4"/>
          <p:cNvSpPr txBox="1"/>
          <p:nvPr/>
        </p:nvSpPr>
        <p:spPr>
          <a:xfrm>
            <a:off x="787527" y="647224"/>
            <a:ext cx="6320893"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n-lt"/>
                <a:ea typeface="+mn-ea"/>
                <a:cs typeface="+mn-cs"/>
              </a:rPr>
              <a:t>Denoising as parallel Picard iteration</a:t>
            </a:r>
          </a:p>
        </p:txBody>
      </p:sp>
      <p:sp>
        <p:nvSpPr>
          <p:cNvPr id="5" name="Line 5"/>
          <p:cNvSpPr/>
          <p:nvPr/>
        </p:nvSpPr>
        <p:spPr>
          <a:xfrm>
            <a:off x="609600" y="1123950"/>
            <a:ext cx="10972800" cy="9525"/>
          </a:xfrm>
          <a:custGeom>
            <a:avLst/>
            <a:gdLst/>
            <a:ahLst/>
            <a:cxnLst/>
            <a:rect l="l" t="t" r="r" b="b"/>
            <a:pathLst>
              <a:path w="10972800" h="9525">
                <a:moveTo>
                  <a:pt x="0" y="0"/>
                </a:moveTo>
                <a:lnTo>
                  <a:pt x="10972800" y="0"/>
                </a:lnTo>
              </a:path>
            </a:pathLst>
          </a:custGeom>
          <a:noFill/>
          <a:ln w="11430" cap="rnd">
            <a:solidFill>
              <a:schemeClr val="accent4"/>
            </a:solidFill>
          </a:ln>
        </p:spPr>
        <p:txBody>
          <a:bodyPr/>
          <a:p/>
        </p:txBody>
      </p:sp>
      <p:sp>
        <p:nvSpPr>
          <p:cNvPr id="6" name="TextBox 6"/>
          <p:cNvSpPr txBox="1"/>
          <p:nvPr/>
        </p:nvSpPr>
        <p:spPr>
          <a:xfrm>
            <a:off x="10989399" y="515302"/>
            <a:ext cx="598335" cy="205359"/>
          </a:xfrm>
          <a:prstGeom prst="rect">
            <a:avLst/>
          </a:prstGeom>
          <a:noFill/>
          <a:ln>
            <a:noFill/>
          </a:ln>
        </p:spPr>
        <p:txBody>
          <a:bodyPr wrap="none" lIns="0" tIns="0" rIns="0" bIns="0" anchor="t" anchorCtr="0">
            <a:spAutoFit/>
          </a:bodyPr>
          <a:lstStyle/>
          <a:p>
            <a:pPr algn="r"/>
            <a:r>
              <a:rPr lang="en-US" sz="1050" b="1" spc="112" dirty="0">
                <a:solidFill>
                  <a:srgbClr val="8FA3B8"/>
                </a:solidFill>
                <a:latin typeface="+mn-lt"/>
                <a:ea typeface="+mn-ea"/>
                <a:cs typeface="+mn-cs"/>
              </a:rPr>
              <a:t>05 / 10</a:t>
            </a:r>
          </a:p>
        </p:txBody>
      </p:sp>
      <p:grpSp>
        <p:nvGrpSpPr>
          <p:cNvPr id="19" name="Group 19"/>
          <p:cNvGrpSpPr/>
          <p:nvPr/>
        </p:nvGrpSpPr>
        <p:grpSpPr>
          <a:xfrm>
            <a:off x="609600" y="1314450"/>
            <a:ext cx="10972800" cy="628650"/>
            <a:chOff x="609600" y="1314450"/>
            <a:chExt cx="10972800" cy="628650"/>
          </a:xfrm>
        </p:grpSpPr>
        <p:sp>
          <p:nvSpPr>
            <p:cNvPr id="7" name="Rectangle 7"/>
            <p:cNvSpPr/>
            <p:nvPr/>
          </p:nvSpPr>
          <p:spPr>
            <a:xfrm>
              <a:off x="609600" y="1314450"/>
              <a:ext cx="10972800" cy="628650"/>
            </a:xfrm>
            <a:prstGeom prst="roundRect">
              <a:avLst>
                <a:gd name="adj" fmla="val 18182"/>
              </a:avLst>
            </a:prstGeom>
            <a:solidFill>
              <a:srgbClr val="1D2D3E"/>
            </a:solidFill>
            <a:ln w="14288">
              <a:solidFill>
                <a:schemeClr val="accent4"/>
              </a:solidFill>
            </a:ln>
          </p:spPr>
        </p:sp>
        <p:sp>
          <p:nvSpPr>
            <p:cNvPr id="8" name="TextBox 8"/>
            <p:cNvSpPr txBox="1"/>
            <p:nvPr/>
          </p:nvSpPr>
          <p:spPr>
            <a:xfrm>
              <a:off x="829056" y="1501140"/>
              <a:ext cx="158225"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Consolas"/>
                  <a:ea typeface="Consolas"/>
                  <a:cs typeface="Consolas"/>
                </a:rPr>
                <a:t>x</a:t>
              </a:r>
            </a:p>
          </p:txBody>
        </p:sp>
        <p:sp>
          <p:nvSpPr>
            <p:cNvPr id="9" name="TextBox 9"/>
            <p:cNvSpPr txBox="1"/>
            <p:nvPr/>
          </p:nvSpPr>
          <p:spPr>
            <a:xfrm>
              <a:off x="966597" y="1494949"/>
              <a:ext cx="238471" cy="190690"/>
            </a:xfrm>
            <a:prstGeom prst="rect">
              <a:avLst/>
            </a:prstGeom>
            <a:noFill/>
            <a:ln>
              <a:noFill/>
            </a:ln>
          </p:spPr>
          <p:txBody>
            <a:bodyPr wrap="none" lIns="0" tIns="0" rIns="0" bIns="0" anchor="t" anchorCtr="0">
              <a:spAutoFit/>
            </a:bodyPr>
            <a:lstStyle/>
            <a:p>
              <a:pPr algn="l"/>
              <a:r>
                <a:rPr lang="en-US" sz="980" b="1" dirty="0">
                  <a:solidFill>
                    <a:srgbClr val="2DD4BF"/>
                  </a:solidFill>
                  <a:latin typeface="Consolas"/>
                  <a:ea typeface="Consolas"/>
                  <a:cs typeface="Consolas"/>
                </a:rPr>
                <a:t>k+1</a:t>
              </a:r>
            </a:p>
          </p:txBody>
        </p:sp>
        <p:sp>
          <p:nvSpPr>
            <p:cNvPr id="10" name="TextBox 10"/>
            <p:cNvSpPr txBox="1"/>
            <p:nvPr/>
          </p:nvSpPr>
          <p:spPr>
            <a:xfrm>
              <a:off x="966597" y="1685449"/>
              <a:ext cx="86094" cy="190690"/>
            </a:xfrm>
            <a:prstGeom prst="rect">
              <a:avLst/>
            </a:prstGeom>
            <a:noFill/>
            <a:ln>
              <a:noFill/>
            </a:ln>
          </p:spPr>
          <p:txBody>
            <a:bodyPr wrap="none" lIns="0" tIns="0" rIns="0" bIns="0" anchor="t" anchorCtr="0">
              <a:spAutoFit/>
            </a:bodyPr>
            <a:lstStyle/>
            <a:p>
              <a:pPr algn="l"/>
              <a:r>
                <a:rPr lang="en-US" sz="980" b="1" dirty="0">
                  <a:solidFill>
                    <a:srgbClr val="8FA3B8"/>
                  </a:solidFill>
                  <a:latin typeface="Consolas"/>
                  <a:ea typeface="Consolas"/>
                  <a:cs typeface="Consolas"/>
                </a:rPr>
                <a:t>t</a:t>
              </a:r>
            </a:p>
          </p:txBody>
        </p:sp>
        <p:sp>
          <p:nvSpPr>
            <p:cNvPr id="11" name="TextBox 11"/>
            <p:cNvSpPr txBox="1"/>
            <p:nvPr/>
          </p:nvSpPr>
          <p:spPr>
            <a:xfrm>
              <a:off x="1210056" y="1501140"/>
              <a:ext cx="374493"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Consolas"/>
                  <a:ea typeface="Consolas"/>
                  <a:cs typeface="Consolas"/>
                </a:rPr>
                <a:t>= x</a:t>
              </a:r>
            </a:p>
          </p:txBody>
        </p:sp>
        <p:sp>
          <p:nvSpPr>
            <p:cNvPr id="12" name="TextBox 12"/>
            <p:cNvSpPr txBox="1"/>
            <p:nvPr/>
          </p:nvSpPr>
          <p:spPr>
            <a:xfrm>
              <a:off x="1690497" y="1494949"/>
              <a:ext cx="86094" cy="190690"/>
            </a:xfrm>
            <a:prstGeom prst="rect">
              <a:avLst/>
            </a:prstGeom>
            <a:noFill/>
            <a:ln>
              <a:noFill/>
            </a:ln>
          </p:spPr>
          <p:txBody>
            <a:bodyPr wrap="none" lIns="0" tIns="0" rIns="0" bIns="0" anchor="t" anchorCtr="0">
              <a:spAutoFit/>
            </a:bodyPr>
            <a:lstStyle/>
            <a:p>
              <a:pPr algn="l"/>
              <a:r>
                <a:rPr lang="en-US" sz="980" b="1" dirty="0">
                  <a:solidFill>
                    <a:srgbClr val="2DD4BF"/>
                  </a:solidFill>
                  <a:latin typeface="Consolas"/>
                  <a:ea typeface="Consolas"/>
                  <a:cs typeface="Consolas"/>
                </a:rPr>
                <a:t>k</a:t>
              </a:r>
            </a:p>
          </p:txBody>
        </p:sp>
        <p:sp>
          <p:nvSpPr>
            <p:cNvPr id="13" name="TextBox 13"/>
            <p:cNvSpPr txBox="1"/>
            <p:nvPr/>
          </p:nvSpPr>
          <p:spPr>
            <a:xfrm>
              <a:off x="1690497" y="1685449"/>
              <a:ext cx="86094" cy="190690"/>
            </a:xfrm>
            <a:prstGeom prst="rect">
              <a:avLst/>
            </a:prstGeom>
            <a:noFill/>
            <a:ln>
              <a:noFill/>
            </a:ln>
          </p:spPr>
          <p:txBody>
            <a:bodyPr wrap="none" lIns="0" tIns="0" rIns="0" bIns="0" anchor="t" anchorCtr="0">
              <a:spAutoFit/>
            </a:bodyPr>
            <a:lstStyle/>
            <a:p>
              <a:pPr algn="l"/>
              <a:r>
                <a:rPr lang="en-US" sz="980" b="1" dirty="0">
                  <a:solidFill>
                    <a:srgbClr val="8FA3B8"/>
                  </a:solidFill>
                  <a:latin typeface="Consolas"/>
                  <a:ea typeface="Consolas"/>
                  <a:cs typeface="Consolas"/>
                </a:rPr>
                <a:t>0</a:t>
              </a:r>
            </a:p>
          </p:txBody>
        </p:sp>
        <p:sp>
          <p:nvSpPr>
            <p:cNvPr id="14" name="TextBox 14"/>
            <p:cNvSpPr txBox="1"/>
            <p:nvPr/>
          </p:nvSpPr>
          <p:spPr>
            <a:xfrm>
              <a:off x="1895856" y="1501140"/>
              <a:ext cx="1993615"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Consolas"/>
                  <a:ea typeface="Consolas"/>
                  <a:cs typeface="Consolas"/>
                </a:rPr>
                <a:t>+ (1/T) · Σ s( x</a:t>
              </a:r>
            </a:p>
          </p:txBody>
        </p:sp>
        <p:sp>
          <p:nvSpPr>
            <p:cNvPr id="15" name="TextBox 15"/>
            <p:cNvSpPr txBox="1"/>
            <p:nvPr/>
          </p:nvSpPr>
          <p:spPr>
            <a:xfrm>
              <a:off x="4090797" y="1494949"/>
              <a:ext cx="86094" cy="190690"/>
            </a:xfrm>
            <a:prstGeom prst="rect">
              <a:avLst/>
            </a:prstGeom>
            <a:noFill/>
            <a:ln>
              <a:noFill/>
            </a:ln>
          </p:spPr>
          <p:txBody>
            <a:bodyPr wrap="none" lIns="0" tIns="0" rIns="0" bIns="0" anchor="t" anchorCtr="0">
              <a:spAutoFit/>
            </a:bodyPr>
            <a:lstStyle/>
            <a:p>
              <a:pPr algn="l"/>
              <a:r>
                <a:rPr lang="en-US" sz="980" b="1" dirty="0">
                  <a:solidFill>
                    <a:srgbClr val="2DD4BF"/>
                  </a:solidFill>
                  <a:latin typeface="Consolas"/>
                  <a:ea typeface="Consolas"/>
                  <a:cs typeface="Consolas"/>
                </a:rPr>
                <a:t>k</a:t>
              </a:r>
            </a:p>
          </p:txBody>
        </p:sp>
        <p:sp>
          <p:nvSpPr>
            <p:cNvPr id="16" name="TextBox 16"/>
            <p:cNvSpPr txBox="1"/>
            <p:nvPr/>
          </p:nvSpPr>
          <p:spPr>
            <a:xfrm>
              <a:off x="4090797" y="1685449"/>
              <a:ext cx="51463" cy="190690"/>
            </a:xfrm>
            <a:prstGeom prst="rect">
              <a:avLst/>
            </a:prstGeom>
            <a:noFill/>
            <a:ln>
              <a:noFill/>
            </a:ln>
          </p:spPr>
          <p:txBody>
            <a:bodyPr wrap="none" lIns="0" tIns="0" rIns="0" bIns="0" anchor="t" anchorCtr="0">
              <a:spAutoFit/>
            </a:bodyPr>
            <a:lstStyle/>
            <a:p>
              <a:pPr algn="l"/>
              <a:r>
                <a:rPr lang="en-US" sz="980" b="1" dirty="0">
                  <a:solidFill>
                    <a:srgbClr val="8FA3B8"/>
                  </a:solidFill>
                  <a:latin typeface="Consolas"/>
                  <a:ea typeface="Consolas"/>
                  <a:cs typeface="Consolas"/>
                </a:rPr>
                <a:t>i</a:t>
              </a:r>
            </a:p>
          </p:txBody>
        </p:sp>
        <p:sp>
          <p:nvSpPr>
            <p:cNvPr id="17" name="TextBox 17"/>
            <p:cNvSpPr txBox="1"/>
            <p:nvPr/>
          </p:nvSpPr>
          <p:spPr>
            <a:xfrm>
              <a:off x="4239006" y="1501140"/>
              <a:ext cx="4300123" cy="352044"/>
            </a:xfrm>
            <a:prstGeom prst="rect">
              <a:avLst/>
            </a:prstGeom>
            <a:noFill/>
            <a:ln>
              <a:noFill/>
            </a:ln>
          </p:spPr>
          <p:txBody>
            <a:bodyPr wrap="none" lIns="0" tIns="0" rIns="0" bIns="0" anchor="t" anchorCtr="0">
              <a:spAutoFit/>
            </a:bodyPr>
            <a:lstStyle/>
            <a:p>
              <a:pPr algn="l"/>
              <a:r>
                <a:rPr lang="en-US" sz="1800" b="1" dirty="0">
                  <a:solidFill>
                    <a:srgbClr val="C6D4E2"/>
                  </a:solidFill>
                  <a:latin typeface="Consolas"/>
                  <a:ea typeface="Consolas"/>
                  <a:cs typeface="Consolas"/>
                </a:rPr>
                <a:t>, i/T ) · Picard fixed-point update</a:t>
              </a:r>
            </a:p>
          </p:txBody>
        </p:sp>
        <p:sp>
          <p:nvSpPr>
            <p:cNvPr id="18" name="TextBox 18"/>
            <p:cNvSpPr txBox="1"/>
            <p:nvPr/>
          </p:nvSpPr>
          <p:spPr>
            <a:xfrm>
              <a:off x="9232899" y="1571149"/>
              <a:ext cx="2163954" cy="190690"/>
            </a:xfrm>
            <a:prstGeom prst="rect">
              <a:avLst/>
            </a:prstGeom>
            <a:noFill/>
            <a:ln>
              <a:noFill/>
            </a:ln>
          </p:spPr>
          <p:txBody>
            <a:bodyPr wrap="none" lIns="0" tIns="0" rIns="0" bIns="0" anchor="t" anchorCtr="0">
              <a:spAutoFit/>
            </a:bodyPr>
            <a:lstStyle/>
            <a:p>
              <a:pPr algn="r"/>
              <a:r>
                <a:rPr lang="en-US" sz="980" b="1" dirty="0">
                  <a:solidFill>
                    <a:srgbClr val="8FA3B8"/>
                  </a:solidFill>
                  <a:latin typeface="+mn-lt"/>
                  <a:ea typeface="+mn-ea"/>
                  <a:cs typeface="+mn-cs"/>
                </a:rPr>
                <a:t>value = start + cumulative drift</a:t>
              </a:r>
            </a:p>
          </p:txBody>
        </p:sp>
      </p:grpSp>
      <p:grpSp>
        <p:nvGrpSpPr>
          <p:cNvPr id="29" name="Group 29"/>
          <p:cNvGrpSpPr/>
          <p:nvPr/>
        </p:nvGrpSpPr>
        <p:grpSpPr>
          <a:xfrm>
            <a:off x="609600" y="2114550"/>
            <a:ext cx="5372100" cy="2133600"/>
            <a:chOff x="609600" y="2114550"/>
            <a:chExt cx="5372100" cy="2133600"/>
          </a:xfrm>
        </p:grpSpPr>
        <p:sp>
          <p:nvSpPr>
            <p:cNvPr id="20" name="Rectangle 20"/>
            <p:cNvSpPr/>
            <p:nvPr/>
          </p:nvSpPr>
          <p:spPr>
            <a:xfrm>
              <a:off x="609600" y="2114550"/>
              <a:ext cx="5372100" cy="2133600"/>
            </a:xfrm>
            <a:prstGeom prst="roundRect">
              <a:avLst>
                <a:gd name="adj" fmla="val 7143"/>
              </a:avLst>
            </a:prstGeom>
            <a:solidFill>
              <a:srgbClr val="172331"/>
            </a:solidFill>
            <a:ln w="14288">
              <a:solidFill>
                <a:schemeClr val="accent4"/>
              </a:solidFill>
            </a:ln>
          </p:spPr>
        </p:sp>
        <p:sp>
          <p:nvSpPr>
            <p:cNvPr id="21" name="Rectangle 21"/>
            <p:cNvSpPr/>
            <p:nvPr/>
          </p:nvSpPr>
          <p:spPr>
            <a:xfrm>
              <a:off x="609600" y="2247900"/>
              <a:ext cx="47625" cy="1866900"/>
            </a:xfrm>
            <a:prstGeom prst="roundRect">
              <a:avLst>
                <a:gd name="adj" fmla="val 50000"/>
              </a:avLst>
            </a:prstGeom>
            <a:solidFill>
              <a:schemeClr val="accent2"/>
            </a:solidFill>
            <a:ln>
              <a:noFill/>
            </a:ln>
          </p:spPr>
        </p:sp>
        <p:sp>
          <p:nvSpPr>
            <p:cNvPr id="22" name="Ellipse 22"/>
            <p:cNvSpPr/>
            <p:nvPr/>
          </p:nvSpPr>
          <p:spPr>
            <a:xfrm>
              <a:off x="838200" y="2314575"/>
              <a:ext cx="285750" cy="285750"/>
            </a:xfrm>
            <a:prstGeom prst="ellipse">
              <a:avLst/>
            </a:prstGeom>
            <a:solidFill>
              <a:schemeClr val="accent2"/>
            </a:solidFill>
            <a:ln>
              <a:noFill/>
            </a:ln>
          </p:spPr>
        </p:sp>
        <p:sp>
          <p:nvSpPr>
            <p:cNvPr id="23" name="TextBox 23"/>
            <p:cNvSpPr txBox="1"/>
            <p:nvPr/>
          </p:nvSpPr>
          <p:spPr>
            <a:xfrm>
              <a:off x="928333" y="238506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1</a:t>
              </a:r>
            </a:p>
          </p:txBody>
        </p:sp>
        <p:sp>
          <p:nvSpPr>
            <p:cNvPr id="24" name="TextBox 24"/>
            <p:cNvSpPr txBox="1"/>
            <p:nvPr/>
          </p:nvSpPr>
          <p:spPr>
            <a:xfrm>
              <a:off x="1211961" y="2398871"/>
              <a:ext cx="249546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Built on Picard iterations</a:t>
              </a:r>
            </a:p>
          </p:txBody>
        </p:sp>
        <p:sp>
          <p:nvSpPr>
            <p:cNvPr id="25" name="TextBox 25"/>
            <p:cNvSpPr txBox="1"/>
            <p:nvPr/>
          </p:nvSpPr>
          <p:spPr>
            <a:xfrm>
              <a:off x="851344" y="2712958"/>
              <a:ext cx="2321126"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A classic way to solve ODEs by</a:t>
              </a:r>
            </a:p>
          </p:txBody>
        </p:sp>
        <p:sp>
          <p:nvSpPr>
            <p:cNvPr id="26" name="TextBox 26"/>
            <p:cNvSpPr txBox="1"/>
            <p:nvPr/>
          </p:nvSpPr>
          <p:spPr>
            <a:xfrm>
              <a:off x="851344" y="2941558"/>
              <a:ext cx="2565014"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fixed-point iteration: write each</a:t>
              </a:r>
            </a:p>
          </p:txBody>
        </p:sp>
        <p:sp>
          <p:nvSpPr>
            <p:cNvPr id="27" name="TextBox 27"/>
            <p:cNvSpPr txBox="1"/>
            <p:nvPr/>
          </p:nvSpPr>
          <p:spPr>
            <a:xfrm>
              <a:off x="851344" y="3170158"/>
              <a:ext cx="2205848"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point as the initial value plus</a:t>
              </a:r>
            </a:p>
          </p:txBody>
        </p:sp>
        <p:sp>
          <p:nvSpPr>
            <p:cNvPr id="28" name="TextBox 28"/>
            <p:cNvSpPr txBox="1"/>
            <p:nvPr/>
          </p:nvSpPr>
          <p:spPr>
            <a:xfrm>
              <a:off x="851344" y="3398758"/>
              <a:ext cx="1971609"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the integral of the drift.</a:t>
              </a:r>
            </a:p>
          </p:txBody>
        </p:sp>
      </p:grpSp>
      <p:grpSp>
        <p:nvGrpSpPr>
          <p:cNvPr id="39" name="Group 39"/>
          <p:cNvGrpSpPr/>
          <p:nvPr/>
        </p:nvGrpSpPr>
        <p:grpSpPr>
          <a:xfrm>
            <a:off x="6210300" y="2114550"/>
            <a:ext cx="5372100" cy="2133600"/>
            <a:chOff x="6210300" y="2114550"/>
            <a:chExt cx="5372100" cy="2133600"/>
          </a:xfrm>
        </p:grpSpPr>
        <p:sp>
          <p:nvSpPr>
            <p:cNvPr id="30" name="Rectangle 30"/>
            <p:cNvSpPr/>
            <p:nvPr/>
          </p:nvSpPr>
          <p:spPr>
            <a:xfrm>
              <a:off x="6210300" y="2114550"/>
              <a:ext cx="5372100" cy="2133600"/>
            </a:xfrm>
            <a:prstGeom prst="roundRect">
              <a:avLst>
                <a:gd name="adj" fmla="val 7143"/>
              </a:avLst>
            </a:prstGeom>
            <a:solidFill>
              <a:srgbClr val="172331"/>
            </a:solidFill>
            <a:ln w="14288">
              <a:solidFill>
                <a:schemeClr val="accent4"/>
              </a:solidFill>
            </a:ln>
          </p:spPr>
        </p:sp>
        <p:sp>
          <p:nvSpPr>
            <p:cNvPr id="31" name="Rectangle 31"/>
            <p:cNvSpPr/>
            <p:nvPr/>
          </p:nvSpPr>
          <p:spPr>
            <a:xfrm>
              <a:off x="6210300" y="2247900"/>
              <a:ext cx="47625" cy="1866900"/>
            </a:xfrm>
            <a:prstGeom prst="roundRect">
              <a:avLst>
                <a:gd name="adj" fmla="val 50000"/>
              </a:avLst>
            </a:prstGeom>
            <a:solidFill>
              <a:srgbClr val="2DD4BF"/>
            </a:solidFill>
            <a:ln>
              <a:noFill/>
            </a:ln>
          </p:spPr>
        </p:sp>
        <p:sp>
          <p:nvSpPr>
            <p:cNvPr id="32" name="Ellipse 32"/>
            <p:cNvSpPr/>
            <p:nvPr/>
          </p:nvSpPr>
          <p:spPr>
            <a:xfrm>
              <a:off x="6438900" y="2314575"/>
              <a:ext cx="285750" cy="285750"/>
            </a:xfrm>
            <a:prstGeom prst="ellipse">
              <a:avLst/>
            </a:prstGeom>
            <a:solidFill>
              <a:srgbClr val="2DD4BF"/>
            </a:solidFill>
            <a:ln>
              <a:noFill/>
            </a:ln>
          </p:spPr>
        </p:sp>
        <p:sp>
          <p:nvSpPr>
            <p:cNvPr id="33" name="TextBox 33"/>
            <p:cNvSpPr txBox="1"/>
            <p:nvPr/>
          </p:nvSpPr>
          <p:spPr>
            <a:xfrm>
              <a:off x="6529033" y="238506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2</a:t>
              </a:r>
            </a:p>
          </p:txBody>
        </p:sp>
        <p:sp>
          <p:nvSpPr>
            <p:cNvPr id="34" name="TextBox 34"/>
            <p:cNvSpPr txBox="1"/>
            <p:nvPr/>
          </p:nvSpPr>
          <p:spPr>
            <a:xfrm>
              <a:off x="6812661" y="2398871"/>
              <a:ext cx="258053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Update every step at once</a:t>
              </a:r>
            </a:p>
          </p:txBody>
        </p:sp>
        <p:sp>
          <p:nvSpPr>
            <p:cNvPr id="35" name="TextBox 35"/>
            <p:cNvSpPr txBox="1"/>
            <p:nvPr/>
          </p:nvSpPr>
          <p:spPr>
            <a:xfrm>
              <a:off x="6452044" y="2712958"/>
              <a:ext cx="2304939"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From a full guess of the whole</a:t>
              </a:r>
            </a:p>
          </p:txBody>
        </p:sp>
        <p:sp>
          <p:nvSpPr>
            <p:cNvPr id="36" name="TextBox 36"/>
            <p:cNvSpPr txBox="1"/>
            <p:nvPr/>
          </p:nvSpPr>
          <p:spPr>
            <a:xfrm>
              <a:off x="6452044" y="2941558"/>
              <a:ext cx="2479126"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trajectory, refine all timesteps</a:t>
              </a:r>
            </a:p>
          </p:txBody>
        </p:sp>
        <p:sp>
          <p:nvSpPr>
            <p:cNvPr id="37" name="TextBox 37"/>
            <p:cNvSpPr txBox="1"/>
            <p:nvPr/>
          </p:nvSpPr>
          <p:spPr>
            <a:xfrm>
              <a:off x="6452044" y="3170158"/>
              <a:ext cx="2424471"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simultaneously using cumulative</a:t>
              </a:r>
            </a:p>
          </p:txBody>
        </p:sp>
        <p:sp>
          <p:nvSpPr>
            <p:cNvPr id="38" name="TextBox 38"/>
            <p:cNvSpPr txBox="1"/>
            <p:nvPr/>
          </p:nvSpPr>
          <p:spPr>
            <a:xfrm>
              <a:off x="6452044" y="3398758"/>
              <a:ext cx="2322967"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drift; repeat until it settles.</a:t>
              </a:r>
            </a:p>
          </p:txBody>
        </p:sp>
      </p:grpSp>
      <p:grpSp>
        <p:nvGrpSpPr>
          <p:cNvPr id="49" name="Group 49"/>
          <p:cNvGrpSpPr/>
          <p:nvPr/>
        </p:nvGrpSpPr>
        <p:grpSpPr>
          <a:xfrm>
            <a:off x="609600" y="4476750"/>
            <a:ext cx="5372100" cy="2133600"/>
            <a:chOff x="609600" y="4476750"/>
            <a:chExt cx="5372100" cy="2133600"/>
          </a:xfrm>
        </p:grpSpPr>
        <p:sp>
          <p:nvSpPr>
            <p:cNvPr id="40" name="Rectangle 40"/>
            <p:cNvSpPr/>
            <p:nvPr/>
          </p:nvSpPr>
          <p:spPr>
            <a:xfrm>
              <a:off x="609600" y="4476750"/>
              <a:ext cx="5372100" cy="2133600"/>
            </a:xfrm>
            <a:prstGeom prst="roundRect">
              <a:avLst>
                <a:gd name="adj" fmla="val 7143"/>
              </a:avLst>
            </a:prstGeom>
            <a:solidFill>
              <a:srgbClr val="172331"/>
            </a:solidFill>
            <a:ln w="14288">
              <a:solidFill>
                <a:schemeClr val="accent4"/>
              </a:solidFill>
            </a:ln>
          </p:spPr>
        </p:sp>
        <p:sp>
          <p:nvSpPr>
            <p:cNvPr id="41" name="Rectangle 41"/>
            <p:cNvSpPr/>
            <p:nvPr/>
          </p:nvSpPr>
          <p:spPr>
            <a:xfrm>
              <a:off x="609600" y="4610100"/>
              <a:ext cx="47625" cy="1866900"/>
            </a:xfrm>
            <a:prstGeom prst="roundRect">
              <a:avLst>
                <a:gd name="adj" fmla="val 50000"/>
              </a:avLst>
            </a:prstGeom>
            <a:solidFill>
              <a:srgbClr val="34D399"/>
            </a:solidFill>
            <a:ln>
              <a:noFill/>
            </a:ln>
          </p:spPr>
        </p:sp>
        <p:sp>
          <p:nvSpPr>
            <p:cNvPr id="42" name="Ellipse 42"/>
            <p:cNvSpPr/>
            <p:nvPr/>
          </p:nvSpPr>
          <p:spPr>
            <a:xfrm>
              <a:off x="838200" y="4676775"/>
              <a:ext cx="285750" cy="285750"/>
            </a:xfrm>
            <a:prstGeom prst="ellipse">
              <a:avLst/>
            </a:prstGeom>
            <a:solidFill>
              <a:srgbClr val="34D399"/>
            </a:solidFill>
            <a:ln>
              <a:noFill/>
            </a:ln>
          </p:spPr>
        </p:sp>
        <p:sp>
          <p:nvSpPr>
            <p:cNvPr id="43" name="TextBox 43"/>
            <p:cNvSpPr txBox="1"/>
            <p:nvPr/>
          </p:nvSpPr>
          <p:spPr>
            <a:xfrm>
              <a:off x="928333" y="474726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3</a:t>
              </a:r>
            </a:p>
          </p:txBody>
        </p:sp>
        <p:sp>
          <p:nvSpPr>
            <p:cNvPr id="44" name="TextBox 44"/>
            <p:cNvSpPr txBox="1"/>
            <p:nvPr/>
          </p:nvSpPr>
          <p:spPr>
            <a:xfrm>
              <a:off x="1211961" y="4761071"/>
              <a:ext cx="2680542"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Few iterations to converge</a:t>
              </a:r>
            </a:p>
          </p:txBody>
        </p:sp>
        <p:sp>
          <p:nvSpPr>
            <p:cNvPr id="45" name="TextBox 45"/>
            <p:cNvSpPr txBox="1"/>
            <p:nvPr/>
          </p:nvSpPr>
          <p:spPr>
            <a:xfrm>
              <a:off x="851344" y="5075158"/>
              <a:ext cx="2460473"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Each iteration is parallel across</a:t>
              </a:r>
            </a:p>
          </p:txBody>
        </p:sp>
        <p:sp>
          <p:nvSpPr>
            <p:cNvPr id="46" name="TextBox 46"/>
            <p:cNvSpPr txBox="1"/>
            <p:nvPr/>
          </p:nvSpPr>
          <p:spPr>
            <a:xfrm>
              <a:off x="851344" y="5303758"/>
              <a:ext cx="2635286"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timesteps, and convergence needs</a:t>
              </a:r>
            </a:p>
          </p:txBody>
        </p:sp>
        <p:sp>
          <p:nvSpPr>
            <p:cNvPr id="47" name="TextBox 47"/>
            <p:cNvSpPr txBox="1"/>
            <p:nvPr/>
          </p:nvSpPr>
          <p:spPr>
            <a:xfrm>
              <a:off x="851344" y="5532358"/>
              <a:ext cx="2471318"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far fewer iterations than there</a:t>
              </a:r>
            </a:p>
          </p:txBody>
        </p:sp>
        <p:sp>
          <p:nvSpPr>
            <p:cNvPr id="48" name="TextBox 48"/>
            <p:cNvSpPr txBox="1"/>
            <p:nvPr/>
          </p:nvSpPr>
          <p:spPr>
            <a:xfrm>
              <a:off x="851344" y="5760958"/>
              <a:ext cx="2401047"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are steps, so it resolves fast.</a:t>
              </a:r>
            </a:p>
          </p:txBody>
        </p:sp>
      </p:grpSp>
      <p:grpSp>
        <p:nvGrpSpPr>
          <p:cNvPr id="59" name="Group 59"/>
          <p:cNvGrpSpPr/>
          <p:nvPr/>
        </p:nvGrpSpPr>
        <p:grpSpPr>
          <a:xfrm>
            <a:off x="6210300" y="4476750"/>
            <a:ext cx="5372100" cy="2133600"/>
            <a:chOff x="6210300" y="4476750"/>
            <a:chExt cx="5372100" cy="2133600"/>
          </a:xfrm>
        </p:grpSpPr>
        <p:sp>
          <p:nvSpPr>
            <p:cNvPr id="50" name="Rectangle 50"/>
            <p:cNvSpPr/>
            <p:nvPr/>
          </p:nvSpPr>
          <p:spPr>
            <a:xfrm>
              <a:off x="6210300" y="4476750"/>
              <a:ext cx="5372100" cy="2133600"/>
            </a:xfrm>
            <a:prstGeom prst="roundRect">
              <a:avLst>
                <a:gd name="adj" fmla="val 7143"/>
              </a:avLst>
            </a:prstGeom>
            <a:solidFill>
              <a:srgbClr val="172331"/>
            </a:solidFill>
            <a:ln w="14288">
              <a:solidFill>
                <a:schemeClr val="accent4"/>
              </a:solidFill>
            </a:ln>
          </p:spPr>
        </p:sp>
        <p:sp>
          <p:nvSpPr>
            <p:cNvPr id="51" name="Rectangle 51"/>
            <p:cNvSpPr/>
            <p:nvPr/>
          </p:nvSpPr>
          <p:spPr>
            <a:xfrm>
              <a:off x="6210300" y="4610100"/>
              <a:ext cx="47625" cy="1866900"/>
            </a:xfrm>
            <a:prstGeom prst="roundRect">
              <a:avLst>
                <a:gd name="adj" fmla="val 50000"/>
              </a:avLst>
            </a:prstGeom>
            <a:solidFill>
              <a:srgbClr val="A78BFA"/>
            </a:solidFill>
            <a:ln>
              <a:noFill/>
            </a:ln>
          </p:spPr>
        </p:sp>
        <p:sp>
          <p:nvSpPr>
            <p:cNvPr id="52" name="Ellipse 52"/>
            <p:cNvSpPr/>
            <p:nvPr/>
          </p:nvSpPr>
          <p:spPr>
            <a:xfrm>
              <a:off x="6438900" y="4676775"/>
              <a:ext cx="285750" cy="285750"/>
            </a:xfrm>
            <a:prstGeom prst="ellipse">
              <a:avLst/>
            </a:prstGeom>
            <a:solidFill>
              <a:srgbClr val="A78BFA"/>
            </a:solidFill>
            <a:ln>
              <a:noFill/>
            </a:ln>
          </p:spPr>
        </p:sp>
        <p:sp>
          <p:nvSpPr>
            <p:cNvPr id="53" name="TextBox 53"/>
            <p:cNvSpPr txBox="1"/>
            <p:nvPr/>
          </p:nvSpPr>
          <p:spPr>
            <a:xfrm>
              <a:off x="6529033" y="474726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4</a:t>
              </a:r>
            </a:p>
          </p:txBody>
        </p:sp>
        <p:sp>
          <p:nvSpPr>
            <p:cNvPr id="54" name="TextBox 54"/>
            <p:cNvSpPr txBox="1"/>
            <p:nvPr/>
          </p:nvSpPr>
          <p:spPr>
            <a:xfrm>
              <a:off x="6812661" y="4761071"/>
              <a:ext cx="3001888"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Sliding window for GPU memory</a:t>
              </a:r>
            </a:p>
          </p:txBody>
        </p:sp>
        <p:sp>
          <p:nvSpPr>
            <p:cNvPr id="55" name="TextBox 55"/>
            <p:cNvSpPr txBox="1"/>
            <p:nvPr/>
          </p:nvSpPr>
          <p:spPr>
            <a:xfrm>
              <a:off x="6452044" y="5075158"/>
              <a:ext cx="2726650"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Process a fixed-size batch window,</a:t>
              </a:r>
            </a:p>
          </p:txBody>
        </p:sp>
        <p:sp>
          <p:nvSpPr>
            <p:cNvPr id="56" name="TextBox 56"/>
            <p:cNvSpPr txBox="1"/>
            <p:nvPr/>
          </p:nvSpPr>
          <p:spPr>
            <a:xfrm>
              <a:off x="6452044" y="5303758"/>
              <a:ext cx="2432279"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advancing it forward as soon as</a:t>
              </a:r>
            </a:p>
          </p:txBody>
        </p:sp>
        <p:sp>
          <p:nvSpPr>
            <p:cNvPr id="57" name="TextBox 57"/>
            <p:cNvSpPr txBox="1"/>
            <p:nvPr/>
          </p:nvSpPr>
          <p:spPr>
            <a:xfrm>
              <a:off x="6452044" y="5532358"/>
              <a:ext cx="2557206"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the earliest timesteps converge,</a:t>
              </a:r>
            </a:p>
          </p:txBody>
        </p:sp>
        <p:sp>
          <p:nvSpPr>
            <p:cNvPr id="58" name="TextBox 58"/>
            <p:cNvSpPr txBox="1"/>
            <p:nvPr/>
          </p:nvSpPr>
          <p:spPr>
            <a:xfrm>
              <a:off x="6452044" y="5760958"/>
              <a:ext cx="2338666"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respecting GPU memory limits.</a:t>
              </a:r>
            </a:p>
          </p:txBody>
        </p:sp>
      </p:grpSp>
      <p:sp>
        <p:nvSpPr>
          <p:cNvPr id="60" name="TextBox 60"/>
          <p:cNvSpPr txBox="1"/>
          <p:nvPr/>
        </p:nvSpPr>
        <p:spPr>
          <a:xfrm>
            <a:off x="604647" y="6562249"/>
            <a:ext cx="2487873" cy="190690"/>
          </a:xfrm>
          <a:prstGeom prst="rect">
            <a:avLst/>
          </a:prstGeom>
          <a:noFill/>
          <a:ln>
            <a:noFill/>
          </a:ln>
        </p:spPr>
        <p:txBody>
          <a:bodyPr wrap="none" lIns="0" tIns="0" rIns="0" bIns="0" anchor="t" anchorCtr="0">
            <a:spAutoFit/>
          </a:bodyPr>
          <a:lstStyle/>
          <a:p>
            <a:pPr algn="l"/>
            <a:r>
              <a:rPr lang="en-US" sz="980" dirty="0">
                <a:solidFill>
                  <a:srgbClr val="8FA3B8"/>
                </a:solidFill>
                <a:latin typeface="+mn-lt"/>
                <a:ea typeface="+mn-ea"/>
                <a:cs typeface="+mn-cs"/>
              </a:rPr>
              <a:t>ParaDiGMS · Shih et al. · NeurIPS 2023</a:t>
            </a:r>
          </a:p>
        </p:txBody>
      </p:sp>
      <p:sp>
        <p:nvSpPr>
          <p:cNvPr id="61" name="TextBox 61"/>
          <p:cNvSpPr txBox="1"/>
          <p:nvPr/>
        </p:nvSpPr>
        <p:spPr>
          <a:xfrm>
            <a:off x="9868985" y="6562249"/>
            <a:ext cx="1718368" cy="190690"/>
          </a:xfrm>
          <a:prstGeom prst="rect">
            <a:avLst/>
          </a:prstGeom>
          <a:noFill/>
          <a:ln>
            <a:noFill/>
          </a:ln>
        </p:spPr>
        <p:txBody>
          <a:bodyPr wrap="none" lIns="0" tIns="0" rIns="0" bIns="0" anchor="t" anchorCtr="0">
            <a:spAutoFit/>
          </a:bodyPr>
          <a:lstStyle/>
          <a:p>
            <a:pPr algn="r"/>
            <a:r>
              <a:rPr lang="en-US" sz="980" dirty="0">
                <a:solidFill>
                  <a:srgbClr val="8FA3B8"/>
                </a:solidFill>
                <a:latin typeface="+mn-lt"/>
                <a:ea typeface="+mn-ea"/>
                <a:cs typeface="+mn-cs"/>
              </a:rPr>
              <a:t>arxiv.org/abs/2305.16317</a:t>
            </a:r>
          </a:p>
        </p:txBody>
      </p:sp>
      <p:sp>
        <p:nvSpPr>
          <p:cNvPr id="62" name="cue_s05_c1_method_builds_picard_iterations_clas" title="cue_s05_c1_method_builds_picard_iterations_clas" descr="cue_s05_c1_method_builds_picard_iterations_clas The method builds on Picard iterations, a classic technique for solving ordinary differential equations by fixed-point iteration. The insight is to write the value at each timestep as the initial value plus the integral of the drift along the path."/>
          <p:cNvSpPr/>
          <p:nvPr/>
        </p:nvSpPr>
        <p:spPr>
          <a:xfrm>
            <a:off x="609600" y="2114321"/>
            <a:ext cx="5371795"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ue_s05_c2_starting_full_guess_trajectory_parad" title="cue_s05_c2_starting_full_guess_trajectory_parad" descr="cue_s05_c2_starting_full_guess_trajectory_parad Starting from a full guess of the trajectory, ParaDiGMS updates every timestep simultaneously using the cumulative drift, and repeats until the values stop changing."/>
          <p:cNvSpPr/>
          <p:nvPr/>
        </p:nvSpPr>
        <p:spPr>
          <a:xfrm>
            <a:off x="6210604" y="2114321"/>
            <a:ext cx="5371795"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ue_s05_c3_because_iteration_computed_parallel" title="cue_s05_c3_because_iteration_computed_parallel" descr="cue_s05_c3_because_iteration_computed_parallel Because each iteration can be computed in parallel across timesteps, and the number of iterations to converge is much smaller than the number of steps, the whole trajectory resolves much faster."/>
          <p:cNvSpPr/>
          <p:nvPr/>
        </p:nvSpPr>
        <p:spPr>
          <a:xfrm>
            <a:off x="609600" y="4476902"/>
            <a:ext cx="5371795"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ue_s05_c4_practice_sliding_window_fixed_size" title="cue_s05_c4_practice_sliding_window_fixed_size" descr="cue_s05_c4_practice_sliding_window_fixed_size In practice it uses a sliding window of a fixed size to respect GPU memory, advancing the window as soon as the earliest timesteps converge."/>
          <p:cNvSpPr/>
          <p:nvPr/>
        </p:nvSpPr>
        <p:spPr>
          <a:xfrm>
            <a:off x="6210604" y="4476902"/>
            <a:ext cx="5371795"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5"/>
            </a:gs>
            <a:gs pos="100000">
              <a:schemeClr val="accent6"/>
            </a:gs>
          </a:gsLst>
          <a:lin ang="2700000" scaled="1"/>
        </a:gradFill>
        <a:effectLst/>
      </p:bgPr>
    </p:bg>
    <p:spTree>
      <p:nvGrpSpPr>
        <p:cNvPr id="1" name=""/>
        <p:cNvGrpSpPr/>
        <p:nvPr/>
      </p:nvGrpSpPr>
      <p:grpSpPr>
        <a:xfrm>
          <a:off x="0" y="0"/>
          <a:ext cx="0" cy="0"/>
          <a:chOff x="0" y="0"/>
          <a:chExt cx="0" cy="0"/>
        </a:xfrm>
      </p:grpSpPr>
      <p:sp>
        <p:nvSpPr>
          <p:cNvPr id="2" name="Rectangle 2"/>
          <p:cNvSpPr/>
          <p:nvPr/>
        </p:nvSpPr>
        <p:spPr>
          <a:xfrm>
            <a:off x="609600" y="495300"/>
            <a:ext cx="57150" cy="285750"/>
          </a:xfrm>
          <a:prstGeom prst="roundRect">
            <a:avLst>
              <a:gd name="adj" fmla="val 50000"/>
            </a:avLst>
          </a:prstGeom>
          <a:solidFill>
            <a:srgbClr val="2DD4BF"/>
          </a:solidFill>
          <a:ln>
            <a:noFill/>
          </a:ln>
        </p:spPr>
        <p:txBody>
          <a:bodyPr/>
          <a:p/>
        </p:txBody>
      </p:sp>
      <p:sp>
        <p:nvSpPr>
          <p:cNvPr id="3" name="TextBox 3"/>
          <p:cNvSpPr txBox="1"/>
          <p:nvPr/>
        </p:nvSpPr>
        <p:spPr>
          <a:xfrm>
            <a:off x="794385" y="507206"/>
            <a:ext cx="2190604" cy="220028"/>
          </a:xfrm>
          <a:prstGeom prst="rect">
            <a:avLst/>
          </a:prstGeom>
          <a:noFill/>
          <a:ln>
            <a:noFill/>
          </a:ln>
        </p:spPr>
        <p:txBody>
          <a:bodyPr wrap="none" lIns="0" tIns="0" rIns="0" bIns="0" anchor="t" anchorCtr="0">
            <a:spAutoFit/>
          </a:bodyPr>
          <a:lstStyle/>
          <a:p>
            <a:pPr algn="l"/>
            <a:r>
              <a:rPr lang="en-US" sz="1120" b="1" spc="188" dirty="0">
                <a:solidFill>
                  <a:srgbClr val="2DD4BF"/>
                </a:solidFill>
                <a:latin typeface="+mn-lt"/>
                <a:ea typeface="+mn-ea"/>
                <a:cs typeface="+mn-cs"/>
              </a:rPr>
              <a:t>DATASET &amp; BENCHMARK</a:t>
            </a:r>
          </a:p>
        </p:txBody>
      </p:sp>
      <p:sp>
        <p:nvSpPr>
          <p:cNvPr id="4" name="TextBox 4"/>
          <p:cNvSpPr txBox="1"/>
          <p:nvPr/>
        </p:nvSpPr>
        <p:spPr>
          <a:xfrm>
            <a:off x="787527" y="647224"/>
            <a:ext cx="4332183"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n-lt"/>
                <a:ea typeface="+mn-ea"/>
                <a:cs typeface="+mn-cs"/>
              </a:rPr>
              <a:t>Two domains, one method</a:t>
            </a:r>
          </a:p>
        </p:txBody>
      </p:sp>
      <p:sp>
        <p:nvSpPr>
          <p:cNvPr id="5" name="Line 5"/>
          <p:cNvSpPr/>
          <p:nvPr/>
        </p:nvSpPr>
        <p:spPr>
          <a:xfrm>
            <a:off x="609600" y="1123950"/>
            <a:ext cx="10972800" cy="9525"/>
          </a:xfrm>
          <a:custGeom>
            <a:avLst/>
            <a:gdLst/>
            <a:ahLst/>
            <a:cxnLst/>
            <a:rect l="l" t="t" r="r" b="b"/>
            <a:pathLst>
              <a:path w="10972800" h="9525">
                <a:moveTo>
                  <a:pt x="0" y="0"/>
                </a:moveTo>
                <a:lnTo>
                  <a:pt x="10972800" y="0"/>
                </a:lnTo>
              </a:path>
            </a:pathLst>
          </a:custGeom>
          <a:noFill/>
          <a:ln w="11430" cap="rnd">
            <a:solidFill>
              <a:schemeClr val="accent4"/>
            </a:solidFill>
          </a:ln>
        </p:spPr>
        <p:txBody>
          <a:bodyPr/>
          <a:p/>
        </p:txBody>
      </p:sp>
      <p:sp>
        <p:nvSpPr>
          <p:cNvPr id="6" name="TextBox 6"/>
          <p:cNvSpPr txBox="1"/>
          <p:nvPr/>
        </p:nvSpPr>
        <p:spPr>
          <a:xfrm>
            <a:off x="10989399" y="515302"/>
            <a:ext cx="598335" cy="205359"/>
          </a:xfrm>
          <a:prstGeom prst="rect">
            <a:avLst/>
          </a:prstGeom>
          <a:noFill/>
          <a:ln>
            <a:noFill/>
          </a:ln>
        </p:spPr>
        <p:txBody>
          <a:bodyPr wrap="none" lIns="0" tIns="0" rIns="0" bIns="0" anchor="t" anchorCtr="0">
            <a:spAutoFit/>
          </a:bodyPr>
          <a:lstStyle/>
          <a:p>
            <a:pPr algn="r"/>
            <a:r>
              <a:rPr lang="en-US" sz="1050" b="1" spc="112" dirty="0">
                <a:solidFill>
                  <a:srgbClr val="8FA3B8"/>
                </a:solidFill>
                <a:latin typeface="+mn-lt"/>
                <a:ea typeface="+mn-ea"/>
                <a:cs typeface="+mn-cs"/>
              </a:rPr>
              <a:t>06 / 10</a:t>
            </a:r>
          </a:p>
        </p:txBody>
      </p:sp>
      <p:grpSp>
        <p:nvGrpSpPr>
          <p:cNvPr id="16" name="Group 16"/>
          <p:cNvGrpSpPr/>
          <p:nvPr/>
        </p:nvGrpSpPr>
        <p:grpSpPr>
          <a:xfrm>
            <a:off x="609600" y="1314450"/>
            <a:ext cx="5372100" cy="2457450"/>
            <a:chOff x="609600" y="1314450"/>
            <a:chExt cx="5372100" cy="2457450"/>
          </a:xfrm>
        </p:grpSpPr>
        <p:sp>
          <p:nvSpPr>
            <p:cNvPr id="7" name="Rectangle 7"/>
            <p:cNvSpPr/>
            <p:nvPr/>
          </p:nvSpPr>
          <p:spPr>
            <a:xfrm>
              <a:off x="609600" y="1314450"/>
              <a:ext cx="5372100" cy="2457450"/>
            </a:xfrm>
            <a:prstGeom prst="roundRect">
              <a:avLst>
                <a:gd name="adj" fmla="val 6202"/>
              </a:avLst>
            </a:prstGeom>
            <a:solidFill>
              <a:srgbClr val="172331"/>
            </a:solidFill>
            <a:ln w="14288">
              <a:solidFill>
                <a:schemeClr val="accent4"/>
              </a:solidFill>
            </a:ln>
          </p:spPr>
        </p:sp>
        <p:sp>
          <p:nvSpPr>
            <p:cNvPr id="8" name="Rectangle 8"/>
            <p:cNvSpPr/>
            <p:nvPr/>
          </p:nvSpPr>
          <p:spPr>
            <a:xfrm>
              <a:off x="609600" y="1447800"/>
              <a:ext cx="47625" cy="2190750"/>
            </a:xfrm>
            <a:prstGeom prst="roundRect">
              <a:avLst>
                <a:gd name="adj" fmla="val 50000"/>
              </a:avLst>
            </a:prstGeom>
            <a:solidFill>
              <a:schemeClr val="accent2"/>
            </a:solidFill>
            <a:ln>
              <a:noFill/>
            </a:ln>
          </p:spPr>
        </p:sp>
        <p:sp>
          <p:nvSpPr>
            <p:cNvPr id="9" name="Ellipse 9"/>
            <p:cNvSpPr/>
            <p:nvPr/>
          </p:nvSpPr>
          <p:spPr>
            <a:xfrm>
              <a:off x="838200" y="1514475"/>
              <a:ext cx="285750" cy="285750"/>
            </a:xfrm>
            <a:prstGeom prst="ellipse">
              <a:avLst/>
            </a:prstGeom>
            <a:solidFill>
              <a:schemeClr val="accent2"/>
            </a:solidFill>
            <a:ln>
              <a:noFill/>
            </a:ln>
          </p:spPr>
        </p:sp>
        <p:sp>
          <p:nvSpPr>
            <p:cNvPr id="10" name="TextBox 10"/>
            <p:cNvSpPr txBox="1"/>
            <p:nvPr/>
          </p:nvSpPr>
          <p:spPr>
            <a:xfrm>
              <a:off x="928333" y="158496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1</a:t>
              </a:r>
            </a:p>
          </p:txBody>
        </p:sp>
        <p:sp>
          <p:nvSpPr>
            <p:cNvPr id="11" name="TextBox 11"/>
            <p:cNvSpPr txBox="1"/>
            <p:nvPr/>
          </p:nvSpPr>
          <p:spPr>
            <a:xfrm>
              <a:off x="1211961" y="1598771"/>
              <a:ext cx="277054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Robotics · diffusion policies</a:t>
              </a:r>
            </a:p>
          </p:txBody>
        </p:sp>
        <p:sp>
          <p:nvSpPr>
            <p:cNvPr id="12" name="TextBox 12"/>
            <p:cNvSpPr txBox="1"/>
            <p:nvPr/>
          </p:nvSpPr>
          <p:spPr>
            <a:xfrm>
              <a:off x="851344" y="1912858"/>
              <a:ext cx="2282640"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Robosuite Square, PushT, and</a:t>
              </a:r>
            </a:p>
          </p:txBody>
        </p:sp>
        <p:sp>
          <p:nvSpPr>
            <p:cNvPr id="13" name="TextBox 13"/>
            <p:cNvSpPr txBox="1"/>
            <p:nvPr/>
          </p:nvSpPr>
          <p:spPr>
            <a:xfrm>
              <a:off x="851344" y="2141458"/>
              <a:ext cx="2222047"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FrankaKitchen. Metric: task</a:t>
              </a:r>
            </a:p>
          </p:txBody>
        </p:sp>
        <p:sp>
          <p:nvSpPr>
            <p:cNvPr id="14" name="TextBox 14"/>
            <p:cNvSpPr txBox="1"/>
            <p:nvPr/>
          </p:nvSpPr>
          <p:spPr>
            <a:xfrm>
              <a:off x="851344" y="2370058"/>
              <a:ext cx="2073112"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reward averaged over ~200</a:t>
              </a:r>
            </a:p>
          </p:txBody>
        </p:sp>
        <p:sp>
          <p:nvSpPr>
            <p:cNvPr id="15" name="TextBox 15"/>
            <p:cNvSpPr txBox="1"/>
            <p:nvPr/>
          </p:nvSpPr>
          <p:spPr>
            <a:xfrm>
              <a:off x="851344" y="2598658"/>
              <a:ext cx="1573403"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evaluation episodes.</a:t>
              </a:r>
            </a:p>
          </p:txBody>
        </p:sp>
      </p:grpSp>
      <p:grpSp>
        <p:nvGrpSpPr>
          <p:cNvPr id="26" name="Group 26"/>
          <p:cNvGrpSpPr/>
          <p:nvPr/>
        </p:nvGrpSpPr>
        <p:grpSpPr>
          <a:xfrm>
            <a:off x="6210300" y="1314450"/>
            <a:ext cx="5372100" cy="2457450"/>
            <a:chOff x="6210300" y="1314450"/>
            <a:chExt cx="5372100" cy="2457450"/>
          </a:xfrm>
        </p:grpSpPr>
        <p:sp>
          <p:nvSpPr>
            <p:cNvPr id="17" name="Rectangle 17"/>
            <p:cNvSpPr/>
            <p:nvPr/>
          </p:nvSpPr>
          <p:spPr>
            <a:xfrm>
              <a:off x="6210300" y="1314450"/>
              <a:ext cx="5372100" cy="2457450"/>
            </a:xfrm>
            <a:prstGeom prst="roundRect">
              <a:avLst>
                <a:gd name="adj" fmla="val 6202"/>
              </a:avLst>
            </a:prstGeom>
            <a:solidFill>
              <a:srgbClr val="172331"/>
            </a:solidFill>
            <a:ln w="14288">
              <a:solidFill>
                <a:schemeClr val="accent4"/>
              </a:solidFill>
            </a:ln>
          </p:spPr>
        </p:sp>
        <p:sp>
          <p:nvSpPr>
            <p:cNvPr id="18" name="Rectangle 18"/>
            <p:cNvSpPr/>
            <p:nvPr/>
          </p:nvSpPr>
          <p:spPr>
            <a:xfrm>
              <a:off x="6210300" y="1447800"/>
              <a:ext cx="47625" cy="2190750"/>
            </a:xfrm>
            <a:prstGeom prst="roundRect">
              <a:avLst>
                <a:gd name="adj" fmla="val 50000"/>
              </a:avLst>
            </a:prstGeom>
            <a:solidFill>
              <a:srgbClr val="2DD4BF"/>
            </a:solidFill>
            <a:ln>
              <a:noFill/>
            </a:ln>
          </p:spPr>
        </p:sp>
        <p:sp>
          <p:nvSpPr>
            <p:cNvPr id="19" name="Ellipse 19"/>
            <p:cNvSpPr/>
            <p:nvPr/>
          </p:nvSpPr>
          <p:spPr>
            <a:xfrm>
              <a:off x="6438900" y="1514475"/>
              <a:ext cx="285750" cy="285750"/>
            </a:xfrm>
            <a:prstGeom prst="ellipse">
              <a:avLst/>
            </a:prstGeom>
            <a:solidFill>
              <a:srgbClr val="2DD4BF"/>
            </a:solidFill>
            <a:ln>
              <a:noFill/>
            </a:ln>
          </p:spPr>
        </p:sp>
        <p:sp>
          <p:nvSpPr>
            <p:cNvPr id="20" name="TextBox 20"/>
            <p:cNvSpPr txBox="1"/>
            <p:nvPr/>
          </p:nvSpPr>
          <p:spPr>
            <a:xfrm>
              <a:off x="6529033" y="158496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2</a:t>
              </a:r>
            </a:p>
          </p:txBody>
        </p:sp>
        <p:sp>
          <p:nvSpPr>
            <p:cNvPr id="21" name="TextBox 21"/>
            <p:cNvSpPr txBox="1"/>
            <p:nvPr/>
          </p:nvSpPr>
          <p:spPr>
            <a:xfrm>
              <a:off x="6812661" y="1598771"/>
              <a:ext cx="212903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Images · latent space</a:t>
              </a:r>
            </a:p>
          </p:txBody>
        </p:sp>
        <p:sp>
          <p:nvSpPr>
            <p:cNvPr id="22" name="TextBox 22"/>
            <p:cNvSpPr txBox="1"/>
            <p:nvPr/>
          </p:nvSpPr>
          <p:spPr>
            <a:xfrm>
              <a:off x="6452044" y="1912858"/>
              <a:ext cx="1958624"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StableDiffusion-v2 makes</a:t>
              </a:r>
            </a:p>
          </p:txBody>
        </p:sp>
        <p:sp>
          <p:nvSpPr>
            <p:cNvPr id="23" name="TextBox 23"/>
            <p:cNvSpPr txBox="1"/>
            <p:nvPr/>
          </p:nvSpPr>
          <p:spPr>
            <a:xfrm>
              <a:off x="6452044" y="2141458"/>
              <a:ext cx="2074712"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768×768 images from COCO</a:t>
              </a:r>
            </a:p>
          </p:txBody>
        </p:sp>
        <p:sp>
          <p:nvSpPr>
            <p:cNvPr id="24" name="TextBox 24"/>
            <p:cNvSpPr txBox="1"/>
            <p:nvPr/>
          </p:nvSpPr>
          <p:spPr>
            <a:xfrm>
              <a:off x="6452044" y="2370058"/>
              <a:ext cx="2117991"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captions, scored by CLIP on</a:t>
              </a:r>
            </a:p>
          </p:txBody>
        </p:sp>
        <p:sp>
          <p:nvSpPr>
            <p:cNvPr id="25" name="TextBox 25"/>
            <p:cNvSpPr txBox="1"/>
            <p:nvPr/>
          </p:nvSpPr>
          <p:spPr>
            <a:xfrm>
              <a:off x="6452044" y="2598658"/>
              <a:ext cx="766531"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ViT-g-14.</a:t>
              </a:r>
            </a:p>
          </p:txBody>
        </p:sp>
      </p:grpSp>
      <p:grpSp>
        <p:nvGrpSpPr>
          <p:cNvPr id="36" name="Group 36"/>
          <p:cNvGrpSpPr/>
          <p:nvPr/>
        </p:nvGrpSpPr>
        <p:grpSpPr>
          <a:xfrm>
            <a:off x="609600" y="4000500"/>
            <a:ext cx="5372100" cy="2457450"/>
            <a:chOff x="609600" y="4000500"/>
            <a:chExt cx="5372100" cy="2457450"/>
          </a:xfrm>
        </p:grpSpPr>
        <p:sp>
          <p:nvSpPr>
            <p:cNvPr id="27" name="Rectangle 27"/>
            <p:cNvSpPr/>
            <p:nvPr/>
          </p:nvSpPr>
          <p:spPr>
            <a:xfrm>
              <a:off x="609600" y="4000500"/>
              <a:ext cx="5372100" cy="2457450"/>
            </a:xfrm>
            <a:prstGeom prst="roundRect">
              <a:avLst>
                <a:gd name="adj" fmla="val 6202"/>
              </a:avLst>
            </a:prstGeom>
            <a:solidFill>
              <a:srgbClr val="172331"/>
            </a:solidFill>
            <a:ln w="14288">
              <a:solidFill>
                <a:schemeClr val="accent4"/>
              </a:solidFill>
            </a:ln>
          </p:spPr>
        </p:sp>
        <p:sp>
          <p:nvSpPr>
            <p:cNvPr id="28" name="Rectangle 28"/>
            <p:cNvSpPr/>
            <p:nvPr/>
          </p:nvSpPr>
          <p:spPr>
            <a:xfrm>
              <a:off x="609600" y="4133850"/>
              <a:ext cx="47625" cy="2190750"/>
            </a:xfrm>
            <a:prstGeom prst="roundRect">
              <a:avLst>
                <a:gd name="adj" fmla="val 50000"/>
              </a:avLst>
            </a:prstGeom>
            <a:solidFill>
              <a:srgbClr val="A78BFA"/>
            </a:solidFill>
            <a:ln>
              <a:noFill/>
            </a:ln>
          </p:spPr>
        </p:sp>
        <p:sp>
          <p:nvSpPr>
            <p:cNvPr id="29" name="Ellipse 29"/>
            <p:cNvSpPr/>
            <p:nvPr/>
          </p:nvSpPr>
          <p:spPr>
            <a:xfrm>
              <a:off x="838200" y="4200525"/>
              <a:ext cx="285750" cy="285750"/>
            </a:xfrm>
            <a:prstGeom prst="ellipse">
              <a:avLst/>
            </a:prstGeom>
            <a:solidFill>
              <a:srgbClr val="A78BFA"/>
            </a:solidFill>
            <a:ln>
              <a:noFill/>
            </a:ln>
          </p:spPr>
        </p:sp>
        <p:sp>
          <p:nvSpPr>
            <p:cNvPr id="30" name="TextBox 30"/>
            <p:cNvSpPr txBox="1"/>
            <p:nvPr/>
          </p:nvSpPr>
          <p:spPr>
            <a:xfrm>
              <a:off x="928333" y="427101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3</a:t>
              </a:r>
            </a:p>
          </p:txBody>
        </p:sp>
        <p:sp>
          <p:nvSpPr>
            <p:cNvPr id="31" name="TextBox 31"/>
            <p:cNvSpPr txBox="1"/>
            <p:nvPr/>
          </p:nvSpPr>
          <p:spPr>
            <a:xfrm>
              <a:off x="1211961" y="4284821"/>
              <a:ext cx="1968335"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Images · pixel space</a:t>
              </a:r>
            </a:p>
          </p:txBody>
        </p:sp>
        <p:sp>
          <p:nvSpPr>
            <p:cNvPr id="32" name="TextBox 32"/>
            <p:cNvSpPr txBox="1"/>
            <p:nvPr/>
          </p:nvSpPr>
          <p:spPr>
            <a:xfrm>
              <a:off x="851344" y="4598908"/>
              <a:ext cx="1933424"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LSUN Church and Bedroom</a:t>
              </a:r>
            </a:p>
          </p:txBody>
        </p:sp>
        <p:sp>
          <p:nvSpPr>
            <p:cNvPr id="33" name="TextBox 33"/>
            <p:cNvSpPr txBox="1"/>
            <p:nvPr/>
          </p:nvSpPr>
          <p:spPr>
            <a:xfrm>
              <a:off x="851344" y="4827508"/>
              <a:ext cx="2189919"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models evaluated by FID over</a:t>
              </a:r>
            </a:p>
          </p:txBody>
        </p:sp>
        <p:sp>
          <p:nvSpPr>
            <p:cNvPr id="34" name="TextBox 34"/>
            <p:cNvSpPr txBox="1"/>
            <p:nvPr/>
          </p:nvSpPr>
          <p:spPr>
            <a:xfrm>
              <a:off x="851344" y="5056108"/>
              <a:ext cx="2689941"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5000 samples, spanning pixel-space</a:t>
              </a:r>
            </a:p>
          </p:txBody>
        </p:sp>
        <p:sp>
          <p:nvSpPr>
            <p:cNvPr id="35" name="TextBox 35"/>
            <p:cNvSpPr txBox="1"/>
            <p:nvPr/>
          </p:nvSpPr>
          <p:spPr>
            <a:xfrm>
              <a:off x="851344" y="5284708"/>
              <a:ext cx="1448476"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diffusion at scale.</a:t>
              </a:r>
            </a:p>
          </p:txBody>
        </p:sp>
      </p:grpSp>
      <p:grpSp>
        <p:nvGrpSpPr>
          <p:cNvPr id="46" name="Group 46"/>
          <p:cNvGrpSpPr/>
          <p:nvPr/>
        </p:nvGrpSpPr>
        <p:grpSpPr>
          <a:xfrm>
            <a:off x="6210300" y="4000500"/>
            <a:ext cx="5372100" cy="2457450"/>
            <a:chOff x="6210300" y="4000500"/>
            <a:chExt cx="5372100" cy="2457450"/>
          </a:xfrm>
        </p:grpSpPr>
        <p:sp>
          <p:nvSpPr>
            <p:cNvPr id="37" name="Rectangle 37"/>
            <p:cNvSpPr/>
            <p:nvPr/>
          </p:nvSpPr>
          <p:spPr>
            <a:xfrm>
              <a:off x="6210300" y="4000500"/>
              <a:ext cx="5372100" cy="2457450"/>
            </a:xfrm>
            <a:prstGeom prst="roundRect">
              <a:avLst>
                <a:gd name="adj" fmla="val 6202"/>
              </a:avLst>
            </a:prstGeom>
            <a:solidFill>
              <a:srgbClr val="172331"/>
            </a:solidFill>
            <a:ln w="14288">
              <a:solidFill>
                <a:schemeClr val="accent4"/>
              </a:solidFill>
            </a:ln>
          </p:spPr>
        </p:sp>
        <p:sp>
          <p:nvSpPr>
            <p:cNvPr id="38" name="Rectangle 38"/>
            <p:cNvSpPr/>
            <p:nvPr/>
          </p:nvSpPr>
          <p:spPr>
            <a:xfrm>
              <a:off x="6210300" y="4133850"/>
              <a:ext cx="47625" cy="2190750"/>
            </a:xfrm>
            <a:prstGeom prst="roundRect">
              <a:avLst>
                <a:gd name="adj" fmla="val 50000"/>
              </a:avLst>
            </a:prstGeom>
            <a:solidFill>
              <a:srgbClr val="34D399"/>
            </a:solidFill>
            <a:ln>
              <a:noFill/>
            </a:ln>
          </p:spPr>
        </p:sp>
        <p:sp>
          <p:nvSpPr>
            <p:cNvPr id="39" name="Ellipse 39"/>
            <p:cNvSpPr/>
            <p:nvPr/>
          </p:nvSpPr>
          <p:spPr>
            <a:xfrm>
              <a:off x="6438900" y="4200525"/>
              <a:ext cx="285750" cy="285750"/>
            </a:xfrm>
            <a:prstGeom prst="ellipse">
              <a:avLst/>
            </a:prstGeom>
            <a:solidFill>
              <a:srgbClr val="34D399"/>
            </a:solidFill>
            <a:ln>
              <a:noFill/>
            </a:ln>
          </p:spPr>
        </p:sp>
        <p:sp>
          <p:nvSpPr>
            <p:cNvPr id="40" name="TextBox 40"/>
            <p:cNvSpPr txBox="1"/>
            <p:nvPr/>
          </p:nvSpPr>
          <p:spPr>
            <a:xfrm>
              <a:off x="6529033" y="427101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4</a:t>
              </a:r>
            </a:p>
          </p:txBody>
        </p:sp>
        <p:sp>
          <p:nvSpPr>
            <p:cNvPr id="41" name="TextBox 41"/>
            <p:cNvSpPr txBox="1"/>
            <p:nvPr/>
          </p:nvSpPr>
          <p:spPr>
            <a:xfrm>
              <a:off x="6812661" y="4284821"/>
              <a:ext cx="197731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Deliberately diverse</a:t>
              </a:r>
            </a:p>
          </p:txBody>
        </p:sp>
        <p:sp>
          <p:nvSpPr>
            <p:cNvPr id="42" name="TextBox 42"/>
            <p:cNvSpPr txBox="1"/>
            <p:nvPr/>
          </p:nvSpPr>
          <p:spPr>
            <a:xfrm>
              <a:off x="6452044" y="4598908"/>
              <a:ext cx="2484498"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Together these span latent- and</a:t>
              </a:r>
            </a:p>
          </p:txBody>
        </p:sp>
        <p:sp>
          <p:nvSpPr>
            <p:cNvPr id="43" name="TextBox 43"/>
            <p:cNvSpPr txBox="1"/>
            <p:nvPr/>
          </p:nvSpPr>
          <p:spPr>
            <a:xfrm>
              <a:off x="6452044" y="4827508"/>
              <a:ext cx="2229272"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pixel-space diffusion at very</a:t>
              </a:r>
            </a:p>
          </p:txBody>
        </p:sp>
        <p:sp>
          <p:nvSpPr>
            <p:cNvPr id="44" name="TextBox 44"/>
            <p:cNvSpPr txBox="1"/>
            <p:nvPr/>
          </p:nvSpPr>
          <p:spPr>
            <a:xfrm>
              <a:off x="6452044" y="5056108"/>
              <a:ext cx="2299543"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different scales, showing the</a:t>
              </a:r>
            </a:p>
          </p:txBody>
        </p:sp>
        <p:sp>
          <p:nvSpPr>
            <p:cNvPr id="45" name="TextBox 45"/>
            <p:cNvSpPr txBox="1"/>
            <p:nvPr/>
          </p:nvSpPr>
          <p:spPr>
            <a:xfrm>
              <a:off x="6452044" y="5284708"/>
              <a:ext cx="2166808"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method generalizes broadly.</a:t>
              </a:r>
            </a:p>
          </p:txBody>
        </p:sp>
      </p:grpSp>
      <p:sp>
        <p:nvSpPr>
          <p:cNvPr id="47" name="TextBox 47"/>
          <p:cNvSpPr txBox="1"/>
          <p:nvPr/>
        </p:nvSpPr>
        <p:spPr>
          <a:xfrm>
            <a:off x="604647" y="6562249"/>
            <a:ext cx="2487873" cy="190690"/>
          </a:xfrm>
          <a:prstGeom prst="rect">
            <a:avLst/>
          </a:prstGeom>
          <a:noFill/>
          <a:ln>
            <a:noFill/>
          </a:ln>
        </p:spPr>
        <p:txBody>
          <a:bodyPr wrap="none" lIns="0" tIns="0" rIns="0" bIns="0" anchor="t" anchorCtr="0">
            <a:spAutoFit/>
          </a:bodyPr>
          <a:lstStyle/>
          <a:p>
            <a:pPr algn="l"/>
            <a:r>
              <a:rPr lang="en-US" sz="980" dirty="0">
                <a:solidFill>
                  <a:srgbClr val="8FA3B8"/>
                </a:solidFill>
                <a:latin typeface="+mn-lt"/>
                <a:ea typeface="+mn-ea"/>
                <a:cs typeface="+mn-cs"/>
              </a:rPr>
              <a:t>ParaDiGMS · Shih et al. · NeurIPS 2023</a:t>
            </a:r>
          </a:p>
        </p:txBody>
      </p:sp>
      <p:sp>
        <p:nvSpPr>
          <p:cNvPr id="48" name="TextBox 48"/>
          <p:cNvSpPr txBox="1"/>
          <p:nvPr/>
        </p:nvSpPr>
        <p:spPr>
          <a:xfrm>
            <a:off x="9868985" y="6562249"/>
            <a:ext cx="1718368" cy="190690"/>
          </a:xfrm>
          <a:prstGeom prst="rect">
            <a:avLst/>
          </a:prstGeom>
          <a:noFill/>
          <a:ln>
            <a:noFill/>
          </a:ln>
        </p:spPr>
        <p:txBody>
          <a:bodyPr wrap="none" lIns="0" tIns="0" rIns="0" bIns="0" anchor="t" anchorCtr="0">
            <a:spAutoFit/>
          </a:bodyPr>
          <a:lstStyle/>
          <a:p>
            <a:pPr algn="r"/>
            <a:r>
              <a:rPr lang="en-US" sz="980" dirty="0">
                <a:solidFill>
                  <a:srgbClr val="8FA3B8"/>
                </a:solidFill>
                <a:latin typeface="+mn-lt"/>
                <a:ea typeface="+mn-ea"/>
                <a:cs typeface="+mn-cs"/>
              </a:rPr>
              <a:t>arxiv.org/abs/2305.16317</a:t>
            </a:r>
          </a:p>
        </p:txBody>
      </p:sp>
      <p:sp>
        <p:nvSpPr>
          <p:cNvPr id="49" name="cue_s06_c1_experiments_cover_two_very_different" title="cue_s06_c1_experiments_cover_two_very_different" descr="cue_s06_c1_experiments_cover_two_very_different The experiments cover two very different domains to show generality."/>
          <p:cNvSpPr/>
          <p:nvPr/>
        </p:nvSpPr>
        <p:spPr>
          <a:xfrm>
            <a:off x="609600" y="1314678"/>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6_c2_robotics_side_authors_test_diffusion" title="cue_s06_c2_robotics_side_authors_test_diffusion" descr="cue_s06_c2_robotics_side_authors_test_diffusion On the robotics side, the authors test diffusion policies on Robosuite Square, PushT, and FrankaKitchen, measuring task reward averaged over hundreds of evaluation episodes."/>
          <p:cNvSpPr/>
          <p:nvPr/>
        </p:nvSpPr>
        <p:spPr>
          <a:xfrm>
            <a:off x="6210604" y="1314678"/>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6_c3_image_side_they_evaluate_stablediffu" title="cue_s06_c3_image_side_they_evaluate_stablediffu" descr="cue_s06_c3_image_side_they_evaluate_stablediffu On the image side, they evaluate StableDiffusion version 2 generating 768-by-768 images from COCO captions, judged by CLIP score, and pixel-space LSUN Church and Bedroom models, judged by FID score."/>
          <p:cNvSpPr/>
          <p:nvPr/>
        </p:nvSpPr>
        <p:spPr>
          <a:xfrm>
            <a:off x="609600" y="40002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6_c4_together_these_span_latent_space_pix" title="cue_s06_c4_together_these_span_latent_space_pix" descr="cue_s06_c4_together_these_span_latent_space_pix Together these span latent-space and pixel-space diffusion at very different scales."/>
          <p:cNvSpPr/>
          <p:nvPr/>
        </p:nvSpPr>
        <p:spPr>
          <a:xfrm>
            <a:off x="6210604" y="40002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5"/>
            </a:gs>
            <a:gs pos="100000">
              <a:schemeClr val="accent6"/>
            </a:gs>
          </a:gsLst>
          <a:lin ang="2700000" scaled="1"/>
        </a:gradFill>
        <a:effectLst/>
      </p:bgPr>
    </p:bg>
    <p:spTree>
      <p:nvGrpSpPr>
        <p:cNvPr id="1" name=""/>
        <p:cNvGrpSpPr/>
        <p:nvPr/>
      </p:nvGrpSpPr>
      <p:grpSpPr>
        <a:xfrm>
          <a:off x="0" y="0"/>
          <a:ext cx="0" cy="0"/>
          <a:chOff x="0" y="0"/>
          <a:chExt cx="0" cy="0"/>
        </a:xfrm>
      </p:grpSpPr>
      <p:sp>
        <p:nvSpPr>
          <p:cNvPr id="2" name="Rectangle 2"/>
          <p:cNvSpPr/>
          <p:nvPr/>
        </p:nvSpPr>
        <p:spPr>
          <a:xfrm>
            <a:off x="609600" y="495300"/>
            <a:ext cx="57150" cy="285750"/>
          </a:xfrm>
          <a:prstGeom prst="roundRect">
            <a:avLst>
              <a:gd name="adj" fmla="val 50000"/>
            </a:avLst>
          </a:prstGeom>
          <a:solidFill>
            <a:srgbClr val="34D399"/>
          </a:solidFill>
          <a:ln>
            <a:noFill/>
          </a:ln>
        </p:spPr>
        <p:txBody>
          <a:bodyPr/>
          <a:p/>
        </p:txBody>
      </p:sp>
      <p:sp>
        <p:nvSpPr>
          <p:cNvPr id="3" name="TextBox 3"/>
          <p:cNvSpPr txBox="1"/>
          <p:nvPr/>
        </p:nvSpPr>
        <p:spPr>
          <a:xfrm>
            <a:off x="794385" y="507206"/>
            <a:ext cx="1130290" cy="220028"/>
          </a:xfrm>
          <a:prstGeom prst="rect">
            <a:avLst/>
          </a:prstGeom>
          <a:noFill/>
          <a:ln>
            <a:noFill/>
          </a:ln>
        </p:spPr>
        <p:txBody>
          <a:bodyPr wrap="none" lIns="0" tIns="0" rIns="0" bIns="0" anchor="t" anchorCtr="0">
            <a:spAutoFit/>
          </a:bodyPr>
          <a:lstStyle/>
          <a:p>
            <a:pPr algn="l"/>
            <a:r>
              <a:rPr lang="en-US" sz="1120" b="1" spc="188" dirty="0">
                <a:solidFill>
                  <a:srgbClr val="34D399"/>
                </a:solidFill>
                <a:latin typeface="+mn-lt"/>
                <a:ea typeface="+mn-ea"/>
                <a:cs typeface="+mn-cs"/>
              </a:rPr>
              <a:t>KEY RESULT</a:t>
            </a:r>
          </a:p>
        </p:txBody>
      </p:sp>
      <p:sp>
        <p:nvSpPr>
          <p:cNvPr id="4" name="TextBox 4"/>
          <p:cNvSpPr txBox="1"/>
          <p:nvPr/>
        </p:nvSpPr>
        <p:spPr>
          <a:xfrm>
            <a:off x="787527" y="647224"/>
            <a:ext cx="4354444"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n-lt"/>
                <a:ea typeface="+mn-ea"/>
                <a:cs typeface="+mn-cs"/>
              </a:rPr>
              <a:t>2–4× faster, everywhere</a:t>
            </a:r>
          </a:p>
        </p:txBody>
      </p:sp>
      <p:sp>
        <p:nvSpPr>
          <p:cNvPr id="5" name="Line 5"/>
          <p:cNvSpPr/>
          <p:nvPr/>
        </p:nvSpPr>
        <p:spPr>
          <a:xfrm>
            <a:off x="609600" y="1123950"/>
            <a:ext cx="10972800" cy="9525"/>
          </a:xfrm>
          <a:custGeom>
            <a:avLst/>
            <a:gdLst/>
            <a:ahLst/>
            <a:cxnLst/>
            <a:rect l="l" t="t" r="r" b="b"/>
            <a:pathLst>
              <a:path w="10972800" h="9525">
                <a:moveTo>
                  <a:pt x="0" y="0"/>
                </a:moveTo>
                <a:lnTo>
                  <a:pt x="10972800" y="0"/>
                </a:lnTo>
              </a:path>
            </a:pathLst>
          </a:custGeom>
          <a:noFill/>
          <a:ln w="11430" cap="rnd">
            <a:solidFill>
              <a:schemeClr val="accent4"/>
            </a:solidFill>
          </a:ln>
        </p:spPr>
        <p:txBody>
          <a:bodyPr/>
          <a:p/>
        </p:txBody>
      </p:sp>
      <p:sp>
        <p:nvSpPr>
          <p:cNvPr id="6" name="TextBox 6"/>
          <p:cNvSpPr txBox="1"/>
          <p:nvPr/>
        </p:nvSpPr>
        <p:spPr>
          <a:xfrm>
            <a:off x="10989399" y="515302"/>
            <a:ext cx="598335" cy="205359"/>
          </a:xfrm>
          <a:prstGeom prst="rect">
            <a:avLst/>
          </a:prstGeom>
          <a:noFill/>
          <a:ln>
            <a:noFill/>
          </a:ln>
        </p:spPr>
        <p:txBody>
          <a:bodyPr wrap="none" lIns="0" tIns="0" rIns="0" bIns="0" anchor="t" anchorCtr="0">
            <a:spAutoFit/>
          </a:bodyPr>
          <a:lstStyle/>
          <a:p>
            <a:pPr algn="r"/>
            <a:r>
              <a:rPr lang="en-US" sz="1050" b="1" spc="112" dirty="0">
                <a:solidFill>
                  <a:srgbClr val="8FA3B8"/>
                </a:solidFill>
                <a:latin typeface="+mn-lt"/>
                <a:ea typeface="+mn-ea"/>
                <a:cs typeface="+mn-cs"/>
              </a:rPr>
              <a:t>07 / 10</a:t>
            </a:r>
          </a:p>
        </p:txBody>
      </p:sp>
      <p:grpSp>
        <p:nvGrpSpPr>
          <p:cNvPr id="16" name="Group 16"/>
          <p:cNvGrpSpPr/>
          <p:nvPr/>
        </p:nvGrpSpPr>
        <p:grpSpPr>
          <a:xfrm>
            <a:off x="609600" y="1314450"/>
            <a:ext cx="5372100" cy="2457450"/>
            <a:chOff x="609600" y="1314450"/>
            <a:chExt cx="5372100" cy="2457450"/>
          </a:xfrm>
        </p:grpSpPr>
        <p:sp>
          <p:nvSpPr>
            <p:cNvPr id="7" name="Rectangle 7"/>
            <p:cNvSpPr/>
            <p:nvPr/>
          </p:nvSpPr>
          <p:spPr>
            <a:xfrm>
              <a:off x="609600" y="1314450"/>
              <a:ext cx="5372100" cy="2457450"/>
            </a:xfrm>
            <a:prstGeom prst="roundRect">
              <a:avLst>
                <a:gd name="adj" fmla="val 6202"/>
              </a:avLst>
            </a:prstGeom>
            <a:solidFill>
              <a:srgbClr val="172331"/>
            </a:solidFill>
            <a:ln w="14288">
              <a:solidFill>
                <a:schemeClr val="accent4"/>
              </a:solidFill>
            </a:ln>
          </p:spPr>
        </p:sp>
        <p:sp>
          <p:nvSpPr>
            <p:cNvPr id="8" name="Rectangle 8"/>
            <p:cNvSpPr/>
            <p:nvPr/>
          </p:nvSpPr>
          <p:spPr>
            <a:xfrm>
              <a:off x="609600" y="1447800"/>
              <a:ext cx="47625" cy="2190750"/>
            </a:xfrm>
            <a:prstGeom prst="roundRect">
              <a:avLst>
                <a:gd name="adj" fmla="val 50000"/>
              </a:avLst>
            </a:prstGeom>
            <a:solidFill>
              <a:srgbClr val="34D399"/>
            </a:solidFill>
            <a:ln>
              <a:noFill/>
            </a:ln>
          </p:spPr>
        </p:sp>
        <p:sp>
          <p:nvSpPr>
            <p:cNvPr id="9" name="Ellipse 9"/>
            <p:cNvSpPr/>
            <p:nvPr/>
          </p:nvSpPr>
          <p:spPr>
            <a:xfrm>
              <a:off x="838200" y="1514475"/>
              <a:ext cx="285750" cy="285750"/>
            </a:xfrm>
            <a:prstGeom prst="ellipse">
              <a:avLst/>
            </a:prstGeom>
            <a:solidFill>
              <a:srgbClr val="34D399"/>
            </a:solidFill>
            <a:ln>
              <a:noFill/>
            </a:ln>
          </p:spPr>
        </p:sp>
        <p:sp>
          <p:nvSpPr>
            <p:cNvPr id="10" name="TextBox 10"/>
            <p:cNvSpPr txBox="1"/>
            <p:nvPr/>
          </p:nvSpPr>
          <p:spPr>
            <a:xfrm>
              <a:off x="928333" y="158496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1</a:t>
              </a:r>
            </a:p>
          </p:txBody>
        </p:sp>
        <p:sp>
          <p:nvSpPr>
            <p:cNvPr id="11" name="TextBox 11"/>
            <p:cNvSpPr txBox="1"/>
            <p:nvPr/>
          </p:nvSpPr>
          <p:spPr>
            <a:xfrm>
              <a:off x="1211961" y="1598771"/>
              <a:ext cx="285101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 remarkably consistent gain</a:t>
              </a:r>
            </a:p>
          </p:txBody>
        </p:sp>
        <p:sp>
          <p:nvSpPr>
            <p:cNvPr id="12" name="TextBox 12"/>
            <p:cNvSpPr txBox="1"/>
            <p:nvPr/>
          </p:nvSpPr>
          <p:spPr>
            <a:xfrm>
              <a:off x="851344" y="1912858"/>
              <a:ext cx="2432279"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2–4× speedup across every task</a:t>
              </a:r>
            </a:p>
          </p:txBody>
        </p:sp>
        <p:sp>
          <p:nvSpPr>
            <p:cNvPr id="13" name="TextBox 13"/>
            <p:cNvSpPr txBox="1"/>
            <p:nvPr/>
          </p:nvSpPr>
          <p:spPr>
            <a:xfrm>
              <a:off x="851344" y="2141458"/>
              <a:ext cx="2073112"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and every sampler, with no</a:t>
              </a:r>
            </a:p>
          </p:txBody>
        </p:sp>
        <p:sp>
          <p:nvSpPr>
            <p:cNvPr id="14" name="TextBox 14"/>
            <p:cNvSpPr txBox="1"/>
            <p:nvPr/>
          </p:nvSpPr>
          <p:spPr>
            <a:xfrm>
              <a:off x="851344" y="2370058"/>
              <a:ext cx="1995033"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measurable degradation in</a:t>
              </a:r>
            </a:p>
          </p:txBody>
        </p:sp>
        <p:sp>
          <p:nvSpPr>
            <p:cNvPr id="15" name="TextBox 15"/>
            <p:cNvSpPr txBox="1"/>
            <p:nvPr/>
          </p:nvSpPr>
          <p:spPr>
            <a:xfrm>
              <a:off x="851344" y="2598658"/>
              <a:ext cx="2169688"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reward, FID, or CLIP score.</a:t>
              </a:r>
            </a:p>
          </p:txBody>
        </p:sp>
      </p:grpSp>
      <p:grpSp>
        <p:nvGrpSpPr>
          <p:cNvPr id="42" name="Group 42"/>
          <p:cNvGrpSpPr/>
          <p:nvPr/>
        </p:nvGrpSpPr>
        <p:grpSpPr>
          <a:xfrm>
            <a:off x="6210300" y="1314450"/>
            <a:ext cx="5372100" cy="2457450"/>
            <a:chOff x="6210300" y="1314450"/>
            <a:chExt cx="5372100" cy="2457450"/>
          </a:xfrm>
        </p:grpSpPr>
        <p:sp>
          <p:nvSpPr>
            <p:cNvPr id="17" name="Rectangle 17"/>
            <p:cNvSpPr/>
            <p:nvPr/>
          </p:nvSpPr>
          <p:spPr>
            <a:xfrm>
              <a:off x="6210300" y="1314450"/>
              <a:ext cx="5372100" cy="2457450"/>
            </a:xfrm>
            <a:prstGeom prst="roundRect">
              <a:avLst>
                <a:gd name="adj" fmla="val 6202"/>
              </a:avLst>
            </a:prstGeom>
            <a:solidFill>
              <a:srgbClr val="172331"/>
            </a:solidFill>
            <a:ln w="14288">
              <a:solidFill>
                <a:schemeClr val="accent4"/>
              </a:solidFill>
            </a:ln>
          </p:spPr>
        </p:sp>
        <p:sp>
          <p:nvSpPr>
            <p:cNvPr id="18" name="Rectangle 18"/>
            <p:cNvSpPr/>
            <p:nvPr/>
          </p:nvSpPr>
          <p:spPr>
            <a:xfrm>
              <a:off x="6210300" y="1447800"/>
              <a:ext cx="47625" cy="2190750"/>
            </a:xfrm>
            <a:prstGeom prst="roundRect">
              <a:avLst>
                <a:gd name="adj" fmla="val 50000"/>
              </a:avLst>
            </a:prstGeom>
            <a:solidFill>
              <a:schemeClr val="accent2"/>
            </a:solidFill>
            <a:ln>
              <a:noFill/>
            </a:ln>
          </p:spPr>
        </p:sp>
        <p:sp>
          <p:nvSpPr>
            <p:cNvPr id="19" name="Ellipse 19"/>
            <p:cNvSpPr/>
            <p:nvPr/>
          </p:nvSpPr>
          <p:spPr>
            <a:xfrm>
              <a:off x="6438900" y="1514475"/>
              <a:ext cx="285750" cy="285750"/>
            </a:xfrm>
            <a:prstGeom prst="ellipse">
              <a:avLst/>
            </a:prstGeom>
            <a:solidFill>
              <a:schemeClr val="accent2"/>
            </a:solidFill>
            <a:ln>
              <a:noFill/>
            </a:ln>
          </p:spPr>
        </p:sp>
        <p:sp>
          <p:nvSpPr>
            <p:cNvPr id="20" name="TextBox 20"/>
            <p:cNvSpPr txBox="1"/>
            <p:nvPr/>
          </p:nvSpPr>
          <p:spPr>
            <a:xfrm>
              <a:off x="6529033" y="158496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2</a:t>
              </a:r>
            </a:p>
          </p:txBody>
        </p:sp>
        <p:sp>
          <p:nvSpPr>
            <p:cNvPr id="21" name="TextBox 21"/>
            <p:cNvSpPr txBox="1"/>
            <p:nvPr/>
          </p:nvSpPr>
          <p:spPr>
            <a:xfrm>
              <a:off x="6812661" y="1598771"/>
              <a:ext cx="157681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Speedup by task</a:t>
              </a:r>
            </a:p>
          </p:txBody>
        </p:sp>
        <p:sp>
          <p:nvSpPr>
            <p:cNvPr id="22" name="TextBox 22"/>
            <p:cNvSpPr txBox="1"/>
            <p:nvPr/>
          </p:nvSpPr>
          <p:spPr>
            <a:xfrm>
              <a:off x="6433947" y="1971199"/>
              <a:ext cx="471348" cy="190690"/>
            </a:xfrm>
            <a:prstGeom prst="rect">
              <a:avLst/>
            </a:prstGeom>
            <a:noFill/>
            <a:ln>
              <a:noFill/>
            </a:ln>
          </p:spPr>
          <p:txBody>
            <a:bodyPr wrap="none" lIns="0" tIns="0" rIns="0" bIns="0" anchor="t" anchorCtr="0">
              <a:spAutoFit/>
            </a:bodyPr>
            <a:lstStyle/>
            <a:p>
              <a:pPr algn="l"/>
              <a:r>
                <a:rPr lang="en-US" sz="980" b="1" dirty="0">
                  <a:solidFill>
                    <a:srgbClr val="8FA3B8"/>
                  </a:solidFill>
                  <a:latin typeface="+mn-lt"/>
                  <a:ea typeface="+mn-ea"/>
                  <a:cs typeface="+mn-cs"/>
                </a:rPr>
                <a:t>Square</a:t>
              </a:r>
            </a:p>
          </p:txBody>
        </p:sp>
        <p:sp>
          <p:nvSpPr>
            <p:cNvPr id="23" name="Rectangle 23"/>
            <p:cNvSpPr/>
            <p:nvPr/>
          </p:nvSpPr>
          <p:spPr>
            <a:xfrm>
              <a:off x="7562850" y="1952625"/>
              <a:ext cx="2381250" cy="133350"/>
            </a:xfrm>
            <a:prstGeom prst="roundRect">
              <a:avLst>
                <a:gd name="adj" fmla="val 50000"/>
              </a:avLst>
            </a:prstGeom>
            <a:solidFill>
              <a:srgbClr val="1D2D3E"/>
            </a:solidFill>
            <a:ln w="9525">
              <a:solidFill>
                <a:schemeClr val="accent4"/>
              </a:solidFill>
            </a:ln>
          </p:spPr>
        </p:sp>
        <p:sp>
          <p:nvSpPr>
            <p:cNvPr id="24" name="Rectangle 24"/>
            <p:cNvSpPr/>
            <p:nvPr/>
          </p:nvSpPr>
          <p:spPr>
            <a:xfrm>
              <a:off x="7562850" y="1952625"/>
              <a:ext cx="2000250" cy="133350"/>
            </a:xfrm>
            <a:prstGeom prst="roundRect">
              <a:avLst>
                <a:gd name="adj" fmla="val 50000"/>
              </a:avLst>
            </a:prstGeom>
            <a:solidFill>
              <a:schemeClr val="accent2"/>
            </a:solidFill>
            <a:ln>
              <a:noFill/>
            </a:ln>
          </p:spPr>
        </p:sp>
        <p:sp>
          <p:nvSpPr>
            <p:cNvPr id="25" name="TextBox 25"/>
            <p:cNvSpPr txBox="1"/>
            <p:nvPr/>
          </p:nvSpPr>
          <p:spPr>
            <a:xfrm>
              <a:off x="9634347" y="1971199"/>
              <a:ext cx="314659" cy="190690"/>
            </a:xfrm>
            <a:prstGeom prst="rect">
              <a:avLst/>
            </a:prstGeom>
            <a:noFill/>
            <a:ln>
              <a:noFill/>
            </a:ln>
          </p:spPr>
          <p:txBody>
            <a:bodyPr wrap="none" lIns="0" tIns="0" rIns="0" bIns="0" anchor="t" anchorCtr="0">
              <a:spAutoFit/>
            </a:bodyPr>
            <a:lstStyle/>
            <a:p>
              <a:pPr algn="l"/>
              <a:r>
                <a:rPr lang="en-US" sz="980" b="1" dirty="0">
                  <a:solidFill>
                    <a:schemeClr val="accent2"/>
                  </a:solidFill>
                  <a:latin typeface="+mn-lt"/>
                  <a:ea typeface="+mn-ea"/>
                  <a:cs typeface="+mn-cs"/>
                </a:rPr>
                <a:t>3.7×</a:t>
              </a:r>
            </a:p>
          </p:txBody>
        </p:sp>
        <p:sp>
          <p:nvSpPr>
            <p:cNvPr id="26" name="TextBox 26"/>
            <p:cNvSpPr txBox="1"/>
            <p:nvPr/>
          </p:nvSpPr>
          <p:spPr>
            <a:xfrm>
              <a:off x="6433947" y="2218849"/>
              <a:ext cx="399472" cy="190690"/>
            </a:xfrm>
            <a:prstGeom prst="rect">
              <a:avLst/>
            </a:prstGeom>
            <a:noFill/>
            <a:ln>
              <a:noFill/>
            </a:ln>
          </p:spPr>
          <p:txBody>
            <a:bodyPr wrap="none" lIns="0" tIns="0" rIns="0" bIns="0" anchor="t" anchorCtr="0">
              <a:spAutoFit/>
            </a:bodyPr>
            <a:lstStyle/>
            <a:p>
              <a:pPr algn="l"/>
              <a:r>
                <a:rPr lang="en-US" sz="980" b="1" dirty="0">
                  <a:solidFill>
                    <a:srgbClr val="8FA3B8"/>
                  </a:solidFill>
                  <a:latin typeface="+mn-lt"/>
                  <a:ea typeface="+mn-ea"/>
                  <a:cs typeface="+mn-cs"/>
                </a:rPr>
                <a:t>PushT</a:t>
              </a:r>
            </a:p>
          </p:txBody>
        </p:sp>
        <p:sp>
          <p:nvSpPr>
            <p:cNvPr id="27" name="Rectangle 27"/>
            <p:cNvSpPr/>
            <p:nvPr/>
          </p:nvSpPr>
          <p:spPr>
            <a:xfrm>
              <a:off x="7562850" y="2200275"/>
              <a:ext cx="2381250" cy="133350"/>
            </a:xfrm>
            <a:prstGeom prst="roundRect">
              <a:avLst>
                <a:gd name="adj" fmla="val 50000"/>
              </a:avLst>
            </a:prstGeom>
            <a:solidFill>
              <a:srgbClr val="1D2D3E"/>
            </a:solidFill>
            <a:ln w="9525">
              <a:solidFill>
                <a:schemeClr val="accent4"/>
              </a:solidFill>
            </a:ln>
          </p:spPr>
        </p:sp>
        <p:sp>
          <p:nvSpPr>
            <p:cNvPr id="28" name="Rectangle 28"/>
            <p:cNvSpPr/>
            <p:nvPr/>
          </p:nvSpPr>
          <p:spPr>
            <a:xfrm>
              <a:off x="7562850" y="2200275"/>
              <a:ext cx="2105025" cy="133350"/>
            </a:xfrm>
            <a:prstGeom prst="roundRect">
              <a:avLst>
                <a:gd name="adj" fmla="val 50000"/>
              </a:avLst>
            </a:prstGeom>
            <a:solidFill>
              <a:schemeClr val="accent2"/>
            </a:solidFill>
            <a:ln>
              <a:noFill/>
            </a:ln>
          </p:spPr>
        </p:sp>
        <p:sp>
          <p:nvSpPr>
            <p:cNvPr id="29" name="TextBox 29"/>
            <p:cNvSpPr txBox="1"/>
            <p:nvPr/>
          </p:nvSpPr>
          <p:spPr>
            <a:xfrm>
              <a:off x="9739122" y="2218849"/>
              <a:ext cx="314659" cy="190690"/>
            </a:xfrm>
            <a:prstGeom prst="rect">
              <a:avLst/>
            </a:prstGeom>
            <a:noFill/>
            <a:ln>
              <a:noFill/>
            </a:ln>
          </p:spPr>
          <p:txBody>
            <a:bodyPr wrap="none" lIns="0" tIns="0" rIns="0" bIns="0" anchor="t" anchorCtr="0">
              <a:spAutoFit/>
            </a:bodyPr>
            <a:lstStyle/>
            <a:p>
              <a:pPr algn="l"/>
              <a:r>
                <a:rPr lang="en-US" sz="980" b="1" dirty="0">
                  <a:solidFill>
                    <a:schemeClr val="accent2"/>
                  </a:solidFill>
                  <a:latin typeface="+mn-lt"/>
                  <a:ea typeface="+mn-ea"/>
                  <a:cs typeface="+mn-cs"/>
                </a:rPr>
                <a:t>3.9×</a:t>
              </a:r>
            </a:p>
          </p:txBody>
        </p:sp>
        <p:sp>
          <p:nvSpPr>
            <p:cNvPr id="30" name="TextBox 30"/>
            <p:cNvSpPr txBox="1"/>
            <p:nvPr/>
          </p:nvSpPr>
          <p:spPr>
            <a:xfrm>
              <a:off x="6433947" y="2466499"/>
              <a:ext cx="974045" cy="190690"/>
            </a:xfrm>
            <a:prstGeom prst="rect">
              <a:avLst/>
            </a:prstGeom>
            <a:noFill/>
            <a:ln>
              <a:noFill/>
            </a:ln>
          </p:spPr>
          <p:txBody>
            <a:bodyPr wrap="none" lIns="0" tIns="0" rIns="0" bIns="0" anchor="t" anchorCtr="0">
              <a:spAutoFit/>
            </a:bodyPr>
            <a:lstStyle/>
            <a:p>
              <a:pPr algn="l"/>
              <a:r>
                <a:rPr lang="en-US" sz="980" b="1" dirty="0">
                  <a:solidFill>
                    <a:srgbClr val="8FA3B8"/>
                  </a:solidFill>
                  <a:latin typeface="+mn-lt"/>
                  <a:ea typeface="+mn-ea"/>
                  <a:cs typeface="+mn-cs"/>
                </a:rPr>
                <a:t>FrankaKitchen</a:t>
              </a:r>
            </a:p>
          </p:txBody>
        </p:sp>
        <p:sp>
          <p:nvSpPr>
            <p:cNvPr id="31" name="Rectangle 31"/>
            <p:cNvSpPr/>
            <p:nvPr/>
          </p:nvSpPr>
          <p:spPr>
            <a:xfrm>
              <a:off x="7562850" y="2447925"/>
              <a:ext cx="2381250" cy="133350"/>
            </a:xfrm>
            <a:prstGeom prst="roundRect">
              <a:avLst>
                <a:gd name="adj" fmla="val 50000"/>
              </a:avLst>
            </a:prstGeom>
            <a:solidFill>
              <a:srgbClr val="1D2D3E"/>
            </a:solidFill>
            <a:ln w="9525">
              <a:solidFill>
                <a:schemeClr val="accent4"/>
              </a:solidFill>
            </a:ln>
          </p:spPr>
        </p:sp>
        <p:sp>
          <p:nvSpPr>
            <p:cNvPr id="32" name="Rectangle 32"/>
            <p:cNvSpPr/>
            <p:nvPr/>
          </p:nvSpPr>
          <p:spPr>
            <a:xfrm>
              <a:off x="7562850" y="2447925"/>
              <a:ext cx="1838325" cy="133350"/>
            </a:xfrm>
            <a:prstGeom prst="roundRect">
              <a:avLst>
                <a:gd name="adj" fmla="val 50000"/>
              </a:avLst>
            </a:prstGeom>
            <a:solidFill>
              <a:schemeClr val="accent2"/>
            </a:solidFill>
            <a:ln>
              <a:noFill/>
            </a:ln>
          </p:spPr>
        </p:sp>
        <p:sp>
          <p:nvSpPr>
            <p:cNvPr id="33" name="TextBox 33"/>
            <p:cNvSpPr txBox="1"/>
            <p:nvPr/>
          </p:nvSpPr>
          <p:spPr>
            <a:xfrm>
              <a:off x="9472422" y="2466499"/>
              <a:ext cx="314659" cy="190690"/>
            </a:xfrm>
            <a:prstGeom prst="rect">
              <a:avLst/>
            </a:prstGeom>
            <a:noFill/>
            <a:ln>
              <a:noFill/>
            </a:ln>
          </p:spPr>
          <p:txBody>
            <a:bodyPr wrap="none" lIns="0" tIns="0" rIns="0" bIns="0" anchor="t" anchorCtr="0">
              <a:spAutoFit/>
            </a:bodyPr>
            <a:lstStyle/>
            <a:p>
              <a:pPr algn="l"/>
              <a:r>
                <a:rPr lang="en-US" sz="980" b="1" dirty="0">
                  <a:solidFill>
                    <a:schemeClr val="accent2"/>
                  </a:solidFill>
                  <a:latin typeface="+mn-lt"/>
                  <a:ea typeface="+mn-ea"/>
                  <a:cs typeface="+mn-cs"/>
                </a:rPr>
                <a:t>3.4×</a:t>
              </a:r>
            </a:p>
          </p:txBody>
        </p:sp>
        <p:sp>
          <p:nvSpPr>
            <p:cNvPr id="34" name="TextBox 34"/>
            <p:cNvSpPr txBox="1"/>
            <p:nvPr/>
          </p:nvSpPr>
          <p:spPr>
            <a:xfrm>
              <a:off x="6433947" y="2714149"/>
              <a:ext cx="801490" cy="190690"/>
            </a:xfrm>
            <a:prstGeom prst="rect">
              <a:avLst/>
            </a:prstGeom>
            <a:noFill/>
            <a:ln>
              <a:noFill/>
            </a:ln>
          </p:spPr>
          <p:txBody>
            <a:bodyPr wrap="none" lIns="0" tIns="0" rIns="0" bIns="0" anchor="t" anchorCtr="0">
              <a:spAutoFit/>
            </a:bodyPr>
            <a:lstStyle/>
            <a:p>
              <a:pPr algn="l"/>
              <a:r>
                <a:rPr lang="en-US" sz="980" b="1" dirty="0">
                  <a:solidFill>
                    <a:srgbClr val="8FA3B8"/>
                  </a:solidFill>
                  <a:latin typeface="+mn-lt"/>
                  <a:ea typeface="+mn-ea"/>
                  <a:cs typeface="+mn-cs"/>
                </a:rPr>
                <a:t>SD-v2 DDPM</a:t>
              </a:r>
            </a:p>
          </p:txBody>
        </p:sp>
        <p:sp>
          <p:nvSpPr>
            <p:cNvPr id="35" name="Rectangle 35"/>
            <p:cNvSpPr/>
            <p:nvPr/>
          </p:nvSpPr>
          <p:spPr>
            <a:xfrm>
              <a:off x="7562850" y="2695575"/>
              <a:ext cx="2381250" cy="133350"/>
            </a:xfrm>
            <a:prstGeom prst="roundRect">
              <a:avLst>
                <a:gd name="adj" fmla="val 50000"/>
              </a:avLst>
            </a:prstGeom>
            <a:solidFill>
              <a:srgbClr val="1D2D3E"/>
            </a:solidFill>
            <a:ln w="9525">
              <a:solidFill>
                <a:schemeClr val="accent4"/>
              </a:solidFill>
            </a:ln>
          </p:spPr>
        </p:sp>
        <p:sp>
          <p:nvSpPr>
            <p:cNvPr id="36" name="Rectangle 36"/>
            <p:cNvSpPr/>
            <p:nvPr/>
          </p:nvSpPr>
          <p:spPr>
            <a:xfrm>
              <a:off x="7562850" y="2695575"/>
              <a:ext cx="1838325" cy="133350"/>
            </a:xfrm>
            <a:prstGeom prst="roundRect">
              <a:avLst>
                <a:gd name="adj" fmla="val 50000"/>
              </a:avLst>
            </a:prstGeom>
            <a:solidFill>
              <a:srgbClr val="2DD4BF"/>
            </a:solidFill>
            <a:ln>
              <a:noFill/>
            </a:ln>
          </p:spPr>
        </p:sp>
        <p:sp>
          <p:nvSpPr>
            <p:cNvPr id="37" name="TextBox 37"/>
            <p:cNvSpPr txBox="1"/>
            <p:nvPr/>
          </p:nvSpPr>
          <p:spPr>
            <a:xfrm>
              <a:off x="9472422" y="2714149"/>
              <a:ext cx="314659" cy="190690"/>
            </a:xfrm>
            <a:prstGeom prst="rect">
              <a:avLst/>
            </a:prstGeom>
            <a:noFill/>
            <a:ln>
              <a:noFill/>
            </a:ln>
          </p:spPr>
          <p:txBody>
            <a:bodyPr wrap="none" lIns="0" tIns="0" rIns="0" bIns="0" anchor="t" anchorCtr="0">
              <a:spAutoFit/>
            </a:bodyPr>
            <a:lstStyle/>
            <a:p>
              <a:pPr algn="l"/>
              <a:r>
                <a:rPr lang="en-US" sz="980" b="1" dirty="0">
                  <a:solidFill>
                    <a:srgbClr val="2DD4BF"/>
                  </a:solidFill>
                  <a:latin typeface="+mn-lt"/>
                  <a:ea typeface="+mn-ea"/>
                  <a:cs typeface="+mn-cs"/>
                </a:rPr>
                <a:t>3.4×</a:t>
              </a:r>
            </a:p>
          </p:txBody>
        </p:sp>
        <p:sp>
          <p:nvSpPr>
            <p:cNvPr id="38" name="TextBox 38"/>
            <p:cNvSpPr txBox="1"/>
            <p:nvPr/>
          </p:nvSpPr>
          <p:spPr>
            <a:xfrm>
              <a:off x="6433947" y="2961799"/>
              <a:ext cx="748918" cy="190690"/>
            </a:xfrm>
            <a:prstGeom prst="rect">
              <a:avLst/>
            </a:prstGeom>
            <a:noFill/>
            <a:ln>
              <a:noFill/>
            </a:ln>
          </p:spPr>
          <p:txBody>
            <a:bodyPr wrap="none" lIns="0" tIns="0" rIns="0" bIns="0" anchor="t" anchorCtr="0">
              <a:spAutoFit/>
            </a:bodyPr>
            <a:lstStyle/>
            <a:p>
              <a:pPr algn="l"/>
              <a:r>
                <a:rPr lang="en-US" sz="980" b="1" dirty="0">
                  <a:solidFill>
                    <a:srgbClr val="8FA3B8"/>
                  </a:solidFill>
                  <a:latin typeface="+mn-lt"/>
                  <a:ea typeface="+mn-ea"/>
                  <a:cs typeface="+mn-cs"/>
                </a:rPr>
                <a:t>SD-v2 best</a:t>
              </a:r>
            </a:p>
          </p:txBody>
        </p:sp>
        <p:sp>
          <p:nvSpPr>
            <p:cNvPr id="39" name="Rectangle 39"/>
            <p:cNvSpPr/>
            <p:nvPr/>
          </p:nvSpPr>
          <p:spPr>
            <a:xfrm>
              <a:off x="7562850" y="2943225"/>
              <a:ext cx="2381250" cy="133350"/>
            </a:xfrm>
            <a:prstGeom prst="roundRect">
              <a:avLst>
                <a:gd name="adj" fmla="val 50000"/>
              </a:avLst>
            </a:prstGeom>
            <a:solidFill>
              <a:srgbClr val="1D2D3E"/>
            </a:solidFill>
            <a:ln w="9525">
              <a:solidFill>
                <a:schemeClr val="accent4"/>
              </a:solidFill>
            </a:ln>
          </p:spPr>
        </p:sp>
        <p:sp>
          <p:nvSpPr>
            <p:cNvPr id="40" name="Rectangle 40"/>
            <p:cNvSpPr/>
            <p:nvPr/>
          </p:nvSpPr>
          <p:spPr>
            <a:xfrm>
              <a:off x="7562850" y="2943225"/>
              <a:ext cx="2162175" cy="133350"/>
            </a:xfrm>
            <a:prstGeom prst="roundRect">
              <a:avLst>
                <a:gd name="adj" fmla="val 50000"/>
              </a:avLst>
            </a:prstGeom>
            <a:solidFill>
              <a:srgbClr val="34D399"/>
            </a:solidFill>
            <a:ln>
              <a:noFill/>
            </a:ln>
          </p:spPr>
        </p:sp>
        <p:sp>
          <p:nvSpPr>
            <p:cNvPr id="41" name="TextBox 41"/>
            <p:cNvSpPr txBox="1"/>
            <p:nvPr/>
          </p:nvSpPr>
          <p:spPr>
            <a:xfrm>
              <a:off x="9796272" y="2961799"/>
              <a:ext cx="162282" cy="190690"/>
            </a:xfrm>
            <a:prstGeom prst="rect">
              <a:avLst/>
            </a:prstGeom>
            <a:noFill/>
            <a:ln>
              <a:noFill/>
            </a:ln>
          </p:spPr>
          <p:txBody>
            <a:bodyPr wrap="none" lIns="0" tIns="0" rIns="0" bIns="0" anchor="t" anchorCtr="0">
              <a:spAutoFit/>
            </a:bodyPr>
            <a:lstStyle/>
            <a:p>
              <a:pPr algn="l"/>
              <a:r>
                <a:rPr lang="en-US" sz="980" b="1" dirty="0">
                  <a:solidFill>
                    <a:srgbClr val="34D399"/>
                  </a:solidFill>
                  <a:latin typeface="+mn-lt"/>
                  <a:ea typeface="+mn-ea"/>
                  <a:cs typeface="+mn-cs"/>
                </a:rPr>
                <a:t>4×</a:t>
              </a:r>
            </a:p>
          </p:txBody>
        </p:sp>
      </p:grpSp>
      <p:grpSp>
        <p:nvGrpSpPr>
          <p:cNvPr id="52" name="Group 52"/>
          <p:cNvGrpSpPr/>
          <p:nvPr/>
        </p:nvGrpSpPr>
        <p:grpSpPr>
          <a:xfrm>
            <a:off x="609600" y="4000500"/>
            <a:ext cx="5372100" cy="2457450"/>
            <a:chOff x="609600" y="4000500"/>
            <a:chExt cx="5372100" cy="2457450"/>
          </a:xfrm>
        </p:grpSpPr>
        <p:sp>
          <p:nvSpPr>
            <p:cNvPr id="43" name="Rectangle 43"/>
            <p:cNvSpPr/>
            <p:nvPr/>
          </p:nvSpPr>
          <p:spPr>
            <a:xfrm>
              <a:off x="609600" y="4000500"/>
              <a:ext cx="5372100" cy="2457450"/>
            </a:xfrm>
            <a:prstGeom prst="roundRect">
              <a:avLst>
                <a:gd name="adj" fmla="val 6202"/>
              </a:avLst>
            </a:prstGeom>
            <a:solidFill>
              <a:srgbClr val="172331"/>
            </a:solidFill>
            <a:ln w="14288">
              <a:solidFill>
                <a:schemeClr val="accent4"/>
              </a:solidFill>
            </a:ln>
          </p:spPr>
        </p:sp>
        <p:sp>
          <p:nvSpPr>
            <p:cNvPr id="44" name="Rectangle 44"/>
            <p:cNvSpPr/>
            <p:nvPr/>
          </p:nvSpPr>
          <p:spPr>
            <a:xfrm>
              <a:off x="609600" y="4133850"/>
              <a:ext cx="47625" cy="2190750"/>
            </a:xfrm>
            <a:prstGeom prst="roundRect">
              <a:avLst>
                <a:gd name="adj" fmla="val 50000"/>
              </a:avLst>
            </a:prstGeom>
            <a:solidFill>
              <a:srgbClr val="2DD4BF"/>
            </a:solidFill>
            <a:ln>
              <a:noFill/>
            </a:ln>
          </p:spPr>
        </p:sp>
        <p:sp>
          <p:nvSpPr>
            <p:cNvPr id="45" name="Ellipse 45"/>
            <p:cNvSpPr/>
            <p:nvPr/>
          </p:nvSpPr>
          <p:spPr>
            <a:xfrm>
              <a:off x="838200" y="4200525"/>
              <a:ext cx="285750" cy="285750"/>
            </a:xfrm>
            <a:prstGeom prst="ellipse">
              <a:avLst/>
            </a:prstGeom>
            <a:solidFill>
              <a:srgbClr val="2DD4BF"/>
            </a:solidFill>
            <a:ln>
              <a:noFill/>
            </a:ln>
          </p:spPr>
        </p:sp>
        <p:sp>
          <p:nvSpPr>
            <p:cNvPr id="46" name="TextBox 46"/>
            <p:cNvSpPr txBox="1"/>
            <p:nvPr/>
          </p:nvSpPr>
          <p:spPr>
            <a:xfrm>
              <a:off x="928333" y="427101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3</a:t>
              </a:r>
            </a:p>
          </p:txBody>
        </p:sp>
        <p:sp>
          <p:nvSpPr>
            <p:cNvPr id="47" name="TextBox 47"/>
            <p:cNvSpPr txBox="1"/>
            <p:nvPr/>
          </p:nvSpPr>
          <p:spPr>
            <a:xfrm>
              <a:off x="1211961" y="4284821"/>
              <a:ext cx="186404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StableDiffusion-v2</a:t>
              </a:r>
            </a:p>
          </p:txBody>
        </p:sp>
        <p:sp>
          <p:nvSpPr>
            <p:cNvPr id="48" name="TextBox 48"/>
            <p:cNvSpPr txBox="1"/>
            <p:nvPr/>
          </p:nvSpPr>
          <p:spPr>
            <a:xfrm>
              <a:off x="851344" y="4598908"/>
              <a:ext cx="2078416"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Time to generate one image</a:t>
              </a:r>
            </a:p>
          </p:txBody>
        </p:sp>
        <p:sp>
          <p:nvSpPr>
            <p:cNvPr id="49" name="TextBox 49"/>
            <p:cNvSpPr txBox="1"/>
            <p:nvPr/>
          </p:nvSpPr>
          <p:spPr>
            <a:xfrm>
              <a:off x="851344" y="4827508"/>
              <a:ext cx="2166808"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drops from 50s to under 15s</a:t>
              </a:r>
            </a:p>
          </p:txBody>
        </p:sp>
        <p:sp>
          <p:nvSpPr>
            <p:cNvPr id="50" name="TextBox 50"/>
            <p:cNvSpPr txBox="1"/>
            <p:nvPr/>
          </p:nvSpPr>
          <p:spPr>
            <a:xfrm>
              <a:off x="851344" y="5056108"/>
              <a:ext cx="2088728"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(3.4×); stacking on faster</a:t>
              </a:r>
            </a:p>
          </p:txBody>
        </p:sp>
        <p:sp>
          <p:nvSpPr>
            <p:cNvPr id="51" name="TextBox 51"/>
            <p:cNvSpPr txBox="1"/>
            <p:nvPr/>
          </p:nvSpPr>
          <p:spPr>
            <a:xfrm>
              <a:off x="851344" y="5284708"/>
              <a:ext cx="1815450"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samplers reaches 4.0×.</a:t>
              </a:r>
            </a:p>
          </p:txBody>
        </p:sp>
      </p:grpSp>
      <p:grpSp>
        <p:nvGrpSpPr>
          <p:cNvPr id="62" name="Group 62"/>
          <p:cNvGrpSpPr/>
          <p:nvPr/>
        </p:nvGrpSpPr>
        <p:grpSpPr>
          <a:xfrm>
            <a:off x="6210300" y="4000500"/>
            <a:ext cx="5372100" cy="2457450"/>
            <a:chOff x="6210300" y="4000500"/>
            <a:chExt cx="5372100" cy="2457450"/>
          </a:xfrm>
        </p:grpSpPr>
        <p:sp>
          <p:nvSpPr>
            <p:cNvPr id="53" name="Rectangle 53"/>
            <p:cNvSpPr/>
            <p:nvPr/>
          </p:nvSpPr>
          <p:spPr>
            <a:xfrm>
              <a:off x="6210300" y="4000500"/>
              <a:ext cx="5372100" cy="2457450"/>
            </a:xfrm>
            <a:prstGeom prst="roundRect">
              <a:avLst>
                <a:gd name="adj" fmla="val 6202"/>
              </a:avLst>
            </a:prstGeom>
            <a:solidFill>
              <a:srgbClr val="172331"/>
            </a:solidFill>
            <a:ln w="14288">
              <a:solidFill>
                <a:schemeClr val="accent4"/>
              </a:solidFill>
            </a:ln>
          </p:spPr>
        </p:sp>
        <p:sp>
          <p:nvSpPr>
            <p:cNvPr id="54" name="Rectangle 54"/>
            <p:cNvSpPr/>
            <p:nvPr/>
          </p:nvSpPr>
          <p:spPr>
            <a:xfrm>
              <a:off x="6210300" y="4133850"/>
              <a:ext cx="47625" cy="2190750"/>
            </a:xfrm>
            <a:prstGeom prst="roundRect">
              <a:avLst>
                <a:gd name="adj" fmla="val 50000"/>
              </a:avLst>
            </a:prstGeom>
            <a:solidFill>
              <a:srgbClr val="A78BFA"/>
            </a:solidFill>
            <a:ln>
              <a:noFill/>
            </a:ln>
          </p:spPr>
        </p:sp>
        <p:sp>
          <p:nvSpPr>
            <p:cNvPr id="55" name="Ellipse 55"/>
            <p:cNvSpPr/>
            <p:nvPr/>
          </p:nvSpPr>
          <p:spPr>
            <a:xfrm>
              <a:off x="6438900" y="4200525"/>
              <a:ext cx="285750" cy="285750"/>
            </a:xfrm>
            <a:prstGeom prst="ellipse">
              <a:avLst/>
            </a:prstGeom>
            <a:solidFill>
              <a:srgbClr val="A78BFA"/>
            </a:solidFill>
            <a:ln>
              <a:noFill/>
            </a:ln>
          </p:spPr>
        </p:sp>
        <p:sp>
          <p:nvSpPr>
            <p:cNvPr id="56" name="TextBox 56"/>
            <p:cNvSpPr txBox="1"/>
            <p:nvPr/>
          </p:nvSpPr>
          <p:spPr>
            <a:xfrm>
              <a:off x="6529033" y="427101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4</a:t>
              </a:r>
            </a:p>
          </p:txBody>
        </p:sp>
        <p:sp>
          <p:nvSpPr>
            <p:cNvPr id="57" name="TextBox 57"/>
            <p:cNvSpPr txBox="1"/>
            <p:nvPr/>
          </p:nvSpPr>
          <p:spPr>
            <a:xfrm>
              <a:off x="6812661" y="4284821"/>
              <a:ext cx="127606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Why it works</a:t>
              </a:r>
            </a:p>
          </p:txBody>
        </p:sp>
        <p:sp>
          <p:nvSpPr>
            <p:cNvPr id="58" name="TextBox 58"/>
            <p:cNvSpPr txBox="1"/>
            <p:nvPr/>
          </p:nvSpPr>
          <p:spPr>
            <a:xfrm>
              <a:off x="6452044" y="4598908"/>
              <a:ext cx="2366758"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Parallel iterations to converge</a:t>
              </a:r>
            </a:p>
          </p:txBody>
        </p:sp>
        <p:sp>
          <p:nvSpPr>
            <p:cNvPr id="59" name="TextBox 59"/>
            <p:cNvSpPr txBox="1"/>
            <p:nvPr/>
          </p:nvSpPr>
          <p:spPr>
            <a:xfrm>
              <a:off x="6452044" y="4827508"/>
              <a:ext cx="2213656"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are up to 20× fewer than the</a:t>
              </a:r>
            </a:p>
          </p:txBody>
        </p:sp>
        <p:sp>
          <p:nvSpPr>
            <p:cNvPr id="60" name="TextBox 60"/>
            <p:cNvSpPr txBox="1"/>
            <p:nvPr/>
          </p:nvSpPr>
          <p:spPr>
            <a:xfrm>
              <a:off x="6452044" y="5056108"/>
              <a:ext cx="2166808"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number of sequential steps,</a:t>
              </a:r>
            </a:p>
          </p:txBody>
        </p:sp>
        <p:sp>
          <p:nvSpPr>
            <p:cNvPr id="61" name="TextBox 61"/>
            <p:cNvSpPr txBox="1"/>
            <p:nvPr/>
          </p:nvSpPr>
          <p:spPr>
            <a:xfrm>
              <a:off x="6452044" y="5284708"/>
              <a:ext cx="2088728"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the source of the speedup.</a:t>
              </a:r>
            </a:p>
          </p:txBody>
        </p:sp>
      </p:grpSp>
      <p:sp>
        <p:nvSpPr>
          <p:cNvPr id="63" name="TextBox 63"/>
          <p:cNvSpPr txBox="1"/>
          <p:nvPr/>
        </p:nvSpPr>
        <p:spPr>
          <a:xfrm>
            <a:off x="604647" y="6562249"/>
            <a:ext cx="2487873" cy="190690"/>
          </a:xfrm>
          <a:prstGeom prst="rect">
            <a:avLst/>
          </a:prstGeom>
          <a:noFill/>
          <a:ln>
            <a:noFill/>
          </a:ln>
        </p:spPr>
        <p:txBody>
          <a:bodyPr wrap="none" lIns="0" tIns="0" rIns="0" bIns="0" anchor="t" anchorCtr="0">
            <a:spAutoFit/>
          </a:bodyPr>
          <a:lstStyle/>
          <a:p>
            <a:pPr algn="l"/>
            <a:r>
              <a:rPr lang="en-US" sz="980" dirty="0">
                <a:solidFill>
                  <a:srgbClr val="8FA3B8"/>
                </a:solidFill>
                <a:latin typeface="+mn-lt"/>
                <a:ea typeface="+mn-ea"/>
                <a:cs typeface="+mn-cs"/>
              </a:rPr>
              <a:t>ParaDiGMS · Shih et al. · NeurIPS 2023</a:t>
            </a:r>
          </a:p>
        </p:txBody>
      </p:sp>
      <p:sp>
        <p:nvSpPr>
          <p:cNvPr id="64" name="TextBox 64"/>
          <p:cNvSpPr txBox="1"/>
          <p:nvPr/>
        </p:nvSpPr>
        <p:spPr>
          <a:xfrm>
            <a:off x="9868985" y="6562249"/>
            <a:ext cx="1718368" cy="190690"/>
          </a:xfrm>
          <a:prstGeom prst="rect">
            <a:avLst/>
          </a:prstGeom>
          <a:noFill/>
          <a:ln>
            <a:noFill/>
          </a:ln>
        </p:spPr>
        <p:txBody>
          <a:bodyPr wrap="none" lIns="0" tIns="0" rIns="0" bIns="0" anchor="t" anchorCtr="0">
            <a:spAutoFit/>
          </a:bodyPr>
          <a:lstStyle/>
          <a:p>
            <a:pPr algn="r"/>
            <a:r>
              <a:rPr lang="en-US" sz="980" dirty="0">
                <a:solidFill>
                  <a:srgbClr val="8FA3B8"/>
                </a:solidFill>
                <a:latin typeface="+mn-lt"/>
                <a:ea typeface="+mn-ea"/>
                <a:cs typeface="+mn-cs"/>
              </a:rPr>
              <a:t>arxiv.org/abs/2305.16317</a:t>
            </a:r>
          </a:p>
        </p:txBody>
      </p:sp>
      <p:sp>
        <p:nvSpPr>
          <p:cNvPr id="65" name="cue_s07_c1_headline_finding_remarkably_consiste" title="cue_s07_c1_headline_finding_remarkably_consiste" descr="cue_s07_c1_headline_finding_remarkably_consiste The headline finding is remarkably consistent: a two-to-four times speedup across every task and every sampler, with no measurable degradation in quality."/>
          <p:cNvSpPr/>
          <p:nvPr/>
        </p:nvSpPr>
        <p:spPr>
          <a:xfrm>
            <a:off x="609600" y="1314678"/>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ue_s07_c2_robotic_control_paraddpm_speeds_samp" title="cue_s07_c2_robotic_control_paraddpm_speeds_samp" descr="cue_s07_c2_robotic_control_paraddpm_speeds_samp On robotic control, ParaDDPM speeds up sampling by roughly 3.4 to 3.9 times while holding task reward constant."/>
          <p:cNvSpPr/>
          <p:nvPr/>
        </p:nvSpPr>
        <p:spPr>
          <a:xfrm>
            <a:off x="6210604" y="1314678"/>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cue_s07_c3_stablediffusion_version_2_brings_tim" title="cue_s07_c3_stablediffusion_version_2_brings_tim" descr="cue_s07_c3_stablediffusion_version_2_brings_tim On StableDiffusion version 2, it brings the time to generate an image down from fifty seconds to under fifteen, a 3.4x gain, and stacking it on faster samplers reaches four times."/>
          <p:cNvSpPr/>
          <p:nvPr/>
        </p:nvSpPr>
        <p:spPr>
          <a:xfrm>
            <a:off x="609600" y="40002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cue_s07_c4_number_parallel_iterations_needed_co" title="cue_s07_c4_number_parallel_iterations_needed_co" descr="cue_s07_c4_number_parallel_iterations_needed_co The number of parallel iterations needed for convergence is up to twenty times smaller than the number of sequential steps, which is why the approach works."/>
          <p:cNvSpPr/>
          <p:nvPr/>
        </p:nvSpPr>
        <p:spPr>
          <a:xfrm>
            <a:off x="6210604" y="40002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5"/>
            </a:gs>
            <a:gs pos="100000">
              <a:schemeClr val="accent6"/>
            </a:gs>
          </a:gsLst>
          <a:lin ang="2700000" scaled="1"/>
        </a:gradFill>
        <a:effectLst/>
      </p:bgPr>
    </p:bg>
    <p:spTree>
      <p:nvGrpSpPr>
        <p:cNvPr id="1" name=""/>
        <p:cNvGrpSpPr/>
        <p:nvPr/>
      </p:nvGrpSpPr>
      <p:grpSpPr>
        <a:xfrm>
          <a:off x="0" y="0"/>
          <a:ext cx="0" cy="0"/>
          <a:chOff x="0" y="0"/>
          <a:chExt cx="0" cy="0"/>
        </a:xfrm>
      </p:grpSpPr>
      <p:sp>
        <p:nvSpPr>
          <p:cNvPr id="2" name="Rectangle 2"/>
          <p:cNvSpPr/>
          <p:nvPr/>
        </p:nvSpPr>
        <p:spPr>
          <a:xfrm>
            <a:off x="609600" y="495300"/>
            <a:ext cx="57150" cy="285750"/>
          </a:xfrm>
          <a:prstGeom prst="roundRect">
            <a:avLst>
              <a:gd name="adj" fmla="val 50000"/>
            </a:avLst>
          </a:prstGeom>
          <a:solidFill>
            <a:srgbClr val="FBBF24"/>
          </a:solidFill>
          <a:ln>
            <a:noFill/>
          </a:ln>
        </p:spPr>
        <p:txBody>
          <a:bodyPr/>
          <a:p/>
        </p:txBody>
      </p:sp>
      <p:sp>
        <p:nvSpPr>
          <p:cNvPr id="3" name="TextBox 3"/>
          <p:cNvSpPr txBox="1"/>
          <p:nvPr/>
        </p:nvSpPr>
        <p:spPr>
          <a:xfrm>
            <a:off x="794385" y="507206"/>
            <a:ext cx="1596894" cy="220028"/>
          </a:xfrm>
          <a:prstGeom prst="rect">
            <a:avLst/>
          </a:prstGeom>
          <a:noFill/>
          <a:ln>
            <a:noFill/>
          </a:ln>
        </p:spPr>
        <p:txBody>
          <a:bodyPr wrap="none" lIns="0" tIns="0" rIns="0" bIns="0" anchor="t" anchorCtr="0">
            <a:spAutoFit/>
          </a:bodyPr>
          <a:lstStyle/>
          <a:p>
            <a:pPr algn="l"/>
            <a:r>
              <a:rPr lang="en-US" sz="1120" b="1" spc="188" dirty="0">
                <a:solidFill>
                  <a:srgbClr val="FBBF24"/>
                </a:solidFill>
                <a:latin typeface="+mn-lt"/>
                <a:ea typeface="+mn-ea"/>
                <a:cs typeface="+mn-cs"/>
              </a:rPr>
              <a:t>ABLATION STUDY</a:t>
            </a:r>
          </a:p>
        </p:txBody>
      </p:sp>
      <p:sp>
        <p:nvSpPr>
          <p:cNvPr id="4" name="TextBox 4"/>
          <p:cNvSpPr txBox="1"/>
          <p:nvPr/>
        </p:nvSpPr>
        <p:spPr>
          <a:xfrm>
            <a:off x="787527" y="647224"/>
            <a:ext cx="6083551"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n-lt"/>
                <a:ea typeface="+mn-ea"/>
                <a:cs typeface="+mn-cs"/>
              </a:rPr>
              <a:t>Tolerance is the speed–quality knob</a:t>
            </a:r>
          </a:p>
        </p:txBody>
      </p:sp>
      <p:sp>
        <p:nvSpPr>
          <p:cNvPr id="5" name="Line 5"/>
          <p:cNvSpPr/>
          <p:nvPr/>
        </p:nvSpPr>
        <p:spPr>
          <a:xfrm>
            <a:off x="609600" y="1123950"/>
            <a:ext cx="10972800" cy="9525"/>
          </a:xfrm>
          <a:custGeom>
            <a:avLst/>
            <a:gdLst/>
            <a:ahLst/>
            <a:cxnLst/>
            <a:rect l="l" t="t" r="r" b="b"/>
            <a:pathLst>
              <a:path w="10972800" h="9525">
                <a:moveTo>
                  <a:pt x="0" y="0"/>
                </a:moveTo>
                <a:lnTo>
                  <a:pt x="10972800" y="0"/>
                </a:lnTo>
              </a:path>
            </a:pathLst>
          </a:custGeom>
          <a:noFill/>
          <a:ln w="11430" cap="rnd">
            <a:solidFill>
              <a:schemeClr val="accent4"/>
            </a:solidFill>
          </a:ln>
        </p:spPr>
        <p:txBody>
          <a:bodyPr/>
          <a:p/>
        </p:txBody>
      </p:sp>
      <p:sp>
        <p:nvSpPr>
          <p:cNvPr id="6" name="TextBox 6"/>
          <p:cNvSpPr txBox="1"/>
          <p:nvPr/>
        </p:nvSpPr>
        <p:spPr>
          <a:xfrm>
            <a:off x="10989399" y="515302"/>
            <a:ext cx="598335" cy="205359"/>
          </a:xfrm>
          <a:prstGeom prst="rect">
            <a:avLst/>
          </a:prstGeom>
          <a:noFill/>
          <a:ln>
            <a:noFill/>
          </a:ln>
        </p:spPr>
        <p:txBody>
          <a:bodyPr wrap="none" lIns="0" tIns="0" rIns="0" bIns="0" anchor="t" anchorCtr="0">
            <a:spAutoFit/>
          </a:bodyPr>
          <a:lstStyle/>
          <a:p>
            <a:pPr algn="r"/>
            <a:r>
              <a:rPr lang="en-US" sz="1050" b="1" spc="112" dirty="0">
                <a:solidFill>
                  <a:srgbClr val="8FA3B8"/>
                </a:solidFill>
                <a:latin typeface="+mn-lt"/>
                <a:ea typeface="+mn-ea"/>
                <a:cs typeface="+mn-cs"/>
              </a:rPr>
              <a:t>08 / 10</a:t>
            </a:r>
          </a:p>
        </p:txBody>
      </p:sp>
      <p:grpSp>
        <p:nvGrpSpPr>
          <p:cNvPr id="16" name="Group 16"/>
          <p:cNvGrpSpPr/>
          <p:nvPr/>
        </p:nvGrpSpPr>
        <p:grpSpPr>
          <a:xfrm>
            <a:off x="609600" y="1314450"/>
            <a:ext cx="5372100" cy="2457450"/>
            <a:chOff x="609600" y="1314450"/>
            <a:chExt cx="5372100" cy="2457450"/>
          </a:xfrm>
        </p:grpSpPr>
        <p:sp>
          <p:nvSpPr>
            <p:cNvPr id="7" name="Rectangle 7"/>
            <p:cNvSpPr/>
            <p:nvPr/>
          </p:nvSpPr>
          <p:spPr>
            <a:xfrm>
              <a:off x="609600" y="1314450"/>
              <a:ext cx="5372100" cy="2457450"/>
            </a:xfrm>
            <a:prstGeom prst="roundRect">
              <a:avLst>
                <a:gd name="adj" fmla="val 6202"/>
              </a:avLst>
            </a:prstGeom>
            <a:solidFill>
              <a:srgbClr val="172331"/>
            </a:solidFill>
            <a:ln w="14288">
              <a:solidFill>
                <a:schemeClr val="accent4"/>
              </a:solidFill>
            </a:ln>
          </p:spPr>
        </p:sp>
        <p:sp>
          <p:nvSpPr>
            <p:cNvPr id="8" name="Rectangle 8"/>
            <p:cNvSpPr/>
            <p:nvPr/>
          </p:nvSpPr>
          <p:spPr>
            <a:xfrm>
              <a:off x="609600" y="1447800"/>
              <a:ext cx="47625" cy="2190750"/>
            </a:xfrm>
            <a:prstGeom prst="roundRect">
              <a:avLst>
                <a:gd name="adj" fmla="val 50000"/>
              </a:avLst>
            </a:prstGeom>
            <a:solidFill>
              <a:srgbClr val="FBBF24"/>
            </a:solidFill>
            <a:ln>
              <a:noFill/>
            </a:ln>
          </p:spPr>
        </p:sp>
        <p:sp>
          <p:nvSpPr>
            <p:cNvPr id="9" name="Ellipse 9"/>
            <p:cNvSpPr/>
            <p:nvPr/>
          </p:nvSpPr>
          <p:spPr>
            <a:xfrm>
              <a:off x="838200" y="1514475"/>
              <a:ext cx="285750" cy="285750"/>
            </a:xfrm>
            <a:prstGeom prst="ellipse">
              <a:avLst/>
            </a:prstGeom>
            <a:solidFill>
              <a:srgbClr val="FBBF24"/>
            </a:solidFill>
            <a:ln>
              <a:noFill/>
            </a:ln>
          </p:spPr>
        </p:sp>
        <p:sp>
          <p:nvSpPr>
            <p:cNvPr id="10" name="TextBox 10"/>
            <p:cNvSpPr txBox="1"/>
            <p:nvPr/>
          </p:nvSpPr>
          <p:spPr>
            <a:xfrm>
              <a:off x="928333" y="158496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1</a:t>
              </a:r>
            </a:p>
          </p:txBody>
        </p:sp>
        <p:sp>
          <p:nvSpPr>
            <p:cNvPr id="11" name="TextBox 11"/>
            <p:cNvSpPr txBox="1"/>
            <p:nvPr/>
          </p:nvSpPr>
          <p:spPr>
            <a:xfrm>
              <a:off x="1211961" y="1598771"/>
              <a:ext cx="151634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What is ablated</a:t>
              </a:r>
            </a:p>
          </p:txBody>
        </p:sp>
        <p:sp>
          <p:nvSpPr>
            <p:cNvPr id="12" name="TextBox 12"/>
            <p:cNvSpPr txBox="1"/>
            <p:nvPr/>
          </p:nvSpPr>
          <p:spPr>
            <a:xfrm>
              <a:off x="851344" y="1912858"/>
              <a:ext cx="2054932"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The error tolerance of the</a:t>
              </a:r>
            </a:p>
          </p:txBody>
        </p:sp>
        <p:sp>
          <p:nvSpPr>
            <p:cNvPr id="13" name="TextBox 13"/>
            <p:cNvSpPr txBox="1"/>
            <p:nvPr/>
          </p:nvSpPr>
          <p:spPr>
            <a:xfrm>
              <a:off x="851344" y="2141458"/>
              <a:ext cx="2010649"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fixed-point iteration, the</a:t>
              </a:r>
            </a:p>
          </p:txBody>
        </p:sp>
        <p:sp>
          <p:nvSpPr>
            <p:cNvPr id="14" name="TextBox 14"/>
            <p:cNvSpPr txBox="1"/>
            <p:nvPr/>
          </p:nvSpPr>
          <p:spPr>
            <a:xfrm>
              <a:off x="851344" y="2370058"/>
              <a:ext cx="1924761"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single knob trading speed</a:t>
              </a:r>
            </a:p>
          </p:txBody>
        </p:sp>
        <p:sp>
          <p:nvSpPr>
            <p:cNvPr id="15" name="TextBox 15"/>
            <p:cNvSpPr txBox="1"/>
            <p:nvPr/>
          </p:nvSpPr>
          <p:spPr>
            <a:xfrm>
              <a:off x="851344" y="2598658"/>
              <a:ext cx="1831066"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against sample fidelity.</a:t>
              </a:r>
            </a:p>
          </p:txBody>
        </p:sp>
      </p:grpSp>
      <p:grpSp>
        <p:nvGrpSpPr>
          <p:cNvPr id="26" name="Group 26"/>
          <p:cNvGrpSpPr/>
          <p:nvPr/>
        </p:nvGrpSpPr>
        <p:grpSpPr>
          <a:xfrm>
            <a:off x="6210300" y="1314450"/>
            <a:ext cx="5372100" cy="2457450"/>
            <a:chOff x="6210300" y="1314450"/>
            <a:chExt cx="5372100" cy="2457450"/>
          </a:xfrm>
        </p:grpSpPr>
        <p:sp>
          <p:nvSpPr>
            <p:cNvPr id="17" name="Rectangle 17"/>
            <p:cNvSpPr/>
            <p:nvPr/>
          </p:nvSpPr>
          <p:spPr>
            <a:xfrm>
              <a:off x="6210300" y="1314450"/>
              <a:ext cx="5372100" cy="2457450"/>
            </a:xfrm>
            <a:prstGeom prst="roundRect">
              <a:avLst>
                <a:gd name="adj" fmla="val 6202"/>
              </a:avLst>
            </a:prstGeom>
            <a:solidFill>
              <a:srgbClr val="172331"/>
            </a:solidFill>
            <a:ln w="14288">
              <a:solidFill>
                <a:schemeClr val="accent4"/>
              </a:solidFill>
            </a:ln>
          </p:spPr>
        </p:sp>
        <p:sp>
          <p:nvSpPr>
            <p:cNvPr id="18" name="Rectangle 18"/>
            <p:cNvSpPr/>
            <p:nvPr/>
          </p:nvSpPr>
          <p:spPr>
            <a:xfrm>
              <a:off x="6210300" y="1447800"/>
              <a:ext cx="47625" cy="2190750"/>
            </a:xfrm>
            <a:prstGeom prst="roundRect">
              <a:avLst>
                <a:gd name="adj" fmla="val 50000"/>
              </a:avLst>
            </a:prstGeom>
            <a:solidFill>
              <a:schemeClr val="accent2"/>
            </a:solidFill>
            <a:ln>
              <a:noFill/>
            </a:ln>
          </p:spPr>
        </p:sp>
        <p:sp>
          <p:nvSpPr>
            <p:cNvPr id="19" name="Ellipse 19"/>
            <p:cNvSpPr/>
            <p:nvPr/>
          </p:nvSpPr>
          <p:spPr>
            <a:xfrm>
              <a:off x="6438900" y="1514475"/>
              <a:ext cx="285750" cy="285750"/>
            </a:xfrm>
            <a:prstGeom prst="ellipse">
              <a:avLst/>
            </a:prstGeom>
            <a:solidFill>
              <a:schemeClr val="accent2"/>
            </a:solidFill>
            <a:ln>
              <a:noFill/>
            </a:ln>
          </p:spPr>
        </p:sp>
        <p:sp>
          <p:nvSpPr>
            <p:cNvPr id="20" name="TextBox 20"/>
            <p:cNvSpPr txBox="1"/>
            <p:nvPr/>
          </p:nvSpPr>
          <p:spPr>
            <a:xfrm>
              <a:off x="6529033" y="158496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2</a:t>
              </a:r>
            </a:p>
          </p:txBody>
        </p:sp>
        <p:sp>
          <p:nvSpPr>
            <p:cNvPr id="21" name="TextBox 21"/>
            <p:cNvSpPr txBox="1"/>
            <p:nvPr/>
          </p:nvSpPr>
          <p:spPr>
            <a:xfrm>
              <a:off x="6812661" y="1598771"/>
              <a:ext cx="257016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Lower vs looser tolerance</a:t>
              </a:r>
            </a:p>
          </p:txBody>
        </p:sp>
        <p:sp>
          <p:nvSpPr>
            <p:cNvPr id="22" name="TextBox 22"/>
            <p:cNvSpPr txBox="1"/>
            <p:nvPr/>
          </p:nvSpPr>
          <p:spPr>
            <a:xfrm>
              <a:off x="6452044" y="1912858"/>
              <a:ext cx="1813289"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Lower tolerance → more</a:t>
              </a:r>
            </a:p>
          </p:txBody>
        </p:sp>
        <p:sp>
          <p:nvSpPr>
            <p:cNvPr id="23" name="TextBox 23"/>
            <p:cNvSpPr txBox="1"/>
            <p:nvPr/>
          </p:nvSpPr>
          <p:spPr>
            <a:xfrm>
              <a:off x="6452044" y="2141458"/>
              <a:ext cx="2041881"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iterations, slower, higher</a:t>
              </a:r>
            </a:p>
          </p:txBody>
        </p:sp>
        <p:sp>
          <p:nvSpPr>
            <p:cNvPr id="24" name="TextBox 24"/>
            <p:cNvSpPr txBox="1"/>
            <p:nvPr/>
          </p:nvSpPr>
          <p:spPr>
            <a:xfrm>
              <a:off x="6452044" y="2370058"/>
              <a:ext cx="2148630"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fidelity. Looser tolerance →</a:t>
              </a:r>
            </a:p>
          </p:txBody>
        </p:sp>
        <p:sp>
          <p:nvSpPr>
            <p:cNvPr id="25" name="TextBox 25"/>
            <p:cNvSpPr txBox="1"/>
            <p:nvPr/>
          </p:nvSpPr>
          <p:spPr>
            <a:xfrm>
              <a:off x="6452044" y="2598658"/>
              <a:ext cx="2034073"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fewer iterations, faster.</a:t>
              </a:r>
            </a:p>
          </p:txBody>
        </p:sp>
      </p:grpSp>
      <p:grpSp>
        <p:nvGrpSpPr>
          <p:cNvPr id="36" name="Group 36"/>
          <p:cNvGrpSpPr/>
          <p:nvPr/>
        </p:nvGrpSpPr>
        <p:grpSpPr>
          <a:xfrm>
            <a:off x="609600" y="4000500"/>
            <a:ext cx="5372100" cy="2457450"/>
            <a:chOff x="609600" y="4000500"/>
            <a:chExt cx="5372100" cy="2457450"/>
          </a:xfrm>
        </p:grpSpPr>
        <p:sp>
          <p:nvSpPr>
            <p:cNvPr id="27" name="Rectangle 27"/>
            <p:cNvSpPr/>
            <p:nvPr/>
          </p:nvSpPr>
          <p:spPr>
            <a:xfrm>
              <a:off x="609600" y="4000500"/>
              <a:ext cx="5372100" cy="2457450"/>
            </a:xfrm>
            <a:prstGeom prst="roundRect">
              <a:avLst>
                <a:gd name="adj" fmla="val 6202"/>
              </a:avLst>
            </a:prstGeom>
            <a:solidFill>
              <a:srgbClr val="172331"/>
            </a:solidFill>
            <a:ln w="14288">
              <a:solidFill>
                <a:schemeClr val="accent4"/>
              </a:solidFill>
            </a:ln>
          </p:spPr>
        </p:sp>
        <p:sp>
          <p:nvSpPr>
            <p:cNvPr id="28" name="Rectangle 28"/>
            <p:cNvSpPr/>
            <p:nvPr/>
          </p:nvSpPr>
          <p:spPr>
            <a:xfrm>
              <a:off x="609600" y="4133850"/>
              <a:ext cx="47625" cy="2190750"/>
            </a:xfrm>
            <a:prstGeom prst="roundRect">
              <a:avLst>
                <a:gd name="adj" fmla="val 50000"/>
              </a:avLst>
            </a:prstGeom>
            <a:solidFill>
              <a:srgbClr val="34D399"/>
            </a:solidFill>
            <a:ln>
              <a:noFill/>
            </a:ln>
          </p:spPr>
        </p:sp>
        <p:sp>
          <p:nvSpPr>
            <p:cNvPr id="29" name="Ellipse 29"/>
            <p:cNvSpPr/>
            <p:nvPr/>
          </p:nvSpPr>
          <p:spPr>
            <a:xfrm>
              <a:off x="838200" y="4200525"/>
              <a:ext cx="285750" cy="285750"/>
            </a:xfrm>
            <a:prstGeom prst="ellipse">
              <a:avLst/>
            </a:prstGeom>
            <a:solidFill>
              <a:srgbClr val="34D399"/>
            </a:solidFill>
            <a:ln>
              <a:noFill/>
            </a:ln>
          </p:spPr>
        </p:sp>
        <p:sp>
          <p:nvSpPr>
            <p:cNvPr id="30" name="TextBox 30"/>
            <p:cNvSpPr txBox="1"/>
            <p:nvPr/>
          </p:nvSpPr>
          <p:spPr>
            <a:xfrm>
              <a:off x="928333" y="427101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3</a:t>
              </a:r>
            </a:p>
          </p:txBody>
        </p:sp>
        <p:sp>
          <p:nvSpPr>
            <p:cNvPr id="31" name="TextBox 31"/>
            <p:cNvSpPr txBox="1"/>
            <p:nvPr/>
          </p:nvSpPr>
          <p:spPr>
            <a:xfrm>
              <a:off x="1211961" y="4284821"/>
              <a:ext cx="2108514"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 comfortable regime</a:t>
              </a:r>
            </a:p>
          </p:txBody>
        </p:sp>
        <p:sp>
          <p:nvSpPr>
            <p:cNvPr id="32" name="TextBox 32"/>
            <p:cNvSpPr txBox="1"/>
            <p:nvPr/>
          </p:nvSpPr>
          <p:spPr>
            <a:xfrm>
              <a:off x="851344" y="4598908"/>
              <a:ext cx="1976432"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A fairly relaxed tolerance</a:t>
              </a:r>
            </a:p>
          </p:txBody>
        </p:sp>
        <p:sp>
          <p:nvSpPr>
            <p:cNvPr id="33" name="TextBox 33"/>
            <p:cNvSpPr txBox="1"/>
            <p:nvPr/>
          </p:nvSpPr>
          <p:spPr>
            <a:xfrm>
              <a:off x="851344" y="4827508"/>
              <a:ext cx="2354199"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still preserves sample quality,</a:t>
              </a:r>
            </a:p>
          </p:txBody>
        </p:sp>
        <p:sp>
          <p:nvSpPr>
            <p:cNvPr id="34" name="TextBox 34"/>
            <p:cNvSpPr txBox="1"/>
            <p:nvPr/>
          </p:nvSpPr>
          <p:spPr>
            <a:xfrm>
              <a:off x="851344" y="5056108"/>
              <a:ext cx="2174616"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giving speed almost for free</a:t>
              </a:r>
            </a:p>
          </p:txBody>
        </p:sp>
        <p:sp>
          <p:nvSpPr>
            <p:cNvPr id="35" name="TextBox 35"/>
            <p:cNvSpPr txBox="1"/>
            <p:nvPr/>
          </p:nvSpPr>
          <p:spPr>
            <a:xfrm>
              <a:off x="851344" y="5284708"/>
              <a:ext cx="1916953"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in a wide operating band.</a:t>
              </a:r>
            </a:p>
          </p:txBody>
        </p:sp>
      </p:grpSp>
      <p:grpSp>
        <p:nvGrpSpPr>
          <p:cNvPr id="46" name="Group 46"/>
          <p:cNvGrpSpPr/>
          <p:nvPr/>
        </p:nvGrpSpPr>
        <p:grpSpPr>
          <a:xfrm>
            <a:off x="6210300" y="4000500"/>
            <a:ext cx="5372100" cy="2457450"/>
            <a:chOff x="6210300" y="4000500"/>
            <a:chExt cx="5372100" cy="2457450"/>
          </a:xfrm>
        </p:grpSpPr>
        <p:sp>
          <p:nvSpPr>
            <p:cNvPr id="37" name="Rectangle 37"/>
            <p:cNvSpPr/>
            <p:nvPr/>
          </p:nvSpPr>
          <p:spPr>
            <a:xfrm>
              <a:off x="6210300" y="4000500"/>
              <a:ext cx="5372100" cy="2457450"/>
            </a:xfrm>
            <a:prstGeom prst="roundRect">
              <a:avLst>
                <a:gd name="adj" fmla="val 6202"/>
              </a:avLst>
            </a:prstGeom>
            <a:solidFill>
              <a:srgbClr val="172331"/>
            </a:solidFill>
            <a:ln w="14288">
              <a:solidFill>
                <a:schemeClr val="accent4"/>
              </a:solidFill>
            </a:ln>
          </p:spPr>
        </p:sp>
        <p:sp>
          <p:nvSpPr>
            <p:cNvPr id="38" name="Rectangle 38"/>
            <p:cNvSpPr/>
            <p:nvPr/>
          </p:nvSpPr>
          <p:spPr>
            <a:xfrm>
              <a:off x="6210300" y="4133850"/>
              <a:ext cx="47625" cy="2190750"/>
            </a:xfrm>
            <a:prstGeom prst="roundRect">
              <a:avLst>
                <a:gd name="adj" fmla="val 50000"/>
              </a:avLst>
            </a:prstGeom>
            <a:solidFill>
              <a:srgbClr val="A78BFA"/>
            </a:solidFill>
            <a:ln>
              <a:noFill/>
            </a:ln>
          </p:spPr>
        </p:sp>
        <p:sp>
          <p:nvSpPr>
            <p:cNvPr id="39" name="Ellipse 39"/>
            <p:cNvSpPr/>
            <p:nvPr/>
          </p:nvSpPr>
          <p:spPr>
            <a:xfrm>
              <a:off x="6438900" y="4200525"/>
              <a:ext cx="285750" cy="285750"/>
            </a:xfrm>
            <a:prstGeom prst="ellipse">
              <a:avLst/>
            </a:prstGeom>
            <a:solidFill>
              <a:srgbClr val="A78BFA"/>
            </a:solidFill>
            <a:ln>
              <a:noFill/>
            </a:ln>
          </p:spPr>
        </p:sp>
        <p:sp>
          <p:nvSpPr>
            <p:cNvPr id="40" name="TextBox 40"/>
            <p:cNvSpPr txBox="1"/>
            <p:nvPr/>
          </p:nvSpPr>
          <p:spPr>
            <a:xfrm>
              <a:off x="6529033" y="4271010"/>
              <a:ext cx="105484" cy="234696"/>
            </a:xfrm>
            <a:prstGeom prst="rect">
              <a:avLst/>
            </a:prstGeom>
            <a:noFill/>
            <a:ln>
              <a:noFill/>
            </a:ln>
          </p:spPr>
          <p:txBody>
            <a:bodyPr wrap="none" lIns="0" tIns="0" rIns="0" bIns="0" anchor="t" anchorCtr="0">
              <a:spAutoFit/>
            </a:bodyPr>
            <a:lstStyle/>
            <a:p>
              <a:pPr algn="ctr"/>
              <a:r>
                <a:rPr lang="en-US" sz="1200" b="1" dirty="0">
                  <a:solidFill>
                    <a:srgbClr val="0B1119"/>
                  </a:solidFill>
                  <a:latin typeface="+mn-lt"/>
                  <a:ea typeface="+mn-ea"/>
                  <a:cs typeface="+mn-cs"/>
                </a:rPr>
                <a:t>4</a:t>
              </a:r>
            </a:p>
          </p:txBody>
        </p:sp>
        <p:sp>
          <p:nvSpPr>
            <p:cNvPr id="41" name="TextBox 41"/>
            <p:cNvSpPr txBox="1"/>
            <p:nvPr/>
          </p:nvSpPr>
          <p:spPr>
            <a:xfrm>
              <a:off x="6812661" y="4284821"/>
              <a:ext cx="284122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Parallelism, not fewer steps</a:t>
              </a:r>
            </a:p>
          </p:txBody>
        </p:sp>
        <p:sp>
          <p:nvSpPr>
            <p:cNvPr id="42" name="TextBox 42"/>
            <p:cNvSpPr txBox="1"/>
            <p:nvPr/>
          </p:nvSpPr>
          <p:spPr>
            <a:xfrm>
              <a:off x="6452044" y="4598908"/>
              <a:ext cx="2080928"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On LSUN Church, ParaDDPM</a:t>
              </a:r>
            </a:p>
          </p:txBody>
        </p:sp>
        <p:sp>
          <p:nvSpPr>
            <p:cNvPr id="43" name="TextBox 43"/>
            <p:cNvSpPr txBox="1"/>
            <p:nvPr/>
          </p:nvSpPr>
          <p:spPr>
            <a:xfrm>
              <a:off x="6452044" y="4827508"/>
              <a:ext cx="2297090"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matches full DDPM FID at ~4×;</a:t>
              </a:r>
            </a:p>
          </p:txBody>
        </p:sp>
        <p:sp>
          <p:nvSpPr>
            <p:cNvPr id="44" name="TextBox 44"/>
            <p:cNvSpPr txBox="1"/>
            <p:nvPr/>
          </p:nvSpPr>
          <p:spPr>
            <a:xfrm>
              <a:off x="6452044" y="5056108"/>
              <a:ext cx="1980448"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500-step DDIM alone looks</a:t>
              </a:r>
            </a:p>
          </p:txBody>
        </p:sp>
        <p:sp>
          <p:nvSpPr>
            <p:cNvPr id="45" name="TextBox 45"/>
            <p:cNvSpPr txBox="1"/>
            <p:nvPr/>
          </p:nvSpPr>
          <p:spPr>
            <a:xfrm>
              <a:off x="6452044" y="5284708"/>
              <a:ext cx="3010068" cy="227362"/>
            </a:xfrm>
            <a:prstGeom prst="rect">
              <a:avLst/>
            </a:prstGeom>
            <a:noFill/>
            <a:ln>
              <a:noFill/>
            </a:ln>
          </p:spPr>
          <p:txBody>
            <a:bodyPr wrap="none" lIns="0" tIns="0" rIns="0" bIns="0" anchor="t" anchorCtr="0">
              <a:spAutoFit/>
            </a:bodyPr>
            <a:lstStyle/>
            <a:p>
              <a:pPr algn="l"/>
              <a:r>
                <a:rPr lang="en-US" sz="1160" dirty="0">
                  <a:solidFill>
                    <a:srgbClr val="C6D4E2"/>
                  </a:solidFill>
                  <a:latin typeface="+mn-lt"/>
                  <a:ea typeface="+mn-ea"/>
                  <a:cs typeface="+mn-cs"/>
                </a:rPr>
                <a:t>visibly worse, proving it is parallelism.</a:t>
              </a:r>
            </a:p>
          </p:txBody>
        </p:sp>
      </p:grpSp>
      <p:sp>
        <p:nvSpPr>
          <p:cNvPr id="47" name="TextBox 47"/>
          <p:cNvSpPr txBox="1"/>
          <p:nvPr/>
        </p:nvSpPr>
        <p:spPr>
          <a:xfrm>
            <a:off x="604647" y="6562249"/>
            <a:ext cx="2487873" cy="190690"/>
          </a:xfrm>
          <a:prstGeom prst="rect">
            <a:avLst/>
          </a:prstGeom>
          <a:noFill/>
          <a:ln>
            <a:noFill/>
          </a:ln>
        </p:spPr>
        <p:txBody>
          <a:bodyPr wrap="none" lIns="0" tIns="0" rIns="0" bIns="0" anchor="t" anchorCtr="0">
            <a:spAutoFit/>
          </a:bodyPr>
          <a:lstStyle/>
          <a:p>
            <a:pPr algn="l"/>
            <a:r>
              <a:rPr lang="en-US" sz="980" dirty="0">
                <a:solidFill>
                  <a:srgbClr val="8FA3B8"/>
                </a:solidFill>
                <a:latin typeface="+mn-lt"/>
                <a:ea typeface="+mn-ea"/>
                <a:cs typeface="+mn-cs"/>
              </a:rPr>
              <a:t>ParaDiGMS · Shih et al. · NeurIPS 2023</a:t>
            </a:r>
          </a:p>
        </p:txBody>
      </p:sp>
      <p:sp>
        <p:nvSpPr>
          <p:cNvPr id="48" name="TextBox 48"/>
          <p:cNvSpPr txBox="1"/>
          <p:nvPr/>
        </p:nvSpPr>
        <p:spPr>
          <a:xfrm>
            <a:off x="9868985" y="6562249"/>
            <a:ext cx="1718368" cy="190690"/>
          </a:xfrm>
          <a:prstGeom prst="rect">
            <a:avLst/>
          </a:prstGeom>
          <a:noFill/>
          <a:ln>
            <a:noFill/>
          </a:ln>
        </p:spPr>
        <p:txBody>
          <a:bodyPr wrap="none" lIns="0" tIns="0" rIns="0" bIns="0" anchor="t" anchorCtr="0">
            <a:spAutoFit/>
          </a:bodyPr>
          <a:lstStyle/>
          <a:p>
            <a:pPr algn="r"/>
            <a:r>
              <a:rPr lang="en-US" sz="980" dirty="0">
                <a:solidFill>
                  <a:srgbClr val="8FA3B8"/>
                </a:solidFill>
                <a:latin typeface="+mn-lt"/>
                <a:ea typeface="+mn-ea"/>
                <a:cs typeface="+mn-cs"/>
              </a:rPr>
              <a:t>arxiv.org/abs/2305.16317</a:t>
            </a:r>
          </a:p>
        </p:txBody>
      </p:sp>
      <p:sp>
        <p:nvSpPr>
          <p:cNvPr id="49" name="cue_s08_c1_main_ablation_studies_effect_error" title="cue_s08_c1_main_ablation_studies_effect_error" descr="cue_s08_c1_main_ablation_studies_effect_error The main ablation studies the effect of the error tolerance in the fixed-point iteration."/>
          <p:cNvSpPr/>
          <p:nvPr/>
        </p:nvSpPr>
        <p:spPr>
          <a:xfrm>
            <a:off x="609600" y="1314678"/>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8_c2_lower_tolerance_means_more_iteration" title="cue_s08_c2_lower_tolerance_means_more_iteration" descr="cue_s08_c2_lower_tolerance_means_more_iteration A lower tolerance means more iterations and slower sampling but higher fidelity, while a looser tolerance is faster."/>
          <p:cNvSpPr/>
          <p:nvPr/>
        </p:nvSpPr>
        <p:spPr>
          <a:xfrm>
            <a:off x="6210604" y="1314678"/>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8_c3_shows_comfortable_regime_where_fairl" title="cue_s08_c3_shows_comfortable_regime_where_fairl" descr="cue_s08_c3_shows_comfortable_regime_where_fairl The paper shows there is a comfortable regime where a fairly relaxed tolerance still preserves sample quality."/>
          <p:cNvSpPr/>
          <p:nvPr/>
        </p:nvSpPr>
        <p:spPr>
          <a:xfrm>
            <a:off x="609600" y="40002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8_c4_importantly_lsun_church_paraddpm_mat" title="cue_s08_c4_importantly_lsun_church_paraddpm_mat" descr="cue_s08_c4_importantly_lsun_church_paraddpm_mat Importantly, on LSUN Church, ParaDDPM matches full DDPM's FID score at nearly four times the speed, whereas simply reducing DDIM to 500 steps produces visibly worse images, demonstrating that the gains genuinely come from parallelism rather than fewer steps."/>
          <p:cNvSpPr/>
          <p:nvPr/>
        </p:nvSpPr>
        <p:spPr>
          <a:xfrm>
            <a:off x="6210604" y="40002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5"/>
            </a:gs>
            <a:gs pos="100000">
              <a:schemeClr val="accent6"/>
            </a:gs>
          </a:gsLst>
          <a:lin ang="2700000" scaled="1"/>
        </a:gradFill>
        <a:effectLst/>
      </p:bgPr>
    </p:bg>
    <p:spTree>
      <p:nvGrpSpPr>
        <p:cNvPr id="1" name=""/>
        <p:cNvGrpSpPr/>
        <p:nvPr/>
      </p:nvGrpSpPr>
      <p:grpSpPr>
        <a:xfrm>
          <a:off x="0" y="0"/>
          <a:ext cx="0" cy="0"/>
          <a:chOff x="0" y="0"/>
          <a:chExt cx="0" cy="0"/>
        </a:xfrm>
      </p:grpSpPr>
      <p:sp>
        <p:nvSpPr>
          <p:cNvPr id="2" name="Rectangle 2"/>
          <p:cNvSpPr/>
          <p:nvPr/>
        </p:nvSpPr>
        <p:spPr>
          <a:xfrm>
            <a:off x="609600" y="495300"/>
            <a:ext cx="57150" cy="285750"/>
          </a:xfrm>
          <a:prstGeom prst="roundRect">
            <a:avLst>
              <a:gd name="adj" fmla="val 50000"/>
            </a:avLst>
          </a:prstGeom>
          <a:solidFill>
            <a:schemeClr val="accent2"/>
          </a:solidFill>
          <a:ln>
            <a:noFill/>
          </a:ln>
        </p:spPr>
        <p:txBody>
          <a:bodyPr/>
          <a:p/>
        </p:txBody>
      </p:sp>
      <p:sp>
        <p:nvSpPr>
          <p:cNvPr id="3" name="TextBox 3"/>
          <p:cNvSpPr txBox="1"/>
          <p:nvPr/>
        </p:nvSpPr>
        <p:spPr>
          <a:xfrm>
            <a:off x="794385" y="507206"/>
            <a:ext cx="1834378" cy="220028"/>
          </a:xfrm>
          <a:prstGeom prst="rect">
            <a:avLst/>
          </a:prstGeom>
          <a:noFill/>
          <a:ln>
            <a:noFill/>
          </a:ln>
        </p:spPr>
        <p:txBody>
          <a:bodyPr wrap="none" lIns="0" tIns="0" rIns="0" bIns="0" anchor="t" anchorCtr="0">
            <a:spAutoFit/>
          </a:bodyPr>
          <a:lstStyle/>
          <a:p>
            <a:pPr algn="l"/>
            <a:r>
              <a:rPr lang="en-US" sz="1120" b="1" spc="188" dirty="0">
                <a:solidFill>
                  <a:schemeClr val="accent2"/>
                </a:solidFill>
                <a:latin typeface="+mn-lt"/>
                <a:ea typeface="+mn-ea"/>
                <a:cs typeface="+mn-cs"/>
              </a:rPr>
              <a:t>HEADLINE NUMBERS</a:t>
            </a:r>
          </a:p>
        </p:txBody>
      </p:sp>
      <p:sp>
        <p:nvSpPr>
          <p:cNvPr id="4" name="TextBox 4"/>
          <p:cNvSpPr txBox="1"/>
          <p:nvPr/>
        </p:nvSpPr>
        <p:spPr>
          <a:xfrm>
            <a:off x="787527" y="647224"/>
            <a:ext cx="4103646"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n-lt"/>
                <a:ea typeface="+mn-ea"/>
                <a:cs typeface="+mn-cs"/>
              </a:rPr>
              <a:t>The numbers at a glance</a:t>
            </a:r>
          </a:p>
        </p:txBody>
      </p:sp>
      <p:sp>
        <p:nvSpPr>
          <p:cNvPr id="5" name="Line 5"/>
          <p:cNvSpPr/>
          <p:nvPr/>
        </p:nvSpPr>
        <p:spPr>
          <a:xfrm>
            <a:off x="609600" y="1123950"/>
            <a:ext cx="10972800" cy="9525"/>
          </a:xfrm>
          <a:custGeom>
            <a:avLst/>
            <a:gdLst/>
            <a:ahLst/>
            <a:cxnLst/>
            <a:rect l="l" t="t" r="r" b="b"/>
            <a:pathLst>
              <a:path w="10972800" h="9525">
                <a:moveTo>
                  <a:pt x="0" y="0"/>
                </a:moveTo>
                <a:lnTo>
                  <a:pt x="10972800" y="0"/>
                </a:lnTo>
              </a:path>
            </a:pathLst>
          </a:custGeom>
          <a:noFill/>
          <a:ln w="11430" cap="rnd">
            <a:solidFill>
              <a:schemeClr val="accent4"/>
            </a:solidFill>
          </a:ln>
        </p:spPr>
        <p:txBody>
          <a:bodyPr/>
          <a:p/>
        </p:txBody>
      </p:sp>
      <p:sp>
        <p:nvSpPr>
          <p:cNvPr id="6" name="TextBox 6"/>
          <p:cNvSpPr txBox="1"/>
          <p:nvPr/>
        </p:nvSpPr>
        <p:spPr>
          <a:xfrm>
            <a:off x="10989399" y="515302"/>
            <a:ext cx="598335" cy="205359"/>
          </a:xfrm>
          <a:prstGeom prst="rect">
            <a:avLst/>
          </a:prstGeom>
          <a:noFill/>
          <a:ln>
            <a:noFill/>
          </a:ln>
        </p:spPr>
        <p:txBody>
          <a:bodyPr wrap="none" lIns="0" tIns="0" rIns="0" bIns="0" anchor="t" anchorCtr="0">
            <a:spAutoFit/>
          </a:bodyPr>
          <a:lstStyle/>
          <a:p>
            <a:pPr algn="r"/>
            <a:r>
              <a:rPr lang="en-US" sz="1050" b="1" spc="112" dirty="0">
                <a:solidFill>
                  <a:srgbClr val="8FA3B8"/>
                </a:solidFill>
                <a:latin typeface="+mn-lt"/>
                <a:ea typeface="+mn-ea"/>
                <a:cs typeface="+mn-cs"/>
              </a:rPr>
              <a:t>09 / 10</a:t>
            </a:r>
          </a:p>
        </p:txBody>
      </p:sp>
      <p:grpSp>
        <p:nvGrpSpPr>
          <p:cNvPr id="14" name="Group 14"/>
          <p:cNvGrpSpPr/>
          <p:nvPr/>
        </p:nvGrpSpPr>
        <p:grpSpPr>
          <a:xfrm>
            <a:off x="609600" y="1314450"/>
            <a:ext cx="5372100" cy="2457450"/>
            <a:chOff x="609600" y="1314450"/>
            <a:chExt cx="5372100" cy="2457450"/>
          </a:xfrm>
        </p:grpSpPr>
        <p:sp>
          <p:nvSpPr>
            <p:cNvPr id="7" name="Rectangle 7"/>
            <p:cNvSpPr/>
            <p:nvPr/>
          </p:nvSpPr>
          <p:spPr>
            <a:xfrm>
              <a:off x="609600" y="1314450"/>
              <a:ext cx="5372100" cy="2457450"/>
            </a:xfrm>
            <a:prstGeom prst="roundRect">
              <a:avLst>
                <a:gd name="adj" fmla="val 6202"/>
              </a:avLst>
            </a:prstGeom>
            <a:solidFill>
              <a:srgbClr val="172331"/>
            </a:solidFill>
            <a:ln w="14288">
              <a:solidFill>
                <a:schemeClr val="accent4"/>
              </a:solidFill>
            </a:ln>
          </p:spPr>
        </p:sp>
        <p:sp>
          <p:nvSpPr>
            <p:cNvPr id="8" name="Rectangle 8"/>
            <p:cNvSpPr/>
            <p:nvPr/>
          </p:nvSpPr>
          <p:spPr>
            <a:xfrm>
              <a:off x="609600" y="1447800"/>
              <a:ext cx="47625" cy="2190750"/>
            </a:xfrm>
            <a:prstGeom prst="roundRect">
              <a:avLst>
                <a:gd name="adj" fmla="val 50000"/>
              </a:avLst>
            </a:prstGeom>
            <a:solidFill>
              <a:srgbClr val="34D399"/>
            </a:solidFill>
            <a:ln>
              <a:noFill/>
            </a:ln>
          </p:spPr>
        </p:sp>
        <p:sp>
          <p:nvSpPr>
            <p:cNvPr id="9" name="TextBox 9"/>
            <p:cNvSpPr txBox="1"/>
            <p:nvPr/>
          </p:nvSpPr>
          <p:spPr>
            <a:xfrm>
              <a:off x="851154" y="1661160"/>
              <a:ext cx="1416848" cy="234696"/>
            </a:xfrm>
            <a:prstGeom prst="rect">
              <a:avLst/>
            </a:prstGeom>
            <a:noFill/>
            <a:ln>
              <a:noFill/>
            </a:ln>
          </p:spPr>
          <p:txBody>
            <a:bodyPr wrap="none" lIns="0" tIns="0" rIns="0" bIns="0" anchor="t" anchorCtr="0">
              <a:spAutoFit/>
            </a:bodyPr>
            <a:lstStyle/>
            <a:p>
              <a:pPr algn="l"/>
              <a:r>
                <a:rPr lang="en-US" sz="1200" b="1" dirty="0">
                  <a:solidFill>
                    <a:srgbClr val="8FA3B8"/>
                  </a:solidFill>
                  <a:latin typeface="+mn-lt"/>
                  <a:ea typeface="+mn-ea"/>
                  <a:cs typeface="+mn-cs"/>
                </a:rPr>
                <a:t>Sampling speedup</a:t>
              </a:r>
            </a:p>
          </p:txBody>
        </p:sp>
        <p:sp>
          <p:nvSpPr>
            <p:cNvPr id="10" name="TextBox 10"/>
            <p:cNvSpPr txBox="1"/>
            <p:nvPr/>
          </p:nvSpPr>
          <p:spPr>
            <a:xfrm>
              <a:off x="838200" y="2017395"/>
              <a:ext cx="947694" cy="762000"/>
            </a:xfrm>
            <a:prstGeom prst="rect">
              <a:avLst/>
            </a:prstGeom>
            <a:noFill/>
            <a:ln>
              <a:noFill/>
            </a:ln>
          </p:spPr>
          <p:txBody>
            <a:bodyPr wrap="none" lIns="0" tIns="0" rIns="0" bIns="0" anchor="t" anchorCtr="0">
              <a:spAutoFit/>
            </a:bodyPr>
            <a:lstStyle/>
            <a:p>
              <a:pPr algn="l"/>
              <a:r>
                <a:rPr lang="en-US" sz="3900" b="1" dirty="0">
                  <a:solidFill>
                    <a:srgbClr val="34D399"/>
                  </a:solidFill>
                  <a:latin typeface="+mn-lt"/>
                  <a:ea typeface="+mn-ea"/>
                  <a:cs typeface="+mn-cs"/>
                </a:rPr>
                <a:t>2–4</a:t>
              </a:r>
            </a:p>
          </p:txBody>
        </p:sp>
        <p:sp>
          <p:nvSpPr>
            <p:cNvPr id="11" name="TextBox 11"/>
            <p:cNvSpPr txBox="1"/>
            <p:nvPr/>
          </p:nvSpPr>
          <p:spPr>
            <a:xfrm>
              <a:off x="1801368" y="2260282"/>
              <a:ext cx="145040" cy="322707"/>
            </a:xfrm>
            <a:prstGeom prst="rect">
              <a:avLst/>
            </a:prstGeom>
            <a:noFill/>
            <a:ln>
              <a:noFill/>
            </a:ln>
          </p:spPr>
          <p:txBody>
            <a:bodyPr wrap="none" lIns="0" tIns="0" rIns="0" bIns="0" anchor="t" anchorCtr="0">
              <a:spAutoFit/>
            </a:bodyPr>
            <a:lstStyle/>
            <a:p>
              <a:pPr algn="l"/>
              <a:r>
                <a:rPr lang="en-US" sz="1650" b="1" dirty="0">
                  <a:solidFill>
                    <a:srgbClr val="C6D4E2"/>
                  </a:solidFill>
                  <a:latin typeface="+mn-lt"/>
                  <a:ea typeface="+mn-ea"/>
                  <a:cs typeface="+mn-cs"/>
                </a:rPr>
                <a:t>×</a:t>
              </a:r>
            </a:p>
          </p:txBody>
        </p:sp>
        <p:sp>
          <p:nvSpPr>
            <p:cNvPr id="12" name="TextBox 12"/>
            <p:cNvSpPr txBox="1"/>
            <p:nvPr/>
          </p:nvSpPr>
          <p:spPr>
            <a:xfrm>
              <a:off x="851726" y="2682954"/>
              <a:ext cx="1160216" cy="212693"/>
            </a:xfrm>
            <a:prstGeom prst="rect">
              <a:avLst/>
            </a:prstGeom>
            <a:noFill/>
            <a:ln>
              <a:noFill/>
            </a:ln>
          </p:spPr>
          <p:txBody>
            <a:bodyPr wrap="none" lIns="0" tIns="0" rIns="0" bIns="0" anchor="t" anchorCtr="0">
              <a:spAutoFit/>
            </a:bodyPr>
            <a:lstStyle/>
            <a:p>
              <a:pPr algn="l"/>
              <a:r>
                <a:rPr lang="en-US" sz="1090" dirty="0">
                  <a:solidFill>
                    <a:srgbClr val="C6D4E2"/>
                  </a:solidFill>
                  <a:latin typeface="+mn-lt"/>
                  <a:ea typeface="+mn-ea"/>
                  <a:cs typeface="+mn-cs"/>
                </a:rPr>
                <a:t>Across all tasks</a:t>
              </a:r>
            </a:p>
          </p:txBody>
        </p:sp>
        <p:sp>
          <p:nvSpPr>
            <p:cNvPr id="13" name="TextBox 13"/>
            <p:cNvSpPr txBox="1"/>
            <p:nvPr/>
          </p:nvSpPr>
          <p:spPr>
            <a:xfrm>
              <a:off x="851726" y="2902029"/>
              <a:ext cx="1148251" cy="212693"/>
            </a:xfrm>
            <a:prstGeom prst="rect">
              <a:avLst/>
            </a:prstGeom>
            <a:noFill/>
            <a:ln>
              <a:noFill/>
            </a:ln>
          </p:spPr>
          <p:txBody>
            <a:bodyPr wrap="none" lIns="0" tIns="0" rIns="0" bIns="0" anchor="t" anchorCtr="0">
              <a:spAutoFit/>
            </a:bodyPr>
            <a:lstStyle/>
            <a:p>
              <a:pPr algn="l"/>
              <a:r>
                <a:rPr lang="en-US" sz="1090" dirty="0">
                  <a:solidFill>
                    <a:srgbClr val="C6D4E2"/>
                  </a:solidFill>
                  <a:latin typeface="+mn-lt"/>
                  <a:ea typeface="+mn-ea"/>
                  <a:cs typeface="+mn-cs"/>
                </a:rPr>
                <a:t>and all samplers</a:t>
              </a:r>
            </a:p>
          </p:txBody>
        </p:sp>
      </p:grpSp>
      <p:grpSp>
        <p:nvGrpSpPr>
          <p:cNvPr id="22" name="Group 22"/>
          <p:cNvGrpSpPr/>
          <p:nvPr/>
        </p:nvGrpSpPr>
        <p:grpSpPr>
          <a:xfrm>
            <a:off x="6210300" y="1314450"/>
            <a:ext cx="5372100" cy="2457450"/>
            <a:chOff x="6210300" y="1314450"/>
            <a:chExt cx="5372100" cy="2457450"/>
          </a:xfrm>
        </p:grpSpPr>
        <p:sp>
          <p:nvSpPr>
            <p:cNvPr id="15" name="Rectangle 15"/>
            <p:cNvSpPr/>
            <p:nvPr/>
          </p:nvSpPr>
          <p:spPr>
            <a:xfrm>
              <a:off x="6210300" y="1314450"/>
              <a:ext cx="5372100" cy="2457450"/>
            </a:xfrm>
            <a:prstGeom prst="roundRect">
              <a:avLst>
                <a:gd name="adj" fmla="val 6202"/>
              </a:avLst>
            </a:prstGeom>
            <a:solidFill>
              <a:srgbClr val="172331"/>
            </a:solidFill>
            <a:ln w="14288">
              <a:solidFill>
                <a:schemeClr val="accent4"/>
              </a:solidFill>
            </a:ln>
          </p:spPr>
        </p:sp>
        <p:sp>
          <p:nvSpPr>
            <p:cNvPr id="16" name="Rectangle 16"/>
            <p:cNvSpPr/>
            <p:nvPr/>
          </p:nvSpPr>
          <p:spPr>
            <a:xfrm>
              <a:off x="6210300" y="1447800"/>
              <a:ext cx="47625" cy="2190750"/>
            </a:xfrm>
            <a:prstGeom prst="roundRect">
              <a:avLst>
                <a:gd name="adj" fmla="val 50000"/>
              </a:avLst>
            </a:prstGeom>
            <a:solidFill>
              <a:srgbClr val="2DD4BF"/>
            </a:solidFill>
            <a:ln>
              <a:noFill/>
            </a:ln>
          </p:spPr>
        </p:sp>
        <p:sp>
          <p:nvSpPr>
            <p:cNvPr id="17" name="TextBox 17"/>
            <p:cNvSpPr txBox="1"/>
            <p:nvPr/>
          </p:nvSpPr>
          <p:spPr>
            <a:xfrm>
              <a:off x="6451854" y="1661160"/>
              <a:ext cx="2229155" cy="234696"/>
            </a:xfrm>
            <a:prstGeom prst="rect">
              <a:avLst/>
            </a:prstGeom>
            <a:noFill/>
            <a:ln>
              <a:noFill/>
            </a:ln>
          </p:spPr>
          <p:txBody>
            <a:bodyPr wrap="none" lIns="0" tIns="0" rIns="0" bIns="0" anchor="t" anchorCtr="0">
              <a:spAutoFit/>
            </a:bodyPr>
            <a:lstStyle/>
            <a:p>
              <a:pPr algn="l"/>
              <a:r>
                <a:rPr lang="en-US" sz="1200" b="1" dirty="0">
                  <a:solidFill>
                    <a:srgbClr val="8FA3B8"/>
                  </a:solidFill>
                  <a:latin typeface="+mn-lt"/>
                  <a:ea typeface="+mn-ea"/>
                  <a:cs typeface="+mn-cs"/>
                </a:rPr>
                <a:t>StableDiffusion-v2 / image</a:t>
              </a:r>
            </a:p>
          </p:txBody>
        </p:sp>
        <p:sp>
          <p:nvSpPr>
            <p:cNvPr id="18" name="TextBox 18"/>
            <p:cNvSpPr txBox="1"/>
            <p:nvPr/>
          </p:nvSpPr>
          <p:spPr>
            <a:xfrm>
              <a:off x="6438900" y="2017395"/>
              <a:ext cx="2160485" cy="762000"/>
            </a:xfrm>
            <a:prstGeom prst="rect">
              <a:avLst/>
            </a:prstGeom>
            <a:noFill/>
            <a:ln>
              <a:noFill/>
            </a:ln>
          </p:spPr>
          <p:txBody>
            <a:bodyPr wrap="none" lIns="0" tIns="0" rIns="0" bIns="0" anchor="t" anchorCtr="0">
              <a:spAutoFit/>
            </a:bodyPr>
            <a:lstStyle/>
            <a:p>
              <a:pPr algn="l"/>
              <a:r>
                <a:rPr lang="en-US" sz="3900" b="1" dirty="0">
                  <a:solidFill>
                    <a:srgbClr val="2DD4BF"/>
                  </a:solidFill>
                  <a:latin typeface="+mn-lt"/>
                  <a:ea typeface="+mn-ea"/>
                  <a:cs typeface="+mn-cs"/>
                </a:rPr>
                <a:t>50→14.6</a:t>
              </a:r>
            </a:p>
          </p:txBody>
        </p:sp>
        <p:sp>
          <p:nvSpPr>
            <p:cNvPr id="19" name="TextBox 19"/>
            <p:cNvSpPr txBox="1"/>
            <p:nvPr/>
          </p:nvSpPr>
          <p:spPr>
            <a:xfrm>
              <a:off x="8545068" y="2260282"/>
              <a:ext cx="145040" cy="322707"/>
            </a:xfrm>
            <a:prstGeom prst="rect">
              <a:avLst/>
            </a:prstGeom>
            <a:noFill/>
            <a:ln>
              <a:noFill/>
            </a:ln>
          </p:spPr>
          <p:txBody>
            <a:bodyPr wrap="none" lIns="0" tIns="0" rIns="0" bIns="0" anchor="t" anchorCtr="0">
              <a:spAutoFit/>
            </a:bodyPr>
            <a:lstStyle/>
            <a:p>
              <a:pPr algn="l"/>
              <a:r>
                <a:rPr lang="en-US" sz="1650" b="1" dirty="0">
                  <a:solidFill>
                    <a:srgbClr val="C6D4E2"/>
                  </a:solidFill>
                  <a:latin typeface="+mn-lt"/>
                  <a:ea typeface="+mn-ea"/>
                  <a:cs typeface="+mn-cs"/>
                </a:rPr>
                <a:t>s</a:t>
              </a:r>
            </a:p>
          </p:txBody>
        </p:sp>
        <p:sp>
          <p:nvSpPr>
            <p:cNvPr id="20" name="TextBox 20"/>
            <p:cNvSpPr txBox="1"/>
            <p:nvPr/>
          </p:nvSpPr>
          <p:spPr>
            <a:xfrm>
              <a:off x="6452426" y="2682954"/>
              <a:ext cx="1588459" cy="212693"/>
            </a:xfrm>
            <a:prstGeom prst="rect">
              <a:avLst/>
            </a:prstGeom>
            <a:noFill/>
            <a:ln>
              <a:noFill/>
            </a:ln>
          </p:spPr>
          <p:txBody>
            <a:bodyPr wrap="none" lIns="0" tIns="0" rIns="0" bIns="0" anchor="t" anchorCtr="0">
              <a:spAutoFit/>
            </a:bodyPr>
            <a:lstStyle/>
            <a:p>
              <a:pPr algn="l"/>
              <a:r>
                <a:rPr lang="en-US" sz="1090" dirty="0">
                  <a:solidFill>
                    <a:srgbClr val="C6D4E2"/>
                  </a:solidFill>
                  <a:latin typeface="+mn-lt"/>
                  <a:ea typeface="+mn-ea"/>
                  <a:cs typeface="+mn-cs"/>
                </a:rPr>
                <a:t>3.4× faster per image</a:t>
              </a:r>
            </a:p>
          </p:txBody>
        </p:sp>
        <p:sp>
          <p:nvSpPr>
            <p:cNvPr id="21" name="TextBox 21"/>
            <p:cNvSpPr txBox="1"/>
            <p:nvPr/>
          </p:nvSpPr>
          <p:spPr>
            <a:xfrm>
              <a:off x="6452426" y="2902029"/>
              <a:ext cx="1534010" cy="212693"/>
            </a:xfrm>
            <a:prstGeom prst="rect">
              <a:avLst/>
            </a:prstGeom>
            <a:noFill/>
            <a:ln>
              <a:noFill/>
            </a:ln>
          </p:spPr>
          <p:txBody>
            <a:bodyPr wrap="none" lIns="0" tIns="0" rIns="0" bIns="0" anchor="t" anchorCtr="0">
              <a:spAutoFit/>
            </a:bodyPr>
            <a:lstStyle/>
            <a:p>
              <a:pPr algn="l"/>
              <a:r>
                <a:rPr lang="en-US" sz="1090" dirty="0">
                  <a:solidFill>
                    <a:srgbClr val="C6D4E2"/>
                  </a:solidFill>
                  <a:latin typeface="+mn-lt"/>
                  <a:ea typeface="+mn-ea"/>
                  <a:cs typeface="+mn-cs"/>
                </a:rPr>
                <a:t>unchanged CLIP score</a:t>
              </a:r>
            </a:p>
          </p:txBody>
        </p:sp>
      </p:grpSp>
      <p:grpSp>
        <p:nvGrpSpPr>
          <p:cNvPr id="30" name="Group 30"/>
          <p:cNvGrpSpPr/>
          <p:nvPr/>
        </p:nvGrpSpPr>
        <p:grpSpPr>
          <a:xfrm>
            <a:off x="609600" y="4000500"/>
            <a:ext cx="5372100" cy="2457450"/>
            <a:chOff x="609600" y="4000500"/>
            <a:chExt cx="5372100" cy="2457450"/>
          </a:xfrm>
        </p:grpSpPr>
        <p:sp>
          <p:nvSpPr>
            <p:cNvPr id="23" name="Rectangle 23"/>
            <p:cNvSpPr/>
            <p:nvPr/>
          </p:nvSpPr>
          <p:spPr>
            <a:xfrm>
              <a:off x="609600" y="4000500"/>
              <a:ext cx="5372100" cy="2457450"/>
            </a:xfrm>
            <a:prstGeom prst="roundRect">
              <a:avLst>
                <a:gd name="adj" fmla="val 6202"/>
              </a:avLst>
            </a:prstGeom>
            <a:solidFill>
              <a:srgbClr val="172331"/>
            </a:solidFill>
            <a:ln w="14288">
              <a:solidFill>
                <a:schemeClr val="accent4"/>
              </a:solidFill>
            </a:ln>
          </p:spPr>
        </p:sp>
        <p:sp>
          <p:nvSpPr>
            <p:cNvPr id="24" name="Rectangle 24"/>
            <p:cNvSpPr/>
            <p:nvPr/>
          </p:nvSpPr>
          <p:spPr>
            <a:xfrm>
              <a:off x="609600" y="4133850"/>
              <a:ext cx="47625" cy="2190750"/>
            </a:xfrm>
            <a:prstGeom prst="roundRect">
              <a:avLst>
                <a:gd name="adj" fmla="val 50000"/>
              </a:avLst>
            </a:prstGeom>
            <a:solidFill>
              <a:schemeClr val="accent2"/>
            </a:solidFill>
            <a:ln>
              <a:noFill/>
            </a:ln>
          </p:spPr>
        </p:sp>
        <p:sp>
          <p:nvSpPr>
            <p:cNvPr id="25" name="TextBox 25"/>
            <p:cNvSpPr txBox="1"/>
            <p:nvPr/>
          </p:nvSpPr>
          <p:spPr>
            <a:xfrm>
              <a:off x="851154" y="4347210"/>
              <a:ext cx="1023838" cy="234696"/>
            </a:xfrm>
            <a:prstGeom prst="rect">
              <a:avLst/>
            </a:prstGeom>
            <a:noFill/>
            <a:ln>
              <a:noFill/>
            </a:ln>
          </p:spPr>
          <p:txBody>
            <a:bodyPr wrap="none" lIns="0" tIns="0" rIns="0" bIns="0" anchor="t" anchorCtr="0">
              <a:spAutoFit/>
            </a:bodyPr>
            <a:lstStyle/>
            <a:p>
              <a:pPr algn="l"/>
              <a:r>
                <a:rPr lang="en-US" sz="1200" b="1" dirty="0">
                  <a:solidFill>
                    <a:srgbClr val="8FA3B8"/>
                  </a:solidFill>
                  <a:latin typeface="+mn-lt"/>
                  <a:ea typeface="+mn-ea"/>
                  <a:cs typeface="+mn-cs"/>
                </a:rPr>
                <a:t>LSUN Church</a:t>
              </a:r>
            </a:p>
          </p:txBody>
        </p:sp>
        <p:sp>
          <p:nvSpPr>
            <p:cNvPr id="26" name="TextBox 26"/>
            <p:cNvSpPr txBox="1"/>
            <p:nvPr/>
          </p:nvSpPr>
          <p:spPr>
            <a:xfrm>
              <a:off x="838200" y="4703445"/>
              <a:ext cx="2766881" cy="762000"/>
            </a:xfrm>
            <a:prstGeom prst="rect">
              <a:avLst/>
            </a:prstGeom>
            <a:noFill/>
            <a:ln>
              <a:noFill/>
            </a:ln>
          </p:spPr>
          <p:txBody>
            <a:bodyPr wrap="none" lIns="0" tIns="0" rIns="0" bIns="0" anchor="t" anchorCtr="0">
              <a:spAutoFit/>
            </a:bodyPr>
            <a:lstStyle/>
            <a:p>
              <a:pPr algn="l"/>
              <a:r>
                <a:rPr lang="en-US" sz="3900" b="1" dirty="0">
                  <a:solidFill>
                    <a:schemeClr val="accent2"/>
                  </a:solidFill>
                  <a:latin typeface="+mn-lt"/>
                  <a:ea typeface="+mn-ea"/>
                  <a:cs typeface="+mn-cs"/>
                </a:rPr>
                <a:t>12.8→12.9</a:t>
              </a:r>
            </a:p>
          </p:txBody>
        </p:sp>
        <p:sp>
          <p:nvSpPr>
            <p:cNvPr id="27" name="TextBox 27"/>
            <p:cNvSpPr txBox="1"/>
            <p:nvPr/>
          </p:nvSpPr>
          <p:spPr>
            <a:xfrm>
              <a:off x="3515868" y="4946332"/>
              <a:ext cx="361767" cy="322707"/>
            </a:xfrm>
            <a:prstGeom prst="rect">
              <a:avLst/>
            </a:prstGeom>
            <a:noFill/>
            <a:ln>
              <a:noFill/>
            </a:ln>
          </p:spPr>
          <p:txBody>
            <a:bodyPr wrap="none" lIns="0" tIns="0" rIns="0" bIns="0" anchor="t" anchorCtr="0">
              <a:spAutoFit/>
            </a:bodyPr>
            <a:lstStyle/>
            <a:p>
              <a:pPr algn="l"/>
              <a:r>
                <a:rPr lang="en-US" sz="1650" b="1" dirty="0">
                  <a:solidFill>
                    <a:srgbClr val="C6D4E2"/>
                  </a:solidFill>
                  <a:latin typeface="+mn-lt"/>
                  <a:ea typeface="+mn-ea"/>
                  <a:cs typeface="+mn-cs"/>
                </a:rPr>
                <a:t>FID</a:t>
              </a:r>
            </a:p>
          </p:txBody>
        </p:sp>
        <p:sp>
          <p:nvSpPr>
            <p:cNvPr id="28" name="TextBox 28"/>
            <p:cNvSpPr txBox="1"/>
            <p:nvPr/>
          </p:nvSpPr>
          <p:spPr>
            <a:xfrm>
              <a:off x="851726" y="5369004"/>
              <a:ext cx="1688141" cy="212693"/>
            </a:xfrm>
            <a:prstGeom prst="rect">
              <a:avLst/>
            </a:prstGeom>
            <a:noFill/>
            <a:ln>
              <a:noFill/>
            </a:ln>
          </p:spPr>
          <p:txBody>
            <a:bodyPr wrap="none" lIns="0" tIns="0" rIns="0" bIns="0" anchor="t" anchorCtr="0">
              <a:spAutoFit/>
            </a:bodyPr>
            <a:lstStyle/>
            <a:p>
              <a:pPr algn="l"/>
              <a:r>
                <a:rPr lang="en-US" sz="1090" dirty="0">
                  <a:solidFill>
                    <a:srgbClr val="C6D4E2"/>
                  </a:solidFill>
                  <a:latin typeface="+mn-lt"/>
                  <a:ea typeface="+mn-ea"/>
                  <a:cs typeface="+mn-cs"/>
                </a:rPr>
                <a:t>Quality essentially flat</a:t>
              </a:r>
            </a:p>
          </p:txBody>
        </p:sp>
        <p:sp>
          <p:nvSpPr>
            <p:cNvPr id="29" name="TextBox 29"/>
            <p:cNvSpPr txBox="1"/>
            <p:nvPr/>
          </p:nvSpPr>
          <p:spPr>
            <a:xfrm>
              <a:off x="851726" y="5588079"/>
              <a:ext cx="1228956" cy="212693"/>
            </a:xfrm>
            <a:prstGeom prst="rect">
              <a:avLst/>
            </a:prstGeom>
            <a:noFill/>
            <a:ln>
              <a:noFill/>
            </a:ln>
          </p:spPr>
          <p:txBody>
            <a:bodyPr wrap="none" lIns="0" tIns="0" rIns="0" bIns="0" anchor="t" anchorCtr="0">
              <a:spAutoFit/>
            </a:bodyPr>
            <a:lstStyle/>
            <a:p>
              <a:pPr algn="l"/>
              <a:r>
                <a:rPr lang="en-US" sz="1090" dirty="0">
                  <a:solidFill>
                    <a:srgbClr val="C6D4E2"/>
                  </a:solidFill>
                  <a:latin typeface="+mn-lt"/>
                  <a:ea typeface="+mn-ea"/>
                  <a:cs typeface="+mn-cs"/>
                </a:rPr>
                <a:t>at ~3.9× speedup</a:t>
              </a:r>
            </a:p>
          </p:txBody>
        </p:sp>
      </p:grpSp>
      <p:grpSp>
        <p:nvGrpSpPr>
          <p:cNvPr id="38" name="Group 38"/>
          <p:cNvGrpSpPr/>
          <p:nvPr/>
        </p:nvGrpSpPr>
        <p:grpSpPr>
          <a:xfrm>
            <a:off x="6210300" y="4000500"/>
            <a:ext cx="5372100" cy="2457450"/>
            <a:chOff x="6210300" y="4000500"/>
            <a:chExt cx="5372100" cy="2457450"/>
          </a:xfrm>
        </p:grpSpPr>
        <p:sp>
          <p:nvSpPr>
            <p:cNvPr id="31" name="Rectangle 31"/>
            <p:cNvSpPr/>
            <p:nvPr/>
          </p:nvSpPr>
          <p:spPr>
            <a:xfrm>
              <a:off x="6210300" y="4000500"/>
              <a:ext cx="5372100" cy="2457450"/>
            </a:xfrm>
            <a:prstGeom prst="roundRect">
              <a:avLst>
                <a:gd name="adj" fmla="val 6202"/>
              </a:avLst>
            </a:prstGeom>
            <a:solidFill>
              <a:srgbClr val="172331"/>
            </a:solidFill>
            <a:ln w="14288">
              <a:solidFill>
                <a:schemeClr val="accent4"/>
              </a:solidFill>
            </a:ln>
          </p:spPr>
        </p:sp>
        <p:sp>
          <p:nvSpPr>
            <p:cNvPr id="32" name="Rectangle 32"/>
            <p:cNvSpPr/>
            <p:nvPr/>
          </p:nvSpPr>
          <p:spPr>
            <a:xfrm>
              <a:off x="6210300" y="4133850"/>
              <a:ext cx="47625" cy="2190750"/>
            </a:xfrm>
            <a:prstGeom prst="roundRect">
              <a:avLst>
                <a:gd name="adj" fmla="val 50000"/>
              </a:avLst>
            </a:prstGeom>
            <a:solidFill>
              <a:srgbClr val="A78BFA"/>
            </a:solidFill>
            <a:ln>
              <a:noFill/>
            </a:ln>
          </p:spPr>
        </p:sp>
        <p:sp>
          <p:nvSpPr>
            <p:cNvPr id="33" name="TextBox 33"/>
            <p:cNvSpPr txBox="1"/>
            <p:nvPr/>
          </p:nvSpPr>
          <p:spPr>
            <a:xfrm>
              <a:off x="6451854" y="4347210"/>
              <a:ext cx="2086663" cy="234696"/>
            </a:xfrm>
            <a:prstGeom prst="rect">
              <a:avLst/>
            </a:prstGeom>
            <a:noFill/>
            <a:ln>
              <a:noFill/>
            </a:ln>
          </p:spPr>
          <p:txBody>
            <a:bodyPr wrap="none" lIns="0" tIns="0" rIns="0" bIns="0" anchor="t" anchorCtr="0">
              <a:spAutoFit/>
            </a:bodyPr>
            <a:lstStyle/>
            <a:p>
              <a:pPr algn="l"/>
              <a:r>
                <a:rPr lang="en-US" sz="1200" b="1" dirty="0">
                  <a:solidFill>
                    <a:srgbClr val="8FA3B8"/>
                  </a:solidFill>
                  <a:latin typeface="+mn-lt"/>
                  <a:ea typeface="+mn-ea"/>
                  <a:cs typeface="+mn-cs"/>
                </a:rPr>
                <a:t>Fewer parallel iterations</a:t>
              </a:r>
            </a:p>
          </p:txBody>
        </p:sp>
        <p:sp>
          <p:nvSpPr>
            <p:cNvPr id="34" name="TextBox 34"/>
            <p:cNvSpPr txBox="1"/>
            <p:nvPr/>
          </p:nvSpPr>
          <p:spPr>
            <a:xfrm>
              <a:off x="6438900" y="4703445"/>
              <a:ext cx="644496" cy="762000"/>
            </a:xfrm>
            <a:prstGeom prst="rect">
              <a:avLst/>
            </a:prstGeom>
            <a:noFill/>
            <a:ln>
              <a:noFill/>
            </a:ln>
          </p:spPr>
          <p:txBody>
            <a:bodyPr wrap="none" lIns="0" tIns="0" rIns="0" bIns="0" anchor="t" anchorCtr="0">
              <a:spAutoFit/>
            </a:bodyPr>
            <a:lstStyle/>
            <a:p>
              <a:pPr algn="l"/>
              <a:r>
                <a:rPr lang="en-US" sz="3900" b="1" dirty="0">
                  <a:solidFill>
                    <a:srgbClr val="A78BFA"/>
                  </a:solidFill>
                  <a:latin typeface="+mn-lt"/>
                  <a:ea typeface="+mn-ea"/>
                  <a:cs typeface="+mn-cs"/>
                </a:rPr>
                <a:t>20</a:t>
              </a:r>
            </a:p>
          </p:txBody>
        </p:sp>
        <p:sp>
          <p:nvSpPr>
            <p:cNvPr id="35" name="TextBox 35"/>
            <p:cNvSpPr txBox="1"/>
            <p:nvPr/>
          </p:nvSpPr>
          <p:spPr>
            <a:xfrm>
              <a:off x="7116318" y="4946332"/>
              <a:ext cx="145040" cy="322707"/>
            </a:xfrm>
            <a:prstGeom prst="rect">
              <a:avLst/>
            </a:prstGeom>
            <a:noFill/>
            <a:ln>
              <a:noFill/>
            </a:ln>
          </p:spPr>
          <p:txBody>
            <a:bodyPr wrap="none" lIns="0" tIns="0" rIns="0" bIns="0" anchor="t" anchorCtr="0">
              <a:spAutoFit/>
            </a:bodyPr>
            <a:lstStyle/>
            <a:p>
              <a:pPr algn="l"/>
              <a:r>
                <a:rPr lang="en-US" sz="1650" b="1" dirty="0">
                  <a:solidFill>
                    <a:srgbClr val="C6D4E2"/>
                  </a:solidFill>
                  <a:latin typeface="+mn-lt"/>
                  <a:ea typeface="+mn-ea"/>
                  <a:cs typeface="+mn-cs"/>
                </a:rPr>
                <a:t>×</a:t>
              </a:r>
            </a:p>
          </p:txBody>
        </p:sp>
        <p:sp>
          <p:nvSpPr>
            <p:cNvPr id="36" name="TextBox 36"/>
            <p:cNvSpPr txBox="1"/>
            <p:nvPr/>
          </p:nvSpPr>
          <p:spPr>
            <a:xfrm>
              <a:off x="6452426" y="5369004"/>
              <a:ext cx="1849966" cy="212693"/>
            </a:xfrm>
            <a:prstGeom prst="rect">
              <a:avLst/>
            </a:prstGeom>
            <a:noFill/>
            <a:ln>
              <a:noFill/>
            </a:ln>
          </p:spPr>
          <p:txBody>
            <a:bodyPr wrap="none" lIns="0" tIns="0" rIns="0" bIns="0" anchor="t" anchorCtr="0">
              <a:spAutoFit/>
            </a:bodyPr>
            <a:lstStyle/>
            <a:p>
              <a:pPr algn="l"/>
              <a:r>
                <a:rPr lang="en-US" sz="1090" dirty="0">
                  <a:solidFill>
                    <a:srgbClr val="C6D4E2"/>
                  </a:solidFill>
                  <a:latin typeface="+mn-lt"/>
                  <a:ea typeface="+mn-ea"/>
                  <a:cs typeface="+mn-cs"/>
                </a:rPr>
                <a:t>Iterations to converge vs</a:t>
              </a:r>
            </a:p>
          </p:txBody>
        </p:sp>
        <p:sp>
          <p:nvSpPr>
            <p:cNvPr id="37" name="TextBox 37"/>
            <p:cNvSpPr txBox="1"/>
            <p:nvPr/>
          </p:nvSpPr>
          <p:spPr>
            <a:xfrm>
              <a:off x="6452426" y="5588079"/>
              <a:ext cx="1639816" cy="212693"/>
            </a:xfrm>
            <a:prstGeom prst="rect">
              <a:avLst/>
            </a:prstGeom>
            <a:noFill/>
            <a:ln>
              <a:noFill/>
            </a:ln>
          </p:spPr>
          <p:txBody>
            <a:bodyPr wrap="none" lIns="0" tIns="0" rIns="0" bIns="0" anchor="t" anchorCtr="0">
              <a:spAutoFit/>
            </a:bodyPr>
            <a:lstStyle/>
            <a:p>
              <a:pPr algn="l"/>
              <a:r>
                <a:rPr lang="en-US" sz="1090" dirty="0">
                  <a:solidFill>
                    <a:srgbClr val="C6D4E2"/>
                  </a:solidFill>
                  <a:latin typeface="+mn-lt"/>
                  <a:ea typeface="+mn-ea"/>
                  <a:cs typeface="+mn-cs"/>
                </a:rPr>
                <a:t>~1000 sequential steps</a:t>
              </a:r>
            </a:p>
          </p:txBody>
        </p:sp>
      </p:grpSp>
      <p:sp>
        <p:nvSpPr>
          <p:cNvPr id="39" name="TextBox 39"/>
          <p:cNvSpPr txBox="1"/>
          <p:nvPr/>
        </p:nvSpPr>
        <p:spPr>
          <a:xfrm>
            <a:off x="604647" y="6562249"/>
            <a:ext cx="2487873" cy="190690"/>
          </a:xfrm>
          <a:prstGeom prst="rect">
            <a:avLst/>
          </a:prstGeom>
          <a:noFill/>
          <a:ln>
            <a:noFill/>
          </a:ln>
        </p:spPr>
        <p:txBody>
          <a:bodyPr wrap="none" lIns="0" tIns="0" rIns="0" bIns="0" anchor="t" anchorCtr="0">
            <a:spAutoFit/>
          </a:bodyPr>
          <a:lstStyle/>
          <a:p>
            <a:pPr algn="l"/>
            <a:r>
              <a:rPr lang="en-US" sz="980" dirty="0">
                <a:solidFill>
                  <a:srgbClr val="8FA3B8"/>
                </a:solidFill>
                <a:latin typeface="+mn-lt"/>
                <a:ea typeface="+mn-ea"/>
                <a:cs typeface="+mn-cs"/>
              </a:rPr>
              <a:t>ParaDiGMS · Shih et al. · NeurIPS 2023</a:t>
            </a:r>
          </a:p>
        </p:txBody>
      </p:sp>
      <p:sp>
        <p:nvSpPr>
          <p:cNvPr id="40" name="TextBox 40"/>
          <p:cNvSpPr txBox="1"/>
          <p:nvPr/>
        </p:nvSpPr>
        <p:spPr>
          <a:xfrm>
            <a:off x="9868985" y="6562249"/>
            <a:ext cx="1718368" cy="190690"/>
          </a:xfrm>
          <a:prstGeom prst="rect">
            <a:avLst/>
          </a:prstGeom>
          <a:noFill/>
          <a:ln>
            <a:noFill/>
          </a:ln>
        </p:spPr>
        <p:txBody>
          <a:bodyPr wrap="none" lIns="0" tIns="0" rIns="0" bIns="0" anchor="t" anchorCtr="0">
            <a:spAutoFit/>
          </a:bodyPr>
          <a:lstStyle/>
          <a:p>
            <a:pPr algn="r"/>
            <a:r>
              <a:rPr lang="en-US" sz="980" dirty="0">
                <a:solidFill>
                  <a:srgbClr val="8FA3B8"/>
                </a:solidFill>
                <a:latin typeface="+mn-lt"/>
                <a:ea typeface="+mn-ea"/>
                <a:cs typeface="+mn-cs"/>
              </a:rPr>
              <a:t>arxiv.org/abs/2305.16317</a:t>
            </a:r>
          </a:p>
        </p:txBody>
      </p:sp>
      <p:sp>
        <p:nvSpPr>
          <p:cNvPr id="41" name="cue_s09_c1_put_concrete_numbers_sampling_speedu" title="cue_s09_c1_put_concrete_numbers_sampling_speedu" descr="cue_s09_c1_put_concrete_numbers_sampling_speedu To put concrete numbers on it: sampling speedups of two to four times across the board."/>
          <p:cNvSpPr/>
          <p:nvPr/>
        </p:nvSpPr>
        <p:spPr>
          <a:xfrm>
            <a:off x="609600" y="1314678"/>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9_c2_stablediffusion_version_2_drops_fift" title="cue_s09_c2_stablediffusion_version_2_drops_fift" descr="cue_s09_c2_stablediffusion_version_2_drops_fift StableDiffusion version 2 drops from fifty seconds to fourteen-point-six seconds per image."/>
          <p:cNvSpPr/>
          <p:nvPr/>
        </p:nvSpPr>
        <p:spPr>
          <a:xfrm>
            <a:off x="6210604" y="1314678"/>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9_c3_lsun_church_fid_barely_moves" title="cue_s09_c3_lsun_church_fid_barely_moves" descr="cue_s09_c3_lsun_church_fid_barely_moves On LSUN Church, FID barely moves, from twelve-point-eight to twelve-point-nine, while running almost four times faster."/>
          <p:cNvSpPr/>
          <p:nvPr/>
        </p:nvSpPr>
        <p:spPr>
          <a:xfrm>
            <a:off x="609600" y="40002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9_c4_deep_reason_scales_number_parallel" title="cue_s09_c4_deep_reason_scales_number_parallel" descr="cue_s09_c4_deep_reason_scales_number_parallel And the deep reason it scales is that the number of parallel iterations to converge is up to twenty times smaller than the thousand sequential steps."/>
          <p:cNvSpPr/>
          <p:nvPr/>
        </p:nvSpPr>
        <p:spPr>
          <a:xfrm>
            <a:off x="6210604" y="40002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5"/>
            </a:gs>
            <a:gs pos="100000">
              <a:schemeClr val="accent6"/>
            </a:gs>
          </a:gsLst>
          <a:lin ang="2700000" scaled="1"/>
        </a:gradFill>
        <a:effectLst/>
      </p:bgPr>
    </p:bg>
    <p:spTree>
      <p:nvGrpSpPr>
        <p:cNvPr id="1" name=""/>
        <p:cNvGrpSpPr/>
        <p:nvPr/>
      </p:nvGrpSpPr>
      <p:grpSpPr>
        <a:xfrm>
          <a:off x="0" y="0"/>
          <a:ext cx="0" cy="0"/>
          <a:chOff x="0" y="0"/>
          <a:chExt cx="0" cy="0"/>
        </a:xfrm>
      </p:grpSpPr>
      <p:sp>
        <p:nvSpPr>
          <p:cNvPr id="2" name="Rectangle 2"/>
          <p:cNvSpPr/>
          <p:nvPr/>
        </p:nvSpPr>
        <p:spPr>
          <a:xfrm>
            <a:off x="609600" y="495300"/>
            <a:ext cx="57150" cy="285750"/>
          </a:xfrm>
          <a:prstGeom prst="roundRect">
            <a:avLst>
              <a:gd name="adj" fmla="val 50000"/>
            </a:avLst>
          </a:prstGeom>
          <a:solidFill>
            <a:srgbClr val="2DD4BF"/>
          </a:solidFill>
          <a:ln>
            <a:noFill/>
          </a:ln>
        </p:spPr>
        <p:txBody>
          <a:bodyPr/>
          <a:p/>
        </p:txBody>
      </p:sp>
      <p:sp>
        <p:nvSpPr>
          <p:cNvPr id="3" name="TextBox 3"/>
          <p:cNvSpPr txBox="1"/>
          <p:nvPr/>
        </p:nvSpPr>
        <p:spPr>
          <a:xfrm>
            <a:off x="794385" y="507206"/>
            <a:ext cx="968079" cy="220028"/>
          </a:xfrm>
          <a:prstGeom prst="rect">
            <a:avLst/>
          </a:prstGeom>
          <a:noFill/>
          <a:ln>
            <a:noFill/>
          </a:ln>
        </p:spPr>
        <p:txBody>
          <a:bodyPr wrap="none" lIns="0" tIns="0" rIns="0" bIns="0" anchor="t" anchorCtr="0">
            <a:spAutoFit/>
          </a:bodyPr>
          <a:lstStyle/>
          <a:p>
            <a:pPr algn="l"/>
            <a:r>
              <a:rPr lang="en-US" sz="1120" b="1" spc="188" dirty="0">
                <a:solidFill>
                  <a:srgbClr val="2DD4BF"/>
                </a:solidFill>
                <a:latin typeface="+mn-lt"/>
                <a:ea typeface="+mn-ea"/>
                <a:cs typeface="+mn-cs"/>
              </a:rPr>
              <a:t>TAKEAWAY</a:t>
            </a:r>
          </a:p>
        </p:txBody>
      </p:sp>
      <p:sp>
        <p:nvSpPr>
          <p:cNvPr id="4" name="TextBox 4"/>
          <p:cNvSpPr txBox="1"/>
          <p:nvPr/>
        </p:nvSpPr>
        <p:spPr>
          <a:xfrm>
            <a:off x="787527" y="647224"/>
            <a:ext cx="5382679" cy="484060"/>
          </a:xfrm>
          <a:prstGeom prst="rect">
            <a:avLst/>
          </a:prstGeom>
          <a:noFill/>
          <a:ln>
            <a:noFill/>
          </a:ln>
        </p:spPr>
        <p:txBody>
          <a:bodyPr wrap="none" lIns="0" tIns="0" rIns="0" bIns="0" anchor="t" anchorCtr="0">
            <a:spAutoFit/>
          </a:bodyPr>
          <a:lstStyle/>
          <a:p>
            <a:pPr algn="l"/>
            <a:r>
              <a:rPr lang="en-US" sz="2480" b="1" dirty="0">
                <a:solidFill>
                  <a:schemeClr val="dk1"/>
                </a:solidFill>
                <a:latin typeface="+mn-lt"/>
                <a:ea typeface="+mn-ea"/>
                <a:cs typeface="+mn-cs"/>
              </a:rPr>
              <a:t>A new axis for faster diffusion</a:t>
            </a:r>
          </a:p>
        </p:txBody>
      </p:sp>
      <p:sp>
        <p:nvSpPr>
          <p:cNvPr id="5" name="Line 5"/>
          <p:cNvSpPr/>
          <p:nvPr/>
        </p:nvSpPr>
        <p:spPr>
          <a:xfrm>
            <a:off x="609600" y="1123950"/>
            <a:ext cx="10972800" cy="9525"/>
          </a:xfrm>
          <a:custGeom>
            <a:avLst/>
            <a:gdLst/>
            <a:ahLst/>
            <a:cxnLst/>
            <a:rect l="l" t="t" r="r" b="b"/>
            <a:pathLst>
              <a:path w="10972800" h="9525">
                <a:moveTo>
                  <a:pt x="0" y="0"/>
                </a:moveTo>
                <a:lnTo>
                  <a:pt x="10972800" y="0"/>
                </a:lnTo>
              </a:path>
            </a:pathLst>
          </a:custGeom>
          <a:noFill/>
          <a:ln w="11430" cap="rnd">
            <a:solidFill>
              <a:schemeClr val="accent4"/>
            </a:solidFill>
          </a:ln>
        </p:spPr>
        <p:txBody>
          <a:bodyPr/>
          <a:p/>
        </p:txBody>
      </p:sp>
      <p:sp>
        <p:nvSpPr>
          <p:cNvPr id="6" name="TextBox 6"/>
          <p:cNvSpPr txBox="1"/>
          <p:nvPr/>
        </p:nvSpPr>
        <p:spPr>
          <a:xfrm>
            <a:off x="10989399" y="515302"/>
            <a:ext cx="598335" cy="205359"/>
          </a:xfrm>
          <a:prstGeom prst="rect">
            <a:avLst/>
          </a:prstGeom>
          <a:noFill/>
          <a:ln>
            <a:noFill/>
          </a:ln>
        </p:spPr>
        <p:txBody>
          <a:bodyPr wrap="none" lIns="0" tIns="0" rIns="0" bIns="0" anchor="t" anchorCtr="0">
            <a:spAutoFit/>
          </a:bodyPr>
          <a:lstStyle/>
          <a:p>
            <a:pPr algn="r"/>
            <a:r>
              <a:rPr lang="en-US" sz="1050" b="1" spc="112" dirty="0">
                <a:solidFill>
                  <a:srgbClr val="8FA3B8"/>
                </a:solidFill>
                <a:latin typeface="+mn-lt"/>
                <a:ea typeface="+mn-ea"/>
                <a:cs typeface="+mn-cs"/>
              </a:rPr>
              <a:t>10 / 10</a:t>
            </a:r>
          </a:p>
        </p:txBody>
      </p:sp>
      <p:sp>
        <p:nvSpPr>
          <p:cNvPr id="7" name="Ellipse 7"/>
          <p:cNvSpPr/>
          <p:nvPr/>
        </p:nvSpPr>
        <p:spPr>
          <a:xfrm>
            <a:off x="190500" y="571500"/>
            <a:ext cx="11811000" cy="5715000"/>
          </a:xfrm>
          <a:prstGeom prst="ellipse">
            <a:avLst/>
          </a:prstGeom>
          <a:gradFill>
            <a:gsLst>
              <a:gs pos="0">
                <a:schemeClr val="accent2">
                  <a:alpha val="16000"/>
                </a:schemeClr>
              </a:gs>
              <a:gs pos="100000">
                <a:schemeClr val="accent2">
                  <a:alpha val="0"/>
                </a:schemeClr>
              </a:gs>
            </a:gsLst>
            <a:path path="circle">
              <a:fillToRect l="50000" t="50000" r="50000" b="50000"/>
            </a:path>
          </a:gradFill>
          <a:ln>
            <a:noFill/>
          </a:ln>
        </p:spPr>
        <p:txBody>
          <a:bodyPr/>
          <a:p/>
        </p:txBody>
      </p:sp>
      <p:grpSp>
        <p:nvGrpSpPr>
          <p:cNvPr id="13" name="Group 13"/>
          <p:cNvGrpSpPr/>
          <p:nvPr/>
        </p:nvGrpSpPr>
        <p:grpSpPr>
          <a:xfrm>
            <a:off x="609600" y="1428750"/>
            <a:ext cx="10972800" cy="1428750"/>
            <a:chOff x="609600" y="1428750"/>
            <a:chExt cx="10972800" cy="1428750"/>
          </a:xfrm>
        </p:grpSpPr>
        <p:sp>
          <p:nvSpPr>
            <p:cNvPr id="8" name="Rectangle 8"/>
            <p:cNvSpPr/>
            <p:nvPr/>
          </p:nvSpPr>
          <p:spPr>
            <a:xfrm>
              <a:off x="609600" y="1428750"/>
              <a:ext cx="10972800" cy="1428750"/>
            </a:xfrm>
            <a:prstGeom prst="roundRect">
              <a:avLst>
                <a:gd name="adj" fmla="val 12000"/>
              </a:avLst>
            </a:prstGeom>
            <a:solidFill>
              <a:srgbClr val="172331"/>
            </a:solidFill>
            <a:ln w="14288">
              <a:solidFill>
                <a:schemeClr val="accent4"/>
              </a:solidFill>
            </a:ln>
          </p:spPr>
        </p:sp>
        <p:sp>
          <p:nvSpPr>
            <p:cNvPr id="9" name="Rectangle 9"/>
            <p:cNvSpPr/>
            <p:nvPr/>
          </p:nvSpPr>
          <p:spPr>
            <a:xfrm>
              <a:off x="609600" y="1581150"/>
              <a:ext cx="47625" cy="1123950"/>
            </a:xfrm>
            <a:prstGeom prst="roundRect">
              <a:avLst>
                <a:gd name="adj" fmla="val 50000"/>
              </a:avLst>
            </a:prstGeom>
            <a:solidFill>
              <a:srgbClr val="2DD4BF"/>
            </a:solidFill>
            <a:ln>
              <a:noFill/>
            </a:ln>
          </p:spPr>
        </p:sp>
        <p:sp>
          <p:nvSpPr>
            <p:cNvPr id="10" name="TextBox 10"/>
            <p:cNvSpPr txBox="1"/>
            <p:nvPr/>
          </p:nvSpPr>
          <p:spPr>
            <a:xfrm>
              <a:off x="847344" y="1694498"/>
              <a:ext cx="5982385"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A new axis for accelerating diffusion models</a:t>
              </a:r>
            </a:p>
          </p:txBody>
        </p:sp>
        <p:sp>
          <p:nvSpPr>
            <p:cNvPr id="11" name="TextBox 11"/>
            <p:cNvSpPr txBox="1"/>
            <p:nvPr/>
          </p:nvSpPr>
          <p:spPr>
            <a:xfrm>
              <a:off x="850392" y="2178368"/>
              <a:ext cx="6789914" cy="264033"/>
            </a:xfrm>
            <a:prstGeom prst="rect">
              <a:avLst/>
            </a:prstGeom>
            <a:noFill/>
            <a:ln>
              <a:noFill/>
            </a:ln>
          </p:spPr>
          <p:txBody>
            <a:bodyPr wrap="none" lIns="0" tIns="0" rIns="0" bIns="0" anchor="t" anchorCtr="0">
              <a:spAutoFit/>
            </a:bodyPr>
            <a:lstStyle/>
            <a:p>
              <a:pPr algn="l"/>
              <a:r>
                <a:rPr lang="en-US" sz="1350" dirty="0">
                  <a:solidFill>
                    <a:srgbClr val="C6D4E2"/>
                  </a:solidFill>
                  <a:latin typeface="+mn-lt"/>
                  <a:ea typeface="+mn-ea"/>
                  <a:cs typeface="+mn-cs"/>
                </a:rPr>
                <a:t>Not fewer steps at the cost of quality: run every step, in parallel, faster.</a:t>
              </a:r>
            </a:p>
          </p:txBody>
        </p:sp>
        <p:sp>
          <p:nvSpPr>
            <p:cNvPr id="12" name="TextBox 12"/>
            <p:cNvSpPr txBox="1"/>
            <p:nvPr/>
          </p:nvSpPr>
          <p:spPr>
            <a:xfrm>
              <a:off x="850392" y="2502218"/>
              <a:ext cx="6944020" cy="264033"/>
            </a:xfrm>
            <a:prstGeom prst="rect">
              <a:avLst/>
            </a:prstGeom>
            <a:noFill/>
            <a:ln>
              <a:noFill/>
            </a:ln>
          </p:spPr>
          <p:txBody>
            <a:bodyPr wrap="none" lIns="0" tIns="0" rIns="0" bIns="0" anchor="t" anchorCtr="0">
              <a:spAutoFit/>
            </a:bodyPr>
            <a:lstStyle/>
            <a:p>
              <a:pPr algn="l"/>
              <a:r>
                <a:rPr lang="en-US" sz="1350" dirty="0">
                  <a:solidFill>
                    <a:srgbClr val="C6D4E2"/>
                  </a:solidFill>
                  <a:latin typeface="+mn-lt"/>
                  <a:ea typeface="+mn-ea"/>
                  <a:cs typeface="+mn-cs"/>
                </a:rPr>
                <a:t>A dimension of speedup that is complementary to every existing fast sampler.</a:t>
              </a:r>
            </a:p>
          </p:txBody>
        </p:sp>
      </p:grpSp>
      <p:grpSp>
        <p:nvGrpSpPr>
          <p:cNvPr id="24" name="Group 24"/>
          <p:cNvGrpSpPr/>
          <p:nvPr/>
        </p:nvGrpSpPr>
        <p:grpSpPr>
          <a:xfrm>
            <a:off x="609600" y="3105150"/>
            <a:ext cx="5372100" cy="3048000"/>
            <a:chOff x="609600" y="3105150"/>
            <a:chExt cx="5372100" cy="3048000"/>
          </a:xfrm>
        </p:grpSpPr>
        <p:sp>
          <p:nvSpPr>
            <p:cNvPr id="14" name="Rectangle 14"/>
            <p:cNvSpPr/>
            <p:nvPr/>
          </p:nvSpPr>
          <p:spPr>
            <a:xfrm>
              <a:off x="609600" y="3105150"/>
              <a:ext cx="5372100" cy="3048000"/>
            </a:xfrm>
            <a:prstGeom prst="roundRect">
              <a:avLst>
                <a:gd name="adj" fmla="val 5625"/>
              </a:avLst>
            </a:prstGeom>
            <a:solidFill>
              <a:srgbClr val="172331"/>
            </a:solidFill>
            <a:ln w="14288">
              <a:solidFill>
                <a:schemeClr val="accent4"/>
              </a:solidFill>
            </a:ln>
          </p:spPr>
        </p:sp>
        <p:sp>
          <p:nvSpPr>
            <p:cNvPr id="15" name="Rectangle 15"/>
            <p:cNvSpPr/>
            <p:nvPr/>
          </p:nvSpPr>
          <p:spPr>
            <a:xfrm>
              <a:off x="609600" y="3257550"/>
              <a:ext cx="47625" cy="2743200"/>
            </a:xfrm>
            <a:prstGeom prst="roundRect">
              <a:avLst>
                <a:gd name="adj" fmla="val 50000"/>
              </a:avLst>
            </a:prstGeom>
            <a:solidFill>
              <a:schemeClr val="accent2"/>
            </a:solidFill>
            <a:ln>
              <a:noFill/>
            </a:ln>
          </p:spPr>
        </p:sp>
        <p:sp>
          <p:nvSpPr>
            <p:cNvPr id="16" name="Ellipse 16"/>
            <p:cNvSpPr/>
            <p:nvPr/>
          </p:nvSpPr>
          <p:spPr>
            <a:xfrm>
              <a:off x="762000" y="3409950"/>
              <a:ext cx="266700" cy="266700"/>
            </a:xfrm>
            <a:prstGeom prst="ellipse">
              <a:avLst/>
            </a:prstGeom>
            <a:solidFill>
              <a:schemeClr val="accent2"/>
            </a:solidFill>
            <a:ln>
              <a:noFill/>
            </a:ln>
          </p:spPr>
        </p:sp>
        <p:sp>
          <p:nvSpPr>
            <p:cNvPr id="17" name="TextBox 17"/>
            <p:cNvSpPr txBox="1"/>
            <p:nvPr/>
          </p:nvSpPr>
          <p:spPr>
            <a:xfrm>
              <a:off x="846099" y="3469481"/>
              <a:ext cx="98502" cy="220028"/>
            </a:xfrm>
            <a:prstGeom prst="rect">
              <a:avLst/>
            </a:prstGeom>
            <a:noFill/>
            <a:ln>
              <a:noFill/>
            </a:ln>
          </p:spPr>
          <p:txBody>
            <a:bodyPr wrap="none" lIns="0" tIns="0" rIns="0" bIns="0" anchor="t" anchorCtr="0">
              <a:spAutoFit/>
            </a:bodyPr>
            <a:lstStyle/>
            <a:p>
              <a:pPr algn="ctr"/>
              <a:r>
                <a:rPr lang="en-US" sz="1120" b="1" dirty="0">
                  <a:solidFill>
                    <a:srgbClr val="0B1119"/>
                  </a:solidFill>
                  <a:latin typeface="+mn-lt"/>
                  <a:ea typeface="+mn-ea"/>
                  <a:cs typeface="+mn-cs"/>
                </a:rPr>
                <a:t>2</a:t>
              </a:r>
            </a:p>
          </p:txBody>
        </p:sp>
        <p:sp>
          <p:nvSpPr>
            <p:cNvPr id="18" name="TextBox 18"/>
            <p:cNvSpPr txBox="1"/>
            <p:nvPr/>
          </p:nvSpPr>
          <p:spPr>
            <a:xfrm>
              <a:off x="1134999" y="3430429"/>
              <a:ext cx="3105604"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Spend compute, keep quality</a:t>
              </a:r>
            </a:p>
          </p:txBody>
        </p:sp>
        <p:sp>
          <p:nvSpPr>
            <p:cNvPr id="19" name="TextBox 19"/>
            <p:cNvSpPr txBox="1"/>
            <p:nvPr/>
          </p:nvSpPr>
          <p:spPr>
            <a:xfrm>
              <a:off x="889064" y="3885962"/>
              <a:ext cx="2843433" cy="242030"/>
            </a:xfrm>
            <a:prstGeom prst="rect">
              <a:avLst/>
            </a:prstGeom>
            <a:noFill/>
            <a:ln>
              <a:noFill/>
            </a:ln>
          </p:spPr>
          <p:txBody>
            <a:bodyPr wrap="none" lIns="0" tIns="0" rIns="0" bIns="0" anchor="t" anchorCtr="0">
              <a:spAutoFit/>
            </a:bodyPr>
            <a:lstStyle/>
            <a:p>
              <a:pPr algn="l"/>
              <a:r>
                <a:rPr lang="en-US" sz="1240" dirty="0">
                  <a:solidFill>
                    <a:srgbClr val="C6D4E2"/>
                  </a:solidFill>
                  <a:latin typeface="+mn-lt"/>
                  <a:ea typeface="+mn-ea"/>
                  <a:cs typeface="+mn-cs"/>
                </a:rPr>
                <a:t>ParaDiGMS spends parallel compute</a:t>
              </a:r>
            </a:p>
          </p:txBody>
        </p:sp>
        <p:sp>
          <p:nvSpPr>
            <p:cNvPr id="20" name="TextBox 20"/>
            <p:cNvSpPr txBox="1"/>
            <p:nvPr/>
          </p:nvSpPr>
          <p:spPr>
            <a:xfrm>
              <a:off x="889064" y="4171712"/>
              <a:ext cx="2758552" cy="242030"/>
            </a:xfrm>
            <a:prstGeom prst="rect">
              <a:avLst/>
            </a:prstGeom>
            <a:noFill/>
            <a:ln>
              <a:noFill/>
            </a:ln>
          </p:spPr>
          <p:txBody>
            <a:bodyPr wrap="none" lIns="0" tIns="0" rIns="0" bIns="0" anchor="t" anchorCtr="0">
              <a:spAutoFit/>
            </a:bodyPr>
            <a:lstStyle/>
            <a:p>
              <a:pPr algn="l"/>
              <a:r>
                <a:rPr lang="en-US" sz="1240" dirty="0">
                  <a:solidFill>
                    <a:srgbClr val="C6D4E2"/>
                  </a:solidFill>
                  <a:latin typeface="+mn-lt"/>
                  <a:ea typeface="+mn-ea"/>
                  <a:cs typeface="+mn-cs"/>
                </a:rPr>
                <a:t>to run all denoising steps faster,</a:t>
              </a:r>
            </a:p>
          </p:txBody>
        </p:sp>
        <p:sp>
          <p:nvSpPr>
            <p:cNvPr id="21" name="TextBox 21"/>
            <p:cNvSpPr txBox="1"/>
            <p:nvPr/>
          </p:nvSpPr>
          <p:spPr>
            <a:xfrm>
              <a:off x="889064" y="4457462"/>
              <a:ext cx="2416348" cy="242030"/>
            </a:xfrm>
            <a:prstGeom prst="rect">
              <a:avLst/>
            </a:prstGeom>
            <a:noFill/>
            <a:ln>
              <a:noFill/>
            </a:ln>
          </p:spPr>
          <p:txBody>
            <a:bodyPr wrap="none" lIns="0" tIns="0" rIns="0" bIns="0" anchor="t" anchorCtr="0">
              <a:spAutoFit/>
            </a:bodyPr>
            <a:lstStyle/>
            <a:p>
              <a:pPr algn="l"/>
              <a:r>
                <a:rPr lang="en-US" sz="1240" dirty="0">
                  <a:solidFill>
                    <a:srgbClr val="C6D4E2"/>
                  </a:solidFill>
                  <a:latin typeface="+mn-lt"/>
                  <a:ea typeface="+mn-ea"/>
                  <a:cs typeface="+mn-cs"/>
                </a:rPr>
                <a:t>cutting sampling latency 2–4×</a:t>
              </a:r>
            </a:p>
          </p:txBody>
        </p:sp>
        <p:sp>
          <p:nvSpPr>
            <p:cNvPr id="22" name="TextBox 22"/>
            <p:cNvSpPr txBox="1"/>
            <p:nvPr/>
          </p:nvSpPr>
          <p:spPr>
            <a:xfrm>
              <a:off x="889064" y="4743212"/>
              <a:ext cx="2391308" cy="242030"/>
            </a:xfrm>
            <a:prstGeom prst="rect">
              <a:avLst/>
            </a:prstGeom>
            <a:noFill/>
            <a:ln>
              <a:noFill/>
            </a:ln>
          </p:spPr>
          <p:txBody>
            <a:bodyPr wrap="none" lIns="0" tIns="0" rIns="0" bIns="0" anchor="t" anchorCtr="0">
              <a:spAutoFit/>
            </a:bodyPr>
            <a:lstStyle/>
            <a:p>
              <a:pPr algn="l"/>
              <a:r>
                <a:rPr lang="en-US" sz="1240" dirty="0">
                  <a:solidFill>
                    <a:srgbClr val="C6D4E2"/>
                  </a:solidFill>
                  <a:latin typeface="+mn-lt"/>
                  <a:ea typeface="+mn-ea"/>
                  <a:cs typeface="+mn-cs"/>
                </a:rPr>
                <a:t>with no loss in quality, and it</a:t>
              </a:r>
            </a:p>
          </p:txBody>
        </p:sp>
        <p:sp>
          <p:nvSpPr>
            <p:cNvPr id="23" name="TextBox 23"/>
            <p:cNvSpPr txBox="1"/>
            <p:nvPr/>
          </p:nvSpPr>
          <p:spPr>
            <a:xfrm>
              <a:off x="889064" y="5028962"/>
              <a:ext cx="2748807" cy="242030"/>
            </a:xfrm>
            <a:prstGeom prst="rect">
              <a:avLst/>
            </a:prstGeom>
            <a:noFill/>
            <a:ln>
              <a:noFill/>
            </a:ln>
          </p:spPr>
          <p:txBody>
            <a:bodyPr wrap="none" lIns="0" tIns="0" rIns="0" bIns="0" anchor="t" anchorCtr="0">
              <a:spAutoFit/>
            </a:bodyPr>
            <a:lstStyle/>
            <a:p>
              <a:pPr algn="l"/>
              <a:r>
                <a:rPr lang="en-US" sz="1240" dirty="0">
                  <a:solidFill>
                    <a:srgbClr val="C6D4E2"/>
                  </a:solidFill>
                  <a:latin typeface="+mn-lt"/>
                  <a:ea typeface="+mn-ea"/>
                  <a:cs typeface="+mn-cs"/>
                </a:rPr>
                <a:t>composes with DDIM / DPMSolver.</a:t>
              </a:r>
            </a:p>
          </p:txBody>
        </p:sp>
      </p:grpSp>
      <p:grpSp>
        <p:nvGrpSpPr>
          <p:cNvPr id="35" name="Group 35"/>
          <p:cNvGrpSpPr/>
          <p:nvPr/>
        </p:nvGrpSpPr>
        <p:grpSpPr>
          <a:xfrm>
            <a:off x="6210300" y="3105150"/>
            <a:ext cx="5372100" cy="3048000"/>
            <a:chOff x="6210300" y="3105150"/>
            <a:chExt cx="5372100" cy="3048000"/>
          </a:xfrm>
        </p:grpSpPr>
        <p:sp>
          <p:nvSpPr>
            <p:cNvPr id="25" name="Rectangle 25"/>
            <p:cNvSpPr/>
            <p:nvPr/>
          </p:nvSpPr>
          <p:spPr>
            <a:xfrm>
              <a:off x="6210300" y="3105150"/>
              <a:ext cx="5372100" cy="3048000"/>
            </a:xfrm>
            <a:prstGeom prst="roundRect">
              <a:avLst>
                <a:gd name="adj" fmla="val 5625"/>
              </a:avLst>
            </a:prstGeom>
            <a:solidFill>
              <a:srgbClr val="172331"/>
            </a:solidFill>
            <a:ln w="14288">
              <a:solidFill>
                <a:schemeClr val="accent4"/>
              </a:solidFill>
            </a:ln>
          </p:spPr>
        </p:sp>
        <p:sp>
          <p:nvSpPr>
            <p:cNvPr id="26" name="Rectangle 26"/>
            <p:cNvSpPr/>
            <p:nvPr/>
          </p:nvSpPr>
          <p:spPr>
            <a:xfrm>
              <a:off x="6210300" y="3257550"/>
              <a:ext cx="47625" cy="2743200"/>
            </a:xfrm>
            <a:prstGeom prst="roundRect">
              <a:avLst>
                <a:gd name="adj" fmla="val 50000"/>
              </a:avLst>
            </a:prstGeom>
            <a:solidFill>
              <a:srgbClr val="A78BFA"/>
            </a:solidFill>
            <a:ln>
              <a:noFill/>
            </a:ln>
          </p:spPr>
        </p:sp>
        <p:sp>
          <p:nvSpPr>
            <p:cNvPr id="27" name="Ellipse 27"/>
            <p:cNvSpPr/>
            <p:nvPr/>
          </p:nvSpPr>
          <p:spPr>
            <a:xfrm>
              <a:off x="6362700" y="3409950"/>
              <a:ext cx="266700" cy="266700"/>
            </a:xfrm>
            <a:prstGeom prst="ellipse">
              <a:avLst/>
            </a:prstGeom>
            <a:solidFill>
              <a:srgbClr val="A78BFA"/>
            </a:solidFill>
            <a:ln>
              <a:noFill/>
            </a:ln>
          </p:spPr>
        </p:sp>
        <p:sp>
          <p:nvSpPr>
            <p:cNvPr id="28" name="TextBox 28"/>
            <p:cNvSpPr txBox="1"/>
            <p:nvPr/>
          </p:nvSpPr>
          <p:spPr>
            <a:xfrm>
              <a:off x="6446799" y="3469481"/>
              <a:ext cx="98502" cy="220028"/>
            </a:xfrm>
            <a:prstGeom prst="rect">
              <a:avLst/>
            </a:prstGeom>
            <a:noFill/>
            <a:ln>
              <a:noFill/>
            </a:ln>
          </p:spPr>
          <p:txBody>
            <a:bodyPr wrap="none" lIns="0" tIns="0" rIns="0" bIns="0" anchor="t" anchorCtr="0">
              <a:spAutoFit/>
            </a:bodyPr>
            <a:lstStyle/>
            <a:p>
              <a:pPr algn="ctr"/>
              <a:r>
                <a:rPr lang="en-US" sz="1120" b="1" dirty="0">
                  <a:solidFill>
                    <a:srgbClr val="0B1119"/>
                  </a:solidFill>
                  <a:latin typeface="+mn-lt"/>
                  <a:ea typeface="+mn-ea"/>
                  <a:cs typeface="+mn-cs"/>
                </a:rPr>
                <a:t>3</a:t>
              </a:r>
            </a:p>
          </p:txBody>
        </p:sp>
        <p:sp>
          <p:nvSpPr>
            <p:cNvPr id="29" name="TextBox 29"/>
            <p:cNvSpPr txBox="1"/>
            <p:nvPr/>
          </p:nvSpPr>
          <p:spPr>
            <a:xfrm>
              <a:off x="6735699" y="3430429"/>
              <a:ext cx="1631596"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The road ahead</a:t>
              </a:r>
            </a:p>
          </p:txBody>
        </p:sp>
        <p:sp>
          <p:nvSpPr>
            <p:cNvPr id="30" name="TextBox 30"/>
            <p:cNvSpPr txBox="1"/>
            <p:nvPr/>
          </p:nvSpPr>
          <p:spPr>
            <a:xfrm>
              <a:off x="6489764" y="3885962"/>
              <a:ext cx="2187988" cy="242030"/>
            </a:xfrm>
            <a:prstGeom prst="rect">
              <a:avLst/>
            </a:prstGeom>
            <a:noFill/>
            <a:ln>
              <a:noFill/>
            </a:ln>
          </p:spPr>
          <p:txBody>
            <a:bodyPr wrap="none" lIns="0" tIns="0" rIns="0" bIns="0" anchor="t" anchorCtr="0">
              <a:spAutoFit/>
            </a:bodyPr>
            <a:lstStyle/>
            <a:p>
              <a:pPr algn="l"/>
              <a:r>
                <a:rPr lang="en-US" sz="1240" dirty="0">
                  <a:solidFill>
                    <a:srgbClr val="C6D4E2"/>
                  </a:solidFill>
                  <a:latin typeface="+mn-lt"/>
                  <a:ea typeface="+mn-ea"/>
                  <a:cs typeface="+mn-cs"/>
                </a:rPr>
                <a:t>As parallel hardware keeps</a:t>
              </a:r>
            </a:p>
          </p:txBody>
        </p:sp>
        <p:sp>
          <p:nvSpPr>
            <p:cNvPr id="31" name="TextBox 31"/>
            <p:cNvSpPr txBox="1"/>
            <p:nvPr/>
          </p:nvSpPr>
          <p:spPr>
            <a:xfrm>
              <a:off x="6489764" y="4171712"/>
              <a:ext cx="2216033" cy="242030"/>
            </a:xfrm>
            <a:prstGeom prst="rect">
              <a:avLst/>
            </a:prstGeom>
            <a:noFill/>
            <a:ln>
              <a:noFill/>
            </a:ln>
          </p:spPr>
          <p:txBody>
            <a:bodyPr wrap="none" lIns="0" tIns="0" rIns="0" bIns="0" anchor="t" anchorCtr="0">
              <a:spAutoFit/>
            </a:bodyPr>
            <a:lstStyle/>
            <a:p>
              <a:pPr algn="l"/>
              <a:r>
                <a:rPr lang="en-US" sz="1240" dirty="0">
                  <a:solidFill>
                    <a:srgbClr val="C6D4E2"/>
                  </a:solidFill>
                  <a:latin typeface="+mn-lt"/>
                  <a:ea typeface="+mn-ea"/>
                  <a:cs typeface="+mn-cs"/>
                </a:rPr>
                <a:t>improving, sampling time is</a:t>
              </a:r>
            </a:p>
          </p:txBody>
        </p:sp>
        <p:sp>
          <p:nvSpPr>
            <p:cNvPr id="32" name="TextBox 32"/>
            <p:cNvSpPr txBox="1"/>
            <p:nvPr/>
          </p:nvSpPr>
          <p:spPr>
            <a:xfrm>
              <a:off x="6489764" y="4457462"/>
              <a:ext cx="2683434" cy="242030"/>
            </a:xfrm>
            <a:prstGeom prst="rect">
              <a:avLst/>
            </a:prstGeom>
            <a:noFill/>
            <a:ln>
              <a:noFill/>
            </a:ln>
          </p:spPr>
          <p:txBody>
            <a:bodyPr wrap="none" lIns="0" tIns="0" rIns="0" bIns="0" anchor="t" anchorCtr="0">
              <a:spAutoFit/>
            </a:bodyPr>
            <a:lstStyle/>
            <a:p>
              <a:pPr algn="l"/>
              <a:r>
                <a:rPr lang="en-US" sz="1240" dirty="0">
                  <a:solidFill>
                    <a:srgbClr val="C6D4E2"/>
                  </a:solidFill>
                  <a:latin typeface="+mn-lt"/>
                  <a:ea typeface="+mn-ea"/>
                  <a:cs typeface="+mn-cs"/>
                </a:rPr>
                <a:t>bounded only by the small number</a:t>
              </a:r>
            </a:p>
          </p:txBody>
        </p:sp>
        <p:sp>
          <p:nvSpPr>
            <p:cNvPr id="33" name="TextBox 33"/>
            <p:cNvSpPr txBox="1"/>
            <p:nvPr/>
          </p:nvSpPr>
          <p:spPr>
            <a:xfrm>
              <a:off x="6489764" y="4743212"/>
              <a:ext cx="2672106" cy="242030"/>
            </a:xfrm>
            <a:prstGeom prst="rect">
              <a:avLst/>
            </a:prstGeom>
            <a:noFill/>
            <a:ln>
              <a:noFill/>
            </a:ln>
          </p:spPr>
          <p:txBody>
            <a:bodyPr wrap="none" lIns="0" tIns="0" rIns="0" bIns="0" anchor="t" anchorCtr="0">
              <a:spAutoFit/>
            </a:bodyPr>
            <a:lstStyle/>
            <a:p>
              <a:pPr algn="l"/>
              <a:r>
                <a:rPr lang="en-US" sz="1240" dirty="0">
                  <a:solidFill>
                    <a:srgbClr val="C6D4E2"/>
                  </a:solidFill>
                  <a:latin typeface="+mn-lt"/>
                  <a:ea typeface="+mn-ea"/>
                  <a:cs typeface="+mn-cs"/>
                </a:rPr>
                <a:t>of Picard iterations, pointing to</a:t>
              </a:r>
            </a:p>
          </p:txBody>
        </p:sp>
        <p:sp>
          <p:nvSpPr>
            <p:cNvPr id="34" name="TextBox 34"/>
            <p:cNvSpPr txBox="1"/>
            <p:nvPr/>
          </p:nvSpPr>
          <p:spPr>
            <a:xfrm>
              <a:off x="6489764" y="5028962"/>
              <a:ext cx="2825323" cy="242030"/>
            </a:xfrm>
            <a:prstGeom prst="rect">
              <a:avLst/>
            </a:prstGeom>
            <a:noFill/>
            <a:ln>
              <a:noFill/>
            </a:ln>
          </p:spPr>
          <p:txBody>
            <a:bodyPr wrap="none" lIns="0" tIns="0" rIns="0" bIns="0" anchor="t" anchorCtr="0">
              <a:spAutoFit/>
            </a:bodyPr>
            <a:lstStyle/>
            <a:p>
              <a:pPr algn="l"/>
              <a:r>
                <a:rPr lang="en-US" sz="1240" dirty="0">
                  <a:solidFill>
                    <a:srgbClr val="C6D4E2"/>
                  </a:solidFill>
                  <a:latin typeface="+mn-lt"/>
                  <a:ea typeface="+mn-ea"/>
                  <a:cs typeface="+mn-cs"/>
                </a:rPr>
                <a:t>even faster real-time generation.</a:t>
              </a:r>
            </a:p>
          </p:txBody>
        </p:sp>
      </p:grpSp>
      <p:sp>
        <p:nvSpPr>
          <p:cNvPr id="36" name="TextBox 36"/>
          <p:cNvSpPr txBox="1"/>
          <p:nvPr/>
        </p:nvSpPr>
        <p:spPr>
          <a:xfrm>
            <a:off x="604647" y="6562249"/>
            <a:ext cx="2487873" cy="190690"/>
          </a:xfrm>
          <a:prstGeom prst="rect">
            <a:avLst/>
          </a:prstGeom>
          <a:noFill/>
          <a:ln>
            <a:noFill/>
          </a:ln>
        </p:spPr>
        <p:txBody>
          <a:bodyPr wrap="none" lIns="0" tIns="0" rIns="0" bIns="0" anchor="t" anchorCtr="0">
            <a:spAutoFit/>
          </a:bodyPr>
          <a:lstStyle/>
          <a:p>
            <a:pPr algn="l"/>
            <a:r>
              <a:rPr lang="en-US" sz="980" dirty="0">
                <a:solidFill>
                  <a:srgbClr val="8FA3B8"/>
                </a:solidFill>
                <a:latin typeface="+mn-lt"/>
                <a:ea typeface="+mn-ea"/>
                <a:cs typeface="+mn-cs"/>
              </a:rPr>
              <a:t>ParaDiGMS · Shih et al. · NeurIPS 2023</a:t>
            </a:r>
          </a:p>
        </p:txBody>
      </p:sp>
      <p:sp>
        <p:nvSpPr>
          <p:cNvPr id="37" name="TextBox 37"/>
          <p:cNvSpPr txBox="1"/>
          <p:nvPr/>
        </p:nvSpPr>
        <p:spPr>
          <a:xfrm>
            <a:off x="9868985" y="6562249"/>
            <a:ext cx="1718368" cy="190690"/>
          </a:xfrm>
          <a:prstGeom prst="rect">
            <a:avLst/>
          </a:prstGeom>
          <a:noFill/>
          <a:ln>
            <a:noFill/>
          </a:ln>
        </p:spPr>
        <p:txBody>
          <a:bodyPr wrap="none" lIns="0" tIns="0" rIns="0" bIns="0" anchor="t" anchorCtr="0">
            <a:spAutoFit/>
          </a:bodyPr>
          <a:lstStyle/>
          <a:p>
            <a:pPr algn="r"/>
            <a:r>
              <a:rPr lang="en-US" sz="980" dirty="0">
                <a:solidFill>
                  <a:srgbClr val="8FA3B8"/>
                </a:solidFill>
                <a:latin typeface="+mn-lt"/>
                <a:ea typeface="+mn-ea"/>
                <a:cs typeface="+mn-cs"/>
              </a:rPr>
              <a:t>arxiv.org/abs/2305.16317</a:t>
            </a:r>
          </a:p>
        </p:txBody>
      </p:sp>
      <p:sp>
        <p:nvSpPr>
          <p:cNvPr id="38" name="cue_s10_c1_lasting_takeaway_new_axis_accelerati" title="cue_s10_c1_lasting_takeaway_new_axis_accelerati" descr="cue_s10_c1_lasting_takeaway_new_axis_accelerati The lasting takeaway is a new axis for accelerating diffusion models."/>
          <p:cNvSpPr/>
          <p:nvPr/>
        </p:nvSpPr>
        <p:spPr>
          <a:xfrm>
            <a:off x="609600" y="1428521"/>
            <a:ext cx="109728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10_c2_rather_sacrificing_quality_taking_fe" title="cue_s10_c2_rather_sacrificing_quality_taking_fe" descr="cue_s10_c2_rather_sacrificing_quality_taking_fe Rather than sacrificing quality by taking fewer steps, ParaDiGMS spends parallel compute to run all the steps faster, cutting sampling latency by two to four times with no loss in quality, and it composes with the fast samplers people already use."/>
          <p:cNvSpPr/>
          <p:nvPr/>
        </p:nvSpPr>
        <p:spPr>
          <a:xfrm>
            <a:off x="609600" y="3105302"/>
            <a:ext cx="5371795"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10_c3_looking_forward_parallel_hardware_ke" title="cue_s10_c3_looking_forward_parallel_hardware_ke" descr="cue_s10_c3_looking_forward_parallel_hardware_ke Looking forward, as parallel hardware keeps improving, sampling time will be limited only by the small number of Picard iterations, pointing toward even faster real-time generation."/>
          <p:cNvSpPr/>
          <p:nvPr/>
        </p:nvSpPr>
        <p:spPr>
          <a:xfrm>
            <a:off x="6210604" y="3105302"/>
            <a:ext cx="5371795"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ppt_project">
  <a:themeElements>
    <a:clrScheme name="ppt_project">
      <a:dk1>
        <a:srgbClr val="EEF4FA"/>
      </a:dk1>
      <a:lt1>
        <a:srgbClr val="FFFFFF"/>
      </a:lt1>
      <a:dk2>
        <a:srgbClr val="EEF4FA"/>
      </a:dk2>
      <a:lt2>
        <a:srgbClr val="EEECE1"/>
      </a:lt2>
      <a:accent1>
        <a:srgbClr val="4F9DFF"/>
      </a:accent1>
      <a:accent2>
        <a:srgbClr val="4F9DFF"/>
      </a:accent2>
      <a:accent3>
        <a:srgbClr val="4F9DFF"/>
      </a:accent3>
      <a:accent4>
        <a:srgbClr val="30465B"/>
      </a:accent4>
      <a:accent5>
        <a:srgbClr val="0E1621"/>
      </a:accent5>
      <a:accent6>
        <a:srgbClr val="0B1119"/>
      </a:accent6>
      <a:hlink>
        <a:srgbClr val="4F9DFF"/>
      </a:hlink>
      <a:folHlink>
        <a:srgbClr val="4F9DFF"/>
      </a:folHlink>
    </a:clrScheme>
    <a:fontScheme name="ppt_project">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_projec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2026-07-15T16:59:38Z</dcterms:created>
  <dcterms:modified xsi:type="dcterms:W3CDTF">2026-07-15T16:59:38Z</dcterms:modified>
  <cp:category/>
  <cp:contentStatus/>
</cp:coreProperties>
</file>
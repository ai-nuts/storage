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281646"/>
            <a:ext cx="11465460" cy="8079343"/>
          </a:xfrm>
          <a:prstGeom prst="roundRect">
            <a:avLst>
              <a:gd name="adj" fmla="val 1026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544067" y="4281646"/>
            <a:ext cx="25693489" cy="14761706"/>
          </a:xfrm>
          <a:prstGeom prst="roundRect">
            <a:avLst>
              <a:gd name="adj" fmla="val 562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664276" y="4281646"/>
            <a:ext cx="11890236" cy="4962981"/>
          </a:xfrm>
          <a:prstGeom prst="roundRect">
            <a:avLst>
              <a:gd name="adj" fmla="val 1671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664276" y="9576474"/>
            <a:ext cx="11890236" cy="5937826"/>
          </a:xfrm>
          <a:prstGeom prst="roundRect">
            <a:avLst>
              <a:gd name="adj" fmla="val 1397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2692836"/>
            <a:ext cx="11465460" cy="17379116"/>
          </a:xfrm>
          <a:prstGeom prst="roundRect">
            <a:avLst>
              <a:gd name="adj" fmla="val 723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664276" y="15846147"/>
            <a:ext cx="11890236" cy="8366601"/>
          </a:xfrm>
          <a:prstGeom prst="roundRect">
            <a:avLst>
              <a:gd name="adj" fmla="val 991"/>
            </a:avLst>
          </a:prstGeom>
          <a:solidFill>
            <a:srgbClr val="F7F0E8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664276" y="15846147"/>
            <a:ext cx="53340" cy="8366601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64276" y="24544595"/>
            <a:ext cx="11890236" cy="5527357"/>
          </a:xfrm>
          <a:prstGeom prst="roundRect">
            <a:avLst>
              <a:gd name="adj" fmla="val 1501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c-mer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179" y="1242938"/>
            <a:ext cx="797461" cy="880099"/>
          </a:xfrm>
          <a:prstGeom prst="rect">
            <a:avLst/>
          </a:prstGeom>
        </p:spPr>
      </p:pic>
      <p:pic>
        <p:nvPicPr>
          <p:cNvPr id="12" name="Picture 11" descr="carnegie-mellon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614" y="1242933"/>
            <a:ext cx="9846230" cy="880110"/>
          </a:xfrm>
          <a:prstGeom prst="rect">
            <a:avLst/>
          </a:prstGeom>
        </p:spPr>
      </p:pic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6355" y="1257814"/>
            <a:ext cx="6526649" cy="1896450"/>
          </a:xfrm>
          <a:prstGeom prst="rect">
            <a:avLst/>
          </a:prstGeom>
        </p:spPr>
      </p:pic>
      <p:pic>
        <p:nvPicPr>
          <p:cNvPr id="14" name="Picture 13" descr="snap-i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59" y="2288897"/>
            <a:ext cx="3560445" cy="880110"/>
          </a:xfrm>
          <a:prstGeom prst="rect">
            <a:avLst/>
          </a:prstGeom>
        </p:spPr>
      </p:pic>
      <p:pic>
        <p:nvPicPr>
          <p:cNvPr id="15" name="Picture 14" descr="yonsei-univer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7178" y="2288906"/>
            <a:ext cx="4441389" cy="880091"/>
          </a:xfrm>
          <a:prstGeom prst="rect">
            <a:avLst/>
          </a:prstGeom>
        </p:spPr>
      </p:pic>
      <p:pic>
        <p:nvPicPr>
          <p:cNvPr id="16" name="Picture 15" descr="goog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5541" y="2288906"/>
            <a:ext cx="2897862" cy="880091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9052380" y="5772110"/>
            <a:ext cx="11114028" cy="3223736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8890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9813865"/>
            <a:ext cx="10689252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9813865"/>
            <a:ext cx="124460" cy="2159020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096830" y="17349807"/>
            <a:ext cx="11069578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096830" y="17349807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544067" y="19375199"/>
            <a:ext cx="12680752" cy="10696753"/>
          </a:xfrm>
          <a:prstGeom prst="roundRect">
            <a:avLst>
              <a:gd name="adj" fmla="val 775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556666" y="19375199"/>
            <a:ext cx="12680890" cy="10696753"/>
          </a:xfrm>
          <a:prstGeom prst="roundRect">
            <a:avLst>
              <a:gd name="adj" fmla="val 775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9991" y="20042643"/>
            <a:ext cx="10689252" cy="3681988"/>
          </a:xfrm>
          <a:prstGeom prst="roundRect">
            <a:avLst>
              <a:gd name="adj" fmla="val 5665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46766" y="5994360"/>
            <a:ext cx="4673778" cy="28267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46766" y="5994360"/>
            <a:ext cx="11557" cy="2826742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9586336" y="17506215"/>
            <a:ext cx="2260421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UNLOCKS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3881" y="24463890"/>
            <a:ext cx="10661472" cy="3384590"/>
          </a:xfrm>
          <a:prstGeom prst="roundRect">
            <a:avLst>
              <a:gd name="adj" fmla="val 105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037" y="24463890"/>
            <a:ext cx="10661159" cy="338459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25944770" y="24692947"/>
            <a:ext cx="11904682" cy="1252101"/>
          </a:xfrm>
          <a:prstGeom prst="roundRect">
            <a:avLst>
              <a:gd name="adj" fmla="val 50000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917197" y="25643760"/>
            <a:ext cx="7384256" cy="4040088"/>
          </a:xfrm>
          <a:prstGeom prst="roundRect">
            <a:avLst>
              <a:gd name="adj" fmla="val 5281"/>
            </a:avLst>
          </a:prstGeom>
          <a:solidFill>
            <a:srgbClr val="F6ECE1"/>
          </a:solidFill>
          <a:ln w="17780">
            <a:solidFill>
              <a:srgbClr val="A25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944770" y="26226055"/>
            <a:ext cx="11904682" cy="29111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944770" y="26226055"/>
            <a:ext cx="11904682" cy="11557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679626" y="9216151"/>
            <a:ext cx="23422233" cy="7780278"/>
          </a:xfrm>
          <a:prstGeom prst="roundRect">
            <a:avLst>
              <a:gd name="adj" fmla="val 45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rch_over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79763" y="9216151"/>
            <a:ext cx="23421959" cy="778027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2932171" y="27462876"/>
            <a:ext cx="5586949" cy="819825"/>
          </a:xfrm>
          <a:prstGeom prst="roundRect">
            <a:avLst>
              <a:gd name="adj" fmla="val 50000"/>
            </a:avLst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8675528" y="27462876"/>
            <a:ext cx="4208721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Places365 · 62.5K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32171" y="28439110"/>
            <a:ext cx="5119529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Flickr-Scenery · 54.7K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08109" y="28439110"/>
            <a:ext cx="5255101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train: 101×101 patches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944770" y="23462376"/>
            <a:ext cx="11904682" cy="945119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2154296" y="25866982"/>
            <a:ext cx="1425317" cy="48811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682098" y="25866982"/>
            <a:ext cx="1339195" cy="488117"/>
          </a:xfrm>
          <a:prstGeom prst="roundRect">
            <a:avLst>
              <a:gd name="adj" fmla="val 50000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385311" y="26497339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ap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03844" y="26615872"/>
            <a:ext cx="2726221" cy="2726221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44870052" y="26497339"/>
            <a:ext cx="2963287" cy="2963287"/>
          </a:xfrm>
          <a:prstGeom prst="roundRect">
            <a:avLst>
              <a:gd name="adj" fmla="val 52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co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88585" y="26615872"/>
            <a:ext cx="2726221" cy="2726221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25944770" y="20865663"/>
            <a:ext cx="6504563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5944770" y="21563250"/>
            <a:ext cx="6504563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449333" y="20865663"/>
            <a:ext cx="2699921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449333" y="21563250"/>
            <a:ext cx="269992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5149254" y="20865663"/>
            <a:ext cx="2700198" cy="706477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149254" y="21563250"/>
            <a:ext cx="2700198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944770" y="21572140"/>
            <a:ext cx="65045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944770" y="22508368"/>
            <a:ext cx="6504563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449333" y="21572140"/>
            <a:ext cx="269992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449333" y="22508368"/>
            <a:ext cx="269992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149254" y="21572140"/>
            <a:ext cx="27001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149254" y="22508368"/>
            <a:ext cx="2700198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944770" y="22517258"/>
            <a:ext cx="6504563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944770" y="23453486"/>
            <a:ext cx="6504563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449333" y="22517258"/>
            <a:ext cx="269992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449333" y="23453486"/>
            <a:ext cx="269992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149254" y="22517258"/>
            <a:ext cx="270019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149254" y="23453486"/>
            <a:ext cx="2700198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944770" y="23462376"/>
            <a:ext cx="6504563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944770" y="24398605"/>
            <a:ext cx="6504563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449333" y="23462376"/>
            <a:ext cx="269992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449333" y="24398605"/>
            <a:ext cx="2699921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149254" y="23462376"/>
            <a:ext cx="270019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5149254" y="24398605"/>
            <a:ext cx="2700198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InfinityGAN: Towards Infinite-Pixel Image Synthesis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Chieh Hubert Lin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Hsin-Ying Lee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Yen-Chi Cheng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733" b="0">
                <a:solidFill>
                  <a:srgbClr val="1B2331"/>
                </a:solidFill>
                <a:latin typeface="Arial"/>
              </a:rPr>
              <a:t>, Sergey Tulyakov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Ming-Hsuan Yang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1,4,5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UC Merced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Snap Inc.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Carnegie Mellon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Yonsei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Google Research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4669750"/>
            <a:ext cx="1100992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Problem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932171" y="4669750"/>
            <a:ext cx="25344001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Method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052380" y="4669750"/>
            <a:ext cx="11447448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Headline Numbers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91" y="5772110"/>
            <a:ext cx="11009929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Generating arbitrarily large — even infinite-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pixel — images is bottlenecked because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existing high-resolution GANs tie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computation, memory, and training-data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field-of-view</a:t>
            </a:r>
            <a:r>
              <a:rPr sz="4106" b="0">
                <a:solidFill>
                  <a:srgbClr val="1C1C1C"/>
                </a:solidFill>
                <a:latin typeface="Arial"/>
              </a:rPr>
              <a:t> directly to the output resolution.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91" y="9813865"/>
            <a:ext cx="11009929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Compute, memory, and field-of-view all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scale with resolution — so generators stay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locked to the size they trained at.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052380" y="9964578"/>
            <a:ext cx="1144744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Ablation Study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991" y="13080940"/>
            <a:ext cx="1100992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Motivation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096830" y="16234251"/>
            <a:ext cx="1140166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Takeaway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991" y="20042643"/>
            <a:ext cx="11009929" cy="4234286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When the border is infinitely far away,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padding-derived position cues cannot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generalize — image centers fill with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drastically repetitive, structurally broken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texture.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096830" y="20791626"/>
            <a:ext cx="1140166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Disentangling global appearance, structure,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and texture — and dropping all padding — lets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InfinityGAN tile independent yet consistent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patches into images of any size.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052362" y="11066938"/>
            <a:ext cx="1144746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Strip </a:t>
            </a:r>
            <a:r>
              <a:rPr sz="4106" b="1">
                <a:solidFill>
                  <a:srgbClr val="111111"/>
                </a:solidFill>
                <a:latin typeface="Arial"/>
              </a:rPr>
              <a:t>all padding</a:t>
            </a:r>
            <a:r>
              <a:rPr sz="4106" b="0">
                <a:solidFill>
                  <a:srgbClr val="1C1C1C"/>
                </a:solidFill>
                <a:latin typeface="Arial"/>
              </a:rPr>
              <a:t> from StyleGAN2+NCI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structure collapses: ScaleInv FID 79.83 →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211.22</a:t>
            </a:r>
            <a:r>
              <a:rPr sz="4106" b="0">
                <a:solidFill>
                  <a:srgbClr val="1C1C1C"/>
                </a:solidFill>
                <a:latin typeface="Arial"/>
              </a:rPr>
              <a:t> at 4×.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9052362" y="13518078"/>
            <a:ext cx="11447467" cy="18370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Restore position through the implicit </a:t>
            </a:r>
            <a:r>
              <a:rPr sz="4106" b="1">
                <a:solidFill>
                  <a:srgbClr val="111111"/>
                </a:solidFill>
                <a:latin typeface="Arial"/>
              </a:rPr>
              <a:t>G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S</a:t>
            </a:r>
            <a:r>
              <a:rPr sz="4106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quality recovers: 211.22 → </a:t>
            </a:r>
            <a:r>
              <a:rPr sz="4106" b="1">
                <a:solidFill>
                  <a:srgbClr val="111111"/>
                </a:solidFill>
                <a:latin typeface="Arial"/>
              </a:rPr>
              <a:t>61.41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39972" y="14661832"/>
            <a:ext cx="11009949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Large images must stay </a:t>
            </a:r>
            <a:r>
              <a:rPr sz="4106" b="1">
                <a:solidFill>
                  <a:srgbClr val="111111"/>
                </a:solidFill>
                <a:latin typeface="Arial"/>
              </a:rPr>
              <a:t>locally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globally consistent</a:t>
            </a:r>
            <a:r>
              <a:rPr sz="4106" b="0">
                <a:solidFill>
                  <a:srgbClr val="1C1C1C"/>
                </a:solidFill>
                <a:latin typeface="Arial"/>
              </a:rPr>
              <a:t>, avoid repetitive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patterns, and look realistic.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39972" y="17112972"/>
            <a:ext cx="11009949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Yet prior generators lean on </a:t>
            </a:r>
            <a:r>
              <a:rPr sz="4106" b="1">
                <a:solidFill>
                  <a:srgbClr val="111111"/>
                </a:solidFill>
                <a:latin typeface="Arial"/>
              </a:rPr>
              <a:t>zero-padding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for positional cues that break down once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the output size differs from training.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586336" y="18353405"/>
            <a:ext cx="10521477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same design enables spatial style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fusion, multi-modal outpainting,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arbitrary-length panorama &amp; inbetweening.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932171" y="19763303"/>
            <a:ext cx="12261680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Dataset / Benchmark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944770" y="19763303"/>
            <a:ext cx="1226182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Key Results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944770" y="24692947"/>
            <a:ext cx="12261822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A2521C"/>
                </a:solidFill>
                <a:latin typeface="Arial"/>
              </a:rPr>
              <a:t>−18.4 ScaleInv FID vs. best baseline at 4×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07610" y="24932699"/>
            <a:ext cx="3093532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A2521C"/>
                </a:solidFill>
                <a:latin typeface="Arial"/>
              </a:rPr>
              <a:t>Scan to Read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944770" y="26226055"/>
            <a:ext cx="12261822" cy="334787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Beyond 4× extension InfinityGAN beats the strongest baseline while holding constant O(1) memory as the output size grows, and over 90% of a user study preferred its results.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80323" y="27998082"/>
            <a:ext cx="10102702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Conventional generators (left) leak inconsistent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pixels from zero-padding; the padding-free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generator (right) stays consistent at any position.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932153" y="5887680"/>
            <a:ext cx="19925981" cy="1546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Structure synthesizer</a:t>
            </a:r>
            <a:r>
              <a:rPr sz="4106" b="0">
                <a:solidFill>
                  <a:srgbClr val="1C1C1C"/>
                </a:solidFill>
                <a:latin typeface="Arial"/>
              </a:rPr>
              <a:t> G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S</a:t>
            </a:r>
            <a:r>
              <a:rPr sz="4106" b="0">
                <a:solidFill>
                  <a:srgbClr val="1C1C1C"/>
                </a:solidFill>
                <a:latin typeface="Arial"/>
              </a:rPr>
              <a:t>, a coordinate-driven neural implicit function, computes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from global, local, and coordinate inputs.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298245" y="5994360"/>
            <a:ext cx="5536083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A2521C"/>
                </a:solidFill>
                <a:latin typeface="Arial"/>
              </a:rPr>
              <a:t>61.41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9298245" y="7369254"/>
            <a:ext cx="5536083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ScaleInv FID · 4×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extension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932153" y="7497603"/>
            <a:ext cx="24852430" cy="15046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Padding-free texture synthesizer</a:t>
            </a:r>
            <a:r>
              <a:rPr sz="4106" b="0">
                <a:solidFill>
                  <a:srgbClr val="1C1C1C"/>
                </a:solidFill>
                <a:latin typeface="Arial"/>
              </a:rPr>
              <a:t> renders each patch </a:t>
            </a:r>
            <a:r>
              <a:rPr sz="4106" b="0">
                <a:solidFill>
                  <a:srgbClr val="1C1C1C"/>
                </a:solidFill>
                <a:latin typeface="Arial"/>
              </a:rPr>
              <a:t>                                   </a:t>
            </a:r>
            <a:r>
              <a:rPr sz="4106" b="0">
                <a:solidFill>
                  <a:srgbClr val="1C1C1C"/>
                </a:solidFill>
                <a:latin typeface="Arial"/>
              </a:rPr>
              <a:t> with all position encoding removed — so patches at the same coordinate are </a:t>
            </a:r>
            <a:r>
              <a:rPr sz="4106" b="1">
                <a:solidFill>
                  <a:srgbClr val="111111"/>
                </a:solidFill>
                <a:latin typeface="Arial"/>
              </a:rPr>
              <a:t>identical</a:t>
            </a:r>
            <a:r>
              <a:rPr sz="4106" b="0">
                <a:solidFill>
                  <a:srgbClr val="1C1C1C"/>
                </a:solidFill>
                <a:latin typeface="Arial"/>
              </a:rPr>
              <a:t> and tile seamlessly at </a:t>
            </a:r>
            <a:r>
              <a:rPr sz="4106" b="1">
                <a:solidFill>
                  <a:srgbClr val="111111"/>
                </a:solidFill>
                <a:latin typeface="Arial"/>
              </a:rPr>
              <a:t>O(1) memory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298245" y="8412162"/>
            <a:ext cx="5536083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 79.83 best baseline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616549" y="17146031"/>
            <a:ext cx="21975107" cy="1362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Overview: structure synthesizer G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S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and padding-free texture synthesizer G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T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synthesize arbitrary-size images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from latents, coordinates, and noise.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932153" y="20865663"/>
            <a:ext cx="12261698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Flickr-Landscape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new dataset of </a:t>
            </a:r>
            <a:r>
              <a:rPr sz="4106" b="1">
                <a:solidFill>
                  <a:srgbClr val="111111"/>
                </a:solidFill>
                <a:latin typeface="Arial"/>
              </a:rPr>
              <a:t>450,000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high-quality landscape images — evaluates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arbitrary-size synthesis.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932153" y="23316803"/>
            <a:ext cx="12261698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Outpainting uses </a:t>
            </a:r>
            <a:r>
              <a:rPr sz="4106" b="1">
                <a:solidFill>
                  <a:srgbClr val="111111"/>
                </a:solidFill>
                <a:latin typeface="Arial"/>
              </a:rPr>
              <a:t>Places365</a:t>
            </a:r>
            <a:r>
              <a:rPr sz="4106" b="0">
                <a:solidFill>
                  <a:srgbClr val="1C1C1C"/>
                </a:solidFill>
                <a:latin typeface="Arial"/>
              </a:rPr>
              <a:t> (62.5K) and </a:t>
            </a:r>
            <a:r>
              <a:rPr sz="4106" b="1">
                <a:solidFill>
                  <a:srgbClr val="111111"/>
                </a:solidFill>
                <a:latin typeface="Arial"/>
              </a:rPr>
              <a:t>Flickr-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Scenery</a:t>
            </a:r>
            <a:r>
              <a:rPr sz="4106" b="0">
                <a:solidFill>
                  <a:srgbClr val="1C1C1C"/>
                </a:solidFill>
                <a:latin typeface="Arial"/>
              </a:rPr>
              <a:t> (54.7K); all models train on 101×101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patches cropped from 197×197 real images.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932153" y="25767942"/>
            <a:ext cx="12261698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Training and inference at </a:t>
            </a:r>
            <a:r>
              <a:rPr sz="4106" b="1">
                <a:solidFill>
                  <a:srgbClr val="111111"/>
                </a:solidFill>
                <a:latin typeface="Arial"/>
              </a:rPr>
              <a:t>any size</a:t>
            </a:r>
            <a:r>
              <a:rPr sz="4106" b="0">
                <a:solidFill>
                  <a:srgbClr val="1C1C1C"/>
                </a:solidFill>
                <a:latin typeface="Arial"/>
              </a:rPr>
              <a:t> run on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single GTX TITAN X GPU at </a:t>
            </a:r>
            <a:r>
              <a:rPr sz="4106" b="1">
                <a:solidFill>
                  <a:srgbClr val="111111"/>
                </a:solidFill>
                <a:latin typeface="Arial"/>
              </a:rPr>
              <a:t>constant memory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5020" y="5994360"/>
            <a:ext cx="142944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&gt;90%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295355" y="6127710"/>
            <a:ext cx="270394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human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preference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725020" y="7241877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7.20×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259934" y="7375227"/>
            <a:ext cx="252453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faster inference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725020" y="8161853"/>
            <a:ext cx="110066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O(1)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76149" y="8295203"/>
            <a:ext cx="299195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memory · any size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5944770" y="20865663"/>
            <a:ext cx="6699699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SCALEINV FID ↓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449333" y="20865663"/>
            <a:ext cx="2780918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4×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149254" y="20865663"/>
            <a:ext cx="2781203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8×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944770" y="21572140"/>
            <a:ext cx="669969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SinGAN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449333" y="21572140"/>
            <a:ext cx="278091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145.12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149254" y="21572140"/>
            <a:ext cx="278120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210.22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5944770" y="22517258"/>
            <a:ext cx="6699699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StyleGAN2+NCI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449333" y="22517258"/>
            <a:ext cx="2780918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79.83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5149254" y="22517258"/>
            <a:ext cx="2781203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189.65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5944770" y="23462376"/>
            <a:ext cx="6699699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InfinityGAN (Ours)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449333" y="23462376"/>
            <a:ext cx="2780918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61.41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5149254" y="23462376"/>
            <a:ext cx="2781203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121.18</a:t>
            </a:r>
          </a:p>
        </p:txBody>
      </p:sp>
      <p:pic>
        <p:nvPicPr>
          <p:cNvPr id="122" name="Picture 121" descr="eq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31414" y="5781000"/>
            <a:ext cx="4656138" cy="737870"/>
          </a:xfrm>
          <a:prstGeom prst="rect">
            <a:avLst/>
          </a:prstGeom>
        </p:spPr>
      </p:pic>
      <p:pic>
        <p:nvPicPr>
          <p:cNvPr id="123" name="Picture 122" descr="eq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344820" y="7390923"/>
            <a:ext cx="5070495" cy="7378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
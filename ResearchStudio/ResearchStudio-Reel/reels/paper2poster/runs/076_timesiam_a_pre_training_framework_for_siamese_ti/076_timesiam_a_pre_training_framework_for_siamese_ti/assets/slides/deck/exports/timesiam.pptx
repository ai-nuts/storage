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2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1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0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9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8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100" kern="1200">
          <a:solidFill>
            <a:schemeClr val="tx1"/>
          </a:solidFill>
          <a:latin typeface="+mn-lt"/>
          <a:ea typeface="+mn-ea"/>
          <a:cs typeface="+mn-cs"/>
        </a:defRPr>
      </a:lvl1pPr>
      <a:lvl2pPr marL="457200" algn="l" defTabSz="457200" rtl="0" eaLnBrk="1" latinLnBrk="0" hangingPunct="1">
        <a:defRPr sz="1050" kern="1200">
          <a:solidFill>
            <a:schemeClr val="tx1"/>
          </a:solidFill>
          <a:latin typeface="+mn-lt"/>
          <a:ea typeface="+mn-ea"/>
          <a:cs typeface="+mn-cs"/>
        </a:defRPr>
      </a:lvl2pPr>
      <a:lvl3pPr marL="914400" algn="l" defTabSz="457200" rtl="0" eaLnBrk="1" latinLnBrk="0" hangingPunct="1">
        <a:defRPr sz="1000" kern="1200">
          <a:solidFill>
            <a:schemeClr val="tx1"/>
          </a:solidFill>
          <a:latin typeface="+mn-lt"/>
          <a:ea typeface="+mn-ea"/>
          <a:cs typeface="+mn-cs"/>
        </a:defRPr>
      </a:lvl3pPr>
      <a:lvl4pPr marL="1371600" algn="l" defTabSz="457200" rtl="0" eaLnBrk="1" latinLnBrk="0" hangingPunct="1">
        <a:defRPr sz="900" kern="1200">
          <a:solidFill>
            <a:schemeClr val="tx1"/>
          </a:solidFill>
          <a:latin typeface="+mn-lt"/>
          <a:ea typeface="+mn-ea"/>
          <a:cs typeface="+mn-cs"/>
        </a:defRPr>
      </a:lvl4pPr>
      <a:lvl5pPr marL="1828800" algn="l" defTabSz="457200" rtl="0" eaLnBrk="1" latinLnBrk="0" hangingPunct="1">
        <a:defRPr sz="850" kern="1200">
          <a:solidFill>
            <a:schemeClr val="tx1"/>
          </a:solidFill>
          <a:latin typeface="+mn-lt"/>
          <a:ea typeface="+mn-ea"/>
          <a:cs typeface="+mn-cs"/>
        </a:defRPr>
      </a:lvl5pPr>
      <a:lvl6pPr marL="2286000" algn="l" defTabSz="457200" rtl="0" eaLnBrk="1" latinLnBrk="0" hangingPunct="1">
        <a:defRPr sz="8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04266" y="572452"/>
            <a:ext cx="995911" cy="205359"/>
          </a:xfrm>
          <a:prstGeom prst="rect">
            <a:avLst/>
          </a:prstGeom>
          <a:noFill/>
          <a:ln>
            <a:noFill/>
          </a:ln>
        </p:spPr>
        <p:txBody>
          <a:bodyPr wrap="none" lIns="0" tIns="0" rIns="0" bIns="0" anchor="t" anchorCtr="0">
            <a:spAutoFit/>
          </a:bodyPr>
          <a:lstStyle/>
          <a:p>
            <a:pPr algn="l"/>
            <a:r>
              <a:rPr lang="en-US" sz="1050" b="1" spc="225" dirty="0">
                <a:solidFill>
                  <a:schemeClr val="accent2"/>
                </a:solidFill>
                <a:latin typeface="+mn-lt"/>
                <a:ea typeface="+mn-ea"/>
                <a:cs typeface="+mn-cs"/>
              </a:rPr>
              <a:t>ICML 2024</a:t>
            </a:r>
          </a:p>
        </p:txBody>
      </p:sp>
      <p:sp>
        <p:nvSpPr>
          <p:cNvPr id="3" name="TextBox 3"/>
          <p:cNvSpPr txBox="1"/>
          <p:nvPr/>
        </p:nvSpPr>
        <p:spPr>
          <a:xfrm>
            <a:off x="7142541" y="576501"/>
            <a:ext cx="4445003" cy="198025"/>
          </a:xfrm>
          <a:prstGeom prst="rect">
            <a:avLst/>
          </a:prstGeom>
          <a:noFill/>
          <a:ln>
            <a:noFill/>
          </a:ln>
        </p:spPr>
        <p:txBody>
          <a:bodyPr wrap="none" lIns="0" tIns="0" rIns="0" bIns="0" anchor="t" anchorCtr="0">
            <a:spAutoFit/>
          </a:bodyPr>
          <a:lstStyle/>
          <a:p>
            <a:pPr algn="r"/>
            <a:r>
              <a:rPr lang="en-US" sz="1010" b="1" dirty="0">
                <a:solidFill>
                  <a:schemeClr val="dk2"/>
                </a:solidFill>
                <a:latin typeface="+mn-lt"/>
                <a:ea typeface="+mn-ea"/>
                <a:cs typeface="+mn-cs"/>
              </a:rPr>
              <a:t>Tsinghua University · Self-Supervised Time-Series Pre-Training</a:t>
            </a:r>
          </a:p>
        </p:txBody>
      </p:sp>
      <p:sp>
        <p:nvSpPr>
          <p:cNvPr id="4" name="Line 4"/>
          <p:cNvSpPr/>
          <p:nvPr/>
        </p:nvSpPr>
        <p:spPr>
          <a:xfrm>
            <a:off x="609600" y="8382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5" name="TextBox 5"/>
          <p:cNvSpPr txBox="1"/>
          <p:nvPr/>
        </p:nvSpPr>
        <p:spPr>
          <a:xfrm>
            <a:off x="593598" y="1088708"/>
            <a:ext cx="1973697" cy="616077"/>
          </a:xfrm>
          <a:prstGeom prst="rect">
            <a:avLst/>
          </a:prstGeom>
          <a:noFill/>
          <a:ln>
            <a:noFill/>
          </a:ln>
        </p:spPr>
        <p:txBody>
          <a:bodyPr wrap="none" lIns="0" tIns="0" rIns="0" bIns="0" anchor="t" anchorCtr="0">
            <a:spAutoFit/>
          </a:bodyPr>
          <a:lstStyle/>
          <a:p>
            <a:pPr algn="l"/>
            <a:r>
              <a:rPr lang="en-US" sz="3150" b="1" dirty="0">
                <a:solidFill>
                  <a:srgbClr val="FFFFFF"/>
                </a:solidFill>
                <a:latin typeface="+mn-lt"/>
                <a:ea typeface="+mn-ea"/>
                <a:cs typeface="+mn-cs"/>
              </a:rPr>
              <a:t>TimeSiam</a:t>
            </a:r>
          </a:p>
        </p:txBody>
      </p:sp>
      <p:sp>
        <p:nvSpPr>
          <p:cNvPr id="6" name="TextBox 6"/>
          <p:cNvSpPr txBox="1"/>
          <p:nvPr/>
        </p:nvSpPr>
        <p:spPr>
          <a:xfrm>
            <a:off x="600075" y="1683544"/>
            <a:ext cx="7823545" cy="366712"/>
          </a:xfrm>
          <a:prstGeom prst="rect">
            <a:avLst/>
          </a:prstGeom>
          <a:noFill/>
          <a:ln>
            <a:noFill/>
          </a:ln>
        </p:spPr>
        <p:txBody>
          <a:bodyPr wrap="none" lIns="0" tIns="0" rIns="0" bIns="0" anchor="t" anchorCtr="0">
            <a:spAutoFit/>
          </a:bodyPr>
          <a:lstStyle/>
          <a:p>
            <a:pPr algn="l"/>
            <a:r>
              <a:rPr lang="en-US" sz="1880" b="1" dirty="0">
                <a:solidFill>
                  <a:schemeClr val="accent2"/>
                </a:solidFill>
                <a:latin typeface="+mn-lt"/>
                <a:ea typeface="+mn-ea"/>
                <a:cs typeface="+mn-cs"/>
              </a:rPr>
              <a:t>A Pre-Training Framework for Siamese Time-Series Modeling</a:t>
            </a:r>
          </a:p>
        </p:txBody>
      </p:sp>
      <p:sp>
        <p:nvSpPr>
          <p:cNvPr id="7" name="Rectangle 7"/>
          <p:cNvSpPr/>
          <p:nvPr/>
        </p:nvSpPr>
        <p:spPr>
          <a:xfrm>
            <a:off x="9010650" y="1104900"/>
            <a:ext cx="2533650" cy="495300"/>
          </a:xfrm>
          <a:prstGeom prst="roundRect">
            <a:avLst>
              <a:gd name="adj" fmla="val 15385"/>
            </a:avLst>
          </a:prstGeom>
          <a:solidFill>
            <a:srgbClr val="0E2334"/>
          </a:solidFill>
          <a:ln w="14288">
            <a:solidFill>
              <a:srgbClr val="26455F"/>
            </a:solidFill>
          </a:ln>
        </p:spPr>
        <p:txBody>
          <a:bodyPr/>
          <a:p/>
        </p:txBody>
      </p:sp>
      <p:sp>
        <p:nvSpPr>
          <p:cNvPr id="8" name="Polyline 8"/>
          <p:cNvSpPr/>
          <p:nvPr/>
        </p:nvSpPr>
        <p:spPr>
          <a:xfrm>
            <a:off x="9086850" y="1230630"/>
            <a:ext cx="2381250" cy="269558"/>
          </a:xfrm>
          <a:custGeom>
            <a:avLst/>
            <a:gdLst/>
            <a:ahLst/>
            <a:cxnLst/>
            <a:rect l="l" t="t" r="r" b="b"/>
            <a:pathLst>
              <a:path w="2381250" h="269558">
                <a:moveTo>
                  <a:pt x="0" y="86678"/>
                </a:moveTo>
                <a:lnTo>
                  <a:pt x="37147" y="59055"/>
                </a:lnTo>
                <a:lnTo>
                  <a:pt x="74295" y="35243"/>
                </a:lnTo>
                <a:lnTo>
                  <a:pt x="111443" y="16193"/>
                </a:lnTo>
                <a:lnTo>
                  <a:pt x="148590" y="4762"/>
                </a:lnTo>
                <a:lnTo>
                  <a:pt x="185738" y="0"/>
                </a:lnTo>
                <a:lnTo>
                  <a:pt x="222885" y="953"/>
                </a:lnTo>
                <a:lnTo>
                  <a:pt x="260032" y="7620"/>
                </a:lnTo>
                <a:lnTo>
                  <a:pt x="297180" y="19050"/>
                </a:lnTo>
                <a:lnTo>
                  <a:pt x="335280" y="32385"/>
                </a:lnTo>
                <a:lnTo>
                  <a:pt x="372428" y="45720"/>
                </a:lnTo>
                <a:lnTo>
                  <a:pt x="409575" y="59055"/>
                </a:lnTo>
                <a:lnTo>
                  <a:pt x="446722" y="70485"/>
                </a:lnTo>
                <a:lnTo>
                  <a:pt x="483870" y="78105"/>
                </a:lnTo>
                <a:lnTo>
                  <a:pt x="521018" y="82868"/>
                </a:lnTo>
                <a:lnTo>
                  <a:pt x="558165" y="84773"/>
                </a:lnTo>
                <a:lnTo>
                  <a:pt x="595312" y="83820"/>
                </a:lnTo>
                <a:lnTo>
                  <a:pt x="632460" y="82868"/>
                </a:lnTo>
                <a:lnTo>
                  <a:pt x="669607" y="81915"/>
                </a:lnTo>
                <a:lnTo>
                  <a:pt x="706755" y="82868"/>
                </a:lnTo>
                <a:lnTo>
                  <a:pt x="743902" y="86678"/>
                </a:lnTo>
                <a:lnTo>
                  <a:pt x="781050" y="95250"/>
                </a:lnTo>
                <a:lnTo>
                  <a:pt x="818198" y="107633"/>
                </a:lnTo>
                <a:lnTo>
                  <a:pt x="855345" y="124778"/>
                </a:lnTo>
                <a:lnTo>
                  <a:pt x="893445" y="146685"/>
                </a:lnTo>
                <a:lnTo>
                  <a:pt x="930593" y="170498"/>
                </a:lnTo>
                <a:lnTo>
                  <a:pt x="967740" y="195262"/>
                </a:lnTo>
                <a:lnTo>
                  <a:pt x="1004888" y="219075"/>
                </a:lnTo>
                <a:lnTo>
                  <a:pt x="1042035" y="240030"/>
                </a:lnTo>
                <a:lnTo>
                  <a:pt x="1079182" y="256223"/>
                </a:lnTo>
                <a:lnTo>
                  <a:pt x="1116330" y="266700"/>
                </a:lnTo>
                <a:lnTo>
                  <a:pt x="1153477" y="269558"/>
                </a:lnTo>
                <a:lnTo>
                  <a:pt x="1190625" y="264795"/>
                </a:lnTo>
                <a:lnTo>
                  <a:pt x="1227773" y="253365"/>
                </a:lnTo>
                <a:lnTo>
                  <a:pt x="1264920" y="235268"/>
                </a:lnTo>
                <a:lnTo>
                  <a:pt x="1302068" y="213360"/>
                </a:lnTo>
                <a:lnTo>
                  <a:pt x="1339215" y="187643"/>
                </a:lnTo>
                <a:lnTo>
                  <a:pt x="1376362" y="161925"/>
                </a:lnTo>
                <a:lnTo>
                  <a:pt x="1413510" y="137160"/>
                </a:lnTo>
                <a:lnTo>
                  <a:pt x="1450657" y="115253"/>
                </a:lnTo>
                <a:lnTo>
                  <a:pt x="1487805" y="97155"/>
                </a:lnTo>
                <a:lnTo>
                  <a:pt x="1525905" y="83820"/>
                </a:lnTo>
                <a:lnTo>
                  <a:pt x="1563052" y="75248"/>
                </a:lnTo>
                <a:lnTo>
                  <a:pt x="1600200" y="71438"/>
                </a:lnTo>
                <a:lnTo>
                  <a:pt x="1637348" y="71438"/>
                </a:lnTo>
                <a:lnTo>
                  <a:pt x="1674495" y="73343"/>
                </a:lnTo>
                <a:lnTo>
                  <a:pt x="1711643" y="75248"/>
                </a:lnTo>
                <a:lnTo>
                  <a:pt x="1748790" y="77153"/>
                </a:lnTo>
                <a:lnTo>
                  <a:pt x="1785938" y="76200"/>
                </a:lnTo>
                <a:lnTo>
                  <a:pt x="1823085" y="73343"/>
                </a:lnTo>
                <a:lnTo>
                  <a:pt x="1860232" y="66675"/>
                </a:lnTo>
                <a:lnTo>
                  <a:pt x="1897380" y="57150"/>
                </a:lnTo>
                <a:lnTo>
                  <a:pt x="1934527" y="45720"/>
                </a:lnTo>
                <a:lnTo>
                  <a:pt x="1971675" y="33338"/>
                </a:lnTo>
                <a:lnTo>
                  <a:pt x="2008823" y="21908"/>
                </a:lnTo>
                <a:lnTo>
                  <a:pt x="2045970" y="12383"/>
                </a:lnTo>
                <a:lnTo>
                  <a:pt x="2084070" y="6668"/>
                </a:lnTo>
                <a:lnTo>
                  <a:pt x="2121218" y="6668"/>
                </a:lnTo>
                <a:lnTo>
                  <a:pt x="2158365" y="13335"/>
                </a:lnTo>
                <a:lnTo>
                  <a:pt x="2195512" y="25718"/>
                </a:lnTo>
                <a:lnTo>
                  <a:pt x="2232660" y="44768"/>
                </a:lnTo>
                <a:lnTo>
                  <a:pt x="2269807" y="68580"/>
                </a:lnTo>
                <a:lnTo>
                  <a:pt x="2306955" y="97155"/>
                </a:lnTo>
                <a:lnTo>
                  <a:pt x="2344102" y="127635"/>
                </a:lnTo>
                <a:lnTo>
                  <a:pt x="2381250" y="157162"/>
                </a:lnTo>
              </a:path>
            </a:pathLst>
          </a:custGeom>
          <a:noFill/>
          <a:ln w="24765" cap="rnd">
            <a:solidFill>
              <a:srgbClr val="34D3C0"/>
            </a:solidFill>
            <a:round/>
          </a:ln>
        </p:spPr>
        <p:txBody>
          <a:bodyPr/>
          <a:p/>
        </p:txBody>
      </p:sp>
      <p:sp>
        <p:nvSpPr>
          <p:cNvPr id="9" name="TextBox 9"/>
          <p:cNvSpPr txBox="1"/>
          <p:nvPr/>
        </p:nvSpPr>
        <p:spPr>
          <a:xfrm>
            <a:off x="9005888" y="958691"/>
            <a:ext cx="264522" cy="161925"/>
          </a:xfrm>
          <a:prstGeom prst="rect">
            <a:avLst/>
          </a:prstGeom>
          <a:noFill/>
          <a:ln>
            <a:noFill/>
          </a:ln>
        </p:spPr>
        <p:txBody>
          <a:bodyPr wrap="none" lIns="0" tIns="0" rIns="0" bIns="0" anchor="t" anchorCtr="0">
            <a:spAutoFit/>
          </a:bodyPr>
          <a:lstStyle/>
          <a:p>
            <a:pPr algn="l"/>
            <a:r>
              <a:rPr lang="en-US" sz="820" b="1" dirty="0">
                <a:solidFill>
                  <a:srgbClr val="6E869C"/>
                </a:solidFill>
                <a:latin typeface="+mn-lt"/>
                <a:ea typeface="+mn-ea"/>
                <a:cs typeface="+mn-cs"/>
              </a:rPr>
              <a:t>past</a:t>
            </a:r>
          </a:p>
        </p:txBody>
      </p:sp>
      <p:sp>
        <p:nvSpPr>
          <p:cNvPr id="10" name="Rectangle 10"/>
          <p:cNvSpPr/>
          <p:nvPr/>
        </p:nvSpPr>
        <p:spPr>
          <a:xfrm>
            <a:off x="9010650" y="1733550"/>
            <a:ext cx="2533650" cy="495300"/>
          </a:xfrm>
          <a:prstGeom prst="roundRect">
            <a:avLst>
              <a:gd name="adj" fmla="val 15385"/>
            </a:avLst>
          </a:prstGeom>
          <a:solidFill>
            <a:srgbClr val="0E2334"/>
          </a:solidFill>
          <a:ln w="14288">
            <a:solidFill>
              <a:srgbClr val="26455F"/>
            </a:solidFill>
          </a:ln>
        </p:spPr>
        <p:txBody>
          <a:bodyPr/>
          <a:p/>
        </p:txBody>
      </p:sp>
      <p:sp>
        <p:nvSpPr>
          <p:cNvPr id="11" name="Rectangle 11"/>
          <p:cNvSpPr/>
          <p:nvPr/>
        </p:nvSpPr>
        <p:spPr>
          <a:xfrm>
            <a:off x="10396538" y="1790700"/>
            <a:ext cx="714375" cy="381000"/>
          </a:xfrm>
          <a:prstGeom prst="roundRect">
            <a:avLst>
              <a:gd name="adj" fmla="val 10000"/>
            </a:avLst>
          </a:prstGeom>
          <a:solidFill>
            <a:srgbClr val="F2C14E">
              <a:alpha val="20000"/>
            </a:srgbClr>
          </a:solidFill>
          <a:ln>
            <a:noFill/>
          </a:ln>
        </p:spPr>
        <p:txBody>
          <a:bodyPr/>
          <a:p/>
        </p:txBody>
      </p:sp>
      <p:sp>
        <p:nvSpPr>
          <p:cNvPr id="12" name="Line 12"/>
          <p:cNvSpPr/>
          <p:nvPr/>
        </p:nvSpPr>
        <p:spPr>
          <a:xfrm>
            <a:off x="10396538" y="1790700"/>
            <a:ext cx="9525" cy="381000"/>
          </a:xfrm>
          <a:custGeom>
            <a:avLst/>
            <a:gdLst/>
            <a:ahLst/>
            <a:cxnLst/>
            <a:rect l="l" t="t" r="r" b="b"/>
            <a:pathLst>
              <a:path w="9525" h="381000">
                <a:moveTo>
                  <a:pt x="0" y="0"/>
                </a:moveTo>
                <a:lnTo>
                  <a:pt x="0" y="381000"/>
                </a:lnTo>
              </a:path>
            </a:pathLst>
          </a:custGeom>
          <a:noFill/>
          <a:ln w="11430" cap="rnd">
            <a:solidFill>
              <a:srgbClr val="F2C14E"/>
            </a:solidFill>
            <a:custDash>
              <a:ds d="250000" sp="250000"/>
            </a:custDash>
          </a:ln>
        </p:spPr>
        <p:txBody>
          <a:bodyPr/>
          <a:p/>
        </p:txBody>
      </p:sp>
      <p:sp>
        <p:nvSpPr>
          <p:cNvPr id="13" name="Line 13"/>
          <p:cNvSpPr/>
          <p:nvPr/>
        </p:nvSpPr>
        <p:spPr>
          <a:xfrm>
            <a:off x="11110912" y="1790700"/>
            <a:ext cx="9525" cy="381000"/>
          </a:xfrm>
          <a:custGeom>
            <a:avLst/>
            <a:gdLst/>
            <a:ahLst/>
            <a:cxnLst/>
            <a:rect l="l" t="t" r="r" b="b"/>
            <a:pathLst>
              <a:path w="9525" h="381000">
                <a:moveTo>
                  <a:pt x="0" y="0"/>
                </a:moveTo>
                <a:lnTo>
                  <a:pt x="0" y="381000"/>
                </a:lnTo>
              </a:path>
            </a:pathLst>
          </a:custGeom>
          <a:noFill/>
          <a:ln w="11430" cap="rnd">
            <a:solidFill>
              <a:srgbClr val="F2C14E"/>
            </a:solidFill>
            <a:custDash>
              <a:ds d="250000" sp="250000"/>
            </a:custDash>
          </a:ln>
        </p:spPr>
        <p:txBody>
          <a:bodyPr/>
          <a:p/>
        </p:txBody>
      </p:sp>
      <p:sp>
        <p:nvSpPr>
          <p:cNvPr id="14" name="Polyline 14"/>
          <p:cNvSpPr/>
          <p:nvPr/>
        </p:nvSpPr>
        <p:spPr>
          <a:xfrm>
            <a:off x="9086850" y="1884998"/>
            <a:ext cx="2381250" cy="240030"/>
          </a:xfrm>
          <a:custGeom>
            <a:avLst/>
            <a:gdLst/>
            <a:ahLst/>
            <a:cxnLst/>
            <a:rect l="l" t="t" r="r" b="b"/>
            <a:pathLst>
              <a:path w="2381250" h="240030">
                <a:moveTo>
                  <a:pt x="0" y="25717"/>
                </a:moveTo>
                <a:lnTo>
                  <a:pt x="37147" y="46673"/>
                </a:lnTo>
                <a:lnTo>
                  <a:pt x="74295" y="66675"/>
                </a:lnTo>
                <a:lnTo>
                  <a:pt x="111443" y="82867"/>
                </a:lnTo>
                <a:lnTo>
                  <a:pt x="148590" y="94298"/>
                </a:lnTo>
                <a:lnTo>
                  <a:pt x="185738" y="102870"/>
                </a:lnTo>
                <a:lnTo>
                  <a:pt x="222885" y="106680"/>
                </a:lnTo>
                <a:lnTo>
                  <a:pt x="260032" y="108585"/>
                </a:lnTo>
                <a:lnTo>
                  <a:pt x="297180" y="108585"/>
                </a:lnTo>
                <a:lnTo>
                  <a:pt x="335280" y="108585"/>
                </a:lnTo>
                <a:lnTo>
                  <a:pt x="372428" y="109538"/>
                </a:lnTo>
                <a:lnTo>
                  <a:pt x="409575" y="113348"/>
                </a:lnTo>
                <a:lnTo>
                  <a:pt x="446722" y="120015"/>
                </a:lnTo>
                <a:lnTo>
                  <a:pt x="483870" y="131445"/>
                </a:lnTo>
                <a:lnTo>
                  <a:pt x="521018" y="145732"/>
                </a:lnTo>
                <a:lnTo>
                  <a:pt x="558165" y="161925"/>
                </a:lnTo>
                <a:lnTo>
                  <a:pt x="595312" y="180023"/>
                </a:lnTo>
                <a:lnTo>
                  <a:pt x="632460" y="198120"/>
                </a:lnTo>
                <a:lnTo>
                  <a:pt x="669607" y="213360"/>
                </a:lnTo>
                <a:lnTo>
                  <a:pt x="706755" y="224790"/>
                </a:lnTo>
                <a:lnTo>
                  <a:pt x="743902" y="231457"/>
                </a:lnTo>
                <a:lnTo>
                  <a:pt x="781050" y="231457"/>
                </a:lnTo>
                <a:lnTo>
                  <a:pt x="818198" y="223838"/>
                </a:lnTo>
                <a:lnTo>
                  <a:pt x="855345" y="209550"/>
                </a:lnTo>
                <a:lnTo>
                  <a:pt x="893445" y="188595"/>
                </a:lnTo>
                <a:lnTo>
                  <a:pt x="930593" y="162877"/>
                </a:lnTo>
                <a:lnTo>
                  <a:pt x="967740" y="134302"/>
                </a:lnTo>
                <a:lnTo>
                  <a:pt x="1004888" y="104775"/>
                </a:lnTo>
                <a:lnTo>
                  <a:pt x="1042035" y="76200"/>
                </a:lnTo>
                <a:lnTo>
                  <a:pt x="1079182" y="50482"/>
                </a:lnTo>
                <a:lnTo>
                  <a:pt x="1116330" y="29527"/>
                </a:lnTo>
                <a:lnTo>
                  <a:pt x="1153477" y="13335"/>
                </a:lnTo>
                <a:lnTo>
                  <a:pt x="1190625" y="3810"/>
                </a:lnTo>
                <a:lnTo>
                  <a:pt x="1227773" y="0"/>
                </a:lnTo>
                <a:lnTo>
                  <a:pt x="1264920" y="952"/>
                </a:lnTo>
                <a:lnTo>
                  <a:pt x="1302068" y="6667"/>
                </a:lnTo>
                <a:lnTo>
                  <a:pt x="1339215" y="14288"/>
                </a:lnTo>
                <a:lnTo>
                  <a:pt x="1376362" y="21907"/>
                </a:lnTo>
                <a:lnTo>
                  <a:pt x="1413510" y="30480"/>
                </a:lnTo>
                <a:lnTo>
                  <a:pt x="1450657" y="36195"/>
                </a:lnTo>
                <a:lnTo>
                  <a:pt x="1487805" y="39052"/>
                </a:lnTo>
                <a:lnTo>
                  <a:pt x="1525905" y="39052"/>
                </a:lnTo>
                <a:lnTo>
                  <a:pt x="1563052" y="36195"/>
                </a:lnTo>
                <a:lnTo>
                  <a:pt x="1600200" y="31432"/>
                </a:lnTo>
                <a:lnTo>
                  <a:pt x="1637348" y="26670"/>
                </a:lnTo>
                <a:lnTo>
                  <a:pt x="1674495" y="21907"/>
                </a:lnTo>
                <a:lnTo>
                  <a:pt x="1711643" y="20002"/>
                </a:lnTo>
                <a:lnTo>
                  <a:pt x="1748790" y="21907"/>
                </a:lnTo>
                <a:lnTo>
                  <a:pt x="1785938" y="28575"/>
                </a:lnTo>
                <a:lnTo>
                  <a:pt x="1823085" y="40005"/>
                </a:lnTo>
                <a:lnTo>
                  <a:pt x="1860232" y="58102"/>
                </a:lnTo>
                <a:lnTo>
                  <a:pt x="1897380" y="80010"/>
                </a:lnTo>
                <a:lnTo>
                  <a:pt x="1934527" y="106680"/>
                </a:lnTo>
                <a:lnTo>
                  <a:pt x="1971675" y="134302"/>
                </a:lnTo>
                <a:lnTo>
                  <a:pt x="2008823" y="162877"/>
                </a:lnTo>
                <a:lnTo>
                  <a:pt x="2045970" y="188595"/>
                </a:lnTo>
                <a:lnTo>
                  <a:pt x="2084070" y="210502"/>
                </a:lnTo>
                <a:lnTo>
                  <a:pt x="2121218" y="227648"/>
                </a:lnTo>
                <a:lnTo>
                  <a:pt x="2158365" y="237173"/>
                </a:lnTo>
                <a:lnTo>
                  <a:pt x="2195512" y="240030"/>
                </a:lnTo>
                <a:lnTo>
                  <a:pt x="2232660" y="235267"/>
                </a:lnTo>
                <a:lnTo>
                  <a:pt x="2269807" y="223838"/>
                </a:lnTo>
                <a:lnTo>
                  <a:pt x="2306955" y="207645"/>
                </a:lnTo>
                <a:lnTo>
                  <a:pt x="2344102" y="187642"/>
                </a:lnTo>
                <a:lnTo>
                  <a:pt x="2381250" y="166688"/>
                </a:lnTo>
              </a:path>
            </a:pathLst>
          </a:custGeom>
          <a:noFill/>
          <a:ln w="24765" cap="rnd">
            <a:solidFill>
              <a:schemeClr val="accent2"/>
            </a:solidFill>
            <a:round/>
          </a:ln>
        </p:spPr>
        <p:txBody>
          <a:bodyPr/>
          <a:p/>
        </p:txBody>
      </p:sp>
      <p:sp>
        <p:nvSpPr>
          <p:cNvPr id="15" name="TextBox 15"/>
          <p:cNvSpPr txBox="1"/>
          <p:nvPr/>
        </p:nvSpPr>
        <p:spPr>
          <a:xfrm>
            <a:off x="9005888" y="1587341"/>
            <a:ext cx="1023718" cy="161925"/>
          </a:xfrm>
          <a:prstGeom prst="rect">
            <a:avLst/>
          </a:prstGeom>
          <a:noFill/>
          <a:ln>
            <a:noFill/>
          </a:ln>
        </p:spPr>
        <p:txBody>
          <a:bodyPr wrap="none" lIns="0" tIns="0" rIns="0" bIns="0" anchor="t" anchorCtr="0">
            <a:spAutoFit/>
          </a:bodyPr>
          <a:lstStyle/>
          <a:p>
            <a:pPr algn="l"/>
            <a:r>
              <a:rPr lang="en-US" sz="820" b="1" dirty="0">
                <a:solidFill>
                  <a:srgbClr val="6E869C"/>
                </a:solidFill>
                <a:latin typeface="+mn-lt"/>
                <a:ea typeface="+mn-ea"/>
                <a:cs typeface="+mn-cs"/>
              </a:rPr>
              <a:t>current (masked)</a:t>
            </a:r>
          </a:p>
        </p:txBody>
      </p:sp>
      <p:sp>
        <p:nvSpPr>
          <p:cNvPr id="16" name="TextBox 16"/>
          <p:cNvSpPr txBox="1"/>
          <p:nvPr/>
        </p:nvSpPr>
        <p:spPr>
          <a:xfrm>
            <a:off x="604076" y="2130504"/>
            <a:ext cx="702170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Jiaxiang Dong · Haixu Wu · Yuxuan Wang · Yunzhong Qiu · Li Zhang · Jianmin Wang · Mingsheng Long</a:t>
            </a:r>
          </a:p>
        </p:txBody>
      </p:sp>
      <p:grpSp>
        <p:nvGrpSpPr>
          <p:cNvPr id="27" name="Group 27"/>
          <p:cNvGrpSpPr/>
          <p:nvPr/>
        </p:nvGrpSpPr>
        <p:grpSpPr>
          <a:xfrm>
            <a:off x="609600" y="2819400"/>
            <a:ext cx="2628900" cy="2247900"/>
            <a:chOff x="609600" y="2819400"/>
            <a:chExt cx="2628900" cy="2247900"/>
          </a:xfrm>
        </p:grpSpPr>
        <p:sp>
          <p:nvSpPr>
            <p:cNvPr id="17" name="Rectangle 17"/>
            <p:cNvSpPr/>
            <p:nvPr/>
          </p:nvSpPr>
          <p:spPr>
            <a:xfrm>
              <a:off x="609600" y="2819400"/>
              <a:ext cx="2628900" cy="2247900"/>
            </a:xfrm>
            <a:prstGeom prst="roundRect">
              <a:avLst>
                <a:gd name="adj" fmla="val 5932"/>
              </a:avLst>
            </a:prstGeom>
            <a:solidFill>
              <a:schemeClr val="accent5"/>
            </a:solidFill>
            <a:ln w="14288">
              <a:solidFill>
                <a:srgbClr val="26455F"/>
              </a:solidFill>
            </a:ln>
          </p:spPr>
        </p:sp>
        <p:sp>
          <p:nvSpPr>
            <p:cNvPr id="18" name="Rectangle 18"/>
            <p:cNvSpPr/>
            <p:nvPr/>
          </p:nvSpPr>
          <p:spPr>
            <a:xfrm>
              <a:off x="609600" y="2819400"/>
              <a:ext cx="2628900" cy="57150"/>
            </a:xfrm>
            <a:prstGeom prst="roundRect">
              <a:avLst>
                <a:gd name="adj" fmla="val 50000"/>
              </a:avLst>
            </a:prstGeom>
            <a:solidFill>
              <a:schemeClr val="accent2"/>
            </a:solidFill>
            <a:ln>
              <a:noFill/>
            </a:ln>
          </p:spPr>
        </p:sp>
        <p:sp>
          <p:nvSpPr>
            <p:cNvPr id="19" name="Rectangle 19"/>
            <p:cNvSpPr/>
            <p:nvPr/>
          </p:nvSpPr>
          <p:spPr>
            <a:xfrm>
              <a:off x="819150" y="3105150"/>
              <a:ext cx="2209800" cy="419100"/>
            </a:xfrm>
            <a:prstGeom prst="roundRect">
              <a:avLst>
                <a:gd name="adj" fmla="val 18182"/>
              </a:avLst>
            </a:prstGeom>
            <a:solidFill>
              <a:srgbClr val="0E2334"/>
            </a:solidFill>
            <a:ln w="14288">
              <a:solidFill>
                <a:srgbClr val="26455F"/>
              </a:solidFill>
            </a:ln>
          </p:spPr>
        </p:sp>
        <p:sp>
          <p:nvSpPr>
            <p:cNvPr id="20" name="Polyline 20"/>
            <p:cNvSpPr/>
            <p:nvPr/>
          </p:nvSpPr>
          <p:spPr>
            <a:xfrm>
              <a:off x="895350" y="3209925"/>
              <a:ext cx="2057400" cy="217170"/>
            </a:xfrm>
            <a:custGeom>
              <a:avLst/>
              <a:gdLst/>
              <a:ahLst/>
              <a:cxnLst/>
              <a:rect l="l" t="t" r="r" b="b"/>
              <a:pathLst>
                <a:path w="2057400" h="217170">
                  <a:moveTo>
                    <a:pt x="0" y="0"/>
                  </a:moveTo>
                  <a:lnTo>
                    <a:pt x="32385" y="953"/>
                  </a:lnTo>
                  <a:lnTo>
                    <a:pt x="64770" y="6667"/>
                  </a:lnTo>
                  <a:lnTo>
                    <a:pt x="96202" y="16192"/>
                  </a:lnTo>
                  <a:lnTo>
                    <a:pt x="128588" y="28575"/>
                  </a:lnTo>
                  <a:lnTo>
                    <a:pt x="160973" y="42862"/>
                  </a:lnTo>
                  <a:lnTo>
                    <a:pt x="192405" y="56197"/>
                  </a:lnTo>
                  <a:lnTo>
                    <a:pt x="224790" y="68580"/>
                  </a:lnTo>
                  <a:lnTo>
                    <a:pt x="257175" y="78105"/>
                  </a:lnTo>
                  <a:lnTo>
                    <a:pt x="289560" y="85725"/>
                  </a:lnTo>
                  <a:lnTo>
                    <a:pt x="321945" y="90488"/>
                  </a:lnTo>
                  <a:lnTo>
                    <a:pt x="353377" y="92392"/>
                  </a:lnTo>
                  <a:lnTo>
                    <a:pt x="385762" y="93345"/>
                  </a:lnTo>
                  <a:lnTo>
                    <a:pt x="418148" y="92392"/>
                  </a:lnTo>
                  <a:lnTo>
                    <a:pt x="449580" y="93345"/>
                  </a:lnTo>
                  <a:lnTo>
                    <a:pt x="481965" y="94297"/>
                  </a:lnTo>
                  <a:lnTo>
                    <a:pt x="514350" y="99060"/>
                  </a:lnTo>
                  <a:lnTo>
                    <a:pt x="546735" y="105728"/>
                  </a:lnTo>
                  <a:lnTo>
                    <a:pt x="579120" y="116205"/>
                  </a:lnTo>
                  <a:lnTo>
                    <a:pt x="610552" y="130492"/>
                  </a:lnTo>
                  <a:lnTo>
                    <a:pt x="642938" y="145733"/>
                  </a:lnTo>
                  <a:lnTo>
                    <a:pt x="675322" y="162878"/>
                  </a:lnTo>
                  <a:lnTo>
                    <a:pt x="706755" y="179070"/>
                  </a:lnTo>
                  <a:lnTo>
                    <a:pt x="739140" y="194310"/>
                  </a:lnTo>
                  <a:lnTo>
                    <a:pt x="771525" y="206692"/>
                  </a:lnTo>
                  <a:lnTo>
                    <a:pt x="803910" y="214312"/>
                  </a:lnTo>
                  <a:lnTo>
                    <a:pt x="836295" y="217170"/>
                  </a:lnTo>
                  <a:lnTo>
                    <a:pt x="867728" y="213360"/>
                  </a:lnTo>
                  <a:lnTo>
                    <a:pt x="900112" y="204788"/>
                  </a:lnTo>
                  <a:lnTo>
                    <a:pt x="932498" y="191453"/>
                  </a:lnTo>
                  <a:lnTo>
                    <a:pt x="963930" y="173355"/>
                  </a:lnTo>
                  <a:lnTo>
                    <a:pt x="996315" y="152400"/>
                  </a:lnTo>
                  <a:lnTo>
                    <a:pt x="1028700" y="130492"/>
                  </a:lnTo>
                  <a:lnTo>
                    <a:pt x="1061085" y="109538"/>
                  </a:lnTo>
                  <a:lnTo>
                    <a:pt x="1093470" y="89535"/>
                  </a:lnTo>
                  <a:lnTo>
                    <a:pt x="1124902" y="73342"/>
                  </a:lnTo>
                  <a:lnTo>
                    <a:pt x="1157288" y="60960"/>
                  </a:lnTo>
                  <a:lnTo>
                    <a:pt x="1189672" y="52388"/>
                  </a:lnTo>
                  <a:lnTo>
                    <a:pt x="1221105" y="48578"/>
                  </a:lnTo>
                  <a:lnTo>
                    <a:pt x="1253490" y="47625"/>
                  </a:lnTo>
                  <a:lnTo>
                    <a:pt x="1285875" y="49530"/>
                  </a:lnTo>
                  <a:lnTo>
                    <a:pt x="1318260" y="53340"/>
                  </a:lnTo>
                  <a:lnTo>
                    <a:pt x="1350645" y="57150"/>
                  </a:lnTo>
                  <a:lnTo>
                    <a:pt x="1382078" y="60008"/>
                  </a:lnTo>
                  <a:lnTo>
                    <a:pt x="1414462" y="60960"/>
                  </a:lnTo>
                  <a:lnTo>
                    <a:pt x="1446848" y="60008"/>
                  </a:lnTo>
                  <a:lnTo>
                    <a:pt x="1478280" y="57150"/>
                  </a:lnTo>
                  <a:lnTo>
                    <a:pt x="1510665" y="51435"/>
                  </a:lnTo>
                  <a:lnTo>
                    <a:pt x="1543050" y="44767"/>
                  </a:lnTo>
                  <a:lnTo>
                    <a:pt x="1575435" y="38100"/>
                  </a:lnTo>
                  <a:lnTo>
                    <a:pt x="1607820" y="32385"/>
                  </a:lnTo>
                  <a:lnTo>
                    <a:pt x="1639253" y="28575"/>
                  </a:lnTo>
                  <a:lnTo>
                    <a:pt x="1671638" y="28575"/>
                  </a:lnTo>
                  <a:lnTo>
                    <a:pt x="1704022" y="32385"/>
                  </a:lnTo>
                  <a:lnTo>
                    <a:pt x="1735455" y="40958"/>
                  </a:lnTo>
                  <a:lnTo>
                    <a:pt x="1767840" y="54292"/>
                  </a:lnTo>
                  <a:lnTo>
                    <a:pt x="1800225" y="71438"/>
                  </a:lnTo>
                  <a:lnTo>
                    <a:pt x="1832610" y="92392"/>
                  </a:lnTo>
                  <a:lnTo>
                    <a:pt x="1864995" y="115253"/>
                  </a:lnTo>
                  <a:lnTo>
                    <a:pt x="1896428" y="138112"/>
                  </a:lnTo>
                  <a:lnTo>
                    <a:pt x="1928812" y="160020"/>
                  </a:lnTo>
                  <a:lnTo>
                    <a:pt x="1961197" y="179070"/>
                  </a:lnTo>
                  <a:lnTo>
                    <a:pt x="1992630" y="194310"/>
                  </a:lnTo>
                  <a:lnTo>
                    <a:pt x="2025015" y="204788"/>
                  </a:lnTo>
                  <a:lnTo>
                    <a:pt x="2057400" y="209550"/>
                  </a:lnTo>
                </a:path>
              </a:pathLst>
            </a:custGeom>
            <a:noFill/>
            <a:ln w="24765" cap="rnd">
              <a:solidFill>
                <a:schemeClr val="accent2"/>
              </a:solidFill>
              <a:round/>
            </a:ln>
          </p:spPr>
        </p:sp>
        <p:sp>
          <p:nvSpPr>
            <p:cNvPr id="21" name="TextBox 21"/>
            <p:cNvSpPr txBox="1"/>
            <p:nvPr/>
          </p:nvSpPr>
          <p:spPr>
            <a:xfrm>
              <a:off x="831723" y="3710464"/>
              <a:ext cx="2108913"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Pre-training, borrowed</a:t>
              </a:r>
            </a:p>
          </p:txBody>
        </p:sp>
        <p:sp>
          <p:nvSpPr>
            <p:cNvPr id="22" name="TextBox 22"/>
            <p:cNvSpPr txBox="1"/>
            <p:nvPr/>
          </p:nvSpPr>
          <p:spPr>
            <a:xfrm>
              <a:off x="831723" y="3929539"/>
              <a:ext cx="1577992"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recipes fall short</a:t>
              </a:r>
            </a:p>
          </p:txBody>
        </p:sp>
        <p:sp>
          <p:nvSpPr>
            <p:cNvPr id="23" name="TextBox 23"/>
            <p:cNvSpPr txBox="1"/>
            <p:nvPr/>
          </p:nvSpPr>
          <p:spPr>
            <a:xfrm>
              <a:off x="833323" y="4239768"/>
              <a:ext cx="2152771"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Time series pre-training promises</a:t>
              </a:r>
            </a:p>
          </p:txBody>
        </p:sp>
        <p:sp>
          <p:nvSpPr>
            <p:cNvPr id="24" name="TextBox 24"/>
            <p:cNvSpPr txBox="1"/>
            <p:nvPr/>
          </p:nvSpPr>
          <p:spPr>
            <a:xfrm>
              <a:off x="833323" y="4411218"/>
              <a:ext cx="1954743"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to cut labeling costs and boost</a:t>
              </a:r>
            </a:p>
          </p:txBody>
        </p:sp>
        <p:sp>
          <p:nvSpPr>
            <p:cNvPr id="25" name="TextBox 25"/>
            <p:cNvSpPr txBox="1"/>
            <p:nvPr/>
          </p:nvSpPr>
          <p:spPr>
            <a:xfrm>
              <a:off x="833323" y="4582668"/>
              <a:ext cx="2342449"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downstream tasks, but recipes from</a:t>
              </a:r>
            </a:p>
          </p:txBody>
        </p:sp>
        <p:sp>
          <p:nvSpPr>
            <p:cNvPr id="26" name="TextBox 26"/>
            <p:cNvSpPr txBox="1"/>
            <p:nvPr/>
          </p:nvSpPr>
          <p:spPr>
            <a:xfrm>
              <a:off x="833323" y="4754118"/>
              <a:ext cx="1922435"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vision and language fall short.</a:t>
              </a:r>
            </a:p>
          </p:txBody>
        </p:sp>
      </p:grpSp>
      <p:grpSp>
        <p:nvGrpSpPr>
          <p:cNvPr id="41" name="Group 41"/>
          <p:cNvGrpSpPr/>
          <p:nvPr/>
        </p:nvGrpSpPr>
        <p:grpSpPr>
          <a:xfrm>
            <a:off x="3390900" y="2819400"/>
            <a:ext cx="2628900" cy="2247900"/>
            <a:chOff x="3390900" y="2819400"/>
            <a:chExt cx="2628900" cy="2247900"/>
          </a:xfrm>
        </p:grpSpPr>
        <p:sp>
          <p:nvSpPr>
            <p:cNvPr id="28" name="Rectangle 28"/>
            <p:cNvSpPr/>
            <p:nvPr/>
          </p:nvSpPr>
          <p:spPr>
            <a:xfrm>
              <a:off x="3390900" y="2819400"/>
              <a:ext cx="2628900" cy="2247900"/>
            </a:xfrm>
            <a:prstGeom prst="roundRect">
              <a:avLst>
                <a:gd name="adj" fmla="val 5932"/>
              </a:avLst>
            </a:prstGeom>
            <a:solidFill>
              <a:schemeClr val="accent5"/>
            </a:solidFill>
            <a:ln w="14288">
              <a:solidFill>
                <a:srgbClr val="26455F"/>
              </a:solidFill>
            </a:ln>
          </p:spPr>
        </p:sp>
        <p:sp>
          <p:nvSpPr>
            <p:cNvPr id="29" name="Rectangle 29"/>
            <p:cNvSpPr/>
            <p:nvPr/>
          </p:nvSpPr>
          <p:spPr>
            <a:xfrm>
              <a:off x="3390900" y="2819400"/>
              <a:ext cx="2628900" cy="57150"/>
            </a:xfrm>
            <a:prstGeom prst="roundRect">
              <a:avLst>
                <a:gd name="adj" fmla="val 50000"/>
              </a:avLst>
            </a:prstGeom>
            <a:solidFill>
              <a:srgbClr val="F2685C"/>
            </a:solidFill>
            <a:ln>
              <a:noFill/>
            </a:ln>
          </p:spPr>
        </p:sp>
        <p:sp>
          <p:nvSpPr>
            <p:cNvPr id="30" name="Rectangle 30"/>
            <p:cNvSpPr/>
            <p:nvPr/>
          </p:nvSpPr>
          <p:spPr>
            <a:xfrm>
              <a:off x="3600450" y="3105150"/>
              <a:ext cx="2209800" cy="419100"/>
            </a:xfrm>
            <a:prstGeom prst="roundRect">
              <a:avLst>
                <a:gd name="adj" fmla="val 18182"/>
              </a:avLst>
            </a:prstGeom>
            <a:solidFill>
              <a:srgbClr val="0E2334"/>
            </a:solidFill>
            <a:ln w="14288">
              <a:solidFill>
                <a:srgbClr val="26455F"/>
              </a:solidFill>
            </a:ln>
          </p:spPr>
        </p:sp>
        <p:sp>
          <p:nvSpPr>
            <p:cNvPr id="31" name="Rectangle 31"/>
            <p:cNvSpPr/>
            <p:nvPr/>
          </p:nvSpPr>
          <p:spPr>
            <a:xfrm>
              <a:off x="4808220" y="3162300"/>
              <a:ext cx="617220" cy="304800"/>
            </a:xfrm>
            <a:prstGeom prst="roundRect">
              <a:avLst>
                <a:gd name="adj" fmla="val 12500"/>
              </a:avLst>
            </a:prstGeom>
            <a:solidFill>
              <a:srgbClr val="F2C14E">
                <a:alpha val="20000"/>
              </a:srgbClr>
            </a:solidFill>
            <a:ln>
              <a:noFill/>
            </a:ln>
          </p:spPr>
        </p:sp>
        <p:sp>
          <p:nvSpPr>
            <p:cNvPr id="32" name="Line 32"/>
            <p:cNvSpPr/>
            <p:nvPr/>
          </p:nvSpPr>
          <p:spPr>
            <a:xfrm>
              <a:off x="4808220" y="3162300"/>
              <a:ext cx="9525" cy="304800"/>
            </a:xfrm>
            <a:custGeom>
              <a:avLst/>
              <a:gdLst/>
              <a:ahLst/>
              <a:cxnLst/>
              <a:rect l="l" t="t" r="r" b="b"/>
              <a:pathLst>
                <a:path w="9525" h="304800">
                  <a:moveTo>
                    <a:pt x="0" y="0"/>
                  </a:moveTo>
                  <a:lnTo>
                    <a:pt x="0" y="304800"/>
                  </a:lnTo>
                </a:path>
              </a:pathLst>
            </a:custGeom>
            <a:noFill/>
            <a:ln w="11430" cap="rnd">
              <a:solidFill>
                <a:srgbClr val="F2C14E"/>
              </a:solidFill>
              <a:custDash>
                <a:ds d="250000" sp="250000"/>
              </a:custDash>
            </a:ln>
          </p:spPr>
        </p:sp>
        <p:sp>
          <p:nvSpPr>
            <p:cNvPr id="33" name="Line 33"/>
            <p:cNvSpPr/>
            <p:nvPr/>
          </p:nvSpPr>
          <p:spPr>
            <a:xfrm>
              <a:off x="5425440" y="3162300"/>
              <a:ext cx="9525" cy="304800"/>
            </a:xfrm>
            <a:custGeom>
              <a:avLst/>
              <a:gdLst/>
              <a:ahLst/>
              <a:cxnLst/>
              <a:rect l="l" t="t" r="r" b="b"/>
              <a:pathLst>
                <a:path w="9525" h="304800">
                  <a:moveTo>
                    <a:pt x="0" y="0"/>
                  </a:moveTo>
                  <a:lnTo>
                    <a:pt x="0" y="304800"/>
                  </a:lnTo>
                </a:path>
              </a:pathLst>
            </a:custGeom>
            <a:noFill/>
            <a:ln w="11430" cap="rnd">
              <a:solidFill>
                <a:srgbClr val="F2C14E"/>
              </a:solidFill>
              <a:custDash>
                <a:ds d="250000" sp="250000"/>
              </a:custDash>
            </a:ln>
          </p:spPr>
        </p:sp>
        <p:sp>
          <p:nvSpPr>
            <p:cNvPr id="34" name="Polyline 34"/>
            <p:cNvSpPr/>
            <p:nvPr/>
          </p:nvSpPr>
          <p:spPr>
            <a:xfrm>
              <a:off x="3676650" y="3209925"/>
              <a:ext cx="2057400" cy="217170"/>
            </a:xfrm>
            <a:custGeom>
              <a:avLst/>
              <a:gdLst/>
              <a:ahLst/>
              <a:cxnLst/>
              <a:rect l="l" t="t" r="r" b="b"/>
              <a:pathLst>
                <a:path w="2057400" h="217170">
                  <a:moveTo>
                    <a:pt x="0" y="0"/>
                  </a:moveTo>
                  <a:lnTo>
                    <a:pt x="32385" y="953"/>
                  </a:lnTo>
                  <a:lnTo>
                    <a:pt x="64770" y="6667"/>
                  </a:lnTo>
                  <a:lnTo>
                    <a:pt x="96203" y="16192"/>
                  </a:lnTo>
                  <a:lnTo>
                    <a:pt x="128588" y="28575"/>
                  </a:lnTo>
                  <a:lnTo>
                    <a:pt x="160972" y="42862"/>
                  </a:lnTo>
                  <a:lnTo>
                    <a:pt x="192405" y="56197"/>
                  </a:lnTo>
                  <a:lnTo>
                    <a:pt x="224790" y="68580"/>
                  </a:lnTo>
                  <a:lnTo>
                    <a:pt x="257175" y="78105"/>
                  </a:lnTo>
                  <a:lnTo>
                    <a:pt x="289560" y="85725"/>
                  </a:lnTo>
                  <a:lnTo>
                    <a:pt x="321945" y="90488"/>
                  </a:lnTo>
                  <a:lnTo>
                    <a:pt x="353378" y="92392"/>
                  </a:lnTo>
                  <a:lnTo>
                    <a:pt x="385762" y="93345"/>
                  </a:lnTo>
                  <a:lnTo>
                    <a:pt x="418147" y="92392"/>
                  </a:lnTo>
                  <a:lnTo>
                    <a:pt x="449580" y="93345"/>
                  </a:lnTo>
                  <a:lnTo>
                    <a:pt x="481965" y="94297"/>
                  </a:lnTo>
                  <a:lnTo>
                    <a:pt x="514350" y="99060"/>
                  </a:lnTo>
                  <a:lnTo>
                    <a:pt x="546735" y="105728"/>
                  </a:lnTo>
                  <a:lnTo>
                    <a:pt x="579120" y="116205"/>
                  </a:lnTo>
                  <a:lnTo>
                    <a:pt x="610553" y="130492"/>
                  </a:lnTo>
                  <a:lnTo>
                    <a:pt x="642938" y="145733"/>
                  </a:lnTo>
                  <a:lnTo>
                    <a:pt x="675322" y="162878"/>
                  </a:lnTo>
                  <a:lnTo>
                    <a:pt x="706755" y="179070"/>
                  </a:lnTo>
                  <a:lnTo>
                    <a:pt x="739140" y="194310"/>
                  </a:lnTo>
                  <a:lnTo>
                    <a:pt x="771525" y="206692"/>
                  </a:lnTo>
                  <a:lnTo>
                    <a:pt x="803910" y="214312"/>
                  </a:lnTo>
                  <a:lnTo>
                    <a:pt x="836295" y="217170"/>
                  </a:lnTo>
                  <a:lnTo>
                    <a:pt x="867728" y="213360"/>
                  </a:lnTo>
                  <a:lnTo>
                    <a:pt x="900112" y="204788"/>
                  </a:lnTo>
                  <a:lnTo>
                    <a:pt x="932497" y="191453"/>
                  </a:lnTo>
                  <a:lnTo>
                    <a:pt x="963930" y="173355"/>
                  </a:lnTo>
                  <a:lnTo>
                    <a:pt x="996315" y="152400"/>
                  </a:lnTo>
                  <a:lnTo>
                    <a:pt x="1028700" y="130492"/>
                  </a:lnTo>
                  <a:lnTo>
                    <a:pt x="1061085" y="109538"/>
                  </a:lnTo>
                  <a:lnTo>
                    <a:pt x="1093470" y="89535"/>
                  </a:lnTo>
                  <a:lnTo>
                    <a:pt x="1124903" y="73342"/>
                  </a:lnTo>
                  <a:lnTo>
                    <a:pt x="1157288" y="60960"/>
                  </a:lnTo>
                  <a:lnTo>
                    <a:pt x="1189672" y="52388"/>
                  </a:lnTo>
                  <a:lnTo>
                    <a:pt x="1221105" y="48578"/>
                  </a:lnTo>
                  <a:lnTo>
                    <a:pt x="1253490" y="47625"/>
                  </a:lnTo>
                  <a:lnTo>
                    <a:pt x="1285875" y="49530"/>
                  </a:lnTo>
                  <a:lnTo>
                    <a:pt x="1318260" y="53340"/>
                  </a:lnTo>
                  <a:lnTo>
                    <a:pt x="1350645" y="57150"/>
                  </a:lnTo>
                  <a:lnTo>
                    <a:pt x="1382078" y="60008"/>
                  </a:lnTo>
                  <a:lnTo>
                    <a:pt x="1414462" y="60960"/>
                  </a:lnTo>
                  <a:lnTo>
                    <a:pt x="1446847" y="60008"/>
                  </a:lnTo>
                  <a:lnTo>
                    <a:pt x="1478280" y="57150"/>
                  </a:lnTo>
                  <a:lnTo>
                    <a:pt x="1510665" y="51435"/>
                  </a:lnTo>
                  <a:lnTo>
                    <a:pt x="1543050" y="44767"/>
                  </a:lnTo>
                  <a:lnTo>
                    <a:pt x="1575435" y="38100"/>
                  </a:lnTo>
                  <a:lnTo>
                    <a:pt x="1607820" y="32385"/>
                  </a:lnTo>
                  <a:lnTo>
                    <a:pt x="1639253" y="28575"/>
                  </a:lnTo>
                  <a:lnTo>
                    <a:pt x="1671638" y="28575"/>
                  </a:lnTo>
                  <a:lnTo>
                    <a:pt x="1704022" y="32385"/>
                  </a:lnTo>
                  <a:lnTo>
                    <a:pt x="1735455" y="40958"/>
                  </a:lnTo>
                  <a:lnTo>
                    <a:pt x="1767840" y="54292"/>
                  </a:lnTo>
                  <a:lnTo>
                    <a:pt x="1800225" y="71438"/>
                  </a:lnTo>
                  <a:lnTo>
                    <a:pt x="1832610" y="92392"/>
                  </a:lnTo>
                  <a:lnTo>
                    <a:pt x="1864995" y="115253"/>
                  </a:lnTo>
                  <a:lnTo>
                    <a:pt x="1896428" y="138112"/>
                  </a:lnTo>
                  <a:lnTo>
                    <a:pt x="1928812" y="160020"/>
                  </a:lnTo>
                  <a:lnTo>
                    <a:pt x="1961197" y="179070"/>
                  </a:lnTo>
                  <a:lnTo>
                    <a:pt x="1992630" y="194310"/>
                  </a:lnTo>
                  <a:lnTo>
                    <a:pt x="2025015" y="204788"/>
                  </a:lnTo>
                  <a:lnTo>
                    <a:pt x="2057400" y="209550"/>
                  </a:lnTo>
                </a:path>
              </a:pathLst>
            </a:custGeom>
            <a:noFill/>
            <a:ln w="24765" cap="rnd">
              <a:solidFill>
                <a:srgbClr val="F2685C"/>
              </a:solidFill>
              <a:round/>
            </a:ln>
          </p:spPr>
        </p:sp>
        <p:sp>
          <p:nvSpPr>
            <p:cNvPr id="35" name="TextBox 35"/>
            <p:cNvSpPr txBox="1"/>
            <p:nvPr/>
          </p:nvSpPr>
          <p:spPr>
            <a:xfrm>
              <a:off x="3613023" y="3710464"/>
              <a:ext cx="2352686"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Masking distorts temporal</a:t>
              </a:r>
            </a:p>
          </p:txBody>
        </p:sp>
        <p:sp>
          <p:nvSpPr>
            <p:cNvPr id="36" name="TextBox 36"/>
            <p:cNvSpPr txBox="1"/>
            <p:nvPr/>
          </p:nvSpPr>
          <p:spPr>
            <a:xfrm>
              <a:off x="3613023" y="3929539"/>
              <a:ext cx="908554"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structure</a:t>
              </a:r>
            </a:p>
          </p:txBody>
        </p:sp>
        <p:sp>
          <p:nvSpPr>
            <p:cNvPr id="37" name="TextBox 37"/>
            <p:cNvSpPr txBox="1"/>
            <p:nvPr/>
          </p:nvSpPr>
          <p:spPr>
            <a:xfrm>
              <a:off x="3614623" y="4239768"/>
              <a:ext cx="1959147"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Random masking or series-wise</a:t>
              </a:r>
            </a:p>
          </p:txBody>
        </p:sp>
        <p:sp>
          <p:nvSpPr>
            <p:cNvPr id="38" name="TextBox 38"/>
            <p:cNvSpPr txBox="1"/>
            <p:nvPr/>
          </p:nvSpPr>
          <p:spPr>
            <a:xfrm>
              <a:off x="3614623" y="4411218"/>
              <a:ext cx="2129211"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similarity distorts or ignores the</a:t>
              </a:r>
            </a:p>
          </p:txBody>
        </p:sp>
        <p:sp>
          <p:nvSpPr>
            <p:cNvPr id="39" name="TextBox 39"/>
            <p:cNvSpPr txBox="1"/>
            <p:nvPr/>
          </p:nvSpPr>
          <p:spPr>
            <a:xfrm>
              <a:off x="3614623" y="4582668"/>
              <a:ext cx="2071055"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temporal correlations that make</a:t>
              </a:r>
            </a:p>
          </p:txBody>
        </p:sp>
        <p:sp>
          <p:nvSpPr>
            <p:cNvPr id="40" name="TextBox 40"/>
            <p:cNvSpPr txBox="1"/>
            <p:nvPr/>
          </p:nvSpPr>
          <p:spPr>
            <a:xfrm>
              <a:off x="3614623" y="4754118"/>
              <a:ext cx="1502420"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time series meaningful.</a:t>
              </a:r>
            </a:p>
          </p:txBody>
        </p:sp>
      </p:grpSp>
      <p:grpSp>
        <p:nvGrpSpPr>
          <p:cNvPr id="52" name="Group 52"/>
          <p:cNvGrpSpPr/>
          <p:nvPr/>
        </p:nvGrpSpPr>
        <p:grpSpPr>
          <a:xfrm>
            <a:off x="6172200" y="2819400"/>
            <a:ext cx="2628900" cy="2247900"/>
            <a:chOff x="6172200" y="2819400"/>
            <a:chExt cx="2628900" cy="2247900"/>
          </a:xfrm>
        </p:grpSpPr>
        <p:sp>
          <p:nvSpPr>
            <p:cNvPr id="42" name="Rectangle 42"/>
            <p:cNvSpPr/>
            <p:nvPr/>
          </p:nvSpPr>
          <p:spPr>
            <a:xfrm>
              <a:off x="6172200" y="2819400"/>
              <a:ext cx="2628900" cy="2247900"/>
            </a:xfrm>
            <a:prstGeom prst="roundRect">
              <a:avLst>
                <a:gd name="adj" fmla="val 5932"/>
              </a:avLst>
            </a:prstGeom>
            <a:solidFill>
              <a:schemeClr val="accent5"/>
            </a:solidFill>
            <a:ln w="14288">
              <a:solidFill>
                <a:srgbClr val="26455F"/>
              </a:solidFill>
            </a:ln>
          </p:spPr>
        </p:sp>
        <p:sp>
          <p:nvSpPr>
            <p:cNvPr id="43" name="Rectangle 43"/>
            <p:cNvSpPr/>
            <p:nvPr/>
          </p:nvSpPr>
          <p:spPr>
            <a:xfrm>
              <a:off x="6172200" y="2819400"/>
              <a:ext cx="2628900" cy="57150"/>
            </a:xfrm>
            <a:prstGeom prst="roundRect">
              <a:avLst>
                <a:gd name="adj" fmla="val 50000"/>
              </a:avLst>
            </a:prstGeom>
            <a:solidFill>
              <a:srgbClr val="34D3C0"/>
            </a:solidFill>
            <a:ln>
              <a:noFill/>
            </a:ln>
          </p:spPr>
        </p:sp>
        <p:sp>
          <p:nvSpPr>
            <p:cNvPr id="44" name="Rectangle 44"/>
            <p:cNvSpPr/>
            <p:nvPr/>
          </p:nvSpPr>
          <p:spPr>
            <a:xfrm>
              <a:off x="6381750" y="3105150"/>
              <a:ext cx="2209800" cy="419100"/>
            </a:xfrm>
            <a:prstGeom prst="roundRect">
              <a:avLst>
                <a:gd name="adj" fmla="val 18182"/>
              </a:avLst>
            </a:prstGeom>
            <a:solidFill>
              <a:srgbClr val="0E2334"/>
            </a:solidFill>
            <a:ln w="14288">
              <a:solidFill>
                <a:srgbClr val="26455F"/>
              </a:solidFill>
            </a:ln>
          </p:spPr>
        </p:sp>
        <p:sp>
          <p:nvSpPr>
            <p:cNvPr id="45" name="Polyline 45"/>
            <p:cNvSpPr/>
            <p:nvPr/>
          </p:nvSpPr>
          <p:spPr>
            <a:xfrm>
              <a:off x="6457950" y="3209925"/>
              <a:ext cx="2057400" cy="217170"/>
            </a:xfrm>
            <a:custGeom>
              <a:avLst/>
              <a:gdLst/>
              <a:ahLst/>
              <a:cxnLst/>
              <a:rect l="l" t="t" r="r" b="b"/>
              <a:pathLst>
                <a:path w="2057400" h="217170">
                  <a:moveTo>
                    <a:pt x="0" y="0"/>
                  </a:moveTo>
                  <a:lnTo>
                    <a:pt x="32385" y="953"/>
                  </a:lnTo>
                  <a:lnTo>
                    <a:pt x="64770" y="6667"/>
                  </a:lnTo>
                  <a:lnTo>
                    <a:pt x="96203" y="16192"/>
                  </a:lnTo>
                  <a:lnTo>
                    <a:pt x="128588" y="28575"/>
                  </a:lnTo>
                  <a:lnTo>
                    <a:pt x="160972" y="42862"/>
                  </a:lnTo>
                  <a:lnTo>
                    <a:pt x="192405" y="56197"/>
                  </a:lnTo>
                  <a:lnTo>
                    <a:pt x="224790" y="68580"/>
                  </a:lnTo>
                  <a:lnTo>
                    <a:pt x="257175" y="78105"/>
                  </a:lnTo>
                  <a:lnTo>
                    <a:pt x="289560" y="85725"/>
                  </a:lnTo>
                  <a:lnTo>
                    <a:pt x="321945" y="90488"/>
                  </a:lnTo>
                  <a:lnTo>
                    <a:pt x="353378" y="92392"/>
                  </a:lnTo>
                  <a:lnTo>
                    <a:pt x="385762" y="93345"/>
                  </a:lnTo>
                  <a:lnTo>
                    <a:pt x="418147" y="92392"/>
                  </a:lnTo>
                  <a:lnTo>
                    <a:pt x="449580" y="93345"/>
                  </a:lnTo>
                  <a:lnTo>
                    <a:pt x="481965" y="94297"/>
                  </a:lnTo>
                  <a:lnTo>
                    <a:pt x="514350" y="99060"/>
                  </a:lnTo>
                  <a:lnTo>
                    <a:pt x="546735" y="105728"/>
                  </a:lnTo>
                  <a:lnTo>
                    <a:pt x="579120" y="116205"/>
                  </a:lnTo>
                  <a:lnTo>
                    <a:pt x="610553" y="130492"/>
                  </a:lnTo>
                  <a:lnTo>
                    <a:pt x="642938" y="145733"/>
                  </a:lnTo>
                  <a:lnTo>
                    <a:pt x="675322" y="162878"/>
                  </a:lnTo>
                  <a:lnTo>
                    <a:pt x="706755" y="179070"/>
                  </a:lnTo>
                  <a:lnTo>
                    <a:pt x="739140" y="194310"/>
                  </a:lnTo>
                  <a:lnTo>
                    <a:pt x="771525" y="206692"/>
                  </a:lnTo>
                  <a:lnTo>
                    <a:pt x="803910" y="214312"/>
                  </a:lnTo>
                  <a:lnTo>
                    <a:pt x="836295" y="217170"/>
                  </a:lnTo>
                  <a:lnTo>
                    <a:pt x="867728" y="213360"/>
                  </a:lnTo>
                  <a:lnTo>
                    <a:pt x="900112" y="204788"/>
                  </a:lnTo>
                  <a:lnTo>
                    <a:pt x="932497" y="191453"/>
                  </a:lnTo>
                  <a:lnTo>
                    <a:pt x="963930" y="173355"/>
                  </a:lnTo>
                  <a:lnTo>
                    <a:pt x="996315" y="152400"/>
                  </a:lnTo>
                  <a:lnTo>
                    <a:pt x="1028700" y="130492"/>
                  </a:lnTo>
                  <a:lnTo>
                    <a:pt x="1061085" y="109538"/>
                  </a:lnTo>
                  <a:lnTo>
                    <a:pt x="1093470" y="89535"/>
                  </a:lnTo>
                  <a:lnTo>
                    <a:pt x="1124903" y="73342"/>
                  </a:lnTo>
                  <a:lnTo>
                    <a:pt x="1157288" y="60960"/>
                  </a:lnTo>
                  <a:lnTo>
                    <a:pt x="1189672" y="52388"/>
                  </a:lnTo>
                  <a:lnTo>
                    <a:pt x="1221105" y="48578"/>
                  </a:lnTo>
                  <a:lnTo>
                    <a:pt x="1253490" y="47625"/>
                  </a:lnTo>
                  <a:lnTo>
                    <a:pt x="1285875" y="49530"/>
                  </a:lnTo>
                  <a:lnTo>
                    <a:pt x="1318260" y="53340"/>
                  </a:lnTo>
                  <a:lnTo>
                    <a:pt x="1350645" y="57150"/>
                  </a:lnTo>
                  <a:lnTo>
                    <a:pt x="1382078" y="60008"/>
                  </a:lnTo>
                  <a:lnTo>
                    <a:pt x="1414462" y="60960"/>
                  </a:lnTo>
                  <a:lnTo>
                    <a:pt x="1446847" y="60008"/>
                  </a:lnTo>
                  <a:lnTo>
                    <a:pt x="1478280" y="57150"/>
                  </a:lnTo>
                  <a:lnTo>
                    <a:pt x="1510665" y="51435"/>
                  </a:lnTo>
                  <a:lnTo>
                    <a:pt x="1543050" y="44767"/>
                  </a:lnTo>
                  <a:lnTo>
                    <a:pt x="1575435" y="38100"/>
                  </a:lnTo>
                  <a:lnTo>
                    <a:pt x="1607820" y="32385"/>
                  </a:lnTo>
                  <a:lnTo>
                    <a:pt x="1639253" y="28575"/>
                  </a:lnTo>
                  <a:lnTo>
                    <a:pt x="1671638" y="28575"/>
                  </a:lnTo>
                  <a:lnTo>
                    <a:pt x="1704022" y="32385"/>
                  </a:lnTo>
                  <a:lnTo>
                    <a:pt x="1735455" y="40958"/>
                  </a:lnTo>
                  <a:lnTo>
                    <a:pt x="1767840" y="54292"/>
                  </a:lnTo>
                  <a:lnTo>
                    <a:pt x="1800225" y="71438"/>
                  </a:lnTo>
                  <a:lnTo>
                    <a:pt x="1832610" y="92392"/>
                  </a:lnTo>
                  <a:lnTo>
                    <a:pt x="1864995" y="115253"/>
                  </a:lnTo>
                  <a:lnTo>
                    <a:pt x="1896428" y="138112"/>
                  </a:lnTo>
                  <a:lnTo>
                    <a:pt x="1928812" y="160020"/>
                  </a:lnTo>
                  <a:lnTo>
                    <a:pt x="1961197" y="179070"/>
                  </a:lnTo>
                  <a:lnTo>
                    <a:pt x="1992630" y="194310"/>
                  </a:lnTo>
                  <a:lnTo>
                    <a:pt x="2025015" y="204788"/>
                  </a:lnTo>
                  <a:lnTo>
                    <a:pt x="2057400" y="209550"/>
                  </a:lnTo>
                </a:path>
              </a:pathLst>
            </a:custGeom>
            <a:noFill/>
            <a:ln w="24765" cap="rnd">
              <a:solidFill>
                <a:srgbClr val="34D3C0"/>
              </a:solidFill>
              <a:round/>
            </a:ln>
          </p:spPr>
        </p:sp>
        <p:sp>
          <p:nvSpPr>
            <p:cNvPr id="46" name="TextBox 46"/>
            <p:cNvSpPr txBox="1"/>
            <p:nvPr/>
          </p:nvSpPr>
          <p:spPr>
            <a:xfrm>
              <a:off x="6394323" y="3710464"/>
              <a:ext cx="2352947"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Reconstruct current from</a:t>
              </a:r>
            </a:p>
          </p:txBody>
        </p:sp>
        <p:sp>
          <p:nvSpPr>
            <p:cNvPr id="47" name="TextBox 47"/>
            <p:cNvSpPr txBox="1"/>
            <p:nvPr/>
          </p:nvSpPr>
          <p:spPr>
            <a:xfrm>
              <a:off x="6394323" y="3929539"/>
              <a:ext cx="410998"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past</a:t>
              </a:r>
            </a:p>
          </p:txBody>
        </p:sp>
        <p:sp>
          <p:nvSpPr>
            <p:cNvPr id="48" name="TextBox 48"/>
            <p:cNvSpPr txBox="1"/>
            <p:nvPr/>
          </p:nvSpPr>
          <p:spPr>
            <a:xfrm>
              <a:off x="6395923" y="4239768"/>
              <a:ext cx="1898995"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TimeSiam samples a past and a</a:t>
              </a:r>
            </a:p>
          </p:txBody>
        </p:sp>
        <p:sp>
          <p:nvSpPr>
            <p:cNvPr id="49" name="TextBox 49"/>
            <p:cNvSpPr txBox="1"/>
            <p:nvPr/>
          </p:nvSpPr>
          <p:spPr>
            <a:xfrm>
              <a:off x="6395923" y="4411218"/>
              <a:ext cx="1838432"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current subseries and trains</a:t>
              </a:r>
            </a:p>
          </p:txBody>
        </p:sp>
        <p:sp>
          <p:nvSpPr>
            <p:cNvPr id="50" name="TextBox 50"/>
            <p:cNvSpPr txBox="1"/>
            <p:nvPr/>
          </p:nvSpPr>
          <p:spPr>
            <a:xfrm>
              <a:off x="6395923" y="4582668"/>
              <a:ext cx="2366129"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Siamese encoders to reconstruct the</a:t>
              </a:r>
            </a:p>
          </p:txBody>
        </p:sp>
        <p:sp>
          <p:nvSpPr>
            <p:cNvPr id="51" name="TextBox 51"/>
            <p:cNvSpPr txBox="1"/>
            <p:nvPr/>
          </p:nvSpPr>
          <p:spPr>
            <a:xfrm>
              <a:off x="6395923" y="4754118"/>
              <a:ext cx="1993514"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masked current from the past.</a:t>
              </a:r>
            </a:p>
          </p:txBody>
        </p:sp>
      </p:grpSp>
      <p:grpSp>
        <p:nvGrpSpPr>
          <p:cNvPr id="63" name="Group 63"/>
          <p:cNvGrpSpPr/>
          <p:nvPr/>
        </p:nvGrpSpPr>
        <p:grpSpPr>
          <a:xfrm>
            <a:off x="8953500" y="2819400"/>
            <a:ext cx="2628900" cy="2247900"/>
            <a:chOff x="8953500" y="2819400"/>
            <a:chExt cx="2628900" cy="2247900"/>
          </a:xfrm>
        </p:grpSpPr>
        <p:sp>
          <p:nvSpPr>
            <p:cNvPr id="53" name="Rectangle 53"/>
            <p:cNvSpPr/>
            <p:nvPr/>
          </p:nvSpPr>
          <p:spPr>
            <a:xfrm>
              <a:off x="8953500" y="2819400"/>
              <a:ext cx="2628900" cy="2247900"/>
            </a:xfrm>
            <a:prstGeom prst="roundRect">
              <a:avLst>
                <a:gd name="adj" fmla="val 5932"/>
              </a:avLst>
            </a:prstGeom>
            <a:solidFill>
              <a:schemeClr val="accent5"/>
            </a:solidFill>
            <a:ln w="14288">
              <a:solidFill>
                <a:srgbClr val="26455F"/>
              </a:solidFill>
            </a:ln>
          </p:spPr>
        </p:sp>
        <p:sp>
          <p:nvSpPr>
            <p:cNvPr id="54" name="Rectangle 54"/>
            <p:cNvSpPr/>
            <p:nvPr/>
          </p:nvSpPr>
          <p:spPr>
            <a:xfrm>
              <a:off x="8953500" y="2819400"/>
              <a:ext cx="2628900" cy="57150"/>
            </a:xfrm>
            <a:prstGeom prst="roundRect">
              <a:avLst>
                <a:gd name="adj" fmla="val 50000"/>
              </a:avLst>
            </a:prstGeom>
            <a:solidFill>
              <a:srgbClr val="48C78E"/>
            </a:solidFill>
            <a:ln>
              <a:noFill/>
            </a:ln>
          </p:spPr>
        </p:sp>
        <p:sp>
          <p:nvSpPr>
            <p:cNvPr id="55" name="Rectangle 55"/>
            <p:cNvSpPr/>
            <p:nvPr/>
          </p:nvSpPr>
          <p:spPr>
            <a:xfrm>
              <a:off x="9163050" y="3105150"/>
              <a:ext cx="2209800" cy="419100"/>
            </a:xfrm>
            <a:prstGeom prst="roundRect">
              <a:avLst>
                <a:gd name="adj" fmla="val 18182"/>
              </a:avLst>
            </a:prstGeom>
            <a:solidFill>
              <a:srgbClr val="0E2334"/>
            </a:solidFill>
            <a:ln w="14288">
              <a:solidFill>
                <a:srgbClr val="26455F"/>
              </a:solidFill>
            </a:ln>
          </p:spPr>
        </p:sp>
        <p:sp>
          <p:nvSpPr>
            <p:cNvPr id="56" name="Polyline 56"/>
            <p:cNvSpPr/>
            <p:nvPr/>
          </p:nvSpPr>
          <p:spPr>
            <a:xfrm>
              <a:off x="9239250" y="3209925"/>
              <a:ext cx="2057400" cy="217170"/>
            </a:xfrm>
            <a:custGeom>
              <a:avLst/>
              <a:gdLst/>
              <a:ahLst/>
              <a:cxnLst/>
              <a:rect l="l" t="t" r="r" b="b"/>
              <a:pathLst>
                <a:path w="2057400" h="217170">
                  <a:moveTo>
                    <a:pt x="0" y="0"/>
                  </a:moveTo>
                  <a:lnTo>
                    <a:pt x="32385" y="953"/>
                  </a:lnTo>
                  <a:lnTo>
                    <a:pt x="64770" y="6667"/>
                  </a:lnTo>
                  <a:lnTo>
                    <a:pt x="96203" y="16192"/>
                  </a:lnTo>
                  <a:lnTo>
                    <a:pt x="128588" y="28575"/>
                  </a:lnTo>
                  <a:lnTo>
                    <a:pt x="160972" y="42862"/>
                  </a:lnTo>
                  <a:lnTo>
                    <a:pt x="192405" y="56197"/>
                  </a:lnTo>
                  <a:lnTo>
                    <a:pt x="224790" y="68580"/>
                  </a:lnTo>
                  <a:lnTo>
                    <a:pt x="257175" y="78105"/>
                  </a:lnTo>
                  <a:lnTo>
                    <a:pt x="289560" y="85725"/>
                  </a:lnTo>
                  <a:lnTo>
                    <a:pt x="321945" y="90488"/>
                  </a:lnTo>
                  <a:lnTo>
                    <a:pt x="353378" y="92392"/>
                  </a:lnTo>
                  <a:lnTo>
                    <a:pt x="385762" y="93345"/>
                  </a:lnTo>
                  <a:lnTo>
                    <a:pt x="418147" y="92392"/>
                  </a:lnTo>
                  <a:lnTo>
                    <a:pt x="449580" y="93345"/>
                  </a:lnTo>
                  <a:lnTo>
                    <a:pt x="481965" y="94297"/>
                  </a:lnTo>
                  <a:lnTo>
                    <a:pt x="514350" y="99060"/>
                  </a:lnTo>
                  <a:lnTo>
                    <a:pt x="546735" y="105728"/>
                  </a:lnTo>
                  <a:lnTo>
                    <a:pt x="579120" y="116205"/>
                  </a:lnTo>
                  <a:lnTo>
                    <a:pt x="610552" y="130492"/>
                  </a:lnTo>
                  <a:lnTo>
                    <a:pt x="642938" y="145733"/>
                  </a:lnTo>
                  <a:lnTo>
                    <a:pt x="675323" y="162878"/>
                  </a:lnTo>
                  <a:lnTo>
                    <a:pt x="706755" y="179070"/>
                  </a:lnTo>
                  <a:lnTo>
                    <a:pt x="739140" y="194310"/>
                  </a:lnTo>
                  <a:lnTo>
                    <a:pt x="771525" y="206692"/>
                  </a:lnTo>
                  <a:lnTo>
                    <a:pt x="803910" y="214312"/>
                  </a:lnTo>
                  <a:lnTo>
                    <a:pt x="836295" y="217170"/>
                  </a:lnTo>
                  <a:lnTo>
                    <a:pt x="867727" y="213360"/>
                  </a:lnTo>
                  <a:lnTo>
                    <a:pt x="900112" y="204788"/>
                  </a:lnTo>
                  <a:lnTo>
                    <a:pt x="932498" y="191453"/>
                  </a:lnTo>
                  <a:lnTo>
                    <a:pt x="963930" y="173355"/>
                  </a:lnTo>
                  <a:lnTo>
                    <a:pt x="996315" y="152400"/>
                  </a:lnTo>
                  <a:lnTo>
                    <a:pt x="1028700" y="130492"/>
                  </a:lnTo>
                  <a:lnTo>
                    <a:pt x="1061085" y="109538"/>
                  </a:lnTo>
                  <a:lnTo>
                    <a:pt x="1093470" y="89535"/>
                  </a:lnTo>
                  <a:lnTo>
                    <a:pt x="1124902" y="73342"/>
                  </a:lnTo>
                  <a:lnTo>
                    <a:pt x="1157288" y="60960"/>
                  </a:lnTo>
                  <a:lnTo>
                    <a:pt x="1189673" y="52388"/>
                  </a:lnTo>
                  <a:lnTo>
                    <a:pt x="1221105" y="48578"/>
                  </a:lnTo>
                  <a:lnTo>
                    <a:pt x="1253490" y="47625"/>
                  </a:lnTo>
                  <a:lnTo>
                    <a:pt x="1285875" y="49530"/>
                  </a:lnTo>
                  <a:lnTo>
                    <a:pt x="1318260" y="53340"/>
                  </a:lnTo>
                  <a:lnTo>
                    <a:pt x="1350645" y="57150"/>
                  </a:lnTo>
                  <a:lnTo>
                    <a:pt x="1382077" y="60008"/>
                  </a:lnTo>
                  <a:lnTo>
                    <a:pt x="1414462" y="60960"/>
                  </a:lnTo>
                  <a:lnTo>
                    <a:pt x="1446848" y="60008"/>
                  </a:lnTo>
                  <a:lnTo>
                    <a:pt x="1478280" y="57150"/>
                  </a:lnTo>
                  <a:lnTo>
                    <a:pt x="1510665" y="51435"/>
                  </a:lnTo>
                  <a:lnTo>
                    <a:pt x="1543050" y="44767"/>
                  </a:lnTo>
                  <a:lnTo>
                    <a:pt x="1575435" y="38100"/>
                  </a:lnTo>
                  <a:lnTo>
                    <a:pt x="1607820" y="32385"/>
                  </a:lnTo>
                  <a:lnTo>
                    <a:pt x="1639252" y="28575"/>
                  </a:lnTo>
                  <a:lnTo>
                    <a:pt x="1671638" y="28575"/>
                  </a:lnTo>
                  <a:lnTo>
                    <a:pt x="1704023" y="32385"/>
                  </a:lnTo>
                  <a:lnTo>
                    <a:pt x="1735455" y="40958"/>
                  </a:lnTo>
                  <a:lnTo>
                    <a:pt x="1767840" y="54292"/>
                  </a:lnTo>
                  <a:lnTo>
                    <a:pt x="1800225" y="71438"/>
                  </a:lnTo>
                  <a:lnTo>
                    <a:pt x="1832610" y="92392"/>
                  </a:lnTo>
                  <a:lnTo>
                    <a:pt x="1864995" y="115253"/>
                  </a:lnTo>
                  <a:lnTo>
                    <a:pt x="1896427" y="138112"/>
                  </a:lnTo>
                  <a:lnTo>
                    <a:pt x="1928812" y="160020"/>
                  </a:lnTo>
                  <a:lnTo>
                    <a:pt x="1961198" y="179070"/>
                  </a:lnTo>
                  <a:lnTo>
                    <a:pt x="1992630" y="194310"/>
                  </a:lnTo>
                  <a:lnTo>
                    <a:pt x="2025015" y="204788"/>
                  </a:lnTo>
                  <a:lnTo>
                    <a:pt x="2057400" y="209550"/>
                  </a:lnTo>
                </a:path>
              </a:pathLst>
            </a:custGeom>
            <a:noFill/>
            <a:ln w="24765" cap="rnd">
              <a:solidFill>
                <a:srgbClr val="48C78E"/>
              </a:solidFill>
              <a:round/>
            </a:ln>
          </p:spPr>
        </p:sp>
        <p:sp>
          <p:nvSpPr>
            <p:cNvPr id="57" name="TextBox 57"/>
            <p:cNvSpPr txBox="1"/>
            <p:nvPr/>
          </p:nvSpPr>
          <p:spPr>
            <a:xfrm>
              <a:off x="9175623" y="3710464"/>
              <a:ext cx="2199322"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Lineage embeddings, new</a:t>
              </a:r>
            </a:p>
          </p:txBody>
        </p:sp>
        <p:sp>
          <p:nvSpPr>
            <p:cNvPr id="58" name="TextBox 58"/>
            <p:cNvSpPr txBox="1"/>
            <p:nvPr/>
          </p:nvSpPr>
          <p:spPr>
            <a:xfrm>
              <a:off x="9175623" y="3929539"/>
              <a:ext cx="471763"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SOTA</a:t>
              </a:r>
            </a:p>
          </p:txBody>
        </p:sp>
        <p:sp>
          <p:nvSpPr>
            <p:cNvPr id="59" name="TextBox 59"/>
            <p:cNvSpPr txBox="1"/>
            <p:nvPr/>
          </p:nvSpPr>
          <p:spPr>
            <a:xfrm>
              <a:off x="9177223" y="4239768"/>
              <a:ext cx="2159106"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Learnable lineage embeddings span</a:t>
              </a:r>
            </a:p>
          </p:txBody>
        </p:sp>
        <p:sp>
          <p:nvSpPr>
            <p:cNvPr id="60" name="TextBox 60"/>
            <p:cNvSpPr txBox="1"/>
            <p:nvPr/>
          </p:nvSpPr>
          <p:spPr>
            <a:xfrm>
              <a:off x="9177223" y="4411218"/>
              <a:ext cx="1999976"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many time distances; across 13</a:t>
              </a:r>
            </a:p>
          </p:txBody>
        </p:sp>
        <p:sp>
          <p:nvSpPr>
            <p:cNvPr id="61" name="TextBox 61"/>
            <p:cNvSpPr txBox="1"/>
            <p:nvPr/>
          </p:nvSpPr>
          <p:spPr>
            <a:xfrm>
              <a:off x="9177223" y="4582668"/>
              <a:ext cx="2083979"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benchmarks and 2 tasks it sets a</a:t>
              </a:r>
            </a:p>
          </p:txBody>
        </p:sp>
        <p:sp>
          <p:nvSpPr>
            <p:cNvPr id="62" name="TextBox 62"/>
            <p:cNvSpPr txBox="1"/>
            <p:nvPr/>
          </p:nvSpPr>
          <p:spPr>
            <a:xfrm>
              <a:off x="9177223" y="4754118"/>
              <a:ext cx="1399032"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new state of the art.</a:t>
              </a:r>
            </a:p>
          </p:txBody>
        </p:sp>
      </p:grpSp>
      <p:sp>
        <p:nvSpPr>
          <p:cNvPr id="64" name="Line 64"/>
          <p:cNvSpPr/>
          <p:nvPr/>
        </p:nvSpPr>
        <p:spPr>
          <a:xfrm>
            <a:off x="609600" y="535305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65" name="TextBox 65"/>
          <p:cNvSpPr txBox="1"/>
          <p:nvPr/>
        </p:nvSpPr>
        <p:spPr>
          <a:xfrm>
            <a:off x="604266" y="5582602"/>
            <a:ext cx="1294012"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arXiv:2402.02475</a:t>
            </a:r>
          </a:p>
        </p:txBody>
      </p:sp>
      <p:sp>
        <p:nvSpPr>
          <p:cNvPr id="66" name="TextBox 66"/>
          <p:cNvSpPr txBox="1"/>
          <p:nvPr/>
        </p:nvSpPr>
        <p:spPr>
          <a:xfrm>
            <a:off x="2661856" y="5586651"/>
            <a:ext cx="1954700"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github.com/thuml/TimeSiam</a:t>
            </a:r>
          </a:p>
        </p:txBody>
      </p:sp>
      <p:sp>
        <p:nvSpPr>
          <p:cNvPr id="67" name="TextBox 67"/>
          <p:cNvSpPr txBox="1"/>
          <p:nvPr/>
        </p:nvSpPr>
        <p:spPr>
          <a:xfrm>
            <a:off x="6696499" y="5582602"/>
            <a:ext cx="4891235"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Learn temporal correlation the world's sensors already give away.</a:t>
            </a:r>
          </a:p>
        </p:txBody>
      </p:sp>
      <p:sp>
        <p:nvSpPr>
          <p:cNvPr id="68" name="cue_s01_c1_time_series_pre_training_promises_cu" title="cue_s01_c1_time_series_pre_training_promises_cu" descr="cue_s01_c1_time_series_pre_training_promises_cu Time series pre-training promises to cut labeling costs and boost many downstream tasks, but the standard recipes borrowed from vision and language fall short."/>
          <p:cNvSpPr/>
          <p:nvPr/>
        </p:nvSpPr>
        <p:spPr>
          <a:xfrm>
            <a:off x="609600" y="2819323"/>
            <a:ext cx="2628595" cy="22480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cue_s01_c2_randomly_masking_series_computing_se" title="cue_s01_c2_randomly_masking_series_computing_se" descr="cue_s01_c2_randomly_masking_series_computing_se Randomly masking a series or computing series-wise similarity tends to distort or ignore the temporal correlations that make time series meaningful. This paper introduces TimeSiam, a simple but effective self-supervised framework built on Siamese networks."/>
          <p:cNvSpPr/>
          <p:nvPr/>
        </p:nvSpPr>
        <p:spPr>
          <a:xfrm>
            <a:off x="3390595" y="2819323"/>
            <a:ext cx="2628595" cy="22480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cue_s01_c3_instead_masking_isolation_timesiam_s" title="cue_s01_c3_instead_masking_isolation_timesiam_s" descr="cue_s01_c3_instead_masking_isolation_timesiam_s Instead of masking in isolation, TimeSiam samples a past and a current subseries from the same sequence and trains Siamese encoders to reconstruct the masked current series from the past one, explicitly modeling how observations correlate across time."/>
          <p:cNvSpPr/>
          <p:nvPr/>
        </p:nvSpPr>
        <p:spPr>
          <a:xfrm>
            <a:off x="6171590" y="2819323"/>
            <a:ext cx="2628595" cy="22480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cue_s01_c4_learnable_lineage_embeddings_let_sin" title="cue_s01_c4_learnable_lineage_embeddings_let_sin" descr="cue_s01_c4_learnable_lineage_embeddings_let_sin Learnable lineage embeddings let a single model capture correlations at many different time distances. Across thirteen benchmarks and two mainstream tasks, forecasting and classification, TimeSiam sets a new state of the art in both in-domain and cross-domain"/>
          <p:cNvSpPr/>
          <p:nvPr/>
        </p:nvSpPr>
        <p:spPr>
          <a:xfrm>
            <a:off x="8953804" y="2819323"/>
            <a:ext cx="2628595" cy="22480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882792"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PROBLEM</a:t>
            </a:r>
          </a:p>
        </p:txBody>
      </p:sp>
      <p:sp>
        <p:nvSpPr>
          <p:cNvPr id="4" name="TextBox 4"/>
          <p:cNvSpPr txBox="1"/>
          <p:nvPr/>
        </p:nvSpPr>
        <p:spPr>
          <a:xfrm>
            <a:off x="598170" y="804862"/>
            <a:ext cx="771412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Vision-and-language recipes don't fit time series</a:t>
            </a:r>
          </a:p>
        </p:txBody>
      </p:sp>
      <p:grpSp>
        <p:nvGrpSpPr>
          <p:cNvPr id="21" name="Group 21"/>
          <p:cNvGrpSpPr/>
          <p:nvPr/>
        </p:nvGrpSpPr>
        <p:grpSpPr>
          <a:xfrm>
            <a:off x="609600" y="1504950"/>
            <a:ext cx="3848100" cy="3733800"/>
            <a:chOff x="609600" y="1504950"/>
            <a:chExt cx="3848100" cy="3733800"/>
          </a:xfrm>
        </p:grpSpPr>
        <p:sp>
          <p:nvSpPr>
            <p:cNvPr id="5" name="Rectangle 5"/>
            <p:cNvSpPr/>
            <p:nvPr/>
          </p:nvSpPr>
          <p:spPr>
            <a:xfrm>
              <a:off x="609600" y="1504950"/>
              <a:ext cx="3848100" cy="3733800"/>
            </a:xfrm>
            <a:prstGeom prst="roundRect">
              <a:avLst>
                <a:gd name="adj" fmla="val 3571"/>
              </a:avLst>
            </a:prstGeom>
            <a:solidFill>
              <a:schemeClr val="accent5"/>
            </a:solidFill>
            <a:ln w="14288">
              <a:solidFill>
                <a:srgbClr val="26455F"/>
              </a:solidFill>
            </a:ln>
          </p:spPr>
        </p:sp>
        <p:sp>
          <p:nvSpPr>
            <p:cNvPr id="6" name="Rectangle 6"/>
            <p:cNvSpPr/>
            <p:nvPr/>
          </p:nvSpPr>
          <p:spPr>
            <a:xfrm>
              <a:off x="609600" y="1504950"/>
              <a:ext cx="57150" cy="3733800"/>
            </a:xfrm>
            <a:prstGeom prst="roundRect">
              <a:avLst>
                <a:gd name="adj" fmla="val 50000"/>
              </a:avLst>
            </a:prstGeom>
            <a:solidFill>
              <a:schemeClr val="accent2"/>
            </a:solidFill>
            <a:ln>
              <a:noFill/>
            </a:ln>
          </p:spPr>
        </p:sp>
        <p:sp>
          <p:nvSpPr>
            <p:cNvPr id="7" name="TextBox 7"/>
            <p:cNvSpPr txBox="1"/>
            <p:nvPr/>
          </p:nvSpPr>
          <p:spPr>
            <a:xfrm>
              <a:off x="869442" y="1778318"/>
              <a:ext cx="2997308"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Borrowed tools, an awkward fit</a:t>
              </a:r>
            </a:p>
          </p:txBody>
        </p:sp>
        <p:sp>
          <p:nvSpPr>
            <p:cNvPr id="8" name="TextBox 8"/>
            <p:cNvSpPr txBox="1"/>
            <p:nvPr/>
          </p:nvSpPr>
          <p:spPr>
            <a:xfrm>
              <a:off x="870776" y="2168604"/>
              <a:ext cx="305325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Self-supervised pre-training transformed</a:t>
              </a:r>
            </a:p>
          </p:txBody>
        </p:sp>
        <p:sp>
          <p:nvSpPr>
            <p:cNvPr id="9" name="TextBox 9"/>
            <p:cNvSpPr txBox="1"/>
            <p:nvPr/>
          </p:nvSpPr>
          <p:spPr>
            <a:xfrm>
              <a:off x="870776" y="2387679"/>
              <a:ext cx="257892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vision and language, so researchers</a:t>
              </a:r>
            </a:p>
          </p:txBody>
        </p:sp>
        <p:sp>
          <p:nvSpPr>
            <p:cNvPr id="10" name="TextBox 10"/>
            <p:cNvSpPr txBox="1"/>
            <p:nvPr/>
          </p:nvSpPr>
          <p:spPr>
            <a:xfrm>
              <a:off x="870776" y="2606754"/>
              <a:ext cx="309250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reached for the same tools on time series.</a:t>
              </a:r>
            </a:p>
          </p:txBody>
        </p:sp>
        <p:sp>
          <p:nvSpPr>
            <p:cNvPr id="11" name="TextBox 11"/>
            <p:cNvSpPr txBox="1"/>
            <p:nvPr/>
          </p:nvSpPr>
          <p:spPr>
            <a:xfrm>
              <a:off x="870776" y="2825829"/>
              <a:ext cx="171117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But the fit is awkward.</a:t>
              </a:r>
            </a:p>
          </p:txBody>
        </p:sp>
        <p:sp>
          <p:nvSpPr>
            <p:cNvPr id="12" name="Rectangle 12"/>
            <p:cNvSpPr/>
            <p:nvPr/>
          </p:nvSpPr>
          <p:spPr>
            <a:xfrm>
              <a:off x="876300" y="3429000"/>
              <a:ext cx="3276600" cy="1314450"/>
            </a:xfrm>
            <a:prstGeom prst="roundRect">
              <a:avLst>
                <a:gd name="adj" fmla="val 7246"/>
              </a:avLst>
            </a:prstGeom>
            <a:solidFill>
              <a:schemeClr val="accent6"/>
            </a:solidFill>
            <a:ln w="14288">
              <a:solidFill>
                <a:srgbClr val="26455F"/>
              </a:solidFill>
            </a:ln>
          </p:spPr>
        </p:sp>
        <p:sp>
          <p:nvSpPr>
            <p:cNvPr id="13" name="TextBox 13"/>
            <p:cNvSpPr txBox="1"/>
            <p:nvPr/>
          </p:nvSpPr>
          <p:spPr>
            <a:xfrm>
              <a:off x="1062038" y="3594497"/>
              <a:ext cx="2128801" cy="183356"/>
            </a:xfrm>
            <a:prstGeom prst="rect">
              <a:avLst/>
            </a:prstGeom>
            <a:noFill/>
            <a:ln>
              <a:noFill/>
            </a:ln>
          </p:spPr>
          <p:txBody>
            <a:bodyPr wrap="none" lIns="0" tIns="0" rIns="0" bIns="0" anchor="t" anchorCtr="0">
              <a:spAutoFit/>
            </a:bodyPr>
            <a:lstStyle/>
            <a:p>
              <a:pPr algn="l"/>
              <a:r>
                <a:rPr lang="en-US" sz="940" b="1" dirty="0">
                  <a:solidFill>
                    <a:srgbClr val="6E869C"/>
                  </a:solidFill>
                  <a:latin typeface="+mn-lt"/>
                  <a:ea typeface="+mn-ea"/>
                  <a:cs typeface="+mn-cs"/>
                </a:rPr>
                <a:t>smooth signal vs shattered mask</a:t>
              </a:r>
            </a:p>
          </p:txBody>
        </p:sp>
        <p:sp>
          <p:nvSpPr>
            <p:cNvPr id="14" name="Rectangle 14"/>
            <p:cNvSpPr/>
            <p:nvPr/>
          </p:nvSpPr>
          <p:spPr>
            <a:xfrm>
              <a:off x="1066800" y="3829050"/>
              <a:ext cx="3048000" cy="381000"/>
            </a:xfrm>
            <a:prstGeom prst="roundRect">
              <a:avLst>
                <a:gd name="adj" fmla="val 20000"/>
              </a:avLst>
            </a:prstGeom>
            <a:solidFill>
              <a:srgbClr val="0E2334"/>
            </a:solidFill>
            <a:ln w="14288">
              <a:solidFill>
                <a:srgbClr val="26455F"/>
              </a:solidFill>
            </a:ln>
          </p:spPr>
        </p:sp>
        <p:sp>
          <p:nvSpPr>
            <p:cNvPr id="15" name="Polyline 15"/>
            <p:cNvSpPr/>
            <p:nvPr/>
          </p:nvSpPr>
          <p:spPr>
            <a:xfrm>
              <a:off x="1143000" y="3935730"/>
              <a:ext cx="2895600" cy="181928"/>
            </a:xfrm>
            <a:custGeom>
              <a:avLst/>
              <a:gdLst/>
              <a:ahLst/>
              <a:cxnLst/>
              <a:rect l="l" t="t" r="r" b="b"/>
              <a:pathLst>
                <a:path w="2895600" h="181928">
                  <a:moveTo>
                    <a:pt x="0" y="38100"/>
                  </a:moveTo>
                  <a:lnTo>
                    <a:pt x="45720" y="22860"/>
                  </a:lnTo>
                  <a:lnTo>
                    <a:pt x="90488" y="10478"/>
                  </a:lnTo>
                  <a:lnTo>
                    <a:pt x="135255" y="2858"/>
                  </a:lnTo>
                  <a:lnTo>
                    <a:pt x="180975" y="0"/>
                  </a:lnTo>
                  <a:lnTo>
                    <a:pt x="226695" y="1905"/>
                  </a:lnTo>
                  <a:lnTo>
                    <a:pt x="271462" y="6667"/>
                  </a:lnTo>
                  <a:lnTo>
                    <a:pt x="316230" y="14288"/>
                  </a:lnTo>
                  <a:lnTo>
                    <a:pt x="361950" y="23812"/>
                  </a:lnTo>
                  <a:lnTo>
                    <a:pt x="407670" y="33338"/>
                  </a:lnTo>
                  <a:lnTo>
                    <a:pt x="452438" y="42862"/>
                  </a:lnTo>
                  <a:lnTo>
                    <a:pt x="497205" y="50483"/>
                  </a:lnTo>
                  <a:lnTo>
                    <a:pt x="542925" y="56198"/>
                  </a:lnTo>
                  <a:lnTo>
                    <a:pt x="588645" y="60008"/>
                  </a:lnTo>
                  <a:lnTo>
                    <a:pt x="633412" y="61912"/>
                  </a:lnTo>
                  <a:lnTo>
                    <a:pt x="678180" y="61912"/>
                  </a:lnTo>
                  <a:lnTo>
                    <a:pt x="723900" y="60960"/>
                  </a:lnTo>
                  <a:lnTo>
                    <a:pt x="769620" y="60960"/>
                  </a:lnTo>
                  <a:lnTo>
                    <a:pt x="814388" y="60960"/>
                  </a:lnTo>
                  <a:lnTo>
                    <a:pt x="859155" y="63817"/>
                  </a:lnTo>
                  <a:lnTo>
                    <a:pt x="904875" y="69533"/>
                  </a:lnTo>
                  <a:lnTo>
                    <a:pt x="950595" y="78105"/>
                  </a:lnTo>
                  <a:lnTo>
                    <a:pt x="995362" y="88583"/>
                  </a:lnTo>
                  <a:lnTo>
                    <a:pt x="1040130" y="102870"/>
                  </a:lnTo>
                  <a:lnTo>
                    <a:pt x="1085850" y="118110"/>
                  </a:lnTo>
                  <a:lnTo>
                    <a:pt x="1131570" y="134303"/>
                  </a:lnTo>
                  <a:lnTo>
                    <a:pt x="1176338" y="150495"/>
                  </a:lnTo>
                  <a:lnTo>
                    <a:pt x="1221105" y="163830"/>
                  </a:lnTo>
                  <a:lnTo>
                    <a:pt x="1266825" y="174308"/>
                  </a:lnTo>
                  <a:lnTo>
                    <a:pt x="1312545" y="180023"/>
                  </a:lnTo>
                  <a:lnTo>
                    <a:pt x="1357312" y="181928"/>
                  </a:lnTo>
                  <a:lnTo>
                    <a:pt x="1402080" y="178117"/>
                  </a:lnTo>
                  <a:lnTo>
                    <a:pt x="1447800" y="170498"/>
                  </a:lnTo>
                  <a:lnTo>
                    <a:pt x="1493520" y="158115"/>
                  </a:lnTo>
                  <a:lnTo>
                    <a:pt x="1538288" y="142875"/>
                  </a:lnTo>
                  <a:lnTo>
                    <a:pt x="1583055" y="125730"/>
                  </a:lnTo>
                  <a:lnTo>
                    <a:pt x="1628775" y="107633"/>
                  </a:lnTo>
                  <a:lnTo>
                    <a:pt x="1674495" y="90488"/>
                  </a:lnTo>
                  <a:lnTo>
                    <a:pt x="1719262" y="76200"/>
                  </a:lnTo>
                  <a:lnTo>
                    <a:pt x="1764030" y="63817"/>
                  </a:lnTo>
                  <a:lnTo>
                    <a:pt x="1809750" y="55245"/>
                  </a:lnTo>
                  <a:lnTo>
                    <a:pt x="1855470" y="49530"/>
                  </a:lnTo>
                  <a:lnTo>
                    <a:pt x="1900238" y="46673"/>
                  </a:lnTo>
                  <a:lnTo>
                    <a:pt x="1945005" y="46673"/>
                  </a:lnTo>
                  <a:lnTo>
                    <a:pt x="1990725" y="47625"/>
                  </a:lnTo>
                  <a:lnTo>
                    <a:pt x="2036445" y="49530"/>
                  </a:lnTo>
                  <a:lnTo>
                    <a:pt x="2081212" y="51435"/>
                  </a:lnTo>
                  <a:lnTo>
                    <a:pt x="2125980" y="51435"/>
                  </a:lnTo>
                  <a:lnTo>
                    <a:pt x="2171700" y="49530"/>
                  </a:lnTo>
                  <a:lnTo>
                    <a:pt x="2217420" y="45720"/>
                  </a:lnTo>
                  <a:lnTo>
                    <a:pt x="2262188" y="40005"/>
                  </a:lnTo>
                  <a:lnTo>
                    <a:pt x="2306955" y="33338"/>
                  </a:lnTo>
                  <a:lnTo>
                    <a:pt x="2352675" y="25717"/>
                  </a:lnTo>
                  <a:lnTo>
                    <a:pt x="2398395" y="18098"/>
                  </a:lnTo>
                  <a:lnTo>
                    <a:pt x="2443162" y="12383"/>
                  </a:lnTo>
                  <a:lnTo>
                    <a:pt x="2487930" y="9525"/>
                  </a:lnTo>
                  <a:lnTo>
                    <a:pt x="2533650" y="9525"/>
                  </a:lnTo>
                  <a:lnTo>
                    <a:pt x="2579370" y="14288"/>
                  </a:lnTo>
                  <a:lnTo>
                    <a:pt x="2624138" y="22860"/>
                  </a:lnTo>
                  <a:lnTo>
                    <a:pt x="2668905" y="35242"/>
                  </a:lnTo>
                  <a:lnTo>
                    <a:pt x="2714625" y="52388"/>
                  </a:lnTo>
                  <a:lnTo>
                    <a:pt x="2760345" y="70485"/>
                  </a:lnTo>
                  <a:lnTo>
                    <a:pt x="2805112" y="90488"/>
                  </a:lnTo>
                  <a:lnTo>
                    <a:pt x="2849880" y="110490"/>
                  </a:lnTo>
                  <a:lnTo>
                    <a:pt x="2895600" y="129540"/>
                  </a:lnTo>
                </a:path>
              </a:pathLst>
            </a:custGeom>
            <a:noFill/>
            <a:ln w="24765" cap="rnd">
              <a:solidFill>
                <a:srgbClr val="34D3C0"/>
              </a:solidFill>
              <a:round/>
            </a:ln>
          </p:spPr>
        </p:sp>
        <p:sp>
          <p:nvSpPr>
            <p:cNvPr id="16" name="Rectangle 16"/>
            <p:cNvSpPr/>
            <p:nvPr/>
          </p:nvSpPr>
          <p:spPr>
            <a:xfrm>
              <a:off x="1066800" y="4305300"/>
              <a:ext cx="3048000" cy="381000"/>
            </a:xfrm>
            <a:prstGeom prst="roundRect">
              <a:avLst>
                <a:gd name="adj" fmla="val 20000"/>
              </a:avLst>
            </a:prstGeom>
            <a:solidFill>
              <a:srgbClr val="0E2334"/>
            </a:solidFill>
            <a:ln w="14288">
              <a:solidFill>
                <a:srgbClr val="26455F"/>
              </a:solidFill>
            </a:ln>
          </p:spPr>
        </p:sp>
        <p:sp>
          <p:nvSpPr>
            <p:cNvPr id="17" name="Rectangle 17"/>
            <p:cNvSpPr/>
            <p:nvPr/>
          </p:nvSpPr>
          <p:spPr>
            <a:xfrm>
              <a:off x="2011680" y="4362450"/>
              <a:ext cx="347472" cy="266700"/>
            </a:xfrm>
            <a:prstGeom prst="roundRect">
              <a:avLst>
                <a:gd name="adj" fmla="val 14286"/>
              </a:avLst>
            </a:prstGeom>
            <a:solidFill>
              <a:srgbClr val="F2C14E">
                <a:alpha val="20000"/>
              </a:srgbClr>
            </a:solidFill>
            <a:ln>
              <a:noFill/>
            </a:ln>
          </p:spPr>
        </p:sp>
        <p:sp>
          <p:nvSpPr>
            <p:cNvPr id="18" name="Line 18"/>
            <p:cNvSpPr/>
            <p:nvPr/>
          </p:nvSpPr>
          <p:spPr>
            <a:xfrm>
              <a:off x="2011680" y="4362450"/>
              <a:ext cx="9525" cy="266700"/>
            </a:xfrm>
            <a:custGeom>
              <a:avLst/>
              <a:gdLst/>
              <a:ahLst/>
              <a:cxnLst/>
              <a:rect l="l" t="t" r="r" b="b"/>
              <a:pathLst>
                <a:path w="9525" h="266700">
                  <a:moveTo>
                    <a:pt x="0" y="0"/>
                  </a:moveTo>
                  <a:lnTo>
                    <a:pt x="0" y="266700"/>
                  </a:lnTo>
                </a:path>
              </a:pathLst>
            </a:custGeom>
            <a:noFill/>
            <a:ln w="11430" cap="rnd">
              <a:solidFill>
                <a:srgbClr val="F2C14E"/>
              </a:solidFill>
              <a:custDash>
                <a:ds d="250000" sp="250000"/>
              </a:custDash>
            </a:ln>
          </p:spPr>
        </p:sp>
        <p:sp>
          <p:nvSpPr>
            <p:cNvPr id="19" name="Line 19"/>
            <p:cNvSpPr/>
            <p:nvPr/>
          </p:nvSpPr>
          <p:spPr>
            <a:xfrm>
              <a:off x="2359152" y="4362450"/>
              <a:ext cx="9525" cy="266700"/>
            </a:xfrm>
            <a:custGeom>
              <a:avLst/>
              <a:gdLst/>
              <a:ahLst/>
              <a:cxnLst/>
              <a:rect l="l" t="t" r="r" b="b"/>
              <a:pathLst>
                <a:path w="9525" h="266700">
                  <a:moveTo>
                    <a:pt x="0" y="0"/>
                  </a:moveTo>
                  <a:lnTo>
                    <a:pt x="0" y="266700"/>
                  </a:lnTo>
                </a:path>
              </a:pathLst>
            </a:custGeom>
            <a:noFill/>
            <a:ln w="11430" cap="rnd">
              <a:solidFill>
                <a:srgbClr val="F2C14E"/>
              </a:solidFill>
              <a:custDash>
                <a:ds d="250000" sp="250000"/>
              </a:custDash>
            </a:ln>
          </p:spPr>
        </p:sp>
        <p:sp>
          <p:nvSpPr>
            <p:cNvPr id="20" name="Polyline 20"/>
            <p:cNvSpPr/>
            <p:nvPr/>
          </p:nvSpPr>
          <p:spPr>
            <a:xfrm>
              <a:off x="1143000" y="4402455"/>
              <a:ext cx="2895600" cy="202883"/>
            </a:xfrm>
            <a:custGeom>
              <a:avLst/>
              <a:gdLst/>
              <a:ahLst/>
              <a:cxnLst/>
              <a:rect l="l" t="t" r="r" b="b"/>
              <a:pathLst>
                <a:path w="2895600" h="202883">
                  <a:moveTo>
                    <a:pt x="0" y="26670"/>
                  </a:moveTo>
                  <a:lnTo>
                    <a:pt x="45720" y="13335"/>
                  </a:lnTo>
                  <a:lnTo>
                    <a:pt x="90488" y="19050"/>
                  </a:lnTo>
                  <a:lnTo>
                    <a:pt x="135255" y="30480"/>
                  </a:lnTo>
                  <a:lnTo>
                    <a:pt x="180975" y="31433"/>
                  </a:lnTo>
                  <a:lnTo>
                    <a:pt x="226695" y="19050"/>
                  </a:lnTo>
                  <a:lnTo>
                    <a:pt x="271462" y="3810"/>
                  </a:lnTo>
                  <a:lnTo>
                    <a:pt x="316230" y="953"/>
                  </a:lnTo>
                  <a:lnTo>
                    <a:pt x="361950" y="18098"/>
                  </a:lnTo>
                  <a:lnTo>
                    <a:pt x="407670" y="47625"/>
                  </a:lnTo>
                  <a:lnTo>
                    <a:pt x="452438" y="73342"/>
                  </a:lnTo>
                  <a:lnTo>
                    <a:pt x="497205" y="80010"/>
                  </a:lnTo>
                  <a:lnTo>
                    <a:pt x="542925" y="69533"/>
                  </a:lnTo>
                  <a:lnTo>
                    <a:pt x="588645" y="53340"/>
                  </a:lnTo>
                  <a:lnTo>
                    <a:pt x="633412" y="48578"/>
                  </a:lnTo>
                  <a:lnTo>
                    <a:pt x="678180" y="60960"/>
                  </a:lnTo>
                  <a:lnTo>
                    <a:pt x="723900" y="80962"/>
                  </a:lnTo>
                  <a:lnTo>
                    <a:pt x="769620" y="92392"/>
                  </a:lnTo>
                  <a:lnTo>
                    <a:pt x="814388" y="87630"/>
                  </a:lnTo>
                  <a:lnTo>
                    <a:pt x="859155" y="70485"/>
                  </a:lnTo>
                  <a:lnTo>
                    <a:pt x="904875" y="59055"/>
                  </a:lnTo>
                  <a:lnTo>
                    <a:pt x="950595" y="66675"/>
                  </a:lnTo>
                  <a:lnTo>
                    <a:pt x="995362" y="93345"/>
                  </a:lnTo>
                  <a:lnTo>
                    <a:pt x="1040130" y="127635"/>
                  </a:lnTo>
                  <a:lnTo>
                    <a:pt x="1085850" y="150495"/>
                  </a:lnTo>
                  <a:lnTo>
                    <a:pt x="1131570" y="156210"/>
                  </a:lnTo>
                  <a:lnTo>
                    <a:pt x="1176338" y="151448"/>
                  </a:lnTo>
                  <a:lnTo>
                    <a:pt x="1221105" y="151448"/>
                  </a:lnTo>
                  <a:lnTo>
                    <a:pt x="1266825" y="165735"/>
                  </a:lnTo>
                  <a:lnTo>
                    <a:pt x="1312545" y="190500"/>
                  </a:lnTo>
                  <a:lnTo>
                    <a:pt x="1357312" y="202883"/>
                  </a:lnTo>
                  <a:lnTo>
                    <a:pt x="1402080" y="202883"/>
                  </a:lnTo>
                  <a:lnTo>
                    <a:pt x="1447800" y="186690"/>
                  </a:lnTo>
                  <a:lnTo>
                    <a:pt x="1493520" y="154305"/>
                  </a:lnTo>
                  <a:lnTo>
                    <a:pt x="1538288" y="129540"/>
                  </a:lnTo>
                  <a:lnTo>
                    <a:pt x="1583055" y="120967"/>
                  </a:lnTo>
                  <a:lnTo>
                    <a:pt x="1628775" y="122873"/>
                  </a:lnTo>
                  <a:lnTo>
                    <a:pt x="1674495" y="121920"/>
                  </a:lnTo>
                  <a:lnTo>
                    <a:pt x="1719262" y="104775"/>
                  </a:lnTo>
                  <a:lnTo>
                    <a:pt x="1764030" y="75248"/>
                  </a:lnTo>
                  <a:lnTo>
                    <a:pt x="1809750" y="47625"/>
                  </a:lnTo>
                  <a:lnTo>
                    <a:pt x="1855470" y="36195"/>
                  </a:lnTo>
                  <a:lnTo>
                    <a:pt x="1900238" y="46673"/>
                  </a:lnTo>
                  <a:lnTo>
                    <a:pt x="1945005" y="67628"/>
                  </a:lnTo>
                  <a:lnTo>
                    <a:pt x="1990725" y="80010"/>
                  </a:lnTo>
                  <a:lnTo>
                    <a:pt x="2036445" y="75248"/>
                  </a:lnTo>
                  <a:lnTo>
                    <a:pt x="2081212" y="57150"/>
                  </a:lnTo>
                  <a:lnTo>
                    <a:pt x="2125980" y="40958"/>
                  </a:lnTo>
                  <a:lnTo>
                    <a:pt x="2171700" y="39053"/>
                  </a:lnTo>
                  <a:lnTo>
                    <a:pt x="2217420" y="51435"/>
                  </a:lnTo>
                  <a:lnTo>
                    <a:pt x="2262188" y="65723"/>
                  </a:lnTo>
                  <a:lnTo>
                    <a:pt x="2306955" y="65723"/>
                  </a:lnTo>
                  <a:lnTo>
                    <a:pt x="2352675" y="46673"/>
                  </a:lnTo>
                  <a:lnTo>
                    <a:pt x="2398395" y="19050"/>
                  </a:lnTo>
                  <a:lnTo>
                    <a:pt x="2443162" y="0"/>
                  </a:lnTo>
                  <a:lnTo>
                    <a:pt x="2487930" y="953"/>
                  </a:lnTo>
                  <a:lnTo>
                    <a:pt x="2533650" y="20955"/>
                  </a:lnTo>
                  <a:lnTo>
                    <a:pt x="2579370" y="42862"/>
                  </a:lnTo>
                  <a:lnTo>
                    <a:pt x="2624138" y="53340"/>
                  </a:lnTo>
                  <a:lnTo>
                    <a:pt x="2668905" y="51435"/>
                  </a:lnTo>
                  <a:lnTo>
                    <a:pt x="2714625" y="47625"/>
                  </a:lnTo>
                  <a:lnTo>
                    <a:pt x="2760345" y="57150"/>
                  </a:lnTo>
                  <a:lnTo>
                    <a:pt x="2805112" y="86678"/>
                  </a:lnTo>
                  <a:lnTo>
                    <a:pt x="2849880" y="127635"/>
                  </a:lnTo>
                  <a:lnTo>
                    <a:pt x="2895600" y="160020"/>
                  </a:lnTo>
                </a:path>
              </a:pathLst>
            </a:custGeom>
            <a:noFill/>
            <a:ln w="24765" cap="rnd">
              <a:solidFill>
                <a:srgbClr val="F2685C"/>
              </a:solidFill>
              <a:round/>
            </a:ln>
          </p:spPr>
        </p:sp>
      </p:grpSp>
      <p:grpSp>
        <p:nvGrpSpPr>
          <p:cNvPr id="29" name="Group 29"/>
          <p:cNvGrpSpPr/>
          <p:nvPr/>
        </p:nvGrpSpPr>
        <p:grpSpPr>
          <a:xfrm>
            <a:off x="4762500" y="1504950"/>
            <a:ext cx="6819900" cy="1441276"/>
            <a:chOff x="4762500" y="1504950"/>
            <a:chExt cx="6819900" cy="1441276"/>
          </a:xfrm>
        </p:grpSpPr>
        <p:sp>
          <p:nvSpPr>
            <p:cNvPr id="22" name="Rectangle 22"/>
            <p:cNvSpPr/>
            <p:nvPr/>
          </p:nvSpPr>
          <p:spPr>
            <a:xfrm>
              <a:off x="4762500" y="1504950"/>
              <a:ext cx="6819900" cy="1428750"/>
            </a:xfrm>
            <a:prstGeom prst="roundRect">
              <a:avLst>
                <a:gd name="adj" fmla="val 9333"/>
              </a:avLst>
            </a:prstGeom>
            <a:solidFill>
              <a:schemeClr val="accent5"/>
            </a:solidFill>
            <a:ln w="14288">
              <a:solidFill>
                <a:srgbClr val="26455F"/>
              </a:solidFill>
            </a:ln>
          </p:spPr>
        </p:sp>
        <p:sp>
          <p:nvSpPr>
            <p:cNvPr id="23" name="Rectangle 23"/>
            <p:cNvSpPr/>
            <p:nvPr/>
          </p:nvSpPr>
          <p:spPr>
            <a:xfrm>
              <a:off x="4762500" y="1504950"/>
              <a:ext cx="57150" cy="1428750"/>
            </a:xfrm>
            <a:prstGeom prst="roundRect">
              <a:avLst>
                <a:gd name="adj" fmla="val 50000"/>
              </a:avLst>
            </a:prstGeom>
            <a:solidFill>
              <a:srgbClr val="F2685C"/>
            </a:solidFill>
            <a:ln>
              <a:noFill/>
            </a:ln>
          </p:spPr>
        </p:sp>
        <p:sp>
          <p:nvSpPr>
            <p:cNvPr id="24" name="TextBox 24"/>
            <p:cNvSpPr txBox="1"/>
            <p:nvPr/>
          </p:nvSpPr>
          <p:spPr>
            <a:xfrm>
              <a:off x="5022914" y="1733312"/>
              <a:ext cx="3094457" cy="242030"/>
            </a:xfrm>
            <a:prstGeom prst="rect">
              <a:avLst/>
            </a:prstGeom>
            <a:noFill/>
            <a:ln>
              <a:noFill/>
            </a:ln>
          </p:spPr>
          <p:txBody>
            <a:bodyPr wrap="none" lIns="0" tIns="0" rIns="0" bIns="0" anchor="t" anchorCtr="0">
              <a:spAutoFit/>
            </a:bodyPr>
            <a:lstStyle/>
            <a:p>
              <a:pPr algn="l"/>
              <a:r>
                <a:rPr lang="en-US" sz="1240" b="1" dirty="0">
                  <a:solidFill>
                    <a:srgbClr val="F2685C"/>
                  </a:solidFill>
                  <a:latin typeface="+mn-lt"/>
                  <a:ea typeface="+mn-ea"/>
                  <a:cs typeface="+mn-cs"/>
                </a:rPr>
                <a:t>Random masking shatters structure</a:t>
              </a:r>
            </a:p>
          </p:txBody>
        </p:sp>
        <p:sp>
          <p:nvSpPr>
            <p:cNvPr id="25" name="TextBox 25"/>
            <p:cNvSpPr txBox="1"/>
            <p:nvPr/>
          </p:nvSpPr>
          <p:spPr>
            <a:xfrm>
              <a:off x="5023866" y="2039302"/>
              <a:ext cx="380364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Masking points across a series can shatter the smooth</a:t>
              </a:r>
            </a:p>
          </p:txBody>
        </p:sp>
        <p:sp>
          <p:nvSpPr>
            <p:cNvPr id="26" name="TextBox 26"/>
            <p:cNvSpPr txBox="1"/>
            <p:nvPr/>
          </p:nvSpPr>
          <p:spPr>
            <a:xfrm>
              <a:off x="5023866" y="2239328"/>
              <a:ext cx="344549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temporal structure the signal depends on, making</a:t>
              </a:r>
            </a:p>
          </p:txBody>
        </p:sp>
        <p:sp>
          <p:nvSpPr>
            <p:cNvPr id="27" name="TextBox 27"/>
            <p:cNvSpPr txBox="1"/>
            <p:nvPr/>
          </p:nvSpPr>
          <p:spPr>
            <a:xfrm>
              <a:off x="5023866" y="2439352"/>
              <a:ext cx="326880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reconstruction so hard the model learns little.</a:t>
              </a:r>
            </a:p>
          </p:txBody>
        </p:sp>
        <p:sp>
          <p:nvSpPr>
            <p:cNvPr id="28" name="TextBox 28"/>
            <p:cNvSpPr txBox="1"/>
            <p:nvPr/>
          </p:nvSpPr>
          <p:spPr>
            <a:xfrm>
              <a:off x="5024056" y="2748201"/>
              <a:ext cx="3222488" cy="198025"/>
            </a:xfrm>
            <a:prstGeom prst="rect">
              <a:avLst/>
            </a:prstGeom>
            <a:noFill/>
            <a:ln>
              <a:noFill/>
            </a:ln>
          </p:spPr>
          <p:txBody>
            <a:bodyPr wrap="none" lIns="0" tIns="0" rIns="0" bIns="0" anchor="t" anchorCtr="0">
              <a:spAutoFit/>
            </a:bodyPr>
            <a:lstStyle/>
            <a:p>
              <a:pPr algn="l"/>
              <a:r>
                <a:rPr lang="en-US" sz="1010" b="1" dirty="0">
                  <a:solidFill>
                    <a:srgbClr val="F2685C"/>
                  </a:solidFill>
                  <a:latin typeface="Consolas"/>
                  <a:ea typeface="Consolas"/>
                  <a:cs typeface="Consolas"/>
                </a:rPr>
                <a:t>masked-point recovery -&gt; little signal learned</a:t>
              </a:r>
            </a:p>
          </p:txBody>
        </p:sp>
      </p:grpSp>
      <p:grpSp>
        <p:nvGrpSpPr>
          <p:cNvPr id="36" name="Group 36"/>
          <p:cNvGrpSpPr/>
          <p:nvPr/>
        </p:nvGrpSpPr>
        <p:grpSpPr>
          <a:xfrm>
            <a:off x="4762500" y="3086100"/>
            <a:ext cx="6819900" cy="1257300"/>
            <a:chOff x="4762500" y="3086100"/>
            <a:chExt cx="6819900" cy="1257300"/>
          </a:xfrm>
        </p:grpSpPr>
        <p:sp>
          <p:nvSpPr>
            <p:cNvPr id="30" name="Rectangle 30"/>
            <p:cNvSpPr/>
            <p:nvPr/>
          </p:nvSpPr>
          <p:spPr>
            <a:xfrm>
              <a:off x="4762500" y="3086100"/>
              <a:ext cx="6819900" cy="1257300"/>
            </a:xfrm>
            <a:prstGeom prst="roundRect">
              <a:avLst>
                <a:gd name="adj" fmla="val 10606"/>
              </a:avLst>
            </a:prstGeom>
            <a:solidFill>
              <a:srgbClr val="2A2417"/>
            </a:solidFill>
            <a:ln w="14288">
              <a:solidFill>
                <a:srgbClr val="F2C14E"/>
              </a:solidFill>
            </a:ln>
          </p:spPr>
        </p:sp>
        <p:sp>
          <p:nvSpPr>
            <p:cNvPr id="31" name="Rectangle 31"/>
            <p:cNvSpPr/>
            <p:nvPr/>
          </p:nvSpPr>
          <p:spPr>
            <a:xfrm>
              <a:off x="4762500" y="3086100"/>
              <a:ext cx="57150" cy="1257300"/>
            </a:xfrm>
            <a:prstGeom prst="roundRect">
              <a:avLst>
                <a:gd name="adj" fmla="val 50000"/>
              </a:avLst>
            </a:prstGeom>
            <a:solidFill>
              <a:srgbClr val="F2C14E"/>
            </a:solidFill>
            <a:ln>
              <a:noFill/>
            </a:ln>
          </p:spPr>
        </p:sp>
        <p:sp>
          <p:nvSpPr>
            <p:cNvPr id="32" name="TextBox 32"/>
            <p:cNvSpPr txBox="1"/>
            <p:nvPr/>
          </p:nvSpPr>
          <p:spPr>
            <a:xfrm>
              <a:off x="5023104" y="3318510"/>
              <a:ext cx="3274186"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Contrastive ignores fine-grained detail</a:t>
              </a:r>
            </a:p>
          </p:txBody>
        </p:sp>
        <p:sp>
          <p:nvSpPr>
            <p:cNvPr id="33" name="TextBox 33"/>
            <p:cNvSpPr txBox="1"/>
            <p:nvPr/>
          </p:nvSpPr>
          <p:spPr>
            <a:xfrm>
              <a:off x="5023676" y="3616404"/>
              <a:ext cx="4483838"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Comparing whole series for similarity ignores the fine-grained</a:t>
              </a:r>
            </a:p>
          </p:txBody>
        </p:sp>
        <p:sp>
          <p:nvSpPr>
            <p:cNvPr id="34" name="TextBox 34"/>
            <p:cNvSpPr txBox="1"/>
            <p:nvPr/>
          </p:nvSpPr>
          <p:spPr>
            <a:xfrm>
              <a:off x="5023676" y="3825954"/>
              <a:ext cx="5132128"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correlations inside them, and hinges on augmentations that are hard to</a:t>
              </a:r>
            </a:p>
          </p:txBody>
        </p:sp>
        <p:sp>
          <p:nvSpPr>
            <p:cNvPr id="35" name="TextBox 35"/>
            <p:cNvSpPr txBox="1"/>
            <p:nvPr/>
          </p:nvSpPr>
          <p:spPr>
            <a:xfrm>
              <a:off x="5023676" y="4035504"/>
              <a:ext cx="1874594"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design for temporal data.</a:t>
              </a:r>
            </a:p>
          </p:txBody>
        </p:sp>
      </p:grpSp>
      <p:grpSp>
        <p:nvGrpSpPr>
          <p:cNvPr id="42" name="Group 42"/>
          <p:cNvGrpSpPr/>
          <p:nvPr/>
        </p:nvGrpSpPr>
        <p:grpSpPr>
          <a:xfrm>
            <a:off x="4762500" y="4495800"/>
            <a:ext cx="6819900" cy="857297"/>
            <a:chOff x="4762500" y="4495800"/>
            <a:chExt cx="6819900" cy="857297"/>
          </a:xfrm>
        </p:grpSpPr>
        <p:sp>
          <p:nvSpPr>
            <p:cNvPr id="37" name="Rectangle 37"/>
            <p:cNvSpPr/>
            <p:nvPr/>
          </p:nvSpPr>
          <p:spPr>
            <a:xfrm>
              <a:off x="4762500" y="4495800"/>
              <a:ext cx="6819900" cy="742950"/>
            </a:xfrm>
            <a:prstGeom prst="roundRect">
              <a:avLst>
                <a:gd name="adj" fmla="val 17949"/>
              </a:avLst>
            </a:prstGeom>
            <a:solidFill>
              <a:schemeClr val="accent5"/>
            </a:solidFill>
            <a:ln w="14288">
              <a:solidFill>
                <a:srgbClr val="26455F"/>
              </a:solidFill>
            </a:ln>
          </p:spPr>
        </p:sp>
        <p:sp>
          <p:nvSpPr>
            <p:cNvPr id="38" name="Rectangle 38"/>
            <p:cNvSpPr/>
            <p:nvPr/>
          </p:nvSpPr>
          <p:spPr>
            <a:xfrm>
              <a:off x="4762500" y="4495800"/>
              <a:ext cx="57150" cy="742950"/>
            </a:xfrm>
            <a:prstGeom prst="roundRect">
              <a:avLst>
                <a:gd name="adj" fmla="val 50000"/>
              </a:avLst>
            </a:prstGeom>
            <a:solidFill>
              <a:srgbClr val="34D3C0"/>
            </a:solidFill>
            <a:ln>
              <a:noFill/>
            </a:ln>
          </p:spPr>
        </p:sp>
        <p:sp>
          <p:nvSpPr>
            <p:cNvPr id="39" name="TextBox 39"/>
            <p:cNvSpPr txBox="1"/>
            <p:nvPr/>
          </p:nvSpPr>
          <p:spPr>
            <a:xfrm>
              <a:off x="5023104" y="4671060"/>
              <a:ext cx="2417993"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The gap this paper addresses</a:t>
              </a:r>
            </a:p>
          </p:txBody>
        </p:sp>
        <p:sp>
          <p:nvSpPr>
            <p:cNvPr id="40" name="TextBox 40"/>
            <p:cNvSpPr txBox="1"/>
            <p:nvPr/>
          </p:nvSpPr>
          <p:spPr>
            <a:xfrm>
              <a:off x="5023676" y="4949904"/>
              <a:ext cx="545234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Existing recipes fail to emphasize the temporal correlations that make time</a:t>
              </a:r>
            </a:p>
          </p:txBody>
        </p:sp>
        <p:sp>
          <p:nvSpPr>
            <p:cNvPr id="41" name="TextBox 41"/>
            <p:cNvSpPr txBox="1"/>
            <p:nvPr/>
          </p:nvSpPr>
          <p:spPr>
            <a:xfrm>
              <a:off x="5023676" y="5140404"/>
              <a:ext cx="158845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series what they are.</a:t>
              </a:r>
            </a:p>
          </p:txBody>
        </p:sp>
      </p:grpSp>
      <p:sp>
        <p:nvSpPr>
          <p:cNvPr id="43" name="cue_s02_c1_self_supervised_pre_training_transfo" title="cue_s02_c1_self_supervised_pre_training_transfo" descr="cue_s02_c1_self_supervised_pre_training_transfo Self-supervised pre-training has transformed vision and language, and researchers naturally reached for the same tools when working with time series. But the fit is awkward."/>
          <p:cNvSpPr/>
          <p:nvPr/>
        </p:nvSpPr>
        <p:spPr>
          <a:xfrm>
            <a:off x="609600" y="1504645"/>
            <a:ext cx="3847795"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2_c2_when_you_randomly_mask_points" title="cue_s02_c2_when_you_randomly_mask_points" descr="cue_s02_c2_when_you_randomly_mask_points When you randomly mask points across a time series, you can shatter the smooth temporal structure that the signal depends on, sometimes making reconstruction so hard the model learns little."/>
          <p:cNvSpPr/>
          <p:nvPr/>
        </p:nvSpPr>
        <p:spPr>
          <a:xfrm>
            <a:off x="4762195" y="1504645"/>
            <a:ext cx="6820204" cy="144155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2_c3_contrastive_learning_opposite_proble" title="cue_s02_c3_contrastive_learning_opposite_proble" descr="cue_s02_c3_contrastive_learning_opposite_proble Contrastive learning has the opposite problem: comparing whole series for similarity tends to ignore the fine-grained correlations inside them, and it hinges on augmentations that are notoriously difficult to design for temporal data."/>
          <p:cNvSpPr/>
          <p:nvPr/>
        </p:nvSpPr>
        <p:spPr>
          <a:xfrm>
            <a:off x="4762195" y="3086100"/>
            <a:ext cx="6820204" cy="12570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2_c4_gap_addresses_clear_existing_recipes" title="cue_s02_c4_gap_addresses_clear_existing_recipes" descr="cue_s02_c4_gap_addresses_clear_existing_recipes The gap this paper addresses is clear: existing recipes fail to emphasize the temporal correlations that make time series what they are."/>
          <p:cNvSpPr/>
          <p:nvPr/>
        </p:nvSpPr>
        <p:spPr>
          <a:xfrm>
            <a:off x="4762195" y="4496104"/>
            <a:ext cx="6820204" cy="8572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88836"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MOTIVATION</a:t>
            </a:r>
          </a:p>
        </p:txBody>
      </p:sp>
      <p:sp>
        <p:nvSpPr>
          <p:cNvPr id="4" name="TextBox 4"/>
          <p:cNvSpPr txBox="1"/>
          <p:nvPr/>
        </p:nvSpPr>
        <p:spPr>
          <a:xfrm>
            <a:off x="598170" y="804862"/>
            <a:ext cx="606005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Unlabeled series, and a discarded prior</a:t>
            </a:r>
          </a:p>
        </p:txBody>
      </p:sp>
      <p:grpSp>
        <p:nvGrpSpPr>
          <p:cNvPr id="13" name="Group 13"/>
          <p:cNvGrpSpPr/>
          <p:nvPr/>
        </p:nvGrpSpPr>
        <p:grpSpPr>
          <a:xfrm>
            <a:off x="609600" y="1504950"/>
            <a:ext cx="5334000" cy="1828800"/>
            <a:chOff x="609600" y="1504950"/>
            <a:chExt cx="5334000" cy="1828800"/>
          </a:xfrm>
        </p:grpSpPr>
        <p:sp>
          <p:nvSpPr>
            <p:cNvPr id="5" name="Rectangle 5"/>
            <p:cNvSpPr/>
            <p:nvPr/>
          </p:nvSpPr>
          <p:spPr>
            <a:xfrm>
              <a:off x="609600" y="1504950"/>
              <a:ext cx="5334000" cy="1828800"/>
            </a:xfrm>
            <a:prstGeom prst="roundRect">
              <a:avLst>
                <a:gd name="adj" fmla="val 7292"/>
              </a:avLst>
            </a:prstGeom>
            <a:solidFill>
              <a:schemeClr val="accent5"/>
            </a:solidFill>
            <a:ln w="14288">
              <a:solidFill>
                <a:srgbClr val="26455F"/>
              </a:solidFill>
            </a:ln>
          </p:spPr>
        </p:sp>
        <p:sp>
          <p:nvSpPr>
            <p:cNvPr id="6" name="Rectangle 6"/>
            <p:cNvSpPr/>
            <p:nvPr/>
          </p:nvSpPr>
          <p:spPr>
            <a:xfrm>
              <a:off x="609600" y="1504950"/>
              <a:ext cx="57150" cy="1828800"/>
            </a:xfrm>
            <a:prstGeom prst="roundRect">
              <a:avLst>
                <a:gd name="adj" fmla="val 50000"/>
              </a:avLst>
            </a:prstGeom>
            <a:solidFill>
              <a:schemeClr val="accent2"/>
            </a:solidFill>
            <a:ln>
              <a:noFill/>
            </a:ln>
          </p:spPr>
        </p:sp>
        <p:sp>
          <p:nvSpPr>
            <p:cNvPr id="7" name="TextBox 7"/>
            <p:cNvSpPr txBox="1"/>
            <p:nvPr/>
          </p:nvSpPr>
          <p:spPr>
            <a:xfrm>
              <a:off x="870014" y="1733312"/>
              <a:ext cx="2270403"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A flood of unlabeled series</a:t>
              </a:r>
            </a:p>
          </p:txBody>
        </p:sp>
        <p:sp>
          <p:nvSpPr>
            <p:cNvPr id="8" name="TextBox 8"/>
            <p:cNvSpPr txBox="1"/>
            <p:nvPr/>
          </p:nvSpPr>
          <p:spPr>
            <a:xfrm>
              <a:off x="870966" y="2039302"/>
              <a:ext cx="419251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Every day, sensors, wearables, and industrial systems pour</a:t>
              </a:r>
            </a:p>
          </p:txBody>
        </p:sp>
        <p:sp>
          <p:nvSpPr>
            <p:cNvPr id="9" name="TextBox 9"/>
            <p:cNvSpPr txBox="1"/>
            <p:nvPr/>
          </p:nvSpPr>
          <p:spPr>
            <a:xfrm>
              <a:off x="870966" y="2239328"/>
              <a:ext cx="388368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out staggering volumes of unlabeled time series through</a:t>
              </a:r>
            </a:p>
          </p:txBody>
        </p:sp>
        <p:sp>
          <p:nvSpPr>
            <p:cNvPr id="10" name="TextBox 10"/>
            <p:cNvSpPr txBox="1"/>
            <p:nvPr/>
          </p:nvSpPr>
          <p:spPr>
            <a:xfrm>
              <a:off x="870966" y="2439352"/>
              <a:ext cx="163167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Internet of Things.</a:t>
              </a:r>
            </a:p>
          </p:txBody>
        </p:sp>
        <p:sp>
          <p:nvSpPr>
            <p:cNvPr id="11" name="Rectangle 11"/>
            <p:cNvSpPr/>
            <p:nvPr/>
          </p:nvSpPr>
          <p:spPr>
            <a:xfrm>
              <a:off x="876300" y="2857500"/>
              <a:ext cx="4800600" cy="361950"/>
            </a:xfrm>
            <a:prstGeom prst="roundRect">
              <a:avLst>
                <a:gd name="adj" fmla="val 21053"/>
              </a:avLst>
            </a:prstGeom>
            <a:solidFill>
              <a:srgbClr val="0E2334"/>
            </a:solidFill>
            <a:ln w="14288">
              <a:solidFill>
                <a:srgbClr val="26455F"/>
              </a:solidFill>
            </a:ln>
          </p:spPr>
        </p:sp>
        <p:sp>
          <p:nvSpPr>
            <p:cNvPr id="12" name="Polyline 12"/>
            <p:cNvSpPr/>
            <p:nvPr/>
          </p:nvSpPr>
          <p:spPr>
            <a:xfrm>
              <a:off x="952500" y="2958465"/>
              <a:ext cx="4648200" cy="168592"/>
            </a:xfrm>
            <a:custGeom>
              <a:avLst/>
              <a:gdLst/>
              <a:ahLst/>
              <a:cxnLst/>
              <a:rect l="l" t="t" r="r" b="b"/>
              <a:pathLst>
                <a:path w="4648200" h="168592">
                  <a:moveTo>
                    <a:pt x="0" y="3810"/>
                  </a:moveTo>
                  <a:lnTo>
                    <a:pt x="72390" y="0"/>
                  </a:lnTo>
                  <a:lnTo>
                    <a:pt x="144780" y="0"/>
                  </a:lnTo>
                  <a:lnTo>
                    <a:pt x="218123" y="3810"/>
                  </a:lnTo>
                  <a:lnTo>
                    <a:pt x="290512" y="11430"/>
                  </a:lnTo>
                  <a:lnTo>
                    <a:pt x="362902" y="20002"/>
                  </a:lnTo>
                  <a:lnTo>
                    <a:pt x="436245" y="30480"/>
                  </a:lnTo>
                  <a:lnTo>
                    <a:pt x="508635" y="40957"/>
                  </a:lnTo>
                  <a:lnTo>
                    <a:pt x="581025" y="49530"/>
                  </a:lnTo>
                  <a:lnTo>
                    <a:pt x="653415" y="57150"/>
                  </a:lnTo>
                  <a:lnTo>
                    <a:pt x="725805" y="62865"/>
                  </a:lnTo>
                  <a:lnTo>
                    <a:pt x="799148" y="65722"/>
                  </a:lnTo>
                  <a:lnTo>
                    <a:pt x="871538" y="67627"/>
                  </a:lnTo>
                  <a:lnTo>
                    <a:pt x="943928" y="67627"/>
                  </a:lnTo>
                  <a:lnTo>
                    <a:pt x="1017270" y="67627"/>
                  </a:lnTo>
                  <a:lnTo>
                    <a:pt x="1089660" y="67627"/>
                  </a:lnTo>
                  <a:lnTo>
                    <a:pt x="1162050" y="68580"/>
                  </a:lnTo>
                  <a:lnTo>
                    <a:pt x="1234440" y="72390"/>
                  </a:lnTo>
                  <a:lnTo>
                    <a:pt x="1306830" y="78105"/>
                  </a:lnTo>
                  <a:lnTo>
                    <a:pt x="1380172" y="86677"/>
                  </a:lnTo>
                  <a:lnTo>
                    <a:pt x="1452562" y="97155"/>
                  </a:lnTo>
                  <a:lnTo>
                    <a:pt x="1524953" y="110490"/>
                  </a:lnTo>
                  <a:lnTo>
                    <a:pt x="1598295" y="123825"/>
                  </a:lnTo>
                  <a:lnTo>
                    <a:pt x="1670685" y="137160"/>
                  </a:lnTo>
                  <a:lnTo>
                    <a:pt x="1743075" y="149542"/>
                  </a:lnTo>
                  <a:lnTo>
                    <a:pt x="1815465" y="160020"/>
                  </a:lnTo>
                  <a:lnTo>
                    <a:pt x="1887855" y="166688"/>
                  </a:lnTo>
                  <a:lnTo>
                    <a:pt x="1961197" y="168592"/>
                  </a:lnTo>
                  <a:lnTo>
                    <a:pt x="2033588" y="166688"/>
                  </a:lnTo>
                  <a:lnTo>
                    <a:pt x="2105978" y="160020"/>
                  </a:lnTo>
                  <a:lnTo>
                    <a:pt x="2179320" y="149542"/>
                  </a:lnTo>
                  <a:lnTo>
                    <a:pt x="2251710" y="136207"/>
                  </a:lnTo>
                  <a:lnTo>
                    <a:pt x="2324100" y="120015"/>
                  </a:lnTo>
                  <a:lnTo>
                    <a:pt x="2396490" y="102870"/>
                  </a:lnTo>
                  <a:lnTo>
                    <a:pt x="2468880" y="86677"/>
                  </a:lnTo>
                  <a:lnTo>
                    <a:pt x="2542222" y="71438"/>
                  </a:lnTo>
                  <a:lnTo>
                    <a:pt x="2614612" y="59055"/>
                  </a:lnTo>
                  <a:lnTo>
                    <a:pt x="2687002" y="48577"/>
                  </a:lnTo>
                  <a:lnTo>
                    <a:pt x="2760345" y="41910"/>
                  </a:lnTo>
                  <a:lnTo>
                    <a:pt x="2832735" y="39052"/>
                  </a:lnTo>
                  <a:lnTo>
                    <a:pt x="2905125" y="38100"/>
                  </a:lnTo>
                  <a:lnTo>
                    <a:pt x="2977515" y="39052"/>
                  </a:lnTo>
                  <a:lnTo>
                    <a:pt x="3049905" y="41910"/>
                  </a:lnTo>
                  <a:lnTo>
                    <a:pt x="3123248" y="43815"/>
                  </a:lnTo>
                  <a:lnTo>
                    <a:pt x="3195638" y="45720"/>
                  </a:lnTo>
                  <a:lnTo>
                    <a:pt x="3268028" y="46672"/>
                  </a:lnTo>
                  <a:lnTo>
                    <a:pt x="3341370" y="45720"/>
                  </a:lnTo>
                  <a:lnTo>
                    <a:pt x="3413760" y="41910"/>
                  </a:lnTo>
                  <a:lnTo>
                    <a:pt x="3486150" y="37147"/>
                  </a:lnTo>
                  <a:lnTo>
                    <a:pt x="3558540" y="32385"/>
                  </a:lnTo>
                  <a:lnTo>
                    <a:pt x="3630930" y="25717"/>
                  </a:lnTo>
                  <a:lnTo>
                    <a:pt x="3704272" y="20955"/>
                  </a:lnTo>
                  <a:lnTo>
                    <a:pt x="3776662" y="18097"/>
                  </a:lnTo>
                  <a:lnTo>
                    <a:pt x="3849052" y="17145"/>
                  </a:lnTo>
                  <a:lnTo>
                    <a:pt x="3922395" y="20002"/>
                  </a:lnTo>
                  <a:lnTo>
                    <a:pt x="3994785" y="26670"/>
                  </a:lnTo>
                  <a:lnTo>
                    <a:pt x="4067175" y="37147"/>
                  </a:lnTo>
                  <a:lnTo>
                    <a:pt x="4139565" y="50482"/>
                  </a:lnTo>
                  <a:lnTo>
                    <a:pt x="4211955" y="67627"/>
                  </a:lnTo>
                  <a:lnTo>
                    <a:pt x="4285298" y="84772"/>
                  </a:lnTo>
                  <a:lnTo>
                    <a:pt x="4357688" y="103822"/>
                  </a:lnTo>
                  <a:lnTo>
                    <a:pt x="4430078" y="120967"/>
                  </a:lnTo>
                  <a:lnTo>
                    <a:pt x="4503420" y="136207"/>
                  </a:lnTo>
                  <a:lnTo>
                    <a:pt x="4575810" y="148590"/>
                  </a:lnTo>
                  <a:lnTo>
                    <a:pt x="4648200" y="156210"/>
                  </a:lnTo>
                </a:path>
              </a:pathLst>
            </a:custGeom>
            <a:noFill/>
            <a:ln w="24765" cap="rnd">
              <a:solidFill>
                <a:schemeClr val="accent2"/>
              </a:solidFill>
              <a:round/>
            </a:ln>
          </p:spPr>
        </p:sp>
      </p:grpSp>
      <p:grpSp>
        <p:nvGrpSpPr>
          <p:cNvPr id="21" name="Group 21"/>
          <p:cNvGrpSpPr/>
          <p:nvPr/>
        </p:nvGrpSpPr>
        <p:grpSpPr>
          <a:xfrm>
            <a:off x="609600" y="3486150"/>
            <a:ext cx="5334000" cy="1752600"/>
            <a:chOff x="609600" y="3486150"/>
            <a:chExt cx="5334000" cy="1752600"/>
          </a:xfrm>
        </p:grpSpPr>
        <p:sp>
          <p:nvSpPr>
            <p:cNvPr id="14" name="Rectangle 14"/>
            <p:cNvSpPr/>
            <p:nvPr/>
          </p:nvSpPr>
          <p:spPr>
            <a:xfrm>
              <a:off x="609600" y="3486150"/>
              <a:ext cx="5334000" cy="1752600"/>
            </a:xfrm>
            <a:prstGeom prst="roundRect">
              <a:avLst>
                <a:gd name="adj" fmla="val 7609"/>
              </a:avLst>
            </a:prstGeom>
            <a:solidFill>
              <a:srgbClr val="2A2417"/>
            </a:solidFill>
            <a:ln w="14288">
              <a:solidFill>
                <a:srgbClr val="F2C14E"/>
              </a:solidFill>
            </a:ln>
          </p:spPr>
        </p:sp>
        <p:sp>
          <p:nvSpPr>
            <p:cNvPr id="15" name="Rectangle 15"/>
            <p:cNvSpPr/>
            <p:nvPr/>
          </p:nvSpPr>
          <p:spPr>
            <a:xfrm>
              <a:off x="609600" y="3486150"/>
              <a:ext cx="57150" cy="1752600"/>
            </a:xfrm>
            <a:prstGeom prst="roundRect">
              <a:avLst>
                <a:gd name="adj" fmla="val 50000"/>
              </a:avLst>
            </a:prstGeom>
            <a:solidFill>
              <a:srgbClr val="F2C14E"/>
            </a:solidFill>
            <a:ln>
              <a:noFill/>
            </a:ln>
          </p:spPr>
        </p:sp>
        <p:sp>
          <p:nvSpPr>
            <p:cNvPr id="16" name="TextBox 16"/>
            <p:cNvSpPr txBox="1"/>
            <p:nvPr/>
          </p:nvSpPr>
          <p:spPr>
            <a:xfrm>
              <a:off x="870204" y="3718560"/>
              <a:ext cx="2375729"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A gold mine, if we skip labels</a:t>
              </a:r>
            </a:p>
          </p:txBody>
        </p:sp>
        <p:sp>
          <p:nvSpPr>
            <p:cNvPr id="17" name="TextBox 17"/>
            <p:cNvSpPr txBox="1"/>
            <p:nvPr/>
          </p:nvSpPr>
          <p:spPr>
            <a:xfrm>
              <a:off x="870966" y="4020502"/>
              <a:ext cx="3902821"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That data is a gold mine, but only if we can learn from it</a:t>
              </a:r>
            </a:p>
          </p:txBody>
        </p:sp>
        <p:sp>
          <p:nvSpPr>
            <p:cNvPr id="18" name="TextBox 18"/>
            <p:cNvSpPr txBox="1"/>
            <p:nvPr/>
          </p:nvSpPr>
          <p:spPr>
            <a:xfrm>
              <a:off x="870966" y="4220528"/>
              <a:ext cx="1537259"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without hand labeling.</a:t>
              </a:r>
            </a:p>
          </p:txBody>
        </p:sp>
        <p:sp>
          <p:nvSpPr>
            <p:cNvPr id="19" name="Rectangle 19"/>
            <p:cNvSpPr/>
            <p:nvPr/>
          </p:nvSpPr>
          <p:spPr>
            <a:xfrm>
              <a:off x="876300" y="4629150"/>
              <a:ext cx="4800600" cy="419100"/>
            </a:xfrm>
            <a:prstGeom prst="roundRect">
              <a:avLst>
                <a:gd name="adj" fmla="val 18182"/>
              </a:avLst>
            </a:prstGeom>
            <a:solidFill>
              <a:schemeClr val="accent6"/>
            </a:solidFill>
            <a:ln w="14288">
              <a:solidFill>
                <a:srgbClr val="26455F"/>
              </a:solidFill>
            </a:ln>
          </p:spPr>
        </p:sp>
        <p:sp>
          <p:nvSpPr>
            <p:cNvPr id="20" name="TextBox 20"/>
            <p:cNvSpPr txBox="1"/>
            <p:nvPr/>
          </p:nvSpPr>
          <p:spPr>
            <a:xfrm>
              <a:off x="1858088" y="4786551"/>
              <a:ext cx="2837024" cy="198025"/>
            </a:xfrm>
            <a:prstGeom prst="rect">
              <a:avLst/>
            </a:prstGeom>
            <a:noFill/>
            <a:ln>
              <a:noFill/>
            </a:ln>
          </p:spPr>
          <p:txBody>
            <a:bodyPr wrap="none" lIns="0" tIns="0" rIns="0" bIns="0" anchor="t" anchorCtr="0">
              <a:spAutoFit/>
            </a:bodyPr>
            <a:lstStyle/>
            <a:p>
              <a:pPr algn="ctr"/>
              <a:r>
                <a:rPr lang="en-US" sz="1010" b="1" dirty="0">
                  <a:solidFill>
                    <a:schemeClr val="dk1"/>
                  </a:solidFill>
                  <a:latin typeface="Consolas"/>
                  <a:ea typeface="Consolas"/>
                  <a:cs typeface="Consolas"/>
                </a:rPr>
                <a:t>value = unlabeled data x self-supervision</a:t>
              </a:r>
            </a:p>
          </p:txBody>
        </p:sp>
      </p:grpSp>
      <p:grpSp>
        <p:nvGrpSpPr>
          <p:cNvPr id="29" name="Group 29"/>
          <p:cNvGrpSpPr/>
          <p:nvPr/>
        </p:nvGrpSpPr>
        <p:grpSpPr>
          <a:xfrm>
            <a:off x="6172200" y="1504950"/>
            <a:ext cx="5410200" cy="1828800"/>
            <a:chOff x="6172200" y="1504950"/>
            <a:chExt cx="5410200" cy="1828800"/>
          </a:xfrm>
        </p:grpSpPr>
        <p:sp>
          <p:nvSpPr>
            <p:cNvPr id="22" name="Rectangle 22"/>
            <p:cNvSpPr/>
            <p:nvPr/>
          </p:nvSpPr>
          <p:spPr>
            <a:xfrm>
              <a:off x="6172200" y="1504950"/>
              <a:ext cx="5410200" cy="1828800"/>
            </a:xfrm>
            <a:prstGeom prst="roundRect">
              <a:avLst>
                <a:gd name="adj" fmla="val 7292"/>
              </a:avLst>
            </a:prstGeom>
            <a:solidFill>
              <a:srgbClr val="0F2E2B"/>
            </a:solidFill>
            <a:ln w="14288">
              <a:solidFill>
                <a:srgbClr val="34D3C0"/>
              </a:solidFill>
            </a:ln>
          </p:spPr>
        </p:sp>
        <p:sp>
          <p:nvSpPr>
            <p:cNvPr id="23" name="Rectangle 23"/>
            <p:cNvSpPr/>
            <p:nvPr/>
          </p:nvSpPr>
          <p:spPr>
            <a:xfrm>
              <a:off x="6172200" y="1504950"/>
              <a:ext cx="57150" cy="1828800"/>
            </a:xfrm>
            <a:prstGeom prst="roundRect">
              <a:avLst>
                <a:gd name="adj" fmla="val 50000"/>
              </a:avLst>
            </a:prstGeom>
            <a:solidFill>
              <a:srgbClr val="34D3C0"/>
            </a:solidFill>
            <a:ln>
              <a:noFill/>
            </a:ln>
          </p:spPr>
        </p:sp>
        <p:sp>
          <p:nvSpPr>
            <p:cNvPr id="24" name="TextBox 24"/>
            <p:cNvSpPr txBox="1"/>
            <p:nvPr/>
          </p:nvSpPr>
          <p:spPr>
            <a:xfrm>
              <a:off x="6432614" y="1733312"/>
              <a:ext cx="3094658"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The prior prior methods throw away</a:t>
              </a:r>
            </a:p>
          </p:txBody>
        </p:sp>
        <p:sp>
          <p:nvSpPr>
            <p:cNvPr id="25" name="TextBox 25"/>
            <p:cNvSpPr txBox="1"/>
            <p:nvPr/>
          </p:nvSpPr>
          <p:spPr>
            <a:xfrm>
              <a:off x="6433566" y="2039302"/>
              <a:ext cx="3860046"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The key insight: time series carry a special information</a:t>
              </a:r>
            </a:p>
          </p:txBody>
        </p:sp>
        <p:sp>
          <p:nvSpPr>
            <p:cNvPr id="26" name="TextBox 26"/>
            <p:cNvSpPr txBox="1"/>
            <p:nvPr/>
          </p:nvSpPr>
          <p:spPr>
            <a:xfrm>
              <a:off x="6433566" y="2239328"/>
              <a:ext cx="3706997"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prior methods discard, the correlation between what</a:t>
              </a:r>
            </a:p>
          </p:txBody>
        </p:sp>
        <p:sp>
          <p:nvSpPr>
            <p:cNvPr id="27" name="TextBox 27"/>
            <p:cNvSpPr txBox="1"/>
            <p:nvPr/>
          </p:nvSpPr>
          <p:spPr>
            <a:xfrm>
              <a:off x="6433566" y="2439352"/>
              <a:ext cx="3332417"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happened in the past and what is happening now.</a:t>
              </a:r>
            </a:p>
          </p:txBody>
        </p:sp>
        <p:sp>
          <p:nvSpPr>
            <p:cNvPr id="28" name="TextBox 28"/>
            <p:cNvSpPr txBox="1"/>
            <p:nvPr/>
          </p:nvSpPr>
          <p:spPr>
            <a:xfrm>
              <a:off x="6433756" y="2995851"/>
              <a:ext cx="2729951" cy="198025"/>
            </a:xfrm>
            <a:prstGeom prst="rect">
              <a:avLst/>
            </a:prstGeom>
            <a:noFill/>
            <a:ln>
              <a:noFill/>
            </a:ln>
          </p:spPr>
          <p:txBody>
            <a:bodyPr wrap="none" lIns="0" tIns="0" rIns="0" bIns="0" anchor="t" anchorCtr="0">
              <a:spAutoFit/>
            </a:bodyPr>
            <a:lstStyle/>
            <a:p>
              <a:pPr algn="l"/>
              <a:r>
                <a:rPr lang="en-US" sz="1010" b="1" dirty="0">
                  <a:solidFill>
                    <a:srgbClr val="34D3C0"/>
                  </a:solidFill>
                  <a:latin typeface="Consolas"/>
                  <a:ea typeface="Consolas"/>
                  <a:cs typeface="Consolas"/>
                </a:rPr>
                <a:t>past ~~&gt; now : correlation across time</a:t>
              </a:r>
            </a:p>
          </p:txBody>
        </p:sp>
      </p:grpSp>
      <p:grpSp>
        <p:nvGrpSpPr>
          <p:cNvPr id="41" name="Group 41"/>
          <p:cNvGrpSpPr/>
          <p:nvPr/>
        </p:nvGrpSpPr>
        <p:grpSpPr>
          <a:xfrm>
            <a:off x="6172200" y="3486150"/>
            <a:ext cx="5410200" cy="1752600"/>
            <a:chOff x="6172200" y="3486150"/>
            <a:chExt cx="5410200" cy="1752600"/>
          </a:xfrm>
        </p:grpSpPr>
        <p:sp>
          <p:nvSpPr>
            <p:cNvPr id="30" name="Rectangle 30"/>
            <p:cNvSpPr/>
            <p:nvPr/>
          </p:nvSpPr>
          <p:spPr>
            <a:xfrm>
              <a:off x="6172200" y="3486150"/>
              <a:ext cx="5410200" cy="1752600"/>
            </a:xfrm>
            <a:prstGeom prst="roundRect">
              <a:avLst>
                <a:gd name="adj" fmla="val 7609"/>
              </a:avLst>
            </a:prstGeom>
            <a:solidFill>
              <a:schemeClr val="accent5"/>
            </a:solidFill>
            <a:ln w="14288">
              <a:solidFill>
                <a:srgbClr val="26455F"/>
              </a:solidFill>
            </a:ln>
          </p:spPr>
        </p:sp>
        <p:sp>
          <p:nvSpPr>
            <p:cNvPr id="31" name="Rectangle 31"/>
            <p:cNvSpPr/>
            <p:nvPr/>
          </p:nvSpPr>
          <p:spPr>
            <a:xfrm>
              <a:off x="6172200" y="3486150"/>
              <a:ext cx="57150" cy="1752600"/>
            </a:xfrm>
            <a:prstGeom prst="roundRect">
              <a:avLst>
                <a:gd name="adj" fmla="val 50000"/>
              </a:avLst>
            </a:prstGeom>
            <a:solidFill>
              <a:srgbClr val="48C78E"/>
            </a:solidFill>
            <a:ln>
              <a:noFill/>
            </a:ln>
          </p:spPr>
        </p:sp>
        <p:sp>
          <p:nvSpPr>
            <p:cNvPr id="32" name="TextBox 32"/>
            <p:cNvSpPr txBox="1"/>
            <p:nvPr/>
          </p:nvSpPr>
          <p:spPr>
            <a:xfrm>
              <a:off x="6432804" y="3718560"/>
              <a:ext cx="2918187" cy="234696"/>
            </a:xfrm>
            <a:prstGeom prst="rect">
              <a:avLst/>
            </a:prstGeom>
            <a:noFill/>
            <a:ln>
              <a:noFill/>
            </a:ln>
          </p:spPr>
          <p:txBody>
            <a:bodyPr wrap="none" lIns="0" tIns="0" rIns="0" bIns="0" anchor="t" anchorCtr="0">
              <a:spAutoFit/>
            </a:bodyPr>
            <a:lstStyle/>
            <a:p>
              <a:pPr algn="l"/>
              <a:r>
                <a:rPr lang="en-US" sz="1200" b="1" dirty="0">
                  <a:solidFill>
                    <a:srgbClr val="48C78E"/>
                  </a:solidFill>
                  <a:latin typeface="+mn-lt"/>
                  <a:ea typeface="+mn-ea"/>
                  <a:cs typeface="+mn-cs"/>
                </a:rPr>
                <a:t>So relate distant moments directly</a:t>
              </a:r>
            </a:p>
          </p:txBody>
        </p:sp>
        <p:sp>
          <p:nvSpPr>
            <p:cNvPr id="33" name="TextBox 33"/>
            <p:cNvSpPr txBox="1"/>
            <p:nvPr/>
          </p:nvSpPr>
          <p:spPr>
            <a:xfrm>
              <a:off x="6433566" y="4020502"/>
              <a:ext cx="359144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Instead of treating each window in isolation, build a</a:t>
              </a:r>
            </a:p>
          </p:txBody>
        </p:sp>
        <p:sp>
          <p:nvSpPr>
            <p:cNvPr id="34" name="TextBox 34"/>
            <p:cNvSpPr txBox="1"/>
            <p:nvPr/>
          </p:nvSpPr>
          <p:spPr>
            <a:xfrm>
              <a:off x="6433566" y="4220528"/>
              <a:ext cx="350910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pre-training task that explicitly asks the model to</a:t>
              </a:r>
            </a:p>
          </p:txBody>
        </p:sp>
        <p:sp>
          <p:nvSpPr>
            <p:cNvPr id="35" name="TextBox 35"/>
            <p:cNvSpPr txBox="1"/>
            <p:nvPr/>
          </p:nvSpPr>
          <p:spPr>
            <a:xfrm>
              <a:off x="6433566" y="4420552"/>
              <a:ext cx="320520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relate distant moments in time to each other.</a:t>
              </a:r>
            </a:p>
          </p:txBody>
        </p:sp>
        <p:sp>
          <p:nvSpPr>
            <p:cNvPr id="36" name="Rectangle 36"/>
            <p:cNvSpPr/>
            <p:nvPr/>
          </p:nvSpPr>
          <p:spPr>
            <a:xfrm>
              <a:off x="6438900" y="4705350"/>
              <a:ext cx="4876800" cy="381000"/>
            </a:xfrm>
            <a:prstGeom prst="roundRect">
              <a:avLst>
                <a:gd name="adj" fmla="val 20000"/>
              </a:avLst>
            </a:prstGeom>
            <a:solidFill>
              <a:srgbClr val="0E2334"/>
            </a:solidFill>
            <a:ln w="14288">
              <a:solidFill>
                <a:srgbClr val="26455F"/>
              </a:solidFill>
            </a:ln>
          </p:spPr>
        </p:sp>
        <p:sp>
          <p:nvSpPr>
            <p:cNvPr id="37" name="Rectangle 37"/>
            <p:cNvSpPr/>
            <p:nvPr/>
          </p:nvSpPr>
          <p:spPr>
            <a:xfrm>
              <a:off x="9444228" y="4762500"/>
              <a:ext cx="1322832" cy="266700"/>
            </a:xfrm>
            <a:prstGeom prst="roundRect">
              <a:avLst>
                <a:gd name="adj" fmla="val 14286"/>
              </a:avLst>
            </a:prstGeom>
            <a:solidFill>
              <a:srgbClr val="F2C14E">
                <a:alpha val="20000"/>
              </a:srgbClr>
            </a:solidFill>
            <a:ln>
              <a:noFill/>
            </a:ln>
          </p:spPr>
        </p:sp>
        <p:sp>
          <p:nvSpPr>
            <p:cNvPr id="38" name="Line 38"/>
            <p:cNvSpPr/>
            <p:nvPr/>
          </p:nvSpPr>
          <p:spPr>
            <a:xfrm>
              <a:off x="9444228" y="4762500"/>
              <a:ext cx="9525" cy="266700"/>
            </a:xfrm>
            <a:custGeom>
              <a:avLst/>
              <a:gdLst/>
              <a:ahLst/>
              <a:cxnLst/>
              <a:rect l="l" t="t" r="r" b="b"/>
              <a:pathLst>
                <a:path w="9525" h="266700">
                  <a:moveTo>
                    <a:pt x="0" y="0"/>
                  </a:moveTo>
                  <a:lnTo>
                    <a:pt x="0" y="266700"/>
                  </a:lnTo>
                </a:path>
              </a:pathLst>
            </a:custGeom>
            <a:noFill/>
            <a:ln w="11430" cap="rnd">
              <a:solidFill>
                <a:srgbClr val="F2C14E"/>
              </a:solidFill>
              <a:custDash>
                <a:ds d="250000" sp="250000"/>
              </a:custDash>
            </a:ln>
          </p:spPr>
        </p:sp>
        <p:sp>
          <p:nvSpPr>
            <p:cNvPr id="39" name="Line 39"/>
            <p:cNvSpPr/>
            <p:nvPr/>
          </p:nvSpPr>
          <p:spPr>
            <a:xfrm>
              <a:off x="10767060" y="4762500"/>
              <a:ext cx="9525" cy="266700"/>
            </a:xfrm>
            <a:custGeom>
              <a:avLst/>
              <a:gdLst/>
              <a:ahLst/>
              <a:cxnLst/>
              <a:rect l="l" t="t" r="r" b="b"/>
              <a:pathLst>
                <a:path w="9525" h="266700">
                  <a:moveTo>
                    <a:pt x="0" y="0"/>
                  </a:moveTo>
                  <a:lnTo>
                    <a:pt x="0" y="266700"/>
                  </a:lnTo>
                </a:path>
              </a:pathLst>
            </a:custGeom>
            <a:noFill/>
            <a:ln w="11430" cap="rnd">
              <a:solidFill>
                <a:srgbClr val="F2C14E"/>
              </a:solidFill>
              <a:custDash>
                <a:ds d="250000" sp="250000"/>
              </a:custDash>
            </a:ln>
          </p:spPr>
        </p:sp>
        <p:sp>
          <p:nvSpPr>
            <p:cNvPr id="40" name="Polyline 40"/>
            <p:cNvSpPr/>
            <p:nvPr/>
          </p:nvSpPr>
          <p:spPr>
            <a:xfrm>
              <a:off x="6515100" y="4820602"/>
              <a:ext cx="4724400" cy="168592"/>
            </a:xfrm>
            <a:custGeom>
              <a:avLst/>
              <a:gdLst/>
              <a:ahLst/>
              <a:cxnLst/>
              <a:rect l="l" t="t" r="r" b="b"/>
              <a:pathLst>
                <a:path w="4724400" h="168592">
                  <a:moveTo>
                    <a:pt x="0" y="0"/>
                  </a:moveTo>
                  <a:lnTo>
                    <a:pt x="74295" y="12382"/>
                  </a:lnTo>
                  <a:lnTo>
                    <a:pt x="147638" y="25717"/>
                  </a:lnTo>
                  <a:lnTo>
                    <a:pt x="220980" y="38100"/>
                  </a:lnTo>
                  <a:lnTo>
                    <a:pt x="295275" y="50482"/>
                  </a:lnTo>
                  <a:lnTo>
                    <a:pt x="369570" y="60007"/>
                  </a:lnTo>
                  <a:lnTo>
                    <a:pt x="442912" y="67628"/>
                  </a:lnTo>
                  <a:lnTo>
                    <a:pt x="516255" y="72390"/>
                  </a:lnTo>
                  <a:lnTo>
                    <a:pt x="590550" y="75247"/>
                  </a:lnTo>
                  <a:lnTo>
                    <a:pt x="664845" y="76200"/>
                  </a:lnTo>
                  <a:lnTo>
                    <a:pt x="738188" y="76200"/>
                  </a:lnTo>
                  <a:lnTo>
                    <a:pt x="811530" y="76200"/>
                  </a:lnTo>
                  <a:lnTo>
                    <a:pt x="885825" y="77153"/>
                  </a:lnTo>
                  <a:lnTo>
                    <a:pt x="960120" y="80010"/>
                  </a:lnTo>
                  <a:lnTo>
                    <a:pt x="1033462" y="85725"/>
                  </a:lnTo>
                  <a:lnTo>
                    <a:pt x="1106805" y="93345"/>
                  </a:lnTo>
                  <a:lnTo>
                    <a:pt x="1181100" y="103822"/>
                  </a:lnTo>
                  <a:lnTo>
                    <a:pt x="1255395" y="116205"/>
                  </a:lnTo>
                  <a:lnTo>
                    <a:pt x="1328738" y="129540"/>
                  </a:lnTo>
                  <a:lnTo>
                    <a:pt x="1402080" y="141922"/>
                  </a:lnTo>
                  <a:lnTo>
                    <a:pt x="1476375" y="153353"/>
                  </a:lnTo>
                  <a:lnTo>
                    <a:pt x="1550670" y="161925"/>
                  </a:lnTo>
                  <a:lnTo>
                    <a:pt x="1624012" y="167640"/>
                  </a:lnTo>
                  <a:lnTo>
                    <a:pt x="1697355" y="168592"/>
                  </a:lnTo>
                  <a:lnTo>
                    <a:pt x="1771650" y="163830"/>
                  </a:lnTo>
                  <a:lnTo>
                    <a:pt x="1845945" y="155257"/>
                  </a:lnTo>
                  <a:lnTo>
                    <a:pt x="1919288" y="141922"/>
                  </a:lnTo>
                  <a:lnTo>
                    <a:pt x="1992630" y="125730"/>
                  </a:lnTo>
                  <a:lnTo>
                    <a:pt x="2066925" y="107632"/>
                  </a:lnTo>
                  <a:lnTo>
                    <a:pt x="2141220" y="87630"/>
                  </a:lnTo>
                  <a:lnTo>
                    <a:pt x="2214562" y="68580"/>
                  </a:lnTo>
                  <a:lnTo>
                    <a:pt x="2287905" y="51435"/>
                  </a:lnTo>
                  <a:lnTo>
                    <a:pt x="2362200" y="38100"/>
                  </a:lnTo>
                  <a:lnTo>
                    <a:pt x="2436495" y="26670"/>
                  </a:lnTo>
                  <a:lnTo>
                    <a:pt x="2509838" y="20002"/>
                  </a:lnTo>
                  <a:lnTo>
                    <a:pt x="2583180" y="17145"/>
                  </a:lnTo>
                  <a:lnTo>
                    <a:pt x="2657475" y="17145"/>
                  </a:lnTo>
                  <a:lnTo>
                    <a:pt x="2731770" y="20002"/>
                  </a:lnTo>
                  <a:lnTo>
                    <a:pt x="2805112" y="23812"/>
                  </a:lnTo>
                  <a:lnTo>
                    <a:pt x="2878455" y="28575"/>
                  </a:lnTo>
                  <a:lnTo>
                    <a:pt x="2952750" y="32385"/>
                  </a:lnTo>
                  <a:lnTo>
                    <a:pt x="3027045" y="35242"/>
                  </a:lnTo>
                  <a:lnTo>
                    <a:pt x="3100388" y="36195"/>
                  </a:lnTo>
                  <a:lnTo>
                    <a:pt x="3173730" y="35242"/>
                  </a:lnTo>
                  <a:lnTo>
                    <a:pt x="3248025" y="32385"/>
                  </a:lnTo>
                  <a:lnTo>
                    <a:pt x="3322320" y="28575"/>
                  </a:lnTo>
                  <a:lnTo>
                    <a:pt x="3395662" y="23812"/>
                  </a:lnTo>
                  <a:lnTo>
                    <a:pt x="3469005" y="20002"/>
                  </a:lnTo>
                  <a:lnTo>
                    <a:pt x="3543300" y="18097"/>
                  </a:lnTo>
                  <a:lnTo>
                    <a:pt x="3617595" y="19050"/>
                  </a:lnTo>
                  <a:lnTo>
                    <a:pt x="3690938" y="22860"/>
                  </a:lnTo>
                  <a:lnTo>
                    <a:pt x="3764280" y="30480"/>
                  </a:lnTo>
                  <a:lnTo>
                    <a:pt x="3838575" y="42862"/>
                  </a:lnTo>
                  <a:lnTo>
                    <a:pt x="3912870" y="58103"/>
                  </a:lnTo>
                  <a:lnTo>
                    <a:pt x="3986212" y="75247"/>
                  </a:lnTo>
                  <a:lnTo>
                    <a:pt x="4059555" y="94297"/>
                  </a:lnTo>
                  <a:lnTo>
                    <a:pt x="4133850" y="113347"/>
                  </a:lnTo>
                  <a:lnTo>
                    <a:pt x="4208145" y="131445"/>
                  </a:lnTo>
                  <a:lnTo>
                    <a:pt x="4281488" y="146685"/>
                  </a:lnTo>
                  <a:lnTo>
                    <a:pt x="4354830" y="159067"/>
                  </a:lnTo>
                  <a:lnTo>
                    <a:pt x="4429125" y="166688"/>
                  </a:lnTo>
                  <a:lnTo>
                    <a:pt x="4503420" y="168592"/>
                  </a:lnTo>
                  <a:lnTo>
                    <a:pt x="4576762" y="166688"/>
                  </a:lnTo>
                  <a:lnTo>
                    <a:pt x="4650105" y="160020"/>
                  </a:lnTo>
                  <a:lnTo>
                    <a:pt x="4724400" y="150495"/>
                  </a:lnTo>
                </a:path>
              </a:pathLst>
            </a:custGeom>
            <a:noFill/>
            <a:ln w="24765" cap="rnd">
              <a:solidFill>
                <a:srgbClr val="48C78E"/>
              </a:solidFill>
              <a:round/>
            </a:ln>
          </p:spPr>
        </p:sp>
      </p:grpSp>
      <p:sp>
        <p:nvSpPr>
          <p:cNvPr id="42" name="cue_s03_c1_timing_could_not_better_method" title="cue_s03_c1_timing_could_not_better_method" descr="cue_s03_c1_timing_could_not_better_method The timing could not be better for a method that gets this right. Every day the world's sensors, wearables, and industrial systems pour out staggering volumes of unlabeled time series through the Internet of Things."/>
          <p:cNvSpPr/>
          <p:nvPr/>
        </p:nvSpPr>
        <p:spPr>
          <a:xfrm>
            <a:off x="609600" y="1504645"/>
            <a:ext cx="5334000"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3_c2_gold_mine_but_only_learn" title="cue_s03_c2_gold_mine_but_only_learn" descr="cue_s03_c2_gold_mine_but_only_learn That data is a gold mine, but only if we can learn from it without hand labeling."/>
          <p:cNvSpPr/>
          <p:nvPr/>
        </p:nvSpPr>
        <p:spPr>
          <a:xfrm>
            <a:off x="609600" y="3485921"/>
            <a:ext cx="5334000" cy="17529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3_c3_key_insight_motivating_timesiam_time" title="cue_s03_c3_key_insight_motivating_timesiam_time" descr="cue_s03_c3_key_insight_motivating_timesiam_time The key insight motivating TimeSiam is that time series carry a special kind of information prior methods throw away: the correlation between what happened in the past and what is happening now."/>
          <p:cNvSpPr/>
          <p:nvPr/>
        </p:nvSpPr>
        <p:spPr>
          <a:xfrm>
            <a:off x="6171590" y="1504645"/>
            <a:ext cx="5409590"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3_c4_instead_treating_window_isolation_wh" title="cue_s03_c4_instead_treating_window_isolation_wh" descr="cue_s03_c4_instead_treating_window_isolation_wh Instead of treating each window in isolation, why not build a pre-training task that explicitly asks the model to relate distant moments in time to each other."/>
          <p:cNvSpPr/>
          <p:nvPr/>
        </p:nvSpPr>
        <p:spPr>
          <a:xfrm>
            <a:off x="6171590" y="3485921"/>
            <a:ext cx="5409590" cy="17529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392865"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CONTRIBUTION</a:t>
            </a:r>
          </a:p>
        </p:txBody>
      </p:sp>
      <p:sp>
        <p:nvSpPr>
          <p:cNvPr id="4" name="TextBox 4"/>
          <p:cNvSpPr txBox="1"/>
          <p:nvPr/>
        </p:nvSpPr>
        <p:spPr>
          <a:xfrm>
            <a:off x="598170" y="804862"/>
            <a:ext cx="577430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One framework, three contributions</a:t>
            </a:r>
          </a:p>
        </p:txBody>
      </p:sp>
      <p:grpSp>
        <p:nvGrpSpPr>
          <p:cNvPr id="16" name="Group 16"/>
          <p:cNvGrpSpPr/>
          <p:nvPr/>
        </p:nvGrpSpPr>
        <p:grpSpPr>
          <a:xfrm>
            <a:off x="609600" y="1714500"/>
            <a:ext cx="2590800" cy="3543300"/>
            <a:chOff x="609600" y="1714500"/>
            <a:chExt cx="2590800" cy="3543300"/>
          </a:xfrm>
        </p:grpSpPr>
        <p:sp>
          <p:nvSpPr>
            <p:cNvPr id="5" name="Rectangle 5"/>
            <p:cNvSpPr/>
            <p:nvPr/>
          </p:nvSpPr>
          <p:spPr>
            <a:xfrm>
              <a:off x="609600" y="1714500"/>
              <a:ext cx="2590800" cy="3543300"/>
            </a:xfrm>
            <a:prstGeom prst="roundRect">
              <a:avLst>
                <a:gd name="adj" fmla="val 5147"/>
              </a:avLst>
            </a:prstGeom>
            <a:solidFill>
              <a:schemeClr val="accent5"/>
            </a:solidFill>
            <a:ln w="14288">
              <a:solidFill>
                <a:srgbClr val="26455F"/>
              </a:solidFill>
            </a:ln>
          </p:spPr>
        </p:sp>
        <p:sp>
          <p:nvSpPr>
            <p:cNvPr id="6" name="Rectangle 6"/>
            <p:cNvSpPr/>
            <p:nvPr/>
          </p:nvSpPr>
          <p:spPr>
            <a:xfrm>
              <a:off x="609600" y="1714500"/>
              <a:ext cx="2590800" cy="57150"/>
            </a:xfrm>
            <a:prstGeom prst="roundRect">
              <a:avLst>
                <a:gd name="adj" fmla="val 50000"/>
              </a:avLst>
            </a:prstGeom>
            <a:solidFill>
              <a:schemeClr val="accent2"/>
            </a:solidFill>
            <a:ln>
              <a:noFill/>
            </a:ln>
          </p:spPr>
        </p:sp>
        <p:sp>
          <p:nvSpPr>
            <p:cNvPr id="7" name="Ellipse 7"/>
            <p:cNvSpPr/>
            <p:nvPr/>
          </p:nvSpPr>
          <p:spPr>
            <a:xfrm>
              <a:off x="838200" y="2095500"/>
              <a:ext cx="495300" cy="495300"/>
            </a:xfrm>
            <a:prstGeom prst="ellipse">
              <a:avLst/>
            </a:prstGeom>
            <a:noFill/>
            <a:ln w="23812">
              <a:solidFill>
                <a:schemeClr val="accent2"/>
              </a:solidFill>
            </a:ln>
          </p:spPr>
        </p:sp>
        <p:sp>
          <p:nvSpPr>
            <p:cNvPr id="8" name="TextBox 8"/>
            <p:cNvSpPr txBox="1"/>
            <p:nvPr/>
          </p:nvSpPr>
          <p:spPr>
            <a:xfrm>
              <a:off x="928848" y="2225040"/>
              <a:ext cx="314005" cy="352044"/>
            </a:xfrm>
            <a:prstGeom prst="rect">
              <a:avLst/>
            </a:prstGeom>
            <a:noFill/>
            <a:ln>
              <a:noFill/>
            </a:ln>
          </p:spPr>
          <p:txBody>
            <a:bodyPr wrap="none" lIns="0" tIns="0" rIns="0" bIns="0" anchor="t" anchorCtr="0">
              <a:spAutoFit/>
            </a:bodyPr>
            <a:lstStyle/>
            <a:p>
              <a:pPr algn="ctr"/>
              <a:r>
                <a:rPr lang="en-US" sz="1800" b="1" dirty="0">
                  <a:solidFill>
                    <a:schemeClr val="accent2"/>
                  </a:solidFill>
                  <a:latin typeface="+mn-lt"/>
                  <a:ea typeface="+mn-ea"/>
                  <a:cs typeface="+mn-cs"/>
                </a:rPr>
                <a:t>TS</a:t>
              </a:r>
            </a:p>
          </p:txBody>
        </p:sp>
        <p:sp>
          <p:nvSpPr>
            <p:cNvPr id="9" name="TextBox 9"/>
            <p:cNvSpPr txBox="1"/>
            <p:nvPr/>
          </p:nvSpPr>
          <p:spPr>
            <a:xfrm>
              <a:off x="831532" y="2849166"/>
              <a:ext cx="1868044"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TimeSiam framework</a:t>
              </a:r>
            </a:p>
          </p:txBody>
        </p:sp>
        <p:sp>
          <p:nvSpPr>
            <p:cNvPr id="10" name="TextBox 10"/>
            <p:cNvSpPr txBox="1"/>
            <p:nvPr/>
          </p:nvSpPr>
          <p:spPr>
            <a:xfrm>
              <a:off x="832866" y="3239452"/>
              <a:ext cx="154180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simple but effective</a:t>
              </a:r>
            </a:p>
          </p:txBody>
        </p:sp>
        <p:sp>
          <p:nvSpPr>
            <p:cNvPr id="11" name="TextBox 11"/>
            <p:cNvSpPr txBox="1"/>
            <p:nvPr/>
          </p:nvSpPr>
          <p:spPr>
            <a:xfrm>
              <a:off x="832866" y="3449002"/>
              <a:ext cx="202492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pre-training framework that</a:t>
              </a:r>
            </a:p>
          </p:txBody>
        </p:sp>
        <p:sp>
          <p:nvSpPr>
            <p:cNvPr id="12" name="TextBox 12"/>
            <p:cNvSpPr txBox="1"/>
            <p:nvPr/>
          </p:nvSpPr>
          <p:spPr>
            <a:xfrm>
              <a:off x="832866" y="3658552"/>
              <a:ext cx="179649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uses Siamese networks to</a:t>
              </a:r>
            </a:p>
          </p:txBody>
        </p:sp>
        <p:sp>
          <p:nvSpPr>
            <p:cNvPr id="13" name="TextBox 13"/>
            <p:cNvSpPr txBox="1"/>
            <p:nvPr/>
          </p:nvSpPr>
          <p:spPr>
            <a:xfrm>
              <a:off x="832866" y="3868102"/>
              <a:ext cx="191890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capture correlations among</a:t>
              </a:r>
            </a:p>
          </p:txBody>
        </p:sp>
        <p:sp>
          <p:nvSpPr>
            <p:cNvPr id="14" name="TextBox 14"/>
            <p:cNvSpPr txBox="1"/>
            <p:nvPr/>
          </p:nvSpPr>
          <p:spPr>
            <a:xfrm>
              <a:off x="832866" y="4077652"/>
              <a:ext cx="145244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temporally distanced</a:t>
              </a:r>
            </a:p>
          </p:txBody>
        </p:sp>
        <p:sp>
          <p:nvSpPr>
            <p:cNvPr id="15" name="TextBox 15"/>
            <p:cNvSpPr txBox="1"/>
            <p:nvPr/>
          </p:nvSpPr>
          <p:spPr>
            <a:xfrm>
              <a:off x="832866" y="4287202"/>
              <a:ext cx="75276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subseries.</a:t>
              </a:r>
            </a:p>
          </p:txBody>
        </p:sp>
      </p:grpSp>
      <p:grpSp>
        <p:nvGrpSpPr>
          <p:cNvPr id="27" name="Group 27"/>
          <p:cNvGrpSpPr/>
          <p:nvPr/>
        </p:nvGrpSpPr>
        <p:grpSpPr>
          <a:xfrm>
            <a:off x="3429000" y="1714500"/>
            <a:ext cx="2590800" cy="3543300"/>
            <a:chOff x="3429000" y="1714500"/>
            <a:chExt cx="2590800" cy="3543300"/>
          </a:xfrm>
        </p:grpSpPr>
        <p:sp>
          <p:nvSpPr>
            <p:cNvPr id="17" name="Rectangle 17"/>
            <p:cNvSpPr/>
            <p:nvPr/>
          </p:nvSpPr>
          <p:spPr>
            <a:xfrm>
              <a:off x="3429000" y="1714500"/>
              <a:ext cx="2590800" cy="3543300"/>
            </a:xfrm>
            <a:prstGeom prst="roundRect">
              <a:avLst>
                <a:gd name="adj" fmla="val 5147"/>
              </a:avLst>
            </a:prstGeom>
            <a:solidFill>
              <a:schemeClr val="accent5"/>
            </a:solidFill>
            <a:ln w="14288">
              <a:solidFill>
                <a:srgbClr val="26455F"/>
              </a:solidFill>
            </a:ln>
          </p:spPr>
        </p:sp>
        <p:sp>
          <p:nvSpPr>
            <p:cNvPr id="18" name="Rectangle 18"/>
            <p:cNvSpPr/>
            <p:nvPr/>
          </p:nvSpPr>
          <p:spPr>
            <a:xfrm>
              <a:off x="3429000" y="1714500"/>
              <a:ext cx="2590800" cy="57150"/>
            </a:xfrm>
            <a:prstGeom prst="roundRect">
              <a:avLst>
                <a:gd name="adj" fmla="val 50000"/>
              </a:avLst>
            </a:prstGeom>
            <a:solidFill>
              <a:srgbClr val="34D3C0"/>
            </a:solidFill>
            <a:ln>
              <a:noFill/>
            </a:ln>
          </p:spPr>
        </p:sp>
        <p:sp>
          <p:nvSpPr>
            <p:cNvPr id="19" name="Ellipse 19"/>
            <p:cNvSpPr/>
            <p:nvPr/>
          </p:nvSpPr>
          <p:spPr>
            <a:xfrm>
              <a:off x="3657600" y="2095500"/>
              <a:ext cx="495300" cy="495300"/>
            </a:xfrm>
            <a:prstGeom prst="ellipse">
              <a:avLst/>
            </a:prstGeom>
            <a:noFill/>
            <a:ln w="23812">
              <a:solidFill>
                <a:srgbClr val="34D3C0"/>
              </a:solidFill>
            </a:ln>
          </p:spPr>
        </p:sp>
        <p:sp>
          <p:nvSpPr>
            <p:cNvPr id="20" name="TextBox 20"/>
            <p:cNvSpPr txBox="1"/>
            <p:nvPr/>
          </p:nvSpPr>
          <p:spPr>
            <a:xfrm>
              <a:off x="3822177" y="2225040"/>
              <a:ext cx="166146" cy="352044"/>
            </a:xfrm>
            <a:prstGeom prst="rect">
              <a:avLst/>
            </a:prstGeom>
            <a:noFill/>
            <a:ln>
              <a:noFill/>
            </a:ln>
          </p:spPr>
          <p:txBody>
            <a:bodyPr wrap="none" lIns="0" tIns="0" rIns="0" bIns="0" anchor="t" anchorCtr="0">
              <a:spAutoFit/>
            </a:bodyPr>
            <a:lstStyle/>
            <a:p>
              <a:pPr algn="ctr"/>
              <a:r>
                <a:rPr lang="en-US" sz="1800" b="1" dirty="0">
                  <a:solidFill>
                    <a:srgbClr val="34D3C0"/>
                  </a:solidFill>
                  <a:latin typeface="+mn-lt"/>
                  <a:ea typeface="+mn-ea"/>
                  <a:cs typeface="+mn-cs"/>
                </a:rPr>
                <a:t>L</a:t>
              </a:r>
            </a:p>
          </p:txBody>
        </p:sp>
        <p:sp>
          <p:nvSpPr>
            <p:cNvPr id="21" name="TextBox 21"/>
            <p:cNvSpPr txBox="1"/>
            <p:nvPr/>
          </p:nvSpPr>
          <p:spPr>
            <a:xfrm>
              <a:off x="3650932" y="2849166"/>
              <a:ext cx="1750437"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Lineage embeddings</a:t>
              </a:r>
            </a:p>
          </p:txBody>
        </p:sp>
        <p:sp>
          <p:nvSpPr>
            <p:cNvPr id="22" name="TextBox 22"/>
            <p:cNvSpPr txBox="1"/>
            <p:nvPr/>
          </p:nvSpPr>
          <p:spPr>
            <a:xfrm>
              <a:off x="3652266" y="3239452"/>
              <a:ext cx="208596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Learnable lineage embeddings:</a:t>
              </a:r>
            </a:p>
          </p:txBody>
        </p:sp>
        <p:sp>
          <p:nvSpPr>
            <p:cNvPr id="23" name="TextBox 23"/>
            <p:cNvSpPr txBox="1"/>
            <p:nvPr/>
          </p:nvSpPr>
          <p:spPr>
            <a:xfrm>
              <a:off x="3652266" y="3449002"/>
              <a:ext cx="202492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lightweight mechanism that</a:t>
              </a:r>
            </a:p>
          </p:txBody>
        </p:sp>
        <p:sp>
          <p:nvSpPr>
            <p:cNvPr id="24" name="TextBox 24"/>
            <p:cNvSpPr txBox="1"/>
            <p:nvPr/>
          </p:nvSpPr>
          <p:spPr>
            <a:xfrm>
              <a:off x="3652266" y="3658552"/>
              <a:ext cx="210973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lets one model represent many</a:t>
              </a:r>
            </a:p>
          </p:txBody>
        </p:sp>
        <p:sp>
          <p:nvSpPr>
            <p:cNvPr id="25" name="TextBox 25"/>
            <p:cNvSpPr txBox="1"/>
            <p:nvPr/>
          </p:nvSpPr>
          <p:spPr>
            <a:xfrm>
              <a:off x="3652266" y="3868102"/>
              <a:ext cx="222987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different past-to-current time</a:t>
              </a:r>
            </a:p>
          </p:txBody>
        </p:sp>
        <p:sp>
          <p:nvSpPr>
            <p:cNvPr id="26" name="TextBox 26"/>
            <p:cNvSpPr txBox="1"/>
            <p:nvPr/>
          </p:nvSpPr>
          <p:spPr>
            <a:xfrm>
              <a:off x="3652266" y="4077652"/>
              <a:ext cx="75276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distances.</a:t>
              </a:r>
            </a:p>
          </p:txBody>
        </p:sp>
      </p:grpSp>
      <p:grpSp>
        <p:nvGrpSpPr>
          <p:cNvPr id="38" name="Group 38"/>
          <p:cNvGrpSpPr/>
          <p:nvPr/>
        </p:nvGrpSpPr>
        <p:grpSpPr>
          <a:xfrm>
            <a:off x="6248400" y="1714500"/>
            <a:ext cx="2590800" cy="3543300"/>
            <a:chOff x="6248400" y="1714500"/>
            <a:chExt cx="2590800" cy="3543300"/>
          </a:xfrm>
        </p:grpSpPr>
        <p:sp>
          <p:nvSpPr>
            <p:cNvPr id="28" name="Rectangle 28"/>
            <p:cNvSpPr/>
            <p:nvPr/>
          </p:nvSpPr>
          <p:spPr>
            <a:xfrm>
              <a:off x="6248400" y="1714500"/>
              <a:ext cx="2590800" cy="3543300"/>
            </a:xfrm>
            <a:prstGeom prst="roundRect">
              <a:avLst>
                <a:gd name="adj" fmla="val 5147"/>
              </a:avLst>
            </a:prstGeom>
            <a:solidFill>
              <a:schemeClr val="accent5"/>
            </a:solidFill>
            <a:ln w="14288">
              <a:solidFill>
                <a:srgbClr val="26455F"/>
              </a:solidFill>
            </a:ln>
          </p:spPr>
        </p:sp>
        <p:sp>
          <p:nvSpPr>
            <p:cNvPr id="29" name="Rectangle 29"/>
            <p:cNvSpPr/>
            <p:nvPr/>
          </p:nvSpPr>
          <p:spPr>
            <a:xfrm>
              <a:off x="6248400" y="1714500"/>
              <a:ext cx="2590800" cy="57150"/>
            </a:xfrm>
            <a:prstGeom prst="roundRect">
              <a:avLst>
                <a:gd name="adj" fmla="val 50000"/>
              </a:avLst>
            </a:prstGeom>
            <a:solidFill>
              <a:srgbClr val="48C78E"/>
            </a:solidFill>
            <a:ln>
              <a:noFill/>
            </a:ln>
          </p:spPr>
        </p:sp>
        <p:sp>
          <p:nvSpPr>
            <p:cNvPr id="30" name="Ellipse 30"/>
            <p:cNvSpPr/>
            <p:nvPr/>
          </p:nvSpPr>
          <p:spPr>
            <a:xfrm>
              <a:off x="6477000" y="2095500"/>
              <a:ext cx="495300" cy="495300"/>
            </a:xfrm>
            <a:prstGeom prst="ellipse">
              <a:avLst/>
            </a:prstGeom>
            <a:noFill/>
            <a:ln w="23812">
              <a:solidFill>
                <a:srgbClr val="48C78E"/>
              </a:solidFill>
            </a:ln>
          </p:spPr>
        </p:sp>
        <p:sp>
          <p:nvSpPr>
            <p:cNvPr id="31" name="TextBox 31"/>
            <p:cNvSpPr txBox="1"/>
            <p:nvPr/>
          </p:nvSpPr>
          <p:spPr>
            <a:xfrm>
              <a:off x="6645537" y="2225040"/>
              <a:ext cx="158225" cy="352044"/>
            </a:xfrm>
            <a:prstGeom prst="rect">
              <a:avLst/>
            </a:prstGeom>
            <a:noFill/>
            <a:ln>
              <a:noFill/>
            </a:ln>
          </p:spPr>
          <p:txBody>
            <a:bodyPr wrap="none" lIns="0" tIns="0" rIns="0" bIns="0" anchor="t" anchorCtr="0">
              <a:spAutoFit/>
            </a:bodyPr>
            <a:lstStyle/>
            <a:p>
              <a:pPr algn="ctr"/>
              <a:r>
                <a:rPr lang="en-US" sz="1800" b="1" dirty="0">
                  <a:solidFill>
                    <a:srgbClr val="48C78E"/>
                  </a:solidFill>
                  <a:latin typeface="+mn-lt"/>
                  <a:ea typeface="+mn-ea"/>
                  <a:cs typeface="+mn-cs"/>
                </a:rPr>
                <a:t>*</a:t>
              </a:r>
            </a:p>
          </p:txBody>
        </p:sp>
        <p:sp>
          <p:nvSpPr>
            <p:cNvPr id="32" name="TextBox 32"/>
            <p:cNvSpPr txBox="1"/>
            <p:nvPr/>
          </p:nvSpPr>
          <p:spPr>
            <a:xfrm>
              <a:off x="6470332" y="2849166"/>
              <a:ext cx="1770806"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SOTA on both tasks</a:t>
              </a:r>
            </a:p>
          </p:txBody>
        </p:sp>
        <p:sp>
          <p:nvSpPr>
            <p:cNvPr id="33" name="TextBox 33"/>
            <p:cNvSpPr txBox="1"/>
            <p:nvPr/>
          </p:nvSpPr>
          <p:spPr>
            <a:xfrm>
              <a:off x="6471666" y="3239452"/>
              <a:ext cx="195174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Extensive experiments show</a:t>
              </a:r>
            </a:p>
          </p:txBody>
        </p:sp>
        <p:sp>
          <p:nvSpPr>
            <p:cNvPr id="34" name="TextBox 34"/>
            <p:cNvSpPr txBox="1"/>
            <p:nvPr/>
          </p:nvSpPr>
          <p:spPr>
            <a:xfrm>
              <a:off x="6471666" y="3449002"/>
              <a:ext cx="203905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consistent state-of-the-art</a:t>
              </a:r>
            </a:p>
          </p:txBody>
        </p:sp>
        <p:sp>
          <p:nvSpPr>
            <p:cNvPr id="35" name="TextBox 35"/>
            <p:cNvSpPr txBox="1"/>
            <p:nvPr/>
          </p:nvSpPr>
          <p:spPr>
            <a:xfrm>
              <a:off x="6471666" y="3658552"/>
              <a:ext cx="219454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when fine-tuned on forecasting</a:t>
              </a:r>
            </a:p>
          </p:txBody>
        </p:sp>
        <p:sp>
          <p:nvSpPr>
            <p:cNvPr id="36" name="TextBox 36"/>
            <p:cNvSpPr txBox="1"/>
            <p:nvPr/>
          </p:nvSpPr>
          <p:spPr>
            <a:xfrm>
              <a:off x="6471666" y="3868102"/>
              <a:ext cx="201078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and classification, in-domain</a:t>
              </a:r>
            </a:p>
          </p:txBody>
        </p:sp>
        <p:sp>
          <p:nvSpPr>
            <p:cNvPr id="37" name="TextBox 37"/>
            <p:cNvSpPr txBox="1"/>
            <p:nvPr/>
          </p:nvSpPr>
          <p:spPr>
            <a:xfrm>
              <a:off x="6471666" y="4077652"/>
              <a:ext cx="128989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and cross-domain.</a:t>
              </a:r>
            </a:p>
          </p:txBody>
        </p:sp>
      </p:grpSp>
      <p:grpSp>
        <p:nvGrpSpPr>
          <p:cNvPr id="48" name="Group 48"/>
          <p:cNvGrpSpPr/>
          <p:nvPr/>
        </p:nvGrpSpPr>
        <p:grpSpPr>
          <a:xfrm>
            <a:off x="9067800" y="1714500"/>
            <a:ext cx="2590800" cy="3543300"/>
            <a:chOff x="9067800" y="1714500"/>
            <a:chExt cx="2590800" cy="3543300"/>
          </a:xfrm>
        </p:grpSpPr>
        <p:sp>
          <p:nvSpPr>
            <p:cNvPr id="39" name="Rectangle 39"/>
            <p:cNvSpPr/>
            <p:nvPr/>
          </p:nvSpPr>
          <p:spPr>
            <a:xfrm>
              <a:off x="9067800" y="1714500"/>
              <a:ext cx="2590800" cy="3543300"/>
            </a:xfrm>
            <a:prstGeom prst="roundRect">
              <a:avLst>
                <a:gd name="adj" fmla="val 5147"/>
              </a:avLst>
            </a:prstGeom>
            <a:solidFill>
              <a:schemeClr val="accent5"/>
            </a:solidFill>
            <a:ln w="14288">
              <a:solidFill>
                <a:srgbClr val="26455F"/>
              </a:solidFill>
            </a:ln>
          </p:spPr>
        </p:sp>
        <p:sp>
          <p:nvSpPr>
            <p:cNvPr id="40" name="Rectangle 40"/>
            <p:cNvSpPr/>
            <p:nvPr/>
          </p:nvSpPr>
          <p:spPr>
            <a:xfrm>
              <a:off x="9067800" y="1714500"/>
              <a:ext cx="2590800" cy="57150"/>
            </a:xfrm>
            <a:prstGeom prst="roundRect">
              <a:avLst>
                <a:gd name="adj" fmla="val 50000"/>
              </a:avLst>
            </a:prstGeom>
            <a:solidFill>
              <a:srgbClr val="F2C14E"/>
            </a:solidFill>
            <a:ln>
              <a:noFill/>
            </a:ln>
          </p:spPr>
        </p:sp>
        <p:sp>
          <p:nvSpPr>
            <p:cNvPr id="41" name="Ellipse 41"/>
            <p:cNvSpPr/>
            <p:nvPr/>
          </p:nvSpPr>
          <p:spPr>
            <a:xfrm>
              <a:off x="9296400" y="2095500"/>
              <a:ext cx="495300" cy="495300"/>
            </a:xfrm>
            <a:prstGeom prst="ellipse">
              <a:avLst/>
            </a:prstGeom>
            <a:noFill/>
            <a:ln w="23812">
              <a:solidFill>
                <a:srgbClr val="F2C14E"/>
              </a:solidFill>
            </a:ln>
          </p:spPr>
        </p:sp>
        <p:sp>
          <p:nvSpPr>
            <p:cNvPr id="42" name="TextBox 42"/>
            <p:cNvSpPr txBox="1"/>
            <p:nvPr/>
          </p:nvSpPr>
          <p:spPr>
            <a:xfrm>
              <a:off x="9464937" y="2225040"/>
              <a:ext cx="158225" cy="352044"/>
            </a:xfrm>
            <a:prstGeom prst="rect">
              <a:avLst/>
            </a:prstGeom>
            <a:noFill/>
            <a:ln>
              <a:noFill/>
            </a:ln>
          </p:spPr>
          <p:txBody>
            <a:bodyPr wrap="none" lIns="0" tIns="0" rIns="0" bIns="0" anchor="t" anchorCtr="0">
              <a:spAutoFit/>
            </a:bodyPr>
            <a:lstStyle/>
            <a:p>
              <a:pPr algn="ctr"/>
              <a:r>
                <a:rPr lang="en-US" sz="1800" b="1" dirty="0">
                  <a:solidFill>
                    <a:srgbClr val="F2C14E"/>
                  </a:solidFill>
                  <a:latin typeface="+mn-lt"/>
                  <a:ea typeface="+mn-ea"/>
                  <a:cs typeface="+mn-cs"/>
                </a:rPr>
                <a:t>+</a:t>
              </a:r>
            </a:p>
          </p:txBody>
        </p:sp>
        <p:sp>
          <p:nvSpPr>
            <p:cNvPr id="43" name="TextBox 43"/>
            <p:cNvSpPr txBox="1"/>
            <p:nvPr/>
          </p:nvSpPr>
          <p:spPr>
            <a:xfrm>
              <a:off x="9289732" y="2849166"/>
              <a:ext cx="1704342"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Backbone-agnostic</a:t>
              </a:r>
            </a:p>
          </p:txBody>
        </p:sp>
        <p:sp>
          <p:nvSpPr>
            <p:cNvPr id="44" name="TextBox 44"/>
            <p:cNvSpPr txBox="1"/>
            <p:nvPr/>
          </p:nvSpPr>
          <p:spPr>
            <a:xfrm>
              <a:off x="9291066" y="3239452"/>
              <a:ext cx="199424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framework drops cleanly</a:t>
              </a:r>
            </a:p>
          </p:txBody>
        </p:sp>
        <p:sp>
          <p:nvSpPr>
            <p:cNvPr id="45" name="TextBox 45"/>
            <p:cNvSpPr txBox="1"/>
            <p:nvPr/>
          </p:nvSpPr>
          <p:spPr>
            <a:xfrm>
              <a:off x="9291066" y="3449002"/>
              <a:ext cx="180582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onto modern encoders like</a:t>
              </a:r>
            </a:p>
          </p:txBody>
        </p:sp>
        <p:sp>
          <p:nvSpPr>
            <p:cNvPr id="46" name="TextBox 46"/>
            <p:cNvSpPr txBox="1"/>
            <p:nvPr/>
          </p:nvSpPr>
          <p:spPr>
            <a:xfrm>
              <a:off x="9291066" y="3658552"/>
              <a:ext cx="205686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iTransformer, PatchTST, and</a:t>
              </a:r>
            </a:p>
          </p:txBody>
        </p:sp>
        <p:sp>
          <p:nvSpPr>
            <p:cNvPr id="47" name="TextBox 47"/>
            <p:cNvSpPr txBox="1"/>
            <p:nvPr/>
          </p:nvSpPr>
          <p:spPr>
            <a:xfrm>
              <a:off x="9291066" y="3868102"/>
              <a:ext cx="33924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TCN.</a:t>
              </a:r>
            </a:p>
          </p:txBody>
        </p:sp>
      </p:grpSp>
      <p:sp>
        <p:nvSpPr>
          <p:cNvPr id="49" name="TextBox 49"/>
          <p:cNvSpPr txBox="1"/>
          <p:nvPr/>
        </p:nvSpPr>
        <p:spPr>
          <a:xfrm>
            <a:off x="603694" y="5456158"/>
            <a:ext cx="8502829" cy="227362"/>
          </a:xfrm>
          <a:prstGeom prst="rect">
            <a:avLst/>
          </a:prstGeom>
          <a:noFill/>
          <a:ln>
            <a:noFill/>
          </a:ln>
        </p:spPr>
        <p:txBody>
          <a:bodyPr wrap="none" lIns="0" tIns="0" rIns="0" bIns="0" anchor="t" anchorCtr="0">
            <a:spAutoFit/>
          </a:bodyPr>
          <a:lstStyle/>
          <a:p>
            <a:pPr algn="l"/>
            <a:r>
              <a:rPr lang="en-US" sz="1160" b="1" dirty="0">
                <a:solidFill>
                  <a:srgbClr val="34D3C0"/>
                </a:solidFill>
                <a:latin typeface="+mn-lt"/>
                <a:ea typeface="+mn-ea"/>
                <a:cs typeface="+mn-cs"/>
              </a:rPr>
              <a:t>Pose pre-training as past-to-current reconstruction, span time distances, and stay backbone-agnostic.</a:t>
            </a:r>
          </a:p>
        </p:txBody>
      </p:sp>
      <p:sp>
        <p:nvSpPr>
          <p:cNvPr id="50" name="cue_s04_c1_makes_three_main_contributions_first" title="cue_s04_c1_makes_three_main_contributions_first" descr="cue_s04_c1_makes_three_main_contributions_first This paper makes three main contributions. First, it proposes TimeSiam, a simple but effective pre-training framework that uses Siamese networks to capture correlations among temporally distanced subseries."/>
          <p:cNvSpPr/>
          <p:nvPr/>
        </p:nvSpPr>
        <p:spPr>
          <a:xfrm>
            <a:off x="609600"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4_c2_second_introduces_learnable_lineage" title="cue_s04_c2_second_introduces_learnable_lineage" descr="cue_s04_c2_second_introduces_learnable_lineage Second, it introduces learnable lineage embeddings, a lightweight mechanism that lets one model represent many different past-to-current time distances."/>
          <p:cNvSpPr/>
          <p:nvPr/>
        </p:nvSpPr>
        <p:spPr>
          <a:xfrm>
            <a:off x="3428390"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4_c3_third_through_extensive_experiments" title="cue_s04_c3_third_through_extensive_experiments" descr="cue_s04_c3_third_through_extensive_experiments Third, through extensive experiments it shows TimeSiam achieves consistent state-of-the-art results when fine-tuned on both forecasting and classification, and across both in-domain and cross-domain settings."/>
          <p:cNvSpPr/>
          <p:nvPr/>
        </p:nvSpPr>
        <p:spPr>
          <a:xfrm>
            <a:off x="6248399"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4_c4_crucially_framework_backbone_agnosti" title="cue_s04_c4_crucially_framework_backbone_agnosti" descr="cue_s04_c4_crucially_framework_backbone_agnosti Crucially, the framework is backbone-agnostic, dropping cleanly onto modern encoders like iTransformer, PatchTST, and TCN."/>
          <p:cNvSpPr/>
          <p:nvPr/>
        </p:nvSpPr>
        <p:spPr>
          <a:xfrm>
            <a:off x="9068409"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76405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METHOD</a:t>
            </a:r>
          </a:p>
        </p:txBody>
      </p:sp>
      <p:sp>
        <p:nvSpPr>
          <p:cNvPr id="4" name="TextBox 4"/>
          <p:cNvSpPr txBox="1"/>
          <p:nvPr/>
        </p:nvSpPr>
        <p:spPr>
          <a:xfrm>
            <a:off x="598170" y="804862"/>
            <a:ext cx="800049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Siamese subseries, reconstruct current from past</a:t>
            </a:r>
          </a:p>
        </p:txBody>
      </p:sp>
      <p:grpSp>
        <p:nvGrpSpPr>
          <p:cNvPr id="16" name="Group 16"/>
          <p:cNvGrpSpPr/>
          <p:nvPr/>
        </p:nvGrpSpPr>
        <p:grpSpPr>
          <a:xfrm>
            <a:off x="609600" y="1504950"/>
            <a:ext cx="5334000" cy="1600200"/>
            <a:chOff x="609600" y="1504950"/>
            <a:chExt cx="5334000" cy="1600200"/>
          </a:xfrm>
        </p:grpSpPr>
        <p:sp>
          <p:nvSpPr>
            <p:cNvPr id="5" name="Rectangle 5"/>
            <p:cNvSpPr/>
            <p:nvPr/>
          </p:nvSpPr>
          <p:spPr>
            <a:xfrm>
              <a:off x="609600" y="1504950"/>
              <a:ext cx="5334000" cy="1600200"/>
            </a:xfrm>
            <a:prstGeom prst="roundRect">
              <a:avLst>
                <a:gd name="adj" fmla="val 8333"/>
              </a:avLst>
            </a:prstGeom>
            <a:solidFill>
              <a:schemeClr val="accent5"/>
            </a:solidFill>
            <a:ln w="14288">
              <a:solidFill>
                <a:srgbClr val="26455F"/>
              </a:solidFill>
            </a:ln>
          </p:spPr>
        </p:sp>
        <p:sp>
          <p:nvSpPr>
            <p:cNvPr id="6" name="Rectangle 6"/>
            <p:cNvSpPr/>
            <p:nvPr/>
          </p:nvSpPr>
          <p:spPr>
            <a:xfrm>
              <a:off x="609600" y="1504950"/>
              <a:ext cx="57150" cy="1600200"/>
            </a:xfrm>
            <a:prstGeom prst="roundRect">
              <a:avLst>
                <a:gd name="adj" fmla="val 50000"/>
              </a:avLst>
            </a:prstGeom>
            <a:solidFill>
              <a:schemeClr val="accent2"/>
            </a:solidFill>
            <a:ln>
              <a:noFill/>
            </a:ln>
          </p:spPr>
        </p:sp>
        <p:sp>
          <p:nvSpPr>
            <p:cNvPr id="7" name="TextBox 7"/>
            <p:cNvSpPr txBox="1"/>
            <p:nvPr/>
          </p:nvSpPr>
          <p:spPr>
            <a:xfrm>
              <a:off x="870204" y="1737360"/>
              <a:ext cx="3305974"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Sample two windows: Siamese subseries</a:t>
              </a:r>
            </a:p>
          </p:txBody>
        </p:sp>
        <p:sp>
          <p:nvSpPr>
            <p:cNvPr id="8" name="TextBox 8"/>
            <p:cNvSpPr txBox="1"/>
            <p:nvPr/>
          </p:nvSpPr>
          <p:spPr>
            <a:xfrm>
              <a:off x="871156" y="2024301"/>
              <a:ext cx="392402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From a single series, randomly sample a past and a current</a:t>
              </a:r>
            </a:p>
          </p:txBody>
        </p:sp>
        <p:sp>
          <p:nvSpPr>
            <p:cNvPr id="9" name="TextBox 9"/>
            <p:cNvSpPr txBox="1"/>
            <p:nvPr/>
          </p:nvSpPr>
          <p:spPr>
            <a:xfrm>
              <a:off x="871156" y="2214801"/>
              <a:ext cx="376086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window, together the Siamese subseries; the current is</a:t>
              </a:r>
            </a:p>
          </p:txBody>
        </p:sp>
        <p:sp>
          <p:nvSpPr>
            <p:cNvPr id="10" name="TextBox 10"/>
            <p:cNvSpPr txBox="1"/>
            <p:nvPr/>
          </p:nvSpPr>
          <p:spPr>
            <a:xfrm>
              <a:off x="871156" y="2405301"/>
              <a:ext cx="196820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lightly corrupted by masking.</a:t>
              </a:r>
            </a:p>
          </p:txBody>
        </p:sp>
        <p:sp>
          <p:nvSpPr>
            <p:cNvPr id="11" name="Rectangle 11"/>
            <p:cNvSpPr/>
            <p:nvPr/>
          </p:nvSpPr>
          <p:spPr>
            <a:xfrm>
              <a:off x="876300" y="2819400"/>
              <a:ext cx="4800600" cy="285750"/>
            </a:xfrm>
            <a:prstGeom prst="roundRect">
              <a:avLst>
                <a:gd name="adj" fmla="val 26667"/>
              </a:avLst>
            </a:prstGeom>
            <a:solidFill>
              <a:srgbClr val="0E2334"/>
            </a:solidFill>
            <a:ln w="14288">
              <a:solidFill>
                <a:srgbClr val="26455F"/>
              </a:solidFill>
            </a:ln>
          </p:spPr>
        </p:sp>
        <p:sp>
          <p:nvSpPr>
            <p:cNvPr id="12" name="Rectangle 12"/>
            <p:cNvSpPr/>
            <p:nvPr/>
          </p:nvSpPr>
          <p:spPr>
            <a:xfrm>
              <a:off x="3741420" y="2876550"/>
              <a:ext cx="1162050" cy="171450"/>
            </a:xfrm>
            <a:prstGeom prst="roundRect">
              <a:avLst>
                <a:gd name="adj" fmla="val 22222"/>
              </a:avLst>
            </a:prstGeom>
            <a:solidFill>
              <a:srgbClr val="F2C14E">
                <a:alpha val="20000"/>
              </a:srgbClr>
            </a:solidFill>
            <a:ln>
              <a:noFill/>
            </a:ln>
          </p:spPr>
        </p:sp>
        <p:sp>
          <p:nvSpPr>
            <p:cNvPr id="13" name="Line 13"/>
            <p:cNvSpPr/>
            <p:nvPr/>
          </p:nvSpPr>
          <p:spPr>
            <a:xfrm>
              <a:off x="3741420" y="2876550"/>
              <a:ext cx="9525" cy="171450"/>
            </a:xfrm>
            <a:custGeom>
              <a:avLst/>
              <a:gdLst/>
              <a:ahLst/>
              <a:cxnLst/>
              <a:rect l="l" t="t" r="r" b="b"/>
              <a:pathLst>
                <a:path w="9525" h="171450">
                  <a:moveTo>
                    <a:pt x="0" y="0"/>
                  </a:moveTo>
                  <a:lnTo>
                    <a:pt x="0" y="171450"/>
                  </a:lnTo>
                </a:path>
              </a:pathLst>
            </a:custGeom>
            <a:noFill/>
            <a:ln w="11430" cap="rnd">
              <a:solidFill>
                <a:srgbClr val="F2C14E"/>
              </a:solidFill>
              <a:custDash>
                <a:ds d="250000" sp="250000"/>
              </a:custDash>
            </a:ln>
          </p:spPr>
        </p:sp>
        <p:sp>
          <p:nvSpPr>
            <p:cNvPr id="14" name="Line 14"/>
            <p:cNvSpPr/>
            <p:nvPr/>
          </p:nvSpPr>
          <p:spPr>
            <a:xfrm>
              <a:off x="4903470" y="2876550"/>
              <a:ext cx="9525" cy="171450"/>
            </a:xfrm>
            <a:custGeom>
              <a:avLst/>
              <a:gdLst/>
              <a:ahLst/>
              <a:cxnLst/>
              <a:rect l="l" t="t" r="r" b="b"/>
              <a:pathLst>
                <a:path w="9525" h="171450">
                  <a:moveTo>
                    <a:pt x="0" y="0"/>
                  </a:moveTo>
                  <a:lnTo>
                    <a:pt x="0" y="171450"/>
                  </a:lnTo>
                </a:path>
              </a:pathLst>
            </a:custGeom>
            <a:noFill/>
            <a:ln w="11430" cap="rnd">
              <a:solidFill>
                <a:srgbClr val="F2C14E"/>
              </a:solidFill>
              <a:custDash>
                <a:ds d="250000" sp="250000"/>
              </a:custDash>
            </a:ln>
          </p:spPr>
        </p:sp>
        <p:sp>
          <p:nvSpPr>
            <p:cNvPr id="15" name="Polyline 15"/>
            <p:cNvSpPr/>
            <p:nvPr/>
          </p:nvSpPr>
          <p:spPr>
            <a:xfrm>
              <a:off x="952500" y="2910840"/>
              <a:ext cx="4648200" cy="107632"/>
            </a:xfrm>
            <a:custGeom>
              <a:avLst/>
              <a:gdLst/>
              <a:ahLst/>
              <a:cxnLst/>
              <a:rect l="l" t="t" r="r" b="b"/>
              <a:pathLst>
                <a:path w="4648200" h="107632">
                  <a:moveTo>
                    <a:pt x="0" y="952"/>
                  </a:moveTo>
                  <a:lnTo>
                    <a:pt x="72390" y="0"/>
                  </a:lnTo>
                  <a:lnTo>
                    <a:pt x="144780" y="952"/>
                  </a:lnTo>
                  <a:lnTo>
                    <a:pt x="218123" y="4762"/>
                  </a:lnTo>
                  <a:lnTo>
                    <a:pt x="290512" y="10477"/>
                  </a:lnTo>
                  <a:lnTo>
                    <a:pt x="362902" y="17145"/>
                  </a:lnTo>
                  <a:lnTo>
                    <a:pt x="436245" y="23812"/>
                  </a:lnTo>
                  <a:lnTo>
                    <a:pt x="508635" y="29527"/>
                  </a:lnTo>
                  <a:lnTo>
                    <a:pt x="581025" y="35242"/>
                  </a:lnTo>
                  <a:lnTo>
                    <a:pt x="653415" y="40005"/>
                  </a:lnTo>
                  <a:lnTo>
                    <a:pt x="725805" y="42862"/>
                  </a:lnTo>
                  <a:lnTo>
                    <a:pt x="799148" y="43815"/>
                  </a:lnTo>
                  <a:lnTo>
                    <a:pt x="871538" y="44767"/>
                  </a:lnTo>
                  <a:lnTo>
                    <a:pt x="943928" y="44767"/>
                  </a:lnTo>
                  <a:lnTo>
                    <a:pt x="1017270" y="44767"/>
                  </a:lnTo>
                  <a:lnTo>
                    <a:pt x="1089660" y="44767"/>
                  </a:lnTo>
                  <a:lnTo>
                    <a:pt x="1162050" y="46672"/>
                  </a:lnTo>
                  <a:lnTo>
                    <a:pt x="1234440" y="49530"/>
                  </a:lnTo>
                  <a:lnTo>
                    <a:pt x="1306830" y="53340"/>
                  </a:lnTo>
                  <a:lnTo>
                    <a:pt x="1380172" y="60007"/>
                  </a:lnTo>
                  <a:lnTo>
                    <a:pt x="1452562" y="67627"/>
                  </a:lnTo>
                  <a:lnTo>
                    <a:pt x="1524953" y="75247"/>
                  </a:lnTo>
                  <a:lnTo>
                    <a:pt x="1598295" y="83820"/>
                  </a:lnTo>
                  <a:lnTo>
                    <a:pt x="1670685" y="92392"/>
                  </a:lnTo>
                  <a:lnTo>
                    <a:pt x="1743075" y="99060"/>
                  </a:lnTo>
                  <a:lnTo>
                    <a:pt x="1815465" y="104775"/>
                  </a:lnTo>
                  <a:lnTo>
                    <a:pt x="1887855" y="107632"/>
                  </a:lnTo>
                  <a:lnTo>
                    <a:pt x="1961197" y="107632"/>
                  </a:lnTo>
                  <a:lnTo>
                    <a:pt x="2033588" y="104775"/>
                  </a:lnTo>
                  <a:lnTo>
                    <a:pt x="2105978" y="99060"/>
                  </a:lnTo>
                  <a:lnTo>
                    <a:pt x="2179320" y="91440"/>
                  </a:lnTo>
                  <a:lnTo>
                    <a:pt x="2251710" y="81915"/>
                  </a:lnTo>
                  <a:lnTo>
                    <a:pt x="2324100" y="70485"/>
                  </a:lnTo>
                  <a:lnTo>
                    <a:pt x="2396490" y="60007"/>
                  </a:lnTo>
                  <a:lnTo>
                    <a:pt x="2468880" y="49530"/>
                  </a:lnTo>
                  <a:lnTo>
                    <a:pt x="2542222" y="40957"/>
                  </a:lnTo>
                  <a:lnTo>
                    <a:pt x="2614612" y="33338"/>
                  </a:lnTo>
                  <a:lnTo>
                    <a:pt x="2687002" y="28575"/>
                  </a:lnTo>
                  <a:lnTo>
                    <a:pt x="2760345" y="24765"/>
                  </a:lnTo>
                  <a:lnTo>
                    <a:pt x="2832735" y="23812"/>
                  </a:lnTo>
                  <a:lnTo>
                    <a:pt x="2905125" y="23812"/>
                  </a:lnTo>
                  <a:lnTo>
                    <a:pt x="2977515" y="25717"/>
                  </a:lnTo>
                  <a:lnTo>
                    <a:pt x="3049905" y="27622"/>
                  </a:lnTo>
                  <a:lnTo>
                    <a:pt x="3123248" y="28575"/>
                  </a:lnTo>
                  <a:lnTo>
                    <a:pt x="3195638" y="29527"/>
                  </a:lnTo>
                  <a:lnTo>
                    <a:pt x="3268028" y="29527"/>
                  </a:lnTo>
                  <a:lnTo>
                    <a:pt x="3341370" y="28575"/>
                  </a:lnTo>
                  <a:lnTo>
                    <a:pt x="3413760" y="25717"/>
                  </a:lnTo>
                  <a:lnTo>
                    <a:pt x="3486150" y="22860"/>
                  </a:lnTo>
                  <a:lnTo>
                    <a:pt x="3558540" y="19050"/>
                  </a:lnTo>
                  <a:lnTo>
                    <a:pt x="3630930" y="16192"/>
                  </a:lnTo>
                  <a:lnTo>
                    <a:pt x="3704272" y="13335"/>
                  </a:lnTo>
                  <a:lnTo>
                    <a:pt x="3776662" y="12382"/>
                  </a:lnTo>
                  <a:lnTo>
                    <a:pt x="3849052" y="13335"/>
                  </a:lnTo>
                  <a:lnTo>
                    <a:pt x="3922395" y="16192"/>
                  </a:lnTo>
                  <a:lnTo>
                    <a:pt x="3994785" y="21907"/>
                  </a:lnTo>
                  <a:lnTo>
                    <a:pt x="4067175" y="29527"/>
                  </a:lnTo>
                  <a:lnTo>
                    <a:pt x="4139565" y="39052"/>
                  </a:lnTo>
                  <a:lnTo>
                    <a:pt x="4211955" y="49530"/>
                  </a:lnTo>
                  <a:lnTo>
                    <a:pt x="4285298" y="61912"/>
                  </a:lnTo>
                  <a:lnTo>
                    <a:pt x="4357688" y="73342"/>
                  </a:lnTo>
                  <a:lnTo>
                    <a:pt x="4430078" y="83820"/>
                  </a:lnTo>
                  <a:lnTo>
                    <a:pt x="4503420" y="92392"/>
                  </a:lnTo>
                  <a:lnTo>
                    <a:pt x="4575810" y="98107"/>
                  </a:lnTo>
                  <a:lnTo>
                    <a:pt x="4648200" y="101917"/>
                  </a:lnTo>
                </a:path>
              </a:pathLst>
            </a:custGeom>
            <a:noFill/>
            <a:ln w="24765" cap="rnd">
              <a:solidFill>
                <a:schemeClr val="accent2"/>
              </a:solidFill>
              <a:round/>
            </a:ln>
          </p:spPr>
        </p:sp>
      </p:grpSp>
      <p:grpSp>
        <p:nvGrpSpPr>
          <p:cNvPr id="25" name="Group 25"/>
          <p:cNvGrpSpPr/>
          <p:nvPr/>
        </p:nvGrpSpPr>
        <p:grpSpPr>
          <a:xfrm>
            <a:off x="6248400" y="1504950"/>
            <a:ext cx="5334000" cy="1600200"/>
            <a:chOff x="6248400" y="1504950"/>
            <a:chExt cx="5334000" cy="1600200"/>
          </a:xfrm>
        </p:grpSpPr>
        <p:sp>
          <p:nvSpPr>
            <p:cNvPr id="17" name="Rectangle 17"/>
            <p:cNvSpPr/>
            <p:nvPr/>
          </p:nvSpPr>
          <p:spPr>
            <a:xfrm>
              <a:off x="6248400" y="1504950"/>
              <a:ext cx="5334000" cy="1600200"/>
            </a:xfrm>
            <a:prstGeom prst="roundRect">
              <a:avLst>
                <a:gd name="adj" fmla="val 8333"/>
              </a:avLst>
            </a:prstGeom>
            <a:solidFill>
              <a:srgbClr val="2A2417"/>
            </a:solidFill>
            <a:ln w="14288">
              <a:solidFill>
                <a:srgbClr val="F2C14E"/>
              </a:solidFill>
            </a:ln>
          </p:spPr>
        </p:sp>
        <p:sp>
          <p:nvSpPr>
            <p:cNvPr id="18" name="Rectangle 18"/>
            <p:cNvSpPr/>
            <p:nvPr/>
          </p:nvSpPr>
          <p:spPr>
            <a:xfrm>
              <a:off x="6248400" y="1504950"/>
              <a:ext cx="57150" cy="1600200"/>
            </a:xfrm>
            <a:prstGeom prst="roundRect">
              <a:avLst>
                <a:gd name="adj" fmla="val 50000"/>
              </a:avLst>
            </a:prstGeom>
            <a:solidFill>
              <a:srgbClr val="F2C14E"/>
            </a:solidFill>
            <a:ln>
              <a:noFill/>
            </a:ln>
          </p:spPr>
        </p:sp>
        <p:sp>
          <p:nvSpPr>
            <p:cNvPr id="19" name="TextBox 19"/>
            <p:cNvSpPr txBox="1"/>
            <p:nvPr/>
          </p:nvSpPr>
          <p:spPr>
            <a:xfrm>
              <a:off x="6509004" y="1737360"/>
              <a:ext cx="2595839"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Lineage embeddings by distance</a:t>
              </a:r>
            </a:p>
          </p:txBody>
        </p:sp>
        <p:sp>
          <p:nvSpPr>
            <p:cNvPr id="20" name="TextBox 20"/>
            <p:cNvSpPr txBox="1"/>
            <p:nvPr/>
          </p:nvSpPr>
          <p:spPr>
            <a:xfrm>
              <a:off x="6509956" y="2024301"/>
              <a:ext cx="3659092"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Past and current windows can be near or far apart, so</a:t>
              </a:r>
            </a:p>
          </p:txBody>
        </p:sp>
        <p:sp>
          <p:nvSpPr>
            <p:cNvPr id="21" name="TextBox 21"/>
            <p:cNvSpPr txBox="1"/>
            <p:nvPr/>
          </p:nvSpPr>
          <p:spPr>
            <a:xfrm>
              <a:off x="6509956" y="2214801"/>
              <a:ext cx="3927992"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TimeSiam adds learnable lineage embeddings indexed by that</a:t>
              </a:r>
            </a:p>
          </p:txBody>
        </p:sp>
        <p:sp>
          <p:nvSpPr>
            <p:cNvPr id="22" name="TextBox 22"/>
            <p:cNvSpPr txBox="1"/>
            <p:nvPr/>
          </p:nvSpPr>
          <p:spPr>
            <a:xfrm>
              <a:off x="6509956" y="2405301"/>
              <a:ext cx="1220386"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relative distance.</a:t>
              </a:r>
            </a:p>
          </p:txBody>
        </p:sp>
        <p:sp>
          <p:nvSpPr>
            <p:cNvPr id="23" name="Rectangle 23"/>
            <p:cNvSpPr/>
            <p:nvPr/>
          </p:nvSpPr>
          <p:spPr>
            <a:xfrm>
              <a:off x="6515100" y="2724150"/>
              <a:ext cx="4800600" cy="285750"/>
            </a:xfrm>
            <a:prstGeom prst="roundRect">
              <a:avLst>
                <a:gd name="adj" fmla="val 26667"/>
              </a:avLst>
            </a:prstGeom>
            <a:solidFill>
              <a:schemeClr val="accent6"/>
            </a:solidFill>
            <a:ln w="14288">
              <a:solidFill>
                <a:srgbClr val="26455F"/>
              </a:solidFill>
            </a:ln>
          </p:spPr>
        </p:sp>
        <p:sp>
          <p:nvSpPr>
            <p:cNvPr id="24" name="TextBox 24"/>
            <p:cNvSpPr txBox="1"/>
            <p:nvPr/>
          </p:nvSpPr>
          <p:spPr>
            <a:xfrm>
              <a:off x="7465677" y="2822972"/>
              <a:ext cx="2899446" cy="183356"/>
            </a:xfrm>
            <a:prstGeom prst="rect">
              <a:avLst/>
            </a:prstGeom>
            <a:noFill/>
            <a:ln>
              <a:noFill/>
            </a:ln>
          </p:spPr>
          <p:txBody>
            <a:bodyPr wrap="none" lIns="0" tIns="0" rIns="0" bIns="0" anchor="t" anchorCtr="0">
              <a:spAutoFit/>
            </a:bodyPr>
            <a:lstStyle/>
            <a:p>
              <a:pPr algn="ctr"/>
              <a:r>
                <a:rPr lang="en-US" sz="940" b="1" dirty="0">
                  <a:solidFill>
                    <a:schemeClr val="dk1"/>
                  </a:solidFill>
                  <a:latin typeface="Consolas"/>
                  <a:ea typeface="Consolas"/>
                  <a:cs typeface="Consolas"/>
                </a:rPr>
                <a:t>lineage(d): one model, many temporal gaps d</a:t>
              </a:r>
            </a:p>
          </p:txBody>
        </p:sp>
      </p:grpSp>
      <p:grpSp>
        <p:nvGrpSpPr>
          <p:cNvPr id="62" name="Group 62"/>
          <p:cNvGrpSpPr/>
          <p:nvPr/>
        </p:nvGrpSpPr>
        <p:grpSpPr>
          <a:xfrm>
            <a:off x="609600" y="3276600"/>
            <a:ext cx="6972300" cy="2114550"/>
            <a:chOff x="609600" y="3276600"/>
            <a:chExt cx="6972300" cy="2114550"/>
          </a:xfrm>
        </p:grpSpPr>
        <p:sp>
          <p:nvSpPr>
            <p:cNvPr id="26" name="Rectangle 26"/>
            <p:cNvSpPr/>
            <p:nvPr/>
          </p:nvSpPr>
          <p:spPr>
            <a:xfrm>
              <a:off x="609600" y="3276600"/>
              <a:ext cx="6972300" cy="1962150"/>
            </a:xfrm>
            <a:prstGeom prst="roundRect">
              <a:avLst>
                <a:gd name="adj" fmla="val 6796"/>
              </a:avLst>
            </a:prstGeom>
            <a:solidFill>
              <a:srgbClr val="0F2E2B"/>
            </a:solidFill>
            <a:ln w="14288">
              <a:solidFill>
                <a:srgbClr val="34D3C0"/>
              </a:solidFill>
            </a:ln>
          </p:spPr>
        </p:sp>
        <p:sp>
          <p:nvSpPr>
            <p:cNvPr id="27" name="Rectangle 27"/>
            <p:cNvSpPr/>
            <p:nvPr/>
          </p:nvSpPr>
          <p:spPr>
            <a:xfrm>
              <a:off x="609600" y="3276600"/>
              <a:ext cx="57150" cy="1962150"/>
            </a:xfrm>
            <a:prstGeom prst="roundRect">
              <a:avLst>
                <a:gd name="adj" fmla="val 50000"/>
              </a:avLst>
            </a:prstGeom>
            <a:solidFill>
              <a:srgbClr val="34D3C0"/>
            </a:solidFill>
            <a:ln>
              <a:noFill/>
            </a:ln>
          </p:spPr>
        </p:sp>
        <p:sp>
          <p:nvSpPr>
            <p:cNvPr id="28" name="TextBox 28"/>
            <p:cNvSpPr txBox="1"/>
            <p:nvPr/>
          </p:nvSpPr>
          <p:spPr>
            <a:xfrm>
              <a:off x="870204" y="3470910"/>
              <a:ext cx="3579998"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Shared encoders, cross-attention decoder</a:t>
              </a:r>
            </a:p>
          </p:txBody>
        </p:sp>
        <p:sp>
          <p:nvSpPr>
            <p:cNvPr id="29" name="Rectangle 29"/>
            <p:cNvSpPr/>
            <p:nvPr/>
          </p:nvSpPr>
          <p:spPr>
            <a:xfrm>
              <a:off x="876300" y="3733800"/>
              <a:ext cx="6438900" cy="1390650"/>
            </a:xfrm>
            <a:prstGeom prst="roundRect">
              <a:avLst>
                <a:gd name="adj" fmla="val 6849"/>
              </a:avLst>
            </a:prstGeom>
            <a:solidFill>
              <a:srgbClr val="0E2334"/>
            </a:solidFill>
            <a:ln w="14288">
              <a:solidFill>
                <a:srgbClr val="26455F"/>
              </a:solidFill>
            </a:ln>
          </p:spPr>
        </p:sp>
        <p:sp>
          <p:nvSpPr>
            <p:cNvPr id="30" name="Rectangle 30"/>
            <p:cNvSpPr/>
            <p:nvPr/>
          </p:nvSpPr>
          <p:spPr>
            <a:xfrm>
              <a:off x="1085850" y="4114800"/>
              <a:ext cx="1428750" cy="514350"/>
            </a:xfrm>
            <a:prstGeom prst="roundRect">
              <a:avLst>
                <a:gd name="adj" fmla="val 14815"/>
              </a:avLst>
            </a:prstGeom>
            <a:solidFill>
              <a:srgbClr val="0E2334"/>
            </a:solidFill>
            <a:ln w="14288">
              <a:solidFill>
                <a:srgbClr val="26455F"/>
              </a:solidFill>
            </a:ln>
          </p:spPr>
        </p:sp>
        <p:sp>
          <p:nvSpPr>
            <p:cNvPr id="31" name="Polyline 31"/>
            <p:cNvSpPr/>
            <p:nvPr/>
          </p:nvSpPr>
          <p:spPr>
            <a:xfrm>
              <a:off x="1162050" y="4243388"/>
              <a:ext cx="1276350" cy="283845"/>
            </a:xfrm>
            <a:custGeom>
              <a:avLst/>
              <a:gdLst/>
              <a:ahLst/>
              <a:cxnLst/>
              <a:rect l="l" t="t" r="r" b="b"/>
              <a:pathLst>
                <a:path w="1276350" h="283845">
                  <a:moveTo>
                    <a:pt x="0" y="91440"/>
                  </a:moveTo>
                  <a:lnTo>
                    <a:pt x="20002" y="61912"/>
                  </a:lnTo>
                  <a:lnTo>
                    <a:pt x="40005" y="37147"/>
                  </a:lnTo>
                  <a:lnTo>
                    <a:pt x="60008" y="17145"/>
                  </a:lnTo>
                  <a:lnTo>
                    <a:pt x="80010" y="4762"/>
                  </a:lnTo>
                  <a:lnTo>
                    <a:pt x="100012" y="0"/>
                  </a:lnTo>
                  <a:lnTo>
                    <a:pt x="120015" y="953"/>
                  </a:lnTo>
                  <a:lnTo>
                    <a:pt x="140017" y="7620"/>
                  </a:lnTo>
                  <a:lnTo>
                    <a:pt x="160020" y="20003"/>
                  </a:lnTo>
                  <a:lnTo>
                    <a:pt x="179070" y="33338"/>
                  </a:lnTo>
                  <a:lnTo>
                    <a:pt x="199073" y="48578"/>
                  </a:lnTo>
                  <a:lnTo>
                    <a:pt x="219075" y="61912"/>
                  </a:lnTo>
                  <a:lnTo>
                    <a:pt x="239077" y="74295"/>
                  </a:lnTo>
                  <a:lnTo>
                    <a:pt x="259080" y="82867"/>
                  </a:lnTo>
                  <a:lnTo>
                    <a:pt x="279083" y="87630"/>
                  </a:lnTo>
                  <a:lnTo>
                    <a:pt x="299085" y="89535"/>
                  </a:lnTo>
                  <a:lnTo>
                    <a:pt x="319088" y="88583"/>
                  </a:lnTo>
                  <a:lnTo>
                    <a:pt x="339090" y="87630"/>
                  </a:lnTo>
                  <a:lnTo>
                    <a:pt x="359092" y="85725"/>
                  </a:lnTo>
                  <a:lnTo>
                    <a:pt x="379095" y="86678"/>
                  </a:lnTo>
                  <a:lnTo>
                    <a:pt x="399098" y="91440"/>
                  </a:lnTo>
                  <a:lnTo>
                    <a:pt x="419100" y="100012"/>
                  </a:lnTo>
                  <a:lnTo>
                    <a:pt x="439102" y="113347"/>
                  </a:lnTo>
                  <a:lnTo>
                    <a:pt x="459105" y="131445"/>
                  </a:lnTo>
                  <a:lnTo>
                    <a:pt x="478155" y="154305"/>
                  </a:lnTo>
                  <a:lnTo>
                    <a:pt x="498158" y="179070"/>
                  </a:lnTo>
                  <a:lnTo>
                    <a:pt x="518160" y="205740"/>
                  </a:lnTo>
                  <a:lnTo>
                    <a:pt x="538162" y="230505"/>
                  </a:lnTo>
                  <a:lnTo>
                    <a:pt x="558165" y="253365"/>
                  </a:lnTo>
                  <a:lnTo>
                    <a:pt x="578167" y="270510"/>
                  </a:lnTo>
                  <a:lnTo>
                    <a:pt x="598170" y="280988"/>
                  </a:lnTo>
                  <a:lnTo>
                    <a:pt x="618172" y="283845"/>
                  </a:lnTo>
                  <a:lnTo>
                    <a:pt x="638175" y="279083"/>
                  </a:lnTo>
                  <a:lnTo>
                    <a:pt x="658178" y="266700"/>
                  </a:lnTo>
                  <a:lnTo>
                    <a:pt x="678180" y="248603"/>
                  </a:lnTo>
                  <a:lnTo>
                    <a:pt x="698183" y="224790"/>
                  </a:lnTo>
                  <a:lnTo>
                    <a:pt x="718185" y="198120"/>
                  </a:lnTo>
                  <a:lnTo>
                    <a:pt x="738188" y="170497"/>
                  </a:lnTo>
                  <a:lnTo>
                    <a:pt x="758190" y="144780"/>
                  </a:lnTo>
                  <a:lnTo>
                    <a:pt x="778192" y="120967"/>
                  </a:lnTo>
                  <a:lnTo>
                    <a:pt x="798195" y="102870"/>
                  </a:lnTo>
                  <a:lnTo>
                    <a:pt x="817245" y="88583"/>
                  </a:lnTo>
                  <a:lnTo>
                    <a:pt x="837248" y="80010"/>
                  </a:lnTo>
                  <a:lnTo>
                    <a:pt x="857250" y="75247"/>
                  </a:lnTo>
                  <a:lnTo>
                    <a:pt x="877252" y="75247"/>
                  </a:lnTo>
                  <a:lnTo>
                    <a:pt x="897255" y="77153"/>
                  </a:lnTo>
                  <a:lnTo>
                    <a:pt x="917258" y="79058"/>
                  </a:lnTo>
                  <a:lnTo>
                    <a:pt x="937260" y="80962"/>
                  </a:lnTo>
                  <a:lnTo>
                    <a:pt x="957262" y="80962"/>
                  </a:lnTo>
                  <a:lnTo>
                    <a:pt x="977265" y="77153"/>
                  </a:lnTo>
                  <a:lnTo>
                    <a:pt x="997267" y="70485"/>
                  </a:lnTo>
                  <a:lnTo>
                    <a:pt x="1017270" y="60008"/>
                  </a:lnTo>
                  <a:lnTo>
                    <a:pt x="1037272" y="48578"/>
                  </a:lnTo>
                  <a:lnTo>
                    <a:pt x="1057275" y="35242"/>
                  </a:lnTo>
                  <a:lnTo>
                    <a:pt x="1077278" y="22860"/>
                  </a:lnTo>
                  <a:lnTo>
                    <a:pt x="1097280" y="12383"/>
                  </a:lnTo>
                  <a:lnTo>
                    <a:pt x="1116330" y="6667"/>
                  </a:lnTo>
                  <a:lnTo>
                    <a:pt x="1136332" y="6667"/>
                  </a:lnTo>
                  <a:lnTo>
                    <a:pt x="1156335" y="13335"/>
                  </a:lnTo>
                  <a:lnTo>
                    <a:pt x="1176338" y="26670"/>
                  </a:lnTo>
                  <a:lnTo>
                    <a:pt x="1196340" y="46672"/>
                  </a:lnTo>
                  <a:lnTo>
                    <a:pt x="1216342" y="72390"/>
                  </a:lnTo>
                  <a:lnTo>
                    <a:pt x="1236345" y="101917"/>
                  </a:lnTo>
                  <a:lnTo>
                    <a:pt x="1256348" y="134303"/>
                  </a:lnTo>
                  <a:lnTo>
                    <a:pt x="1276350" y="165735"/>
                  </a:lnTo>
                </a:path>
              </a:pathLst>
            </a:custGeom>
            <a:noFill/>
            <a:ln w="24765" cap="rnd">
              <a:solidFill>
                <a:srgbClr val="34D3C0"/>
              </a:solidFill>
              <a:round/>
            </a:ln>
          </p:spPr>
        </p:sp>
        <p:sp>
          <p:nvSpPr>
            <p:cNvPr id="32" name="TextBox 32"/>
            <p:cNvSpPr txBox="1"/>
            <p:nvPr/>
          </p:nvSpPr>
          <p:spPr>
            <a:xfrm>
              <a:off x="1081088" y="3945493"/>
              <a:ext cx="884770" cy="169069"/>
            </a:xfrm>
            <a:prstGeom prst="rect">
              <a:avLst/>
            </a:prstGeom>
            <a:noFill/>
            <a:ln>
              <a:noFill/>
            </a:ln>
          </p:spPr>
          <p:txBody>
            <a:bodyPr wrap="none" lIns="0" tIns="0" rIns="0" bIns="0" anchor="t" anchorCtr="0">
              <a:spAutoFit/>
            </a:bodyPr>
            <a:lstStyle/>
            <a:p>
              <a:pPr algn="l"/>
              <a:r>
                <a:rPr lang="en-US" sz="860" b="1" dirty="0">
                  <a:solidFill>
                    <a:srgbClr val="34D3C0"/>
                  </a:solidFill>
                  <a:latin typeface="+mn-lt"/>
                  <a:ea typeface="+mn-ea"/>
                  <a:cs typeface="+mn-cs"/>
                </a:rPr>
                <a:t>past subseries</a:t>
              </a:r>
            </a:p>
          </p:txBody>
        </p:sp>
        <p:sp>
          <p:nvSpPr>
            <p:cNvPr id="33" name="Rectangle 33"/>
            <p:cNvSpPr/>
            <p:nvPr/>
          </p:nvSpPr>
          <p:spPr>
            <a:xfrm>
              <a:off x="1085850" y="4876800"/>
              <a:ext cx="1428750" cy="514350"/>
            </a:xfrm>
            <a:prstGeom prst="roundRect">
              <a:avLst>
                <a:gd name="adj" fmla="val 14815"/>
              </a:avLst>
            </a:prstGeom>
            <a:solidFill>
              <a:srgbClr val="0E2334"/>
            </a:solidFill>
            <a:ln w="14288">
              <a:solidFill>
                <a:srgbClr val="26455F"/>
              </a:solidFill>
            </a:ln>
          </p:spPr>
        </p:sp>
        <p:sp>
          <p:nvSpPr>
            <p:cNvPr id="34" name="Rectangle 34"/>
            <p:cNvSpPr/>
            <p:nvPr/>
          </p:nvSpPr>
          <p:spPr>
            <a:xfrm>
              <a:off x="1864042" y="4933950"/>
              <a:ext cx="382905" cy="400050"/>
            </a:xfrm>
            <a:prstGeom prst="roundRect">
              <a:avLst>
                <a:gd name="adj" fmla="val 9950"/>
              </a:avLst>
            </a:prstGeom>
            <a:solidFill>
              <a:srgbClr val="F2C14E">
                <a:alpha val="20000"/>
              </a:srgbClr>
            </a:solidFill>
            <a:ln>
              <a:noFill/>
            </a:ln>
          </p:spPr>
        </p:sp>
        <p:sp>
          <p:nvSpPr>
            <p:cNvPr id="35" name="Line 35"/>
            <p:cNvSpPr/>
            <p:nvPr/>
          </p:nvSpPr>
          <p:spPr>
            <a:xfrm>
              <a:off x="1864042" y="4933950"/>
              <a:ext cx="9525" cy="400050"/>
            </a:xfrm>
            <a:custGeom>
              <a:avLst/>
              <a:gdLst/>
              <a:ahLst/>
              <a:cxnLst/>
              <a:rect l="l" t="t" r="r" b="b"/>
              <a:pathLst>
                <a:path w="9525" h="400050">
                  <a:moveTo>
                    <a:pt x="0" y="0"/>
                  </a:moveTo>
                  <a:lnTo>
                    <a:pt x="0" y="400050"/>
                  </a:lnTo>
                </a:path>
              </a:pathLst>
            </a:custGeom>
            <a:noFill/>
            <a:ln w="11430" cap="rnd">
              <a:solidFill>
                <a:srgbClr val="F2C14E"/>
              </a:solidFill>
              <a:custDash>
                <a:ds d="250000" sp="250000"/>
              </a:custDash>
            </a:ln>
          </p:spPr>
        </p:sp>
        <p:sp>
          <p:nvSpPr>
            <p:cNvPr id="36" name="Line 36"/>
            <p:cNvSpPr/>
            <p:nvPr/>
          </p:nvSpPr>
          <p:spPr>
            <a:xfrm>
              <a:off x="2246948" y="4933950"/>
              <a:ext cx="9525" cy="400050"/>
            </a:xfrm>
            <a:custGeom>
              <a:avLst/>
              <a:gdLst/>
              <a:ahLst/>
              <a:cxnLst/>
              <a:rect l="l" t="t" r="r" b="b"/>
              <a:pathLst>
                <a:path w="9525" h="400050">
                  <a:moveTo>
                    <a:pt x="0" y="0"/>
                  </a:moveTo>
                  <a:lnTo>
                    <a:pt x="0" y="400050"/>
                  </a:lnTo>
                </a:path>
              </a:pathLst>
            </a:custGeom>
            <a:noFill/>
            <a:ln w="11430" cap="rnd">
              <a:solidFill>
                <a:srgbClr val="F2C14E"/>
              </a:solidFill>
              <a:custDash>
                <a:ds d="250000" sp="250000"/>
              </a:custDash>
            </a:ln>
          </p:spPr>
        </p:sp>
        <p:sp>
          <p:nvSpPr>
            <p:cNvPr id="37" name="Polyline 37"/>
            <p:cNvSpPr/>
            <p:nvPr/>
          </p:nvSpPr>
          <p:spPr>
            <a:xfrm>
              <a:off x="1162050" y="5032058"/>
              <a:ext cx="1276350" cy="253365"/>
            </a:xfrm>
            <a:custGeom>
              <a:avLst/>
              <a:gdLst/>
              <a:ahLst/>
              <a:cxnLst/>
              <a:rect l="l" t="t" r="r" b="b"/>
              <a:pathLst>
                <a:path w="1276350" h="253365">
                  <a:moveTo>
                    <a:pt x="0" y="27623"/>
                  </a:moveTo>
                  <a:lnTo>
                    <a:pt x="20002" y="50483"/>
                  </a:lnTo>
                  <a:lnTo>
                    <a:pt x="40005" y="70485"/>
                  </a:lnTo>
                  <a:lnTo>
                    <a:pt x="60008" y="87630"/>
                  </a:lnTo>
                  <a:lnTo>
                    <a:pt x="80010" y="100012"/>
                  </a:lnTo>
                  <a:lnTo>
                    <a:pt x="100012" y="108585"/>
                  </a:lnTo>
                  <a:lnTo>
                    <a:pt x="120015" y="113348"/>
                  </a:lnTo>
                  <a:lnTo>
                    <a:pt x="140017" y="115253"/>
                  </a:lnTo>
                  <a:lnTo>
                    <a:pt x="160020" y="115253"/>
                  </a:lnTo>
                  <a:lnTo>
                    <a:pt x="179070" y="115253"/>
                  </a:lnTo>
                  <a:lnTo>
                    <a:pt x="199073" y="116205"/>
                  </a:lnTo>
                  <a:lnTo>
                    <a:pt x="219075" y="120015"/>
                  </a:lnTo>
                  <a:lnTo>
                    <a:pt x="239077" y="127635"/>
                  </a:lnTo>
                  <a:lnTo>
                    <a:pt x="259080" y="139065"/>
                  </a:lnTo>
                  <a:lnTo>
                    <a:pt x="279083" y="153353"/>
                  </a:lnTo>
                  <a:lnTo>
                    <a:pt x="299085" y="171450"/>
                  </a:lnTo>
                  <a:lnTo>
                    <a:pt x="319088" y="190500"/>
                  </a:lnTo>
                  <a:lnTo>
                    <a:pt x="339090" y="209550"/>
                  </a:lnTo>
                  <a:lnTo>
                    <a:pt x="359092" y="225743"/>
                  </a:lnTo>
                  <a:lnTo>
                    <a:pt x="379095" y="238125"/>
                  </a:lnTo>
                  <a:lnTo>
                    <a:pt x="399098" y="244793"/>
                  </a:lnTo>
                  <a:lnTo>
                    <a:pt x="419100" y="243840"/>
                  </a:lnTo>
                  <a:lnTo>
                    <a:pt x="439102" y="236220"/>
                  </a:lnTo>
                  <a:lnTo>
                    <a:pt x="459105" y="220980"/>
                  </a:lnTo>
                  <a:lnTo>
                    <a:pt x="478155" y="200025"/>
                  </a:lnTo>
                  <a:lnTo>
                    <a:pt x="498158" y="172403"/>
                  </a:lnTo>
                  <a:lnTo>
                    <a:pt x="518160" y="142875"/>
                  </a:lnTo>
                  <a:lnTo>
                    <a:pt x="538162" y="111443"/>
                  </a:lnTo>
                  <a:lnTo>
                    <a:pt x="558165" y="80962"/>
                  </a:lnTo>
                  <a:lnTo>
                    <a:pt x="578167" y="53340"/>
                  </a:lnTo>
                  <a:lnTo>
                    <a:pt x="598170" y="31433"/>
                  </a:lnTo>
                  <a:lnTo>
                    <a:pt x="618172" y="14288"/>
                  </a:lnTo>
                  <a:lnTo>
                    <a:pt x="638175" y="4762"/>
                  </a:lnTo>
                  <a:lnTo>
                    <a:pt x="658178" y="0"/>
                  </a:lnTo>
                  <a:lnTo>
                    <a:pt x="678180" y="1905"/>
                  </a:lnTo>
                  <a:lnTo>
                    <a:pt x="698183" y="6668"/>
                  </a:lnTo>
                  <a:lnTo>
                    <a:pt x="718185" y="15240"/>
                  </a:lnTo>
                  <a:lnTo>
                    <a:pt x="738188" y="23812"/>
                  </a:lnTo>
                  <a:lnTo>
                    <a:pt x="758190" y="32385"/>
                  </a:lnTo>
                  <a:lnTo>
                    <a:pt x="778192" y="38100"/>
                  </a:lnTo>
                  <a:lnTo>
                    <a:pt x="798195" y="40958"/>
                  </a:lnTo>
                  <a:lnTo>
                    <a:pt x="817245" y="40958"/>
                  </a:lnTo>
                  <a:lnTo>
                    <a:pt x="837248" y="38100"/>
                  </a:lnTo>
                  <a:lnTo>
                    <a:pt x="857250" y="33338"/>
                  </a:lnTo>
                  <a:lnTo>
                    <a:pt x="877252" y="28575"/>
                  </a:lnTo>
                  <a:lnTo>
                    <a:pt x="897255" y="23812"/>
                  </a:lnTo>
                  <a:lnTo>
                    <a:pt x="917258" y="21908"/>
                  </a:lnTo>
                  <a:lnTo>
                    <a:pt x="937260" y="22860"/>
                  </a:lnTo>
                  <a:lnTo>
                    <a:pt x="957262" y="30480"/>
                  </a:lnTo>
                  <a:lnTo>
                    <a:pt x="977265" y="42862"/>
                  </a:lnTo>
                  <a:lnTo>
                    <a:pt x="997267" y="61912"/>
                  </a:lnTo>
                  <a:lnTo>
                    <a:pt x="1017270" y="84773"/>
                  </a:lnTo>
                  <a:lnTo>
                    <a:pt x="1037272" y="112395"/>
                  </a:lnTo>
                  <a:lnTo>
                    <a:pt x="1057275" y="141923"/>
                  </a:lnTo>
                  <a:lnTo>
                    <a:pt x="1077278" y="172403"/>
                  </a:lnTo>
                  <a:lnTo>
                    <a:pt x="1097280" y="199073"/>
                  </a:lnTo>
                  <a:lnTo>
                    <a:pt x="1116330" y="222885"/>
                  </a:lnTo>
                  <a:lnTo>
                    <a:pt x="1136332" y="240030"/>
                  </a:lnTo>
                  <a:lnTo>
                    <a:pt x="1156335" y="250508"/>
                  </a:lnTo>
                  <a:lnTo>
                    <a:pt x="1176338" y="253365"/>
                  </a:lnTo>
                  <a:lnTo>
                    <a:pt x="1196340" y="248603"/>
                  </a:lnTo>
                  <a:lnTo>
                    <a:pt x="1216342" y="237173"/>
                  </a:lnTo>
                  <a:lnTo>
                    <a:pt x="1236345" y="220028"/>
                  </a:lnTo>
                  <a:lnTo>
                    <a:pt x="1256348" y="199073"/>
                  </a:lnTo>
                  <a:lnTo>
                    <a:pt x="1276350" y="176212"/>
                  </a:lnTo>
                </a:path>
              </a:pathLst>
            </a:custGeom>
            <a:noFill/>
            <a:ln w="24765" cap="rnd">
              <a:solidFill>
                <a:schemeClr val="accent2"/>
              </a:solidFill>
              <a:round/>
            </a:ln>
          </p:spPr>
        </p:sp>
        <p:sp>
          <p:nvSpPr>
            <p:cNvPr id="38" name="TextBox 38"/>
            <p:cNvSpPr txBox="1"/>
            <p:nvPr/>
          </p:nvSpPr>
          <p:spPr>
            <a:xfrm>
              <a:off x="1081088" y="4707493"/>
              <a:ext cx="1681001" cy="169069"/>
            </a:xfrm>
            <a:prstGeom prst="rect">
              <a:avLst/>
            </a:prstGeom>
            <a:noFill/>
            <a:ln>
              <a:noFill/>
            </a:ln>
          </p:spPr>
          <p:txBody>
            <a:bodyPr wrap="none" lIns="0" tIns="0" rIns="0" bIns="0" anchor="t" anchorCtr="0">
              <a:spAutoFit/>
            </a:bodyPr>
            <a:lstStyle/>
            <a:p>
              <a:pPr algn="l"/>
              <a:r>
                <a:rPr lang="en-US" sz="860" b="1" dirty="0">
                  <a:solidFill>
                    <a:schemeClr val="accent2"/>
                  </a:solidFill>
                  <a:latin typeface="+mn-lt"/>
                  <a:ea typeface="+mn-ea"/>
                  <a:cs typeface="+mn-cs"/>
                </a:rPr>
                <a:t>current subseries (masked)</a:t>
              </a:r>
            </a:p>
          </p:txBody>
        </p:sp>
        <p:sp>
          <p:nvSpPr>
            <p:cNvPr id="39" name="Rectangle 39"/>
            <p:cNvSpPr/>
            <p:nvPr/>
          </p:nvSpPr>
          <p:spPr>
            <a:xfrm>
              <a:off x="2895600" y="4124325"/>
              <a:ext cx="876300" cy="495300"/>
            </a:xfrm>
            <a:prstGeom prst="roundRect">
              <a:avLst>
                <a:gd name="adj" fmla="val 15385"/>
              </a:avLst>
            </a:prstGeom>
            <a:solidFill>
              <a:schemeClr val="accent6"/>
            </a:solidFill>
            <a:ln w="14288">
              <a:solidFill>
                <a:srgbClr val="34D3C0"/>
              </a:solidFill>
            </a:ln>
          </p:spPr>
        </p:sp>
        <p:sp>
          <p:nvSpPr>
            <p:cNvPr id="40" name="TextBox 40"/>
            <p:cNvSpPr txBox="1"/>
            <p:nvPr/>
          </p:nvSpPr>
          <p:spPr>
            <a:xfrm>
              <a:off x="3059982" y="4314349"/>
              <a:ext cx="547536" cy="190690"/>
            </a:xfrm>
            <a:prstGeom prst="rect">
              <a:avLst/>
            </a:prstGeom>
            <a:noFill/>
            <a:ln>
              <a:noFill/>
            </a:ln>
          </p:spPr>
          <p:txBody>
            <a:bodyPr wrap="none" lIns="0" tIns="0" rIns="0" bIns="0" anchor="t" anchorCtr="0">
              <a:spAutoFit/>
            </a:bodyPr>
            <a:lstStyle/>
            <a:p>
              <a:pPr algn="ctr"/>
              <a:r>
                <a:rPr lang="en-US" sz="980" b="1" dirty="0">
                  <a:solidFill>
                    <a:schemeClr val="dk1"/>
                  </a:solidFill>
                  <a:latin typeface="+mn-lt"/>
                  <a:ea typeface="+mn-ea"/>
                  <a:cs typeface="+mn-cs"/>
                </a:rPr>
                <a:t>Encoder</a:t>
              </a:r>
            </a:p>
          </p:txBody>
        </p:sp>
        <p:sp>
          <p:nvSpPr>
            <p:cNvPr id="41" name="Rectangle 41"/>
            <p:cNvSpPr/>
            <p:nvPr/>
          </p:nvSpPr>
          <p:spPr>
            <a:xfrm>
              <a:off x="2895600" y="4886325"/>
              <a:ext cx="876300" cy="495300"/>
            </a:xfrm>
            <a:prstGeom prst="roundRect">
              <a:avLst>
                <a:gd name="adj" fmla="val 15385"/>
              </a:avLst>
            </a:prstGeom>
            <a:solidFill>
              <a:schemeClr val="accent6"/>
            </a:solidFill>
            <a:ln w="14288">
              <a:solidFill>
                <a:schemeClr val="accent2"/>
              </a:solidFill>
            </a:ln>
          </p:spPr>
        </p:sp>
        <p:sp>
          <p:nvSpPr>
            <p:cNvPr id="42" name="TextBox 42"/>
            <p:cNvSpPr txBox="1"/>
            <p:nvPr/>
          </p:nvSpPr>
          <p:spPr>
            <a:xfrm>
              <a:off x="3059982" y="5076349"/>
              <a:ext cx="547536" cy="190690"/>
            </a:xfrm>
            <a:prstGeom prst="rect">
              <a:avLst/>
            </a:prstGeom>
            <a:noFill/>
            <a:ln>
              <a:noFill/>
            </a:ln>
          </p:spPr>
          <p:txBody>
            <a:bodyPr wrap="none" lIns="0" tIns="0" rIns="0" bIns="0" anchor="t" anchorCtr="0">
              <a:spAutoFit/>
            </a:bodyPr>
            <a:lstStyle/>
            <a:p>
              <a:pPr algn="ctr"/>
              <a:r>
                <a:rPr lang="en-US" sz="980" b="1" dirty="0">
                  <a:solidFill>
                    <a:schemeClr val="dk1"/>
                  </a:solidFill>
                  <a:latin typeface="+mn-lt"/>
                  <a:ea typeface="+mn-ea"/>
                  <a:cs typeface="+mn-cs"/>
                </a:rPr>
                <a:t>Encoder</a:t>
              </a:r>
            </a:p>
          </p:txBody>
        </p:sp>
        <p:sp>
          <p:nvSpPr>
            <p:cNvPr id="43" name="Line 43"/>
            <p:cNvSpPr/>
            <p:nvPr/>
          </p:nvSpPr>
          <p:spPr>
            <a:xfrm>
              <a:off x="2552700" y="4371975"/>
              <a:ext cx="304800" cy="9525"/>
            </a:xfrm>
            <a:custGeom>
              <a:avLst/>
              <a:gdLst/>
              <a:ahLst/>
              <a:cxnLst/>
              <a:rect l="l" t="t" r="r" b="b"/>
              <a:pathLst>
                <a:path w="304800" h="9525">
                  <a:moveTo>
                    <a:pt x="0" y="0"/>
                  </a:moveTo>
                  <a:lnTo>
                    <a:pt x="304800" y="0"/>
                  </a:lnTo>
                </a:path>
              </a:pathLst>
            </a:custGeom>
            <a:noFill/>
            <a:ln w="19050" cap="rnd">
              <a:solidFill>
                <a:srgbClr val="34D3C0"/>
              </a:solidFill>
            </a:ln>
          </p:spPr>
        </p:sp>
        <p:sp>
          <p:nvSpPr>
            <p:cNvPr id="44" name="Polyline 44"/>
            <p:cNvSpPr/>
            <p:nvPr/>
          </p:nvSpPr>
          <p:spPr>
            <a:xfrm>
              <a:off x="2771775" y="4331018"/>
              <a:ext cx="85725" cy="81915"/>
            </a:xfrm>
            <a:custGeom>
              <a:avLst/>
              <a:gdLst/>
              <a:ahLst/>
              <a:cxnLst/>
              <a:rect l="l" t="t" r="r" b="b"/>
              <a:pathLst>
                <a:path w="85725" h="81915">
                  <a:moveTo>
                    <a:pt x="0" y="81915"/>
                  </a:moveTo>
                  <a:lnTo>
                    <a:pt x="85725" y="40958"/>
                  </a:lnTo>
                  <a:lnTo>
                    <a:pt x="0" y="0"/>
                  </a:lnTo>
                </a:path>
              </a:pathLst>
            </a:custGeom>
            <a:noFill/>
            <a:ln w="19050" cap="rnd">
              <a:solidFill>
                <a:srgbClr val="34D3C0"/>
              </a:solidFill>
              <a:round/>
            </a:ln>
          </p:spPr>
        </p:sp>
        <p:sp>
          <p:nvSpPr>
            <p:cNvPr id="45" name="Line 45"/>
            <p:cNvSpPr/>
            <p:nvPr/>
          </p:nvSpPr>
          <p:spPr>
            <a:xfrm>
              <a:off x="2552700" y="5133975"/>
              <a:ext cx="304800" cy="9525"/>
            </a:xfrm>
            <a:custGeom>
              <a:avLst/>
              <a:gdLst/>
              <a:ahLst/>
              <a:cxnLst/>
              <a:rect l="l" t="t" r="r" b="b"/>
              <a:pathLst>
                <a:path w="304800" h="9525">
                  <a:moveTo>
                    <a:pt x="0" y="0"/>
                  </a:moveTo>
                  <a:lnTo>
                    <a:pt x="304800" y="0"/>
                  </a:lnTo>
                </a:path>
              </a:pathLst>
            </a:custGeom>
            <a:noFill/>
            <a:ln w="19050" cap="rnd">
              <a:solidFill>
                <a:schemeClr val="accent2"/>
              </a:solidFill>
            </a:ln>
          </p:spPr>
        </p:sp>
        <p:sp>
          <p:nvSpPr>
            <p:cNvPr id="46" name="Polyline 46"/>
            <p:cNvSpPr/>
            <p:nvPr/>
          </p:nvSpPr>
          <p:spPr>
            <a:xfrm>
              <a:off x="2771775" y="5093018"/>
              <a:ext cx="85725" cy="81915"/>
            </a:xfrm>
            <a:custGeom>
              <a:avLst/>
              <a:gdLst/>
              <a:ahLst/>
              <a:cxnLst/>
              <a:rect l="l" t="t" r="r" b="b"/>
              <a:pathLst>
                <a:path w="85725" h="81915">
                  <a:moveTo>
                    <a:pt x="0" y="81915"/>
                  </a:moveTo>
                  <a:lnTo>
                    <a:pt x="85725" y="40957"/>
                  </a:lnTo>
                  <a:lnTo>
                    <a:pt x="0" y="0"/>
                  </a:lnTo>
                </a:path>
              </a:pathLst>
            </a:custGeom>
            <a:noFill/>
            <a:ln w="19050" cap="rnd">
              <a:solidFill>
                <a:schemeClr val="accent2"/>
              </a:solidFill>
              <a:round/>
            </a:ln>
          </p:spPr>
        </p:sp>
        <p:sp>
          <p:nvSpPr>
            <p:cNvPr id="47" name="Line 47"/>
            <p:cNvSpPr/>
            <p:nvPr/>
          </p:nvSpPr>
          <p:spPr>
            <a:xfrm>
              <a:off x="3333750" y="4619625"/>
              <a:ext cx="9525" cy="266700"/>
            </a:xfrm>
            <a:custGeom>
              <a:avLst/>
              <a:gdLst/>
              <a:ahLst/>
              <a:cxnLst/>
              <a:rect l="l" t="t" r="r" b="b"/>
              <a:pathLst>
                <a:path w="9525" h="266700">
                  <a:moveTo>
                    <a:pt x="0" y="0"/>
                  </a:moveTo>
                  <a:lnTo>
                    <a:pt x="0" y="266700"/>
                  </a:lnTo>
                </a:path>
              </a:pathLst>
            </a:custGeom>
            <a:noFill/>
            <a:ln w="15240" cap="rnd">
              <a:solidFill>
                <a:srgbClr val="F2C14E"/>
              </a:solidFill>
              <a:custDash>
                <a:ds d="250000" sp="187500"/>
              </a:custDash>
            </a:ln>
          </p:spPr>
        </p:sp>
        <p:sp>
          <p:nvSpPr>
            <p:cNvPr id="48" name="TextBox 48"/>
            <p:cNvSpPr txBox="1"/>
            <p:nvPr/>
          </p:nvSpPr>
          <p:spPr>
            <a:xfrm>
              <a:off x="3386138" y="4706064"/>
              <a:ext cx="835863" cy="154781"/>
            </a:xfrm>
            <a:prstGeom prst="rect">
              <a:avLst/>
            </a:prstGeom>
            <a:noFill/>
            <a:ln>
              <a:noFill/>
            </a:ln>
          </p:spPr>
          <p:txBody>
            <a:bodyPr wrap="none" lIns="0" tIns="0" rIns="0" bIns="0" anchor="t" anchorCtr="0">
              <a:spAutoFit/>
            </a:bodyPr>
            <a:lstStyle/>
            <a:p>
              <a:pPr algn="l"/>
              <a:r>
                <a:rPr lang="en-US" sz="790" b="1" dirty="0">
                  <a:solidFill>
                    <a:srgbClr val="F2C14E"/>
                  </a:solidFill>
                  <a:latin typeface="+mn-lt"/>
                  <a:ea typeface="+mn-ea"/>
                  <a:cs typeface="+mn-cs"/>
                </a:rPr>
                <a:t>shared weights</a:t>
              </a:r>
            </a:p>
          </p:txBody>
        </p:sp>
        <p:sp>
          <p:nvSpPr>
            <p:cNvPr id="49" name="Rectangle 49"/>
            <p:cNvSpPr/>
            <p:nvPr/>
          </p:nvSpPr>
          <p:spPr>
            <a:xfrm>
              <a:off x="4210050" y="4114800"/>
              <a:ext cx="1123950" cy="1047750"/>
            </a:xfrm>
            <a:prstGeom prst="roundRect">
              <a:avLst>
                <a:gd name="adj" fmla="val 7273"/>
              </a:avLst>
            </a:prstGeom>
            <a:solidFill>
              <a:schemeClr val="accent6"/>
            </a:solidFill>
            <a:ln w="14288">
              <a:solidFill>
                <a:srgbClr val="F2C14E"/>
              </a:solidFill>
            </a:ln>
          </p:spPr>
        </p:sp>
        <p:sp>
          <p:nvSpPr>
            <p:cNvPr id="50" name="TextBox 50"/>
            <p:cNvSpPr txBox="1"/>
            <p:nvPr/>
          </p:nvSpPr>
          <p:spPr>
            <a:xfrm>
              <a:off x="4489838" y="4367451"/>
              <a:ext cx="564375" cy="198025"/>
            </a:xfrm>
            <a:prstGeom prst="rect">
              <a:avLst/>
            </a:prstGeom>
            <a:noFill/>
            <a:ln>
              <a:noFill/>
            </a:ln>
          </p:spPr>
          <p:txBody>
            <a:bodyPr wrap="none" lIns="0" tIns="0" rIns="0" bIns="0" anchor="t" anchorCtr="0">
              <a:spAutoFit/>
            </a:bodyPr>
            <a:lstStyle/>
            <a:p>
              <a:pPr algn="ctr"/>
              <a:r>
                <a:rPr lang="en-US" sz="1010" b="1" dirty="0">
                  <a:solidFill>
                    <a:schemeClr val="dk1"/>
                  </a:solidFill>
                  <a:latin typeface="+mn-lt"/>
                  <a:ea typeface="+mn-ea"/>
                  <a:cs typeface="+mn-cs"/>
                </a:rPr>
                <a:t>Decoder</a:t>
              </a:r>
            </a:p>
          </p:txBody>
        </p:sp>
        <p:sp>
          <p:nvSpPr>
            <p:cNvPr id="51" name="TextBox 51"/>
            <p:cNvSpPr txBox="1"/>
            <p:nvPr/>
          </p:nvSpPr>
          <p:spPr>
            <a:xfrm>
              <a:off x="4417419" y="4570095"/>
              <a:ext cx="709212" cy="176212"/>
            </a:xfrm>
            <a:prstGeom prst="rect">
              <a:avLst/>
            </a:prstGeom>
            <a:noFill/>
            <a:ln>
              <a:noFill/>
            </a:ln>
          </p:spPr>
          <p:txBody>
            <a:bodyPr wrap="none" lIns="0" tIns="0" rIns="0" bIns="0" anchor="t" anchorCtr="0">
              <a:spAutoFit/>
            </a:bodyPr>
            <a:lstStyle/>
            <a:p>
              <a:pPr algn="ctr"/>
              <a:r>
                <a:rPr lang="en-US" sz="900" b="1" dirty="0">
                  <a:solidFill>
                    <a:srgbClr val="F2C14E"/>
                  </a:solidFill>
                  <a:latin typeface="+mn-lt"/>
                  <a:ea typeface="+mn-ea"/>
                  <a:cs typeface="+mn-cs"/>
                </a:rPr>
                <a:t>cross-attn</a:t>
              </a:r>
            </a:p>
          </p:txBody>
        </p:sp>
        <p:sp>
          <p:nvSpPr>
            <p:cNvPr id="52" name="TextBox 52"/>
            <p:cNvSpPr txBox="1"/>
            <p:nvPr/>
          </p:nvSpPr>
          <p:spPr>
            <a:xfrm>
              <a:off x="4511983" y="4802743"/>
              <a:ext cx="520085" cy="169069"/>
            </a:xfrm>
            <a:prstGeom prst="rect">
              <a:avLst/>
            </a:prstGeom>
            <a:noFill/>
            <a:ln>
              <a:noFill/>
            </a:ln>
          </p:spPr>
          <p:txBody>
            <a:bodyPr wrap="none" lIns="0" tIns="0" rIns="0" bIns="0" anchor="t" anchorCtr="0">
              <a:spAutoFit/>
            </a:bodyPr>
            <a:lstStyle/>
            <a:p>
              <a:pPr algn="ctr"/>
              <a:r>
                <a:rPr lang="en-US" sz="860" b="1" dirty="0">
                  <a:solidFill>
                    <a:schemeClr val="dk2"/>
                  </a:solidFill>
                  <a:latin typeface="+mn-lt"/>
                  <a:ea typeface="+mn-ea"/>
                  <a:cs typeface="+mn-cs"/>
                </a:rPr>
                <a:t>+ lineage</a:t>
              </a:r>
            </a:p>
          </p:txBody>
        </p:sp>
        <p:sp>
          <p:nvSpPr>
            <p:cNvPr id="53" name="Line 53"/>
            <p:cNvSpPr/>
            <p:nvPr/>
          </p:nvSpPr>
          <p:spPr>
            <a:xfrm>
              <a:off x="3810000" y="4371975"/>
              <a:ext cx="361950" cy="66675"/>
            </a:xfrm>
            <a:custGeom>
              <a:avLst/>
              <a:gdLst/>
              <a:ahLst/>
              <a:cxnLst/>
              <a:rect l="l" t="t" r="r" b="b"/>
              <a:pathLst>
                <a:path w="361950" h="66675">
                  <a:moveTo>
                    <a:pt x="0" y="0"/>
                  </a:moveTo>
                  <a:lnTo>
                    <a:pt x="361950" y="66675"/>
                  </a:lnTo>
                </a:path>
              </a:pathLst>
            </a:custGeom>
            <a:noFill/>
            <a:ln w="19050" cap="rnd">
              <a:solidFill>
                <a:srgbClr val="34D3C0"/>
              </a:solidFill>
            </a:ln>
          </p:spPr>
        </p:sp>
        <p:sp>
          <p:nvSpPr>
            <p:cNvPr id="54" name="Polyline 54"/>
            <p:cNvSpPr/>
            <p:nvPr/>
          </p:nvSpPr>
          <p:spPr>
            <a:xfrm>
              <a:off x="4080510" y="4382452"/>
              <a:ext cx="91440" cy="80962"/>
            </a:xfrm>
            <a:custGeom>
              <a:avLst/>
              <a:gdLst/>
              <a:ahLst/>
              <a:cxnLst/>
              <a:rect l="l" t="t" r="r" b="b"/>
              <a:pathLst>
                <a:path w="91440" h="80962">
                  <a:moveTo>
                    <a:pt x="0" y="80962"/>
                  </a:moveTo>
                  <a:lnTo>
                    <a:pt x="91440" y="56197"/>
                  </a:lnTo>
                  <a:lnTo>
                    <a:pt x="14288" y="0"/>
                  </a:lnTo>
                </a:path>
              </a:pathLst>
            </a:custGeom>
            <a:noFill/>
            <a:ln w="19050" cap="rnd">
              <a:solidFill>
                <a:srgbClr val="34D3C0"/>
              </a:solidFill>
              <a:round/>
            </a:ln>
          </p:spPr>
        </p:sp>
        <p:sp>
          <p:nvSpPr>
            <p:cNvPr id="55" name="Line 55"/>
            <p:cNvSpPr/>
            <p:nvPr/>
          </p:nvSpPr>
          <p:spPr>
            <a:xfrm>
              <a:off x="3810000" y="4819650"/>
              <a:ext cx="361950" cy="314325"/>
            </a:xfrm>
            <a:custGeom>
              <a:avLst/>
              <a:gdLst/>
              <a:ahLst/>
              <a:cxnLst/>
              <a:rect l="l" t="t" r="r" b="b"/>
              <a:pathLst>
                <a:path w="361950" h="314325">
                  <a:moveTo>
                    <a:pt x="0" y="314325"/>
                  </a:moveTo>
                  <a:lnTo>
                    <a:pt x="361950" y="0"/>
                  </a:lnTo>
                </a:path>
              </a:pathLst>
            </a:custGeom>
            <a:noFill/>
            <a:ln w="19050" cap="rnd">
              <a:solidFill>
                <a:schemeClr val="accent2"/>
              </a:solidFill>
            </a:ln>
          </p:spPr>
        </p:sp>
        <p:sp>
          <p:nvSpPr>
            <p:cNvPr id="56" name="Polyline 56"/>
            <p:cNvSpPr/>
            <p:nvPr/>
          </p:nvSpPr>
          <p:spPr>
            <a:xfrm>
              <a:off x="4079558" y="4819650"/>
              <a:ext cx="92392" cy="87630"/>
            </a:xfrm>
            <a:custGeom>
              <a:avLst/>
              <a:gdLst/>
              <a:ahLst/>
              <a:cxnLst/>
              <a:rect l="l" t="t" r="r" b="b"/>
              <a:pathLst>
                <a:path w="92392" h="87630">
                  <a:moveTo>
                    <a:pt x="55245" y="87630"/>
                  </a:moveTo>
                  <a:lnTo>
                    <a:pt x="92392" y="0"/>
                  </a:lnTo>
                  <a:lnTo>
                    <a:pt x="0" y="24765"/>
                  </a:lnTo>
                </a:path>
              </a:pathLst>
            </a:custGeom>
            <a:noFill/>
            <a:ln w="19050" cap="rnd">
              <a:solidFill>
                <a:schemeClr val="accent2"/>
              </a:solidFill>
              <a:round/>
            </a:ln>
          </p:spPr>
        </p:sp>
        <p:sp>
          <p:nvSpPr>
            <p:cNvPr id="57" name="Rectangle 57"/>
            <p:cNvSpPr/>
            <p:nvPr/>
          </p:nvSpPr>
          <p:spPr>
            <a:xfrm>
              <a:off x="5715000" y="4381500"/>
              <a:ext cx="1428750" cy="514350"/>
            </a:xfrm>
            <a:prstGeom prst="roundRect">
              <a:avLst>
                <a:gd name="adj" fmla="val 14815"/>
              </a:avLst>
            </a:prstGeom>
            <a:solidFill>
              <a:srgbClr val="0E2334"/>
            </a:solidFill>
            <a:ln w="14288">
              <a:solidFill>
                <a:srgbClr val="26455F"/>
              </a:solidFill>
            </a:ln>
          </p:spPr>
        </p:sp>
        <p:sp>
          <p:nvSpPr>
            <p:cNvPr id="58" name="Polyline 58"/>
            <p:cNvSpPr/>
            <p:nvPr/>
          </p:nvSpPr>
          <p:spPr>
            <a:xfrm>
              <a:off x="5791200" y="4536758"/>
              <a:ext cx="1276350" cy="253365"/>
            </a:xfrm>
            <a:custGeom>
              <a:avLst/>
              <a:gdLst/>
              <a:ahLst/>
              <a:cxnLst/>
              <a:rect l="l" t="t" r="r" b="b"/>
              <a:pathLst>
                <a:path w="1276350" h="253365">
                  <a:moveTo>
                    <a:pt x="0" y="27622"/>
                  </a:moveTo>
                  <a:lnTo>
                    <a:pt x="20003" y="50483"/>
                  </a:lnTo>
                  <a:lnTo>
                    <a:pt x="40005" y="70485"/>
                  </a:lnTo>
                  <a:lnTo>
                    <a:pt x="60007" y="87630"/>
                  </a:lnTo>
                  <a:lnTo>
                    <a:pt x="80010" y="100012"/>
                  </a:lnTo>
                  <a:lnTo>
                    <a:pt x="100012" y="108585"/>
                  </a:lnTo>
                  <a:lnTo>
                    <a:pt x="120015" y="113347"/>
                  </a:lnTo>
                  <a:lnTo>
                    <a:pt x="140018" y="115252"/>
                  </a:lnTo>
                  <a:lnTo>
                    <a:pt x="160020" y="115252"/>
                  </a:lnTo>
                  <a:lnTo>
                    <a:pt x="179070" y="115252"/>
                  </a:lnTo>
                  <a:lnTo>
                    <a:pt x="199072" y="116205"/>
                  </a:lnTo>
                  <a:lnTo>
                    <a:pt x="219075" y="120015"/>
                  </a:lnTo>
                  <a:lnTo>
                    <a:pt x="239078" y="127635"/>
                  </a:lnTo>
                  <a:lnTo>
                    <a:pt x="259080" y="139065"/>
                  </a:lnTo>
                  <a:lnTo>
                    <a:pt x="279082" y="153352"/>
                  </a:lnTo>
                  <a:lnTo>
                    <a:pt x="299085" y="171450"/>
                  </a:lnTo>
                  <a:lnTo>
                    <a:pt x="319088" y="190500"/>
                  </a:lnTo>
                  <a:lnTo>
                    <a:pt x="339090" y="209550"/>
                  </a:lnTo>
                  <a:lnTo>
                    <a:pt x="359093" y="225742"/>
                  </a:lnTo>
                  <a:lnTo>
                    <a:pt x="379095" y="238125"/>
                  </a:lnTo>
                  <a:lnTo>
                    <a:pt x="399097" y="244792"/>
                  </a:lnTo>
                  <a:lnTo>
                    <a:pt x="419100" y="243840"/>
                  </a:lnTo>
                  <a:lnTo>
                    <a:pt x="439103" y="236220"/>
                  </a:lnTo>
                  <a:lnTo>
                    <a:pt x="459105" y="220980"/>
                  </a:lnTo>
                  <a:lnTo>
                    <a:pt x="478155" y="200025"/>
                  </a:lnTo>
                  <a:lnTo>
                    <a:pt x="498157" y="172402"/>
                  </a:lnTo>
                  <a:lnTo>
                    <a:pt x="518160" y="142875"/>
                  </a:lnTo>
                  <a:lnTo>
                    <a:pt x="538162" y="111442"/>
                  </a:lnTo>
                  <a:lnTo>
                    <a:pt x="558165" y="80962"/>
                  </a:lnTo>
                  <a:lnTo>
                    <a:pt x="578168" y="53340"/>
                  </a:lnTo>
                  <a:lnTo>
                    <a:pt x="598170" y="31433"/>
                  </a:lnTo>
                  <a:lnTo>
                    <a:pt x="618172" y="14288"/>
                  </a:lnTo>
                  <a:lnTo>
                    <a:pt x="638175" y="4762"/>
                  </a:lnTo>
                  <a:lnTo>
                    <a:pt x="658178" y="0"/>
                  </a:lnTo>
                  <a:lnTo>
                    <a:pt x="678180" y="1905"/>
                  </a:lnTo>
                  <a:lnTo>
                    <a:pt x="698182" y="6667"/>
                  </a:lnTo>
                  <a:lnTo>
                    <a:pt x="718185" y="15240"/>
                  </a:lnTo>
                  <a:lnTo>
                    <a:pt x="738188" y="23812"/>
                  </a:lnTo>
                  <a:lnTo>
                    <a:pt x="758190" y="32385"/>
                  </a:lnTo>
                  <a:lnTo>
                    <a:pt x="778193" y="38100"/>
                  </a:lnTo>
                  <a:lnTo>
                    <a:pt x="798195" y="40958"/>
                  </a:lnTo>
                  <a:lnTo>
                    <a:pt x="817245" y="40958"/>
                  </a:lnTo>
                  <a:lnTo>
                    <a:pt x="837247" y="38100"/>
                  </a:lnTo>
                  <a:lnTo>
                    <a:pt x="857250" y="33338"/>
                  </a:lnTo>
                  <a:lnTo>
                    <a:pt x="877253" y="28575"/>
                  </a:lnTo>
                  <a:lnTo>
                    <a:pt x="897255" y="23812"/>
                  </a:lnTo>
                  <a:lnTo>
                    <a:pt x="917257" y="21908"/>
                  </a:lnTo>
                  <a:lnTo>
                    <a:pt x="937260" y="22860"/>
                  </a:lnTo>
                  <a:lnTo>
                    <a:pt x="957262" y="30480"/>
                  </a:lnTo>
                  <a:lnTo>
                    <a:pt x="977265" y="42862"/>
                  </a:lnTo>
                  <a:lnTo>
                    <a:pt x="997268" y="61912"/>
                  </a:lnTo>
                  <a:lnTo>
                    <a:pt x="1017270" y="84772"/>
                  </a:lnTo>
                  <a:lnTo>
                    <a:pt x="1037272" y="112395"/>
                  </a:lnTo>
                  <a:lnTo>
                    <a:pt x="1057275" y="141922"/>
                  </a:lnTo>
                  <a:lnTo>
                    <a:pt x="1077278" y="172402"/>
                  </a:lnTo>
                  <a:lnTo>
                    <a:pt x="1097280" y="199072"/>
                  </a:lnTo>
                  <a:lnTo>
                    <a:pt x="1116330" y="222885"/>
                  </a:lnTo>
                  <a:lnTo>
                    <a:pt x="1136332" y="240030"/>
                  </a:lnTo>
                  <a:lnTo>
                    <a:pt x="1156335" y="250508"/>
                  </a:lnTo>
                  <a:lnTo>
                    <a:pt x="1176338" y="253365"/>
                  </a:lnTo>
                  <a:lnTo>
                    <a:pt x="1196340" y="248602"/>
                  </a:lnTo>
                  <a:lnTo>
                    <a:pt x="1216343" y="237172"/>
                  </a:lnTo>
                  <a:lnTo>
                    <a:pt x="1236345" y="220027"/>
                  </a:lnTo>
                  <a:lnTo>
                    <a:pt x="1256347" y="199072"/>
                  </a:lnTo>
                  <a:lnTo>
                    <a:pt x="1276350" y="176212"/>
                  </a:lnTo>
                </a:path>
              </a:pathLst>
            </a:custGeom>
            <a:noFill/>
            <a:ln w="24765" cap="rnd">
              <a:solidFill>
                <a:srgbClr val="48C78E"/>
              </a:solidFill>
              <a:round/>
            </a:ln>
          </p:spPr>
        </p:sp>
        <p:sp>
          <p:nvSpPr>
            <p:cNvPr id="59" name="TextBox 59"/>
            <p:cNvSpPr txBox="1"/>
            <p:nvPr/>
          </p:nvSpPr>
          <p:spPr>
            <a:xfrm>
              <a:off x="5710238" y="4212193"/>
              <a:ext cx="1383174" cy="169069"/>
            </a:xfrm>
            <a:prstGeom prst="rect">
              <a:avLst/>
            </a:prstGeom>
            <a:noFill/>
            <a:ln>
              <a:noFill/>
            </a:ln>
          </p:spPr>
          <p:txBody>
            <a:bodyPr wrap="none" lIns="0" tIns="0" rIns="0" bIns="0" anchor="t" anchorCtr="0">
              <a:spAutoFit/>
            </a:bodyPr>
            <a:lstStyle/>
            <a:p>
              <a:pPr algn="l"/>
              <a:r>
                <a:rPr lang="en-US" sz="860" b="1" dirty="0">
                  <a:solidFill>
                    <a:srgbClr val="48C78E"/>
                  </a:solidFill>
                  <a:latin typeface="+mn-lt"/>
                  <a:ea typeface="+mn-ea"/>
                  <a:cs typeface="+mn-cs"/>
                </a:rPr>
                <a:t>reconstructed current</a:t>
              </a:r>
            </a:p>
          </p:txBody>
        </p:sp>
        <p:sp>
          <p:nvSpPr>
            <p:cNvPr id="60" name="Line 60"/>
            <p:cNvSpPr/>
            <p:nvPr/>
          </p:nvSpPr>
          <p:spPr>
            <a:xfrm>
              <a:off x="5372100" y="4638675"/>
              <a:ext cx="304800" cy="9525"/>
            </a:xfrm>
            <a:custGeom>
              <a:avLst/>
              <a:gdLst/>
              <a:ahLst/>
              <a:cxnLst/>
              <a:rect l="l" t="t" r="r" b="b"/>
              <a:pathLst>
                <a:path w="304800" h="9525">
                  <a:moveTo>
                    <a:pt x="0" y="0"/>
                  </a:moveTo>
                  <a:lnTo>
                    <a:pt x="304800" y="0"/>
                  </a:lnTo>
                </a:path>
              </a:pathLst>
            </a:custGeom>
            <a:noFill/>
            <a:ln w="19050" cap="rnd">
              <a:solidFill>
                <a:srgbClr val="48C78E"/>
              </a:solidFill>
            </a:ln>
          </p:spPr>
        </p:sp>
        <p:sp>
          <p:nvSpPr>
            <p:cNvPr id="61" name="Polyline 61"/>
            <p:cNvSpPr/>
            <p:nvPr/>
          </p:nvSpPr>
          <p:spPr>
            <a:xfrm>
              <a:off x="5591175" y="4597718"/>
              <a:ext cx="85725" cy="81915"/>
            </a:xfrm>
            <a:custGeom>
              <a:avLst/>
              <a:gdLst/>
              <a:ahLst/>
              <a:cxnLst/>
              <a:rect l="l" t="t" r="r" b="b"/>
              <a:pathLst>
                <a:path w="85725" h="81915">
                  <a:moveTo>
                    <a:pt x="0" y="81915"/>
                  </a:moveTo>
                  <a:lnTo>
                    <a:pt x="85725" y="40958"/>
                  </a:lnTo>
                  <a:lnTo>
                    <a:pt x="0" y="0"/>
                  </a:lnTo>
                </a:path>
              </a:pathLst>
            </a:custGeom>
            <a:noFill/>
            <a:ln w="19050" cap="rnd">
              <a:solidFill>
                <a:srgbClr val="48C78E"/>
              </a:solidFill>
              <a:round/>
            </a:ln>
          </p:spPr>
        </p:sp>
      </p:grpSp>
      <p:grpSp>
        <p:nvGrpSpPr>
          <p:cNvPr id="71" name="Group 71"/>
          <p:cNvGrpSpPr/>
          <p:nvPr/>
        </p:nvGrpSpPr>
        <p:grpSpPr>
          <a:xfrm>
            <a:off x="7810500" y="3276600"/>
            <a:ext cx="3771900" cy="1962150"/>
            <a:chOff x="7810500" y="3276600"/>
            <a:chExt cx="3771900" cy="1962150"/>
          </a:xfrm>
        </p:grpSpPr>
        <p:sp>
          <p:nvSpPr>
            <p:cNvPr id="63" name="Rectangle 63"/>
            <p:cNvSpPr/>
            <p:nvPr/>
          </p:nvSpPr>
          <p:spPr>
            <a:xfrm>
              <a:off x="7810500" y="3276600"/>
              <a:ext cx="3771900" cy="1962150"/>
            </a:xfrm>
            <a:prstGeom prst="roundRect">
              <a:avLst>
                <a:gd name="adj" fmla="val 6796"/>
              </a:avLst>
            </a:prstGeom>
            <a:solidFill>
              <a:schemeClr val="accent5"/>
            </a:solidFill>
            <a:ln w="14288">
              <a:solidFill>
                <a:srgbClr val="26455F"/>
              </a:solidFill>
            </a:ln>
          </p:spPr>
        </p:sp>
        <p:sp>
          <p:nvSpPr>
            <p:cNvPr id="64" name="Rectangle 64"/>
            <p:cNvSpPr/>
            <p:nvPr/>
          </p:nvSpPr>
          <p:spPr>
            <a:xfrm>
              <a:off x="7810500" y="3276600"/>
              <a:ext cx="57150" cy="1962150"/>
            </a:xfrm>
            <a:prstGeom prst="roundRect">
              <a:avLst>
                <a:gd name="adj" fmla="val 50000"/>
              </a:avLst>
            </a:prstGeom>
            <a:solidFill>
              <a:srgbClr val="48C78E"/>
            </a:solidFill>
            <a:ln>
              <a:noFill/>
            </a:ln>
          </p:spPr>
        </p:sp>
        <p:sp>
          <p:nvSpPr>
            <p:cNvPr id="65" name="TextBox 65"/>
            <p:cNvSpPr txBox="1"/>
            <p:nvPr/>
          </p:nvSpPr>
          <p:spPr>
            <a:xfrm>
              <a:off x="8070914" y="3466862"/>
              <a:ext cx="832729"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Objective</a:t>
              </a:r>
            </a:p>
          </p:txBody>
        </p:sp>
        <p:sp>
          <p:nvSpPr>
            <p:cNvPr id="66" name="TextBox 66"/>
            <p:cNvSpPr txBox="1"/>
            <p:nvPr/>
          </p:nvSpPr>
          <p:spPr>
            <a:xfrm>
              <a:off x="8072056" y="3776901"/>
              <a:ext cx="272039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Simply the squared reconstruction error</a:t>
              </a:r>
            </a:p>
          </p:txBody>
        </p:sp>
        <p:sp>
          <p:nvSpPr>
            <p:cNvPr id="67" name="TextBox 67"/>
            <p:cNvSpPr txBox="1"/>
            <p:nvPr/>
          </p:nvSpPr>
          <p:spPr>
            <a:xfrm>
              <a:off x="8072056" y="3967401"/>
              <a:ext cx="267522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between the true and predicted current</a:t>
              </a:r>
            </a:p>
          </p:txBody>
        </p:sp>
        <p:sp>
          <p:nvSpPr>
            <p:cNvPr id="68" name="TextBox 68"/>
            <p:cNvSpPr txBox="1"/>
            <p:nvPr/>
          </p:nvSpPr>
          <p:spPr>
            <a:xfrm>
              <a:off x="8072056" y="4157901"/>
              <a:ext cx="49976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series.</a:t>
              </a:r>
            </a:p>
          </p:txBody>
        </p:sp>
        <p:sp>
          <p:nvSpPr>
            <p:cNvPr id="69" name="Rectangle 69"/>
            <p:cNvSpPr/>
            <p:nvPr/>
          </p:nvSpPr>
          <p:spPr>
            <a:xfrm>
              <a:off x="8077200" y="4629150"/>
              <a:ext cx="3505200" cy="400050"/>
            </a:xfrm>
            <a:prstGeom prst="roundRect">
              <a:avLst>
                <a:gd name="adj" fmla="val 19048"/>
              </a:avLst>
            </a:prstGeom>
            <a:solidFill>
              <a:schemeClr val="accent6"/>
            </a:solidFill>
            <a:ln w="14288">
              <a:solidFill>
                <a:srgbClr val="26455F"/>
              </a:solidFill>
            </a:ln>
          </p:spPr>
        </p:sp>
        <p:sp>
          <p:nvSpPr>
            <p:cNvPr id="70" name="TextBox 70"/>
            <p:cNvSpPr txBox="1"/>
            <p:nvPr/>
          </p:nvSpPr>
          <p:spPr>
            <a:xfrm>
              <a:off x="8903991" y="4772978"/>
              <a:ext cx="1851618"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Consolas"/>
                  <a:ea typeface="Consolas"/>
                  <a:cs typeface="Consolas"/>
                </a:rPr>
                <a:t>L = || current - recon ||^2</a:t>
              </a:r>
            </a:p>
          </p:txBody>
        </p:sp>
      </p:grpSp>
      <p:sp>
        <p:nvSpPr>
          <p:cNvPr id="72" name="cue_s05_c1_how_timesiam_works_single_time" title="cue_s05_c1_how_timesiam_works_single_time" descr="cue_s05_c1_how_timesiam_works_single_time Here is how TimeSiam works. From a single time series it randomly samples two windows: a past subseries and a current subseries, together called Siamese subseries. The current window is lightly corrupted with a simple augmentation such as masking."/>
          <p:cNvSpPr/>
          <p:nvPr/>
        </p:nvSpPr>
        <p:spPr>
          <a:xfrm>
            <a:off x="609600" y="1504645"/>
            <a:ext cx="5334000" cy="15999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cue_s05_c2_two_shared_weight_siamese_encoders_p" title="cue_s05_c2_two_shared_weight_siamese_encoders_p" descr="cue_s05_c2_two_shared_weight_siamese_encoders_p Two shared-weight Siamese encoders process the past and current windows, and a decoder with cross-attention reconstructs the masked current series using the past observation as context. That single design choice, reconstructing the current from the past, force"/>
          <p:cNvSpPr/>
          <p:nvPr/>
        </p:nvSpPr>
        <p:spPr>
          <a:xfrm>
            <a:off x="609600" y="3276752"/>
            <a:ext cx="6972604" cy="21143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cue_s05_c3_handle_fact_past_current_windows" title="cue_s05_c3_handle_fact_past_current_windows" descr="cue_s05_c3_handle_fact_past_current_windows To handle the fact that past and current windows can be near or far apart in time, TimeSiam adds learnable lineage embeddings indexed by that relative distance, so one model fluently represents many temporal gaps."/>
          <p:cNvSpPr/>
          <p:nvPr/>
        </p:nvSpPr>
        <p:spPr>
          <a:xfrm>
            <a:off x="6248399" y="1504645"/>
            <a:ext cx="5334000" cy="15999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cue_s05_c4_objective_simply_squared_reconstruct" title="cue_s05_c4_objective_simply_squared_reconstruct" descr="cue_s05_c4_objective_simply_squared_reconstruct The training objective is simply the squared reconstruction error between the true and predicted current series."/>
          <p:cNvSpPr/>
          <p:nvPr/>
        </p:nvSpPr>
        <p:spPr>
          <a:xfrm>
            <a:off x="7810195" y="3276752"/>
            <a:ext cx="3772204" cy="19620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219060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DATASET / BENCHMARK</a:t>
            </a:r>
          </a:p>
        </p:txBody>
      </p:sp>
      <p:sp>
        <p:nvSpPr>
          <p:cNvPr id="4" name="TextBox 4"/>
          <p:cNvSpPr txBox="1"/>
          <p:nvPr/>
        </p:nvSpPr>
        <p:spPr>
          <a:xfrm>
            <a:off x="598170" y="804862"/>
            <a:ext cx="683991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Thirteen benchmarks, plus two new corpora</a:t>
            </a:r>
          </a:p>
        </p:txBody>
      </p:sp>
      <p:grpSp>
        <p:nvGrpSpPr>
          <p:cNvPr id="15" name="Group 15"/>
          <p:cNvGrpSpPr/>
          <p:nvPr/>
        </p:nvGrpSpPr>
        <p:grpSpPr>
          <a:xfrm>
            <a:off x="609600" y="1504950"/>
            <a:ext cx="10972800" cy="914400"/>
            <a:chOff x="609600" y="1504950"/>
            <a:chExt cx="10972800" cy="914400"/>
          </a:xfrm>
        </p:grpSpPr>
        <p:sp>
          <p:nvSpPr>
            <p:cNvPr id="5" name="Rectangle 5"/>
            <p:cNvSpPr/>
            <p:nvPr/>
          </p:nvSpPr>
          <p:spPr>
            <a:xfrm>
              <a:off x="609600" y="1504950"/>
              <a:ext cx="10972800" cy="914400"/>
            </a:xfrm>
            <a:prstGeom prst="roundRect">
              <a:avLst>
                <a:gd name="adj" fmla="val 14583"/>
              </a:avLst>
            </a:prstGeom>
            <a:solidFill>
              <a:schemeClr val="accent5"/>
            </a:solidFill>
            <a:ln w="14288">
              <a:solidFill>
                <a:srgbClr val="26455F"/>
              </a:solidFill>
            </a:ln>
          </p:spPr>
        </p:sp>
        <p:sp>
          <p:nvSpPr>
            <p:cNvPr id="6" name="Rectangle 6"/>
            <p:cNvSpPr/>
            <p:nvPr/>
          </p:nvSpPr>
          <p:spPr>
            <a:xfrm>
              <a:off x="609600" y="1504950"/>
              <a:ext cx="57150" cy="914400"/>
            </a:xfrm>
            <a:prstGeom prst="roundRect">
              <a:avLst>
                <a:gd name="adj" fmla="val 50000"/>
              </a:avLst>
            </a:prstGeom>
            <a:solidFill>
              <a:schemeClr val="accent2"/>
            </a:solidFill>
            <a:ln>
              <a:noFill/>
            </a:ln>
          </p:spPr>
        </p:sp>
        <p:sp>
          <p:nvSpPr>
            <p:cNvPr id="7" name="TextBox 7"/>
            <p:cNvSpPr txBox="1"/>
            <p:nvPr/>
          </p:nvSpPr>
          <p:spPr>
            <a:xfrm>
              <a:off x="870014" y="1714262"/>
              <a:ext cx="2655798"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A deliberately broad evaluation</a:t>
              </a:r>
            </a:p>
          </p:txBody>
        </p:sp>
        <p:sp>
          <p:nvSpPr>
            <p:cNvPr id="8" name="TextBox 8"/>
            <p:cNvSpPr txBox="1"/>
            <p:nvPr/>
          </p:nvSpPr>
          <p:spPr>
            <a:xfrm>
              <a:off x="870966" y="2020252"/>
              <a:ext cx="672251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study spans thirteen benchmarks and two mainstream tasks: forecasting and classification.</a:t>
              </a:r>
            </a:p>
          </p:txBody>
        </p:sp>
        <p:sp>
          <p:nvSpPr>
            <p:cNvPr id="9" name="Rectangle 9"/>
            <p:cNvSpPr/>
            <p:nvPr/>
          </p:nvSpPr>
          <p:spPr>
            <a:xfrm>
              <a:off x="9334500" y="1600200"/>
              <a:ext cx="1047750" cy="723900"/>
            </a:xfrm>
            <a:prstGeom prst="roundRect">
              <a:avLst>
                <a:gd name="adj" fmla="val 15789"/>
              </a:avLst>
            </a:prstGeom>
            <a:solidFill>
              <a:schemeClr val="accent6"/>
            </a:solidFill>
            <a:ln w="14288">
              <a:solidFill>
                <a:srgbClr val="26455F"/>
              </a:solidFill>
            </a:ln>
          </p:spPr>
        </p:sp>
        <p:sp>
          <p:nvSpPr>
            <p:cNvPr id="10" name="TextBox 10"/>
            <p:cNvSpPr txBox="1"/>
            <p:nvPr/>
          </p:nvSpPr>
          <p:spPr>
            <a:xfrm>
              <a:off x="9697708" y="1767421"/>
              <a:ext cx="321333" cy="379034"/>
            </a:xfrm>
            <a:prstGeom prst="rect">
              <a:avLst/>
            </a:prstGeom>
            <a:noFill/>
            <a:ln>
              <a:noFill/>
            </a:ln>
          </p:spPr>
          <p:txBody>
            <a:bodyPr wrap="none" lIns="0" tIns="0" rIns="0" bIns="0" anchor="t" anchorCtr="0">
              <a:spAutoFit/>
            </a:bodyPr>
            <a:lstStyle/>
            <a:p>
              <a:pPr algn="ctr"/>
              <a:r>
                <a:rPr lang="en-US" sz="1940" b="1" dirty="0">
                  <a:solidFill>
                    <a:schemeClr val="accent2"/>
                  </a:solidFill>
                  <a:latin typeface="+mn-lt"/>
                  <a:ea typeface="+mn-ea"/>
                  <a:cs typeface="+mn-cs"/>
                </a:rPr>
                <a:t>13</a:t>
              </a:r>
            </a:p>
          </p:txBody>
        </p:sp>
        <p:sp>
          <p:nvSpPr>
            <p:cNvPr id="11" name="TextBox 11"/>
            <p:cNvSpPr txBox="1"/>
            <p:nvPr/>
          </p:nvSpPr>
          <p:spPr>
            <a:xfrm>
              <a:off x="9474933" y="2078117"/>
              <a:ext cx="766884"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benchmarks</a:t>
              </a:r>
            </a:p>
          </p:txBody>
        </p:sp>
        <p:sp>
          <p:nvSpPr>
            <p:cNvPr id="12" name="Rectangle 12"/>
            <p:cNvSpPr/>
            <p:nvPr/>
          </p:nvSpPr>
          <p:spPr>
            <a:xfrm>
              <a:off x="10477500" y="1600200"/>
              <a:ext cx="1047750" cy="723900"/>
            </a:xfrm>
            <a:prstGeom prst="roundRect">
              <a:avLst>
                <a:gd name="adj" fmla="val 15789"/>
              </a:avLst>
            </a:prstGeom>
            <a:solidFill>
              <a:schemeClr val="accent6"/>
            </a:solidFill>
            <a:ln w="14288">
              <a:solidFill>
                <a:srgbClr val="26455F"/>
              </a:solidFill>
            </a:ln>
          </p:spPr>
        </p:sp>
        <p:sp>
          <p:nvSpPr>
            <p:cNvPr id="13" name="TextBox 13"/>
            <p:cNvSpPr txBox="1"/>
            <p:nvPr/>
          </p:nvSpPr>
          <p:spPr>
            <a:xfrm>
              <a:off x="10916119" y="1767421"/>
              <a:ext cx="170512" cy="379034"/>
            </a:xfrm>
            <a:prstGeom prst="rect">
              <a:avLst/>
            </a:prstGeom>
            <a:noFill/>
            <a:ln>
              <a:noFill/>
            </a:ln>
          </p:spPr>
          <p:txBody>
            <a:bodyPr wrap="none" lIns="0" tIns="0" rIns="0" bIns="0" anchor="t" anchorCtr="0">
              <a:spAutoFit/>
            </a:bodyPr>
            <a:lstStyle/>
            <a:p>
              <a:pPr algn="ctr"/>
              <a:r>
                <a:rPr lang="en-US" sz="1940" b="1" dirty="0">
                  <a:solidFill>
                    <a:srgbClr val="34D3C0"/>
                  </a:solidFill>
                  <a:latin typeface="+mn-lt"/>
                  <a:ea typeface="+mn-ea"/>
                  <a:cs typeface="+mn-cs"/>
                </a:rPr>
                <a:t>2</a:t>
              </a:r>
            </a:p>
          </p:txBody>
        </p:sp>
        <p:sp>
          <p:nvSpPr>
            <p:cNvPr id="14" name="TextBox 14"/>
            <p:cNvSpPr txBox="1"/>
            <p:nvPr/>
          </p:nvSpPr>
          <p:spPr>
            <a:xfrm>
              <a:off x="10813916" y="2078117"/>
              <a:ext cx="374917"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tasks</a:t>
              </a:r>
            </a:p>
          </p:txBody>
        </p:sp>
      </p:grpSp>
      <p:grpSp>
        <p:nvGrpSpPr>
          <p:cNvPr id="25" name="Group 25"/>
          <p:cNvGrpSpPr/>
          <p:nvPr/>
        </p:nvGrpSpPr>
        <p:grpSpPr>
          <a:xfrm>
            <a:off x="609600" y="2571750"/>
            <a:ext cx="5334000" cy="1495472"/>
            <a:chOff x="609600" y="2571750"/>
            <a:chExt cx="5334000" cy="1495472"/>
          </a:xfrm>
        </p:grpSpPr>
        <p:sp>
          <p:nvSpPr>
            <p:cNvPr id="16" name="Rectangle 16"/>
            <p:cNvSpPr/>
            <p:nvPr/>
          </p:nvSpPr>
          <p:spPr>
            <a:xfrm>
              <a:off x="609600" y="2571750"/>
              <a:ext cx="5334000" cy="1447800"/>
            </a:xfrm>
            <a:prstGeom prst="roundRect">
              <a:avLst>
                <a:gd name="adj" fmla="val 9211"/>
              </a:avLst>
            </a:prstGeom>
            <a:solidFill>
              <a:schemeClr val="accent5"/>
            </a:solidFill>
            <a:ln w="14288">
              <a:solidFill>
                <a:srgbClr val="26455F"/>
              </a:solidFill>
            </a:ln>
          </p:spPr>
        </p:sp>
        <p:sp>
          <p:nvSpPr>
            <p:cNvPr id="17" name="Rectangle 17"/>
            <p:cNvSpPr/>
            <p:nvPr/>
          </p:nvSpPr>
          <p:spPr>
            <a:xfrm>
              <a:off x="609600" y="2571750"/>
              <a:ext cx="57150" cy="1447800"/>
            </a:xfrm>
            <a:prstGeom prst="roundRect">
              <a:avLst>
                <a:gd name="adj" fmla="val 50000"/>
              </a:avLst>
            </a:prstGeom>
            <a:solidFill>
              <a:srgbClr val="34D3C0"/>
            </a:solidFill>
            <a:ln>
              <a:noFill/>
            </a:ln>
          </p:spPr>
        </p:sp>
        <p:sp>
          <p:nvSpPr>
            <p:cNvPr id="18" name="TextBox 18"/>
            <p:cNvSpPr txBox="1"/>
            <p:nvPr/>
          </p:nvSpPr>
          <p:spPr>
            <a:xfrm>
              <a:off x="870014" y="2781062"/>
              <a:ext cx="2042459"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Established benchmarks</a:t>
              </a:r>
            </a:p>
          </p:txBody>
        </p:sp>
        <p:sp>
          <p:nvSpPr>
            <p:cNvPr id="19" name="TextBox 19"/>
            <p:cNvSpPr txBox="1"/>
            <p:nvPr/>
          </p:nvSpPr>
          <p:spPr>
            <a:xfrm>
              <a:off x="871156" y="3091101"/>
              <a:ext cx="364870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Forecasting: four ETT subsets, Weather, Electricity,</a:t>
              </a:r>
            </a:p>
          </p:txBody>
        </p:sp>
        <p:sp>
          <p:nvSpPr>
            <p:cNvPr id="20" name="TextBox 20"/>
            <p:cNvSpPr txBox="1"/>
            <p:nvPr/>
          </p:nvSpPr>
          <p:spPr>
            <a:xfrm>
              <a:off x="871156" y="3281601"/>
              <a:ext cx="384363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Traffic, Exchange. Classification: EEG (AD, TDBrain) and</a:t>
              </a:r>
            </a:p>
          </p:txBody>
        </p:sp>
        <p:sp>
          <p:nvSpPr>
            <p:cNvPr id="21" name="TextBox 21"/>
            <p:cNvSpPr txBox="1"/>
            <p:nvPr/>
          </p:nvSpPr>
          <p:spPr>
            <a:xfrm>
              <a:off x="871156" y="3472101"/>
              <a:ext cx="76451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ECG (PTB).</a:t>
              </a:r>
            </a:p>
          </p:txBody>
        </p:sp>
        <p:sp>
          <p:nvSpPr>
            <p:cNvPr id="22" name="Rectangle 22"/>
            <p:cNvSpPr/>
            <p:nvPr/>
          </p:nvSpPr>
          <p:spPr>
            <a:xfrm>
              <a:off x="876300" y="3790950"/>
              <a:ext cx="4800600" cy="247650"/>
            </a:xfrm>
            <a:prstGeom prst="roundRect">
              <a:avLst>
                <a:gd name="adj" fmla="val 30769"/>
              </a:avLst>
            </a:prstGeom>
            <a:solidFill>
              <a:schemeClr val="accent6"/>
            </a:solidFill>
            <a:ln w="14288">
              <a:solidFill>
                <a:srgbClr val="26455F"/>
              </a:solidFill>
            </a:ln>
          </p:spPr>
        </p:sp>
        <p:sp>
          <p:nvSpPr>
            <p:cNvPr id="23" name="Ellipse 23"/>
            <p:cNvSpPr/>
            <p:nvPr/>
          </p:nvSpPr>
          <p:spPr>
            <a:xfrm>
              <a:off x="1000125" y="3867150"/>
              <a:ext cx="95250" cy="95250"/>
            </a:xfrm>
            <a:prstGeom prst="ellipse">
              <a:avLst/>
            </a:prstGeom>
            <a:solidFill>
              <a:srgbClr val="34D3C0"/>
            </a:solidFill>
            <a:ln>
              <a:noFill/>
            </a:ln>
          </p:spPr>
        </p:sp>
        <p:sp>
          <p:nvSpPr>
            <p:cNvPr id="24" name="TextBox 24"/>
            <p:cNvSpPr txBox="1"/>
            <p:nvPr/>
          </p:nvSpPr>
          <p:spPr>
            <a:xfrm>
              <a:off x="1194626" y="3854529"/>
              <a:ext cx="3362128"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forecasting + classification = 11 established</a:t>
              </a:r>
            </a:p>
          </p:txBody>
        </p:sp>
      </p:grpSp>
      <p:grpSp>
        <p:nvGrpSpPr>
          <p:cNvPr id="34" name="Group 34"/>
          <p:cNvGrpSpPr/>
          <p:nvPr/>
        </p:nvGrpSpPr>
        <p:grpSpPr>
          <a:xfrm>
            <a:off x="6248400" y="2571750"/>
            <a:ext cx="5334000" cy="1447800"/>
            <a:chOff x="6248400" y="2571750"/>
            <a:chExt cx="5334000" cy="1447800"/>
          </a:xfrm>
        </p:grpSpPr>
        <p:sp>
          <p:nvSpPr>
            <p:cNvPr id="26" name="Rectangle 26"/>
            <p:cNvSpPr/>
            <p:nvPr/>
          </p:nvSpPr>
          <p:spPr>
            <a:xfrm>
              <a:off x="6248400" y="2571750"/>
              <a:ext cx="5334000" cy="1447800"/>
            </a:xfrm>
            <a:prstGeom prst="roundRect">
              <a:avLst>
                <a:gd name="adj" fmla="val 9211"/>
              </a:avLst>
            </a:prstGeom>
            <a:solidFill>
              <a:srgbClr val="0F2E2B"/>
            </a:solidFill>
            <a:ln w="14288">
              <a:solidFill>
                <a:srgbClr val="48C78E"/>
              </a:solidFill>
            </a:ln>
          </p:spPr>
        </p:sp>
        <p:sp>
          <p:nvSpPr>
            <p:cNvPr id="27" name="Rectangle 27"/>
            <p:cNvSpPr/>
            <p:nvPr/>
          </p:nvSpPr>
          <p:spPr>
            <a:xfrm>
              <a:off x="6248400" y="2571750"/>
              <a:ext cx="57150" cy="1447800"/>
            </a:xfrm>
            <a:prstGeom prst="roundRect">
              <a:avLst>
                <a:gd name="adj" fmla="val 50000"/>
              </a:avLst>
            </a:prstGeom>
            <a:solidFill>
              <a:srgbClr val="48C78E"/>
            </a:solidFill>
            <a:ln>
              <a:noFill/>
            </a:ln>
          </p:spPr>
        </p:sp>
        <p:sp>
          <p:nvSpPr>
            <p:cNvPr id="28" name="TextBox 28"/>
            <p:cNvSpPr txBox="1"/>
            <p:nvPr/>
          </p:nvSpPr>
          <p:spPr>
            <a:xfrm>
              <a:off x="6508814" y="2781062"/>
              <a:ext cx="2595196"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Two new multi-domain corpora</a:t>
              </a:r>
            </a:p>
          </p:txBody>
        </p:sp>
        <p:sp>
          <p:nvSpPr>
            <p:cNvPr id="29" name="TextBox 29"/>
            <p:cNvSpPr txBox="1"/>
            <p:nvPr/>
          </p:nvSpPr>
          <p:spPr>
            <a:xfrm>
              <a:off x="6509956" y="3091101"/>
              <a:ext cx="3883184"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On top of the eleven established benchmarks, the authors</a:t>
              </a:r>
            </a:p>
          </p:txBody>
        </p:sp>
        <p:sp>
          <p:nvSpPr>
            <p:cNvPr id="30" name="TextBox 30"/>
            <p:cNvSpPr txBox="1"/>
            <p:nvPr/>
          </p:nvSpPr>
          <p:spPr>
            <a:xfrm>
              <a:off x="6509956" y="3281601"/>
              <a:ext cx="3742559"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construct two new large-scale, multi-domain datasets.</a:t>
              </a:r>
            </a:p>
          </p:txBody>
        </p:sp>
        <p:sp>
          <p:nvSpPr>
            <p:cNvPr id="31" name="Rectangle 31"/>
            <p:cNvSpPr/>
            <p:nvPr/>
          </p:nvSpPr>
          <p:spPr>
            <a:xfrm>
              <a:off x="6515100" y="3733800"/>
              <a:ext cx="4800600" cy="247650"/>
            </a:xfrm>
            <a:prstGeom prst="roundRect">
              <a:avLst>
                <a:gd name="adj" fmla="val 30769"/>
              </a:avLst>
            </a:prstGeom>
            <a:solidFill>
              <a:schemeClr val="accent6"/>
            </a:solidFill>
            <a:ln w="14288">
              <a:solidFill>
                <a:srgbClr val="26455F"/>
              </a:solidFill>
            </a:ln>
          </p:spPr>
        </p:sp>
        <p:sp>
          <p:nvSpPr>
            <p:cNvPr id="32" name="Ellipse 32"/>
            <p:cNvSpPr/>
            <p:nvPr/>
          </p:nvSpPr>
          <p:spPr>
            <a:xfrm>
              <a:off x="6638925" y="3810000"/>
              <a:ext cx="95250" cy="95250"/>
            </a:xfrm>
            <a:prstGeom prst="ellipse">
              <a:avLst/>
            </a:prstGeom>
            <a:solidFill>
              <a:srgbClr val="48C78E"/>
            </a:solidFill>
            <a:ln>
              <a:noFill/>
            </a:ln>
          </p:spPr>
        </p:sp>
        <p:sp>
          <p:nvSpPr>
            <p:cNvPr id="33" name="TextBox 33"/>
            <p:cNvSpPr txBox="1"/>
            <p:nvPr/>
          </p:nvSpPr>
          <p:spPr>
            <a:xfrm>
              <a:off x="6833426" y="3797379"/>
              <a:ext cx="1819837"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TSLD-500M and TSLD-1G</a:t>
              </a:r>
            </a:p>
          </p:txBody>
        </p:sp>
      </p:grpSp>
      <p:grpSp>
        <p:nvGrpSpPr>
          <p:cNvPr id="44" name="Group 44"/>
          <p:cNvGrpSpPr/>
          <p:nvPr/>
        </p:nvGrpSpPr>
        <p:grpSpPr>
          <a:xfrm>
            <a:off x="609600" y="4171950"/>
            <a:ext cx="10972800" cy="1139761"/>
            <a:chOff x="609600" y="4171950"/>
            <a:chExt cx="10972800" cy="1139761"/>
          </a:xfrm>
        </p:grpSpPr>
        <p:sp>
          <p:nvSpPr>
            <p:cNvPr id="35" name="Rectangle 35"/>
            <p:cNvSpPr/>
            <p:nvPr/>
          </p:nvSpPr>
          <p:spPr>
            <a:xfrm>
              <a:off x="609600" y="4171950"/>
              <a:ext cx="10972800" cy="1066800"/>
            </a:xfrm>
            <a:prstGeom prst="roundRect">
              <a:avLst>
                <a:gd name="adj" fmla="val 12500"/>
              </a:avLst>
            </a:prstGeom>
            <a:solidFill>
              <a:srgbClr val="2A2417"/>
            </a:solidFill>
            <a:ln w="14288">
              <a:solidFill>
                <a:srgbClr val="F2C14E"/>
              </a:solidFill>
            </a:ln>
          </p:spPr>
        </p:sp>
        <p:sp>
          <p:nvSpPr>
            <p:cNvPr id="36" name="Rectangle 36"/>
            <p:cNvSpPr/>
            <p:nvPr/>
          </p:nvSpPr>
          <p:spPr>
            <a:xfrm>
              <a:off x="609600" y="4171950"/>
              <a:ext cx="57150" cy="1066800"/>
            </a:xfrm>
            <a:prstGeom prst="roundRect">
              <a:avLst>
                <a:gd name="adj" fmla="val 50000"/>
              </a:avLst>
            </a:prstGeom>
            <a:solidFill>
              <a:srgbClr val="F2C14E"/>
            </a:solidFill>
            <a:ln>
              <a:noFill/>
            </a:ln>
          </p:spPr>
        </p:sp>
        <p:sp>
          <p:nvSpPr>
            <p:cNvPr id="37" name="TextBox 37"/>
            <p:cNvSpPr txBox="1"/>
            <p:nvPr/>
          </p:nvSpPr>
          <p:spPr>
            <a:xfrm>
              <a:off x="870204" y="4385310"/>
              <a:ext cx="3842431"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TSLD-1G: built for cross-domain stress tests</a:t>
              </a:r>
            </a:p>
          </p:txBody>
        </p:sp>
        <p:sp>
          <p:nvSpPr>
            <p:cNvPr id="38" name="TextBox 38"/>
            <p:cNvSpPr txBox="1"/>
            <p:nvPr/>
          </p:nvSpPr>
          <p:spPr>
            <a:xfrm>
              <a:off x="870966" y="4687252"/>
              <a:ext cx="6079264"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The larger corpus packs nearly fourteen million examples from diverse, non-overlapping</a:t>
              </a:r>
            </a:p>
          </p:txBody>
        </p:sp>
        <p:sp>
          <p:nvSpPr>
            <p:cNvPr id="39" name="TextBox 39"/>
            <p:cNvSpPr txBox="1"/>
            <p:nvPr/>
          </p:nvSpPr>
          <p:spPr>
            <a:xfrm>
              <a:off x="870966" y="4896802"/>
              <a:ext cx="5523357"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domains, so pre-training and fine-tuning data can come from entirely different</a:t>
              </a:r>
            </a:p>
          </p:txBody>
        </p:sp>
        <p:sp>
          <p:nvSpPr>
            <p:cNvPr id="40" name="TextBox 40"/>
            <p:cNvSpPr txBox="1"/>
            <p:nvPr/>
          </p:nvSpPr>
          <p:spPr>
            <a:xfrm>
              <a:off x="870966" y="5106352"/>
              <a:ext cx="632612"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sources.</a:t>
              </a:r>
            </a:p>
          </p:txBody>
        </p:sp>
        <p:sp>
          <p:nvSpPr>
            <p:cNvPr id="41" name="Rectangle 41"/>
            <p:cNvSpPr/>
            <p:nvPr/>
          </p:nvSpPr>
          <p:spPr>
            <a:xfrm>
              <a:off x="9334500" y="4305300"/>
              <a:ext cx="2190750" cy="800100"/>
            </a:xfrm>
            <a:prstGeom prst="roundRect">
              <a:avLst>
                <a:gd name="adj" fmla="val 14286"/>
              </a:avLst>
            </a:prstGeom>
            <a:solidFill>
              <a:schemeClr val="accent6"/>
            </a:solidFill>
            <a:ln w="14288">
              <a:solidFill>
                <a:srgbClr val="26455F"/>
              </a:solidFill>
            </a:ln>
          </p:spPr>
        </p:sp>
        <p:sp>
          <p:nvSpPr>
            <p:cNvPr id="42" name="TextBox 42"/>
            <p:cNvSpPr txBox="1"/>
            <p:nvPr/>
          </p:nvSpPr>
          <p:spPr>
            <a:xfrm>
              <a:off x="10035458" y="4490123"/>
              <a:ext cx="788835" cy="418932"/>
            </a:xfrm>
            <a:prstGeom prst="rect">
              <a:avLst/>
            </a:prstGeom>
            <a:noFill/>
            <a:ln>
              <a:noFill/>
            </a:ln>
          </p:spPr>
          <p:txBody>
            <a:bodyPr wrap="none" lIns="0" tIns="0" rIns="0" bIns="0" anchor="t" anchorCtr="0">
              <a:spAutoFit/>
            </a:bodyPr>
            <a:lstStyle/>
            <a:p>
              <a:pPr algn="ctr"/>
              <a:r>
                <a:rPr lang="en-US" sz="2140" b="1" dirty="0">
                  <a:solidFill>
                    <a:srgbClr val="F2C14E"/>
                  </a:solidFill>
                  <a:latin typeface="+mn-lt"/>
                  <a:ea typeface="+mn-ea"/>
                  <a:cs typeface="+mn-cs"/>
                </a:rPr>
                <a:t>~14M</a:t>
              </a:r>
            </a:p>
          </p:txBody>
        </p:sp>
        <p:sp>
          <p:nvSpPr>
            <p:cNvPr id="43" name="TextBox 43"/>
            <p:cNvSpPr txBox="1"/>
            <p:nvPr/>
          </p:nvSpPr>
          <p:spPr>
            <a:xfrm>
              <a:off x="9810787" y="4844177"/>
              <a:ext cx="1238177"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examples, TSLD-1G</a:t>
              </a:r>
            </a:p>
          </p:txBody>
        </p:sp>
      </p:grpSp>
      <p:sp>
        <p:nvSpPr>
          <p:cNvPr id="45" name="cue_s06_c1_evaluation_deliberately_broad_spanni" title="cue_s06_c1_evaluation_deliberately_broad_spanni" descr="cue_s06_c1_evaluation_deliberately_broad_spanni The evaluation is deliberately broad, spanning thirteen benchmarks and two mainstream tasks."/>
          <p:cNvSpPr/>
          <p:nvPr/>
        </p:nvSpPr>
        <p:spPr>
          <a:xfrm>
            <a:off x="609600" y="1504645"/>
            <a:ext cx="10972800" cy="9141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6_c2_forecasting_four_ett_subsets_plus" title="cue_s06_c2_forecasting_four_ett_subsets_plus" descr="cue_s06_c2_forecasting_four_ett_subsets_plus For forecasting there are the four ETT subsets, plus Weather, Electricity, Traffic, and Exchange. For classification there are two EEG datasets, AD and TDBrain, and an ECG dataset, PTB."/>
          <p:cNvSpPr/>
          <p:nvPr/>
        </p:nvSpPr>
        <p:spPr>
          <a:xfrm>
            <a:off x="609600" y="2571750"/>
            <a:ext cx="5334000" cy="1495729"/>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6_c3_top_these_eleven_established_benchma" title="cue_s06_c3_top_these_eleven_established_benchma" descr="cue_s06_c3_top_these_eleven_established_benchma On top of these eleven established benchmarks, the authors construct two new large-scale, multi-domain datasets called TSLD-500M and TSLD-1G."/>
          <p:cNvSpPr/>
          <p:nvPr/>
        </p:nvSpPr>
        <p:spPr>
          <a:xfrm>
            <a:off x="6248399" y="2571750"/>
            <a:ext cx="5334000" cy="14477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6_c4_larger_one_packs_nearly_fourteen" title="cue_s06_c4_larger_one_packs_nearly_fourteen" descr="cue_s06_c4_larger_one_packs_nearly_fourteen The larger one packs nearly fourteen million examples drawn from diverse, non-overlapping domains, which lets the paper stress-test cross-domain transfer where pre-training and fine-tuning data come from entirely different sources."/>
          <p:cNvSpPr/>
          <p:nvPr/>
        </p:nvSpPr>
        <p:spPr>
          <a:xfrm>
            <a:off x="609600" y="4171721"/>
            <a:ext cx="10972800" cy="1139799"/>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3029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KEY RESULT</a:t>
            </a:r>
          </a:p>
        </p:txBody>
      </p:sp>
      <p:sp>
        <p:nvSpPr>
          <p:cNvPr id="4" name="TextBox 4"/>
          <p:cNvSpPr txBox="1"/>
          <p:nvPr/>
        </p:nvSpPr>
        <p:spPr>
          <a:xfrm>
            <a:off x="598170" y="804862"/>
            <a:ext cx="783294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Consistent SOTA on forecasting and classification</a:t>
            </a:r>
          </a:p>
        </p:txBody>
      </p:sp>
      <p:grpSp>
        <p:nvGrpSpPr>
          <p:cNvPr id="16" name="Group 16"/>
          <p:cNvGrpSpPr/>
          <p:nvPr/>
        </p:nvGrpSpPr>
        <p:grpSpPr>
          <a:xfrm>
            <a:off x="609600" y="1504950"/>
            <a:ext cx="10972800" cy="1104900"/>
            <a:chOff x="609600" y="1504950"/>
            <a:chExt cx="10972800" cy="1104900"/>
          </a:xfrm>
        </p:grpSpPr>
        <p:sp>
          <p:nvSpPr>
            <p:cNvPr id="5" name="Rectangle 5"/>
            <p:cNvSpPr/>
            <p:nvPr/>
          </p:nvSpPr>
          <p:spPr>
            <a:xfrm>
              <a:off x="609600" y="1504950"/>
              <a:ext cx="10972800" cy="1104900"/>
            </a:xfrm>
            <a:prstGeom prst="roundRect">
              <a:avLst>
                <a:gd name="adj" fmla="val 12069"/>
              </a:avLst>
            </a:prstGeom>
            <a:solidFill>
              <a:srgbClr val="0F2E2B"/>
            </a:solidFill>
            <a:ln w="14288">
              <a:solidFill>
                <a:srgbClr val="48C78E"/>
              </a:solidFill>
            </a:ln>
          </p:spPr>
        </p:sp>
        <p:sp>
          <p:nvSpPr>
            <p:cNvPr id="6" name="Rectangle 6"/>
            <p:cNvSpPr/>
            <p:nvPr/>
          </p:nvSpPr>
          <p:spPr>
            <a:xfrm>
              <a:off x="609600" y="1504950"/>
              <a:ext cx="57150" cy="1104900"/>
            </a:xfrm>
            <a:prstGeom prst="roundRect">
              <a:avLst>
                <a:gd name="adj" fmla="val 50000"/>
              </a:avLst>
            </a:prstGeom>
            <a:solidFill>
              <a:srgbClr val="48C78E"/>
            </a:solidFill>
            <a:ln>
              <a:noFill/>
            </a:ln>
          </p:spPr>
        </p:sp>
        <p:sp>
          <p:nvSpPr>
            <p:cNvPr id="7" name="TextBox 7"/>
            <p:cNvSpPr txBox="1"/>
            <p:nvPr/>
          </p:nvSpPr>
          <p:spPr>
            <a:xfrm>
              <a:off x="870014" y="1733312"/>
              <a:ext cx="3278459"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The results are consistent and strong</a:t>
              </a:r>
            </a:p>
          </p:txBody>
        </p:sp>
        <p:sp>
          <p:nvSpPr>
            <p:cNvPr id="8" name="TextBox 8"/>
            <p:cNvSpPr txBox="1"/>
            <p:nvPr/>
          </p:nvSpPr>
          <p:spPr>
            <a:xfrm>
              <a:off x="870966" y="2039302"/>
              <a:ext cx="492776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State-of-the-art in both in-domain and cross-domain settings, on two</a:t>
              </a:r>
            </a:p>
          </p:txBody>
        </p:sp>
        <p:sp>
          <p:nvSpPr>
            <p:cNvPr id="9" name="TextBox 9"/>
            <p:cNvSpPr txBox="1"/>
            <p:nvPr/>
          </p:nvSpPr>
          <p:spPr>
            <a:xfrm>
              <a:off x="870966" y="2229802"/>
              <a:ext cx="131816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mainstream tasks.</a:t>
              </a:r>
            </a:p>
          </p:txBody>
        </p:sp>
        <p:sp>
          <p:nvSpPr>
            <p:cNvPr id="10" name="Rectangle 10"/>
            <p:cNvSpPr/>
            <p:nvPr/>
          </p:nvSpPr>
          <p:spPr>
            <a:xfrm>
              <a:off x="6858000" y="1638300"/>
              <a:ext cx="2247900" cy="838200"/>
            </a:xfrm>
            <a:prstGeom prst="roundRect">
              <a:avLst>
                <a:gd name="adj" fmla="val 13636"/>
              </a:avLst>
            </a:prstGeom>
            <a:solidFill>
              <a:schemeClr val="accent6"/>
            </a:solidFill>
            <a:ln w="14288">
              <a:solidFill>
                <a:srgbClr val="26455F"/>
              </a:solidFill>
            </a:ln>
          </p:spPr>
        </p:sp>
        <p:sp>
          <p:nvSpPr>
            <p:cNvPr id="11" name="TextBox 11"/>
            <p:cNvSpPr txBox="1"/>
            <p:nvPr/>
          </p:nvSpPr>
          <p:spPr>
            <a:xfrm>
              <a:off x="7569092" y="1831924"/>
              <a:ext cx="825715" cy="438882"/>
            </a:xfrm>
            <a:prstGeom prst="rect">
              <a:avLst/>
            </a:prstGeom>
            <a:noFill/>
            <a:ln>
              <a:noFill/>
            </a:ln>
          </p:spPr>
          <p:txBody>
            <a:bodyPr wrap="none" lIns="0" tIns="0" rIns="0" bIns="0" anchor="t" anchorCtr="0">
              <a:spAutoFit/>
            </a:bodyPr>
            <a:lstStyle/>
            <a:p>
              <a:pPr algn="ctr"/>
              <a:r>
                <a:rPr lang="en-US" sz="2240" b="1" dirty="0">
                  <a:solidFill>
                    <a:srgbClr val="48C78E"/>
                  </a:solidFill>
                  <a:latin typeface="+mn-lt"/>
                  <a:ea typeface="+mn-ea"/>
                  <a:cs typeface="+mn-cs"/>
                </a:rPr>
                <a:t>SOTA</a:t>
              </a:r>
            </a:p>
          </p:txBody>
        </p:sp>
        <p:sp>
          <p:nvSpPr>
            <p:cNvPr id="12" name="TextBox 12"/>
            <p:cNvSpPr txBox="1"/>
            <p:nvPr/>
          </p:nvSpPr>
          <p:spPr>
            <a:xfrm>
              <a:off x="7372629" y="2207657"/>
              <a:ext cx="1218641"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in- &amp; cross-domain</a:t>
              </a:r>
            </a:p>
          </p:txBody>
        </p:sp>
        <p:sp>
          <p:nvSpPr>
            <p:cNvPr id="13" name="Rectangle 13"/>
            <p:cNvSpPr/>
            <p:nvPr/>
          </p:nvSpPr>
          <p:spPr>
            <a:xfrm>
              <a:off x="9239250" y="1638300"/>
              <a:ext cx="2343150" cy="838200"/>
            </a:xfrm>
            <a:prstGeom prst="roundRect">
              <a:avLst>
                <a:gd name="adj" fmla="val 13636"/>
              </a:avLst>
            </a:prstGeom>
            <a:solidFill>
              <a:schemeClr val="accent6"/>
            </a:solidFill>
            <a:ln w="14288">
              <a:solidFill>
                <a:srgbClr val="26455F"/>
              </a:solidFill>
            </a:ln>
          </p:spPr>
        </p:sp>
        <p:sp>
          <p:nvSpPr>
            <p:cNvPr id="14" name="TextBox 14"/>
            <p:cNvSpPr txBox="1"/>
            <p:nvPr/>
          </p:nvSpPr>
          <p:spPr>
            <a:xfrm>
              <a:off x="10043221" y="1831924"/>
              <a:ext cx="735208" cy="438882"/>
            </a:xfrm>
            <a:prstGeom prst="rect">
              <a:avLst/>
            </a:prstGeom>
            <a:noFill/>
            <a:ln>
              <a:noFill/>
            </a:ln>
          </p:spPr>
          <p:txBody>
            <a:bodyPr wrap="none" lIns="0" tIns="0" rIns="0" bIns="0" anchor="t" anchorCtr="0">
              <a:spAutoFit/>
            </a:bodyPr>
            <a:lstStyle/>
            <a:p>
              <a:pPr algn="ctr"/>
              <a:r>
                <a:rPr lang="en-US" sz="2240" b="1" dirty="0">
                  <a:solidFill>
                    <a:srgbClr val="34D3C0"/>
                  </a:solidFill>
                  <a:latin typeface="+mn-lt"/>
                  <a:ea typeface="+mn-ea"/>
                  <a:cs typeface="+mn-cs"/>
                </a:rPr>
                <a:t>8 / 8</a:t>
              </a:r>
            </a:p>
          </p:txBody>
        </p:sp>
        <p:sp>
          <p:nvSpPr>
            <p:cNvPr id="15" name="TextBox 15"/>
            <p:cNvSpPr txBox="1"/>
            <p:nvPr/>
          </p:nvSpPr>
          <p:spPr>
            <a:xfrm>
              <a:off x="9771981" y="2207657"/>
              <a:ext cx="1277688"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beats SSL baselines</a:t>
              </a:r>
            </a:p>
          </p:txBody>
        </p:sp>
      </p:grpSp>
      <p:grpSp>
        <p:nvGrpSpPr>
          <p:cNvPr id="31" name="Group 31"/>
          <p:cNvGrpSpPr/>
          <p:nvPr/>
        </p:nvGrpSpPr>
        <p:grpSpPr>
          <a:xfrm>
            <a:off x="609600" y="2762250"/>
            <a:ext cx="5334000" cy="2457450"/>
            <a:chOff x="609600" y="2762250"/>
            <a:chExt cx="5334000" cy="2457450"/>
          </a:xfrm>
        </p:grpSpPr>
        <p:sp>
          <p:nvSpPr>
            <p:cNvPr id="17" name="Rectangle 17"/>
            <p:cNvSpPr/>
            <p:nvPr/>
          </p:nvSpPr>
          <p:spPr>
            <a:xfrm>
              <a:off x="609600" y="2762250"/>
              <a:ext cx="5334000" cy="2457450"/>
            </a:xfrm>
            <a:prstGeom prst="roundRect">
              <a:avLst>
                <a:gd name="adj" fmla="val 5426"/>
              </a:avLst>
            </a:prstGeom>
            <a:solidFill>
              <a:schemeClr val="accent5"/>
            </a:solidFill>
            <a:ln w="14288">
              <a:solidFill>
                <a:srgbClr val="26455F"/>
              </a:solidFill>
            </a:ln>
          </p:spPr>
        </p:sp>
        <p:sp>
          <p:nvSpPr>
            <p:cNvPr id="18" name="Rectangle 18"/>
            <p:cNvSpPr/>
            <p:nvPr/>
          </p:nvSpPr>
          <p:spPr>
            <a:xfrm>
              <a:off x="609600" y="2762250"/>
              <a:ext cx="57150" cy="2457450"/>
            </a:xfrm>
            <a:prstGeom prst="roundRect">
              <a:avLst>
                <a:gd name="adj" fmla="val 50000"/>
              </a:avLst>
            </a:prstGeom>
            <a:solidFill>
              <a:schemeClr val="accent2"/>
            </a:solidFill>
            <a:ln>
              <a:noFill/>
            </a:ln>
          </p:spPr>
        </p:sp>
        <p:sp>
          <p:nvSpPr>
            <p:cNvPr id="19" name="TextBox 19"/>
            <p:cNvSpPr txBox="1"/>
            <p:nvPr/>
          </p:nvSpPr>
          <p:spPr>
            <a:xfrm>
              <a:off x="870204" y="2975610"/>
              <a:ext cx="2825859"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In-domain forecasting: lower MSE</a:t>
              </a:r>
            </a:p>
          </p:txBody>
        </p:sp>
        <p:sp>
          <p:nvSpPr>
            <p:cNvPr id="20" name="TextBox 20"/>
            <p:cNvSpPr txBox="1"/>
            <p:nvPr/>
          </p:nvSpPr>
          <p:spPr>
            <a:xfrm>
              <a:off x="871156" y="3262551"/>
              <a:ext cx="353426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TimeSiam cuts average mean squared error on strong</a:t>
              </a:r>
            </a:p>
          </p:txBody>
        </p:sp>
        <p:sp>
          <p:nvSpPr>
            <p:cNvPr id="21" name="TextBox 21"/>
            <p:cNvSpPr txBox="1"/>
            <p:nvPr/>
          </p:nvSpPr>
          <p:spPr>
            <a:xfrm>
              <a:off x="871156" y="3453051"/>
              <a:ext cx="349782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backbones that already forecast well from scratch.</a:t>
              </a:r>
            </a:p>
          </p:txBody>
        </p:sp>
        <p:sp>
          <p:nvSpPr>
            <p:cNvPr id="22" name="Rectangle 22"/>
            <p:cNvSpPr/>
            <p:nvPr/>
          </p:nvSpPr>
          <p:spPr>
            <a:xfrm>
              <a:off x="2857500" y="4114800"/>
              <a:ext cx="2286000" cy="247650"/>
            </a:xfrm>
            <a:prstGeom prst="roundRect">
              <a:avLst>
                <a:gd name="adj" fmla="val 23077"/>
              </a:avLst>
            </a:prstGeom>
            <a:solidFill>
              <a:srgbClr val="0E2334"/>
            </a:solidFill>
            <a:ln w="9525">
              <a:solidFill>
                <a:srgbClr val="26455F"/>
              </a:solidFill>
            </a:ln>
          </p:spPr>
        </p:sp>
        <p:sp>
          <p:nvSpPr>
            <p:cNvPr id="23" name="Rectangle 23"/>
            <p:cNvSpPr/>
            <p:nvPr/>
          </p:nvSpPr>
          <p:spPr>
            <a:xfrm>
              <a:off x="2857500" y="4114800"/>
              <a:ext cx="1857375" cy="247650"/>
            </a:xfrm>
            <a:prstGeom prst="roundRect">
              <a:avLst>
                <a:gd name="adj" fmla="val 23077"/>
              </a:avLst>
            </a:prstGeom>
            <a:solidFill>
              <a:srgbClr val="48C78E"/>
            </a:solidFill>
            <a:ln>
              <a:noFill/>
            </a:ln>
          </p:spPr>
        </p:sp>
        <p:sp>
          <p:nvSpPr>
            <p:cNvPr id="24" name="TextBox 24"/>
            <p:cNvSpPr txBox="1"/>
            <p:nvPr/>
          </p:nvSpPr>
          <p:spPr>
            <a:xfrm>
              <a:off x="2066342" y="4193858"/>
              <a:ext cx="682192"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PatchTST</a:t>
              </a:r>
            </a:p>
          </p:txBody>
        </p:sp>
        <p:sp>
          <p:nvSpPr>
            <p:cNvPr id="25" name="TextBox 25"/>
            <p:cNvSpPr txBox="1"/>
            <p:nvPr/>
          </p:nvSpPr>
          <p:spPr>
            <a:xfrm>
              <a:off x="4804791" y="4193858"/>
              <a:ext cx="448503"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-5.7%</a:t>
              </a:r>
            </a:p>
          </p:txBody>
        </p:sp>
        <p:sp>
          <p:nvSpPr>
            <p:cNvPr id="26" name="Rectangle 26"/>
            <p:cNvSpPr/>
            <p:nvPr/>
          </p:nvSpPr>
          <p:spPr>
            <a:xfrm>
              <a:off x="2857500" y="4476750"/>
              <a:ext cx="2286000" cy="247650"/>
            </a:xfrm>
            <a:prstGeom prst="roundRect">
              <a:avLst>
                <a:gd name="adj" fmla="val 23077"/>
              </a:avLst>
            </a:prstGeom>
            <a:solidFill>
              <a:srgbClr val="0E2334"/>
            </a:solidFill>
            <a:ln w="9525">
              <a:solidFill>
                <a:srgbClr val="26455F"/>
              </a:solidFill>
            </a:ln>
          </p:spPr>
        </p:sp>
        <p:sp>
          <p:nvSpPr>
            <p:cNvPr id="27" name="Rectangle 27"/>
            <p:cNvSpPr/>
            <p:nvPr/>
          </p:nvSpPr>
          <p:spPr>
            <a:xfrm>
              <a:off x="2857500" y="4476750"/>
              <a:ext cx="809625" cy="247650"/>
            </a:xfrm>
            <a:prstGeom prst="roundRect">
              <a:avLst>
                <a:gd name="adj" fmla="val 23077"/>
              </a:avLst>
            </a:prstGeom>
            <a:solidFill>
              <a:srgbClr val="34D3C0"/>
            </a:solidFill>
            <a:ln>
              <a:noFill/>
            </a:ln>
          </p:spPr>
        </p:sp>
        <p:sp>
          <p:nvSpPr>
            <p:cNvPr id="28" name="TextBox 28"/>
            <p:cNvSpPr txBox="1"/>
            <p:nvPr/>
          </p:nvSpPr>
          <p:spPr>
            <a:xfrm>
              <a:off x="1761139" y="4555808"/>
              <a:ext cx="987395"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iTransformer</a:t>
              </a:r>
            </a:p>
          </p:txBody>
        </p:sp>
        <p:sp>
          <p:nvSpPr>
            <p:cNvPr id="29" name="TextBox 29"/>
            <p:cNvSpPr txBox="1"/>
            <p:nvPr/>
          </p:nvSpPr>
          <p:spPr>
            <a:xfrm>
              <a:off x="3757041" y="4555808"/>
              <a:ext cx="448503" cy="205359"/>
            </a:xfrm>
            <a:prstGeom prst="rect">
              <a:avLst/>
            </a:prstGeom>
            <a:noFill/>
            <a:ln>
              <a:noFill/>
            </a:ln>
          </p:spPr>
          <p:txBody>
            <a:bodyPr wrap="none" lIns="0" tIns="0" rIns="0" bIns="0" anchor="t" anchorCtr="0">
              <a:spAutoFit/>
            </a:bodyPr>
            <a:lstStyle/>
            <a:p>
              <a:pPr algn="l"/>
              <a:r>
                <a:rPr lang="en-US" sz="1050" b="1" dirty="0">
                  <a:solidFill>
                    <a:srgbClr val="34D3C0"/>
                  </a:solidFill>
                  <a:latin typeface="+mn-lt"/>
                  <a:ea typeface="+mn-ea"/>
                  <a:cs typeface="+mn-cs"/>
                </a:rPr>
                <a:t>-2.5%</a:t>
              </a:r>
            </a:p>
          </p:txBody>
        </p:sp>
        <p:sp>
          <p:nvSpPr>
            <p:cNvPr id="30" name="TextBox 30"/>
            <p:cNvSpPr txBox="1"/>
            <p:nvPr/>
          </p:nvSpPr>
          <p:spPr>
            <a:xfrm>
              <a:off x="871538" y="4870847"/>
              <a:ext cx="3138553" cy="183356"/>
            </a:xfrm>
            <a:prstGeom prst="rect">
              <a:avLst/>
            </a:prstGeom>
            <a:noFill/>
            <a:ln>
              <a:noFill/>
            </a:ln>
          </p:spPr>
          <p:txBody>
            <a:bodyPr wrap="none" lIns="0" tIns="0" rIns="0" bIns="0" anchor="t" anchorCtr="0">
              <a:spAutoFit/>
            </a:bodyPr>
            <a:lstStyle/>
            <a:p>
              <a:pPr algn="l"/>
              <a:r>
                <a:rPr lang="en-US" sz="940" b="1" dirty="0">
                  <a:solidFill>
                    <a:srgbClr val="6E869C"/>
                  </a:solidFill>
                  <a:latin typeface="+mn-lt"/>
                  <a:ea typeface="+mn-ea"/>
                  <a:cs typeface="+mn-cs"/>
                </a:rPr>
                <a:t>average MSE reduction vs training from scratch</a:t>
              </a:r>
            </a:p>
          </p:txBody>
        </p:sp>
      </p:grpSp>
      <p:grpSp>
        <p:nvGrpSpPr>
          <p:cNvPr id="38" name="Group 38"/>
          <p:cNvGrpSpPr/>
          <p:nvPr/>
        </p:nvGrpSpPr>
        <p:grpSpPr>
          <a:xfrm>
            <a:off x="6248400" y="2762250"/>
            <a:ext cx="5334000" cy="1143000"/>
            <a:chOff x="6248400" y="2762250"/>
            <a:chExt cx="5334000" cy="1143000"/>
          </a:xfrm>
        </p:grpSpPr>
        <p:sp>
          <p:nvSpPr>
            <p:cNvPr id="32" name="Rectangle 32"/>
            <p:cNvSpPr/>
            <p:nvPr/>
          </p:nvSpPr>
          <p:spPr>
            <a:xfrm>
              <a:off x="6248400" y="2762250"/>
              <a:ext cx="5334000" cy="1143000"/>
            </a:xfrm>
            <a:prstGeom prst="roundRect">
              <a:avLst>
                <a:gd name="adj" fmla="val 11667"/>
              </a:avLst>
            </a:prstGeom>
            <a:solidFill>
              <a:schemeClr val="accent5"/>
            </a:solidFill>
            <a:ln w="14288">
              <a:solidFill>
                <a:srgbClr val="26455F"/>
              </a:solidFill>
            </a:ln>
          </p:spPr>
        </p:sp>
        <p:sp>
          <p:nvSpPr>
            <p:cNvPr id="33" name="Rectangle 33"/>
            <p:cNvSpPr/>
            <p:nvPr/>
          </p:nvSpPr>
          <p:spPr>
            <a:xfrm>
              <a:off x="6248400" y="2762250"/>
              <a:ext cx="57150" cy="1143000"/>
            </a:xfrm>
            <a:prstGeom prst="roundRect">
              <a:avLst>
                <a:gd name="adj" fmla="val 50000"/>
              </a:avLst>
            </a:prstGeom>
            <a:solidFill>
              <a:srgbClr val="34D3C0"/>
            </a:solidFill>
            <a:ln>
              <a:noFill/>
            </a:ln>
          </p:spPr>
        </p:sp>
        <p:sp>
          <p:nvSpPr>
            <p:cNvPr id="34" name="TextBox 34"/>
            <p:cNvSpPr txBox="1"/>
            <p:nvPr/>
          </p:nvSpPr>
          <p:spPr>
            <a:xfrm>
              <a:off x="6509004" y="2975610"/>
              <a:ext cx="3063786"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In-domain classification: +11.5% acc</a:t>
              </a:r>
            </a:p>
          </p:txBody>
        </p:sp>
        <p:sp>
          <p:nvSpPr>
            <p:cNvPr id="35" name="TextBox 35"/>
            <p:cNvSpPr txBox="1"/>
            <p:nvPr/>
          </p:nvSpPr>
          <p:spPr>
            <a:xfrm>
              <a:off x="6509956" y="3281601"/>
              <a:ext cx="381543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Average accuracy rises 11.5% over random initialization,</a:t>
              </a:r>
            </a:p>
          </p:txBody>
        </p:sp>
        <p:sp>
          <p:nvSpPr>
            <p:cNvPr id="36" name="TextBox 36"/>
            <p:cNvSpPr txBox="1"/>
            <p:nvPr/>
          </p:nvSpPr>
          <p:spPr>
            <a:xfrm>
              <a:off x="6509956" y="3472101"/>
              <a:ext cx="318509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beating eight strong self-supervised baselines.</a:t>
              </a:r>
            </a:p>
          </p:txBody>
        </p:sp>
        <p:sp>
          <p:nvSpPr>
            <p:cNvPr id="37" name="TextBox 37"/>
            <p:cNvSpPr txBox="1"/>
            <p:nvPr/>
          </p:nvSpPr>
          <p:spPr>
            <a:xfrm>
              <a:off x="6510147" y="3685699"/>
              <a:ext cx="3248231" cy="190690"/>
            </a:xfrm>
            <a:prstGeom prst="rect">
              <a:avLst/>
            </a:prstGeom>
            <a:noFill/>
            <a:ln>
              <a:noFill/>
            </a:ln>
          </p:spPr>
          <p:txBody>
            <a:bodyPr wrap="none" lIns="0" tIns="0" rIns="0" bIns="0" anchor="t" anchorCtr="0">
              <a:spAutoFit/>
            </a:bodyPr>
            <a:lstStyle/>
            <a:p>
              <a:pPr algn="l"/>
              <a:r>
                <a:rPr lang="en-US" sz="980" b="1" dirty="0">
                  <a:solidFill>
                    <a:srgbClr val="34D3C0"/>
                  </a:solidFill>
                  <a:latin typeface="Consolas"/>
                  <a:ea typeface="Consolas"/>
                  <a:cs typeface="Consolas"/>
                </a:rPr>
                <a:t>+11.5% over random init · beats 8 SSL baselines</a:t>
              </a:r>
            </a:p>
          </p:txBody>
        </p:sp>
      </p:grpSp>
      <p:grpSp>
        <p:nvGrpSpPr>
          <p:cNvPr id="45" name="Group 45"/>
          <p:cNvGrpSpPr/>
          <p:nvPr/>
        </p:nvGrpSpPr>
        <p:grpSpPr>
          <a:xfrm>
            <a:off x="6248400" y="4057650"/>
            <a:ext cx="5334000" cy="1162050"/>
            <a:chOff x="6248400" y="4057650"/>
            <a:chExt cx="5334000" cy="1162050"/>
          </a:xfrm>
        </p:grpSpPr>
        <p:sp>
          <p:nvSpPr>
            <p:cNvPr id="39" name="Rectangle 39"/>
            <p:cNvSpPr/>
            <p:nvPr/>
          </p:nvSpPr>
          <p:spPr>
            <a:xfrm>
              <a:off x="6248400" y="4057650"/>
              <a:ext cx="5334000" cy="1162050"/>
            </a:xfrm>
            <a:prstGeom prst="roundRect">
              <a:avLst>
                <a:gd name="adj" fmla="val 11475"/>
              </a:avLst>
            </a:prstGeom>
            <a:solidFill>
              <a:srgbClr val="2A2417"/>
            </a:solidFill>
            <a:ln w="14288">
              <a:solidFill>
                <a:srgbClr val="F2C14E"/>
              </a:solidFill>
            </a:ln>
          </p:spPr>
        </p:sp>
        <p:sp>
          <p:nvSpPr>
            <p:cNvPr id="40" name="Rectangle 40"/>
            <p:cNvSpPr/>
            <p:nvPr/>
          </p:nvSpPr>
          <p:spPr>
            <a:xfrm>
              <a:off x="6248400" y="4057650"/>
              <a:ext cx="57150" cy="1162050"/>
            </a:xfrm>
            <a:prstGeom prst="roundRect">
              <a:avLst>
                <a:gd name="adj" fmla="val 50000"/>
              </a:avLst>
            </a:prstGeom>
            <a:solidFill>
              <a:srgbClr val="F2C14E"/>
            </a:solidFill>
            <a:ln>
              <a:noFill/>
            </a:ln>
          </p:spPr>
        </p:sp>
        <p:sp>
          <p:nvSpPr>
            <p:cNvPr id="41" name="TextBox 41"/>
            <p:cNvSpPr txBox="1"/>
            <p:nvPr/>
          </p:nvSpPr>
          <p:spPr>
            <a:xfrm>
              <a:off x="6509004" y="4271010"/>
              <a:ext cx="2723540"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Cross-domain can beat in-domain</a:t>
              </a:r>
            </a:p>
          </p:txBody>
        </p:sp>
        <p:sp>
          <p:nvSpPr>
            <p:cNvPr id="42" name="TextBox 42"/>
            <p:cNvSpPr txBox="1"/>
            <p:nvPr/>
          </p:nvSpPr>
          <p:spPr>
            <a:xfrm>
              <a:off x="6509956" y="4577001"/>
              <a:ext cx="3529640"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The most striking finding: pre-training on the large,</a:t>
              </a:r>
            </a:p>
          </p:txBody>
        </p:sp>
        <p:sp>
          <p:nvSpPr>
            <p:cNvPr id="43" name="TextBox 43"/>
            <p:cNvSpPr txBox="1"/>
            <p:nvPr/>
          </p:nvSpPr>
          <p:spPr>
            <a:xfrm>
              <a:off x="6509956" y="4767501"/>
              <a:ext cx="4003909"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diverse TSLD-1G and fine-tuning elsewhere sometimes beats</a:t>
              </a:r>
            </a:p>
          </p:txBody>
        </p:sp>
        <p:sp>
          <p:nvSpPr>
            <p:cNvPr id="44" name="TextBox 44"/>
            <p:cNvSpPr txBox="1"/>
            <p:nvPr/>
          </p:nvSpPr>
          <p:spPr>
            <a:xfrm>
              <a:off x="6509956" y="4958001"/>
              <a:ext cx="1927410"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even in-domain pre-training.</a:t>
              </a:r>
            </a:p>
          </p:txBody>
        </p:sp>
      </p:grpSp>
      <p:sp>
        <p:nvSpPr>
          <p:cNvPr id="46" name="cue_s07_c1_results_consistent_strong" title="cue_s07_c1_results_consistent_strong" descr="cue_s07_c1_results_consistent_strong The results are consistent and strong."/>
          <p:cNvSpPr/>
          <p:nvPr/>
        </p:nvSpPr>
        <p:spPr>
          <a:xfrm>
            <a:off x="609600" y="1504645"/>
            <a:ext cx="109728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7_c2_in_domain_forecasting_timesiam_cuts" title="cue_s07_c2_in_domain_forecasting_timesiam_cuts" descr="cue_s07_c2_in_domain_forecasting_timesiam_cuts On in-domain forecasting, TimeSiam cuts average mean squared error by five point seven percent with a PatchTST backbone and two point five percent with iTransformer, and remember these backbones already forecast very well from scratch."/>
          <p:cNvSpPr/>
          <p:nvPr/>
        </p:nvSpPr>
        <p:spPr>
          <a:xfrm>
            <a:off x="609600" y="2762402"/>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7_c3_in_domain_classification_lifts_avera" title="cue_s07_c3_in_domain_classification_lifts_avera" descr="cue_s07_c3_in_domain_classification_lifts_avera On in-domain classification, it lifts average accuracy by eleven point five percent over random initialization. Across all these settings TimeSiam beats eight strong self-supervised baselines."/>
          <p:cNvSpPr/>
          <p:nvPr/>
        </p:nvSpPr>
        <p:spPr>
          <a:xfrm>
            <a:off x="6248399" y="2762402"/>
            <a:ext cx="53340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7_c4_perhaps_most_striking_finding_cross" title="cue_s07_c4_perhaps_most_striking_finding_cross" descr="cue_s07_c4_perhaps_most_striking_finding_cross Perhaps the most striking finding is in cross-domain transfer: pre-training on the large, diverse TSLD-1G dataset and fine-tuning elsewhere sometimes beats even in-domain pre-training, which confirms that scale and diversity of pre-training data really pay off"/>
          <p:cNvSpPr/>
          <p:nvPr/>
        </p:nvSpPr>
        <p:spPr>
          <a:xfrm>
            <a:off x="6248399" y="4057878"/>
            <a:ext cx="5334000" cy="11617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59689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ABLATION STUDY</a:t>
            </a:r>
          </a:p>
        </p:txBody>
      </p:sp>
      <p:sp>
        <p:nvSpPr>
          <p:cNvPr id="4" name="TextBox 4"/>
          <p:cNvSpPr txBox="1"/>
          <p:nvPr/>
        </p:nvSpPr>
        <p:spPr>
          <a:xfrm>
            <a:off x="598170" y="804862"/>
            <a:ext cx="591700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Which design choices carry the weight</a:t>
            </a:r>
          </a:p>
        </p:txBody>
      </p:sp>
      <p:grpSp>
        <p:nvGrpSpPr>
          <p:cNvPr id="13" name="Group 13"/>
          <p:cNvGrpSpPr/>
          <p:nvPr/>
        </p:nvGrpSpPr>
        <p:grpSpPr>
          <a:xfrm>
            <a:off x="609600" y="1504950"/>
            <a:ext cx="5334000" cy="1428750"/>
            <a:chOff x="609600" y="1504950"/>
            <a:chExt cx="5334000" cy="1428750"/>
          </a:xfrm>
        </p:grpSpPr>
        <p:sp>
          <p:nvSpPr>
            <p:cNvPr id="5" name="Rectangle 5"/>
            <p:cNvSpPr/>
            <p:nvPr/>
          </p:nvSpPr>
          <p:spPr>
            <a:xfrm>
              <a:off x="609600" y="1504950"/>
              <a:ext cx="5334000" cy="1428750"/>
            </a:xfrm>
            <a:prstGeom prst="roundRect">
              <a:avLst>
                <a:gd name="adj" fmla="val 9333"/>
              </a:avLst>
            </a:prstGeom>
            <a:solidFill>
              <a:schemeClr val="accent5"/>
            </a:solidFill>
            <a:ln w="14288">
              <a:solidFill>
                <a:srgbClr val="26455F"/>
              </a:solidFill>
            </a:ln>
          </p:spPr>
        </p:sp>
        <p:sp>
          <p:nvSpPr>
            <p:cNvPr id="6" name="Rectangle 6"/>
            <p:cNvSpPr/>
            <p:nvPr/>
          </p:nvSpPr>
          <p:spPr>
            <a:xfrm>
              <a:off x="609600" y="1504950"/>
              <a:ext cx="57150" cy="1428750"/>
            </a:xfrm>
            <a:prstGeom prst="roundRect">
              <a:avLst>
                <a:gd name="adj" fmla="val 50000"/>
              </a:avLst>
            </a:prstGeom>
            <a:solidFill>
              <a:schemeClr val="accent2"/>
            </a:solidFill>
            <a:ln>
              <a:noFill/>
            </a:ln>
          </p:spPr>
        </p:sp>
        <p:sp>
          <p:nvSpPr>
            <p:cNvPr id="7" name="TextBox 7"/>
            <p:cNvSpPr txBox="1"/>
            <p:nvPr/>
          </p:nvSpPr>
          <p:spPr>
            <a:xfrm>
              <a:off x="870014" y="1733312"/>
              <a:ext cx="2363535"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Controlled study on Traffic</a:t>
              </a:r>
            </a:p>
          </p:txBody>
        </p:sp>
        <p:sp>
          <p:nvSpPr>
            <p:cNvPr id="8" name="TextBox 8"/>
            <p:cNvSpPr txBox="1"/>
            <p:nvPr/>
          </p:nvSpPr>
          <p:spPr>
            <a:xfrm>
              <a:off x="870966" y="2039302"/>
              <a:ext cx="393513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Careful ablations on the Traffic benchmark isolate which</a:t>
              </a:r>
            </a:p>
          </p:txBody>
        </p:sp>
        <p:sp>
          <p:nvSpPr>
            <p:cNvPr id="9" name="TextBox 9"/>
            <p:cNvSpPr txBox="1"/>
            <p:nvPr/>
          </p:nvSpPr>
          <p:spPr>
            <a:xfrm>
              <a:off x="870966" y="2239328"/>
              <a:ext cx="313674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design choices actually matter for TimeSiam.</a:t>
              </a:r>
            </a:p>
          </p:txBody>
        </p:sp>
        <p:sp>
          <p:nvSpPr>
            <p:cNvPr id="10" name="Rectangle 10"/>
            <p:cNvSpPr/>
            <p:nvPr/>
          </p:nvSpPr>
          <p:spPr>
            <a:xfrm>
              <a:off x="876300" y="2552700"/>
              <a:ext cx="4457700" cy="266700"/>
            </a:xfrm>
            <a:prstGeom prst="roundRect">
              <a:avLst>
                <a:gd name="adj" fmla="val 28571"/>
              </a:avLst>
            </a:prstGeom>
            <a:solidFill>
              <a:schemeClr val="accent6"/>
            </a:solidFill>
            <a:ln w="14288">
              <a:solidFill>
                <a:srgbClr val="26455F"/>
              </a:solidFill>
            </a:ln>
          </p:spPr>
        </p:sp>
        <p:sp>
          <p:nvSpPr>
            <p:cNvPr id="11" name="Ellipse 11"/>
            <p:cNvSpPr/>
            <p:nvPr/>
          </p:nvSpPr>
          <p:spPr>
            <a:xfrm>
              <a:off x="1000125" y="2638425"/>
              <a:ext cx="95250" cy="95250"/>
            </a:xfrm>
            <a:prstGeom prst="ellipse">
              <a:avLst/>
            </a:prstGeom>
            <a:solidFill>
              <a:schemeClr val="accent2"/>
            </a:solidFill>
            <a:ln>
              <a:noFill/>
            </a:ln>
          </p:spPr>
        </p:sp>
        <p:sp>
          <p:nvSpPr>
            <p:cNvPr id="12" name="TextBox 12"/>
            <p:cNvSpPr txBox="1"/>
            <p:nvPr/>
          </p:nvSpPr>
          <p:spPr>
            <a:xfrm>
              <a:off x="1194626" y="2625804"/>
              <a:ext cx="3121103"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Traffic benchmark · one factor at a time</a:t>
              </a:r>
            </a:p>
          </p:txBody>
        </p:sp>
      </p:grpSp>
      <p:grpSp>
        <p:nvGrpSpPr>
          <p:cNvPr id="28" name="Group 28"/>
          <p:cNvGrpSpPr/>
          <p:nvPr/>
        </p:nvGrpSpPr>
        <p:grpSpPr>
          <a:xfrm>
            <a:off x="609600" y="3086100"/>
            <a:ext cx="5334000" cy="2152650"/>
            <a:chOff x="609600" y="3086100"/>
            <a:chExt cx="5334000" cy="2152650"/>
          </a:xfrm>
        </p:grpSpPr>
        <p:sp>
          <p:nvSpPr>
            <p:cNvPr id="14" name="Rectangle 14"/>
            <p:cNvSpPr/>
            <p:nvPr/>
          </p:nvSpPr>
          <p:spPr>
            <a:xfrm>
              <a:off x="609600" y="3086100"/>
              <a:ext cx="5334000" cy="2152650"/>
            </a:xfrm>
            <a:prstGeom prst="roundRect">
              <a:avLst>
                <a:gd name="adj" fmla="val 6195"/>
              </a:avLst>
            </a:prstGeom>
            <a:solidFill>
              <a:srgbClr val="0F2E2B"/>
            </a:solidFill>
            <a:ln w="14288">
              <a:solidFill>
                <a:srgbClr val="48C78E"/>
              </a:solidFill>
            </a:ln>
          </p:spPr>
        </p:sp>
        <p:sp>
          <p:nvSpPr>
            <p:cNvPr id="15" name="Rectangle 15"/>
            <p:cNvSpPr/>
            <p:nvPr/>
          </p:nvSpPr>
          <p:spPr>
            <a:xfrm>
              <a:off x="609600" y="3086100"/>
              <a:ext cx="57150" cy="2152650"/>
            </a:xfrm>
            <a:prstGeom prst="roundRect">
              <a:avLst>
                <a:gd name="adj" fmla="val 50000"/>
              </a:avLst>
            </a:prstGeom>
            <a:solidFill>
              <a:srgbClr val="48C78E"/>
            </a:solidFill>
            <a:ln>
              <a:noFill/>
            </a:ln>
          </p:spPr>
        </p:sp>
        <p:sp>
          <p:nvSpPr>
            <p:cNvPr id="16" name="TextBox 16"/>
            <p:cNvSpPr txBox="1"/>
            <p:nvPr/>
          </p:nvSpPr>
          <p:spPr>
            <a:xfrm>
              <a:off x="870014" y="3314462"/>
              <a:ext cx="2972152"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Past-to-current beats self-recon</a:t>
              </a:r>
            </a:p>
          </p:txBody>
        </p:sp>
        <p:sp>
          <p:nvSpPr>
            <p:cNvPr id="17" name="TextBox 17"/>
            <p:cNvSpPr txBox="1"/>
            <p:nvPr/>
          </p:nvSpPr>
          <p:spPr>
            <a:xfrm>
              <a:off x="870966" y="3620452"/>
              <a:ext cx="3591668"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Reconstructing the current window from a past one</a:t>
              </a:r>
            </a:p>
          </p:txBody>
        </p:sp>
        <p:sp>
          <p:nvSpPr>
            <p:cNvPr id="18" name="TextBox 18"/>
            <p:cNvSpPr txBox="1"/>
            <p:nvPr/>
          </p:nvSpPr>
          <p:spPr>
            <a:xfrm>
              <a:off x="870966" y="3820478"/>
              <a:ext cx="3791807"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clearly beats plain self-reconstruction, validating the</a:t>
              </a:r>
            </a:p>
          </p:txBody>
        </p:sp>
        <p:sp>
          <p:nvSpPr>
            <p:cNvPr id="19" name="TextBox 19"/>
            <p:cNvSpPr txBox="1"/>
            <p:nvPr/>
          </p:nvSpPr>
          <p:spPr>
            <a:xfrm>
              <a:off x="870966" y="4020502"/>
              <a:ext cx="1301816"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core Siamese idea.</a:t>
              </a:r>
            </a:p>
          </p:txBody>
        </p:sp>
        <p:sp>
          <p:nvSpPr>
            <p:cNvPr id="20" name="Rectangle 20"/>
            <p:cNvSpPr/>
            <p:nvPr/>
          </p:nvSpPr>
          <p:spPr>
            <a:xfrm>
              <a:off x="3048000" y="4495800"/>
              <a:ext cx="2095500" cy="228600"/>
            </a:xfrm>
            <a:prstGeom prst="roundRect">
              <a:avLst>
                <a:gd name="adj" fmla="val 25000"/>
              </a:avLst>
            </a:prstGeom>
            <a:solidFill>
              <a:srgbClr val="0E2334"/>
            </a:solidFill>
            <a:ln w="9525">
              <a:solidFill>
                <a:srgbClr val="26455F"/>
              </a:solidFill>
            </a:ln>
          </p:spPr>
        </p:sp>
        <p:sp>
          <p:nvSpPr>
            <p:cNvPr id="21" name="Rectangle 21"/>
            <p:cNvSpPr/>
            <p:nvPr/>
          </p:nvSpPr>
          <p:spPr>
            <a:xfrm>
              <a:off x="3048000" y="4495800"/>
              <a:ext cx="1885950" cy="228600"/>
            </a:xfrm>
            <a:prstGeom prst="roundRect">
              <a:avLst>
                <a:gd name="adj" fmla="val 25000"/>
              </a:avLst>
            </a:prstGeom>
            <a:solidFill>
              <a:srgbClr val="48C78E"/>
            </a:solidFill>
            <a:ln>
              <a:noFill/>
            </a:ln>
          </p:spPr>
        </p:sp>
        <p:sp>
          <p:nvSpPr>
            <p:cNvPr id="22" name="TextBox 22"/>
            <p:cNvSpPr txBox="1"/>
            <p:nvPr/>
          </p:nvSpPr>
          <p:spPr>
            <a:xfrm>
              <a:off x="1778122" y="4561522"/>
              <a:ext cx="1160912"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past -&gt; current</a:t>
              </a:r>
            </a:p>
          </p:txBody>
        </p:sp>
        <p:sp>
          <p:nvSpPr>
            <p:cNvPr id="23" name="TextBox 23"/>
            <p:cNvSpPr txBox="1"/>
            <p:nvPr/>
          </p:nvSpPr>
          <p:spPr>
            <a:xfrm>
              <a:off x="5023866" y="4561522"/>
              <a:ext cx="337189"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best</a:t>
              </a:r>
            </a:p>
          </p:txBody>
        </p:sp>
        <p:sp>
          <p:nvSpPr>
            <p:cNvPr id="24" name="Rectangle 24"/>
            <p:cNvSpPr/>
            <p:nvPr/>
          </p:nvSpPr>
          <p:spPr>
            <a:xfrm>
              <a:off x="3048000" y="4819650"/>
              <a:ext cx="2095500" cy="228600"/>
            </a:xfrm>
            <a:prstGeom prst="roundRect">
              <a:avLst>
                <a:gd name="adj" fmla="val 25000"/>
              </a:avLst>
            </a:prstGeom>
            <a:solidFill>
              <a:srgbClr val="0E2334"/>
            </a:solidFill>
            <a:ln w="9525">
              <a:solidFill>
                <a:srgbClr val="26455F"/>
              </a:solidFill>
            </a:ln>
          </p:spPr>
        </p:sp>
        <p:sp>
          <p:nvSpPr>
            <p:cNvPr id="25" name="Rectangle 25"/>
            <p:cNvSpPr/>
            <p:nvPr/>
          </p:nvSpPr>
          <p:spPr>
            <a:xfrm>
              <a:off x="3048000" y="4819650"/>
              <a:ext cx="1152525" cy="228600"/>
            </a:xfrm>
            <a:prstGeom prst="roundRect">
              <a:avLst>
                <a:gd name="adj" fmla="val 25000"/>
              </a:avLst>
            </a:prstGeom>
            <a:solidFill>
              <a:srgbClr val="F2685C"/>
            </a:solidFill>
            <a:ln>
              <a:noFill/>
            </a:ln>
          </p:spPr>
        </p:sp>
        <p:sp>
          <p:nvSpPr>
            <p:cNvPr id="26" name="TextBox 26"/>
            <p:cNvSpPr txBox="1"/>
            <p:nvPr/>
          </p:nvSpPr>
          <p:spPr>
            <a:xfrm>
              <a:off x="2149169" y="4885372"/>
              <a:ext cx="789865"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self-recon</a:t>
              </a:r>
            </a:p>
          </p:txBody>
        </p:sp>
        <p:sp>
          <p:nvSpPr>
            <p:cNvPr id="27" name="TextBox 27"/>
            <p:cNvSpPr txBox="1"/>
            <p:nvPr/>
          </p:nvSpPr>
          <p:spPr>
            <a:xfrm>
              <a:off x="4290441" y="4885372"/>
              <a:ext cx="448503" cy="205359"/>
            </a:xfrm>
            <a:prstGeom prst="rect">
              <a:avLst/>
            </a:prstGeom>
            <a:noFill/>
            <a:ln>
              <a:noFill/>
            </a:ln>
          </p:spPr>
          <p:txBody>
            <a:bodyPr wrap="none" lIns="0" tIns="0" rIns="0" bIns="0" anchor="t" anchorCtr="0">
              <a:spAutoFit/>
            </a:bodyPr>
            <a:lstStyle/>
            <a:p>
              <a:pPr algn="l"/>
              <a:r>
                <a:rPr lang="en-US" sz="1050" b="1" dirty="0">
                  <a:solidFill>
                    <a:srgbClr val="F2685C"/>
                  </a:solidFill>
                  <a:latin typeface="+mn-lt"/>
                  <a:ea typeface="+mn-ea"/>
                  <a:cs typeface="+mn-cs"/>
                </a:rPr>
                <a:t>worse</a:t>
              </a:r>
            </a:p>
          </p:txBody>
        </p:sp>
      </p:grpSp>
      <p:grpSp>
        <p:nvGrpSpPr>
          <p:cNvPr id="36" name="Group 36"/>
          <p:cNvGrpSpPr/>
          <p:nvPr/>
        </p:nvGrpSpPr>
        <p:grpSpPr>
          <a:xfrm>
            <a:off x="6248400" y="1504950"/>
            <a:ext cx="5334000" cy="1428750"/>
            <a:chOff x="6248400" y="1504950"/>
            <a:chExt cx="5334000" cy="1428750"/>
          </a:xfrm>
        </p:grpSpPr>
        <p:sp>
          <p:nvSpPr>
            <p:cNvPr id="29" name="Rectangle 29"/>
            <p:cNvSpPr/>
            <p:nvPr/>
          </p:nvSpPr>
          <p:spPr>
            <a:xfrm>
              <a:off x="6248400" y="1504950"/>
              <a:ext cx="5334000" cy="1428750"/>
            </a:xfrm>
            <a:prstGeom prst="roundRect">
              <a:avLst>
                <a:gd name="adj" fmla="val 9333"/>
              </a:avLst>
            </a:prstGeom>
            <a:solidFill>
              <a:srgbClr val="2A2417"/>
            </a:solidFill>
            <a:ln w="14288">
              <a:solidFill>
                <a:srgbClr val="F2C14E"/>
              </a:solidFill>
            </a:ln>
          </p:spPr>
        </p:sp>
        <p:sp>
          <p:nvSpPr>
            <p:cNvPr id="30" name="Rectangle 30"/>
            <p:cNvSpPr/>
            <p:nvPr/>
          </p:nvSpPr>
          <p:spPr>
            <a:xfrm>
              <a:off x="6248400" y="1504950"/>
              <a:ext cx="57150" cy="1428750"/>
            </a:xfrm>
            <a:prstGeom prst="roundRect">
              <a:avLst>
                <a:gd name="adj" fmla="val 50000"/>
              </a:avLst>
            </a:prstGeom>
            <a:solidFill>
              <a:srgbClr val="F2C14E"/>
            </a:solidFill>
            <a:ln>
              <a:noFill/>
            </a:ln>
          </p:spPr>
        </p:sp>
        <p:sp>
          <p:nvSpPr>
            <p:cNvPr id="31" name="TextBox 31"/>
            <p:cNvSpPr txBox="1"/>
            <p:nvPr/>
          </p:nvSpPr>
          <p:spPr>
            <a:xfrm>
              <a:off x="6509004" y="1737360"/>
              <a:ext cx="2571872"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Masking ratio sweet spot ~25%</a:t>
              </a:r>
            </a:p>
          </p:txBody>
        </p:sp>
        <p:sp>
          <p:nvSpPr>
            <p:cNvPr id="32" name="TextBox 32"/>
            <p:cNvSpPr txBox="1"/>
            <p:nvPr/>
          </p:nvSpPr>
          <p:spPr>
            <a:xfrm>
              <a:off x="6509766" y="2039302"/>
              <a:ext cx="3521536"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Masking only 15% makes the task too easy to teach</a:t>
              </a:r>
            </a:p>
          </p:txBody>
        </p:sp>
        <p:sp>
          <p:nvSpPr>
            <p:cNvPr id="33" name="TextBox 33"/>
            <p:cNvSpPr txBox="1"/>
            <p:nvPr/>
          </p:nvSpPr>
          <p:spPr>
            <a:xfrm>
              <a:off x="6509766" y="2239328"/>
              <a:ext cx="3868375"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anything; masking 75% makes it too hard. Around 25% is</a:t>
              </a:r>
            </a:p>
          </p:txBody>
        </p:sp>
        <p:sp>
          <p:nvSpPr>
            <p:cNvPr id="34" name="TextBox 34"/>
            <p:cNvSpPr txBox="1"/>
            <p:nvPr/>
          </p:nvSpPr>
          <p:spPr>
            <a:xfrm>
              <a:off x="6509766" y="2439352"/>
              <a:ext cx="399383"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best.</a:t>
              </a:r>
            </a:p>
          </p:txBody>
        </p:sp>
        <p:sp>
          <p:nvSpPr>
            <p:cNvPr id="35" name="TextBox 35"/>
            <p:cNvSpPr txBox="1"/>
            <p:nvPr/>
          </p:nvSpPr>
          <p:spPr>
            <a:xfrm>
              <a:off x="6510147" y="2714149"/>
              <a:ext cx="2607231" cy="190690"/>
            </a:xfrm>
            <a:prstGeom prst="rect">
              <a:avLst/>
            </a:prstGeom>
            <a:noFill/>
            <a:ln>
              <a:noFill/>
            </a:ln>
          </p:spPr>
          <p:txBody>
            <a:bodyPr wrap="none" lIns="0" tIns="0" rIns="0" bIns="0" anchor="t" anchorCtr="0">
              <a:spAutoFit/>
            </a:bodyPr>
            <a:lstStyle/>
            <a:p>
              <a:pPr algn="l"/>
              <a:r>
                <a:rPr lang="en-US" sz="980" b="1" dirty="0">
                  <a:solidFill>
                    <a:srgbClr val="F2C14E"/>
                  </a:solidFill>
                  <a:latin typeface="Consolas"/>
                  <a:ea typeface="Consolas"/>
                  <a:cs typeface="Consolas"/>
                </a:rPr>
                <a:t>15% too easy | 25% best | 75% too hard</a:t>
              </a:r>
            </a:p>
          </p:txBody>
        </p:sp>
      </p:grpSp>
      <p:grpSp>
        <p:nvGrpSpPr>
          <p:cNvPr id="51" name="Group 51"/>
          <p:cNvGrpSpPr/>
          <p:nvPr/>
        </p:nvGrpSpPr>
        <p:grpSpPr>
          <a:xfrm>
            <a:off x="6248400" y="3086100"/>
            <a:ext cx="5334000" cy="2152650"/>
            <a:chOff x="6248400" y="3086100"/>
            <a:chExt cx="5334000" cy="2152650"/>
          </a:xfrm>
        </p:grpSpPr>
        <p:sp>
          <p:nvSpPr>
            <p:cNvPr id="37" name="Rectangle 37"/>
            <p:cNvSpPr/>
            <p:nvPr/>
          </p:nvSpPr>
          <p:spPr>
            <a:xfrm>
              <a:off x="6248400" y="3086100"/>
              <a:ext cx="5334000" cy="2152650"/>
            </a:xfrm>
            <a:prstGeom prst="roundRect">
              <a:avLst>
                <a:gd name="adj" fmla="val 6195"/>
              </a:avLst>
            </a:prstGeom>
            <a:solidFill>
              <a:schemeClr val="accent5"/>
            </a:solidFill>
            <a:ln w="14288">
              <a:solidFill>
                <a:srgbClr val="26455F"/>
              </a:solidFill>
            </a:ln>
          </p:spPr>
        </p:sp>
        <p:sp>
          <p:nvSpPr>
            <p:cNvPr id="38" name="Rectangle 38"/>
            <p:cNvSpPr/>
            <p:nvPr/>
          </p:nvSpPr>
          <p:spPr>
            <a:xfrm>
              <a:off x="6248400" y="3086100"/>
              <a:ext cx="57150" cy="2152650"/>
            </a:xfrm>
            <a:prstGeom prst="roundRect">
              <a:avLst>
                <a:gd name="adj" fmla="val 50000"/>
              </a:avLst>
            </a:prstGeom>
            <a:solidFill>
              <a:srgbClr val="34D3C0"/>
            </a:solidFill>
            <a:ln>
              <a:noFill/>
            </a:ln>
          </p:spPr>
        </p:sp>
        <p:sp>
          <p:nvSpPr>
            <p:cNvPr id="39" name="TextBox 39"/>
            <p:cNvSpPr txBox="1"/>
            <p:nvPr/>
          </p:nvSpPr>
          <p:spPr>
            <a:xfrm>
              <a:off x="6508814" y="3314462"/>
              <a:ext cx="3050753"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More lineage embeddings, more gain</a:t>
              </a:r>
            </a:p>
          </p:txBody>
        </p:sp>
        <p:sp>
          <p:nvSpPr>
            <p:cNvPr id="40" name="TextBox 40"/>
            <p:cNvSpPr txBox="1"/>
            <p:nvPr/>
          </p:nvSpPr>
          <p:spPr>
            <a:xfrm>
              <a:off x="6509766" y="3620452"/>
              <a:ext cx="392353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Lineage embeddings deliver consistent gains over random</a:t>
              </a:r>
            </a:p>
          </p:txBody>
        </p:sp>
        <p:sp>
          <p:nvSpPr>
            <p:cNvPr id="41" name="TextBox 41"/>
            <p:cNvSpPr txBox="1"/>
            <p:nvPr/>
          </p:nvSpPr>
          <p:spPr>
            <a:xfrm>
              <a:off x="6509766" y="3820478"/>
              <a:ext cx="322640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initialization, and adding more keeps improving</a:t>
              </a:r>
            </a:p>
          </p:txBody>
        </p:sp>
        <p:sp>
          <p:nvSpPr>
            <p:cNvPr id="42" name="TextBox 42"/>
            <p:cNvSpPr txBox="1"/>
            <p:nvPr/>
          </p:nvSpPr>
          <p:spPr>
            <a:xfrm>
              <a:off x="6509766" y="4020502"/>
              <a:ext cx="258555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Electricity and Traffic up to a point.</a:t>
              </a:r>
            </a:p>
          </p:txBody>
        </p:sp>
        <p:sp>
          <p:nvSpPr>
            <p:cNvPr id="43" name="Rectangle 43"/>
            <p:cNvSpPr/>
            <p:nvPr/>
          </p:nvSpPr>
          <p:spPr>
            <a:xfrm>
              <a:off x="8420100" y="4495800"/>
              <a:ext cx="2857500" cy="228600"/>
            </a:xfrm>
            <a:prstGeom prst="roundRect">
              <a:avLst>
                <a:gd name="adj" fmla="val 25000"/>
              </a:avLst>
            </a:prstGeom>
            <a:solidFill>
              <a:srgbClr val="0E2334"/>
            </a:solidFill>
            <a:ln w="9525">
              <a:solidFill>
                <a:srgbClr val="26455F"/>
              </a:solidFill>
            </a:ln>
          </p:spPr>
        </p:sp>
        <p:sp>
          <p:nvSpPr>
            <p:cNvPr id="44" name="Rectangle 44"/>
            <p:cNvSpPr/>
            <p:nvPr/>
          </p:nvSpPr>
          <p:spPr>
            <a:xfrm>
              <a:off x="8420100" y="4495800"/>
              <a:ext cx="1143000" cy="228600"/>
            </a:xfrm>
            <a:prstGeom prst="roundRect">
              <a:avLst>
                <a:gd name="adj" fmla="val 25000"/>
              </a:avLst>
            </a:prstGeom>
            <a:solidFill>
              <a:schemeClr val="dk2"/>
            </a:solidFill>
            <a:ln>
              <a:noFill/>
            </a:ln>
          </p:spPr>
        </p:sp>
        <p:sp>
          <p:nvSpPr>
            <p:cNvPr id="45" name="TextBox 45"/>
            <p:cNvSpPr txBox="1"/>
            <p:nvPr/>
          </p:nvSpPr>
          <p:spPr>
            <a:xfrm>
              <a:off x="7484164" y="4561522"/>
              <a:ext cx="826970"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random init</a:t>
              </a:r>
            </a:p>
          </p:txBody>
        </p:sp>
        <p:sp>
          <p:nvSpPr>
            <p:cNvPr id="46" name="TextBox 46"/>
            <p:cNvSpPr txBox="1"/>
            <p:nvPr/>
          </p:nvSpPr>
          <p:spPr>
            <a:xfrm>
              <a:off x="9653016" y="4561522"/>
              <a:ext cx="337189"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base</a:t>
              </a:r>
            </a:p>
          </p:txBody>
        </p:sp>
        <p:sp>
          <p:nvSpPr>
            <p:cNvPr id="47" name="Rectangle 47"/>
            <p:cNvSpPr/>
            <p:nvPr/>
          </p:nvSpPr>
          <p:spPr>
            <a:xfrm>
              <a:off x="8420100" y="4819650"/>
              <a:ext cx="2857500" cy="228600"/>
            </a:xfrm>
            <a:prstGeom prst="roundRect">
              <a:avLst>
                <a:gd name="adj" fmla="val 25000"/>
              </a:avLst>
            </a:prstGeom>
            <a:solidFill>
              <a:srgbClr val="0E2334"/>
            </a:solidFill>
            <a:ln w="9525">
              <a:solidFill>
                <a:srgbClr val="26455F"/>
              </a:solidFill>
            </a:ln>
          </p:spPr>
        </p:sp>
        <p:sp>
          <p:nvSpPr>
            <p:cNvPr id="48" name="Rectangle 48"/>
            <p:cNvSpPr/>
            <p:nvPr/>
          </p:nvSpPr>
          <p:spPr>
            <a:xfrm>
              <a:off x="8420100" y="4819650"/>
              <a:ext cx="2428875" cy="228600"/>
            </a:xfrm>
            <a:prstGeom prst="roundRect">
              <a:avLst>
                <a:gd name="adj" fmla="val 25000"/>
              </a:avLst>
            </a:prstGeom>
            <a:solidFill>
              <a:srgbClr val="34D3C0"/>
            </a:solidFill>
            <a:ln>
              <a:noFill/>
            </a:ln>
          </p:spPr>
        </p:sp>
        <p:sp>
          <p:nvSpPr>
            <p:cNvPr id="49" name="TextBox 49"/>
            <p:cNvSpPr txBox="1"/>
            <p:nvPr/>
          </p:nvSpPr>
          <p:spPr>
            <a:xfrm>
              <a:off x="7113118" y="4885372"/>
              <a:ext cx="1198016"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 lineage embeds</a:t>
              </a:r>
            </a:p>
          </p:txBody>
        </p:sp>
        <p:sp>
          <p:nvSpPr>
            <p:cNvPr id="50" name="TextBox 50"/>
            <p:cNvSpPr txBox="1"/>
            <p:nvPr/>
          </p:nvSpPr>
          <p:spPr>
            <a:xfrm>
              <a:off x="10938891" y="4885372"/>
              <a:ext cx="500449" cy="205359"/>
            </a:xfrm>
            <a:prstGeom prst="rect">
              <a:avLst/>
            </a:prstGeom>
            <a:noFill/>
            <a:ln>
              <a:noFill/>
            </a:ln>
          </p:spPr>
          <p:txBody>
            <a:bodyPr wrap="none" lIns="0" tIns="0" rIns="0" bIns="0" anchor="t" anchorCtr="0">
              <a:spAutoFit/>
            </a:bodyPr>
            <a:lstStyle/>
            <a:p>
              <a:pPr algn="l"/>
              <a:r>
                <a:rPr lang="en-US" sz="1050" b="1" dirty="0">
                  <a:solidFill>
                    <a:srgbClr val="34D3C0"/>
                  </a:solidFill>
                  <a:latin typeface="+mn-lt"/>
                  <a:ea typeface="+mn-ea"/>
                  <a:cs typeface="+mn-cs"/>
                </a:rPr>
                <a:t>better</a:t>
              </a:r>
            </a:p>
          </p:txBody>
        </p:sp>
      </p:grpSp>
      <p:sp>
        <p:nvSpPr>
          <p:cNvPr id="52" name="cue_s08_c1_careful_ablations_traffic_benchmark" title="cue_s08_c1_careful_ablations_traffic_benchmark" descr="cue_s08_c1_careful_ablations_traffic_benchmark Careful ablations on the Traffic benchmark tell us which design choices matter."/>
          <p:cNvSpPr/>
          <p:nvPr/>
        </p:nvSpPr>
        <p:spPr>
          <a:xfrm>
            <a:off x="609600" y="1504645"/>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8_c2_reconstructing_current_window_past_o" title="cue_s08_c2_reconstructing_current_window_past_o" descr="cue_s08_c2_reconstructing_current_window_past_o Reconstructing the current window from a past one clearly beats plain self-reconstruction, validating the core Siamese idea."/>
          <p:cNvSpPr/>
          <p:nvPr/>
        </p:nvSpPr>
        <p:spPr>
          <a:xfrm>
            <a:off x="609600" y="3086100"/>
            <a:ext cx="5334000" cy="21527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8_c3_masking_ratio_sweet_spot_around" title="cue_s08_c3_masking_ratio_sweet_spot_around" descr="cue_s08_c3_masking_ratio_sweet_spot_around The masking ratio has a sweet spot around twenty-five percent: masking only fifteen percent makes the task too easy to teach anything useful, while masking seventy-five percent makes it too hard."/>
          <p:cNvSpPr/>
          <p:nvPr/>
        </p:nvSpPr>
        <p:spPr>
          <a:xfrm>
            <a:off x="6248399" y="1504645"/>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8_c4_lineage_embeddings_deliver_consisten" title="cue_s08_c4_lineage_embeddings_deliver_consisten" descr="cue_s08_c4_lineage_embeddings_deliver_consisten Lineage embeddings deliver consistent gains over random initialization, and adding more of them keeps improving results on Electricity and Traffic up to a point, confirming that explicitly modeling multiple temporal distances is worthwhile."/>
          <p:cNvSpPr/>
          <p:nvPr/>
        </p:nvSpPr>
        <p:spPr>
          <a:xfrm>
            <a:off x="6248399" y="3086100"/>
            <a:ext cx="5334000" cy="21527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834378"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HEADLINE NUMBERS</a:t>
            </a:r>
          </a:p>
        </p:txBody>
      </p:sp>
      <p:sp>
        <p:nvSpPr>
          <p:cNvPr id="4" name="TextBox 4"/>
          <p:cNvSpPr txBox="1"/>
          <p:nvPr/>
        </p:nvSpPr>
        <p:spPr>
          <a:xfrm>
            <a:off x="598170" y="804862"/>
            <a:ext cx="356361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impact in one place</a:t>
            </a:r>
          </a:p>
        </p:txBody>
      </p:sp>
      <p:grpSp>
        <p:nvGrpSpPr>
          <p:cNvPr id="20" name="Group 20"/>
          <p:cNvGrpSpPr/>
          <p:nvPr/>
        </p:nvGrpSpPr>
        <p:grpSpPr>
          <a:xfrm>
            <a:off x="609600" y="1581150"/>
            <a:ext cx="10972800" cy="1428750"/>
            <a:chOff x="609600" y="1581150"/>
            <a:chExt cx="10972800" cy="1428750"/>
          </a:xfrm>
        </p:grpSpPr>
        <p:sp>
          <p:nvSpPr>
            <p:cNvPr id="5" name="Rectangle 5"/>
            <p:cNvSpPr/>
            <p:nvPr/>
          </p:nvSpPr>
          <p:spPr>
            <a:xfrm>
              <a:off x="609600" y="1581150"/>
              <a:ext cx="10972800" cy="1428750"/>
            </a:xfrm>
            <a:prstGeom prst="roundRect">
              <a:avLst>
                <a:gd name="adj" fmla="val 9333"/>
              </a:avLst>
            </a:prstGeom>
            <a:solidFill>
              <a:schemeClr val="accent5"/>
            </a:solidFill>
            <a:ln w="14288">
              <a:solidFill>
                <a:srgbClr val="26455F"/>
              </a:solidFill>
            </a:ln>
          </p:spPr>
        </p:sp>
        <p:sp>
          <p:nvSpPr>
            <p:cNvPr id="6" name="Rectangle 6"/>
            <p:cNvSpPr/>
            <p:nvPr/>
          </p:nvSpPr>
          <p:spPr>
            <a:xfrm>
              <a:off x="609600" y="1581150"/>
              <a:ext cx="57150" cy="1428750"/>
            </a:xfrm>
            <a:prstGeom prst="roundRect">
              <a:avLst>
                <a:gd name="adj" fmla="val 50000"/>
              </a:avLst>
            </a:prstGeom>
            <a:solidFill>
              <a:srgbClr val="48C78E"/>
            </a:solidFill>
            <a:ln>
              <a:noFill/>
            </a:ln>
          </p:spPr>
        </p:sp>
        <p:sp>
          <p:nvSpPr>
            <p:cNvPr id="7" name="TextBox 7"/>
            <p:cNvSpPr txBox="1"/>
            <p:nvPr/>
          </p:nvSpPr>
          <p:spPr>
            <a:xfrm>
              <a:off x="870014" y="1790462"/>
              <a:ext cx="3936310"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Error down, accuracy up, all vs from scratch</a:t>
              </a:r>
            </a:p>
          </p:txBody>
        </p:sp>
        <p:sp>
          <p:nvSpPr>
            <p:cNvPr id="8" name="Rectangle 8"/>
            <p:cNvSpPr/>
            <p:nvPr/>
          </p:nvSpPr>
          <p:spPr>
            <a:xfrm>
              <a:off x="876300" y="2095500"/>
              <a:ext cx="2571750" cy="762000"/>
            </a:xfrm>
            <a:prstGeom prst="roundRect">
              <a:avLst>
                <a:gd name="adj" fmla="val 15000"/>
              </a:avLst>
            </a:prstGeom>
            <a:solidFill>
              <a:schemeClr val="accent6"/>
            </a:solidFill>
            <a:ln w="14288">
              <a:solidFill>
                <a:srgbClr val="26455F"/>
              </a:solidFill>
            </a:ln>
          </p:spPr>
        </p:sp>
        <p:sp>
          <p:nvSpPr>
            <p:cNvPr id="9" name="TextBox 9"/>
            <p:cNvSpPr txBox="1"/>
            <p:nvPr/>
          </p:nvSpPr>
          <p:spPr>
            <a:xfrm>
              <a:off x="1726487" y="2271522"/>
              <a:ext cx="871377" cy="398983"/>
            </a:xfrm>
            <a:prstGeom prst="rect">
              <a:avLst/>
            </a:prstGeom>
            <a:noFill/>
            <a:ln>
              <a:noFill/>
            </a:ln>
          </p:spPr>
          <p:txBody>
            <a:bodyPr wrap="none" lIns="0" tIns="0" rIns="0" bIns="0" anchor="t" anchorCtr="0">
              <a:spAutoFit/>
            </a:bodyPr>
            <a:lstStyle/>
            <a:p>
              <a:pPr algn="ctr"/>
              <a:r>
                <a:rPr lang="en-US" sz="2040" b="1" dirty="0">
                  <a:solidFill>
                    <a:srgbClr val="48C78E"/>
                  </a:solidFill>
                  <a:latin typeface="+mn-lt"/>
                  <a:ea typeface="+mn-ea"/>
                  <a:cs typeface="+mn-cs"/>
                </a:rPr>
                <a:t>-5.7%</a:t>
              </a:r>
            </a:p>
          </p:txBody>
        </p:sp>
        <p:sp>
          <p:nvSpPr>
            <p:cNvPr id="10" name="TextBox 10"/>
            <p:cNvSpPr txBox="1"/>
            <p:nvPr/>
          </p:nvSpPr>
          <p:spPr>
            <a:xfrm>
              <a:off x="1357132" y="2603897"/>
              <a:ext cx="1610087"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forecast MSE, PatchTST</a:t>
              </a:r>
            </a:p>
          </p:txBody>
        </p:sp>
        <p:sp>
          <p:nvSpPr>
            <p:cNvPr id="11" name="Rectangle 11"/>
            <p:cNvSpPr/>
            <p:nvPr/>
          </p:nvSpPr>
          <p:spPr>
            <a:xfrm>
              <a:off x="3638550" y="2095500"/>
              <a:ext cx="2571750" cy="762000"/>
            </a:xfrm>
            <a:prstGeom prst="roundRect">
              <a:avLst>
                <a:gd name="adj" fmla="val 15000"/>
              </a:avLst>
            </a:prstGeom>
            <a:solidFill>
              <a:schemeClr val="accent6"/>
            </a:solidFill>
            <a:ln w="14288">
              <a:solidFill>
                <a:srgbClr val="26455F"/>
              </a:solidFill>
            </a:ln>
          </p:spPr>
        </p:sp>
        <p:sp>
          <p:nvSpPr>
            <p:cNvPr id="12" name="TextBox 12"/>
            <p:cNvSpPr txBox="1"/>
            <p:nvPr/>
          </p:nvSpPr>
          <p:spPr>
            <a:xfrm>
              <a:off x="4488737" y="2271522"/>
              <a:ext cx="871377" cy="398983"/>
            </a:xfrm>
            <a:prstGeom prst="rect">
              <a:avLst/>
            </a:prstGeom>
            <a:noFill/>
            <a:ln>
              <a:noFill/>
            </a:ln>
          </p:spPr>
          <p:txBody>
            <a:bodyPr wrap="none" lIns="0" tIns="0" rIns="0" bIns="0" anchor="t" anchorCtr="0">
              <a:spAutoFit/>
            </a:bodyPr>
            <a:lstStyle/>
            <a:p>
              <a:pPr algn="ctr"/>
              <a:r>
                <a:rPr lang="en-US" sz="2040" b="1" dirty="0">
                  <a:solidFill>
                    <a:srgbClr val="34D3C0"/>
                  </a:solidFill>
                  <a:latin typeface="+mn-lt"/>
                  <a:ea typeface="+mn-ea"/>
                  <a:cs typeface="+mn-cs"/>
                </a:rPr>
                <a:t>-2.5%</a:t>
              </a:r>
            </a:p>
          </p:txBody>
        </p:sp>
        <p:sp>
          <p:nvSpPr>
            <p:cNvPr id="13" name="TextBox 13"/>
            <p:cNvSpPr txBox="1"/>
            <p:nvPr/>
          </p:nvSpPr>
          <p:spPr>
            <a:xfrm>
              <a:off x="3983771" y="2603897"/>
              <a:ext cx="1881307"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forecast MSE, iTransformer</a:t>
              </a:r>
            </a:p>
          </p:txBody>
        </p:sp>
        <p:sp>
          <p:nvSpPr>
            <p:cNvPr id="14" name="Rectangle 14"/>
            <p:cNvSpPr/>
            <p:nvPr/>
          </p:nvSpPr>
          <p:spPr>
            <a:xfrm>
              <a:off x="6400800" y="2095500"/>
              <a:ext cx="2571750" cy="762000"/>
            </a:xfrm>
            <a:prstGeom prst="roundRect">
              <a:avLst>
                <a:gd name="adj" fmla="val 15000"/>
              </a:avLst>
            </a:prstGeom>
            <a:solidFill>
              <a:schemeClr val="accent6"/>
            </a:solidFill>
            <a:ln w="14288">
              <a:solidFill>
                <a:srgbClr val="26455F"/>
              </a:solidFill>
            </a:ln>
          </p:spPr>
        </p:sp>
        <p:sp>
          <p:nvSpPr>
            <p:cNvPr id="15" name="TextBox 15"/>
            <p:cNvSpPr txBox="1"/>
            <p:nvPr/>
          </p:nvSpPr>
          <p:spPr>
            <a:xfrm>
              <a:off x="7171689" y="2271522"/>
              <a:ext cx="1029973" cy="398983"/>
            </a:xfrm>
            <a:prstGeom prst="rect">
              <a:avLst/>
            </a:prstGeom>
            <a:noFill/>
            <a:ln>
              <a:noFill/>
            </a:ln>
          </p:spPr>
          <p:txBody>
            <a:bodyPr wrap="none" lIns="0" tIns="0" rIns="0" bIns="0" anchor="t" anchorCtr="0">
              <a:spAutoFit/>
            </a:bodyPr>
            <a:lstStyle/>
            <a:p>
              <a:pPr algn="ctr"/>
              <a:r>
                <a:rPr lang="en-US" sz="2040" b="1" dirty="0">
                  <a:solidFill>
                    <a:schemeClr val="accent2"/>
                  </a:solidFill>
                  <a:latin typeface="+mn-lt"/>
                  <a:ea typeface="+mn-ea"/>
                  <a:cs typeface="+mn-cs"/>
                </a:rPr>
                <a:t>+11.5%</a:t>
              </a:r>
            </a:p>
          </p:txBody>
        </p:sp>
        <p:sp>
          <p:nvSpPr>
            <p:cNvPr id="16" name="TextBox 16"/>
            <p:cNvSpPr txBox="1"/>
            <p:nvPr/>
          </p:nvSpPr>
          <p:spPr>
            <a:xfrm>
              <a:off x="7060746" y="2603897"/>
              <a:ext cx="1251859"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in-domain accuracy</a:t>
              </a:r>
            </a:p>
          </p:txBody>
        </p:sp>
        <p:sp>
          <p:nvSpPr>
            <p:cNvPr id="17" name="Rectangle 17"/>
            <p:cNvSpPr/>
            <p:nvPr/>
          </p:nvSpPr>
          <p:spPr>
            <a:xfrm>
              <a:off x="9163050" y="2095500"/>
              <a:ext cx="2419350" cy="762000"/>
            </a:xfrm>
            <a:prstGeom prst="roundRect">
              <a:avLst>
                <a:gd name="adj" fmla="val 15000"/>
              </a:avLst>
            </a:prstGeom>
            <a:solidFill>
              <a:schemeClr val="accent6"/>
            </a:solidFill>
            <a:ln w="14288">
              <a:solidFill>
                <a:srgbClr val="26455F"/>
              </a:solidFill>
            </a:ln>
          </p:spPr>
        </p:sp>
        <p:sp>
          <p:nvSpPr>
            <p:cNvPr id="18" name="TextBox 18"/>
            <p:cNvSpPr txBox="1"/>
            <p:nvPr/>
          </p:nvSpPr>
          <p:spPr>
            <a:xfrm>
              <a:off x="9348597" y="2275999"/>
              <a:ext cx="1715786"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All relative to training the</a:t>
              </a:r>
            </a:p>
          </p:txBody>
        </p:sp>
        <p:sp>
          <p:nvSpPr>
            <p:cNvPr id="19" name="TextBox 19"/>
            <p:cNvSpPr txBox="1"/>
            <p:nvPr/>
          </p:nvSpPr>
          <p:spPr>
            <a:xfrm>
              <a:off x="9348597" y="2456974"/>
              <a:ext cx="1566652"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backbone from scratch.</a:t>
              </a:r>
            </a:p>
          </p:txBody>
        </p:sp>
      </p:grpSp>
      <p:grpSp>
        <p:nvGrpSpPr>
          <p:cNvPr id="33" name="Group 33"/>
          <p:cNvGrpSpPr/>
          <p:nvPr/>
        </p:nvGrpSpPr>
        <p:grpSpPr>
          <a:xfrm>
            <a:off x="609600" y="3162300"/>
            <a:ext cx="5334000" cy="2076450"/>
            <a:chOff x="609600" y="3162300"/>
            <a:chExt cx="5334000" cy="2076450"/>
          </a:xfrm>
        </p:grpSpPr>
        <p:sp>
          <p:nvSpPr>
            <p:cNvPr id="21" name="Rectangle 21"/>
            <p:cNvSpPr/>
            <p:nvPr/>
          </p:nvSpPr>
          <p:spPr>
            <a:xfrm>
              <a:off x="609600" y="3162300"/>
              <a:ext cx="5334000" cy="2076450"/>
            </a:xfrm>
            <a:prstGeom prst="roundRect">
              <a:avLst>
                <a:gd name="adj" fmla="val 6422"/>
              </a:avLst>
            </a:prstGeom>
            <a:solidFill>
              <a:srgbClr val="0F2E2B"/>
            </a:solidFill>
            <a:ln w="14288">
              <a:solidFill>
                <a:srgbClr val="34D3C0"/>
              </a:solidFill>
            </a:ln>
          </p:spPr>
        </p:sp>
        <p:sp>
          <p:nvSpPr>
            <p:cNvPr id="22" name="Rectangle 22"/>
            <p:cNvSpPr/>
            <p:nvPr/>
          </p:nvSpPr>
          <p:spPr>
            <a:xfrm>
              <a:off x="609600" y="3162300"/>
              <a:ext cx="57150" cy="2076450"/>
            </a:xfrm>
            <a:prstGeom prst="roundRect">
              <a:avLst>
                <a:gd name="adj" fmla="val 50000"/>
              </a:avLst>
            </a:prstGeom>
            <a:solidFill>
              <a:srgbClr val="34D3C0"/>
            </a:solidFill>
            <a:ln>
              <a:noFill/>
            </a:ln>
          </p:spPr>
        </p:sp>
        <p:sp>
          <p:nvSpPr>
            <p:cNvPr id="23" name="TextBox 23"/>
            <p:cNvSpPr txBox="1"/>
            <p:nvPr/>
          </p:nvSpPr>
          <p:spPr>
            <a:xfrm>
              <a:off x="870014" y="3371612"/>
              <a:ext cx="2507607"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Broad, and ahead of the field</a:t>
              </a:r>
            </a:p>
          </p:txBody>
        </p:sp>
        <p:sp>
          <p:nvSpPr>
            <p:cNvPr id="24" name="TextBox 24"/>
            <p:cNvSpPr txBox="1"/>
            <p:nvPr/>
          </p:nvSpPr>
          <p:spPr>
            <a:xfrm>
              <a:off x="871156" y="3681651"/>
              <a:ext cx="3583792"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Across thirteen benchmarks covering forecasting and</a:t>
              </a:r>
            </a:p>
          </p:txBody>
        </p:sp>
        <p:sp>
          <p:nvSpPr>
            <p:cNvPr id="25" name="TextBox 25"/>
            <p:cNvSpPr txBox="1"/>
            <p:nvPr/>
          </p:nvSpPr>
          <p:spPr>
            <a:xfrm>
              <a:off x="871156" y="3872151"/>
              <a:ext cx="3361854"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classification, in both in-domain and cross-domain</a:t>
              </a:r>
            </a:p>
          </p:txBody>
        </p:sp>
        <p:sp>
          <p:nvSpPr>
            <p:cNvPr id="26" name="TextBox 26"/>
            <p:cNvSpPr txBox="1"/>
            <p:nvPr/>
          </p:nvSpPr>
          <p:spPr>
            <a:xfrm>
              <a:off x="871156" y="4062651"/>
              <a:ext cx="649328"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settings.</a:t>
              </a:r>
            </a:p>
          </p:txBody>
        </p:sp>
        <p:sp>
          <p:nvSpPr>
            <p:cNvPr id="27" name="Rectangle 27"/>
            <p:cNvSpPr/>
            <p:nvPr/>
          </p:nvSpPr>
          <p:spPr>
            <a:xfrm>
              <a:off x="876300" y="4476750"/>
              <a:ext cx="2247900" cy="609600"/>
            </a:xfrm>
            <a:prstGeom prst="roundRect">
              <a:avLst>
                <a:gd name="adj" fmla="val 18750"/>
              </a:avLst>
            </a:prstGeom>
            <a:solidFill>
              <a:schemeClr val="accent6"/>
            </a:solidFill>
            <a:ln w="14288">
              <a:solidFill>
                <a:srgbClr val="26455F"/>
              </a:solidFill>
            </a:ln>
          </p:spPr>
        </p:sp>
        <p:sp>
          <p:nvSpPr>
            <p:cNvPr id="28" name="TextBox 28"/>
            <p:cNvSpPr txBox="1"/>
            <p:nvPr/>
          </p:nvSpPr>
          <p:spPr>
            <a:xfrm>
              <a:off x="1865238" y="4617568"/>
              <a:ext cx="270023" cy="319187"/>
            </a:xfrm>
            <a:prstGeom prst="rect">
              <a:avLst/>
            </a:prstGeom>
            <a:noFill/>
            <a:ln>
              <a:noFill/>
            </a:ln>
          </p:spPr>
          <p:txBody>
            <a:bodyPr wrap="none" lIns="0" tIns="0" rIns="0" bIns="0" anchor="t" anchorCtr="0">
              <a:spAutoFit/>
            </a:bodyPr>
            <a:lstStyle/>
            <a:p>
              <a:pPr algn="ctr"/>
              <a:r>
                <a:rPr lang="en-US" sz="1630" b="1" dirty="0">
                  <a:solidFill>
                    <a:srgbClr val="34D3C0"/>
                  </a:solidFill>
                  <a:latin typeface="+mn-lt"/>
                  <a:ea typeface="+mn-ea"/>
                  <a:cs typeface="+mn-cs"/>
                </a:rPr>
                <a:t>13</a:t>
              </a:r>
            </a:p>
          </p:txBody>
        </p:sp>
        <p:sp>
          <p:nvSpPr>
            <p:cNvPr id="29" name="TextBox 29"/>
            <p:cNvSpPr txBox="1"/>
            <p:nvPr/>
          </p:nvSpPr>
          <p:spPr>
            <a:xfrm>
              <a:off x="1616808" y="4863227"/>
              <a:ext cx="766884"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benchmarks</a:t>
              </a:r>
            </a:p>
          </p:txBody>
        </p:sp>
        <p:sp>
          <p:nvSpPr>
            <p:cNvPr id="30" name="Rectangle 30"/>
            <p:cNvSpPr/>
            <p:nvPr/>
          </p:nvSpPr>
          <p:spPr>
            <a:xfrm>
              <a:off x="3314700" y="4476750"/>
              <a:ext cx="2247900" cy="609600"/>
            </a:xfrm>
            <a:prstGeom prst="roundRect">
              <a:avLst>
                <a:gd name="adj" fmla="val 18750"/>
              </a:avLst>
            </a:prstGeom>
            <a:solidFill>
              <a:schemeClr val="accent6"/>
            </a:solidFill>
            <a:ln w="14288">
              <a:solidFill>
                <a:srgbClr val="26455F"/>
              </a:solidFill>
            </a:ln>
          </p:spPr>
        </p:sp>
        <p:sp>
          <p:nvSpPr>
            <p:cNvPr id="31" name="TextBox 31"/>
            <p:cNvSpPr txBox="1"/>
            <p:nvPr/>
          </p:nvSpPr>
          <p:spPr>
            <a:xfrm>
              <a:off x="4366999" y="4617568"/>
              <a:ext cx="143302" cy="319187"/>
            </a:xfrm>
            <a:prstGeom prst="rect">
              <a:avLst/>
            </a:prstGeom>
            <a:noFill/>
            <a:ln>
              <a:noFill/>
            </a:ln>
          </p:spPr>
          <p:txBody>
            <a:bodyPr wrap="none" lIns="0" tIns="0" rIns="0" bIns="0" anchor="t" anchorCtr="0">
              <a:spAutoFit/>
            </a:bodyPr>
            <a:lstStyle/>
            <a:p>
              <a:pPr algn="ctr"/>
              <a:r>
                <a:rPr lang="en-US" sz="1630" b="1" dirty="0">
                  <a:solidFill>
                    <a:srgbClr val="48C78E"/>
                  </a:solidFill>
                  <a:latin typeface="+mn-lt"/>
                  <a:ea typeface="+mn-ea"/>
                  <a:cs typeface="+mn-cs"/>
                </a:rPr>
                <a:t>8</a:t>
              </a:r>
            </a:p>
          </p:txBody>
        </p:sp>
        <p:sp>
          <p:nvSpPr>
            <p:cNvPr id="32" name="TextBox 32"/>
            <p:cNvSpPr txBox="1"/>
            <p:nvPr/>
          </p:nvSpPr>
          <p:spPr>
            <a:xfrm>
              <a:off x="3763270" y="4863227"/>
              <a:ext cx="1350759"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SSL baselines beaten</a:t>
              </a:r>
            </a:p>
          </p:txBody>
        </p:sp>
      </p:grpSp>
      <p:grpSp>
        <p:nvGrpSpPr>
          <p:cNvPr id="42" name="Group 42"/>
          <p:cNvGrpSpPr/>
          <p:nvPr/>
        </p:nvGrpSpPr>
        <p:grpSpPr>
          <a:xfrm>
            <a:off x="6248400" y="3162300"/>
            <a:ext cx="5334000" cy="2076450"/>
            <a:chOff x="6248400" y="3162300"/>
            <a:chExt cx="5334000" cy="2076450"/>
          </a:xfrm>
        </p:grpSpPr>
        <p:sp>
          <p:nvSpPr>
            <p:cNvPr id="34" name="Rectangle 34"/>
            <p:cNvSpPr/>
            <p:nvPr/>
          </p:nvSpPr>
          <p:spPr>
            <a:xfrm>
              <a:off x="6248400" y="3162300"/>
              <a:ext cx="5334000" cy="2076450"/>
            </a:xfrm>
            <a:prstGeom prst="roundRect">
              <a:avLst>
                <a:gd name="adj" fmla="val 6422"/>
              </a:avLst>
            </a:prstGeom>
            <a:solidFill>
              <a:srgbClr val="2A2417"/>
            </a:solidFill>
            <a:ln w="14288">
              <a:solidFill>
                <a:srgbClr val="F2C14E"/>
              </a:solidFill>
            </a:ln>
          </p:spPr>
        </p:sp>
        <p:sp>
          <p:nvSpPr>
            <p:cNvPr id="35" name="Rectangle 35"/>
            <p:cNvSpPr/>
            <p:nvPr/>
          </p:nvSpPr>
          <p:spPr>
            <a:xfrm>
              <a:off x="6248400" y="3162300"/>
              <a:ext cx="57150" cy="2076450"/>
            </a:xfrm>
            <a:prstGeom prst="roundRect">
              <a:avLst>
                <a:gd name="adj" fmla="val 50000"/>
              </a:avLst>
            </a:prstGeom>
            <a:solidFill>
              <a:srgbClr val="F2C14E"/>
            </a:solidFill>
            <a:ln>
              <a:noFill/>
            </a:ln>
          </p:spPr>
        </p:sp>
        <p:sp>
          <p:nvSpPr>
            <p:cNvPr id="36" name="TextBox 36"/>
            <p:cNvSpPr txBox="1"/>
            <p:nvPr/>
          </p:nvSpPr>
          <p:spPr>
            <a:xfrm>
              <a:off x="6508814" y="3371612"/>
              <a:ext cx="2726471"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The corpus behind cross-domain</a:t>
              </a:r>
            </a:p>
          </p:txBody>
        </p:sp>
        <p:sp>
          <p:nvSpPr>
            <p:cNvPr id="37" name="TextBox 37"/>
            <p:cNvSpPr txBox="1"/>
            <p:nvPr/>
          </p:nvSpPr>
          <p:spPr>
            <a:xfrm>
              <a:off x="6509956" y="3681651"/>
              <a:ext cx="3805621"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Backing the cross-domain story is TSLD-1G, a newly built</a:t>
              </a:r>
            </a:p>
          </p:txBody>
        </p:sp>
        <p:sp>
          <p:nvSpPr>
            <p:cNvPr id="38" name="TextBox 38"/>
            <p:cNvSpPr txBox="1"/>
            <p:nvPr/>
          </p:nvSpPr>
          <p:spPr>
            <a:xfrm>
              <a:off x="6509956" y="3872151"/>
              <a:ext cx="3205493"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pre-training dataset spanning multiple domains.</a:t>
              </a:r>
            </a:p>
          </p:txBody>
        </p:sp>
        <p:sp>
          <p:nvSpPr>
            <p:cNvPr id="39" name="Rectangle 39"/>
            <p:cNvSpPr/>
            <p:nvPr/>
          </p:nvSpPr>
          <p:spPr>
            <a:xfrm>
              <a:off x="6515100" y="4476750"/>
              <a:ext cx="4800600" cy="609600"/>
            </a:xfrm>
            <a:prstGeom prst="roundRect">
              <a:avLst>
                <a:gd name="adj" fmla="val 18750"/>
              </a:avLst>
            </a:prstGeom>
            <a:solidFill>
              <a:schemeClr val="accent6"/>
            </a:solidFill>
            <a:ln w="14288">
              <a:solidFill>
                <a:srgbClr val="26455F"/>
              </a:solidFill>
            </a:ln>
          </p:spPr>
        </p:sp>
        <p:sp>
          <p:nvSpPr>
            <p:cNvPr id="40" name="TextBox 40"/>
            <p:cNvSpPr txBox="1"/>
            <p:nvPr/>
          </p:nvSpPr>
          <p:spPr>
            <a:xfrm>
              <a:off x="8614977" y="4617568"/>
              <a:ext cx="600846" cy="319187"/>
            </a:xfrm>
            <a:prstGeom prst="rect">
              <a:avLst/>
            </a:prstGeom>
            <a:noFill/>
            <a:ln>
              <a:noFill/>
            </a:ln>
          </p:spPr>
          <p:txBody>
            <a:bodyPr wrap="none" lIns="0" tIns="0" rIns="0" bIns="0" anchor="t" anchorCtr="0">
              <a:spAutoFit/>
            </a:bodyPr>
            <a:lstStyle/>
            <a:p>
              <a:pPr algn="ctr"/>
              <a:r>
                <a:rPr lang="en-US" sz="1630" b="1" dirty="0">
                  <a:solidFill>
                    <a:srgbClr val="F2C14E"/>
                  </a:solidFill>
                  <a:latin typeface="+mn-lt"/>
                  <a:ea typeface="+mn-ea"/>
                  <a:cs typeface="+mn-cs"/>
                </a:rPr>
                <a:t>~14M</a:t>
              </a:r>
            </a:p>
          </p:txBody>
        </p:sp>
        <p:sp>
          <p:nvSpPr>
            <p:cNvPr id="41" name="TextBox 41"/>
            <p:cNvSpPr txBox="1"/>
            <p:nvPr/>
          </p:nvSpPr>
          <p:spPr>
            <a:xfrm>
              <a:off x="7851000" y="4863227"/>
              <a:ext cx="2128801"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examples across diverse domains</a:t>
              </a:r>
            </a:p>
          </p:txBody>
        </p:sp>
      </p:grpSp>
      <p:sp>
        <p:nvSpPr>
          <p:cNvPr id="43" name="cue_s09_c1_put_impact_numbers_timesiam_reduces" title="cue_s09_c1_put_impact_numbers_timesiam_reduces" descr="cue_s09_c1_put_impact_numbers_timesiam_reduces To put the impact in numbers: TimeSiam reduces average forecasting error by five point seven percent on PatchTST and two point five percent on iTransformer, and raises classification accuracy by eleven point five percent in the in-domain setting, all relative"/>
          <p:cNvSpPr/>
          <p:nvPr/>
        </p:nvSpPr>
        <p:spPr>
          <a:xfrm>
            <a:off x="609600" y="1581454"/>
            <a:ext cx="109728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9_c2_does_across_thirteen_benchmarks_cove" title="cue_s09_c2_does_across_thirteen_benchmarks_cove" descr="cue_s09_c2_does_across_thirteen_benchmarks_cove It does this across thirteen benchmarks covering forecasting and classification in both in-domain and cross-domain settings, and it outperforms eight state-of-the-art self-supervised baselines."/>
          <p:cNvSpPr/>
          <p:nvPr/>
        </p:nvSpPr>
        <p:spPr>
          <a:xfrm>
            <a:off x="609600" y="3162223"/>
            <a:ext cx="5334000" cy="20766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9_c3_backing_cross_domain_story_tsld_1g_n" title="cue_s09_c3_backing_cross_domain_story_tsld_1g_n" descr="cue_s09_c3_backing_cross_domain_story_tsld_1g_n Backing the cross-domain story is TSLD-1G, a newly built pre-training dataset with nearly fourteen million examples spanning multiple domains."/>
          <p:cNvSpPr/>
          <p:nvPr/>
        </p:nvSpPr>
        <p:spPr>
          <a:xfrm>
            <a:off x="6248399" y="3162223"/>
            <a:ext cx="5334000" cy="20766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968079"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TAKEAWAY</a:t>
            </a:r>
          </a:p>
        </p:txBody>
      </p:sp>
      <p:sp>
        <p:nvSpPr>
          <p:cNvPr id="4" name="TextBox 4"/>
          <p:cNvSpPr txBox="1"/>
          <p:nvPr/>
        </p:nvSpPr>
        <p:spPr>
          <a:xfrm>
            <a:off x="598170" y="804862"/>
            <a:ext cx="602851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Reconstruct the past into the present</a:t>
            </a:r>
          </a:p>
        </p:txBody>
      </p:sp>
      <p:grpSp>
        <p:nvGrpSpPr>
          <p:cNvPr id="10" name="Group 10"/>
          <p:cNvGrpSpPr/>
          <p:nvPr/>
        </p:nvGrpSpPr>
        <p:grpSpPr>
          <a:xfrm>
            <a:off x="609600" y="1676400"/>
            <a:ext cx="10972800" cy="1104900"/>
            <a:chOff x="609600" y="1676400"/>
            <a:chExt cx="10972800" cy="1104900"/>
          </a:xfrm>
        </p:grpSpPr>
        <p:sp>
          <p:nvSpPr>
            <p:cNvPr id="5" name="Rectangle 5"/>
            <p:cNvSpPr/>
            <p:nvPr/>
          </p:nvSpPr>
          <p:spPr>
            <a:xfrm>
              <a:off x="609600" y="1676400"/>
              <a:ext cx="10972800" cy="1104900"/>
            </a:xfrm>
            <a:prstGeom prst="roundRect">
              <a:avLst>
                <a:gd name="adj" fmla="val 12069"/>
              </a:avLst>
            </a:prstGeom>
            <a:solidFill>
              <a:schemeClr val="accent5"/>
            </a:solidFill>
            <a:ln w="14288">
              <a:solidFill>
                <a:srgbClr val="26455F"/>
              </a:solidFill>
            </a:ln>
          </p:spPr>
        </p:sp>
        <p:sp>
          <p:nvSpPr>
            <p:cNvPr id="6" name="Rectangle 6"/>
            <p:cNvSpPr/>
            <p:nvPr/>
          </p:nvSpPr>
          <p:spPr>
            <a:xfrm>
              <a:off x="609600" y="1676400"/>
              <a:ext cx="57150" cy="1104900"/>
            </a:xfrm>
            <a:prstGeom prst="roundRect">
              <a:avLst>
                <a:gd name="adj" fmla="val 50000"/>
              </a:avLst>
            </a:prstGeom>
            <a:solidFill>
              <a:schemeClr val="accent2"/>
            </a:solidFill>
            <a:ln>
              <a:noFill/>
            </a:ln>
          </p:spPr>
        </p:sp>
        <p:sp>
          <p:nvSpPr>
            <p:cNvPr id="7" name="Ellipse 7"/>
            <p:cNvSpPr/>
            <p:nvPr/>
          </p:nvSpPr>
          <p:spPr>
            <a:xfrm>
              <a:off x="971550" y="2133600"/>
              <a:ext cx="190500" cy="190500"/>
            </a:xfrm>
            <a:prstGeom prst="ellipse">
              <a:avLst/>
            </a:prstGeom>
            <a:solidFill>
              <a:schemeClr val="accent2"/>
            </a:solidFill>
            <a:ln>
              <a:noFill/>
            </a:ln>
          </p:spPr>
        </p:sp>
        <p:sp>
          <p:nvSpPr>
            <p:cNvPr id="8" name="TextBox 8"/>
            <p:cNvSpPr txBox="1"/>
            <p:nvPr/>
          </p:nvSpPr>
          <p:spPr>
            <a:xfrm>
              <a:off x="1421511" y="1960721"/>
              <a:ext cx="2349748"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A reframing of the task</a:t>
              </a:r>
            </a:p>
          </p:txBody>
        </p:sp>
        <p:sp>
          <p:nvSpPr>
            <p:cNvPr id="9" name="TextBox 9"/>
            <p:cNvSpPr txBox="1"/>
            <p:nvPr/>
          </p:nvSpPr>
          <p:spPr>
            <a:xfrm>
              <a:off x="1422844" y="2293858"/>
              <a:ext cx="6497734"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The lasting takeaway is a reframing of how time series pre-training should be posed.</a:t>
              </a:r>
            </a:p>
          </p:txBody>
        </p:sp>
      </p:grpSp>
      <p:grpSp>
        <p:nvGrpSpPr>
          <p:cNvPr id="18" name="Group 18"/>
          <p:cNvGrpSpPr/>
          <p:nvPr/>
        </p:nvGrpSpPr>
        <p:grpSpPr>
          <a:xfrm>
            <a:off x="609600" y="2933700"/>
            <a:ext cx="10972800" cy="1302020"/>
            <a:chOff x="609600" y="2933700"/>
            <a:chExt cx="10972800" cy="1302020"/>
          </a:xfrm>
        </p:grpSpPr>
        <p:sp>
          <p:nvSpPr>
            <p:cNvPr id="11" name="Rectangle 11"/>
            <p:cNvSpPr/>
            <p:nvPr/>
          </p:nvSpPr>
          <p:spPr>
            <a:xfrm>
              <a:off x="609600" y="2933700"/>
              <a:ext cx="10972800" cy="1104900"/>
            </a:xfrm>
            <a:prstGeom prst="roundRect">
              <a:avLst>
                <a:gd name="adj" fmla="val 12069"/>
              </a:avLst>
            </a:prstGeom>
            <a:solidFill>
              <a:schemeClr val="accent5"/>
            </a:solidFill>
            <a:ln w="14288">
              <a:solidFill>
                <a:srgbClr val="26455F"/>
              </a:solidFill>
            </a:ln>
          </p:spPr>
        </p:sp>
        <p:sp>
          <p:nvSpPr>
            <p:cNvPr id="12" name="Rectangle 12"/>
            <p:cNvSpPr/>
            <p:nvPr/>
          </p:nvSpPr>
          <p:spPr>
            <a:xfrm>
              <a:off x="609600" y="2933700"/>
              <a:ext cx="57150" cy="1104900"/>
            </a:xfrm>
            <a:prstGeom prst="roundRect">
              <a:avLst>
                <a:gd name="adj" fmla="val 50000"/>
              </a:avLst>
            </a:prstGeom>
            <a:solidFill>
              <a:srgbClr val="34D3C0"/>
            </a:solidFill>
            <a:ln>
              <a:noFill/>
            </a:ln>
          </p:spPr>
        </p:sp>
        <p:sp>
          <p:nvSpPr>
            <p:cNvPr id="13" name="Ellipse 13"/>
            <p:cNvSpPr/>
            <p:nvPr/>
          </p:nvSpPr>
          <p:spPr>
            <a:xfrm>
              <a:off x="971550" y="3390900"/>
              <a:ext cx="190500" cy="190500"/>
            </a:xfrm>
            <a:prstGeom prst="ellipse">
              <a:avLst/>
            </a:prstGeom>
            <a:solidFill>
              <a:srgbClr val="34D3C0"/>
            </a:solidFill>
            <a:ln>
              <a:noFill/>
            </a:ln>
          </p:spPr>
        </p:sp>
        <p:sp>
          <p:nvSpPr>
            <p:cNvPr id="14" name="TextBox 14"/>
            <p:cNvSpPr txBox="1"/>
            <p:nvPr/>
          </p:nvSpPr>
          <p:spPr>
            <a:xfrm>
              <a:off x="1421511" y="3218021"/>
              <a:ext cx="4383765"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Past-to-current between Siamese subseries</a:t>
              </a:r>
            </a:p>
          </p:txBody>
        </p:sp>
        <p:sp>
          <p:nvSpPr>
            <p:cNvPr id="15" name="TextBox 15"/>
            <p:cNvSpPr txBox="1"/>
            <p:nvPr/>
          </p:nvSpPr>
          <p:spPr>
            <a:xfrm>
              <a:off x="1422844" y="3551158"/>
              <a:ext cx="6830911"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Posing pre-training as past-to-current reconstruction between Siamese subseries, with</a:t>
              </a:r>
            </a:p>
          </p:txBody>
        </p:sp>
        <p:sp>
          <p:nvSpPr>
            <p:cNvPr id="16" name="TextBox 16"/>
            <p:cNvSpPr txBox="1"/>
            <p:nvPr/>
          </p:nvSpPr>
          <p:spPr>
            <a:xfrm>
              <a:off x="1422844" y="3779758"/>
              <a:ext cx="6875008"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learnable lineage embeddings, captures the correlations masking and contrastive methods</a:t>
              </a:r>
            </a:p>
          </p:txBody>
        </p:sp>
        <p:sp>
          <p:nvSpPr>
            <p:cNvPr id="17" name="TextBox 17"/>
            <p:cNvSpPr txBox="1"/>
            <p:nvPr/>
          </p:nvSpPr>
          <p:spPr>
            <a:xfrm>
              <a:off x="1422844" y="4008358"/>
              <a:ext cx="1448476"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leave on the table.</a:t>
              </a:r>
            </a:p>
          </p:txBody>
        </p:sp>
      </p:grpSp>
      <p:grpSp>
        <p:nvGrpSpPr>
          <p:cNvPr id="25" name="Group 25"/>
          <p:cNvGrpSpPr/>
          <p:nvPr/>
        </p:nvGrpSpPr>
        <p:grpSpPr>
          <a:xfrm>
            <a:off x="609600" y="4191000"/>
            <a:ext cx="10972800" cy="1104900"/>
            <a:chOff x="609600" y="4191000"/>
            <a:chExt cx="10972800" cy="1104900"/>
          </a:xfrm>
        </p:grpSpPr>
        <p:sp>
          <p:nvSpPr>
            <p:cNvPr id="19" name="Rectangle 19"/>
            <p:cNvSpPr/>
            <p:nvPr/>
          </p:nvSpPr>
          <p:spPr>
            <a:xfrm>
              <a:off x="609600" y="4191000"/>
              <a:ext cx="10972800" cy="1104900"/>
            </a:xfrm>
            <a:prstGeom prst="roundRect">
              <a:avLst>
                <a:gd name="adj" fmla="val 12069"/>
              </a:avLst>
            </a:prstGeom>
            <a:solidFill>
              <a:schemeClr val="accent5"/>
            </a:solidFill>
            <a:ln w="14288">
              <a:solidFill>
                <a:srgbClr val="26455F"/>
              </a:solidFill>
            </a:ln>
          </p:spPr>
        </p:sp>
        <p:sp>
          <p:nvSpPr>
            <p:cNvPr id="20" name="Rectangle 20"/>
            <p:cNvSpPr/>
            <p:nvPr/>
          </p:nvSpPr>
          <p:spPr>
            <a:xfrm>
              <a:off x="609600" y="4191000"/>
              <a:ext cx="57150" cy="1104900"/>
            </a:xfrm>
            <a:prstGeom prst="roundRect">
              <a:avLst>
                <a:gd name="adj" fmla="val 50000"/>
              </a:avLst>
            </a:prstGeom>
            <a:solidFill>
              <a:srgbClr val="48C78E"/>
            </a:solidFill>
            <a:ln>
              <a:noFill/>
            </a:ln>
          </p:spPr>
        </p:sp>
        <p:sp>
          <p:nvSpPr>
            <p:cNvPr id="21" name="Ellipse 21"/>
            <p:cNvSpPr/>
            <p:nvPr/>
          </p:nvSpPr>
          <p:spPr>
            <a:xfrm>
              <a:off x="971550" y="4648200"/>
              <a:ext cx="190500" cy="190500"/>
            </a:xfrm>
            <a:prstGeom prst="ellipse">
              <a:avLst/>
            </a:prstGeom>
            <a:solidFill>
              <a:srgbClr val="48C78E"/>
            </a:solidFill>
            <a:ln>
              <a:noFill/>
            </a:ln>
          </p:spPr>
        </p:sp>
        <p:sp>
          <p:nvSpPr>
            <p:cNvPr id="22" name="TextBox 22"/>
            <p:cNvSpPr txBox="1"/>
            <p:nvPr/>
          </p:nvSpPr>
          <p:spPr>
            <a:xfrm>
              <a:off x="1421511" y="4475321"/>
              <a:ext cx="3694795"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Simple, general, and state of the art</a:t>
              </a:r>
            </a:p>
          </p:txBody>
        </p:sp>
        <p:sp>
          <p:nvSpPr>
            <p:cNvPr id="23" name="TextBox 23"/>
            <p:cNvSpPr txBox="1"/>
            <p:nvPr/>
          </p:nvSpPr>
          <p:spPr>
            <a:xfrm>
              <a:off x="1422844" y="4808458"/>
              <a:ext cx="6903846"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The payoff is a simple, general framework that drops onto modern backbones, scales with</a:t>
              </a:r>
            </a:p>
          </p:txBody>
        </p:sp>
        <p:sp>
          <p:nvSpPr>
            <p:cNvPr id="24" name="TextBox 24"/>
            <p:cNvSpPr txBox="1"/>
            <p:nvPr/>
          </p:nvSpPr>
          <p:spPr>
            <a:xfrm>
              <a:off x="1422844" y="5037058"/>
              <a:ext cx="6835968"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larger and more diverse data, and sets a new state of the art across tasks and domains.</a:t>
              </a:r>
            </a:p>
          </p:txBody>
        </p:sp>
      </p:grpSp>
      <p:sp>
        <p:nvSpPr>
          <p:cNvPr id="26" name="Line 26"/>
          <p:cNvSpPr/>
          <p:nvPr/>
        </p:nvSpPr>
        <p:spPr>
          <a:xfrm>
            <a:off x="609600" y="56769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27" name="Rectangle 27"/>
          <p:cNvSpPr/>
          <p:nvPr/>
        </p:nvSpPr>
        <p:spPr>
          <a:xfrm>
            <a:off x="609600" y="5829300"/>
            <a:ext cx="1428750" cy="381000"/>
          </a:xfrm>
          <a:prstGeom prst="roundRect">
            <a:avLst>
              <a:gd name="adj" fmla="val 20000"/>
            </a:avLst>
          </a:prstGeom>
          <a:solidFill>
            <a:srgbClr val="0E2334"/>
          </a:solidFill>
          <a:ln w="14288">
            <a:solidFill>
              <a:srgbClr val="26455F"/>
            </a:solidFill>
          </a:ln>
        </p:spPr>
        <p:txBody>
          <a:bodyPr/>
          <a:p/>
        </p:txBody>
      </p:sp>
      <p:sp>
        <p:nvSpPr>
          <p:cNvPr id="28" name="Polyline 28"/>
          <p:cNvSpPr/>
          <p:nvPr/>
        </p:nvSpPr>
        <p:spPr>
          <a:xfrm>
            <a:off x="685800" y="5937885"/>
            <a:ext cx="1276350" cy="180022"/>
          </a:xfrm>
          <a:custGeom>
            <a:avLst/>
            <a:gdLst/>
            <a:ahLst/>
            <a:cxnLst/>
            <a:rect l="l" t="t" r="r" b="b"/>
            <a:pathLst>
              <a:path w="1276350" h="180022">
                <a:moveTo>
                  <a:pt x="0" y="58103"/>
                </a:moveTo>
                <a:lnTo>
                  <a:pt x="20002" y="40005"/>
                </a:lnTo>
                <a:lnTo>
                  <a:pt x="40005" y="23812"/>
                </a:lnTo>
                <a:lnTo>
                  <a:pt x="60007" y="11430"/>
                </a:lnTo>
                <a:lnTo>
                  <a:pt x="80010" y="3810"/>
                </a:lnTo>
                <a:lnTo>
                  <a:pt x="100012" y="0"/>
                </a:lnTo>
                <a:lnTo>
                  <a:pt x="120015" y="953"/>
                </a:lnTo>
                <a:lnTo>
                  <a:pt x="140018" y="5715"/>
                </a:lnTo>
                <a:lnTo>
                  <a:pt x="160020" y="13335"/>
                </a:lnTo>
                <a:lnTo>
                  <a:pt x="179070" y="21908"/>
                </a:lnTo>
                <a:lnTo>
                  <a:pt x="199073" y="31433"/>
                </a:lnTo>
                <a:lnTo>
                  <a:pt x="219075" y="40005"/>
                </a:lnTo>
                <a:lnTo>
                  <a:pt x="239077" y="47625"/>
                </a:lnTo>
                <a:lnTo>
                  <a:pt x="259080" y="52388"/>
                </a:lnTo>
                <a:lnTo>
                  <a:pt x="279082" y="56197"/>
                </a:lnTo>
                <a:lnTo>
                  <a:pt x="299085" y="57150"/>
                </a:lnTo>
                <a:lnTo>
                  <a:pt x="319088" y="57150"/>
                </a:lnTo>
                <a:lnTo>
                  <a:pt x="339090" y="56197"/>
                </a:lnTo>
                <a:lnTo>
                  <a:pt x="359092" y="55245"/>
                </a:lnTo>
                <a:lnTo>
                  <a:pt x="379095" y="55245"/>
                </a:lnTo>
                <a:lnTo>
                  <a:pt x="399098" y="58103"/>
                </a:lnTo>
                <a:lnTo>
                  <a:pt x="419100" y="63818"/>
                </a:lnTo>
                <a:lnTo>
                  <a:pt x="439102" y="72390"/>
                </a:lnTo>
                <a:lnTo>
                  <a:pt x="459105" y="83820"/>
                </a:lnTo>
                <a:lnTo>
                  <a:pt x="478155" y="98108"/>
                </a:lnTo>
                <a:lnTo>
                  <a:pt x="498158" y="114300"/>
                </a:lnTo>
                <a:lnTo>
                  <a:pt x="518160" y="130493"/>
                </a:lnTo>
                <a:lnTo>
                  <a:pt x="538162" y="146685"/>
                </a:lnTo>
                <a:lnTo>
                  <a:pt x="558165" y="160972"/>
                </a:lnTo>
                <a:lnTo>
                  <a:pt x="578167" y="171450"/>
                </a:lnTo>
                <a:lnTo>
                  <a:pt x="598170" y="178118"/>
                </a:lnTo>
                <a:lnTo>
                  <a:pt x="618172" y="180022"/>
                </a:lnTo>
                <a:lnTo>
                  <a:pt x="638175" y="177165"/>
                </a:lnTo>
                <a:lnTo>
                  <a:pt x="658178" y="169545"/>
                </a:lnTo>
                <a:lnTo>
                  <a:pt x="678180" y="158115"/>
                </a:lnTo>
                <a:lnTo>
                  <a:pt x="698183" y="142875"/>
                </a:lnTo>
                <a:lnTo>
                  <a:pt x="718185" y="125730"/>
                </a:lnTo>
                <a:lnTo>
                  <a:pt x="738188" y="108585"/>
                </a:lnTo>
                <a:lnTo>
                  <a:pt x="758190" y="92393"/>
                </a:lnTo>
                <a:lnTo>
                  <a:pt x="778192" y="77153"/>
                </a:lnTo>
                <a:lnTo>
                  <a:pt x="798195" y="65722"/>
                </a:lnTo>
                <a:lnTo>
                  <a:pt x="817245" y="56197"/>
                </a:lnTo>
                <a:lnTo>
                  <a:pt x="837248" y="51435"/>
                </a:lnTo>
                <a:lnTo>
                  <a:pt x="857250" y="48578"/>
                </a:lnTo>
                <a:lnTo>
                  <a:pt x="877252" y="48578"/>
                </a:lnTo>
                <a:lnTo>
                  <a:pt x="897255" y="49530"/>
                </a:lnTo>
                <a:lnTo>
                  <a:pt x="917258" y="50483"/>
                </a:lnTo>
                <a:lnTo>
                  <a:pt x="937260" y="51435"/>
                </a:lnTo>
                <a:lnTo>
                  <a:pt x="957262" y="51435"/>
                </a:lnTo>
                <a:lnTo>
                  <a:pt x="977265" y="49530"/>
                </a:lnTo>
                <a:lnTo>
                  <a:pt x="997267" y="44768"/>
                </a:lnTo>
                <a:lnTo>
                  <a:pt x="1017270" y="39053"/>
                </a:lnTo>
                <a:lnTo>
                  <a:pt x="1037272" y="31433"/>
                </a:lnTo>
                <a:lnTo>
                  <a:pt x="1057275" y="22860"/>
                </a:lnTo>
                <a:lnTo>
                  <a:pt x="1077278" y="15240"/>
                </a:lnTo>
                <a:lnTo>
                  <a:pt x="1097280" y="8572"/>
                </a:lnTo>
                <a:lnTo>
                  <a:pt x="1116330" y="4762"/>
                </a:lnTo>
                <a:lnTo>
                  <a:pt x="1136332" y="4762"/>
                </a:lnTo>
                <a:lnTo>
                  <a:pt x="1156335" y="9525"/>
                </a:lnTo>
                <a:lnTo>
                  <a:pt x="1176338" y="18097"/>
                </a:lnTo>
                <a:lnTo>
                  <a:pt x="1196340" y="30480"/>
                </a:lnTo>
                <a:lnTo>
                  <a:pt x="1216342" y="46672"/>
                </a:lnTo>
                <a:lnTo>
                  <a:pt x="1236345" y="65722"/>
                </a:lnTo>
                <a:lnTo>
                  <a:pt x="1256348" y="85725"/>
                </a:lnTo>
                <a:lnTo>
                  <a:pt x="1276350" y="105728"/>
                </a:lnTo>
              </a:path>
            </a:pathLst>
          </a:custGeom>
          <a:noFill/>
          <a:ln w="24765" cap="rnd">
            <a:solidFill>
              <a:srgbClr val="34D3C0"/>
            </a:solidFill>
            <a:round/>
          </a:ln>
        </p:spPr>
        <p:txBody>
          <a:bodyPr/>
          <a:p/>
        </p:txBody>
      </p:sp>
      <p:sp>
        <p:nvSpPr>
          <p:cNvPr id="29" name="Rectangle 29"/>
          <p:cNvSpPr/>
          <p:nvPr/>
        </p:nvSpPr>
        <p:spPr>
          <a:xfrm>
            <a:off x="2209800" y="5829300"/>
            <a:ext cx="1428750" cy="381000"/>
          </a:xfrm>
          <a:prstGeom prst="roundRect">
            <a:avLst>
              <a:gd name="adj" fmla="val 20000"/>
            </a:avLst>
          </a:prstGeom>
          <a:solidFill>
            <a:srgbClr val="0E2334"/>
          </a:solidFill>
          <a:ln w="14288">
            <a:solidFill>
              <a:srgbClr val="26455F"/>
            </a:solidFill>
          </a:ln>
        </p:spPr>
        <p:txBody>
          <a:bodyPr/>
          <a:p/>
        </p:txBody>
      </p:sp>
      <p:sp>
        <p:nvSpPr>
          <p:cNvPr id="30" name="Rectangle 30"/>
          <p:cNvSpPr/>
          <p:nvPr/>
        </p:nvSpPr>
        <p:spPr>
          <a:xfrm>
            <a:off x="2987992" y="5886450"/>
            <a:ext cx="382905" cy="266700"/>
          </a:xfrm>
          <a:prstGeom prst="roundRect">
            <a:avLst>
              <a:gd name="adj" fmla="val 14286"/>
            </a:avLst>
          </a:prstGeom>
          <a:solidFill>
            <a:srgbClr val="F2C14E">
              <a:alpha val="20000"/>
            </a:srgbClr>
          </a:solidFill>
          <a:ln>
            <a:noFill/>
          </a:ln>
        </p:spPr>
        <p:txBody>
          <a:bodyPr/>
          <a:p/>
        </p:txBody>
      </p:sp>
      <p:sp>
        <p:nvSpPr>
          <p:cNvPr id="31" name="Line 31"/>
          <p:cNvSpPr/>
          <p:nvPr/>
        </p:nvSpPr>
        <p:spPr>
          <a:xfrm>
            <a:off x="2987992" y="5886450"/>
            <a:ext cx="9525" cy="266700"/>
          </a:xfrm>
          <a:custGeom>
            <a:avLst/>
            <a:gdLst/>
            <a:ahLst/>
            <a:cxnLst/>
            <a:rect l="l" t="t" r="r" b="b"/>
            <a:pathLst>
              <a:path w="9525" h="266700">
                <a:moveTo>
                  <a:pt x="0" y="0"/>
                </a:moveTo>
                <a:lnTo>
                  <a:pt x="0" y="266700"/>
                </a:lnTo>
              </a:path>
            </a:pathLst>
          </a:custGeom>
          <a:noFill/>
          <a:ln w="11430" cap="rnd">
            <a:solidFill>
              <a:srgbClr val="F2C14E"/>
            </a:solidFill>
            <a:custDash>
              <a:ds d="250000" sp="250000"/>
            </a:custDash>
          </a:ln>
        </p:spPr>
        <p:txBody>
          <a:bodyPr/>
          <a:p/>
        </p:txBody>
      </p:sp>
      <p:sp>
        <p:nvSpPr>
          <p:cNvPr id="32" name="Line 32"/>
          <p:cNvSpPr/>
          <p:nvPr/>
        </p:nvSpPr>
        <p:spPr>
          <a:xfrm>
            <a:off x="3370898" y="5886450"/>
            <a:ext cx="9525" cy="266700"/>
          </a:xfrm>
          <a:custGeom>
            <a:avLst/>
            <a:gdLst/>
            <a:ahLst/>
            <a:cxnLst/>
            <a:rect l="l" t="t" r="r" b="b"/>
            <a:pathLst>
              <a:path w="9525" h="266700">
                <a:moveTo>
                  <a:pt x="0" y="0"/>
                </a:moveTo>
                <a:lnTo>
                  <a:pt x="0" y="266700"/>
                </a:lnTo>
              </a:path>
            </a:pathLst>
          </a:custGeom>
          <a:noFill/>
          <a:ln w="11430" cap="rnd">
            <a:solidFill>
              <a:srgbClr val="F2C14E"/>
            </a:solidFill>
            <a:custDash>
              <a:ds d="250000" sp="250000"/>
            </a:custDash>
          </a:ln>
        </p:spPr>
        <p:txBody>
          <a:bodyPr/>
          <a:p/>
        </p:txBody>
      </p:sp>
      <p:sp>
        <p:nvSpPr>
          <p:cNvPr id="33" name="Polyline 33"/>
          <p:cNvSpPr/>
          <p:nvPr/>
        </p:nvSpPr>
        <p:spPr>
          <a:xfrm>
            <a:off x="2286000" y="5955982"/>
            <a:ext cx="1276350" cy="159068"/>
          </a:xfrm>
          <a:custGeom>
            <a:avLst/>
            <a:gdLst/>
            <a:ahLst/>
            <a:cxnLst/>
            <a:rect l="l" t="t" r="r" b="b"/>
            <a:pathLst>
              <a:path w="1276350" h="159068">
                <a:moveTo>
                  <a:pt x="0" y="17145"/>
                </a:moveTo>
                <a:lnTo>
                  <a:pt x="20002" y="31433"/>
                </a:lnTo>
                <a:lnTo>
                  <a:pt x="40005" y="43815"/>
                </a:lnTo>
                <a:lnTo>
                  <a:pt x="60008" y="54293"/>
                </a:lnTo>
                <a:lnTo>
                  <a:pt x="80010" y="62865"/>
                </a:lnTo>
                <a:lnTo>
                  <a:pt x="100012" y="68580"/>
                </a:lnTo>
                <a:lnTo>
                  <a:pt x="120015" y="71438"/>
                </a:lnTo>
                <a:lnTo>
                  <a:pt x="140017" y="72390"/>
                </a:lnTo>
                <a:lnTo>
                  <a:pt x="160020" y="72390"/>
                </a:lnTo>
                <a:lnTo>
                  <a:pt x="179070" y="72390"/>
                </a:lnTo>
                <a:lnTo>
                  <a:pt x="199072" y="72390"/>
                </a:lnTo>
                <a:lnTo>
                  <a:pt x="219075" y="75248"/>
                </a:lnTo>
                <a:lnTo>
                  <a:pt x="239078" y="80010"/>
                </a:lnTo>
                <a:lnTo>
                  <a:pt x="259080" y="86678"/>
                </a:lnTo>
                <a:lnTo>
                  <a:pt x="279083" y="96203"/>
                </a:lnTo>
                <a:lnTo>
                  <a:pt x="299085" y="107633"/>
                </a:lnTo>
                <a:lnTo>
                  <a:pt x="319088" y="120015"/>
                </a:lnTo>
                <a:lnTo>
                  <a:pt x="339090" y="131445"/>
                </a:lnTo>
                <a:lnTo>
                  <a:pt x="359092" y="141923"/>
                </a:lnTo>
                <a:lnTo>
                  <a:pt x="379095" y="149543"/>
                </a:lnTo>
                <a:lnTo>
                  <a:pt x="399097" y="154305"/>
                </a:lnTo>
                <a:lnTo>
                  <a:pt x="419100" y="153353"/>
                </a:lnTo>
                <a:lnTo>
                  <a:pt x="439103" y="148590"/>
                </a:lnTo>
                <a:lnTo>
                  <a:pt x="459105" y="139065"/>
                </a:lnTo>
                <a:lnTo>
                  <a:pt x="478155" y="125730"/>
                </a:lnTo>
                <a:lnTo>
                  <a:pt x="498158" y="108585"/>
                </a:lnTo>
                <a:lnTo>
                  <a:pt x="518160" y="89535"/>
                </a:lnTo>
                <a:lnTo>
                  <a:pt x="538162" y="69533"/>
                </a:lnTo>
                <a:lnTo>
                  <a:pt x="558165" y="50483"/>
                </a:lnTo>
                <a:lnTo>
                  <a:pt x="578167" y="33338"/>
                </a:lnTo>
                <a:lnTo>
                  <a:pt x="598170" y="19050"/>
                </a:lnTo>
                <a:lnTo>
                  <a:pt x="618172" y="8573"/>
                </a:lnTo>
                <a:lnTo>
                  <a:pt x="638175" y="1905"/>
                </a:lnTo>
                <a:lnTo>
                  <a:pt x="658178" y="0"/>
                </a:lnTo>
                <a:lnTo>
                  <a:pt x="678180" y="0"/>
                </a:lnTo>
                <a:lnTo>
                  <a:pt x="698183" y="3810"/>
                </a:lnTo>
                <a:lnTo>
                  <a:pt x="718185" y="8573"/>
                </a:lnTo>
                <a:lnTo>
                  <a:pt x="738188" y="14288"/>
                </a:lnTo>
                <a:lnTo>
                  <a:pt x="758190" y="20003"/>
                </a:lnTo>
                <a:lnTo>
                  <a:pt x="778192" y="23812"/>
                </a:lnTo>
                <a:lnTo>
                  <a:pt x="798195" y="25718"/>
                </a:lnTo>
                <a:lnTo>
                  <a:pt x="817245" y="25718"/>
                </a:lnTo>
                <a:lnTo>
                  <a:pt x="837247" y="23812"/>
                </a:lnTo>
                <a:lnTo>
                  <a:pt x="857250" y="20955"/>
                </a:lnTo>
                <a:lnTo>
                  <a:pt x="877253" y="17145"/>
                </a:lnTo>
                <a:lnTo>
                  <a:pt x="897255" y="14288"/>
                </a:lnTo>
                <a:lnTo>
                  <a:pt x="917258" y="13335"/>
                </a:lnTo>
                <a:lnTo>
                  <a:pt x="937260" y="14288"/>
                </a:lnTo>
                <a:lnTo>
                  <a:pt x="957262" y="19050"/>
                </a:lnTo>
                <a:lnTo>
                  <a:pt x="977265" y="26670"/>
                </a:lnTo>
                <a:lnTo>
                  <a:pt x="997267" y="38100"/>
                </a:lnTo>
                <a:lnTo>
                  <a:pt x="1017270" y="53340"/>
                </a:lnTo>
                <a:lnTo>
                  <a:pt x="1037272" y="70485"/>
                </a:lnTo>
                <a:lnTo>
                  <a:pt x="1057275" y="89535"/>
                </a:lnTo>
                <a:lnTo>
                  <a:pt x="1077278" y="107633"/>
                </a:lnTo>
                <a:lnTo>
                  <a:pt x="1097280" y="125730"/>
                </a:lnTo>
                <a:lnTo>
                  <a:pt x="1116330" y="140018"/>
                </a:lnTo>
                <a:lnTo>
                  <a:pt x="1136332" y="151448"/>
                </a:lnTo>
                <a:lnTo>
                  <a:pt x="1156335" y="158115"/>
                </a:lnTo>
                <a:lnTo>
                  <a:pt x="1176338" y="159068"/>
                </a:lnTo>
                <a:lnTo>
                  <a:pt x="1196340" y="156210"/>
                </a:lnTo>
                <a:lnTo>
                  <a:pt x="1216342" y="148590"/>
                </a:lnTo>
                <a:lnTo>
                  <a:pt x="1236345" y="138112"/>
                </a:lnTo>
                <a:lnTo>
                  <a:pt x="1256347" y="124778"/>
                </a:lnTo>
                <a:lnTo>
                  <a:pt x="1276350" y="110490"/>
                </a:lnTo>
              </a:path>
            </a:pathLst>
          </a:custGeom>
          <a:noFill/>
          <a:ln w="24765" cap="rnd">
            <a:solidFill>
              <a:schemeClr val="accent2"/>
            </a:solidFill>
            <a:round/>
          </a:ln>
        </p:spPr>
        <p:txBody>
          <a:bodyPr/>
          <a:p/>
        </p:txBody>
      </p:sp>
      <p:sp>
        <p:nvSpPr>
          <p:cNvPr id="34" name="TextBox 34"/>
          <p:cNvSpPr txBox="1"/>
          <p:nvPr/>
        </p:nvSpPr>
        <p:spPr>
          <a:xfrm>
            <a:off x="7432023" y="5944552"/>
            <a:ext cx="4155711"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TimeSiam · Siamese Time-Series Pre-Training · ICML 2024</a:t>
            </a:r>
          </a:p>
        </p:txBody>
      </p:sp>
      <p:sp>
        <p:nvSpPr>
          <p:cNvPr id="35" name="cue_s10_c1_lasting_takeaway_reframing" title="cue_s10_c1_lasting_takeaway_reframing" descr="cue_s10_c1_lasting_takeaway_reframing The lasting takeaway is a reframing."/>
          <p:cNvSpPr/>
          <p:nvPr/>
        </p:nvSpPr>
        <p:spPr>
          <a:xfrm>
            <a:off x="609600" y="1676095"/>
            <a:ext cx="109728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10_c2_posing_time_series_pre_training_past" title="cue_s10_c2_posing_time_series_pre_training_past" descr="cue_s10_c2_posing_time_series_pre_training_past By posing time series pre-training as past-to-current reconstruction between Siamese subseries, and equipping the model with learnable lineage embeddings to span different temporal distances, TimeSiam captures exactly the correlations that masking and contrast"/>
          <p:cNvSpPr/>
          <p:nvPr/>
        </p:nvSpPr>
        <p:spPr>
          <a:xfrm>
            <a:off x="609600" y="2933852"/>
            <a:ext cx="10972800" cy="130233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10_c3_payoff_simple_general_framework_drop" title="cue_s10_c3_payoff_simple_general_framework_drop" descr="cue_s10_c3_payoff_simple_general_framework_drop The payoff is a simple, general framework that drops onto modern backbones, scales with larger and more diverse data, and sets a new state of the art for transfer across tasks and domains."/>
          <p:cNvSpPr/>
          <p:nvPr/>
        </p:nvSpPr>
        <p:spPr>
          <a:xfrm>
            <a:off x="609600" y="4190923"/>
            <a:ext cx="109728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EAF2FB"/>
      </a:dk1>
      <a:lt1>
        <a:srgbClr val="0B1B2B"/>
      </a:lt1>
      <a:dk2>
        <a:srgbClr val="9DB3C8"/>
      </a:dk2>
      <a:lt2>
        <a:srgbClr val="0B1B2B"/>
      </a:lt2>
      <a:accent1>
        <a:srgbClr val="4C9BE8"/>
      </a:accent1>
      <a:accent2>
        <a:srgbClr val="4C9BE8"/>
      </a:accent2>
      <a:accent3>
        <a:srgbClr val="4C9BE8"/>
      </a:accent3>
      <a:accent4>
        <a:srgbClr val="8064A2"/>
      </a:accent4>
      <a:accent5>
        <a:srgbClr val="12293D"/>
      </a:accent5>
      <a:accent6>
        <a:srgbClr val="16324A"/>
      </a:accent6>
      <a:hlink>
        <a:srgbClr val="4C9BE8"/>
      </a:hlink>
      <a:folHlink>
        <a:srgbClr val="4C9BE8"/>
      </a:folHlink>
    </a:clrScheme>
    <a:fontScheme name="deck">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2026-07-16T11:01:33Z</dcterms:created>
  <dcterms:modified xsi:type="dcterms:W3CDTF">2026-07-16T11:01:33Z</dcterms:modified>
  <cp:category/>
  <cp:contentStatus/>
</cp:coreProperties>
</file>
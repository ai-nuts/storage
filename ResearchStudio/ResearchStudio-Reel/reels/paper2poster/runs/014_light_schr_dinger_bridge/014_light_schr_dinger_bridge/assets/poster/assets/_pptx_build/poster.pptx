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890764"/>
          </a:xfrm>
          <a:prstGeom prst="roundRect">
            <a:avLst>
              <a:gd name="adj" fmla="val 4265"/>
            </a:avLst>
          </a:prstGeom>
          <a:solidFill>
            <a:srgbClr val="FFFFFF"/>
          </a:solidFill>
          <a:ln w="35560">
            <a:solidFill>
              <a:srgbClr val="7D286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307898" y="1043047"/>
            <a:ext cx="5547360" cy="1801614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5064105"/>
            <a:ext cx="16349682" cy="6994068"/>
          </a:xfrm>
          <a:prstGeom prst="roundRect">
            <a:avLst>
              <a:gd name="adj" fmla="val 237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5064105"/>
            <a:ext cx="16349682" cy="25007847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5064105"/>
            <a:ext cx="16349821" cy="12185967"/>
          </a:xfrm>
          <a:prstGeom prst="roundRect">
            <a:avLst>
              <a:gd name="adj" fmla="val 136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2390020"/>
            <a:ext cx="16349682" cy="7636788"/>
          </a:xfrm>
          <a:prstGeom prst="roundRect">
            <a:avLst>
              <a:gd name="adj" fmla="val 217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17581919"/>
            <a:ext cx="16349821" cy="5879902"/>
          </a:xfrm>
          <a:prstGeom prst="roundRect">
            <a:avLst>
              <a:gd name="adj" fmla="val 282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20358655"/>
            <a:ext cx="16349682" cy="9713297"/>
          </a:xfrm>
          <a:prstGeom prst="roundRect">
            <a:avLst>
              <a:gd name="adj" fmla="val 1708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04691" y="23793668"/>
            <a:ext cx="16349821" cy="6278284"/>
          </a:xfrm>
          <a:prstGeom prst="roundRect">
            <a:avLst>
              <a:gd name="adj" fmla="val 2643"/>
            </a:avLst>
          </a:prstGeom>
          <a:solidFill>
            <a:srgbClr val="F6ECF1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23793668"/>
            <a:ext cx="53340" cy="6278284"/>
          </a:xfrm>
          <a:prstGeom prst="rect">
            <a:avLst/>
          </a:prstGeom>
          <a:solidFill>
            <a:srgbClr val="7D28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2378" y="1220566"/>
            <a:ext cx="4978400" cy="144657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0777" y="5072995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437179" y="5072995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13581" y="5072995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9991" y="9710935"/>
            <a:ext cx="15573474" cy="1961635"/>
          </a:xfrm>
          <a:prstGeom prst="roundRect">
            <a:avLst>
              <a:gd name="adj" fmla="val 9305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9710935"/>
            <a:ext cx="124460" cy="1961635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0777" y="12398910"/>
            <a:ext cx="16331902" cy="1180426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13581" y="17590809"/>
            <a:ext cx="16332041" cy="1180426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592795" y="19091275"/>
            <a:ext cx="15573613" cy="3982442"/>
          </a:xfrm>
          <a:prstGeom prst="roundRect">
            <a:avLst>
              <a:gd name="adj" fmla="val 1785"/>
            </a:avLst>
          </a:prstGeom>
          <a:gradFill rotWithShape="1" flip="none">
            <a:gsLst>
              <a:gs pos="0">
                <a:srgbClr val="EFE5EC"/>
              </a:gs>
              <a:gs pos="100000">
                <a:srgbClr val="F7F2F5"/>
              </a:gs>
            </a:gsLst>
            <a:lin ang="5400000" scaled="0"/>
          </a:gradFill>
          <a:ln w="8890">
            <a:solidFill>
              <a:srgbClr val="DEC9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777" y="20367545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58031" y="23802558"/>
            <a:ext cx="16287591" cy="1180425"/>
          </a:xfrm>
          <a:prstGeom prst="roundRect">
            <a:avLst>
              <a:gd name="adj" fmla="val 14058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637245" y="25303023"/>
            <a:ext cx="15529163" cy="4380825"/>
          </a:xfrm>
          <a:prstGeom prst="roundRect">
            <a:avLst>
              <a:gd name="adj" fmla="val 4762"/>
            </a:avLst>
          </a:prstGeom>
          <a:solidFill>
            <a:srgbClr val="7D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kolkovo-institute-of-science-and-techn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9673" y="3129150"/>
            <a:ext cx="3309580" cy="1022331"/>
          </a:xfrm>
          <a:prstGeom prst="rect">
            <a:avLst/>
          </a:prstGeom>
        </p:spPr>
      </p:pic>
      <p:pic>
        <p:nvPicPr>
          <p:cNvPr id="25" name="Picture 24" descr="artificial-intelligence-research-instit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6227" y="3129159"/>
            <a:ext cx="3359031" cy="1022313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529496" y="9867344"/>
            <a:ext cx="1173897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GAP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626133" y="9984997"/>
            <a:ext cx="15506799" cy="6153408"/>
          </a:xfrm>
          <a:prstGeom prst="roundRect">
            <a:avLst>
              <a:gd name="adj" fmla="val 154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6238" y="9984997"/>
            <a:ext cx="15506588" cy="6153408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929602" y="13087607"/>
            <a:ext cx="15347057" cy="15243989"/>
          </a:xfrm>
          <a:prstGeom prst="roundRect">
            <a:avLst>
              <a:gd name="adj" fmla="val 62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9636" y="13087607"/>
            <a:ext cx="15346988" cy="1524398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39991" y="17845285"/>
            <a:ext cx="4625717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EOT/SB benchmark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22116" y="17845285"/>
            <a:ext cx="3886736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MSCI single-cell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65260" y="17845285"/>
            <a:ext cx="2950786" cy="819825"/>
          </a:xfrm>
          <a:prstGeom prst="roundRect">
            <a:avLst>
              <a:gd name="adj" fmla="val 50000"/>
            </a:avLst>
          </a:prstGeom>
          <a:solidFill>
            <a:srgbClr val="F2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7D2860"/>
                </a:solidFill>
                <a:latin typeface="Arial"/>
              </a:rPr>
              <a:t>FFHQ 1024²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972454" y="17845285"/>
            <a:ext cx="2999542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ALAE latent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9991" y="18821519"/>
            <a:ext cx="2792015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D = 2–1000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88415" y="18821519"/>
            <a:ext cx="2560597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ϵ = 0.1–10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84576" y="19313525"/>
            <a:ext cx="6635968" cy="35854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84576" y="19313525"/>
            <a:ext cx="11557" cy="3585448"/>
          </a:xfrm>
          <a:prstGeom prst="rect">
            <a:avLst/>
          </a:prstGeom>
          <a:solidFill>
            <a:srgbClr val="DEC9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592795" y="7017543"/>
            <a:ext cx="6461641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592795" y="7823061"/>
            <a:ext cx="646164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054436" y="7017543"/>
            <a:ext cx="4341932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054436" y="7823061"/>
            <a:ext cx="434193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396368" y="7017543"/>
            <a:ext cx="4770040" cy="814408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396368" y="7823061"/>
            <a:ext cx="477004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592795" y="7831951"/>
            <a:ext cx="6461641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92795" y="8641913"/>
            <a:ext cx="646164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054436" y="7831951"/>
            <a:ext cx="4341932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054436" y="8641913"/>
            <a:ext cx="434193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396368" y="7831951"/>
            <a:ext cx="4770040" cy="818852"/>
          </a:xfrm>
          <a:prstGeom prst="rect">
            <a:avLst/>
          </a:prstGeom>
          <a:solidFill>
            <a:srgbClr val="F4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396368" y="8641913"/>
            <a:ext cx="477004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592795" y="8650803"/>
            <a:ext cx="646164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9460765"/>
            <a:ext cx="646164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054436" y="8650803"/>
            <a:ext cx="434193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054436" y="9460765"/>
            <a:ext cx="434193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396368" y="8650803"/>
            <a:ext cx="477004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396368" y="9460765"/>
            <a:ext cx="477004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51141" y="1043047"/>
            <a:ext cx="41408925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7D2860"/>
                </a:solidFill>
                <a:latin typeface="Arial"/>
              </a:rPr>
              <a:t>Light Schrödinger Bridge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1141" y="2398910"/>
            <a:ext cx="41408925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C1C1C"/>
                </a:solidFill>
                <a:latin typeface="Arial"/>
              </a:rPr>
              <a:t>Alexander Korotin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920" b="0">
                <a:solidFill>
                  <a:srgbClr val="1C1C1C"/>
                </a:solidFill>
                <a:latin typeface="Arial"/>
              </a:rPr>
              <a:t>, Nikita Gushchin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920" b="0">
                <a:solidFill>
                  <a:srgbClr val="1C1C1C"/>
                </a:solidFill>
                <a:latin typeface="Arial"/>
              </a:rPr>
              <a:t>, Evgeny Burnaev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51141" y="3099137"/>
            <a:ext cx="41408925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Skolkovo Institute of Science and Technology  ·  </a:t>
            </a:r>
            <a:r>
              <a:rPr sz="3658" b="0" spc="52" baseline="30000">
                <a:solidFill>
                  <a:srgbClr val="555555"/>
                </a:solidFill>
                <a:latin typeface="Arial"/>
              </a:rPr>
              <a:t>2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Artificial Intelligence Research Institute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777" y="5072995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437179" y="5072995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213581" y="5072995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6488033"/>
            <a:ext cx="160001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Schrödinger Bridge (SB)</a:t>
            </a:r>
            <a:r>
              <a:rPr sz="4106" b="0">
                <a:solidFill>
                  <a:srgbClr val="1C1C1C"/>
                </a:solidFill>
                <a:latin typeface="Arial"/>
              </a:rPr>
              <a:t> solvers are </a:t>
            </a:r>
            <a:r>
              <a:rPr sz="4106" b="1">
                <a:solidFill>
                  <a:srgbClr val="111111"/>
                </a:solidFill>
                <a:latin typeface="Arial"/>
              </a:rPr>
              <a:t>heavy</a:t>
            </a:r>
            <a:r>
              <a:rPr sz="4106" b="0">
                <a:solidFill>
                  <a:srgbClr val="1C1C1C"/>
                </a:solidFill>
                <a:latin typeface="Arial"/>
              </a:rPr>
              <a:t> — stacks of neural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networks and complex, often adversarial optimization. No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simple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baseline</a:t>
            </a:r>
            <a:r>
              <a:rPr sz="4106" b="0">
                <a:solidFill>
                  <a:srgbClr val="1C1C1C"/>
                </a:solidFill>
                <a:latin typeface="Arial"/>
              </a:rPr>
              <a:t> exists, the SB analogue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k-means</a:t>
            </a:r>
            <a:r>
              <a:rPr sz="4106" b="0">
                <a:solidFill>
                  <a:srgbClr val="1C1C1C"/>
                </a:solidFill>
                <a:latin typeface="Arial"/>
              </a:rPr>
              <a:t> 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Sinkhorn</a:t>
            </a:r>
            <a:r>
              <a:rPr sz="4106" b="0">
                <a:solidFill>
                  <a:srgbClr val="1C1C1C"/>
                </a:solidFill>
                <a:latin typeface="Arial"/>
              </a:rPr>
              <a:t>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reach for by default.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16393" y="12350988"/>
            <a:ext cx="9044816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68"/>
              </a:lnSpc>
              <a:spcBef>
                <a:spcPts val="0"/>
              </a:spcBef>
              <a:spcAft>
                <a:spcPts val="0"/>
              </a:spcAft>
            </a:pPr>
            <a:r>
              <a:rPr sz="2874" b="0">
                <a:solidFill>
                  <a:srgbClr val="1C1C1C"/>
                </a:solidFill>
                <a:latin typeface="Arial"/>
              </a:rPr>
              <a:t>Closed-form plan; KL objective L(θ) minimized directly.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777" y="12398910"/>
            <a:ext cx="16758622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13581" y="17590809"/>
            <a:ext cx="16758761" cy="1357489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777" y="20367545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58031" y="23802558"/>
            <a:ext cx="1671431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637245" y="25303023"/>
            <a:ext cx="15955883" cy="5037948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LightSB is essentially a Gaussian-mixture model for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transport potential — simple, simulation-free, non-minimax,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and provably a universal approximator of SBs, yet it runs in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minutes on a CPU. It targets moderate-dimensional (or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latent) spaces and offers a natural default baseline for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EOT/SB.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16375" y="6573460"/>
            <a:ext cx="16000212" cy="1837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Minimize </a:t>
            </a:r>
            <a:r>
              <a:rPr sz="4106" b="1">
                <a:solidFill>
                  <a:srgbClr val="111111"/>
                </a:solidFill>
                <a:latin typeface="Arial"/>
              </a:rPr>
              <a:t>KL(π*‖π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θ</a:t>
            </a:r>
            <a:r>
              <a:rPr sz="4106" b="1">
                <a:solidFill>
                  <a:srgbClr val="111111"/>
                </a:solidFill>
                <a:latin typeface="Arial"/>
              </a:rPr>
              <a:t>)</a:t>
            </a:r>
            <a:r>
              <a:rPr sz="4106" b="0">
                <a:solidFill>
                  <a:srgbClr val="1C1C1C"/>
                </a:solidFill>
                <a:latin typeface="Arial"/>
              </a:rPr>
              <a:t> with the potential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v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 as an </a:t>
            </a:r>
            <a:r>
              <a:rPr sz="4106" b="1">
                <a:solidFill>
                  <a:srgbClr val="111111"/>
                </a:solidFill>
                <a:latin typeface="Arial"/>
              </a:rPr>
              <a:t>unnormalized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Gaussian mixture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16375" y="8353405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One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non-minimax, simulation-free</a:t>
            </a:r>
            <a:r>
              <a:rPr sz="4106" b="0">
                <a:solidFill>
                  <a:srgbClr val="1C1C1C"/>
                </a:solidFill>
                <a:latin typeface="Arial"/>
              </a:rPr>
              <a:t> objective — </a:t>
            </a:r>
            <a:r>
              <a:rPr sz="4106" b="1">
                <a:solidFill>
                  <a:srgbClr val="111111"/>
                </a:solidFill>
                <a:latin typeface="Arial"/>
              </a:rPr>
              <a:t>closed-form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plan &amp; drift, plain SGD.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29496" y="10714533"/>
            <a:ext cx="15145643" cy="92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Users usually want only the endpoint plan </a:t>
            </a:r>
            <a:r>
              <a:rPr sz="4353" b="1">
                <a:solidFill>
                  <a:srgbClr val="111111"/>
                </a:solidFill>
                <a:latin typeface="Arial"/>
              </a:rPr>
              <a:t>π*(x₁|x₀)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72" y="13813948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Tested on the </a:t>
            </a:r>
            <a:r>
              <a:rPr sz="4106" b="1">
                <a:solidFill>
                  <a:srgbClr val="111111"/>
                </a:solidFill>
                <a:latin typeface="Arial"/>
              </a:rPr>
              <a:t>Gushchin et al. (2023) EOT/SB benchmark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(ground-truth plans, D = 2–128, ϵ = 0.1/1/10) and the </a:t>
            </a:r>
            <a:r>
              <a:rPr sz="4106" b="1">
                <a:solidFill>
                  <a:srgbClr val="111111"/>
                </a:solidFill>
                <a:latin typeface="Arial"/>
              </a:rPr>
              <a:t>MSCI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single-cell dataset (PCA D = 50/100/1000).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72" y="16207720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Image translation on </a:t>
            </a:r>
            <a:r>
              <a:rPr sz="4106" b="1">
                <a:solidFill>
                  <a:srgbClr val="111111"/>
                </a:solidFill>
                <a:latin typeface="Arial"/>
              </a:rPr>
              <a:t>1024×1024 FFHQ</a:t>
            </a:r>
            <a:r>
              <a:rPr sz="4106" b="0">
                <a:solidFill>
                  <a:srgbClr val="1C1C1C"/>
                </a:solidFill>
                <a:latin typeface="Arial"/>
              </a:rPr>
              <a:t> faces in the 512-dim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ALAE</a:t>
            </a:r>
            <a:r>
              <a:rPr sz="4106" b="0">
                <a:solidFill>
                  <a:srgbClr val="1C1C1C"/>
                </a:solidFill>
                <a:latin typeface="Arial"/>
              </a:rPr>
              <a:t> latent space.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487615" y="16288007"/>
            <a:ext cx="12137205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Male → female translation in the ALAE latent space (D = 512).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972" y="22506146"/>
            <a:ext cx="16000213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user wanting EOT/SB between moderate-dimensional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distributions is forced into </a:t>
            </a:r>
            <a:r>
              <a:rPr sz="4106" b="1">
                <a:solidFill>
                  <a:srgbClr val="111111"/>
                </a:solidFill>
                <a:latin typeface="Arial"/>
              </a:rPr>
              <a:t>heavy neural solvers</a:t>
            </a:r>
            <a:r>
              <a:rPr sz="4106" b="0">
                <a:solidFill>
                  <a:srgbClr val="1C1C1C"/>
                </a:solidFill>
                <a:latin typeface="Arial"/>
              </a:rPr>
              <a:t> — min-max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objectives, iterative proportional fitting or process simulation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during training, and hours of GPU time plus fragile tuning.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72" y="25656123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In most real tasks </a:t>
            </a:r>
            <a:r>
              <a:rPr sz="4106" b="1">
                <a:solidFill>
                  <a:srgbClr val="111111"/>
                </a:solidFill>
                <a:latin typeface="Arial"/>
              </a:rPr>
              <a:t>only the endpoints matter</a:t>
            </a:r>
            <a:r>
              <a:rPr sz="4106" b="0">
                <a:solidFill>
                  <a:srgbClr val="1C1C1C"/>
                </a:solidFill>
                <a:latin typeface="Arial"/>
              </a:rPr>
              <a:t>, so a solver that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returns the conditional plan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directly and cheaply</a:t>
            </a:r>
            <a:r>
              <a:rPr sz="4106" b="0">
                <a:solidFill>
                  <a:srgbClr val="1C1C1C"/>
                </a:solidFill>
                <a:latin typeface="Arial"/>
              </a:rPr>
              <a:t> already covers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dominant use case.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72" y="28049894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go-to,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k-means-simple</a:t>
            </a:r>
            <a:r>
              <a:rPr sz="4106" b="0">
                <a:solidFill>
                  <a:srgbClr val="1C1C1C"/>
                </a:solidFill>
                <a:latin typeface="Arial"/>
              </a:rPr>
              <a:t> SB solver — cheap, tuning-free, CPU-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friendly — is what the field lacks.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543428" y="28481198"/>
            <a:ext cx="14542842" cy="1362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The bridge process T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θ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learned by LightSB on a 2D Gaussian → Swiss-roll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example.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38659" y="19432150"/>
            <a:ext cx="8108401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7D2860"/>
                </a:solidFill>
                <a:latin typeface="Arial"/>
              </a:rPr>
              <a:t>&lt; 1 min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838659" y="20807045"/>
            <a:ext cx="8108401" cy="1799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to converge on 4 CPU cores (no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GPU), 512-dim latent image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translation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838659" y="22371407"/>
            <a:ext cx="8108401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tens of minutes to hours on a V100 GPU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592795" y="7017543"/>
            <a:ext cx="6655490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Setting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054436" y="7017543"/>
            <a:ext cx="4472189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LightSB (ours)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396368" y="7017543"/>
            <a:ext cx="4913141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Best baseline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592795" y="7831951"/>
            <a:ext cx="665549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EOT/SB cBW²₂-UVP 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054436" y="7831951"/>
            <a:ext cx="4472189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0.03–0.62%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396368" y="7831951"/>
            <a:ext cx="491314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7D2860"/>
                </a:solidFill>
                <a:latin typeface="Arial"/>
              </a:rPr>
              <a:t>1.04–18.05%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592795" y="8650803"/>
            <a:ext cx="665549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MSCI D=1000 · ED / time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054436" y="8650803"/>
            <a:ext cx="4472189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1.27 / 146 s CPU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396368" y="8650803"/>
            <a:ext cx="491314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1.32 / 71 min V100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762830" y="19313525"/>
            <a:ext cx="1067185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146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981455" y="19446875"/>
            <a:ext cx="508726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MSCI D=1000 on CPU (vs 71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min V100)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762830" y="20664666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0.03%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464015" y="20798016"/>
            <a:ext cx="459022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best cBW²₂-UVP (baseline ≥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1.04%)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762830" y="21912183"/>
            <a:ext cx="79491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717116" y="22045533"/>
            <a:ext cx="535953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universal-approximator proof for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SBs</a:t>
            </a:r>
          </a:p>
        </p:txBody>
      </p:sp>
      <p:pic>
        <p:nvPicPr>
          <p:cNvPr id="98" name="Picture 97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16393" y="10413384"/>
            <a:ext cx="15573474" cy="15192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
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254531"/>
            <a:ext cx="10772874" cy="992651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51481" y="6254531"/>
            <a:ext cx="13466127" cy="23817421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744328" y="6254531"/>
            <a:ext cx="13465989" cy="790487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37037" y="6254531"/>
            <a:ext cx="10917337" cy="625661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37037" y="12842994"/>
            <a:ext cx="10917337" cy="11627981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637037" y="12842994"/>
            <a:ext cx="10917337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18814" y="12842994"/>
            <a:ext cx="35560" cy="1162798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37037" y="24435415"/>
            <a:ext cx="10917337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37037" y="12842994"/>
            <a:ext cx="53340" cy="1162798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744328" y="14491255"/>
            <a:ext cx="13465989" cy="1558069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887" y="16512897"/>
            <a:ext cx="10772874" cy="1355905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637037" y="24802822"/>
            <a:ext cx="10917337" cy="5269130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847" y="3958157"/>
            <a:ext cx="3360559" cy="1466802"/>
          </a:xfrm>
          <a:prstGeom prst="rect">
            <a:avLst/>
          </a:prstGeom>
        </p:spPr>
      </p:pic>
      <p:pic>
        <p:nvPicPr>
          <p:cNvPr id="16" name="Picture 15" descr="university-of-california-berkel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9380" y="3958138"/>
            <a:ext cx="4637802" cy="1466840"/>
          </a:xfrm>
          <a:prstGeom prst="rect">
            <a:avLst/>
          </a:prstGeom>
        </p:spPr>
      </p:pic>
      <p:pic>
        <p:nvPicPr>
          <p:cNvPr id="17" name="Picture 16" descr="lawrence-berkeley-national-labora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4156" y="3958136"/>
            <a:ext cx="6814324" cy="1466844"/>
          </a:xfrm>
          <a:prstGeom prst="rect">
            <a:avLst/>
          </a:prstGeom>
        </p:spPr>
      </p:pic>
      <p:pic>
        <p:nvPicPr>
          <p:cNvPr id="18" name="Picture 17" descr="massachusetts-institute-of-technolo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454" y="3958162"/>
            <a:ext cx="2754789" cy="1466792"/>
          </a:xfrm>
          <a:prstGeom prst="rect">
            <a:avLst/>
          </a:prstGeom>
        </p:spPr>
      </p:pic>
      <p:pic>
        <p:nvPicPr>
          <p:cNvPr id="19" name="Picture 18" descr="nsf-ai-institute-for-artificial-intelligence-and-fundamental-interac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7217" y="3958143"/>
            <a:ext cx="5347335" cy="146683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0051811" y="7807225"/>
            <a:ext cx="10087789" cy="4305538"/>
          </a:xfrm>
          <a:prstGeom prst="roundRect">
            <a:avLst>
              <a:gd name="adj" fmla="val 1651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6661" y="7919739"/>
            <a:ext cx="9943326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661" y="7919739"/>
            <a:ext cx="124460" cy="21590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266255" y="18025864"/>
            <a:ext cx="12636579" cy="3084274"/>
          </a:xfrm>
          <a:prstGeom prst="roundRect">
            <a:avLst>
              <a:gd name="adj" fmla="val 7305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069591" y="21063882"/>
            <a:ext cx="10070009" cy="3024823"/>
          </a:xfrm>
          <a:prstGeom prst="roundRect">
            <a:avLst>
              <a:gd name="adj" fmla="val 689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159102" y="26020613"/>
            <a:ext cx="12636441" cy="35828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159102" y="26020613"/>
            <a:ext cx="12636441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6661" y="28029892"/>
            <a:ext cx="9943326" cy="1647983"/>
          </a:xfrm>
          <a:prstGeom prst="roundRect">
            <a:avLst>
              <a:gd name="adj" fmla="val 1265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671541" y="8029475"/>
            <a:ext cx="4222194" cy="39085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671541" y="8029475"/>
            <a:ext cx="11557" cy="390854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159102" y="12037893"/>
            <a:ext cx="3271104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Gaussian toy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586614" y="12037893"/>
            <a:ext cx="2285563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LHC jets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28586" y="12037893"/>
            <a:ext cx="181786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Pythia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02860" y="12037893"/>
            <a:ext cx="1965385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Herwig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124653" y="12037893"/>
            <a:ext cx="2211944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Delphes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159102" y="13014126"/>
            <a:ext cx="2752983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jet width 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159102" y="19413954"/>
            <a:ext cx="12636441" cy="4423330"/>
          </a:xfrm>
          <a:prstGeom prst="roundRect">
            <a:avLst>
              <a:gd name="adj" fmla="val 80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ge4_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59125" y="19413954"/>
            <a:ext cx="12636395" cy="442333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2266255" y="21672292"/>
            <a:ext cx="12636579" cy="6088122"/>
          </a:xfrm>
          <a:prstGeom prst="roundRect">
            <a:avLst>
              <a:gd name="adj" fmla="val 58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age3_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6297" y="21672292"/>
            <a:ext cx="12636495" cy="608812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1717575" y="25904904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p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36108" y="26023437"/>
            <a:ext cx="2844708" cy="284470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5391923" y="25904904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o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10456" y="26023437"/>
            <a:ext cx="2844708" cy="284470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2613381" y="29128918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333846" y="29128918"/>
            <a:ext cx="1197789" cy="54159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7D2860"/>
                </a:solidFill>
                <a:latin typeface="Arial"/>
              </a:rPr>
              <a:t>Deconvolving Detector Effects for Distribution Moments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Krish Desai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Benjamin Nachman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Jesse Thaler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UC Berkeley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Lawrence Berkeley National Lab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MIT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NSF AI Institute (IAIFI)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661" y="6669305"/>
            <a:ext cx="1024162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66255" y="6669305"/>
            <a:ext cx="1301567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159102" y="6669305"/>
            <a:ext cx="1301553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DATASET / BENCHMARK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51811" y="6669305"/>
            <a:ext cx="10390422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6661" y="7919739"/>
            <a:ext cx="10241625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Binning to extract moments injects discretization artifacts that cap precision.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6661" y="10226833"/>
            <a:ext cx="10241625" cy="6087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Deconvolving (</a:t>
            </a:r>
            <a:r>
              <a:rPr sz="4106" b="1">
                <a:solidFill>
                  <a:srgbClr val="111111"/>
                </a:solidFill>
                <a:latin typeface="Arial"/>
              </a:rPr>
              <a:t>"unfolding"</a:t>
            </a:r>
            <a:r>
              <a:rPr sz="4106" b="0">
                <a:solidFill>
                  <a:srgbClr val="1C1C1C"/>
                </a:solidFill>
                <a:latin typeface="Arial"/>
              </a:rPr>
              <a:t>) detector distortions is critical for comparing measurements with theory. Yet most unfolding methods bin the data into histograms, while many theory predictions are stated directly at the level of statistical </a:t>
            </a:r>
            <a:r>
              <a:rPr sz="4106" b="1">
                <a:solidFill>
                  <a:srgbClr val="111111"/>
                </a:solidFill>
                <a:latin typeface="Arial"/>
              </a:rPr>
              <a:t>moments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69591" y="13257768"/>
            <a:ext cx="1037210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69591" y="14556819"/>
            <a:ext cx="10372109" cy="6957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Moment Unfolding is a novel </a:t>
            </a:r>
            <a:r>
              <a:rPr sz="4106" b="1">
                <a:solidFill>
                  <a:srgbClr val="111111"/>
                </a:solidFill>
                <a:latin typeface="Arial"/>
              </a:rPr>
              <a:t>unbinned, non-iterative, GAN-inspired</a:t>
            </a:r>
            <a:r>
              <a:rPr sz="4106" b="0">
                <a:solidFill>
                  <a:srgbClr val="1C1C1C"/>
                </a:solidFill>
                <a:latin typeface="Arial"/>
              </a:rPr>
              <a:t> reweighting method that unfolds a chosen set of distribution moments to sub-percent accuracy, sidestepping the discretization artifacts of binned unfolding. Unlike iterative OmniFold, a single generator–discriminator pair trains only once.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159102" y="14906029"/>
            <a:ext cx="1301553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6661" y="16927671"/>
            <a:ext cx="1024162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68704" y="20219888"/>
            <a:ext cx="11568631" cy="875227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the trainable coefficients λ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i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ARE the unfolded moments; g maximizes the weighted BCE loss while d minimizes 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069591" y="21063882"/>
            <a:ext cx="10372109" cy="34785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Dataset-agnostic: the idea could carry deconvolution beyond particle physics, to medical devices, seismology, and spectral astronomy.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159102" y="26020613"/>
            <a:ext cx="13015534" cy="412023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first and second moments are unfolded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simultaneously</a:t>
            </a:r>
            <a:r>
              <a:rPr sz="3778" b="0" i="1">
                <a:solidFill>
                  <a:srgbClr val="1C1C1C"/>
                </a:solidFill>
                <a:latin typeface="Arial"/>
              </a:rPr>
              <a:t>; each loss-scan peak lands on the known true value (dotted lines). The Gaussian toy validates the same procedure: the loss peaks at the true mean and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d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converges within 10 epochs.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6661" y="28029892"/>
            <a:ext cx="10241625" cy="18951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Target the moments directly, not the entire distribution.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159084" y="7789306"/>
            <a:ext cx="13015552" cy="1836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Gaussian toy:</a:t>
            </a:r>
            <a:r>
              <a:rPr sz="4106" b="0">
                <a:solidFill>
                  <a:srgbClr val="1C1C1C"/>
                </a:solidFill>
                <a:latin typeface="Arial"/>
              </a:rPr>
              <a:t> truth N(0,1), generation N(−0.5,1), detector noise N(0,5); 10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6</a:t>
            </a:r>
            <a:r>
              <a:rPr sz="4106" b="0">
                <a:solidFill>
                  <a:srgbClr val="1C1C1C"/>
                </a:solidFill>
                <a:latin typeface="Arial"/>
              </a:rPr>
              <a:t> samples split 3:1.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66237" y="7932380"/>
            <a:ext cx="13015694" cy="18370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Each synthetic event is a pair </a:t>
            </a:r>
            <a:r>
              <a:rPr sz="4106" b="1">
                <a:solidFill>
                  <a:srgbClr val="111111"/>
                </a:solidFill>
                <a:latin typeface="Arial"/>
              </a:rPr>
              <a:t>(X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T</a:t>
            </a:r>
            <a:r>
              <a:rPr sz="4106" b="1">
                <a:solidFill>
                  <a:srgbClr val="111111"/>
                </a:solidFill>
                <a:latin typeface="Arial"/>
              </a:rPr>
              <a:t>, X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D</a:t>
            </a:r>
            <a:r>
              <a:rPr sz="4106" b="1">
                <a:solidFill>
                  <a:srgbClr val="111111"/>
                </a:solidFill>
                <a:latin typeface="Arial"/>
              </a:rPr>
              <a:t>)</a:t>
            </a:r>
            <a:r>
              <a:rPr sz="4106" b="0">
                <a:solidFill>
                  <a:srgbClr val="1C1C1C"/>
                </a:solidFill>
                <a:latin typeface="Arial"/>
              </a:rPr>
              <a:t>: a pre-detector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generation</a:t>
            </a:r>
            <a:r>
              <a:rPr sz="4106" b="0">
                <a:solidFill>
                  <a:srgbClr val="1C1C1C"/>
                </a:solidFill>
                <a:latin typeface="Arial"/>
              </a:rPr>
              <a:t> and its post-detector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simulation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159084" y="9569112"/>
            <a:ext cx="1301555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LHC jet substructure:</a:t>
            </a:r>
            <a:r>
              <a:rPr sz="4106" b="0">
                <a:solidFill>
                  <a:srgbClr val="1C1C1C"/>
                </a:solidFill>
                <a:latin typeface="Arial"/>
              </a:rPr>
              <a:t> the jet width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</a:t>
            </a:r>
            <a:r>
              <a:rPr sz="4106" b="0">
                <a:solidFill>
                  <a:srgbClr val="1C1C1C"/>
                </a:solidFill>
                <a:latin typeface="Arial"/>
              </a:rPr>
              <a:t> from the OmniFold Pythia / Herwig + Delphes samples; one sim acts as "data", the other as synthetic.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266237" y="9712325"/>
            <a:ext cx="1301569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Generator </a:t>
            </a:r>
            <a:r>
              <a:rPr sz="4106" b="1">
                <a:solidFill>
                  <a:srgbClr val="111111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reweights the generation so the reweighted simulation is statistically </a:t>
            </a:r>
            <a:r>
              <a:rPr sz="4106" b="1">
                <a:solidFill>
                  <a:srgbClr val="111111"/>
                </a:solidFill>
                <a:latin typeface="Arial"/>
              </a:rPr>
              <a:t>indistinguishable</a:t>
            </a:r>
            <a:r>
              <a:rPr sz="4106" b="0">
                <a:solidFill>
                  <a:srgbClr val="1C1C1C"/>
                </a:solidFill>
                <a:latin typeface="Arial"/>
              </a:rPr>
              <a:t> from data, as judged by a discriminator </a:t>
            </a:r>
            <a:r>
              <a:rPr sz="4106" b="1">
                <a:solidFill>
                  <a:srgbClr val="111111"/>
                </a:solidFill>
                <a:latin typeface="Arial"/>
              </a:rPr>
              <a:t>d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266237" y="12919670"/>
            <a:ext cx="13015694" cy="5315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Inspired by Boltzmann, </a:t>
            </a:r>
            <a:r>
              <a:rPr sz="4106" b="1">
                <a:solidFill>
                  <a:srgbClr val="111111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is the exponential of a degree-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</a:t>
            </a:r>
            <a:r>
              <a:rPr sz="4106" b="0">
                <a:solidFill>
                  <a:srgbClr val="1C1C1C"/>
                </a:solidFill>
                <a:latin typeface="Arial"/>
              </a:rPr>
              <a:t> polynomial with only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</a:t>
            </a:r>
            <a:r>
              <a:rPr sz="4106" b="0">
                <a:solidFill>
                  <a:srgbClr val="1C1C1C"/>
                </a:solidFill>
                <a:latin typeface="Arial"/>
              </a:rPr>
              <a:t> parameters </a:t>
            </a:r>
            <a:r>
              <a:rPr sz="4106" b="1">
                <a:solidFill>
                  <a:srgbClr val="111111"/>
                </a:solidFill>
                <a:latin typeface="Arial"/>
              </a:rPr>
              <a:t>{λ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i</a:t>
            </a:r>
            <a:r>
              <a:rPr sz="4106" b="1">
                <a:solidFill>
                  <a:srgbClr val="111111"/>
                </a:solidFill>
                <a:latin typeface="Arial"/>
              </a:rPr>
              <a:t>}</a:t>
            </a:r>
            <a:r>
              <a:rPr sz="4106" b="0">
                <a:solidFill>
                  <a:srgbClr val="1C1C1C"/>
                </a:solidFill>
                <a:latin typeface="Arial"/>
              </a:rPr>
              <a:t> identified with the moments. The discriminator </a:t>
            </a:r>
            <a:r>
              <a:rPr sz="4106" b="1">
                <a:solidFill>
                  <a:srgbClr val="111111"/>
                </a:solidFill>
                <a:latin typeface="Arial"/>
              </a:rPr>
              <a:t>d</a:t>
            </a:r>
            <a:r>
              <a:rPr sz="4106" b="0">
                <a:solidFill>
                  <a:srgbClr val="1C1C1C"/>
                </a:solidFill>
                <a:latin typeface="Arial"/>
              </a:rPr>
              <a:t> has three 50-node ReLU layers with a sigmoid output; </a:t>
            </a:r>
            <a:r>
              <a:rPr sz="4106" b="1">
                <a:solidFill>
                  <a:srgbClr val="111111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d</a:t>
            </a:r>
            <a:r>
              <a:rPr sz="4106" b="0">
                <a:solidFill>
                  <a:srgbClr val="1C1C1C"/>
                </a:solidFill>
                <a:latin typeface="Arial"/>
              </a:rPr>
              <a:t> train adversarially just </a:t>
            </a:r>
            <a:r>
              <a:rPr sz="4106" b="1">
                <a:solidFill>
                  <a:srgbClr val="111111"/>
                </a:solidFill>
                <a:latin typeface="Arial"/>
              </a:rPr>
              <a:t>once</a:t>
            </a:r>
            <a:r>
              <a:rPr sz="4106" b="0">
                <a:solidFill>
                  <a:srgbClr val="1C1C1C"/>
                </a:solidFill>
                <a:latin typeface="Arial"/>
              </a:rPr>
              <a:t>, so detector emulation runs a single time.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159102" y="16486921"/>
            <a:ext cx="5901779" cy="1799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7D2860"/>
                </a:solidFill>
                <a:latin typeface="Arial"/>
              </a:rPr>
              <a:t>≤ 0.02%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97483" y="17313691"/>
            <a:ext cx="6899001" cy="15651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mean absolute error, predicted vs. true moments (jet width)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6642" y="18218943"/>
            <a:ext cx="1024164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Moments are predictable.</a:t>
            </a:r>
            <a:r>
              <a:rPr sz="4106" b="0">
                <a:solidFill>
                  <a:srgbClr val="1C1C1C"/>
                </a:solidFill>
                <a:latin typeface="Arial"/>
              </a:rPr>
              <a:t> An observable's energy-scale dependence is often computable from theory even when its full density is not.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6642" y="21426289"/>
            <a:ext cx="1024164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QCD example.</a:t>
            </a:r>
            <a:r>
              <a:rPr sz="4106" b="0">
                <a:solidFill>
                  <a:srgbClr val="1C1C1C"/>
                </a:solidFill>
                <a:latin typeface="Arial"/>
              </a:rPr>
              <a:t> Hadronic-jet densities are not computable in perturbative QCD, yet the energy dependence of their moments is.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664582" y="23986886"/>
            <a:ext cx="11974245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Jet width: (a) truth, generation, reweighted generation; (b) loss scans for the mean and 2nd moment — peaks (predicted) coincide with the true moments (dotted lines).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6642" y="24633634"/>
            <a:ext cx="1024164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Generic unbinned unfolding overshoots.</a:t>
            </a:r>
            <a:r>
              <a:rPr sz="4106" b="0">
                <a:solidFill>
                  <a:srgbClr val="1C1C1C"/>
                </a:solidFill>
                <a:latin typeface="Arial"/>
              </a:rPr>
              <a:t> Existing methods unfold whole spectra, sacrificing precision on the few moments actually wanted.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267213" y="25217596"/>
            <a:ext cx="3766551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7D2860"/>
                </a:solidFill>
                <a:latin typeface="Arial"/>
              </a:rPr>
              <a:t>SCAN TO READ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771735" y="27910016"/>
            <a:ext cx="11974387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Training setup: generator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g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reweights the particle-level generation; discriminator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d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pushes the reweighted simulation toward data. Detector emulation runs only once.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297675" y="8570376"/>
            <a:ext cx="4944188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≤ 0.02%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97675" y="9945270"/>
            <a:ext cx="4944188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MAE, predicted vs. true moments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297675" y="10988178"/>
            <a:ext cx="4944188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sub-percent, fully unbinned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149795" y="8029475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30133" y="8162825"/>
            <a:ext cx="3361510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moments unfolded at once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149795" y="9276992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27948" y="9410342"/>
            <a:ext cx="3054760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epochs to converge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149795" y="10524509"/>
            <a:ext cx="1911461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 5 min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188106" y="10657859"/>
            <a:ext cx="1756797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on 1 RTX6000 GPU</a:t>
            </a:r>
          </a:p>
        </p:txBody>
      </p:sp>
      <p:pic>
        <p:nvPicPr>
          <p:cNvPr id="85" name="Picture 84" descr="eq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9361" y="18665527"/>
            <a:ext cx="11830367" cy="946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
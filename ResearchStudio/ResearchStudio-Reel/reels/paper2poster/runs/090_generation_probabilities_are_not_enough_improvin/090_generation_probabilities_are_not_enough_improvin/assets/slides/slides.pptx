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Free Desig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Free Desig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2577486" cy="205359"/>
          </a:xfrm>
          <a:prstGeom prst="rect">
            <a:avLst/>
          </a:prstGeom>
          <a:noFill/>
          <a:ln>
            <a:noFill/>
          </a:ln>
        </p:spPr>
        <p:txBody>
          <a:bodyPr wrap="none" lIns="0" tIns="0" rIns="0" bIns="0" anchor="t" anchorCtr="0">
            <a:spAutoFit/>
          </a:bodyPr>
          <a:lstStyle/>
          <a:p>
            <a:pPr algn="l"/>
            <a:r>
              <a:rPr lang="en-US" sz="1050" b="1" spc="112" dirty="0">
                <a:solidFill>
                  <a:schemeClr val="accent2"/>
                </a:solidFill>
                <a:latin typeface="+mn-lt"/>
                <a:ea typeface="+mn-ea"/>
                <a:cs typeface="+mn-cs"/>
              </a:rPr>
              <a:t>NeurIPS 2022 · HCAI Workshop</a:t>
            </a:r>
          </a:p>
        </p:txBody>
      </p:sp>
      <p:sp>
        <p:nvSpPr>
          <p:cNvPr id="3" name="TextBox 3"/>
          <p:cNvSpPr txBox="1"/>
          <p:nvPr/>
        </p:nvSpPr>
        <p:spPr>
          <a:xfrm>
            <a:off x="8638836" y="576501"/>
            <a:ext cx="2948708" cy="198025"/>
          </a:xfrm>
          <a:prstGeom prst="rect">
            <a:avLst/>
          </a:prstGeom>
          <a:noFill/>
          <a:ln>
            <a:noFill/>
          </a:ln>
        </p:spPr>
        <p:txBody>
          <a:bodyPr wrap="none" lIns="0" tIns="0" rIns="0" bIns="0" anchor="t" anchorCtr="0">
            <a:spAutoFit/>
          </a:bodyPr>
          <a:lstStyle/>
          <a:p>
            <a:pPr algn="r"/>
            <a:r>
              <a:rPr lang="en-US" sz="1010" b="1" dirty="0">
                <a:solidFill>
                  <a:schemeClr val="dk2"/>
                </a:solidFill>
                <a:latin typeface="+mn-lt"/>
                <a:ea typeface="+mn-ea"/>
                <a:cs typeface="+mn-cs"/>
              </a:rPr>
              <a:t>Stanford University · Microsoft Research</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4360" y="1104900"/>
            <a:ext cx="8224967"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n-lt"/>
                <a:ea typeface="+mn-ea"/>
                <a:cs typeface="+mn-cs"/>
              </a:rPr>
              <a:t>Generation Probabilities are Not Enough</a:t>
            </a:r>
          </a:p>
        </p:txBody>
      </p:sp>
      <p:sp>
        <p:nvSpPr>
          <p:cNvPr id="6" name="TextBox 6"/>
          <p:cNvSpPr txBox="1"/>
          <p:nvPr/>
        </p:nvSpPr>
        <p:spPr>
          <a:xfrm>
            <a:off x="601218" y="1650682"/>
            <a:ext cx="5968288"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Improving Error Highlighting for AI Code Suggestions</a:t>
            </a:r>
          </a:p>
        </p:txBody>
      </p:sp>
      <p:sp>
        <p:nvSpPr>
          <p:cNvPr id="7" name="Rectangle 7"/>
          <p:cNvSpPr/>
          <p:nvPr/>
        </p:nvSpPr>
        <p:spPr>
          <a:xfrm>
            <a:off x="9201150" y="990600"/>
            <a:ext cx="2381250" cy="876300"/>
          </a:xfrm>
          <a:prstGeom prst="roundRect">
            <a:avLst>
              <a:gd name="adj" fmla="val 8696"/>
            </a:avLst>
          </a:prstGeom>
          <a:solidFill>
            <a:srgbClr val="0C1E2E"/>
          </a:solidFill>
          <a:ln w="14288">
            <a:solidFill>
              <a:srgbClr val="26455F"/>
            </a:solidFill>
          </a:ln>
        </p:spPr>
        <p:txBody>
          <a:bodyPr/>
          <a:p/>
        </p:txBody>
      </p:sp>
      <p:sp>
        <p:nvSpPr>
          <p:cNvPr id="8" name="Line 8"/>
          <p:cNvSpPr/>
          <p:nvPr/>
        </p:nvSpPr>
        <p:spPr>
          <a:xfrm>
            <a:off x="9448800" y="1057275"/>
            <a:ext cx="9525" cy="742950"/>
          </a:xfrm>
          <a:custGeom>
            <a:avLst/>
            <a:gdLst/>
            <a:ahLst/>
            <a:cxnLst/>
            <a:rect l="l" t="t" r="r" b="b"/>
            <a:pathLst>
              <a:path w="9525" h="742950">
                <a:moveTo>
                  <a:pt x="0" y="0"/>
                </a:moveTo>
                <a:lnTo>
                  <a:pt x="0" y="742950"/>
                </a:lnTo>
              </a:path>
            </a:pathLst>
          </a:custGeom>
          <a:noFill/>
          <a:ln w="9525" cap="rnd">
            <a:solidFill>
              <a:srgbClr val="26455F"/>
            </a:solidFill>
          </a:ln>
        </p:spPr>
        <p:txBody>
          <a:bodyPr/>
          <a:p/>
        </p:txBody>
      </p:sp>
      <p:sp>
        <p:nvSpPr>
          <p:cNvPr id="9" name="TextBox 9"/>
          <p:cNvSpPr txBox="1"/>
          <p:nvPr/>
        </p:nvSpPr>
        <p:spPr>
          <a:xfrm>
            <a:off x="9293780" y="1152684"/>
            <a:ext cx="62390" cy="133350"/>
          </a:xfrm>
          <a:prstGeom prst="rect">
            <a:avLst/>
          </a:prstGeom>
          <a:noFill/>
          <a:ln>
            <a:noFill/>
          </a:ln>
        </p:spPr>
        <p:txBody>
          <a:bodyPr wrap="none" lIns="0" tIns="0" rIns="0" bIns="0" anchor="t" anchorCtr="0">
            <a:spAutoFit/>
          </a:bodyPr>
          <a:lstStyle/>
          <a:p>
            <a:pPr algn="ctr"/>
            <a:r>
              <a:rPr lang="en-US" sz="680" b="1" dirty="0">
                <a:solidFill>
                  <a:srgbClr val="6E869C"/>
                </a:solidFill>
                <a:latin typeface="Consolas"/>
                <a:ea typeface="Consolas"/>
                <a:cs typeface="Consolas"/>
              </a:rPr>
              <a:t>1</a:t>
            </a:r>
          </a:p>
        </p:txBody>
      </p:sp>
      <p:sp>
        <p:nvSpPr>
          <p:cNvPr id="10" name="Rectangle 10"/>
          <p:cNvSpPr/>
          <p:nvPr/>
        </p:nvSpPr>
        <p:spPr>
          <a:xfrm>
            <a:off x="9534525" y="1177925"/>
            <a:ext cx="200025" cy="57150"/>
          </a:xfrm>
          <a:prstGeom prst="roundRect">
            <a:avLst>
              <a:gd name="adj" fmla="val 33333"/>
            </a:avLst>
          </a:prstGeom>
          <a:solidFill>
            <a:srgbClr val="3E5A74"/>
          </a:solidFill>
          <a:ln>
            <a:noFill/>
          </a:ln>
        </p:spPr>
        <p:txBody>
          <a:bodyPr/>
          <a:p/>
        </p:txBody>
      </p:sp>
      <p:sp>
        <p:nvSpPr>
          <p:cNvPr id="11" name="Rectangle 11"/>
          <p:cNvSpPr/>
          <p:nvPr/>
        </p:nvSpPr>
        <p:spPr>
          <a:xfrm>
            <a:off x="9772650" y="1149350"/>
            <a:ext cx="304800" cy="114300"/>
          </a:xfrm>
          <a:prstGeom prst="roundRect">
            <a:avLst>
              <a:gd name="adj" fmla="val 25000"/>
            </a:avLst>
          </a:prstGeom>
          <a:solidFill>
            <a:srgbClr val="48C78E">
              <a:alpha val="30000"/>
            </a:srgbClr>
          </a:solidFill>
          <a:ln>
            <a:noFill/>
          </a:ln>
        </p:spPr>
        <p:txBody>
          <a:bodyPr/>
          <a:p/>
        </p:txBody>
      </p:sp>
      <p:sp>
        <p:nvSpPr>
          <p:cNvPr id="12" name="Rectangle 12"/>
          <p:cNvSpPr/>
          <p:nvPr/>
        </p:nvSpPr>
        <p:spPr>
          <a:xfrm>
            <a:off x="9791700" y="1177925"/>
            <a:ext cx="266700" cy="57150"/>
          </a:xfrm>
          <a:prstGeom prst="roundRect">
            <a:avLst>
              <a:gd name="adj" fmla="val 33333"/>
            </a:avLst>
          </a:prstGeom>
          <a:solidFill>
            <a:srgbClr val="48C78E"/>
          </a:solidFill>
          <a:ln>
            <a:noFill/>
          </a:ln>
        </p:spPr>
        <p:txBody>
          <a:bodyPr/>
          <a:p/>
        </p:txBody>
      </p:sp>
      <p:sp>
        <p:nvSpPr>
          <p:cNvPr id="13" name="Rectangle 13"/>
          <p:cNvSpPr/>
          <p:nvPr/>
        </p:nvSpPr>
        <p:spPr>
          <a:xfrm>
            <a:off x="10115550" y="1177925"/>
            <a:ext cx="133350" cy="57150"/>
          </a:xfrm>
          <a:prstGeom prst="roundRect">
            <a:avLst>
              <a:gd name="adj" fmla="val 33333"/>
            </a:avLst>
          </a:prstGeom>
          <a:solidFill>
            <a:srgbClr val="3E5A74"/>
          </a:solidFill>
          <a:ln>
            <a:noFill/>
          </a:ln>
        </p:spPr>
        <p:txBody>
          <a:bodyPr/>
          <a:p/>
        </p:txBody>
      </p:sp>
      <p:sp>
        <p:nvSpPr>
          <p:cNvPr id="14" name="TextBox 14"/>
          <p:cNvSpPr txBox="1"/>
          <p:nvPr/>
        </p:nvSpPr>
        <p:spPr>
          <a:xfrm>
            <a:off x="9293780" y="1393984"/>
            <a:ext cx="62390" cy="133350"/>
          </a:xfrm>
          <a:prstGeom prst="rect">
            <a:avLst/>
          </a:prstGeom>
          <a:noFill/>
          <a:ln>
            <a:noFill/>
          </a:ln>
        </p:spPr>
        <p:txBody>
          <a:bodyPr wrap="none" lIns="0" tIns="0" rIns="0" bIns="0" anchor="t" anchorCtr="0">
            <a:spAutoFit/>
          </a:bodyPr>
          <a:lstStyle/>
          <a:p>
            <a:pPr algn="ctr"/>
            <a:r>
              <a:rPr lang="en-US" sz="680" b="1" dirty="0">
                <a:solidFill>
                  <a:srgbClr val="6E869C"/>
                </a:solidFill>
                <a:latin typeface="Consolas"/>
                <a:ea typeface="Consolas"/>
                <a:cs typeface="Consolas"/>
              </a:rPr>
              <a:t>2</a:t>
            </a:r>
          </a:p>
        </p:txBody>
      </p:sp>
      <p:sp>
        <p:nvSpPr>
          <p:cNvPr id="15" name="Rectangle 15"/>
          <p:cNvSpPr/>
          <p:nvPr/>
        </p:nvSpPr>
        <p:spPr>
          <a:xfrm>
            <a:off x="9534525" y="1419225"/>
            <a:ext cx="133350" cy="57150"/>
          </a:xfrm>
          <a:prstGeom prst="roundRect">
            <a:avLst>
              <a:gd name="adj" fmla="val 33333"/>
            </a:avLst>
          </a:prstGeom>
          <a:solidFill>
            <a:srgbClr val="3E5A74"/>
          </a:solidFill>
          <a:ln>
            <a:noFill/>
          </a:ln>
        </p:spPr>
        <p:txBody>
          <a:bodyPr/>
          <a:p/>
        </p:txBody>
      </p:sp>
      <p:sp>
        <p:nvSpPr>
          <p:cNvPr id="16" name="Rectangle 16"/>
          <p:cNvSpPr/>
          <p:nvPr/>
        </p:nvSpPr>
        <p:spPr>
          <a:xfrm>
            <a:off x="9705975" y="1390650"/>
            <a:ext cx="238125" cy="114300"/>
          </a:xfrm>
          <a:prstGeom prst="roundRect">
            <a:avLst>
              <a:gd name="adj" fmla="val 25000"/>
            </a:avLst>
          </a:prstGeom>
          <a:solidFill>
            <a:srgbClr val="F2C14E">
              <a:alpha val="30000"/>
            </a:srgbClr>
          </a:solidFill>
          <a:ln>
            <a:noFill/>
          </a:ln>
        </p:spPr>
        <p:txBody>
          <a:bodyPr/>
          <a:p/>
        </p:txBody>
      </p:sp>
      <p:sp>
        <p:nvSpPr>
          <p:cNvPr id="17" name="Rectangle 17"/>
          <p:cNvSpPr/>
          <p:nvPr/>
        </p:nvSpPr>
        <p:spPr>
          <a:xfrm>
            <a:off x="9725025" y="1419225"/>
            <a:ext cx="200025" cy="57150"/>
          </a:xfrm>
          <a:prstGeom prst="roundRect">
            <a:avLst>
              <a:gd name="adj" fmla="val 33333"/>
            </a:avLst>
          </a:prstGeom>
          <a:solidFill>
            <a:srgbClr val="F2C14E"/>
          </a:solidFill>
          <a:ln>
            <a:noFill/>
          </a:ln>
        </p:spPr>
        <p:txBody>
          <a:bodyPr/>
          <a:p/>
        </p:txBody>
      </p:sp>
      <p:sp>
        <p:nvSpPr>
          <p:cNvPr id="18" name="Rectangle 18"/>
          <p:cNvSpPr/>
          <p:nvPr/>
        </p:nvSpPr>
        <p:spPr>
          <a:xfrm>
            <a:off x="9982200" y="1419225"/>
            <a:ext cx="266700" cy="57150"/>
          </a:xfrm>
          <a:prstGeom prst="roundRect">
            <a:avLst>
              <a:gd name="adj" fmla="val 33333"/>
            </a:avLst>
          </a:prstGeom>
          <a:solidFill>
            <a:srgbClr val="3E5A74"/>
          </a:solidFill>
          <a:ln>
            <a:noFill/>
          </a:ln>
        </p:spPr>
        <p:txBody>
          <a:bodyPr/>
          <a:p/>
        </p:txBody>
      </p:sp>
      <p:sp>
        <p:nvSpPr>
          <p:cNvPr id="19" name="Rectangle 19"/>
          <p:cNvSpPr/>
          <p:nvPr/>
        </p:nvSpPr>
        <p:spPr>
          <a:xfrm>
            <a:off x="10306050" y="1419225"/>
            <a:ext cx="133350" cy="57150"/>
          </a:xfrm>
          <a:prstGeom prst="roundRect">
            <a:avLst>
              <a:gd name="adj" fmla="val 33333"/>
            </a:avLst>
          </a:prstGeom>
          <a:solidFill>
            <a:srgbClr val="3E5A74"/>
          </a:solidFill>
          <a:ln>
            <a:noFill/>
          </a:ln>
        </p:spPr>
        <p:txBody>
          <a:bodyPr/>
          <a:p/>
        </p:txBody>
      </p:sp>
      <p:sp>
        <p:nvSpPr>
          <p:cNvPr id="20" name="TextBox 20"/>
          <p:cNvSpPr txBox="1"/>
          <p:nvPr/>
        </p:nvSpPr>
        <p:spPr>
          <a:xfrm>
            <a:off x="9293780" y="1635284"/>
            <a:ext cx="62390" cy="133350"/>
          </a:xfrm>
          <a:prstGeom prst="rect">
            <a:avLst/>
          </a:prstGeom>
          <a:noFill/>
          <a:ln>
            <a:noFill/>
          </a:ln>
        </p:spPr>
        <p:txBody>
          <a:bodyPr wrap="none" lIns="0" tIns="0" rIns="0" bIns="0" anchor="t" anchorCtr="0">
            <a:spAutoFit/>
          </a:bodyPr>
          <a:lstStyle/>
          <a:p>
            <a:pPr algn="ctr"/>
            <a:r>
              <a:rPr lang="en-US" sz="680" b="1" dirty="0">
                <a:solidFill>
                  <a:srgbClr val="6E869C"/>
                </a:solidFill>
                <a:latin typeface="Consolas"/>
                <a:ea typeface="Consolas"/>
                <a:cs typeface="Consolas"/>
              </a:rPr>
              <a:t>3</a:t>
            </a:r>
          </a:p>
        </p:txBody>
      </p:sp>
      <p:sp>
        <p:nvSpPr>
          <p:cNvPr id="21" name="Rectangle 21"/>
          <p:cNvSpPr/>
          <p:nvPr/>
        </p:nvSpPr>
        <p:spPr>
          <a:xfrm>
            <a:off x="9534525" y="1660525"/>
            <a:ext cx="266700" cy="57150"/>
          </a:xfrm>
          <a:prstGeom prst="roundRect">
            <a:avLst>
              <a:gd name="adj" fmla="val 33333"/>
            </a:avLst>
          </a:prstGeom>
          <a:solidFill>
            <a:srgbClr val="3E5A74"/>
          </a:solidFill>
          <a:ln>
            <a:noFill/>
          </a:ln>
        </p:spPr>
        <p:txBody>
          <a:bodyPr/>
          <a:p/>
        </p:txBody>
      </p:sp>
      <p:sp>
        <p:nvSpPr>
          <p:cNvPr id="22" name="Rectangle 22"/>
          <p:cNvSpPr/>
          <p:nvPr/>
        </p:nvSpPr>
        <p:spPr>
          <a:xfrm>
            <a:off x="9858375" y="1660525"/>
            <a:ext cx="133350" cy="57150"/>
          </a:xfrm>
          <a:prstGeom prst="roundRect">
            <a:avLst>
              <a:gd name="adj" fmla="val 33333"/>
            </a:avLst>
          </a:prstGeom>
          <a:solidFill>
            <a:srgbClr val="3E5A74"/>
          </a:solidFill>
          <a:ln>
            <a:noFill/>
          </a:ln>
        </p:spPr>
        <p:txBody>
          <a:bodyPr/>
          <a:p/>
        </p:txBody>
      </p:sp>
      <p:sp>
        <p:nvSpPr>
          <p:cNvPr id="23" name="Rectangle 23"/>
          <p:cNvSpPr/>
          <p:nvPr/>
        </p:nvSpPr>
        <p:spPr>
          <a:xfrm>
            <a:off x="10029825" y="1631950"/>
            <a:ext cx="238125" cy="114300"/>
          </a:xfrm>
          <a:prstGeom prst="roundRect">
            <a:avLst>
              <a:gd name="adj" fmla="val 25000"/>
            </a:avLst>
          </a:prstGeom>
          <a:solidFill>
            <a:srgbClr val="48C78E">
              <a:alpha val="30000"/>
            </a:srgbClr>
          </a:solidFill>
          <a:ln>
            <a:noFill/>
          </a:ln>
        </p:spPr>
        <p:txBody>
          <a:bodyPr/>
          <a:p/>
        </p:txBody>
      </p:sp>
      <p:sp>
        <p:nvSpPr>
          <p:cNvPr id="24" name="Rectangle 24"/>
          <p:cNvSpPr/>
          <p:nvPr/>
        </p:nvSpPr>
        <p:spPr>
          <a:xfrm>
            <a:off x="10048875" y="1660525"/>
            <a:ext cx="200025" cy="57150"/>
          </a:xfrm>
          <a:prstGeom prst="roundRect">
            <a:avLst>
              <a:gd name="adj" fmla="val 33333"/>
            </a:avLst>
          </a:prstGeom>
          <a:solidFill>
            <a:srgbClr val="48C78E"/>
          </a:solidFill>
          <a:ln>
            <a:noFill/>
          </a:ln>
        </p:spPr>
        <p:txBody>
          <a:bodyPr/>
          <a:p/>
        </p:txBody>
      </p:sp>
      <p:sp>
        <p:nvSpPr>
          <p:cNvPr id="25" name="TextBox 25"/>
          <p:cNvSpPr txBox="1"/>
          <p:nvPr/>
        </p:nvSpPr>
        <p:spPr>
          <a:xfrm>
            <a:off x="9196388" y="1888093"/>
            <a:ext cx="1559439" cy="169069"/>
          </a:xfrm>
          <a:prstGeom prst="rect">
            <a:avLst/>
          </a:prstGeom>
          <a:noFill/>
          <a:ln>
            <a:noFill/>
          </a:ln>
        </p:spPr>
        <p:txBody>
          <a:bodyPr wrap="none" lIns="0" tIns="0" rIns="0" bIns="0" anchor="t" anchorCtr="0">
            <a:spAutoFit/>
          </a:bodyPr>
          <a:lstStyle/>
          <a:p>
            <a:pPr algn="l"/>
            <a:r>
              <a:rPr lang="en-US" sz="860" b="1" dirty="0">
                <a:solidFill>
                  <a:srgbClr val="6E869C"/>
                </a:solidFill>
                <a:latin typeface="+mn-lt"/>
                <a:ea typeface="+mn-ea"/>
                <a:cs typeface="+mn-cs"/>
              </a:rPr>
              <a:t>which tokens to highlight?</a:t>
            </a:r>
          </a:p>
        </p:txBody>
      </p:sp>
      <p:sp>
        <p:nvSpPr>
          <p:cNvPr id="26" name="TextBox 26"/>
          <p:cNvSpPr txBox="1"/>
          <p:nvPr/>
        </p:nvSpPr>
        <p:spPr>
          <a:xfrm>
            <a:off x="604076" y="2054304"/>
            <a:ext cx="672268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Helena Vasconcelos · Gagan Bansal · Adam Fourney · Q. Vera Liao · Jennifer Wortman Vaughan</a:t>
            </a:r>
          </a:p>
        </p:txBody>
      </p:sp>
      <p:grpSp>
        <p:nvGrpSpPr>
          <p:cNvPr id="34" name="Group 34"/>
          <p:cNvGrpSpPr/>
          <p:nvPr/>
        </p:nvGrpSpPr>
        <p:grpSpPr>
          <a:xfrm>
            <a:off x="609600" y="2762250"/>
            <a:ext cx="2628900" cy="2343150"/>
            <a:chOff x="609600" y="2762250"/>
            <a:chExt cx="2628900" cy="2343150"/>
          </a:xfrm>
        </p:grpSpPr>
        <p:sp>
          <p:nvSpPr>
            <p:cNvPr id="27" name="Rectangle 27"/>
            <p:cNvSpPr/>
            <p:nvPr/>
          </p:nvSpPr>
          <p:spPr>
            <a:xfrm>
              <a:off x="609600" y="2762250"/>
              <a:ext cx="2628900" cy="2343150"/>
            </a:xfrm>
            <a:prstGeom prst="roundRect">
              <a:avLst>
                <a:gd name="adj" fmla="val 5691"/>
              </a:avLst>
            </a:prstGeom>
            <a:solidFill>
              <a:schemeClr val="accent5"/>
            </a:solidFill>
            <a:ln w="14288">
              <a:solidFill>
                <a:srgbClr val="26455F"/>
              </a:solidFill>
            </a:ln>
          </p:spPr>
        </p:sp>
        <p:sp>
          <p:nvSpPr>
            <p:cNvPr id="28" name="Rectangle 28"/>
            <p:cNvSpPr/>
            <p:nvPr/>
          </p:nvSpPr>
          <p:spPr>
            <a:xfrm>
              <a:off x="609600" y="2762250"/>
              <a:ext cx="2628900" cy="57150"/>
            </a:xfrm>
            <a:prstGeom prst="roundRect">
              <a:avLst>
                <a:gd name="adj" fmla="val 50000"/>
              </a:avLst>
            </a:prstGeom>
            <a:solidFill>
              <a:schemeClr val="accent2"/>
            </a:solidFill>
            <a:ln>
              <a:noFill/>
            </a:ln>
          </p:spPr>
        </p:sp>
        <p:sp>
          <p:nvSpPr>
            <p:cNvPr id="29" name="TextBox 29"/>
            <p:cNvSpPr txBox="1"/>
            <p:nvPr/>
          </p:nvSpPr>
          <p:spPr>
            <a:xfrm>
              <a:off x="831723" y="3100864"/>
              <a:ext cx="229852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Assistants make mistakes</a:t>
              </a:r>
            </a:p>
          </p:txBody>
        </p:sp>
        <p:sp>
          <p:nvSpPr>
            <p:cNvPr id="30" name="TextBox 30"/>
            <p:cNvSpPr txBox="1"/>
            <p:nvPr/>
          </p:nvSpPr>
          <p:spPr>
            <a:xfrm>
              <a:off x="833323" y="3877818"/>
              <a:ext cx="1930454"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Tools like Copilot suggest code</a:t>
              </a:r>
            </a:p>
          </p:txBody>
        </p:sp>
        <p:sp>
          <p:nvSpPr>
            <p:cNvPr id="31" name="TextBox 31"/>
            <p:cNvSpPr txBox="1"/>
            <p:nvPr/>
          </p:nvSpPr>
          <p:spPr>
            <a:xfrm>
              <a:off x="833323" y="4049268"/>
              <a:ext cx="1974129"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completions, but they err, and</a:t>
              </a:r>
            </a:p>
          </p:txBody>
        </p:sp>
        <p:sp>
          <p:nvSpPr>
            <p:cNvPr id="32" name="TextBox 32"/>
            <p:cNvSpPr txBox="1"/>
            <p:nvPr/>
          </p:nvSpPr>
          <p:spPr>
            <a:xfrm>
              <a:off x="833323" y="4220718"/>
              <a:ext cx="2135673"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programmers have to catch those</a:t>
              </a:r>
            </a:p>
          </p:txBody>
        </p:sp>
        <p:sp>
          <p:nvSpPr>
            <p:cNvPr id="33" name="TextBox 33"/>
            <p:cNvSpPr txBox="1"/>
            <p:nvPr/>
          </p:nvSpPr>
          <p:spPr>
            <a:xfrm>
              <a:off x="833323" y="4392168"/>
              <a:ext cx="2245523"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mistakes before they become bugs.</a:t>
              </a:r>
            </a:p>
          </p:txBody>
        </p:sp>
      </p:grpSp>
      <p:grpSp>
        <p:nvGrpSpPr>
          <p:cNvPr id="44" name="Group 44"/>
          <p:cNvGrpSpPr/>
          <p:nvPr/>
        </p:nvGrpSpPr>
        <p:grpSpPr>
          <a:xfrm>
            <a:off x="3390900" y="2762250"/>
            <a:ext cx="2628900" cy="2343150"/>
            <a:chOff x="3390900" y="2762250"/>
            <a:chExt cx="2628900" cy="2343150"/>
          </a:xfrm>
        </p:grpSpPr>
        <p:sp>
          <p:nvSpPr>
            <p:cNvPr id="35" name="Rectangle 35"/>
            <p:cNvSpPr/>
            <p:nvPr/>
          </p:nvSpPr>
          <p:spPr>
            <a:xfrm>
              <a:off x="3390900" y="2762250"/>
              <a:ext cx="2628900" cy="2343150"/>
            </a:xfrm>
            <a:prstGeom prst="roundRect">
              <a:avLst>
                <a:gd name="adj" fmla="val 5691"/>
              </a:avLst>
            </a:prstGeom>
            <a:solidFill>
              <a:schemeClr val="accent5"/>
            </a:solidFill>
            <a:ln w="14288">
              <a:solidFill>
                <a:srgbClr val="26455F"/>
              </a:solidFill>
            </a:ln>
          </p:spPr>
        </p:sp>
        <p:sp>
          <p:nvSpPr>
            <p:cNvPr id="36" name="Rectangle 36"/>
            <p:cNvSpPr/>
            <p:nvPr/>
          </p:nvSpPr>
          <p:spPr>
            <a:xfrm>
              <a:off x="3390900" y="2762250"/>
              <a:ext cx="2628900" cy="57150"/>
            </a:xfrm>
            <a:prstGeom prst="roundRect">
              <a:avLst>
                <a:gd name="adj" fmla="val 50000"/>
              </a:avLst>
            </a:prstGeom>
            <a:solidFill>
              <a:srgbClr val="F2C14E"/>
            </a:solidFill>
            <a:ln>
              <a:noFill/>
            </a:ln>
          </p:spPr>
        </p:sp>
        <p:sp>
          <p:nvSpPr>
            <p:cNvPr id="37" name="TextBox 37"/>
            <p:cNvSpPr txBox="1"/>
            <p:nvPr/>
          </p:nvSpPr>
          <p:spPr>
            <a:xfrm>
              <a:off x="3613023" y="3100864"/>
              <a:ext cx="217155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Highlight low-confidence</a:t>
              </a:r>
            </a:p>
          </p:txBody>
        </p:sp>
        <p:sp>
          <p:nvSpPr>
            <p:cNvPr id="38" name="TextBox 38"/>
            <p:cNvSpPr txBox="1"/>
            <p:nvPr/>
          </p:nvSpPr>
          <p:spPr>
            <a:xfrm>
              <a:off x="3613023" y="3319939"/>
              <a:ext cx="70953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tokens?</a:t>
              </a:r>
            </a:p>
          </p:txBody>
        </p:sp>
        <p:sp>
          <p:nvSpPr>
            <p:cNvPr id="39" name="TextBox 39"/>
            <p:cNvSpPr txBox="1"/>
            <p:nvPr/>
          </p:nvSpPr>
          <p:spPr>
            <a:xfrm>
              <a:off x="3614623" y="3877818"/>
              <a:ext cx="1932920"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The popular idea is to highlight</a:t>
              </a:r>
            </a:p>
          </p:txBody>
        </p:sp>
        <p:sp>
          <p:nvSpPr>
            <p:cNvPr id="40" name="TextBox 40"/>
            <p:cNvSpPr txBox="1"/>
            <p:nvPr/>
          </p:nvSpPr>
          <p:spPr>
            <a:xfrm>
              <a:off x="3614623" y="4049268"/>
              <a:ext cx="1967667"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the tokens the model was least</a:t>
              </a:r>
            </a:p>
          </p:txBody>
        </p:sp>
        <p:sp>
          <p:nvSpPr>
            <p:cNvPr id="41" name="TextBox 41"/>
            <p:cNvSpPr txBox="1"/>
            <p:nvPr/>
          </p:nvSpPr>
          <p:spPr>
            <a:xfrm>
              <a:off x="3614623" y="4220718"/>
              <a:ext cx="2308007"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confident about. But are generation</a:t>
              </a:r>
            </a:p>
          </p:txBody>
        </p:sp>
        <p:sp>
          <p:nvSpPr>
            <p:cNvPr id="42" name="TextBox 42"/>
            <p:cNvSpPr txBox="1"/>
            <p:nvPr/>
          </p:nvSpPr>
          <p:spPr>
            <a:xfrm>
              <a:off x="3614623" y="4392168"/>
              <a:ext cx="1961205"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probabilities the right thing to</a:t>
              </a:r>
            </a:p>
          </p:txBody>
        </p:sp>
        <p:sp>
          <p:nvSpPr>
            <p:cNvPr id="43" name="TextBox 43"/>
            <p:cNvSpPr txBox="1"/>
            <p:nvPr/>
          </p:nvSpPr>
          <p:spPr>
            <a:xfrm>
              <a:off x="3614623" y="4563618"/>
              <a:ext cx="623621"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highlight?</a:t>
              </a:r>
            </a:p>
          </p:txBody>
        </p:sp>
      </p:grpSp>
      <p:grpSp>
        <p:nvGrpSpPr>
          <p:cNvPr id="54" name="Group 54"/>
          <p:cNvGrpSpPr/>
          <p:nvPr/>
        </p:nvGrpSpPr>
        <p:grpSpPr>
          <a:xfrm>
            <a:off x="6172200" y="2762250"/>
            <a:ext cx="2628900" cy="2343150"/>
            <a:chOff x="6172200" y="2762250"/>
            <a:chExt cx="2628900" cy="2343150"/>
          </a:xfrm>
        </p:grpSpPr>
        <p:sp>
          <p:nvSpPr>
            <p:cNvPr id="45" name="Rectangle 45"/>
            <p:cNvSpPr/>
            <p:nvPr/>
          </p:nvSpPr>
          <p:spPr>
            <a:xfrm>
              <a:off x="6172200" y="2762250"/>
              <a:ext cx="2628900" cy="2343150"/>
            </a:xfrm>
            <a:prstGeom prst="roundRect">
              <a:avLst>
                <a:gd name="adj" fmla="val 5691"/>
              </a:avLst>
            </a:prstGeom>
            <a:solidFill>
              <a:schemeClr val="accent5"/>
            </a:solidFill>
            <a:ln w="14288">
              <a:solidFill>
                <a:srgbClr val="26455F"/>
              </a:solidFill>
            </a:ln>
          </p:spPr>
        </p:sp>
        <p:sp>
          <p:nvSpPr>
            <p:cNvPr id="46" name="Rectangle 46"/>
            <p:cNvSpPr/>
            <p:nvPr/>
          </p:nvSpPr>
          <p:spPr>
            <a:xfrm>
              <a:off x="6172200" y="2762250"/>
              <a:ext cx="2628900" cy="57150"/>
            </a:xfrm>
            <a:prstGeom prst="roundRect">
              <a:avLst>
                <a:gd name="adj" fmla="val 50000"/>
              </a:avLst>
            </a:prstGeom>
            <a:solidFill>
              <a:srgbClr val="34D3C0"/>
            </a:solidFill>
            <a:ln>
              <a:noFill/>
            </a:ln>
          </p:spPr>
        </p:sp>
        <p:sp>
          <p:nvSpPr>
            <p:cNvPr id="47" name="TextBox 47"/>
            <p:cNvSpPr txBox="1"/>
            <p:nvPr/>
          </p:nvSpPr>
          <p:spPr>
            <a:xfrm>
              <a:off x="6394323" y="3100864"/>
              <a:ext cx="1532760"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30 programmers,</a:t>
              </a:r>
            </a:p>
          </p:txBody>
        </p:sp>
        <p:sp>
          <p:nvSpPr>
            <p:cNvPr id="48" name="TextBox 48"/>
            <p:cNvSpPr txBox="1"/>
            <p:nvPr/>
          </p:nvSpPr>
          <p:spPr>
            <a:xfrm>
              <a:off x="6394323" y="3319939"/>
              <a:ext cx="1261366"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preregistered</a:t>
              </a:r>
            </a:p>
          </p:txBody>
        </p:sp>
        <p:sp>
          <p:nvSpPr>
            <p:cNvPr id="49" name="TextBox 49"/>
            <p:cNvSpPr txBox="1"/>
            <p:nvPr/>
          </p:nvSpPr>
          <p:spPr>
            <a:xfrm>
              <a:off x="6395923" y="3877818"/>
              <a:ext cx="2043000"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A preregistered study compares</a:t>
              </a:r>
            </a:p>
          </p:txBody>
        </p:sp>
        <p:sp>
          <p:nvSpPr>
            <p:cNvPr id="50" name="TextBox 50"/>
            <p:cNvSpPr txBox="1"/>
            <p:nvPr/>
          </p:nvSpPr>
          <p:spPr>
            <a:xfrm>
              <a:off x="6395923" y="4049268"/>
              <a:ext cx="2200290"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highlighting low-probability tokens</a:t>
              </a:r>
            </a:p>
          </p:txBody>
        </p:sp>
        <p:sp>
          <p:nvSpPr>
            <p:cNvPr id="51" name="TextBox 51"/>
            <p:cNvSpPr txBox="1"/>
            <p:nvPr/>
          </p:nvSpPr>
          <p:spPr>
            <a:xfrm>
              <a:off x="6395923" y="4220718"/>
              <a:ext cx="1864279"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against a new edit model that</a:t>
              </a:r>
            </a:p>
          </p:txBody>
        </p:sp>
        <p:sp>
          <p:nvSpPr>
            <p:cNvPr id="52" name="TextBox 52"/>
            <p:cNvSpPr txBox="1"/>
            <p:nvPr/>
          </p:nvSpPr>
          <p:spPr>
            <a:xfrm>
              <a:off x="6395923" y="4392168"/>
              <a:ext cx="2226137"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predicts which tokens a person will</a:t>
              </a:r>
            </a:p>
          </p:txBody>
        </p:sp>
        <p:sp>
          <p:nvSpPr>
            <p:cNvPr id="53" name="TextBox 53"/>
            <p:cNvSpPr txBox="1"/>
            <p:nvPr/>
          </p:nvSpPr>
          <p:spPr>
            <a:xfrm>
              <a:off x="6395923" y="4563618"/>
              <a:ext cx="507309"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change.</a:t>
              </a:r>
            </a:p>
          </p:txBody>
        </p:sp>
      </p:grpSp>
      <p:grpSp>
        <p:nvGrpSpPr>
          <p:cNvPr id="62" name="Group 62"/>
          <p:cNvGrpSpPr/>
          <p:nvPr/>
        </p:nvGrpSpPr>
        <p:grpSpPr>
          <a:xfrm>
            <a:off x="8953500" y="2762250"/>
            <a:ext cx="2628900" cy="2343150"/>
            <a:chOff x="8953500" y="2762250"/>
            <a:chExt cx="2628900" cy="2343150"/>
          </a:xfrm>
        </p:grpSpPr>
        <p:sp>
          <p:nvSpPr>
            <p:cNvPr id="55" name="Rectangle 55"/>
            <p:cNvSpPr/>
            <p:nvPr/>
          </p:nvSpPr>
          <p:spPr>
            <a:xfrm>
              <a:off x="8953500" y="2762250"/>
              <a:ext cx="2628900" cy="2343150"/>
            </a:xfrm>
            <a:prstGeom prst="roundRect">
              <a:avLst>
                <a:gd name="adj" fmla="val 5691"/>
              </a:avLst>
            </a:prstGeom>
            <a:solidFill>
              <a:schemeClr val="accent5"/>
            </a:solidFill>
            <a:ln w="14288">
              <a:solidFill>
                <a:srgbClr val="26455F"/>
              </a:solidFill>
            </a:ln>
          </p:spPr>
        </p:sp>
        <p:sp>
          <p:nvSpPr>
            <p:cNvPr id="56" name="Rectangle 56"/>
            <p:cNvSpPr/>
            <p:nvPr/>
          </p:nvSpPr>
          <p:spPr>
            <a:xfrm>
              <a:off x="8953500" y="2762250"/>
              <a:ext cx="2628900" cy="57150"/>
            </a:xfrm>
            <a:prstGeom prst="roundRect">
              <a:avLst>
                <a:gd name="adj" fmla="val 50000"/>
              </a:avLst>
            </a:prstGeom>
            <a:solidFill>
              <a:srgbClr val="48C78E"/>
            </a:solidFill>
            <a:ln>
              <a:noFill/>
            </a:ln>
          </p:spPr>
        </p:sp>
        <p:sp>
          <p:nvSpPr>
            <p:cNvPr id="57" name="TextBox 57"/>
            <p:cNvSpPr txBox="1"/>
            <p:nvPr/>
          </p:nvSpPr>
          <p:spPr>
            <a:xfrm>
              <a:off x="9175623" y="3100864"/>
              <a:ext cx="171062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The edit model wins</a:t>
              </a:r>
            </a:p>
          </p:txBody>
        </p:sp>
        <p:sp>
          <p:nvSpPr>
            <p:cNvPr id="58" name="TextBox 58"/>
            <p:cNvSpPr txBox="1"/>
            <p:nvPr/>
          </p:nvSpPr>
          <p:spPr>
            <a:xfrm>
              <a:off x="9177223" y="3877818"/>
              <a:ext cx="2204719"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The edit model is faster, edits are</a:t>
              </a:r>
            </a:p>
          </p:txBody>
        </p:sp>
        <p:sp>
          <p:nvSpPr>
            <p:cNvPr id="59" name="TextBox 59"/>
            <p:cNvSpPr txBox="1"/>
            <p:nvPr/>
          </p:nvSpPr>
          <p:spPr>
            <a:xfrm>
              <a:off x="9177223" y="4049268"/>
              <a:ext cx="2264908"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more precise, and users prefer it -</a:t>
              </a:r>
            </a:p>
          </p:txBody>
        </p:sp>
        <p:sp>
          <p:nvSpPr>
            <p:cNvPr id="60" name="TextBox 60"/>
            <p:cNvSpPr txBox="1"/>
            <p:nvPr/>
          </p:nvSpPr>
          <p:spPr>
            <a:xfrm>
              <a:off x="9177223" y="4220718"/>
              <a:ext cx="2051670"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showing generation probabilities</a:t>
              </a:r>
            </a:p>
          </p:txBody>
        </p:sp>
        <p:sp>
          <p:nvSpPr>
            <p:cNvPr id="61" name="TextBox 61"/>
            <p:cNvSpPr txBox="1"/>
            <p:nvPr/>
          </p:nvSpPr>
          <p:spPr>
            <a:xfrm>
              <a:off x="9177223" y="4392168"/>
              <a:ext cx="1373185" cy="187757"/>
            </a:xfrm>
            <a:prstGeom prst="rect">
              <a:avLst/>
            </a:prstGeom>
            <a:noFill/>
            <a:ln>
              <a:noFill/>
            </a:ln>
          </p:spPr>
          <p:txBody>
            <a:bodyPr wrap="none" lIns="0" tIns="0" rIns="0" bIns="0" anchor="t" anchorCtr="0">
              <a:spAutoFit/>
            </a:bodyPr>
            <a:lstStyle/>
            <a:p>
              <a:pPr algn="l"/>
              <a:r>
                <a:rPr lang="en-US" sz="960" dirty="0">
                  <a:solidFill>
                    <a:schemeClr val="dk2"/>
                  </a:solidFill>
                  <a:latin typeface="+mn-lt"/>
                  <a:ea typeface="+mn-ea"/>
                  <a:cs typeface="+mn-cs"/>
                </a:rPr>
                <a:t>alone are not enough.</a:t>
              </a:r>
            </a:p>
          </p:txBody>
        </p:sp>
      </p:grpSp>
      <p:sp>
        <p:nvSpPr>
          <p:cNvPr id="63" name="Line 63"/>
          <p:cNvSpPr/>
          <p:nvPr/>
        </p:nvSpPr>
        <p:spPr>
          <a:xfrm>
            <a:off x="609600" y="539115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64" name="TextBox 64"/>
          <p:cNvSpPr txBox="1"/>
          <p:nvPr/>
        </p:nvSpPr>
        <p:spPr>
          <a:xfrm>
            <a:off x="604266" y="560165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arXiv:2302.07248</a:t>
            </a:r>
          </a:p>
        </p:txBody>
      </p:sp>
      <p:sp>
        <p:nvSpPr>
          <p:cNvPr id="65" name="TextBox 65"/>
          <p:cNvSpPr txBox="1"/>
          <p:nvPr/>
        </p:nvSpPr>
        <p:spPr>
          <a:xfrm>
            <a:off x="2471356" y="5605701"/>
            <a:ext cx="945395"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osf.io/tymah</a:t>
            </a:r>
          </a:p>
        </p:txBody>
      </p:sp>
      <p:sp>
        <p:nvSpPr>
          <p:cNvPr id="66" name="TextBox 66"/>
          <p:cNvSpPr txBox="1"/>
          <p:nvPr/>
        </p:nvSpPr>
        <p:spPr>
          <a:xfrm>
            <a:off x="7156616" y="5601652"/>
            <a:ext cx="4431118"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What you highlight matters more than whether you highlight.</a:t>
            </a:r>
          </a:p>
        </p:txBody>
      </p:sp>
      <p:sp>
        <p:nvSpPr>
          <p:cNvPr id="67" name="cue_s01_c1_code_assistants_like_copilot_suggest" title="cue_s01_c1_code_assistants_like_copilot_suggest" descr="cue_s01_c1_code_assistants_like_copilot_suggest AI code assistants like Copilot suggest completions, but they make mistakes, and programmers have to catch those mistakes before they turn into bugs."/>
          <p:cNvSpPr/>
          <p:nvPr/>
        </p:nvSpPr>
        <p:spPr>
          <a:xfrm>
            <a:off x="609600" y="2762402"/>
            <a:ext cx="2628595" cy="23433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ue_s01_c2_one_popular_idea_highlight_tokens" title="cue_s01_c2_one_popular_idea_highlight_tokens" descr="cue_s01_c2_one_popular_idea_highlight_tokens One popular idea is to highlight the tokens the model was least confident about, so a person knows where to look. This paper asks a sharp question: are those generation probabilities actually the right thing to highlight?"/>
          <p:cNvSpPr/>
          <p:nvPr/>
        </p:nvSpPr>
        <p:spPr>
          <a:xfrm>
            <a:off x="3390595" y="2762402"/>
            <a:ext cx="2628595" cy="23433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ue_s01_c3_through_preregistered_study_thirty_p" title="cue_s01_c3_through_preregistered_study_thirty_p" descr="cue_s01_c3_through_preregistered_study_thirty_p Through a preregistered study with thirty programmers, the authors compare highlighting low-probability tokens against a new edit model that instead predicts which tokens a person is likely to change."/>
          <p:cNvSpPr/>
          <p:nvPr/>
        </p:nvSpPr>
        <p:spPr>
          <a:xfrm>
            <a:off x="6171590" y="2762402"/>
            <a:ext cx="2628595" cy="23433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ue_s01_c4_edit_wins_speed_precision_edits" title="cue_s01_c4_edit_wins_speed_precision_edits" descr="cue_s01_c4_edit_wins_speed_precision_edits The edit model wins on speed, precision of edits, and user preference, showing that generation probabilities alone are not enough."/>
          <p:cNvSpPr/>
          <p:nvPr/>
        </p:nvSpPr>
        <p:spPr>
          <a:xfrm>
            <a:off x="8953804" y="2762402"/>
            <a:ext cx="2628595" cy="23433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683094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Catching AI's mistakes, one token at a time</a:t>
            </a:r>
          </a:p>
        </p:txBody>
      </p:sp>
      <p:grpSp>
        <p:nvGrpSpPr>
          <p:cNvPr id="33" name="Group 33"/>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rgbClr val="F2685C"/>
            </a:solidFill>
            <a:ln>
              <a:noFill/>
            </a:ln>
          </p:spPr>
        </p:sp>
        <p:sp>
          <p:nvSpPr>
            <p:cNvPr id="7" name="TextBox 7"/>
            <p:cNvSpPr txBox="1"/>
            <p:nvPr/>
          </p:nvSpPr>
          <p:spPr>
            <a:xfrm>
              <a:off x="869632" y="1782366"/>
              <a:ext cx="2889716" cy="256699"/>
            </a:xfrm>
            <a:prstGeom prst="rect">
              <a:avLst/>
            </a:prstGeom>
            <a:noFill/>
            <a:ln>
              <a:noFill/>
            </a:ln>
          </p:spPr>
          <p:txBody>
            <a:bodyPr wrap="none" lIns="0" tIns="0" rIns="0" bIns="0" anchor="t" anchorCtr="0">
              <a:spAutoFit/>
            </a:bodyPr>
            <a:lstStyle/>
            <a:p>
              <a:pPr algn="l"/>
              <a:r>
                <a:rPr lang="en-US" sz="1310" b="1" dirty="0">
                  <a:solidFill>
                    <a:srgbClr val="F2685C"/>
                  </a:solidFill>
                  <a:latin typeface="+mn-lt"/>
                  <a:ea typeface="+mn-ea"/>
                  <a:cs typeface="+mn-cs"/>
                </a:rPr>
                <a:t>A wrong suggestion plants a bug</a:t>
              </a:r>
            </a:p>
          </p:txBody>
        </p:sp>
        <p:sp>
          <p:nvSpPr>
            <p:cNvPr id="8" name="TextBox 8"/>
            <p:cNvSpPr txBox="1"/>
            <p:nvPr/>
          </p:nvSpPr>
          <p:spPr>
            <a:xfrm>
              <a:off x="870776" y="2149554"/>
              <a:ext cx="317607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AI code assistants are now everywhere, but</a:t>
              </a:r>
            </a:p>
          </p:txBody>
        </p:sp>
        <p:sp>
          <p:nvSpPr>
            <p:cNvPr id="9" name="TextBox 9"/>
            <p:cNvSpPr txBox="1"/>
            <p:nvPr/>
          </p:nvSpPr>
          <p:spPr>
            <a:xfrm>
              <a:off x="870776" y="2368629"/>
              <a:ext cx="317097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they are imperfect. A wrong suggestion can</a:t>
              </a:r>
            </a:p>
          </p:txBody>
        </p:sp>
        <p:sp>
          <p:nvSpPr>
            <p:cNvPr id="10" name="TextBox 10"/>
            <p:cNvSpPr txBox="1"/>
            <p:nvPr/>
          </p:nvSpPr>
          <p:spPr>
            <a:xfrm>
              <a:off x="870776" y="2587704"/>
              <a:ext cx="271832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quietly plant a bug or a security hole.</a:t>
              </a:r>
            </a:p>
          </p:txBody>
        </p:sp>
        <p:sp>
          <p:nvSpPr>
            <p:cNvPr id="11" name="Rectangle 11"/>
            <p:cNvSpPr/>
            <p:nvPr/>
          </p:nvSpPr>
          <p:spPr>
            <a:xfrm>
              <a:off x="876300" y="3295650"/>
              <a:ext cx="3314700" cy="1143000"/>
            </a:xfrm>
            <a:prstGeom prst="roundRect">
              <a:avLst>
                <a:gd name="adj" fmla="val 6667"/>
              </a:avLst>
            </a:prstGeom>
            <a:solidFill>
              <a:srgbClr val="0C1E2E"/>
            </a:solidFill>
            <a:ln w="14288">
              <a:solidFill>
                <a:srgbClr val="26455F"/>
              </a:solidFill>
            </a:ln>
          </p:spPr>
        </p:sp>
        <p:sp>
          <p:nvSpPr>
            <p:cNvPr id="12" name="Line 12"/>
            <p:cNvSpPr/>
            <p:nvPr/>
          </p:nvSpPr>
          <p:spPr>
            <a:xfrm>
              <a:off x="1123950" y="3362325"/>
              <a:ext cx="9525" cy="1009650"/>
            </a:xfrm>
            <a:custGeom>
              <a:avLst/>
              <a:gdLst/>
              <a:ahLst/>
              <a:cxnLst/>
              <a:rect l="l" t="t" r="r" b="b"/>
              <a:pathLst>
                <a:path w="9525" h="1009650">
                  <a:moveTo>
                    <a:pt x="0" y="0"/>
                  </a:moveTo>
                  <a:lnTo>
                    <a:pt x="0" y="1009650"/>
                  </a:lnTo>
                </a:path>
              </a:pathLst>
            </a:custGeom>
            <a:noFill/>
            <a:ln w="9525" cap="rnd">
              <a:solidFill>
                <a:srgbClr val="26455F"/>
              </a:solidFill>
            </a:ln>
          </p:spPr>
        </p:sp>
        <p:sp>
          <p:nvSpPr>
            <p:cNvPr id="13" name="TextBox 13"/>
            <p:cNvSpPr txBox="1"/>
            <p:nvPr/>
          </p:nvSpPr>
          <p:spPr>
            <a:xfrm>
              <a:off x="968930" y="3460909"/>
              <a:ext cx="62390" cy="133350"/>
            </a:xfrm>
            <a:prstGeom prst="rect">
              <a:avLst/>
            </a:prstGeom>
            <a:noFill/>
            <a:ln>
              <a:noFill/>
            </a:ln>
          </p:spPr>
          <p:txBody>
            <a:bodyPr wrap="none" lIns="0" tIns="0" rIns="0" bIns="0" anchor="t" anchorCtr="0">
              <a:spAutoFit/>
            </a:bodyPr>
            <a:lstStyle/>
            <a:p>
              <a:pPr algn="ctr"/>
              <a:r>
                <a:rPr lang="en-US" sz="680" b="1" dirty="0">
                  <a:solidFill>
                    <a:srgbClr val="6E869C"/>
                  </a:solidFill>
                  <a:latin typeface="Consolas"/>
                  <a:ea typeface="Consolas"/>
                  <a:cs typeface="Consolas"/>
                </a:rPr>
                <a:t>1</a:t>
              </a:r>
            </a:p>
          </p:txBody>
        </p:sp>
        <p:sp>
          <p:nvSpPr>
            <p:cNvPr id="14" name="Rectangle 14"/>
            <p:cNvSpPr/>
            <p:nvPr/>
          </p:nvSpPr>
          <p:spPr>
            <a:xfrm>
              <a:off x="1209675" y="3486150"/>
              <a:ext cx="200025" cy="57150"/>
            </a:xfrm>
            <a:prstGeom prst="roundRect">
              <a:avLst>
                <a:gd name="adj" fmla="val 33333"/>
              </a:avLst>
            </a:prstGeom>
            <a:solidFill>
              <a:srgbClr val="3E5A74"/>
            </a:solidFill>
            <a:ln>
              <a:noFill/>
            </a:ln>
          </p:spPr>
        </p:sp>
        <p:sp>
          <p:nvSpPr>
            <p:cNvPr id="15" name="Rectangle 15"/>
            <p:cNvSpPr/>
            <p:nvPr/>
          </p:nvSpPr>
          <p:spPr>
            <a:xfrm>
              <a:off x="1466850" y="3486150"/>
              <a:ext cx="266700" cy="57150"/>
            </a:xfrm>
            <a:prstGeom prst="roundRect">
              <a:avLst>
                <a:gd name="adj" fmla="val 33333"/>
              </a:avLst>
            </a:prstGeom>
            <a:solidFill>
              <a:srgbClr val="3E5A74"/>
            </a:solidFill>
            <a:ln>
              <a:noFill/>
            </a:ln>
          </p:spPr>
        </p:sp>
        <p:sp>
          <p:nvSpPr>
            <p:cNvPr id="16" name="Rectangle 16"/>
            <p:cNvSpPr/>
            <p:nvPr/>
          </p:nvSpPr>
          <p:spPr>
            <a:xfrm>
              <a:off x="1790700" y="3486150"/>
              <a:ext cx="133350" cy="57150"/>
            </a:xfrm>
            <a:prstGeom prst="roundRect">
              <a:avLst>
                <a:gd name="adj" fmla="val 33333"/>
              </a:avLst>
            </a:prstGeom>
            <a:solidFill>
              <a:srgbClr val="3E5A74"/>
            </a:solidFill>
            <a:ln>
              <a:noFill/>
            </a:ln>
          </p:spPr>
        </p:sp>
        <p:sp>
          <p:nvSpPr>
            <p:cNvPr id="17" name="TextBox 17"/>
            <p:cNvSpPr txBox="1"/>
            <p:nvPr/>
          </p:nvSpPr>
          <p:spPr>
            <a:xfrm>
              <a:off x="968930" y="3708559"/>
              <a:ext cx="62390" cy="133350"/>
            </a:xfrm>
            <a:prstGeom prst="rect">
              <a:avLst/>
            </a:prstGeom>
            <a:noFill/>
            <a:ln>
              <a:noFill/>
            </a:ln>
          </p:spPr>
          <p:txBody>
            <a:bodyPr wrap="none" lIns="0" tIns="0" rIns="0" bIns="0" anchor="t" anchorCtr="0">
              <a:spAutoFit/>
            </a:bodyPr>
            <a:lstStyle/>
            <a:p>
              <a:pPr algn="ctr"/>
              <a:r>
                <a:rPr lang="en-US" sz="680" b="1" dirty="0">
                  <a:solidFill>
                    <a:srgbClr val="6E869C"/>
                  </a:solidFill>
                  <a:latin typeface="Consolas"/>
                  <a:ea typeface="Consolas"/>
                  <a:cs typeface="Consolas"/>
                </a:rPr>
                <a:t>2</a:t>
              </a:r>
            </a:p>
          </p:txBody>
        </p:sp>
        <p:sp>
          <p:nvSpPr>
            <p:cNvPr id="18" name="Rectangle 18"/>
            <p:cNvSpPr/>
            <p:nvPr/>
          </p:nvSpPr>
          <p:spPr>
            <a:xfrm>
              <a:off x="1209675" y="3733800"/>
              <a:ext cx="133350" cy="57150"/>
            </a:xfrm>
            <a:prstGeom prst="roundRect">
              <a:avLst>
                <a:gd name="adj" fmla="val 33333"/>
              </a:avLst>
            </a:prstGeom>
            <a:solidFill>
              <a:srgbClr val="3E5A74"/>
            </a:solidFill>
            <a:ln>
              <a:noFill/>
            </a:ln>
          </p:spPr>
        </p:sp>
        <p:sp>
          <p:nvSpPr>
            <p:cNvPr id="19" name="Rectangle 19"/>
            <p:cNvSpPr/>
            <p:nvPr/>
          </p:nvSpPr>
          <p:spPr>
            <a:xfrm>
              <a:off x="1381125" y="3705225"/>
              <a:ext cx="371475" cy="114300"/>
            </a:xfrm>
            <a:prstGeom prst="roundRect">
              <a:avLst>
                <a:gd name="adj" fmla="val 25000"/>
              </a:avLst>
            </a:prstGeom>
            <a:solidFill>
              <a:srgbClr val="F2685C">
                <a:alpha val="30000"/>
              </a:srgbClr>
            </a:solidFill>
            <a:ln>
              <a:noFill/>
            </a:ln>
          </p:spPr>
        </p:sp>
        <p:sp>
          <p:nvSpPr>
            <p:cNvPr id="20" name="Rectangle 20"/>
            <p:cNvSpPr/>
            <p:nvPr/>
          </p:nvSpPr>
          <p:spPr>
            <a:xfrm>
              <a:off x="1400175" y="3733800"/>
              <a:ext cx="333375" cy="57150"/>
            </a:xfrm>
            <a:prstGeom prst="roundRect">
              <a:avLst>
                <a:gd name="adj" fmla="val 33333"/>
              </a:avLst>
            </a:prstGeom>
            <a:solidFill>
              <a:srgbClr val="F2685C"/>
            </a:solidFill>
            <a:ln>
              <a:noFill/>
            </a:ln>
          </p:spPr>
        </p:sp>
        <p:sp>
          <p:nvSpPr>
            <p:cNvPr id="21" name="Rectangle 21"/>
            <p:cNvSpPr/>
            <p:nvPr/>
          </p:nvSpPr>
          <p:spPr>
            <a:xfrm>
              <a:off x="1790700" y="3733800"/>
              <a:ext cx="200025" cy="57150"/>
            </a:xfrm>
            <a:prstGeom prst="roundRect">
              <a:avLst>
                <a:gd name="adj" fmla="val 33333"/>
              </a:avLst>
            </a:prstGeom>
            <a:solidFill>
              <a:srgbClr val="3E5A74"/>
            </a:solidFill>
            <a:ln>
              <a:noFill/>
            </a:ln>
          </p:spPr>
        </p:sp>
        <p:sp>
          <p:nvSpPr>
            <p:cNvPr id="22" name="Rectangle 22"/>
            <p:cNvSpPr/>
            <p:nvPr/>
          </p:nvSpPr>
          <p:spPr>
            <a:xfrm>
              <a:off x="2047875" y="3733800"/>
              <a:ext cx="133350" cy="57150"/>
            </a:xfrm>
            <a:prstGeom prst="roundRect">
              <a:avLst>
                <a:gd name="adj" fmla="val 33333"/>
              </a:avLst>
            </a:prstGeom>
            <a:solidFill>
              <a:srgbClr val="3E5A74"/>
            </a:solidFill>
            <a:ln>
              <a:noFill/>
            </a:ln>
          </p:spPr>
        </p:sp>
        <p:sp>
          <p:nvSpPr>
            <p:cNvPr id="23" name="TextBox 23"/>
            <p:cNvSpPr txBox="1"/>
            <p:nvPr/>
          </p:nvSpPr>
          <p:spPr>
            <a:xfrm>
              <a:off x="968930" y="3956209"/>
              <a:ext cx="62390" cy="133350"/>
            </a:xfrm>
            <a:prstGeom prst="rect">
              <a:avLst/>
            </a:prstGeom>
            <a:noFill/>
            <a:ln>
              <a:noFill/>
            </a:ln>
          </p:spPr>
          <p:txBody>
            <a:bodyPr wrap="none" lIns="0" tIns="0" rIns="0" bIns="0" anchor="t" anchorCtr="0">
              <a:spAutoFit/>
            </a:bodyPr>
            <a:lstStyle/>
            <a:p>
              <a:pPr algn="ctr"/>
              <a:r>
                <a:rPr lang="en-US" sz="680" b="1" dirty="0">
                  <a:solidFill>
                    <a:srgbClr val="6E869C"/>
                  </a:solidFill>
                  <a:latin typeface="Consolas"/>
                  <a:ea typeface="Consolas"/>
                  <a:cs typeface="Consolas"/>
                </a:rPr>
                <a:t>3</a:t>
              </a:r>
            </a:p>
          </p:txBody>
        </p:sp>
        <p:sp>
          <p:nvSpPr>
            <p:cNvPr id="24" name="Rectangle 24"/>
            <p:cNvSpPr/>
            <p:nvPr/>
          </p:nvSpPr>
          <p:spPr>
            <a:xfrm>
              <a:off x="1209675" y="3981450"/>
              <a:ext cx="266700" cy="57150"/>
            </a:xfrm>
            <a:prstGeom prst="roundRect">
              <a:avLst>
                <a:gd name="adj" fmla="val 33333"/>
              </a:avLst>
            </a:prstGeom>
            <a:solidFill>
              <a:srgbClr val="3E5A74"/>
            </a:solidFill>
            <a:ln>
              <a:noFill/>
            </a:ln>
          </p:spPr>
        </p:sp>
        <p:sp>
          <p:nvSpPr>
            <p:cNvPr id="25" name="Rectangle 25"/>
            <p:cNvSpPr/>
            <p:nvPr/>
          </p:nvSpPr>
          <p:spPr>
            <a:xfrm>
              <a:off x="1533525" y="3981450"/>
              <a:ext cx="133350" cy="57150"/>
            </a:xfrm>
            <a:prstGeom prst="roundRect">
              <a:avLst>
                <a:gd name="adj" fmla="val 33333"/>
              </a:avLst>
            </a:prstGeom>
            <a:solidFill>
              <a:srgbClr val="3E5A74"/>
            </a:solidFill>
            <a:ln>
              <a:noFill/>
            </a:ln>
          </p:spPr>
        </p:sp>
        <p:sp>
          <p:nvSpPr>
            <p:cNvPr id="26" name="Rectangle 26"/>
            <p:cNvSpPr/>
            <p:nvPr/>
          </p:nvSpPr>
          <p:spPr>
            <a:xfrm>
              <a:off x="1724025" y="3981450"/>
              <a:ext cx="200025" cy="57150"/>
            </a:xfrm>
            <a:prstGeom prst="roundRect">
              <a:avLst>
                <a:gd name="adj" fmla="val 33333"/>
              </a:avLst>
            </a:prstGeom>
            <a:solidFill>
              <a:srgbClr val="3E5A74"/>
            </a:solidFill>
            <a:ln>
              <a:noFill/>
            </a:ln>
          </p:spPr>
        </p:sp>
        <p:sp>
          <p:nvSpPr>
            <p:cNvPr id="27" name="TextBox 27"/>
            <p:cNvSpPr txBox="1"/>
            <p:nvPr/>
          </p:nvSpPr>
          <p:spPr>
            <a:xfrm>
              <a:off x="968930" y="4203859"/>
              <a:ext cx="62390" cy="133350"/>
            </a:xfrm>
            <a:prstGeom prst="rect">
              <a:avLst/>
            </a:prstGeom>
            <a:noFill/>
            <a:ln>
              <a:noFill/>
            </a:ln>
          </p:spPr>
          <p:txBody>
            <a:bodyPr wrap="none" lIns="0" tIns="0" rIns="0" bIns="0" anchor="t" anchorCtr="0">
              <a:spAutoFit/>
            </a:bodyPr>
            <a:lstStyle/>
            <a:p>
              <a:pPr algn="ctr"/>
              <a:r>
                <a:rPr lang="en-US" sz="680" b="1" dirty="0">
                  <a:solidFill>
                    <a:srgbClr val="6E869C"/>
                  </a:solidFill>
                  <a:latin typeface="Consolas"/>
                  <a:ea typeface="Consolas"/>
                  <a:cs typeface="Consolas"/>
                </a:rPr>
                <a:t>4</a:t>
              </a:r>
            </a:p>
          </p:txBody>
        </p:sp>
        <p:sp>
          <p:nvSpPr>
            <p:cNvPr id="28" name="Rectangle 28"/>
            <p:cNvSpPr/>
            <p:nvPr/>
          </p:nvSpPr>
          <p:spPr>
            <a:xfrm>
              <a:off x="1209675" y="4229100"/>
              <a:ext cx="200025" cy="57150"/>
            </a:xfrm>
            <a:prstGeom prst="roundRect">
              <a:avLst>
                <a:gd name="adj" fmla="val 33333"/>
              </a:avLst>
            </a:prstGeom>
            <a:solidFill>
              <a:srgbClr val="3E5A74"/>
            </a:solidFill>
            <a:ln>
              <a:noFill/>
            </a:ln>
          </p:spPr>
        </p:sp>
        <p:sp>
          <p:nvSpPr>
            <p:cNvPr id="29" name="Rectangle 29"/>
            <p:cNvSpPr/>
            <p:nvPr/>
          </p:nvSpPr>
          <p:spPr>
            <a:xfrm>
              <a:off x="1466850" y="4229100"/>
              <a:ext cx="200025" cy="57150"/>
            </a:xfrm>
            <a:prstGeom prst="roundRect">
              <a:avLst>
                <a:gd name="adj" fmla="val 33333"/>
              </a:avLst>
            </a:prstGeom>
            <a:solidFill>
              <a:srgbClr val="3E5A74"/>
            </a:solidFill>
            <a:ln>
              <a:noFill/>
            </a:ln>
          </p:spPr>
        </p:sp>
        <p:sp>
          <p:nvSpPr>
            <p:cNvPr id="30" name="Rectangle 30"/>
            <p:cNvSpPr/>
            <p:nvPr/>
          </p:nvSpPr>
          <p:spPr>
            <a:xfrm>
              <a:off x="1724025" y="4229100"/>
              <a:ext cx="266700" cy="57150"/>
            </a:xfrm>
            <a:prstGeom prst="roundRect">
              <a:avLst>
                <a:gd name="adj" fmla="val 33333"/>
              </a:avLst>
            </a:prstGeom>
            <a:solidFill>
              <a:srgbClr val="3E5A74"/>
            </a:solidFill>
            <a:ln>
              <a:noFill/>
            </a:ln>
          </p:spPr>
        </p:sp>
        <p:sp>
          <p:nvSpPr>
            <p:cNvPr id="31" name="Rectangle 31"/>
            <p:cNvSpPr/>
            <p:nvPr/>
          </p:nvSpPr>
          <p:spPr>
            <a:xfrm>
              <a:off x="2047875" y="4229100"/>
              <a:ext cx="133350" cy="57150"/>
            </a:xfrm>
            <a:prstGeom prst="roundRect">
              <a:avLst>
                <a:gd name="adj" fmla="val 33333"/>
              </a:avLst>
            </a:prstGeom>
            <a:solidFill>
              <a:srgbClr val="3E5A74"/>
            </a:solidFill>
            <a:ln>
              <a:noFill/>
            </a:ln>
          </p:spPr>
        </p:sp>
        <p:sp>
          <p:nvSpPr>
            <p:cNvPr id="32" name="TextBox 32"/>
            <p:cNvSpPr txBox="1"/>
            <p:nvPr/>
          </p:nvSpPr>
          <p:spPr>
            <a:xfrm>
              <a:off x="871423" y="4601718"/>
              <a:ext cx="1923081" cy="187757"/>
            </a:xfrm>
            <a:prstGeom prst="rect">
              <a:avLst/>
            </a:prstGeom>
            <a:noFill/>
            <a:ln>
              <a:noFill/>
            </a:ln>
          </p:spPr>
          <p:txBody>
            <a:bodyPr wrap="none" lIns="0" tIns="0" rIns="0" bIns="0" anchor="t" anchorCtr="0">
              <a:spAutoFit/>
            </a:bodyPr>
            <a:lstStyle/>
            <a:p>
              <a:pPr algn="l"/>
              <a:r>
                <a:rPr lang="en-US" sz="960" b="1" dirty="0">
                  <a:solidFill>
                    <a:srgbClr val="F2685C"/>
                  </a:solidFill>
                  <a:latin typeface="Consolas"/>
                  <a:ea typeface="Consolas"/>
                  <a:cs typeface="Consolas"/>
                </a:rPr>
                <a:t>one bad token, quietly wrong</a:t>
              </a:r>
            </a:p>
          </p:txBody>
        </p:sp>
      </p:grpSp>
      <p:grpSp>
        <p:nvGrpSpPr>
          <p:cNvPr id="39" name="Group 39"/>
          <p:cNvGrpSpPr/>
          <p:nvPr/>
        </p:nvGrpSpPr>
        <p:grpSpPr>
          <a:xfrm>
            <a:off x="4762500" y="1504950"/>
            <a:ext cx="6819900" cy="1143000"/>
            <a:chOff x="4762500" y="1504950"/>
            <a:chExt cx="6819900" cy="1143000"/>
          </a:xfrm>
        </p:grpSpPr>
        <p:sp>
          <p:nvSpPr>
            <p:cNvPr id="34" name="Rectangle 34"/>
            <p:cNvSpPr/>
            <p:nvPr/>
          </p:nvSpPr>
          <p:spPr>
            <a:xfrm>
              <a:off x="4762500" y="1504950"/>
              <a:ext cx="6819900" cy="1143000"/>
            </a:xfrm>
            <a:prstGeom prst="roundRect">
              <a:avLst>
                <a:gd name="adj" fmla="val 11667"/>
              </a:avLst>
            </a:prstGeom>
            <a:solidFill>
              <a:schemeClr val="accent5"/>
            </a:solidFill>
            <a:ln w="14288">
              <a:solidFill>
                <a:srgbClr val="26455F"/>
              </a:solidFill>
            </a:ln>
          </p:spPr>
        </p:sp>
        <p:sp>
          <p:nvSpPr>
            <p:cNvPr id="35" name="Rectangle 35"/>
            <p:cNvSpPr/>
            <p:nvPr/>
          </p:nvSpPr>
          <p:spPr>
            <a:xfrm>
              <a:off x="4762500" y="1504950"/>
              <a:ext cx="57150" cy="1143000"/>
            </a:xfrm>
            <a:prstGeom prst="roundRect">
              <a:avLst>
                <a:gd name="adj" fmla="val 50000"/>
              </a:avLst>
            </a:prstGeom>
            <a:solidFill>
              <a:srgbClr val="F2C14E"/>
            </a:solidFill>
            <a:ln>
              <a:noFill/>
            </a:ln>
          </p:spPr>
        </p:sp>
        <p:sp>
          <p:nvSpPr>
            <p:cNvPr id="36" name="TextBox 36"/>
            <p:cNvSpPr txBox="1"/>
            <p:nvPr/>
          </p:nvSpPr>
          <p:spPr>
            <a:xfrm>
              <a:off x="5022914" y="1733312"/>
              <a:ext cx="2069097"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First you have to notice</a:t>
              </a:r>
            </a:p>
          </p:txBody>
        </p:sp>
        <p:sp>
          <p:nvSpPr>
            <p:cNvPr id="37" name="TextBox 37"/>
            <p:cNvSpPr txBox="1"/>
            <p:nvPr/>
          </p:nvSpPr>
          <p:spPr>
            <a:xfrm>
              <a:off x="5023866" y="2039302"/>
              <a:ext cx="530942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 catch mistakes, a programmer must first notice them - and that is hard,</a:t>
              </a:r>
            </a:p>
          </p:txBody>
        </p:sp>
        <p:sp>
          <p:nvSpPr>
            <p:cNvPr id="38" name="TextBox 38"/>
            <p:cNvSpPr txBox="1"/>
            <p:nvPr/>
          </p:nvSpPr>
          <p:spPr>
            <a:xfrm>
              <a:off x="5023866" y="2239328"/>
              <a:ext cx="329001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because people tend to over-trust automation.</a:t>
              </a:r>
            </a:p>
          </p:txBody>
        </p:sp>
      </p:grpSp>
      <p:grpSp>
        <p:nvGrpSpPr>
          <p:cNvPr id="59" name="Group 59"/>
          <p:cNvGrpSpPr/>
          <p:nvPr/>
        </p:nvGrpSpPr>
        <p:grpSpPr>
          <a:xfrm>
            <a:off x="4762500" y="2800350"/>
            <a:ext cx="6819900" cy="1562100"/>
            <a:chOff x="4762500" y="2800350"/>
            <a:chExt cx="6819900" cy="1562100"/>
          </a:xfrm>
        </p:grpSpPr>
        <p:sp>
          <p:nvSpPr>
            <p:cNvPr id="40" name="Rectangle 40"/>
            <p:cNvSpPr/>
            <p:nvPr/>
          </p:nvSpPr>
          <p:spPr>
            <a:xfrm>
              <a:off x="4762500" y="2800350"/>
              <a:ext cx="6819900" cy="1562100"/>
            </a:xfrm>
            <a:prstGeom prst="roundRect">
              <a:avLst>
                <a:gd name="adj" fmla="val 8537"/>
              </a:avLst>
            </a:prstGeom>
            <a:solidFill>
              <a:schemeClr val="accent5"/>
            </a:solidFill>
            <a:ln w="14288">
              <a:solidFill>
                <a:srgbClr val="26455F"/>
              </a:solidFill>
            </a:ln>
          </p:spPr>
        </p:sp>
        <p:sp>
          <p:nvSpPr>
            <p:cNvPr id="41" name="Rectangle 41"/>
            <p:cNvSpPr/>
            <p:nvPr/>
          </p:nvSpPr>
          <p:spPr>
            <a:xfrm>
              <a:off x="4762500" y="2800350"/>
              <a:ext cx="57150" cy="1562100"/>
            </a:xfrm>
            <a:prstGeom prst="roundRect">
              <a:avLst>
                <a:gd name="adj" fmla="val 50000"/>
              </a:avLst>
            </a:prstGeom>
            <a:solidFill>
              <a:schemeClr val="accent2"/>
            </a:solidFill>
            <a:ln>
              <a:noFill/>
            </a:ln>
          </p:spPr>
        </p:sp>
        <p:sp>
          <p:nvSpPr>
            <p:cNvPr id="42" name="TextBox 42"/>
            <p:cNvSpPr txBox="1"/>
            <p:nvPr/>
          </p:nvSpPr>
          <p:spPr>
            <a:xfrm>
              <a:off x="5022914" y="3028712"/>
              <a:ext cx="2647654"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Not one decision, but hundreds</a:t>
              </a:r>
            </a:p>
          </p:txBody>
        </p:sp>
        <p:sp>
          <p:nvSpPr>
            <p:cNvPr id="43" name="TextBox 43"/>
            <p:cNvSpPr txBox="1"/>
            <p:nvPr/>
          </p:nvSpPr>
          <p:spPr>
            <a:xfrm>
              <a:off x="5023866" y="3334702"/>
              <a:ext cx="49061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single code suggestion is not one decision but hundreds of tiny ones -</a:t>
              </a:r>
            </a:p>
          </p:txBody>
        </p:sp>
        <p:sp>
          <p:nvSpPr>
            <p:cNvPr id="44" name="TextBox 44"/>
            <p:cNvSpPr txBox="1"/>
            <p:nvPr/>
          </p:nvSpPr>
          <p:spPr>
            <a:xfrm>
              <a:off x="5023866" y="3534728"/>
              <a:ext cx="102839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one per token.</a:t>
              </a:r>
            </a:p>
          </p:txBody>
        </p:sp>
        <p:sp>
          <p:nvSpPr>
            <p:cNvPr id="45" name="Rectangle 45"/>
            <p:cNvSpPr/>
            <p:nvPr/>
          </p:nvSpPr>
          <p:spPr>
            <a:xfrm>
              <a:off x="5029200" y="3829050"/>
              <a:ext cx="6286500" cy="419100"/>
            </a:xfrm>
            <a:prstGeom prst="roundRect">
              <a:avLst>
                <a:gd name="adj" fmla="val 18182"/>
              </a:avLst>
            </a:prstGeom>
            <a:solidFill>
              <a:srgbClr val="0C1E2E"/>
            </a:solidFill>
            <a:ln w="14288">
              <a:solidFill>
                <a:srgbClr val="26455F"/>
              </a:solidFill>
            </a:ln>
          </p:spPr>
        </p:sp>
        <p:sp>
          <p:nvSpPr>
            <p:cNvPr id="46" name="Line 46"/>
            <p:cNvSpPr/>
            <p:nvPr/>
          </p:nvSpPr>
          <p:spPr>
            <a:xfrm>
              <a:off x="5276850" y="3895725"/>
              <a:ext cx="9525" cy="285750"/>
            </a:xfrm>
            <a:custGeom>
              <a:avLst/>
              <a:gdLst/>
              <a:ahLst/>
              <a:cxnLst/>
              <a:rect l="l" t="t" r="r" b="b"/>
              <a:pathLst>
                <a:path w="9525" h="285750">
                  <a:moveTo>
                    <a:pt x="0" y="0"/>
                  </a:moveTo>
                  <a:lnTo>
                    <a:pt x="0" y="285750"/>
                  </a:lnTo>
                </a:path>
              </a:pathLst>
            </a:custGeom>
            <a:noFill/>
            <a:ln w="9525" cap="rnd">
              <a:solidFill>
                <a:srgbClr val="26455F"/>
              </a:solidFill>
            </a:ln>
          </p:spPr>
        </p:sp>
        <p:sp>
          <p:nvSpPr>
            <p:cNvPr id="47" name="TextBox 47"/>
            <p:cNvSpPr txBox="1"/>
            <p:nvPr/>
          </p:nvSpPr>
          <p:spPr>
            <a:xfrm>
              <a:off x="5121830" y="4003834"/>
              <a:ext cx="62390" cy="133350"/>
            </a:xfrm>
            <a:prstGeom prst="rect">
              <a:avLst/>
            </a:prstGeom>
            <a:noFill/>
            <a:ln>
              <a:noFill/>
            </a:ln>
          </p:spPr>
          <p:txBody>
            <a:bodyPr wrap="none" lIns="0" tIns="0" rIns="0" bIns="0" anchor="t" anchorCtr="0">
              <a:spAutoFit/>
            </a:bodyPr>
            <a:lstStyle/>
            <a:p>
              <a:pPr algn="ctr"/>
              <a:r>
                <a:rPr lang="en-US" sz="680" b="1" dirty="0">
                  <a:solidFill>
                    <a:srgbClr val="6E869C"/>
                  </a:solidFill>
                  <a:latin typeface="Consolas"/>
                  <a:ea typeface="Consolas"/>
                  <a:cs typeface="Consolas"/>
                </a:rPr>
                <a:t>1</a:t>
              </a:r>
            </a:p>
          </p:txBody>
        </p:sp>
        <p:sp>
          <p:nvSpPr>
            <p:cNvPr id="48" name="Rectangle 48"/>
            <p:cNvSpPr/>
            <p:nvPr/>
          </p:nvSpPr>
          <p:spPr>
            <a:xfrm>
              <a:off x="5362575" y="4029075"/>
              <a:ext cx="133350" cy="57150"/>
            </a:xfrm>
            <a:prstGeom prst="roundRect">
              <a:avLst>
                <a:gd name="adj" fmla="val 33333"/>
              </a:avLst>
            </a:prstGeom>
            <a:solidFill>
              <a:srgbClr val="3E5A74"/>
            </a:solidFill>
            <a:ln>
              <a:noFill/>
            </a:ln>
          </p:spPr>
        </p:sp>
        <p:sp>
          <p:nvSpPr>
            <p:cNvPr id="49" name="Rectangle 49"/>
            <p:cNvSpPr/>
            <p:nvPr/>
          </p:nvSpPr>
          <p:spPr>
            <a:xfrm>
              <a:off x="5553075" y="4029075"/>
              <a:ext cx="200025" cy="57150"/>
            </a:xfrm>
            <a:prstGeom prst="roundRect">
              <a:avLst>
                <a:gd name="adj" fmla="val 33333"/>
              </a:avLst>
            </a:prstGeom>
            <a:solidFill>
              <a:srgbClr val="3E5A74"/>
            </a:solidFill>
            <a:ln>
              <a:noFill/>
            </a:ln>
          </p:spPr>
        </p:sp>
        <p:sp>
          <p:nvSpPr>
            <p:cNvPr id="50" name="Rectangle 50"/>
            <p:cNvSpPr/>
            <p:nvPr/>
          </p:nvSpPr>
          <p:spPr>
            <a:xfrm>
              <a:off x="5810250" y="4029075"/>
              <a:ext cx="133350" cy="57150"/>
            </a:xfrm>
            <a:prstGeom prst="roundRect">
              <a:avLst>
                <a:gd name="adj" fmla="val 33333"/>
              </a:avLst>
            </a:prstGeom>
            <a:solidFill>
              <a:srgbClr val="3E5A74"/>
            </a:solidFill>
            <a:ln>
              <a:noFill/>
            </a:ln>
          </p:spPr>
        </p:sp>
        <p:sp>
          <p:nvSpPr>
            <p:cNvPr id="51" name="Rectangle 51"/>
            <p:cNvSpPr/>
            <p:nvPr/>
          </p:nvSpPr>
          <p:spPr>
            <a:xfrm>
              <a:off x="6000750" y="4029075"/>
              <a:ext cx="200025" cy="57150"/>
            </a:xfrm>
            <a:prstGeom prst="roundRect">
              <a:avLst>
                <a:gd name="adj" fmla="val 33333"/>
              </a:avLst>
            </a:prstGeom>
            <a:solidFill>
              <a:srgbClr val="3E5A74"/>
            </a:solidFill>
            <a:ln>
              <a:noFill/>
            </a:ln>
          </p:spPr>
        </p:sp>
        <p:sp>
          <p:nvSpPr>
            <p:cNvPr id="52" name="Rectangle 52"/>
            <p:cNvSpPr/>
            <p:nvPr/>
          </p:nvSpPr>
          <p:spPr>
            <a:xfrm>
              <a:off x="6257925" y="4029075"/>
              <a:ext cx="133350" cy="57150"/>
            </a:xfrm>
            <a:prstGeom prst="roundRect">
              <a:avLst>
                <a:gd name="adj" fmla="val 33333"/>
              </a:avLst>
            </a:prstGeom>
            <a:solidFill>
              <a:srgbClr val="3E5A74"/>
            </a:solidFill>
            <a:ln>
              <a:noFill/>
            </a:ln>
          </p:spPr>
        </p:sp>
        <p:sp>
          <p:nvSpPr>
            <p:cNvPr id="53" name="Rectangle 53"/>
            <p:cNvSpPr/>
            <p:nvPr/>
          </p:nvSpPr>
          <p:spPr>
            <a:xfrm>
              <a:off x="6448425" y="4029075"/>
              <a:ext cx="266700" cy="57150"/>
            </a:xfrm>
            <a:prstGeom prst="roundRect">
              <a:avLst>
                <a:gd name="adj" fmla="val 33333"/>
              </a:avLst>
            </a:prstGeom>
            <a:solidFill>
              <a:srgbClr val="3E5A74"/>
            </a:solidFill>
            <a:ln>
              <a:noFill/>
            </a:ln>
          </p:spPr>
        </p:sp>
        <p:sp>
          <p:nvSpPr>
            <p:cNvPr id="54" name="Rectangle 54"/>
            <p:cNvSpPr/>
            <p:nvPr/>
          </p:nvSpPr>
          <p:spPr>
            <a:xfrm>
              <a:off x="6772275" y="4029075"/>
              <a:ext cx="133350" cy="57150"/>
            </a:xfrm>
            <a:prstGeom prst="roundRect">
              <a:avLst>
                <a:gd name="adj" fmla="val 33333"/>
              </a:avLst>
            </a:prstGeom>
            <a:solidFill>
              <a:srgbClr val="3E5A74"/>
            </a:solidFill>
            <a:ln>
              <a:noFill/>
            </a:ln>
          </p:spPr>
        </p:sp>
        <p:sp>
          <p:nvSpPr>
            <p:cNvPr id="55" name="Rectangle 55"/>
            <p:cNvSpPr/>
            <p:nvPr/>
          </p:nvSpPr>
          <p:spPr>
            <a:xfrm>
              <a:off x="6962775" y="4029075"/>
              <a:ext cx="200025" cy="57150"/>
            </a:xfrm>
            <a:prstGeom prst="roundRect">
              <a:avLst>
                <a:gd name="adj" fmla="val 33333"/>
              </a:avLst>
            </a:prstGeom>
            <a:solidFill>
              <a:srgbClr val="3E5A74"/>
            </a:solidFill>
            <a:ln>
              <a:noFill/>
            </a:ln>
          </p:spPr>
        </p:sp>
        <p:sp>
          <p:nvSpPr>
            <p:cNvPr id="56" name="Rectangle 56"/>
            <p:cNvSpPr/>
            <p:nvPr/>
          </p:nvSpPr>
          <p:spPr>
            <a:xfrm>
              <a:off x="7219950" y="4029075"/>
              <a:ext cx="133350" cy="57150"/>
            </a:xfrm>
            <a:prstGeom prst="roundRect">
              <a:avLst>
                <a:gd name="adj" fmla="val 33333"/>
              </a:avLst>
            </a:prstGeom>
            <a:solidFill>
              <a:srgbClr val="3E5A74"/>
            </a:solidFill>
            <a:ln>
              <a:noFill/>
            </a:ln>
          </p:spPr>
        </p:sp>
        <p:sp>
          <p:nvSpPr>
            <p:cNvPr id="57" name="Rectangle 57"/>
            <p:cNvSpPr/>
            <p:nvPr/>
          </p:nvSpPr>
          <p:spPr>
            <a:xfrm>
              <a:off x="7410450" y="4029075"/>
              <a:ext cx="200025" cy="57150"/>
            </a:xfrm>
            <a:prstGeom prst="roundRect">
              <a:avLst>
                <a:gd name="adj" fmla="val 33333"/>
              </a:avLst>
            </a:prstGeom>
            <a:solidFill>
              <a:srgbClr val="3E5A74"/>
            </a:solidFill>
            <a:ln>
              <a:noFill/>
            </a:ln>
          </p:spPr>
        </p:sp>
        <p:sp>
          <p:nvSpPr>
            <p:cNvPr id="58" name="Rectangle 58"/>
            <p:cNvSpPr/>
            <p:nvPr/>
          </p:nvSpPr>
          <p:spPr>
            <a:xfrm>
              <a:off x="7667625" y="4029075"/>
              <a:ext cx="133350" cy="57150"/>
            </a:xfrm>
            <a:prstGeom prst="roundRect">
              <a:avLst>
                <a:gd name="adj" fmla="val 33333"/>
              </a:avLst>
            </a:prstGeom>
            <a:solidFill>
              <a:srgbClr val="3E5A74"/>
            </a:solidFill>
            <a:ln>
              <a:noFill/>
            </a:ln>
          </p:spPr>
        </p:sp>
      </p:grpSp>
      <p:grpSp>
        <p:nvGrpSpPr>
          <p:cNvPr id="64" name="Group 64"/>
          <p:cNvGrpSpPr/>
          <p:nvPr/>
        </p:nvGrpSpPr>
        <p:grpSpPr>
          <a:xfrm>
            <a:off x="4762500" y="4514850"/>
            <a:ext cx="6819900" cy="723900"/>
            <a:chOff x="4762500" y="4514850"/>
            <a:chExt cx="6819900" cy="723900"/>
          </a:xfrm>
        </p:grpSpPr>
        <p:sp>
          <p:nvSpPr>
            <p:cNvPr id="60" name="Rectangle 60"/>
            <p:cNvSpPr/>
            <p:nvPr/>
          </p:nvSpPr>
          <p:spPr>
            <a:xfrm>
              <a:off x="4762500" y="4514850"/>
              <a:ext cx="6819900" cy="723900"/>
            </a:xfrm>
            <a:prstGeom prst="roundRect">
              <a:avLst>
                <a:gd name="adj" fmla="val 18421"/>
              </a:avLst>
            </a:prstGeom>
            <a:solidFill>
              <a:srgbClr val="2A2417"/>
            </a:solidFill>
            <a:ln w="14288">
              <a:solidFill>
                <a:srgbClr val="F2C14E"/>
              </a:solidFill>
            </a:ln>
          </p:spPr>
        </p:sp>
        <p:sp>
          <p:nvSpPr>
            <p:cNvPr id="61" name="Rectangle 61"/>
            <p:cNvSpPr/>
            <p:nvPr/>
          </p:nvSpPr>
          <p:spPr>
            <a:xfrm>
              <a:off x="4762500" y="4514850"/>
              <a:ext cx="57150" cy="723900"/>
            </a:xfrm>
            <a:prstGeom prst="roundRect">
              <a:avLst>
                <a:gd name="adj" fmla="val 50000"/>
              </a:avLst>
            </a:prstGeom>
            <a:solidFill>
              <a:srgbClr val="F2C14E"/>
            </a:solidFill>
            <a:ln>
              <a:noFill/>
            </a:ln>
          </p:spPr>
        </p:sp>
        <p:sp>
          <p:nvSpPr>
            <p:cNvPr id="62" name="TextBox 62"/>
            <p:cNvSpPr txBox="1"/>
            <p:nvPr/>
          </p:nvSpPr>
          <p:spPr>
            <a:xfrm>
              <a:off x="5023294" y="4694158"/>
              <a:ext cx="3690146"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Old uncertainty research does not carry over</a:t>
              </a:r>
            </a:p>
          </p:txBody>
        </p:sp>
        <p:sp>
          <p:nvSpPr>
            <p:cNvPr id="63" name="TextBox 63"/>
            <p:cNvSpPr txBox="1"/>
            <p:nvPr/>
          </p:nvSpPr>
          <p:spPr>
            <a:xfrm>
              <a:off x="5023866" y="4953952"/>
              <a:ext cx="548571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Built for single-shot decisions like a diagnosis, not this token-by-token world.</a:t>
              </a:r>
            </a:p>
          </p:txBody>
        </p:sp>
      </p:grpSp>
      <p:sp>
        <p:nvSpPr>
          <p:cNvPr id="65" name="cue_s02_c1_code_assistants_now_everywhere_but" title="cue_s02_c1_code_assistants_now_everywhere_but" descr="cue_s02_c1_code_assistants_now_everywhere_but AI code assistants are now everywhere, but they are imperfect, and a wrong suggestion can quietly plant a bug or a security hole."/>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2_c2_catch_those_mistakes_programmer_firs" title="cue_s02_c2_catch_those_mistakes_programmer_firs" descr="cue_s02_c2_catch_those_mistakes_programmer_firs To catch those mistakes, a programmer first has to notice them, and that is hard, because people tend to over-trust automation."/>
          <p:cNvSpPr/>
          <p:nvPr/>
        </p:nvSpPr>
        <p:spPr>
          <a:xfrm>
            <a:off x="4762195" y="1504645"/>
            <a:ext cx="68202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2_c3_tricky_part_single_code_suggestion" title="cue_s02_c3_tricky_part_single_code_suggestion" descr="cue_s02_c3_tricky_part_single_code_suggestion The tricky part is that a single code suggestion is not one decision but hundreds of tiny ones, one per token."/>
          <p:cNvSpPr/>
          <p:nvPr/>
        </p:nvSpPr>
        <p:spPr>
          <a:xfrm>
            <a:off x="4762195" y="2800121"/>
            <a:ext cx="6820204" cy="15622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ue_s02_c4_earlier_research_communicating_uncer" title="cue_s02_c4_earlier_research_communicating_uncer" descr="cue_s02_c4_earlier_research_communicating_uncer Earlier research on communicating AI uncertainty was built for single-shot decisions like a diagnosis, and it does not obviously carry over to this token-by-token world."/>
          <p:cNvSpPr/>
          <p:nvPr/>
        </p:nvSpPr>
        <p:spPr>
          <a:xfrm>
            <a:off x="4762195" y="4514621"/>
            <a:ext cx="6820204" cy="7242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710978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Highlight uncertain tokens - but which signal?</a:t>
            </a:r>
          </a:p>
        </p:txBody>
      </p:sp>
      <p:grpSp>
        <p:nvGrpSpPr>
          <p:cNvPr id="20" name="Group 20"/>
          <p:cNvGrpSpPr/>
          <p:nvPr/>
        </p:nvGrpSpPr>
        <p:grpSpPr>
          <a:xfrm>
            <a:off x="609600" y="1504950"/>
            <a:ext cx="5334000" cy="1828800"/>
            <a:chOff x="609600" y="1504950"/>
            <a:chExt cx="5334000" cy="1828800"/>
          </a:xfrm>
        </p:grpSpPr>
        <p:sp>
          <p:nvSpPr>
            <p:cNvPr id="5" name="Rectangle 5"/>
            <p:cNvSpPr/>
            <p:nvPr/>
          </p:nvSpPr>
          <p:spPr>
            <a:xfrm>
              <a:off x="609600" y="1504950"/>
              <a:ext cx="5334000" cy="1828800"/>
            </a:xfrm>
            <a:prstGeom prst="roundRect">
              <a:avLst>
                <a:gd name="adj" fmla="val 7292"/>
              </a:avLst>
            </a:prstGeom>
            <a:solidFill>
              <a:schemeClr val="accent5"/>
            </a:solidFill>
            <a:ln w="14288">
              <a:solidFill>
                <a:srgbClr val="26455F"/>
              </a:solidFill>
            </a:ln>
          </p:spPr>
        </p:sp>
        <p:sp>
          <p:nvSpPr>
            <p:cNvPr id="6" name="Rectangle 6"/>
            <p:cNvSpPr/>
            <p:nvPr/>
          </p:nvSpPr>
          <p:spPr>
            <a:xfrm>
              <a:off x="609600" y="1504950"/>
              <a:ext cx="57150" cy="1828800"/>
            </a:xfrm>
            <a:prstGeom prst="roundRect">
              <a:avLst>
                <a:gd name="adj" fmla="val 50000"/>
              </a:avLst>
            </a:prstGeom>
            <a:solidFill>
              <a:schemeClr val="accent2"/>
            </a:solidFill>
            <a:ln>
              <a:noFill/>
            </a:ln>
          </p:spPr>
        </p:sp>
        <p:sp>
          <p:nvSpPr>
            <p:cNvPr id="7" name="TextBox 7"/>
            <p:cNvSpPr txBox="1"/>
            <p:nvPr/>
          </p:nvSpPr>
          <p:spPr>
            <a:xfrm>
              <a:off x="870014" y="1733312"/>
              <a:ext cx="2471769"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Highlight like a spell-checker</a:t>
              </a:r>
            </a:p>
          </p:txBody>
        </p:sp>
        <p:sp>
          <p:nvSpPr>
            <p:cNvPr id="8" name="TextBox 8"/>
            <p:cNvSpPr txBox="1"/>
            <p:nvPr/>
          </p:nvSpPr>
          <p:spPr>
            <a:xfrm>
              <a:off x="870966" y="2039302"/>
              <a:ext cx="38531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One natural idea: highlight uncertain tokens, much as a</a:t>
              </a:r>
            </a:p>
          </p:txBody>
        </p:sp>
        <p:sp>
          <p:nvSpPr>
            <p:cNvPr id="9" name="TextBox 9"/>
            <p:cNvSpPr txBox="1"/>
            <p:nvPr/>
          </p:nvSpPr>
          <p:spPr>
            <a:xfrm>
              <a:off x="870966" y="2239328"/>
              <a:ext cx="41522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spell-checker underlines suspect words, drawing the eye to</a:t>
              </a:r>
            </a:p>
          </p:txBody>
        </p:sp>
        <p:sp>
          <p:nvSpPr>
            <p:cNvPr id="10" name="TextBox 10"/>
            <p:cNvSpPr txBox="1"/>
            <p:nvPr/>
          </p:nvSpPr>
          <p:spPr>
            <a:xfrm>
              <a:off x="870966" y="2439352"/>
              <a:ext cx="206732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spots that most need review.</a:t>
              </a:r>
            </a:p>
          </p:txBody>
        </p:sp>
        <p:sp>
          <p:nvSpPr>
            <p:cNvPr id="11" name="Rectangle 11"/>
            <p:cNvSpPr/>
            <p:nvPr/>
          </p:nvSpPr>
          <p:spPr>
            <a:xfrm>
              <a:off x="876300" y="2857500"/>
              <a:ext cx="2857500" cy="323850"/>
            </a:xfrm>
            <a:prstGeom prst="roundRect">
              <a:avLst>
                <a:gd name="adj" fmla="val 23529"/>
              </a:avLst>
            </a:prstGeom>
            <a:solidFill>
              <a:srgbClr val="0C1E2E"/>
            </a:solidFill>
            <a:ln w="14288">
              <a:solidFill>
                <a:srgbClr val="26455F"/>
              </a:solidFill>
            </a:ln>
          </p:spPr>
        </p:sp>
        <p:sp>
          <p:nvSpPr>
            <p:cNvPr id="12" name="Line 12"/>
            <p:cNvSpPr/>
            <p:nvPr/>
          </p:nvSpPr>
          <p:spPr>
            <a:xfrm>
              <a:off x="1123950" y="2924175"/>
              <a:ext cx="9525" cy="190500"/>
            </a:xfrm>
            <a:custGeom>
              <a:avLst/>
              <a:gdLst/>
              <a:ahLst/>
              <a:cxnLst/>
              <a:rect l="l" t="t" r="r" b="b"/>
              <a:pathLst>
                <a:path w="9525" h="190500">
                  <a:moveTo>
                    <a:pt x="0" y="0"/>
                  </a:moveTo>
                  <a:lnTo>
                    <a:pt x="0" y="190500"/>
                  </a:lnTo>
                </a:path>
              </a:pathLst>
            </a:custGeom>
            <a:noFill/>
            <a:ln w="9525" cap="rnd">
              <a:solidFill>
                <a:srgbClr val="26455F"/>
              </a:solidFill>
            </a:ln>
          </p:spPr>
        </p:sp>
        <p:sp>
          <p:nvSpPr>
            <p:cNvPr id="13" name="TextBox 13"/>
            <p:cNvSpPr txBox="1"/>
            <p:nvPr/>
          </p:nvSpPr>
          <p:spPr>
            <a:xfrm>
              <a:off x="968930" y="2984659"/>
              <a:ext cx="62390" cy="133350"/>
            </a:xfrm>
            <a:prstGeom prst="rect">
              <a:avLst/>
            </a:prstGeom>
            <a:noFill/>
            <a:ln>
              <a:noFill/>
            </a:ln>
          </p:spPr>
          <p:txBody>
            <a:bodyPr wrap="none" lIns="0" tIns="0" rIns="0" bIns="0" anchor="t" anchorCtr="0">
              <a:spAutoFit/>
            </a:bodyPr>
            <a:lstStyle/>
            <a:p>
              <a:pPr algn="ctr"/>
              <a:r>
                <a:rPr lang="en-US" sz="680" b="1" dirty="0">
                  <a:solidFill>
                    <a:srgbClr val="6E869C"/>
                  </a:solidFill>
                  <a:latin typeface="Consolas"/>
                  <a:ea typeface="Consolas"/>
                  <a:cs typeface="Consolas"/>
                </a:rPr>
                <a:t>1</a:t>
              </a:r>
            </a:p>
          </p:txBody>
        </p:sp>
        <p:sp>
          <p:nvSpPr>
            <p:cNvPr id="14" name="Rectangle 14"/>
            <p:cNvSpPr/>
            <p:nvPr/>
          </p:nvSpPr>
          <p:spPr>
            <a:xfrm>
              <a:off x="1209675" y="3009900"/>
              <a:ext cx="228600" cy="57150"/>
            </a:xfrm>
            <a:prstGeom prst="roundRect">
              <a:avLst>
                <a:gd name="adj" fmla="val 33333"/>
              </a:avLst>
            </a:prstGeom>
            <a:solidFill>
              <a:srgbClr val="3E5A74"/>
            </a:solidFill>
            <a:ln>
              <a:noFill/>
            </a:ln>
          </p:spPr>
        </p:sp>
        <p:sp>
          <p:nvSpPr>
            <p:cNvPr id="15" name="Rectangle 15"/>
            <p:cNvSpPr/>
            <p:nvPr/>
          </p:nvSpPr>
          <p:spPr>
            <a:xfrm>
              <a:off x="1476375" y="2981325"/>
              <a:ext cx="419100" cy="114300"/>
            </a:xfrm>
            <a:prstGeom prst="roundRect">
              <a:avLst>
                <a:gd name="adj" fmla="val 25000"/>
              </a:avLst>
            </a:prstGeom>
            <a:solidFill>
              <a:srgbClr val="F2C14E">
                <a:alpha val="30000"/>
              </a:srgbClr>
            </a:solidFill>
            <a:ln>
              <a:noFill/>
            </a:ln>
          </p:spPr>
        </p:sp>
        <p:sp>
          <p:nvSpPr>
            <p:cNvPr id="16" name="Rectangle 16"/>
            <p:cNvSpPr/>
            <p:nvPr/>
          </p:nvSpPr>
          <p:spPr>
            <a:xfrm>
              <a:off x="1495425" y="3009900"/>
              <a:ext cx="381000" cy="57150"/>
            </a:xfrm>
            <a:prstGeom prst="roundRect">
              <a:avLst>
                <a:gd name="adj" fmla="val 33333"/>
              </a:avLst>
            </a:prstGeom>
            <a:solidFill>
              <a:srgbClr val="F2C14E"/>
            </a:solidFill>
            <a:ln>
              <a:noFill/>
            </a:ln>
          </p:spPr>
        </p:sp>
        <p:sp>
          <p:nvSpPr>
            <p:cNvPr id="17" name="Rectangle 17"/>
            <p:cNvSpPr/>
            <p:nvPr/>
          </p:nvSpPr>
          <p:spPr>
            <a:xfrm>
              <a:off x="1933575" y="3009900"/>
              <a:ext cx="152400" cy="57150"/>
            </a:xfrm>
            <a:prstGeom prst="roundRect">
              <a:avLst>
                <a:gd name="adj" fmla="val 33333"/>
              </a:avLst>
            </a:prstGeom>
            <a:solidFill>
              <a:srgbClr val="3E5A74"/>
            </a:solidFill>
            <a:ln>
              <a:noFill/>
            </a:ln>
          </p:spPr>
        </p:sp>
        <p:sp>
          <p:nvSpPr>
            <p:cNvPr id="18" name="Rectangle 18"/>
            <p:cNvSpPr/>
            <p:nvPr/>
          </p:nvSpPr>
          <p:spPr>
            <a:xfrm>
              <a:off x="2143125" y="3009900"/>
              <a:ext cx="228600" cy="57150"/>
            </a:xfrm>
            <a:prstGeom prst="roundRect">
              <a:avLst>
                <a:gd name="adj" fmla="val 33333"/>
              </a:avLst>
            </a:prstGeom>
            <a:solidFill>
              <a:srgbClr val="3E5A74"/>
            </a:solidFill>
            <a:ln>
              <a:noFill/>
            </a:ln>
          </p:spPr>
        </p:sp>
        <p:sp>
          <p:nvSpPr>
            <p:cNvPr id="19" name="Polyline 19"/>
            <p:cNvSpPr/>
            <p:nvPr/>
          </p:nvSpPr>
          <p:spPr>
            <a:xfrm>
              <a:off x="1200150" y="3219450"/>
              <a:ext cx="1104900" cy="19050"/>
            </a:xfrm>
            <a:custGeom>
              <a:avLst/>
              <a:gdLst/>
              <a:ahLst/>
              <a:cxnLst/>
              <a:rect l="l" t="t" r="r" b="b"/>
              <a:pathLst>
                <a:path w="1104900" h="19050">
                  <a:moveTo>
                    <a:pt x="0" y="0"/>
                  </a:moveTo>
                  <a:lnTo>
                    <a:pt x="38100" y="19050"/>
                  </a:lnTo>
                  <a:lnTo>
                    <a:pt x="76200" y="0"/>
                  </a:lnTo>
                  <a:lnTo>
                    <a:pt x="114300" y="19050"/>
                  </a:lnTo>
                  <a:lnTo>
                    <a:pt x="152400" y="0"/>
                  </a:lnTo>
                  <a:lnTo>
                    <a:pt x="190500" y="19050"/>
                  </a:lnTo>
                  <a:lnTo>
                    <a:pt x="228600" y="0"/>
                  </a:lnTo>
                  <a:lnTo>
                    <a:pt x="266700" y="19050"/>
                  </a:lnTo>
                  <a:lnTo>
                    <a:pt x="304800" y="0"/>
                  </a:lnTo>
                  <a:lnTo>
                    <a:pt x="342900" y="19050"/>
                  </a:lnTo>
                  <a:lnTo>
                    <a:pt x="381000" y="0"/>
                  </a:lnTo>
                  <a:lnTo>
                    <a:pt x="419100" y="19050"/>
                  </a:lnTo>
                  <a:lnTo>
                    <a:pt x="457200" y="0"/>
                  </a:lnTo>
                  <a:lnTo>
                    <a:pt x="495300" y="19050"/>
                  </a:lnTo>
                  <a:lnTo>
                    <a:pt x="533400" y="0"/>
                  </a:lnTo>
                  <a:lnTo>
                    <a:pt x="571500" y="19050"/>
                  </a:lnTo>
                  <a:lnTo>
                    <a:pt x="609600" y="0"/>
                  </a:lnTo>
                  <a:lnTo>
                    <a:pt x="647700" y="19050"/>
                  </a:lnTo>
                  <a:lnTo>
                    <a:pt x="685800" y="0"/>
                  </a:lnTo>
                  <a:lnTo>
                    <a:pt x="723900" y="19050"/>
                  </a:lnTo>
                  <a:lnTo>
                    <a:pt x="762000" y="0"/>
                  </a:lnTo>
                  <a:lnTo>
                    <a:pt x="800100" y="19050"/>
                  </a:lnTo>
                  <a:lnTo>
                    <a:pt x="838200" y="0"/>
                  </a:lnTo>
                  <a:lnTo>
                    <a:pt x="876300" y="19050"/>
                  </a:lnTo>
                  <a:lnTo>
                    <a:pt x="914400" y="0"/>
                  </a:lnTo>
                  <a:lnTo>
                    <a:pt x="952500" y="19050"/>
                  </a:lnTo>
                  <a:lnTo>
                    <a:pt x="990600" y="0"/>
                  </a:lnTo>
                  <a:lnTo>
                    <a:pt x="1028700" y="19050"/>
                  </a:lnTo>
                  <a:lnTo>
                    <a:pt x="1066800" y="0"/>
                  </a:lnTo>
                  <a:lnTo>
                    <a:pt x="1104900" y="19050"/>
                  </a:lnTo>
                </a:path>
              </a:pathLst>
            </a:custGeom>
            <a:noFill/>
            <a:ln w="16192" cap="rnd">
              <a:solidFill>
                <a:srgbClr val="F2C14E"/>
              </a:solidFill>
              <a:round/>
            </a:ln>
          </p:spPr>
        </p:sp>
      </p:grpSp>
      <p:grpSp>
        <p:nvGrpSpPr>
          <p:cNvPr id="28" name="Group 28"/>
          <p:cNvGrpSpPr/>
          <p:nvPr/>
        </p:nvGrpSpPr>
        <p:grpSpPr>
          <a:xfrm>
            <a:off x="609600" y="3486150"/>
            <a:ext cx="5334000" cy="1752600"/>
            <a:chOff x="609600" y="3486150"/>
            <a:chExt cx="5334000" cy="1752600"/>
          </a:xfrm>
        </p:grpSpPr>
        <p:sp>
          <p:nvSpPr>
            <p:cNvPr id="21" name="Rectangle 21"/>
            <p:cNvSpPr/>
            <p:nvPr/>
          </p:nvSpPr>
          <p:spPr>
            <a:xfrm>
              <a:off x="609600" y="3486150"/>
              <a:ext cx="5334000" cy="1752600"/>
            </a:xfrm>
            <a:prstGeom prst="roundRect">
              <a:avLst>
                <a:gd name="adj" fmla="val 7609"/>
              </a:avLst>
            </a:prstGeom>
            <a:solidFill>
              <a:srgbClr val="2A2417"/>
            </a:solidFill>
            <a:ln w="14288">
              <a:solidFill>
                <a:srgbClr val="F2C14E"/>
              </a:solidFill>
            </a:ln>
          </p:spPr>
        </p:sp>
        <p:sp>
          <p:nvSpPr>
            <p:cNvPr id="22" name="Rectangle 22"/>
            <p:cNvSpPr/>
            <p:nvPr/>
          </p:nvSpPr>
          <p:spPr>
            <a:xfrm>
              <a:off x="609600" y="3486150"/>
              <a:ext cx="57150" cy="1752600"/>
            </a:xfrm>
            <a:prstGeom prst="roundRect">
              <a:avLst>
                <a:gd name="adj" fmla="val 50000"/>
              </a:avLst>
            </a:prstGeom>
            <a:solidFill>
              <a:srgbClr val="F2C14E"/>
            </a:solidFill>
            <a:ln>
              <a:noFill/>
            </a:ln>
          </p:spPr>
        </p:sp>
        <p:sp>
          <p:nvSpPr>
            <p:cNvPr id="23" name="TextBox 23"/>
            <p:cNvSpPr txBox="1"/>
            <p:nvPr/>
          </p:nvSpPr>
          <p:spPr>
            <a:xfrm>
              <a:off x="870394" y="3722608"/>
              <a:ext cx="3353647"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The obvious signal: generation probability</a:t>
              </a:r>
            </a:p>
          </p:txBody>
        </p:sp>
        <p:sp>
          <p:nvSpPr>
            <p:cNvPr id="24" name="TextBox 24"/>
            <p:cNvSpPr txBox="1"/>
            <p:nvPr/>
          </p:nvSpPr>
          <p:spPr>
            <a:xfrm>
              <a:off x="870966" y="4020502"/>
              <a:ext cx="373995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Use the model's own generation probability - highlight</a:t>
              </a:r>
            </a:p>
          </p:txBody>
        </p:sp>
        <p:sp>
          <p:nvSpPr>
            <p:cNvPr id="25" name="TextBox 25"/>
            <p:cNvSpPr txBox="1"/>
            <p:nvPr/>
          </p:nvSpPr>
          <p:spPr>
            <a:xfrm>
              <a:off x="870966" y="4220528"/>
              <a:ext cx="3014377"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the tokens the model was least sure about.</a:t>
              </a:r>
            </a:p>
          </p:txBody>
        </p:sp>
        <p:sp>
          <p:nvSpPr>
            <p:cNvPr id="26" name="Rectangle 26"/>
            <p:cNvSpPr/>
            <p:nvPr/>
          </p:nvSpPr>
          <p:spPr>
            <a:xfrm>
              <a:off x="876300" y="4762500"/>
              <a:ext cx="4800600" cy="323850"/>
            </a:xfrm>
            <a:prstGeom prst="roundRect">
              <a:avLst>
                <a:gd name="adj" fmla="val 23529"/>
              </a:avLst>
            </a:prstGeom>
            <a:solidFill>
              <a:schemeClr val="accent6"/>
            </a:solidFill>
            <a:ln w="14288">
              <a:solidFill>
                <a:srgbClr val="26455F"/>
              </a:solidFill>
            </a:ln>
          </p:spPr>
        </p:sp>
        <p:sp>
          <p:nvSpPr>
            <p:cNvPr id="27" name="TextBox 27"/>
            <p:cNvSpPr txBox="1"/>
            <p:nvPr/>
          </p:nvSpPr>
          <p:spPr>
            <a:xfrm>
              <a:off x="1768662" y="4876324"/>
              <a:ext cx="3015876"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Consolas"/>
                  <a:ea typeface="Consolas"/>
                  <a:cs typeface="Consolas"/>
                </a:rPr>
                <a:t>low generation probability -&gt; highlight token</a:t>
              </a:r>
            </a:p>
          </p:txBody>
        </p:sp>
      </p:grpSp>
      <p:grpSp>
        <p:nvGrpSpPr>
          <p:cNvPr id="37" name="Group 37"/>
          <p:cNvGrpSpPr/>
          <p:nvPr/>
        </p:nvGrpSpPr>
        <p:grpSpPr>
          <a:xfrm>
            <a:off x="6172200" y="1504950"/>
            <a:ext cx="5410200" cy="1476422"/>
            <a:chOff x="6172200" y="1504950"/>
            <a:chExt cx="5410200" cy="1476422"/>
          </a:xfrm>
        </p:grpSpPr>
        <p:sp>
          <p:nvSpPr>
            <p:cNvPr id="29" name="Rectangle 29"/>
            <p:cNvSpPr/>
            <p:nvPr/>
          </p:nvSpPr>
          <p:spPr>
            <a:xfrm>
              <a:off x="6172200" y="1504950"/>
              <a:ext cx="5410200" cy="1428750"/>
            </a:xfrm>
            <a:prstGeom prst="roundRect">
              <a:avLst>
                <a:gd name="adj" fmla="val 9333"/>
              </a:avLst>
            </a:prstGeom>
            <a:solidFill>
              <a:schemeClr val="accent5"/>
            </a:solidFill>
            <a:ln w="14288">
              <a:solidFill>
                <a:srgbClr val="26455F"/>
              </a:solidFill>
            </a:ln>
          </p:spPr>
        </p:sp>
        <p:sp>
          <p:nvSpPr>
            <p:cNvPr id="30" name="Rectangle 30"/>
            <p:cNvSpPr/>
            <p:nvPr/>
          </p:nvSpPr>
          <p:spPr>
            <a:xfrm>
              <a:off x="6172200" y="1504950"/>
              <a:ext cx="57150" cy="1428750"/>
            </a:xfrm>
            <a:prstGeom prst="roundRect">
              <a:avLst>
                <a:gd name="adj" fmla="val 50000"/>
              </a:avLst>
            </a:prstGeom>
            <a:solidFill>
              <a:srgbClr val="34D3C0"/>
            </a:solidFill>
            <a:ln>
              <a:noFill/>
            </a:ln>
          </p:spPr>
        </p:sp>
        <p:sp>
          <p:nvSpPr>
            <p:cNvPr id="31" name="TextBox 31"/>
            <p:cNvSpPr txBox="1"/>
            <p:nvPr/>
          </p:nvSpPr>
          <p:spPr>
            <a:xfrm>
              <a:off x="6432614" y="1733312"/>
              <a:ext cx="2358016"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Already a shipping strategy</a:t>
              </a:r>
            </a:p>
          </p:txBody>
        </p:sp>
        <p:sp>
          <p:nvSpPr>
            <p:cNvPr id="32" name="TextBox 32"/>
            <p:cNvSpPr txBox="1"/>
            <p:nvPr/>
          </p:nvSpPr>
          <p:spPr>
            <a:xfrm>
              <a:off x="6433566" y="2039302"/>
              <a:ext cx="377574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This is an existing strategy - it even ships in OpenAI's</a:t>
              </a:r>
            </a:p>
          </p:txBody>
        </p:sp>
        <p:sp>
          <p:nvSpPr>
            <p:cNvPr id="33" name="TextBox 33"/>
            <p:cNvSpPr txBox="1"/>
            <p:nvPr/>
          </p:nvSpPr>
          <p:spPr>
            <a:xfrm>
              <a:off x="6433566" y="2239328"/>
              <a:ext cx="307559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Playground, colouring tokens by confidence.</a:t>
              </a:r>
            </a:p>
          </p:txBody>
        </p:sp>
        <p:sp>
          <p:nvSpPr>
            <p:cNvPr id="34" name="Rectangle 34"/>
            <p:cNvSpPr/>
            <p:nvPr/>
          </p:nvSpPr>
          <p:spPr>
            <a:xfrm>
              <a:off x="6438900" y="2686050"/>
              <a:ext cx="4876800" cy="285750"/>
            </a:xfrm>
            <a:prstGeom prst="roundRect">
              <a:avLst>
                <a:gd name="adj" fmla="val 26667"/>
              </a:avLst>
            </a:prstGeom>
            <a:solidFill>
              <a:schemeClr val="accent6"/>
            </a:solidFill>
            <a:ln w="14288">
              <a:solidFill>
                <a:srgbClr val="26455F"/>
              </a:solidFill>
            </a:ln>
          </p:spPr>
        </p:sp>
        <p:sp>
          <p:nvSpPr>
            <p:cNvPr id="35" name="Ellipse 35"/>
            <p:cNvSpPr/>
            <p:nvPr/>
          </p:nvSpPr>
          <p:spPr>
            <a:xfrm>
              <a:off x="6562725" y="2781300"/>
              <a:ext cx="95250" cy="95250"/>
            </a:xfrm>
            <a:prstGeom prst="ellipse">
              <a:avLst/>
            </a:prstGeom>
            <a:solidFill>
              <a:srgbClr val="34D3C0"/>
            </a:solidFill>
            <a:ln>
              <a:noFill/>
            </a:ln>
          </p:spPr>
        </p:sp>
        <p:sp>
          <p:nvSpPr>
            <p:cNvPr id="36" name="TextBox 36"/>
            <p:cNvSpPr txBox="1"/>
            <p:nvPr/>
          </p:nvSpPr>
          <p:spPr>
            <a:xfrm>
              <a:off x="6757226" y="2768679"/>
              <a:ext cx="3659997"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OpenAI Playground · colour tokens by confidence</a:t>
              </a:r>
            </a:p>
          </p:txBody>
        </p:sp>
      </p:grpSp>
      <p:grpSp>
        <p:nvGrpSpPr>
          <p:cNvPr id="46" name="Group 46"/>
          <p:cNvGrpSpPr/>
          <p:nvPr/>
        </p:nvGrpSpPr>
        <p:grpSpPr>
          <a:xfrm>
            <a:off x="6172200" y="3086100"/>
            <a:ext cx="5410200" cy="2152650"/>
            <a:chOff x="6172200" y="3086100"/>
            <a:chExt cx="5410200" cy="2152650"/>
          </a:xfrm>
        </p:grpSpPr>
        <p:sp>
          <p:nvSpPr>
            <p:cNvPr id="38" name="Rectangle 38"/>
            <p:cNvSpPr/>
            <p:nvPr/>
          </p:nvSpPr>
          <p:spPr>
            <a:xfrm>
              <a:off x="6172200" y="3086100"/>
              <a:ext cx="5410200" cy="2152650"/>
            </a:xfrm>
            <a:prstGeom prst="roundRect">
              <a:avLst>
                <a:gd name="adj" fmla="val 6195"/>
              </a:avLst>
            </a:prstGeom>
            <a:solidFill>
              <a:srgbClr val="0F2E2B"/>
            </a:solidFill>
            <a:ln w="14288">
              <a:solidFill>
                <a:srgbClr val="48C78E"/>
              </a:solidFill>
            </a:ln>
          </p:spPr>
        </p:sp>
        <p:sp>
          <p:nvSpPr>
            <p:cNvPr id="39" name="Rectangle 39"/>
            <p:cNvSpPr/>
            <p:nvPr/>
          </p:nvSpPr>
          <p:spPr>
            <a:xfrm>
              <a:off x="6172200" y="3086100"/>
              <a:ext cx="57150" cy="2152650"/>
            </a:xfrm>
            <a:prstGeom prst="roundRect">
              <a:avLst>
                <a:gd name="adj" fmla="val 50000"/>
              </a:avLst>
            </a:prstGeom>
            <a:solidFill>
              <a:srgbClr val="48C78E"/>
            </a:solidFill>
            <a:ln>
              <a:noFill/>
            </a:ln>
          </p:spPr>
        </p:sp>
        <p:sp>
          <p:nvSpPr>
            <p:cNvPr id="40" name="TextBox 40"/>
            <p:cNvSpPr txBox="1"/>
            <p:nvPr/>
          </p:nvSpPr>
          <p:spPr>
            <a:xfrm>
              <a:off x="6432804" y="3318510"/>
              <a:ext cx="3274505"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But is low probability the right target?</a:t>
              </a:r>
            </a:p>
          </p:txBody>
        </p:sp>
        <p:sp>
          <p:nvSpPr>
            <p:cNvPr id="41" name="TextBox 41"/>
            <p:cNvSpPr txBox="1"/>
            <p:nvPr/>
          </p:nvSpPr>
          <p:spPr>
            <a:xfrm>
              <a:off x="6433566" y="3620452"/>
              <a:ext cx="389523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Nobody had tested whether low probability actually lines</a:t>
              </a:r>
            </a:p>
          </p:txBody>
        </p:sp>
        <p:sp>
          <p:nvSpPr>
            <p:cNvPr id="42" name="TextBox 42"/>
            <p:cNvSpPr txBox="1"/>
            <p:nvPr/>
          </p:nvSpPr>
          <p:spPr>
            <a:xfrm>
              <a:off x="6433566" y="3820478"/>
              <a:ext cx="371210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up with where humans need to make edits. That gap is</a:t>
              </a:r>
            </a:p>
          </p:txBody>
        </p:sp>
        <p:sp>
          <p:nvSpPr>
            <p:cNvPr id="43" name="TextBox 43"/>
            <p:cNvSpPr txBox="1"/>
            <p:nvPr/>
          </p:nvSpPr>
          <p:spPr>
            <a:xfrm>
              <a:off x="6433566" y="4020502"/>
              <a:ext cx="223694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exactly what this paper probes.</a:t>
              </a:r>
            </a:p>
          </p:txBody>
        </p:sp>
        <p:sp>
          <p:nvSpPr>
            <p:cNvPr id="44" name="Rectangle 44"/>
            <p:cNvSpPr/>
            <p:nvPr/>
          </p:nvSpPr>
          <p:spPr>
            <a:xfrm>
              <a:off x="6438900" y="4591050"/>
              <a:ext cx="4876800" cy="400050"/>
            </a:xfrm>
            <a:prstGeom prst="roundRect">
              <a:avLst>
                <a:gd name="adj" fmla="val 19048"/>
              </a:avLst>
            </a:prstGeom>
            <a:solidFill>
              <a:schemeClr val="accent6"/>
            </a:solidFill>
            <a:ln w="14288">
              <a:solidFill>
                <a:srgbClr val="26455F"/>
              </a:solidFill>
            </a:ln>
          </p:spPr>
        </p:sp>
        <p:sp>
          <p:nvSpPr>
            <p:cNvPr id="45" name="TextBox 45"/>
            <p:cNvSpPr txBox="1"/>
            <p:nvPr/>
          </p:nvSpPr>
          <p:spPr>
            <a:xfrm>
              <a:off x="7555154" y="4738926"/>
              <a:ext cx="2644292"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low probability =?= where humans edit</a:t>
              </a:r>
            </a:p>
          </p:txBody>
        </p:sp>
      </p:grpSp>
      <p:sp>
        <p:nvSpPr>
          <p:cNvPr id="47" name="cue_s03_c1_one_natural_idea_highlight_uncertain" title="cue_s03_c1_one_natural_idea_highlight_uncertain" descr="cue_s03_c1_one_natural_idea_highlight_uncertain One natural idea is to highlight uncertain tokens, much like a spell-checker underlines suspect words, so the programmer's eye is drawn to the spots that most need review."/>
          <p:cNvSpPr/>
          <p:nvPr/>
        </p:nvSpPr>
        <p:spPr>
          <a:xfrm>
            <a:off x="609600" y="1504645"/>
            <a:ext cx="533400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3_c2_obvious_signal_own_generation_probab" title="cue_s03_c2_obvious_signal_own_generation_probab" descr="cue_s03_c2_obvious_signal_own_generation_probab The obvious signal to use is the model's own generation probability: tokens the model was least sure about get highlighted."/>
          <p:cNvSpPr/>
          <p:nvPr/>
        </p:nvSpPr>
        <p:spPr>
          <a:xfrm>
            <a:off x="609600" y="3485921"/>
            <a:ext cx="533400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3_c3_existing_strategy_even_ships_openai" title="cue_s03_c3_existing_strategy_even_ships_openai" descr="cue_s03_c3_existing_strategy_even_ships_openai This is an existing strategy, and it even ships in OpenAI's Playground."/>
          <p:cNvSpPr/>
          <p:nvPr/>
        </p:nvSpPr>
        <p:spPr>
          <a:xfrm>
            <a:off x="6171590" y="1504645"/>
            <a:ext cx="5409590" cy="147652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3_c4_but_nobody_had_really_tested" title="cue_s03_c4_but_nobody_had_really_tested" descr="cue_s03_c4_but_nobody_had_really_tested But nobody had really tested whether low probability actually lines up with where humans need to make edits, and that gap is exactly what this paper set out to probe."/>
          <p:cNvSpPr/>
          <p:nvPr/>
        </p:nvSpPr>
        <p:spPr>
          <a:xfrm>
            <a:off x="6171590" y="3086100"/>
            <a:ext cx="5409590"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720506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From model uncertainty to human intervention</a:t>
            </a:r>
          </a:p>
        </p:txBody>
      </p:sp>
      <p:grpSp>
        <p:nvGrpSpPr>
          <p:cNvPr id="23" name="Group 23"/>
          <p:cNvGrpSpPr/>
          <p:nvPr/>
        </p:nvGrpSpPr>
        <p:grpSpPr>
          <a:xfrm>
            <a:off x="609600" y="1676400"/>
            <a:ext cx="3543300" cy="3562350"/>
            <a:chOff x="609600" y="1676400"/>
            <a:chExt cx="3543300" cy="3562350"/>
          </a:xfrm>
        </p:grpSpPr>
        <p:sp>
          <p:nvSpPr>
            <p:cNvPr id="5" name="Rectangle 5"/>
            <p:cNvSpPr/>
            <p:nvPr/>
          </p:nvSpPr>
          <p:spPr>
            <a:xfrm>
              <a:off x="609600" y="1676400"/>
              <a:ext cx="3543300" cy="3562350"/>
            </a:xfrm>
            <a:prstGeom prst="roundRect">
              <a:avLst>
                <a:gd name="adj" fmla="val 3763"/>
              </a:avLst>
            </a:prstGeom>
            <a:solidFill>
              <a:schemeClr val="accent5"/>
            </a:solidFill>
            <a:ln w="14288">
              <a:solidFill>
                <a:srgbClr val="26455F"/>
              </a:solidFill>
            </a:ln>
          </p:spPr>
        </p:sp>
        <p:sp>
          <p:nvSpPr>
            <p:cNvPr id="6" name="Rectangle 6"/>
            <p:cNvSpPr/>
            <p:nvPr/>
          </p:nvSpPr>
          <p:spPr>
            <a:xfrm>
              <a:off x="609600" y="1676400"/>
              <a:ext cx="3543300" cy="57150"/>
            </a:xfrm>
            <a:prstGeom prst="roundRect">
              <a:avLst>
                <a:gd name="adj" fmla="val 50000"/>
              </a:avLst>
            </a:prstGeom>
            <a:solidFill>
              <a:srgbClr val="34D3C0"/>
            </a:solidFill>
            <a:ln>
              <a:noFill/>
            </a:ln>
          </p:spPr>
        </p:sp>
        <p:sp>
          <p:nvSpPr>
            <p:cNvPr id="7" name="Ellipse 7"/>
            <p:cNvSpPr/>
            <p:nvPr/>
          </p:nvSpPr>
          <p:spPr>
            <a:xfrm>
              <a:off x="838200" y="2076450"/>
              <a:ext cx="533400" cy="533400"/>
            </a:xfrm>
            <a:prstGeom prst="ellipse">
              <a:avLst/>
            </a:prstGeom>
            <a:noFill/>
            <a:ln w="23812">
              <a:solidFill>
                <a:srgbClr val="34D3C0"/>
              </a:solidFill>
            </a:ln>
          </p:spPr>
        </p:sp>
        <p:sp>
          <p:nvSpPr>
            <p:cNvPr id="8" name="TextBox 8"/>
            <p:cNvSpPr txBox="1"/>
            <p:nvPr/>
          </p:nvSpPr>
          <p:spPr>
            <a:xfrm>
              <a:off x="1014904" y="2218372"/>
              <a:ext cx="179992" cy="381381"/>
            </a:xfrm>
            <a:prstGeom prst="rect">
              <a:avLst/>
            </a:prstGeom>
            <a:noFill/>
            <a:ln>
              <a:noFill/>
            </a:ln>
          </p:spPr>
          <p:txBody>
            <a:bodyPr wrap="none" lIns="0" tIns="0" rIns="0" bIns="0" anchor="t" anchorCtr="0">
              <a:spAutoFit/>
            </a:bodyPr>
            <a:lstStyle/>
            <a:p>
              <a:pPr algn="ctr"/>
              <a:r>
                <a:rPr lang="en-US" sz="1950" b="1" dirty="0">
                  <a:solidFill>
                    <a:srgbClr val="34D3C0"/>
                  </a:solidFill>
                  <a:latin typeface="+mn-lt"/>
                  <a:ea typeface="+mn-ea"/>
                  <a:cs typeface="+mn-cs"/>
                </a:rPr>
                <a:t>S</a:t>
              </a:r>
            </a:p>
          </p:txBody>
        </p:sp>
        <p:sp>
          <p:nvSpPr>
            <p:cNvPr id="9" name="TextBox 9"/>
            <p:cNvSpPr txBox="1"/>
            <p:nvPr/>
          </p:nvSpPr>
          <p:spPr>
            <a:xfrm>
              <a:off x="869442" y="2864168"/>
              <a:ext cx="2119767"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 preregistered 3-way</a:t>
              </a:r>
            </a:p>
          </p:txBody>
        </p:sp>
        <p:sp>
          <p:nvSpPr>
            <p:cNvPr id="10" name="TextBox 10"/>
            <p:cNvSpPr txBox="1"/>
            <p:nvPr/>
          </p:nvSpPr>
          <p:spPr>
            <a:xfrm>
              <a:off x="869442" y="3111818"/>
              <a:ext cx="53848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study</a:t>
              </a:r>
            </a:p>
          </p:txBody>
        </p:sp>
        <p:sp>
          <p:nvSpPr>
            <p:cNvPr id="11" name="TextBox 11"/>
            <p:cNvSpPr txBox="1"/>
            <p:nvPr/>
          </p:nvSpPr>
          <p:spPr>
            <a:xfrm>
              <a:off x="870966" y="3525202"/>
              <a:ext cx="269416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preregistered, mixed-methods study</a:t>
              </a:r>
            </a:p>
          </p:txBody>
        </p:sp>
        <p:sp>
          <p:nvSpPr>
            <p:cNvPr id="12" name="TextBox 12"/>
            <p:cNvSpPr txBox="1"/>
            <p:nvPr/>
          </p:nvSpPr>
          <p:spPr>
            <a:xfrm>
              <a:off x="870966" y="3734752"/>
              <a:ext cx="259032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with 30 programmers compares three</a:t>
              </a:r>
            </a:p>
          </p:txBody>
        </p:sp>
        <p:sp>
          <p:nvSpPr>
            <p:cNvPr id="13" name="TextBox 13"/>
            <p:cNvSpPr txBox="1"/>
            <p:nvPr/>
          </p:nvSpPr>
          <p:spPr>
            <a:xfrm>
              <a:off x="870966" y="3944302"/>
              <a:ext cx="25220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displays of the same AI completions.</a:t>
              </a:r>
            </a:p>
          </p:txBody>
        </p:sp>
        <p:sp>
          <p:nvSpPr>
            <p:cNvPr id="14" name="Rectangle 14"/>
            <p:cNvSpPr/>
            <p:nvPr/>
          </p:nvSpPr>
          <p:spPr>
            <a:xfrm>
              <a:off x="876300" y="4248150"/>
              <a:ext cx="3009900" cy="285750"/>
            </a:xfrm>
            <a:prstGeom prst="roundRect">
              <a:avLst>
                <a:gd name="adj" fmla="val 26667"/>
              </a:avLst>
            </a:prstGeom>
            <a:solidFill>
              <a:schemeClr val="accent6"/>
            </a:solidFill>
            <a:ln w="14288">
              <a:solidFill>
                <a:srgbClr val="26455F"/>
              </a:solidFill>
            </a:ln>
          </p:spPr>
        </p:sp>
        <p:sp>
          <p:nvSpPr>
            <p:cNvPr id="15" name="Ellipse 15"/>
            <p:cNvSpPr/>
            <p:nvPr/>
          </p:nvSpPr>
          <p:spPr>
            <a:xfrm>
              <a:off x="1000125" y="4343400"/>
              <a:ext cx="95250" cy="95250"/>
            </a:xfrm>
            <a:prstGeom prst="ellipse">
              <a:avLst/>
            </a:prstGeom>
            <a:solidFill>
              <a:schemeClr val="dk2"/>
            </a:solidFill>
            <a:ln>
              <a:noFill/>
            </a:ln>
          </p:spPr>
        </p:sp>
        <p:sp>
          <p:nvSpPr>
            <p:cNvPr id="16" name="TextBox 16"/>
            <p:cNvSpPr txBox="1"/>
            <p:nvPr/>
          </p:nvSpPr>
          <p:spPr>
            <a:xfrm>
              <a:off x="1194626" y="4330779"/>
              <a:ext cx="963065"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No highlights</a:t>
              </a:r>
            </a:p>
          </p:txBody>
        </p:sp>
        <p:sp>
          <p:nvSpPr>
            <p:cNvPr id="17" name="Rectangle 17"/>
            <p:cNvSpPr/>
            <p:nvPr/>
          </p:nvSpPr>
          <p:spPr>
            <a:xfrm>
              <a:off x="876300" y="4591050"/>
              <a:ext cx="3009900" cy="285750"/>
            </a:xfrm>
            <a:prstGeom prst="roundRect">
              <a:avLst>
                <a:gd name="adj" fmla="val 26667"/>
              </a:avLst>
            </a:prstGeom>
            <a:solidFill>
              <a:schemeClr val="accent6"/>
            </a:solidFill>
            <a:ln w="14288">
              <a:solidFill>
                <a:srgbClr val="26455F"/>
              </a:solidFill>
            </a:ln>
          </p:spPr>
        </p:sp>
        <p:sp>
          <p:nvSpPr>
            <p:cNvPr id="18" name="Ellipse 18"/>
            <p:cNvSpPr/>
            <p:nvPr/>
          </p:nvSpPr>
          <p:spPr>
            <a:xfrm>
              <a:off x="1000125" y="4686300"/>
              <a:ext cx="95250" cy="95250"/>
            </a:xfrm>
            <a:prstGeom prst="ellipse">
              <a:avLst/>
            </a:prstGeom>
            <a:solidFill>
              <a:srgbClr val="F2C14E"/>
            </a:solidFill>
            <a:ln>
              <a:noFill/>
            </a:ln>
          </p:spPr>
        </p:sp>
        <p:sp>
          <p:nvSpPr>
            <p:cNvPr id="19" name="TextBox 19"/>
            <p:cNvSpPr txBox="1"/>
            <p:nvPr/>
          </p:nvSpPr>
          <p:spPr>
            <a:xfrm>
              <a:off x="1194626" y="4673679"/>
              <a:ext cx="1725864"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Generation-probability</a:t>
              </a:r>
            </a:p>
          </p:txBody>
        </p:sp>
        <p:sp>
          <p:nvSpPr>
            <p:cNvPr id="20" name="Rectangle 20"/>
            <p:cNvSpPr/>
            <p:nvPr/>
          </p:nvSpPr>
          <p:spPr>
            <a:xfrm>
              <a:off x="876300" y="4933950"/>
              <a:ext cx="3009900" cy="285750"/>
            </a:xfrm>
            <a:prstGeom prst="roundRect">
              <a:avLst>
                <a:gd name="adj" fmla="val 26667"/>
              </a:avLst>
            </a:prstGeom>
            <a:solidFill>
              <a:schemeClr val="accent6"/>
            </a:solidFill>
            <a:ln w="14288">
              <a:solidFill>
                <a:srgbClr val="26455F"/>
              </a:solidFill>
            </a:ln>
          </p:spPr>
        </p:sp>
        <p:sp>
          <p:nvSpPr>
            <p:cNvPr id="21" name="Ellipse 21"/>
            <p:cNvSpPr/>
            <p:nvPr/>
          </p:nvSpPr>
          <p:spPr>
            <a:xfrm>
              <a:off x="1000125" y="5029200"/>
              <a:ext cx="95250" cy="95250"/>
            </a:xfrm>
            <a:prstGeom prst="ellipse">
              <a:avLst/>
            </a:prstGeom>
            <a:solidFill>
              <a:srgbClr val="48C78E"/>
            </a:solidFill>
            <a:ln>
              <a:noFill/>
            </a:ln>
          </p:spPr>
        </p:sp>
        <p:sp>
          <p:nvSpPr>
            <p:cNvPr id="22" name="TextBox 22"/>
            <p:cNvSpPr txBox="1"/>
            <p:nvPr/>
          </p:nvSpPr>
          <p:spPr>
            <a:xfrm>
              <a:off x="1194626" y="5016579"/>
              <a:ext cx="778505"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Edit model</a:t>
              </a:r>
            </a:p>
          </p:txBody>
        </p:sp>
      </p:grpSp>
      <p:grpSp>
        <p:nvGrpSpPr>
          <p:cNvPr id="34" name="Group 34"/>
          <p:cNvGrpSpPr/>
          <p:nvPr/>
        </p:nvGrpSpPr>
        <p:grpSpPr>
          <a:xfrm>
            <a:off x="4324350" y="1676400"/>
            <a:ext cx="3543300" cy="3562350"/>
            <a:chOff x="4324350" y="1676400"/>
            <a:chExt cx="3543300" cy="3562350"/>
          </a:xfrm>
        </p:grpSpPr>
        <p:sp>
          <p:nvSpPr>
            <p:cNvPr id="24" name="Rectangle 24"/>
            <p:cNvSpPr/>
            <p:nvPr/>
          </p:nvSpPr>
          <p:spPr>
            <a:xfrm>
              <a:off x="4324350" y="1676400"/>
              <a:ext cx="3543300" cy="3562350"/>
            </a:xfrm>
            <a:prstGeom prst="roundRect">
              <a:avLst>
                <a:gd name="adj" fmla="val 3763"/>
              </a:avLst>
            </a:prstGeom>
            <a:solidFill>
              <a:schemeClr val="accent5"/>
            </a:solidFill>
            <a:ln w="14288">
              <a:solidFill>
                <a:srgbClr val="26455F"/>
              </a:solidFill>
            </a:ln>
          </p:spPr>
        </p:sp>
        <p:sp>
          <p:nvSpPr>
            <p:cNvPr id="25" name="Rectangle 25"/>
            <p:cNvSpPr/>
            <p:nvPr/>
          </p:nvSpPr>
          <p:spPr>
            <a:xfrm>
              <a:off x="4324350" y="1676400"/>
              <a:ext cx="3543300" cy="57150"/>
            </a:xfrm>
            <a:prstGeom prst="roundRect">
              <a:avLst>
                <a:gd name="adj" fmla="val 50000"/>
              </a:avLst>
            </a:prstGeom>
            <a:solidFill>
              <a:srgbClr val="48C78E"/>
            </a:solidFill>
            <a:ln>
              <a:noFill/>
            </a:ln>
          </p:spPr>
        </p:sp>
        <p:sp>
          <p:nvSpPr>
            <p:cNvPr id="26" name="Ellipse 26"/>
            <p:cNvSpPr/>
            <p:nvPr/>
          </p:nvSpPr>
          <p:spPr>
            <a:xfrm>
              <a:off x="4552950" y="2076450"/>
              <a:ext cx="533400" cy="533400"/>
            </a:xfrm>
            <a:prstGeom prst="ellipse">
              <a:avLst/>
            </a:prstGeom>
            <a:noFill/>
            <a:ln w="23812">
              <a:solidFill>
                <a:srgbClr val="48C78E"/>
              </a:solidFill>
            </a:ln>
          </p:spPr>
        </p:sp>
        <p:sp>
          <p:nvSpPr>
            <p:cNvPr id="27" name="TextBox 27"/>
            <p:cNvSpPr txBox="1"/>
            <p:nvPr/>
          </p:nvSpPr>
          <p:spPr>
            <a:xfrm>
              <a:off x="4729654" y="2218372"/>
              <a:ext cx="179992" cy="381381"/>
            </a:xfrm>
            <a:prstGeom prst="rect">
              <a:avLst/>
            </a:prstGeom>
            <a:noFill/>
            <a:ln>
              <a:noFill/>
            </a:ln>
          </p:spPr>
          <p:txBody>
            <a:bodyPr wrap="none" lIns="0" tIns="0" rIns="0" bIns="0" anchor="t" anchorCtr="0">
              <a:spAutoFit/>
            </a:bodyPr>
            <a:lstStyle/>
            <a:p>
              <a:pPr algn="ctr"/>
              <a:r>
                <a:rPr lang="en-US" sz="1950" b="1" dirty="0">
                  <a:solidFill>
                    <a:srgbClr val="48C78E"/>
                  </a:solidFill>
                  <a:latin typeface="+mn-lt"/>
                  <a:ea typeface="+mn-ea"/>
                  <a:cs typeface="+mn-cs"/>
                </a:rPr>
                <a:t>E</a:t>
              </a:r>
            </a:p>
          </p:txBody>
        </p:sp>
        <p:sp>
          <p:nvSpPr>
            <p:cNvPr id="28" name="TextBox 28"/>
            <p:cNvSpPr txBox="1"/>
            <p:nvPr/>
          </p:nvSpPr>
          <p:spPr>
            <a:xfrm>
              <a:off x="4584192" y="2864168"/>
              <a:ext cx="218637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edit model: the key</a:t>
              </a:r>
            </a:p>
          </p:txBody>
        </p:sp>
        <p:sp>
          <p:nvSpPr>
            <p:cNvPr id="29" name="TextBox 29"/>
            <p:cNvSpPr txBox="1"/>
            <p:nvPr/>
          </p:nvSpPr>
          <p:spPr>
            <a:xfrm>
              <a:off x="4584192" y="3111818"/>
              <a:ext cx="385823"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idea</a:t>
              </a:r>
            </a:p>
          </p:txBody>
        </p:sp>
        <p:sp>
          <p:nvSpPr>
            <p:cNvPr id="30" name="TextBox 30"/>
            <p:cNvSpPr txBox="1"/>
            <p:nvPr/>
          </p:nvSpPr>
          <p:spPr>
            <a:xfrm>
              <a:off x="4585716" y="3525202"/>
              <a:ext cx="248189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Instead of asking how confident the</a:t>
              </a:r>
            </a:p>
          </p:txBody>
        </p:sp>
        <p:sp>
          <p:nvSpPr>
            <p:cNvPr id="31" name="TextBox 31"/>
            <p:cNvSpPr txBox="1"/>
            <p:nvPr/>
          </p:nvSpPr>
          <p:spPr>
            <a:xfrm>
              <a:off x="4585716" y="3734752"/>
              <a:ext cx="28447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model was, the edit model predicts which</a:t>
              </a:r>
            </a:p>
          </p:txBody>
        </p:sp>
        <p:sp>
          <p:nvSpPr>
            <p:cNvPr id="32" name="TextBox 32"/>
            <p:cNvSpPr txBox="1"/>
            <p:nvPr/>
          </p:nvSpPr>
          <p:spPr>
            <a:xfrm>
              <a:off x="4585716" y="3944302"/>
              <a:ext cx="241363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tokens a human is actually likely to</a:t>
              </a:r>
            </a:p>
          </p:txBody>
        </p:sp>
        <p:sp>
          <p:nvSpPr>
            <p:cNvPr id="33" name="TextBox 33"/>
            <p:cNvSpPr txBox="1"/>
            <p:nvPr/>
          </p:nvSpPr>
          <p:spPr>
            <a:xfrm>
              <a:off x="4585716" y="4153852"/>
              <a:ext cx="55486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change.</a:t>
              </a:r>
            </a:p>
          </p:txBody>
        </p:sp>
      </p:grpSp>
      <p:grpSp>
        <p:nvGrpSpPr>
          <p:cNvPr id="46" name="Group 46"/>
          <p:cNvGrpSpPr/>
          <p:nvPr/>
        </p:nvGrpSpPr>
        <p:grpSpPr>
          <a:xfrm>
            <a:off x="8039100" y="1676400"/>
            <a:ext cx="3543300" cy="3562350"/>
            <a:chOff x="8039100" y="1676400"/>
            <a:chExt cx="3543300" cy="3562350"/>
          </a:xfrm>
        </p:grpSpPr>
        <p:sp>
          <p:nvSpPr>
            <p:cNvPr id="35" name="Rectangle 35"/>
            <p:cNvSpPr/>
            <p:nvPr/>
          </p:nvSpPr>
          <p:spPr>
            <a:xfrm>
              <a:off x="8039100" y="1676400"/>
              <a:ext cx="3543300" cy="3562350"/>
            </a:xfrm>
            <a:prstGeom prst="roundRect">
              <a:avLst>
                <a:gd name="adj" fmla="val 3763"/>
              </a:avLst>
            </a:prstGeom>
            <a:solidFill>
              <a:schemeClr val="accent5"/>
            </a:solidFill>
            <a:ln w="14288">
              <a:solidFill>
                <a:srgbClr val="26455F"/>
              </a:solidFill>
            </a:ln>
          </p:spPr>
        </p:sp>
        <p:sp>
          <p:nvSpPr>
            <p:cNvPr id="36" name="Rectangle 36"/>
            <p:cNvSpPr/>
            <p:nvPr/>
          </p:nvSpPr>
          <p:spPr>
            <a:xfrm>
              <a:off x="8039100" y="1676400"/>
              <a:ext cx="3543300" cy="57150"/>
            </a:xfrm>
            <a:prstGeom prst="roundRect">
              <a:avLst>
                <a:gd name="adj" fmla="val 50000"/>
              </a:avLst>
            </a:prstGeom>
            <a:solidFill>
              <a:schemeClr val="accent2"/>
            </a:solidFill>
            <a:ln>
              <a:noFill/>
            </a:ln>
          </p:spPr>
        </p:sp>
        <p:sp>
          <p:nvSpPr>
            <p:cNvPr id="37" name="Ellipse 37"/>
            <p:cNvSpPr/>
            <p:nvPr/>
          </p:nvSpPr>
          <p:spPr>
            <a:xfrm>
              <a:off x="8267700" y="2076450"/>
              <a:ext cx="533400" cy="533400"/>
            </a:xfrm>
            <a:prstGeom prst="ellipse">
              <a:avLst/>
            </a:prstGeom>
            <a:noFill/>
            <a:ln w="23812">
              <a:solidFill>
                <a:schemeClr val="accent2"/>
              </a:solidFill>
            </a:ln>
          </p:spPr>
        </p:sp>
        <p:sp>
          <p:nvSpPr>
            <p:cNvPr id="38" name="TextBox 38"/>
            <p:cNvSpPr txBox="1"/>
            <p:nvPr/>
          </p:nvSpPr>
          <p:spPr>
            <a:xfrm>
              <a:off x="8444404" y="2218372"/>
              <a:ext cx="179992" cy="381381"/>
            </a:xfrm>
            <a:prstGeom prst="rect">
              <a:avLst/>
            </a:prstGeom>
            <a:noFill/>
            <a:ln>
              <a:noFill/>
            </a:ln>
          </p:spPr>
          <p:txBody>
            <a:bodyPr wrap="none" lIns="0" tIns="0" rIns="0" bIns="0" anchor="t" anchorCtr="0">
              <a:spAutoFit/>
            </a:bodyPr>
            <a:lstStyle/>
            <a:p>
              <a:pPr algn="ctr"/>
              <a:r>
                <a:rPr lang="en-US" sz="1950" b="1" dirty="0">
                  <a:solidFill>
                    <a:schemeClr val="accent2"/>
                  </a:solidFill>
                  <a:latin typeface="+mn-lt"/>
                  <a:ea typeface="+mn-ea"/>
                  <a:cs typeface="+mn-cs"/>
                </a:rPr>
                <a:t>R</a:t>
              </a:r>
            </a:p>
          </p:txBody>
        </p:sp>
        <p:sp>
          <p:nvSpPr>
            <p:cNvPr id="39" name="TextBox 39"/>
            <p:cNvSpPr txBox="1"/>
            <p:nvPr/>
          </p:nvSpPr>
          <p:spPr>
            <a:xfrm>
              <a:off x="8298942" y="2864168"/>
              <a:ext cx="1899589"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Reframing the whole</a:t>
              </a:r>
            </a:p>
          </p:txBody>
        </p:sp>
        <p:sp>
          <p:nvSpPr>
            <p:cNvPr id="40" name="TextBox 40"/>
            <p:cNvSpPr txBox="1"/>
            <p:nvPr/>
          </p:nvSpPr>
          <p:spPr>
            <a:xfrm>
              <a:off x="8298942" y="3111818"/>
              <a:ext cx="738847"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problem</a:t>
              </a:r>
            </a:p>
          </p:txBody>
        </p:sp>
        <p:sp>
          <p:nvSpPr>
            <p:cNvPr id="41" name="TextBox 41"/>
            <p:cNvSpPr txBox="1"/>
            <p:nvPr/>
          </p:nvSpPr>
          <p:spPr>
            <a:xfrm>
              <a:off x="8300466" y="3525202"/>
              <a:ext cx="244649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This shifts the goal from surfacing</a:t>
              </a:r>
            </a:p>
          </p:txBody>
        </p:sp>
        <p:sp>
          <p:nvSpPr>
            <p:cNvPr id="42" name="TextBox 42"/>
            <p:cNvSpPr txBox="1"/>
            <p:nvPr/>
          </p:nvSpPr>
          <p:spPr>
            <a:xfrm>
              <a:off x="8300466" y="3734752"/>
              <a:ext cx="261859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model uncertainty to surfacing human</a:t>
              </a:r>
            </a:p>
          </p:txBody>
        </p:sp>
        <p:sp>
          <p:nvSpPr>
            <p:cNvPr id="43" name="TextBox 43"/>
            <p:cNvSpPr txBox="1"/>
            <p:nvPr/>
          </p:nvSpPr>
          <p:spPr>
            <a:xfrm>
              <a:off x="8300466" y="3944302"/>
              <a:ext cx="27316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intervention - a recipe that could scale</a:t>
              </a:r>
            </a:p>
          </p:txBody>
        </p:sp>
        <p:sp>
          <p:nvSpPr>
            <p:cNvPr id="44" name="TextBox 44"/>
            <p:cNvSpPr txBox="1"/>
            <p:nvPr/>
          </p:nvSpPr>
          <p:spPr>
            <a:xfrm>
              <a:off x="8300466" y="4153852"/>
              <a:ext cx="261859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from edit telemetry products already</a:t>
              </a:r>
            </a:p>
          </p:txBody>
        </p:sp>
        <p:sp>
          <p:nvSpPr>
            <p:cNvPr id="45" name="TextBox 45"/>
            <p:cNvSpPr txBox="1"/>
            <p:nvPr/>
          </p:nvSpPr>
          <p:spPr>
            <a:xfrm>
              <a:off x="8300466" y="4363402"/>
              <a:ext cx="56193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collect.</a:t>
              </a:r>
            </a:p>
          </p:txBody>
        </p:sp>
      </p:grpSp>
      <p:sp>
        <p:nvSpPr>
          <p:cNvPr id="47" name="TextBox 47"/>
          <p:cNvSpPr txBox="1"/>
          <p:nvPr/>
        </p:nvSpPr>
        <p:spPr>
          <a:xfrm>
            <a:off x="603694" y="5551408"/>
            <a:ext cx="7945376" cy="227362"/>
          </a:xfrm>
          <a:prstGeom prst="rect">
            <a:avLst/>
          </a:prstGeom>
          <a:noFill/>
          <a:ln>
            <a:noFill/>
          </a:ln>
        </p:spPr>
        <p:txBody>
          <a:bodyPr wrap="none" lIns="0" tIns="0" rIns="0" bIns="0" anchor="t" anchorCtr="0">
            <a:spAutoFit/>
          </a:bodyPr>
          <a:lstStyle/>
          <a:p>
            <a:pPr algn="l"/>
            <a:r>
              <a:rPr lang="en-US" sz="1160" b="1" dirty="0">
                <a:solidFill>
                  <a:srgbClr val="48C78E"/>
                </a:solidFill>
                <a:latin typeface="+mn-lt"/>
                <a:ea typeface="+mn-ea"/>
                <a:cs typeface="+mn-cs"/>
              </a:rPr>
              <a:t>Same completions, three displays - and a new signal: predicted human edits, not model confidence.</a:t>
            </a:r>
          </a:p>
        </p:txBody>
      </p:sp>
      <p:sp>
        <p:nvSpPr>
          <p:cNvPr id="48" name="cue_s04_c1_authors_ran_preregistered_mixed_meth" title="cue_s04_c1_authors_ran_preregistered_mixed_meth" descr="cue_s04_c1_authors_ran_preregistered_mixed_meth The authors ran a preregistered, mixed-methods study with thirty programmers, comparing three ways of presenting the same AI code completions: no highlights at all, highlights based on generation probability, and highlights based on a new edit model."/>
          <p:cNvSpPr/>
          <p:nvPr/>
        </p:nvSpPr>
        <p:spPr>
          <a:xfrm>
            <a:off x="609600" y="1676095"/>
            <a:ext cx="3542995" cy="35620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4_c2_edit_key_idea_instead_asking" title="cue_s04_c2_edit_key_idea_instead_asking" descr="cue_s04_c2_edit_key_idea_instead_asking The edit model is the key idea: instead of asking how confident the model was, it predicts which tokens a human is actually likely to change."/>
          <p:cNvSpPr/>
          <p:nvPr/>
        </p:nvSpPr>
        <p:spPr>
          <a:xfrm>
            <a:off x="4324502" y="1676095"/>
            <a:ext cx="3542995" cy="35620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4_c3_reframes_whole_problem_surfacing_unc" title="cue_s04_c3_reframes_whole_problem_surfacing_unc" descr="cue_s04_c3_reframes_whole_problem_surfacing_unc This reframes the whole problem, from surfacing model uncertainty to surfacing human intervention, and the authors argue the same recipe could scale up by learning from edit telemetry that products already collect."/>
          <p:cNvSpPr/>
          <p:nvPr/>
        </p:nvSpPr>
        <p:spPr>
          <a:xfrm>
            <a:off x="8039404" y="1676095"/>
            <a:ext cx="3542995" cy="35620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725284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Same model, only the highlighted tokens differ</a:t>
            </a:r>
          </a:p>
        </p:txBody>
      </p:sp>
      <p:grpSp>
        <p:nvGrpSpPr>
          <p:cNvPr id="49" name="Group 49"/>
          <p:cNvGrpSpPr/>
          <p:nvPr/>
        </p:nvGrpSpPr>
        <p:grpSpPr>
          <a:xfrm>
            <a:off x="609600" y="1504950"/>
            <a:ext cx="10972800" cy="1809750"/>
            <a:chOff x="609600" y="1504950"/>
            <a:chExt cx="10972800" cy="1809750"/>
          </a:xfrm>
        </p:grpSpPr>
        <p:sp>
          <p:nvSpPr>
            <p:cNvPr id="5" name="Rectangle 5"/>
            <p:cNvSpPr/>
            <p:nvPr/>
          </p:nvSpPr>
          <p:spPr>
            <a:xfrm>
              <a:off x="609600" y="1504950"/>
              <a:ext cx="10972800" cy="1809750"/>
            </a:xfrm>
            <a:prstGeom prst="roundRect">
              <a:avLst>
                <a:gd name="adj" fmla="val 7368"/>
              </a:avLst>
            </a:prstGeom>
            <a:solidFill>
              <a:schemeClr val="accent5"/>
            </a:solidFill>
            <a:ln w="14288">
              <a:solidFill>
                <a:srgbClr val="26455F"/>
              </a:solidFill>
            </a:ln>
          </p:spPr>
        </p:sp>
        <p:sp>
          <p:nvSpPr>
            <p:cNvPr id="6" name="Rectangle 6"/>
            <p:cNvSpPr/>
            <p:nvPr/>
          </p:nvSpPr>
          <p:spPr>
            <a:xfrm>
              <a:off x="609600" y="1504950"/>
              <a:ext cx="57150" cy="1809750"/>
            </a:xfrm>
            <a:prstGeom prst="roundRect">
              <a:avLst>
                <a:gd name="adj" fmla="val 50000"/>
              </a:avLst>
            </a:prstGeom>
            <a:solidFill>
              <a:schemeClr val="accent2"/>
            </a:solidFill>
            <a:ln>
              <a:noFill/>
            </a:ln>
          </p:spPr>
        </p:sp>
        <p:sp>
          <p:nvSpPr>
            <p:cNvPr id="7" name="TextBox 7"/>
            <p:cNvSpPr txBox="1"/>
            <p:nvPr/>
          </p:nvSpPr>
          <p:spPr>
            <a:xfrm>
              <a:off x="870014" y="1714262"/>
              <a:ext cx="2776376"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One Codex model, three displays</a:t>
              </a:r>
            </a:p>
          </p:txBody>
        </p:sp>
        <p:sp>
          <p:nvSpPr>
            <p:cNvPr id="8" name="TextBox 8"/>
            <p:cNvSpPr txBox="1"/>
            <p:nvPr/>
          </p:nvSpPr>
          <p:spPr>
            <a:xfrm>
              <a:off x="871156" y="2005251"/>
              <a:ext cx="689956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All three tools use the very same Codex model, so any difference in behavior comes purely from how the</a:t>
              </a:r>
            </a:p>
          </p:txBody>
        </p:sp>
        <p:sp>
          <p:nvSpPr>
            <p:cNvPr id="9" name="TextBox 9"/>
            <p:cNvSpPr txBox="1"/>
            <p:nvPr/>
          </p:nvSpPr>
          <p:spPr>
            <a:xfrm>
              <a:off x="871156" y="2186226"/>
              <a:ext cx="159429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completion is displayed.</a:t>
              </a:r>
            </a:p>
          </p:txBody>
        </p:sp>
        <p:sp>
          <p:nvSpPr>
            <p:cNvPr id="10" name="Rectangle 10"/>
            <p:cNvSpPr/>
            <p:nvPr/>
          </p:nvSpPr>
          <p:spPr>
            <a:xfrm>
              <a:off x="876300" y="2381250"/>
              <a:ext cx="10439400" cy="914400"/>
            </a:xfrm>
            <a:prstGeom prst="roundRect">
              <a:avLst>
                <a:gd name="adj" fmla="val 10417"/>
              </a:avLst>
            </a:prstGeom>
            <a:solidFill>
              <a:srgbClr val="0E2334"/>
            </a:solidFill>
            <a:ln w="14288">
              <a:solidFill>
                <a:srgbClr val="26455F"/>
              </a:solidFill>
            </a:ln>
          </p:spPr>
        </p:sp>
        <p:sp>
          <p:nvSpPr>
            <p:cNvPr id="11" name="Rectangle 11"/>
            <p:cNvSpPr/>
            <p:nvPr/>
          </p:nvSpPr>
          <p:spPr>
            <a:xfrm>
              <a:off x="1047750" y="2562225"/>
              <a:ext cx="1123950" cy="552450"/>
            </a:xfrm>
            <a:prstGeom prst="roundRect">
              <a:avLst>
                <a:gd name="adj" fmla="val 13793"/>
              </a:avLst>
            </a:prstGeom>
            <a:solidFill>
              <a:schemeClr val="accent6"/>
            </a:solidFill>
            <a:ln w="17145">
              <a:solidFill>
                <a:schemeClr val="accent2"/>
              </a:solidFill>
            </a:ln>
          </p:spPr>
        </p:sp>
        <p:sp>
          <p:nvSpPr>
            <p:cNvPr id="12" name="TextBox 12"/>
            <p:cNvSpPr txBox="1"/>
            <p:nvPr/>
          </p:nvSpPr>
          <p:spPr>
            <a:xfrm>
              <a:off x="1367760" y="2699385"/>
              <a:ext cx="483931"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Codex</a:t>
              </a:r>
            </a:p>
          </p:txBody>
        </p:sp>
        <p:sp>
          <p:nvSpPr>
            <p:cNvPr id="13" name="TextBox 13"/>
            <p:cNvSpPr txBox="1"/>
            <p:nvPr/>
          </p:nvSpPr>
          <p:spPr>
            <a:xfrm>
              <a:off x="1167658" y="2909888"/>
              <a:ext cx="884134" cy="147638"/>
            </a:xfrm>
            <a:prstGeom prst="rect">
              <a:avLst/>
            </a:prstGeom>
            <a:noFill/>
            <a:ln>
              <a:noFill/>
            </a:ln>
          </p:spPr>
          <p:txBody>
            <a:bodyPr wrap="none" lIns="0" tIns="0" rIns="0" bIns="0" anchor="t" anchorCtr="0">
              <a:spAutoFit/>
            </a:bodyPr>
            <a:lstStyle/>
            <a:p>
              <a:pPr algn="ctr"/>
              <a:r>
                <a:rPr lang="en-US" sz="750" b="1" dirty="0">
                  <a:solidFill>
                    <a:schemeClr val="dk2"/>
                  </a:solidFill>
                  <a:latin typeface="+mn-lt"/>
                  <a:ea typeface="+mn-ea"/>
                  <a:cs typeface="+mn-cs"/>
                </a:rPr>
                <a:t>one shared model</a:t>
              </a:r>
            </a:p>
          </p:txBody>
        </p:sp>
        <p:sp>
          <p:nvSpPr>
            <p:cNvPr id="14" name="Line 14"/>
            <p:cNvSpPr/>
            <p:nvPr/>
          </p:nvSpPr>
          <p:spPr>
            <a:xfrm>
              <a:off x="2190750" y="2552700"/>
              <a:ext cx="419100" cy="285750"/>
            </a:xfrm>
            <a:custGeom>
              <a:avLst/>
              <a:gdLst/>
              <a:ahLst/>
              <a:cxnLst/>
              <a:rect l="l" t="t" r="r" b="b"/>
              <a:pathLst>
                <a:path w="419100" h="285750">
                  <a:moveTo>
                    <a:pt x="0" y="285750"/>
                  </a:moveTo>
                  <a:lnTo>
                    <a:pt x="419100" y="0"/>
                  </a:lnTo>
                </a:path>
              </a:pathLst>
            </a:custGeom>
            <a:noFill/>
            <a:ln w="15240" cap="rnd">
              <a:solidFill>
                <a:schemeClr val="dk2"/>
              </a:solidFill>
            </a:ln>
          </p:spPr>
        </p:sp>
        <p:sp>
          <p:nvSpPr>
            <p:cNvPr id="15" name="Polyline 15"/>
            <p:cNvSpPr/>
            <p:nvPr/>
          </p:nvSpPr>
          <p:spPr>
            <a:xfrm>
              <a:off x="2515552" y="2552700"/>
              <a:ext cx="94297" cy="82867"/>
            </a:xfrm>
            <a:custGeom>
              <a:avLst/>
              <a:gdLst/>
              <a:ahLst/>
              <a:cxnLst/>
              <a:rect l="l" t="t" r="r" b="b"/>
              <a:pathLst>
                <a:path w="94297" h="82867">
                  <a:moveTo>
                    <a:pt x="46672" y="82867"/>
                  </a:moveTo>
                  <a:lnTo>
                    <a:pt x="94297" y="0"/>
                  </a:lnTo>
                  <a:lnTo>
                    <a:pt x="0" y="14288"/>
                  </a:lnTo>
                </a:path>
              </a:pathLst>
            </a:custGeom>
            <a:noFill/>
            <a:ln w="15240" cap="rnd">
              <a:solidFill>
                <a:schemeClr val="dk2"/>
              </a:solidFill>
              <a:round/>
            </a:ln>
          </p:spPr>
        </p:sp>
        <p:sp>
          <p:nvSpPr>
            <p:cNvPr id="16" name="Rectangle 16"/>
            <p:cNvSpPr/>
            <p:nvPr/>
          </p:nvSpPr>
          <p:spPr>
            <a:xfrm>
              <a:off x="2667000" y="2447925"/>
              <a:ext cx="6515100" cy="209550"/>
            </a:xfrm>
            <a:prstGeom prst="roundRect">
              <a:avLst>
                <a:gd name="adj" fmla="val 36364"/>
              </a:avLst>
            </a:prstGeom>
            <a:solidFill>
              <a:srgbClr val="0C1E2E"/>
            </a:solidFill>
            <a:ln w="14288">
              <a:solidFill>
                <a:srgbClr val="26455F"/>
              </a:solidFill>
            </a:ln>
          </p:spPr>
        </p:sp>
        <p:sp>
          <p:nvSpPr>
            <p:cNvPr id="17" name="Line 17"/>
            <p:cNvSpPr/>
            <p:nvPr/>
          </p:nvSpPr>
          <p:spPr>
            <a:xfrm>
              <a:off x="2914650" y="2514600"/>
              <a:ext cx="9525" cy="76200"/>
            </a:xfrm>
            <a:custGeom>
              <a:avLst/>
              <a:gdLst/>
              <a:ahLst/>
              <a:cxnLst/>
              <a:rect l="l" t="t" r="r" b="b"/>
              <a:pathLst>
                <a:path w="9525" h="76200">
                  <a:moveTo>
                    <a:pt x="0" y="0"/>
                  </a:moveTo>
                  <a:lnTo>
                    <a:pt x="0" y="76200"/>
                  </a:lnTo>
                </a:path>
              </a:pathLst>
            </a:custGeom>
            <a:noFill/>
            <a:ln w="9525" cap="rnd">
              <a:solidFill>
                <a:srgbClr val="26455F"/>
              </a:solidFill>
            </a:ln>
          </p:spPr>
        </p:sp>
        <p:sp>
          <p:nvSpPr>
            <p:cNvPr id="18" name="TextBox 18"/>
            <p:cNvSpPr txBox="1"/>
            <p:nvPr/>
          </p:nvSpPr>
          <p:spPr>
            <a:xfrm>
              <a:off x="2759630" y="2517934"/>
              <a:ext cx="62390" cy="133350"/>
            </a:xfrm>
            <a:prstGeom prst="rect">
              <a:avLst/>
            </a:prstGeom>
            <a:noFill/>
            <a:ln>
              <a:noFill/>
            </a:ln>
          </p:spPr>
          <p:txBody>
            <a:bodyPr wrap="none" lIns="0" tIns="0" rIns="0" bIns="0" anchor="t" anchorCtr="0">
              <a:spAutoFit/>
            </a:bodyPr>
            <a:lstStyle/>
            <a:p>
              <a:pPr algn="ctr"/>
              <a:r>
                <a:rPr lang="en-US" sz="680" b="1" dirty="0">
                  <a:solidFill>
                    <a:srgbClr val="6E869C"/>
                  </a:solidFill>
                  <a:latin typeface="Consolas"/>
                  <a:ea typeface="Consolas"/>
                  <a:cs typeface="Consolas"/>
                </a:rPr>
                <a:t>1</a:t>
              </a:r>
            </a:p>
          </p:txBody>
        </p:sp>
        <p:sp>
          <p:nvSpPr>
            <p:cNvPr id="19" name="Rectangle 19"/>
            <p:cNvSpPr/>
            <p:nvPr/>
          </p:nvSpPr>
          <p:spPr>
            <a:xfrm>
              <a:off x="3000375" y="2543175"/>
              <a:ext cx="171450" cy="57150"/>
            </a:xfrm>
            <a:prstGeom prst="roundRect">
              <a:avLst>
                <a:gd name="adj" fmla="val 33333"/>
              </a:avLst>
            </a:prstGeom>
            <a:solidFill>
              <a:srgbClr val="3E5A74"/>
            </a:solidFill>
            <a:ln>
              <a:noFill/>
            </a:ln>
          </p:spPr>
        </p:sp>
        <p:sp>
          <p:nvSpPr>
            <p:cNvPr id="20" name="Rectangle 20"/>
            <p:cNvSpPr/>
            <p:nvPr/>
          </p:nvSpPr>
          <p:spPr>
            <a:xfrm>
              <a:off x="3228975" y="2543175"/>
              <a:ext cx="228600" cy="57150"/>
            </a:xfrm>
            <a:prstGeom prst="roundRect">
              <a:avLst>
                <a:gd name="adj" fmla="val 33333"/>
              </a:avLst>
            </a:prstGeom>
            <a:solidFill>
              <a:srgbClr val="3E5A74"/>
            </a:solidFill>
            <a:ln>
              <a:noFill/>
            </a:ln>
          </p:spPr>
        </p:sp>
        <p:sp>
          <p:nvSpPr>
            <p:cNvPr id="21" name="Rectangle 21"/>
            <p:cNvSpPr/>
            <p:nvPr/>
          </p:nvSpPr>
          <p:spPr>
            <a:xfrm>
              <a:off x="3514725" y="2543175"/>
              <a:ext cx="114300" cy="57150"/>
            </a:xfrm>
            <a:prstGeom prst="roundRect">
              <a:avLst>
                <a:gd name="adj" fmla="val 33333"/>
              </a:avLst>
            </a:prstGeom>
            <a:solidFill>
              <a:srgbClr val="3E5A74"/>
            </a:solidFill>
            <a:ln>
              <a:noFill/>
            </a:ln>
          </p:spPr>
        </p:sp>
        <p:sp>
          <p:nvSpPr>
            <p:cNvPr id="22" name="Rectangle 22"/>
            <p:cNvSpPr/>
            <p:nvPr/>
          </p:nvSpPr>
          <p:spPr>
            <a:xfrm>
              <a:off x="3686175" y="2543175"/>
              <a:ext cx="171450" cy="57150"/>
            </a:xfrm>
            <a:prstGeom prst="roundRect">
              <a:avLst>
                <a:gd name="adj" fmla="val 33333"/>
              </a:avLst>
            </a:prstGeom>
            <a:solidFill>
              <a:srgbClr val="3E5A74"/>
            </a:solidFill>
            <a:ln>
              <a:noFill/>
            </a:ln>
          </p:spPr>
        </p:sp>
        <p:sp>
          <p:nvSpPr>
            <p:cNvPr id="23" name="Ellipse 23"/>
            <p:cNvSpPr/>
            <p:nvPr/>
          </p:nvSpPr>
          <p:spPr>
            <a:xfrm>
              <a:off x="9267825" y="2505075"/>
              <a:ext cx="95250" cy="95250"/>
            </a:xfrm>
            <a:prstGeom prst="ellipse">
              <a:avLst/>
            </a:prstGeom>
            <a:solidFill>
              <a:schemeClr val="dk2"/>
            </a:solidFill>
            <a:ln>
              <a:noFill/>
            </a:ln>
          </p:spPr>
        </p:sp>
        <p:sp>
          <p:nvSpPr>
            <p:cNvPr id="24" name="TextBox 24"/>
            <p:cNvSpPr txBox="1"/>
            <p:nvPr/>
          </p:nvSpPr>
          <p:spPr>
            <a:xfrm>
              <a:off x="9424988" y="2503170"/>
              <a:ext cx="725600" cy="176212"/>
            </a:xfrm>
            <a:prstGeom prst="rect">
              <a:avLst/>
            </a:prstGeom>
            <a:noFill/>
            <a:ln>
              <a:noFill/>
            </a:ln>
          </p:spPr>
          <p:txBody>
            <a:bodyPr wrap="none" lIns="0" tIns="0" rIns="0" bIns="0" anchor="t" anchorCtr="0">
              <a:spAutoFit/>
            </a:bodyPr>
            <a:lstStyle/>
            <a:p>
              <a:pPr algn="l"/>
              <a:r>
                <a:rPr lang="en-US" sz="900" b="1" dirty="0">
                  <a:solidFill>
                    <a:schemeClr val="dk2"/>
                  </a:solidFill>
                  <a:latin typeface="+mn-lt"/>
                  <a:ea typeface="+mn-ea"/>
                  <a:cs typeface="+mn-cs"/>
                </a:rPr>
                <a:t>No highlight</a:t>
              </a:r>
            </a:p>
          </p:txBody>
        </p:sp>
        <p:sp>
          <p:nvSpPr>
            <p:cNvPr id="25" name="Line 25"/>
            <p:cNvSpPr/>
            <p:nvPr/>
          </p:nvSpPr>
          <p:spPr>
            <a:xfrm>
              <a:off x="2190750" y="2838450"/>
              <a:ext cx="419100" cy="9525"/>
            </a:xfrm>
            <a:custGeom>
              <a:avLst/>
              <a:gdLst/>
              <a:ahLst/>
              <a:cxnLst/>
              <a:rect l="l" t="t" r="r" b="b"/>
              <a:pathLst>
                <a:path w="419100" h="9525">
                  <a:moveTo>
                    <a:pt x="0" y="0"/>
                  </a:moveTo>
                  <a:lnTo>
                    <a:pt x="419100" y="0"/>
                  </a:lnTo>
                </a:path>
              </a:pathLst>
            </a:custGeom>
            <a:noFill/>
            <a:ln w="15240" cap="rnd">
              <a:solidFill>
                <a:schemeClr val="dk2"/>
              </a:solidFill>
            </a:ln>
          </p:spPr>
        </p:sp>
        <p:sp>
          <p:nvSpPr>
            <p:cNvPr id="26" name="Polyline 26"/>
            <p:cNvSpPr/>
            <p:nvPr/>
          </p:nvSpPr>
          <p:spPr>
            <a:xfrm>
              <a:off x="2524125" y="2797492"/>
              <a:ext cx="85725" cy="81915"/>
            </a:xfrm>
            <a:custGeom>
              <a:avLst/>
              <a:gdLst/>
              <a:ahLst/>
              <a:cxnLst/>
              <a:rect l="l" t="t" r="r" b="b"/>
              <a:pathLst>
                <a:path w="85725" h="81915">
                  <a:moveTo>
                    <a:pt x="0" y="81915"/>
                  </a:moveTo>
                  <a:lnTo>
                    <a:pt x="85725" y="40958"/>
                  </a:lnTo>
                  <a:lnTo>
                    <a:pt x="0" y="0"/>
                  </a:lnTo>
                </a:path>
              </a:pathLst>
            </a:custGeom>
            <a:noFill/>
            <a:ln w="15240" cap="rnd">
              <a:solidFill>
                <a:schemeClr val="dk2"/>
              </a:solidFill>
              <a:round/>
            </a:ln>
          </p:spPr>
        </p:sp>
        <p:sp>
          <p:nvSpPr>
            <p:cNvPr id="27" name="Rectangle 27"/>
            <p:cNvSpPr/>
            <p:nvPr/>
          </p:nvSpPr>
          <p:spPr>
            <a:xfrm>
              <a:off x="2667000" y="2733675"/>
              <a:ext cx="6515100" cy="209550"/>
            </a:xfrm>
            <a:prstGeom prst="roundRect">
              <a:avLst>
                <a:gd name="adj" fmla="val 36364"/>
              </a:avLst>
            </a:prstGeom>
            <a:solidFill>
              <a:srgbClr val="0C1E2E"/>
            </a:solidFill>
            <a:ln w="14288">
              <a:solidFill>
                <a:srgbClr val="26455F"/>
              </a:solidFill>
            </a:ln>
          </p:spPr>
        </p:sp>
        <p:sp>
          <p:nvSpPr>
            <p:cNvPr id="28" name="Line 28"/>
            <p:cNvSpPr/>
            <p:nvPr/>
          </p:nvSpPr>
          <p:spPr>
            <a:xfrm>
              <a:off x="2914650" y="2800350"/>
              <a:ext cx="9525" cy="76200"/>
            </a:xfrm>
            <a:custGeom>
              <a:avLst/>
              <a:gdLst/>
              <a:ahLst/>
              <a:cxnLst/>
              <a:rect l="l" t="t" r="r" b="b"/>
              <a:pathLst>
                <a:path w="9525" h="76200">
                  <a:moveTo>
                    <a:pt x="0" y="0"/>
                  </a:moveTo>
                  <a:lnTo>
                    <a:pt x="0" y="76200"/>
                  </a:lnTo>
                </a:path>
              </a:pathLst>
            </a:custGeom>
            <a:noFill/>
            <a:ln w="9525" cap="rnd">
              <a:solidFill>
                <a:srgbClr val="26455F"/>
              </a:solidFill>
            </a:ln>
          </p:spPr>
        </p:sp>
        <p:sp>
          <p:nvSpPr>
            <p:cNvPr id="29" name="TextBox 29"/>
            <p:cNvSpPr txBox="1"/>
            <p:nvPr/>
          </p:nvSpPr>
          <p:spPr>
            <a:xfrm>
              <a:off x="2759630" y="2803684"/>
              <a:ext cx="62390" cy="133350"/>
            </a:xfrm>
            <a:prstGeom prst="rect">
              <a:avLst/>
            </a:prstGeom>
            <a:noFill/>
            <a:ln>
              <a:noFill/>
            </a:ln>
          </p:spPr>
          <p:txBody>
            <a:bodyPr wrap="none" lIns="0" tIns="0" rIns="0" bIns="0" anchor="t" anchorCtr="0">
              <a:spAutoFit/>
            </a:bodyPr>
            <a:lstStyle/>
            <a:p>
              <a:pPr algn="ctr"/>
              <a:r>
                <a:rPr lang="en-US" sz="680" b="1" dirty="0">
                  <a:solidFill>
                    <a:srgbClr val="6E869C"/>
                  </a:solidFill>
                  <a:latin typeface="Consolas"/>
                  <a:ea typeface="Consolas"/>
                  <a:cs typeface="Consolas"/>
                </a:rPr>
                <a:t>1</a:t>
              </a:r>
            </a:p>
          </p:txBody>
        </p:sp>
        <p:sp>
          <p:nvSpPr>
            <p:cNvPr id="30" name="Rectangle 30"/>
            <p:cNvSpPr/>
            <p:nvPr/>
          </p:nvSpPr>
          <p:spPr>
            <a:xfrm>
              <a:off x="3000375" y="2828925"/>
              <a:ext cx="171450" cy="57150"/>
            </a:xfrm>
            <a:prstGeom prst="roundRect">
              <a:avLst>
                <a:gd name="adj" fmla="val 33333"/>
              </a:avLst>
            </a:prstGeom>
            <a:solidFill>
              <a:srgbClr val="3E5A74"/>
            </a:solidFill>
            <a:ln>
              <a:noFill/>
            </a:ln>
          </p:spPr>
        </p:sp>
        <p:sp>
          <p:nvSpPr>
            <p:cNvPr id="31" name="Rectangle 31"/>
            <p:cNvSpPr/>
            <p:nvPr/>
          </p:nvSpPr>
          <p:spPr>
            <a:xfrm>
              <a:off x="3209925" y="2800350"/>
              <a:ext cx="266700" cy="114300"/>
            </a:xfrm>
            <a:prstGeom prst="roundRect">
              <a:avLst>
                <a:gd name="adj" fmla="val 25000"/>
              </a:avLst>
            </a:prstGeom>
            <a:solidFill>
              <a:srgbClr val="F2C14E">
                <a:alpha val="30000"/>
              </a:srgbClr>
            </a:solidFill>
            <a:ln>
              <a:noFill/>
            </a:ln>
          </p:spPr>
        </p:sp>
        <p:sp>
          <p:nvSpPr>
            <p:cNvPr id="32" name="Rectangle 32"/>
            <p:cNvSpPr/>
            <p:nvPr/>
          </p:nvSpPr>
          <p:spPr>
            <a:xfrm>
              <a:off x="3228975" y="2828925"/>
              <a:ext cx="228600" cy="57150"/>
            </a:xfrm>
            <a:prstGeom prst="roundRect">
              <a:avLst>
                <a:gd name="adj" fmla="val 33333"/>
              </a:avLst>
            </a:prstGeom>
            <a:solidFill>
              <a:srgbClr val="F2C14E"/>
            </a:solidFill>
            <a:ln>
              <a:noFill/>
            </a:ln>
          </p:spPr>
        </p:sp>
        <p:sp>
          <p:nvSpPr>
            <p:cNvPr id="33" name="Rectangle 33"/>
            <p:cNvSpPr/>
            <p:nvPr/>
          </p:nvSpPr>
          <p:spPr>
            <a:xfrm>
              <a:off x="3514725" y="2828925"/>
              <a:ext cx="114300" cy="57150"/>
            </a:xfrm>
            <a:prstGeom prst="roundRect">
              <a:avLst>
                <a:gd name="adj" fmla="val 33333"/>
              </a:avLst>
            </a:prstGeom>
            <a:solidFill>
              <a:srgbClr val="3E5A74"/>
            </a:solidFill>
            <a:ln>
              <a:noFill/>
            </a:ln>
          </p:spPr>
        </p:sp>
        <p:sp>
          <p:nvSpPr>
            <p:cNvPr id="34" name="Rectangle 34"/>
            <p:cNvSpPr/>
            <p:nvPr/>
          </p:nvSpPr>
          <p:spPr>
            <a:xfrm>
              <a:off x="3686175" y="2828925"/>
              <a:ext cx="171450" cy="57150"/>
            </a:xfrm>
            <a:prstGeom prst="roundRect">
              <a:avLst>
                <a:gd name="adj" fmla="val 33333"/>
              </a:avLst>
            </a:prstGeom>
            <a:solidFill>
              <a:srgbClr val="3E5A74"/>
            </a:solidFill>
            <a:ln>
              <a:noFill/>
            </a:ln>
          </p:spPr>
        </p:sp>
        <p:sp>
          <p:nvSpPr>
            <p:cNvPr id="35" name="Ellipse 35"/>
            <p:cNvSpPr/>
            <p:nvPr/>
          </p:nvSpPr>
          <p:spPr>
            <a:xfrm>
              <a:off x="9267825" y="2790825"/>
              <a:ext cx="95250" cy="95250"/>
            </a:xfrm>
            <a:prstGeom prst="ellipse">
              <a:avLst/>
            </a:prstGeom>
            <a:solidFill>
              <a:srgbClr val="F2C14E"/>
            </a:solidFill>
            <a:ln>
              <a:noFill/>
            </a:ln>
          </p:spPr>
        </p:sp>
        <p:sp>
          <p:nvSpPr>
            <p:cNvPr id="36" name="TextBox 36"/>
            <p:cNvSpPr txBox="1"/>
            <p:nvPr/>
          </p:nvSpPr>
          <p:spPr>
            <a:xfrm>
              <a:off x="9424988" y="2788920"/>
              <a:ext cx="1425428" cy="176212"/>
            </a:xfrm>
            <a:prstGeom prst="rect">
              <a:avLst/>
            </a:prstGeom>
            <a:noFill/>
            <a:ln>
              <a:noFill/>
            </a:ln>
          </p:spPr>
          <p:txBody>
            <a:bodyPr wrap="none" lIns="0" tIns="0" rIns="0" bIns="0" anchor="t" anchorCtr="0">
              <a:spAutoFit/>
            </a:bodyPr>
            <a:lstStyle/>
            <a:p>
              <a:pPr algn="l"/>
              <a:r>
                <a:rPr lang="en-US" sz="900" b="1" dirty="0">
                  <a:solidFill>
                    <a:srgbClr val="F2C14E"/>
                  </a:solidFill>
                  <a:latin typeface="+mn-lt"/>
                  <a:ea typeface="+mn-ea"/>
                  <a:cs typeface="+mn-cs"/>
                </a:rPr>
                <a:t>Generation-probability</a:t>
              </a:r>
            </a:p>
          </p:txBody>
        </p:sp>
        <p:sp>
          <p:nvSpPr>
            <p:cNvPr id="37" name="Line 37"/>
            <p:cNvSpPr/>
            <p:nvPr/>
          </p:nvSpPr>
          <p:spPr>
            <a:xfrm>
              <a:off x="2190750" y="2838450"/>
              <a:ext cx="419100" cy="285750"/>
            </a:xfrm>
            <a:custGeom>
              <a:avLst/>
              <a:gdLst/>
              <a:ahLst/>
              <a:cxnLst/>
              <a:rect l="l" t="t" r="r" b="b"/>
              <a:pathLst>
                <a:path w="419100" h="285750">
                  <a:moveTo>
                    <a:pt x="0" y="0"/>
                  </a:moveTo>
                  <a:lnTo>
                    <a:pt x="419100" y="285750"/>
                  </a:lnTo>
                </a:path>
              </a:pathLst>
            </a:custGeom>
            <a:noFill/>
            <a:ln w="15240" cap="rnd">
              <a:solidFill>
                <a:schemeClr val="dk2"/>
              </a:solidFill>
            </a:ln>
          </p:spPr>
        </p:sp>
        <p:sp>
          <p:nvSpPr>
            <p:cNvPr id="38" name="Polyline 38"/>
            <p:cNvSpPr/>
            <p:nvPr/>
          </p:nvSpPr>
          <p:spPr>
            <a:xfrm>
              <a:off x="2515552" y="3041332"/>
              <a:ext cx="94297" cy="82867"/>
            </a:xfrm>
            <a:custGeom>
              <a:avLst/>
              <a:gdLst/>
              <a:ahLst/>
              <a:cxnLst/>
              <a:rect l="l" t="t" r="r" b="b"/>
              <a:pathLst>
                <a:path w="94297" h="82867">
                  <a:moveTo>
                    <a:pt x="0" y="68580"/>
                  </a:moveTo>
                  <a:lnTo>
                    <a:pt x="94297" y="82867"/>
                  </a:lnTo>
                  <a:lnTo>
                    <a:pt x="46672" y="0"/>
                  </a:lnTo>
                </a:path>
              </a:pathLst>
            </a:custGeom>
            <a:noFill/>
            <a:ln w="15240" cap="rnd">
              <a:solidFill>
                <a:schemeClr val="dk2"/>
              </a:solidFill>
              <a:round/>
            </a:ln>
          </p:spPr>
        </p:sp>
        <p:sp>
          <p:nvSpPr>
            <p:cNvPr id="39" name="Rectangle 39"/>
            <p:cNvSpPr/>
            <p:nvPr/>
          </p:nvSpPr>
          <p:spPr>
            <a:xfrm>
              <a:off x="2667000" y="3019425"/>
              <a:ext cx="6515100" cy="209550"/>
            </a:xfrm>
            <a:prstGeom prst="roundRect">
              <a:avLst>
                <a:gd name="adj" fmla="val 36364"/>
              </a:avLst>
            </a:prstGeom>
            <a:solidFill>
              <a:srgbClr val="0C1E2E"/>
            </a:solidFill>
            <a:ln w="14288">
              <a:solidFill>
                <a:srgbClr val="26455F"/>
              </a:solidFill>
            </a:ln>
          </p:spPr>
        </p:sp>
        <p:sp>
          <p:nvSpPr>
            <p:cNvPr id="40" name="Line 40"/>
            <p:cNvSpPr/>
            <p:nvPr/>
          </p:nvSpPr>
          <p:spPr>
            <a:xfrm>
              <a:off x="2914650" y="3086100"/>
              <a:ext cx="9525" cy="76200"/>
            </a:xfrm>
            <a:custGeom>
              <a:avLst/>
              <a:gdLst/>
              <a:ahLst/>
              <a:cxnLst/>
              <a:rect l="l" t="t" r="r" b="b"/>
              <a:pathLst>
                <a:path w="9525" h="76200">
                  <a:moveTo>
                    <a:pt x="0" y="0"/>
                  </a:moveTo>
                  <a:lnTo>
                    <a:pt x="0" y="76200"/>
                  </a:lnTo>
                </a:path>
              </a:pathLst>
            </a:custGeom>
            <a:noFill/>
            <a:ln w="9525" cap="rnd">
              <a:solidFill>
                <a:srgbClr val="26455F"/>
              </a:solidFill>
            </a:ln>
          </p:spPr>
        </p:sp>
        <p:sp>
          <p:nvSpPr>
            <p:cNvPr id="41" name="TextBox 41"/>
            <p:cNvSpPr txBox="1"/>
            <p:nvPr/>
          </p:nvSpPr>
          <p:spPr>
            <a:xfrm>
              <a:off x="2759630" y="3089434"/>
              <a:ext cx="62390" cy="133350"/>
            </a:xfrm>
            <a:prstGeom prst="rect">
              <a:avLst/>
            </a:prstGeom>
            <a:noFill/>
            <a:ln>
              <a:noFill/>
            </a:ln>
          </p:spPr>
          <p:txBody>
            <a:bodyPr wrap="none" lIns="0" tIns="0" rIns="0" bIns="0" anchor="t" anchorCtr="0">
              <a:spAutoFit/>
            </a:bodyPr>
            <a:lstStyle/>
            <a:p>
              <a:pPr algn="ctr"/>
              <a:r>
                <a:rPr lang="en-US" sz="680" b="1" dirty="0">
                  <a:solidFill>
                    <a:srgbClr val="6E869C"/>
                  </a:solidFill>
                  <a:latin typeface="Consolas"/>
                  <a:ea typeface="Consolas"/>
                  <a:cs typeface="Consolas"/>
                </a:rPr>
                <a:t>1</a:t>
              </a:r>
            </a:p>
          </p:txBody>
        </p:sp>
        <p:sp>
          <p:nvSpPr>
            <p:cNvPr id="42" name="Rectangle 42"/>
            <p:cNvSpPr/>
            <p:nvPr/>
          </p:nvSpPr>
          <p:spPr>
            <a:xfrm>
              <a:off x="3000375" y="3114675"/>
              <a:ext cx="171450" cy="57150"/>
            </a:xfrm>
            <a:prstGeom prst="roundRect">
              <a:avLst>
                <a:gd name="adj" fmla="val 33333"/>
              </a:avLst>
            </a:prstGeom>
            <a:solidFill>
              <a:srgbClr val="3E5A74"/>
            </a:solidFill>
            <a:ln>
              <a:noFill/>
            </a:ln>
          </p:spPr>
        </p:sp>
        <p:sp>
          <p:nvSpPr>
            <p:cNvPr id="43" name="Rectangle 43"/>
            <p:cNvSpPr/>
            <p:nvPr/>
          </p:nvSpPr>
          <p:spPr>
            <a:xfrm>
              <a:off x="3209925" y="3086100"/>
              <a:ext cx="266700" cy="114300"/>
            </a:xfrm>
            <a:prstGeom prst="roundRect">
              <a:avLst>
                <a:gd name="adj" fmla="val 25000"/>
              </a:avLst>
            </a:prstGeom>
            <a:solidFill>
              <a:srgbClr val="48C78E">
                <a:alpha val="30000"/>
              </a:srgbClr>
            </a:solidFill>
            <a:ln>
              <a:noFill/>
            </a:ln>
          </p:spPr>
        </p:sp>
        <p:sp>
          <p:nvSpPr>
            <p:cNvPr id="44" name="Rectangle 44"/>
            <p:cNvSpPr/>
            <p:nvPr/>
          </p:nvSpPr>
          <p:spPr>
            <a:xfrm>
              <a:off x="3228975" y="3114675"/>
              <a:ext cx="228600" cy="57150"/>
            </a:xfrm>
            <a:prstGeom prst="roundRect">
              <a:avLst>
                <a:gd name="adj" fmla="val 33333"/>
              </a:avLst>
            </a:prstGeom>
            <a:solidFill>
              <a:srgbClr val="48C78E"/>
            </a:solidFill>
            <a:ln>
              <a:noFill/>
            </a:ln>
          </p:spPr>
        </p:sp>
        <p:sp>
          <p:nvSpPr>
            <p:cNvPr id="45" name="Rectangle 45"/>
            <p:cNvSpPr/>
            <p:nvPr/>
          </p:nvSpPr>
          <p:spPr>
            <a:xfrm>
              <a:off x="3514725" y="3114675"/>
              <a:ext cx="114300" cy="57150"/>
            </a:xfrm>
            <a:prstGeom prst="roundRect">
              <a:avLst>
                <a:gd name="adj" fmla="val 33333"/>
              </a:avLst>
            </a:prstGeom>
            <a:solidFill>
              <a:srgbClr val="3E5A74"/>
            </a:solidFill>
            <a:ln>
              <a:noFill/>
            </a:ln>
          </p:spPr>
        </p:sp>
        <p:sp>
          <p:nvSpPr>
            <p:cNvPr id="46" name="Rectangle 46"/>
            <p:cNvSpPr/>
            <p:nvPr/>
          </p:nvSpPr>
          <p:spPr>
            <a:xfrm>
              <a:off x="3686175" y="3114675"/>
              <a:ext cx="171450" cy="57150"/>
            </a:xfrm>
            <a:prstGeom prst="roundRect">
              <a:avLst>
                <a:gd name="adj" fmla="val 33333"/>
              </a:avLst>
            </a:prstGeom>
            <a:solidFill>
              <a:srgbClr val="3E5A74"/>
            </a:solidFill>
            <a:ln>
              <a:noFill/>
            </a:ln>
          </p:spPr>
        </p:sp>
        <p:sp>
          <p:nvSpPr>
            <p:cNvPr id="47" name="Ellipse 47"/>
            <p:cNvSpPr/>
            <p:nvPr/>
          </p:nvSpPr>
          <p:spPr>
            <a:xfrm>
              <a:off x="9267825" y="3076575"/>
              <a:ext cx="95250" cy="95250"/>
            </a:xfrm>
            <a:prstGeom prst="ellipse">
              <a:avLst/>
            </a:prstGeom>
            <a:solidFill>
              <a:srgbClr val="48C78E"/>
            </a:solidFill>
            <a:ln>
              <a:noFill/>
            </a:ln>
          </p:spPr>
        </p:sp>
        <p:sp>
          <p:nvSpPr>
            <p:cNvPr id="48" name="TextBox 48"/>
            <p:cNvSpPr txBox="1"/>
            <p:nvPr/>
          </p:nvSpPr>
          <p:spPr>
            <a:xfrm>
              <a:off x="9424988" y="3074670"/>
              <a:ext cx="643204" cy="176212"/>
            </a:xfrm>
            <a:prstGeom prst="rect">
              <a:avLst/>
            </a:prstGeom>
            <a:noFill/>
            <a:ln>
              <a:noFill/>
            </a:ln>
          </p:spPr>
          <p:txBody>
            <a:bodyPr wrap="none" lIns="0" tIns="0" rIns="0" bIns="0" anchor="t" anchorCtr="0">
              <a:spAutoFit/>
            </a:bodyPr>
            <a:lstStyle/>
            <a:p>
              <a:pPr algn="l"/>
              <a:r>
                <a:rPr lang="en-US" sz="900" b="1" dirty="0">
                  <a:solidFill>
                    <a:srgbClr val="48C78E"/>
                  </a:solidFill>
                  <a:latin typeface="+mn-lt"/>
                  <a:ea typeface="+mn-ea"/>
                  <a:cs typeface="+mn-cs"/>
                </a:rPr>
                <a:t>Edit model</a:t>
              </a:r>
            </a:p>
          </p:txBody>
        </p:sp>
      </p:grpSp>
      <p:grpSp>
        <p:nvGrpSpPr>
          <p:cNvPr id="70" name="Group 70"/>
          <p:cNvGrpSpPr/>
          <p:nvPr/>
        </p:nvGrpSpPr>
        <p:grpSpPr>
          <a:xfrm>
            <a:off x="609600" y="3486150"/>
            <a:ext cx="3600450" cy="1752600"/>
            <a:chOff x="609600" y="3486150"/>
            <a:chExt cx="3600450" cy="1752600"/>
          </a:xfrm>
        </p:grpSpPr>
        <p:sp>
          <p:nvSpPr>
            <p:cNvPr id="50" name="Rectangle 50"/>
            <p:cNvSpPr/>
            <p:nvPr/>
          </p:nvSpPr>
          <p:spPr>
            <a:xfrm>
              <a:off x="609600" y="3486150"/>
              <a:ext cx="3600450" cy="1752600"/>
            </a:xfrm>
            <a:prstGeom prst="roundRect">
              <a:avLst>
                <a:gd name="adj" fmla="val 7609"/>
              </a:avLst>
            </a:prstGeom>
            <a:solidFill>
              <a:srgbClr val="2A2417"/>
            </a:solidFill>
            <a:ln w="14288">
              <a:solidFill>
                <a:srgbClr val="F2C14E"/>
              </a:solidFill>
            </a:ln>
          </p:spPr>
        </p:sp>
        <p:sp>
          <p:nvSpPr>
            <p:cNvPr id="51" name="Rectangle 51"/>
            <p:cNvSpPr/>
            <p:nvPr/>
          </p:nvSpPr>
          <p:spPr>
            <a:xfrm>
              <a:off x="609600" y="3486150"/>
              <a:ext cx="57150" cy="1752600"/>
            </a:xfrm>
            <a:prstGeom prst="roundRect">
              <a:avLst>
                <a:gd name="adj" fmla="val 50000"/>
              </a:avLst>
            </a:prstGeom>
            <a:solidFill>
              <a:srgbClr val="F2C14E"/>
            </a:solidFill>
            <a:ln>
              <a:noFill/>
            </a:ln>
          </p:spPr>
        </p:sp>
        <p:sp>
          <p:nvSpPr>
            <p:cNvPr id="52" name="TextBox 52"/>
            <p:cNvSpPr txBox="1"/>
            <p:nvPr/>
          </p:nvSpPr>
          <p:spPr>
            <a:xfrm>
              <a:off x="870394" y="3703558"/>
              <a:ext cx="2205729"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Generation-probability tool</a:t>
              </a:r>
            </a:p>
          </p:txBody>
        </p:sp>
        <p:sp>
          <p:nvSpPr>
            <p:cNvPr id="53" name="TextBox 53"/>
            <p:cNvSpPr txBox="1"/>
            <p:nvPr/>
          </p:nvSpPr>
          <p:spPr>
            <a:xfrm>
              <a:off x="871156" y="3986451"/>
              <a:ext cx="2761246"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Highlights the tokens the model was least</a:t>
              </a:r>
            </a:p>
          </p:txBody>
        </p:sp>
        <p:sp>
          <p:nvSpPr>
            <p:cNvPr id="54" name="TextBox 54"/>
            <p:cNvSpPr txBox="1"/>
            <p:nvPr/>
          </p:nvSpPr>
          <p:spPr>
            <a:xfrm>
              <a:off x="871156" y="4167426"/>
              <a:ext cx="880471"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confident in.</a:t>
              </a:r>
            </a:p>
          </p:txBody>
        </p:sp>
        <p:sp>
          <p:nvSpPr>
            <p:cNvPr id="55" name="Rectangle 55"/>
            <p:cNvSpPr/>
            <p:nvPr/>
          </p:nvSpPr>
          <p:spPr>
            <a:xfrm>
              <a:off x="876300" y="4476750"/>
              <a:ext cx="1333500" cy="609600"/>
            </a:xfrm>
            <a:prstGeom prst="roundRect">
              <a:avLst>
                <a:gd name="adj" fmla="val 18750"/>
              </a:avLst>
            </a:prstGeom>
            <a:solidFill>
              <a:schemeClr val="accent6"/>
            </a:solidFill>
            <a:ln w="14288">
              <a:solidFill>
                <a:srgbClr val="26455F"/>
              </a:solidFill>
            </a:ln>
          </p:spPr>
        </p:sp>
        <p:sp>
          <p:nvSpPr>
            <p:cNvPr id="56" name="TextBox 56"/>
            <p:cNvSpPr txBox="1"/>
            <p:nvPr/>
          </p:nvSpPr>
          <p:spPr>
            <a:xfrm>
              <a:off x="1321637" y="4617568"/>
              <a:ext cx="442825" cy="319187"/>
            </a:xfrm>
            <a:prstGeom prst="rect">
              <a:avLst/>
            </a:prstGeom>
            <a:noFill/>
            <a:ln>
              <a:noFill/>
            </a:ln>
          </p:spPr>
          <p:txBody>
            <a:bodyPr wrap="none" lIns="0" tIns="0" rIns="0" bIns="0" anchor="t" anchorCtr="0">
              <a:spAutoFit/>
            </a:bodyPr>
            <a:lstStyle/>
            <a:p>
              <a:pPr algn="ctr"/>
              <a:r>
                <a:rPr lang="en-US" sz="1630" b="1" dirty="0">
                  <a:solidFill>
                    <a:srgbClr val="F2C14E"/>
                  </a:solidFill>
                  <a:latin typeface="+mn-lt"/>
                  <a:ea typeface="+mn-ea"/>
                  <a:cs typeface="+mn-cs"/>
                </a:rPr>
                <a:t>71%</a:t>
              </a:r>
            </a:p>
          </p:txBody>
        </p:sp>
        <p:sp>
          <p:nvSpPr>
            <p:cNvPr id="57" name="TextBox 57"/>
            <p:cNvSpPr txBox="1"/>
            <p:nvPr/>
          </p:nvSpPr>
          <p:spPr>
            <a:xfrm>
              <a:off x="1023416" y="4863227"/>
              <a:ext cx="103926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confidence thr.</a:t>
              </a:r>
            </a:p>
          </p:txBody>
        </p:sp>
        <p:sp>
          <p:nvSpPr>
            <p:cNvPr id="58" name="Rectangle 58"/>
            <p:cNvSpPr/>
            <p:nvPr/>
          </p:nvSpPr>
          <p:spPr>
            <a:xfrm>
              <a:off x="2362200" y="4476750"/>
              <a:ext cx="1714500" cy="609600"/>
            </a:xfrm>
            <a:prstGeom prst="roundRect">
              <a:avLst>
                <a:gd name="adj" fmla="val 12500"/>
              </a:avLst>
            </a:prstGeom>
            <a:solidFill>
              <a:srgbClr val="0C1E2E"/>
            </a:solidFill>
            <a:ln w="14288">
              <a:solidFill>
                <a:srgbClr val="26455F"/>
              </a:solidFill>
            </a:ln>
          </p:spPr>
        </p:sp>
        <p:sp>
          <p:nvSpPr>
            <p:cNvPr id="59" name="Line 59"/>
            <p:cNvSpPr/>
            <p:nvPr/>
          </p:nvSpPr>
          <p:spPr>
            <a:xfrm>
              <a:off x="2609850" y="4543425"/>
              <a:ext cx="9525" cy="476250"/>
            </a:xfrm>
            <a:custGeom>
              <a:avLst/>
              <a:gdLst/>
              <a:ahLst/>
              <a:cxnLst/>
              <a:rect l="l" t="t" r="r" b="b"/>
              <a:pathLst>
                <a:path w="9525" h="476250">
                  <a:moveTo>
                    <a:pt x="0" y="0"/>
                  </a:moveTo>
                  <a:lnTo>
                    <a:pt x="0" y="476250"/>
                  </a:lnTo>
                </a:path>
              </a:pathLst>
            </a:custGeom>
            <a:noFill/>
            <a:ln w="9525" cap="rnd">
              <a:solidFill>
                <a:srgbClr val="26455F"/>
              </a:solidFill>
            </a:ln>
          </p:spPr>
        </p:sp>
        <p:sp>
          <p:nvSpPr>
            <p:cNvPr id="60" name="TextBox 60"/>
            <p:cNvSpPr txBox="1"/>
            <p:nvPr/>
          </p:nvSpPr>
          <p:spPr>
            <a:xfrm>
              <a:off x="2454830" y="4632484"/>
              <a:ext cx="62390" cy="133350"/>
            </a:xfrm>
            <a:prstGeom prst="rect">
              <a:avLst/>
            </a:prstGeom>
            <a:noFill/>
            <a:ln>
              <a:noFill/>
            </a:ln>
          </p:spPr>
          <p:txBody>
            <a:bodyPr wrap="none" lIns="0" tIns="0" rIns="0" bIns="0" anchor="t" anchorCtr="0">
              <a:spAutoFit/>
            </a:bodyPr>
            <a:lstStyle/>
            <a:p>
              <a:pPr algn="ctr"/>
              <a:r>
                <a:rPr lang="en-US" sz="680" b="1" dirty="0">
                  <a:solidFill>
                    <a:srgbClr val="6E869C"/>
                  </a:solidFill>
                  <a:latin typeface="Consolas"/>
                  <a:ea typeface="Consolas"/>
                  <a:cs typeface="Consolas"/>
                </a:rPr>
                <a:t>1</a:t>
              </a:r>
            </a:p>
          </p:txBody>
        </p:sp>
        <p:sp>
          <p:nvSpPr>
            <p:cNvPr id="61" name="Rectangle 61"/>
            <p:cNvSpPr/>
            <p:nvPr/>
          </p:nvSpPr>
          <p:spPr>
            <a:xfrm>
              <a:off x="2695575" y="4657725"/>
              <a:ext cx="133350" cy="57150"/>
            </a:xfrm>
            <a:prstGeom prst="roundRect">
              <a:avLst>
                <a:gd name="adj" fmla="val 33333"/>
              </a:avLst>
            </a:prstGeom>
            <a:solidFill>
              <a:srgbClr val="3E5A74"/>
            </a:solidFill>
            <a:ln>
              <a:noFill/>
            </a:ln>
          </p:spPr>
        </p:sp>
        <p:sp>
          <p:nvSpPr>
            <p:cNvPr id="62" name="Rectangle 62"/>
            <p:cNvSpPr/>
            <p:nvPr/>
          </p:nvSpPr>
          <p:spPr>
            <a:xfrm>
              <a:off x="2867025" y="4629150"/>
              <a:ext cx="304800" cy="114300"/>
            </a:xfrm>
            <a:prstGeom prst="roundRect">
              <a:avLst>
                <a:gd name="adj" fmla="val 25000"/>
              </a:avLst>
            </a:prstGeom>
            <a:solidFill>
              <a:srgbClr val="F2C14E">
                <a:alpha val="30000"/>
              </a:srgbClr>
            </a:solidFill>
            <a:ln>
              <a:noFill/>
            </a:ln>
          </p:spPr>
        </p:sp>
        <p:sp>
          <p:nvSpPr>
            <p:cNvPr id="63" name="Rectangle 63"/>
            <p:cNvSpPr/>
            <p:nvPr/>
          </p:nvSpPr>
          <p:spPr>
            <a:xfrm>
              <a:off x="2886075" y="4657725"/>
              <a:ext cx="266700" cy="57150"/>
            </a:xfrm>
            <a:prstGeom prst="roundRect">
              <a:avLst>
                <a:gd name="adj" fmla="val 33333"/>
              </a:avLst>
            </a:prstGeom>
            <a:solidFill>
              <a:srgbClr val="F2C14E"/>
            </a:solidFill>
            <a:ln>
              <a:noFill/>
            </a:ln>
          </p:spPr>
        </p:sp>
        <p:sp>
          <p:nvSpPr>
            <p:cNvPr id="64" name="Rectangle 64"/>
            <p:cNvSpPr/>
            <p:nvPr/>
          </p:nvSpPr>
          <p:spPr>
            <a:xfrm>
              <a:off x="3209925" y="4657725"/>
              <a:ext cx="133350" cy="57150"/>
            </a:xfrm>
            <a:prstGeom prst="roundRect">
              <a:avLst>
                <a:gd name="adj" fmla="val 33333"/>
              </a:avLst>
            </a:prstGeom>
            <a:solidFill>
              <a:srgbClr val="3E5A74"/>
            </a:solidFill>
            <a:ln>
              <a:noFill/>
            </a:ln>
          </p:spPr>
        </p:sp>
        <p:sp>
          <p:nvSpPr>
            <p:cNvPr id="65" name="TextBox 65"/>
            <p:cNvSpPr txBox="1"/>
            <p:nvPr/>
          </p:nvSpPr>
          <p:spPr>
            <a:xfrm>
              <a:off x="2454830" y="4861084"/>
              <a:ext cx="62390" cy="133350"/>
            </a:xfrm>
            <a:prstGeom prst="rect">
              <a:avLst/>
            </a:prstGeom>
            <a:noFill/>
            <a:ln>
              <a:noFill/>
            </a:ln>
          </p:spPr>
          <p:txBody>
            <a:bodyPr wrap="none" lIns="0" tIns="0" rIns="0" bIns="0" anchor="t" anchorCtr="0">
              <a:spAutoFit/>
            </a:bodyPr>
            <a:lstStyle/>
            <a:p>
              <a:pPr algn="ctr"/>
              <a:r>
                <a:rPr lang="en-US" sz="680" b="1" dirty="0">
                  <a:solidFill>
                    <a:srgbClr val="6E869C"/>
                  </a:solidFill>
                  <a:latin typeface="Consolas"/>
                  <a:ea typeface="Consolas"/>
                  <a:cs typeface="Consolas"/>
                </a:rPr>
                <a:t>2</a:t>
              </a:r>
            </a:p>
          </p:txBody>
        </p:sp>
        <p:sp>
          <p:nvSpPr>
            <p:cNvPr id="66" name="Rectangle 66"/>
            <p:cNvSpPr/>
            <p:nvPr/>
          </p:nvSpPr>
          <p:spPr>
            <a:xfrm>
              <a:off x="2695575" y="4886325"/>
              <a:ext cx="200025" cy="57150"/>
            </a:xfrm>
            <a:prstGeom prst="roundRect">
              <a:avLst>
                <a:gd name="adj" fmla="val 33333"/>
              </a:avLst>
            </a:prstGeom>
            <a:solidFill>
              <a:srgbClr val="3E5A74"/>
            </a:solidFill>
            <a:ln>
              <a:noFill/>
            </a:ln>
          </p:spPr>
        </p:sp>
        <p:sp>
          <p:nvSpPr>
            <p:cNvPr id="67" name="Rectangle 67"/>
            <p:cNvSpPr/>
            <p:nvPr/>
          </p:nvSpPr>
          <p:spPr>
            <a:xfrm>
              <a:off x="2933700" y="4857750"/>
              <a:ext cx="171450" cy="114300"/>
            </a:xfrm>
            <a:prstGeom prst="roundRect">
              <a:avLst>
                <a:gd name="adj" fmla="val 25000"/>
              </a:avLst>
            </a:prstGeom>
            <a:solidFill>
              <a:srgbClr val="F2C14E">
                <a:alpha val="30000"/>
              </a:srgbClr>
            </a:solidFill>
            <a:ln>
              <a:noFill/>
            </a:ln>
          </p:spPr>
        </p:sp>
        <p:sp>
          <p:nvSpPr>
            <p:cNvPr id="68" name="Rectangle 68"/>
            <p:cNvSpPr/>
            <p:nvPr/>
          </p:nvSpPr>
          <p:spPr>
            <a:xfrm>
              <a:off x="2952750" y="4886325"/>
              <a:ext cx="133350" cy="57150"/>
            </a:xfrm>
            <a:prstGeom prst="roundRect">
              <a:avLst>
                <a:gd name="adj" fmla="val 33333"/>
              </a:avLst>
            </a:prstGeom>
            <a:solidFill>
              <a:srgbClr val="F2C14E"/>
            </a:solidFill>
            <a:ln>
              <a:noFill/>
            </a:ln>
          </p:spPr>
        </p:sp>
        <p:sp>
          <p:nvSpPr>
            <p:cNvPr id="69" name="Rectangle 69"/>
            <p:cNvSpPr/>
            <p:nvPr/>
          </p:nvSpPr>
          <p:spPr>
            <a:xfrm>
              <a:off x="3143250" y="4886325"/>
              <a:ext cx="200025" cy="57150"/>
            </a:xfrm>
            <a:prstGeom prst="roundRect">
              <a:avLst>
                <a:gd name="adj" fmla="val 33333"/>
              </a:avLst>
            </a:prstGeom>
            <a:solidFill>
              <a:srgbClr val="3E5A74"/>
            </a:solidFill>
            <a:ln>
              <a:noFill/>
            </a:ln>
          </p:spPr>
        </p:sp>
      </p:grpSp>
      <p:grpSp>
        <p:nvGrpSpPr>
          <p:cNvPr id="91" name="Group 91"/>
          <p:cNvGrpSpPr/>
          <p:nvPr/>
        </p:nvGrpSpPr>
        <p:grpSpPr>
          <a:xfrm>
            <a:off x="4362450" y="3486150"/>
            <a:ext cx="3600450" cy="1752600"/>
            <a:chOff x="4362450" y="3486150"/>
            <a:chExt cx="3600450" cy="1752600"/>
          </a:xfrm>
        </p:grpSpPr>
        <p:sp>
          <p:nvSpPr>
            <p:cNvPr id="71" name="Rectangle 71"/>
            <p:cNvSpPr/>
            <p:nvPr/>
          </p:nvSpPr>
          <p:spPr>
            <a:xfrm>
              <a:off x="4362450" y="3486150"/>
              <a:ext cx="3600450" cy="1752600"/>
            </a:xfrm>
            <a:prstGeom prst="roundRect">
              <a:avLst>
                <a:gd name="adj" fmla="val 7609"/>
              </a:avLst>
            </a:prstGeom>
            <a:solidFill>
              <a:srgbClr val="0F2E2B"/>
            </a:solidFill>
            <a:ln w="14288">
              <a:solidFill>
                <a:srgbClr val="48C78E"/>
              </a:solidFill>
            </a:ln>
          </p:spPr>
        </p:sp>
        <p:sp>
          <p:nvSpPr>
            <p:cNvPr id="72" name="Rectangle 72"/>
            <p:cNvSpPr/>
            <p:nvPr/>
          </p:nvSpPr>
          <p:spPr>
            <a:xfrm>
              <a:off x="4362450" y="3486150"/>
              <a:ext cx="57150" cy="1752600"/>
            </a:xfrm>
            <a:prstGeom prst="roundRect">
              <a:avLst>
                <a:gd name="adj" fmla="val 50000"/>
              </a:avLst>
            </a:prstGeom>
            <a:solidFill>
              <a:srgbClr val="48C78E"/>
            </a:solidFill>
            <a:ln>
              <a:noFill/>
            </a:ln>
          </p:spPr>
        </p:sp>
        <p:sp>
          <p:nvSpPr>
            <p:cNvPr id="73" name="TextBox 73"/>
            <p:cNvSpPr txBox="1"/>
            <p:nvPr/>
          </p:nvSpPr>
          <p:spPr>
            <a:xfrm>
              <a:off x="4623244" y="3703558"/>
              <a:ext cx="1238685" cy="227362"/>
            </a:xfrm>
            <a:prstGeom prst="rect">
              <a:avLst/>
            </a:prstGeom>
            <a:noFill/>
            <a:ln>
              <a:noFill/>
            </a:ln>
          </p:spPr>
          <p:txBody>
            <a:bodyPr wrap="none" lIns="0" tIns="0" rIns="0" bIns="0" anchor="t" anchorCtr="0">
              <a:spAutoFit/>
            </a:bodyPr>
            <a:lstStyle/>
            <a:p>
              <a:pPr algn="l"/>
              <a:r>
                <a:rPr lang="en-US" sz="1160" b="1" dirty="0">
                  <a:solidFill>
                    <a:srgbClr val="48C78E"/>
                  </a:solidFill>
                  <a:latin typeface="+mn-lt"/>
                  <a:ea typeface="+mn-ea"/>
                  <a:cs typeface="+mn-cs"/>
                </a:rPr>
                <a:t>Edit-model tool</a:t>
              </a:r>
            </a:p>
          </p:txBody>
        </p:sp>
        <p:sp>
          <p:nvSpPr>
            <p:cNvPr id="74" name="TextBox 74"/>
            <p:cNvSpPr txBox="1"/>
            <p:nvPr/>
          </p:nvSpPr>
          <p:spPr>
            <a:xfrm>
              <a:off x="4624006" y="3986451"/>
              <a:ext cx="2815595"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Highlights tokens most likely to be edited;</a:t>
              </a:r>
            </a:p>
          </p:txBody>
        </p:sp>
        <p:sp>
          <p:nvSpPr>
            <p:cNvPr id="75" name="TextBox 75"/>
            <p:cNvSpPr txBox="1"/>
            <p:nvPr/>
          </p:nvSpPr>
          <p:spPr>
            <a:xfrm>
              <a:off x="4624006" y="4167426"/>
              <a:ext cx="1369949"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trained on 9 coders.</a:t>
              </a:r>
            </a:p>
          </p:txBody>
        </p:sp>
        <p:sp>
          <p:nvSpPr>
            <p:cNvPr id="76" name="Rectangle 76"/>
            <p:cNvSpPr/>
            <p:nvPr/>
          </p:nvSpPr>
          <p:spPr>
            <a:xfrm>
              <a:off x="4629150" y="4476750"/>
              <a:ext cx="1333500" cy="609600"/>
            </a:xfrm>
            <a:prstGeom prst="roundRect">
              <a:avLst>
                <a:gd name="adj" fmla="val 18750"/>
              </a:avLst>
            </a:prstGeom>
            <a:solidFill>
              <a:schemeClr val="accent6"/>
            </a:solidFill>
            <a:ln w="14288">
              <a:solidFill>
                <a:srgbClr val="26455F"/>
              </a:solidFill>
            </a:ln>
          </p:spPr>
        </p:sp>
        <p:sp>
          <p:nvSpPr>
            <p:cNvPr id="77" name="TextBox 77"/>
            <p:cNvSpPr txBox="1"/>
            <p:nvPr/>
          </p:nvSpPr>
          <p:spPr>
            <a:xfrm>
              <a:off x="5074487" y="4617568"/>
              <a:ext cx="442825" cy="319187"/>
            </a:xfrm>
            <a:prstGeom prst="rect">
              <a:avLst/>
            </a:prstGeom>
            <a:noFill/>
            <a:ln>
              <a:noFill/>
            </a:ln>
          </p:spPr>
          <p:txBody>
            <a:bodyPr wrap="none" lIns="0" tIns="0" rIns="0" bIns="0" anchor="t" anchorCtr="0">
              <a:spAutoFit/>
            </a:bodyPr>
            <a:lstStyle/>
            <a:p>
              <a:pPr algn="ctr"/>
              <a:r>
                <a:rPr lang="en-US" sz="1630" b="1" dirty="0">
                  <a:solidFill>
                    <a:srgbClr val="48C78E"/>
                  </a:solidFill>
                  <a:latin typeface="+mn-lt"/>
                  <a:ea typeface="+mn-ea"/>
                  <a:cs typeface="+mn-cs"/>
                </a:rPr>
                <a:t>66%</a:t>
              </a:r>
            </a:p>
          </p:txBody>
        </p:sp>
        <p:sp>
          <p:nvSpPr>
            <p:cNvPr id="78" name="TextBox 78"/>
            <p:cNvSpPr txBox="1"/>
            <p:nvPr/>
          </p:nvSpPr>
          <p:spPr>
            <a:xfrm>
              <a:off x="4995502" y="4863227"/>
              <a:ext cx="60079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edit thr.</a:t>
              </a:r>
            </a:p>
          </p:txBody>
        </p:sp>
        <p:sp>
          <p:nvSpPr>
            <p:cNvPr id="79" name="Rectangle 79"/>
            <p:cNvSpPr/>
            <p:nvPr/>
          </p:nvSpPr>
          <p:spPr>
            <a:xfrm>
              <a:off x="6115050" y="4476750"/>
              <a:ext cx="1714500" cy="609600"/>
            </a:xfrm>
            <a:prstGeom prst="roundRect">
              <a:avLst>
                <a:gd name="adj" fmla="val 12500"/>
              </a:avLst>
            </a:prstGeom>
            <a:solidFill>
              <a:srgbClr val="0C1E2E"/>
            </a:solidFill>
            <a:ln w="14288">
              <a:solidFill>
                <a:srgbClr val="26455F"/>
              </a:solidFill>
            </a:ln>
          </p:spPr>
        </p:sp>
        <p:sp>
          <p:nvSpPr>
            <p:cNvPr id="80" name="Line 80"/>
            <p:cNvSpPr/>
            <p:nvPr/>
          </p:nvSpPr>
          <p:spPr>
            <a:xfrm>
              <a:off x="6362700" y="4543425"/>
              <a:ext cx="9525" cy="476250"/>
            </a:xfrm>
            <a:custGeom>
              <a:avLst/>
              <a:gdLst/>
              <a:ahLst/>
              <a:cxnLst/>
              <a:rect l="l" t="t" r="r" b="b"/>
              <a:pathLst>
                <a:path w="9525" h="476250">
                  <a:moveTo>
                    <a:pt x="0" y="0"/>
                  </a:moveTo>
                  <a:lnTo>
                    <a:pt x="0" y="476250"/>
                  </a:lnTo>
                </a:path>
              </a:pathLst>
            </a:custGeom>
            <a:noFill/>
            <a:ln w="9525" cap="rnd">
              <a:solidFill>
                <a:srgbClr val="26455F"/>
              </a:solidFill>
            </a:ln>
          </p:spPr>
        </p:sp>
        <p:sp>
          <p:nvSpPr>
            <p:cNvPr id="81" name="TextBox 81"/>
            <p:cNvSpPr txBox="1"/>
            <p:nvPr/>
          </p:nvSpPr>
          <p:spPr>
            <a:xfrm>
              <a:off x="6207680" y="4632484"/>
              <a:ext cx="62390" cy="133350"/>
            </a:xfrm>
            <a:prstGeom prst="rect">
              <a:avLst/>
            </a:prstGeom>
            <a:noFill/>
            <a:ln>
              <a:noFill/>
            </a:ln>
          </p:spPr>
          <p:txBody>
            <a:bodyPr wrap="none" lIns="0" tIns="0" rIns="0" bIns="0" anchor="t" anchorCtr="0">
              <a:spAutoFit/>
            </a:bodyPr>
            <a:lstStyle/>
            <a:p>
              <a:pPr algn="ctr"/>
              <a:r>
                <a:rPr lang="en-US" sz="680" b="1" dirty="0">
                  <a:solidFill>
                    <a:srgbClr val="6E869C"/>
                  </a:solidFill>
                  <a:latin typeface="Consolas"/>
                  <a:ea typeface="Consolas"/>
                  <a:cs typeface="Consolas"/>
                </a:rPr>
                <a:t>1</a:t>
              </a:r>
            </a:p>
          </p:txBody>
        </p:sp>
        <p:sp>
          <p:nvSpPr>
            <p:cNvPr id="82" name="Rectangle 82"/>
            <p:cNvSpPr/>
            <p:nvPr/>
          </p:nvSpPr>
          <p:spPr>
            <a:xfrm>
              <a:off x="6448425" y="4657725"/>
              <a:ext cx="200025" cy="57150"/>
            </a:xfrm>
            <a:prstGeom prst="roundRect">
              <a:avLst>
                <a:gd name="adj" fmla="val 33333"/>
              </a:avLst>
            </a:prstGeom>
            <a:solidFill>
              <a:srgbClr val="3E5A74"/>
            </a:solidFill>
            <a:ln>
              <a:noFill/>
            </a:ln>
          </p:spPr>
        </p:sp>
        <p:sp>
          <p:nvSpPr>
            <p:cNvPr id="83" name="Rectangle 83"/>
            <p:cNvSpPr/>
            <p:nvPr/>
          </p:nvSpPr>
          <p:spPr>
            <a:xfrm>
              <a:off x="6686550" y="4629150"/>
              <a:ext cx="238125" cy="114300"/>
            </a:xfrm>
            <a:prstGeom prst="roundRect">
              <a:avLst>
                <a:gd name="adj" fmla="val 25000"/>
              </a:avLst>
            </a:prstGeom>
            <a:solidFill>
              <a:srgbClr val="48C78E">
                <a:alpha val="30000"/>
              </a:srgbClr>
            </a:solidFill>
            <a:ln>
              <a:noFill/>
            </a:ln>
          </p:spPr>
        </p:sp>
        <p:sp>
          <p:nvSpPr>
            <p:cNvPr id="84" name="Rectangle 84"/>
            <p:cNvSpPr/>
            <p:nvPr/>
          </p:nvSpPr>
          <p:spPr>
            <a:xfrm>
              <a:off x="6705600" y="4657725"/>
              <a:ext cx="200025" cy="57150"/>
            </a:xfrm>
            <a:prstGeom prst="roundRect">
              <a:avLst>
                <a:gd name="adj" fmla="val 33333"/>
              </a:avLst>
            </a:prstGeom>
            <a:solidFill>
              <a:srgbClr val="48C78E"/>
            </a:solidFill>
            <a:ln>
              <a:noFill/>
            </a:ln>
          </p:spPr>
        </p:sp>
        <p:sp>
          <p:nvSpPr>
            <p:cNvPr id="85" name="Rectangle 85"/>
            <p:cNvSpPr/>
            <p:nvPr/>
          </p:nvSpPr>
          <p:spPr>
            <a:xfrm>
              <a:off x="6962775" y="4657725"/>
              <a:ext cx="133350" cy="57150"/>
            </a:xfrm>
            <a:prstGeom prst="roundRect">
              <a:avLst>
                <a:gd name="adj" fmla="val 33333"/>
              </a:avLst>
            </a:prstGeom>
            <a:solidFill>
              <a:srgbClr val="3E5A74"/>
            </a:solidFill>
            <a:ln>
              <a:noFill/>
            </a:ln>
          </p:spPr>
        </p:sp>
        <p:sp>
          <p:nvSpPr>
            <p:cNvPr id="86" name="TextBox 86"/>
            <p:cNvSpPr txBox="1"/>
            <p:nvPr/>
          </p:nvSpPr>
          <p:spPr>
            <a:xfrm>
              <a:off x="6207680" y="4861084"/>
              <a:ext cx="62390" cy="133350"/>
            </a:xfrm>
            <a:prstGeom prst="rect">
              <a:avLst/>
            </a:prstGeom>
            <a:noFill/>
            <a:ln>
              <a:noFill/>
            </a:ln>
          </p:spPr>
          <p:txBody>
            <a:bodyPr wrap="none" lIns="0" tIns="0" rIns="0" bIns="0" anchor="t" anchorCtr="0">
              <a:spAutoFit/>
            </a:bodyPr>
            <a:lstStyle/>
            <a:p>
              <a:pPr algn="ctr"/>
              <a:r>
                <a:rPr lang="en-US" sz="680" b="1" dirty="0">
                  <a:solidFill>
                    <a:srgbClr val="6E869C"/>
                  </a:solidFill>
                  <a:latin typeface="Consolas"/>
                  <a:ea typeface="Consolas"/>
                  <a:cs typeface="Consolas"/>
                </a:rPr>
                <a:t>2</a:t>
              </a:r>
            </a:p>
          </p:txBody>
        </p:sp>
        <p:sp>
          <p:nvSpPr>
            <p:cNvPr id="87" name="Rectangle 87"/>
            <p:cNvSpPr/>
            <p:nvPr/>
          </p:nvSpPr>
          <p:spPr>
            <a:xfrm>
              <a:off x="6448425" y="4886325"/>
              <a:ext cx="133350" cy="57150"/>
            </a:xfrm>
            <a:prstGeom prst="roundRect">
              <a:avLst>
                <a:gd name="adj" fmla="val 33333"/>
              </a:avLst>
            </a:prstGeom>
            <a:solidFill>
              <a:srgbClr val="3E5A74"/>
            </a:solidFill>
            <a:ln>
              <a:noFill/>
            </a:ln>
          </p:spPr>
        </p:sp>
        <p:sp>
          <p:nvSpPr>
            <p:cNvPr id="88" name="Rectangle 88"/>
            <p:cNvSpPr/>
            <p:nvPr/>
          </p:nvSpPr>
          <p:spPr>
            <a:xfrm>
              <a:off x="6619875" y="4857750"/>
              <a:ext cx="304800" cy="114300"/>
            </a:xfrm>
            <a:prstGeom prst="roundRect">
              <a:avLst>
                <a:gd name="adj" fmla="val 25000"/>
              </a:avLst>
            </a:prstGeom>
            <a:solidFill>
              <a:srgbClr val="48C78E">
                <a:alpha val="30000"/>
              </a:srgbClr>
            </a:solidFill>
            <a:ln>
              <a:noFill/>
            </a:ln>
          </p:spPr>
        </p:sp>
        <p:sp>
          <p:nvSpPr>
            <p:cNvPr id="89" name="Rectangle 89"/>
            <p:cNvSpPr/>
            <p:nvPr/>
          </p:nvSpPr>
          <p:spPr>
            <a:xfrm>
              <a:off x="6638925" y="4886325"/>
              <a:ext cx="266700" cy="57150"/>
            </a:xfrm>
            <a:prstGeom prst="roundRect">
              <a:avLst>
                <a:gd name="adj" fmla="val 33333"/>
              </a:avLst>
            </a:prstGeom>
            <a:solidFill>
              <a:srgbClr val="48C78E"/>
            </a:solidFill>
            <a:ln>
              <a:noFill/>
            </a:ln>
          </p:spPr>
        </p:sp>
        <p:sp>
          <p:nvSpPr>
            <p:cNvPr id="90" name="Rectangle 90"/>
            <p:cNvSpPr/>
            <p:nvPr/>
          </p:nvSpPr>
          <p:spPr>
            <a:xfrm>
              <a:off x="6962775" y="4886325"/>
              <a:ext cx="133350" cy="57150"/>
            </a:xfrm>
            <a:prstGeom prst="roundRect">
              <a:avLst>
                <a:gd name="adj" fmla="val 33333"/>
              </a:avLst>
            </a:prstGeom>
            <a:solidFill>
              <a:srgbClr val="3E5A74"/>
            </a:solidFill>
            <a:ln>
              <a:noFill/>
            </a:ln>
          </p:spPr>
        </p:sp>
      </p:grpSp>
      <p:grpSp>
        <p:nvGrpSpPr>
          <p:cNvPr id="98" name="Group 98"/>
          <p:cNvGrpSpPr/>
          <p:nvPr/>
        </p:nvGrpSpPr>
        <p:grpSpPr>
          <a:xfrm>
            <a:off x="8115300" y="3486150"/>
            <a:ext cx="3467100" cy="1752600"/>
            <a:chOff x="8115300" y="3486150"/>
            <a:chExt cx="3467100" cy="1752600"/>
          </a:xfrm>
        </p:grpSpPr>
        <p:sp>
          <p:nvSpPr>
            <p:cNvPr id="92" name="Rectangle 92"/>
            <p:cNvSpPr/>
            <p:nvPr/>
          </p:nvSpPr>
          <p:spPr>
            <a:xfrm>
              <a:off x="8115300" y="3486150"/>
              <a:ext cx="3467100" cy="1752600"/>
            </a:xfrm>
            <a:prstGeom prst="roundRect">
              <a:avLst>
                <a:gd name="adj" fmla="val 7609"/>
              </a:avLst>
            </a:prstGeom>
            <a:solidFill>
              <a:schemeClr val="accent5"/>
            </a:solidFill>
            <a:ln w="14288">
              <a:solidFill>
                <a:srgbClr val="26455F"/>
              </a:solidFill>
            </a:ln>
          </p:spPr>
        </p:sp>
        <p:sp>
          <p:nvSpPr>
            <p:cNvPr id="93" name="Rectangle 93"/>
            <p:cNvSpPr/>
            <p:nvPr/>
          </p:nvSpPr>
          <p:spPr>
            <a:xfrm>
              <a:off x="8115300" y="3486150"/>
              <a:ext cx="57150" cy="1752600"/>
            </a:xfrm>
            <a:prstGeom prst="roundRect">
              <a:avLst>
                <a:gd name="adj" fmla="val 50000"/>
              </a:avLst>
            </a:prstGeom>
            <a:solidFill>
              <a:srgbClr val="34D3C0"/>
            </a:solidFill>
            <a:ln>
              <a:noFill/>
            </a:ln>
          </p:spPr>
        </p:sp>
        <p:sp>
          <p:nvSpPr>
            <p:cNvPr id="94" name="TextBox 94"/>
            <p:cNvSpPr txBox="1"/>
            <p:nvPr/>
          </p:nvSpPr>
          <p:spPr>
            <a:xfrm>
              <a:off x="8376094" y="3703558"/>
              <a:ext cx="1968280"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Same count of highlights</a:t>
              </a:r>
            </a:p>
          </p:txBody>
        </p:sp>
        <p:sp>
          <p:nvSpPr>
            <p:cNvPr id="95" name="TextBox 95"/>
            <p:cNvSpPr txBox="1"/>
            <p:nvPr/>
          </p:nvSpPr>
          <p:spPr>
            <a:xfrm>
              <a:off x="8376856" y="3986451"/>
              <a:ext cx="273400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Thresholds are chosen so every condition</a:t>
              </a:r>
            </a:p>
          </p:txBody>
        </p:sp>
        <p:sp>
          <p:nvSpPr>
            <p:cNvPr id="96" name="TextBox 96"/>
            <p:cNvSpPr txBox="1"/>
            <p:nvPr/>
          </p:nvSpPr>
          <p:spPr>
            <a:xfrm>
              <a:off x="8376856" y="4167426"/>
              <a:ext cx="289277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shows the same total number of highlights.</a:t>
              </a:r>
            </a:p>
          </p:txBody>
        </p:sp>
        <p:sp>
          <p:nvSpPr>
            <p:cNvPr id="97" name="TextBox 97"/>
            <p:cNvSpPr txBox="1"/>
            <p:nvPr/>
          </p:nvSpPr>
          <p:spPr>
            <a:xfrm>
              <a:off x="8377123" y="4735068"/>
              <a:ext cx="1862017" cy="187757"/>
            </a:xfrm>
            <a:prstGeom prst="rect">
              <a:avLst/>
            </a:prstGeom>
            <a:noFill/>
            <a:ln>
              <a:noFill/>
            </a:ln>
          </p:spPr>
          <p:txBody>
            <a:bodyPr wrap="none" lIns="0" tIns="0" rIns="0" bIns="0" anchor="t" anchorCtr="0">
              <a:spAutoFit/>
            </a:bodyPr>
            <a:lstStyle/>
            <a:p>
              <a:pPr algn="l"/>
              <a:r>
                <a:rPr lang="en-US" sz="960" b="1" dirty="0">
                  <a:solidFill>
                    <a:srgbClr val="34D3C0"/>
                  </a:solidFill>
                  <a:latin typeface="Consolas"/>
                  <a:ea typeface="Consolas"/>
                  <a:cs typeface="Consolas"/>
                </a:rPr>
                <a:t>which tokens, not how many</a:t>
              </a:r>
            </a:p>
          </p:txBody>
        </p:sp>
      </p:grpSp>
      <p:sp>
        <p:nvSpPr>
          <p:cNvPr id="99" name="cue_s05_c1_under_hood_all_three_tools" title="cue_s05_c1_under_hood_all_three_tools" descr="cue_s05_c1_under_hood_all_three_tools Under the hood, all three tools used the very same Codex model, so any difference in behavior comes purely from how the completion was displayed."/>
          <p:cNvSpPr/>
          <p:nvPr/>
        </p:nvSpPr>
        <p:spPr>
          <a:xfrm>
            <a:off x="609600" y="1504645"/>
            <a:ext cx="10972800" cy="1809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cue_s05_c2_generation_probability_tool_highligh" title="cue_s05_c2_generation_probability_tool_highligh" descr="cue_s05_c2_generation_probability_tool_highligh The generation-probability tool highlighted tokens the model was least confident in, at a seventy-one percent threshold."/>
          <p:cNvSpPr/>
          <p:nvPr/>
        </p:nvSpPr>
        <p:spPr>
          <a:xfrm>
            <a:off x="609600" y="3485921"/>
            <a:ext cx="3600297"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cue_s05_c3_edit_model_tool_highlighted_tokens_m" title="cue_s05_c3_edit_model_tool_highlighted_tokens_m" descr="cue_s05_c3_edit_model_tool_highlighted_tokens_m The edit-model tool highlighted tokens most likely to be edited, at a sixty-six percent threshold, using a model trained on nine coders who had previously edited Codex output until their tasks passed."/>
          <p:cNvSpPr/>
          <p:nvPr/>
        </p:nvSpPr>
        <p:spPr>
          <a:xfrm>
            <a:off x="4362297" y="3485921"/>
            <a:ext cx="3600297"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cue_s05_c4_crucially_thresholds_chosen_every_co" title="cue_s05_c4_crucially_thresholds_chosen_every_co" descr="cue_s05_c4_crucially_thresholds_chosen_every_co Crucially, the thresholds were chosen so that every condition showed the same total number of highlights, so the comparison is about which tokens get highlighted, not how many."/>
          <p:cNvSpPr/>
          <p:nvPr/>
        </p:nvSpPr>
        <p:spPr>
          <a:xfrm>
            <a:off x="8114995" y="3485921"/>
            <a:ext cx="3467404"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2595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STUDY DESIGN</a:t>
            </a:r>
          </a:p>
        </p:txBody>
      </p:sp>
      <p:sp>
        <p:nvSpPr>
          <p:cNvPr id="4" name="TextBox 4"/>
          <p:cNvSpPr txBox="1"/>
          <p:nvPr/>
        </p:nvSpPr>
        <p:spPr>
          <a:xfrm>
            <a:off x="598170" y="804862"/>
            <a:ext cx="633970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30 Python programmers, LeetCode tasks</a:t>
            </a:r>
          </a:p>
        </p:txBody>
      </p:sp>
      <p:grpSp>
        <p:nvGrpSpPr>
          <p:cNvPr id="15" name="Group 15"/>
          <p:cNvGrpSpPr/>
          <p:nvPr/>
        </p:nvGrpSpPr>
        <p:grpSpPr>
          <a:xfrm>
            <a:off x="609600" y="1504950"/>
            <a:ext cx="10972800" cy="914400"/>
            <a:chOff x="609600" y="1504950"/>
            <a:chExt cx="10972800" cy="914400"/>
          </a:xfrm>
        </p:grpSpPr>
        <p:sp>
          <p:nvSpPr>
            <p:cNvPr id="5" name="Rectangle 5"/>
            <p:cNvSpPr/>
            <p:nvPr/>
          </p:nvSpPr>
          <p:spPr>
            <a:xfrm>
              <a:off x="609600" y="1504950"/>
              <a:ext cx="10972800" cy="914400"/>
            </a:xfrm>
            <a:prstGeom prst="roundRect">
              <a:avLst>
                <a:gd name="adj" fmla="val 14583"/>
              </a:avLst>
            </a:prstGeom>
            <a:solidFill>
              <a:schemeClr val="accent5"/>
            </a:solidFill>
            <a:ln w="14288">
              <a:solidFill>
                <a:srgbClr val="26455F"/>
              </a:solidFill>
            </a:ln>
          </p:spPr>
        </p:sp>
        <p:sp>
          <p:nvSpPr>
            <p:cNvPr id="6" name="Rectangle 6"/>
            <p:cNvSpPr/>
            <p:nvPr/>
          </p:nvSpPr>
          <p:spPr>
            <a:xfrm>
              <a:off x="609600" y="1504950"/>
              <a:ext cx="57150" cy="914400"/>
            </a:xfrm>
            <a:prstGeom prst="roundRect">
              <a:avLst>
                <a:gd name="adj" fmla="val 50000"/>
              </a:avLst>
            </a:prstGeom>
            <a:solidFill>
              <a:srgbClr val="34D3C0"/>
            </a:solidFill>
            <a:ln>
              <a:noFill/>
            </a:ln>
          </p:spPr>
        </p:sp>
        <p:sp>
          <p:nvSpPr>
            <p:cNvPr id="7" name="TextBox 7"/>
            <p:cNvSpPr txBox="1"/>
            <p:nvPr/>
          </p:nvSpPr>
          <p:spPr>
            <a:xfrm>
              <a:off x="870014" y="1714262"/>
              <a:ext cx="5198280"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Experienced Python programmers at a large US tech company</a:t>
              </a:r>
            </a:p>
          </p:txBody>
        </p:sp>
        <p:sp>
          <p:nvSpPr>
            <p:cNvPr id="8" name="TextBox 8"/>
            <p:cNvSpPr txBox="1"/>
            <p:nvPr/>
          </p:nvSpPr>
          <p:spPr>
            <a:xfrm>
              <a:off x="870966" y="2020252"/>
              <a:ext cx="508280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Each participant was paid fifty dollars for roughly an hour of their time.</a:t>
              </a:r>
            </a:p>
          </p:txBody>
        </p:sp>
        <p:sp>
          <p:nvSpPr>
            <p:cNvPr id="9" name="Rectangle 9"/>
            <p:cNvSpPr/>
            <p:nvPr/>
          </p:nvSpPr>
          <p:spPr>
            <a:xfrm>
              <a:off x="9334500" y="1600200"/>
              <a:ext cx="1047750" cy="723900"/>
            </a:xfrm>
            <a:prstGeom prst="roundRect">
              <a:avLst>
                <a:gd name="adj" fmla="val 15789"/>
              </a:avLst>
            </a:prstGeom>
            <a:solidFill>
              <a:schemeClr val="accent6"/>
            </a:solidFill>
            <a:ln w="14288">
              <a:solidFill>
                <a:srgbClr val="26455F"/>
              </a:solidFill>
            </a:ln>
          </p:spPr>
        </p:sp>
        <p:sp>
          <p:nvSpPr>
            <p:cNvPr id="10" name="TextBox 10"/>
            <p:cNvSpPr txBox="1"/>
            <p:nvPr/>
          </p:nvSpPr>
          <p:spPr>
            <a:xfrm>
              <a:off x="9697708" y="1767421"/>
              <a:ext cx="321333" cy="379034"/>
            </a:xfrm>
            <a:prstGeom prst="rect">
              <a:avLst/>
            </a:prstGeom>
            <a:noFill/>
            <a:ln>
              <a:noFill/>
            </a:ln>
          </p:spPr>
          <p:txBody>
            <a:bodyPr wrap="none" lIns="0" tIns="0" rIns="0" bIns="0" anchor="t" anchorCtr="0">
              <a:spAutoFit/>
            </a:bodyPr>
            <a:lstStyle/>
            <a:p>
              <a:pPr algn="ctr"/>
              <a:r>
                <a:rPr lang="en-US" sz="1940" b="1" dirty="0">
                  <a:solidFill>
                    <a:srgbClr val="34D3C0"/>
                  </a:solidFill>
                  <a:latin typeface="+mn-lt"/>
                  <a:ea typeface="+mn-ea"/>
                  <a:cs typeface="+mn-cs"/>
                </a:rPr>
                <a:t>30</a:t>
              </a:r>
            </a:p>
          </p:txBody>
        </p:sp>
        <p:sp>
          <p:nvSpPr>
            <p:cNvPr id="11" name="TextBox 11"/>
            <p:cNvSpPr txBox="1"/>
            <p:nvPr/>
          </p:nvSpPr>
          <p:spPr>
            <a:xfrm>
              <a:off x="9448359" y="2078117"/>
              <a:ext cx="82003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participants</a:t>
              </a:r>
            </a:p>
          </p:txBody>
        </p:sp>
        <p:sp>
          <p:nvSpPr>
            <p:cNvPr id="12" name="Rectangle 12"/>
            <p:cNvSpPr/>
            <p:nvPr/>
          </p:nvSpPr>
          <p:spPr>
            <a:xfrm>
              <a:off x="10477500" y="1600200"/>
              <a:ext cx="1047750" cy="723900"/>
            </a:xfrm>
            <a:prstGeom prst="roundRect">
              <a:avLst>
                <a:gd name="adj" fmla="val 15789"/>
              </a:avLst>
            </a:prstGeom>
            <a:solidFill>
              <a:schemeClr val="accent6"/>
            </a:solidFill>
            <a:ln w="14288">
              <a:solidFill>
                <a:srgbClr val="26455F"/>
              </a:solidFill>
            </a:ln>
          </p:spPr>
        </p:sp>
        <p:sp>
          <p:nvSpPr>
            <p:cNvPr id="13" name="TextBox 13"/>
            <p:cNvSpPr txBox="1"/>
            <p:nvPr/>
          </p:nvSpPr>
          <p:spPr>
            <a:xfrm>
              <a:off x="10765298" y="1767421"/>
              <a:ext cx="472155" cy="379034"/>
            </a:xfrm>
            <a:prstGeom prst="rect">
              <a:avLst/>
            </a:prstGeom>
            <a:noFill/>
            <a:ln>
              <a:noFill/>
            </a:ln>
          </p:spPr>
          <p:txBody>
            <a:bodyPr wrap="none" lIns="0" tIns="0" rIns="0" bIns="0" anchor="t" anchorCtr="0">
              <a:spAutoFit/>
            </a:bodyPr>
            <a:lstStyle/>
            <a:p>
              <a:pPr algn="ctr"/>
              <a:r>
                <a:rPr lang="en-US" sz="1940" b="1" dirty="0">
                  <a:solidFill>
                    <a:schemeClr val="accent2"/>
                  </a:solidFill>
                  <a:latin typeface="+mn-lt"/>
                  <a:ea typeface="+mn-ea"/>
                  <a:cs typeface="+mn-cs"/>
                </a:rPr>
                <a:t>$50</a:t>
              </a:r>
            </a:p>
          </p:txBody>
        </p:sp>
        <p:sp>
          <p:nvSpPr>
            <p:cNvPr id="14" name="TextBox 14"/>
            <p:cNvSpPr txBox="1"/>
            <p:nvPr/>
          </p:nvSpPr>
          <p:spPr>
            <a:xfrm>
              <a:off x="10757447" y="2078117"/>
              <a:ext cx="48785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~1 hour</a:t>
              </a:r>
            </a:p>
          </p:txBody>
        </p:sp>
      </p:grpSp>
      <p:grpSp>
        <p:nvGrpSpPr>
          <p:cNvPr id="30" name="Group 30"/>
          <p:cNvGrpSpPr/>
          <p:nvPr/>
        </p:nvGrpSpPr>
        <p:grpSpPr>
          <a:xfrm>
            <a:off x="609600" y="2571750"/>
            <a:ext cx="5334000" cy="1447800"/>
            <a:chOff x="609600" y="2571750"/>
            <a:chExt cx="5334000" cy="1447800"/>
          </a:xfrm>
        </p:grpSpPr>
        <p:sp>
          <p:nvSpPr>
            <p:cNvPr id="16" name="Rectangle 16"/>
            <p:cNvSpPr/>
            <p:nvPr/>
          </p:nvSpPr>
          <p:spPr>
            <a:xfrm>
              <a:off x="609600" y="2571750"/>
              <a:ext cx="5334000" cy="1447800"/>
            </a:xfrm>
            <a:prstGeom prst="roundRect">
              <a:avLst>
                <a:gd name="adj" fmla="val 9211"/>
              </a:avLst>
            </a:prstGeom>
            <a:solidFill>
              <a:schemeClr val="accent5"/>
            </a:solidFill>
            <a:ln w="14288">
              <a:solidFill>
                <a:srgbClr val="26455F"/>
              </a:solidFill>
            </a:ln>
          </p:spPr>
        </p:sp>
        <p:sp>
          <p:nvSpPr>
            <p:cNvPr id="17" name="Rectangle 17"/>
            <p:cNvSpPr/>
            <p:nvPr/>
          </p:nvSpPr>
          <p:spPr>
            <a:xfrm>
              <a:off x="609600" y="2571750"/>
              <a:ext cx="57150" cy="1447800"/>
            </a:xfrm>
            <a:prstGeom prst="roundRect">
              <a:avLst>
                <a:gd name="adj" fmla="val 50000"/>
              </a:avLst>
            </a:prstGeom>
            <a:solidFill>
              <a:schemeClr val="accent2"/>
            </a:solidFill>
            <a:ln>
              <a:noFill/>
            </a:ln>
          </p:spPr>
        </p:sp>
        <p:sp>
          <p:nvSpPr>
            <p:cNvPr id="18" name="TextBox 18"/>
            <p:cNvSpPr txBox="1"/>
            <p:nvPr/>
          </p:nvSpPr>
          <p:spPr>
            <a:xfrm>
              <a:off x="870014" y="2781062"/>
              <a:ext cx="2588974"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Three LeetCode easy problems</a:t>
              </a:r>
            </a:p>
          </p:txBody>
        </p:sp>
        <p:sp>
          <p:nvSpPr>
            <p:cNvPr id="19" name="TextBox 19"/>
            <p:cNvSpPr txBox="1"/>
            <p:nvPr/>
          </p:nvSpPr>
          <p:spPr>
            <a:xfrm>
              <a:off x="871156" y="3091101"/>
              <a:ext cx="3713220"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A ten-minute cap per task; participants could run their</a:t>
              </a:r>
            </a:p>
          </p:txBody>
        </p:sp>
        <p:sp>
          <p:nvSpPr>
            <p:cNvPr id="20" name="TextBox 20"/>
            <p:cNvSpPr txBox="1"/>
            <p:nvPr/>
          </p:nvSpPr>
          <p:spPr>
            <a:xfrm>
              <a:off x="871156" y="3281601"/>
              <a:ext cx="3151106"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code and a set of provided unit tests to debug.</a:t>
              </a:r>
            </a:p>
          </p:txBody>
        </p:sp>
        <p:sp>
          <p:nvSpPr>
            <p:cNvPr id="21" name="Rectangle 21"/>
            <p:cNvSpPr/>
            <p:nvPr/>
          </p:nvSpPr>
          <p:spPr>
            <a:xfrm>
              <a:off x="876300" y="3619500"/>
              <a:ext cx="1504950" cy="304800"/>
            </a:xfrm>
            <a:prstGeom prst="roundRect">
              <a:avLst>
                <a:gd name="adj" fmla="val 25000"/>
              </a:avLst>
            </a:prstGeom>
            <a:solidFill>
              <a:schemeClr val="accent6"/>
            </a:solidFill>
            <a:ln w="14288">
              <a:solidFill>
                <a:srgbClr val="26455F"/>
              </a:solidFill>
            </a:ln>
          </p:spPr>
        </p:sp>
        <p:sp>
          <p:nvSpPr>
            <p:cNvPr id="22" name="Ellipse 22"/>
            <p:cNvSpPr/>
            <p:nvPr/>
          </p:nvSpPr>
          <p:spPr>
            <a:xfrm>
              <a:off x="1000125" y="3724275"/>
              <a:ext cx="95250" cy="95250"/>
            </a:xfrm>
            <a:prstGeom prst="ellipse">
              <a:avLst/>
            </a:prstGeom>
            <a:solidFill>
              <a:schemeClr val="accent2"/>
            </a:solidFill>
            <a:ln>
              <a:noFill/>
            </a:ln>
          </p:spPr>
        </p:sp>
        <p:sp>
          <p:nvSpPr>
            <p:cNvPr id="23" name="TextBox 23"/>
            <p:cNvSpPr txBox="1"/>
            <p:nvPr/>
          </p:nvSpPr>
          <p:spPr>
            <a:xfrm>
              <a:off x="1194626" y="3711654"/>
              <a:ext cx="950892"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3 easy tasks</a:t>
              </a:r>
            </a:p>
          </p:txBody>
        </p:sp>
        <p:sp>
          <p:nvSpPr>
            <p:cNvPr id="24" name="Rectangle 24"/>
            <p:cNvSpPr/>
            <p:nvPr/>
          </p:nvSpPr>
          <p:spPr>
            <a:xfrm>
              <a:off x="2533650" y="3619500"/>
              <a:ext cx="1428750" cy="304800"/>
            </a:xfrm>
            <a:prstGeom prst="roundRect">
              <a:avLst>
                <a:gd name="adj" fmla="val 25000"/>
              </a:avLst>
            </a:prstGeom>
            <a:solidFill>
              <a:schemeClr val="accent6"/>
            </a:solidFill>
            <a:ln w="14288">
              <a:solidFill>
                <a:srgbClr val="26455F"/>
              </a:solidFill>
            </a:ln>
          </p:spPr>
        </p:sp>
        <p:sp>
          <p:nvSpPr>
            <p:cNvPr id="25" name="Ellipse 25"/>
            <p:cNvSpPr/>
            <p:nvPr/>
          </p:nvSpPr>
          <p:spPr>
            <a:xfrm>
              <a:off x="2657475" y="3724275"/>
              <a:ext cx="95250" cy="95250"/>
            </a:xfrm>
            <a:prstGeom prst="ellipse">
              <a:avLst/>
            </a:prstGeom>
            <a:solidFill>
              <a:schemeClr val="dk2"/>
            </a:solidFill>
            <a:ln>
              <a:noFill/>
            </a:ln>
          </p:spPr>
        </p:sp>
        <p:sp>
          <p:nvSpPr>
            <p:cNvPr id="26" name="TextBox 26"/>
            <p:cNvSpPr txBox="1"/>
            <p:nvPr/>
          </p:nvSpPr>
          <p:spPr>
            <a:xfrm>
              <a:off x="2851976" y="3711654"/>
              <a:ext cx="812226"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10-min cap</a:t>
              </a:r>
            </a:p>
          </p:txBody>
        </p:sp>
        <p:sp>
          <p:nvSpPr>
            <p:cNvPr id="27" name="Rectangle 27"/>
            <p:cNvSpPr/>
            <p:nvPr/>
          </p:nvSpPr>
          <p:spPr>
            <a:xfrm>
              <a:off x="4114800" y="3619500"/>
              <a:ext cx="1504950" cy="304800"/>
            </a:xfrm>
            <a:prstGeom prst="roundRect">
              <a:avLst>
                <a:gd name="adj" fmla="val 25000"/>
              </a:avLst>
            </a:prstGeom>
            <a:solidFill>
              <a:schemeClr val="accent6"/>
            </a:solidFill>
            <a:ln w="14288">
              <a:solidFill>
                <a:srgbClr val="26455F"/>
              </a:solidFill>
            </a:ln>
          </p:spPr>
        </p:sp>
        <p:sp>
          <p:nvSpPr>
            <p:cNvPr id="28" name="Ellipse 28"/>
            <p:cNvSpPr/>
            <p:nvPr/>
          </p:nvSpPr>
          <p:spPr>
            <a:xfrm>
              <a:off x="4238625" y="3724275"/>
              <a:ext cx="95250" cy="95250"/>
            </a:xfrm>
            <a:prstGeom prst="ellipse">
              <a:avLst/>
            </a:prstGeom>
            <a:solidFill>
              <a:srgbClr val="34D3C0"/>
            </a:solidFill>
            <a:ln>
              <a:noFill/>
            </a:ln>
          </p:spPr>
        </p:sp>
        <p:sp>
          <p:nvSpPr>
            <p:cNvPr id="29" name="TextBox 29"/>
            <p:cNvSpPr txBox="1"/>
            <p:nvPr/>
          </p:nvSpPr>
          <p:spPr>
            <a:xfrm>
              <a:off x="4433126" y="3711654"/>
              <a:ext cx="1081854"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run unit tests</a:t>
              </a:r>
            </a:p>
          </p:txBody>
        </p:sp>
      </p:grpSp>
      <p:grpSp>
        <p:nvGrpSpPr>
          <p:cNvPr id="39" name="Group 39"/>
          <p:cNvGrpSpPr/>
          <p:nvPr/>
        </p:nvGrpSpPr>
        <p:grpSpPr>
          <a:xfrm>
            <a:off x="6248400" y="2571750"/>
            <a:ext cx="5334000" cy="1447800"/>
            <a:chOff x="6248400" y="2571750"/>
            <a:chExt cx="5334000" cy="1447800"/>
          </a:xfrm>
        </p:grpSpPr>
        <p:sp>
          <p:nvSpPr>
            <p:cNvPr id="31" name="Rectangle 31"/>
            <p:cNvSpPr/>
            <p:nvPr/>
          </p:nvSpPr>
          <p:spPr>
            <a:xfrm>
              <a:off x="6248400" y="2571750"/>
              <a:ext cx="5334000" cy="1447800"/>
            </a:xfrm>
            <a:prstGeom prst="roundRect">
              <a:avLst>
                <a:gd name="adj" fmla="val 9211"/>
              </a:avLst>
            </a:prstGeom>
            <a:solidFill>
              <a:srgbClr val="0F2E2B"/>
            </a:solidFill>
            <a:ln w="14288">
              <a:solidFill>
                <a:srgbClr val="48C78E"/>
              </a:solidFill>
            </a:ln>
          </p:spPr>
        </p:sp>
        <p:sp>
          <p:nvSpPr>
            <p:cNvPr id="32" name="Rectangle 32"/>
            <p:cNvSpPr/>
            <p:nvPr/>
          </p:nvSpPr>
          <p:spPr>
            <a:xfrm>
              <a:off x="6248400" y="2571750"/>
              <a:ext cx="57150" cy="1447800"/>
            </a:xfrm>
            <a:prstGeom prst="roundRect">
              <a:avLst>
                <a:gd name="adj" fmla="val 50000"/>
              </a:avLst>
            </a:prstGeom>
            <a:solidFill>
              <a:srgbClr val="48C78E"/>
            </a:solidFill>
            <a:ln>
              <a:noFill/>
            </a:ln>
          </p:spPr>
        </p:sp>
        <p:sp>
          <p:nvSpPr>
            <p:cNvPr id="33" name="TextBox 33"/>
            <p:cNvSpPr txBox="1"/>
            <p:nvPr/>
          </p:nvSpPr>
          <p:spPr>
            <a:xfrm>
              <a:off x="6508814" y="2781062"/>
              <a:ext cx="2866554"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Randomized for a fair comparison</a:t>
              </a:r>
            </a:p>
          </p:txBody>
        </p:sp>
        <p:sp>
          <p:nvSpPr>
            <p:cNvPr id="34" name="TextBox 34"/>
            <p:cNvSpPr txBox="1"/>
            <p:nvPr/>
          </p:nvSpPr>
          <p:spPr>
            <a:xfrm>
              <a:off x="6509956" y="3091101"/>
              <a:ext cx="3862865"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Both task order and which tool went with which task were</a:t>
              </a:r>
            </a:p>
          </p:txBody>
        </p:sp>
        <p:sp>
          <p:nvSpPr>
            <p:cNvPr id="35" name="TextBox 35"/>
            <p:cNvSpPr txBox="1"/>
            <p:nvPr/>
          </p:nvSpPr>
          <p:spPr>
            <a:xfrm>
              <a:off x="6509956" y="3281601"/>
              <a:ext cx="2185746"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randomized across participants.</a:t>
              </a:r>
            </a:p>
          </p:txBody>
        </p:sp>
        <p:sp>
          <p:nvSpPr>
            <p:cNvPr id="36" name="Rectangle 36"/>
            <p:cNvSpPr/>
            <p:nvPr/>
          </p:nvSpPr>
          <p:spPr>
            <a:xfrm>
              <a:off x="6515100" y="3695700"/>
              <a:ext cx="4800600" cy="266700"/>
            </a:xfrm>
            <a:prstGeom prst="roundRect">
              <a:avLst>
                <a:gd name="adj" fmla="val 28571"/>
              </a:avLst>
            </a:prstGeom>
            <a:solidFill>
              <a:schemeClr val="accent6"/>
            </a:solidFill>
            <a:ln w="14288">
              <a:solidFill>
                <a:srgbClr val="26455F"/>
              </a:solidFill>
            </a:ln>
          </p:spPr>
        </p:sp>
        <p:sp>
          <p:nvSpPr>
            <p:cNvPr id="37" name="Ellipse 37"/>
            <p:cNvSpPr/>
            <p:nvPr/>
          </p:nvSpPr>
          <p:spPr>
            <a:xfrm>
              <a:off x="6638925" y="3781425"/>
              <a:ext cx="95250" cy="95250"/>
            </a:xfrm>
            <a:prstGeom prst="ellipse">
              <a:avLst/>
            </a:prstGeom>
            <a:solidFill>
              <a:srgbClr val="48C78E"/>
            </a:solidFill>
            <a:ln>
              <a:noFill/>
            </a:ln>
          </p:spPr>
        </p:sp>
        <p:sp>
          <p:nvSpPr>
            <p:cNvPr id="38" name="TextBox 38"/>
            <p:cNvSpPr txBox="1"/>
            <p:nvPr/>
          </p:nvSpPr>
          <p:spPr>
            <a:xfrm>
              <a:off x="6833426" y="3768804"/>
              <a:ext cx="3169537"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task order + tool-task pairing randomized</a:t>
              </a:r>
            </a:p>
          </p:txBody>
        </p:sp>
      </p:grpSp>
      <p:grpSp>
        <p:nvGrpSpPr>
          <p:cNvPr id="48" name="Group 48"/>
          <p:cNvGrpSpPr/>
          <p:nvPr/>
        </p:nvGrpSpPr>
        <p:grpSpPr>
          <a:xfrm>
            <a:off x="609600" y="4171950"/>
            <a:ext cx="10972800" cy="1066800"/>
            <a:chOff x="609600" y="4171950"/>
            <a:chExt cx="10972800" cy="1066800"/>
          </a:xfrm>
        </p:grpSpPr>
        <p:sp>
          <p:nvSpPr>
            <p:cNvPr id="40" name="Rectangle 40"/>
            <p:cNvSpPr/>
            <p:nvPr/>
          </p:nvSpPr>
          <p:spPr>
            <a:xfrm>
              <a:off x="609600" y="4171950"/>
              <a:ext cx="10972800" cy="1066800"/>
            </a:xfrm>
            <a:prstGeom prst="roundRect">
              <a:avLst>
                <a:gd name="adj" fmla="val 12500"/>
              </a:avLst>
            </a:prstGeom>
            <a:solidFill>
              <a:srgbClr val="2A2417"/>
            </a:solidFill>
            <a:ln w="14288">
              <a:solidFill>
                <a:srgbClr val="F2C14E"/>
              </a:solidFill>
            </a:ln>
          </p:spPr>
        </p:sp>
        <p:sp>
          <p:nvSpPr>
            <p:cNvPr id="41" name="Rectangle 41"/>
            <p:cNvSpPr/>
            <p:nvPr/>
          </p:nvSpPr>
          <p:spPr>
            <a:xfrm>
              <a:off x="609600" y="4171950"/>
              <a:ext cx="57150" cy="1066800"/>
            </a:xfrm>
            <a:prstGeom prst="roundRect">
              <a:avLst>
                <a:gd name="adj" fmla="val 50000"/>
              </a:avLst>
            </a:prstGeom>
            <a:solidFill>
              <a:srgbClr val="F2C14E"/>
            </a:solidFill>
            <a:ln>
              <a:noFill/>
            </a:ln>
          </p:spPr>
        </p:sp>
        <p:sp>
          <p:nvSpPr>
            <p:cNvPr id="42" name="TextBox 42"/>
            <p:cNvSpPr txBox="1"/>
            <p:nvPr/>
          </p:nvSpPr>
          <p:spPr>
            <a:xfrm>
              <a:off x="870204" y="4385310"/>
              <a:ext cx="3868182"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The edit model was trained earlier, separately</a:t>
              </a:r>
            </a:p>
          </p:txBody>
        </p:sp>
        <p:sp>
          <p:nvSpPr>
            <p:cNvPr id="43" name="TextBox 43"/>
            <p:cNvSpPr txBox="1"/>
            <p:nvPr/>
          </p:nvSpPr>
          <p:spPr>
            <a:xfrm>
              <a:off x="870966" y="4687252"/>
              <a:ext cx="605584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It learned from a separate group of nine coders who had previously edited Codex output</a:t>
              </a:r>
            </a:p>
          </p:txBody>
        </p:sp>
        <p:sp>
          <p:nvSpPr>
            <p:cNvPr id="44" name="TextBox 44"/>
            <p:cNvSpPr txBox="1"/>
            <p:nvPr/>
          </p:nvSpPr>
          <p:spPr>
            <a:xfrm>
              <a:off x="870966" y="4896802"/>
              <a:ext cx="244897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until their tasks passed the tests.</a:t>
              </a:r>
            </a:p>
          </p:txBody>
        </p:sp>
        <p:sp>
          <p:nvSpPr>
            <p:cNvPr id="45" name="Rectangle 45"/>
            <p:cNvSpPr/>
            <p:nvPr/>
          </p:nvSpPr>
          <p:spPr>
            <a:xfrm>
              <a:off x="9334500" y="4305300"/>
              <a:ext cx="2190750" cy="800100"/>
            </a:xfrm>
            <a:prstGeom prst="roundRect">
              <a:avLst>
                <a:gd name="adj" fmla="val 14286"/>
              </a:avLst>
            </a:prstGeom>
            <a:solidFill>
              <a:schemeClr val="accent6"/>
            </a:solidFill>
            <a:ln w="14288">
              <a:solidFill>
                <a:srgbClr val="26455F"/>
              </a:solidFill>
            </a:ln>
          </p:spPr>
        </p:sp>
        <p:sp>
          <p:nvSpPr>
            <p:cNvPr id="46" name="TextBox 46"/>
            <p:cNvSpPr txBox="1"/>
            <p:nvPr/>
          </p:nvSpPr>
          <p:spPr>
            <a:xfrm>
              <a:off x="9791325" y="4490123"/>
              <a:ext cx="1277101" cy="418932"/>
            </a:xfrm>
            <a:prstGeom prst="rect">
              <a:avLst/>
            </a:prstGeom>
            <a:noFill/>
            <a:ln>
              <a:noFill/>
            </a:ln>
          </p:spPr>
          <p:txBody>
            <a:bodyPr wrap="none" lIns="0" tIns="0" rIns="0" bIns="0" anchor="t" anchorCtr="0">
              <a:spAutoFit/>
            </a:bodyPr>
            <a:lstStyle/>
            <a:p>
              <a:pPr algn="ctr"/>
              <a:r>
                <a:rPr lang="en-US" sz="2140" b="1" dirty="0">
                  <a:solidFill>
                    <a:srgbClr val="F2C14E"/>
                  </a:solidFill>
                  <a:latin typeface="+mn-lt"/>
                  <a:ea typeface="+mn-ea"/>
                  <a:cs typeface="+mn-cs"/>
                </a:rPr>
                <a:t>9 coders</a:t>
              </a:r>
            </a:p>
          </p:txBody>
        </p:sp>
        <p:sp>
          <p:nvSpPr>
            <p:cNvPr id="47" name="TextBox 47"/>
            <p:cNvSpPr txBox="1"/>
            <p:nvPr/>
          </p:nvSpPr>
          <p:spPr>
            <a:xfrm>
              <a:off x="9930172" y="4844177"/>
              <a:ext cx="99940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separate group</a:t>
              </a:r>
            </a:p>
          </p:txBody>
        </p:sp>
      </p:grpSp>
      <p:sp>
        <p:nvSpPr>
          <p:cNvPr id="49" name="cue_s06_c1_thirty_participants_took_part_all" title="cue_s06_c1_thirty_participants_took_part_all" descr="cue_s06_c1_thirty_participants_took_part_all Thirty participants took part, all experienced Python programmers at a large US technology company, each paid fifty dollars for roughly an hour of their time."/>
          <p:cNvSpPr/>
          <p:nvPr/>
        </p:nvSpPr>
        <p:spPr>
          <a:xfrm>
            <a:off x="609600" y="1504645"/>
            <a:ext cx="10972800"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6_c2_every_person_solved_three_coding" title="cue_s06_c2_every_person_solved_three_coding" descr="cue_s06_c2_every_person_solved_three_coding Every person solved three coding problems drawn from LeetCode's easy tier, with a ten-minute cap per task, and could run their code and a set of provided unit tests to debug along the way."/>
          <p:cNvSpPr/>
          <p:nvPr/>
        </p:nvSpPr>
        <p:spPr>
          <a:xfrm>
            <a:off x="609600" y="2571750"/>
            <a:ext cx="5334000"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6_c3_task_order_which_tool_went" title="cue_s06_c3_task_order_which_tool_went" descr="cue_s06_c3_task_order_which_tool_went Task order and which tool went with which task were randomized to keep the comparison fair."/>
          <p:cNvSpPr/>
          <p:nvPr/>
        </p:nvSpPr>
        <p:spPr>
          <a:xfrm>
            <a:off x="6248399" y="2571750"/>
            <a:ext cx="5334000"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6_c4_edit_itself_trained_earlier_separate" title="cue_s06_c4_edit_itself_trained_earlier_separate" descr="cue_s06_c4_edit_itself_trained_earlier_separate The edit model itself was trained earlier, on a separate group of nine coders."/>
          <p:cNvSpPr/>
          <p:nvPr/>
        </p:nvSpPr>
        <p:spPr>
          <a:xfrm>
            <a:off x="609600" y="4171721"/>
            <a:ext cx="10972800" cy="10671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726904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Edit highlights are fastest; gen-prob is worst</a:t>
            </a:r>
          </a:p>
        </p:txBody>
      </p:sp>
      <p:grpSp>
        <p:nvGrpSpPr>
          <p:cNvPr id="16" name="Group 16"/>
          <p:cNvGrpSpPr/>
          <p:nvPr/>
        </p:nvGrpSpPr>
        <p:grpSpPr>
          <a:xfrm>
            <a:off x="609600" y="1504950"/>
            <a:ext cx="10972800" cy="1047750"/>
            <a:chOff x="609600" y="1504950"/>
            <a:chExt cx="10972800" cy="1047750"/>
          </a:xfrm>
        </p:grpSpPr>
        <p:sp>
          <p:nvSpPr>
            <p:cNvPr id="5" name="Rectangle 5"/>
            <p:cNvSpPr/>
            <p:nvPr/>
          </p:nvSpPr>
          <p:spPr>
            <a:xfrm>
              <a:off x="609600" y="1504950"/>
              <a:ext cx="10972800" cy="1047750"/>
            </a:xfrm>
            <a:prstGeom prst="roundRect">
              <a:avLst>
                <a:gd name="adj" fmla="val 12727"/>
              </a:avLst>
            </a:prstGeom>
            <a:solidFill>
              <a:srgbClr val="0F2E2B"/>
            </a:solidFill>
            <a:ln w="14288">
              <a:solidFill>
                <a:srgbClr val="48C78E"/>
              </a:solidFill>
            </a:ln>
          </p:spPr>
        </p:sp>
        <p:sp>
          <p:nvSpPr>
            <p:cNvPr id="6" name="Rectangle 6"/>
            <p:cNvSpPr/>
            <p:nvPr/>
          </p:nvSpPr>
          <p:spPr>
            <a:xfrm>
              <a:off x="609600" y="1504950"/>
              <a:ext cx="57150" cy="1047750"/>
            </a:xfrm>
            <a:prstGeom prst="roundRect">
              <a:avLst>
                <a:gd name="adj" fmla="val 50000"/>
              </a:avLst>
            </a:prstGeom>
            <a:solidFill>
              <a:srgbClr val="48C78E"/>
            </a:solidFill>
            <a:ln>
              <a:noFill/>
            </a:ln>
          </p:spPr>
        </p:sp>
        <p:sp>
          <p:nvSpPr>
            <p:cNvPr id="7" name="TextBox 7"/>
            <p:cNvSpPr txBox="1"/>
            <p:nvPr/>
          </p:nvSpPr>
          <p:spPr>
            <a:xfrm>
              <a:off x="870014" y="1733312"/>
              <a:ext cx="2901478"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The headline result is about speed</a:t>
              </a:r>
            </a:p>
          </p:txBody>
        </p:sp>
        <p:sp>
          <p:nvSpPr>
            <p:cNvPr id="8" name="TextBox 8"/>
            <p:cNvSpPr txBox="1"/>
            <p:nvPr/>
          </p:nvSpPr>
          <p:spPr>
            <a:xfrm>
              <a:off x="870966" y="2039302"/>
              <a:ext cx="484243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With edit-model highlights, people finished their tasks fastest of the</a:t>
              </a:r>
            </a:p>
          </p:txBody>
        </p:sp>
        <p:sp>
          <p:nvSpPr>
            <p:cNvPr id="9" name="TextBox 9"/>
            <p:cNvSpPr txBox="1"/>
            <p:nvPr/>
          </p:nvSpPr>
          <p:spPr>
            <a:xfrm>
              <a:off x="870966" y="2229802"/>
              <a:ext cx="122628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three conditions.</a:t>
              </a:r>
            </a:p>
          </p:txBody>
        </p:sp>
        <p:sp>
          <p:nvSpPr>
            <p:cNvPr id="10" name="Rectangle 10"/>
            <p:cNvSpPr/>
            <p:nvPr/>
          </p:nvSpPr>
          <p:spPr>
            <a:xfrm>
              <a:off x="6858000" y="1619250"/>
              <a:ext cx="2247900" cy="800100"/>
            </a:xfrm>
            <a:prstGeom prst="roundRect">
              <a:avLst>
                <a:gd name="adj" fmla="val 14286"/>
              </a:avLst>
            </a:prstGeom>
            <a:solidFill>
              <a:schemeClr val="accent6"/>
            </a:solidFill>
            <a:ln w="14288">
              <a:solidFill>
                <a:srgbClr val="26455F"/>
              </a:solidFill>
            </a:ln>
          </p:spPr>
        </p:sp>
        <p:sp>
          <p:nvSpPr>
            <p:cNvPr id="11" name="TextBox 11"/>
            <p:cNvSpPr txBox="1"/>
            <p:nvPr/>
          </p:nvSpPr>
          <p:spPr>
            <a:xfrm>
              <a:off x="7350962" y="1804073"/>
              <a:ext cx="1261976" cy="418932"/>
            </a:xfrm>
            <a:prstGeom prst="rect">
              <a:avLst/>
            </a:prstGeom>
            <a:noFill/>
            <a:ln>
              <a:noFill/>
            </a:ln>
          </p:spPr>
          <p:txBody>
            <a:bodyPr wrap="none" lIns="0" tIns="0" rIns="0" bIns="0" anchor="t" anchorCtr="0">
              <a:spAutoFit/>
            </a:bodyPr>
            <a:lstStyle/>
            <a:p>
              <a:pPr algn="ctr"/>
              <a:r>
                <a:rPr lang="en-US" sz="2140" b="1" dirty="0">
                  <a:solidFill>
                    <a:srgbClr val="48C78E"/>
                  </a:solidFill>
                  <a:latin typeface="+mn-lt"/>
                  <a:ea typeface="+mn-ea"/>
                  <a:cs typeface="+mn-cs"/>
                </a:rPr>
                <a:t>8.59 min</a:t>
              </a:r>
            </a:p>
          </p:txBody>
        </p:sp>
        <p:sp>
          <p:nvSpPr>
            <p:cNvPr id="12" name="TextBox 12"/>
            <p:cNvSpPr txBox="1"/>
            <p:nvPr/>
          </p:nvSpPr>
          <p:spPr>
            <a:xfrm>
              <a:off x="7299551" y="2158127"/>
              <a:ext cx="136479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edit model (fastest)</a:t>
              </a:r>
            </a:p>
          </p:txBody>
        </p:sp>
        <p:sp>
          <p:nvSpPr>
            <p:cNvPr id="13" name="Rectangle 13"/>
            <p:cNvSpPr/>
            <p:nvPr/>
          </p:nvSpPr>
          <p:spPr>
            <a:xfrm>
              <a:off x="9239250" y="1619250"/>
              <a:ext cx="2343150" cy="800100"/>
            </a:xfrm>
            <a:prstGeom prst="roundRect">
              <a:avLst>
                <a:gd name="adj" fmla="val 14286"/>
              </a:avLst>
            </a:prstGeom>
            <a:solidFill>
              <a:schemeClr val="accent6"/>
            </a:solidFill>
            <a:ln w="14288">
              <a:solidFill>
                <a:srgbClr val="26455F"/>
              </a:solidFill>
            </a:ln>
          </p:spPr>
        </p:sp>
        <p:sp>
          <p:nvSpPr>
            <p:cNvPr id="14" name="TextBox 14"/>
            <p:cNvSpPr txBox="1"/>
            <p:nvPr/>
          </p:nvSpPr>
          <p:spPr>
            <a:xfrm>
              <a:off x="9779837" y="1804073"/>
              <a:ext cx="1261976" cy="418932"/>
            </a:xfrm>
            <a:prstGeom prst="rect">
              <a:avLst/>
            </a:prstGeom>
            <a:noFill/>
            <a:ln>
              <a:noFill/>
            </a:ln>
          </p:spPr>
          <p:txBody>
            <a:bodyPr wrap="none" lIns="0" tIns="0" rIns="0" bIns="0" anchor="t" anchorCtr="0">
              <a:spAutoFit/>
            </a:bodyPr>
            <a:lstStyle/>
            <a:p>
              <a:pPr algn="ctr"/>
              <a:r>
                <a:rPr lang="en-US" sz="2140" b="1" dirty="0">
                  <a:solidFill>
                    <a:srgbClr val="F2C14E"/>
                  </a:solidFill>
                  <a:latin typeface="+mn-lt"/>
                  <a:ea typeface="+mn-ea"/>
                  <a:cs typeface="+mn-cs"/>
                </a:rPr>
                <a:t>9.61 min</a:t>
              </a:r>
            </a:p>
          </p:txBody>
        </p:sp>
        <p:sp>
          <p:nvSpPr>
            <p:cNvPr id="15" name="TextBox 15"/>
            <p:cNvSpPr txBox="1"/>
            <p:nvPr/>
          </p:nvSpPr>
          <p:spPr>
            <a:xfrm>
              <a:off x="9768287" y="2158127"/>
              <a:ext cx="128507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gen-prob (slowest)</a:t>
              </a:r>
            </a:p>
          </p:txBody>
        </p:sp>
      </p:grpSp>
      <p:grpSp>
        <p:nvGrpSpPr>
          <p:cNvPr id="34" name="Group 34"/>
          <p:cNvGrpSpPr/>
          <p:nvPr/>
        </p:nvGrpSpPr>
        <p:grpSpPr>
          <a:xfrm>
            <a:off x="609600" y="2705100"/>
            <a:ext cx="5334000" cy="2514600"/>
            <a:chOff x="609600" y="2705100"/>
            <a:chExt cx="5334000" cy="2514600"/>
          </a:xfrm>
        </p:grpSpPr>
        <p:sp>
          <p:nvSpPr>
            <p:cNvPr id="17" name="Rectangle 17"/>
            <p:cNvSpPr/>
            <p:nvPr/>
          </p:nvSpPr>
          <p:spPr>
            <a:xfrm>
              <a:off x="609600" y="2705100"/>
              <a:ext cx="5334000" cy="2514600"/>
            </a:xfrm>
            <a:prstGeom prst="roundRect">
              <a:avLst>
                <a:gd name="adj" fmla="val 5303"/>
              </a:avLst>
            </a:prstGeom>
            <a:solidFill>
              <a:schemeClr val="accent5"/>
            </a:solidFill>
            <a:ln w="14288">
              <a:solidFill>
                <a:srgbClr val="26455F"/>
              </a:solidFill>
            </a:ln>
          </p:spPr>
        </p:sp>
        <p:sp>
          <p:nvSpPr>
            <p:cNvPr id="18" name="Rectangle 18"/>
            <p:cNvSpPr/>
            <p:nvPr/>
          </p:nvSpPr>
          <p:spPr>
            <a:xfrm>
              <a:off x="609600" y="2705100"/>
              <a:ext cx="57150" cy="2514600"/>
            </a:xfrm>
            <a:prstGeom prst="roundRect">
              <a:avLst>
                <a:gd name="adj" fmla="val 50000"/>
              </a:avLst>
            </a:prstGeom>
            <a:solidFill>
              <a:schemeClr val="accent2"/>
            </a:solidFill>
            <a:ln>
              <a:noFill/>
            </a:ln>
          </p:spPr>
        </p:sp>
        <p:sp>
          <p:nvSpPr>
            <p:cNvPr id="19" name="TextBox 19"/>
            <p:cNvSpPr txBox="1"/>
            <p:nvPr/>
          </p:nvSpPr>
          <p:spPr>
            <a:xfrm>
              <a:off x="870204" y="2918460"/>
              <a:ext cx="2307714"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Mean task time by condition</a:t>
              </a:r>
            </a:p>
          </p:txBody>
        </p:sp>
        <p:sp>
          <p:nvSpPr>
            <p:cNvPr id="20" name="TextBox 20"/>
            <p:cNvSpPr txBox="1"/>
            <p:nvPr/>
          </p:nvSpPr>
          <p:spPr>
            <a:xfrm>
              <a:off x="871156" y="3205401"/>
              <a:ext cx="354314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Edit-model fastest, generation-probability slowest,</a:t>
              </a:r>
            </a:p>
          </p:txBody>
        </p:sp>
        <p:sp>
          <p:nvSpPr>
            <p:cNvPr id="21" name="TextBox 21"/>
            <p:cNvSpPr txBox="1"/>
            <p:nvPr/>
          </p:nvSpPr>
          <p:spPr>
            <a:xfrm>
              <a:off x="871156" y="3395901"/>
              <a:ext cx="162828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no-highlight in between.</a:t>
              </a:r>
            </a:p>
          </p:txBody>
        </p:sp>
        <p:sp>
          <p:nvSpPr>
            <p:cNvPr id="22" name="Rectangle 22"/>
            <p:cNvSpPr/>
            <p:nvPr/>
          </p:nvSpPr>
          <p:spPr>
            <a:xfrm>
              <a:off x="2857500" y="3848100"/>
              <a:ext cx="2286000" cy="247650"/>
            </a:xfrm>
            <a:prstGeom prst="roundRect">
              <a:avLst>
                <a:gd name="adj" fmla="val 23077"/>
              </a:avLst>
            </a:prstGeom>
            <a:solidFill>
              <a:srgbClr val="0E2334"/>
            </a:solidFill>
            <a:ln w="9525">
              <a:solidFill>
                <a:srgbClr val="26455F"/>
              </a:solidFill>
            </a:ln>
          </p:spPr>
        </p:sp>
        <p:sp>
          <p:nvSpPr>
            <p:cNvPr id="23" name="Rectangle 23"/>
            <p:cNvSpPr/>
            <p:nvPr/>
          </p:nvSpPr>
          <p:spPr>
            <a:xfrm>
              <a:off x="2857500" y="3848100"/>
              <a:ext cx="1962150" cy="247650"/>
            </a:xfrm>
            <a:prstGeom prst="roundRect">
              <a:avLst>
                <a:gd name="adj" fmla="val 23077"/>
              </a:avLst>
            </a:prstGeom>
            <a:solidFill>
              <a:srgbClr val="48C78E"/>
            </a:solidFill>
            <a:ln>
              <a:noFill/>
            </a:ln>
          </p:spPr>
        </p:sp>
        <p:sp>
          <p:nvSpPr>
            <p:cNvPr id="24" name="TextBox 24"/>
            <p:cNvSpPr txBox="1"/>
            <p:nvPr/>
          </p:nvSpPr>
          <p:spPr>
            <a:xfrm>
              <a:off x="2003194" y="3927158"/>
              <a:ext cx="74534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edit model</a:t>
              </a:r>
            </a:p>
          </p:txBody>
        </p:sp>
        <p:sp>
          <p:nvSpPr>
            <p:cNvPr id="25" name="TextBox 25"/>
            <p:cNvSpPr txBox="1"/>
            <p:nvPr/>
          </p:nvSpPr>
          <p:spPr>
            <a:xfrm>
              <a:off x="4909566" y="3927158"/>
              <a:ext cx="337189"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8.59</a:t>
              </a:r>
            </a:p>
          </p:txBody>
        </p:sp>
        <p:sp>
          <p:nvSpPr>
            <p:cNvPr id="26" name="Rectangle 26"/>
            <p:cNvSpPr/>
            <p:nvPr/>
          </p:nvSpPr>
          <p:spPr>
            <a:xfrm>
              <a:off x="2857500" y="4267200"/>
              <a:ext cx="2286000" cy="247650"/>
            </a:xfrm>
            <a:prstGeom prst="roundRect">
              <a:avLst>
                <a:gd name="adj" fmla="val 23077"/>
              </a:avLst>
            </a:prstGeom>
            <a:solidFill>
              <a:srgbClr val="0E2334"/>
            </a:solidFill>
            <a:ln w="9525">
              <a:solidFill>
                <a:srgbClr val="26455F"/>
              </a:solidFill>
            </a:ln>
          </p:spPr>
        </p:sp>
        <p:sp>
          <p:nvSpPr>
            <p:cNvPr id="27" name="Rectangle 27"/>
            <p:cNvSpPr/>
            <p:nvPr/>
          </p:nvSpPr>
          <p:spPr>
            <a:xfrm>
              <a:off x="2857500" y="4267200"/>
              <a:ext cx="2076450" cy="247650"/>
            </a:xfrm>
            <a:prstGeom prst="roundRect">
              <a:avLst>
                <a:gd name="adj" fmla="val 23077"/>
              </a:avLst>
            </a:prstGeom>
            <a:solidFill>
              <a:schemeClr val="dk2"/>
            </a:solidFill>
            <a:ln>
              <a:noFill/>
            </a:ln>
          </p:spPr>
        </p:sp>
        <p:sp>
          <p:nvSpPr>
            <p:cNvPr id="28" name="TextBox 28"/>
            <p:cNvSpPr txBox="1"/>
            <p:nvPr/>
          </p:nvSpPr>
          <p:spPr>
            <a:xfrm>
              <a:off x="1906722" y="4346258"/>
              <a:ext cx="84181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no highlight</a:t>
              </a:r>
            </a:p>
          </p:txBody>
        </p:sp>
        <p:sp>
          <p:nvSpPr>
            <p:cNvPr id="29" name="TextBox 29"/>
            <p:cNvSpPr txBox="1"/>
            <p:nvPr/>
          </p:nvSpPr>
          <p:spPr>
            <a:xfrm>
              <a:off x="5023866" y="4346258"/>
              <a:ext cx="782444"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in between</a:t>
              </a:r>
            </a:p>
          </p:txBody>
        </p:sp>
        <p:sp>
          <p:nvSpPr>
            <p:cNvPr id="30" name="Rectangle 30"/>
            <p:cNvSpPr/>
            <p:nvPr/>
          </p:nvSpPr>
          <p:spPr>
            <a:xfrm>
              <a:off x="2857500" y="4686300"/>
              <a:ext cx="2286000" cy="247650"/>
            </a:xfrm>
            <a:prstGeom prst="roundRect">
              <a:avLst>
                <a:gd name="adj" fmla="val 23077"/>
              </a:avLst>
            </a:prstGeom>
            <a:solidFill>
              <a:srgbClr val="0E2334"/>
            </a:solidFill>
            <a:ln w="9525">
              <a:solidFill>
                <a:srgbClr val="26455F"/>
              </a:solidFill>
            </a:ln>
          </p:spPr>
        </p:sp>
        <p:sp>
          <p:nvSpPr>
            <p:cNvPr id="31" name="Rectangle 31"/>
            <p:cNvSpPr/>
            <p:nvPr/>
          </p:nvSpPr>
          <p:spPr>
            <a:xfrm>
              <a:off x="2857500" y="4686300"/>
              <a:ext cx="2190750" cy="247650"/>
            </a:xfrm>
            <a:prstGeom prst="roundRect">
              <a:avLst>
                <a:gd name="adj" fmla="val 23077"/>
              </a:avLst>
            </a:prstGeom>
            <a:solidFill>
              <a:srgbClr val="F2C14E"/>
            </a:solidFill>
            <a:ln>
              <a:noFill/>
            </a:ln>
          </p:spPr>
        </p:sp>
        <p:sp>
          <p:nvSpPr>
            <p:cNvPr id="32" name="TextBox 32"/>
            <p:cNvSpPr txBox="1"/>
            <p:nvPr/>
          </p:nvSpPr>
          <p:spPr>
            <a:xfrm>
              <a:off x="2084824" y="4765358"/>
              <a:ext cx="66371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gen-prob</a:t>
              </a:r>
            </a:p>
          </p:txBody>
        </p:sp>
        <p:sp>
          <p:nvSpPr>
            <p:cNvPr id="33" name="TextBox 33"/>
            <p:cNvSpPr txBox="1"/>
            <p:nvPr/>
          </p:nvSpPr>
          <p:spPr>
            <a:xfrm>
              <a:off x="5138166" y="4765358"/>
              <a:ext cx="337189"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9.61</a:t>
              </a:r>
            </a:p>
          </p:txBody>
        </p:sp>
      </p:grpSp>
      <p:grpSp>
        <p:nvGrpSpPr>
          <p:cNvPr id="41" name="Group 41"/>
          <p:cNvGrpSpPr/>
          <p:nvPr/>
        </p:nvGrpSpPr>
        <p:grpSpPr>
          <a:xfrm>
            <a:off x="6248400" y="2705100"/>
            <a:ext cx="5334000" cy="1143000"/>
            <a:chOff x="6248400" y="2705100"/>
            <a:chExt cx="5334000" cy="1143000"/>
          </a:xfrm>
        </p:grpSpPr>
        <p:sp>
          <p:nvSpPr>
            <p:cNvPr id="35" name="Rectangle 35"/>
            <p:cNvSpPr/>
            <p:nvPr/>
          </p:nvSpPr>
          <p:spPr>
            <a:xfrm>
              <a:off x="6248400" y="2705100"/>
              <a:ext cx="5334000" cy="1143000"/>
            </a:xfrm>
            <a:prstGeom prst="roundRect">
              <a:avLst>
                <a:gd name="adj" fmla="val 11667"/>
              </a:avLst>
            </a:prstGeom>
            <a:solidFill>
              <a:schemeClr val="accent5"/>
            </a:solidFill>
            <a:ln w="14288">
              <a:solidFill>
                <a:srgbClr val="26455F"/>
              </a:solidFill>
            </a:ln>
          </p:spPr>
        </p:sp>
        <p:sp>
          <p:nvSpPr>
            <p:cNvPr id="36" name="Rectangle 36"/>
            <p:cNvSpPr/>
            <p:nvPr/>
          </p:nvSpPr>
          <p:spPr>
            <a:xfrm>
              <a:off x="6248400" y="2705100"/>
              <a:ext cx="57150" cy="1143000"/>
            </a:xfrm>
            <a:prstGeom prst="roundRect">
              <a:avLst>
                <a:gd name="adj" fmla="val 50000"/>
              </a:avLst>
            </a:prstGeom>
            <a:solidFill>
              <a:srgbClr val="34D3C0"/>
            </a:solidFill>
            <a:ln>
              <a:noFill/>
            </a:ln>
          </p:spPr>
        </p:sp>
        <p:sp>
          <p:nvSpPr>
            <p:cNvPr id="37" name="TextBox 37"/>
            <p:cNvSpPr txBox="1"/>
            <p:nvPr/>
          </p:nvSpPr>
          <p:spPr>
            <a:xfrm>
              <a:off x="6509004" y="2918460"/>
              <a:ext cx="2298763"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The gap is highly significant</a:t>
              </a:r>
            </a:p>
          </p:txBody>
        </p:sp>
        <p:sp>
          <p:nvSpPr>
            <p:cNvPr id="38" name="TextBox 38"/>
            <p:cNvSpPr txBox="1"/>
            <p:nvPr/>
          </p:nvSpPr>
          <p:spPr>
            <a:xfrm>
              <a:off x="6509956" y="3224451"/>
              <a:ext cx="434526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Between the two highlighting strategies, the speed difference is</a:t>
              </a:r>
            </a:p>
          </p:txBody>
        </p:sp>
        <p:sp>
          <p:nvSpPr>
            <p:cNvPr id="39" name="TextBox 39"/>
            <p:cNvSpPr txBox="1"/>
            <p:nvPr/>
          </p:nvSpPr>
          <p:spPr>
            <a:xfrm>
              <a:off x="6509956" y="3414951"/>
              <a:ext cx="122718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highly significant.</a:t>
              </a:r>
            </a:p>
          </p:txBody>
        </p:sp>
        <p:sp>
          <p:nvSpPr>
            <p:cNvPr id="40" name="TextBox 40"/>
            <p:cNvSpPr txBox="1"/>
            <p:nvPr/>
          </p:nvSpPr>
          <p:spPr>
            <a:xfrm>
              <a:off x="6509385" y="3612356"/>
              <a:ext cx="715923" cy="220028"/>
            </a:xfrm>
            <a:prstGeom prst="rect">
              <a:avLst/>
            </a:prstGeom>
            <a:noFill/>
            <a:ln>
              <a:noFill/>
            </a:ln>
          </p:spPr>
          <p:txBody>
            <a:bodyPr wrap="none" lIns="0" tIns="0" rIns="0" bIns="0" anchor="t" anchorCtr="0">
              <a:spAutoFit/>
            </a:bodyPr>
            <a:lstStyle/>
            <a:p>
              <a:pPr algn="l"/>
              <a:r>
                <a:rPr lang="en-US" sz="1120" b="1" dirty="0">
                  <a:solidFill>
                    <a:srgbClr val="34D3C0"/>
                  </a:solidFill>
                  <a:latin typeface="Consolas"/>
                  <a:ea typeface="Consolas"/>
                  <a:cs typeface="Consolas"/>
                </a:rPr>
                <a:t>p = 0.003</a:t>
              </a:r>
            </a:p>
          </p:txBody>
        </p:sp>
      </p:grpSp>
      <p:grpSp>
        <p:nvGrpSpPr>
          <p:cNvPr id="49" name="Group 49"/>
          <p:cNvGrpSpPr/>
          <p:nvPr/>
        </p:nvGrpSpPr>
        <p:grpSpPr>
          <a:xfrm>
            <a:off x="6248400" y="4000500"/>
            <a:ext cx="5334000" cy="1227125"/>
            <a:chOff x="6248400" y="4000500"/>
            <a:chExt cx="5334000" cy="1227125"/>
          </a:xfrm>
        </p:grpSpPr>
        <p:sp>
          <p:nvSpPr>
            <p:cNvPr id="42" name="Rectangle 42"/>
            <p:cNvSpPr/>
            <p:nvPr/>
          </p:nvSpPr>
          <p:spPr>
            <a:xfrm>
              <a:off x="6248400" y="4000500"/>
              <a:ext cx="5334000" cy="1219200"/>
            </a:xfrm>
            <a:prstGeom prst="roundRect">
              <a:avLst>
                <a:gd name="adj" fmla="val 10938"/>
              </a:avLst>
            </a:prstGeom>
            <a:solidFill>
              <a:srgbClr val="2A2417"/>
            </a:solidFill>
            <a:ln w="14288">
              <a:solidFill>
                <a:srgbClr val="F2C14E"/>
              </a:solidFill>
            </a:ln>
          </p:spPr>
        </p:sp>
        <p:sp>
          <p:nvSpPr>
            <p:cNvPr id="43" name="Rectangle 43"/>
            <p:cNvSpPr/>
            <p:nvPr/>
          </p:nvSpPr>
          <p:spPr>
            <a:xfrm>
              <a:off x="6248400" y="4000500"/>
              <a:ext cx="57150" cy="1219200"/>
            </a:xfrm>
            <a:prstGeom prst="roundRect">
              <a:avLst>
                <a:gd name="adj" fmla="val 50000"/>
              </a:avLst>
            </a:prstGeom>
            <a:solidFill>
              <a:srgbClr val="F2C14E"/>
            </a:solidFill>
            <a:ln>
              <a:noFill/>
            </a:ln>
          </p:spPr>
        </p:sp>
        <p:sp>
          <p:nvSpPr>
            <p:cNvPr id="44" name="TextBox 44"/>
            <p:cNvSpPr txBox="1"/>
            <p:nvPr/>
          </p:nvSpPr>
          <p:spPr>
            <a:xfrm>
              <a:off x="6509194" y="4198858"/>
              <a:ext cx="2993831"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Gen-prob was the worst of the three</a:t>
              </a:r>
            </a:p>
          </p:txBody>
        </p:sp>
        <p:sp>
          <p:nvSpPr>
            <p:cNvPr id="45" name="TextBox 45"/>
            <p:cNvSpPr txBox="1"/>
            <p:nvPr/>
          </p:nvSpPr>
          <p:spPr>
            <a:xfrm>
              <a:off x="6509956" y="4481751"/>
              <a:ext cx="3780814"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Generation-probability highlighting was slower even than</a:t>
              </a:r>
            </a:p>
          </p:txBody>
        </p:sp>
        <p:sp>
          <p:nvSpPr>
            <p:cNvPr id="46" name="TextBox 46"/>
            <p:cNvSpPr txBox="1"/>
            <p:nvPr/>
          </p:nvSpPr>
          <p:spPr>
            <a:xfrm>
              <a:off x="6509956" y="4662726"/>
              <a:ext cx="3905719"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showing no highlights at all - highlighting the wrong tokens</a:t>
              </a:r>
            </a:p>
          </p:txBody>
        </p:sp>
        <p:sp>
          <p:nvSpPr>
            <p:cNvPr id="47" name="TextBox 47"/>
            <p:cNvSpPr txBox="1"/>
            <p:nvPr/>
          </p:nvSpPr>
          <p:spPr>
            <a:xfrm>
              <a:off x="6509956" y="4843701"/>
              <a:ext cx="129516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can hurt, not help.</a:t>
              </a:r>
            </a:p>
          </p:txBody>
        </p:sp>
        <p:sp>
          <p:nvSpPr>
            <p:cNvPr id="48" name="TextBox 48"/>
            <p:cNvSpPr txBox="1"/>
            <p:nvPr/>
          </p:nvSpPr>
          <p:spPr>
            <a:xfrm>
              <a:off x="6510223" y="5039868"/>
              <a:ext cx="2330172" cy="187757"/>
            </a:xfrm>
            <a:prstGeom prst="rect">
              <a:avLst/>
            </a:prstGeom>
            <a:noFill/>
            <a:ln>
              <a:noFill/>
            </a:ln>
          </p:spPr>
          <p:txBody>
            <a:bodyPr wrap="none" lIns="0" tIns="0" rIns="0" bIns="0" anchor="t" anchorCtr="0">
              <a:spAutoFit/>
            </a:bodyPr>
            <a:lstStyle/>
            <a:p>
              <a:pPr algn="l"/>
              <a:r>
                <a:rPr lang="en-US" sz="960" b="1" dirty="0">
                  <a:solidFill>
                    <a:srgbClr val="F2C14E"/>
                  </a:solidFill>
                  <a:latin typeface="Consolas"/>
                  <a:ea typeface="Consolas"/>
                  <a:cs typeface="Consolas"/>
                </a:rPr>
                <a:t>wrong tokens highlighted -&gt; slower</a:t>
              </a:r>
            </a:p>
          </p:txBody>
        </p:sp>
      </p:grpSp>
      <p:sp>
        <p:nvSpPr>
          <p:cNvPr id="50" name="cue_s07_c1_headline_result_about_speed" title="cue_s07_c1_headline_result_about_speed" descr="cue_s07_c1_headline_result_about_speed The headline result is about speed."/>
          <p:cNvSpPr/>
          <p:nvPr/>
        </p:nvSpPr>
        <p:spPr>
          <a:xfrm>
            <a:off x="609600" y="1504645"/>
            <a:ext cx="10972800" cy="1047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7_c2_people_finished_fastest_when_edit_mo" title="cue_s07_c2_people_finished_fastest_when_edit_mo" descr="cue_s07_c2_people_finished_fastest_when_edit_mo People finished fastest when using edit-model highlights, at about eight point six minutes on average, and slowest with generation-probability highlights, at about nine point six minutes, with the no-highlight condition sitting in between."/>
          <p:cNvSpPr/>
          <p:nvPr/>
        </p:nvSpPr>
        <p:spPr>
          <a:xfrm>
            <a:off x="609600" y="2704795"/>
            <a:ext cx="533400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7_c3_gap_between_two_highlighting_strateg" title="cue_s07_c3_gap_between_two_highlighting_strateg" descr="cue_s07_c3_gap_between_two_highlighting_strateg The gap between the two highlighting strategies is highly significant, with a p-value of zero point zero zero three."/>
          <p:cNvSpPr/>
          <p:nvPr/>
        </p:nvSpPr>
        <p:spPr>
          <a:xfrm>
            <a:off x="6248399" y="2704795"/>
            <a:ext cx="53340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7_c4_what_makes_striking_generation_proba" title="cue_s07_c4_what_makes_striking_generation_proba" descr="cue_s07_c4_what_makes_striking_generation_proba What makes this striking is that generation-probability highlighting was actually the worst of the three, slower even than showing no highlights at all, so highlighting the wrong tokens can hurt rather than help."/>
          <p:cNvSpPr/>
          <p:nvPr/>
        </p:nvSpPr>
        <p:spPr>
          <a:xfrm>
            <a:off x="6248399" y="4000271"/>
            <a:ext cx="5334000" cy="122689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84501"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WHY IT WORKS</a:t>
            </a:r>
          </a:p>
        </p:txBody>
      </p:sp>
      <p:sp>
        <p:nvSpPr>
          <p:cNvPr id="4" name="TextBox 4"/>
          <p:cNvSpPr txBox="1"/>
          <p:nvPr/>
        </p:nvSpPr>
        <p:spPr>
          <a:xfrm>
            <a:off x="598170" y="804862"/>
            <a:ext cx="666441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Do the highlights predict what people edit?</a:t>
            </a:r>
          </a:p>
        </p:txBody>
      </p:sp>
      <p:grpSp>
        <p:nvGrpSpPr>
          <p:cNvPr id="13" name="Group 13"/>
          <p:cNvGrpSpPr/>
          <p:nvPr/>
        </p:nvGrpSpPr>
        <p:grpSpPr>
          <a:xfrm>
            <a:off x="609600" y="1504950"/>
            <a:ext cx="5334000" cy="1524000"/>
            <a:chOff x="609600" y="1504950"/>
            <a:chExt cx="5334000" cy="1524000"/>
          </a:xfrm>
        </p:grpSpPr>
        <p:sp>
          <p:nvSpPr>
            <p:cNvPr id="5" name="Rectangle 5"/>
            <p:cNvSpPr/>
            <p:nvPr/>
          </p:nvSpPr>
          <p:spPr>
            <a:xfrm>
              <a:off x="609600" y="1504950"/>
              <a:ext cx="5334000" cy="1524000"/>
            </a:xfrm>
            <a:prstGeom prst="roundRect">
              <a:avLst>
                <a:gd name="adj" fmla="val 8750"/>
              </a:avLst>
            </a:prstGeom>
            <a:solidFill>
              <a:schemeClr val="accent5"/>
            </a:solidFill>
            <a:ln w="14288">
              <a:solidFill>
                <a:srgbClr val="26455F"/>
              </a:solidFill>
            </a:ln>
          </p:spPr>
        </p:sp>
        <p:sp>
          <p:nvSpPr>
            <p:cNvPr id="6" name="Rectangle 6"/>
            <p:cNvSpPr/>
            <p:nvPr/>
          </p:nvSpPr>
          <p:spPr>
            <a:xfrm>
              <a:off x="609600" y="1504950"/>
              <a:ext cx="57150" cy="1524000"/>
            </a:xfrm>
            <a:prstGeom prst="roundRect">
              <a:avLst>
                <a:gd name="adj" fmla="val 50000"/>
              </a:avLst>
            </a:prstGeom>
            <a:solidFill>
              <a:schemeClr val="accent2"/>
            </a:solidFill>
            <a:ln>
              <a:noFill/>
            </a:ln>
          </p:spPr>
        </p:sp>
        <p:sp>
          <p:nvSpPr>
            <p:cNvPr id="7" name="TextBox 7"/>
            <p:cNvSpPr txBox="1"/>
            <p:nvPr/>
          </p:nvSpPr>
          <p:spPr>
            <a:xfrm>
              <a:off x="870014" y="1733312"/>
              <a:ext cx="2095463"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Measure: token survival</a:t>
              </a:r>
            </a:p>
          </p:txBody>
        </p:sp>
        <p:sp>
          <p:nvSpPr>
            <p:cNvPr id="8" name="TextBox 8"/>
            <p:cNvSpPr txBox="1"/>
            <p:nvPr/>
          </p:nvSpPr>
          <p:spPr>
            <a:xfrm>
              <a:off x="870966" y="2039302"/>
              <a:ext cx="380374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authors tracked which tokens survived - were left</a:t>
              </a:r>
            </a:p>
          </p:txBody>
        </p:sp>
        <p:sp>
          <p:nvSpPr>
            <p:cNvPr id="9" name="TextBox 9"/>
            <p:cNvSpPr txBox="1"/>
            <p:nvPr/>
          </p:nvSpPr>
          <p:spPr>
            <a:xfrm>
              <a:off x="870966" y="2239328"/>
              <a:ext cx="20885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unchanged by the participant.</a:t>
              </a:r>
            </a:p>
          </p:txBody>
        </p:sp>
        <p:sp>
          <p:nvSpPr>
            <p:cNvPr id="10" name="Rectangle 10"/>
            <p:cNvSpPr/>
            <p:nvPr/>
          </p:nvSpPr>
          <p:spPr>
            <a:xfrm>
              <a:off x="876300" y="2724150"/>
              <a:ext cx="4457700" cy="266700"/>
            </a:xfrm>
            <a:prstGeom prst="roundRect">
              <a:avLst>
                <a:gd name="adj" fmla="val 28571"/>
              </a:avLst>
            </a:prstGeom>
            <a:solidFill>
              <a:schemeClr val="accent6"/>
            </a:solidFill>
            <a:ln w="14288">
              <a:solidFill>
                <a:srgbClr val="26455F"/>
              </a:solidFill>
            </a:ln>
          </p:spPr>
        </p:sp>
        <p:sp>
          <p:nvSpPr>
            <p:cNvPr id="11" name="Ellipse 11"/>
            <p:cNvSpPr/>
            <p:nvPr/>
          </p:nvSpPr>
          <p:spPr>
            <a:xfrm>
              <a:off x="1000125" y="2809875"/>
              <a:ext cx="95250" cy="95250"/>
            </a:xfrm>
            <a:prstGeom prst="ellipse">
              <a:avLst/>
            </a:prstGeom>
            <a:solidFill>
              <a:schemeClr val="accent2"/>
            </a:solidFill>
            <a:ln>
              <a:noFill/>
            </a:ln>
          </p:spPr>
        </p:sp>
        <p:sp>
          <p:nvSpPr>
            <p:cNvPr id="12" name="TextBox 12"/>
            <p:cNvSpPr txBox="1"/>
            <p:nvPr/>
          </p:nvSpPr>
          <p:spPr>
            <a:xfrm>
              <a:off x="1194626" y="2797254"/>
              <a:ext cx="2406878"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survived = token left unchanged</a:t>
              </a:r>
            </a:p>
          </p:txBody>
        </p:sp>
      </p:grpSp>
      <p:grpSp>
        <p:nvGrpSpPr>
          <p:cNvPr id="27" name="Group 27"/>
          <p:cNvGrpSpPr/>
          <p:nvPr/>
        </p:nvGrpSpPr>
        <p:grpSpPr>
          <a:xfrm>
            <a:off x="609600" y="3162300"/>
            <a:ext cx="5334000" cy="2076450"/>
            <a:chOff x="609600" y="3162300"/>
            <a:chExt cx="5334000" cy="2076450"/>
          </a:xfrm>
        </p:grpSpPr>
        <p:sp>
          <p:nvSpPr>
            <p:cNvPr id="14" name="Rectangle 14"/>
            <p:cNvSpPr/>
            <p:nvPr/>
          </p:nvSpPr>
          <p:spPr>
            <a:xfrm>
              <a:off x="609600" y="3162300"/>
              <a:ext cx="5334000" cy="2076450"/>
            </a:xfrm>
            <a:prstGeom prst="roundRect">
              <a:avLst>
                <a:gd name="adj" fmla="val 6422"/>
              </a:avLst>
            </a:prstGeom>
            <a:solidFill>
              <a:srgbClr val="0F2E2B"/>
            </a:solidFill>
            <a:ln w="14288">
              <a:solidFill>
                <a:srgbClr val="48C78E"/>
              </a:solidFill>
            </a:ln>
          </p:spPr>
        </p:sp>
        <p:sp>
          <p:nvSpPr>
            <p:cNvPr id="15" name="Rectangle 15"/>
            <p:cNvSpPr/>
            <p:nvPr/>
          </p:nvSpPr>
          <p:spPr>
            <a:xfrm>
              <a:off x="609600" y="3162300"/>
              <a:ext cx="57150" cy="2076450"/>
            </a:xfrm>
            <a:prstGeom prst="roundRect">
              <a:avLst>
                <a:gd name="adj" fmla="val 50000"/>
              </a:avLst>
            </a:prstGeom>
            <a:solidFill>
              <a:srgbClr val="48C78E"/>
            </a:solidFill>
            <a:ln>
              <a:noFill/>
            </a:ln>
          </p:spPr>
        </p:sp>
        <p:sp>
          <p:nvSpPr>
            <p:cNvPr id="16" name="TextBox 16"/>
            <p:cNvSpPr txBox="1"/>
            <p:nvPr/>
          </p:nvSpPr>
          <p:spPr>
            <a:xfrm>
              <a:off x="870204" y="3394710"/>
              <a:ext cx="2799409"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Edit model: highlights track edits</a:t>
              </a:r>
            </a:p>
          </p:txBody>
        </p:sp>
        <p:sp>
          <p:nvSpPr>
            <p:cNvPr id="17" name="TextBox 17"/>
            <p:cNvSpPr txBox="1"/>
            <p:nvPr/>
          </p:nvSpPr>
          <p:spPr>
            <a:xfrm>
              <a:off x="870966" y="3696652"/>
              <a:ext cx="370457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Tokens it left un-highlighted survived far more often</a:t>
              </a:r>
            </a:p>
          </p:txBody>
        </p:sp>
        <p:sp>
          <p:nvSpPr>
            <p:cNvPr id="18" name="TextBox 18"/>
            <p:cNvSpPr txBox="1"/>
            <p:nvPr/>
          </p:nvSpPr>
          <p:spPr>
            <a:xfrm>
              <a:off x="870966" y="3896678"/>
              <a:ext cx="222281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than the tokens it did highlight.</a:t>
              </a:r>
            </a:p>
          </p:txBody>
        </p:sp>
        <p:sp>
          <p:nvSpPr>
            <p:cNvPr id="19" name="Rectangle 19"/>
            <p:cNvSpPr/>
            <p:nvPr/>
          </p:nvSpPr>
          <p:spPr>
            <a:xfrm>
              <a:off x="3429000" y="4495800"/>
              <a:ext cx="1905000" cy="228600"/>
            </a:xfrm>
            <a:prstGeom prst="roundRect">
              <a:avLst>
                <a:gd name="adj" fmla="val 25000"/>
              </a:avLst>
            </a:prstGeom>
            <a:solidFill>
              <a:srgbClr val="0E2334"/>
            </a:solidFill>
            <a:ln w="9525">
              <a:solidFill>
                <a:srgbClr val="26455F"/>
              </a:solidFill>
            </a:ln>
          </p:spPr>
        </p:sp>
        <p:sp>
          <p:nvSpPr>
            <p:cNvPr id="20" name="Rectangle 20"/>
            <p:cNvSpPr/>
            <p:nvPr/>
          </p:nvSpPr>
          <p:spPr>
            <a:xfrm>
              <a:off x="3429000" y="4495800"/>
              <a:ext cx="1657350" cy="228600"/>
            </a:xfrm>
            <a:prstGeom prst="roundRect">
              <a:avLst>
                <a:gd name="adj" fmla="val 25000"/>
              </a:avLst>
            </a:prstGeom>
            <a:solidFill>
              <a:srgbClr val="48C78E"/>
            </a:solidFill>
            <a:ln>
              <a:noFill/>
            </a:ln>
          </p:spPr>
        </p:sp>
        <p:sp>
          <p:nvSpPr>
            <p:cNvPr id="21" name="TextBox 21"/>
            <p:cNvSpPr txBox="1"/>
            <p:nvPr/>
          </p:nvSpPr>
          <p:spPr>
            <a:xfrm>
              <a:off x="2277857" y="4561522"/>
              <a:ext cx="104217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un-highlighted</a:t>
              </a:r>
            </a:p>
          </p:txBody>
        </p:sp>
        <p:sp>
          <p:nvSpPr>
            <p:cNvPr id="22" name="TextBox 22"/>
            <p:cNvSpPr txBox="1"/>
            <p:nvPr/>
          </p:nvSpPr>
          <p:spPr>
            <a:xfrm>
              <a:off x="5176266" y="4561522"/>
              <a:ext cx="285242"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87%</a:t>
              </a:r>
            </a:p>
          </p:txBody>
        </p:sp>
        <p:sp>
          <p:nvSpPr>
            <p:cNvPr id="23" name="Rectangle 23"/>
            <p:cNvSpPr/>
            <p:nvPr/>
          </p:nvSpPr>
          <p:spPr>
            <a:xfrm>
              <a:off x="3429000" y="4857750"/>
              <a:ext cx="1905000" cy="228600"/>
            </a:xfrm>
            <a:prstGeom prst="roundRect">
              <a:avLst>
                <a:gd name="adj" fmla="val 25000"/>
              </a:avLst>
            </a:prstGeom>
            <a:solidFill>
              <a:srgbClr val="0E2334"/>
            </a:solidFill>
            <a:ln w="9525">
              <a:solidFill>
                <a:srgbClr val="26455F"/>
              </a:solidFill>
            </a:ln>
          </p:spPr>
        </p:sp>
        <p:sp>
          <p:nvSpPr>
            <p:cNvPr id="24" name="Rectangle 24"/>
            <p:cNvSpPr/>
            <p:nvPr/>
          </p:nvSpPr>
          <p:spPr>
            <a:xfrm>
              <a:off x="3429000" y="4857750"/>
              <a:ext cx="666750" cy="228600"/>
            </a:xfrm>
            <a:prstGeom prst="roundRect">
              <a:avLst>
                <a:gd name="adj" fmla="val 25000"/>
              </a:avLst>
            </a:prstGeom>
            <a:solidFill>
              <a:srgbClr val="F2C14E"/>
            </a:solidFill>
            <a:ln>
              <a:noFill/>
            </a:ln>
          </p:spPr>
        </p:sp>
        <p:sp>
          <p:nvSpPr>
            <p:cNvPr id="25" name="TextBox 25"/>
            <p:cNvSpPr txBox="1"/>
            <p:nvPr/>
          </p:nvSpPr>
          <p:spPr>
            <a:xfrm>
              <a:off x="2522748" y="4923472"/>
              <a:ext cx="797286"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highlighted</a:t>
              </a:r>
            </a:p>
          </p:txBody>
        </p:sp>
        <p:sp>
          <p:nvSpPr>
            <p:cNvPr id="26" name="TextBox 26"/>
            <p:cNvSpPr txBox="1"/>
            <p:nvPr/>
          </p:nvSpPr>
          <p:spPr>
            <a:xfrm>
              <a:off x="4185666" y="4923472"/>
              <a:ext cx="285242"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35%</a:t>
              </a:r>
            </a:p>
          </p:txBody>
        </p:sp>
      </p:grpSp>
      <p:grpSp>
        <p:nvGrpSpPr>
          <p:cNvPr id="37" name="Group 37"/>
          <p:cNvGrpSpPr/>
          <p:nvPr/>
        </p:nvGrpSpPr>
        <p:grpSpPr>
          <a:xfrm>
            <a:off x="6248400" y="1504950"/>
            <a:ext cx="5334000" cy="1524000"/>
            <a:chOff x="6248400" y="1504950"/>
            <a:chExt cx="5334000" cy="1524000"/>
          </a:xfrm>
        </p:grpSpPr>
        <p:sp>
          <p:nvSpPr>
            <p:cNvPr id="28" name="Rectangle 28"/>
            <p:cNvSpPr/>
            <p:nvPr/>
          </p:nvSpPr>
          <p:spPr>
            <a:xfrm>
              <a:off x="6248400" y="1504950"/>
              <a:ext cx="5334000" cy="1524000"/>
            </a:xfrm>
            <a:prstGeom prst="roundRect">
              <a:avLst>
                <a:gd name="adj" fmla="val 8750"/>
              </a:avLst>
            </a:prstGeom>
            <a:solidFill>
              <a:srgbClr val="2A2417"/>
            </a:solidFill>
            <a:ln w="14288">
              <a:solidFill>
                <a:srgbClr val="F2C14E"/>
              </a:solidFill>
            </a:ln>
          </p:spPr>
        </p:sp>
        <p:sp>
          <p:nvSpPr>
            <p:cNvPr id="29" name="Rectangle 29"/>
            <p:cNvSpPr/>
            <p:nvPr/>
          </p:nvSpPr>
          <p:spPr>
            <a:xfrm>
              <a:off x="6248400" y="1504950"/>
              <a:ext cx="57150" cy="1524000"/>
            </a:xfrm>
            <a:prstGeom prst="roundRect">
              <a:avLst>
                <a:gd name="adj" fmla="val 50000"/>
              </a:avLst>
            </a:prstGeom>
            <a:solidFill>
              <a:srgbClr val="F2C14E"/>
            </a:solidFill>
            <a:ln>
              <a:noFill/>
            </a:ln>
          </p:spPr>
        </p:sp>
        <p:sp>
          <p:nvSpPr>
            <p:cNvPr id="30" name="TextBox 30"/>
            <p:cNvSpPr txBox="1"/>
            <p:nvPr/>
          </p:nvSpPr>
          <p:spPr>
            <a:xfrm>
              <a:off x="6509004" y="1737360"/>
              <a:ext cx="2935371"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Gen-prob: highlights barely move it</a:t>
              </a:r>
            </a:p>
          </p:txBody>
        </p:sp>
        <p:sp>
          <p:nvSpPr>
            <p:cNvPr id="31" name="TextBox 31"/>
            <p:cNvSpPr txBox="1"/>
            <p:nvPr/>
          </p:nvSpPr>
          <p:spPr>
            <a:xfrm>
              <a:off x="6509766" y="2039302"/>
              <a:ext cx="371834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Under generation-probability highlighting, highlighted</a:t>
              </a:r>
            </a:p>
          </p:txBody>
        </p:sp>
        <p:sp>
          <p:nvSpPr>
            <p:cNvPr id="32" name="TextBox 32"/>
            <p:cNvSpPr txBox="1"/>
            <p:nvPr/>
          </p:nvSpPr>
          <p:spPr>
            <a:xfrm>
              <a:off x="6509766" y="2239328"/>
              <a:ext cx="271047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tokens still survived most of the time.</a:t>
              </a:r>
            </a:p>
          </p:txBody>
        </p:sp>
        <p:sp>
          <p:nvSpPr>
            <p:cNvPr id="33" name="Rectangle 33"/>
            <p:cNvSpPr/>
            <p:nvPr/>
          </p:nvSpPr>
          <p:spPr>
            <a:xfrm>
              <a:off x="8420100" y="2762250"/>
              <a:ext cx="2819400" cy="209550"/>
            </a:xfrm>
            <a:prstGeom prst="roundRect">
              <a:avLst>
                <a:gd name="adj" fmla="val 27273"/>
              </a:avLst>
            </a:prstGeom>
            <a:solidFill>
              <a:srgbClr val="0E2334"/>
            </a:solidFill>
            <a:ln w="9525">
              <a:solidFill>
                <a:srgbClr val="26455F"/>
              </a:solidFill>
            </a:ln>
          </p:spPr>
        </p:sp>
        <p:sp>
          <p:nvSpPr>
            <p:cNvPr id="34" name="Rectangle 34"/>
            <p:cNvSpPr/>
            <p:nvPr/>
          </p:nvSpPr>
          <p:spPr>
            <a:xfrm>
              <a:off x="8420100" y="2762250"/>
              <a:ext cx="2085975" cy="209550"/>
            </a:xfrm>
            <a:prstGeom prst="roundRect">
              <a:avLst>
                <a:gd name="adj" fmla="val 27273"/>
              </a:avLst>
            </a:prstGeom>
            <a:solidFill>
              <a:srgbClr val="F2C14E"/>
            </a:solidFill>
            <a:ln>
              <a:noFill/>
            </a:ln>
          </p:spPr>
        </p:sp>
        <p:sp>
          <p:nvSpPr>
            <p:cNvPr id="35" name="TextBox 35"/>
            <p:cNvSpPr txBox="1"/>
            <p:nvPr/>
          </p:nvSpPr>
          <p:spPr>
            <a:xfrm>
              <a:off x="6816280" y="2814638"/>
              <a:ext cx="1494854"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gen-prob highlighted</a:t>
              </a:r>
            </a:p>
          </p:txBody>
        </p:sp>
        <p:sp>
          <p:nvSpPr>
            <p:cNvPr id="36" name="TextBox 36"/>
            <p:cNvSpPr txBox="1"/>
            <p:nvPr/>
          </p:nvSpPr>
          <p:spPr>
            <a:xfrm>
              <a:off x="10595991" y="2814638"/>
              <a:ext cx="285242"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74%</a:t>
              </a:r>
            </a:p>
          </p:txBody>
        </p:sp>
      </p:grpSp>
      <p:grpSp>
        <p:nvGrpSpPr>
          <p:cNvPr id="53" name="Group 53"/>
          <p:cNvGrpSpPr/>
          <p:nvPr/>
        </p:nvGrpSpPr>
        <p:grpSpPr>
          <a:xfrm>
            <a:off x="6248400" y="3162300"/>
            <a:ext cx="5334000" cy="2130361"/>
            <a:chOff x="6248400" y="3162300"/>
            <a:chExt cx="5334000" cy="2130361"/>
          </a:xfrm>
        </p:grpSpPr>
        <p:sp>
          <p:nvSpPr>
            <p:cNvPr id="38" name="Rectangle 38"/>
            <p:cNvSpPr/>
            <p:nvPr/>
          </p:nvSpPr>
          <p:spPr>
            <a:xfrm>
              <a:off x="6248400" y="3162300"/>
              <a:ext cx="5334000" cy="2076450"/>
            </a:xfrm>
            <a:prstGeom prst="roundRect">
              <a:avLst>
                <a:gd name="adj" fmla="val 6422"/>
              </a:avLst>
            </a:prstGeom>
            <a:solidFill>
              <a:schemeClr val="accent5"/>
            </a:solidFill>
            <a:ln w="14288">
              <a:solidFill>
                <a:srgbClr val="26455F"/>
              </a:solidFill>
            </a:ln>
          </p:spPr>
        </p:sp>
        <p:sp>
          <p:nvSpPr>
            <p:cNvPr id="39" name="Rectangle 39"/>
            <p:cNvSpPr/>
            <p:nvPr/>
          </p:nvSpPr>
          <p:spPr>
            <a:xfrm>
              <a:off x="6248400" y="3162300"/>
              <a:ext cx="57150" cy="2076450"/>
            </a:xfrm>
            <a:prstGeom prst="roundRect">
              <a:avLst>
                <a:gd name="adj" fmla="val 50000"/>
              </a:avLst>
            </a:prstGeom>
            <a:solidFill>
              <a:srgbClr val="34D3C0"/>
            </a:solidFill>
            <a:ln>
              <a:noFill/>
            </a:ln>
          </p:spPr>
        </p:sp>
        <p:sp>
          <p:nvSpPr>
            <p:cNvPr id="40" name="TextBox 40"/>
            <p:cNvSpPr txBox="1"/>
            <p:nvPr/>
          </p:nvSpPr>
          <p:spPr>
            <a:xfrm>
              <a:off x="6508814" y="3390662"/>
              <a:ext cx="2813488"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Edit highlights predict real edits</a:t>
              </a:r>
            </a:p>
          </p:txBody>
        </p:sp>
        <p:sp>
          <p:nvSpPr>
            <p:cNvPr id="41" name="TextBox 41"/>
            <p:cNvSpPr txBox="1"/>
            <p:nvPr/>
          </p:nvSpPr>
          <p:spPr>
            <a:xfrm>
              <a:off x="6509956" y="3681651"/>
              <a:ext cx="363815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edit model's highlights closely predict what people</a:t>
              </a:r>
            </a:p>
          </p:txBody>
        </p:sp>
        <p:sp>
          <p:nvSpPr>
            <p:cNvPr id="42" name="TextBox 42"/>
            <p:cNvSpPr txBox="1"/>
            <p:nvPr/>
          </p:nvSpPr>
          <p:spPr>
            <a:xfrm>
              <a:off x="6509956" y="3862626"/>
              <a:ext cx="404848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actually change; gen-prob highlights barely move the needle.</a:t>
              </a:r>
            </a:p>
          </p:txBody>
        </p:sp>
        <p:sp>
          <p:nvSpPr>
            <p:cNvPr id="43" name="TextBox 43"/>
            <p:cNvSpPr txBox="1"/>
            <p:nvPr/>
          </p:nvSpPr>
          <p:spPr>
            <a:xfrm>
              <a:off x="6509956" y="4043601"/>
              <a:ext cx="280866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All differences are extremely significant.</a:t>
              </a:r>
            </a:p>
          </p:txBody>
        </p:sp>
        <p:sp>
          <p:nvSpPr>
            <p:cNvPr id="44" name="TextBox 44"/>
            <p:cNvSpPr txBox="1"/>
            <p:nvPr/>
          </p:nvSpPr>
          <p:spPr>
            <a:xfrm>
              <a:off x="6510338" y="4566047"/>
              <a:ext cx="1424590"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survival if highlighted</a:t>
              </a:r>
            </a:p>
          </p:txBody>
        </p:sp>
        <p:sp>
          <p:nvSpPr>
            <p:cNvPr id="45" name="Rectangle 45"/>
            <p:cNvSpPr/>
            <p:nvPr/>
          </p:nvSpPr>
          <p:spPr>
            <a:xfrm>
              <a:off x="8420100" y="4800600"/>
              <a:ext cx="2857500" cy="190500"/>
            </a:xfrm>
            <a:prstGeom prst="roundRect">
              <a:avLst>
                <a:gd name="adj" fmla="val 30000"/>
              </a:avLst>
            </a:prstGeom>
            <a:solidFill>
              <a:srgbClr val="0E2334"/>
            </a:solidFill>
            <a:ln w="9525">
              <a:solidFill>
                <a:srgbClr val="26455F"/>
              </a:solidFill>
            </a:ln>
          </p:spPr>
        </p:sp>
        <p:sp>
          <p:nvSpPr>
            <p:cNvPr id="46" name="Rectangle 46"/>
            <p:cNvSpPr/>
            <p:nvPr/>
          </p:nvSpPr>
          <p:spPr>
            <a:xfrm>
              <a:off x="8420100" y="4800600"/>
              <a:ext cx="1000125" cy="190500"/>
            </a:xfrm>
            <a:prstGeom prst="roundRect">
              <a:avLst>
                <a:gd name="adj" fmla="val 30000"/>
              </a:avLst>
            </a:prstGeom>
            <a:solidFill>
              <a:srgbClr val="48C78E"/>
            </a:solidFill>
            <a:ln>
              <a:noFill/>
            </a:ln>
          </p:spPr>
        </p:sp>
        <p:sp>
          <p:nvSpPr>
            <p:cNvPr id="47" name="TextBox 47"/>
            <p:cNvSpPr txBox="1"/>
            <p:nvPr/>
          </p:nvSpPr>
          <p:spPr>
            <a:xfrm>
              <a:off x="8011050" y="4839652"/>
              <a:ext cx="300084"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edit</a:t>
              </a:r>
            </a:p>
          </p:txBody>
        </p:sp>
        <p:sp>
          <p:nvSpPr>
            <p:cNvPr id="48" name="TextBox 48"/>
            <p:cNvSpPr txBox="1"/>
            <p:nvPr/>
          </p:nvSpPr>
          <p:spPr>
            <a:xfrm>
              <a:off x="9510141" y="4839652"/>
              <a:ext cx="285242"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35%</a:t>
              </a:r>
            </a:p>
          </p:txBody>
        </p:sp>
        <p:sp>
          <p:nvSpPr>
            <p:cNvPr id="49" name="Rectangle 49"/>
            <p:cNvSpPr/>
            <p:nvPr/>
          </p:nvSpPr>
          <p:spPr>
            <a:xfrm>
              <a:off x="8420100" y="5048250"/>
              <a:ext cx="2857500" cy="190500"/>
            </a:xfrm>
            <a:prstGeom prst="roundRect">
              <a:avLst>
                <a:gd name="adj" fmla="val 30000"/>
              </a:avLst>
            </a:prstGeom>
            <a:solidFill>
              <a:srgbClr val="0E2334"/>
            </a:solidFill>
            <a:ln w="9525">
              <a:solidFill>
                <a:srgbClr val="26455F"/>
              </a:solidFill>
            </a:ln>
          </p:spPr>
        </p:sp>
        <p:sp>
          <p:nvSpPr>
            <p:cNvPr id="50" name="Rectangle 50"/>
            <p:cNvSpPr/>
            <p:nvPr/>
          </p:nvSpPr>
          <p:spPr>
            <a:xfrm>
              <a:off x="8420100" y="5048250"/>
              <a:ext cx="2114550" cy="190500"/>
            </a:xfrm>
            <a:prstGeom prst="roundRect">
              <a:avLst>
                <a:gd name="adj" fmla="val 30000"/>
              </a:avLst>
            </a:prstGeom>
            <a:solidFill>
              <a:srgbClr val="F2C14E"/>
            </a:solidFill>
            <a:ln>
              <a:noFill/>
            </a:ln>
          </p:spPr>
        </p:sp>
        <p:sp>
          <p:nvSpPr>
            <p:cNvPr id="51" name="TextBox 51"/>
            <p:cNvSpPr txBox="1"/>
            <p:nvPr/>
          </p:nvSpPr>
          <p:spPr>
            <a:xfrm>
              <a:off x="7647424" y="5087302"/>
              <a:ext cx="66371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gen-prob</a:t>
              </a:r>
            </a:p>
          </p:txBody>
        </p:sp>
        <p:sp>
          <p:nvSpPr>
            <p:cNvPr id="52" name="TextBox 52"/>
            <p:cNvSpPr txBox="1"/>
            <p:nvPr/>
          </p:nvSpPr>
          <p:spPr>
            <a:xfrm>
              <a:off x="10624566" y="5087302"/>
              <a:ext cx="285242"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74%</a:t>
              </a:r>
            </a:p>
          </p:txBody>
        </p:sp>
      </p:grpSp>
      <p:sp>
        <p:nvSpPr>
          <p:cNvPr id="54" name="cue_s08_c1_understand_why_authors_tracked_which" title="cue_s08_c1_understand_why_authors_tracked_which" descr="cue_s08_c1_understand_why_authors_tracked_which To understand why, the authors tracked which tokens survived, meaning they were left unchanged by the participant."/>
          <p:cNvSpPr/>
          <p:nvPr/>
        </p:nvSpPr>
        <p:spPr>
          <a:xfrm>
            <a:off x="609600" y="1504645"/>
            <a:ext cx="5334000" cy="15238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8_c2_under_edit_tokens_left_un_highlighte" title="cue_s08_c2_under_edit_tokens_left_un_highlighte" descr="cue_s08_c2_under_edit_tokens_left_un_highlighte Under the edit model, tokens it left un-highlighted survived far more often, about eighty-seven percent of the time, while tokens it did highlight survived only about thirty-five percent of the time."/>
          <p:cNvSpPr/>
          <p:nvPr/>
        </p:nvSpPr>
        <p:spPr>
          <a:xfrm>
            <a:off x="609600" y="3162223"/>
            <a:ext cx="5334000" cy="20766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8_c3_compare_generation_probability_highl" title="cue_s08_c3_compare_generation_probability_highl" descr="cue_s08_c3_compare_generation_probability_highl Compare that to generation-probability highlighting, where highlighted tokens still survived seventy-four percent of the time."/>
          <p:cNvSpPr/>
          <p:nvPr/>
        </p:nvSpPr>
        <p:spPr>
          <a:xfrm>
            <a:off x="6248399" y="1504645"/>
            <a:ext cx="5334000" cy="15238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8_c4_other_words_edit_highlights_closely" title="cue_s08_c4_other_words_edit_highlights_closely" descr="cue_s08_c4_other_words_edit_highlights_closely In other words, the edit model's highlights closely predict what people actually change, while generation-probability highlights barely move the needle, and all of these differences are extremely significant."/>
          <p:cNvSpPr/>
          <p:nvPr/>
        </p:nvSpPr>
        <p:spPr>
          <a:xfrm>
            <a:off x="6248399" y="3162223"/>
            <a:ext cx="5334000" cy="213009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56361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impact in one place</a:t>
            </a:r>
          </a:p>
        </p:txBody>
      </p:sp>
      <p:grpSp>
        <p:nvGrpSpPr>
          <p:cNvPr id="18" name="Group 18"/>
          <p:cNvGrpSpPr/>
          <p:nvPr/>
        </p:nvGrpSpPr>
        <p:grpSpPr>
          <a:xfrm>
            <a:off x="609600" y="1581150"/>
            <a:ext cx="10972800" cy="1428750"/>
            <a:chOff x="609600" y="1581150"/>
            <a:chExt cx="10972800" cy="1428750"/>
          </a:xfrm>
        </p:grpSpPr>
        <p:sp>
          <p:nvSpPr>
            <p:cNvPr id="5" name="Rectangle 5"/>
            <p:cNvSpPr/>
            <p:nvPr/>
          </p:nvSpPr>
          <p:spPr>
            <a:xfrm>
              <a:off x="609600" y="1581150"/>
              <a:ext cx="10972800" cy="1428750"/>
            </a:xfrm>
            <a:prstGeom prst="roundRect">
              <a:avLst>
                <a:gd name="adj" fmla="val 9333"/>
              </a:avLst>
            </a:prstGeom>
            <a:solidFill>
              <a:schemeClr val="accent5"/>
            </a:solidFill>
            <a:ln w="14288">
              <a:solidFill>
                <a:srgbClr val="26455F"/>
              </a:solidFill>
            </a:ln>
          </p:spPr>
        </p:sp>
        <p:sp>
          <p:nvSpPr>
            <p:cNvPr id="6" name="Rectangle 6"/>
            <p:cNvSpPr/>
            <p:nvPr/>
          </p:nvSpPr>
          <p:spPr>
            <a:xfrm>
              <a:off x="609600" y="1581150"/>
              <a:ext cx="57150" cy="1428750"/>
            </a:xfrm>
            <a:prstGeom prst="roundRect">
              <a:avLst>
                <a:gd name="adj" fmla="val 50000"/>
              </a:avLst>
            </a:prstGeom>
            <a:solidFill>
              <a:srgbClr val="48C78E"/>
            </a:solidFill>
            <a:ln>
              <a:noFill/>
            </a:ln>
          </p:spPr>
        </p:sp>
        <p:sp>
          <p:nvSpPr>
            <p:cNvPr id="7" name="TextBox 7"/>
            <p:cNvSpPr txBox="1"/>
            <p:nvPr/>
          </p:nvSpPr>
          <p:spPr>
            <a:xfrm>
              <a:off x="870014" y="1790462"/>
              <a:ext cx="3462302"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Task time fell with edit-model highlights</a:t>
              </a:r>
            </a:p>
          </p:txBody>
        </p:sp>
        <p:sp>
          <p:nvSpPr>
            <p:cNvPr id="8" name="Rectangle 8"/>
            <p:cNvSpPr/>
            <p:nvPr/>
          </p:nvSpPr>
          <p:spPr>
            <a:xfrm>
              <a:off x="876300" y="2095500"/>
              <a:ext cx="2857500" cy="762000"/>
            </a:xfrm>
            <a:prstGeom prst="roundRect">
              <a:avLst>
                <a:gd name="adj" fmla="val 15000"/>
              </a:avLst>
            </a:prstGeom>
            <a:solidFill>
              <a:schemeClr val="accent6"/>
            </a:solidFill>
            <a:ln w="14288">
              <a:solidFill>
                <a:srgbClr val="26455F"/>
              </a:solidFill>
            </a:ln>
          </p:spPr>
        </p:sp>
        <p:sp>
          <p:nvSpPr>
            <p:cNvPr id="9" name="TextBox 9"/>
            <p:cNvSpPr txBox="1"/>
            <p:nvPr/>
          </p:nvSpPr>
          <p:spPr>
            <a:xfrm>
              <a:off x="1703557" y="2271522"/>
              <a:ext cx="1202986" cy="398983"/>
            </a:xfrm>
            <a:prstGeom prst="rect">
              <a:avLst/>
            </a:prstGeom>
            <a:noFill/>
            <a:ln>
              <a:noFill/>
            </a:ln>
          </p:spPr>
          <p:txBody>
            <a:bodyPr wrap="none" lIns="0" tIns="0" rIns="0" bIns="0" anchor="t" anchorCtr="0">
              <a:spAutoFit/>
            </a:bodyPr>
            <a:lstStyle/>
            <a:p>
              <a:pPr algn="ctr"/>
              <a:r>
                <a:rPr lang="en-US" sz="2040" b="1" dirty="0">
                  <a:solidFill>
                    <a:srgbClr val="F2C14E"/>
                  </a:solidFill>
                  <a:latin typeface="+mn-lt"/>
                  <a:ea typeface="+mn-ea"/>
                  <a:cs typeface="+mn-cs"/>
                </a:rPr>
                <a:t>9.61 min</a:t>
              </a:r>
            </a:p>
          </p:txBody>
        </p:sp>
        <p:sp>
          <p:nvSpPr>
            <p:cNvPr id="10" name="TextBox 10"/>
            <p:cNvSpPr txBox="1"/>
            <p:nvPr/>
          </p:nvSpPr>
          <p:spPr>
            <a:xfrm>
              <a:off x="1579468" y="2603897"/>
              <a:ext cx="145116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generation probability</a:t>
              </a:r>
            </a:p>
          </p:txBody>
        </p:sp>
        <p:sp>
          <p:nvSpPr>
            <p:cNvPr id="11" name="TextBox 11"/>
            <p:cNvSpPr txBox="1"/>
            <p:nvPr/>
          </p:nvSpPr>
          <p:spPr>
            <a:xfrm>
              <a:off x="3895344" y="2342198"/>
              <a:ext cx="323010" cy="381381"/>
            </a:xfrm>
            <a:prstGeom prst="rect">
              <a:avLst/>
            </a:prstGeom>
            <a:noFill/>
            <a:ln>
              <a:noFill/>
            </a:ln>
          </p:spPr>
          <p:txBody>
            <a:bodyPr wrap="none" lIns="0" tIns="0" rIns="0" bIns="0" anchor="t" anchorCtr="0">
              <a:spAutoFit/>
            </a:bodyPr>
            <a:lstStyle/>
            <a:p>
              <a:pPr algn="l"/>
              <a:r>
                <a:rPr lang="en-US" sz="1950" b="1" dirty="0">
                  <a:solidFill>
                    <a:srgbClr val="48C78E"/>
                  </a:solidFill>
                  <a:latin typeface="+mn-lt"/>
                  <a:ea typeface="+mn-ea"/>
                  <a:cs typeface="+mn-cs"/>
                </a:rPr>
                <a:t>-&gt;</a:t>
              </a:r>
            </a:p>
          </p:txBody>
        </p:sp>
        <p:sp>
          <p:nvSpPr>
            <p:cNvPr id="12" name="Rectangle 12"/>
            <p:cNvSpPr/>
            <p:nvPr/>
          </p:nvSpPr>
          <p:spPr>
            <a:xfrm>
              <a:off x="4305300" y="2095500"/>
              <a:ext cx="2857500" cy="762000"/>
            </a:xfrm>
            <a:prstGeom prst="roundRect">
              <a:avLst>
                <a:gd name="adj" fmla="val 15000"/>
              </a:avLst>
            </a:prstGeom>
            <a:solidFill>
              <a:schemeClr val="accent6"/>
            </a:solidFill>
            <a:ln w="14288">
              <a:solidFill>
                <a:srgbClr val="26455F"/>
              </a:solidFill>
            </a:ln>
          </p:spPr>
        </p:sp>
        <p:sp>
          <p:nvSpPr>
            <p:cNvPr id="13" name="TextBox 13"/>
            <p:cNvSpPr txBox="1"/>
            <p:nvPr/>
          </p:nvSpPr>
          <p:spPr>
            <a:xfrm>
              <a:off x="5132557" y="2271522"/>
              <a:ext cx="1202986" cy="398983"/>
            </a:xfrm>
            <a:prstGeom prst="rect">
              <a:avLst/>
            </a:prstGeom>
            <a:noFill/>
            <a:ln>
              <a:noFill/>
            </a:ln>
          </p:spPr>
          <p:txBody>
            <a:bodyPr wrap="none" lIns="0" tIns="0" rIns="0" bIns="0" anchor="t" anchorCtr="0">
              <a:spAutoFit/>
            </a:bodyPr>
            <a:lstStyle/>
            <a:p>
              <a:pPr algn="ctr"/>
              <a:r>
                <a:rPr lang="en-US" sz="2040" b="1" dirty="0">
                  <a:solidFill>
                    <a:srgbClr val="48C78E"/>
                  </a:solidFill>
                  <a:latin typeface="+mn-lt"/>
                  <a:ea typeface="+mn-ea"/>
                  <a:cs typeface="+mn-cs"/>
                </a:rPr>
                <a:t>8.59 min</a:t>
              </a:r>
            </a:p>
          </p:txBody>
        </p:sp>
        <p:sp>
          <p:nvSpPr>
            <p:cNvPr id="14" name="TextBox 14"/>
            <p:cNvSpPr txBox="1"/>
            <p:nvPr/>
          </p:nvSpPr>
          <p:spPr>
            <a:xfrm>
              <a:off x="5400434" y="2603897"/>
              <a:ext cx="66723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edit model</a:t>
              </a:r>
            </a:p>
          </p:txBody>
        </p:sp>
        <p:sp>
          <p:nvSpPr>
            <p:cNvPr id="15" name="Rectangle 15"/>
            <p:cNvSpPr/>
            <p:nvPr/>
          </p:nvSpPr>
          <p:spPr>
            <a:xfrm>
              <a:off x="7353300" y="2095500"/>
              <a:ext cx="4229100" cy="762000"/>
            </a:xfrm>
            <a:prstGeom prst="roundRect">
              <a:avLst>
                <a:gd name="adj" fmla="val 15000"/>
              </a:avLst>
            </a:prstGeom>
            <a:solidFill>
              <a:schemeClr val="accent6"/>
            </a:solidFill>
            <a:ln w="14288">
              <a:solidFill>
                <a:srgbClr val="26455F"/>
              </a:solidFill>
            </a:ln>
          </p:spPr>
        </p:sp>
        <p:sp>
          <p:nvSpPr>
            <p:cNvPr id="16" name="TextBox 16"/>
            <p:cNvSpPr txBox="1"/>
            <p:nvPr/>
          </p:nvSpPr>
          <p:spPr>
            <a:xfrm>
              <a:off x="8657345" y="2286952"/>
              <a:ext cx="1621009"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a significant speed-up</a:t>
              </a:r>
            </a:p>
          </p:txBody>
        </p:sp>
        <p:sp>
          <p:nvSpPr>
            <p:cNvPr id="17" name="TextBox 17"/>
            <p:cNvSpPr txBox="1"/>
            <p:nvPr/>
          </p:nvSpPr>
          <p:spPr>
            <a:xfrm>
              <a:off x="9109888" y="2526506"/>
              <a:ext cx="715923" cy="220028"/>
            </a:xfrm>
            <a:prstGeom prst="rect">
              <a:avLst/>
            </a:prstGeom>
            <a:noFill/>
            <a:ln>
              <a:noFill/>
            </a:ln>
          </p:spPr>
          <p:txBody>
            <a:bodyPr wrap="none" lIns="0" tIns="0" rIns="0" bIns="0" anchor="t" anchorCtr="0">
              <a:spAutoFit/>
            </a:bodyPr>
            <a:lstStyle/>
            <a:p>
              <a:pPr algn="ctr"/>
              <a:r>
                <a:rPr lang="en-US" sz="1120" b="1" dirty="0">
                  <a:solidFill>
                    <a:srgbClr val="34D3C0"/>
                  </a:solidFill>
                  <a:latin typeface="Consolas"/>
                  <a:ea typeface="Consolas"/>
                  <a:cs typeface="Consolas"/>
                </a:rPr>
                <a:t>p = 0.003</a:t>
              </a:r>
            </a:p>
          </p:txBody>
        </p:sp>
      </p:grpSp>
      <p:grpSp>
        <p:nvGrpSpPr>
          <p:cNvPr id="32" name="Group 32"/>
          <p:cNvGrpSpPr/>
          <p:nvPr/>
        </p:nvGrpSpPr>
        <p:grpSpPr>
          <a:xfrm>
            <a:off x="609600" y="3162300"/>
            <a:ext cx="5334000" cy="2088976"/>
            <a:chOff x="609600" y="3162300"/>
            <a:chExt cx="5334000" cy="2088976"/>
          </a:xfrm>
        </p:grpSpPr>
        <p:sp>
          <p:nvSpPr>
            <p:cNvPr id="19" name="Rectangle 19"/>
            <p:cNvSpPr/>
            <p:nvPr/>
          </p:nvSpPr>
          <p:spPr>
            <a:xfrm>
              <a:off x="609600" y="3162300"/>
              <a:ext cx="5334000" cy="2076450"/>
            </a:xfrm>
            <a:prstGeom prst="roundRect">
              <a:avLst>
                <a:gd name="adj" fmla="val 6422"/>
              </a:avLst>
            </a:prstGeom>
            <a:solidFill>
              <a:srgbClr val="0F2E2B"/>
            </a:solidFill>
            <a:ln w="14288">
              <a:solidFill>
                <a:srgbClr val="34D3C0"/>
              </a:solidFill>
            </a:ln>
          </p:spPr>
        </p:sp>
        <p:sp>
          <p:nvSpPr>
            <p:cNvPr id="20" name="Rectangle 20"/>
            <p:cNvSpPr/>
            <p:nvPr/>
          </p:nvSpPr>
          <p:spPr>
            <a:xfrm>
              <a:off x="609600" y="3162300"/>
              <a:ext cx="57150" cy="2076450"/>
            </a:xfrm>
            <a:prstGeom prst="roundRect">
              <a:avLst>
                <a:gd name="adj" fmla="val 50000"/>
              </a:avLst>
            </a:prstGeom>
            <a:solidFill>
              <a:srgbClr val="34D3C0"/>
            </a:solidFill>
            <a:ln>
              <a:noFill/>
            </a:ln>
          </p:spPr>
        </p:sp>
        <p:sp>
          <p:nvSpPr>
            <p:cNvPr id="21" name="TextBox 21"/>
            <p:cNvSpPr txBox="1"/>
            <p:nvPr/>
          </p:nvSpPr>
          <p:spPr>
            <a:xfrm>
              <a:off x="870204" y="3375660"/>
              <a:ext cx="3189238"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Highlighted-token survival fell sharply</a:t>
              </a:r>
            </a:p>
          </p:txBody>
        </p:sp>
        <p:sp>
          <p:nvSpPr>
            <p:cNvPr id="22" name="TextBox 22"/>
            <p:cNvSpPr txBox="1"/>
            <p:nvPr/>
          </p:nvSpPr>
          <p:spPr>
            <a:xfrm>
              <a:off x="871156" y="3681651"/>
              <a:ext cx="3522532"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Tighter alignment with real edits: highlighted tokens</a:t>
              </a:r>
            </a:p>
          </p:txBody>
        </p:sp>
        <p:sp>
          <p:nvSpPr>
            <p:cNvPr id="23" name="TextBox 23"/>
            <p:cNvSpPr txBox="1"/>
            <p:nvPr/>
          </p:nvSpPr>
          <p:spPr>
            <a:xfrm>
              <a:off x="871156" y="3872151"/>
              <a:ext cx="3028737"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survived far less often under the edit model.</a:t>
              </a:r>
            </a:p>
          </p:txBody>
        </p:sp>
        <p:sp>
          <p:nvSpPr>
            <p:cNvPr id="24" name="Rectangle 24"/>
            <p:cNvSpPr/>
            <p:nvPr/>
          </p:nvSpPr>
          <p:spPr>
            <a:xfrm>
              <a:off x="876300" y="4400550"/>
              <a:ext cx="2247900" cy="609600"/>
            </a:xfrm>
            <a:prstGeom prst="roundRect">
              <a:avLst>
                <a:gd name="adj" fmla="val 18750"/>
              </a:avLst>
            </a:prstGeom>
            <a:solidFill>
              <a:schemeClr val="accent6"/>
            </a:solidFill>
            <a:ln w="14288">
              <a:solidFill>
                <a:srgbClr val="26455F"/>
              </a:solidFill>
            </a:ln>
          </p:spPr>
        </p:sp>
        <p:sp>
          <p:nvSpPr>
            <p:cNvPr id="25" name="TextBox 25"/>
            <p:cNvSpPr txBox="1"/>
            <p:nvPr/>
          </p:nvSpPr>
          <p:spPr>
            <a:xfrm>
              <a:off x="1778837" y="4541368"/>
              <a:ext cx="442825" cy="319187"/>
            </a:xfrm>
            <a:prstGeom prst="rect">
              <a:avLst/>
            </a:prstGeom>
            <a:noFill/>
            <a:ln>
              <a:noFill/>
            </a:ln>
          </p:spPr>
          <p:txBody>
            <a:bodyPr wrap="none" lIns="0" tIns="0" rIns="0" bIns="0" anchor="t" anchorCtr="0">
              <a:spAutoFit/>
            </a:bodyPr>
            <a:lstStyle/>
            <a:p>
              <a:pPr algn="ctr"/>
              <a:r>
                <a:rPr lang="en-US" sz="1630" b="1" dirty="0">
                  <a:solidFill>
                    <a:srgbClr val="F2C14E"/>
                  </a:solidFill>
                  <a:latin typeface="+mn-lt"/>
                  <a:ea typeface="+mn-ea"/>
                  <a:cs typeface="+mn-cs"/>
                </a:rPr>
                <a:t>74%</a:t>
              </a:r>
            </a:p>
          </p:txBody>
        </p:sp>
        <p:sp>
          <p:nvSpPr>
            <p:cNvPr id="26" name="TextBox 26"/>
            <p:cNvSpPr txBox="1"/>
            <p:nvPr/>
          </p:nvSpPr>
          <p:spPr>
            <a:xfrm>
              <a:off x="1407538" y="4787027"/>
              <a:ext cx="118542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gen-prob survived</a:t>
              </a:r>
            </a:p>
          </p:txBody>
        </p:sp>
        <p:sp>
          <p:nvSpPr>
            <p:cNvPr id="27" name="TextBox 27"/>
            <p:cNvSpPr txBox="1"/>
            <p:nvPr/>
          </p:nvSpPr>
          <p:spPr>
            <a:xfrm>
              <a:off x="3229356" y="4587240"/>
              <a:ext cx="298163" cy="352044"/>
            </a:xfrm>
            <a:prstGeom prst="rect">
              <a:avLst/>
            </a:prstGeom>
            <a:noFill/>
            <a:ln>
              <a:noFill/>
            </a:ln>
          </p:spPr>
          <p:txBody>
            <a:bodyPr wrap="none" lIns="0" tIns="0" rIns="0" bIns="0" anchor="t" anchorCtr="0">
              <a:spAutoFit/>
            </a:bodyPr>
            <a:lstStyle/>
            <a:p>
              <a:pPr algn="l"/>
              <a:r>
                <a:rPr lang="en-US" sz="1800" b="1" dirty="0">
                  <a:solidFill>
                    <a:srgbClr val="34D3C0"/>
                  </a:solidFill>
                  <a:latin typeface="+mn-lt"/>
                  <a:ea typeface="+mn-ea"/>
                  <a:cs typeface="+mn-cs"/>
                </a:rPr>
                <a:t>-&gt;</a:t>
              </a:r>
            </a:p>
          </p:txBody>
        </p:sp>
        <p:sp>
          <p:nvSpPr>
            <p:cNvPr id="28" name="Rectangle 28"/>
            <p:cNvSpPr/>
            <p:nvPr/>
          </p:nvSpPr>
          <p:spPr>
            <a:xfrm>
              <a:off x="3619500" y="4400550"/>
              <a:ext cx="2247900" cy="609600"/>
            </a:xfrm>
            <a:prstGeom prst="roundRect">
              <a:avLst>
                <a:gd name="adj" fmla="val 18750"/>
              </a:avLst>
            </a:prstGeom>
            <a:solidFill>
              <a:schemeClr val="accent6"/>
            </a:solidFill>
            <a:ln w="14288">
              <a:solidFill>
                <a:srgbClr val="26455F"/>
              </a:solidFill>
            </a:ln>
          </p:spPr>
        </p:sp>
        <p:sp>
          <p:nvSpPr>
            <p:cNvPr id="29" name="TextBox 29"/>
            <p:cNvSpPr txBox="1"/>
            <p:nvPr/>
          </p:nvSpPr>
          <p:spPr>
            <a:xfrm>
              <a:off x="4522037" y="4541368"/>
              <a:ext cx="442825" cy="319187"/>
            </a:xfrm>
            <a:prstGeom prst="rect">
              <a:avLst/>
            </a:prstGeom>
            <a:noFill/>
            <a:ln>
              <a:noFill/>
            </a:ln>
          </p:spPr>
          <p:txBody>
            <a:bodyPr wrap="none" lIns="0" tIns="0" rIns="0" bIns="0" anchor="t" anchorCtr="0">
              <a:spAutoFit/>
            </a:bodyPr>
            <a:lstStyle/>
            <a:p>
              <a:pPr algn="ctr"/>
              <a:r>
                <a:rPr lang="en-US" sz="1630" b="1" dirty="0">
                  <a:solidFill>
                    <a:srgbClr val="34D3C0"/>
                  </a:solidFill>
                  <a:latin typeface="+mn-lt"/>
                  <a:ea typeface="+mn-ea"/>
                  <a:cs typeface="+mn-cs"/>
                </a:rPr>
                <a:t>35%</a:t>
              </a:r>
            </a:p>
          </p:txBody>
        </p:sp>
        <p:sp>
          <p:nvSpPr>
            <p:cNvPr id="30" name="TextBox 30"/>
            <p:cNvSpPr txBox="1"/>
            <p:nvPr/>
          </p:nvSpPr>
          <p:spPr>
            <a:xfrm>
              <a:off x="4313504" y="4787027"/>
              <a:ext cx="85989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edit survived</a:t>
              </a:r>
            </a:p>
          </p:txBody>
        </p:sp>
        <p:sp>
          <p:nvSpPr>
            <p:cNvPr id="31" name="TextBox 31"/>
            <p:cNvSpPr txBox="1"/>
            <p:nvPr/>
          </p:nvSpPr>
          <p:spPr>
            <a:xfrm>
              <a:off x="871156" y="5053251"/>
              <a:ext cx="724110" cy="198025"/>
            </a:xfrm>
            <a:prstGeom prst="rect">
              <a:avLst/>
            </a:prstGeom>
            <a:noFill/>
            <a:ln>
              <a:noFill/>
            </a:ln>
          </p:spPr>
          <p:txBody>
            <a:bodyPr wrap="none" lIns="0" tIns="0" rIns="0" bIns="0" anchor="t" anchorCtr="0">
              <a:spAutoFit/>
            </a:bodyPr>
            <a:lstStyle/>
            <a:p>
              <a:pPr algn="l"/>
              <a:r>
                <a:rPr lang="en-US" sz="1010" b="1" dirty="0">
                  <a:solidFill>
                    <a:srgbClr val="34D3C0"/>
                  </a:solidFill>
                  <a:latin typeface="Consolas"/>
                  <a:ea typeface="Consolas"/>
                  <a:cs typeface="Consolas"/>
                </a:rPr>
                <a:t>p &lt; 0.0001</a:t>
              </a:r>
            </a:p>
          </p:txBody>
        </p:sp>
      </p:grpSp>
      <p:grpSp>
        <p:nvGrpSpPr>
          <p:cNvPr id="47" name="Group 47"/>
          <p:cNvGrpSpPr/>
          <p:nvPr/>
        </p:nvGrpSpPr>
        <p:grpSpPr>
          <a:xfrm>
            <a:off x="6248400" y="3162300"/>
            <a:ext cx="5334000" cy="2088976"/>
            <a:chOff x="6248400" y="3162300"/>
            <a:chExt cx="5334000" cy="2088976"/>
          </a:xfrm>
        </p:grpSpPr>
        <p:sp>
          <p:nvSpPr>
            <p:cNvPr id="33" name="Rectangle 33"/>
            <p:cNvSpPr/>
            <p:nvPr/>
          </p:nvSpPr>
          <p:spPr>
            <a:xfrm>
              <a:off x="6248400" y="3162300"/>
              <a:ext cx="5334000" cy="2076450"/>
            </a:xfrm>
            <a:prstGeom prst="roundRect">
              <a:avLst>
                <a:gd name="adj" fmla="val 6422"/>
              </a:avLst>
            </a:prstGeom>
            <a:solidFill>
              <a:srgbClr val="2A2417"/>
            </a:solidFill>
            <a:ln w="14288">
              <a:solidFill>
                <a:srgbClr val="F2C14E"/>
              </a:solidFill>
            </a:ln>
          </p:spPr>
        </p:sp>
        <p:sp>
          <p:nvSpPr>
            <p:cNvPr id="34" name="Rectangle 34"/>
            <p:cNvSpPr/>
            <p:nvPr/>
          </p:nvSpPr>
          <p:spPr>
            <a:xfrm>
              <a:off x="6248400" y="3162300"/>
              <a:ext cx="57150" cy="2076450"/>
            </a:xfrm>
            <a:prstGeom prst="roundRect">
              <a:avLst>
                <a:gd name="adj" fmla="val 50000"/>
              </a:avLst>
            </a:prstGeom>
            <a:solidFill>
              <a:srgbClr val="F2C14E"/>
            </a:solidFill>
            <a:ln>
              <a:noFill/>
            </a:ln>
          </p:spPr>
        </p:sp>
        <p:sp>
          <p:nvSpPr>
            <p:cNvPr id="35" name="TextBox 35"/>
            <p:cNvSpPr txBox="1"/>
            <p:nvPr/>
          </p:nvSpPr>
          <p:spPr>
            <a:xfrm>
              <a:off x="6509004" y="3375660"/>
              <a:ext cx="2943500"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Users preferred the edit highlights</a:t>
              </a:r>
            </a:p>
          </p:txBody>
        </p:sp>
        <p:sp>
          <p:nvSpPr>
            <p:cNvPr id="36" name="TextBox 36"/>
            <p:cNvSpPr txBox="1"/>
            <p:nvPr/>
          </p:nvSpPr>
          <p:spPr>
            <a:xfrm>
              <a:off x="6509956" y="3681651"/>
              <a:ext cx="378128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On a seven-point preference scale, users rated the edit</a:t>
              </a:r>
            </a:p>
          </p:txBody>
        </p:sp>
        <p:sp>
          <p:nvSpPr>
            <p:cNvPr id="37" name="TextBox 37"/>
            <p:cNvSpPr txBox="1"/>
            <p:nvPr/>
          </p:nvSpPr>
          <p:spPr>
            <a:xfrm>
              <a:off x="6509956" y="3872151"/>
              <a:ext cx="2960754"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highlights well above generation probability.</a:t>
              </a:r>
            </a:p>
          </p:txBody>
        </p:sp>
        <p:sp>
          <p:nvSpPr>
            <p:cNvPr id="38" name="Rectangle 38"/>
            <p:cNvSpPr/>
            <p:nvPr/>
          </p:nvSpPr>
          <p:spPr>
            <a:xfrm>
              <a:off x="7848600" y="4305300"/>
              <a:ext cx="2857500" cy="247650"/>
            </a:xfrm>
            <a:prstGeom prst="roundRect">
              <a:avLst>
                <a:gd name="adj" fmla="val 23077"/>
              </a:avLst>
            </a:prstGeom>
            <a:solidFill>
              <a:srgbClr val="0E2334"/>
            </a:solidFill>
            <a:ln w="9525">
              <a:solidFill>
                <a:srgbClr val="26455F"/>
              </a:solidFill>
            </a:ln>
          </p:spPr>
        </p:sp>
        <p:sp>
          <p:nvSpPr>
            <p:cNvPr id="39" name="Rectangle 39"/>
            <p:cNvSpPr/>
            <p:nvPr/>
          </p:nvSpPr>
          <p:spPr>
            <a:xfrm>
              <a:off x="7848600" y="4305300"/>
              <a:ext cx="1600200" cy="247650"/>
            </a:xfrm>
            <a:prstGeom prst="roundRect">
              <a:avLst>
                <a:gd name="adj" fmla="val 23077"/>
              </a:avLst>
            </a:prstGeom>
            <a:solidFill>
              <a:srgbClr val="48C78E"/>
            </a:solidFill>
            <a:ln>
              <a:noFill/>
            </a:ln>
          </p:spPr>
        </p:sp>
        <p:sp>
          <p:nvSpPr>
            <p:cNvPr id="40" name="TextBox 40"/>
            <p:cNvSpPr txBox="1"/>
            <p:nvPr/>
          </p:nvSpPr>
          <p:spPr>
            <a:xfrm>
              <a:off x="6994294" y="4384358"/>
              <a:ext cx="74534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edit model</a:t>
              </a:r>
            </a:p>
          </p:txBody>
        </p:sp>
        <p:sp>
          <p:nvSpPr>
            <p:cNvPr id="41" name="TextBox 41"/>
            <p:cNvSpPr txBox="1"/>
            <p:nvPr/>
          </p:nvSpPr>
          <p:spPr>
            <a:xfrm>
              <a:off x="9538716" y="4384358"/>
              <a:ext cx="337189"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3.94</a:t>
              </a:r>
            </a:p>
          </p:txBody>
        </p:sp>
        <p:sp>
          <p:nvSpPr>
            <p:cNvPr id="42" name="Rectangle 42"/>
            <p:cNvSpPr/>
            <p:nvPr/>
          </p:nvSpPr>
          <p:spPr>
            <a:xfrm>
              <a:off x="7848600" y="4705350"/>
              <a:ext cx="2857500" cy="247650"/>
            </a:xfrm>
            <a:prstGeom prst="roundRect">
              <a:avLst>
                <a:gd name="adj" fmla="val 23077"/>
              </a:avLst>
            </a:prstGeom>
            <a:solidFill>
              <a:srgbClr val="0E2334"/>
            </a:solidFill>
            <a:ln w="9525">
              <a:solidFill>
                <a:srgbClr val="26455F"/>
              </a:solidFill>
            </a:ln>
          </p:spPr>
        </p:sp>
        <p:sp>
          <p:nvSpPr>
            <p:cNvPr id="43" name="Rectangle 43"/>
            <p:cNvSpPr/>
            <p:nvPr/>
          </p:nvSpPr>
          <p:spPr>
            <a:xfrm>
              <a:off x="7848600" y="4705350"/>
              <a:ext cx="1171575" cy="247650"/>
            </a:xfrm>
            <a:prstGeom prst="roundRect">
              <a:avLst>
                <a:gd name="adj" fmla="val 23077"/>
              </a:avLst>
            </a:prstGeom>
            <a:solidFill>
              <a:srgbClr val="F2C14E"/>
            </a:solidFill>
            <a:ln>
              <a:noFill/>
            </a:ln>
          </p:spPr>
        </p:sp>
        <p:sp>
          <p:nvSpPr>
            <p:cNvPr id="44" name="TextBox 44"/>
            <p:cNvSpPr txBox="1"/>
            <p:nvPr/>
          </p:nvSpPr>
          <p:spPr>
            <a:xfrm>
              <a:off x="7075924" y="4784408"/>
              <a:ext cx="66371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gen-prob</a:t>
              </a:r>
            </a:p>
          </p:txBody>
        </p:sp>
        <p:sp>
          <p:nvSpPr>
            <p:cNvPr id="45" name="TextBox 45"/>
            <p:cNvSpPr txBox="1"/>
            <p:nvPr/>
          </p:nvSpPr>
          <p:spPr>
            <a:xfrm>
              <a:off x="9110091" y="4784408"/>
              <a:ext cx="337189"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2.88</a:t>
              </a:r>
            </a:p>
          </p:txBody>
        </p:sp>
        <p:sp>
          <p:nvSpPr>
            <p:cNvPr id="46" name="TextBox 46"/>
            <p:cNvSpPr txBox="1"/>
            <p:nvPr/>
          </p:nvSpPr>
          <p:spPr>
            <a:xfrm>
              <a:off x="6509956" y="5053251"/>
              <a:ext cx="1723461" cy="198025"/>
            </a:xfrm>
            <a:prstGeom prst="rect">
              <a:avLst/>
            </a:prstGeom>
            <a:noFill/>
            <a:ln>
              <a:noFill/>
            </a:ln>
          </p:spPr>
          <p:txBody>
            <a:bodyPr wrap="none" lIns="0" tIns="0" rIns="0" bIns="0" anchor="t" anchorCtr="0">
              <a:spAutoFit/>
            </a:bodyPr>
            <a:lstStyle/>
            <a:p>
              <a:pPr algn="l"/>
              <a:r>
                <a:rPr lang="en-US" sz="1010" b="1" dirty="0">
                  <a:solidFill>
                    <a:srgbClr val="F2C14E"/>
                  </a:solidFill>
                  <a:latin typeface="Consolas"/>
                  <a:ea typeface="Consolas"/>
                  <a:cs typeface="Consolas"/>
                </a:rPr>
                <a:t>7-point scale · p = 0.001</a:t>
              </a:r>
            </a:p>
          </p:txBody>
        </p:sp>
      </p:grpSp>
      <p:sp>
        <p:nvSpPr>
          <p:cNvPr id="48" name="cue_s09_c1_put_numbers_task_time_dropped" title="cue_s09_c1_put_numbers_task_time_dropped" descr="cue_s09_c1_put_numbers_task_time_dropped To put numbers on it: task time dropped from nine point six one minutes with generation-probability highlighting to eight point five nine minutes with the edit model, a significant difference at p equals zero point zero zero three."/>
          <p:cNvSpPr/>
          <p:nvPr/>
        </p:nvSpPr>
        <p:spPr>
          <a:xfrm>
            <a:off x="609600" y="1581454"/>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9_c2_highlighted_token_survival_fell_seve" title="cue_s09_c2_highlighted_token_survival_fell_seve" descr="cue_s09_c2_highlighted_token_survival_fell_seve Highlighted-token survival fell from seventy-four percent to thirty-five percent, showing far tighter alignment with real edits, at p below zero point zero zero zero one."/>
          <p:cNvSpPr/>
          <p:nvPr/>
        </p:nvSpPr>
        <p:spPr>
          <a:xfrm>
            <a:off x="609600" y="3162223"/>
            <a:ext cx="5334000" cy="208894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9_c3_seven_point_preference_scale_users_r" title="cue_s09_c3_seven_point_preference_scale_users_r" descr="cue_s09_c3_seven_point_preference_scale_users_r And on a seven-point preference scale, users rated the edit highlights three point nine four versus two point eight eight for generation probability, significant at p equals zero point zero zero one."/>
          <p:cNvSpPr/>
          <p:nvPr/>
        </p:nvSpPr>
        <p:spPr>
          <a:xfrm>
            <a:off x="6248399" y="3162223"/>
            <a:ext cx="5334000" cy="208894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726904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What you highlight matters more than whether</a:t>
            </a:r>
          </a:p>
        </p:txBody>
      </p:sp>
      <p:grpSp>
        <p:nvGrpSpPr>
          <p:cNvPr id="11" name="Group 11"/>
          <p:cNvGrpSpPr/>
          <p:nvPr/>
        </p:nvGrpSpPr>
        <p:grpSpPr>
          <a:xfrm>
            <a:off x="609600" y="1676400"/>
            <a:ext cx="5429250" cy="1409700"/>
            <a:chOff x="609600" y="1676400"/>
            <a:chExt cx="5429250" cy="1409700"/>
          </a:xfrm>
        </p:grpSpPr>
        <p:sp>
          <p:nvSpPr>
            <p:cNvPr id="5" name="Rectangle 5"/>
            <p:cNvSpPr/>
            <p:nvPr/>
          </p:nvSpPr>
          <p:spPr>
            <a:xfrm>
              <a:off x="609600" y="1676400"/>
              <a:ext cx="5429250" cy="1409700"/>
            </a:xfrm>
            <a:prstGeom prst="roundRect">
              <a:avLst>
                <a:gd name="adj" fmla="val 9459"/>
              </a:avLst>
            </a:prstGeom>
            <a:solidFill>
              <a:schemeClr val="accent5"/>
            </a:solidFill>
            <a:ln w="14288">
              <a:solidFill>
                <a:srgbClr val="26455F"/>
              </a:solidFill>
            </a:ln>
          </p:spPr>
        </p:sp>
        <p:sp>
          <p:nvSpPr>
            <p:cNvPr id="6" name="Rectangle 6"/>
            <p:cNvSpPr/>
            <p:nvPr/>
          </p:nvSpPr>
          <p:spPr>
            <a:xfrm>
              <a:off x="609600" y="1676400"/>
              <a:ext cx="57150" cy="1409700"/>
            </a:xfrm>
            <a:prstGeom prst="roundRect">
              <a:avLst>
                <a:gd name="adj" fmla="val 50000"/>
              </a:avLst>
            </a:prstGeom>
            <a:solidFill>
              <a:schemeClr val="accent2"/>
            </a:solidFill>
            <a:ln>
              <a:noFill/>
            </a:ln>
          </p:spPr>
        </p:sp>
        <p:sp>
          <p:nvSpPr>
            <p:cNvPr id="7" name="Ellipse 7"/>
            <p:cNvSpPr/>
            <p:nvPr/>
          </p:nvSpPr>
          <p:spPr>
            <a:xfrm>
              <a:off x="895350" y="1962150"/>
              <a:ext cx="190500" cy="190500"/>
            </a:xfrm>
            <a:prstGeom prst="ellipse">
              <a:avLst/>
            </a:prstGeom>
            <a:solidFill>
              <a:schemeClr val="accent2"/>
            </a:solidFill>
            <a:ln>
              <a:noFill/>
            </a:ln>
          </p:spPr>
        </p:sp>
        <p:sp>
          <p:nvSpPr>
            <p:cNvPr id="8" name="TextBox 8"/>
            <p:cNvSpPr txBox="1"/>
            <p:nvPr/>
          </p:nvSpPr>
          <p:spPr>
            <a:xfrm>
              <a:off x="1212532" y="1972866"/>
              <a:ext cx="243574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A simple but pointed lesson</a:t>
              </a:r>
            </a:p>
          </p:txBody>
        </p:sp>
        <p:sp>
          <p:nvSpPr>
            <p:cNvPr id="9" name="TextBox 9"/>
            <p:cNvSpPr txBox="1"/>
            <p:nvPr/>
          </p:nvSpPr>
          <p:spPr>
            <a:xfrm>
              <a:off x="870966" y="2344102"/>
              <a:ext cx="390282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lesson from the study is simple, but pointed - and it</a:t>
              </a:r>
            </a:p>
          </p:txBody>
        </p:sp>
        <p:sp>
          <p:nvSpPr>
            <p:cNvPr id="10" name="TextBox 10"/>
            <p:cNvSpPr txBox="1"/>
            <p:nvPr/>
          </p:nvSpPr>
          <p:spPr>
            <a:xfrm>
              <a:off x="870966" y="2544128"/>
              <a:ext cx="218040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challenges an intuitive default.</a:t>
              </a:r>
            </a:p>
          </p:txBody>
        </p:sp>
      </p:grpSp>
      <p:grpSp>
        <p:nvGrpSpPr>
          <p:cNvPr id="19" name="Group 19"/>
          <p:cNvGrpSpPr/>
          <p:nvPr/>
        </p:nvGrpSpPr>
        <p:grpSpPr>
          <a:xfrm>
            <a:off x="6153150" y="1676400"/>
            <a:ext cx="5429250" cy="1409700"/>
            <a:chOff x="6153150" y="1676400"/>
            <a:chExt cx="5429250" cy="1409700"/>
          </a:xfrm>
        </p:grpSpPr>
        <p:sp>
          <p:nvSpPr>
            <p:cNvPr id="12" name="Rectangle 12"/>
            <p:cNvSpPr/>
            <p:nvPr/>
          </p:nvSpPr>
          <p:spPr>
            <a:xfrm>
              <a:off x="6153150" y="1676400"/>
              <a:ext cx="5429250" cy="1409700"/>
            </a:xfrm>
            <a:prstGeom prst="roundRect">
              <a:avLst>
                <a:gd name="adj" fmla="val 9459"/>
              </a:avLst>
            </a:prstGeom>
            <a:solidFill>
              <a:schemeClr val="accent5"/>
            </a:solidFill>
            <a:ln w="14288">
              <a:solidFill>
                <a:srgbClr val="26455F"/>
              </a:solidFill>
            </a:ln>
          </p:spPr>
        </p:sp>
        <p:sp>
          <p:nvSpPr>
            <p:cNvPr id="13" name="Rectangle 13"/>
            <p:cNvSpPr/>
            <p:nvPr/>
          </p:nvSpPr>
          <p:spPr>
            <a:xfrm>
              <a:off x="6153150" y="1676400"/>
              <a:ext cx="57150" cy="1409700"/>
            </a:xfrm>
            <a:prstGeom prst="roundRect">
              <a:avLst>
                <a:gd name="adj" fmla="val 50000"/>
              </a:avLst>
            </a:prstGeom>
            <a:solidFill>
              <a:srgbClr val="48C78E"/>
            </a:solidFill>
            <a:ln>
              <a:noFill/>
            </a:ln>
          </p:spPr>
        </p:sp>
        <p:sp>
          <p:nvSpPr>
            <p:cNvPr id="14" name="Ellipse 14"/>
            <p:cNvSpPr/>
            <p:nvPr/>
          </p:nvSpPr>
          <p:spPr>
            <a:xfrm>
              <a:off x="6438900" y="1962150"/>
              <a:ext cx="190500" cy="190500"/>
            </a:xfrm>
            <a:prstGeom prst="ellipse">
              <a:avLst/>
            </a:prstGeom>
            <a:solidFill>
              <a:srgbClr val="48C78E"/>
            </a:solidFill>
            <a:ln>
              <a:noFill/>
            </a:ln>
          </p:spPr>
        </p:sp>
        <p:sp>
          <p:nvSpPr>
            <p:cNvPr id="15" name="TextBox 15"/>
            <p:cNvSpPr txBox="1"/>
            <p:nvPr/>
          </p:nvSpPr>
          <p:spPr>
            <a:xfrm>
              <a:off x="6756082" y="1972866"/>
              <a:ext cx="2435500"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Highlight where people edit</a:t>
              </a:r>
            </a:p>
          </p:txBody>
        </p:sp>
        <p:sp>
          <p:nvSpPr>
            <p:cNvPr id="16" name="TextBox 16"/>
            <p:cNvSpPr txBox="1"/>
            <p:nvPr/>
          </p:nvSpPr>
          <p:spPr>
            <a:xfrm>
              <a:off x="6414516" y="2344102"/>
              <a:ext cx="422062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What you highlight matters more than whether you highlight.</a:t>
              </a:r>
            </a:p>
          </p:txBody>
        </p:sp>
        <p:sp>
          <p:nvSpPr>
            <p:cNvPr id="17" name="TextBox 17"/>
            <p:cNvSpPr txBox="1"/>
            <p:nvPr/>
          </p:nvSpPr>
          <p:spPr>
            <a:xfrm>
              <a:off x="6414516" y="2544128"/>
              <a:ext cx="38247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Highlight where people are likely to edit, not where the</a:t>
              </a:r>
            </a:p>
          </p:txBody>
        </p:sp>
        <p:sp>
          <p:nvSpPr>
            <p:cNvPr id="18" name="TextBox 18"/>
            <p:cNvSpPr txBox="1"/>
            <p:nvPr/>
          </p:nvSpPr>
          <p:spPr>
            <a:xfrm>
              <a:off x="6414516" y="2744152"/>
              <a:ext cx="203905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model happened to be unsure.</a:t>
              </a:r>
            </a:p>
          </p:txBody>
        </p:sp>
      </p:grpSp>
      <p:grpSp>
        <p:nvGrpSpPr>
          <p:cNvPr id="27" name="Group 27"/>
          <p:cNvGrpSpPr/>
          <p:nvPr/>
        </p:nvGrpSpPr>
        <p:grpSpPr>
          <a:xfrm>
            <a:off x="609600" y="3238500"/>
            <a:ext cx="5429250" cy="2000250"/>
            <a:chOff x="609600" y="3238500"/>
            <a:chExt cx="5429250" cy="2000250"/>
          </a:xfrm>
        </p:grpSpPr>
        <p:sp>
          <p:nvSpPr>
            <p:cNvPr id="20" name="Rectangle 20"/>
            <p:cNvSpPr/>
            <p:nvPr/>
          </p:nvSpPr>
          <p:spPr>
            <a:xfrm>
              <a:off x="609600" y="3238500"/>
              <a:ext cx="5429250" cy="2000250"/>
            </a:xfrm>
            <a:prstGeom prst="roundRect">
              <a:avLst>
                <a:gd name="adj" fmla="val 6667"/>
              </a:avLst>
            </a:prstGeom>
            <a:solidFill>
              <a:schemeClr val="accent5"/>
            </a:solidFill>
            <a:ln w="14288">
              <a:solidFill>
                <a:srgbClr val="26455F"/>
              </a:solidFill>
            </a:ln>
          </p:spPr>
        </p:sp>
        <p:sp>
          <p:nvSpPr>
            <p:cNvPr id="21" name="Rectangle 21"/>
            <p:cNvSpPr/>
            <p:nvPr/>
          </p:nvSpPr>
          <p:spPr>
            <a:xfrm>
              <a:off x="609600" y="3238500"/>
              <a:ext cx="57150" cy="2000250"/>
            </a:xfrm>
            <a:prstGeom prst="roundRect">
              <a:avLst>
                <a:gd name="adj" fmla="val 50000"/>
              </a:avLst>
            </a:prstGeom>
            <a:solidFill>
              <a:srgbClr val="F2C14E"/>
            </a:solidFill>
            <a:ln>
              <a:noFill/>
            </a:ln>
          </p:spPr>
        </p:sp>
        <p:sp>
          <p:nvSpPr>
            <p:cNvPr id="22" name="Ellipse 22"/>
            <p:cNvSpPr/>
            <p:nvPr/>
          </p:nvSpPr>
          <p:spPr>
            <a:xfrm>
              <a:off x="895350" y="3524250"/>
              <a:ext cx="190500" cy="190500"/>
            </a:xfrm>
            <a:prstGeom prst="ellipse">
              <a:avLst/>
            </a:prstGeom>
            <a:solidFill>
              <a:srgbClr val="F2C14E"/>
            </a:solidFill>
            <a:ln>
              <a:noFill/>
            </a:ln>
          </p:spPr>
        </p:sp>
        <p:sp>
          <p:nvSpPr>
            <p:cNvPr id="23" name="TextBox 23"/>
            <p:cNvSpPr txBox="1"/>
            <p:nvPr/>
          </p:nvSpPr>
          <p:spPr>
            <a:xfrm>
              <a:off x="1212532" y="3534966"/>
              <a:ext cx="3574345"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Generation probabilities are not enough</a:t>
              </a:r>
            </a:p>
          </p:txBody>
        </p:sp>
        <p:sp>
          <p:nvSpPr>
            <p:cNvPr id="24" name="TextBox 24"/>
            <p:cNvSpPr txBox="1"/>
            <p:nvPr/>
          </p:nvSpPr>
          <p:spPr>
            <a:xfrm>
              <a:off x="870966" y="3906202"/>
              <a:ext cx="38393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model's own confidence, on its own, does not point</a:t>
              </a:r>
            </a:p>
          </p:txBody>
        </p:sp>
        <p:sp>
          <p:nvSpPr>
            <p:cNvPr id="25" name="TextBox 25"/>
            <p:cNvSpPr txBox="1"/>
            <p:nvPr/>
          </p:nvSpPr>
          <p:spPr>
            <a:xfrm>
              <a:off x="870966" y="4106228"/>
              <a:ext cx="36009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programmers to the tokens that actually need their</a:t>
              </a:r>
            </a:p>
          </p:txBody>
        </p:sp>
        <p:sp>
          <p:nvSpPr>
            <p:cNvPr id="26" name="TextBox 26"/>
            <p:cNvSpPr txBox="1"/>
            <p:nvPr/>
          </p:nvSpPr>
          <p:spPr>
            <a:xfrm>
              <a:off x="870966" y="4306252"/>
              <a:ext cx="75276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attention.</a:t>
              </a:r>
            </a:p>
          </p:txBody>
        </p:sp>
      </p:grpSp>
      <p:grpSp>
        <p:nvGrpSpPr>
          <p:cNvPr id="36" name="Group 36"/>
          <p:cNvGrpSpPr/>
          <p:nvPr/>
        </p:nvGrpSpPr>
        <p:grpSpPr>
          <a:xfrm>
            <a:off x="6153150" y="3238500"/>
            <a:ext cx="5429250" cy="2000250"/>
            <a:chOff x="6153150" y="3238500"/>
            <a:chExt cx="5429250" cy="2000250"/>
          </a:xfrm>
        </p:grpSpPr>
        <p:sp>
          <p:nvSpPr>
            <p:cNvPr id="28" name="Rectangle 28"/>
            <p:cNvSpPr/>
            <p:nvPr/>
          </p:nvSpPr>
          <p:spPr>
            <a:xfrm>
              <a:off x="6153150" y="3238500"/>
              <a:ext cx="5429250" cy="2000250"/>
            </a:xfrm>
            <a:prstGeom prst="roundRect">
              <a:avLst>
                <a:gd name="adj" fmla="val 6667"/>
              </a:avLst>
            </a:prstGeom>
            <a:solidFill>
              <a:schemeClr val="accent5"/>
            </a:solidFill>
            <a:ln w="14288">
              <a:solidFill>
                <a:srgbClr val="26455F"/>
              </a:solidFill>
            </a:ln>
          </p:spPr>
        </p:sp>
        <p:sp>
          <p:nvSpPr>
            <p:cNvPr id="29" name="Rectangle 29"/>
            <p:cNvSpPr/>
            <p:nvPr/>
          </p:nvSpPr>
          <p:spPr>
            <a:xfrm>
              <a:off x="6153150" y="3238500"/>
              <a:ext cx="57150" cy="2000250"/>
            </a:xfrm>
            <a:prstGeom prst="roundRect">
              <a:avLst>
                <a:gd name="adj" fmla="val 50000"/>
              </a:avLst>
            </a:prstGeom>
            <a:solidFill>
              <a:srgbClr val="34D3C0"/>
            </a:solidFill>
            <a:ln>
              <a:noFill/>
            </a:ln>
          </p:spPr>
        </p:sp>
        <p:sp>
          <p:nvSpPr>
            <p:cNvPr id="30" name="Ellipse 30"/>
            <p:cNvSpPr/>
            <p:nvPr/>
          </p:nvSpPr>
          <p:spPr>
            <a:xfrm>
              <a:off x="6438900" y="3524250"/>
              <a:ext cx="190500" cy="190500"/>
            </a:xfrm>
            <a:prstGeom prst="ellipse">
              <a:avLst/>
            </a:prstGeom>
            <a:solidFill>
              <a:srgbClr val="34D3C0"/>
            </a:solidFill>
            <a:ln>
              <a:noFill/>
            </a:ln>
          </p:spPr>
        </p:sp>
        <p:sp>
          <p:nvSpPr>
            <p:cNvPr id="31" name="TextBox 31"/>
            <p:cNvSpPr txBox="1"/>
            <p:nvPr/>
          </p:nvSpPr>
          <p:spPr>
            <a:xfrm>
              <a:off x="6756082" y="3534966"/>
              <a:ext cx="2963282"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A signal products already collect</a:t>
              </a:r>
            </a:p>
          </p:txBody>
        </p:sp>
        <p:sp>
          <p:nvSpPr>
            <p:cNvPr id="32" name="TextBox 32"/>
            <p:cNvSpPr txBox="1"/>
            <p:nvPr/>
          </p:nvSpPr>
          <p:spPr>
            <a:xfrm>
              <a:off x="6414516" y="3906202"/>
              <a:ext cx="385934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Tools like Copilot already log the edits people make to AI</a:t>
              </a:r>
            </a:p>
          </p:txBody>
        </p:sp>
        <p:sp>
          <p:nvSpPr>
            <p:cNvPr id="33" name="TextBox 33"/>
            <p:cNvSpPr txBox="1"/>
            <p:nvPr/>
          </p:nvSpPr>
          <p:spPr>
            <a:xfrm>
              <a:off x="6414516" y="4106228"/>
              <a:ext cx="38624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suggestions - that signal could train an open-world edit</a:t>
              </a:r>
            </a:p>
          </p:txBody>
        </p:sp>
        <p:sp>
          <p:nvSpPr>
            <p:cNvPr id="34" name="TextBox 34"/>
            <p:cNvSpPr txBox="1"/>
            <p:nvPr/>
          </p:nvSpPr>
          <p:spPr>
            <a:xfrm>
              <a:off x="6414516" y="4306252"/>
              <a:ext cx="427946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model and carry these speed, precision, and preference gains</a:t>
              </a:r>
            </a:p>
          </p:txBody>
        </p:sp>
        <p:sp>
          <p:nvSpPr>
            <p:cNvPr id="35" name="TextBox 35"/>
            <p:cNvSpPr txBox="1"/>
            <p:nvPr/>
          </p:nvSpPr>
          <p:spPr>
            <a:xfrm>
              <a:off x="6414516" y="4506278"/>
              <a:ext cx="150192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into everyday coding.</a:t>
              </a:r>
            </a:p>
          </p:txBody>
        </p:sp>
      </p:grpSp>
      <p:sp>
        <p:nvSpPr>
          <p:cNvPr id="37" name="Line 37"/>
          <p:cNvSpPr/>
          <p:nvPr/>
        </p:nvSpPr>
        <p:spPr>
          <a:xfrm>
            <a:off x="609600" y="54864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8" name="Ellipse 38"/>
          <p:cNvSpPr/>
          <p:nvPr/>
        </p:nvSpPr>
        <p:spPr>
          <a:xfrm>
            <a:off x="733425" y="5648325"/>
            <a:ext cx="133350" cy="133350"/>
          </a:xfrm>
          <a:prstGeom prst="ellipse">
            <a:avLst/>
          </a:prstGeom>
          <a:solidFill>
            <a:srgbClr val="48C78E"/>
          </a:solidFill>
          <a:ln>
            <a:noFill/>
          </a:ln>
        </p:spPr>
        <p:txBody>
          <a:bodyPr/>
          <a:p/>
        </p:txBody>
      </p:sp>
      <p:sp>
        <p:nvSpPr>
          <p:cNvPr id="39" name="TextBox 39"/>
          <p:cNvSpPr txBox="1"/>
          <p:nvPr/>
        </p:nvSpPr>
        <p:spPr>
          <a:xfrm>
            <a:off x="985456" y="5662851"/>
            <a:ext cx="3648214"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Highlight human intervention, not model uncertainty</a:t>
            </a:r>
          </a:p>
        </p:txBody>
      </p:sp>
      <p:sp>
        <p:nvSpPr>
          <p:cNvPr id="40" name="TextBox 40"/>
          <p:cNvSpPr txBox="1"/>
          <p:nvPr/>
        </p:nvSpPr>
        <p:spPr>
          <a:xfrm>
            <a:off x="7609070" y="5658802"/>
            <a:ext cx="3978664"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Generation Probabilities are Not Enough · NeurIPS 2022</a:t>
            </a:r>
          </a:p>
        </p:txBody>
      </p:sp>
      <p:sp>
        <p:nvSpPr>
          <p:cNvPr id="41" name="cue_s10_c1_lesson_simple_but_pointed" title="cue_s10_c1_lesson_simple_but_pointed" descr="cue_s10_c1_lesson_simple_but_pointed The lesson is simple but pointed."/>
          <p:cNvSpPr/>
          <p:nvPr/>
        </p:nvSpPr>
        <p:spPr>
          <a:xfrm>
            <a:off x="609600" y="1676095"/>
            <a:ext cx="5429097"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10_c2_what_you_highlight_matters_more" title="cue_s10_c2_what_you_highlight_matters_more" descr="cue_s10_c2_what_you_highlight_matters_more What you highlight matters more than whether you highlight, and the right thing to highlight is where people are likely to edit, not where the model happened to be unsure."/>
          <p:cNvSpPr/>
          <p:nvPr/>
        </p:nvSpPr>
        <p:spPr>
          <a:xfrm>
            <a:off x="6153302" y="1676095"/>
            <a:ext cx="5429097"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10_c3_generation_probabilities_alone_not_e" title="cue_s10_c3_generation_probabilities_alone_not_e" descr="cue_s10_c3_generation_probabilities_alone_not_e Generation probabilities alone are not enough."/>
          <p:cNvSpPr/>
          <p:nvPr/>
        </p:nvSpPr>
        <p:spPr>
          <a:xfrm>
            <a:off x="609600" y="3238347"/>
            <a:ext cx="5429097"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10_c4_encouragingly_tools_like_copilot_alr" title="cue_s10_c4_encouragingly_tools_like_copilot_alr" descr="cue_s10_c4_encouragingly_tools_like_copilot_alr Encouragingly, tools like Copilot already log the edits people make to AI suggestions, so that same signal could train an open-world edit model and carry these speed, precision, and preference gains into everyday coding."/>
          <p:cNvSpPr/>
          <p:nvPr/>
        </p:nvSpPr>
        <p:spPr>
          <a:xfrm>
            <a:off x="6153302" y="3238347"/>
            <a:ext cx="5429097"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Free Design">
  <a:themeElements>
    <a:clrScheme name="Free Design">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Free Desig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ree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2026-07-16T15:34:34Z</dcterms:created>
  <dcterms:modified xsi:type="dcterms:W3CDTF">2026-07-16T15:34:34Z</dcterms:modified>
  <cp:category/>
  <cp:contentStatus/>
</cp:coreProperties>
</file>
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1289266"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NeurIPS 2022</a:t>
            </a:r>
          </a:p>
        </p:txBody>
      </p:sp>
      <p:sp>
        <p:nvSpPr>
          <p:cNvPr id="3" name="TextBox 3"/>
          <p:cNvSpPr txBox="1"/>
          <p:nvPr/>
        </p:nvSpPr>
        <p:spPr>
          <a:xfrm>
            <a:off x="8939169" y="576501"/>
            <a:ext cx="2648375"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Los Andes University · Rappi · Amazon</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4360" y="1104900"/>
            <a:ext cx="7696088"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n-lt"/>
                <a:ea typeface="+mn-ea"/>
                <a:cs typeface="+mn-cs"/>
              </a:rPr>
              <a:t>Privacy-Preserving Machine Learning</a:t>
            </a:r>
          </a:p>
        </p:txBody>
      </p:sp>
      <p:sp>
        <p:nvSpPr>
          <p:cNvPr id="6" name="TextBox 6"/>
          <p:cNvSpPr txBox="1"/>
          <p:nvPr/>
        </p:nvSpPr>
        <p:spPr>
          <a:xfrm>
            <a:off x="594360" y="1543050"/>
            <a:ext cx="6324600"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n-lt"/>
                <a:ea typeface="+mn-ea"/>
                <a:cs typeface="+mn-cs"/>
              </a:rPr>
              <a:t>for Collaborative Data Sharing</a:t>
            </a:r>
          </a:p>
        </p:txBody>
      </p:sp>
      <p:sp>
        <p:nvSpPr>
          <p:cNvPr id="7" name="TextBox 7"/>
          <p:cNvSpPr txBox="1"/>
          <p:nvPr/>
        </p:nvSpPr>
        <p:spPr>
          <a:xfrm>
            <a:off x="601218" y="2088832"/>
            <a:ext cx="4875839"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via Auto-encoder Latent Space Embeddings</a:t>
            </a:r>
          </a:p>
        </p:txBody>
      </p:sp>
      <p:sp>
        <p:nvSpPr>
          <p:cNvPr id="8" name="Polygon 8"/>
          <p:cNvSpPr/>
          <p:nvPr/>
        </p:nvSpPr>
        <p:spPr>
          <a:xfrm>
            <a:off x="9124950" y="1257300"/>
            <a:ext cx="990600" cy="914400"/>
          </a:xfrm>
          <a:custGeom>
            <a:avLst/>
            <a:gdLst/>
            <a:ahLst/>
            <a:cxnLst/>
            <a:rect l="l" t="t" r="r" b="b"/>
            <a:pathLst>
              <a:path w="990600" h="914400">
                <a:moveTo>
                  <a:pt x="0" y="0"/>
                </a:moveTo>
                <a:lnTo>
                  <a:pt x="990600" y="384048"/>
                </a:lnTo>
                <a:lnTo>
                  <a:pt x="990600" y="530352"/>
                </a:lnTo>
                <a:lnTo>
                  <a:pt x="0" y="914400"/>
                </a:lnTo>
                <a:close/>
              </a:path>
            </a:pathLst>
          </a:custGeom>
          <a:solidFill>
            <a:srgbClr val="123049"/>
          </a:solidFill>
          <a:ln w="15240">
            <a:solidFill>
              <a:schemeClr val="accent2"/>
            </a:solidFill>
          </a:ln>
        </p:spPr>
        <p:txBody>
          <a:bodyPr/>
          <a:p/>
        </p:txBody>
      </p:sp>
      <p:sp>
        <p:nvSpPr>
          <p:cNvPr id="9" name="Polygon 9"/>
          <p:cNvSpPr/>
          <p:nvPr/>
        </p:nvSpPr>
        <p:spPr>
          <a:xfrm>
            <a:off x="10267950" y="1257300"/>
            <a:ext cx="990600" cy="914400"/>
          </a:xfrm>
          <a:custGeom>
            <a:avLst/>
            <a:gdLst/>
            <a:ahLst/>
            <a:cxnLst/>
            <a:rect l="l" t="t" r="r" b="b"/>
            <a:pathLst>
              <a:path w="990600" h="914400">
                <a:moveTo>
                  <a:pt x="990600" y="0"/>
                </a:moveTo>
                <a:lnTo>
                  <a:pt x="0" y="384048"/>
                </a:lnTo>
                <a:lnTo>
                  <a:pt x="0" y="530352"/>
                </a:lnTo>
                <a:lnTo>
                  <a:pt x="990600" y="914400"/>
                </a:lnTo>
                <a:close/>
              </a:path>
            </a:pathLst>
          </a:custGeom>
          <a:solidFill>
            <a:srgbClr val="123049"/>
          </a:solidFill>
          <a:ln w="15240">
            <a:solidFill>
              <a:schemeClr val="accent2"/>
            </a:solidFill>
          </a:ln>
        </p:spPr>
        <p:txBody>
          <a:bodyPr/>
          <a:p/>
        </p:txBody>
      </p:sp>
      <p:sp>
        <p:nvSpPr>
          <p:cNvPr id="10" name="Rectangle 10"/>
          <p:cNvSpPr/>
          <p:nvPr/>
        </p:nvSpPr>
        <p:spPr>
          <a:xfrm>
            <a:off x="10115550" y="1641348"/>
            <a:ext cx="152400" cy="146304"/>
          </a:xfrm>
          <a:prstGeom prst="roundRect">
            <a:avLst>
              <a:gd name="adj" fmla="val 19531"/>
            </a:avLst>
          </a:prstGeom>
          <a:solidFill>
            <a:srgbClr val="34D3C0"/>
          </a:solidFill>
          <a:ln>
            <a:noFill/>
          </a:ln>
        </p:spPr>
        <p:txBody>
          <a:bodyPr/>
          <a:p/>
        </p:txBody>
      </p:sp>
      <p:sp>
        <p:nvSpPr>
          <p:cNvPr id="11" name="Freeform 11"/>
          <p:cNvSpPr/>
          <p:nvPr/>
        </p:nvSpPr>
        <p:spPr>
          <a:xfrm>
            <a:off x="10149840" y="1401318"/>
            <a:ext cx="74295" cy="71437"/>
          </a:xfrm>
          <a:custGeom>
            <a:avLst/>
            <a:gdLst/>
            <a:ahLst/>
            <a:cxnLst/>
            <a:rect l="l" t="t" r="r" b="b"/>
            <a:pathLst>
              <a:path w="74295" h="71437">
                <a:moveTo>
                  <a:pt x="0" y="71437"/>
                </a:moveTo>
                <a:lnTo>
                  <a:pt x="0" y="37147"/>
                </a:lnTo>
                <a:cubicBezTo>
                  <a:pt x="0" y="16631"/>
                  <a:pt x="16632" y="0"/>
                  <a:pt x="37148" y="0"/>
                </a:cubicBezTo>
                <a:cubicBezTo>
                  <a:pt x="57663" y="0"/>
                  <a:pt x="74295" y="16631"/>
                  <a:pt x="74295" y="37147"/>
                </a:cubicBezTo>
                <a:lnTo>
                  <a:pt x="74295" y="71437"/>
                </a:lnTo>
              </a:path>
            </a:pathLst>
          </a:custGeom>
          <a:noFill/>
          <a:ln w="20955">
            <a:solidFill>
              <a:srgbClr val="34D3C0"/>
            </a:solidFill>
          </a:ln>
        </p:spPr>
        <p:txBody>
          <a:bodyPr/>
          <a:p/>
        </p:txBody>
      </p:sp>
      <p:sp>
        <p:nvSpPr>
          <p:cNvPr id="12" name="Rectangle 12"/>
          <p:cNvSpPr/>
          <p:nvPr/>
        </p:nvSpPr>
        <p:spPr>
          <a:xfrm>
            <a:off x="10115550" y="1472756"/>
            <a:ext cx="142875" cy="88582"/>
          </a:xfrm>
          <a:prstGeom prst="roundRect">
            <a:avLst>
              <a:gd name="adj" fmla="val 26882"/>
            </a:avLst>
          </a:prstGeom>
          <a:solidFill>
            <a:srgbClr val="34D3C0"/>
          </a:solidFill>
          <a:ln>
            <a:noFill/>
          </a:ln>
        </p:spPr>
        <p:txBody>
          <a:bodyPr/>
          <a:p/>
        </p:txBody>
      </p:sp>
      <p:sp>
        <p:nvSpPr>
          <p:cNvPr id="13" name="Ellipse 13"/>
          <p:cNvSpPr/>
          <p:nvPr/>
        </p:nvSpPr>
        <p:spPr>
          <a:xfrm>
            <a:off x="10171271" y="1501330"/>
            <a:ext cx="31432" cy="31432"/>
          </a:xfrm>
          <a:prstGeom prst="ellipse">
            <a:avLst/>
          </a:prstGeom>
          <a:solidFill>
            <a:schemeClr val="lt1"/>
          </a:solidFill>
          <a:ln>
            <a:noFill/>
          </a:ln>
        </p:spPr>
        <p:txBody>
          <a:bodyPr/>
          <a:p/>
        </p:txBody>
      </p:sp>
      <p:sp>
        <p:nvSpPr>
          <p:cNvPr id="14" name="TextBox 14"/>
          <p:cNvSpPr txBox="1"/>
          <p:nvPr/>
        </p:nvSpPr>
        <p:spPr>
          <a:xfrm>
            <a:off x="9081580" y="2213372"/>
            <a:ext cx="8674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N</a:t>
            </a:r>
          </a:p>
        </p:txBody>
      </p:sp>
      <p:sp>
        <p:nvSpPr>
          <p:cNvPr id="15" name="TextBox 15"/>
          <p:cNvSpPr txBox="1"/>
          <p:nvPr/>
        </p:nvSpPr>
        <p:spPr>
          <a:xfrm>
            <a:off x="11215180" y="2213372"/>
            <a:ext cx="8674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N</a:t>
            </a:r>
          </a:p>
        </p:txBody>
      </p:sp>
      <p:sp>
        <p:nvSpPr>
          <p:cNvPr id="16" name="TextBox 16"/>
          <p:cNvSpPr txBox="1"/>
          <p:nvPr/>
        </p:nvSpPr>
        <p:spPr>
          <a:xfrm>
            <a:off x="10018234" y="1837420"/>
            <a:ext cx="347031" cy="169069"/>
          </a:xfrm>
          <a:prstGeom prst="rect">
            <a:avLst/>
          </a:prstGeom>
          <a:noFill/>
          <a:ln>
            <a:noFill/>
          </a:ln>
        </p:spPr>
        <p:txBody>
          <a:bodyPr wrap="none" lIns="0" tIns="0" rIns="0" bIns="0" anchor="t" anchorCtr="0">
            <a:spAutoFit/>
          </a:bodyPr>
          <a:lstStyle/>
          <a:p>
            <a:pPr algn="ctr"/>
            <a:r>
              <a:rPr lang="en-US" sz="860" b="1" dirty="0">
                <a:solidFill>
                  <a:srgbClr val="34D3C0"/>
                </a:solidFill>
                <a:latin typeface="+mn-lt"/>
                <a:ea typeface="+mn-ea"/>
                <a:cs typeface="+mn-cs"/>
              </a:rPr>
              <a:t>z (M)</a:t>
            </a:r>
          </a:p>
        </p:txBody>
      </p:sp>
      <p:sp>
        <p:nvSpPr>
          <p:cNvPr id="17" name="TextBox 17"/>
          <p:cNvSpPr txBox="1"/>
          <p:nvPr/>
        </p:nvSpPr>
        <p:spPr>
          <a:xfrm>
            <a:off x="9433841" y="1115139"/>
            <a:ext cx="534361" cy="154781"/>
          </a:xfrm>
          <a:prstGeom prst="rect">
            <a:avLst/>
          </a:prstGeom>
          <a:noFill/>
          <a:ln>
            <a:noFill/>
          </a:ln>
        </p:spPr>
        <p:txBody>
          <a:bodyPr wrap="none" lIns="0" tIns="0" rIns="0" bIns="0" anchor="t" anchorCtr="0">
            <a:spAutoFit/>
          </a:bodyPr>
          <a:lstStyle/>
          <a:p>
            <a:pPr algn="ctr"/>
            <a:r>
              <a:rPr lang="en-US" sz="790" b="1" dirty="0">
                <a:solidFill>
                  <a:srgbClr val="6E869C"/>
                </a:solidFill>
                <a:latin typeface="+mn-lt"/>
                <a:ea typeface="+mn-ea"/>
                <a:cs typeface="+mn-cs"/>
              </a:rPr>
              <a:t>encoder f</a:t>
            </a:r>
          </a:p>
        </p:txBody>
      </p:sp>
      <p:sp>
        <p:nvSpPr>
          <p:cNvPr id="18" name="TextBox 18"/>
          <p:cNvSpPr txBox="1"/>
          <p:nvPr/>
        </p:nvSpPr>
        <p:spPr>
          <a:xfrm>
            <a:off x="10415297" y="1115139"/>
            <a:ext cx="534361" cy="154781"/>
          </a:xfrm>
          <a:prstGeom prst="rect">
            <a:avLst/>
          </a:prstGeom>
          <a:noFill/>
          <a:ln>
            <a:noFill/>
          </a:ln>
        </p:spPr>
        <p:txBody>
          <a:bodyPr wrap="none" lIns="0" tIns="0" rIns="0" bIns="0" anchor="t" anchorCtr="0">
            <a:spAutoFit/>
          </a:bodyPr>
          <a:lstStyle/>
          <a:p>
            <a:pPr algn="ctr"/>
            <a:r>
              <a:rPr lang="en-US" sz="790" b="1" dirty="0">
                <a:solidFill>
                  <a:srgbClr val="6E869C"/>
                </a:solidFill>
                <a:latin typeface="+mn-lt"/>
                <a:ea typeface="+mn-ea"/>
                <a:cs typeface="+mn-cs"/>
              </a:rPr>
              <a:t>decoder g</a:t>
            </a:r>
          </a:p>
        </p:txBody>
      </p:sp>
      <p:sp>
        <p:nvSpPr>
          <p:cNvPr id="19" name="TextBox 19"/>
          <p:cNvSpPr txBox="1"/>
          <p:nvPr/>
        </p:nvSpPr>
        <p:spPr>
          <a:xfrm>
            <a:off x="604456" y="2481501"/>
            <a:ext cx="773740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Ana Maria Quintero Ossa · Jesus Solano · Hernan Garcia · David Zarruk · Alejandro Correa-Bahnsen · Carlos Valencia</a:t>
            </a:r>
          </a:p>
        </p:txBody>
      </p:sp>
      <p:grpSp>
        <p:nvGrpSpPr>
          <p:cNvPr id="28" name="Group 28"/>
          <p:cNvGrpSpPr/>
          <p:nvPr/>
        </p:nvGrpSpPr>
        <p:grpSpPr>
          <a:xfrm>
            <a:off x="609600" y="2857500"/>
            <a:ext cx="2628900" cy="2171700"/>
            <a:chOff x="609600" y="2857500"/>
            <a:chExt cx="2628900" cy="2171700"/>
          </a:xfrm>
        </p:grpSpPr>
        <p:sp>
          <p:nvSpPr>
            <p:cNvPr id="20" name="Rectangle 20"/>
            <p:cNvSpPr/>
            <p:nvPr/>
          </p:nvSpPr>
          <p:spPr>
            <a:xfrm>
              <a:off x="609600" y="2857500"/>
              <a:ext cx="2628900" cy="2171700"/>
            </a:xfrm>
            <a:prstGeom prst="roundRect">
              <a:avLst>
                <a:gd name="adj" fmla="val 6140"/>
              </a:avLst>
            </a:prstGeom>
            <a:solidFill>
              <a:schemeClr val="accent5"/>
            </a:solidFill>
            <a:ln w="14288">
              <a:solidFill>
                <a:srgbClr val="26455F"/>
              </a:solidFill>
            </a:ln>
          </p:spPr>
        </p:sp>
        <p:sp>
          <p:nvSpPr>
            <p:cNvPr id="21" name="Rectangle 21"/>
            <p:cNvSpPr/>
            <p:nvPr/>
          </p:nvSpPr>
          <p:spPr>
            <a:xfrm>
              <a:off x="609600" y="2857500"/>
              <a:ext cx="2628900" cy="57150"/>
            </a:xfrm>
            <a:prstGeom prst="roundRect">
              <a:avLst>
                <a:gd name="adj" fmla="val 50000"/>
              </a:avLst>
            </a:prstGeom>
            <a:solidFill>
              <a:srgbClr val="F2C14E"/>
            </a:solidFill>
            <a:ln>
              <a:noFill/>
            </a:ln>
          </p:spPr>
        </p:sp>
        <p:sp>
          <p:nvSpPr>
            <p:cNvPr id="22" name="TextBox 22"/>
            <p:cNvSpPr txBox="1"/>
            <p:nvPr/>
          </p:nvSpPr>
          <p:spPr>
            <a:xfrm>
              <a:off x="828294" y="3332798"/>
              <a:ext cx="888061" cy="381381"/>
            </a:xfrm>
            <a:prstGeom prst="rect">
              <a:avLst/>
            </a:prstGeom>
            <a:noFill/>
            <a:ln>
              <a:noFill/>
            </a:ln>
          </p:spPr>
          <p:txBody>
            <a:bodyPr wrap="none" lIns="0" tIns="0" rIns="0" bIns="0" anchor="t" anchorCtr="0">
              <a:spAutoFit/>
            </a:bodyPr>
            <a:lstStyle/>
            <a:p>
              <a:pPr algn="l"/>
              <a:r>
                <a:rPr lang="en-US" sz="1950" b="1" dirty="0">
                  <a:solidFill>
                    <a:srgbClr val="F2C14E"/>
                  </a:solidFill>
                  <a:latin typeface="+mn-lt"/>
                  <a:ea typeface="+mn-ea"/>
                  <a:cs typeface="+mn-cs"/>
                </a:rPr>
                <a:t>raw ✕</a:t>
              </a:r>
            </a:p>
          </p:txBody>
        </p:sp>
        <p:sp>
          <p:nvSpPr>
            <p:cNvPr id="23" name="TextBox 23"/>
            <p:cNvSpPr txBox="1"/>
            <p:nvPr/>
          </p:nvSpPr>
          <p:spPr>
            <a:xfrm>
              <a:off x="831723" y="3786664"/>
              <a:ext cx="199066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Pooling data is blocked</a:t>
              </a:r>
            </a:p>
          </p:txBody>
        </p:sp>
        <p:sp>
          <p:nvSpPr>
            <p:cNvPr id="24" name="TextBox 24"/>
            <p:cNvSpPr txBox="1"/>
            <p:nvPr/>
          </p:nvSpPr>
          <p:spPr>
            <a:xfrm>
              <a:off x="833438" y="4299347"/>
              <a:ext cx="2000412"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Organizations want to pool data</a:t>
              </a:r>
            </a:p>
          </p:txBody>
        </p:sp>
        <p:sp>
          <p:nvSpPr>
            <p:cNvPr id="25" name="TextBox 25"/>
            <p:cNvSpPr txBox="1"/>
            <p:nvPr/>
          </p:nvSpPr>
          <p:spPr>
            <a:xfrm>
              <a:off x="833438" y="4470797"/>
              <a:ext cx="2179734"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for better models, but privacy and</a:t>
              </a:r>
            </a:p>
          </p:txBody>
        </p:sp>
        <p:sp>
          <p:nvSpPr>
            <p:cNvPr id="26" name="TextBox 26"/>
            <p:cNvSpPr txBox="1"/>
            <p:nvPr/>
          </p:nvSpPr>
          <p:spPr>
            <a:xfrm>
              <a:off x="833438" y="4642247"/>
              <a:ext cx="1542997"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IP laws make raw sharing</a:t>
              </a:r>
            </a:p>
          </p:txBody>
        </p:sp>
        <p:sp>
          <p:nvSpPr>
            <p:cNvPr id="27" name="TextBox 27"/>
            <p:cNvSpPr txBox="1"/>
            <p:nvPr/>
          </p:nvSpPr>
          <p:spPr>
            <a:xfrm>
              <a:off x="833438" y="4813697"/>
              <a:ext cx="705510"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impossible.</a:t>
              </a:r>
            </a:p>
          </p:txBody>
        </p:sp>
      </p:grpSp>
      <p:grpSp>
        <p:nvGrpSpPr>
          <p:cNvPr id="39" name="Group 39"/>
          <p:cNvGrpSpPr/>
          <p:nvPr/>
        </p:nvGrpSpPr>
        <p:grpSpPr>
          <a:xfrm>
            <a:off x="3390900" y="2857500"/>
            <a:ext cx="2628900" cy="2171700"/>
            <a:chOff x="3390900" y="2857500"/>
            <a:chExt cx="2628900" cy="2171700"/>
          </a:xfrm>
        </p:grpSpPr>
        <p:sp>
          <p:nvSpPr>
            <p:cNvPr id="29" name="Rectangle 29"/>
            <p:cNvSpPr/>
            <p:nvPr/>
          </p:nvSpPr>
          <p:spPr>
            <a:xfrm>
              <a:off x="3390900" y="2857500"/>
              <a:ext cx="2628900" cy="2171700"/>
            </a:xfrm>
            <a:prstGeom prst="roundRect">
              <a:avLst>
                <a:gd name="adj" fmla="val 6140"/>
              </a:avLst>
            </a:prstGeom>
            <a:solidFill>
              <a:schemeClr val="accent5"/>
            </a:solidFill>
            <a:ln w="14288">
              <a:solidFill>
                <a:srgbClr val="26455F"/>
              </a:solidFill>
            </a:ln>
          </p:spPr>
        </p:sp>
        <p:sp>
          <p:nvSpPr>
            <p:cNvPr id="30" name="Rectangle 30"/>
            <p:cNvSpPr/>
            <p:nvPr/>
          </p:nvSpPr>
          <p:spPr>
            <a:xfrm>
              <a:off x="3390900" y="2857500"/>
              <a:ext cx="2628900" cy="57150"/>
            </a:xfrm>
            <a:prstGeom prst="roundRect">
              <a:avLst>
                <a:gd name="adj" fmla="val 50000"/>
              </a:avLst>
            </a:prstGeom>
            <a:solidFill>
              <a:schemeClr val="accent2"/>
            </a:solidFill>
            <a:ln>
              <a:noFill/>
            </a:ln>
          </p:spPr>
        </p:sp>
        <p:sp>
          <p:nvSpPr>
            <p:cNvPr id="31" name="Freeform 31"/>
            <p:cNvSpPr/>
            <p:nvPr/>
          </p:nvSpPr>
          <p:spPr>
            <a:xfrm>
              <a:off x="3697986" y="3199638"/>
              <a:ext cx="128778" cy="123825"/>
            </a:xfrm>
            <a:custGeom>
              <a:avLst/>
              <a:gdLst/>
              <a:ahLst/>
              <a:cxnLst/>
              <a:rect l="l" t="t" r="r" b="b"/>
              <a:pathLst>
                <a:path w="128778" h="123825">
                  <a:moveTo>
                    <a:pt x="0" y="123825"/>
                  </a:moveTo>
                  <a:lnTo>
                    <a:pt x="0" y="64389"/>
                  </a:lnTo>
                  <a:cubicBezTo>
                    <a:pt x="0" y="28828"/>
                    <a:pt x="28828" y="0"/>
                    <a:pt x="64389" y="0"/>
                  </a:cubicBezTo>
                  <a:cubicBezTo>
                    <a:pt x="99950" y="0"/>
                    <a:pt x="128778" y="28828"/>
                    <a:pt x="128778" y="64389"/>
                  </a:cubicBezTo>
                  <a:lnTo>
                    <a:pt x="128778" y="123825"/>
                  </a:lnTo>
                </a:path>
              </a:pathLst>
            </a:custGeom>
            <a:noFill/>
            <a:ln w="20955">
              <a:solidFill>
                <a:schemeClr val="accent2"/>
              </a:solidFill>
            </a:ln>
          </p:spPr>
        </p:sp>
        <p:sp>
          <p:nvSpPr>
            <p:cNvPr id="32" name="Rectangle 32"/>
            <p:cNvSpPr/>
            <p:nvPr/>
          </p:nvSpPr>
          <p:spPr>
            <a:xfrm>
              <a:off x="3638550" y="3323463"/>
              <a:ext cx="247650" cy="153543"/>
            </a:xfrm>
            <a:prstGeom prst="roundRect">
              <a:avLst>
                <a:gd name="adj" fmla="val 15509"/>
              </a:avLst>
            </a:prstGeom>
            <a:solidFill>
              <a:schemeClr val="accent2"/>
            </a:solidFill>
            <a:ln>
              <a:noFill/>
            </a:ln>
          </p:spPr>
        </p:sp>
        <p:sp>
          <p:nvSpPr>
            <p:cNvPr id="33" name="Ellipse 33"/>
            <p:cNvSpPr/>
            <p:nvPr/>
          </p:nvSpPr>
          <p:spPr>
            <a:xfrm>
              <a:off x="3735134" y="3372993"/>
              <a:ext cx="54483" cy="54483"/>
            </a:xfrm>
            <a:prstGeom prst="ellipse">
              <a:avLst/>
            </a:prstGeom>
            <a:solidFill>
              <a:schemeClr val="lt1"/>
            </a:solidFill>
            <a:ln>
              <a:noFill/>
            </a:ln>
          </p:spPr>
        </p:sp>
        <p:sp>
          <p:nvSpPr>
            <p:cNvPr id="34" name="TextBox 34"/>
            <p:cNvSpPr txBox="1"/>
            <p:nvPr/>
          </p:nvSpPr>
          <p:spPr>
            <a:xfrm>
              <a:off x="3613023" y="3786664"/>
              <a:ext cx="215367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Autoencoder embeddings</a:t>
              </a:r>
            </a:p>
          </p:txBody>
        </p:sp>
        <p:sp>
          <p:nvSpPr>
            <p:cNvPr id="35" name="TextBox 35"/>
            <p:cNvSpPr txBox="1"/>
            <p:nvPr/>
          </p:nvSpPr>
          <p:spPr>
            <a:xfrm>
              <a:off x="3614738" y="4299347"/>
              <a:ext cx="2165101"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A framework uses autoencoders to</a:t>
              </a:r>
            </a:p>
          </p:txBody>
        </p:sp>
        <p:sp>
          <p:nvSpPr>
            <p:cNvPr id="36" name="TextBox 36"/>
            <p:cNvSpPr txBox="1"/>
            <p:nvPr/>
          </p:nvSpPr>
          <p:spPr>
            <a:xfrm>
              <a:off x="3614738" y="4470797"/>
              <a:ext cx="1983593"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turn sensitive tabular data into</a:t>
              </a:r>
            </a:p>
          </p:txBody>
        </p:sp>
        <p:sp>
          <p:nvSpPr>
            <p:cNvPr id="37" name="TextBox 37"/>
            <p:cNvSpPr txBox="1"/>
            <p:nvPr/>
          </p:nvSpPr>
          <p:spPr>
            <a:xfrm>
              <a:off x="3614738" y="4642247"/>
              <a:ext cx="1547020"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obfuscated latent-space</a:t>
              </a:r>
            </a:p>
          </p:txBody>
        </p:sp>
        <p:sp>
          <p:nvSpPr>
            <p:cNvPr id="38" name="TextBox 38"/>
            <p:cNvSpPr txBox="1"/>
            <p:nvPr/>
          </p:nvSpPr>
          <p:spPr>
            <a:xfrm>
              <a:off x="3614738" y="4813697"/>
              <a:ext cx="768782"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embeddings.</a:t>
              </a:r>
            </a:p>
          </p:txBody>
        </p:sp>
      </p:grpSp>
      <p:grpSp>
        <p:nvGrpSpPr>
          <p:cNvPr id="52" name="Group 52"/>
          <p:cNvGrpSpPr/>
          <p:nvPr/>
        </p:nvGrpSpPr>
        <p:grpSpPr>
          <a:xfrm>
            <a:off x="6172200" y="2857500"/>
            <a:ext cx="2628900" cy="2171700"/>
            <a:chOff x="6172200" y="2857500"/>
            <a:chExt cx="2628900" cy="2171700"/>
          </a:xfrm>
        </p:grpSpPr>
        <p:sp>
          <p:nvSpPr>
            <p:cNvPr id="40" name="Rectangle 40"/>
            <p:cNvSpPr/>
            <p:nvPr/>
          </p:nvSpPr>
          <p:spPr>
            <a:xfrm>
              <a:off x="6172200" y="2857500"/>
              <a:ext cx="2628900" cy="2171700"/>
            </a:xfrm>
            <a:prstGeom prst="roundRect">
              <a:avLst>
                <a:gd name="adj" fmla="val 6140"/>
              </a:avLst>
            </a:prstGeom>
            <a:solidFill>
              <a:schemeClr val="accent5"/>
            </a:solidFill>
            <a:ln w="14288">
              <a:solidFill>
                <a:srgbClr val="26455F"/>
              </a:solidFill>
            </a:ln>
          </p:spPr>
        </p:sp>
        <p:sp>
          <p:nvSpPr>
            <p:cNvPr id="41" name="Rectangle 41"/>
            <p:cNvSpPr/>
            <p:nvPr/>
          </p:nvSpPr>
          <p:spPr>
            <a:xfrm>
              <a:off x="6172200" y="2857500"/>
              <a:ext cx="2628900" cy="57150"/>
            </a:xfrm>
            <a:prstGeom prst="roundRect">
              <a:avLst>
                <a:gd name="adj" fmla="val 50000"/>
              </a:avLst>
            </a:prstGeom>
            <a:solidFill>
              <a:srgbClr val="34D3C0"/>
            </a:solidFill>
            <a:ln>
              <a:noFill/>
            </a:ln>
          </p:spPr>
        </p:sp>
        <p:sp>
          <p:nvSpPr>
            <p:cNvPr id="42" name="Polygon 42"/>
            <p:cNvSpPr/>
            <p:nvPr/>
          </p:nvSpPr>
          <p:spPr>
            <a:xfrm>
              <a:off x="6419850" y="3181350"/>
              <a:ext cx="495300" cy="495300"/>
            </a:xfrm>
            <a:custGeom>
              <a:avLst/>
              <a:gdLst/>
              <a:ahLst/>
              <a:cxnLst/>
              <a:rect l="l" t="t" r="r" b="b"/>
              <a:pathLst>
                <a:path w="495300" h="495300">
                  <a:moveTo>
                    <a:pt x="0" y="0"/>
                  </a:moveTo>
                  <a:lnTo>
                    <a:pt x="495300" y="200025"/>
                  </a:lnTo>
                  <a:lnTo>
                    <a:pt x="495300" y="295275"/>
                  </a:lnTo>
                  <a:lnTo>
                    <a:pt x="0" y="495300"/>
                  </a:lnTo>
                  <a:close/>
                </a:path>
              </a:pathLst>
            </a:custGeom>
            <a:solidFill>
              <a:srgbClr val="123049"/>
            </a:solidFill>
            <a:ln w="15240">
              <a:solidFill>
                <a:srgbClr val="34D3C0"/>
              </a:solidFill>
            </a:ln>
          </p:spPr>
        </p:sp>
        <p:sp>
          <p:nvSpPr>
            <p:cNvPr id="43" name="Polygon 43"/>
            <p:cNvSpPr/>
            <p:nvPr/>
          </p:nvSpPr>
          <p:spPr>
            <a:xfrm>
              <a:off x="7067550" y="3181350"/>
              <a:ext cx="495300" cy="495300"/>
            </a:xfrm>
            <a:custGeom>
              <a:avLst/>
              <a:gdLst/>
              <a:ahLst/>
              <a:cxnLst/>
              <a:rect l="l" t="t" r="r" b="b"/>
              <a:pathLst>
                <a:path w="495300" h="495300">
                  <a:moveTo>
                    <a:pt x="495300" y="0"/>
                  </a:moveTo>
                  <a:lnTo>
                    <a:pt x="0" y="200025"/>
                  </a:lnTo>
                  <a:lnTo>
                    <a:pt x="0" y="295275"/>
                  </a:lnTo>
                  <a:lnTo>
                    <a:pt x="495300" y="495300"/>
                  </a:lnTo>
                  <a:close/>
                </a:path>
              </a:pathLst>
            </a:custGeom>
            <a:solidFill>
              <a:srgbClr val="123049"/>
            </a:solidFill>
            <a:ln w="15240">
              <a:solidFill>
                <a:srgbClr val="34D3C0"/>
              </a:solidFill>
            </a:ln>
          </p:spPr>
        </p:sp>
        <p:sp>
          <p:nvSpPr>
            <p:cNvPr id="44" name="Rectangle 44"/>
            <p:cNvSpPr/>
            <p:nvPr/>
          </p:nvSpPr>
          <p:spPr>
            <a:xfrm>
              <a:off x="6915150" y="3381375"/>
              <a:ext cx="152400" cy="95250"/>
            </a:xfrm>
            <a:prstGeom prst="roundRect">
              <a:avLst>
                <a:gd name="adj" fmla="val 30000"/>
              </a:avLst>
            </a:prstGeom>
            <a:solidFill>
              <a:srgbClr val="34D3C0"/>
            </a:solidFill>
            <a:ln>
              <a:noFill/>
            </a:ln>
          </p:spPr>
        </p:sp>
        <p:sp>
          <p:nvSpPr>
            <p:cNvPr id="45" name="Freeform 45"/>
            <p:cNvSpPr/>
            <p:nvPr/>
          </p:nvSpPr>
          <p:spPr>
            <a:xfrm>
              <a:off x="6949440" y="3141345"/>
              <a:ext cx="74295" cy="71437"/>
            </a:xfrm>
            <a:custGeom>
              <a:avLst/>
              <a:gdLst/>
              <a:ahLst/>
              <a:cxnLst/>
              <a:rect l="l" t="t" r="r" b="b"/>
              <a:pathLst>
                <a:path w="74295" h="71437">
                  <a:moveTo>
                    <a:pt x="0" y="71437"/>
                  </a:moveTo>
                  <a:lnTo>
                    <a:pt x="0" y="37147"/>
                  </a:lnTo>
                  <a:cubicBezTo>
                    <a:pt x="0" y="16631"/>
                    <a:pt x="16632" y="0"/>
                    <a:pt x="37147" y="0"/>
                  </a:cubicBezTo>
                  <a:cubicBezTo>
                    <a:pt x="57663" y="0"/>
                    <a:pt x="74295" y="16631"/>
                    <a:pt x="74295" y="37147"/>
                  </a:cubicBezTo>
                  <a:lnTo>
                    <a:pt x="74295" y="71437"/>
                  </a:lnTo>
                </a:path>
              </a:pathLst>
            </a:custGeom>
            <a:noFill/>
            <a:ln w="20955">
              <a:solidFill>
                <a:srgbClr val="34D3C0"/>
              </a:solidFill>
            </a:ln>
          </p:spPr>
        </p:sp>
        <p:sp>
          <p:nvSpPr>
            <p:cNvPr id="46" name="Rectangle 46"/>
            <p:cNvSpPr/>
            <p:nvPr/>
          </p:nvSpPr>
          <p:spPr>
            <a:xfrm>
              <a:off x="6915150" y="3212782"/>
              <a:ext cx="142875" cy="88582"/>
            </a:xfrm>
            <a:prstGeom prst="roundRect">
              <a:avLst>
                <a:gd name="adj" fmla="val 26882"/>
              </a:avLst>
            </a:prstGeom>
            <a:solidFill>
              <a:srgbClr val="34D3C0"/>
            </a:solidFill>
            <a:ln>
              <a:noFill/>
            </a:ln>
          </p:spPr>
        </p:sp>
        <p:sp>
          <p:nvSpPr>
            <p:cNvPr id="47" name="Ellipse 47"/>
            <p:cNvSpPr/>
            <p:nvPr/>
          </p:nvSpPr>
          <p:spPr>
            <a:xfrm>
              <a:off x="6970871" y="3241358"/>
              <a:ext cx="31432" cy="31432"/>
            </a:xfrm>
            <a:prstGeom prst="ellipse">
              <a:avLst/>
            </a:prstGeom>
            <a:solidFill>
              <a:schemeClr val="lt1"/>
            </a:solidFill>
            <a:ln>
              <a:noFill/>
            </a:ln>
          </p:spPr>
        </p:sp>
        <p:sp>
          <p:nvSpPr>
            <p:cNvPr id="48" name="TextBox 48"/>
            <p:cNvSpPr txBox="1"/>
            <p:nvPr/>
          </p:nvSpPr>
          <p:spPr>
            <a:xfrm>
              <a:off x="6394323" y="3786664"/>
              <a:ext cx="237137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Share codes, not features</a:t>
              </a:r>
            </a:p>
          </p:txBody>
        </p:sp>
        <p:sp>
          <p:nvSpPr>
            <p:cNvPr id="49" name="TextBox 49"/>
            <p:cNvSpPr txBox="1"/>
            <p:nvPr/>
          </p:nvSpPr>
          <p:spPr>
            <a:xfrm>
              <a:off x="6396038" y="4299347"/>
              <a:ext cx="1943504"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Peers share only these encoded</a:t>
              </a:r>
            </a:p>
          </p:txBody>
        </p:sp>
        <p:sp>
          <p:nvSpPr>
            <p:cNvPr id="50" name="TextBox 50"/>
            <p:cNvSpPr txBox="1"/>
            <p:nvPr/>
          </p:nvSpPr>
          <p:spPr>
            <a:xfrm>
              <a:off x="6396038" y="4470797"/>
              <a:ext cx="2179734"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representations, then join them to</a:t>
              </a:r>
            </a:p>
          </p:txBody>
        </p:sp>
        <p:sp>
          <p:nvSpPr>
            <p:cNvPr id="51" name="TextBox 51"/>
            <p:cNvSpPr txBox="1"/>
            <p:nvPr/>
          </p:nvSpPr>
          <p:spPr>
            <a:xfrm>
              <a:off x="6396038" y="4642247"/>
              <a:ext cx="2122790"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train a shared downstream model.</a:t>
              </a:r>
            </a:p>
          </p:txBody>
        </p:sp>
      </p:grpSp>
      <p:grpSp>
        <p:nvGrpSpPr>
          <p:cNvPr id="61" name="Group 61"/>
          <p:cNvGrpSpPr/>
          <p:nvPr/>
        </p:nvGrpSpPr>
        <p:grpSpPr>
          <a:xfrm>
            <a:off x="8953500" y="2857500"/>
            <a:ext cx="2628900" cy="2171700"/>
            <a:chOff x="8953500" y="2857500"/>
            <a:chExt cx="2628900" cy="2171700"/>
          </a:xfrm>
        </p:grpSpPr>
        <p:sp>
          <p:nvSpPr>
            <p:cNvPr id="53" name="Rectangle 53"/>
            <p:cNvSpPr/>
            <p:nvPr/>
          </p:nvSpPr>
          <p:spPr>
            <a:xfrm>
              <a:off x="8953500" y="2857500"/>
              <a:ext cx="2628900" cy="2171700"/>
            </a:xfrm>
            <a:prstGeom prst="roundRect">
              <a:avLst>
                <a:gd name="adj" fmla="val 6140"/>
              </a:avLst>
            </a:prstGeom>
            <a:solidFill>
              <a:schemeClr val="accent5"/>
            </a:solidFill>
            <a:ln w="14288">
              <a:solidFill>
                <a:srgbClr val="26455F"/>
              </a:solidFill>
            </a:ln>
          </p:spPr>
        </p:sp>
        <p:sp>
          <p:nvSpPr>
            <p:cNvPr id="54" name="Rectangle 54"/>
            <p:cNvSpPr/>
            <p:nvPr/>
          </p:nvSpPr>
          <p:spPr>
            <a:xfrm>
              <a:off x="8953500" y="2857500"/>
              <a:ext cx="2628900" cy="57150"/>
            </a:xfrm>
            <a:prstGeom prst="roundRect">
              <a:avLst>
                <a:gd name="adj" fmla="val 50000"/>
              </a:avLst>
            </a:prstGeom>
            <a:solidFill>
              <a:srgbClr val="48C78E"/>
            </a:solidFill>
            <a:ln>
              <a:noFill/>
            </a:ln>
          </p:spPr>
        </p:sp>
        <p:sp>
          <p:nvSpPr>
            <p:cNvPr id="55" name="TextBox 55"/>
            <p:cNvSpPr txBox="1"/>
            <p:nvPr/>
          </p:nvSpPr>
          <p:spPr>
            <a:xfrm>
              <a:off x="9170670" y="3300412"/>
              <a:ext cx="1088293" cy="440055"/>
            </a:xfrm>
            <a:prstGeom prst="rect">
              <a:avLst/>
            </a:prstGeom>
            <a:noFill/>
            <a:ln>
              <a:noFill/>
            </a:ln>
          </p:spPr>
          <p:txBody>
            <a:bodyPr wrap="none" lIns="0" tIns="0" rIns="0" bIns="0" anchor="t" anchorCtr="0">
              <a:spAutoFit/>
            </a:bodyPr>
            <a:lstStyle/>
            <a:p>
              <a:pPr algn="l"/>
              <a:r>
                <a:rPr lang="en-US" sz="2250" b="1" dirty="0">
                  <a:solidFill>
                    <a:srgbClr val="48C78E"/>
                  </a:solidFill>
                  <a:latin typeface="+mn-lt"/>
                  <a:ea typeface="+mn-ea"/>
                  <a:cs typeface="+mn-cs"/>
                </a:rPr>
                <a:t>&lt; 10 pp</a:t>
              </a:r>
            </a:p>
          </p:txBody>
        </p:sp>
        <p:sp>
          <p:nvSpPr>
            <p:cNvPr id="56" name="TextBox 56"/>
            <p:cNvSpPr txBox="1"/>
            <p:nvPr/>
          </p:nvSpPr>
          <p:spPr>
            <a:xfrm>
              <a:off x="9175623" y="3786664"/>
              <a:ext cx="1476929"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Under 10 pp drop</a:t>
              </a:r>
            </a:p>
          </p:txBody>
        </p:sp>
        <p:sp>
          <p:nvSpPr>
            <p:cNvPr id="57" name="TextBox 57"/>
            <p:cNvSpPr txBox="1"/>
            <p:nvPr/>
          </p:nvSpPr>
          <p:spPr>
            <a:xfrm>
              <a:off x="9177338" y="4299347"/>
              <a:ext cx="2038454"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Across three public benchmarks,</a:t>
              </a:r>
            </a:p>
          </p:txBody>
        </p:sp>
        <p:sp>
          <p:nvSpPr>
            <p:cNvPr id="58" name="TextBox 58"/>
            <p:cNvSpPr txBox="1"/>
            <p:nvPr/>
          </p:nvSpPr>
          <p:spPr>
            <a:xfrm>
              <a:off x="9177338" y="4470797"/>
              <a:ext cx="2148098"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encoded data preserves predictive</a:t>
              </a:r>
            </a:p>
          </p:txBody>
        </p:sp>
        <p:sp>
          <p:nvSpPr>
            <p:cNvPr id="59" name="TextBox 59"/>
            <p:cNvSpPr txBox="1"/>
            <p:nvPr/>
          </p:nvSpPr>
          <p:spPr>
            <a:xfrm>
              <a:off x="9177338" y="4642247"/>
              <a:ext cx="2160753"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power while the raw features stay</a:t>
              </a:r>
            </a:p>
          </p:txBody>
        </p:sp>
        <p:sp>
          <p:nvSpPr>
            <p:cNvPr id="60" name="TextBox 60"/>
            <p:cNvSpPr txBox="1"/>
            <p:nvPr/>
          </p:nvSpPr>
          <p:spPr>
            <a:xfrm>
              <a:off x="9177338" y="4813697"/>
              <a:ext cx="465079"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hidden.</a:t>
              </a:r>
            </a:p>
          </p:txBody>
        </p:sp>
      </p:grpSp>
      <p:sp>
        <p:nvSpPr>
          <p:cNvPr id="62" name="Line 62"/>
          <p:cNvSpPr/>
          <p:nvPr/>
        </p:nvSpPr>
        <p:spPr>
          <a:xfrm>
            <a:off x="609600" y="535305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63" name="TextBox 63"/>
          <p:cNvSpPr txBox="1"/>
          <p:nvPr/>
        </p:nvSpPr>
        <p:spPr>
          <a:xfrm>
            <a:off x="604266" y="55826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arXiv:2211.05717</a:t>
            </a:r>
          </a:p>
        </p:txBody>
      </p:sp>
      <p:sp>
        <p:nvSpPr>
          <p:cNvPr id="64" name="TextBox 64"/>
          <p:cNvSpPr txBox="1"/>
          <p:nvPr/>
        </p:nvSpPr>
        <p:spPr>
          <a:xfrm>
            <a:off x="7512597" y="5582602"/>
            <a:ext cx="407513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Share the latent embedding, keep the raw data private.</a:t>
            </a:r>
          </a:p>
        </p:txBody>
      </p:sp>
      <p:sp>
        <p:nvSpPr>
          <p:cNvPr id="65" name="cue_s01_c1_organizations_increasingly_want_pool" title="cue_s01_c1_organizations_increasingly_want_pool" descr="cue_s01_c1_organizations_increasingly_want_pool Organizations increasingly want to pool their data to build better machine learning models, but privacy policies and intellectual property laws often make raw data sharing impossible."/>
          <p:cNvSpPr/>
          <p:nvPr/>
        </p:nvSpPr>
        <p:spPr>
          <a:xfrm>
            <a:off x="609600" y="2857728"/>
            <a:ext cx="2628595" cy="21719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1_c2_introduces_privacy_preserving_framew" title="cue_s01_c2_introduces_privacy_preserving_framew" descr="cue_s01_c2_introduces_privacy_preserving_framew This paper introduces a privacy-preserving framework that uses autoencoders to turn sensitive tabular data into obfuscated latent-space embeddings."/>
          <p:cNvSpPr/>
          <p:nvPr/>
        </p:nvSpPr>
        <p:spPr>
          <a:xfrm>
            <a:off x="3390595" y="2857728"/>
            <a:ext cx="2628595" cy="21719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1_c3_instead_exchanging_raw_features_coll" title="cue_s01_c3_instead_exchanging_raw_features_coll" descr="cue_s01_c3_instead_exchanging_raw_features_coll Instead of exchanging raw features, collaborating peers share only these encoded representations, then join them to train a shared downstream model."/>
          <p:cNvSpPr/>
          <p:nvPr/>
        </p:nvSpPr>
        <p:spPr>
          <a:xfrm>
            <a:off x="6171590" y="2857728"/>
            <a:ext cx="2628595" cy="21719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ue_s01_c4_across_three_public_benchmarks_encod" title="cue_s01_c4_across_three_public_benchmarks_encod" descr="cue_s01_c4_across_three_public_benchmarks_encod Across three public benchmarks, the encoded data preserves predictive power, with performance dropping by less than ten percentage points while the original features stay hidden."/>
          <p:cNvSpPr/>
          <p:nvPr/>
        </p:nvSpPr>
        <p:spPr>
          <a:xfrm>
            <a:off x="8953804" y="2857728"/>
            <a:ext cx="2628595" cy="21719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701451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Complementary data that cannot be combined</a:t>
            </a:r>
          </a:p>
        </p:txBody>
      </p:sp>
      <p:grpSp>
        <p:nvGrpSpPr>
          <p:cNvPr id="25" name="Group 25"/>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78318"/>
              <a:ext cx="238698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Two peers, one user base</a:t>
              </a:r>
            </a:p>
          </p:txBody>
        </p:sp>
        <p:sp>
          <p:nvSpPr>
            <p:cNvPr id="8" name="TextBox 8"/>
            <p:cNvSpPr txBox="1"/>
            <p:nvPr/>
          </p:nvSpPr>
          <p:spPr>
            <a:xfrm>
              <a:off x="870966" y="2172652"/>
              <a:ext cx="298384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Two companies each hold a different set of</a:t>
              </a:r>
            </a:p>
          </p:txBody>
        </p:sp>
        <p:sp>
          <p:nvSpPr>
            <p:cNvPr id="9" name="TextBox 9"/>
            <p:cNvSpPr txBox="1"/>
            <p:nvPr/>
          </p:nvSpPr>
          <p:spPr>
            <a:xfrm>
              <a:off x="870966" y="2382202"/>
              <a:ext cx="29413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variables about the same users. Combining</a:t>
              </a:r>
            </a:p>
          </p:txBody>
        </p:sp>
        <p:sp>
          <p:nvSpPr>
            <p:cNvPr id="10" name="TextBox 10"/>
            <p:cNvSpPr txBox="1"/>
            <p:nvPr/>
          </p:nvSpPr>
          <p:spPr>
            <a:xfrm>
              <a:off x="870966" y="2591752"/>
              <a:ext cx="302144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features would predict a shared target far</a:t>
              </a:r>
            </a:p>
          </p:txBody>
        </p:sp>
        <p:sp>
          <p:nvSpPr>
            <p:cNvPr id="11" name="TextBox 11"/>
            <p:cNvSpPr txBox="1"/>
            <p:nvPr/>
          </p:nvSpPr>
          <p:spPr>
            <a:xfrm>
              <a:off x="870966" y="2801302"/>
              <a:ext cx="12121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more accurately.</a:t>
              </a:r>
            </a:p>
          </p:txBody>
        </p:sp>
        <p:sp>
          <p:nvSpPr>
            <p:cNvPr id="12" name="Rectangle 12"/>
            <p:cNvSpPr/>
            <p:nvPr/>
          </p:nvSpPr>
          <p:spPr>
            <a:xfrm>
              <a:off x="876300" y="3333750"/>
              <a:ext cx="1600200" cy="1047750"/>
            </a:xfrm>
            <a:prstGeom prst="roundRect">
              <a:avLst>
                <a:gd name="adj" fmla="val 9091"/>
              </a:avLst>
            </a:prstGeom>
            <a:solidFill>
              <a:schemeClr val="accent6"/>
            </a:solidFill>
            <a:ln w="14288">
              <a:solidFill>
                <a:srgbClr val="34D3C0"/>
              </a:solidFill>
            </a:ln>
          </p:spPr>
        </p:sp>
        <p:sp>
          <p:nvSpPr>
            <p:cNvPr id="13" name="Rectangle 13"/>
            <p:cNvSpPr/>
            <p:nvPr/>
          </p:nvSpPr>
          <p:spPr>
            <a:xfrm>
              <a:off x="876300" y="3333750"/>
              <a:ext cx="47625" cy="1047750"/>
            </a:xfrm>
            <a:prstGeom prst="roundRect">
              <a:avLst>
                <a:gd name="adj" fmla="val 40000"/>
              </a:avLst>
            </a:prstGeom>
            <a:solidFill>
              <a:srgbClr val="34D3C0"/>
            </a:solidFill>
            <a:ln>
              <a:noFill/>
            </a:ln>
          </p:spPr>
        </p:sp>
        <p:sp>
          <p:nvSpPr>
            <p:cNvPr id="14" name="TextBox 14"/>
            <p:cNvSpPr txBox="1"/>
            <p:nvPr/>
          </p:nvSpPr>
          <p:spPr>
            <a:xfrm>
              <a:off x="1023556" y="3434001"/>
              <a:ext cx="455578"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Peer A</a:t>
              </a:r>
            </a:p>
          </p:txBody>
        </p:sp>
        <p:sp>
          <p:nvSpPr>
            <p:cNvPr id="15" name="TextBox 15"/>
            <p:cNvSpPr txBox="1"/>
            <p:nvPr/>
          </p:nvSpPr>
          <p:spPr>
            <a:xfrm>
              <a:off x="1023938" y="3644741"/>
              <a:ext cx="739744" cy="161925"/>
            </a:xfrm>
            <a:prstGeom prst="rect">
              <a:avLst/>
            </a:prstGeom>
            <a:noFill/>
            <a:ln>
              <a:noFill/>
            </a:ln>
          </p:spPr>
          <p:txBody>
            <a:bodyPr wrap="none" lIns="0" tIns="0" rIns="0" bIns="0" anchor="t" anchorCtr="0">
              <a:spAutoFit/>
            </a:bodyPr>
            <a:lstStyle/>
            <a:p>
              <a:pPr algn="l"/>
              <a:r>
                <a:rPr lang="en-US" sz="820" b="1" dirty="0">
                  <a:solidFill>
                    <a:schemeClr val="dk2"/>
                  </a:solidFill>
                  <a:latin typeface="+mn-lt"/>
                  <a:ea typeface="+mn-ea"/>
                  <a:cs typeface="+mn-cs"/>
                </a:rPr>
                <a:t>age, income,</a:t>
              </a:r>
            </a:p>
          </p:txBody>
        </p:sp>
        <p:sp>
          <p:nvSpPr>
            <p:cNvPr id="16" name="TextBox 16"/>
            <p:cNvSpPr txBox="1"/>
            <p:nvPr/>
          </p:nvSpPr>
          <p:spPr>
            <a:xfrm>
              <a:off x="1023938" y="3797141"/>
              <a:ext cx="844061" cy="161925"/>
            </a:xfrm>
            <a:prstGeom prst="rect">
              <a:avLst/>
            </a:prstGeom>
            <a:noFill/>
            <a:ln>
              <a:noFill/>
            </a:ln>
          </p:spPr>
          <p:txBody>
            <a:bodyPr wrap="none" lIns="0" tIns="0" rIns="0" bIns="0" anchor="t" anchorCtr="0">
              <a:spAutoFit/>
            </a:bodyPr>
            <a:lstStyle/>
            <a:p>
              <a:pPr algn="l"/>
              <a:r>
                <a:rPr lang="en-US" sz="820" b="1" dirty="0">
                  <a:solidFill>
                    <a:schemeClr val="dk2"/>
                  </a:solidFill>
                  <a:latin typeface="+mn-lt"/>
                  <a:ea typeface="+mn-ea"/>
                  <a:cs typeface="+mn-cs"/>
                </a:rPr>
                <a:t>spend history,</a:t>
              </a:r>
            </a:p>
          </p:txBody>
        </p:sp>
        <p:sp>
          <p:nvSpPr>
            <p:cNvPr id="17" name="TextBox 17"/>
            <p:cNvSpPr txBox="1"/>
            <p:nvPr/>
          </p:nvSpPr>
          <p:spPr>
            <a:xfrm>
              <a:off x="1023938" y="3949541"/>
              <a:ext cx="687586" cy="161925"/>
            </a:xfrm>
            <a:prstGeom prst="rect">
              <a:avLst/>
            </a:prstGeom>
            <a:noFill/>
            <a:ln>
              <a:noFill/>
            </a:ln>
          </p:spPr>
          <p:txBody>
            <a:bodyPr wrap="none" lIns="0" tIns="0" rIns="0" bIns="0" anchor="t" anchorCtr="0">
              <a:spAutoFit/>
            </a:bodyPr>
            <a:lstStyle/>
            <a:p>
              <a:pPr algn="l"/>
              <a:r>
                <a:rPr lang="en-US" sz="820" b="1" dirty="0">
                  <a:solidFill>
                    <a:schemeClr val="dk2"/>
                  </a:solidFill>
                  <a:latin typeface="+mn-lt"/>
                  <a:ea typeface="+mn-ea"/>
                  <a:cs typeface="+mn-cs"/>
                </a:rPr>
                <a:t>location ...</a:t>
              </a:r>
            </a:p>
          </p:txBody>
        </p:sp>
        <p:sp>
          <p:nvSpPr>
            <p:cNvPr id="18" name="Rectangle 18"/>
            <p:cNvSpPr/>
            <p:nvPr/>
          </p:nvSpPr>
          <p:spPr>
            <a:xfrm>
              <a:off x="2552700" y="3333750"/>
              <a:ext cx="1600200" cy="1047750"/>
            </a:xfrm>
            <a:prstGeom prst="roundRect">
              <a:avLst>
                <a:gd name="adj" fmla="val 9091"/>
              </a:avLst>
            </a:prstGeom>
            <a:solidFill>
              <a:schemeClr val="accent6"/>
            </a:solidFill>
            <a:ln w="14288">
              <a:solidFill>
                <a:srgbClr val="F2C14E"/>
              </a:solidFill>
            </a:ln>
          </p:spPr>
        </p:sp>
        <p:sp>
          <p:nvSpPr>
            <p:cNvPr id="19" name="Rectangle 19"/>
            <p:cNvSpPr/>
            <p:nvPr/>
          </p:nvSpPr>
          <p:spPr>
            <a:xfrm>
              <a:off x="2552700" y="3333750"/>
              <a:ext cx="47625" cy="1047750"/>
            </a:xfrm>
            <a:prstGeom prst="roundRect">
              <a:avLst>
                <a:gd name="adj" fmla="val 40000"/>
              </a:avLst>
            </a:prstGeom>
            <a:solidFill>
              <a:srgbClr val="F2C14E"/>
            </a:solidFill>
            <a:ln>
              <a:noFill/>
            </a:ln>
          </p:spPr>
        </p:sp>
        <p:sp>
          <p:nvSpPr>
            <p:cNvPr id="20" name="TextBox 20"/>
            <p:cNvSpPr txBox="1"/>
            <p:nvPr/>
          </p:nvSpPr>
          <p:spPr>
            <a:xfrm>
              <a:off x="2699956" y="3434001"/>
              <a:ext cx="455578"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Peer B</a:t>
              </a:r>
            </a:p>
          </p:txBody>
        </p:sp>
        <p:sp>
          <p:nvSpPr>
            <p:cNvPr id="21" name="TextBox 21"/>
            <p:cNvSpPr txBox="1"/>
            <p:nvPr/>
          </p:nvSpPr>
          <p:spPr>
            <a:xfrm>
              <a:off x="2700338" y="3644741"/>
              <a:ext cx="618041" cy="161925"/>
            </a:xfrm>
            <a:prstGeom prst="rect">
              <a:avLst/>
            </a:prstGeom>
            <a:noFill/>
            <a:ln>
              <a:noFill/>
            </a:ln>
          </p:spPr>
          <p:txBody>
            <a:bodyPr wrap="none" lIns="0" tIns="0" rIns="0" bIns="0" anchor="t" anchorCtr="0">
              <a:spAutoFit/>
            </a:bodyPr>
            <a:lstStyle/>
            <a:p>
              <a:pPr algn="l"/>
              <a:r>
                <a:rPr lang="en-US" sz="820" b="1" dirty="0">
                  <a:solidFill>
                    <a:schemeClr val="dk2"/>
                  </a:solidFill>
                  <a:latin typeface="+mn-lt"/>
                  <a:ea typeface="+mn-ea"/>
                  <a:cs typeface="+mn-cs"/>
                </a:rPr>
                <a:t>app usage,</a:t>
              </a:r>
            </a:p>
          </p:txBody>
        </p:sp>
        <p:sp>
          <p:nvSpPr>
            <p:cNvPr id="22" name="TextBox 22"/>
            <p:cNvSpPr txBox="1"/>
            <p:nvPr/>
          </p:nvSpPr>
          <p:spPr>
            <a:xfrm>
              <a:off x="2700338" y="3797141"/>
              <a:ext cx="907811" cy="161925"/>
            </a:xfrm>
            <a:prstGeom prst="rect">
              <a:avLst/>
            </a:prstGeom>
            <a:noFill/>
            <a:ln>
              <a:noFill/>
            </a:ln>
          </p:spPr>
          <p:txBody>
            <a:bodyPr wrap="none" lIns="0" tIns="0" rIns="0" bIns="0" anchor="t" anchorCtr="0">
              <a:spAutoFit/>
            </a:bodyPr>
            <a:lstStyle/>
            <a:p>
              <a:pPr algn="l"/>
              <a:r>
                <a:rPr lang="en-US" sz="820" b="1" dirty="0">
                  <a:solidFill>
                    <a:schemeClr val="dk2"/>
                  </a:solidFill>
                  <a:latin typeface="+mn-lt"/>
                  <a:ea typeface="+mn-ea"/>
                  <a:cs typeface="+mn-cs"/>
                </a:rPr>
                <a:t>device, tenure,</a:t>
              </a:r>
            </a:p>
          </p:txBody>
        </p:sp>
        <p:sp>
          <p:nvSpPr>
            <p:cNvPr id="23" name="TextBox 23"/>
            <p:cNvSpPr txBox="1"/>
            <p:nvPr/>
          </p:nvSpPr>
          <p:spPr>
            <a:xfrm>
              <a:off x="2700338" y="3949541"/>
              <a:ext cx="589064" cy="161925"/>
            </a:xfrm>
            <a:prstGeom prst="rect">
              <a:avLst/>
            </a:prstGeom>
            <a:noFill/>
            <a:ln>
              <a:noFill/>
            </a:ln>
          </p:spPr>
          <p:txBody>
            <a:bodyPr wrap="none" lIns="0" tIns="0" rIns="0" bIns="0" anchor="t" anchorCtr="0">
              <a:spAutoFit/>
            </a:bodyPr>
            <a:lstStyle/>
            <a:p>
              <a:pPr algn="l"/>
              <a:r>
                <a:rPr lang="en-US" sz="820" b="1" dirty="0">
                  <a:solidFill>
                    <a:schemeClr val="dk2"/>
                  </a:solidFill>
                  <a:latin typeface="+mn-lt"/>
                  <a:ea typeface="+mn-ea"/>
                  <a:cs typeface="+mn-cs"/>
                </a:rPr>
                <a:t>credit ...</a:t>
              </a:r>
            </a:p>
          </p:txBody>
        </p:sp>
        <p:sp>
          <p:nvSpPr>
            <p:cNvPr id="24" name="TextBox 24"/>
            <p:cNvSpPr txBox="1"/>
            <p:nvPr/>
          </p:nvSpPr>
          <p:spPr>
            <a:xfrm>
              <a:off x="1240930" y="4604147"/>
              <a:ext cx="254734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same users -&gt; richer target prediction</a:t>
              </a:r>
            </a:p>
          </p:txBody>
        </p:sp>
      </p:grpSp>
      <p:grpSp>
        <p:nvGrpSpPr>
          <p:cNvPr id="33" name="Group 33"/>
          <p:cNvGrpSpPr/>
          <p:nvPr/>
        </p:nvGrpSpPr>
        <p:grpSpPr>
          <a:xfrm>
            <a:off x="4762500" y="1504950"/>
            <a:ext cx="6819900" cy="1428750"/>
            <a:chOff x="4762500" y="1504950"/>
            <a:chExt cx="6819900" cy="1428750"/>
          </a:xfrm>
        </p:grpSpPr>
        <p:sp>
          <p:nvSpPr>
            <p:cNvPr id="26" name="Rectangle 26"/>
            <p:cNvSpPr/>
            <p:nvPr/>
          </p:nvSpPr>
          <p:spPr>
            <a:xfrm>
              <a:off x="4762500" y="1504950"/>
              <a:ext cx="6819900" cy="1428750"/>
            </a:xfrm>
            <a:prstGeom prst="roundRect">
              <a:avLst>
                <a:gd name="adj" fmla="val 9333"/>
              </a:avLst>
            </a:prstGeom>
            <a:solidFill>
              <a:schemeClr val="accent5"/>
            </a:solidFill>
            <a:ln w="14288">
              <a:solidFill>
                <a:srgbClr val="26455F"/>
              </a:solidFill>
            </a:ln>
          </p:spPr>
        </p:sp>
        <p:sp>
          <p:nvSpPr>
            <p:cNvPr id="27" name="Rectangle 27"/>
            <p:cNvSpPr/>
            <p:nvPr/>
          </p:nvSpPr>
          <p:spPr>
            <a:xfrm>
              <a:off x="4762500" y="1504950"/>
              <a:ext cx="57150" cy="1428750"/>
            </a:xfrm>
            <a:prstGeom prst="roundRect">
              <a:avLst>
                <a:gd name="adj" fmla="val 50000"/>
              </a:avLst>
            </a:prstGeom>
            <a:solidFill>
              <a:srgbClr val="F2685C"/>
            </a:solidFill>
            <a:ln>
              <a:noFill/>
            </a:ln>
          </p:spPr>
        </p:sp>
        <p:sp>
          <p:nvSpPr>
            <p:cNvPr id="28" name="TextBox 28"/>
            <p:cNvSpPr txBox="1"/>
            <p:nvPr/>
          </p:nvSpPr>
          <p:spPr>
            <a:xfrm>
              <a:off x="5022914" y="1733312"/>
              <a:ext cx="2498567"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But the raw data is sensitive</a:t>
              </a:r>
            </a:p>
          </p:txBody>
        </p:sp>
        <p:sp>
          <p:nvSpPr>
            <p:cNvPr id="29" name="TextBox 29"/>
            <p:cNvSpPr txBox="1"/>
            <p:nvPr/>
          </p:nvSpPr>
          <p:spPr>
            <a:xfrm>
              <a:off x="5023866" y="2039302"/>
              <a:ext cx="422726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Privacy policies and intellectual property laws forbid handing</a:t>
              </a:r>
            </a:p>
          </p:txBody>
        </p:sp>
        <p:sp>
          <p:nvSpPr>
            <p:cNvPr id="30" name="TextBox 30"/>
            <p:cNvSpPr txBox="1"/>
            <p:nvPr/>
          </p:nvSpPr>
          <p:spPr>
            <a:xfrm>
              <a:off x="5023866" y="2239328"/>
              <a:ext cx="44137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over the raw features, even when the channel between peers is</a:t>
              </a:r>
            </a:p>
          </p:txBody>
        </p:sp>
        <p:sp>
          <p:nvSpPr>
            <p:cNvPr id="31" name="TextBox 31"/>
            <p:cNvSpPr txBox="1"/>
            <p:nvPr/>
          </p:nvSpPr>
          <p:spPr>
            <a:xfrm>
              <a:off x="5023866" y="2439352"/>
              <a:ext cx="55486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secure.</a:t>
              </a:r>
            </a:p>
          </p:txBody>
        </p:sp>
        <p:sp>
          <p:nvSpPr>
            <p:cNvPr id="32" name="TextBox 32"/>
            <p:cNvSpPr txBox="1"/>
            <p:nvPr/>
          </p:nvSpPr>
          <p:spPr>
            <a:xfrm>
              <a:off x="5024247" y="2714149"/>
              <a:ext cx="4262592" cy="190690"/>
            </a:xfrm>
            <a:prstGeom prst="rect">
              <a:avLst/>
            </a:prstGeom>
            <a:noFill/>
            <a:ln>
              <a:noFill/>
            </a:ln>
          </p:spPr>
          <p:txBody>
            <a:bodyPr wrap="none" lIns="0" tIns="0" rIns="0" bIns="0" anchor="t" anchorCtr="0">
              <a:spAutoFit/>
            </a:bodyPr>
            <a:lstStyle/>
            <a:p>
              <a:pPr algn="l"/>
              <a:r>
                <a:rPr lang="en-US" sz="980" b="1" dirty="0">
                  <a:solidFill>
                    <a:srgbClr val="F2685C"/>
                  </a:solidFill>
                  <a:latin typeface="Consolas"/>
                  <a:ea typeface="Consolas"/>
                  <a:cs typeface="Consolas"/>
                </a:rPr>
                <a:t>secure channel is not enough -&gt; raw features stay locked away</a:t>
              </a:r>
            </a:p>
          </p:txBody>
        </p:sp>
      </p:grpSp>
      <p:grpSp>
        <p:nvGrpSpPr>
          <p:cNvPr id="39" name="Group 39"/>
          <p:cNvGrpSpPr/>
          <p:nvPr/>
        </p:nvGrpSpPr>
        <p:grpSpPr>
          <a:xfrm>
            <a:off x="4762500" y="3086100"/>
            <a:ext cx="6819900" cy="990600"/>
            <a:chOff x="4762500" y="3086100"/>
            <a:chExt cx="6819900" cy="990600"/>
          </a:xfrm>
        </p:grpSpPr>
        <p:sp>
          <p:nvSpPr>
            <p:cNvPr id="34" name="Rectangle 34"/>
            <p:cNvSpPr/>
            <p:nvPr/>
          </p:nvSpPr>
          <p:spPr>
            <a:xfrm>
              <a:off x="4762500" y="3086100"/>
              <a:ext cx="6819900" cy="990600"/>
            </a:xfrm>
            <a:prstGeom prst="roundRect">
              <a:avLst>
                <a:gd name="adj" fmla="val 13462"/>
              </a:avLst>
            </a:prstGeom>
            <a:solidFill>
              <a:srgbClr val="2A2417"/>
            </a:solidFill>
            <a:ln w="14288">
              <a:solidFill>
                <a:srgbClr val="F2C14E"/>
              </a:solidFill>
            </a:ln>
          </p:spPr>
        </p:sp>
        <p:sp>
          <p:nvSpPr>
            <p:cNvPr id="35" name="Rectangle 35"/>
            <p:cNvSpPr/>
            <p:nvPr/>
          </p:nvSpPr>
          <p:spPr>
            <a:xfrm>
              <a:off x="4762500" y="3086100"/>
              <a:ext cx="57150" cy="990600"/>
            </a:xfrm>
            <a:prstGeom prst="roundRect">
              <a:avLst>
                <a:gd name="adj" fmla="val 50000"/>
              </a:avLst>
            </a:prstGeom>
            <a:solidFill>
              <a:srgbClr val="F2C14E"/>
            </a:solidFill>
            <a:ln>
              <a:noFill/>
            </a:ln>
          </p:spPr>
        </p:sp>
        <p:sp>
          <p:nvSpPr>
            <p:cNvPr id="36" name="TextBox 36"/>
            <p:cNvSpPr txBox="1"/>
            <p:nvPr/>
          </p:nvSpPr>
          <p:spPr>
            <a:xfrm>
              <a:off x="5023104" y="3318510"/>
              <a:ext cx="2671945"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So the collaboration is cancelled</a:t>
              </a:r>
            </a:p>
          </p:txBody>
        </p:sp>
        <p:sp>
          <p:nvSpPr>
            <p:cNvPr id="37" name="TextBox 37"/>
            <p:cNvSpPr txBox="1"/>
            <p:nvPr/>
          </p:nvSpPr>
          <p:spPr>
            <a:xfrm>
              <a:off x="5023676" y="3616404"/>
              <a:ext cx="526188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Without a way to share, the partnership stops and the potential boost in</a:t>
              </a:r>
            </a:p>
          </p:txBody>
        </p:sp>
        <p:sp>
          <p:nvSpPr>
            <p:cNvPr id="38" name="TextBox 38"/>
            <p:cNvSpPr txBox="1"/>
            <p:nvPr/>
          </p:nvSpPr>
          <p:spPr>
            <a:xfrm>
              <a:off x="5023676" y="3825954"/>
              <a:ext cx="1947962"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model performance is lost.</a:t>
              </a:r>
            </a:p>
          </p:txBody>
        </p:sp>
      </p:grpSp>
      <p:grpSp>
        <p:nvGrpSpPr>
          <p:cNvPr id="45" name="Group 45"/>
          <p:cNvGrpSpPr/>
          <p:nvPr/>
        </p:nvGrpSpPr>
        <p:grpSpPr>
          <a:xfrm>
            <a:off x="4762500" y="4229100"/>
            <a:ext cx="6819900" cy="1009650"/>
            <a:chOff x="4762500" y="4229100"/>
            <a:chExt cx="6819900" cy="1009650"/>
          </a:xfrm>
        </p:grpSpPr>
        <p:sp>
          <p:nvSpPr>
            <p:cNvPr id="40" name="Rectangle 40"/>
            <p:cNvSpPr/>
            <p:nvPr/>
          </p:nvSpPr>
          <p:spPr>
            <a:xfrm>
              <a:off x="4762500" y="4229100"/>
              <a:ext cx="6819900" cy="1009650"/>
            </a:xfrm>
            <a:prstGeom prst="roundRect">
              <a:avLst>
                <a:gd name="adj" fmla="val 13208"/>
              </a:avLst>
            </a:prstGeom>
            <a:solidFill>
              <a:srgbClr val="0F2E2B"/>
            </a:solidFill>
            <a:ln w="14288">
              <a:solidFill>
                <a:srgbClr val="34D3C0"/>
              </a:solidFill>
            </a:ln>
          </p:spPr>
        </p:sp>
        <p:sp>
          <p:nvSpPr>
            <p:cNvPr id="41" name="Rectangle 41"/>
            <p:cNvSpPr/>
            <p:nvPr/>
          </p:nvSpPr>
          <p:spPr>
            <a:xfrm>
              <a:off x="4762500" y="4229100"/>
              <a:ext cx="57150" cy="1009650"/>
            </a:xfrm>
            <a:prstGeom prst="roundRect">
              <a:avLst>
                <a:gd name="adj" fmla="val 50000"/>
              </a:avLst>
            </a:prstGeom>
            <a:solidFill>
              <a:srgbClr val="34D3C0"/>
            </a:solidFill>
            <a:ln>
              <a:noFill/>
            </a:ln>
          </p:spPr>
        </p:sp>
        <p:sp>
          <p:nvSpPr>
            <p:cNvPr id="42" name="TextBox 42"/>
            <p:cNvSpPr txBox="1"/>
            <p:nvPr/>
          </p:nvSpPr>
          <p:spPr>
            <a:xfrm>
              <a:off x="5023104" y="4461510"/>
              <a:ext cx="1476439"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The core question</a:t>
              </a:r>
            </a:p>
          </p:txBody>
        </p:sp>
        <p:sp>
          <p:nvSpPr>
            <p:cNvPr id="43" name="TextBox 43"/>
            <p:cNvSpPr txBox="1"/>
            <p:nvPr/>
          </p:nvSpPr>
          <p:spPr>
            <a:xfrm>
              <a:off x="5023676" y="4759404"/>
              <a:ext cx="5452574"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How can peers share their information and keep the predictive power of the</a:t>
              </a:r>
            </a:p>
          </p:txBody>
        </p:sp>
        <p:sp>
          <p:nvSpPr>
            <p:cNvPr id="44" name="TextBox 44"/>
            <p:cNvSpPr txBox="1"/>
            <p:nvPr/>
          </p:nvSpPr>
          <p:spPr>
            <a:xfrm>
              <a:off x="5023676" y="4968954"/>
              <a:ext cx="3987589"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original features, without ever exposing the raw data?</a:t>
              </a:r>
            </a:p>
          </p:txBody>
        </p:sp>
      </p:grpSp>
      <p:sp>
        <p:nvSpPr>
          <p:cNvPr id="46" name="cue_s02_c1_common_real_world_situation_two_comp" title="cue_s02_c1_common_real_world_situation_two_comp" descr="cue_s02_c1_common_real_world_situation_two_comp A common real-world situation is two companies that each hold a different set of variables about the same group of users. If they could combine their features, both could predict a shared target variable far more accurately and make better decisions."/>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2_c2_but_sensitive_privacy_policies_intel" title="cue_s02_c2_but_sensitive_privacy_policies_intel" descr="cue_s02_c2_but_sensitive_privacy_policies_intel But the data is sensitive, so privacy policies and intellectual property laws forbid handing over the raw features, even when the communication channel between them is secure."/>
          <p:cNvSpPr/>
          <p:nvPr/>
        </p:nvSpPr>
        <p:spPr>
          <a:xfrm>
            <a:off x="4762195" y="1504645"/>
            <a:ext cx="682020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2_c3_collaboration_cancelled_potential_bo" title="cue_s02_c3_collaboration_cancelled_potential_bo" descr="cue_s02_c3_collaboration_cancelled_potential_bo The collaboration is cancelled, and the potential boost in model performance is lost."/>
          <p:cNvSpPr/>
          <p:nvPr/>
        </p:nvSpPr>
        <p:spPr>
          <a:xfrm>
            <a:off x="4762195" y="3086100"/>
            <a:ext cx="6820204"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2_c4_core_problem_tackles_how_let" title="cue_s02_c4_core_problem_tackles_how_let" descr="cue_s02_c4_core_problem_tackles_how_let The core problem this paper tackles is how to let such peers share their information, and keep the predictive power of the original features, without ever exposing the raw sensitive data."/>
          <p:cNvSpPr/>
          <p:nvPr/>
        </p:nvSpPr>
        <p:spPr>
          <a:xfrm>
            <a:off x="4762195" y="4229328"/>
            <a:ext cx="6820204" cy="10094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580518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Existing privacy tools each fall short</a:t>
            </a:r>
          </a:p>
        </p:txBody>
      </p:sp>
      <p:grpSp>
        <p:nvGrpSpPr>
          <p:cNvPr id="13" name="Group 13"/>
          <p:cNvGrpSpPr/>
          <p:nvPr/>
        </p:nvGrpSpPr>
        <p:grpSpPr>
          <a:xfrm>
            <a:off x="609600" y="1504950"/>
            <a:ext cx="5334000" cy="1828800"/>
            <a:chOff x="609600" y="1504950"/>
            <a:chExt cx="5334000" cy="1828800"/>
          </a:xfrm>
        </p:grpSpPr>
        <p:sp>
          <p:nvSpPr>
            <p:cNvPr id="5" name="Rectangle 5"/>
            <p:cNvSpPr/>
            <p:nvPr/>
          </p:nvSpPr>
          <p:spPr>
            <a:xfrm>
              <a:off x="609600" y="1504950"/>
              <a:ext cx="5334000" cy="1828800"/>
            </a:xfrm>
            <a:prstGeom prst="roundRect">
              <a:avLst>
                <a:gd name="adj" fmla="val 7292"/>
              </a:avLst>
            </a:prstGeom>
            <a:solidFill>
              <a:schemeClr val="accent5"/>
            </a:solidFill>
            <a:ln w="14288">
              <a:solidFill>
                <a:srgbClr val="26455F"/>
              </a:solidFill>
            </a:ln>
          </p:spPr>
        </p:sp>
        <p:sp>
          <p:nvSpPr>
            <p:cNvPr id="6" name="Rectangle 6"/>
            <p:cNvSpPr/>
            <p:nvPr/>
          </p:nvSpPr>
          <p:spPr>
            <a:xfrm>
              <a:off x="609600" y="1504950"/>
              <a:ext cx="57150" cy="1828800"/>
            </a:xfrm>
            <a:prstGeom prst="roundRect">
              <a:avLst>
                <a:gd name="adj" fmla="val 50000"/>
              </a:avLst>
            </a:prstGeom>
            <a:solidFill>
              <a:schemeClr val="accent2"/>
            </a:solidFill>
            <a:ln>
              <a:noFill/>
            </a:ln>
          </p:spPr>
        </p:sp>
        <p:sp>
          <p:nvSpPr>
            <p:cNvPr id="7" name="TextBox 7"/>
            <p:cNvSpPr txBox="1"/>
            <p:nvPr/>
          </p:nvSpPr>
          <p:spPr>
            <a:xfrm>
              <a:off x="870014" y="1733312"/>
              <a:ext cx="2542489"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Encryption: strong but heavy</a:t>
              </a:r>
            </a:p>
          </p:txBody>
        </p:sp>
        <p:sp>
          <p:nvSpPr>
            <p:cNvPr id="8" name="TextBox 8"/>
            <p:cNvSpPr txBox="1"/>
            <p:nvPr/>
          </p:nvSpPr>
          <p:spPr>
            <a:xfrm>
              <a:off x="870966" y="2039302"/>
              <a:ext cx="399420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Encryption approaches like homomorphic encryption offer</a:t>
              </a:r>
            </a:p>
          </p:txBody>
        </p:sp>
        <p:sp>
          <p:nvSpPr>
            <p:cNvPr id="9" name="TextBox 9"/>
            <p:cNvSpPr txBox="1"/>
            <p:nvPr/>
          </p:nvSpPr>
          <p:spPr>
            <a:xfrm>
              <a:off x="870966" y="2239328"/>
              <a:ext cx="38695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strong security, yet are hard to deploy in real settings</a:t>
              </a:r>
            </a:p>
          </p:txBody>
        </p:sp>
        <p:sp>
          <p:nvSpPr>
            <p:cNvPr id="10" name="TextBox 10"/>
            <p:cNvSpPr txBox="1"/>
            <p:nvPr/>
          </p:nvSpPr>
          <p:spPr>
            <a:xfrm>
              <a:off x="870966" y="2439352"/>
              <a:ext cx="297903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because of their technology requirements.</a:t>
              </a:r>
            </a:p>
          </p:txBody>
        </p:sp>
        <p:sp>
          <p:nvSpPr>
            <p:cNvPr id="11" name="Rectangle 11"/>
            <p:cNvSpPr/>
            <p:nvPr/>
          </p:nvSpPr>
          <p:spPr>
            <a:xfrm>
              <a:off x="876300" y="2933700"/>
              <a:ext cx="4800600" cy="285750"/>
            </a:xfrm>
            <a:prstGeom prst="roundRect">
              <a:avLst>
                <a:gd name="adj" fmla="val 26667"/>
              </a:avLst>
            </a:prstGeom>
            <a:solidFill>
              <a:schemeClr val="accent6"/>
            </a:solidFill>
            <a:ln w="14288">
              <a:solidFill>
                <a:srgbClr val="26455F"/>
              </a:solidFill>
            </a:ln>
          </p:spPr>
        </p:sp>
        <p:sp>
          <p:nvSpPr>
            <p:cNvPr id="12" name="TextBox 12"/>
            <p:cNvSpPr txBox="1"/>
            <p:nvPr/>
          </p:nvSpPr>
          <p:spPr>
            <a:xfrm>
              <a:off x="1751014" y="3024426"/>
              <a:ext cx="3051171"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strong security vs hard, costly deployment</a:t>
              </a:r>
            </a:p>
          </p:txBody>
        </p:sp>
      </p:grpSp>
      <p:grpSp>
        <p:nvGrpSpPr>
          <p:cNvPr id="21" name="Group 21"/>
          <p:cNvGrpSpPr/>
          <p:nvPr/>
        </p:nvGrpSpPr>
        <p:grpSpPr>
          <a:xfrm>
            <a:off x="609600" y="3486150"/>
            <a:ext cx="5334000" cy="1752600"/>
            <a:chOff x="609600" y="3486150"/>
            <a:chExt cx="5334000" cy="1752600"/>
          </a:xfrm>
        </p:grpSpPr>
        <p:sp>
          <p:nvSpPr>
            <p:cNvPr id="14" name="Rectangle 14"/>
            <p:cNvSpPr/>
            <p:nvPr/>
          </p:nvSpPr>
          <p:spPr>
            <a:xfrm>
              <a:off x="609600" y="3486150"/>
              <a:ext cx="5334000" cy="1752600"/>
            </a:xfrm>
            <a:prstGeom prst="roundRect">
              <a:avLst>
                <a:gd name="adj" fmla="val 7609"/>
              </a:avLst>
            </a:prstGeom>
            <a:solidFill>
              <a:schemeClr val="accent5"/>
            </a:solidFill>
            <a:ln w="14288">
              <a:solidFill>
                <a:srgbClr val="26455F"/>
              </a:solidFill>
            </a:ln>
          </p:spPr>
        </p:sp>
        <p:sp>
          <p:nvSpPr>
            <p:cNvPr id="15" name="Rectangle 15"/>
            <p:cNvSpPr/>
            <p:nvPr/>
          </p:nvSpPr>
          <p:spPr>
            <a:xfrm>
              <a:off x="609600" y="3486150"/>
              <a:ext cx="57150" cy="1752600"/>
            </a:xfrm>
            <a:prstGeom prst="roundRect">
              <a:avLst>
                <a:gd name="adj" fmla="val 50000"/>
              </a:avLst>
            </a:prstGeom>
            <a:solidFill>
              <a:srgbClr val="F2685C"/>
            </a:solidFill>
            <a:ln>
              <a:noFill/>
            </a:ln>
          </p:spPr>
        </p:sp>
        <p:sp>
          <p:nvSpPr>
            <p:cNvPr id="16" name="TextBox 16"/>
            <p:cNvSpPr txBox="1"/>
            <p:nvPr/>
          </p:nvSpPr>
          <p:spPr>
            <a:xfrm>
              <a:off x="870394" y="3722608"/>
              <a:ext cx="3190018" cy="227362"/>
            </a:xfrm>
            <a:prstGeom prst="rect">
              <a:avLst/>
            </a:prstGeom>
            <a:noFill/>
            <a:ln>
              <a:noFill/>
            </a:ln>
          </p:spPr>
          <p:txBody>
            <a:bodyPr wrap="none" lIns="0" tIns="0" rIns="0" bIns="0" anchor="t" anchorCtr="0">
              <a:spAutoFit/>
            </a:bodyPr>
            <a:lstStyle/>
            <a:p>
              <a:pPr algn="l"/>
              <a:r>
                <a:rPr lang="en-US" sz="1160" b="1" dirty="0">
                  <a:solidFill>
                    <a:srgbClr val="F2685C"/>
                  </a:solidFill>
                  <a:latin typeface="+mn-lt"/>
                  <a:ea typeface="+mn-ea"/>
                  <a:cs typeface="+mn-cs"/>
                </a:rPr>
                <a:t>Federated learning: same features only</a:t>
              </a:r>
            </a:p>
          </p:txBody>
        </p:sp>
        <p:sp>
          <p:nvSpPr>
            <p:cNvPr id="17" name="TextBox 17"/>
            <p:cNvSpPr txBox="1"/>
            <p:nvPr/>
          </p:nvSpPr>
          <p:spPr>
            <a:xfrm>
              <a:off x="870966" y="4020502"/>
              <a:ext cx="402241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Federated learning decentralizes training across devices,</a:t>
              </a:r>
            </a:p>
          </p:txBody>
        </p:sp>
        <p:sp>
          <p:nvSpPr>
            <p:cNvPr id="18" name="TextBox 18"/>
            <p:cNvSpPr txBox="1"/>
            <p:nvPr/>
          </p:nvSpPr>
          <p:spPr>
            <a:xfrm>
              <a:off x="870966" y="4220528"/>
              <a:ext cx="41451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but assumes every peer holds the same kind of information,</a:t>
              </a:r>
            </a:p>
          </p:txBody>
        </p:sp>
        <p:sp>
          <p:nvSpPr>
            <p:cNvPr id="19" name="TextBox 19"/>
            <p:cNvSpPr txBox="1"/>
            <p:nvPr/>
          </p:nvSpPr>
          <p:spPr>
            <a:xfrm>
              <a:off x="870966" y="4420552"/>
              <a:ext cx="35373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so it cannot handle peers with different features.</a:t>
              </a:r>
            </a:p>
          </p:txBody>
        </p:sp>
        <p:sp>
          <p:nvSpPr>
            <p:cNvPr id="20" name="TextBox 20"/>
            <p:cNvSpPr txBox="1"/>
            <p:nvPr/>
          </p:nvSpPr>
          <p:spPr>
            <a:xfrm>
              <a:off x="871347" y="4923949"/>
              <a:ext cx="3424522" cy="190690"/>
            </a:xfrm>
            <a:prstGeom prst="rect">
              <a:avLst/>
            </a:prstGeom>
            <a:noFill/>
            <a:ln>
              <a:noFill/>
            </a:ln>
          </p:spPr>
          <p:txBody>
            <a:bodyPr wrap="none" lIns="0" tIns="0" rIns="0" bIns="0" anchor="t" anchorCtr="0">
              <a:spAutoFit/>
            </a:bodyPr>
            <a:lstStyle/>
            <a:p>
              <a:pPr algn="l"/>
              <a:r>
                <a:rPr lang="en-US" sz="980" b="1" dirty="0">
                  <a:solidFill>
                    <a:srgbClr val="F2685C"/>
                  </a:solidFill>
                  <a:latin typeface="Consolas"/>
                  <a:ea typeface="Consolas"/>
                  <a:cs typeface="Consolas"/>
                </a:rPr>
                <a:t>different feature sets -&gt; federated setup breaks</a:t>
              </a:r>
            </a:p>
          </p:txBody>
        </p:sp>
      </p:grpSp>
      <p:grpSp>
        <p:nvGrpSpPr>
          <p:cNvPr id="33" name="Group 33"/>
          <p:cNvGrpSpPr/>
          <p:nvPr/>
        </p:nvGrpSpPr>
        <p:grpSpPr>
          <a:xfrm>
            <a:off x="6172200" y="1504950"/>
            <a:ext cx="5410200" cy="1828800"/>
            <a:chOff x="6172200" y="1504950"/>
            <a:chExt cx="5410200" cy="1828800"/>
          </a:xfrm>
        </p:grpSpPr>
        <p:sp>
          <p:nvSpPr>
            <p:cNvPr id="22" name="Rectangle 22"/>
            <p:cNvSpPr/>
            <p:nvPr/>
          </p:nvSpPr>
          <p:spPr>
            <a:xfrm>
              <a:off x="6172200" y="1504950"/>
              <a:ext cx="5410200" cy="1828800"/>
            </a:xfrm>
            <a:prstGeom prst="roundRect">
              <a:avLst>
                <a:gd name="adj" fmla="val 7292"/>
              </a:avLst>
            </a:prstGeom>
            <a:solidFill>
              <a:schemeClr val="accent5"/>
            </a:solidFill>
            <a:ln w="14288">
              <a:solidFill>
                <a:srgbClr val="26455F"/>
              </a:solidFill>
            </a:ln>
          </p:spPr>
        </p:sp>
        <p:sp>
          <p:nvSpPr>
            <p:cNvPr id="23" name="Rectangle 23"/>
            <p:cNvSpPr/>
            <p:nvPr/>
          </p:nvSpPr>
          <p:spPr>
            <a:xfrm>
              <a:off x="6172200" y="1504950"/>
              <a:ext cx="57150" cy="1828800"/>
            </a:xfrm>
            <a:prstGeom prst="roundRect">
              <a:avLst>
                <a:gd name="adj" fmla="val 50000"/>
              </a:avLst>
            </a:prstGeom>
            <a:solidFill>
              <a:srgbClr val="F2C14E"/>
            </a:solidFill>
            <a:ln>
              <a:noFill/>
            </a:ln>
          </p:spPr>
        </p:sp>
        <p:sp>
          <p:nvSpPr>
            <p:cNvPr id="24" name="TextBox 24"/>
            <p:cNvSpPr txBox="1"/>
            <p:nvPr/>
          </p:nvSpPr>
          <p:spPr>
            <a:xfrm>
              <a:off x="6432804" y="1737360"/>
              <a:ext cx="2858535"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Noise and linear projection distort</a:t>
              </a:r>
            </a:p>
          </p:txBody>
        </p:sp>
        <p:sp>
          <p:nvSpPr>
            <p:cNvPr id="25" name="TextBox 25"/>
            <p:cNvSpPr txBox="1"/>
            <p:nvPr/>
          </p:nvSpPr>
          <p:spPr>
            <a:xfrm>
              <a:off x="6433566" y="2039302"/>
              <a:ext cx="389532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Differential privacy masks values by adding noise, which</a:t>
              </a:r>
            </a:p>
          </p:txBody>
        </p:sp>
        <p:sp>
          <p:nvSpPr>
            <p:cNvPr id="26" name="TextBox 26"/>
            <p:cNvSpPr txBox="1"/>
            <p:nvPr/>
          </p:nvSpPr>
          <p:spPr>
            <a:xfrm>
              <a:off x="6433566" y="2239328"/>
              <a:ext cx="257618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can significantly reduce data utility.</a:t>
              </a:r>
            </a:p>
          </p:txBody>
        </p:sp>
        <p:sp>
          <p:nvSpPr>
            <p:cNvPr id="27" name="Rectangle 27"/>
            <p:cNvSpPr/>
            <p:nvPr/>
          </p:nvSpPr>
          <p:spPr>
            <a:xfrm>
              <a:off x="6438900" y="2590800"/>
              <a:ext cx="4876800" cy="285750"/>
            </a:xfrm>
            <a:prstGeom prst="roundRect">
              <a:avLst>
                <a:gd name="adj" fmla="val 26667"/>
              </a:avLst>
            </a:prstGeom>
            <a:solidFill>
              <a:schemeClr val="accent6"/>
            </a:solidFill>
            <a:ln w="14288">
              <a:solidFill>
                <a:srgbClr val="26455F"/>
              </a:solidFill>
            </a:ln>
          </p:spPr>
        </p:sp>
        <p:sp>
          <p:nvSpPr>
            <p:cNvPr id="28" name="Ellipse 28"/>
            <p:cNvSpPr/>
            <p:nvPr/>
          </p:nvSpPr>
          <p:spPr>
            <a:xfrm>
              <a:off x="6562725" y="2686050"/>
              <a:ext cx="95250" cy="95250"/>
            </a:xfrm>
            <a:prstGeom prst="ellipse">
              <a:avLst/>
            </a:prstGeom>
            <a:solidFill>
              <a:srgbClr val="F2C14E"/>
            </a:solidFill>
            <a:ln>
              <a:noFill/>
            </a:ln>
          </p:spPr>
        </p:sp>
        <p:sp>
          <p:nvSpPr>
            <p:cNvPr id="29" name="TextBox 29"/>
            <p:cNvSpPr txBox="1"/>
            <p:nvPr/>
          </p:nvSpPr>
          <p:spPr>
            <a:xfrm>
              <a:off x="6757416" y="2677478"/>
              <a:ext cx="2835181"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Differential privacy: noise cuts utility</a:t>
              </a:r>
            </a:p>
          </p:txBody>
        </p:sp>
        <p:sp>
          <p:nvSpPr>
            <p:cNvPr id="30" name="Rectangle 30"/>
            <p:cNvSpPr/>
            <p:nvPr/>
          </p:nvSpPr>
          <p:spPr>
            <a:xfrm>
              <a:off x="6438900" y="2933700"/>
              <a:ext cx="4876800" cy="285750"/>
            </a:xfrm>
            <a:prstGeom prst="roundRect">
              <a:avLst>
                <a:gd name="adj" fmla="val 26667"/>
              </a:avLst>
            </a:prstGeom>
            <a:solidFill>
              <a:schemeClr val="accent6"/>
            </a:solidFill>
            <a:ln w="14288">
              <a:solidFill>
                <a:srgbClr val="26455F"/>
              </a:solidFill>
            </a:ln>
          </p:spPr>
        </p:sp>
        <p:sp>
          <p:nvSpPr>
            <p:cNvPr id="31" name="Ellipse 31"/>
            <p:cNvSpPr/>
            <p:nvPr/>
          </p:nvSpPr>
          <p:spPr>
            <a:xfrm>
              <a:off x="6562725" y="3028950"/>
              <a:ext cx="95250" cy="95250"/>
            </a:xfrm>
            <a:prstGeom prst="ellipse">
              <a:avLst/>
            </a:prstGeom>
            <a:solidFill>
              <a:srgbClr val="F2C14E"/>
            </a:solidFill>
            <a:ln>
              <a:noFill/>
            </a:ln>
          </p:spPr>
        </p:sp>
        <p:sp>
          <p:nvSpPr>
            <p:cNvPr id="32" name="TextBox 32"/>
            <p:cNvSpPr txBox="1"/>
            <p:nvPr/>
          </p:nvSpPr>
          <p:spPr>
            <a:xfrm>
              <a:off x="6757416" y="3020378"/>
              <a:ext cx="3007953"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PCA: linear, loses nonlinear relationships</a:t>
              </a:r>
            </a:p>
          </p:txBody>
        </p:sp>
      </p:grpSp>
      <p:grpSp>
        <p:nvGrpSpPr>
          <p:cNvPr id="44" name="Group 44"/>
          <p:cNvGrpSpPr/>
          <p:nvPr/>
        </p:nvGrpSpPr>
        <p:grpSpPr>
          <a:xfrm>
            <a:off x="6172200" y="3486150"/>
            <a:ext cx="5410200" cy="1752600"/>
            <a:chOff x="6172200" y="3486150"/>
            <a:chExt cx="5410200" cy="1752600"/>
          </a:xfrm>
        </p:grpSpPr>
        <p:sp>
          <p:nvSpPr>
            <p:cNvPr id="34" name="Rectangle 34"/>
            <p:cNvSpPr/>
            <p:nvPr/>
          </p:nvSpPr>
          <p:spPr>
            <a:xfrm>
              <a:off x="6172200" y="3486150"/>
              <a:ext cx="5410200" cy="1752600"/>
            </a:xfrm>
            <a:prstGeom prst="roundRect">
              <a:avLst>
                <a:gd name="adj" fmla="val 7609"/>
              </a:avLst>
            </a:prstGeom>
            <a:solidFill>
              <a:srgbClr val="0F2E2B"/>
            </a:solidFill>
            <a:ln w="14288">
              <a:solidFill>
                <a:srgbClr val="34D3C0"/>
              </a:solidFill>
            </a:ln>
          </p:spPr>
        </p:sp>
        <p:sp>
          <p:nvSpPr>
            <p:cNvPr id="35" name="Rectangle 35"/>
            <p:cNvSpPr/>
            <p:nvPr/>
          </p:nvSpPr>
          <p:spPr>
            <a:xfrm>
              <a:off x="6172200" y="3486150"/>
              <a:ext cx="57150" cy="1752600"/>
            </a:xfrm>
            <a:prstGeom prst="roundRect">
              <a:avLst>
                <a:gd name="adj" fmla="val 50000"/>
              </a:avLst>
            </a:prstGeom>
            <a:solidFill>
              <a:srgbClr val="34D3C0"/>
            </a:solidFill>
            <a:ln>
              <a:noFill/>
            </a:ln>
          </p:spPr>
        </p:sp>
        <p:sp>
          <p:nvSpPr>
            <p:cNvPr id="36" name="TextBox 36"/>
            <p:cNvSpPr txBox="1"/>
            <p:nvPr/>
          </p:nvSpPr>
          <p:spPr>
            <a:xfrm>
              <a:off x="6432804" y="3718560"/>
              <a:ext cx="2884385"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The opening: deep representations</a:t>
              </a:r>
            </a:p>
          </p:txBody>
        </p:sp>
        <p:sp>
          <p:nvSpPr>
            <p:cNvPr id="37" name="TextBox 37"/>
            <p:cNvSpPr txBox="1"/>
            <p:nvPr/>
          </p:nvSpPr>
          <p:spPr>
            <a:xfrm>
              <a:off x="6433566" y="4020502"/>
              <a:ext cx="321022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These gaps motivate a new approach: use deep</a:t>
              </a:r>
            </a:p>
          </p:txBody>
        </p:sp>
        <p:sp>
          <p:nvSpPr>
            <p:cNvPr id="38" name="TextBox 38"/>
            <p:cNvSpPr txBox="1"/>
            <p:nvPr/>
          </p:nvSpPr>
          <p:spPr>
            <a:xfrm>
              <a:off x="6433566" y="4220528"/>
              <a:ext cx="393315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representation learning to encode the data while keeping</a:t>
              </a:r>
            </a:p>
          </p:txBody>
        </p:sp>
        <p:sp>
          <p:nvSpPr>
            <p:cNvPr id="39" name="TextBox 39"/>
            <p:cNvSpPr txBox="1"/>
            <p:nvPr/>
          </p:nvSpPr>
          <p:spPr>
            <a:xfrm>
              <a:off x="6433566" y="4420552"/>
              <a:ext cx="225108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its predictive structure intact.</a:t>
              </a:r>
            </a:p>
          </p:txBody>
        </p:sp>
        <p:sp>
          <p:nvSpPr>
            <p:cNvPr id="40" name="Polygon 40"/>
            <p:cNvSpPr/>
            <p:nvPr/>
          </p:nvSpPr>
          <p:spPr>
            <a:xfrm>
              <a:off x="6438900" y="4819650"/>
              <a:ext cx="638175" cy="381000"/>
            </a:xfrm>
            <a:custGeom>
              <a:avLst/>
              <a:gdLst/>
              <a:ahLst/>
              <a:cxnLst/>
              <a:rect l="l" t="t" r="r" b="b"/>
              <a:pathLst>
                <a:path w="638175" h="381000">
                  <a:moveTo>
                    <a:pt x="0" y="0"/>
                  </a:moveTo>
                  <a:lnTo>
                    <a:pt x="638175" y="142875"/>
                  </a:lnTo>
                  <a:lnTo>
                    <a:pt x="638175" y="238125"/>
                  </a:lnTo>
                  <a:lnTo>
                    <a:pt x="0" y="381000"/>
                  </a:lnTo>
                  <a:close/>
                </a:path>
              </a:pathLst>
            </a:custGeom>
            <a:solidFill>
              <a:srgbClr val="123049"/>
            </a:solidFill>
            <a:ln w="15240">
              <a:solidFill>
                <a:srgbClr val="34D3C0"/>
              </a:solidFill>
            </a:ln>
          </p:spPr>
        </p:sp>
        <p:sp>
          <p:nvSpPr>
            <p:cNvPr id="41" name="Polygon 41"/>
            <p:cNvSpPr/>
            <p:nvPr/>
          </p:nvSpPr>
          <p:spPr>
            <a:xfrm>
              <a:off x="7229475" y="4819650"/>
              <a:ext cx="638175" cy="381000"/>
            </a:xfrm>
            <a:custGeom>
              <a:avLst/>
              <a:gdLst/>
              <a:ahLst/>
              <a:cxnLst/>
              <a:rect l="l" t="t" r="r" b="b"/>
              <a:pathLst>
                <a:path w="638175" h="381000">
                  <a:moveTo>
                    <a:pt x="638175" y="0"/>
                  </a:moveTo>
                  <a:lnTo>
                    <a:pt x="0" y="142875"/>
                  </a:lnTo>
                  <a:lnTo>
                    <a:pt x="0" y="238125"/>
                  </a:lnTo>
                  <a:lnTo>
                    <a:pt x="638175" y="381000"/>
                  </a:lnTo>
                  <a:close/>
                </a:path>
              </a:pathLst>
            </a:custGeom>
            <a:solidFill>
              <a:srgbClr val="123049"/>
            </a:solidFill>
            <a:ln w="15240">
              <a:solidFill>
                <a:srgbClr val="34D3C0"/>
              </a:solidFill>
            </a:ln>
          </p:spPr>
        </p:sp>
        <p:sp>
          <p:nvSpPr>
            <p:cNvPr id="42" name="Rectangle 42"/>
            <p:cNvSpPr/>
            <p:nvPr/>
          </p:nvSpPr>
          <p:spPr>
            <a:xfrm>
              <a:off x="7077075" y="4962525"/>
              <a:ext cx="152400" cy="95250"/>
            </a:xfrm>
            <a:prstGeom prst="roundRect">
              <a:avLst>
                <a:gd name="adj" fmla="val 30000"/>
              </a:avLst>
            </a:prstGeom>
            <a:solidFill>
              <a:srgbClr val="34D3C0"/>
            </a:solidFill>
            <a:ln>
              <a:noFill/>
            </a:ln>
          </p:spPr>
        </p:sp>
        <p:sp>
          <p:nvSpPr>
            <p:cNvPr id="43" name="TextBox 43"/>
            <p:cNvSpPr txBox="1"/>
            <p:nvPr/>
          </p:nvSpPr>
          <p:spPr>
            <a:xfrm>
              <a:off x="8034147" y="4942999"/>
              <a:ext cx="2655714" cy="190690"/>
            </a:xfrm>
            <a:prstGeom prst="rect">
              <a:avLst/>
            </a:prstGeom>
            <a:noFill/>
            <a:ln>
              <a:noFill/>
            </a:ln>
          </p:spPr>
          <p:txBody>
            <a:bodyPr wrap="none" lIns="0" tIns="0" rIns="0" bIns="0" anchor="t" anchorCtr="0">
              <a:spAutoFit/>
            </a:bodyPr>
            <a:lstStyle/>
            <a:p>
              <a:pPr algn="l"/>
              <a:r>
                <a:rPr lang="en-US" sz="980" b="1" dirty="0">
                  <a:solidFill>
                    <a:srgbClr val="34D3C0"/>
                  </a:solidFill>
                  <a:latin typeface="+mn-lt"/>
                  <a:ea typeface="+mn-ea"/>
                  <a:cs typeface="+mn-cs"/>
                </a:rPr>
                <a:t>nonlinear encoder preserves structure</a:t>
              </a:r>
            </a:p>
          </p:txBody>
        </p:sp>
      </p:grpSp>
      <p:sp>
        <p:nvSpPr>
          <p:cNvPr id="45" name="cue_s03_c1_academia_industry_built_several_priv" title="cue_s03_c1_academia_industry_built_several_priv" descr="cue_s03_c1_academia_industry_built_several_priv Academia and industry have built several privacy-preserving strategies, but each has limits. Encryption approaches like homomorphic encryption offer strong security yet are hard to deploy in real settings because of their technology requirements."/>
          <p:cNvSpPr/>
          <p:nvPr/>
        </p:nvSpPr>
        <p:spPr>
          <a:xfrm>
            <a:off x="609600" y="1504645"/>
            <a:ext cx="533400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3_c2_federated_learning_decentralizes_acr" title="cue_s03_c2_federated_learning_decentralizes_acr" descr="cue_s03_c2_federated_learning_decentralizes_acr Federated learning decentralizes training across devices, but it assumes every peer holds the same kind of information, so it cannot handle two peers that contribute different features."/>
          <p:cNvSpPr/>
          <p:nvPr/>
        </p:nvSpPr>
        <p:spPr>
          <a:xfrm>
            <a:off x="609600" y="3485921"/>
            <a:ext cx="533400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3_c3_differential_privacy_masks_individua" title="cue_s03_c3_differential_privacy_masks_individua" descr="cue_s03_c3_differential_privacy_masks_individua Differential privacy masks individual values by adding noise, which can significantly reduce data utility. Linear dimensionality reduction such as Principal Component Analysis obfuscates features but may lose important nonlinear relationships."/>
          <p:cNvSpPr/>
          <p:nvPr/>
        </p:nvSpPr>
        <p:spPr>
          <a:xfrm>
            <a:off x="6171590" y="1504645"/>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3_c4_these_gaps_motivate_new_approach" title="cue_s03_c4_these_gaps_motivate_new_approach" descr="cue_s03_c4_these_gaps_motivate_new_approach These gaps motivate a new approach that uses deep representation learning to encode data while keeping its predictive structure intact."/>
          <p:cNvSpPr/>
          <p:nvPr/>
        </p:nvSpPr>
        <p:spPr>
          <a:xfrm>
            <a:off x="6171590" y="3485921"/>
            <a:ext cx="540959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647492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One survey, one framework, broad tests</a:t>
            </a:r>
          </a:p>
        </p:txBody>
      </p:sp>
      <p:grpSp>
        <p:nvGrpSpPr>
          <p:cNvPr id="15" name="Group 15"/>
          <p:cNvGrpSpPr/>
          <p:nvPr/>
        </p:nvGrpSpPr>
        <p:grpSpPr>
          <a:xfrm>
            <a:off x="609600" y="1714500"/>
            <a:ext cx="2590800" cy="3543300"/>
            <a:chOff x="609600" y="1714500"/>
            <a:chExt cx="2590800" cy="3543300"/>
          </a:xfrm>
        </p:grpSpPr>
        <p:sp>
          <p:nvSpPr>
            <p:cNvPr id="5" name="Rectangle 5"/>
            <p:cNvSpPr/>
            <p:nvPr/>
          </p:nvSpPr>
          <p:spPr>
            <a:xfrm>
              <a:off x="609600" y="1714500"/>
              <a:ext cx="2590800" cy="3543300"/>
            </a:xfrm>
            <a:prstGeom prst="roundRect">
              <a:avLst>
                <a:gd name="adj" fmla="val 5147"/>
              </a:avLst>
            </a:prstGeom>
            <a:solidFill>
              <a:schemeClr val="accent5"/>
            </a:solidFill>
            <a:ln w="14288">
              <a:solidFill>
                <a:srgbClr val="26455F"/>
              </a:solidFill>
            </a:ln>
          </p:spPr>
        </p:sp>
        <p:sp>
          <p:nvSpPr>
            <p:cNvPr id="6" name="Rectangle 6"/>
            <p:cNvSpPr/>
            <p:nvPr/>
          </p:nvSpPr>
          <p:spPr>
            <a:xfrm>
              <a:off x="609600" y="1714500"/>
              <a:ext cx="2590800" cy="57150"/>
            </a:xfrm>
            <a:prstGeom prst="roundRect">
              <a:avLst>
                <a:gd name="adj" fmla="val 50000"/>
              </a:avLst>
            </a:prstGeom>
            <a:solidFill>
              <a:schemeClr val="accent2"/>
            </a:solidFill>
            <a:ln>
              <a:noFill/>
            </a:ln>
          </p:spPr>
        </p:sp>
        <p:sp>
          <p:nvSpPr>
            <p:cNvPr id="7" name="Ellipse 7"/>
            <p:cNvSpPr/>
            <p:nvPr/>
          </p:nvSpPr>
          <p:spPr>
            <a:xfrm>
              <a:off x="838200" y="2095500"/>
              <a:ext cx="495300" cy="495300"/>
            </a:xfrm>
            <a:prstGeom prst="ellipse">
              <a:avLst/>
            </a:prstGeom>
            <a:noFill/>
            <a:ln w="23812">
              <a:solidFill>
                <a:schemeClr val="accent2"/>
              </a:solidFill>
            </a:ln>
          </p:spPr>
        </p:sp>
        <p:sp>
          <p:nvSpPr>
            <p:cNvPr id="8" name="TextBox 8"/>
            <p:cNvSpPr txBox="1"/>
            <p:nvPr/>
          </p:nvSpPr>
          <p:spPr>
            <a:xfrm>
              <a:off x="1000145" y="2218372"/>
              <a:ext cx="171411" cy="381381"/>
            </a:xfrm>
            <a:prstGeom prst="rect">
              <a:avLst/>
            </a:prstGeom>
            <a:noFill/>
            <a:ln>
              <a:noFill/>
            </a:ln>
          </p:spPr>
          <p:txBody>
            <a:bodyPr wrap="none" lIns="0" tIns="0" rIns="0" bIns="0" anchor="t" anchorCtr="0">
              <a:spAutoFit/>
            </a:bodyPr>
            <a:lstStyle/>
            <a:p>
              <a:pPr algn="ctr"/>
              <a:r>
                <a:rPr lang="en-US" sz="1950" b="1" dirty="0">
                  <a:solidFill>
                    <a:schemeClr val="accent2"/>
                  </a:solidFill>
                  <a:latin typeface="+mn-lt"/>
                  <a:ea typeface="+mn-ea"/>
                  <a:cs typeface="+mn-cs"/>
                </a:rPr>
                <a:t>3</a:t>
              </a:r>
            </a:p>
          </p:txBody>
        </p:sp>
        <p:sp>
          <p:nvSpPr>
            <p:cNvPr id="9" name="TextBox 9"/>
            <p:cNvSpPr txBox="1"/>
            <p:nvPr/>
          </p:nvSpPr>
          <p:spPr>
            <a:xfrm>
              <a:off x="831532" y="2849166"/>
              <a:ext cx="528317"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Three</a:t>
              </a:r>
            </a:p>
          </p:txBody>
        </p:sp>
        <p:sp>
          <p:nvSpPr>
            <p:cNvPr id="10" name="TextBox 10"/>
            <p:cNvSpPr txBox="1"/>
            <p:nvPr/>
          </p:nvSpPr>
          <p:spPr>
            <a:xfrm>
              <a:off x="831532" y="3096816"/>
              <a:ext cx="1244714"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contributions</a:t>
              </a:r>
            </a:p>
          </p:txBody>
        </p:sp>
        <p:sp>
          <p:nvSpPr>
            <p:cNvPr id="11" name="TextBox 11"/>
            <p:cNvSpPr txBox="1"/>
            <p:nvPr/>
          </p:nvSpPr>
          <p:spPr>
            <a:xfrm>
              <a:off x="833056" y="3491151"/>
              <a:ext cx="184373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paper makes three main</a:t>
              </a:r>
            </a:p>
          </p:txBody>
        </p:sp>
        <p:sp>
          <p:nvSpPr>
            <p:cNvPr id="12" name="TextBox 12"/>
            <p:cNvSpPr txBox="1"/>
            <p:nvPr/>
          </p:nvSpPr>
          <p:spPr>
            <a:xfrm>
              <a:off x="833056" y="3691176"/>
              <a:ext cx="207697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contributions toward practical</a:t>
              </a:r>
            </a:p>
          </p:txBody>
        </p:sp>
        <p:sp>
          <p:nvSpPr>
            <p:cNvPr id="13" name="TextBox 13"/>
            <p:cNvSpPr txBox="1"/>
            <p:nvPr/>
          </p:nvSpPr>
          <p:spPr>
            <a:xfrm>
              <a:off x="833056" y="3891201"/>
              <a:ext cx="128836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privacy-preserving</a:t>
              </a:r>
            </a:p>
          </p:txBody>
        </p:sp>
        <p:sp>
          <p:nvSpPr>
            <p:cNvPr id="14" name="TextBox 14"/>
            <p:cNvSpPr txBox="1"/>
            <p:nvPr/>
          </p:nvSpPr>
          <p:spPr>
            <a:xfrm>
              <a:off x="833056" y="4091226"/>
              <a:ext cx="95525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collaboration.</a:t>
              </a:r>
            </a:p>
          </p:txBody>
        </p:sp>
      </p:grpSp>
      <p:grpSp>
        <p:nvGrpSpPr>
          <p:cNvPr id="26" name="Group 26"/>
          <p:cNvGrpSpPr/>
          <p:nvPr/>
        </p:nvGrpSpPr>
        <p:grpSpPr>
          <a:xfrm>
            <a:off x="3429000" y="1714500"/>
            <a:ext cx="2590800" cy="3543300"/>
            <a:chOff x="3429000" y="1714500"/>
            <a:chExt cx="2590800" cy="3543300"/>
          </a:xfrm>
        </p:grpSpPr>
        <p:sp>
          <p:nvSpPr>
            <p:cNvPr id="16" name="Rectangle 16"/>
            <p:cNvSpPr/>
            <p:nvPr/>
          </p:nvSpPr>
          <p:spPr>
            <a:xfrm>
              <a:off x="3429000" y="1714500"/>
              <a:ext cx="2590800" cy="3543300"/>
            </a:xfrm>
            <a:prstGeom prst="roundRect">
              <a:avLst>
                <a:gd name="adj" fmla="val 5147"/>
              </a:avLst>
            </a:prstGeom>
            <a:solidFill>
              <a:schemeClr val="accent5"/>
            </a:solidFill>
            <a:ln w="14288">
              <a:solidFill>
                <a:srgbClr val="26455F"/>
              </a:solidFill>
            </a:ln>
          </p:spPr>
        </p:sp>
        <p:sp>
          <p:nvSpPr>
            <p:cNvPr id="17" name="Rectangle 17"/>
            <p:cNvSpPr/>
            <p:nvPr/>
          </p:nvSpPr>
          <p:spPr>
            <a:xfrm>
              <a:off x="3429000" y="1714500"/>
              <a:ext cx="2590800" cy="57150"/>
            </a:xfrm>
            <a:prstGeom prst="roundRect">
              <a:avLst>
                <a:gd name="adj" fmla="val 50000"/>
              </a:avLst>
            </a:prstGeom>
            <a:solidFill>
              <a:srgbClr val="F2C14E"/>
            </a:solidFill>
            <a:ln>
              <a:noFill/>
            </a:ln>
          </p:spPr>
        </p:sp>
        <p:sp>
          <p:nvSpPr>
            <p:cNvPr id="18" name="Ellipse 18"/>
            <p:cNvSpPr/>
            <p:nvPr/>
          </p:nvSpPr>
          <p:spPr>
            <a:xfrm>
              <a:off x="3657600" y="2095500"/>
              <a:ext cx="495300" cy="495300"/>
            </a:xfrm>
            <a:prstGeom prst="ellipse">
              <a:avLst/>
            </a:prstGeom>
            <a:noFill/>
            <a:ln w="23812">
              <a:solidFill>
                <a:srgbClr val="F2C14E"/>
              </a:solidFill>
            </a:ln>
          </p:spPr>
        </p:sp>
        <p:sp>
          <p:nvSpPr>
            <p:cNvPr id="19" name="TextBox 19"/>
            <p:cNvSpPr txBox="1"/>
            <p:nvPr/>
          </p:nvSpPr>
          <p:spPr>
            <a:xfrm>
              <a:off x="3819545" y="2218372"/>
              <a:ext cx="171411" cy="381381"/>
            </a:xfrm>
            <a:prstGeom prst="rect">
              <a:avLst/>
            </a:prstGeom>
            <a:noFill/>
            <a:ln>
              <a:noFill/>
            </a:ln>
          </p:spPr>
          <p:txBody>
            <a:bodyPr wrap="none" lIns="0" tIns="0" rIns="0" bIns="0" anchor="t" anchorCtr="0">
              <a:spAutoFit/>
            </a:bodyPr>
            <a:lstStyle/>
            <a:p>
              <a:pPr algn="ctr"/>
              <a:r>
                <a:rPr lang="en-US" sz="1950" b="1" dirty="0">
                  <a:solidFill>
                    <a:srgbClr val="F2C14E"/>
                  </a:solidFill>
                  <a:latin typeface="+mn-lt"/>
                  <a:ea typeface="+mn-ea"/>
                  <a:cs typeface="+mn-cs"/>
                </a:rPr>
                <a:t>1</a:t>
              </a:r>
            </a:p>
          </p:txBody>
        </p:sp>
        <p:sp>
          <p:nvSpPr>
            <p:cNvPr id="20" name="TextBox 20"/>
            <p:cNvSpPr txBox="1"/>
            <p:nvPr/>
          </p:nvSpPr>
          <p:spPr>
            <a:xfrm>
              <a:off x="3650932" y="2849166"/>
              <a:ext cx="1454650"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Survey the gaps</a:t>
              </a:r>
            </a:p>
          </p:txBody>
        </p:sp>
        <p:sp>
          <p:nvSpPr>
            <p:cNvPr id="21" name="TextBox 21"/>
            <p:cNvSpPr txBox="1"/>
            <p:nvPr/>
          </p:nvSpPr>
          <p:spPr>
            <a:xfrm>
              <a:off x="3652456" y="3243501"/>
              <a:ext cx="110212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Reviews existing</a:t>
              </a:r>
            </a:p>
          </p:txBody>
        </p:sp>
        <p:sp>
          <p:nvSpPr>
            <p:cNvPr id="22" name="TextBox 22"/>
            <p:cNvSpPr txBox="1"/>
            <p:nvPr/>
          </p:nvSpPr>
          <p:spPr>
            <a:xfrm>
              <a:off x="3652456" y="3443526"/>
              <a:ext cx="184583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privacy-preserving machine</a:t>
              </a:r>
            </a:p>
          </p:txBody>
        </p:sp>
        <p:sp>
          <p:nvSpPr>
            <p:cNvPr id="23" name="TextBox 23"/>
            <p:cNvSpPr txBox="1"/>
            <p:nvPr/>
          </p:nvSpPr>
          <p:spPr>
            <a:xfrm>
              <a:off x="3652456" y="3643551"/>
              <a:ext cx="200899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learning approaches to expose</a:t>
              </a:r>
            </a:p>
          </p:txBody>
        </p:sp>
        <p:sp>
          <p:nvSpPr>
            <p:cNvPr id="24" name="TextBox 24"/>
            <p:cNvSpPr txBox="1"/>
            <p:nvPr/>
          </p:nvSpPr>
          <p:spPr>
            <a:xfrm>
              <a:off x="3652456" y="3843576"/>
              <a:ext cx="200219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their limitations and the room</a:t>
              </a:r>
            </a:p>
          </p:txBody>
        </p:sp>
        <p:sp>
          <p:nvSpPr>
            <p:cNvPr id="25" name="TextBox 25"/>
            <p:cNvSpPr txBox="1"/>
            <p:nvPr/>
          </p:nvSpPr>
          <p:spPr>
            <a:xfrm>
              <a:off x="3652456" y="4043601"/>
              <a:ext cx="79209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to improve.</a:t>
              </a:r>
            </a:p>
          </p:txBody>
        </p:sp>
      </p:grpSp>
      <p:grpSp>
        <p:nvGrpSpPr>
          <p:cNvPr id="37" name="Group 37"/>
          <p:cNvGrpSpPr/>
          <p:nvPr/>
        </p:nvGrpSpPr>
        <p:grpSpPr>
          <a:xfrm>
            <a:off x="6248400" y="1714500"/>
            <a:ext cx="2590800" cy="3543300"/>
            <a:chOff x="6248400" y="1714500"/>
            <a:chExt cx="2590800" cy="3543300"/>
          </a:xfrm>
        </p:grpSpPr>
        <p:sp>
          <p:nvSpPr>
            <p:cNvPr id="27" name="Rectangle 27"/>
            <p:cNvSpPr/>
            <p:nvPr/>
          </p:nvSpPr>
          <p:spPr>
            <a:xfrm>
              <a:off x="6248400" y="1714500"/>
              <a:ext cx="2590800" cy="3543300"/>
            </a:xfrm>
            <a:prstGeom prst="roundRect">
              <a:avLst>
                <a:gd name="adj" fmla="val 5147"/>
              </a:avLst>
            </a:prstGeom>
            <a:solidFill>
              <a:schemeClr val="accent5"/>
            </a:solidFill>
            <a:ln w="14288">
              <a:solidFill>
                <a:srgbClr val="26455F"/>
              </a:solidFill>
            </a:ln>
          </p:spPr>
        </p:sp>
        <p:sp>
          <p:nvSpPr>
            <p:cNvPr id="28" name="Rectangle 28"/>
            <p:cNvSpPr/>
            <p:nvPr/>
          </p:nvSpPr>
          <p:spPr>
            <a:xfrm>
              <a:off x="6248400" y="1714500"/>
              <a:ext cx="2590800" cy="57150"/>
            </a:xfrm>
            <a:prstGeom prst="roundRect">
              <a:avLst>
                <a:gd name="adj" fmla="val 50000"/>
              </a:avLst>
            </a:prstGeom>
            <a:solidFill>
              <a:srgbClr val="34D3C0"/>
            </a:solidFill>
            <a:ln>
              <a:noFill/>
            </a:ln>
          </p:spPr>
        </p:sp>
        <p:sp>
          <p:nvSpPr>
            <p:cNvPr id="29" name="Ellipse 29"/>
            <p:cNvSpPr/>
            <p:nvPr/>
          </p:nvSpPr>
          <p:spPr>
            <a:xfrm>
              <a:off x="6477000" y="2095500"/>
              <a:ext cx="495300" cy="495300"/>
            </a:xfrm>
            <a:prstGeom prst="ellipse">
              <a:avLst/>
            </a:prstGeom>
            <a:noFill/>
            <a:ln w="23812">
              <a:solidFill>
                <a:srgbClr val="34D3C0"/>
              </a:solidFill>
            </a:ln>
          </p:spPr>
        </p:sp>
        <p:sp>
          <p:nvSpPr>
            <p:cNvPr id="30" name="TextBox 30"/>
            <p:cNvSpPr txBox="1"/>
            <p:nvPr/>
          </p:nvSpPr>
          <p:spPr>
            <a:xfrm>
              <a:off x="6638945" y="2218372"/>
              <a:ext cx="171411" cy="381381"/>
            </a:xfrm>
            <a:prstGeom prst="rect">
              <a:avLst/>
            </a:prstGeom>
            <a:noFill/>
            <a:ln>
              <a:noFill/>
            </a:ln>
          </p:spPr>
          <p:txBody>
            <a:bodyPr wrap="none" lIns="0" tIns="0" rIns="0" bIns="0" anchor="t" anchorCtr="0">
              <a:spAutoFit/>
            </a:bodyPr>
            <a:lstStyle/>
            <a:p>
              <a:pPr algn="ctr"/>
              <a:r>
                <a:rPr lang="en-US" sz="1950" b="1" dirty="0">
                  <a:solidFill>
                    <a:srgbClr val="34D3C0"/>
                  </a:solidFill>
                  <a:latin typeface="+mn-lt"/>
                  <a:ea typeface="+mn-ea"/>
                  <a:cs typeface="+mn-cs"/>
                </a:rPr>
                <a:t>2</a:t>
              </a:r>
            </a:p>
          </p:txBody>
        </p:sp>
        <p:sp>
          <p:nvSpPr>
            <p:cNvPr id="31" name="TextBox 31"/>
            <p:cNvSpPr txBox="1"/>
            <p:nvPr/>
          </p:nvSpPr>
          <p:spPr>
            <a:xfrm>
              <a:off x="6470332" y="2849166"/>
              <a:ext cx="1371451"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The framework</a:t>
              </a:r>
            </a:p>
          </p:txBody>
        </p:sp>
        <p:sp>
          <p:nvSpPr>
            <p:cNvPr id="32" name="TextBox 32"/>
            <p:cNvSpPr txBox="1"/>
            <p:nvPr/>
          </p:nvSpPr>
          <p:spPr>
            <a:xfrm>
              <a:off x="6471856" y="3243501"/>
              <a:ext cx="129971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Each peer trains an</a:t>
              </a:r>
            </a:p>
          </p:txBody>
        </p:sp>
        <p:sp>
          <p:nvSpPr>
            <p:cNvPr id="33" name="TextBox 33"/>
            <p:cNvSpPr txBox="1"/>
            <p:nvPr/>
          </p:nvSpPr>
          <p:spPr>
            <a:xfrm>
              <a:off x="6471856" y="3443526"/>
              <a:ext cx="196820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autoencoder, shares only the</a:t>
              </a:r>
            </a:p>
          </p:txBody>
        </p:sp>
        <p:sp>
          <p:nvSpPr>
            <p:cNvPr id="34" name="TextBox 34"/>
            <p:cNvSpPr txBox="1"/>
            <p:nvPr/>
          </p:nvSpPr>
          <p:spPr>
            <a:xfrm>
              <a:off x="6471856" y="3643551"/>
              <a:ext cx="181863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latent representation, and</a:t>
              </a:r>
            </a:p>
          </p:txBody>
        </p:sp>
        <p:sp>
          <p:nvSpPr>
            <p:cNvPr id="35" name="TextBox 35"/>
            <p:cNvSpPr txBox="1"/>
            <p:nvPr/>
          </p:nvSpPr>
          <p:spPr>
            <a:xfrm>
              <a:off x="6471856" y="3843576"/>
              <a:ext cx="204978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joins the embeddings to train a</a:t>
              </a:r>
            </a:p>
          </p:txBody>
        </p:sp>
        <p:sp>
          <p:nvSpPr>
            <p:cNvPr id="36" name="TextBox 36"/>
            <p:cNvSpPr txBox="1"/>
            <p:nvPr/>
          </p:nvSpPr>
          <p:spPr>
            <a:xfrm>
              <a:off x="6471856" y="4043601"/>
              <a:ext cx="169626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shared supervised model.</a:t>
              </a:r>
            </a:p>
          </p:txBody>
        </p:sp>
      </p:grpSp>
      <p:grpSp>
        <p:nvGrpSpPr>
          <p:cNvPr id="48" name="Group 48"/>
          <p:cNvGrpSpPr/>
          <p:nvPr/>
        </p:nvGrpSpPr>
        <p:grpSpPr>
          <a:xfrm>
            <a:off x="9067800" y="1714500"/>
            <a:ext cx="2590800" cy="3543300"/>
            <a:chOff x="9067800" y="1714500"/>
            <a:chExt cx="2590800" cy="3543300"/>
          </a:xfrm>
        </p:grpSpPr>
        <p:sp>
          <p:nvSpPr>
            <p:cNvPr id="38" name="Rectangle 38"/>
            <p:cNvSpPr/>
            <p:nvPr/>
          </p:nvSpPr>
          <p:spPr>
            <a:xfrm>
              <a:off x="9067800" y="1714500"/>
              <a:ext cx="2590800" cy="3543300"/>
            </a:xfrm>
            <a:prstGeom prst="roundRect">
              <a:avLst>
                <a:gd name="adj" fmla="val 5147"/>
              </a:avLst>
            </a:prstGeom>
            <a:solidFill>
              <a:schemeClr val="accent5"/>
            </a:solidFill>
            <a:ln w="14288">
              <a:solidFill>
                <a:srgbClr val="26455F"/>
              </a:solidFill>
            </a:ln>
          </p:spPr>
        </p:sp>
        <p:sp>
          <p:nvSpPr>
            <p:cNvPr id="39" name="Rectangle 39"/>
            <p:cNvSpPr/>
            <p:nvPr/>
          </p:nvSpPr>
          <p:spPr>
            <a:xfrm>
              <a:off x="9067800" y="1714500"/>
              <a:ext cx="2590800" cy="57150"/>
            </a:xfrm>
            <a:prstGeom prst="roundRect">
              <a:avLst>
                <a:gd name="adj" fmla="val 50000"/>
              </a:avLst>
            </a:prstGeom>
            <a:solidFill>
              <a:srgbClr val="48C78E"/>
            </a:solidFill>
            <a:ln>
              <a:noFill/>
            </a:ln>
          </p:spPr>
        </p:sp>
        <p:sp>
          <p:nvSpPr>
            <p:cNvPr id="40" name="Ellipse 40"/>
            <p:cNvSpPr/>
            <p:nvPr/>
          </p:nvSpPr>
          <p:spPr>
            <a:xfrm>
              <a:off x="9296400" y="2095500"/>
              <a:ext cx="495300" cy="495300"/>
            </a:xfrm>
            <a:prstGeom prst="ellipse">
              <a:avLst/>
            </a:prstGeom>
            <a:noFill/>
            <a:ln w="23812">
              <a:solidFill>
                <a:srgbClr val="48C78E"/>
              </a:solidFill>
            </a:ln>
          </p:spPr>
        </p:sp>
        <p:sp>
          <p:nvSpPr>
            <p:cNvPr id="41" name="TextBox 41"/>
            <p:cNvSpPr txBox="1"/>
            <p:nvPr/>
          </p:nvSpPr>
          <p:spPr>
            <a:xfrm>
              <a:off x="9458345" y="2218372"/>
              <a:ext cx="171411" cy="381381"/>
            </a:xfrm>
            <a:prstGeom prst="rect">
              <a:avLst/>
            </a:prstGeom>
            <a:noFill/>
            <a:ln>
              <a:noFill/>
            </a:ln>
          </p:spPr>
          <p:txBody>
            <a:bodyPr wrap="none" lIns="0" tIns="0" rIns="0" bIns="0" anchor="t" anchorCtr="0">
              <a:spAutoFit/>
            </a:bodyPr>
            <a:lstStyle/>
            <a:p>
              <a:pPr algn="ctr"/>
              <a:r>
                <a:rPr lang="en-US" sz="1950" b="1" dirty="0">
                  <a:solidFill>
                    <a:srgbClr val="48C78E"/>
                  </a:solidFill>
                  <a:latin typeface="+mn-lt"/>
                  <a:ea typeface="+mn-ea"/>
                  <a:cs typeface="+mn-cs"/>
                </a:rPr>
                <a:t>3</a:t>
              </a:r>
            </a:p>
          </p:txBody>
        </p:sp>
        <p:sp>
          <p:nvSpPr>
            <p:cNvPr id="42" name="TextBox 42"/>
            <p:cNvSpPr txBox="1"/>
            <p:nvPr/>
          </p:nvSpPr>
          <p:spPr>
            <a:xfrm>
              <a:off x="9289732" y="2849166"/>
              <a:ext cx="1463110"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Broad validation</a:t>
              </a:r>
            </a:p>
          </p:txBody>
        </p:sp>
        <p:sp>
          <p:nvSpPr>
            <p:cNvPr id="43" name="TextBox 43"/>
            <p:cNvSpPr txBox="1"/>
            <p:nvPr/>
          </p:nvSpPr>
          <p:spPr>
            <a:xfrm>
              <a:off x="9291256" y="3243501"/>
              <a:ext cx="164607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Validated on three public</a:t>
              </a:r>
            </a:p>
          </p:txBody>
        </p:sp>
        <p:sp>
          <p:nvSpPr>
            <p:cNvPr id="44" name="TextBox 44"/>
            <p:cNvSpPr txBox="1"/>
            <p:nvPr/>
          </p:nvSpPr>
          <p:spPr>
            <a:xfrm>
              <a:off x="9291256" y="3443526"/>
              <a:ext cx="204298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datasets, spanning regression</a:t>
              </a:r>
            </a:p>
          </p:txBody>
        </p:sp>
        <p:sp>
          <p:nvSpPr>
            <p:cNvPr id="45" name="TextBox 45"/>
            <p:cNvSpPr txBox="1"/>
            <p:nvPr/>
          </p:nvSpPr>
          <p:spPr>
            <a:xfrm>
              <a:off x="9291256" y="3643551"/>
              <a:ext cx="205657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and classification, across five</a:t>
              </a:r>
            </a:p>
          </p:txBody>
        </p:sp>
        <p:sp>
          <p:nvSpPr>
            <p:cNvPr id="46" name="TextBox 46"/>
            <p:cNvSpPr txBox="1"/>
            <p:nvPr/>
          </p:nvSpPr>
          <p:spPr>
            <a:xfrm>
              <a:off x="9291256" y="3843576"/>
              <a:ext cx="170986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scenarios up to non-naive</a:t>
              </a:r>
            </a:p>
          </p:txBody>
        </p:sp>
        <p:sp>
          <p:nvSpPr>
            <p:cNvPr id="47" name="TextBox 47"/>
            <p:cNvSpPr txBox="1"/>
            <p:nvPr/>
          </p:nvSpPr>
          <p:spPr>
            <a:xfrm>
              <a:off x="9291256" y="4043601"/>
              <a:ext cx="165547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multitask autoencoders.</a:t>
              </a:r>
            </a:p>
          </p:txBody>
        </p:sp>
      </p:grpSp>
      <p:sp>
        <p:nvSpPr>
          <p:cNvPr id="49" name="TextBox 49"/>
          <p:cNvSpPr txBox="1"/>
          <p:nvPr/>
        </p:nvSpPr>
        <p:spPr>
          <a:xfrm>
            <a:off x="603694" y="5456158"/>
            <a:ext cx="8478357"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Encode with an autoencoder, share only the code, then join and train, no raw features ever leave a peer.</a:t>
            </a:r>
          </a:p>
        </p:txBody>
      </p:sp>
      <p:sp>
        <p:nvSpPr>
          <p:cNvPr id="50" name="cue_s04_c1_makes_three_main_contributions" title="cue_s04_c1_makes_three_main_contributions" descr="cue_s04_c1_makes_three_main_contributions The paper makes three main contributions."/>
          <p:cNvSpPr/>
          <p:nvPr/>
        </p:nvSpPr>
        <p:spPr>
          <a:xfrm>
            <a:off x="60960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4_c2_first_reviews_existing_privacy_prese" title="cue_s04_c2_first_reviews_existing_privacy_prese" descr="cue_s04_c2_first_reviews_existing_privacy_prese First, it reviews existing privacy-preserving machine learning approaches to expose their limitations and the room for improvement."/>
          <p:cNvSpPr/>
          <p:nvPr/>
        </p:nvSpPr>
        <p:spPr>
          <a:xfrm>
            <a:off x="342839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4_c3_second_proposes_concrete_framework_w" title="cue_s04_c3_second_proposes_concrete_framework_w" descr="cue_s04_c3_second_proposes_concrete_framework_w Second, it proposes a concrete framework in which each peer trains an autoencoder, shares only the latent-space representation of its data, and then joins these embeddings to train a shared supervised model."/>
          <p:cNvSpPr/>
          <p:nvPr/>
        </p:nvSpPr>
        <p:spPr>
          <a:xfrm>
            <a:off x="624839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4_c4_third_validates_framework_three_publ" title="cue_s04_c4_third_validates_framework_three_publ" descr="cue_s04_c4_third_validates_framework_three_publ Third, it validates the framework on three public datasets spanning regression and classification, and across five experimental scenarios, ranging from a raw-data baseline to non-naive multitask autoencoders that also predict the target variable during encodin"/>
          <p:cNvSpPr/>
          <p:nvPr/>
        </p:nvSpPr>
        <p:spPr>
          <a:xfrm>
            <a:off x="906840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676059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Encode, share the code, then join and train</a:t>
            </a:r>
          </a:p>
        </p:txBody>
      </p:sp>
      <p:grpSp>
        <p:nvGrpSpPr>
          <p:cNvPr id="24" name="Group 24"/>
          <p:cNvGrpSpPr/>
          <p:nvPr/>
        </p:nvGrpSpPr>
        <p:grpSpPr>
          <a:xfrm>
            <a:off x="609600" y="1504950"/>
            <a:ext cx="5410200" cy="2072878"/>
            <a:chOff x="609600" y="1504950"/>
            <a:chExt cx="5410200" cy="2072878"/>
          </a:xfrm>
        </p:grpSpPr>
        <p:sp>
          <p:nvSpPr>
            <p:cNvPr id="5" name="Rectangle 5"/>
            <p:cNvSpPr/>
            <p:nvPr/>
          </p:nvSpPr>
          <p:spPr>
            <a:xfrm>
              <a:off x="609600" y="1504950"/>
              <a:ext cx="5410200" cy="1943100"/>
            </a:xfrm>
            <a:prstGeom prst="roundRect">
              <a:avLst>
                <a:gd name="adj" fmla="val 6863"/>
              </a:avLst>
            </a:prstGeom>
            <a:solidFill>
              <a:schemeClr val="accent5"/>
            </a:solidFill>
            <a:ln w="14288">
              <a:solidFill>
                <a:srgbClr val="26455F"/>
              </a:solidFill>
            </a:ln>
          </p:spPr>
        </p:sp>
        <p:sp>
          <p:nvSpPr>
            <p:cNvPr id="6" name="Rectangle 6"/>
            <p:cNvSpPr/>
            <p:nvPr/>
          </p:nvSpPr>
          <p:spPr>
            <a:xfrm>
              <a:off x="609600" y="1504950"/>
              <a:ext cx="57150" cy="1943100"/>
            </a:xfrm>
            <a:prstGeom prst="roundRect">
              <a:avLst>
                <a:gd name="adj" fmla="val 50000"/>
              </a:avLst>
            </a:prstGeom>
            <a:solidFill>
              <a:schemeClr val="accent2"/>
            </a:solidFill>
            <a:ln>
              <a:noFill/>
            </a:ln>
          </p:spPr>
        </p:sp>
        <p:sp>
          <p:nvSpPr>
            <p:cNvPr id="7" name="TextBox 7"/>
            <p:cNvSpPr txBox="1"/>
            <p:nvPr/>
          </p:nvSpPr>
          <p:spPr>
            <a:xfrm>
              <a:off x="870014" y="1733312"/>
              <a:ext cx="2630087"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One extra step before sharing</a:t>
              </a:r>
            </a:p>
          </p:txBody>
        </p:sp>
        <p:sp>
          <p:nvSpPr>
            <p:cNvPr id="8" name="TextBox 8"/>
            <p:cNvSpPr txBox="1"/>
            <p:nvPr/>
          </p:nvSpPr>
          <p:spPr>
            <a:xfrm>
              <a:off x="871156" y="2024301"/>
              <a:ext cx="403953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Instead of merging raw datasets, each peer first passes its</a:t>
              </a:r>
            </a:p>
          </p:txBody>
        </p:sp>
        <p:sp>
          <p:nvSpPr>
            <p:cNvPr id="9" name="TextBox 9"/>
            <p:cNvSpPr txBox="1"/>
            <p:nvPr/>
          </p:nvSpPr>
          <p:spPr>
            <a:xfrm>
              <a:off x="871156" y="2214801"/>
              <a:ext cx="385133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features through an autoencoder to obtain an obfuscated</a:t>
              </a:r>
            </a:p>
          </p:txBody>
        </p:sp>
        <p:sp>
          <p:nvSpPr>
            <p:cNvPr id="10" name="TextBox 10"/>
            <p:cNvSpPr txBox="1"/>
            <p:nvPr/>
          </p:nvSpPr>
          <p:spPr>
            <a:xfrm>
              <a:off x="871156" y="2405301"/>
              <a:ext cx="264803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latent representation, ready to share.</a:t>
              </a:r>
            </a:p>
          </p:txBody>
        </p:sp>
        <p:sp>
          <p:nvSpPr>
            <p:cNvPr id="11" name="Polygon 11"/>
            <p:cNvSpPr/>
            <p:nvPr/>
          </p:nvSpPr>
          <p:spPr>
            <a:xfrm>
              <a:off x="876300" y="2857500"/>
              <a:ext cx="781050" cy="495300"/>
            </a:xfrm>
            <a:custGeom>
              <a:avLst/>
              <a:gdLst/>
              <a:ahLst/>
              <a:cxnLst/>
              <a:rect l="l" t="t" r="r" b="b"/>
              <a:pathLst>
                <a:path w="781050" h="495300">
                  <a:moveTo>
                    <a:pt x="0" y="0"/>
                  </a:moveTo>
                  <a:lnTo>
                    <a:pt x="781050" y="200025"/>
                  </a:lnTo>
                  <a:lnTo>
                    <a:pt x="781050" y="295275"/>
                  </a:lnTo>
                  <a:lnTo>
                    <a:pt x="0" y="495300"/>
                  </a:lnTo>
                  <a:close/>
                </a:path>
              </a:pathLst>
            </a:custGeom>
            <a:solidFill>
              <a:srgbClr val="123049"/>
            </a:solidFill>
            <a:ln w="15240">
              <a:solidFill>
                <a:schemeClr val="accent2"/>
              </a:solidFill>
            </a:ln>
          </p:spPr>
        </p:sp>
        <p:sp>
          <p:nvSpPr>
            <p:cNvPr id="12" name="Polygon 12"/>
            <p:cNvSpPr/>
            <p:nvPr/>
          </p:nvSpPr>
          <p:spPr>
            <a:xfrm>
              <a:off x="1809750" y="2857500"/>
              <a:ext cx="781050" cy="495300"/>
            </a:xfrm>
            <a:custGeom>
              <a:avLst/>
              <a:gdLst/>
              <a:ahLst/>
              <a:cxnLst/>
              <a:rect l="l" t="t" r="r" b="b"/>
              <a:pathLst>
                <a:path w="781050" h="495300">
                  <a:moveTo>
                    <a:pt x="781050" y="0"/>
                  </a:moveTo>
                  <a:lnTo>
                    <a:pt x="0" y="200025"/>
                  </a:lnTo>
                  <a:lnTo>
                    <a:pt x="0" y="295275"/>
                  </a:lnTo>
                  <a:lnTo>
                    <a:pt x="781050" y="495300"/>
                  </a:lnTo>
                  <a:close/>
                </a:path>
              </a:pathLst>
            </a:custGeom>
            <a:solidFill>
              <a:srgbClr val="123049"/>
            </a:solidFill>
            <a:ln w="15240">
              <a:solidFill>
                <a:schemeClr val="accent2"/>
              </a:solidFill>
            </a:ln>
          </p:spPr>
        </p:sp>
        <p:sp>
          <p:nvSpPr>
            <p:cNvPr id="13" name="Rectangle 13"/>
            <p:cNvSpPr/>
            <p:nvPr/>
          </p:nvSpPr>
          <p:spPr>
            <a:xfrm>
              <a:off x="1657350" y="3057525"/>
              <a:ext cx="152400" cy="95250"/>
            </a:xfrm>
            <a:prstGeom prst="roundRect">
              <a:avLst>
                <a:gd name="adj" fmla="val 30000"/>
              </a:avLst>
            </a:prstGeom>
            <a:solidFill>
              <a:srgbClr val="34D3C0"/>
            </a:solidFill>
            <a:ln>
              <a:noFill/>
            </a:ln>
          </p:spPr>
        </p:sp>
        <p:sp>
          <p:nvSpPr>
            <p:cNvPr id="14" name="Freeform 14"/>
            <p:cNvSpPr/>
            <p:nvPr/>
          </p:nvSpPr>
          <p:spPr>
            <a:xfrm>
              <a:off x="1691640" y="2817495"/>
              <a:ext cx="74295" cy="71438"/>
            </a:xfrm>
            <a:custGeom>
              <a:avLst/>
              <a:gdLst/>
              <a:ahLst/>
              <a:cxnLst/>
              <a:rect l="l" t="t" r="r" b="b"/>
              <a:pathLst>
                <a:path w="74295" h="71438">
                  <a:moveTo>
                    <a:pt x="0" y="71438"/>
                  </a:moveTo>
                  <a:lnTo>
                    <a:pt x="0" y="37148"/>
                  </a:lnTo>
                  <a:cubicBezTo>
                    <a:pt x="0" y="16632"/>
                    <a:pt x="16632" y="0"/>
                    <a:pt x="37148" y="0"/>
                  </a:cubicBezTo>
                  <a:cubicBezTo>
                    <a:pt x="57663" y="0"/>
                    <a:pt x="74295" y="16632"/>
                    <a:pt x="74295" y="37148"/>
                  </a:cubicBezTo>
                  <a:lnTo>
                    <a:pt x="74295" y="71438"/>
                  </a:lnTo>
                </a:path>
              </a:pathLst>
            </a:custGeom>
            <a:noFill/>
            <a:ln w="20955">
              <a:solidFill>
                <a:srgbClr val="34D3C0"/>
              </a:solidFill>
            </a:ln>
          </p:spPr>
        </p:sp>
        <p:sp>
          <p:nvSpPr>
            <p:cNvPr id="15" name="Rectangle 15"/>
            <p:cNvSpPr/>
            <p:nvPr/>
          </p:nvSpPr>
          <p:spPr>
            <a:xfrm>
              <a:off x="1657350" y="2888932"/>
              <a:ext cx="142875" cy="88582"/>
            </a:xfrm>
            <a:prstGeom prst="roundRect">
              <a:avLst>
                <a:gd name="adj" fmla="val 26882"/>
              </a:avLst>
            </a:prstGeom>
            <a:solidFill>
              <a:srgbClr val="34D3C0"/>
            </a:solidFill>
            <a:ln>
              <a:noFill/>
            </a:ln>
          </p:spPr>
        </p:sp>
        <p:sp>
          <p:nvSpPr>
            <p:cNvPr id="16" name="Ellipse 16"/>
            <p:cNvSpPr/>
            <p:nvPr/>
          </p:nvSpPr>
          <p:spPr>
            <a:xfrm>
              <a:off x="1713071" y="2917508"/>
              <a:ext cx="31432" cy="31432"/>
            </a:xfrm>
            <a:prstGeom prst="ellipse">
              <a:avLst/>
            </a:prstGeom>
            <a:solidFill>
              <a:schemeClr val="lt1"/>
            </a:solidFill>
            <a:ln>
              <a:noFill/>
            </a:ln>
          </p:spPr>
        </p:sp>
        <p:sp>
          <p:nvSpPr>
            <p:cNvPr id="17" name="TextBox 17"/>
            <p:cNvSpPr txBox="1"/>
            <p:nvPr/>
          </p:nvSpPr>
          <p:spPr>
            <a:xfrm>
              <a:off x="832930" y="3394472"/>
              <a:ext cx="8674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N</a:t>
              </a:r>
            </a:p>
          </p:txBody>
        </p:sp>
        <p:sp>
          <p:nvSpPr>
            <p:cNvPr id="18" name="TextBox 18"/>
            <p:cNvSpPr txBox="1"/>
            <p:nvPr/>
          </p:nvSpPr>
          <p:spPr>
            <a:xfrm>
              <a:off x="2547430" y="3394472"/>
              <a:ext cx="8674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N</a:t>
              </a:r>
            </a:p>
          </p:txBody>
        </p:sp>
        <p:sp>
          <p:nvSpPr>
            <p:cNvPr id="19" name="TextBox 19"/>
            <p:cNvSpPr txBox="1"/>
            <p:nvPr/>
          </p:nvSpPr>
          <p:spPr>
            <a:xfrm>
              <a:off x="1560034" y="3202543"/>
              <a:ext cx="347031" cy="169069"/>
            </a:xfrm>
            <a:prstGeom prst="rect">
              <a:avLst/>
            </a:prstGeom>
            <a:noFill/>
            <a:ln>
              <a:noFill/>
            </a:ln>
          </p:spPr>
          <p:txBody>
            <a:bodyPr wrap="none" lIns="0" tIns="0" rIns="0" bIns="0" anchor="t" anchorCtr="0">
              <a:spAutoFit/>
            </a:bodyPr>
            <a:lstStyle/>
            <a:p>
              <a:pPr algn="ctr"/>
              <a:r>
                <a:rPr lang="en-US" sz="860" b="1" dirty="0">
                  <a:solidFill>
                    <a:srgbClr val="34D3C0"/>
                  </a:solidFill>
                  <a:latin typeface="+mn-lt"/>
                  <a:ea typeface="+mn-ea"/>
                  <a:cs typeface="+mn-cs"/>
                </a:rPr>
                <a:t>z (M)</a:t>
              </a:r>
            </a:p>
          </p:txBody>
        </p:sp>
        <p:sp>
          <p:nvSpPr>
            <p:cNvPr id="20" name="TextBox 20"/>
            <p:cNvSpPr txBox="1"/>
            <p:nvPr/>
          </p:nvSpPr>
          <p:spPr>
            <a:xfrm>
              <a:off x="1072034" y="2715339"/>
              <a:ext cx="534361" cy="154781"/>
            </a:xfrm>
            <a:prstGeom prst="rect">
              <a:avLst/>
            </a:prstGeom>
            <a:noFill/>
            <a:ln>
              <a:noFill/>
            </a:ln>
          </p:spPr>
          <p:txBody>
            <a:bodyPr wrap="none" lIns="0" tIns="0" rIns="0" bIns="0" anchor="t" anchorCtr="0">
              <a:spAutoFit/>
            </a:bodyPr>
            <a:lstStyle/>
            <a:p>
              <a:pPr algn="ctr"/>
              <a:r>
                <a:rPr lang="en-US" sz="790" b="1" dirty="0">
                  <a:solidFill>
                    <a:srgbClr val="6E869C"/>
                  </a:solidFill>
                  <a:latin typeface="+mn-lt"/>
                  <a:ea typeface="+mn-ea"/>
                  <a:cs typeface="+mn-cs"/>
                </a:rPr>
                <a:t>encoder f</a:t>
              </a:r>
            </a:p>
          </p:txBody>
        </p:sp>
        <p:sp>
          <p:nvSpPr>
            <p:cNvPr id="21" name="TextBox 21"/>
            <p:cNvSpPr txBox="1"/>
            <p:nvPr/>
          </p:nvSpPr>
          <p:spPr>
            <a:xfrm>
              <a:off x="1860704" y="2715339"/>
              <a:ext cx="534361" cy="154781"/>
            </a:xfrm>
            <a:prstGeom prst="rect">
              <a:avLst/>
            </a:prstGeom>
            <a:noFill/>
            <a:ln>
              <a:noFill/>
            </a:ln>
          </p:spPr>
          <p:txBody>
            <a:bodyPr wrap="none" lIns="0" tIns="0" rIns="0" bIns="0" anchor="t" anchorCtr="0">
              <a:spAutoFit/>
            </a:bodyPr>
            <a:lstStyle/>
            <a:p>
              <a:pPr algn="ctr"/>
              <a:r>
                <a:rPr lang="en-US" sz="790" b="1" dirty="0">
                  <a:solidFill>
                    <a:srgbClr val="6E869C"/>
                  </a:solidFill>
                  <a:latin typeface="+mn-lt"/>
                  <a:ea typeface="+mn-ea"/>
                  <a:cs typeface="+mn-cs"/>
                </a:rPr>
                <a:t>decoder g</a:t>
              </a:r>
            </a:p>
          </p:txBody>
        </p:sp>
        <p:sp>
          <p:nvSpPr>
            <p:cNvPr id="22" name="Rectangle 22"/>
            <p:cNvSpPr/>
            <p:nvPr/>
          </p:nvSpPr>
          <p:spPr>
            <a:xfrm>
              <a:off x="2895600" y="2914650"/>
              <a:ext cx="2857500" cy="381000"/>
            </a:xfrm>
            <a:prstGeom prst="roundRect">
              <a:avLst>
                <a:gd name="adj" fmla="val 20000"/>
              </a:avLst>
            </a:prstGeom>
            <a:solidFill>
              <a:schemeClr val="accent6"/>
            </a:solidFill>
            <a:ln w="14288">
              <a:solidFill>
                <a:srgbClr val="26455F"/>
              </a:solidFill>
            </a:ln>
          </p:spPr>
        </p:sp>
        <p:sp>
          <p:nvSpPr>
            <p:cNvPr id="23" name="TextBox 23"/>
            <p:cNvSpPr txBox="1"/>
            <p:nvPr/>
          </p:nvSpPr>
          <p:spPr>
            <a:xfrm>
              <a:off x="3547126" y="3057049"/>
              <a:ext cx="1554448"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Consolas"/>
                  <a:ea typeface="Consolas"/>
                  <a:cs typeface="Consolas"/>
                </a:rPr>
                <a:t>z = f(x) share z, not x</a:t>
              </a:r>
            </a:p>
          </p:txBody>
        </p:sp>
      </p:grpSp>
      <p:grpSp>
        <p:nvGrpSpPr>
          <p:cNvPr id="33" name="Group 33"/>
          <p:cNvGrpSpPr/>
          <p:nvPr/>
        </p:nvGrpSpPr>
        <p:grpSpPr>
          <a:xfrm>
            <a:off x="609600" y="3600450"/>
            <a:ext cx="5410200" cy="1638300"/>
            <a:chOff x="609600" y="3600450"/>
            <a:chExt cx="5410200" cy="1638300"/>
          </a:xfrm>
        </p:grpSpPr>
        <p:sp>
          <p:nvSpPr>
            <p:cNvPr id="25" name="Rectangle 25"/>
            <p:cNvSpPr/>
            <p:nvPr/>
          </p:nvSpPr>
          <p:spPr>
            <a:xfrm>
              <a:off x="609600" y="3600450"/>
              <a:ext cx="5410200" cy="1638300"/>
            </a:xfrm>
            <a:prstGeom prst="roundRect">
              <a:avLst>
                <a:gd name="adj" fmla="val 8140"/>
              </a:avLst>
            </a:prstGeom>
            <a:solidFill>
              <a:srgbClr val="0F2E2B"/>
            </a:solidFill>
            <a:ln w="14288">
              <a:solidFill>
                <a:srgbClr val="34D3C0"/>
              </a:solidFill>
            </a:ln>
          </p:spPr>
        </p:sp>
        <p:sp>
          <p:nvSpPr>
            <p:cNvPr id="26" name="Rectangle 26"/>
            <p:cNvSpPr/>
            <p:nvPr/>
          </p:nvSpPr>
          <p:spPr>
            <a:xfrm>
              <a:off x="609600" y="3600450"/>
              <a:ext cx="57150" cy="1638300"/>
            </a:xfrm>
            <a:prstGeom prst="roundRect">
              <a:avLst>
                <a:gd name="adj" fmla="val 50000"/>
              </a:avLst>
            </a:prstGeom>
            <a:solidFill>
              <a:srgbClr val="34D3C0"/>
            </a:solidFill>
            <a:ln>
              <a:noFill/>
            </a:ln>
          </p:spPr>
        </p:sp>
        <p:sp>
          <p:nvSpPr>
            <p:cNvPr id="27" name="TextBox 27"/>
            <p:cNvSpPr txBox="1"/>
            <p:nvPr/>
          </p:nvSpPr>
          <p:spPr>
            <a:xfrm>
              <a:off x="870204" y="3832860"/>
              <a:ext cx="2540348"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Join by a shared ID, train once</a:t>
              </a:r>
            </a:p>
          </p:txBody>
        </p:sp>
        <p:sp>
          <p:nvSpPr>
            <p:cNvPr id="28" name="TextBox 28"/>
            <p:cNvSpPr txBox="1"/>
            <p:nvPr/>
          </p:nvSpPr>
          <p:spPr>
            <a:xfrm>
              <a:off x="871156" y="4119801"/>
              <a:ext cx="3959615"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Peers join their representations by a shared observation ID</a:t>
              </a:r>
            </a:p>
          </p:txBody>
        </p:sp>
        <p:sp>
          <p:nvSpPr>
            <p:cNvPr id="29" name="TextBox 29"/>
            <p:cNvSpPr txBox="1"/>
            <p:nvPr/>
          </p:nvSpPr>
          <p:spPr>
            <a:xfrm>
              <a:off x="871156" y="4310301"/>
              <a:ext cx="3402644"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and train a single supervised model on the combined</a:t>
              </a:r>
            </a:p>
          </p:txBody>
        </p:sp>
        <p:sp>
          <p:nvSpPr>
            <p:cNvPr id="30" name="TextBox 30"/>
            <p:cNvSpPr txBox="1"/>
            <p:nvPr/>
          </p:nvSpPr>
          <p:spPr>
            <a:xfrm>
              <a:off x="871156" y="4500801"/>
              <a:ext cx="2301317"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embeddings to predict the target.</a:t>
              </a:r>
            </a:p>
          </p:txBody>
        </p:sp>
        <p:sp>
          <p:nvSpPr>
            <p:cNvPr id="31" name="Rectangle 31"/>
            <p:cNvSpPr/>
            <p:nvPr/>
          </p:nvSpPr>
          <p:spPr>
            <a:xfrm>
              <a:off x="876300" y="4819650"/>
              <a:ext cx="4876800" cy="342900"/>
            </a:xfrm>
            <a:prstGeom prst="roundRect">
              <a:avLst>
                <a:gd name="adj" fmla="val 22222"/>
              </a:avLst>
            </a:prstGeom>
            <a:solidFill>
              <a:schemeClr val="accent6"/>
            </a:solidFill>
            <a:ln w="14288">
              <a:solidFill>
                <a:srgbClr val="26455F"/>
              </a:solidFill>
            </a:ln>
          </p:spPr>
        </p:sp>
        <p:sp>
          <p:nvSpPr>
            <p:cNvPr id="32" name="TextBox 32"/>
            <p:cNvSpPr txBox="1"/>
            <p:nvPr/>
          </p:nvSpPr>
          <p:spPr>
            <a:xfrm>
              <a:off x="2028827" y="4938951"/>
              <a:ext cx="2571747"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 z_A | z_B ] -&gt; one shared predictor</a:t>
              </a:r>
            </a:p>
          </p:txBody>
        </p:sp>
      </p:grpSp>
      <p:grpSp>
        <p:nvGrpSpPr>
          <p:cNvPr id="42" name="Group 42"/>
          <p:cNvGrpSpPr/>
          <p:nvPr/>
        </p:nvGrpSpPr>
        <p:grpSpPr>
          <a:xfrm>
            <a:off x="6248400" y="1504950"/>
            <a:ext cx="5334000" cy="1943100"/>
            <a:chOff x="6248400" y="1504950"/>
            <a:chExt cx="5334000" cy="1943100"/>
          </a:xfrm>
        </p:grpSpPr>
        <p:sp>
          <p:nvSpPr>
            <p:cNvPr id="34" name="Rectangle 34"/>
            <p:cNvSpPr/>
            <p:nvPr/>
          </p:nvSpPr>
          <p:spPr>
            <a:xfrm>
              <a:off x="6248400" y="1504950"/>
              <a:ext cx="5334000" cy="1943100"/>
            </a:xfrm>
            <a:prstGeom prst="roundRect">
              <a:avLst>
                <a:gd name="adj" fmla="val 6863"/>
              </a:avLst>
            </a:prstGeom>
            <a:solidFill>
              <a:schemeClr val="accent5"/>
            </a:solidFill>
            <a:ln w="14288">
              <a:solidFill>
                <a:srgbClr val="26455F"/>
              </a:solidFill>
            </a:ln>
          </p:spPr>
        </p:sp>
        <p:sp>
          <p:nvSpPr>
            <p:cNvPr id="35" name="Rectangle 35"/>
            <p:cNvSpPr/>
            <p:nvPr/>
          </p:nvSpPr>
          <p:spPr>
            <a:xfrm>
              <a:off x="6248400" y="1504950"/>
              <a:ext cx="57150" cy="1943100"/>
            </a:xfrm>
            <a:prstGeom prst="roundRect">
              <a:avLst>
                <a:gd name="adj" fmla="val 50000"/>
              </a:avLst>
            </a:prstGeom>
            <a:solidFill>
              <a:srgbClr val="F2C14E"/>
            </a:solidFill>
            <a:ln>
              <a:noFill/>
            </a:ln>
          </p:spPr>
        </p:sp>
        <p:sp>
          <p:nvSpPr>
            <p:cNvPr id="36" name="TextBox 36"/>
            <p:cNvSpPr txBox="1"/>
            <p:nvPr/>
          </p:nvSpPr>
          <p:spPr>
            <a:xfrm>
              <a:off x="6508814" y="1733312"/>
              <a:ext cx="2261617"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A single fixed autoencoder</a:t>
              </a:r>
            </a:p>
          </p:txBody>
        </p:sp>
        <p:sp>
          <p:nvSpPr>
            <p:cNvPr id="37" name="TextBox 37"/>
            <p:cNvSpPr txBox="1"/>
            <p:nvPr/>
          </p:nvSpPr>
          <p:spPr>
            <a:xfrm>
              <a:off x="6509956" y="2024301"/>
              <a:ext cx="391721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same autoencoder is used across every experiment, so</a:t>
              </a:r>
            </a:p>
          </p:txBody>
        </p:sp>
        <p:sp>
          <p:nvSpPr>
            <p:cNvPr id="38" name="TextBox 38"/>
            <p:cNvSpPr txBox="1"/>
            <p:nvPr/>
          </p:nvSpPr>
          <p:spPr>
            <a:xfrm>
              <a:off x="6509956" y="2214801"/>
              <a:ext cx="390571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conclusions reflect the framework, not network tuning: a</a:t>
              </a:r>
            </a:p>
          </p:txBody>
        </p:sp>
        <p:sp>
          <p:nvSpPr>
            <p:cNvPr id="39" name="TextBox 39"/>
            <p:cNvSpPr txBox="1"/>
            <p:nvPr/>
          </p:nvSpPr>
          <p:spPr>
            <a:xfrm>
              <a:off x="6509956" y="2405301"/>
              <a:ext cx="373216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four-layer encoder down to size M, mirrored back to N.</a:t>
              </a:r>
            </a:p>
          </p:txBody>
        </p:sp>
        <p:sp>
          <p:nvSpPr>
            <p:cNvPr id="40" name="Rectangle 40"/>
            <p:cNvSpPr/>
            <p:nvPr/>
          </p:nvSpPr>
          <p:spPr>
            <a:xfrm>
              <a:off x="6515100" y="2971800"/>
              <a:ext cx="4800600" cy="361950"/>
            </a:xfrm>
            <a:prstGeom prst="roundRect">
              <a:avLst>
                <a:gd name="adj" fmla="val 21053"/>
              </a:avLst>
            </a:prstGeom>
            <a:solidFill>
              <a:schemeClr val="accent6"/>
            </a:solidFill>
            <a:ln w="14288">
              <a:solidFill>
                <a:srgbClr val="26455F"/>
              </a:solidFill>
            </a:ln>
          </p:spPr>
        </p:sp>
        <p:sp>
          <p:nvSpPr>
            <p:cNvPr id="41" name="TextBox 41"/>
            <p:cNvSpPr txBox="1"/>
            <p:nvPr/>
          </p:nvSpPr>
          <p:spPr>
            <a:xfrm>
              <a:off x="7164220" y="3100626"/>
              <a:ext cx="3502361"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N -&gt; 128 -&gt; 64 -&gt; 40 -&gt; M -&gt; 40 -&gt; 64 -&gt; 128 -&gt; N</a:t>
              </a:r>
            </a:p>
          </p:txBody>
        </p:sp>
      </p:grpSp>
      <p:grpSp>
        <p:nvGrpSpPr>
          <p:cNvPr id="51" name="Group 51"/>
          <p:cNvGrpSpPr/>
          <p:nvPr/>
        </p:nvGrpSpPr>
        <p:grpSpPr>
          <a:xfrm>
            <a:off x="6248400" y="3600450"/>
            <a:ext cx="5334000" cy="1638300"/>
            <a:chOff x="6248400" y="3600450"/>
            <a:chExt cx="5334000" cy="1638300"/>
          </a:xfrm>
        </p:grpSpPr>
        <p:sp>
          <p:nvSpPr>
            <p:cNvPr id="43" name="Rectangle 43"/>
            <p:cNvSpPr/>
            <p:nvPr/>
          </p:nvSpPr>
          <p:spPr>
            <a:xfrm>
              <a:off x="6248400" y="3600450"/>
              <a:ext cx="5334000" cy="1638300"/>
            </a:xfrm>
            <a:prstGeom prst="roundRect">
              <a:avLst>
                <a:gd name="adj" fmla="val 8140"/>
              </a:avLst>
            </a:prstGeom>
            <a:solidFill>
              <a:schemeClr val="accent5"/>
            </a:solidFill>
            <a:ln w="14288">
              <a:solidFill>
                <a:srgbClr val="26455F"/>
              </a:solidFill>
            </a:ln>
          </p:spPr>
        </p:sp>
        <p:sp>
          <p:nvSpPr>
            <p:cNvPr id="44" name="Rectangle 44"/>
            <p:cNvSpPr/>
            <p:nvPr/>
          </p:nvSpPr>
          <p:spPr>
            <a:xfrm>
              <a:off x="6248400" y="3600450"/>
              <a:ext cx="57150" cy="1638300"/>
            </a:xfrm>
            <a:prstGeom prst="roundRect">
              <a:avLst>
                <a:gd name="adj" fmla="val 50000"/>
              </a:avLst>
            </a:prstGeom>
            <a:solidFill>
              <a:srgbClr val="48C78E"/>
            </a:solidFill>
            <a:ln>
              <a:noFill/>
            </a:ln>
          </p:spPr>
        </p:sp>
        <p:sp>
          <p:nvSpPr>
            <p:cNvPr id="45" name="TextBox 45"/>
            <p:cNvSpPr txBox="1"/>
            <p:nvPr/>
          </p:nvSpPr>
          <p:spPr>
            <a:xfrm>
              <a:off x="6509385" y="3821906"/>
              <a:ext cx="2961431" cy="220028"/>
            </a:xfrm>
            <a:prstGeom prst="rect">
              <a:avLst/>
            </a:prstGeom>
            <a:noFill/>
            <a:ln>
              <a:noFill/>
            </a:ln>
          </p:spPr>
          <p:txBody>
            <a:bodyPr wrap="none" lIns="0" tIns="0" rIns="0" bIns="0" anchor="t" anchorCtr="0">
              <a:spAutoFit/>
            </a:bodyPr>
            <a:lstStyle/>
            <a:p>
              <a:pPr algn="l"/>
              <a:r>
                <a:rPr lang="en-US" sz="1120" b="1" dirty="0">
                  <a:solidFill>
                    <a:srgbClr val="48C78E"/>
                  </a:solidFill>
                  <a:latin typeface="+mn-lt"/>
                  <a:ea typeface="+mn-ea"/>
                  <a:cs typeface="+mn-cs"/>
                </a:rPr>
                <a:t>Training recipe, and a non-naive twist</a:t>
              </a:r>
            </a:p>
          </p:txBody>
        </p:sp>
        <p:sp>
          <p:nvSpPr>
            <p:cNvPr id="46" name="TextBox 46"/>
            <p:cNvSpPr txBox="1"/>
            <p:nvPr/>
          </p:nvSpPr>
          <p:spPr>
            <a:xfrm>
              <a:off x="6510147" y="4104799"/>
              <a:ext cx="380767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ReLU layers, Mean Absolute Error loss, Adam. In non-naive</a:t>
              </a:r>
            </a:p>
          </p:txBody>
        </p:sp>
        <p:sp>
          <p:nvSpPr>
            <p:cNvPr id="47" name="TextBox 47"/>
            <p:cNvSpPr txBox="1"/>
            <p:nvPr/>
          </p:nvSpPr>
          <p:spPr>
            <a:xfrm>
              <a:off x="6510147" y="4285774"/>
              <a:ext cx="385559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scenarios the autoencoder is multitask, also predicting the</a:t>
              </a:r>
            </a:p>
          </p:txBody>
        </p:sp>
        <p:sp>
          <p:nvSpPr>
            <p:cNvPr id="48" name="TextBox 48"/>
            <p:cNvSpPr txBox="1"/>
            <p:nvPr/>
          </p:nvSpPr>
          <p:spPr>
            <a:xfrm>
              <a:off x="6510147" y="4466749"/>
              <a:ext cx="2318639"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target, so encoding is task-guided.</a:t>
              </a:r>
            </a:p>
          </p:txBody>
        </p:sp>
        <p:sp>
          <p:nvSpPr>
            <p:cNvPr id="49" name="Rectangle 49"/>
            <p:cNvSpPr/>
            <p:nvPr/>
          </p:nvSpPr>
          <p:spPr>
            <a:xfrm>
              <a:off x="6515100" y="4857750"/>
              <a:ext cx="4800600" cy="323850"/>
            </a:xfrm>
            <a:prstGeom prst="roundRect">
              <a:avLst>
                <a:gd name="adj" fmla="val 23529"/>
              </a:avLst>
            </a:prstGeom>
            <a:solidFill>
              <a:schemeClr val="accent6"/>
            </a:solidFill>
            <a:ln w="14288">
              <a:solidFill>
                <a:srgbClr val="26455F"/>
              </a:solidFill>
            </a:ln>
          </p:spPr>
        </p:sp>
        <p:sp>
          <p:nvSpPr>
            <p:cNvPr id="50" name="TextBox 50"/>
            <p:cNvSpPr txBox="1"/>
            <p:nvPr/>
          </p:nvSpPr>
          <p:spPr>
            <a:xfrm>
              <a:off x="7195988" y="4979670"/>
              <a:ext cx="3438823" cy="176212"/>
            </a:xfrm>
            <a:prstGeom prst="rect">
              <a:avLst/>
            </a:prstGeom>
            <a:noFill/>
            <a:ln>
              <a:noFill/>
            </a:ln>
          </p:spPr>
          <p:txBody>
            <a:bodyPr wrap="none" lIns="0" tIns="0" rIns="0" bIns="0" anchor="t" anchorCtr="0">
              <a:spAutoFit/>
            </a:bodyPr>
            <a:lstStyle/>
            <a:p>
              <a:pPr algn="ctr"/>
              <a:r>
                <a:rPr lang="en-US" sz="900" b="1" dirty="0">
                  <a:solidFill>
                    <a:schemeClr val="dk1"/>
                  </a:solidFill>
                  <a:latin typeface="Consolas"/>
                  <a:ea typeface="Consolas"/>
                  <a:cs typeface="Consolas"/>
                </a:rPr>
                <a:t>min (1/n) sum ||x - g(f(x))||_1 ReLU · MAE · Adam 1e-4</a:t>
              </a:r>
            </a:p>
          </p:txBody>
        </p:sp>
      </p:grpSp>
      <p:sp>
        <p:nvSpPr>
          <p:cNvPr id="52" name="cue_s05_c1_framework_inserts_one_extra_step" title="cue_s05_c1_framework_inserts_one_extra_step" descr="cue_s05_c1_framework_inserts_one_extra_step The framework inserts one extra step into the usual data-sharing pipeline. Instead of merging raw datasets, each peer first passes its features through an autoencoder to obtain a latent-space representation, an obfuscated version of the data ready to be shared"/>
          <p:cNvSpPr/>
          <p:nvPr/>
        </p:nvSpPr>
        <p:spPr>
          <a:xfrm>
            <a:off x="609600" y="1504645"/>
            <a:ext cx="5409590" cy="2073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5_c2_peers_join_these_representations_sha" title="cue_s05_c2_peers_join_these_representations_sha" descr="cue_s05_c2_peers_join_these_representations_sha The peers then join these representations using a shared observation ID and train a single supervised model on the combined embeddings to predict the same target."/>
          <p:cNvSpPr/>
          <p:nvPr/>
        </p:nvSpPr>
        <p:spPr>
          <a:xfrm>
            <a:off x="609600" y="3600450"/>
            <a:ext cx="540959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5_c3_autoencoder_fixed_across_all_experim" title="cue_s05_c3_autoencoder_fixed_across_all_experim" descr="cue_s05_c3_autoencoder_fixed_across_all_experim The autoencoder is fixed across all experiments so conclusions reflect the framework, not network tuning: the encoder has four layers going from N input features through hidden sizes 128, 64, and 40 down to an embedding of size M, and the decoder mirrors it ba"/>
          <p:cNvSpPr/>
          <p:nvPr/>
        </p:nvSpPr>
        <p:spPr>
          <a:xfrm>
            <a:off x="6248399" y="1504645"/>
            <a:ext cx="533400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5_c4_every_layer_relu_loss_mean" title="cue_s05_c4_every_layer_relu_loss_mean" descr="cue_s05_c4_every_layer_relu_loss_mean Every layer uses ReLU, the loss is Mean Absolute Error, and training uses the Adam optimizer with a learning rate of 0.0001. In the non-naive scenarios, the autoencoder becomes a multitask network that also predicts the objective variable, so the encoding is g"/>
          <p:cNvSpPr/>
          <p:nvPr/>
        </p:nvSpPr>
        <p:spPr>
          <a:xfrm>
            <a:off x="6248399" y="3600450"/>
            <a:ext cx="533400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531338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Three public sets, two task types</a:t>
            </a:r>
          </a:p>
        </p:txBody>
      </p:sp>
      <p:grpSp>
        <p:nvGrpSpPr>
          <p:cNvPr id="17" name="Group 17"/>
          <p:cNvGrpSpPr/>
          <p:nvPr/>
        </p:nvGrpSpPr>
        <p:grpSpPr>
          <a:xfrm>
            <a:off x="609600" y="1504950"/>
            <a:ext cx="5334000" cy="2019300"/>
            <a:chOff x="609600" y="1504950"/>
            <a:chExt cx="5334000" cy="2019300"/>
          </a:xfrm>
        </p:grpSpPr>
        <p:sp>
          <p:nvSpPr>
            <p:cNvPr id="5" name="Rectangle 5"/>
            <p:cNvSpPr/>
            <p:nvPr/>
          </p:nvSpPr>
          <p:spPr>
            <a:xfrm>
              <a:off x="609600" y="1504950"/>
              <a:ext cx="5334000" cy="2019300"/>
            </a:xfrm>
            <a:prstGeom prst="roundRect">
              <a:avLst>
                <a:gd name="adj" fmla="val 6604"/>
              </a:avLst>
            </a:prstGeom>
            <a:solidFill>
              <a:schemeClr val="accent5"/>
            </a:solidFill>
            <a:ln w="14288">
              <a:solidFill>
                <a:srgbClr val="26455F"/>
              </a:solidFill>
            </a:ln>
          </p:spPr>
        </p:sp>
        <p:sp>
          <p:nvSpPr>
            <p:cNvPr id="6" name="Rectangle 6"/>
            <p:cNvSpPr/>
            <p:nvPr/>
          </p:nvSpPr>
          <p:spPr>
            <a:xfrm>
              <a:off x="609600" y="1504950"/>
              <a:ext cx="57150" cy="2019300"/>
            </a:xfrm>
            <a:prstGeom prst="roundRect">
              <a:avLst>
                <a:gd name="adj" fmla="val 50000"/>
              </a:avLst>
            </a:prstGeom>
            <a:solidFill>
              <a:schemeClr val="accent2"/>
            </a:solidFill>
            <a:ln>
              <a:noFill/>
            </a:ln>
          </p:spPr>
        </p:sp>
        <p:sp>
          <p:nvSpPr>
            <p:cNvPr id="7" name="TextBox 7"/>
            <p:cNvSpPr txBox="1"/>
            <p:nvPr/>
          </p:nvSpPr>
          <p:spPr>
            <a:xfrm>
              <a:off x="870014" y="1733312"/>
              <a:ext cx="1867236"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Three public datasets</a:t>
              </a:r>
            </a:p>
          </p:txBody>
        </p:sp>
        <p:sp>
          <p:nvSpPr>
            <p:cNvPr id="8" name="TextBox 8"/>
            <p:cNvSpPr txBox="1"/>
            <p:nvPr/>
          </p:nvSpPr>
          <p:spPr>
            <a:xfrm>
              <a:off x="870966" y="2020252"/>
              <a:ext cx="392373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Chosen to test the framework under realistic and varied</a:t>
              </a:r>
            </a:p>
          </p:txBody>
        </p:sp>
        <p:sp>
          <p:nvSpPr>
            <p:cNvPr id="9" name="TextBox 9"/>
            <p:cNvSpPr txBox="1"/>
            <p:nvPr/>
          </p:nvSpPr>
          <p:spPr>
            <a:xfrm>
              <a:off x="870966" y="2220278"/>
              <a:ext cx="384802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conditions. First, House Pricing predicts house price in</a:t>
              </a:r>
            </a:p>
          </p:txBody>
        </p:sp>
        <p:sp>
          <p:nvSpPr>
            <p:cNvPr id="10" name="TextBox 10"/>
            <p:cNvSpPr txBox="1"/>
            <p:nvPr/>
          </p:nvSpPr>
          <p:spPr>
            <a:xfrm>
              <a:off x="870966" y="2420302"/>
              <a:ext cx="7692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US dollars.</a:t>
              </a:r>
            </a:p>
          </p:txBody>
        </p:sp>
        <p:sp>
          <p:nvSpPr>
            <p:cNvPr id="11" name="Rectangle 11"/>
            <p:cNvSpPr/>
            <p:nvPr/>
          </p:nvSpPr>
          <p:spPr>
            <a:xfrm>
              <a:off x="876300" y="2724150"/>
              <a:ext cx="4800600" cy="666750"/>
            </a:xfrm>
            <a:prstGeom prst="roundRect">
              <a:avLst>
                <a:gd name="adj" fmla="val 14286"/>
              </a:avLst>
            </a:prstGeom>
            <a:solidFill>
              <a:schemeClr val="accent6"/>
            </a:solidFill>
            <a:ln w="14288">
              <a:solidFill>
                <a:schemeClr val="accent2"/>
              </a:solidFill>
            </a:ln>
          </p:spPr>
        </p:sp>
        <p:sp>
          <p:nvSpPr>
            <p:cNvPr id="12" name="Rectangle 12"/>
            <p:cNvSpPr/>
            <p:nvPr/>
          </p:nvSpPr>
          <p:spPr>
            <a:xfrm>
              <a:off x="876300" y="2724150"/>
              <a:ext cx="47625" cy="666750"/>
            </a:xfrm>
            <a:prstGeom prst="roundRect">
              <a:avLst>
                <a:gd name="adj" fmla="val 40000"/>
              </a:avLst>
            </a:prstGeom>
            <a:solidFill>
              <a:schemeClr val="accent2"/>
            </a:solidFill>
            <a:ln>
              <a:noFill/>
            </a:ln>
          </p:spPr>
        </p:sp>
        <p:sp>
          <p:nvSpPr>
            <p:cNvPr id="13" name="TextBox 13"/>
            <p:cNvSpPr txBox="1"/>
            <p:nvPr/>
          </p:nvSpPr>
          <p:spPr>
            <a:xfrm>
              <a:off x="1042416" y="2848928"/>
              <a:ext cx="969508"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House Pricing</a:t>
              </a:r>
            </a:p>
          </p:txBody>
        </p:sp>
        <p:sp>
          <p:nvSpPr>
            <p:cNvPr id="14" name="TextBox 14"/>
            <p:cNvSpPr txBox="1"/>
            <p:nvPr/>
          </p:nvSpPr>
          <p:spPr>
            <a:xfrm>
              <a:off x="1042988" y="3051572"/>
              <a:ext cx="1331581"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21,613 observations</a:t>
              </a:r>
            </a:p>
          </p:txBody>
        </p:sp>
        <p:sp>
          <p:nvSpPr>
            <p:cNvPr id="15" name="TextBox 15"/>
            <p:cNvSpPr txBox="1"/>
            <p:nvPr/>
          </p:nvSpPr>
          <p:spPr>
            <a:xfrm>
              <a:off x="1042988" y="3223022"/>
              <a:ext cx="780171"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12 features</a:t>
              </a:r>
            </a:p>
          </p:txBody>
        </p:sp>
        <p:sp>
          <p:nvSpPr>
            <p:cNvPr id="16" name="TextBox 16"/>
            <p:cNvSpPr txBox="1"/>
            <p:nvPr/>
          </p:nvSpPr>
          <p:spPr>
            <a:xfrm>
              <a:off x="4851854" y="2865120"/>
              <a:ext cx="677408" cy="176212"/>
            </a:xfrm>
            <a:prstGeom prst="rect">
              <a:avLst/>
            </a:prstGeom>
            <a:noFill/>
            <a:ln>
              <a:noFill/>
            </a:ln>
          </p:spPr>
          <p:txBody>
            <a:bodyPr wrap="none" lIns="0" tIns="0" rIns="0" bIns="0" anchor="t" anchorCtr="0">
              <a:spAutoFit/>
            </a:bodyPr>
            <a:lstStyle/>
            <a:p>
              <a:pPr algn="r"/>
              <a:r>
                <a:rPr lang="en-US" sz="900" b="1" dirty="0">
                  <a:solidFill>
                    <a:schemeClr val="accent2"/>
                  </a:solidFill>
                  <a:latin typeface="+mn-lt"/>
                  <a:ea typeface="+mn-ea"/>
                  <a:cs typeface="+mn-cs"/>
                </a:rPr>
                <a:t>regression</a:t>
              </a:r>
            </a:p>
          </p:txBody>
        </p:sp>
      </p:grpSp>
      <p:grpSp>
        <p:nvGrpSpPr>
          <p:cNvPr id="33" name="Group 33"/>
          <p:cNvGrpSpPr/>
          <p:nvPr/>
        </p:nvGrpSpPr>
        <p:grpSpPr>
          <a:xfrm>
            <a:off x="6248400" y="1504950"/>
            <a:ext cx="5334000" cy="2019300"/>
            <a:chOff x="6248400" y="1504950"/>
            <a:chExt cx="5334000" cy="2019300"/>
          </a:xfrm>
        </p:grpSpPr>
        <p:sp>
          <p:nvSpPr>
            <p:cNvPr id="18" name="Rectangle 18"/>
            <p:cNvSpPr/>
            <p:nvPr/>
          </p:nvSpPr>
          <p:spPr>
            <a:xfrm>
              <a:off x="6248400" y="1504950"/>
              <a:ext cx="5334000" cy="2019300"/>
            </a:xfrm>
            <a:prstGeom prst="roundRect">
              <a:avLst>
                <a:gd name="adj" fmla="val 6604"/>
              </a:avLst>
            </a:prstGeom>
            <a:solidFill>
              <a:schemeClr val="accent5"/>
            </a:solidFill>
            <a:ln w="14288">
              <a:solidFill>
                <a:srgbClr val="26455F"/>
              </a:solidFill>
            </a:ln>
          </p:spPr>
        </p:sp>
        <p:sp>
          <p:nvSpPr>
            <p:cNvPr id="19" name="Rectangle 19"/>
            <p:cNvSpPr/>
            <p:nvPr/>
          </p:nvSpPr>
          <p:spPr>
            <a:xfrm>
              <a:off x="6248400" y="1504950"/>
              <a:ext cx="57150" cy="2019300"/>
            </a:xfrm>
            <a:prstGeom prst="roundRect">
              <a:avLst>
                <a:gd name="adj" fmla="val 50000"/>
              </a:avLst>
            </a:prstGeom>
            <a:solidFill>
              <a:srgbClr val="34D3C0"/>
            </a:solidFill>
            <a:ln>
              <a:noFill/>
            </a:ln>
          </p:spPr>
        </p:sp>
        <p:sp>
          <p:nvSpPr>
            <p:cNvPr id="20" name="TextBox 20"/>
            <p:cNvSpPr txBox="1"/>
            <p:nvPr/>
          </p:nvSpPr>
          <p:spPr>
            <a:xfrm>
              <a:off x="6509194" y="1741408"/>
              <a:ext cx="3149302"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A large-feature and a large-sample set</a:t>
              </a:r>
            </a:p>
          </p:txBody>
        </p:sp>
        <p:sp>
          <p:nvSpPr>
            <p:cNvPr id="21" name="Rectangle 21"/>
            <p:cNvSpPr/>
            <p:nvPr/>
          </p:nvSpPr>
          <p:spPr>
            <a:xfrm>
              <a:off x="6515100" y="2038350"/>
              <a:ext cx="4800600" cy="666750"/>
            </a:xfrm>
            <a:prstGeom prst="roundRect">
              <a:avLst>
                <a:gd name="adj" fmla="val 14286"/>
              </a:avLst>
            </a:prstGeom>
            <a:solidFill>
              <a:schemeClr val="accent6"/>
            </a:solidFill>
            <a:ln w="14288">
              <a:solidFill>
                <a:srgbClr val="34D3C0"/>
              </a:solidFill>
            </a:ln>
          </p:spPr>
        </p:sp>
        <p:sp>
          <p:nvSpPr>
            <p:cNvPr id="22" name="Rectangle 22"/>
            <p:cNvSpPr/>
            <p:nvPr/>
          </p:nvSpPr>
          <p:spPr>
            <a:xfrm>
              <a:off x="6515100" y="2038350"/>
              <a:ext cx="47625" cy="666750"/>
            </a:xfrm>
            <a:prstGeom prst="roundRect">
              <a:avLst>
                <a:gd name="adj" fmla="val 40000"/>
              </a:avLst>
            </a:prstGeom>
            <a:solidFill>
              <a:srgbClr val="34D3C0"/>
            </a:solidFill>
            <a:ln>
              <a:noFill/>
            </a:ln>
          </p:spPr>
        </p:sp>
        <p:sp>
          <p:nvSpPr>
            <p:cNvPr id="23" name="TextBox 23"/>
            <p:cNvSpPr txBox="1"/>
            <p:nvPr/>
          </p:nvSpPr>
          <p:spPr>
            <a:xfrm>
              <a:off x="6681216" y="2163128"/>
              <a:ext cx="1086632"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MNIST Numbers</a:t>
              </a:r>
            </a:p>
          </p:txBody>
        </p:sp>
        <p:sp>
          <p:nvSpPr>
            <p:cNvPr id="24" name="TextBox 24"/>
            <p:cNvSpPr txBox="1"/>
            <p:nvPr/>
          </p:nvSpPr>
          <p:spPr>
            <a:xfrm>
              <a:off x="6681788" y="2365772"/>
              <a:ext cx="1331581"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35,000 observations</a:t>
              </a:r>
            </a:p>
          </p:txBody>
        </p:sp>
        <p:sp>
          <p:nvSpPr>
            <p:cNvPr id="25" name="TextBox 25"/>
            <p:cNvSpPr txBox="1"/>
            <p:nvPr/>
          </p:nvSpPr>
          <p:spPr>
            <a:xfrm>
              <a:off x="6681788" y="2537222"/>
              <a:ext cx="1517599"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784 features (tabular)</a:t>
              </a:r>
            </a:p>
          </p:txBody>
        </p:sp>
        <p:sp>
          <p:nvSpPr>
            <p:cNvPr id="26" name="TextBox 26"/>
            <p:cNvSpPr txBox="1"/>
            <p:nvPr/>
          </p:nvSpPr>
          <p:spPr>
            <a:xfrm>
              <a:off x="10630592" y="2179320"/>
              <a:ext cx="537471" cy="176212"/>
            </a:xfrm>
            <a:prstGeom prst="rect">
              <a:avLst/>
            </a:prstGeom>
            <a:noFill/>
            <a:ln>
              <a:noFill/>
            </a:ln>
          </p:spPr>
          <p:txBody>
            <a:bodyPr wrap="none" lIns="0" tIns="0" rIns="0" bIns="0" anchor="t" anchorCtr="0">
              <a:spAutoFit/>
            </a:bodyPr>
            <a:lstStyle/>
            <a:p>
              <a:pPr algn="r"/>
              <a:r>
                <a:rPr lang="en-US" sz="900" b="1" dirty="0">
                  <a:solidFill>
                    <a:srgbClr val="34D3C0"/>
                  </a:solidFill>
                  <a:latin typeface="+mn-lt"/>
                  <a:ea typeface="+mn-ea"/>
                  <a:cs typeface="+mn-cs"/>
                </a:rPr>
                <a:t>10-class</a:t>
              </a:r>
            </a:p>
          </p:txBody>
        </p:sp>
        <p:sp>
          <p:nvSpPr>
            <p:cNvPr id="27" name="Rectangle 27"/>
            <p:cNvSpPr/>
            <p:nvPr/>
          </p:nvSpPr>
          <p:spPr>
            <a:xfrm>
              <a:off x="6515100" y="2781300"/>
              <a:ext cx="4800600" cy="666750"/>
            </a:xfrm>
            <a:prstGeom prst="roundRect">
              <a:avLst>
                <a:gd name="adj" fmla="val 14286"/>
              </a:avLst>
            </a:prstGeom>
            <a:solidFill>
              <a:schemeClr val="accent6"/>
            </a:solidFill>
            <a:ln w="14288">
              <a:solidFill>
                <a:srgbClr val="F2C14E"/>
              </a:solidFill>
            </a:ln>
          </p:spPr>
        </p:sp>
        <p:sp>
          <p:nvSpPr>
            <p:cNvPr id="28" name="Rectangle 28"/>
            <p:cNvSpPr/>
            <p:nvPr/>
          </p:nvSpPr>
          <p:spPr>
            <a:xfrm>
              <a:off x="6515100" y="2781300"/>
              <a:ext cx="47625" cy="666750"/>
            </a:xfrm>
            <a:prstGeom prst="roundRect">
              <a:avLst>
                <a:gd name="adj" fmla="val 40000"/>
              </a:avLst>
            </a:prstGeom>
            <a:solidFill>
              <a:srgbClr val="F2C14E"/>
            </a:solidFill>
            <a:ln>
              <a:noFill/>
            </a:ln>
          </p:spPr>
        </p:sp>
        <p:sp>
          <p:nvSpPr>
            <p:cNvPr id="29" name="TextBox 29"/>
            <p:cNvSpPr txBox="1"/>
            <p:nvPr/>
          </p:nvSpPr>
          <p:spPr>
            <a:xfrm>
              <a:off x="6681216" y="2906078"/>
              <a:ext cx="1427233"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Buzz in Social Media</a:t>
              </a:r>
            </a:p>
          </p:txBody>
        </p:sp>
        <p:sp>
          <p:nvSpPr>
            <p:cNvPr id="30" name="TextBox 30"/>
            <p:cNvSpPr txBox="1"/>
            <p:nvPr/>
          </p:nvSpPr>
          <p:spPr>
            <a:xfrm>
              <a:off x="6681788" y="3108722"/>
              <a:ext cx="1331581"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87,488 observations</a:t>
              </a:r>
            </a:p>
          </p:txBody>
        </p:sp>
        <p:sp>
          <p:nvSpPr>
            <p:cNvPr id="31" name="TextBox 31"/>
            <p:cNvSpPr txBox="1"/>
            <p:nvPr/>
          </p:nvSpPr>
          <p:spPr>
            <a:xfrm>
              <a:off x="6681788" y="3280172"/>
              <a:ext cx="780171"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77 features</a:t>
              </a:r>
            </a:p>
          </p:txBody>
        </p:sp>
        <p:sp>
          <p:nvSpPr>
            <p:cNvPr id="32" name="TextBox 32"/>
            <p:cNvSpPr txBox="1"/>
            <p:nvPr/>
          </p:nvSpPr>
          <p:spPr>
            <a:xfrm>
              <a:off x="10490654" y="2922270"/>
              <a:ext cx="677408" cy="176212"/>
            </a:xfrm>
            <a:prstGeom prst="rect">
              <a:avLst/>
            </a:prstGeom>
            <a:noFill/>
            <a:ln>
              <a:noFill/>
            </a:ln>
          </p:spPr>
          <p:txBody>
            <a:bodyPr wrap="none" lIns="0" tIns="0" rIns="0" bIns="0" anchor="t" anchorCtr="0">
              <a:spAutoFit/>
            </a:bodyPr>
            <a:lstStyle/>
            <a:p>
              <a:pPr algn="r"/>
              <a:r>
                <a:rPr lang="en-US" sz="900" b="1" dirty="0">
                  <a:solidFill>
                    <a:srgbClr val="F2C14E"/>
                  </a:solidFill>
                  <a:latin typeface="+mn-lt"/>
                  <a:ea typeface="+mn-ea"/>
                  <a:cs typeface="+mn-cs"/>
                </a:rPr>
                <a:t>regression</a:t>
              </a:r>
            </a:p>
          </p:txBody>
        </p:sp>
      </p:grpSp>
      <p:grpSp>
        <p:nvGrpSpPr>
          <p:cNvPr id="39" name="Group 39"/>
          <p:cNvGrpSpPr/>
          <p:nvPr/>
        </p:nvGrpSpPr>
        <p:grpSpPr>
          <a:xfrm>
            <a:off x="609600" y="3695700"/>
            <a:ext cx="10972800" cy="704850"/>
            <a:chOff x="609600" y="3695700"/>
            <a:chExt cx="10972800" cy="704850"/>
          </a:xfrm>
        </p:grpSpPr>
        <p:sp>
          <p:nvSpPr>
            <p:cNvPr id="34" name="Rectangle 34"/>
            <p:cNvSpPr/>
            <p:nvPr/>
          </p:nvSpPr>
          <p:spPr>
            <a:xfrm>
              <a:off x="609600" y="3695700"/>
              <a:ext cx="10972800" cy="704850"/>
            </a:xfrm>
            <a:prstGeom prst="roundRect">
              <a:avLst>
                <a:gd name="adj" fmla="val 18919"/>
              </a:avLst>
            </a:prstGeom>
            <a:solidFill>
              <a:srgbClr val="0F2E2B"/>
            </a:solidFill>
            <a:ln w="14288">
              <a:solidFill>
                <a:srgbClr val="34D3C0"/>
              </a:solidFill>
            </a:ln>
          </p:spPr>
        </p:sp>
        <p:sp>
          <p:nvSpPr>
            <p:cNvPr id="35" name="Rectangle 35"/>
            <p:cNvSpPr/>
            <p:nvPr/>
          </p:nvSpPr>
          <p:spPr>
            <a:xfrm>
              <a:off x="609600" y="3695700"/>
              <a:ext cx="57150" cy="704850"/>
            </a:xfrm>
            <a:prstGeom prst="roundRect">
              <a:avLst>
                <a:gd name="adj" fmla="val 50000"/>
              </a:avLst>
            </a:prstGeom>
            <a:solidFill>
              <a:srgbClr val="34D3C0"/>
            </a:solidFill>
            <a:ln>
              <a:noFill/>
            </a:ln>
          </p:spPr>
        </p:sp>
        <p:sp>
          <p:nvSpPr>
            <p:cNvPr id="36" name="TextBox 36"/>
            <p:cNvSpPr txBox="1"/>
            <p:nvPr/>
          </p:nvSpPr>
          <p:spPr>
            <a:xfrm>
              <a:off x="870394" y="3855958"/>
              <a:ext cx="1525053"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Deliberately varied</a:t>
              </a:r>
            </a:p>
          </p:txBody>
        </p:sp>
        <p:sp>
          <p:nvSpPr>
            <p:cNvPr id="37" name="TextBox 37"/>
            <p:cNvSpPr txBox="1"/>
            <p:nvPr/>
          </p:nvSpPr>
          <p:spPr>
            <a:xfrm>
              <a:off x="2261806" y="3815001"/>
              <a:ext cx="635759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Together they cover regression and classification, small and large feature sets, and different</a:t>
              </a:r>
            </a:p>
          </p:txBody>
        </p:sp>
        <p:sp>
          <p:nvSpPr>
            <p:cNvPr id="38" name="TextBox 38"/>
            <p:cNvSpPr txBox="1"/>
            <p:nvPr/>
          </p:nvSpPr>
          <p:spPr>
            <a:xfrm>
              <a:off x="2261806" y="4015026"/>
              <a:ext cx="4272827"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feature types, probing how robust and scalable the encoding is.</a:t>
              </a:r>
            </a:p>
          </p:txBody>
        </p:sp>
      </p:grpSp>
      <p:grpSp>
        <p:nvGrpSpPr>
          <p:cNvPr id="46" name="Group 46"/>
          <p:cNvGrpSpPr/>
          <p:nvPr/>
        </p:nvGrpSpPr>
        <p:grpSpPr>
          <a:xfrm>
            <a:off x="609600" y="4552950"/>
            <a:ext cx="10972800" cy="685800"/>
            <a:chOff x="609600" y="4552950"/>
            <a:chExt cx="10972800" cy="685800"/>
          </a:xfrm>
        </p:grpSpPr>
        <p:sp>
          <p:nvSpPr>
            <p:cNvPr id="40" name="Rectangle 40"/>
            <p:cNvSpPr/>
            <p:nvPr/>
          </p:nvSpPr>
          <p:spPr>
            <a:xfrm>
              <a:off x="609600" y="4552950"/>
              <a:ext cx="10972800" cy="685800"/>
            </a:xfrm>
            <a:prstGeom prst="roundRect">
              <a:avLst>
                <a:gd name="adj" fmla="val 19444"/>
              </a:avLst>
            </a:prstGeom>
            <a:solidFill>
              <a:schemeClr val="accent5"/>
            </a:solidFill>
            <a:ln w="14288">
              <a:solidFill>
                <a:srgbClr val="26455F"/>
              </a:solidFill>
            </a:ln>
          </p:spPr>
        </p:sp>
        <p:sp>
          <p:nvSpPr>
            <p:cNvPr id="41" name="Rectangle 41"/>
            <p:cNvSpPr/>
            <p:nvPr/>
          </p:nvSpPr>
          <p:spPr>
            <a:xfrm>
              <a:off x="609600" y="4552950"/>
              <a:ext cx="57150" cy="685800"/>
            </a:xfrm>
            <a:prstGeom prst="roundRect">
              <a:avLst>
                <a:gd name="adj" fmla="val 50000"/>
              </a:avLst>
            </a:prstGeom>
            <a:solidFill>
              <a:schemeClr val="dk2"/>
            </a:solidFill>
            <a:ln>
              <a:noFill/>
            </a:ln>
          </p:spPr>
        </p:sp>
        <p:sp>
          <p:nvSpPr>
            <p:cNvPr id="42" name="TextBox 42"/>
            <p:cNvSpPr txBox="1"/>
            <p:nvPr/>
          </p:nvSpPr>
          <p:spPr>
            <a:xfrm>
              <a:off x="870585" y="4755356"/>
              <a:ext cx="1877151"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A modest compute setup</a:t>
              </a:r>
            </a:p>
          </p:txBody>
        </p:sp>
        <p:sp>
          <p:nvSpPr>
            <p:cNvPr id="43" name="TextBox 43"/>
            <p:cNvSpPr txBox="1"/>
            <p:nvPr/>
          </p:nvSpPr>
          <p:spPr>
            <a:xfrm>
              <a:off x="871347" y="5000149"/>
              <a:ext cx="1850249"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2-core Intel Xeon @ 2.3 GHz</a:t>
              </a:r>
            </a:p>
          </p:txBody>
        </p:sp>
        <p:sp>
          <p:nvSpPr>
            <p:cNvPr id="44" name="TextBox 44"/>
            <p:cNvSpPr txBox="1"/>
            <p:nvPr/>
          </p:nvSpPr>
          <p:spPr>
            <a:xfrm>
              <a:off x="4090797" y="5000149"/>
              <a:ext cx="1595287" cy="190690"/>
            </a:xfrm>
            <a:prstGeom prst="rect">
              <a:avLst/>
            </a:prstGeom>
            <a:noFill/>
            <a:ln>
              <a:noFill/>
            </a:ln>
          </p:spPr>
          <p:txBody>
            <a:bodyPr wrap="none" lIns="0" tIns="0" rIns="0" bIns="0" anchor="t" anchorCtr="0">
              <a:spAutoFit/>
            </a:bodyPr>
            <a:lstStyle/>
            <a:p>
              <a:pPr algn="l" marL="111081" indent="-111081">
                <a:buClr>
                  <a:schemeClr val="dk2"/>
                </a:buClr>
                <a:buSzTx/>
                <a:buFontTx/>
                <a:buChar char="•"/>
              </a:pPr>
              <a:r>
                <a:rPr lang="en-US" sz="980" b="1" dirty="0">
                  <a:solidFill>
                    <a:schemeClr val="dk2"/>
                  </a:solidFill>
                  <a:latin typeface="+mn-lt"/>
                  <a:ea typeface="+mn-ea"/>
                  <a:cs typeface="+mn-cs"/>
                </a:rPr>
                <a:t>Nvidia K80 / T4, 12 GB</a:t>
              </a:r>
            </a:p>
          </p:txBody>
        </p:sp>
        <p:sp>
          <p:nvSpPr>
            <p:cNvPr id="45" name="TextBox 45"/>
            <p:cNvSpPr txBox="1"/>
            <p:nvPr/>
          </p:nvSpPr>
          <p:spPr>
            <a:xfrm>
              <a:off x="7234047" y="5000149"/>
              <a:ext cx="801584" cy="190690"/>
            </a:xfrm>
            <a:prstGeom prst="rect">
              <a:avLst/>
            </a:prstGeom>
            <a:noFill/>
            <a:ln>
              <a:noFill/>
            </a:ln>
          </p:spPr>
          <p:txBody>
            <a:bodyPr wrap="none" lIns="0" tIns="0" rIns="0" bIns="0" anchor="t" anchorCtr="0">
              <a:spAutoFit/>
            </a:bodyPr>
            <a:lstStyle/>
            <a:p>
              <a:pPr algn="l" marL="111081" indent="-111081">
                <a:buClr>
                  <a:schemeClr val="dk2"/>
                </a:buClr>
                <a:buSzTx/>
                <a:buFontTx/>
                <a:buChar char="•"/>
              </a:pPr>
              <a:r>
                <a:rPr lang="en-US" sz="980" b="1" dirty="0">
                  <a:solidFill>
                    <a:schemeClr val="dk2"/>
                  </a:solidFill>
                  <a:latin typeface="+mn-lt"/>
                  <a:ea typeface="+mn-ea"/>
                  <a:cs typeface="+mn-cs"/>
                </a:rPr>
                <a:t>12 GB RAM</a:t>
              </a:r>
            </a:p>
          </p:txBody>
        </p:sp>
      </p:grpSp>
      <p:sp>
        <p:nvSpPr>
          <p:cNvPr id="47" name="cue_s06_c1_test_framework_under_realistic_varie" title="cue_s06_c1_test_framework_under_realistic_varie" descr="cue_s06_c1_test_framework_under_realistic_varie To test the framework under realistic and varied conditions, the authors chose three public datasets. House Pricing has about twenty-one thousand observations and twelve features, with a regression target predicting house price in US dollars."/>
          <p:cNvSpPr/>
          <p:nvPr/>
        </p:nvSpPr>
        <p:spPr>
          <a:xfrm>
            <a:off x="609600" y="1504645"/>
            <a:ext cx="5334000"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6_c2_mnist_numbers_thirty_five_thousand_o" title="cue_s06_c2_mnist_numbers_thirty_five_thousand_o" descr="cue_s06_c2_mnist_numbers_thirty_five_thousand_o MNIST Numbers has thirty-five thousand observations and seven hundred eighty-four features, treated as tabular data for a ten-class digit classification task. Buzz in Social Media has over eighty-seven thousand observations and seventy-seven features, again a"/>
          <p:cNvSpPr/>
          <p:nvPr/>
        </p:nvSpPr>
        <p:spPr>
          <a:xfrm>
            <a:off x="6248399" y="1504645"/>
            <a:ext cx="5334000"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6_c3_together_they_cover_regression_class" title="cue_s06_c3_together_they_cover_regression_class" descr="cue_s06_c3_together_they_cover_regression_class Together they cover regression and classification, small and large feature sets, and different feature types, letting the authors probe how robust and scalable the encoding approach is."/>
          <p:cNvSpPr/>
          <p:nvPr/>
        </p:nvSpPr>
        <p:spPr>
          <a:xfrm>
            <a:off x="609600" y="3695776"/>
            <a:ext cx="10972800" cy="7050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6_c4_all_experiments_ran_modest_setup" title="cue_s06_c4_all_experiments_ran_modest_setup" descr="cue_s06_c4_all_experiments_ran_modest_setup All experiments ran on a modest setup: a two-core Intel Xeon CPU at 2.3 gigahertz, an Nvidia K80 or T4 GPU with twelve gigabytes of memory, and twelve gigabytes of RAM."/>
          <p:cNvSpPr/>
          <p:nvPr/>
        </p:nvSpPr>
        <p:spPr>
          <a:xfrm>
            <a:off x="609600" y="4553026"/>
            <a:ext cx="10972800" cy="6858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617223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Obfuscate the data, keep the accuracy</a:t>
            </a:r>
          </a:p>
        </p:txBody>
      </p:sp>
      <p:grpSp>
        <p:nvGrpSpPr>
          <p:cNvPr id="14" name="Group 14"/>
          <p:cNvGrpSpPr/>
          <p:nvPr/>
        </p:nvGrpSpPr>
        <p:grpSpPr>
          <a:xfrm>
            <a:off x="609600" y="1504950"/>
            <a:ext cx="10972800" cy="1047750"/>
            <a:chOff x="609600" y="1504950"/>
            <a:chExt cx="10972800" cy="1047750"/>
          </a:xfrm>
        </p:grpSpPr>
        <p:sp>
          <p:nvSpPr>
            <p:cNvPr id="5" name="Rectangle 5"/>
            <p:cNvSpPr/>
            <p:nvPr/>
          </p:nvSpPr>
          <p:spPr>
            <a:xfrm>
              <a:off x="609600" y="1504950"/>
              <a:ext cx="10972800" cy="1047750"/>
            </a:xfrm>
            <a:prstGeom prst="roundRect">
              <a:avLst>
                <a:gd name="adj" fmla="val 12727"/>
              </a:avLst>
            </a:prstGeom>
            <a:solidFill>
              <a:srgbClr val="0F2E2B"/>
            </a:solidFill>
            <a:ln w="14288">
              <a:solidFill>
                <a:srgbClr val="48C78E"/>
              </a:solidFill>
            </a:ln>
          </p:spPr>
        </p:sp>
        <p:sp>
          <p:nvSpPr>
            <p:cNvPr id="6" name="Rectangle 6"/>
            <p:cNvSpPr/>
            <p:nvPr/>
          </p:nvSpPr>
          <p:spPr>
            <a:xfrm>
              <a:off x="609600" y="1504950"/>
              <a:ext cx="57150" cy="1047750"/>
            </a:xfrm>
            <a:prstGeom prst="roundRect">
              <a:avLst>
                <a:gd name="adj" fmla="val 50000"/>
              </a:avLst>
            </a:prstGeom>
            <a:solidFill>
              <a:srgbClr val="48C78E"/>
            </a:solidFill>
            <a:ln>
              <a:noFill/>
            </a:ln>
          </p:spPr>
        </p:sp>
        <p:sp>
          <p:nvSpPr>
            <p:cNvPr id="7" name="TextBox 7"/>
            <p:cNvSpPr txBox="1"/>
            <p:nvPr/>
          </p:nvSpPr>
          <p:spPr>
            <a:xfrm>
              <a:off x="870014" y="1714262"/>
              <a:ext cx="4321244"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Encoded representations barely hurt performance</a:t>
              </a:r>
            </a:p>
          </p:txBody>
        </p:sp>
        <p:sp>
          <p:nvSpPr>
            <p:cNvPr id="8" name="Rectangle 8"/>
            <p:cNvSpPr/>
            <p:nvPr/>
          </p:nvSpPr>
          <p:spPr>
            <a:xfrm>
              <a:off x="876300" y="1943100"/>
              <a:ext cx="2286000" cy="495300"/>
            </a:xfrm>
            <a:prstGeom prst="roundRect">
              <a:avLst>
                <a:gd name="adj" fmla="val 23077"/>
              </a:avLst>
            </a:prstGeom>
            <a:solidFill>
              <a:schemeClr val="accent6"/>
            </a:solidFill>
            <a:ln w="14288">
              <a:solidFill>
                <a:srgbClr val="26455F"/>
              </a:solidFill>
            </a:ln>
          </p:spPr>
        </p:sp>
        <p:sp>
          <p:nvSpPr>
            <p:cNvPr id="9" name="TextBox 9"/>
            <p:cNvSpPr txBox="1"/>
            <p:nvPr/>
          </p:nvSpPr>
          <p:spPr>
            <a:xfrm>
              <a:off x="1680700" y="2049094"/>
              <a:ext cx="677201" cy="274594"/>
            </a:xfrm>
            <a:prstGeom prst="rect">
              <a:avLst/>
            </a:prstGeom>
            <a:noFill/>
            <a:ln>
              <a:noFill/>
            </a:ln>
          </p:spPr>
          <p:txBody>
            <a:bodyPr wrap="none" lIns="0" tIns="0" rIns="0" bIns="0" anchor="t" anchorCtr="0">
              <a:spAutoFit/>
            </a:bodyPr>
            <a:lstStyle/>
            <a:p>
              <a:pPr algn="ctr"/>
              <a:r>
                <a:rPr lang="en-US" sz="1400" b="1" dirty="0">
                  <a:solidFill>
                    <a:srgbClr val="48C78E"/>
                  </a:solidFill>
                  <a:latin typeface="+mn-lt"/>
                  <a:ea typeface="+mn-ea"/>
                  <a:cs typeface="+mn-cs"/>
                </a:rPr>
                <a:t>&lt; 10 pp</a:t>
              </a:r>
            </a:p>
          </p:txBody>
        </p:sp>
        <p:sp>
          <p:nvSpPr>
            <p:cNvPr id="10" name="TextBox 10"/>
            <p:cNvSpPr txBox="1"/>
            <p:nvPr/>
          </p:nvSpPr>
          <p:spPr>
            <a:xfrm>
              <a:off x="1349834" y="2252091"/>
              <a:ext cx="1338931"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drop vs raw features</a:t>
              </a:r>
            </a:p>
          </p:txBody>
        </p:sp>
        <p:sp>
          <p:nvSpPr>
            <p:cNvPr id="11" name="Rectangle 11"/>
            <p:cNvSpPr/>
            <p:nvPr/>
          </p:nvSpPr>
          <p:spPr>
            <a:xfrm>
              <a:off x="3352800" y="1943100"/>
              <a:ext cx="8229600" cy="495300"/>
            </a:xfrm>
            <a:prstGeom prst="roundRect">
              <a:avLst>
                <a:gd name="adj" fmla="val 23077"/>
              </a:avLst>
            </a:prstGeom>
            <a:solidFill>
              <a:schemeClr val="accent6"/>
            </a:solidFill>
            <a:ln w="14288">
              <a:solidFill>
                <a:srgbClr val="26455F"/>
              </a:solidFill>
            </a:ln>
          </p:spPr>
        </p:sp>
        <p:sp>
          <p:nvSpPr>
            <p:cNvPr id="12" name="TextBox 12"/>
            <p:cNvSpPr txBox="1"/>
            <p:nvPr/>
          </p:nvSpPr>
          <p:spPr>
            <a:xfrm>
              <a:off x="3538347" y="2104549"/>
              <a:ext cx="604991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The central finding: sharing encoded representations instead of raw features barely changes</a:t>
              </a:r>
            </a:p>
          </p:txBody>
        </p:sp>
        <p:sp>
          <p:nvSpPr>
            <p:cNvPr id="13" name="TextBox 13"/>
            <p:cNvSpPr txBox="1"/>
            <p:nvPr/>
          </p:nvSpPr>
          <p:spPr>
            <a:xfrm>
              <a:off x="3538347" y="2295049"/>
              <a:ext cx="367089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downstream accuracy, while the data stays obfuscated.</a:t>
              </a:r>
            </a:p>
          </p:txBody>
        </p:sp>
      </p:grpSp>
      <p:grpSp>
        <p:nvGrpSpPr>
          <p:cNvPr id="27" name="Group 27"/>
          <p:cNvGrpSpPr/>
          <p:nvPr/>
        </p:nvGrpSpPr>
        <p:grpSpPr>
          <a:xfrm>
            <a:off x="609600" y="2705100"/>
            <a:ext cx="5334000" cy="1428750"/>
            <a:chOff x="609600" y="2705100"/>
            <a:chExt cx="5334000" cy="1428750"/>
          </a:xfrm>
        </p:grpSpPr>
        <p:sp>
          <p:nvSpPr>
            <p:cNvPr id="15" name="Rectangle 15"/>
            <p:cNvSpPr/>
            <p:nvPr/>
          </p:nvSpPr>
          <p:spPr>
            <a:xfrm>
              <a:off x="609600" y="2705100"/>
              <a:ext cx="5334000" cy="1428750"/>
            </a:xfrm>
            <a:prstGeom prst="roundRect">
              <a:avLst>
                <a:gd name="adj" fmla="val 9333"/>
              </a:avLst>
            </a:prstGeom>
            <a:solidFill>
              <a:schemeClr val="accent5"/>
            </a:solidFill>
            <a:ln w="14288">
              <a:solidFill>
                <a:srgbClr val="26455F"/>
              </a:solidFill>
            </a:ln>
          </p:spPr>
        </p:sp>
        <p:sp>
          <p:nvSpPr>
            <p:cNvPr id="16" name="Rectangle 16"/>
            <p:cNvSpPr/>
            <p:nvPr/>
          </p:nvSpPr>
          <p:spPr>
            <a:xfrm>
              <a:off x="609600" y="2705100"/>
              <a:ext cx="57150" cy="1428750"/>
            </a:xfrm>
            <a:prstGeom prst="roundRect">
              <a:avLst>
                <a:gd name="adj" fmla="val 50000"/>
              </a:avLst>
            </a:prstGeom>
            <a:solidFill>
              <a:schemeClr val="accent2"/>
            </a:solidFill>
            <a:ln>
              <a:noFill/>
            </a:ln>
          </p:spPr>
        </p:sp>
        <p:sp>
          <p:nvSpPr>
            <p:cNvPr id="17" name="TextBox 17"/>
            <p:cNvSpPr txBox="1"/>
            <p:nvPr/>
          </p:nvSpPr>
          <p:spPr>
            <a:xfrm>
              <a:off x="870585" y="2926556"/>
              <a:ext cx="3061163"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House Pricing: an almost negligible drop</a:t>
              </a:r>
            </a:p>
          </p:txBody>
        </p:sp>
        <p:sp>
          <p:nvSpPr>
            <p:cNvPr id="18" name="Rectangle 18"/>
            <p:cNvSpPr/>
            <p:nvPr/>
          </p:nvSpPr>
          <p:spPr>
            <a:xfrm>
              <a:off x="2857500" y="3295650"/>
              <a:ext cx="2381250" cy="209550"/>
            </a:xfrm>
            <a:prstGeom prst="roundRect">
              <a:avLst>
                <a:gd name="adj" fmla="val 27273"/>
              </a:avLst>
            </a:prstGeom>
            <a:solidFill>
              <a:srgbClr val="0E2334"/>
            </a:solidFill>
            <a:ln w="9525">
              <a:solidFill>
                <a:srgbClr val="26455F"/>
              </a:solidFill>
            </a:ln>
          </p:spPr>
        </p:sp>
        <p:sp>
          <p:nvSpPr>
            <p:cNvPr id="19" name="Rectangle 19"/>
            <p:cNvSpPr/>
            <p:nvPr/>
          </p:nvSpPr>
          <p:spPr>
            <a:xfrm>
              <a:off x="2857500" y="3295650"/>
              <a:ext cx="2143125" cy="209550"/>
            </a:xfrm>
            <a:prstGeom prst="roundRect">
              <a:avLst>
                <a:gd name="adj" fmla="val 27273"/>
              </a:avLst>
            </a:prstGeom>
            <a:solidFill>
              <a:srgbClr val="48C78E"/>
            </a:solidFill>
            <a:ln>
              <a:noFill/>
            </a:ln>
          </p:spPr>
        </p:sp>
        <p:sp>
          <p:nvSpPr>
            <p:cNvPr id="20" name="TextBox 20"/>
            <p:cNvSpPr txBox="1"/>
            <p:nvPr/>
          </p:nvSpPr>
          <p:spPr>
            <a:xfrm>
              <a:off x="1900177" y="3356134"/>
              <a:ext cx="847976" cy="190690"/>
            </a:xfrm>
            <a:prstGeom prst="rect">
              <a:avLst/>
            </a:prstGeom>
            <a:noFill/>
            <a:ln>
              <a:noFill/>
            </a:ln>
          </p:spPr>
          <p:txBody>
            <a:bodyPr wrap="none" lIns="0" tIns="0" rIns="0" bIns="0" anchor="t" anchorCtr="0">
              <a:spAutoFit/>
            </a:bodyPr>
            <a:lstStyle/>
            <a:p>
              <a:pPr algn="r"/>
              <a:r>
                <a:rPr lang="en-US" sz="980" b="1" dirty="0">
                  <a:solidFill>
                    <a:schemeClr val="dk2"/>
                  </a:solidFill>
                  <a:latin typeface="+mn-lt"/>
                  <a:ea typeface="+mn-ea"/>
                  <a:cs typeface="+mn-cs"/>
                </a:rPr>
                <a:t>raw baseline</a:t>
              </a:r>
            </a:p>
          </p:txBody>
        </p:sp>
        <p:sp>
          <p:nvSpPr>
            <p:cNvPr id="21" name="TextBox 21"/>
            <p:cNvSpPr txBox="1"/>
            <p:nvPr/>
          </p:nvSpPr>
          <p:spPr>
            <a:xfrm>
              <a:off x="5090922" y="3356134"/>
              <a:ext cx="727094" cy="190690"/>
            </a:xfrm>
            <a:prstGeom prst="rect">
              <a:avLst/>
            </a:prstGeom>
            <a:noFill/>
            <a:ln>
              <a:noFill/>
            </a:ln>
          </p:spPr>
          <p:txBody>
            <a:bodyPr wrap="none" lIns="0" tIns="0" rIns="0" bIns="0" anchor="t" anchorCtr="0">
              <a:spAutoFit/>
            </a:bodyPr>
            <a:lstStyle/>
            <a:p>
              <a:pPr algn="l"/>
              <a:r>
                <a:rPr lang="en-US" sz="980" b="1" dirty="0">
                  <a:solidFill>
                    <a:srgbClr val="48C78E"/>
                  </a:solidFill>
                  <a:latin typeface="+mn-lt"/>
                  <a:ea typeface="+mn-ea"/>
                  <a:cs typeface="+mn-cs"/>
                </a:rPr>
                <a:t>90.29% R2</a:t>
              </a:r>
            </a:p>
          </p:txBody>
        </p:sp>
        <p:sp>
          <p:nvSpPr>
            <p:cNvPr id="22" name="Rectangle 22"/>
            <p:cNvSpPr/>
            <p:nvPr/>
          </p:nvSpPr>
          <p:spPr>
            <a:xfrm>
              <a:off x="2857500" y="3600450"/>
              <a:ext cx="2381250" cy="209550"/>
            </a:xfrm>
            <a:prstGeom prst="roundRect">
              <a:avLst>
                <a:gd name="adj" fmla="val 27273"/>
              </a:avLst>
            </a:prstGeom>
            <a:solidFill>
              <a:srgbClr val="0E2334"/>
            </a:solidFill>
            <a:ln w="9525">
              <a:solidFill>
                <a:srgbClr val="26455F"/>
              </a:solidFill>
            </a:ln>
          </p:spPr>
        </p:sp>
        <p:sp>
          <p:nvSpPr>
            <p:cNvPr id="23" name="Rectangle 23"/>
            <p:cNvSpPr/>
            <p:nvPr/>
          </p:nvSpPr>
          <p:spPr>
            <a:xfrm>
              <a:off x="2857500" y="3600450"/>
              <a:ext cx="2124075" cy="209550"/>
            </a:xfrm>
            <a:prstGeom prst="roundRect">
              <a:avLst>
                <a:gd name="adj" fmla="val 27273"/>
              </a:avLst>
            </a:prstGeom>
            <a:solidFill>
              <a:srgbClr val="34D3C0"/>
            </a:solidFill>
            <a:ln>
              <a:noFill/>
            </a:ln>
          </p:spPr>
        </p:sp>
        <p:sp>
          <p:nvSpPr>
            <p:cNvPr id="24" name="TextBox 24"/>
            <p:cNvSpPr txBox="1"/>
            <p:nvPr/>
          </p:nvSpPr>
          <p:spPr>
            <a:xfrm>
              <a:off x="1648972" y="3660934"/>
              <a:ext cx="1099181" cy="190690"/>
            </a:xfrm>
            <a:prstGeom prst="rect">
              <a:avLst/>
            </a:prstGeom>
            <a:noFill/>
            <a:ln>
              <a:noFill/>
            </a:ln>
          </p:spPr>
          <p:txBody>
            <a:bodyPr wrap="none" lIns="0" tIns="0" rIns="0" bIns="0" anchor="t" anchorCtr="0">
              <a:spAutoFit/>
            </a:bodyPr>
            <a:lstStyle/>
            <a:p>
              <a:pPr algn="r"/>
              <a:r>
                <a:rPr lang="en-US" sz="980" b="1" dirty="0">
                  <a:solidFill>
                    <a:schemeClr val="dk2"/>
                  </a:solidFill>
                  <a:latin typeface="+mn-lt"/>
                  <a:ea typeface="+mn-ea"/>
                  <a:cs typeface="+mn-cs"/>
                </a:rPr>
                <a:t>two AEs (Sc. 2)</a:t>
              </a:r>
            </a:p>
          </p:txBody>
        </p:sp>
        <p:sp>
          <p:nvSpPr>
            <p:cNvPr id="25" name="TextBox 25"/>
            <p:cNvSpPr txBox="1"/>
            <p:nvPr/>
          </p:nvSpPr>
          <p:spPr>
            <a:xfrm>
              <a:off x="5071872" y="3660934"/>
              <a:ext cx="727094" cy="190690"/>
            </a:xfrm>
            <a:prstGeom prst="rect">
              <a:avLst/>
            </a:prstGeom>
            <a:noFill/>
            <a:ln>
              <a:noFill/>
            </a:ln>
          </p:spPr>
          <p:txBody>
            <a:bodyPr wrap="none" lIns="0" tIns="0" rIns="0" bIns="0" anchor="t" anchorCtr="0">
              <a:spAutoFit/>
            </a:bodyPr>
            <a:lstStyle/>
            <a:p>
              <a:pPr algn="l"/>
              <a:r>
                <a:rPr lang="en-US" sz="980" b="1" dirty="0">
                  <a:solidFill>
                    <a:srgbClr val="34D3C0"/>
                  </a:solidFill>
                  <a:latin typeface="+mn-lt"/>
                  <a:ea typeface="+mn-ea"/>
                  <a:cs typeface="+mn-cs"/>
                </a:rPr>
                <a:t>89.33% R2</a:t>
              </a:r>
            </a:p>
          </p:txBody>
        </p:sp>
        <p:sp>
          <p:nvSpPr>
            <p:cNvPr id="26" name="TextBox 26"/>
            <p:cNvSpPr txBox="1"/>
            <p:nvPr/>
          </p:nvSpPr>
          <p:spPr>
            <a:xfrm>
              <a:off x="2852738" y="3846195"/>
              <a:ext cx="2691751" cy="176212"/>
            </a:xfrm>
            <a:prstGeom prst="rect">
              <a:avLst/>
            </a:prstGeom>
            <a:noFill/>
            <a:ln>
              <a:noFill/>
            </a:ln>
          </p:spPr>
          <p:txBody>
            <a:bodyPr wrap="none" lIns="0" tIns="0" rIns="0" bIns="0" anchor="t" anchorCtr="0">
              <a:spAutoFit/>
            </a:bodyPr>
            <a:lstStyle/>
            <a:p>
              <a:pPr algn="l"/>
              <a:r>
                <a:rPr lang="en-US" sz="900" b="1" dirty="0">
                  <a:solidFill>
                    <a:srgbClr val="6E869C"/>
                  </a:solidFill>
                  <a:latin typeface="+mn-lt"/>
                  <a:ea typeface="+mn-ea"/>
                  <a:cs typeface="+mn-cs"/>
                </a:rPr>
                <a:t>obfuscated data, near-identical R-squared</a:t>
              </a:r>
            </a:p>
          </p:txBody>
        </p:sp>
      </p:grpSp>
      <p:grpSp>
        <p:nvGrpSpPr>
          <p:cNvPr id="47" name="Group 47"/>
          <p:cNvGrpSpPr/>
          <p:nvPr/>
        </p:nvGrpSpPr>
        <p:grpSpPr>
          <a:xfrm>
            <a:off x="6248400" y="2705100"/>
            <a:ext cx="5334000" cy="1428750"/>
            <a:chOff x="6248400" y="2705100"/>
            <a:chExt cx="5334000" cy="1428750"/>
          </a:xfrm>
        </p:grpSpPr>
        <p:sp>
          <p:nvSpPr>
            <p:cNvPr id="28" name="Rectangle 28"/>
            <p:cNvSpPr/>
            <p:nvPr/>
          </p:nvSpPr>
          <p:spPr>
            <a:xfrm>
              <a:off x="6248400" y="2705100"/>
              <a:ext cx="5334000" cy="1428750"/>
            </a:xfrm>
            <a:prstGeom prst="roundRect">
              <a:avLst>
                <a:gd name="adj" fmla="val 9333"/>
              </a:avLst>
            </a:prstGeom>
            <a:solidFill>
              <a:schemeClr val="accent5"/>
            </a:solidFill>
            <a:ln w="14288">
              <a:solidFill>
                <a:srgbClr val="26455F"/>
              </a:solidFill>
            </a:ln>
          </p:spPr>
        </p:sp>
        <p:sp>
          <p:nvSpPr>
            <p:cNvPr id="29" name="Rectangle 29"/>
            <p:cNvSpPr/>
            <p:nvPr/>
          </p:nvSpPr>
          <p:spPr>
            <a:xfrm>
              <a:off x="6248400" y="2705100"/>
              <a:ext cx="57150" cy="1428750"/>
            </a:xfrm>
            <a:prstGeom prst="roundRect">
              <a:avLst>
                <a:gd name="adj" fmla="val 50000"/>
              </a:avLst>
            </a:prstGeom>
            <a:solidFill>
              <a:srgbClr val="F2C14E"/>
            </a:solidFill>
            <a:ln>
              <a:noFill/>
            </a:ln>
          </p:spPr>
        </p:sp>
        <p:sp>
          <p:nvSpPr>
            <p:cNvPr id="30" name="TextBox 30"/>
            <p:cNvSpPr txBox="1"/>
            <p:nvPr/>
          </p:nvSpPr>
          <p:spPr>
            <a:xfrm>
              <a:off x="6509385" y="2907506"/>
              <a:ext cx="2062566" cy="220028"/>
            </a:xfrm>
            <a:prstGeom prst="rect">
              <a:avLst/>
            </a:prstGeom>
            <a:noFill/>
            <a:ln>
              <a:noFill/>
            </a:ln>
          </p:spPr>
          <p:txBody>
            <a:bodyPr wrap="none" lIns="0" tIns="0" rIns="0" bIns="0" anchor="t" anchorCtr="0">
              <a:spAutoFit/>
            </a:bodyPr>
            <a:lstStyle/>
            <a:p>
              <a:pPr algn="l"/>
              <a:r>
                <a:rPr lang="en-US" sz="1120" b="1" dirty="0">
                  <a:solidFill>
                    <a:srgbClr val="F2C14E"/>
                  </a:solidFill>
                  <a:latin typeface="+mn-lt"/>
                  <a:ea typeface="+mn-ea"/>
                  <a:cs typeface="+mn-cs"/>
                </a:rPr>
                <a:t>Buzz and MNIST hold up too</a:t>
              </a:r>
            </a:p>
          </p:txBody>
        </p:sp>
        <p:sp>
          <p:nvSpPr>
            <p:cNvPr id="31" name="Rectangle 31"/>
            <p:cNvSpPr/>
            <p:nvPr/>
          </p:nvSpPr>
          <p:spPr>
            <a:xfrm>
              <a:off x="8229600" y="3219450"/>
              <a:ext cx="2857500" cy="171450"/>
            </a:xfrm>
            <a:prstGeom prst="roundRect">
              <a:avLst>
                <a:gd name="adj" fmla="val 33333"/>
              </a:avLst>
            </a:prstGeom>
            <a:solidFill>
              <a:srgbClr val="0E2334"/>
            </a:solidFill>
            <a:ln w="9525">
              <a:solidFill>
                <a:srgbClr val="26455F"/>
              </a:solidFill>
            </a:ln>
          </p:spPr>
        </p:sp>
        <p:sp>
          <p:nvSpPr>
            <p:cNvPr id="32" name="Rectangle 32"/>
            <p:cNvSpPr/>
            <p:nvPr/>
          </p:nvSpPr>
          <p:spPr>
            <a:xfrm>
              <a:off x="8229600" y="3219450"/>
              <a:ext cx="2743200" cy="171450"/>
            </a:xfrm>
            <a:prstGeom prst="roundRect">
              <a:avLst>
                <a:gd name="adj" fmla="val 33333"/>
              </a:avLst>
            </a:prstGeom>
            <a:solidFill>
              <a:schemeClr val="dk2"/>
            </a:solidFill>
            <a:ln>
              <a:noFill/>
            </a:ln>
          </p:spPr>
        </p:sp>
        <p:sp>
          <p:nvSpPr>
            <p:cNvPr id="33" name="TextBox 33"/>
            <p:cNvSpPr txBox="1"/>
            <p:nvPr/>
          </p:nvSpPr>
          <p:spPr>
            <a:xfrm>
              <a:off x="7302563" y="3253264"/>
              <a:ext cx="817690" cy="190690"/>
            </a:xfrm>
            <a:prstGeom prst="rect">
              <a:avLst/>
            </a:prstGeom>
            <a:noFill/>
            <a:ln>
              <a:noFill/>
            </a:ln>
          </p:spPr>
          <p:txBody>
            <a:bodyPr wrap="none" lIns="0" tIns="0" rIns="0" bIns="0" anchor="t" anchorCtr="0">
              <a:spAutoFit/>
            </a:bodyPr>
            <a:lstStyle/>
            <a:p>
              <a:pPr algn="r"/>
              <a:r>
                <a:rPr lang="en-US" sz="980" b="1" dirty="0">
                  <a:solidFill>
                    <a:schemeClr val="dk2"/>
                  </a:solidFill>
                  <a:latin typeface="+mn-lt"/>
                  <a:ea typeface="+mn-ea"/>
                  <a:cs typeface="+mn-cs"/>
                </a:rPr>
                <a:t>Buzz raw R2</a:t>
              </a:r>
            </a:p>
          </p:txBody>
        </p:sp>
        <p:sp>
          <p:nvSpPr>
            <p:cNvPr id="34" name="TextBox 34"/>
            <p:cNvSpPr txBox="1"/>
            <p:nvPr/>
          </p:nvSpPr>
          <p:spPr>
            <a:xfrm>
              <a:off x="11063097" y="3253264"/>
              <a:ext cx="494740"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96.19%</a:t>
              </a:r>
            </a:p>
          </p:txBody>
        </p:sp>
        <p:sp>
          <p:nvSpPr>
            <p:cNvPr id="35" name="Rectangle 35"/>
            <p:cNvSpPr/>
            <p:nvPr/>
          </p:nvSpPr>
          <p:spPr>
            <a:xfrm>
              <a:off x="8229600" y="3448050"/>
              <a:ext cx="2857500" cy="171450"/>
            </a:xfrm>
            <a:prstGeom prst="roundRect">
              <a:avLst>
                <a:gd name="adj" fmla="val 33333"/>
              </a:avLst>
            </a:prstGeom>
            <a:solidFill>
              <a:srgbClr val="0E2334"/>
            </a:solidFill>
            <a:ln w="9525">
              <a:solidFill>
                <a:srgbClr val="26455F"/>
              </a:solidFill>
            </a:ln>
          </p:spPr>
        </p:sp>
        <p:sp>
          <p:nvSpPr>
            <p:cNvPr id="36" name="Rectangle 36"/>
            <p:cNvSpPr/>
            <p:nvPr/>
          </p:nvSpPr>
          <p:spPr>
            <a:xfrm>
              <a:off x="8229600" y="3448050"/>
              <a:ext cx="2600325" cy="171450"/>
            </a:xfrm>
            <a:prstGeom prst="roundRect">
              <a:avLst>
                <a:gd name="adj" fmla="val 33333"/>
              </a:avLst>
            </a:prstGeom>
            <a:solidFill>
              <a:srgbClr val="34D3C0"/>
            </a:solidFill>
            <a:ln>
              <a:noFill/>
            </a:ln>
          </p:spPr>
        </p:sp>
        <p:sp>
          <p:nvSpPr>
            <p:cNvPr id="37" name="TextBox 37"/>
            <p:cNvSpPr txBox="1"/>
            <p:nvPr/>
          </p:nvSpPr>
          <p:spPr>
            <a:xfrm>
              <a:off x="7226193" y="3481864"/>
              <a:ext cx="894060" cy="190690"/>
            </a:xfrm>
            <a:prstGeom prst="rect">
              <a:avLst/>
            </a:prstGeom>
            <a:noFill/>
            <a:ln>
              <a:noFill/>
            </a:ln>
          </p:spPr>
          <p:txBody>
            <a:bodyPr wrap="none" lIns="0" tIns="0" rIns="0" bIns="0" anchor="t" anchorCtr="0">
              <a:spAutoFit/>
            </a:bodyPr>
            <a:lstStyle/>
            <a:p>
              <a:pPr algn="r"/>
              <a:r>
                <a:rPr lang="en-US" sz="980" b="1" dirty="0">
                  <a:solidFill>
                    <a:schemeClr val="dk2"/>
                  </a:solidFill>
                  <a:latin typeface="+mn-lt"/>
                  <a:ea typeface="+mn-ea"/>
                  <a:cs typeface="+mn-cs"/>
                </a:rPr>
                <a:t>Buzz encoded</a:t>
              </a:r>
            </a:p>
          </p:txBody>
        </p:sp>
        <p:sp>
          <p:nvSpPr>
            <p:cNvPr id="38" name="TextBox 38"/>
            <p:cNvSpPr txBox="1"/>
            <p:nvPr/>
          </p:nvSpPr>
          <p:spPr>
            <a:xfrm>
              <a:off x="10920222" y="3481864"/>
              <a:ext cx="570928" cy="190690"/>
            </a:xfrm>
            <a:prstGeom prst="rect">
              <a:avLst/>
            </a:prstGeom>
            <a:noFill/>
            <a:ln>
              <a:noFill/>
            </a:ln>
          </p:spPr>
          <p:txBody>
            <a:bodyPr wrap="none" lIns="0" tIns="0" rIns="0" bIns="0" anchor="t" anchorCtr="0">
              <a:spAutoFit/>
            </a:bodyPr>
            <a:lstStyle/>
            <a:p>
              <a:pPr algn="l"/>
              <a:r>
                <a:rPr lang="en-US" sz="980" b="1" dirty="0">
                  <a:solidFill>
                    <a:srgbClr val="34D3C0"/>
                  </a:solidFill>
                  <a:latin typeface="+mn-lt"/>
                  <a:ea typeface="+mn-ea"/>
                  <a:cs typeface="+mn-cs"/>
                </a:rPr>
                <a:t>~89-91%</a:t>
              </a:r>
            </a:p>
          </p:txBody>
        </p:sp>
        <p:sp>
          <p:nvSpPr>
            <p:cNvPr id="39" name="Rectangle 39"/>
            <p:cNvSpPr/>
            <p:nvPr/>
          </p:nvSpPr>
          <p:spPr>
            <a:xfrm>
              <a:off x="8229600" y="3676650"/>
              <a:ext cx="2857500" cy="171450"/>
            </a:xfrm>
            <a:prstGeom prst="roundRect">
              <a:avLst>
                <a:gd name="adj" fmla="val 33333"/>
              </a:avLst>
            </a:prstGeom>
            <a:solidFill>
              <a:srgbClr val="0E2334"/>
            </a:solidFill>
            <a:ln w="9525">
              <a:solidFill>
                <a:srgbClr val="26455F"/>
              </a:solidFill>
            </a:ln>
          </p:spPr>
        </p:sp>
        <p:sp>
          <p:nvSpPr>
            <p:cNvPr id="40" name="Rectangle 40"/>
            <p:cNvSpPr/>
            <p:nvPr/>
          </p:nvSpPr>
          <p:spPr>
            <a:xfrm>
              <a:off x="8229600" y="3676650"/>
              <a:ext cx="2628900" cy="171450"/>
            </a:xfrm>
            <a:prstGeom prst="roundRect">
              <a:avLst>
                <a:gd name="adj" fmla="val 33333"/>
              </a:avLst>
            </a:prstGeom>
            <a:solidFill>
              <a:schemeClr val="dk2"/>
            </a:solidFill>
            <a:ln>
              <a:noFill/>
            </a:ln>
          </p:spPr>
        </p:sp>
        <p:sp>
          <p:nvSpPr>
            <p:cNvPr id="41" name="TextBox 41"/>
            <p:cNvSpPr txBox="1"/>
            <p:nvPr/>
          </p:nvSpPr>
          <p:spPr>
            <a:xfrm>
              <a:off x="7144148" y="3710464"/>
              <a:ext cx="976105" cy="190690"/>
            </a:xfrm>
            <a:prstGeom prst="rect">
              <a:avLst/>
            </a:prstGeom>
            <a:noFill/>
            <a:ln>
              <a:noFill/>
            </a:ln>
          </p:spPr>
          <p:txBody>
            <a:bodyPr wrap="none" lIns="0" tIns="0" rIns="0" bIns="0" anchor="t" anchorCtr="0">
              <a:spAutoFit/>
            </a:bodyPr>
            <a:lstStyle/>
            <a:p>
              <a:pPr algn="r"/>
              <a:r>
                <a:rPr lang="en-US" sz="980" b="1" dirty="0">
                  <a:solidFill>
                    <a:schemeClr val="dk2"/>
                  </a:solidFill>
                  <a:latin typeface="+mn-lt"/>
                  <a:ea typeface="+mn-ea"/>
                  <a:cs typeface="+mn-cs"/>
                </a:rPr>
                <a:t>MNIST raw acc</a:t>
              </a:r>
            </a:p>
          </p:txBody>
        </p:sp>
        <p:sp>
          <p:nvSpPr>
            <p:cNvPr id="42" name="TextBox 42"/>
            <p:cNvSpPr txBox="1"/>
            <p:nvPr/>
          </p:nvSpPr>
          <p:spPr>
            <a:xfrm>
              <a:off x="10948797" y="3710464"/>
              <a:ext cx="266175"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92%</a:t>
              </a:r>
            </a:p>
          </p:txBody>
        </p:sp>
        <p:sp>
          <p:nvSpPr>
            <p:cNvPr id="43" name="Rectangle 43"/>
            <p:cNvSpPr/>
            <p:nvPr/>
          </p:nvSpPr>
          <p:spPr>
            <a:xfrm>
              <a:off x="8229600" y="3905250"/>
              <a:ext cx="2857500" cy="171450"/>
            </a:xfrm>
            <a:prstGeom prst="roundRect">
              <a:avLst>
                <a:gd name="adj" fmla="val 33333"/>
              </a:avLst>
            </a:prstGeom>
            <a:solidFill>
              <a:srgbClr val="0E2334"/>
            </a:solidFill>
            <a:ln w="9525">
              <a:solidFill>
                <a:srgbClr val="26455F"/>
              </a:solidFill>
            </a:ln>
          </p:spPr>
        </p:sp>
        <p:sp>
          <p:nvSpPr>
            <p:cNvPr id="44" name="Rectangle 44"/>
            <p:cNvSpPr/>
            <p:nvPr/>
          </p:nvSpPr>
          <p:spPr>
            <a:xfrm>
              <a:off x="8229600" y="3905250"/>
              <a:ext cx="2428875" cy="171450"/>
            </a:xfrm>
            <a:prstGeom prst="roundRect">
              <a:avLst>
                <a:gd name="adj" fmla="val 33333"/>
              </a:avLst>
            </a:prstGeom>
            <a:solidFill>
              <a:srgbClr val="F2C14E"/>
            </a:solidFill>
            <a:ln>
              <a:noFill/>
            </a:ln>
          </p:spPr>
        </p:sp>
        <p:sp>
          <p:nvSpPr>
            <p:cNvPr id="45" name="TextBox 45"/>
            <p:cNvSpPr txBox="1"/>
            <p:nvPr/>
          </p:nvSpPr>
          <p:spPr>
            <a:xfrm>
              <a:off x="7139078" y="3939064"/>
              <a:ext cx="981175" cy="190690"/>
            </a:xfrm>
            <a:prstGeom prst="rect">
              <a:avLst/>
            </a:prstGeom>
            <a:noFill/>
            <a:ln>
              <a:noFill/>
            </a:ln>
          </p:spPr>
          <p:txBody>
            <a:bodyPr wrap="none" lIns="0" tIns="0" rIns="0" bIns="0" anchor="t" anchorCtr="0">
              <a:spAutoFit/>
            </a:bodyPr>
            <a:lstStyle/>
            <a:p>
              <a:pPr algn="r"/>
              <a:r>
                <a:rPr lang="en-US" sz="980" b="1" dirty="0">
                  <a:solidFill>
                    <a:schemeClr val="dk2"/>
                  </a:solidFill>
                  <a:latin typeface="+mn-lt"/>
                  <a:ea typeface="+mn-ea"/>
                  <a:cs typeface="+mn-cs"/>
                </a:rPr>
                <a:t>MNIST encoded</a:t>
              </a:r>
            </a:p>
          </p:txBody>
        </p:sp>
        <p:sp>
          <p:nvSpPr>
            <p:cNvPr id="46" name="TextBox 46"/>
            <p:cNvSpPr txBox="1"/>
            <p:nvPr/>
          </p:nvSpPr>
          <p:spPr>
            <a:xfrm>
              <a:off x="10748772" y="3939064"/>
              <a:ext cx="536297" cy="190690"/>
            </a:xfrm>
            <a:prstGeom prst="rect">
              <a:avLst/>
            </a:prstGeom>
            <a:noFill/>
            <a:ln>
              <a:noFill/>
            </a:ln>
          </p:spPr>
          <p:txBody>
            <a:bodyPr wrap="none" lIns="0" tIns="0" rIns="0" bIns="0" anchor="t" anchorCtr="0">
              <a:spAutoFit/>
            </a:bodyPr>
            <a:lstStyle/>
            <a:p>
              <a:pPr algn="l"/>
              <a:r>
                <a:rPr lang="en-US" sz="980" b="1" dirty="0">
                  <a:solidFill>
                    <a:srgbClr val="F2C14E"/>
                  </a:solidFill>
                  <a:latin typeface="+mn-lt"/>
                  <a:ea typeface="+mn-ea"/>
                  <a:cs typeface="+mn-cs"/>
                </a:rPr>
                <a:t>mid-80s</a:t>
              </a:r>
            </a:p>
          </p:txBody>
        </p:sp>
      </p:grpSp>
      <p:grpSp>
        <p:nvGrpSpPr>
          <p:cNvPr id="53" name="Group 53"/>
          <p:cNvGrpSpPr/>
          <p:nvPr/>
        </p:nvGrpSpPr>
        <p:grpSpPr>
          <a:xfrm>
            <a:off x="609600" y="4286250"/>
            <a:ext cx="10972800" cy="952500"/>
            <a:chOff x="609600" y="4286250"/>
            <a:chExt cx="10972800" cy="952500"/>
          </a:xfrm>
        </p:grpSpPr>
        <p:sp>
          <p:nvSpPr>
            <p:cNvPr id="48" name="Rectangle 48"/>
            <p:cNvSpPr/>
            <p:nvPr/>
          </p:nvSpPr>
          <p:spPr>
            <a:xfrm>
              <a:off x="609600" y="4286250"/>
              <a:ext cx="10972800" cy="952500"/>
            </a:xfrm>
            <a:prstGeom prst="roundRect">
              <a:avLst>
                <a:gd name="adj" fmla="val 14000"/>
              </a:avLst>
            </a:prstGeom>
            <a:solidFill>
              <a:srgbClr val="2A2417"/>
            </a:solidFill>
            <a:ln w="14288">
              <a:solidFill>
                <a:srgbClr val="F2C14E"/>
              </a:solidFill>
            </a:ln>
          </p:spPr>
        </p:sp>
        <p:sp>
          <p:nvSpPr>
            <p:cNvPr id="49" name="Rectangle 49"/>
            <p:cNvSpPr/>
            <p:nvPr/>
          </p:nvSpPr>
          <p:spPr>
            <a:xfrm>
              <a:off x="609600" y="4286250"/>
              <a:ext cx="57150" cy="952500"/>
            </a:xfrm>
            <a:prstGeom prst="roundRect">
              <a:avLst>
                <a:gd name="adj" fmla="val 50000"/>
              </a:avLst>
            </a:prstGeom>
            <a:solidFill>
              <a:srgbClr val="F2C14E"/>
            </a:solidFill>
            <a:ln>
              <a:noFill/>
            </a:ln>
          </p:spPr>
        </p:sp>
        <p:sp>
          <p:nvSpPr>
            <p:cNvPr id="50" name="TextBox 50"/>
            <p:cNvSpPr txBox="1"/>
            <p:nvPr/>
          </p:nvSpPr>
          <p:spPr>
            <a:xfrm>
              <a:off x="870204" y="4499610"/>
              <a:ext cx="4156663"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Guiding the latent space recovers much of the gap</a:t>
              </a:r>
            </a:p>
          </p:txBody>
        </p:sp>
        <p:sp>
          <p:nvSpPr>
            <p:cNvPr id="51" name="TextBox 51"/>
            <p:cNvSpPr txBox="1"/>
            <p:nvPr/>
          </p:nvSpPr>
          <p:spPr>
            <a:xfrm>
              <a:off x="870966" y="4801552"/>
              <a:ext cx="780395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The non-naive multitask scenarios, where the autoencoder is guided by the target variable, recover most of the</a:t>
              </a:r>
            </a:p>
          </p:txBody>
        </p:sp>
        <p:sp>
          <p:nvSpPr>
            <p:cNvPr id="52" name="TextBox 52"/>
            <p:cNvSpPr txBox="1"/>
            <p:nvPr/>
          </p:nvSpPr>
          <p:spPr>
            <a:xfrm>
              <a:off x="870966" y="5011102"/>
              <a:ext cx="305678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small loss, showing task-shaped codes help.</a:t>
              </a:r>
            </a:p>
          </p:txBody>
        </p:sp>
      </p:grpSp>
      <p:sp>
        <p:nvSpPr>
          <p:cNvPr id="54" name="cue_s07_c1_central_finding_sharing_encoded_repr" title="cue_s07_c1_central_finding_sharing_encoded_repr" descr="cue_s07_c1_central_finding_sharing_encoded_repr The central finding is that sharing encoded representations instead of raw features barely hurts predictive performance."/>
          <p:cNvSpPr/>
          <p:nvPr/>
        </p:nvSpPr>
        <p:spPr>
          <a:xfrm>
            <a:off x="609600" y="1504645"/>
            <a:ext cx="10972800" cy="1047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7_c2_house_pricing_raw_data_baseline_reac" title="cue_s07_c2_house_pricing_raw_data_baseline_reac" descr="cue_s07_c2_house_pricing_raw_data_baseline_reac On House Pricing, the raw-data baseline reaches a test R-squared of about ninety percent, and the two-peer scenario using individual autoencoders still reaches about eighty-nine percent, an almost negligible drop despite the data being obfuscated."/>
          <p:cNvSpPr/>
          <p:nvPr/>
        </p:nvSpPr>
        <p:spPr>
          <a:xfrm>
            <a:off x="609600" y="270479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7_c3_buzz_social_media_baseline_r_squared" title="cue_s07_c3_buzz_social_media_baseline_r_squared" descr="cue_s07_c3_buzz_social_media_baseline_r_squared On Buzz in Social Media, the baseline R-squared is around ninety-six percent and the encoded scenarios stay in the high eighties to low nineties. For MNIST digit classification, test accuracy moves from ninety-two percent at baseline down to the mid-eighties u"/>
          <p:cNvSpPr/>
          <p:nvPr/>
        </p:nvSpPr>
        <p:spPr>
          <a:xfrm>
            <a:off x="6248399" y="270479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7_c4_importantly_non_naive_multitask_scen" title="cue_s07_c4_importantly_non_naive_multitask_scen" descr="cue_s07_c4_importantly_non_naive_multitask_scen Importantly, the non-naive multitask scenarios, where the autoencoder is guided by the target variable, recover much of this gap, showing that shaping the latent space with the downstream task improves results."/>
          <p:cNvSpPr/>
          <p:nvPr/>
        </p:nvSpPr>
        <p:spPr>
          <a:xfrm>
            <a:off x="609600" y="4286250"/>
            <a:ext cx="10972800" cy="952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526448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Five scenarios isolate each choice</a:t>
            </a:r>
          </a:p>
        </p:txBody>
      </p:sp>
      <p:grpSp>
        <p:nvGrpSpPr>
          <p:cNvPr id="14" name="Group 14"/>
          <p:cNvGrpSpPr/>
          <p:nvPr/>
        </p:nvGrpSpPr>
        <p:grpSpPr>
          <a:xfrm>
            <a:off x="609600" y="1504950"/>
            <a:ext cx="5334000" cy="1428750"/>
            <a:chOff x="609600" y="1504950"/>
            <a:chExt cx="5334000" cy="1428750"/>
          </a:xfrm>
        </p:grpSpPr>
        <p:sp>
          <p:nvSpPr>
            <p:cNvPr id="5" name="Rectangle 5"/>
            <p:cNvSpPr/>
            <p:nvPr/>
          </p:nvSpPr>
          <p:spPr>
            <a:xfrm>
              <a:off x="609600" y="1504950"/>
              <a:ext cx="5334000" cy="1428750"/>
            </a:xfrm>
            <a:prstGeom prst="roundRect">
              <a:avLst>
                <a:gd name="adj" fmla="val 9333"/>
              </a:avLst>
            </a:prstGeom>
            <a:solidFill>
              <a:schemeClr val="accent5"/>
            </a:solidFill>
            <a:ln w="14288">
              <a:solidFill>
                <a:srgbClr val="26455F"/>
              </a:solidFill>
            </a:ln>
          </p:spPr>
        </p:sp>
        <p:sp>
          <p:nvSpPr>
            <p:cNvPr id="6" name="Rectangle 6"/>
            <p:cNvSpPr/>
            <p:nvPr/>
          </p:nvSpPr>
          <p:spPr>
            <a:xfrm>
              <a:off x="609600" y="1504950"/>
              <a:ext cx="57150" cy="1428750"/>
            </a:xfrm>
            <a:prstGeom prst="roundRect">
              <a:avLst>
                <a:gd name="adj" fmla="val 50000"/>
              </a:avLst>
            </a:prstGeom>
            <a:solidFill>
              <a:schemeClr val="accent2"/>
            </a:solidFill>
            <a:ln>
              <a:noFill/>
            </a:ln>
          </p:spPr>
        </p:sp>
        <p:sp>
          <p:nvSpPr>
            <p:cNvPr id="7" name="TextBox 7"/>
            <p:cNvSpPr txBox="1"/>
            <p:nvPr/>
          </p:nvSpPr>
          <p:spPr>
            <a:xfrm>
              <a:off x="870014" y="1733312"/>
              <a:ext cx="2655996"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An ablation over five scenarios</a:t>
              </a:r>
            </a:p>
          </p:txBody>
        </p:sp>
        <p:sp>
          <p:nvSpPr>
            <p:cNvPr id="8" name="TextBox 8"/>
            <p:cNvSpPr txBox="1"/>
            <p:nvPr/>
          </p:nvSpPr>
          <p:spPr>
            <a:xfrm>
              <a:off x="870966" y="2039302"/>
              <a:ext cx="393778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experiments are organized as an ablation across five</a:t>
              </a:r>
            </a:p>
          </p:txBody>
        </p:sp>
        <p:sp>
          <p:nvSpPr>
            <p:cNvPr id="9" name="TextBox 9"/>
            <p:cNvSpPr txBox="1"/>
            <p:nvPr/>
          </p:nvSpPr>
          <p:spPr>
            <a:xfrm>
              <a:off x="870966" y="2239328"/>
              <a:ext cx="36221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scenarios that isolate each design decision, from no</a:t>
              </a:r>
            </a:p>
          </p:txBody>
        </p:sp>
        <p:sp>
          <p:nvSpPr>
            <p:cNvPr id="10" name="TextBox 10"/>
            <p:cNvSpPr txBox="1"/>
            <p:nvPr/>
          </p:nvSpPr>
          <p:spPr>
            <a:xfrm>
              <a:off x="870966" y="2439352"/>
              <a:ext cx="228641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privacy to task-guided encoding.</a:t>
              </a:r>
            </a:p>
          </p:txBody>
        </p:sp>
        <p:sp>
          <p:nvSpPr>
            <p:cNvPr id="11" name="Rectangle 11"/>
            <p:cNvSpPr/>
            <p:nvPr/>
          </p:nvSpPr>
          <p:spPr>
            <a:xfrm>
              <a:off x="876300" y="2590800"/>
              <a:ext cx="4457700" cy="266700"/>
            </a:xfrm>
            <a:prstGeom prst="roundRect">
              <a:avLst>
                <a:gd name="adj" fmla="val 28571"/>
              </a:avLst>
            </a:prstGeom>
            <a:solidFill>
              <a:schemeClr val="accent6"/>
            </a:solidFill>
            <a:ln w="14288">
              <a:solidFill>
                <a:srgbClr val="26455F"/>
              </a:solidFill>
            </a:ln>
          </p:spPr>
        </p:sp>
        <p:sp>
          <p:nvSpPr>
            <p:cNvPr id="12" name="Ellipse 12"/>
            <p:cNvSpPr/>
            <p:nvPr/>
          </p:nvSpPr>
          <p:spPr>
            <a:xfrm>
              <a:off x="1000125" y="2676525"/>
              <a:ext cx="95250" cy="95250"/>
            </a:xfrm>
            <a:prstGeom prst="ellipse">
              <a:avLst/>
            </a:prstGeom>
            <a:solidFill>
              <a:schemeClr val="accent2"/>
            </a:solidFill>
            <a:ln>
              <a:noFill/>
            </a:ln>
          </p:spPr>
        </p:sp>
        <p:sp>
          <p:nvSpPr>
            <p:cNvPr id="13" name="TextBox 13"/>
            <p:cNvSpPr txBox="1"/>
            <p:nvPr/>
          </p:nvSpPr>
          <p:spPr>
            <a:xfrm>
              <a:off x="1194816" y="2667952"/>
              <a:ext cx="1759452"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Scenario 0 -&gt; Scenario 4</a:t>
              </a:r>
            </a:p>
          </p:txBody>
        </p:sp>
      </p:grpSp>
      <p:grpSp>
        <p:nvGrpSpPr>
          <p:cNvPr id="31" name="Group 31"/>
          <p:cNvGrpSpPr/>
          <p:nvPr/>
        </p:nvGrpSpPr>
        <p:grpSpPr>
          <a:xfrm>
            <a:off x="609600" y="3086100"/>
            <a:ext cx="5334000" cy="2152650"/>
            <a:chOff x="609600" y="3086100"/>
            <a:chExt cx="5334000" cy="2152650"/>
          </a:xfrm>
        </p:grpSpPr>
        <p:sp>
          <p:nvSpPr>
            <p:cNvPr id="15" name="Rectangle 15"/>
            <p:cNvSpPr/>
            <p:nvPr/>
          </p:nvSpPr>
          <p:spPr>
            <a:xfrm>
              <a:off x="609600" y="3086100"/>
              <a:ext cx="5334000" cy="2152650"/>
            </a:xfrm>
            <a:prstGeom prst="roundRect">
              <a:avLst>
                <a:gd name="adj" fmla="val 6195"/>
              </a:avLst>
            </a:prstGeom>
            <a:solidFill>
              <a:schemeClr val="accent5"/>
            </a:solidFill>
            <a:ln w="14288">
              <a:solidFill>
                <a:srgbClr val="26455F"/>
              </a:solidFill>
            </a:ln>
          </p:spPr>
        </p:sp>
        <p:sp>
          <p:nvSpPr>
            <p:cNvPr id="16" name="Rectangle 16"/>
            <p:cNvSpPr/>
            <p:nvPr/>
          </p:nvSpPr>
          <p:spPr>
            <a:xfrm>
              <a:off x="609600" y="3086100"/>
              <a:ext cx="57150" cy="2152650"/>
            </a:xfrm>
            <a:prstGeom prst="roundRect">
              <a:avLst>
                <a:gd name="adj" fmla="val 50000"/>
              </a:avLst>
            </a:prstGeom>
            <a:solidFill>
              <a:srgbClr val="34D3C0"/>
            </a:solidFill>
            <a:ln>
              <a:noFill/>
            </a:ln>
          </p:spPr>
        </p:sp>
        <p:sp>
          <p:nvSpPr>
            <p:cNvPr id="17" name="TextBox 17"/>
            <p:cNvSpPr txBox="1"/>
            <p:nvPr/>
          </p:nvSpPr>
          <p:spPr>
            <a:xfrm>
              <a:off x="870014" y="3295412"/>
              <a:ext cx="1877063"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Naive scenarios 0 to 2</a:t>
              </a:r>
            </a:p>
          </p:txBody>
        </p:sp>
        <p:sp>
          <p:nvSpPr>
            <p:cNvPr id="18" name="Rectangle 18"/>
            <p:cNvSpPr/>
            <p:nvPr/>
          </p:nvSpPr>
          <p:spPr>
            <a:xfrm>
              <a:off x="876300" y="3657600"/>
              <a:ext cx="4800600" cy="285750"/>
            </a:xfrm>
            <a:prstGeom prst="roundRect">
              <a:avLst>
                <a:gd name="adj" fmla="val 23333"/>
              </a:avLst>
            </a:prstGeom>
            <a:solidFill>
              <a:schemeClr val="accent6"/>
            </a:solidFill>
            <a:ln w="14288">
              <a:solidFill>
                <a:srgbClr val="26455F"/>
              </a:solidFill>
            </a:ln>
          </p:spPr>
        </p:sp>
        <p:sp>
          <p:nvSpPr>
            <p:cNvPr id="19" name="Rectangle 19"/>
            <p:cNvSpPr/>
            <p:nvPr/>
          </p:nvSpPr>
          <p:spPr>
            <a:xfrm>
              <a:off x="876300" y="3657600"/>
              <a:ext cx="323850" cy="285750"/>
            </a:xfrm>
            <a:prstGeom prst="roundRect">
              <a:avLst>
                <a:gd name="adj" fmla="val 23333"/>
              </a:avLst>
            </a:prstGeom>
            <a:solidFill>
              <a:schemeClr val="dk2"/>
            </a:solidFill>
            <a:ln>
              <a:noFill/>
            </a:ln>
          </p:spPr>
        </p:sp>
        <p:sp>
          <p:nvSpPr>
            <p:cNvPr id="20" name="TextBox 20"/>
            <p:cNvSpPr txBox="1"/>
            <p:nvPr/>
          </p:nvSpPr>
          <p:spPr>
            <a:xfrm>
              <a:off x="952771" y="3742849"/>
              <a:ext cx="170907" cy="190690"/>
            </a:xfrm>
            <a:prstGeom prst="rect">
              <a:avLst/>
            </a:prstGeom>
            <a:noFill/>
            <a:ln>
              <a:noFill/>
            </a:ln>
          </p:spPr>
          <p:txBody>
            <a:bodyPr wrap="none" lIns="0" tIns="0" rIns="0" bIns="0" anchor="t" anchorCtr="0">
              <a:spAutoFit/>
            </a:bodyPr>
            <a:lstStyle/>
            <a:p>
              <a:pPr algn="ctr"/>
              <a:r>
                <a:rPr lang="en-US" sz="980" b="1" dirty="0">
                  <a:solidFill>
                    <a:srgbClr val="0B1B2B"/>
                  </a:solidFill>
                  <a:latin typeface="+mn-lt"/>
                  <a:ea typeface="+mn-ea"/>
                  <a:cs typeface="+mn-cs"/>
                </a:rPr>
                <a:t>S0</a:t>
              </a:r>
            </a:p>
          </p:txBody>
        </p:sp>
        <p:sp>
          <p:nvSpPr>
            <p:cNvPr id="21" name="TextBox 21"/>
            <p:cNvSpPr txBox="1"/>
            <p:nvPr/>
          </p:nvSpPr>
          <p:spPr>
            <a:xfrm>
              <a:off x="1290638" y="3746897"/>
              <a:ext cx="2697966"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Raw-data baseline, no privacy protection</a:t>
              </a:r>
            </a:p>
          </p:txBody>
        </p:sp>
        <p:sp>
          <p:nvSpPr>
            <p:cNvPr id="22" name="Rectangle 22"/>
            <p:cNvSpPr/>
            <p:nvPr/>
          </p:nvSpPr>
          <p:spPr>
            <a:xfrm>
              <a:off x="876300" y="4019550"/>
              <a:ext cx="4800600" cy="285750"/>
            </a:xfrm>
            <a:prstGeom prst="roundRect">
              <a:avLst>
                <a:gd name="adj" fmla="val 23333"/>
              </a:avLst>
            </a:prstGeom>
            <a:solidFill>
              <a:schemeClr val="accent6"/>
            </a:solidFill>
            <a:ln w="14288">
              <a:solidFill>
                <a:srgbClr val="26455F"/>
              </a:solidFill>
            </a:ln>
          </p:spPr>
        </p:sp>
        <p:sp>
          <p:nvSpPr>
            <p:cNvPr id="23" name="Rectangle 23"/>
            <p:cNvSpPr/>
            <p:nvPr/>
          </p:nvSpPr>
          <p:spPr>
            <a:xfrm>
              <a:off x="876300" y="4019550"/>
              <a:ext cx="323850" cy="285750"/>
            </a:xfrm>
            <a:prstGeom prst="roundRect">
              <a:avLst>
                <a:gd name="adj" fmla="val 23333"/>
              </a:avLst>
            </a:prstGeom>
            <a:solidFill>
              <a:schemeClr val="accent2"/>
            </a:solidFill>
            <a:ln>
              <a:noFill/>
            </a:ln>
          </p:spPr>
        </p:sp>
        <p:sp>
          <p:nvSpPr>
            <p:cNvPr id="24" name="TextBox 24"/>
            <p:cNvSpPr txBox="1"/>
            <p:nvPr/>
          </p:nvSpPr>
          <p:spPr>
            <a:xfrm>
              <a:off x="952771" y="4104799"/>
              <a:ext cx="170907" cy="190690"/>
            </a:xfrm>
            <a:prstGeom prst="rect">
              <a:avLst/>
            </a:prstGeom>
            <a:noFill/>
            <a:ln>
              <a:noFill/>
            </a:ln>
          </p:spPr>
          <p:txBody>
            <a:bodyPr wrap="none" lIns="0" tIns="0" rIns="0" bIns="0" anchor="t" anchorCtr="0">
              <a:spAutoFit/>
            </a:bodyPr>
            <a:lstStyle/>
            <a:p>
              <a:pPr algn="ctr"/>
              <a:r>
                <a:rPr lang="en-US" sz="980" b="1" dirty="0">
                  <a:solidFill>
                    <a:srgbClr val="0B1B2B"/>
                  </a:solidFill>
                  <a:latin typeface="+mn-lt"/>
                  <a:ea typeface="+mn-ea"/>
                  <a:cs typeface="+mn-cs"/>
                </a:rPr>
                <a:t>S1</a:t>
              </a:r>
            </a:p>
          </p:txBody>
        </p:sp>
        <p:sp>
          <p:nvSpPr>
            <p:cNvPr id="25" name="TextBox 25"/>
            <p:cNvSpPr txBox="1"/>
            <p:nvPr/>
          </p:nvSpPr>
          <p:spPr>
            <a:xfrm>
              <a:off x="1290638" y="4108847"/>
              <a:ext cx="3030050"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Single shared autoencoder on one combined set</a:t>
              </a:r>
            </a:p>
          </p:txBody>
        </p:sp>
        <p:sp>
          <p:nvSpPr>
            <p:cNvPr id="26" name="Rectangle 26"/>
            <p:cNvSpPr/>
            <p:nvPr/>
          </p:nvSpPr>
          <p:spPr>
            <a:xfrm>
              <a:off x="876300" y="4381500"/>
              <a:ext cx="4800600" cy="285750"/>
            </a:xfrm>
            <a:prstGeom prst="roundRect">
              <a:avLst>
                <a:gd name="adj" fmla="val 23333"/>
              </a:avLst>
            </a:prstGeom>
            <a:solidFill>
              <a:schemeClr val="accent6"/>
            </a:solidFill>
            <a:ln w="14288">
              <a:solidFill>
                <a:srgbClr val="26455F"/>
              </a:solidFill>
            </a:ln>
          </p:spPr>
        </p:sp>
        <p:sp>
          <p:nvSpPr>
            <p:cNvPr id="27" name="Rectangle 27"/>
            <p:cNvSpPr/>
            <p:nvPr/>
          </p:nvSpPr>
          <p:spPr>
            <a:xfrm>
              <a:off x="876300" y="4381500"/>
              <a:ext cx="323850" cy="285750"/>
            </a:xfrm>
            <a:prstGeom prst="roundRect">
              <a:avLst>
                <a:gd name="adj" fmla="val 23333"/>
              </a:avLst>
            </a:prstGeom>
            <a:solidFill>
              <a:srgbClr val="34D3C0"/>
            </a:solidFill>
            <a:ln>
              <a:noFill/>
            </a:ln>
          </p:spPr>
        </p:sp>
        <p:sp>
          <p:nvSpPr>
            <p:cNvPr id="28" name="TextBox 28"/>
            <p:cNvSpPr txBox="1"/>
            <p:nvPr/>
          </p:nvSpPr>
          <p:spPr>
            <a:xfrm>
              <a:off x="952771" y="4466749"/>
              <a:ext cx="170907" cy="190690"/>
            </a:xfrm>
            <a:prstGeom prst="rect">
              <a:avLst/>
            </a:prstGeom>
            <a:noFill/>
            <a:ln>
              <a:noFill/>
            </a:ln>
          </p:spPr>
          <p:txBody>
            <a:bodyPr wrap="none" lIns="0" tIns="0" rIns="0" bIns="0" anchor="t" anchorCtr="0">
              <a:spAutoFit/>
            </a:bodyPr>
            <a:lstStyle/>
            <a:p>
              <a:pPr algn="ctr"/>
              <a:r>
                <a:rPr lang="en-US" sz="980" b="1" dirty="0">
                  <a:solidFill>
                    <a:srgbClr val="0B1B2B"/>
                  </a:solidFill>
                  <a:latin typeface="+mn-lt"/>
                  <a:ea typeface="+mn-ea"/>
                  <a:cs typeface="+mn-cs"/>
                </a:rPr>
                <a:t>S2</a:t>
              </a:r>
            </a:p>
          </p:txBody>
        </p:sp>
        <p:sp>
          <p:nvSpPr>
            <p:cNvPr id="29" name="TextBox 29"/>
            <p:cNvSpPr txBox="1"/>
            <p:nvPr/>
          </p:nvSpPr>
          <p:spPr>
            <a:xfrm>
              <a:off x="1290638" y="4470797"/>
              <a:ext cx="2892688"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Two peers, individual AEs, embeddings joined</a:t>
              </a:r>
            </a:p>
          </p:txBody>
        </p:sp>
        <p:sp>
          <p:nvSpPr>
            <p:cNvPr id="30" name="TextBox 30"/>
            <p:cNvSpPr txBox="1"/>
            <p:nvPr/>
          </p:nvSpPr>
          <p:spPr>
            <a:xfrm>
              <a:off x="871538" y="4817745"/>
              <a:ext cx="3361664" cy="176212"/>
            </a:xfrm>
            <a:prstGeom prst="rect">
              <a:avLst/>
            </a:prstGeom>
            <a:noFill/>
            <a:ln>
              <a:noFill/>
            </a:ln>
          </p:spPr>
          <p:txBody>
            <a:bodyPr wrap="none" lIns="0" tIns="0" rIns="0" bIns="0" anchor="t" anchorCtr="0">
              <a:spAutoFit/>
            </a:bodyPr>
            <a:lstStyle/>
            <a:p>
              <a:pPr algn="l"/>
              <a:r>
                <a:rPr lang="en-US" sz="900" b="1" dirty="0">
                  <a:solidFill>
                    <a:srgbClr val="6E869C"/>
                  </a:solidFill>
                  <a:latin typeface="+mn-lt"/>
                  <a:ea typeface="+mn-ea"/>
                  <a:cs typeface="+mn-cs"/>
                </a:rPr>
                <a:t>each step adds obfuscation while sharing latent codes</a:t>
              </a:r>
            </a:p>
          </p:txBody>
        </p:sp>
      </p:grpSp>
      <p:grpSp>
        <p:nvGrpSpPr>
          <p:cNvPr id="38" name="Group 38"/>
          <p:cNvGrpSpPr/>
          <p:nvPr/>
        </p:nvGrpSpPr>
        <p:grpSpPr>
          <a:xfrm>
            <a:off x="6248400" y="1504950"/>
            <a:ext cx="5334000" cy="1428750"/>
            <a:chOff x="6248400" y="1504950"/>
            <a:chExt cx="5334000" cy="1428750"/>
          </a:xfrm>
        </p:grpSpPr>
        <p:sp>
          <p:nvSpPr>
            <p:cNvPr id="32" name="Rectangle 32"/>
            <p:cNvSpPr/>
            <p:nvPr/>
          </p:nvSpPr>
          <p:spPr>
            <a:xfrm>
              <a:off x="6248400" y="1504950"/>
              <a:ext cx="5334000" cy="1428750"/>
            </a:xfrm>
            <a:prstGeom prst="roundRect">
              <a:avLst>
                <a:gd name="adj" fmla="val 9333"/>
              </a:avLst>
            </a:prstGeom>
            <a:solidFill>
              <a:srgbClr val="2A2417"/>
            </a:solidFill>
            <a:ln w="14288">
              <a:solidFill>
                <a:srgbClr val="F2C14E"/>
              </a:solidFill>
            </a:ln>
          </p:spPr>
        </p:sp>
        <p:sp>
          <p:nvSpPr>
            <p:cNvPr id="33" name="Rectangle 33"/>
            <p:cNvSpPr/>
            <p:nvPr/>
          </p:nvSpPr>
          <p:spPr>
            <a:xfrm>
              <a:off x="6248400" y="1504950"/>
              <a:ext cx="57150" cy="1428750"/>
            </a:xfrm>
            <a:prstGeom prst="roundRect">
              <a:avLst>
                <a:gd name="adj" fmla="val 50000"/>
              </a:avLst>
            </a:prstGeom>
            <a:solidFill>
              <a:srgbClr val="F2C14E"/>
            </a:solidFill>
            <a:ln>
              <a:noFill/>
            </a:ln>
          </p:spPr>
        </p:sp>
        <p:sp>
          <p:nvSpPr>
            <p:cNvPr id="34" name="TextBox 34"/>
            <p:cNvSpPr txBox="1"/>
            <p:nvPr/>
          </p:nvSpPr>
          <p:spPr>
            <a:xfrm>
              <a:off x="6509004" y="1737360"/>
              <a:ext cx="2283044"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Non-naive scenarios 3 and 4</a:t>
              </a:r>
            </a:p>
          </p:txBody>
        </p:sp>
        <p:sp>
          <p:nvSpPr>
            <p:cNvPr id="35" name="TextBox 35"/>
            <p:cNvSpPr txBox="1"/>
            <p:nvPr/>
          </p:nvSpPr>
          <p:spPr>
            <a:xfrm>
              <a:off x="6509956" y="2043351"/>
              <a:ext cx="3897354"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Scenarios 3 and 4 repeat 1 and 2 but make the autoencoder</a:t>
              </a:r>
            </a:p>
          </p:txBody>
        </p:sp>
        <p:sp>
          <p:nvSpPr>
            <p:cNvPr id="36" name="TextBox 36"/>
            <p:cNvSpPr txBox="1"/>
            <p:nvPr/>
          </p:nvSpPr>
          <p:spPr>
            <a:xfrm>
              <a:off x="6509956" y="2243376"/>
              <a:ext cx="3679085"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multitask, also predicting the objective. The non-naive</a:t>
              </a:r>
            </a:p>
          </p:txBody>
        </p:sp>
        <p:sp>
          <p:nvSpPr>
            <p:cNvPr id="37" name="TextBox 37"/>
            <p:cNvSpPr txBox="1"/>
            <p:nvPr/>
          </p:nvSpPr>
          <p:spPr>
            <a:xfrm>
              <a:off x="6509956" y="2443401"/>
              <a:ext cx="2688821"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variants beat their naive counterparts.</a:t>
              </a:r>
            </a:p>
          </p:txBody>
        </p:sp>
      </p:grpSp>
      <p:grpSp>
        <p:nvGrpSpPr>
          <p:cNvPr id="56" name="Group 56"/>
          <p:cNvGrpSpPr/>
          <p:nvPr/>
        </p:nvGrpSpPr>
        <p:grpSpPr>
          <a:xfrm>
            <a:off x="6248400" y="3086100"/>
            <a:ext cx="5696457" cy="2152650"/>
            <a:chOff x="6248400" y="3086100"/>
            <a:chExt cx="5696457" cy="2152650"/>
          </a:xfrm>
        </p:grpSpPr>
        <p:sp>
          <p:nvSpPr>
            <p:cNvPr id="39" name="Rectangle 39"/>
            <p:cNvSpPr/>
            <p:nvPr/>
          </p:nvSpPr>
          <p:spPr>
            <a:xfrm>
              <a:off x="6248400" y="3086100"/>
              <a:ext cx="5334000" cy="2152650"/>
            </a:xfrm>
            <a:prstGeom prst="roundRect">
              <a:avLst>
                <a:gd name="adj" fmla="val 6195"/>
              </a:avLst>
            </a:prstGeom>
            <a:solidFill>
              <a:srgbClr val="0F2E2B"/>
            </a:solidFill>
            <a:ln w="14288">
              <a:solidFill>
                <a:srgbClr val="48C78E"/>
              </a:solidFill>
            </a:ln>
          </p:spPr>
        </p:sp>
        <p:sp>
          <p:nvSpPr>
            <p:cNvPr id="40" name="Rectangle 40"/>
            <p:cNvSpPr/>
            <p:nvPr/>
          </p:nvSpPr>
          <p:spPr>
            <a:xfrm>
              <a:off x="6248400" y="3086100"/>
              <a:ext cx="57150" cy="2152650"/>
            </a:xfrm>
            <a:prstGeom prst="roundRect">
              <a:avLst>
                <a:gd name="adj" fmla="val 50000"/>
              </a:avLst>
            </a:prstGeom>
            <a:solidFill>
              <a:srgbClr val="48C78E"/>
            </a:solidFill>
            <a:ln>
              <a:noFill/>
            </a:ln>
          </p:spPr>
        </p:sp>
        <p:sp>
          <p:nvSpPr>
            <p:cNvPr id="41" name="TextBox 41"/>
            <p:cNvSpPr txBox="1"/>
            <p:nvPr/>
          </p:nvSpPr>
          <p:spPr>
            <a:xfrm>
              <a:off x="6509194" y="3303508"/>
              <a:ext cx="2829336" cy="227362"/>
            </a:xfrm>
            <a:prstGeom prst="rect">
              <a:avLst/>
            </a:prstGeom>
            <a:noFill/>
            <a:ln>
              <a:noFill/>
            </a:ln>
          </p:spPr>
          <p:txBody>
            <a:bodyPr wrap="none" lIns="0" tIns="0" rIns="0" bIns="0" anchor="t" anchorCtr="0">
              <a:spAutoFit/>
            </a:bodyPr>
            <a:lstStyle/>
            <a:p>
              <a:pPr algn="l"/>
              <a:r>
                <a:rPr lang="en-US" sz="1160" b="1" dirty="0">
                  <a:solidFill>
                    <a:srgbClr val="48C78E"/>
                  </a:solidFill>
                  <a:latin typeface="+mn-lt"/>
                  <a:ea typeface="+mn-ea"/>
                  <a:cs typeface="+mn-cs"/>
                </a:rPr>
                <a:t>Task-guided codes lift the numbers</a:t>
              </a:r>
            </a:p>
          </p:txBody>
        </p:sp>
        <p:sp>
          <p:nvSpPr>
            <p:cNvPr id="42" name="TextBox 42"/>
            <p:cNvSpPr txBox="1"/>
            <p:nvPr/>
          </p:nvSpPr>
          <p:spPr>
            <a:xfrm>
              <a:off x="6509956" y="3586401"/>
              <a:ext cx="357017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Guiding the latent space with the target clearly helps</a:t>
              </a:r>
            </a:p>
          </p:txBody>
        </p:sp>
        <p:sp>
          <p:nvSpPr>
            <p:cNvPr id="43" name="TextBox 43"/>
            <p:cNvSpPr txBox="1"/>
            <p:nvPr/>
          </p:nvSpPr>
          <p:spPr>
            <a:xfrm>
              <a:off x="6509956" y="3776901"/>
              <a:ext cx="117279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across datasets.</a:t>
              </a:r>
            </a:p>
          </p:txBody>
        </p:sp>
        <p:sp>
          <p:nvSpPr>
            <p:cNvPr id="44" name="Rectangle 44"/>
            <p:cNvSpPr/>
            <p:nvPr/>
          </p:nvSpPr>
          <p:spPr>
            <a:xfrm>
              <a:off x="8496300" y="4152900"/>
              <a:ext cx="2857500" cy="190500"/>
            </a:xfrm>
            <a:prstGeom prst="roundRect">
              <a:avLst>
                <a:gd name="adj" fmla="val 30000"/>
              </a:avLst>
            </a:prstGeom>
            <a:solidFill>
              <a:srgbClr val="0E2334"/>
            </a:solidFill>
            <a:ln w="9525">
              <a:solidFill>
                <a:srgbClr val="26455F"/>
              </a:solidFill>
            </a:ln>
          </p:spPr>
        </p:sp>
        <p:sp>
          <p:nvSpPr>
            <p:cNvPr id="45" name="Rectangle 45"/>
            <p:cNvSpPr/>
            <p:nvPr/>
          </p:nvSpPr>
          <p:spPr>
            <a:xfrm>
              <a:off x="8496300" y="4152900"/>
              <a:ext cx="2609850" cy="190500"/>
            </a:xfrm>
            <a:prstGeom prst="roundRect">
              <a:avLst>
                <a:gd name="adj" fmla="val 30000"/>
              </a:avLst>
            </a:prstGeom>
            <a:solidFill>
              <a:schemeClr val="dk2"/>
            </a:solidFill>
            <a:ln>
              <a:noFill/>
            </a:ln>
          </p:spPr>
        </p:sp>
        <p:sp>
          <p:nvSpPr>
            <p:cNvPr id="46" name="TextBox 46"/>
            <p:cNvSpPr txBox="1"/>
            <p:nvPr/>
          </p:nvSpPr>
          <p:spPr>
            <a:xfrm>
              <a:off x="7508136" y="4200049"/>
              <a:ext cx="878817" cy="190690"/>
            </a:xfrm>
            <a:prstGeom prst="rect">
              <a:avLst/>
            </a:prstGeom>
            <a:noFill/>
            <a:ln>
              <a:noFill/>
            </a:ln>
          </p:spPr>
          <p:txBody>
            <a:bodyPr wrap="none" lIns="0" tIns="0" rIns="0" bIns="0" anchor="t" anchorCtr="0">
              <a:spAutoFit/>
            </a:bodyPr>
            <a:lstStyle/>
            <a:p>
              <a:pPr algn="r"/>
              <a:r>
                <a:rPr lang="en-US" sz="980" b="1" dirty="0">
                  <a:solidFill>
                    <a:schemeClr val="dk2"/>
                  </a:solidFill>
                  <a:latin typeface="+mn-lt"/>
                  <a:ea typeface="+mn-ea"/>
                  <a:cs typeface="+mn-cs"/>
                </a:rPr>
                <a:t>Buzz R2 (S1)</a:t>
              </a:r>
            </a:p>
          </p:txBody>
        </p:sp>
        <p:sp>
          <p:nvSpPr>
            <p:cNvPr id="47" name="TextBox 47"/>
            <p:cNvSpPr txBox="1"/>
            <p:nvPr/>
          </p:nvSpPr>
          <p:spPr>
            <a:xfrm>
              <a:off x="11196447" y="4200049"/>
              <a:ext cx="494740"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91.55%</a:t>
              </a:r>
            </a:p>
          </p:txBody>
        </p:sp>
        <p:sp>
          <p:nvSpPr>
            <p:cNvPr id="48" name="Rectangle 48"/>
            <p:cNvSpPr/>
            <p:nvPr/>
          </p:nvSpPr>
          <p:spPr>
            <a:xfrm>
              <a:off x="8496300" y="4438650"/>
              <a:ext cx="2857500" cy="190500"/>
            </a:xfrm>
            <a:prstGeom prst="roundRect">
              <a:avLst>
                <a:gd name="adj" fmla="val 30000"/>
              </a:avLst>
            </a:prstGeom>
            <a:solidFill>
              <a:srgbClr val="0E2334"/>
            </a:solidFill>
            <a:ln w="9525">
              <a:solidFill>
                <a:srgbClr val="26455F"/>
              </a:solidFill>
            </a:ln>
          </p:spPr>
        </p:sp>
        <p:sp>
          <p:nvSpPr>
            <p:cNvPr id="49" name="Rectangle 49"/>
            <p:cNvSpPr/>
            <p:nvPr/>
          </p:nvSpPr>
          <p:spPr>
            <a:xfrm>
              <a:off x="8496300" y="4438650"/>
              <a:ext cx="2686050" cy="190500"/>
            </a:xfrm>
            <a:prstGeom prst="roundRect">
              <a:avLst>
                <a:gd name="adj" fmla="val 30000"/>
              </a:avLst>
            </a:prstGeom>
            <a:solidFill>
              <a:srgbClr val="48C78E"/>
            </a:solidFill>
            <a:ln>
              <a:noFill/>
            </a:ln>
          </p:spPr>
        </p:sp>
        <p:sp>
          <p:nvSpPr>
            <p:cNvPr id="50" name="TextBox 50"/>
            <p:cNvSpPr txBox="1"/>
            <p:nvPr/>
          </p:nvSpPr>
          <p:spPr>
            <a:xfrm>
              <a:off x="7508136" y="4485799"/>
              <a:ext cx="878817" cy="190690"/>
            </a:xfrm>
            <a:prstGeom prst="rect">
              <a:avLst/>
            </a:prstGeom>
            <a:noFill/>
            <a:ln>
              <a:noFill/>
            </a:ln>
          </p:spPr>
          <p:txBody>
            <a:bodyPr wrap="none" lIns="0" tIns="0" rIns="0" bIns="0" anchor="t" anchorCtr="0">
              <a:spAutoFit/>
            </a:bodyPr>
            <a:lstStyle/>
            <a:p>
              <a:pPr algn="r"/>
              <a:r>
                <a:rPr lang="en-US" sz="980" b="1" dirty="0">
                  <a:solidFill>
                    <a:schemeClr val="dk2"/>
                  </a:solidFill>
                  <a:latin typeface="+mn-lt"/>
                  <a:ea typeface="+mn-ea"/>
                  <a:cs typeface="+mn-cs"/>
                </a:rPr>
                <a:t>Buzz R2 (S3)</a:t>
              </a:r>
            </a:p>
          </p:txBody>
        </p:sp>
        <p:sp>
          <p:nvSpPr>
            <p:cNvPr id="51" name="TextBox 51"/>
            <p:cNvSpPr txBox="1"/>
            <p:nvPr/>
          </p:nvSpPr>
          <p:spPr>
            <a:xfrm>
              <a:off x="11272647" y="4485799"/>
              <a:ext cx="494740" cy="190690"/>
            </a:xfrm>
            <a:prstGeom prst="rect">
              <a:avLst/>
            </a:prstGeom>
            <a:noFill/>
            <a:ln>
              <a:noFill/>
            </a:ln>
          </p:spPr>
          <p:txBody>
            <a:bodyPr wrap="none" lIns="0" tIns="0" rIns="0" bIns="0" anchor="t" anchorCtr="0">
              <a:spAutoFit/>
            </a:bodyPr>
            <a:lstStyle/>
            <a:p>
              <a:pPr algn="l"/>
              <a:r>
                <a:rPr lang="en-US" sz="980" b="1" dirty="0">
                  <a:solidFill>
                    <a:srgbClr val="48C78E"/>
                  </a:solidFill>
                  <a:latin typeface="+mn-lt"/>
                  <a:ea typeface="+mn-ea"/>
                  <a:cs typeface="+mn-cs"/>
                </a:rPr>
                <a:t>94.03%</a:t>
              </a:r>
            </a:p>
          </p:txBody>
        </p:sp>
        <p:sp>
          <p:nvSpPr>
            <p:cNvPr id="52" name="Rectangle 52"/>
            <p:cNvSpPr/>
            <p:nvPr/>
          </p:nvSpPr>
          <p:spPr>
            <a:xfrm>
              <a:off x="8496300" y="4724400"/>
              <a:ext cx="2857500" cy="190500"/>
            </a:xfrm>
            <a:prstGeom prst="roundRect">
              <a:avLst>
                <a:gd name="adj" fmla="val 30000"/>
              </a:avLst>
            </a:prstGeom>
            <a:solidFill>
              <a:srgbClr val="0E2334"/>
            </a:solidFill>
            <a:ln w="9525">
              <a:solidFill>
                <a:srgbClr val="26455F"/>
              </a:solidFill>
            </a:ln>
          </p:spPr>
        </p:sp>
        <p:sp>
          <p:nvSpPr>
            <p:cNvPr id="53" name="Rectangle 53"/>
            <p:cNvSpPr/>
            <p:nvPr/>
          </p:nvSpPr>
          <p:spPr>
            <a:xfrm>
              <a:off x="8496300" y="4724400"/>
              <a:ext cx="2600325" cy="190500"/>
            </a:xfrm>
            <a:prstGeom prst="roundRect">
              <a:avLst>
                <a:gd name="adj" fmla="val 30000"/>
              </a:avLst>
            </a:prstGeom>
            <a:solidFill>
              <a:srgbClr val="34D3C0"/>
            </a:solidFill>
            <a:ln>
              <a:noFill/>
            </a:ln>
          </p:spPr>
        </p:sp>
        <p:sp>
          <p:nvSpPr>
            <p:cNvPr id="54" name="TextBox 54"/>
            <p:cNvSpPr txBox="1"/>
            <p:nvPr/>
          </p:nvSpPr>
          <p:spPr>
            <a:xfrm>
              <a:off x="7188943" y="4771549"/>
              <a:ext cx="1198010" cy="190690"/>
            </a:xfrm>
            <a:prstGeom prst="rect">
              <a:avLst/>
            </a:prstGeom>
            <a:noFill/>
            <a:ln>
              <a:noFill/>
            </a:ln>
          </p:spPr>
          <p:txBody>
            <a:bodyPr wrap="none" lIns="0" tIns="0" rIns="0" bIns="0" anchor="t" anchorCtr="0">
              <a:spAutoFit/>
            </a:bodyPr>
            <a:lstStyle/>
            <a:p>
              <a:pPr algn="r"/>
              <a:r>
                <a:rPr lang="en-US" sz="980" b="1" dirty="0">
                  <a:solidFill>
                    <a:schemeClr val="dk2"/>
                  </a:solidFill>
                  <a:latin typeface="+mn-lt"/>
                  <a:ea typeface="+mn-ea"/>
                  <a:cs typeface="+mn-cs"/>
                </a:rPr>
                <a:t>MNIST acc S1-&gt;S3</a:t>
              </a:r>
            </a:p>
          </p:txBody>
        </p:sp>
        <p:sp>
          <p:nvSpPr>
            <p:cNvPr id="55" name="TextBox 55"/>
            <p:cNvSpPr txBox="1"/>
            <p:nvPr/>
          </p:nvSpPr>
          <p:spPr>
            <a:xfrm>
              <a:off x="11186922" y="4771549"/>
              <a:ext cx="757935" cy="190690"/>
            </a:xfrm>
            <a:prstGeom prst="rect">
              <a:avLst/>
            </a:prstGeom>
            <a:noFill/>
            <a:ln>
              <a:noFill/>
            </a:ln>
          </p:spPr>
          <p:txBody>
            <a:bodyPr wrap="none" lIns="0" tIns="0" rIns="0" bIns="0" anchor="t" anchorCtr="0">
              <a:spAutoFit/>
            </a:bodyPr>
            <a:lstStyle/>
            <a:p>
              <a:pPr algn="l"/>
              <a:r>
                <a:rPr lang="en-US" sz="980" b="1" dirty="0">
                  <a:solidFill>
                    <a:srgbClr val="34D3C0"/>
                  </a:solidFill>
                  <a:latin typeface="+mn-lt"/>
                  <a:ea typeface="+mn-ea"/>
                  <a:cs typeface="+mn-cs"/>
                </a:rPr>
                <a:t>88% -&gt; 91%</a:t>
              </a:r>
            </a:p>
          </p:txBody>
        </p:sp>
      </p:grpSp>
      <p:sp>
        <p:nvSpPr>
          <p:cNvPr id="57" name="cue_s08_c1_experiments_organized_ablation_acros" title="cue_s08_c1_experiments_organized_ablation_acros" descr="cue_s08_c1_experiments_organized_ablation_acros The experiments are organized as an ablation across five scenarios that isolate each design decision."/>
          <p:cNvSpPr/>
          <p:nvPr/>
        </p:nvSpPr>
        <p:spPr>
          <a:xfrm>
            <a:off x="609600" y="15046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8_c2_scenario_zero_raw_data_baseline_priv" title="cue_s08_c2_scenario_zero_raw_data_baseline_priv" descr="cue_s08_c2_scenario_zero_raw_data_baseline_priv Scenario zero is the raw-data baseline with no privacy protection. Scenario one uses a single shared autoencoder to encode one combined dataset. Scenario two simulates two peers, each with its own autoencoder, whose embeddings are then joined."/>
          <p:cNvSpPr/>
          <p:nvPr/>
        </p:nvSpPr>
        <p:spPr>
          <a:xfrm>
            <a:off x="609600" y="3086100"/>
            <a:ext cx="5334000"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8_c3_scenarios_three_four_repeat_one" title="cue_s08_c3_scenarios_three_four_repeat_one" descr="cue_s08_c3_scenarios_three_four_repeat_one Scenarios three and four repeat one and two but make the autoencoder non-naive: it becomes a multitask network that also predicts the objective variable during encoding. The clear pattern is that the non-naive variants beat their naive counterparts."/>
          <p:cNvSpPr/>
          <p:nvPr/>
        </p:nvSpPr>
        <p:spPr>
          <a:xfrm>
            <a:off x="6248399" y="15046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8_c4_buzz_social_media_test_r_squared" title="cue_s08_c4_buzz_social_media_test_r_squared" descr="cue_s08_c4_buzz_social_media_test_r_squared On Buzz in Social Media, the test R-squared rises from about ninety-one and a half percent with the naive shared autoencoder to about ninety-four percent with the non-naive version, and on MNIST accuracy climbs from eighty-eight to ninety-one percent. Guiding"/>
          <p:cNvSpPr/>
          <p:nvPr/>
        </p:nvSpPr>
        <p:spPr>
          <a:xfrm>
            <a:off x="6248399" y="3086100"/>
            <a:ext cx="5696102"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56361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one place</a:t>
            </a:r>
          </a:p>
        </p:txBody>
      </p:sp>
      <p:grpSp>
        <p:nvGrpSpPr>
          <p:cNvPr id="17" name="Group 17"/>
          <p:cNvGrpSpPr/>
          <p:nvPr/>
        </p:nvGrpSpPr>
        <p:grpSpPr>
          <a:xfrm>
            <a:off x="609600" y="1581150"/>
            <a:ext cx="10972800" cy="1257300"/>
            <a:chOff x="609600" y="1581150"/>
            <a:chExt cx="10972800" cy="1257300"/>
          </a:xfrm>
        </p:grpSpPr>
        <p:sp>
          <p:nvSpPr>
            <p:cNvPr id="5" name="Rectangle 5"/>
            <p:cNvSpPr/>
            <p:nvPr/>
          </p:nvSpPr>
          <p:spPr>
            <a:xfrm>
              <a:off x="609600" y="1581150"/>
              <a:ext cx="10972800" cy="1257300"/>
            </a:xfrm>
            <a:prstGeom prst="roundRect">
              <a:avLst>
                <a:gd name="adj" fmla="val 10606"/>
              </a:avLst>
            </a:prstGeom>
            <a:solidFill>
              <a:schemeClr val="accent5"/>
            </a:solidFill>
            <a:ln w="14288">
              <a:solidFill>
                <a:srgbClr val="26455F"/>
              </a:solidFill>
            </a:ln>
          </p:spPr>
        </p:sp>
        <p:sp>
          <p:nvSpPr>
            <p:cNvPr id="6" name="Rectangle 6"/>
            <p:cNvSpPr/>
            <p:nvPr/>
          </p:nvSpPr>
          <p:spPr>
            <a:xfrm>
              <a:off x="609600" y="1581150"/>
              <a:ext cx="57150" cy="1257300"/>
            </a:xfrm>
            <a:prstGeom prst="roundRect">
              <a:avLst>
                <a:gd name="adj" fmla="val 50000"/>
              </a:avLst>
            </a:prstGeom>
            <a:solidFill>
              <a:srgbClr val="48C78E"/>
            </a:solidFill>
            <a:ln>
              <a:noFill/>
            </a:ln>
          </p:spPr>
        </p:sp>
        <p:sp>
          <p:nvSpPr>
            <p:cNvPr id="7" name="TextBox 7"/>
            <p:cNvSpPr txBox="1"/>
            <p:nvPr/>
          </p:nvSpPr>
          <p:spPr>
            <a:xfrm>
              <a:off x="870014" y="1790462"/>
              <a:ext cx="3453860"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Predictive power kept, data obfuscated</a:t>
              </a:r>
            </a:p>
          </p:txBody>
        </p:sp>
        <p:sp>
          <p:nvSpPr>
            <p:cNvPr id="8" name="Rectangle 8"/>
            <p:cNvSpPr/>
            <p:nvPr/>
          </p:nvSpPr>
          <p:spPr>
            <a:xfrm>
              <a:off x="876300" y="2095500"/>
              <a:ext cx="2381250" cy="628650"/>
            </a:xfrm>
            <a:prstGeom prst="roundRect">
              <a:avLst>
                <a:gd name="adj" fmla="val 18182"/>
              </a:avLst>
            </a:prstGeom>
            <a:solidFill>
              <a:schemeClr val="accent6"/>
            </a:solidFill>
            <a:ln w="14288">
              <a:solidFill>
                <a:srgbClr val="26455F"/>
              </a:solidFill>
            </a:ln>
          </p:spPr>
        </p:sp>
        <p:sp>
          <p:nvSpPr>
            <p:cNvPr id="9" name="TextBox 9"/>
            <p:cNvSpPr txBox="1"/>
            <p:nvPr/>
          </p:nvSpPr>
          <p:spPr>
            <a:xfrm>
              <a:off x="1636434" y="2230031"/>
              <a:ext cx="860981" cy="348524"/>
            </a:xfrm>
            <a:prstGeom prst="rect">
              <a:avLst/>
            </a:prstGeom>
            <a:noFill/>
            <a:ln>
              <a:noFill/>
            </a:ln>
          </p:spPr>
          <p:txBody>
            <a:bodyPr wrap="none" lIns="0" tIns="0" rIns="0" bIns="0" anchor="t" anchorCtr="0">
              <a:spAutoFit/>
            </a:bodyPr>
            <a:lstStyle/>
            <a:p>
              <a:pPr algn="ctr"/>
              <a:r>
                <a:rPr lang="en-US" sz="1780" b="1" dirty="0">
                  <a:solidFill>
                    <a:srgbClr val="48C78E"/>
                  </a:solidFill>
                  <a:latin typeface="+mn-lt"/>
                  <a:ea typeface="+mn-ea"/>
                  <a:cs typeface="+mn-cs"/>
                </a:rPr>
                <a:t>&lt; 10 pp</a:t>
              </a:r>
            </a:p>
          </p:txBody>
        </p:sp>
        <p:sp>
          <p:nvSpPr>
            <p:cNvPr id="10" name="TextBox 10"/>
            <p:cNvSpPr txBox="1"/>
            <p:nvPr/>
          </p:nvSpPr>
          <p:spPr>
            <a:xfrm>
              <a:off x="1279785" y="2513838"/>
              <a:ext cx="1574281"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performance drop vs raw</a:t>
              </a:r>
            </a:p>
          </p:txBody>
        </p:sp>
        <p:sp>
          <p:nvSpPr>
            <p:cNvPr id="11" name="Rectangle 11"/>
            <p:cNvSpPr/>
            <p:nvPr/>
          </p:nvSpPr>
          <p:spPr>
            <a:xfrm>
              <a:off x="3429000" y="2095500"/>
              <a:ext cx="2381250" cy="628650"/>
            </a:xfrm>
            <a:prstGeom prst="roundRect">
              <a:avLst>
                <a:gd name="adj" fmla="val 18182"/>
              </a:avLst>
            </a:prstGeom>
            <a:solidFill>
              <a:schemeClr val="accent6"/>
            </a:solidFill>
            <a:ln w="14288">
              <a:solidFill>
                <a:srgbClr val="26455F"/>
              </a:solidFill>
            </a:ln>
          </p:spPr>
        </p:sp>
        <p:sp>
          <p:nvSpPr>
            <p:cNvPr id="12" name="TextBox 12"/>
            <p:cNvSpPr txBox="1"/>
            <p:nvPr/>
          </p:nvSpPr>
          <p:spPr>
            <a:xfrm>
              <a:off x="4239455" y="2230031"/>
              <a:ext cx="760339" cy="348524"/>
            </a:xfrm>
            <a:prstGeom prst="rect">
              <a:avLst/>
            </a:prstGeom>
            <a:noFill/>
            <a:ln>
              <a:noFill/>
            </a:ln>
          </p:spPr>
          <p:txBody>
            <a:bodyPr wrap="none" lIns="0" tIns="0" rIns="0" bIns="0" anchor="t" anchorCtr="0">
              <a:spAutoFit/>
            </a:bodyPr>
            <a:lstStyle/>
            <a:p>
              <a:pPr algn="ctr"/>
              <a:r>
                <a:rPr lang="en-US" sz="1780" b="1" dirty="0">
                  <a:solidFill>
                    <a:srgbClr val="34D3C0"/>
                  </a:solidFill>
                  <a:latin typeface="+mn-lt"/>
                  <a:ea typeface="+mn-ea"/>
                  <a:cs typeface="+mn-cs"/>
                </a:rPr>
                <a:t>5-11%</a:t>
              </a:r>
            </a:p>
          </p:txBody>
        </p:sp>
        <p:sp>
          <p:nvSpPr>
            <p:cNvPr id="13" name="TextBox 13"/>
            <p:cNvSpPr txBox="1"/>
            <p:nvPr/>
          </p:nvSpPr>
          <p:spPr>
            <a:xfrm>
              <a:off x="3807042" y="2513838"/>
              <a:ext cx="1625167"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autoencoder recon. error</a:t>
              </a:r>
            </a:p>
          </p:txBody>
        </p:sp>
        <p:sp>
          <p:nvSpPr>
            <p:cNvPr id="14" name="Rectangle 14"/>
            <p:cNvSpPr/>
            <p:nvPr/>
          </p:nvSpPr>
          <p:spPr>
            <a:xfrm>
              <a:off x="6000750" y="2095500"/>
              <a:ext cx="5581650" cy="628650"/>
            </a:xfrm>
            <a:prstGeom prst="roundRect">
              <a:avLst>
                <a:gd name="adj" fmla="val 18182"/>
              </a:avLst>
            </a:prstGeom>
            <a:solidFill>
              <a:schemeClr val="accent6"/>
            </a:solidFill>
            <a:ln w="14288">
              <a:solidFill>
                <a:srgbClr val="26455F"/>
              </a:solidFill>
            </a:ln>
          </p:spPr>
        </p:sp>
        <p:sp>
          <p:nvSpPr>
            <p:cNvPr id="15" name="TextBox 15"/>
            <p:cNvSpPr txBox="1"/>
            <p:nvPr/>
          </p:nvSpPr>
          <p:spPr>
            <a:xfrm>
              <a:off x="6186297" y="2256949"/>
              <a:ext cx="493537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Across every use case, swapping raw features for shared latent codes cost</a:t>
              </a:r>
            </a:p>
          </p:txBody>
        </p:sp>
        <p:sp>
          <p:nvSpPr>
            <p:cNvPr id="16" name="TextBox 16"/>
            <p:cNvSpPr txBox="1"/>
            <p:nvPr/>
          </p:nvSpPr>
          <p:spPr>
            <a:xfrm>
              <a:off x="6186297" y="2447449"/>
              <a:ext cx="219330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under ten points of performance.</a:t>
              </a:r>
            </a:p>
          </p:txBody>
        </p:sp>
      </p:grpSp>
      <p:grpSp>
        <p:nvGrpSpPr>
          <p:cNvPr id="28" name="Group 28"/>
          <p:cNvGrpSpPr/>
          <p:nvPr/>
        </p:nvGrpSpPr>
        <p:grpSpPr>
          <a:xfrm>
            <a:off x="609600" y="2990850"/>
            <a:ext cx="5334000" cy="1428750"/>
            <a:chOff x="609600" y="2990850"/>
            <a:chExt cx="5334000" cy="1428750"/>
          </a:xfrm>
        </p:grpSpPr>
        <p:sp>
          <p:nvSpPr>
            <p:cNvPr id="18" name="Rectangle 18"/>
            <p:cNvSpPr/>
            <p:nvPr/>
          </p:nvSpPr>
          <p:spPr>
            <a:xfrm>
              <a:off x="609600" y="2990850"/>
              <a:ext cx="5334000" cy="1428750"/>
            </a:xfrm>
            <a:prstGeom prst="roundRect">
              <a:avLst>
                <a:gd name="adj" fmla="val 9333"/>
              </a:avLst>
            </a:prstGeom>
            <a:solidFill>
              <a:schemeClr val="accent5"/>
            </a:solidFill>
            <a:ln w="14288">
              <a:solidFill>
                <a:srgbClr val="26455F"/>
              </a:solidFill>
            </a:ln>
          </p:spPr>
        </p:sp>
        <p:sp>
          <p:nvSpPr>
            <p:cNvPr id="19" name="Rectangle 19"/>
            <p:cNvSpPr/>
            <p:nvPr/>
          </p:nvSpPr>
          <p:spPr>
            <a:xfrm>
              <a:off x="609600" y="2990850"/>
              <a:ext cx="57150" cy="1428750"/>
            </a:xfrm>
            <a:prstGeom prst="roundRect">
              <a:avLst>
                <a:gd name="adj" fmla="val 50000"/>
              </a:avLst>
            </a:prstGeom>
            <a:solidFill>
              <a:schemeClr val="accent2"/>
            </a:solidFill>
            <a:ln>
              <a:noFill/>
            </a:ln>
          </p:spPr>
        </p:sp>
        <p:sp>
          <p:nvSpPr>
            <p:cNvPr id="20" name="TextBox 20"/>
            <p:cNvSpPr txBox="1"/>
            <p:nvPr/>
          </p:nvSpPr>
          <p:spPr>
            <a:xfrm>
              <a:off x="870014" y="3200162"/>
              <a:ext cx="2071867"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House Pricing R-squared</a:t>
              </a:r>
            </a:p>
          </p:txBody>
        </p:sp>
        <p:sp>
          <p:nvSpPr>
            <p:cNvPr id="21" name="Rectangle 21"/>
            <p:cNvSpPr/>
            <p:nvPr/>
          </p:nvSpPr>
          <p:spPr>
            <a:xfrm>
              <a:off x="876300" y="3505200"/>
              <a:ext cx="2095500" cy="762000"/>
            </a:xfrm>
            <a:prstGeom prst="roundRect">
              <a:avLst>
                <a:gd name="adj" fmla="val 15000"/>
              </a:avLst>
            </a:prstGeom>
            <a:solidFill>
              <a:schemeClr val="accent6"/>
            </a:solidFill>
            <a:ln w="14288">
              <a:solidFill>
                <a:srgbClr val="26455F"/>
              </a:solidFill>
            </a:ln>
          </p:spPr>
        </p:sp>
        <p:sp>
          <p:nvSpPr>
            <p:cNvPr id="22" name="TextBox 22"/>
            <p:cNvSpPr txBox="1"/>
            <p:nvPr/>
          </p:nvSpPr>
          <p:spPr>
            <a:xfrm>
              <a:off x="1378770" y="3668268"/>
              <a:ext cx="1090559" cy="422453"/>
            </a:xfrm>
            <a:prstGeom prst="rect">
              <a:avLst/>
            </a:prstGeom>
            <a:noFill/>
            <a:ln>
              <a:noFill/>
            </a:ln>
          </p:spPr>
          <p:txBody>
            <a:bodyPr wrap="none" lIns="0" tIns="0" rIns="0" bIns="0" anchor="t" anchorCtr="0">
              <a:spAutoFit/>
            </a:bodyPr>
            <a:lstStyle/>
            <a:p>
              <a:pPr algn="ctr"/>
              <a:r>
                <a:rPr lang="en-US" sz="2160" b="1" dirty="0">
                  <a:solidFill>
                    <a:schemeClr val="dk2"/>
                  </a:solidFill>
                  <a:latin typeface="+mn-lt"/>
                  <a:ea typeface="+mn-ea"/>
                  <a:cs typeface="+mn-cs"/>
                </a:rPr>
                <a:t>90.29%</a:t>
              </a:r>
            </a:p>
          </p:txBody>
        </p:sp>
        <p:sp>
          <p:nvSpPr>
            <p:cNvPr id="23" name="TextBox 23"/>
            <p:cNvSpPr txBox="1"/>
            <p:nvPr/>
          </p:nvSpPr>
          <p:spPr>
            <a:xfrm>
              <a:off x="1534459" y="4032885"/>
              <a:ext cx="779181"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raw baseline</a:t>
              </a:r>
            </a:p>
          </p:txBody>
        </p:sp>
        <p:sp>
          <p:nvSpPr>
            <p:cNvPr id="24" name="TextBox 24"/>
            <p:cNvSpPr txBox="1"/>
            <p:nvPr/>
          </p:nvSpPr>
          <p:spPr>
            <a:xfrm>
              <a:off x="2924595" y="3732848"/>
              <a:ext cx="323010" cy="381381"/>
            </a:xfrm>
            <a:prstGeom prst="rect">
              <a:avLst/>
            </a:prstGeom>
            <a:noFill/>
            <a:ln>
              <a:noFill/>
            </a:ln>
          </p:spPr>
          <p:txBody>
            <a:bodyPr wrap="none" lIns="0" tIns="0" rIns="0" bIns="0" anchor="t" anchorCtr="0">
              <a:spAutoFit/>
            </a:bodyPr>
            <a:lstStyle/>
            <a:p>
              <a:pPr algn="ctr"/>
              <a:r>
                <a:rPr lang="en-US" sz="1950" b="1" dirty="0">
                  <a:solidFill>
                    <a:schemeClr val="dk2"/>
                  </a:solidFill>
                  <a:latin typeface="+mn-lt"/>
                  <a:ea typeface="+mn-ea"/>
                  <a:cs typeface="+mn-cs"/>
                </a:rPr>
                <a:t>-&gt;</a:t>
              </a:r>
            </a:p>
          </p:txBody>
        </p:sp>
        <p:sp>
          <p:nvSpPr>
            <p:cNvPr id="25" name="Rectangle 25"/>
            <p:cNvSpPr/>
            <p:nvPr/>
          </p:nvSpPr>
          <p:spPr>
            <a:xfrm>
              <a:off x="3524250" y="3505200"/>
              <a:ext cx="2095500" cy="762000"/>
            </a:xfrm>
            <a:prstGeom prst="roundRect">
              <a:avLst>
                <a:gd name="adj" fmla="val 15000"/>
              </a:avLst>
            </a:prstGeom>
            <a:solidFill>
              <a:schemeClr val="accent6"/>
            </a:solidFill>
            <a:ln w="14288">
              <a:solidFill>
                <a:srgbClr val="26455F"/>
              </a:solidFill>
            </a:ln>
          </p:spPr>
        </p:sp>
        <p:sp>
          <p:nvSpPr>
            <p:cNvPr id="26" name="TextBox 26"/>
            <p:cNvSpPr txBox="1"/>
            <p:nvPr/>
          </p:nvSpPr>
          <p:spPr>
            <a:xfrm>
              <a:off x="4026720" y="3668268"/>
              <a:ext cx="1090559" cy="422453"/>
            </a:xfrm>
            <a:prstGeom prst="rect">
              <a:avLst/>
            </a:prstGeom>
            <a:noFill/>
            <a:ln>
              <a:noFill/>
            </a:ln>
          </p:spPr>
          <p:txBody>
            <a:bodyPr wrap="none" lIns="0" tIns="0" rIns="0" bIns="0" anchor="t" anchorCtr="0">
              <a:spAutoFit/>
            </a:bodyPr>
            <a:lstStyle/>
            <a:p>
              <a:pPr algn="ctr"/>
              <a:r>
                <a:rPr lang="en-US" sz="2160" b="1" dirty="0">
                  <a:solidFill>
                    <a:srgbClr val="34D3C0"/>
                  </a:solidFill>
                  <a:latin typeface="+mn-lt"/>
                  <a:ea typeface="+mn-ea"/>
                  <a:cs typeface="+mn-cs"/>
                </a:rPr>
                <a:t>89.33%</a:t>
              </a:r>
            </a:p>
          </p:txBody>
        </p:sp>
        <p:sp>
          <p:nvSpPr>
            <p:cNvPr id="27" name="TextBox 27"/>
            <p:cNvSpPr txBox="1"/>
            <p:nvPr/>
          </p:nvSpPr>
          <p:spPr>
            <a:xfrm>
              <a:off x="4016339" y="4032885"/>
              <a:ext cx="1111323"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two individual AEs</a:t>
              </a:r>
            </a:p>
          </p:txBody>
        </p:sp>
      </p:grpSp>
      <p:grpSp>
        <p:nvGrpSpPr>
          <p:cNvPr id="39" name="Group 39"/>
          <p:cNvGrpSpPr/>
          <p:nvPr/>
        </p:nvGrpSpPr>
        <p:grpSpPr>
          <a:xfrm>
            <a:off x="6248400" y="2990850"/>
            <a:ext cx="5334000" cy="1428750"/>
            <a:chOff x="6248400" y="2990850"/>
            <a:chExt cx="5334000" cy="1428750"/>
          </a:xfrm>
        </p:grpSpPr>
        <p:sp>
          <p:nvSpPr>
            <p:cNvPr id="29" name="Rectangle 29"/>
            <p:cNvSpPr/>
            <p:nvPr/>
          </p:nvSpPr>
          <p:spPr>
            <a:xfrm>
              <a:off x="6248400" y="2990850"/>
              <a:ext cx="5334000" cy="1428750"/>
            </a:xfrm>
            <a:prstGeom prst="roundRect">
              <a:avLst>
                <a:gd name="adj" fmla="val 9333"/>
              </a:avLst>
            </a:prstGeom>
            <a:solidFill>
              <a:schemeClr val="accent5"/>
            </a:solidFill>
            <a:ln w="14288">
              <a:solidFill>
                <a:srgbClr val="26455F"/>
              </a:solidFill>
            </a:ln>
          </p:spPr>
        </p:sp>
        <p:sp>
          <p:nvSpPr>
            <p:cNvPr id="30" name="Rectangle 30"/>
            <p:cNvSpPr/>
            <p:nvPr/>
          </p:nvSpPr>
          <p:spPr>
            <a:xfrm>
              <a:off x="6248400" y="2990850"/>
              <a:ext cx="57150" cy="1428750"/>
            </a:xfrm>
            <a:prstGeom prst="roundRect">
              <a:avLst>
                <a:gd name="adj" fmla="val 50000"/>
              </a:avLst>
            </a:prstGeom>
            <a:solidFill>
              <a:srgbClr val="F2C14E"/>
            </a:solidFill>
            <a:ln>
              <a:noFill/>
            </a:ln>
          </p:spPr>
        </p:sp>
        <p:sp>
          <p:nvSpPr>
            <p:cNvPr id="31" name="TextBox 31"/>
            <p:cNvSpPr txBox="1"/>
            <p:nvPr/>
          </p:nvSpPr>
          <p:spPr>
            <a:xfrm>
              <a:off x="6509004" y="3204210"/>
              <a:ext cx="2528206"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Buzz in Social Media R-squared</a:t>
              </a:r>
            </a:p>
          </p:txBody>
        </p:sp>
        <p:sp>
          <p:nvSpPr>
            <p:cNvPr id="32" name="Rectangle 32"/>
            <p:cNvSpPr/>
            <p:nvPr/>
          </p:nvSpPr>
          <p:spPr>
            <a:xfrm>
              <a:off x="6515100" y="3505200"/>
              <a:ext cx="2095500" cy="762000"/>
            </a:xfrm>
            <a:prstGeom prst="roundRect">
              <a:avLst>
                <a:gd name="adj" fmla="val 15000"/>
              </a:avLst>
            </a:prstGeom>
            <a:solidFill>
              <a:schemeClr val="accent6"/>
            </a:solidFill>
            <a:ln w="14288">
              <a:solidFill>
                <a:srgbClr val="26455F"/>
              </a:solidFill>
            </a:ln>
          </p:spPr>
        </p:sp>
        <p:sp>
          <p:nvSpPr>
            <p:cNvPr id="33" name="TextBox 33"/>
            <p:cNvSpPr txBox="1"/>
            <p:nvPr/>
          </p:nvSpPr>
          <p:spPr>
            <a:xfrm>
              <a:off x="7017570" y="3668268"/>
              <a:ext cx="1090559" cy="422453"/>
            </a:xfrm>
            <a:prstGeom prst="rect">
              <a:avLst/>
            </a:prstGeom>
            <a:noFill/>
            <a:ln>
              <a:noFill/>
            </a:ln>
          </p:spPr>
          <p:txBody>
            <a:bodyPr wrap="none" lIns="0" tIns="0" rIns="0" bIns="0" anchor="t" anchorCtr="0">
              <a:spAutoFit/>
            </a:bodyPr>
            <a:lstStyle/>
            <a:p>
              <a:pPr algn="ctr"/>
              <a:r>
                <a:rPr lang="en-US" sz="2160" b="1" dirty="0">
                  <a:solidFill>
                    <a:schemeClr val="dk2"/>
                  </a:solidFill>
                  <a:latin typeface="+mn-lt"/>
                  <a:ea typeface="+mn-ea"/>
                  <a:cs typeface="+mn-cs"/>
                </a:rPr>
                <a:t>96.19%</a:t>
              </a:r>
            </a:p>
          </p:txBody>
        </p:sp>
        <p:sp>
          <p:nvSpPr>
            <p:cNvPr id="34" name="TextBox 34"/>
            <p:cNvSpPr txBox="1"/>
            <p:nvPr/>
          </p:nvSpPr>
          <p:spPr>
            <a:xfrm>
              <a:off x="7173259" y="4032885"/>
              <a:ext cx="779181"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raw baseline</a:t>
              </a:r>
            </a:p>
          </p:txBody>
        </p:sp>
        <p:sp>
          <p:nvSpPr>
            <p:cNvPr id="35" name="TextBox 35"/>
            <p:cNvSpPr txBox="1"/>
            <p:nvPr/>
          </p:nvSpPr>
          <p:spPr>
            <a:xfrm>
              <a:off x="8563395" y="3732848"/>
              <a:ext cx="323010" cy="381381"/>
            </a:xfrm>
            <a:prstGeom prst="rect">
              <a:avLst/>
            </a:prstGeom>
            <a:noFill/>
            <a:ln>
              <a:noFill/>
            </a:ln>
          </p:spPr>
          <p:txBody>
            <a:bodyPr wrap="none" lIns="0" tIns="0" rIns="0" bIns="0" anchor="t" anchorCtr="0">
              <a:spAutoFit/>
            </a:bodyPr>
            <a:lstStyle/>
            <a:p>
              <a:pPr algn="ctr"/>
              <a:r>
                <a:rPr lang="en-US" sz="1950" b="1" dirty="0">
                  <a:solidFill>
                    <a:schemeClr val="dk2"/>
                  </a:solidFill>
                  <a:latin typeface="+mn-lt"/>
                  <a:ea typeface="+mn-ea"/>
                  <a:cs typeface="+mn-cs"/>
                </a:rPr>
                <a:t>-&gt;</a:t>
              </a:r>
            </a:p>
          </p:txBody>
        </p:sp>
        <p:sp>
          <p:nvSpPr>
            <p:cNvPr id="36" name="Rectangle 36"/>
            <p:cNvSpPr/>
            <p:nvPr/>
          </p:nvSpPr>
          <p:spPr>
            <a:xfrm>
              <a:off x="9163050" y="3505200"/>
              <a:ext cx="2095500" cy="762000"/>
            </a:xfrm>
            <a:prstGeom prst="roundRect">
              <a:avLst>
                <a:gd name="adj" fmla="val 15000"/>
              </a:avLst>
            </a:prstGeom>
            <a:solidFill>
              <a:schemeClr val="accent6"/>
            </a:solidFill>
            <a:ln w="14288">
              <a:solidFill>
                <a:srgbClr val="26455F"/>
              </a:solidFill>
            </a:ln>
          </p:spPr>
        </p:sp>
        <p:sp>
          <p:nvSpPr>
            <p:cNvPr id="37" name="TextBox 37"/>
            <p:cNvSpPr txBox="1"/>
            <p:nvPr/>
          </p:nvSpPr>
          <p:spPr>
            <a:xfrm>
              <a:off x="9665520" y="3668268"/>
              <a:ext cx="1090559" cy="422453"/>
            </a:xfrm>
            <a:prstGeom prst="rect">
              <a:avLst/>
            </a:prstGeom>
            <a:noFill/>
            <a:ln>
              <a:noFill/>
            </a:ln>
          </p:spPr>
          <p:txBody>
            <a:bodyPr wrap="none" lIns="0" tIns="0" rIns="0" bIns="0" anchor="t" anchorCtr="0">
              <a:spAutoFit/>
            </a:bodyPr>
            <a:lstStyle/>
            <a:p>
              <a:pPr algn="ctr"/>
              <a:r>
                <a:rPr lang="en-US" sz="2160" b="1" dirty="0">
                  <a:solidFill>
                    <a:srgbClr val="48C78E"/>
                  </a:solidFill>
                  <a:latin typeface="+mn-lt"/>
                  <a:ea typeface="+mn-ea"/>
                  <a:cs typeface="+mn-cs"/>
                </a:rPr>
                <a:t>94.03%</a:t>
              </a:r>
            </a:p>
          </p:txBody>
        </p:sp>
        <p:sp>
          <p:nvSpPr>
            <p:cNvPr id="38" name="TextBox 38"/>
            <p:cNvSpPr txBox="1"/>
            <p:nvPr/>
          </p:nvSpPr>
          <p:spPr>
            <a:xfrm>
              <a:off x="9584675" y="4032885"/>
              <a:ext cx="1252250"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non-naive shared AE</a:t>
              </a:r>
            </a:p>
          </p:txBody>
        </p:sp>
      </p:grpSp>
      <p:grpSp>
        <p:nvGrpSpPr>
          <p:cNvPr id="44" name="Group 44"/>
          <p:cNvGrpSpPr/>
          <p:nvPr/>
        </p:nvGrpSpPr>
        <p:grpSpPr>
          <a:xfrm>
            <a:off x="609600" y="4572000"/>
            <a:ext cx="10972800" cy="666750"/>
            <a:chOff x="609600" y="4572000"/>
            <a:chExt cx="10972800" cy="666750"/>
          </a:xfrm>
        </p:grpSpPr>
        <p:sp>
          <p:nvSpPr>
            <p:cNvPr id="40" name="Rectangle 40"/>
            <p:cNvSpPr/>
            <p:nvPr/>
          </p:nvSpPr>
          <p:spPr>
            <a:xfrm>
              <a:off x="609600" y="4572000"/>
              <a:ext cx="10972800" cy="666750"/>
            </a:xfrm>
            <a:prstGeom prst="roundRect">
              <a:avLst>
                <a:gd name="adj" fmla="val 20000"/>
              </a:avLst>
            </a:prstGeom>
            <a:solidFill>
              <a:srgbClr val="0F2E2B"/>
            </a:solidFill>
            <a:ln w="14288">
              <a:solidFill>
                <a:srgbClr val="34D3C0"/>
              </a:solidFill>
            </a:ln>
          </p:spPr>
        </p:sp>
        <p:sp>
          <p:nvSpPr>
            <p:cNvPr id="41" name="Rectangle 41"/>
            <p:cNvSpPr/>
            <p:nvPr/>
          </p:nvSpPr>
          <p:spPr>
            <a:xfrm>
              <a:off x="609600" y="4572000"/>
              <a:ext cx="57150" cy="666750"/>
            </a:xfrm>
            <a:prstGeom prst="roundRect">
              <a:avLst>
                <a:gd name="adj" fmla="val 50000"/>
              </a:avLst>
            </a:prstGeom>
            <a:solidFill>
              <a:srgbClr val="34D3C0"/>
            </a:solidFill>
            <a:ln>
              <a:noFill/>
            </a:ln>
          </p:spPr>
        </p:sp>
        <p:sp>
          <p:nvSpPr>
            <p:cNvPr id="42" name="TextBox 42"/>
            <p:cNvSpPr txBox="1"/>
            <p:nvPr/>
          </p:nvSpPr>
          <p:spPr>
            <a:xfrm>
              <a:off x="870394" y="4732258"/>
              <a:ext cx="2017133"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Faithful reconstructions</a:t>
              </a:r>
            </a:p>
          </p:txBody>
        </p:sp>
        <p:sp>
          <p:nvSpPr>
            <p:cNvPr id="43" name="TextBox 43"/>
            <p:cNvSpPr txBox="1"/>
            <p:nvPr/>
          </p:nvSpPr>
          <p:spPr>
            <a:xfrm>
              <a:off x="871156" y="4977051"/>
              <a:ext cx="9245185"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Shared autoencoders correctly estimate 96-98% of observations per feature, so the embeddings retain the data's core structure.</a:t>
              </a:r>
            </a:p>
          </p:txBody>
        </p:sp>
      </p:grpSp>
      <p:sp>
        <p:nvSpPr>
          <p:cNvPr id="45" name="cue_s09_c1_few_numbers_capture_impact_across" title="cue_s09_c1_few_numbers_capture_impact_across" descr="cue_s09_c1_few_numbers_capture_impact_across A few numbers capture the impact. Across all use cases, replacing raw features with shared latent representations dropped downstream performance by less than ten percentage points, while the reconstruction error of the autoencoder ranged from five to eleven pe"/>
          <p:cNvSpPr/>
          <p:nvPr/>
        </p:nvSpPr>
        <p:spPr>
          <a:xfrm>
            <a:off x="609600" y="1581454"/>
            <a:ext cx="109728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9_c2_house_pricing_test_r_squared_fell" title="cue_s09_c2_house_pricing_test_r_squared_fell" descr="cue_s09_c2_house_pricing_test_r_squared_fell On House Pricing, test R-squared fell only from ninety point two nine percent at baseline to eighty-nine point three three percent with two individual autoencoders."/>
          <p:cNvSpPr/>
          <p:nvPr/>
        </p:nvSpPr>
        <p:spPr>
          <a:xfrm>
            <a:off x="609600" y="2990773"/>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9_c3_buzz_social_media_non_naive_shared" title="cue_s09_c3_buzz_social_media_non_naive_shared" descr="cue_s09_c3_buzz_social_media_non_naive_shared On Buzz in Social Media, the non-naive shared autoencoder reached ninety-four percent R-squared against a ninety-six percent baseline."/>
          <p:cNvSpPr/>
          <p:nvPr/>
        </p:nvSpPr>
        <p:spPr>
          <a:xfrm>
            <a:off x="6248399" y="2990773"/>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9_c4_shared_autoencoders_correctly_estima" title="cue_s09_c4_shared_autoencoders_correctly_estima" descr="cue_s09_c4_shared_autoencoders_correctly_estima And the shared autoencoders correctly estimated between ninety-six and ninety-eight percent of observations per feature, confirming that the embeddings retain the core structure of the data."/>
          <p:cNvSpPr/>
          <p:nvPr/>
        </p:nvSpPr>
        <p:spPr>
          <a:xfrm>
            <a:off x="609600" y="4572228"/>
            <a:ext cx="10972800" cy="666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594956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Share the code, keep the data private</a:t>
            </a:r>
          </a:p>
        </p:txBody>
      </p:sp>
      <p:grpSp>
        <p:nvGrpSpPr>
          <p:cNvPr id="11" name="Group 11"/>
          <p:cNvGrpSpPr/>
          <p:nvPr/>
        </p:nvGrpSpPr>
        <p:grpSpPr>
          <a:xfrm>
            <a:off x="609600" y="1619250"/>
            <a:ext cx="10972800" cy="892111"/>
            <a:chOff x="609600" y="1619250"/>
            <a:chExt cx="10972800" cy="892111"/>
          </a:xfrm>
        </p:grpSpPr>
        <p:sp>
          <p:nvSpPr>
            <p:cNvPr id="5" name="Rectangle 5"/>
            <p:cNvSpPr/>
            <p:nvPr/>
          </p:nvSpPr>
          <p:spPr>
            <a:xfrm>
              <a:off x="609600" y="1619250"/>
              <a:ext cx="10972800" cy="857250"/>
            </a:xfrm>
            <a:prstGeom prst="roundRect">
              <a:avLst>
                <a:gd name="adj" fmla="val 15556"/>
              </a:avLst>
            </a:prstGeom>
            <a:solidFill>
              <a:schemeClr val="accent5"/>
            </a:solidFill>
            <a:ln w="14288">
              <a:solidFill>
                <a:srgbClr val="26455F"/>
              </a:solidFill>
            </a:ln>
          </p:spPr>
        </p:sp>
        <p:sp>
          <p:nvSpPr>
            <p:cNvPr id="6" name="Rectangle 6"/>
            <p:cNvSpPr/>
            <p:nvPr/>
          </p:nvSpPr>
          <p:spPr>
            <a:xfrm>
              <a:off x="609600" y="1619250"/>
              <a:ext cx="57150" cy="857250"/>
            </a:xfrm>
            <a:prstGeom prst="roundRect">
              <a:avLst>
                <a:gd name="adj" fmla="val 50000"/>
              </a:avLst>
            </a:prstGeom>
            <a:solidFill>
              <a:schemeClr val="accent2"/>
            </a:solidFill>
            <a:ln>
              <a:noFill/>
            </a:ln>
          </p:spPr>
        </p:sp>
        <p:sp>
          <p:nvSpPr>
            <p:cNvPr id="7" name="Ellipse 7"/>
            <p:cNvSpPr/>
            <p:nvPr/>
          </p:nvSpPr>
          <p:spPr>
            <a:xfrm>
              <a:off x="971550" y="1952625"/>
              <a:ext cx="190500" cy="190500"/>
            </a:xfrm>
            <a:prstGeom prst="ellipse">
              <a:avLst/>
            </a:prstGeom>
            <a:solidFill>
              <a:schemeClr val="accent2"/>
            </a:solidFill>
            <a:ln>
              <a:noFill/>
            </a:ln>
          </p:spPr>
        </p:sp>
        <p:sp>
          <p:nvSpPr>
            <p:cNvPr id="8" name="TextBox 8"/>
            <p:cNvSpPr txBox="1"/>
            <p:nvPr/>
          </p:nvSpPr>
          <p:spPr>
            <a:xfrm>
              <a:off x="1421892" y="1835468"/>
              <a:ext cx="2491879"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Share codes, not raw data</a:t>
              </a:r>
            </a:p>
          </p:txBody>
        </p:sp>
        <p:sp>
          <p:nvSpPr>
            <p:cNvPr id="9" name="TextBox 9"/>
            <p:cNvSpPr txBox="1"/>
            <p:nvPr/>
          </p:nvSpPr>
          <p:spPr>
            <a:xfrm>
              <a:off x="1423416" y="2115502"/>
              <a:ext cx="676478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Instead of exchanging raw sensitive data, collaborating organizations can share the latent-space</a:t>
              </a:r>
            </a:p>
          </p:txBody>
        </p:sp>
        <p:sp>
          <p:nvSpPr>
            <p:cNvPr id="10" name="TextBox 10"/>
            <p:cNvSpPr txBox="1"/>
            <p:nvPr/>
          </p:nvSpPr>
          <p:spPr>
            <a:xfrm>
              <a:off x="1423416" y="2306002"/>
              <a:ext cx="269633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embeddings produced by autoencoders.</a:t>
              </a:r>
            </a:p>
          </p:txBody>
        </p:sp>
      </p:grpSp>
      <p:grpSp>
        <p:nvGrpSpPr>
          <p:cNvPr id="18" name="Group 18"/>
          <p:cNvGrpSpPr/>
          <p:nvPr/>
        </p:nvGrpSpPr>
        <p:grpSpPr>
          <a:xfrm>
            <a:off x="609600" y="2590800"/>
            <a:ext cx="10972800" cy="892111"/>
            <a:chOff x="609600" y="2590800"/>
            <a:chExt cx="10972800" cy="892111"/>
          </a:xfrm>
        </p:grpSpPr>
        <p:sp>
          <p:nvSpPr>
            <p:cNvPr id="12" name="Rectangle 12"/>
            <p:cNvSpPr/>
            <p:nvPr/>
          </p:nvSpPr>
          <p:spPr>
            <a:xfrm>
              <a:off x="609600" y="2590800"/>
              <a:ext cx="10972800" cy="857250"/>
            </a:xfrm>
            <a:prstGeom prst="roundRect">
              <a:avLst>
                <a:gd name="adj" fmla="val 15556"/>
              </a:avLst>
            </a:prstGeom>
            <a:solidFill>
              <a:schemeClr val="accent5"/>
            </a:solidFill>
            <a:ln w="14288">
              <a:solidFill>
                <a:srgbClr val="26455F"/>
              </a:solidFill>
            </a:ln>
          </p:spPr>
        </p:sp>
        <p:sp>
          <p:nvSpPr>
            <p:cNvPr id="13" name="Rectangle 13"/>
            <p:cNvSpPr/>
            <p:nvPr/>
          </p:nvSpPr>
          <p:spPr>
            <a:xfrm>
              <a:off x="609600" y="2590800"/>
              <a:ext cx="57150" cy="857250"/>
            </a:xfrm>
            <a:prstGeom prst="roundRect">
              <a:avLst>
                <a:gd name="adj" fmla="val 50000"/>
              </a:avLst>
            </a:prstGeom>
            <a:solidFill>
              <a:srgbClr val="34D3C0"/>
            </a:solidFill>
            <a:ln>
              <a:noFill/>
            </a:ln>
          </p:spPr>
        </p:sp>
        <p:sp>
          <p:nvSpPr>
            <p:cNvPr id="14" name="Ellipse 14"/>
            <p:cNvSpPr/>
            <p:nvPr/>
          </p:nvSpPr>
          <p:spPr>
            <a:xfrm>
              <a:off x="971550" y="2924175"/>
              <a:ext cx="190500" cy="190500"/>
            </a:xfrm>
            <a:prstGeom prst="ellipse">
              <a:avLst/>
            </a:prstGeom>
            <a:solidFill>
              <a:srgbClr val="34D3C0"/>
            </a:solidFill>
            <a:ln>
              <a:noFill/>
            </a:ln>
          </p:spPr>
        </p:sp>
        <p:sp>
          <p:nvSpPr>
            <p:cNvPr id="15" name="TextBox 15"/>
            <p:cNvSpPr txBox="1"/>
            <p:nvPr/>
          </p:nvSpPr>
          <p:spPr>
            <a:xfrm>
              <a:off x="1421892" y="2807018"/>
              <a:ext cx="251966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Private, yet still accurate</a:t>
              </a:r>
            </a:p>
          </p:txBody>
        </p:sp>
        <p:sp>
          <p:nvSpPr>
            <p:cNvPr id="16" name="TextBox 16"/>
            <p:cNvSpPr txBox="1"/>
            <p:nvPr/>
          </p:nvSpPr>
          <p:spPr>
            <a:xfrm>
              <a:off x="1423416" y="3087052"/>
              <a:ext cx="671533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This keeps the original features private while preserving most of the predictive power, dropping</a:t>
              </a:r>
            </a:p>
          </p:txBody>
        </p:sp>
        <p:sp>
          <p:nvSpPr>
            <p:cNvPr id="17" name="TextBox 17"/>
            <p:cNvSpPr txBox="1"/>
            <p:nvPr/>
          </p:nvSpPr>
          <p:spPr>
            <a:xfrm>
              <a:off x="1423416" y="3277552"/>
              <a:ext cx="301437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under ten points across three benchmarks.</a:t>
              </a:r>
            </a:p>
          </p:txBody>
        </p:sp>
      </p:grpSp>
      <p:grpSp>
        <p:nvGrpSpPr>
          <p:cNvPr id="25" name="Group 25"/>
          <p:cNvGrpSpPr/>
          <p:nvPr/>
        </p:nvGrpSpPr>
        <p:grpSpPr>
          <a:xfrm>
            <a:off x="609600" y="3562350"/>
            <a:ext cx="10972800" cy="892111"/>
            <a:chOff x="609600" y="3562350"/>
            <a:chExt cx="10972800" cy="892111"/>
          </a:xfrm>
        </p:grpSpPr>
        <p:sp>
          <p:nvSpPr>
            <p:cNvPr id="19" name="Rectangle 19"/>
            <p:cNvSpPr/>
            <p:nvPr/>
          </p:nvSpPr>
          <p:spPr>
            <a:xfrm>
              <a:off x="609600" y="3562350"/>
              <a:ext cx="10972800" cy="857250"/>
            </a:xfrm>
            <a:prstGeom prst="roundRect">
              <a:avLst>
                <a:gd name="adj" fmla="val 15556"/>
              </a:avLst>
            </a:prstGeom>
            <a:solidFill>
              <a:schemeClr val="accent5"/>
            </a:solidFill>
            <a:ln w="14288">
              <a:solidFill>
                <a:srgbClr val="26455F"/>
              </a:solidFill>
            </a:ln>
          </p:spPr>
        </p:sp>
        <p:sp>
          <p:nvSpPr>
            <p:cNvPr id="20" name="Rectangle 20"/>
            <p:cNvSpPr/>
            <p:nvPr/>
          </p:nvSpPr>
          <p:spPr>
            <a:xfrm>
              <a:off x="609600" y="3562350"/>
              <a:ext cx="57150" cy="857250"/>
            </a:xfrm>
            <a:prstGeom prst="roundRect">
              <a:avLst>
                <a:gd name="adj" fmla="val 50000"/>
              </a:avLst>
            </a:prstGeom>
            <a:solidFill>
              <a:srgbClr val="48C78E"/>
            </a:solidFill>
            <a:ln>
              <a:noFill/>
            </a:ln>
          </p:spPr>
        </p:sp>
        <p:sp>
          <p:nvSpPr>
            <p:cNvPr id="21" name="Ellipse 21"/>
            <p:cNvSpPr/>
            <p:nvPr/>
          </p:nvSpPr>
          <p:spPr>
            <a:xfrm>
              <a:off x="971550" y="3895725"/>
              <a:ext cx="190500" cy="190500"/>
            </a:xfrm>
            <a:prstGeom prst="ellipse">
              <a:avLst/>
            </a:prstGeom>
            <a:solidFill>
              <a:srgbClr val="48C78E"/>
            </a:solidFill>
            <a:ln>
              <a:noFill/>
            </a:ln>
          </p:spPr>
        </p:sp>
        <p:sp>
          <p:nvSpPr>
            <p:cNvPr id="22" name="TextBox 22"/>
            <p:cNvSpPr txBox="1"/>
            <p:nvPr/>
          </p:nvSpPr>
          <p:spPr>
            <a:xfrm>
              <a:off x="1421892" y="3778568"/>
              <a:ext cx="278747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Make the encoder task-aware</a:t>
              </a:r>
            </a:p>
          </p:txBody>
        </p:sp>
        <p:sp>
          <p:nvSpPr>
            <p:cNvPr id="23" name="TextBox 23"/>
            <p:cNvSpPr txBox="1"/>
            <p:nvPr/>
          </p:nvSpPr>
          <p:spPr>
            <a:xfrm>
              <a:off x="1423416" y="4058602"/>
              <a:ext cx="67792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Making the autoencoder aware of the downstream task, the non-naive variant, narrows the small</a:t>
              </a:r>
            </a:p>
          </p:txBody>
        </p:sp>
        <p:sp>
          <p:nvSpPr>
            <p:cNvPr id="24" name="TextBox 24"/>
            <p:cNvSpPr txBox="1"/>
            <p:nvPr/>
          </p:nvSpPr>
          <p:spPr>
            <a:xfrm>
              <a:off x="1423416" y="4249102"/>
              <a:ext cx="196131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remaining gap even further.</a:t>
              </a:r>
            </a:p>
          </p:txBody>
        </p:sp>
      </p:grpSp>
      <p:grpSp>
        <p:nvGrpSpPr>
          <p:cNvPr id="32" name="Group 32"/>
          <p:cNvGrpSpPr/>
          <p:nvPr/>
        </p:nvGrpSpPr>
        <p:grpSpPr>
          <a:xfrm>
            <a:off x="609600" y="4533900"/>
            <a:ext cx="10972800" cy="892111"/>
            <a:chOff x="609600" y="4533900"/>
            <a:chExt cx="10972800" cy="892111"/>
          </a:xfrm>
        </p:grpSpPr>
        <p:sp>
          <p:nvSpPr>
            <p:cNvPr id="26" name="Rectangle 26"/>
            <p:cNvSpPr/>
            <p:nvPr/>
          </p:nvSpPr>
          <p:spPr>
            <a:xfrm>
              <a:off x="609600" y="4533900"/>
              <a:ext cx="10972800" cy="857250"/>
            </a:xfrm>
            <a:prstGeom prst="roundRect">
              <a:avLst>
                <a:gd name="adj" fmla="val 15556"/>
              </a:avLst>
            </a:prstGeom>
            <a:solidFill>
              <a:schemeClr val="accent5"/>
            </a:solidFill>
            <a:ln w="14288">
              <a:solidFill>
                <a:srgbClr val="26455F"/>
              </a:solidFill>
            </a:ln>
          </p:spPr>
        </p:sp>
        <p:sp>
          <p:nvSpPr>
            <p:cNvPr id="27" name="Rectangle 27"/>
            <p:cNvSpPr/>
            <p:nvPr/>
          </p:nvSpPr>
          <p:spPr>
            <a:xfrm>
              <a:off x="609600" y="4533900"/>
              <a:ext cx="57150" cy="857250"/>
            </a:xfrm>
            <a:prstGeom prst="roundRect">
              <a:avLst>
                <a:gd name="adj" fmla="val 50000"/>
              </a:avLst>
            </a:prstGeom>
            <a:solidFill>
              <a:srgbClr val="F2C14E"/>
            </a:solidFill>
            <a:ln>
              <a:noFill/>
            </a:ln>
          </p:spPr>
        </p:sp>
        <p:sp>
          <p:nvSpPr>
            <p:cNvPr id="28" name="Ellipse 28"/>
            <p:cNvSpPr/>
            <p:nvPr/>
          </p:nvSpPr>
          <p:spPr>
            <a:xfrm>
              <a:off x="971550" y="4867275"/>
              <a:ext cx="190500" cy="190500"/>
            </a:xfrm>
            <a:prstGeom prst="ellipse">
              <a:avLst/>
            </a:prstGeom>
            <a:solidFill>
              <a:srgbClr val="F2C14E"/>
            </a:solidFill>
            <a:ln>
              <a:noFill/>
            </a:ln>
          </p:spPr>
        </p:sp>
        <p:sp>
          <p:nvSpPr>
            <p:cNvPr id="29" name="TextBox 29"/>
            <p:cNvSpPr txBox="1"/>
            <p:nvPr/>
          </p:nvSpPr>
          <p:spPr>
            <a:xfrm>
              <a:off x="1421892" y="4750118"/>
              <a:ext cx="157570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What comes next</a:t>
              </a:r>
            </a:p>
          </p:txBody>
        </p:sp>
        <p:sp>
          <p:nvSpPr>
            <p:cNvPr id="30" name="TextBox 30"/>
            <p:cNvSpPr txBox="1"/>
            <p:nvPr/>
          </p:nvSpPr>
          <p:spPr>
            <a:xfrm>
              <a:off x="1423416" y="5030152"/>
              <a:ext cx="660246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Custom per-dataset autoencoders and formal measures of privacy strength are the next steps</a:t>
              </a:r>
            </a:p>
          </p:txBody>
        </p:sp>
        <p:sp>
          <p:nvSpPr>
            <p:cNvPr id="31" name="TextBox 31"/>
            <p:cNvSpPr txBox="1"/>
            <p:nvPr/>
          </p:nvSpPr>
          <p:spPr>
            <a:xfrm>
              <a:off x="1423416" y="5220652"/>
              <a:ext cx="273874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toward real organizational deployment.</a:t>
              </a:r>
            </a:p>
          </p:txBody>
        </p:sp>
      </p:grpSp>
      <p:sp>
        <p:nvSpPr>
          <p:cNvPr id="33" name="Line 33"/>
          <p:cNvSpPr/>
          <p:nvPr/>
        </p:nvSpPr>
        <p:spPr>
          <a:xfrm>
            <a:off x="609600" y="56769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4" name="Polygon 34"/>
          <p:cNvSpPr/>
          <p:nvPr/>
        </p:nvSpPr>
        <p:spPr>
          <a:xfrm>
            <a:off x="800100" y="5829300"/>
            <a:ext cx="590550" cy="419100"/>
          </a:xfrm>
          <a:custGeom>
            <a:avLst/>
            <a:gdLst/>
            <a:ahLst/>
            <a:cxnLst/>
            <a:rect l="l" t="t" r="r" b="b"/>
            <a:pathLst>
              <a:path w="590550" h="419100">
                <a:moveTo>
                  <a:pt x="0" y="0"/>
                </a:moveTo>
                <a:lnTo>
                  <a:pt x="590550" y="161925"/>
                </a:lnTo>
                <a:lnTo>
                  <a:pt x="590550" y="257175"/>
                </a:lnTo>
                <a:lnTo>
                  <a:pt x="0" y="419100"/>
                </a:lnTo>
                <a:close/>
              </a:path>
            </a:pathLst>
          </a:custGeom>
          <a:solidFill>
            <a:srgbClr val="123049"/>
          </a:solidFill>
          <a:ln w="15240">
            <a:solidFill>
              <a:srgbClr val="34D3C0"/>
            </a:solidFill>
          </a:ln>
        </p:spPr>
        <p:txBody>
          <a:bodyPr/>
          <a:p/>
        </p:txBody>
      </p:sp>
      <p:sp>
        <p:nvSpPr>
          <p:cNvPr id="35" name="Polygon 35"/>
          <p:cNvSpPr/>
          <p:nvPr/>
        </p:nvSpPr>
        <p:spPr>
          <a:xfrm>
            <a:off x="1543050" y="5829300"/>
            <a:ext cx="590550" cy="419100"/>
          </a:xfrm>
          <a:custGeom>
            <a:avLst/>
            <a:gdLst/>
            <a:ahLst/>
            <a:cxnLst/>
            <a:rect l="l" t="t" r="r" b="b"/>
            <a:pathLst>
              <a:path w="590550" h="419100">
                <a:moveTo>
                  <a:pt x="590550" y="0"/>
                </a:moveTo>
                <a:lnTo>
                  <a:pt x="0" y="161925"/>
                </a:lnTo>
                <a:lnTo>
                  <a:pt x="0" y="257175"/>
                </a:lnTo>
                <a:lnTo>
                  <a:pt x="590550" y="419100"/>
                </a:lnTo>
                <a:close/>
              </a:path>
            </a:pathLst>
          </a:custGeom>
          <a:solidFill>
            <a:srgbClr val="123049"/>
          </a:solidFill>
          <a:ln w="15240">
            <a:solidFill>
              <a:srgbClr val="34D3C0"/>
            </a:solidFill>
          </a:ln>
        </p:spPr>
        <p:txBody>
          <a:bodyPr/>
          <a:p/>
        </p:txBody>
      </p:sp>
      <p:sp>
        <p:nvSpPr>
          <p:cNvPr id="36" name="Rectangle 36"/>
          <p:cNvSpPr/>
          <p:nvPr/>
        </p:nvSpPr>
        <p:spPr>
          <a:xfrm>
            <a:off x="1390650" y="5991225"/>
            <a:ext cx="152400" cy="95250"/>
          </a:xfrm>
          <a:prstGeom prst="roundRect">
            <a:avLst>
              <a:gd name="adj" fmla="val 30000"/>
            </a:avLst>
          </a:prstGeom>
          <a:solidFill>
            <a:srgbClr val="34D3C0"/>
          </a:solidFill>
          <a:ln>
            <a:noFill/>
          </a:ln>
        </p:spPr>
        <p:txBody>
          <a:bodyPr/>
          <a:p/>
        </p:txBody>
      </p:sp>
      <p:sp>
        <p:nvSpPr>
          <p:cNvPr id="37" name="Freeform 37"/>
          <p:cNvSpPr/>
          <p:nvPr/>
        </p:nvSpPr>
        <p:spPr>
          <a:xfrm>
            <a:off x="1424940" y="5751195"/>
            <a:ext cx="74295" cy="71438"/>
          </a:xfrm>
          <a:custGeom>
            <a:avLst/>
            <a:gdLst/>
            <a:ahLst/>
            <a:cxnLst/>
            <a:rect l="l" t="t" r="r" b="b"/>
            <a:pathLst>
              <a:path w="74295" h="71438">
                <a:moveTo>
                  <a:pt x="0" y="71438"/>
                </a:moveTo>
                <a:lnTo>
                  <a:pt x="0" y="37147"/>
                </a:lnTo>
                <a:cubicBezTo>
                  <a:pt x="0" y="16632"/>
                  <a:pt x="16632" y="0"/>
                  <a:pt x="37148" y="0"/>
                </a:cubicBezTo>
                <a:cubicBezTo>
                  <a:pt x="57663" y="0"/>
                  <a:pt x="74295" y="16632"/>
                  <a:pt x="74295" y="37147"/>
                </a:cubicBezTo>
                <a:lnTo>
                  <a:pt x="74295" y="71438"/>
                </a:lnTo>
              </a:path>
            </a:pathLst>
          </a:custGeom>
          <a:noFill/>
          <a:ln w="20955">
            <a:solidFill>
              <a:srgbClr val="34D3C0"/>
            </a:solidFill>
          </a:ln>
        </p:spPr>
        <p:txBody>
          <a:bodyPr/>
          <a:p/>
        </p:txBody>
      </p:sp>
      <p:sp>
        <p:nvSpPr>
          <p:cNvPr id="38" name="Rectangle 38"/>
          <p:cNvSpPr/>
          <p:nvPr/>
        </p:nvSpPr>
        <p:spPr>
          <a:xfrm>
            <a:off x="1390650" y="5822632"/>
            <a:ext cx="142875" cy="88582"/>
          </a:xfrm>
          <a:prstGeom prst="roundRect">
            <a:avLst>
              <a:gd name="adj" fmla="val 26882"/>
            </a:avLst>
          </a:prstGeom>
          <a:solidFill>
            <a:srgbClr val="34D3C0"/>
          </a:solidFill>
          <a:ln>
            <a:noFill/>
          </a:ln>
        </p:spPr>
        <p:txBody>
          <a:bodyPr/>
          <a:p/>
        </p:txBody>
      </p:sp>
      <p:sp>
        <p:nvSpPr>
          <p:cNvPr id="39" name="Ellipse 39"/>
          <p:cNvSpPr/>
          <p:nvPr/>
        </p:nvSpPr>
        <p:spPr>
          <a:xfrm>
            <a:off x="1446371" y="5851208"/>
            <a:ext cx="31432" cy="31432"/>
          </a:xfrm>
          <a:prstGeom prst="ellipse">
            <a:avLst/>
          </a:prstGeom>
          <a:solidFill>
            <a:schemeClr val="lt1"/>
          </a:solidFill>
          <a:ln>
            <a:noFill/>
          </a:ln>
        </p:spPr>
        <p:txBody>
          <a:bodyPr/>
          <a:p/>
        </p:txBody>
      </p:sp>
      <p:sp>
        <p:nvSpPr>
          <p:cNvPr id="40" name="TextBox 40"/>
          <p:cNvSpPr txBox="1"/>
          <p:nvPr/>
        </p:nvSpPr>
        <p:spPr>
          <a:xfrm>
            <a:off x="6144577" y="5906452"/>
            <a:ext cx="544315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Privacy-Preserving ML via Auto-encoder Latent Embeddings · NeurIPS 2022</a:t>
            </a:r>
          </a:p>
        </p:txBody>
      </p:sp>
      <p:sp>
        <p:nvSpPr>
          <p:cNvPr id="41" name="cue_s10_c1_takeaway_simple_instead_exchanging_r" title="cue_s10_c1_takeaway_simple_instead_exchanging_r" descr="cue_s10_c1_takeaway_simple_instead_exchanging_r The takeaway is simple: instead of exchanging raw sensitive data, collaborating organizations can share the latent-space embeddings produced by autoencoders."/>
          <p:cNvSpPr/>
          <p:nvPr/>
        </p:nvSpPr>
        <p:spPr>
          <a:xfrm>
            <a:off x="609600" y="1619173"/>
            <a:ext cx="10972800" cy="89222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10_c2_keeps_original_features_private_yet" title="cue_s10_c2_keeps_original_features_private_yet" descr="cue_s10_c2_keeps_original_features_private_yet This keeps the original features private yet preserves most of the predictive power, with performance dropping by less than ten percentage points across three benchmarks."/>
          <p:cNvSpPr/>
          <p:nvPr/>
        </p:nvSpPr>
        <p:spPr>
          <a:xfrm>
            <a:off x="609600" y="2590952"/>
            <a:ext cx="10972800" cy="89222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10_c3_making_autoencoder_aware_downstream" title="cue_s10_c3_making_autoencoder_aware_downstream" descr="cue_s10_c3_making_autoencoder_aware_downstream Making the autoencoder aware of the downstream task narrows the gap even further."/>
          <p:cNvSpPr/>
          <p:nvPr/>
        </p:nvSpPr>
        <p:spPr>
          <a:xfrm>
            <a:off x="609600" y="3562045"/>
            <a:ext cx="10972800" cy="89222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10_c4_authors_point_custom_per_dataset_aut" title="cue_s10_c4_authors_point_custom_per_dataset_aut" descr="cue_s10_c4_authors_point_custom_per_dataset_aut The authors point to custom per-dataset autoencoders and formal measures of privacy strength as the next steps toward deploying this in real organizational settings."/>
          <p:cNvSpPr/>
          <p:nvPr/>
        </p:nvSpPr>
        <p:spPr>
          <a:xfrm>
            <a:off x="609600" y="4533823"/>
            <a:ext cx="10972800" cy="89222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2026-07-16T12:41:10Z</dcterms:created>
  <dcterms:modified xsi:type="dcterms:W3CDTF">2026-07-16T12:41:10Z</dcterms:modified>
  <cp:category/>
  <cp:contentStatus/>
</cp:coreProperties>
</file>
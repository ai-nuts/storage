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2v_077_geomem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2v_077_geomem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5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3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400" kern="1200">
          <a:solidFill>
            <a:schemeClr val="tx1"/>
          </a:solidFill>
          <a:latin typeface="+mn-lt"/>
          <a:ea typeface="+mn-ea"/>
          <a:cs typeface="+mn-cs"/>
        </a:defRPr>
      </a:lvl1pPr>
      <a:lvl2pPr marL="457200" algn="l" defTabSz="457200" rtl="0" eaLnBrk="1" latinLnBrk="0" hangingPunct="1">
        <a:defRPr sz="1350" kern="1200">
          <a:solidFill>
            <a:schemeClr val="tx1"/>
          </a:solidFill>
          <a:latin typeface="+mn-lt"/>
          <a:ea typeface="+mn-ea"/>
          <a:cs typeface="+mn-cs"/>
        </a:defRPr>
      </a:lvl2pPr>
      <a:lvl3pPr marL="914400" algn="l" defTabSz="457200" rtl="0" eaLnBrk="1" latinLnBrk="0" hangingPunct="1">
        <a:defRPr sz="1250" kern="1200">
          <a:solidFill>
            <a:schemeClr val="tx1"/>
          </a:solidFill>
          <a:latin typeface="+mn-lt"/>
          <a:ea typeface="+mn-ea"/>
          <a:cs typeface="+mn-cs"/>
        </a:defRPr>
      </a:lvl3pPr>
      <a:lvl4pPr marL="1371600" algn="l" defTabSz="457200" rtl="0" eaLnBrk="1" latinLnBrk="0" hangingPunct="1">
        <a:defRPr sz="1150" kern="1200">
          <a:solidFill>
            <a:schemeClr val="tx1"/>
          </a:solidFill>
          <a:latin typeface="+mn-lt"/>
          <a:ea typeface="+mn-ea"/>
          <a:cs typeface="+mn-cs"/>
        </a:defRPr>
      </a:lvl4pPr>
      <a:lvl5pPr marL="1828800" algn="l" defTabSz="457200" rtl="0" eaLnBrk="1" latinLnBrk="0" hangingPunct="1">
        <a:defRPr sz="1050" kern="1200">
          <a:solidFill>
            <a:schemeClr val="tx1"/>
          </a:solidFill>
          <a:latin typeface="+mn-lt"/>
          <a:ea typeface="+mn-ea"/>
          <a:cs typeface="+mn-cs"/>
        </a:defRPr>
      </a:lvl5pPr>
      <a:lvl6pPr marL="2286000" algn="l" defTabSz="457200" rtl="0" eaLnBrk="1" latinLnBrk="0" hangingPunct="1">
        <a:defRPr sz="1000" kern="1200">
          <a:solidFill>
            <a:schemeClr val="tx1"/>
          </a:solidFill>
          <a:latin typeface="+mn-lt"/>
          <a:ea typeface="+mn-ea"/>
          <a:cs typeface="+mn-cs"/>
        </a:defRPr>
      </a:lvl6pPr>
      <a:lvl7pPr marL="2743200" algn="l" defTabSz="457200" rtl="0" eaLnBrk="1" latinLnBrk="0" hangingPunct="1">
        <a:defRPr sz="9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37111d05be3e832d.png"/><Relationship Id="rId3" Type="http://schemas.openxmlformats.org/officeDocument/2006/relationships/image" Target="../media/image_f2dd789d1cc4eff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cbc4d5ce72b34aeb.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_36a9768eba98c74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571500"/>
            <a:ext cx="57150" cy="1676400"/>
          </a:xfrm>
          <a:prstGeom prst="rect">
            <a:avLst/>
          </a:prstGeom>
          <a:solidFill>
            <a:schemeClr val="accent2"/>
          </a:solidFill>
          <a:ln>
            <a:noFill/>
          </a:ln>
        </p:spPr>
        <p:txBody>
          <a:bodyPr/>
          <a:p/>
        </p:txBody>
      </p:sp>
      <p:sp>
        <p:nvSpPr>
          <p:cNvPr id="3" name="TextBox 3"/>
          <p:cNvSpPr txBox="1"/>
          <p:nvPr/>
        </p:nvSpPr>
        <p:spPr>
          <a:xfrm>
            <a:off x="832104" y="689610"/>
            <a:ext cx="2226869" cy="234696"/>
          </a:xfrm>
          <a:prstGeom prst="rect">
            <a:avLst/>
          </a:prstGeom>
          <a:noFill/>
          <a:ln>
            <a:noFill/>
          </a:ln>
        </p:spPr>
        <p:txBody>
          <a:bodyPr wrap="none" lIns="0" tIns="0" rIns="0" bIns="0" anchor="t" anchorCtr="0">
            <a:spAutoFit/>
          </a:bodyPr>
          <a:lstStyle/>
          <a:p>
            <a:pPr algn="l"/>
            <a:r>
              <a:rPr lang="en-US" sz="1200" spc="150" dirty="0">
                <a:solidFill>
                  <a:schemeClr val="dk2"/>
                </a:solidFill>
                <a:latin typeface="+mn-lt"/>
                <a:ea typeface="+mn-ea"/>
                <a:cs typeface="+mn-cs"/>
              </a:rPr>
              <a:t>ICLR 2025 · LAYER 6 AI</a:t>
            </a:r>
          </a:p>
        </p:txBody>
      </p:sp>
      <p:sp>
        <p:nvSpPr>
          <p:cNvPr id="4" name="TextBox 4"/>
          <p:cNvSpPr txBox="1"/>
          <p:nvPr/>
        </p:nvSpPr>
        <p:spPr>
          <a:xfrm>
            <a:off x="802386" y="901065"/>
            <a:ext cx="6805494"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j-lt"/>
                <a:ea typeface="+mj-ea"/>
                <a:cs typeface="+mj-cs"/>
              </a:rPr>
              <a:t>A Geometric Framework for</a:t>
            </a:r>
          </a:p>
        </p:txBody>
      </p:sp>
      <p:sp>
        <p:nvSpPr>
          <p:cNvPr id="5" name="TextBox 5"/>
          <p:cNvSpPr txBox="1"/>
          <p:nvPr/>
        </p:nvSpPr>
        <p:spPr>
          <a:xfrm>
            <a:off x="802386" y="1358265"/>
            <a:ext cx="6901484"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j-lt"/>
                <a:ea typeface="+mj-ea"/>
                <a:cs typeface="+mj-cs"/>
              </a:rPr>
              <a:t>Understanding Memorization</a:t>
            </a:r>
          </a:p>
        </p:txBody>
      </p:sp>
      <p:sp>
        <p:nvSpPr>
          <p:cNvPr id="6" name="TextBox 6"/>
          <p:cNvSpPr txBox="1"/>
          <p:nvPr/>
        </p:nvSpPr>
        <p:spPr>
          <a:xfrm>
            <a:off x="829056" y="1844040"/>
            <a:ext cx="4851640"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The Manifold Memorization Hypothesis</a:t>
            </a:r>
          </a:p>
        </p:txBody>
      </p:sp>
      <p:sp>
        <p:nvSpPr>
          <p:cNvPr id="7" name="TextBox 7"/>
          <p:cNvSpPr txBox="1"/>
          <p:nvPr/>
        </p:nvSpPr>
        <p:spPr>
          <a:xfrm>
            <a:off x="832485" y="2183606"/>
            <a:ext cx="561326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Ross · Kamkari · Wu · Hosseinzadeh · Liu · Stein · Cresswell · Loaiza-Ganem</a:t>
            </a:r>
          </a:p>
        </p:txBody>
      </p:sp>
      <p:pic>
        <p:nvPicPr>
          <p:cNvPr id="8" name="Image 8"/>
          <p:cNvPicPr>
            <a:picLocks noChangeAspect="1"/>
          </p:cNvPicPr>
          <p:nvPr/>
        </p:nvPicPr>
        <p:blipFill>
          <a:blip r:embed="rId2"/>
          <a:stretch>
            <a:fillRect/>
          </a:stretch>
        </p:blipFill>
        <p:spPr>
          <a:xfrm>
            <a:off x="9810750" y="555582"/>
            <a:ext cx="1581150" cy="498561"/>
          </a:xfrm>
          <a:prstGeom prst="rect">
            <a:avLst/>
          </a:prstGeom>
        </p:spPr>
      </p:pic>
      <p:grpSp>
        <p:nvGrpSpPr>
          <p:cNvPr id="11" name="Group 11"/>
          <p:cNvGrpSpPr/>
          <p:nvPr/>
        </p:nvGrpSpPr>
        <p:grpSpPr>
          <a:xfrm>
            <a:off x="9753600" y="1104900"/>
            <a:ext cx="1676400" cy="1933289"/>
            <a:chOff x="9753600" y="1104900"/>
            <a:chExt cx="1676400" cy="1933289"/>
          </a:xfrm>
        </p:grpSpPr>
        <p:pic>
          <p:nvPicPr>
            <p:cNvPr id="9" name="Image 9"/>
            <p:cNvPicPr>
              <a:picLocks noChangeAspect="1"/>
            </p:cNvPicPr>
            <p:nvPr/>
          </p:nvPicPr>
          <p:blipFill>
            <a:blip r:embed="rId3"/>
            <a:stretch>
              <a:fillRect/>
            </a:stretch>
          </p:blipFill>
          <p:spPr>
            <a:xfrm>
              <a:off x="9753600" y="1104900"/>
              <a:ext cx="1676400" cy="1676400"/>
            </a:xfrm>
            <a:prstGeom prst="rect">
              <a:avLst/>
            </a:prstGeom>
          </p:spPr>
        </p:pic>
        <p:sp>
          <p:nvSpPr>
            <p:cNvPr id="10" name="TextBox 10"/>
            <p:cNvSpPr txBox="1"/>
            <p:nvPr/>
          </p:nvSpPr>
          <p:spPr>
            <a:xfrm>
              <a:off x="10439673" y="2847499"/>
              <a:ext cx="304254" cy="190690"/>
            </a:xfrm>
            <a:prstGeom prst="rect">
              <a:avLst/>
            </a:prstGeom>
            <a:noFill/>
            <a:ln>
              <a:noFill/>
            </a:ln>
          </p:spPr>
          <p:txBody>
            <a:bodyPr wrap="none" lIns="0" tIns="0" rIns="0" bIns="0" anchor="t" anchorCtr="0">
              <a:spAutoFit/>
            </a:bodyPr>
            <a:lstStyle/>
            <a:p>
              <a:pPr algn="ctr"/>
              <a:r>
                <a:rPr lang="en-US" sz="980" dirty="0">
                  <a:solidFill>
                    <a:srgbClr val="8A93A6"/>
                  </a:solidFill>
                  <a:latin typeface="+mn-lt"/>
                  <a:ea typeface="+mn-ea"/>
                  <a:cs typeface="+mn-cs"/>
                </a:rPr>
                <a:t>Code</a:t>
              </a:r>
            </a:p>
          </p:txBody>
        </p:sp>
      </p:grpSp>
      <p:sp>
        <p:nvSpPr>
          <p:cNvPr id="12" name="Rectangle 12"/>
          <p:cNvSpPr/>
          <p:nvPr/>
        </p:nvSpPr>
        <p:spPr>
          <a:xfrm>
            <a:off x="609600" y="3086100"/>
            <a:ext cx="8229600" cy="495300"/>
          </a:xfrm>
          <a:prstGeom prst="roundRect">
            <a:avLst>
              <a:gd name="adj" fmla="val 23077"/>
            </a:avLst>
          </a:prstGeom>
          <a:solidFill>
            <a:schemeClr val="lt2"/>
          </a:solidFill>
          <a:ln w="9525">
            <a:solidFill>
              <a:schemeClr val="accent4"/>
            </a:solidFill>
          </a:ln>
        </p:spPr>
        <p:txBody>
          <a:bodyPr/>
          <a:p/>
        </p:txBody>
      </p:sp>
      <p:sp>
        <p:nvSpPr>
          <p:cNvPr id="13" name="Rectangle 13"/>
          <p:cNvSpPr/>
          <p:nvPr/>
        </p:nvSpPr>
        <p:spPr>
          <a:xfrm>
            <a:off x="609600" y="3086100"/>
            <a:ext cx="57150" cy="495300"/>
          </a:xfrm>
          <a:prstGeom prst="roundRect">
            <a:avLst>
              <a:gd name="adj" fmla="val 50000"/>
            </a:avLst>
          </a:prstGeom>
          <a:solidFill>
            <a:schemeClr val="accent3"/>
          </a:solidFill>
          <a:ln>
            <a:noFill/>
          </a:ln>
        </p:spPr>
        <p:txBody>
          <a:bodyPr/>
          <a:p/>
        </p:txBody>
      </p:sp>
      <p:sp>
        <p:nvSpPr>
          <p:cNvPr id="14" name="TextBox 14"/>
          <p:cNvSpPr txBox="1"/>
          <p:nvPr/>
        </p:nvSpPr>
        <p:spPr>
          <a:xfrm>
            <a:off x="907542" y="3254692"/>
            <a:ext cx="7952825" cy="264033"/>
          </a:xfrm>
          <a:prstGeom prst="rect">
            <a:avLst/>
          </a:prstGeom>
          <a:noFill/>
          <a:ln>
            <a:noFill/>
          </a:ln>
        </p:spPr>
        <p:txBody>
          <a:bodyPr wrap="none" lIns="0" tIns="0" rIns="0" bIns="0" anchor="t" anchorCtr="0">
            <a:spAutoFit/>
          </a:bodyPr>
          <a:lstStyle/>
          <a:p>
            <a:pPr algn="l"/>
            <a:r>
              <a:rPr lang="en-US" sz="1350" dirty="0">
                <a:solidFill>
                  <a:schemeClr val="accent1"/>
                </a:solidFill>
                <a:latin typeface="+mn-lt"/>
                <a:ea typeface="+mn-ea"/>
                <a:cs typeface="+mn-cs"/>
              </a:rPr>
              <a:t>Validated across scales, from 2D synthetic data and CIFAR-10 up to Stable Diffusion 1.5.</a:t>
            </a:r>
          </a:p>
        </p:txBody>
      </p:sp>
      <p:grpSp>
        <p:nvGrpSpPr>
          <p:cNvPr id="23" name="Group 23"/>
          <p:cNvGrpSpPr/>
          <p:nvPr/>
        </p:nvGrpSpPr>
        <p:grpSpPr>
          <a:xfrm>
            <a:off x="609600" y="3810000"/>
            <a:ext cx="3505200" cy="2362200"/>
            <a:chOff x="609600" y="3810000"/>
            <a:chExt cx="3505200" cy="2362200"/>
          </a:xfrm>
        </p:grpSpPr>
        <p:sp>
          <p:nvSpPr>
            <p:cNvPr id="15" name="Rectangle 15"/>
            <p:cNvSpPr/>
            <p:nvPr/>
          </p:nvSpPr>
          <p:spPr>
            <a:xfrm>
              <a:off x="609600" y="3810000"/>
              <a:ext cx="3505200" cy="2362200"/>
            </a:xfrm>
            <a:prstGeom prst="roundRect">
              <a:avLst>
                <a:gd name="adj" fmla="val 5645"/>
              </a:avLst>
            </a:prstGeom>
            <a:solidFill>
              <a:schemeClr val="lt2"/>
            </a:solidFill>
            <a:ln w="9525">
              <a:solidFill>
                <a:schemeClr val="accent4"/>
              </a:solidFill>
            </a:ln>
          </p:spPr>
        </p:sp>
        <p:sp>
          <p:nvSpPr>
            <p:cNvPr id="16" name="Rectangle 16"/>
            <p:cNvSpPr/>
            <p:nvPr/>
          </p:nvSpPr>
          <p:spPr>
            <a:xfrm>
              <a:off x="609600" y="3810000"/>
              <a:ext cx="57150" cy="2362200"/>
            </a:xfrm>
            <a:prstGeom prst="roundRect">
              <a:avLst>
                <a:gd name="adj" fmla="val 50000"/>
              </a:avLst>
            </a:prstGeom>
            <a:solidFill>
              <a:schemeClr val="accent2"/>
            </a:solidFill>
            <a:ln>
              <a:noFill/>
            </a:ln>
          </p:spPr>
        </p:sp>
        <p:sp>
          <p:nvSpPr>
            <p:cNvPr id="17" name="TextBox 17"/>
            <p:cNvSpPr txBox="1"/>
            <p:nvPr/>
          </p:nvSpPr>
          <p:spPr>
            <a:xfrm>
              <a:off x="906018" y="4012882"/>
              <a:ext cx="1036686"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j-lt"/>
                  <a:ea typeface="+mj-ea"/>
                  <a:cs typeface="+mj-cs"/>
                </a:rPr>
                <a:t>The Risk</a:t>
              </a:r>
            </a:p>
          </p:txBody>
        </p:sp>
        <p:sp>
          <p:nvSpPr>
            <p:cNvPr id="18" name="TextBox 18"/>
            <p:cNvSpPr txBox="1"/>
            <p:nvPr/>
          </p:nvSpPr>
          <p:spPr>
            <a:xfrm>
              <a:off x="907161" y="4380071"/>
              <a:ext cx="300307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As generative models grow more</a:t>
              </a:r>
            </a:p>
          </p:txBody>
        </p:sp>
        <p:sp>
          <p:nvSpPr>
            <p:cNvPr id="19" name="TextBox 19"/>
            <p:cNvSpPr txBox="1"/>
            <p:nvPr/>
          </p:nvSpPr>
          <p:spPr>
            <a:xfrm>
              <a:off x="907161" y="4627721"/>
              <a:ext cx="258558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capable, they memorize and</a:t>
              </a:r>
            </a:p>
          </p:txBody>
        </p:sp>
        <p:sp>
          <p:nvSpPr>
            <p:cNvPr id="20" name="TextBox 20"/>
            <p:cNvSpPr txBox="1"/>
            <p:nvPr/>
          </p:nvSpPr>
          <p:spPr>
            <a:xfrm>
              <a:off x="907161" y="4875371"/>
              <a:ext cx="293923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reproduce their training data —</a:t>
              </a:r>
            </a:p>
          </p:txBody>
        </p:sp>
        <p:sp>
          <p:nvSpPr>
            <p:cNvPr id="21" name="TextBox 21"/>
            <p:cNvSpPr txBox="1"/>
            <p:nvPr/>
          </p:nvSpPr>
          <p:spPr>
            <a:xfrm>
              <a:off x="907161" y="5123021"/>
              <a:ext cx="251867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raising serious privacy and</a:t>
              </a:r>
            </a:p>
          </p:txBody>
        </p:sp>
        <p:sp>
          <p:nvSpPr>
            <p:cNvPr id="22" name="TextBox 22"/>
            <p:cNvSpPr txBox="1"/>
            <p:nvPr/>
          </p:nvSpPr>
          <p:spPr>
            <a:xfrm>
              <a:off x="907161" y="5370671"/>
              <a:ext cx="191652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copyright concerns.</a:t>
              </a:r>
            </a:p>
          </p:txBody>
        </p:sp>
      </p:grpSp>
      <p:grpSp>
        <p:nvGrpSpPr>
          <p:cNvPr id="32" name="Group 32"/>
          <p:cNvGrpSpPr/>
          <p:nvPr/>
        </p:nvGrpSpPr>
        <p:grpSpPr>
          <a:xfrm>
            <a:off x="4343400" y="3810000"/>
            <a:ext cx="3505200" cy="2362200"/>
            <a:chOff x="4343400" y="3810000"/>
            <a:chExt cx="3505200" cy="2362200"/>
          </a:xfrm>
        </p:grpSpPr>
        <p:sp>
          <p:nvSpPr>
            <p:cNvPr id="24" name="Rectangle 24"/>
            <p:cNvSpPr/>
            <p:nvPr/>
          </p:nvSpPr>
          <p:spPr>
            <a:xfrm>
              <a:off x="4343400" y="3810000"/>
              <a:ext cx="3505200" cy="2362200"/>
            </a:xfrm>
            <a:prstGeom prst="roundRect">
              <a:avLst>
                <a:gd name="adj" fmla="val 5645"/>
              </a:avLst>
            </a:prstGeom>
            <a:solidFill>
              <a:schemeClr val="lt2"/>
            </a:solidFill>
            <a:ln w="9525">
              <a:solidFill>
                <a:schemeClr val="accent4"/>
              </a:solidFill>
            </a:ln>
          </p:spPr>
        </p:sp>
        <p:sp>
          <p:nvSpPr>
            <p:cNvPr id="25" name="Rectangle 25"/>
            <p:cNvSpPr/>
            <p:nvPr/>
          </p:nvSpPr>
          <p:spPr>
            <a:xfrm>
              <a:off x="4343400" y="3810000"/>
              <a:ext cx="57150" cy="2362200"/>
            </a:xfrm>
            <a:prstGeom prst="roundRect">
              <a:avLst>
                <a:gd name="adj" fmla="val 50000"/>
              </a:avLst>
            </a:prstGeom>
            <a:solidFill>
              <a:schemeClr val="accent3"/>
            </a:solidFill>
            <a:ln>
              <a:noFill/>
            </a:ln>
          </p:spPr>
        </p:sp>
        <p:sp>
          <p:nvSpPr>
            <p:cNvPr id="26" name="TextBox 26"/>
            <p:cNvSpPr txBox="1"/>
            <p:nvPr/>
          </p:nvSpPr>
          <p:spPr>
            <a:xfrm>
              <a:off x="4639818" y="4012882"/>
              <a:ext cx="1578559"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j-lt"/>
                  <a:ea typeface="+mj-ea"/>
                  <a:cs typeface="+mj-cs"/>
                </a:rPr>
                <a:t>The Proposal</a:t>
              </a:r>
            </a:p>
          </p:txBody>
        </p:sp>
        <p:sp>
          <p:nvSpPr>
            <p:cNvPr id="27" name="TextBox 27"/>
            <p:cNvSpPr txBox="1"/>
            <p:nvPr/>
          </p:nvSpPr>
          <p:spPr>
            <a:xfrm>
              <a:off x="4640961" y="4380071"/>
              <a:ext cx="247693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 manifold memorization</a:t>
              </a:r>
            </a:p>
          </p:txBody>
        </p:sp>
        <p:sp>
          <p:nvSpPr>
            <p:cNvPr id="28" name="TextBox 28"/>
            <p:cNvSpPr txBox="1"/>
            <p:nvPr/>
          </p:nvSpPr>
          <p:spPr>
            <a:xfrm>
              <a:off x="4640961" y="4627721"/>
              <a:ext cx="239442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hypothesis: reason about</a:t>
              </a:r>
            </a:p>
          </p:txBody>
        </p:sp>
        <p:sp>
          <p:nvSpPr>
            <p:cNvPr id="29" name="TextBox 29"/>
            <p:cNvSpPr txBox="1"/>
            <p:nvPr/>
          </p:nvSpPr>
          <p:spPr>
            <a:xfrm>
              <a:off x="4640961" y="4875371"/>
              <a:ext cx="291055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memorization through the local</a:t>
              </a:r>
            </a:p>
          </p:txBody>
        </p:sp>
        <p:sp>
          <p:nvSpPr>
            <p:cNvPr id="30" name="TextBox 30"/>
            <p:cNvSpPr txBox="1"/>
            <p:nvPr/>
          </p:nvSpPr>
          <p:spPr>
            <a:xfrm>
              <a:off x="4640961" y="5123021"/>
              <a:ext cx="288188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intrinsic dimension of the data</a:t>
              </a:r>
            </a:p>
          </p:txBody>
        </p:sp>
        <p:sp>
          <p:nvSpPr>
            <p:cNvPr id="31" name="TextBox 31"/>
            <p:cNvSpPr txBox="1"/>
            <p:nvPr/>
          </p:nvSpPr>
          <p:spPr>
            <a:xfrm>
              <a:off x="4640961" y="5370671"/>
              <a:ext cx="195475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and model manifolds.</a:t>
              </a:r>
            </a:p>
          </p:txBody>
        </p:sp>
      </p:grpSp>
      <p:grpSp>
        <p:nvGrpSpPr>
          <p:cNvPr id="41" name="Group 41"/>
          <p:cNvGrpSpPr/>
          <p:nvPr/>
        </p:nvGrpSpPr>
        <p:grpSpPr>
          <a:xfrm>
            <a:off x="8077200" y="3810000"/>
            <a:ext cx="3505200" cy="2362200"/>
            <a:chOff x="8077200" y="3810000"/>
            <a:chExt cx="3505200" cy="2362200"/>
          </a:xfrm>
        </p:grpSpPr>
        <p:sp>
          <p:nvSpPr>
            <p:cNvPr id="33" name="Rectangle 33"/>
            <p:cNvSpPr/>
            <p:nvPr/>
          </p:nvSpPr>
          <p:spPr>
            <a:xfrm>
              <a:off x="8077200" y="3810000"/>
              <a:ext cx="3505200" cy="2362200"/>
            </a:xfrm>
            <a:prstGeom prst="roundRect">
              <a:avLst>
                <a:gd name="adj" fmla="val 5645"/>
              </a:avLst>
            </a:prstGeom>
            <a:solidFill>
              <a:schemeClr val="accent5"/>
            </a:solidFill>
            <a:ln w="9525">
              <a:solidFill>
                <a:schemeClr val="accent4"/>
              </a:solidFill>
            </a:ln>
          </p:spPr>
        </p:sp>
        <p:sp>
          <p:nvSpPr>
            <p:cNvPr id="34" name="Rectangle 34"/>
            <p:cNvSpPr/>
            <p:nvPr/>
          </p:nvSpPr>
          <p:spPr>
            <a:xfrm>
              <a:off x="8077200" y="3810000"/>
              <a:ext cx="57150" cy="2362200"/>
            </a:xfrm>
            <a:prstGeom prst="roundRect">
              <a:avLst>
                <a:gd name="adj" fmla="val 50000"/>
              </a:avLst>
            </a:prstGeom>
            <a:solidFill>
              <a:srgbClr val="C2410C"/>
            </a:solidFill>
            <a:ln>
              <a:noFill/>
            </a:ln>
          </p:spPr>
        </p:sp>
        <p:sp>
          <p:nvSpPr>
            <p:cNvPr id="35" name="TextBox 35"/>
            <p:cNvSpPr txBox="1"/>
            <p:nvPr/>
          </p:nvSpPr>
          <p:spPr>
            <a:xfrm>
              <a:off x="8373618" y="4012882"/>
              <a:ext cx="2014299" cy="322707"/>
            </a:xfrm>
            <a:prstGeom prst="rect">
              <a:avLst/>
            </a:prstGeom>
            <a:noFill/>
            <a:ln>
              <a:noFill/>
            </a:ln>
          </p:spPr>
          <p:txBody>
            <a:bodyPr wrap="none" lIns="0" tIns="0" rIns="0" bIns="0" anchor="t" anchorCtr="0">
              <a:spAutoFit/>
            </a:bodyPr>
            <a:lstStyle/>
            <a:p>
              <a:pPr algn="l"/>
              <a:r>
                <a:rPr lang="en-US" sz="1650" b="1" dirty="0">
                  <a:solidFill>
                    <a:srgbClr val="C2410C"/>
                  </a:solidFill>
                  <a:latin typeface="+mj-lt"/>
                  <a:ea typeface="+mj-ea"/>
                  <a:cs typeface="+mj-cs"/>
                </a:rPr>
                <a:t>What It Delivers</a:t>
              </a:r>
            </a:p>
          </p:txBody>
        </p:sp>
        <p:sp>
          <p:nvSpPr>
            <p:cNvPr id="36" name="TextBox 36"/>
            <p:cNvSpPr txBox="1"/>
            <p:nvPr/>
          </p:nvSpPr>
          <p:spPr>
            <a:xfrm>
              <a:off x="8374761" y="4380071"/>
              <a:ext cx="248709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 formal standard for how</a:t>
              </a:r>
            </a:p>
          </p:txBody>
        </p:sp>
        <p:sp>
          <p:nvSpPr>
            <p:cNvPr id="37" name="TextBox 37"/>
            <p:cNvSpPr txBox="1"/>
            <p:nvPr/>
          </p:nvSpPr>
          <p:spPr>
            <a:xfrm>
              <a:off x="8374761" y="4627721"/>
              <a:ext cx="307304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memorized a point is · separates</a:t>
              </a:r>
            </a:p>
          </p:txBody>
        </p:sp>
        <p:sp>
          <p:nvSpPr>
            <p:cNvPr id="38" name="TextBox 38"/>
            <p:cNvSpPr txBox="1"/>
            <p:nvPr/>
          </p:nvSpPr>
          <p:spPr>
            <a:xfrm>
              <a:off x="8374761" y="4875371"/>
              <a:ext cx="286276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overfitting- from data-driven</a:t>
              </a:r>
            </a:p>
          </p:txBody>
        </p:sp>
        <p:sp>
          <p:nvSpPr>
            <p:cNvPr id="39" name="TextBox 39"/>
            <p:cNvSpPr txBox="1"/>
            <p:nvPr/>
          </p:nvSpPr>
          <p:spPr>
            <a:xfrm>
              <a:off x="8374761" y="5123021"/>
              <a:ext cx="317818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memorization · scalable detection</a:t>
              </a:r>
            </a:p>
          </p:txBody>
        </p:sp>
        <p:sp>
          <p:nvSpPr>
            <p:cNvPr id="40" name="TextBox 40"/>
            <p:cNvSpPr txBox="1"/>
            <p:nvPr/>
          </p:nvSpPr>
          <p:spPr>
            <a:xfrm>
              <a:off x="8374761" y="5370671"/>
              <a:ext cx="225476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and mitigation up to SD.</a:t>
              </a:r>
            </a:p>
          </p:txBody>
        </p:sp>
      </p:grpSp>
      <p:sp>
        <p:nvSpPr>
          <p:cNvPr id="42" name="TextBox 42"/>
          <p:cNvSpPr txBox="1"/>
          <p:nvPr/>
        </p:nvSpPr>
        <p:spPr>
          <a:xfrm>
            <a:off x="604647" y="6562249"/>
            <a:ext cx="6555094" cy="190690"/>
          </a:xfrm>
          <a:prstGeom prst="rect">
            <a:avLst/>
          </a:prstGeom>
          <a:noFill/>
          <a:ln>
            <a:noFill/>
          </a:ln>
        </p:spPr>
        <p:txBody>
          <a:bodyPr wrap="none" lIns="0" tIns="0" rIns="0" bIns="0" anchor="t" anchorCtr="0">
            <a:spAutoFit/>
          </a:bodyPr>
          <a:lstStyle/>
          <a:p>
            <a:pPr algn="l"/>
            <a:r>
              <a:rPr lang="en-US" sz="980" dirty="0">
                <a:solidFill>
                  <a:srgbClr val="8A93A6"/>
                </a:solidFill>
                <a:latin typeface="+mn-lt"/>
                <a:ea typeface="+mn-ea"/>
                <a:cs typeface="+mn-cs"/>
              </a:rPr>
              <a:t>A Geometric Framework for Understanding Memorization in Generative Models — Layer 6 AI · ICLR 2025</a:t>
            </a:r>
          </a:p>
        </p:txBody>
      </p:sp>
      <p:sp>
        <p:nvSpPr>
          <p:cNvPr id="43" name="TextBox 43"/>
          <p:cNvSpPr txBox="1"/>
          <p:nvPr/>
        </p:nvSpPr>
        <p:spPr>
          <a:xfrm>
            <a:off x="11135490" y="6562249"/>
            <a:ext cx="451863" cy="190690"/>
          </a:xfrm>
          <a:prstGeom prst="rect">
            <a:avLst/>
          </a:prstGeom>
          <a:noFill/>
          <a:ln>
            <a:noFill/>
          </a:ln>
        </p:spPr>
        <p:txBody>
          <a:bodyPr wrap="none" lIns="0" tIns="0" rIns="0" bIns="0" anchor="t" anchorCtr="0">
            <a:spAutoFit/>
          </a:bodyPr>
          <a:lstStyle/>
          <a:p>
            <a:pPr algn="r"/>
            <a:r>
              <a:rPr lang="en-US" sz="980" dirty="0">
                <a:solidFill>
                  <a:srgbClr val="8A93A6"/>
                </a:solidFill>
                <a:latin typeface="+mn-lt"/>
                <a:ea typeface="+mn-ea"/>
                <a:cs typeface="+mn-cs"/>
              </a:rPr>
              <a:t>01 / 08</a:t>
            </a:r>
          </a:p>
        </p:txBody>
      </p:sp>
      <p:sp>
        <p:nvSpPr>
          <p:cNvPr id="44" name="cue_s01_c1_deep_generative_models_grow_more" title="cue_s01_c1_deep_generative_models_grow_more" descr="cue_s01_c1_deep_generative_models_grow_more As deep generative models grow more capable, they increasingly memorize and reproduce their training data, raising serious privacy and copyright concerns."/>
          <p:cNvSpPr/>
          <p:nvPr/>
        </p:nvSpPr>
        <p:spPr>
          <a:xfrm>
            <a:off x="609600" y="3810304"/>
            <a:ext cx="3505199" cy="23618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1_c2_layer_6_published_iclr_2025" title="cue_s01_c2_layer_6_published_iclr_2025" descr="cue_s01_c2_layer_6_published_iclr_2025 This paper, from Layer 6 AI and published at ICLR 2025, proposes the manifold memorization hypothesis: a geometric framework that reasons about memorization through the local intrinsic dimension of the data and model manifolds."/>
          <p:cNvSpPr/>
          <p:nvPr/>
        </p:nvSpPr>
        <p:spPr>
          <a:xfrm>
            <a:off x="4344009" y="3810304"/>
            <a:ext cx="3505199" cy="23618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1_c3_provides_formal_standard_how_memoriz" title="cue_s01_c3_provides_formal_standard_how_memoriz" descr="cue_s01_c3_provides_formal_standard_how_memoriz It provides a formal standard for how memorized a datapoint is, cleanly separates memorization caused by overfitting from memorization caused by the data itself, and yields scalable tools to detect and mitigate memorization all the way up to Stable Diffusion."/>
          <p:cNvSpPr/>
          <p:nvPr/>
        </p:nvSpPr>
        <p:spPr>
          <a:xfrm>
            <a:off x="8077200" y="3810304"/>
            <a:ext cx="3505199" cy="23618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76250"/>
            <a:ext cx="57150" cy="285750"/>
          </a:xfrm>
          <a:prstGeom prst="rect">
            <a:avLst/>
          </a:prstGeom>
          <a:solidFill>
            <a:schemeClr val="accent2"/>
          </a:solidFill>
          <a:ln>
            <a:noFill/>
          </a:ln>
        </p:spPr>
        <p:txBody>
          <a:bodyPr/>
          <a:p/>
        </p:txBody>
      </p:sp>
      <p:sp>
        <p:nvSpPr>
          <p:cNvPr id="3" name="TextBox 3"/>
          <p:cNvSpPr txBox="1"/>
          <p:nvPr/>
        </p:nvSpPr>
        <p:spPr>
          <a:xfrm>
            <a:off x="832104" y="537210"/>
            <a:ext cx="1356360" cy="234696"/>
          </a:xfrm>
          <a:prstGeom prst="rect">
            <a:avLst/>
          </a:prstGeom>
          <a:noFill/>
          <a:ln>
            <a:noFill/>
          </a:ln>
        </p:spPr>
        <p:txBody>
          <a:bodyPr wrap="none" lIns="0" tIns="0" rIns="0" bIns="0" anchor="t" anchorCtr="0">
            <a:spAutoFit/>
          </a:bodyPr>
          <a:lstStyle/>
          <a:p>
            <a:pPr algn="l"/>
            <a:r>
              <a:rPr lang="en-US" sz="1200" spc="150" dirty="0">
                <a:solidFill>
                  <a:schemeClr val="dk2"/>
                </a:solidFill>
                <a:latin typeface="+mn-lt"/>
                <a:ea typeface="+mn-ea"/>
                <a:cs typeface="+mn-cs"/>
              </a:rPr>
              <a:t>02 · PROBLEM</a:t>
            </a:r>
          </a:p>
        </p:txBody>
      </p:sp>
      <p:sp>
        <p:nvSpPr>
          <p:cNvPr id="4" name="TextBox 4"/>
          <p:cNvSpPr txBox="1"/>
          <p:nvPr/>
        </p:nvSpPr>
        <p:spPr>
          <a:xfrm>
            <a:off x="825246" y="772478"/>
            <a:ext cx="10074164"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Powerful models memorize — and we cannot measure it</a:t>
            </a:r>
          </a:p>
        </p:txBody>
      </p:sp>
      <p:sp>
        <p:nvSpPr>
          <p:cNvPr id="5" name="Line 5"/>
          <p:cNvSpPr/>
          <p:nvPr/>
        </p:nvSpPr>
        <p:spPr>
          <a:xfrm>
            <a:off x="609600" y="1238250"/>
            <a:ext cx="10972800" cy="9525"/>
          </a:xfrm>
          <a:custGeom>
            <a:avLst/>
            <a:gdLst/>
            <a:ahLst/>
            <a:cxnLst/>
            <a:rect l="l" t="t" r="r" b="b"/>
            <a:pathLst>
              <a:path w="10972800" h="9525">
                <a:moveTo>
                  <a:pt x="0" y="0"/>
                </a:moveTo>
                <a:lnTo>
                  <a:pt x="10972800" y="0"/>
                </a:lnTo>
              </a:path>
            </a:pathLst>
          </a:custGeom>
          <a:noFill/>
          <a:ln w="9525">
            <a:solidFill>
              <a:schemeClr val="accent4"/>
            </a:solidFill>
          </a:ln>
        </p:spPr>
        <p:txBody>
          <a:bodyPr/>
          <a:p/>
        </p:txBody>
      </p:sp>
      <p:sp>
        <p:nvSpPr>
          <p:cNvPr id="6" name="TextBox 6"/>
          <p:cNvSpPr txBox="1"/>
          <p:nvPr/>
        </p:nvSpPr>
        <p:spPr>
          <a:xfrm>
            <a:off x="11135490" y="561499"/>
            <a:ext cx="451863" cy="190690"/>
          </a:xfrm>
          <a:prstGeom prst="rect">
            <a:avLst/>
          </a:prstGeom>
          <a:noFill/>
          <a:ln>
            <a:noFill/>
          </a:ln>
        </p:spPr>
        <p:txBody>
          <a:bodyPr wrap="none" lIns="0" tIns="0" rIns="0" bIns="0" anchor="t" anchorCtr="0">
            <a:spAutoFit/>
          </a:bodyPr>
          <a:lstStyle/>
          <a:p>
            <a:pPr algn="r"/>
            <a:r>
              <a:rPr lang="en-US" sz="980" dirty="0">
                <a:solidFill>
                  <a:srgbClr val="8A93A6"/>
                </a:solidFill>
                <a:latin typeface="+mn-lt"/>
                <a:ea typeface="+mn-ea"/>
                <a:cs typeface="+mn-cs"/>
              </a:rPr>
              <a:t>02 / 08</a:t>
            </a:r>
          </a:p>
        </p:txBody>
      </p:sp>
      <p:grpSp>
        <p:nvGrpSpPr>
          <p:cNvPr id="15" name="Group 15"/>
          <p:cNvGrpSpPr/>
          <p:nvPr/>
        </p:nvGrpSpPr>
        <p:grpSpPr>
          <a:xfrm>
            <a:off x="609600" y="1428750"/>
            <a:ext cx="5372100" cy="2428875"/>
            <a:chOff x="609600" y="1428750"/>
            <a:chExt cx="5372100" cy="2428875"/>
          </a:xfrm>
        </p:grpSpPr>
        <p:sp>
          <p:nvSpPr>
            <p:cNvPr id="7" name="Rectangle 7"/>
            <p:cNvSpPr/>
            <p:nvPr/>
          </p:nvSpPr>
          <p:spPr>
            <a:xfrm>
              <a:off x="609600" y="1428750"/>
              <a:ext cx="5372100" cy="2428875"/>
            </a:xfrm>
            <a:prstGeom prst="roundRect">
              <a:avLst>
                <a:gd name="adj" fmla="val 5490"/>
              </a:avLst>
            </a:prstGeom>
            <a:solidFill>
              <a:schemeClr val="lt2"/>
            </a:solidFill>
            <a:ln w="9525">
              <a:solidFill>
                <a:schemeClr val="accent4"/>
              </a:solidFill>
            </a:ln>
          </p:spPr>
        </p:sp>
        <p:sp>
          <p:nvSpPr>
            <p:cNvPr id="8" name="Rectangle 8"/>
            <p:cNvSpPr/>
            <p:nvPr/>
          </p:nvSpPr>
          <p:spPr>
            <a:xfrm>
              <a:off x="609600" y="1428750"/>
              <a:ext cx="57150" cy="2428875"/>
            </a:xfrm>
            <a:prstGeom prst="roundRect">
              <a:avLst>
                <a:gd name="adj" fmla="val 50000"/>
              </a:avLst>
            </a:prstGeom>
            <a:solidFill>
              <a:schemeClr val="accent2"/>
            </a:solidFill>
            <a:ln>
              <a:noFill/>
            </a:ln>
          </p:spPr>
        </p:sp>
        <p:sp>
          <p:nvSpPr>
            <p:cNvPr id="9" name="TextBox 9"/>
            <p:cNvSpPr txBox="1"/>
            <p:nvPr/>
          </p:nvSpPr>
          <p:spPr>
            <a:xfrm>
              <a:off x="906018" y="1631632"/>
              <a:ext cx="2528774"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j-lt"/>
                  <a:ea typeface="+mj-ea"/>
                  <a:cs typeface="+mj-cs"/>
                </a:rPr>
                <a:t>1 · Deployed at scale</a:t>
              </a:r>
            </a:p>
          </p:txBody>
        </p:sp>
        <p:sp>
          <p:nvSpPr>
            <p:cNvPr id="10" name="TextBox 10"/>
            <p:cNvSpPr txBox="1"/>
            <p:nvPr/>
          </p:nvSpPr>
          <p:spPr>
            <a:xfrm>
              <a:off x="907161" y="2017871"/>
              <a:ext cx="404473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Generative models — and diffusion models in</a:t>
              </a:r>
            </a:p>
          </p:txBody>
        </p:sp>
        <p:sp>
          <p:nvSpPr>
            <p:cNvPr id="11" name="TextBox 11"/>
            <p:cNvSpPr txBox="1"/>
            <p:nvPr/>
          </p:nvSpPr>
          <p:spPr>
            <a:xfrm>
              <a:off x="907161" y="2265521"/>
              <a:ext cx="375166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particular — are increasingly deployed in</a:t>
              </a:r>
            </a:p>
          </p:txBody>
        </p:sp>
        <p:sp>
          <p:nvSpPr>
            <p:cNvPr id="12" name="TextBox 12"/>
            <p:cNvSpPr txBox="1"/>
            <p:nvPr/>
          </p:nvSpPr>
          <p:spPr>
            <a:xfrm>
              <a:off x="907161" y="2513171"/>
              <a:ext cx="251867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public-facing applications.</a:t>
              </a:r>
            </a:p>
          </p:txBody>
        </p:sp>
        <p:sp>
          <p:nvSpPr>
            <p:cNvPr id="13" name="TextBox 13"/>
            <p:cNvSpPr txBox="1"/>
            <p:nvPr/>
          </p:nvSpPr>
          <p:spPr>
            <a:xfrm>
              <a:off x="907161" y="2875121"/>
              <a:ext cx="4016192"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With enough capacity, they memorize their</a:t>
              </a:r>
            </a:p>
          </p:txBody>
        </p:sp>
        <p:sp>
          <p:nvSpPr>
            <p:cNvPr id="14" name="TextBox 14"/>
            <p:cNvSpPr txBox="1"/>
            <p:nvPr/>
          </p:nvSpPr>
          <p:spPr>
            <a:xfrm>
              <a:off x="907161" y="3122771"/>
              <a:ext cx="1343043"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training data.</a:t>
              </a:r>
            </a:p>
          </p:txBody>
        </p:sp>
      </p:grpSp>
      <p:grpSp>
        <p:nvGrpSpPr>
          <p:cNvPr id="24" name="Group 24"/>
          <p:cNvGrpSpPr/>
          <p:nvPr/>
        </p:nvGrpSpPr>
        <p:grpSpPr>
          <a:xfrm>
            <a:off x="6210300" y="1428750"/>
            <a:ext cx="5372100" cy="2428875"/>
            <a:chOff x="6210300" y="1428750"/>
            <a:chExt cx="5372100" cy="2428875"/>
          </a:xfrm>
        </p:grpSpPr>
        <p:sp>
          <p:nvSpPr>
            <p:cNvPr id="16" name="Rectangle 16"/>
            <p:cNvSpPr/>
            <p:nvPr/>
          </p:nvSpPr>
          <p:spPr>
            <a:xfrm>
              <a:off x="6210300" y="1428750"/>
              <a:ext cx="5372100" cy="2428875"/>
            </a:xfrm>
            <a:prstGeom prst="roundRect">
              <a:avLst>
                <a:gd name="adj" fmla="val 5490"/>
              </a:avLst>
            </a:prstGeom>
            <a:solidFill>
              <a:schemeClr val="lt2"/>
            </a:solidFill>
            <a:ln w="9525">
              <a:solidFill>
                <a:schemeClr val="accent4"/>
              </a:solidFill>
            </a:ln>
          </p:spPr>
        </p:sp>
        <p:sp>
          <p:nvSpPr>
            <p:cNvPr id="17" name="Rectangle 17"/>
            <p:cNvSpPr/>
            <p:nvPr/>
          </p:nvSpPr>
          <p:spPr>
            <a:xfrm>
              <a:off x="6210300" y="1428750"/>
              <a:ext cx="57150" cy="2428875"/>
            </a:xfrm>
            <a:prstGeom prst="roundRect">
              <a:avLst>
                <a:gd name="adj" fmla="val 50000"/>
              </a:avLst>
            </a:prstGeom>
            <a:solidFill>
              <a:srgbClr val="C2410C"/>
            </a:solidFill>
            <a:ln>
              <a:noFill/>
            </a:ln>
          </p:spPr>
        </p:sp>
        <p:sp>
          <p:nvSpPr>
            <p:cNvPr id="18" name="TextBox 18"/>
            <p:cNvSpPr txBox="1"/>
            <p:nvPr/>
          </p:nvSpPr>
          <p:spPr>
            <a:xfrm>
              <a:off x="6506718" y="1631632"/>
              <a:ext cx="2421495" cy="322707"/>
            </a:xfrm>
            <a:prstGeom prst="rect">
              <a:avLst/>
            </a:prstGeom>
            <a:noFill/>
            <a:ln>
              <a:noFill/>
            </a:ln>
          </p:spPr>
          <p:txBody>
            <a:bodyPr wrap="none" lIns="0" tIns="0" rIns="0" bIns="0" anchor="t" anchorCtr="0">
              <a:spAutoFit/>
            </a:bodyPr>
            <a:lstStyle/>
            <a:p>
              <a:pPr algn="l"/>
              <a:r>
                <a:rPr lang="en-US" sz="1650" b="1" dirty="0">
                  <a:solidFill>
                    <a:srgbClr val="C2410C"/>
                  </a:solidFill>
                  <a:latin typeface="+mj-lt"/>
                  <a:ea typeface="+mj-ea"/>
                  <a:cs typeface="+mj-cs"/>
                </a:rPr>
                <a:t>2 · Real-world harm</a:t>
              </a:r>
            </a:p>
          </p:txBody>
        </p:sp>
        <p:sp>
          <p:nvSpPr>
            <p:cNvPr id="19" name="TextBox 19"/>
            <p:cNvSpPr txBox="1"/>
            <p:nvPr/>
          </p:nvSpPr>
          <p:spPr>
            <a:xfrm>
              <a:off x="6507861" y="2017871"/>
              <a:ext cx="358592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Memorized samples can expose private</a:t>
              </a:r>
            </a:p>
          </p:txBody>
        </p:sp>
        <p:sp>
          <p:nvSpPr>
            <p:cNvPr id="20" name="TextBox 20"/>
            <p:cNvSpPr txBox="1"/>
            <p:nvPr/>
          </p:nvSpPr>
          <p:spPr>
            <a:xfrm>
              <a:off x="6507861" y="2265521"/>
              <a:ext cx="365608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information and reproduce copyrighted</a:t>
              </a:r>
            </a:p>
          </p:txBody>
        </p:sp>
        <p:sp>
          <p:nvSpPr>
            <p:cNvPr id="21" name="TextBox 21"/>
            <p:cNvSpPr txBox="1"/>
            <p:nvPr/>
          </p:nvSpPr>
          <p:spPr>
            <a:xfrm>
              <a:off x="6507861" y="2513171"/>
              <a:ext cx="68353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works.</a:t>
              </a:r>
            </a:p>
          </p:txBody>
        </p:sp>
        <p:sp>
          <p:nvSpPr>
            <p:cNvPr id="22" name="TextBox 22"/>
            <p:cNvSpPr txBox="1"/>
            <p:nvPr/>
          </p:nvSpPr>
          <p:spPr>
            <a:xfrm>
              <a:off x="6507861" y="2875121"/>
              <a:ext cx="3796002"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That exposes model builders to real legal</a:t>
              </a:r>
            </a:p>
          </p:txBody>
        </p:sp>
        <p:sp>
          <p:nvSpPr>
            <p:cNvPr id="23" name="TextBox 23"/>
            <p:cNvSpPr txBox="1"/>
            <p:nvPr/>
          </p:nvSpPr>
          <p:spPr>
            <a:xfrm>
              <a:off x="6507861" y="3122771"/>
              <a:ext cx="826910"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liability.</a:t>
              </a:r>
            </a:p>
          </p:txBody>
        </p:sp>
      </p:grpSp>
      <p:grpSp>
        <p:nvGrpSpPr>
          <p:cNvPr id="33" name="Group 33"/>
          <p:cNvGrpSpPr/>
          <p:nvPr/>
        </p:nvGrpSpPr>
        <p:grpSpPr>
          <a:xfrm>
            <a:off x="609600" y="4010025"/>
            <a:ext cx="5372100" cy="2428875"/>
            <a:chOff x="609600" y="4010025"/>
            <a:chExt cx="5372100" cy="2428875"/>
          </a:xfrm>
        </p:grpSpPr>
        <p:sp>
          <p:nvSpPr>
            <p:cNvPr id="25" name="Rectangle 25"/>
            <p:cNvSpPr/>
            <p:nvPr/>
          </p:nvSpPr>
          <p:spPr>
            <a:xfrm>
              <a:off x="609600" y="4010025"/>
              <a:ext cx="5372100" cy="2428875"/>
            </a:xfrm>
            <a:prstGeom prst="roundRect">
              <a:avLst>
                <a:gd name="adj" fmla="val 5490"/>
              </a:avLst>
            </a:prstGeom>
            <a:solidFill>
              <a:schemeClr val="accent5"/>
            </a:solidFill>
            <a:ln w="9525">
              <a:solidFill>
                <a:schemeClr val="accent4"/>
              </a:solidFill>
            </a:ln>
          </p:spPr>
        </p:sp>
        <p:sp>
          <p:nvSpPr>
            <p:cNvPr id="26" name="Rectangle 26"/>
            <p:cNvSpPr/>
            <p:nvPr/>
          </p:nvSpPr>
          <p:spPr>
            <a:xfrm>
              <a:off x="609600" y="4010025"/>
              <a:ext cx="57150" cy="2428875"/>
            </a:xfrm>
            <a:prstGeom prst="roundRect">
              <a:avLst>
                <a:gd name="adj" fmla="val 50000"/>
              </a:avLst>
            </a:prstGeom>
            <a:solidFill>
              <a:schemeClr val="accent1"/>
            </a:solidFill>
            <a:ln>
              <a:noFill/>
            </a:ln>
          </p:spPr>
        </p:sp>
        <p:sp>
          <p:nvSpPr>
            <p:cNvPr id="27" name="TextBox 27"/>
            <p:cNvSpPr txBox="1"/>
            <p:nvPr/>
          </p:nvSpPr>
          <p:spPr>
            <a:xfrm>
              <a:off x="906018" y="4212908"/>
              <a:ext cx="2849010"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j-lt"/>
                  <a:ea typeface="+mj-ea"/>
                  <a:cs typeface="+mj-cs"/>
                </a:rPr>
                <a:t>3 · No formal yardstick</a:t>
              </a:r>
            </a:p>
          </p:txBody>
        </p:sp>
        <p:sp>
          <p:nvSpPr>
            <p:cNvPr id="28" name="TextBox 28"/>
            <p:cNvSpPr txBox="1"/>
            <p:nvPr/>
          </p:nvSpPr>
          <p:spPr>
            <a:xfrm>
              <a:off x="907161" y="4599146"/>
              <a:ext cx="381532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 community has lacked a single formal</a:t>
              </a:r>
            </a:p>
          </p:txBody>
        </p:sp>
        <p:sp>
          <p:nvSpPr>
            <p:cNvPr id="29" name="TextBox 29"/>
            <p:cNvSpPr txBox="1"/>
            <p:nvPr/>
          </p:nvSpPr>
          <p:spPr>
            <a:xfrm>
              <a:off x="907161" y="4846796"/>
              <a:ext cx="402884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framework to say precisely how memorized</a:t>
              </a:r>
            </a:p>
          </p:txBody>
        </p:sp>
        <p:sp>
          <p:nvSpPr>
            <p:cNvPr id="30" name="TextBox 30"/>
            <p:cNvSpPr txBox="1"/>
            <p:nvPr/>
          </p:nvSpPr>
          <p:spPr>
            <a:xfrm>
              <a:off x="907161" y="5094446"/>
              <a:ext cx="220326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 datapoint actually is.</a:t>
              </a:r>
            </a:p>
          </p:txBody>
        </p:sp>
        <p:sp>
          <p:nvSpPr>
            <p:cNvPr id="31" name="TextBox 31"/>
            <p:cNvSpPr txBox="1"/>
            <p:nvPr/>
          </p:nvSpPr>
          <p:spPr>
            <a:xfrm>
              <a:off x="907161" y="5456396"/>
              <a:ext cx="3987660"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Memorization comes in many subtle forms,</a:t>
              </a:r>
            </a:p>
          </p:txBody>
        </p:sp>
        <p:sp>
          <p:nvSpPr>
            <p:cNvPr id="32" name="TextBox 32"/>
            <p:cNvSpPr txBox="1"/>
            <p:nvPr/>
          </p:nvSpPr>
          <p:spPr>
            <a:xfrm>
              <a:off x="907161" y="5704046"/>
              <a:ext cx="2088568"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not just exact copies.</a:t>
              </a:r>
            </a:p>
          </p:txBody>
        </p:sp>
      </p:grpSp>
      <p:grpSp>
        <p:nvGrpSpPr>
          <p:cNvPr id="42" name="Group 42"/>
          <p:cNvGrpSpPr/>
          <p:nvPr/>
        </p:nvGrpSpPr>
        <p:grpSpPr>
          <a:xfrm>
            <a:off x="6210300" y="4010025"/>
            <a:ext cx="5372100" cy="2428875"/>
            <a:chOff x="6210300" y="4010025"/>
            <a:chExt cx="5372100" cy="2428875"/>
          </a:xfrm>
        </p:grpSpPr>
        <p:sp>
          <p:nvSpPr>
            <p:cNvPr id="34" name="Rectangle 34"/>
            <p:cNvSpPr/>
            <p:nvPr/>
          </p:nvSpPr>
          <p:spPr>
            <a:xfrm>
              <a:off x="6210300" y="4010025"/>
              <a:ext cx="5372100" cy="2428875"/>
            </a:xfrm>
            <a:prstGeom prst="roundRect">
              <a:avLst>
                <a:gd name="adj" fmla="val 5490"/>
              </a:avLst>
            </a:prstGeom>
            <a:solidFill>
              <a:schemeClr val="accent5"/>
            </a:solidFill>
            <a:ln w="9525">
              <a:solidFill>
                <a:schemeClr val="accent4"/>
              </a:solidFill>
            </a:ln>
          </p:spPr>
        </p:sp>
        <p:sp>
          <p:nvSpPr>
            <p:cNvPr id="35" name="Rectangle 35"/>
            <p:cNvSpPr/>
            <p:nvPr/>
          </p:nvSpPr>
          <p:spPr>
            <a:xfrm>
              <a:off x="6210300" y="4010025"/>
              <a:ext cx="57150" cy="2428875"/>
            </a:xfrm>
            <a:prstGeom prst="roundRect">
              <a:avLst>
                <a:gd name="adj" fmla="val 50000"/>
              </a:avLst>
            </a:prstGeom>
            <a:solidFill>
              <a:schemeClr val="accent3"/>
            </a:solidFill>
            <a:ln>
              <a:noFill/>
            </a:ln>
          </p:spPr>
        </p:sp>
        <p:sp>
          <p:nvSpPr>
            <p:cNvPr id="36" name="TextBox 36"/>
            <p:cNvSpPr txBox="1"/>
            <p:nvPr/>
          </p:nvSpPr>
          <p:spPr>
            <a:xfrm>
              <a:off x="6506718" y="4212908"/>
              <a:ext cx="2747305"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j-lt"/>
                  <a:ea typeface="+mj-ea"/>
                  <a:cs typeface="+mj-cs"/>
                </a:rPr>
                <a:t>4 · Pixel distance fails</a:t>
              </a:r>
            </a:p>
          </p:txBody>
        </p:sp>
        <p:sp>
          <p:nvSpPr>
            <p:cNvPr id="37" name="TextBox 37"/>
            <p:cNvSpPr txBox="1"/>
            <p:nvPr/>
          </p:nvSpPr>
          <p:spPr>
            <a:xfrm>
              <a:off x="6507861" y="4599146"/>
              <a:ext cx="416883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Past definitions use distance to the nearest</a:t>
              </a:r>
            </a:p>
          </p:txBody>
        </p:sp>
        <p:sp>
          <p:nvSpPr>
            <p:cNvPr id="38" name="TextBox 38"/>
            <p:cNvSpPr txBox="1"/>
            <p:nvPr/>
          </p:nvSpPr>
          <p:spPr>
            <a:xfrm>
              <a:off x="6507861" y="4846796"/>
              <a:ext cx="272895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training image in pixel space.</a:t>
              </a:r>
            </a:p>
          </p:txBody>
        </p:sp>
        <p:sp>
          <p:nvSpPr>
            <p:cNvPr id="39" name="TextBox 39"/>
            <p:cNvSpPr txBox="1"/>
            <p:nvPr/>
          </p:nvSpPr>
          <p:spPr>
            <a:xfrm>
              <a:off x="6507861" y="5208746"/>
              <a:ext cx="3968147"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It misses subtler memorization and cannot</a:t>
              </a:r>
            </a:p>
          </p:txBody>
        </p:sp>
        <p:sp>
          <p:nvSpPr>
            <p:cNvPr id="40" name="TextBox 40"/>
            <p:cNvSpPr txBox="1"/>
            <p:nvPr/>
          </p:nvSpPr>
          <p:spPr>
            <a:xfrm>
              <a:off x="6507861" y="5456396"/>
              <a:ext cx="3665642"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be computed at the scale of models like</a:t>
              </a:r>
            </a:p>
          </p:txBody>
        </p:sp>
        <p:sp>
          <p:nvSpPr>
            <p:cNvPr id="41" name="TextBox 41"/>
            <p:cNvSpPr txBox="1"/>
            <p:nvPr/>
          </p:nvSpPr>
          <p:spPr>
            <a:xfrm>
              <a:off x="6507861" y="5704046"/>
              <a:ext cx="1622714"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Stable Diffusion.</a:t>
              </a:r>
            </a:p>
          </p:txBody>
        </p:sp>
      </p:grpSp>
      <p:sp>
        <p:nvSpPr>
          <p:cNvPr id="43" name="TextBox 43"/>
          <p:cNvSpPr txBox="1"/>
          <p:nvPr/>
        </p:nvSpPr>
        <p:spPr>
          <a:xfrm>
            <a:off x="604647" y="6619399"/>
            <a:ext cx="4297968" cy="190690"/>
          </a:xfrm>
          <a:prstGeom prst="rect">
            <a:avLst/>
          </a:prstGeom>
          <a:noFill/>
          <a:ln>
            <a:noFill/>
          </a:ln>
        </p:spPr>
        <p:txBody>
          <a:bodyPr wrap="none" lIns="0" tIns="0" rIns="0" bIns="0" anchor="t" anchorCtr="0">
            <a:spAutoFit/>
          </a:bodyPr>
          <a:lstStyle/>
          <a:p>
            <a:pPr algn="l"/>
            <a:r>
              <a:rPr lang="en-US" sz="980" dirty="0">
                <a:solidFill>
                  <a:srgbClr val="8A93A6"/>
                </a:solidFill>
                <a:latin typeface="+mn-lt"/>
                <a:ea typeface="+mn-ea"/>
                <a:cs typeface="+mn-cs"/>
              </a:rPr>
              <a:t>A Geometric Framework for Understanding Memorization — Problem</a:t>
            </a:r>
          </a:p>
        </p:txBody>
      </p:sp>
      <p:sp>
        <p:nvSpPr>
          <p:cNvPr id="44" name="cue_s02_c1_generative_models_diffusion_models_p" title="cue_s02_c1_generative_models_diffusion_models_p" descr="cue_s02_c1_generative_models_diffusion_models_p Generative models, and diffusion models in particular, are increasingly deployed in public-facing applications, but with enough capacity they memorize training data."/>
          <p:cNvSpPr/>
          <p:nvPr/>
        </p:nvSpPr>
        <p:spPr>
          <a:xfrm>
            <a:off x="609600" y="1428521"/>
            <a:ext cx="5371795" cy="242910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2_c2_memorization_expose_private_informat" title="cue_s02_c2_memorization_expose_private_informat" descr="cue_s02_c2_memorization_expose_private_informat That memorization can expose private information and reproduce copyrighted works, exposing model builders to legal liability."/>
          <p:cNvSpPr/>
          <p:nvPr/>
        </p:nvSpPr>
        <p:spPr>
          <a:xfrm>
            <a:off x="6210604" y="1428521"/>
            <a:ext cx="5371795" cy="242910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2_c3_trouble_community_lacked_single_form" title="cue_s02_c3_trouble_community_lacked_single_form" descr="cue_s02_c3_trouble_community_lacked_single_form The trouble is that the community has lacked a single formal framework to say precisely how memorized a datapoint is."/>
          <p:cNvSpPr/>
          <p:nvPr/>
        </p:nvSpPr>
        <p:spPr>
          <a:xfrm>
            <a:off x="609600" y="4009872"/>
            <a:ext cx="5371795" cy="242910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2_c4_past_definitions_lean_distance_neare" title="cue_s02_c4_past_definitions_lean_distance_neare" descr="cue_s02_c4_past_definitions_lean_distance_neare Past definitions lean on distance to a nearest training image in pixel space, which fails to capture subtler forms of memorization and cannot be computed at the scale of models like Stable Diffusion."/>
          <p:cNvSpPr/>
          <p:nvPr/>
        </p:nvSpPr>
        <p:spPr>
          <a:xfrm>
            <a:off x="6210604" y="4009872"/>
            <a:ext cx="5371795" cy="242910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76250"/>
            <a:ext cx="57150" cy="285750"/>
          </a:xfrm>
          <a:prstGeom prst="rect">
            <a:avLst/>
          </a:prstGeom>
          <a:solidFill>
            <a:schemeClr val="accent2"/>
          </a:solidFill>
          <a:ln>
            <a:noFill/>
          </a:ln>
        </p:spPr>
        <p:txBody>
          <a:bodyPr/>
          <a:p/>
        </p:txBody>
      </p:sp>
      <p:sp>
        <p:nvSpPr>
          <p:cNvPr id="3" name="TextBox 3"/>
          <p:cNvSpPr txBox="1"/>
          <p:nvPr/>
        </p:nvSpPr>
        <p:spPr>
          <a:xfrm>
            <a:off x="832104" y="537210"/>
            <a:ext cx="1650797" cy="234696"/>
          </a:xfrm>
          <a:prstGeom prst="rect">
            <a:avLst/>
          </a:prstGeom>
          <a:noFill/>
          <a:ln>
            <a:noFill/>
          </a:ln>
        </p:spPr>
        <p:txBody>
          <a:bodyPr wrap="none" lIns="0" tIns="0" rIns="0" bIns="0" anchor="t" anchorCtr="0">
            <a:spAutoFit/>
          </a:bodyPr>
          <a:lstStyle/>
          <a:p>
            <a:pPr algn="l"/>
            <a:r>
              <a:rPr lang="en-US" sz="1200" spc="150" dirty="0">
                <a:solidFill>
                  <a:schemeClr val="dk2"/>
                </a:solidFill>
                <a:latin typeface="+mn-lt"/>
                <a:ea typeface="+mn-ea"/>
                <a:cs typeface="+mn-cs"/>
              </a:rPr>
              <a:t>03 · MOTIVATION</a:t>
            </a:r>
          </a:p>
        </p:txBody>
      </p:sp>
      <p:sp>
        <p:nvSpPr>
          <p:cNvPr id="4" name="TextBox 4"/>
          <p:cNvSpPr txBox="1"/>
          <p:nvPr/>
        </p:nvSpPr>
        <p:spPr>
          <a:xfrm>
            <a:off x="825246" y="772478"/>
            <a:ext cx="8261554"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Geometry is the right lens for memorization</a:t>
            </a:r>
          </a:p>
        </p:txBody>
      </p:sp>
      <p:sp>
        <p:nvSpPr>
          <p:cNvPr id="5" name="Line 5"/>
          <p:cNvSpPr/>
          <p:nvPr/>
        </p:nvSpPr>
        <p:spPr>
          <a:xfrm>
            <a:off x="609600" y="1238250"/>
            <a:ext cx="10972800" cy="9525"/>
          </a:xfrm>
          <a:custGeom>
            <a:avLst/>
            <a:gdLst/>
            <a:ahLst/>
            <a:cxnLst/>
            <a:rect l="l" t="t" r="r" b="b"/>
            <a:pathLst>
              <a:path w="10972800" h="9525">
                <a:moveTo>
                  <a:pt x="0" y="0"/>
                </a:moveTo>
                <a:lnTo>
                  <a:pt x="10972800" y="0"/>
                </a:lnTo>
              </a:path>
            </a:pathLst>
          </a:custGeom>
          <a:noFill/>
          <a:ln w="9525">
            <a:solidFill>
              <a:schemeClr val="accent4"/>
            </a:solidFill>
          </a:ln>
        </p:spPr>
        <p:txBody>
          <a:bodyPr/>
          <a:p/>
        </p:txBody>
      </p:sp>
      <p:sp>
        <p:nvSpPr>
          <p:cNvPr id="6" name="TextBox 6"/>
          <p:cNvSpPr txBox="1"/>
          <p:nvPr/>
        </p:nvSpPr>
        <p:spPr>
          <a:xfrm>
            <a:off x="11135490" y="561499"/>
            <a:ext cx="451863" cy="190690"/>
          </a:xfrm>
          <a:prstGeom prst="rect">
            <a:avLst/>
          </a:prstGeom>
          <a:noFill/>
          <a:ln>
            <a:noFill/>
          </a:ln>
        </p:spPr>
        <p:txBody>
          <a:bodyPr wrap="none" lIns="0" tIns="0" rIns="0" bIns="0" anchor="t" anchorCtr="0">
            <a:spAutoFit/>
          </a:bodyPr>
          <a:lstStyle/>
          <a:p>
            <a:pPr algn="r"/>
            <a:r>
              <a:rPr lang="en-US" sz="980" dirty="0">
                <a:solidFill>
                  <a:srgbClr val="8A93A6"/>
                </a:solidFill>
                <a:latin typeface="+mn-lt"/>
                <a:ea typeface="+mn-ea"/>
                <a:cs typeface="+mn-cs"/>
              </a:rPr>
              <a:t>03 / 08</a:t>
            </a:r>
          </a:p>
        </p:txBody>
      </p:sp>
      <p:grpSp>
        <p:nvGrpSpPr>
          <p:cNvPr id="15" name="Group 15"/>
          <p:cNvGrpSpPr/>
          <p:nvPr/>
        </p:nvGrpSpPr>
        <p:grpSpPr>
          <a:xfrm>
            <a:off x="609600" y="1428750"/>
            <a:ext cx="5372100" cy="2428875"/>
            <a:chOff x="609600" y="1428750"/>
            <a:chExt cx="5372100" cy="2428875"/>
          </a:xfrm>
        </p:grpSpPr>
        <p:sp>
          <p:nvSpPr>
            <p:cNvPr id="7" name="Rectangle 7"/>
            <p:cNvSpPr/>
            <p:nvPr/>
          </p:nvSpPr>
          <p:spPr>
            <a:xfrm>
              <a:off x="609600" y="1428750"/>
              <a:ext cx="5372100" cy="2428875"/>
            </a:xfrm>
            <a:prstGeom prst="roundRect">
              <a:avLst>
                <a:gd name="adj" fmla="val 5490"/>
              </a:avLst>
            </a:prstGeom>
            <a:solidFill>
              <a:schemeClr val="lt2"/>
            </a:solidFill>
            <a:ln w="9525">
              <a:solidFill>
                <a:schemeClr val="accent4"/>
              </a:solidFill>
            </a:ln>
          </p:spPr>
        </p:sp>
        <p:sp>
          <p:nvSpPr>
            <p:cNvPr id="8" name="Rectangle 8"/>
            <p:cNvSpPr/>
            <p:nvPr/>
          </p:nvSpPr>
          <p:spPr>
            <a:xfrm>
              <a:off x="609600" y="1428750"/>
              <a:ext cx="57150" cy="2428875"/>
            </a:xfrm>
            <a:prstGeom prst="roundRect">
              <a:avLst>
                <a:gd name="adj" fmla="val 50000"/>
              </a:avLst>
            </a:prstGeom>
            <a:solidFill>
              <a:schemeClr val="accent2"/>
            </a:solidFill>
            <a:ln>
              <a:noFill/>
            </a:ln>
          </p:spPr>
        </p:sp>
        <p:sp>
          <p:nvSpPr>
            <p:cNvPr id="9" name="TextBox 9"/>
            <p:cNvSpPr txBox="1"/>
            <p:nvPr/>
          </p:nvSpPr>
          <p:spPr>
            <a:xfrm>
              <a:off x="906018" y="1631632"/>
              <a:ext cx="2904531"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j-lt"/>
                  <a:ea typeface="+mj-ea"/>
                  <a:cs typeface="+mj-cs"/>
                </a:rPr>
                <a:t>The manifold hypothesis</a:t>
              </a:r>
            </a:p>
          </p:txBody>
        </p:sp>
        <p:sp>
          <p:nvSpPr>
            <p:cNvPr id="10" name="TextBox 10"/>
            <p:cNvSpPr txBox="1"/>
            <p:nvPr/>
          </p:nvSpPr>
          <p:spPr>
            <a:xfrm>
              <a:off x="907161" y="2017871"/>
              <a:ext cx="373856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Realistic data lives on a low-dimensional</a:t>
              </a:r>
            </a:p>
          </p:txBody>
        </p:sp>
        <p:sp>
          <p:nvSpPr>
            <p:cNvPr id="11" name="TextBox 11"/>
            <p:cNvSpPr txBox="1"/>
            <p:nvPr/>
          </p:nvSpPr>
          <p:spPr>
            <a:xfrm>
              <a:off x="907161" y="2265521"/>
              <a:ext cx="370387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manifold embedded in a high-dimensional</a:t>
              </a:r>
            </a:p>
          </p:txBody>
        </p:sp>
        <p:sp>
          <p:nvSpPr>
            <p:cNvPr id="12" name="TextBox 12"/>
            <p:cNvSpPr txBox="1"/>
            <p:nvPr/>
          </p:nvSpPr>
          <p:spPr>
            <a:xfrm>
              <a:off x="907161" y="2513171"/>
              <a:ext cx="64530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space.</a:t>
              </a:r>
            </a:p>
          </p:txBody>
        </p:sp>
        <p:sp>
          <p:nvSpPr>
            <p:cNvPr id="13" name="TextBox 13"/>
            <p:cNvSpPr txBox="1"/>
            <p:nvPr/>
          </p:nvSpPr>
          <p:spPr>
            <a:xfrm>
              <a:off x="907161" y="2875121"/>
              <a:ext cx="4102353"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Only a few directions really vary — the rest</a:t>
              </a:r>
            </a:p>
          </p:txBody>
        </p:sp>
        <p:sp>
          <p:nvSpPr>
            <p:cNvPr id="14" name="TextBox 14"/>
            <p:cNvSpPr txBox="1"/>
            <p:nvPr/>
          </p:nvSpPr>
          <p:spPr>
            <a:xfrm>
              <a:off x="907161" y="3122771"/>
              <a:ext cx="1285695"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is structure.</a:t>
              </a:r>
            </a:p>
          </p:txBody>
        </p:sp>
      </p:grpSp>
      <p:grpSp>
        <p:nvGrpSpPr>
          <p:cNvPr id="24" name="Group 24"/>
          <p:cNvGrpSpPr/>
          <p:nvPr/>
        </p:nvGrpSpPr>
        <p:grpSpPr>
          <a:xfrm>
            <a:off x="6210300" y="1428750"/>
            <a:ext cx="5372100" cy="2428875"/>
            <a:chOff x="6210300" y="1428750"/>
            <a:chExt cx="5372100" cy="2428875"/>
          </a:xfrm>
        </p:grpSpPr>
        <p:sp>
          <p:nvSpPr>
            <p:cNvPr id="16" name="Rectangle 16"/>
            <p:cNvSpPr/>
            <p:nvPr/>
          </p:nvSpPr>
          <p:spPr>
            <a:xfrm>
              <a:off x="6210300" y="1428750"/>
              <a:ext cx="5372100" cy="2428875"/>
            </a:xfrm>
            <a:prstGeom prst="roundRect">
              <a:avLst>
                <a:gd name="adj" fmla="val 5490"/>
              </a:avLst>
            </a:prstGeom>
            <a:solidFill>
              <a:schemeClr val="lt2"/>
            </a:solidFill>
            <a:ln w="9525">
              <a:solidFill>
                <a:schemeClr val="accent4"/>
              </a:solidFill>
            </a:ln>
          </p:spPr>
        </p:sp>
        <p:sp>
          <p:nvSpPr>
            <p:cNvPr id="17" name="Rectangle 17"/>
            <p:cNvSpPr/>
            <p:nvPr/>
          </p:nvSpPr>
          <p:spPr>
            <a:xfrm>
              <a:off x="6210300" y="1428750"/>
              <a:ext cx="57150" cy="2428875"/>
            </a:xfrm>
            <a:prstGeom prst="roundRect">
              <a:avLst>
                <a:gd name="adj" fmla="val 50000"/>
              </a:avLst>
            </a:prstGeom>
            <a:solidFill>
              <a:schemeClr val="accent3"/>
            </a:solidFill>
            <a:ln>
              <a:noFill/>
            </a:ln>
          </p:spPr>
        </p:sp>
        <p:sp>
          <p:nvSpPr>
            <p:cNvPr id="18" name="TextBox 18"/>
            <p:cNvSpPr txBox="1"/>
            <p:nvPr/>
          </p:nvSpPr>
          <p:spPr>
            <a:xfrm>
              <a:off x="6506718" y="1631632"/>
              <a:ext cx="1180709"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j-lt"/>
                  <a:ea typeface="+mj-ea"/>
                  <a:cs typeface="+mj-cs"/>
                </a:rPr>
                <a:t>Our claim</a:t>
              </a:r>
            </a:p>
          </p:txBody>
        </p:sp>
        <p:sp>
          <p:nvSpPr>
            <p:cNvPr id="19" name="TextBox 19"/>
            <p:cNvSpPr txBox="1"/>
            <p:nvPr/>
          </p:nvSpPr>
          <p:spPr>
            <a:xfrm>
              <a:off x="6507861" y="2017871"/>
              <a:ext cx="400643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This geometry is exactly the right lens for</a:t>
              </a:r>
            </a:p>
          </p:txBody>
        </p:sp>
        <p:sp>
          <p:nvSpPr>
            <p:cNvPr id="20" name="TextBox 20"/>
            <p:cNvSpPr txBox="1"/>
            <p:nvPr/>
          </p:nvSpPr>
          <p:spPr>
            <a:xfrm>
              <a:off x="6507861" y="2265521"/>
              <a:ext cx="290100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reasoning about memorization.</a:t>
              </a:r>
            </a:p>
          </p:txBody>
        </p:sp>
        <p:sp>
          <p:nvSpPr>
            <p:cNvPr id="21" name="TextBox 21"/>
            <p:cNvSpPr txBox="1"/>
            <p:nvPr/>
          </p:nvSpPr>
          <p:spPr>
            <a:xfrm>
              <a:off x="6507861" y="2627471"/>
              <a:ext cx="3748500"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A memorized point is one whose manifold</a:t>
              </a:r>
            </a:p>
          </p:txBody>
        </p:sp>
        <p:sp>
          <p:nvSpPr>
            <p:cNvPr id="22" name="TextBox 22"/>
            <p:cNvSpPr txBox="1"/>
            <p:nvPr/>
          </p:nvSpPr>
          <p:spPr>
            <a:xfrm>
              <a:off x="6507861" y="2875121"/>
              <a:ext cx="3464923"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has collapsed to very few — or zero —</a:t>
              </a:r>
            </a:p>
          </p:txBody>
        </p:sp>
        <p:sp>
          <p:nvSpPr>
            <p:cNvPr id="23" name="TextBox 23"/>
            <p:cNvSpPr txBox="1"/>
            <p:nvPr/>
          </p:nvSpPr>
          <p:spPr>
            <a:xfrm>
              <a:off x="6507861" y="3122771"/>
              <a:ext cx="1954756"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degrees of freedom.</a:t>
              </a:r>
            </a:p>
          </p:txBody>
        </p:sp>
      </p:grpSp>
      <p:grpSp>
        <p:nvGrpSpPr>
          <p:cNvPr id="33" name="Group 33"/>
          <p:cNvGrpSpPr/>
          <p:nvPr/>
        </p:nvGrpSpPr>
        <p:grpSpPr>
          <a:xfrm>
            <a:off x="609600" y="4010025"/>
            <a:ext cx="5372100" cy="2428875"/>
            <a:chOff x="609600" y="4010025"/>
            <a:chExt cx="5372100" cy="2428875"/>
          </a:xfrm>
        </p:grpSpPr>
        <p:sp>
          <p:nvSpPr>
            <p:cNvPr id="25" name="Rectangle 25"/>
            <p:cNvSpPr/>
            <p:nvPr/>
          </p:nvSpPr>
          <p:spPr>
            <a:xfrm>
              <a:off x="609600" y="4010025"/>
              <a:ext cx="5372100" cy="2428875"/>
            </a:xfrm>
            <a:prstGeom prst="roundRect">
              <a:avLst>
                <a:gd name="adj" fmla="val 5490"/>
              </a:avLst>
            </a:prstGeom>
            <a:solidFill>
              <a:schemeClr val="accent5"/>
            </a:solidFill>
            <a:ln w="9525">
              <a:solidFill>
                <a:schemeClr val="accent4"/>
              </a:solidFill>
            </a:ln>
          </p:spPr>
        </p:sp>
        <p:sp>
          <p:nvSpPr>
            <p:cNvPr id="26" name="Rectangle 26"/>
            <p:cNvSpPr/>
            <p:nvPr/>
          </p:nvSpPr>
          <p:spPr>
            <a:xfrm>
              <a:off x="609600" y="4010025"/>
              <a:ext cx="57150" cy="2428875"/>
            </a:xfrm>
            <a:prstGeom prst="roundRect">
              <a:avLst>
                <a:gd name="adj" fmla="val 50000"/>
              </a:avLst>
            </a:prstGeom>
            <a:solidFill>
              <a:srgbClr val="C2410C"/>
            </a:solidFill>
            <a:ln>
              <a:noFill/>
            </a:ln>
          </p:spPr>
        </p:sp>
        <p:sp>
          <p:nvSpPr>
            <p:cNvPr id="27" name="TextBox 27"/>
            <p:cNvSpPr txBox="1"/>
            <p:nvPr/>
          </p:nvSpPr>
          <p:spPr>
            <a:xfrm>
              <a:off x="906018" y="4212908"/>
              <a:ext cx="2362412" cy="322707"/>
            </a:xfrm>
            <a:prstGeom prst="rect">
              <a:avLst/>
            </a:prstGeom>
            <a:noFill/>
            <a:ln>
              <a:noFill/>
            </a:ln>
          </p:spPr>
          <p:txBody>
            <a:bodyPr wrap="none" lIns="0" tIns="0" rIns="0" bIns="0" anchor="t" anchorCtr="0">
              <a:spAutoFit/>
            </a:bodyPr>
            <a:lstStyle/>
            <a:p>
              <a:pPr algn="l"/>
              <a:r>
                <a:rPr lang="en-US" sz="1650" b="1" dirty="0">
                  <a:solidFill>
                    <a:srgbClr val="C2410C"/>
                  </a:solidFill>
                  <a:latin typeface="+mj-lt"/>
                  <a:ea typeface="+mj-ea"/>
                  <a:cs typeface="+mj-cs"/>
                </a:rPr>
                <a:t>Why not probability</a:t>
              </a:r>
            </a:p>
          </p:txBody>
        </p:sp>
        <p:sp>
          <p:nvSpPr>
            <p:cNvPr id="28" name="TextBox 28"/>
            <p:cNvSpPr txBox="1"/>
            <p:nvPr/>
          </p:nvSpPr>
          <p:spPr>
            <a:xfrm>
              <a:off x="907161" y="4599146"/>
              <a:ext cx="412097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Purely probabilistic frameworks demand the</a:t>
              </a:r>
            </a:p>
          </p:txBody>
        </p:sp>
        <p:sp>
          <p:nvSpPr>
            <p:cNvPr id="29" name="TextBox 29"/>
            <p:cNvSpPr txBox="1"/>
            <p:nvPr/>
          </p:nvSpPr>
          <p:spPr>
            <a:xfrm>
              <a:off x="907161" y="4846796"/>
              <a:ext cx="343624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whole training dataset and enormous</a:t>
              </a:r>
            </a:p>
          </p:txBody>
        </p:sp>
        <p:sp>
          <p:nvSpPr>
            <p:cNvPr id="30" name="TextBox 30"/>
            <p:cNvSpPr txBox="1"/>
            <p:nvPr/>
          </p:nvSpPr>
          <p:spPr>
            <a:xfrm>
              <a:off x="907161" y="5094446"/>
              <a:ext cx="142906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sample counts.</a:t>
              </a:r>
            </a:p>
          </p:txBody>
        </p:sp>
        <p:sp>
          <p:nvSpPr>
            <p:cNvPr id="31" name="TextBox 31"/>
            <p:cNvSpPr txBox="1"/>
            <p:nvPr/>
          </p:nvSpPr>
          <p:spPr>
            <a:xfrm>
              <a:off x="907161" y="5456396"/>
              <a:ext cx="3982064"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That is hopeless at LAION scale — hundreds</a:t>
              </a:r>
            </a:p>
          </p:txBody>
        </p:sp>
        <p:sp>
          <p:nvSpPr>
            <p:cNvPr id="32" name="TextBox 32"/>
            <p:cNvSpPr txBox="1"/>
            <p:nvPr/>
          </p:nvSpPr>
          <p:spPr>
            <a:xfrm>
              <a:off x="907161" y="5704046"/>
              <a:ext cx="2021662"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of millions of images.</a:t>
              </a:r>
            </a:p>
          </p:txBody>
        </p:sp>
      </p:grpSp>
      <p:grpSp>
        <p:nvGrpSpPr>
          <p:cNvPr id="42" name="Group 42"/>
          <p:cNvGrpSpPr/>
          <p:nvPr/>
        </p:nvGrpSpPr>
        <p:grpSpPr>
          <a:xfrm>
            <a:off x="6210300" y="4010025"/>
            <a:ext cx="5372100" cy="2428875"/>
            <a:chOff x="6210300" y="4010025"/>
            <a:chExt cx="5372100" cy="2428875"/>
          </a:xfrm>
        </p:grpSpPr>
        <p:sp>
          <p:nvSpPr>
            <p:cNvPr id="34" name="Rectangle 34"/>
            <p:cNvSpPr/>
            <p:nvPr/>
          </p:nvSpPr>
          <p:spPr>
            <a:xfrm>
              <a:off x="6210300" y="4010025"/>
              <a:ext cx="5372100" cy="2428875"/>
            </a:xfrm>
            <a:prstGeom prst="roundRect">
              <a:avLst>
                <a:gd name="adj" fmla="val 5490"/>
              </a:avLst>
            </a:prstGeom>
            <a:solidFill>
              <a:schemeClr val="accent5"/>
            </a:solidFill>
            <a:ln w="9525">
              <a:solidFill>
                <a:schemeClr val="accent4"/>
              </a:solidFill>
            </a:ln>
          </p:spPr>
        </p:sp>
        <p:sp>
          <p:nvSpPr>
            <p:cNvPr id="35" name="Rectangle 35"/>
            <p:cNvSpPr/>
            <p:nvPr/>
          </p:nvSpPr>
          <p:spPr>
            <a:xfrm>
              <a:off x="6210300" y="4010025"/>
              <a:ext cx="57150" cy="2428875"/>
            </a:xfrm>
            <a:prstGeom prst="roundRect">
              <a:avLst>
                <a:gd name="adj" fmla="val 50000"/>
              </a:avLst>
            </a:prstGeom>
            <a:solidFill>
              <a:schemeClr val="accent1"/>
            </a:solidFill>
            <a:ln>
              <a:noFill/>
            </a:ln>
          </p:spPr>
        </p:sp>
        <p:sp>
          <p:nvSpPr>
            <p:cNvPr id="36" name="TextBox 36"/>
            <p:cNvSpPr txBox="1"/>
            <p:nvPr/>
          </p:nvSpPr>
          <p:spPr>
            <a:xfrm>
              <a:off x="6506718" y="4212908"/>
              <a:ext cx="2622623"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j-lt"/>
                  <a:ea typeface="+mj-ea"/>
                  <a:cs typeface="+mj-cs"/>
                </a:rPr>
                <a:t>The geometric payoff</a:t>
              </a:r>
            </a:p>
          </p:txBody>
        </p:sp>
        <p:sp>
          <p:nvSpPr>
            <p:cNvPr id="37" name="TextBox 37"/>
            <p:cNvSpPr txBox="1"/>
            <p:nvPr/>
          </p:nvSpPr>
          <p:spPr>
            <a:xfrm>
              <a:off x="6507861" y="4599146"/>
              <a:ext cx="390131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 geometric framing ties memorization to</a:t>
              </a:r>
            </a:p>
          </p:txBody>
        </p:sp>
        <p:sp>
          <p:nvSpPr>
            <p:cNvPr id="38" name="TextBox 38"/>
            <p:cNvSpPr txBox="1"/>
            <p:nvPr/>
          </p:nvSpPr>
          <p:spPr>
            <a:xfrm>
              <a:off x="6507861" y="4846796"/>
              <a:ext cx="374210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one quantity — local intrinsic dimension.</a:t>
              </a:r>
            </a:p>
          </p:txBody>
        </p:sp>
        <p:sp>
          <p:nvSpPr>
            <p:cNvPr id="39" name="TextBox 39"/>
            <p:cNvSpPr txBox="1"/>
            <p:nvPr/>
          </p:nvSpPr>
          <p:spPr>
            <a:xfrm>
              <a:off x="6507861" y="5208746"/>
              <a:ext cx="3949001"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Practical estimators for it already exist,</a:t>
              </a:r>
            </a:p>
          </p:txBody>
        </p:sp>
        <p:sp>
          <p:nvSpPr>
            <p:cNvPr id="40" name="TextBox 40"/>
            <p:cNvSpPr txBox="1"/>
            <p:nvPr/>
          </p:nvSpPr>
          <p:spPr>
            <a:xfrm>
              <a:off x="6507861" y="5456396"/>
              <a:ext cx="3958407"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even for large diffusion models like Stable</a:t>
              </a:r>
            </a:p>
          </p:txBody>
        </p:sp>
        <p:sp>
          <p:nvSpPr>
            <p:cNvPr id="41" name="TextBox 41"/>
            <p:cNvSpPr txBox="1"/>
            <p:nvPr/>
          </p:nvSpPr>
          <p:spPr>
            <a:xfrm>
              <a:off x="6507861" y="5704046"/>
              <a:ext cx="976291"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Diffusion.</a:t>
              </a:r>
            </a:p>
          </p:txBody>
        </p:sp>
      </p:grpSp>
      <p:sp>
        <p:nvSpPr>
          <p:cNvPr id="43" name="TextBox 43"/>
          <p:cNvSpPr txBox="1"/>
          <p:nvPr/>
        </p:nvSpPr>
        <p:spPr>
          <a:xfrm>
            <a:off x="604647" y="6619399"/>
            <a:ext cx="4482356" cy="190690"/>
          </a:xfrm>
          <a:prstGeom prst="rect">
            <a:avLst/>
          </a:prstGeom>
          <a:noFill/>
          <a:ln>
            <a:noFill/>
          </a:ln>
        </p:spPr>
        <p:txBody>
          <a:bodyPr wrap="none" lIns="0" tIns="0" rIns="0" bIns="0" anchor="t" anchorCtr="0">
            <a:spAutoFit/>
          </a:bodyPr>
          <a:lstStyle/>
          <a:p>
            <a:pPr algn="l"/>
            <a:r>
              <a:rPr lang="en-US" sz="980" dirty="0">
                <a:solidFill>
                  <a:srgbClr val="8A93A6"/>
                </a:solidFill>
                <a:latin typeface="+mn-lt"/>
                <a:ea typeface="+mn-ea"/>
                <a:cs typeface="+mn-cs"/>
              </a:rPr>
              <a:t>A Geometric Framework for Understanding Memorization — Motivation</a:t>
            </a:r>
          </a:p>
        </p:txBody>
      </p:sp>
      <p:sp>
        <p:nvSpPr>
          <p:cNvPr id="44" name="cue_s03_c1_manifold_hypothesis_says_realistic_l" title="cue_s03_c1_manifold_hypothesis_says_realistic_l" descr="cue_s03_c1_manifold_hypothesis_says_realistic_l The manifold hypothesis says realistic data lives on a low-dimensional manifold embedded in a high-dimensional space."/>
          <p:cNvSpPr/>
          <p:nvPr/>
        </p:nvSpPr>
        <p:spPr>
          <a:xfrm>
            <a:off x="609600" y="1428521"/>
            <a:ext cx="5371795" cy="242910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3_c2_authors_argue_geometry_exactly_right" title="cue_s03_c2_authors_argue_geometry_exactly_right" descr="cue_s03_c2_authors_argue_geometry_exactly_right The authors argue that this geometry is exactly the right lens for memorization."/>
          <p:cNvSpPr/>
          <p:nvPr/>
        </p:nvSpPr>
        <p:spPr>
          <a:xfrm>
            <a:off x="6210604" y="1428521"/>
            <a:ext cx="5371795" cy="242910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3_c3_purely_probabilistic_frameworks_dema" title="cue_s03_c3_purely_probabilistic_frameworks_dema" descr="cue_s03_c3_purely_probabilistic_frameworks_dema Purely probabilistic frameworks demand the whole training dataset and enormous sample counts, which is hopeless at LAION scale."/>
          <p:cNvSpPr/>
          <p:nvPr/>
        </p:nvSpPr>
        <p:spPr>
          <a:xfrm>
            <a:off x="609600" y="4009872"/>
            <a:ext cx="5371795" cy="242910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3_c4_geometric_framing_contrast_connects" title="cue_s03_c4_geometric_framing_contrast_connects" descr="cue_s03_c4_geometric_framing_contrast_connects A geometric framing, by contrast, connects memorization to a quantity — local intrinsic dimension — for which practical estimators already exist, even for large diffusion models."/>
          <p:cNvSpPr/>
          <p:nvPr/>
        </p:nvSpPr>
        <p:spPr>
          <a:xfrm>
            <a:off x="6210604" y="4009872"/>
            <a:ext cx="5371795" cy="242910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76250"/>
            <a:ext cx="57150" cy="285750"/>
          </a:xfrm>
          <a:prstGeom prst="rect">
            <a:avLst/>
          </a:prstGeom>
          <a:solidFill>
            <a:schemeClr val="accent2"/>
          </a:solidFill>
          <a:ln>
            <a:noFill/>
          </a:ln>
        </p:spPr>
        <p:txBody>
          <a:bodyPr/>
          <a:p/>
        </p:txBody>
      </p:sp>
      <p:sp>
        <p:nvSpPr>
          <p:cNvPr id="3" name="TextBox 3"/>
          <p:cNvSpPr txBox="1"/>
          <p:nvPr/>
        </p:nvSpPr>
        <p:spPr>
          <a:xfrm>
            <a:off x="832104" y="537210"/>
            <a:ext cx="1241146" cy="234696"/>
          </a:xfrm>
          <a:prstGeom prst="rect">
            <a:avLst/>
          </a:prstGeom>
          <a:noFill/>
          <a:ln>
            <a:noFill/>
          </a:ln>
        </p:spPr>
        <p:txBody>
          <a:bodyPr wrap="none" lIns="0" tIns="0" rIns="0" bIns="0" anchor="t" anchorCtr="0">
            <a:spAutoFit/>
          </a:bodyPr>
          <a:lstStyle/>
          <a:p>
            <a:pPr algn="l"/>
            <a:r>
              <a:rPr lang="en-US" sz="1200" spc="150" dirty="0">
                <a:solidFill>
                  <a:schemeClr val="dk2"/>
                </a:solidFill>
                <a:latin typeface="+mn-lt"/>
                <a:ea typeface="+mn-ea"/>
                <a:cs typeface="+mn-cs"/>
              </a:rPr>
              <a:t>04 · METHOD</a:t>
            </a:r>
          </a:p>
        </p:txBody>
      </p:sp>
      <p:sp>
        <p:nvSpPr>
          <p:cNvPr id="4" name="TextBox 4"/>
          <p:cNvSpPr txBox="1"/>
          <p:nvPr/>
        </p:nvSpPr>
        <p:spPr>
          <a:xfrm>
            <a:off x="825246" y="772478"/>
            <a:ext cx="8164557"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Memorization = low local intrinsic dimension</a:t>
            </a:r>
          </a:p>
        </p:txBody>
      </p:sp>
      <p:sp>
        <p:nvSpPr>
          <p:cNvPr id="5" name="Line 5"/>
          <p:cNvSpPr/>
          <p:nvPr/>
        </p:nvSpPr>
        <p:spPr>
          <a:xfrm>
            <a:off x="609600" y="1238250"/>
            <a:ext cx="10972800" cy="9525"/>
          </a:xfrm>
          <a:custGeom>
            <a:avLst/>
            <a:gdLst/>
            <a:ahLst/>
            <a:cxnLst/>
            <a:rect l="l" t="t" r="r" b="b"/>
            <a:pathLst>
              <a:path w="10972800" h="9525">
                <a:moveTo>
                  <a:pt x="0" y="0"/>
                </a:moveTo>
                <a:lnTo>
                  <a:pt x="10972800" y="0"/>
                </a:lnTo>
              </a:path>
            </a:pathLst>
          </a:custGeom>
          <a:noFill/>
          <a:ln w="9525">
            <a:solidFill>
              <a:schemeClr val="accent4"/>
            </a:solidFill>
          </a:ln>
        </p:spPr>
        <p:txBody>
          <a:bodyPr/>
          <a:p/>
        </p:txBody>
      </p:sp>
      <p:sp>
        <p:nvSpPr>
          <p:cNvPr id="6" name="TextBox 6"/>
          <p:cNvSpPr txBox="1"/>
          <p:nvPr/>
        </p:nvSpPr>
        <p:spPr>
          <a:xfrm>
            <a:off x="11135490" y="561499"/>
            <a:ext cx="451863" cy="190690"/>
          </a:xfrm>
          <a:prstGeom prst="rect">
            <a:avLst/>
          </a:prstGeom>
          <a:noFill/>
          <a:ln>
            <a:noFill/>
          </a:ln>
        </p:spPr>
        <p:txBody>
          <a:bodyPr wrap="none" lIns="0" tIns="0" rIns="0" bIns="0" anchor="t" anchorCtr="0">
            <a:spAutoFit/>
          </a:bodyPr>
          <a:lstStyle/>
          <a:p>
            <a:pPr algn="r"/>
            <a:r>
              <a:rPr lang="en-US" sz="980" dirty="0">
                <a:solidFill>
                  <a:srgbClr val="8A93A6"/>
                </a:solidFill>
                <a:latin typeface="+mn-lt"/>
                <a:ea typeface="+mn-ea"/>
                <a:cs typeface="+mn-cs"/>
              </a:rPr>
              <a:t>04 / 08</a:t>
            </a:r>
          </a:p>
        </p:txBody>
      </p:sp>
      <p:grpSp>
        <p:nvGrpSpPr>
          <p:cNvPr id="14" name="Group 14"/>
          <p:cNvGrpSpPr/>
          <p:nvPr/>
        </p:nvGrpSpPr>
        <p:grpSpPr>
          <a:xfrm>
            <a:off x="609600" y="1390650"/>
            <a:ext cx="5372100" cy="1828800"/>
            <a:chOff x="609600" y="1390650"/>
            <a:chExt cx="5372100" cy="1828800"/>
          </a:xfrm>
        </p:grpSpPr>
        <p:sp>
          <p:nvSpPr>
            <p:cNvPr id="7" name="Rectangle 7"/>
            <p:cNvSpPr/>
            <p:nvPr/>
          </p:nvSpPr>
          <p:spPr>
            <a:xfrm>
              <a:off x="609600" y="1390650"/>
              <a:ext cx="5372100" cy="1828800"/>
            </a:xfrm>
            <a:prstGeom prst="roundRect">
              <a:avLst>
                <a:gd name="adj" fmla="val 7292"/>
              </a:avLst>
            </a:prstGeom>
            <a:solidFill>
              <a:schemeClr val="lt2"/>
            </a:solidFill>
            <a:ln w="9525">
              <a:solidFill>
                <a:schemeClr val="accent4"/>
              </a:solidFill>
            </a:ln>
          </p:spPr>
        </p:sp>
        <p:sp>
          <p:nvSpPr>
            <p:cNvPr id="8" name="Rectangle 8"/>
            <p:cNvSpPr/>
            <p:nvPr/>
          </p:nvSpPr>
          <p:spPr>
            <a:xfrm>
              <a:off x="609600" y="1390650"/>
              <a:ext cx="57150" cy="1828800"/>
            </a:xfrm>
            <a:prstGeom prst="roundRect">
              <a:avLst>
                <a:gd name="adj" fmla="val 50000"/>
              </a:avLst>
            </a:prstGeom>
            <a:solidFill>
              <a:schemeClr val="accent2"/>
            </a:solidFill>
            <a:ln>
              <a:noFill/>
            </a:ln>
          </p:spPr>
        </p:sp>
        <p:sp>
          <p:nvSpPr>
            <p:cNvPr id="9" name="TextBox 9"/>
            <p:cNvSpPr txBox="1"/>
            <p:nvPr/>
          </p:nvSpPr>
          <p:spPr>
            <a:xfrm>
              <a:off x="906018" y="1574482"/>
              <a:ext cx="2645024"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j-lt"/>
                  <a:ea typeface="+mj-ea"/>
                  <a:cs typeface="+mj-cs"/>
                </a:rPr>
                <a:t>1 · The quantity: LID</a:t>
              </a:r>
            </a:p>
          </p:txBody>
        </p:sp>
        <p:sp>
          <p:nvSpPr>
            <p:cNvPr id="10" name="TextBox 10"/>
            <p:cNvSpPr txBox="1"/>
            <p:nvPr/>
          </p:nvSpPr>
          <p:spPr>
            <a:xfrm>
              <a:off x="907161" y="1941671"/>
              <a:ext cx="390131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Local intrinsic dimension = the degrees of</a:t>
              </a:r>
            </a:p>
          </p:txBody>
        </p:sp>
        <p:sp>
          <p:nvSpPr>
            <p:cNvPr id="11" name="TextBox 11"/>
            <p:cNvSpPr txBox="1"/>
            <p:nvPr/>
          </p:nvSpPr>
          <p:spPr>
            <a:xfrm>
              <a:off x="907161" y="2189321"/>
              <a:ext cx="339801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freedom a point has on its manifold.</a:t>
              </a:r>
            </a:p>
          </p:txBody>
        </p:sp>
        <p:sp>
          <p:nvSpPr>
            <p:cNvPr id="12" name="TextBox 12"/>
            <p:cNvSpPr txBox="1"/>
            <p:nvPr/>
          </p:nvSpPr>
          <p:spPr>
            <a:xfrm>
              <a:off x="907161" y="2551271"/>
              <a:ext cx="3624225"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A perfectly reproduced image sits on a</a:t>
              </a:r>
            </a:p>
          </p:txBody>
        </p:sp>
        <p:sp>
          <p:nvSpPr>
            <p:cNvPr id="13" name="TextBox 13"/>
            <p:cNvSpPr txBox="1"/>
            <p:nvPr/>
          </p:nvSpPr>
          <p:spPr>
            <a:xfrm>
              <a:off x="907161" y="2798921"/>
              <a:ext cx="3598736"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0-dimensional manifold — a point mass.</a:t>
              </a:r>
            </a:p>
          </p:txBody>
        </p:sp>
      </p:grpSp>
      <p:grpSp>
        <p:nvGrpSpPr>
          <p:cNvPr id="22" name="Group 22"/>
          <p:cNvGrpSpPr/>
          <p:nvPr/>
        </p:nvGrpSpPr>
        <p:grpSpPr>
          <a:xfrm>
            <a:off x="6210300" y="1390650"/>
            <a:ext cx="5372100" cy="1828800"/>
            <a:chOff x="6210300" y="1390650"/>
            <a:chExt cx="5372100" cy="1828800"/>
          </a:xfrm>
        </p:grpSpPr>
        <p:sp>
          <p:nvSpPr>
            <p:cNvPr id="15" name="Rectangle 15"/>
            <p:cNvSpPr/>
            <p:nvPr/>
          </p:nvSpPr>
          <p:spPr>
            <a:xfrm>
              <a:off x="6210300" y="1390650"/>
              <a:ext cx="5372100" cy="1828800"/>
            </a:xfrm>
            <a:prstGeom prst="roundRect">
              <a:avLst>
                <a:gd name="adj" fmla="val 7292"/>
              </a:avLst>
            </a:prstGeom>
            <a:solidFill>
              <a:schemeClr val="lt2"/>
            </a:solidFill>
            <a:ln w="9525">
              <a:solidFill>
                <a:schemeClr val="accent4"/>
              </a:solidFill>
            </a:ln>
          </p:spPr>
        </p:sp>
        <p:sp>
          <p:nvSpPr>
            <p:cNvPr id="16" name="Rectangle 16"/>
            <p:cNvSpPr/>
            <p:nvPr/>
          </p:nvSpPr>
          <p:spPr>
            <a:xfrm>
              <a:off x="6210300" y="1390650"/>
              <a:ext cx="57150" cy="1828800"/>
            </a:xfrm>
            <a:prstGeom prst="roundRect">
              <a:avLst>
                <a:gd name="adj" fmla="val 50000"/>
              </a:avLst>
            </a:prstGeom>
            <a:solidFill>
              <a:srgbClr val="C2410C"/>
            </a:solidFill>
            <a:ln>
              <a:noFill/>
            </a:ln>
          </p:spPr>
        </p:sp>
        <p:sp>
          <p:nvSpPr>
            <p:cNvPr id="17" name="TextBox 17"/>
            <p:cNvSpPr txBox="1"/>
            <p:nvPr/>
          </p:nvSpPr>
          <p:spPr>
            <a:xfrm>
              <a:off x="6506718" y="1574482"/>
              <a:ext cx="2774149" cy="322707"/>
            </a:xfrm>
            <a:prstGeom prst="rect">
              <a:avLst/>
            </a:prstGeom>
            <a:noFill/>
            <a:ln>
              <a:noFill/>
            </a:ln>
          </p:spPr>
          <p:txBody>
            <a:bodyPr wrap="none" lIns="0" tIns="0" rIns="0" bIns="0" anchor="t" anchorCtr="0">
              <a:spAutoFit/>
            </a:bodyPr>
            <a:lstStyle/>
            <a:p>
              <a:pPr algn="l"/>
              <a:r>
                <a:rPr lang="en-US" sz="1650" b="1" dirty="0">
                  <a:solidFill>
                    <a:srgbClr val="C2410C"/>
                  </a:solidFill>
                  <a:latin typeface="+mj-lt"/>
                  <a:ea typeface="+mj-ea"/>
                  <a:cs typeface="+mj-cs"/>
                </a:rPr>
                <a:t>2 · Overfitting-driven</a:t>
              </a:r>
            </a:p>
          </p:txBody>
        </p:sp>
        <p:sp>
          <p:nvSpPr>
            <p:cNvPr id="18" name="TextBox 18"/>
            <p:cNvSpPr txBox="1"/>
            <p:nvPr/>
          </p:nvSpPr>
          <p:spPr>
            <a:xfrm>
              <a:off x="6507861" y="1941671"/>
              <a:ext cx="307012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When the model's manifold is too</a:t>
              </a:r>
            </a:p>
          </p:txBody>
        </p:sp>
        <p:sp>
          <p:nvSpPr>
            <p:cNvPr id="19" name="TextBox 19"/>
            <p:cNvSpPr txBox="1"/>
            <p:nvPr/>
          </p:nvSpPr>
          <p:spPr>
            <a:xfrm>
              <a:off x="6507861" y="2189321"/>
              <a:ext cx="325464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constrained relative to the truth.</a:t>
              </a:r>
            </a:p>
          </p:txBody>
        </p:sp>
        <p:sp>
          <p:nvSpPr>
            <p:cNvPr id="20" name="TextBox 20"/>
            <p:cNvSpPr txBox="1"/>
            <p:nvPr/>
          </p:nvSpPr>
          <p:spPr>
            <a:xfrm>
              <a:off x="6507861" y="2551271"/>
              <a:ext cx="3576351"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A genuine modelling failure — the model</a:t>
              </a:r>
            </a:p>
          </p:txBody>
        </p:sp>
        <p:sp>
          <p:nvSpPr>
            <p:cNvPr id="21" name="TextBox 21"/>
            <p:cNvSpPr txBox="1"/>
            <p:nvPr/>
          </p:nvSpPr>
          <p:spPr>
            <a:xfrm>
              <a:off x="6507861" y="2798921"/>
              <a:ext cx="3149509"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itself has collapsed the manifold.</a:t>
              </a:r>
            </a:p>
          </p:txBody>
        </p:sp>
      </p:grpSp>
      <p:grpSp>
        <p:nvGrpSpPr>
          <p:cNvPr id="30" name="Group 30"/>
          <p:cNvGrpSpPr/>
          <p:nvPr/>
        </p:nvGrpSpPr>
        <p:grpSpPr>
          <a:xfrm>
            <a:off x="609600" y="3371850"/>
            <a:ext cx="5372100" cy="1828800"/>
            <a:chOff x="609600" y="3371850"/>
            <a:chExt cx="5372100" cy="1828800"/>
          </a:xfrm>
        </p:grpSpPr>
        <p:sp>
          <p:nvSpPr>
            <p:cNvPr id="23" name="Rectangle 23"/>
            <p:cNvSpPr/>
            <p:nvPr/>
          </p:nvSpPr>
          <p:spPr>
            <a:xfrm>
              <a:off x="609600" y="3371850"/>
              <a:ext cx="5372100" cy="1828800"/>
            </a:xfrm>
            <a:prstGeom prst="roundRect">
              <a:avLst>
                <a:gd name="adj" fmla="val 7292"/>
              </a:avLst>
            </a:prstGeom>
            <a:solidFill>
              <a:schemeClr val="accent5"/>
            </a:solidFill>
            <a:ln w="9525">
              <a:solidFill>
                <a:schemeClr val="accent4"/>
              </a:solidFill>
            </a:ln>
          </p:spPr>
        </p:sp>
        <p:sp>
          <p:nvSpPr>
            <p:cNvPr id="24" name="Rectangle 24"/>
            <p:cNvSpPr/>
            <p:nvPr/>
          </p:nvSpPr>
          <p:spPr>
            <a:xfrm>
              <a:off x="609600" y="3371850"/>
              <a:ext cx="57150" cy="1828800"/>
            </a:xfrm>
            <a:prstGeom prst="roundRect">
              <a:avLst>
                <a:gd name="adj" fmla="val 50000"/>
              </a:avLst>
            </a:prstGeom>
            <a:solidFill>
              <a:schemeClr val="accent3"/>
            </a:solidFill>
            <a:ln>
              <a:noFill/>
            </a:ln>
          </p:spPr>
        </p:sp>
        <p:sp>
          <p:nvSpPr>
            <p:cNvPr id="25" name="TextBox 25"/>
            <p:cNvSpPr txBox="1"/>
            <p:nvPr/>
          </p:nvSpPr>
          <p:spPr>
            <a:xfrm>
              <a:off x="906018" y="3555682"/>
              <a:ext cx="1904600"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j-lt"/>
                  <a:ea typeface="+mj-ea"/>
                  <a:cs typeface="+mj-cs"/>
                </a:rPr>
                <a:t>3 · Data-driven</a:t>
              </a:r>
            </a:p>
          </p:txBody>
        </p:sp>
        <p:sp>
          <p:nvSpPr>
            <p:cNvPr id="26" name="TextBox 26"/>
            <p:cNvSpPr txBox="1"/>
            <p:nvPr/>
          </p:nvSpPr>
          <p:spPr>
            <a:xfrm>
              <a:off x="907161" y="3922871"/>
              <a:ext cx="376622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When LID is intrinsically small even for a</a:t>
              </a:r>
            </a:p>
          </p:txBody>
        </p:sp>
        <p:sp>
          <p:nvSpPr>
            <p:cNvPr id="27" name="TextBox 27"/>
            <p:cNvSpPr txBox="1"/>
            <p:nvPr/>
          </p:nvSpPr>
          <p:spPr>
            <a:xfrm>
              <a:off x="907161" y="4170521"/>
              <a:ext cx="435381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correct model — e.g. a highly specific prompt.</a:t>
              </a:r>
            </a:p>
          </p:txBody>
        </p:sp>
        <p:sp>
          <p:nvSpPr>
            <p:cNvPr id="28" name="TextBox 28"/>
            <p:cNvSpPr txBox="1"/>
            <p:nvPr/>
          </p:nvSpPr>
          <p:spPr>
            <a:xfrm>
              <a:off x="907161" y="4532471"/>
              <a:ext cx="3585926"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Invisible to a comparison of train- and</a:t>
              </a:r>
            </a:p>
          </p:txBody>
        </p:sp>
        <p:sp>
          <p:nvSpPr>
            <p:cNvPr id="29" name="TextBox 29"/>
            <p:cNvSpPr txBox="1"/>
            <p:nvPr/>
          </p:nvSpPr>
          <p:spPr>
            <a:xfrm>
              <a:off x="907161" y="4780121"/>
              <a:ext cx="1983430"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test-set likelihoods.</a:t>
              </a:r>
            </a:p>
          </p:txBody>
        </p:sp>
      </p:grpSp>
      <p:grpSp>
        <p:nvGrpSpPr>
          <p:cNvPr id="38" name="Group 38"/>
          <p:cNvGrpSpPr/>
          <p:nvPr/>
        </p:nvGrpSpPr>
        <p:grpSpPr>
          <a:xfrm>
            <a:off x="6210300" y="3371850"/>
            <a:ext cx="5372100" cy="1828800"/>
            <a:chOff x="6210300" y="3371850"/>
            <a:chExt cx="5372100" cy="1828800"/>
          </a:xfrm>
        </p:grpSpPr>
        <p:sp>
          <p:nvSpPr>
            <p:cNvPr id="31" name="Rectangle 31"/>
            <p:cNvSpPr/>
            <p:nvPr/>
          </p:nvSpPr>
          <p:spPr>
            <a:xfrm>
              <a:off x="6210300" y="3371850"/>
              <a:ext cx="5372100" cy="1828800"/>
            </a:xfrm>
            <a:prstGeom prst="roundRect">
              <a:avLst>
                <a:gd name="adj" fmla="val 7292"/>
              </a:avLst>
            </a:prstGeom>
            <a:solidFill>
              <a:schemeClr val="accent5"/>
            </a:solidFill>
            <a:ln w="9525">
              <a:solidFill>
                <a:schemeClr val="accent4"/>
              </a:solidFill>
            </a:ln>
          </p:spPr>
        </p:sp>
        <p:sp>
          <p:nvSpPr>
            <p:cNvPr id="32" name="Rectangle 32"/>
            <p:cNvSpPr/>
            <p:nvPr/>
          </p:nvSpPr>
          <p:spPr>
            <a:xfrm>
              <a:off x="6210300" y="3371850"/>
              <a:ext cx="57150" cy="1828800"/>
            </a:xfrm>
            <a:prstGeom prst="roundRect">
              <a:avLst>
                <a:gd name="adj" fmla="val 50000"/>
              </a:avLst>
            </a:prstGeom>
            <a:solidFill>
              <a:schemeClr val="accent1"/>
            </a:solidFill>
            <a:ln>
              <a:noFill/>
            </a:ln>
          </p:spPr>
        </p:sp>
        <p:sp>
          <p:nvSpPr>
            <p:cNvPr id="33" name="TextBox 33"/>
            <p:cNvSpPr txBox="1"/>
            <p:nvPr/>
          </p:nvSpPr>
          <p:spPr>
            <a:xfrm>
              <a:off x="6506718" y="3555682"/>
              <a:ext cx="2786625"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j-lt"/>
                  <a:ea typeface="+mj-ea"/>
                  <a:cs typeface="+mj-cs"/>
                </a:rPr>
                <a:t>4 · Estimating at scale</a:t>
              </a:r>
            </a:p>
          </p:txBody>
        </p:sp>
        <p:sp>
          <p:nvSpPr>
            <p:cNvPr id="34" name="TextBox 34"/>
            <p:cNvSpPr txBox="1"/>
            <p:nvPr/>
          </p:nvSpPr>
          <p:spPr>
            <a:xfrm>
              <a:off x="6507861" y="3922871"/>
              <a:ext cx="395310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True LID is intractable at SD scale, so use</a:t>
              </a:r>
            </a:p>
          </p:txBody>
        </p:sp>
        <p:sp>
          <p:nvSpPr>
            <p:cNvPr id="35" name="TextBox 35"/>
            <p:cNvSpPr txBox="1"/>
            <p:nvPr/>
          </p:nvSpPr>
          <p:spPr>
            <a:xfrm>
              <a:off x="6507861" y="4170521"/>
              <a:ext cx="368667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three proxies: unconditional FLIPD LID,</a:t>
              </a:r>
            </a:p>
          </p:txBody>
        </p:sp>
        <p:sp>
          <p:nvSpPr>
            <p:cNvPr id="36" name="TextBox 36"/>
            <p:cNvSpPr txBox="1"/>
            <p:nvPr/>
          </p:nvSpPr>
          <p:spPr>
            <a:xfrm>
              <a:off x="6507861" y="4418171"/>
              <a:ext cx="392531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conditional LID, and the CFG vector norm.</a:t>
              </a:r>
            </a:p>
          </p:txBody>
        </p:sp>
        <p:sp>
          <p:nvSpPr>
            <p:cNvPr id="37" name="TextBox 37"/>
            <p:cNvSpPr txBox="1"/>
            <p:nvPr/>
          </p:nvSpPr>
          <p:spPr>
            <a:xfrm>
              <a:off x="6507861" y="4780121"/>
              <a:ext cx="4139960"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They prove conditioning can only reduce LID.</a:t>
              </a:r>
            </a:p>
          </p:txBody>
        </p:sp>
      </p:grpSp>
      <p:sp>
        <p:nvSpPr>
          <p:cNvPr id="39" name="Rectangle 39"/>
          <p:cNvSpPr/>
          <p:nvPr/>
        </p:nvSpPr>
        <p:spPr>
          <a:xfrm>
            <a:off x="609600" y="5353050"/>
            <a:ext cx="10972800" cy="1123950"/>
          </a:xfrm>
          <a:prstGeom prst="roundRect">
            <a:avLst>
              <a:gd name="adj" fmla="val 11864"/>
            </a:avLst>
          </a:prstGeom>
          <a:solidFill>
            <a:schemeClr val="accent1"/>
          </a:solidFill>
          <a:ln>
            <a:noFill/>
          </a:ln>
        </p:spPr>
        <p:txBody>
          <a:bodyPr/>
          <a:p/>
        </p:txBody>
      </p:sp>
      <p:sp>
        <p:nvSpPr>
          <p:cNvPr id="40" name="TextBox 40"/>
          <p:cNvSpPr txBox="1"/>
          <p:nvPr/>
        </p:nvSpPr>
        <p:spPr>
          <a:xfrm>
            <a:off x="909447" y="5590699"/>
            <a:ext cx="3467903" cy="190690"/>
          </a:xfrm>
          <a:prstGeom prst="rect">
            <a:avLst/>
          </a:prstGeom>
          <a:noFill/>
          <a:ln>
            <a:noFill/>
          </a:ln>
        </p:spPr>
        <p:txBody>
          <a:bodyPr wrap="none" lIns="0" tIns="0" rIns="0" bIns="0" anchor="t" anchorCtr="0">
            <a:spAutoFit/>
          </a:bodyPr>
          <a:lstStyle/>
          <a:p>
            <a:pPr algn="l"/>
            <a:r>
              <a:rPr lang="en-US" sz="980" spc="150" dirty="0">
                <a:solidFill>
                  <a:schemeClr val="accent6"/>
                </a:solidFill>
                <a:latin typeface="+mn-lt"/>
                <a:ea typeface="+mn-ea"/>
                <a:cs typeface="+mn-cs"/>
              </a:rPr>
              <a:t>THE MANIFOLD MEMORIZATION HYPOTHESIS</a:t>
            </a:r>
          </a:p>
        </p:txBody>
      </p:sp>
      <p:sp>
        <p:nvSpPr>
          <p:cNvPr id="41" name="TextBox 41"/>
          <p:cNvSpPr txBox="1"/>
          <p:nvPr/>
        </p:nvSpPr>
        <p:spPr>
          <a:xfrm>
            <a:off x="907161" y="5865971"/>
            <a:ext cx="6645773" cy="278702"/>
          </a:xfrm>
          <a:prstGeom prst="rect">
            <a:avLst/>
          </a:prstGeom>
          <a:noFill/>
          <a:ln>
            <a:noFill/>
          </a:ln>
        </p:spPr>
        <p:txBody>
          <a:bodyPr wrap="none" lIns="0" tIns="0" rIns="0" bIns="0" anchor="t" anchorCtr="0">
            <a:spAutoFit/>
          </a:bodyPr>
          <a:lstStyle/>
          <a:p>
            <a:pPr algn="l"/>
            <a:r>
              <a:rPr lang="en-US" sz="1420" dirty="0">
                <a:solidFill>
                  <a:srgbClr val="FFFFFF"/>
                </a:solidFill>
                <a:latin typeface="Consolas"/>
                <a:ea typeface="Consolas"/>
                <a:cs typeface="Consolas"/>
              </a:rPr>
              <a:t>A point x is memorized when its model local dimension LID_θ(x) is small.</a:t>
            </a:r>
          </a:p>
        </p:txBody>
      </p:sp>
      <p:sp>
        <p:nvSpPr>
          <p:cNvPr id="42" name="TextBox 42"/>
          <p:cNvSpPr txBox="1"/>
          <p:nvPr/>
        </p:nvSpPr>
        <p:spPr>
          <a:xfrm>
            <a:off x="907161" y="6151721"/>
            <a:ext cx="7102813" cy="278702"/>
          </a:xfrm>
          <a:prstGeom prst="rect">
            <a:avLst/>
          </a:prstGeom>
          <a:noFill/>
          <a:ln>
            <a:noFill/>
          </a:ln>
        </p:spPr>
        <p:txBody>
          <a:bodyPr wrap="none" lIns="0" tIns="0" rIns="0" bIns="0" anchor="t" anchorCtr="0">
            <a:spAutoFit/>
          </a:bodyPr>
          <a:lstStyle/>
          <a:p>
            <a:pPr algn="l"/>
            <a:r>
              <a:rPr lang="en-US" sz="1420" dirty="0">
                <a:solidFill>
                  <a:srgbClr val="FFFFFF"/>
                </a:solidFill>
                <a:latin typeface="Consolas"/>
                <a:ea typeface="Consolas"/>
                <a:cs typeface="Consolas"/>
              </a:rPr>
              <a:t>Overfitting-driven: LID_θ(x) ≪ LID*(x) Data-driven: LID*(x) is itself small</a:t>
            </a:r>
          </a:p>
        </p:txBody>
      </p:sp>
      <p:sp>
        <p:nvSpPr>
          <p:cNvPr id="43" name="TextBox 43"/>
          <p:cNvSpPr txBox="1"/>
          <p:nvPr/>
        </p:nvSpPr>
        <p:spPr>
          <a:xfrm>
            <a:off x="604647" y="6619399"/>
            <a:ext cx="476009" cy="190690"/>
          </a:xfrm>
          <a:prstGeom prst="rect">
            <a:avLst/>
          </a:prstGeom>
          <a:noFill/>
          <a:ln>
            <a:noFill/>
          </a:ln>
        </p:spPr>
        <p:txBody>
          <a:bodyPr wrap="none" lIns="0" tIns="0" rIns="0" bIns="0" anchor="t" anchorCtr="0">
            <a:spAutoFit/>
          </a:bodyPr>
          <a:lstStyle/>
          <a:p>
            <a:pPr algn="l"/>
            <a:r>
              <a:rPr lang="en-US" sz="980" dirty="0">
                <a:solidFill>
                  <a:srgbClr val="8A93A6">
                    <a:alphaMod val="0"/>
                  </a:srgbClr>
                </a:solidFill>
                <a:latin typeface="+mn-lt"/>
                <a:ea typeface="+mn-ea"/>
                <a:cs typeface="+mn-cs"/>
              </a:rPr>
              <a:t>Method</a:t>
            </a:r>
          </a:p>
        </p:txBody>
      </p:sp>
      <p:sp>
        <p:nvSpPr>
          <p:cNvPr id="44" name="cue_s04_c1_central_quantity_local_intrinsic_dim" title="cue_s04_c1_central_quantity_local_intrinsic_dim" descr="cue_s04_c1_central_quantity_local_intrinsic_dim The central quantity is local intrinsic dimension, the number of degrees of freedom a datapoint has on its manifold. A perfectly reproduced training image sits on a zero-dimensional manifold — a point mass. The manifold memorization hypothesis compares the mod"/>
          <p:cNvSpPr/>
          <p:nvPr/>
        </p:nvSpPr>
        <p:spPr>
          <a:xfrm>
            <a:off x="609600" y="1390802"/>
            <a:ext cx="5371795"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4_c2_when_manifold_too_constrained_relati" title="cue_s04_c2_when_manifold_too_constrained_relati" descr="cue_s04_c2_when_manifold_too_constrained_relati When the model's manifold is too constrained relative to the truth, that is overfitting-driven memorization, a genuine modelling failure."/>
          <p:cNvSpPr/>
          <p:nvPr/>
        </p:nvSpPr>
        <p:spPr>
          <a:xfrm>
            <a:off x="6210604" y="1390802"/>
            <a:ext cx="5371795"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4_c3_when_local_dimension_intrinsically_s" title="cue_s04_c3_when_local_dimension_intrinsically_s" descr="cue_s04_c3_when_local_dimension_intrinsically_s When the local dimension is intrinsically small even for a correct model — think of a highly specific prompt like the title of a famous artwork — that is data-driven memorization, which cannot be caught by comparing train and test likelihoods."/>
          <p:cNvSpPr/>
          <p:nvPr/>
        </p:nvSpPr>
        <p:spPr>
          <a:xfrm>
            <a:off x="609600" y="3372078"/>
            <a:ext cx="5371795"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4_c4_because_true_lid_cannot_estimated" title="cue_s04_c4_because_true_lid_cannot_estimated" descr="cue_s04_c4_because_true_lid_cannot_estimated Because true LID cannot be estimated at Stable Diffusion scale, the authors use three practical proxies for the model's LID: an unconditional estimate from the FLIPD algorithm, a conditional estimate, and the classifier-free guidance vector norm. They also pro"/>
          <p:cNvSpPr/>
          <p:nvPr/>
        </p:nvSpPr>
        <p:spPr>
          <a:xfrm>
            <a:off x="6210604" y="3372078"/>
            <a:ext cx="5371795"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76250"/>
            <a:ext cx="57150" cy="285750"/>
          </a:xfrm>
          <a:prstGeom prst="rect">
            <a:avLst/>
          </a:prstGeom>
          <a:solidFill>
            <a:schemeClr val="accent2"/>
          </a:solidFill>
          <a:ln>
            <a:noFill/>
          </a:ln>
        </p:spPr>
        <p:txBody>
          <a:bodyPr/>
          <a:p/>
        </p:txBody>
      </p:sp>
      <p:sp>
        <p:nvSpPr>
          <p:cNvPr id="3" name="TextBox 3"/>
          <p:cNvSpPr txBox="1"/>
          <p:nvPr/>
        </p:nvSpPr>
        <p:spPr>
          <a:xfrm>
            <a:off x="832104" y="537210"/>
            <a:ext cx="2619451" cy="234696"/>
          </a:xfrm>
          <a:prstGeom prst="rect">
            <a:avLst/>
          </a:prstGeom>
          <a:noFill/>
          <a:ln>
            <a:noFill/>
          </a:ln>
        </p:spPr>
        <p:txBody>
          <a:bodyPr wrap="none" lIns="0" tIns="0" rIns="0" bIns="0" anchor="t" anchorCtr="0">
            <a:spAutoFit/>
          </a:bodyPr>
          <a:lstStyle/>
          <a:p>
            <a:pPr algn="l"/>
            <a:r>
              <a:rPr lang="en-US" sz="1200" spc="150" dirty="0">
                <a:solidFill>
                  <a:schemeClr val="dk2"/>
                </a:solidFill>
                <a:latin typeface="+mn-lt"/>
                <a:ea typeface="+mn-ea"/>
                <a:cs typeface="+mn-cs"/>
              </a:rPr>
              <a:t>05 · DATASET / BENCHMARK</a:t>
            </a:r>
          </a:p>
        </p:txBody>
      </p:sp>
      <p:sp>
        <p:nvSpPr>
          <p:cNvPr id="4" name="TextBox 4"/>
          <p:cNvSpPr txBox="1"/>
          <p:nvPr/>
        </p:nvSpPr>
        <p:spPr>
          <a:xfrm>
            <a:off x="825246" y="772478"/>
            <a:ext cx="8548844"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One framework, validated across every scale</a:t>
            </a:r>
          </a:p>
        </p:txBody>
      </p:sp>
      <p:sp>
        <p:nvSpPr>
          <p:cNvPr id="5" name="Line 5"/>
          <p:cNvSpPr/>
          <p:nvPr/>
        </p:nvSpPr>
        <p:spPr>
          <a:xfrm>
            <a:off x="609600" y="1238250"/>
            <a:ext cx="10972800" cy="9525"/>
          </a:xfrm>
          <a:custGeom>
            <a:avLst/>
            <a:gdLst/>
            <a:ahLst/>
            <a:cxnLst/>
            <a:rect l="l" t="t" r="r" b="b"/>
            <a:pathLst>
              <a:path w="10972800" h="9525">
                <a:moveTo>
                  <a:pt x="0" y="0"/>
                </a:moveTo>
                <a:lnTo>
                  <a:pt x="10972800" y="0"/>
                </a:lnTo>
              </a:path>
            </a:pathLst>
          </a:custGeom>
          <a:noFill/>
          <a:ln w="9525">
            <a:solidFill>
              <a:schemeClr val="accent4"/>
            </a:solidFill>
          </a:ln>
        </p:spPr>
        <p:txBody>
          <a:bodyPr/>
          <a:p/>
        </p:txBody>
      </p:sp>
      <p:sp>
        <p:nvSpPr>
          <p:cNvPr id="6" name="TextBox 6"/>
          <p:cNvSpPr txBox="1"/>
          <p:nvPr/>
        </p:nvSpPr>
        <p:spPr>
          <a:xfrm>
            <a:off x="11135490" y="561499"/>
            <a:ext cx="451863" cy="190690"/>
          </a:xfrm>
          <a:prstGeom prst="rect">
            <a:avLst/>
          </a:prstGeom>
          <a:noFill/>
          <a:ln>
            <a:noFill/>
          </a:ln>
        </p:spPr>
        <p:txBody>
          <a:bodyPr wrap="none" lIns="0" tIns="0" rIns="0" bIns="0" anchor="t" anchorCtr="0">
            <a:spAutoFit/>
          </a:bodyPr>
          <a:lstStyle/>
          <a:p>
            <a:pPr algn="r"/>
            <a:r>
              <a:rPr lang="en-US" sz="980" dirty="0">
                <a:solidFill>
                  <a:srgbClr val="8A93A6"/>
                </a:solidFill>
                <a:latin typeface="+mn-lt"/>
                <a:ea typeface="+mn-ea"/>
                <a:cs typeface="+mn-cs"/>
              </a:rPr>
              <a:t>05 / 08</a:t>
            </a:r>
          </a:p>
        </p:txBody>
      </p:sp>
      <p:grpSp>
        <p:nvGrpSpPr>
          <p:cNvPr id="11" name="Group 11"/>
          <p:cNvGrpSpPr/>
          <p:nvPr/>
        </p:nvGrpSpPr>
        <p:grpSpPr>
          <a:xfrm>
            <a:off x="609600" y="1428750"/>
            <a:ext cx="10972800" cy="876300"/>
            <a:chOff x="609600" y="1428750"/>
            <a:chExt cx="10972800" cy="876300"/>
          </a:xfrm>
        </p:grpSpPr>
        <p:sp>
          <p:nvSpPr>
            <p:cNvPr id="7" name="Rectangle 7"/>
            <p:cNvSpPr/>
            <p:nvPr/>
          </p:nvSpPr>
          <p:spPr>
            <a:xfrm>
              <a:off x="609600" y="1428750"/>
              <a:ext cx="10972800" cy="876300"/>
            </a:xfrm>
            <a:prstGeom prst="roundRect">
              <a:avLst>
                <a:gd name="adj" fmla="val 15217"/>
              </a:avLst>
            </a:prstGeom>
            <a:solidFill>
              <a:schemeClr val="accent1"/>
            </a:solidFill>
            <a:ln>
              <a:noFill/>
            </a:ln>
          </p:spPr>
        </p:sp>
        <p:sp>
          <p:nvSpPr>
            <p:cNvPr id="8" name="Rectangle 8"/>
            <p:cNvSpPr/>
            <p:nvPr/>
          </p:nvSpPr>
          <p:spPr>
            <a:xfrm>
              <a:off x="609600" y="1428750"/>
              <a:ext cx="57150" cy="876300"/>
            </a:xfrm>
            <a:prstGeom prst="roundRect">
              <a:avLst>
                <a:gd name="adj" fmla="val 50000"/>
              </a:avLst>
            </a:prstGeom>
            <a:solidFill>
              <a:schemeClr val="accent2"/>
            </a:solidFill>
            <a:ln>
              <a:noFill/>
            </a:ln>
          </p:spPr>
        </p:sp>
        <p:sp>
          <p:nvSpPr>
            <p:cNvPr id="9" name="TextBox 9"/>
            <p:cNvSpPr txBox="1"/>
            <p:nvPr/>
          </p:nvSpPr>
          <p:spPr>
            <a:xfrm>
              <a:off x="906018" y="1631632"/>
              <a:ext cx="6034874"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j-lt"/>
                  <a:ea typeface="+mj-ea"/>
                  <a:cs typeface="+mj-cs"/>
                </a:rPr>
                <a:t>The experiments deliberately sweep across scales</a:t>
              </a:r>
            </a:p>
          </p:txBody>
        </p:sp>
        <p:sp>
          <p:nvSpPr>
            <p:cNvPr id="10" name="TextBox 10"/>
            <p:cNvSpPr txBox="1"/>
            <p:nvPr/>
          </p:nvSpPr>
          <p:spPr>
            <a:xfrm>
              <a:off x="907161" y="1960721"/>
              <a:ext cx="8655596" cy="278702"/>
            </a:xfrm>
            <a:prstGeom prst="rect">
              <a:avLst/>
            </a:prstGeom>
            <a:noFill/>
            <a:ln>
              <a:noFill/>
            </a:ln>
          </p:spPr>
          <p:txBody>
            <a:bodyPr wrap="none" lIns="0" tIns="0" rIns="0" bIns="0" anchor="t" anchorCtr="0">
              <a:spAutoFit/>
            </a:bodyPr>
            <a:lstStyle/>
            <a:p>
              <a:pPr algn="l"/>
              <a:r>
                <a:rPr lang="en-US" sz="1420" dirty="0">
                  <a:solidFill>
                    <a:schemeClr val="accent6"/>
                  </a:solidFill>
                  <a:latin typeface="+mn-lt"/>
                  <a:ea typeface="+mn-ea"/>
                  <a:cs typeface="+mn-cs"/>
                </a:rPr>
                <a:t>From toy data where ground truth is exactly computable, all the way up to Stable Diffusion.</a:t>
              </a:r>
            </a:p>
          </p:txBody>
        </p:sp>
      </p:grpSp>
      <p:grpSp>
        <p:nvGrpSpPr>
          <p:cNvPr id="22" name="Group 22"/>
          <p:cNvGrpSpPr/>
          <p:nvPr/>
        </p:nvGrpSpPr>
        <p:grpSpPr>
          <a:xfrm>
            <a:off x="609600" y="2495550"/>
            <a:ext cx="3505200" cy="3943350"/>
            <a:chOff x="609600" y="2495550"/>
            <a:chExt cx="3505200" cy="3943350"/>
          </a:xfrm>
        </p:grpSpPr>
        <p:sp>
          <p:nvSpPr>
            <p:cNvPr id="12" name="Rectangle 12"/>
            <p:cNvSpPr/>
            <p:nvPr/>
          </p:nvSpPr>
          <p:spPr>
            <a:xfrm>
              <a:off x="609600" y="2495550"/>
              <a:ext cx="3505200" cy="3943350"/>
            </a:xfrm>
            <a:prstGeom prst="roundRect">
              <a:avLst>
                <a:gd name="adj" fmla="val 3804"/>
              </a:avLst>
            </a:prstGeom>
            <a:solidFill>
              <a:schemeClr val="lt2"/>
            </a:solidFill>
            <a:ln w="9525">
              <a:solidFill>
                <a:schemeClr val="accent4"/>
              </a:solidFill>
            </a:ln>
          </p:spPr>
        </p:sp>
        <p:sp>
          <p:nvSpPr>
            <p:cNvPr id="13" name="Rectangle 13"/>
            <p:cNvSpPr/>
            <p:nvPr/>
          </p:nvSpPr>
          <p:spPr>
            <a:xfrm>
              <a:off x="609600" y="2495550"/>
              <a:ext cx="57150" cy="3943350"/>
            </a:xfrm>
            <a:prstGeom prst="roundRect">
              <a:avLst>
                <a:gd name="adj" fmla="val 50000"/>
              </a:avLst>
            </a:prstGeom>
            <a:solidFill>
              <a:schemeClr val="accent2"/>
            </a:solidFill>
            <a:ln>
              <a:noFill/>
            </a:ln>
          </p:spPr>
        </p:sp>
        <p:sp>
          <p:nvSpPr>
            <p:cNvPr id="14" name="TextBox 14"/>
            <p:cNvSpPr txBox="1"/>
            <p:nvPr/>
          </p:nvSpPr>
          <p:spPr>
            <a:xfrm>
              <a:off x="909066" y="2763202"/>
              <a:ext cx="1120140" cy="205359"/>
            </a:xfrm>
            <a:prstGeom prst="rect">
              <a:avLst/>
            </a:prstGeom>
            <a:noFill/>
            <a:ln>
              <a:noFill/>
            </a:ln>
          </p:spPr>
          <p:txBody>
            <a:bodyPr wrap="none" lIns="0" tIns="0" rIns="0" bIns="0" anchor="t" anchorCtr="0">
              <a:spAutoFit/>
            </a:bodyPr>
            <a:lstStyle/>
            <a:p>
              <a:pPr algn="l"/>
              <a:r>
                <a:rPr lang="en-US" sz="1050" spc="150" dirty="0">
                  <a:solidFill>
                    <a:schemeClr val="accent2"/>
                  </a:solidFill>
                  <a:latin typeface="+mn-lt"/>
                  <a:ea typeface="+mn-ea"/>
                  <a:cs typeface="+mn-cs"/>
                </a:rPr>
                <a:t>SMALL SCALE</a:t>
              </a:r>
            </a:p>
          </p:txBody>
        </p:sp>
        <p:sp>
          <p:nvSpPr>
            <p:cNvPr id="15" name="TextBox 15"/>
            <p:cNvSpPr txBox="1"/>
            <p:nvPr/>
          </p:nvSpPr>
          <p:spPr>
            <a:xfrm>
              <a:off x="905256" y="3025140"/>
              <a:ext cx="1693313"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2D synthetic</a:t>
              </a:r>
            </a:p>
          </p:txBody>
        </p:sp>
        <p:sp>
          <p:nvSpPr>
            <p:cNvPr id="16" name="TextBox 16"/>
            <p:cNvSpPr txBox="1"/>
            <p:nvPr/>
          </p:nvSpPr>
          <p:spPr>
            <a:xfrm>
              <a:off x="907161" y="3522821"/>
              <a:ext cx="248651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Two-dimensional synthetic</a:t>
              </a:r>
            </a:p>
          </p:txBody>
        </p:sp>
        <p:sp>
          <p:nvSpPr>
            <p:cNvPr id="17" name="TextBox 17"/>
            <p:cNvSpPr txBox="1"/>
            <p:nvPr/>
          </p:nvSpPr>
          <p:spPr>
            <a:xfrm>
              <a:off x="907161" y="3770471"/>
              <a:ext cx="190406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von Mises mixtures.</a:t>
              </a:r>
            </a:p>
          </p:txBody>
        </p:sp>
        <p:sp>
          <p:nvSpPr>
            <p:cNvPr id="18" name="TextBox 18"/>
            <p:cNvSpPr txBox="1"/>
            <p:nvPr/>
          </p:nvSpPr>
          <p:spPr>
            <a:xfrm>
              <a:off x="907161" y="4208621"/>
              <a:ext cx="1769784"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Ground-truth local</a:t>
              </a:r>
            </a:p>
          </p:txBody>
        </p:sp>
        <p:sp>
          <p:nvSpPr>
            <p:cNvPr id="19" name="TextBox 19"/>
            <p:cNvSpPr txBox="1"/>
            <p:nvPr/>
          </p:nvSpPr>
          <p:spPr>
            <a:xfrm>
              <a:off x="907161" y="4456271"/>
              <a:ext cx="2480447"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dimension can be computed</a:t>
              </a:r>
            </a:p>
          </p:txBody>
        </p:sp>
        <p:sp>
          <p:nvSpPr>
            <p:cNvPr id="20" name="TextBox 20"/>
            <p:cNvSpPr txBox="1"/>
            <p:nvPr/>
          </p:nvSpPr>
          <p:spPr>
            <a:xfrm>
              <a:off x="907161" y="4703921"/>
              <a:ext cx="2203265"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exactly — a clean sanity</a:t>
              </a:r>
            </a:p>
          </p:txBody>
        </p:sp>
        <p:sp>
          <p:nvSpPr>
            <p:cNvPr id="21" name="TextBox 21"/>
            <p:cNvSpPr txBox="1"/>
            <p:nvPr/>
          </p:nvSpPr>
          <p:spPr>
            <a:xfrm>
              <a:off x="907161" y="4951571"/>
              <a:ext cx="2079010"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check for the theory.</a:t>
              </a:r>
            </a:p>
          </p:txBody>
        </p:sp>
      </p:grpSp>
      <p:grpSp>
        <p:nvGrpSpPr>
          <p:cNvPr id="33" name="Group 33"/>
          <p:cNvGrpSpPr/>
          <p:nvPr/>
        </p:nvGrpSpPr>
        <p:grpSpPr>
          <a:xfrm>
            <a:off x="4343400" y="2495550"/>
            <a:ext cx="3505200" cy="3943350"/>
            <a:chOff x="4343400" y="2495550"/>
            <a:chExt cx="3505200" cy="3943350"/>
          </a:xfrm>
        </p:grpSpPr>
        <p:sp>
          <p:nvSpPr>
            <p:cNvPr id="23" name="Rectangle 23"/>
            <p:cNvSpPr/>
            <p:nvPr/>
          </p:nvSpPr>
          <p:spPr>
            <a:xfrm>
              <a:off x="4343400" y="2495550"/>
              <a:ext cx="3505200" cy="3943350"/>
            </a:xfrm>
            <a:prstGeom prst="roundRect">
              <a:avLst>
                <a:gd name="adj" fmla="val 3804"/>
              </a:avLst>
            </a:prstGeom>
            <a:solidFill>
              <a:schemeClr val="lt2"/>
            </a:solidFill>
            <a:ln w="9525">
              <a:solidFill>
                <a:schemeClr val="accent4"/>
              </a:solidFill>
            </a:ln>
          </p:spPr>
        </p:sp>
        <p:sp>
          <p:nvSpPr>
            <p:cNvPr id="24" name="Rectangle 24"/>
            <p:cNvSpPr/>
            <p:nvPr/>
          </p:nvSpPr>
          <p:spPr>
            <a:xfrm>
              <a:off x="4343400" y="2495550"/>
              <a:ext cx="57150" cy="3943350"/>
            </a:xfrm>
            <a:prstGeom prst="roundRect">
              <a:avLst>
                <a:gd name="adj" fmla="val 50000"/>
              </a:avLst>
            </a:prstGeom>
            <a:solidFill>
              <a:schemeClr val="accent3"/>
            </a:solidFill>
            <a:ln>
              <a:noFill/>
            </a:ln>
          </p:spPr>
        </p:sp>
        <p:sp>
          <p:nvSpPr>
            <p:cNvPr id="25" name="TextBox 25"/>
            <p:cNvSpPr txBox="1"/>
            <p:nvPr/>
          </p:nvSpPr>
          <p:spPr>
            <a:xfrm>
              <a:off x="4642866" y="2763202"/>
              <a:ext cx="1186282" cy="205359"/>
            </a:xfrm>
            <a:prstGeom prst="rect">
              <a:avLst/>
            </a:prstGeom>
            <a:noFill/>
            <a:ln>
              <a:noFill/>
            </a:ln>
          </p:spPr>
          <p:txBody>
            <a:bodyPr wrap="none" lIns="0" tIns="0" rIns="0" bIns="0" anchor="t" anchorCtr="0">
              <a:spAutoFit/>
            </a:bodyPr>
            <a:lstStyle/>
            <a:p>
              <a:pPr algn="l"/>
              <a:r>
                <a:rPr lang="en-US" sz="1050" spc="150" dirty="0">
                  <a:solidFill>
                    <a:schemeClr val="accent3"/>
                  </a:solidFill>
                  <a:latin typeface="+mn-lt"/>
                  <a:ea typeface="+mn-ea"/>
                  <a:cs typeface="+mn-cs"/>
                </a:rPr>
                <a:t>MIDDLE SCALE</a:t>
              </a:r>
            </a:p>
          </p:txBody>
        </p:sp>
        <p:sp>
          <p:nvSpPr>
            <p:cNvPr id="26" name="TextBox 26"/>
            <p:cNvSpPr txBox="1"/>
            <p:nvPr/>
          </p:nvSpPr>
          <p:spPr>
            <a:xfrm>
              <a:off x="4639056" y="3025140"/>
              <a:ext cx="1373017"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CIFAR-10</a:t>
              </a:r>
            </a:p>
          </p:txBody>
        </p:sp>
        <p:sp>
          <p:nvSpPr>
            <p:cNvPr id="27" name="TextBox 27"/>
            <p:cNvSpPr txBox="1"/>
            <p:nvPr/>
          </p:nvSpPr>
          <p:spPr>
            <a:xfrm>
              <a:off x="4640961" y="3522821"/>
              <a:ext cx="212419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 StyleGAN2-ADA model</a:t>
              </a:r>
            </a:p>
          </p:txBody>
        </p:sp>
        <p:sp>
          <p:nvSpPr>
            <p:cNvPr id="28" name="TextBox 28"/>
            <p:cNvSpPr txBox="1"/>
            <p:nvPr/>
          </p:nvSpPr>
          <p:spPr>
            <a:xfrm>
              <a:off x="4640961" y="3770471"/>
              <a:ext cx="210361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and an iDDPM diffusion</a:t>
              </a:r>
            </a:p>
          </p:txBody>
        </p:sp>
        <p:sp>
          <p:nvSpPr>
            <p:cNvPr id="29" name="TextBox 29"/>
            <p:cNvSpPr txBox="1"/>
            <p:nvPr/>
          </p:nvSpPr>
          <p:spPr>
            <a:xfrm>
              <a:off x="4640961" y="4018121"/>
              <a:ext cx="63574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model.</a:t>
              </a:r>
            </a:p>
          </p:txBody>
        </p:sp>
        <p:sp>
          <p:nvSpPr>
            <p:cNvPr id="30" name="TextBox 30"/>
            <p:cNvSpPr txBox="1"/>
            <p:nvPr/>
          </p:nvSpPr>
          <p:spPr>
            <a:xfrm>
              <a:off x="4640961" y="4456271"/>
              <a:ext cx="2507498"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Both trained on CIFAR-10 —</a:t>
              </a:r>
            </a:p>
          </p:txBody>
        </p:sp>
        <p:sp>
          <p:nvSpPr>
            <p:cNvPr id="31" name="TextBox 31"/>
            <p:cNvSpPr txBox="1"/>
            <p:nvPr/>
          </p:nvSpPr>
          <p:spPr>
            <a:xfrm>
              <a:off x="4640961" y="4703921"/>
              <a:ext cx="2165032"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two model families at a</a:t>
              </a:r>
            </a:p>
          </p:txBody>
        </p:sp>
        <p:sp>
          <p:nvSpPr>
            <p:cNvPr id="32" name="TextBox 32"/>
            <p:cNvSpPr txBox="1"/>
            <p:nvPr/>
          </p:nvSpPr>
          <p:spPr>
            <a:xfrm>
              <a:off x="4640961" y="4951571"/>
              <a:ext cx="1820944"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realistic mid scale.</a:t>
              </a:r>
            </a:p>
          </p:txBody>
        </p:sp>
      </p:grpSp>
      <p:grpSp>
        <p:nvGrpSpPr>
          <p:cNvPr id="44" name="Group 44"/>
          <p:cNvGrpSpPr/>
          <p:nvPr/>
        </p:nvGrpSpPr>
        <p:grpSpPr>
          <a:xfrm>
            <a:off x="8077200" y="2495550"/>
            <a:ext cx="3505200" cy="3943350"/>
            <a:chOff x="8077200" y="2495550"/>
            <a:chExt cx="3505200" cy="3943350"/>
          </a:xfrm>
        </p:grpSpPr>
        <p:sp>
          <p:nvSpPr>
            <p:cNvPr id="34" name="Rectangle 34"/>
            <p:cNvSpPr/>
            <p:nvPr/>
          </p:nvSpPr>
          <p:spPr>
            <a:xfrm>
              <a:off x="8077200" y="2495550"/>
              <a:ext cx="3505200" cy="3943350"/>
            </a:xfrm>
            <a:prstGeom prst="roundRect">
              <a:avLst>
                <a:gd name="adj" fmla="val 3804"/>
              </a:avLst>
            </a:prstGeom>
            <a:solidFill>
              <a:schemeClr val="accent5"/>
            </a:solidFill>
            <a:ln w="9525">
              <a:solidFill>
                <a:schemeClr val="accent4"/>
              </a:solidFill>
            </a:ln>
          </p:spPr>
        </p:sp>
        <p:sp>
          <p:nvSpPr>
            <p:cNvPr id="35" name="Rectangle 35"/>
            <p:cNvSpPr/>
            <p:nvPr/>
          </p:nvSpPr>
          <p:spPr>
            <a:xfrm>
              <a:off x="8077200" y="2495550"/>
              <a:ext cx="57150" cy="3943350"/>
            </a:xfrm>
            <a:prstGeom prst="roundRect">
              <a:avLst>
                <a:gd name="adj" fmla="val 50000"/>
              </a:avLst>
            </a:prstGeom>
            <a:solidFill>
              <a:srgbClr val="C2410C"/>
            </a:solidFill>
            <a:ln>
              <a:noFill/>
            </a:ln>
          </p:spPr>
        </p:sp>
        <p:sp>
          <p:nvSpPr>
            <p:cNvPr id="36" name="TextBox 36"/>
            <p:cNvSpPr txBox="1"/>
            <p:nvPr/>
          </p:nvSpPr>
          <p:spPr>
            <a:xfrm>
              <a:off x="8376666" y="2763202"/>
              <a:ext cx="1090270" cy="205359"/>
            </a:xfrm>
            <a:prstGeom prst="rect">
              <a:avLst/>
            </a:prstGeom>
            <a:noFill/>
            <a:ln>
              <a:noFill/>
            </a:ln>
          </p:spPr>
          <p:txBody>
            <a:bodyPr wrap="none" lIns="0" tIns="0" rIns="0" bIns="0" anchor="t" anchorCtr="0">
              <a:spAutoFit/>
            </a:bodyPr>
            <a:lstStyle/>
            <a:p>
              <a:pPr algn="l"/>
              <a:r>
                <a:rPr lang="en-US" sz="1050" spc="150" dirty="0">
                  <a:solidFill>
                    <a:srgbClr val="C2410C"/>
                  </a:solidFill>
                  <a:latin typeface="+mn-lt"/>
                  <a:ea typeface="+mn-ea"/>
                  <a:cs typeface="+mn-cs"/>
                </a:rPr>
                <a:t>LARGE SCALE</a:t>
              </a:r>
            </a:p>
          </p:txBody>
        </p:sp>
        <p:sp>
          <p:nvSpPr>
            <p:cNvPr id="37" name="TextBox 37"/>
            <p:cNvSpPr txBox="1"/>
            <p:nvPr/>
          </p:nvSpPr>
          <p:spPr>
            <a:xfrm>
              <a:off x="8372856" y="3025140"/>
              <a:ext cx="2714305"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j-lt"/>
                  <a:ea typeface="+mj-ea"/>
                  <a:cs typeface="+mj-cs"/>
                </a:rPr>
                <a:t>Stable Diffusion 1.5</a:t>
              </a:r>
            </a:p>
          </p:txBody>
        </p:sp>
        <p:sp>
          <p:nvSpPr>
            <p:cNvPr id="38" name="TextBox 38"/>
            <p:cNvSpPr txBox="1"/>
            <p:nvPr/>
          </p:nvSpPr>
          <p:spPr>
            <a:xfrm>
              <a:off x="8374761" y="3522821"/>
              <a:ext cx="219370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86 verbatim-memorized</a:t>
              </a:r>
            </a:p>
          </p:txBody>
        </p:sp>
        <p:sp>
          <p:nvSpPr>
            <p:cNvPr id="39" name="TextBox 39"/>
            <p:cNvSpPr txBox="1"/>
            <p:nvPr/>
          </p:nvSpPr>
          <p:spPr>
            <a:xfrm>
              <a:off x="8374761" y="3770471"/>
              <a:ext cx="198526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LAION images studied</a:t>
              </a:r>
            </a:p>
          </p:txBody>
        </p:sp>
        <p:sp>
          <p:nvSpPr>
            <p:cNvPr id="40" name="TextBox 40"/>
            <p:cNvSpPr txBox="1"/>
            <p:nvPr/>
          </p:nvSpPr>
          <p:spPr>
            <a:xfrm>
              <a:off x="8374761" y="4018121"/>
              <a:ext cx="197387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against thousands of</a:t>
              </a:r>
            </a:p>
          </p:txBody>
        </p:sp>
        <p:sp>
          <p:nvSpPr>
            <p:cNvPr id="41" name="TextBox 41"/>
            <p:cNvSpPr txBox="1"/>
            <p:nvPr/>
          </p:nvSpPr>
          <p:spPr>
            <a:xfrm>
              <a:off x="8374761" y="4265771"/>
              <a:ext cx="219370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non-memorized images.</a:t>
              </a:r>
            </a:p>
          </p:txBody>
        </p:sp>
        <p:sp>
          <p:nvSpPr>
            <p:cNvPr id="42" name="TextBox 42"/>
            <p:cNvSpPr txBox="1"/>
            <p:nvPr/>
          </p:nvSpPr>
          <p:spPr>
            <a:xfrm>
              <a:off x="8374761" y="4703921"/>
              <a:ext cx="2880644"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Drawn from LAION Aesthetics,</a:t>
              </a:r>
            </a:p>
          </p:txBody>
        </p:sp>
        <p:sp>
          <p:nvSpPr>
            <p:cNvPr id="43" name="TextBox 43"/>
            <p:cNvSpPr txBox="1"/>
            <p:nvPr/>
          </p:nvSpPr>
          <p:spPr>
            <a:xfrm>
              <a:off x="8374761" y="4951571"/>
              <a:ext cx="1964726"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COCO, and Tuxemon.</a:t>
              </a:r>
            </a:p>
          </p:txBody>
        </p:sp>
      </p:grpSp>
      <p:sp>
        <p:nvSpPr>
          <p:cNvPr id="45" name="TextBox 45"/>
          <p:cNvSpPr txBox="1"/>
          <p:nvPr/>
        </p:nvSpPr>
        <p:spPr>
          <a:xfrm>
            <a:off x="604647" y="6619399"/>
            <a:ext cx="5285995" cy="190690"/>
          </a:xfrm>
          <a:prstGeom prst="rect">
            <a:avLst/>
          </a:prstGeom>
          <a:noFill/>
          <a:ln>
            <a:noFill/>
          </a:ln>
        </p:spPr>
        <p:txBody>
          <a:bodyPr wrap="none" lIns="0" tIns="0" rIns="0" bIns="0" anchor="t" anchorCtr="0">
            <a:spAutoFit/>
          </a:bodyPr>
          <a:lstStyle/>
          <a:p>
            <a:pPr algn="l"/>
            <a:r>
              <a:rPr lang="en-US" sz="980" dirty="0">
                <a:solidFill>
                  <a:srgbClr val="8A93A6"/>
                </a:solidFill>
                <a:latin typeface="+mn-lt"/>
                <a:ea typeface="+mn-ea"/>
                <a:cs typeface="+mn-cs"/>
              </a:rPr>
              <a:t>A Geometric Framework for Understanding Memorization — Datasets &amp; Benchmarks</a:t>
            </a:r>
          </a:p>
        </p:txBody>
      </p:sp>
      <p:sp>
        <p:nvSpPr>
          <p:cNvPr id="46" name="cue_s05_c1_experiments_deliberately_sweep_acros" title="cue_s05_c1_experiments_deliberately_sweep_acros" descr="cue_s05_c1_experiments_deliberately_sweep_acros The experiments deliberately sweep across scales."/>
          <p:cNvSpPr/>
          <p:nvPr/>
        </p:nvSpPr>
        <p:spPr>
          <a:xfrm>
            <a:off x="609600" y="1428521"/>
            <a:ext cx="10972800"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5_c2_small_end_two_dimensional_synthetic" title="cue_s05_c2_small_end_two_dimensional_synthetic" descr="cue_s05_c2_small_end_two_dimensional_synthetic At the small end, two-dimensional synthetic von Mises mixtures let the authors compute ground-truth local dimension exactly."/>
          <p:cNvSpPr/>
          <p:nvPr/>
        </p:nvSpPr>
        <p:spPr>
          <a:xfrm>
            <a:off x="609600" y="2495626"/>
            <a:ext cx="3505199" cy="3943349"/>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5_c3_middle_stylegan2_ada_iddpm_diffusion" title="cue_s05_c3_middle_stylegan2_ada_iddpm_diffusion" descr="cue_s05_c3_middle_stylegan2_ada_iddpm_diffusion In the middle, StyleGAN2-ADA and an iDDPM diffusion model on CIFAR10."/>
          <p:cNvSpPr/>
          <p:nvPr/>
        </p:nvSpPr>
        <p:spPr>
          <a:xfrm>
            <a:off x="4344009" y="2495626"/>
            <a:ext cx="3505199" cy="3943349"/>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5_c4_large_end_stable_diffusion_version" title="cue_s05_c4_large_end_stable_diffusion_version" descr="cue_s05_c4_large_end_stable_diffusion_version At the large end, Stable Diffusion version 1.5, where they study 86 verbatim-memorized LAION images against thousands of non-memorized images drawn from LAION Aesthetics, COCO, and the Tuxemon dataset."/>
          <p:cNvSpPr/>
          <p:nvPr/>
        </p:nvSpPr>
        <p:spPr>
          <a:xfrm>
            <a:off x="8077200" y="2495626"/>
            <a:ext cx="3505199" cy="3943349"/>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76250"/>
            <a:ext cx="57150" cy="285750"/>
          </a:xfrm>
          <a:prstGeom prst="rect">
            <a:avLst/>
          </a:prstGeom>
          <a:solidFill>
            <a:schemeClr val="accent2"/>
          </a:solidFill>
          <a:ln>
            <a:noFill/>
          </a:ln>
        </p:spPr>
        <p:txBody>
          <a:bodyPr/>
          <a:p/>
        </p:txBody>
      </p:sp>
      <p:sp>
        <p:nvSpPr>
          <p:cNvPr id="3" name="TextBox 3"/>
          <p:cNvSpPr txBox="1"/>
          <p:nvPr/>
        </p:nvSpPr>
        <p:spPr>
          <a:xfrm>
            <a:off x="832104" y="537210"/>
            <a:ext cx="1591056" cy="234696"/>
          </a:xfrm>
          <a:prstGeom prst="rect">
            <a:avLst/>
          </a:prstGeom>
          <a:noFill/>
          <a:ln>
            <a:noFill/>
          </a:ln>
        </p:spPr>
        <p:txBody>
          <a:bodyPr wrap="none" lIns="0" tIns="0" rIns="0" bIns="0" anchor="t" anchorCtr="0">
            <a:spAutoFit/>
          </a:bodyPr>
          <a:lstStyle/>
          <a:p>
            <a:pPr algn="l"/>
            <a:r>
              <a:rPr lang="en-US" sz="1200" spc="150" dirty="0">
                <a:solidFill>
                  <a:schemeClr val="dk2"/>
                </a:solidFill>
                <a:latin typeface="+mn-lt"/>
                <a:ea typeface="+mn-ea"/>
                <a:cs typeface="+mn-cs"/>
              </a:rPr>
              <a:t>06 · KEY RESULT</a:t>
            </a:r>
          </a:p>
        </p:txBody>
      </p:sp>
      <p:sp>
        <p:nvSpPr>
          <p:cNvPr id="4" name="TextBox 4"/>
          <p:cNvSpPr txBox="1"/>
          <p:nvPr/>
        </p:nvSpPr>
        <p:spPr>
          <a:xfrm>
            <a:off x="825246" y="772478"/>
            <a:ext cx="8582339"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Local intrinsic dimension tracks memorization</a:t>
            </a:r>
          </a:p>
        </p:txBody>
      </p:sp>
      <p:sp>
        <p:nvSpPr>
          <p:cNvPr id="5" name="Line 5"/>
          <p:cNvSpPr/>
          <p:nvPr/>
        </p:nvSpPr>
        <p:spPr>
          <a:xfrm>
            <a:off x="609600" y="1238250"/>
            <a:ext cx="10972800" cy="9525"/>
          </a:xfrm>
          <a:custGeom>
            <a:avLst/>
            <a:gdLst/>
            <a:ahLst/>
            <a:cxnLst/>
            <a:rect l="l" t="t" r="r" b="b"/>
            <a:pathLst>
              <a:path w="10972800" h="9525">
                <a:moveTo>
                  <a:pt x="0" y="0"/>
                </a:moveTo>
                <a:lnTo>
                  <a:pt x="10972800" y="0"/>
                </a:lnTo>
              </a:path>
            </a:pathLst>
          </a:custGeom>
          <a:noFill/>
          <a:ln w="9525">
            <a:solidFill>
              <a:schemeClr val="accent4"/>
            </a:solidFill>
          </a:ln>
        </p:spPr>
        <p:txBody>
          <a:bodyPr/>
          <a:p/>
        </p:txBody>
      </p:sp>
      <p:sp>
        <p:nvSpPr>
          <p:cNvPr id="6" name="TextBox 6"/>
          <p:cNvSpPr txBox="1"/>
          <p:nvPr/>
        </p:nvSpPr>
        <p:spPr>
          <a:xfrm>
            <a:off x="11135490" y="561499"/>
            <a:ext cx="451863" cy="190690"/>
          </a:xfrm>
          <a:prstGeom prst="rect">
            <a:avLst/>
          </a:prstGeom>
          <a:noFill/>
          <a:ln>
            <a:noFill/>
          </a:ln>
        </p:spPr>
        <p:txBody>
          <a:bodyPr wrap="none" lIns="0" tIns="0" rIns="0" bIns="0" anchor="t" anchorCtr="0">
            <a:spAutoFit/>
          </a:bodyPr>
          <a:lstStyle/>
          <a:p>
            <a:pPr algn="r"/>
            <a:r>
              <a:rPr lang="en-US" sz="980" dirty="0">
                <a:solidFill>
                  <a:srgbClr val="8A93A6"/>
                </a:solidFill>
                <a:latin typeface="+mn-lt"/>
                <a:ea typeface="+mn-ea"/>
                <a:cs typeface="+mn-cs"/>
              </a:rPr>
              <a:t>06 / 08</a:t>
            </a:r>
          </a:p>
        </p:txBody>
      </p:sp>
      <p:grpSp>
        <p:nvGrpSpPr>
          <p:cNvPr id="12" name="Group 12"/>
          <p:cNvGrpSpPr/>
          <p:nvPr/>
        </p:nvGrpSpPr>
        <p:grpSpPr>
          <a:xfrm>
            <a:off x="609600" y="1428750"/>
            <a:ext cx="5219700" cy="1123950"/>
            <a:chOff x="609600" y="1428750"/>
            <a:chExt cx="5219700" cy="1123950"/>
          </a:xfrm>
        </p:grpSpPr>
        <p:sp>
          <p:nvSpPr>
            <p:cNvPr id="7" name="Rectangle 7"/>
            <p:cNvSpPr/>
            <p:nvPr/>
          </p:nvSpPr>
          <p:spPr>
            <a:xfrm>
              <a:off x="609600" y="1428750"/>
              <a:ext cx="5219700" cy="1123950"/>
            </a:xfrm>
            <a:prstGeom prst="roundRect">
              <a:avLst>
                <a:gd name="adj" fmla="val 11864"/>
              </a:avLst>
            </a:prstGeom>
            <a:solidFill>
              <a:schemeClr val="lt2"/>
            </a:solidFill>
            <a:ln w="9525">
              <a:solidFill>
                <a:schemeClr val="accent4"/>
              </a:solidFill>
            </a:ln>
          </p:spPr>
        </p:sp>
        <p:sp>
          <p:nvSpPr>
            <p:cNvPr id="8" name="Rectangle 8"/>
            <p:cNvSpPr/>
            <p:nvPr/>
          </p:nvSpPr>
          <p:spPr>
            <a:xfrm>
              <a:off x="609600" y="1428750"/>
              <a:ext cx="57150" cy="1123950"/>
            </a:xfrm>
            <a:prstGeom prst="roundRect">
              <a:avLst>
                <a:gd name="adj" fmla="val 50000"/>
              </a:avLst>
            </a:prstGeom>
            <a:solidFill>
              <a:schemeClr val="accent2"/>
            </a:solidFill>
            <a:ln>
              <a:noFill/>
            </a:ln>
          </p:spPr>
        </p:sp>
        <p:sp>
          <p:nvSpPr>
            <p:cNvPr id="9" name="TextBox 9"/>
            <p:cNvSpPr txBox="1"/>
            <p:nvPr/>
          </p:nvSpPr>
          <p:spPr>
            <a:xfrm>
              <a:off x="906399" y="1620679"/>
              <a:ext cx="1823074" cy="308039"/>
            </a:xfrm>
            <a:prstGeom prst="rect">
              <a:avLst/>
            </a:prstGeom>
            <a:noFill/>
            <a:ln>
              <a:noFill/>
            </a:ln>
          </p:spPr>
          <p:txBody>
            <a:bodyPr wrap="none" lIns="0" tIns="0" rIns="0" bIns="0" anchor="t" anchorCtr="0">
              <a:spAutoFit/>
            </a:bodyPr>
            <a:lstStyle/>
            <a:p>
              <a:pPr algn="l"/>
              <a:r>
                <a:rPr lang="en-US" sz="1580" b="1" dirty="0">
                  <a:solidFill>
                    <a:schemeClr val="accent2"/>
                  </a:solidFill>
                  <a:latin typeface="+mj-lt"/>
                  <a:ea typeface="+mj-ea"/>
                  <a:cs typeface="+mj-cs"/>
                </a:rPr>
                <a:t>Universal signal</a:t>
              </a:r>
            </a:p>
          </p:txBody>
        </p:sp>
        <p:sp>
          <p:nvSpPr>
            <p:cNvPr id="10" name="TextBox 10"/>
            <p:cNvSpPr txBox="1"/>
            <p:nvPr/>
          </p:nvSpPr>
          <p:spPr>
            <a:xfrm>
              <a:off x="907161" y="1960721"/>
              <a:ext cx="380875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LID tracks memorization everywhere the</a:t>
              </a:r>
            </a:p>
          </p:txBody>
        </p:sp>
        <p:sp>
          <p:nvSpPr>
            <p:cNvPr id="11" name="TextBox 11"/>
            <p:cNvSpPr txBox="1"/>
            <p:nvPr/>
          </p:nvSpPr>
          <p:spPr>
            <a:xfrm>
              <a:off x="907161" y="2208371"/>
              <a:ext cx="454656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authors look — from 2D data to Stable Diffusion.</a:t>
              </a:r>
            </a:p>
          </p:txBody>
        </p:sp>
      </p:grpSp>
      <p:grpSp>
        <p:nvGrpSpPr>
          <p:cNvPr id="18" name="Group 18"/>
          <p:cNvGrpSpPr/>
          <p:nvPr/>
        </p:nvGrpSpPr>
        <p:grpSpPr>
          <a:xfrm>
            <a:off x="609600" y="2647950"/>
            <a:ext cx="5219700" cy="1123950"/>
            <a:chOff x="609600" y="2647950"/>
            <a:chExt cx="5219700" cy="1123950"/>
          </a:xfrm>
        </p:grpSpPr>
        <p:sp>
          <p:nvSpPr>
            <p:cNvPr id="13" name="Rectangle 13"/>
            <p:cNvSpPr/>
            <p:nvPr/>
          </p:nvSpPr>
          <p:spPr>
            <a:xfrm>
              <a:off x="609600" y="2647950"/>
              <a:ext cx="5219700" cy="1123950"/>
            </a:xfrm>
            <a:prstGeom prst="roundRect">
              <a:avLst>
                <a:gd name="adj" fmla="val 11864"/>
              </a:avLst>
            </a:prstGeom>
            <a:solidFill>
              <a:schemeClr val="lt2"/>
            </a:solidFill>
            <a:ln w="9525">
              <a:solidFill>
                <a:schemeClr val="accent4"/>
              </a:solidFill>
            </a:ln>
          </p:spPr>
        </p:sp>
        <p:sp>
          <p:nvSpPr>
            <p:cNvPr id="14" name="Rectangle 14"/>
            <p:cNvSpPr/>
            <p:nvPr/>
          </p:nvSpPr>
          <p:spPr>
            <a:xfrm>
              <a:off x="609600" y="2647950"/>
              <a:ext cx="57150" cy="1123950"/>
            </a:xfrm>
            <a:prstGeom prst="roundRect">
              <a:avLst>
                <a:gd name="adj" fmla="val 50000"/>
              </a:avLst>
            </a:prstGeom>
            <a:solidFill>
              <a:schemeClr val="accent3"/>
            </a:solidFill>
            <a:ln>
              <a:noFill/>
            </a:ln>
          </p:spPr>
        </p:sp>
        <p:sp>
          <p:nvSpPr>
            <p:cNvPr id="15" name="TextBox 15"/>
            <p:cNvSpPr txBox="1"/>
            <p:nvPr/>
          </p:nvSpPr>
          <p:spPr>
            <a:xfrm>
              <a:off x="906399" y="2839879"/>
              <a:ext cx="1613266" cy="308039"/>
            </a:xfrm>
            <a:prstGeom prst="rect">
              <a:avLst/>
            </a:prstGeom>
            <a:noFill/>
            <a:ln>
              <a:noFill/>
            </a:ln>
          </p:spPr>
          <p:txBody>
            <a:bodyPr wrap="none" lIns="0" tIns="0" rIns="0" bIns="0" anchor="t" anchorCtr="0">
              <a:spAutoFit/>
            </a:bodyPr>
            <a:lstStyle/>
            <a:p>
              <a:pPr algn="l"/>
              <a:r>
                <a:rPr lang="en-US" sz="1580" b="1" dirty="0">
                  <a:solidFill>
                    <a:schemeClr val="accent3"/>
                  </a:solidFill>
                  <a:latin typeface="+mj-lt"/>
                  <a:ea typeface="+mj-ea"/>
                  <a:cs typeface="+mj-cs"/>
                </a:rPr>
                <a:t>The signature</a:t>
              </a:r>
            </a:p>
          </p:txBody>
        </p:sp>
        <p:sp>
          <p:nvSpPr>
            <p:cNvPr id="16" name="TextBox 16"/>
            <p:cNvSpPr txBox="1"/>
            <p:nvPr/>
          </p:nvSpPr>
          <p:spPr>
            <a:xfrm>
              <a:off x="907161" y="3179921"/>
              <a:ext cx="3508588"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Memorized images reliably get low LID</a:t>
              </a:r>
            </a:p>
          </p:txBody>
        </p:sp>
        <p:sp>
          <p:nvSpPr>
            <p:cNvPr id="17" name="TextBox 17"/>
            <p:cNvSpPr txBox="1"/>
            <p:nvPr/>
          </p:nvSpPr>
          <p:spPr>
            <a:xfrm>
              <a:off x="907161" y="3427571"/>
              <a:ext cx="356135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estimates and high CFG vector norms.</a:t>
              </a:r>
            </a:p>
          </p:txBody>
        </p:sp>
      </p:grpSp>
      <p:grpSp>
        <p:nvGrpSpPr>
          <p:cNvPr id="24" name="Group 24"/>
          <p:cNvGrpSpPr/>
          <p:nvPr/>
        </p:nvGrpSpPr>
        <p:grpSpPr>
          <a:xfrm>
            <a:off x="609600" y="3867150"/>
            <a:ext cx="5219700" cy="1123950"/>
            <a:chOff x="609600" y="3867150"/>
            <a:chExt cx="5219700" cy="1123950"/>
          </a:xfrm>
        </p:grpSpPr>
        <p:sp>
          <p:nvSpPr>
            <p:cNvPr id="19" name="Rectangle 19"/>
            <p:cNvSpPr/>
            <p:nvPr/>
          </p:nvSpPr>
          <p:spPr>
            <a:xfrm>
              <a:off x="609600" y="3867150"/>
              <a:ext cx="5219700" cy="1123950"/>
            </a:xfrm>
            <a:prstGeom prst="roundRect">
              <a:avLst>
                <a:gd name="adj" fmla="val 11864"/>
              </a:avLst>
            </a:prstGeom>
            <a:solidFill>
              <a:schemeClr val="accent5"/>
            </a:solidFill>
            <a:ln w="9525">
              <a:solidFill>
                <a:schemeClr val="accent4"/>
              </a:solidFill>
            </a:ln>
          </p:spPr>
        </p:sp>
        <p:sp>
          <p:nvSpPr>
            <p:cNvPr id="20" name="Rectangle 20"/>
            <p:cNvSpPr/>
            <p:nvPr/>
          </p:nvSpPr>
          <p:spPr>
            <a:xfrm>
              <a:off x="609600" y="3867150"/>
              <a:ext cx="57150" cy="1123950"/>
            </a:xfrm>
            <a:prstGeom prst="roundRect">
              <a:avLst>
                <a:gd name="adj" fmla="val 50000"/>
              </a:avLst>
            </a:prstGeom>
            <a:solidFill>
              <a:srgbClr val="C2410C"/>
            </a:solidFill>
            <a:ln>
              <a:noFill/>
            </a:ln>
          </p:spPr>
        </p:sp>
        <p:sp>
          <p:nvSpPr>
            <p:cNvPr id="21" name="TextBox 21"/>
            <p:cNvSpPr txBox="1"/>
            <p:nvPr/>
          </p:nvSpPr>
          <p:spPr>
            <a:xfrm>
              <a:off x="906399" y="4059079"/>
              <a:ext cx="2723028" cy="308039"/>
            </a:xfrm>
            <a:prstGeom prst="rect">
              <a:avLst/>
            </a:prstGeom>
            <a:noFill/>
            <a:ln>
              <a:noFill/>
            </a:ln>
          </p:spPr>
          <p:txBody>
            <a:bodyPr wrap="none" lIns="0" tIns="0" rIns="0" bIns="0" anchor="t" anchorCtr="0">
              <a:spAutoFit/>
            </a:bodyPr>
            <a:lstStyle/>
            <a:p>
              <a:pPr algn="l"/>
              <a:r>
                <a:rPr lang="en-US" sz="1580" b="1" dirty="0">
                  <a:solidFill>
                    <a:srgbClr val="C2410C"/>
                  </a:solidFill>
                  <a:latin typeface="+mj-lt"/>
                  <a:ea typeface="+mj-ea"/>
                  <a:cs typeface="+mj-cs"/>
                </a:rPr>
                <a:t>Caption-free detection</a:t>
              </a:r>
            </a:p>
          </p:txBody>
        </p:sp>
        <p:sp>
          <p:nvSpPr>
            <p:cNvPr id="22" name="TextBox 22"/>
            <p:cNvSpPr txBox="1"/>
            <p:nvPr/>
          </p:nvSpPr>
          <p:spPr>
            <a:xfrm>
              <a:off x="907161" y="4399121"/>
              <a:ext cx="338345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 unconditional LID estimate flags</a:t>
              </a:r>
            </a:p>
          </p:txBody>
        </p:sp>
        <p:sp>
          <p:nvSpPr>
            <p:cNvPr id="23" name="TextBox 23"/>
            <p:cNvSpPr txBox="1"/>
            <p:nvPr/>
          </p:nvSpPr>
          <p:spPr>
            <a:xfrm>
              <a:off x="907161" y="4646771"/>
              <a:ext cx="394282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memorized images without their captions.</a:t>
              </a:r>
            </a:p>
          </p:txBody>
        </p:sp>
      </p:grpSp>
      <p:grpSp>
        <p:nvGrpSpPr>
          <p:cNvPr id="30" name="Group 30"/>
          <p:cNvGrpSpPr/>
          <p:nvPr/>
        </p:nvGrpSpPr>
        <p:grpSpPr>
          <a:xfrm>
            <a:off x="609600" y="5086350"/>
            <a:ext cx="5219700" cy="1123950"/>
            <a:chOff x="609600" y="5086350"/>
            <a:chExt cx="5219700" cy="1123950"/>
          </a:xfrm>
        </p:grpSpPr>
        <p:sp>
          <p:nvSpPr>
            <p:cNvPr id="25" name="Rectangle 25"/>
            <p:cNvSpPr/>
            <p:nvPr/>
          </p:nvSpPr>
          <p:spPr>
            <a:xfrm>
              <a:off x="609600" y="5086350"/>
              <a:ext cx="5219700" cy="1123950"/>
            </a:xfrm>
            <a:prstGeom prst="roundRect">
              <a:avLst>
                <a:gd name="adj" fmla="val 11864"/>
              </a:avLst>
            </a:prstGeom>
            <a:solidFill>
              <a:schemeClr val="accent5"/>
            </a:solidFill>
            <a:ln w="9525">
              <a:solidFill>
                <a:schemeClr val="accent4"/>
              </a:solidFill>
            </a:ln>
          </p:spPr>
        </p:sp>
        <p:sp>
          <p:nvSpPr>
            <p:cNvPr id="26" name="Rectangle 26"/>
            <p:cNvSpPr/>
            <p:nvPr/>
          </p:nvSpPr>
          <p:spPr>
            <a:xfrm>
              <a:off x="609600" y="5086350"/>
              <a:ext cx="57150" cy="1123950"/>
            </a:xfrm>
            <a:prstGeom prst="roundRect">
              <a:avLst>
                <a:gd name="adj" fmla="val 50000"/>
              </a:avLst>
            </a:prstGeom>
            <a:solidFill>
              <a:schemeClr val="accent1"/>
            </a:solidFill>
            <a:ln>
              <a:noFill/>
            </a:ln>
          </p:spPr>
        </p:sp>
        <p:sp>
          <p:nvSpPr>
            <p:cNvPr id="27" name="TextBox 27"/>
            <p:cNvSpPr txBox="1"/>
            <p:nvPr/>
          </p:nvSpPr>
          <p:spPr>
            <a:xfrm>
              <a:off x="906399" y="5278279"/>
              <a:ext cx="1944686"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Beyond prior art</a:t>
              </a:r>
            </a:p>
          </p:txBody>
        </p:sp>
        <p:sp>
          <p:nvSpPr>
            <p:cNvPr id="28" name="TextBox 28"/>
            <p:cNvSpPr txBox="1"/>
            <p:nvPr/>
          </p:nvSpPr>
          <p:spPr>
            <a:xfrm>
              <a:off x="907161" y="5618321"/>
              <a:ext cx="423683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Genuinely new: the prior best signal, the CFG</a:t>
              </a:r>
            </a:p>
          </p:txBody>
        </p:sp>
        <p:sp>
          <p:nvSpPr>
            <p:cNvPr id="29" name="TextBox 29"/>
            <p:cNvSpPr txBox="1"/>
            <p:nvPr/>
          </p:nvSpPr>
          <p:spPr>
            <a:xfrm>
              <a:off x="907161" y="5865971"/>
              <a:ext cx="377078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vector norm, needs the caption in hand.</a:t>
              </a:r>
            </a:p>
          </p:txBody>
        </p:sp>
      </p:grpSp>
      <p:sp>
        <p:nvSpPr>
          <p:cNvPr id="31" name="Rectangle 31"/>
          <p:cNvSpPr/>
          <p:nvPr/>
        </p:nvSpPr>
        <p:spPr>
          <a:xfrm>
            <a:off x="6057900" y="1428750"/>
            <a:ext cx="5524500" cy="4781550"/>
          </a:xfrm>
          <a:prstGeom prst="roundRect">
            <a:avLst>
              <a:gd name="adj" fmla="val 2789"/>
            </a:avLst>
          </a:prstGeom>
          <a:solidFill>
            <a:schemeClr val="lt2"/>
          </a:solidFill>
          <a:ln w="9525">
            <a:solidFill>
              <a:schemeClr val="accent4"/>
            </a:solidFill>
          </a:ln>
        </p:spPr>
        <p:txBody>
          <a:bodyPr/>
          <a:p/>
        </p:txBody>
      </p:sp>
      <p:sp>
        <p:nvSpPr>
          <p:cNvPr id="32" name="TextBox 32"/>
          <p:cNvSpPr txBox="1"/>
          <p:nvPr/>
        </p:nvSpPr>
        <p:spPr>
          <a:xfrm>
            <a:off x="6357366" y="1658302"/>
            <a:ext cx="2463489" cy="205359"/>
          </a:xfrm>
          <a:prstGeom prst="rect">
            <a:avLst/>
          </a:prstGeom>
          <a:noFill/>
          <a:ln>
            <a:noFill/>
          </a:ln>
        </p:spPr>
        <p:txBody>
          <a:bodyPr wrap="none" lIns="0" tIns="0" rIns="0" bIns="0" anchor="t" anchorCtr="0">
            <a:spAutoFit/>
          </a:bodyPr>
          <a:lstStyle/>
          <a:p>
            <a:pPr algn="l"/>
            <a:r>
              <a:rPr lang="en-US" sz="1050" spc="150" dirty="0">
                <a:solidFill>
                  <a:schemeClr val="dk2"/>
                </a:solidFill>
                <a:latin typeface="+mn-lt"/>
                <a:ea typeface="+mn-ea"/>
                <a:cs typeface="+mn-cs"/>
              </a:rPr>
              <a:t>FIGURE 3 · LID vs CFG-NORM</a:t>
            </a:r>
          </a:p>
        </p:txBody>
      </p:sp>
      <p:pic>
        <p:nvPicPr>
          <p:cNvPr id="33" name="Image 33"/>
          <p:cNvPicPr>
            <a:picLocks noChangeAspect="1"/>
          </p:cNvPicPr>
          <p:nvPr/>
        </p:nvPicPr>
        <p:blipFill>
          <a:blip r:embed="rId2"/>
          <a:stretch>
            <a:fillRect/>
          </a:stretch>
        </p:blipFill>
        <p:spPr>
          <a:xfrm>
            <a:off x="6724650" y="1962150"/>
            <a:ext cx="4191000" cy="3590925"/>
          </a:xfrm>
          <a:prstGeom prst="rect">
            <a:avLst/>
          </a:prstGeom>
        </p:spPr>
      </p:pic>
      <p:sp>
        <p:nvSpPr>
          <p:cNvPr id="34" name="TextBox 34"/>
          <p:cNvSpPr txBox="1"/>
          <p:nvPr/>
        </p:nvSpPr>
        <p:spPr>
          <a:xfrm>
            <a:off x="6356604" y="5737860"/>
            <a:ext cx="413974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Memorized points (low LID, high CFG norm) separate</a:t>
            </a:r>
          </a:p>
        </p:txBody>
      </p:sp>
      <p:sp>
        <p:nvSpPr>
          <p:cNvPr id="35" name="TextBox 35"/>
          <p:cNvSpPr txBox="1"/>
          <p:nvPr/>
        </p:nvSpPr>
        <p:spPr>
          <a:xfrm>
            <a:off x="6356604" y="5947410"/>
            <a:ext cx="2709977"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cleanly from non-memorized ones.</a:t>
            </a:r>
          </a:p>
        </p:txBody>
      </p:sp>
      <p:sp>
        <p:nvSpPr>
          <p:cNvPr id="36" name="TextBox 36"/>
          <p:cNvSpPr txBox="1"/>
          <p:nvPr/>
        </p:nvSpPr>
        <p:spPr>
          <a:xfrm>
            <a:off x="604647" y="6619399"/>
            <a:ext cx="4460751" cy="190690"/>
          </a:xfrm>
          <a:prstGeom prst="rect">
            <a:avLst/>
          </a:prstGeom>
          <a:noFill/>
          <a:ln>
            <a:noFill/>
          </a:ln>
        </p:spPr>
        <p:txBody>
          <a:bodyPr wrap="none" lIns="0" tIns="0" rIns="0" bIns="0" anchor="t" anchorCtr="0">
            <a:spAutoFit/>
          </a:bodyPr>
          <a:lstStyle/>
          <a:p>
            <a:pPr algn="l"/>
            <a:r>
              <a:rPr lang="en-US" sz="980" dirty="0">
                <a:solidFill>
                  <a:srgbClr val="8A93A6"/>
                </a:solidFill>
                <a:latin typeface="+mn-lt"/>
                <a:ea typeface="+mn-ea"/>
                <a:cs typeface="+mn-cs"/>
              </a:rPr>
              <a:t>A Geometric Framework for Understanding Memorization — Key Result</a:t>
            </a:r>
          </a:p>
        </p:txBody>
      </p:sp>
      <p:sp>
        <p:nvSpPr>
          <p:cNvPr id="37" name="cue_s06_c1_headline_empirical_finding_local_int" title="cue_s06_c1_headline_empirical_finding_local_int" descr="cue_s06_c1_headline_empirical_finding_local_int The headline empirical finding is that local intrinsic dimension tracks memorization everywhere the authors look, from toy 2D data to Stable Diffusion."/>
          <p:cNvSpPr/>
          <p:nvPr/>
        </p:nvSpPr>
        <p:spPr>
          <a:xfrm>
            <a:off x="609600" y="1428521"/>
            <a:ext cx="5219395"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6_c2_memorized_images_reliably_get_low" title="cue_s06_c2_memorized_images_reliably_get_low" descr="cue_s06_c2_memorized_images_reliably_get_low Memorized images reliably get low LID estimates and high classifier-free guidance vector norms."/>
          <p:cNvSpPr/>
          <p:nvPr/>
        </p:nvSpPr>
        <p:spPr>
          <a:xfrm>
            <a:off x="609600" y="2647873"/>
            <a:ext cx="5219395"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6_c3_even_more_striking_unconditional_lid" title="cue_s06_c3_even_more_striking_unconditional_lid" descr="cue_s06_c3_even_more_striking_unconditional_lid Even more striking, the unconditional LID estimate flags memorized training images without needing their captions at all."/>
          <p:cNvSpPr/>
          <p:nvPr/>
        </p:nvSpPr>
        <p:spPr>
          <a:xfrm>
            <a:off x="609600" y="3867226"/>
            <a:ext cx="5219395"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6_c4_genuinely_new_capability_because_pre" title="cue_s06_c4_genuinely_new_capability_because_pre" descr="cue_s06_c4_genuinely_new_capability_because_pre That is a genuinely new capability, because the previous state of the art, the CFG vector norm, depends on having the caption in hand."/>
          <p:cNvSpPr/>
          <p:nvPr/>
        </p:nvSpPr>
        <p:spPr>
          <a:xfrm>
            <a:off x="609600" y="5086578"/>
            <a:ext cx="5219395"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76250"/>
            <a:ext cx="57150" cy="285750"/>
          </a:xfrm>
          <a:prstGeom prst="rect">
            <a:avLst/>
          </a:prstGeom>
          <a:solidFill>
            <a:schemeClr val="accent2"/>
          </a:solidFill>
          <a:ln>
            <a:noFill/>
          </a:ln>
        </p:spPr>
        <p:txBody>
          <a:bodyPr/>
          <a:p/>
        </p:txBody>
      </p:sp>
      <p:sp>
        <p:nvSpPr>
          <p:cNvPr id="3" name="TextBox 3"/>
          <p:cNvSpPr txBox="1"/>
          <p:nvPr/>
        </p:nvSpPr>
        <p:spPr>
          <a:xfrm>
            <a:off x="832104" y="537210"/>
            <a:ext cx="2043379" cy="234696"/>
          </a:xfrm>
          <a:prstGeom prst="rect">
            <a:avLst/>
          </a:prstGeom>
          <a:noFill/>
          <a:ln>
            <a:noFill/>
          </a:ln>
        </p:spPr>
        <p:txBody>
          <a:bodyPr wrap="none" lIns="0" tIns="0" rIns="0" bIns="0" anchor="t" anchorCtr="0">
            <a:spAutoFit/>
          </a:bodyPr>
          <a:lstStyle/>
          <a:p>
            <a:pPr algn="l"/>
            <a:r>
              <a:rPr lang="en-US" sz="1200" spc="150" dirty="0">
                <a:solidFill>
                  <a:schemeClr val="dk2"/>
                </a:solidFill>
                <a:latin typeface="+mn-lt"/>
                <a:ea typeface="+mn-ea"/>
                <a:cs typeface="+mn-cs"/>
              </a:rPr>
              <a:t>07 · ABLATION STUDY</a:t>
            </a:r>
          </a:p>
        </p:txBody>
      </p:sp>
      <p:sp>
        <p:nvSpPr>
          <p:cNvPr id="4" name="TextBox 4"/>
          <p:cNvSpPr txBox="1"/>
          <p:nvPr/>
        </p:nvSpPr>
        <p:spPr>
          <a:xfrm>
            <a:off x="825246" y="772478"/>
            <a:ext cx="8871826"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Mitigation: rephrase the tokens that memorize</a:t>
            </a:r>
          </a:p>
        </p:txBody>
      </p:sp>
      <p:sp>
        <p:nvSpPr>
          <p:cNvPr id="5" name="Line 5"/>
          <p:cNvSpPr/>
          <p:nvPr/>
        </p:nvSpPr>
        <p:spPr>
          <a:xfrm>
            <a:off x="609600" y="1238250"/>
            <a:ext cx="10972800" cy="9525"/>
          </a:xfrm>
          <a:custGeom>
            <a:avLst/>
            <a:gdLst/>
            <a:ahLst/>
            <a:cxnLst/>
            <a:rect l="l" t="t" r="r" b="b"/>
            <a:pathLst>
              <a:path w="10972800" h="9525">
                <a:moveTo>
                  <a:pt x="0" y="0"/>
                </a:moveTo>
                <a:lnTo>
                  <a:pt x="10972800" y="0"/>
                </a:lnTo>
              </a:path>
            </a:pathLst>
          </a:custGeom>
          <a:noFill/>
          <a:ln w="9525">
            <a:solidFill>
              <a:schemeClr val="accent4"/>
            </a:solidFill>
          </a:ln>
        </p:spPr>
        <p:txBody>
          <a:bodyPr/>
          <a:p/>
        </p:txBody>
      </p:sp>
      <p:sp>
        <p:nvSpPr>
          <p:cNvPr id="6" name="TextBox 6"/>
          <p:cNvSpPr txBox="1"/>
          <p:nvPr/>
        </p:nvSpPr>
        <p:spPr>
          <a:xfrm>
            <a:off x="11135490" y="561499"/>
            <a:ext cx="451863" cy="190690"/>
          </a:xfrm>
          <a:prstGeom prst="rect">
            <a:avLst/>
          </a:prstGeom>
          <a:noFill/>
          <a:ln>
            <a:noFill/>
          </a:ln>
        </p:spPr>
        <p:txBody>
          <a:bodyPr wrap="none" lIns="0" tIns="0" rIns="0" bIns="0" anchor="t" anchorCtr="0">
            <a:spAutoFit/>
          </a:bodyPr>
          <a:lstStyle/>
          <a:p>
            <a:pPr algn="r"/>
            <a:r>
              <a:rPr lang="en-US" sz="980" dirty="0">
                <a:solidFill>
                  <a:srgbClr val="8A93A6"/>
                </a:solidFill>
                <a:latin typeface="+mn-lt"/>
                <a:ea typeface="+mn-ea"/>
                <a:cs typeface="+mn-cs"/>
              </a:rPr>
              <a:t>07 / 08</a:t>
            </a:r>
          </a:p>
        </p:txBody>
      </p:sp>
      <p:grpSp>
        <p:nvGrpSpPr>
          <p:cNvPr id="17" name="Group 17"/>
          <p:cNvGrpSpPr/>
          <p:nvPr/>
        </p:nvGrpSpPr>
        <p:grpSpPr>
          <a:xfrm>
            <a:off x="609600" y="1428750"/>
            <a:ext cx="10972800" cy="2362200"/>
            <a:chOff x="609600" y="1428750"/>
            <a:chExt cx="10972800" cy="2362200"/>
          </a:xfrm>
        </p:grpSpPr>
        <p:sp>
          <p:nvSpPr>
            <p:cNvPr id="7" name="Rectangle 7"/>
            <p:cNvSpPr/>
            <p:nvPr/>
          </p:nvSpPr>
          <p:spPr>
            <a:xfrm>
              <a:off x="609600" y="1428750"/>
              <a:ext cx="10972800" cy="2362200"/>
            </a:xfrm>
            <a:prstGeom prst="roundRect">
              <a:avLst>
                <a:gd name="adj" fmla="val 5645"/>
              </a:avLst>
            </a:prstGeom>
            <a:solidFill>
              <a:schemeClr val="lt2"/>
            </a:solidFill>
            <a:ln w="9525">
              <a:solidFill>
                <a:schemeClr val="accent4"/>
              </a:solidFill>
            </a:ln>
          </p:spPr>
        </p:sp>
        <p:sp>
          <p:nvSpPr>
            <p:cNvPr id="8" name="Rectangle 8"/>
            <p:cNvSpPr/>
            <p:nvPr/>
          </p:nvSpPr>
          <p:spPr>
            <a:xfrm>
              <a:off x="609600" y="1428750"/>
              <a:ext cx="57150" cy="2362200"/>
            </a:xfrm>
            <a:prstGeom prst="roundRect">
              <a:avLst>
                <a:gd name="adj" fmla="val 50000"/>
              </a:avLst>
            </a:prstGeom>
            <a:solidFill>
              <a:schemeClr val="accent2"/>
            </a:solidFill>
            <a:ln>
              <a:noFill/>
            </a:ln>
          </p:spPr>
        </p:sp>
        <p:sp>
          <p:nvSpPr>
            <p:cNvPr id="9" name="TextBox 9"/>
            <p:cNvSpPr txBox="1"/>
            <p:nvPr/>
          </p:nvSpPr>
          <p:spPr>
            <a:xfrm>
              <a:off x="906018" y="1650682"/>
              <a:ext cx="2574519"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j-lt"/>
                  <a:ea typeface="+mj-ea"/>
                  <a:cs typeface="+mj-cs"/>
                </a:rPr>
                <a:t>Attribute → rephrase</a:t>
              </a:r>
            </a:p>
          </p:txBody>
        </p:sp>
        <p:sp>
          <p:nvSpPr>
            <p:cNvPr id="10" name="TextBox 10"/>
            <p:cNvSpPr txBox="1"/>
            <p:nvPr/>
          </p:nvSpPr>
          <p:spPr>
            <a:xfrm>
              <a:off x="907161" y="2036921"/>
              <a:ext cx="212350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 method attributes</a:t>
              </a:r>
            </a:p>
          </p:txBody>
        </p:sp>
        <p:sp>
          <p:nvSpPr>
            <p:cNvPr id="11" name="TextBox 11"/>
            <p:cNvSpPr txBox="1"/>
            <p:nvPr/>
          </p:nvSpPr>
          <p:spPr>
            <a:xfrm>
              <a:off x="907161" y="2284571"/>
              <a:ext cx="232751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memorization to specific</a:t>
              </a:r>
            </a:p>
          </p:txBody>
        </p:sp>
        <p:sp>
          <p:nvSpPr>
            <p:cNvPr id="12" name="TextBox 12"/>
            <p:cNvSpPr txBox="1"/>
            <p:nvPr/>
          </p:nvSpPr>
          <p:spPr>
            <a:xfrm>
              <a:off x="907161" y="2532221"/>
              <a:ext cx="195475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prompt tokens, then</a:t>
              </a:r>
            </a:p>
          </p:txBody>
        </p:sp>
        <p:sp>
          <p:nvSpPr>
            <p:cNvPr id="13" name="TextBox 13"/>
            <p:cNvSpPr txBox="1"/>
            <p:nvPr/>
          </p:nvSpPr>
          <p:spPr>
            <a:xfrm>
              <a:off x="907161" y="2779871"/>
              <a:ext cx="265561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rephrases them with GPT-4.</a:t>
              </a:r>
            </a:p>
          </p:txBody>
        </p:sp>
        <p:sp>
          <p:nvSpPr>
            <p:cNvPr id="14" name="TextBox 14"/>
            <p:cNvSpPr txBox="1"/>
            <p:nvPr/>
          </p:nvSpPr>
          <p:spPr>
            <a:xfrm>
              <a:off x="908304" y="3223260"/>
              <a:ext cx="1368026"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Fig 7 · per-token</a:t>
              </a:r>
            </a:p>
          </p:txBody>
        </p:sp>
        <p:sp>
          <p:nvSpPr>
            <p:cNvPr id="15" name="TextBox 15"/>
            <p:cNvSpPr txBox="1"/>
            <p:nvPr/>
          </p:nvSpPr>
          <p:spPr>
            <a:xfrm>
              <a:off x="908304" y="3432810"/>
              <a:ext cx="2096110"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memorization attribution.</a:t>
              </a:r>
            </a:p>
          </p:txBody>
        </p:sp>
        <p:pic>
          <p:nvPicPr>
            <p:cNvPr id="16" name="Image 16"/>
            <p:cNvPicPr>
              <a:picLocks noChangeAspect="1"/>
            </p:cNvPicPr>
            <p:nvPr/>
          </p:nvPicPr>
          <p:blipFill>
            <a:blip r:embed="rId2"/>
            <a:stretch>
              <a:fillRect/>
            </a:stretch>
          </p:blipFill>
          <p:spPr>
            <a:xfrm>
              <a:off x="4308255" y="1600200"/>
              <a:ext cx="7118790" cy="2066925"/>
            </a:xfrm>
            <a:prstGeom prst="rect">
              <a:avLst/>
            </a:prstGeom>
          </p:spPr>
        </p:pic>
      </p:grpSp>
      <p:grpSp>
        <p:nvGrpSpPr>
          <p:cNvPr id="26" name="Group 26"/>
          <p:cNvGrpSpPr/>
          <p:nvPr/>
        </p:nvGrpSpPr>
        <p:grpSpPr>
          <a:xfrm>
            <a:off x="609600" y="3981450"/>
            <a:ext cx="3505200" cy="2228850"/>
            <a:chOff x="609600" y="3981450"/>
            <a:chExt cx="3505200" cy="2228850"/>
          </a:xfrm>
        </p:grpSpPr>
        <p:sp>
          <p:nvSpPr>
            <p:cNvPr id="18" name="Rectangle 18"/>
            <p:cNvSpPr/>
            <p:nvPr/>
          </p:nvSpPr>
          <p:spPr>
            <a:xfrm>
              <a:off x="609600" y="3981450"/>
              <a:ext cx="3505200" cy="2228850"/>
            </a:xfrm>
            <a:prstGeom prst="roundRect">
              <a:avLst>
                <a:gd name="adj" fmla="val 5983"/>
              </a:avLst>
            </a:prstGeom>
            <a:solidFill>
              <a:schemeClr val="accent5"/>
            </a:solidFill>
            <a:ln w="9525">
              <a:solidFill>
                <a:schemeClr val="accent4"/>
              </a:solidFill>
            </a:ln>
          </p:spPr>
        </p:sp>
        <p:sp>
          <p:nvSpPr>
            <p:cNvPr id="19" name="Rectangle 19"/>
            <p:cNvSpPr/>
            <p:nvPr/>
          </p:nvSpPr>
          <p:spPr>
            <a:xfrm>
              <a:off x="609600" y="3981450"/>
              <a:ext cx="57150" cy="2228850"/>
            </a:xfrm>
            <a:prstGeom prst="roundRect">
              <a:avLst>
                <a:gd name="adj" fmla="val 50000"/>
              </a:avLst>
            </a:prstGeom>
            <a:solidFill>
              <a:schemeClr val="accent3"/>
            </a:solidFill>
            <a:ln>
              <a:noFill/>
            </a:ln>
          </p:spPr>
        </p:sp>
        <p:sp>
          <p:nvSpPr>
            <p:cNvPr id="20" name="TextBox 20"/>
            <p:cNvSpPr txBox="1"/>
            <p:nvPr/>
          </p:nvSpPr>
          <p:spPr>
            <a:xfrm>
              <a:off x="906399" y="4173379"/>
              <a:ext cx="1874963" cy="308039"/>
            </a:xfrm>
            <a:prstGeom prst="rect">
              <a:avLst/>
            </a:prstGeom>
            <a:noFill/>
            <a:ln>
              <a:noFill/>
            </a:ln>
          </p:spPr>
          <p:txBody>
            <a:bodyPr wrap="none" lIns="0" tIns="0" rIns="0" bIns="0" anchor="t" anchorCtr="0">
              <a:spAutoFit/>
            </a:bodyPr>
            <a:lstStyle/>
            <a:p>
              <a:pPr algn="l"/>
              <a:r>
                <a:rPr lang="en-US" sz="1580" b="1" dirty="0">
                  <a:solidFill>
                    <a:schemeClr val="accent3"/>
                  </a:solidFill>
                  <a:latin typeface="+mj-lt"/>
                  <a:ea typeface="+mj-ea"/>
                  <a:cs typeface="+mj-cs"/>
                </a:rPr>
                <a:t>Clean trade-off</a:t>
              </a:r>
            </a:p>
          </p:txBody>
        </p:sp>
        <p:sp>
          <p:nvSpPr>
            <p:cNvPr id="21" name="TextBox 21"/>
            <p:cNvSpPr txBox="1"/>
            <p:nvPr/>
          </p:nvSpPr>
          <p:spPr>
            <a:xfrm>
              <a:off x="907161" y="4532471"/>
              <a:ext cx="222862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Perturbing more tokens</a:t>
              </a:r>
            </a:p>
          </p:txBody>
        </p:sp>
        <p:sp>
          <p:nvSpPr>
            <p:cNvPr id="22" name="TextBox 22"/>
            <p:cNvSpPr txBox="1"/>
            <p:nvPr/>
          </p:nvSpPr>
          <p:spPr>
            <a:xfrm>
              <a:off x="907161" y="4780121"/>
              <a:ext cx="221282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reduces memorization —</a:t>
              </a:r>
            </a:p>
          </p:txBody>
        </p:sp>
        <p:sp>
          <p:nvSpPr>
            <p:cNvPr id="23" name="TextBox 23"/>
            <p:cNvSpPr txBox="1"/>
            <p:nvPr/>
          </p:nvSpPr>
          <p:spPr>
            <a:xfrm>
              <a:off x="907161" y="5027771"/>
              <a:ext cx="212680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but also reduces image</a:t>
              </a:r>
            </a:p>
          </p:txBody>
        </p:sp>
        <p:sp>
          <p:nvSpPr>
            <p:cNvPr id="24" name="TextBox 24"/>
            <p:cNvSpPr txBox="1"/>
            <p:nvPr/>
          </p:nvSpPr>
          <p:spPr>
            <a:xfrm>
              <a:off x="907161" y="5275421"/>
              <a:ext cx="81735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fidelity.</a:t>
              </a:r>
            </a:p>
          </p:txBody>
        </p:sp>
        <p:sp>
          <p:nvSpPr>
            <p:cNvPr id="25" name="TextBox 25"/>
            <p:cNvSpPr txBox="1"/>
            <p:nvPr/>
          </p:nvSpPr>
          <p:spPr>
            <a:xfrm>
              <a:off x="908304" y="5718810"/>
              <a:ext cx="2031492" cy="234696"/>
            </a:xfrm>
            <a:prstGeom prst="rect">
              <a:avLst/>
            </a:prstGeom>
            <a:noFill/>
            <a:ln>
              <a:noFill/>
            </a:ln>
          </p:spPr>
          <p:txBody>
            <a:bodyPr wrap="none" lIns="0" tIns="0" rIns="0" bIns="0" anchor="t" anchorCtr="0">
              <a:spAutoFit/>
            </a:bodyPr>
            <a:lstStyle/>
            <a:p>
              <a:pPr algn="l"/>
              <a:r>
                <a:rPr lang="en-US" sz="1200" dirty="0">
                  <a:solidFill>
                    <a:schemeClr val="dk2"/>
                  </a:solidFill>
                  <a:latin typeface="+mn-lt"/>
                  <a:ea typeface="+mn-ea"/>
                  <a:cs typeface="+mn-cs"/>
                </a:rPr>
                <a:t>1 → 8 tokens, ×5 repeats.</a:t>
              </a:r>
            </a:p>
          </p:txBody>
        </p:sp>
      </p:grpSp>
      <p:grpSp>
        <p:nvGrpSpPr>
          <p:cNvPr id="35" name="Group 35"/>
          <p:cNvGrpSpPr/>
          <p:nvPr/>
        </p:nvGrpSpPr>
        <p:grpSpPr>
          <a:xfrm>
            <a:off x="4343400" y="3981450"/>
            <a:ext cx="3505200" cy="2228850"/>
            <a:chOff x="4343400" y="3981450"/>
            <a:chExt cx="3505200" cy="2228850"/>
          </a:xfrm>
        </p:grpSpPr>
        <p:sp>
          <p:nvSpPr>
            <p:cNvPr id="27" name="Rectangle 27"/>
            <p:cNvSpPr/>
            <p:nvPr/>
          </p:nvSpPr>
          <p:spPr>
            <a:xfrm>
              <a:off x="4343400" y="3981450"/>
              <a:ext cx="3505200" cy="2228850"/>
            </a:xfrm>
            <a:prstGeom prst="roundRect">
              <a:avLst>
                <a:gd name="adj" fmla="val 5983"/>
              </a:avLst>
            </a:prstGeom>
            <a:solidFill>
              <a:schemeClr val="accent5"/>
            </a:solidFill>
            <a:ln w="9525">
              <a:solidFill>
                <a:schemeClr val="accent4"/>
              </a:solidFill>
            </a:ln>
          </p:spPr>
        </p:sp>
        <p:sp>
          <p:nvSpPr>
            <p:cNvPr id="28" name="Rectangle 28"/>
            <p:cNvSpPr/>
            <p:nvPr/>
          </p:nvSpPr>
          <p:spPr>
            <a:xfrm>
              <a:off x="4343400" y="3981450"/>
              <a:ext cx="57150" cy="2228850"/>
            </a:xfrm>
            <a:prstGeom prst="roundRect">
              <a:avLst>
                <a:gd name="adj" fmla="val 50000"/>
              </a:avLst>
            </a:prstGeom>
            <a:solidFill>
              <a:srgbClr val="C2410C"/>
            </a:solidFill>
            <a:ln>
              <a:noFill/>
            </a:ln>
          </p:spPr>
        </p:sp>
        <p:sp>
          <p:nvSpPr>
            <p:cNvPr id="29" name="TextBox 29"/>
            <p:cNvSpPr txBox="1"/>
            <p:nvPr/>
          </p:nvSpPr>
          <p:spPr>
            <a:xfrm>
              <a:off x="4640199" y="4173379"/>
              <a:ext cx="2970607" cy="308039"/>
            </a:xfrm>
            <a:prstGeom prst="rect">
              <a:avLst/>
            </a:prstGeom>
            <a:noFill/>
            <a:ln>
              <a:noFill/>
            </a:ln>
          </p:spPr>
          <p:txBody>
            <a:bodyPr wrap="none" lIns="0" tIns="0" rIns="0" bIns="0" anchor="t" anchorCtr="0">
              <a:spAutoFit/>
            </a:bodyPr>
            <a:lstStyle/>
            <a:p>
              <a:pPr algn="l"/>
              <a:r>
                <a:rPr lang="en-US" sz="1580" b="1" dirty="0">
                  <a:solidFill>
                    <a:srgbClr val="C2410C"/>
                  </a:solidFill>
                  <a:latin typeface="+mj-lt"/>
                  <a:ea typeface="+mj-ea"/>
                  <a:cs typeface="+mj-cs"/>
                </a:rPr>
                <a:t>Attribution beats random</a:t>
              </a:r>
            </a:p>
          </p:txBody>
        </p:sp>
        <p:sp>
          <p:nvSpPr>
            <p:cNvPr id="30" name="TextBox 30"/>
            <p:cNvSpPr txBox="1"/>
            <p:nvPr/>
          </p:nvSpPr>
          <p:spPr>
            <a:xfrm>
              <a:off x="4640961" y="4532471"/>
              <a:ext cx="176978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Choosing tokens by</a:t>
              </a:r>
            </a:p>
          </p:txBody>
        </p:sp>
        <p:sp>
          <p:nvSpPr>
            <p:cNvPr id="31" name="TextBox 31"/>
            <p:cNvSpPr txBox="1"/>
            <p:nvPr/>
          </p:nvSpPr>
          <p:spPr>
            <a:xfrm>
              <a:off x="4640961" y="4780121"/>
              <a:ext cx="2442215"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attribution reaches lower</a:t>
              </a:r>
            </a:p>
          </p:txBody>
        </p:sp>
        <p:sp>
          <p:nvSpPr>
            <p:cNvPr id="32" name="TextBox 32"/>
            <p:cNvSpPr txBox="1"/>
            <p:nvPr/>
          </p:nvSpPr>
          <p:spPr>
            <a:xfrm>
              <a:off x="4640961" y="5027771"/>
              <a:ext cx="249956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training-image similarity —</a:t>
              </a:r>
            </a:p>
          </p:txBody>
        </p:sp>
        <p:sp>
          <p:nvSpPr>
            <p:cNvPr id="33" name="TextBox 33"/>
            <p:cNvSpPr txBox="1"/>
            <p:nvPr/>
          </p:nvSpPr>
          <p:spPr>
            <a:xfrm>
              <a:off x="4640961" y="5275421"/>
              <a:ext cx="206626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at a higher CLIP score</a:t>
              </a:r>
            </a:p>
          </p:txBody>
        </p:sp>
        <p:sp>
          <p:nvSpPr>
            <p:cNvPr id="34" name="TextBox 34"/>
            <p:cNvSpPr txBox="1"/>
            <p:nvPr/>
          </p:nvSpPr>
          <p:spPr>
            <a:xfrm>
              <a:off x="4640961" y="5523071"/>
              <a:ext cx="217459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than random selection.</a:t>
              </a:r>
            </a:p>
          </p:txBody>
        </p:sp>
      </p:grpSp>
      <p:grpSp>
        <p:nvGrpSpPr>
          <p:cNvPr id="44" name="Group 44"/>
          <p:cNvGrpSpPr/>
          <p:nvPr/>
        </p:nvGrpSpPr>
        <p:grpSpPr>
          <a:xfrm>
            <a:off x="8077200" y="3981450"/>
            <a:ext cx="3505200" cy="2228850"/>
            <a:chOff x="8077200" y="3981450"/>
            <a:chExt cx="3505200" cy="2228850"/>
          </a:xfrm>
        </p:grpSpPr>
        <p:sp>
          <p:nvSpPr>
            <p:cNvPr id="36" name="Rectangle 36"/>
            <p:cNvSpPr/>
            <p:nvPr/>
          </p:nvSpPr>
          <p:spPr>
            <a:xfrm>
              <a:off x="8077200" y="3981450"/>
              <a:ext cx="3505200" cy="2228850"/>
            </a:xfrm>
            <a:prstGeom prst="roundRect">
              <a:avLst>
                <a:gd name="adj" fmla="val 5983"/>
              </a:avLst>
            </a:prstGeom>
            <a:solidFill>
              <a:schemeClr val="accent5"/>
            </a:solidFill>
            <a:ln w="9525">
              <a:solidFill>
                <a:schemeClr val="accent4"/>
              </a:solidFill>
            </a:ln>
          </p:spPr>
        </p:sp>
        <p:sp>
          <p:nvSpPr>
            <p:cNvPr id="37" name="Rectangle 37"/>
            <p:cNvSpPr/>
            <p:nvPr/>
          </p:nvSpPr>
          <p:spPr>
            <a:xfrm>
              <a:off x="8077200" y="3981450"/>
              <a:ext cx="57150" cy="2228850"/>
            </a:xfrm>
            <a:prstGeom prst="roundRect">
              <a:avLst>
                <a:gd name="adj" fmla="val 50000"/>
              </a:avLst>
            </a:prstGeom>
            <a:solidFill>
              <a:schemeClr val="accent1"/>
            </a:solidFill>
            <a:ln>
              <a:noFill/>
            </a:ln>
          </p:spPr>
        </p:sp>
        <p:sp>
          <p:nvSpPr>
            <p:cNvPr id="38" name="TextBox 38"/>
            <p:cNvSpPr txBox="1"/>
            <p:nvPr/>
          </p:nvSpPr>
          <p:spPr>
            <a:xfrm>
              <a:off x="8373999" y="4173379"/>
              <a:ext cx="2548879" cy="308039"/>
            </a:xfrm>
            <a:prstGeom prst="rect">
              <a:avLst/>
            </a:prstGeom>
            <a:noFill/>
            <a:ln>
              <a:noFill/>
            </a:ln>
          </p:spPr>
          <p:txBody>
            <a:bodyPr wrap="none" lIns="0" tIns="0" rIns="0" bIns="0" anchor="t" anchorCtr="0">
              <a:spAutoFit/>
            </a:bodyPr>
            <a:lstStyle/>
            <a:p>
              <a:pPr algn="l"/>
              <a:r>
                <a:rPr lang="en-US" sz="1580" b="1" dirty="0">
                  <a:solidFill>
                    <a:schemeClr val="accent1"/>
                  </a:solidFill>
                  <a:latin typeface="+mj-lt"/>
                  <a:ea typeface="+mj-ea"/>
                  <a:cs typeface="+mj-cs"/>
                </a:rPr>
                <a:t>New metrics work too</a:t>
              </a:r>
            </a:p>
          </p:txBody>
        </p:sp>
        <p:sp>
          <p:nvSpPr>
            <p:cNvPr id="39" name="TextBox 39"/>
            <p:cNvSpPr txBox="1"/>
            <p:nvPr/>
          </p:nvSpPr>
          <p:spPr>
            <a:xfrm>
              <a:off x="8374761" y="4532471"/>
              <a:ext cx="2620146"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Attribution metrics built on</a:t>
              </a:r>
            </a:p>
          </p:txBody>
        </p:sp>
        <p:sp>
          <p:nvSpPr>
            <p:cNvPr id="40" name="TextBox 40"/>
            <p:cNvSpPr txBox="1"/>
            <p:nvPr/>
          </p:nvSpPr>
          <p:spPr>
            <a:xfrm>
              <a:off x="8374761" y="4780121"/>
              <a:ext cx="206945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 score norm and on</a:t>
              </a:r>
            </a:p>
          </p:txBody>
        </p:sp>
        <p:sp>
          <p:nvSpPr>
            <p:cNvPr id="41" name="TextBox 41"/>
            <p:cNvSpPr txBox="1"/>
            <p:nvPr/>
          </p:nvSpPr>
          <p:spPr>
            <a:xfrm>
              <a:off x="8374761" y="5027771"/>
              <a:ext cx="220676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FLIPD perform about as</a:t>
              </a:r>
            </a:p>
          </p:txBody>
        </p:sp>
        <p:sp>
          <p:nvSpPr>
            <p:cNvPr id="42" name="TextBox 42"/>
            <p:cNvSpPr txBox="1"/>
            <p:nvPr/>
          </p:nvSpPr>
          <p:spPr>
            <a:xfrm>
              <a:off x="8374761" y="5275421"/>
              <a:ext cx="177315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well as the original</a:t>
              </a:r>
            </a:p>
          </p:txBody>
        </p:sp>
        <p:sp>
          <p:nvSpPr>
            <p:cNvPr id="43" name="TextBox 43"/>
            <p:cNvSpPr txBox="1"/>
            <p:nvPr/>
          </p:nvSpPr>
          <p:spPr>
            <a:xfrm>
              <a:off x="8374761" y="5523071"/>
              <a:ext cx="222238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guidance-based metric.</a:t>
              </a:r>
            </a:p>
          </p:txBody>
        </p:sp>
      </p:grpSp>
      <p:sp>
        <p:nvSpPr>
          <p:cNvPr id="45" name="TextBox 45"/>
          <p:cNvSpPr txBox="1"/>
          <p:nvPr/>
        </p:nvSpPr>
        <p:spPr>
          <a:xfrm>
            <a:off x="604647" y="6619399"/>
            <a:ext cx="4717624" cy="190690"/>
          </a:xfrm>
          <a:prstGeom prst="rect">
            <a:avLst/>
          </a:prstGeom>
          <a:noFill/>
          <a:ln>
            <a:noFill/>
          </a:ln>
        </p:spPr>
        <p:txBody>
          <a:bodyPr wrap="none" lIns="0" tIns="0" rIns="0" bIns="0" anchor="t" anchorCtr="0">
            <a:spAutoFit/>
          </a:bodyPr>
          <a:lstStyle/>
          <a:p>
            <a:pPr algn="l"/>
            <a:r>
              <a:rPr lang="en-US" sz="980" dirty="0">
                <a:solidFill>
                  <a:srgbClr val="8A93A6"/>
                </a:solidFill>
                <a:latin typeface="+mn-lt"/>
                <a:ea typeface="+mn-ea"/>
                <a:cs typeface="+mn-cs"/>
              </a:rPr>
              <a:t>A Geometric Framework for Understanding Memorization — Ablation Study</a:t>
            </a:r>
          </a:p>
        </p:txBody>
      </p:sp>
      <p:sp>
        <p:nvSpPr>
          <p:cNvPr id="46" name="cue_s07_c1_mitigate_memorization_method_attribu" title="cue_s07_c1_mitigate_memorization_method_attribu" descr="cue_s07_c1_mitigate_memorization_method_attribu To mitigate memorization, the method attributes it to specific prompt tokens and rephrases them with GPT-4."/>
          <p:cNvSpPr/>
          <p:nvPr/>
        </p:nvSpPr>
        <p:spPr>
          <a:xfrm>
            <a:off x="609600" y="1428521"/>
            <a:ext cx="10972800" cy="23618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7_c2_ablating_number_perturbed_tokens_sho" title="cue_s07_c2_ablating_number_perturbed_tokens_sho" descr="cue_s07_c2_ablating_number_perturbed_tokens_sho Ablating the number of perturbed tokens shows a clean trade-off: perturbing more tokens reduces memorization but also reduces fidelity."/>
          <p:cNvSpPr/>
          <p:nvPr/>
        </p:nvSpPr>
        <p:spPr>
          <a:xfrm>
            <a:off x="609600" y="3981754"/>
            <a:ext cx="3505199" cy="22288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7_c3_importantly_choosing_tokens_attribut" title="cue_s07_c3_importantly_choosing_tokens_attribut" descr="cue_s07_c3_importantly_choosing_tokens_attribut Importantly, choosing tokens by attribution beats choosing them at random — attribution-based selection reaches lower training-image similarity while keeping a higher CLIP score."/>
          <p:cNvSpPr/>
          <p:nvPr/>
        </p:nvSpPr>
        <p:spPr>
          <a:xfrm>
            <a:off x="4344009" y="3981754"/>
            <a:ext cx="3505199" cy="22288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7_c4_new_attribution_metrics_built_score" title="cue_s07_c4_new_attribution_metrics_built_score" descr="cue_s07_c4_new_attribution_metrics_built_score New attribution metrics built on the score norm and on FLIPD work about as well as the original guidance-based metric."/>
          <p:cNvSpPr/>
          <p:nvPr/>
        </p:nvSpPr>
        <p:spPr>
          <a:xfrm>
            <a:off x="8077200" y="3981754"/>
            <a:ext cx="3505199" cy="22288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76250"/>
            <a:ext cx="57150" cy="285750"/>
          </a:xfrm>
          <a:prstGeom prst="rect">
            <a:avLst/>
          </a:prstGeom>
          <a:solidFill>
            <a:schemeClr val="accent2"/>
          </a:solidFill>
          <a:ln>
            <a:noFill/>
          </a:ln>
        </p:spPr>
        <p:txBody>
          <a:bodyPr/>
          <a:p/>
        </p:txBody>
      </p:sp>
      <p:sp>
        <p:nvSpPr>
          <p:cNvPr id="3" name="TextBox 3"/>
          <p:cNvSpPr txBox="1"/>
          <p:nvPr/>
        </p:nvSpPr>
        <p:spPr>
          <a:xfrm>
            <a:off x="832104" y="537210"/>
            <a:ext cx="1437437" cy="234696"/>
          </a:xfrm>
          <a:prstGeom prst="rect">
            <a:avLst/>
          </a:prstGeom>
          <a:noFill/>
          <a:ln>
            <a:noFill/>
          </a:ln>
        </p:spPr>
        <p:txBody>
          <a:bodyPr wrap="none" lIns="0" tIns="0" rIns="0" bIns="0" anchor="t" anchorCtr="0">
            <a:spAutoFit/>
          </a:bodyPr>
          <a:lstStyle/>
          <a:p>
            <a:pPr algn="l"/>
            <a:r>
              <a:rPr lang="en-US" sz="1200" spc="150" dirty="0">
                <a:solidFill>
                  <a:schemeClr val="dk2"/>
                </a:solidFill>
                <a:latin typeface="+mn-lt"/>
                <a:ea typeface="+mn-ea"/>
                <a:cs typeface="+mn-cs"/>
              </a:rPr>
              <a:t>08 · TAKEAWAY</a:t>
            </a:r>
          </a:p>
        </p:txBody>
      </p:sp>
      <p:sp>
        <p:nvSpPr>
          <p:cNvPr id="4" name="TextBox 4"/>
          <p:cNvSpPr txBox="1"/>
          <p:nvPr/>
        </p:nvSpPr>
        <p:spPr>
          <a:xfrm>
            <a:off x="825246" y="772478"/>
            <a:ext cx="8224559" cy="498729"/>
          </a:xfrm>
          <a:prstGeom prst="rect">
            <a:avLst/>
          </a:prstGeom>
          <a:noFill/>
          <a:ln>
            <a:noFill/>
          </a:ln>
        </p:spPr>
        <p:txBody>
          <a:bodyPr wrap="none" lIns="0" tIns="0" rIns="0" bIns="0" anchor="t" anchorCtr="0">
            <a:spAutoFit/>
          </a:bodyPr>
          <a:lstStyle/>
          <a:p>
            <a:pPr algn="l"/>
            <a:r>
              <a:rPr lang="en-US" sz="2550" b="1" dirty="0">
                <a:solidFill>
                  <a:schemeClr val="accent1"/>
                </a:solidFill>
                <a:latin typeface="+mj-lt"/>
                <a:ea typeface="+mj-ea"/>
                <a:cs typeface="+mj-cs"/>
              </a:rPr>
              <a:t>Memorization is geometric — and measurable</a:t>
            </a:r>
          </a:p>
        </p:txBody>
      </p:sp>
      <p:sp>
        <p:nvSpPr>
          <p:cNvPr id="5" name="Line 5"/>
          <p:cNvSpPr/>
          <p:nvPr/>
        </p:nvSpPr>
        <p:spPr>
          <a:xfrm>
            <a:off x="609600" y="1238250"/>
            <a:ext cx="10972800" cy="9525"/>
          </a:xfrm>
          <a:custGeom>
            <a:avLst/>
            <a:gdLst/>
            <a:ahLst/>
            <a:cxnLst/>
            <a:rect l="l" t="t" r="r" b="b"/>
            <a:pathLst>
              <a:path w="10972800" h="9525">
                <a:moveTo>
                  <a:pt x="0" y="0"/>
                </a:moveTo>
                <a:lnTo>
                  <a:pt x="10972800" y="0"/>
                </a:lnTo>
              </a:path>
            </a:pathLst>
          </a:custGeom>
          <a:noFill/>
          <a:ln w="9525">
            <a:solidFill>
              <a:schemeClr val="accent4"/>
            </a:solidFill>
          </a:ln>
        </p:spPr>
        <p:txBody>
          <a:bodyPr/>
          <a:p/>
        </p:txBody>
      </p:sp>
      <p:sp>
        <p:nvSpPr>
          <p:cNvPr id="6" name="TextBox 6"/>
          <p:cNvSpPr txBox="1"/>
          <p:nvPr/>
        </p:nvSpPr>
        <p:spPr>
          <a:xfrm>
            <a:off x="11135490" y="561499"/>
            <a:ext cx="451863" cy="190690"/>
          </a:xfrm>
          <a:prstGeom prst="rect">
            <a:avLst/>
          </a:prstGeom>
          <a:noFill/>
          <a:ln>
            <a:noFill/>
          </a:ln>
        </p:spPr>
        <p:txBody>
          <a:bodyPr wrap="none" lIns="0" tIns="0" rIns="0" bIns="0" anchor="t" anchorCtr="0">
            <a:spAutoFit/>
          </a:bodyPr>
          <a:lstStyle/>
          <a:p>
            <a:pPr algn="r"/>
            <a:r>
              <a:rPr lang="en-US" sz="980" dirty="0">
                <a:solidFill>
                  <a:srgbClr val="8A93A6"/>
                </a:solidFill>
                <a:latin typeface="+mn-lt"/>
                <a:ea typeface="+mn-ea"/>
                <a:cs typeface="+mn-cs"/>
              </a:rPr>
              <a:t>08 / 08</a:t>
            </a:r>
          </a:p>
        </p:txBody>
      </p:sp>
      <p:grpSp>
        <p:nvGrpSpPr>
          <p:cNvPr id="12" name="Group 12"/>
          <p:cNvGrpSpPr/>
          <p:nvPr/>
        </p:nvGrpSpPr>
        <p:grpSpPr>
          <a:xfrm>
            <a:off x="609600" y="1428750"/>
            <a:ext cx="10972800" cy="1428750"/>
            <a:chOff x="609600" y="1428750"/>
            <a:chExt cx="10972800" cy="1428750"/>
          </a:xfrm>
        </p:grpSpPr>
        <p:sp>
          <p:nvSpPr>
            <p:cNvPr id="7" name="Rectangle 7"/>
            <p:cNvSpPr/>
            <p:nvPr/>
          </p:nvSpPr>
          <p:spPr>
            <a:xfrm>
              <a:off x="609600" y="1428750"/>
              <a:ext cx="10972800" cy="1428750"/>
            </a:xfrm>
            <a:prstGeom prst="roundRect">
              <a:avLst>
                <a:gd name="adj" fmla="val 9333"/>
              </a:avLst>
            </a:prstGeom>
            <a:solidFill>
              <a:schemeClr val="accent1"/>
            </a:solidFill>
            <a:ln>
              <a:noFill/>
            </a:ln>
          </p:spPr>
        </p:sp>
        <p:sp>
          <p:nvSpPr>
            <p:cNvPr id="8" name="Rectangle 8"/>
            <p:cNvSpPr/>
            <p:nvPr/>
          </p:nvSpPr>
          <p:spPr>
            <a:xfrm>
              <a:off x="609600" y="1428750"/>
              <a:ext cx="57150" cy="1428750"/>
            </a:xfrm>
            <a:prstGeom prst="roundRect">
              <a:avLst>
                <a:gd name="adj" fmla="val 50000"/>
              </a:avLst>
            </a:prstGeom>
            <a:solidFill>
              <a:schemeClr val="accent2"/>
            </a:solidFill>
            <a:ln>
              <a:noFill/>
            </a:ln>
          </p:spPr>
        </p:sp>
        <p:sp>
          <p:nvSpPr>
            <p:cNvPr id="9" name="TextBox 9"/>
            <p:cNvSpPr txBox="1"/>
            <p:nvPr/>
          </p:nvSpPr>
          <p:spPr>
            <a:xfrm>
              <a:off x="909066" y="1791652"/>
              <a:ext cx="1148944" cy="205359"/>
            </a:xfrm>
            <a:prstGeom prst="rect">
              <a:avLst/>
            </a:prstGeom>
            <a:noFill/>
            <a:ln>
              <a:noFill/>
            </a:ln>
          </p:spPr>
          <p:txBody>
            <a:bodyPr wrap="none" lIns="0" tIns="0" rIns="0" bIns="0" anchor="t" anchorCtr="0">
              <a:spAutoFit/>
            </a:bodyPr>
            <a:lstStyle/>
            <a:p>
              <a:pPr algn="l"/>
              <a:r>
                <a:rPr lang="en-US" sz="1050" spc="150" dirty="0">
                  <a:solidFill>
                    <a:schemeClr val="accent6"/>
                  </a:solidFill>
                  <a:latin typeface="+mn-lt"/>
                  <a:ea typeface="+mn-ea"/>
                  <a:cs typeface="+mn-cs"/>
                </a:rPr>
                <a:t>THE ONE IDEA</a:t>
              </a:r>
            </a:p>
          </p:txBody>
        </p:sp>
        <p:sp>
          <p:nvSpPr>
            <p:cNvPr id="10" name="TextBox 10"/>
            <p:cNvSpPr txBox="1"/>
            <p:nvPr/>
          </p:nvSpPr>
          <p:spPr>
            <a:xfrm>
              <a:off x="901446" y="2086928"/>
              <a:ext cx="5176813" cy="498729"/>
            </a:xfrm>
            <a:prstGeom prst="rect">
              <a:avLst/>
            </a:prstGeom>
            <a:noFill/>
            <a:ln>
              <a:noFill/>
            </a:ln>
          </p:spPr>
          <p:txBody>
            <a:bodyPr wrap="none" lIns="0" tIns="0" rIns="0" bIns="0" anchor="t" anchorCtr="0">
              <a:spAutoFit/>
            </a:bodyPr>
            <a:lstStyle/>
            <a:p>
              <a:pPr algn="l"/>
              <a:r>
                <a:rPr lang="en-US" sz="2550" b="1" dirty="0">
                  <a:solidFill>
                    <a:srgbClr val="FFFFFF"/>
                  </a:solidFill>
                  <a:latin typeface="+mj-lt"/>
                  <a:ea typeface="+mj-ea"/>
                  <a:cs typeface="+mj-cs"/>
                </a:rPr>
                <a:t>Memorization is geometric.</a:t>
              </a:r>
            </a:p>
          </p:txBody>
        </p:sp>
        <p:sp>
          <p:nvSpPr>
            <p:cNvPr id="11" name="TextBox 11"/>
            <p:cNvSpPr txBox="1"/>
            <p:nvPr/>
          </p:nvSpPr>
          <p:spPr>
            <a:xfrm>
              <a:off x="907161" y="2551271"/>
              <a:ext cx="9818380" cy="278702"/>
            </a:xfrm>
            <a:prstGeom prst="rect">
              <a:avLst/>
            </a:prstGeom>
            <a:noFill/>
            <a:ln>
              <a:noFill/>
            </a:ln>
          </p:spPr>
          <p:txBody>
            <a:bodyPr wrap="none" lIns="0" tIns="0" rIns="0" bIns="0" anchor="t" anchorCtr="0">
              <a:spAutoFit/>
            </a:bodyPr>
            <a:lstStyle/>
            <a:p>
              <a:pPr algn="l"/>
              <a:r>
                <a:rPr lang="en-US" sz="1420" dirty="0">
                  <a:solidFill>
                    <a:schemeClr val="accent6"/>
                  </a:solidFill>
                  <a:latin typeface="+mn-lt"/>
                  <a:ea typeface="+mn-ea"/>
                  <a:cs typeface="+mn-cs"/>
                </a:rPr>
                <a:t>A fuzzy, much-debated phenomenon becomes one measurable quantity — detect it, measure it, reduce it.</a:t>
              </a:r>
            </a:p>
          </p:txBody>
        </p:sp>
      </p:grpSp>
      <p:grpSp>
        <p:nvGrpSpPr>
          <p:cNvPr id="23" name="Group 23"/>
          <p:cNvGrpSpPr/>
          <p:nvPr/>
        </p:nvGrpSpPr>
        <p:grpSpPr>
          <a:xfrm>
            <a:off x="609600" y="3200400"/>
            <a:ext cx="3505200" cy="3009900"/>
            <a:chOff x="609600" y="3200400"/>
            <a:chExt cx="3505200" cy="3009900"/>
          </a:xfrm>
        </p:grpSpPr>
        <p:sp>
          <p:nvSpPr>
            <p:cNvPr id="13" name="Rectangle 13"/>
            <p:cNvSpPr/>
            <p:nvPr/>
          </p:nvSpPr>
          <p:spPr>
            <a:xfrm>
              <a:off x="609600" y="3200400"/>
              <a:ext cx="3505200" cy="3009900"/>
            </a:xfrm>
            <a:prstGeom prst="roundRect">
              <a:avLst>
                <a:gd name="adj" fmla="val 4430"/>
              </a:avLst>
            </a:prstGeom>
            <a:solidFill>
              <a:schemeClr val="lt2"/>
            </a:solidFill>
            <a:ln w="9525">
              <a:solidFill>
                <a:schemeClr val="accent4"/>
              </a:solidFill>
            </a:ln>
          </p:spPr>
        </p:sp>
        <p:sp>
          <p:nvSpPr>
            <p:cNvPr id="14" name="Rectangle 14"/>
            <p:cNvSpPr/>
            <p:nvPr/>
          </p:nvSpPr>
          <p:spPr>
            <a:xfrm>
              <a:off x="609600" y="3200400"/>
              <a:ext cx="57150" cy="3009900"/>
            </a:xfrm>
            <a:prstGeom prst="roundRect">
              <a:avLst>
                <a:gd name="adj" fmla="val 50000"/>
              </a:avLst>
            </a:prstGeom>
            <a:solidFill>
              <a:schemeClr val="accent2"/>
            </a:solidFill>
            <a:ln>
              <a:noFill/>
            </a:ln>
          </p:spPr>
        </p:sp>
        <p:sp>
          <p:nvSpPr>
            <p:cNvPr id="15" name="TextBox 15"/>
            <p:cNvSpPr txBox="1"/>
            <p:nvPr/>
          </p:nvSpPr>
          <p:spPr>
            <a:xfrm>
              <a:off x="906018" y="3422332"/>
              <a:ext cx="1121554"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j-lt"/>
                  <a:ea typeface="+mj-ea"/>
                  <a:cs typeface="+mj-cs"/>
                </a:rPr>
                <a:t>One test</a:t>
              </a:r>
            </a:p>
          </p:txBody>
        </p:sp>
        <p:sp>
          <p:nvSpPr>
            <p:cNvPr id="16" name="TextBox 16"/>
            <p:cNvSpPr txBox="1"/>
            <p:nvPr/>
          </p:nvSpPr>
          <p:spPr>
            <a:xfrm>
              <a:off x="907161" y="3808571"/>
              <a:ext cx="268720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If the model's local intrinsic</a:t>
              </a:r>
            </a:p>
          </p:txBody>
        </p:sp>
        <p:sp>
          <p:nvSpPr>
            <p:cNvPr id="17" name="TextBox 17"/>
            <p:cNvSpPr txBox="1"/>
            <p:nvPr/>
          </p:nvSpPr>
          <p:spPr>
            <a:xfrm>
              <a:off x="907161" y="4056221"/>
              <a:ext cx="250912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dimension around a point is</a:t>
              </a:r>
            </a:p>
          </p:txBody>
        </p:sp>
        <p:sp>
          <p:nvSpPr>
            <p:cNvPr id="18" name="TextBox 18"/>
            <p:cNvSpPr txBox="1"/>
            <p:nvPr/>
          </p:nvSpPr>
          <p:spPr>
            <a:xfrm>
              <a:off x="907161" y="4303871"/>
              <a:ext cx="2193707"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too small, that point is</a:t>
              </a:r>
            </a:p>
          </p:txBody>
        </p:sp>
        <p:sp>
          <p:nvSpPr>
            <p:cNvPr id="19" name="TextBox 19"/>
            <p:cNvSpPr txBox="1"/>
            <p:nvPr/>
          </p:nvSpPr>
          <p:spPr>
            <a:xfrm>
              <a:off x="907161" y="4551521"/>
              <a:ext cx="109453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memorized.</a:t>
              </a:r>
            </a:p>
          </p:txBody>
        </p:sp>
        <p:sp>
          <p:nvSpPr>
            <p:cNvPr id="20" name="TextBox 20"/>
            <p:cNvSpPr txBox="1"/>
            <p:nvPr/>
          </p:nvSpPr>
          <p:spPr>
            <a:xfrm>
              <a:off x="907161" y="4970621"/>
              <a:ext cx="2505957"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Holds whether the cause is</a:t>
              </a:r>
            </a:p>
          </p:txBody>
        </p:sp>
        <p:sp>
          <p:nvSpPr>
            <p:cNvPr id="21" name="TextBox 21"/>
            <p:cNvSpPr txBox="1"/>
            <p:nvPr/>
          </p:nvSpPr>
          <p:spPr>
            <a:xfrm>
              <a:off x="907161" y="5218271"/>
              <a:ext cx="2728956"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overfitting or the data being</a:t>
              </a:r>
            </a:p>
          </p:txBody>
        </p:sp>
        <p:sp>
          <p:nvSpPr>
            <p:cNvPr id="22" name="TextBox 22"/>
            <p:cNvSpPr txBox="1"/>
            <p:nvPr/>
          </p:nvSpPr>
          <p:spPr>
            <a:xfrm>
              <a:off x="907161" y="5465921"/>
              <a:ext cx="1706248"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inherently simple.</a:t>
              </a:r>
            </a:p>
          </p:txBody>
        </p:sp>
      </p:grpSp>
      <p:grpSp>
        <p:nvGrpSpPr>
          <p:cNvPr id="34" name="Group 34"/>
          <p:cNvGrpSpPr/>
          <p:nvPr/>
        </p:nvGrpSpPr>
        <p:grpSpPr>
          <a:xfrm>
            <a:off x="4343400" y="3200400"/>
            <a:ext cx="3505200" cy="3009900"/>
            <a:chOff x="4343400" y="3200400"/>
            <a:chExt cx="3505200" cy="3009900"/>
          </a:xfrm>
        </p:grpSpPr>
        <p:sp>
          <p:nvSpPr>
            <p:cNvPr id="24" name="Rectangle 24"/>
            <p:cNvSpPr/>
            <p:nvPr/>
          </p:nvSpPr>
          <p:spPr>
            <a:xfrm>
              <a:off x="4343400" y="3200400"/>
              <a:ext cx="3505200" cy="3009900"/>
            </a:xfrm>
            <a:prstGeom prst="roundRect">
              <a:avLst>
                <a:gd name="adj" fmla="val 4430"/>
              </a:avLst>
            </a:prstGeom>
            <a:solidFill>
              <a:schemeClr val="lt2"/>
            </a:solidFill>
            <a:ln w="9525">
              <a:solidFill>
                <a:schemeClr val="accent4"/>
              </a:solidFill>
            </a:ln>
          </p:spPr>
        </p:sp>
        <p:sp>
          <p:nvSpPr>
            <p:cNvPr id="25" name="Rectangle 25"/>
            <p:cNvSpPr/>
            <p:nvPr/>
          </p:nvSpPr>
          <p:spPr>
            <a:xfrm>
              <a:off x="4343400" y="3200400"/>
              <a:ext cx="57150" cy="3009900"/>
            </a:xfrm>
            <a:prstGeom prst="roundRect">
              <a:avLst>
                <a:gd name="adj" fmla="val 50000"/>
              </a:avLst>
            </a:prstGeom>
            <a:solidFill>
              <a:schemeClr val="accent3"/>
            </a:solidFill>
            <a:ln>
              <a:noFill/>
            </a:ln>
          </p:spPr>
        </p:sp>
        <p:sp>
          <p:nvSpPr>
            <p:cNvPr id="26" name="TextBox 26"/>
            <p:cNvSpPr txBox="1"/>
            <p:nvPr/>
          </p:nvSpPr>
          <p:spPr>
            <a:xfrm>
              <a:off x="4639818" y="3422332"/>
              <a:ext cx="1193361" cy="322707"/>
            </a:xfrm>
            <a:prstGeom prst="rect">
              <a:avLst/>
            </a:prstGeom>
            <a:noFill/>
            <a:ln>
              <a:noFill/>
            </a:ln>
          </p:spPr>
          <p:txBody>
            <a:bodyPr wrap="none" lIns="0" tIns="0" rIns="0" bIns="0" anchor="t" anchorCtr="0">
              <a:spAutoFit/>
            </a:bodyPr>
            <a:lstStyle/>
            <a:p>
              <a:pPr algn="l"/>
              <a:r>
                <a:rPr lang="en-US" sz="1650" b="1" dirty="0">
                  <a:solidFill>
                    <a:schemeClr val="accent3"/>
                  </a:solidFill>
                  <a:latin typeface="+mj-lt"/>
                  <a:ea typeface="+mj-ea"/>
                  <a:cs typeface="+mj-cs"/>
                </a:rPr>
                <a:t>Two tools</a:t>
              </a:r>
            </a:p>
          </p:txBody>
        </p:sp>
        <p:sp>
          <p:nvSpPr>
            <p:cNvPr id="27" name="TextBox 27"/>
            <p:cNvSpPr txBox="1"/>
            <p:nvPr/>
          </p:nvSpPr>
          <p:spPr>
            <a:xfrm>
              <a:off x="4640961" y="3808571"/>
              <a:ext cx="253367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Because LID is estimable at</a:t>
              </a:r>
            </a:p>
          </p:txBody>
        </p:sp>
        <p:sp>
          <p:nvSpPr>
            <p:cNvPr id="28" name="TextBox 28"/>
            <p:cNvSpPr txBox="1"/>
            <p:nvPr/>
          </p:nvSpPr>
          <p:spPr>
            <a:xfrm>
              <a:off x="4640961" y="4056221"/>
              <a:ext cx="2031220"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scale, you can detect</a:t>
              </a:r>
            </a:p>
          </p:txBody>
        </p:sp>
        <p:sp>
          <p:nvSpPr>
            <p:cNvPr id="29" name="TextBox 29"/>
            <p:cNvSpPr txBox="1"/>
            <p:nvPr/>
          </p:nvSpPr>
          <p:spPr>
            <a:xfrm>
              <a:off x="4640961" y="4303871"/>
              <a:ext cx="230840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memorized images — even</a:t>
              </a:r>
            </a:p>
          </p:txBody>
        </p:sp>
        <p:sp>
          <p:nvSpPr>
            <p:cNvPr id="30" name="TextBox 30"/>
            <p:cNvSpPr txBox="1"/>
            <p:nvPr/>
          </p:nvSpPr>
          <p:spPr>
            <a:xfrm>
              <a:off x="4640961" y="4551521"/>
              <a:ext cx="2231939"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without their captions.</a:t>
              </a:r>
            </a:p>
          </p:txBody>
        </p:sp>
        <p:sp>
          <p:nvSpPr>
            <p:cNvPr id="31" name="TextBox 31"/>
            <p:cNvSpPr txBox="1"/>
            <p:nvPr/>
          </p:nvSpPr>
          <p:spPr>
            <a:xfrm>
              <a:off x="4640961" y="4970621"/>
              <a:ext cx="2744681"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And mitigate memorization by</a:t>
              </a:r>
            </a:p>
          </p:txBody>
        </p:sp>
        <p:sp>
          <p:nvSpPr>
            <p:cNvPr id="32" name="TextBox 32"/>
            <p:cNvSpPr txBox="1"/>
            <p:nvPr/>
          </p:nvSpPr>
          <p:spPr>
            <a:xfrm>
              <a:off x="4640961" y="5218271"/>
              <a:ext cx="2595143"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steering generation toward</a:t>
              </a:r>
            </a:p>
          </p:txBody>
        </p:sp>
        <p:sp>
          <p:nvSpPr>
            <p:cNvPr id="33" name="TextBox 33"/>
            <p:cNvSpPr txBox="1"/>
            <p:nvPr/>
          </p:nvSpPr>
          <p:spPr>
            <a:xfrm>
              <a:off x="4640961" y="5465921"/>
              <a:ext cx="2604701"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higher-dimensional regions.</a:t>
              </a:r>
            </a:p>
          </p:txBody>
        </p:sp>
      </p:grpSp>
      <p:grpSp>
        <p:nvGrpSpPr>
          <p:cNvPr id="45" name="Group 45"/>
          <p:cNvGrpSpPr/>
          <p:nvPr/>
        </p:nvGrpSpPr>
        <p:grpSpPr>
          <a:xfrm>
            <a:off x="8077200" y="3200400"/>
            <a:ext cx="3505200" cy="3009900"/>
            <a:chOff x="8077200" y="3200400"/>
            <a:chExt cx="3505200" cy="3009900"/>
          </a:xfrm>
        </p:grpSpPr>
        <p:sp>
          <p:nvSpPr>
            <p:cNvPr id="35" name="Rectangle 35"/>
            <p:cNvSpPr/>
            <p:nvPr/>
          </p:nvSpPr>
          <p:spPr>
            <a:xfrm>
              <a:off x="8077200" y="3200400"/>
              <a:ext cx="3505200" cy="3009900"/>
            </a:xfrm>
            <a:prstGeom prst="roundRect">
              <a:avLst>
                <a:gd name="adj" fmla="val 4430"/>
              </a:avLst>
            </a:prstGeom>
            <a:solidFill>
              <a:schemeClr val="accent5"/>
            </a:solidFill>
            <a:ln w="9525">
              <a:solidFill>
                <a:schemeClr val="accent4"/>
              </a:solidFill>
            </a:ln>
          </p:spPr>
        </p:sp>
        <p:sp>
          <p:nvSpPr>
            <p:cNvPr id="36" name="Rectangle 36"/>
            <p:cNvSpPr/>
            <p:nvPr/>
          </p:nvSpPr>
          <p:spPr>
            <a:xfrm>
              <a:off x="8077200" y="3200400"/>
              <a:ext cx="57150" cy="3009900"/>
            </a:xfrm>
            <a:prstGeom prst="roundRect">
              <a:avLst>
                <a:gd name="adj" fmla="val 50000"/>
              </a:avLst>
            </a:prstGeom>
            <a:solidFill>
              <a:srgbClr val="C2410C"/>
            </a:solidFill>
            <a:ln>
              <a:noFill/>
            </a:ln>
          </p:spPr>
        </p:sp>
        <p:sp>
          <p:nvSpPr>
            <p:cNvPr id="37" name="TextBox 37"/>
            <p:cNvSpPr txBox="1"/>
            <p:nvPr/>
          </p:nvSpPr>
          <p:spPr>
            <a:xfrm>
              <a:off x="8373618" y="3422332"/>
              <a:ext cx="1870411" cy="322707"/>
            </a:xfrm>
            <a:prstGeom prst="rect">
              <a:avLst/>
            </a:prstGeom>
            <a:noFill/>
            <a:ln>
              <a:noFill/>
            </a:ln>
          </p:spPr>
          <p:txBody>
            <a:bodyPr wrap="none" lIns="0" tIns="0" rIns="0" bIns="0" anchor="t" anchorCtr="0">
              <a:spAutoFit/>
            </a:bodyPr>
            <a:lstStyle/>
            <a:p>
              <a:pPr algn="l"/>
              <a:r>
                <a:rPr lang="en-US" sz="1650" b="1" dirty="0">
                  <a:solidFill>
                    <a:srgbClr val="C2410C"/>
                  </a:solidFill>
                  <a:latin typeface="+mj-lt"/>
                  <a:ea typeface="+mj-ea"/>
                  <a:cs typeface="+mj-cs"/>
                </a:rPr>
                <a:t>One hypothesis</a:t>
              </a:r>
            </a:p>
          </p:txBody>
        </p:sp>
        <p:sp>
          <p:nvSpPr>
            <p:cNvPr id="38" name="TextBox 38"/>
            <p:cNvSpPr txBox="1"/>
            <p:nvPr/>
          </p:nvSpPr>
          <p:spPr>
            <a:xfrm>
              <a:off x="8374761" y="3808571"/>
              <a:ext cx="247693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The manifold memorization</a:t>
              </a:r>
            </a:p>
          </p:txBody>
        </p:sp>
        <p:sp>
          <p:nvSpPr>
            <p:cNvPr id="39" name="TextBox 39"/>
            <p:cNvSpPr txBox="1"/>
            <p:nvPr/>
          </p:nvSpPr>
          <p:spPr>
            <a:xfrm>
              <a:off x="8374761" y="4056221"/>
              <a:ext cx="2451773"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hypothesis turns a fuzzy,</a:t>
              </a:r>
            </a:p>
          </p:txBody>
        </p:sp>
        <p:sp>
          <p:nvSpPr>
            <p:cNvPr id="40" name="TextBox 40"/>
            <p:cNvSpPr txBox="1"/>
            <p:nvPr/>
          </p:nvSpPr>
          <p:spPr>
            <a:xfrm>
              <a:off x="8374761" y="4303871"/>
              <a:ext cx="2461331"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much-debated phenomenon</a:t>
              </a:r>
            </a:p>
          </p:txBody>
        </p:sp>
        <p:sp>
          <p:nvSpPr>
            <p:cNvPr id="41" name="TextBox 41"/>
            <p:cNvSpPr txBox="1"/>
            <p:nvPr/>
          </p:nvSpPr>
          <p:spPr>
            <a:xfrm>
              <a:off x="8374761" y="4551521"/>
              <a:ext cx="2642934"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into a measurable geometric</a:t>
              </a:r>
            </a:p>
          </p:txBody>
        </p:sp>
        <p:sp>
          <p:nvSpPr>
            <p:cNvPr id="42" name="TextBox 42"/>
            <p:cNvSpPr txBox="1"/>
            <p:nvPr/>
          </p:nvSpPr>
          <p:spPr>
            <a:xfrm>
              <a:off x="8374761" y="4799171"/>
              <a:ext cx="912932" cy="278702"/>
            </a:xfrm>
            <a:prstGeom prst="rect">
              <a:avLst/>
            </a:prstGeom>
            <a:noFill/>
            <a:ln>
              <a:noFill/>
            </a:ln>
          </p:spPr>
          <p:txBody>
            <a:bodyPr wrap="none" lIns="0" tIns="0" rIns="0" bIns="0" anchor="t" anchorCtr="0">
              <a:spAutoFit/>
            </a:bodyPr>
            <a:lstStyle/>
            <a:p>
              <a:pPr algn="l"/>
              <a:r>
                <a:rPr lang="en-US" sz="1420" dirty="0">
                  <a:solidFill>
                    <a:schemeClr val="dk1"/>
                  </a:solidFill>
                  <a:latin typeface="+mn-lt"/>
                  <a:ea typeface="+mn-ea"/>
                  <a:cs typeface="+mn-cs"/>
                </a:rPr>
                <a:t>quantity.</a:t>
              </a:r>
            </a:p>
          </p:txBody>
        </p:sp>
        <p:sp>
          <p:nvSpPr>
            <p:cNvPr id="43" name="TextBox 43"/>
            <p:cNvSpPr txBox="1"/>
            <p:nvPr/>
          </p:nvSpPr>
          <p:spPr>
            <a:xfrm>
              <a:off x="8374761" y="5218271"/>
              <a:ext cx="2133834"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Detect it, measure it,</a:t>
              </a:r>
            </a:p>
          </p:txBody>
        </p:sp>
        <p:sp>
          <p:nvSpPr>
            <p:cNvPr id="44" name="TextBox 44"/>
            <p:cNvSpPr txBox="1"/>
            <p:nvPr/>
          </p:nvSpPr>
          <p:spPr>
            <a:xfrm>
              <a:off x="8374761" y="5465921"/>
              <a:ext cx="970280"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reduce it.</a:t>
              </a:r>
            </a:p>
          </p:txBody>
        </p:sp>
      </p:grpSp>
      <p:sp>
        <p:nvSpPr>
          <p:cNvPr id="46" name="TextBox 46"/>
          <p:cNvSpPr txBox="1"/>
          <p:nvPr/>
        </p:nvSpPr>
        <p:spPr>
          <a:xfrm>
            <a:off x="604647" y="6619399"/>
            <a:ext cx="7979327" cy="190690"/>
          </a:xfrm>
          <a:prstGeom prst="rect">
            <a:avLst/>
          </a:prstGeom>
          <a:noFill/>
          <a:ln>
            <a:noFill/>
          </a:ln>
        </p:spPr>
        <p:txBody>
          <a:bodyPr wrap="none" lIns="0" tIns="0" rIns="0" bIns="0" anchor="t" anchorCtr="0">
            <a:spAutoFit/>
          </a:bodyPr>
          <a:lstStyle/>
          <a:p>
            <a:pPr algn="l"/>
            <a:r>
              <a:rPr lang="en-US" sz="980" dirty="0">
                <a:solidFill>
                  <a:srgbClr val="8A93A6"/>
                </a:solidFill>
                <a:latin typeface="+mn-lt"/>
                <a:ea typeface="+mn-ea"/>
                <a:cs typeface="+mn-cs"/>
              </a:rPr>
              <a:t>A Geometric Framework for Understanding Memorization — Layer 6 AI · ICLR 2025 · github.com/layer6ai-labs/dgm_geometry</a:t>
            </a:r>
          </a:p>
        </p:txBody>
      </p:sp>
      <p:sp>
        <p:nvSpPr>
          <p:cNvPr id="47" name="cue_s08_c1_single_idea_walk_away_memorization" title="cue_s08_c1_single_idea_walk_away_memorization" descr="cue_s08_c1_single_idea_walk_away_memorization The single idea to walk away with is that memorization is geometric."/>
          <p:cNvSpPr/>
          <p:nvPr/>
        </p:nvSpPr>
        <p:spPr>
          <a:xfrm>
            <a:off x="609600" y="1428521"/>
            <a:ext cx="109728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8_c2_local_intrinsic_dimension_around_poi" title="cue_s08_c2_local_intrinsic_dimension_around_poi" descr="cue_s08_c2_local_intrinsic_dimension_around_poi If the model's local intrinsic dimension around a point is too small, that point is memorized — and this holds whether the cause is overfitting or the data being inherently simple."/>
          <p:cNvSpPr/>
          <p:nvPr/>
        </p:nvSpPr>
        <p:spPr>
          <a:xfrm>
            <a:off x="609600" y="3200628"/>
            <a:ext cx="3505199" cy="30099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8_c3_because_local_intrinsic_dimension_es" title="cue_s08_c3_because_local_intrinsic_dimension_es" descr="cue_s08_c3_because_local_intrinsic_dimension_es Because local intrinsic dimension can be estimated at scale, you can both detect memorized images, even without their captions, and mitigate memorization by steering generation toward higher-dimensional regions."/>
          <p:cNvSpPr/>
          <p:nvPr/>
        </p:nvSpPr>
        <p:spPr>
          <a:xfrm>
            <a:off x="4344009" y="3200628"/>
            <a:ext cx="3505199" cy="30099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8_c4_manifold_memorization_hypothesis_tur" title="cue_s08_c4_manifold_memorization_hypothesis_tur" descr="cue_s08_c4_manifold_memorization_hypothesis_tur The manifold memorization hypothesis turns a fuzzy, much-debated phenomenon into a measurable geometric quantity."/>
          <p:cNvSpPr/>
          <p:nvPr/>
        </p:nvSpPr>
        <p:spPr>
          <a:xfrm>
            <a:off x="8077200" y="3200628"/>
            <a:ext cx="3505199" cy="30099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p2v_077_geomem">
  <a:themeElements>
    <a:clrScheme name="p2v_077_geomem">
      <a:dk1>
        <a:srgbClr val="1A2233"/>
      </a:dk1>
      <a:lt1>
        <a:srgbClr val="FFFFFF"/>
      </a:lt1>
      <a:dk2>
        <a:srgbClr val="55617A"/>
      </a:dk2>
      <a:lt2>
        <a:srgbClr val="F3F6FB"/>
      </a:lt2>
      <a:accent1>
        <a:srgbClr val="0F2A4A"/>
      </a:accent1>
      <a:accent2>
        <a:srgbClr val="2563EB"/>
      </a:accent2>
      <a:accent3>
        <a:srgbClr val="0D9488"/>
      </a:accent3>
      <a:accent4>
        <a:srgbClr val="D8DEEA"/>
      </a:accent4>
      <a:accent5>
        <a:srgbClr val="EAF0FA"/>
      </a:accent5>
      <a:accent6>
        <a:srgbClr val="8AB4F8"/>
      </a:accent6>
      <a:hlink>
        <a:srgbClr val="2563EB"/>
      </a:hlink>
      <a:folHlink>
        <a:srgbClr val="0D9488"/>
      </a:folHlink>
    </a:clrScheme>
    <a:fontScheme name="p2v_077_geomem">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2v_077_geome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2026-07-15T18:29:23Z</dcterms:created>
  <dcterms:modified xsi:type="dcterms:W3CDTF">2026-07-15T18:29:23Z</dcterms:modified>
  <cp:category/>
  <cp:contentStatus/>
</cp:coreProperties>
</file>
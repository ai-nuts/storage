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2024</a:t>
            </a:r>
          </a:p>
        </p:txBody>
      </p:sp>
      <p:sp>
        <p:nvSpPr>
          <p:cNvPr id="3" name="TextBox 3"/>
          <p:cNvSpPr txBox="1"/>
          <p:nvPr/>
        </p:nvSpPr>
        <p:spPr>
          <a:xfrm>
            <a:off x="8567983" y="576501"/>
            <a:ext cx="3019561"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HKUST (GZ) · Tongji · Info. Eng. University</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088708"/>
            <a:ext cx="2753524"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GeoReasoner</a:t>
            </a:r>
          </a:p>
        </p:txBody>
      </p:sp>
      <p:sp>
        <p:nvSpPr>
          <p:cNvPr id="6" name="TextBox 6"/>
          <p:cNvSpPr txBox="1"/>
          <p:nvPr/>
        </p:nvSpPr>
        <p:spPr>
          <a:xfrm>
            <a:off x="600837" y="1680686"/>
            <a:ext cx="7557456"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Geo-localization with Reasoning in Street Views via a Large VLM</a:t>
            </a:r>
          </a:p>
        </p:txBody>
      </p:sp>
      <p:sp>
        <p:nvSpPr>
          <p:cNvPr id="7" name="Rectangle 7"/>
          <p:cNvSpPr/>
          <p:nvPr/>
        </p:nvSpPr>
        <p:spPr>
          <a:xfrm>
            <a:off x="9334500" y="1028700"/>
            <a:ext cx="1428750" cy="819150"/>
          </a:xfrm>
          <a:prstGeom prst="roundRect">
            <a:avLst>
              <a:gd name="adj" fmla="val 9302"/>
            </a:avLst>
          </a:prstGeom>
          <a:solidFill>
            <a:srgbClr val="0E2334"/>
          </a:solidFill>
          <a:ln w="14288">
            <a:solidFill>
              <a:srgbClr val="26455F"/>
            </a:solidFill>
          </a:ln>
        </p:spPr>
        <p:txBody>
          <a:bodyPr/>
          <a:p/>
        </p:txBody>
      </p:sp>
      <p:sp>
        <p:nvSpPr>
          <p:cNvPr id="8" name="Rectangle 8"/>
          <p:cNvSpPr/>
          <p:nvPr/>
        </p:nvSpPr>
        <p:spPr>
          <a:xfrm>
            <a:off x="9382125" y="1076325"/>
            <a:ext cx="1333500" cy="327660"/>
          </a:xfrm>
          <a:prstGeom prst="roundRect">
            <a:avLst>
              <a:gd name="adj" fmla="val 11628"/>
            </a:avLst>
          </a:prstGeom>
          <a:solidFill>
            <a:srgbClr val="1C3A54"/>
          </a:solidFill>
          <a:ln>
            <a:noFill/>
          </a:ln>
        </p:spPr>
        <p:txBody>
          <a:bodyPr/>
          <a:p/>
        </p:txBody>
      </p:sp>
      <p:sp>
        <p:nvSpPr>
          <p:cNvPr id="9" name="Rectangle 9"/>
          <p:cNvSpPr/>
          <p:nvPr/>
        </p:nvSpPr>
        <p:spPr>
          <a:xfrm>
            <a:off x="9477375" y="1307211"/>
            <a:ext cx="285750" cy="409575"/>
          </a:xfrm>
          <a:prstGeom prst="roundRect">
            <a:avLst>
              <a:gd name="adj" fmla="val 6667"/>
            </a:avLst>
          </a:prstGeom>
          <a:solidFill>
            <a:srgbClr val="24506E"/>
          </a:solidFill>
          <a:ln>
            <a:noFill/>
          </a:ln>
        </p:spPr>
        <p:txBody>
          <a:bodyPr/>
          <a:p/>
        </p:txBody>
      </p:sp>
      <p:sp>
        <p:nvSpPr>
          <p:cNvPr id="10" name="Rectangle 10"/>
          <p:cNvSpPr/>
          <p:nvPr/>
        </p:nvSpPr>
        <p:spPr>
          <a:xfrm>
            <a:off x="9820275" y="1208913"/>
            <a:ext cx="228600" cy="507873"/>
          </a:xfrm>
          <a:prstGeom prst="roundRect">
            <a:avLst>
              <a:gd name="adj" fmla="val 8333"/>
            </a:avLst>
          </a:prstGeom>
          <a:solidFill>
            <a:srgbClr val="2C5C80"/>
          </a:solidFill>
          <a:ln>
            <a:noFill/>
          </a:ln>
        </p:spPr>
        <p:txBody>
          <a:bodyPr/>
          <a:p/>
        </p:txBody>
      </p:sp>
      <p:sp>
        <p:nvSpPr>
          <p:cNvPr id="11" name="Rectangle 11"/>
          <p:cNvSpPr/>
          <p:nvPr/>
        </p:nvSpPr>
        <p:spPr>
          <a:xfrm>
            <a:off x="10363200" y="1339977"/>
            <a:ext cx="257175" cy="376809"/>
          </a:xfrm>
          <a:prstGeom prst="roundRect">
            <a:avLst>
              <a:gd name="adj" fmla="val 7407"/>
            </a:avLst>
          </a:prstGeom>
          <a:solidFill>
            <a:srgbClr val="24506E"/>
          </a:solidFill>
          <a:ln>
            <a:noFill/>
          </a:ln>
        </p:spPr>
        <p:txBody>
          <a:bodyPr/>
          <a:p/>
        </p:txBody>
      </p:sp>
      <p:sp>
        <p:nvSpPr>
          <p:cNvPr id="12" name="Polygon 12"/>
          <p:cNvSpPr/>
          <p:nvPr/>
        </p:nvSpPr>
        <p:spPr>
          <a:xfrm>
            <a:off x="9906000" y="1388745"/>
            <a:ext cx="285750" cy="401955"/>
          </a:xfrm>
          <a:custGeom>
            <a:avLst/>
            <a:gdLst/>
            <a:ahLst/>
            <a:cxnLst/>
            <a:rect l="l" t="t" r="r" b="b"/>
            <a:pathLst>
              <a:path w="285750" h="401955">
                <a:moveTo>
                  <a:pt x="0" y="401955"/>
                </a:moveTo>
                <a:lnTo>
                  <a:pt x="285750" y="401955"/>
                </a:lnTo>
                <a:lnTo>
                  <a:pt x="214312" y="0"/>
                </a:lnTo>
                <a:lnTo>
                  <a:pt x="71438" y="0"/>
                </a:lnTo>
                <a:close/>
              </a:path>
            </a:pathLst>
          </a:custGeom>
          <a:solidFill>
            <a:srgbClr val="33597A"/>
          </a:solidFill>
          <a:ln>
            <a:noFill/>
          </a:ln>
        </p:spPr>
        <p:txBody>
          <a:bodyPr/>
          <a:p/>
        </p:txBody>
      </p:sp>
      <p:sp>
        <p:nvSpPr>
          <p:cNvPr id="13" name="Polygon 13"/>
          <p:cNvSpPr/>
          <p:nvPr/>
        </p:nvSpPr>
        <p:spPr>
          <a:xfrm>
            <a:off x="10180320" y="1335405"/>
            <a:ext cx="80010" cy="88583"/>
          </a:xfrm>
          <a:custGeom>
            <a:avLst/>
            <a:gdLst/>
            <a:ahLst/>
            <a:cxnLst/>
            <a:rect l="l" t="t" r="r" b="b"/>
            <a:pathLst>
              <a:path w="80010" h="88583">
                <a:moveTo>
                  <a:pt x="0" y="0"/>
                </a:moveTo>
                <a:lnTo>
                  <a:pt x="80010" y="0"/>
                </a:lnTo>
                <a:lnTo>
                  <a:pt x="40005" y="88583"/>
                </a:lnTo>
                <a:close/>
              </a:path>
            </a:pathLst>
          </a:custGeom>
          <a:solidFill>
            <a:srgbClr val="48C78E"/>
          </a:solidFill>
          <a:ln>
            <a:noFill/>
          </a:ln>
        </p:spPr>
        <p:txBody>
          <a:bodyPr/>
          <a:p/>
        </p:txBody>
      </p:sp>
      <p:sp>
        <p:nvSpPr>
          <p:cNvPr id="14" name="Ellipse 14"/>
          <p:cNvSpPr/>
          <p:nvPr/>
        </p:nvSpPr>
        <p:spPr>
          <a:xfrm>
            <a:off x="10153650" y="1240536"/>
            <a:ext cx="133350" cy="133350"/>
          </a:xfrm>
          <a:prstGeom prst="ellipse">
            <a:avLst/>
          </a:prstGeom>
          <a:solidFill>
            <a:srgbClr val="48C78E"/>
          </a:solidFill>
          <a:ln>
            <a:noFill/>
          </a:ln>
        </p:spPr>
        <p:txBody>
          <a:bodyPr/>
          <a:p/>
        </p:txBody>
      </p:sp>
      <p:sp>
        <p:nvSpPr>
          <p:cNvPr id="15" name="Ellipse 15"/>
          <p:cNvSpPr/>
          <p:nvPr/>
        </p:nvSpPr>
        <p:spPr>
          <a:xfrm>
            <a:off x="10193655" y="1280541"/>
            <a:ext cx="53340" cy="53340"/>
          </a:xfrm>
          <a:prstGeom prst="ellipse">
            <a:avLst/>
          </a:prstGeom>
          <a:solidFill>
            <a:schemeClr val="lt1"/>
          </a:solidFill>
          <a:ln>
            <a:noFill/>
          </a:ln>
        </p:spPr>
        <p:txBody>
          <a:bodyPr/>
          <a:p/>
        </p:txBody>
      </p:sp>
      <p:sp>
        <p:nvSpPr>
          <p:cNvPr id="16" name="TextBox 16"/>
          <p:cNvSpPr txBox="1"/>
          <p:nvPr/>
        </p:nvSpPr>
        <p:spPr>
          <a:xfrm>
            <a:off x="9329738" y="901541"/>
            <a:ext cx="948378"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high-locatability</a:t>
            </a:r>
          </a:p>
        </p:txBody>
      </p:sp>
      <p:sp>
        <p:nvSpPr>
          <p:cNvPr id="17" name="Line 17"/>
          <p:cNvSpPr/>
          <p:nvPr/>
        </p:nvSpPr>
        <p:spPr>
          <a:xfrm>
            <a:off x="10801350" y="1428750"/>
            <a:ext cx="400050" cy="9525"/>
          </a:xfrm>
          <a:custGeom>
            <a:avLst/>
            <a:gdLst/>
            <a:ahLst/>
            <a:cxnLst/>
            <a:rect l="l" t="t" r="r" b="b"/>
            <a:pathLst>
              <a:path w="400050" h="9525">
                <a:moveTo>
                  <a:pt x="0" y="0"/>
                </a:moveTo>
                <a:lnTo>
                  <a:pt x="400050" y="0"/>
                </a:lnTo>
              </a:path>
            </a:pathLst>
          </a:custGeom>
          <a:noFill/>
          <a:ln w="19050" cap="rnd">
            <a:solidFill>
              <a:srgbClr val="F2C14E"/>
            </a:solidFill>
          </a:ln>
        </p:spPr>
        <p:txBody>
          <a:bodyPr/>
          <a:p/>
        </p:txBody>
      </p:sp>
      <p:sp>
        <p:nvSpPr>
          <p:cNvPr id="18" name="Polyline 18"/>
          <p:cNvSpPr/>
          <p:nvPr/>
        </p:nvSpPr>
        <p:spPr>
          <a:xfrm>
            <a:off x="11115675" y="1387792"/>
            <a:ext cx="85725" cy="81915"/>
          </a:xfrm>
          <a:custGeom>
            <a:avLst/>
            <a:gdLst/>
            <a:ahLst/>
            <a:cxnLst/>
            <a:rect l="l" t="t" r="r" b="b"/>
            <a:pathLst>
              <a:path w="85725" h="81915">
                <a:moveTo>
                  <a:pt x="0" y="81915"/>
                </a:moveTo>
                <a:lnTo>
                  <a:pt x="85725" y="40958"/>
                </a:lnTo>
                <a:lnTo>
                  <a:pt x="0" y="0"/>
                </a:lnTo>
              </a:path>
            </a:pathLst>
          </a:custGeom>
          <a:noFill/>
          <a:ln w="19050" cap="rnd">
            <a:solidFill>
              <a:srgbClr val="F2C14E"/>
            </a:solidFill>
            <a:round/>
          </a:ln>
        </p:spPr>
        <p:txBody>
          <a:bodyPr/>
          <a:p/>
        </p:txBody>
      </p:sp>
      <p:sp>
        <p:nvSpPr>
          <p:cNvPr id="19" name="Polygon 19"/>
          <p:cNvSpPr/>
          <p:nvPr/>
        </p:nvSpPr>
        <p:spPr>
          <a:xfrm>
            <a:off x="11334750" y="1468755"/>
            <a:ext cx="114300" cy="126683"/>
          </a:xfrm>
          <a:custGeom>
            <a:avLst/>
            <a:gdLst/>
            <a:ahLst/>
            <a:cxnLst/>
            <a:rect l="l" t="t" r="r" b="b"/>
            <a:pathLst>
              <a:path w="114300" h="126683">
                <a:moveTo>
                  <a:pt x="0" y="0"/>
                </a:moveTo>
                <a:lnTo>
                  <a:pt x="114300" y="0"/>
                </a:lnTo>
                <a:lnTo>
                  <a:pt x="57150" y="126683"/>
                </a:lnTo>
                <a:close/>
              </a:path>
            </a:pathLst>
          </a:custGeom>
          <a:solidFill>
            <a:srgbClr val="48C78E"/>
          </a:solidFill>
          <a:ln>
            <a:noFill/>
          </a:ln>
        </p:spPr>
        <p:txBody>
          <a:bodyPr/>
          <a:p/>
        </p:txBody>
      </p:sp>
      <p:sp>
        <p:nvSpPr>
          <p:cNvPr id="20" name="Ellipse 20"/>
          <p:cNvSpPr/>
          <p:nvPr/>
        </p:nvSpPr>
        <p:spPr>
          <a:xfrm>
            <a:off x="11296650" y="1333500"/>
            <a:ext cx="190500" cy="190500"/>
          </a:xfrm>
          <a:prstGeom prst="ellipse">
            <a:avLst/>
          </a:prstGeom>
          <a:solidFill>
            <a:srgbClr val="48C78E"/>
          </a:solidFill>
          <a:ln>
            <a:noFill/>
          </a:ln>
        </p:spPr>
        <p:txBody>
          <a:bodyPr/>
          <a:p/>
        </p:txBody>
      </p:sp>
      <p:sp>
        <p:nvSpPr>
          <p:cNvPr id="21" name="Ellipse 21"/>
          <p:cNvSpPr/>
          <p:nvPr/>
        </p:nvSpPr>
        <p:spPr>
          <a:xfrm>
            <a:off x="11353800" y="1390650"/>
            <a:ext cx="76200" cy="76200"/>
          </a:xfrm>
          <a:prstGeom prst="ellipse">
            <a:avLst/>
          </a:prstGeom>
          <a:solidFill>
            <a:schemeClr val="lt1"/>
          </a:solidFill>
          <a:ln>
            <a:noFill/>
          </a:ln>
        </p:spPr>
        <p:txBody>
          <a:bodyPr/>
          <a:p/>
        </p:txBody>
      </p:sp>
      <p:sp>
        <p:nvSpPr>
          <p:cNvPr id="22" name="TextBox 22"/>
          <p:cNvSpPr txBox="1"/>
          <p:nvPr/>
        </p:nvSpPr>
        <p:spPr>
          <a:xfrm>
            <a:off x="604076" y="2092404"/>
            <a:ext cx="38755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Ling Li · Yu Ye · Yao Zhou · Bingchuan Jiang · Wei Zeng</a:t>
            </a:r>
          </a:p>
        </p:txBody>
      </p:sp>
      <p:grpSp>
        <p:nvGrpSpPr>
          <p:cNvPr id="31" name="Group 31"/>
          <p:cNvGrpSpPr/>
          <p:nvPr/>
        </p:nvGrpSpPr>
        <p:grpSpPr>
          <a:xfrm>
            <a:off x="609600" y="2762250"/>
            <a:ext cx="2628900" cy="2343150"/>
            <a:chOff x="609600" y="2762250"/>
            <a:chExt cx="2628900" cy="2343150"/>
          </a:xfrm>
        </p:grpSpPr>
        <p:sp>
          <p:nvSpPr>
            <p:cNvPr id="23" name="Rectangle 23"/>
            <p:cNvSpPr/>
            <p:nvPr/>
          </p:nvSpPr>
          <p:spPr>
            <a:xfrm>
              <a:off x="609600" y="2762250"/>
              <a:ext cx="2628900" cy="2343150"/>
            </a:xfrm>
            <a:prstGeom prst="roundRect">
              <a:avLst>
                <a:gd name="adj" fmla="val 5691"/>
              </a:avLst>
            </a:prstGeom>
            <a:solidFill>
              <a:schemeClr val="accent5"/>
            </a:solidFill>
            <a:ln w="14288">
              <a:solidFill>
                <a:srgbClr val="26455F"/>
              </a:solidFill>
            </a:ln>
          </p:spPr>
        </p:sp>
        <p:sp>
          <p:nvSpPr>
            <p:cNvPr id="24" name="Rectangle 24"/>
            <p:cNvSpPr/>
            <p:nvPr/>
          </p:nvSpPr>
          <p:spPr>
            <a:xfrm>
              <a:off x="609600" y="2762250"/>
              <a:ext cx="2628900" cy="57150"/>
            </a:xfrm>
            <a:prstGeom prst="roundRect">
              <a:avLst>
                <a:gd name="adj" fmla="val 50000"/>
              </a:avLst>
            </a:prstGeom>
            <a:solidFill>
              <a:schemeClr val="accent2"/>
            </a:solidFill>
            <a:ln>
              <a:noFill/>
            </a:ln>
          </p:spPr>
        </p:sp>
        <p:sp>
          <p:nvSpPr>
            <p:cNvPr id="25" name="TextBox 25"/>
            <p:cNvSpPr txBox="1"/>
            <p:nvPr/>
          </p:nvSpPr>
          <p:spPr>
            <a:xfrm>
              <a:off x="831723" y="3100864"/>
              <a:ext cx="239858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Where the photo was taken</a:t>
              </a:r>
            </a:p>
          </p:txBody>
        </p:sp>
        <p:sp>
          <p:nvSpPr>
            <p:cNvPr id="26" name="TextBox 26"/>
            <p:cNvSpPr txBox="1"/>
            <p:nvPr/>
          </p:nvSpPr>
          <p:spPr>
            <a:xfrm>
              <a:off x="831723" y="3319939"/>
              <a:ext cx="85427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and how</a:t>
              </a:r>
            </a:p>
          </p:txBody>
        </p:sp>
        <p:sp>
          <p:nvSpPr>
            <p:cNvPr id="27" name="TextBox 27"/>
            <p:cNvSpPr txBox="1"/>
            <p:nvPr/>
          </p:nvSpPr>
          <p:spPr>
            <a:xfrm>
              <a:off x="833323" y="3877818"/>
              <a:ext cx="216992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GeoReasoner not only predicts the</a:t>
              </a:r>
            </a:p>
          </p:txBody>
        </p:sp>
        <p:sp>
          <p:nvSpPr>
            <p:cNvPr id="28" name="TextBox 28"/>
            <p:cNvSpPr txBox="1"/>
            <p:nvPr/>
          </p:nvSpPr>
          <p:spPr>
            <a:xfrm>
              <a:off x="833323" y="4049268"/>
              <a:ext cx="227137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country and city of a street photo,</a:t>
              </a:r>
            </a:p>
          </p:txBody>
        </p:sp>
        <p:sp>
          <p:nvSpPr>
            <p:cNvPr id="29" name="TextBox 29"/>
            <p:cNvSpPr txBox="1"/>
            <p:nvPr/>
          </p:nvSpPr>
          <p:spPr>
            <a:xfrm>
              <a:off x="833323" y="4220718"/>
              <a:ext cx="2109826"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it explains the visual clues behind</a:t>
              </a:r>
            </a:p>
          </p:txBody>
        </p:sp>
        <p:sp>
          <p:nvSpPr>
            <p:cNvPr id="30" name="TextBox 30"/>
            <p:cNvSpPr txBox="1"/>
            <p:nvPr/>
          </p:nvSpPr>
          <p:spPr>
            <a:xfrm>
              <a:off x="833323" y="4392168"/>
              <a:ext cx="759318"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each guess.</a:t>
              </a:r>
            </a:p>
          </p:txBody>
        </p:sp>
      </p:grpSp>
      <p:grpSp>
        <p:nvGrpSpPr>
          <p:cNvPr id="41" name="Group 41"/>
          <p:cNvGrpSpPr/>
          <p:nvPr/>
        </p:nvGrpSpPr>
        <p:grpSpPr>
          <a:xfrm>
            <a:off x="3390900" y="2762250"/>
            <a:ext cx="2628900" cy="2343150"/>
            <a:chOff x="3390900" y="2762250"/>
            <a:chExt cx="2628900" cy="2343150"/>
          </a:xfrm>
        </p:grpSpPr>
        <p:sp>
          <p:nvSpPr>
            <p:cNvPr id="32" name="Rectangle 32"/>
            <p:cNvSpPr/>
            <p:nvPr/>
          </p:nvSpPr>
          <p:spPr>
            <a:xfrm>
              <a:off x="3390900" y="2762250"/>
              <a:ext cx="2628900" cy="2343150"/>
            </a:xfrm>
            <a:prstGeom prst="roundRect">
              <a:avLst>
                <a:gd name="adj" fmla="val 5691"/>
              </a:avLst>
            </a:prstGeom>
            <a:solidFill>
              <a:schemeClr val="accent5"/>
            </a:solidFill>
            <a:ln w="14288">
              <a:solidFill>
                <a:srgbClr val="26455F"/>
              </a:solidFill>
            </a:ln>
          </p:spPr>
        </p:sp>
        <p:sp>
          <p:nvSpPr>
            <p:cNvPr id="33" name="Rectangle 33"/>
            <p:cNvSpPr/>
            <p:nvPr/>
          </p:nvSpPr>
          <p:spPr>
            <a:xfrm>
              <a:off x="3390900" y="2762250"/>
              <a:ext cx="2628900" cy="57150"/>
            </a:xfrm>
            <a:prstGeom prst="roundRect">
              <a:avLst>
                <a:gd name="adj" fmla="val 50000"/>
              </a:avLst>
            </a:prstGeom>
            <a:solidFill>
              <a:srgbClr val="F2685C"/>
            </a:solidFill>
            <a:ln>
              <a:noFill/>
            </a:ln>
          </p:spPr>
        </p:sp>
        <p:sp>
          <p:nvSpPr>
            <p:cNvPr id="34" name="TextBox 34"/>
            <p:cNvSpPr txBox="1"/>
            <p:nvPr/>
          </p:nvSpPr>
          <p:spPr>
            <a:xfrm>
              <a:off x="3613023" y="3100864"/>
              <a:ext cx="161114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Two long-standing</a:t>
              </a:r>
            </a:p>
          </p:txBody>
        </p:sp>
        <p:sp>
          <p:nvSpPr>
            <p:cNvPr id="35" name="TextBox 35"/>
            <p:cNvSpPr txBox="1"/>
            <p:nvPr/>
          </p:nvSpPr>
          <p:spPr>
            <a:xfrm>
              <a:off x="3613023" y="3319939"/>
              <a:ext cx="86332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obstacles</a:t>
              </a:r>
            </a:p>
          </p:txBody>
        </p:sp>
        <p:sp>
          <p:nvSpPr>
            <p:cNvPr id="36" name="TextBox 36"/>
            <p:cNvSpPr txBox="1"/>
            <p:nvPr/>
          </p:nvSpPr>
          <p:spPr>
            <a:xfrm>
              <a:off x="3614623" y="3877818"/>
              <a:ext cx="2062272"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Street-view training data is full</a:t>
              </a:r>
            </a:p>
          </p:txBody>
        </p:sp>
        <p:sp>
          <p:nvSpPr>
            <p:cNvPr id="37" name="TextBox 37"/>
            <p:cNvSpPr txBox="1"/>
            <p:nvPr/>
          </p:nvSpPr>
          <p:spPr>
            <a:xfrm>
              <a:off x="3614623" y="4049268"/>
              <a:ext cx="185781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of low-quality images with no</a:t>
              </a:r>
            </a:p>
          </p:txBody>
        </p:sp>
        <p:sp>
          <p:nvSpPr>
            <p:cNvPr id="38" name="TextBox 38"/>
            <p:cNvSpPr txBox="1"/>
            <p:nvPr/>
          </p:nvSpPr>
          <p:spPr>
            <a:xfrm>
              <a:off x="3614623" y="4220718"/>
              <a:ext cx="159934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visual clues, and existing</a:t>
              </a:r>
            </a:p>
          </p:txBody>
        </p:sp>
        <p:sp>
          <p:nvSpPr>
            <p:cNvPr id="39" name="TextBox 39"/>
            <p:cNvSpPr txBox="1"/>
            <p:nvPr/>
          </p:nvSpPr>
          <p:spPr>
            <a:xfrm>
              <a:off x="3614623" y="4392168"/>
              <a:ext cx="190951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localization models are opaque</a:t>
              </a:r>
            </a:p>
          </p:txBody>
        </p:sp>
        <p:sp>
          <p:nvSpPr>
            <p:cNvPr id="40" name="TextBox 40"/>
            <p:cNvSpPr txBox="1"/>
            <p:nvPr/>
          </p:nvSpPr>
          <p:spPr>
            <a:xfrm>
              <a:off x="3614623" y="4563618"/>
              <a:ext cx="798088"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black boxes.</a:t>
              </a:r>
            </a:p>
          </p:txBody>
        </p:sp>
      </p:grpSp>
      <p:grpSp>
        <p:nvGrpSpPr>
          <p:cNvPr id="50" name="Group 50"/>
          <p:cNvGrpSpPr/>
          <p:nvPr/>
        </p:nvGrpSpPr>
        <p:grpSpPr>
          <a:xfrm>
            <a:off x="6172200" y="2762250"/>
            <a:ext cx="2628900" cy="2343150"/>
            <a:chOff x="6172200" y="2762250"/>
            <a:chExt cx="2628900" cy="2343150"/>
          </a:xfrm>
        </p:grpSpPr>
        <p:sp>
          <p:nvSpPr>
            <p:cNvPr id="42" name="Rectangle 42"/>
            <p:cNvSpPr/>
            <p:nvPr/>
          </p:nvSpPr>
          <p:spPr>
            <a:xfrm>
              <a:off x="6172200" y="2762250"/>
              <a:ext cx="2628900" cy="2343150"/>
            </a:xfrm>
            <a:prstGeom prst="roundRect">
              <a:avLst>
                <a:gd name="adj" fmla="val 5691"/>
              </a:avLst>
            </a:prstGeom>
            <a:solidFill>
              <a:schemeClr val="accent5"/>
            </a:solidFill>
            <a:ln w="14288">
              <a:solidFill>
                <a:srgbClr val="26455F"/>
              </a:solidFill>
            </a:ln>
          </p:spPr>
        </p:sp>
        <p:sp>
          <p:nvSpPr>
            <p:cNvPr id="43" name="Rectangle 43"/>
            <p:cNvSpPr/>
            <p:nvPr/>
          </p:nvSpPr>
          <p:spPr>
            <a:xfrm>
              <a:off x="6172200" y="2762250"/>
              <a:ext cx="2628900" cy="57150"/>
            </a:xfrm>
            <a:prstGeom prst="roundRect">
              <a:avLst>
                <a:gd name="adj" fmla="val 50000"/>
              </a:avLst>
            </a:prstGeom>
            <a:solidFill>
              <a:srgbClr val="F2C14E"/>
            </a:solidFill>
            <a:ln>
              <a:noFill/>
            </a:ln>
          </p:spPr>
        </p:sp>
        <p:sp>
          <p:nvSpPr>
            <p:cNvPr id="44" name="TextBox 44"/>
            <p:cNvSpPr txBox="1"/>
            <p:nvPr/>
          </p:nvSpPr>
          <p:spPr>
            <a:xfrm>
              <a:off x="6394323" y="3100864"/>
              <a:ext cx="230787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Locatability + human game</a:t>
              </a:r>
            </a:p>
          </p:txBody>
        </p:sp>
        <p:sp>
          <p:nvSpPr>
            <p:cNvPr id="45" name="TextBox 45"/>
            <p:cNvSpPr txBox="1"/>
            <p:nvPr/>
          </p:nvSpPr>
          <p:spPr>
            <a:xfrm>
              <a:off x="6394323" y="3319939"/>
              <a:ext cx="46527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clues</a:t>
              </a:r>
            </a:p>
          </p:txBody>
        </p:sp>
        <p:sp>
          <p:nvSpPr>
            <p:cNvPr id="46" name="TextBox 46"/>
            <p:cNvSpPr txBox="1"/>
            <p:nvPr/>
          </p:nvSpPr>
          <p:spPr>
            <a:xfrm>
              <a:off x="6395923" y="3877818"/>
              <a:ext cx="2023424"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It quantifies how locatable each</a:t>
              </a:r>
            </a:p>
          </p:txBody>
        </p:sp>
        <p:sp>
          <p:nvSpPr>
            <p:cNvPr id="47" name="TextBox 47"/>
            <p:cNvSpPr txBox="1"/>
            <p:nvPr/>
          </p:nvSpPr>
          <p:spPr>
            <a:xfrm>
              <a:off x="6395923" y="4049268"/>
              <a:ext cx="2206752"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image is, borrows human inference</a:t>
              </a:r>
            </a:p>
          </p:txBody>
        </p:sp>
        <p:sp>
          <p:nvSpPr>
            <p:cNvPr id="48" name="TextBox 48"/>
            <p:cNvSpPr txBox="1"/>
            <p:nvPr/>
          </p:nvSpPr>
          <p:spPr>
            <a:xfrm>
              <a:off x="6395923" y="4220718"/>
              <a:ext cx="201936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knowledge from geo-games, and</a:t>
              </a:r>
            </a:p>
          </p:txBody>
        </p:sp>
        <p:sp>
          <p:nvSpPr>
            <p:cNvPr id="49" name="TextBox 49"/>
            <p:cNvSpPr txBox="1"/>
            <p:nvPr/>
          </p:nvSpPr>
          <p:spPr>
            <a:xfrm>
              <a:off x="6395923" y="4392168"/>
              <a:ext cx="165104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fine-tunes in two stages.</a:t>
              </a:r>
            </a:p>
          </p:txBody>
        </p:sp>
      </p:grpSp>
      <p:grpSp>
        <p:nvGrpSpPr>
          <p:cNvPr id="59" name="Group 59"/>
          <p:cNvGrpSpPr/>
          <p:nvPr/>
        </p:nvGrpSpPr>
        <p:grpSpPr>
          <a:xfrm>
            <a:off x="8953500" y="2762250"/>
            <a:ext cx="2628900" cy="2343150"/>
            <a:chOff x="8953500" y="2762250"/>
            <a:chExt cx="2628900" cy="2343150"/>
          </a:xfrm>
        </p:grpSpPr>
        <p:sp>
          <p:nvSpPr>
            <p:cNvPr id="51" name="Rectangle 51"/>
            <p:cNvSpPr/>
            <p:nvPr/>
          </p:nvSpPr>
          <p:spPr>
            <a:xfrm>
              <a:off x="8953500" y="2762250"/>
              <a:ext cx="2628900" cy="2343150"/>
            </a:xfrm>
            <a:prstGeom prst="roundRect">
              <a:avLst>
                <a:gd name="adj" fmla="val 5691"/>
              </a:avLst>
            </a:prstGeom>
            <a:solidFill>
              <a:schemeClr val="accent5"/>
            </a:solidFill>
            <a:ln w="14288">
              <a:solidFill>
                <a:srgbClr val="26455F"/>
              </a:solidFill>
            </a:ln>
          </p:spPr>
        </p:sp>
        <p:sp>
          <p:nvSpPr>
            <p:cNvPr id="52" name="Rectangle 52"/>
            <p:cNvSpPr/>
            <p:nvPr/>
          </p:nvSpPr>
          <p:spPr>
            <a:xfrm>
              <a:off x="8953500" y="2762250"/>
              <a:ext cx="2628900" cy="57150"/>
            </a:xfrm>
            <a:prstGeom prst="roundRect">
              <a:avLst>
                <a:gd name="adj" fmla="val 50000"/>
              </a:avLst>
            </a:prstGeom>
            <a:solidFill>
              <a:srgbClr val="48C78E"/>
            </a:solidFill>
            <a:ln>
              <a:noFill/>
            </a:ln>
          </p:spPr>
        </p:sp>
        <p:sp>
          <p:nvSpPr>
            <p:cNvPr id="53" name="TextBox 53"/>
            <p:cNvSpPr txBox="1"/>
            <p:nvPr/>
          </p:nvSpPr>
          <p:spPr>
            <a:xfrm>
              <a:off x="9175623" y="3100864"/>
              <a:ext cx="219315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+25% country, +38% city</a:t>
              </a:r>
            </a:p>
          </p:txBody>
        </p:sp>
        <p:sp>
          <p:nvSpPr>
            <p:cNvPr id="54" name="TextBox 54"/>
            <p:cNvSpPr txBox="1"/>
            <p:nvPr/>
          </p:nvSpPr>
          <p:spPr>
            <a:xfrm>
              <a:off x="9177223" y="3877818"/>
              <a:ext cx="212039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Beats comparable vision-language</a:t>
              </a:r>
            </a:p>
          </p:txBody>
        </p:sp>
        <p:sp>
          <p:nvSpPr>
            <p:cNvPr id="55" name="TextBox 55"/>
            <p:cNvSpPr txBox="1"/>
            <p:nvPr/>
          </p:nvSpPr>
          <p:spPr>
            <a:xfrm>
              <a:off x="9177223" y="4049268"/>
              <a:ext cx="218090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models by over 25% at country and</a:t>
              </a:r>
            </a:p>
          </p:txBody>
        </p:sp>
        <p:sp>
          <p:nvSpPr>
            <p:cNvPr id="56" name="TextBox 56"/>
            <p:cNvSpPr txBox="1"/>
            <p:nvPr/>
          </p:nvSpPr>
          <p:spPr>
            <a:xfrm>
              <a:off x="9177223" y="4220718"/>
              <a:ext cx="183197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38% at city level, matching a</a:t>
              </a:r>
            </a:p>
          </p:txBody>
        </p:sp>
        <p:sp>
          <p:nvSpPr>
            <p:cNvPr id="57" name="TextBox 57"/>
            <p:cNvSpPr txBox="1"/>
            <p:nvPr/>
          </p:nvSpPr>
          <p:spPr>
            <a:xfrm>
              <a:off x="9177223" y="4392168"/>
              <a:ext cx="190951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specialist trained on 15x more</a:t>
              </a:r>
            </a:p>
          </p:txBody>
        </p:sp>
        <p:sp>
          <p:nvSpPr>
            <p:cNvPr id="58" name="TextBox 58"/>
            <p:cNvSpPr txBox="1"/>
            <p:nvPr/>
          </p:nvSpPr>
          <p:spPr>
            <a:xfrm>
              <a:off x="9177223" y="4563618"/>
              <a:ext cx="36515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data.</a:t>
              </a:r>
            </a:p>
          </p:txBody>
        </p:sp>
      </p:grpSp>
      <p:sp>
        <p:nvSpPr>
          <p:cNvPr id="60" name="Line 60"/>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61" name="TextBox 61"/>
          <p:cNvSpPr txBox="1"/>
          <p:nvPr/>
        </p:nvSpPr>
        <p:spPr>
          <a:xfrm>
            <a:off x="604266" y="56016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arXiv:2406.18572</a:t>
            </a:r>
          </a:p>
        </p:txBody>
      </p:sp>
      <p:sp>
        <p:nvSpPr>
          <p:cNvPr id="62" name="TextBox 62"/>
          <p:cNvSpPr txBox="1"/>
          <p:nvPr/>
        </p:nvSpPr>
        <p:spPr>
          <a:xfrm>
            <a:off x="2661856" y="5605701"/>
            <a:ext cx="246219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github.com/lingli1996/GeoReasoner</a:t>
            </a:r>
          </a:p>
        </p:txBody>
      </p:sp>
      <p:sp>
        <p:nvSpPr>
          <p:cNvPr id="63" name="TextBox 63"/>
          <p:cNvSpPr txBox="1"/>
          <p:nvPr/>
        </p:nvSpPr>
        <p:spPr>
          <a:xfrm>
            <a:off x="7282914" y="5601652"/>
            <a:ext cx="430482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Interpretable geo-localization with a fraction of the data.</a:t>
            </a:r>
          </a:p>
        </p:txBody>
      </p:sp>
      <p:sp>
        <p:nvSpPr>
          <p:cNvPr id="64" name="cue_s01_c1_what_could_not_only_tell" title="cue_s01_c1_what_could_not_only_tell" descr="cue_s01_c1_what_could_not_only_tell What if an AI could not only tell you where a street photo was taken, but explain how it knew? This paper introduces GeoReasoner, a large vision-language model for street-view geo-localization that reasons like a human."/>
          <p:cNvSpPr/>
          <p:nvPr/>
        </p:nvSpPr>
        <p:spPr>
          <a:xfrm>
            <a:off x="609600"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1_c2_authors_tackle_two_long_standing_obs" title="cue_s01_c2_authors_tackle_two_long_standing_obs" descr="cue_s01_c2_authors_tackle_two_long_standing_obs The authors tackle two long-standing obstacles: street-view training data is full of low-quality images with no visual clues, and existing localization models are black boxes that give no explanation."/>
          <p:cNvSpPr/>
          <p:nvPr/>
        </p:nvSpPr>
        <p:spPr>
          <a:xfrm>
            <a:off x="3390595"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3_georeasoner_solves_both_quantifying" title="cue_s01_c3_georeasoner_solves_both_quantifying" descr="cue_s01_c3_georeasoner_solves_both_quantifying GeoReasoner solves both by quantifying how locatable each image is, borrowing human inference knowledge from real geo-localization games, and fine-tuning in two dedicated stages."/>
          <p:cNvSpPr/>
          <p:nvPr/>
        </p:nvSpPr>
        <p:spPr>
          <a:xfrm>
            <a:off x="6171590"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4_result_beats_comparable_vision_langu" title="cue_s01_c4_result_beats_comparable_vision_langu" descr="cue_s01_c4_result_beats_comparable_vision_langu The result beats comparable vision-language models by over twenty-five percent at country level and thirty-eight percent at city level, while matching a specialist trained on fifteen times more data."/>
          <p:cNvSpPr/>
          <p:nvPr/>
        </p:nvSpPr>
        <p:spPr>
          <a:xfrm>
            <a:off x="8953804"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53949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Bad training data, and models that can't explain</a:t>
            </a:r>
          </a:p>
        </p:txBody>
      </p:sp>
      <p:grpSp>
        <p:nvGrpSpPr>
          <p:cNvPr id="25" name="Group 25"/>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333097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Predicting where a photo was taken</a:t>
              </a:r>
            </a:p>
          </p:txBody>
        </p:sp>
        <p:sp>
          <p:nvSpPr>
            <p:cNvPr id="8" name="TextBox 8"/>
            <p:cNvSpPr txBox="1"/>
            <p:nvPr/>
          </p:nvSpPr>
          <p:spPr>
            <a:xfrm>
              <a:off x="870776" y="2168604"/>
              <a:ext cx="30680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Locating a street-view photo is useful for</a:t>
              </a:r>
            </a:p>
          </p:txBody>
        </p:sp>
        <p:sp>
          <p:nvSpPr>
            <p:cNvPr id="9" name="TextBox 9"/>
            <p:cNvSpPr txBox="1"/>
            <p:nvPr/>
          </p:nvSpPr>
          <p:spPr>
            <a:xfrm>
              <a:off x="870776" y="2387679"/>
              <a:ext cx="27109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urban planning, navigation, and social</a:t>
              </a:r>
            </a:p>
          </p:txBody>
        </p:sp>
        <p:sp>
          <p:nvSpPr>
            <p:cNvPr id="10" name="TextBox 10"/>
            <p:cNvSpPr txBox="1"/>
            <p:nvPr/>
          </p:nvSpPr>
          <p:spPr>
            <a:xfrm>
              <a:off x="870776" y="2606754"/>
              <a:ext cx="30536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studies. But today's approaches have two</a:t>
              </a:r>
            </a:p>
          </p:txBody>
        </p:sp>
        <p:sp>
          <p:nvSpPr>
            <p:cNvPr id="11" name="TextBox 11"/>
            <p:cNvSpPr txBox="1"/>
            <p:nvPr/>
          </p:nvSpPr>
          <p:spPr>
            <a:xfrm>
              <a:off x="870776" y="2825829"/>
              <a:ext cx="8694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blind spots.</a:t>
              </a:r>
            </a:p>
          </p:txBody>
        </p:sp>
        <p:sp>
          <p:nvSpPr>
            <p:cNvPr id="12" name="Rectangle 12"/>
            <p:cNvSpPr/>
            <p:nvPr/>
          </p:nvSpPr>
          <p:spPr>
            <a:xfrm>
              <a:off x="876300" y="3429000"/>
              <a:ext cx="1676400" cy="285750"/>
            </a:xfrm>
            <a:prstGeom prst="roundRect">
              <a:avLst>
                <a:gd name="adj" fmla="val 26667"/>
              </a:avLst>
            </a:prstGeom>
            <a:solidFill>
              <a:schemeClr val="accent6"/>
            </a:solidFill>
            <a:ln w="14288">
              <a:solidFill>
                <a:srgbClr val="26455F"/>
              </a:solidFill>
            </a:ln>
          </p:spPr>
        </p:sp>
        <p:sp>
          <p:nvSpPr>
            <p:cNvPr id="13" name="Ellipse 13"/>
            <p:cNvSpPr/>
            <p:nvPr/>
          </p:nvSpPr>
          <p:spPr>
            <a:xfrm>
              <a:off x="1000125" y="3524250"/>
              <a:ext cx="95250" cy="95250"/>
            </a:xfrm>
            <a:prstGeom prst="ellipse">
              <a:avLst/>
            </a:prstGeom>
            <a:solidFill>
              <a:schemeClr val="accent2"/>
            </a:solidFill>
            <a:ln>
              <a:noFill/>
            </a:ln>
          </p:spPr>
        </p:sp>
        <p:sp>
          <p:nvSpPr>
            <p:cNvPr id="14" name="TextBox 14"/>
            <p:cNvSpPr txBox="1"/>
            <p:nvPr/>
          </p:nvSpPr>
          <p:spPr>
            <a:xfrm>
              <a:off x="1194626" y="3511629"/>
              <a:ext cx="108185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urban planning</a:t>
              </a:r>
            </a:p>
          </p:txBody>
        </p:sp>
        <p:sp>
          <p:nvSpPr>
            <p:cNvPr id="15" name="Rectangle 15"/>
            <p:cNvSpPr/>
            <p:nvPr/>
          </p:nvSpPr>
          <p:spPr>
            <a:xfrm>
              <a:off x="2667000" y="3429000"/>
              <a:ext cx="1485900" cy="285750"/>
            </a:xfrm>
            <a:prstGeom prst="roundRect">
              <a:avLst>
                <a:gd name="adj" fmla="val 26667"/>
              </a:avLst>
            </a:prstGeom>
            <a:solidFill>
              <a:schemeClr val="accent6"/>
            </a:solidFill>
            <a:ln w="14288">
              <a:solidFill>
                <a:srgbClr val="26455F"/>
              </a:solidFill>
            </a:ln>
          </p:spPr>
        </p:sp>
        <p:sp>
          <p:nvSpPr>
            <p:cNvPr id="16" name="Ellipse 16"/>
            <p:cNvSpPr/>
            <p:nvPr/>
          </p:nvSpPr>
          <p:spPr>
            <a:xfrm>
              <a:off x="2790825" y="3524250"/>
              <a:ext cx="95250" cy="95250"/>
            </a:xfrm>
            <a:prstGeom prst="ellipse">
              <a:avLst/>
            </a:prstGeom>
            <a:solidFill>
              <a:srgbClr val="34D3C0"/>
            </a:solidFill>
            <a:ln>
              <a:noFill/>
            </a:ln>
          </p:spPr>
        </p:sp>
        <p:sp>
          <p:nvSpPr>
            <p:cNvPr id="17" name="TextBox 17"/>
            <p:cNvSpPr txBox="1"/>
            <p:nvPr/>
          </p:nvSpPr>
          <p:spPr>
            <a:xfrm>
              <a:off x="2985326" y="3511629"/>
              <a:ext cx="78141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navigation</a:t>
              </a:r>
            </a:p>
          </p:txBody>
        </p:sp>
        <p:sp>
          <p:nvSpPr>
            <p:cNvPr id="18" name="Rectangle 18"/>
            <p:cNvSpPr/>
            <p:nvPr/>
          </p:nvSpPr>
          <p:spPr>
            <a:xfrm>
              <a:off x="876300" y="3829050"/>
              <a:ext cx="1676400" cy="285750"/>
            </a:xfrm>
            <a:prstGeom prst="roundRect">
              <a:avLst>
                <a:gd name="adj" fmla="val 26667"/>
              </a:avLst>
            </a:prstGeom>
            <a:solidFill>
              <a:schemeClr val="accent6"/>
            </a:solidFill>
            <a:ln w="14288">
              <a:solidFill>
                <a:srgbClr val="26455F"/>
              </a:solidFill>
            </a:ln>
          </p:spPr>
        </p:sp>
        <p:sp>
          <p:nvSpPr>
            <p:cNvPr id="19" name="Ellipse 19"/>
            <p:cNvSpPr/>
            <p:nvPr/>
          </p:nvSpPr>
          <p:spPr>
            <a:xfrm>
              <a:off x="1000125" y="3924300"/>
              <a:ext cx="95250" cy="95250"/>
            </a:xfrm>
            <a:prstGeom prst="ellipse">
              <a:avLst/>
            </a:prstGeom>
            <a:solidFill>
              <a:srgbClr val="48C78E"/>
            </a:solidFill>
            <a:ln>
              <a:noFill/>
            </a:ln>
          </p:spPr>
        </p:sp>
        <p:sp>
          <p:nvSpPr>
            <p:cNvPr id="20" name="TextBox 20"/>
            <p:cNvSpPr txBox="1"/>
            <p:nvPr/>
          </p:nvSpPr>
          <p:spPr>
            <a:xfrm>
              <a:off x="1194626" y="3911679"/>
              <a:ext cx="104333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social studies</a:t>
              </a:r>
            </a:p>
          </p:txBody>
        </p:sp>
        <p:sp>
          <p:nvSpPr>
            <p:cNvPr id="21" name="Rectangle 21"/>
            <p:cNvSpPr/>
            <p:nvPr/>
          </p:nvSpPr>
          <p:spPr>
            <a:xfrm>
              <a:off x="2667000" y="3829050"/>
              <a:ext cx="1485900" cy="285750"/>
            </a:xfrm>
            <a:prstGeom prst="roundRect">
              <a:avLst>
                <a:gd name="adj" fmla="val 26667"/>
              </a:avLst>
            </a:prstGeom>
            <a:solidFill>
              <a:schemeClr val="accent6"/>
            </a:solidFill>
            <a:ln w="14288">
              <a:solidFill>
                <a:srgbClr val="26455F"/>
              </a:solidFill>
            </a:ln>
          </p:spPr>
        </p:sp>
        <p:sp>
          <p:nvSpPr>
            <p:cNvPr id="22" name="Ellipse 22"/>
            <p:cNvSpPr/>
            <p:nvPr/>
          </p:nvSpPr>
          <p:spPr>
            <a:xfrm>
              <a:off x="2790825" y="3924300"/>
              <a:ext cx="95250" cy="95250"/>
            </a:xfrm>
            <a:prstGeom prst="ellipse">
              <a:avLst/>
            </a:prstGeom>
            <a:solidFill>
              <a:srgbClr val="F2685C"/>
            </a:solidFill>
            <a:ln>
              <a:noFill/>
            </a:ln>
          </p:spPr>
        </p:sp>
        <p:sp>
          <p:nvSpPr>
            <p:cNvPr id="23" name="TextBox 23"/>
            <p:cNvSpPr txBox="1"/>
            <p:nvPr/>
          </p:nvSpPr>
          <p:spPr>
            <a:xfrm>
              <a:off x="2985326" y="3911679"/>
              <a:ext cx="115889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two blind spots</a:t>
              </a:r>
            </a:p>
          </p:txBody>
        </p:sp>
        <p:sp>
          <p:nvSpPr>
            <p:cNvPr id="24" name="TextBox 24"/>
            <p:cNvSpPr txBox="1"/>
            <p:nvPr/>
          </p:nvSpPr>
          <p:spPr>
            <a:xfrm>
              <a:off x="871423" y="4392168"/>
              <a:ext cx="2730478" cy="187757"/>
            </a:xfrm>
            <a:prstGeom prst="rect">
              <a:avLst/>
            </a:prstGeom>
            <a:noFill/>
            <a:ln>
              <a:noFill/>
            </a:ln>
          </p:spPr>
          <p:txBody>
            <a:bodyPr wrap="none" lIns="0" tIns="0" rIns="0" bIns="0" anchor="t" anchorCtr="0">
              <a:spAutoFit/>
            </a:bodyPr>
            <a:lstStyle/>
            <a:p>
              <a:pPr algn="l"/>
              <a:r>
                <a:rPr lang="en-US" sz="960" b="1" dirty="0">
                  <a:solidFill>
                    <a:srgbClr val="6E869C"/>
                  </a:solidFill>
                  <a:latin typeface="+mn-lt"/>
                  <a:ea typeface="+mn-ea"/>
                  <a:cs typeface="+mn-cs"/>
                </a:rPr>
                <a:t>useful, yet held back by data and opacity</a:t>
              </a:r>
            </a:p>
          </p:txBody>
        </p:sp>
      </p:grpSp>
      <p:grpSp>
        <p:nvGrpSpPr>
          <p:cNvPr id="37" name="Group 37"/>
          <p:cNvGrpSpPr/>
          <p:nvPr/>
        </p:nvGrpSpPr>
        <p:grpSpPr>
          <a:xfrm>
            <a:off x="4762500" y="1504950"/>
            <a:ext cx="6819900" cy="1562100"/>
            <a:chOff x="4762500" y="1504950"/>
            <a:chExt cx="6819900" cy="1562100"/>
          </a:xfrm>
        </p:grpSpPr>
        <p:sp>
          <p:nvSpPr>
            <p:cNvPr id="26" name="Rectangle 26"/>
            <p:cNvSpPr/>
            <p:nvPr/>
          </p:nvSpPr>
          <p:spPr>
            <a:xfrm>
              <a:off x="4762500" y="1504950"/>
              <a:ext cx="6819900" cy="1562100"/>
            </a:xfrm>
            <a:prstGeom prst="roundRect">
              <a:avLst>
                <a:gd name="adj" fmla="val 8537"/>
              </a:avLst>
            </a:prstGeom>
            <a:solidFill>
              <a:schemeClr val="accent5"/>
            </a:solidFill>
            <a:ln w="14288">
              <a:solidFill>
                <a:srgbClr val="26455F"/>
              </a:solidFill>
            </a:ln>
          </p:spPr>
        </p:sp>
        <p:sp>
          <p:nvSpPr>
            <p:cNvPr id="27" name="Rectangle 27"/>
            <p:cNvSpPr/>
            <p:nvPr/>
          </p:nvSpPr>
          <p:spPr>
            <a:xfrm>
              <a:off x="4762500" y="1504950"/>
              <a:ext cx="57150" cy="1562100"/>
            </a:xfrm>
            <a:prstGeom prst="roundRect">
              <a:avLst>
                <a:gd name="adj" fmla="val 50000"/>
              </a:avLst>
            </a:prstGeom>
            <a:solidFill>
              <a:srgbClr val="F2685C"/>
            </a:solidFill>
            <a:ln>
              <a:noFill/>
            </a:ln>
          </p:spPr>
        </p:sp>
        <p:sp>
          <p:nvSpPr>
            <p:cNvPr id="28" name="TextBox 28"/>
            <p:cNvSpPr txBox="1"/>
            <p:nvPr/>
          </p:nvSpPr>
          <p:spPr>
            <a:xfrm>
              <a:off x="5022914" y="1733312"/>
              <a:ext cx="3086320"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1. The data problem: no visual clues</a:t>
              </a:r>
            </a:p>
          </p:txBody>
        </p:sp>
        <p:sp>
          <p:nvSpPr>
            <p:cNvPr id="29" name="TextBox 29"/>
            <p:cNvSpPr txBox="1"/>
            <p:nvPr/>
          </p:nvSpPr>
          <p:spPr>
            <a:xfrm>
              <a:off x="5023866" y="2039302"/>
              <a:ext cx="40651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Street-view datasets are stuffed with images captured in</a:t>
              </a:r>
            </a:p>
          </p:txBody>
        </p:sp>
        <p:sp>
          <p:nvSpPr>
            <p:cNvPr id="30" name="TextBox 30"/>
            <p:cNvSpPr txBox="1"/>
            <p:nvPr/>
          </p:nvSpPr>
          <p:spPr>
            <a:xfrm>
              <a:off x="5023866" y="22393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tunnels, against blank walls, or of generic vegetation -</a:t>
              </a:r>
            </a:p>
          </p:txBody>
        </p:sp>
        <p:sp>
          <p:nvSpPr>
            <p:cNvPr id="31" name="TextBox 31"/>
            <p:cNvSpPr txBox="1"/>
            <p:nvPr/>
          </p:nvSpPr>
          <p:spPr>
            <a:xfrm>
              <a:off x="5023866" y="2439352"/>
              <a:ext cx="36928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none carrying clues a model could use to locate them.</a:t>
              </a:r>
            </a:p>
          </p:txBody>
        </p:sp>
        <p:sp>
          <p:nvSpPr>
            <p:cNvPr id="32" name="Rectangle 32"/>
            <p:cNvSpPr/>
            <p:nvPr/>
          </p:nvSpPr>
          <p:spPr>
            <a:xfrm>
              <a:off x="5029200" y="2762250"/>
              <a:ext cx="571500" cy="209550"/>
            </a:xfrm>
            <a:prstGeom prst="roundRect">
              <a:avLst>
                <a:gd name="adj" fmla="val 36364"/>
              </a:avLst>
            </a:prstGeom>
            <a:solidFill>
              <a:srgbClr val="0E2334"/>
            </a:solidFill>
            <a:ln w="14288">
              <a:solidFill>
                <a:srgbClr val="26455F"/>
              </a:solidFill>
            </a:ln>
          </p:spPr>
        </p:sp>
        <p:sp>
          <p:nvSpPr>
            <p:cNvPr id="33" name="Rectangle 33"/>
            <p:cNvSpPr/>
            <p:nvPr/>
          </p:nvSpPr>
          <p:spPr>
            <a:xfrm>
              <a:off x="5076825" y="2809875"/>
              <a:ext cx="476250" cy="114300"/>
            </a:xfrm>
            <a:prstGeom prst="roundRect">
              <a:avLst>
                <a:gd name="adj" fmla="val 33333"/>
              </a:avLst>
            </a:prstGeom>
            <a:solidFill>
              <a:srgbClr val="161E28"/>
            </a:solidFill>
            <a:ln>
              <a:noFill/>
            </a:ln>
          </p:spPr>
        </p:sp>
        <p:sp>
          <p:nvSpPr>
            <p:cNvPr id="34" name="Line 34"/>
            <p:cNvSpPr/>
            <p:nvPr/>
          </p:nvSpPr>
          <p:spPr>
            <a:xfrm>
              <a:off x="5200650" y="2752725"/>
              <a:ext cx="228600" cy="228600"/>
            </a:xfrm>
            <a:custGeom>
              <a:avLst/>
              <a:gdLst/>
              <a:ahLst/>
              <a:cxnLst/>
              <a:rect l="l" t="t" r="r" b="b"/>
              <a:pathLst>
                <a:path w="228600" h="228600">
                  <a:moveTo>
                    <a:pt x="0" y="0"/>
                  </a:moveTo>
                  <a:lnTo>
                    <a:pt x="228600" y="228600"/>
                  </a:lnTo>
                </a:path>
              </a:pathLst>
            </a:custGeom>
            <a:noFill/>
            <a:ln w="28575" cap="rnd">
              <a:solidFill>
                <a:srgbClr val="F2685C"/>
              </a:solidFill>
            </a:ln>
          </p:spPr>
        </p:sp>
        <p:sp>
          <p:nvSpPr>
            <p:cNvPr id="35" name="Line 35"/>
            <p:cNvSpPr/>
            <p:nvPr/>
          </p:nvSpPr>
          <p:spPr>
            <a:xfrm>
              <a:off x="5200650" y="2752725"/>
              <a:ext cx="228600" cy="228600"/>
            </a:xfrm>
            <a:custGeom>
              <a:avLst/>
              <a:gdLst/>
              <a:ahLst/>
              <a:cxnLst/>
              <a:rect l="l" t="t" r="r" b="b"/>
              <a:pathLst>
                <a:path w="228600" h="228600">
                  <a:moveTo>
                    <a:pt x="0" y="228600"/>
                  </a:moveTo>
                  <a:lnTo>
                    <a:pt x="228600" y="0"/>
                  </a:lnTo>
                </a:path>
              </a:pathLst>
            </a:custGeom>
            <a:noFill/>
            <a:ln w="28575" cap="rnd">
              <a:solidFill>
                <a:srgbClr val="F2685C"/>
              </a:solidFill>
            </a:ln>
          </p:spPr>
        </p:sp>
        <p:sp>
          <p:nvSpPr>
            <p:cNvPr id="36" name="TextBox 36"/>
            <p:cNvSpPr txBox="1"/>
            <p:nvPr/>
          </p:nvSpPr>
          <p:spPr>
            <a:xfrm>
              <a:off x="7615238" y="2718197"/>
              <a:ext cx="2972525" cy="183356"/>
            </a:xfrm>
            <a:prstGeom prst="rect">
              <a:avLst/>
            </a:prstGeom>
            <a:noFill/>
            <a:ln>
              <a:noFill/>
            </a:ln>
          </p:spPr>
          <p:txBody>
            <a:bodyPr wrap="none" lIns="0" tIns="0" rIns="0" bIns="0" anchor="t" anchorCtr="0">
              <a:spAutoFit/>
            </a:bodyPr>
            <a:lstStyle/>
            <a:p>
              <a:pPr algn="l"/>
              <a:r>
                <a:rPr lang="en-US" sz="940" b="1" dirty="0">
                  <a:solidFill>
                    <a:srgbClr val="F2685C"/>
                  </a:solidFill>
                  <a:latin typeface="Consolas"/>
                  <a:ea typeface="Consolas"/>
                  <a:cs typeface="Consolas"/>
                </a:rPr>
                <a:t>tunnels · blank walls · vegetation -&gt; no signal</a:t>
              </a:r>
            </a:p>
          </p:txBody>
        </p:sp>
      </p:grpSp>
      <p:grpSp>
        <p:nvGrpSpPr>
          <p:cNvPr id="43" name="Group 43"/>
          <p:cNvGrpSpPr/>
          <p:nvPr/>
        </p:nvGrpSpPr>
        <p:grpSpPr>
          <a:xfrm>
            <a:off x="4762500" y="3219450"/>
            <a:ext cx="6819900" cy="1143000"/>
            <a:chOff x="4762500" y="3219450"/>
            <a:chExt cx="6819900" cy="1143000"/>
          </a:xfrm>
        </p:grpSpPr>
        <p:sp>
          <p:nvSpPr>
            <p:cNvPr id="38" name="Rectangle 38"/>
            <p:cNvSpPr/>
            <p:nvPr/>
          </p:nvSpPr>
          <p:spPr>
            <a:xfrm>
              <a:off x="4762500" y="3219450"/>
              <a:ext cx="6819900" cy="1143000"/>
            </a:xfrm>
            <a:prstGeom prst="roundRect">
              <a:avLst>
                <a:gd name="adj" fmla="val 11667"/>
              </a:avLst>
            </a:prstGeom>
            <a:solidFill>
              <a:srgbClr val="2A2417"/>
            </a:solidFill>
            <a:ln w="14288">
              <a:solidFill>
                <a:srgbClr val="F2C14E"/>
              </a:solidFill>
            </a:ln>
          </p:spPr>
        </p:sp>
        <p:sp>
          <p:nvSpPr>
            <p:cNvPr id="39" name="Rectangle 39"/>
            <p:cNvSpPr/>
            <p:nvPr/>
          </p:nvSpPr>
          <p:spPr>
            <a:xfrm>
              <a:off x="4762500" y="3219450"/>
              <a:ext cx="57150" cy="1143000"/>
            </a:xfrm>
            <a:prstGeom prst="roundRect">
              <a:avLst>
                <a:gd name="adj" fmla="val 50000"/>
              </a:avLst>
            </a:prstGeom>
            <a:solidFill>
              <a:srgbClr val="F2C14E"/>
            </a:solidFill>
            <a:ln>
              <a:noFill/>
            </a:ln>
          </p:spPr>
        </p:sp>
        <p:sp>
          <p:nvSpPr>
            <p:cNvPr id="40" name="TextBox 40"/>
            <p:cNvSpPr txBox="1"/>
            <p:nvPr/>
          </p:nvSpPr>
          <p:spPr>
            <a:xfrm>
              <a:off x="5023104" y="3451860"/>
              <a:ext cx="316480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2. The reasoning problem: black boxes</a:t>
              </a:r>
            </a:p>
          </p:txBody>
        </p:sp>
        <p:sp>
          <p:nvSpPr>
            <p:cNvPr id="41" name="TextBox 41"/>
            <p:cNvSpPr txBox="1"/>
            <p:nvPr/>
          </p:nvSpPr>
          <p:spPr>
            <a:xfrm>
              <a:off x="5023676" y="3749754"/>
              <a:ext cx="474063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Retrieval and classification models hand back a coordinate with no</a:t>
              </a:r>
            </a:p>
          </p:txBody>
        </p:sp>
        <p:sp>
          <p:nvSpPr>
            <p:cNvPr id="42" name="TextBox 42"/>
            <p:cNvSpPr txBox="1"/>
            <p:nvPr/>
          </p:nvSpPr>
          <p:spPr>
            <a:xfrm>
              <a:off x="5023676" y="3959304"/>
              <a:ext cx="319521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explanation a person could inspect or trust.</a:t>
              </a:r>
            </a:p>
          </p:txBody>
        </p:sp>
      </p:grpSp>
      <p:grpSp>
        <p:nvGrpSpPr>
          <p:cNvPr id="49" name="Group 49"/>
          <p:cNvGrpSpPr/>
          <p:nvPr/>
        </p:nvGrpSpPr>
        <p:grpSpPr>
          <a:xfrm>
            <a:off x="4762500" y="4495800"/>
            <a:ext cx="6819900" cy="857297"/>
            <a:chOff x="4762500" y="4495800"/>
            <a:chExt cx="6819900" cy="857297"/>
          </a:xfrm>
        </p:grpSpPr>
        <p:sp>
          <p:nvSpPr>
            <p:cNvPr id="44" name="Rectangle 44"/>
            <p:cNvSpPr/>
            <p:nvPr/>
          </p:nvSpPr>
          <p:spPr>
            <a:xfrm>
              <a:off x="4762500" y="4495800"/>
              <a:ext cx="6819900" cy="742950"/>
            </a:xfrm>
            <a:prstGeom prst="roundRect">
              <a:avLst>
                <a:gd name="adj" fmla="val 17949"/>
              </a:avLst>
            </a:prstGeom>
            <a:solidFill>
              <a:srgbClr val="0F2E2B"/>
            </a:solidFill>
            <a:ln w="14288">
              <a:solidFill>
                <a:srgbClr val="34D3C0"/>
              </a:solidFill>
            </a:ln>
          </p:spPr>
        </p:sp>
        <p:sp>
          <p:nvSpPr>
            <p:cNvPr id="45" name="Rectangle 45"/>
            <p:cNvSpPr/>
            <p:nvPr/>
          </p:nvSpPr>
          <p:spPr>
            <a:xfrm>
              <a:off x="4762500" y="4495800"/>
              <a:ext cx="57150" cy="742950"/>
            </a:xfrm>
            <a:prstGeom prst="roundRect">
              <a:avLst>
                <a:gd name="adj" fmla="val 50000"/>
              </a:avLst>
            </a:prstGeom>
            <a:solidFill>
              <a:srgbClr val="34D3C0"/>
            </a:solidFill>
            <a:ln>
              <a:noFill/>
            </a:ln>
          </p:spPr>
        </p:sp>
        <p:sp>
          <p:nvSpPr>
            <p:cNvPr id="46" name="TextBox 46"/>
            <p:cNvSpPr txBox="1"/>
            <p:nvPr/>
          </p:nvSpPr>
          <p:spPr>
            <a:xfrm>
              <a:off x="5023104" y="4671060"/>
              <a:ext cx="235872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Both must be fixed together</a:t>
              </a:r>
            </a:p>
          </p:txBody>
        </p:sp>
        <p:sp>
          <p:nvSpPr>
            <p:cNvPr id="47" name="TextBox 47"/>
            <p:cNvSpPr txBox="1"/>
            <p:nvPr/>
          </p:nvSpPr>
          <p:spPr>
            <a:xfrm>
              <a:off x="5023676" y="4949904"/>
              <a:ext cx="541562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paper argues that data quality and interpretability cannot be solved in</a:t>
              </a:r>
            </a:p>
          </p:txBody>
        </p:sp>
        <p:sp>
          <p:nvSpPr>
            <p:cNvPr id="48" name="TextBox 48"/>
            <p:cNvSpPr txBox="1"/>
            <p:nvPr/>
          </p:nvSpPr>
          <p:spPr>
            <a:xfrm>
              <a:off x="5023676" y="5140404"/>
              <a:ext cx="70804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isolation.</a:t>
              </a:r>
            </a:p>
          </p:txBody>
        </p:sp>
      </p:grpSp>
      <p:sp>
        <p:nvSpPr>
          <p:cNvPr id="50" name="cue_s02_c1_predicting_where_street_view_photo_t" title="cue_s02_c1_predicting_where_street_view_photo_t" descr="cue_s02_c1_predicting_where_street_view_photo_t Predicting where a street-view photo was taken is useful for urban planning, navigation, and social studies. But today's approaches have two blind spots."/>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2_first_problem_street_view_datasets_s" title="cue_s02_c2_first_problem_street_view_datasets_s" descr="cue_s02_c2_first_problem_street_view_datasets_s First, the data problem: street-view datasets are stuffed with images captured in tunnels, against blank walls, or of generic vegetation, none of which contain clues a model could use to locate them."/>
          <p:cNvSpPr/>
          <p:nvPr/>
        </p:nvSpPr>
        <p:spPr>
          <a:xfrm>
            <a:off x="4762195" y="1504645"/>
            <a:ext cx="6820204"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3_second_reasoning_problem_retrieval_c" title="cue_s02_c3_second_reasoning_problem_retrieval_c" descr="cue_s02_c3_second_reasoning_problem_retrieval_c Second, the reasoning problem: retrieval and classification models operate as black boxes, handing back a coordinate with no explanation a person could inspect or trust."/>
          <p:cNvSpPr/>
          <p:nvPr/>
        </p:nvSpPr>
        <p:spPr>
          <a:xfrm>
            <a:off x="4762195" y="3219145"/>
            <a:ext cx="6820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4_argues_both_quality_interpretability" title="cue_s02_c4_argues_both_quality_interpretability" descr="cue_s02_c4_argues_both_quality_interpretability This paper argues that both quality and interpretability must be fixed together."/>
          <p:cNvSpPr/>
          <p:nvPr/>
        </p:nvSpPr>
        <p:spPr>
          <a:xfrm>
            <a:off x="4762195" y="4496104"/>
            <a:ext cx="6820204"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74305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LVLMs that reason, plus a wealth of game clues</a:t>
            </a:r>
          </a:p>
        </p:txBody>
      </p:sp>
      <p:grpSp>
        <p:nvGrpSpPr>
          <p:cNvPr id="13" name="Group 13"/>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284994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Why now, and why this approach?</a:t>
              </a:r>
            </a:p>
          </p:txBody>
        </p:sp>
        <p:sp>
          <p:nvSpPr>
            <p:cNvPr id="8" name="TextBox 8"/>
            <p:cNvSpPr txBox="1"/>
            <p:nvPr/>
          </p:nvSpPr>
          <p:spPr>
            <a:xfrm>
              <a:off x="870966" y="2039302"/>
              <a:ext cx="30898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Two trends converge to make interpretable,</a:t>
              </a:r>
            </a:p>
          </p:txBody>
        </p:sp>
        <p:sp>
          <p:nvSpPr>
            <p:cNvPr id="9" name="TextBox 9"/>
            <p:cNvSpPr txBox="1"/>
            <p:nvPr/>
          </p:nvSpPr>
          <p:spPr>
            <a:xfrm>
              <a:off x="870966" y="2239328"/>
              <a:ext cx="34525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knowledge-driven geo-localization newly feasible.</a:t>
              </a:r>
            </a:p>
          </p:txBody>
        </p:sp>
        <p:sp>
          <p:nvSpPr>
            <p:cNvPr id="10" name="Rectangle 10"/>
            <p:cNvSpPr/>
            <p:nvPr/>
          </p:nvSpPr>
          <p:spPr>
            <a:xfrm>
              <a:off x="876300" y="2533650"/>
              <a:ext cx="4457700" cy="285750"/>
            </a:xfrm>
            <a:prstGeom prst="roundRect">
              <a:avLst>
                <a:gd name="adj" fmla="val 26667"/>
              </a:avLst>
            </a:prstGeom>
            <a:solidFill>
              <a:schemeClr val="accent6"/>
            </a:solidFill>
            <a:ln w="14288">
              <a:solidFill>
                <a:srgbClr val="26455F"/>
              </a:solidFill>
            </a:ln>
          </p:spPr>
        </p:sp>
        <p:sp>
          <p:nvSpPr>
            <p:cNvPr id="11" name="Ellipse 11"/>
            <p:cNvSpPr/>
            <p:nvPr/>
          </p:nvSpPr>
          <p:spPr>
            <a:xfrm>
              <a:off x="1000125" y="2628900"/>
              <a:ext cx="95250" cy="95250"/>
            </a:xfrm>
            <a:prstGeom prst="ellipse">
              <a:avLst/>
            </a:prstGeom>
            <a:solidFill>
              <a:schemeClr val="accent2"/>
            </a:solidFill>
            <a:ln>
              <a:noFill/>
            </a:ln>
          </p:spPr>
        </p:sp>
        <p:sp>
          <p:nvSpPr>
            <p:cNvPr id="12" name="TextBox 12"/>
            <p:cNvSpPr txBox="1"/>
            <p:nvPr/>
          </p:nvSpPr>
          <p:spPr>
            <a:xfrm>
              <a:off x="1194626" y="2616279"/>
              <a:ext cx="287514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capable LVLMs + untapped human clues</a:t>
              </a:r>
            </a:p>
          </p:txBody>
        </p:sp>
      </p:grpSp>
      <p:grpSp>
        <p:nvGrpSpPr>
          <p:cNvPr id="23" name="Group 23"/>
          <p:cNvGrpSpPr/>
          <p:nvPr/>
        </p:nvGrpSpPr>
        <p:grpSpPr>
          <a:xfrm>
            <a:off x="609600" y="3086100"/>
            <a:ext cx="5334000" cy="2152650"/>
            <a:chOff x="609600" y="3086100"/>
            <a:chExt cx="5334000" cy="2152650"/>
          </a:xfrm>
        </p:grpSpPr>
        <p:sp>
          <p:nvSpPr>
            <p:cNvPr id="14" name="Rectangle 14"/>
            <p:cNvSpPr/>
            <p:nvPr/>
          </p:nvSpPr>
          <p:spPr>
            <a:xfrm>
              <a:off x="609600" y="3086100"/>
              <a:ext cx="5334000" cy="2152650"/>
            </a:xfrm>
            <a:prstGeom prst="roundRect">
              <a:avLst>
                <a:gd name="adj" fmla="val 6195"/>
              </a:avLst>
            </a:prstGeom>
            <a:solidFill>
              <a:schemeClr val="accent5"/>
            </a:solidFill>
            <a:ln w="14288">
              <a:solidFill>
                <a:srgbClr val="26455F"/>
              </a:solidFill>
            </a:ln>
          </p:spPr>
        </p:sp>
        <p:sp>
          <p:nvSpPr>
            <p:cNvPr id="15" name="Rectangle 15"/>
            <p:cNvSpPr/>
            <p:nvPr/>
          </p:nvSpPr>
          <p:spPr>
            <a:xfrm>
              <a:off x="609600" y="3086100"/>
              <a:ext cx="57150" cy="2152650"/>
            </a:xfrm>
            <a:prstGeom prst="roundRect">
              <a:avLst>
                <a:gd name="adj" fmla="val 50000"/>
              </a:avLst>
            </a:prstGeom>
            <a:solidFill>
              <a:srgbClr val="34D3C0"/>
            </a:solidFill>
            <a:ln>
              <a:noFill/>
            </a:ln>
          </p:spPr>
        </p:sp>
        <p:sp>
          <p:nvSpPr>
            <p:cNvPr id="16" name="TextBox 16"/>
            <p:cNvSpPr txBox="1"/>
            <p:nvPr/>
          </p:nvSpPr>
          <p:spPr>
            <a:xfrm>
              <a:off x="870014" y="3314462"/>
              <a:ext cx="3176309"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LVLMs fuse image + text, and reason</a:t>
              </a:r>
            </a:p>
          </p:txBody>
        </p:sp>
        <p:sp>
          <p:nvSpPr>
            <p:cNvPr id="17" name="TextBox 17"/>
            <p:cNvSpPr txBox="1"/>
            <p:nvPr/>
          </p:nvSpPr>
          <p:spPr>
            <a:xfrm>
              <a:off x="870966" y="3620452"/>
              <a:ext cx="38528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Large vision-language models can jointly process images</a:t>
              </a:r>
            </a:p>
          </p:txBody>
        </p:sp>
        <p:sp>
          <p:nvSpPr>
            <p:cNvPr id="18" name="TextBox 18"/>
            <p:cNvSpPr txBox="1"/>
            <p:nvPr/>
          </p:nvSpPr>
          <p:spPr>
            <a:xfrm>
              <a:off x="870966" y="3820478"/>
              <a:ext cx="37706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text and follow step-by-step reasoning, and prior</a:t>
              </a:r>
            </a:p>
          </p:txBody>
        </p:sp>
        <p:sp>
          <p:nvSpPr>
            <p:cNvPr id="19" name="TextBox 19"/>
            <p:cNvSpPr txBox="1"/>
            <p:nvPr/>
          </p:nvSpPr>
          <p:spPr>
            <a:xfrm>
              <a:off x="870966" y="4020502"/>
              <a:ext cx="38130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work shows a reasoning process makes language models</a:t>
              </a:r>
            </a:p>
          </p:txBody>
        </p:sp>
        <p:sp>
          <p:nvSpPr>
            <p:cNvPr id="20" name="TextBox 20"/>
            <p:cNvSpPr txBox="1"/>
            <p:nvPr/>
          </p:nvSpPr>
          <p:spPr>
            <a:xfrm>
              <a:off x="870966" y="4220528"/>
              <a:ext cx="7103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stronger.</a:t>
              </a:r>
            </a:p>
          </p:txBody>
        </p:sp>
        <p:sp>
          <p:nvSpPr>
            <p:cNvPr id="21" name="Rectangle 21"/>
            <p:cNvSpPr/>
            <p:nvPr/>
          </p:nvSpPr>
          <p:spPr>
            <a:xfrm>
              <a:off x="876300" y="4629150"/>
              <a:ext cx="4800600" cy="381000"/>
            </a:xfrm>
            <a:prstGeom prst="roundRect">
              <a:avLst>
                <a:gd name="adj" fmla="val 20000"/>
              </a:avLst>
            </a:prstGeom>
            <a:solidFill>
              <a:schemeClr val="accent6"/>
            </a:solidFill>
            <a:ln w="14288">
              <a:solidFill>
                <a:srgbClr val="26455F"/>
              </a:solidFill>
            </a:ln>
          </p:spPr>
        </p:sp>
        <p:sp>
          <p:nvSpPr>
            <p:cNvPr id="22" name="TextBox 22"/>
            <p:cNvSpPr txBox="1"/>
            <p:nvPr/>
          </p:nvSpPr>
          <p:spPr>
            <a:xfrm>
              <a:off x="1772429" y="4767501"/>
              <a:ext cx="300834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image + text + reasoning -&gt; stronger model</a:t>
              </a:r>
            </a:p>
          </p:txBody>
        </p:sp>
      </p:grpSp>
      <p:grpSp>
        <p:nvGrpSpPr>
          <p:cNvPr id="33" name="Group 33"/>
          <p:cNvGrpSpPr/>
          <p:nvPr/>
        </p:nvGrpSpPr>
        <p:grpSpPr>
          <a:xfrm>
            <a:off x="6172200" y="1504950"/>
            <a:ext cx="5410200" cy="1828800"/>
            <a:chOff x="6172200" y="1504950"/>
            <a:chExt cx="5410200" cy="1828800"/>
          </a:xfrm>
        </p:grpSpPr>
        <p:sp>
          <p:nvSpPr>
            <p:cNvPr id="24" name="Rectangle 24"/>
            <p:cNvSpPr/>
            <p:nvPr/>
          </p:nvSpPr>
          <p:spPr>
            <a:xfrm>
              <a:off x="6172200" y="1504950"/>
              <a:ext cx="5410200" cy="1828800"/>
            </a:xfrm>
            <a:prstGeom prst="roundRect">
              <a:avLst>
                <a:gd name="adj" fmla="val 7292"/>
              </a:avLst>
            </a:prstGeom>
            <a:solidFill>
              <a:srgbClr val="2A2417"/>
            </a:solidFill>
            <a:ln w="14288">
              <a:solidFill>
                <a:srgbClr val="F2C14E"/>
              </a:solidFill>
            </a:ln>
          </p:spPr>
        </p:sp>
        <p:sp>
          <p:nvSpPr>
            <p:cNvPr id="25" name="Rectangle 25"/>
            <p:cNvSpPr/>
            <p:nvPr/>
          </p:nvSpPr>
          <p:spPr>
            <a:xfrm>
              <a:off x="6172200" y="1504950"/>
              <a:ext cx="57150" cy="1828800"/>
            </a:xfrm>
            <a:prstGeom prst="roundRect">
              <a:avLst>
                <a:gd name="adj" fmla="val 50000"/>
              </a:avLst>
            </a:prstGeom>
            <a:solidFill>
              <a:srgbClr val="F2C14E"/>
            </a:solidFill>
            <a:ln>
              <a:noFill/>
            </a:ln>
          </p:spPr>
        </p:sp>
        <p:sp>
          <p:nvSpPr>
            <p:cNvPr id="26" name="TextBox 26"/>
            <p:cNvSpPr txBox="1"/>
            <p:nvPr/>
          </p:nvSpPr>
          <p:spPr>
            <a:xfrm>
              <a:off x="6432614" y="1733312"/>
              <a:ext cx="220063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A huge untapped resource</a:t>
              </a:r>
            </a:p>
          </p:txBody>
        </p:sp>
        <p:sp>
          <p:nvSpPr>
            <p:cNvPr id="27" name="TextBox 27"/>
            <p:cNvSpPr txBox="1"/>
            <p:nvPr/>
          </p:nvSpPr>
          <p:spPr>
            <a:xfrm>
              <a:off x="6433566" y="2039302"/>
              <a:ext cx="371862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Communities behind geo-localization games have spent</a:t>
              </a:r>
            </a:p>
          </p:txBody>
        </p:sp>
        <p:sp>
          <p:nvSpPr>
            <p:cNvPr id="28" name="TextBox 28"/>
            <p:cNvSpPr txBox="1"/>
            <p:nvPr/>
          </p:nvSpPr>
          <p:spPr>
            <a:xfrm>
              <a:off x="6433566" y="2239328"/>
              <a:ext cx="377767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years assembling textual clues that pinpoint countries</a:t>
              </a:r>
            </a:p>
          </p:txBody>
        </p:sp>
        <p:sp>
          <p:nvSpPr>
            <p:cNvPr id="29" name="TextBox 29"/>
            <p:cNvSpPr txBox="1"/>
            <p:nvPr/>
          </p:nvSpPr>
          <p:spPr>
            <a:xfrm>
              <a:off x="6433566" y="2439352"/>
              <a:ext cx="256912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and cities from subtle visual details.</a:t>
              </a:r>
            </a:p>
          </p:txBody>
        </p:sp>
        <p:sp>
          <p:nvSpPr>
            <p:cNvPr id="30" name="Rectangle 30"/>
            <p:cNvSpPr/>
            <p:nvPr/>
          </p:nvSpPr>
          <p:spPr>
            <a:xfrm>
              <a:off x="6438900" y="2914650"/>
              <a:ext cx="4876800" cy="285750"/>
            </a:xfrm>
            <a:prstGeom prst="roundRect">
              <a:avLst>
                <a:gd name="adj" fmla="val 26667"/>
              </a:avLst>
            </a:prstGeom>
            <a:solidFill>
              <a:schemeClr val="accent6"/>
            </a:solidFill>
            <a:ln w="14288">
              <a:solidFill>
                <a:srgbClr val="26455F"/>
              </a:solidFill>
            </a:ln>
          </p:spPr>
        </p:sp>
        <p:sp>
          <p:nvSpPr>
            <p:cNvPr id="31" name="Ellipse 31"/>
            <p:cNvSpPr/>
            <p:nvPr/>
          </p:nvSpPr>
          <p:spPr>
            <a:xfrm>
              <a:off x="6562725" y="3009900"/>
              <a:ext cx="95250" cy="95250"/>
            </a:xfrm>
            <a:prstGeom prst="ellipse">
              <a:avLst/>
            </a:prstGeom>
            <a:solidFill>
              <a:srgbClr val="F2C14E"/>
            </a:solidFill>
            <a:ln>
              <a:noFill/>
            </a:ln>
          </p:spPr>
        </p:sp>
        <p:sp>
          <p:nvSpPr>
            <p:cNvPr id="32" name="TextBox 32"/>
            <p:cNvSpPr txBox="1"/>
            <p:nvPr/>
          </p:nvSpPr>
          <p:spPr>
            <a:xfrm>
              <a:off x="6757226" y="2997279"/>
              <a:ext cx="367932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GeoGuessr + Tuxun -&gt; human inference knowledge</a:t>
              </a:r>
            </a:p>
          </p:txBody>
        </p:sp>
      </p:grpSp>
      <p:grpSp>
        <p:nvGrpSpPr>
          <p:cNvPr id="41" name="Group 41"/>
          <p:cNvGrpSpPr/>
          <p:nvPr/>
        </p:nvGrpSpPr>
        <p:grpSpPr>
          <a:xfrm>
            <a:off x="6172200" y="3486150"/>
            <a:ext cx="5410200" cy="1752600"/>
            <a:chOff x="6172200" y="3486150"/>
            <a:chExt cx="5410200" cy="1752600"/>
          </a:xfrm>
        </p:grpSpPr>
        <p:sp>
          <p:nvSpPr>
            <p:cNvPr id="34" name="Rectangle 34"/>
            <p:cNvSpPr/>
            <p:nvPr/>
          </p:nvSpPr>
          <p:spPr>
            <a:xfrm>
              <a:off x="6172200" y="3486150"/>
              <a:ext cx="5410200" cy="1752600"/>
            </a:xfrm>
            <a:prstGeom prst="roundRect">
              <a:avLst>
                <a:gd name="adj" fmla="val 7609"/>
              </a:avLst>
            </a:prstGeom>
            <a:solidFill>
              <a:srgbClr val="0F2E2B"/>
            </a:solidFill>
            <a:ln w="14288">
              <a:solidFill>
                <a:srgbClr val="48C78E"/>
              </a:solidFill>
            </a:ln>
          </p:spPr>
        </p:sp>
        <p:sp>
          <p:nvSpPr>
            <p:cNvPr id="35" name="Rectangle 35"/>
            <p:cNvSpPr/>
            <p:nvPr/>
          </p:nvSpPr>
          <p:spPr>
            <a:xfrm>
              <a:off x="6172200" y="3486150"/>
              <a:ext cx="57150" cy="1752600"/>
            </a:xfrm>
            <a:prstGeom prst="roundRect">
              <a:avLst>
                <a:gd name="adj" fmla="val 50000"/>
              </a:avLst>
            </a:prstGeom>
            <a:solidFill>
              <a:srgbClr val="48C78E"/>
            </a:solidFill>
            <a:ln>
              <a:noFill/>
            </a:ln>
          </p:spPr>
        </p:sp>
        <p:sp>
          <p:nvSpPr>
            <p:cNvPr id="36" name="TextBox 36"/>
            <p:cNvSpPr txBox="1"/>
            <p:nvPr/>
          </p:nvSpPr>
          <p:spPr>
            <a:xfrm>
              <a:off x="6432804" y="3718560"/>
              <a:ext cx="2426494"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The insight: harvest and pair</a:t>
              </a:r>
            </a:p>
          </p:txBody>
        </p:sp>
        <p:sp>
          <p:nvSpPr>
            <p:cNvPr id="37" name="TextBox 37"/>
            <p:cNvSpPr txBox="1"/>
            <p:nvPr/>
          </p:nvSpPr>
          <p:spPr>
            <a:xfrm>
              <a:off x="6433566" y="4020502"/>
              <a:ext cx="391665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Harvest that human inference knowledge and pair it with</a:t>
              </a:r>
            </a:p>
          </p:txBody>
        </p:sp>
        <p:sp>
          <p:nvSpPr>
            <p:cNvPr id="38" name="TextBox 38"/>
            <p:cNvSpPr txBox="1"/>
            <p:nvPr/>
          </p:nvSpPr>
          <p:spPr>
            <a:xfrm>
              <a:off x="6433566" y="4220528"/>
              <a:ext cx="381301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high-quality street views, so the model learns not just</a:t>
              </a:r>
            </a:p>
          </p:txBody>
        </p:sp>
        <p:sp>
          <p:nvSpPr>
            <p:cNvPr id="39" name="TextBox 39"/>
            <p:cNvSpPr txBox="1"/>
            <p:nvPr/>
          </p:nvSpPr>
          <p:spPr>
            <a:xfrm>
              <a:off x="6433566" y="4420552"/>
              <a:ext cx="254085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 guess a location but to justify it.</a:t>
              </a:r>
            </a:p>
          </p:txBody>
        </p:sp>
        <p:sp>
          <p:nvSpPr>
            <p:cNvPr id="40" name="TextBox 40"/>
            <p:cNvSpPr txBox="1"/>
            <p:nvPr/>
          </p:nvSpPr>
          <p:spPr>
            <a:xfrm>
              <a:off x="6433756" y="4919901"/>
              <a:ext cx="2008990"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Consolas"/>
                  <a:ea typeface="Consolas"/>
                  <a:cs typeface="Consolas"/>
                </a:rPr>
                <a:t>guess a location -&gt; justify it</a:t>
              </a:r>
            </a:p>
          </p:txBody>
        </p:sp>
      </p:grpSp>
      <p:sp>
        <p:nvSpPr>
          <p:cNvPr id="42" name="cue_s03_c1_why_now_why_approach" title="cue_s03_c1_why_now_why_approach" descr="cue_s03_c1_why_now_why_approach Why now, and why this approach?"/>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large_vision_language_models_shown_t" title="cue_s03_c2_large_vision_language_models_shown_t" descr="cue_s03_c2_large_vision_language_models_shown_t Large vision-language models have shown they can fuse images and text and follow step-by-step reasoning, and prior research shows that adding a reasoning process makes language models stronger."/>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meanwhile_huge_untapped_resource_exi" title="cue_s03_c3_meanwhile_huge_untapped_resource_exi" descr="cue_s03_c3_meanwhile_huge_untapped_resource_exi Meanwhile, a huge untapped resource exists: communities behind geo-localization games have spent years assembling textual clues that pinpoint countries and cities from subtle visual details."/>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georeasoner_insight_harvest_human_in" title="cue_s03_c4_georeasoner_insight_harvest_human_in" descr="cue_s03_c4_georeasoner_insight_harvest_human_in GeoReasoner's insight is to harvest that human inference knowledge and pair it with high-quality street views, so the model learns not just to guess a location but to justify it."/>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4560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paradigm, three contributions</a:t>
            </a:r>
          </a:p>
        </p:txBody>
      </p:sp>
      <p:grpSp>
        <p:nvGrpSpPr>
          <p:cNvPr id="16" name="Group 16"/>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1006737" y="2225040"/>
              <a:ext cx="158225"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3</a:t>
              </a:r>
            </a:p>
          </p:txBody>
        </p:sp>
        <p:sp>
          <p:nvSpPr>
            <p:cNvPr id="9" name="TextBox 9"/>
            <p:cNvSpPr txBox="1"/>
            <p:nvPr/>
          </p:nvSpPr>
          <p:spPr>
            <a:xfrm>
              <a:off x="831532" y="2849166"/>
              <a:ext cx="52831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Three</a:t>
              </a:r>
            </a:p>
          </p:txBody>
        </p:sp>
        <p:sp>
          <p:nvSpPr>
            <p:cNvPr id="10" name="TextBox 10"/>
            <p:cNvSpPr txBox="1"/>
            <p:nvPr/>
          </p:nvSpPr>
          <p:spPr>
            <a:xfrm>
              <a:off x="831532" y="3096816"/>
              <a:ext cx="124471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contributions</a:t>
              </a:r>
            </a:p>
          </p:txBody>
        </p:sp>
        <p:sp>
          <p:nvSpPr>
            <p:cNvPr id="11" name="TextBox 11"/>
            <p:cNvSpPr txBox="1"/>
            <p:nvPr/>
          </p:nvSpPr>
          <p:spPr>
            <a:xfrm>
              <a:off x="832866" y="3487102"/>
              <a:ext cx="21330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GeoReasoner brings together a</a:t>
              </a:r>
            </a:p>
          </p:txBody>
        </p:sp>
        <p:sp>
          <p:nvSpPr>
            <p:cNvPr id="12" name="TextBox 12"/>
            <p:cNvSpPr txBox="1"/>
            <p:nvPr/>
          </p:nvSpPr>
          <p:spPr>
            <a:xfrm>
              <a:off x="832866" y="3696652"/>
              <a:ext cx="20107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paradigm, a new metric,</a:t>
              </a:r>
            </a:p>
          </p:txBody>
        </p:sp>
        <p:sp>
          <p:nvSpPr>
            <p:cNvPr id="13" name="TextBox 13"/>
            <p:cNvSpPr txBox="1"/>
            <p:nvPr/>
          </p:nvSpPr>
          <p:spPr>
            <a:xfrm>
              <a:off x="832866" y="390620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a new interpretable model</a:t>
              </a:r>
            </a:p>
          </p:txBody>
        </p:sp>
        <p:sp>
          <p:nvSpPr>
            <p:cNvPr id="14" name="TextBox 14"/>
            <p:cNvSpPr txBox="1"/>
            <p:nvPr/>
          </p:nvSpPr>
          <p:spPr>
            <a:xfrm>
              <a:off x="832866" y="4115752"/>
              <a:ext cx="11344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street-view</a:t>
              </a:r>
            </a:p>
          </p:txBody>
        </p:sp>
        <p:sp>
          <p:nvSpPr>
            <p:cNvPr id="15" name="TextBox 15"/>
            <p:cNvSpPr txBox="1"/>
            <p:nvPr/>
          </p:nvSpPr>
          <p:spPr>
            <a:xfrm>
              <a:off x="832866" y="4325302"/>
              <a:ext cx="11909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geo-localization.</a:t>
              </a:r>
            </a:p>
          </p:txBody>
        </p:sp>
      </p:grpSp>
      <p:grpSp>
        <p:nvGrpSpPr>
          <p:cNvPr id="30" name="Group 30"/>
          <p:cNvGrpSpPr/>
          <p:nvPr/>
        </p:nvGrpSpPr>
        <p:grpSpPr>
          <a:xfrm>
            <a:off x="3429000" y="1714500"/>
            <a:ext cx="2590800" cy="3543300"/>
            <a:chOff x="3429000" y="1714500"/>
            <a:chExt cx="2590800" cy="3543300"/>
          </a:xfrm>
        </p:grpSpPr>
        <p:sp>
          <p:nvSpPr>
            <p:cNvPr id="17" name="Rectangle 17"/>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8" name="Rectangle 18"/>
            <p:cNvSpPr/>
            <p:nvPr/>
          </p:nvSpPr>
          <p:spPr>
            <a:xfrm>
              <a:off x="3429000" y="1714500"/>
              <a:ext cx="2590800" cy="57150"/>
            </a:xfrm>
            <a:prstGeom prst="roundRect">
              <a:avLst>
                <a:gd name="adj" fmla="val 50000"/>
              </a:avLst>
            </a:prstGeom>
            <a:solidFill>
              <a:srgbClr val="F2C14E"/>
            </a:solidFill>
            <a:ln>
              <a:noFill/>
            </a:ln>
          </p:spPr>
        </p:sp>
        <p:sp>
          <p:nvSpPr>
            <p:cNvPr id="19" name="Ellipse 19"/>
            <p:cNvSpPr/>
            <p:nvPr/>
          </p:nvSpPr>
          <p:spPr>
            <a:xfrm>
              <a:off x="3657600" y="2095500"/>
              <a:ext cx="495300" cy="495300"/>
            </a:xfrm>
            <a:prstGeom prst="ellipse">
              <a:avLst/>
            </a:prstGeom>
            <a:noFill/>
            <a:ln w="23812">
              <a:solidFill>
                <a:srgbClr val="F2C14E"/>
              </a:solidFill>
            </a:ln>
          </p:spPr>
        </p:sp>
        <p:sp>
          <p:nvSpPr>
            <p:cNvPr id="20" name="TextBox 20"/>
            <p:cNvSpPr txBox="1"/>
            <p:nvPr/>
          </p:nvSpPr>
          <p:spPr>
            <a:xfrm>
              <a:off x="3822177" y="2225040"/>
              <a:ext cx="166146" cy="352044"/>
            </a:xfrm>
            <a:prstGeom prst="rect">
              <a:avLst/>
            </a:prstGeom>
            <a:noFill/>
            <a:ln>
              <a:noFill/>
            </a:ln>
          </p:spPr>
          <p:txBody>
            <a:bodyPr wrap="none" lIns="0" tIns="0" rIns="0" bIns="0" anchor="t" anchorCtr="0">
              <a:spAutoFit/>
            </a:bodyPr>
            <a:lstStyle/>
            <a:p>
              <a:pPr algn="ctr"/>
              <a:r>
                <a:rPr lang="en-US" sz="1800" b="1" dirty="0">
                  <a:solidFill>
                    <a:srgbClr val="F2C14E"/>
                  </a:solidFill>
                  <a:latin typeface="+mn-lt"/>
                  <a:ea typeface="+mn-ea"/>
                  <a:cs typeface="+mn-cs"/>
                </a:rPr>
                <a:t>P</a:t>
              </a:r>
            </a:p>
          </p:txBody>
        </p:sp>
        <p:sp>
          <p:nvSpPr>
            <p:cNvPr id="21" name="TextBox 21"/>
            <p:cNvSpPr txBox="1"/>
            <p:nvPr/>
          </p:nvSpPr>
          <p:spPr>
            <a:xfrm>
              <a:off x="3650932" y="2849166"/>
              <a:ext cx="185280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New paradigm: LVLM</a:t>
              </a:r>
            </a:p>
          </p:txBody>
        </p:sp>
        <p:sp>
          <p:nvSpPr>
            <p:cNvPr id="22" name="TextBox 22"/>
            <p:cNvSpPr txBox="1"/>
            <p:nvPr/>
          </p:nvSpPr>
          <p:spPr>
            <a:xfrm>
              <a:off x="3650932" y="3096816"/>
              <a:ext cx="123545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 human clues</a:t>
              </a:r>
            </a:p>
          </p:txBody>
        </p:sp>
        <p:sp>
          <p:nvSpPr>
            <p:cNvPr id="23" name="TextBox 23"/>
            <p:cNvSpPr txBox="1"/>
            <p:nvPr/>
          </p:nvSpPr>
          <p:spPr>
            <a:xfrm>
              <a:off x="3652266" y="3487102"/>
              <a:ext cx="12308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Leverages a large</a:t>
              </a:r>
            </a:p>
          </p:txBody>
        </p:sp>
        <p:sp>
          <p:nvSpPr>
            <p:cNvPr id="24" name="TextBox 24"/>
            <p:cNvSpPr txBox="1"/>
            <p:nvPr/>
          </p:nvSpPr>
          <p:spPr>
            <a:xfrm>
              <a:off x="3652266" y="3696652"/>
              <a:ext cx="21592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vision-language model together</a:t>
              </a:r>
            </a:p>
          </p:txBody>
        </p:sp>
        <p:sp>
          <p:nvSpPr>
            <p:cNvPr id="25" name="TextBox 25"/>
            <p:cNvSpPr txBox="1"/>
            <p:nvPr/>
          </p:nvSpPr>
          <p:spPr>
            <a:xfrm>
              <a:off x="3652266" y="3906202"/>
              <a:ext cx="21097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external human reasoning</a:t>
              </a:r>
            </a:p>
          </p:txBody>
        </p:sp>
        <p:sp>
          <p:nvSpPr>
            <p:cNvPr id="26" name="TextBox 26"/>
            <p:cNvSpPr txBox="1"/>
            <p:nvPr/>
          </p:nvSpPr>
          <p:spPr>
            <a:xfrm>
              <a:off x="3652266" y="411575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knowledge learned from online</a:t>
              </a:r>
            </a:p>
          </p:txBody>
        </p:sp>
        <p:sp>
          <p:nvSpPr>
            <p:cNvPr id="27" name="TextBox 27"/>
            <p:cNvSpPr txBox="1"/>
            <p:nvPr/>
          </p:nvSpPr>
          <p:spPr>
            <a:xfrm>
              <a:off x="3652266" y="4325302"/>
              <a:ext cx="10990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games, enabling</a:t>
              </a:r>
            </a:p>
          </p:txBody>
        </p:sp>
        <p:sp>
          <p:nvSpPr>
            <p:cNvPr id="28" name="TextBox 28"/>
            <p:cNvSpPr txBox="1"/>
            <p:nvPr/>
          </p:nvSpPr>
          <p:spPr>
            <a:xfrm>
              <a:off x="3652266" y="4534852"/>
              <a:ext cx="14595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geo-localization with</a:t>
              </a:r>
            </a:p>
          </p:txBody>
        </p:sp>
        <p:sp>
          <p:nvSpPr>
            <p:cNvPr id="29" name="TextBox 29"/>
            <p:cNvSpPr txBox="1"/>
            <p:nvPr/>
          </p:nvSpPr>
          <p:spPr>
            <a:xfrm>
              <a:off x="3652266" y="4744402"/>
              <a:ext cx="8729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explanation.</a:t>
              </a:r>
            </a:p>
          </p:txBody>
        </p:sp>
      </p:grpSp>
      <p:grpSp>
        <p:nvGrpSpPr>
          <p:cNvPr id="43" name="Group 43"/>
          <p:cNvGrpSpPr/>
          <p:nvPr/>
        </p:nvGrpSpPr>
        <p:grpSpPr>
          <a:xfrm>
            <a:off x="6248400" y="1714500"/>
            <a:ext cx="2590800" cy="3543300"/>
            <a:chOff x="6248400" y="1714500"/>
            <a:chExt cx="2590800" cy="3543300"/>
          </a:xfrm>
        </p:grpSpPr>
        <p:sp>
          <p:nvSpPr>
            <p:cNvPr id="31" name="Rectangle 31"/>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32" name="Rectangle 32"/>
            <p:cNvSpPr/>
            <p:nvPr/>
          </p:nvSpPr>
          <p:spPr>
            <a:xfrm>
              <a:off x="6248400" y="1714500"/>
              <a:ext cx="2590800" cy="57150"/>
            </a:xfrm>
            <a:prstGeom prst="roundRect">
              <a:avLst>
                <a:gd name="adj" fmla="val 50000"/>
              </a:avLst>
            </a:prstGeom>
            <a:solidFill>
              <a:srgbClr val="34D3C0"/>
            </a:solidFill>
            <a:ln>
              <a:noFill/>
            </a:ln>
          </p:spPr>
        </p:sp>
        <p:sp>
          <p:nvSpPr>
            <p:cNvPr id="33" name="Ellipse 33"/>
            <p:cNvSpPr/>
            <p:nvPr/>
          </p:nvSpPr>
          <p:spPr>
            <a:xfrm>
              <a:off x="6477000" y="2095500"/>
              <a:ext cx="495300" cy="495300"/>
            </a:xfrm>
            <a:prstGeom prst="ellipse">
              <a:avLst/>
            </a:prstGeom>
            <a:noFill/>
            <a:ln w="23812">
              <a:solidFill>
                <a:srgbClr val="34D3C0"/>
              </a:solidFill>
            </a:ln>
          </p:spPr>
        </p:sp>
        <p:sp>
          <p:nvSpPr>
            <p:cNvPr id="34" name="TextBox 34"/>
            <p:cNvSpPr txBox="1"/>
            <p:nvPr/>
          </p:nvSpPr>
          <p:spPr>
            <a:xfrm>
              <a:off x="6641577" y="2225040"/>
              <a:ext cx="166146" cy="352044"/>
            </a:xfrm>
            <a:prstGeom prst="rect">
              <a:avLst/>
            </a:prstGeom>
            <a:noFill/>
            <a:ln>
              <a:noFill/>
            </a:ln>
          </p:spPr>
          <p:txBody>
            <a:bodyPr wrap="none" lIns="0" tIns="0" rIns="0" bIns="0" anchor="t" anchorCtr="0">
              <a:spAutoFit/>
            </a:bodyPr>
            <a:lstStyle/>
            <a:p>
              <a:pPr algn="ctr"/>
              <a:r>
                <a:rPr lang="en-US" sz="1800" b="1" dirty="0">
                  <a:solidFill>
                    <a:srgbClr val="34D3C0"/>
                  </a:solidFill>
                  <a:latin typeface="+mn-lt"/>
                  <a:ea typeface="+mn-ea"/>
                  <a:cs typeface="+mn-cs"/>
                </a:rPr>
                <a:t>L</a:t>
              </a:r>
            </a:p>
          </p:txBody>
        </p:sp>
        <p:sp>
          <p:nvSpPr>
            <p:cNvPr id="35" name="TextBox 35"/>
            <p:cNvSpPr txBox="1"/>
            <p:nvPr/>
          </p:nvSpPr>
          <p:spPr>
            <a:xfrm>
              <a:off x="6470332" y="2849166"/>
              <a:ext cx="110168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Locatability</a:t>
              </a:r>
            </a:p>
          </p:txBody>
        </p:sp>
        <p:sp>
          <p:nvSpPr>
            <p:cNvPr id="36" name="TextBox 36"/>
            <p:cNvSpPr txBox="1"/>
            <p:nvPr/>
          </p:nvSpPr>
          <p:spPr>
            <a:xfrm>
              <a:off x="6470332" y="3096816"/>
              <a:ext cx="61513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metric</a:t>
              </a:r>
            </a:p>
          </p:txBody>
        </p:sp>
        <p:sp>
          <p:nvSpPr>
            <p:cNvPr id="37" name="TextBox 37"/>
            <p:cNvSpPr txBox="1"/>
            <p:nvPr/>
          </p:nvSpPr>
          <p:spPr>
            <a:xfrm>
              <a:off x="6471666" y="3487102"/>
              <a:ext cx="15982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Defines locatability - a</a:t>
              </a:r>
            </a:p>
          </p:txBody>
        </p:sp>
        <p:sp>
          <p:nvSpPr>
            <p:cNvPr id="38" name="TextBox 38"/>
            <p:cNvSpPr txBox="1"/>
            <p:nvPr/>
          </p:nvSpPr>
          <p:spPr>
            <a:xfrm>
              <a:off x="6471666" y="3696652"/>
              <a:ext cx="18411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metric for how findable an</a:t>
              </a:r>
            </a:p>
          </p:txBody>
        </p:sp>
        <p:sp>
          <p:nvSpPr>
            <p:cNvPr id="39" name="TextBox 39"/>
            <p:cNvSpPr txBox="1"/>
            <p:nvPr/>
          </p:nvSpPr>
          <p:spPr>
            <a:xfrm>
              <a:off x="6471666" y="3906202"/>
              <a:ext cx="16998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image's location is - and</a:t>
              </a:r>
            </a:p>
          </p:txBody>
        </p:sp>
        <p:sp>
          <p:nvSpPr>
            <p:cNvPr id="40" name="TextBox 40"/>
            <p:cNvSpPr txBox="1"/>
            <p:nvPr/>
          </p:nvSpPr>
          <p:spPr>
            <a:xfrm>
              <a:off x="6471666" y="4115752"/>
              <a:ext cx="21430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builds a CLIP-based network to</a:t>
              </a:r>
            </a:p>
          </p:txBody>
        </p:sp>
        <p:sp>
          <p:nvSpPr>
            <p:cNvPr id="41" name="TextBox 41"/>
            <p:cNvSpPr txBox="1"/>
            <p:nvPr/>
          </p:nvSpPr>
          <p:spPr>
            <a:xfrm>
              <a:off x="6471666" y="4325302"/>
              <a:ext cx="19259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compute it and curate clean</a:t>
              </a:r>
            </a:p>
          </p:txBody>
        </p:sp>
        <p:sp>
          <p:nvSpPr>
            <p:cNvPr id="42" name="TextBox 42"/>
            <p:cNvSpPr txBox="1"/>
            <p:nvPr/>
          </p:nvSpPr>
          <p:spPr>
            <a:xfrm>
              <a:off x="6471666" y="4534852"/>
              <a:ext cx="3993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a:t>
              </a:r>
            </a:p>
          </p:txBody>
        </p:sp>
      </p:grpSp>
      <p:grpSp>
        <p:nvGrpSpPr>
          <p:cNvPr id="54" name="Group 54"/>
          <p:cNvGrpSpPr/>
          <p:nvPr/>
        </p:nvGrpSpPr>
        <p:grpSpPr>
          <a:xfrm>
            <a:off x="9067800" y="1714500"/>
            <a:ext cx="2590800" cy="3543300"/>
            <a:chOff x="9067800" y="1714500"/>
            <a:chExt cx="2590800" cy="3543300"/>
          </a:xfrm>
        </p:grpSpPr>
        <p:sp>
          <p:nvSpPr>
            <p:cNvPr id="44" name="Rectangle 44"/>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45" name="Rectangle 45"/>
            <p:cNvSpPr/>
            <p:nvPr/>
          </p:nvSpPr>
          <p:spPr>
            <a:xfrm>
              <a:off x="9067800" y="1714500"/>
              <a:ext cx="2590800" cy="57150"/>
            </a:xfrm>
            <a:prstGeom prst="roundRect">
              <a:avLst>
                <a:gd name="adj" fmla="val 50000"/>
              </a:avLst>
            </a:prstGeom>
            <a:solidFill>
              <a:srgbClr val="48C78E"/>
            </a:solidFill>
            <a:ln>
              <a:noFill/>
            </a:ln>
          </p:spPr>
        </p:sp>
        <p:sp>
          <p:nvSpPr>
            <p:cNvPr id="46" name="Ellipse 46"/>
            <p:cNvSpPr/>
            <p:nvPr/>
          </p:nvSpPr>
          <p:spPr>
            <a:xfrm>
              <a:off x="9296400" y="2095500"/>
              <a:ext cx="495300" cy="495300"/>
            </a:xfrm>
            <a:prstGeom prst="ellipse">
              <a:avLst/>
            </a:prstGeom>
            <a:noFill/>
            <a:ln w="23812">
              <a:solidFill>
                <a:srgbClr val="48C78E"/>
              </a:solidFill>
            </a:ln>
          </p:spPr>
        </p:sp>
        <p:sp>
          <p:nvSpPr>
            <p:cNvPr id="47" name="TextBox 47"/>
            <p:cNvSpPr txBox="1"/>
            <p:nvPr/>
          </p:nvSpPr>
          <p:spPr>
            <a:xfrm>
              <a:off x="9460977" y="2225040"/>
              <a:ext cx="166146" cy="352044"/>
            </a:xfrm>
            <a:prstGeom prst="rect">
              <a:avLst/>
            </a:prstGeom>
            <a:noFill/>
            <a:ln>
              <a:noFill/>
            </a:ln>
          </p:spPr>
          <p:txBody>
            <a:bodyPr wrap="none" lIns="0" tIns="0" rIns="0" bIns="0" anchor="t" anchorCtr="0">
              <a:spAutoFit/>
            </a:bodyPr>
            <a:lstStyle/>
            <a:p>
              <a:pPr algn="ctr"/>
              <a:r>
                <a:rPr lang="en-US" sz="1800" b="1" dirty="0">
                  <a:solidFill>
                    <a:srgbClr val="48C78E"/>
                  </a:solidFill>
                  <a:latin typeface="+mn-lt"/>
                  <a:ea typeface="+mn-ea"/>
                  <a:cs typeface="+mn-cs"/>
                </a:rPr>
                <a:t>G</a:t>
              </a:r>
            </a:p>
          </p:txBody>
        </p:sp>
        <p:sp>
          <p:nvSpPr>
            <p:cNvPr id="48" name="TextBox 48"/>
            <p:cNvSpPr txBox="1"/>
            <p:nvPr/>
          </p:nvSpPr>
          <p:spPr>
            <a:xfrm>
              <a:off x="9289732" y="2849166"/>
              <a:ext cx="170097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GeoReasoner model</a:t>
              </a:r>
            </a:p>
          </p:txBody>
        </p:sp>
        <p:sp>
          <p:nvSpPr>
            <p:cNvPr id="49" name="TextBox 49"/>
            <p:cNvSpPr txBox="1"/>
            <p:nvPr/>
          </p:nvSpPr>
          <p:spPr>
            <a:xfrm>
              <a:off x="9291066" y="3239452"/>
              <a:ext cx="21092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Delivers GeoReasoner itself: a</a:t>
              </a:r>
            </a:p>
          </p:txBody>
        </p:sp>
        <p:sp>
          <p:nvSpPr>
            <p:cNvPr id="50" name="TextBox 50"/>
            <p:cNvSpPr txBox="1"/>
            <p:nvPr/>
          </p:nvSpPr>
          <p:spPr>
            <a:xfrm>
              <a:off x="9291066" y="3449002"/>
              <a:ext cx="17704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that beats existing</a:t>
              </a:r>
            </a:p>
          </p:txBody>
        </p:sp>
        <p:sp>
          <p:nvSpPr>
            <p:cNvPr id="51" name="TextBox 51"/>
            <p:cNvSpPr txBox="1"/>
            <p:nvPr/>
          </p:nvSpPr>
          <p:spPr>
            <a:xfrm>
              <a:off x="9291066" y="3658552"/>
              <a:ext cx="21167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geo-localization systems while</a:t>
              </a:r>
            </a:p>
          </p:txBody>
        </p:sp>
        <p:sp>
          <p:nvSpPr>
            <p:cNvPr id="52" name="TextBox 52"/>
            <p:cNvSpPr txBox="1"/>
            <p:nvPr/>
          </p:nvSpPr>
          <p:spPr>
            <a:xfrm>
              <a:off x="9291066" y="3868102"/>
              <a:ext cx="18977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offering detailed reasoning</a:t>
              </a:r>
            </a:p>
          </p:txBody>
        </p:sp>
        <p:sp>
          <p:nvSpPr>
            <p:cNvPr id="53" name="TextBox 53"/>
            <p:cNvSpPr txBox="1"/>
            <p:nvPr/>
          </p:nvSpPr>
          <p:spPr>
            <a:xfrm>
              <a:off x="9291066" y="4077652"/>
              <a:ext cx="15019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for every prediction.</a:t>
              </a:r>
            </a:p>
          </p:txBody>
        </p:sp>
      </p:grpSp>
      <p:sp>
        <p:nvSpPr>
          <p:cNvPr id="55" name="TextBox 55"/>
          <p:cNvSpPr txBox="1"/>
          <p:nvPr/>
        </p:nvSpPr>
        <p:spPr>
          <a:xfrm>
            <a:off x="603694" y="5456158"/>
            <a:ext cx="789294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Pair an LVLM with human reasoning knowledge, quantify locatability, and explain every prediction.</a:t>
            </a:r>
          </a:p>
        </p:txBody>
      </p:sp>
      <p:sp>
        <p:nvSpPr>
          <p:cNvPr id="56" name="cue_s04_c1_work_makes_three_contributions" title="cue_s04_c1_work_makes_three_contributions" descr="cue_s04_c1_work_makes_three_contributions The work makes three contribution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4_c2_introduces_new_paradigm_leverages_la" title="cue_s04_c2_introduces_new_paradigm_leverages_la" descr="cue_s04_c2_introduces_new_paradigm_leverages_la It introduces a new paradigm that leverages a large vision-language model together with external human reasoning knowledge learned from online games, enabling geo-localization that comes with an explanation."/>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4_c3_defines_concept_locatability_metric" title="cue_s04_c3_defines_concept_locatability_metric" descr="cue_s04_c3_defines_concept_locatability_metric It defines the concept of locatability, a metric for how findable an image's location is, and builds a CLIP-based network to compute it, which drives the curation of a clean, high-quality training set."/>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4_c4_delivers_georeasoner_itself_beats_ex" title="cue_s04_c4_delivers_georeasoner_itself_beats_ex" descr="cue_s04_c4_delivers_georeasoner_itself_beats_ex And it delivers GeoReasoner itself, a model that beats existing geo-localization systems while offering detailed reasoning for every predictio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814380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Curate locatable data, then fine-tune in two stages</a:t>
            </a:r>
          </a:p>
        </p:txBody>
      </p:sp>
      <p:grpSp>
        <p:nvGrpSpPr>
          <p:cNvPr id="23" name="Group 23"/>
          <p:cNvGrpSpPr/>
          <p:nvPr/>
        </p:nvGrpSpPr>
        <p:grpSpPr>
          <a:xfrm>
            <a:off x="609600" y="1504950"/>
            <a:ext cx="5334000" cy="1600200"/>
            <a:chOff x="609600" y="1504950"/>
            <a:chExt cx="5334000" cy="1600200"/>
          </a:xfrm>
        </p:grpSpPr>
        <p:sp>
          <p:nvSpPr>
            <p:cNvPr id="5" name="Rectangle 5"/>
            <p:cNvSpPr/>
            <p:nvPr/>
          </p:nvSpPr>
          <p:spPr>
            <a:xfrm>
              <a:off x="609600" y="1504950"/>
              <a:ext cx="5334000" cy="1600200"/>
            </a:xfrm>
            <a:prstGeom prst="roundRect">
              <a:avLst>
                <a:gd name="adj" fmla="val 8333"/>
              </a:avLst>
            </a:prstGeom>
            <a:solidFill>
              <a:schemeClr val="accent5"/>
            </a:solidFill>
            <a:ln w="14288">
              <a:solidFill>
                <a:srgbClr val="26455F"/>
              </a:solidFill>
            </a:ln>
          </p:spPr>
        </p:sp>
        <p:sp>
          <p:nvSpPr>
            <p:cNvPr id="6" name="Rectangle 6"/>
            <p:cNvSpPr/>
            <p:nvPr/>
          </p:nvSpPr>
          <p:spPr>
            <a:xfrm>
              <a:off x="609600" y="1504950"/>
              <a:ext cx="57150" cy="1600200"/>
            </a:xfrm>
            <a:prstGeom prst="roundRect">
              <a:avLst>
                <a:gd name="adj" fmla="val 50000"/>
              </a:avLst>
            </a:prstGeom>
            <a:solidFill>
              <a:schemeClr val="accent2"/>
            </a:solidFill>
            <a:ln>
              <a:noFill/>
            </a:ln>
          </p:spPr>
        </p:sp>
        <p:sp>
          <p:nvSpPr>
            <p:cNvPr id="7" name="TextBox 7"/>
            <p:cNvSpPr txBox="1"/>
            <p:nvPr/>
          </p:nvSpPr>
          <p:spPr>
            <a:xfrm>
              <a:off x="870204" y="1718310"/>
              <a:ext cx="237572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Step 1: a locatability metric</a:t>
              </a:r>
            </a:p>
          </p:txBody>
        </p:sp>
        <p:sp>
          <p:nvSpPr>
            <p:cNvPr id="8" name="TextBox 8"/>
            <p:cNvSpPr txBox="1"/>
            <p:nvPr/>
          </p:nvSpPr>
          <p:spPr>
            <a:xfrm>
              <a:off x="871156" y="1967151"/>
              <a:ext cx="41937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MaskFormer segments each street view into semantic classes,</a:t>
              </a:r>
            </a:p>
          </p:txBody>
        </p:sp>
        <p:sp>
          <p:nvSpPr>
            <p:cNvPr id="9" name="TextBox 9"/>
            <p:cNvSpPr txBox="1"/>
            <p:nvPr/>
          </p:nvSpPr>
          <p:spPr>
            <a:xfrm>
              <a:off x="871156" y="2148126"/>
              <a:ext cx="27296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producing a vector of class-area ratios.</a:t>
              </a:r>
            </a:p>
          </p:txBody>
        </p:sp>
        <p:sp>
          <p:nvSpPr>
            <p:cNvPr id="10" name="TextBox 10"/>
            <p:cNvSpPr txBox="1"/>
            <p:nvPr/>
          </p:nvSpPr>
          <p:spPr>
            <a:xfrm>
              <a:off x="871538" y="2402443"/>
              <a:ext cx="1816787"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MaskFormer class-area ratios</a:t>
              </a:r>
            </a:p>
          </p:txBody>
        </p:sp>
        <p:sp>
          <p:nvSpPr>
            <p:cNvPr id="11" name="TextBox 11"/>
            <p:cNvSpPr txBox="1"/>
            <p:nvPr/>
          </p:nvSpPr>
          <p:spPr>
            <a:xfrm>
              <a:off x="871538" y="2543889"/>
              <a:ext cx="417111"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building</a:t>
              </a:r>
            </a:p>
          </p:txBody>
        </p:sp>
        <p:sp>
          <p:nvSpPr>
            <p:cNvPr id="12" name="Rectangle 12"/>
            <p:cNvSpPr/>
            <p:nvPr/>
          </p:nvSpPr>
          <p:spPr>
            <a:xfrm>
              <a:off x="1638300" y="2552700"/>
              <a:ext cx="2095500" cy="85725"/>
            </a:xfrm>
            <a:prstGeom prst="roundRect">
              <a:avLst>
                <a:gd name="adj" fmla="val 33333"/>
              </a:avLst>
            </a:prstGeom>
            <a:solidFill>
              <a:srgbClr val="0E2334"/>
            </a:solidFill>
            <a:ln w="7620">
              <a:solidFill>
                <a:srgbClr val="26455F"/>
              </a:solidFill>
            </a:ln>
          </p:spPr>
        </p:sp>
        <p:sp>
          <p:nvSpPr>
            <p:cNvPr id="13" name="Rectangle 13"/>
            <p:cNvSpPr/>
            <p:nvPr/>
          </p:nvSpPr>
          <p:spPr>
            <a:xfrm>
              <a:off x="1638300" y="2552700"/>
              <a:ext cx="1508760" cy="85725"/>
            </a:xfrm>
            <a:prstGeom prst="roundRect">
              <a:avLst>
                <a:gd name="adj" fmla="val 33333"/>
              </a:avLst>
            </a:prstGeom>
            <a:solidFill>
              <a:schemeClr val="accent2"/>
            </a:solidFill>
            <a:ln>
              <a:noFill/>
            </a:ln>
          </p:spPr>
        </p:sp>
        <p:sp>
          <p:nvSpPr>
            <p:cNvPr id="14" name="TextBox 14"/>
            <p:cNvSpPr txBox="1"/>
            <p:nvPr/>
          </p:nvSpPr>
          <p:spPr>
            <a:xfrm>
              <a:off x="871538" y="2667714"/>
              <a:ext cx="193776"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sky</a:t>
              </a:r>
            </a:p>
          </p:txBody>
        </p:sp>
        <p:sp>
          <p:nvSpPr>
            <p:cNvPr id="15" name="Rectangle 15"/>
            <p:cNvSpPr/>
            <p:nvPr/>
          </p:nvSpPr>
          <p:spPr>
            <a:xfrm>
              <a:off x="1638300" y="2676525"/>
              <a:ext cx="2095500" cy="85725"/>
            </a:xfrm>
            <a:prstGeom prst="roundRect">
              <a:avLst>
                <a:gd name="adj" fmla="val 33333"/>
              </a:avLst>
            </a:prstGeom>
            <a:solidFill>
              <a:srgbClr val="0E2334"/>
            </a:solidFill>
            <a:ln w="7620">
              <a:solidFill>
                <a:srgbClr val="26455F"/>
              </a:solidFill>
            </a:ln>
          </p:spPr>
        </p:sp>
        <p:sp>
          <p:nvSpPr>
            <p:cNvPr id="16" name="Rectangle 16"/>
            <p:cNvSpPr/>
            <p:nvPr/>
          </p:nvSpPr>
          <p:spPr>
            <a:xfrm>
              <a:off x="1638300" y="2676525"/>
              <a:ext cx="1152525" cy="85725"/>
            </a:xfrm>
            <a:prstGeom prst="roundRect">
              <a:avLst>
                <a:gd name="adj" fmla="val 33333"/>
              </a:avLst>
            </a:prstGeom>
            <a:solidFill>
              <a:srgbClr val="34D3C0"/>
            </a:solidFill>
            <a:ln>
              <a:noFill/>
            </a:ln>
          </p:spPr>
        </p:sp>
        <p:sp>
          <p:nvSpPr>
            <p:cNvPr id="17" name="TextBox 17"/>
            <p:cNvSpPr txBox="1"/>
            <p:nvPr/>
          </p:nvSpPr>
          <p:spPr>
            <a:xfrm>
              <a:off x="871538" y="2791539"/>
              <a:ext cx="255193"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road</a:t>
              </a:r>
            </a:p>
          </p:txBody>
        </p:sp>
        <p:sp>
          <p:nvSpPr>
            <p:cNvPr id="18" name="Rectangle 18"/>
            <p:cNvSpPr/>
            <p:nvPr/>
          </p:nvSpPr>
          <p:spPr>
            <a:xfrm>
              <a:off x="1638300" y="2800350"/>
              <a:ext cx="2095500" cy="85725"/>
            </a:xfrm>
            <a:prstGeom prst="roundRect">
              <a:avLst>
                <a:gd name="adj" fmla="val 33333"/>
              </a:avLst>
            </a:prstGeom>
            <a:solidFill>
              <a:srgbClr val="0E2334"/>
            </a:solidFill>
            <a:ln w="7620">
              <a:solidFill>
                <a:srgbClr val="26455F"/>
              </a:solidFill>
            </a:ln>
          </p:spPr>
        </p:sp>
        <p:sp>
          <p:nvSpPr>
            <p:cNvPr id="19" name="Rectangle 19"/>
            <p:cNvSpPr/>
            <p:nvPr/>
          </p:nvSpPr>
          <p:spPr>
            <a:xfrm>
              <a:off x="1638300" y="2800350"/>
              <a:ext cx="838200" cy="85725"/>
            </a:xfrm>
            <a:prstGeom prst="roundRect">
              <a:avLst>
                <a:gd name="adj" fmla="val 33333"/>
              </a:avLst>
            </a:prstGeom>
            <a:solidFill>
              <a:schemeClr val="dk2"/>
            </a:solidFill>
            <a:ln>
              <a:noFill/>
            </a:ln>
          </p:spPr>
        </p:sp>
        <p:sp>
          <p:nvSpPr>
            <p:cNvPr id="20" name="TextBox 20"/>
            <p:cNvSpPr txBox="1"/>
            <p:nvPr/>
          </p:nvSpPr>
          <p:spPr>
            <a:xfrm>
              <a:off x="871538" y="2915364"/>
              <a:ext cx="383610"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vehicle</a:t>
              </a:r>
            </a:p>
          </p:txBody>
        </p:sp>
        <p:sp>
          <p:nvSpPr>
            <p:cNvPr id="21" name="Rectangle 21"/>
            <p:cNvSpPr/>
            <p:nvPr/>
          </p:nvSpPr>
          <p:spPr>
            <a:xfrm>
              <a:off x="1638300" y="2924175"/>
              <a:ext cx="2095500" cy="85725"/>
            </a:xfrm>
            <a:prstGeom prst="roundRect">
              <a:avLst>
                <a:gd name="adj" fmla="val 33333"/>
              </a:avLst>
            </a:prstGeom>
            <a:solidFill>
              <a:srgbClr val="0E2334"/>
            </a:solidFill>
            <a:ln w="7620">
              <a:solidFill>
                <a:srgbClr val="26455F"/>
              </a:solidFill>
            </a:ln>
          </p:spPr>
        </p:sp>
        <p:sp>
          <p:nvSpPr>
            <p:cNvPr id="22" name="Rectangle 22"/>
            <p:cNvSpPr/>
            <p:nvPr/>
          </p:nvSpPr>
          <p:spPr>
            <a:xfrm>
              <a:off x="1638300" y="2924175"/>
              <a:ext cx="628650" cy="85725"/>
            </a:xfrm>
            <a:prstGeom prst="roundRect">
              <a:avLst>
                <a:gd name="adj" fmla="val 33333"/>
              </a:avLst>
            </a:prstGeom>
            <a:solidFill>
              <a:srgbClr val="F2C14E"/>
            </a:solidFill>
            <a:ln>
              <a:noFill/>
            </a:ln>
          </p:spPr>
        </p:sp>
      </p:grpSp>
      <p:grpSp>
        <p:nvGrpSpPr>
          <p:cNvPr id="32" name="Group 32"/>
          <p:cNvGrpSpPr/>
          <p:nvPr/>
        </p:nvGrpSpPr>
        <p:grpSpPr>
          <a:xfrm>
            <a:off x="6248400" y="1504950"/>
            <a:ext cx="5334000" cy="1600200"/>
            <a:chOff x="6248400" y="1504950"/>
            <a:chExt cx="5334000" cy="1600200"/>
          </a:xfrm>
        </p:grpSpPr>
        <p:sp>
          <p:nvSpPr>
            <p:cNvPr id="24" name="Rectangle 24"/>
            <p:cNvSpPr/>
            <p:nvPr/>
          </p:nvSpPr>
          <p:spPr>
            <a:xfrm>
              <a:off x="6248400" y="1504950"/>
              <a:ext cx="5334000" cy="1600200"/>
            </a:xfrm>
            <a:prstGeom prst="roundRect">
              <a:avLst>
                <a:gd name="adj" fmla="val 8333"/>
              </a:avLst>
            </a:prstGeom>
            <a:solidFill>
              <a:srgbClr val="2A2417"/>
            </a:solidFill>
            <a:ln w="14288">
              <a:solidFill>
                <a:srgbClr val="F2C14E"/>
              </a:solidFill>
            </a:ln>
          </p:spPr>
        </p:sp>
        <p:sp>
          <p:nvSpPr>
            <p:cNvPr id="25" name="Rectangle 25"/>
            <p:cNvSpPr/>
            <p:nvPr/>
          </p:nvSpPr>
          <p:spPr>
            <a:xfrm>
              <a:off x="6248400" y="1504950"/>
              <a:ext cx="57150" cy="1600200"/>
            </a:xfrm>
            <a:prstGeom prst="roundRect">
              <a:avLst>
                <a:gd name="adj" fmla="val 50000"/>
              </a:avLst>
            </a:prstGeom>
            <a:solidFill>
              <a:srgbClr val="F2C14E"/>
            </a:solidFill>
            <a:ln>
              <a:noFill/>
            </a:ln>
          </p:spPr>
        </p:sp>
        <p:sp>
          <p:nvSpPr>
            <p:cNvPr id="26" name="TextBox 26"/>
            <p:cNvSpPr txBox="1"/>
            <p:nvPr/>
          </p:nvSpPr>
          <p:spPr>
            <a:xfrm>
              <a:off x="6509004" y="1718310"/>
              <a:ext cx="297806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Step 2: weight classes by relevance</a:t>
              </a:r>
            </a:p>
          </p:txBody>
        </p:sp>
        <p:sp>
          <p:nvSpPr>
            <p:cNvPr id="27" name="TextBox 27"/>
            <p:cNvSpPr txBox="1"/>
            <p:nvPr/>
          </p:nvSpPr>
          <p:spPr>
            <a:xfrm>
              <a:off x="6509956" y="1986201"/>
              <a:ext cx="390181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Sentence-BERT measures how relevant each class is to the</a:t>
              </a:r>
            </a:p>
          </p:txBody>
        </p:sp>
        <p:sp>
          <p:nvSpPr>
            <p:cNvPr id="28" name="TextBox 28"/>
            <p:cNvSpPr txBox="1"/>
            <p:nvPr/>
          </p:nvSpPr>
          <p:spPr>
            <a:xfrm>
              <a:off x="6509956" y="2167176"/>
              <a:ext cx="412326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textual clues mined from geo-games, producing an importance</a:t>
              </a:r>
            </a:p>
          </p:txBody>
        </p:sp>
        <p:sp>
          <p:nvSpPr>
            <p:cNvPr id="29" name="TextBox 29"/>
            <p:cNvSpPr txBox="1"/>
            <p:nvPr/>
          </p:nvSpPr>
          <p:spPr>
            <a:xfrm>
              <a:off x="6509956" y="2348151"/>
              <a:ext cx="142433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weight vector w_loc.</a:t>
              </a:r>
            </a:p>
          </p:txBody>
        </p:sp>
        <p:sp>
          <p:nvSpPr>
            <p:cNvPr id="30" name="Rectangle 30"/>
            <p:cNvSpPr/>
            <p:nvPr/>
          </p:nvSpPr>
          <p:spPr>
            <a:xfrm>
              <a:off x="6515100" y="2724150"/>
              <a:ext cx="4800600" cy="285750"/>
            </a:xfrm>
            <a:prstGeom prst="roundRect">
              <a:avLst>
                <a:gd name="adj" fmla="val 26667"/>
              </a:avLst>
            </a:prstGeom>
            <a:solidFill>
              <a:schemeClr val="accent6"/>
            </a:solidFill>
            <a:ln w="14288">
              <a:solidFill>
                <a:srgbClr val="26455F"/>
              </a:solidFill>
            </a:ln>
          </p:spPr>
        </p:sp>
        <p:sp>
          <p:nvSpPr>
            <p:cNvPr id="31" name="TextBox 31"/>
            <p:cNvSpPr txBox="1"/>
            <p:nvPr/>
          </p:nvSpPr>
          <p:spPr>
            <a:xfrm>
              <a:off x="7627917" y="2822972"/>
              <a:ext cx="2574966"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Consolas"/>
                  <a:ea typeface="Consolas"/>
                  <a:cs typeface="Consolas"/>
                </a:rPr>
                <a:t>Sentence-BERT( class, clues ) -&gt; w_loc</a:t>
              </a:r>
            </a:p>
          </p:txBody>
        </p:sp>
      </p:grpSp>
      <p:grpSp>
        <p:nvGrpSpPr>
          <p:cNvPr id="71" name="Group 71"/>
          <p:cNvGrpSpPr/>
          <p:nvPr/>
        </p:nvGrpSpPr>
        <p:grpSpPr>
          <a:xfrm>
            <a:off x="609600" y="3276600"/>
            <a:ext cx="6972300" cy="1962150"/>
            <a:chOff x="609600" y="3276600"/>
            <a:chExt cx="6972300" cy="1962150"/>
          </a:xfrm>
        </p:grpSpPr>
        <p:sp>
          <p:nvSpPr>
            <p:cNvPr id="33" name="Rectangle 33"/>
            <p:cNvSpPr/>
            <p:nvPr/>
          </p:nvSpPr>
          <p:spPr>
            <a:xfrm>
              <a:off x="609600" y="3276600"/>
              <a:ext cx="6972300" cy="1962150"/>
            </a:xfrm>
            <a:prstGeom prst="roundRect">
              <a:avLst>
                <a:gd name="adj" fmla="val 6796"/>
              </a:avLst>
            </a:prstGeom>
            <a:solidFill>
              <a:schemeClr val="accent5"/>
            </a:solidFill>
            <a:ln w="14288">
              <a:solidFill>
                <a:srgbClr val="26455F"/>
              </a:solidFill>
            </a:ln>
          </p:spPr>
        </p:sp>
        <p:sp>
          <p:nvSpPr>
            <p:cNvPr id="34" name="Rectangle 34"/>
            <p:cNvSpPr/>
            <p:nvPr/>
          </p:nvSpPr>
          <p:spPr>
            <a:xfrm>
              <a:off x="609600" y="3276600"/>
              <a:ext cx="57150" cy="1962150"/>
            </a:xfrm>
            <a:prstGeom prst="roundRect">
              <a:avLst>
                <a:gd name="adj" fmla="val 50000"/>
              </a:avLst>
            </a:prstGeom>
            <a:solidFill>
              <a:srgbClr val="48C78E"/>
            </a:solidFill>
            <a:ln>
              <a:noFill/>
            </a:ln>
          </p:spPr>
        </p:sp>
        <p:sp>
          <p:nvSpPr>
            <p:cNvPr id="35" name="TextBox 35"/>
            <p:cNvSpPr txBox="1"/>
            <p:nvPr/>
          </p:nvSpPr>
          <p:spPr>
            <a:xfrm>
              <a:off x="870204" y="3470910"/>
              <a:ext cx="3256473"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The model: Qwen-VL + two LoRA stages</a:t>
              </a:r>
            </a:p>
          </p:txBody>
        </p:sp>
        <p:sp>
          <p:nvSpPr>
            <p:cNvPr id="36" name="Rectangle 36"/>
            <p:cNvSpPr/>
            <p:nvPr/>
          </p:nvSpPr>
          <p:spPr>
            <a:xfrm>
              <a:off x="876300" y="3695700"/>
              <a:ext cx="6438900" cy="1504950"/>
            </a:xfrm>
            <a:prstGeom prst="roundRect">
              <a:avLst>
                <a:gd name="adj" fmla="val 6329"/>
              </a:avLst>
            </a:prstGeom>
            <a:solidFill>
              <a:srgbClr val="0E2334"/>
            </a:solidFill>
            <a:ln w="14288">
              <a:solidFill>
                <a:srgbClr val="26455F"/>
              </a:solidFill>
            </a:ln>
          </p:spPr>
        </p:sp>
        <p:sp>
          <p:nvSpPr>
            <p:cNvPr id="37" name="Rectangle 37"/>
            <p:cNvSpPr/>
            <p:nvPr/>
          </p:nvSpPr>
          <p:spPr>
            <a:xfrm>
              <a:off x="1047750" y="3981450"/>
              <a:ext cx="819150" cy="552450"/>
            </a:xfrm>
            <a:prstGeom prst="roundRect">
              <a:avLst>
                <a:gd name="adj" fmla="val 13793"/>
              </a:avLst>
            </a:prstGeom>
            <a:solidFill>
              <a:srgbClr val="0E2334"/>
            </a:solidFill>
            <a:ln w="14288">
              <a:solidFill>
                <a:srgbClr val="26455F"/>
              </a:solidFill>
            </a:ln>
          </p:spPr>
        </p:sp>
        <p:sp>
          <p:nvSpPr>
            <p:cNvPr id="38" name="Rectangle 38"/>
            <p:cNvSpPr/>
            <p:nvPr/>
          </p:nvSpPr>
          <p:spPr>
            <a:xfrm>
              <a:off x="1095375" y="4029075"/>
              <a:ext cx="723900" cy="220980"/>
            </a:xfrm>
            <a:prstGeom prst="roundRect">
              <a:avLst>
                <a:gd name="adj" fmla="val 17241"/>
              </a:avLst>
            </a:prstGeom>
            <a:solidFill>
              <a:srgbClr val="1C3A54"/>
            </a:solidFill>
            <a:ln>
              <a:noFill/>
            </a:ln>
          </p:spPr>
        </p:sp>
        <p:sp>
          <p:nvSpPr>
            <p:cNvPr id="39" name="Rectangle 39"/>
            <p:cNvSpPr/>
            <p:nvPr/>
          </p:nvSpPr>
          <p:spPr>
            <a:xfrm>
              <a:off x="1129665" y="4169283"/>
              <a:ext cx="163830" cy="276225"/>
            </a:xfrm>
            <a:prstGeom prst="roundRect">
              <a:avLst>
                <a:gd name="adj" fmla="val 11628"/>
              </a:avLst>
            </a:prstGeom>
            <a:solidFill>
              <a:srgbClr val="24506E"/>
            </a:solidFill>
            <a:ln>
              <a:noFill/>
            </a:ln>
          </p:spPr>
        </p:sp>
        <p:sp>
          <p:nvSpPr>
            <p:cNvPr id="40" name="Rectangle 40"/>
            <p:cNvSpPr/>
            <p:nvPr/>
          </p:nvSpPr>
          <p:spPr>
            <a:xfrm>
              <a:off x="1326261" y="4102989"/>
              <a:ext cx="131064" cy="342519"/>
            </a:xfrm>
            <a:prstGeom prst="roundRect">
              <a:avLst>
                <a:gd name="adj" fmla="val 14535"/>
              </a:avLst>
            </a:prstGeom>
            <a:solidFill>
              <a:srgbClr val="2C5C80"/>
            </a:solidFill>
            <a:ln>
              <a:noFill/>
            </a:ln>
          </p:spPr>
        </p:sp>
        <p:sp>
          <p:nvSpPr>
            <p:cNvPr id="41" name="Rectangle 41"/>
            <p:cNvSpPr/>
            <p:nvPr/>
          </p:nvSpPr>
          <p:spPr>
            <a:xfrm>
              <a:off x="1637538" y="4191381"/>
              <a:ext cx="147447" cy="254127"/>
            </a:xfrm>
            <a:prstGeom prst="roundRect">
              <a:avLst>
                <a:gd name="adj" fmla="val 12920"/>
              </a:avLst>
            </a:prstGeom>
            <a:solidFill>
              <a:srgbClr val="24506E"/>
            </a:solidFill>
            <a:ln>
              <a:noFill/>
            </a:ln>
          </p:spPr>
        </p:sp>
        <p:sp>
          <p:nvSpPr>
            <p:cNvPr id="42" name="Polygon 42"/>
            <p:cNvSpPr/>
            <p:nvPr/>
          </p:nvSpPr>
          <p:spPr>
            <a:xfrm>
              <a:off x="1375410" y="4224338"/>
              <a:ext cx="163830" cy="252412"/>
            </a:xfrm>
            <a:custGeom>
              <a:avLst/>
              <a:gdLst/>
              <a:ahLst/>
              <a:cxnLst/>
              <a:rect l="l" t="t" r="r" b="b"/>
              <a:pathLst>
                <a:path w="163830" h="252412">
                  <a:moveTo>
                    <a:pt x="0" y="252412"/>
                  </a:moveTo>
                  <a:lnTo>
                    <a:pt x="163830" y="252412"/>
                  </a:lnTo>
                  <a:lnTo>
                    <a:pt x="122873" y="0"/>
                  </a:lnTo>
                  <a:lnTo>
                    <a:pt x="40957" y="0"/>
                  </a:lnTo>
                  <a:close/>
                </a:path>
              </a:pathLst>
            </a:custGeom>
            <a:solidFill>
              <a:srgbClr val="33597A"/>
            </a:solidFill>
            <a:ln>
              <a:noFill/>
            </a:ln>
          </p:spPr>
        </p:sp>
        <p:sp>
          <p:nvSpPr>
            <p:cNvPr id="43" name="Polygon 43"/>
            <p:cNvSpPr/>
            <p:nvPr/>
          </p:nvSpPr>
          <p:spPr>
            <a:xfrm>
              <a:off x="1515428" y="4197668"/>
              <a:ext cx="80010" cy="88583"/>
            </a:xfrm>
            <a:custGeom>
              <a:avLst/>
              <a:gdLst/>
              <a:ahLst/>
              <a:cxnLst/>
              <a:rect l="l" t="t" r="r" b="b"/>
              <a:pathLst>
                <a:path w="80010" h="88583">
                  <a:moveTo>
                    <a:pt x="0" y="0"/>
                  </a:moveTo>
                  <a:lnTo>
                    <a:pt x="80010" y="0"/>
                  </a:lnTo>
                  <a:lnTo>
                    <a:pt x="40005" y="88583"/>
                  </a:lnTo>
                  <a:close/>
                </a:path>
              </a:pathLst>
            </a:custGeom>
            <a:solidFill>
              <a:srgbClr val="48C78E"/>
            </a:solidFill>
            <a:ln>
              <a:noFill/>
            </a:ln>
          </p:spPr>
        </p:sp>
        <p:sp>
          <p:nvSpPr>
            <p:cNvPr id="44" name="Ellipse 44"/>
            <p:cNvSpPr/>
            <p:nvPr/>
          </p:nvSpPr>
          <p:spPr>
            <a:xfrm>
              <a:off x="1488948" y="4102608"/>
              <a:ext cx="133350" cy="133350"/>
            </a:xfrm>
            <a:prstGeom prst="ellipse">
              <a:avLst/>
            </a:prstGeom>
            <a:solidFill>
              <a:srgbClr val="48C78E"/>
            </a:solidFill>
            <a:ln>
              <a:noFill/>
            </a:ln>
          </p:spPr>
        </p:sp>
        <p:sp>
          <p:nvSpPr>
            <p:cNvPr id="45" name="Ellipse 45"/>
            <p:cNvSpPr/>
            <p:nvPr/>
          </p:nvSpPr>
          <p:spPr>
            <a:xfrm>
              <a:off x="1528953" y="4142613"/>
              <a:ext cx="53340" cy="53340"/>
            </a:xfrm>
            <a:prstGeom prst="ellipse">
              <a:avLst/>
            </a:prstGeom>
            <a:solidFill>
              <a:schemeClr val="lt1"/>
            </a:solidFill>
            <a:ln>
              <a:noFill/>
            </a:ln>
          </p:spPr>
        </p:sp>
        <p:sp>
          <p:nvSpPr>
            <p:cNvPr id="46" name="TextBox 46"/>
            <p:cNvSpPr txBox="1"/>
            <p:nvPr/>
          </p:nvSpPr>
          <p:spPr>
            <a:xfrm>
              <a:off x="1042988" y="3816191"/>
              <a:ext cx="675995"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street view</a:t>
              </a:r>
            </a:p>
          </p:txBody>
        </p:sp>
        <p:sp>
          <p:nvSpPr>
            <p:cNvPr id="47" name="Rectangle 47"/>
            <p:cNvSpPr/>
            <p:nvPr/>
          </p:nvSpPr>
          <p:spPr>
            <a:xfrm>
              <a:off x="2152650" y="3981450"/>
              <a:ext cx="1123950" cy="552450"/>
            </a:xfrm>
            <a:prstGeom prst="roundRect">
              <a:avLst>
                <a:gd name="adj" fmla="val 13793"/>
              </a:avLst>
            </a:prstGeom>
            <a:solidFill>
              <a:schemeClr val="accent6"/>
            </a:solidFill>
            <a:ln w="14288">
              <a:solidFill>
                <a:schemeClr val="accent2"/>
              </a:solidFill>
            </a:ln>
          </p:spPr>
        </p:sp>
        <p:sp>
          <p:nvSpPr>
            <p:cNvPr id="48" name="TextBox 48"/>
            <p:cNvSpPr txBox="1"/>
            <p:nvPr/>
          </p:nvSpPr>
          <p:spPr>
            <a:xfrm>
              <a:off x="2522090" y="4118372"/>
              <a:ext cx="385071"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Vision</a:t>
              </a:r>
            </a:p>
          </p:txBody>
        </p:sp>
        <p:sp>
          <p:nvSpPr>
            <p:cNvPr id="49" name="TextBox 49"/>
            <p:cNvSpPr txBox="1"/>
            <p:nvPr/>
          </p:nvSpPr>
          <p:spPr>
            <a:xfrm>
              <a:off x="2452020" y="4280297"/>
              <a:ext cx="525211"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Encoder</a:t>
              </a:r>
            </a:p>
          </p:txBody>
        </p:sp>
        <p:sp>
          <p:nvSpPr>
            <p:cNvPr id="50" name="Rectangle 50"/>
            <p:cNvSpPr/>
            <p:nvPr/>
          </p:nvSpPr>
          <p:spPr>
            <a:xfrm>
              <a:off x="3600450" y="3981450"/>
              <a:ext cx="1123950" cy="552450"/>
            </a:xfrm>
            <a:prstGeom prst="roundRect">
              <a:avLst>
                <a:gd name="adj" fmla="val 13793"/>
              </a:avLst>
            </a:prstGeom>
            <a:solidFill>
              <a:schemeClr val="accent6"/>
            </a:solidFill>
            <a:ln w="14288">
              <a:solidFill>
                <a:srgbClr val="34D3C0"/>
              </a:solidFill>
            </a:ln>
          </p:spPr>
        </p:sp>
        <p:sp>
          <p:nvSpPr>
            <p:cNvPr id="51" name="TextBox 51"/>
            <p:cNvSpPr txBox="1"/>
            <p:nvPr/>
          </p:nvSpPr>
          <p:spPr>
            <a:xfrm>
              <a:off x="4080448" y="4118372"/>
              <a:ext cx="163955"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VL</a:t>
              </a:r>
            </a:p>
          </p:txBody>
        </p:sp>
        <p:sp>
          <p:nvSpPr>
            <p:cNvPr id="52" name="TextBox 52"/>
            <p:cNvSpPr txBox="1"/>
            <p:nvPr/>
          </p:nvSpPr>
          <p:spPr>
            <a:xfrm>
              <a:off x="3899820" y="4280297"/>
              <a:ext cx="525211"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Adapter</a:t>
              </a:r>
            </a:p>
          </p:txBody>
        </p:sp>
        <p:sp>
          <p:nvSpPr>
            <p:cNvPr id="53" name="Rectangle 53"/>
            <p:cNvSpPr/>
            <p:nvPr/>
          </p:nvSpPr>
          <p:spPr>
            <a:xfrm>
              <a:off x="5048250" y="3981450"/>
              <a:ext cx="1123950" cy="552450"/>
            </a:xfrm>
            <a:prstGeom prst="roundRect">
              <a:avLst>
                <a:gd name="adj" fmla="val 13793"/>
              </a:avLst>
            </a:prstGeom>
            <a:solidFill>
              <a:schemeClr val="accent6"/>
            </a:solidFill>
            <a:ln w="14288">
              <a:solidFill>
                <a:schemeClr val="accent2"/>
              </a:solidFill>
            </a:ln>
          </p:spPr>
        </p:sp>
        <p:sp>
          <p:nvSpPr>
            <p:cNvPr id="54" name="TextBox 54"/>
            <p:cNvSpPr txBox="1"/>
            <p:nvPr/>
          </p:nvSpPr>
          <p:spPr>
            <a:xfrm>
              <a:off x="5217959" y="4118372"/>
              <a:ext cx="784533"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Pre-trained</a:t>
              </a:r>
            </a:p>
          </p:txBody>
        </p:sp>
        <p:sp>
          <p:nvSpPr>
            <p:cNvPr id="55" name="TextBox 55"/>
            <p:cNvSpPr txBox="1"/>
            <p:nvPr/>
          </p:nvSpPr>
          <p:spPr>
            <a:xfrm>
              <a:off x="5475601" y="4280297"/>
              <a:ext cx="269248"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LLM</a:t>
              </a:r>
            </a:p>
          </p:txBody>
        </p:sp>
        <p:sp>
          <p:nvSpPr>
            <p:cNvPr id="56" name="Line 56"/>
            <p:cNvSpPr/>
            <p:nvPr/>
          </p:nvSpPr>
          <p:spPr>
            <a:xfrm>
              <a:off x="1885950" y="4257675"/>
              <a:ext cx="228600" cy="9525"/>
            </a:xfrm>
            <a:custGeom>
              <a:avLst/>
              <a:gdLst/>
              <a:ahLst/>
              <a:cxnLst/>
              <a:rect l="l" t="t" r="r" b="b"/>
              <a:pathLst>
                <a:path w="228600" h="9525">
                  <a:moveTo>
                    <a:pt x="0" y="0"/>
                  </a:moveTo>
                  <a:lnTo>
                    <a:pt x="228600" y="0"/>
                  </a:lnTo>
                </a:path>
              </a:pathLst>
            </a:custGeom>
            <a:noFill/>
            <a:ln w="19050" cap="rnd">
              <a:solidFill>
                <a:schemeClr val="dk2"/>
              </a:solidFill>
            </a:ln>
          </p:spPr>
        </p:sp>
        <p:sp>
          <p:nvSpPr>
            <p:cNvPr id="57" name="Polyline 57"/>
            <p:cNvSpPr/>
            <p:nvPr/>
          </p:nvSpPr>
          <p:spPr>
            <a:xfrm>
              <a:off x="2028825" y="4216718"/>
              <a:ext cx="85725" cy="81915"/>
            </a:xfrm>
            <a:custGeom>
              <a:avLst/>
              <a:gdLst/>
              <a:ahLst/>
              <a:cxnLst/>
              <a:rect l="l" t="t" r="r" b="b"/>
              <a:pathLst>
                <a:path w="85725" h="81915">
                  <a:moveTo>
                    <a:pt x="0" y="81915"/>
                  </a:moveTo>
                  <a:lnTo>
                    <a:pt x="85725" y="40958"/>
                  </a:lnTo>
                  <a:lnTo>
                    <a:pt x="0" y="0"/>
                  </a:lnTo>
                </a:path>
              </a:pathLst>
            </a:custGeom>
            <a:noFill/>
            <a:ln w="19050" cap="rnd">
              <a:solidFill>
                <a:schemeClr val="dk2"/>
              </a:solidFill>
              <a:round/>
            </a:ln>
          </p:spPr>
        </p:sp>
        <p:sp>
          <p:nvSpPr>
            <p:cNvPr id="58" name="Line 58"/>
            <p:cNvSpPr/>
            <p:nvPr/>
          </p:nvSpPr>
          <p:spPr>
            <a:xfrm>
              <a:off x="3295650" y="4257675"/>
              <a:ext cx="266700" cy="9525"/>
            </a:xfrm>
            <a:custGeom>
              <a:avLst/>
              <a:gdLst/>
              <a:ahLst/>
              <a:cxnLst/>
              <a:rect l="l" t="t" r="r" b="b"/>
              <a:pathLst>
                <a:path w="266700" h="9525">
                  <a:moveTo>
                    <a:pt x="0" y="0"/>
                  </a:moveTo>
                  <a:lnTo>
                    <a:pt x="266700" y="0"/>
                  </a:lnTo>
                </a:path>
              </a:pathLst>
            </a:custGeom>
            <a:noFill/>
            <a:ln w="19050" cap="rnd">
              <a:solidFill>
                <a:schemeClr val="dk2"/>
              </a:solidFill>
            </a:ln>
          </p:spPr>
        </p:sp>
        <p:sp>
          <p:nvSpPr>
            <p:cNvPr id="59" name="Polyline 59"/>
            <p:cNvSpPr/>
            <p:nvPr/>
          </p:nvSpPr>
          <p:spPr>
            <a:xfrm>
              <a:off x="3476625" y="4216718"/>
              <a:ext cx="85725" cy="81915"/>
            </a:xfrm>
            <a:custGeom>
              <a:avLst/>
              <a:gdLst/>
              <a:ahLst/>
              <a:cxnLst/>
              <a:rect l="l" t="t" r="r" b="b"/>
              <a:pathLst>
                <a:path w="85725" h="81915">
                  <a:moveTo>
                    <a:pt x="0" y="81915"/>
                  </a:moveTo>
                  <a:lnTo>
                    <a:pt x="85725" y="40958"/>
                  </a:lnTo>
                  <a:lnTo>
                    <a:pt x="0" y="0"/>
                  </a:lnTo>
                </a:path>
              </a:pathLst>
            </a:custGeom>
            <a:noFill/>
            <a:ln w="19050" cap="rnd">
              <a:solidFill>
                <a:schemeClr val="dk2"/>
              </a:solidFill>
              <a:round/>
            </a:ln>
          </p:spPr>
        </p:sp>
        <p:sp>
          <p:nvSpPr>
            <p:cNvPr id="60" name="Line 60"/>
            <p:cNvSpPr/>
            <p:nvPr/>
          </p:nvSpPr>
          <p:spPr>
            <a:xfrm>
              <a:off x="4743450" y="4257675"/>
              <a:ext cx="266700" cy="9525"/>
            </a:xfrm>
            <a:custGeom>
              <a:avLst/>
              <a:gdLst/>
              <a:ahLst/>
              <a:cxnLst/>
              <a:rect l="l" t="t" r="r" b="b"/>
              <a:pathLst>
                <a:path w="266700" h="9525">
                  <a:moveTo>
                    <a:pt x="0" y="0"/>
                  </a:moveTo>
                  <a:lnTo>
                    <a:pt x="266700" y="0"/>
                  </a:lnTo>
                </a:path>
              </a:pathLst>
            </a:custGeom>
            <a:noFill/>
            <a:ln w="19050" cap="rnd">
              <a:solidFill>
                <a:schemeClr val="dk2"/>
              </a:solidFill>
            </a:ln>
          </p:spPr>
        </p:sp>
        <p:sp>
          <p:nvSpPr>
            <p:cNvPr id="61" name="Polyline 61"/>
            <p:cNvSpPr/>
            <p:nvPr/>
          </p:nvSpPr>
          <p:spPr>
            <a:xfrm>
              <a:off x="4924425" y="4216718"/>
              <a:ext cx="85725" cy="81915"/>
            </a:xfrm>
            <a:custGeom>
              <a:avLst/>
              <a:gdLst/>
              <a:ahLst/>
              <a:cxnLst/>
              <a:rect l="l" t="t" r="r" b="b"/>
              <a:pathLst>
                <a:path w="85725" h="81915">
                  <a:moveTo>
                    <a:pt x="0" y="81915"/>
                  </a:moveTo>
                  <a:lnTo>
                    <a:pt x="85725" y="40958"/>
                  </a:lnTo>
                  <a:lnTo>
                    <a:pt x="0" y="0"/>
                  </a:lnTo>
                </a:path>
              </a:pathLst>
            </a:custGeom>
            <a:noFill/>
            <a:ln w="19050" cap="rnd">
              <a:solidFill>
                <a:schemeClr val="dk2"/>
              </a:solidFill>
              <a:round/>
            </a:ln>
          </p:spPr>
        </p:sp>
        <p:sp>
          <p:nvSpPr>
            <p:cNvPr id="62" name="Line 62"/>
            <p:cNvSpPr/>
            <p:nvPr/>
          </p:nvSpPr>
          <p:spPr>
            <a:xfrm>
              <a:off x="6191250" y="4257675"/>
              <a:ext cx="228600" cy="9525"/>
            </a:xfrm>
            <a:custGeom>
              <a:avLst/>
              <a:gdLst/>
              <a:ahLst/>
              <a:cxnLst/>
              <a:rect l="l" t="t" r="r" b="b"/>
              <a:pathLst>
                <a:path w="228600" h="9525">
                  <a:moveTo>
                    <a:pt x="0" y="0"/>
                  </a:moveTo>
                  <a:lnTo>
                    <a:pt x="228600" y="0"/>
                  </a:lnTo>
                </a:path>
              </a:pathLst>
            </a:custGeom>
            <a:noFill/>
            <a:ln w="19050" cap="rnd">
              <a:solidFill>
                <a:srgbClr val="48C78E"/>
              </a:solidFill>
            </a:ln>
          </p:spPr>
        </p:sp>
        <p:sp>
          <p:nvSpPr>
            <p:cNvPr id="63" name="Polyline 63"/>
            <p:cNvSpPr/>
            <p:nvPr/>
          </p:nvSpPr>
          <p:spPr>
            <a:xfrm>
              <a:off x="6334125" y="4216718"/>
              <a:ext cx="85725" cy="81915"/>
            </a:xfrm>
            <a:custGeom>
              <a:avLst/>
              <a:gdLst/>
              <a:ahLst/>
              <a:cxnLst/>
              <a:rect l="l" t="t" r="r" b="b"/>
              <a:pathLst>
                <a:path w="85725" h="81915">
                  <a:moveTo>
                    <a:pt x="0" y="81915"/>
                  </a:moveTo>
                  <a:lnTo>
                    <a:pt x="85725" y="40958"/>
                  </a:lnTo>
                  <a:lnTo>
                    <a:pt x="0" y="0"/>
                  </a:lnTo>
                </a:path>
              </a:pathLst>
            </a:custGeom>
            <a:noFill/>
            <a:ln w="19050" cap="rnd">
              <a:solidFill>
                <a:srgbClr val="48C78E"/>
              </a:solidFill>
              <a:round/>
            </a:ln>
          </p:spPr>
        </p:sp>
        <p:sp>
          <p:nvSpPr>
            <p:cNvPr id="64" name="TextBox 64"/>
            <p:cNvSpPr txBox="1"/>
            <p:nvPr/>
          </p:nvSpPr>
          <p:spPr>
            <a:xfrm>
              <a:off x="6453188" y="4204097"/>
              <a:ext cx="1045911" cy="183356"/>
            </a:xfrm>
            <a:prstGeom prst="rect">
              <a:avLst/>
            </a:prstGeom>
            <a:noFill/>
            <a:ln>
              <a:noFill/>
            </a:ln>
          </p:spPr>
          <p:txBody>
            <a:bodyPr wrap="none" lIns="0" tIns="0" rIns="0" bIns="0" anchor="t" anchorCtr="0">
              <a:spAutoFit/>
            </a:bodyPr>
            <a:lstStyle/>
            <a:p>
              <a:pPr algn="l"/>
              <a:r>
                <a:rPr lang="en-US" sz="940" b="1" dirty="0">
                  <a:solidFill>
                    <a:srgbClr val="48C78E"/>
                  </a:solidFill>
                  <a:latin typeface="+mn-lt"/>
                  <a:ea typeface="+mn-ea"/>
                  <a:cs typeface="+mn-cs"/>
                </a:rPr>
                <a:t>reasoning + city</a:t>
              </a:r>
            </a:p>
          </p:txBody>
        </p:sp>
        <p:sp>
          <p:nvSpPr>
            <p:cNvPr id="65" name="Rectangle 65"/>
            <p:cNvSpPr/>
            <p:nvPr/>
          </p:nvSpPr>
          <p:spPr>
            <a:xfrm>
              <a:off x="2152650" y="4705350"/>
              <a:ext cx="2381250" cy="419100"/>
            </a:xfrm>
            <a:prstGeom prst="roundRect">
              <a:avLst>
                <a:gd name="adj" fmla="val 18182"/>
              </a:avLst>
            </a:prstGeom>
            <a:solidFill>
              <a:srgbClr val="2A2417"/>
            </a:solidFill>
            <a:ln w="11430">
              <a:solidFill>
                <a:srgbClr val="F2C14E"/>
              </a:solidFill>
            </a:ln>
          </p:spPr>
        </p:sp>
        <p:sp>
          <p:nvSpPr>
            <p:cNvPr id="66" name="TextBox 66"/>
            <p:cNvSpPr txBox="1"/>
            <p:nvPr/>
          </p:nvSpPr>
          <p:spPr>
            <a:xfrm>
              <a:off x="2281238" y="4783693"/>
              <a:ext cx="1854456" cy="169069"/>
            </a:xfrm>
            <a:prstGeom prst="rect">
              <a:avLst/>
            </a:prstGeom>
            <a:noFill/>
            <a:ln>
              <a:noFill/>
            </a:ln>
          </p:spPr>
          <p:txBody>
            <a:bodyPr wrap="none" lIns="0" tIns="0" rIns="0" bIns="0" anchor="t" anchorCtr="0">
              <a:spAutoFit/>
            </a:bodyPr>
            <a:lstStyle/>
            <a:p>
              <a:pPr algn="l"/>
              <a:r>
                <a:rPr lang="en-US" sz="860" b="1" dirty="0">
                  <a:solidFill>
                    <a:srgbClr val="F2C14E"/>
                  </a:solidFill>
                  <a:latin typeface="+mn-lt"/>
                  <a:ea typeface="+mn-ea"/>
                  <a:cs typeface="+mn-cs"/>
                </a:rPr>
                <a:t>Stage 1 LoRA: Reasoning tuning</a:t>
              </a:r>
            </a:p>
          </p:txBody>
        </p:sp>
        <p:sp>
          <p:nvSpPr>
            <p:cNvPr id="67" name="TextBox 67"/>
            <p:cNvSpPr txBox="1"/>
            <p:nvPr/>
          </p:nvSpPr>
          <p:spPr>
            <a:xfrm>
              <a:off x="2281238" y="4953714"/>
              <a:ext cx="1621868"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3K game clue pairs -&gt; country</a:t>
              </a:r>
            </a:p>
          </p:txBody>
        </p:sp>
        <p:sp>
          <p:nvSpPr>
            <p:cNvPr id="68" name="Rectangle 68"/>
            <p:cNvSpPr/>
            <p:nvPr/>
          </p:nvSpPr>
          <p:spPr>
            <a:xfrm>
              <a:off x="4686300" y="4705350"/>
              <a:ext cx="2381250" cy="419100"/>
            </a:xfrm>
            <a:prstGeom prst="roundRect">
              <a:avLst>
                <a:gd name="adj" fmla="val 18182"/>
              </a:avLst>
            </a:prstGeom>
            <a:solidFill>
              <a:srgbClr val="0F2E2B"/>
            </a:solidFill>
            <a:ln w="11430">
              <a:solidFill>
                <a:srgbClr val="48C78E"/>
              </a:solidFill>
            </a:ln>
          </p:spPr>
        </p:sp>
        <p:sp>
          <p:nvSpPr>
            <p:cNvPr id="69" name="TextBox 69"/>
            <p:cNvSpPr txBox="1"/>
            <p:nvPr/>
          </p:nvSpPr>
          <p:spPr>
            <a:xfrm>
              <a:off x="4814888" y="4783693"/>
              <a:ext cx="1787709" cy="169069"/>
            </a:xfrm>
            <a:prstGeom prst="rect">
              <a:avLst/>
            </a:prstGeom>
            <a:noFill/>
            <a:ln>
              <a:noFill/>
            </a:ln>
          </p:spPr>
          <p:txBody>
            <a:bodyPr wrap="none" lIns="0" tIns="0" rIns="0" bIns="0" anchor="t" anchorCtr="0">
              <a:spAutoFit/>
            </a:bodyPr>
            <a:lstStyle/>
            <a:p>
              <a:pPr algn="l"/>
              <a:r>
                <a:rPr lang="en-US" sz="860" b="1" dirty="0">
                  <a:solidFill>
                    <a:srgbClr val="48C78E"/>
                  </a:solidFill>
                  <a:latin typeface="+mn-lt"/>
                  <a:ea typeface="+mn-ea"/>
                  <a:cs typeface="+mn-cs"/>
                </a:rPr>
                <a:t>Stage 2 LoRA: Location tuning</a:t>
              </a:r>
            </a:p>
          </p:txBody>
        </p:sp>
        <p:sp>
          <p:nvSpPr>
            <p:cNvPr id="70" name="TextBox 70"/>
            <p:cNvSpPr txBox="1"/>
            <p:nvPr/>
          </p:nvSpPr>
          <p:spPr>
            <a:xfrm>
              <a:off x="4814888" y="4953714"/>
              <a:ext cx="1343067"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70K street views -&gt; city</a:t>
              </a:r>
            </a:p>
          </p:txBody>
        </p:sp>
      </p:grpSp>
      <p:grpSp>
        <p:nvGrpSpPr>
          <p:cNvPr id="84" name="Group 84"/>
          <p:cNvGrpSpPr/>
          <p:nvPr/>
        </p:nvGrpSpPr>
        <p:grpSpPr>
          <a:xfrm>
            <a:off x="7810500" y="3276600"/>
            <a:ext cx="3771900" cy="1962150"/>
            <a:chOff x="7810500" y="3276600"/>
            <a:chExt cx="3771900" cy="1962150"/>
          </a:xfrm>
        </p:grpSpPr>
        <p:sp>
          <p:nvSpPr>
            <p:cNvPr id="72" name="Rectangle 72"/>
            <p:cNvSpPr/>
            <p:nvPr/>
          </p:nvSpPr>
          <p:spPr>
            <a:xfrm>
              <a:off x="7810500" y="3276600"/>
              <a:ext cx="3771900" cy="1962150"/>
            </a:xfrm>
            <a:prstGeom prst="roundRect">
              <a:avLst>
                <a:gd name="adj" fmla="val 6796"/>
              </a:avLst>
            </a:prstGeom>
            <a:solidFill>
              <a:srgbClr val="0F2E2B"/>
            </a:solidFill>
            <a:ln w="14288">
              <a:solidFill>
                <a:srgbClr val="34D3C0"/>
              </a:solidFill>
            </a:ln>
          </p:spPr>
        </p:sp>
        <p:sp>
          <p:nvSpPr>
            <p:cNvPr id="73" name="Rectangle 73"/>
            <p:cNvSpPr/>
            <p:nvPr/>
          </p:nvSpPr>
          <p:spPr>
            <a:xfrm>
              <a:off x="7810500" y="3276600"/>
              <a:ext cx="57150" cy="1962150"/>
            </a:xfrm>
            <a:prstGeom prst="roundRect">
              <a:avLst>
                <a:gd name="adj" fmla="val 50000"/>
              </a:avLst>
            </a:prstGeom>
            <a:solidFill>
              <a:srgbClr val="34D3C0"/>
            </a:solidFill>
            <a:ln>
              <a:noFill/>
            </a:ln>
          </p:spPr>
        </p:sp>
        <p:sp>
          <p:nvSpPr>
            <p:cNvPr id="74" name="TextBox 74"/>
            <p:cNvSpPr txBox="1"/>
            <p:nvPr/>
          </p:nvSpPr>
          <p:spPr>
            <a:xfrm>
              <a:off x="8070914" y="3466862"/>
              <a:ext cx="2384612"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Locatability = weighted sum</a:t>
              </a:r>
            </a:p>
          </p:txBody>
        </p:sp>
        <p:sp>
          <p:nvSpPr>
            <p:cNvPr id="75" name="Rectangle 75"/>
            <p:cNvSpPr/>
            <p:nvPr/>
          </p:nvSpPr>
          <p:spPr>
            <a:xfrm>
              <a:off x="8077200" y="3790950"/>
              <a:ext cx="3505200" cy="361950"/>
            </a:xfrm>
            <a:prstGeom prst="roundRect">
              <a:avLst>
                <a:gd name="adj" fmla="val 21053"/>
              </a:avLst>
            </a:prstGeom>
            <a:solidFill>
              <a:schemeClr val="accent6"/>
            </a:solidFill>
            <a:ln w="14288">
              <a:solidFill>
                <a:srgbClr val="26455F"/>
              </a:solidFill>
            </a:ln>
          </p:spPr>
        </p:sp>
        <p:sp>
          <p:nvSpPr>
            <p:cNvPr id="76" name="TextBox 76"/>
            <p:cNvSpPr txBox="1"/>
            <p:nvPr/>
          </p:nvSpPr>
          <p:spPr>
            <a:xfrm>
              <a:off x="8789407" y="3923824"/>
              <a:ext cx="2080786"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loc = sum_k I_seg(k) * w_k^loc</a:t>
              </a:r>
            </a:p>
          </p:txBody>
        </p:sp>
        <p:sp>
          <p:nvSpPr>
            <p:cNvPr id="77" name="TextBox 77"/>
            <p:cNvSpPr txBox="1"/>
            <p:nvPr/>
          </p:nvSpPr>
          <p:spPr>
            <a:xfrm>
              <a:off x="8072247" y="4295299"/>
              <a:ext cx="279835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Keep images scoring above 0.4; this filters</a:t>
              </a:r>
            </a:p>
          </p:txBody>
        </p:sp>
        <p:sp>
          <p:nvSpPr>
            <p:cNvPr id="78" name="TextBox 78"/>
            <p:cNvSpPr txBox="1"/>
            <p:nvPr/>
          </p:nvSpPr>
          <p:spPr>
            <a:xfrm>
              <a:off x="8072247" y="4476274"/>
              <a:ext cx="146938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130K raw down to 70K.</a:t>
              </a:r>
            </a:p>
          </p:txBody>
        </p:sp>
        <p:sp>
          <p:nvSpPr>
            <p:cNvPr id="79" name="Rectangle 79"/>
            <p:cNvSpPr/>
            <p:nvPr/>
          </p:nvSpPr>
          <p:spPr>
            <a:xfrm>
              <a:off x="8077200" y="4914900"/>
              <a:ext cx="2857500" cy="171450"/>
            </a:xfrm>
            <a:prstGeom prst="roundRect">
              <a:avLst>
                <a:gd name="adj" fmla="val 33333"/>
              </a:avLst>
            </a:prstGeom>
            <a:solidFill>
              <a:srgbClr val="0E2334"/>
            </a:solidFill>
            <a:ln w="9525">
              <a:solidFill>
                <a:srgbClr val="26455F"/>
              </a:solidFill>
            </a:ln>
          </p:spPr>
        </p:sp>
        <p:sp>
          <p:nvSpPr>
            <p:cNvPr id="80" name="Rectangle 80"/>
            <p:cNvSpPr/>
            <p:nvPr/>
          </p:nvSpPr>
          <p:spPr>
            <a:xfrm>
              <a:off x="8077200" y="4914900"/>
              <a:ext cx="1771650" cy="171450"/>
            </a:xfrm>
            <a:prstGeom prst="roundRect">
              <a:avLst>
                <a:gd name="adj" fmla="val 33333"/>
              </a:avLst>
            </a:prstGeom>
            <a:solidFill>
              <a:srgbClr val="48C78E"/>
            </a:solidFill>
            <a:ln>
              <a:noFill/>
            </a:ln>
          </p:spPr>
        </p:sp>
        <p:sp>
          <p:nvSpPr>
            <p:cNvPr id="81" name="Line 81"/>
            <p:cNvSpPr/>
            <p:nvPr/>
          </p:nvSpPr>
          <p:spPr>
            <a:xfrm>
              <a:off x="9220200" y="4857750"/>
              <a:ext cx="9525" cy="285750"/>
            </a:xfrm>
            <a:custGeom>
              <a:avLst/>
              <a:gdLst/>
              <a:ahLst/>
              <a:cxnLst/>
              <a:rect l="l" t="t" r="r" b="b"/>
              <a:pathLst>
                <a:path w="9525" h="285750">
                  <a:moveTo>
                    <a:pt x="0" y="0"/>
                  </a:moveTo>
                  <a:lnTo>
                    <a:pt x="0" y="285750"/>
                  </a:lnTo>
                </a:path>
              </a:pathLst>
            </a:custGeom>
            <a:noFill/>
            <a:ln w="15240" cap="rnd">
              <a:solidFill>
                <a:srgbClr val="F2C14E"/>
              </a:solidFill>
              <a:custDash>
                <a:ds d="250000" sp="187500"/>
              </a:custDash>
            </a:ln>
          </p:spPr>
        </p:sp>
        <p:sp>
          <p:nvSpPr>
            <p:cNvPr id="82" name="TextBox 82"/>
            <p:cNvSpPr txBox="1"/>
            <p:nvPr/>
          </p:nvSpPr>
          <p:spPr>
            <a:xfrm>
              <a:off x="8830044" y="4730591"/>
              <a:ext cx="780312" cy="161925"/>
            </a:xfrm>
            <a:prstGeom prst="rect">
              <a:avLst/>
            </a:prstGeom>
            <a:noFill/>
            <a:ln>
              <a:noFill/>
            </a:ln>
          </p:spPr>
          <p:txBody>
            <a:bodyPr wrap="none" lIns="0" tIns="0" rIns="0" bIns="0" anchor="t" anchorCtr="0">
              <a:spAutoFit/>
            </a:bodyPr>
            <a:lstStyle/>
            <a:p>
              <a:pPr algn="ctr"/>
              <a:r>
                <a:rPr lang="en-US" sz="820" b="1" dirty="0">
                  <a:solidFill>
                    <a:srgbClr val="F2C14E"/>
                  </a:solidFill>
                  <a:latin typeface="+mn-lt"/>
                  <a:ea typeface="+mn-ea"/>
                  <a:cs typeface="+mn-cs"/>
                </a:rPr>
                <a:t>threshold 0.4</a:t>
              </a:r>
            </a:p>
          </p:txBody>
        </p:sp>
        <p:sp>
          <p:nvSpPr>
            <p:cNvPr id="83" name="TextBox 83"/>
            <p:cNvSpPr txBox="1"/>
            <p:nvPr/>
          </p:nvSpPr>
          <p:spPr>
            <a:xfrm>
              <a:off x="11005947" y="4948714"/>
              <a:ext cx="314659" cy="190690"/>
            </a:xfrm>
            <a:prstGeom prst="rect">
              <a:avLst/>
            </a:prstGeom>
            <a:noFill/>
            <a:ln>
              <a:noFill/>
            </a:ln>
          </p:spPr>
          <p:txBody>
            <a:bodyPr wrap="none" lIns="0" tIns="0" rIns="0" bIns="0" anchor="t" anchorCtr="0">
              <a:spAutoFit/>
            </a:bodyPr>
            <a:lstStyle/>
            <a:p>
              <a:pPr algn="l"/>
              <a:r>
                <a:rPr lang="en-US" sz="980" b="1" dirty="0">
                  <a:solidFill>
                    <a:srgbClr val="48C78E"/>
                  </a:solidFill>
                  <a:latin typeface="+mn-lt"/>
                  <a:ea typeface="+mn-ea"/>
                  <a:cs typeface="+mn-cs"/>
                </a:rPr>
                <a:t>0.62</a:t>
              </a:r>
            </a:p>
          </p:txBody>
        </p:sp>
      </p:grpSp>
      <p:sp>
        <p:nvSpPr>
          <p:cNvPr id="85" name="cue_s05_c1_method_two_halves_first_curation" title="cue_s05_c1_method_two_halves_first_curation" descr="cue_s05_c1_method_two_halves_first_curation The method has two halves. First, data curation. GeoReasoner introduces a locatability metric: MaskFormer segments each street view into semantic classes like buildings, sky, and vehicles, producing a vector of area ratios."/>
          <p:cNvSpPr/>
          <p:nvPr/>
        </p:nvSpPr>
        <p:spPr>
          <a:xfrm>
            <a:off x="609600" y="1504645"/>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ue_s05_c2_sentence_bert_measures_how_relevant" title="cue_s05_c2_sentence_bert_measures_how_relevant" descr="cue_s05_c2_sentence_bert_measures_how_relevant Sentence-BERT then measures how relevant each class is to the textual clues mined from geo-games, producing a weight vector."/>
          <p:cNvSpPr/>
          <p:nvPr/>
        </p:nvSpPr>
        <p:spPr>
          <a:xfrm>
            <a:off x="6248399" y="1504645"/>
            <a:ext cx="53340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ue_s05_c3_locatability_image_simply_weighted_s" title="cue_s05_c3_locatability_image_simply_weighted_s" descr="cue_s05_c3_locatability_image_simply_weighted_s The locatability of an image is simply the weighted sum of its class ratios against these importance weights, and images scoring above a threshold of zero point four are kept. This filters over one hundred thirty thousand raw images down to seventy thousand hi"/>
          <p:cNvSpPr/>
          <p:nvPr/>
        </p:nvSpPr>
        <p:spPr>
          <a:xfrm>
            <a:off x="7810195" y="3276752"/>
            <a:ext cx="3772204" cy="19620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ue_s05_c4_built_qwen_vl_vision_encoder_vision" title="cue_s05_c4_built_qwen_vl_vision_encoder_vision" descr="cue_s05_c4_built_qwen_vl_vision_encoder_vision Built on Qwen-VL with a vision encoder, a vision-language adapter, and a pre-trained language model, GeoReasoner is fine-tuned in two stages using lightweight LoRA adapters: a reasoning-tuning stage that learns country-level explanations from game clues, follo"/>
          <p:cNvSpPr/>
          <p:nvPr/>
        </p:nvSpPr>
        <p:spPr>
          <a:xfrm>
            <a:off x="609600" y="3276752"/>
            <a:ext cx="6972604" cy="19620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763001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Built from scratch: 130K street views + 3K clues</a:t>
            </a:r>
          </a:p>
        </p:txBody>
      </p:sp>
      <p:grpSp>
        <p:nvGrpSpPr>
          <p:cNvPr id="16" name="Group 16"/>
          <p:cNvGrpSpPr/>
          <p:nvPr/>
        </p:nvGrpSpPr>
        <p:grpSpPr>
          <a:xfrm>
            <a:off x="609600" y="1504950"/>
            <a:ext cx="10972800" cy="914400"/>
            <a:chOff x="609600" y="1504950"/>
            <a:chExt cx="10972800" cy="914400"/>
          </a:xfrm>
        </p:grpSpPr>
        <p:sp>
          <p:nvSpPr>
            <p:cNvPr id="5" name="Rectangle 5"/>
            <p:cNvSpPr/>
            <p:nvPr/>
          </p:nvSpPr>
          <p:spPr>
            <a:xfrm>
              <a:off x="609600" y="150495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504950"/>
              <a:ext cx="57150" cy="914400"/>
            </a:xfrm>
            <a:prstGeom prst="roundRect">
              <a:avLst>
                <a:gd name="adj" fmla="val 50000"/>
              </a:avLst>
            </a:prstGeom>
            <a:solidFill>
              <a:schemeClr val="accent2"/>
            </a:solidFill>
            <a:ln>
              <a:noFill/>
            </a:ln>
          </p:spPr>
        </p:sp>
        <p:sp>
          <p:nvSpPr>
            <p:cNvPr id="7" name="TextBox 7"/>
            <p:cNvSpPr txBox="1"/>
            <p:nvPr/>
          </p:nvSpPr>
          <p:spPr>
            <a:xfrm>
              <a:off x="870014" y="1714262"/>
              <a:ext cx="4367055"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Sampled from OpenStreetMap + Google Street View</a:t>
              </a:r>
            </a:p>
          </p:txBody>
        </p:sp>
        <p:sp>
          <p:nvSpPr>
            <p:cNvPr id="8" name="TextBox 8"/>
            <p:cNvSpPr txBox="1"/>
            <p:nvPr/>
          </p:nvSpPr>
          <p:spPr>
            <a:xfrm>
              <a:off x="870966" y="2020252"/>
              <a:ext cx="51537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Sample points every 4000 m across top global cities, collecting geo-tagged</a:t>
              </a:r>
            </a:p>
          </p:txBody>
        </p:sp>
        <p:sp>
          <p:nvSpPr>
            <p:cNvPr id="9" name="TextBox 9"/>
            <p:cNvSpPr txBox="1"/>
            <p:nvPr/>
          </p:nvSpPr>
          <p:spPr>
            <a:xfrm>
              <a:off x="870966" y="221075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street views.</a:t>
              </a:r>
            </a:p>
          </p:txBody>
        </p:sp>
        <p:sp>
          <p:nvSpPr>
            <p:cNvPr id="10" name="Rectangle 10"/>
            <p:cNvSpPr/>
            <p:nvPr/>
          </p:nvSpPr>
          <p:spPr>
            <a:xfrm>
              <a:off x="9334500" y="1600200"/>
              <a:ext cx="1047750" cy="723900"/>
            </a:xfrm>
            <a:prstGeom prst="roundRect">
              <a:avLst>
                <a:gd name="adj" fmla="val 15789"/>
              </a:avLst>
            </a:prstGeom>
            <a:solidFill>
              <a:schemeClr val="accent6"/>
            </a:solidFill>
            <a:ln w="14288">
              <a:solidFill>
                <a:srgbClr val="26455F"/>
              </a:solidFill>
            </a:ln>
          </p:spPr>
        </p:sp>
        <p:sp>
          <p:nvSpPr>
            <p:cNvPr id="11" name="TextBox 11"/>
            <p:cNvSpPr txBox="1"/>
            <p:nvPr/>
          </p:nvSpPr>
          <p:spPr>
            <a:xfrm>
              <a:off x="9697708" y="1767421"/>
              <a:ext cx="321333" cy="379034"/>
            </a:xfrm>
            <a:prstGeom prst="rect">
              <a:avLst/>
            </a:prstGeom>
            <a:noFill/>
            <a:ln>
              <a:noFill/>
            </a:ln>
          </p:spPr>
          <p:txBody>
            <a:bodyPr wrap="none" lIns="0" tIns="0" rIns="0" bIns="0" anchor="t" anchorCtr="0">
              <a:spAutoFit/>
            </a:bodyPr>
            <a:lstStyle/>
            <a:p>
              <a:pPr algn="ctr"/>
              <a:r>
                <a:rPr lang="en-US" sz="1940" b="1" dirty="0">
                  <a:solidFill>
                    <a:schemeClr val="accent2"/>
                  </a:solidFill>
                  <a:latin typeface="+mn-lt"/>
                  <a:ea typeface="+mn-ea"/>
                  <a:cs typeface="+mn-cs"/>
                </a:rPr>
                <a:t>72</a:t>
              </a:r>
            </a:p>
          </p:txBody>
        </p:sp>
        <p:sp>
          <p:nvSpPr>
            <p:cNvPr id="12" name="TextBox 12"/>
            <p:cNvSpPr txBox="1"/>
            <p:nvPr/>
          </p:nvSpPr>
          <p:spPr>
            <a:xfrm>
              <a:off x="9667595" y="2078117"/>
              <a:ext cx="38156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cities</a:t>
              </a:r>
            </a:p>
          </p:txBody>
        </p:sp>
        <p:sp>
          <p:nvSpPr>
            <p:cNvPr id="13" name="Rectangle 13"/>
            <p:cNvSpPr/>
            <p:nvPr/>
          </p:nvSpPr>
          <p:spPr>
            <a:xfrm>
              <a:off x="10477500" y="1600200"/>
              <a:ext cx="1047750" cy="723900"/>
            </a:xfrm>
            <a:prstGeom prst="roundRect">
              <a:avLst>
                <a:gd name="adj" fmla="val 15789"/>
              </a:avLst>
            </a:prstGeom>
            <a:solidFill>
              <a:schemeClr val="accent6"/>
            </a:solidFill>
            <a:ln w="14288">
              <a:solidFill>
                <a:srgbClr val="26455F"/>
              </a:solidFill>
            </a:ln>
          </p:spPr>
        </p:sp>
        <p:sp>
          <p:nvSpPr>
            <p:cNvPr id="14" name="TextBox 14"/>
            <p:cNvSpPr txBox="1"/>
            <p:nvPr/>
          </p:nvSpPr>
          <p:spPr>
            <a:xfrm>
              <a:off x="10840708" y="1767421"/>
              <a:ext cx="321333" cy="379034"/>
            </a:xfrm>
            <a:prstGeom prst="rect">
              <a:avLst/>
            </a:prstGeom>
            <a:noFill/>
            <a:ln>
              <a:noFill/>
            </a:ln>
          </p:spPr>
          <p:txBody>
            <a:bodyPr wrap="none" lIns="0" tIns="0" rIns="0" bIns="0" anchor="t" anchorCtr="0">
              <a:spAutoFit/>
            </a:bodyPr>
            <a:lstStyle/>
            <a:p>
              <a:pPr algn="ctr"/>
              <a:r>
                <a:rPr lang="en-US" sz="1940" b="1" dirty="0">
                  <a:solidFill>
                    <a:srgbClr val="34D3C0"/>
                  </a:solidFill>
                  <a:latin typeface="+mn-lt"/>
                  <a:ea typeface="+mn-ea"/>
                  <a:cs typeface="+mn-cs"/>
                </a:rPr>
                <a:t>48</a:t>
              </a:r>
            </a:p>
          </p:txBody>
        </p:sp>
        <p:sp>
          <p:nvSpPr>
            <p:cNvPr id="15" name="TextBox 15"/>
            <p:cNvSpPr txBox="1"/>
            <p:nvPr/>
          </p:nvSpPr>
          <p:spPr>
            <a:xfrm>
              <a:off x="10684368" y="2078117"/>
              <a:ext cx="63401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countries</a:t>
              </a:r>
            </a:p>
          </p:txBody>
        </p:sp>
      </p:grpSp>
      <p:grpSp>
        <p:nvGrpSpPr>
          <p:cNvPr id="29" name="Group 29"/>
          <p:cNvGrpSpPr/>
          <p:nvPr/>
        </p:nvGrpSpPr>
        <p:grpSpPr>
          <a:xfrm>
            <a:off x="609600" y="2571750"/>
            <a:ext cx="5334000" cy="1447800"/>
            <a:chOff x="609600" y="2571750"/>
            <a:chExt cx="5334000" cy="1447800"/>
          </a:xfrm>
        </p:grpSpPr>
        <p:sp>
          <p:nvSpPr>
            <p:cNvPr id="17" name="Rectangle 17"/>
            <p:cNvSpPr/>
            <p:nvPr/>
          </p:nvSpPr>
          <p:spPr>
            <a:xfrm>
              <a:off x="609600" y="2571750"/>
              <a:ext cx="5334000" cy="1447800"/>
            </a:xfrm>
            <a:prstGeom prst="roundRect">
              <a:avLst>
                <a:gd name="adj" fmla="val 9211"/>
              </a:avLst>
            </a:prstGeom>
            <a:solidFill>
              <a:srgbClr val="0F2E2B"/>
            </a:solidFill>
            <a:ln w="14288">
              <a:solidFill>
                <a:srgbClr val="48C78E"/>
              </a:solidFill>
            </a:ln>
          </p:spPr>
        </p:sp>
        <p:sp>
          <p:nvSpPr>
            <p:cNvPr id="18" name="Rectangle 18"/>
            <p:cNvSpPr/>
            <p:nvPr/>
          </p:nvSpPr>
          <p:spPr>
            <a:xfrm>
              <a:off x="609600" y="2571750"/>
              <a:ext cx="57150" cy="1447800"/>
            </a:xfrm>
            <a:prstGeom prst="roundRect">
              <a:avLst>
                <a:gd name="adj" fmla="val 50000"/>
              </a:avLst>
            </a:prstGeom>
            <a:solidFill>
              <a:srgbClr val="48C78E"/>
            </a:solidFill>
            <a:ln>
              <a:noFill/>
            </a:ln>
          </p:spPr>
        </p:sp>
        <p:sp>
          <p:nvSpPr>
            <p:cNvPr id="19" name="TextBox 19"/>
            <p:cNvSpPr txBox="1"/>
            <p:nvPr/>
          </p:nvSpPr>
          <p:spPr>
            <a:xfrm>
              <a:off x="870014" y="2781062"/>
              <a:ext cx="213061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Filter at locatability 0.4</a:t>
              </a:r>
            </a:p>
          </p:txBody>
        </p:sp>
        <p:sp>
          <p:nvSpPr>
            <p:cNvPr id="20" name="TextBox 20"/>
            <p:cNvSpPr txBox="1"/>
            <p:nvPr/>
          </p:nvSpPr>
          <p:spPr>
            <a:xfrm>
              <a:off x="871156" y="3091101"/>
              <a:ext cx="325480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Applying the locatability filter yields roughly 70K</a:t>
              </a:r>
            </a:p>
          </p:txBody>
        </p:sp>
        <p:sp>
          <p:nvSpPr>
            <p:cNvPr id="21" name="TextBox 21"/>
            <p:cNvSpPr txBox="1"/>
            <p:nvPr/>
          </p:nvSpPr>
          <p:spPr>
            <a:xfrm>
              <a:off x="871156" y="3281601"/>
              <a:ext cx="136315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high-quality images.</a:t>
              </a:r>
            </a:p>
          </p:txBody>
        </p:sp>
        <p:sp>
          <p:nvSpPr>
            <p:cNvPr id="22" name="Rectangle 22"/>
            <p:cNvSpPr/>
            <p:nvPr/>
          </p:nvSpPr>
          <p:spPr>
            <a:xfrm>
              <a:off x="876300" y="3505200"/>
              <a:ext cx="2247900" cy="381000"/>
            </a:xfrm>
            <a:prstGeom prst="roundRect">
              <a:avLst>
                <a:gd name="adj" fmla="val 30000"/>
              </a:avLst>
            </a:prstGeom>
            <a:solidFill>
              <a:schemeClr val="accent6"/>
            </a:solidFill>
            <a:ln w="14288">
              <a:solidFill>
                <a:srgbClr val="26455F"/>
              </a:solidFill>
            </a:ln>
          </p:spPr>
        </p:sp>
        <p:sp>
          <p:nvSpPr>
            <p:cNvPr id="23" name="TextBox 23"/>
            <p:cNvSpPr txBox="1"/>
            <p:nvPr/>
          </p:nvSpPr>
          <p:spPr>
            <a:xfrm>
              <a:off x="1785602" y="3593211"/>
              <a:ext cx="429296" cy="199492"/>
            </a:xfrm>
            <a:prstGeom prst="rect">
              <a:avLst/>
            </a:prstGeom>
            <a:noFill/>
            <a:ln>
              <a:noFill/>
            </a:ln>
          </p:spPr>
          <p:txBody>
            <a:bodyPr wrap="none" lIns="0" tIns="0" rIns="0" bIns="0" anchor="t" anchorCtr="0">
              <a:spAutoFit/>
            </a:bodyPr>
            <a:lstStyle/>
            <a:p>
              <a:pPr algn="ctr"/>
              <a:r>
                <a:rPr lang="en-US" sz="1020" b="1" dirty="0">
                  <a:solidFill>
                    <a:schemeClr val="dk2"/>
                  </a:solidFill>
                  <a:latin typeface="+mn-lt"/>
                  <a:ea typeface="+mn-ea"/>
                  <a:cs typeface="+mn-cs"/>
                </a:rPr>
                <a:t>130K+</a:t>
              </a:r>
            </a:p>
          </p:txBody>
        </p:sp>
        <p:sp>
          <p:nvSpPr>
            <p:cNvPr id="24" name="TextBox 24"/>
            <p:cNvSpPr txBox="1"/>
            <p:nvPr/>
          </p:nvSpPr>
          <p:spPr>
            <a:xfrm>
              <a:off x="1500281" y="3708797"/>
              <a:ext cx="99993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raw GSV images</a:t>
              </a:r>
            </a:p>
          </p:txBody>
        </p:sp>
        <p:sp>
          <p:nvSpPr>
            <p:cNvPr id="25" name="TextBox 25"/>
            <p:cNvSpPr txBox="1"/>
            <p:nvPr/>
          </p:nvSpPr>
          <p:spPr>
            <a:xfrm>
              <a:off x="3230118" y="3574732"/>
              <a:ext cx="273316" cy="322707"/>
            </a:xfrm>
            <a:prstGeom prst="rect">
              <a:avLst/>
            </a:prstGeom>
            <a:noFill/>
            <a:ln>
              <a:noFill/>
            </a:ln>
          </p:spPr>
          <p:txBody>
            <a:bodyPr wrap="none" lIns="0" tIns="0" rIns="0" bIns="0" anchor="t" anchorCtr="0">
              <a:spAutoFit/>
            </a:bodyPr>
            <a:lstStyle/>
            <a:p>
              <a:pPr algn="l"/>
              <a:r>
                <a:rPr lang="en-US" sz="1650" b="1" dirty="0">
                  <a:solidFill>
                    <a:srgbClr val="48C78E"/>
                  </a:solidFill>
                  <a:latin typeface="+mn-lt"/>
                  <a:ea typeface="+mn-ea"/>
                  <a:cs typeface="+mn-cs"/>
                </a:rPr>
                <a:t>-&gt;</a:t>
              </a:r>
            </a:p>
          </p:txBody>
        </p:sp>
        <p:sp>
          <p:nvSpPr>
            <p:cNvPr id="26" name="Rectangle 26"/>
            <p:cNvSpPr/>
            <p:nvPr/>
          </p:nvSpPr>
          <p:spPr>
            <a:xfrm>
              <a:off x="3619500" y="3505200"/>
              <a:ext cx="2247900" cy="381000"/>
            </a:xfrm>
            <a:prstGeom prst="roundRect">
              <a:avLst>
                <a:gd name="adj" fmla="val 30000"/>
              </a:avLst>
            </a:prstGeom>
            <a:solidFill>
              <a:schemeClr val="accent6"/>
            </a:solidFill>
            <a:ln w="14288">
              <a:solidFill>
                <a:srgbClr val="26455F"/>
              </a:solidFill>
            </a:ln>
          </p:spPr>
        </p:sp>
        <p:sp>
          <p:nvSpPr>
            <p:cNvPr id="27" name="TextBox 27"/>
            <p:cNvSpPr txBox="1"/>
            <p:nvPr/>
          </p:nvSpPr>
          <p:spPr>
            <a:xfrm>
              <a:off x="4570695" y="3593211"/>
              <a:ext cx="345509" cy="199492"/>
            </a:xfrm>
            <a:prstGeom prst="rect">
              <a:avLst/>
            </a:prstGeom>
            <a:noFill/>
            <a:ln>
              <a:noFill/>
            </a:ln>
          </p:spPr>
          <p:txBody>
            <a:bodyPr wrap="none" lIns="0" tIns="0" rIns="0" bIns="0" anchor="t" anchorCtr="0">
              <a:spAutoFit/>
            </a:bodyPr>
            <a:lstStyle/>
            <a:p>
              <a:pPr algn="ctr"/>
              <a:r>
                <a:rPr lang="en-US" sz="1020" b="1" dirty="0">
                  <a:solidFill>
                    <a:srgbClr val="48C78E"/>
                  </a:solidFill>
                  <a:latin typeface="+mn-lt"/>
                  <a:ea typeface="+mn-ea"/>
                  <a:cs typeface="+mn-cs"/>
                </a:rPr>
                <a:t>~70K</a:t>
              </a:r>
            </a:p>
          </p:txBody>
        </p:sp>
        <p:sp>
          <p:nvSpPr>
            <p:cNvPr id="28" name="TextBox 28"/>
            <p:cNvSpPr txBox="1"/>
            <p:nvPr/>
          </p:nvSpPr>
          <p:spPr>
            <a:xfrm>
              <a:off x="4200564" y="3708797"/>
              <a:ext cx="108577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high-locatability</a:t>
              </a:r>
            </a:p>
          </p:txBody>
        </p:sp>
      </p:grpSp>
      <p:grpSp>
        <p:nvGrpSpPr>
          <p:cNvPr id="39" name="Group 39"/>
          <p:cNvGrpSpPr/>
          <p:nvPr/>
        </p:nvGrpSpPr>
        <p:grpSpPr>
          <a:xfrm>
            <a:off x="6248400" y="2571750"/>
            <a:ext cx="5334000" cy="1447800"/>
            <a:chOff x="6248400" y="2571750"/>
            <a:chExt cx="5334000" cy="1447800"/>
          </a:xfrm>
        </p:grpSpPr>
        <p:sp>
          <p:nvSpPr>
            <p:cNvPr id="30" name="Rectangle 30"/>
            <p:cNvSpPr/>
            <p:nvPr/>
          </p:nvSpPr>
          <p:spPr>
            <a:xfrm>
              <a:off x="6248400" y="2571750"/>
              <a:ext cx="5334000" cy="1447800"/>
            </a:xfrm>
            <a:prstGeom prst="roundRect">
              <a:avLst>
                <a:gd name="adj" fmla="val 9211"/>
              </a:avLst>
            </a:prstGeom>
            <a:solidFill>
              <a:srgbClr val="2A2417"/>
            </a:solidFill>
            <a:ln w="14288">
              <a:solidFill>
                <a:srgbClr val="F2C14E"/>
              </a:solidFill>
            </a:ln>
          </p:spPr>
        </p:sp>
        <p:sp>
          <p:nvSpPr>
            <p:cNvPr id="31" name="Rectangle 31"/>
            <p:cNvSpPr/>
            <p:nvPr/>
          </p:nvSpPr>
          <p:spPr>
            <a:xfrm>
              <a:off x="6248400" y="2571750"/>
              <a:ext cx="57150" cy="1447800"/>
            </a:xfrm>
            <a:prstGeom prst="roundRect">
              <a:avLst>
                <a:gd name="adj" fmla="val 50000"/>
              </a:avLst>
            </a:prstGeom>
            <a:solidFill>
              <a:srgbClr val="F2C14E"/>
            </a:solidFill>
            <a:ln>
              <a:noFill/>
            </a:ln>
          </p:spPr>
        </p:sp>
        <p:sp>
          <p:nvSpPr>
            <p:cNvPr id="32" name="TextBox 32"/>
            <p:cNvSpPr txBox="1"/>
            <p:nvPr/>
          </p:nvSpPr>
          <p:spPr>
            <a:xfrm>
              <a:off x="6508814" y="2781062"/>
              <a:ext cx="2533963"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3K reasoned text-image clues</a:t>
              </a:r>
            </a:p>
          </p:txBody>
        </p:sp>
        <p:sp>
          <p:nvSpPr>
            <p:cNvPr id="33" name="TextBox 33"/>
            <p:cNvSpPr txBox="1"/>
            <p:nvPr/>
          </p:nvSpPr>
          <p:spPr>
            <a:xfrm>
              <a:off x="6509956" y="3091101"/>
              <a:ext cx="386826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Scrape 3K+ textual clues from two geo-games, clean them</a:t>
              </a:r>
            </a:p>
          </p:txBody>
        </p:sp>
        <p:sp>
          <p:nvSpPr>
            <p:cNvPr id="34" name="TextBox 34"/>
            <p:cNvSpPr txBox="1"/>
            <p:nvPr/>
          </p:nvSpPr>
          <p:spPr>
            <a:xfrm>
              <a:off x="6509956" y="3281601"/>
              <a:ext cx="387023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with a BERT-based entity recognizer, and pair each with a</a:t>
              </a:r>
            </a:p>
          </p:txBody>
        </p:sp>
        <p:sp>
          <p:nvSpPr>
            <p:cNvPr id="35" name="TextBox 35"/>
            <p:cNvSpPr txBox="1"/>
            <p:nvPr/>
          </p:nvSpPr>
          <p:spPr>
            <a:xfrm>
              <a:off x="6509956" y="3472101"/>
              <a:ext cx="86687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street view.</a:t>
              </a:r>
            </a:p>
          </p:txBody>
        </p:sp>
        <p:sp>
          <p:nvSpPr>
            <p:cNvPr id="36" name="Rectangle 36"/>
            <p:cNvSpPr/>
            <p:nvPr/>
          </p:nvSpPr>
          <p:spPr>
            <a:xfrm>
              <a:off x="6515100" y="3733800"/>
              <a:ext cx="4800600" cy="247650"/>
            </a:xfrm>
            <a:prstGeom prst="roundRect">
              <a:avLst>
                <a:gd name="adj" fmla="val 30769"/>
              </a:avLst>
            </a:prstGeom>
            <a:solidFill>
              <a:schemeClr val="accent6"/>
            </a:solidFill>
            <a:ln w="14288">
              <a:solidFill>
                <a:srgbClr val="26455F"/>
              </a:solidFill>
            </a:ln>
          </p:spPr>
        </p:sp>
        <p:sp>
          <p:nvSpPr>
            <p:cNvPr id="37" name="Ellipse 37"/>
            <p:cNvSpPr/>
            <p:nvPr/>
          </p:nvSpPr>
          <p:spPr>
            <a:xfrm>
              <a:off x="6638925" y="3810000"/>
              <a:ext cx="95250" cy="95250"/>
            </a:xfrm>
            <a:prstGeom prst="ellipse">
              <a:avLst/>
            </a:prstGeom>
            <a:solidFill>
              <a:srgbClr val="F2C14E"/>
            </a:solidFill>
            <a:ln>
              <a:noFill/>
            </a:ln>
          </p:spPr>
        </p:sp>
        <p:sp>
          <p:nvSpPr>
            <p:cNvPr id="38" name="TextBox 38"/>
            <p:cNvSpPr txBox="1"/>
            <p:nvPr/>
          </p:nvSpPr>
          <p:spPr>
            <a:xfrm>
              <a:off x="6833426" y="3797379"/>
              <a:ext cx="288757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GeoGuessr + Tuxun · BERT-NER cleaned</a:t>
              </a:r>
            </a:p>
          </p:txBody>
        </p:sp>
      </p:grpSp>
      <p:grpSp>
        <p:nvGrpSpPr>
          <p:cNvPr id="48" name="Group 48"/>
          <p:cNvGrpSpPr/>
          <p:nvPr/>
        </p:nvGrpSpPr>
        <p:grpSpPr>
          <a:xfrm>
            <a:off x="609600" y="4171950"/>
            <a:ext cx="10972800" cy="1066800"/>
            <a:chOff x="609600" y="4171950"/>
            <a:chExt cx="10972800" cy="1066800"/>
          </a:xfrm>
        </p:grpSpPr>
        <p:sp>
          <p:nvSpPr>
            <p:cNvPr id="40" name="Rectangle 40"/>
            <p:cNvSpPr/>
            <p:nvPr/>
          </p:nvSpPr>
          <p:spPr>
            <a:xfrm>
              <a:off x="609600" y="4171950"/>
              <a:ext cx="10972800" cy="1066800"/>
            </a:xfrm>
            <a:prstGeom prst="roundRect">
              <a:avLst>
                <a:gd name="adj" fmla="val 12500"/>
              </a:avLst>
            </a:prstGeom>
            <a:solidFill>
              <a:schemeClr val="accent5"/>
            </a:solidFill>
            <a:ln w="14288">
              <a:solidFill>
                <a:srgbClr val="26455F"/>
              </a:solidFill>
            </a:ln>
          </p:spPr>
        </p:sp>
        <p:sp>
          <p:nvSpPr>
            <p:cNvPr id="41" name="Rectangle 41"/>
            <p:cNvSpPr/>
            <p:nvPr/>
          </p:nvSpPr>
          <p:spPr>
            <a:xfrm>
              <a:off x="609600" y="4171950"/>
              <a:ext cx="57150" cy="1066800"/>
            </a:xfrm>
            <a:prstGeom prst="roundRect">
              <a:avLst>
                <a:gd name="adj" fmla="val 50000"/>
              </a:avLst>
            </a:prstGeom>
            <a:solidFill>
              <a:srgbClr val="34D3C0"/>
            </a:solidFill>
            <a:ln>
              <a:noFill/>
            </a:ln>
          </p:spPr>
        </p:sp>
        <p:sp>
          <p:nvSpPr>
            <p:cNvPr id="42" name="TextBox 42"/>
            <p:cNvSpPr txBox="1"/>
            <p:nvPr/>
          </p:nvSpPr>
          <p:spPr>
            <a:xfrm>
              <a:off x="870204" y="4385310"/>
              <a:ext cx="363113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Evaluation: held-out set + open benchmarks</a:t>
              </a:r>
            </a:p>
          </p:txBody>
        </p:sp>
        <p:sp>
          <p:nvSpPr>
            <p:cNvPr id="43" name="TextBox 43"/>
            <p:cNvSpPr txBox="1"/>
            <p:nvPr/>
          </p:nvSpPr>
          <p:spPr>
            <a:xfrm>
              <a:off x="870966" y="4687252"/>
              <a:ext cx="5702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held-out set of 1K images measures country/city accuracy; the open Im2GPS and</a:t>
              </a:r>
            </a:p>
          </p:txBody>
        </p:sp>
        <p:sp>
          <p:nvSpPr>
            <p:cNvPr id="44" name="TextBox 44"/>
            <p:cNvSpPr txBox="1"/>
            <p:nvPr/>
          </p:nvSpPr>
          <p:spPr>
            <a:xfrm>
              <a:off x="870966" y="4896802"/>
              <a:ext cx="33915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Im2GPS3k Flickr benchmarks test generalization.</a:t>
              </a:r>
            </a:p>
          </p:txBody>
        </p:sp>
        <p:sp>
          <p:nvSpPr>
            <p:cNvPr id="45" name="Rectangle 45"/>
            <p:cNvSpPr/>
            <p:nvPr/>
          </p:nvSpPr>
          <p:spPr>
            <a:xfrm>
              <a:off x="9334500" y="4305300"/>
              <a:ext cx="2190750" cy="800100"/>
            </a:xfrm>
            <a:prstGeom prst="roundRect">
              <a:avLst>
                <a:gd name="adj" fmla="val 14286"/>
              </a:avLst>
            </a:prstGeom>
            <a:solidFill>
              <a:schemeClr val="accent6"/>
            </a:solidFill>
            <a:ln w="14288">
              <a:solidFill>
                <a:srgbClr val="26455F"/>
              </a:solidFill>
            </a:ln>
          </p:spPr>
        </p:sp>
        <p:sp>
          <p:nvSpPr>
            <p:cNvPr id="46" name="TextBox 46"/>
            <p:cNvSpPr txBox="1"/>
            <p:nvPr/>
          </p:nvSpPr>
          <p:spPr>
            <a:xfrm>
              <a:off x="9905187" y="4490123"/>
              <a:ext cx="1049376" cy="418932"/>
            </a:xfrm>
            <a:prstGeom prst="rect">
              <a:avLst/>
            </a:prstGeom>
            <a:noFill/>
            <a:ln>
              <a:noFill/>
            </a:ln>
          </p:spPr>
          <p:txBody>
            <a:bodyPr wrap="none" lIns="0" tIns="0" rIns="0" bIns="0" anchor="t" anchorCtr="0">
              <a:spAutoFit/>
            </a:bodyPr>
            <a:lstStyle/>
            <a:p>
              <a:pPr algn="ctr"/>
              <a:r>
                <a:rPr lang="en-US" sz="2140" b="1" dirty="0">
                  <a:solidFill>
                    <a:srgbClr val="34D3C0"/>
                  </a:solidFill>
                  <a:latin typeface="+mn-lt"/>
                  <a:ea typeface="+mn-ea"/>
                  <a:cs typeface="+mn-cs"/>
                </a:rPr>
                <a:t>Im2GPS</a:t>
              </a:r>
            </a:p>
          </p:txBody>
        </p:sp>
        <p:sp>
          <p:nvSpPr>
            <p:cNvPr id="47" name="TextBox 47"/>
            <p:cNvSpPr txBox="1"/>
            <p:nvPr/>
          </p:nvSpPr>
          <p:spPr>
            <a:xfrm>
              <a:off x="10066614" y="4844177"/>
              <a:ext cx="72652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 Im2GPS3k</a:t>
              </a:r>
            </a:p>
          </p:txBody>
        </p:sp>
      </p:grpSp>
      <p:sp>
        <p:nvSpPr>
          <p:cNvPr id="49" name="cue_s06_c1_builds_its_scratch_openstreetmap_roa" title="cue_s06_c1_builds_its_scratch_openstreetmap_roa" descr="cue_s06_c1_builds_its_scratch_openstreetmap_roa The paper builds its data from scratch. Using OpenStreetMap road networks and the Google Street View API, the authors sample points every four thousand meters across the top global cities, collecting more than one hundred thirty thousand geo-tagged street view"/>
          <p:cNvSpPr/>
          <p:nvPr/>
        </p:nvSpPr>
        <p:spPr>
          <a:xfrm>
            <a:off x="609600" y="1504645"/>
            <a:ext cx="109728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applying_locatability_filter_thresho" title="cue_s06_c2_applying_locatability_filter_thresho" descr="cue_s06_c2_applying_locatability_filter_thresho Applying the locatability filter at a threshold of zero point four yields roughly seventy thousand high-quality images."/>
          <p:cNvSpPr/>
          <p:nvPr/>
        </p:nvSpPr>
        <p:spPr>
          <a:xfrm>
            <a:off x="609600" y="2571750"/>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3_separately_they_scrape_over_three" title="cue_s06_c3_separately_they_scrape_over_three" descr="cue_s06_c3_separately_they_scrape_over_three Separately, they scrape over three thousand textual clues from two geo-localization games, GeoGuessr and Tuxun, cleaning them with a BERT-based entity recognizer and pairing each with a street-view image."/>
          <p:cNvSpPr/>
          <p:nvPr/>
        </p:nvSpPr>
        <p:spPr>
          <a:xfrm>
            <a:off x="6248399" y="2571750"/>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4_evaluation_they_held_out_set_thousan" title="cue_s06_c4_evaluation_they_held_out_set_thousan" descr="cue_s06_c4_evaluation_they_held_out_set_thousan For evaluation they use a held-out set of a thousand images and, to test generalization, the standard Im2GPS and Im2GPS3k Flickr benchmarks."/>
          <p:cNvSpPr/>
          <p:nvPr/>
        </p:nvSpPr>
        <p:spPr>
          <a:xfrm>
            <a:off x="609600" y="4171721"/>
            <a:ext cx="1097280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98687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Beats VLMs by wide margins, rivals a 15x specialist</a:t>
            </a:r>
          </a:p>
        </p:txBody>
      </p:sp>
      <p:grpSp>
        <p:nvGrpSpPr>
          <p:cNvPr id="16" name="Group 16"/>
          <p:cNvGrpSpPr/>
          <p:nvPr/>
        </p:nvGrpSpPr>
        <p:grpSpPr>
          <a:xfrm>
            <a:off x="609600" y="1504950"/>
            <a:ext cx="10972800" cy="1047750"/>
            <a:chOff x="609600" y="1504950"/>
            <a:chExt cx="10972800" cy="1047750"/>
          </a:xfrm>
        </p:grpSpPr>
        <p:sp>
          <p:nvSpPr>
            <p:cNvPr id="5" name="Rectangle 5"/>
            <p:cNvSpPr/>
            <p:nvPr/>
          </p:nvSpPr>
          <p:spPr>
            <a:xfrm>
              <a:off x="609600" y="1504950"/>
              <a:ext cx="10972800" cy="1047750"/>
            </a:xfrm>
            <a:prstGeom prst="roundRect">
              <a:avLst>
                <a:gd name="adj" fmla="val 12727"/>
              </a:avLst>
            </a:prstGeom>
            <a:solidFill>
              <a:srgbClr val="0F2E2B"/>
            </a:solidFill>
            <a:ln w="14288">
              <a:solidFill>
                <a:srgbClr val="48C78E"/>
              </a:solidFill>
            </a:ln>
          </p:spPr>
        </p:sp>
        <p:sp>
          <p:nvSpPr>
            <p:cNvPr id="6" name="Rectangle 6"/>
            <p:cNvSpPr/>
            <p:nvPr/>
          </p:nvSpPr>
          <p:spPr>
            <a:xfrm>
              <a:off x="609600" y="1504950"/>
              <a:ext cx="57150" cy="1047750"/>
            </a:xfrm>
            <a:prstGeom prst="roundRect">
              <a:avLst>
                <a:gd name="adj" fmla="val 50000"/>
              </a:avLst>
            </a:prstGeom>
            <a:solidFill>
              <a:srgbClr val="48C78E"/>
            </a:solidFill>
            <a:ln>
              <a:noFill/>
            </a:ln>
          </p:spPr>
        </p:sp>
        <p:sp>
          <p:nvSpPr>
            <p:cNvPr id="7" name="TextBox 7"/>
            <p:cNvSpPr txBox="1"/>
            <p:nvPr/>
          </p:nvSpPr>
          <p:spPr>
            <a:xfrm>
              <a:off x="870014" y="1733312"/>
              <a:ext cx="256817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headline result is decisive</a:t>
              </a:r>
            </a:p>
          </p:txBody>
        </p:sp>
        <p:sp>
          <p:nvSpPr>
            <p:cNvPr id="8" name="TextBox 8"/>
            <p:cNvSpPr txBox="1"/>
            <p:nvPr/>
          </p:nvSpPr>
          <p:spPr>
            <a:xfrm>
              <a:off x="870966" y="2039302"/>
              <a:ext cx="52014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State-of-the-art F1 at both country and city level, with a fraction of the</a:t>
              </a:r>
            </a:p>
          </p:txBody>
        </p:sp>
        <p:sp>
          <p:nvSpPr>
            <p:cNvPr id="9" name="TextBox 9"/>
            <p:cNvSpPr txBox="1"/>
            <p:nvPr/>
          </p:nvSpPr>
          <p:spPr>
            <a:xfrm>
              <a:off x="870966" y="2229802"/>
              <a:ext cx="9930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training data.</a:t>
              </a:r>
            </a:p>
          </p:txBody>
        </p:sp>
        <p:sp>
          <p:nvSpPr>
            <p:cNvPr id="10" name="Rectangle 10"/>
            <p:cNvSpPr/>
            <p:nvPr/>
          </p:nvSpPr>
          <p:spPr>
            <a:xfrm>
              <a:off x="6858000" y="1619250"/>
              <a:ext cx="2247900" cy="800100"/>
            </a:xfrm>
            <a:prstGeom prst="roundRect">
              <a:avLst>
                <a:gd name="adj" fmla="val 14286"/>
              </a:avLst>
            </a:prstGeom>
            <a:solidFill>
              <a:schemeClr val="accent6"/>
            </a:solidFill>
            <a:ln w="14288">
              <a:solidFill>
                <a:srgbClr val="26455F"/>
              </a:solidFill>
            </a:ln>
          </p:spPr>
        </p:sp>
        <p:sp>
          <p:nvSpPr>
            <p:cNvPr id="11" name="TextBox 11"/>
            <p:cNvSpPr txBox="1"/>
            <p:nvPr/>
          </p:nvSpPr>
          <p:spPr>
            <a:xfrm>
              <a:off x="7638328" y="1804073"/>
              <a:ext cx="687243" cy="418932"/>
            </a:xfrm>
            <a:prstGeom prst="rect">
              <a:avLst/>
            </a:prstGeom>
            <a:noFill/>
            <a:ln>
              <a:noFill/>
            </a:ln>
          </p:spPr>
          <p:txBody>
            <a:bodyPr wrap="none" lIns="0" tIns="0" rIns="0" bIns="0" anchor="t" anchorCtr="0">
              <a:spAutoFit/>
            </a:bodyPr>
            <a:lstStyle/>
            <a:p>
              <a:pPr algn="ctr"/>
              <a:r>
                <a:rPr lang="en-US" sz="2140" b="1" dirty="0">
                  <a:solidFill>
                    <a:srgbClr val="48C78E"/>
                  </a:solidFill>
                  <a:latin typeface="+mn-lt"/>
                  <a:ea typeface="+mn-ea"/>
                  <a:cs typeface="+mn-cs"/>
                </a:rPr>
                <a:t>0.90</a:t>
              </a:r>
            </a:p>
          </p:txBody>
        </p:sp>
        <p:sp>
          <p:nvSpPr>
            <p:cNvPr id="12" name="TextBox 12"/>
            <p:cNvSpPr txBox="1"/>
            <p:nvPr/>
          </p:nvSpPr>
          <p:spPr>
            <a:xfrm>
              <a:off x="7625936" y="2158127"/>
              <a:ext cx="71202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country F1</a:t>
              </a:r>
            </a:p>
          </p:txBody>
        </p:sp>
        <p:sp>
          <p:nvSpPr>
            <p:cNvPr id="13" name="Rectangle 13"/>
            <p:cNvSpPr/>
            <p:nvPr/>
          </p:nvSpPr>
          <p:spPr>
            <a:xfrm>
              <a:off x="9239250" y="1619250"/>
              <a:ext cx="2343150" cy="800100"/>
            </a:xfrm>
            <a:prstGeom prst="roundRect">
              <a:avLst>
                <a:gd name="adj" fmla="val 14286"/>
              </a:avLst>
            </a:prstGeom>
            <a:solidFill>
              <a:schemeClr val="accent6"/>
            </a:solidFill>
            <a:ln w="14288">
              <a:solidFill>
                <a:srgbClr val="26455F"/>
              </a:solidFill>
            </a:ln>
          </p:spPr>
        </p:sp>
        <p:sp>
          <p:nvSpPr>
            <p:cNvPr id="14" name="TextBox 14"/>
            <p:cNvSpPr txBox="1"/>
            <p:nvPr/>
          </p:nvSpPr>
          <p:spPr>
            <a:xfrm>
              <a:off x="10067203" y="1804073"/>
              <a:ext cx="687243" cy="418932"/>
            </a:xfrm>
            <a:prstGeom prst="rect">
              <a:avLst/>
            </a:prstGeom>
            <a:noFill/>
            <a:ln>
              <a:noFill/>
            </a:ln>
          </p:spPr>
          <p:txBody>
            <a:bodyPr wrap="none" lIns="0" tIns="0" rIns="0" bIns="0" anchor="t" anchorCtr="0">
              <a:spAutoFit/>
            </a:bodyPr>
            <a:lstStyle/>
            <a:p>
              <a:pPr algn="ctr"/>
              <a:r>
                <a:rPr lang="en-US" sz="2140" b="1" dirty="0">
                  <a:solidFill>
                    <a:srgbClr val="34D3C0"/>
                  </a:solidFill>
                  <a:latin typeface="+mn-lt"/>
                  <a:ea typeface="+mn-ea"/>
                  <a:cs typeface="+mn-cs"/>
                </a:rPr>
                <a:t>0.86</a:t>
              </a:r>
            </a:p>
          </p:txBody>
        </p:sp>
        <p:sp>
          <p:nvSpPr>
            <p:cNvPr id="15" name="TextBox 15"/>
            <p:cNvSpPr txBox="1"/>
            <p:nvPr/>
          </p:nvSpPr>
          <p:spPr>
            <a:xfrm>
              <a:off x="10180986" y="2158127"/>
              <a:ext cx="45967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city F1</a:t>
              </a:r>
            </a:p>
          </p:txBody>
        </p:sp>
      </p:grpSp>
      <p:grpSp>
        <p:nvGrpSpPr>
          <p:cNvPr id="38" name="Group 38"/>
          <p:cNvGrpSpPr/>
          <p:nvPr/>
        </p:nvGrpSpPr>
        <p:grpSpPr>
          <a:xfrm>
            <a:off x="609600" y="2705100"/>
            <a:ext cx="5334000" cy="2514600"/>
            <a:chOff x="609600" y="2705100"/>
            <a:chExt cx="5334000" cy="2514600"/>
          </a:xfrm>
        </p:grpSpPr>
        <p:sp>
          <p:nvSpPr>
            <p:cNvPr id="17" name="Rectangle 17"/>
            <p:cNvSpPr/>
            <p:nvPr/>
          </p:nvSpPr>
          <p:spPr>
            <a:xfrm>
              <a:off x="609600" y="2705100"/>
              <a:ext cx="5334000" cy="2514600"/>
            </a:xfrm>
            <a:prstGeom prst="roundRect">
              <a:avLst>
                <a:gd name="adj" fmla="val 5303"/>
              </a:avLst>
            </a:prstGeom>
            <a:solidFill>
              <a:schemeClr val="accent5"/>
            </a:solidFill>
            <a:ln w="14288">
              <a:solidFill>
                <a:srgbClr val="26455F"/>
              </a:solidFill>
            </a:ln>
          </p:spPr>
        </p:sp>
        <p:sp>
          <p:nvSpPr>
            <p:cNvPr id="18" name="Rectangle 18"/>
            <p:cNvSpPr/>
            <p:nvPr/>
          </p:nvSpPr>
          <p:spPr>
            <a:xfrm>
              <a:off x="609600" y="2705100"/>
              <a:ext cx="57150" cy="2514600"/>
            </a:xfrm>
            <a:prstGeom prst="roundRect">
              <a:avLst>
                <a:gd name="adj" fmla="val 50000"/>
              </a:avLst>
            </a:prstGeom>
            <a:solidFill>
              <a:schemeClr val="accent2"/>
            </a:solidFill>
            <a:ln>
              <a:noFill/>
            </a:ln>
          </p:spPr>
        </p:sp>
        <p:sp>
          <p:nvSpPr>
            <p:cNvPr id="19" name="TextBox 19"/>
            <p:cNvSpPr txBox="1"/>
            <p:nvPr/>
          </p:nvSpPr>
          <p:spPr>
            <a:xfrm>
              <a:off x="870204" y="2918460"/>
              <a:ext cx="2925150"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F1: beats Qwen-VL by +25% / +39%</a:t>
              </a:r>
            </a:p>
          </p:txBody>
        </p:sp>
        <p:sp>
          <p:nvSpPr>
            <p:cNvPr id="20" name="TextBox 20"/>
            <p:cNvSpPr txBox="1"/>
            <p:nvPr/>
          </p:nvSpPr>
          <p:spPr>
            <a:xfrm>
              <a:off x="871156" y="3205401"/>
              <a:ext cx="40605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Against the strongest comparable VLM, GeoReasoner lifts F1</a:t>
              </a:r>
            </a:p>
          </p:txBody>
        </p:sp>
        <p:sp>
          <p:nvSpPr>
            <p:cNvPr id="21" name="TextBox 21"/>
            <p:cNvSpPr txBox="1"/>
            <p:nvPr/>
          </p:nvSpPr>
          <p:spPr>
            <a:xfrm>
              <a:off x="871156" y="3395901"/>
              <a:ext cx="9960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 both levels.</a:t>
              </a:r>
            </a:p>
          </p:txBody>
        </p:sp>
        <p:sp>
          <p:nvSpPr>
            <p:cNvPr id="22" name="Rectangle 22"/>
            <p:cNvSpPr/>
            <p:nvPr/>
          </p:nvSpPr>
          <p:spPr>
            <a:xfrm>
              <a:off x="2857500" y="3848100"/>
              <a:ext cx="2286000" cy="228600"/>
            </a:xfrm>
            <a:prstGeom prst="roundRect">
              <a:avLst>
                <a:gd name="adj" fmla="val 25000"/>
              </a:avLst>
            </a:prstGeom>
            <a:solidFill>
              <a:srgbClr val="0E2334"/>
            </a:solidFill>
            <a:ln w="9525">
              <a:solidFill>
                <a:srgbClr val="26455F"/>
              </a:solidFill>
            </a:ln>
          </p:spPr>
        </p:sp>
        <p:sp>
          <p:nvSpPr>
            <p:cNvPr id="23" name="Rectangle 23"/>
            <p:cNvSpPr/>
            <p:nvPr/>
          </p:nvSpPr>
          <p:spPr>
            <a:xfrm>
              <a:off x="2857500" y="3848100"/>
              <a:ext cx="1638300" cy="228600"/>
            </a:xfrm>
            <a:prstGeom prst="roundRect">
              <a:avLst>
                <a:gd name="adj" fmla="val 25000"/>
              </a:avLst>
            </a:prstGeom>
            <a:solidFill>
              <a:schemeClr val="dk2"/>
            </a:solidFill>
            <a:ln>
              <a:noFill/>
            </a:ln>
          </p:spPr>
        </p:sp>
        <p:sp>
          <p:nvSpPr>
            <p:cNvPr id="24" name="TextBox 24"/>
            <p:cNvSpPr txBox="1"/>
            <p:nvPr/>
          </p:nvSpPr>
          <p:spPr>
            <a:xfrm>
              <a:off x="1474865" y="3913823"/>
              <a:ext cx="127366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Qwen-VL country</a:t>
              </a:r>
            </a:p>
          </p:txBody>
        </p:sp>
        <p:sp>
          <p:nvSpPr>
            <p:cNvPr id="25" name="TextBox 25"/>
            <p:cNvSpPr txBox="1"/>
            <p:nvPr/>
          </p:nvSpPr>
          <p:spPr>
            <a:xfrm>
              <a:off x="4585716" y="3913823"/>
              <a:ext cx="33718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0.72</a:t>
              </a:r>
            </a:p>
          </p:txBody>
        </p:sp>
        <p:sp>
          <p:nvSpPr>
            <p:cNvPr id="26" name="Rectangle 26"/>
            <p:cNvSpPr/>
            <p:nvPr/>
          </p:nvSpPr>
          <p:spPr>
            <a:xfrm>
              <a:off x="2857500" y="4191000"/>
              <a:ext cx="2286000" cy="228600"/>
            </a:xfrm>
            <a:prstGeom prst="roundRect">
              <a:avLst>
                <a:gd name="adj" fmla="val 25000"/>
              </a:avLst>
            </a:prstGeom>
            <a:solidFill>
              <a:srgbClr val="0E2334"/>
            </a:solidFill>
            <a:ln w="9525">
              <a:solidFill>
                <a:srgbClr val="26455F"/>
              </a:solidFill>
            </a:ln>
          </p:spPr>
        </p:sp>
        <p:sp>
          <p:nvSpPr>
            <p:cNvPr id="27" name="Rectangle 27"/>
            <p:cNvSpPr/>
            <p:nvPr/>
          </p:nvSpPr>
          <p:spPr>
            <a:xfrm>
              <a:off x="2857500" y="4191000"/>
              <a:ext cx="2057400" cy="228600"/>
            </a:xfrm>
            <a:prstGeom prst="roundRect">
              <a:avLst>
                <a:gd name="adj" fmla="val 25000"/>
              </a:avLst>
            </a:prstGeom>
            <a:solidFill>
              <a:srgbClr val="48C78E"/>
            </a:solidFill>
            <a:ln>
              <a:noFill/>
            </a:ln>
          </p:spPr>
        </p:sp>
        <p:sp>
          <p:nvSpPr>
            <p:cNvPr id="28" name="TextBox 28"/>
            <p:cNvSpPr txBox="1"/>
            <p:nvPr/>
          </p:nvSpPr>
          <p:spPr>
            <a:xfrm>
              <a:off x="1459310" y="4256722"/>
              <a:ext cx="128922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GeoReasoner ctry</a:t>
              </a:r>
            </a:p>
          </p:txBody>
        </p:sp>
        <p:sp>
          <p:nvSpPr>
            <p:cNvPr id="29" name="TextBox 29"/>
            <p:cNvSpPr txBox="1"/>
            <p:nvPr/>
          </p:nvSpPr>
          <p:spPr>
            <a:xfrm>
              <a:off x="5004816" y="425672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0.90</a:t>
              </a:r>
            </a:p>
          </p:txBody>
        </p:sp>
        <p:sp>
          <p:nvSpPr>
            <p:cNvPr id="30" name="Rectangle 30"/>
            <p:cNvSpPr/>
            <p:nvPr/>
          </p:nvSpPr>
          <p:spPr>
            <a:xfrm>
              <a:off x="2857500" y="4572000"/>
              <a:ext cx="2286000" cy="228600"/>
            </a:xfrm>
            <a:prstGeom prst="roundRect">
              <a:avLst>
                <a:gd name="adj" fmla="val 25000"/>
              </a:avLst>
            </a:prstGeom>
            <a:solidFill>
              <a:srgbClr val="0E2334"/>
            </a:solidFill>
            <a:ln w="9525">
              <a:solidFill>
                <a:srgbClr val="26455F"/>
              </a:solidFill>
            </a:ln>
          </p:spPr>
        </p:sp>
        <p:sp>
          <p:nvSpPr>
            <p:cNvPr id="31" name="Rectangle 31"/>
            <p:cNvSpPr/>
            <p:nvPr/>
          </p:nvSpPr>
          <p:spPr>
            <a:xfrm>
              <a:off x="2857500" y="4572000"/>
              <a:ext cx="1209675" cy="228600"/>
            </a:xfrm>
            <a:prstGeom prst="roundRect">
              <a:avLst>
                <a:gd name="adj" fmla="val 25000"/>
              </a:avLst>
            </a:prstGeom>
            <a:solidFill>
              <a:schemeClr val="dk2"/>
            </a:solidFill>
            <a:ln>
              <a:noFill/>
            </a:ln>
          </p:spPr>
        </p:sp>
        <p:sp>
          <p:nvSpPr>
            <p:cNvPr id="32" name="TextBox 32"/>
            <p:cNvSpPr txBox="1"/>
            <p:nvPr/>
          </p:nvSpPr>
          <p:spPr>
            <a:xfrm>
              <a:off x="1756763" y="4637722"/>
              <a:ext cx="99177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Qwen-VL city</a:t>
              </a:r>
            </a:p>
          </p:txBody>
        </p:sp>
        <p:sp>
          <p:nvSpPr>
            <p:cNvPr id="33" name="TextBox 33"/>
            <p:cNvSpPr txBox="1"/>
            <p:nvPr/>
          </p:nvSpPr>
          <p:spPr>
            <a:xfrm>
              <a:off x="4157091" y="4637722"/>
              <a:ext cx="33718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0.53</a:t>
              </a:r>
            </a:p>
          </p:txBody>
        </p:sp>
        <p:sp>
          <p:nvSpPr>
            <p:cNvPr id="34" name="Rectangle 34"/>
            <p:cNvSpPr/>
            <p:nvPr/>
          </p:nvSpPr>
          <p:spPr>
            <a:xfrm>
              <a:off x="2857500" y="4914900"/>
              <a:ext cx="2286000" cy="228600"/>
            </a:xfrm>
            <a:prstGeom prst="roundRect">
              <a:avLst>
                <a:gd name="adj" fmla="val 25000"/>
              </a:avLst>
            </a:prstGeom>
            <a:solidFill>
              <a:srgbClr val="0E2334"/>
            </a:solidFill>
            <a:ln w="9525">
              <a:solidFill>
                <a:srgbClr val="26455F"/>
              </a:solidFill>
            </a:ln>
          </p:spPr>
        </p:sp>
        <p:sp>
          <p:nvSpPr>
            <p:cNvPr id="35" name="Rectangle 35"/>
            <p:cNvSpPr/>
            <p:nvPr/>
          </p:nvSpPr>
          <p:spPr>
            <a:xfrm>
              <a:off x="2857500" y="4914900"/>
              <a:ext cx="1962150" cy="228600"/>
            </a:xfrm>
            <a:prstGeom prst="roundRect">
              <a:avLst>
                <a:gd name="adj" fmla="val 25000"/>
              </a:avLst>
            </a:prstGeom>
            <a:solidFill>
              <a:srgbClr val="34D3C0"/>
            </a:solidFill>
            <a:ln>
              <a:noFill/>
            </a:ln>
          </p:spPr>
        </p:sp>
        <p:sp>
          <p:nvSpPr>
            <p:cNvPr id="36" name="TextBox 36"/>
            <p:cNvSpPr txBox="1"/>
            <p:nvPr/>
          </p:nvSpPr>
          <p:spPr>
            <a:xfrm>
              <a:off x="1496695" y="4980622"/>
              <a:ext cx="125183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GeoReasoner city</a:t>
              </a:r>
            </a:p>
          </p:txBody>
        </p:sp>
        <p:sp>
          <p:nvSpPr>
            <p:cNvPr id="37" name="TextBox 37"/>
            <p:cNvSpPr txBox="1"/>
            <p:nvPr/>
          </p:nvSpPr>
          <p:spPr>
            <a:xfrm>
              <a:off x="4909566" y="4980622"/>
              <a:ext cx="33718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0.86</a:t>
              </a:r>
            </a:p>
          </p:txBody>
        </p:sp>
      </p:grpSp>
      <p:grpSp>
        <p:nvGrpSpPr>
          <p:cNvPr id="44" name="Group 44"/>
          <p:cNvGrpSpPr/>
          <p:nvPr/>
        </p:nvGrpSpPr>
        <p:grpSpPr>
          <a:xfrm>
            <a:off x="6248400" y="2705100"/>
            <a:ext cx="5334000" cy="1143000"/>
            <a:chOff x="6248400" y="2705100"/>
            <a:chExt cx="5334000" cy="1143000"/>
          </a:xfrm>
        </p:grpSpPr>
        <p:sp>
          <p:nvSpPr>
            <p:cNvPr id="39" name="Rectangle 39"/>
            <p:cNvSpPr/>
            <p:nvPr/>
          </p:nvSpPr>
          <p:spPr>
            <a:xfrm>
              <a:off x="6248400" y="2705100"/>
              <a:ext cx="5334000" cy="1143000"/>
            </a:xfrm>
            <a:prstGeom prst="roundRect">
              <a:avLst>
                <a:gd name="adj" fmla="val 11667"/>
              </a:avLst>
            </a:prstGeom>
            <a:solidFill>
              <a:srgbClr val="2A2417"/>
            </a:solidFill>
            <a:ln w="14288">
              <a:solidFill>
                <a:srgbClr val="F2C14E"/>
              </a:solidFill>
            </a:ln>
          </p:spPr>
        </p:sp>
        <p:sp>
          <p:nvSpPr>
            <p:cNvPr id="40" name="Rectangle 40"/>
            <p:cNvSpPr/>
            <p:nvPr/>
          </p:nvSpPr>
          <p:spPr>
            <a:xfrm>
              <a:off x="6248400" y="2705100"/>
              <a:ext cx="57150" cy="1143000"/>
            </a:xfrm>
            <a:prstGeom prst="roundRect">
              <a:avLst>
                <a:gd name="adj" fmla="val 50000"/>
              </a:avLst>
            </a:prstGeom>
            <a:solidFill>
              <a:srgbClr val="F2C14E"/>
            </a:solidFill>
            <a:ln>
              <a:noFill/>
            </a:ln>
          </p:spPr>
        </p:sp>
        <p:sp>
          <p:nvSpPr>
            <p:cNvPr id="41" name="TextBox 41"/>
            <p:cNvSpPr txBox="1"/>
            <p:nvPr/>
          </p:nvSpPr>
          <p:spPr>
            <a:xfrm>
              <a:off x="6509004" y="2918460"/>
              <a:ext cx="330705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Edges out StreetCLIP - on 15x less data</a:t>
              </a:r>
            </a:p>
          </p:txBody>
        </p:sp>
        <p:sp>
          <p:nvSpPr>
            <p:cNvPr id="42" name="TextBox 42"/>
            <p:cNvSpPr txBox="1"/>
            <p:nvPr/>
          </p:nvSpPr>
          <p:spPr>
            <a:xfrm>
              <a:off x="6509956" y="3224451"/>
              <a:ext cx="385439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Surpasses a geo-specialist trained on 1.1M street views.</a:t>
              </a:r>
            </a:p>
          </p:txBody>
        </p:sp>
        <p:sp>
          <p:nvSpPr>
            <p:cNvPr id="43" name="TextBox 43"/>
            <p:cNvSpPr txBox="1"/>
            <p:nvPr/>
          </p:nvSpPr>
          <p:spPr>
            <a:xfrm>
              <a:off x="6510147" y="3628549"/>
              <a:ext cx="2356046"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70K images vs 1.1M · and still wins</a:t>
              </a:r>
            </a:p>
          </p:txBody>
        </p:sp>
      </p:grpSp>
      <p:grpSp>
        <p:nvGrpSpPr>
          <p:cNvPr id="52" name="Group 52"/>
          <p:cNvGrpSpPr/>
          <p:nvPr/>
        </p:nvGrpSpPr>
        <p:grpSpPr>
          <a:xfrm>
            <a:off x="6248400" y="4000500"/>
            <a:ext cx="5334000" cy="1227125"/>
            <a:chOff x="6248400" y="4000500"/>
            <a:chExt cx="5334000" cy="1227125"/>
          </a:xfrm>
        </p:grpSpPr>
        <p:sp>
          <p:nvSpPr>
            <p:cNvPr id="45" name="Rectangle 45"/>
            <p:cNvSpPr/>
            <p:nvPr/>
          </p:nvSpPr>
          <p:spPr>
            <a:xfrm>
              <a:off x="6248400" y="4000500"/>
              <a:ext cx="5334000" cy="1219200"/>
            </a:xfrm>
            <a:prstGeom prst="roundRect">
              <a:avLst>
                <a:gd name="adj" fmla="val 10938"/>
              </a:avLst>
            </a:prstGeom>
            <a:solidFill>
              <a:schemeClr val="accent5"/>
            </a:solidFill>
            <a:ln w="14288">
              <a:solidFill>
                <a:srgbClr val="26455F"/>
              </a:solidFill>
            </a:ln>
          </p:spPr>
        </p:sp>
        <p:sp>
          <p:nvSpPr>
            <p:cNvPr id="46" name="Rectangle 46"/>
            <p:cNvSpPr/>
            <p:nvPr/>
          </p:nvSpPr>
          <p:spPr>
            <a:xfrm>
              <a:off x="6248400" y="4000500"/>
              <a:ext cx="57150" cy="1219200"/>
            </a:xfrm>
            <a:prstGeom prst="roundRect">
              <a:avLst>
                <a:gd name="adj" fmla="val 50000"/>
              </a:avLst>
            </a:prstGeom>
            <a:solidFill>
              <a:srgbClr val="34D3C0"/>
            </a:solidFill>
            <a:ln>
              <a:noFill/>
            </a:ln>
          </p:spPr>
        </p:sp>
        <p:sp>
          <p:nvSpPr>
            <p:cNvPr id="47" name="TextBox 47"/>
            <p:cNvSpPr txBox="1"/>
            <p:nvPr/>
          </p:nvSpPr>
          <p:spPr>
            <a:xfrm>
              <a:off x="6509194" y="4198858"/>
              <a:ext cx="338711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More high-locatability data -&gt; higher acc.</a:t>
              </a:r>
            </a:p>
          </p:txBody>
        </p:sp>
        <p:sp>
          <p:nvSpPr>
            <p:cNvPr id="48" name="TextBox 48"/>
            <p:cNvSpPr txBox="1"/>
            <p:nvPr/>
          </p:nvSpPr>
          <p:spPr>
            <a:xfrm>
              <a:off x="6509956" y="4481751"/>
              <a:ext cx="408115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As the fraction of high-locatability images rises 0% -&gt; 100%,</a:t>
              </a:r>
            </a:p>
          </p:txBody>
        </p:sp>
        <p:sp>
          <p:nvSpPr>
            <p:cNvPr id="49" name="TextBox 49"/>
            <p:cNvSpPr txBox="1"/>
            <p:nvPr/>
          </p:nvSpPr>
          <p:spPr>
            <a:xfrm>
              <a:off x="6509956" y="4662726"/>
              <a:ext cx="39397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accuracy climbs steadily: quality, not quantity, drives the</a:t>
              </a:r>
            </a:p>
          </p:txBody>
        </p:sp>
        <p:sp>
          <p:nvSpPr>
            <p:cNvPr id="50" name="TextBox 50"/>
            <p:cNvSpPr txBox="1"/>
            <p:nvPr/>
          </p:nvSpPr>
          <p:spPr>
            <a:xfrm>
              <a:off x="6509956" y="4843701"/>
              <a:ext cx="42498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gains.</a:t>
              </a:r>
            </a:p>
          </p:txBody>
        </p:sp>
        <p:sp>
          <p:nvSpPr>
            <p:cNvPr id="51" name="TextBox 51"/>
            <p:cNvSpPr txBox="1"/>
            <p:nvPr/>
          </p:nvSpPr>
          <p:spPr>
            <a:xfrm>
              <a:off x="6510223" y="5039868"/>
              <a:ext cx="2411590" cy="187757"/>
            </a:xfrm>
            <a:prstGeom prst="rect">
              <a:avLst/>
            </a:prstGeom>
            <a:noFill/>
            <a:ln>
              <a:noFill/>
            </a:ln>
          </p:spPr>
          <p:txBody>
            <a:bodyPr wrap="none" lIns="0" tIns="0" rIns="0" bIns="0" anchor="t" anchorCtr="0">
              <a:spAutoFit/>
            </a:bodyPr>
            <a:lstStyle/>
            <a:p>
              <a:pPr algn="l"/>
              <a:r>
                <a:rPr lang="en-US" sz="960" b="1" dirty="0">
                  <a:solidFill>
                    <a:srgbClr val="34D3C0"/>
                  </a:solidFill>
                  <a:latin typeface="Consolas"/>
                  <a:ea typeface="Consolas"/>
                  <a:cs typeface="Consolas"/>
                </a:rPr>
                <a:t>country 0.63-&gt;0.72 city 0.47-&gt;0.51</a:t>
              </a:r>
            </a:p>
          </p:txBody>
        </p:sp>
      </p:grpSp>
      <p:sp>
        <p:nvSpPr>
          <p:cNvPr id="53" name="cue_s07_c1_headline_result_decisive" title="cue_s07_c1_headline_result_decisive" descr="cue_s07_c1_headline_result_decisive The headline result is decisive."/>
          <p:cNvSpPr/>
          <p:nvPr/>
        </p:nvSpPr>
        <p:spPr>
          <a:xfrm>
            <a:off x="609600" y="1504645"/>
            <a:ext cx="10972800"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2_measured_1_score_georeasoner_beats" title="cue_s07_c2_measured_1_score_georeasoner_beats" descr="cue_s07_c2_measured_1_score_georeasoner_beats Measured by F1 score, GeoReasoner beats the strongest comparable vision-language model, Qwen-VL, by just over twenty-five percent at country level and nearly thirty-nine percent at city level, reaching a country F1 of zero point nine zero and a city F1 of zero"/>
          <p:cNvSpPr/>
          <p:nvPr/>
        </p:nvSpPr>
        <p:spPr>
          <a:xfrm>
            <a:off x="609600" y="2704795"/>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3_even_more_striking_edges_out" title="cue_s07_c3_even_more_striking_edges_out" descr="cue_s07_c3_even_more_striking_edges_out Even more striking, it edges out StreetCLIP, a model built specifically for geo-localization and trained on one point one million street views, while GeoReasoner uses only seventy thousand."/>
          <p:cNvSpPr/>
          <p:nvPr/>
        </p:nvSpPr>
        <p:spPr>
          <a:xfrm>
            <a:off x="6248399" y="2704795"/>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4_authors_also_show_fraction_high_loca" title="cue_s07_c4_authors_also_show_fraction_high_loca" descr="cue_s07_c4_authors_also_show_fraction_high_loca The authors also show that as the fraction of high-locatability images in training rises from zero to one hundred percent, accuracy climbs steadily, proving that the quality of the curated data, not merely its quantity, is what powers the gains."/>
          <p:cNvSpPr/>
          <p:nvPr/>
        </p:nvSpPr>
        <p:spPr>
          <a:xfrm>
            <a:off x="6248399" y="4000271"/>
            <a:ext cx="5334000" cy="122689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734839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fine-tuning stages, each pulling its weight</a:t>
            </a:r>
          </a:p>
        </p:txBody>
      </p:sp>
      <p:grpSp>
        <p:nvGrpSpPr>
          <p:cNvPr id="14" name="Group 14"/>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307689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From baseline, add reasoning tuning</a:t>
              </a:r>
            </a:p>
          </p:txBody>
        </p:sp>
        <p:sp>
          <p:nvSpPr>
            <p:cNvPr id="8" name="TextBox 8"/>
            <p:cNvSpPr txBox="1"/>
            <p:nvPr/>
          </p:nvSpPr>
          <p:spPr>
            <a:xfrm>
              <a:off x="870966" y="2039302"/>
              <a:ext cx="36015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Starting at the Qwen-VL baseline (0.72 / 0.53 F1),</a:t>
              </a:r>
            </a:p>
          </p:txBody>
        </p:sp>
        <p:sp>
          <p:nvSpPr>
            <p:cNvPr id="9" name="TextBox 9"/>
            <p:cNvSpPr txBox="1"/>
            <p:nvPr/>
          </p:nvSpPr>
          <p:spPr>
            <a:xfrm>
              <a:off x="870966" y="2239328"/>
              <a:ext cx="39048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reasoning tuning alone lifts both levels modestly to 0.82</a:t>
              </a:r>
            </a:p>
          </p:txBody>
        </p:sp>
        <p:sp>
          <p:nvSpPr>
            <p:cNvPr id="10" name="TextBox 10"/>
            <p:cNvSpPr txBox="1"/>
            <p:nvPr/>
          </p:nvSpPr>
          <p:spPr>
            <a:xfrm>
              <a:off x="870966" y="2439352"/>
              <a:ext cx="5195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 0.58.</a:t>
              </a:r>
            </a:p>
          </p:txBody>
        </p:sp>
        <p:sp>
          <p:nvSpPr>
            <p:cNvPr id="11" name="Rectangle 11"/>
            <p:cNvSpPr/>
            <p:nvPr/>
          </p:nvSpPr>
          <p:spPr>
            <a:xfrm>
              <a:off x="876300" y="2552700"/>
              <a:ext cx="4457700" cy="266700"/>
            </a:xfrm>
            <a:prstGeom prst="roundRect">
              <a:avLst>
                <a:gd name="adj" fmla="val 28571"/>
              </a:avLst>
            </a:prstGeom>
            <a:solidFill>
              <a:schemeClr val="accent6"/>
            </a:solidFill>
            <a:ln w="14288">
              <a:solidFill>
                <a:srgbClr val="26455F"/>
              </a:solidFill>
            </a:ln>
          </p:spPr>
        </p:sp>
        <p:sp>
          <p:nvSpPr>
            <p:cNvPr id="12" name="Ellipse 12"/>
            <p:cNvSpPr/>
            <p:nvPr/>
          </p:nvSpPr>
          <p:spPr>
            <a:xfrm>
              <a:off x="1000125" y="2638425"/>
              <a:ext cx="95250" cy="95250"/>
            </a:xfrm>
            <a:prstGeom prst="ellipse">
              <a:avLst/>
            </a:prstGeom>
            <a:solidFill>
              <a:schemeClr val="accent2"/>
            </a:solidFill>
            <a:ln>
              <a:noFill/>
            </a:ln>
          </p:spPr>
        </p:sp>
        <p:sp>
          <p:nvSpPr>
            <p:cNvPr id="13" name="TextBox 13"/>
            <p:cNvSpPr txBox="1"/>
            <p:nvPr/>
          </p:nvSpPr>
          <p:spPr>
            <a:xfrm>
              <a:off x="1194626" y="2625804"/>
              <a:ext cx="330049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baseline 0.72/0.53 -&gt; +reasoning 0.82/0.58</a:t>
              </a:r>
            </a:p>
          </p:txBody>
        </p:sp>
      </p:grpSp>
      <p:grpSp>
        <p:nvGrpSpPr>
          <p:cNvPr id="29" name="Group 29"/>
          <p:cNvGrpSpPr/>
          <p:nvPr/>
        </p:nvGrpSpPr>
        <p:grpSpPr>
          <a:xfrm>
            <a:off x="609600" y="3086100"/>
            <a:ext cx="5334000" cy="2152650"/>
            <a:chOff x="609600" y="3086100"/>
            <a:chExt cx="5334000" cy="2152650"/>
          </a:xfrm>
        </p:grpSpPr>
        <p:sp>
          <p:nvSpPr>
            <p:cNvPr id="15" name="Rectangle 15"/>
            <p:cNvSpPr/>
            <p:nvPr/>
          </p:nvSpPr>
          <p:spPr>
            <a:xfrm>
              <a:off x="609600" y="3086100"/>
              <a:ext cx="5334000" cy="2152650"/>
            </a:xfrm>
            <a:prstGeom prst="roundRect">
              <a:avLst>
                <a:gd name="adj" fmla="val 6195"/>
              </a:avLst>
            </a:prstGeom>
            <a:solidFill>
              <a:srgbClr val="0F2E2B"/>
            </a:solidFill>
            <a:ln w="14288">
              <a:solidFill>
                <a:srgbClr val="48C78E"/>
              </a:solidFill>
            </a:ln>
          </p:spPr>
        </p:sp>
        <p:sp>
          <p:nvSpPr>
            <p:cNvPr id="16" name="Rectangle 16"/>
            <p:cNvSpPr/>
            <p:nvPr/>
          </p:nvSpPr>
          <p:spPr>
            <a:xfrm>
              <a:off x="609600" y="3086100"/>
              <a:ext cx="57150" cy="2152650"/>
            </a:xfrm>
            <a:prstGeom prst="roundRect">
              <a:avLst>
                <a:gd name="adj" fmla="val 50000"/>
              </a:avLst>
            </a:prstGeom>
            <a:solidFill>
              <a:srgbClr val="48C78E"/>
            </a:solidFill>
            <a:ln>
              <a:noFill/>
            </a:ln>
          </p:spPr>
        </p:sp>
        <p:sp>
          <p:nvSpPr>
            <p:cNvPr id="17" name="TextBox 17"/>
            <p:cNvSpPr txBox="1"/>
            <p:nvPr/>
          </p:nvSpPr>
          <p:spPr>
            <a:xfrm>
              <a:off x="870204" y="3318510"/>
              <a:ext cx="3274505"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Location tuning: the big city-level jump</a:t>
              </a:r>
            </a:p>
          </p:txBody>
        </p:sp>
        <p:sp>
          <p:nvSpPr>
            <p:cNvPr id="18" name="TextBox 18"/>
            <p:cNvSpPr txBox="1"/>
            <p:nvPr/>
          </p:nvSpPr>
          <p:spPr>
            <a:xfrm>
              <a:off x="870966" y="3620452"/>
              <a:ext cx="354898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Adding location tuning alone produces a much larger</a:t>
              </a:r>
            </a:p>
          </p:txBody>
        </p:sp>
        <p:sp>
          <p:nvSpPr>
            <p:cNvPr id="19" name="TextBox 19"/>
            <p:cNvSpPr txBox="1"/>
            <p:nvPr/>
          </p:nvSpPr>
          <p:spPr>
            <a:xfrm>
              <a:off x="870966" y="3820478"/>
              <a:ext cx="328294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jump, especially at the fine-grained city level -</a:t>
              </a:r>
            </a:p>
          </p:txBody>
        </p:sp>
        <p:sp>
          <p:nvSpPr>
            <p:cNvPr id="20" name="TextBox 20"/>
            <p:cNvSpPr txBox="1"/>
            <p:nvPr/>
          </p:nvSpPr>
          <p:spPr>
            <a:xfrm>
              <a:off x="870966" y="4020502"/>
              <a:ext cx="222281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essential for pinpointing cities.</a:t>
              </a:r>
            </a:p>
          </p:txBody>
        </p:sp>
        <p:sp>
          <p:nvSpPr>
            <p:cNvPr id="21" name="Rectangle 21"/>
            <p:cNvSpPr/>
            <p:nvPr/>
          </p:nvSpPr>
          <p:spPr>
            <a:xfrm>
              <a:off x="3048000" y="4495800"/>
              <a:ext cx="2095500" cy="228600"/>
            </a:xfrm>
            <a:prstGeom prst="roundRect">
              <a:avLst>
                <a:gd name="adj" fmla="val 25000"/>
              </a:avLst>
            </a:prstGeom>
            <a:solidFill>
              <a:srgbClr val="0E2334"/>
            </a:solidFill>
            <a:ln w="9525">
              <a:solidFill>
                <a:srgbClr val="26455F"/>
              </a:solidFill>
            </a:ln>
          </p:spPr>
        </p:sp>
        <p:sp>
          <p:nvSpPr>
            <p:cNvPr id="22" name="Rectangle 22"/>
            <p:cNvSpPr/>
            <p:nvPr/>
          </p:nvSpPr>
          <p:spPr>
            <a:xfrm>
              <a:off x="3048000" y="4495800"/>
              <a:ext cx="1104900" cy="228600"/>
            </a:xfrm>
            <a:prstGeom prst="roundRect">
              <a:avLst>
                <a:gd name="adj" fmla="val 25000"/>
              </a:avLst>
            </a:prstGeom>
            <a:solidFill>
              <a:schemeClr val="dk2"/>
            </a:solidFill>
            <a:ln>
              <a:noFill/>
            </a:ln>
          </p:spPr>
        </p:sp>
        <p:sp>
          <p:nvSpPr>
            <p:cNvPr id="23" name="TextBox 23"/>
            <p:cNvSpPr txBox="1"/>
            <p:nvPr/>
          </p:nvSpPr>
          <p:spPr>
            <a:xfrm>
              <a:off x="2015592" y="4561522"/>
              <a:ext cx="92344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baseline city</a:t>
              </a:r>
            </a:p>
          </p:txBody>
        </p:sp>
        <p:sp>
          <p:nvSpPr>
            <p:cNvPr id="24" name="TextBox 24"/>
            <p:cNvSpPr txBox="1"/>
            <p:nvPr/>
          </p:nvSpPr>
          <p:spPr>
            <a:xfrm>
              <a:off x="4242816" y="4561522"/>
              <a:ext cx="33718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0.53</a:t>
              </a:r>
            </a:p>
          </p:txBody>
        </p:sp>
        <p:sp>
          <p:nvSpPr>
            <p:cNvPr id="25" name="Rectangle 25"/>
            <p:cNvSpPr/>
            <p:nvPr/>
          </p:nvSpPr>
          <p:spPr>
            <a:xfrm>
              <a:off x="3048000" y="4819650"/>
              <a:ext cx="2095500" cy="228600"/>
            </a:xfrm>
            <a:prstGeom prst="roundRect">
              <a:avLst>
                <a:gd name="adj" fmla="val 25000"/>
              </a:avLst>
            </a:prstGeom>
            <a:solidFill>
              <a:srgbClr val="0E2334"/>
            </a:solidFill>
            <a:ln w="9525">
              <a:solidFill>
                <a:srgbClr val="26455F"/>
              </a:solidFill>
            </a:ln>
          </p:spPr>
        </p:sp>
        <p:sp>
          <p:nvSpPr>
            <p:cNvPr id="26" name="Rectangle 26"/>
            <p:cNvSpPr/>
            <p:nvPr/>
          </p:nvSpPr>
          <p:spPr>
            <a:xfrm>
              <a:off x="3048000" y="4819650"/>
              <a:ext cx="1733550" cy="228600"/>
            </a:xfrm>
            <a:prstGeom prst="roundRect">
              <a:avLst>
                <a:gd name="adj" fmla="val 25000"/>
              </a:avLst>
            </a:prstGeom>
            <a:solidFill>
              <a:srgbClr val="48C78E"/>
            </a:solidFill>
            <a:ln>
              <a:noFill/>
            </a:ln>
          </p:spPr>
        </p:sp>
        <p:sp>
          <p:nvSpPr>
            <p:cNvPr id="27" name="TextBox 27"/>
            <p:cNvSpPr txBox="1"/>
            <p:nvPr/>
          </p:nvSpPr>
          <p:spPr>
            <a:xfrm>
              <a:off x="1933962" y="4885372"/>
              <a:ext cx="100507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+location city</a:t>
              </a:r>
            </a:p>
          </p:txBody>
        </p:sp>
        <p:sp>
          <p:nvSpPr>
            <p:cNvPr id="28" name="TextBox 28"/>
            <p:cNvSpPr txBox="1"/>
            <p:nvPr/>
          </p:nvSpPr>
          <p:spPr>
            <a:xfrm>
              <a:off x="4871466" y="488537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0.83</a:t>
              </a:r>
            </a:p>
          </p:txBody>
        </p:sp>
      </p:grpSp>
      <p:grpSp>
        <p:nvGrpSpPr>
          <p:cNvPr id="36" name="Group 36"/>
          <p:cNvGrpSpPr/>
          <p:nvPr/>
        </p:nvGrpSpPr>
        <p:grpSpPr>
          <a:xfrm>
            <a:off x="6248400" y="1504950"/>
            <a:ext cx="5334000" cy="1428750"/>
            <a:chOff x="6248400" y="1504950"/>
            <a:chExt cx="5334000" cy="1428750"/>
          </a:xfrm>
        </p:grpSpPr>
        <p:sp>
          <p:nvSpPr>
            <p:cNvPr id="30" name="Rectangle 30"/>
            <p:cNvSpPr/>
            <p:nvPr/>
          </p:nvSpPr>
          <p:spPr>
            <a:xfrm>
              <a:off x="6248400" y="1504950"/>
              <a:ext cx="5334000" cy="1428750"/>
            </a:xfrm>
            <a:prstGeom prst="roundRect">
              <a:avLst>
                <a:gd name="adj" fmla="val 9333"/>
              </a:avLst>
            </a:prstGeom>
            <a:solidFill>
              <a:srgbClr val="2A2417"/>
            </a:solidFill>
            <a:ln w="14288">
              <a:solidFill>
                <a:srgbClr val="F2C14E"/>
              </a:solidFill>
            </a:ln>
          </p:spPr>
        </p:sp>
        <p:sp>
          <p:nvSpPr>
            <p:cNvPr id="31" name="Rectangle 31"/>
            <p:cNvSpPr/>
            <p:nvPr/>
          </p:nvSpPr>
          <p:spPr>
            <a:xfrm>
              <a:off x="6248400" y="1504950"/>
              <a:ext cx="57150" cy="1428750"/>
            </a:xfrm>
            <a:prstGeom prst="roundRect">
              <a:avLst>
                <a:gd name="adj" fmla="val 50000"/>
              </a:avLst>
            </a:prstGeom>
            <a:solidFill>
              <a:srgbClr val="F2C14E"/>
            </a:solidFill>
            <a:ln>
              <a:noFill/>
            </a:ln>
          </p:spPr>
        </p:sp>
        <p:sp>
          <p:nvSpPr>
            <p:cNvPr id="32" name="TextBox 32"/>
            <p:cNvSpPr txBox="1"/>
            <p:nvPr/>
          </p:nvSpPr>
          <p:spPr>
            <a:xfrm>
              <a:off x="6509004" y="1737360"/>
              <a:ext cx="274053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Both stages stacked = strongest</a:t>
              </a:r>
            </a:p>
          </p:txBody>
        </p:sp>
        <p:sp>
          <p:nvSpPr>
            <p:cNvPr id="33" name="TextBox 33"/>
            <p:cNvSpPr txBox="1"/>
            <p:nvPr/>
          </p:nvSpPr>
          <p:spPr>
            <a:xfrm>
              <a:off x="6509766" y="2039302"/>
              <a:ext cx="39379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full two-stage model is best of all, reaching country</a:t>
              </a:r>
            </a:p>
          </p:txBody>
        </p:sp>
        <p:sp>
          <p:nvSpPr>
            <p:cNvPr id="34" name="TextBox 34"/>
            <p:cNvSpPr txBox="1"/>
            <p:nvPr/>
          </p:nvSpPr>
          <p:spPr>
            <a:xfrm>
              <a:off x="6509766" y="2239328"/>
              <a:ext cx="176399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F1 0.90 and city F1 0.86.</a:t>
              </a:r>
            </a:p>
          </p:txBody>
        </p:sp>
        <p:sp>
          <p:nvSpPr>
            <p:cNvPr id="35" name="TextBox 35"/>
            <p:cNvSpPr txBox="1"/>
            <p:nvPr/>
          </p:nvSpPr>
          <p:spPr>
            <a:xfrm>
              <a:off x="6510147" y="2714149"/>
              <a:ext cx="2551821"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full model -&gt; 0.90 country · 0.86 city</a:t>
              </a:r>
            </a:p>
          </p:txBody>
        </p:sp>
      </p:grpSp>
      <p:grpSp>
        <p:nvGrpSpPr>
          <p:cNvPr id="58" name="Group 58"/>
          <p:cNvGrpSpPr/>
          <p:nvPr/>
        </p:nvGrpSpPr>
        <p:grpSpPr>
          <a:xfrm>
            <a:off x="6248400" y="3086100"/>
            <a:ext cx="5334000" cy="2225611"/>
            <a:chOff x="6248400" y="3086100"/>
            <a:chExt cx="5334000" cy="2225611"/>
          </a:xfrm>
        </p:grpSpPr>
        <p:sp>
          <p:nvSpPr>
            <p:cNvPr id="37" name="Rectangle 37"/>
            <p:cNvSpPr/>
            <p:nvPr/>
          </p:nvSpPr>
          <p:spPr>
            <a:xfrm>
              <a:off x="6248400" y="3086100"/>
              <a:ext cx="5334000" cy="2152650"/>
            </a:xfrm>
            <a:prstGeom prst="roundRect">
              <a:avLst>
                <a:gd name="adj" fmla="val 6195"/>
              </a:avLst>
            </a:prstGeom>
            <a:solidFill>
              <a:schemeClr val="accent5"/>
            </a:solidFill>
            <a:ln w="14288">
              <a:solidFill>
                <a:srgbClr val="26455F"/>
              </a:solidFill>
            </a:ln>
          </p:spPr>
        </p:sp>
        <p:sp>
          <p:nvSpPr>
            <p:cNvPr id="38" name="Rectangle 38"/>
            <p:cNvSpPr/>
            <p:nvPr/>
          </p:nvSpPr>
          <p:spPr>
            <a:xfrm>
              <a:off x="6248400" y="3086100"/>
              <a:ext cx="57150" cy="2152650"/>
            </a:xfrm>
            <a:prstGeom prst="roundRect">
              <a:avLst>
                <a:gd name="adj" fmla="val 50000"/>
              </a:avLst>
            </a:prstGeom>
            <a:solidFill>
              <a:srgbClr val="34D3C0"/>
            </a:solidFill>
            <a:ln>
              <a:noFill/>
            </a:ln>
          </p:spPr>
        </p:sp>
        <p:sp>
          <p:nvSpPr>
            <p:cNvPr id="39" name="TextBox 39"/>
            <p:cNvSpPr txBox="1"/>
            <p:nvPr/>
          </p:nvSpPr>
          <p:spPr>
            <a:xfrm>
              <a:off x="6508814" y="3314462"/>
              <a:ext cx="2989494"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The two stages are complementary</a:t>
              </a:r>
            </a:p>
          </p:txBody>
        </p:sp>
        <p:sp>
          <p:nvSpPr>
            <p:cNvPr id="40" name="TextBox 40"/>
            <p:cNvSpPr txBox="1"/>
            <p:nvPr/>
          </p:nvSpPr>
          <p:spPr>
            <a:xfrm>
              <a:off x="6509956" y="3605451"/>
              <a:ext cx="346127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Location tuning supplies precision; reasoning tuning</a:t>
              </a:r>
            </a:p>
          </p:txBody>
        </p:sp>
        <p:sp>
          <p:nvSpPr>
            <p:cNvPr id="41" name="TextBox 41"/>
            <p:cNvSpPr txBox="1"/>
            <p:nvPr/>
          </p:nvSpPr>
          <p:spPr>
            <a:xfrm>
              <a:off x="6509956" y="3786426"/>
              <a:ext cx="270241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supplies explanations and a further lift.</a:t>
              </a:r>
            </a:p>
          </p:txBody>
        </p:sp>
        <p:sp>
          <p:nvSpPr>
            <p:cNvPr id="42" name="Rectangle 42"/>
            <p:cNvSpPr/>
            <p:nvPr/>
          </p:nvSpPr>
          <p:spPr>
            <a:xfrm>
              <a:off x="8115300" y="4210050"/>
              <a:ext cx="2857500" cy="190500"/>
            </a:xfrm>
            <a:prstGeom prst="roundRect">
              <a:avLst>
                <a:gd name="adj" fmla="val 30000"/>
              </a:avLst>
            </a:prstGeom>
            <a:solidFill>
              <a:srgbClr val="0E2334"/>
            </a:solidFill>
            <a:ln w="9525">
              <a:solidFill>
                <a:srgbClr val="26455F"/>
              </a:solidFill>
            </a:ln>
          </p:spPr>
        </p:sp>
        <p:sp>
          <p:nvSpPr>
            <p:cNvPr id="43" name="Rectangle 43"/>
            <p:cNvSpPr/>
            <p:nvPr/>
          </p:nvSpPr>
          <p:spPr>
            <a:xfrm>
              <a:off x="8115300" y="4210050"/>
              <a:ext cx="1514475" cy="190500"/>
            </a:xfrm>
            <a:prstGeom prst="roundRect">
              <a:avLst>
                <a:gd name="adj" fmla="val 30000"/>
              </a:avLst>
            </a:prstGeom>
            <a:solidFill>
              <a:schemeClr val="dk2"/>
            </a:solidFill>
            <a:ln>
              <a:noFill/>
            </a:ln>
          </p:spPr>
        </p:sp>
        <p:sp>
          <p:nvSpPr>
            <p:cNvPr id="44" name="TextBox 44"/>
            <p:cNvSpPr txBox="1"/>
            <p:nvPr/>
          </p:nvSpPr>
          <p:spPr>
            <a:xfrm>
              <a:off x="7416834" y="4249102"/>
              <a:ext cx="58950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baseline</a:t>
              </a:r>
            </a:p>
          </p:txBody>
        </p:sp>
        <p:sp>
          <p:nvSpPr>
            <p:cNvPr id="45" name="TextBox 45"/>
            <p:cNvSpPr txBox="1"/>
            <p:nvPr/>
          </p:nvSpPr>
          <p:spPr>
            <a:xfrm>
              <a:off x="9719691" y="4249102"/>
              <a:ext cx="33718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0.53</a:t>
              </a:r>
            </a:p>
          </p:txBody>
        </p:sp>
        <p:sp>
          <p:nvSpPr>
            <p:cNvPr id="46" name="Rectangle 46"/>
            <p:cNvSpPr/>
            <p:nvPr/>
          </p:nvSpPr>
          <p:spPr>
            <a:xfrm>
              <a:off x="8115300" y="4495800"/>
              <a:ext cx="2857500" cy="190500"/>
            </a:xfrm>
            <a:prstGeom prst="roundRect">
              <a:avLst>
                <a:gd name="adj" fmla="val 30000"/>
              </a:avLst>
            </a:prstGeom>
            <a:solidFill>
              <a:srgbClr val="0E2334"/>
            </a:solidFill>
            <a:ln w="9525">
              <a:solidFill>
                <a:srgbClr val="26455F"/>
              </a:solidFill>
            </a:ln>
          </p:spPr>
        </p:sp>
        <p:sp>
          <p:nvSpPr>
            <p:cNvPr id="47" name="Rectangle 47"/>
            <p:cNvSpPr/>
            <p:nvPr/>
          </p:nvSpPr>
          <p:spPr>
            <a:xfrm>
              <a:off x="8115300" y="4495800"/>
              <a:ext cx="1657350" cy="190500"/>
            </a:xfrm>
            <a:prstGeom prst="roundRect">
              <a:avLst>
                <a:gd name="adj" fmla="val 30000"/>
              </a:avLst>
            </a:prstGeom>
            <a:solidFill>
              <a:schemeClr val="accent2"/>
            </a:solidFill>
            <a:ln>
              <a:noFill/>
            </a:ln>
          </p:spPr>
        </p:sp>
        <p:sp>
          <p:nvSpPr>
            <p:cNvPr id="48" name="TextBox 48"/>
            <p:cNvSpPr txBox="1"/>
            <p:nvPr/>
          </p:nvSpPr>
          <p:spPr>
            <a:xfrm>
              <a:off x="7424255" y="4534852"/>
              <a:ext cx="58207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+reason</a:t>
              </a:r>
            </a:p>
          </p:txBody>
        </p:sp>
        <p:sp>
          <p:nvSpPr>
            <p:cNvPr id="49" name="TextBox 49"/>
            <p:cNvSpPr txBox="1"/>
            <p:nvPr/>
          </p:nvSpPr>
          <p:spPr>
            <a:xfrm>
              <a:off x="9862566" y="4534852"/>
              <a:ext cx="33718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0.58</a:t>
              </a:r>
            </a:p>
          </p:txBody>
        </p:sp>
        <p:sp>
          <p:nvSpPr>
            <p:cNvPr id="50" name="Rectangle 50"/>
            <p:cNvSpPr/>
            <p:nvPr/>
          </p:nvSpPr>
          <p:spPr>
            <a:xfrm>
              <a:off x="8115300" y="4781550"/>
              <a:ext cx="2857500" cy="190500"/>
            </a:xfrm>
            <a:prstGeom prst="roundRect">
              <a:avLst>
                <a:gd name="adj" fmla="val 30000"/>
              </a:avLst>
            </a:prstGeom>
            <a:solidFill>
              <a:srgbClr val="0E2334"/>
            </a:solidFill>
            <a:ln w="9525">
              <a:solidFill>
                <a:srgbClr val="26455F"/>
              </a:solidFill>
            </a:ln>
          </p:spPr>
        </p:sp>
        <p:sp>
          <p:nvSpPr>
            <p:cNvPr id="51" name="Rectangle 51"/>
            <p:cNvSpPr/>
            <p:nvPr/>
          </p:nvSpPr>
          <p:spPr>
            <a:xfrm>
              <a:off x="8115300" y="4781550"/>
              <a:ext cx="2371725" cy="190500"/>
            </a:xfrm>
            <a:prstGeom prst="roundRect">
              <a:avLst>
                <a:gd name="adj" fmla="val 30000"/>
              </a:avLst>
            </a:prstGeom>
            <a:solidFill>
              <a:srgbClr val="48C78E"/>
            </a:solidFill>
            <a:ln>
              <a:noFill/>
            </a:ln>
          </p:spPr>
        </p:sp>
        <p:sp>
          <p:nvSpPr>
            <p:cNvPr id="52" name="TextBox 52"/>
            <p:cNvSpPr txBox="1"/>
            <p:nvPr/>
          </p:nvSpPr>
          <p:spPr>
            <a:xfrm>
              <a:off x="7335203" y="4820602"/>
              <a:ext cx="67113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+location</a:t>
              </a:r>
            </a:p>
          </p:txBody>
        </p:sp>
        <p:sp>
          <p:nvSpPr>
            <p:cNvPr id="53" name="TextBox 53"/>
            <p:cNvSpPr txBox="1"/>
            <p:nvPr/>
          </p:nvSpPr>
          <p:spPr>
            <a:xfrm>
              <a:off x="10576941" y="482060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0.83</a:t>
              </a:r>
            </a:p>
          </p:txBody>
        </p:sp>
        <p:sp>
          <p:nvSpPr>
            <p:cNvPr id="54" name="Rectangle 54"/>
            <p:cNvSpPr/>
            <p:nvPr/>
          </p:nvSpPr>
          <p:spPr>
            <a:xfrm>
              <a:off x="8115300" y="5067300"/>
              <a:ext cx="2857500" cy="190500"/>
            </a:xfrm>
            <a:prstGeom prst="roundRect">
              <a:avLst>
                <a:gd name="adj" fmla="val 30000"/>
              </a:avLst>
            </a:prstGeom>
            <a:solidFill>
              <a:srgbClr val="0E2334"/>
            </a:solidFill>
            <a:ln w="9525">
              <a:solidFill>
                <a:srgbClr val="26455F"/>
              </a:solidFill>
            </a:ln>
          </p:spPr>
        </p:sp>
        <p:sp>
          <p:nvSpPr>
            <p:cNvPr id="55" name="Rectangle 55"/>
            <p:cNvSpPr/>
            <p:nvPr/>
          </p:nvSpPr>
          <p:spPr>
            <a:xfrm>
              <a:off x="8115300" y="5067300"/>
              <a:ext cx="2457450" cy="190500"/>
            </a:xfrm>
            <a:prstGeom prst="roundRect">
              <a:avLst>
                <a:gd name="adj" fmla="val 30000"/>
              </a:avLst>
            </a:prstGeom>
            <a:solidFill>
              <a:srgbClr val="34D3C0"/>
            </a:solidFill>
            <a:ln>
              <a:noFill/>
            </a:ln>
          </p:spPr>
        </p:sp>
        <p:sp>
          <p:nvSpPr>
            <p:cNvPr id="56" name="TextBox 56"/>
            <p:cNvSpPr txBox="1"/>
            <p:nvPr/>
          </p:nvSpPr>
          <p:spPr>
            <a:xfrm>
              <a:off x="7298099" y="5106352"/>
              <a:ext cx="70823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full model</a:t>
              </a:r>
            </a:p>
          </p:txBody>
        </p:sp>
        <p:sp>
          <p:nvSpPr>
            <p:cNvPr id="57" name="TextBox 57"/>
            <p:cNvSpPr txBox="1"/>
            <p:nvPr/>
          </p:nvSpPr>
          <p:spPr>
            <a:xfrm>
              <a:off x="10662666" y="5106352"/>
              <a:ext cx="337189"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0.86</a:t>
              </a:r>
            </a:p>
          </p:txBody>
        </p:sp>
      </p:grpSp>
      <p:sp>
        <p:nvSpPr>
          <p:cNvPr id="59" name="cue_s08_c1_ablation_isolates_contribution_fine" title="cue_s08_c1_ablation_isolates_contribution_fine" descr="cue_s08_c1_ablation_isolates_contribution_fine An ablation isolates the contribution of each fine-tuning stage. Starting from the Qwen-VL baseline, adding only reasoning tuning improves country and city F1 modestly."/>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8_c2_adding_only_location_tuning_produces" title="cue_s08_c2_adding_only_location_tuning_produces" descr="cue_s08_c2_adding_only_location_tuning_produces Adding only location tuning produces a much larger jump, especially at the fine-grained city level, confirming that location tuning is essential for pinpointing cities."/>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8_c3_but_full_both_stages_stacked" title="cue_s08_c3_but_full_both_stages_stacked" descr="cue_s08_c3_but_full_both_stages_stacked But the full model, with both stages stacked, is the strongest of all, reaching a country F1 of zero point nine zero and a city F1 of zero point eight six."/>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8_c4_two_stages_complementary_location_tu" title="cue_s08_c4_two_stages_complementary_location_tu" descr="cue_s08_c4_two_stages_complementary_location_tu The two stages are complementary: location tuning supplies precision, reasoning tuning supplies explanations and a further accuracy lift."/>
          <p:cNvSpPr/>
          <p:nvPr/>
        </p:nvSpPr>
        <p:spPr>
          <a:xfrm>
            <a:off x="6248399" y="3086100"/>
            <a:ext cx="5334000" cy="2225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7" name="Group 17"/>
          <p:cNvGrpSpPr/>
          <p:nvPr/>
        </p:nvGrpSpPr>
        <p:grpSpPr>
          <a:xfrm>
            <a:off x="609600" y="1581150"/>
            <a:ext cx="10972800" cy="1428750"/>
            <a:chOff x="609600" y="1581150"/>
            <a:chExt cx="10972800" cy="1428750"/>
          </a:xfrm>
        </p:grpSpPr>
        <p:sp>
          <p:nvSpPr>
            <p:cNvPr id="5" name="Rectangle 5"/>
            <p:cNvSpPr/>
            <p:nvPr/>
          </p:nvSpPr>
          <p:spPr>
            <a:xfrm>
              <a:off x="609600" y="158115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81150"/>
              <a:ext cx="57150" cy="1428750"/>
            </a:xfrm>
            <a:prstGeom prst="roundRect">
              <a:avLst>
                <a:gd name="adj" fmla="val 50000"/>
              </a:avLst>
            </a:prstGeom>
            <a:solidFill>
              <a:srgbClr val="48C78E"/>
            </a:solidFill>
            <a:ln>
              <a:noFill/>
            </a:ln>
          </p:spPr>
        </p:sp>
        <p:sp>
          <p:nvSpPr>
            <p:cNvPr id="7" name="TextBox 7"/>
            <p:cNvSpPr txBox="1"/>
            <p:nvPr/>
          </p:nvSpPr>
          <p:spPr>
            <a:xfrm>
              <a:off x="870014" y="1790462"/>
              <a:ext cx="4869483"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Margins over the best comparable VLM (Qwen-VL), in F1</a:t>
              </a:r>
            </a:p>
          </p:txBody>
        </p:sp>
        <p:sp>
          <p:nvSpPr>
            <p:cNvPr id="8" name="Rectangle 8"/>
            <p:cNvSpPr/>
            <p:nvPr/>
          </p:nvSpPr>
          <p:spPr>
            <a:xfrm>
              <a:off x="876300" y="2095500"/>
              <a:ext cx="2857500" cy="762000"/>
            </a:xfrm>
            <a:prstGeom prst="roundRect">
              <a:avLst>
                <a:gd name="adj" fmla="val 15000"/>
              </a:avLst>
            </a:prstGeom>
            <a:solidFill>
              <a:schemeClr val="accent6"/>
            </a:solidFill>
            <a:ln w="14288">
              <a:solidFill>
                <a:srgbClr val="26455F"/>
              </a:solidFill>
            </a:ln>
          </p:spPr>
        </p:sp>
        <p:sp>
          <p:nvSpPr>
            <p:cNvPr id="9" name="TextBox 9"/>
            <p:cNvSpPr txBox="1"/>
            <p:nvPr/>
          </p:nvSpPr>
          <p:spPr>
            <a:xfrm>
              <a:off x="1710766" y="2271522"/>
              <a:ext cx="1188568"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+25.02%</a:t>
              </a:r>
            </a:p>
          </p:txBody>
        </p:sp>
        <p:sp>
          <p:nvSpPr>
            <p:cNvPr id="10" name="TextBox 10"/>
            <p:cNvSpPr txBox="1"/>
            <p:nvPr/>
          </p:nvSpPr>
          <p:spPr>
            <a:xfrm>
              <a:off x="1763157" y="2603897"/>
              <a:ext cx="108378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country-level F1</a:t>
              </a:r>
            </a:p>
          </p:txBody>
        </p:sp>
        <p:sp>
          <p:nvSpPr>
            <p:cNvPr id="11" name="Rectangle 11"/>
            <p:cNvSpPr/>
            <p:nvPr/>
          </p:nvSpPr>
          <p:spPr>
            <a:xfrm>
              <a:off x="3924300" y="2095500"/>
              <a:ext cx="2857500" cy="762000"/>
            </a:xfrm>
            <a:prstGeom prst="roundRect">
              <a:avLst>
                <a:gd name="adj" fmla="val 15000"/>
              </a:avLst>
            </a:prstGeom>
            <a:solidFill>
              <a:schemeClr val="accent6"/>
            </a:solidFill>
            <a:ln w="14288">
              <a:solidFill>
                <a:srgbClr val="26455F"/>
              </a:solidFill>
            </a:ln>
          </p:spPr>
        </p:sp>
        <p:sp>
          <p:nvSpPr>
            <p:cNvPr id="12" name="TextBox 12"/>
            <p:cNvSpPr txBox="1"/>
            <p:nvPr/>
          </p:nvSpPr>
          <p:spPr>
            <a:xfrm>
              <a:off x="4758766" y="2271522"/>
              <a:ext cx="1188568"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+38.61%</a:t>
              </a:r>
            </a:p>
          </p:txBody>
        </p:sp>
        <p:sp>
          <p:nvSpPr>
            <p:cNvPr id="13" name="TextBox 13"/>
            <p:cNvSpPr txBox="1"/>
            <p:nvPr/>
          </p:nvSpPr>
          <p:spPr>
            <a:xfrm>
              <a:off x="4937400" y="2603897"/>
              <a:ext cx="83130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city-level F1</a:t>
              </a:r>
            </a:p>
          </p:txBody>
        </p:sp>
        <p:sp>
          <p:nvSpPr>
            <p:cNvPr id="14" name="Rectangle 14"/>
            <p:cNvSpPr/>
            <p:nvPr/>
          </p:nvSpPr>
          <p:spPr>
            <a:xfrm>
              <a:off x="6972300" y="2095500"/>
              <a:ext cx="4610100" cy="762000"/>
            </a:xfrm>
            <a:prstGeom prst="roundRect">
              <a:avLst>
                <a:gd name="adj" fmla="val 15000"/>
              </a:avLst>
            </a:prstGeom>
            <a:solidFill>
              <a:schemeClr val="accent6"/>
            </a:solidFill>
            <a:ln w="14288">
              <a:solidFill>
                <a:srgbClr val="26455F"/>
              </a:solidFill>
            </a:ln>
          </p:spPr>
        </p:sp>
        <p:sp>
          <p:nvSpPr>
            <p:cNvPr id="15" name="TextBox 15"/>
            <p:cNvSpPr txBox="1"/>
            <p:nvPr/>
          </p:nvSpPr>
          <p:spPr>
            <a:xfrm>
              <a:off x="7157847" y="2275999"/>
              <a:ext cx="330977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Full-model F1: 0.9033 country, 0.8585 city - a new</a:t>
              </a:r>
            </a:p>
          </p:txBody>
        </p:sp>
        <p:sp>
          <p:nvSpPr>
            <p:cNvPr id="16" name="TextBox 16"/>
            <p:cNvSpPr txBox="1"/>
            <p:nvPr/>
          </p:nvSpPr>
          <p:spPr>
            <a:xfrm>
              <a:off x="7157847" y="2456974"/>
              <a:ext cx="114448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state of the art.</a:t>
              </a:r>
            </a:p>
          </p:txBody>
        </p:sp>
      </p:grpSp>
      <p:grpSp>
        <p:nvGrpSpPr>
          <p:cNvPr id="29" name="Group 29"/>
          <p:cNvGrpSpPr/>
          <p:nvPr/>
        </p:nvGrpSpPr>
        <p:grpSpPr>
          <a:xfrm>
            <a:off x="609600" y="3162300"/>
            <a:ext cx="5334000" cy="2076450"/>
            <a:chOff x="609600" y="3162300"/>
            <a:chExt cx="5334000" cy="2076450"/>
          </a:xfrm>
        </p:grpSpPr>
        <p:sp>
          <p:nvSpPr>
            <p:cNvPr id="18" name="Rectangle 18"/>
            <p:cNvSpPr/>
            <p:nvPr/>
          </p:nvSpPr>
          <p:spPr>
            <a:xfrm>
              <a:off x="609600" y="3162300"/>
              <a:ext cx="5334000" cy="2076450"/>
            </a:xfrm>
            <a:prstGeom prst="roundRect">
              <a:avLst>
                <a:gd name="adj" fmla="val 6422"/>
              </a:avLst>
            </a:prstGeom>
            <a:solidFill>
              <a:srgbClr val="0F2E2B"/>
            </a:solidFill>
            <a:ln w="14288">
              <a:solidFill>
                <a:srgbClr val="34D3C0"/>
              </a:solidFill>
            </a:ln>
          </p:spPr>
        </p:sp>
        <p:sp>
          <p:nvSpPr>
            <p:cNvPr id="19" name="Rectangle 19"/>
            <p:cNvSpPr/>
            <p:nvPr/>
          </p:nvSpPr>
          <p:spPr>
            <a:xfrm>
              <a:off x="609600" y="3162300"/>
              <a:ext cx="57150" cy="2076450"/>
            </a:xfrm>
            <a:prstGeom prst="roundRect">
              <a:avLst>
                <a:gd name="adj" fmla="val 50000"/>
              </a:avLst>
            </a:prstGeom>
            <a:solidFill>
              <a:srgbClr val="34D3C0"/>
            </a:solidFill>
            <a:ln>
              <a:noFill/>
            </a:ln>
          </p:spPr>
        </p:sp>
        <p:sp>
          <p:nvSpPr>
            <p:cNvPr id="20" name="TextBox 20"/>
            <p:cNvSpPr txBox="1"/>
            <p:nvPr/>
          </p:nvSpPr>
          <p:spPr>
            <a:xfrm>
              <a:off x="870014" y="3371612"/>
              <a:ext cx="2849431"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State of the art on far less data</a:t>
              </a:r>
            </a:p>
          </p:txBody>
        </p:sp>
        <p:sp>
          <p:nvSpPr>
            <p:cNvPr id="21" name="TextBox 21"/>
            <p:cNvSpPr txBox="1"/>
            <p:nvPr/>
          </p:nvSpPr>
          <p:spPr>
            <a:xfrm>
              <a:off x="871156" y="3681651"/>
              <a:ext cx="329613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Just 70K training images versus the 1.1M used by</a:t>
              </a:r>
            </a:p>
          </p:txBody>
        </p:sp>
        <p:sp>
          <p:nvSpPr>
            <p:cNvPr id="22" name="TextBox 22"/>
            <p:cNvSpPr txBox="1"/>
            <p:nvPr/>
          </p:nvSpPr>
          <p:spPr>
            <a:xfrm>
              <a:off x="871156" y="3872151"/>
              <a:ext cx="371985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StreetCLIP, which GeoReasoner nonetheless surpasses.</a:t>
              </a:r>
            </a:p>
          </p:txBody>
        </p:sp>
        <p:sp>
          <p:nvSpPr>
            <p:cNvPr id="23" name="Rectangle 23"/>
            <p:cNvSpPr/>
            <p:nvPr/>
          </p:nvSpPr>
          <p:spPr>
            <a:xfrm>
              <a:off x="876300" y="4476750"/>
              <a:ext cx="2247900" cy="609600"/>
            </a:xfrm>
            <a:prstGeom prst="roundRect">
              <a:avLst>
                <a:gd name="adj" fmla="val 18750"/>
              </a:avLst>
            </a:prstGeom>
            <a:solidFill>
              <a:schemeClr val="accent6"/>
            </a:solidFill>
            <a:ln w="14288">
              <a:solidFill>
                <a:srgbClr val="26455F"/>
              </a:solidFill>
            </a:ln>
          </p:spPr>
        </p:sp>
        <p:sp>
          <p:nvSpPr>
            <p:cNvPr id="24" name="TextBox 24"/>
            <p:cNvSpPr txBox="1"/>
            <p:nvPr/>
          </p:nvSpPr>
          <p:spPr>
            <a:xfrm>
              <a:off x="1791118" y="4617568"/>
              <a:ext cx="418263" cy="319187"/>
            </a:xfrm>
            <a:prstGeom prst="rect">
              <a:avLst/>
            </a:prstGeom>
            <a:noFill/>
            <a:ln>
              <a:noFill/>
            </a:ln>
          </p:spPr>
          <p:txBody>
            <a:bodyPr wrap="none" lIns="0" tIns="0" rIns="0" bIns="0" anchor="t" anchorCtr="0">
              <a:spAutoFit/>
            </a:bodyPr>
            <a:lstStyle/>
            <a:p>
              <a:pPr algn="ctr"/>
              <a:r>
                <a:rPr lang="en-US" sz="1630" b="1" dirty="0">
                  <a:solidFill>
                    <a:srgbClr val="34D3C0"/>
                  </a:solidFill>
                  <a:latin typeface="+mn-lt"/>
                  <a:ea typeface="+mn-ea"/>
                  <a:cs typeface="+mn-cs"/>
                </a:rPr>
                <a:t>70K</a:t>
              </a:r>
            </a:p>
          </p:txBody>
        </p:sp>
        <p:sp>
          <p:nvSpPr>
            <p:cNvPr id="25" name="TextBox 25"/>
            <p:cNvSpPr txBox="1"/>
            <p:nvPr/>
          </p:nvSpPr>
          <p:spPr>
            <a:xfrm>
              <a:off x="1353465" y="4863227"/>
              <a:ext cx="129357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GeoReasoner images</a:t>
              </a:r>
            </a:p>
          </p:txBody>
        </p:sp>
        <p:sp>
          <p:nvSpPr>
            <p:cNvPr id="26" name="Rectangle 26"/>
            <p:cNvSpPr/>
            <p:nvPr/>
          </p:nvSpPr>
          <p:spPr>
            <a:xfrm>
              <a:off x="3314700" y="4476750"/>
              <a:ext cx="2247900" cy="609600"/>
            </a:xfrm>
            <a:prstGeom prst="roundRect">
              <a:avLst>
                <a:gd name="adj" fmla="val 18750"/>
              </a:avLst>
            </a:prstGeom>
            <a:solidFill>
              <a:schemeClr val="accent6"/>
            </a:solidFill>
            <a:ln w="14288">
              <a:solidFill>
                <a:srgbClr val="26455F"/>
              </a:solidFill>
            </a:ln>
          </p:spPr>
        </p:sp>
        <p:sp>
          <p:nvSpPr>
            <p:cNvPr id="27" name="TextBox 27"/>
            <p:cNvSpPr txBox="1"/>
            <p:nvPr/>
          </p:nvSpPr>
          <p:spPr>
            <a:xfrm>
              <a:off x="4138227" y="4617568"/>
              <a:ext cx="600846" cy="319187"/>
            </a:xfrm>
            <a:prstGeom prst="rect">
              <a:avLst/>
            </a:prstGeom>
            <a:noFill/>
            <a:ln>
              <a:noFill/>
            </a:ln>
          </p:spPr>
          <p:txBody>
            <a:bodyPr wrap="none" lIns="0" tIns="0" rIns="0" bIns="0" anchor="t" anchorCtr="0">
              <a:spAutoFit/>
            </a:bodyPr>
            <a:lstStyle/>
            <a:p>
              <a:pPr algn="ctr"/>
              <a:r>
                <a:rPr lang="en-US" sz="1630" b="1" dirty="0">
                  <a:solidFill>
                    <a:schemeClr val="dk2"/>
                  </a:solidFill>
                  <a:latin typeface="+mn-lt"/>
                  <a:ea typeface="+mn-ea"/>
                  <a:cs typeface="+mn-cs"/>
                </a:rPr>
                <a:t>1.1M</a:t>
              </a:r>
            </a:p>
          </p:txBody>
        </p:sp>
        <p:sp>
          <p:nvSpPr>
            <p:cNvPr id="28" name="TextBox 28"/>
            <p:cNvSpPr txBox="1"/>
            <p:nvPr/>
          </p:nvSpPr>
          <p:spPr>
            <a:xfrm>
              <a:off x="3838918" y="4863227"/>
              <a:ext cx="119946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StreetCLIP images</a:t>
              </a:r>
            </a:p>
          </p:txBody>
        </p:sp>
      </p:grpSp>
      <p:grpSp>
        <p:nvGrpSpPr>
          <p:cNvPr id="44" name="Group 44"/>
          <p:cNvGrpSpPr/>
          <p:nvPr/>
        </p:nvGrpSpPr>
        <p:grpSpPr>
          <a:xfrm>
            <a:off x="6248400" y="3162300"/>
            <a:ext cx="5334000" cy="2076450"/>
            <a:chOff x="6248400" y="3162300"/>
            <a:chExt cx="5334000" cy="2076450"/>
          </a:xfrm>
        </p:grpSpPr>
        <p:sp>
          <p:nvSpPr>
            <p:cNvPr id="30" name="Rectangle 30"/>
            <p:cNvSpPr/>
            <p:nvPr/>
          </p:nvSpPr>
          <p:spPr>
            <a:xfrm>
              <a:off x="6248400" y="3162300"/>
              <a:ext cx="5334000" cy="2076450"/>
            </a:xfrm>
            <a:prstGeom prst="roundRect">
              <a:avLst>
                <a:gd name="adj" fmla="val 6422"/>
              </a:avLst>
            </a:prstGeom>
            <a:solidFill>
              <a:srgbClr val="2A2417"/>
            </a:solidFill>
            <a:ln w="14288">
              <a:solidFill>
                <a:srgbClr val="F2C14E"/>
              </a:solidFill>
            </a:ln>
          </p:spPr>
        </p:sp>
        <p:sp>
          <p:nvSpPr>
            <p:cNvPr id="31" name="Rectangle 31"/>
            <p:cNvSpPr/>
            <p:nvPr/>
          </p:nvSpPr>
          <p:spPr>
            <a:xfrm>
              <a:off x="6248400" y="3162300"/>
              <a:ext cx="57150" cy="2076450"/>
            </a:xfrm>
            <a:prstGeom prst="roundRect">
              <a:avLst>
                <a:gd name="adj" fmla="val 50000"/>
              </a:avLst>
            </a:prstGeom>
            <a:solidFill>
              <a:srgbClr val="F2C14E"/>
            </a:solidFill>
            <a:ln>
              <a:noFill/>
            </a:ln>
          </p:spPr>
        </p:sp>
        <p:sp>
          <p:nvSpPr>
            <p:cNvPr id="32" name="TextBox 32"/>
            <p:cNvSpPr txBox="1"/>
            <p:nvPr/>
          </p:nvSpPr>
          <p:spPr>
            <a:xfrm>
              <a:off x="6508814" y="3371612"/>
              <a:ext cx="153442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The data behind it</a:t>
              </a:r>
            </a:p>
          </p:txBody>
        </p:sp>
        <p:sp>
          <p:nvSpPr>
            <p:cNvPr id="33" name="TextBox 33"/>
            <p:cNvSpPr txBox="1"/>
            <p:nvPr/>
          </p:nvSpPr>
          <p:spPr>
            <a:xfrm>
              <a:off x="6509956" y="3681651"/>
              <a:ext cx="389094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130K+ raw street views across 72 cities and 48 countries,</a:t>
              </a:r>
            </a:p>
          </p:txBody>
        </p:sp>
        <p:sp>
          <p:nvSpPr>
            <p:cNvPr id="34" name="TextBox 34"/>
            <p:cNvSpPr txBox="1"/>
            <p:nvPr/>
          </p:nvSpPr>
          <p:spPr>
            <a:xfrm>
              <a:off x="6509956" y="3872151"/>
              <a:ext cx="374580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filtered to 70K, plus 3K human-written reasoning clues.</a:t>
              </a:r>
            </a:p>
          </p:txBody>
        </p:sp>
        <p:sp>
          <p:nvSpPr>
            <p:cNvPr id="35" name="Rectangle 35"/>
            <p:cNvSpPr/>
            <p:nvPr/>
          </p:nvSpPr>
          <p:spPr>
            <a:xfrm>
              <a:off x="6515100" y="4476750"/>
              <a:ext cx="1524000" cy="609600"/>
            </a:xfrm>
            <a:prstGeom prst="roundRect">
              <a:avLst>
                <a:gd name="adj" fmla="val 18750"/>
              </a:avLst>
            </a:prstGeom>
            <a:solidFill>
              <a:schemeClr val="accent6"/>
            </a:solidFill>
            <a:ln w="14288">
              <a:solidFill>
                <a:srgbClr val="26455F"/>
              </a:solidFill>
            </a:ln>
          </p:spPr>
        </p:sp>
        <p:sp>
          <p:nvSpPr>
            <p:cNvPr id="36" name="TextBox 36"/>
            <p:cNvSpPr txBox="1"/>
            <p:nvPr/>
          </p:nvSpPr>
          <p:spPr>
            <a:xfrm>
              <a:off x="6934074" y="4617568"/>
              <a:ext cx="686051" cy="319187"/>
            </a:xfrm>
            <a:prstGeom prst="rect">
              <a:avLst/>
            </a:prstGeom>
            <a:noFill/>
            <a:ln>
              <a:noFill/>
            </a:ln>
          </p:spPr>
          <p:txBody>
            <a:bodyPr wrap="none" lIns="0" tIns="0" rIns="0" bIns="0" anchor="t" anchorCtr="0">
              <a:spAutoFit/>
            </a:bodyPr>
            <a:lstStyle/>
            <a:p>
              <a:pPr algn="ctr"/>
              <a:r>
                <a:rPr lang="en-US" sz="1630" b="1" dirty="0">
                  <a:solidFill>
                    <a:srgbClr val="F2C14E"/>
                  </a:solidFill>
                  <a:latin typeface="+mn-lt"/>
                  <a:ea typeface="+mn-ea"/>
                  <a:cs typeface="+mn-cs"/>
                </a:rPr>
                <a:t>130K+</a:t>
              </a:r>
            </a:p>
          </p:txBody>
        </p:sp>
        <p:sp>
          <p:nvSpPr>
            <p:cNvPr id="37" name="TextBox 37"/>
            <p:cNvSpPr txBox="1"/>
            <p:nvPr/>
          </p:nvSpPr>
          <p:spPr>
            <a:xfrm>
              <a:off x="6950128" y="4863227"/>
              <a:ext cx="65394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raw views</a:t>
              </a:r>
            </a:p>
          </p:txBody>
        </p:sp>
        <p:sp>
          <p:nvSpPr>
            <p:cNvPr id="38" name="Rectangle 38"/>
            <p:cNvSpPr/>
            <p:nvPr/>
          </p:nvSpPr>
          <p:spPr>
            <a:xfrm>
              <a:off x="8172450" y="4476750"/>
              <a:ext cx="1524000" cy="609600"/>
            </a:xfrm>
            <a:prstGeom prst="roundRect">
              <a:avLst>
                <a:gd name="adj" fmla="val 18750"/>
              </a:avLst>
            </a:prstGeom>
            <a:solidFill>
              <a:schemeClr val="accent6"/>
            </a:solidFill>
            <a:ln w="14288">
              <a:solidFill>
                <a:srgbClr val="26455F"/>
              </a:solidFill>
            </a:ln>
          </p:spPr>
        </p:sp>
        <p:sp>
          <p:nvSpPr>
            <p:cNvPr id="39" name="TextBox 39"/>
            <p:cNvSpPr txBox="1"/>
            <p:nvPr/>
          </p:nvSpPr>
          <p:spPr>
            <a:xfrm>
              <a:off x="8540236" y="4617568"/>
              <a:ext cx="788428" cy="319187"/>
            </a:xfrm>
            <a:prstGeom prst="rect">
              <a:avLst/>
            </a:prstGeom>
            <a:noFill/>
            <a:ln>
              <a:noFill/>
            </a:ln>
          </p:spPr>
          <p:txBody>
            <a:bodyPr wrap="none" lIns="0" tIns="0" rIns="0" bIns="0" anchor="t" anchorCtr="0">
              <a:spAutoFit/>
            </a:bodyPr>
            <a:lstStyle/>
            <a:p>
              <a:pPr algn="ctr"/>
              <a:r>
                <a:rPr lang="en-US" sz="1630" b="1" dirty="0">
                  <a:solidFill>
                    <a:schemeClr val="accent2"/>
                  </a:solidFill>
                  <a:latin typeface="+mn-lt"/>
                  <a:ea typeface="+mn-ea"/>
                  <a:cs typeface="+mn-cs"/>
                </a:rPr>
                <a:t>72 / 48</a:t>
              </a:r>
            </a:p>
          </p:txBody>
        </p:sp>
        <p:sp>
          <p:nvSpPr>
            <p:cNvPr id="40" name="TextBox 40"/>
            <p:cNvSpPr txBox="1"/>
            <p:nvPr/>
          </p:nvSpPr>
          <p:spPr>
            <a:xfrm>
              <a:off x="8521112" y="4863227"/>
              <a:ext cx="82667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cities / ctys</a:t>
              </a:r>
            </a:p>
          </p:txBody>
        </p:sp>
        <p:sp>
          <p:nvSpPr>
            <p:cNvPr id="41" name="Rectangle 41"/>
            <p:cNvSpPr/>
            <p:nvPr/>
          </p:nvSpPr>
          <p:spPr>
            <a:xfrm>
              <a:off x="9829800" y="4476750"/>
              <a:ext cx="1485900" cy="609600"/>
            </a:xfrm>
            <a:prstGeom prst="roundRect">
              <a:avLst>
                <a:gd name="adj" fmla="val 18750"/>
              </a:avLst>
            </a:prstGeom>
            <a:solidFill>
              <a:schemeClr val="accent6"/>
            </a:solidFill>
            <a:ln w="14288">
              <a:solidFill>
                <a:srgbClr val="26455F"/>
              </a:solidFill>
            </a:ln>
          </p:spPr>
        </p:sp>
        <p:sp>
          <p:nvSpPr>
            <p:cNvPr id="42" name="TextBox 42"/>
            <p:cNvSpPr txBox="1"/>
            <p:nvPr/>
          </p:nvSpPr>
          <p:spPr>
            <a:xfrm>
              <a:off x="10430565" y="4617568"/>
              <a:ext cx="284369" cy="319187"/>
            </a:xfrm>
            <a:prstGeom prst="rect">
              <a:avLst/>
            </a:prstGeom>
            <a:noFill/>
            <a:ln>
              <a:noFill/>
            </a:ln>
          </p:spPr>
          <p:txBody>
            <a:bodyPr wrap="none" lIns="0" tIns="0" rIns="0" bIns="0" anchor="t" anchorCtr="0">
              <a:spAutoFit/>
            </a:bodyPr>
            <a:lstStyle/>
            <a:p>
              <a:pPr algn="ctr"/>
              <a:r>
                <a:rPr lang="en-US" sz="1630" b="1" dirty="0">
                  <a:solidFill>
                    <a:srgbClr val="48C78E"/>
                  </a:solidFill>
                  <a:latin typeface="+mn-lt"/>
                  <a:ea typeface="+mn-ea"/>
                  <a:cs typeface="+mn-cs"/>
                </a:rPr>
                <a:t>3K</a:t>
              </a:r>
            </a:p>
          </p:txBody>
        </p:sp>
        <p:sp>
          <p:nvSpPr>
            <p:cNvPr id="43" name="TextBox 43"/>
            <p:cNvSpPr txBox="1"/>
            <p:nvPr/>
          </p:nvSpPr>
          <p:spPr>
            <a:xfrm>
              <a:off x="10222526" y="4863227"/>
              <a:ext cx="70044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game clues</a:t>
              </a:r>
            </a:p>
          </p:txBody>
        </p:sp>
      </p:grpSp>
      <p:grpSp>
        <p:nvGrpSpPr>
          <p:cNvPr id="48" name="Group 48"/>
          <p:cNvGrpSpPr/>
          <p:nvPr/>
        </p:nvGrpSpPr>
        <p:grpSpPr>
          <a:xfrm>
            <a:off x="609600" y="5391150"/>
            <a:ext cx="10972800" cy="514350"/>
            <a:chOff x="609600" y="5391150"/>
            <a:chExt cx="10972800" cy="514350"/>
          </a:xfrm>
        </p:grpSpPr>
        <p:sp>
          <p:nvSpPr>
            <p:cNvPr id="45" name="Rectangle 45"/>
            <p:cNvSpPr/>
            <p:nvPr/>
          </p:nvSpPr>
          <p:spPr>
            <a:xfrm>
              <a:off x="609600" y="5391150"/>
              <a:ext cx="10972800" cy="514350"/>
            </a:xfrm>
            <a:prstGeom prst="roundRect">
              <a:avLst>
                <a:gd name="adj" fmla="val 18519"/>
              </a:avLst>
            </a:prstGeom>
            <a:solidFill>
              <a:schemeClr val="accent5"/>
            </a:solidFill>
            <a:ln w="14288">
              <a:solidFill>
                <a:srgbClr val="26455F"/>
              </a:solidFill>
            </a:ln>
          </p:spPr>
        </p:sp>
        <p:sp>
          <p:nvSpPr>
            <p:cNvPr id="46" name="Rectangle 46"/>
            <p:cNvSpPr/>
            <p:nvPr/>
          </p:nvSpPr>
          <p:spPr>
            <a:xfrm>
              <a:off x="609600" y="5391150"/>
              <a:ext cx="57150" cy="514350"/>
            </a:xfrm>
            <a:prstGeom prst="roundRect">
              <a:avLst>
                <a:gd name="adj" fmla="val 50000"/>
              </a:avLst>
            </a:prstGeom>
            <a:solidFill>
              <a:schemeClr val="accent2"/>
            </a:solidFill>
            <a:ln>
              <a:noFill/>
            </a:ln>
          </p:spPr>
        </p:sp>
        <p:sp>
          <p:nvSpPr>
            <p:cNvPr id="47" name="TextBox 47"/>
            <p:cNvSpPr txBox="1"/>
            <p:nvPr/>
          </p:nvSpPr>
          <p:spPr>
            <a:xfrm>
              <a:off x="870776" y="5588079"/>
              <a:ext cx="630395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On open Im2GPS benchmarks, only 10K Flickr images rival models trained on millions.</a:t>
              </a:r>
            </a:p>
          </p:txBody>
        </p:sp>
      </p:grpSp>
      <p:sp>
        <p:nvSpPr>
          <p:cNvPr id="49" name="cue_s09_c1_numbers_matter_georeasoner_improves" title="cue_s09_c1_numbers_matter_georeasoner_improves" descr="cue_s09_c1_numbers_matter_georeasoner_improves The numbers that matter: GeoReasoner improves on the best comparable vision-language model by twenty-five point zero two percent at the country level and thirty-eight point six one percent at the city level in F1."/>
          <p:cNvSpPr/>
          <p:nvPr/>
        </p:nvSpPr>
        <p:spPr>
          <a:xfrm>
            <a:off x="609600" y="1581454"/>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2_its_full_model_1_scores_zero" title="cue_s09_c2_its_full_model_1_scores_zero" descr="cue_s09_c2_its_full_model_1_scores_zero Its full-model F1 scores are zero point nine zero for country and zero point eight six for city. It achieves this with just seventy thousand training images, versus the one point one million used by StreetCLIP, which it nonetheless surpasses."/>
          <p:cNvSpPr/>
          <p:nvPr/>
        </p:nvSpPr>
        <p:spPr>
          <a:xfrm>
            <a:off x="609600" y="3162223"/>
            <a:ext cx="53340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9_c3_underlying_comes_more_one_hundred" title="cue_s09_c3_underlying_comes_more_one_hundred" descr="cue_s09_c3_underlying_comes_more_one_hundred The underlying data comes from more than one hundred thirty thousand raw street views across seventy-two cities and forty-eight countries, filtered down to seventy thousand, plus three thousand human-written reasoning clues from geo-games."/>
          <p:cNvSpPr/>
          <p:nvPr/>
        </p:nvSpPr>
        <p:spPr>
          <a:xfrm>
            <a:off x="6248399" y="3162223"/>
            <a:ext cx="53340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4_open_im2gps_benchmarks_only_ten" title="cue_s09_c4_open_im2gps_benchmarks_only_ten" descr="cue_s09_c4_open_im2gps_benchmarks_only_ten And on the open Im2GPS benchmarks, only ten thousand Flickr images are enough to rival models trained on millions."/>
          <p:cNvSpPr/>
          <p:nvPr/>
        </p:nvSpPr>
        <p:spPr>
          <a:xfrm>
            <a:off x="609600" y="5391073"/>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362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right images and the right knowledge</a:t>
            </a:r>
          </a:p>
        </p:txBody>
      </p:sp>
      <p:grpSp>
        <p:nvGrpSpPr>
          <p:cNvPr id="11" name="Group 11"/>
          <p:cNvGrpSpPr/>
          <p:nvPr/>
        </p:nvGrpSpPr>
        <p:grpSpPr>
          <a:xfrm>
            <a:off x="609600" y="1676400"/>
            <a:ext cx="5429250" cy="1409700"/>
            <a:chOff x="609600" y="1676400"/>
            <a:chExt cx="5429250" cy="1409700"/>
          </a:xfrm>
        </p:grpSpPr>
        <p:sp>
          <p:nvSpPr>
            <p:cNvPr id="5" name="Rectangle 5"/>
            <p:cNvSpPr/>
            <p:nvPr/>
          </p:nvSpPr>
          <p:spPr>
            <a:xfrm>
              <a:off x="609600" y="1676400"/>
              <a:ext cx="5429250" cy="1409700"/>
            </a:xfrm>
            <a:prstGeom prst="roundRect">
              <a:avLst>
                <a:gd name="adj" fmla="val 9459"/>
              </a:avLst>
            </a:prstGeom>
            <a:solidFill>
              <a:schemeClr val="accent5"/>
            </a:solidFill>
            <a:ln w="14288">
              <a:solidFill>
                <a:srgbClr val="26455F"/>
              </a:solidFill>
            </a:ln>
          </p:spPr>
        </p:sp>
        <p:sp>
          <p:nvSpPr>
            <p:cNvPr id="6" name="Rectangle 6"/>
            <p:cNvSpPr/>
            <p:nvPr/>
          </p:nvSpPr>
          <p:spPr>
            <a:xfrm>
              <a:off x="609600" y="1676400"/>
              <a:ext cx="57150" cy="1409700"/>
            </a:xfrm>
            <a:prstGeom prst="roundRect">
              <a:avLst>
                <a:gd name="adj" fmla="val 50000"/>
              </a:avLst>
            </a:prstGeom>
            <a:solidFill>
              <a:srgbClr val="48C78E"/>
            </a:solidFill>
            <a:ln>
              <a:noFill/>
            </a:ln>
          </p:spPr>
        </p:sp>
        <p:sp>
          <p:nvSpPr>
            <p:cNvPr id="7" name="Ellipse 7"/>
            <p:cNvSpPr/>
            <p:nvPr/>
          </p:nvSpPr>
          <p:spPr>
            <a:xfrm>
              <a:off x="895350" y="1962150"/>
              <a:ext cx="190500" cy="190500"/>
            </a:xfrm>
            <a:prstGeom prst="ellipse">
              <a:avLst/>
            </a:prstGeom>
            <a:solidFill>
              <a:srgbClr val="48C78E"/>
            </a:solidFill>
            <a:ln>
              <a:noFill/>
            </a:ln>
          </p:spPr>
        </p:sp>
        <p:sp>
          <p:nvSpPr>
            <p:cNvPr id="8" name="TextBox 8"/>
            <p:cNvSpPr txBox="1"/>
            <p:nvPr/>
          </p:nvSpPr>
          <p:spPr>
            <a:xfrm>
              <a:off x="1212532" y="1972866"/>
              <a:ext cx="2991541"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You don't need millions of images</a:t>
              </a:r>
            </a:p>
          </p:txBody>
        </p:sp>
        <p:sp>
          <p:nvSpPr>
            <p:cNvPr id="9" name="TextBox 9"/>
            <p:cNvSpPr txBox="1"/>
            <p:nvPr/>
          </p:nvSpPr>
          <p:spPr>
            <a:xfrm>
              <a:off x="870966" y="2344102"/>
              <a:ext cx="38955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You do not need millions of street-view images to build a</a:t>
              </a:r>
            </a:p>
          </p:txBody>
        </p:sp>
        <p:sp>
          <p:nvSpPr>
            <p:cNvPr id="10" name="TextBox 10"/>
            <p:cNvSpPr txBox="1"/>
            <p:nvPr/>
          </p:nvSpPr>
          <p:spPr>
            <a:xfrm>
              <a:off x="870966" y="2544128"/>
              <a:ext cx="29012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state-of-the-art geo-localization model.</a:t>
              </a:r>
            </a:p>
          </p:txBody>
        </p:sp>
      </p:grpSp>
      <p:grpSp>
        <p:nvGrpSpPr>
          <p:cNvPr id="18" name="Group 18"/>
          <p:cNvGrpSpPr/>
          <p:nvPr/>
        </p:nvGrpSpPr>
        <p:grpSpPr>
          <a:xfrm>
            <a:off x="6153150" y="1676400"/>
            <a:ext cx="5429250" cy="1409700"/>
            <a:chOff x="6153150" y="1676400"/>
            <a:chExt cx="5429250" cy="1409700"/>
          </a:xfrm>
        </p:grpSpPr>
        <p:sp>
          <p:nvSpPr>
            <p:cNvPr id="12" name="Rectangle 12"/>
            <p:cNvSpPr/>
            <p:nvPr/>
          </p:nvSpPr>
          <p:spPr>
            <a:xfrm>
              <a:off x="6153150" y="1676400"/>
              <a:ext cx="5429250" cy="1409700"/>
            </a:xfrm>
            <a:prstGeom prst="roundRect">
              <a:avLst>
                <a:gd name="adj" fmla="val 9459"/>
              </a:avLst>
            </a:prstGeom>
            <a:solidFill>
              <a:schemeClr val="accent5"/>
            </a:solidFill>
            <a:ln w="14288">
              <a:solidFill>
                <a:srgbClr val="26455F"/>
              </a:solidFill>
            </a:ln>
          </p:spPr>
        </p:sp>
        <p:sp>
          <p:nvSpPr>
            <p:cNvPr id="13" name="Rectangle 13"/>
            <p:cNvSpPr/>
            <p:nvPr/>
          </p:nvSpPr>
          <p:spPr>
            <a:xfrm>
              <a:off x="6153150" y="1676400"/>
              <a:ext cx="57150" cy="1409700"/>
            </a:xfrm>
            <a:prstGeom prst="roundRect">
              <a:avLst>
                <a:gd name="adj" fmla="val 50000"/>
              </a:avLst>
            </a:prstGeom>
            <a:solidFill>
              <a:schemeClr val="accent2"/>
            </a:solidFill>
            <a:ln>
              <a:noFill/>
            </a:ln>
          </p:spPr>
        </p:sp>
        <p:sp>
          <p:nvSpPr>
            <p:cNvPr id="14" name="Ellipse 14"/>
            <p:cNvSpPr/>
            <p:nvPr/>
          </p:nvSpPr>
          <p:spPr>
            <a:xfrm>
              <a:off x="6438900" y="1962150"/>
              <a:ext cx="190500" cy="190500"/>
            </a:xfrm>
            <a:prstGeom prst="ellipse">
              <a:avLst/>
            </a:prstGeom>
            <a:solidFill>
              <a:schemeClr val="accent2"/>
            </a:solidFill>
            <a:ln>
              <a:noFill/>
            </a:ln>
          </p:spPr>
        </p:sp>
        <p:sp>
          <p:nvSpPr>
            <p:cNvPr id="15" name="TextBox 15"/>
            <p:cNvSpPr txBox="1"/>
            <p:nvPr/>
          </p:nvSpPr>
          <p:spPr>
            <a:xfrm>
              <a:off x="6756082" y="1972866"/>
              <a:ext cx="350088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The right images + the right knowledge</a:t>
              </a:r>
            </a:p>
          </p:txBody>
        </p:sp>
        <p:sp>
          <p:nvSpPr>
            <p:cNvPr id="16" name="TextBox 16"/>
            <p:cNvSpPr txBox="1"/>
            <p:nvPr/>
          </p:nvSpPr>
          <p:spPr>
            <a:xfrm>
              <a:off x="6414516" y="2344102"/>
              <a:ext cx="38177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What you need instead is the right images and the right</a:t>
              </a:r>
            </a:p>
          </p:txBody>
        </p:sp>
        <p:sp>
          <p:nvSpPr>
            <p:cNvPr id="17" name="TextBox 17"/>
            <p:cNvSpPr txBox="1"/>
            <p:nvPr/>
          </p:nvSpPr>
          <p:spPr>
            <a:xfrm>
              <a:off x="6414516" y="2544128"/>
              <a:ext cx="27740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reasoning knowledge to interpret them.</a:t>
              </a:r>
            </a:p>
          </p:txBody>
        </p:sp>
      </p:grpSp>
      <p:grpSp>
        <p:nvGrpSpPr>
          <p:cNvPr id="27" name="Group 27"/>
          <p:cNvGrpSpPr/>
          <p:nvPr/>
        </p:nvGrpSpPr>
        <p:grpSpPr>
          <a:xfrm>
            <a:off x="609600" y="3238500"/>
            <a:ext cx="5429250" cy="2000250"/>
            <a:chOff x="609600" y="3238500"/>
            <a:chExt cx="5429250" cy="2000250"/>
          </a:xfrm>
        </p:grpSpPr>
        <p:sp>
          <p:nvSpPr>
            <p:cNvPr id="19" name="Rectangle 19"/>
            <p:cNvSpPr/>
            <p:nvPr/>
          </p:nvSpPr>
          <p:spPr>
            <a:xfrm>
              <a:off x="609600" y="3238500"/>
              <a:ext cx="5429250" cy="2000250"/>
            </a:xfrm>
            <a:prstGeom prst="roundRect">
              <a:avLst>
                <a:gd name="adj" fmla="val 6667"/>
              </a:avLst>
            </a:prstGeom>
            <a:solidFill>
              <a:schemeClr val="accent5"/>
            </a:solidFill>
            <a:ln w="14288">
              <a:solidFill>
                <a:srgbClr val="26455F"/>
              </a:solidFill>
            </a:ln>
          </p:spPr>
        </p:sp>
        <p:sp>
          <p:nvSpPr>
            <p:cNvPr id="20" name="Rectangle 20"/>
            <p:cNvSpPr/>
            <p:nvPr/>
          </p:nvSpPr>
          <p:spPr>
            <a:xfrm>
              <a:off x="609600" y="3238500"/>
              <a:ext cx="57150" cy="2000250"/>
            </a:xfrm>
            <a:prstGeom prst="roundRect">
              <a:avLst>
                <a:gd name="adj" fmla="val 50000"/>
              </a:avLst>
            </a:prstGeom>
            <a:solidFill>
              <a:srgbClr val="F2C14E"/>
            </a:solidFill>
            <a:ln>
              <a:noFill/>
            </a:ln>
          </p:spPr>
        </p:sp>
        <p:sp>
          <p:nvSpPr>
            <p:cNvPr id="21" name="Ellipse 21"/>
            <p:cNvSpPr/>
            <p:nvPr/>
          </p:nvSpPr>
          <p:spPr>
            <a:xfrm>
              <a:off x="895350" y="3524250"/>
              <a:ext cx="190500" cy="190500"/>
            </a:xfrm>
            <a:prstGeom prst="ellipse">
              <a:avLst/>
            </a:prstGeom>
            <a:solidFill>
              <a:srgbClr val="F2C14E"/>
            </a:solidFill>
            <a:ln>
              <a:noFill/>
            </a:ln>
          </p:spPr>
        </p:sp>
        <p:sp>
          <p:nvSpPr>
            <p:cNvPr id="22" name="TextBox 22"/>
            <p:cNvSpPr txBox="1"/>
            <p:nvPr/>
          </p:nvSpPr>
          <p:spPr>
            <a:xfrm>
              <a:off x="1212532" y="3534966"/>
              <a:ext cx="309336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Locatability + geo-game reasoning</a:t>
              </a:r>
            </a:p>
          </p:txBody>
        </p:sp>
        <p:sp>
          <p:nvSpPr>
            <p:cNvPr id="23" name="TextBox 23"/>
            <p:cNvSpPr txBox="1"/>
            <p:nvPr/>
          </p:nvSpPr>
          <p:spPr>
            <a:xfrm>
              <a:off x="870966" y="3906202"/>
              <a:ext cx="41709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By quantifying which street views are actually locatable and</a:t>
              </a:r>
            </a:p>
          </p:txBody>
        </p:sp>
        <p:sp>
          <p:nvSpPr>
            <p:cNvPr id="24" name="TextBox 24"/>
            <p:cNvSpPr txBox="1"/>
            <p:nvPr/>
          </p:nvSpPr>
          <p:spPr>
            <a:xfrm>
              <a:off x="870966" y="4106228"/>
              <a:ext cx="37494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borrowing the reasoning strategies humans use to win</a:t>
              </a:r>
            </a:p>
          </p:txBody>
        </p:sp>
        <p:sp>
          <p:nvSpPr>
            <p:cNvPr id="25" name="TextBox 25"/>
            <p:cNvSpPr txBox="1"/>
            <p:nvPr/>
          </p:nvSpPr>
          <p:spPr>
            <a:xfrm>
              <a:off x="870966" y="4306252"/>
              <a:ext cx="415514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geo-games, GeoReasoner matches or beats specialists - and</a:t>
              </a:r>
            </a:p>
          </p:txBody>
        </p:sp>
        <p:sp>
          <p:nvSpPr>
            <p:cNvPr id="26" name="TextBox 26"/>
            <p:cNvSpPr txBox="1"/>
            <p:nvPr/>
          </p:nvSpPr>
          <p:spPr>
            <a:xfrm>
              <a:off x="870966" y="4506278"/>
              <a:ext cx="18199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explains every prediction.</a:t>
              </a:r>
            </a:p>
          </p:txBody>
        </p:sp>
      </p:grpSp>
      <p:grpSp>
        <p:nvGrpSpPr>
          <p:cNvPr id="35" name="Group 35"/>
          <p:cNvGrpSpPr/>
          <p:nvPr/>
        </p:nvGrpSpPr>
        <p:grpSpPr>
          <a:xfrm>
            <a:off x="6153150" y="3238500"/>
            <a:ext cx="5429250" cy="2000250"/>
            <a:chOff x="6153150" y="3238500"/>
            <a:chExt cx="5429250" cy="2000250"/>
          </a:xfrm>
        </p:grpSpPr>
        <p:sp>
          <p:nvSpPr>
            <p:cNvPr id="28" name="Rectangle 28"/>
            <p:cNvSpPr/>
            <p:nvPr/>
          </p:nvSpPr>
          <p:spPr>
            <a:xfrm>
              <a:off x="6153150" y="3238500"/>
              <a:ext cx="5429250" cy="2000250"/>
            </a:xfrm>
            <a:prstGeom prst="roundRect">
              <a:avLst>
                <a:gd name="adj" fmla="val 6667"/>
              </a:avLst>
            </a:prstGeom>
            <a:solidFill>
              <a:schemeClr val="accent5"/>
            </a:solidFill>
            <a:ln w="14288">
              <a:solidFill>
                <a:srgbClr val="26455F"/>
              </a:solidFill>
            </a:ln>
          </p:spPr>
        </p:sp>
        <p:sp>
          <p:nvSpPr>
            <p:cNvPr id="29" name="Rectangle 29"/>
            <p:cNvSpPr/>
            <p:nvPr/>
          </p:nvSpPr>
          <p:spPr>
            <a:xfrm>
              <a:off x="6153150" y="3238500"/>
              <a:ext cx="57150" cy="2000250"/>
            </a:xfrm>
            <a:prstGeom prst="roundRect">
              <a:avLst>
                <a:gd name="adj" fmla="val 50000"/>
              </a:avLst>
            </a:prstGeom>
            <a:solidFill>
              <a:srgbClr val="34D3C0"/>
            </a:solidFill>
            <a:ln>
              <a:noFill/>
            </a:ln>
          </p:spPr>
        </p:sp>
        <p:sp>
          <p:nvSpPr>
            <p:cNvPr id="30" name="Ellipse 30"/>
            <p:cNvSpPr/>
            <p:nvPr/>
          </p:nvSpPr>
          <p:spPr>
            <a:xfrm>
              <a:off x="6438900" y="3524250"/>
              <a:ext cx="190500" cy="190500"/>
            </a:xfrm>
            <a:prstGeom prst="ellipse">
              <a:avLst/>
            </a:prstGeom>
            <a:solidFill>
              <a:srgbClr val="34D3C0"/>
            </a:solidFill>
            <a:ln>
              <a:noFill/>
            </a:ln>
          </p:spPr>
        </p:sp>
        <p:sp>
          <p:nvSpPr>
            <p:cNvPr id="31" name="TextBox 31"/>
            <p:cNvSpPr txBox="1"/>
            <p:nvPr/>
          </p:nvSpPr>
          <p:spPr>
            <a:xfrm>
              <a:off x="6756082" y="3534966"/>
              <a:ext cx="269509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Quality can stand in for scale</a:t>
              </a:r>
            </a:p>
          </p:txBody>
        </p:sp>
        <p:sp>
          <p:nvSpPr>
            <p:cNvPr id="32" name="TextBox 32"/>
            <p:cNvSpPr txBox="1"/>
            <p:nvPr/>
          </p:nvSpPr>
          <p:spPr>
            <a:xfrm>
              <a:off x="6414516" y="3906202"/>
              <a:ext cx="36552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case study in how data quality and human inference</a:t>
              </a:r>
            </a:p>
          </p:txBody>
        </p:sp>
        <p:sp>
          <p:nvSpPr>
            <p:cNvPr id="33" name="TextBox 33"/>
            <p:cNvSpPr txBox="1"/>
            <p:nvPr/>
          </p:nvSpPr>
          <p:spPr>
            <a:xfrm>
              <a:off x="6414516" y="4106228"/>
              <a:ext cx="41593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knowledge substitute for brute-force scale, opening a path</a:t>
              </a:r>
            </a:p>
          </p:txBody>
        </p:sp>
        <p:sp>
          <p:nvSpPr>
            <p:cNvPr id="34" name="TextBox 34"/>
            <p:cNvSpPr txBox="1"/>
            <p:nvPr/>
          </p:nvSpPr>
          <p:spPr>
            <a:xfrm>
              <a:off x="6414516" y="4306252"/>
              <a:ext cx="38200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interpretable, resource-efficient geo-localization.</a:t>
              </a:r>
            </a:p>
          </p:txBody>
        </p:sp>
      </p:grpSp>
      <p:sp>
        <p:nvSpPr>
          <p:cNvPr id="36" name="Line 36"/>
          <p:cNvSpPr/>
          <p:nvPr/>
        </p:nvSpPr>
        <p:spPr>
          <a:xfrm>
            <a:off x="609600" y="5486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7" name="Polygon 37"/>
          <p:cNvSpPr/>
          <p:nvPr/>
        </p:nvSpPr>
        <p:spPr>
          <a:xfrm>
            <a:off x="742950" y="5755005"/>
            <a:ext cx="114300" cy="126682"/>
          </a:xfrm>
          <a:custGeom>
            <a:avLst/>
            <a:gdLst/>
            <a:ahLst/>
            <a:cxnLst/>
            <a:rect l="l" t="t" r="r" b="b"/>
            <a:pathLst>
              <a:path w="114300" h="126682">
                <a:moveTo>
                  <a:pt x="0" y="0"/>
                </a:moveTo>
                <a:lnTo>
                  <a:pt x="114300" y="0"/>
                </a:lnTo>
                <a:lnTo>
                  <a:pt x="57150" y="126682"/>
                </a:lnTo>
                <a:close/>
              </a:path>
            </a:pathLst>
          </a:custGeom>
          <a:solidFill>
            <a:srgbClr val="48C78E"/>
          </a:solidFill>
          <a:ln>
            <a:noFill/>
          </a:ln>
        </p:spPr>
        <p:txBody>
          <a:bodyPr/>
          <a:p/>
        </p:txBody>
      </p:sp>
      <p:sp>
        <p:nvSpPr>
          <p:cNvPr id="38" name="Ellipse 38"/>
          <p:cNvSpPr/>
          <p:nvPr/>
        </p:nvSpPr>
        <p:spPr>
          <a:xfrm>
            <a:off x="704850" y="5619750"/>
            <a:ext cx="190500" cy="190500"/>
          </a:xfrm>
          <a:prstGeom prst="ellipse">
            <a:avLst/>
          </a:prstGeom>
          <a:solidFill>
            <a:srgbClr val="48C78E"/>
          </a:solidFill>
          <a:ln>
            <a:noFill/>
          </a:ln>
        </p:spPr>
        <p:txBody>
          <a:bodyPr/>
          <a:p/>
        </p:txBody>
      </p:sp>
      <p:sp>
        <p:nvSpPr>
          <p:cNvPr id="39" name="Ellipse 39"/>
          <p:cNvSpPr/>
          <p:nvPr/>
        </p:nvSpPr>
        <p:spPr>
          <a:xfrm>
            <a:off x="762000" y="5676900"/>
            <a:ext cx="76200" cy="76200"/>
          </a:xfrm>
          <a:prstGeom prst="ellipse">
            <a:avLst/>
          </a:prstGeom>
          <a:solidFill>
            <a:schemeClr val="lt1"/>
          </a:solidFill>
          <a:ln>
            <a:noFill/>
          </a:ln>
        </p:spPr>
        <p:txBody>
          <a:bodyPr/>
          <a:p/>
        </p:txBody>
      </p:sp>
      <p:sp>
        <p:nvSpPr>
          <p:cNvPr id="40" name="TextBox 40"/>
          <p:cNvSpPr txBox="1"/>
          <p:nvPr/>
        </p:nvSpPr>
        <p:spPr>
          <a:xfrm>
            <a:off x="985456" y="5662851"/>
            <a:ext cx="358388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Interpretable, resource-efficient geo-localization</a:t>
            </a:r>
          </a:p>
        </p:txBody>
      </p:sp>
      <p:sp>
        <p:nvSpPr>
          <p:cNvPr id="41" name="TextBox 41"/>
          <p:cNvSpPr txBox="1"/>
          <p:nvPr/>
        </p:nvSpPr>
        <p:spPr>
          <a:xfrm>
            <a:off x="7340088" y="5658802"/>
            <a:ext cx="424764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GeoReasoner · Geo-localization with Reasoning · ICML 2024</a:t>
            </a:r>
          </a:p>
        </p:txBody>
      </p:sp>
      <p:sp>
        <p:nvSpPr>
          <p:cNvPr id="42" name="cue_s10_c1_takeaway_simple_but_powerful_you" title="cue_s10_c1_takeaway_simple_but_powerful_you" descr="cue_s10_c1_takeaway_simple_but_powerful_you The takeaway is simple but powerful. You do not need millions of street-view images to build a state-of-the-art geo-localization model."/>
          <p:cNvSpPr/>
          <p:nvPr/>
        </p:nvSpPr>
        <p:spPr>
          <a:xfrm>
            <a:off x="609600" y="1676095"/>
            <a:ext cx="542909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2_you_need_right_images_right" title="cue_s10_c2_you_need_right_images_right" descr="cue_s10_c2_you_need_right_images_right You need the right images and the right knowledge."/>
          <p:cNvSpPr/>
          <p:nvPr/>
        </p:nvSpPr>
        <p:spPr>
          <a:xfrm>
            <a:off x="6153302" y="1676095"/>
            <a:ext cx="542909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10_c3_quantifying_which_street_views_actua" title="cue_s10_c3_quantifying_which_street_views_actua" descr="cue_s10_c3_quantifying_which_street_views_actua By quantifying which street views are actually locatable and by borrowing the reasoning strategies humans use to win geo-games, GeoReasoner matches or beats specialist models with a fraction of the data, and, crucially, it explains every prediction."/>
          <p:cNvSpPr/>
          <p:nvPr/>
        </p:nvSpPr>
        <p:spPr>
          <a:xfrm>
            <a:off x="609600" y="3238347"/>
            <a:ext cx="542909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10_c4_case_study_how_quality_human" title="cue_s10_c4_case_study_how_quality_human" descr="cue_s10_c4_case_study_how_quality_human It is a case study in how data quality and human inference knowledge can stand in for brute-force scale, opening a path to geo-localization that is both interpretable and resource-efficient."/>
          <p:cNvSpPr/>
          <p:nvPr/>
        </p:nvSpPr>
        <p:spPr>
          <a:xfrm>
            <a:off x="6153302" y="3238347"/>
            <a:ext cx="542909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2026-07-16T13:31:21Z</dcterms:created>
  <dcterms:modified xsi:type="dcterms:W3CDTF">2026-07-16T13:31:21Z</dcterms:modified>
  <cp:category/>
  <cp:contentStatus/>
</cp:coreProperties>
</file>
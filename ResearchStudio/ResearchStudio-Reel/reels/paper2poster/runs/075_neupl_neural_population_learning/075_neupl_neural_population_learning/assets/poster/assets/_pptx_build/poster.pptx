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3108305"/>
          </a:xfrm>
          <a:prstGeom prst="roundRect">
            <a:avLst>
              <a:gd name="adj" fmla="val 4576"/>
            </a:avLst>
          </a:prstGeom>
          <a:solidFill>
            <a:srgbClr val="E8EDF7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4281646"/>
            <a:ext cx="16349682" cy="5630287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35560">
            <a:solidFill>
              <a:srgbClr val="1D3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428289" y="4281646"/>
            <a:ext cx="16349682" cy="14732258"/>
          </a:xfrm>
          <a:prstGeom prst="roundRect">
            <a:avLst>
              <a:gd name="adj" fmla="val 804"/>
            </a:avLst>
          </a:prstGeom>
          <a:solidFill>
            <a:srgbClr val="FFFFFF"/>
          </a:solidFill>
          <a:ln w="35560">
            <a:solidFill>
              <a:srgbClr val="1D3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204691" y="4281646"/>
            <a:ext cx="16349821" cy="11852453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35560">
            <a:solidFill>
              <a:srgbClr val="1D3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1887" y="10243780"/>
            <a:ext cx="16349682" cy="7836952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35560">
            <a:solidFill>
              <a:srgbClr val="1D3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04691" y="16465946"/>
            <a:ext cx="16349821" cy="6045617"/>
          </a:xfrm>
          <a:prstGeom prst="roundRect">
            <a:avLst>
              <a:gd name="adj" fmla="val 1960"/>
            </a:avLst>
          </a:prstGeom>
          <a:solidFill>
            <a:srgbClr val="FFFFFF"/>
          </a:solidFill>
          <a:ln w="35560">
            <a:solidFill>
              <a:srgbClr val="1D3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1887" y="18412579"/>
            <a:ext cx="16349682" cy="11659373"/>
          </a:xfrm>
          <a:prstGeom prst="roundRect">
            <a:avLst>
              <a:gd name="adj" fmla="val 1016"/>
            </a:avLst>
          </a:prstGeom>
          <a:solidFill>
            <a:srgbClr val="FFFFFF"/>
          </a:solidFill>
          <a:ln w="35560">
            <a:solidFill>
              <a:srgbClr val="1D3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428289" y="19345751"/>
            <a:ext cx="16349682" cy="10726201"/>
          </a:xfrm>
          <a:prstGeom prst="roundRect">
            <a:avLst>
              <a:gd name="adj" fmla="val 1105"/>
            </a:avLst>
          </a:prstGeom>
          <a:solidFill>
            <a:srgbClr val="FFFFFF"/>
          </a:solidFill>
          <a:ln w="35560">
            <a:solidFill>
              <a:srgbClr val="1D3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04691" y="22843410"/>
            <a:ext cx="16349821" cy="7228542"/>
          </a:xfrm>
          <a:prstGeom prst="roundRect">
            <a:avLst>
              <a:gd name="adj" fmla="val 1639"/>
            </a:avLst>
          </a:prstGeom>
          <a:solidFill>
            <a:srgbClr val="ED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04691" y="22843410"/>
            <a:ext cx="16349821" cy="35560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518952" y="22843410"/>
            <a:ext cx="35560" cy="7228542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04691" y="30036392"/>
            <a:ext cx="16349821" cy="35560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04691" y="22843410"/>
            <a:ext cx="53340" cy="7228542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6355" y="1257814"/>
            <a:ext cx="6526649" cy="1896450"/>
          </a:xfrm>
          <a:prstGeom prst="rect">
            <a:avLst/>
          </a:prstGeom>
        </p:spPr>
      </p:pic>
      <p:pic>
        <p:nvPicPr>
          <p:cNvPr id="16" name="Picture 15" descr="university-college-lond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4433" y="1263705"/>
            <a:ext cx="1562556" cy="1884530"/>
          </a:xfrm>
          <a:prstGeom prst="rect">
            <a:avLst/>
          </a:prstGeom>
        </p:spPr>
      </p:pic>
      <p:pic>
        <p:nvPicPr>
          <p:cNvPr id="17" name="Picture 16" descr="google-deepmi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3963" y="1263640"/>
            <a:ext cx="8124627" cy="188466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404189" y="3946882"/>
            <a:ext cx="2844939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312830" y="3946882"/>
            <a:ext cx="2580461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446444" y="3946882"/>
            <a:ext cx="3866316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66661" y="7338139"/>
            <a:ext cx="15520134" cy="21590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66661" y="7338139"/>
            <a:ext cx="124460" cy="2159020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12518" y="9909016"/>
            <a:ext cx="4028281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541122" y="16131182"/>
            <a:ext cx="5676960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619465" y="16975593"/>
            <a:ext cx="15520273" cy="3419456"/>
          </a:xfrm>
          <a:prstGeom prst="roundRect">
            <a:avLst>
              <a:gd name="adj" fmla="val 2079"/>
            </a:avLst>
          </a:prstGeom>
          <a:gradFill rotWithShape="1" flip="none">
            <a:gsLst>
              <a:gs pos="0">
                <a:srgbClr val="E4E7F1"/>
              </a:gs>
              <a:gs pos="100000">
                <a:srgbClr val="F1F3F8"/>
              </a:gs>
            </a:gsLst>
            <a:lin ang="5400000" scaled="0"/>
          </a:gradFill>
          <a:ln w="8890">
            <a:solidFill>
              <a:srgbClr val="C6CEE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08388" y="18077815"/>
            <a:ext cx="3436541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434887" y="19010987"/>
            <a:ext cx="6336347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619465" y="20464224"/>
            <a:ext cx="15520273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619465" y="20464224"/>
            <a:ext cx="15520273" cy="11557"/>
          </a:xfrm>
          <a:prstGeom prst="rect">
            <a:avLst/>
          </a:prstGeom>
          <a:solidFill>
            <a:srgbClr val="B0BA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773359" y="22508646"/>
            <a:ext cx="3230265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4637245" y="23353057"/>
            <a:ext cx="15502493" cy="1668820"/>
          </a:xfrm>
          <a:prstGeom prst="roundRect">
            <a:avLst>
              <a:gd name="adj" fmla="val 12500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5007430" y="8521342"/>
            <a:ext cx="14744204" cy="4661555"/>
          </a:xfrm>
          <a:prstGeom prst="roundRect">
            <a:avLst>
              <a:gd name="adj" fmla="val 762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figure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07467" y="8521342"/>
            <a:ext cx="14744131" cy="4661555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17843063" y="13023711"/>
            <a:ext cx="15520134" cy="4811434"/>
          </a:xfrm>
          <a:prstGeom prst="roundRect">
            <a:avLst>
              <a:gd name="adj" fmla="val 739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overvie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43285" y="13023711"/>
            <a:ext cx="15519690" cy="4811434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45303301" y="17197843"/>
            <a:ext cx="4590573" cy="302246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303301" y="17197843"/>
            <a:ext cx="11557" cy="3022462"/>
          </a:xfrm>
          <a:prstGeom prst="rect">
            <a:avLst/>
          </a:prstGeom>
          <a:solidFill>
            <a:srgbClr val="C6C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66661" y="23601977"/>
            <a:ext cx="15520134" cy="4538345"/>
          </a:xfrm>
          <a:prstGeom prst="roundRect">
            <a:avLst>
              <a:gd name="adj" fmla="val 783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figure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45" y="23601977"/>
            <a:ext cx="15519765" cy="4538345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17843063" y="27220624"/>
            <a:ext cx="4999514" cy="1604923"/>
          </a:xfrm>
          <a:prstGeom prst="roundRect">
            <a:avLst>
              <a:gd name="adj" fmla="val 16248"/>
            </a:avLst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3103304" y="27220624"/>
            <a:ext cx="4999652" cy="1604923"/>
          </a:xfrm>
          <a:prstGeom prst="roundRect">
            <a:avLst>
              <a:gd name="adj" fmla="val 16248"/>
            </a:avLst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8363683" y="27220624"/>
            <a:ext cx="4999514" cy="1604923"/>
          </a:xfrm>
          <a:prstGeom prst="roundRect">
            <a:avLst>
              <a:gd name="adj" fmla="val 16248"/>
            </a:avLst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7843063" y="28837354"/>
            <a:ext cx="4946729" cy="819824"/>
          </a:xfrm>
          <a:prstGeom prst="roundRect">
            <a:avLst>
              <a:gd name="adj" fmla="val 50000"/>
            </a:avLst>
          </a:prstGeom>
          <a:solidFill>
            <a:srgbClr val="E8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1D3A87"/>
                </a:solidFill>
                <a:latin typeface="Arial"/>
              </a:rPr>
              <a:t>Rock-Paper-Scissors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2946201" y="28837354"/>
            <a:ext cx="5314275" cy="819824"/>
          </a:xfrm>
          <a:prstGeom prst="roundRect">
            <a:avLst>
              <a:gd name="adj" fmla="val 50000"/>
            </a:avLst>
          </a:prstGeom>
          <a:solidFill>
            <a:srgbClr val="E8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1D3A87"/>
                </a:solidFill>
                <a:latin typeface="Arial"/>
              </a:rPr>
              <a:t>Running-with-Scissors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8416885" y="28837354"/>
            <a:ext cx="4082315" cy="819824"/>
          </a:xfrm>
          <a:prstGeom prst="roundRect">
            <a:avLst>
              <a:gd name="adj" fmla="val 50000"/>
            </a:avLst>
          </a:prstGeom>
          <a:solidFill>
            <a:srgbClr val="E8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1D3A87"/>
                </a:solidFill>
                <a:latin typeface="Arial"/>
              </a:rPr>
              <a:t>MuJoCo Football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66661" y="10753427"/>
            <a:ext cx="703976" cy="703977"/>
          </a:xfrm>
          <a:prstGeom prst="roundRect">
            <a:avLst>
              <a:gd name="adj" fmla="val 50000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66661" y="13405286"/>
            <a:ext cx="703976" cy="703977"/>
          </a:xfrm>
          <a:prstGeom prst="roundRect">
            <a:avLst>
              <a:gd name="adj" fmla="val 50000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66661" y="16057145"/>
            <a:ext cx="703976" cy="703977"/>
          </a:xfrm>
          <a:prstGeom prst="roundRect">
            <a:avLst>
              <a:gd name="adj" fmla="val 50000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619465" y="4985206"/>
            <a:ext cx="7626648" cy="814407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4619465" y="5790723"/>
            <a:ext cx="762664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246113" y="4985206"/>
            <a:ext cx="7893625" cy="814407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246113" y="5790723"/>
            <a:ext cx="789362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4619465" y="5799613"/>
            <a:ext cx="7626648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4619465" y="6609576"/>
            <a:ext cx="762664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2246113" y="5799613"/>
            <a:ext cx="7893625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246113" y="6609576"/>
            <a:ext cx="789362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4619465" y="6618466"/>
            <a:ext cx="7626648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4619465" y="7428428"/>
            <a:ext cx="762664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2246113" y="6618466"/>
            <a:ext cx="7893625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2246113" y="7428428"/>
            <a:ext cx="789362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4619465" y="7437318"/>
            <a:ext cx="7626648" cy="818852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4619465" y="8247280"/>
            <a:ext cx="762664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2246113" y="7437318"/>
            <a:ext cx="7893625" cy="818852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2246113" y="8247280"/>
            <a:ext cx="789362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3446402" y="983734"/>
            <a:ext cx="24740176" cy="12594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1D3A87"/>
                </a:solidFill>
                <a:latin typeface="Arial"/>
              </a:rPr>
              <a:t>NeuPL: Neural Population Learning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446402" y="2277923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Siqi Liu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1,2</a:t>
            </a:r>
            <a:r>
              <a:rPr sz="3733" b="0">
                <a:solidFill>
                  <a:srgbClr val="1B2331"/>
                </a:solidFill>
                <a:latin typeface="Arial"/>
              </a:rPr>
              <a:t>, Luke Marris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1,2</a:t>
            </a:r>
            <a:r>
              <a:rPr sz="3733" b="0">
                <a:solidFill>
                  <a:srgbClr val="1B2331"/>
                </a:solidFill>
                <a:latin typeface="Arial"/>
              </a:rPr>
              <a:t>, Daniel Hennes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733" b="0">
                <a:solidFill>
                  <a:srgbClr val="1B2331"/>
                </a:solidFill>
                <a:latin typeface="Arial"/>
              </a:rPr>
              <a:t>, Josh Merel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733" b="0">
                <a:solidFill>
                  <a:srgbClr val="1B2331"/>
                </a:solidFill>
                <a:latin typeface="Arial"/>
              </a:rPr>
              <a:t>, Nicolas Heess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733" b="0">
                <a:solidFill>
                  <a:srgbClr val="1B2331"/>
                </a:solidFill>
                <a:latin typeface="Arial"/>
              </a:rPr>
              <a:t>, Thore Graepel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446402" y="2947173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University College London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DeepMind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04189" y="3946882"/>
            <a:ext cx="2930287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Problem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312830" y="3946882"/>
            <a:ext cx="2657874" cy="851745"/>
          </a:xfrm>
          <a:prstGeom prst="rect">
            <a:avLst/>
          </a:prstGeom>
          <a:noFill/>
        </p:spPr>
        <p:txBody>
          <a:bodyPr wrap="non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Method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446444" y="3946882"/>
            <a:ext cx="3982305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Key Results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66661" y="4791293"/>
            <a:ext cx="15946854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Learning in strategy games requires a diverse population of policies, usually grown by iteratively best-responding to existing ones. This recipe collapses under real-world compute budgets.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6661" y="7338139"/>
            <a:ext cx="15946854" cy="2482873"/>
          </a:xfrm>
          <a:prstGeom prst="rect">
            <a:avLst/>
          </a:prstGeom>
          <a:noFill/>
        </p:spPr>
        <p:txBody>
          <a:bodyPr wrap="squar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Truncated best-responses pollute the population with weak policies, and every new policy relearns basic skills from scratch.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12518" y="9909016"/>
            <a:ext cx="4149129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Contribution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7843063" y="11239877"/>
            <a:ext cx="15297606" cy="15341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The interaction graph, not a hand-crafted schedule, decides who trains whom.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619465" y="14701976"/>
            <a:ext cx="15946993" cy="15999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478"/>
              </a:lnSpc>
              <a:spcBef>
                <a:spcPts val="0"/>
              </a:spcBef>
              <a:spcAft>
                <a:spcPts val="0"/>
              </a:spcAft>
            </a:pPr>
            <a:r>
              <a:rPr sz="3778" b="0" i="1">
                <a:solidFill>
                  <a:srgbClr val="1C1C1C"/>
                </a:solidFill>
                <a:latin typeface="Arial"/>
              </a:rPr>
              <a:t>The gain comes from discovering genuinely new strategies rather than from overfitting to the current opponents.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9541122" y="16131182"/>
            <a:ext cx="5847268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Headline Numbers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08388" y="18077815"/>
            <a:ext cx="3539637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Motivation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2434887" y="19010987"/>
            <a:ext cx="6526437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Dataset / Benchmark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619465" y="20464224"/>
            <a:ext cx="15946993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Beyond a cap of 8, larger caps add only marginal exploitability benefit, so NeuPL stays compact yet robust.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773359" y="22508646"/>
            <a:ext cx="3327172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Takeaway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637245" y="23353057"/>
            <a:ext cx="15929213" cy="1919142"/>
          </a:xfrm>
          <a:prstGeom prst="rect">
            <a:avLst/>
          </a:prstGeom>
          <a:noFill/>
        </p:spPr>
        <p:txBody>
          <a:bodyPr wrap="squar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Population learning becomes one transfer-rich run, not a sequence of from-scratch iterations.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637245" y="25074939"/>
            <a:ext cx="15929213" cy="52178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One opponent-conditioned network holds the whole population; the interaction graph decides who trains whom, and skills transfer for free, so novel strategies become more accessible as the population grows, scaling from rock-paper-scissors up to 2-vs-2 MuJoCo Football with convergence guarantees to an N-step best-response, and a Nash equilibrium for large N.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7843045" y="4791293"/>
            <a:ext cx="15946872" cy="19347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One network Π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θ</a:t>
            </a:r>
            <a:r>
              <a:rPr sz="4106" b="0">
                <a:solidFill>
                  <a:srgbClr val="1C1C1C"/>
                </a:solidFill>
                <a:latin typeface="Arial"/>
              </a:rPr>
              <a:t>(·|o,σ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i</a:t>
            </a:r>
            <a:r>
              <a:rPr sz="4106" b="0">
                <a:solidFill>
                  <a:srgbClr val="1C1C1C"/>
                </a:solidFill>
                <a:latin typeface="Arial"/>
              </a:rPr>
              <a:t>) represents </a:t>
            </a:r>
            <a:r>
              <a:rPr sz="4106" b="1">
                <a:solidFill>
                  <a:srgbClr val="111111"/>
                </a:solidFill>
                <a:latin typeface="Arial"/>
              </a:rPr>
              <a:t>all policies at once</a:t>
            </a:r>
            <a:r>
              <a:rPr sz="4106" b="0">
                <a:solidFill>
                  <a:srgbClr val="1C1C1C"/>
                </a:solidFill>
                <a:latin typeface="Arial"/>
              </a:rPr>
              <a:t>, each conditioned on a meta-strategy σ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i</a:t>
            </a:r>
            <a:r>
              <a:rPr sz="4106" b="0">
                <a:solidFill>
                  <a:srgbClr val="1C1C1C"/>
                </a:solidFill>
                <a:latin typeface="Arial"/>
              </a:rPr>
              <a:t> from an interaction graph Σ.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7843045" y="6656248"/>
            <a:ext cx="15946872" cy="2706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They train jointly by RL to best-respond to their opponent mixtures, with a payoff estimator φ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ω</a:t>
            </a:r>
            <a:r>
              <a:rPr sz="4106" b="0">
                <a:solidFill>
                  <a:srgbClr val="1C1C1C"/>
                </a:solidFill>
                <a:latin typeface="Arial"/>
              </a:rPr>
              <a:t> that predicts the whole population's payoff matrix.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28803" y="10753427"/>
            <a:ext cx="14984712" cy="26898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One conditional network</a:t>
            </a:r>
            <a:r>
              <a:rPr sz="4106" b="0">
                <a:solidFill>
                  <a:srgbClr val="1C1C1C"/>
                </a:solidFill>
                <a:latin typeface="Arial"/>
              </a:rPr>
              <a:t> represents a whole policy population, each policy conditioned on a meta-game mixture strategy.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5597226" y="13332499"/>
            <a:ext cx="13971550" cy="1278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NeuPL vs PSRO relative population performance; effective size (dashed) climbs 5 to 8.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028803" y="13405286"/>
            <a:ext cx="14984712" cy="26898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Unifying framework:</a:t>
            </a:r>
            <a:r>
              <a:rPr sz="4106" b="0">
                <a:solidFill>
                  <a:srgbClr val="1C1C1C"/>
                </a:solidFill>
                <a:latin typeface="Arial"/>
              </a:rPr>
              <a:t> the interaction graph recovers self-play, fictitious play, and PSRO-Nash, plus cyclic graphs PSRO cannot express.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28803" y="16057145"/>
            <a:ext cx="14984712" cy="18501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Convergence guarantees:</a:t>
            </a:r>
            <a:r>
              <a:rPr sz="4106" b="0">
                <a:solidFill>
                  <a:srgbClr val="1C1C1C"/>
                </a:solidFill>
                <a:latin typeface="Arial"/>
              </a:rPr>
              <a:t> provably reaches an N-step best-response, and a Nash equilibrium as N grows.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9458682" y="17984747"/>
            <a:ext cx="12657563" cy="639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Self-play, fictitious play, and PSRO-Nash as interaction graphs Σ.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66642" y="18922226"/>
            <a:ext cx="15946873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Population size and per-iteration training budget are hand-crafted knobs in prior work, fixed before learning even begins.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843045" y="19855398"/>
            <a:ext cx="15946872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Validated across three domains of rising complexity: normal-form </a:t>
            </a:r>
            <a:r>
              <a:rPr sz="4106" b="1">
                <a:solidFill>
                  <a:srgbClr val="111111"/>
                </a:solidFill>
                <a:latin typeface="Arial"/>
              </a:rPr>
              <a:t>rock-paper-scissors</a:t>
            </a:r>
            <a:r>
              <a:rPr sz="4106" b="0">
                <a:solidFill>
                  <a:srgbClr val="1C1C1C"/>
                </a:solidFill>
                <a:latin typeface="Arial"/>
              </a:rPr>
              <a:t>, partially-observed </a:t>
            </a:r>
            <a:r>
              <a:rPr sz="4106" b="1">
                <a:solidFill>
                  <a:srgbClr val="111111"/>
                </a:solidFill>
                <a:latin typeface="Arial"/>
              </a:rPr>
              <a:t>running-with-scissors</a:t>
            </a:r>
            <a:r>
              <a:rPr sz="4106" b="0">
                <a:solidFill>
                  <a:srgbClr val="1C1C1C"/>
                </a:solidFill>
                <a:latin typeface="Arial"/>
              </a:rPr>
              <a:t>, and a 2-vs-2 </a:t>
            </a:r>
            <a:r>
              <a:rPr sz="4106" b="1">
                <a:solidFill>
                  <a:srgbClr val="111111"/>
                </a:solidFill>
                <a:latin typeface="Arial"/>
              </a:rPr>
              <a:t>MuJoCo Football</a:t>
            </a:r>
            <a:r>
              <a:rPr sz="4106" b="0">
                <a:solidFill>
                  <a:srgbClr val="1C1C1C"/>
                </a:solidFill>
                <a:latin typeface="Arial"/>
              </a:rPr>
              <a:t> game of skills.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66642" y="20617160"/>
            <a:ext cx="15946873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NeuPL instead lets the meta-game solver set the </a:t>
            </a:r>
            <a:r>
              <a:rPr sz="4106" b="1">
                <a:solidFill>
                  <a:srgbClr val="111111"/>
                </a:solidFill>
                <a:latin typeface="Arial"/>
              </a:rPr>
              <a:t>effective population size</a:t>
            </a:r>
            <a:r>
              <a:rPr sz="4106" b="0">
                <a:solidFill>
                  <a:srgbClr val="1C1C1C"/>
                </a:solidFill>
                <a:latin typeface="Arial"/>
              </a:rPr>
              <a:t>, sharing perception, memory, and motor skills across every policy.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7843045" y="22306537"/>
            <a:ext cx="15946872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Running-with-scissors exposes only a 4×4 first-person view and hides the opponent inventory, forcing agents to infer it from a narrow window.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7843045" y="24757677"/>
            <a:ext cx="15946872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MuJoCo Football couples continuous motor control with team coordination and latent strategic cycles, where hand-crafted PSRO truncation is especially fragile.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87433" y="28289924"/>
            <a:ext cx="14705171" cy="1278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Relative population performance and effective neural population size rise together through training, saturating near 12.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865329" y="17556360"/>
            <a:ext cx="10160217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1D3A87"/>
                </a:solidFill>
                <a:latin typeface="Arial"/>
              </a:rPr>
              <a:t>2×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4865329" y="18931255"/>
            <a:ext cx="10160217" cy="599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PSRO gradient budget, still exploited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4865329" y="19452709"/>
            <a:ext cx="10160217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NeuPL(8) beats PSRO(8)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8051561" y="27377032"/>
            <a:ext cx="4719992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1D3A87"/>
                </a:solidFill>
                <a:latin typeface="Arial"/>
              </a:rPr>
              <a:t>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3311802" y="27377032"/>
            <a:ext cx="4720135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1D3A87"/>
                </a:solidFill>
                <a:latin typeface="Arial"/>
              </a:rPr>
              <a:t>4×4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8572182" y="27377032"/>
            <a:ext cx="4719992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1D3A87"/>
                </a:solidFill>
                <a:latin typeface="Arial"/>
              </a:rPr>
              <a:t>2v2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8051561" y="28279228"/>
            <a:ext cx="4719992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game domains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3311802" y="28279228"/>
            <a:ext cx="4720135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grid view (RwS)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8572182" y="28279228"/>
            <a:ext cx="4719992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Football teams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4619465" y="4985206"/>
            <a:ext cx="7855447" cy="936568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D3A87"/>
                </a:solidFill>
                <a:latin typeface="Arial"/>
              </a:rPr>
              <a:t>Max pop cap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246113" y="4985206"/>
            <a:ext cx="8130433" cy="936568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D3A87"/>
                </a:solidFill>
                <a:latin typeface="Arial"/>
              </a:rPr>
              <a:t>Effective pop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4619465" y="5799613"/>
            <a:ext cx="7855447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2246113" y="5799613"/>
            <a:ext cx="8130433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4619465" y="6618466"/>
            <a:ext cx="7855447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8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2246113" y="6618466"/>
            <a:ext cx="8130433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8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4619465" y="7437318"/>
            <a:ext cx="7855447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D3A87"/>
                </a:solidFill>
                <a:latin typeface="Arial"/>
              </a:rPr>
              <a:t>16 / 32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2246113" y="7437318"/>
            <a:ext cx="8130433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D3A87"/>
                </a:solidFill>
                <a:latin typeface="Arial"/>
              </a:rPr>
              <a:t>~12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781555" y="17197843"/>
            <a:ext cx="1169482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5→8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7099497" y="17331193"/>
            <a:ext cx="2680767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effective policies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5781555" y="18018640"/>
            <a:ext cx="61349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559708" y="18151990"/>
            <a:ext cx="3434190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effective-size plateau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81555" y="18839437"/>
            <a:ext cx="306749" cy="6269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6261893" y="18972787"/>
            <a:ext cx="2158119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eval domains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5781555" y="19660235"/>
            <a:ext cx="629094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5×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574848" y="19793585"/>
            <a:ext cx="2565164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transfer repeats</a:t>
            </a:r>
          </a:p>
        </p:txBody>
      </p:sp>
      <p:pic>
        <p:nvPicPr>
          <p:cNvPr id="121" name="Picture 120" descr="eq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43063" y="9813448"/>
            <a:ext cx="15520134" cy="8160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
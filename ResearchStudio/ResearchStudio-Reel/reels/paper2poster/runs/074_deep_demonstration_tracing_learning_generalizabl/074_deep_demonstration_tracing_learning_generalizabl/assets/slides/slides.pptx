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10567" cy="205359"/>
          </a:xfrm>
          <a:prstGeom prst="rect">
            <a:avLst/>
          </a:prstGeom>
          <a:noFill/>
          <a:ln>
            <a:noFill/>
          </a:ln>
        </p:spPr>
        <p:txBody>
          <a:bodyPr wrap="none" lIns="0" tIns="0" rIns="0" bIns="0" anchor="t" anchorCtr="0">
            <a:spAutoFit/>
          </a:bodyPr>
          <a:lstStyle/>
          <a:p>
            <a:pPr algn="l"/>
            <a:r>
              <a:rPr lang="en-US" sz="1050" b="1" spc="150" dirty="0">
                <a:solidFill>
                  <a:schemeClr val="accent2"/>
                </a:solidFill>
                <a:latin typeface="+mn-lt"/>
                <a:ea typeface="+mn-ea"/>
                <a:cs typeface="+mn-cs"/>
              </a:rPr>
              <a:t>ICML 2024</a:t>
            </a:r>
          </a:p>
        </p:txBody>
      </p:sp>
      <p:sp>
        <p:nvSpPr>
          <p:cNvPr id="3" name="TextBox 3"/>
          <p:cNvSpPr txBox="1"/>
          <p:nvPr/>
        </p:nvSpPr>
        <p:spPr>
          <a:xfrm>
            <a:off x="7930597" y="576501"/>
            <a:ext cx="3656946"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One-Shot Imitation · Runtime Robustness · Meta-RL</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5" name="TextBox 5"/>
          <p:cNvSpPr txBox="1"/>
          <p:nvPr/>
        </p:nvSpPr>
        <p:spPr>
          <a:xfrm>
            <a:off x="592836" y="1072515"/>
            <a:ext cx="846750"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DDT</a:t>
            </a:r>
          </a:p>
        </p:txBody>
      </p:sp>
      <p:sp>
        <p:nvSpPr>
          <p:cNvPr id="6" name="TextBox 6"/>
          <p:cNvSpPr txBox="1"/>
          <p:nvPr/>
        </p:nvSpPr>
        <p:spPr>
          <a:xfrm>
            <a:off x="600837" y="1680686"/>
            <a:ext cx="3322919"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Deep Demonstration Tracing</a:t>
            </a:r>
          </a:p>
        </p:txBody>
      </p:sp>
      <p:sp>
        <p:nvSpPr>
          <p:cNvPr id="7" name="TextBox 7"/>
          <p:cNvSpPr txBox="1"/>
          <p:nvPr/>
        </p:nvSpPr>
        <p:spPr>
          <a:xfrm>
            <a:off x="600837" y="1947386"/>
            <a:ext cx="6568080"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Generalizable One-Shot Imitation under Runtime Change</a:t>
            </a:r>
          </a:p>
        </p:txBody>
      </p:sp>
      <p:sp>
        <p:nvSpPr>
          <p:cNvPr id="8" name="Rectangle 8"/>
          <p:cNvSpPr/>
          <p:nvPr/>
        </p:nvSpPr>
        <p:spPr>
          <a:xfrm>
            <a:off x="9944100" y="1143000"/>
            <a:ext cx="2209800" cy="1714500"/>
          </a:xfrm>
          <a:prstGeom prst="roundRect">
            <a:avLst>
              <a:gd name="adj" fmla="val 4444"/>
            </a:avLst>
          </a:prstGeom>
          <a:solidFill>
            <a:srgbClr val="0E223A"/>
          </a:solidFill>
          <a:ln w="14288">
            <a:solidFill>
              <a:schemeClr val="accent4"/>
            </a:solidFill>
          </a:ln>
        </p:spPr>
        <p:txBody>
          <a:bodyPr/>
          <a:p/>
        </p:txBody>
      </p:sp>
      <p:sp>
        <p:nvSpPr>
          <p:cNvPr id="9" name="Line 9"/>
          <p:cNvSpPr/>
          <p:nvPr/>
        </p:nvSpPr>
        <p:spPr>
          <a:xfrm>
            <a:off x="10312400" y="1219200"/>
            <a:ext cx="9525" cy="1562100"/>
          </a:xfrm>
          <a:custGeom>
            <a:avLst/>
            <a:gdLst/>
            <a:ahLst/>
            <a:cxnLst/>
            <a:rect l="l" t="t" r="r" b="b"/>
            <a:pathLst>
              <a:path w="9525" h="1562100">
                <a:moveTo>
                  <a:pt x="0" y="0"/>
                </a:moveTo>
                <a:lnTo>
                  <a:pt x="0" y="1562100"/>
                </a:lnTo>
              </a:path>
            </a:pathLst>
          </a:custGeom>
          <a:noFill/>
          <a:ln w="4762" cap="rnd">
            <a:solidFill>
              <a:schemeClr val="accent4"/>
            </a:solidFill>
          </a:ln>
        </p:spPr>
        <p:txBody>
          <a:bodyPr/>
          <a:p/>
        </p:txBody>
      </p:sp>
      <p:sp>
        <p:nvSpPr>
          <p:cNvPr id="10" name="Line 10"/>
          <p:cNvSpPr/>
          <p:nvPr/>
        </p:nvSpPr>
        <p:spPr>
          <a:xfrm>
            <a:off x="10680700" y="1219200"/>
            <a:ext cx="9525" cy="1562100"/>
          </a:xfrm>
          <a:custGeom>
            <a:avLst/>
            <a:gdLst/>
            <a:ahLst/>
            <a:cxnLst/>
            <a:rect l="l" t="t" r="r" b="b"/>
            <a:pathLst>
              <a:path w="9525" h="1562100">
                <a:moveTo>
                  <a:pt x="0" y="0"/>
                </a:moveTo>
                <a:lnTo>
                  <a:pt x="0" y="1562100"/>
                </a:lnTo>
              </a:path>
            </a:pathLst>
          </a:custGeom>
          <a:noFill/>
          <a:ln w="4762" cap="rnd">
            <a:solidFill>
              <a:schemeClr val="accent4"/>
            </a:solidFill>
          </a:ln>
        </p:spPr>
        <p:txBody>
          <a:bodyPr/>
          <a:p/>
        </p:txBody>
      </p:sp>
      <p:sp>
        <p:nvSpPr>
          <p:cNvPr id="11" name="Line 11"/>
          <p:cNvSpPr/>
          <p:nvPr/>
        </p:nvSpPr>
        <p:spPr>
          <a:xfrm>
            <a:off x="11049000" y="1219200"/>
            <a:ext cx="9525" cy="1562100"/>
          </a:xfrm>
          <a:custGeom>
            <a:avLst/>
            <a:gdLst/>
            <a:ahLst/>
            <a:cxnLst/>
            <a:rect l="l" t="t" r="r" b="b"/>
            <a:pathLst>
              <a:path w="9525" h="1562100">
                <a:moveTo>
                  <a:pt x="0" y="0"/>
                </a:moveTo>
                <a:lnTo>
                  <a:pt x="0" y="1562100"/>
                </a:lnTo>
              </a:path>
            </a:pathLst>
          </a:custGeom>
          <a:noFill/>
          <a:ln w="4762" cap="rnd">
            <a:solidFill>
              <a:schemeClr val="accent4"/>
            </a:solidFill>
          </a:ln>
        </p:spPr>
        <p:txBody>
          <a:bodyPr/>
          <a:p/>
        </p:txBody>
      </p:sp>
      <p:sp>
        <p:nvSpPr>
          <p:cNvPr id="12" name="Line 12"/>
          <p:cNvSpPr/>
          <p:nvPr/>
        </p:nvSpPr>
        <p:spPr>
          <a:xfrm>
            <a:off x="11417300" y="1219200"/>
            <a:ext cx="9525" cy="1562100"/>
          </a:xfrm>
          <a:custGeom>
            <a:avLst/>
            <a:gdLst/>
            <a:ahLst/>
            <a:cxnLst/>
            <a:rect l="l" t="t" r="r" b="b"/>
            <a:pathLst>
              <a:path w="9525" h="1562100">
                <a:moveTo>
                  <a:pt x="0" y="0"/>
                </a:moveTo>
                <a:lnTo>
                  <a:pt x="0" y="1562100"/>
                </a:lnTo>
              </a:path>
            </a:pathLst>
          </a:custGeom>
          <a:noFill/>
          <a:ln w="4762" cap="rnd">
            <a:solidFill>
              <a:schemeClr val="accent4"/>
            </a:solidFill>
          </a:ln>
        </p:spPr>
        <p:txBody>
          <a:bodyPr/>
          <a:p/>
        </p:txBody>
      </p:sp>
      <p:sp>
        <p:nvSpPr>
          <p:cNvPr id="13" name="Line 13"/>
          <p:cNvSpPr/>
          <p:nvPr/>
        </p:nvSpPr>
        <p:spPr>
          <a:xfrm>
            <a:off x="11785600" y="1219200"/>
            <a:ext cx="9525" cy="1562100"/>
          </a:xfrm>
          <a:custGeom>
            <a:avLst/>
            <a:gdLst/>
            <a:ahLst/>
            <a:cxnLst/>
            <a:rect l="l" t="t" r="r" b="b"/>
            <a:pathLst>
              <a:path w="9525" h="1562100">
                <a:moveTo>
                  <a:pt x="0" y="0"/>
                </a:moveTo>
                <a:lnTo>
                  <a:pt x="0" y="1562100"/>
                </a:lnTo>
              </a:path>
            </a:pathLst>
          </a:custGeom>
          <a:noFill/>
          <a:ln w="4762" cap="rnd">
            <a:solidFill>
              <a:schemeClr val="accent4"/>
            </a:solidFill>
          </a:ln>
        </p:spPr>
        <p:txBody>
          <a:bodyPr/>
          <a:p/>
        </p:txBody>
      </p:sp>
      <p:sp>
        <p:nvSpPr>
          <p:cNvPr id="14" name="Line 14"/>
          <p:cNvSpPr/>
          <p:nvPr/>
        </p:nvSpPr>
        <p:spPr>
          <a:xfrm>
            <a:off x="10020300" y="1571625"/>
            <a:ext cx="2057400" cy="9525"/>
          </a:xfrm>
          <a:custGeom>
            <a:avLst/>
            <a:gdLst/>
            <a:ahLst/>
            <a:cxnLst/>
            <a:rect l="l" t="t" r="r" b="b"/>
            <a:pathLst>
              <a:path w="2057400" h="9525">
                <a:moveTo>
                  <a:pt x="0" y="0"/>
                </a:moveTo>
                <a:lnTo>
                  <a:pt x="2057400" y="0"/>
                </a:lnTo>
              </a:path>
            </a:pathLst>
          </a:custGeom>
          <a:noFill/>
          <a:ln w="4762" cap="rnd">
            <a:solidFill>
              <a:schemeClr val="accent4"/>
            </a:solidFill>
          </a:ln>
        </p:spPr>
        <p:txBody>
          <a:bodyPr/>
          <a:p/>
        </p:txBody>
      </p:sp>
      <p:sp>
        <p:nvSpPr>
          <p:cNvPr id="15" name="Line 15"/>
          <p:cNvSpPr/>
          <p:nvPr/>
        </p:nvSpPr>
        <p:spPr>
          <a:xfrm>
            <a:off x="10020300" y="2000250"/>
            <a:ext cx="2057400" cy="9525"/>
          </a:xfrm>
          <a:custGeom>
            <a:avLst/>
            <a:gdLst/>
            <a:ahLst/>
            <a:cxnLst/>
            <a:rect l="l" t="t" r="r" b="b"/>
            <a:pathLst>
              <a:path w="2057400" h="9525">
                <a:moveTo>
                  <a:pt x="0" y="0"/>
                </a:moveTo>
                <a:lnTo>
                  <a:pt x="2057400" y="0"/>
                </a:lnTo>
              </a:path>
            </a:pathLst>
          </a:custGeom>
          <a:noFill/>
          <a:ln w="4762" cap="rnd">
            <a:solidFill>
              <a:schemeClr val="accent4"/>
            </a:solidFill>
          </a:ln>
        </p:spPr>
        <p:txBody>
          <a:bodyPr/>
          <a:p/>
        </p:txBody>
      </p:sp>
      <p:sp>
        <p:nvSpPr>
          <p:cNvPr id="16" name="Line 16"/>
          <p:cNvSpPr/>
          <p:nvPr/>
        </p:nvSpPr>
        <p:spPr>
          <a:xfrm>
            <a:off x="10020300" y="2428875"/>
            <a:ext cx="2057400" cy="9525"/>
          </a:xfrm>
          <a:custGeom>
            <a:avLst/>
            <a:gdLst/>
            <a:ahLst/>
            <a:cxnLst/>
            <a:rect l="l" t="t" r="r" b="b"/>
            <a:pathLst>
              <a:path w="2057400" h="9525">
                <a:moveTo>
                  <a:pt x="0" y="0"/>
                </a:moveTo>
                <a:lnTo>
                  <a:pt x="2057400" y="0"/>
                </a:lnTo>
              </a:path>
            </a:pathLst>
          </a:custGeom>
          <a:noFill/>
          <a:ln w="4762" cap="rnd">
            <a:solidFill>
              <a:schemeClr val="accent4"/>
            </a:solidFill>
          </a:ln>
        </p:spPr>
        <p:txBody>
          <a:bodyPr/>
          <a:p/>
        </p:txBody>
      </p:sp>
      <p:sp>
        <p:nvSpPr>
          <p:cNvPr id="17" name="Polyline 17"/>
          <p:cNvSpPr/>
          <p:nvPr/>
        </p:nvSpPr>
        <p:spPr>
          <a:xfrm>
            <a:off x="10172700" y="1428750"/>
            <a:ext cx="1733550" cy="1143000"/>
          </a:xfrm>
          <a:custGeom>
            <a:avLst/>
            <a:gdLst/>
            <a:ahLst/>
            <a:cxnLst/>
            <a:rect l="l" t="t" r="r" b="b"/>
            <a:pathLst>
              <a:path w="1733550" h="1143000">
                <a:moveTo>
                  <a:pt x="0" y="1143000"/>
                </a:moveTo>
                <a:lnTo>
                  <a:pt x="434340" y="777240"/>
                </a:lnTo>
                <a:lnTo>
                  <a:pt x="743712" y="468630"/>
                </a:lnTo>
                <a:lnTo>
                  <a:pt x="1229868" y="228600"/>
                </a:lnTo>
                <a:lnTo>
                  <a:pt x="1733550" y="0"/>
                </a:lnTo>
              </a:path>
            </a:pathLst>
          </a:custGeom>
          <a:noFill/>
          <a:ln w="20955" cap="rnd">
            <a:solidFill>
              <a:srgbClr val="33D6C0"/>
            </a:solidFill>
            <a:custDash>
              <a:ds d="272727" sp="227273"/>
            </a:custDash>
            <a:round/>
          </a:ln>
        </p:spPr>
        <p:txBody>
          <a:bodyPr/>
          <a:p/>
        </p:txBody>
      </p:sp>
      <p:sp>
        <p:nvSpPr>
          <p:cNvPr id="18" name="Rectangle 18"/>
          <p:cNvSpPr/>
          <p:nvPr/>
        </p:nvSpPr>
        <p:spPr>
          <a:xfrm>
            <a:off x="10782300" y="1876425"/>
            <a:ext cx="285750" cy="190500"/>
          </a:xfrm>
          <a:prstGeom prst="roundRect">
            <a:avLst>
              <a:gd name="adj" fmla="val 15000"/>
            </a:avLst>
          </a:prstGeom>
          <a:solidFill>
            <a:srgbClr val="F2685C"/>
          </a:solidFill>
          <a:ln>
            <a:noFill/>
          </a:ln>
        </p:spPr>
        <p:txBody>
          <a:bodyPr/>
          <a:p/>
        </p:txBody>
      </p:sp>
      <p:sp>
        <p:nvSpPr>
          <p:cNvPr id="19" name="Polyline 19"/>
          <p:cNvSpPr/>
          <p:nvPr/>
        </p:nvSpPr>
        <p:spPr>
          <a:xfrm>
            <a:off x="10607040" y="1657350"/>
            <a:ext cx="795528" cy="548640"/>
          </a:xfrm>
          <a:custGeom>
            <a:avLst/>
            <a:gdLst/>
            <a:ahLst/>
            <a:cxnLst/>
            <a:rect l="l" t="t" r="r" b="b"/>
            <a:pathLst>
              <a:path w="795528" h="548640">
                <a:moveTo>
                  <a:pt x="0" y="548640"/>
                </a:moveTo>
                <a:lnTo>
                  <a:pt x="252222" y="392430"/>
                </a:lnTo>
                <a:lnTo>
                  <a:pt x="99822" y="259080"/>
                </a:lnTo>
                <a:lnTo>
                  <a:pt x="176022" y="49530"/>
                </a:lnTo>
                <a:lnTo>
                  <a:pt x="480822" y="49530"/>
                </a:lnTo>
                <a:lnTo>
                  <a:pt x="518922" y="220980"/>
                </a:lnTo>
                <a:lnTo>
                  <a:pt x="795528" y="0"/>
                </a:lnTo>
              </a:path>
            </a:pathLst>
          </a:custGeom>
          <a:noFill/>
          <a:ln w="24765" cap="rnd">
            <a:solidFill>
              <a:schemeClr val="accent2"/>
            </a:solidFill>
            <a:round/>
          </a:ln>
        </p:spPr>
        <p:txBody>
          <a:bodyPr/>
          <a:p/>
        </p:txBody>
      </p:sp>
      <p:sp>
        <p:nvSpPr>
          <p:cNvPr id="20" name="Ellipse 20"/>
          <p:cNvSpPr/>
          <p:nvPr/>
        </p:nvSpPr>
        <p:spPr>
          <a:xfrm>
            <a:off x="10115550" y="2514600"/>
            <a:ext cx="114300" cy="114300"/>
          </a:xfrm>
          <a:prstGeom prst="ellipse">
            <a:avLst/>
          </a:prstGeom>
          <a:solidFill>
            <a:schemeClr val="accent2"/>
          </a:solidFill>
          <a:ln>
            <a:noFill/>
          </a:ln>
        </p:spPr>
        <p:txBody>
          <a:bodyPr/>
          <a:p/>
        </p:txBody>
      </p:sp>
      <p:sp>
        <p:nvSpPr>
          <p:cNvPr id="21" name="Rectangle 21"/>
          <p:cNvSpPr/>
          <p:nvPr/>
        </p:nvSpPr>
        <p:spPr>
          <a:xfrm>
            <a:off x="11849100" y="1371600"/>
            <a:ext cx="114300" cy="114300"/>
          </a:xfrm>
          <a:prstGeom prst="roundRect">
            <a:avLst>
              <a:gd name="adj" fmla="val 16667"/>
            </a:avLst>
          </a:prstGeom>
          <a:solidFill>
            <a:srgbClr val="46C98B"/>
          </a:solidFill>
          <a:ln>
            <a:noFill/>
          </a:ln>
        </p:spPr>
        <p:txBody>
          <a:bodyPr/>
          <a:p/>
        </p:txBody>
      </p:sp>
      <p:sp>
        <p:nvSpPr>
          <p:cNvPr id="22" name="TextBox 22"/>
          <p:cNvSpPr txBox="1"/>
          <p:nvPr/>
        </p:nvSpPr>
        <p:spPr>
          <a:xfrm>
            <a:off x="10054824" y="2651284"/>
            <a:ext cx="273851"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start</a:t>
            </a:r>
          </a:p>
        </p:txBody>
      </p:sp>
      <p:sp>
        <p:nvSpPr>
          <p:cNvPr id="23" name="TextBox 23"/>
          <p:cNvSpPr txBox="1"/>
          <p:nvPr/>
        </p:nvSpPr>
        <p:spPr>
          <a:xfrm>
            <a:off x="11807772" y="1241584"/>
            <a:ext cx="196956"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goal</a:t>
            </a:r>
          </a:p>
        </p:txBody>
      </p:sp>
      <p:sp>
        <p:nvSpPr>
          <p:cNvPr id="24" name="TextBox 24"/>
          <p:cNvSpPr txBox="1"/>
          <p:nvPr/>
        </p:nvSpPr>
        <p:spPr>
          <a:xfrm>
            <a:off x="604456" y="2348151"/>
            <a:ext cx="40264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Xiong-Hui Chen, Junyin Ye, Yang Yu, Zongzhang Zhang, et al.</a:t>
            </a:r>
          </a:p>
        </p:txBody>
      </p:sp>
      <p:sp>
        <p:nvSpPr>
          <p:cNvPr id="25" name="TextBox 25"/>
          <p:cNvSpPr txBox="1"/>
          <p:nvPr/>
        </p:nvSpPr>
        <p:spPr>
          <a:xfrm>
            <a:off x="604838" y="2565797"/>
            <a:ext cx="3053099"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Nanjing University · Polixir Technologies · NUDT</a:t>
            </a:r>
          </a:p>
        </p:txBody>
      </p:sp>
      <p:grpSp>
        <p:nvGrpSpPr>
          <p:cNvPr id="35" name="Group 35"/>
          <p:cNvGrpSpPr/>
          <p:nvPr/>
        </p:nvGrpSpPr>
        <p:grpSpPr>
          <a:xfrm>
            <a:off x="609600" y="2914650"/>
            <a:ext cx="3505200" cy="2133600"/>
            <a:chOff x="609600" y="2914650"/>
            <a:chExt cx="3505200" cy="2133600"/>
          </a:xfrm>
        </p:grpSpPr>
        <p:sp>
          <p:nvSpPr>
            <p:cNvPr id="26" name="Rectangle 26"/>
            <p:cNvSpPr/>
            <p:nvPr/>
          </p:nvSpPr>
          <p:spPr>
            <a:xfrm>
              <a:off x="609600" y="2914650"/>
              <a:ext cx="3505200" cy="2133600"/>
            </a:xfrm>
            <a:prstGeom prst="roundRect">
              <a:avLst>
                <a:gd name="adj" fmla="val 6250"/>
              </a:avLst>
            </a:prstGeom>
            <a:solidFill>
              <a:schemeClr val="accent5"/>
            </a:solidFill>
            <a:ln w="14288">
              <a:solidFill>
                <a:schemeClr val="accent4"/>
              </a:solidFill>
            </a:ln>
          </p:spPr>
        </p:sp>
        <p:sp>
          <p:nvSpPr>
            <p:cNvPr id="27" name="Rectangle 27"/>
            <p:cNvSpPr/>
            <p:nvPr/>
          </p:nvSpPr>
          <p:spPr>
            <a:xfrm>
              <a:off x="609600" y="2914650"/>
              <a:ext cx="3505200" cy="57150"/>
            </a:xfrm>
            <a:prstGeom prst="roundRect">
              <a:avLst>
                <a:gd name="adj" fmla="val 50000"/>
              </a:avLst>
            </a:prstGeom>
            <a:solidFill>
              <a:schemeClr val="accent2"/>
            </a:solidFill>
            <a:ln>
              <a:noFill/>
            </a:ln>
          </p:spPr>
        </p:sp>
        <p:sp>
          <p:nvSpPr>
            <p:cNvPr id="28" name="Ellipse 28"/>
            <p:cNvSpPr/>
            <p:nvPr/>
          </p:nvSpPr>
          <p:spPr>
            <a:xfrm>
              <a:off x="809625" y="3267075"/>
              <a:ext cx="133350" cy="133350"/>
            </a:xfrm>
            <a:prstGeom prst="ellipse">
              <a:avLst/>
            </a:prstGeom>
            <a:solidFill>
              <a:schemeClr val="accent2"/>
            </a:solidFill>
            <a:ln>
              <a:noFill/>
            </a:ln>
          </p:spPr>
        </p:sp>
        <p:sp>
          <p:nvSpPr>
            <p:cNvPr id="29" name="TextBox 29"/>
            <p:cNvSpPr txBox="1"/>
            <p:nvPr/>
          </p:nvSpPr>
          <p:spPr>
            <a:xfrm>
              <a:off x="1041082" y="3249216"/>
              <a:ext cx="221380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The world changes after</a:t>
              </a:r>
            </a:p>
          </p:txBody>
        </p:sp>
        <p:sp>
          <p:nvSpPr>
            <p:cNvPr id="30" name="TextBox 30"/>
            <p:cNvSpPr txBox="1"/>
            <p:nvPr/>
          </p:nvSpPr>
          <p:spPr>
            <a:xfrm>
              <a:off x="1041082" y="3458766"/>
              <a:ext cx="81882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the demo</a:t>
              </a:r>
            </a:p>
          </p:txBody>
        </p:sp>
        <p:sp>
          <p:nvSpPr>
            <p:cNvPr id="31" name="TextBox 31"/>
            <p:cNvSpPr txBox="1"/>
            <p:nvPr/>
          </p:nvSpPr>
          <p:spPr>
            <a:xfrm>
              <a:off x="852106" y="3757851"/>
              <a:ext cx="28497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One-shot imitation learning must act from</a:t>
              </a:r>
            </a:p>
          </p:txBody>
        </p:sp>
        <p:sp>
          <p:nvSpPr>
            <p:cNvPr id="32" name="TextBox 32"/>
            <p:cNvSpPr txBox="1"/>
            <p:nvPr/>
          </p:nvSpPr>
          <p:spPr>
            <a:xfrm>
              <a:off x="852106" y="3948351"/>
              <a:ext cx="28315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single demonstration, but the real world</a:t>
              </a:r>
            </a:p>
          </p:txBody>
        </p:sp>
        <p:sp>
          <p:nvSpPr>
            <p:cNvPr id="33" name="TextBox 33"/>
            <p:cNvSpPr txBox="1"/>
            <p:nvPr/>
          </p:nvSpPr>
          <p:spPr>
            <a:xfrm>
              <a:off x="852106" y="4138851"/>
              <a:ext cx="26820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is dynamic: after the demo is given, the</a:t>
              </a:r>
            </a:p>
          </p:txBody>
        </p:sp>
        <p:sp>
          <p:nvSpPr>
            <p:cNvPr id="34" name="TextBox 34"/>
            <p:cNvSpPr txBox="1"/>
            <p:nvPr/>
          </p:nvSpPr>
          <p:spPr>
            <a:xfrm>
              <a:off x="852106" y="4329351"/>
              <a:ext cx="24032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environment can change at runtime.</a:t>
              </a:r>
            </a:p>
          </p:txBody>
        </p:sp>
      </p:grpSp>
      <p:grpSp>
        <p:nvGrpSpPr>
          <p:cNvPr id="44" name="Group 44"/>
          <p:cNvGrpSpPr/>
          <p:nvPr/>
        </p:nvGrpSpPr>
        <p:grpSpPr>
          <a:xfrm>
            <a:off x="4343400" y="2914650"/>
            <a:ext cx="3505200" cy="2133600"/>
            <a:chOff x="4343400" y="2914650"/>
            <a:chExt cx="3505200" cy="2133600"/>
          </a:xfrm>
        </p:grpSpPr>
        <p:sp>
          <p:nvSpPr>
            <p:cNvPr id="36" name="Rectangle 36"/>
            <p:cNvSpPr/>
            <p:nvPr/>
          </p:nvSpPr>
          <p:spPr>
            <a:xfrm>
              <a:off x="4343400" y="2914650"/>
              <a:ext cx="3505200" cy="2133600"/>
            </a:xfrm>
            <a:prstGeom prst="roundRect">
              <a:avLst>
                <a:gd name="adj" fmla="val 6250"/>
              </a:avLst>
            </a:prstGeom>
            <a:solidFill>
              <a:schemeClr val="accent5"/>
            </a:solidFill>
            <a:ln w="14288">
              <a:solidFill>
                <a:schemeClr val="accent4"/>
              </a:solidFill>
            </a:ln>
          </p:spPr>
        </p:sp>
        <p:sp>
          <p:nvSpPr>
            <p:cNvPr id="37" name="Rectangle 37"/>
            <p:cNvSpPr/>
            <p:nvPr/>
          </p:nvSpPr>
          <p:spPr>
            <a:xfrm>
              <a:off x="4343400" y="2914650"/>
              <a:ext cx="3505200" cy="57150"/>
            </a:xfrm>
            <a:prstGeom prst="roundRect">
              <a:avLst>
                <a:gd name="adj" fmla="val 50000"/>
              </a:avLst>
            </a:prstGeom>
            <a:solidFill>
              <a:srgbClr val="33D6C0"/>
            </a:solidFill>
            <a:ln>
              <a:noFill/>
            </a:ln>
          </p:spPr>
        </p:sp>
        <p:sp>
          <p:nvSpPr>
            <p:cNvPr id="38" name="Ellipse 38"/>
            <p:cNvSpPr/>
            <p:nvPr/>
          </p:nvSpPr>
          <p:spPr>
            <a:xfrm>
              <a:off x="4543425" y="3267075"/>
              <a:ext cx="133350" cy="133350"/>
            </a:xfrm>
            <a:prstGeom prst="ellipse">
              <a:avLst/>
            </a:prstGeom>
            <a:solidFill>
              <a:srgbClr val="33D6C0"/>
            </a:solidFill>
            <a:ln>
              <a:noFill/>
            </a:ln>
          </p:spPr>
        </p:sp>
        <p:sp>
          <p:nvSpPr>
            <p:cNvPr id="39" name="TextBox 39"/>
            <p:cNvSpPr txBox="1"/>
            <p:nvPr/>
          </p:nvSpPr>
          <p:spPr>
            <a:xfrm>
              <a:off x="4774882" y="3249216"/>
              <a:ext cx="1871584"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Trace, do not replay</a:t>
              </a:r>
            </a:p>
          </p:txBody>
        </p:sp>
        <p:sp>
          <p:nvSpPr>
            <p:cNvPr id="40" name="TextBox 40"/>
            <p:cNvSpPr txBox="1"/>
            <p:nvPr/>
          </p:nvSpPr>
          <p:spPr>
            <a:xfrm>
              <a:off x="4585906" y="3757851"/>
              <a:ext cx="27850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Deep Demonstration Tracing, DDT, lets an</a:t>
              </a:r>
            </a:p>
          </p:txBody>
        </p:sp>
        <p:sp>
          <p:nvSpPr>
            <p:cNvPr id="41" name="TextBox 41"/>
            <p:cNvSpPr txBox="1"/>
            <p:nvPr/>
          </p:nvSpPr>
          <p:spPr>
            <a:xfrm>
              <a:off x="4585906" y="3948351"/>
              <a:ext cx="283838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imitator adaptively trace the right states</a:t>
              </a:r>
            </a:p>
          </p:txBody>
        </p:sp>
        <p:sp>
          <p:nvSpPr>
            <p:cNvPr id="42" name="TextBox 42"/>
            <p:cNvSpPr txBox="1"/>
            <p:nvPr/>
          </p:nvSpPr>
          <p:spPr>
            <a:xfrm>
              <a:off x="4585906" y="4138851"/>
              <a:ext cx="27975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 a single demonstration while recovering</a:t>
              </a:r>
            </a:p>
          </p:txBody>
        </p:sp>
        <p:sp>
          <p:nvSpPr>
            <p:cNvPr id="43" name="TextBox 43"/>
            <p:cNvSpPr txBox="1"/>
            <p:nvPr/>
          </p:nvSpPr>
          <p:spPr>
            <a:xfrm>
              <a:off x="4585906" y="4329351"/>
              <a:ext cx="18798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from unforeseen obstacles.</a:t>
              </a:r>
            </a:p>
          </p:txBody>
        </p:sp>
      </p:grpSp>
      <p:grpSp>
        <p:nvGrpSpPr>
          <p:cNvPr id="53" name="Group 53"/>
          <p:cNvGrpSpPr/>
          <p:nvPr/>
        </p:nvGrpSpPr>
        <p:grpSpPr>
          <a:xfrm>
            <a:off x="8077200" y="2914650"/>
            <a:ext cx="3505200" cy="2133600"/>
            <a:chOff x="8077200" y="2914650"/>
            <a:chExt cx="3505200" cy="2133600"/>
          </a:xfrm>
        </p:grpSpPr>
        <p:sp>
          <p:nvSpPr>
            <p:cNvPr id="45" name="Rectangle 45"/>
            <p:cNvSpPr/>
            <p:nvPr/>
          </p:nvSpPr>
          <p:spPr>
            <a:xfrm>
              <a:off x="8077200" y="2914650"/>
              <a:ext cx="3505200" cy="2133600"/>
            </a:xfrm>
            <a:prstGeom prst="roundRect">
              <a:avLst>
                <a:gd name="adj" fmla="val 6250"/>
              </a:avLst>
            </a:prstGeom>
            <a:solidFill>
              <a:schemeClr val="accent5"/>
            </a:solidFill>
            <a:ln w="14288">
              <a:solidFill>
                <a:schemeClr val="accent4"/>
              </a:solidFill>
            </a:ln>
          </p:spPr>
        </p:sp>
        <p:sp>
          <p:nvSpPr>
            <p:cNvPr id="46" name="Rectangle 46"/>
            <p:cNvSpPr/>
            <p:nvPr/>
          </p:nvSpPr>
          <p:spPr>
            <a:xfrm>
              <a:off x="8077200" y="2914650"/>
              <a:ext cx="3505200" cy="57150"/>
            </a:xfrm>
            <a:prstGeom prst="roundRect">
              <a:avLst>
                <a:gd name="adj" fmla="val 50000"/>
              </a:avLst>
            </a:prstGeom>
            <a:solidFill>
              <a:srgbClr val="46C98B"/>
            </a:solidFill>
            <a:ln>
              <a:noFill/>
            </a:ln>
          </p:spPr>
        </p:sp>
        <p:sp>
          <p:nvSpPr>
            <p:cNvPr id="47" name="Ellipse 47"/>
            <p:cNvSpPr/>
            <p:nvPr/>
          </p:nvSpPr>
          <p:spPr>
            <a:xfrm>
              <a:off x="8277225" y="3267075"/>
              <a:ext cx="133350" cy="133350"/>
            </a:xfrm>
            <a:prstGeom prst="ellipse">
              <a:avLst/>
            </a:prstGeom>
            <a:solidFill>
              <a:srgbClr val="46C98B"/>
            </a:solidFill>
            <a:ln>
              <a:noFill/>
            </a:ln>
          </p:spPr>
        </p:sp>
        <p:sp>
          <p:nvSpPr>
            <p:cNvPr id="48" name="TextBox 48"/>
            <p:cNvSpPr txBox="1"/>
            <p:nvPr/>
          </p:nvSpPr>
          <p:spPr>
            <a:xfrm>
              <a:off x="8508682" y="3249216"/>
              <a:ext cx="215470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Transformer + meta-RL</a:t>
              </a:r>
            </a:p>
          </p:txBody>
        </p:sp>
        <p:sp>
          <p:nvSpPr>
            <p:cNvPr id="49" name="TextBox 49"/>
            <p:cNvSpPr txBox="1"/>
            <p:nvPr/>
          </p:nvSpPr>
          <p:spPr>
            <a:xfrm>
              <a:off x="8319706" y="3757851"/>
              <a:ext cx="29312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purpose-built demonstration transformer</a:t>
              </a:r>
            </a:p>
          </p:txBody>
        </p:sp>
        <p:sp>
          <p:nvSpPr>
            <p:cNvPr id="50" name="TextBox 50"/>
            <p:cNvSpPr txBox="1"/>
            <p:nvPr/>
          </p:nvSpPr>
          <p:spPr>
            <a:xfrm>
              <a:off x="8319706" y="3948351"/>
              <a:ext cx="26684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trained by meta-reinforcement learning</a:t>
              </a:r>
            </a:p>
          </p:txBody>
        </p:sp>
        <p:sp>
          <p:nvSpPr>
            <p:cNvPr id="51" name="TextBox 51"/>
            <p:cNvSpPr txBox="1"/>
            <p:nvPr/>
          </p:nvSpPr>
          <p:spPr>
            <a:xfrm>
              <a:off x="8319706" y="4138851"/>
              <a:ext cx="264123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beats prior one-shot imitation on a new</a:t>
              </a:r>
            </a:p>
          </p:txBody>
        </p:sp>
        <p:sp>
          <p:nvSpPr>
            <p:cNvPr id="52" name="TextBox 52"/>
            <p:cNvSpPr txBox="1"/>
            <p:nvPr/>
          </p:nvSpPr>
          <p:spPr>
            <a:xfrm>
              <a:off x="8319706" y="4329351"/>
              <a:ext cx="243728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maze benchmark and robotics tasks.</a:t>
              </a:r>
            </a:p>
          </p:txBody>
        </p:sp>
      </p:grpSp>
      <p:sp>
        <p:nvSpPr>
          <p:cNvPr id="54" name="Line 54"/>
          <p:cNvSpPr/>
          <p:nvPr/>
        </p:nvSpPr>
        <p:spPr>
          <a:xfrm>
            <a:off x="609600" y="529590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55" name="TextBox 55"/>
          <p:cNvSpPr txBox="1"/>
          <p:nvPr/>
        </p:nvSpPr>
        <p:spPr>
          <a:xfrm>
            <a:off x="604266" y="55254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arXiv:2408.05285</a:t>
            </a:r>
          </a:p>
        </p:txBody>
      </p:sp>
      <p:sp>
        <p:nvSpPr>
          <p:cNvPr id="56" name="TextBox 56"/>
          <p:cNvSpPr txBox="1"/>
          <p:nvPr/>
        </p:nvSpPr>
        <p:spPr>
          <a:xfrm>
            <a:off x="3042856" y="5529501"/>
            <a:ext cx="3829318"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github.com/xionghuichen/Deep-Demonstration-Tracing</a:t>
            </a:r>
          </a:p>
        </p:txBody>
      </p:sp>
      <p:sp>
        <p:nvSpPr>
          <p:cNvPr id="57" name="TextBox 57"/>
          <p:cNvSpPr txBox="1"/>
          <p:nvPr/>
        </p:nvSpPr>
        <p:spPr>
          <a:xfrm>
            <a:off x="7520254" y="5525452"/>
            <a:ext cx="406748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Robust one-shot imitation from a single demonstration.</a:t>
            </a:r>
          </a:p>
        </p:txBody>
      </p:sp>
      <p:sp>
        <p:nvSpPr>
          <p:cNvPr id="58" name="cue_s01_c1_presented_icml_2024_tackles_one_shot" title="cue_s01_c1_presented_icml_2024_tackles_one_shot" descr="cue_s01_c1_presented_icml_2024_tackles_one_shot This paper, presented at ICML 2024, tackles one-shot imitation learning when the world changes after the demonstration is given."/>
          <p:cNvSpPr/>
          <p:nvPr/>
        </p:nvSpPr>
        <p:spPr>
          <a:xfrm>
            <a:off x="609600"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2_authors_introduce_deep_demonstration" title="cue_s01_c2_authors_introduce_deep_demonstration" descr="cue_s01_c2_authors_introduce_deep_demonstration The authors introduce Deep Demonstration Tracing, or DDT, a method that lets an imitator agent adaptively trace the right states in a single demonstration while recovering from unforeseen obstacles."/>
          <p:cNvSpPr/>
          <p:nvPr/>
        </p:nvSpPr>
        <p:spPr>
          <a:xfrm>
            <a:off x="4344009"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1_c3_ddt_combines_purpose_built_demonstra" title="cue_s01_c3_ddt_combines_purpose_built_demonstra" descr="cue_s01_c3_ddt_combines_purpose_built_demonstra DDT combines a purpose-built demonstration transformer with a meta-reinforcement-learning training scheme, and it outperforms prior one-shot imitation methods across a new maze navigation benchmark and several robotics tasks."/>
          <p:cNvSpPr/>
          <p:nvPr/>
        </p:nvSpPr>
        <p:spPr>
          <a:xfrm>
            <a:off x="8077200" y="291465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05974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demo, then the world moves</a:t>
            </a:r>
          </a:p>
        </p:txBody>
      </p:sp>
      <p:grpSp>
        <p:nvGrpSpPr>
          <p:cNvPr id="17" name="Group 1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chemeClr val="accent4"/>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632" y="1782366"/>
              <a:ext cx="205660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Act from a single demo</a:t>
              </a:r>
            </a:p>
          </p:txBody>
        </p:sp>
        <p:sp>
          <p:nvSpPr>
            <p:cNvPr id="8" name="TextBox 8"/>
            <p:cNvSpPr txBox="1"/>
            <p:nvPr/>
          </p:nvSpPr>
          <p:spPr>
            <a:xfrm>
              <a:off x="870966" y="2153602"/>
              <a:ext cx="29059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One-shot imitation learning asks an agent</a:t>
              </a:r>
            </a:p>
          </p:txBody>
        </p:sp>
        <p:sp>
          <p:nvSpPr>
            <p:cNvPr id="9" name="TextBox 9"/>
            <p:cNvSpPr txBox="1"/>
            <p:nvPr/>
          </p:nvSpPr>
          <p:spPr>
            <a:xfrm>
              <a:off x="870966" y="2363152"/>
              <a:ext cx="26892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carry out a task after seeing just a</a:t>
              </a:r>
            </a:p>
          </p:txBody>
        </p:sp>
        <p:sp>
          <p:nvSpPr>
            <p:cNvPr id="10" name="TextBox 10"/>
            <p:cNvSpPr txBox="1"/>
            <p:nvPr/>
          </p:nvSpPr>
          <p:spPr>
            <a:xfrm>
              <a:off x="870966" y="2572702"/>
              <a:ext cx="28494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single demonstration. It works well when</a:t>
              </a:r>
            </a:p>
          </p:txBody>
        </p:sp>
        <p:sp>
          <p:nvSpPr>
            <p:cNvPr id="11" name="TextBox 11"/>
            <p:cNvSpPr txBox="1"/>
            <p:nvPr/>
          </p:nvSpPr>
          <p:spPr>
            <a:xfrm>
              <a:off x="870966" y="2782252"/>
              <a:ext cx="28588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deployment looks like the demonstration.</a:t>
              </a:r>
            </a:p>
          </p:txBody>
        </p:sp>
        <p:sp>
          <p:nvSpPr>
            <p:cNvPr id="12" name="Rectangle 12"/>
            <p:cNvSpPr/>
            <p:nvPr/>
          </p:nvSpPr>
          <p:spPr>
            <a:xfrm>
              <a:off x="876300" y="3429000"/>
              <a:ext cx="3276600" cy="1314450"/>
            </a:xfrm>
            <a:prstGeom prst="roundRect">
              <a:avLst>
                <a:gd name="adj" fmla="val 7246"/>
              </a:avLst>
            </a:prstGeom>
            <a:solidFill>
              <a:schemeClr val="accent6"/>
            </a:solidFill>
            <a:ln w="14288">
              <a:solidFill>
                <a:schemeClr val="accent4"/>
              </a:solidFill>
            </a:ln>
          </p:spPr>
        </p:sp>
        <p:sp>
          <p:nvSpPr>
            <p:cNvPr id="13" name="TextBox 13"/>
            <p:cNvSpPr txBox="1"/>
            <p:nvPr/>
          </p:nvSpPr>
          <p:spPr>
            <a:xfrm>
              <a:off x="1062038" y="3613547"/>
              <a:ext cx="1437877"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the hidden assumption</a:t>
              </a:r>
            </a:p>
          </p:txBody>
        </p:sp>
        <p:sp>
          <p:nvSpPr>
            <p:cNvPr id="14" name="Rectangle 14"/>
            <p:cNvSpPr/>
            <p:nvPr/>
          </p:nvSpPr>
          <p:spPr>
            <a:xfrm>
              <a:off x="1066800" y="3867150"/>
              <a:ext cx="2895600" cy="381000"/>
            </a:xfrm>
            <a:prstGeom prst="roundRect">
              <a:avLst>
                <a:gd name="adj" fmla="val 20000"/>
              </a:avLst>
            </a:prstGeom>
            <a:solidFill>
              <a:schemeClr val="accent6"/>
            </a:solidFill>
            <a:ln w="14288">
              <a:solidFill>
                <a:schemeClr val="accent4"/>
              </a:solidFill>
            </a:ln>
          </p:spPr>
        </p:sp>
        <p:sp>
          <p:nvSpPr>
            <p:cNvPr id="15" name="TextBox 15"/>
            <p:cNvSpPr txBox="1"/>
            <p:nvPr/>
          </p:nvSpPr>
          <p:spPr>
            <a:xfrm>
              <a:off x="1722583" y="4013597"/>
              <a:ext cx="1584034" cy="183356"/>
            </a:xfrm>
            <a:prstGeom prst="rect">
              <a:avLst/>
            </a:prstGeom>
            <a:noFill/>
            <a:ln>
              <a:noFill/>
            </a:ln>
          </p:spPr>
          <p:txBody>
            <a:bodyPr wrap="none" lIns="0" tIns="0" rIns="0" bIns="0" anchor="t" anchorCtr="0">
              <a:spAutoFit/>
            </a:bodyPr>
            <a:lstStyle/>
            <a:p>
              <a:pPr algn="ctr"/>
              <a:r>
                <a:rPr lang="en-US" sz="940" b="1" dirty="0">
                  <a:solidFill>
                    <a:schemeClr val="accent2"/>
                  </a:solidFill>
                  <a:latin typeface="Consolas"/>
                  <a:ea typeface="Consolas"/>
                  <a:cs typeface="Consolas"/>
                </a:rPr>
                <a:t>deploy == demonstration</a:t>
              </a:r>
            </a:p>
          </p:txBody>
        </p:sp>
        <p:sp>
          <p:nvSpPr>
            <p:cNvPr id="16" name="TextBox 16"/>
            <p:cNvSpPr txBox="1"/>
            <p:nvPr/>
          </p:nvSpPr>
          <p:spPr>
            <a:xfrm>
              <a:off x="1062038" y="4531995"/>
              <a:ext cx="1803269"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but the real world is dynamic</a:t>
              </a:r>
            </a:p>
          </p:txBody>
        </p:sp>
      </p:grpSp>
      <p:grpSp>
        <p:nvGrpSpPr>
          <p:cNvPr id="41" name="Group 41"/>
          <p:cNvGrpSpPr/>
          <p:nvPr/>
        </p:nvGrpSpPr>
        <p:grpSpPr>
          <a:xfrm>
            <a:off x="4762500" y="1504950"/>
            <a:ext cx="6819900" cy="1428750"/>
            <a:chOff x="4762500" y="1504950"/>
            <a:chExt cx="6819900" cy="1428750"/>
          </a:xfrm>
        </p:grpSpPr>
        <p:sp>
          <p:nvSpPr>
            <p:cNvPr id="18" name="Rectangle 18"/>
            <p:cNvSpPr/>
            <p:nvPr/>
          </p:nvSpPr>
          <p:spPr>
            <a:xfrm>
              <a:off x="4762500" y="1504950"/>
              <a:ext cx="6819900" cy="1428750"/>
            </a:xfrm>
            <a:prstGeom prst="roundRect">
              <a:avLst>
                <a:gd name="adj" fmla="val 9333"/>
              </a:avLst>
            </a:prstGeom>
            <a:solidFill>
              <a:schemeClr val="accent5"/>
            </a:solidFill>
            <a:ln w="14288">
              <a:solidFill>
                <a:schemeClr val="accent4"/>
              </a:solidFill>
            </a:ln>
          </p:spPr>
        </p:sp>
        <p:sp>
          <p:nvSpPr>
            <p:cNvPr id="19" name="Rectangle 19"/>
            <p:cNvSpPr/>
            <p:nvPr/>
          </p:nvSpPr>
          <p:spPr>
            <a:xfrm>
              <a:off x="4762500" y="1504950"/>
              <a:ext cx="57150" cy="1428750"/>
            </a:xfrm>
            <a:prstGeom prst="roundRect">
              <a:avLst>
                <a:gd name="adj" fmla="val 50000"/>
              </a:avLst>
            </a:prstGeom>
            <a:solidFill>
              <a:srgbClr val="33D6C0"/>
            </a:solidFill>
            <a:ln>
              <a:noFill/>
            </a:ln>
          </p:spPr>
        </p:sp>
        <p:sp>
          <p:nvSpPr>
            <p:cNvPr id="20" name="TextBox 20"/>
            <p:cNvSpPr txBox="1"/>
            <p:nvPr/>
          </p:nvSpPr>
          <p:spPr>
            <a:xfrm>
              <a:off x="5022914" y="1733312"/>
              <a:ext cx="2980314"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Runtime change breaks blind replay</a:t>
              </a:r>
            </a:p>
          </p:txBody>
        </p:sp>
        <p:sp>
          <p:nvSpPr>
            <p:cNvPr id="21" name="TextBox 21"/>
            <p:cNvSpPr txBox="1"/>
            <p:nvPr/>
          </p:nvSpPr>
          <p:spPr>
            <a:xfrm>
              <a:off x="5023866" y="2039302"/>
              <a:ext cx="3612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After the demonstration is provided, an unexpected</a:t>
              </a:r>
            </a:p>
          </p:txBody>
        </p:sp>
        <p:sp>
          <p:nvSpPr>
            <p:cNvPr id="22" name="TextBox 22"/>
            <p:cNvSpPr txBox="1"/>
            <p:nvPr/>
          </p:nvSpPr>
          <p:spPr>
            <a:xfrm>
              <a:off x="5023866" y="2239328"/>
              <a:ext cx="34737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obstacle can appear, or a grasped object can slip,</a:t>
              </a:r>
            </a:p>
          </p:txBody>
        </p:sp>
        <p:sp>
          <p:nvSpPr>
            <p:cNvPr id="23" name="TextBox 23"/>
            <p:cNvSpPr txBox="1"/>
            <p:nvPr/>
          </p:nvSpPr>
          <p:spPr>
            <a:xfrm>
              <a:off x="5023866" y="2439352"/>
              <a:ext cx="31415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pushing the agent into states the demo never</a:t>
              </a:r>
            </a:p>
          </p:txBody>
        </p:sp>
        <p:sp>
          <p:nvSpPr>
            <p:cNvPr id="24" name="TextBox 24"/>
            <p:cNvSpPr txBox="1"/>
            <p:nvPr/>
          </p:nvSpPr>
          <p:spPr>
            <a:xfrm>
              <a:off x="5023866" y="2639378"/>
              <a:ext cx="6326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covered.</a:t>
              </a:r>
            </a:p>
          </p:txBody>
        </p:sp>
        <p:sp>
          <p:nvSpPr>
            <p:cNvPr id="25" name="Rectangle 25"/>
            <p:cNvSpPr/>
            <p:nvPr/>
          </p:nvSpPr>
          <p:spPr>
            <a:xfrm>
              <a:off x="9544050" y="1600200"/>
              <a:ext cx="1590675" cy="1228725"/>
            </a:xfrm>
            <a:prstGeom prst="roundRect">
              <a:avLst>
                <a:gd name="adj" fmla="val 6202"/>
              </a:avLst>
            </a:prstGeom>
            <a:solidFill>
              <a:srgbClr val="0E223A"/>
            </a:solidFill>
            <a:ln w="14288">
              <a:solidFill>
                <a:schemeClr val="accent4"/>
              </a:solidFill>
            </a:ln>
          </p:spPr>
        </p:sp>
        <p:sp>
          <p:nvSpPr>
            <p:cNvPr id="26" name="Line 26"/>
            <p:cNvSpPr/>
            <p:nvPr/>
          </p:nvSpPr>
          <p:spPr>
            <a:xfrm>
              <a:off x="9809162" y="1676400"/>
              <a:ext cx="9525" cy="1076325"/>
            </a:xfrm>
            <a:custGeom>
              <a:avLst/>
              <a:gdLst/>
              <a:ahLst/>
              <a:cxnLst/>
              <a:rect l="l" t="t" r="r" b="b"/>
              <a:pathLst>
                <a:path w="9525" h="1076325">
                  <a:moveTo>
                    <a:pt x="0" y="0"/>
                  </a:moveTo>
                  <a:lnTo>
                    <a:pt x="0" y="1076325"/>
                  </a:lnTo>
                </a:path>
              </a:pathLst>
            </a:custGeom>
            <a:noFill/>
            <a:ln w="4762" cap="rnd">
              <a:solidFill>
                <a:schemeClr val="accent4"/>
              </a:solidFill>
            </a:ln>
          </p:spPr>
        </p:sp>
        <p:sp>
          <p:nvSpPr>
            <p:cNvPr id="27" name="Line 27"/>
            <p:cNvSpPr/>
            <p:nvPr/>
          </p:nvSpPr>
          <p:spPr>
            <a:xfrm>
              <a:off x="10074275" y="1676400"/>
              <a:ext cx="9525" cy="1076325"/>
            </a:xfrm>
            <a:custGeom>
              <a:avLst/>
              <a:gdLst/>
              <a:ahLst/>
              <a:cxnLst/>
              <a:rect l="l" t="t" r="r" b="b"/>
              <a:pathLst>
                <a:path w="9525" h="1076325">
                  <a:moveTo>
                    <a:pt x="0" y="0"/>
                  </a:moveTo>
                  <a:lnTo>
                    <a:pt x="0" y="1076325"/>
                  </a:lnTo>
                </a:path>
              </a:pathLst>
            </a:custGeom>
            <a:noFill/>
            <a:ln w="4762" cap="rnd">
              <a:solidFill>
                <a:schemeClr val="accent4"/>
              </a:solidFill>
            </a:ln>
          </p:spPr>
        </p:sp>
        <p:sp>
          <p:nvSpPr>
            <p:cNvPr id="28" name="Line 28"/>
            <p:cNvSpPr/>
            <p:nvPr/>
          </p:nvSpPr>
          <p:spPr>
            <a:xfrm>
              <a:off x="10339388" y="1676400"/>
              <a:ext cx="9525" cy="1076325"/>
            </a:xfrm>
            <a:custGeom>
              <a:avLst/>
              <a:gdLst/>
              <a:ahLst/>
              <a:cxnLst/>
              <a:rect l="l" t="t" r="r" b="b"/>
              <a:pathLst>
                <a:path w="9525" h="1076325">
                  <a:moveTo>
                    <a:pt x="0" y="0"/>
                  </a:moveTo>
                  <a:lnTo>
                    <a:pt x="0" y="1076325"/>
                  </a:lnTo>
                </a:path>
              </a:pathLst>
            </a:custGeom>
            <a:noFill/>
            <a:ln w="4762" cap="rnd">
              <a:solidFill>
                <a:schemeClr val="accent4"/>
              </a:solidFill>
            </a:ln>
          </p:spPr>
        </p:sp>
        <p:sp>
          <p:nvSpPr>
            <p:cNvPr id="29" name="Line 29"/>
            <p:cNvSpPr/>
            <p:nvPr/>
          </p:nvSpPr>
          <p:spPr>
            <a:xfrm>
              <a:off x="10604500" y="1676400"/>
              <a:ext cx="9525" cy="1076325"/>
            </a:xfrm>
            <a:custGeom>
              <a:avLst/>
              <a:gdLst/>
              <a:ahLst/>
              <a:cxnLst/>
              <a:rect l="l" t="t" r="r" b="b"/>
              <a:pathLst>
                <a:path w="9525" h="1076325">
                  <a:moveTo>
                    <a:pt x="0" y="0"/>
                  </a:moveTo>
                  <a:lnTo>
                    <a:pt x="0" y="1076325"/>
                  </a:lnTo>
                </a:path>
              </a:pathLst>
            </a:custGeom>
            <a:noFill/>
            <a:ln w="4762" cap="rnd">
              <a:solidFill>
                <a:schemeClr val="accent4"/>
              </a:solidFill>
            </a:ln>
          </p:spPr>
        </p:sp>
        <p:sp>
          <p:nvSpPr>
            <p:cNvPr id="30" name="Line 30"/>
            <p:cNvSpPr/>
            <p:nvPr/>
          </p:nvSpPr>
          <p:spPr>
            <a:xfrm>
              <a:off x="10869612" y="1676400"/>
              <a:ext cx="9525" cy="1076325"/>
            </a:xfrm>
            <a:custGeom>
              <a:avLst/>
              <a:gdLst/>
              <a:ahLst/>
              <a:cxnLst/>
              <a:rect l="l" t="t" r="r" b="b"/>
              <a:pathLst>
                <a:path w="9525" h="1076325">
                  <a:moveTo>
                    <a:pt x="0" y="0"/>
                  </a:moveTo>
                  <a:lnTo>
                    <a:pt x="0" y="1076325"/>
                  </a:lnTo>
                </a:path>
              </a:pathLst>
            </a:custGeom>
            <a:noFill/>
            <a:ln w="4762" cap="rnd">
              <a:solidFill>
                <a:schemeClr val="accent4"/>
              </a:solidFill>
            </a:ln>
          </p:spPr>
        </p:sp>
        <p:sp>
          <p:nvSpPr>
            <p:cNvPr id="31" name="Line 31"/>
            <p:cNvSpPr/>
            <p:nvPr/>
          </p:nvSpPr>
          <p:spPr>
            <a:xfrm>
              <a:off x="9620250" y="1907381"/>
              <a:ext cx="1438275" cy="9525"/>
            </a:xfrm>
            <a:custGeom>
              <a:avLst/>
              <a:gdLst/>
              <a:ahLst/>
              <a:cxnLst/>
              <a:rect l="l" t="t" r="r" b="b"/>
              <a:pathLst>
                <a:path w="1438275" h="9525">
                  <a:moveTo>
                    <a:pt x="0" y="0"/>
                  </a:moveTo>
                  <a:lnTo>
                    <a:pt x="1438275" y="0"/>
                  </a:lnTo>
                </a:path>
              </a:pathLst>
            </a:custGeom>
            <a:noFill/>
            <a:ln w="4762" cap="rnd">
              <a:solidFill>
                <a:schemeClr val="accent4"/>
              </a:solidFill>
            </a:ln>
          </p:spPr>
        </p:sp>
        <p:sp>
          <p:nvSpPr>
            <p:cNvPr id="32" name="Line 32"/>
            <p:cNvSpPr/>
            <p:nvPr/>
          </p:nvSpPr>
          <p:spPr>
            <a:xfrm>
              <a:off x="9620250" y="2214562"/>
              <a:ext cx="1438275" cy="9525"/>
            </a:xfrm>
            <a:custGeom>
              <a:avLst/>
              <a:gdLst/>
              <a:ahLst/>
              <a:cxnLst/>
              <a:rect l="l" t="t" r="r" b="b"/>
              <a:pathLst>
                <a:path w="1438275" h="9525">
                  <a:moveTo>
                    <a:pt x="0" y="0"/>
                  </a:moveTo>
                  <a:lnTo>
                    <a:pt x="1438275" y="0"/>
                  </a:lnTo>
                </a:path>
              </a:pathLst>
            </a:custGeom>
            <a:noFill/>
            <a:ln w="4762" cap="rnd">
              <a:solidFill>
                <a:schemeClr val="accent4"/>
              </a:solidFill>
            </a:ln>
          </p:spPr>
        </p:sp>
        <p:sp>
          <p:nvSpPr>
            <p:cNvPr id="33" name="Line 33"/>
            <p:cNvSpPr/>
            <p:nvPr/>
          </p:nvSpPr>
          <p:spPr>
            <a:xfrm>
              <a:off x="9620250" y="2521744"/>
              <a:ext cx="1438275" cy="9525"/>
            </a:xfrm>
            <a:custGeom>
              <a:avLst/>
              <a:gdLst/>
              <a:ahLst/>
              <a:cxnLst/>
              <a:rect l="l" t="t" r="r" b="b"/>
              <a:pathLst>
                <a:path w="1438275" h="9525">
                  <a:moveTo>
                    <a:pt x="0" y="0"/>
                  </a:moveTo>
                  <a:lnTo>
                    <a:pt x="1438275" y="0"/>
                  </a:lnTo>
                </a:path>
              </a:pathLst>
            </a:custGeom>
            <a:noFill/>
            <a:ln w="4762" cap="rnd">
              <a:solidFill>
                <a:schemeClr val="accent4"/>
              </a:solidFill>
            </a:ln>
          </p:spPr>
        </p:sp>
        <p:sp>
          <p:nvSpPr>
            <p:cNvPr id="34" name="Polyline 34"/>
            <p:cNvSpPr/>
            <p:nvPr/>
          </p:nvSpPr>
          <p:spPr>
            <a:xfrm>
              <a:off x="9705975" y="1800225"/>
              <a:ext cx="1257300" cy="828675"/>
            </a:xfrm>
            <a:custGeom>
              <a:avLst/>
              <a:gdLst/>
              <a:ahLst/>
              <a:cxnLst/>
              <a:rect l="l" t="t" r="r" b="b"/>
              <a:pathLst>
                <a:path w="1257300" h="828675">
                  <a:moveTo>
                    <a:pt x="0" y="828675"/>
                  </a:moveTo>
                  <a:lnTo>
                    <a:pt x="315277" y="561785"/>
                  </a:lnTo>
                  <a:lnTo>
                    <a:pt x="537972" y="340614"/>
                  </a:lnTo>
                  <a:lnTo>
                    <a:pt x="887921" y="168592"/>
                  </a:lnTo>
                  <a:lnTo>
                    <a:pt x="1257300" y="0"/>
                  </a:lnTo>
                </a:path>
              </a:pathLst>
            </a:custGeom>
            <a:noFill/>
            <a:ln w="20955" cap="rnd">
              <a:solidFill>
                <a:srgbClr val="33D6C0"/>
              </a:solidFill>
              <a:custDash>
                <a:ds d="272727" sp="227273"/>
              </a:custDash>
              <a:round/>
            </a:ln>
          </p:spPr>
        </p:sp>
        <p:sp>
          <p:nvSpPr>
            <p:cNvPr id="35" name="Rectangle 35"/>
            <p:cNvSpPr/>
            <p:nvPr/>
          </p:nvSpPr>
          <p:spPr>
            <a:xfrm>
              <a:off x="10144125" y="2124075"/>
              <a:ext cx="200025" cy="133350"/>
            </a:xfrm>
            <a:prstGeom prst="roundRect">
              <a:avLst>
                <a:gd name="adj" fmla="val 21429"/>
              </a:avLst>
            </a:prstGeom>
            <a:solidFill>
              <a:srgbClr val="F2685C"/>
            </a:solidFill>
            <a:ln>
              <a:noFill/>
            </a:ln>
          </p:spPr>
        </p:sp>
        <p:sp>
          <p:nvSpPr>
            <p:cNvPr id="36" name="Polyline 36"/>
            <p:cNvSpPr/>
            <p:nvPr/>
          </p:nvSpPr>
          <p:spPr>
            <a:xfrm>
              <a:off x="10021252" y="1950339"/>
              <a:ext cx="572643" cy="411671"/>
            </a:xfrm>
            <a:custGeom>
              <a:avLst/>
              <a:gdLst/>
              <a:ahLst/>
              <a:cxnLst/>
              <a:rect l="l" t="t" r="r" b="b"/>
              <a:pathLst>
                <a:path w="572643" h="411671">
                  <a:moveTo>
                    <a:pt x="0" y="411671"/>
                  </a:moveTo>
                  <a:lnTo>
                    <a:pt x="165545" y="342900"/>
                  </a:lnTo>
                  <a:lnTo>
                    <a:pt x="13145" y="209550"/>
                  </a:lnTo>
                  <a:lnTo>
                    <a:pt x="89345" y="0"/>
                  </a:lnTo>
                  <a:lnTo>
                    <a:pt x="394145" y="0"/>
                  </a:lnTo>
                  <a:lnTo>
                    <a:pt x="432245" y="171450"/>
                  </a:lnTo>
                  <a:lnTo>
                    <a:pt x="572643" y="18478"/>
                  </a:lnTo>
                </a:path>
              </a:pathLst>
            </a:custGeom>
            <a:noFill/>
            <a:ln w="24765" cap="rnd">
              <a:solidFill>
                <a:schemeClr val="accent2"/>
              </a:solidFill>
              <a:round/>
            </a:ln>
          </p:spPr>
        </p:sp>
        <p:sp>
          <p:nvSpPr>
            <p:cNvPr id="37" name="Ellipse 37"/>
            <p:cNvSpPr/>
            <p:nvPr/>
          </p:nvSpPr>
          <p:spPr>
            <a:xfrm>
              <a:off x="9648825" y="2571750"/>
              <a:ext cx="114300" cy="114300"/>
            </a:xfrm>
            <a:prstGeom prst="ellipse">
              <a:avLst/>
            </a:prstGeom>
            <a:solidFill>
              <a:schemeClr val="accent2"/>
            </a:solidFill>
            <a:ln>
              <a:noFill/>
            </a:ln>
          </p:spPr>
        </p:sp>
        <p:sp>
          <p:nvSpPr>
            <p:cNvPr id="38" name="Rectangle 38"/>
            <p:cNvSpPr/>
            <p:nvPr/>
          </p:nvSpPr>
          <p:spPr>
            <a:xfrm>
              <a:off x="10906125" y="1743075"/>
              <a:ext cx="114300" cy="114300"/>
            </a:xfrm>
            <a:prstGeom prst="roundRect">
              <a:avLst>
                <a:gd name="adj" fmla="val 16667"/>
              </a:avLst>
            </a:prstGeom>
            <a:solidFill>
              <a:srgbClr val="46C98B"/>
            </a:solidFill>
            <a:ln>
              <a:noFill/>
            </a:ln>
          </p:spPr>
        </p:sp>
        <p:sp>
          <p:nvSpPr>
            <p:cNvPr id="39" name="TextBox 39"/>
            <p:cNvSpPr txBox="1"/>
            <p:nvPr/>
          </p:nvSpPr>
          <p:spPr>
            <a:xfrm>
              <a:off x="9588099" y="2708434"/>
              <a:ext cx="273851"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start</a:t>
              </a:r>
            </a:p>
          </p:txBody>
        </p:sp>
        <p:sp>
          <p:nvSpPr>
            <p:cNvPr id="40" name="TextBox 40"/>
            <p:cNvSpPr txBox="1"/>
            <p:nvPr/>
          </p:nvSpPr>
          <p:spPr>
            <a:xfrm>
              <a:off x="10864797" y="1613059"/>
              <a:ext cx="196956"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goal</a:t>
              </a:r>
            </a:p>
          </p:txBody>
        </p:sp>
      </p:grpSp>
      <p:grpSp>
        <p:nvGrpSpPr>
          <p:cNvPr id="47" name="Group 47"/>
          <p:cNvGrpSpPr/>
          <p:nvPr/>
        </p:nvGrpSpPr>
        <p:grpSpPr>
          <a:xfrm>
            <a:off x="4762500" y="3086100"/>
            <a:ext cx="6819900" cy="990600"/>
            <a:chOff x="4762500" y="3086100"/>
            <a:chExt cx="6819900" cy="990600"/>
          </a:xfrm>
        </p:grpSpPr>
        <p:sp>
          <p:nvSpPr>
            <p:cNvPr id="42" name="Rectangle 42"/>
            <p:cNvSpPr/>
            <p:nvPr/>
          </p:nvSpPr>
          <p:spPr>
            <a:xfrm>
              <a:off x="4762500" y="3086100"/>
              <a:ext cx="6819900" cy="990600"/>
            </a:xfrm>
            <a:prstGeom prst="roundRect">
              <a:avLst>
                <a:gd name="adj" fmla="val 13462"/>
              </a:avLst>
            </a:prstGeom>
            <a:solidFill>
              <a:srgbClr val="2A2417"/>
            </a:solidFill>
            <a:ln w="14288">
              <a:solidFill>
                <a:srgbClr val="F4C24C"/>
              </a:solidFill>
            </a:ln>
          </p:spPr>
        </p:sp>
        <p:sp>
          <p:nvSpPr>
            <p:cNvPr id="43" name="Rectangle 43"/>
            <p:cNvSpPr/>
            <p:nvPr/>
          </p:nvSpPr>
          <p:spPr>
            <a:xfrm>
              <a:off x="4762500" y="3086100"/>
              <a:ext cx="57150" cy="990600"/>
            </a:xfrm>
            <a:prstGeom prst="roundRect">
              <a:avLst>
                <a:gd name="adj" fmla="val 50000"/>
              </a:avLst>
            </a:prstGeom>
            <a:solidFill>
              <a:srgbClr val="F4C24C"/>
            </a:solidFill>
            <a:ln>
              <a:noFill/>
            </a:ln>
          </p:spPr>
        </p:sp>
        <p:sp>
          <p:nvSpPr>
            <p:cNvPr id="44" name="TextBox 44"/>
            <p:cNvSpPr txBox="1"/>
            <p:nvPr/>
          </p:nvSpPr>
          <p:spPr>
            <a:xfrm>
              <a:off x="5023104" y="3318510"/>
              <a:ext cx="3435587"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Prior methods excel only when stationary</a:t>
              </a:r>
            </a:p>
          </p:txBody>
        </p:sp>
        <p:sp>
          <p:nvSpPr>
            <p:cNvPr id="45" name="TextBox 45"/>
            <p:cNvSpPr txBox="1"/>
            <p:nvPr/>
          </p:nvSpPr>
          <p:spPr>
            <a:xfrm>
              <a:off x="5023676" y="3616404"/>
              <a:ext cx="613461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Traditional one-shot imitation methods shine in stationary settings, yet their ability</a:t>
              </a:r>
            </a:p>
          </p:txBody>
        </p:sp>
        <p:sp>
          <p:nvSpPr>
            <p:cNvPr id="46" name="TextBox 46"/>
            <p:cNvSpPr txBox="1"/>
            <p:nvPr/>
          </p:nvSpPr>
          <p:spPr>
            <a:xfrm>
              <a:off x="5023676" y="3845004"/>
              <a:ext cx="530087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to handle these unforeseen runtime changes is limited and rarely studied.</a:t>
              </a:r>
            </a:p>
          </p:txBody>
        </p:sp>
      </p:grpSp>
      <p:grpSp>
        <p:nvGrpSpPr>
          <p:cNvPr id="53" name="Group 53"/>
          <p:cNvGrpSpPr/>
          <p:nvPr/>
        </p:nvGrpSpPr>
        <p:grpSpPr>
          <a:xfrm>
            <a:off x="4762500" y="4229100"/>
            <a:ext cx="6819900" cy="1009650"/>
            <a:chOff x="4762500" y="4229100"/>
            <a:chExt cx="6819900" cy="1009650"/>
          </a:xfrm>
        </p:grpSpPr>
        <p:sp>
          <p:nvSpPr>
            <p:cNvPr id="48" name="Rectangle 48"/>
            <p:cNvSpPr/>
            <p:nvPr/>
          </p:nvSpPr>
          <p:spPr>
            <a:xfrm>
              <a:off x="4762500" y="4229100"/>
              <a:ext cx="6819900" cy="1009650"/>
            </a:xfrm>
            <a:prstGeom prst="roundRect">
              <a:avLst>
                <a:gd name="adj" fmla="val 13208"/>
              </a:avLst>
            </a:prstGeom>
            <a:solidFill>
              <a:srgbClr val="0F2E2B"/>
            </a:solidFill>
            <a:ln w="14288">
              <a:solidFill>
                <a:srgbClr val="46C98B"/>
              </a:solidFill>
            </a:ln>
          </p:spPr>
        </p:sp>
        <p:sp>
          <p:nvSpPr>
            <p:cNvPr id="49" name="Rectangle 49"/>
            <p:cNvSpPr/>
            <p:nvPr/>
          </p:nvSpPr>
          <p:spPr>
            <a:xfrm>
              <a:off x="4762500" y="4229100"/>
              <a:ext cx="57150" cy="1009650"/>
            </a:xfrm>
            <a:prstGeom prst="roundRect">
              <a:avLst>
                <a:gd name="adj" fmla="val 50000"/>
              </a:avLst>
            </a:prstGeom>
            <a:solidFill>
              <a:srgbClr val="46C98B"/>
            </a:solidFill>
            <a:ln>
              <a:noFill/>
            </a:ln>
          </p:spPr>
        </p:sp>
        <p:sp>
          <p:nvSpPr>
            <p:cNvPr id="50" name="TextBox 50"/>
            <p:cNvSpPr txBox="1"/>
            <p:nvPr/>
          </p:nvSpPr>
          <p:spPr>
            <a:xfrm>
              <a:off x="5023104" y="4461510"/>
              <a:ext cx="2705393"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The gap: robust OSIL at runtime</a:t>
              </a:r>
            </a:p>
          </p:txBody>
        </p:sp>
        <p:sp>
          <p:nvSpPr>
            <p:cNvPr id="51" name="TextBox 51"/>
            <p:cNvSpPr txBox="1"/>
            <p:nvPr/>
          </p:nvSpPr>
          <p:spPr>
            <a:xfrm>
              <a:off x="5023676" y="4759404"/>
              <a:ext cx="610565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paper focuses squarely on that gap - making one-shot imitation robust when the</a:t>
              </a:r>
            </a:p>
          </p:txBody>
        </p:sp>
        <p:sp>
          <p:nvSpPr>
            <p:cNvPr id="52" name="TextBox 52"/>
            <p:cNvSpPr txBox="1"/>
            <p:nvPr/>
          </p:nvSpPr>
          <p:spPr>
            <a:xfrm>
              <a:off x="5023676" y="4988004"/>
              <a:ext cx="396557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environment changes unexpectedly at deployment time.</a:t>
              </a:r>
            </a:p>
          </p:txBody>
        </p:sp>
      </p:grpSp>
      <p:sp>
        <p:nvSpPr>
          <p:cNvPr id="54" name="cue_s02_c1_one_shot_imitation_learning_asks_age" title="cue_s02_c1_one_shot_imitation_learning_asks_age" descr="cue_s02_c1_one_shot_imitation_learning_asks_age One-shot imitation learning asks an agent to carry out a task after seeing just a single demonstration. It works well when deployment looks like the demonstration, but the real world is dynamic."/>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2_c2_after_demonstration_provided_unexpec" title="cue_s02_c2_after_demonstration_provided_unexpec" descr="cue_s02_c2_after_demonstration_provided_unexpec After the demonstration is provided, an unexpected obstacle can appear, or a grasped object can slip, pushing the agent into situations the demonstration never covered."/>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2_c3_traditional_one_shot_imitation_metho" title="cue_s02_c3_traditional_one_shot_imitation_metho" descr="cue_s02_c3_traditional_one_shot_imitation_metho Traditional one-shot imitation methods excel in stationary settings, yet their ability to handle these unforeseen changes is limited and rarely studied."/>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2_c4_focuses_squarely_gap_making_one_shot" title="cue_s02_c4_focuses_squarely_gap_making_one_shot" descr="cue_s02_c4_focuses_squarely_gap_making_one_shot This paper focuses squarely on that gap: making one-shot imitation robust when the environment changes at runtime."/>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45820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How a human handles a detour</a:t>
            </a:r>
          </a:p>
        </p:txBody>
      </p:sp>
      <p:grpSp>
        <p:nvGrpSpPr>
          <p:cNvPr id="28" name="Group 28"/>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chemeClr val="accent4"/>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204" y="1737360"/>
              <a:ext cx="258777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A demonstrated route, blocked</a:t>
              </a:r>
            </a:p>
          </p:txBody>
        </p:sp>
        <p:sp>
          <p:nvSpPr>
            <p:cNvPr id="8" name="TextBox 8"/>
            <p:cNvSpPr txBox="1"/>
            <p:nvPr/>
          </p:nvSpPr>
          <p:spPr>
            <a:xfrm>
              <a:off x="871156" y="2024301"/>
              <a:ext cx="27135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Consider following a demonstrated route</a:t>
              </a:r>
            </a:p>
          </p:txBody>
        </p:sp>
        <p:sp>
          <p:nvSpPr>
            <p:cNvPr id="9" name="TextBox 9"/>
            <p:cNvSpPr txBox="1"/>
            <p:nvPr/>
          </p:nvSpPr>
          <p:spPr>
            <a:xfrm>
              <a:off x="871156" y="2214801"/>
              <a:ext cx="26392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from a start to a destination. Partway</a:t>
              </a:r>
            </a:p>
          </p:txBody>
        </p:sp>
        <p:sp>
          <p:nvSpPr>
            <p:cNvPr id="10" name="TextBox 10"/>
            <p:cNvSpPr txBox="1"/>
            <p:nvPr/>
          </p:nvSpPr>
          <p:spPr>
            <a:xfrm>
              <a:off x="871156" y="2405301"/>
              <a:ext cx="23421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there, a truck is parked where the</a:t>
              </a:r>
            </a:p>
          </p:txBody>
        </p:sp>
        <p:sp>
          <p:nvSpPr>
            <p:cNvPr id="11" name="TextBox 11"/>
            <p:cNvSpPr txBox="1"/>
            <p:nvPr/>
          </p:nvSpPr>
          <p:spPr>
            <a:xfrm>
              <a:off x="871156" y="2595801"/>
              <a:ext cx="16554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 had none.</a:t>
              </a:r>
            </a:p>
          </p:txBody>
        </p:sp>
        <p:sp>
          <p:nvSpPr>
            <p:cNvPr id="12" name="Rectangle 12"/>
            <p:cNvSpPr/>
            <p:nvPr/>
          </p:nvSpPr>
          <p:spPr>
            <a:xfrm>
              <a:off x="3657600" y="1695450"/>
              <a:ext cx="2162175" cy="1676400"/>
            </a:xfrm>
            <a:prstGeom prst="roundRect">
              <a:avLst>
                <a:gd name="adj" fmla="val 4545"/>
              </a:avLst>
            </a:prstGeom>
            <a:solidFill>
              <a:srgbClr val="0E223A"/>
            </a:solidFill>
            <a:ln w="14288">
              <a:solidFill>
                <a:schemeClr val="accent4"/>
              </a:solidFill>
            </a:ln>
          </p:spPr>
        </p:sp>
        <p:sp>
          <p:nvSpPr>
            <p:cNvPr id="13" name="Line 13"/>
            <p:cNvSpPr/>
            <p:nvPr/>
          </p:nvSpPr>
          <p:spPr>
            <a:xfrm>
              <a:off x="4017962" y="1771650"/>
              <a:ext cx="9525" cy="1524000"/>
            </a:xfrm>
            <a:custGeom>
              <a:avLst/>
              <a:gdLst/>
              <a:ahLst/>
              <a:cxnLst/>
              <a:rect l="l" t="t" r="r" b="b"/>
              <a:pathLst>
                <a:path w="9525" h="1524000">
                  <a:moveTo>
                    <a:pt x="0" y="0"/>
                  </a:moveTo>
                  <a:lnTo>
                    <a:pt x="0" y="1524000"/>
                  </a:lnTo>
                </a:path>
              </a:pathLst>
            </a:custGeom>
            <a:noFill/>
            <a:ln w="4762" cap="rnd">
              <a:solidFill>
                <a:schemeClr val="accent4"/>
              </a:solidFill>
            </a:ln>
          </p:spPr>
        </p:sp>
        <p:sp>
          <p:nvSpPr>
            <p:cNvPr id="14" name="Line 14"/>
            <p:cNvSpPr/>
            <p:nvPr/>
          </p:nvSpPr>
          <p:spPr>
            <a:xfrm>
              <a:off x="4378325" y="1771650"/>
              <a:ext cx="9525" cy="1524000"/>
            </a:xfrm>
            <a:custGeom>
              <a:avLst/>
              <a:gdLst/>
              <a:ahLst/>
              <a:cxnLst/>
              <a:rect l="l" t="t" r="r" b="b"/>
              <a:pathLst>
                <a:path w="9525" h="1524000">
                  <a:moveTo>
                    <a:pt x="0" y="0"/>
                  </a:moveTo>
                  <a:lnTo>
                    <a:pt x="0" y="1524000"/>
                  </a:lnTo>
                </a:path>
              </a:pathLst>
            </a:custGeom>
            <a:noFill/>
            <a:ln w="4762" cap="rnd">
              <a:solidFill>
                <a:schemeClr val="accent4"/>
              </a:solidFill>
            </a:ln>
          </p:spPr>
        </p:sp>
        <p:sp>
          <p:nvSpPr>
            <p:cNvPr id="15" name="Line 15"/>
            <p:cNvSpPr/>
            <p:nvPr/>
          </p:nvSpPr>
          <p:spPr>
            <a:xfrm>
              <a:off x="4738688" y="1771650"/>
              <a:ext cx="9525" cy="1524000"/>
            </a:xfrm>
            <a:custGeom>
              <a:avLst/>
              <a:gdLst/>
              <a:ahLst/>
              <a:cxnLst/>
              <a:rect l="l" t="t" r="r" b="b"/>
              <a:pathLst>
                <a:path w="9525" h="1524000">
                  <a:moveTo>
                    <a:pt x="0" y="0"/>
                  </a:moveTo>
                  <a:lnTo>
                    <a:pt x="0" y="1524000"/>
                  </a:lnTo>
                </a:path>
              </a:pathLst>
            </a:custGeom>
            <a:noFill/>
            <a:ln w="4762" cap="rnd">
              <a:solidFill>
                <a:schemeClr val="accent4"/>
              </a:solidFill>
            </a:ln>
          </p:spPr>
        </p:sp>
        <p:sp>
          <p:nvSpPr>
            <p:cNvPr id="16" name="Line 16"/>
            <p:cNvSpPr/>
            <p:nvPr/>
          </p:nvSpPr>
          <p:spPr>
            <a:xfrm>
              <a:off x="5099050" y="1771650"/>
              <a:ext cx="9525" cy="1524000"/>
            </a:xfrm>
            <a:custGeom>
              <a:avLst/>
              <a:gdLst/>
              <a:ahLst/>
              <a:cxnLst/>
              <a:rect l="l" t="t" r="r" b="b"/>
              <a:pathLst>
                <a:path w="9525" h="1524000">
                  <a:moveTo>
                    <a:pt x="0" y="0"/>
                  </a:moveTo>
                  <a:lnTo>
                    <a:pt x="0" y="1524000"/>
                  </a:lnTo>
                </a:path>
              </a:pathLst>
            </a:custGeom>
            <a:noFill/>
            <a:ln w="4762" cap="rnd">
              <a:solidFill>
                <a:schemeClr val="accent4"/>
              </a:solidFill>
            </a:ln>
          </p:spPr>
        </p:sp>
        <p:sp>
          <p:nvSpPr>
            <p:cNvPr id="17" name="Line 17"/>
            <p:cNvSpPr/>
            <p:nvPr/>
          </p:nvSpPr>
          <p:spPr>
            <a:xfrm>
              <a:off x="5459412" y="1771650"/>
              <a:ext cx="9525" cy="1524000"/>
            </a:xfrm>
            <a:custGeom>
              <a:avLst/>
              <a:gdLst/>
              <a:ahLst/>
              <a:cxnLst/>
              <a:rect l="l" t="t" r="r" b="b"/>
              <a:pathLst>
                <a:path w="9525" h="1524000">
                  <a:moveTo>
                    <a:pt x="0" y="0"/>
                  </a:moveTo>
                  <a:lnTo>
                    <a:pt x="0" y="1524000"/>
                  </a:lnTo>
                </a:path>
              </a:pathLst>
            </a:custGeom>
            <a:noFill/>
            <a:ln w="4762" cap="rnd">
              <a:solidFill>
                <a:schemeClr val="accent4"/>
              </a:solidFill>
            </a:ln>
          </p:spPr>
        </p:sp>
        <p:sp>
          <p:nvSpPr>
            <p:cNvPr id="18" name="Line 18"/>
            <p:cNvSpPr/>
            <p:nvPr/>
          </p:nvSpPr>
          <p:spPr>
            <a:xfrm>
              <a:off x="3733800" y="2114550"/>
              <a:ext cx="2009775" cy="9525"/>
            </a:xfrm>
            <a:custGeom>
              <a:avLst/>
              <a:gdLst/>
              <a:ahLst/>
              <a:cxnLst/>
              <a:rect l="l" t="t" r="r" b="b"/>
              <a:pathLst>
                <a:path w="2009775" h="9525">
                  <a:moveTo>
                    <a:pt x="0" y="0"/>
                  </a:moveTo>
                  <a:lnTo>
                    <a:pt x="2009775" y="0"/>
                  </a:lnTo>
                </a:path>
              </a:pathLst>
            </a:custGeom>
            <a:noFill/>
            <a:ln w="4762" cap="rnd">
              <a:solidFill>
                <a:schemeClr val="accent4"/>
              </a:solidFill>
            </a:ln>
          </p:spPr>
        </p:sp>
        <p:sp>
          <p:nvSpPr>
            <p:cNvPr id="19" name="Line 19"/>
            <p:cNvSpPr/>
            <p:nvPr/>
          </p:nvSpPr>
          <p:spPr>
            <a:xfrm>
              <a:off x="3733800" y="2533650"/>
              <a:ext cx="2009775" cy="9525"/>
            </a:xfrm>
            <a:custGeom>
              <a:avLst/>
              <a:gdLst/>
              <a:ahLst/>
              <a:cxnLst/>
              <a:rect l="l" t="t" r="r" b="b"/>
              <a:pathLst>
                <a:path w="2009775" h="9525">
                  <a:moveTo>
                    <a:pt x="0" y="0"/>
                  </a:moveTo>
                  <a:lnTo>
                    <a:pt x="2009775" y="0"/>
                  </a:lnTo>
                </a:path>
              </a:pathLst>
            </a:custGeom>
            <a:noFill/>
            <a:ln w="4762" cap="rnd">
              <a:solidFill>
                <a:schemeClr val="accent4"/>
              </a:solidFill>
            </a:ln>
          </p:spPr>
        </p:sp>
        <p:sp>
          <p:nvSpPr>
            <p:cNvPr id="20" name="Line 20"/>
            <p:cNvSpPr/>
            <p:nvPr/>
          </p:nvSpPr>
          <p:spPr>
            <a:xfrm>
              <a:off x="3733800" y="2952750"/>
              <a:ext cx="2009775" cy="9525"/>
            </a:xfrm>
            <a:custGeom>
              <a:avLst/>
              <a:gdLst/>
              <a:ahLst/>
              <a:cxnLst/>
              <a:rect l="l" t="t" r="r" b="b"/>
              <a:pathLst>
                <a:path w="2009775" h="9525">
                  <a:moveTo>
                    <a:pt x="0" y="0"/>
                  </a:moveTo>
                  <a:lnTo>
                    <a:pt x="2009775" y="0"/>
                  </a:lnTo>
                </a:path>
              </a:pathLst>
            </a:custGeom>
            <a:noFill/>
            <a:ln w="4762" cap="rnd">
              <a:solidFill>
                <a:schemeClr val="accent4"/>
              </a:solidFill>
            </a:ln>
          </p:spPr>
        </p:sp>
        <p:sp>
          <p:nvSpPr>
            <p:cNvPr id="21" name="Polyline 21"/>
            <p:cNvSpPr/>
            <p:nvPr/>
          </p:nvSpPr>
          <p:spPr>
            <a:xfrm>
              <a:off x="3876675" y="1971675"/>
              <a:ext cx="1704975" cy="1123950"/>
            </a:xfrm>
            <a:custGeom>
              <a:avLst/>
              <a:gdLst/>
              <a:ahLst/>
              <a:cxnLst/>
              <a:rect l="l" t="t" r="r" b="b"/>
              <a:pathLst>
                <a:path w="1704975" h="1123950">
                  <a:moveTo>
                    <a:pt x="0" y="1123950"/>
                  </a:moveTo>
                  <a:lnTo>
                    <a:pt x="429578" y="763143"/>
                  </a:lnTo>
                  <a:lnTo>
                    <a:pt x="732282" y="461391"/>
                  </a:lnTo>
                  <a:lnTo>
                    <a:pt x="1207960" y="226695"/>
                  </a:lnTo>
                  <a:lnTo>
                    <a:pt x="1704975" y="0"/>
                  </a:lnTo>
                </a:path>
              </a:pathLst>
            </a:custGeom>
            <a:noFill/>
            <a:ln w="20955" cap="rnd">
              <a:solidFill>
                <a:srgbClr val="33D6C0"/>
              </a:solidFill>
              <a:custDash>
                <a:ds d="272727" sp="227273"/>
              </a:custDash>
              <a:round/>
            </a:ln>
          </p:spPr>
        </p:sp>
        <p:sp>
          <p:nvSpPr>
            <p:cNvPr id="22" name="Rectangle 22"/>
            <p:cNvSpPr/>
            <p:nvPr/>
          </p:nvSpPr>
          <p:spPr>
            <a:xfrm>
              <a:off x="4476750" y="2409825"/>
              <a:ext cx="276225" cy="180975"/>
            </a:xfrm>
            <a:prstGeom prst="roundRect">
              <a:avLst>
                <a:gd name="adj" fmla="val 15789"/>
              </a:avLst>
            </a:prstGeom>
            <a:solidFill>
              <a:srgbClr val="F2685C"/>
            </a:solidFill>
            <a:ln>
              <a:noFill/>
            </a:ln>
          </p:spPr>
        </p:sp>
        <p:sp>
          <p:nvSpPr>
            <p:cNvPr id="23" name="Polyline 23"/>
            <p:cNvSpPr/>
            <p:nvPr/>
          </p:nvSpPr>
          <p:spPr>
            <a:xfrm>
              <a:off x="4306252" y="2198370"/>
              <a:ext cx="778383" cy="536448"/>
            </a:xfrm>
            <a:custGeom>
              <a:avLst/>
              <a:gdLst/>
              <a:ahLst/>
              <a:cxnLst/>
              <a:rect l="l" t="t" r="r" b="b"/>
              <a:pathLst>
                <a:path w="778383" h="536448">
                  <a:moveTo>
                    <a:pt x="0" y="536448"/>
                  </a:moveTo>
                  <a:lnTo>
                    <a:pt x="245554" y="387096"/>
                  </a:lnTo>
                  <a:lnTo>
                    <a:pt x="93154" y="253746"/>
                  </a:lnTo>
                  <a:lnTo>
                    <a:pt x="169354" y="44196"/>
                  </a:lnTo>
                  <a:lnTo>
                    <a:pt x="474154" y="44196"/>
                  </a:lnTo>
                  <a:lnTo>
                    <a:pt x="512254" y="215646"/>
                  </a:lnTo>
                  <a:lnTo>
                    <a:pt x="778383" y="0"/>
                  </a:lnTo>
                </a:path>
              </a:pathLst>
            </a:custGeom>
            <a:noFill/>
            <a:ln w="24765" cap="rnd">
              <a:solidFill>
                <a:schemeClr val="accent2"/>
              </a:solidFill>
              <a:round/>
            </a:ln>
          </p:spPr>
        </p:sp>
        <p:sp>
          <p:nvSpPr>
            <p:cNvPr id="24" name="Ellipse 24"/>
            <p:cNvSpPr/>
            <p:nvPr/>
          </p:nvSpPr>
          <p:spPr>
            <a:xfrm>
              <a:off x="3819525" y="3038475"/>
              <a:ext cx="114300" cy="114300"/>
            </a:xfrm>
            <a:prstGeom prst="ellipse">
              <a:avLst/>
            </a:prstGeom>
            <a:solidFill>
              <a:schemeClr val="accent2"/>
            </a:solidFill>
            <a:ln>
              <a:noFill/>
            </a:ln>
          </p:spPr>
        </p:sp>
        <p:sp>
          <p:nvSpPr>
            <p:cNvPr id="25" name="Rectangle 25"/>
            <p:cNvSpPr/>
            <p:nvPr/>
          </p:nvSpPr>
          <p:spPr>
            <a:xfrm>
              <a:off x="5524500" y="1914525"/>
              <a:ext cx="114300" cy="114300"/>
            </a:xfrm>
            <a:prstGeom prst="roundRect">
              <a:avLst>
                <a:gd name="adj" fmla="val 16667"/>
              </a:avLst>
            </a:prstGeom>
            <a:solidFill>
              <a:srgbClr val="46C98B"/>
            </a:solidFill>
            <a:ln>
              <a:noFill/>
            </a:ln>
          </p:spPr>
        </p:sp>
        <p:sp>
          <p:nvSpPr>
            <p:cNvPr id="26" name="TextBox 26"/>
            <p:cNvSpPr txBox="1"/>
            <p:nvPr/>
          </p:nvSpPr>
          <p:spPr>
            <a:xfrm>
              <a:off x="3758799" y="3175159"/>
              <a:ext cx="273851"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start</a:t>
              </a:r>
            </a:p>
          </p:txBody>
        </p:sp>
        <p:sp>
          <p:nvSpPr>
            <p:cNvPr id="27" name="TextBox 27"/>
            <p:cNvSpPr txBox="1"/>
            <p:nvPr/>
          </p:nvSpPr>
          <p:spPr>
            <a:xfrm>
              <a:off x="5483172" y="1784509"/>
              <a:ext cx="196956"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goal</a:t>
              </a:r>
            </a:p>
          </p:txBody>
        </p:sp>
      </p:grpSp>
      <p:grpSp>
        <p:nvGrpSpPr>
          <p:cNvPr id="35" name="Group 35"/>
          <p:cNvGrpSpPr/>
          <p:nvPr/>
        </p:nvGrpSpPr>
        <p:grpSpPr>
          <a:xfrm>
            <a:off x="609600" y="3600450"/>
            <a:ext cx="5334000" cy="1638300"/>
            <a:chOff x="609600" y="3600450"/>
            <a:chExt cx="5334000" cy="1638300"/>
          </a:xfrm>
        </p:grpSpPr>
        <p:sp>
          <p:nvSpPr>
            <p:cNvPr id="29" name="Rectangle 29"/>
            <p:cNvSpPr/>
            <p:nvPr/>
          </p:nvSpPr>
          <p:spPr>
            <a:xfrm>
              <a:off x="609600" y="3600450"/>
              <a:ext cx="5334000" cy="1638300"/>
            </a:xfrm>
            <a:prstGeom prst="roundRect">
              <a:avLst>
                <a:gd name="adj" fmla="val 8140"/>
              </a:avLst>
            </a:prstGeom>
            <a:solidFill>
              <a:srgbClr val="0F2E2B"/>
            </a:solidFill>
            <a:ln w="14288">
              <a:solidFill>
                <a:srgbClr val="46C98B"/>
              </a:solidFill>
            </a:ln>
          </p:spPr>
        </p:sp>
        <p:sp>
          <p:nvSpPr>
            <p:cNvPr id="30" name="Rectangle 30"/>
            <p:cNvSpPr/>
            <p:nvPr/>
          </p:nvSpPr>
          <p:spPr>
            <a:xfrm>
              <a:off x="609600" y="3600450"/>
              <a:ext cx="57150" cy="1638300"/>
            </a:xfrm>
            <a:prstGeom prst="roundRect">
              <a:avLst>
                <a:gd name="adj" fmla="val 50000"/>
              </a:avLst>
            </a:prstGeom>
            <a:solidFill>
              <a:srgbClr val="46C98B"/>
            </a:solidFill>
            <a:ln>
              <a:noFill/>
            </a:ln>
          </p:spPr>
        </p:sp>
        <p:sp>
          <p:nvSpPr>
            <p:cNvPr id="31" name="TextBox 31"/>
            <p:cNvSpPr txBox="1"/>
            <p:nvPr/>
          </p:nvSpPr>
          <p:spPr>
            <a:xfrm>
              <a:off x="870585" y="3821906"/>
              <a:ext cx="2043052" cy="220028"/>
            </a:xfrm>
            <a:prstGeom prst="rect">
              <a:avLst/>
            </a:prstGeom>
            <a:noFill/>
            <a:ln>
              <a:noFill/>
            </a:ln>
          </p:spPr>
          <p:txBody>
            <a:bodyPr wrap="none" lIns="0" tIns="0" rIns="0" bIns="0" anchor="t" anchorCtr="0">
              <a:spAutoFit/>
            </a:bodyPr>
            <a:lstStyle/>
            <a:p>
              <a:pPr algn="l"/>
              <a:r>
                <a:rPr lang="en-US" sz="1120" b="1" dirty="0">
                  <a:solidFill>
                    <a:srgbClr val="46C98B"/>
                  </a:solidFill>
                  <a:latin typeface="+mn-lt"/>
                  <a:ea typeface="+mn-ea"/>
                  <a:cs typeface="+mn-cs"/>
                </a:rPr>
                <a:t>People detour, then rejoin</a:t>
              </a:r>
            </a:p>
          </p:txBody>
        </p:sp>
        <p:sp>
          <p:nvSpPr>
            <p:cNvPr id="32" name="TextBox 32"/>
            <p:cNvSpPr txBox="1"/>
            <p:nvPr/>
          </p:nvSpPr>
          <p:spPr>
            <a:xfrm>
              <a:off x="871156" y="4100751"/>
              <a:ext cx="350921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 human simply detours around the obstacle and then</a:t>
              </a:r>
            </a:p>
          </p:txBody>
        </p:sp>
        <p:sp>
          <p:nvSpPr>
            <p:cNvPr id="33" name="TextBox 33"/>
            <p:cNvSpPr txBox="1"/>
            <p:nvPr/>
          </p:nvSpPr>
          <p:spPr>
            <a:xfrm>
              <a:off x="871156" y="4291251"/>
              <a:ext cx="363378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rejoins the original demonstrated path at a convenient</a:t>
              </a:r>
            </a:p>
          </p:txBody>
        </p:sp>
        <p:sp>
          <p:nvSpPr>
            <p:cNvPr id="34" name="TextBox 34"/>
            <p:cNvSpPr txBox="1"/>
            <p:nvPr/>
          </p:nvSpPr>
          <p:spPr>
            <a:xfrm>
              <a:off x="871156" y="4481751"/>
              <a:ext cx="201578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point - effortless for people.</a:t>
              </a:r>
            </a:p>
          </p:txBody>
        </p:sp>
      </p:grpSp>
      <p:grpSp>
        <p:nvGrpSpPr>
          <p:cNvPr id="45" name="Group 45"/>
          <p:cNvGrpSpPr/>
          <p:nvPr/>
        </p:nvGrpSpPr>
        <p:grpSpPr>
          <a:xfrm>
            <a:off x="6172200" y="1504950"/>
            <a:ext cx="5410200" cy="1943100"/>
            <a:chOff x="6172200" y="1504950"/>
            <a:chExt cx="5410200" cy="1943100"/>
          </a:xfrm>
        </p:grpSpPr>
        <p:sp>
          <p:nvSpPr>
            <p:cNvPr id="36" name="Rectangle 36"/>
            <p:cNvSpPr/>
            <p:nvPr/>
          </p:nvSpPr>
          <p:spPr>
            <a:xfrm>
              <a:off x="6172200" y="1504950"/>
              <a:ext cx="5410200" cy="1943100"/>
            </a:xfrm>
            <a:prstGeom prst="roundRect">
              <a:avLst>
                <a:gd name="adj" fmla="val 6863"/>
              </a:avLst>
            </a:prstGeom>
            <a:solidFill>
              <a:srgbClr val="2A2417"/>
            </a:solidFill>
            <a:ln w="14288">
              <a:solidFill>
                <a:srgbClr val="F4C24C"/>
              </a:solidFill>
            </a:ln>
          </p:spPr>
        </p:sp>
        <p:sp>
          <p:nvSpPr>
            <p:cNvPr id="37" name="Rectangle 37"/>
            <p:cNvSpPr/>
            <p:nvPr/>
          </p:nvSpPr>
          <p:spPr>
            <a:xfrm>
              <a:off x="6172200" y="1504950"/>
              <a:ext cx="57150" cy="1943100"/>
            </a:xfrm>
            <a:prstGeom prst="roundRect">
              <a:avLst>
                <a:gd name="adj" fmla="val 50000"/>
              </a:avLst>
            </a:prstGeom>
            <a:solidFill>
              <a:srgbClr val="F4C24C"/>
            </a:solidFill>
            <a:ln>
              <a:noFill/>
            </a:ln>
          </p:spPr>
        </p:sp>
        <p:sp>
          <p:nvSpPr>
            <p:cNvPr id="38" name="TextBox 38"/>
            <p:cNvSpPr txBox="1"/>
            <p:nvPr/>
          </p:nvSpPr>
          <p:spPr>
            <a:xfrm>
              <a:off x="6432804" y="1737360"/>
              <a:ext cx="2389149"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But current OSIL just clones</a:t>
              </a:r>
            </a:p>
          </p:txBody>
        </p:sp>
        <p:sp>
          <p:nvSpPr>
            <p:cNvPr id="39" name="TextBox 39"/>
            <p:cNvSpPr txBox="1"/>
            <p:nvPr/>
          </p:nvSpPr>
          <p:spPr>
            <a:xfrm>
              <a:off x="6433756" y="2043351"/>
              <a:ext cx="371311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This is hard for current one-shot imitation techniques,</a:t>
              </a:r>
            </a:p>
          </p:txBody>
        </p:sp>
        <p:sp>
          <p:nvSpPr>
            <p:cNvPr id="40" name="TextBox 40"/>
            <p:cNvSpPr txBox="1"/>
            <p:nvPr/>
          </p:nvSpPr>
          <p:spPr>
            <a:xfrm>
              <a:off x="6433756" y="2233851"/>
              <a:ext cx="353181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which mostly clone demonstrated actions and have no</a:t>
              </a:r>
            </a:p>
          </p:txBody>
        </p:sp>
        <p:sp>
          <p:nvSpPr>
            <p:cNvPr id="41" name="TextBox 41"/>
            <p:cNvSpPr txBox="1"/>
            <p:nvPr/>
          </p:nvSpPr>
          <p:spPr>
            <a:xfrm>
              <a:off x="6433756" y="2424351"/>
              <a:ext cx="396010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principled way to behave in states the demonstration never</a:t>
              </a:r>
            </a:p>
          </p:txBody>
        </p:sp>
        <p:sp>
          <p:nvSpPr>
            <p:cNvPr id="42" name="TextBox 42"/>
            <p:cNvSpPr txBox="1"/>
            <p:nvPr/>
          </p:nvSpPr>
          <p:spPr>
            <a:xfrm>
              <a:off x="6433756" y="2614851"/>
              <a:ext cx="56095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showed.</a:t>
              </a:r>
            </a:p>
          </p:txBody>
        </p:sp>
        <p:sp>
          <p:nvSpPr>
            <p:cNvPr id="43" name="Rectangle 43"/>
            <p:cNvSpPr/>
            <p:nvPr/>
          </p:nvSpPr>
          <p:spPr>
            <a:xfrm>
              <a:off x="6438900" y="2971800"/>
              <a:ext cx="4876800" cy="381000"/>
            </a:xfrm>
            <a:prstGeom prst="roundRect">
              <a:avLst>
                <a:gd name="adj" fmla="val 20000"/>
              </a:avLst>
            </a:prstGeom>
            <a:solidFill>
              <a:schemeClr val="accent6"/>
            </a:solidFill>
            <a:ln w="14288">
              <a:solidFill>
                <a:schemeClr val="accent4"/>
              </a:solidFill>
            </a:ln>
          </p:spPr>
        </p:sp>
        <p:sp>
          <p:nvSpPr>
            <p:cNvPr id="44" name="TextBox 44"/>
            <p:cNvSpPr txBox="1"/>
            <p:nvPr/>
          </p:nvSpPr>
          <p:spPr>
            <a:xfrm>
              <a:off x="7619398" y="3110151"/>
              <a:ext cx="2515804" cy="198025"/>
            </a:xfrm>
            <a:prstGeom prst="rect">
              <a:avLst/>
            </a:prstGeom>
            <a:noFill/>
            <a:ln>
              <a:noFill/>
            </a:ln>
          </p:spPr>
          <p:txBody>
            <a:bodyPr wrap="none" lIns="0" tIns="0" rIns="0" bIns="0" anchor="t" anchorCtr="0">
              <a:spAutoFit/>
            </a:bodyPr>
            <a:lstStyle/>
            <a:p>
              <a:pPr algn="ctr"/>
              <a:r>
                <a:rPr lang="en-US" sz="1010" b="1" dirty="0">
                  <a:solidFill>
                    <a:srgbClr val="F2685C"/>
                  </a:solidFill>
                  <a:latin typeface="Consolas"/>
                  <a:ea typeface="Consolas"/>
                  <a:cs typeface="Consolas"/>
                </a:rPr>
                <a:t>unseen state =&gt; no principled action</a:t>
              </a:r>
            </a:p>
          </p:txBody>
        </p:sp>
      </p:grpSp>
      <p:grpSp>
        <p:nvGrpSpPr>
          <p:cNvPr id="72" name="Group 72"/>
          <p:cNvGrpSpPr/>
          <p:nvPr/>
        </p:nvGrpSpPr>
        <p:grpSpPr>
          <a:xfrm>
            <a:off x="6172200" y="3600450"/>
            <a:ext cx="5410200" cy="1638300"/>
            <a:chOff x="6172200" y="3600450"/>
            <a:chExt cx="5410200" cy="1638300"/>
          </a:xfrm>
        </p:grpSpPr>
        <p:sp>
          <p:nvSpPr>
            <p:cNvPr id="46" name="Rectangle 46"/>
            <p:cNvSpPr/>
            <p:nvPr/>
          </p:nvSpPr>
          <p:spPr>
            <a:xfrm>
              <a:off x="6172200" y="3600450"/>
              <a:ext cx="5410200" cy="1638300"/>
            </a:xfrm>
            <a:prstGeom prst="roundRect">
              <a:avLst>
                <a:gd name="adj" fmla="val 8140"/>
              </a:avLst>
            </a:prstGeom>
            <a:solidFill>
              <a:schemeClr val="accent5"/>
            </a:solidFill>
            <a:ln w="14288">
              <a:solidFill>
                <a:schemeClr val="accent4"/>
              </a:solidFill>
            </a:ln>
          </p:spPr>
        </p:sp>
        <p:sp>
          <p:nvSpPr>
            <p:cNvPr id="47" name="Rectangle 47"/>
            <p:cNvSpPr/>
            <p:nvPr/>
          </p:nvSpPr>
          <p:spPr>
            <a:xfrm>
              <a:off x="6172200" y="3600450"/>
              <a:ext cx="57150" cy="1638300"/>
            </a:xfrm>
            <a:prstGeom prst="roundRect">
              <a:avLst>
                <a:gd name="adj" fmla="val 50000"/>
              </a:avLst>
            </a:prstGeom>
            <a:solidFill>
              <a:srgbClr val="33D6C0"/>
            </a:solidFill>
            <a:ln>
              <a:noFill/>
            </a:ln>
          </p:spPr>
        </p:sp>
        <p:sp>
          <p:nvSpPr>
            <p:cNvPr id="48" name="TextBox 48"/>
            <p:cNvSpPr txBox="1"/>
            <p:nvPr/>
          </p:nvSpPr>
          <p:spPr>
            <a:xfrm>
              <a:off x="6432994" y="3817858"/>
              <a:ext cx="2845765"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Blueprint: identify, analyze, trace</a:t>
              </a:r>
            </a:p>
          </p:txBody>
        </p:sp>
        <p:sp>
          <p:nvSpPr>
            <p:cNvPr id="49" name="Rectangle 49"/>
            <p:cNvSpPr/>
            <p:nvPr/>
          </p:nvSpPr>
          <p:spPr>
            <a:xfrm>
              <a:off x="6438900" y="4076700"/>
              <a:ext cx="4876800" cy="1047750"/>
            </a:xfrm>
            <a:prstGeom prst="roundRect">
              <a:avLst>
                <a:gd name="adj" fmla="val 7273"/>
              </a:avLst>
            </a:prstGeom>
            <a:solidFill>
              <a:srgbClr val="0E223A"/>
            </a:solidFill>
            <a:ln w="14288">
              <a:solidFill>
                <a:schemeClr val="accent4"/>
              </a:solidFill>
            </a:ln>
          </p:spPr>
        </p:sp>
        <p:sp>
          <p:nvSpPr>
            <p:cNvPr id="50" name="Rectangle 50"/>
            <p:cNvSpPr/>
            <p:nvPr/>
          </p:nvSpPr>
          <p:spPr>
            <a:xfrm>
              <a:off x="6572250" y="4248150"/>
              <a:ext cx="1473200" cy="723900"/>
            </a:xfrm>
            <a:prstGeom prst="roundRect">
              <a:avLst>
                <a:gd name="adj" fmla="val 10526"/>
              </a:avLst>
            </a:prstGeom>
            <a:solidFill>
              <a:schemeClr val="accent6"/>
            </a:solidFill>
            <a:ln w="13335">
              <a:solidFill>
                <a:schemeClr val="accent2"/>
              </a:solidFill>
            </a:ln>
          </p:spPr>
        </p:sp>
        <p:sp>
          <p:nvSpPr>
            <p:cNvPr id="51" name="Ellipse 51"/>
            <p:cNvSpPr/>
            <p:nvPr/>
          </p:nvSpPr>
          <p:spPr>
            <a:xfrm>
              <a:off x="7213600" y="4381500"/>
              <a:ext cx="190500" cy="190500"/>
            </a:xfrm>
            <a:prstGeom prst="ellipse">
              <a:avLst/>
            </a:prstGeom>
            <a:noFill/>
            <a:ln w="20955">
              <a:solidFill>
                <a:schemeClr val="accent2"/>
              </a:solidFill>
            </a:ln>
          </p:spPr>
        </p:sp>
        <p:sp>
          <p:nvSpPr>
            <p:cNvPr id="52" name="TextBox 52"/>
            <p:cNvSpPr txBox="1"/>
            <p:nvPr/>
          </p:nvSpPr>
          <p:spPr>
            <a:xfrm>
              <a:off x="7269103" y="4427220"/>
              <a:ext cx="79494"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1</a:t>
              </a:r>
            </a:p>
          </p:txBody>
        </p:sp>
        <p:sp>
          <p:nvSpPr>
            <p:cNvPr id="53" name="TextBox 53"/>
            <p:cNvSpPr txBox="1"/>
            <p:nvPr/>
          </p:nvSpPr>
          <p:spPr>
            <a:xfrm>
              <a:off x="7031864" y="4676299"/>
              <a:ext cx="553972"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Identify</a:t>
              </a:r>
            </a:p>
          </p:txBody>
        </p:sp>
        <p:sp>
          <p:nvSpPr>
            <p:cNvPr id="54" name="TextBox 54"/>
            <p:cNvSpPr txBox="1"/>
            <p:nvPr/>
          </p:nvSpPr>
          <p:spPr>
            <a:xfrm>
              <a:off x="6940992" y="4872038"/>
              <a:ext cx="735716"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relevant demo</a:t>
              </a:r>
            </a:p>
          </p:txBody>
        </p:sp>
        <p:sp>
          <p:nvSpPr>
            <p:cNvPr id="55" name="TextBox 55"/>
            <p:cNvSpPr txBox="1"/>
            <p:nvPr/>
          </p:nvSpPr>
          <p:spPr>
            <a:xfrm>
              <a:off x="7129166" y="4995862"/>
              <a:ext cx="359369"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states</a:t>
              </a:r>
            </a:p>
          </p:txBody>
        </p:sp>
        <p:sp>
          <p:nvSpPr>
            <p:cNvPr id="56" name="Line 56"/>
            <p:cNvSpPr/>
            <p:nvPr/>
          </p:nvSpPr>
          <p:spPr>
            <a:xfrm>
              <a:off x="8054975" y="4600575"/>
              <a:ext cx="76200" cy="9525"/>
            </a:xfrm>
            <a:custGeom>
              <a:avLst/>
              <a:gdLst/>
              <a:ahLst/>
              <a:cxnLst/>
              <a:rect l="l" t="t" r="r" b="b"/>
              <a:pathLst>
                <a:path w="76200" h="9525">
                  <a:moveTo>
                    <a:pt x="0" y="0"/>
                  </a:moveTo>
                  <a:lnTo>
                    <a:pt x="76200" y="0"/>
                  </a:lnTo>
                </a:path>
              </a:pathLst>
            </a:custGeom>
            <a:noFill/>
            <a:ln w="17145" cap="rnd">
              <a:solidFill>
                <a:schemeClr val="accent2"/>
              </a:solidFill>
            </a:ln>
          </p:spPr>
        </p:sp>
        <p:sp>
          <p:nvSpPr>
            <p:cNvPr id="57" name="Polygon 57"/>
            <p:cNvSpPr/>
            <p:nvPr/>
          </p:nvSpPr>
          <p:spPr>
            <a:xfrm>
              <a:off x="8023871" y="4573176"/>
              <a:ext cx="107304" cy="54798"/>
            </a:xfrm>
            <a:custGeom>
              <a:avLst/>
              <a:gdLst/>
              <a:ahLst/>
              <a:cxnLst/>
              <a:rect l="l" t="t" r="r" b="b"/>
              <a:pathLst>
                <a:path w="107304" h="54798">
                  <a:moveTo>
                    <a:pt x="107304" y="27399"/>
                  </a:moveTo>
                  <a:lnTo>
                    <a:pt x="0" y="54798"/>
                  </a:lnTo>
                  <a:lnTo>
                    <a:pt x="0" y="0"/>
                  </a:lnTo>
                  <a:close/>
                </a:path>
              </a:pathLst>
            </a:custGeom>
            <a:solidFill>
              <a:schemeClr val="accent2"/>
            </a:solidFill>
            <a:ln>
              <a:noFill/>
            </a:ln>
          </p:spPr>
        </p:sp>
        <p:sp>
          <p:nvSpPr>
            <p:cNvPr id="58" name="Rectangle 58"/>
            <p:cNvSpPr/>
            <p:nvPr/>
          </p:nvSpPr>
          <p:spPr>
            <a:xfrm>
              <a:off x="8140700" y="4248150"/>
              <a:ext cx="1473200" cy="723900"/>
            </a:xfrm>
            <a:prstGeom prst="roundRect">
              <a:avLst>
                <a:gd name="adj" fmla="val 10526"/>
              </a:avLst>
            </a:prstGeom>
            <a:solidFill>
              <a:schemeClr val="accent6"/>
            </a:solidFill>
            <a:ln w="13335">
              <a:solidFill>
                <a:srgbClr val="F4C24C"/>
              </a:solidFill>
            </a:ln>
          </p:spPr>
        </p:sp>
        <p:sp>
          <p:nvSpPr>
            <p:cNvPr id="59" name="Ellipse 59"/>
            <p:cNvSpPr/>
            <p:nvPr/>
          </p:nvSpPr>
          <p:spPr>
            <a:xfrm>
              <a:off x="8782050" y="4381500"/>
              <a:ext cx="190500" cy="190500"/>
            </a:xfrm>
            <a:prstGeom prst="ellipse">
              <a:avLst/>
            </a:prstGeom>
            <a:noFill/>
            <a:ln w="20955">
              <a:solidFill>
                <a:srgbClr val="F4C24C"/>
              </a:solidFill>
            </a:ln>
          </p:spPr>
        </p:sp>
        <p:sp>
          <p:nvSpPr>
            <p:cNvPr id="60" name="TextBox 60"/>
            <p:cNvSpPr txBox="1"/>
            <p:nvPr/>
          </p:nvSpPr>
          <p:spPr>
            <a:xfrm>
              <a:off x="8837553" y="4427220"/>
              <a:ext cx="79494" cy="176212"/>
            </a:xfrm>
            <a:prstGeom prst="rect">
              <a:avLst/>
            </a:prstGeom>
            <a:noFill/>
            <a:ln>
              <a:noFill/>
            </a:ln>
          </p:spPr>
          <p:txBody>
            <a:bodyPr wrap="none" lIns="0" tIns="0" rIns="0" bIns="0" anchor="t" anchorCtr="0">
              <a:spAutoFit/>
            </a:bodyPr>
            <a:lstStyle/>
            <a:p>
              <a:pPr algn="ctr"/>
              <a:r>
                <a:rPr lang="en-US" sz="900" b="1" dirty="0">
                  <a:solidFill>
                    <a:srgbClr val="F4C24C"/>
                  </a:solidFill>
                  <a:latin typeface="+mn-lt"/>
                  <a:ea typeface="+mn-ea"/>
                  <a:cs typeface="+mn-cs"/>
                </a:rPr>
                <a:t>2</a:t>
              </a:r>
            </a:p>
          </p:txBody>
        </p:sp>
        <p:sp>
          <p:nvSpPr>
            <p:cNvPr id="61" name="TextBox 61"/>
            <p:cNvSpPr txBox="1"/>
            <p:nvPr/>
          </p:nvSpPr>
          <p:spPr>
            <a:xfrm>
              <a:off x="8620988" y="4676299"/>
              <a:ext cx="512625"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Analyze</a:t>
              </a:r>
            </a:p>
          </p:txBody>
        </p:sp>
        <p:sp>
          <p:nvSpPr>
            <p:cNvPr id="62" name="TextBox 62"/>
            <p:cNvSpPr txBox="1"/>
            <p:nvPr/>
          </p:nvSpPr>
          <p:spPr>
            <a:xfrm>
              <a:off x="8461736" y="4872038"/>
              <a:ext cx="831128"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expert behavior</a:t>
              </a:r>
            </a:p>
          </p:txBody>
        </p:sp>
        <p:sp>
          <p:nvSpPr>
            <p:cNvPr id="63" name="TextBox 63"/>
            <p:cNvSpPr txBox="1"/>
            <p:nvPr/>
          </p:nvSpPr>
          <p:spPr>
            <a:xfrm>
              <a:off x="8726769" y="4995862"/>
              <a:ext cx="301061"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there</a:t>
              </a:r>
            </a:p>
          </p:txBody>
        </p:sp>
        <p:sp>
          <p:nvSpPr>
            <p:cNvPr id="64" name="Line 64"/>
            <p:cNvSpPr/>
            <p:nvPr/>
          </p:nvSpPr>
          <p:spPr>
            <a:xfrm>
              <a:off x="9623425" y="4600575"/>
              <a:ext cx="76200" cy="9525"/>
            </a:xfrm>
            <a:custGeom>
              <a:avLst/>
              <a:gdLst/>
              <a:ahLst/>
              <a:cxnLst/>
              <a:rect l="l" t="t" r="r" b="b"/>
              <a:pathLst>
                <a:path w="76200" h="9525">
                  <a:moveTo>
                    <a:pt x="0" y="0"/>
                  </a:moveTo>
                  <a:lnTo>
                    <a:pt x="76200" y="0"/>
                  </a:lnTo>
                </a:path>
              </a:pathLst>
            </a:custGeom>
            <a:noFill/>
            <a:ln w="17145" cap="rnd">
              <a:solidFill>
                <a:srgbClr val="F4C24C"/>
              </a:solidFill>
            </a:ln>
          </p:spPr>
        </p:sp>
        <p:sp>
          <p:nvSpPr>
            <p:cNvPr id="65" name="Polygon 65"/>
            <p:cNvSpPr/>
            <p:nvPr/>
          </p:nvSpPr>
          <p:spPr>
            <a:xfrm>
              <a:off x="9592321" y="4573176"/>
              <a:ext cx="107304" cy="54798"/>
            </a:xfrm>
            <a:custGeom>
              <a:avLst/>
              <a:gdLst/>
              <a:ahLst/>
              <a:cxnLst/>
              <a:rect l="l" t="t" r="r" b="b"/>
              <a:pathLst>
                <a:path w="107304" h="54798">
                  <a:moveTo>
                    <a:pt x="107304" y="27399"/>
                  </a:moveTo>
                  <a:lnTo>
                    <a:pt x="0" y="54798"/>
                  </a:lnTo>
                  <a:lnTo>
                    <a:pt x="0" y="0"/>
                  </a:lnTo>
                  <a:close/>
                </a:path>
              </a:pathLst>
            </a:custGeom>
            <a:solidFill>
              <a:srgbClr val="F4C24C"/>
            </a:solidFill>
            <a:ln>
              <a:noFill/>
            </a:ln>
          </p:spPr>
        </p:sp>
        <p:sp>
          <p:nvSpPr>
            <p:cNvPr id="66" name="Rectangle 66"/>
            <p:cNvSpPr/>
            <p:nvPr/>
          </p:nvSpPr>
          <p:spPr>
            <a:xfrm>
              <a:off x="9709150" y="4248150"/>
              <a:ext cx="1473200" cy="723900"/>
            </a:xfrm>
            <a:prstGeom prst="roundRect">
              <a:avLst>
                <a:gd name="adj" fmla="val 10526"/>
              </a:avLst>
            </a:prstGeom>
            <a:solidFill>
              <a:schemeClr val="accent6"/>
            </a:solidFill>
            <a:ln w="13335">
              <a:solidFill>
                <a:srgbClr val="46C98B"/>
              </a:solidFill>
            </a:ln>
          </p:spPr>
        </p:sp>
        <p:sp>
          <p:nvSpPr>
            <p:cNvPr id="67" name="Ellipse 67"/>
            <p:cNvSpPr/>
            <p:nvPr/>
          </p:nvSpPr>
          <p:spPr>
            <a:xfrm>
              <a:off x="10350500" y="4381500"/>
              <a:ext cx="190500" cy="190500"/>
            </a:xfrm>
            <a:prstGeom prst="ellipse">
              <a:avLst/>
            </a:prstGeom>
            <a:noFill/>
            <a:ln w="20955">
              <a:solidFill>
                <a:srgbClr val="46C98B"/>
              </a:solidFill>
            </a:ln>
          </p:spPr>
        </p:sp>
        <p:sp>
          <p:nvSpPr>
            <p:cNvPr id="68" name="TextBox 68"/>
            <p:cNvSpPr txBox="1"/>
            <p:nvPr/>
          </p:nvSpPr>
          <p:spPr>
            <a:xfrm>
              <a:off x="10406003" y="4427220"/>
              <a:ext cx="79494" cy="176212"/>
            </a:xfrm>
            <a:prstGeom prst="rect">
              <a:avLst/>
            </a:prstGeom>
            <a:noFill/>
            <a:ln>
              <a:noFill/>
            </a:ln>
          </p:spPr>
          <p:txBody>
            <a:bodyPr wrap="none" lIns="0" tIns="0" rIns="0" bIns="0" anchor="t" anchorCtr="0">
              <a:spAutoFit/>
            </a:bodyPr>
            <a:lstStyle/>
            <a:p>
              <a:pPr algn="ctr"/>
              <a:r>
                <a:rPr lang="en-US" sz="900" b="1" dirty="0">
                  <a:solidFill>
                    <a:srgbClr val="46C98B"/>
                  </a:solidFill>
                  <a:latin typeface="+mn-lt"/>
                  <a:ea typeface="+mn-ea"/>
                  <a:cs typeface="+mn-cs"/>
                </a:rPr>
                <a:t>3</a:t>
              </a:r>
            </a:p>
          </p:txBody>
        </p:sp>
        <p:sp>
          <p:nvSpPr>
            <p:cNvPr id="69" name="TextBox 69"/>
            <p:cNvSpPr txBox="1"/>
            <p:nvPr/>
          </p:nvSpPr>
          <p:spPr>
            <a:xfrm>
              <a:off x="10248170" y="4676299"/>
              <a:ext cx="39515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Trace</a:t>
              </a:r>
            </a:p>
          </p:txBody>
        </p:sp>
        <p:sp>
          <p:nvSpPr>
            <p:cNvPr id="70" name="TextBox 70"/>
            <p:cNvSpPr txBox="1"/>
            <p:nvPr/>
          </p:nvSpPr>
          <p:spPr>
            <a:xfrm>
              <a:off x="10088493" y="4872038"/>
              <a:ext cx="714513"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back onto the</a:t>
              </a:r>
            </a:p>
          </p:txBody>
        </p:sp>
        <p:sp>
          <p:nvSpPr>
            <p:cNvPr id="71" name="TextBox 71"/>
            <p:cNvSpPr txBox="1"/>
            <p:nvPr/>
          </p:nvSpPr>
          <p:spPr>
            <a:xfrm>
              <a:off x="10324373" y="4995862"/>
              <a:ext cx="242754"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path</a:t>
              </a:r>
            </a:p>
          </p:txBody>
        </p:sp>
      </p:grpSp>
      <p:sp>
        <p:nvSpPr>
          <p:cNvPr id="73" name="cue_s03_c1_consider_person_following_demonstrat" title="cue_s03_c1_consider_person_following_demonstrat" descr="cue_s03_c1_consider_person_following_demonstrat Consider a person following a demonstrated route from a start point to a destination. Partway there, a truck is parked where the demonstration had none."/>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3_c2_human_simply_detours_around_rejoins" title="cue_s03_c2_human_simply_detours_around_rejoins" descr="cue_s03_c2_human_simply_detours_around_rejoins A human simply detours around it and then rejoins the original path at a convenient point."/>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3_c3_easy_people_but_hard_current" title="cue_s03_c3_easy_people_but_hard_current" descr="cue_s03_c3_easy_people_but_hard_current This is easy for people but hard for current one-shot imitation techniques, which mostly clone demonstrated actions and have no principled way to behave in states the demonstration never showed."/>
          <p:cNvSpPr/>
          <p:nvPr/>
        </p:nvSpPr>
        <p:spPr>
          <a:xfrm>
            <a:off x="6171590" y="1504645"/>
            <a:ext cx="540959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3_c4_authors_distill_human_behavior_three" title="cue_s03_c4_authors_distill_human_behavior_three" descr="cue_s03_c4_authors_distill_human_behavior_three The authors distill this human behavior into a three-stage decision process — identify which demonstrated states are relevant, analyze how the expert behaved there, and trace back onto the demonstration — and use it as the blueprint for their method."/>
          <p:cNvSpPr/>
          <p:nvPr/>
        </p:nvSpPr>
        <p:spPr>
          <a:xfrm>
            <a:off x="6171590" y="3600450"/>
            <a:ext cx="540959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77468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setting, an architecture, a theory</a:t>
            </a:r>
          </a:p>
        </p:txBody>
      </p:sp>
      <p:grpSp>
        <p:nvGrpSpPr>
          <p:cNvPr id="16" name="Group 16"/>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chemeClr val="accent4"/>
              </a:solidFill>
            </a:ln>
          </p:spPr>
        </p:sp>
        <p:sp>
          <p:nvSpPr>
            <p:cNvPr id="6" name="Rectangle 6"/>
            <p:cNvSpPr/>
            <p:nvPr/>
          </p:nvSpPr>
          <p:spPr>
            <a:xfrm>
              <a:off x="609600" y="1714500"/>
              <a:ext cx="2590800" cy="57150"/>
            </a:xfrm>
            <a:prstGeom prst="roundRect">
              <a:avLst>
                <a:gd name="adj" fmla="val 50000"/>
              </a:avLst>
            </a:prstGeom>
            <a:solidFill>
              <a:srgbClr val="9C86F0"/>
            </a:solidFill>
            <a:ln>
              <a:noFill/>
            </a:ln>
          </p:spPr>
        </p:sp>
        <p:sp>
          <p:nvSpPr>
            <p:cNvPr id="7" name="Ellipse 7"/>
            <p:cNvSpPr/>
            <p:nvPr/>
          </p:nvSpPr>
          <p:spPr>
            <a:xfrm>
              <a:off x="838200" y="2095500"/>
              <a:ext cx="495300" cy="495300"/>
            </a:xfrm>
            <a:prstGeom prst="ellipse">
              <a:avLst/>
            </a:prstGeom>
            <a:noFill/>
            <a:ln w="23812">
              <a:solidFill>
                <a:srgbClr val="9C86F0"/>
              </a:solidFill>
            </a:ln>
          </p:spPr>
        </p:sp>
        <p:sp>
          <p:nvSpPr>
            <p:cNvPr id="8" name="TextBox 8"/>
            <p:cNvSpPr txBox="1"/>
            <p:nvPr/>
          </p:nvSpPr>
          <p:spPr>
            <a:xfrm>
              <a:off x="1000145" y="2218372"/>
              <a:ext cx="171411" cy="381381"/>
            </a:xfrm>
            <a:prstGeom prst="rect">
              <a:avLst/>
            </a:prstGeom>
            <a:noFill/>
            <a:ln>
              <a:noFill/>
            </a:ln>
          </p:spPr>
          <p:txBody>
            <a:bodyPr wrap="none" lIns="0" tIns="0" rIns="0" bIns="0" anchor="t" anchorCtr="0">
              <a:spAutoFit/>
            </a:bodyPr>
            <a:lstStyle/>
            <a:p>
              <a:pPr algn="ctr"/>
              <a:r>
                <a:rPr lang="en-US" sz="1950" b="1" dirty="0">
                  <a:solidFill>
                    <a:srgbClr val="9C86F0"/>
                  </a:solidFill>
                  <a:latin typeface="+mn-lt"/>
                  <a:ea typeface="+mn-ea"/>
                  <a:cs typeface="+mn-cs"/>
                </a:rPr>
                <a:t>≡</a:t>
              </a:r>
            </a:p>
          </p:txBody>
        </p:sp>
        <p:sp>
          <p:nvSpPr>
            <p:cNvPr id="9" name="TextBox 9"/>
            <p:cNvSpPr txBox="1"/>
            <p:nvPr/>
          </p:nvSpPr>
          <p:spPr>
            <a:xfrm>
              <a:off x="831723" y="2853214"/>
              <a:ext cx="51614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Three</a:t>
              </a:r>
            </a:p>
          </p:txBody>
        </p:sp>
        <p:sp>
          <p:nvSpPr>
            <p:cNvPr id="10" name="TextBox 10"/>
            <p:cNvSpPr txBox="1"/>
            <p:nvPr/>
          </p:nvSpPr>
          <p:spPr>
            <a:xfrm>
              <a:off x="831723" y="3100864"/>
              <a:ext cx="121613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contributions</a:t>
              </a:r>
            </a:p>
          </p:txBody>
        </p:sp>
        <p:sp>
          <p:nvSpPr>
            <p:cNvPr id="11" name="TextBox 11"/>
            <p:cNvSpPr txBox="1"/>
            <p:nvPr/>
          </p:nvSpPr>
          <p:spPr>
            <a:xfrm>
              <a:off x="833056" y="3491151"/>
              <a:ext cx="193212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paper advances one-shot</a:t>
              </a:r>
            </a:p>
          </p:txBody>
        </p:sp>
        <p:sp>
          <p:nvSpPr>
            <p:cNvPr id="12" name="TextBox 12"/>
            <p:cNvSpPr txBox="1"/>
            <p:nvPr/>
          </p:nvSpPr>
          <p:spPr>
            <a:xfrm>
              <a:off x="833056" y="3691176"/>
              <a:ext cx="18934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imitation on three fronts: a</a:t>
              </a:r>
            </a:p>
          </p:txBody>
        </p:sp>
        <p:sp>
          <p:nvSpPr>
            <p:cNvPr id="13" name="TextBox 13"/>
            <p:cNvSpPr txBox="1"/>
            <p:nvPr/>
          </p:nvSpPr>
          <p:spPr>
            <a:xfrm>
              <a:off x="833056" y="3891201"/>
              <a:ext cx="17098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harder setting, a tracing</a:t>
              </a:r>
            </a:p>
          </p:txBody>
        </p:sp>
        <p:sp>
          <p:nvSpPr>
            <p:cNvPr id="14" name="TextBox 14"/>
            <p:cNvSpPr txBox="1"/>
            <p:nvPr/>
          </p:nvSpPr>
          <p:spPr>
            <a:xfrm>
              <a:off x="833056" y="4091226"/>
              <a:ext cx="19304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architecture, and a meta-RL</a:t>
              </a:r>
            </a:p>
          </p:txBody>
        </p:sp>
        <p:sp>
          <p:nvSpPr>
            <p:cNvPr id="15" name="TextBox 15"/>
            <p:cNvSpPr txBox="1"/>
            <p:nvPr/>
          </p:nvSpPr>
          <p:spPr>
            <a:xfrm>
              <a:off x="833056" y="4291251"/>
              <a:ext cx="16894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formulation with theory.</a:t>
              </a:r>
            </a:p>
          </p:txBody>
        </p:sp>
      </p:grpSp>
      <p:grpSp>
        <p:nvGrpSpPr>
          <p:cNvPr id="29" name="Group 29"/>
          <p:cNvGrpSpPr/>
          <p:nvPr/>
        </p:nvGrpSpPr>
        <p:grpSpPr>
          <a:xfrm>
            <a:off x="3429000" y="1714500"/>
            <a:ext cx="2590800" cy="3543300"/>
            <a:chOff x="3429000" y="1714500"/>
            <a:chExt cx="2590800" cy="3543300"/>
          </a:xfrm>
        </p:grpSpPr>
        <p:sp>
          <p:nvSpPr>
            <p:cNvPr id="17" name="Rectangle 17"/>
            <p:cNvSpPr/>
            <p:nvPr/>
          </p:nvSpPr>
          <p:spPr>
            <a:xfrm>
              <a:off x="3429000" y="1714500"/>
              <a:ext cx="2590800" cy="3543300"/>
            </a:xfrm>
            <a:prstGeom prst="roundRect">
              <a:avLst>
                <a:gd name="adj" fmla="val 5147"/>
              </a:avLst>
            </a:prstGeom>
            <a:solidFill>
              <a:schemeClr val="accent5"/>
            </a:solidFill>
            <a:ln w="14288">
              <a:solidFill>
                <a:schemeClr val="accent4"/>
              </a:solidFill>
            </a:ln>
          </p:spPr>
        </p:sp>
        <p:sp>
          <p:nvSpPr>
            <p:cNvPr id="18" name="Rectangle 18"/>
            <p:cNvSpPr/>
            <p:nvPr/>
          </p:nvSpPr>
          <p:spPr>
            <a:xfrm>
              <a:off x="3429000" y="1714500"/>
              <a:ext cx="2590800" cy="57150"/>
            </a:xfrm>
            <a:prstGeom prst="roundRect">
              <a:avLst>
                <a:gd name="adj" fmla="val 50000"/>
              </a:avLst>
            </a:prstGeom>
            <a:solidFill>
              <a:schemeClr val="accent2"/>
            </a:solidFill>
            <a:ln>
              <a:noFill/>
            </a:ln>
          </p:spPr>
        </p:sp>
        <p:sp>
          <p:nvSpPr>
            <p:cNvPr id="19" name="Ellipse 19"/>
            <p:cNvSpPr/>
            <p:nvPr/>
          </p:nvSpPr>
          <p:spPr>
            <a:xfrm>
              <a:off x="3657600" y="2095500"/>
              <a:ext cx="495300" cy="495300"/>
            </a:xfrm>
            <a:prstGeom prst="ellipse">
              <a:avLst/>
            </a:prstGeom>
            <a:noFill/>
            <a:ln w="23812">
              <a:solidFill>
                <a:schemeClr val="accent2"/>
              </a:solidFill>
            </a:ln>
          </p:spPr>
        </p:sp>
        <p:sp>
          <p:nvSpPr>
            <p:cNvPr id="20" name="TextBox 20"/>
            <p:cNvSpPr txBox="1"/>
            <p:nvPr/>
          </p:nvSpPr>
          <p:spPr>
            <a:xfrm>
              <a:off x="3819545" y="2218372"/>
              <a:ext cx="171411"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1</a:t>
              </a:r>
            </a:p>
          </p:txBody>
        </p:sp>
        <p:sp>
          <p:nvSpPr>
            <p:cNvPr id="21" name="TextBox 21"/>
            <p:cNvSpPr txBox="1"/>
            <p:nvPr/>
          </p:nvSpPr>
          <p:spPr>
            <a:xfrm>
              <a:off x="3651123" y="2853214"/>
              <a:ext cx="175682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Harder OSIL + VPAM</a:t>
              </a:r>
            </a:p>
          </p:txBody>
        </p:sp>
        <p:sp>
          <p:nvSpPr>
            <p:cNvPr id="22" name="TextBox 22"/>
            <p:cNvSpPr txBox="1"/>
            <p:nvPr/>
          </p:nvSpPr>
          <p:spPr>
            <a:xfrm>
              <a:off x="3652456" y="3243501"/>
              <a:ext cx="167997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Deliberately introduces a</a:t>
              </a:r>
            </a:p>
          </p:txBody>
        </p:sp>
        <p:sp>
          <p:nvSpPr>
            <p:cNvPr id="23" name="TextBox 23"/>
            <p:cNvSpPr txBox="1"/>
            <p:nvPr/>
          </p:nvSpPr>
          <p:spPr>
            <a:xfrm>
              <a:off x="3652456" y="3443526"/>
              <a:ext cx="183903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large gap between when the</a:t>
              </a:r>
            </a:p>
          </p:txBody>
        </p:sp>
        <p:sp>
          <p:nvSpPr>
            <p:cNvPr id="24" name="TextBox 24"/>
            <p:cNvSpPr txBox="1"/>
            <p:nvPr/>
          </p:nvSpPr>
          <p:spPr>
            <a:xfrm>
              <a:off x="3652456" y="3643551"/>
              <a:ext cx="17778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 is collected</a:t>
              </a:r>
            </a:p>
          </p:txBody>
        </p:sp>
        <p:sp>
          <p:nvSpPr>
            <p:cNvPr id="25" name="TextBox 25"/>
            <p:cNvSpPr txBox="1"/>
            <p:nvPr/>
          </p:nvSpPr>
          <p:spPr>
            <a:xfrm>
              <a:off x="3652456" y="3843576"/>
              <a:ext cx="144473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when the policy is</a:t>
              </a:r>
            </a:p>
          </p:txBody>
        </p:sp>
        <p:sp>
          <p:nvSpPr>
            <p:cNvPr id="26" name="TextBox 26"/>
            <p:cNvSpPr txBox="1"/>
            <p:nvPr/>
          </p:nvSpPr>
          <p:spPr>
            <a:xfrm>
              <a:off x="3652456" y="4043601"/>
              <a:ext cx="17370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deployed, backed by a new</a:t>
              </a:r>
            </a:p>
          </p:txBody>
        </p:sp>
        <p:sp>
          <p:nvSpPr>
            <p:cNvPr id="27" name="TextBox 27"/>
            <p:cNvSpPr txBox="1"/>
            <p:nvPr/>
          </p:nvSpPr>
          <p:spPr>
            <a:xfrm>
              <a:off x="3652456" y="4243626"/>
              <a:ext cx="17302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demonstration-navigation</a:t>
              </a:r>
            </a:p>
          </p:txBody>
        </p:sp>
        <p:sp>
          <p:nvSpPr>
            <p:cNvPr id="28" name="TextBox 28"/>
            <p:cNvSpPr txBox="1"/>
            <p:nvPr/>
          </p:nvSpPr>
          <p:spPr>
            <a:xfrm>
              <a:off x="3652456" y="4443651"/>
              <a:ext cx="7852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benchmark.</a:t>
              </a:r>
            </a:p>
          </p:txBody>
        </p:sp>
      </p:grpSp>
      <p:grpSp>
        <p:nvGrpSpPr>
          <p:cNvPr id="42" name="Group 42"/>
          <p:cNvGrpSpPr/>
          <p:nvPr/>
        </p:nvGrpSpPr>
        <p:grpSpPr>
          <a:xfrm>
            <a:off x="6248400" y="1714500"/>
            <a:ext cx="2590800" cy="3543300"/>
            <a:chOff x="6248400" y="1714500"/>
            <a:chExt cx="2590800" cy="3543300"/>
          </a:xfrm>
        </p:grpSpPr>
        <p:sp>
          <p:nvSpPr>
            <p:cNvPr id="30" name="Rectangle 30"/>
            <p:cNvSpPr/>
            <p:nvPr/>
          </p:nvSpPr>
          <p:spPr>
            <a:xfrm>
              <a:off x="6248400" y="1714500"/>
              <a:ext cx="2590800" cy="3543300"/>
            </a:xfrm>
            <a:prstGeom prst="roundRect">
              <a:avLst>
                <a:gd name="adj" fmla="val 5147"/>
              </a:avLst>
            </a:prstGeom>
            <a:solidFill>
              <a:schemeClr val="accent5"/>
            </a:solidFill>
            <a:ln w="14288">
              <a:solidFill>
                <a:schemeClr val="accent4"/>
              </a:solidFill>
            </a:ln>
          </p:spPr>
        </p:sp>
        <p:sp>
          <p:nvSpPr>
            <p:cNvPr id="31" name="Rectangle 31"/>
            <p:cNvSpPr/>
            <p:nvPr/>
          </p:nvSpPr>
          <p:spPr>
            <a:xfrm>
              <a:off x="6248400" y="1714500"/>
              <a:ext cx="2590800" cy="57150"/>
            </a:xfrm>
            <a:prstGeom prst="roundRect">
              <a:avLst>
                <a:gd name="adj" fmla="val 50000"/>
              </a:avLst>
            </a:prstGeom>
            <a:solidFill>
              <a:srgbClr val="33D6C0"/>
            </a:solidFill>
            <a:ln>
              <a:noFill/>
            </a:ln>
          </p:spPr>
        </p:sp>
        <p:sp>
          <p:nvSpPr>
            <p:cNvPr id="32" name="Ellipse 32"/>
            <p:cNvSpPr/>
            <p:nvPr/>
          </p:nvSpPr>
          <p:spPr>
            <a:xfrm>
              <a:off x="6477000" y="2095500"/>
              <a:ext cx="495300" cy="495300"/>
            </a:xfrm>
            <a:prstGeom prst="ellipse">
              <a:avLst/>
            </a:prstGeom>
            <a:noFill/>
            <a:ln w="23812">
              <a:solidFill>
                <a:srgbClr val="33D6C0"/>
              </a:solidFill>
            </a:ln>
          </p:spPr>
        </p:sp>
        <p:sp>
          <p:nvSpPr>
            <p:cNvPr id="33" name="TextBox 33"/>
            <p:cNvSpPr txBox="1"/>
            <p:nvPr/>
          </p:nvSpPr>
          <p:spPr>
            <a:xfrm>
              <a:off x="6638945" y="2218372"/>
              <a:ext cx="171411" cy="381381"/>
            </a:xfrm>
            <a:prstGeom prst="rect">
              <a:avLst/>
            </a:prstGeom>
            <a:noFill/>
            <a:ln>
              <a:noFill/>
            </a:ln>
          </p:spPr>
          <p:txBody>
            <a:bodyPr wrap="none" lIns="0" tIns="0" rIns="0" bIns="0" anchor="t" anchorCtr="0">
              <a:spAutoFit/>
            </a:bodyPr>
            <a:lstStyle/>
            <a:p>
              <a:pPr algn="ctr"/>
              <a:r>
                <a:rPr lang="en-US" sz="1950" b="1" dirty="0">
                  <a:solidFill>
                    <a:srgbClr val="33D6C0"/>
                  </a:solidFill>
                  <a:latin typeface="+mn-lt"/>
                  <a:ea typeface="+mn-ea"/>
                  <a:cs typeface="+mn-cs"/>
                </a:rPr>
                <a:t>2</a:t>
              </a:r>
            </a:p>
          </p:txBody>
        </p:sp>
        <p:sp>
          <p:nvSpPr>
            <p:cNvPr id="34" name="TextBox 34"/>
            <p:cNvSpPr txBox="1"/>
            <p:nvPr/>
          </p:nvSpPr>
          <p:spPr>
            <a:xfrm>
              <a:off x="6470523" y="2853214"/>
              <a:ext cx="130314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Demonstration</a:t>
              </a:r>
            </a:p>
          </p:txBody>
        </p:sp>
        <p:sp>
          <p:nvSpPr>
            <p:cNvPr id="35" name="TextBox 35"/>
            <p:cNvSpPr txBox="1"/>
            <p:nvPr/>
          </p:nvSpPr>
          <p:spPr>
            <a:xfrm>
              <a:off x="6470523" y="3100864"/>
              <a:ext cx="114376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transformer</a:t>
              </a:r>
            </a:p>
          </p:txBody>
        </p:sp>
        <p:sp>
          <p:nvSpPr>
            <p:cNvPr id="36" name="TextBox 36"/>
            <p:cNvSpPr txBox="1"/>
            <p:nvPr/>
          </p:nvSpPr>
          <p:spPr>
            <a:xfrm>
              <a:off x="6471856" y="3491151"/>
              <a:ext cx="19862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demonstration transformer</a:t>
              </a:r>
            </a:p>
          </p:txBody>
        </p:sp>
        <p:sp>
          <p:nvSpPr>
            <p:cNvPr id="37" name="TextBox 37"/>
            <p:cNvSpPr txBox="1"/>
            <p:nvPr/>
          </p:nvSpPr>
          <p:spPr>
            <a:xfrm>
              <a:off x="6471856" y="3691176"/>
              <a:ext cx="200219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architecture that encourages</a:t>
              </a:r>
            </a:p>
          </p:txBody>
        </p:sp>
        <p:sp>
          <p:nvSpPr>
            <p:cNvPr id="38" name="TextBox 38"/>
            <p:cNvSpPr txBox="1"/>
            <p:nvPr/>
          </p:nvSpPr>
          <p:spPr>
            <a:xfrm>
              <a:off x="6471856" y="3891201"/>
              <a:ext cx="15263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policy to trace the</a:t>
              </a:r>
            </a:p>
          </p:txBody>
        </p:sp>
        <p:sp>
          <p:nvSpPr>
            <p:cNvPr id="39" name="TextBox 39"/>
            <p:cNvSpPr txBox="1"/>
            <p:nvPr/>
          </p:nvSpPr>
          <p:spPr>
            <a:xfrm>
              <a:off x="6471856" y="4091226"/>
              <a:ext cx="195460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 following the</a:t>
              </a:r>
            </a:p>
          </p:txBody>
        </p:sp>
        <p:sp>
          <p:nvSpPr>
            <p:cNvPr id="40" name="TextBox 40"/>
            <p:cNvSpPr txBox="1"/>
            <p:nvPr/>
          </p:nvSpPr>
          <p:spPr>
            <a:xfrm>
              <a:off x="6471856" y="4291251"/>
              <a:ext cx="190021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identify, analyze, and trace</a:t>
              </a:r>
            </a:p>
          </p:txBody>
        </p:sp>
        <p:sp>
          <p:nvSpPr>
            <p:cNvPr id="41" name="TextBox 41"/>
            <p:cNvSpPr txBox="1"/>
            <p:nvPr/>
          </p:nvSpPr>
          <p:spPr>
            <a:xfrm>
              <a:off x="6471856" y="4491276"/>
              <a:ext cx="6085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process.</a:t>
              </a:r>
            </a:p>
          </p:txBody>
        </p:sp>
      </p:grpSp>
      <p:grpSp>
        <p:nvGrpSpPr>
          <p:cNvPr id="55" name="Group 55"/>
          <p:cNvGrpSpPr/>
          <p:nvPr/>
        </p:nvGrpSpPr>
        <p:grpSpPr>
          <a:xfrm>
            <a:off x="9067800" y="1714500"/>
            <a:ext cx="2590800" cy="3543300"/>
            <a:chOff x="9067800" y="1714500"/>
            <a:chExt cx="2590800" cy="3543300"/>
          </a:xfrm>
        </p:grpSpPr>
        <p:sp>
          <p:nvSpPr>
            <p:cNvPr id="43" name="Rectangle 43"/>
            <p:cNvSpPr/>
            <p:nvPr/>
          </p:nvSpPr>
          <p:spPr>
            <a:xfrm>
              <a:off x="9067800" y="1714500"/>
              <a:ext cx="2590800" cy="3543300"/>
            </a:xfrm>
            <a:prstGeom prst="roundRect">
              <a:avLst>
                <a:gd name="adj" fmla="val 5147"/>
              </a:avLst>
            </a:prstGeom>
            <a:solidFill>
              <a:schemeClr val="accent5"/>
            </a:solidFill>
            <a:ln w="14288">
              <a:solidFill>
                <a:schemeClr val="accent4"/>
              </a:solidFill>
            </a:ln>
          </p:spPr>
        </p:sp>
        <p:sp>
          <p:nvSpPr>
            <p:cNvPr id="44" name="Rectangle 44"/>
            <p:cNvSpPr/>
            <p:nvPr/>
          </p:nvSpPr>
          <p:spPr>
            <a:xfrm>
              <a:off x="9067800" y="1714500"/>
              <a:ext cx="2590800" cy="57150"/>
            </a:xfrm>
            <a:prstGeom prst="roundRect">
              <a:avLst>
                <a:gd name="adj" fmla="val 50000"/>
              </a:avLst>
            </a:prstGeom>
            <a:solidFill>
              <a:srgbClr val="46C98B"/>
            </a:solidFill>
            <a:ln>
              <a:noFill/>
            </a:ln>
          </p:spPr>
        </p:sp>
        <p:sp>
          <p:nvSpPr>
            <p:cNvPr id="45" name="Ellipse 45"/>
            <p:cNvSpPr/>
            <p:nvPr/>
          </p:nvSpPr>
          <p:spPr>
            <a:xfrm>
              <a:off x="9296400" y="2095500"/>
              <a:ext cx="495300" cy="495300"/>
            </a:xfrm>
            <a:prstGeom prst="ellipse">
              <a:avLst/>
            </a:prstGeom>
            <a:noFill/>
            <a:ln w="23812">
              <a:solidFill>
                <a:srgbClr val="46C98B"/>
              </a:solidFill>
            </a:ln>
          </p:spPr>
        </p:sp>
        <p:sp>
          <p:nvSpPr>
            <p:cNvPr id="46" name="TextBox 46"/>
            <p:cNvSpPr txBox="1"/>
            <p:nvPr/>
          </p:nvSpPr>
          <p:spPr>
            <a:xfrm>
              <a:off x="9458345" y="2218372"/>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3</a:t>
              </a:r>
            </a:p>
          </p:txBody>
        </p:sp>
        <p:sp>
          <p:nvSpPr>
            <p:cNvPr id="47" name="TextBox 47"/>
            <p:cNvSpPr txBox="1"/>
            <p:nvPr/>
          </p:nvSpPr>
          <p:spPr>
            <a:xfrm>
              <a:off x="9289923" y="2853214"/>
              <a:ext cx="15726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Meta-RL + theory</a:t>
              </a:r>
            </a:p>
          </p:txBody>
        </p:sp>
        <p:sp>
          <p:nvSpPr>
            <p:cNvPr id="48" name="TextBox 48"/>
            <p:cNvSpPr txBox="1"/>
            <p:nvPr/>
          </p:nvSpPr>
          <p:spPr>
            <a:xfrm>
              <a:off x="9291256" y="3243501"/>
              <a:ext cx="185716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Casts one-shot imitation as</a:t>
              </a:r>
            </a:p>
          </p:txBody>
        </p:sp>
        <p:sp>
          <p:nvSpPr>
            <p:cNvPr id="49" name="TextBox 49"/>
            <p:cNvSpPr txBox="1"/>
            <p:nvPr/>
          </p:nvSpPr>
          <p:spPr>
            <a:xfrm>
              <a:off x="9291256" y="3443526"/>
              <a:ext cx="9824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context-based</a:t>
              </a:r>
            </a:p>
          </p:txBody>
        </p:sp>
        <p:sp>
          <p:nvSpPr>
            <p:cNvPr id="50" name="TextBox 50"/>
            <p:cNvSpPr txBox="1"/>
            <p:nvPr/>
          </p:nvSpPr>
          <p:spPr>
            <a:xfrm>
              <a:off x="9291256" y="3643551"/>
              <a:ext cx="202258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meta-reinforcement learning,</a:t>
              </a:r>
            </a:p>
          </p:txBody>
        </p:sp>
        <p:sp>
          <p:nvSpPr>
            <p:cNvPr id="51" name="TextBox 51"/>
            <p:cNvSpPr txBox="1"/>
            <p:nvPr/>
          </p:nvSpPr>
          <p:spPr>
            <a:xfrm>
              <a:off x="9291256" y="3843576"/>
              <a:ext cx="18254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analyzes the conditions</a:t>
              </a:r>
            </a:p>
          </p:txBody>
        </p:sp>
        <p:sp>
          <p:nvSpPr>
            <p:cNvPr id="52" name="TextBox 52"/>
            <p:cNvSpPr txBox="1"/>
            <p:nvPr/>
          </p:nvSpPr>
          <p:spPr>
            <a:xfrm>
              <a:off x="9291256" y="4043601"/>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under which an imitator can</a:t>
              </a:r>
            </a:p>
          </p:txBody>
        </p:sp>
        <p:sp>
          <p:nvSpPr>
            <p:cNvPr id="53" name="TextBox 53"/>
            <p:cNvSpPr txBox="1"/>
            <p:nvPr/>
          </p:nvSpPr>
          <p:spPr>
            <a:xfrm>
              <a:off x="9291256" y="4243626"/>
              <a:ext cx="143793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succeed from a single</a:t>
              </a:r>
            </a:p>
          </p:txBody>
        </p:sp>
        <p:sp>
          <p:nvSpPr>
            <p:cNvPr id="54" name="TextBox 54"/>
            <p:cNvSpPr txBox="1"/>
            <p:nvPr/>
          </p:nvSpPr>
          <p:spPr>
            <a:xfrm>
              <a:off x="9291256" y="4443651"/>
              <a:ext cx="79889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trajectory.</a:t>
              </a:r>
            </a:p>
          </p:txBody>
        </p:sp>
      </p:grpSp>
      <p:sp>
        <p:nvSpPr>
          <p:cNvPr id="56" name="TextBox 56"/>
          <p:cNvSpPr txBox="1"/>
          <p:nvPr/>
        </p:nvSpPr>
        <p:spPr>
          <a:xfrm>
            <a:off x="603694" y="5456158"/>
            <a:ext cx="7977980"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One trained imitator that traces a single demonstration and stays robust when the world changes.</a:t>
            </a:r>
          </a:p>
        </p:txBody>
      </p:sp>
      <p:sp>
        <p:nvSpPr>
          <p:cNvPr id="57" name="cue_s04_c1_makes_three_main_contributions" title="cue_s04_c1_makes_three_main_contributions" descr="cue_s04_c1_makes_three_main_contributions The paper makes three main contribution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4_c2_first_advances_one_shot_imitation_se" title="cue_s04_c2_first_advances_one_shot_imitation_se" descr="cue_s04_c2_first_advances_one_shot_imitation_se First, it advances the one-shot imitation setting by deliberately introducing a large difference between when the demonstration is collected and when the policy is deployed, and it supports this with a new demonstration-navigation benchmark."/>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4_c3_second_proposes_demonstration_transf" title="cue_s04_c3_second_proposes_demonstration_transf" descr="cue_s04_c3_second_proposes_demonstration_transf Second, it proposes a demonstration transformer architecture that encourages the policy to trace the demonstration, following the three-stage identify, analyze, and trace process."/>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4_c4_third_addresses_one_shot_imitation_c" title="cue_s04_c4_third_addresses_one_shot_imitation_c" descr="cue_s04_c4_third_addresses_one_shot_imitation_c Third, it addresses one-shot imitation as a context-based meta-reinforcement-learning problem, and it theoretically analyzes the conditions under which an imitator can succeed from just a single trajectory."/>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63956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Trace the demo, train with meta-RL</a:t>
            </a:r>
          </a:p>
        </p:txBody>
      </p:sp>
      <p:grpSp>
        <p:nvGrpSpPr>
          <p:cNvPr id="45" name="Group 45"/>
          <p:cNvGrpSpPr/>
          <p:nvPr/>
        </p:nvGrpSpPr>
        <p:grpSpPr>
          <a:xfrm>
            <a:off x="609600" y="1504950"/>
            <a:ext cx="10972800" cy="1733550"/>
            <a:chOff x="609600" y="1504950"/>
            <a:chExt cx="10972800" cy="1733550"/>
          </a:xfrm>
        </p:grpSpPr>
        <p:sp>
          <p:nvSpPr>
            <p:cNvPr id="5" name="Rectangle 5"/>
            <p:cNvSpPr/>
            <p:nvPr/>
          </p:nvSpPr>
          <p:spPr>
            <a:xfrm>
              <a:off x="609600" y="1504950"/>
              <a:ext cx="10972800" cy="1733550"/>
            </a:xfrm>
            <a:prstGeom prst="roundRect">
              <a:avLst>
                <a:gd name="adj" fmla="val 7692"/>
              </a:avLst>
            </a:prstGeom>
            <a:solidFill>
              <a:schemeClr val="accent5"/>
            </a:solidFill>
            <a:ln w="14288">
              <a:solidFill>
                <a:schemeClr val="accent4"/>
              </a:solidFill>
            </a:ln>
          </p:spPr>
        </p:sp>
        <p:sp>
          <p:nvSpPr>
            <p:cNvPr id="6" name="Rectangle 6"/>
            <p:cNvSpPr/>
            <p:nvPr/>
          </p:nvSpPr>
          <p:spPr>
            <a:xfrm>
              <a:off x="609600" y="1504950"/>
              <a:ext cx="57150" cy="1733550"/>
            </a:xfrm>
            <a:prstGeom prst="roundRect">
              <a:avLst>
                <a:gd name="adj" fmla="val 50000"/>
              </a:avLst>
            </a:prstGeom>
            <a:solidFill>
              <a:schemeClr val="accent2"/>
            </a:solidFill>
            <a:ln>
              <a:noFill/>
            </a:ln>
          </p:spPr>
        </p:sp>
        <p:sp>
          <p:nvSpPr>
            <p:cNvPr id="7" name="TextBox 7"/>
            <p:cNvSpPr txBox="1"/>
            <p:nvPr/>
          </p:nvSpPr>
          <p:spPr>
            <a:xfrm>
              <a:off x="870014" y="1695212"/>
              <a:ext cx="4119966"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Demonstration transformer: state is the query</a:t>
              </a:r>
            </a:p>
          </p:txBody>
        </p:sp>
        <p:sp>
          <p:nvSpPr>
            <p:cNvPr id="8" name="TextBox 8"/>
            <p:cNvSpPr txBox="1"/>
            <p:nvPr/>
          </p:nvSpPr>
          <p:spPr>
            <a:xfrm>
              <a:off x="871347" y="1990249"/>
              <a:ext cx="377437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first core piece turns the human three-stage process</a:t>
              </a:r>
            </a:p>
          </p:txBody>
        </p:sp>
        <p:sp>
          <p:nvSpPr>
            <p:cNvPr id="9" name="TextBox 9"/>
            <p:cNvSpPr txBox="1"/>
            <p:nvPr/>
          </p:nvSpPr>
          <p:spPr>
            <a:xfrm>
              <a:off x="871347" y="2171224"/>
              <a:ext cx="366430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into a network: the agent's current state is the query,</a:t>
              </a:r>
            </a:p>
          </p:txBody>
        </p:sp>
        <p:sp>
          <p:nvSpPr>
            <p:cNvPr id="10" name="TextBox 10"/>
            <p:cNvSpPr txBox="1"/>
            <p:nvPr/>
          </p:nvSpPr>
          <p:spPr>
            <a:xfrm>
              <a:off x="871347" y="2352199"/>
              <a:ext cx="369728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and the demonstration's states and actions are the keys</a:t>
              </a:r>
            </a:p>
          </p:txBody>
        </p:sp>
        <p:sp>
          <p:nvSpPr>
            <p:cNvPr id="11" name="TextBox 11"/>
            <p:cNvSpPr txBox="1"/>
            <p:nvPr/>
          </p:nvSpPr>
          <p:spPr>
            <a:xfrm>
              <a:off x="871347" y="2533174"/>
              <a:ext cx="74210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and values.</a:t>
              </a:r>
            </a:p>
          </p:txBody>
        </p:sp>
        <p:sp>
          <p:nvSpPr>
            <p:cNvPr id="12" name="Rectangle 12"/>
            <p:cNvSpPr/>
            <p:nvPr/>
          </p:nvSpPr>
          <p:spPr>
            <a:xfrm>
              <a:off x="876300" y="2724150"/>
              <a:ext cx="5105400" cy="381000"/>
            </a:xfrm>
            <a:prstGeom prst="roundRect">
              <a:avLst>
                <a:gd name="adj" fmla="val 20000"/>
              </a:avLst>
            </a:prstGeom>
            <a:solidFill>
              <a:schemeClr val="accent6"/>
            </a:solidFill>
            <a:ln w="14288">
              <a:solidFill>
                <a:schemeClr val="accent4"/>
              </a:solidFill>
            </a:ln>
          </p:spPr>
        </p:sp>
        <p:sp>
          <p:nvSpPr>
            <p:cNvPr id="13" name="TextBox 13"/>
            <p:cNvSpPr txBox="1"/>
            <p:nvPr/>
          </p:nvSpPr>
          <p:spPr>
            <a:xfrm>
              <a:off x="1822247" y="2874645"/>
              <a:ext cx="3213505" cy="176212"/>
            </a:xfrm>
            <a:prstGeom prst="rect">
              <a:avLst/>
            </a:prstGeom>
            <a:noFill/>
            <a:ln>
              <a:noFill/>
            </a:ln>
          </p:spPr>
          <p:txBody>
            <a:bodyPr wrap="none" lIns="0" tIns="0" rIns="0" bIns="0" anchor="t" anchorCtr="0">
              <a:spAutoFit/>
            </a:bodyPr>
            <a:lstStyle/>
            <a:p>
              <a:pPr algn="ctr"/>
              <a:r>
                <a:rPr lang="en-US" sz="900" b="1" dirty="0">
                  <a:solidFill>
                    <a:schemeClr val="dk1"/>
                  </a:solidFill>
                  <a:latin typeface="Consolas"/>
                  <a:ea typeface="Consolas"/>
                  <a:cs typeface="Consolas"/>
                </a:rPr>
                <a:t>q = s_t ; K,V = demo ; a = trace(attn(q,K)*V, s_t)</a:t>
              </a:r>
            </a:p>
          </p:txBody>
        </p:sp>
        <p:sp>
          <p:nvSpPr>
            <p:cNvPr id="14" name="Rectangle 14"/>
            <p:cNvSpPr/>
            <p:nvPr/>
          </p:nvSpPr>
          <p:spPr>
            <a:xfrm>
              <a:off x="6210300" y="1866900"/>
              <a:ext cx="5372100" cy="1219200"/>
            </a:xfrm>
            <a:prstGeom prst="roundRect">
              <a:avLst>
                <a:gd name="adj" fmla="val 6250"/>
              </a:avLst>
            </a:prstGeom>
            <a:solidFill>
              <a:srgbClr val="0E223A"/>
            </a:solidFill>
            <a:ln w="14288">
              <a:solidFill>
                <a:schemeClr val="accent4"/>
              </a:solidFill>
            </a:ln>
          </p:spPr>
        </p:sp>
        <p:sp>
          <p:nvSpPr>
            <p:cNvPr id="15" name="Ellipse 15"/>
            <p:cNvSpPr/>
            <p:nvPr/>
          </p:nvSpPr>
          <p:spPr>
            <a:xfrm>
              <a:off x="6391275" y="2333625"/>
              <a:ext cx="285750" cy="285750"/>
            </a:xfrm>
            <a:prstGeom prst="ellipse">
              <a:avLst/>
            </a:prstGeom>
            <a:solidFill>
              <a:schemeClr val="accent2"/>
            </a:solidFill>
            <a:ln>
              <a:noFill/>
            </a:ln>
          </p:spPr>
        </p:sp>
        <p:sp>
          <p:nvSpPr>
            <p:cNvPr id="16" name="TextBox 16"/>
            <p:cNvSpPr txBox="1"/>
            <p:nvPr/>
          </p:nvSpPr>
          <p:spPr>
            <a:xfrm>
              <a:off x="6491103" y="2418874"/>
              <a:ext cx="86094" cy="190690"/>
            </a:xfrm>
            <a:prstGeom prst="rect">
              <a:avLst/>
            </a:prstGeom>
            <a:noFill/>
            <a:ln>
              <a:noFill/>
            </a:ln>
          </p:spPr>
          <p:txBody>
            <a:bodyPr wrap="none" lIns="0" tIns="0" rIns="0" bIns="0" anchor="t" anchorCtr="0">
              <a:spAutoFit/>
            </a:bodyPr>
            <a:lstStyle/>
            <a:p>
              <a:pPr algn="ctr"/>
              <a:r>
                <a:rPr lang="en-US" sz="980" b="1" dirty="0">
                  <a:solidFill>
                    <a:srgbClr val="0B1A2B"/>
                  </a:solidFill>
                  <a:latin typeface="Consolas"/>
                  <a:ea typeface="Consolas"/>
                  <a:cs typeface="Consolas"/>
                </a:rPr>
                <a:t>q</a:t>
              </a:r>
            </a:p>
          </p:txBody>
        </p:sp>
        <p:sp>
          <p:nvSpPr>
            <p:cNvPr id="17" name="TextBox 17"/>
            <p:cNvSpPr txBox="1"/>
            <p:nvPr/>
          </p:nvSpPr>
          <p:spPr>
            <a:xfrm>
              <a:off x="6391394" y="2170986"/>
              <a:ext cx="285513" cy="140494"/>
            </a:xfrm>
            <a:prstGeom prst="rect">
              <a:avLst/>
            </a:prstGeom>
            <a:noFill/>
            <a:ln>
              <a:noFill/>
            </a:ln>
          </p:spPr>
          <p:txBody>
            <a:bodyPr wrap="none" lIns="0" tIns="0" rIns="0" bIns="0" anchor="t" anchorCtr="0">
              <a:spAutoFit/>
            </a:bodyPr>
            <a:lstStyle/>
            <a:p>
              <a:pPr algn="ctr"/>
              <a:r>
                <a:rPr lang="en-US" sz="710" b="1" dirty="0">
                  <a:solidFill>
                    <a:schemeClr val="dk2"/>
                  </a:solidFill>
                  <a:latin typeface="+mn-lt"/>
                  <a:ea typeface="+mn-ea"/>
                  <a:cs typeface="+mn-cs"/>
                </a:rPr>
                <a:t>query</a:t>
              </a:r>
            </a:p>
          </p:txBody>
        </p:sp>
        <p:sp>
          <p:nvSpPr>
            <p:cNvPr id="18" name="TextBox 18"/>
            <p:cNvSpPr txBox="1"/>
            <p:nvPr/>
          </p:nvSpPr>
          <p:spPr>
            <a:xfrm>
              <a:off x="6293543" y="2685336"/>
              <a:ext cx="481213" cy="140494"/>
            </a:xfrm>
            <a:prstGeom prst="rect">
              <a:avLst/>
            </a:prstGeom>
            <a:noFill/>
            <a:ln>
              <a:noFill/>
            </a:ln>
          </p:spPr>
          <p:txBody>
            <a:bodyPr wrap="none" lIns="0" tIns="0" rIns="0" bIns="0" anchor="t" anchorCtr="0">
              <a:spAutoFit/>
            </a:bodyPr>
            <a:lstStyle/>
            <a:p>
              <a:pPr algn="ctr"/>
              <a:r>
                <a:rPr lang="en-US" sz="710" b="1" dirty="0">
                  <a:solidFill>
                    <a:schemeClr val="dk2"/>
                  </a:solidFill>
                  <a:latin typeface="+mn-lt"/>
                  <a:ea typeface="+mn-ea"/>
                  <a:cs typeface="+mn-cs"/>
                </a:rPr>
                <a:t>state s_t</a:t>
              </a:r>
            </a:p>
          </p:txBody>
        </p:sp>
        <p:sp>
          <p:nvSpPr>
            <p:cNvPr id="19" name="Line 19"/>
            <p:cNvSpPr/>
            <p:nvPr/>
          </p:nvSpPr>
          <p:spPr>
            <a:xfrm>
              <a:off x="6686550" y="2171700"/>
              <a:ext cx="1078230" cy="304800"/>
            </a:xfrm>
            <a:custGeom>
              <a:avLst/>
              <a:gdLst/>
              <a:ahLst/>
              <a:cxnLst/>
              <a:rect l="l" t="t" r="r" b="b"/>
              <a:pathLst>
                <a:path w="1078230" h="304800">
                  <a:moveTo>
                    <a:pt x="0" y="304800"/>
                  </a:moveTo>
                  <a:lnTo>
                    <a:pt x="1078230" y="0"/>
                  </a:lnTo>
                </a:path>
              </a:pathLst>
            </a:custGeom>
            <a:noFill/>
            <a:ln w="11430" cap="rnd">
              <a:solidFill>
                <a:schemeClr val="accent4"/>
              </a:solidFill>
            </a:ln>
          </p:spPr>
        </p:sp>
        <p:sp>
          <p:nvSpPr>
            <p:cNvPr id="20" name="TextBox 20"/>
            <p:cNvSpPr txBox="1"/>
            <p:nvPr/>
          </p:nvSpPr>
          <p:spPr>
            <a:xfrm>
              <a:off x="7620279" y="209788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1" name="Rectangle 21"/>
            <p:cNvSpPr/>
            <p:nvPr/>
          </p:nvSpPr>
          <p:spPr>
            <a:xfrm>
              <a:off x="7821930" y="2076450"/>
              <a:ext cx="571500" cy="190500"/>
            </a:xfrm>
            <a:prstGeom prst="roundRect">
              <a:avLst>
                <a:gd name="adj" fmla="val 25000"/>
              </a:avLst>
            </a:prstGeom>
            <a:solidFill>
              <a:schemeClr val="accent6"/>
            </a:solidFill>
            <a:ln w="12382">
              <a:solidFill>
                <a:srgbClr val="33D6C0"/>
              </a:solidFill>
            </a:ln>
          </p:spPr>
        </p:sp>
        <p:sp>
          <p:nvSpPr>
            <p:cNvPr id="22" name="TextBox 22"/>
            <p:cNvSpPr txBox="1"/>
            <p:nvPr/>
          </p:nvSpPr>
          <p:spPr>
            <a:xfrm>
              <a:off x="7980083" y="2124789"/>
              <a:ext cx="255193" cy="154781"/>
            </a:xfrm>
            <a:prstGeom prst="rect">
              <a:avLst/>
            </a:prstGeom>
            <a:noFill/>
            <a:ln>
              <a:noFill/>
            </a:ln>
          </p:spPr>
          <p:txBody>
            <a:bodyPr wrap="none" lIns="0" tIns="0" rIns="0" bIns="0" anchor="t" anchorCtr="0">
              <a:spAutoFit/>
            </a:bodyPr>
            <a:lstStyle/>
            <a:p>
              <a:pPr algn="ctr"/>
              <a:r>
                <a:rPr lang="en-US" sz="790" b="1" dirty="0">
                  <a:solidFill>
                    <a:srgbClr val="33D6C0"/>
                  </a:solidFill>
                  <a:latin typeface="Consolas"/>
                  <a:ea typeface="Consolas"/>
                  <a:cs typeface="Consolas"/>
                </a:rPr>
                <a:t>se_0</a:t>
              </a:r>
            </a:p>
          </p:txBody>
        </p:sp>
        <p:sp>
          <p:nvSpPr>
            <p:cNvPr id="23" name="Line 23"/>
            <p:cNvSpPr/>
            <p:nvPr/>
          </p:nvSpPr>
          <p:spPr>
            <a:xfrm>
              <a:off x="6686550" y="2476500"/>
              <a:ext cx="1078230" cy="95250"/>
            </a:xfrm>
            <a:custGeom>
              <a:avLst/>
              <a:gdLst/>
              <a:ahLst/>
              <a:cxnLst/>
              <a:rect l="l" t="t" r="r" b="b"/>
              <a:pathLst>
                <a:path w="1078230" h="95250">
                  <a:moveTo>
                    <a:pt x="0" y="0"/>
                  </a:moveTo>
                  <a:lnTo>
                    <a:pt x="1078230" y="95250"/>
                  </a:lnTo>
                </a:path>
              </a:pathLst>
            </a:custGeom>
            <a:noFill/>
            <a:ln w="11430" cap="rnd">
              <a:solidFill>
                <a:schemeClr val="accent4"/>
              </a:solidFill>
            </a:ln>
          </p:spPr>
        </p:sp>
        <p:sp>
          <p:nvSpPr>
            <p:cNvPr id="24" name="TextBox 24"/>
            <p:cNvSpPr txBox="1"/>
            <p:nvPr/>
          </p:nvSpPr>
          <p:spPr>
            <a:xfrm>
              <a:off x="7620279" y="249793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5" name="Rectangle 25"/>
            <p:cNvSpPr/>
            <p:nvPr/>
          </p:nvSpPr>
          <p:spPr>
            <a:xfrm>
              <a:off x="7821930" y="2476500"/>
              <a:ext cx="571500" cy="190500"/>
            </a:xfrm>
            <a:prstGeom prst="roundRect">
              <a:avLst>
                <a:gd name="adj" fmla="val 25000"/>
              </a:avLst>
            </a:prstGeom>
            <a:solidFill>
              <a:schemeClr val="accent6"/>
            </a:solidFill>
            <a:ln w="12382">
              <a:solidFill>
                <a:srgbClr val="F4C24C"/>
              </a:solidFill>
            </a:ln>
          </p:spPr>
        </p:sp>
        <p:sp>
          <p:nvSpPr>
            <p:cNvPr id="26" name="TextBox 26"/>
            <p:cNvSpPr txBox="1"/>
            <p:nvPr/>
          </p:nvSpPr>
          <p:spPr>
            <a:xfrm>
              <a:off x="7994042" y="2524839"/>
              <a:ext cx="227276" cy="154781"/>
            </a:xfrm>
            <a:prstGeom prst="rect">
              <a:avLst/>
            </a:prstGeom>
            <a:noFill/>
            <a:ln>
              <a:noFill/>
            </a:ln>
          </p:spPr>
          <p:txBody>
            <a:bodyPr wrap="none" lIns="0" tIns="0" rIns="0" bIns="0" anchor="t" anchorCtr="0">
              <a:spAutoFit/>
            </a:bodyPr>
            <a:lstStyle/>
            <a:p>
              <a:pPr algn="ctr"/>
              <a:r>
                <a:rPr lang="en-US" sz="790" b="1" dirty="0">
                  <a:solidFill>
                    <a:srgbClr val="F4C24C"/>
                  </a:solidFill>
                  <a:latin typeface="Consolas"/>
                  <a:ea typeface="Consolas"/>
                  <a:cs typeface="Consolas"/>
                </a:rPr>
                <a:t>se_i</a:t>
              </a:r>
            </a:p>
          </p:txBody>
        </p:sp>
        <p:sp>
          <p:nvSpPr>
            <p:cNvPr id="27" name="Line 27"/>
            <p:cNvSpPr/>
            <p:nvPr/>
          </p:nvSpPr>
          <p:spPr>
            <a:xfrm>
              <a:off x="6686550" y="2476500"/>
              <a:ext cx="1078230" cy="495300"/>
            </a:xfrm>
            <a:custGeom>
              <a:avLst/>
              <a:gdLst/>
              <a:ahLst/>
              <a:cxnLst/>
              <a:rect l="l" t="t" r="r" b="b"/>
              <a:pathLst>
                <a:path w="1078230" h="495300">
                  <a:moveTo>
                    <a:pt x="0" y="0"/>
                  </a:moveTo>
                  <a:lnTo>
                    <a:pt x="1078230" y="495300"/>
                  </a:lnTo>
                </a:path>
              </a:pathLst>
            </a:custGeom>
            <a:noFill/>
            <a:ln w="11430" cap="rnd">
              <a:solidFill>
                <a:schemeClr val="accent4"/>
              </a:solidFill>
            </a:ln>
          </p:spPr>
        </p:sp>
        <p:sp>
          <p:nvSpPr>
            <p:cNvPr id="28" name="TextBox 28"/>
            <p:cNvSpPr txBox="1"/>
            <p:nvPr/>
          </p:nvSpPr>
          <p:spPr>
            <a:xfrm>
              <a:off x="7620279" y="2897981"/>
              <a:ext cx="98502"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a:t>
              </a:r>
            </a:p>
          </p:txBody>
        </p:sp>
        <p:sp>
          <p:nvSpPr>
            <p:cNvPr id="29" name="Rectangle 29"/>
            <p:cNvSpPr/>
            <p:nvPr/>
          </p:nvSpPr>
          <p:spPr>
            <a:xfrm>
              <a:off x="7821930" y="2876550"/>
              <a:ext cx="571500" cy="190500"/>
            </a:xfrm>
            <a:prstGeom prst="roundRect">
              <a:avLst>
                <a:gd name="adj" fmla="val 25000"/>
              </a:avLst>
            </a:prstGeom>
            <a:solidFill>
              <a:schemeClr val="accent6"/>
            </a:solidFill>
            <a:ln w="12382">
              <a:solidFill>
                <a:srgbClr val="F2685C"/>
              </a:solidFill>
            </a:ln>
          </p:spPr>
        </p:sp>
        <p:sp>
          <p:nvSpPr>
            <p:cNvPr id="30" name="TextBox 30"/>
            <p:cNvSpPr txBox="1"/>
            <p:nvPr/>
          </p:nvSpPr>
          <p:spPr>
            <a:xfrm>
              <a:off x="7980083" y="2924889"/>
              <a:ext cx="255193" cy="154781"/>
            </a:xfrm>
            <a:prstGeom prst="rect">
              <a:avLst/>
            </a:prstGeom>
            <a:noFill/>
            <a:ln>
              <a:noFill/>
            </a:ln>
          </p:spPr>
          <p:txBody>
            <a:bodyPr wrap="none" lIns="0" tIns="0" rIns="0" bIns="0" anchor="t" anchorCtr="0">
              <a:spAutoFit/>
            </a:bodyPr>
            <a:lstStyle/>
            <a:p>
              <a:pPr algn="ctr"/>
              <a:r>
                <a:rPr lang="en-US" sz="790" b="1" dirty="0">
                  <a:solidFill>
                    <a:srgbClr val="F2685C"/>
                  </a:solidFill>
                  <a:latin typeface="Consolas"/>
                  <a:ea typeface="Consolas"/>
                  <a:cs typeface="Consolas"/>
                </a:rPr>
                <a:t>se_t</a:t>
              </a:r>
            </a:p>
          </p:txBody>
        </p:sp>
        <p:sp>
          <p:nvSpPr>
            <p:cNvPr id="31" name="TextBox 31"/>
            <p:cNvSpPr txBox="1"/>
            <p:nvPr/>
          </p:nvSpPr>
          <p:spPr>
            <a:xfrm>
              <a:off x="7694413" y="1908334"/>
              <a:ext cx="826534"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demo keys/values</a:t>
              </a:r>
            </a:p>
          </p:txBody>
        </p:sp>
        <p:sp>
          <p:nvSpPr>
            <p:cNvPr id="32" name="TextBox 32"/>
            <p:cNvSpPr txBox="1"/>
            <p:nvPr/>
          </p:nvSpPr>
          <p:spPr>
            <a:xfrm>
              <a:off x="9192738" y="1913811"/>
              <a:ext cx="867596" cy="140494"/>
            </a:xfrm>
            <a:prstGeom prst="rect">
              <a:avLst/>
            </a:prstGeom>
            <a:noFill/>
            <a:ln>
              <a:noFill/>
            </a:ln>
          </p:spPr>
          <p:txBody>
            <a:bodyPr wrap="none" lIns="0" tIns="0" rIns="0" bIns="0" anchor="t" anchorCtr="0">
              <a:spAutoFit/>
            </a:bodyPr>
            <a:lstStyle/>
            <a:p>
              <a:pPr algn="ctr"/>
              <a:r>
                <a:rPr lang="en-US" sz="710" b="1" dirty="0">
                  <a:solidFill>
                    <a:schemeClr val="accent2"/>
                  </a:solidFill>
                  <a:latin typeface="+mn-lt"/>
                  <a:ea typeface="+mn-ea"/>
                  <a:cs typeface="+mn-cs"/>
                </a:rPr>
                <a:t>attn w (identify)</a:t>
              </a:r>
            </a:p>
          </p:txBody>
        </p:sp>
        <p:sp>
          <p:nvSpPr>
            <p:cNvPr id="33" name="Line 33"/>
            <p:cNvSpPr/>
            <p:nvPr/>
          </p:nvSpPr>
          <p:spPr>
            <a:xfrm>
              <a:off x="8393430" y="2171700"/>
              <a:ext cx="814006" cy="9525"/>
            </a:xfrm>
            <a:custGeom>
              <a:avLst/>
              <a:gdLst/>
              <a:ahLst/>
              <a:cxnLst/>
              <a:rect l="l" t="t" r="r" b="b"/>
              <a:pathLst>
                <a:path w="814006" h="9525">
                  <a:moveTo>
                    <a:pt x="0" y="0"/>
                  </a:moveTo>
                  <a:lnTo>
                    <a:pt x="814006" y="0"/>
                  </a:lnTo>
                </a:path>
              </a:pathLst>
            </a:custGeom>
            <a:noFill/>
            <a:ln w="9525" cap="rnd">
              <a:solidFill>
                <a:schemeClr val="accent4"/>
              </a:solidFill>
            </a:ln>
          </p:spPr>
        </p:sp>
        <p:sp>
          <p:nvSpPr>
            <p:cNvPr id="34" name="Rectangle 34"/>
            <p:cNvSpPr/>
            <p:nvPr/>
          </p:nvSpPr>
          <p:spPr>
            <a:xfrm>
              <a:off x="9245536" y="2095500"/>
              <a:ext cx="247650" cy="152400"/>
            </a:xfrm>
            <a:prstGeom prst="roundRect">
              <a:avLst>
                <a:gd name="adj" fmla="val 25000"/>
              </a:avLst>
            </a:prstGeom>
            <a:solidFill>
              <a:srgbClr val="33D6C0"/>
            </a:solidFill>
            <a:ln>
              <a:noFill/>
            </a:ln>
          </p:spPr>
        </p:sp>
        <p:sp>
          <p:nvSpPr>
            <p:cNvPr id="35" name="Line 35"/>
            <p:cNvSpPr/>
            <p:nvPr/>
          </p:nvSpPr>
          <p:spPr>
            <a:xfrm>
              <a:off x="8393430" y="2562225"/>
              <a:ext cx="814006" cy="9525"/>
            </a:xfrm>
            <a:custGeom>
              <a:avLst/>
              <a:gdLst/>
              <a:ahLst/>
              <a:cxnLst/>
              <a:rect l="l" t="t" r="r" b="b"/>
              <a:pathLst>
                <a:path w="814006" h="9525">
                  <a:moveTo>
                    <a:pt x="0" y="9525"/>
                  </a:moveTo>
                  <a:lnTo>
                    <a:pt x="814006" y="0"/>
                  </a:lnTo>
                </a:path>
              </a:pathLst>
            </a:custGeom>
            <a:noFill/>
            <a:ln w="9525" cap="rnd">
              <a:solidFill>
                <a:schemeClr val="accent4"/>
              </a:solidFill>
            </a:ln>
          </p:spPr>
        </p:sp>
        <p:sp>
          <p:nvSpPr>
            <p:cNvPr id="36" name="Rectangle 36"/>
            <p:cNvSpPr/>
            <p:nvPr/>
          </p:nvSpPr>
          <p:spPr>
            <a:xfrm>
              <a:off x="9245536" y="2486025"/>
              <a:ext cx="581025" cy="152400"/>
            </a:xfrm>
            <a:prstGeom prst="roundRect">
              <a:avLst>
                <a:gd name="adj" fmla="val 25000"/>
              </a:avLst>
            </a:prstGeom>
            <a:solidFill>
              <a:srgbClr val="F4C24C"/>
            </a:solidFill>
            <a:ln>
              <a:noFill/>
            </a:ln>
          </p:spPr>
        </p:sp>
        <p:sp>
          <p:nvSpPr>
            <p:cNvPr id="37" name="Line 37"/>
            <p:cNvSpPr/>
            <p:nvPr/>
          </p:nvSpPr>
          <p:spPr>
            <a:xfrm>
              <a:off x="8393430" y="2952750"/>
              <a:ext cx="814006" cy="19050"/>
            </a:xfrm>
            <a:custGeom>
              <a:avLst/>
              <a:gdLst/>
              <a:ahLst/>
              <a:cxnLst/>
              <a:rect l="l" t="t" r="r" b="b"/>
              <a:pathLst>
                <a:path w="814006" h="19050">
                  <a:moveTo>
                    <a:pt x="0" y="19050"/>
                  </a:moveTo>
                  <a:lnTo>
                    <a:pt x="814006" y="0"/>
                  </a:lnTo>
                </a:path>
              </a:pathLst>
            </a:custGeom>
            <a:noFill/>
            <a:ln w="9525" cap="rnd">
              <a:solidFill>
                <a:schemeClr val="accent4"/>
              </a:solidFill>
            </a:ln>
          </p:spPr>
        </p:sp>
        <p:sp>
          <p:nvSpPr>
            <p:cNvPr id="38" name="Rectangle 38"/>
            <p:cNvSpPr/>
            <p:nvPr/>
          </p:nvSpPr>
          <p:spPr>
            <a:xfrm>
              <a:off x="9245536" y="2876550"/>
              <a:ext cx="266700" cy="152400"/>
            </a:xfrm>
            <a:prstGeom prst="roundRect">
              <a:avLst>
                <a:gd name="adj" fmla="val 25000"/>
              </a:avLst>
            </a:prstGeom>
            <a:solidFill>
              <a:srgbClr val="F2685C"/>
            </a:solidFill>
            <a:ln>
              <a:noFill/>
            </a:ln>
          </p:spPr>
        </p:sp>
        <p:sp>
          <p:nvSpPr>
            <p:cNvPr id="39" name="Line 39"/>
            <p:cNvSpPr/>
            <p:nvPr/>
          </p:nvSpPr>
          <p:spPr>
            <a:xfrm>
              <a:off x="10274236" y="2476500"/>
              <a:ext cx="679514" cy="9525"/>
            </a:xfrm>
            <a:custGeom>
              <a:avLst/>
              <a:gdLst/>
              <a:ahLst/>
              <a:cxnLst/>
              <a:rect l="l" t="t" r="r" b="b"/>
              <a:pathLst>
                <a:path w="679514" h="9525">
                  <a:moveTo>
                    <a:pt x="0" y="0"/>
                  </a:moveTo>
                  <a:lnTo>
                    <a:pt x="679514" y="0"/>
                  </a:lnTo>
                </a:path>
              </a:pathLst>
            </a:custGeom>
            <a:noFill/>
            <a:ln w="13335" cap="rnd">
              <a:solidFill>
                <a:schemeClr val="accent4"/>
              </a:solidFill>
            </a:ln>
          </p:spPr>
        </p:sp>
        <p:sp>
          <p:nvSpPr>
            <p:cNvPr id="40" name="Polygon 40"/>
            <p:cNvSpPr/>
            <p:nvPr/>
          </p:nvSpPr>
          <p:spPr>
            <a:xfrm>
              <a:off x="10828562" y="2444534"/>
              <a:ext cx="125188" cy="63931"/>
            </a:xfrm>
            <a:custGeom>
              <a:avLst/>
              <a:gdLst/>
              <a:ahLst/>
              <a:cxnLst/>
              <a:rect l="l" t="t" r="r" b="b"/>
              <a:pathLst>
                <a:path w="125188" h="63931">
                  <a:moveTo>
                    <a:pt x="125188" y="31966"/>
                  </a:moveTo>
                  <a:lnTo>
                    <a:pt x="0" y="63931"/>
                  </a:lnTo>
                  <a:lnTo>
                    <a:pt x="0" y="0"/>
                  </a:lnTo>
                  <a:close/>
                </a:path>
              </a:pathLst>
            </a:custGeom>
            <a:solidFill>
              <a:schemeClr val="accent4"/>
            </a:solidFill>
            <a:ln>
              <a:noFill/>
            </a:ln>
          </p:spPr>
        </p:sp>
        <p:sp>
          <p:nvSpPr>
            <p:cNvPr id="41" name="TextBox 41"/>
            <p:cNvSpPr txBox="1"/>
            <p:nvPr/>
          </p:nvSpPr>
          <p:spPr>
            <a:xfrm>
              <a:off x="10572318" y="2327434"/>
              <a:ext cx="273851"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trace</a:t>
              </a:r>
            </a:p>
          </p:txBody>
        </p:sp>
        <p:sp>
          <p:nvSpPr>
            <p:cNvPr id="42" name="Ellipse 42"/>
            <p:cNvSpPr/>
            <p:nvPr/>
          </p:nvSpPr>
          <p:spPr>
            <a:xfrm>
              <a:off x="10953750" y="2286000"/>
              <a:ext cx="381000" cy="381000"/>
            </a:xfrm>
            <a:prstGeom prst="ellipse">
              <a:avLst/>
            </a:prstGeom>
            <a:noFill/>
            <a:ln w="22860">
              <a:solidFill>
                <a:srgbClr val="46C98B"/>
              </a:solidFill>
            </a:ln>
          </p:spPr>
        </p:sp>
        <p:sp>
          <p:nvSpPr>
            <p:cNvPr id="43" name="TextBox 43"/>
            <p:cNvSpPr txBox="1"/>
            <p:nvPr/>
          </p:nvSpPr>
          <p:spPr>
            <a:xfrm>
              <a:off x="11094999" y="2412206"/>
              <a:ext cx="98502" cy="220028"/>
            </a:xfrm>
            <a:prstGeom prst="rect">
              <a:avLst/>
            </a:prstGeom>
            <a:noFill/>
            <a:ln>
              <a:noFill/>
            </a:ln>
          </p:spPr>
          <p:txBody>
            <a:bodyPr wrap="none" lIns="0" tIns="0" rIns="0" bIns="0" anchor="t" anchorCtr="0">
              <a:spAutoFit/>
            </a:bodyPr>
            <a:lstStyle/>
            <a:p>
              <a:pPr algn="ctr"/>
              <a:r>
                <a:rPr lang="en-US" sz="1120" b="1" dirty="0">
                  <a:solidFill>
                    <a:srgbClr val="46C98B"/>
                  </a:solidFill>
                  <a:latin typeface="Consolas"/>
                  <a:ea typeface="Consolas"/>
                  <a:cs typeface="Consolas"/>
                </a:rPr>
                <a:t>a</a:t>
              </a:r>
            </a:p>
          </p:txBody>
        </p:sp>
        <p:sp>
          <p:nvSpPr>
            <p:cNvPr id="44" name="TextBox 44"/>
            <p:cNvSpPr txBox="1"/>
            <p:nvPr/>
          </p:nvSpPr>
          <p:spPr>
            <a:xfrm>
              <a:off x="10986440" y="2132886"/>
              <a:ext cx="315621" cy="140494"/>
            </a:xfrm>
            <a:prstGeom prst="rect">
              <a:avLst/>
            </a:prstGeom>
            <a:noFill/>
            <a:ln>
              <a:noFill/>
            </a:ln>
          </p:spPr>
          <p:txBody>
            <a:bodyPr wrap="none" lIns="0" tIns="0" rIns="0" bIns="0" anchor="t" anchorCtr="0">
              <a:spAutoFit/>
            </a:bodyPr>
            <a:lstStyle/>
            <a:p>
              <a:pPr algn="ctr"/>
              <a:r>
                <a:rPr lang="en-US" sz="710" b="1" dirty="0">
                  <a:solidFill>
                    <a:srgbClr val="46C98B"/>
                  </a:solidFill>
                  <a:latin typeface="+mn-lt"/>
                  <a:ea typeface="+mn-ea"/>
                  <a:cs typeface="+mn-cs"/>
                </a:rPr>
                <a:t>action</a:t>
              </a:r>
            </a:p>
          </p:txBody>
        </p:sp>
      </p:grpSp>
      <p:grpSp>
        <p:nvGrpSpPr>
          <p:cNvPr id="65" name="Group 65"/>
          <p:cNvGrpSpPr/>
          <p:nvPr/>
        </p:nvGrpSpPr>
        <p:grpSpPr>
          <a:xfrm>
            <a:off x="609600" y="3390900"/>
            <a:ext cx="5334000" cy="1847850"/>
            <a:chOff x="609600" y="3390900"/>
            <a:chExt cx="5334000" cy="1847850"/>
          </a:xfrm>
        </p:grpSpPr>
        <p:sp>
          <p:nvSpPr>
            <p:cNvPr id="46" name="Rectangle 46"/>
            <p:cNvSpPr/>
            <p:nvPr/>
          </p:nvSpPr>
          <p:spPr>
            <a:xfrm>
              <a:off x="609600" y="3390900"/>
              <a:ext cx="5334000" cy="1847850"/>
            </a:xfrm>
            <a:prstGeom prst="roundRect">
              <a:avLst>
                <a:gd name="adj" fmla="val 7216"/>
              </a:avLst>
            </a:prstGeom>
            <a:solidFill>
              <a:schemeClr val="accent5"/>
            </a:solidFill>
            <a:ln w="14288">
              <a:solidFill>
                <a:schemeClr val="accent4"/>
              </a:solidFill>
            </a:ln>
          </p:spPr>
        </p:sp>
        <p:sp>
          <p:nvSpPr>
            <p:cNvPr id="47" name="Rectangle 47"/>
            <p:cNvSpPr/>
            <p:nvPr/>
          </p:nvSpPr>
          <p:spPr>
            <a:xfrm>
              <a:off x="609600" y="3390900"/>
              <a:ext cx="57150" cy="1847850"/>
            </a:xfrm>
            <a:prstGeom prst="roundRect">
              <a:avLst>
                <a:gd name="adj" fmla="val 50000"/>
              </a:avLst>
            </a:prstGeom>
            <a:solidFill>
              <a:srgbClr val="33D6C0"/>
            </a:solidFill>
            <a:ln>
              <a:noFill/>
            </a:ln>
          </p:spPr>
        </p:sp>
        <p:sp>
          <p:nvSpPr>
            <p:cNvPr id="48" name="TextBox 48"/>
            <p:cNvSpPr txBox="1"/>
            <p:nvPr/>
          </p:nvSpPr>
          <p:spPr>
            <a:xfrm>
              <a:off x="870014" y="3619262"/>
              <a:ext cx="2551274"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Identify, analyze, then trace</a:t>
              </a:r>
            </a:p>
          </p:txBody>
        </p:sp>
        <p:sp>
          <p:nvSpPr>
            <p:cNvPr id="49" name="TextBox 49"/>
            <p:cNvSpPr txBox="1"/>
            <p:nvPr/>
          </p:nvSpPr>
          <p:spPr>
            <a:xfrm>
              <a:off x="871347" y="3933349"/>
              <a:ext cx="3971961"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An attention-weighting module identifies which demonstrated</a:t>
              </a:r>
            </a:p>
          </p:txBody>
        </p:sp>
        <p:sp>
          <p:nvSpPr>
            <p:cNvPr id="50" name="TextBox 50"/>
            <p:cNvSpPr txBox="1"/>
            <p:nvPr/>
          </p:nvSpPr>
          <p:spPr>
            <a:xfrm>
              <a:off x="871347" y="4114324"/>
              <a:ext cx="4126047"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states to follow, a point-wise product analyzes how the expert</a:t>
              </a:r>
            </a:p>
          </p:txBody>
        </p:sp>
        <p:sp>
          <p:nvSpPr>
            <p:cNvPr id="51" name="TextBox 51"/>
            <p:cNvSpPr txBox="1"/>
            <p:nvPr/>
          </p:nvSpPr>
          <p:spPr>
            <a:xfrm>
              <a:off x="871347" y="4295299"/>
              <a:ext cx="4172222"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behaved, and the result combines with the current state to give</a:t>
              </a:r>
            </a:p>
          </p:txBody>
        </p:sp>
        <p:sp>
          <p:nvSpPr>
            <p:cNvPr id="52" name="TextBox 52"/>
            <p:cNvSpPr txBox="1"/>
            <p:nvPr/>
          </p:nvSpPr>
          <p:spPr>
            <a:xfrm>
              <a:off x="871347" y="4476274"/>
              <a:ext cx="74210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the action.</a:t>
              </a:r>
            </a:p>
          </p:txBody>
        </p:sp>
        <p:sp>
          <p:nvSpPr>
            <p:cNvPr id="53" name="Rectangle 53"/>
            <p:cNvSpPr/>
            <p:nvPr/>
          </p:nvSpPr>
          <p:spPr>
            <a:xfrm>
              <a:off x="876300" y="4800600"/>
              <a:ext cx="4800600" cy="400050"/>
            </a:xfrm>
            <a:prstGeom prst="roundRect">
              <a:avLst>
                <a:gd name="adj" fmla="val 19048"/>
              </a:avLst>
            </a:prstGeom>
            <a:solidFill>
              <a:srgbClr val="0E223A"/>
            </a:solidFill>
            <a:ln w="14288">
              <a:solidFill>
                <a:schemeClr val="accent4"/>
              </a:solidFill>
            </a:ln>
          </p:spPr>
        </p:sp>
        <p:sp>
          <p:nvSpPr>
            <p:cNvPr id="54" name="Ellipse 54"/>
            <p:cNvSpPr/>
            <p:nvPr/>
          </p:nvSpPr>
          <p:spPr>
            <a:xfrm>
              <a:off x="981075" y="4914900"/>
              <a:ext cx="171450" cy="171450"/>
            </a:xfrm>
            <a:prstGeom prst="ellipse">
              <a:avLst/>
            </a:prstGeom>
            <a:noFill/>
            <a:ln w="19050">
              <a:solidFill>
                <a:schemeClr val="accent2"/>
              </a:solidFill>
            </a:ln>
          </p:spPr>
        </p:sp>
        <p:sp>
          <p:nvSpPr>
            <p:cNvPr id="55" name="TextBox 55"/>
            <p:cNvSpPr txBox="1"/>
            <p:nvPr/>
          </p:nvSpPr>
          <p:spPr>
            <a:xfrm>
              <a:off x="1030163" y="4949666"/>
              <a:ext cx="73274" cy="161925"/>
            </a:xfrm>
            <a:prstGeom prst="rect">
              <a:avLst/>
            </a:prstGeom>
            <a:noFill/>
            <a:ln>
              <a:noFill/>
            </a:ln>
          </p:spPr>
          <p:txBody>
            <a:bodyPr wrap="none" lIns="0" tIns="0" rIns="0" bIns="0" anchor="t" anchorCtr="0">
              <a:spAutoFit/>
            </a:bodyPr>
            <a:lstStyle/>
            <a:p>
              <a:pPr algn="ctr"/>
              <a:r>
                <a:rPr lang="en-US" sz="820" b="1" dirty="0">
                  <a:solidFill>
                    <a:schemeClr val="accent2"/>
                  </a:solidFill>
                  <a:latin typeface="+mn-lt"/>
                  <a:ea typeface="+mn-ea"/>
                  <a:cs typeface="+mn-cs"/>
                </a:rPr>
                <a:t>1</a:t>
              </a:r>
            </a:p>
          </p:txBody>
        </p:sp>
        <p:sp>
          <p:nvSpPr>
            <p:cNvPr id="56" name="TextBox 56"/>
            <p:cNvSpPr txBox="1"/>
            <p:nvPr/>
          </p:nvSpPr>
          <p:spPr>
            <a:xfrm>
              <a:off x="1214247" y="4942999"/>
              <a:ext cx="553972"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Identify</a:t>
              </a:r>
            </a:p>
          </p:txBody>
        </p:sp>
        <p:sp>
          <p:nvSpPr>
            <p:cNvPr id="57" name="TextBox 57"/>
            <p:cNvSpPr txBox="1"/>
            <p:nvPr/>
          </p:nvSpPr>
          <p:spPr>
            <a:xfrm>
              <a:off x="2344619" y="4951095"/>
              <a:ext cx="149462"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-&gt;</a:t>
              </a:r>
            </a:p>
          </p:txBody>
        </p:sp>
        <p:sp>
          <p:nvSpPr>
            <p:cNvPr id="58" name="Ellipse 58"/>
            <p:cNvSpPr/>
            <p:nvPr/>
          </p:nvSpPr>
          <p:spPr>
            <a:xfrm>
              <a:off x="2581275" y="4914900"/>
              <a:ext cx="171450" cy="171450"/>
            </a:xfrm>
            <a:prstGeom prst="ellipse">
              <a:avLst/>
            </a:prstGeom>
            <a:noFill/>
            <a:ln w="19050">
              <a:solidFill>
                <a:srgbClr val="F4C24C"/>
              </a:solidFill>
            </a:ln>
          </p:spPr>
        </p:sp>
        <p:sp>
          <p:nvSpPr>
            <p:cNvPr id="59" name="TextBox 59"/>
            <p:cNvSpPr txBox="1"/>
            <p:nvPr/>
          </p:nvSpPr>
          <p:spPr>
            <a:xfrm>
              <a:off x="2630363" y="4949666"/>
              <a:ext cx="73274" cy="161925"/>
            </a:xfrm>
            <a:prstGeom prst="rect">
              <a:avLst/>
            </a:prstGeom>
            <a:noFill/>
            <a:ln>
              <a:noFill/>
            </a:ln>
          </p:spPr>
          <p:txBody>
            <a:bodyPr wrap="none" lIns="0" tIns="0" rIns="0" bIns="0" anchor="t" anchorCtr="0">
              <a:spAutoFit/>
            </a:bodyPr>
            <a:lstStyle/>
            <a:p>
              <a:pPr algn="ctr"/>
              <a:r>
                <a:rPr lang="en-US" sz="820" b="1" dirty="0">
                  <a:solidFill>
                    <a:srgbClr val="F4C24C"/>
                  </a:solidFill>
                  <a:latin typeface="+mn-lt"/>
                  <a:ea typeface="+mn-ea"/>
                  <a:cs typeface="+mn-cs"/>
                </a:rPr>
                <a:t>2</a:t>
              </a:r>
            </a:p>
          </p:txBody>
        </p:sp>
        <p:sp>
          <p:nvSpPr>
            <p:cNvPr id="60" name="TextBox 60"/>
            <p:cNvSpPr txBox="1"/>
            <p:nvPr/>
          </p:nvSpPr>
          <p:spPr>
            <a:xfrm>
              <a:off x="2814447" y="4942999"/>
              <a:ext cx="512625"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Analyze</a:t>
              </a:r>
            </a:p>
          </p:txBody>
        </p:sp>
        <p:sp>
          <p:nvSpPr>
            <p:cNvPr id="61" name="TextBox 61"/>
            <p:cNvSpPr txBox="1"/>
            <p:nvPr/>
          </p:nvSpPr>
          <p:spPr>
            <a:xfrm>
              <a:off x="3944819" y="4951095"/>
              <a:ext cx="149462"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-&gt;</a:t>
              </a:r>
            </a:p>
          </p:txBody>
        </p:sp>
        <p:sp>
          <p:nvSpPr>
            <p:cNvPr id="62" name="Ellipse 62"/>
            <p:cNvSpPr/>
            <p:nvPr/>
          </p:nvSpPr>
          <p:spPr>
            <a:xfrm>
              <a:off x="4181475" y="4914900"/>
              <a:ext cx="171450" cy="171450"/>
            </a:xfrm>
            <a:prstGeom prst="ellipse">
              <a:avLst/>
            </a:prstGeom>
            <a:noFill/>
            <a:ln w="19050">
              <a:solidFill>
                <a:srgbClr val="46C98B"/>
              </a:solidFill>
            </a:ln>
          </p:spPr>
        </p:sp>
        <p:sp>
          <p:nvSpPr>
            <p:cNvPr id="63" name="TextBox 63"/>
            <p:cNvSpPr txBox="1"/>
            <p:nvPr/>
          </p:nvSpPr>
          <p:spPr>
            <a:xfrm>
              <a:off x="4230563" y="4949666"/>
              <a:ext cx="73274" cy="161925"/>
            </a:xfrm>
            <a:prstGeom prst="rect">
              <a:avLst/>
            </a:prstGeom>
            <a:noFill/>
            <a:ln>
              <a:noFill/>
            </a:ln>
          </p:spPr>
          <p:txBody>
            <a:bodyPr wrap="none" lIns="0" tIns="0" rIns="0" bIns="0" anchor="t" anchorCtr="0">
              <a:spAutoFit/>
            </a:bodyPr>
            <a:lstStyle/>
            <a:p>
              <a:pPr algn="ctr"/>
              <a:r>
                <a:rPr lang="en-US" sz="820" b="1" dirty="0">
                  <a:solidFill>
                    <a:srgbClr val="46C98B"/>
                  </a:solidFill>
                  <a:latin typeface="+mn-lt"/>
                  <a:ea typeface="+mn-ea"/>
                  <a:cs typeface="+mn-cs"/>
                </a:rPr>
                <a:t>3</a:t>
              </a:r>
            </a:p>
          </p:txBody>
        </p:sp>
        <p:sp>
          <p:nvSpPr>
            <p:cNvPr id="64" name="TextBox 64"/>
            <p:cNvSpPr txBox="1"/>
            <p:nvPr/>
          </p:nvSpPr>
          <p:spPr>
            <a:xfrm>
              <a:off x="4414647" y="4942999"/>
              <a:ext cx="39515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Trace</a:t>
              </a:r>
            </a:p>
          </p:txBody>
        </p:sp>
      </p:grpSp>
      <p:grpSp>
        <p:nvGrpSpPr>
          <p:cNvPr id="71" name="Group 71"/>
          <p:cNvGrpSpPr/>
          <p:nvPr/>
        </p:nvGrpSpPr>
        <p:grpSpPr>
          <a:xfrm>
            <a:off x="6248400" y="3390900"/>
            <a:ext cx="5437063" cy="857250"/>
            <a:chOff x="6248400" y="3390900"/>
            <a:chExt cx="5437063" cy="857250"/>
          </a:xfrm>
        </p:grpSpPr>
        <p:sp>
          <p:nvSpPr>
            <p:cNvPr id="66" name="Rectangle 66"/>
            <p:cNvSpPr/>
            <p:nvPr/>
          </p:nvSpPr>
          <p:spPr>
            <a:xfrm>
              <a:off x="6248400" y="3390900"/>
              <a:ext cx="5334000" cy="857250"/>
            </a:xfrm>
            <a:prstGeom prst="roundRect">
              <a:avLst>
                <a:gd name="adj" fmla="val 15556"/>
              </a:avLst>
            </a:prstGeom>
            <a:solidFill>
              <a:srgbClr val="2A2417"/>
            </a:solidFill>
            <a:ln w="14288">
              <a:solidFill>
                <a:srgbClr val="F4C24C"/>
              </a:solidFill>
            </a:ln>
          </p:spPr>
        </p:sp>
        <p:sp>
          <p:nvSpPr>
            <p:cNvPr id="67" name="Rectangle 67"/>
            <p:cNvSpPr/>
            <p:nvPr/>
          </p:nvSpPr>
          <p:spPr>
            <a:xfrm>
              <a:off x="6248400" y="3390900"/>
              <a:ext cx="57150" cy="857250"/>
            </a:xfrm>
            <a:prstGeom prst="roundRect">
              <a:avLst>
                <a:gd name="adj" fmla="val 50000"/>
              </a:avLst>
            </a:prstGeom>
            <a:solidFill>
              <a:srgbClr val="F4C24C"/>
            </a:solidFill>
            <a:ln>
              <a:noFill/>
            </a:ln>
          </p:spPr>
        </p:sp>
        <p:sp>
          <p:nvSpPr>
            <p:cNvPr id="68" name="TextBox 68"/>
            <p:cNvSpPr txBox="1"/>
            <p:nvPr/>
          </p:nvSpPr>
          <p:spPr>
            <a:xfrm>
              <a:off x="6509194" y="3570208"/>
              <a:ext cx="2480464"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Training: meta-RL, not cloning</a:t>
              </a:r>
            </a:p>
          </p:txBody>
        </p:sp>
        <p:sp>
          <p:nvSpPr>
            <p:cNvPr id="69" name="TextBox 69"/>
            <p:cNvSpPr txBox="1"/>
            <p:nvPr/>
          </p:nvSpPr>
          <p:spPr>
            <a:xfrm>
              <a:off x="6510338" y="3842147"/>
              <a:ext cx="4892309"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Rather than behavior cloning, DDT frames one-shot imitation as context-based</a:t>
              </a:r>
            </a:p>
          </p:txBody>
        </p:sp>
        <p:sp>
          <p:nvSpPr>
            <p:cNvPr id="70" name="TextBox 70"/>
            <p:cNvSpPr txBox="1"/>
            <p:nvPr/>
          </p:nvSpPr>
          <p:spPr>
            <a:xfrm>
              <a:off x="6510338" y="4013597"/>
              <a:ext cx="517512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meta-RL, so the agent explores and learns to act in states the demo never visited.</a:t>
              </a:r>
            </a:p>
          </p:txBody>
        </p:sp>
      </p:grpSp>
      <p:grpSp>
        <p:nvGrpSpPr>
          <p:cNvPr id="77" name="Group 77"/>
          <p:cNvGrpSpPr/>
          <p:nvPr/>
        </p:nvGrpSpPr>
        <p:grpSpPr>
          <a:xfrm>
            <a:off x="6248400" y="4400550"/>
            <a:ext cx="5334000" cy="838200"/>
            <a:chOff x="6248400" y="4400550"/>
            <a:chExt cx="5334000" cy="838200"/>
          </a:xfrm>
        </p:grpSpPr>
        <p:sp>
          <p:nvSpPr>
            <p:cNvPr id="72" name="Rectangle 72"/>
            <p:cNvSpPr/>
            <p:nvPr/>
          </p:nvSpPr>
          <p:spPr>
            <a:xfrm>
              <a:off x="6248400" y="4400550"/>
              <a:ext cx="5334000" cy="838200"/>
            </a:xfrm>
            <a:prstGeom prst="roundRect">
              <a:avLst>
                <a:gd name="adj" fmla="val 15909"/>
              </a:avLst>
            </a:prstGeom>
            <a:solidFill>
              <a:srgbClr val="0F2E2B"/>
            </a:solidFill>
            <a:ln w="14288">
              <a:solidFill>
                <a:srgbClr val="46C98B"/>
              </a:solidFill>
            </a:ln>
          </p:spPr>
        </p:sp>
        <p:sp>
          <p:nvSpPr>
            <p:cNvPr id="73" name="Rectangle 73"/>
            <p:cNvSpPr/>
            <p:nvPr/>
          </p:nvSpPr>
          <p:spPr>
            <a:xfrm>
              <a:off x="6248400" y="4400550"/>
              <a:ext cx="57150" cy="838200"/>
            </a:xfrm>
            <a:prstGeom prst="roundRect">
              <a:avLst>
                <a:gd name="adj" fmla="val 50000"/>
              </a:avLst>
            </a:prstGeom>
            <a:solidFill>
              <a:srgbClr val="46C98B"/>
            </a:solidFill>
            <a:ln>
              <a:noFill/>
            </a:ln>
          </p:spPr>
        </p:sp>
        <p:sp>
          <p:nvSpPr>
            <p:cNvPr id="74" name="TextBox 74"/>
            <p:cNvSpPr txBox="1"/>
            <p:nvPr/>
          </p:nvSpPr>
          <p:spPr>
            <a:xfrm>
              <a:off x="6509385" y="4583906"/>
              <a:ext cx="2791985" cy="220028"/>
            </a:xfrm>
            <a:prstGeom prst="rect">
              <a:avLst/>
            </a:prstGeom>
            <a:noFill/>
            <a:ln>
              <a:noFill/>
            </a:ln>
          </p:spPr>
          <p:txBody>
            <a:bodyPr wrap="none" lIns="0" tIns="0" rIns="0" bIns="0" anchor="t" anchorCtr="0">
              <a:spAutoFit/>
            </a:bodyPr>
            <a:lstStyle/>
            <a:p>
              <a:pPr algn="l"/>
              <a:r>
                <a:rPr lang="en-US" sz="1120" b="1" dirty="0">
                  <a:solidFill>
                    <a:srgbClr val="46C98B"/>
                  </a:solidFill>
                  <a:latin typeface="+mn-lt"/>
                  <a:ea typeface="+mn-ea"/>
                  <a:cs typeface="+mn-cs"/>
                </a:rPr>
                <a:t>OSIL reward + task reward, via SAC</a:t>
              </a:r>
            </a:p>
          </p:txBody>
        </p:sp>
        <p:sp>
          <p:nvSpPr>
            <p:cNvPr id="75" name="TextBox 75"/>
            <p:cNvSpPr txBox="1"/>
            <p:nvPr/>
          </p:nvSpPr>
          <p:spPr>
            <a:xfrm>
              <a:off x="6510338" y="4851797"/>
              <a:ext cx="4934409"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A stationary OSIL reward rewards following the demo while a large task reward</a:t>
              </a:r>
            </a:p>
          </p:txBody>
        </p:sp>
        <p:sp>
          <p:nvSpPr>
            <p:cNvPr id="76" name="TextBox 76"/>
            <p:cNvSpPr txBox="1"/>
            <p:nvPr/>
          </p:nvSpPr>
          <p:spPr>
            <a:xfrm>
              <a:off x="6510338" y="5023247"/>
              <a:ext cx="4002047"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keeps the focus on finishing; all optimized by Soft Actor-Critic.</a:t>
              </a:r>
            </a:p>
          </p:txBody>
        </p:sp>
      </p:grpSp>
      <p:sp>
        <p:nvSpPr>
          <p:cNvPr id="78" name="cue_s05_c1_ddt_two_core_pieces_first" title="cue_s05_c1_ddt_two_core_pieces_first" descr="cue_s05_c1_ddt_two_core_pieces_first DDT has two core pieces. The first is the demonstration transformer, which turns the human three-stage process into a network. The agent's current state becomes a query; the demonstration's states and actions become keys and values."/>
          <p:cNvSpPr/>
          <p:nvPr/>
        </p:nvSpPr>
        <p:spPr>
          <a:xfrm>
            <a:off x="609600" y="1504645"/>
            <a:ext cx="10972800" cy="17337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ue_s05_c2_attention_weighting_module_identifie" title="cue_s05_c2_attention_weighting_module_identifie" descr="cue_s05_c2_attention_weighting_module_identifie An attention-weighting module identifies which demonstrated states to follow, a point-wise multiplication analyzes how the expert behaved in those states, and the result is combined with the current state to produce the action — the tracing step."/>
          <p:cNvSpPr/>
          <p:nvPr/>
        </p:nvSpPr>
        <p:spPr>
          <a:xfrm>
            <a:off x="609600" y="3390595"/>
            <a:ext cx="5334000" cy="18475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ue_s05_c3_second_piece_rather_behavior_cloning" title="cue_s05_c3_second_piece_rather_behavior_cloning" descr="cue_s05_c3_second_piece_rather_behavior_cloning The second piece is training. Rather than behavior cloning, DDT frames one-shot imitation as context-based meta-reinforcement learning, so the agent can explore and learn to act in states the demonstration never visited."/>
          <p:cNvSpPr/>
          <p:nvPr/>
        </p:nvSpPr>
        <p:spPr>
          <a:xfrm>
            <a:off x="6248399" y="3390595"/>
            <a:ext cx="5437632"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ue_s05_c4_carefully_designed_stationary_osil_r" title="cue_s05_c4_carefully_designed_stationary_osil_r" descr="cue_s05_c4_carefully_designed_stationary_osil_r It uses a carefully designed stationary OSIL reward that rewards following the demonstration while a large-weighted task reward keeps the focus on actually completing the task, and it optimizes everything with Soft Actor-Critic."/>
          <p:cNvSpPr/>
          <p:nvPr/>
        </p:nvSpPr>
        <p:spPr>
          <a:xfrm>
            <a:off x="6248399" y="4400778"/>
            <a:ext cx="53340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47885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VPAM maze plus robotics tasks</a:t>
            </a:r>
          </a:p>
        </p:txBody>
      </p:sp>
      <p:grpSp>
        <p:nvGrpSpPr>
          <p:cNvPr id="28" name="Group 28"/>
          <p:cNvGrpSpPr/>
          <p:nvPr/>
        </p:nvGrpSpPr>
        <p:grpSpPr>
          <a:xfrm>
            <a:off x="609600" y="1504950"/>
            <a:ext cx="10972800" cy="1428750"/>
            <a:chOff x="609600" y="1504950"/>
            <a:chExt cx="10972800" cy="1428750"/>
          </a:xfrm>
        </p:grpSpPr>
        <p:sp>
          <p:nvSpPr>
            <p:cNvPr id="5" name="Rectangle 5"/>
            <p:cNvSpPr/>
            <p:nvPr/>
          </p:nvSpPr>
          <p:spPr>
            <a:xfrm>
              <a:off x="609600" y="1504950"/>
              <a:ext cx="10972800" cy="1428750"/>
            </a:xfrm>
            <a:prstGeom prst="roundRect">
              <a:avLst>
                <a:gd name="adj" fmla="val 9333"/>
              </a:avLst>
            </a:prstGeom>
            <a:solidFill>
              <a:schemeClr val="accent5"/>
            </a:solidFill>
            <a:ln w="14288">
              <a:solidFill>
                <a:schemeClr val="accent4"/>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204" y="1699260"/>
              <a:ext cx="291653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VPAM: Valet Parking Assist in Maze</a:t>
              </a:r>
            </a:p>
          </p:txBody>
        </p:sp>
        <p:sp>
          <p:nvSpPr>
            <p:cNvPr id="8" name="TextBox 8"/>
            <p:cNvSpPr txBox="1"/>
            <p:nvPr/>
          </p:nvSpPr>
          <p:spPr>
            <a:xfrm>
              <a:off x="871347" y="1990249"/>
              <a:ext cx="424930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To test one-shot imitation under unforeseen change, the authors</a:t>
              </a:r>
            </a:p>
          </p:txBody>
        </p:sp>
        <p:sp>
          <p:nvSpPr>
            <p:cNvPr id="9" name="TextBox 9"/>
            <p:cNvSpPr txBox="1"/>
            <p:nvPr/>
          </p:nvSpPr>
          <p:spPr>
            <a:xfrm>
              <a:off x="871347" y="2180749"/>
              <a:ext cx="410421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built VPAM, a maze navigation benchmark inspired by real-world</a:t>
              </a:r>
            </a:p>
          </p:txBody>
        </p:sp>
        <p:sp>
          <p:nvSpPr>
            <p:cNvPr id="10" name="TextBox 10"/>
            <p:cNvSpPr txBox="1"/>
            <p:nvPr/>
          </p:nvSpPr>
          <p:spPr>
            <a:xfrm>
              <a:off x="871347" y="2371249"/>
              <a:ext cx="446297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valet parking - the setting where DDT's runtime robustness matters</a:t>
              </a:r>
            </a:p>
          </p:txBody>
        </p:sp>
        <p:sp>
          <p:nvSpPr>
            <p:cNvPr id="11" name="TextBox 11"/>
            <p:cNvSpPr txBox="1"/>
            <p:nvPr/>
          </p:nvSpPr>
          <p:spPr>
            <a:xfrm>
              <a:off x="871347" y="2561749"/>
              <a:ext cx="39909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most.</a:t>
              </a:r>
            </a:p>
          </p:txBody>
        </p:sp>
        <p:sp>
          <p:nvSpPr>
            <p:cNvPr id="12" name="Rectangle 12"/>
            <p:cNvSpPr/>
            <p:nvPr/>
          </p:nvSpPr>
          <p:spPr>
            <a:xfrm>
              <a:off x="9829800" y="1657350"/>
              <a:ext cx="1495425" cy="1162050"/>
            </a:xfrm>
            <a:prstGeom prst="roundRect">
              <a:avLst>
                <a:gd name="adj" fmla="val 6557"/>
              </a:avLst>
            </a:prstGeom>
            <a:solidFill>
              <a:srgbClr val="0E223A"/>
            </a:solidFill>
            <a:ln w="14288">
              <a:solidFill>
                <a:schemeClr val="accent4"/>
              </a:solidFill>
            </a:ln>
          </p:spPr>
        </p:sp>
        <p:sp>
          <p:nvSpPr>
            <p:cNvPr id="13" name="Line 13"/>
            <p:cNvSpPr/>
            <p:nvPr/>
          </p:nvSpPr>
          <p:spPr>
            <a:xfrm>
              <a:off x="10079038" y="1733550"/>
              <a:ext cx="9525" cy="1009650"/>
            </a:xfrm>
            <a:custGeom>
              <a:avLst/>
              <a:gdLst/>
              <a:ahLst/>
              <a:cxnLst/>
              <a:rect l="l" t="t" r="r" b="b"/>
              <a:pathLst>
                <a:path w="9525" h="1009650">
                  <a:moveTo>
                    <a:pt x="0" y="0"/>
                  </a:moveTo>
                  <a:lnTo>
                    <a:pt x="0" y="1009650"/>
                  </a:lnTo>
                </a:path>
              </a:pathLst>
            </a:custGeom>
            <a:noFill/>
            <a:ln w="4762" cap="rnd">
              <a:solidFill>
                <a:schemeClr val="accent4"/>
              </a:solidFill>
            </a:ln>
          </p:spPr>
        </p:sp>
        <p:sp>
          <p:nvSpPr>
            <p:cNvPr id="14" name="Line 14"/>
            <p:cNvSpPr/>
            <p:nvPr/>
          </p:nvSpPr>
          <p:spPr>
            <a:xfrm>
              <a:off x="10328275" y="1733550"/>
              <a:ext cx="9525" cy="1009650"/>
            </a:xfrm>
            <a:custGeom>
              <a:avLst/>
              <a:gdLst/>
              <a:ahLst/>
              <a:cxnLst/>
              <a:rect l="l" t="t" r="r" b="b"/>
              <a:pathLst>
                <a:path w="9525" h="1009650">
                  <a:moveTo>
                    <a:pt x="0" y="0"/>
                  </a:moveTo>
                  <a:lnTo>
                    <a:pt x="0" y="1009650"/>
                  </a:lnTo>
                </a:path>
              </a:pathLst>
            </a:custGeom>
            <a:noFill/>
            <a:ln w="4762" cap="rnd">
              <a:solidFill>
                <a:schemeClr val="accent4"/>
              </a:solidFill>
            </a:ln>
          </p:spPr>
        </p:sp>
        <p:sp>
          <p:nvSpPr>
            <p:cNvPr id="15" name="Line 15"/>
            <p:cNvSpPr/>
            <p:nvPr/>
          </p:nvSpPr>
          <p:spPr>
            <a:xfrm>
              <a:off x="10577512" y="1733550"/>
              <a:ext cx="9525" cy="1009650"/>
            </a:xfrm>
            <a:custGeom>
              <a:avLst/>
              <a:gdLst/>
              <a:ahLst/>
              <a:cxnLst/>
              <a:rect l="l" t="t" r="r" b="b"/>
              <a:pathLst>
                <a:path w="9525" h="1009650">
                  <a:moveTo>
                    <a:pt x="0" y="0"/>
                  </a:moveTo>
                  <a:lnTo>
                    <a:pt x="0" y="1009650"/>
                  </a:lnTo>
                </a:path>
              </a:pathLst>
            </a:custGeom>
            <a:noFill/>
            <a:ln w="4762" cap="rnd">
              <a:solidFill>
                <a:schemeClr val="accent4"/>
              </a:solidFill>
            </a:ln>
          </p:spPr>
        </p:sp>
        <p:sp>
          <p:nvSpPr>
            <p:cNvPr id="16" name="Line 16"/>
            <p:cNvSpPr/>
            <p:nvPr/>
          </p:nvSpPr>
          <p:spPr>
            <a:xfrm>
              <a:off x="10826750" y="1733550"/>
              <a:ext cx="9525" cy="1009650"/>
            </a:xfrm>
            <a:custGeom>
              <a:avLst/>
              <a:gdLst/>
              <a:ahLst/>
              <a:cxnLst/>
              <a:rect l="l" t="t" r="r" b="b"/>
              <a:pathLst>
                <a:path w="9525" h="1009650">
                  <a:moveTo>
                    <a:pt x="0" y="0"/>
                  </a:moveTo>
                  <a:lnTo>
                    <a:pt x="0" y="1009650"/>
                  </a:lnTo>
                </a:path>
              </a:pathLst>
            </a:custGeom>
            <a:noFill/>
            <a:ln w="4762" cap="rnd">
              <a:solidFill>
                <a:schemeClr val="accent4"/>
              </a:solidFill>
            </a:ln>
          </p:spPr>
        </p:sp>
        <p:sp>
          <p:nvSpPr>
            <p:cNvPr id="17" name="Line 17"/>
            <p:cNvSpPr/>
            <p:nvPr/>
          </p:nvSpPr>
          <p:spPr>
            <a:xfrm>
              <a:off x="11075988" y="1733550"/>
              <a:ext cx="9525" cy="1009650"/>
            </a:xfrm>
            <a:custGeom>
              <a:avLst/>
              <a:gdLst/>
              <a:ahLst/>
              <a:cxnLst/>
              <a:rect l="l" t="t" r="r" b="b"/>
              <a:pathLst>
                <a:path w="9525" h="1009650">
                  <a:moveTo>
                    <a:pt x="0" y="0"/>
                  </a:moveTo>
                  <a:lnTo>
                    <a:pt x="0" y="1009650"/>
                  </a:lnTo>
                </a:path>
              </a:pathLst>
            </a:custGeom>
            <a:noFill/>
            <a:ln w="4762" cap="rnd">
              <a:solidFill>
                <a:schemeClr val="accent4"/>
              </a:solidFill>
            </a:ln>
          </p:spPr>
        </p:sp>
        <p:sp>
          <p:nvSpPr>
            <p:cNvPr id="18" name="Line 18"/>
            <p:cNvSpPr/>
            <p:nvPr/>
          </p:nvSpPr>
          <p:spPr>
            <a:xfrm>
              <a:off x="9906000" y="1947862"/>
              <a:ext cx="1343025" cy="9525"/>
            </a:xfrm>
            <a:custGeom>
              <a:avLst/>
              <a:gdLst/>
              <a:ahLst/>
              <a:cxnLst/>
              <a:rect l="l" t="t" r="r" b="b"/>
              <a:pathLst>
                <a:path w="1343025" h="9525">
                  <a:moveTo>
                    <a:pt x="0" y="0"/>
                  </a:moveTo>
                  <a:lnTo>
                    <a:pt x="1343025" y="0"/>
                  </a:lnTo>
                </a:path>
              </a:pathLst>
            </a:custGeom>
            <a:noFill/>
            <a:ln w="4762" cap="rnd">
              <a:solidFill>
                <a:schemeClr val="accent4"/>
              </a:solidFill>
            </a:ln>
          </p:spPr>
        </p:sp>
        <p:sp>
          <p:nvSpPr>
            <p:cNvPr id="19" name="Line 19"/>
            <p:cNvSpPr/>
            <p:nvPr/>
          </p:nvSpPr>
          <p:spPr>
            <a:xfrm>
              <a:off x="9906000" y="2238375"/>
              <a:ext cx="1343025" cy="9525"/>
            </a:xfrm>
            <a:custGeom>
              <a:avLst/>
              <a:gdLst/>
              <a:ahLst/>
              <a:cxnLst/>
              <a:rect l="l" t="t" r="r" b="b"/>
              <a:pathLst>
                <a:path w="1343025" h="9525">
                  <a:moveTo>
                    <a:pt x="0" y="0"/>
                  </a:moveTo>
                  <a:lnTo>
                    <a:pt x="1343025" y="0"/>
                  </a:lnTo>
                </a:path>
              </a:pathLst>
            </a:custGeom>
            <a:noFill/>
            <a:ln w="4762" cap="rnd">
              <a:solidFill>
                <a:schemeClr val="accent4"/>
              </a:solidFill>
            </a:ln>
          </p:spPr>
        </p:sp>
        <p:sp>
          <p:nvSpPr>
            <p:cNvPr id="20" name="Line 20"/>
            <p:cNvSpPr/>
            <p:nvPr/>
          </p:nvSpPr>
          <p:spPr>
            <a:xfrm>
              <a:off x="9906000" y="2528888"/>
              <a:ext cx="1343025" cy="9525"/>
            </a:xfrm>
            <a:custGeom>
              <a:avLst/>
              <a:gdLst/>
              <a:ahLst/>
              <a:cxnLst/>
              <a:rect l="l" t="t" r="r" b="b"/>
              <a:pathLst>
                <a:path w="1343025" h="9525">
                  <a:moveTo>
                    <a:pt x="0" y="0"/>
                  </a:moveTo>
                  <a:lnTo>
                    <a:pt x="1343025" y="0"/>
                  </a:lnTo>
                </a:path>
              </a:pathLst>
            </a:custGeom>
            <a:noFill/>
            <a:ln w="4762" cap="rnd">
              <a:solidFill>
                <a:schemeClr val="accent4"/>
              </a:solidFill>
            </a:ln>
          </p:spPr>
        </p:sp>
        <p:sp>
          <p:nvSpPr>
            <p:cNvPr id="21" name="Polyline 21"/>
            <p:cNvSpPr/>
            <p:nvPr/>
          </p:nvSpPr>
          <p:spPr>
            <a:xfrm>
              <a:off x="9982200" y="1847850"/>
              <a:ext cx="1181100" cy="781050"/>
            </a:xfrm>
            <a:custGeom>
              <a:avLst/>
              <a:gdLst/>
              <a:ahLst/>
              <a:cxnLst/>
              <a:rect l="l" t="t" r="r" b="b"/>
              <a:pathLst>
                <a:path w="1181100" h="781050">
                  <a:moveTo>
                    <a:pt x="0" y="781050"/>
                  </a:moveTo>
                  <a:lnTo>
                    <a:pt x="296227" y="529971"/>
                  </a:lnTo>
                  <a:lnTo>
                    <a:pt x="505587" y="320802"/>
                  </a:lnTo>
                  <a:lnTo>
                    <a:pt x="834580" y="158115"/>
                  </a:lnTo>
                  <a:lnTo>
                    <a:pt x="1181100" y="0"/>
                  </a:lnTo>
                </a:path>
              </a:pathLst>
            </a:custGeom>
            <a:noFill/>
            <a:ln w="20955" cap="rnd">
              <a:solidFill>
                <a:srgbClr val="33D6C0"/>
              </a:solidFill>
              <a:custDash>
                <a:ds d="272727" sp="227273"/>
              </a:custDash>
              <a:round/>
            </a:ln>
          </p:spPr>
        </p:sp>
        <p:sp>
          <p:nvSpPr>
            <p:cNvPr id="22" name="Rectangle 22"/>
            <p:cNvSpPr/>
            <p:nvPr/>
          </p:nvSpPr>
          <p:spPr>
            <a:xfrm>
              <a:off x="10391775" y="2152650"/>
              <a:ext cx="190500" cy="123825"/>
            </a:xfrm>
            <a:prstGeom prst="roundRect">
              <a:avLst>
                <a:gd name="adj" fmla="val 23077"/>
              </a:avLst>
            </a:prstGeom>
            <a:solidFill>
              <a:srgbClr val="F2685C"/>
            </a:solidFill>
            <a:ln>
              <a:noFill/>
            </a:ln>
          </p:spPr>
        </p:sp>
        <p:sp>
          <p:nvSpPr>
            <p:cNvPr id="23" name="Polyline 23"/>
            <p:cNvSpPr/>
            <p:nvPr/>
          </p:nvSpPr>
          <p:spPr>
            <a:xfrm>
              <a:off x="10278237" y="1978152"/>
              <a:ext cx="538543" cy="399669"/>
            </a:xfrm>
            <a:custGeom>
              <a:avLst/>
              <a:gdLst/>
              <a:ahLst/>
              <a:cxnLst/>
              <a:rect l="l" t="t" r="r" b="b"/>
              <a:pathLst>
                <a:path w="538543" h="399669">
                  <a:moveTo>
                    <a:pt x="190" y="399669"/>
                  </a:moveTo>
                  <a:lnTo>
                    <a:pt x="152400" y="342900"/>
                  </a:lnTo>
                  <a:lnTo>
                    <a:pt x="0" y="209550"/>
                  </a:lnTo>
                  <a:lnTo>
                    <a:pt x="76200" y="0"/>
                  </a:lnTo>
                  <a:lnTo>
                    <a:pt x="381000" y="0"/>
                  </a:lnTo>
                  <a:lnTo>
                    <a:pt x="419100" y="171450"/>
                  </a:lnTo>
                  <a:lnTo>
                    <a:pt x="538543" y="27813"/>
                  </a:lnTo>
                </a:path>
              </a:pathLst>
            </a:custGeom>
            <a:noFill/>
            <a:ln w="24765" cap="rnd">
              <a:solidFill>
                <a:schemeClr val="accent2"/>
              </a:solidFill>
              <a:round/>
            </a:ln>
          </p:spPr>
        </p:sp>
        <p:sp>
          <p:nvSpPr>
            <p:cNvPr id="24" name="Ellipse 24"/>
            <p:cNvSpPr/>
            <p:nvPr/>
          </p:nvSpPr>
          <p:spPr>
            <a:xfrm>
              <a:off x="9925050" y="2571750"/>
              <a:ext cx="114300" cy="114300"/>
            </a:xfrm>
            <a:prstGeom prst="ellipse">
              <a:avLst/>
            </a:prstGeom>
            <a:solidFill>
              <a:schemeClr val="accent2"/>
            </a:solidFill>
            <a:ln>
              <a:noFill/>
            </a:ln>
          </p:spPr>
        </p:sp>
        <p:sp>
          <p:nvSpPr>
            <p:cNvPr id="25" name="Rectangle 25"/>
            <p:cNvSpPr/>
            <p:nvPr/>
          </p:nvSpPr>
          <p:spPr>
            <a:xfrm>
              <a:off x="11106150" y="1790700"/>
              <a:ext cx="114300" cy="114300"/>
            </a:xfrm>
            <a:prstGeom prst="roundRect">
              <a:avLst>
                <a:gd name="adj" fmla="val 16667"/>
              </a:avLst>
            </a:prstGeom>
            <a:solidFill>
              <a:srgbClr val="46C98B"/>
            </a:solidFill>
            <a:ln>
              <a:noFill/>
            </a:ln>
          </p:spPr>
        </p:sp>
        <p:sp>
          <p:nvSpPr>
            <p:cNvPr id="26" name="TextBox 26"/>
            <p:cNvSpPr txBox="1"/>
            <p:nvPr/>
          </p:nvSpPr>
          <p:spPr>
            <a:xfrm>
              <a:off x="9864324" y="2708434"/>
              <a:ext cx="273851"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start</a:t>
              </a:r>
            </a:p>
          </p:txBody>
        </p:sp>
        <p:sp>
          <p:nvSpPr>
            <p:cNvPr id="27" name="TextBox 27"/>
            <p:cNvSpPr txBox="1"/>
            <p:nvPr/>
          </p:nvSpPr>
          <p:spPr>
            <a:xfrm>
              <a:off x="11064822" y="1660684"/>
              <a:ext cx="196956"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goal</a:t>
              </a:r>
            </a:p>
          </p:txBody>
        </p:sp>
      </p:grpSp>
      <p:grpSp>
        <p:nvGrpSpPr>
          <p:cNvPr id="53" name="Group 53"/>
          <p:cNvGrpSpPr/>
          <p:nvPr/>
        </p:nvGrpSpPr>
        <p:grpSpPr>
          <a:xfrm>
            <a:off x="609600" y="3086100"/>
            <a:ext cx="5334000" cy="1333500"/>
            <a:chOff x="609600" y="3086100"/>
            <a:chExt cx="5334000" cy="1333500"/>
          </a:xfrm>
        </p:grpSpPr>
        <p:sp>
          <p:nvSpPr>
            <p:cNvPr id="29" name="Rectangle 29"/>
            <p:cNvSpPr/>
            <p:nvPr/>
          </p:nvSpPr>
          <p:spPr>
            <a:xfrm>
              <a:off x="609600" y="3086100"/>
              <a:ext cx="5334000" cy="1333500"/>
            </a:xfrm>
            <a:prstGeom prst="roundRect">
              <a:avLst>
                <a:gd name="adj" fmla="val 10000"/>
              </a:avLst>
            </a:prstGeom>
            <a:solidFill>
              <a:schemeClr val="accent5"/>
            </a:solidFill>
            <a:ln w="14288">
              <a:solidFill>
                <a:schemeClr val="accent4"/>
              </a:solidFill>
            </a:ln>
          </p:spPr>
        </p:sp>
        <p:sp>
          <p:nvSpPr>
            <p:cNvPr id="30" name="Rectangle 30"/>
            <p:cNvSpPr/>
            <p:nvPr/>
          </p:nvSpPr>
          <p:spPr>
            <a:xfrm>
              <a:off x="609600" y="3086100"/>
              <a:ext cx="57150" cy="1333500"/>
            </a:xfrm>
            <a:prstGeom prst="roundRect">
              <a:avLst>
                <a:gd name="adj" fmla="val 50000"/>
              </a:avLst>
            </a:prstGeom>
            <a:solidFill>
              <a:srgbClr val="33D6C0"/>
            </a:solidFill>
            <a:ln>
              <a:noFill/>
            </a:ln>
          </p:spPr>
        </p:sp>
        <p:sp>
          <p:nvSpPr>
            <p:cNvPr id="31" name="TextBox 31"/>
            <p:cNvSpPr txBox="1"/>
            <p:nvPr/>
          </p:nvSpPr>
          <p:spPr>
            <a:xfrm>
              <a:off x="870585" y="3307556"/>
              <a:ext cx="2169787" cy="220028"/>
            </a:xfrm>
            <a:prstGeom prst="rect">
              <a:avLst/>
            </a:prstGeom>
            <a:noFill/>
            <a:ln>
              <a:noFill/>
            </a:ln>
          </p:spPr>
          <p:txBody>
            <a:bodyPr wrap="none" lIns="0" tIns="0" rIns="0" bIns="0" anchor="t" anchorCtr="0">
              <a:spAutoFit/>
            </a:bodyPr>
            <a:lstStyle/>
            <a:p>
              <a:pPr algn="l"/>
              <a:r>
                <a:rPr lang="en-US" sz="1120" b="1" dirty="0">
                  <a:solidFill>
                    <a:srgbClr val="33D6C0"/>
                  </a:solidFill>
                  <a:latin typeface="+mn-lt"/>
                  <a:ea typeface="+mn-ea"/>
                  <a:cs typeface="+mn-cs"/>
                </a:rPr>
                <a:t>Point agent, local ray views</a:t>
              </a:r>
            </a:p>
          </p:txBody>
        </p:sp>
        <p:sp>
          <p:nvSpPr>
            <p:cNvPr id="32" name="TextBox 32"/>
            <p:cNvSpPr txBox="1"/>
            <p:nvPr/>
          </p:nvSpPr>
          <p:spPr>
            <a:xfrm>
              <a:off x="871347" y="3590449"/>
              <a:ext cx="282464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 point agent must reach a target in a maze</a:t>
              </a:r>
            </a:p>
          </p:txBody>
        </p:sp>
        <p:sp>
          <p:nvSpPr>
            <p:cNvPr id="33" name="TextBox 33"/>
            <p:cNvSpPr txBox="1"/>
            <p:nvPr/>
          </p:nvSpPr>
          <p:spPr>
            <a:xfrm>
              <a:off x="871347" y="3771424"/>
              <a:ext cx="266824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it has never seen globally, relying only on</a:t>
              </a:r>
            </a:p>
          </p:txBody>
        </p:sp>
        <p:sp>
          <p:nvSpPr>
            <p:cNvPr id="34" name="TextBox 34"/>
            <p:cNvSpPr txBox="1"/>
            <p:nvPr/>
          </p:nvSpPr>
          <p:spPr>
            <a:xfrm>
              <a:off x="871347" y="3952399"/>
              <a:ext cx="287933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short local views computed from eight rays.</a:t>
              </a:r>
            </a:p>
          </p:txBody>
        </p:sp>
        <p:sp>
          <p:nvSpPr>
            <p:cNvPr id="35" name="Line 35"/>
            <p:cNvSpPr/>
            <p:nvPr/>
          </p:nvSpPr>
          <p:spPr>
            <a:xfrm>
              <a:off x="5105400" y="3752850"/>
              <a:ext cx="438150" cy="9525"/>
            </a:xfrm>
            <a:custGeom>
              <a:avLst/>
              <a:gdLst/>
              <a:ahLst/>
              <a:cxnLst/>
              <a:rect l="l" t="t" r="r" b="b"/>
              <a:pathLst>
                <a:path w="438150" h="9525">
                  <a:moveTo>
                    <a:pt x="0" y="0"/>
                  </a:moveTo>
                  <a:lnTo>
                    <a:pt x="438150" y="0"/>
                  </a:lnTo>
                </a:path>
              </a:pathLst>
            </a:custGeom>
            <a:noFill/>
            <a:ln w="12382" cap="rnd">
              <a:solidFill>
                <a:srgbClr val="F4C24C"/>
              </a:solidFill>
              <a:custDash>
                <a:ds d="230769" sp="230769"/>
              </a:custDash>
            </a:ln>
          </p:spPr>
        </p:sp>
        <p:sp>
          <p:nvSpPr>
            <p:cNvPr id="36" name="Ellipse 36"/>
            <p:cNvSpPr/>
            <p:nvPr/>
          </p:nvSpPr>
          <p:spPr>
            <a:xfrm>
              <a:off x="5520690" y="3729990"/>
              <a:ext cx="45720" cy="45720"/>
            </a:xfrm>
            <a:prstGeom prst="ellipse">
              <a:avLst/>
            </a:prstGeom>
            <a:solidFill>
              <a:srgbClr val="F4C24C"/>
            </a:solidFill>
            <a:ln>
              <a:noFill/>
            </a:ln>
          </p:spPr>
        </p:sp>
        <p:sp>
          <p:nvSpPr>
            <p:cNvPr id="37" name="Line 37"/>
            <p:cNvSpPr/>
            <p:nvPr/>
          </p:nvSpPr>
          <p:spPr>
            <a:xfrm>
              <a:off x="5105400" y="3752850"/>
              <a:ext cx="309819" cy="309819"/>
            </a:xfrm>
            <a:custGeom>
              <a:avLst/>
              <a:gdLst/>
              <a:ahLst/>
              <a:cxnLst/>
              <a:rect l="l" t="t" r="r" b="b"/>
              <a:pathLst>
                <a:path w="309819" h="309819">
                  <a:moveTo>
                    <a:pt x="0" y="0"/>
                  </a:moveTo>
                  <a:lnTo>
                    <a:pt x="309819" y="309819"/>
                  </a:lnTo>
                </a:path>
              </a:pathLst>
            </a:custGeom>
            <a:noFill/>
            <a:ln w="12382" cap="rnd">
              <a:solidFill>
                <a:srgbClr val="F4C24C"/>
              </a:solidFill>
              <a:custDash>
                <a:ds d="230769" sp="230769"/>
              </a:custDash>
            </a:ln>
          </p:spPr>
        </p:sp>
        <p:sp>
          <p:nvSpPr>
            <p:cNvPr id="38" name="Ellipse 38"/>
            <p:cNvSpPr/>
            <p:nvPr/>
          </p:nvSpPr>
          <p:spPr>
            <a:xfrm>
              <a:off x="5392359" y="4039809"/>
              <a:ext cx="45720" cy="45720"/>
            </a:xfrm>
            <a:prstGeom prst="ellipse">
              <a:avLst/>
            </a:prstGeom>
            <a:solidFill>
              <a:srgbClr val="F4C24C"/>
            </a:solidFill>
            <a:ln>
              <a:noFill/>
            </a:ln>
          </p:spPr>
        </p:sp>
        <p:sp>
          <p:nvSpPr>
            <p:cNvPr id="39" name="Line 39"/>
            <p:cNvSpPr/>
            <p:nvPr/>
          </p:nvSpPr>
          <p:spPr>
            <a:xfrm>
              <a:off x="5105400" y="3752850"/>
              <a:ext cx="9525" cy="438150"/>
            </a:xfrm>
            <a:custGeom>
              <a:avLst/>
              <a:gdLst/>
              <a:ahLst/>
              <a:cxnLst/>
              <a:rect l="l" t="t" r="r" b="b"/>
              <a:pathLst>
                <a:path w="9525" h="438150">
                  <a:moveTo>
                    <a:pt x="0" y="0"/>
                  </a:moveTo>
                  <a:lnTo>
                    <a:pt x="0" y="438150"/>
                  </a:lnTo>
                </a:path>
              </a:pathLst>
            </a:custGeom>
            <a:noFill/>
            <a:ln w="12382" cap="rnd">
              <a:solidFill>
                <a:srgbClr val="F4C24C"/>
              </a:solidFill>
              <a:custDash>
                <a:ds d="230769" sp="230769"/>
              </a:custDash>
            </a:ln>
          </p:spPr>
        </p:sp>
        <p:sp>
          <p:nvSpPr>
            <p:cNvPr id="40" name="Ellipse 40"/>
            <p:cNvSpPr/>
            <p:nvPr/>
          </p:nvSpPr>
          <p:spPr>
            <a:xfrm>
              <a:off x="5082540" y="4168140"/>
              <a:ext cx="45720" cy="45720"/>
            </a:xfrm>
            <a:prstGeom prst="ellipse">
              <a:avLst/>
            </a:prstGeom>
            <a:solidFill>
              <a:srgbClr val="F4C24C"/>
            </a:solidFill>
            <a:ln>
              <a:noFill/>
            </a:ln>
          </p:spPr>
        </p:sp>
        <p:sp>
          <p:nvSpPr>
            <p:cNvPr id="41" name="Line 41"/>
            <p:cNvSpPr/>
            <p:nvPr/>
          </p:nvSpPr>
          <p:spPr>
            <a:xfrm>
              <a:off x="4795581" y="3752850"/>
              <a:ext cx="309819" cy="309819"/>
            </a:xfrm>
            <a:custGeom>
              <a:avLst/>
              <a:gdLst/>
              <a:ahLst/>
              <a:cxnLst/>
              <a:rect l="l" t="t" r="r" b="b"/>
              <a:pathLst>
                <a:path w="309819" h="309819">
                  <a:moveTo>
                    <a:pt x="309819" y="0"/>
                  </a:moveTo>
                  <a:lnTo>
                    <a:pt x="0" y="309819"/>
                  </a:lnTo>
                </a:path>
              </a:pathLst>
            </a:custGeom>
            <a:noFill/>
            <a:ln w="12382" cap="rnd">
              <a:solidFill>
                <a:srgbClr val="F4C24C"/>
              </a:solidFill>
              <a:custDash>
                <a:ds d="230769" sp="230769"/>
              </a:custDash>
            </a:ln>
          </p:spPr>
        </p:sp>
        <p:sp>
          <p:nvSpPr>
            <p:cNvPr id="42" name="Ellipse 42"/>
            <p:cNvSpPr/>
            <p:nvPr/>
          </p:nvSpPr>
          <p:spPr>
            <a:xfrm>
              <a:off x="4772721" y="4039809"/>
              <a:ext cx="45720" cy="45720"/>
            </a:xfrm>
            <a:prstGeom prst="ellipse">
              <a:avLst/>
            </a:prstGeom>
            <a:solidFill>
              <a:srgbClr val="F4C24C"/>
            </a:solidFill>
            <a:ln>
              <a:noFill/>
            </a:ln>
          </p:spPr>
        </p:sp>
        <p:sp>
          <p:nvSpPr>
            <p:cNvPr id="43" name="Line 43"/>
            <p:cNvSpPr/>
            <p:nvPr/>
          </p:nvSpPr>
          <p:spPr>
            <a:xfrm>
              <a:off x="4667250" y="3752850"/>
              <a:ext cx="438150" cy="9525"/>
            </a:xfrm>
            <a:custGeom>
              <a:avLst/>
              <a:gdLst/>
              <a:ahLst/>
              <a:cxnLst/>
              <a:rect l="l" t="t" r="r" b="b"/>
              <a:pathLst>
                <a:path w="438150" h="9525">
                  <a:moveTo>
                    <a:pt x="438150" y="0"/>
                  </a:moveTo>
                  <a:lnTo>
                    <a:pt x="0" y="0"/>
                  </a:lnTo>
                </a:path>
              </a:pathLst>
            </a:custGeom>
            <a:noFill/>
            <a:ln w="12382" cap="rnd">
              <a:solidFill>
                <a:srgbClr val="F4C24C"/>
              </a:solidFill>
              <a:custDash>
                <a:ds d="230769" sp="230769"/>
              </a:custDash>
            </a:ln>
          </p:spPr>
        </p:sp>
        <p:sp>
          <p:nvSpPr>
            <p:cNvPr id="44" name="Ellipse 44"/>
            <p:cNvSpPr/>
            <p:nvPr/>
          </p:nvSpPr>
          <p:spPr>
            <a:xfrm>
              <a:off x="4644390" y="3729990"/>
              <a:ext cx="45720" cy="45720"/>
            </a:xfrm>
            <a:prstGeom prst="ellipse">
              <a:avLst/>
            </a:prstGeom>
            <a:solidFill>
              <a:srgbClr val="F4C24C"/>
            </a:solidFill>
            <a:ln>
              <a:noFill/>
            </a:ln>
          </p:spPr>
        </p:sp>
        <p:sp>
          <p:nvSpPr>
            <p:cNvPr id="45" name="Line 45"/>
            <p:cNvSpPr/>
            <p:nvPr/>
          </p:nvSpPr>
          <p:spPr>
            <a:xfrm>
              <a:off x="4795581" y="3443031"/>
              <a:ext cx="309819" cy="309819"/>
            </a:xfrm>
            <a:custGeom>
              <a:avLst/>
              <a:gdLst/>
              <a:ahLst/>
              <a:cxnLst/>
              <a:rect l="l" t="t" r="r" b="b"/>
              <a:pathLst>
                <a:path w="309819" h="309819">
                  <a:moveTo>
                    <a:pt x="309819" y="309819"/>
                  </a:moveTo>
                  <a:lnTo>
                    <a:pt x="0" y="0"/>
                  </a:lnTo>
                </a:path>
              </a:pathLst>
            </a:custGeom>
            <a:noFill/>
            <a:ln w="12382" cap="rnd">
              <a:solidFill>
                <a:srgbClr val="F4C24C"/>
              </a:solidFill>
              <a:custDash>
                <a:ds d="230769" sp="230769"/>
              </a:custDash>
            </a:ln>
          </p:spPr>
        </p:sp>
        <p:sp>
          <p:nvSpPr>
            <p:cNvPr id="46" name="Ellipse 46"/>
            <p:cNvSpPr/>
            <p:nvPr/>
          </p:nvSpPr>
          <p:spPr>
            <a:xfrm>
              <a:off x="4772721" y="3420171"/>
              <a:ext cx="45720" cy="45720"/>
            </a:xfrm>
            <a:prstGeom prst="ellipse">
              <a:avLst/>
            </a:prstGeom>
            <a:solidFill>
              <a:srgbClr val="F4C24C"/>
            </a:solidFill>
            <a:ln>
              <a:noFill/>
            </a:ln>
          </p:spPr>
        </p:sp>
        <p:sp>
          <p:nvSpPr>
            <p:cNvPr id="47" name="Line 47"/>
            <p:cNvSpPr/>
            <p:nvPr/>
          </p:nvSpPr>
          <p:spPr>
            <a:xfrm>
              <a:off x="5105400" y="3314700"/>
              <a:ext cx="9525" cy="438150"/>
            </a:xfrm>
            <a:custGeom>
              <a:avLst/>
              <a:gdLst/>
              <a:ahLst/>
              <a:cxnLst/>
              <a:rect l="l" t="t" r="r" b="b"/>
              <a:pathLst>
                <a:path w="9525" h="438150">
                  <a:moveTo>
                    <a:pt x="0" y="438150"/>
                  </a:moveTo>
                  <a:lnTo>
                    <a:pt x="0" y="0"/>
                  </a:lnTo>
                </a:path>
              </a:pathLst>
            </a:custGeom>
            <a:noFill/>
            <a:ln w="12382" cap="rnd">
              <a:solidFill>
                <a:srgbClr val="F4C24C"/>
              </a:solidFill>
              <a:custDash>
                <a:ds d="230769" sp="230769"/>
              </a:custDash>
            </a:ln>
          </p:spPr>
        </p:sp>
        <p:sp>
          <p:nvSpPr>
            <p:cNvPr id="48" name="Ellipse 48"/>
            <p:cNvSpPr/>
            <p:nvPr/>
          </p:nvSpPr>
          <p:spPr>
            <a:xfrm>
              <a:off x="5082540" y="3291840"/>
              <a:ext cx="45720" cy="45720"/>
            </a:xfrm>
            <a:prstGeom prst="ellipse">
              <a:avLst/>
            </a:prstGeom>
            <a:solidFill>
              <a:srgbClr val="F4C24C"/>
            </a:solidFill>
            <a:ln>
              <a:noFill/>
            </a:ln>
          </p:spPr>
        </p:sp>
        <p:sp>
          <p:nvSpPr>
            <p:cNvPr id="49" name="Line 49"/>
            <p:cNvSpPr/>
            <p:nvPr/>
          </p:nvSpPr>
          <p:spPr>
            <a:xfrm>
              <a:off x="5105400" y="3443031"/>
              <a:ext cx="309819" cy="309819"/>
            </a:xfrm>
            <a:custGeom>
              <a:avLst/>
              <a:gdLst/>
              <a:ahLst/>
              <a:cxnLst/>
              <a:rect l="l" t="t" r="r" b="b"/>
              <a:pathLst>
                <a:path w="309819" h="309819">
                  <a:moveTo>
                    <a:pt x="0" y="309819"/>
                  </a:moveTo>
                  <a:lnTo>
                    <a:pt x="309819" y="0"/>
                  </a:lnTo>
                </a:path>
              </a:pathLst>
            </a:custGeom>
            <a:noFill/>
            <a:ln w="12382" cap="rnd">
              <a:solidFill>
                <a:srgbClr val="F4C24C"/>
              </a:solidFill>
              <a:custDash>
                <a:ds d="230769" sp="230769"/>
              </a:custDash>
            </a:ln>
          </p:spPr>
        </p:sp>
        <p:sp>
          <p:nvSpPr>
            <p:cNvPr id="50" name="Ellipse 50"/>
            <p:cNvSpPr/>
            <p:nvPr/>
          </p:nvSpPr>
          <p:spPr>
            <a:xfrm>
              <a:off x="5392359" y="3420171"/>
              <a:ext cx="45720" cy="45720"/>
            </a:xfrm>
            <a:prstGeom prst="ellipse">
              <a:avLst/>
            </a:prstGeom>
            <a:solidFill>
              <a:srgbClr val="F4C24C"/>
            </a:solidFill>
            <a:ln>
              <a:noFill/>
            </a:ln>
          </p:spPr>
        </p:sp>
        <p:sp>
          <p:nvSpPr>
            <p:cNvPr id="51" name="Ellipse 51"/>
            <p:cNvSpPr/>
            <p:nvPr/>
          </p:nvSpPr>
          <p:spPr>
            <a:xfrm>
              <a:off x="5038725" y="3686175"/>
              <a:ext cx="133350" cy="133350"/>
            </a:xfrm>
            <a:prstGeom prst="ellipse">
              <a:avLst/>
            </a:prstGeom>
            <a:solidFill>
              <a:schemeClr val="accent2"/>
            </a:solidFill>
            <a:ln>
              <a:noFill/>
            </a:ln>
          </p:spPr>
        </p:sp>
        <p:sp>
          <p:nvSpPr>
            <p:cNvPr id="52" name="TextBox 52"/>
            <p:cNvSpPr txBox="1"/>
            <p:nvPr/>
          </p:nvSpPr>
          <p:spPr>
            <a:xfrm>
              <a:off x="4938967" y="4262438"/>
              <a:ext cx="332865"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8 rays</a:t>
              </a:r>
            </a:p>
          </p:txBody>
        </p:sp>
      </p:grpSp>
      <p:grpSp>
        <p:nvGrpSpPr>
          <p:cNvPr id="60" name="Group 60"/>
          <p:cNvGrpSpPr/>
          <p:nvPr/>
        </p:nvGrpSpPr>
        <p:grpSpPr>
          <a:xfrm>
            <a:off x="6248400" y="3086100"/>
            <a:ext cx="5334000" cy="1333500"/>
            <a:chOff x="6248400" y="3086100"/>
            <a:chExt cx="5334000" cy="1333500"/>
          </a:xfrm>
        </p:grpSpPr>
        <p:sp>
          <p:nvSpPr>
            <p:cNvPr id="54" name="Rectangle 54"/>
            <p:cNvSpPr/>
            <p:nvPr/>
          </p:nvSpPr>
          <p:spPr>
            <a:xfrm>
              <a:off x="6248400" y="3086100"/>
              <a:ext cx="5334000" cy="1333500"/>
            </a:xfrm>
            <a:prstGeom prst="roundRect">
              <a:avLst>
                <a:gd name="adj" fmla="val 10000"/>
              </a:avLst>
            </a:prstGeom>
            <a:solidFill>
              <a:srgbClr val="2A2417"/>
            </a:solidFill>
            <a:ln w="14288">
              <a:solidFill>
                <a:srgbClr val="F4C24C"/>
              </a:solidFill>
            </a:ln>
          </p:spPr>
        </p:sp>
        <p:sp>
          <p:nvSpPr>
            <p:cNvPr id="55" name="Rectangle 55"/>
            <p:cNvSpPr/>
            <p:nvPr/>
          </p:nvSpPr>
          <p:spPr>
            <a:xfrm>
              <a:off x="6248400" y="3086100"/>
              <a:ext cx="57150" cy="1333500"/>
            </a:xfrm>
            <a:prstGeom prst="roundRect">
              <a:avLst>
                <a:gd name="adj" fmla="val 50000"/>
              </a:avLst>
            </a:prstGeom>
            <a:solidFill>
              <a:srgbClr val="F4C24C"/>
            </a:solidFill>
            <a:ln>
              <a:noFill/>
            </a:ln>
          </p:spPr>
        </p:sp>
        <p:sp>
          <p:nvSpPr>
            <p:cNvPr id="56" name="TextBox 56"/>
            <p:cNvSpPr txBox="1"/>
            <p:nvPr/>
          </p:nvSpPr>
          <p:spPr>
            <a:xfrm>
              <a:off x="6509194" y="3303508"/>
              <a:ext cx="2370530"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Random obstacles, 8 variants</a:t>
              </a:r>
            </a:p>
          </p:txBody>
        </p:sp>
        <p:sp>
          <p:nvSpPr>
            <p:cNvPr id="57" name="TextBox 57"/>
            <p:cNvSpPr txBox="1"/>
            <p:nvPr/>
          </p:nvSpPr>
          <p:spPr>
            <a:xfrm>
              <a:off x="6510147" y="3590449"/>
              <a:ext cx="3886365"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Rectangular obstacles are randomly dropped on the path and</a:t>
              </a:r>
            </a:p>
          </p:txBody>
        </p:sp>
        <p:sp>
          <p:nvSpPr>
            <p:cNvPr id="58" name="TextBox 58"/>
            <p:cNvSpPr txBox="1"/>
            <p:nvPr/>
          </p:nvSpPr>
          <p:spPr>
            <a:xfrm>
              <a:off x="6510147" y="3771424"/>
              <a:ext cx="363587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often absent from the demo, so blind replay fails. Eight</a:t>
              </a:r>
            </a:p>
          </p:txBody>
        </p:sp>
        <p:sp>
          <p:nvSpPr>
            <p:cNvPr id="59" name="TextBox 59"/>
            <p:cNvSpPr txBox="1"/>
            <p:nvPr/>
          </p:nvSpPr>
          <p:spPr>
            <a:xfrm>
              <a:off x="6510147" y="3952399"/>
              <a:ext cx="413264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variants vary single vs many maps, obstacles, and coordinates.</a:t>
              </a:r>
            </a:p>
          </p:txBody>
        </p:sp>
      </p:grpSp>
      <p:grpSp>
        <p:nvGrpSpPr>
          <p:cNvPr id="80" name="Group 80"/>
          <p:cNvGrpSpPr/>
          <p:nvPr/>
        </p:nvGrpSpPr>
        <p:grpSpPr>
          <a:xfrm>
            <a:off x="609600" y="4572000"/>
            <a:ext cx="10972800" cy="666750"/>
            <a:chOff x="609600" y="4572000"/>
            <a:chExt cx="10972800" cy="666750"/>
          </a:xfrm>
        </p:grpSpPr>
        <p:sp>
          <p:nvSpPr>
            <p:cNvPr id="61" name="Rectangle 61"/>
            <p:cNvSpPr/>
            <p:nvPr/>
          </p:nvSpPr>
          <p:spPr>
            <a:xfrm>
              <a:off x="609600" y="4572000"/>
              <a:ext cx="10972800" cy="666750"/>
            </a:xfrm>
            <a:prstGeom prst="roundRect">
              <a:avLst>
                <a:gd name="adj" fmla="val 20000"/>
              </a:avLst>
            </a:prstGeom>
            <a:solidFill>
              <a:srgbClr val="0F2E2B"/>
            </a:solidFill>
            <a:ln w="14288">
              <a:solidFill>
                <a:srgbClr val="46C98B"/>
              </a:solidFill>
            </a:ln>
          </p:spPr>
        </p:sp>
        <p:sp>
          <p:nvSpPr>
            <p:cNvPr id="62" name="Rectangle 62"/>
            <p:cNvSpPr/>
            <p:nvPr/>
          </p:nvSpPr>
          <p:spPr>
            <a:xfrm>
              <a:off x="609600" y="4572000"/>
              <a:ext cx="57150" cy="666750"/>
            </a:xfrm>
            <a:prstGeom prst="roundRect">
              <a:avLst>
                <a:gd name="adj" fmla="val 50000"/>
              </a:avLst>
            </a:prstGeom>
            <a:solidFill>
              <a:srgbClr val="46C98B"/>
            </a:solidFill>
            <a:ln>
              <a:noFill/>
            </a:ln>
          </p:spPr>
        </p:sp>
        <p:sp>
          <p:nvSpPr>
            <p:cNvPr id="63" name="TextBox 63"/>
            <p:cNvSpPr txBox="1"/>
            <p:nvPr/>
          </p:nvSpPr>
          <p:spPr>
            <a:xfrm>
              <a:off x="870394" y="4751308"/>
              <a:ext cx="1843809"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Beyond VPAM: robotics</a:t>
              </a:r>
            </a:p>
          </p:txBody>
        </p:sp>
        <p:sp>
          <p:nvSpPr>
            <p:cNvPr id="64" name="Rectangle 64"/>
            <p:cNvSpPr/>
            <p:nvPr/>
          </p:nvSpPr>
          <p:spPr>
            <a:xfrm>
              <a:off x="3429000" y="4629150"/>
              <a:ext cx="1938338" cy="571500"/>
            </a:xfrm>
            <a:prstGeom prst="roundRect">
              <a:avLst>
                <a:gd name="adj" fmla="val 16667"/>
              </a:avLst>
            </a:prstGeom>
            <a:solidFill>
              <a:schemeClr val="accent6"/>
            </a:solidFill>
            <a:ln w="14288">
              <a:solidFill>
                <a:schemeClr val="accent2"/>
              </a:solidFill>
            </a:ln>
          </p:spPr>
        </p:sp>
        <p:sp>
          <p:nvSpPr>
            <p:cNvPr id="65" name="Rectangle 65"/>
            <p:cNvSpPr/>
            <p:nvPr/>
          </p:nvSpPr>
          <p:spPr>
            <a:xfrm>
              <a:off x="3429000" y="4629150"/>
              <a:ext cx="1938338" cy="47625"/>
            </a:xfrm>
            <a:prstGeom prst="roundRect">
              <a:avLst>
                <a:gd name="adj" fmla="val 50000"/>
              </a:avLst>
            </a:prstGeom>
            <a:solidFill>
              <a:schemeClr val="accent2"/>
            </a:solidFill>
            <a:ln>
              <a:noFill/>
            </a:ln>
          </p:spPr>
        </p:sp>
        <p:sp>
          <p:nvSpPr>
            <p:cNvPr id="66" name="TextBox 66"/>
            <p:cNvSpPr txBox="1"/>
            <p:nvPr/>
          </p:nvSpPr>
          <p:spPr>
            <a:xfrm>
              <a:off x="3951914" y="4816554"/>
              <a:ext cx="892509"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Meta-World</a:t>
              </a:r>
            </a:p>
          </p:txBody>
        </p:sp>
        <p:sp>
          <p:nvSpPr>
            <p:cNvPr id="67" name="TextBox 67"/>
            <p:cNvSpPr txBox="1"/>
            <p:nvPr/>
          </p:nvSpPr>
          <p:spPr>
            <a:xfrm>
              <a:off x="4008013" y="5016341"/>
              <a:ext cx="78031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 disturbance</a:t>
              </a:r>
            </a:p>
          </p:txBody>
        </p:sp>
        <p:sp>
          <p:nvSpPr>
            <p:cNvPr id="68" name="Rectangle 68"/>
            <p:cNvSpPr/>
            <p:nvPr/>
          </p:nvSpPr>
          <p:spPr>
            <a:xfrm>
              <a:off x="5500688" y="4629150"/>
              <a:ext cx="1938338" cy="571500"/>
            </a:xfrm>
            <a:prstGeom prst="roundRect">
              <a:avLst>
                <a:gd name="adj" fmla="val 16667"/>
              </a:avLst>
            </a:prstGeom>
            <a:solidFill>
              <a:schemeClr val="accent6"/>
            </a:solidFill>
            <a:ln w="14288">
              <a:solidFill>
                <a:srgbClr val="33D6C0"/>
              </a:solidFill>
            </a:ln>
          </p:spPr>
        </p:sp>
        <p:sp>
          <p:nvSpPr>
            <p:cNvPr id="69" name="Rectangle 69"/>
            <p:cNvSpPr/>
            <p:nvPr/>
          </p:nvSpPr>
          <p:spPr>
            <a:xfrm>
              <a:off x="5500688" y="4629150"/>
              <a:ext cx="1938338" cy="47625"/>
            </a:xfrm>
            <a:prstGeom prst="roundRect">
              <a:avLst>
                <a:gd name="adj" fmla="val 50000"/>
              </a:avLst>
            </a:prstGeom>
            <a:solidFill>
              <a:srgbClr val="33D6C0"/>
            </a:solidFill>
            <a:ln>
              <a:noFill/>
            </a:ln>
          </p:spPr>
        </p:sp>
        <p:sp>
          <p:nvSpPr>
            <p:cNvPr id="70" name="TextBox 70"/>
            <p:cNvSpPr txBox="1"/>
            <p:nvPr/>
          </p:nvSpPr>
          <p:spPr>
            <a:xfrm>
              <a:off x="6165344" y="4816554"/>
              <a:ext cx="60902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Reacher</a:t>
              </a:r>
            </a:p>
          </p:txBody>
        </p:sp>
        <p:sp>
          <p:nvSpPr>
            <p:cNvPr id="71" name="TextBox 71"/>
            <p:cNvSpPr txBox="1"/>
            <p:nvPr/>
          </p:nvSpPr>
          <p:spPr>
            <a:xfrm>
              <a:off x="6167670" y="5016341"/>
              <a:ext cx="6043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Gymnasium</a:t>
              </a:r>
            </a:p>
          </p:txBody>
        </p:sp>
        <p:sp>
          <p:nvSpPr>
            <p:cNvPr id="72" name="Rectangle 72"/>
            <p:cNvSpPr/>
            <p:nvPr/>
          </p:nvSpPr>
          <p:spPr>
            <a:xfrm>
              <a:off x="7572375" y="4629150"/>
              <a:ext cx="1938338" cy="571500"/>
            </a:xfrm>
            <a:prstGeom prst="roundRect">
              <a:avLst>
                <a:gd name="adj" fmla="val 16667"/>
              </a:avLst>
            </a:prstGeom>
            <a:solidFill>
              <a:schemeClr val="accent6"/>
            </a:solidFill>
            <a:ln w="14288">
              <a:solidFill>
                <a:srgbClr val="F4C24C"/>
              </a:solidFill>
            </a:ln>
          </p:spPr>
        </p:sp>
        <p:sp>
          <p:nvSpPr>
            <p:cNvPr id="73" name="Rectangle 73"/>
            <p:cNvSpPr/>
            <p:nvPr/>
          </p:nvSpPr>
          <p:spPr>
            <a:xfrm>
              <a:off x="7572375" y="4629150"/>
              <a:ext cx="1938338" cy="47625"/>
            </a:xfrm>
            <a:prstGeom prst="roundRect">
              <a:avLst>
                <a:gd name="adj" fmla="val 50000"/>
              </a:avLst>
            </a:prstGeom>
            <a:solidFill>
              <a:srgbClr val="F4C24C"/>
            </a:solidFill>
            <a:ln>
              <a:noFill/>
            </a:ln>
          </p:spPr>
        </p:sp>
        <p:sp>
          <p:nvSpPr>
            <p:cNvPr id="74" name="TextBox 74"/>
            <p:cNvSpPr txBox="1"/>
            <p:nvPr/>
          </p:nvSpPr>
          <p:spPr>
            <a:xfrm>
              <a:off x="8279401" y="4816554"/>
              <a:ext cx="524285"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Pusher</a:t>
              </a:r>
            </a:p>
          </p:txBody>
        </p:sp>
        <p:sp>
          <p:nvSpPr>
            <p:cNvPr id="75" name="TextBox 75"/>
            <p:cNvSpPr txBox="1"/>
            <p:nvPr/>
          </p:nvSpPr>
          <p:spPr>
            <a:xfrm>
              <a:off x="8239357" y="5016341"/>
              <a:ext cx="6043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Gymnasium</a:t>
              </a:r>
            </a:p>
          </p:txBody>
        </p:sp>
        <p:sp>
          <p:nvSpPr>
            <p:cNvPr id="76" name="Rectangle 76"/>
            <p:cNvSpPr/>
            <p:nvPr/>
          </p:nvSpPr>
          <p:spPr>
            <a:xfrm>
              <a:off x="9644062" y="4629150"/>
              <a:ext cx="1938338" cy="571500"/>
            </a:xfrm>
            <a:prstGeom prst="roundRect">
              <a:avLst>
                <a:gd name="adj" fmla="val 16667"/>
              </a:avLst>
            </a:prstGeom>
            <a:solidFill>
              <a:schemeClr val="accent6"/>
            </a:solidFill>
            <a:ln w="14288">
              <a:solidFill>
                <a:srgbClr val="F2685C"/>
              </a:solidFill>
            </a:ln>
          </p:spPr>
        </p:sp>
        <p:sp>
          <p:nvSpPr>
            <p:cNvPr id="77" name="Rectangle 77"/>
            <p:cNvSpPr/>
            <p:nvPr/>
          </p:nvSpPr>
          <p:spPr>
            <a:xfrm>
              <a:off x="9644062" y="4629150"/>
              <a:ext cx="1938338" cy="47625"/>
            </a:xfrm>
            <a:prstGeom prst="roundRect">
              <a:avLst>
                <a:gd name="adj" fmla="val 50000"/>
              </a:avLst>
            </a:prstGeom>
            <a:solidFill>
              <a:srgbClr val="F2685C"/>
            </a:solidFill>
            <a:ln>
              <a:noFill/>
            </a:ln>
          </p:spPr>
        </p:sp>
        <p:sp>
          <p:nvSpPr>
            <p:cNvPr id="78" name="TextBox 78"/>
            <p:cNvSpPr txBox="1"/>
            <p:nvPr/>
          </p:nvSpPr>
          <p:spPr>
            <a:xfrm>
              <a:off x="10056217" y="4816554"/>
              <a:ext cx="1114029"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mn-lt"/>
                  <a:ea typeface="+mn-ea"/>
                  <a:cs typeface="+mn-cs"/>
                </a:rPr>
                <a:t>MuJoCo manip.</a:t>
              </a:r>
            </a:p>
          </p:txBody>
        </p:sp>
        <p:sp>
          <p:nvSpPr>
            <p:cNvPr id="79" name="TextBox 79"/>
            <p:cNvSpPr txBox="1"/>
            <p:nvPr/>
          </p:nvSpPr>
          <p:spPr>
            <a:xfrm>
              <a:off x="10257848" y="5016341"/>
              <a:ext cx="710767"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grasp/stack</a:t>
              </a:r>
            </a:p>
          </p:txBody>
        </p:sp>
      </p:grpSp>
      <p:sp>
        <p:nvSpPr>
          <p:cNvPr id="81" name="cue_s06_c1_test_one_shot_imitation_under_unfore" title="cue_s06_c1_test_one_shot_imitation_under_unfore" descr="cue_s06_c1_test_one_shot_imitation_under_unfore To test one-shot imitation under unforeseen change, the authors created a benchmark called Valet Parking Assist in Maze, or VPAM, inspired by real-world valet parking."/>
          <p:cNvSpPr/>
          <p:nvPr/>
        </p:nvSpPr>
        <p:spPr>
          <a:xfrm>
            <a:off x="609600" y="150464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ue_s06_c2_point_agent_must_reach_target" title="cue_s06_c2_point_agent_must_reach_target" descr="cue_s06_c2_point_agent_must_reach_target In it, a point agent must reach a target in a maze it has never seen globally, relying only on short local views computed from eight rays."/>
          <p:cNvSpPr/>
          <p:nvPr/>
        </p:nvSpPr>
        <p:spPr>
          <a:xfrm>
            <a:off x="609600" y="308610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ue_s06_c3_crucially_rectangular_obstacles_rand" title="cue_s06_c3_crucially_rectangular_obstacles_rand" descr="cue_s06_c3_crucially_rectangular_obstacles_rand Crucially, rectangular obstacles are randomly placed on the path and often did not exist in the demonstration, so the agent cannot blindly replay demonstrated actions. Eight task variants change whether it is a single map or many, whether obstacles are present"/>
          <p:cNvSpPr/>
          <p:nvPr/>
        </p:nvSpPr>
        <p:spPr>
          <a:xfrm>
            <a:off x="6248399" y="308610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ue_s06_c4_beyond_vpam_ddt_also_applied" title="cue_s06_c4_beyond_vpam_ddt_also_applied" descr="cue_s06_c4_beyond_vpam_ddt_also_applied Beyond VPAM, DDT is also applied to robotics benchmarks including Meta-World with added disturbances, Gymnasium's Reacher and Pusher, and a MuJoCo manipulation task involving grasping, stacking, and cluttered environments."/>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43815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DDT leads, and stays robust</a:t>
            </a:r>
          </a:p>
        </p:txBody>
      </p:sp>
      <p:grpSp>
        <p:nvGrpSpPr>
          <p:cNvPr id="32" name="Group 32"/>
          <p:cNvGrpSpPr/>
          <p:nvPr/>
        </p:nvGrpSpPr>
        <p:grpSpPr>
          <a:xfrm>
            <a:off x="609600" y="1504950"/>
            <a:ext cx="10972800" cy="1543050"/>
            <a:chOff x="609600" y="1504950"/>
            <a:chExt cx="10972800" cy="1543050"/>
          </a:xfrm>
        </p:grpSpPr>
        <p:sp>
          <p:nvSpPr>
            <p:cNvPr id="5" name="Rectangle 5"/>
            <p:cNvSpPr/>
            <p:nvPr/>
          </p:nvSpPr>
          <p:spPr>
            <a:xfrm>
              <a:off x="609600" y="1504950"/>
              <a:ext cx="10972800" cy="1543050"/>
            </a:xfrm>
            <a:prstGeom prst="roundRect">
              <a:avLst>
                <a:gd name="adj" fmla="val 8642"/>
              </a:avLst>
            </a:prstGeom>
            <a:solidFill>
              <a:srgbClr val="0F2E2B"/>
            </a:solidFill>
            <a:ln w="14288">
              <a:solidFill>
                <a:srgbClr val="46C98B"/>
              </a:solidFill>
            </a:ln>
          </p:spPr>
        </p:sp>
        <p:sp>
          <p:nvSpPr>
            <p:cNvPr id="6" name="Rectangle 6"/>
            <p:cNvSpPr/>
            <p:nvPr/>
          </p:nvSpPr>
          <p:spPr>
            <a:xfrm>
              <a:off x="609600" y="1504950"/>
              <a:ext cx="57150" cy="1543050"/>
            </a:xfrm>
            <a:prstGeom prst="roundRect">
              <a:avLst>
                <a:gd name="adj" fmla="val 50000"/>
              </a:avLst>
            </a:prstGeom>
            <a:solidFill>
              <a:srgbClr val="46C98B"/>
            </a:solidFill>
            <a:ln>
              <a:noFill/>
            </a:ln>
          </p:spPr>
        </p:sp>
        <p:sp>
          <p:nvSpPr>
            <p:cNvPr id="7" name="TextBox 7"/>
            <p:cNvSpPr txBox="1"/>
            <p:nvPr/>
          </p:nvSpPr>
          <p:spPr>
            <a:xfrm>
              <a:off x="870014" y="1733312"/>
              <a:ext cx="3161773"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Across VPAM, DDT consistently leads</a:t>
              </a:r>
            </a:p>
          </p:txBody>
        </p:sp>
        <p:sp>
          <p:nvSpPr>
            <p:cNvPr id="8" name="Rectangle 8"/>
            <p:cNvSpPr/>
            <p:nvPr/>
          </p:nvSpPr>
          <p:spPr>
            <a:xfrm>
              <a:off x="876300" y="2038350"/>
              <a:ext cx="4095750" cy="857250"/>
            </a:xfrm>
            <a:prstGeom prst="roundRect">
              <a:avLst>
                <a:gd name="adj" fmla="val 13333"/>
              </a:avLst>
            </a:prstGeom>
            <a:solidFill>
              <a:schemeClr val="accent6"/>
            </a:solidFill>
            <a:ln w="14288">
              <a:solidFill>
                <a:schemeClr val="accent4"/>
              </a:solidFill>
            </a:ln>
          </p:spPr>
        </p:sp>
        <p:sp>
          <p:nvSpPr>
            <p:cNvPr id="9" name="TextBox 9"/>
            <p:cNvSpPr txBox="1"/>
            <p:nvPr/>
          </p:nvSpPr>
          <p:spPr>
            <a:xfrm>
              <a:off x="1061847" y="2218849"/>
              <a:ext cx="303565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On every VPAM setting DDT tops the table, and</a:t>
              </a:r>
            </a:p>
          </p:txBody>
        </p:sp>
        <p:sp>
          <p:nvSpPr>
            <p:cNvPr id="10" name="TextBox 10"/>
            <p:cNvSpPr txBox="1"/>
            <p:nvPr/>
          </p:nvSpPr>
          <p:spPr>
            <a:xfrm>
              <a:off x="1061847" y="2409349"/>
              <a:ext cx="293210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its margin over the baselines grows precisely</a:t>
              </a:r>
            </a:p>
          </p:txBody>
        </p:sp>
        <p:sp>
          <p:nvSpPr>
            <p:cNvPr id="11" name="TextBox 11"/>
            <p:cNvSpPr txBox="1"/>
            <p:nvPr/>
          </p:nvSpPr>
          <p:spPr>
            <a:xfrm>
              <a:off x="1061847" y="2599849"/>
              <a:ext cx="276059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where it matters most - under unforeseen</a:t>
              </a:r>
            </a:p>
          </p:txBody>
        </p:sp>
        <p:sp>
          <p:nvSpPr>
            <p:cNvPr id="12" name="TextBox 12"/>
            <p:cNvSpPr txBox="1"/>
            <p:nvPr/>
          </p:nvSpPr>
          <p:spPr>
            <a:xfrm>
              <a:off x="1061847" y="2790349"/>
              <a:ext cx="70252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obstacles.</a:t>
              </a:r>
            </a:p>
          </p:txBody>
        </p:sp>
        <p:sp>
          <p:nvSpPr>
            <p:cNvPr id="13" name="Rectangle 13"/>
            <p:cNvSpPr/>
            <p:nvPr/>
          </p:nvSpPr>
          <p:spPr>
            <a:xfrm>
              <a:off x="5219700" y="2000250"/>
              <a:ext cx="6362700" cy="933450"/>
            </a:xfrm>
            <a:prstGeom prst="roundRect">
              <a:avLst>
                <a:gd name="adj" fmla="val 8163"/>
              </a:avLst>
            </a:prstGeom>
            <a:solidFill>
              <a:srgbClr val="0E223A"/>
            </a:solidFill>
            <a:ln w="14288">
              <a:solidFill>
                <a:schemeClr val="accent4"/>
              </a:solidFill>
            </a:ln>
          </p:spPr>
        </p:sp>
        <p:sp>
          <p:nvSpPr>
            <p:cNvPr id="14" name="TextBox 14"/>
            <p:cNvSpPr txBox="1"/>
            <p:nvPr/>
          </p:nvSpPr>
          <p:spPr>
            <a:xfrm>
              <a:off x="5348288" y="2097643"/>
              <a:ext cx="1770394" cy="169069"/>
            </a:xfrm>
            <a:prstGeom prst="rect">
              <a:avLst/>
            </a:prstGeom>
            <a:noFill/>
            <a:ln>
              <a:noFill/>
            </a:ln>
          </p:spPr>
          <p:txBody>
            <a:bodyPr wrap="none" lIns="0" tIns="0" rIns="0" bIns="0" anchor="t" anchorCtr="0">
              <a:spAutoFit/>
            </a:bodyPr>
            <a:lstStyle/>
            <a:p>
              <a:pPr algn="l"/>
              <a:r>
                <a:rPr lang="en-US" sz="860" b="1" dirty="0">
                  <a:solidFill>
                    <a:schemeClr val="dk1"/>
                  </a:solidFill>
                  <a:latin typeface="+mn-lt"/>
                  <a:ea typeface="+mn-ea"/>
                  <a:cs typeface="+mn-cs"/>
                </a:rPr>
                <a:t>VPAM success rate by setting</a:t>
              </a:r>
            </a:p>
          </p:txBody>
        </p:sp>
        <p:sp>
          <p:nvSpPr>
            <p:cNvPr id="15" name="Line 15"/>
            <p:cNvSpPr/>
            <p:nvPr/>
          </p:nvSpPr>
          <p:spPr>
            <a:xfrm>
              <a:off x="5600700" y="2647950"/>
              <a:ext cx="5848350" cy="9525"/>
            </a:xfrm>
            <a:custGeom>
              <a:avLst/>
              <a:gdLst/>
              <a:ahLst/>
              <a:cxnLst/>
              <a:rect l="l" t="t" r="r" b="b"/>
              <a:pathLst>
                <a:path w="5848350" h="9525">
                  <a:moveTo>
                    <a:pt x="0" y="0"/>
                  </a:moveTo>
                  <a:lnTo>
                    <a:pt x="5848350" y="0"/>
                  </a:lnTo>
                </a:path>
              </a:pathLst>
            </a:custGeom>
            <a:noFill/>
            <a:ln w="11430" cap="rnd">
              <a:solidFill>
                <a:schemeClr val="accent4"/>
              </a:solidFill>
            </a:ln>
          </p:spPr>
        </p:sp>
        <p:sp>
          <p:nvSpPr>
            <p:cNvPr id="16" name="Rectangle 16"/>
            <p:cNvSpPr/>
            <p:nvPr/>
          </p:nvSpPr>
          <p:spPr>
            <a:xfrm>
              <a:off x="5695950" y="2336673"/>
              <a:ext cx="1682750" cy="311277"/>
            </a:xfrm>
            <a:prstGeom prst="roundRect">
              <a:avLst>
                <a:gd name="adj" fmla="val 9180"/>
              </a:avLst>
            </a:prstGeom>
            <a:solidFill>
              <a:srgbClr val="46C98B"/>
            </a:solidFill>
            <a:ln>
              <a:noFill/>
            </a:ln>
          </p:spPr>
        </p:sp>
        <p:sp>
          <p:nvSpPr>
            <p:cNvPr id="17" name="TextBox 17"/>
            <p:cNvSpPr txBox="1"/>
            <p:nvPr/>
          </p:nvSpPr>
          <p:spPr>
            <a:xfrm>
              <a:off x="6422167" y="2212134"/>
              <a:ext cx="230315" cy="140494"/>
            </a:xfrm>
            <a:prstGeom prst="rect">
              <a:avLst/>
            </a:prstGeom>
            <a:noFill/>
            <a:ln>
              <a:noFill/>
            </a:ln>
          </p:spPr>
          <p:txBody>
            <a:bodyPr wrap="none" lIns="0" tIns="0" rIns="0" bIns="0" anchor="t" anchorCtr="0">
              <a:spAutoFit/>
            </a:bodyPr>
            <a:lstStyle/>
            <a:p>
              <a:pPr algn="ctr"/>
              <a:r>
                <a:rPr lang="en-US" sz="710" b="1" dirty="0">
                  <a:solidFill>
                    <a:srgbClr val="46C98B"/>
                  </a:solidFill>
                  <a:latin typeface="+mn-lt"/>
                  <a:ea typeface="+mn-ea"/>
                  <a:cs typeface="+mn-cs"/>
                </a:rPr>
                <a:t>0.86</a:t>
              </a:r>
            </a:p>
          </p:txBody>
        </p:sp>
        <p:sp>
          <p:nvSpPr>
            <p:cNvPr id="18" name="TextBox 18"/>
            <p:cNvSpPr txBox="1"/>
            <p:nvPr/>
          </p:nvSpPr>
          <p:spPr>
            <a:xfrm>
              <a:off x="6434998" y="2795588"/>
              <a:ext cx="242754" cy="147638"/>
            </a:xfrm>
            <a:prstGeom prst="rect">
              <a:avLst/>
            </a:prstGeom>
            <a:noFill/>
            <a:ln>
              <a:noFill/>
            </a:ln>
          </p:spPr>
          <p:txBody>
            <a:bodyPr wrap="none" lIns="0" tIns="0" rIns="0" bIns="0" anchor="t" anchorCtr="0">
              <a:spAutoFit/>
            </a:bodyPr>
            <a:lstStyle/>
            <a:p>
              <a:pPr algn="ctr"/>
              <a:r>
                <a:rPr lang="en-US" sz="750" b="1" dirty="0">
                  <a:solidFill>
                    <a:srgbClr val="6E869C"/>
                  </a:solidFill>
                  <a:latin typeface="+mn-lt"/>
                  <a:ea typeface="+mn-ea"/>
                  <a:cs typeface="+mn-cs"/>
                </a:rPr>
                <a:t>seen</a:t>
              </a:r>
            </a:p>
          </p:txBody>
        </p:sp>
        <p:sp>
          <p:nvSpPr>
            <p:cNvPr id="19" name="Rectangle 19"/>
            <p:cNvSpPr/>
            <p:nvPr/>
          </p:nvSpPr>
          <p:spPr>
            <a:xfrm>
              <a:off x="7645400" y="2343912"/>
              <a:ext cx="1682750" cy="304038"/>
            </a:xfrm>
            <a:prstGeom prst="roundRect">
              <a:avLst>
                <a:gd name="adj" fmla="val 9398"/>
              </a:avLst>
            </a:prstGeom>
            <a:solidFill>
              <a:srgbClr val="46C98B"/>
            </a:solidFill>
            <a:ln>
              <a:noFill/>
            </a:ln>
          </p:spPr>
        </p:sp>
        <p:sp>
          <p:nvSpPr>
            <p:cNvPr id="20" name="TextBox 20"/>
            <p:cNvSpPr txBox="1"/>
            <p:nvPr/>
          </p:nvSpPr>
          <p:spPr>
            <a:xfrm>
              <a:off x="8371617" y="2219373"/>
              <a:ext cx="230315" cy="140494"/>
            </a:xfrm>
            <a:prstGeom prst="rect">
              <a:avLst/>
            </a:prstGeom>
            <a:noFill/>
            <a:ln>
              <a:noFill/>
            </a:ln>
          </p:spPr>
          <p:txBody>
            <a:bodyPr wrap="none" lIns="0" tIns="0" rIns="0" bIns="0" anchor="t" anchorCtr="0">
              <a:spAutoFit/>
            </a:bodyPr>
            <a:lstStyle/>
            <a:p>
              <a:pPr algn="ctr"/>
              <a:r>
                <a:rPr lang="en-US" sz="710" b="1" dirty="0">
                  <a:solidFill>
                    <a:srgbClr val="46C98B"/>
                  </a:solidFill>
                  <a:latin typeface="+mn-lt"/>
                  <a:ea typeface="+mn-ea"/>
                  <a:cs typeface="+mn-cs"/>
                </a:rPr>
                <a:t>0.84</a:t>
              </a:r>
            </a:p>
          </p:txBody>
        </p:sp>
        <p:sp>
          <p:nvSpPr>
            <p:cNvPr id="21" name="TextBox 21"/>
            <p:cNvSpPr txBox="1"/>
            <p:nvPr/>
          </p:nvSpPr>
          <p:spPr>
            <a:xfrm>
              <a:off x="8296987" y="2795588"/>
              <a:ext cx="417676" cy="147638"/>
            </a:xfrm>
            <a:prstGeom prst="rect">
              <a:avLst/>
            </a:prstGeom>
            <a:noFill/>
            <a:ln>
              <a:noFill/>
            </a:ln>
          </p:spPr>
          <p:txBody>
            <a:bodyPr wrap="none" lIns="0" tIns="0" rIns="0" bIns="0" anchor="t" anchorCtr="0">
              <a:spAutoFit/>
            </a:bodyPr>
            <a:lstStyle/>
            <a:p>
              <a:pPr algn="ctr"/>
              <a:r>
                <a:rPr lang="en-US" sz="750" b="1" dirty="0">
                  <a:solidFill>
                    <a:srgbClr val="6E869C"/>
                  </a:solidFill>
                  <a:latin typeface="+mn-lt"/>
                  <a:ea typeface="+mn-ea"/>
                  <a:cs typeface="+mn-cs"/>
                </a:rPr>
                <a:t>no-obst</a:t>
              </a:r>
            </a:p>
          </p:txBody>
        </p:sp>
        <p:sp>
          <p:nvSpPr>
            <p:cNvPr id="22" name="Rectangle 22"/>
            <p:cNvSpPr/>
            <p:nvPr/>
          </p:nvSpPr>
          <p:spPr>
            <a:xfrm>
              <a:off x="9594850" y="2383726"/>
              <a:ext cx="535517" cy="264224"/>
            </a:xfrm>
            <a:prstGeom prst="roundRect">
              <a:avLst>
                <a:gd name="adj" fmla="val 10815"/>
              </a:avLst>
            </a:prstGeom>
            <a:solidFill>
              <a:srgbClr val="46C98B"/>
            </a:solidFill>
            <a:ln>
              <a:noFill/>
            </a:ln>
          </p:spPr>
        </p:sp>
        <p:sp>
          <p:nvSpPr>
            <p:cNvPr id="23" name="TextBox 23"/>
            <p:cNvSpPr txBox="1"/>
            <p:nvPr/>
          </p:nvSpPr>
          <p:spPr>
            <a:xfrm>
              <a:off x="9747451" y="2259187"/>
              <a:ext cx="230315" cy="140494"/>
            </a:xfrm>
            <a:prstGeom prst="rect">
              <a:avLst/>
            </a:prstGeom>
            <a:noFill/>
            <a:ln>
              <a:noFill/>
            </a:ln>
          </p:spPr>
          <p:txBody>
            <a:bodyPr wrap="none" lIns="0" tIns="0" rIns="0" bIns="0" anchor="t" anchorCtr="0">
              <a:spAutoFit/>
            </a:bodyPr>
            <a:lstStyle/>
            <a:p>
              <a:pPr algn="ctr"/>
              <a:r>
                <a:rPr lang="en-US" sz="710" b="1" dirty="0">
                  <a:solidFill>
                    <a:srgbClr val="46C98B"/>
                  </a:solidFill>
                  <a:latin typeface="+mn-lt"/>
                  <a:ea typeface="+mn-ea"/>
                  <a:cs typeface="+mn-cs"/>
                </a:rPr>
                <a:t>0.73</a:t>
              </a:r>
            </a:p>
          </p:txBody>
        </p:sp>
        <p:sp>
          <p:nvSpPr>
            <p:cNvPr id="24" name="TextBox 24"/>
            <p:cNvSpPr txBox="1"/>
            <p:nvPr/>
          </p:nvSpPr>
          <p:spPr>
            <a:xfrm>
              <a:off x="9778988" y="2693432"/>
              <a:ext cx="167241"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DDT</a:t>
              </a:r>
            </a:p>
          </p:txBody>
        </p:sp>
        <p:sp>
          <p:nvSpPr>
            <p:cNvPr id="25" name="Rectangle 25"/>
            <p:cNvSpPr/>
            <p:nvPr/>
          </p:nvSpPr>
          <p:spPr>
            <a:xfrm>
              <a:off x="10168467" y="2441639"/>
              <a:ext cx="535517" cy="206311"/>
            </a:xfrm>
            <a:prstGeom prst="roundRect">
              <a:avLst>
                <a:gd name="adj" fmla="val 13850"/>
              </a:avLst>
            </a:prstGeom>
            <a:solidFill>
              <a:srgbClr val="F4C24C"/>
            </a:solidFill>
            <a:ln>
              <a:noFill/>
            </a:ln>
          </p:spPr>
        </p:sp>
        <p:sp>
          <p:nvSpPr>
            <p:cNvPr id="26" name="TextBox 26"/>
            <p:cNvSpPr txBox="1"/>
            <p:nvPr/>
          </p:nvSpPr>
          <p:spPr>
            <a:xfrm>
              <a:off x="10321067" y="2317099"/>
              <a:ext cx="230315" cy="140494"/>
            </a:xfrm>
            <a:prstGeom prst="rect">
              <a:avLst/>
            </a:prstGeom>
            <a:noFill/>
            <a:ln>
              <a:noFill/>
            </a:ln>
          </p:spPr>
          <p:txBody>
            <a:bodyPr wrap="none" lIns="0" tIns="0" rIns="0" bIns="0" anchor="t" anchorCtr="0">
              <a:spAutoFit/>
            </a:bodyPr>
            <a:lstStyle/>
            <a:p>
              <a:pPr algn="ctr"/>
              <a:r>
                <a:rPr lang="en-US" sz="710" b="1" dirty="0">
                  <a:solidFill>
                    <a:srgbClr val="F4C24C"/>
                  </a:solidFill>
                  <a:latin typeface="+mn-lt"/>
                  <a:ea typeface="+mn-ea"/>
                  <a:cs typeface="+mn-cs"/>
                </a:rPr>
                <a:t>0.57</a:t>
              </a:r>
            </a:p>
          </p:txBody>
        </p:sp>
        <p:sp>
          <p:nvSpPr>
            <p:cNvPr id="27" name="TextBox 27"/>
            <p:cNvSpPr txBox="1"/>
            <p:nvPr/>
          </p:nvSpPr>
          <p:spPr>
            <a:xfrm>
              <a:off x="10326319" y="2693432"/>
              <a:ext cx="219813"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DCRL</a:t>
              </a:r>
            </a:p>
          </p:txBody>
        </p:sp>
        <p:sp>
          <p:nvSpPr>
            <p:cNvPr id="28" name="Rectangle 28"/>
            <p:cNvSpPr/>
            <p:nvPr/>
          </p:nvSpPr>
          <p:spPr>
            <a:xfrm>
              <a:off x="10742083" y="2590038"/>
              <a:ext cx="535517" cy="57912"/>
            </a:xfrm>
            <a:prstGeom prst="roundRect">
              <a:avLst>
                <a:gd name="adj" fmla="val 49342"/>
              </a:avLst>
            </a:prstGeom>
            <a:solidFill>
              <a:srgbClr val="F2685C"/>
            </a:solidFill>
            <a:ln>
              <a:noFill/>
            </a:ln>
          </p:spPr>
        </p:sp>
        <p:sp>
          <p:nvSpPr>
            <p:cNvPr id="29" name="TextBox 29"/>
            <p:cNvSpPr txBox="1"/>
            <p:nvPr/>
          </p:nvSpPr>
          <p:spPr>
            <a:xfrm>
              <a:off x="10894684" y="2465499"/>
              <a:ext cx="230315" cy="140494"/>
            </a:xfrm>
            <a:prstGeom prst="rect">
              <a:avLst/>
            </a:prstGeom>
            <a:noFill/>
            <a:ln>
              <a:noFill/>
            </a:ln>
          </p:spPr>
          <p:txBody>
            <a:bodyPr wrap="none" lIns="0" tIns="0" rIns="0" bIns="0" anchor="t" anchorCtr="0">
              <a:spAutoFit/>
            </a:bodyPr>
            <a:lstStyle/>
            <a:p>
              <a:pPr algn="ctr"/>
              <a:r>
                <a:rPr lang="en-US" sz="710" b="1" dirty="0">
                  <a:solidFill>
                    <a:srgbClr val="F2685C"/>
                  </a:solidFill>
                  <a:latin typeface="+mn-lt"/>
                  <a:ea typeface="+mn-ea"/>
                  <a:cs typeface="+mn-cs"/>
                </a:rPr>
                <a:t>0.16</a:t>
              </a:r>
            </a:p>
          </p:txBody>
        </p:sp>
        <p:sp>
          <p:nvSpPr>
            <p:cNvPr id="30" name="TextBox 30"/>
            <p:cNvSpPr txBox="1"/>
            <p:nvPr/>
          </p:nvSpPr>
          <p:spPr>
            <a:xfrm>
              <a:off x="10750811" y="2693432"/>
              <a:ext cx="518061"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Trans4OSIL</a:t>
              </a:r>
            </a:p>
          </p:txBody>
        </p:sp>
        <p:sp>
          <p:nvSpPr>
            <p:cNvPr id="31" name="TextBox 31"/>
            <p:cNvSpPr txBox="1"/>
            <p:nvPr/>
          </p:nvSpPr>
          <p:spPr>
            <a:xfrm>
              <a:off x="10230535" y="2795588"/>
              <a:ext cx="449480" cy="147638"/>
            </a:xfrm>
            <a:prstGeom prst="rect">
              <a:avLst/>
            </a:prstGeom>
            <a:noFill/>
            <a:ln>
              <a:noFill/>
            </a:ln>
          </p:spPr>
          <p:txBody>
            <a:bodyPr wrap="none" lIns="0" tIns="0" rIns="0" bIns="0" anchor="t" anchorCtr="0">
              <a:spAutoFit/>
            </a:bodyPr>
            <a:lstStyle/>
            <a:p>
              <a:pPr algn="ctr"/>
              <a:r>
                <a:rPr lang="en-US" sz="750" b="1" dirty="0">
                  <a:solidFill>
                    <a:srgbClr val="6E869C"/>
                  </a:solidFill>
                  <a:latin typeface="+mn-lt"/>
                  <a:ea typeface="+mn-ea"/>
                  <a:cs typeface="+mn-cs"/>
                </a:rPr>
                <a:t>obstacle</a:t>
              </a:r>
            </a:p>
          </p:txBody>
        </p:sp>
      </p:grpSp>
      <p:grpSp>
        <p:nvGrpSpPr>
          <p:cNvPr id="47" name="Group 47"/>
          <p:cNvGrpSpPr/>
          <p:nvPr/>
        </p:nvGrpSpPr>
        <p:grpSpPr>
          <a:xfrm>
            <a:off x="609600" y="3200400"/>
            <a:ext cx="3505200" cy="2038350"/>
            <a:chOff x="609600" y="3200400"/>
            <a:chExt cx="3505200" cy="2038350"/>
          </a:xfrm>
        </p:grpSpPr>
        <p:sp>
          <p:nvSpPr>
            <p:cNvPr id="33" name="Rectangle 33"/>
            <p:cNvSpPr/>
            <p:nvPr/>
          </p:nvSpPr>
          <p:spPr>
            <a:xfrm>
              <a:off x="609600" y="3200400"/>
              <a:ext cx="3505200" cy="2038350"/>
            </a:xfrm>
            <a:prstGeom prst="roundRect">
              <a:avLst>
                <a:gd name="adj" fmla="val 6542"/>
              </a:avLst>
            </a:prstGeom>
            <a:solidFill>
              <a:schemeClr val="accent5"/>
            </a:solidFill>
            <a:ln w="14288">
              <a:solidFill>
                <a:schemeClr val="accent4"/>
              </a:solidFill>
            </a:ln>
          </p:spPr>
        </p:sp>
        <p:sp>
          <p:nvSpPr>
            <p:cNvPr id="34" name="Rectangle 34"/>
            <p:cNvSpPr/>
            <p:nvPr/>
          </p:nvSpPr>
          <p:spPr>
            <a:xfrm>
              <a:off x="609600" y="3200400"/>
              <a:ext cx="57150" cy="2038350"/>
            </a:xfrm>
            <a:prstGeom prst="roundRect">
              <a:avLst>
                <a:gd name="adj" fmla="val 50000"/>
              </a:avLst>
            </a:prstGeom>
            <a:solidFill>
              <a:schemeClr val="accent2"/>
            </a:solidFill>
            <a:ln>
              <a:noFill/>
            </a:ln>
          </p:spPr>
        </p:sp>
        <p:sp>
          <p:nvSpPr>
            <p:cNvPr id="35" name="TextBox 35"/>
            <p:cNvSpPr txBox="1"/>
            <p:nvPr/>
          </p:nvSpPr>
          <p:spPr>
            <a:xfrm>
              <a:off x="870394" y="3417808"/>
              <a:ext cx="2001161"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High success everywhere</a:t>
              </a:r>
            </a:p>
          </p:txBody>
        </p:sp>
        <p:sp>
          <p:nvSpPr>
            <p:cNvPr id="36" name="TextBox 36"/>
            <p:cNvSpPr txBox="1"/>
            <p:nvPr/>
          </p:nvSpPr>
          <p:spPr>
            <a:xfrm>
              <a:off x="871347" y="3704749"/>
              <a:ext cx="26307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DDT reaches 0.86 on the training set and</a:t>
              </a:r>
            </a:p>
          </p:txBody>
        </p:sp>
        <p:sp>
          <p:nvSpPr>
            <p:cNvPr id="37" name="TextBox 37"/>
            <p:cNvSpPr txBox="1"/>
            <p:nvPr/>
          </p:nvSpPr>
          <p:spPr>
            <a:xfrm>
              <a:off x="871347" y="3885724"/>
              <a:ext cx="230544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0.84 without obstacles; even under</a:t>
              </a:r>
            </a:p>
          </p:txBody>
        </p:sp>
        <p:sp>
          <p:nvSpPr>
            <p:cNvPr id="38" name="TextBox 38"/>
            <p:cNvSpPr txBox="1"/>
            <p:nvPr/>
          </p:nvSpPr>
          <p:spPr>
            <a:xfrm>
              <a:off x="871347" y="4066699"/>
              <a:ext cx="271135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obstacles it holds 0.73, versus DCRL 0.57</a:t>
              </a:r>
            </a:p>
          </p:txBody>
        </p:sp>
        <p:sp>
          <p:nvSpPr>
            <p:cNvPr id="39" name="TextBox 39"/>
            <p:cNvSpPr txBox="1"/>
            <p:nvPr/>
          </p:nvSpPr>
          <p:spPr>
            <a:xfrm>
              <a:off x="871347" y="4247674"/>
              <a:ext cx="142106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and Trans4OSIL 0.16.</a:t>
              </a:r>
            </a:p>
          </p:txBody>
        </p:sp>
        <p:sp>
          <p:nvSpPr>
            <p:cNvPr id="40" name="Rectangle 40"/>
            <p:cNvSpPr/>
            <p:nvPr/>
          </p:nvSpPr>
          <p:spPr>
            <a:xfrm>
              <a:off x="876300" y="4476750"/>
              <a:ext cx="2971800" cy="685800"/>
            </a:xfrm>
            <a:prstGeom prst="roundRect">
              <a:avLst>
                <a:gd name="adj" fmla="val 13889"/>
              </a:avLst>
            </a:prstGeom>
            <a:solidFill>
              <a:schemeClr val="accent6"/>
            </a:solidFill>
            <a:ln w="14288">
              <a:solidFill>
                <a:schemeClr val="accent4"/>
              </a:solidFill>
            </a:ln>
          </p:spPr>
        </p:sp>
        <p:sp>
          <p:nvSpPr>
            <p:cNvPr id="41" name="Rectangle 41"/>
            <p:cNvSpPr/>
            <p:nvPr/>
          </p:nvSpPr>
          <p:spPr>
            <a:xfrm>
              <a:off x="1371600" y="4762500"/>
              <a:ext cx="685800" cy="171450"/>
            </a:xfrm>
            <a:prstGeom prst="roundRect">
              <a:avLst>
                <a:gd name="adj" fmla="val 27778"/>
              </a:avLst>
            </a:prstGeom>
            <a:solidFill>
              <a:srgbClr val="46C98B"/>
            </a:solidFill>
            <a:ln>
              <a:noFill/>
            </a:ln>
          </p:spPr>
        </p:sp>
        <p:sp>
          <p:nvSpPr>
            <p:cNvPr id="42" name="TextBox 42"/>
            <p:cNvSpPr txBox="1"/>
            <p:nvPr/>
          </p:nvSpPr>
          <p:spPr>
            <a:xfrm>
              <a:off x="1545906" y="4572952"/>
              <a:ext cx="337189"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0.73</a:t>
              </a:r>
            </a:p>
          </p:txBody>
        </p:sp>
        <p:sp>
          <p:nvSpPr>
            <p:cNvPr id="43" name="TextBox 43"/>
            <p:cNvSpPr txBox="1"/>
            <p:nvPr/>
          </p:nvSpPr>
          <p:spPr>
            <a:xfrm>
              <a:off x="1608701" y="4997291"/>
              <a:ext cx="21159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DDT</a:t>
              </a:r>
            </a:p>
          </p:txBody>
        </p:sp>
        <p:sp>
          <p:nvSpPr>
            <p:cNvPr id="44" name="Rectangle 44"/>
            <p:cNvSpPr/>
            <p:nvPr/>
          </p:nvSpPr>
          <p:spPr>
            <a:xfrm>
              <a:off x="2667000" y="4876800"/>
              <a:ext cx="685800" cy="57150"/>
            </a:xfrm>
            <a:prstGeom prst="roundRect">
              <a:avLst>
                <a:gd name="adj" fmla="val 50000"/>
              </a:avLst>
            </a:prstGeom>
            <a:solidFill>
              <a:schemeClr val="dk2"/>
            </a:solidFill>
            <a:ln>
              <a:noFill/>
            </a:ln>
          </p:spPr>
        </p:sp>
        <p:sp>
          <p:nvSpPr>
            <p:cNvPr id="45" name="TextBox 45"/>
            <p:cNvSpPr txBox="1"/>
            <p:nvPr/>
          </p:nvSpPr>
          <p:spPr>
            <a:xfrm>
              <a:off x="2841306" y="4687252"/>
              <a:ext cx="33718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0.16</a:t>
              </a:r>
            </a:p>
          </p:txBody>
        </p:sp>
        <p:sp>
          <p:nvSpPr>
            <p:cNvPr id="46" name="TextBox 46"/>
            <p:cNvSpPr txBox="1"/>
            <p:nvPr/>
          </p:nvSpPr>
          <p:spPr>
            <a:xfrm>
              <a:off x="2679356" y="4997291"/>
              <a:ext cx="661087"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Trans4OSIL</a:t>
              </a:r>
            </a:p>
          </p:txBody>
        </p:sp>
      </p:grpSp>
      <p:grpSp>
        <p:nvGrpSpPr>
          <p:cNvPr id="68" name="Group 68"/>
          <p:cNvGrpSpPr/>
          <p:nvPr/>
        </p:nvGrpSpPr>
        <p:grpSpPr>
          <a:xfrm>
            <a:off x="4343400" y="3200400"/>
            <a:ext cx="3505200" cy="2038350"/>
            <a:chOff x="4343400" y="3200400"/>
            <a:chExt cx="3505200" cy="2038350"/>
          </a:xfrm>
        </p:grpSpPr>
        <p:sp>
          <p:nvSpPr>
            <p:cNvPr id="48" name="Rectangle 48"/>
            <p:cNvSpPr/>
            <p:nvPr/>
          </p:nvSpPr>
          <p:spPr>
            <a:xfrm>
              <a:off x="4343400" y="3200400"/>
              <a:ext cx="3505200" cy="2038350"/>
            </a:xfrm>
            <a:prstGeom prst="roundRect">
              <a:avLst>
                <a:gd name="adj" fmla="val 6542"/>
              </a:avLst>
            </a:prstGeom>
            <a:solidFill>
              <a:schemeClr val="accent5"/>
            </a:solidFill>
            <a:ln w="14288">
              <a:solidFill>
                <a:schemeClr val="accent4"/>
              </a:solidFill>
            </a:ln>
          </p:spPr>
        </p:sp>
        <p:sp>
          <p:nvSpPr>
            <p:cNvPr id="49" name="Rectangle 49"/>
            <p:cNvSpPr/>
            <p:nvPr/>
          </p:nvSpPr>
          <p:spPr>
            <a:xfrm>
              <a:off x="4343400" y="3200400"/>
              <a:ext cx="57150" cy="2038350"/>
            </a:xfrm>
            <a:prstGeom prst="roundRect">
              <a:avLst>
                <a:gd name="adj" fmla="val 50000"/>
              </a:avLst>
            </a:prstGeom>
            <a:solidFill>
              <a:srgbClr val="33D6C0"/>
            </a:solidFill>
            <a:ln>
              <a:noFill/>
            </a:ln>
          </p:spPr>
        </p:sp>
        <p:sp>
          <p:nvSpPr>
            <p:cNvPr id="50" name="TextBox 50"/>
            <p:cNvSpPr txBox="1"/>
            <p:nvPr/>
          </p:nvSpPr>
          <p:spPr>
            <a:xfrm>
              <a:off x="4604194" y="3417808"/>
              <a:ext cx="2157088"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Robust: it barely degrades</a:t>
              </a:r>
            </a:p>
          </p:txBody>
        </p:sp>
        <p:sp>
          <p:nvSpPr>
            <p:cNvPr id="51" name="TextBox 51"/>
            <p:cNvSpPr txBox="1"/>
            <p:nvPr/>
          </p:nvSpPr>
          <p:spPr>
            <a:xfrm>
              <a:off x="4605147" y="3704749"/>
              <a:ext cx="249439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From training to unforeseen obstacles</a:t>
              </a:r>
            </a:p>
          </p:txBody>
        </p:sp>
        <p:sp>
          <p:nvSpPr>
            <p:cNvPr id="52" name="TextBox 52"/>
            <p:cNvSpPr txBox="1"/>
            <p:nvPr/>
          </p:nvSpPr>
          <p:spPr>
            <a:xfrm>
              <a:off x="4605147" y="3885724"/>
              <a:ext cx="261695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DDT drops only 15%, while baselines drop</a:t>
              </a:r>
            </a:p>
          </p:txBody>
        </p:sp>
        <p:sp>
          <p:nvSpPr>
            <p:cNvPr id="53" name="TextBox 53"/>
            <p:cNvSpPr txBox="1"/>
            <p:nvPr/>
          </p:nvSpPr>
          <p:spPr>
            <a:xfrm>
              <a:off x="4605147" y="4066699"/>
              <a:ext cx="109830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20, 33, and 52%.</a:t>
              </a:r>
            </a:p>
          </p:txBody>
        </p:sp>
        <p:sp>
          <p:nvSpPr>
            <p:cNvPr id="54" name="Rectangle 54"/>
            <p:cNvSpPr/>
            <p:nvPr/>
          </p:nvSpPr>
          <p:spPr>
            <a:xfrm>
              <a:off x="4610100" y="4305300"/>
              <a:ext cx="2971800" cy="857250"/>
            </a:xfrm>
            <a:prstGeom prst="roundRect">
              <a:avLst>
                <a:gd name="adj" fmla="val 8889"/>
              </a:avLst>
            </a:prstGeom>
            <a:solidFill>
              <a:srgbClr val="0E223A"/>
            </a:solidFill>
            <a:ln w="14288">
              <a:solidFill>
                <a:schemeClr val="accent4"/>
              </a:solidFill>
            </a:ln>
          </p:spPr>
        </p:sp>
        <p:sp>
          <p:nvSpPr>
            <p:cNvPr id="55" name="Rectangle 55"/>
            <p:cNvSpPr/>
            <p:nvPr/>
          </p:nvSpPr>
          <p:spPr>
            <a:xfrm>
              <a:off x="4914900" y="4829175"/>
              <a:ext cx="400050" cy="85725"/>
            </a:xfrm>
            <a:prstGeom prst="roundRect">
              <a:avLst>
                <a:gd name="adj" fmla="val 33333"/>
              </a:avLst>
            </a:prstGeom>
            <a:solidFill>
              <a:srgbClr val="46C98B"/>
            </a:solidFill>
            <a:ln>
              <a:noFill/>
            </a:ln>
          </p:spPr>
        </p:sp>
        <p:sp>
          <p:nvSpPr>
            <p:cNvPr id="56" name="TextBox 56"/>
            <p:cNvSpPr txBox="1"/>
            <p:nvPr/>
          </p:nvSpPr>
          <p:spPr>
            <a:xfrm>
              <a:off x="4976162" y="4687014"/>
              <a:ext cx="277526" cy="154781"/>
            </a:xfrm>
            <a:prstGeom prst="rect">
              <a:avLst/>
            </a:prstGeom>
            <a:noFill/>
            <a:ln>
              <a:noFill/>
            </a:ln>
          </p:spPr>
          <p:txBody>
            <a:bodyPr wrap="none" lIns="0" tIns="0" rIns="0" bIns="0" anchor="t" anchorCtr="0">
              <a:spAutoFit/>
            </a:bodyPr>
            <a:lstStyle/>
            <a:p>
              <a:pPr algn="ctr"/>
              <a:r>
                <a:rPr lang="en-US" sz="790" b="1" dirty="0">
                  <a:solidFill>
                    <a:srgbClr val="46C98B"/>
                  </a:solidFill>
                  <a:latin typeface="+mn-lt"/>
                  <a:ea typeface="+mn-ea"/>
                  <a:cs typeface="+mn-cs"/>
                </a:rPr>
                <a:t>-15%</a:t>
              </a:r>
            </a:p>
          </p:txBody>
        </p:sp>
        <p:sp>
          <p:nvSpPr>
            <p:cNvPr id="57" name="TextBox 57"/>
            <p:cNvSpPr txBox="1"/>
            <p:nvPr/>
          </p:nvSpPr>
          <p:spPr>
            <a:xfrm>
              <a:off x="5026376" y="4975384"/>
              <a:ext cx="177098"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DDT</a:t>
              </a:r>
            </a:p>
          </p:txBody>
        </p:sp>
        <p:sp>
          <p:nvSpPr>
            <p:cNvPr id="58" name="Rectangle 58"/>
            <p:cNvSpPr/>
            <p:nvPr/>
          </p:nvSpPr>
          <p:spPr>
            <a:xfrm>
              <a:off x="5581650" y="4800600"/>
              <a:ext cx="400050" cy="114300"/>
            </a:xfrm>
            <a:prstGeom prst="roundRect">
              <a:avLst>
                <a:gd name="adj" fmla="val 25000"/>
              </a:avLst>
            </a:prstGeom>
            <a:solidFill>
              <a:schemeClr val="accent2"/>
            </a:solidFill>
            <a:ln>
              <a:noFill/>
            </a:ln>
          </p:spPr>
        </p:sp>
        <p:sp>
          <p:nvSpPr>
            <p:cNvPr id="59" name="TextBox 59"/>
            <p:cNvSpPr txBox="1"/>
            <p:nvPr/>
          </p:nvSpPr>
          <p:spPr>
            <a:xfrm>
              <a:off x="5642912" y="4658439"/>
              <a:ext cx="277526" cy="154781"/>
            </a:xfrm>
            <a:prstGeom prst="rect">
              <a:avLst/>
            </a:prstGeom>
            <a:noFill/>
            <a:ln>
              <a:noFill/>
            </a:ln>
          </p:spPr>
          <p:txBody>
            <a:bodyPr wrap="none" lIns="0" tIns="0" rIns="0" bIns="0" anchor="t" anchorCtr="0">
              <a:spAutoFit/>
            </a:bodyPr>
            <a:lstStyle/>
            <a:p>
              <a:pPr algn="ctr"/>
              <a:r>
                <a:rPr lang="en-US" sz="790" b="1" dirty="0">
                  <a:solidFill>
                    <a:schemeClr val="accent2"/>
                  </a:solidFill>
                  <a:latin typeface="+mn-lt"/>
                  <a:ea typeface="+mn-ea"/>
                  <a:cs typeface="+mn-cs"/>
                </a:rPr>
                <a:t>-20%</a:t>
              </a:r>
            </a:p>
          </p:txBody>
        </p:sp>
        <p:sp>
          <p:nvSpPr>
            <p:cNvPr id="60" name="TextBox 60"/>
            <p:cNvSpPr txBox="1"/>
            <p:nvPr/>
          </p:nvSpPr>
          <p:spPr>
            <a:xfrm>
              <a:off x="5724047" y="4975384"/>
              <a:ext cx="115256"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b1</a:t>
              </a:r>
            </a:p>
          </p:txBody>
        </p:sp>
        <p:sp>
          <p:nvSpPr>
            <p:cNvPr id="61" name="Rectangle 61"/>
            <p:cNvSpPr/>
            <p:nvPr/>
          </p:nvSpPr>
          <p:spPr>
            <a:xfrm>
              <a:off x="6248400" y="4726305"/>
              <a:ext cx="400050" cy="188595"/>
            </a:xfrm>
            <a:prstGeom prst="roundRect">
              <a:avLst>
                <a:gd name="adj" fmla="val 15152"/>
              </a:avLst>
            </a:prstGeom>
            <a:solidFill>
              <a:srgbClr val="F4C24C"/>
            </a:solidFill>
            <a:ln>
              <a:noFill/>
            </a:ln>
          </p:spPr>
        </p:sp>
        <p:sp>
          <p:nvSpPr>
            <p:cNvPr id="62" name="TextBox 62"/>
            <p:cNvSpPr txBox="1"/>
            <p:nvPr/>
          </p:nvSpPr>
          <p:spPr>
            <a:xfrm>
              <a:off x="6309662" y="4584144"/>
              <a:ext cx="277526" cy="154781"/>
            </a:xfrm>
            <a:prstGeom prst="rect">
              <a:avLst/>
            </a:prstGeom>
            <a:noFill/>
            <a:ln>
              <a:noFill/>
            </a:ln>
          </p:spPr>
          <p:txBody>
            <a:bodyPr wrap="none" lIns="0" tIns="0" rIns="0" bIns="0" anchor="t" anchorCtr="0">
              <a:spAutoFit/>
            </a:bodyPr>
            <a:lstStyle/>
            <a:p>
              <a:pPr algn="ctr"/>
              <a:r>
                <a:rPr lang="en-US" sz="790" b="1" dirty="0">
                  <a:solidFill>
                    <a:srgbClr val="F4C24C"/>
                  </a:solidFill>
                  <a:latin typeface="+mn-lt"/>
                  <a:ea typeface="+mn-ea"/>
                  <a:cs typeface="+mn-cs"/>
                </a:rPr>
                <a:t>-33%</a:t>
              </a:r>
            </a:p>
          </p:txBody>
        </p:sp>
        <p:sp>
          <p:nvSpPr>
            <p:cNvPr id="63" name="TextBox 63"/>
            <p:cNvSpPr txBox="1"/>
            <p:nvPr/>
          </p:nvSpPr>
          <p:spPr>
            <a:xfrm>
              <a:off x="6390797" y="4975384"/>
              <a:ext cx="115256"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b2</a:t>
              </a:r>
            </a:p>
          </p:txBody>
        </p:sp>
        <p:sp>
          <p:nvSpPr>
            <p:cNvPr id="64" name="Rectangle 64"/>
            <p:cNvSpPr/>
            <p:nvPr/>
          </p:nvSpPr>
          <p:spPr>
            <a:xfrm>
              <a:off x="6915150" y="4617720"/>
              <a:ext cx="400050" cy="297180"/>
            </a:xfrm>
            <a:prstGeom prst="roundRect">
              <a:avLst>
                <a:gd name="adj" fmla="val 9615"/>
              </a:avLst>
            </a:prstGeom>
            <a:solidFill>
              <a:srgbClr val="F2685C"/>
            </a:solidFill>
            <a:ln>
              <a:noFill/>
            </a:ln>
          </p:spPr>
        </p:sp>
        <p:sp>
          <p:nvSpPr>
            <p:cNvPr id="65" name="TextBox 65"/>
            <p:cNvSpPr txBox="1"/>
            <p:nvPr/>
          </p:nvSpPr>
          <p:spPr>
            <a:xfrm>
              <a:off x="6976412" y="4475559"/>
              <a:ext cx="277526" cy="154781"/>
            </a:xfrm>
            <a:prstGeom prst="rect">
              <a:avLst/>
            </a:prstGeom>
            <a:noFill/>
            <a:ln>
              <a:noFill/>
            </a:ln>
          </p:spPr>
          <p:txBody>
            <a:bodyPr wrap="none" lIns="0" tIns="0" rIns="0" bIns="0" anchor="t" anchorCtr="0">
              <a:spAutoFit/>
            </a:bodyPr>
            <a:lstStyle/>
            <a:p>
              <a:pPr algn="ctr"/>
              <a:r>
                <a:rPr lang="en-US" sz="790" b="1" dirty="0">
                  <a:solidFill>
                    <a:srgbClr val="F2685C"/>
                  </a:solidFill>
                  <a:latin typeface="+mn-lt"/>
                  <a:ea typeface="+mn-ea"/>
                  <a:cs typeface="+mn-cs"/>
                </a:rPr>
                <a:t>-52%</a:t>
              </a:r>
            </a:p>
          </p:txBody>
        </p:sp>
        <p:sp>
          <p:nvSpPr>
            <p:cNvPr id="66" name="TextBox 66"/>
            <p:cNvSpPr txBox="1"/>
            <p:nvPr/>
          </p:nvSpPr>
          <p:spPr>
            <a:xfrm>
              <a:off x="7057547" y="4975384"/>
              <a:ext cx="115256"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b3</a:t>
              </a:r>
            </a:p>
          </p:txBody>
        </p:sp>
        <p:sp>
          <p:nvSpPr>
            <p:cNvPr id="67" name="TextBox 67"/>
            <p:cNvSpPr txBox="1"/>
            <p:nvPr/>
          </p:nvSpPr>
          <p:spPr>
            <a:xfrm>
              <a:off x="4738688" y="4391739"/>
              <a:ext cx="1343949"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drop: train -&gt; obstacles</a:t>
              </a:r>
            </a:p>
          </p:txBody>
        </p:sp>
      </p:grpSp>
      <p:grpSp>
        <p:nvGrpSpPr>
          <p:cNvPr id="82" name="Group 82"/>
          <p:cNvGrpSpPr/>
          <p:nvPr/>
        </p:nvGrpSpPr>
        <p:grpSpPr>
          <a:xfrm>
            <a:off x="8077200" y="3200400"/>
            <a:ext cx="3505200" cy="2038350"/>
            <a:chOff x="8077200" y="3200400"/>
            <a:chExt cx="3505200" cy="2038350"/>
          </a:xfrm>
        </p:grpSpPr>
        <p:sp>
          <p:nvSpPr>
            <p:cNvPr id="69" name="Rectangle 69"/>
            <p:cNvSpPr/>
            <p:nvPr/>
          </p:nvSpPr>
          <p:spPr>
            <a:xfrm>
              <a:off x="8077200" y="3200400"/>
              <a:ext cx="3505200" cy="2038350"/>
            </a:xfrm>
            <a:prstGeom prst="roundRect">
              <a:avLst>
                <a:gd name="adj" fmla="val 6542"/>
              </a:avLst>
            </a:prstGeom>
            <a:solidFill>
              <a:srgbClr val="2A2417"/>
            </a:solidFill>
            <a:ln w="14288">
              <a:solidFill>
                <a:srgbClr val="F4C24C"/>
              </a:solidFill>
            </a:ln>
          </p:spPr>
        </p:sp>
        <p:sp>
          <p:nvSpPr>
            <p:cNvPr id="70" name="Rectangle 70"/>
            <p:cNvSpPr/>
            <p:nvPr/>
          </p:nvSpPr>
          <p:spPr>
            <a:xfrm>
              <a:off x="8077200" y="3200400"/>
              <a:ext cx="57150" cy="2038350"/>
            </a:xfrm>
            <a:prstGeom prst="roundRect">
              <a:avLst>
                <a:gd name="adj" fmla="val 50000"/>
              </a:avLst>
            </a:prstGeom>
            <a:solidFill>
              <a:srgbClr val="F4C24C"/>
            </a:solidFill>
            <a:ln>
              <a:noFill/>
            </a:ln>
          </p:spPr>
        </p:sp>
        <p:sp>
          <p:nvSpPr>
            <p:cNvPr id="71" name="TextBox 71"/>
            <p:cNvSpPr txBox="1"/>
            <p:nvPr/>
          </p:nvSpPr>
          <p:spPr>
            <a:xfrm>
              <a:off x="8337994" y="3417808"/>
              <a:ext cx="1726722"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Robotics: 61% vs 12%</a:t>
              </a:r>
            </a:p>
          </p:txBody>
        </p:sp>
        <p:sp>
          <p:nvSpPr>
            <p:cNvPr id="72" name="TextBox 72"/>
            <p:cNvSpPr txBox="1"/>
            <p:nvPr/>
          </p:nvSpPr>
          <p:spPr>
            <a:xfrm>
              <a:off x="8338947" y="3704749"/>
              <a:ext cx="2615635"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On disturbed Meta-World tasks DDT still</a:t>
              </a:r>
            </a:p>
          </p:txBody>
        </p:sp>
        <p:sp>
          <p:nvSpPr>
            <p:cNvPr id="73" name="TextBox 73"/>
            <p:cNvSpPr txBox="1"/>
            <p:nvPr/>
          </p:nvSpPr>
          <p:spPr>
            <a:xfrm>
              <a:off x="8338947" y="3885724"/>
              <a:ext cx="2912313"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succeeds 61% on unseen demonstrations; the</a:t>
              </a:r>
            </a:p>
          </p:txBody>
        </p:sp>
        <p:sp>
          <p:nvSpPr>
            <p:cNvPr id="74" name="TextBox 74"/>
            <p:cNvSpPr txBox="1"/>
            <p:nvPr/>
          </p:nvSpPr>
          <p:spPr>
            <a:xfrm>
              <a:off x="8338947" y="4066699"/>
              <a:ext cx="2549512"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strongest baseline manages about 12%.</a:t>
              </a:r>
            </a:p>
          </p:txBody>
        </p:sp>
        <p:sp>
          <p:nvSpPr>
            <p:cNvPr id="75" name="Rectangle 75"/>
            <p:cNvSpPr/>
            <p:nvPr/>
          </p:nvSpPr>
          <p:spPr>
            <a:xfrm>
              <a:off x="8343900" y="4476750"/>
              <a:ext cx="2971800" cy="685800"/>
            </a:xfrm>
            <a:prstGeom prst="roundRect">
              <a:avLst>
                <a:gd name="adj" fmla="val 13889"/>
              </a:avLst>
            </a:prstGeom>
            <a:solidFill>
              <a:schemeClr val="accent6"/>
            </a:solidFill>
            <a:ln w="14288">
              <a:solidFill>
                <a:schemeClr val="accent4"/>
              </a:solidFill>
            </a:ln>
          </p:spPr>
        </p:sp>
        <p:sp>
          <p:nvSpPr>
            <p:cNvPr id="76" name="Rectangle 76"/>
            <p:cNvSpPr/>
            <p:nvPr/>
          </p:nvSpPr>
          <p:spPr>
            <a:xfrm>
              <a:off x="8839200" y="4762500"/>
              <a:ext cx="685800" cy="171450"/>
            </a:xfrm>
            <a:prstGeom prst="roundRect">
              <a:avLst>
                <a:gd name="adj" fmla="val 27778"/>
              </a:avLst>
            </a:prstGeom>
            <a:solidFill>
              <a:srgbClr val="46C98B"/>
            </a:solidFill>
            <a:ln>
              <a:noFill/>
            </a:ln>
          </p:spPr>
        </p:sp>
        <p:sp>
          <p:nvSpPr>
            <p:cNvPr id="77" name="TextBox 77"/>
            <p:cNvSpPr txBox="1"/>
            <p:nvPr/>
          </p:nvSpPr>
          <p:spPr>
            <a:xfrm>
              <a:off x="9039479" y="4572952"/>
              <a:ext cx="285242"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61%</a:t>
              </a:r>
            </a:p>
          </p:txBody>
        </p:sp>
        <p:sp>
          <p:nvSpPr>
            <p:cNvPr id="78" name="TextBox 78"/>
            <p:cNvSpPr txBox="1"/>
            <p:nvPr/>
          </p:nvSpPr>
          <p:spPr>
            <a:xfrm>
              <a:off x="9076301" y="4997291"/>
              <a:ext cx="21159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DDT</a:t>
              </a:r>
            </a:p>
          </p:txBody>
        </p:sp>
        <p:sp>
          <p:nvSpPr>
            <p:cNvPr id="79" name="Rectangle 79"/>
            <p:cNvSpPr/>
            <p:nvPr/>
          </p:nvSpPr>
          <p:spPr>
            <a:xfrm>
              <a:off x="10134600" y="4876800"/>
              <a:ext cx="685800" cy="57150"/>
            </a:xfrm>
            <a:prstGeom prst="roundRect">
              <a:avLst>
                <a:gd name="adj" fmla="val 50000"/>
              </a:avLst>
            </a:prstGeom>
            <a:solidFill>
              <a:schemeClr val="dk2"/>
            </a:solidFill>
            <a:ln>
              <a:noFill/>
            </a:ln>
          </p:spPr>
        </p:sp>
        <p:sp>
          <p:nvSpPr>
            <p:cNvPr id="80" name="TextBox 80"/>
            <p:cNvSpPr txBox="1"/>
            <p:nvPr/>
          </p:nvSpPr>
          <p:spPr>
            <a:xfrm>
              <a:off x="10334879" y="4687252"/>
              <a:ext cx="285242"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12%</a:t>
              </a:r>
            </a:p>
          </p:txBody>
        </p:sp>
        <p:sp>
          <p:nvSpPr>
            <p:cNvPr id="81" name="TextBox 81"/>
            <p:cNvSpPr txBox="1"/>
            <p:nvPr/>
          </p:nvSpPr>
          <p:spPr>
            <a:xfrm>
              <a:off x="10200354" y="4997291"/>
              <a:ext cx="55429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best base</a:t>
              </a:r>
            </a:p>
          </p:txBody>
        </p:sp>
      </p:grpSp>
      <p:sp>
        <p:nvSpPr>
          <p:cNvPr id="83" name="cue_s07_c1_across_vpam_benchmark_ddt_consistent" title="cue_s07_c1_across_vpam_benchmark_ddt_consistent" descr="cue_s07_c1_across_vpam_benchmark_ddt_consistent Across the VPAM benchmark, DDT consistently leads."/>
          <p:cNvSpPr/>
          <p:nvPr/>
        </p:nvSpPr>
        <p:spPr>
          <a:xfrm>
            <a:off x="609600" y="1504645"/>
            <a:ext cx="10972800"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ue_s07_c2_set_reaches_success_rate_0_86" title="cue_s07_c2_set_reaches_success_rate_0_86" descr="cue_s07_c2_set_reaches_success_rate_0_86 On the training set it reaches a success rate of 0.86, on non-obstacle test settings 0.84, and even under unforeseen obstacles 0.73 — well above every baseline, with the closest competitor DCRL at 0.57 under obstacles and behavior-cloning Trans4OSIL as low as"/>
          <p:cNvSpPr/>
          <p:nvPr/>
        </p:nvSpPr>
        <p:spPr>
          <a:xfrm>
            <a:off x="609600" y="3200628"/>
            <a:ext cx="350519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ue_s07_c3_just_important_stability_moving_cond" title="cue_s07_c3_just_important_stability_moving_cond" descr="cue_s07_c3_just_important_stability_moving_cond Just as important is stability: moving from the training condition to unforeseen obstacles, DDT's performance drops only fifteen percent, while the baselines drop twenty, thirty-three, and fifty-two percent respectively."/>
          <p:cNvSpPr/>
          <p:nvPr/>
        </p:nvSpPr>
        <p:spPr>
          <a:xfrm>
            <a:off x="4344009" y="3200628"/>
            <a:ext cx="350519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ue_s07_c4_meta_world_robotics_tasks_added_dist" title="cue_s07_c4_meta_world_robotics_tasks_added_dist" descr="cue_s07_c4_meta_world_robotics_tasks_added_dist On the Meta-World robotics tasks with added disturbance, DDT still succeeds sixty-one percent of the time on unseen demonstrations, whereas the strongest baseline manages only about twelve percent. The meta-RL mechanism is what gives DDT this robustness to cha"/>
          <p:cNvSpPr/>
          <p:nvPr/>
        </p:nvSpPr>
        <p:spPr>
          <a:xfrm>
            <a:off x="8077200" y="3200628"/>
            <a:ext cx="3505199"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399312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Both parts are necessary</a:t>
            </a:r>
          </a:p>
        </p:txBody>
      </p:sp>
      <p:grpSp>
        <p:nvGrpSpPr>
          <p:cNvPr id="23" name="Group 23"/>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chemeClr val="accent4"/>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204" y="1737360"/>
              <a:ext cx="201088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Two components ablated</a:t>
              </a:r>
            </a:p>
          </p:txBody>
        </p:sp>
        <p:sp>
          <p:nvSpPr>
            <p:cNvPr id="8" name="TextBox 8"/>
            <p:cNvSpPr txBox="1"/>
            <p:nvPr/>
          </p:nvSpPr>
          <p:spPr>
            <a:xfrm>
              <a:off x="871347" y="2028349"/>
              <a:ext cx="26531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To confirm each component matters, the</a:t>
              </a:r>
            </a:p>
          </p:txBody>
        </p:sp>
        <p:sp>
          <p:nvSpPr>
            <p:cNvPr id="9" name="TextBox 9"/>
            <p:cNvSpPr txBox="1"/>
            <p:nvPr/>
          </p:nvSpPr>
          <p:spPr>
            <a:xfrm>
              <a:off x="871347" y="2209324"/>
              <a:ext cx="239804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authors ablate two pieces of DDT and</a:t>
              </a:r>
            </a:p>
          </p:txBody>
        </p:sp>
        <p:sp>
          <p:nvSpPr>
            <p:cNvPr id="10" name="TextBox 10"/>
            <p:cNvSpPr txBox="1"/>
            <p:nvPr/>
          </p:nvSpPr>
          <p:spPr>
            <a:xfrm>
              <a:off x="871347" y="2390299"/>
              <a:ext cx="273421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measure the effect on final performance.</a:t>
              </a:r>
            </a:p>
          </p:txBody>
        </p:sp>
        <p:sp>
          <p:nvSpPr>
            <p:cNvPr id="11" name="Rectangle 11"/>
            <p:cNvSpPr/>
            <p:nvPr/>
          </p:nvSpPr>
          <p:spPr>
            <a:xfrm>
              <a:off x="3238500" y="1962150"/>
              <a:ext cx="2495550" cy="1333500"/>
            </a:xfrm>
            <a:prstGeom prst="roundRect">
              <a:avLst>
                <a:gd name="adj" fmla="val 5714"/>
              </a:avLst>
            </a:prstGeom>
            <a:solidFill>
              <a:srgbClr val="0E223A"/>
            </a:solidFill>
            <a:ln w="14288">
              <a:solidFill>
                <a:schemeClr val="accent4"/>
              </a:solidFill>
            </a:ln>
          </p:spPr>
        </p:sp>
        <p:sp>
          <p:nvSpPr>
            <p:cNvPr id="12" name="Rectangle 12"/>
            <p:cNvSpPr/>
            <p:nvPr/>
          </p:nvSpPr>
          <p:spPr>
            <a:xfrm>
              <a:off x="3570605" y="2404872"/>
              <a:ext cx="408940" cy="624078"/>
            </a:xfrm>
            <a:prstGeom prst="roundRect">
              <a:avLst>
                <a:gd name="adj" fmla="val 6988"/>
              </a:avLst>
            </a:prstGeom>
            <a:solidFill>
              <a:srgbClr val="46C98B"/>
            </a:solidFill>
            <a:ln>
              <a:noFill/>
            </a:ln>
          </p:spPr>
        </p:sp>
        <p:sp>
          <p:nvSpPr>
            <p:cNvPr id="13" name="TextBox 13"/>
            <p:cNvSpPr txBox="1"/>
            <p:nvPr/>
          </p:nvSpPr>
          <p:spPr>
            <a:xfrm>
              <a:off x="3653698" y="2266760"/>
              <a:ext cx="242754" cy="147638"/>
            </a:xfrm>
            <a:prstGeom prst="rect">
              <a:avLst/>
            </a:prstGeom>
            <a:noFill/>
            <a:ln>
              <a:noFill/>
            </a:ln>
          </p:spPr>
          <p:txBody>
            <a:bodyPr wrap="none" lIns="0" tIns="0" rIns="0" bIns="0" anchor="t" anchorCtr="0">
              <a:spAutoFit/>
            </a:bodyPr>
            <a:lstStyle/>
            <a:p>
              <a:pPr algn="ctr"/>
              <a:r>
                <a:rPr lang="en-US" sz="750" b="1" dirty="0">
                  <a:solidFill>
                    <a:srgbClr val="46C98B"/>
                  </a:solidFill>
                  <a:latin typeface="+mn-lt"/>
                  <a:ea typeface="+mn-ea"/>
                  <a:cs typeface="+mn-cs"/>
                </a:rPr>
                <a:t>0.84</a:t>
              </a:r>
            </a:p>
          </p:txBody>
        </p:sp>
        <p:sp>
          <p:nvSpPr>
            <p:cNvPr id="14" name="TextBox 14"/>
            <p:cNvSpPr txBox="1"/>
            <p:nvPr/>
          </p:nvSpPr>
          <p:spPr>
            <a:xfrm>
              <a:off x="3691455" y="3074432"/>
              <a:ext cx="167241"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DDT</a:t>
              </a:r>
            </a:p>
          </p:txBody>
        </p:sp>
        <p:sp>
          <p:nvSpPr>
            <p:cNvPr id="15" name="Rectangle 15"/>
            <p:cNvSpPr/>
            <p:nvPr/>
          </p:nvSpPr>
          <p:spPr>
            <a:xfrm>
              <a:off x="4300855" y="2620328"/>
              <a:ext cx="408940" cy="408623"/>
            </a:xfrm>
            <a:prstGeom prst="roundRect">
              <a:avLst>
                <a:gd name="adj" fmla="val 6993"/>
              </a:avLst>
            </a:prstGeom>
            <a:solidFill>
              <a:srgbClr val="F4C24C"/>
            </a:solidFill>
            <a:ln>
              <a:noFill/>
            </a:ln>
          </p:spPr>
        </p:sp>
        <p:sp>
          <p:nvSpPr>
            <p:cNvPr id="16" name="TextBox 16"/>
            <p:cNvSpPr txBox="1"/>
            <p:nvPr/>
          </p:nvSpPr>
          <p:spPr>
            <a:xfrm>
              <a:off x="4383948" y="2482215"/>
              <a:ext cx="242754" cy="147638"/>
            </a:xfrm>
            <a:prstGeom prst="rect">
              <a:avLst/>
            </a:prstGeom>
            <a:noFill/>
            <a:ln>
              <a:noFill/>
            </a:ln>
          </p:spPr>
          <p:txBody>
            <a:bodyPr wrap="none" lIns="0" tIns="0" rIns="0" bIns="0" anchor="t" anchorCtr="0">
              <a:spAutoFit/>
            </a:bodyPr>
            <a:lstStyle/>
            <a:p>
              <a:pPr algn="ctr"/>
              <a:r>
                <a:rPr lang="en-US" sz="750" b="1" dirty="0">
                  <a:solidFill>
                    <a:srgbClr val="F4C24C"/>
                  </a:solidFill>
                  <a:latin typeface="+mn-lt"/>
                  <a:ea typeface="+mn-ea"/>
                  <a:cs typeface="+mn-cs"/>
                </a:rPr>
                <a:t>0.55</a:t>
              </a:r>
            </a:p>
          </p:txBody>
        </p:sp>
        <p:sp>
          <p:nvSpPr>
            <p:cNvPr id="17" name="TextBox 17"/>
            <p:cNvSpPr txBox="1"/>
            <p:nvPr/>
          </p:nvSpPr>
          <p:spPr>
            <a:xfrm>
              <a:off x="4236359" y="3074432"/>
              <a:ext cx="537932"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std. Trans.</a:t>
              </a:r>
            </a:p>
          </p:txBody>
        </p:sp>
        <p:sp>
          <p:nvSpPr>
            <p:cNvPr id="18" name="Rectangle 18"/>
            <p:cNvSpPr/>
            <p:nvPr/>
          </p:nvSpPr>
          <p:spPr>
            <a:xfrm>
              <a:off x="5031105" y="2776347"/>
              <a:ext cx="408940" cy="252603"/>
            </a:xfrm>
            <a:prstGeom prst="roundRect">
              <a:avLst>
                <a:gd name="adj" fmla="val 11312"/>
              </a:avLst>
            </a:prstGeom>
            <a:solidFill>
              <a:srgbClr val="F2685C"/>
            </a:solidFill>
            <a:ln>
              <a:noFill/>
            </a:ln>
          </p:spPr>
        </p:sp>
        <p:sp>
          <p:nvSpPr>
            <p:cNvPr id="19" name="TextBox 19"/>
            <p:cNvSpPr txBox="1"/>
            <p:nvPr/>
          </p:nvSpPr>
          <p:spPr>
            <a:xfrm>
              <a:off x="5114198" y="2638234"/>
              <a:ext cx="242754" cy="147638"/>
            </a:xfrm>
            <a:prstGeom prst="rect">
              <a:avLst/>
            </a:prstGeom>
            <a:noFill/>
            <a:ln>
              <a:noFill/>
            </a:ln>
          </p:spPr>
          <p:txBody>
            <a:bodyPr wrap="none" lIns="0" tIns="0" rIns="0" bIns="0" anchor="t" anchorCtr="0">
              <a:spAutoFit/>
            </a:bodyPr>
            <a:lstStyle/>
            <a:p>
              <a:pPr algn="ctr"/>
              <a:r>
                <a:rPr lang="en-US" sz="750" b="1" dirty="0">
                  <a:solidFill>
                    <a:srgbClr val="F2685C"/>
                  </a:solidFill>
                  <a:latin typeface="+mn-lt"/>
                  <a:ea typeface="+mn-ea"/>
                  <a:cs typeface="+mn-cs"/>
                </a:rPr>
                <a:t>0.34</a:t>
              </a:r>
            </a:p>
          </p:txBody>
        </p:sp>
        <p:sp>
          <p:nvSpPr>
            <p:cNvPr id="20" name="TextBox 20"/>
            <p:cNvSpPr txBox="1"/>
            <p:nvPr/>
          </p:nvSpPr>
          <p:spPr>
            <a:xfrm>
              <a:off x="5064178" y="3074432"/>
              <a:ext cx="342793"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no OSIL</a:t>
              </a:r>
            </a:p>
          </p:txBody>
        </p:sp>
        <p:sp>
          <p:nvSpPr>
            <p:cNvPr id="21" name="TextBox 21"/>
            <p:cNvSpPr txBox="1"/>
            <p:nvPr/>
          </p:nvSpPr>
          <p:spPr>
            <a:xfrm>
              <a:off x="5122255" y="3179207"/>
              <a:ext cx="226640" cy="126206"/>
            </a:xfrm>
            <a:prstGeom prst="rect">
              <a:avLst/>
            </a:prstGeom>
            <a:noFill/>
            <a:ln>
              <a:noFill/>
            </a:ln>
          </p:spPr>
          <p:txBody>
            <a:bodyPr wrap="none" lIns="0" tIns="0" rIns="0" bIns="0" anchor="t" anchorCtr="0">
              <a:spAutoFit/>
            </a:bodyPr>
            <a:lstStyle/>
            <a:p>
              <a:pPr algn="ctr"/>
              <a:r>
                <a:rPr lang="en-US" sz="640" b="1" dirty="0">
                  <a:solidFill>
                    <a:schemeClr val="dk2"/>
                  </a:solidFill>
                  <a:latin typeface="+mn-lt"/>
                  <a:ea typeface="+mn-ea"/>
                  <a:cs typeface="+mn-cs"/>
                </a:rPr>
                <a:t>rew.</a:t>
              </a:r>
            </a:p>
          </p:txBody>
        </p:sp>
        <p:sp>
          <p:nvSpPr>
            <p:cNvPr id="22" name="TextBox 22"/>
            <p:cNvSpPr txBox="1"/>
            <p:nvPr/>
          </p:nvSpPr>
          <p:spPr>
            <a:xfrm>
              <a:off x="3367088" y="2048589"/>
              <a:ext cx="1349532" cy="154781"/>
            </a:xfrm>
            <a:prstGeom prst="rect">
              <a:avLst/>
            </a:prstGeom>
            <a:noFill/>
            <a:ln>
              <a:noFill/>
            </a:ln>
          </p:spPr>
          <p:txBody>
            <a:bodyPr wrap="none" lIns="0" tIns="0" rIns="0" bIns="0" anchor="t" anchorCtr="0">
              <a:spAutoFit/>
            </a:bodyPr>
            <a:lstStyle/>
            <a:p>
              <a:pPr algn="l"/>
              <a:r>
                <a:rPr lang="en-US" sz="790" b="1" dirty="0">
                  <a:solidFill>
                    <a:schemeClr val="dk2"/>
                  </a:solidFill>
                  <a:latin typeface="+mn-lt"/>
                  <a:ea typeface="+mn-ea"/>
                  <a:cs typeface="+mn-cs"/>
                </a:rPr>
                <a:t>asymptotic performance</a:t>
              </a:r>
            </a:p>
          </p:txBody>
        </p:sp>
      </p:grpSp>
      <p:grpSp>
        <p:nvGrpSpPr>
          <p:cNvPr id="31" name="Group 31"/>
          <p:cNvGrpSpPr/>
          <p:nvPr/>
        </p:nvGrpSpPr>
        <p:grpSpPr>
          <a:xfrm>
            <a:off x="609600" y="3600450"/>
            <a:ext cx="5334000" cy="1638300"/>
            <a:chOff x="609600" y="3600450"/>
            <a:chExt cx="5334000" cy="1638300"/>
          </a:xfrm>
        </p:grpSpPr>
        <p:sp>
          <p:nvSpPr>
            <p:cNvPr id="24" name="Rectangle 24"/>
            <p:cNvSpPr/>
            <p:nvPr/>
          </p:nvSpPr>
          <p:spPr>
            <a:xfrm>
              <a:off x="609600" y="3600450"/>
              <a:ext cx="5334000" cy="1638300"/>
            </a:xfrm>
            <a:prstGeom prst="roundRect">
              <a:avLst>
                <a:gd name="adj" fmla="val 8140"/>
              </a:avLst>
            </a:prstGeom>
            <a:solidFill>
              <a:srgbClr val="2A2417"/>
            </a:solidFill>
            <a:ln w="14288">
              <a:solidFill>
                <a:srgbClr val="F4C24C"/>
              </a:solidFill>
            </a:ln>
          </p:spPr>
        </p:sp>
        <p:sp>
          <p:nvSpPr>
            <p:cNvPr id="25" name="Rectangle 25"/>
            <p:cNvSpPr/>
            <p:nvPr/>
          </p:nvSpPr>
          <p:spPr>
            <a:xfrm>
              <a:off x="609600" y="3600450"/>
              <a:ext cx="57150" cy="1638300"/>
            </a:xfrm>
            <a:prstGeom prst="roundRect">
              <a:avLst>
                <a:gd name="adj" fmla="val 50000"/>
              </a:avLst>
            </a:prstGeom>
            <a:solidFill>
              <a:srgbClr val="F4C24C"/>
            </a:solidFill>
            <a:ln>
              <a:noFill/>
            </a:ln>
          </p:spPr>
        </p:sp>
        <p:sp>
          <p:nvSpPr>
            <p:cNvPr id="26" name="TextBox 26"/>
            <p:cNvSpPr txBox="1"/>
            <p:nvPr/>
          </p:nvSpPr>
          <p:spPr>
            <a:xfrm>
              <a:off x="870585" y="3821906"/>
              <a:ext cx="2233041" cy="220028"/>
            </a:xfrm>
            <a:prstGeom prst="rect">
              <a:avLst/>
            </a:prstGeom>
            <a:noFill/>
            <a:ln>
              <a:noFill/>
            </a:ln>
          </p:spPr>
          <p:txBody>
            <a:bodyPr wrap="none" lIns="0" tIns="0" rIns="0" bIns="0" anchor="t" anchorCtr="0">
              <a:spAutoFit/>
            </a:bodyPr>
            <a:lstStyle/>
            <a:p>
              <a:pPr algn="l"/>
              <a:r>
                <a:rPr lang="en-US" sz="1120" b="1" dirty="0">
                  <a:solidFill>
                    <a:srgbClr val="F4C24C"/>
                  </a:solidFill>
                  <a:latin typeface="+mn-lt"/>
                  <a:ea typeface="+mn-ea"/>
                  <a:cs typeface="+mn-cs"/>
                </a:rPr>
                <a:t>Standard transformer hurts</a:t>
              </a:r>
            </a:p>
          </p:txBody>
        </p:sp>
        <p:sp>
          <p:nvSpPr>
            <p:cNvPr id="27" name="TextBox 27"/>
            <p:cNvSpPr txBox="1"/>
            <p:nvPr/>
          </p:nvSpPr>
          <p:spPr>
            <a:xfrm>
              <a:off x="871156" y="4100751"/>
              <a:ext cx="378789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Swapping the demonstration transformer for a standard</a:t>
              </a:r>
            </a:p>
          </p:txBody>
        </p:sp>
        <p:sp>
          <p:nvSpPr>
            <p:cNvPr id="28" name="TextBox 28"/>
            <p:cNvSpPr txBox="1"/>
            <p:nvPr/>
          </p:nvSpPr>
          <p:spPr>
            <a:xfrm>
              <a:off x="871156" y="4291251"/>
              <a:ext cx="408927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transformer significantly reduces asymptotic performance -</a:t>
              </a:r>
            </a:p>
          </p:txBody>
        </p:sp>
        <p:sp>
          <p:nvSpPr>
            <p:cNvPr id="29" name="TextBox 29"/>
            <p:cNvSpPr txBox="1"/>
            <p:nvPr/>
          </p:nvSpPr>
          <p:spPr>
            <a:xfrm>
              <a:off x="871156" y="4481751"/>
              <a:ext cx="349102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tailored architecture, not attention in general,</a:t>
              </a:r>
            </a:p>
          </p:txBody>
        </p:sp>
        <p:sp>
          <p:nvSpPr>
            <p:cNvPr id="30" name="TextBox 30"/>
            <p:cNvSpPr txBox="1"/>
            <p:nvPr/>
          </p:nvSpPr>
          <p:spPr>
            <a:xfrm>
              <a:off x="871156" y="4672251"/>
              <a:ext cx="77913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drives DDT.</a:t>
              </a:r>
            </a:p>
          </p:txBody>
        </p:sp>
      </p:grpSp>
      <p:grpSp>
        <p:nvGrpSpPr>
          <p:cNvPr id="48" name="Group 48"/>
          <p:cNvGrpSpPr/>
          <p:nvPr/>
        </p:nvGrpSpPr>
        <p:grpSpPr>
          <a:xfrm>
            <a:off x="6248400" y="1504950"/>
            <a:ext cx="5334000" cy="1943100"/>
            <a:chOff x="6248400" y="1504950"/>
            <a:chExt cx="5334000" cy="1943100"/>
          </a:xfrm>
        </p:grpSpPr>
        <p:sp>
          <p:nvSpPr>
            <p:cNvPr id="32" name="Rectangle 32"/>
            <p:cNvSpPr/>
            <p:nvPr/>
          </p:nvSpPr>
          <p:spPr>
            <a:xfrm>
              <a:off x="6248400" y="1504950"/>
              <a:ext cx="5334000" cy="1943100"/>
            </a:xfrm>
            <a:prstGeom prst="roundRect">
              <a:avLst>
                <a:gd name="adj" fmla="val 6863"/>
              </a:avLst>
            </a:prstGeom>
            <a:solidFill>
              <a:schemeClr val="accent5"/>
            </a:solidFill>
            <a:ln w="14288">
              <a:solidFill>
                <a:schemeClr val="accent4"/>
              </a:solidFill>
            </a:ln>
          </p:spPr>
        </p:sp>
        <p:sp>
          <p:nvSpPr>
            <p:cNvPr id="33" name="Rectangle 33"/>
            <p:cNvSpPr/>
            <p:nvPr/>
          </p:nvSpPr>
          <p:spPr>
            <a:xfrm>
              <a:off x="6248400" y="1504950"/>
              <a:ext cx="57150" cy="1943100"/>
            </a:xfrm>
            <a:prstGeom prst="roundRect">
              <a:avLst>
                <a:gd name="adj" fmla="val 50000"/>
              </a:avLst>
            </a:prstGeom>
            <a:solidFill>
              <a:srgbClr val="F2685C"/>
            </a:solidFill>
            <a:ln>
              <a:noFill/>
            </a:ln>
          </p:spPr>
        </p:sp>
        <p:sp>
          <p:nvSpPr>
            <p:cNvPr id="34" name="TextBox 34"/>
            <p:cNvSpPr txBox="1"/>
            <p:nvPr/>
          </p:nvSpPr>
          <p:spPr>
            <a:xfrm>
              <a:off x="6509004" y="1737360"/>
              <a:ext cx="2205466"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Remove OSIL reward: slow</a:t>
              </a:r>
            </a:p>
          </p:txBody>
        </p:sp>
        <p:sp>
          <p:nvSpPr>
            <p:cNvPr id="35" name="TextBox 35"/>
            <p:cNvSpPr txBox="1"/>
            <p:nvPr/>
          </p:nvSpPr>
          <p:spPr>
            <a:xfrm>
              <a:off x="6510147" y="2028349"/>
              <a:ext cx="28242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Training with only the sparse ending reward</a:t>
              </a:r>
            </a:p>
          </p:txBody>
        </p:sp>
        <p:sp>
          <p:nvSpPr>
            <p:cNvPr id="36" name="TextBox 36"/>
            <p:cNvSpPr txBox="1"/>
            <p:nvPr/>
          </p:nvSpPr>
          <p:spPr>
            <a:xfrm>
              <a:off x="6510147" y="2209324"/>
              <a:ext cx="260678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sharply slows learning; the OSIL reward</a:t>
              </a:r>
            </a:p>
          </p:txBody>
        </p:sp>
        <p:sp>
          <p:nvSpPr>
            <p:cNvPr id="37" name="TextBox 37"/>
            <p:cNvSpPr txBox="1"/>
            <p:nvPr/>
          </p:nvSpPr>
          <p:spPr>
            <a:xfrm>
              <a:off x="6510147" y="2390299"/>
              <a:ext cx="268144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supplies a dense signal to follow the demo</a:t>
              </a:r>
            </a:p>
          </p:txBody>
        </p:sp>
        <p:sp>
          <p:nvSpPr>
            <p:cNvPr id="38" name="TextBox 38"/>
            <p:cNvSpPr txBox="1"/>
            <p:nvPr/>
          </p:nvSpPr>
          <p:spPr>
            <a:xfrm>
              <a:off x="6510147" y="2571274"/>
              <a:ext cx="4122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early.</a:t>
              </a:r>
            </a:p>
          </p:txBody>
        </p:sp>
        <p:sp>
          <p:nvSpPr>
            <p:cNvPr id="39" name="Rectangle 39"/>
            <p:cNvSpPr/>
            <p:nvPr/>
          </p:nvSpPr>
          <p:spPr>
            <a:xfrm>
              <a:off x="9258300" y="1962150"/>
              <a:ext cx="2209800" cy="1333500"/>
            </a:xfrm>
            <a:prstGeom prst="roundRect">
              <a:avLst>
                <a:gd name="adj" fmla="val 5714"/>
              </a:avLst>
            </a:prstGeom>
            <a:solidFill>
              <a:srgbClr val="0E223A"/>
            </a:solidFill>
            <a:ln w="14288">
              <a:solidFill>
                <a:schemeClr val="accent4"/>
              </a:solidFill>
            </a:ln>
          </p:spPr>
        </p:sp>
        <p:sp>
          <p:nvSpPr>
            <p:cNvPr id="40" name="Line 40"/>
            <p:cNvSpPr/>
            <p:nvPr/>
          </p:nvSpPr>
          <p:spPr>
            <a:xfrm>
              <a:off x="9544050" y="3086100"/>
              <a:ext cx="1790700" cy="9525"/>
            </a:xfrm>
            <a:custGeom>
              <a:avLst/>
              <a:gdLst/>
              <a:ahLst/>
              <a:cxnLst/>
              <a:rect l="l" t="t" r="r" b="b"/>
              <a:pathLst>
                <a:path w="1790700" h="9525">
                  <a:moveTo>
                    <a:pt x="0" y="0"/>
                  </a:moveTo>
                  <a:lnTo>
                    <a:pt x="1790700" y="0"/>
                  </a:lnTo>
                </a:path>
              </a:pathLst>
            </a:custGeom>
            <a:noFill/>
            <a:ln w="11430" cap="rnd">
              <a:solidFill>
                <a:schemeClr val="accent4"/>
              </a:solidFill>
            </a:ln>
          </p:spPr>
        </p:sp>
        <p:sp>
          <p:nvSpPr>
            <p:cNvPr id="41" name="Line 41"/>
            <p:cNvSpPr/>
            <p:nvPr/>
          </p:nvSpPr>
          <p:spPr>
            <a:xfrm>
              <a:off x="9544050" y="2133600"/>
              <a:ext cx="9525" cy="952500"/>
            </a:xfrm>
            <a:custGeom>
              <a:avLst/>
              <a:gdLst/>
              <a:ahLst/>
              <a:cxnLst/>
              <a:rect l="l" t="t" r="r" b="b"/>
              <a:pathLst>
                <a:path w="9525" h="952500">
                  <a:moveTo>
                    <a:pt x="0" y="952500"/>
                  </a:moveTo>
                  <a:lnTo>
                    <a:pt x="0" y="0"/>
                  </a:lnTo>
                </a:path>
              </a:pathLst>
            </a:custGeom>
            <a:noFill/>
            <a:ln w="11430" cap="rnd">
              <a:solidFill>
                <a:schemeClr val="accent4"/>
              </a:solidFill>
            </a:ln>
          </p:spPr>
        </p:sp>
        <p:sp>
          <p:nvSpPr>
            <p:cNvPr id="42" name="Polyline 42"/>
            <p:cNvSpPr/>
            <p:nvPr/>
          </p:nvSpPr>
          <p:spPr>
            <a:xfrm>
              <a:off x="9544050" y="2799053"/>
              <a:ext cx="1790700" cy="287047"/>
            </a:xfrm>
            <a:custGeom>
              <a:avLst/>
              <a:gdLst/>
              <a:ahLst/>
              <a:cxnLst/>
              <a:rect l="l" t="t" r="r" b="b"/>
              <a:pathLst>
                <a:path w="1790700" h="287047">
                  <a:moveTo>
                    <a:pt x="0" y="287047"/>
                  </a:moveTo>
                  <a:lnTo>
                    <a:pt x="89535" y="261289"/>
                  </a:lnTo>
                  <a:lnTo>
                    <a:pt x="179070" y="237272"/>
                  </a:lnTo>
                  <a:lnTo>
                    <a:pt x="268605" y="214879"/>
                  </a:lnTo>
                  <a:lnTo>
                    <a:pt x="358140" y="194000"/>
                  </a:lnTo>
                  <a:lnTo>
                    <a:pt x="447675" y="174533"/>
                  </a:lnTo>
                  <a:lnTo>
                    <a:pt x="537210" y="156381"/>
                  </a:lnTo>
                  <a:lnTo>
                    <a:pt x="626745" y="139457"/>
                  </a:lnTo>
                  <a:lnTo>
                    <a:pt x="716280" y="123677"/>
                  </a:lnTo>
                  <a:lnTo>
                    <a:pt x="805815" y="108964"/>
                  </a:lnTo>
                  <a:lnTo>
                    <a:pt x="895350" y="95246"/>
                  </a:lnTo>
                  <a:lnTo>
                    <a:pt x="984885" y="82455"/>
                  </a:lnTo>
                  <a:lnTo>
                    <a:pt x="1074420" y="70528"/>
                  </a:lnTo>
                  <a:lnTo>
                    <a:pt x="1163955" y="59408"/>
                  </a:lnTo>
                  <a:lnTo>
                    <a:pt x="1253490" y="49040"/>
                  </a:lnTo>
                  <a:lnTo>
                    <a:pt x="1343025" y="39373"/>
                  </a:lnTo>
                  <a:lnTo>
                    <a:pt x="1432560" y="30359"/>
                  </a:lnTo>
                  <a:lnTo>
                    <a:pt x="1522095" y="21955"/>
                  </a:lnTo>
                  <a:lnTo>
                    <a:pt x="1611630" y="14119"/>
                  </a:lnTo>
                  <a:lnTo>
                    <a:pt x="1701165" y="6812"/>
                  </a:lnTo>
                  <a:lnTo>
                    <a:pt x="1790700" y="0"/>
                  </a:lnTo>
                </a:path>
              </a:pathLst>
            </a:custGeom>
            <a:noFill/>
            <a:ln w="22860" cap="rnd">
              <a:solidFill>
                <a:srgbClr val="F2685C"/>
              </a:solidFill>
              <a:custDash>
                <a:ds d="250000" sp="208333"/>
              </a:custDash>
              <a:round/>
            </a:ln>
          </p:spPr>
        </p:sp>
        <p:sp>
          <p:nvSpPr>
            <p:cNvPr id="43" name="Polyline 43"/>
            <p:cNvSpPr/>
            <p:nvPr/>
          </p:nvSpPr>
          <p:spPr>
            <a:xfrm>
              <a:off x="9544050" y="2279234"/>
              <a:ext cx="1790700" cy="806866"/>
            </a:xfrm>
            <a:custGeom>
              <a:avLst/>
              <a:gdLst/>
              <a:ahLst/>
              <a:cxnLst/>
              <a:rect l="l" t="t" r="r" b="b"/>
              <a:pathLst>
                <a:path w="1790700" h="806866">
                  <a:moveTo>
                    <a:pt x="0" y="806866"/>
                  </a:moveTo>
                  <a:lnTo>
                    <a:pt x="89535" y="651706"/>
                  </a:lnTo>
                  <a:lnTo>
                    <a:pt x="179070" y="525936"/>
                  </a:lnTo>
                  <a:lnTo>
                    <a:pt x="268605" y="423989"/>
                  </a:lnTo>
                  <a:lnTo>
                    <a:pt x="358140" y="341352"/>
                  </a:lnTo>
                  <a:lnTo>
                    <a:pt x="447675" y="274368"/>
                  </a:lnTo>
                  <a:lnTo>
                    <a:pt x="537210" y="220072"/>
                  </a:lnTo>
                  <a:lnTo>
                    <a:pt x="626745" y="176060"/>
                  </a:lnTo>
                  <a:lnTo>
                    <a:pt x="716280" y="140385"/>
                  </a:lnTo>
                  <a:lnTo>
                    <a:pt x="805815" y="111467"/>
                  </a:lnTo>
                  <a:lnTo>
                    <a:pt x="895350" y="88027"/>
                  </a:lnTo>
                  <a:lnTo>
                    <a:pt x="984885" y="69026"/>
                  </a:lnTo>
                  <a:lnTo>
                    <a:pt x="1074420" y="53625"/>
                  </a:lnTo>
                  <a:lnTo>
                    <a:pt x="1163955" y="41141"/>
                  </a:lnTo>
                  <a:lnTo>
                    <a:pt x="1253490" y="31021"/>
                  </a:lnTo>
                  <a:lnTo>
                    <a:pt x="1343025" y="22819"/>
                  </a:lnTo>
                  <a:lnTo>
                    <a:pt x="1432560" y="16170"/>
                  </a:lnTo>
                  <a:lnTo>
                    <a:pt x="1522095" y="10780"/>
                  </a:lnTo>
                  <a:lnTo>
                    <a:pt x="1611630" y="6412"/>
                  </a:lnTo>
                  <a:lnTo>
                    <a:pt x="1701165" y="2870"/>
                  </a:lnTo>
                  <a:lnTo>
                    <a:pt x="1790700" y="0"/>
                  </a:lnTo>
                </a:path>
              </a:pathLst>
            </a:custGeom>
            <a:noFill/>
            <a:ln w="26670" cap="rnd">
              <a:solidFill>
                <a:srgbClr val="46C98B"/>
              </a:solidFill>
              <a:round/>
            </a:ln>
          </p:spPr>
        </p:sp>
        <p:sp>
          <p:nvSpPr>
            <p:cNvPr id="44" name="TextBox 44"/>
            <p:cNvSpPr txBox="1"/>
            <p:nvPr/>
          </p:nvSpPr>
          <p:spPr>
            <a:xfrm>
              <a:off x="10901709" y="2132886"/>
              <a:ext cx="437803" cy="140494"/>
            </a:xfrm>
            <a:prstGeom prst="rect">
              <a:avLst/>
            </a:prstGeom>
            <a:noFill/>
            <a:ln>
              <a:noFill/>
            </a:ln>
          </p:spPr>
          <p:txBody>
            <a:bodyPr wrap="none" lIns="0" tIns="0" rIns="0" bIns="0" anchor="t" anchorCtr="0">
              <a:spAutoFit/>
            </a:bodyPr>
            <a:lstStyle/>
            <a:p>
              <a:pPr algn="r"/>
              <a:r>
                <a:rPr lang="en-US" sz="710" b="1" dirty="0">
                  <a:solidFill>
                    <a:srgbClr val="46C98B"/>
                  </a:solidFill>
                  <a:latin typeface="+mn-lt"/>
                  <a:ea typeface="+mn-ea"/>
                  <a:cs typeface="+mn-cs"/>
                </a:rPr>
                <a:t>full OSIL</a:t>
              </a:r>
            </a:p>
          </p:txBody>
        </p:sp>
        <p:sp>
          <p:nvSpPr>
            <p:cNvPr id="45" name="TextBox 45"/>
            <p:cNvSpPr txBox="1"/>
            <p:nvPr/>
          </p:nvSpPr>
          <p:spPr>
            <a:xfrm>
              <a:off x="10772994" y="2971086"/>
              <a:ext cx="566519" cy="140494"/>
            </a:xfrm>
            <a:prstGeom prst="rect">
              <a:avLst/>
            </a:prstGeom>
            <a:noFill/>
            <a:ln>
              <a:noFill/>
            </a:ln>
          </p:spPr>
          <p:txBody>
            <a:bodyPr wrap="none" lIns="0" tIns="0" rIns="0" bIns="0" anchor="t" anchorCtr="0">
              <a:spAutoFit/>
            </a:bodyPr>
            <a:lstStyle/>
            <a:p>
              <a:pPr algn="r"/>
              <a:r>
                <a:rPr lang="en-US" sz="710" b="1" dirty="0">
                  <a:solidFill>
                    <a:srgbClr val="F2685C"/>
                  </a:solidFill>
                  <a:latin typeface="+mn-lt"/>
                  <a:ea typeface="+mn-ea"/>
                  <a:cs typeface="+mn-cs"/>
                </a:rPr>
                <a:t>sparse only</a:t>
              </a:r>
            </a:p>
          </p:txBody>
        </p:sp>
        <p:sp>
          <p:nvSpPr>
            <p:cNvPr id="46" name="TextBox 46"/>
            <p:cNvSpPr txBox="1"/>
            <p:nvPr/>
          </p:nvSpPr>
          <p:spPr>
            <a:xfrm>
              <a:off x="9150181" y="2079784"/>
              <a:ext cx="379582" cy="133350"/>
            </a:xfrm>
            <a:prstGeom prst="rect">
              <a:avLst/>
            </a:prstGeom>
            <a:noFill/>
            <a:ln>
              <a:noFill/>
            </a:ln>
          </p:spPr>
          <p:txBody>
            <a:bodyPr wrap="none" lIns="0" tIns="0" rIns="0" bIns="0" anchor="t" anchorCtr="0">
              <a:spAutoFit/>
            </a:bodyPr>
            <a:lstStyle/>
            <a:p>
              <a:pPr algn="r"/>
              <a:r>
                <a:rPr lang="en-US" sz="680" b="1" dirty="0">
                  <a:solidFill>
                    <a:srgbClr val="6E869C"/>
                  </a:solidFill>
                  <a:latin typeface="+mn-lt"/>
                  <a:ea typeface="+mn-ea"/>
                  <a:cs typeface="+mn-cs"/>
                </a:rPr>
                <a:t>success</a:t>
              </a:r>
            </a:p>
          </p:txBody>
        </p:sp>
        <p:sp>
          <p:nvSpPr>
            <p:cNvPr id="47" name="TextBox 47"/>
            <p:cNvSpPr txBox="1"/>
            <p:nvPr/>
          </p:nvSpPr>
          <p:spPr>
            <a:xfrm>
              <a:off x="10931095" y="3146584"/>
              <a:ext cx="408418" cy="133350"/>
            </a:xfrm>
            <a:prstGeom prst="rect">
              <a:avLst/>
            </a:prstGeom>
            <a:noFill/>
            <a:ln>
              <a:noFill/>
            </a:ln>
          </p:spPr>
          <p:txBody>
            <a:bodyPr wrap="none" lIns="0" tIns="0" rIns="0" bIns="0" anchor="t" anchorCtr="0">
              <a:spAutoFit/>
            </a:bodyPr>
            <a:lstStyle/>
            <a:p>
              <a:pPr algn="r"/>
              <a:r>
                <a:rPr lang="en-US" sz="680" b="1" dirty="0">
                  <a:solidFill>
                    <a:srgbClr val="6E869C"/>
                  </a:solidFill>
                  <a:latin typeface="+mn-lt"/>
                  <a:ea typeface="+mn-ea"/>
                  <a:cs typeface="+mn-cs"/>
                </a:rPr>
                <a:t>steps -&gt;</a:t>
              </a:r>
            </a:p>
          </p:txBody>
        </p:sp>
      </p:grpSp>
      <p:grpSp>
        <p:nvGrpSpPr>
          <p:cNvPr id="55" name="Group 55"/>
          <p:cNvGrpSpPr/>
          <p:nvPr/>
        </p:nvGrpSpPr>
        <p:grpSpPr>
          <a:xfrm>
            <a:off x="6248400" y="3600450"/>
            <a:ext cx="5334000" cy="1638300"/>
            <a:chOff x="6248400" y="3600450"/>
            <a:chExt cx="5334000" cy="1638300"/>
          </a:xfrm>
        </p:grpSpPr>
        <p:sp>
          <p:nvSpPr>
            <p:cNvPr id="49" name="Rectangle 49"/>
            <p:cNvSpPr/>
            <p:nvPr/>
          </p:nvSpPr>
          <p:spPr>
            <a:xfrm>
              <a:off x="6248400" y="3600450"/>
              <a:ext cx="5334000" cy="1638300"/>
            </a:xfrm>
            <a:prstGeom prst="roundRect">
              <a:avLst>
                <a:gd name="adj" fmla="val 8140"/>
              </a:avLst>
            </a:prstGeom>
            <a:solidFill>
              <a:srgbClr val="0F2E2B"/>
            </a:solidFill>
            <a:ln w="14288">
              <a:solidFill>
                <a:srgbClr val="46C98B"/>
              </a:solidFill>
            </a:ln>
          </p:spPr>
        </p:sp>
        <p:sp>
          <p:nvSpPr>
            <p:cNvPr id="50" name="Rectangle 50"/>
            <p:cNvSpPr/>
            <p:nvPr/>
          </p:nvSpPr>
          <p:spPr>
            <a:xfrm>
              <a:off x="6248400" y="3600450"/>
              <a:ext cx="57150" cy="1638300"/>
            </a:xfrm>
            <a:prstGeom prst="roundRect">
              <a:avLst>
                <a:gd name="adj" fmla="val 50000"/>
              </a:avLst>
            </a:prstGeom>
            <a:solidFill>
              <a:srgbClr val="46C98B"/>
            </a:solidFill>
            <a:ln>
              <a:noFill/>
            </a:ln>
          </p:spPr>
        </p:sp>
        <p:sp>
          <p:nvSpPr>
            <p:cNvPr id="51" name="TextBox 51"/>
            <p:cNvSpPr txBox="1"/>
            <p:nvPr/>
          </p:nvSpPr>
          <p:spPr>
            <a:xfrm>
              <a:off x="6509194" y="3817858"/>
              <a:ext cx="2033796"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Each plays a distinct role</a:t>
              </a:r>
            </a:p>
          </p:txBody>
        </p:sp>
        <p:sp>
          <p:nvSpPr>
            <p:cNvPr id="52" name="TextBox 52"/>
            <p:cNvSpPr txBox="1"/>
            <p:nvPr/>
          </p:nvSpPr>
          <p:spPr>
            <a:xfrm>
              <a:off x="6509956" y="4100751"/>
              <a:ext cx="405296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Together the ablations show the demonstration transformer</a:t>
              </a:r>
            </a:p>
          </p:txBody>
        </p:sp>
        <p:sp>
          <p:nvSpPr>
            <p:cNvPr id="53" name="TextBox 53"/>
            <p:cNvSpPr txBox="1"/>
            <p:nvPr/>
          </p:nvSpPr>
          <p:spPr>
            <a:xfrm>
              <a:off x="6509956" y="4291251"/>
              <a:ext cx="367934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and the OSIL reward each play a distinct and necessary</a:t>
              </a:r>
            </a:p>
          </p:txBody>
        </p:sp>
        <p:sp>
          <p:nvSpPr>
            <p:cNvPr id="54" name="TextBox 54"/>
            <p:cNvSpPr txBox="1"/>
            <p:nvPr/>
          </p:nvSpPr>
          <p:spPr>
            <a:xfrm>
              <a:off x="6509956" y="4481751"/>
              <a:ext cx="203573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role in DDT's imitation ability.</a:t>
              </a:r>
            </a:p>
          </p:txBody>
        </p:sp>
      </p:grpSp>
      <p:sp>
        <p:nvSpPr>
          <p:cNvPr id="56" name="cue_s08_c1_confirm_component_matters_authors_ab" title="cue_s08_c1_confirm_component_matters_authors_ab" descr="cue_s08_c1_confirm_component_matters_authors_ab To confirm each component matters, the authors ablate two pieces."/>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2_first_they_swap_demonstration_transf" title="cue_s08_c2_first_they_swap_demonstration_transf" descr="cue_s08_c2_first_they_swap_demonstration_transf First, they swap the demonstration transformer for a standard transformer; this significantly reduces the final asymptotic performance, underscoring that the tailored architecture, not just attention in general, is what drives DDT's imitation ability."/>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8_c3_second_they_remove_osil_reward" title="cue_s08_c3_second_they_remove_osil_reward" descr="cue_s08_c3_second_they_remove_osil_reward Second, they remove the OSIL reward and train with only the sparse ending reward; this sharply slows learning, because the OSIL reward supplies a dense, informative signal that lets the agent closely follow the demonstration early in training."/>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4_together_ablations_show_demonstratio" title="cue_s08_c4_together_ablations_show_demonstratio" descr="cue_s08_c4_together_ablations_show_demonstratio Together the ablations show the demonstration transformer and the OSIL reward each play a distinct and necessary role."/>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8848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numbers that capture DDT</a:t>
            </a:r>
          </a:p>
        </p:txBody>
      </p:sp>
      <p:grpSp>
        <p:nvGrpSpPr>
          <p:cNvPr id="14" name="Group 14"/>
          <p:cNvGrpSpPr/>
          <p:nvPr/>
        </p:nvGrpSpPr>
        <p:grpSpPr>
          <a:xfrm>
            <a:off x="609600" y="1581150"/>
            <a:ext cx="10972800" cy="1143000"/>
            <a:chOff x="609600" y="1581150"/>
            <a:chExt cx="10972800" cy="1143000"/>
          </a:xfrm>
        </p:grpSpPr>
        <p:sp>
          <p:nvSpPr>
            <p:cNvPr id="5" name="Rectangle 5"/>
            <p:cNvSpPr/>
            <p:nvPr/>
          </p:nvSpPr>
          <p:spPr>
            <a:xfrm>
              <a:off x="609600" y="1581150"/>
              <a:ext cx="10972800" cy="1143000"/>
            </a:xfrm>
            <a:prstGeom prst="roundRect">
              <a:avLst>
                <a:gd name="adj" fmla="val 11667"/>
              </a:avLst>
            </a:prstGeom>
            <a:solidFill>
              <a:srgbClr val="0F2E2B"/>
            </a:solidFill>
            <a:ln w="14288">
              <a:solidFill>
                <a:srgbClr val="46C98B"/>
              </a:solidFill>
            </a:ln>
          </p:spPr>
        </p:sp>
        <p:sp>
          <p:nvSpPr>
            <p:cNvPr id="6" name="Rectangle 6"/>
            <p:cNvSpPr/>
            <p:nvPr/>
          </p:nvSpPr>
          <p:spPr>
            <a:xfrm>
              <a:off x="609600" y="1581150"/>
              <a:ext cx="57150" cy="1143000"/>
            </a:xfrm>
            <a:prstGeom prst="roundRect">
              <a:avLst>
                <a:gd name="adj" fmla="val 50000"/>
              </a:avLst>
            </a:prstGeom>
            <a:solidFill>
              <a:srgbClr val="46C98B"/>
            </a:solidFill>
            <a:ln>
              <a:noFill/>
            </a:ln>
          </p:spPr>
        </p:sp>
        <p:sp>
          <p:nvSpPr>
            <p:cNvPr id="7" name="TextBox 7"/>
            <p:cNvSpPr txBox="1"/>
            <p:nvPr/>
          </p:nvSpPr>
          <p:spPr>
            <a:xfrm>
              <a:off x="870014" y="1790462"/>
              <a:ext cx="3918052"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Under unforeseen obstacles, DDT wins clearly</a:t>
              </a:r>
            </a:p>
          </p:txBody>
        </p:sp>
        <p:sp>
          <p:nvSpPr>
            <p:cNvPr id="8" name="Rectangle 8"/>
            <p:cNvSpPr/>
            <p:nvPr/>
          </p:nvSpPr>
          <p:spPr>
            <a:xfrm>
              <a:off x="876300" y="2038350"/>
              <a:ext cx="2857500" cy="571500"/>
            </a:xfrm>
            <a:prstGeom prst="roundRect">
              <a:avLst>
                <a:gd name="adj" fmla="val 20000"/>
              </a:avLst>
            </a:prstGeom>
            <a:solidFill>
              <a:schemeClr val="accent6"/>
            </a:solidFill>
            <a:ln w="14288">
              <a:solidFill>
                <a:schemeClr val="accent4"/>
              </a:solidFill>
            </a:ln>
          </p:spPr>
        </p:sp>
        <p:sp>
          <p:nvSpPr>
            <p:cNvPr id="9" name="TextBox 9"/>
            <p:cNvSpPr txBox="1"/>
            <p:nvPr/>
          </p:nvSpPr>
          <p:spPr>
            <a:xfrm>
              <a:off x="1713357" y="2170366"/>
              <a:ext cx="1183387" cy="299237"/>
            </a:xfrm>
            <a:prstGeom prst="rect">
              <a:avLst/>
            </a:prstGeom>
            <a:noFill/>
            <a:ln>
              <a:noFill/>
            </a:ln>
          </p:spPr>
          <p:txBody>
            <a:bodyPr wrap="none" lIns="0" tIns="0" rIns="0" bIns="0" anchor="t" anchorCtr="0">
              <a:spAutoFit/>
            </a:bodyPr>
            <a:lstStyle/>
            <a:p>
              <a:pPr algn="ctr"/>
              <a:r>
                <a:rPr lang="en-US" sz="1530" b="1" dirty="0">
                  <a:solidFill>
                    <a:srgbClr val="46C98B"/>
                  </a:solidFill>
                  <a:latin typeface="+mn-lt"/>
                  <a:ea typeface="+mn-ea"/>
                  <a:cs typeface="+mn-cs"/>
                </a:rPr>
                <a:t>73% vs 57%</a:t>
              </a:r>
            </a:p>
          </p:txBody>
        </p:sp>
        <p:sp>
          <p:nvSpPr>
            <p:cNvPr id="10" name="TextBox 10"/>
            <p:cNvSpPr txBox="1"/>
            <p:nvPr/>
          </p:nvSpPr>
          <p:spPr>
            <a:xfrm>
              <a:off x="1646076" y="2394347"/>
              <a:ext cx="131794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DDT vs best baseline</a:t>
              </a:r>
            </a:p>
          </p:txBody>
        </p:sp>
        <p:sp>
          <p:nvSpPr>
            <p:cNvPr id="11" name="Rectangle 11"/>
            <p:cNvSpPr/>
            <p:nvPr/>
          </p:nvSpPr>
          <p:spPr>
            <a:xfrm>
              <a:off x="3905250" y="2038350"/>
              <a:ext cx="7677150" cy="571500"/>
            </a:xfrm>
            <a:prstGeom prst="roundRect">
              <a:avLst>
                <a:gd name="adj" fmla="val 20000"/>
              </a:avLst>
            </a:prstGeom>
            <a:solidFill>
              <a:schemeClr val="accent6"/>
            </a:solidFill>
            <a:ln w="14288">
              <a:solidFill>
                <a:schemeClr val="accent4"/>
              </a:solidFill>
            </a:ln>
          </p:spPr>
        </p:sp>
        <p:sp>
          <p:nvSpPr>
            <p:cNvPr id="12" name="TextBox 12"/>
            <p:cNvSpPr txBox="1"/>
            <p:nvPr/>
          </p:nvSpPr>
          <p:spPr>
            <a:xfrm>
              <a:off x="4090606" y="2176701"/>
              <a:ext cx="608239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 the hardest VPAM setting DDT succeeds 73% of the time, against 57% for the strongest</a:t>
              </a:r>
            </a:p>
          </p:txBody>
        </p:sp>
        <p:sp>
          <p:nvSpPr>
            <p:cNvPr id="13" name="TextBox 13"/>
            <p:cNvSpPr txBox="1"/>
            <p:nvPr/>
          </p:nvSpPr>
          <p:spPr>
            <a:xfrm>
              <a:off x="4090606" y="2367201"/>
              <a:ext cx="436120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competitor - the gap widens exactly where robustness is tested.</a:t>
              </a:r>
            </a:p>
          </p:txBody>
        </p:sp>
      </p:grpSp>
      <p:grpSp>
        <p:nvGrpSpPr>
          <p:cNvPr id="26" name="Group 26"/>
          <p:cNvGrpSpPr/>
          <p:nvPr/>
        </p:nvGrpSpPr>
        <p:grpSpPr>
          <a:xfrm>
            <a:off x="609600" y="2876550"/>
            <a:ext cx="3505200" cy="1543050"/>
            <a:chOff x="609600" y="2876550"/>
            <a:chExt cx="3505200" cy="1543050"/>
          </a:xfrm>
        </p:grpSpPr>
        <p:sp>
          <p:nvSpPr>
            <p:cNvPr id="15" name="Rectangle 15"/>
            <p:cNvSpPr/>
            <p:nvPr/>
          </p:nvSpPr>
          <p:spPr>
            <a:xfrm>
              <a:off x="609600" y="2876550"/>
              <a:ext cx="3505200" cy="1543050"/>
            </a:xfrm>
            <a:prstGeom prst="roundRect">
              <a:avLst>
                <a:gd name="adj" fmla="val 8642"/>
              </a:avLst>
            </a:prstGeom>
            <a:solidFill>
              <a:schemeClr val="accent5"/>
            </a:solidFill>
            <a:ln w="14288">
              <a:solidFill>
                <a:schemeClr val="accent4"/>
              </a:solidFill>
            </a:ln>
          </p:spPr>
        </p:sp>
        <p:sp>
          <p:nvSpPr>
            <p:cNvPr id="16" name="Rectangle 16"/>
            <p:cNvSpPr/>
            <p:nvPr/>
          </p:nvSpPr>
          <p:spPr>
            <a:xfrm>
              <a:off x="609600" y="2876550"/>
              <a:ext cx="57150" cy="1543050"/>
            </a:xfrm>
            <a:prstGeom prst="roundRect">
              <a:avLst>
                <a:gd name="adj" fmla="val 50000"/>
              </a:avLst>
            </a:prstGeom>
            <a:solidFill>
              <a:schemeClr val="accent2"/>
            </a:solidFill>
            <a:ln>
              <a:noFill/>
            </a:ln>
          </p:spPr>
        </p:sp>
        <p:sp>
          <p:nvSpPr>
            <p:cNvPr id="17" name="TextBox 17"/>
            <p:cNvSpPr txBox="1"/>
            <p:nvPr/>
          </p:nvSpPr>
          <p:spPr>
            <a:xfrm>
              <a:off x="870776" y="3063954"/>
              <a:ext cx="1673579" cy="212693"/>
            </a:xfrm>
            <a:prstGeom prst="rect">
              <a:avLst/>
            </a:prstGeom>
            <a:noFill/>
            <a:ln>
              <a:noFill/>
            </a:ln>
          </p:spPr>
          <p:txBody>
            <a:bodyPr wrap="none" lIns="0" tIns="0" rIns="0" bIns="0" anchor="t" anchorCtr="0">
              <a:spAutoFit/>
            </a:bodyPr>
            <a:lstStyle/>
            <a:p>
              <a:pPr algn="l"/>
              <a:r>
                <a:rPr lang="en-US" sz="1090" b="1" dirty="0">
                  <a:solidFill>
                    <a:schemeClr val="accent2"/>
                  </a:solidFill>
                  <a:latin typeface="+mn-lt"/>
                  <a:ea typeface="+mn-ea"/>
                  <a:cs typeface="+mn-cs"/>
                </a:rPr>
                <a:t>Degradation just -15%</a:t>
              </a:r>
            </a:p>
          </p:txBody>
        </p:sp>
        <p:sp>
          <p:nvSpPr>
            <p:cNvPr id="18" name="TextBox 18"/>
            <p:cNvSpPr txBox="1"/>
            <p:nvPr/>
          </p:nvSpPr>
          <p:spPr>
            <a:xfrm>
              <a:off x="871538" y="3297793"/>
              <a:ext cx="1796484"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train -&gt; unforeseen obstacles</a:t>
              </a:r>
            </a:p>
          </p:txBody>
        </p:sp>
        <p:sp>
          <p:nvSpPr>
            <p:cNvPr id="19" name="Rectangle 19"/>
            <p:cNvSpPr/>
            <p:nvPr/>
          </p:nvSpPr>
          <p:spPr>
            <a:xfrm>
              <a:off x="876300" y="3486150"/>
              <a:ext cx="2971800" cy="857250"/>
            </a:xfrm>
            <a:prstGeom prst="roundRect">
              <a:avLst>
                <a:gd name="adj" fmla="val 11111"/>
              </a:avLst>
            </a:prstGeom>
            <a:solidFill>
              <a:schemeClr val="accent6"/>
            </a:solidFill>
            <a:ln w="14288">
              <a:solidFill>
                <a:schemeClr val="accent4"/>
              </a:solidFill>
            </a:ln>
          </p:spPr>
        </p:sp>
        <p:sp>
          <p:nvSpPr>
            <p:cNvPr id="20" name="Rectangle 20"/>
            <p:cNvSpPr/>
            <p:nvPr/>
          </p:nvSpPr>
          <p:spPr>
            <a:xfrm>
              <a:off x="1371600" y="3857625"/>
              <a:ext cx="685800" cy="257175"/>
            </a:xfrm>
            <a:prstGeom prst="roundRect">
              <a:avLst>
                <a:gd name="adj" fmla="val 18519"/>
              </a:avLst>
            </a:prstGeom>
            <a:solidFill>
              <a:srgbClr val="46C98B"/>
            </a:solidFill>
            <a:ln>
              <a:noFill/>
            </a:ln>
          </p:spPr>
        </p:sp>
        <p:sp>
          <p:nvSpPr>
            <p:cNvPr id="21" name="TextBox 21"/>
            <p:cNvSpPr txBox="1"/>
            <p:nvPr/>
          </p:nvSpPr>
          <p:spPr>
            <a:xfrm>
              <a:off x="1531064" y="3668078"/>
              <a:ext cx="366873"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-15%</a:t>
              </a:r>
            </a:p>
          </p:txBody>
        </p:sp>
        <p:sp>
          <p:nvSpPr>
            <p:cNvPr id="22" name="TextBox 22"/>
            <p:cNvSpPr txBox="1"/>
            <p:nvPr/>
          </p:nvSpPr>
          <p:spPr>
            <a:xfrm>
              <a:off x="1608701" y="4178141"/>
              <a:ext cx="21159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DDT</a:t>
              </a:r>
            </a:p>
          </p:txBody>
        </p:sp>
        <p:sp>
          <p:nvSpPr>
            <p:cNvPr id="23" name="Rectangle 23"/>
            <p:cNvSpPr/>
            <p:nvPr/>
          </p:nvSpPr>
          <p:spPr>
            <a:xfrm>
              <a:off x="2667000" y="3771900"/>
              <a:ext cx="685800" cy="342900"/>
            </a:xfrm>
            <a:prstGeom prst="roundRect">
              <a:avLst>
                <a:gd name="adj" fmla="val 13889"/>
              </a:avLst>
            </a:prstGeom>
            <a:solidFill>
              <a:schemeClr val="dk2"/>
            </a:solidFill>
            <a:ln>
              <a:noFill/>
            </a:ln>
          </p:spPr>
        </p:sp>
        <p:sp>
          <p:nvSpPr>
            <p:cNvPr id="24" name="TextBox 24"/>
            <p:cNvSpPr txBox="1"/>
            <p:nvPr/>
          </p:nvSpPr>
          <p:spPr>
            <a:xfrm>
              <a:off x="2826464" y="3582352"/>
              <a:ext cx="366873"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-20%</a:t>
              </a:r>
            </a:p>
          </p:txBody>
        </p:sp>
        <p:sp>
          <p:nvSpPr>
            <p:cNvPr id="25" name="TextBox 25"/>
            <p:cNvSpPr txBox="1"/>
            <p:nvPr/>
          </p:nvSpPr>
          <p:spPr>
            <a:xfrm>
              <a:off x="2732754" y="4178141"/>
              <a:ext cx="55429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best base</a:t>
              </a:r>
            </a:p>
          </p:txBody>
        </p:sp>
      </p:grpSp>
      <p:grpSp>
        <p:nvGrpSpPr>
          <p:cNvPr id="38" name="Group 38"/>
          <p:cNvGrpSpPr/>
          <p:nvPr/>
        </p:nvGrpSpPr>
        <p:grpSpPr>
          <a:xfrm>
            <a:off x="4343400" y="2876550"/>
            <a:ext cx="3505200" cy="1543050"/>
            <a:chOff x="4343400" y="2876550"/>
            <a:chExt cx="3505200" cy="1543050"/>
          </a:xfrm>
        </p:grpSpPr>
        <p:sp>
          <p:nvSpPr>
            <p:cNvPr id="27" name="Rectangle 27"/>
            <p:cNvSpPr/>
            <p:nvPr/>
          </p:nvSpPr>
          <p:spPr>
            <a:xfrm>
              <a:off x="4343400" y="2876550"/>
              <a:ext cx="3505200" cy="1543050"/>
            </a:xfrm>
            <a:prstGeom prst="roundRect">
              <a:avLst>
                <a:gd name="adj" fmla="val 8642"/>
              </a:avLst>
            </a:prstGeom>
            <a:solidFill>
              <a:schemeClr val="accent5"/>
            </a:solidFill>
            <a:ln w="14288">
              <a:solidFill>
                <a:schemeClr val="accent4"/>
              </a:solidFill>
            </a:ln>
          </p:spPr>
        </p:sp>
        <p:sp>
          <p:nvSpPr>
            <p:cNvPr id="28" name="Rectangle 28"/>
            <p:cNvSpPr/>
            <p:nvPr/>
          </p:nvSpPr>
          <p:spPr>
            <a:xfrm>
              <a:off x="4343400" y="2876550"/>
              <a:ext cx="57150" cy="1543050"/>
            </a:xfrm>
            <a:prstGeom prst="roundRect">
              <a:avLst>
                <a:gd name="adj" fmla="val 50000"/>
              </a:avLst>
            </a:prstGeom>
            <a:solidFill>
              <a:srgbClr val="F4C24C"/>
            </a:solidFill>
            <a:ln>
              <a:noFill/>
            </a:ln>
          </p:spPr>
        </p:sp>
        <p:sp>
          <p:nvSpPr>
            <p:cNvPr id="29" name="TextBox 29"/>
            <p:cNvSpPr txBox="1"/>
            <p:nvPr/>
          </p:nvSpPr>
          <p:spPr>
            <a:xfrm>
              <a:off x="4604576" y="3063954"/>
              <a:ext cx="2033077" cy="212693"/>
            </a:xfrm>
            <a:prstGeom prst="rect">
              <a:avLst/>
            </a:prstGeom>
            <a:noFill/>
            <a:ln>
              <a:noFill/>
            </a:ln>
          </p:spPr>
          <p:txBody>
            <a:bodyPr wrap="none" lIns="0" tIns="0" rIns="0" bIns="0" anchor="t" anchorCtr="0">
              <a:spAutoFit/>
            </a:bodyPr>
            <a:lstStyle/>
            <a:p>
              <a:pPr algn="l"/>
              <a:r>
                <a:rPr lang="en-US" sz="1090" b="1" dirty="0">
                  <a:solidFill>
                    <a:srgbClr val="F4C24C"/>
                  </a:solidFill>
                  <a:latin typeface="+mn-lt"/>
                  <a:ea typeface="+mn-ea"/>
                  <a:cs typeface="+mn-cs"/>
                </a:rPr>
                <a:t>Meta-World, unseen demos</a:t>
              </a:r>
            </a:p>
          </p:txBody>
        </p:sp>
        <p:sp>
          <p:nvSpPr>
            <p:cNvPr id="30" name="TextBox 30"/>
            <p:cNvSpPr txBox="1"/>
            <p:nvPr/>
          </p:nvSpPr>
          <p:spPr>
            <a:xfrm>
              <a:off x="4605338" y="3297793"/>
              <a:ext cx="1383174"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with added disturbance</a:t>
              </a:r>
            </a:p>
          </p:txBody>
        </p:sp>
        <p:sp>
          <p:nvSpPr>
            <p:cNvPr id="31" name="Rectangle 31"/>
            <p:cNvSpPr/>
            <p:nvPr/>
          </p:nvSpPr>
          <p:spPr>
            <a:xfrm>
              <a:off x="4610100" y="3486150"/>
              <a:ext cx="2971800" cy="857250"/>
            </a:xfrm>
            <a:prstGeom prst="roundRect">
              <a:avLst>
                <a:gd name="adj" fmla="val 11111"/>
              </a:avLst>
            </a:prstGeom>
            <a:solidFill>
              <a:schemeClr val="accent6"/>
            </a:solidFill>
            <a:ln w="14288">
              <a:solidFill>
                <a:schemeClr val="accent4"/>
              </a:solidFill>
            </a:ln>
          </p:spPr>
        </p:sp>
        <p:sp>
          <p:nvSpPr>
            <p:cNvPr id="32" name="Rectangle 32"/>
            <p:cNvSpPr/>
            <p:nvPr/>
          </p:nvSpPr>
          <p:spPr>
            <a:xfrm>
              <a:off x="5105400" y="3771900"/>
              <a:ext cx="685800" cy="342900"/>
            </a:xfrm>
            <a:prstGeom prst="roundRect">
              <a:avLst>
                <a:gd name="adj" fmla="val 13889"/>
              </a:avLst>
            </a:prstGeom>
            <a:solidFill>
              <a:srgbClr val="46C98B"/>
            </a:solidFill>
            <a:ln>
              <a:noFill/>
            </a:ln>
          </p:spPr>
        </p:sp>
        <p:sp>
          <p:nvSpPr>
            <p:cNvPr id="33" name="TextBox 33"/>
            <p:cNvSpPr txBox="1"/>
            <p:nvPr/>
          </p:nvSpPr>
          <p:spPr>
            <a:xfrm>
              <a:off x="5305679" y="3582352"/>
              <a:ext cx="285242" cy="205359"/>
            </a:xfrm>
            <a:prstGeom prst="rect">
              <a:avLst/>
            </a:prstGeom>
            <a:noFill/>
            <a:ln>
              <a:noFill/>
            </a:ln>
          </p:spPr>
          <p:txBody>
            <a:bodyPr wrap="none" lIns="0" tIns="0" rIns="0" bIns="0" anchor="t" anchorCtr="0">
              <a:spAutoFit/>
            </a:bodyPr>
            <a:lstStyle/>
            <a:p>
              <a:pPr algn="ctr"/>
              <a:r>
                <a:rPr lang="en-US" sz="1050" b="1" dirty="0">
                  <a:solidFill>
                    <a:srgbClr val="46C98B"/>
                  </a:solidFill>
                  <a:latin typeface="+mn-lt"/>
                  <a:ea typeface="+mn-ea"/>
                  <a:cs typeface="+mn-cs"/>
                </a:rPr>
                <a:t>61%</a:t>
              </a:r>
            </a:p>
          </p:txBody>
        </p:sp>
        <p:sp>
          <p:nvSpPr>
            <p:cNvPr id="34" name="TextBox 34"/>
            <p:cNvSpPr txBox="1"/>
            <p:nvPr/>
          </p:nvSpPr>
          <p:spPr>
            <a:xfrm>
              <a:off x="5342501" y="4178141"/>
              <a:ext cx="211598"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DDT</a:t>
              </a:r>
            </a:p>
          </p:txBody>
        </p:sp>
        <p:sp>
          <p:nvSpPr>
            <p:cNvPr id="35" name="Rectangle 35"/>
            <p:cNvSpPr/>
            <p:nvPr/>
          </p:nvSpPr>
          <p:spPr>
            <a:xfrm>
              <a:off x="6400800" y="4047344"/>
              <a:ext cx="685800" cy="67456"/>
            </a:xfrm>
            <a:prstGeom prst="roundRect">
              <a:avLst>
                <a:gd name="adj" fmla="val 50000"/>
              </a:avLst>
            </a:prstGeom>
            <a:solidFill>
              <a:schemeClr val="dk2"/>
            </a:solidFill>
            <a:ln>
              <a:noFill/>
            </a:ln>
          </p:spPr>
        </p:sp>
        <p:sp>
          <p:nvSpPr>
            <p:cNvPr id="36" name="TextBox 36"/>
            <p:cNvSpPr txBox="1"/>
            <p:nvPr/>
          </p:nvSpPr>
          <p:spPr>
            <a:xfrm>
              <a:off x="6601079" y="3857797"/>
              <a:ext cx="285242"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12%</a:t>
              </a:r>
            </a:p>
          </p:txBody>
        </p:sp>
        <p:sp>
          <p:nvSpPr>
            <p:cNvPr id="37" name="TextBox 37"/>
            <p:cNvSpPr txBox="1"/>
            <p:nvPr/>
          </p:nvSpPr>
          <p:spPr>
            <a:xfrm>
              <a:off x="6466554" y="4178141"/>
              <a:ext cx="554292"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best base</a:t>
              </a:r>
            </a:p>
          </p:txBody>
        </p:sp>
      </p:grpSp>
      <p:grpSp>
        <p:nvGrpSpPr>
          <p:cNvPr id="55" name="Group 55"/>
          <p:cNvGrpSpPr/>
          <p:nvPr/>
        </p:nvGrpSpPr>
        <p:grpSpPr>
          <a:xfrm>
            <a:off x="8077200" y="2876550"/>
            <a:ext cx="3505200" cy="1543050"/>
            <a:chOff x="8077200" y="2876550"/>
            <a:chExt cx="3505200" cy="1543050"/>
          </a:xfrm>
        </p:grpSpPr>
        <p:sp>
          <p:nvSpPr>
            <p:cNvPr id="39" name="Rectangle 39"/>
            <p:cNvSpPr/>
            <p:nvPr/>
          </p:nvSpPr>
          <p:spPr>
            <a:xfrm>
              <a:off x="8077200" y="2876550"/>
              <a:ext cx="3505200" cy="1543050"/>
            </a:xfrm>
            <a:prstGeom prst="roundRect">
              <a:avLst>
                <a:gd name="adj" fmla="val 8642"/>
              </a:avLst>
            </a:prstGeom>
            <a:solidFill>
              <a:schemeClr val="accent5"/>
            </a:solidFill>
            <a:ln w="14288">
              <a:solidFill>
                <a:schemeClr val="accent4"/>
              </a:solidFill>
            </a:ln>
          </p:spPr>
        </p:sp>
        <p:sp>
          <p:nvSpPr>
            <p:cNvPr id="40" name="Rectangle 40"/>
            <p:cNvSpPr/>
            <p:nvPr/>
          </p:nvSpPr>
          <p:spPr>
            <a:xfrm>
              <a:off x="8077200" y="2876550"/>
              <a:ext cx="57150" cy="1543050"/>
            </a:xfrm>
            <a:prstGeom prst="roundRect">
              <a:avLst>
                <a:gd name="adj" fmla="val 50000"/>
              </a:avLst>
            </a:prstGeom>
            <a:solidFill>
              <a:srgbClr val="33D6C0"/>
            </a:solidFill>
            <a:ln>
              <a:noFill/>
            </a:ln>
          </p:spPr>
        </p:sp>
        <p:sp>
          <p:nvSpPr>
            <p:cNvPr id="41" name="TextBox 41"/>
            <p:cNvSpPr txBox="1"/>
            <p:nvPr/>
          </p:nvSpPr>
          <p:spPr>
            <a:xfrm>
              <a:off x="8338376" y="3063954"/>
              <a:ext cx="1394590" cy="212693"/>
            </a:xfrm>
            <a:prstGeom prst="rect">
              <a:avLst/>
            </a:prstGeom>
            <a:noFill/>
            <a:ln>
              <a:noFill/>
            </a:ln>
          </p:spPr>
          <p:txBody>
            <a:bodyPr wrap="none" lIns="0" tIns="0" rIns="0" bIns="0" anchor="t" anchorCtr="0">
              <a:spAutoFit/>
            </a:bodyPr>
            <a:lstStyle/>
            <a:p>
              <a:pPr algn="l"/>
              <a:r>
                <a:rPr lang="en-US" sz="1090" b="1" dirty="0">
                  <a:solidFill>
                    <a:srgbClr val="33D6C0"/>
                  </a:solidFill>
                  <a:latin typeface="+mn-lt"/>
                  <a:ea typeface="+mn-ea"/>
                  <a:cs typeface="+mn-cs"/>
                </a:rPr>
                <a:t>Scales log-linearly</a:t>
              </a:r>
            </a:p>
          </p:txBody>
        </p:sp>
        <p:sp>
          <p:nvSpPr>
            <p:cNvPr id="42" name="TextBox 42"/>
            <p:cNvSpPr txBox="1"/>
            <p:nvPr/>
          </p:nvSpPr>
          <p:spPr>
            <a:xfrm>
              <a:off x="8339138" y="3297793"/>
              <a:ext cx="1565517"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mn-lt"/>
                  <a:ea typeface="+mn-ea"/>
                  <a:cs typeface="+mn-cs"/>
                </a:rPr>
                <a:t>~2x with more parameters</a:t>
              </a:r>
            </a:p>
          </p:txBody>
        </p:sp>
        <p:sp>
          <p:nvSpPr>
            <p:cNvPr id="43" name="Rectangle 43"/>
            <p:cNvSpPr/>
            <p:nvPr/>
          </p:nvSpPr>
          <p:spPr>
            <a:xfrm>
              <a:off x="8343900" y="3486150"/>
              <a:ext cx="2971800" cy="857250"/>
            </a:xfrm>
            <a:prstGeom prst="roundRect">
              <a:avLst>
                <a:gd name="adj" fmla="val 8889"/>
              </a:avLst>
            </a:prstGeom>
            <a:solidFill>
              <a:srgbClr val="0E223A"/>
            </a:solidFill>
            <a:ln w="14288">
              <a:solidFill>
                <a:schemeClr val="accent4"/>
              </a:solidFill>
            </a:ln>
          </p:spPr>
        </p:sp>
        <p:sp>
          <p:nvSpPr>
            <p:cNvPr id="44" name="Line 44"/>
            <p:cNvSpPr/>
            <p:nvPr/>
          </p:nvSpPr>
          <p:spPr>
            <a:xfrm>
              <a:off x="8667750" y="4114800"/>
              <a:ext cx="2495550" cy="9525"/>
            </a:xfrm>
            <a:custGeom>
              <a:avLst/>
              <a:gdLst/>
              <a:ahLst/>
              <a:cxnLst/>
              <a:rect l="l" t="t" r="r" b="b"/>
              <a:pathLst>
                <a:path w="2495550" h="9525">
                  <a:moveTo>
                    <a:pt x="0" y="0"/>
                  </a:moveTo>
                  <a:lnTo>
                    <a:pt x="2495550" y="0"/>
                  </a:lnTo>
                </a:path>
              </a:pathLst>
            </a:custGeom>
            <a:noFill/>
            <a:ln w="11430" cap="rnd">
              <a:solidFill>
                <a:schemeClr val="accent4"/>
              </a:solidFill>
            </a:ln>
          </p:spPr>
        </p:sp>
        <p:sp>
          <p:nvSpPr>
            <p:cNvPr id="45" name="Line 45"/>
            <p:cNvSpPr/>
            <p:nvPr/>
          </p:nvSpPr>
          <p:spPr>
            <a:xfrm>
              <a:off x="8667750" y="3657600"/>
              <a:ext cx="9525" cy="457200"/>
            </a:xfrm>
            <a:custGeom>
              <a:avLst/>
              <a:gdLst/>
              <a:ahLst/>
              <a:cxnLst/>
              <a:rect l="l" t="t" r="r" b="b"/>
              <a:pathLst>
                <a:path w="9525" h="457200">
                  <a:moveTo>
                    <a:pt x="0" y="457200"/>
                  </a:moveTo>
                  <a:lnTo>
                    <a:pt x="0" y="0"/>
                  </a:lnTo>
                </a:path>
              </a:pathLst>
            </a:custGeom>
            <a:noFill/>
            <a:ln w="11430" cap="rnd">
              <a:solidFill>
                <a:schemeClr val="accent4"/>
              </a:solidFill>
            </a:ln>
          </p:spPr>
        </p:sp>
        <p:sp>
          <p:nvSpPr>
            <p:cNvPr id="46" name="Polyline 46"/>
            <p:cNvSpPr/>
            <p:nvPr/>
          </p:nvSpPr>
          <p:spPr>
            <a:xfrm>
              <a:off x="8667750" y="3689604"/>
              <a:ext cx="2495550" cy="342900"/>
            </a:xfrm>
            <a:custGeom>
              <a:avLst/>
              <a:gdLst/>
              <a:ahLst/>
              <a:cxnLst/>
              <a:rect l="l" t="t" r="r" b="b"/>
              <a:pathLst>
                <a:path w="2495550" h="342900">
                  <a:moveTo>
                    <a:pt x="0" y="342900"/>
                  </a:moveTo>
                  <a:lnTo>
                    <a:pt x="499110" y="274320"/>
                  </a:lnTo>
                  <a:lnTo>
                    <a:pt x="998220" y="205740"/>
                  </a:lnTo>
                  <a:lnTo>
                    <a:pt x="1497330" y="137160"/>
                  </a:lnTo>
                  <a:lnTo>
                    <a:pt x="1996440" y="68580"/>
                  </a:lnTo>
                  <a:lnTo>
                    <a:pt x="2495550" y="0"/>
                  </a:lnTo>
                </a:path>
              </a:pathLst>
            </a:custGeom>
            <a:noFill/>
            <a:ln w="26670" cap="rnd">
              <a:solidFill>
                <a:srgbClr val="33D6C0"/>
              </a:solidFill>
              <a:round/>
            </a:ln>
          </p:spPr>
        </p:sp>
        <p:sp>
          <p:nvSpPr>
            <p:cNvPr id="47" name="Ellipse 47"/>
            <p:cNvSpPr/>
            <p:nvPr/>
          </p:nvSpPr>
          <p:spPr>
            <a:xfrm>
              <a:off x="8639175" y="4003929"/>
              <a:ext cx="57150" cy="57150"/>
            </a:xfrm>
            <a:prstGeom prst="ellipse">
              <a:avLst/>
            </a:prstGeom>
            <a:solidFill>
              <a:srgbClr val="33D6C0"/>
            </a:solidFill>
            <a:ln>
              <a:noFill/>
            </a:ln>
          </p:spPr>
        </p:sp>
        <p:sp>
          <p:nvSpPr>
            <p:cNvPr id="48" name="Ellipse 48"/>
            <p:cNvSpPr/>
            <p:nvPr/>
          </p:nvSpPr>
          <p:spPr>
            <a:xfrm>
              <a:off x="9138285" y="3935349"/>
              <a:ext cx="57150" cy="57150"/>
            </a:xfrm>
            <a:prstGeom prst="ellipse">
              <a:avLst/>
            </a:prstGeom>
            <a:solidFill>
              <a:srgbClr val="33D6C0"/>
            </a:solidFill>
            <a:ln>
              <a:noFill/>
            </a:ln>
          </p:spPr>
        </p:sp>
        <p:sp>
          <p:nvSpPr>
            <p:cNvPr id="49" name="Ellipse 49"/>
            <p:cNvSpPr/>
            <p:nvPr/>
          </p:nvSpPr>
          <p:spPr>
            <a:xfrm>
              <a:off x="9637395" y="3866769"/>
              <a:ext cx="57150" cy="57150"/>
            </a:xfrm>
            <a:prstGeom prst="ellipse">
              <a:avLst/>
            </a:prstGeom>
            <a:solidFill>
              <a:srgbClr val="33D6C0"/>
            </a:solidFill>
            <a:ln>
              <a:noFill/>
            </a:ln>
          </p:spPr>
        </p:sp>
        <p:sp>
          <p:nvSpPr>
            <p:cNvPr id="50" name="Ellipse 50"/>
            <p:cNvSpPr/>
            <p:nvPr/>
          </p:nvSpPr>
          <p:spPr>
            <a:xfrm>
              <a:off x="10136505" y="3798189"/>
              <a:ext cx="57150" cy="57150"/>
            </a:xfrm>
            <a:prstGeom prst="ellipse">
              <a:avLst/>
            </a:prstGeom>
            <a:solidFill>
              <a:srgbClr val="33D6C0"/>
            </a:solidFill>
            <a:ln>
              <a:noFill/>
            </a:ln>
          </p:spPr>
        </p:sp>
        <p:sp>
          <p:nvSpPr>
            <p:cNvPr id="51" name="Ellipse 51"/>
            <p:cNvSpPr/>
            <p:nvPr/>
          </p:nvSpPr>
          <p:spPr>
            <a:xfrm>
              <a:off x="10635615" y="3729609"/>
              <a:ext cx="57150" cy="57150"/>
            </a:xfrm>
            <a:prstGeom prst="ellipse">
              <a:avLst/>
            </a:prstGeom>
            <a:solidFill>
              <a:srgbClr val="33D6C0"/>
            </a:solidFill>
            <a:ln>
              <a:noFill/>
            </a:ln>
          </p:spPr>
        </p:sp>
        <p:sp>
          <p:nvSpPr>
            <p:cNvPr id="52" name="Ellipse 52"/>
            <p:cNvSpPr/>
            <p:nvPr/>
          </p:nvSpPr>
          <p:spPr>
            <a:xfrm>
              <a:off x="11134725" y="3661029"/>
              <a:ext cx="57150" cy="57150"/>
            </a:xfrm>
            <a:prstGeom prst="ellipse">
              <a:avLst/>
            </a:prstGeom>
            <a:solidFill>
              <a:srgbClr val="33D6C0"/>
            </a:solidFill>
            <a:ln>
              <a:noFill/>
            </a:ln>
          </p:spPr>
        </p:sp>
        <p:sp>
          <p:nvSpPr>
            <p:cNvPr id="53" name="TextBox 53"/>
            <p:cNvSpPr txBox="1"/>
            <p:nvPr/>
          </p:nvSpPr>
          <p:spPr>
            <a:xfrm>
              <a:off x="8432476" y="3603784"/>
              <a:ext cx="220986" cy="133350"/>
            </a:xfrm>
            <a:prstGeom prst="rect">
              <a:avLst/>
            </a:prstGeom>
            <a:noFill/>
            <a:ln>
              <a:noFill/>
            </a:ln>
          </p:spPr>
          <p:txBody>
            <a:bodyPr wrap="none" lIns="0" tIns="0" rIns="0" bIns="0" anchor="t" anchorCtr="0">
              <a:spAutoFit/>
            </a:bodyPr>
            <a:lstStyle/>
            <a:p>
              <a:pPr algn="r"/>
              <a:r>
                <a:rPr lang="en-US" sz="680" b="1" dirty="0">
                  <a:solidFill>
                    <a:srgbClr val="6E869C"/>
                  </a:solidFill>
                  <a:latin typeface="+mn-lt"/>
                  <a:ea typeface="+mn-ea"/>
                  <a:cs typeface="+mn-cs"/>
                </a:rPr>
                <a:t>perf</a:t>
              </a:r>
            </a:p>
          </p:txBody>
        </p:sp>
        <p:sp>
          <p:nvSpPr>
            <p:cNvPr id="54" name="TextBox 54"/>
            <p:cNvSpPr txBox="1"/>
            <p:nvPr/>
          </p:nvSpPr>
          <p:spPr>
            <a:xfrm>
              <a:off x="10125262" y="4175284"/>
              <a:ext cx="1042801" cy="133350"/>
            </a:xfrm>
            <a:prstGeom prst="rect">
              <a:avLst/>
            </a:prstGeom>
            <a:noFill/>
            <a:ln>
              <a:noFill/>
            </a:ln>
          </p:spPr>
          <p:txBody>
            <a:bodyPr wrap="none" lIns="0" tIns="0" rIns="0" bIns="0" anchor="t" anchorCtr="0">
              <a:spAutoFit/>
            </a:bodyPr>
            <a:lstStyle/>
            <a:p>
              <a:pPr algn="r"/>
              <a:r>
                <a:rPr lang="en-US" sz="680" b="1" dirty="0">
                  <a:solidFill>
                    <a:srgbClr val="6E869C"/>
                  </a:solidFill>
                  <a:latin typeface="+mn-lt"/>
                  <a:ea typeface="+mn-ea"/>
                  <a:cs typeface="+mn-cs"/>
                </a:rPr>
                <a:t>log(params / data) -&gt;</a:t>
              </a:r>
            </a:p>
          </p:txBody>
        </p:sp>
      </p:grpSp>
      <p:sp>
        <p:nvSpPr>
          <p:cNvPr id="56" name="Rectangle 56"/>
          <p:cNvSpPr/>
          <p:nvPr/>
        </p:nvSpPr>
        <p:spPr>
          <a:xfrm>
            <a:off x="609600" y="4572000"/>
            <a:ext cx="10972800" cy="666750"/>
          </a:xfrm>
          <a:prstGeom prst="roundRect">
            <a:avLst>
              <a:gd name="adj" fmla="val 17143"/>
            </a:avLst>
          </a:prstGeom>
          <a:solidFill>
            <a:schemeClr val="accent6"/>
          </a:solidFill>
          <a:ln w="14288">
            <a:solidFill>
              <a:schemeClr val="accent4"/>
            </a:solidFill>
          </a:ln>
        </p:spPr>
        <p:txBody>
          <a:bodyPr/>
          <a:p/>
        </p:txBody>
      </p:sp>
      <p:sp>
        <p:nvSpPr>
          <p:cNvPr id="57" name="TextBox 57"/>
          <p:cNvSpPr txBox="1"/>
          <p:nvPr/>
        </p:nvSpPr>
        <p:spPr>
          <a:xfrm>
            <a:off x="871156" y="4748451"/>
            <a:ext cx="48585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Across</a:t>
            </a:r>
          </a:p>
        </p:txBody>
      </p:sp>
      <p:sp>
        <p:nvSpPr>
          <p:cNvPr id="58" name="TextBox 58"/>
          <p:cNvSpPr txBox="1"/>
          <p:nvPr/>
        </p:nvSpPr>
        <p:spPr>
          <a:xfrm>
            <a:off x="1709166" y="4744402"/>
            <a:ext cx="501386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Consolas"/>
                <a:ea typeface="Consolas"/>
                <a:cs typeface="Consolas"/>
              </a:rPr>
              <a:t>VPAM (8 variants) · Meta-World · Reacher / Pusher · MuJoCo manip.</a:t>
            </a:r>
          </a:p>
        </p:txBody>
      </p:sp>
      <p:sp>
        <p:nvSpPr>
          <p:cNvPr id="59" name="TextBox 59"/>
          <p:cNvSpPr txBox="1"/>
          <p:nvPr/>
        </p:nvSpPr>
        <p:spPr>
          <a:xfrm>
            <a:off x="9107254" y="4748451"/>
            <a:ext cx="2251690" cy="198025"/>
          </a:xfrm>
          <a:prstGeom prst="rect">
            <a:avLst/>
          </a:prstGeom>
          <a:noFill/>
          <a:ln>
            <a:noFill/>
          </a:ln>
        </p:spPr>
        <p:txBody>
          <a:bodyPr wrap="none" lIns="0" tIns="0" rIns="0" bIns="0" anchor="t" anchorCtr="0">
            <a:spAutoFit/>
          </a:bodyPr>
          <a:lstStyle/>
          <a:p>
            <a:pPr algn="r"/>
            <a:r>
              <a:rPr lang="en-US" sz="1010" b="1" dirty="0">
                <a:solidFill>
                  <a:srgbClr val="46C98B"/>
                </a:solidFill>
                <a:latin typeface="+mn-lt"/>
                <a:ea typeface="+mn-ea"/>
                <a:cs typeface="+mn-cs"/>
              </a:rPr>
              <a:t>robust where prior methods fail</a:t>
            </a:r>
          </a:p>
        </p:txBody>
      </p:sp>
      <p:sp>
        <p:nvSpPr>
          <p:cNvPr id="60" name="TextBox 60"/>
          <p:cNvSpPr txBox="1"/>
          <p:nvPr/>
        </p:nvSpPr>
        <p:spPr>
          <a:xfrm>
            <a:off x="9020987" y="4989195"/>
            <a:ext cx="2337576" cy="176212"/>
          </a:xfrm>
          <a:prstGeom prst="rect">
            <a:avLst/>
          </a:prstGeom>
          <a:noFill/>
          <a:ln>
            <a:noFill/>
          </a:ln>
        </p:spPr>
        <p:txBody>
          <a:bodyPr wrap="none" lIns="0" tIns="0" rIns="0" bIns="0" anchor="t" anchorCtr="0">
            <a:spAutoFit/>
          </a:bodyPr>
          <a:lstStyle/>
          <a:p>
            <a:pPr algn="r"/>
            <a:r>
              <a:rPr lang="en-US" sz="900" b="1" dirty="0">
                <a:solidFill>
                  <a:srgbClr val="6E869C"/>
                </a:solidFill>
                <a:latin typeface="+mn-lt"/>
                <a:ea typeface="+mn-ea"/>
                <a:cs typeface="+mn-cs"/>
              </a:rPr>
              <a:t>higher success / lower drop is better</a:t>
            </a:r>
          </a:p>
        </p:txBody>
      </p:sp>
      <p:sp>
        <p:nvSpPr>
          <p:cNvPr id="61" name="cue_s09_c1_few_numbers_capture_impact_under" title="cue_s09_c1_few_numbers_capture_impact_under" descr="cue_s09_c1_few_numbers_capture_impact_under A few numbers capture the impact. Under unforeseen obstacles, DDT succeeds seventy-three percent of the time, compared to fifty-seven percent for the best baseline."/>
          <p:cNvSpPr/>
          <p:nvPr/>
        </p:nvSpPr>
        <p:spPr>
          <a:xfrm>
            <a:off x="609600" y="1581454"/>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9_c2_its_performance_degradation_unforese" title="cue_s09_c2_its_performance_degradation_unforese" descr="cue_s09_c2_its_performance_degradation_unforese Its performance degradation from training to unforeseen obstacles is just fifteen percent, at least five percent better retention than any competitor."/>
          <p:cNvSpPr/>
          <p:nvPr/>
        </p:nvSpPr>
        <p:spPr>
          <a:xfrm>
            <a:off x="609600"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9_c3_disturbed_meta_world_tasks_reaches_s" title="cue_s09_c3_disturbed_meta_world_tasks_reaches_s" descr="cue_s09_c3_disturbed_meta_world_tasks_reaches_s On disturbed Meta-World tasks it reaches sixty-one percent on unseen demonstrations while baselines stay at or below twelve percent."/>
          <p:cNvSpPr/>
          <p:nvPr/>
        </p:nvSpPr>
        <p:spPr>
          <a:xfrm>
            <a:off x="4344009"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9_c4_when_scaled_ddt_improves_roughly" title="cue_s09_c4_when_scaled_ddt_improves_roughly" descr="cue_s09_c4_when_scaled_ddt_improves_roughly And when scaled up, DDT improves roughly two-fold with more model parameters and shows a clean log-linear gain with both data volume and model size, hinting at its promise as a backbone for generalist agents."/>
          <p:cNvSpPr/>
          <p:nvPr/>
        </p:nvSpPr>
        <p:spPr>
          <a:xfrm>
            <a:off x="8077200" y="2876245"/>
            <a:ext cx="3505199" cy="15430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38507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Trace it, don't replay it</a:t>
            </a:r>
          </a:p>
        </p:txBody>
      </p:sp>
      <p:grpSp>
        <p:nvGrpSpPr>
          <p:cNvPr id="8" name="Group 8"/>
          <p:cNvGrpSpPr/>
          <p:nvPr/>
        </p:nvGrpSpPr>
        <p:grpSpPr>
          <a:xfrm>
            <a:off x="609600" y="1581150"/>
            <a:ext cx="10972800" cy="552450"/>
            <a:chOff x="609600" y="1581150"/>
            <a:chExt cx="10972800" cy="552450"/>
          </a:xfrm>
        </p:grpSpPr>
        <p:sp>
          <p:nvSpPr>
            <p:cNvPr id="5" name="Rectangle 5"/>
            <p:cNvSpPr/>
            <p:nvPr/>
          </p:nvSpPr>
          <p:spPr>
            <a:xfrm>
              <a:off x="609600" y="1581150"/>
              <a:ext cx="10972800" cy="552450"/>
            </a:xfrm>
            <a:prstGeom prst="roundRect">
              <a:avLst>
                <a:gd name="adj" fmla="val 20690"/>
              </a:avLst>
            </a:prstGeom>
            <a:solidFill>
              <a:schemeClr val="accent6"/>
            </a:solidFill>
            <a:ln w="14288">
              <a:solidFill>
                <a:schemeClr val="accent4"/>
              </a:solidFill>
            </a:ln>
          </p:spPr>
        </p:sp>
        <p:sp>
          <p:nvSpPr>
            <p:cNvPr id="6" name="Rectangle 6"/>
            <p:cNvSpPr/>
            <p:nvPr/>
          </p:nvSpPr>
          <p:spPr>
            <a:xfrm>
              <a:off x="609600" y="1581150"/>
              <a:ext cx="57150" cy="552450"/>
            </a:xfrm>
            <a:prstGeom prst="roundRect">
              <a:avLst>
                <a:gd name="adj" fmla="val 50000"/>
              </a:avLst>
            </a:prstGeom>
            <a:solidFill>
              <a:schemeClr val="accent2"/>
            </a:solidFill>
            <a:ln>
              <a:noFill/>
            </a:ln>
          </p:spPr>
        </p:sp>
        <p:sp>
          <p:nvSpPr>
            <p:cNvPr id="7" name="TextBox 7"/>
            <p:cNvSpPr txBox="1"/>
            <p:nvPr/>
          </p:nvSpPr>
          <p:spPr>
            <a:xfrm>
              <a:off x="870204" y="1794510"/>
              <a:ext cx="730315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takeaway is simple: an imitator should trace a demonstration, not blindly replay it.</a:t>
              </a:r>
            </a:p>
          </p:txBody>
        </p:sp>
      </p:grpSp>
      <p:grpSp>
        <p:nvGrpSpPr>
          <p:cNvPr id="19" name="Group 19"/>
          <p:cNvGrpSpPr/>
          <p:nvPr/>
        </p:nvGrpSpPr>
        <p:grpSpPr>
          <a:xfrm>
            <a:off x="609600" y="2286000"/>
            <a:ext cx="3505200" cy="2876550"/>
            <a:chOff x="609600" y="2286000"/>
            <a:chExt cx="3505200" cy="2876550"/>
          </a:xfrm>
        </p:grpSpPr>
        <p:sp>
          <p:nvSpPr>
            <p:cNvPr id="9" name="Rectangle 9"/>
            <p:cNvSpPr/>
            <p:nvPr/>
          </p:nvSpPr>
          <p:spPr>
            <a:xfrm>
              <a:off x="609600" y="2286000"/>
              <a:ext cx="3505200" cy="2876550"/>
            </a:xfrm>
            <a:prstGeom prst="roundRect">
              <a:avLst>
                <a:gd name="adj" fmla="val 4636"/>
              </a:avLst>
            </a:prstGeom>
            <a:solidFill>
              <a:schemeClr val="accent5"/>
            </a:solidFill>
            <a:ln w="14288">
              <a:solidFill>
                <a:schemeClr val="accent4"/>
              </a:solidFill>
            </a:ln>
          </p:spPr>
        </p:sp>
        <p:sp>
          <p:nvSpPr>
            <p:cNvPr id="10" name="Rectangle 10"/>
            <p:cNvSpPr/>
            <p:nvPr/>
          </p:nvSpPr>
          <p:spPr>
            <a:xfrm>
              <a:off x="609600" y="2286000"/>
              <a:ext cx="3505200" cy="57150"/>
            </a:xfrm>
            <a:prstGeom prst="roundRect">
              <a:avLst>
                <a:gd name="adj" fmla="val 50000"/>
              </a:avLst>
            </a:prstGeom>
            <a:solidFill>
              <a:schemeClr val="accent2"/>
            </a:solidFill>
            <a:ln>
              <a:noFill/>
            </a:ln>
          </p:spPr>
        </p:sp>
        <p:sp>
          <p:nvSpPr>
            <p:cNvPr id="11" name="Ellipse 11"/>
            <p:cNvSpPr/>
            <p:nvPr/>
          </p:nvSpPr>
          <p:spPr>
            <a:xfrm>
              <a:off x="828675" y="2657475"/>
              <a:ext cx="209550" cy="209550"/>
            </a:xfrm>
            <a:prstGeom prst="ellipse">
              <a:avLst/>
            </a:prstGeom>
            <a:solidFill>
              <a:schemeClr val="accent2"/>
            </a:solidFill>
            <a:ln>
              <a:noFill/>
            </a:ln>
          </p:spPr>
        </p:sp>
        <p:sp>
          <p:nvSpPr>
            <p:cNvPr id="12" name="TextBox 12"/>
            <p:cNvSpPr txBox="1"/>
            <p:nvPr/>
          </p:nvSpPr>
          <p:spPr>
            <a:xfrm>
              <a:off x="869061" y="3008471"/>
              <a:ext cx="196879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Trace, don't replay</a:t>
              </a:r>
            </a:p>
          </p:txBody>
        </p:sp>
        <p:sp>
          <p:nvSpPr>
            <p:cNvPr id="13" name="TextBox 13"/>
            <p:cNvSpPr txBox="1"/>
            <p:nvPr/>
          </p:nvSpPr>
          <p:spPr>
            <a:xfrm>
              <a:off x="871156" y="3453051"/>
              <a:ext cx="19179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Instead of blindly replaying a</a:t>
              </a:r>
            </a:p>
          </p:txBody>
        </p:sp>
        <p:sp>
          <p:nvSpPr>
            <p:cNvPr id="14" name="TextBox 14"/>
            <p:cNvSpPr txBox="1"/>
            <p:nvPr/>
          </p:nvSpPr>
          <p:spPr>
            <a:xfrm>
              <a:off x="871156" y="3643551"/>
              <a:ext cx="204298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 an agent should identify</a:t>
              </a:r>
            </a:p>
          </p:txBody>
        </p:sp>
        <p:sp>
          <p:nvSpPr>
            <p:cNvPr id="15" name="TextBox 15"/>
            <p:cNvSpPr txBox="1"/>
            <p:nvPr/>
          </p:nvSpPr>
          <p:spPr>
            <a:xfrm>
              <a:off x="871156" y="3834051"/>
              <a:ext cx="234890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which demonstrated states matter</a:t>
              </a:r>
            </a:p>
          </p:txBody>
        </p:sp>
        <p:sp>
          <p:nvSpPr>
            <p:cNvPr id="16" name="TextBox 16"/>
            <p:cNvSpPr txBox="1"/>
            <p:nvPr/>
          </p:nvSpPr>
          <p:spPr>
            <a:xfrm>
              <a:off x="871156" y="4024551"/>
              <a:ext cx="21789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right now, read what the expert</a:t>
              </a:r>
            </a:p>
          </p:txBody>
        </p:sp>
        <p:sp>
          <p:nvSpPr>
            <p:cNvPr id="17" name="TextBox 17"/>
            <p:cNvSpPr txBox="1"/>
            <p:nvPr/>
          </p:nvSpPr>
          <p:spPr>
            <a:xfrm>
              <a:off x="871156" y="4215051"/>
              <a:ext cx="224013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did, and steer back onto the path</a:t>
              </a:r>
            </a:p>
          </p:txBody>
        </p:sp>
        <p:sp>
          <p:nvSpPr>
            <p:cNvPr id="18" name="TextBox 18"/>
            <p:cNvSpPr txBox="1"/>
            <p:nvPr/>
          </p:nvSpPr>
          <p:spPr>
            <a:xfrm>
              <a:off x="871156" y="4405551"/>
              <a:ext cx="106402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after a detour.</a:t>
              </a:r>
            </a:p>
          </p:txBody>
        </p:sp>
      </p:grpSp>
      <p:grpSp>
        <p:nvGrpSpPr>
          <p:cNvPr id="30" name="Group 30"/>
          <p:cNvGrpSpPr/>
          <p:nvPr/>
        </p:nvGrpSpPr>
        <p:grpSpPr>
          <a:xfrm>
            <a:off x="4343400" y="2286000"/>
            <a:ext cx="3505200" cy="2876550"/>
            <a:chOff x="4343400" y="2286000"/>
            <a:chExt cx="3505200" cy="2876550"/>
          </a:xfrm>
        </p:grpSpPr>
        <p:sp>
          <p:nvSpPr>
            <p:cNvPr id="20" name="Rectangle 20"/>
            <p:cNvSpPr/>
            <p:nvPr/>
          </p:nvSpPr>
          <p:spPr>
            <a:xfrm>
              <a:off x="4343400" y="2286000"/>
              <a:ext cx="3505200" cy="2876550"/>
            </a:xfrm>
            <a:prstGeom prst="roundRect">
              <a:avLst>
                <a:gd name="adj" fmla="val 4636"/>
              </a:avLst>
            </a:prstGeom>
            <a:solidFill>
              <a:schemeClr val="accent5"/>
            </a:solidFill>
            <a:ln w="14288">
              <a:solidFill>
                <a:schemeClr val="accent4"/>
              </a:solidFill>
            </a:ln>
          </p:spPr>
        </p:sp>
        <p:sp>
          <p:nvSpPr>
            <p:cNvPr id="21" name="Rectangle 21"/>
            <p:cNvSpPr/>
            <p:nvPr/>
          </p:nvSpPr>
          <p:spPr>
            <a:xfrm>
              <a:off x="4343400" y="2286000"/>
              <a:ext cx="3505200" cy="57150"/>
            </a:xfrm>
            <a:prstGeom prst="roundRect">
              <a:avLst>
                <a:gd name="adj" fmla="val 50000"/>
              </a:avLst>
            </a:prstGeom>
            <a:solidFill>
              <a:srgbClr val="33D6C0"/>
            </a:solidFill>
            <a:ln>
              <a:noFill/>
            </a:ln>
          </p:spPr>
        </p:sp>
        <p:sp>
          <p:nvSpPr>
            <p:cNvPr id="22" name="Ellipse 22"/>
            <p:cNvSpPr/>
            <p:nvPr/>
          </p:nvSpPr>
          <p:spPr>
            <a:xfrm>
              <a:off x="4562475" y="2657475"/>
              <a:ext cx="209550" cy="209550"/>
            </a:xfrm>
            <a:prstGeom prst="ellipse">
              <a:avLst/>
            </a:prstGeom>
            <a:solidFill>
              <a:srgbClr val="33D6C0"/>
            </a:solidFill>
            <a:ln>
              <a:noFill/>
            </a:ln>
          </p:spPr>
        </p:sp>
        <p:sp>
          <p:nvSpPr>
            <p:cNvPr id="23" name="TextBox 23"/>
            <p:cNvSpPr txBox="1"/>
            <p:nvPr/>
          </p:nvSpPr>
          <p:spPr>
            <a:xfrm>
              <a:off x="4602861" y="3008471"/>
              <a:ext cx="233566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Transformer + meta-RL</a:t>
              </a:r>
            </a:p>
          </p:txBody>
        </p:sp>
        <p:sp>
          <p:nvSpPr>
            <p:cNvPr id="24" name="TextBox 24"/>
            <p:cNvSpPr txBox="1"/>
            <p:nvPr/>
          </p:nvSpPr>
          <p:spPr>
            <a:xfrm>
              <a:off x="4604956" y="3453051"/>
              <a:ext cx="22869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DDT operationalizes tracing with a</a:t>
              </a:r>
            </a:p>
          </p:txBody>
        </p:sp>
        <p:sp>
          <p:nvSpPr>
            <p:cNvPr id="25" name="TextBox 25"/>
            <p:cNvSpPr txBox="1"/>
            <p:nvPr/>
          </p:nvSpPr>
          <p:spPr>
            <a:xfrm>
              <a:off x="4604956" y="3643551"/>
              <a:ext cx="23964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demonstration transformer trained</a:t>
              </a:r>
            </a:p>
          </p:txBody>
        </p:sp>
        <p:sp>
          <p:nvSpPr>
            <p:cNvPr id="26" name="TextBox 26"/>
            <p:cNvSpPr txBox="1"/>
            <p:nvPr/>
          </p:nvSpPr>
          <p:spPr>
            <a:xfrm>
              <a:off x="4604956" y="3834051"/>
              <a:ext cx="18967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by meta-RL, giving one-shot</a:t>
              </a:r>
            </a:p>
          </p:txBody>
        </p:sp>
        <p:sp>
          <p:nvSpPr>
            <p:cNvPr id="27" name="TextBox 27"/>
            <p:cNvSpPr txBox="1"/>
            <p:nvPr/>
          </p:nvSpPr>
          <p:spPr>
            <a:xfrm>
              <a:off x="4604956" y="4024551"/>
              <a:ext cx="22197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imitation that stays robust when</a:t>
              </a:r>
            </a:p>
          </p:txBody>
        </p:sp>
        <p:sp>
          <p:nvSpPr>
            <p:cNvPr id="28" name="TextBox 28"/>
            <p:cNvSpPr txBox="1"/>
            <p:nvPr/>
          </p:nvSpPr>
          <p:spPr>
            <a:xfrm>
              <a:off x="4604956" y="4215051"/>
              <a:ext cx="221293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environment changes - where</a:t>
              </a:r>
            </a:p>
          </p:txBody>
        </p:sp>
        <p:sp>
          <p:nvSpPr>
            <p:cNvPr id="29" name="TextBox 29"/>
            <p:cNvSpPr txBox="1"/>
            <p:nvPr/>
          </p:nvSpPr>
          <p:spPr>
            <a:xfrm>
              <a:off x="4604956" y="4405551"/>
              <a:ext cx="14039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earlier methods fail.</a:t>
              </a:r>
            </a:p>
          </p:txBody>
        </p:sp>
      </p:grpSp>
      <p:grpSp>
        <p:nvGrpSpPr>
          <p:cNvPr id="40" name="Group 40"/>
          <p:cNvGrpSpPr/>
          <p:nvPr/>
        </p:nvGrpSpPr>
        <p:grpSpPr>
          <a:xfrm>
            <a:off x="8077200" y="2286000"/>
            <a:ext cx="3505200" cy="2876550"/>
            <a:chOff x="8077200" y="2286000"/>
            <a:chExt cx="3505200" cy="2876550"/>
          </a:xfrm>
        </p:grpSpPr>
        <p:sp>
          <p:nvSpPr>
            <p:cNvPr id="31" name="Rectangle 31"/>
            <p:cNvSpPr/>
            <p:nvPr/>
          </p:nvSpPr>
          <p:spPr>
            <a:xfrm>
              <a:off x="8077200" y="2286000"/>
              <a:ext cx="3505200" cy="2876550"/>
            </a:xfrm>
            <a:prstGeom prst="roundRect">
              <a:avLst>
                <a:gd name="adj" fmla="val 4636"/>
              </a:avLst>
            </a:prstGeom>
            <a:solidFill>
              <a:schemeClr val="accent5"/>
            </a:solidFill>
            <a:ln w="14288">
              <a:solidFill>
                <a:schemeClr val="accent4"/>
              </a:solidFill>
            </a:ln>
          </p:spPr>
        </p:sp>
        <p:sp>
          <p:nvSpPr>
            <p:cNvPr id="32" name="Rectangle 32"/>
            <p:cNvSpPr/>
            <p:nvPr/>
          </p:nvSpPr>
          <p:spPr>
            <a:xfrm>
              <a:off x="8077200" y="2286000"/>
              <a:ext cx="3505200" cy="57150"/>
            </a:xfrm>
            <a:prstGeom prst="roundRect">
              <a:avLst>
                <a:gd name="adj" fmla="val 50000"/>
              </a:avLst>
            </a:prstGeom>
            <a:solidFill>
              <a:srgbClr val="46C98B"/>
            </a:solidFill>
            <a:ln>
              <a:noFill/>
            </a:ln>
          </p:spPr>
        </p:sp>
        <p:sp>
          <p:nvSpPr>
            <p:cNvPr id="33" name="Ellipse 33"/>
            <p:cNvSpPr/>
            <p:nvPr/>
          </p:nvSpPr>
          <p:spPr>
            <a:xfrm>
              <a:off x="8296275" y="2657475"/>
              <a:ext cx="209550" cy="209550"/>
            </a:xfrm>
            <a:prstGeom prst="ellipse">
              <a:avLst/>
            </a:prstGeom>
            <a:solidFill>
              <a:srgbClr val="46C98B"/>
            </a:solidFill>
            <a:ln>
              <a:noFill/>
            </a:ln>
          </p:spPr>
        </p:sp>
        <p:sp>
          <p:nvSpPr>
            <p:cNvPr id="34" name="TextBox 34"/>
            <p:cNvSpPr txBox="1"/>
            <p:nvPr/>
          </p:nvSpPr>
          <p:spPr>
            <a:xfrm>
              <a:off x="8336661" y="3008471"/>
              <a:ext cx="213836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generalist backbone</a:t>
              </a:r>
            </a:p>
          </p:txBody>
        </p:sp>
        <p:sp>
          <p:nvSpPr>
            <p:cNvPr id="35" name="TextBox 35"/>
            <p:cNvSpPr txBox="1"/>
            <p:nvPr/>
          </p:nvSpPr>
          <p:spPr>
            <a:xfrm>
              <a:off x="8338756" y="3453051"/>
              <a:ext cx="176838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Its clean log-linear scaling</a:t>
              </a:r>
            </a:p>
          </p:txBody>
        </p:sp>
        <p:sp>
          <p:nvSpPr>
            <p:cNvPr id="36" name="TextBox 36"/>
            <p:cNvSpPr txBox="1"/>
            <p:nvPr/>
          </p:nvSpPr>
          <p:spPr>
            <a:xfrm>
              <a:off x="8338756" y="3643551"/>
              <a:ext cx="22126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behavior even suggests DDT could</a:t>
              </a:r>
            </a:p>
          </p:txBody>
        </p:sp>
        <p:sp>
          <p:nvSpPr>
            <p:cNvPr id="37" name="TextBox 37"/>
            <p:cNvSpPr txBox="1"/>
            <p:nvPr/>
          </p:nvSpPr>
          <p:spPr>
            <a:xfrm>
              <a:off x="8338756" y="3834051"/>
              <a:ext cx="17846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become a building block for</a:t>
              </a:r>
            </a:p>
          </p:txBody>
        </p:sp>
        <p:sp>
          <p:nvSpPr>
            <p:cNvPr id="38" name="TextBox 38"/>
            <p:cNvSpPr txBox="1"/>
            <p:nvPr/>
          </p:nvSpPr>
          <p:spPr>
            <a:xfrm>
              <a:off x="8338756" y="4024551"/>
              <a:ext cx="139714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larger, more general</a:t>
              </a:r>
            </a:p>
          </p:txBody>
        </p:sp>
        <p:sp>
          <p:nvSpPr>
            <p:cNvPr id="39" name="TextBox 39"/>
            <p:cNvSpPr txBox="1"/>
            <p:nvPr/>
          </p:nvSpPr>
          <p:spPr>
            <a:xfrm>
              <a:off x="8338756" y="4215051"/>
              <a:ext cx="16214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decision-making agents.</a:t>
              </a:r>
            </a:p>
          </p:txBody>
        </p:sp>
      </p:grpSp>
      <p:sp>
        <p:nvSpPr>
          <p:cNvPr id="41" name="Line 41"/>
          <p:cNvSpPr/>
          <p:nvPr/>
        </p:nvSpPr>
        <p:spPr>
          <a:xfrm>
            <a:off x="609600" y="5295900"/>
            <a:ext cx="10972800" cy="9525"/>
          </a:xfrm>
          <a:custGeom>
            <a:avLst/>
            <a:gdLst/>
            <a:ahLst/>
            <a:cxnLst/>
            <a:rect l="l" t="t" r="r" b="b"/>
            <a:pathLst>
              <a:path w="10972800" h="9525">
                <a:moveTo>
                  <a:pt x="0" y="0"/>
                </a:moveTo>
                <a:lnTo>
                  <a:pt x="10972800" y="0"/>
                </a:lnTo>
              </a:path>
            </a:pathLst>
          </a:custGeom>
          <a:noFill/>
          <a:ln w="9525" cap="rnd">
            <a:solidFill>
              <a:schemeClr val="accent4"/>
            </a:solidFill>
          </a:ln>
        </p:spPr>
        <p:txBody>
          <a:bodyPr/>
          <a:p/>
        </p:txBody>
      </p:sp>
      <p:sp>
        <p:nvSpPr>
          <p:cNvPr id="42" name="Rectangle 42"/>
          <p:cNvSpPr/>
          <p:nvPr/>
        </p:nvSpPr>
        <p:spPr>
          <a:xfrm>
            <a:off x="876300" y="5391150"/>
            <a:ext cx="923925" cy="714375"/>
          </a:xfrm>
          <a:prstGeom prst="roundRect">
            <a:avLst>
              <a:gd name="adj" fmla="val 10667"/>
            </a:avLst>
          </a:prstGeom>
          <a:solidFill>
            <a:srgbClr val="0E223A"/>
          </a:solidFill>
          <a:ln w="14288">
            <a:solidFill>
              <a:schemeClr val="accent4"/>
            </a:solidFill>
          </a:ln>
        </p:spPr>
        <p:txBody>
          <a:bodyPr/>
          <a:p/>
        </p:txBody>
      </p:sp>
      <p:sp>
        <p:nvSpPr>
          <p:cNvPr id="43" name="Line 43"/>
          <p:cNvSpPr/>
          <p:nvPr/>
        </p:nvSpPr>
        <p:spPr>
          <a:xfrm>
            <a:off x="1030288" y="5467350"/>
            <a:ext cx="9525" cy="561975"/>
          </a:xfrm>
          <a:custGeom>
            <a:avLst/>
            <a:gdLst/>
            <a:ahLst/>
            <a:cxnLst/>
            <a:rect l="l" t="t" r="r" b="b"/>
            <a:pathLst>
              <a:path w="9525" h="561975">
                <a:moveTo>
                  <a:pt x="0" y="0"/>
                </a:moveTo>
                <a:lnTo>
                  <a:pt x="0" y="561975"/>
                </a:lnTo>
              </a:path>
            </a:pathLst>
          </a:custGeom>
          <a:noFill/>
          <a:ln w="4762" cap="rnd">
            <a:solidFill>
              <a:schemeClr val="accent4"/>
            </a:solidFill>
          </a:ln>
        </p:spPr>
        <p:txBody>
          <a:bodyPr/>
          <a:p/>
        </p:txBody>
      </p:sp>
      <p:sp>
        <p:nvSpPr>
          <p:cNvPr id="44" name="Line 44"/>
          <p:cNvSpPr/>
          <p:nvPr/>
        </p:nvSpPr>
        <p:spPr>
          <a:xfrm>
            <a:off x="1184275" y="5467350"/>
            <a:ext cx="9525" cy="561975"/>
          </a:xfrm>
          <a:custGeom>
            <a:avLst/>
            <a:gdLst/>
            <a:ahLst/>
            <a:cxnLst/>
            <a:rect l="l" t="t" r="r" b="b"/>
            <a:pathLst>
              <a:path w="9525" h="561975">
                <a:moveTo>
                  <a:pt x="0" y="0"/>
                </a:moveTo>
                <a:lnTo>
                  <a:pt x="0" y="561975"/>
                </a:lnTo>
              </a:path>
            </a:pathLst>
          </a:custGeom>
          <a:noFill/>
          <a:ln w="4762" cap="rnd">
            <a:solidFill>
              <a:schemeClr val="accent4"/>
            </a:solidFill>
          </a:ln>
        </p:spPr>
        <p:txBody>
          <a:bodyPr/>
          <a:p/>
        </p:txBody>
      </p:sp>
      <p:sp>
        <p:nvSpPr>
          <p:cNvPr id="45" name="Line 45"/>
          <p:cNvSpPr/>
          <p:nvPr/>
        </p:nvSpPr>
        <p:spPr>
          <a:xfrm>
            <a:off x="1338262" y="5467350"/>
            <a:ext cx="9525" cy="561975"/>
          </a:xfrm>
          <a:custGeom>
            <a:avLst/>
            <a:gdLst/>
            <a:ahLst/>
            <a:cxnLst/>
            <a:rect l="l" t="t" r="r" b="b"/>
            <a:pathLst>
              <a:path w="9525" h="561975">
                <a:moveTo>
                  <a:pt x="0" y="0"/>
                </a:moveTo>
                <a:lnTo>
                  <a:pt x="0" y="561975"/>
                </a:lnTo>
              </a:path>
            </a:pathLst>
          </a:custGeom>
          <a:noFill/>
          <a:ln w="4762" cap="rnd">
            <a:solidFill>
              <a:schemeClr val="accent4"/>
            </a:solidFill>
          </a:ln>
        </p:spPr>
        <p:txBody>
          <a:bodyPr/>
          <a:p/>
        </p:txBody>
      </p:sp>
      <p:sp>
        <p:nvSpPr>
          <p:cNvPr id="46" name="Line 46"/>
          <p:cNvSpPr/>
          <p:nvPr/>
        </p:nvSpPr>
        <p:spPr>
          <a:xfrm>
            <a:off x="1492250" y="5467350"/>
            <a:ext cx="9525" cy="561975"/>
          </a:xfrm>
          <a:custGeom>
            <a:avLst/>
            <a:gdLst/>
            <a:ahLst/>
            <a:cxnLst/>
            <a:rect l="l" t="t" r="r" b="b"/>
            <a:pathLst>
              <a:path w="9525" h="561975">
                <a:moveTo>
                  <a:pt x="0" y="0"/>
                </a:moveTo>
                <a:lnTo>
                  <a:pt x="0" y="561975"/>
                </a:lnTo>
              </a:path>
            </a:pathLst>
          </a:custGeom>
          <a:noFill/>
          <a:ln w="4762" cap="rnd">
            <a:solidFill>
              <a:schemeClr val="accent4"/>
            </a:solidFill>
          </a:ln>
        </p:spPr>
        <p:txBody>
          <a:bodyPr/>
          <a:p/>
        </p:txBody>
      </p:sp>
      <p:sp>
        <p:nvSpPr>
          <p:cNvPr id="47" name="Line 47"/>
          <p:cNvSpPr/>
          <p:nvPr/>
        </p:nvSpPr>
        <p:spPr>
          <a:xfrm>
            <a:off x="1646237" y="5467350"/>
            <a:ext cx="9525" cy="561975"/>
          </a:xfrm>
          <a:custGeom>
            <a:avLst/>
            <a:gdLst/>
            <a:ahLst/>
            <a:cxnLst/>
            <a:rect l="l" t="t" r="r" b="b"/>
            <a:pathLst>
              <a:path w="9525" h="561975">
                <a:moveTo>
                  <a:pt x="0" y="0"/>
                </a:moveTo>
                <a:lnTo>
                  <a:pt x="0" y="561975"/>
                </a:lnTo>
              </a:path>
            </a:pathLst>
          </a:custGeom>
          <a:noFill/>
          <a:ln w="4762" cap="rnd">
            <a:solidFill>
              <a:schemeClr val="accent4"/>
            </a:solidFill>
          </a:ln>
        </p:spPr>
        <p:txBody>
          <a:bodyPr/>
          <a:p/>
        </p:txBody>
      </p:sp>
      <p:sp>
        <p:nvSpPr>
          <p:cNvPr id="48" name="Line 48"/>
          <p:cNvSpPr/>
          <p:nvPr/>
        </p:nvSpPr>
        <p:spPr>
          <a:xfrm>
            <a:off x="952500" y="5569744"/>
            <a:ext cx="771525" cy="9525"/>
          </a:xfrm>
          <a:custGeom>
            <a:avLst/>
            <a:gdLst/>
            <a:ahLst/>
            <a:cxnLst/>
            <a:rect l="l" t="t" r="r" b="b"/>
            <a:pathLst>
              <a:path w="771525" h="9525">
                <a:moveTo>
                  <a:pt x="0" y="0"/>
                </a:moveTo>
                <a:lnTo>
                  <a:pt x="771525" y="0"/>
                </a:lnTo>
              </a:path>
            </a:pathLst>
          </a:custGeom>
          <a:noFill/>
          <a:ln w="4762" cap="rnd">
            <a:solidFill>
              <a:schemeClr val="accent4"/>
            </a:solidFill>
          </a:ln>
        </p:spPr>
        <p:txBody>
          <a:bodyPr/>
          <a:p/>
        </p:txBody>
      </p:sp>
      <p:sp>
        <p:nvSpPr>
          <p:cNvPr id="49" name="Line 49"/>
          <p:cNvSpPr/>
          <p:nvPr/>
        </p:nvSpPr>
        <p:spPr>
          <a:xfrm>
            <a:off x="952500" y="5748338"/>
            <a:ext cx="771525" cy="9525"/>
          </a:xfrm>
          <a:custGeom>
            <a:avLst/>
            <a:gdLst/>
            <a:ahLst/>
            <a:cxnLst/>
            <a:rect l="l" t="t" r="r" b="b"/>
            <a:pathLst>
              <a:path w="771525" h="9525">
                <a:moveTo>
                  <a:pt x="0" y="0"/>
                </a:moveTo>
                <a:lnTo>
                  <a:pt x="771525" y="0"/>
                </a:lnTo>
              </a:path>
            </a:pathLst>
          </a:custGeom>
          <a:noFill/>
          <a:ln w="4762" cap="rnd">
            <a:solidFill>
              <a:schemeClr val="accent4"/>
            </a:solidFill>
          </a:ln>
        </p:spPr>
        <p:txBody>
          <a:bodyPr/>
          <a:p/>
        </p:txBody>
      </p:sp>
      <p:sp>
        <p:nvSpPr>
          <p:cNvPr id="50" name="Line 50"/>
          <p:cNvSpPr/>
          <p:nvPr/>
        </p:nvSpPr>
        <p:spPr>
          <a:xfrm>
            <a:off x="952500" y="5926931"/>
            <a:ext cx="771525" cy="9525"/>
          </a:xfrm>
          <a:custGeom>
            <a:avLst/>
            <a:gdLst/>
            <a:ahLst/>
            <a:cxnLst/>
            <a:rect l="l" t="t" r="r" b="b"/>
            <a:pathLst>
              <a:path w="771525" h="9525">
                <a:moveTo>
                  <a:pt x="0" y="0"/>
                </a:moveTo>
                <a:lnTo>
                  <a:pt x="771525" y="0"/>
                </a:lnTo>
              </a:path>
            </a:pathLst>
          </a:custGeom>
          <a:noFill/>
          <a:ln w="4762" cap="rnd">
            <a:solidFill>
              <a:schemeClr val="accent4"/>
            </a:solidFill>
          </a:ln>
        </p:spPr>
        <p:txBody>
          <a:bodyPr/>
          <a:p/>
        </p:txBody>
      </p:sp>
      <p:sp>
        <p:nvSpPr>
          <p:cNvPr id="51" name="Polyline 51"/>
          <p:cNvSpPr/>
          <p:nvPr/>
        </p:nvSpPr>
        <p:spPr>
          <a:xfrm>
            <a:off x="971550" y="5505450"/>
            <a:ext cx="733425" cy="485775"/>
          </a:xfrm>
          <a:custGeom>
            <a:avLst/>
            <a:gdLst/>
            <a:ahLst/>
            <a:cxnLst/>
            <a:rect l="l" t="t" r="r" b="b"/>
            <a:pathLst>
              <a:path w="733425" h="485775">
                <a:moveTo>
                  <a:pt x="0" y="485775"/>
                </a:moveTo>
                <a:lnTo>
                  <a:pt x="181927" y="328612"/>
                </a:lnTo>
                <a:lnTo>
                  <a:pt x="311277" y="200025"/>
                </a:lnTo>
                <a:lnTo>
                  <a:pt x="514540" y="100012"/>
                </a:lnTo>
                <a:lnTo>
                  <a:pt x="733425" y="0"/>
                </a:lnTo>
              </a:path>
            </a:pathLst>
          </a:custGeom>
          <a:noFill/>
          <a:ln w="20955" cap="rnd">
            <a:solidFill>
              <a:srgbClr val="33D6C0"/>
            </a:solidFill>
            <a:custDash>
              <a:ds d="272727" sp="227273"/>
            </a:custDash>
            <a:round/>
          </a:ln>
        </p:spPr>
        <p:txBody>
          <a:bodyPr/>
          <a:p/>
        </p:txBody>
      </p:sp>
      <p:sp>
        <p:nvSpPr>
          <p:cNvPr id="52" name="Rectangle 52"/>
          <p:cNvSpPr/>
          <p:nvPr/>
        </p:nvSpPr>
        <p:spPr>
          <a:xfrm>
            <a:off x="1219200" y="5695950"/>
            <a:ext cx="114300" cy="76200"/>
          </a:xfrm>
          <a:prstGeom prst="roundRect">
            <a:avLst>
              <a:gd name="adj" fmla="val 37500"/>
            </a:avLst>
          </a:prstGeom>
          <a:solidFill>
            <a:srgbClr val="F2685C"/>
          </a:solidFill>
          <a:ln>
            <a:noFill/>
          </a:ln>
        </p:spPr>
        <p:txBody>
          <a:bodyPr/>
          <a:p/>
        </p:txBody>
      </p:sp>
      <p:sp>
        <p:nvSpPr>
          <p:cNvPr id="53" name="Polyline 53"/>
          <p:cNvSpPr/>
          <p:nvPr/>
        </p:nvSpPr>
        <p:spPr>
          <a:xfrm>
            <a:off x="1073277" y="5514975"/>
            <a:ext cx="419100" cy="342900"/>
          </a:xfrm>
          <a:custGeom>
            <a:avLst/>
            <a:gdLst/>
            <a:ahLst/>
            <a:cxnLst/>
            <a:rect l="l" t="t" r="r" b="b"/>
            <a:pathLst>
              <a:path w="419100" h="342900">
                <a:moveTo>
                  <a:pt x="80200" y="319088"/>
                </a:moveTo>
                <a:lnTo>
                  <a:pt x="152400" y="342900"/>
                </a:lnTo>
                <a:lnTo>
                  <a:pt x="0" y="209550"/>
                </a:lnTo>
                <a:lnTo>
                  <a:pt x="76200" y="0"/>
                </a:lnTo>
                <a:lnTo>
                  <a:pt x="381000" y="0"/>
                </a:lnTo>
                <a:lnTo>
                  <a:pt x="419100" y="171450"/>
                </a:lnTo>
                <a:lnTo>
                  <a:pt x="412813" y="90488"/>
                </a:lnTo>
              </a:path>
            </a:pathLst>
          </a:custGeom>
          <a:noFill/>
          <a:ln w="24765" cap="rnd">
            <a:solidFill>
              <a:schemeClr val="accent2"/>
            </a:solidFill>
            <a:round/>
          </a:ln>
        </p:spPr>
        <p:txBody>
          <a:bodyPr/>
          <a:p/>
        </p:txBody>
      </p:sp>
      <p:sp>
        <p:nvSpPr>
          <p:cNvPr id="54" name="Ellipse 54"/>
          <p:cNvSpPr/>
          <p:nvPr/>
        </p:nvSpPr>
        <p:spPr>
          <a:xfrm>
            <a:off x="914400" y="5934075"/>
            <a:ext cx="114300" cy="114300"/>
          </a:xfrm>
          <a:prstGeom prst="ellipse">
            <a:avLst/>
          </a:prstGeom>
          <a:solidFill>
            <a:schemeClr val="accent2"/>
          </a:solidFill>
          <a:ln>
            <a:noFill/>
          </a:ln>
        </p:spPr>
        <p:txBody>
          <a:bodyPr/>
          <a:p/>
        </p:txBody>
      </p:sp>
      <p:sp>
        <p:nvSpPr>
          <p:cNvPr id="55" name="Rectangle 55"/>
          <p:cNvSpPr/>
          <p:nvPr/>
        </p:nvSpPr>
        <p:spPr>
          <a:xfrm>
            <a:off x="1647825" y="5448300"/>
            <a:ext cx="114300" cy="114300"/>
          </a:xfrm>
          <a:prstGeom prst="roundRect">
            <a:avLst>
              <a:gd name="adj" fmla="val 16667"/>
            </a:avLst>
          </a:prstGeom>
          <a:solidFill>
            <a:srgbClr val="46C98B"/>
          </a:solidFill>
          <a:ln>
            <a:noFill/>
          </a:ln>
        </p:spPr>
        <p:txBody>
          <a:bodyPr/>
          <a:p/>
        </p:txBody>
      </p:sp>
      <p:sp>
        <p:nvSpPr>
          <p:cNvPr id="56" name="TextBox 56"/>
          <p:cNvSpPr txBox="1"/>
          <p:nvPr/>
        </p:nvSpPr>
        <p:spPr>
          <a:xfrm>
            <a:off x="853674" y="6070759"/>
            <a:ext cx="273851" cy="133350"/>
          </a:xfrm>
          <a:prstGeom prst="rect">
            <a:avLst/>
          </a:prstGeom>
          <a:noFill/>
          <a:ln>
            <a:noFill/>
          </a:ln>
        </p:spPr>
        <p:txBody>
          <a:bodyPr wrap="none" lIns="0" tIns="0" rIns="0" bIns="0" anchor="t" anchorCtr="0">
            <a:spAutoFit/>
          </a:bodyPr>
          <a:lstStyle/>
          <a:p>
            <a:pPr algn="ctr"/>
            <a:r>
              <a:rPr lang="en-US" sz="680" b="1" dirty="0">
                <a:solidFill>
                  <a:schemeClr val="dk2"/>
                </a:solidFill>
                <a:latin typeface="+mn-lt"/>
                <a:ea typeface="+mn-ea"/>
                <a:cs typeface="+mn-cs"/>
              </a:rPr>
              <a:t>start</a:t>
            </a:r>
          </a:p>
        </p:txBody>
      </p:sp>
      <p:sp>
        <p:nvSpPr>
          <p:cNvPr id="57" name="TextBox 57"/>
          <p:cNvSpPr txBox="1"/>
          <p:nvPr/>
        </p:nvSpPr>
        <p:spPr>
          <a:xfrm>
            <a:off x="1606497" y="5318284"/>
            <a:ext cx="196956" cy="133350"/>
          </a:xfrm>
          <a:prstGeom prst="rect">
            <a:avLst/>
          </a:prstGeom>
          <a:noFill/>
          <a:ln>
            <a:noFill/>
          </a:ln>
        </p:spPr>
        <p:txBody>
          <a:bodyPr wrap="none" lIns="0" tIns="0" rIns="0" bIns="0" anchor="t" anchorCtr="0">
            <a:spAutoFit/>
          </a:bodyPr>
          <a:lstStyle/>
          <a:p>
            <a:pPr algn="ctr"/>
            <a:r>
              <a:rPr lang="en-US" sz="680" b="1" dirty="0">
                <a:solidFill>
                  <a:srgbClr val="46C98B"/>
                </a:solidFill>
                <a:latin typeface="+mn-lt"/>
                <a:ea typeface="+mn-ea"/>
                <a:cs typeface="+mn-cs"/>
              </a:rPr>
              <a:t>goal</a:t>
            </a:r>
          </a:p>
        </p:txBody>
      </p:sp>
      <p:sp>
        <p:nvSpPr>
          <p:cNvPr id="58" name="TextBox 58"/>
          <p:cNvSpPr txBox="1"/>
          <p:nvPr/>
        </p:nvSpPr>
        <p:spPr>
          <a:xfrm>
            <a:off x="8237125" y="5735002"/>
            <a:ext cx="335060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DDT · Deep Demonstration Tracing · ICML 2024</a:t>
            </a:r>
          </a:p>
        </p:txBody>
      </p:sp>
      <p:sp>
        <p:nvSpPr>
          <p:cNvPr id="59" name="cue_s10_c1_takeaway_simple" title="cue_s10_c1_takeaway_simple" descr="cue_s10_c1_takeaway_simple The takeaway is simple."/>
          <p:cNvSpPr/>
          <p:nvPr/>
        </p:nvSpPr>
        <p:spPr>
          <a:xfrm>
            <a:off x="609600" y="1581454"/>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10_c2_instead_blindly_replaying_demonstrat" title="cue_s10_c2_instead_blindly_replaying_demonstrat" descr="cue_s10_c2_instead_blindly_replaying_demonstrat Instead of blindly replaying a demonstration, an agent should learn to trace it — figuring out which demonstrated states are relevant right now, understanding what the expert did there, and steering back onto the path after a detour."/>
          <p:cNvSpPr/>
          <p:nvPr/>
        </p:nvSpPr>
        <p:spPr>
          <a:xfrm>
            <a:off x="609600" y="2285771"/>
            <a:ext cx="3505199" cy="2876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10_c3_deep_demonstration_tracing_operation" title="cue_s10_c3_deep_demonstration_tracing_operation" descr="cue_s10_c3_deep_demonstration_tracing_operation Deep Demonstration Tracing operationalizes this with a demonstration transformer trained by meta-reinforcement learning, and the result is one-shot imitation that stays robust when the environment changes unexpectedly, a regime where earlier methods fail."/>
          <p:cNvSpPr/>
          <p:nvPr/>
        </p:nvSpPr>
        <p:spPr>
          <a:xfrm>
            <a:off x="4344009" y="2285771"/>
            <a:ext cx="3505199" cy="2876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10_c4_its_clean_scaling_behavior_even" title="cue_s10_c4_its_clean_scaling_behavior_even" descr="cue_s10_c4_its_clean_scaling_behavior_even Its clean scaling behavior even suggests it could become a building block for larger, more general decision-making agents."/>
          <p:cNvSpPr/>
          <p:nvPr/>
        </p:nvSpPr>
        <p:spPr>
          <a:xfrm>
            <a:off x="8077200" y="2285771"/>
            <a:ext cx="3505199" cy="28762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2FB"/>
      </a:dk1>
      <a:lt1>
        <a:srgbClr val="0B1A2B"/>
      </a:lt1>
      <a:dk2>
        <a:srgbClr val="9DB3C8"/>
      </a:dk2>
      <a:lt2>
        <a:srgbClr val="0B1A2B"/>
      </a:lt2>
      <a:accent1>
        <a:srgbClr val="3E9BFF"/>
      </a:accent1>
      <a:accent2>
        <a:srgbClr val="3E9BFF"/>
      </a:accent2>
      <a:accent3>
        <a:srgbClr val="3E9BFF"/>
      </a:accent3>
      <a:accent4>
        <a:srgbClr val="2A4D6E"/>
      </a:accent4>
      <a:accent5>
        <a:srgbClr val="122A42"/>
      </a:accent5>
      <a:accent6>
        <a:srgbClr val="173453"/>
      </a:accent6>
      <a:hlink>
        <a:srgbClr val="3E9BFF"/>
      </a:hlink>
      <a:folHlink>
        <a:srgbClr val="3E9BFF"/>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2026-07-17T16:08:41Z</dcterms:created>
  <dcterms:modified xsi:type="dcterms:W3CDTF">2026-07-17T16:08:41Z</dcterms:modified>
  <cp:category/>
  <cp:contentStatus/>
</cp:coreProperties>
</file>
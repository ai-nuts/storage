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6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a:solidFill>
            <a:schemeClr val="tx1"/>
          </a:solidFill>
          <a:latin typeface="+mn-lt"/>
          <a:ea typeface="+mn-ea"/>
          <a:cs typeface="+mn-cs"/>
        </a:defRPr>
      </a:lvl9pPr>
    </p:bodyStyle>
    <p:otherStyle>
      <a:defPPr>
        <a:defRPr lang="en-US"/>
      </a:defPPr>
      <a:lvl1pPr marL="0" algn="l" defTabSz="457200" rtl="0" eaLnBrk="1" latinLnBrk="0" hangingPunct="1">
        <a:defRPr sz="2100" kern="1200">
          <a:solidFill>
            <a:schemeClr val="tx1"/>
          </a:solidFill>
          <a:latin typeface="+mn-lt"/>
          <a:ea typeface="+mn-ea"/>
          <a:cs typeface="+mn-cs"/>
        </a:defRPr>
      </a:lvl1pPr>
      <a:lvl2pPr marL="457200" algn="l" defTabSz="457200" rtl="0" eaLnBrk="1" latinLnBrk="0" hangingPunct="1">
        <a:defRPr sz="1950" kern="1200">
          <a:solidFill>
            <a:schemeClr val="tx1"/>
          </a:solidFill>
          <a:latin typeface="+mn-lt"/>
          <a:ea typeface="+mn-ea"/>
          <a:cs typeface="+mn-cs"/>
        </a:defRPr>
      </a:lvl2pPr>
      <a:lvl3pPr marL="914400" algn="l" defTabSz="457200" rtl="0" eaLnBrk="1" latinLnBrk="0" hangingPunct="1">
        <a:defRPr sz="1850" kern="1200">
          <a:solidFill>
            <a:schemeClr val="tx1"/>
          </a:solidFill>
          <a:latin typeface="+mn-lt"/>
          <a:ea typeface="+mn-ea"/>
          <a:cs typeface="+mn-cs"/>
        </a:defRPr>
      </a:lvl3pPr>
      <a:lvl4pPr marL="1371600" algn="l" defTabSz="457200" rtl="0" eaLnBrk="1" latinLnBrk="0" hangingPunct="1">
        <a:defRPr sz="1700" kern="1200">
          <a:solidFill>
            <a:schemeClr val="tx1"/>
          </a:solidFill>
          <a:latin typeface="+mn-lt"/>
          <a:ea typeface="+mn-ea"/>
          <a:cs typeface="+mn-cs"/>
        </a:defRPr>
      </a:lvl4pPr>
      <a:lvl5pPr marL="1828800" algn="l" defTabSz="457200" rtl="0" eaLnBrk="1" latinLnBrk="0" hangingPunct="1">
        <a:defRPr sz="1600" kern="1200">
          <a:solidFill>
            <a:schemeClr val="tx1"/>
          </a:solidFill>
          <a:latin typeface="+mn-lt"/>
          <a:ea typeface="+mn-ea"/>
          <a:cs typeface="+mn-cs"/>
        </a:defRPr>
      </a:lvl5pPr>
      <a:lvl6pPr marL="2286000" algn="l" defTabSz="457200" rtl="0" eaLnBrk="1" latinLnBrk="0" hangingPunct="1">
        <a:defRPr sz="1450" kern="1200">
          <a:solidFill>
            <a:schemeClr val="tx1"/>
          </a:solidFill>
          <a:latin typeface="+mn-lt"/>
          <a:ea typeface="+mn-ea"/>
          <a:cs typeface="+mn-cs"/>
        </a:defRPr>
      </a:lvl6pPr>
      <a:lvl7pPr marL="2743200" algn="l" defTabSz="457200" rtl="0" eaLnBrk="1" latinLnBrk="0" hangingPunct="1">
        <a:defRPr sz="13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0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15f55aeccd35d7a3.png"/><Relationship Id="rId3" Type="http://schemas.openxmlformats.org/officeDocument/2006/relationships/image" Target="../media/image_60f08d194a74539c.png"/><Relationship Id="rId4" Type="http://schemas.openxmlformats.org/officeDocument/2006/relationships/image" Target="../media/image_b98d62ea6796e5c1.png"/><Relationship Id="rId5" Type="http://schemas.openxmlformats.org/officeDocument/2006/relationships/image" Target="../media/image_3318e27c9647a3f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1bca93cbf4458972.jpg"/><Relationship Id="rId3" Type="http://schemas.openxmlformats.org/officeDocument/2006/relationships/image" Target="../media/image_d788a92706190ff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247650" cy="10287000"/>
          </a:xfrm>
          <a:prstGeom prst="rect">
            <a:avLst/>
          </a:prstGeom>
          <a:solidFill>
            <a:schemeClr val="accent1"/>
          </a:solidFill>
          <a:ln>
            <a:noFill/>
          </a:ln>
        </p:spPr>
        <p:txBody>
          <a:bodyPr/>
          <a:p/>
        </p:txBody>
      </p:sp>
      <p:grpSp>
        <p:nvGrpSpPr>
          <p:cNvPr id="8" name="Group 8"/>
          <p:cNvGrpSpPr/>
          <p:nvPr/>
        </p:nvGrpSpPr>
        <p:grpSpPr>
          <a:xfrm>
            <a:off x="1047750" y="1428750"/>
            <a:ext cx="11239500" cy="2857500"/>
            <a:chOff x="1047750" y="1428750"/>
            <a:chExt cx="11239500" cy="2857500"/>
          </a:xfrm>
        </p:grpSpPr>
        <p:sp>
          <p:nvSpPr>
            <p:cNvPr id="3" name="Rectangle 3"/>
            <p:cNvSpPr/>
            <p:nvPr/>
          </p:nvSpPr>
          <p:spPr>
            <a:xfrm>
              <a:off x="1047750" y="1428750"/>
              <a:ext cx="11239500" cy="2857500"/>
            </a:xfrm>
            <a:prstGeom prst="roundRect">
              <a:avLst>
                <a:gd name="adj" fmla="val 8000"/>
              </a:avLst>
            </a:prstGeom>
            <a:solidFill>
              <a:srgbClr val="FFFFFF"/>
            </a:solidFill>
            <a:ln w="0">
              <a:solidFill>
                <a:schemeClr val="accent4"/>
              </a:solidFill>
            </a:ln>
          </p:spPr>
        </p:sp>
        <p:sp>
          <p:nvSpPr>
            <p:cNvPr id="4" name="Rectangle 4"/>
            <p:cNvSpPr/>
            <p:nvPr/>
          </p:nvSpPr>
          <p:spPr>
            <a:xfrm>
              <a:off x="1047750" y="1428750"/>
              <a:ext cx="11239500" cy="2857500"/>
            </a:xfrm>
            <a:prstGeom prst="roundRect">
              <a:avLst>
                <a:gd name="adj" fmla="val 8000"/>
              </a:avLst>
            </a:prstGeom>
            <a:solidFill>
              <a:srgbClr val="FFFFFF"/>
            </a:solidFill>
            <a:ln w="0">
              <a:solidFill>
                <a:schemeClr val="accent4"/>
              </a:solidFill>
            </a:ln>
          </p:spPr>
        </p:sp>
        <p:sp>
          <p:nvSpPr>
            <p:cNvPr id="5" name="TextBox 5"/>
            <p:cNvSpPr txBox="1"/>
            <p:nvPr/>
          </p:nvSpPr>
          <p:spPr>
            <a:xfrm>
              <a:off x="1418082" y="2011680"/>
              <a:ext cx="1587718" cy="410718"/>
            </a:xfrm>
            <a:prstGeom prst="rect">
              <a:avLst/>
            </a:prstGeom>
            <a:noFill/>
            <a:ln>
              <a:noFill/>
            </a:ln>
          </p:spPr>
          <p:txBody>
            <a:bodyPr wrap="none" lIns="0" tIns="0" rIns="0" bIns="0" anchor="t" anchorCtr="0">
              <a:spAutoFit/>
            </a:bodyPr>
            <a:lstStyle/>
            <a:p>
              <a:pPr algn="l"/>
              <a:r>
                <a:rPr lang="en-US" sz="2100" b="1" spc="150" dirty="0">
                  <a:solidFill>
                    <a:schemeClr val="accent1"/>
                  </a:solidFill>
                  <a:latin typeface="+mn-lt"/>
                  <a:ea typeface="+mn-ea"/>
                  <a:cs typeface="+mn-cs"/>
                </a:rPr>
                <a:t>ICLR 2023</a:t>
              </a:r>
            </a:p>
          </p:txBody>
        </p:sp>
        <p:sp>
          <p:nvSpPr>
            <p:cNvPr id="6" name="TextBox 6"/>
            <p:cNvSpPr txBox="1"/>
            <p:nvPr/>
          </p:nvSpPr>
          <p:spPr>
            <a:xfrm>
              <a:off x="1409700" y="2544128"/>
              <a:ext cx="9054154" cy="1076325"/>
            </a:xfrm>
            <a:prstGeom prst="rect">
              <a:avLst/>
            </a:prstGeom>
            <a:noFill/>
            <a:ln>
              <a:noFill/>
            </a:ln>
          </p:spPr>
          <p:txBody>
            <a:bodyPr wrap="none" lIns="0" tIns="0" rIns="0" bIns="0" anchor="t" anchorCtr="0">
              <a:spAutoFit/>
            </a:bodyPr>
            <a:lstStyle/>
            <a:p>
              <a:pPr algn="l"/>
              <a:r>
                <a:rPr lang="en-US" sz="5550" b="1" dirty="0">
                  <a:solidFill>
                    <a:schemeClr val="dk1"/>
                  </a:solidFill>
                  <a:latin typeface="+mn-lt"/>
                  <a:ea typeface="+mn-ea"/>
                  <a:cs typeface="+mn-cs"/>
                </a:rPr>
                <a:t>A View From Somewhere</a:t>
              </a:r>
            </a:p>
          </p:txBody>
        </p:sp>
        <p:sp>
          <p:nvSpPr>
            <p:cNvPr id="7" name="TextBox 7"/>
            <p:cNvSpPr txBox="1"/>
            <p:nvPr/>
          </p:nvSpPr>
          <p:spPr>
            <a:xfrm>
              <a:off x="1411986" y="3501390"/>
              <a:ext cx="8444115" cy="645414"/>
            </a:xfrm>
            <a:prstGeom prst="rect">
              <a:avLst/>
            </a:prstGeom>
            <a:noFill/>
            <a:ln>
              <a:noFill/>
            </a:ln>
          </p:spPr>
          <p:txBody>
            <a:bodyPr wrap="none" lIns="0" tIns="0" rIns="0" bIns="0" anchor="t" anchorCtr="0">
              <a:spAutoFit/>
            </a:bodyPr>
            <a:lstStyle/>
            <a:p>
              <a:pPr algn="l"/>
              <a:r>
                <a:rPr lang="en-US" sz="3300" b="1" dirty="0">
                  <a:solidFill>
                    <a:schemeClr val="dk2"/>
                  </a:solidFill>
                  <a:latin typeface="+mn-lt"/>
                  <a:ea typeface="+mn-ea"/>
                  <a:cs typeface="+mn-cs"/>
                </a:rPr>
                <a:t>Human-Centric Face Representations</a:t>
              </a:r>
            </a:p>
          </p:txBody>
        </p:sp>
      </p:grpSp>
      <p:sp>
        <p:nvSpPr>
          <p:cNvPr id="9" name="TextBox 9"/>
          <p:cNvSpPr txBox="1"/>
          <p:nvPr/>
        </p:nvSpPr>
        <p:spPr>
          <a:xfrm>
            <a:off x="1418082" y="4535805"/>
            <a:ext cx="7681428"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Jerone T. A. Andrews · Przemyslaw Joniak · Alice Xiang</a:t>
            </a:r>
          </a:p>
        </p:txBody>
      </p:sp>
      <p:sp>
        <p:nvSpPr>
          <p:cNvPr id="10" name="TextBox 10"/>
          <p:cNvSpPr txBox="1"/>
          <p:nvPr/>
        </p:nvSpPr>
        <p:spPr>
          <a:xfrm>
            <a:off x="1418844" y="4932998"/>
            <a:ext cx="3726874" cy="381381"/>
          </a:xfrm>
          <a:prstGeom prst="rect">
            <a:avLst/>
          </a:prstGeom>
          <a:noFill/>
          <a:ln>
            <a:noFill/>
          </a:ln>
        </p:spPr>
        <p:txBody>
          <a:bodyPr wrap="none" lIns="0" tIns="0" rIns="0" bIns="0" anchor="t" anchorCtr="0">
            <a:spAutoFit/>
          </a:bodyPr>
          <a:lstStyle/>
          <a:p>
            <a:pPr algn="l"/>
            <a:r>
              <a:rPr lang="en-US" sz="1950" dirty="0">
                <a:solidFill>
                  <a:schemeClr val="dk2"/>
                </a:solidFill>
                <a:latin typeface="+mn-lt"/>
                <a:ea typeface="+mn-ea"/>
                <a:cs typeface="+mn-cs"/>
              </a:rPr>
              <a:t>Sony AI · University of Tokyo</a:t>
            </a:r>
          </a:p>
        </p:txBody>
      </p:sp>
      <p:grpSp>
        <p:nvGrpSpPr>
          <p:cNvPr id="16" name="Group 16"/>
          <p:cNvGrpSpPr/>
          <p:nvPr/>
        </p:nvGrpSpPr>
        <p:grpSpPr>
          <a:xfrm>
            <a:off x="1047750" y="5715000"/>
            <a:ext cx="8191500" cy="1474851"/>
            <a:chOff x="1047750" y="5715000"/>
            <a:chExt cx="8191500" cy="1474851"/>
          </a:xfrm>
        </p:grpSpPr>
        <p:sp>
          <p:nvSpPr>
            <p:cNvPr id="11" name="Rectangle 11"/>
            <p:cNvSpPr/>
            <p:nvPr/>
          </p:nvSpPr>
          <p:spPr>
            <a:xfrm>
              <a:off x="1047750" y="5715000"/>
              <a:ext cx="8191500" cy="1428750"/>
            </a:xfrm>
            <a:prstGeom prst="roundRect">
              <a:avLst>
                <a:gd name="adj" fmla="val 13333"/>
              </a:avLst>
            </a:prstGeom>
            <a:solidFill>
              <a:srgbClr val="ECEDFB"/>
            </a:solidFill>
            <a:ln>
              <a:noFill/>
            </a:ln>
          </p:spPr>
        </p:sp>
        <p:sp>
          <p:nvSpPr>
            <p:cNvPr id="12" name="Rectangle 12"/>
            <p:cNvSpPr/>
            <p:nvPr/>
          </p:nvSpPr>
          <p:spPr>
            <a:xfrm>
              <a:off x="1047750" y="5715000"/>
              <a:ext cx="76200" cy="1428750"/>
            </a:xfrm>
            <a:prstGeom prst="roundRect">
              <a:avLst>
                <a:gd name="adj" fmla="val 50000"/>
              </a:avLst>
            </a:prstGeom>
            <a:solidFill>
              <a:schemeClr val="accent1"/>
            </a:solidFill>
            <a:ln>
              <a:noFill/>
            </a:ln>
          </p:spPr>
        </p:sp>
        <p:sp>
          <p:nvSpPr>
            <p:cNvPr id="13" name="TextBox 13"/>
            <p:cNvSpPr txBox="1"/>
            <p:nvPr/>
          </p:nvSpPr>
          <p:spPr>
            <a:xfrm>
              <a:off x="1417320" y="6043612"/>
              <a:ext cx="3372226"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n-lt"/>
                  <a:ea typeface="+mn-ea"/>
                  <a:cs typeface="+mn-cs"/>
                </a:rPr>
                <a:t>No demographic labels</a:t>
              </a:r>
            </a:p>
          </p:txBody>
        </p:sp>
        <p:sp>
          <p:nvSpPr>
            <p:cNvPr id="14" name="TextBox 14"/>
            <p:cNvSpPr txBox="1"/>
            <p:nvPr/>
          </p:nvSpPr>
          <p:spPr>
            <a:xfrm>
              <a:off x="1418844" y="6456998"/>
              <a:ext cx="6969663" cy="381381"/>
            </a:xfrm>
            <a:prstGeom prst="rect">
              <a:avLst/>
            </a:prstGeom>
            <a:noFill/>
            <a:ln>
              <a:noFill/>
            </a:ln>
          </p:spPr>
          <p:txBody>
            <a:bodyPr wrap="none" lIns="0" tIns="0" rIns="0" bIns="0" anchor="t" anchorCtr="0">
              <a:spAutoFit/>
            </a:bodyPr>
            <a:lstStyle/>
            <a:p>
              <a:pPr algn="l"/>
              <a:r>
                <a:rPr lang="en-US" sz="1950" dirty="0">
                  <a:solidFill>
                    <a:schemeClr val="dk1"/>
                  </a:solidFill>
                  <a:latin typeface="+mn-lt"/>
                  <a:ea typeface="+mn-ea"/>
                  <a:cs typeface="+mn-cs"/>
                </a:rPr>
                <a:t>Learn from 600K+ human judgments of face similarity,</a:t>
              </a:r>
            </a:p>
          </p:txBody>
        </p:sp>
        <p:sp>
          <p:nvSpPr>
            <p:cNvPr id="15" name="TextBox 15"/>
            <p:cNvSpPr txBox="1"/>
            <p:nvPr/>
          </p:nvSpPr>
          <p:spPr>
            <a:xfrm>
              <a:off x="1418844" y="6808470"/>
              <a:ext cx="3143669" cy="381381"/>
            </a:xfrm>
            <a:prstGeom prst="rect">
              <a:avLst/>
            </a:prstGeom>
            <a:noFill/>
            <a:ln>
              <a:noFill/>
            </a:ln>
          </p:spPr>
          <p:txBody>
            <a:bodyPr wrap="none" lIns="0" tIns="0" rIns="0" bIns="0" anchor="t" anchorCtr="0">
              <a:spAutoFit/>
            </a:bodyPr>
            <a:lstStyle/>
            <a:p>
              <a:pPr algn="l"/>
              <a:r>
                <a:rPr lang="en-US" sz="1950" dirty="0">
                  <a:solidFill>
                    <a:schemeClr val="dk1"/>
                  </a:solidFill>
                  <a:latin typeface="+mn-lt"/>
                  <a:ea typeface="+mn-ea"/>
                  <a:cs typeface="+mn-cs"/>
                </a:rPr>
                <a:t>aligned with perception.</a:t>
              </a:r>
            </a:p>
          </p:txBody>
        </p:sp>
      </p:grpSp>
      <p:grpSp>
        <p:nvGrpSpPr>
          <p:cNvPr id="22" name="Group 22"/>
          <p:cNvGrpSpPr/>
          <p:nvPr/>
        </p:nvGrpSpPr>
        <p:grpSpPr>
          <a:xfrm>
            <a:off x="1047750" y="7429500"/>
            <a:ext cx="8191500" cy="1474851"/>
            <a:chOff x="1047750" y="7429500"/>
            <a:chExt cx="8191500" cy="1474851"/>
          </a:xfrm>
        </p:grpSpPr>
        <p:sp>
          <p:nvSpPr>
            <p:cNvPr id="17" name="Rectangle 17"/>
            <p:cNvSpPr/>
            <p:nvPr/>
          </p:nvSpPr>
          <p:spPr>
            <a:xfrm>
              <a:off x="1047750" y="7429500"/>
              <a:ext cx="8191500" cy="1428750"/>
            </a:xfrm>
            <a:prstGeom prst="roundRect">
              <a:avLst>
                <a:gd name="adj" fmla="val 13333"/>
              </a:avLst>
            </a:prstGeom>
            <a:solidFill>
              <a:srgbClr val="E1F3F0"/>
            </a:solidFill>
            <a:ln>
              <a:noFill/>
            </a:ln>
          </p:spPr>
        </p:sp>
        <p:sp>
          <p:nvSpPr>
            <p:cNvPr id="18" name="Rectangle 18"/>
            <p:cNvSpPr/>
            <p:nvPr/>
          </p:nvSpPr>
          <p:spPr>
            <a:xfrm>
              <a:off x="1047750" y="7429500"/>
              <a:ext cx="76200" cy="1428750"/>
            </a:xfrm>
            <a:prstGeom prst="roundRect">
              <a:avLst>
                <a:gd name="adj" fmla="val 50000"/>
              </a:avLst>
            </a:prstGeom>
            <a:solidFill>
              <a:schemeClr val="accent2"/>
            </a:solidFill>
            <a:ln>
              <a:noFill/>
            </a:ln>
          </p:spPr>
        </p:sp>
        <p:sp>
          <p:nvSpPr>
            <p:cNvPr id="19" name="TextBox 19"/>
            <p:cNvSpPr txBox="1"/>
            <p:nvPr/>
          </p:nvSpPr>
          <p:spPr>
            <a:xfrm>
              <a:off x="1417320" y="7758112"/>
              <a:ext cx="5328558"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A continuous, interpretable space</a:t>
              </a:r>
            </a:p>
          </p:txBody>
        </p:sp>
        <p:sp>
          <p:nvSpPr>
            <p:cNvPr id="20" name="TextBox 20"/>
            <p:cNvSpPr txBox="1"/>
            <p:nvPr/>
          </p:nvSpPr>
          <p:spPr>
            <a:xfrm>
              <a:off x="1418844" y="8171498"/>
              <a:ext cx="6735354" cy="381381"/>
            </a:xfrm>
            <a:prstGeom prst="rect">
              <a:avLst/>
            </a:prstGeom>
            <a:noFill/>
            <a:ln>
              <a:noFill/>
            </a:ln>
          </p:spPr>
          <p:txBody>
            <a:bodyPr wrap="none" lIns="0" tIns="0" rIns="0" bIns="0" anchor="t" anchorCtr="0">
              <a:spAutoFit/>
            </a:bodyPr>
            <a:lstStyle/>
            <a:p>
              <a:pPr algn="l"/>
              <a:r>
                <a:rPr lang="en-US" sz="1950" dirty="0">
                  <a:solidFill>
                    <a:schemeClr val="dk1"/>
                  </a:solidFill>
                  <a:latin typeface="+mn-lt"/>
                  <a:ea typeface="+mn-ea"/>
                  <a:cs typeface="+mn-cs"/>
                </a:rPr>
                <a:t>Avoids invasive categories; captures the continuous</a:t>
              </a:r>
            </a:p>
          </p:txBody>
        </p:sp>
        <p:sp>
          <p:nvSpPr>
            <p:cNvPr id="21" name="TextBox 21"/>
            <p:cNvSpPr txBox="1"/>
            <p:nvPr/>
          </p:nvSpPr>
          <p:spPr>
            <a:xfrm>
              <a:off x="1418844" y="8522970"/>
              <a:ext cx="3498056" cy="381381"/>
            </a:xfrm>
            <a:prstGeom prst="rect">
              <a:avLst/>
            </a:prstGeom>
            <a:noFill/>
            <a:ln>
              <a:noFill/>
            </a:ln>
          </p:spPr>
          <p:txBody>
            <a:bodyPr wrap="none" lIns="0" tIns="0" rIns="0" bIns="0" anchor="t" anchorCtr="0">
              <a:spAutoFit/>
            </a:bodyPr>
            <a:lstStyle/>
            <a:p>
              <a:pPr algn="l"/>
              <a:r>
                <a:rPr lang="en-US" sz="1950" dirty="0">
                  <a:solidFill>
                    <a:schemeClr val="dk1"/>
                  </a:solidFill>
                  <a:latin typeface="+mn-lt"/>
                  <a:ea typeface="+mn-ea"/>
                  <a:cs typeface="+mn-cs"/>
                </a:rPr>
                <a:t>nature of human diversity.</a:t>
              </a:r>
            </a:p>
          </p:txBody>
        </p:sp>
      </p:grpSp>
      <p:sp>
        <p:nvSpPr>
          <p:cNvPr id="23" name="Rectangle 23"/>
          <p:cNvSpPr/>
          <p:nvPr/>
        </p:nvSpPr>
        <p:spPr>
          <a:xfrm>
            <a:off x="12954000" y="1428750"/>
            <a:ext cx="4286250" cy="7429500"/>
          </a:xfrm>
          <a:prstGeom prst="roundRect">
            <a:avLst>
              <a:gd name="adj" fmla="val 5333"/>
            </a:avLst>
          </a:prstGeom>
          <a:solidFill>
            <a:srgbClr val="FFFFFF"/>
          </a:solidFill>
          <a:ln w="19050">
            <a:solidFill>
              <a:schemeClr val="accent4"/>
            </a:solidFill>
          </a:ln>
        </p:spPr>
        <p:txBody>
          <a:bodyPr/>
          <a:p/>
        </p:txBody>
      </p:sp>
      <p:sp>
        <p:nvSpPr>
          <p:cNvPr id="24" name="TextBox 24"/>
          <p:cNvSpPr txBox="1"/>
          <p:nvPr/>
        </p:nvSpPr>
        <p:spPr>
          <a:xfrm>
            <a:off x="14212068" y="1786890"/>
            <a:ext cx="1770114" cy="352044"/>
          </a:xfrm>
          <a:prstGeom prst="rect">
            <a:avLst/>
          </a:prstGeom>
          <a:noFill/>
          <a:ln>
            <a:noFill/>
          </a:ln>
        </p:spPr>
        <p:txBody>
          <a:bodyPr wrap="none" lIns="0" tIns="0" rIns="0" bIns="0" anchor="t" anchorCtr="0">
            <a:spAutoFit/>
          </a:bodyPr>
          <a:lstStyle/>
          <a:p>
            <a:pPr algn="ctr"/>
            <a:r>
              <a:rPr lang="en-US" sz="1800" b="1" dirty="0">
                <a:solidFill>
                  <a:schemeClr val="dk2"/>
                </a:solidFill>
                <a:latin typeface="+mn-lt"/>
                <a:ea typeface="+mn-ea"/>
                <a:cs typeface="+mn-cs"/>
              </a:rPr>
              <a:t>Scan for more</a:t>
            </a:r>
          </a:p>
        </p:txBody>
      </p:sp>
      <p:sp>
        <p:nvSpPr>
          <p:cNvPr id="25" name="Rectangle 25"/>
          <p:cNvSpPr/>
          <p:nvPr/>
        </p:nvSpPr>
        <p:spPr>
          <a:xfrm>
            <a:off x="13687425" y="2247900"/>
            <a:ext cx="2819400" cy="2819400"/>
          </a:xfrm>
          <a:prstGeom prst="roundRect">
            <a:avLst>
              <a:gd name="adj" fmla="val 5405"/>
            </a:avLst>
          </a:prstGeom>
          <a:solidFill>
            <a:schemeClr val="lt2"/>
          </a:solidFill>
          <a:ln w="19050">
            <a:solidFill>
              <a:schemeClr val="accent4"/>
            </a:solidFill>
          </a:ln>
        </p:spPr>
        <p:txBody>
          <a:bodyPr/>
          <a:p/>
        </p:txBody>
      </p:sp>
      <p:pic>
        <p:nvPicPr>
          <p:cNvPr id="26" name="Image 26"/>
          <p:cNvPicPr>
            <a:picLocks noChangeAspect="1"/>
          </p:cNvPicPr>
          <p:nvPr/>
        </p:nvPicPr>
        <p:blipFill>
          <a:blip r:embed="rId2"/>
          <a:stretch>
            <a:fillRect/>
          </a:stretch>
        </p:blipFill>
        <p:spPr>
          <a:xfrm>
            <a:off x="13839825" y="2400300"/>
            <a:ext cx="2514600" cy="2514600"/>
          </a:xfrm>
          <a:prstGeom prst="rect">
            <a:avLst/>
          </a:prstGeom>
        </p:spPr>
      </p:pic>
      <p:sp>
        <p:nvSpPr>
          <p:cNvPr id="27" name="TextBox 27"/>
          <p:cNvSpPr txBox="1"/>
          <p:nvPr/>
        </p:nvSpPr>
        <p:spPr>
          <a:xfrm>
            <a:off x="13486213" y="5196840"/>
            <a:ext cx="3221824" cy="352044"/>
          </a:xfrm>
          <a:prstGeom prst="rect">
            <a:avLst/>
          </a:prstGeom>
          <a:noFill/>
          <a:ln>
            <a:noFill/>
          </a:ln>
        </p:spPr>
        <p:txBody>
          <a:bodyPr wrap="none" lIns="0" tIns="0" rIns="0" bIns="0" anchor="t" anchorCtr="0">
            <a:spAutoFit/>
          </a:bodyPr>
          <a:lstStyle/>
          <a:p>
            <a:pPr algn="ctr"/>
            <a:r>
              <a:rPr lang="en-US" sz="1800" b="1" dirty="0">
                <a:solidFill>
                  <a:schemeClr val="dk1"/>
                </a:solidFill>
                <a:latin typeface="+mn-lt"/>
                <a:ea typeface="+mn-ea"/>
                <a:cs typeface="+mn-cs"/>
              </a:rPr>
              <a:t>Paper · arXiv:2303.17176</a:t>
            </a:r>
          </a:p>
        </p:txBody>
      </p:sp>
      <p:sp>
        <p:nvSpPr>
          <p:cNvPr id="28" name="Rectangle 28"/>
          <p:cNvSpPr/>
          <p:nvPr/>
        </p:nvSpPr>
        <p:spPr>
          <a:xfrm>
            <a:off x="14239875" y="5715000"/>
            <a:ext cx="1714500" cy="1714500"/>
          </a:xfrm>
          <a:prstGeom prst="roundRect">
            <a:avLst>
              <a:gd name="adj" fmla="val 7778"/>
            </a:avLst>
          </a:prstGeom>
          <a:solidFill>
            <a:schemeClr val="lt2"/>
          </a:solidFill>
          <a:ln w="19050">
            <a:solidFill>
              <a:schemeClr val="accent4"/>
            </a:solidFill>
          </a:ln>
        </p:spPr>
        <p:txBody>
          <a:bodyPr/>
          <a:p/>
        </p:txBody>
      </p:sp>
      <p:pic>
        <p:nvPicPr>
          <p:cNvPr id="29" name="Image 29"/>
          <p:cNvPicPr>
            <a:picLocks noChangeAspect="1"/>
          </p:cNvPicPr>
          <p:nvPr/>
        </p:nvPicPr>
        <p:blipFill>
          <a:blip r:embed="rId3"/>
          <a:stretch>
            <a:fillRect/>
          </a:stretch>
        </p:blipFill>
        <p:spPr>
          <a:xfrm>
            <a:off x="14411325" y="5886450"/>
            <a:ext cx="1371600" cy="1371600"/>
          </a:xfrm>
          <a:prstGeom prst="rect">
            <a:avLst/>
          </a:prstGeom>
        </p:spPr>
      </p:pic>
      <p:sp>
        <p:nvSpPr>
          <p:cNvPr id="30" name="TextBox 30"/>
          <p:cNvSpPr txBox="1"/>
          <p:nvPr/>
        </p:nvSpPr>
        <p:spPr>
          <a:xfrm>
            <a:off x="13695169" y="7460932"/>
            <a:ext cx="2803911" cy="322707"/>
          </a:xfrm>
          <a:prstGeom prst="rect">
            <a:avLst/>
          </a:prstGeom>
          <a:noFill/>
          <a:ln>
            <a:noFill/>
          </a:ln>
        </p:spPr>
        <p:txBody>
          <a:bodyPr wrap="none" lIns="0" tIns="0" rIns="0" bIns="0" anchor="t" anchorCtr="0">
            <a:spAutoFit/>
          </a:bodyPr>
          <a:lstStyle/>
          <a:p>
            <a:pPr algn="ctr"/>
            <a:r>
              <a:rPr lang="en-US" sz="1650" dirty="0">
                <a:solidFill>
                  <a:schemeClr val="dk2"/>
                </a:solidFill>
                <a:latin typeface="+mn-lt"/>
                <a:ea typeface="+mn-ea"/>
                <a:cs typeface="+mn-cs"/>
              </a:rPr>
              <a:t>Code · github.com/SonyAI</a:t>
            </a:r>
          </a:p>
        </p:txBody>
      </p:sp>
      <p:pic>
        <p:nvPicPr>
          <p:cNvPr id="31" name="Image 31"/>
          <p:cNvPicPr>
            <a:picLocks noChangeAspect="1"/>
          </p:cNvPicPr>
          <p:nvPr/>
        </p:nvPicPr>
        <p:blipFill>
          <a:blip r:embed="rId4"/>
          <a:stretch>
            <a:fillRect/>
          </a:stretch>
        </p:blipFill>
        <p:spPr>
          <a:xfrm>
            <a:off x="13335000" y="8162982"/>
            <a:ext cx="1714500" cy="304685"/>
          </a:xfrm>
          <a:prstGeom prst="rect">
            <a:avLst/>
          </a:prstGeom>
        </p:spPr>
      </p:pic>
      <p:pic>
        <p:nvPicPr>
          <p:cNvPr id="32" name="Image 32"/>
          <p:cNvPicPr>
            <a:picLocks noChangeAspect="1"/>
          </p:cNvPicPr>
          <p:nvPr/>
        </p:nvPicPr>
        <p:blipFill>
          <a:blip r:embed="rId5"/>
          <a:stretch>
            <a:fillRect/>
          </a:stretch>
        </p:blipFill>
        <p:spPr>
          <a:xfrm>
            <a:off x="15240000" y="8108726"/>
            <a:ext cx="1714500" cy="413197"/>
          </a:xfrm>
          <a:prstGeom prst="rect">
            <a:avLst/>
          </a:prstGeom>
        </p:spPr>
      </p:pic>
      <p:sp>
        <p:nvSpPr>
          <p:cNvPr id="33" name="Line 33"/>
          <p:cNvSpPr/>
          <p:nvPr/>
        </p:nvSpPr>
        <p:spPr>
          <a:xfrm>
            <a:off x="1047750" y="9639300"/>
            <a:ext cx="16192500" cy="9525"/>
          </a:xfrm>
          <a:custGeom>
            <a:avLst/>
            <a:gdLst/>
            <a:ahLst/>
            <a:cxnLst/>
            <a:rect l="l" t="t" r="r" b="b"/>
            <a:pathLst>
              <a:path w="16192500" h="9525">
                <a:moveTo>
                  <a:pt x="0" y="0"/>
                </a:moveTo>
                <a:lnTo>
                  <a:pt x="16192500" y="0"/>
                </a:lnTo>
              </a:path>
            </a:pathLst>
          </a:custGeom>
          <a:noFill/>
          <a:ln w="14288">
            <a:solidFill>
              <a:schemeClr val="accent4"/>
            </a:solidFill>
          </a:ln>
        </p:spPr>
        <p:txBody>
          <a:bodyPr/>
          <a:p/>
        </p:txBody>
      </p:sp>
      <p:sp>
        <p:nvSpPr>
          <p:cNvPr id="34" name="TextBox 34"/>
          <p:cNvSpPr txBox="1"/>
          <p:nvPr/>
        </p:nvSpPr>
        <p:spPr>
          <a:xfrm>
            <a:off x="1039368" y="9823132"/>
            <a:ext cx="8171916" cy="322707"/>
          </a:xfrm>
          <a:prstGeom prst="rect">
            <a:avLst/>
          </a:prstGeom>
          <a:noFill/>
          <a:ln>
            <a:noFill/>
          </a:ln>
        </p:spPr>
        <p:txBody>
          <a:bodyPr wrap="none" lIns="0" tIns="0" rIns="0" bIns="0" anchor="t" anchorCtr="0">
            <a:spAutoFit/>
          </a:bodyPr>
          <a:lstStyle/>
          <a:p>
            <a:pPr algn="l"/>
            <a:r>
              <a:rPr lang="en-US" sz="1650" dirty="0">
                <a:solidFill>
                  <a:schemeClr val="dk2"/>
                </a:solidFill>
                <a:latin typeface="+mn-lt"/>
                <a:ea typeface="+mn-ea"/>
                <a:cs typeface="+mn-cs"/>
              </a:rPr>
              <a:t>A View From Somewhere — Human-Centric Face Representations (ICLR 2023)</a:t>
            </a:r>
          </a:p>
        </p:txBody>
      </p:sp>
      <p:sp>
        <p:nvSpPr>
          <p:cNvPr id="35" name="TextBox 35"/>
          <p:cNvSpPr txBox="1"/>
          <p:nvPr/>
        </p:nvSpPr>
        <p:spPr>
          <a:xfrm>
            <a:off x="16487756" y="9823132"/>
            <a:ext cx="760876" cy="322707"/>
          </a:xfrm>
          <a:prstGeom prst="rect">
            <a:avLst/>
          </a:prstGeom>
          <a:noFill/>
          <a:ln>
            <a:noFill/>
          </a:ln>
        </p:spPr>
        <p:txBody>
          <a:bodyPr wrap="none" lIns="0" tIns="0" rIns="0" bIns="0" anchor="t" anchorCtr="0">
            <a:spAutoFit/>
          </a:bodyPr>
          <a:lstStyle/>
          <a:p>
            <a:pPr algn="r"/>
            <a:r>
              <a:rPr lang="en-US" sz="1650" dirty="0">
                <a:solidFill>
                  <a:schemeClr val="dk2"/>
                </a:solidFill>
                <a:latin typeface="Consolas"/>
                <a:ea typeface="Consolas"/>
                <a:cs typeface="Consolas"/>
              </a:rPr>
              <a:t>01 / 10</a:t>
            </a:r>
          </a:p>
        </p:txBody>
      </p:sp>
      <p:sp>
        <p:nvSpPr>
          <p:cNvPr id="36" name="cue_s01_c1_view_somewhere_published_iclr_2023" title="cue_s01_c1_view_somewhere_published_iclr_2023" descr="cue_s01_c1_view_somewhere_published_iclr_2023 This paper, A View From Somewhere, published at ICLR 2023 by researchers at Sony AI and the University of Tokyo, rethinks how we represent human faces in datasets."/>
          <p:cNvSpPr/>
          <p:nvPr/>
        </p:nvSpPr>
        <p:spPr>
          <a:xfrm>
            <a:off x="1047902" y="1428864"/>
            <a:ext cx="11239804"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1_c2_instead_relying_problematic_demograp" title="cue_s01_c2_instead_relying_problematic_demograp" descr="cue_s01_c2_instead_relying_problematic_demograp Instead of relying on problematic demographic labels like race or gender, the authors collect over six hundred thousand human judgments of face similarity and learn a continuous embedding space aligned with human perception."/>
          <p:cNvSpPr/>
          <p:nvPr/>
        </p:nvSpPr>
        <p:spPr>
          <a:xfrm>
            <a:off x="1047902" y="5715457"/>
            <a:ext cx="8191195" cy="147515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1_c3_result_face_representation_interpret" title="cue_s01_c3_result_face_representation_interpret" descr="cue_s01_c3_result_face_representation_interpret The result is a face representation that is interpretable, that avoids invasive categorical labels, and that captures the smooth, continuous nature of human phenotypic diversity, opening a new path for measuring dataset diversity more responsibly."/>
          <p:cNvSpPr/>
          <p:nvPr/>
        </p:nvSpPr>
        <p:spPr>
          <a:xfrm>
            <a:off x="1047902" y="7429271"/>
            <a:ext cx="8191195" cy="147515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1047750" y="800100"/>
            <a:ext cx="514350" cy="76200"/>
          </a:xfrm>
          <a:prstGeom prst="roundRect">
            <a:avLst>
              <a:gd name="adj" fmla="val 50000"/>
            </a:avLst>
          </a:prstGeom>
          <a:solidFill>
            <a:schemeClr val="accent3"/>
          </a:solidFill>
          <a:ln>
            <a:noFill/>
          </a:ln>
        </p:spPr>
        <p:txBody>
          <a:bodyPr/>
          <a:p/>
        </p:txBody>
      </p:sp>
      <p:sp>
        <p:nvSpPr>
          <p:cNvPr id="3" name="TextBox 3"/>
          <p:cNvSpPr txBox="1"/>
          <p:nvPr/>
        </p:nvSpPr>
        <p:spPr>
          <a:xfrm>
            <a:off x="1704594" y="741998"/>
            <a:ext cx="1449591" cy="381381"/>
          </a:xfrm>
          <a:prstGeom prst="rect">
            <a:avLst/>
          </a:prstGeom>
          <a:noFill/>
          <a:ln>
            <a:noFill/>
          </a:ln>
        </p:spPr>
        <p:txBody>
          <a:bodyPr wrap="none" lIns="0" tIns="0" rIns="0" bIns="0" anchor="t" anchorCtr="0">
            <a:spAutoFit/>
          </a:bodyPr>
          <a:lstStyle/>
          <a:p>
            <a:pPr algn="l"/>
            <a:r>
              <a:rPr lang="en-US" sz="1950" b="1" spc="225" dirty="0">
                <a:solidFill>
                  <a:schemeClr val="accent3"/>
                </a:solidFill>
                <a:latin typeface="+mn-lt"/>
                <a:ea typeface="+mn-ea"/>
                <a:cs typeface="+mn-cs"/>
              </a:rPr>
              <a:t>PROBLEM</a:t>
            </a:r>
          </a:p>
        </p:txBody>
      </p:sp>
      <p:sp>
        <p:nvSpPr>
          <p:cNvPr id="4" name="TextBox 4"/>
          <p:cNvSpPr txBox="1"/>
          <p:nvPr/>
        </p:nvSpPr>
        <p:spPr>
          <a:xfrm>
            <a:off x="1028700" y="1174432"/>
            <a:ext cx="11923029" cy="904875"/>
          </a:xfrm>
          <a:prstGeom prst="rect">
            <a:avLst/>
          </a:prstGeom>
          <a:noFill/>
          <a:ln>
            <a:noFill/>
          </a:ln>
        </p:spPr>
        <p:txBody>
          <a:bodyPr wrap="none" lIns="0" tIns="0" rIns="0" bIns="0" anchor="t" anchorCtr="0">
            <a:spAutoFit/>
          </a:bodyPr>
          <a:lstStyle/>
          <a:p>
            <a:pPr algn="l"/>
            <a:r>
              <a:rPr lang="en-US" sz="4650" b="1" dirty="0">
                <a:solidFill>
                  <a:schemeClr val="dk1"/>
                </a:solidFill>
                <a:latin typeface="+mn-lt"/>
                <a:ea typeface="+mn-ea"/>
                <a:cs typeface="+mn-cs"/>
              </a:rPr>
              <a:t>Categorical labels are the wrong tool</a:t>
            </a:r>
          </a:p>
        </p:txBody>
      </p:sp>
      <p:sp>
        <p:nvSpPr>
          <p:cNvPr id="5" name="Line 5"/>
          <p:cNvSpPr/>
          <p:nvPr/>
        </p:nvSpPr>
        <p:spPr>
          <a:xfrm>
            <a:off x="1047750" y="2000250"/>
            <a:ext cx="16192500" cy="9525"/>
          </a:xfrm>
          <a:custGeom>
            <a:avLst/>
            <a:gdLst/>
            <a:ahLst/>
            <a:cxnLst/>
            <a:rect l="l" t="t" r="r" b="b"/>
            <a:pathLst>
              <a:path w="16192500" h="9525">
                <a:moveTo>
                  <a:pt x="0" y="0"/>
                </a:moveTo>
                <a:lnTo>
                  <a:pt x="16192500" y="0"/>
                </a:lnTo>
              </a:path>
            </a:pathLst>
          </a:custGeom>
          <a:noFill/>
          <a:ln w="19050">
            <a:solidFill>
              <a:schemeClr val="accent4"/>
            </a:solidFill>
          </a:ln>
        </p:spPr>
        <p:txBody>
          <a:bodyPr/>
          <a:p/>
        </p:txBody>
      </p:sp>
      <p:grpSp>
        <p:nvGrpSpPr>
          <p:cNvPr id="12" name="Group 12"/>
          <p:cNvGrpSpPr/>
          <p:nvPr/>
        </p:nvGrpSpPr>
        <p:grpSpPr>
          <a:xfrm>
            <a:off x="1047750" y="2857500"/>
            <a:ext cx="7886700" cy="3048000"/>
            <a:chOff x="1047750" y="2857500"/>
            <a:chExt cx="7886700" cy="3048000"/>
          </a:xfrm>
        </p:grpSpPr>
        <p:sp>
          <p:nvSpPr>
            <p:cNvPr id="6" name="Rectangle 6"/>
            <p:cNvSpPr/>
            <p:nvPr/>
          </p:nvSpPr>
          <p:spPr>
            <a:xfrm>
              <a:off x="1047750" y="2857500"/>
              <a:ext cx="7886700" cy="3048000"/>
            </a:xfrm>
            <a:prstGeom prst="roundRect">
              <a:avLst>
                <a:gd name="adj" fmla="val 5625"/>
              </a:avLst>
            </a:prstGeom>
            <a:solidFill>
              <a:srgbClr val="FFFFFF"/>
            </a:solidFill>
            <a:ln w="19050">
              <a:solidFill>
                <a:schemeClr val="accent4"/>
              </a:solidFill>
            </a:ln>
          </p:spPr>
        </p:sp>
        <p:sp>
          <p:nvSpPr>
            <p:cNvPr id="7" name="Rectangle 7"/>
            <p:cNvSpPr/>
            <p:nvPr/>
          </p:nvSpPr>
          <p:spPr>
            <a:xfrm>
              <a:off x="1047750" y="2857500"/>
              <a:ext cx="76200" cy="3048000"/>
            </a:xfrm>
            <a:prstGeom prst="roundRect">
              <a:avLst>
                <a:gd name="adj" fmla="val 50000"/>
              </a:avLst>
            </a:prstGeom>
            <a:solidFill>
              <a:schemeClr val="accent3"/>
            </a:solidFill>
            <a:ln>
              <a:noFill/>
            </a:ln>
          </p:spPr>
        </p:sp>
        <p:sp>
          <p:nvSpPr>
            <p:cNvPr id="8" name="TextBox 8"/>
            <p:cNvSpPr txBox="1"/>
            <p:nvPr/>
          </p:nvSpPr>
          <p:spPr>
            <a:xfrm>
              <a:off x="1455420" y="3319462"/>
              <a:ext cx="372704"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Consolas"/>
                  <a:ea typeface="Consolas"/>
                  <a:cs typeface="Consolas"/>
                </a:rPr>
                <a:t>01</a:t>
              </a:r>
            </a:p>
          </p:txBody>
        </p:sp>
        <p:sp>
          <p:nvSpPr>
            <p:cNvPr id="9" name="TextBox 9"/>
            <p:cNvSpPr txBox="1"/>
            <p:nvPr/>
          </p:nvSpPr>
          <p:spPr>
            <a:xfrm>
              <a:off x="2082546" y="3287078"/>
              <a:ext cx="5335986"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Diversity = demographic labels</a:t>
              </a:r>
            </a:p>
          </p:txBody>
        </p:sp>
        <p:sp>
          <p:nvSpPr>
            <p:cNvPr id="10" name="TextBox 10"/>
            <p:cNvSpPr txBox="1"/>
            <p:nvPr/>
          </p:nvSpPr>
          <p:spPr>
            <a:xfrm>
              <a:off x="1456182" y="3964305"/>
              <a:ext cx="6871945" cy="410718"/>
            </a:xfrm>
            <a:prstGeom prst="rect">
              <a:avLst/>
            </a:prstGeom>
            <a:noFill/>
            <a:ln>
              <a:noFill/>
            </a:ln>
          </p:spPr>
          <p:txBody>
            <a:bodyPr wrap="none" lIns="0" tIns="0" rIns="0" bIns="0" anchor="t" anchorCtr="0">
              <a:spAutoFit/>
            </a:bodyPr>
            <a:lstStyle/>
            <a:p>
              <a:pPr algn="l"/>
              <a:r>
                <a:rPr lang="en-US" sz="2100" dirty="0">
                  <a:solidFill>
                    <a:schemeClr val="dk2"/>
                  </a:solidFill>
                  <a:latin typeface="+mn-lt"/>
                  <a:ea typeface="+mn-ea"/>
                  <a:cs typeface="+mn-cs"/>
                </a:rPr>
                <a:t>Dataset diversity is almost always measured with</a:t>
              </a:r>
            </a:p>
          </p:txBody>
        </p:sp>
        <p:sp>
          <p:nvSpPr>
            <p:cNvPr id="11" name="TextBox 11"/>
            <p:cNvSpPr txBox="1"/>
            <p:nvPr/>
          </p:nvSpPr>
          <p:spPr>
            <a:xfrm>
              <a:off x="1456182" y="4351020"/>
              <a:ext cx="5760187" cy="410718"/>
            </a:xfrm>
            <a:prstGeom prst="rect">
              <a:avLst/>
            </a:prstGeom>
            <a:noFill/>
            <a:ln>
              <a:noFill/>
            </a:ln>
          </p:spPr>
          <p:txBody>
            <a:bodyPr wrap="none" lIns="0" tIns="0" rIns="0" bIns="0" anchor="t" anchorCtr="0">
              <a:spAutoFit/>
            </a:bodyPr>
            <a:lstStyle/>
            <a:p>
              <a:pPr algn="l"/>
              <a:r>
                <a:rPr lang="en-US" sz="2100" dirty="0">
                  <a:solidFill>
                    <a:schemeClr val="dk2"/>
                  </a:solidFill>
                  <a:latin typeface="+mn-lt"/>
                  <a:ea typeface="+mn-ea"/>
                  <a:cs typeface="+mn-cs"/>
                </a:rPr>
                <a:t>categorical labels: race, gender, or age.</a:t>
              </a:r>
            </a:p>
          </p:txBody>
        </p:sp>
      </p:grpSp>
      <p:grpSp>
        <p:nvGrpSpPr>
          <p:cNvPr id="20" name="Group 20"/>
          <p:cNvGrpSpPr/>
          <p:nvPr/>
        </p:nvGrpSpPr>
        <p:grpSpPr>
          <a:xfrm>
            <a:off x="9353550" y="2857500"/>
            <a:ext cx="7886700" cy="3048000"/>
            <a:chOff x="9353550" y="2857500"/>
            <a:chExt cx="7886700" cy="3048000"/>
          </a:xfrm>
        </p:grpSpPr>
        <p:sp>
          <p:nvSpPr>
            <p:cNvPr id="13" name="Rectangle 13"/>
            <p:cNvSpPr/>
            <p:nvPr/>
          </p:nvSpPr>
          <p:spPr>
            <a:xfrm>
              <a:off x="9353550" y="2857500"/>
              <a:ext cx="7886700" cy="3048000"/>
            </a:xfrm>
            <a:prstGeom prst="roundRect">
              <a:avLst>
                <a:gd name="adj" fmla="val 5625"/>
              </a:avLst>
            </a:prstGeom>
            <a:solidFill>
              <a:srgbClr val="FFFFFF"/>
            </a:solidFill>
            <a:ln w="19050">
              <a:solidFill>
                <a:schemeClr val="accent4"/>
              </a:solidFill>
            </a:ln>
          </p:spPr>
        </p:sp>
        <p:sp>
          <p:nvSpPr>
            <p:cNvPr id="14" name="Rectangle 14"/>
            <p:cNvSpPr/>
            <p:nvPr/>
          </p:nvSpPr>
          <p:spPr>
            <a:xfrm>
              <a:off x="9353550" y="2857500"/>
              <a:ext cx="76200" cy="3048000"/>
            </a:xfrm>
            <a:prstGeom prst="roundRect">
              <a:avLst>
                <a:gd name="adj" fmla="val 50000"/>
              </a:avLst>
            </a:prstGeom>
            <a:solidFill>
              <a:schemeClr val="accent3"/>
            </a:solidFill>
            <a:ln>
              <a:noFill/>
            </a:ln>
          </p:spPr>
        </p:sp>
        <p:sp>
          <p:nvSpPr>
            <p:cNvPr id="15" name="TextBox 15"/>
            <p:cNvSpPr txBox="1"/>
            <p:nvPr/>
          </p:nvSpPr>
          <p:spPr>
            <a:xfrm>
              <a:off x="9761220" y="3319462"/>
              <a:ext cx="372704"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Consolas"/>
                  <a:ea typeface="Consolas"/>
                  <a:cs typeface="Consolas"/>
                </a:rPr>
                <a:t>02</a:t>
              </a:r>
            </a:p>
          </p:txBody>
        </p:sp>
        <p:sp>
          <p:nvSpPr>
            <p:cNvPr id="16" name="TextBox 16"/>
            <p:cNvSpPr txBox="1"/>
            <p:nvPr/>
          </p:nvSpPr>
          <p:spPr>
            <a:xfrm>
              <a:off x="10388346" y="3287078"/>
              <a:ext cx="4056245"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Unreliable &amp; restricted</a:t>
              </a:r>
            </a:p>
          </p:txBody>
        </p:sp>
        <p:sp>
          <p:nvSpPr>
            <p:cNvPr id="17" name="TextBox 17"/>
            <p:cNvSpPr txBox="1"/>
            <p:nvPr/>
          </p:nvSpPr>
          <p:spPr>
            <a:xfrm>
              <a:off x="9761982" y="3964305"/>
              <a:ext cx="6574707" cy="410718"/>
            </a:xfrm>
            <a:prstGeom prst="rect">
              <a:avLst/>
            </a:prstGeom>
            <a:noFill/>
            <a:ln>
              <a:noFill/>
            </a:ln>
          </p:spPr>
          <p:txBody>
            <a:bodyPr wrap="none" lIns="0" tIns="0" rIns="0" bIns="0" anchor="t" anchorCtr="0">
              <a:spAutoFit/>
            </a:bodyPr>
            <a:lstStyle/>
            <a:p>
              <a:pPr algn="l"/>
              <a:r>
                <a:rPr lang="en-US" sz="2100" dirty="0">
                  <a:solidFill>
                    <a:schemeClr val="dk2"/>
                  </a:solidFill>
                  <a:latin typeface="+mn-lt"/>
                  <a:ea typeface="+mn-ea"/>
                  <a:cs typeface="+mn-cs"/>
                </a:rPr>
                <a:t>Labels are often unavailable, legally restricted</a:t>
              </a:r>
            </a:p>
          </p:txBody>
        </p:sp>
        <p:sp>
          <p:nvSpPr>
            <p:cNvPr id="18" name="TextBox 18"/>
            <p:cNvSpPr txBox="1"/>
            <p:nvPr/>
          </p:nvSpPr>
          <p:spPr>
            <a:xfrm>
              <a:off x="9761982" y="4351020"/>
              <a:ext cx="5435079" cy="410718"/>
            </a:xfrm>
            <a:prstGeom prst="rect">
              <a:avLst/>
            </a:prstGeom>
            <a:noFill/>
            <a:ln>
              <a:noFill/>
            </a:ln>
          </p:spPr>
          <p:txBody>
            <a:bodyPr wrap="none" lIns="0" tIns="0" rIns="0" bIns="0" anchor="t" anchorCtr="0">
              <a:spAutoFit/>
            </a:bodyPr>
            <a:lstStyle/>
            <a:p>
              <a:pPr algn="l"/>
              <a:r>
                <a:rPr lang="en-US" sz="2100" dirty="0">
                  <a:solidFill>
                    <a:schemeClr val="dk2"/>
                  </a:solidFill>
                  <a:latin typeface="+mn-lt"/>
                  <a:ea typeface="+mn-ea"/>
                  <a:cs typeface="+mn-cs"/>
                </a:rPr>
                <a:t>to collect, and biased when inferred by</a:t>
              </a:r>
            </a:p>
          </p:txBody>
        </p:sp>
        <p:sp>
          <p:nvSpPr>
            <p:cNvPr id="19" name="TextBox 19"/>
            <p:cNvSpPr txBox="1"/>
            <p:nvPr/>
          </p:nvSpPr>
          <p:spPr>
            <a:xfrm>
              <a:off x="9761982" y="4737735"/>
              <a:ext cx="1731683" cy="410718"/>
            </a:xfrm>
            <a:prstGeom prst="rect">
              <a:avLst/>
            </a:prstGeom>
            <a:noFill/>
            <a:ln>
              <a:noFill/>
            </a:ln>
          </p:spPr>
          <p:txBody>
            <a:bodyPr wrap="none" lIns="0" tIns="0" rIns="0" bIns="0" anchor="t" anchorCtr="0">
              <a:spAutoFit/>
            </a:bodyPr>
            <a:lstStyle/>
            <a:p>
              <a:pPr algn="l"/>
              <a:r>
                <a:rPr lang="en-US" sz="2100" dirty="0">
                  <a:solidFill>
                    <a:schemeClr val="dk2"/>
                  </a:solidFill>
                  <a:latin typeface="+mn-lt"/>
                  <a:ea typeface="+mn-ea"/>
                  <a:cs typeface="+mn-cs"/>
                </a:rPr>
                <a:t>annotators.</a:t>
              </a:r>
            </a:p>
          </p:txBody>
        </p:sp>
      </p:grpSp>
      <p:grpSp>
        <p:nvGrpSpPr>
          <p:cNvPr id="28" name="Group 28"/>
          <p:cNvGrpSpPr/>
          <p:nvPr/>
        </p:nvGrpSpPr>
        <p:grpSpPr>
          <a:xfrm>
            <a:off x="1047750" y="6324600"/>
            <a:ext cx="7886700" cy="3048000"/>
            <a:chOff x="1047750" y="6324600"/>
            <a:chExt cx="7886700" cy="3048000"/>
          </a:xfrm>
        </p:grpSpPr>
        <p:sp>
          <p:nvSpPr>
            <p:cNvPr id="21" name="Rectangle 21"/>
            <p:cNvSpPr/>
            <p:nvPr/>
          </p:nvSpPr>
          <p:spPr>
            <a:xfrm>
              <a:off x="1047750" y="6324600"/>
              <a:ext cx="7886700" cy="3048000"/>
            </a:xfrm>
            <a:prstGeom prst="roundRect">
              <a:avLst>
                <a:gd name="adj" fmla="val 5625"/>
              </a:avLst>
            </a:prstGeom>
            <a:solidFill>
              <a:srgbClr val="FFFFFF"/>
            </a:solidFill>
            <a:ln w="19050">
              <a:solidFill>
                <a:schemeClr val="accent4"/>
              </a:solidFill>
            </a:ln>
          </p:spPr>
        </p:sp>
        <p:sp>
          <p:nvSpPr>
            <p:cNvPr id="22" name="Rectangle 22"/>
            <p:cNvSpPr/>
            <p:nvPr/>
          </p:nvSpPr>
          <p:spPr>
            <a:xfrm>
              <a:off x="1047750" y="6324600"/>
              <a:ext cx="76200" cy="3048000"/>
            </a:xfrm>
            <a:prstGeom prst="roundRect">
              <a:avLst>
                <a:gd name="adj" fmla="val 50000"/>
              </a:avLst>
            </a:prstGeom>
            <a:solidFill>
              <a:schemeClr val="accent3"/>
            </a:solidFill>
            <a:ln>
              <a:noFill/>
            </a:ln>
          </p:spPr>
        </p:sp>
        <p:sp>
          <p:nvSpPr>
            <p:cNvPr id="23" name="TextBox 23"/>
            <p:cNvSpPr txBox="1"/>
            <p:nvPr/>
          </p:nvSpPr>
          <p:spPr>
            <a:xfrm>
              <a:off x="1455420" y="6786562"/>
              <a:ext cx="372704"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Consolas"/>
                  <a:ea typeface="Consolas"/>
                  <a:cs typeface="Consolas"/>
                </a:rPr>
                <a:t>03</a:t>
              </a:r>
            </a:p>
          </p:txBody>
        </p:sp>
        <p:sp>
          <p:nvSpPr>
            <p:cNvPr id="24" name="TextBox 24"/>
            <p:cNvSpPr txBox="1"/>
            <p:nvPr/>
          </p:nvSpPr>
          <p:spPr>
            <a:xfrm>
              <a:off x="2082546" y="6754178"/>
              <a:ext cx="4326766"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They flatten appearance</a:t>
              </a:r>
            </a:p>
          </p:txBody>
        </p:sp>
        <p:sp>
          <p:nvSpPr>
            <p:cNvPr id="25" name="TextBox 25"/>
            <p:cNvSpPr txBox="1"/>
            <p:nvPr/>
          </p:nvSpPr>
          <p:spPr>
            <a:xfrm>
              <a:off x="1456182" y="7431405"/>
              <a:ext cx="6293031" cy="410718"/>
            </a:xfrm>
            <a:prstGeom prst="rect">
              <a:avLst/>
            </a:prstGeom>
            <a:noFill/>
            <a:ln>
              <a:noFill/>
            </a:ln>
          </p:spPr>
          <p:txBody>
            <a:bodyPr wrap="none" lIns="0" tIns="0" rIns="0" bIns="0" anchor="t" anchorCtr="0">
              <a:spAutoFit/>
            </a:bodyPr>
            <a:lstStyle/>
            <a:p>
              <a:pPr algn="l"/>
              <a:r>
                <a:rPr lang="en-US" sz="2100" dirty="0">
                  <a:solidFill>
                    <a:schemeClr val="dk2"/>
                  </a:solidFill>
                  <a:latin typeface="+mn-lt"/>
                  <a:ea typeface="+mn-ea"/>
                  <a:cs typeface="+mn-cs"/>
                </a:rPr>
                <a:t>Skin tone becomes only light or dark, yet two</a:t>
              </a:r>
            </a:p>
          </p:txBody>
        </p:sp>
        <p:sp>
          <p:nvSpPr>
            <p:cNvPr id="26" name="TextBox 26"/>
            <p:cNvSpPr txBox="1"/>
            <p:nvPr/>
          </p:nvSpPr>
          <p:spPr>
            <a:xfrm>
              <a:off x="1456182" y="7818120"/>
              <a:ext cx="5420944" cy="410718"/>
            </a:xfrm>
            <a:prstGeom prst="rect">
              <a:avLst/>
            </a:prstGeom>
            <a:noFill/>
            <a:ln>
              <a:noFill/>
            </a:ln>
          </p:spPr>
          <p:txBody>
            <a:bodyPr wrap="none" lIns="0" tIns="0" rIns="0" bIns="0" anchor="t" anchorCtr="0">
              <a:spAutoFit/>
            </a:bodyPr>
            <a:lstStyle/>
            <a:p>
              <a:pPr algn="l"/>
              <a:r>
                <a:rPr lang="en-US" sz="2100" dirty="0">
                  <a:solidFill>
                    <a:schemeClr val="dk2"/>
                  </a:solidFill>
                  <a:latin typeface="+mn-lt"/>
                  <a:ea typeface="+mn-ea"/>
                  <a:cs typeface="+mn-cs"/>
                </a:rPr>
                <a:t>faces with the same label can look very</a:t>
              </a:r>
            </a:p>
          </p:txBody>
        </p:sp>
        <p:sp>
          <p:nvSpPr>
            <p:cNvPr id="27" name="TextBox 27"/>
            <p:cNvSpPr txBox="1"/>
            <p:nvPr/>
          </p:nvSpPr>
          <p:spPr>
            <a:xfrm>
              <a:off x="1456182" y="8204835"/>
              <a:ext cx="1505522" cy="410718"/>
            </a:xfrm>
            <a:prstGeom prst="rect">
              <a:avLst/>
            </a:prstGeom>
            <a:noFill/>
            <a:ln>
              <a:noFill/>
            </a:ln>
          </p:spPr>
          <p:txBody>
            <a:bodyPr wrap="none" lIns="0" tIns="0" rIns="0" bIns="0" anchor="t" anchorCtr="0">
              <a:spAutoFit/>
            </a:bodyPr>
            <a:lstStyle/>
            <a:p>
              <a:pPr algn="l"/>
              <a:r>
                <a:rPr lang="en-US" sz="2100" dirty="0">
                  <a:solidFill>
                    <a:schemeClr val="dk2"/>
                  </a:solidFill>
                  <a:latin typeface="+mn-lt"/>
                  <a:ea typeface="+mn-ea"/>
                  <a:cs typeface="+mn-cs"/>
                </a:rPr>
                <a:t>different.</a:t>
              </a:r>
            </a:p>
          </p:txBody>
        </p:sp>
      </p:grpSp>
      <p:grpSp>
        <p:nvGrpSpPr>
          <p:cNvPr id="36" name="Group 36"/>
          <p:cNvGrpSpPr/>
          <p:nvPr/>
        </p:nvGrpSpPr>
        <p:grpSpPr>
          <a:xfrm>
            <a:off x="9353550" y="6324600"/>
            <a:ext cx="7886700" cy="3048000"/>
            <a:chOff x="9353550" y="6324600"/>
            <a:chExt cx="7886700" cy="3048000"/>
          </a:xfrm>
        </p:grpSpPr>
        <p:sp>
          <p:nvSpPr>
            <p:cNvPr id="29" name="Rectangle 29"/>
            <p:cNvSpPr/>
            <p:nvPr/>
          </p:nvSpPr>
          <p:spPr>
            <a:xfrm>
              <a:off x="9353550" y="6324600"/>
              <a:ext cx="7886700" cy="3048000"/>
            </a:xfrm>
            <a:prstGeom prst="roundRect">
              <a:avLst>
                <a:gd name="adj" fmla="val 5625"/>
              </a:avLst>
            </a:prstGeom>
            <a:solidFill>
              <a:srgbClr val="FFFFFF"/>
            </a:solidFill>
            <a:ln w="19050">
              <a:solidFill>
                <a:schemeClr val="accent4"/>
              </a:solidFill>
            </a:ln>
          </p:spPr>
        </p:sp>
        <p:sp>
          <p:nvSpPr>
            <p:cNvPr id="30" name="Rectangle 30"/>
            <p:cNvSpPr/>
            <p:nvPr/>
          </p:nvSpPr>
          <p:spPr>
            <a:xfrm>
              <a:off x="9353550" y="6324600"/>
              <a:ext cx="76200" cy="3048000"/>
            </a:xfrm>
            <a:prstGeom prst="roundRect">
              <a:avLst>
                <a:gd name="adj" fmla="val 50000"/>
              </a:avLst>
            </a:prstGeom>
            <a:solidFill>
              <a:schemeClr val="accent3"/>
            </a:solidFill>
            <a:ln>
              <a:noFill/>
            </a:ln>
          </p:spPr>
        </p:sp>
        <p:sp>
          <p:nvSpPr>
            <p:cNvPr id="31" name="TextBox 31"/>
            <p:cNvSpPr txBox="1"/>
            <p:nvPr/>
          </p:nvSpPr>
          <p:spPr>
            <a:xfrm>
              <a:off x="9761220" y="6786562"/>
              <a:ext cx="372704"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Consolas"/>
                  <a:ea typeface="Consolas"/>
                  <a:cs typeface="Consolas"/>
                </a:rPr>
                <a:t>04</a:t>
              </a:r>
            </a:p>
          </p:txBody>
        </p:sp>
        <p:sp>
          <p:nvSpPr>
            <p:cNvPr id="32" name="TextBox 32"/>
            <p:cNvSpPr txBox="1"/>
            <p:nvPr/>
          </p:nvSpPr>
          <p:spPr>
            <a:xfrm>
              <a:off x="10388346" y="6754178"/>
              <a:ext cx="4993716"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Rigid taxonomies cause harm</a:t>
              </a:r>
            </a:p>
          </p:txBody>
        </p:sp>
        <p:sp>
          <p:nvSpPr>
            <p:cNvPr id="33" name="TextBox 33"/>
            <p:cNvSpPr txBox="1"/>
            <p:nvPr/>
          </p:nvSpPr>
          <p:spPr>
            <a:xfrm>
              <a:off x="9761982" y="7431405"/>
              <a:ext cx="6363294" cy="410718"/>
            </a:xfrm>
            <a:prstGeom prst="rect">
              <a:avLst/>
            </a:prstGeom>
            <a:noFill/>
            <a:ln>
              <a:noFill/>
            </a:ln>
          </p:spPr>
          <p:txBody>
            <a:bodyPr wrap="none" lIns="0" tIns="0" rIns="0" bIns="0" anchor="t" anchorCtr="0">
              <a:spAutoFit/>
            </a:bodyPr>
            <a:lstStyle/>
            <a:p>
              <a:pPr algn="l"/>
              <a:r>
                <a:rPr lang="en-US" sz="2100" dirty="0">
                  <a:solidFill>
                    <a:schemeClr val="dk2"/>
                  </a:solidFill>
                  <a:latin typeface="+mn-lt"/>
                  <a:ea typeface="+mn-ea"/>
                  <a:cs typeface="+mn-cs"/>
                </a:rPr>
                <a:t>They erase multi-ethnic people, shift meaning</a:t>
              </a:r>
            </a:p>
          </p:txBody>
        </p:sp>
        <p:sp>
          <p:nvSpPr>
            <p:cNvPr id="34" name="TextBox 34"/>
            <p:cNvSpPr txBox="1"/>
            <p:nvPr/>
          </p:nvSpPr>
          <p:spPr>
            <a:xfrm>
              <a:off x="9761982" y="7818120"/>
              <a:ext cx="5703646" cy="410718"/>
            </a:xfrm>
            <a:prstGeom prst="rect">
              <a:avLst/>
            </a:prstGeom>
            <a:noFill/>
            <a:ln>
              <a:noFill/>
            </a:ln>
          </p:spPr>
          <p:txBody>
            <a:bodyPr wrap="none" lIns="0" tIns="0" rIns="0" bIns="0" anchor="t" anchorCtr="0">
              <a:spAutoFit/>
            </a:bodyPr>
            <a:lstStyle/>
            <a:p>
              <a:pPr algn="l"/>
              <a:r>
                <a:rPr lang="en-US" sz="2100" dirty="0">
                  <a:solidFill>
                    <a:schemeClr val="dk2"/>
                  </a:solidFill>
                  <a:latin typeface="+mn-lt"/>
                  <a:ea typeface="+mn-ea"/>
                  <a:cs typeface="+mn-cs"/>
                </a:rPr>
                <a:t>across cultures, and harm those who are</a:t>
              </a:r>
            </a:p>
          </p:txBody>
        </p:sp>
        <p:sp>
          <p:nvSpPr>
            <p:cNvPr id="35" name="TextBox 35"/>
            <p:cNvSpPr txBox="1"/>
            <p:nvPr/>
          </p:nvSpPr>
          <p:spPr>
            <a:xfrm>
              <a:off x="9761982" y="8204835"/>
              <a:ext cx="1576197" cy="410718"/>
            </a:xfrm>
            <a:prstGeom prst="rect">
              <a:avLst/>
            </a:prstGeom>
            <a:noFill/>
            <a:ln>
              <a:noFill/>
            </a:ln>
          </p:spPr>
          <p:txBody>
            <a:bodyPr wrap="none" lIns="0" tIns="0" rIns="0" bIns="0" anchor="t" anchorCtr="0">
              <a:spAutoFit/>
            </a:bodyPr>
            <a:lstStyle/>
            <a:p>
              <a:pPr algn="l"/>
              <a:r>
                <a:rPr lang="en-US" sz="2100" dirty="0">
                  <a:solidFill>
                    <a:schemeClr val="dk2"/>
                  </a:solidFill>
                  <a:latin typeface="+mn-lt"/>
                  <a:ea typeface="+mn-ea"/>
                  <a:cs typeface="+mn-cs"/>
                </a:rPr>
                <a:t>mislabeled.</a:t>
              </a:r>
            </a:p>
          </p:txBody>
        </p:sp>
      </p:grpSp>
      <p:sp>
        <p:nvSpPr>
          <p:cNvPr id="37" name="Line 37"/>
          <p:cNvSpPr/>
          <p:nvPr/>
        </p:nvSpPr>
        <p:spPr>
          <a:xfrm>
            <a:off x="1047750" y="9639300"/>
            <a:ext cx="16192500" cy="9525"/>
          </a:xfrm>
          <a:custGeom>
            <a:avLst/>
            <a:gdLst/>
            <a:ahLst/>
            <a:cxnLst/>
            <a:rect l="l" t="t" r="r" b="b"/>
            <a:pathLst>
              <a:path w="16192500" h="9525">
                <a:moveTo>
                  <a:pt x="0" y="0"/>
                </a:moveTo>
                <a:lnTo>
                  <a:pt x="16192500" y="0"/>
                </a:lnTo>
              </a:path>
            </a:pathLst>
          </a:custGeom>
          <a:noFill/>
          <a:ln w="14288">
            <a:solidFill>
              <a:schemeClr val="accent4"/>
            </a:solidFill>
          </a:ln>
        </p:spPr>
        <p:txBody>
          <a:bodyPr/>
          <a:p/>
        </p:txBody>
      </p:sp>
      <p:sp>
        <p:nvSpPr>
          <p:cNvPr id="38" name="TextBox 38"/>
          <p:cNvSpPr txBox="1"/>
          <p:nvPr/>
        </p:nvSpPr>
        <p:spPr>
          <a:xfrm>
            <a:off x="1039368" y="9823132"/>
            <a:ext cx="8171916" cy="322707"/>
          </a:xfrm>
          <a:prstGeom prst="rect">
            <a:avLst/>
          </a:prstGeom>
          <a:noFill/>
          <a:ln>
            <a:noFill/>
          </a:ln>
        </p:spPr>
        <p:txBody>
          <a:bodyPr wrap="none" lIns="0" tIns="0" rIns="0" bIns="0" anchor="t" anchorCtr="0">
            <a:spAutoFit/>
          </a:bodyPr>
          <a:lstStyle/>
          <a:p>
            <a:pPr algn="l"/>
            <a:r>
              <a:rPr lang="en-US" sz="1650" dirty="0">
                <a:solidFill>
                  <a:schemeClr val="dk2"/>
                </a:solidFill>
                <a:latin typeface="+mn-lt"/>
                <a:ea typeface="+mn-ea"/>
                <a:cs typeface="+mn-cs"/>
              </a:rPr>
              <a:t>A View From Somewhere — Human-Centric Face Representations (ICLR 2023)</a:t>
            </a:r>
          </a:p>
        </p:txBody>
      </p:sp>
      <p:sp>
        <p:nvSpPr>
          <p:cNvPr id="39" name="TextBox 39"/>
          <p:cNvSpPr txBox="1"/>
          <p:nvPr/>
        </p:nvSpPr>
        <p:spPr>
          <a:xfrm>
            <a:off x="16487756" y="9823132"/>
            <a:ext cx="760876" cy="322707"/>
          </a:xfrm>
          <a:prstGeom prst="rect">
            <a:avLst/>
          </a:prstGeom>
          <a:noFill/>
          <a:ln>
            <a:noFill/>
          </a:ln>
        </p:spPr>
        <p:txBody>
          <a:bodyPr wrap="none" lIns="0" tIns="0" rIns="0" bIns="0" anchor="t" anchorCtr="0">
            <a:spAutoFit/>
          </a:bodyPr>
          <a:lstStyle/>
          <a:p>
            <a:pPr algn="r"/>
            <a:r>
              <a:rPr lang="en-US" sz="1650" dirty="0">
                <a:solidFill>
                  <a:schemeClr val="dk2"/>
                </a:solidFill>
                <a:latin typeface="Consolas"/>
                <a:ea typeface="Consolas"/>
                <a:cs typeface="Consolas"/>
              </a:rPr>
              <a:t>02 / 10</a:t>
            </a:r>
          </a:p>
        </p:txBody>
      </p:sp>
      <p:sp>
        <p:nvSpPr>
          <p:cNvPr id="40" name="cue_s02_c1_evaluating_diversity_face_datasets_a" title="cue_s02_c1_evaluating_diversity_face_datasets_a" descr="cue_s02_c1_evaluating_diversity_face_datasets_a Evaluating the diversity of face datasets almost always relies on categorical demographic labels such as race, gender, or age."/>
          <p:cNvSpPr/>
          <p:nvPr/>
        </p:nvSpPr>
        <p:spPr>
          <a:xfrm>
            <a:off x="1047902" y="2857728"/>
            <a:ext cx="7887614" cy="304803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2_c2_but_these_labels_frequently_unavaila" title="cue_s02_c2_but_these_labels_frequently_unavaila" descr="cue_s02_c2_but_these_labels_frequently_unavaila But these labels are frequently unavailable, legally restricted to collect, and prone to bias when they are inferred by annotators rather than self-reported."/>
          <p:cNvSpPr/>
          <p:nvPr/>
        </p:nvSpPr>
        <p:spPr>
          <a:xfrm>
            <a:off x="9354312" y="2857728"/>
            <a:ext cx="7887614" cy="304803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2_c3_worse_categorical_labels_flatten_con" title="cue_s02_c3_worse_categorical_labels_flatten_con" descr="cue_s02_c3_worse_categorical_labels_flatten_con Worse, categorical labels flatten the continuous nature of human appearance: skin tone becomes simply light or dark, and two faces sharing the same label can still look strikingly different."/>
          <p:cNvSpPr/>
          <p:nvPr/>
        </p:nvSpPr>
        <p:spPr>
          <a:xfrm>
            <a:off x="1047902" y="6324447"/>
            <a:ext cx="7887614" cy="304803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2_c4_rigid_taxonomies_also_erase_multi_et" title="cue_s02_c4_rigid_taxonomies_also_erase_multi_et" descr="cue_s02_c4_rigid_taxonomies_also_erase_multi_et Rigid taxonomies also erase multi-ethnic people, shift meaning across cultures, and can cause real psychological harm when someone is mislabeled."/>
          <p:cNvSpPr/>
          <p:nvPr/>
        </p:nvSpPr>
        <p:spPr>
          <a:xfrm>
            <a:off x="9354312" y="6324447"/>
            <a:ext cx="7887614" cy="304803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1047750" y="800100"/>
            <a:ext cx="514350" cy="76200"/>
          </a:xfrm>
          <a:prstGeom prst="roundRect">
            <a:avLst>
              <a:gd name="adj" fmla="val 50000"/>
            </a:avLst>
          </a:prstGeom>
          <a:solidFill>
            <a:schemeClr val="accent1"/>
          </a:solidFill>
          <a:ln>
            <a:noFill/>
          </a:ln>
        </p:spPr>
        <p:txBody>
          <a:bodyPr/>
          <a:p/>
        </p:txBody>
      </p:sp>
      <p:sp>
        <p:nvSpPr>
          <p:cNvPr id="3" name="TextBox 3"/>
          <p:cNvSpPr txBox="1"/>
          <p:nvPr/>
        </p:nvSpPr>
        <p:spPr>
          <a:xfrm>
            <a:off x="1704594" y="741998"/>
            <a:ext cx="1938772" cy="381381"/>
          </a:xfrm>
          <a:prstGeom prst="rect">
            <a:avLst/>
          </a:prstGeom>
          <a:noFill/>
          <a:ln>
            <a:noFill/>
          </a:ln>
        </p:spPr>
        <p:txBody>
          <a:bodyPr wrap="none" lIns="0" tIns="0" rIns="0" bIns="0" anchor="t" anchorCtr="0">
            <a:spAutoFit/>
          </a:bodyPr>
          <a:lstStyle/>
          <a:p>
            <a:pPr algn="l"/>
            <a:r>
              <a:rPr lang="en-US" sz="1950" b="1" spc="225" dirty="0">
                <a:solidFill>
                  <a:schemeClr val="accent1"/>
                </a:solidFill>
                <a:latin typeface="+mn-lt"/>
                <a:ea typeface="+mn-ea"/>
                <a:cs typeface="+mn-cs"/>
              </a:rPr>
              <a:t>MOTIVATION</a:t>
            </a:r>
          </a:p>
        </p:txBody>
      </p:sp>
      <p:sp>
        <p:nvSpPr>
          <p:cNvPr id="4" name="TextBox 4"/>
          <p:cNvSpPr txBox="1"/>
          <p:nvPr/>
        </p:nvSpPr>
        <p:spPr>
          <a:xfrm>
            <a:off x="1028700" y="1174432"/>
            <a:ext cx="12119915" cy="904875"/>
          </a:xfrm>
          <a:prstGeom prst="rect">
            <a:avLst/>
          </a:prstGeom>
          <a:noFill/>
          <a:ln>
            <a:noFill/>
          </a:ln>
        </p:spPr>
        <p:txBody>
          <a:bodyPr wrap="none" lIns="0" tIns="0" rIns="0" bIns="0" anchor="t" anchorCtr="0">
            <a:spAutoFit/>
          </a:bodyPr>
          <a:lstStyle/>
          <a:p>
            <a:pPr algn="l"/>
            <a:r>
              <a:rPr lang="en-US" sz="4650" b="1" dirty="0">
                <a:solidFill>
                  <a:schemeClr val="dk1"/>
                </a:solidFill>
                <a:latin typeface="+mn-lt"/>
                <a:ea typeface="+mn-ea"/>
                <a:cs typeface="+mn-cs"/>
              </a:rPr>
              <a:t>Similarity is continuous, and personal</a:t>
            </a:r>
          </a:p>
        </p:txBody>
      </p:sp>
      <p:sp>
        <p:nvSpPr>
          <p:cNvPr id="5" name="Line 5"/>
          <p:cNvSpPr/>
          <p:nvPr/>
        </p:nvSpPr>
        <p:spPr>
          <a:xfrm>
            <a:off x="1047750" y="2000250"/>
            <a:ext cx="16192500" cy="9525"/>
          </a:xfrm>
          <a:custGeom>
            <a:avLst/>
            <a:gdLst/>
            <a:ahLst/>
            <a:cxnLst/>
            <a:rect l="l" t="t" r="r" b="b"/>
            <a:pathLst>
              <a:path w="16192500" h="9525">
                <a:moveTo>
                  <a:pt x="0" y="0"/>
                </a:moveTo>
                <a:lnTo>
                  <a:pt x="16192500" y="0"/>
                </a:lnTo>
              </a:path>
            </a:pathLst>
          </a:custGeom>
          <a:noFill/>
          <a:ln w="19050">
            <a:solidFill>
              <a:schemeClr val="accent4"/>
            </a:solidFill>
          </a:ln>
        </p:spPr>
        <p:txBody>
          <a:bodyPr/>
          <a:p/>
        </p:txBody>
      </p:sp>
      <p:grpSp>
        <p:nvGrpSpPr>
          <p:cNvPr id="15" name="Group 15"/>
          <p:cNvGrpSpPr/>
          <p:nvPr/>
        </p:nvGrpSpPr>
        <p:grpSpPr>
          <a:xfrm>
            <a:off x="1047750" y="3048000"/>
            <a:ext cx="5143500" cy="5334000"/>
            <a:chOff x="1047750" y="3048000"/>
            <a:chExt cx="5143500" cy="5334000"/>
          </a:xfrm>
        </p:grpSpPr>
        <p:sp>
          <p:nvSpPr>
            <p:cNvPr id="6" name="Rectangle 6"/>
            <p:cNvSpPr/>
            <p:nvPr/>
          </p:nvSpPr>
          <p:spPr>
            <a:xfrm>
              <a:off x="1047750" y="3048000"/>
              <a:ext cx="5143500" cy="5334000"/>
            </a:xfrm>
            <a:prstGeom prst="roundRect">
              <a:avLst>
                <a:gd name="adj" fmla="val 4074"/>
              </a:avLst>
            </a:prstGeom>
            <a:solidFill>
              <a:srgbClr val="FFFFFF"/>
            </a:solidFill>
            <a:ln w="19050">
              <a:solidFill>
                <a:schemeClr val="accent4"/>
              </a:solidFill>
            </a:ln>
          </p:spPr>
        </p:sp>
        <p:sp>
          <p:nvSpPr>
            <p:cNvPr id="7" name="Rectangle 7"/>
            <p:cNvSpPr/>
            <p:nvPr/>
          </p:nvSpPr>
          <p:spPr>
            <a:xfrm>
              <a:off x="1257300" y="3048000"/>
              <a:ext cx="4724400" cy="114300"/>
            </a:xfrm>
            <a:prstGeom prst="roundRect">
              <a:avLst>
                <a:gd name="adj" fmla="val 50000"/>
              </a:avLst>
            </a:prstGeom>
            <a:solidFill>
              <a:schemeClr val="accent2"/>
            </a:solidFill>
            <a:ln>
              <a:noFill/>
            </a:ln>
          </p:spPr>
        </p:sp>
        <p:sp>
          <p:nvSpPr>
            <p:cNvPr id="8" name="Rectangle 8"/>
            <p:cNvSpPr/>
            <p:nvPr/>
          </p:nvSpPr>
          <p:spPr>
            <a:xfrm>
              <a:off x="1466850" y="3562350"/>
              <a:ext cx="666750" cy="666750"/>
            </a:xfrm>
            <a:prstGeom prst="roundRect">
              <a:avLst>
                <a:gd name="adj" fmla="val 22857"/>
              </a:avLst>
            </a:prstGeom>
            <a:solidFill>
              <a:srgbClr val="E1F3F0"/>
            </a:solidFill>
            <a:ln>
              <a:noFill/>
            </a:ln>
          </p:spPr>
        </p:sp>
        <p:sp>
          <p:nvSpPr>
            <p:cNvPr id="9" name="TextBox 9"/>
            <p:cNvSpPr txBox="1"/>
            <p:nvPr/>
          </p:nvSpPr>
          <p:spPr>
            <a:xfrm>
              <a:off x="1668370" y="3676650"/>
              <a:ext cx="263709" cy="586740"/>
            </a:xfrm>
            <a:prstGeom prst="rect">
              <a:avLst/>
            </a:prstGeom>
            <a:noFill/>
            <a:ln>
              <a:noFill/>
            </a:ln>
          </p:spPr>
          <p:txBody>
            <a:bodyPr wrap="none" lIns="0" tIns="0" rIns="0" bIns="0" anchor="t" anchorCtr="0">
              <a:spAutoFit/>
            </a:bodyPr>
            <a:lstStyle/>
            <a:p>
              <a:pPr algn="ctr"/>
              <a:r>
                <a:rPr lang="en-US" sz="3000" b="1" dirty="0">
                  <a:solidFill>
                    <a:schemeClr val="accent2"/>
                  </a:solidFill>
                  <a:latin typeface="+mn-lt"/>
                  <a:ea typeface="+mn-ea"/>
                  <a:cs typeface="+mn-cs"/>
                </a:rPr>
                <a:t>1</a:t>
              </a:r>
            </a:p>
          </p:txBody>
        </p:sp>
        <p:sp>
          <p:nvSpPr>
            <p:cNvPr id="10" name="TextBox 10"/>
            <p:cNvSpPr txBox="1"/>
            <p:nvPr/>
          </p:nvSpPr>
          <p:spPr>
            <a:xfrm>
              <a:off x="1454658" y="4598670"/>
              <a:ext cx="3614646"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Continuous &amp; personal</a:t>
              </a:r>
            </a:p>
          </p:txBody>
        </p:sp>
        <p:sp>
          <p:nvSpPr>
            <p:cNvPr id="11" name="TextBox 11"/>
            <p:cNvSpPr txBox="1"/>
            <p:nvPr/>
          </p:nvSpPr>
          <p:spPr>
            <a:xfrm>
              <a:off x="1456182" y="5202555"/>
              <a:ext cx="2390249" cy="410718"/>
            </a:xfrm>
            <a:prstGeom prst="rect">
              <a:avLst/>
            </a:prstGeom>
            <a:noFill/>
            <a:ln>
              <a:noFill/>
            </a:ln>
          </p:spPr>
          <p:txBody>
            <a:bodyPr wrap="none" lIns="0" tIns="0" rIns="0" bIns="0" anchor="t" anchorCtr="0">
              <a:spAutoFit/>
            </a:bodyPr>
            <a:lstStyle/>
            <a:p>
              <a:pPr algn="l"/>
              <a:r>
                <a:rPr lang="en-US" sz="2100" dirty="0">
                  <a:solidFill>
                    <a:schemeClr val="dk2"/>
                  </a:solidFill>
                  <a:latin typeface="+mn-lt"/>
                  <a:ea typeface="+mn-ea"/>
                  <a:cs typeface="+mn-cs"/>
                </a:rPr>
                <a:t>Face similarity is</a:t>
              </a:r>
            </a:p>
          </p:txBody>
        </p:sp>
        <p:sp>
          <p:nvSpPr>
            <p:cNvPr id="12" name="TextBox 12"/>
            <p:cNvSpPr txBox="1"/>
            <p:nvPr/>
          </p:nvSpPr>
          <p:spPr>
            <a:xfrm>
              <a:off x="1456182" y="5602605"/>
              <a:ext cx="4078110" cy="410718"/>
            </a:xfrm>
            <a:prstGeom prst="rect">
              <a:avLst/>
            </a:prstGeom>
            <a:noFill/>
            <a:ln>
              <a:noFill/>
            </a:ln>
          </p:spPr>
          <p:txBody>
            <a:bodyPr wrap="none" lIns="0" tIns="0" rIns="0" bIns="0" anchor="t" anchorCtr="0">
              <a:spAutoFit/>
            </a:bodyPr>
            <a:lstStyle/>
            <a:p>
              <a:pPr algn="l"/>
              <a:r>
                <a:rPr lang="en-US" sz="2100" dirty="0">
                  <a:solidFill>
                    <a:schemeClr val="dk2"/>
                  </a:solidFill>
                  <a:latin typeface="+mn-lt"/>
                  <a:ea typeface="+mn-ea"/>
                  <a:cs typeface="+mn-cs"/>
                </a:rPr>
                <a:t>fundamentally continuous and</a:t>
              </a:r>
            </a:p>
          </p:txBody>
        </p:sp>
        <p:sp>
          <p:nvSpPr>
            <p:cNvPr id="13" name="TextBox 13"/>
            <p:cNvSpPr txBox="1"/>
            <p:nvPr/>
          </p:nvSpPr>
          <p:spPr>
            <a:xfrm>
              <a:off x="1456182" y="6002655"/>
              <a:ext cx="3781273" cy="410718"/>
            </a:xfrm>
            <a:prstGeom prst="rect">
              <a:avLst/>
            </a:prstGeom>
            <a:noFill/>
            <a:ln>
              <a:noFill/>
            </a:ln>
          </p:spPr>
          <p:txBody>
            <a:bodyPr wrap="none" lIns="0" tIns="0" rIns="0" bIns="0" anchor="t" anchorCtr="0">
              <a:spAutoFit/>
            </a:bodyPr>
            <a:lstStyle/>
            <a:p>
              <a:pPr algn="l"/>
              <a:r>
                <a:rPr lang="en-US" sz="2100" dirty="0">
                  <a:solidFill>
                    <a:schemeClr val="dk2"/>
                  </a:solidFill>
                  <a:latin typeface="+mn-lt"/>
                  <a:ea typeface="+mn-ea"/>
                  <a:cs typeface="+mn-cs"/>
                </a:rPr>
                <a:t>depends on who is doing the</a:t>
              </a:r>
            </a:p>
          </p:txBody>
        </p:sp>
        <p:sp>
          <p:nvSpPr>
            <p:cNvPr id="14" name="TextBox 14"/>
            <p:cNvSpPr txBox="1"/>
            <p:nvPr/>
          </p:nvSpPr>
          <p:spPr>
            <a:xfrm>
              <a:off x="1456182" y="6402705"/>
              <a:ext cx="1123874" cy="410718"/>
            </a:xfrm>
            <a:prstGeom prst="rect">
              <a:avLst/>
            </a:prstGeom>
            <a:noFill/>
            <a:ln>
              <a:noFill/>
            </a:ln>
          </p:spPr>
          <p:txBody>
            <a:bodyPr wrap="none" lIns="0" tIns="0" rIns="0" bIns="0" anchor="t" anchorCtr="0">
              <a:spAutoFit/>
            </a:bodyPr>
            <a:lstStyle/>
            <a:p>
              <a:pPr algn="l"/>
              <a:r>
                <a:rPr lang="en-US" sz="2100" dirty="0">
                  <a:solidFill>
                    <a:schemeClr val="dk2"/>
                  </a:solidFill>
                  <a:latin typeface="+mn-lt"/>
                  <a:ea typeface="+mn-ea"/>
                  <a:cs typeface="+mn-cs"/>
                </a:rPr>
                <a:t>judging.</a:t>
              </a:r>
            </a:p>
          </p:txBody>
        </p:sp>
      </p:grpSp>
      <p:grpSp>
        <p:nvGrpSpPr>
          <p:cNvPr id="25" name="Group 25"/>
          <p:cNvGrpSpPr/>
          <p:nvPr/>
        </p:nvGrpSpPr>
        <p:grpSpPr>
          <a:xfrm>
            <a:off x="6572250" y="3048000"/>
            <a:ext cx="5143500" cy="5334000"/>
            <a:chOff x="6572250" y="3048000"/>
            <a:chExt cx="5143500" cy="5334000"/>
          </a:xfrm>
        </p:grpSpPr>
        <p:sp>
          <p:nvSpPr>
            <p:cNvPr id="16" name="Rectangle 16"/>
            <p:cNvSpPr/>
            <p:nvPr/>
          </p:nvSpPr>
          <p:spPr>
            <a:xfrm>
              <a:off x="6572250" y="3048000"/>
              <a:ext cx="5143500" cy="5334000"/>
            </a:xfrm>
            <a:prstGeom prst="roundRect">
              <a:avLst>
                <a:gd name="adj" fmla="val 4074"/>
              </a:avLst>
            </a:prstGeom>
            <a:solidFill>
              <a:srgbClr val="FFFFFF"/>
            </a:solidFill>
            <a:ln w="19050">
              <a:solidFill>
                <a:schemeClr val="accent4"/>
              </a:solidFill>
            </a:ln>
          </p:spPr>
        </p:sp>
        <p:sp>
          <p:nvSpPr>
            <p:cNvPr id="17" name="Rectangle 17"/>
            <p:cNvSpPr/>
            <p:nvPr/>
          </p:nvSpPr>
          <p:spPr>
            <a:xfrm>
              <a:off x="6781800" y="3048000"/>
              <a:ext cx="4724400" cy="114300"/>
            </a:xfrm>
            <a:prstGeom prst="roundRect">
              <a:avLst>
                <a:gd name="adj" fmla="val 50000"/>
              </a:avLst>
            </a:prstGeom>
            <a:solidFill>
              <a:schemeClr val="accent1"/>
            </a:solidFill>
            <a:ln>
              <a:noFill/>
            </a:ln>
          </p:spPr>
        </p:sp>
        <p:sp>
          <p:nvSpPr>
            <p:cNvPr id="18" name="Rectangle 18"/>
            <p:cNvSpPr/>
            <p:nvPr/>
          </p:nvSpPr>
          <p:spPr>
            <a:xfrm>
              <a:off x="6991350" y="3562350"/>
              <a:ext cx="666750" cy="666750"/>
            </a:xfrm>
            <a:prstGeom prst="roundRect">
              <a:avLst>
                <a:gd name="adj" fmla="val 22857"/>
              </a:avLst>
            </a:prstGeom>
            <a:solidFill>
              <a:srgbClr val="ECEDFB"/>
            </a:solidFill>
            <a:ln>
              <a:noFill/>
            </a:ln>
          </p:spPr>
        </p:sp>
        <p:sp>
          <p:nvSpPr>
            <p:cNvPr id="19" name="TextBox 19"/>
            <p:cNvSpPr txBox="1"/>
            <p:nvPr/>
          </p:nvSpPr>
          <p:spPr>
            <a:xfrm>
              <a:off x="7192870" y="3676650"/>
              <a:ext cx="263709" cy="586740"/>
            </a:xfrm>
            <a:prstGeom prst="rect">
              <a:avLst/>
            </a:prstGeom>
            <a:noFill/>
            <a:ln>
              <a:noFill/>
            </a:ln>
          </p:spPr>
          <p:txBody>
            <a:bodyPr wrap="none" lIns="0" tIns="0" rIns="0" bIns="0" anchor="t" anchorCtr="0">
              <a:spAutoFit/>
            </a:bodyPr>
            <a:lstStyle/>
            <a:p>
              <a:pPr algn="ctr"/>
              <a:r>
                <a:rPr lang="en-US" sz="3000" b="1" dirty="0">
                  <a:solidFill>
                    <a:schemeClr val="accent1"/>
                  </a:solidFill>
                  <a:latin typeface="+mn-lt"/>
                  <a:ea typeface="+mn-ea"/>
                  <a:cs typeface="+mn-cs"/>
                </a:rPr>
                <a:t>2</a:t>
              </a:r>
            </a:p>
          </p:txBody>
        </p:sp>
        <p:sp>
          <p:nvSpPr>
            <p:cNvPr id="20" name="TextBox 20"/>
            <p:cNvSpPr txBox="1"/>
            <p:nvPr/>
          </p:nvSpPr>
          <p:spPr>
            <a:xfrm>
              <a:off x="6979158" y="4598670"/>
              <a:ext cx="3511978"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Align with perception</a:t>
              </a:r>
            </a:p>
          </p:txBody>
        </p:sp>
        <p:sp>
          <p:nvSpPr>
            <p:cNvPr id="21" name="TextBox 21"/>
            <p:cNvSpPr txBox="1"/>
            <p:nvPr/>
          </p:nvSpPr>
          <p:spPr>
            <a:xfrm>
              <a:off x="6980682" y="5202555"/>
              <a:ext cx="4270756" cy="410718"/>
            </a:xfrm>
            <a:prstGeom prst="rect">
              <a:avLst/>
            </a:prstGeom>
            <a:noFill/>
            <a:ln>
              <a:noFill/>
            </a:ln>
          </p:spPr>
          <p:txBody>
            <a:bodyPr wrap="none" lIns="0" tIns="0" rIns="0" bIns="0" anchor="t" anchorCtr="0">
              <a:spAutoFit/>
            </a:bodyPr>
            <a:lstStyle/>
            <a:p>
              <a:pPr algn="l"/>
              <a:r>
                <a:rPr lang="en-US" sz="2100" dirty="0">
                  <a:solidFill>
                    <a:schemeClr val="dk2"/>
                  </a:solidFill>
                  <a:latin typeface="+mn-lt"/>
                  <a:ea typeface="+mn-ea"/>
                  <a:cs typeface="+mn-cs"/>
                </a:rPr>
                <a:t>Learn a representation aligned</a:t>
              </a:r>
            </a:p>
          </p:txBody>
        </p:sp>
        <p:sp>
          <p:nvSpPr>
            <p:cNvPr id="22" name="TextBox 22"/>
            <p:cNvSpPr txBox="1"/>
            <p:nvPr/>
          </p:nvSpPr>
          <p:spPr>
            <a:xfrm>
              <a:off x="6980682" y="5602605"/>
              <a:ext cx="4148785" cy="410718"/>
            </a:xfrm>
            <a:prstGeom prst="rect">
              <a:avLst/>
            </a:prstGeom>
            <a:noFill/>
            <a:ln>
              <a:noFill/>
            </a:ln>
          </p:spPr>
          <p:txBody>
            <a:bodyPr wrap="none" lIns="0" tIns="0" rIns="0" bIns="0" anchor="t" anchorCtr="0">
              <a:spAutoFit/>
            </a:bodyPr>
            <a:lstStyle/>
            <a:p>
              <a:pPr algn="l"/>
              <a:r>
                <a:rPr lang="en-US" sz="2100" dirty="0">
                  <a:solidFill>
                    <a:schemeClr val="dk2"/>
                  </a:solidFill>
                  <a:latin typeface="+mn-lt"/>
                  <a:ea typeface="+mn-ea"/>
                  <a:cs typeface="+mn-cs"/>
                </a:rPr>
                <a:t>with human perception to skip</a:t>
              </a:r>
            </a:p>
          </p:txBody>
        </p:sp>
        <p:sp>
          <p:nvSpPr>
            <p:cNvPr id="23" name="TextBox 23"/>
            <p:cNvSpPr txBox="1"/>
            <p:nvPr/>
          </p:nvSpPr>
          <p:spPr>
            <a:xfrm>
              <a:off x="6980682" y="6002655"/>
              <a:ext cx="3555111" cy="410718"/>
            </a:xfrm>
            <a:prstGeom prst="rect">
              <a:avLst/>
            </a:prstGeom>
            <a:noFill/>
            <a:ln>
              <a:noFill/>
            </a:ln>
          </p:spPr>
          <p:txBody>
            <a:bodyPr wrap="none" lIns="0" tIns="0" rIns="0" bIns="0" anchor="t" anchorCtr="0">
              <a:spAutoFit/>
            </a:bodyPr>
            <a:lstStyle/>
            <a:p>
              <a:pPr algn="l"/>
              <a:r>
                <a:rPr lang="en-US" sz="2100" dirty="0">
                  <a:solidFill>
                    <a:schemeClr val="dk2"/>
                  </a:solidFill>
                  <a:latin typeface="+mn-lt"/>
                  <a:ea typeface="+mn-ea"/>
                  <a:cs typeface="+mn-cs"/>
                </a:rPr>
                <a:t>semantic labels while still</a:t>
              </a:r>
            </a:p>
          </p:txBody>
        </p:sp>
        <p:sp>
          <p:nvSpPr>
            <p:cNvPr id="24" name="TextBox 24"/>
            <p:cNvSpPr txBox="1"/>
            <p:nvPr/>
          </p:nvSpPr>
          <p:spPr>
            <a:xfrm>
              <a:off x="6980682" y="6402705"/>
              <a:ext cx="2904896" cy="410718"/>
            </a:xfrm>
            <a:prstGeom prst="rect">
              <a:avLst/>
            </a:prstGeom>
            <a:noFill/>
            <a:ln>
              <a:noFill/>
            </a:ln>
          </p:spPr>
          <p:txBody>
            <a:bodyPr wrap="none" lIns="0" tIns="0" rIns="0" bIns="0" anchor="t" anchorCtr="0">
              <a:spAutoFit/>
            </a:bodyPr>
            <a:lstStyle/>
            <a:p>
              <a:pPr algn="l"/>
              <a:r>
                <a:rPr lang="en-US" sz="2100" dirty="0">
                  <a:solidFill>
                    <a:schemeClr val="dk2"/>
                  </a:solidFill>
                  <a:latin typeface="+mn-lt"/>
                  <a:ea typeface="+mn-ea"/>
                  <a:cs typeface="+mn-cs"/>
                </a:rPr>
                <a:t>measuring diversity.</a:t>
              </a:r>
            </a:p>
          </p:txBody>
        </p:sp>
      </p:grpSp>
      <p:grpSp>
        <p:nvGrpSpPr>
          <p:cNvPr id="35" name="Group 35"/>
          <p:cNvGrpSpPr/>
          <p:nvPr/>
        </p:nvGrpSpPr>
        <p:grpSpPr>
          <a:xfrm>
            <a:off x="12096750" y="3048000"/>
            <a:ext cx="5143500" cy="5334000"/>
            <a:chOff x="12096750" y="3048000"/>
            <a:chExt cx="5143500" cy="5334000"/>
          </a:xfrm>
        </p:grpSpPr>
        <p:sp>
          <p:nvSpPr>
            <p:cNvPr id="26" name="Rectangle 26"/>
            <p:cNvSpPr/>
            <p:nvPr/>
          </p:nvSpPr>
          <p:spPr>
            <a:xfrm>
              <a:off x="12096750" y="3048000"/>
              <a:ext cx="5143500" cy="5334000"/>
            </a:xfrm>
            <a:prstGeom prst="roundRect">
              <a:avLst>
                <a:gd name="adj" fmla="val 4074"/>
              </a:avLst>
            </a:prstGeom>
            <a:solidFill>
              <a:srgbClr val="FFFFFF"/>
            </a:solidFill>
            <a:ln w="19050">
              <a:solidFill>
                <a:schemeClr val="accent4"/>
              </a:solidFill>
            </a:ln>
          </p:spPr>
        </p:sp>
        <p:sp>
          <p:nvSpPr>
            <p:cNvPr id="27" name="Rectangle 27"/>
            <p:cNvSpPr/>
            <p:nvPr/>
          </p:nvSpPr>
          <p:spPr>
            <a:xfrm>
              <a:off x="12306300" y="3048000"/>
              <a:ext cx="4724400" cy="114300"/>
            </a:xfrm>
            <a:prstGeom prst="roundRect">
              <a:avLst>
                <a:gd name="adj" fmla="val 50000"/>
              </a:avLst>
            </a:prstGeom>
            <a:solidFill>
              <a:schemeClr val="accent3"/>
            </a:solidFill>
            <a:ln>
              <a:noFill/>
            </a:ln>
          </p:spPr>
        </p:sp>
        <p:sp>
          <p:nvSpPr>
            <p:cNvPr id="28" name="Rectangle 28"/>
            <p:cNvSpPr/>
            <p:nvPr/>
          </p:nvSpPr>
          <p:spPr>
            <a:xfrm>
              <a:off x="12515850" y="3562350"/>
              <a:ext cx="666750" cy="666750"/>
            </a:xfrm>
            <a:prstGeom prst="roundRect">
              <a:avLst>
                <a:gd name="adj" fmla="val 22857"/>
              </a:avLst>
            </a:prstGeom>
            <a:solidFill>
              <a:srgbClr val="FBE7ED"/>
            </a:solidFill>
            <a:ln>
              <a:noFill/>
            </a:ln>
          </p:spPr>
        </p:sp>
        <p:sp>
          <p:nvSpPr>
            <p:cNvPr id="29" name="TextBox 29"/>
            <p:cNvSpPr txBox="1"/>
            <p:nvPr/>
          </p:nvSpPr>
          <p:spPr>
            <a:xfrm>
              <a:off x="12717370" y="3676650"/>
              <a:ext cx="263709" cy="586740"/>
            </a:xfrm>
            <a:prstGeom prst="rect">
              <a:avLst/>
            </a:prstGeom>
            <a:noFill/>
            <a:ln>
              <a:noFill/>
            </a:ln>
          </p:spPr>
          <p:txBody>
            <a:bodyPr wrap="none" lIns="0" tIns="0" rIns="0" bIns="0" anchor="t" anchorCtr="0">
              <a:spAutoFit/>
            </a:bodyPr>
            <a:lstStyle/>
            <a:p>
              <a:pPr algn="ctr"/>
              <a:r>
                <a:rPr lang="en-US" sz="3000" b="1" dirty="0">
                  <a:solidFill>
                    <a:schemeClr val="accent3"/>
                  </a:solidFill>
                  <a:latin typeface="+mn-lt"/>
                  <a:ea typeface="+mn-ea"/>
                  <a:cs typeface="+mn-cs"/>
                </a:rPr>
                <a:t>3</a:t>
              </a:r>
            </a:p>
          </p:txBody>
        </p:sp>
        <p:sp>
          <p:nvSpPr>
            <p:cNvPr id="30" name="TextBox 30"/>
            <p:cNvSpPr txBox="1"/>
            <p:nvPr/>
          </p:nvSpPr>
          <p:spPr>
            <a:xfrm>
              <a:off x="12503658" y="4598670"/>
              <a:ext cx="3511978"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Prior embeddings fail</a:t>
              </a:r>
            </a:p>
          </p:txBody>
        </p:sp>
        <p:sp>
          <p:nvSpPr>
            <p:cNvPr id="31" name="TextBox 31"/>
            <p:cNvSpPr txBox="1"/>
            <p:nvPr/>
          </p:nvSpPr>
          <p:spPr>
            <a:xfrm>
              <a:off x="12505182" y="5202555"/>
              <a:ext cx="4144351" cy="410718"/>
            </a:xfrm>
            <a:prstGeom prst="rect">
              <a:avLst/>
            </a:prstGeom>
            <a:noFill/>
            <a:ln>
              <a:noFill/>
            </a:ln>
          </p:spPr>
          <p:txBody>
            <a:bodyPr wrap="none" lIns="0" tIns="0" rIns="0" bIns="0" anchor="t" anchorCtr="0">
              <a:spAutoFit/>
            </a:bodyPr>
            <a:lstStyle/>
            <a:p>
              <a:pPr algn="l"/>
              <a:r>
                <a:rPr lang="en-US" sz="2100" dirty="0">
                  <a:solidFill>
                    <a:schemeClr val="dk2"/>
                  </a:solidFill>
                  <a:latin typeface="+mn-lt"/>
                  <a:ea typeface="+mn-ea"/>
                  <a:cs typeface="+mn-cs"/>
                </a:rPr>
                <a:t>They either cannot embed new</a:t>
              </a:r>
            </a:p>
          </p:txBody>
        </p:sp>
        <p:sp>
          <p:nvSpPr>
            <p:cNvPr id="32" name="TextBox 32"/>
            <p:cNvSpPr txBox="1"/>
            <p:nvPr/>
          </p:nvSpPr>
          <p:spPr>
            <a:xfrm>
              <a:off x="12505182" y="5602605"/>
              <a:ext cx="4261866" cy="410718"/>
            </a:xfrm>
            <a:prstGeom prst="rect">
              <a:avLst/>
            </a:prstGeom>
            <a:noFill/>
            <a:ln>
              <a:noFill/>
            </a:ln>
          </p:spPr>
          <p:txBody>
            <a:bodyPr wrap="none" lIns="0" tIns="0" rIns="0" bIns="0" anchor="t" anchorCtr="0">
              <a:spAutoFit/>
            </a:bodyPr>
            <a:lstStyle/>
            <a:p>
              <a:pPr algn="l"/>
              <a:r>
                <a:rPr lang="en-US" sz="2100" dirty="0">
                  <a:solidFill>
                    <a:schemeClr val="dk2"/>
                  </a:solidFill>
                  <a:latin typeface="+mn-lt"/>
                  <a:ea typeface="+mn-ea"/>
                  <a:cs typeface="+mn-cs"/>
                </a:rPr>
                <a:t>faces beyond the training set,</a:t>
              </a:r>
            </a:p>
          </p:txBody>
        </p:sp>
        <p:sp>
          <p:nvSpPr>
            <p:cNvPr id="33" name="TextBox 33"/>
            <p:cNvSpPr txBox="1"/>
            <p:nvPr/>
          </p:nvSpPr>
          <p:spPr>
            <a:xfrm>
              <a:off x="12505182" y="6002655"/>
              <a:ext cx="3696462" cy="410718"/>
            </a:xfrm>
            <a:prstGeom prst="rect">
              <a:avLst/>
            </a:prstGeom>
            <a:noFill/>
            <a:ln>
              <a:noFill/>
            </a:ln>
          </p:spPr>
          <p:txBody>
            <a:bodyPr wrap="none" lIns="0" tIns="0" rIns="0" bIns="0" anchor="t" anchorCtr="0">
              <a:spAutoFit/>
            </a:bodyPr>
            <a:lstStyle/>
            <a:p>
              <a:pPr algn="l"/>
              <a:r>
                <a:rPr lang="en-US" sz="2100" dirty="0">
                  <a:solidFill>
                    <a:schemeClr val="dk2"/>
                  </a:solidFill>
                  <a:latin typeface="+mn-lt"/>
                  <a:ea typeface="+mn-ea"/>
                  <a:cs typeface="+mn-cs"/>
                </a:rPr>
                <a:t>or pool every judgment and</a:t>
              </a:r>
            </a:p>
          </p:txBody>
        </p:sp>
        <p:sp>
          <p:nvSpPr>
            <p:cNvPr id="34" name="TextBox 34"/>
            <p:cNvSpPr txBox="1"/>
            <p:nvPr/>
          </p:nvSpPr>
          <p:spPr>
            <a:xfrm>
              <a:off x="12505182" y="6402705"/>
              <a:ext cx="3936759" cy="410718"/>
            </a:xfrm>
            <a:prstGeom prst="rect">
              <a:avLst/>
            </a:prstGeom>
            <a:noFill/>
            <a:ln>
              <a:noFill/>
            </a:ln>
          </p:spPr>
          <p:txBody>
            <a:bodyPr wrap="none" lIns="0" tIns="0" rIns="0" bIns="0" anchor="t" anchorCtr="0">
              <a:spAutoFit/>
            </a:bodyPr>
            <a:lstStyle/>
            <a:p>
              <a:pPr algn="l"/>
              <a:r>
                <a:rPr lang="en-US" sz="2100" dirty="0">
                  <a:solidFill>
                    <a:schemeClr val="dk2"/>
                  </a:solidFill>
                  <a:latin typeface="+mn-lt"/>
                  <a:ea typeface="+mn-ea"/>
                  <a:cs typeface="+mn-cs"/>
                </a:rPr>
                <a:t>lose annotator differences.</a:t>
              </a:r>
            </a:p>
          </p:txBody>
        </p:sp>
      </p:grpSp>
      <p:sp>
        <p:nvSpPr>
          <p:cNvPr id="36" name="Line 36"/>
          <p:cNvSpPr/>
          <p:nvPr/>
        </p:nvSpPr>
        <p:spPr>
          <a:xfrm>
            <a:off x="1047750" y="9639300"/>
            <a:ext cx="16192500" cy="9525"/>
          </a:xfrm>
          <a:custGeom>
            <a:avLst/>
            <a:gdLst/>
            <a:ahLst/>
            <a:cxnLst/>
            <a:rect l="l" t="t" r="r" b="b"/>
            <a:pathLst>
              <a:path w="16192500" h="9525">
                <a:moveTo>
                  <a:pt x="0" y="0"/>
                </a:moveTo>
                <a:lnTo>
                  <a:pt x="16192500" y="0"/>
                </a:lnTo>
              </a:path>
            </a:pathLst>
          </a:custGeom>
          <a:noFill/>
          <a:ln w="14288">
            <a:solidFill>
              <a:schemeClr val="accent4"/>
            </a:solidFill>
          </a:ln>
        </p:spPr>
        <p:txBody>
          <a:bodyPr/>
          <a:p/>
        </p:txBody>
      </p:sp>
      <p:sp>
        <p:nvSpPr>
          <p:cNvPr id="37" name="TextBox 37"/>
          <p:cNvSpPr txBox="1"/>
          <p:nvPr/>
        </p:nvSpPr>
        <p:spPr>
          <a:xfrm>
            <a:off x="1039368" y="9823132"/>
            <a:ext cx="8171916" cy="322707"/>
          </a:xfrm>
          <a:prstGeom prst="rect">
            <a:avLst/>
          </a:prstGeom>
          <a:noFill/>
          <a:ln>
            <a:noFill/>
          </a:ln>
        </p:spPr>
        <p:txBody>
          <a:bodyPr wrap="none" lIns="0" tIns="0" rIns="0" bIns="0" anchor="t" anchorCtr="0">
            <a:spAutoFit/>
          </a:bodyPr>
          <a:lstStyle/>
          <a:p>
            <a:pPr algn="l"/>
            <a:r>
              <a:rPr lang="en-US" sz="1650" dirty="0">
                <a:solidFill>
                  <a:schemeClr val="dk2"/>
                </a:solidFill>
                <a:latin typeface="+mn-lt"/>
                <a:ea typeface="+mn-ea"/>
                <a:cs typeface="+mn-cs"/>
              </a:rPr>
              <a:t>A View From Somewhere — Human-Centric Face Representations (ICLR 2023)</a:t>
            </a:r>
          </a:p>
        </p:txBody>
      </p:sp>
      <p:sp>
        <p:nvSpPr>
          <p:cNvPr id="38" name="TextBox 38"/>
          <p:cNvSpPr txBox="1"/>
          <p:nvPr/>
        </p:nvSpPr>
        <p:spPr>
          <a:xfrm>
            <a:off x="16487756" y="9823132"/>
            <a:ext cx="760876" cy="322707"/>
          </a:xfrm>
          <a:prstGeom prst="rect">
            <a:avLst/>
          </a:prstGeom>
          <a:noFill/>
          <a:ln>
            <a:noFill/>
          </a:ln>
        </p:spPr>
        <p:txBody>
          <a:bodyPr wrap="none" lIns="0" tIns="0" rIns="0" bIns="0" anchor="t" anchorCtr="0">
            <a:spAutoFit/>
          </a:bodyPr>
          <a:lstStyle/>
          <a:p>
            <a:pPr algn="r"/>
            <a:r>
              <a:rPr lang="en-US" sz="1650" dirty="0">
                <a:solidFill>
                  <a:schemeClr val="dk2"/>
                </a:solidFill>
                <a:latin typeface="Consolas"/>
                <a:ea typeface="Consolas"/>
                <a:cs typeface="Consolas"/>
              </a:rPr>
              <a:t>03 / 10</a:t>
            </a:r>
          </a:p>
        </p:txBody>
      </p:sp>
      <p:sp>
        <p:nvSpPr>
          <p:cNvPr id="39" name="cue_s03_c1_authors_argue_face_similarity_fundam" title="cue_s03_c1_authors_argue_face_similarity_fundam" descr="cue_s03_c1_authors_argue_face_similarity_fundam The authors argue that face similarity is fundamentally continuous and depends on who is doing the judging."/>
          <p:cNvSpPr/>
          <p:nvPr/>
        </p:nvSpPr>
        <p:spPr>
          <a:xfrm>
            <a:off x="1047902" y="3048038"/>
            <a:ext cx="5142585" cy="5333809"/>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3_c2_could_learn_representation_directly" title="cue_s03_c2_could_learn_representation_directly" descr="cue_s03_c2_could_learn_representation_directly If we could learn a representation directly aligned with human perception, we could sidestep problematic semantic labels entirely while still measuring diversity."/>
          <p:cNvSpPr/>
          <p:nvPr/>
        </p:nvSpPr>
        <p:spPr>
          <a:xfrm>
            <a:off x="6572707" y="3048038"/>
            <a:ext cx="5142585" cy="5333809"/>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3_c3_existing_psychological_embedding_met" title="cue_s03_c3_existing_psychological_embedding_met" descr="cue_s03_c3_existing_psychological_embedding_met Existing psychological-embedding methods fall short: they either cannot embed new faces beyond the fixed training set, or they pool every judgment together, throwing away the meaningful differences within and between individual annotators."/>
          <p:cNvSpPr/>
          <p:nvPr/>
        </p:nvSpPr>
        <p:spPr>
          <a:xfrm>
            <a:off x="12097512" y="3048038"/>
            <a:ext cx="5142585" cy="5333809"/>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1047750" y="800100"/>
            <a:ext cx="514350" cy="76200"/>
          </a:xfrm>
          <a:prstGeom prst="roundRect">
            <a:avLst>
              <a:gd name="adj" fmla="val 50000"/>
            </a:avLst>
          </a:prstGeom>
          <a:solidFill>
            <a:schemeClr val="accent1"/>
          </a:solidFill>
          <a:ln>
            <a:noFill/>
          </a:ln>
        </p:spPr>
        <p:txBody>
          <a:bodyPr/>
          <a:p/>
        </p:txBody>
      </p:sp>
      <p:sp>
        <p:nvSpPr>
          <p:cNvPr id="3" name="TextBox 3"/>
          <p:cNvSpPr txBox="1"/>
          <p:nvPr/>
        </p:nvSpPr>
        <p:spPr>
          <a:xfrm>
            <a:off x="1704594" y="741998"/>
            <a:ext cx="2264893" cy="381381"/>
          </a:xfrm>
          <a:prstGeom prst="rect">
            <a:avLst/>
          </a:prstGeom>
          <a:noFill/>
          <a:ln>
            <a:noFill/>
          </a:ln>
        </p:spPr>
        <p:txBody>
          <a:bodyPr wrap="none" lIns="0" tIns="0" rIns="0" bIns="0" anchor="t" anchorCtr="0">
            <a:spAutoFit/>
          </a:bodyPr>
          <a:lstStyle/>
          <a:p>
            <a:pPr algn="l"/>
            <a:r>
              <a:rPr lang="en-US" sz="1950" b="1" spc="225" dirty="0">
                <a:solidFill>
                  <a:schemeClr val="accent1"/>
                </a:solidFill>
                <a:latin typeface="+mn-lt"/>
                <a:ea typeface="+mn-ea"/>
                <a:cs typeface="+mn-cs"/>
              </a:rPr>
              <a:t>CONTRIBUTION</a:t>
            </a:r>
          </a:p>
        </p:txBody>
      </p:sp>
      <p:sp>
        <p:nvSpPr>
          <p:cNvPr id="4" name="TextBox 4"/>
          <p:cNvSpPr txBox="1"/>
          <p:nvPr/>
        </p:nvSpPr>
        <p:spPr>
          <a:xfrm>
            <a:off x="1028700" y="1174432"/>
            <a:ext cx="10066726" cy="904875"/>
          </a:xfrm>
          <a:prstGeom prst="rect">
            <a:avLst/>
          </a:prstGeom>
          <a:noFill/>
          <a:ln>
            <a:noFill/>
          </a:ln>
        </p:spPr>
        <p:txBody>
          <a:bodyPr wrap="none" lIns="0" tIns="0" rIns="0" bIns="0" anchor="t" anchorCtr="0">
            <a:spAutoFit/>
          </a:bodyPr>
          <a:lstStyle/>
          <a:p>
            <a:pPr algn="l"/>
            <a:r>
              <a:rPr lang="en-US" sz="4650" b="1" dirty="0">
                <a:solidFill>
                  <a:schemeClr val="dk1"/>
                </a:solidFill>
                <a:latin typeface="+mn-lt"/>
                <a:ea typeface="+mn-ea"/>
                <a:cs typeface="+mn-cs"/>
              </a:rPr>
              <a:t>A View From Somewhere (AVFS)</a:t>
            </a:r>
          </a:p>
        </p:txBody>
      </p:sp>
      <p:sp>
        <p:nvSpPr>
          <p:cNvPr id="5" name="Line 5"/>
          <p:cNvSpPr/>
          <p:nvPr/>
        </p:nvSpPr>
        <p:spPr>
          <a:xfrm>
            <a:off x="1047750" y="2000250"/>
            <a:ext cx="16192500" cy="9525"/>
          </a:xfrm>
          <a:custGeom>
            <a:avLst/>
            <a:gdLst/>
            <a:ahLst/>
            <a:cxnLst/>
            <a:rect l="l" t="t" r="r" b="b"/>
            <a:pathLst>
              <a:path w="16192500" h="9525">
                <a:moveTo>
                  <a:pt x="0" y="0"/>
                </a:moveTo>
                <a:lnTo>
                  <a:pt x="16192500" y="0"/>
                </a:lnTo>
              </a:path>
            </a:pathLst>
          </a:custGeom>
          <a:noFill/>
          <a:ln w="19050">
            <a:solidFill>
              <a:schemeClr val="accent4"/>
            </a:solidFill>
          </a:ln>
        </p:spPr>
        <p:txBody>
          <a:bodyPr/>
          <a:p/>
        </p:txBody>
      </p:sp>
      <p:grpSp>
        <p:nvGrpSpPr>
          <p:cNvPr id="14" name="Group 14"/>
          <p:cNvGrpSpPr/>
          <p:nvPr/>
        </p:nvGrpSpPr>
        <p:grpSpPr>
          <a:xfrm>
            <a:off x="1047750" y="2857500"/>
            <a:ext cx="4953000" cy="6000750"/>
            <a:chOff x="1047750" y="2857500"/>
            <a:chExt cx="4953000" cy="6000750"/>
          </a:xfrm>
        </p:grpSpPr>
        <p:sp>
          <p:nvSpPr>
            <p:cNvPr id="6" name="Rectangle 6"/>
            <p:cNvSpPr/>
            <p:nvPr/>
          </p:nvSpPr>
          <p:spPr>
            <a:xfrm>
              <a:off x="1047750" y="2857500"/>
              <a:ext cx="4953000" cy="6000750"/>
            </a:xfrm>
            <a:prstGeom prst="roundRect">
              <a:avLst>
                <a:gd name="adj" fmla="val 4615"/>
              </a:avLst>
            </a:prstGeom>
            <a:solidFill>
              <a:schemeClr val="accent1"/>
            </a:solidFill>
            <a:ln>
              <a:noFill/>
            </a:ln>
          </p:spPr>
        </p:sp>
        <p:sp>
          <p:nvSpPr>
            <p:cNvPr id="7" name="TextBox 7"/>
            <p:cNvSpPr txBox="1"/>
            <p:nvPr/>
          </p:nvSpPr>
          <p:spPr>
            <a:xfrm>
              <a:off x="1839392" y="3424238"/>
              <a:ext cx="3369716" cy="1876425"/>
            </a:xfrm>
            <a:prstGeom prst="rect">
              <a:avLst/>
            </a:prstGeom>
            <a:noFill/>
            <a:ln>
              <a:noFill/>
            </a:ln>
          </p:spPr>
          <p:txBody>
            <a:bodyPr wrap="none" lIns="0" tIns="0" rIns="0" bIns="0" anchor="t" anchorCtr="0">
              <a:spAutoFit/>
            </a:bodyPr>
            <a:lstStyle/>
            <a:p>
              <a:pPr algn="ctr"/>
              <a:r>
                <a:rPr lang="en-US" sz="9750" b="1" spc="300" dirty="0">
                  <a:solidFill>
                    <a:srgbClr val="FFFFFF"/>
                  </a:solidFill>
                  <a:latin typeface="+mn-lt"/>
                  <a:ea typeface="+mn-ea"/>
                  <a:cs typeface="+mn-cs"/>
                </a:rPr>
                <a:t>AVFS</a:t>
              </a:r>
            </a:p>
          </p:txBody>
        </p:sp>
        <p:sp>
          <p:nvSpPr>
            <p:cNvPr id="8" name="TextBox 8"/>
            <p:cNvSpPr txBox="1"/>
            <p:nvPr/>
          </p:nvSpPr>
          <p:spPr>
            <a:xfrm>
              <a:off x="1685242" y="4900612"/>
              <a:ext cx="3678017" cy="440055"/>
            </a:xfrm>
            <a:prstGeom prst="rect">
              <a:avLst/>
            </a:prstGeom>
            <a:noFill/>
            <a:ln>
              <a:noFill/>
            </a:ln>
          </p:spPr>
          <p:txBody>
            <a:bodyPr wrap="none" lIns="0" tIns="0" rIns="0" bIns="0" anchor="t" anchorCtr="0">
              <a:spAutoFit/>
            </a:bodyPr>
            <a:lstStyle/>
            <a:p>
              <a:pPr algn="ctr"/>
              <a:r>
                <a:rPr lang="en-US" sz="2250" b="1" dirty="0">
                  <a:solidFill>
                    <a:srgbClr val="C9CCF6"/>
                  </a:solidFill>
                  <a:latin typeface="+mn-lt"/>
                  <a:ea typeface="+mn-ea"/>
                  <a:cs typeface="+mn-cs"/>
                </a:rPr>
                <a:t>A View From Somewhere</a:t>
              </a:r>
            </a:p>
          </p:txBody>
        </p:sp>
        <p:sp>
          <p:nvSpPr>
            <p:cNvPr id="9" name="TextBox 9"/>
            <p:cNvSpPr txBox="1"/>
            <p:nvPr/>
          </p:nvSpPr>
          <p:spPr>
            <a:xfrm>
              <a:off x="1512570" y="5853112"/>
              <a:ext cx="3606655" cy="440055"/>
            </a:xfrm>
            <a:prstGeom prst="rect">
              <a:avLst/>
            </a:prstGeom>
            <a:noFill/>
            <a:ln>
              <a:noFill/>
            </a:ln>
          </p:spPr>
          <p:txBody>
            <a:bodyPr wrap="none" lIns="0" tIns="0" rIns="0" bIns="0" anchor="t" anchorCtr="0">
              <a:spAutoFit/>
            </a:bodyPr>
            <a:lstStyle/>
            <a:p>
              <a:pPr algn="l"/>
              <a:r>
                <a:rPr lang="en-US" sz="2250" dirty="0">
                  <a:solidFill>
                    <a:srgbClr val="E7E8FB"/>
                  </a:solidFill>
                  <a:latin typeface="+mn-lt"/>
                  <a:ea typeface="+mn-ea"/>
                  <a:cs typeface="+mn-cs"/>
                </a:rPr>
                <a:t>A conditional framework</a:t>
              </a:r>
            </a:p>
          </p:txBody>
        </p:sp>
        <p:sp>
          <p:nvSpPr>
            <p:cNvPr id="10" name="TextBox 10"/>
            <p:cNvSpPr txBox="1"/>
            <p:nvPr/>
          </p:nvSpPr>
          <p:spPr>
            <a:xfrm>
              <a:off x="1512570" y="6281738"/>
              <a:ext cx="2461165" cy="440055"/>
            </a:xfrm>
            <a:prstGeom prst="rect">
              <a:avLst/>
            </a:prstGeom>
            <a:noFill/>
            <a:ln>
              <a:noFill/>
            </a:ln>
          </p:spPr>
          <p:txBody>
            <a:bodyPr wrap="none" lIns="0" tIns="0" rIns="0" bIns="0" anchor="t" anchorCtr="0">
              <a:spAutoFit/>
            </a:bodyPr>
            <a:lstStyle/>
            <a:p>
              <a:pPr algn="l"/>
              <a:r>
                <a:rPr lang="en-US" sz="2250" dirty="0">
                  <a:solidFill>
                    <a:srgbClr val="E7E8FB"/>
                  </a:solidFill>
                  <a:latin typeface="+mn-lt"/>
                  <a:ea typeface="+mn-ea"/>
                  <a:cs typeface="+mn-cs"/>
                </a:rPr>
                <a:t>that learns face</a:t>
              </a:r>
            </a:p>
          </p:txBody>
        </p:sp>
        <p:sp>
          <p:nvSpPr>
            <p:cNvPr id="11" name="TextBox 11"/>
            <p:cNvSpPr txBox="1"/>
            <p:nvPr/>
          </p:nvSpPr>
          <p:spPr>
            <a:xfrm>
              <a:off x="1512570" y="6710362"/>
              <a:ext cx="3718179" cy="440055"/>
            </a:xfrm>
            <a:prstGeom prst="rect">
              <a:avLst/>
            </a:prstGeom>
            <a:noFill/>
            <a:ln>
              <a:noFill/>
            </a:ln>
          </p:spPr>
          <p:txBody>
            <a:bodyPr wrap="none" lIns="0" tIns="0" rIns="0" bIns="0" anchor="t" anchorCtr="0">
              <a:spAutoFit/>
            </a:bodyPr>
            <a:lstStyle/>
            <a:p>
              <a:pPr algn="l"/>
              <a:r>
                <a:rPr lang="en-US" sz="2250" dirty="0">
                  <a:solidFill>
                    <a:srgbClr val="E7E8FB"/>
                  </a:solidFill>
                  <a:latin typeface="+mn-lt"/>
                  <a:ea typeface="+mn-ea"/>
                  <a:cs typeface="+mn-cs"/>
                </a:rPr>
                <a:t>representations directly</a:t>
              </a:r>
            </a:p>
          </p:txBody>
        </p:sp>
        <p:sp>
          <p:nvSpPr>
            <p:cNvPr id="12" name="TextBox 12"/>
            <p:cNvSpPr txBox="1"/>
            <p:nvPr/>
          </p:nvSpPr>
          <p:spPr>
            <a:xfrm>
              <a:off x="1512570" y="7138988"/>
              <a:ext cx="3248692" cy="440055"/>
            </a:xfrm>
            <a:prstGeom prst="rect">
              <a:avLst/>
            </a:prstGeom>
            <a:noFill/>
            <a:ln>
              <a:noFill/>
            </a:ln>
          </p:spPr>
          <p:txBody>
            <a:bodyPr wrap="none" lIns="0" tIns="0" rIns="0" bIns="0" anchor="t" anchorCtr="0">
              <a:spAutoFit/>
            </a:bodyPr>
            <a:lstStyle/>
            <a:p>
              <a:pPr algn="l"/>
              <a:r>
                <a:rPr lang="en-US" sz="2250" dirty="0">
                  <a:solidFill>
                    <a:srgbClr val="E7E8FB"/>
                  </a:solidFill>
                  <a:latin typeface="+mn-lt"/>
                  <a:ea typeface="+mn-ea"/>
                  <a:cs typeface="+mn-cs"/>
                </a:rPr>
                <a:t>from human similarity</a:t>
              </a:r>
            </a:p>
          </p:txBody>
        </p:sp>
        <p:sp>
          <p:nvSpPr>
            <p:cNvPr id="13" name="TextBox 13"/>
            <p:cNvSpPr txBox="1"/>
            <p:nvPr/>
          </p:nvSpPr>
          <p:spPr>
            <a:xfrm>
              <a:off x="1512570" y="7567612"/>
              <a:ext cx="1673638" cy="440055"/>
            </a:xfrm>
            <a:prstGeom prst="rect">
              <a:avLst/>
            </a:prstGeom>
            <a:noFill/>
            <a:ln>
              <a:noFill/>
            </a:ln>
          </p:spPr>
          <p:txBody>
            <a:bodyPr wrap="none" lIns="0" tIns="0" rIns="0" bIns="0" anchor="t" anchorCtr="0">
              <a:spAutoFit/>
            </a:bodyPr>
            <a:lstStyle/>
            <a:p>
              <a:pPr algn="l"/>
              <a:r>
                <a:rPr lang="en-US" sz="2250" dirty="0">
                  <a:solidFill>
                    <a:srgbClr val="E7E8FB"/>
                  </a:solidFill>
                  <a:latin typeface="+mn-lt"/>
                  <a:ea typeface="+mn-ea"/>
                  <a:cs typeface="+mn-cs"/>
                </a:rPr>
                <a:t>judgments.</a:t>
              </a:r>
            </a:p>
          </p:txBody>
        </p:sp>
      </p:grpSp>
      <p:grpSp>
        <p:nvGrpSpPr>
          <p:cNvPr id="25" name="Group 25"/>
          <p:cNvGrpSpPr/>
          <p:nvPr/>
        </p:nvGrpSpPr>
        <p:grpSpPr>
          <a:xfrm>
            <a:off x="6419850" y="2857500"/>
            <a:ext cx="10820400" cy="2857500"/>
            <a:chOff x="6419850" y="2857500"/>
            <a:chExt cx="10820400" cy="2857500"/>
          </a:xfrm>
        </p:grpSpPr>
        <p:sp>
          <p:nvSpPr>
            <p:cNvPr id="15" name="Rectangle 15"/>
            <p:cNvSpPr/>
            <p:nvPr/>
          </p:nvSpPr>
          <p:spPr>
            <a:xfrm>
              <a:off x="6419850" y="2857500"/>
              <a:ext cx="10820400" cy="2857500"/>
            </a:xfrm>
            <a:prstGeom prst="roundRect">
              <a:avLst>
                <a:gd name="adj" fmla="val 6000"/>
              </a:avLst>
            </a:prstGeom>
            <a:solidFill>
              <a:srgbClr val="FFFFFF"/>
            </a:solidFill>
            <a:ln w="19050">
              <a:solidFill>
                <a:schemeClr val="accent4"/>
              </a:solidFill>
            </a:ln>
          </p:spPr>
        </p:sp>
        <p:sp>
          <p:nvSpPr>
            <p:cNvPr id="16" name="Rectangle 16"/>
            <p:cNvSpPr/>
            <p:nvPr/>
          </p:nvSpPr>
          <p:spPr>
            <a:xfrm>
              <a:off x="6419850" y="2857500"/>
              <a:ext cx="76200" cy="2857500"/>
            </a:xfrm>
            <a:prstGeom prst="roundRect">
              <a:avLst>
                <a:gd name="adj" fmla="val 50000"/>
              </a:avLst>
            </a:prstGeom>
            <a:solidFill>
              <a:schemeClr val="accent2"/>
            </a:solidFill>
            <a:ln>
              <a:noFill/>
            </a:ln>
          </p:spPr>
        </p:sp>
        <p:sp>
          <p:nvSpPr>
            <p:cNvPr id="17" name="TextBox 17"/>
            <p:cNvSpPr txBox="1"/>
            <p:nvPr/>
          </p:nvSpPr>
          <p:spPr>
            <a:xfrm>
              <a:off x="6845046" y="3296602"/>
              <a:ext cx="4183375"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A new judgment dataset</a:t>
              </a:r>
            </a:p>
          </p:txBody>
        </p:sp>
        <p:sp>
          <p:nvSpPr>
            <p:cNvPr id="18" name="TextBox 18"/>
            <p:cNvSpPr txBox="1"/>
            <p:nvPr/>
          </p:nvSpPr>
          <p:spPr>
            <a:xfrm>
              <a:off x="6838950" y="4055745"/>
              <a:ext cx="1319540" cy="762000"/>
            </a:xfrm>
            <a:prstGeom prst="rect">
              <a:avLst/>
            </a:prstGeom>
            <a:noFill/>
            <a:ln>
              <a:noFill/>
            </a:ln>
          </p:spPr>
          <p:txBody>
            <a:bodyPr wrap="none" lIns="0" tIns="0" rIns="0" bIns="0" anchor="t" anchorCtr="0">
              <a:spAutoFit/>
            </a:bodyPr>
            <a:lstStyle/>
            <a:p>
              <a:pPr algn="l"/>
              <a:r>
                <a:rPr lang="en-US" sz="3900" b="1" dirty="0">
                  <a:solidFill>
                    <a:schemeClr val="accent2"/>
                  </a:solidFill>
                  <a:latin typeface="Consolas"/>
                  <a:ea typeface="Consolas"/>
                  <a:cs typeface="Consolas"/>
                </a:rPr>
                <a:t>638K</a:t>
              </a:r>
            </a:p>
          </p:txBody>
        </p:sp>
        <p:sp>
          <p:nvSpPr>
            <p:cNvPr id="19" name="TextBox 19"/>
            <p:cNvSpPr txBox="1"/>
            <p:nvPr/>
          </p:nvSpPr>
          <p:spPr>
            <a:xfrm>
              <a:off x="6848856" y="4663440"/>
              <a:ext cx="2090090"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triplet judgments</a:t>
              </a:r>
            </a:p>
          </p:txBody>
        </p:sp>
        <p:sp>
          <p:nvSpPr>
            <p:cNvPr id="20" name="TextBox 20"/>
            <p:cNvSpPr txBox="1"/>
            <p:nvPr/>
          </p:nvSpPr>
          <p:spPr>
            <a:xfrm>
              <a:off x="10267950" y="4055745"/>
              <a:ext cx="999180" cy="762000"/>
            </a:xfrm>
            <a:prstGeom prst="rect">
              <a:avLst/>
            </a:prstGeom>
            <a:noFill/>
            <a:ln>
              <a:noFill/>
            </a:ln>
          </p:spPr>
          <p:txBody>
            <a:bodyPr wrap="none" lIns="0" tIns="0" rIns="0" bIns="0" anchor="t" anchorCtr="0">
              <a:spAutoFit/>
            </a:bodyPr>
            <a:lstStyle/>
            <a:p>
              <a:pPr algn="l"/>
              <a:r>
                <a:rPr lang="en-US" sz="3900" b="1" dirty="0">
                  <a:solidFill>
                    <a:schemeClr val="accent2"/>
                  </a:solidFill>
                  <a:latin typeface="Consolas"/>
                  <a:ea typeface="Consolas"/>
                  <a:cs typeface="Consolas"/>
                </a:rPr>
                <a:t>~5K</a:t>
              </a:r>
            </a:p>
          </p:txBody>
        </p:sp>
        <p:sp>
          <p:nvSpPr>
            <p:cNvPr id="21" name="TextBox 21"/>
            <p:cNvSpPr txBox="1"/>
            <p:nvPr/>
          </p:nvSpPr>
          <p:spPr>
            <a:xfrm>
              <a:off x="10277856" y="4663440"/>
              <a:ext cx="684657"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faces</a:t>
              </a:r>
            </a:p>
          </p:txBody>
        </p:sp>
        <p:sp>
          <p:nvSpPr>
            <p:cNvPr id="22" name="TextBox 22"/>
            <p:cNvSpPr txBox="1"/>
            <p:nvPr/>
          </p:nvSpPr>
          <p:spPr>
            <a:xfrm>
              <a:off x="13700760" y="4152900"/>
              <a:ext cx="2044732" cy="586740"/>
            </a:xfrm>
            <a:prstGeom prst="rect">
              <a:avLst/>
            </a:prstGeom>
            <a:noFill/>
            <a:ln>
              <a:noFill/>
            </a:ln>
          </p:spPr>
          <p:txBody>
            <a:bodyPr wrap="none" lIns="0" tIns="0" rIns="0" bIns="0" anchor="t" anchorCtr="0">
              <a:spAutoFit/>
            </a:bodyPr>
            <a:lstStyle/>
            <a:p>
              <a:pPr algn="l"/>
              <a:r>
                <a:rPr lang="en-US" sz="3000" b="1" dirty="0">
                  <a:solidFill>
                    <a:schemeClr val="accent2"/>
                  </a:solidFill>
                  <a:latin typeface="Consolas"/>
                  <a:ea typeface="Consolas"/>
                  <a:cs typeface="Consolas"/>
                </a:rPr>
                <a:t>+ identity</a:t>
              </a:r>
            </a:p>
          </p:txBody>
        </p:sp>
        <p:sp>
          <p:nvSpPr>
            <p:cNvPr id="23" name="TextBox 23"/>
            <p:cNvSpPr txBox="1"/>
            <p:nvPr/>
          </p:nvSpPr>
          <p:spPr>
            <a:xfrm>
              <a:off x="13706856" y="4663440"/>
              <a:ext cx="1702384"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annotator id &amp;</a:t>
              </a:r>
            </a:p>
          </p:txBody>
        </p:sp>
        <p:sp>
          <p:nvSpPr>
            <p:cNvPr id="24" name="TextBox 24"/>
            <p:cNvSpPr txBox="1"/>
            <p:nvPr/>
          </p:nvSpPr>
          <p:spPr>
            <a:xfrm>
              <a:off x="13706856" y="4960620"/>
              <a:ext cx="1605458"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demographics</a:t>
              </a:r>
            </a:p>
          </p:txBody>
        </p:sp>
      </p:grpSp>
      <p:grpSp>
        <p:nvGrpSpPr>
          <p:cNvPr id="32" name="Group 32"/>
          <p:cNvGrpSpPr/>
          <p:nvPr/>
        </p:nvGrpSpPr>
        <p:grpSpPr>
          <a:xfrm>
            <a:off x="6419850" y="6000750"/>
            <a:ext cx="10820400" cy="2857500"/>
            <a:chOff x="6419850" y="6000750"/>
            <a:chExt cx="10820400" cy="2857500"/>
          </a:xfrm>
        </p:grpSpPr>
        <p:sp>
          <p:nvSpPr>
            <p:cNvPr id="26" name="Rectangle 26"/>
            <p:cNvSpPr/>
            <p:nvPr/>
          </p:nvSpPr>
          <p:spPr>
            <a:xfrm>
              <a:off x="6419850" y="6000750"/>
              <a:ext cx="10820400" cy="2857500"/>
            </a:xfrm>
            <a:prstGeom prst="roundRect">
              <a:avLst>
                <a:gd name="adj" fmla="val 6000"/>
              </a:avLst>
            </a:prstGeom>
            <a:solidFill>
              <a:srgbClr val="FFFFFF"/>
            </a:solidFill>
            <a:ln w="19050">
              <a:solidFill>
                <a:schemeClr val="accent4"/>
              </a:solidFill>
            </a:ln>
          </p:spPr>
        </p:sp>
        <p:sp>
          <p:nvSpPr>
            <p:cNvPr id="27" name="Rectangle 27"/>
            <p:cNvSpPr/>
            <p:nvPr/>
          </p:nvSpPr>
          <p:spPr>
            <a:xfrm>
              <a:off x="6419850" y="6000750"/>
              <a:ext cx="76200" cy="2857500"/>
            </a:xfrm>
            <a:prstGeom prst="roundRect">
              <a:avLst>
                <a:gd name="adj" fmla="val 50000"/>
              </a:avLst>
            </a:prstGeom>
            <a:solidFill>
              <a:schemeClr val="accent1"/>
            </a:solidFill>
            <a:ln>
              <a:noFill/>
            </a:ln>
          </p:spPr>
        </p:sp>
        <p:sp>
          <p:nvSpPr>
            <p:cNvPr id="28" name="TextBox 28"/>
            <p:cNvSpPr txBox="1"/>
            <p:nvPr/>
          </p:nvSpPr>
          <p:spPr>
            <a:xfrm>
              <a:off x="6845046" y="6439852"/>
              <a:ext cx="5804285"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A conditional learning framework</a:t>
              </a:r>
            </a:p>
          </p:txBody>
        </p:sp>
        <p:sp>
          <p:nvSpPr>
            <p:cNvPr id="29" name="TextBox 29"/>
            <p:cNvSpPr txBox="1"/>
            <p:nvPr/>
          </p:nvSpPr>
          <p:spPr>
            <a:xfrm>
              <a:off x="6847332" y="7059930"/>
              <a:ext cx="10066725" cy="410718"/>
            </a:xfrm>
            <a:prstGeom prst="rect">
              <a:avLst/>
            </a:prstGeom>
            <a:noFill/>
            <a:ln>
              <a:noFill/>
            </a:ln>
          </p:spPr>
          <p:txBody>
            <a:bodyPr wrap="none" lIns="0" tIns="0" rIns="0" bIns="0" anchor="t" anchorCtr="0">
              <a:spAutoFit/>
            </a:bodyPr>
            <a:lstStyle/>
            <a:p>
              <a:pPr algn="l"/>
              <a:r>
                <a:rPr lang="en-US" sz="2100" dirty="0">
                  <a:solidFill>
                    <a:schemeClr val="dk2"/>
                  </a:solidFill>
                  <a:latin typeface="+mn-lt"/>
                  <a:ea typeface="+mn-ea"/>
                  <a:cs typeface="+mn-cs"/>
                </a:rPr>
                <a:t>Produces a continuous, low-dimensional, human-interpretable embedding</a:t>
              </a:r>
            </a:p>
          </p:txBody>
        </p:sp>
        <p:sp>
          <p:nvSpPr>
            <p:cNvPr id="30" name="TextBox 30"/>
            <p:cNvSpPr txBox="1"/>
            <p:nvPr/>
          </p:nvSpPr>
          <p:spPr>
            <a:xfrm>
              <a:off x="6847332" y="7459980"/>
              <a:ext cx="9590799" cy="410718"/>
            </a:xfrm>
            <a:prstGeom prst="rect">
              <a:avLst/>
            </a:prstGeom>
            <a:noFill/>
            <a:ln>
              <a:noFill/>
            </a:ln>
          </p:spPr>
          <p:txBody>
            <a:bodyPr wrap="none" lIns="0" tIns="0" rIns="0" bIns="0" anchor="t" anchorCtr="0">
              <a:spAutoFit/>
            </a:bodyPr>
            <a:lstStyle/>
            <a:p>
              <a:pPr algn="l"/>
              <a:r>
                <a:rPr lang="en-US" sz="2100" dirty="0">
                  <a:solidFill>
                    <a:schemeClr val="dk2"/>
                  </a:solidFill>
                  <a:latin typeface="+mn-lt"/>
                  <a:ea typeface="+mn-ea"/>
                  <a:cs typeface="+mn-cs"/>
                </a:rPr>
                <a:t>space, plus per-annotator masks showing how different people weigh</a:t>
              </a:r>
            </a:p>
          </p:txBody>
        </p:sp>
        <p:sp>
          <p:nvSpPr>
            <p:cNvPr id="31" name="TextBox 31"/>
            <p:cNvSpPr txBox="1"/>
            <p:nvPr/>
          </p:nvSpPr>
          <p:spPr>
            <a:xfrm>
              <a:off x="6847332" y="7860030"/>
              <a:ext cx="3936759" cy="410718"/>
            </a:xfrm>
            <a:prstGeom prst="rect">
              <a:avLst/>
            </a:prstGeom>
            <a:noFill/>
            <a:ln>
              <a:noFill/>
            </a:ln>
          </p:spPr>
          <p:txBody>
            <a:bodyPr wrap="none" lIns="0" tIns="0" rIns="0" bIns="0" anchor="t" anchorCtr="0">
              <a:spAutoFit/>
            </a:bodyPr>
            <a:lstStyle/>
            <a:p>
              <a:pPr algn="l"/>
              <a:r>
                <a:rPr lang="en-US" sz="2100" dirty="0">
                  <a:solidFill>
                    <a:schemeClr val="dk2"/>
                  </a:solidFill>
                  <a:latin typeface="+mn-lt"/>
                  <a:ea typeface="+mn-ea"/>
                  <a:cs typeface="+mn-cs"/>
                </a:rPr>
                <a:t>different visual dimensions.</a:t>
              </a:r>
            </a:p>
          </p:txBody>
        </p:sp>
      </p:grpSp>
      <p:sp>
        <p:nvSpPr>
          <p:cNvPr id="33" name="Line 33"/>
          <p:cNvSpPr/>
          <p:nvPr/>
        </p:nvSpPr>
        <p:spPr>
          <a:xfrm>
            <a:off x="1047750" y="9639300"/>
            <a:ext cx="16192500" cy="9525"/>
          </a:xfrm>
          <a:custGeom>
            <a:avLst/>
            <a:gdLst/>
            <a:ahLst/>
            <a:cxnLst/>
            <a:rect l="l" t="t" r="r" b="b"/>
            <a:pathLst>
              <a:path w="16192500" h="9525">
                <a:moveTo>
                  <a:pt x="0" y="0"/>
                </a:moveTo>
                <a:lnTo>
                  <a:pt x="16192500" y="0"/>
                </a:lnTo>
              </a:path>
            </a:pathLst>
          </a:custGeom>
          <a:noFill/>
          <a:ln w="14288">
            <a:solidFill>
              <a:schemeClr val="accent4"/>
            </a:solidFill>
          </a:ln>
        </p:spPr>
        <p:txBody>
          <a:bodyPr/>
          <a:p/>
        </p:txBody>
      </p:sp>
      <p:sp>
        <p:nvSpPr>
          <p:cNvPr id="34" name="TextBox 34"/>
          <p:cNvSpPr txBox="1"/>
          <p:nvPr/>
        </p:nvSpPr>
        <p:spPr>
          <a:xfrm>
            <a:off x="1039368" y="9823132"/>
            <a:ext cx="8171916" cy="322707"/>
          </a:xfrm>
          <a:prstGeom prst="rect">
            <a:avLst/>
          </a:prstGeom>
          <a:noFill/>
          <a:ln>
            <a:noFill/>
          </a:ln>
        </p:spPr>
        <p:txBody>
          <a:bodyPr wrap="none" lIns="0" tIns="0" rIns="0" bIns="0" anchor="t" anchorCtr="0">
            <a:spAutoFit/>
          </a:bodyPr>
          <a:lstStyle/>
          <a:p>
            <a:pPr algn="l"/>
            <a:r>
              <a:rPr lang="en-US" sz="1650" dirty="0">
                <a:solidFill>
                  <a:schemeClr val="dk2"/>
                </a:solidFill>
                <a:latin typeface="+mn-lt"/>
                <a:ea typeface="+mn-ea"/>
                <a:cs typeface="+mn-cs"/>
              </a:rPr>
              <a:t>A View From Somewhere — Human-Centric Face Representations (ICLR 2023)</a:t>
            </a:r>
          </a:p>
        </p:txBody>
      </p:sp>
      <p:sp>
        <p:nvSpPr>
          <p:cNvPr id="35" name="TextBox 35"/>
          <p:cNvSpPr txBox="1"/>
          <p:nvPr/>
        </p:nvSpPr>
        <p:spPr>
          <a:xfrm>
            <a:off x="16487756" y="9823132"/>
            <a:ext cx="760876" cy="322707"/>
          </a:xfrm>
          <a:prstGeom prst="rect">
            <a:avLst/>
          </a:prstGeom>
          <a:noFill/>
          <a:ln>
            <a:noFill/>
          </a:ln>
        </p:spPr>
        <p:txBody>
          <a:bodyPr wrap="none" lIns="0" tIns="0" rIns="0" bIns="0" anchor="t" anchorCtr="0">
            <a:spAutoFit/>
          </a:bodyPr>
          <a:lstStyle/>
          <a:p>
            <a:pPr algn="r"/>
            <a:r>
              <a:rPr lang="en-US" sz="1650" dirty="0">
                <a:solidFill>
                  <a:schemeClr val="dk2"/>
                </a:solidFill>
                <a:latin typeface="Consolas"/>
                <a:ea typeface="Consolas"/>
                <a:cs typeface="Consolas"/>
              </a:rPr>
              <a:t>04 / 10</a:t>
            </a:r>
          </a:p>
        </p:txBody>
      </p:sp>
      <p:sp>
        <p:nvSpPr>
          <p:cNvPr id="36" name="cue_s04_c1_their_answer_view_somewhere_avfs" title="cue_s04_c1_their_answer_view_somewhere_avfs" descr="cue_s04_c1_their_answer_view_somewhere_avfs Their answer is A View From Somewhere, or AVFS."/>
          <p:cNvSpPr/>
          <p:nvPr/>
        </p:nvSpPr>
        <p:spPr>
          <a:xfrm>
            <a:off x="1047902" y="2857728"/>
            <a:ext cx="4952390" cy="600040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4_c2_they_collect_dataset_six_hundred" title="cue_s04_c2_they_collect_dataset_six_hundred" descr="cue_s04_c2_they_collect_dataset_six_hundred They collect a dataset of six hundred thirty-eight thousand triplet similarity judgments over nearly five thousand faces, and crucially, each judgment records the identity and self-reported demographics of the annotator who made it."/>
          <p:cNvSpPr/>
          <p:nvPr/>
        </p:nvSpPr>
        <p:spPr>
          <a:xfrm>
            <a:off x="6419088" y="2857728"/>
            <a:ext cx="10821009"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4_c3_top_they_build_conditional_learning" title="cue_s04_c3_top_they_build_conditional_learning" descr="cue_s04_c3_top_they_build_conditional_learning On top of this data they build a conditional learning framework that produces a continuous, low-dimensional, and human-interpretable embedding space, along with per-annotator masks that reveal how different people weigh different visual dimensions."/>
          <p:cNvSpPr/>
          <p:nvPr/>
        </p:nvSpPr>
        <p:spPr>
          <a:xfrm>
            <a:off x="6419088" y="6000407"/>
            <a:ext cx="10821009"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1047750" y="800100"/>
            <a:ext cx="514350" cy="76200"/>
          </a:xfrm>
          <a:prstGeom prst="roundRect">
            <a:avLst>
              <a:gd name="adj" fmla="val 50000"/>
            </a:avLst>
          </a:prstGeom>
          <a:solidFill>
            <a:schemeClr val="accent1"/>
          </a:solidFill>
          <a:ln>
            <a:noFill/>
          </a:ln>
        </p:spPr>
        <p:txBody>
          <a:bodyPr/>
          <a:p/>
        </p:txBody>
      </p:sp>
      <p:sp>
        <p:nvSpPr>
          <p:cNvPr id="3" name="TextBox 3"/>
          <p:cNvSpPr txBox="1"/>
          <p:nvPr/>
        </p:nvSpPr>
        <p:spPr>
          <a:xfrm>
            <a:off x="1704594" y="741998"/>
            <a:ext cx="1257407" cy="381381"/>
          </a:xfrm>
          <a:prstGeom prst="rect">
            <a:avLst/>
          </a:prstGeom>
          <a:noFill/>
          <a:ln>
            <a:noFill/>
          </a:ln>
        </p:spPr>
        <p:txBody>
          <a:bodyPr wrap="none" lIns="0" tIns="0" rIns="0" bIns="0" anchor="t" anchorCtr="0">
            <a:spAutoFit/>
          </a:bodyPr>
          <a:lstStyle/>
          <a:p>
            <a:pPr algn="l"/>
            <a:r>
              <a:rPr lang="en-US" sz="1950" b="1" spc="225" dirty="0">
                <a:solidFill>
                  <a:schemeClr val="accent1"/>
                </a:solidFill>
                <a:latin typeface="+mn-lt"/>
                <a:ea typeface="+mn-ea"/>
                <a:cs typeface="+mn-cs"/>
              </a:rPr>
              <a:t>METHOD</a:t>
            </a:r>
          </a:p>
        </p:txBody>
      </p:sp>
      <p:sp>
        <p:nvSpPr>
          <p:cNvPr id="4" name="TextBox 4"/>
          <p:cNvSpPr txBox="1"/>
          <p:nvPr/>
        </p:nvSpPr>
        <p:spPr>
          <a:xfrm>
            <a:off x="1028700" y="1174432"/>
            <a:ext cx="11134921" cy="904875"/>
          </a:xfrm>
          <a:prstGeom prst="rect">
            <a:avLst/>
          </a:prstGeom>
          <a:noFill/>
          <a:ln>
            <a:noFill/>
          </a:ln>
        </p:spPr>
        <p:txBody>
          <a:bodyPr wrap="none" lIns="0" tIns="0" rIns="0" bIns="0" anchor="t" anchorCtr="0">
            <a:spAutoFit/>
          </a:bodyPr>
          <a:lstStyle/>
          <a:p>
            <a:pPr algn="l"/>
            <a:r>
              <a:rPr lang="en-US" sz="4650" b="1" dirty="0">
                <a:solidFill>
                  <a:schemeClr val="dk1"/>
                </a:solidFill>
                <a:latin typeface="+mn-lt"/>
                <a:ea typeface="+mn-ea"/>
                <a:cs typeface="+mn-cs"/>
              </a:rPr>
              <a:t>Conditional odd-one-out embedding</a:t>
            </a:r>
          </a:p>
        </p:txBody>
      </p:sp>
      <p:sp>
        <p:nvSpPr>
          <p:cNvPr id="5" name="Line 5"/>
          <p:cNvSpPr/>
          <p:nvPr/>
        </p:nvSpPr>
        <p:spPr>
          <a:xfrm>
            <a:off x="1047750" y="2000250"/>
            <a:ext cx="16192500" cy="9525"/>
          </a:xfrm>
          <a:custGeom>
            <a:avLst/>
            <a:gdLst/>
            <a:ahLst/>
            <a:cxnLst/>
            <a:rect l="l" t="t" r="r" b="b"/>
            <a:pathLst>
              <a:path w="16192500" h="9525">
                <a:moveTo>
                  <a:pt x="0" y="0"/>
                </a:moveTo>
                <a:lnTo>
                  <a:pt x="16192500" y="0"/>
                </a:lnTo>
              </a:path>
            </a:pathLst>
          </a:custGeom>
          <a:noFill/>
          <a:ln w="19050">
            <a:solidFill>
              <a:schemeClr val="accent4"/>
            </a:solidFill>
          </a:ln>
        </p:spPr>
        <p:txBody>
          <a:bodyPr/>
          <a:p/>
        </p:txBody>
      </p:sp>
      <p:grpSp>
        <p:nvGrpSpPr>
          <p:cNvPr id="13" name="Group 13"/>
          <p:cNvGrpSpPr/>
          <p:nvPr/>
        </p:nvGrpSpPr>
        <p:grpSpPr>
          <a:xfrm>
            <a:off x="1047750" y="3143250"/>
            <a:ext cx="3810000" cy="4476750"/>
            <a:chOff x="1047750" y="3143250"/>
            <a:chExt cx="3810000" cy="4476750"/>
          </a:xfrm>
        </p:grpSpPr>
        <p:sp>
          <p:nvSpPr>
            <p:cNvPr id="6" name="Rectangle 6"/>
            <p:cNvSpPr/>
            <p:nvPr/>
          </p:nvSpPr>
          <p:spPr>
            <a:xfrm>
              <a:off x="1047750" y="3143250"/>
              <a:ext cx="3810000" cy="4476750"/>
            </a:xfrm>
            <a:prstGeom prst="roundRect">
              <a:avLst>
                <a:gd name="adj" fmla="val 5000"/>
              </a:avLst>
            </a:prstGeom>
            <a:solidFill>
              <a:srgbClr val="FFFFFF"/>
            </a:solidFill>
            <a:ln w="19050">
              <a:solidFill>
                <a:schemeClr val="accent4"/>
              </a:solidFill>
            </a:ln>
          </p:spPr>
        </p:sp>
        <p:sp>
          <p:nvSpPr>
            <p:cNvPr id="7" name="Rectangle 7"/>
            <p:cNvSpPr/>
            <p:nvPr/>
          </p:nvSpPr>
          <p:spPr>
            <a:xfrm>
              <a:off x="1428750" y="3562350"/>
              <a:ext cx="609600" cy="609600"/>
            </a:xfrm>
            <a:prstGeom prst="roundRect">
              <a:avLst>
                <a:gd name="adj" fmla="val 21875"/>
              </a:avLst>
            </a:prstGeom>
            <a:solidFill>
              <a:srgbClr val="E1F3F0"/>
            </a:solidFill>
            <a:ln>
              <a:noFill/>
            </a:ln>
          </p:spPr>
        </p:sp>
        <p:sp>
          <p:nvSpPr>
            <p:cNvPr id="8" name="TextBox 8"/>
            <p:cNvSpPr txBox="1"/>
            <p:nvPr/>
          </p:nvSpPr>
          <p:spPr>
            <a:xfrm>
              <a:off x="1614881" y="3689985"/>
              <a:ext cx="237338" cy="528066"/>
            </a:xfrm>
            <a:prstGeom prst="rect">
              <a:avLst/>
            </a:prstGeom>
            <a:noFill/>
            <a:ln>
              <a:noFill/>
            </a:ln>
          </p:spPr>
          <p:txBody>
            <a:bodyPr wrap="none" lIns="0" tIns="0" rIns="0" bIns="0" anchor="t" anchorCtr="0">
              <a:spAutoFit/>
            </a:bodyPr>
            <a:lstStyle/>
            <a:p>
              <a:pPr algn="ctr"/>
              <a:r>
                <a:rPr lang="en-US" sz="2700" b="1" dirty="0">
                  <a:solidFill>
                    <a:schemeClr val="accent2"/>
                  </a:solidFill>
                  <a:latin typeface="Consolas"/>
                  <a:ea typeface="Consolas"/>
                  <a:cs typeface="Consolas"/>
                </a:rPr>
                <a:t>1</a:t>
              </a:r>
            </a:p>
          </p:txBody>
        </p:sp>
        <p:sp>
          <p:nvSpPr>
            <p:cNvPr id="9" name="TextBox 9"/>
            <p:cNvSpPr txBox="1"/>
            <p:nvPr/>
          </p:nvSpPr>
          <p:spPr>
            <a:xfrm>
              <a:off x="1417701" y="4480084"/>
              <a:ext cx="2850638" cy="425386"/>
            </a:xfrm>
            <a:prstGeom prst="rect">
              <a:avLst/>
            </a:prstGeom>
            <a:noFill/>
            <a:ln>
              <a:noFill/>
            </a:ln>
          </p:spPr>
          <p:txBody>
            <a:bodyPr wrap="none" lIns="0" tIns="0" rIns="0" bIns="0" anchor="t" anchorCtr="0">
              <a:spAutoFit/>
            </a:bodyPr>
            <a:lstStyle/>
            <a:p>
              <a:pPr algn="l"/>
              <a:r>
                <a:rPr lang="en-US" sz="2180" b="1" dirty="0">
                  <a:solidFill>
                    <a:schemeClr val="dk1"/>
                  </a:solidFill>
                  <a:latin typeface="+mn-lt"/>
                  <a:ea typeface="+mn-ea"/>
                  <a:cs typeface="+mn-cs"/>
                </a:rPr>
                <a:t>ResNet-18 encoder</a:t>
              </a:r>
            </a:p>
          </p:txBody>
        </p:sp>
        <p:sp>
          <p:nvSpPr>
            <p:cNvPr id="10" name="TextBox 10"/>
            <p:cNvSpPr txBox="1"/>
            <p:nvPr/>
          </p:nvSpPr>
          <p:spPr>
            <a:xfrm>
              <a:off x="1420749" y="5087779"/>
              <a:ext cx="2546683" cy="308039"/>
            </a:xfrm>
            <a:prstGeom prst="rect">
              <a:avLst/>
            </a:prstGeom>
            <a:noFill/>
            <a:ln>
              <a:noFill/>
            </a:ln>
          </p:spPr>
          <p:txBody>
            <a:bodyPr wrap="none" lIns="0" tIns="0" rIns="0" bIns="0" anchor="t" anchorCtr="0">
              <a:spAutoFit/>
            </a:bodyPr>
            <a:lstStyle/>
            <a:p>
              <a:pPr algn="l"/>
              <a:r>
                <a:rPr lang="en-US" sz="1580" dirty="0">
                  <a:solidFill>
                    <a:schemeClr val="dk2"/>
                  </a:solidFill>
                  <a:latin typeface="Consolas"/>
                  <a:ea typeface="Consolas"/>
                  <a:cs typeface="Consolas"/>
                </a:rPr>
                <a:t>Face -&gt; 128-d embedding</a:t>
              </a:r>
            </a:p>
          </p:txBody>
        </p:sp>
        <p:sp>
          <p:nvSpPr>
            <p:cNvPr id="11" name="TextBox 11"/>
            <p:cNvSpPr txBox="1"/>
            <p:nvPr/>
          </p:nvSpPr>
          <p:spPr>
            <a:xfrm>
              <a:off x="1420749" y="5487829"/>
              <a:ext cx="2203886" cy="308039"/>
            </a:xfrm>
            <a:prstGeom prst="rect">
              <a:avLst/>
            </a:prstGeom>
            <a:noFill/>
            <a:ln>
              <a:noFill/>
            </a:ln>
          </p:spPr>
          <p:txBody>
            <a:bodyPr wrap="none" lIns="0" tIns="0" rIns="0" bIns="0" anchor="t" anchorCtr="0">
              <a:spAutoFit/>
            </a:bodyPr>
            <a:lstStyle/>
            <a:p>
              <a:pPr algn="l"/>
              <a:r>
                <a:rPr lang="en-US" sz="1580" dirty="0">
                  <a:solidFill>
                    <a:schemeClr val="dk2"/>
                  </a:solidFill>
                  <a:latin typeface="+mn-lt"/>
                  <a:ea typeface="+mn-ea"/>
                  <a:cs typeface="+mn-cs"/>
                </a:rPr>
                <a:t>Triplet odd-one-out:</a:t>
              </a:r>
            </a:p>
          </p:txBody>
        </p:sp>
        <p:sp>
          <p:nvSpPr>
            <p:cNvPr id="12" name="TextBox 12"/>
            <p:cNvSpPr txBox="1"/>
            <p:nvPr/>
          </p:nvSpPr>
          <p:spPr>
            <a:xfrm>
              <a:off x="1420749" y="5887879"/>
              <a:ext cx="2791732" cy="308039"/>
            </a:xfrm>
            <a:prstGeom prst="rect">
              <a:avLst/>
            </a:prstGeom>
            <a:noFill/>
            <a:ln>
              <a:noFill/>
            </a:ln>
          </p:spPr>
          <p:txBody>
            <a:bodyPr wrap="none" lIns="0" tIns="0" rIns="0" bIns="0" anchor="t" anchorCtr="0">
              <a:spAutoFit/>
            </a:bodyPr>
            <a:lstStyle/>
            <a:p>
              <a:pPr algn="l"/>
              <a:r>
                <a:rPr lang="en-US" sz="1580" dirty="0">
                  <a:solidFill>
                    <a:schemeClr val="dk2"/>
                  </a:solidFill>
                  <a:latin typeface="+mn-lt"/>
                  <a:ea typeface="+mn-ea"/>
                  <a:cs typeface="+mn-cs"/>
                </a:rPr>
                <a:t>pick the least-similar face</a:t>
              </a:r>
            </a:p>
          </p:txBody>
        </p:sp>
      </p:grpSp>
      <p:sp>
        <p:nvSpPr>
          <p:cNvPr id="14" name="TextBox 14"/>
          <p:cNvSpPr txBox="1"/>
          <p:nvPr/>
        </p:nvSpPr>
        <p:spPr>
          <a:xfrm>
            <a:off x="4761681" y="5172075"/>
            <a:ext cx="496938" cy="586740"/>
          </a:xfrm>
          <a:prstGeom prst="rect">
            <a:avLst/>
          </a:prstGeom>
          <a:noFill/>
          <a:ln>
            <a:noFill/>
          </a:ln>
        </p:spPr>
        <p:txBody>
          <a:bodyPr wrap="none" lIns="0" tIns="0" rIns="0" bIns="0" anchor="t" anchorCtr="0">
            <a:spAutoFit/>
          </a:bodyPr>
          <a:lstStyle/>
          <a:p>
            <a:pPr algn="ctr"/>
            <a:r>
              <a:rPr lang="en-US" sz="3000" b="1" dirty="0">
                <a:solidFill>
                  <a:schemeClr val="dk2"/>
                </a:solidFill>
                <a:latin typeface="Consolas"/>
                <a:ea typeface="Consolas"/>
                <a:cs typeface="Consolas"/>
              </a:rPr>
              <a:t>-&gt;</a:t>
            </a:r>
          </a:p>
        </p:txBody>
      </p:sp>
      <p:grpSp>
        <p:nvGrpSpPr>
          <p:cNvPr id="22" name="Group 22"/>
          <p:cNvGrpSpPr/>
          <p:nvPr/>
        </p:nvGrpSpPr>
        <p:grpSpPr>
          <a:xfrm>
            <a:off x="5172075" y="3143250"/>
            <a:ext cx="3810000" cy="4476750"/>
            <a:chOff x="5172075" y="3143250"/>
            <a:chExt cx="3810000" cy="4476750"/>
          </a:xfrm>
        </p:grpSpPr>
        <p:sp>
          <p:nvSpPr>
            <p:cNvPr id="15" name="Rectangle 15"/>
            <p:cNvSpPr/>
            <p:nvPr/>
          </p:nvSpPr>
          <p:spPr>
            <a:xfrm>
              <a:off x="5172075" y="3143250"/>
              <a:ext cx="3810000" cy="4476750"/>
            </a:xfrm>
            <a:prstGeom prst="roundRect">
              <a:avLst>
                <a:gd name="adj" fmla="val 5000"/>
              </a:avLst>
            </a:prstGeom>
            <a:solidFill>
              <a:srgbClr val="FFFFFF"/>
            </a:solidFill>
            <a:ln w="19050">
              <a:solidFill>
                <a:schemeClr val="accent4"/>
              </a:solidFill>
            </a:ln>
          </p:spPr>
        </p:sp>
        <p:sp>
          <p:nvSpPr>
            <p:cNvPr id="16" name="Rectangle 16"/>
            <p:cNvSpPr/>
            <p:nvPr/>
          </p:nvSpPr>
          <p:spPr>
            <a:xfrm>
              <a:off x="5553075" y="3562350"/>
              <a:ext cx="609600" cy="609600"/>
            </a:xfrm>
            <a:prstGeom prst="roundRect">
              <a:avLst>
                <a:gd name="adj" fmla="val 21875"/>
              </a:avLst>
            </a:prstGeom>
            <a:solidFill>
              <a:srgbClr val="ECEDFB"/>
            </a:solidFill>
            <a:ln>
              <a:noFill/>
            </a:ln>
          </p:spPr>
        </p:sp>
        <p:sp>
          <p:nvSpPr>
            <p:cNvPr id="17" name="TextBox 17"/>
            <p:cNvSpPr txBox="1"/>
            <p:nvPr/>
          </p:nvSpPr>
          <p:spPr>
            <a:xfrm>
              <a:off x="5739206" y="3689985"/>
              <a:ext cx="237338" cy="528066"/>
            </a:xfrm>
            <a:prstGeom prst="rect">
              <a:avLst/>
            </a:prstGeom>
            <a:noFill/>
            <a:ln>
              <a:noFill/>
            </a:ln>
          </p:spPr>
          <p:txBody>
            <a:bodyPr wrap="none" lIns="0" tIns="0" rIns="0" bIns="0" anchor="t" anchorCtr="0">
              <a:spAutoFit/>
            </a:bodyPr>
            <a:lstStyle/>
            <a:p>
              <a:pPr algn="ctr"/>
              <a:r>
                <a:rPr lang="en-US" sz="2700" b="1" dirty="0">
                  <a:solidFill>
                    <a:schemeClr val="accent1"/>
                  </a:solidFill>
                  <a:latin typeface="Consolas"/>
                  <a:ea typeface="Consolas"/>
                  <a:cs typeface="Consolas"/>
                </a:rPr>
                <a:t>2</a:t>
              </a:r>
            </a:p>
          </p:txBody>
        </p:sp>
        <p:sp>
          <p:nvSpPr>
            <p:cNvPr id="18" name="TextBox 18"/>
            <p:cNvSpPr txBox="1"/>
            <p:nvPr/>
          </p:nvSpPr>
          <p:spPr>
            <a:xfrm>
              <a:off x="5542026" y="4480084"/>
              <a:ext cx="3421793" cy="425386"/>
            </a:xfrm>
            <a:prstGeom prst="rect">
              <a:avLst/>
            </a:prstGeom>
            <a:noFill/>
            <a:ln>
              <a:noFill/>
            </a:ln>
          </p:spPr>
          <p:txBody>
            <a:bodyPr wrap="none" lIns="0" tIns="0" rIns="0" bIns="0" anchor="t" anchorCtr="0">
              <a:spAutoFit/>
            </a:bodyPr>
            <a:lstStyle/>
            <a:p>
              <a:pPr algn="l"/>
              <a:r>
                <a:rPr lang="en-US" sz="2180" b="1" dirty="0">
                  <a:solidFill>
                    <a:schemeClr val="dk1"/>
                  </a:solidFill>
                  <a:latin typeface="+mn-lt"/>
                  <a:ea typeface="+mn-ea"/>
                  <a:cs typeface="+mn-cs"/>
                </a:rPr>
                <a:t>Annotator gating mask</a:t>
              </a:r>
            </a:p>
          </p:txBody>
        </p:sp>
        <p:sp>
          <p:nvSpPr>
            <p:cNvPr id="19" name="TextBox 19"/>
            <p:cNvSpPr txBox="1"/>
            <p:nvPr/>
          </p:nvSpPr>
          <p:spPr>
            <a:xfrm>
              <a:off x="5545074" y="5087779"/>
              <a:ext cx="2235443" cy="308039"/>
            </a:xfrm>
            <a:prstGeom prst="rect">
              <a:avLst/>
            </a:prstGeom>
            <a:noFill/>
            <a:ln>
              <a:noFill/>
            </a:ln>
          </p:spPr>
          <p:txBody>
            <a:bodyPr wrap="none" lIns="0" tIns="0" rIns="0" bIns="0" anchor="t" anchorCtr="0">
              <a:spAutoFit/>
            </a:bodyPr>
            <a:lstStyle/>
            <a:p>
              <a:pPr algn="l"/>
              <a:r>
                <a:rPr lang="en-US" sz="1580" dirty="0">
                  <a:solidFill>
                    <a:schemeClr val="dk2"/>
                  </a:solidFill>
                  <a:latin typeface="+mn-lt"/>
                  <a:ea typeface="+mn-ea"/>
                  <a:cs typeface="+mn-cs"/>
                </a:rPr>
                <a:t>Learnable mask m per</a:t>
              </a:r>
            </a:p>
          </p:txBody>
        </p:sp>
        <p:sp>
          <p:nvSpPr>
            <p:cNvPr id="20" name="TextBox 20"/>
            <p:cNvSpPr txBox="1"/>
            <p:nvPr/>
          </p:nvSpPr>
          <p:spPr>
            <a:xfrm>
              <a:off x="5545074" y="5487829"/>
              <a:ext cx="2802367" cy="308039"/>
            </a:xfrm>
            <a:prstGeom prst="rect">
              <a:avLst/>
            </a:prstGeom>
            <a:noFill/>
            <a:ln>
              <a:noFill/>
            </a:ln>
          </p:spPr>
          <p:txBody>
            <a:bodyPr wrap="none" lIns="0" tIns="0" rIns="0" bIns="0" anchor="t" anchorCtr="0">
              <a:spAutoFit/>
            </a:bodyPr>
            <a:lstStyle/>
            <a:p>
              <a:pPr algn="l"/>
              <a:r>
                <a:rPr lang="en-US" sz="1580" dirty="0">
                  <a:solidFill>
                    <a:schemeClr val="dk2"/>
                  </a:solidFill>
                  <a:latin typeface="Consolas"/>
                  <a:ea typeface="Consolas"/>
                  <a:cs typeface="Consolas"/>
                </a:rPr>
                <a:t>annotator: m = sigmoid(w)</a:t>
              </a:r>
            </a:p>
          </p:txBody>
        </p:sp>
        <p:sp>
          <p:nvSpPr>
            <p:cNvPr id="21" name="TextBox 21"/>
            <p:cNvSpPr txBox="1"/>
            <p:nvPr/>
          </p:nvSpPr>
          <p:spPr>
            <a:xfrm>
              <a:off x="5545074" y="5887879"/>
              <a:ext cx="2249348" cy="308039"/>
            </a:xfrm>
            <a:prstGeom prst="rect">
              <a:avLst/>
            </a:prstGeom>
            <a:noFill/>
            <a:ln>
              <a:noFill/>
            </a:ln>
          </p:spPr>
          <p:txBody>
            <a:bodyPr wrap="none" lIns="0" tIns="0" rIns="0" bIns="0" anchor="t" anchorCtr="0">
              <a:spAutoFit/>
            </a:bodyPr>
            <a:lstStyle/>
            <a:p>
              <a:pPr algn="l"/>
              <a:r>
                <a:rPr lang="en-US" sz="1580" dirty="0">
                  <a:solidFill>
                    <a:schemeClr val="dk2"/>
                  </a:solidFill>
                  <a:latin typeface="+mn-lt"/>
                  <a:ea typeface="+mn-ea"/>
                  <a:cs typeface="+mn-cs"/>
                </a:rPr>
                <a:t>scales each dimension</a:t>
              </a:r>
            </a:p>
          </p:txBody>
        </p:sp>
      </p:grpSp>
      <p:sp>
        <p:nvSpPr>
          <p:cNvPr id="23" name="TextBox 23"/>
          <p:cNvSpPr txBox="1"/>
          <p:nvPr/>
        </p:nvSpPr>
        <p:spPr>
          <a:xfrm>
            <a:off x="8886006" y="5172075"/>
            <a:ext cx="496938" cy="586740"/>
          </a:xfrm>
          <a:prstGeom prst="rect">
            <a:avLst/>
          </a:prstGeom>
          <a:noFill/>
          <a:ln>
            <a:noFill/>
          </a:ln>
        </p:spPr>
        <p:txBody>
          <a:bodyPr wrap="none" lIns="0" tIns="0" rIns="0" bIns="0" anchor="t" anchorCtr="0">
            <a:spAutoFit/>
          </a:bodyPr>
          <a:lstStyle/>
          <a:p>
            <a:pPr algn="ctr"/>
            <a:r>
              <a:rPr lang="en-US" sz="3000" b="1" dirty="0">
                <a:solidFill>
                  <a:schemeClr val="dk2"/>
                </a:solidFill>
                <a:latin typeface="Consolas"/>
                <a:ea typeface="Consolas"/>
                <a:cs typeface="Consolas"/>
              </a:rPr>
              <a:t>-&gt;</a:t>
            </a:r>
          </a:p>
        </p:txBody>
      </p:sp>
      <p:grpSp>
        <p:nvGrpSpPr>
          <p:cNvPr id="31" name="Group 31"/>
          <p:cNvGrpSpPr/>
          <p:nvPr/>
        </p:nvGrpSpPr>
        <p:grpSpPr>
          <a:xfrm>
            <a:off x="9296400" y="3143250"/>
            <a:ext cx="3810000" cy="4476750"/>
            <a:chOff x="9296400" y="3143250"/>
            <a:chExt cx="3810000" cy="4476750"/>
          </a:xfrm>
        </p:grpSpPr>
        <p:sp>
          <p:nvSpPr>
            <p:cNvPr id="24" name="Rectangle 24"/>
            <p:cNvSpPr/>
            <p:nvPr/>
          </p:nvSpPr>
          <p:spPr>
            <a:xfrm>
              <a:off x="9296400" y="3143250"/>
              <a:ext cx="3810000" cy="4476750"/>
            </a:xfrm>
            <a:prstGeom prst="roundRect">
              <a:avLst>
                <a:gd name="adj" fmla="val 5000"/>
              </a:avLst>
            </a:prstGeom>
            <a:solidFill>
              <a:srgbClr val="FFFFFF"/>
            </a:solidFill>
            <a:ln w="19050">
              <a:solidFill>
                <a:schemeClr val="accent4"/>
              </a:solidFill>
            </a:ln>
          </p:spPr>
        </p:sp>
        <p:sp>
          <p:nvSpPr>
            <p:cNvPr id="25" name="Rectangle 25"/>
            <p:cNvSpPr/>
            <p:nvPr/>
          </p:nvSpPr>
          <p:spPr>
            <a:xfrm>
              <a:off x="9677400" y="3562350"/>
              <a:ext cx="609600" cy="609600"/>
            </a:xfrm>
            <a:prstGeom prst="roundRect">
              <a:avLst>
                <a:gd name="adj" fmla="val 21875"/>
              </a:avLst>
            </a:prstGeom>
            <a:solidFill>
              <a:srgbClr val="FBF0DE"/>
            </a:solidFill>
            <a:ln>
              <a:noFill/>
            </a:ln>
          </p:spPr>
        </p:sp>
        <p:sp>
          <p:nvSpPr>
            <p:cNvPr id="26" name="TextBox 26"/>
            <p:cNvSpPr txBox="1"/>
            <p:nvPr/>
          </p:nvSpPr>
          <p:spPr>
            <a:xfrm>
              <a:off x="9863531" y="3689985"/>
              <a:ext cx="237338" cy="528066"/>
            </a:xfrm>
            <a:prstGeom prst="rect">
              <a:avLst/>
            </a:prstGeom>
            <a:noFill/>
            <a:ln>
              <a:noFill/>
            </a:ln>
          </p:spPr>
          <p:txBody>
            <a:bodyPr wrap="none" lIns="0" tIns="0" rIns="0" bIns="0" anchor="t" anchorCtr="0">
              <a:spAutoFit/>
            </a:bodyPr>
            <a:lstStyle/>
            <a:p>
              <a:pPr algn="ctr"/>
              <a:r>
                <a:rPr lang="en-US" sz="2700" b="1" dirty="0">
                  <a:solidFill>
                    <a:schemeClr val="accent5"/>
                  </a:solidFill>
                  <a:latin typeface="Consolas"/>
                  <a:ea typeface="Consolas"/>
                  <a:cs typeface="Consolas"/>
                </a:rPr>
                <a:t>3</a:t>
              </a:r>
            </a:p>
          </p:txBody>
        </p:sp>
        <p:sp>
          <p:nvSpPr>
            <p:cNvPr id="27" name="TextBox 27"/>
            <p:cNvSpPr txBox="1"/>
            <p:nvPr/>
          </p:nvSpPr>
          <p:spPr>
            <a:xfrm>
              <a:off x="9666351" y="4480084"/>
              <a:ext cx="2650598" cy="425386"/>
            </a:xfrm>
            <a:prstGeom prst="rect">
              <a:avLst/>
            </a:prstGeom>
            <a:noFill/>
            <a:ln>
              <a:noFill/>
            </a:ln>
          </p:spPr>
          <p:txBody>
            <a:bodyPr wrap="none" lIns="0" tIns="0" rIns="0" bIns="0" anchor="t" anchorCtr="0">
              <a:spAutoFit/>
            </a:bodyPr>
            <a:lstStyle/>
            <a:p>
              <a:pPr algn="l"/>
              <a:r>
                <a:rPr lang="en-US" sz="2180" b="1" dirty="0">
                  <a:solidFill>
                    <a:schemeClr val="dk1"/>
                  </a:solidFill>
                  <a:latin typeface="+mn-lt"/>
                  <a:ea typeface="+mn-ea"/>
                  <a:cs typeface="+mn-cs"/>
                </a:rPr>
                <a:t>Masked similarity</a:t>
              </a:r>
            </a:p>
          </p:txBody>
        </p:sp>
        <p:sp>
          <p:nvSpPr>
            <p:cNvPr id="28" name="TextBox 28"/>
            <p:cNvSpPr txBox="1"/>
            <p:nvPr/>
          </p:nvSpPr>
          <p:spPr>
            <a:xfrm>
              <a:off x="9669399" y="5087779"/>
              <a:ext cx="2112121" cy="308039"/>
            </a:xfrm>
            <a:prstGeom prst="rect">
              <a:avLst/>
            </a:prstGeom>
            <a:noFill/>
            <a:ln>
              <a:noFill/>
            </a:ln>
          </p:spPr>
          <p:txBody>
            <a:bodyPr wrap="none" lIns="0" tIns="0" rIns="0" bIns="0" anchor="t" anchorCtr="0">
              <a:spAutoFit/>
            </a:bodyPr>
            <a:lstStyle/>
            <a:p>
              <a:pPr algn="l"/>
              <a:r>
                <a:rPr lang="en-US" sz="1580" dirty="0">
                  <a:solidFill>
                    <a:schemeClr val="dk2"/>
                  </a:solidFill>
                  <a:latin typeface="Consolas"/>
                  <a:ea typeface="Consolas"/>
                  <a:cs typeface="Consolas"/>
                </a:rPr>
                <a:t>s = &lt; ReLU(e_a)*m ,</a:t>
              </a:r>
            </a:p>
          </p:txBody>
        </p:sp>
        <p:sp>
          <p:nvSpPr>
            <p:cNvPr id="29" name="TextBox 29"/>
            <p:cNvSpPr txBox="1"/>
            <p:nvPr/>
          </p:nvSpPr>
          <p:spPr>
            <a:xfrm>
              <a:off x="9669399" y="5487829"/>
              <a:ext cx="1562804" cy="308039"/>
            </a:xfrm>
            <a:prstGeom prst="rect">
              <a:avLst/>
            </a:prstGeom>
            <a:noFill/>
            <a:ln>
              <a:noFill/>
            </a:ln>
          </p:spPr>
          <p:txBody>
            <a:bodyPr wrap="none" lIns="0" tIns="0" rIns="0" bIns="0" anchor="t" anchorCtr="0">
              <a:spAutoFit/>
            </a:bodyPr>
            <a:lstStyle/>
            <a:p>
              <a:pPr algn="l"/>
              <a:r>
                <a:rPr lang="en-US" sz="1580" dirty="0">
                  <a:solidFill>
                    <a:schemeClr val="dk2"/>
                  </a:solidFill>
                  <a:latin typeface="Consolas"/>
                  <a:ea typeface="Consolas"/>
                  <a:cs typeface="Consolas"/>
                </a:rPr>
                <a:t>ReLU(e_b)*m &gt;</a:t>
              </a:r>
            </a:p>
          </p:txBody>
        </p:sp>
        <p:sp>
          <p:nvSpPr>
            <p:cNvPr id="30" name="TextBox 30"/>
            <p:cNvSpPr txBox="1"/>
            <p:nvPr/>
          </p:nvSpPr>
          <p:spPr>
            <a:xfrm>
              <a:off x="9669399" y="5887879"/>
              <a:ext cx="2132363" cy="308039"/>
            </a:xfrm>
            <a:prstGeom prst="rect">
              <a:avLst/>
            </a:prstGeom>
            <a:noFill/>
            <a:ln>
              <a:noFill/>
            </a:ln>
          </p:spPr>
          <p:txBody>
            <a:bodyPr wrap="none" lIns="0" tIns="0" rIns="0" bIns="0" anchor="t" anchorCtr="0">
              <a:spAutoFit/>
            </a:bodyPr>
            <a:lstStyle/>
            <a:p>
              <a:pPr algn="l"/>
              <a:r>
                <a:rPr lang="en-US" sz="1580" dirty="0">
                  <a:solidFill>
                    <a:schemeClr val="dk2"/>
                  </a:solidFill>
                  <a:latin typeface="Consolas"/>
                  <a:ea typeface="Consolas"/>
                  <a:cs typeface="Consolas"/>
                </a:rPr>
                <a:t>-&gt; odd-one-out prob</a:t>
              </a:r>
            </a:p>
          </p:txBody>
        </p:sp>
      </p:grpSp>
      <p:sp>
        <p:nvSpPr>
          <p:cNvPr id="32" name="TextBox 32"/>
          <p:cNvSpPr txBox="1"/>
          <p:nvPr/>
        </p:nvSpPr>
        <p:spPr>
          <a:xfrm>
            <a:off x="13010331" y="5172075"/>
            <a:ext cx="496938" cy="586740"/>
          </a:xfrm>
          <a:prstGeom prst="rect">
            <a:avLst/>
          </a:prstGeom>
          <a:noFill/>
          <a:ln>
            <a:noFill/>
          </a:ln>
        </p:spPr>
        <p:txBody>
          <a:bodyPr wrap="none" lIns="0" tIns="0" rIns="0" bIns="0" anchor="t" anchorCtr="0">
            <a:spAutoFit/>
          </a:bodyPr>
          <a:lstStyle/>
          <a:p>
            <a:pPr algn="ctr"/>
            <a:r>
              <a:rPr lang="en-US" sz="3000" b="1" dirty="0">
                <a:solidFill>
                  <a:schemeClr val="dk2"/>
                </a:solidFill>
                <a:latin typeface="Consolas"/>
                <a:ea typeface="Consolas"/>
                <a:cs typeface="Consolas"/>
              </a:rPr>
              <a:t>-&gt;</a:t>
            </a:r>
          </a:p>
        </p:txBody>
      </p:sp>
      <p:grpSp>
        <p:nvGrpSpPr>
          <p:cNvPr id="40" name="Group 40"/>
          <p:cNvGrpSpPr/>
          <p:nvPr/>
        </p:nvGrpSpPr>
        <p:grpSpPr>
          <a:xfrm>
            <a:off x="13420725" y="3143250"/>
            <a:ext cx="3810000" cy="4476750"/>
            <a:chOff x="13420725" y="3143250"/>
            <a:chExt cx="3810000" cy="4476750"/>
          </a:xfrm>
        </p:grpSpPr>
        <p:sp>
          <p:nvSpPr>
            <p:cNvPr id="33" name="Rectangle 33"/>
            <p:cNvSpPr/>
            <p:nvPr/>
          </p:nvSpPr>
          <p:spPr>
            <a:xfrm>
              <a:off x="13420725" y="3143250"/>
              <a:ext cx="3810000" cy="4476750"/>
            </a:xfrm>
            <a:prstGeom prst="roundRect">
              <a:avLst>
                <a:gd name="adj" fmla="val 5000"/>
              </a:avLst>
            </a:prstGeom>
            <a:solidFill>
              <a:srgbClr val="FFFFFF"/>
            </a:solidFill>
            <a:ln w="19050">
              <a:solidFill>
                <a:schemeClr val="accent4"/>
              </a:solidFill>
            </a:ln>
          </p:spPr>
        </p:sp>
        <p:sp>
          <p:nvSpPr>
            <p:cNvPr id="34" name="Rectangle 34"/>
            <p:cNvSpPr/>
            <p:nvPr/>
          </p:nvSpPr>
          <p:spPr>
            <a:xfrm>
              <a:off x="13801725" y="3562350"/>
              <a:ext cx="609600" cy="609600"/>
            </a:xfrm>
            <a:prstGeom prst="roundRect">
              <a:avLst>
                <a:gd name="adj" fmla="val 21875"/>
              </a:avLst>
            </a:prstGeom>
            <a:solidFill>
              <a:srgbClr val="FBE7ED"/>
            </a:solidFill>
            <a:ln>
              <a:noFill/>
            </a:ln>
          </p:spPr>
        </p:sp>
        <p:sp>
          <p:nvSpPr>
            <p:cNvPr id="35" name="TextBox 35"/>
            <p:cNvSpPr txBox="1"/>
            <p:nvPr/>
          </p:nvSpPr>
          <p:spPr>
            <a:xfrm>
              <a:off x="13987856" y="3689985"/>
              <a:ext cx="237338" cy="528066"/>
            </a:xfrm>
            <a:prstGeom prst="rect">
              <a:avLst/>
            </a:prstGeom>
            <a:noFill/>
            <a:ln>
              <a:noFill/>
            </a:ln>
          </p:spPr>
          <p:txBody>
            <a:bodyPr wrap="none" lIns="0" tIns="0" rIns="0" bIns="0" anchor="t" anchorCtr="0">
              <a:spAutoFit/>
            </a:bodyPr>
            <a:lstStyle/>
            <a:p>
              <a:pPr algn="ctr"/>
              <a:r>
                <a:rPr lang="en-US" sz="2700" b="1" dirty="0">
                  <a:solidFill>
                    <a:schemeClr val="accent3"/>
                  </a:solidFill>
                  <a:latin typeface="Consolas"/>
                  <a:ea typeface="Consolas"/>
                  <a:cs typeface="Consolas"/>
                </a:rPr>
                <a:t>4</a:t>
              </a:r>
            </a:p>
          </p:txBody>
        </p:sp>
        <p:sp>
          <p:nvSpPr>
            <p:cNvPr id="36" name="TextBox 36"/>
            <p:cNvSpPr txBox="1"/>
            <p:nvPr/>
          </p:nvSpPr>
          <p:spPr>
            <a:xfrm>
              <a:off x="13790676" y="4480084"/>
              <a:ext cx="3361147" cy="425386"/>
            </a:xfrm>
            <a:prstGeom prst="rect">
              <a:avLst/>
            </a:prstGeom>
            <a:noFill/>
            <a:ln>
              <a:noFill/>
            </a:ln>
          </p:spPr>
          <p:txBody>
            <a:bodyPr wrap="none" lIns="0" tIns="0" rIns="0" bIns="0" anchor="t" anchorCtr="0">
              <a:spAutoFit/>
            </a:bodyPr>
            <a:lstStyle/>
            <a:p>
              <a:pPr algn="l"/>
              <a:r>
                <a:rPr lang="en-US" sz="2180" b="1" dirty="0">
                  <a:solidFill>
                    <a:schemeClr val="dk1"/>
                  </a:solidFill>
                  <a:latin typeface="+mn-lt"/>
                  <a:ea typeface="+mn-ea"/>
                  <a:cs typeface="+mn-cs"/>
                </a:rPr>
                <a:t>Sparse &amp; non-negative</a:t>
              </a:r>
            </a:p>
          </p:txBody>
        </p:sp>
        <p:sp>
          <p:nvSpPr>
            <p:cNvPr id="37" name="TextBox 37"/>
            <p:cNvSpPr txBox="1"/>
            <p:nvPr/>
          </p:nvSpPr>
          <p:spPr>
            <a:xfrm>
              <a:off x="13793724" y="5087779"/>
              <a:ext cx="2681913" cy="308039"/>
            </a:xfrm>
            <a:prstGeom prst="rect">
              <a:avLst/>
            </a:prstGeom>
            <a:noFill/>
            <a:ln>
              <a:noFill/>
            </a:ln>
          </p:spPr>
          <p:txBody>
            <a:bodyPr wrap="none" lIns="0" tIns="0" rIns="0" bIns="0" anchor="t" anchorCtr="0">
              <a:spAutoFit/>
            </a:bodyPr>
            <a:lstStyle/>
            <a:p>
              <a:pPr algn="l"/>
              <a:r>
                <a:rPr lang="en-US" sz="1580" dirty="0">
                  <a:solidFill>
                    <a:schemeClr val="dk2"/>
                  </a:solidFill>
                  <a:latin typeface="+mn-lt"/>
                  <a:ea typeface="+mn-ea"/>
                  <a:cs typeface="+mn-cs"/>
                </a:rPr>
                <a:t>Sparsity + non-negativity</a:t>
              </a:r>
            </a:p>
          </p:txBody>
        </p:sp>
        <p:sp>
          <p:nvSpPr>
            <p:cNvPr id="38" name="TextBox 38"/>
            <p:cNvSpPr txBox="1"/>
            <p:nvPr/>
          </p:nvSpPr>
          <p:spPr>
            <a:xfrm>
              <a:off x="13793724" y="5487829"/>
              <a:ext cx="2249348" cy="308039"/>
            </a:xfrm>
            <a:prstGeom prst="rect">
              <a:avLst/>
            </a:prstGeom>
            <a:noFill/>
            <a:ln>
              <a:noFill/>
            </a:ln>
          </p:spPr>
          <p:txBody>
            <a:bodyPr wrap="none" lIns="0" tIns="0" rIns="0" bIns="0" anchor="t" anchorCtr="0">
              <a:spAutoFit/>
            </a:bodyPr>
            <a:lstStyle/>
            <a:p>
              <a:pPr algn="l"/>
              <a:r>
                <a:rPr lang="en-US" sz="1580" dirty="0">
                  <a:solidFill>
                    <a:schemeClr val="dk2"/>
                  </a:solidFill>
                  <a:latin typeface="+mn-lt"/>
                  <a:ea typeface="+mn-ea"/>
                  <a:cs typeface="+mn-cs"/>
                </a:rPr>
                <a:t>penalty on dimensions</a:t>
              </a:r>
            </a:p>
          </p:txBody>
        </p:sp>
        <p:sp>
          <p:nvSpPr>
            <p:cNvPr id="39" name="TextBox 39"/>
            <p:cNvSpPr txBox="1"/>
            <p:nvPr/>
          </p:nvSpPr>
          <p:spPr>
            <a:xfrm>
              <a:off x="13793724" y="5887879"/>
              <a:ext cx="2355698" cy="308039"/>
            </a:xfrm>
            <a:prstGeom prst="rect">
              <a:avLst/>
            </a:prstGeom>
            <a:noFill/>
            <a:ln>
              <a:noFill/>
            </a:ln>
          </p:spPr>
          <p:txBody>
            <a:bodyPr wrap="none" lIns="0" tIns="0" rIns="0" bIns="0" anchor="t" anchorCtr="0">
              <a:spAutoFit/>
            </a:bodyPr>
            <a:lstStyle/>
            <a:p>
              <a:pPr algn="l"/>
              <a:r>
                <a:rPr lang="en-US" sz="1580" dirty="0">
                  <a:solidFill>
                    <a:schemeClr val="dk2"/>
                  </a:solidFill>
                  <a:latin typeface="+mn-lt"/>
                  <a:ea typeface="+mn-ea"/>
                  <a:cs typeface="+mn-cs"/>
                </a:rPr>
                <a:t>~22 active dims remain</a:t>
              </a:r>
            </a:p>
          </p:txBody>
        </p:sp>
      </p:grpSp>
      <p:sp>
        <p:nvSpPr>
          <p:cNvPr id="41" name="TextBox 41"/>
          <p:cNvSpPr txBox="1"/>
          <p:nvPr/>
        </p:nvSpPr>
        <p:spPr>
          <a:xfrm>
            <a:off x="1037844" y="8361998"/>
            <a:ext cx="12850117" cy="381381"/>
          </a:xfrm>
          <a:prstGeom prst="rect">
            <a:avLst/>
          </a:prstGeom>
          <a:noFill/>
          <a:ln>
            <a:noFill/>
          </a:ln>
        </p:spPr>
        <p:txBody>
          <a:bodyPr wrap="none" lIns="0" tIns="0" rIns="0" bIns="0" anchor="t" anchorCtr="0">
            <a:spAutoFit/>
          </a:bodyPr>
          <a:lstStyle/>
          <a:p>
            <a:pPr algn="l"/>
            <a:r>
              <a:rPr lang="en-US" sz="1950" dirty="0">
                <a:solidFill>
                  <a:schemeClr val="dk2"/>
                </a:solidFill>
                <a:latin typeface="+mn-lt"/>
                <a:ea typeface="+mn-ea"/>
                <a:cs typeface="+mn-cs"/>
              </a:rPr>
              <a:t>Trained end-to-end on 638K odd-one-out judgments; masks are the only per-annotator parameters.</a:t>
            </a:r>
          </a:p>
        </p:txBody>
      </p:sp>
      <p:sp>
        <p:nvSpPr>
          <p:cNvPr id="42" name="Line 42"/>
          <p:cNvSpPr/>
          <p:nvPr/>
        </p:nvSpPr>
        <p:spPr>
          <a:xfrm>
            <a:off x="1047750" y="9639300"/>
            <a:ext cx="16192500" cy="9525"/>
          </a:xfrm>
          <a:custGeom>
            <a:avLst/>
            <a:gdLst/>
            <a:ahLst/>
            <a:cxnLst/>
            <a:rect l="l" t="t" r="r" b="b"/>
            <a:pathLst>
              <a:path w="16192500" h="9525">
                <a:moveTo>
                  <a:pt x="0" y="0"/>
                </a:moveTo>
                <a:lnTo>
                  <a:pt x="16192500" y="0"/>
                </a:lnTo>
              </a:path>
            </a:pathLst>
          </a:custGeom>
          <a:noFill/>
          <a:ln w="14288">
            <a:solidFill>
              <a:schemeClr val="accent4"/>
            </a:solidFill>
          </a:ln>
        </p:spPr>
        <p:txBody>
          <a:bodyPr/>
          <a:p/>
        </p:txBody>
      </p:sp>
      <p:sp>
        <p:nvSpPr>
          <p:cNvPr id="43" name="TextBox 43"/>
          <p:cNvSpPr txBox="1"/>
          <p:nvPr/>
        </p:nvSpPr>
        <p:spPr>
          <a:xfrm>
            <a:off x="1039368" y="9823132"/>
            <a:ext cx="8171916" cy="322707"/>
          </a:xfrm>
          <a:prstGeom prst="rect">
            <a:avLst/>
          </a:prstGeom>
          <a:noFill/>
          <a:ln>
            <a:noFill/>
          </a:ln>
        </p:spPr>
        <p:txBody>
          <a:bodyPr wrap="none" lIns="0" tIns="0" rIns="0" bIns="0" anchor="t" anchorCtr="0">
            <a:spAutoFit/>
          </a:bodyPr>
          <a:lstStyle/>
          <a:p>
            <a:pPr algn="l"/>
            <a:r>
              <a:rPr lang="en-US" sz="1650" dirty="0">
                <a:solidFill>
                  <a:schemeClr val="dk2"/>
                </a:solidFill>
                <a:latin typeface="+mn-lt"/>
                <a:ea typeface="+mn-ea"/>
                <a:cs typeface="+mn-cs"/>
              </a:rPr>
              <a:t>A View From Somewhere — Human-Centric Face Representations (ICLR 2023)</a:t>
            </a:r>
          </a:p>
        </p:txBody>
      </p:sp>
      <p:sp>
        <p:nvSpPr>
          <p:cNvPr id="44" name="TextBox 44"/>
          <p:cNvSpPr txBox="1"/>
          <p:nvPr/>
        </p:nvSpPr>
        <p:spPr>
          <a:xfrm>
            <a:off x="16487756" y="9823132"/>
            <a:ext cx="760876" cy="322707"/>
          </a:xfrm>
          <a:prstGeom prst="rect">
            <a:avLst/>
          </a:prstGeom>
          <a:noFill/>
          <a:ln>
            <a:noFill/>
          </a:ln>
        </p:spPr>
        <p:txBody>
          <a:bodyPr wrap="none" lIns="0" tIns="0" rIns="0" bIns="0" anchor="t" anchorCtr="0">
            <a:spAutoFit/>
          </a:bodyPr>
          <a:lstStyle/>
          <a:p>
            <a:pPr algn="r"/>
            <a:r>
              <a:rPr lang="en-US" sz="1650" dirty="0">
                <a:solidFill>
                  <a:schemeClr val="dk2"/>
                </a:solidFill>
                <a:latin typeface="Consolas"/>
                <a:ea typeface="Consolas"/>
                <a:cs typeface="Consolas"/>
              </a:rPr>
              <a:t>05 / 10</a:t>
            </a:r>
          </a:p>
        </p:txBody>
      </p:sp>
      <p:sp>
        <p:nvSpPr>
          <p:cNvPr id="45" name="cue_s05_c1_core_conditional_convolutional_netwo" title="cue_s05_c1_core_conditional_convolutional_netwo" descr="cue_s05_c1_core_conditional_convolutional_netwo At the core is a conditional convolutional network, a ResNet eighteen, that maps each face to a one-hundred-twenty-eight-dimensional embedding. Training uses odd-one-out judgments: given a triplet of faces, an annotator picks the least similar one."/>
          <p:cNvSpPr/>
          <p:nvPr/>
        </p:nvSpPr>
        <p:spPr>
          <a:xfrm>
            <a:off x="1047902" y="3143707"/>
            <a:ext cx="3809390" cy="44769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5_c2_annotator_assigned_learnable_gating" title="cue_s05_c2_annotator_assigned_learnable_gating" descr="cue_s05_c2_annotator_assigned_learnable_gating Each annotator is assigned a learnable gating mask, passed through a sigmoid, that scales the importance of every embedding dimension for that person."/>
          <p:cNvSpPr/>
          <p:nvPr/>
        </p:nvSpPr>
        <p:spPr>
          <a:xfrm>
            <a:off x="5171846" y="3143707"/>
            <a:ext cx="3809390" cy="44769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5_c3_similarity_between_two_faces_dot" title="cue_s05_c3_similarity_between_two_faces_dot" descr="cue_s05_c3_similarity_between_two_faces_dot Similarity between two faces is the dot product of their masked, rectified embeddings, and the model predicts the odd-one-out probability directly from these three pairwise similarities."/>
          <p:cNvSpPr/>
          <p:nvPr/>
        </p:nvSpPr>
        <p:spPr>
          <a:xfrm>
            <a:off x="9295790" y="3143707"/>
            <a:ext cx="3809390" cy="44769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5_c4_sparsity_non_negativity_penalty_keep" title="cue_s05_c4_sparsity_non_negativity_penalty_keep" descr="cue_s05_c4_sparsity_non_negativity_penalty_keep A sparsity and non-negativity penalty keeps the dimensions few and interpretable, leaving only about twenty-two active dimensions."/>
          <p:cNvSpPr/>
          <p:nvPr/>
        </p:nvSpPr>
        <p:spPr>
          <a:xfrm>
            <a:off x="13421563" y="3143707"/>
            <a:ext cx="3809390" cy="44769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1047750" y="800100"/>
            <a:ext cx="514350" cy="76200"/>
          </a:xfrm>
          <a:prstGeom prst="roundRect">
            <a:avLst>
              <a:gd name="adj" fmla="val 50000"/>
            </a:avLst>
          </a:prstGeom>
          <a:solidFill>
            <a:schemeClr val="accent2"/>
          </a:solidFill>
          <a:ln>
            <a:noFill/>
          </a:ln>
        </p:spPr>
        <p:txBody>
          <a:bodyPr/>
          <a:p/>
        </p:txBody>
      </p:sp>
      <p:sp>
        <p:nvSpPr>
          <p:cNvPr id="3" name="TextBox 3"/>
          <p:cNvSpPr txBox="1"/>
          <p:nvPr/>
        </p:nvSpPr>
        <p:spPr>
          <a:xfrm>
            <a:off x="1704594" y="741998"/>
            <a:ext cx="3551933" cy="381381"/>
          </a:xfrm>
          <a:prstGeom prst="rect">
            <a:avLst/>
          </a:prstGeom>
          <a:noFill/>
          <a:ln>
            <a:noFill/>
          </a:ln>
        </p:spPr>
        <p:txBody>
          <a:bodyPr wrap="none" lIns="0" tIns="0" rIns="0" bIns="0" anchor="t" anchorCtr="0">
            <a:spAutoFit/>
          </a:bodyPr>
          <a:lstStyle/>
          <a:p>
            <a:pPr algn="l"/>
            <a:r>
              <a:rPr lang="en-US" sz="1950" b="1" spc="225" dirty="0">
                <a:solidFill>
                  <a:schemeClr val="accent2"/>
                </a:solidFill>
                <a:latin typeface="+mn-lt"/>
                <a:ea typeface="+mn-ea"/>
                <a:cs typeface="+mn-cs"/>
              </a:rPr>
              <a:t>DATASET / BENCHMARK</a:t>
            </a:r>
          </a:p>
        </p:txBody>
      </p:sp>
      <p:sp>
        <p:nvSpPr>
          <p:cNvPr id="4" name="TextBox 4"/>
          <p:cNvSpPr txBox="1"/>
          <p:nvPr/>
        </p:nvSpPr>
        <p:spPr>
          <a:xfrm>
            <a:off x="1028700" y="1174432"/>
            <a:ext cx="11040600" cy="904875"/>
          </a:xfrm>
          <a:prstGeom prst="rect">
            <a:avLst/>
          </a:prstGeom>
          <a:noFill/>
          <a:ln>
            <a:noFill/>
          </a:ln>
        </p:spPr>
        <p:txBody>
          <a:bodyPr wrap="none" lIns="0" tIns="0" rIns="0" bIns="0" anchor="t" anchorCtr="0">
            <a:spAutoFit/>
          </a:bodyPr>
          <a:lstStyle/>
          <a:p>
            <a:pPr algn="l"/>
            <a:r>
              <a:rPr lang="en-US" sz="4650" b="1" dirty="0">
                <a:solidFill>
                  <a:schemeClr val="dk1"/>
                </a:solidFill>
                <a:latin typeface="+mn-lt"/>
                <a:ea typeface="+mn-ea"/>
                <a:cs typeface="+mn-cs"/>
              </a:rPr>
              <a:t>638K judgments, annotator-aware</a:t>
            </a:r>
          </a:p>
        </p:txBody>
      </p:sp>
      <p:sp>
        <p:nvSpPr>
          <p:cNvPr id="5" name="Line 5"/>
          <p:cNvSpPr/>
          <p:nvPr/>
        </p:nvSpPr>
        <p:spPr>
          <a:xfrm>
            <a:off x="1047750" y="2000250"/>
            <a:ext cx="16192500" cy="9525"/>
          </a:xfrm>
          <a:custGeom>
            <a:avLst/>
            <a:gdLst/>
            <a:ahLst/>
            <a:cxnLst/>
            <a:rect l="l" t="t" r="r" b="b"/>
            <a:pathLst>
              <a:path w="16192500" h="9525">
                <a:moveTo>
                  <a:pt x="0" y="0"/>
                </a:moveTo>
                <a:lnTo>
                  <a:pt x="16192500" y="0"/>
                </a:lnTo>
              </a:path>
            </a:pathLst>
          </a:custGeom>
          <a:noFill/>
          <a:ln w="19050">
            <a:solidFill>
              <a:schemeClr val="accent4"/>
            </a:solidFill>
          </a:ln>
        </p:spPr>
        <p:txBody>
          <a:bodyPr/>
          <a:p/>
        </p:txBody>
      </p:sp>
      <p:grpSp>
        <p:nvGrpSpPr>
          <p:cNvPr id="13" name="Group 13"/>
          <p:cNvGrpSpPr/>
          <p:nvPr/>
        </p:nvGrpSpPr>
        <p:grpSpPr>
          <a:xfrm>
            <a:off x="1047750" y="2857500"/>
            <a:ext cx="7886700" cy="2857500"/>
            <a:chOff x="1047750" y="2857500"/>
            <a:chExt cx="7886700" cy="2857500"/>
          </a:xfrm>
        </p:grpSpPr>
        <p:sp>
          <p:nvSpPr>
            <p:cNvPr id="6" name="Rectangle 6"/>
            <p:cNvSpPr/>
            <p:nvPr/>
          </p:nvSpPr>
          <p:spPr>
            <a:xfrm>
              <a:off x="1047750" y="2857500"/>
              <a:ext cx="7886700" cy="2857500"/>
            </a:xfrm>
            <a:prstGeom prst="roundRect">
              <a:avLst>
                <a:gd name="adj" fmla="val 6000"/>
              </a:avLst>
            </a:prstGeom>
            <a:solidFill>
              <a:srgbClr val="FFFFFF"/>
            </a:solidFill>
            <a:ln w="19050">
              <a:solidFill>
                <a:schemeClr val="accent4"/>
              </a:solidFill>
            </a:ln>
          </p:spPr>
        </p:sp>
        <p:sp>
          <p:nvSpPr>
            <p:cNvPr id="7" name="Rectangle 7"/>
            <p:cNvSpPr/>
            <p:nvPr/>
          </p:nvSpPr>
          <p:spPr>
            <a:xfrm>
              <a:off x="1047750" y="2857500"/>
              <a:ext cx="76200" cy="2857500"/>
            </a:xfrm>
            <a:prstGeom prst="roundRect">
              <a:avLst>
                <a:gd name="adj" fmla="val 50000"/>
              </a:avLst>
            </a:prstGeom>
            <a:solidFill>
              <a:schemeClr val="accent2"/>
            </a:solidFill>
            <a:ln>
              <a:noFill/>
            </a:ln>
          </p:spPr>
        </p:sp>
        <p:sp>
          <p:nvSpPr>
            <p:cNvPr id="8" name="TextBox 8"/>
            <p:cNvSpPr txBox="1"/>
            <p:nvPr/>
          </p:nvSpPr>
          <p:spPr>
            <a:xfrm>
              <a:off x="1454658" y="3284220"/>
              <a:ext cx="3393445"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Dataset composition</a:t>
              </a:r>
            </a:p>
          </p:txBody>
        </p:sp>
        <p:sp>
          <p:nvSpPr>
            <p:cNvPr id="9" name="TextBox 9"/>
            <p:cNvSpPr txBox="1"/>
            <p:nvPr/>
          </p:nvSpPr>
          <p:spPr>
            <a:xfrm>
              <a:off x="1447800" y="3974782"/>
              <a:ext cx="2568636" cy="904875"/>
            </a:xfrm>
            <a:prstGeom prst="rect">
              <a:avLst/>
            </a:prstGeom>
            <a:noFill/>
            <a:ln>
              <a:noFill/>
            </a:ln>
          </p:spPr>
          <p:txBody>
            <a:bodyPr wrap="none" lIns="0" tIns="0" rIns="0" bIns="0" anchor="t" anchorCtr="0">
              <a:spAutoFit/>
            </a:bodyPr>
            <a:lstStyle/>
            <a:p>
              <a:pPr algn="l"/>
              <a:r>
                <a:rPr lang="en-US" sz="4650" b="1" dirty="0">
                  <a:solidFill>
                    <a:schemeClr val="accent2"/>
                  </a:solidFill>
                  <a:latin typeface="Consolas"/>
                  <a:ea typeface="Consolas"/>
                  <a:cs typeface="Consolas"/>
                </a:rPr>
                <a:t>638,000</a:t>
              </a:r>
            </a:p>
          </p:txBody>
        </p:sp>
        <p:sp>
          <p:nvSpPr>
            <p:cNvPr id="10" name="TextBox 10"/>
            <p:cNvSpPr txBox="1"/>
            <p:nvPr/>
          </p:nvSpPr>
          <p:spPr>
            <a:xfrm>
              <a:off x="1456944" y="4666298"/>
              <a:ext cx="2264264" cy="381381"/>
            </a:xfrm>
            <a:prstGeom prst="rect">
              <a:avLst/>
            </a:prstGeom>
            <a:noFill/>
            <a:ln>
              <a:noFill/>
            </a:ln>
          </p:spPr>
          <p:txBody>
            <a:bodyPr wrap="none" lIns="0" tIns="0" rIns="0" bIns="0" anchor="t" anchorCtr="0">
              <a:spAutoFit/>
            </a:bodyPr>
            <a:lstStyle/>
            <a:p>
              <a:pPr algn="l"/>
              <a:r>
                <a:rPr lang="en-US" sz="1950" dirty="0">
                  <a:solidFill>
                    <a:schemeClr val="dk2"/>
                  </a:solidFill>
                  <a:latin typeface="+mn-lt"/>
                  <a:ea typeface="+mn-ea"/>
                  <a:cs typeface="+mn-cs"/>
                </a:rPr>
                <a:t>triplet judgments</a:t>
              </a:r>
            </a:p>
          </p:txBody>
        </p:sp>
        <p:sp>
          <p:nvSpPr>
            <p:cNvPr id="11" name="TextBox 11"/>
            <p:cNvSpPr txBox="1"/>
            <p:nvPr/>
          </p:nvSpPr>
          <p:spPr>
            <a:xfrm>
              <a:off x="5314950" y="3974782"/>
              <a:ext cx="1845626" cy="904875"/>
            </a:xfrm>
            <a:prstGeom prst="rect">
              <a:avLst/>
            </a:prstGeom>
            <a:noFill/>
            <a:ln>
              <a:noFill/>
            </a:ln>
          </p:spPr>
          <p:txBody>
            <a:bodyPr wrap="none" lIns="0" tIns="0" rIns="0" bIns="0" anchor="t" anchorCtr="0">
              <a:spAutoFit/>
            </a:bodyPr>
            <a:lstStyle/>
            <a:p>
              <a:pPr algn="l"/>
              <a:r>
                <a:rPr lang="en-US" sz="4650" b="1" dirty="0">
                  <a:solidFill>
                    <a:schemeClr val="accent1"/>
                  </a:solidFill>
                  <a:latin typeface="Consolas"/>
                  <a:ea typeface="Consolas"/>
                  <a:cs typeface="Consolas"/>
                </a:rPr>
                <a:t>4,921</a:t>
              </a:r>
            </a:p>
          </p:txBody>
        </p:sp>
        <p:sp>
          <p:nvSpPr>
            <p:cNvPr id="12" name="TextBox 12"/>
            <p:cNvSpPr txBox="1"/>
            <p:nvPr/>
          </p:nvSpPr>
          <p:spPr>
            <a:xfrm>
              <a:off x="5324094" y="4666298"/>
              <a:ext cx="2487397" cy="381381"/>
            </a:xfrm>
            <a:prstGeom prst="rect">
              <a:avLst/>
            </a:prstGeom>
            <a:noFill/>
            <a:ln>
              <a:noFill/>
            </a:ln>
          </p:spPr>
          <p:txBody>
            <a:bodyPr wrap="none" lIns="0" tIns="0" rIns="0" bIns="0" anchor="t" anchorCtr="0">
              <a:spAutoFit/>
            </a:bodyPr>
            <a:lstStyle/>
            <a:p>
              <a:pPr algn="l"/>
              <a:r>
                <a:rPr lang="en-US" sz="1950" dirty="0">
                  <a:solidFill>
                    <a:schemeClr val="dk2"/>
                  </a:solidFill>
                  <a:latin typeface="+mn-lt"/>
                  <a:ea typeface="+mn-ea"/>
                  <a:cs typeface="+mn-cs"/>
                </a:rPr>
                <a:t>near-frontal faces</a:t>
              </a:r>
            </a:p>
          </p:txBody>
        </p:sp>
      </p:grpSp>
      <p:grpSp>
        <p:nvGrpSpPr>
          <p:cNvPr id="20" name="Group 20"/>
          <p:cNvGrpSpPr/>
          <p:nvPr/>
        </p:nvGrpSpPr>
        <p:grpSpPr>
          <a:xfrm>
            <a:off x="1047750" y="6000750"/>
            <a:ext cx="7886700" cy="2857500"/>
            <a:chOff x="1047750" y="6000750"/>
            <a:chExt cx="7886700" cy="2857500"/>
          </a:xfrm>
        </p:grpSpPr>
        <p:sp>
          <p:nvSpPr>
            <p:cNvPr id="14" name="Rectangle 14"/>
            <p:cNvSpPr/>
            <p:nvPr/>
          </p:nvSpPr>
          <p:spPr>
            <a:xfrm>
              <a:off x="1047750" y="6000750"/>
              <a:ext cx="7886700" cy="2857500"/>
            </a:xfrm>
            <a:prstGeom prst="roundRect">
              <a:avLst>
                <a:gd name="adj" fmla="val 6000"/>
              </a:avLst>
            </a:prstGeom>
            <a:solidFill>
              <a:srgbClr val="ECEDFB"/>
            </a:solidFill>
            <a:ln>
              <a:noFill/>
            </a:ln>
          </p:spPr>
        </p:sp>
        <p:sp>
          <p:nvSpPr>
            <p:cNvPr id="15" name="Rectangle 15"/>
            <p:cNvSpPr/>
            <p:nvPr/>
          </p:nvSpPr>
          <p:spPr>
            <a:xfrm>
              <a:off x="1047750" y="6000750"/>
              <a:ext cx="76200" cy="2857500"/>
            </a:xfrm>
            <a:prstGeom prst="roundRect">
              <a:avLst>
                <a:gd name="adj" fmla="val 50000"/>
              </a:avLst>
            </a:prstGeom>
            <a:solidFill>
              <a:schemeClr val="accent1"/>
            </a:solidFill>
            <a:ln>
              <a:noFill/>
            </a:ln>
          </p:spPr>
        </p:sp>
        <p:sp>
          <p:nvSpPr>
            <p:cNvPr id="16" name="TextBox 16"/>
            <p:cNvSpPr txBox="1"/>
            <p:nvPr/>
          </p:nvSpPr>
          <p:spPr>
            <a:xfrm>
              <a:off x="1454658" y="6427470"/>
              <a:ext cx="6684940"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Every judgment is labeled by who made it</a:t>
              </a:r>
            </a:p>
          </p:txBody>
        </p:sp>
        <p:sp>
          <p:nvSpPr>
            <p:cNvPr id="17" name="TextBox 17"/>
            <p:cNvSpPr txBox="1"/>
            <p:nvPr/>
          </p:nvSpPr>
          <p:spPr>
            <a:xfrm>
              <a:off x="1456182" y="7031355"/>
              <a:ext cx="6631541"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Each triplet records the annotator's identifier</a:t>
              </a:r>
            </a:p>
          </p:txBody>
        </p:sp>
        <p:sp>
          <p:nvSpPr>
            <p:cNvPr id="18" name="TextBox 18"/>
            <p:cNvSpPr txBox="1"/>
            <p:nvPr/>
          </p:nvSpPr>
          <p:spPr>
            <a:xfrm>
              <a:off x="1456182" y="7431405"/>
              <a:ext cx="6127699"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and self-identified demographic attributes,</a:t>
              </a:r>
            </a:p>
          </p:txBody>
        </p:sp>
        <p:sp>
          <p:nvSpPr>
            <p:cNvPr id="19" name="TextBox 19"/>
            <p:cNvSpPr txBox="1"/>
            <p:nvPr/>
          </p:nvSpPr>
          <p:spPr>
            <a:xfrm>
              <a:off x="1456182" y="7831455"/>
              <a:ext cx="5124107"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enabling per-annotator conditioning.</a:t>
              </a:r>
            </a:p>
          </p:txBody>
        </p:sp>
      </p:grpSp>
      <p:grpSp>
        <p:nvGrpSpPr>
          <p:cNvPr id="33" name="Group 33"/>
          <p:cNvGrpSpPr/>
          <p:nvPr/>
        </p:nvGrpSpPr>
        <p:grpSpPr>
          <a:xfrm>
            <a:off x="9315450" y="2857500"/>
            <a:ext cx="7924800" cy="6000750"/>
            <a:chOff x="9315450" y="2857500"/>
            <a:chExt cx="7924800" cy="6000750"/>
          </a:xfrm>
        </p:grpSpPr>
        <p:sp>
          <p:nvSpPr>
            <p:cNvPr id="21" name="Rectangle 21"/>
            <p:cNvSpPr/>
            <p:nvPr/>
          </p:nvSpPr>
          <p:spPr>
            <a:xfrm>
              <a:off x="9315450" y="2857500"/>
              <a:ext cx="7924800" cy="6000750"/>
            </a:xfrm>
            <a:prstGeom prst="roundRect">
              <a:avLst>
                <a:gd name="adj" fmla="val 2857"/>
              </a:avLst>
            </a:prstGeom>
            <a:solidFill>
              <a:srgbClr val="FFFFFF"/>
            </a:solidFill>
            <a:ln w="19050">
              <a:solidFill>
                <a:schemeClr val="accent4"/>
              </a:solidFill>
            </a:ln>
          </p:spPr>
        </p:sp>
        <p:sp>
          <p:nvSpPr>
            <p:cNvPr id="22" name="Rectangle 22"/>
            <p:cNvSpPr/>
            <p:nvPr/>
          </p:nvSpPr>
          <p:spPr>
            <a:xfrm>
              <a:off x="9315450" y="2857500"/>
              <a:ext cx="76200" cy="6000750"/>
            </a:xfrm>
            <a:prstGeom prst="roundRect">
              <a:avLst>
                <a:gd name="adj" fmla="val 50000"/>
              </a:avLst>
            </a:prstGeom>
            <a:solidFill>
              <a:schemeClr val="accent5"/>
            </a:solidFill>
            <a:ln>
              <a:noFill/>
            </a:ln>
          </p:spPr>
        </p:sp>
        <p:sp>
          <p:nvSpPr>
            <p:cNvPr id="23" name="TextBox 23"/>
            <p:cNvSpPr txBox="1"/>
            <p:nvPr/>
          </p:nvSpPr>
          <p:spPr>
            <a:xfrm>
              <a:off x="9722358" y="3284220"/>
              <a:ext cx="2952190"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Three evaluations</a:t>
              </a:r>
            </a:p>
          </p:txBody>
        </p:sp>
        <p:sp>
          <p:nvSpPr>
            <p:cNvPr id="24" name="Rectangle 24"/>
            <p:cNvSpPr/>
            <p:nvPr/>
          </p:nvSpPr>
          <p:spPr>
            <a:xfrm>
              <a:off x="9734550" y="4057650"/>
              <a:ext cx="133350" cy="133350"/>
            </a:xfrm>
            <a:prstGeom prst="roundRect">
              <a:avLst>
                <a:gd name="adj" fmla="val 21429"/>
              </a:avLst>
            </a:prstGeom>
            <a:solidFill>
              <a:schemeClr val="accent5"/>
            </a:solidFill>
            <a:ln>
              <a:noFill/>
            </a:ln>
          </p:spPr>
        </p:sp>
        <p:sp>
          <p:nvSpPr>
            <p:cNvPr id="25" name="TextBox 25"/>
            <p:cNvSpPr txBox="1"/>
            <p:nvPr/>
          </p:nvSpPr>
          <p:spPr>
            <a:xfrm>
              <a:off x="10046970" y="4138612"/>
              <a:ext cx="1940918"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Same stimuli</a:t>
              </a:r>
            </a:p>
          </p:txBody>
        </p:sp>
        <p:sp>
          <p:nvSpPr>
            <p:cNvPr id="26" name="TextBox 26"/>
            <p:cNvSpPr txBox="1"/>
            <p:nvPr/>
          </p:nvSpPr>
          <p:spPr>
            <a:xfrm>
              <a:off x="10048494" y="4571048"/>
              <a:ext cx="5952515" cy="381381"/>
            </a:xfrm>
            <a:prstGeom prst="rect">
              <a:avLst/>
            </a:prstGeom>
            <a:noFill/>
            <a:ln>
              <a:noFill/>
            </a:ln>
          </p:spPr>
          <p:txBody>
            <a:bodyPr wrap="none" lIns="0" tIns="0" rIns="0" bIns="0" anchor="t" anchorCtr="0">
              <a:spAutoFit/>
            </a:bodyPr>
            <a:lstStyle/>
            <a:p>
              <a:pPr algn="l"/>
              <a:r>
                <a:rPr lang="en-US" sz="1950" dirty="0">
                  <a:solidFill>
                    <a:schemeClr val="dk2"/>
                  </a:solidFill>
                  <a:latin typeface="+mn-lt"/>
                  <a:ea typeface="+mn-ea"/>
                  <a:cs typeface="+mn-cs"/>
                </a:rPr>
                <a:t>held-out judgments over the same 4,921 faces</a:t>
              </a:r>
            </a:p>
          </p:txBody>
        </p:sp>
        <p:sp>
          <p:nvSpPr>
            <p:cNvPr id="27" name="Rectangle 27"/>
            <p:cNvSpPr/>
            <p:nvPr/>
          </p:nvSpPr>
          <p:spPr>
            <a:xfrm>
              <a:off x="9734550" y="5375910"/>
              <a:ext cx="133350" cy="133350"/>
            </a:xfrm>
            <a:prstGeom prst="roundRect">
              <a:avLst>
                <a:gd name="adj" fmla="val 21429"/>
              </a:avLst>
            </a:prstGeom>
            <a:solidFill>
              <a:schemeClr val="accent5"/>
            </a:solidFill>
            <a:ln>
              <a:noFill/>
            </a:ln>
          </p:spPr>
        </p:sp>
        <p:sp>
          <p:nvSpPr>
            <p:cNvPr id="28" name="TextBox 28"/>
            <p:cNvSpPr txBox="1"/>
            <p:nvPr/>
          </p:nvSpPr>
          <p:spPr>
            <a:xfrm>
              <a:off x="10046970" y="5456872"/>
              <a:ext cx="197205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Novel stimuli</a:t>
              </a:r>
            </a:p>
          </p:txBody>
        </p:sp>
        <p:sp>
          <p:nvSpPr>
            <p:cNvPr id="29" name="TextBox 29"/>
            <p:cNvSpPr txBox="1"/>
            <p:nvPr/>
          </p:nvSpPr>
          <p:spPr>
            <a:xfrm>
              <a:off x="10048494" y="5889308"/>
              <a:ext cx="5374996" cy="381381"/>
            </a:xfrm>
            <a:prstGeom prst="rect">
              <a:avLst/>
            </a:prstGeom>
            <a:noFill/>
            <a:ln>
              <a:noFill/>
            </a:ln>
          </p:spPr>
          <p:txBody>
            <a:bodyPr wrap="none" lIns="0" tIns="0" rIns="0" bIns="0" anchor="t" anchorCtr="0">
              <a:spAutoFit/>
            </a:bodyPr>
            <a:lstStyle/>
            <a:p>
              <a:pPr algn="l"/>
              <a:r>
                <a:rPr lang="en-US" sz="1950" dirty="0">
                  <a:solidFill>
                    <a:schemeClr val="dk2"/>
                  </a:solidFill>
                  <a:latin typeface="+mn-lt"/>
                  <a:ea typeface="+mn-ea"/>
                  <a:cs typeface="+mn-cs"/>
                </a:rPr>
                <a:t>80,000 judgments over entirely new faces</a:t>
              </a:r>
            </a:p>
          </p:txBody>
        </p:sp>
        <p:sp>
          <p:nvSpPr>
            <p:cNvPr id="30" name="Rectangle 30"/>
            <p:cNvSpPr/>
            <p:nvPr/>
          </p:nvSpPr>
          <p:spPr>
            <a:xfrm>
              <a:off x="9734550" y="6694170"/>
              <a:ext cx="133350" cy="133350"/>
            </a:xfrm>
            <a:prstGeom prst="roundRect">
              <a:avLst>
                <a:gd name="adj" fmla="val 21429"/>
              </a:avLst>
            </a:prstGeom>
            <a:solidFill>
              <a:schemeClr val="accent5"/>
            </a:solidFill>
            <a:ln>
              <a:noFill/>
            </a:ln>
          </p:spPr>
        </p:sp>
        <p:sp>
          <p:nvSpPr>
            <p:cNvPr id="31" name="TextBox 31"/>
            <p:cNvSpPr txBox="1"/>
            <p:nvPr/>
          </p:nvSpPr>
          <p:spPr>
            <a:xfrm>
              <a:off x="10046970" y="6775132"/>
              <a:ext cx="2926658"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Semantic baselines</a:t>
              </a:r>
            </a:p>
          </p:txBody>
        </p:sp>
        <p:sp>
          <p:nvSpPr>
            <p:cNvPr id="32" name="TextBox 32"/>
            <p:cNvSpPr txBox="1"/>
            <p:nvPr/>
          </p:nvSpPr>
          <p:spPr>
            <a:xfrm>
              <a:off x="10048494" y="7207567"/>
              <a:ext cx="6551120" cy="381381"/>
            </a:xfrm>
            <a:prstGeom prst="rect">
              <a:avLst/>
            </a:prstGeom>
            <a:noFill/>
            <a:ln>
              <a:noFill/>
            </a:ln>
          </p:spPr>
          <p:txBody>
            <a:bodyPr wrap="none" lIns="0" tIns="0" rIns="0" bIns="0" anchor="t" anchorCtr="0">
              <a:spAutoFit/>
            </a:bodyPr>
            <a:lstStyle/>
            <a:p>
              <a:pPr algn="l"/>
              <a:r>
                <a:rPr lang="en-US" sz="1950" dirty="0">
                  <a:solidFill>
                    <a:schemeClr val="dk2"/>
                  </a:solidFill>
                  <a:latin typeface="+mn-lt"/>
                  <a:ea typeface="+mn-ea"/>
                  <a:cs typeface="+mn-cs"/>
                </a:rPr>
                <a:t>attribute recognizers trained on CelebA + FairFace</a:t>
              </a:r>
            </a:p>
          </p:txBody>
        </p:sp>
      </p:grpSp>
      <p:sp>
        <p:nvSpPr>
          <p:cNvPr id="34" name="Line 34"/>
          <p:cNvSpPr/>
          <p:nvPr/>
        </p:nvSpPr>
        <p:spPr>
          <a:xfrm>
            <a:off x="1047750" y="9639300"/>
            <a:ext cx="16192500" cy="9525"/>
          </a:xfrm>
          <a:custGeom>
            <a:avLst/>
            <a:gdLst/>
            <a:ahLst/>
            <a:cxnLst/>
            <a:rect l="l" t="t" r="r" b="b"/>
            <a:pathLst>
              <a:path w="16192500" h="9525">
                <a:moveTo>
                  <a:pt x="0" y="0"/>
                </a:moveTo>
                <a:lnTo>
                  <a:pt x="16192500" y="0"/>
                </a:lnTo>
              </a:path>
            </a:pathLst>
          </a:custGeom>
          <a:noFill/>
          <a:ln w="14288">
            <a:solidFill>
              <a:schemeClr val="accent4"/>
            </a:solidFill>
          </a:ln>
        </p:spPr>
        <p:txBody>
          <a:bodyPr/>
          <a:p/>
        </p:txBody>
      </p:sp>
      <p:sp>
        <p:nvSpPr>
          <p:cNvPr id="35" name="TextBox 35"/>
          <p:cNvSpPr txBox="1"/>
          <p:nvPr/>
        </p:nvSpPr>
        <p:spPr>
          <a:xfrm>
            <a:off x="1039368" y="9823132"/>
            <a:ext cx="8171916" cy="322707"/>
          </a:xfrm>
          <a:prstGeom prst="rect">
            <a:avLst/>
          </a:prstGeom>
          <a:noFill/>
          <a:ln>
            <a:noFill/>
          </a:ln>
        </p:spPr>
        <p:txBody>
          <a:bodyPr wrap="none" lIns="0" tIns="0" rIns="0" bIns="0" anchor="t" anchorCtr="0">
            <a:spAutoFit/>
          </a:bodyPr>
          <a:lstStyle/>
          <a:p>
            <a:pPr algn="l"/>
            <a:r>
              <a:rPr lang="en-US" sz="1650" dirty="0">
                <a:solidFill>
                  <a:schemeClr val="dk2"/>
                </a:solidFill>
                <a:latin typeface="+mn-lt"/>
                <a:ea typeface="+mn-ea"/>
                <a:cs typeface="+mn-cs"/>
              </a:rPr>
              <a:t>A View From Somewhere — Human-Centric Face Representations (ICLR 2023)</a:t>
            </a:r>
          </a:p>
        </p:txBody>
      </p:sp>
      <p:sp>
        <p:nvSpPr>
          <p:cNvPr id="36" name="TextBox 36"/>
          <p:cNvSpPr txBox="1"/>
          <p:nvPr/>
        </p:nvSpPr>
        <p:spPr>
          <a:xfrm>
            <a:off x="16487756" y="9823132"/>
            <a:ext cx="760876" cy="322707"/>
          </a:xfrm>
          <a:prstGeom prst="rect">
            <a:avLst/>
          </a:prstGeom>
          <a:noFill/>
          <a:ln>
            <a:noFill/>
          </a:ln>
        </p:spPr>
        <p:txBody>
          <a:bodyPr wrap="none" lIns="0" tIns="0" rIns="0" bIns="0" anchor="t" anchorCtr="0">
            <a:spAutoFit/>
          </a:bodyPr>
          <a:lstStyle/>
          <a:p>
            <a:pPr algn="r"/>
            <a:r>
              <a:rPr lang="en-US" sz="1650" dirty="0">
                <a:solidFill>
                  <a:schemeClr val="dk2"/>
                </a:solidFill>
                <a:latin typeface="Consolas"/>
                <a:ea typeface="Consolas"/>
                <a:cs typeface="Consolas"/>
              </a:rPr>
              <a:t>06 / 10</a:t>
            </a:r>
          </a:p>
        </p:txBody>
      </p:sp>
      <p:sp>
        <p:nvSpPr>
          <p:cNvPr id="37" name="cue_s06_c1_avfs_dataset_comprises_six_hundred" title="cue_s06_c1_avfs_dataset_comprises_six_hundred" descr="cue_s06_c1_avfs_dataset_comprises_six_hundred The AVFS dataset comprises six hundred thirty-eight thousand quality-controlled triplet judgments over four thousand nine hundred twenty-one near-frontal face images."/>
          <p:cNvSpPr/>
          <p:nvPr/>
        </p:nvSpPr>
        <p:spPr>
          <a:xfrm>
            <a:off x="1047902" y="2857728"/>
            <a:ext cx="7887614"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6_c2_every_single_judgment_carries_annota" title="cue_s06_c2_every_single_judgment_carries_annota" descr="cue_s06_c2_every_single_judgment_carries_annota Every single judgment carries the annotator's identifier and self-identified demographic attributes."/>
          <p:cNvSpPr/>
          <p:nvPr/>
        </p:nvSpPr>
        <p:spPr>
          <a:xfrm>
            <a:off x="1047902" y="6000407"/>
            <a:ext cx="7887614"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6_c3_authors_evaluate_held_out_judgments" title="cue_s06_c3_authors_evaluate_held_out_judgments" descr="cue_s06_c3_authors_evaluate_held_out_judgments The authors evaluate on held-out judgments over the same stimuli, on eighty thousand judgments over entirely novel faces, and against attribute-recognition baselines trained on CelebA and FairFace semantic labels."/>
          <p:cNvSpPr/>
          <p:nvPr/>
        </p:nvSpPr>
        <p:spPr>
          <a:xfrm>
            <a:off x="9315907" y="2857728"/>
            <a:ext cx="7924190" cy="600040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1047750" y="800100"/>
            <a:ext cx="514350" cy="76200"/>
          </a:xfrm>
          <a:prstGeom prst="roundRect">
            <a:avLst>
              <a:gd name="adj" fmla="val 50000"/>
            </a:avLst>
          </a:prstGeom>
          <a:solidFill>
            <a:schemeClr val="accent2"/>
          </a:solidFill>
          <a:ln>
            <a:noFill/>
          </a:ln>
        </p:spPr>
        <p:txBody>
          <a:bodyPr/>
          <a:p/>
        </p:txBody>
      </p:sp>
      <p:sp>
        <p:nvSpPr>
          <p:cNvPr id="3" name="TextBox 3"/>
          <p:cNvSpPr txBox="1"/>
          <p:nvPr/>
        </p:nvSpPr>
        <p:spPr>
          <a:xfrm>
            <a:off x="1704594" y="741998"/>
            <a:ext cx="1836839" cy="381381"/>
          </a:xfrm>
          <a:prstGeom prst="rect">
            <a:avLst/>
          </a:prstGeom>
          <a:noFill/>
          <a:ln>
            <a:noFill/>
          </a:ln>
        </p:spPr>
        <p:txBody>
          <a:bodyPr wrap="none" lIns="0" tIns="0" rIns="0" bIns="0" anchor="t" anchorCtr="0">
            <a:spAutoFit/>
          </a:bodyPr>
          <a:lstStyle/>
          <a:p>
            <a:pPr algn="l"/>
            <a:r>
              <a:rPr lang="en-US" sz="1950" b="1" spc="225" dirty="0">
                <a:solidFill>
                  <a:schemeClr val="accent2"/>
                </a:solidFill>
                <a:latin typeface="+mn-lt"/>
                <a:ea typeface="+mn-ea"/>
                <a:cs typeface="+mn-cs"/>
              </a:rPr>
              <a:t>KEY RESULT</a:t>
            </a:r>
          </a:p>
        </p:txBody>
      </p:sp>
      <p:sp>
        <p:nvSpPr>
          <p:cNvPr id="4" name="TextBox 4"/>
          <p:cNvSpPr txBox="1"/>
          <p:nvPr/>
        </p:nvSpPr>
        <p:spPr>
          <a:xfrm>
            <a:off x="1028700" y="1174432"/>
            <a:ext cx="9885068" cy="904875"/>
          </a:xfrm>
          <a:prstGeom prst="rect">
            <a:avLst/>
          </a:prstGeom>
          <a:noFill/>
          <a:ln>
            <a:noFill/>
          </a:ln>
        </p:spPr>
        <p:txBody>
          <a:bodyPr wrap="none" lIns="0" tIns="0" rIns="0" bIns="0" anchor="t" anchorCtr="0">
            <a:spAutoFit/>
          </a:bodyPr>
          <a:lstStyle/>
          <a:p>
            <a:pPr algn="l"/>
            <a:r>
              <a:rPr lang="en-US" sz="4650" b="1" dirty="0">
                <a:solidFill>
                  <a:schemeClr val="dk1"/>
                </a:solidFill>
                <a:latin typeface="+mn-lt"/>
                <a:ea typeface="+mn-ea"/>
                <a:cs typeface="+mn-cs"/>
              </a:rPr>
              <a:t>Beats semantic-label baselines</a:t>
            </a:r>
          </a:p>
        </p:txBody>
      </p:sp>
      <p:sp>
        <p:nvSpPr>
          <p:cNvPr id="5" name="Line 5"/>
          <p:cNvSpPr/>
          <p:nvPr/>
        </p:nvSpPr>
        <p:spPr>
          <a:xfrm>
            <a:off x="1047750" y="2000250"/>
            <a:ext cx="16192500" cy="9525"/>
          </a:xfrm>
          <a:custGeom>
            <a:avLst/>
            <a:gdLst/>
            <a:ahLst/>
            <a:cxnLst/>
            <a:rect l="l" t="t" r="r" b="b"/>
            <a:pathLst>
              <a:path w="16192500" h="9525">
                <a:moveTo>
                  <a:pt x="0" y="0"/>
                </a:moveTo>
                <a:lnTo>
                  <a:pt x="16192500" y="0"/>
                </a:lnTo>
              </a:path>
            </a:pathLst>
          </a:custGeom>
          <a:noFill/>
          <a:ln w="19050">
            <a:solidFill>
              <a:schemeClr val="accent4"/>
            </a:solidFill>
          </a:ln>
        </p:spPr>
        <p:txBody>
          <a:bodyPr/>
          <a:p/>
        </p:txBody>
      </p:sp>
      <p:grpSp>
        <p:nvGrpSpPr>
          <p:cNvPr id="14" name="Group 14"/>
          <p:cNvGrpSpPr/>
          <p:nvPr/>
        </p:nvGrpSpPr>
        <p:grpSpPr>
          <a:xfrm>
            <a:off x="1047750" y="2857500"/>
            <a:ext cx="10763250" cy="6000750"/>
            <a:chOff x="1047750" y="2857500"/>
            <a:chExt cx="10763250" cy="6000750"/>
          </a:xfrm>
        </p:grpSpPr>
        <p:sp>
          <p:nvSpPr>
            <p:cNvPr id="6" name="Rectangle 6"/>
            <p:cNvSpPr/>
            <p:nvPr/>
          </p:nvSpPr>
          <p:spPr>
            <a:xfrm>
              <a:off x="1047750" y="2857500"/>
              <a:ext cx="10763250" cy="6000750"/>
            </a:xfrm>
            <a:prstGeom prst="roundRect">
              <a:avLst>
                <a:gd name="adj" fmla="val 2857"/>
              </a:avLst>
            </a:prstGeom>
            <a:solidFill>
              <a:srgbClr val="FFFFFF"/>
            </a:solidFill>
            <a:ln w="19050">
              <a:solidFill>
                <a:schemeClr val="accent4"/>
              </a:solidFill>
            </a:ln>
          </p:spPr>
        </p:sp>
        <p:sp>
          <p:nvSpPr>
            <p:cNvPr id="7" name="Rectangle 7"/>
            <p:cNvSpPr/>
            <p:nvPr/>
          </p:nvSpPr>
          <p:spPr>
            <a:xfrm>
              <a:off x="1047750" y="2857500"/>
              <a:ext cx="76200" cy="6000750"/>
            </a:xfrm>
            <a:prstGeom prst="roundRect">
              <a:avLst>
                <a:gd name="adj" fmla="val 50000"/>
              </a:avLst>
            </a:prstGeom>
            <a:solidFill>
              <a:schemeClr val="accent2"/>
            </a:solidFill>
            <a:ln>
              <a:noFill/>
            </a:ln>
          </p:spPr>
        </p:sp>
        <p:sp>
          <p:nvSpPr>
            <p:cNvPr id="8" name="TextBox 8"/>
            <p:cNvSpPr txBox="1"/>
            <p:nvPr/>
          </p:nvSpPr>
          <p:spPr>
            <a:xfrm>
              <a:off x="1454658" y="3227070"/>
              <a:ext cx="6293826"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Predicting human similarity judgments</a:t>
              </a:r>
            </a:p>
          </p:txBody>
        </p:sp>
        <p:sp>
          <p:nvSpPr>
            <p:cNvPr id="9" name="TextBox 9"/>
            <p:cNvSpPr txBox="1"/>
            <p:nvPr/>
          </p:nvSpPr>
          <p:spPr>
            <a:xfrm>
              <a:off x="1457706" y="3710940"/>
              <a:ext cx="8019034"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Accuracy and Spearman's r vs. baselines trained on semantic labels</a:t>
              </a:r>
            </a:p>
          </p:txBody>
        </p:sp>
        <p:sp>
          <p:nvSpPr>
            <p:cNvPr id="10" name="TextBox 10"/>
            <p:cNvSpPr txBox="1"/>
            <p:nvPr/>
          </p:nvSpPr>
          <p:spPr>
            <a:xfrm>
              <a:off x="1456944" y="4266248"/>
              <a:ext cx="2854018"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Same stimuli (Fig. 1)</a:t>
              </a:r>
            </a:p>
          </p:txBody>
        </p:sp>
        <p:pic>
          <p:nvPicPr>
            <p:cNvPr id="11" name="Image 11"/>
            <p:cNvPicPr>
              <a:picLocks noChangeAspect="1"/>
            </p:cNvPicPr>
            <p:nvPr/>
          </p:nvPicPr>
          <p:blipFill>
            <a:blip r:embed="rId2"/>
            <a:stretch>
              <a:fillRect/>
            </a:stretch>
          </p:blipFill>
          <p:spPr>
            <a:xfrm>
              <a:off x="3638550" y="4629150"/>
              <a:ext cx="5562600" cy="1905000"/>
            </a:xfrm>
            <a:prstGeom prst="rect">
              <a:avLst/>
            </a:prstGeom>
          </p:spPr>
        </p:pic>
        <p:sp>
          <p:nvSpPr>
            <p:cNvPr id="12" name="TextBox 12"/>
            <p:cNvSpPr txBox="1"/>
            <p:nvPr/>
          </p:nvSpPr>
          <p:spPr>
            <a:xfrm>
              <a:off x="1456944" y="6742748"/>
              <a:ext cx="2880274"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n-lt"/>
                  <a:ea typeface="+mn-ea"/>
                  <a:cs typeface="+mn-cs"/>
                </a:rPr>
                <a:t>Novel stimuli (Fig. 3)</a:t>
              </a:r>
            </a:p>
          </p:txBody>
        </p:sp>
        <p:pic>
          <p:nvPicPr>
            <p:cNvPr id="13" name="Image 13"/>
            <p:cNvPicPr>
              <a:picLocks noChangeAspect="1"/>
            </p:cNvPicPr>
            <p:nvPr/>
          </p:nvPicPr>
          <p:blipFill>
            <a:blip r:embed="rId3"/>
            <a:stretch>
              <a:fillRect/>
            </a:stretch>
          </p:blipFill>
          <p:spPr>
            <a:xfrm>
              <a:off x="4194810" y="7105650"/>
              <a:ext cx="4450080" cy="1524000"/>
            </a:xfrm>
            <a:prstGeom prst="rect">
              <a:avLst/>
            </a:prstGeom>
          </p:spPr>
        </p:pic>
      </p:grpSp>
      <p:grpSp>
        <p:nvGrpSpPr>
          <p:cNvPr id="26" name="Group 26"/>
          <p:cNvGrpSpPr/>
          <p:nvPr/>
        </p:nvGrpSpPr>
        <p:grpSpPr>
          <a:xfrm>
            <a:off x="12192000" y="2857500"/>
            <a:ext cx="5048250" cy="6000750"/>
            <a:chOff x="12192000" y="2857500"/>
            <a:chExt cx="5048250" cy="6000750"/>
          </a:xfrm>
        </p:grpSpPr>
        <p:sp>
          <p:nvSpPr>
            <p:cNvPr id="15" name="Rectangle 15"/>
            <p:cNvSpPr/>
            <p:nvPr/>
          </p:nvSpPr>
          <p:spPr>
            <a:xfrm>
              <a:off x="12192000" y="2857500"/>
              <a:ext cx="5048250" cy="6000750"/>
            </a:xfrm>
            <a:prstGeom prst="roundRect">
              <a:avLst>
                <a:gd name="adj" fmla="val 3396"/>
              </a:avLst>
            </a:prstGeom>
            <a:solidFill>
              <a:srgbClr val="E1F3F0"/>
            </a:solidFill>
            <a:ln>
              <a:noFill/>
            </a:ln>
          </p:spPr>
        </p:sp>
        <p:sp>
          <p:nvSpPr>
            <p:cNvPr id="16" name="Rectangle 16"/>
            <p:cNvSpPr/>
            <p:nvPr/>
          </p:nvSpPr>
          <p:spPr>
            <a:xfrm>
              <a:off x="12192000" y="2857500"/>
              <a:ext cx="76200" cy="6000750"/>
            </a:xfrm>
            <a:prstGeom prst="roundRect">
              <a:avLst>
                <a:gd name="adj" fmla="val 50000"/>
              </a:avLst>
            </a:prstGeom>
            <a:solidFill>
              <a:schemeClr val="accent2"/>
            </a:solidFill>
            <a:ln>
              <a:noFill/>
            </a:ln>
          </p:spPr>
        </p:sp>
        <p:sp>
          <p:nvSpPr>
            <p:cNvPr id="17" name="TextBox 17"/>
            <p:cNvSpPr txBox="1"/>
            <p:nvPr/>
          </p:nvSpPr>
          <p:spPr>
            <a:xfrm>
              <a:off x="12560046" y="3268028"/>
              <a:ext cx="3010801"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Masks generalize</a:t>
              </a:r>
            </a:p>
          </p:txBody>
        </p:sp>
        <p:sp>
          <p:nvSpPr>
            <p:cNvPr id="18" name="TextBox 18"/>
            <p:cNvSpPr txBox="1"/>
            <p:nvPr/>
          </p:nvSpPr>
          <p:spPr>
            <a:xfrm>
              <a:off x="12562332" y="3964305"/>
              <a:ext cx="3606717"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Annotator-specific masks</a:t>
              </a:r>
            </a:p>
          </p:txBody>
        </p:sp>
        <p:sp>
          <p:nvSpPr>
            <p:cNvPr id="19" name="TextBox 19"/>
            <p:cNvSpPr txBox="1"/>
            <p:nvPr/>
          </p:nvSpPr>
          <p:spPr>
            <a:xfrm>
              <a:off x="12562332" y="4364355"/>
              <a:ext cx="3950894"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transfer even to triplets of</a:t>
              </a:r>
            </a:p>
          </p:txBody>
        </p:sp>
        <p:sp>
          <p:nvSpPr>
            <p:cNvPr id="20" name="TextBox 20"/>
            <p:cNvSpPr txBox="1"/>
            <p:nvPr/>
          </p:nvSpPr>
          <p:spPr>
            <a:xfrm>
              <a:off x="12562332" y="4764405"/>
              <a:ext cx="2933167"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entirely novel faces.</a:t>
              </a:r>
            </a:p>
          </p:txBody>
        </p:sp>
        <p:sp>
          <p:nvSpPr>
            <p:cNvPr id="21" name="Rectangle 21"/>
            <p:cNvSpPr/>
            <p:nvPr/>
          </p:nvSpPr>
          <p:spPr>
            <a:xfrm>
              <a:off x="12573000" y="5676900"/>
              <a:ext cx="4286250" cy="19050"/>
            </a:xfrm>
            <a:prstGeom prst="roundRect">
              <a:avLst>
                <a:gd name="adj" fmla="val 50000"/>
              </a:avLst>
            </a:prstGeom>
            <a:solidFill>
              <a:schemeClr val="accent2"/>
            </a:solidFill>
            <a:ln>
              <a:noFill/>
            </a:ln>
          </p:spPr>
        </p:sp>
        <p:sp>
          <p:nvSpPr>
            <p:cNvPr id="22" name="TextBox 22"/>
            <p:cNvSpPr txBox="1"/>
            <p:nvPr/>
          </p:nvSpPr>
          <p:spPr>
            <a:xfrm>
              <a:off x="12562713" y="6029801"/>
              <a:ext cx="3469791" cy="396050"/>
            </a:xfrm>
            <a:prstGeom prst="rect">
              <a:avLst/>
            </a:prstGeom>
            <a:noFill/>
            <a:ln>
              <a:noFill/>
            </a:ln>
          </p:spPr>
          <p:txBody>
            <a:bodyPr wrap="none" lIns="0" tIns="0" rIns="0" bIns="0" anchor="t" anchorCtr="0">
              <a:spAutoFit/>
            </a:bodyPr>
            <a:lstStyle/>
            <a:p>
              <a:pPr algn="l"/>
              <a:r>
                <a:rPr lang="en-US" sz="2020" dirty="0">
                  <a:solidFill>
                    <a:schemeClr val="dk2"/>
                  </a:solidFill>
                  <a:latin typeface="+mn-lt"/>
                  <a:ea typeface="+mn-ea"/>
                  <a:cs typeface="+mn-cs"/>
                </a:rPr>
                <a:t>The embedding is far more</a:t>
              </a:r>
            </a:p>
          </p:txBody>
        </p:sp>
        <p:sp>
          <p:nvSpPr>
            <p:cNvPr id="23" name="TextBox 23"/>
            <p:cNvSpPr txBox="1"/>
            <p:nvPr/>
          </p:nvSpPr>
          <p:spPr>
            <a:xfrm>
              <a:off x="12562713" y="6415564"/>
              <a:ext cx="3977190" cy="396050"/>
            </a:xfrm>
            <a:prstGeom prst="rect">
              <a:avLst/>
            </a:prstGeom>
            <a:noFill/>
            <a:ln>
              <a:noFill/>
            </a:ln>
          </p:spPr>
          <p:txBody>
            <a:bodyPr wrap="none" lIns="0" tIns="0" rIns="0" bIns="0" anchor="t" anchorCtr="0">
              <a:spAutoFit/>
            </a:bodyPr>
            <a:lstStyle/>
            <a:p>
              <a:pPr algn="l"/>
              <a:r>
                <a:rPr lang="en-US" sz="2020" dirty="0">
                  <a:solidFill>
                    <a:schemeClr val="dk2"/>
                  </a:solidFill>
                  <a:latin typeface="+mn-lt"/>
                  <a:ea typeface="+mn-ea"/>
                  <a:cs typeface="+mn-cs"/>
                </a:rPr>
                <a:t>aligned with the human mental</a:t>
              </a:r>
            </a:p>
          </p:txBody>
        </p:sp>
        <p:sp>
          <p:nvSpPr>
            <p:cNvPr id="24" name="TextBox 24"/>
            <p:cNvSpPr txBox="1"/>
            <p:nvPr/>
          </p:nvSpPr>
          <p:spPr>
            <a:xfrm>
              <a:off x="12562713" y="6801326"/>
              <a:ext cx="3936401" cy="396050"/>
            </a:xfrm>
            <a:prstGeom prst="rect">
              <a:avLst/>
            </a:prstGeom>
            <a:noFill/>
            <a:ln>
              <a:noFill/>
            </a:ln>
          </p:spPr>
          <p:txBody>
            <a:bodyPr wrap="none" lIns="0" tIns="0" rIns="0" bIns="0" anchor="t" anchorCtr="0">
              <a:spAutoFit/>
            </a:bodyPr>
            <a:lstStyle/>
            <a:p>
              <a:pPr algn="l"/>
              <a:r>
                <a:rPr lang="en-US" sz="2020" dirty="0">
                  <a:solidFill>
                    <a:schemeClr val="dk2"/>
                  </a:solidFill>
                  <a:latin typeface="+mn-lt"/>
                  <a:ea typeface="+mn-ea"/>
                  <a:cs typeface="+mn-cs"/>
                </a:rPr>
                <a:t>representation of faces than</a:t>
              </a:r>
            </a:p>
          </p:txBody>
        </p:sp>
        <p:sp>
          <p:nvSpPr>
            <p:cNvPr id="25" name="TextBox 25"/>
            <p:cNvSpPr txBox="1"/>
            <p:nvPr/>
          </p:nvSpPr>
          <p:spPr>
            <a:xfrm>
              <a:off x="12562713" y="7187089"/>
              <a:ext cx="4235526" cy="396050"/>
            </a:xfrm>
            <a:prstGeom prst="rect">
              <a:avLst/>
            </a:prstGeom>
            <a:noFill/>
            <a:ln>
              <a:noFill/>
            </a:ln>
          </p:spPr>
          <p:txBody>
            <a:bodyPr wrap="none" lIns="0" tIns="0" rIns="0" bIns="0" anchor="t" anchorCtr="0">
              <a:spAutoFit/>
            </a:bodyPr>
            <a:lstStyle/>
            <a:p>
              <a:pPr algn="l"/>
              <a:r>
                <a:rPr lang="en-US" sz="2020" dirty="0">
                  <a:solidFill>
                    <a:schemeClr val="dk2"/>
                  </a:solidFill>
                  <a:latin typeface="+mn-lt"/>
                  <a:ea typeface="+mn-ea"/>
                  <a:cs typeface="+mn-cs"/>
                </a:rPr>
                <a:t>spaces from categorical labels.</a:t>
              </a:r>
            </a:p>
          </p:txBody>
        </p:sp>
      </p:grpSp>
      <p:sp>
        <p:nvSpPr>
          <p:cNvPr id="27" name="Line 27"/>
          <p:cNvSpPr/>
          <p:nvPr/>
        </p:nvSpPr>
        <p:spPr>
          <a:xfrm>
            <a:off x="1047750" y="9639300"/>
            <a:ext cx="16192500" cy="9525"/>
          </a:xfrm>
          <a:custGeom>
            <a:avLst/>
            <a:gdLst/>
            <a:ahLst/>
            <a:cxnLst/>
            <a:rect l="l" t="t" r="r" b="b"/>
            <a:pathLst>
              <a:path w="16192500" h="9525">
                <a:moveTo>
                  <a:pt x="0" y="0"/>
                </a:moveTo>
                <a:lnTo>
                  <a:pt x="16192500" y="0"/>
                </a:lnTo>
              </a:path>
            </a:pathLst>
          </a:custGeom>
          <a:noFill/>
          <a:ln w="14288">
            <a:solidFill>
              <a:schemeClr val="accent4"/>
            </a:solidFill>
          </a:ln>
        </p:spPr>
        <p:txBody>
          <a:bodyPr/>
          <a:p/>
        </p:txBody>
      </p:sp>
      <p:sp>
        <p:nvSpPr>
          <p:cNvPr id="28" name="TextBox 28"/>
          <p:cNvSpPr txBox="1"/>
          <p:nvPr/>
        </p:nvSpPr>
        <p:spPr>
          <a:xfrm>
            <a:off x="1039368" y="9823132"/>
            <a:ext cx="8171916" cy="322707"/>
          </a:xfrm>
          <a:prstGeom prst="rect">
            <a:avLst/>
          </a:prstGeom>
          <a:noFill/>
          <a:ln>
            <a:noFill/>
          </a:ln>
        </p:spPr>
        <p:txBody>
          <a:bodyPr wrap="none" lIns="0" tIns="0" rIns="0" bIns="0" anchor="t" anchorCtr="0">
            <a:spAutoFit/>
          </a:bodyPr>
          <a:lstStyle/>
          <a:p>
            <a:pPr algn="l"/>
            <a:r>
              <a:rPr lang="en-US" sz="1650" dirty="0">
                <a:solidFill>
                  <a:schemeClr val="dk2"/>
                </a:solidFill>
                <a:latin typeface="+mn-lt"/>
                <a:ea typeface="+mn-ea"/>
                <a:cs typeface="+mn-cs"/>
              </a:rPr>
              <a:t>A View From Somewhere — Human-Centric Face Representations (ICLR 2023)</a:t>
            </a:r>
          </a:p>
        </p:txBody>
      </p:sp>
      <p:sp>
        <p:nvSpPr>
          <p:cNvPr id="29" name="TextBox 29"/>
          <p:cNvSpPr txBox="1"/>
          <p:nvPr/>
        </p:nvSpPr>
        <p:spPr>
          <a:xfrm>
            <a:off x="16487756" y="9823132"/>
            <a:ext cx="760876" cy="322707"/>
          </a:xfrm>
          <a:prstGeom prst="rect">
            <a:avLst/>
          </a:prstGeom>
          <a:noFill/>
          <a:ln>
            <a:noFill/>
          </a:ln>
        </p:spPr>
        <p:txBody>
          <a:bodyPr wrap="none" lIns="0" tIns="0" rIns="0" bIns="0" anchor="t" anchorCtr="0">
            <a:spAutoFit/>
          </a:bodyPr>
          <a:lstStyle/>
          <a:p>
            <a:pPr algn="r"/>
            <a:r>
              <a:rPr lang="en-US" sz="1650" dirty="0">
                <a:solidFill>
                  <a:schemeClr val="dk2"/>
                </a:solidFill>
                <a:latin typeface="Consolas"/>
                <a:ea typeface="Consolas"/>
                <a:cs typeface="Consolas"/>
              </a:rPr>
              <a:t>07 / 10</a:t>
            </a:r>
          </a:p>
        </p:txBody>
      </p:sp>
      <p:sp>
        <p:nvSpPr>
          <p:cNvPr id="30" name="cue_s07_c1_across_both_same_stimuli_novel_stimu" title="cue_s07_c1_across_both_same_stimuli_novel_stimu" descr="cue_s07_c1_across_both_same_stimuli_novel_stimu Across both the same-stimuli and the novel-stimuli evaluations, the AVFS models predict human similarity judgments more accurately than baselines trained on semantic labels, and they better capture the uncertainty in human judgments as measured by Spearman cor"/>
          <p:cNvSpPr/>
          <p:nvPr/>
        </p:nvSpPr>
        <p:spPr>
          <a:xfrm>
            <a:off x="1047902" y="2857728"/>
            <a:ext cx="10762488" cy="600040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ue_s07_c2_importantly_annotator_specific_masks" title="cue_s07_c2_importantly_annotator_specific_masks" descr="cue_s07_c2_importantly_annotator_specific_masks Importantly, the annotator-specific masks generalize even to triplets made entirely of novel, previously unseen faces, which shows the embedding space is far more closely aligned with the human mental representation of faces than spaces learned from rigid cate"/>
          <p:cNvSpPr/>
          <p:nvPr/>
        </p:nvSpPr>
        <p:spPr>
          <a:xfrm>
            <a:off x="12192609" y="2857728"/>
            <a:ext cx="5047488" cy="600040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1047750" y="800100"/>
            <a:ext cx="514350" cy="76200"/>
          </a:xfrm>
          <a:prstGeom prst="roundRect">
            <a:avLst>
              <a:gd name="adj" fmla="val 50000"/>
            </a:avLst>
          </a:prstGeom>
          <a:solidFill>
            <a:schemeClr val="accent3"/>
          </a:solidFill>
          <a:ln>
            <a:noFill/>
          </a:ln>
        </p:spPr>
        <p:txBody>
          <a:bodyPr/>
          <a:p/>
        </p:txBody>
      </p:sp>
      <p:sp>
        <p:nvSpPr>
          <p:cNvPr id="3" name="TextBox 3"/>
          <p:cNvSpPr txBox="1"/>
          <p:nvPr/>
        </p:nvSpPr>
        <p:spPr>
          <a:xfrm>
            <a:off x="1704594" y="741998"/>
            <a:ext cx="2591013" cy="381381"/>
          </a:xfrm>
          <a:prstGeom prst="rect">
            <a:avLst/>
          </a:prstGeom>
          <a:noFill/>
          <a:ln>
            <a:noFill/>
          </a:ln>
        </p:spPr>
        <p:txBody>
          <a:bodyPr wrap="none" lIns="0" tIns="0" rIns="0" bIns="0" anchor="t" anchorCtr="0">
            <a:spAutoFit/>
          </a:bodyPr>
          <a:lstStyle/>
          <a:p>
            <a:pPr algn="l"/>
            <a:r>
              <a:rPr lang="en-US" sz="1950" b="1" spc="225" dirty="0">
                <a:solidFill>
                  <a:schemeClr val="accent3"/>
                </a:solidFill>
                <a:latin typeface="+mn-lt"/>
                <a:ea typeface="+mn-ea"/>
                <a:cs typeface="+mn-cs"/>
              </a:rPr>
              <a:t>ABLATION STUDY</a:t>
            </a:r>
          </a:p>
        </p:txBody>
      </p:sp>
      <p:sp>
        <p:nvSpPr>
          <p:cNvPr id="4" name="TextBox 4"/>
          <p:cNvSpPr txBox="1"/>
          <p:nvPr/>
        </p:nvSpPr>
        <p:spPr>
          <a:xfrm>
            <a:off x="1028700" y="1174432"/>
            <a:ext cx="11528616" cy="904875"/>
          </a:xfrm>
          <a:prstGeom prst="rect">
            <a:avLst/>
          </a:prstGeom>
          <a:noFill/>
          <a:ln>
            <a:noFill/>
          </a:ln>
        </p:spPr>
        <p:txBody>
          <a:bodyPr wrap="none" lIns="0" tIns="0" rIns="0" bIns="0" anchor="t" anchorCtr="0">
            <a:spAutoFit/>
          </a:bodyPr>
          <a:lstStyle/>
          <a:p>
            <a:pPr algn="l"/>
            <a:r>
              <a:rPr lang="en-US" sz="4650" b="1" dirty="0">
                <a:solidFill>
                  <a:schemeClr val="dk1"/>
                </a:solidFill>
                <a:latin typeface="+mn-lt"/>
                <a:ea typeface="+mn-ea"/>
                <a:cs typeface="+mn-cs"/>
              </a:rPr>
              <a:t>Annotators are not interchangeable</a:t>
            </a:r>
          </a:p>
        </p:txBody>
      </p:sp>
      <p:sp>
        <p:nvSpPr>
          <p:cNvPr id="5" name="Line 5"/>
          <p:cNvSpPr/>
          <p:nvPr/>
        </p:nvSpPr>
        <p:spPr>
          <a:xfrm>
            <a:off x="1047750" y="2000250"/>
            <a:ext cx="16192500" cy="9525"/>
          </a:xfrm>
          <a:custGeom>
            <a:avLst/>
            <a:gdLst/>
            <a:ahLst/>
            <a:cxnLst/>
            <a:rect l="l" t="t" r="r" b="b"/>
            <a:pathLst>
              <a:path w="16192500" h="9525">
                <a:moveTo>
                  <a:pt x="0" y="0"/>
                </a:moveTo>
                <a:lnTo>
                  <a:pt x="16192500" y="0"/>
                </a:lnTo>
              </a:path>
            </a:pathLst>
          </a:custGeom>
          <a:noFill/>
          <a:ln w="19050">
            <a:solidFill>
              <a:schemeClr val="accent4"/>
            </a:solidFill>
          </a:ln>
        </p:spPr>
        <p:txBody>
          <a:bodyPr/>
          <a:p/>
        </p:txBody>
      </p:sp>
      <p:grpSp>
        <p:nvGrpSpPr>
          <p:cNvPr id="16" name="Group 16"/>
          <p:cNvGrpSpPr/>
          <p:nvPr/>
        </p:nvGrpSpPr>
        <p:grpSpPr>
          <a:xfrm>
            <a:off x="1047750" y="2857500"/>
            <a:ext cx="5334000" cy="6000750"/>
            <a:chOff x="1047750" y="2857500"/>
            <a:chExt cx="5334000" cy="6000750"/>
          </a:xfrm>
        </p:grpSpPr>
        <p:sp>
          <p:nvSpPr>
            <p:cNvPr id="6" name="Rectangle 6"/>
            <p:cNvSpPr/>
            <p:nvPr/>
          </p:nvSpPr>
          <p:spPr>
            <a:xfrm>
              <a:off x="1047750" y="2857500"/>
              <a:ext cx="5334000" cy="6000750"/>
            </a:xfrm>
            <a:prstGeom prst="roundRect">
              <a:avLst>
                <a:gd name="adj" fmla="val 3214"/>
              </a:avLst>
            </a:prstGeom>
            <a:solidFill>
              <a:srgbClr val="FFFFFF"/>
            </a:solidFill>
            <a:ln w="19050">
              <a:solidFill>
                <a:schemeClr val="accent4"/>
              </a:solidFill>
            </a:ln>
          </p:spPr>
        </p:sp>
        <p:sp>
          <p:nvSpPr>
            <p:cNvPr id="7" name="Rectangle 7"/>
            <p:cNvSpPr/>
            <p:nvPr/>
          </p:nvSpPr>
          <p:spPr>
            <a:xfrm>
              <a:off x="1047750" y="2857500"/>
              <a:ext cx="76200" cy="6000750"/>
            </a:xfrm>
            <a:prstGeom prst="roundRect">
              <a:avLst>
                <a:gd name="adj" fmla="val 50000"/>
              </a:avLst>
            </a:prstGeom>
            <a:solidFill>
              <a:schemeClr val="accent1"/>
            </a:solidFill>
            <a:ln>
              <a:noFill/>
            </a:ln>
          </p:spPr>
        </p:sp>
        <p:sp>
          <p:nvSpPr>
            <p:cNvPr id="8" name="TextBox 8"/>
            <p:cNvSpPr txBox="1"/>
            <p:nvPr/>
          </p:nvSpPr>
          <p:spPr>
            <a:xfrm>
              <a:off x="1453896" y="3268028"/>
              <a:ext cx="2235937"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Shuffle test</a:t>
              </a:r>
            </a:p>
          </p:txBody>
        </p:sp>
        <p:sp>
          <p:nvSpPr>
            <p:cNvPr id="9" name="TextBox 9"/>
            <p:cNvSpPr txBox="1"/>
            <p:nvPr/>
          </p:nvSpPr>
          <p:spPr>
            <a:xfrm>
              <a:off x="1456182" y="3964305"/>
              <a:ext cx="3522116" cy="410718"/>
            </a:xfrm>
            <a:prstGeom prst="rect">
              <a:avLst/>
            </a:prstGeom>
            <a:noFill/>
            <a:ln>
              <a:noFill/>
            </a:ln>
          </p:spPr>
          <p:txBody>
            <a:bodyPr wrap="none" lIns="0" tIns="0" rIns="0" bIns="0" anchor="t" anchorCtr="0">
              <a:spAutoFit/>
            </a:bodyPr>
            <a:lstStyle/>
            <a:p>
              <a:pPr algn="l"/>
              <a:r>
                <a:rPr lang="en-US" sz="2100" dirty="0">
                  <a:solidFill>
                    <a:schemeClr val="dk2"/>
                  </a:solidFill>
                  <a:latin typeface="+mn-lt"/>
                  <a:ea typeface="+mn-ea"/>
                  <a:cs typeface="+mn-cs"/>
                </a:rPr>
                <a:t>Randomly re-assign which</a:t>
              </a:r>
            </a:p>
          </p:txBody>
        </p:sp>
        <p:sp>
          <p:nvSpPr>
            <p:cNvPr id="10" name="TextBox 10"/>
            <p:cNvSpPr txBox="1"/>
            <p:nvPr/>
          </p:nvSpPr>
          <p:spPr>
            <a:xfrm>
              <a:off x="1456182" y="4364355"/>
              <a:ext cx="4615244" cy="410718"/>
            </a:xfrm>
            <a:prstGeom prst="rect">
              <a:avLst/>
            </a:prstGeom>
            <a:noFill/>
            <a:ln>
              <a:noFill/>
            </a:ln>
          </p:spPr>
          <p:txBody>
            <a:bodyPr wrap="none" lIns="0" tIns="0" rIns="0" bIns="0" anchor="t" anchorCtr="0">
              <a:spAutoFit/>
            </a:bodyPr>
            <a:lstStyle/>
            <a:p>
              <a:pPr algn="l"/>
              <a:r>
                <a:rPr lang="en-US" sz="2100" dirty="0">
                  <a:solidFill>
                    <a:schemeClr val="dk2"/>
                  </a:solidFill>
                  <a:latin typeface="+mn-lt"/>
                  <a:ea typeface="+mn-ea"/>
                  <a:cs typeface="+mn-cs"/>
                </a:rPr>
                <a:t>annotator mask attaches to each</a:t>
              </a:r>
            </a:p>
          </p:txBody>
        </p:sp>
        <p:sp>
          <p:nvSpPr>
            <p:cNvPr id="11" name="TextBox 11"/>
            <p:cNvSpPr txBox="1"/>
            <p:nvPr/>
          </p:nvSpPr>
          <p:spPr>
            <a:xfrm>
              <a:off x="1456182" y="4764405"/>
              <a:ext cx="3622942" cy="410718"/>
            </a:xfrm>
            <a:prstGeom prst="rect">
              <a:avLst/>
            </a:prstGeom>
            <a:noFill/>
            <a:ln>
              <a:noFill/>
            </a:ln>
          </p:spPr>
          <p:txBody>
            <a:bodyPr wrap="none" lIns="0" tIns="0" rIns="0" bIns="0" anchor="t" anchorCtr="0">
              <a:spAutoFit/>
            </a:bodyPr>
            <a:lstStyle/>
            <a:p>
              <a:pPr algn="l"/>
              <a:r>
                <a:rPr lang="en-US" sz="2100" dirty="0">
                  <a:solidFill>
                    <a:schemeClr val="dk2"/>
                  </a:solidFill>
                  <a:latin typeface="+mn-lt"/>
                  <a:ea typeface="+mn-ea"/>
                  <a:cs typeface="+mn-cs"/>
                </a:rPr>
                <a:t>of the 80K judgments, and</a:t>
              </a:r>
            </a:p>
          </p:txBody>
        </p:sp>
        <p:sp>
          <p:nvSpPr>
            <p:cNvPr id="12" name="TextBox 12"/>
            <p:cNvSpPr txBox="1"/>
            <p:nvPr/>
          </p:nvSpPr>
          <p:spPr>
            <a:xfrm>
              <a:off x="1456182" y="5164455"/>
              <a:ext cx="4360812" cy="410718"/>
            </a:xfrm>
            <a:prstGeom prst="rect">
              <a:avLst/>
            </a:prstGeom>
            <a:noFill/>
            <a:ln>
              <a:noFill/>
            </a:ln>
          </p:spPr>
          <p:txBody>
            <a:bodyPr wrap="none" lIns="0" tIns="0" rIns="0" bIns="0" anchor="t" anchorCtr="0">
              <a:spAutoFit/>
            </a:bodyPr>
            <a:lstStyle/>
            <a:p>
              <a:pPr algn="l"/>
              <a:r>
                <a:rPr lang="en-US" sz="2100" dirty="0">
                  <a:solidFill>
                    <a:schemeClr val="dk2"/>
                  </a:solidFill>
                  <a:latin typeface="+mn-lt"/>
                  <a:ea typeface="+mn-ea"/>
                  <a:cs typeface="+mn-cs"/>
                </a:rPr>
                <a:t>recompute accuracy 100 times.</a:t>
              </a:r>
            </a:p>
          </p:txBody>
        </p:sp>
        <p:sp>
          <p:nvSpPr>
            <p:cNvPr id="13" name="Rectangle 13"/>
            <p:cNvSpPr/>
            <p:nvPr/>
          </p:nvSpPr>
          <p:spPr>
            <a:xfrm>
              <a:off x="1466850" y="6096000"/>
              <a:ext cx="4381500" cy="2000250"/>
            </a:xfrm>
            <a:prstGeom prst="roundRect">
              <a:avLst>
                <a:gd name="adj" fmla="val 7619"/>
              </a:avLst>
            </a:prstGeom>
            <a:solidFill>
              <a:srgbClr val="ECEDFB"/>
            </a:solidFill>
            <a:ln>
              <a:noFill/>
            </a:ln>
          </p:spPr>
        </p:sp>
        <p:sp>
          <p:nvSpPr>
            <p:cNvPr id="14" name="TextBox 14"/>
            <p:cNvSpPr txBox="1"/>
            <p:nvPr/>
          </p:nvSpPr>
          <p:spPr>
            <a:xfrm>
              <a:off x="2658988" y="6404610"/>
              <a:ext cx="1997225" cy="819150"/>
            </a:xfrm>
            <a:prstGeom prst="rect">
              <a:avLst/>
            </a:prstGeom>
            <a:noFill/>
            <a:ln>
              <a:noFill/>
            </a:ln>
          </p:spPr>
          <p:txBody>
            <a:bodyPr wrap="none" lIns="0" tIns="0" rIns="0" bIns="0" anchor="t" anchorCtr="0">
              <a:spAutoFit/>
            </a:bodyPr>
            <a:lstStyle/>
            <a:p>
              <a:pPr algn="ctr"/>
              <a:r>
                <a:rPr lang="en-US" sz="4200" b="1" dirty="0">
                  <a:solidFill>
                    <a:schemeClr val="accent1"/>
                  </a:solidFill>
                  <a:latin typeface="Consolas"/>
                  <a:ea typeface="Consolas"/>
                  <a:cs typeface="Consolas"/>
                </a:rPr>
                <a:t>80,000</a:t>
              </a:r>
            </a:p>
          </p:txBody>
        </p:sp>
        <p:sp>
          <p:nvSpPr>
            <p:cNvPr id="15" name="TextBox 15"/>
            <p:cNvSpPr txBox="1"/>
            <p:nvPr/>
          </p:nvSpPr>
          <p:spPr>
            <a:xfrm>
              <a:off x="1980762" y="7123748"/>
              <a:ext cx="3353676" cy="381381"/>
            </a:xfrm>
            <a:prstGeom prst="rect">
              <a:avLst/>
            </a:prstGeom>
            <a:noFill/>
            <a:ln>
              <a:noFill/>
            </a:ln>
          </p:spPr>
          <p:txBody>
            <a:bodyPr wrap="none" lIns="0" tIns="0" rIns="0" bIns="0" anchor="t" anchorCtr="0">
              <a:spAutoFit/>
            </a:bodyPr>
            <a:lstStyle/>
            <a:p>
              <a:pPr algn="ctr"/>
              <a:r>
                <a:rPr lang="en-US" sz="1950" dirty="0">
                  <a:solidFill>
                    <a:schemeClr val="dk2"/>
                  </a:solidFill>
                  <a:latin typeface="+mn-lt"/>
                  <a:ea typeface="+mn-ea"/>
                  <a:cs typeface="+mn-cs"/>
                </a:rPr>
                <a:t>judgments · x100 shuffles</a:t>
              </a:r>
            </a:p>
          </p:txBody>
        </p:sp>
      </p:grpSp>
      <p:grpSp>
        <p:nvGrpSpPr>
          <p:cNvPr id="25" name="Group 25"/>
          <p:cNvGrpSpPr/>
          <p:nvPr/>
        </p:nvGrpSpPr>
        <p:grpSpPr>
          <a:xfrm>
            <a:off x="6762750" y="2857500"/>
            <a:ext cx="5334000" cy="6000750"/>
            <a:chOff x="6762750" y="2857500"/>
            <a:chExt cx="5334000" cy="6000750"/>
          </a:xfrm>
        </p:grpSpPr>
        <p:sp>
          <p:nvSpPr>
            <p:cNvPr id="17" name="Rectangle 17"/>
            <p:cNvSpPr/>
            <p:nvPr/>
          </p:nvSpPr>
          <p:spPr>
            <a:xfrm>
              <a:off x="6762750" y="2857500"/>
              <a:ext cx="5334000" cy="6000750"/>
            </a:xfrm>
            <a:prstGeom prst="roundRect">
              <a:avLst>
                <a:gd name="adj" fmla="val 3214"/>
              </a:avLst>
            </a:prstGeom>
            <a:solidFill>
              <a:srgbClr val="FBE7ED"/>
            </a:solidFill>
            <a:ln>
              <a:noFill/>
            </a:ln>
          </p:spPr>
        </p:sp>
        <p:sp>
          <p:nvSpPr>
            <p:cNvPr id="18" name="Rectangle 18"/>
            <p:cNvSpPr/>
            <p:nvPr/>
          </p:nvSpPr>
          <p:spPr>
            <a:xfrm>
              <a:off x="6762750" y="2857500"/>
              <a:ext cx="76200" cy="6000750"/>
            </a:xfrm>
            <a:prstGeom prst="roundRect">
              <a:avLst>
                <a:gd name="adj" fmla="val 50000"/>
              </a:avLst>
            </a:prstGeom>
            <a:solidFill>
              <a:schemeClr val="accent3"/>
            </a:solidFill>
            <a:ln>
              <a:noFill/>
            </a:ln>
          </p:spPr>
        </p:sp>
        <p:sp>
          <p:nvSpPr>
            <p:cNvPr id="19" name="TextBox 19"/>
            <p:cNvSpPr txBox="1"/>
            <p:nvPr/>
          </p:nvSpPr>
          <p:spPr>
            <a:xfrm>
              <a:off x="7860356" y="3360420"/>
              <a:ext cx="3138787" cy="469392"/>
            </a:xfrm>
            <a:prstGeom prst="rect">
              <a:avLst/>
            </a:prstGeom>
            <a:noFill/>
            <a:ln>
              <a:noFill/>
            </a:ln>
          </p:spPr>
          <p:txBody>
            <a:bodyPr wrap="none" lIns="0" tIns="0" rIns="0" bIns="0" anchor="t" anchorCtr="0">
              <a:spAutoFit/>
            </a:bodyPr>
            <a:lstStyle/>
            <a:p>
              <a:pPr algn="ctr"/>
              <a:r>
                <a:rPr lang="en-US" sz="2400" b="1" dirty="0">
                  <a:solidFill>
                    <a:schemeClr val="dk1"/>
                  </a:solidFill>
                  <a:latin typeface="+mn-lt"/>
                  <a:ea typeface="+mn-ea"/>
                  <a:cs typeface="+mn-cs"/>
                </a:rPr>
                <a:t>Accuracy collapses</a:t>
              </a:r>
            </a:p>
          </p:txBody>
        </p:sp>
        <p:sp>
          <p:nvSpPr>
            <p:cNvPr id="20" name="TextBox 20"/>
            <p:cNvSpPr txBox="1"/>
            <p:nvPr/>
          </p:nvSpPr>
          <p:spPr>
            <a:xfrm>
              <a:off x="8469302" y="4175760"/>
              <a:ext cx="1920895" cy="1390650"/>
            </a:xfrm>
            <a:prstGeom prst="rect">
              <a:avLst/>
            </a:prstGeom>
            <a:noFill/>
            <a:ln>
              <a:noFill/>
            </a:ln>
          </p:spPr>
          <p:txBody>
            <a:bodyPr wrap="none" lIns="0" tIns="0" rIns="0" bIns="0" anchor="t" anchorCtr="0">
              <a:spAutoFit/>
            </a:bodyPr>
            <a:lstStyle/>
            <a:p>
              <a:pPr algn="ctr"/>
              <a:r>
                <a:rPr lang="en-US" sz="7200" b="1" dirty="0">
                  <a:solidFill>
                    <a:schemeClr val="dk1"/>
                  </a:solidFill>
                  <a:latin typeface="Consolas"/>
                  <a:ea typeface="Consolas"/>
                  <a:cs typeface="Consolas"/>
                </a:rPr>
                <a:t>62%</a:t>
              </a:r>
            </a:p>
          </p:txBody>
        </p:sp>
        <p:sp>
          <p:nvSpPr>
            <p:cNvPr id="21" name="TextBox 21"/>
            <p:cNvSpPr txBox="1"/>
            <p:nvPr/>
          </p:nvSpPr>
          <p:spPr>
            <a:xfrm>
              <a:off x="8369808" y="5123498"/>
              <a:ext cx="2119884" cy="381381"/>
            </a:xfrm>
            <a:prstGeom prst="rect">
              <a:avLst/>
            </a:prstGeom>
            <a:noFill/>
            <a:ln>
              <a:noFill/>
            </a:ln>
          </p:spPr>
          <p:txBody>
            <a:bodyPr wrap="none" lIns="0" tIns="0" rIns="0" bIns="0" anchor="t" anchorCtr="0">
              <a:spAutoFit/>
            </a:bodyPr>
            <a:lstStyle/>
            <a:p>
              <a:pPr algn="ctr"/>
              <a:r>
                <a:rPr lang="en-US" sz="1950" dirty="0">
                  <a:solidFill>
                    <a:schemeClr val="dk2"/>
                  </a:solidFill>
                  <a:latin typeface="+mn-lt"/>
                  <a:ea typeface="+mn-ea"/>
                  <a:cs typeface="+mn-cs"/>
                </a:rPr>
                <a:t>true annotators</a:t>
              </a:r>
            </a:p>
          </p:txBody>
        </p:sp>
        <p:sp>
          <p:nvSpPr>
            <p:cNvPr id="22" name="TextBox 22"/>
            <p:cNvSpPr txBox="1"/>
            <p:nvPr/>
          </p:nvSpPr>
          <p:spPr>
            <a:xfrm>
              <a:off x="9297895" y="5391150"/>
              <a:ext cx="263709" cy="586740"/>
            </a:xfrm>
            <a:prstGeom prst="rect">
              <a:avLst/>
            </a:prstGeom>
            <a:noFill/>
            <a:ln>
              <a:noFill/>
            </a:ln>
          </p:spPr>
          <p:txBody>
            <a:bodyPr wrap="none" lIns="0" tIns="0" rIns="0" bIns="0" anchor="t" anchorCtr="0">
              <a:spAutoFit/>
            </a:bodyPr>
            <a:lstStyle/>
            <a:p>
              <a:pPr algn="ctr"/>
              <a:r>
                <a:rPr lang="en-US" sz="3000" b="1" dirty="0">
                  <a:solidFill>
                    <a:schemeClr val="accent3"/>
                  </a:solidFill>
                  <a:latin typeface="+mn-lt"/>
                  <a:ea typeface="+mn-ea"/>
                  <a:cs typeface="+mn-cs"/>
                </a:rPr>
                <a:t>v</a:t>
              </a:r>
            </a:p>
          </p:txBody>
        </p:sp>
        <p:sp>
          <p:nvSpPr>
            <p:cNvPr id="23" name="TextBox 23"/>
            <p:cNvSpPr txBox="1"/>
            <p:nvPr/>
          </p:nvSpPr>
          <p:spPr>
            <a:xfrm>
              <a:off x="8469302" y="6080760"/>
              <a:ext cx="1920895" cy="1390650"/>
            </a:xfrm>
            <a:prstGeom prst="rect">
              <a:avLst/>
            </a:prstGeom>
            <a:noFill/>
            <a:ln>
              <a:noFill/>
            </a:ln>
          </p:spPr>
          <p:txBody>
            <a:bodyPr wrap="none" lIns="0" tIns="0" rIns="0" bIns="0" anchor="t" anchorCtr="0">
              <a:spAutoFit/>
            </a:bodyPr>
            <a:lstStyle/>
            <a:p>
              <a:pPr algn="ctr"/>
              <a:r>
                <a:rPr lang="en-US" sz="7200" b="1" dirty="0">
                  <a:solidFill>
                    <a:schemeClr val="accent3"/>
                  </a:solidFill>
                  <a:latin typeface="Consolas"/>
                  <a:ea typeface="Consolas"/>
                  <a:cs typeface="Consolas"/>
                </a:rPr>
                <a:t>53%</a:t>
              </a:r>
            </a:p>
          </p:txBody>
        </p:sp>
        <p:sp>
          <p:nvSpPr>
            <p:cNvPr id="24" name="TextBox 24"/>
            <p:cNvSpPr txBox="1"/>
            <p:nvPr/>
          </p:nvSpPr>
          <p:spPr>
            <a:xfrm>
              <a:off x="8113862" y="7028498"/>
              <a:ext cx="2631777" cy="381381"/>
            </a:xfrm>
            <a:prstGeom prst="rect">
              <a:avLst/>
            </a:prstGeom>
            <a:noFill/>
            <a:ln>
              <a:noFill/>
            </a:ln>
          </p:spPr>
          <p:txBody>
            <a:bodyPr wrap="none" lIns="0" tIns="0" rIns="0" bIns="0" anchor="t" anchorCtr="0">
              <a:spAutoFit/>
            </a:bodyPr>
            <a:lstStyle/>
            <a:p>
              <a:pPr algn="ctr"/>
              <a:r>
                <a:rPr lang="en-US" sz="1950" dirty="0">
                  <a:solidFill>
                    <a:schemeClr val="dk2"/>
                  </a:solidFill>
                  <a:latin typeface="+mn-lt"/>
                  <a:ea typeface="+mn-ea"/>
                  <a:cs typeface="+mn-cs"/>
                </a:rPr>
                <a:t>shuffled annotators</a:t>
              </a:r>
            </a:p>
          </p:txBody>
        </p:sp>
      </p:grpSp>
      <p:grpSp>
        <p:nvGrpSpPr>
          <p:cNvPr id="36" name="Group 36"/>
          <p:cNvGrpSpPr/>
          <p:nvPr/>
        </p:nvGrpSpPr>
        <p:grpSpPr>
          <a:xfrm>
            <a:off x="12477750" y="2857500"/>
            <a:ext cx="4762500" cy="6000750"/>
            <a:chOff x="12477750" y="2857500"/>
            <a:chExt cx="4762500" cy="6000750"/>
          </a:xfrm>
        </p:grpSpPr>
        <p:sp>
          <p:nvSpPr>
            <p:cNvPr id="26" name="Rectangle 26"/>
            <p:cNvSpPr/>
            <p:nvPr/>
          </p:nvSpPr>
          <p:spPr>
            <a:xfrm>
              <a:off x="12477750" y="2857500"/>
              <a:ext cx="4762500" cy="6000750"/>
            </a:xfrm>
            <a:prstGeom prst="roundRect">
              <a:avLst>
                <a:gd name="adj" fmla="val 3600"/>
              </a:avLst>
            </a:prstGeom>
            <a:solidFill>
              <a:srgbClr val="FFFFFF"/>
            </a:solidFill>
            <a:ln w="19050">
              <a:solidFill>
                <a:schemeClr val="accent4"/>
              </a:solidFill>
            </a:ln>
          </p:spPr>
        </p:sp>
        <p:sp>
          <p:nvSpPr>
            <p:cNvPr id="27" name="Rectangle 27"/>
            <p:cNvSpPr/>
            <p:nvPr/>
          </p:nvSpPr>
          <p:spPr>
            <a:xfrm>
              <a:off x="12477750" y="2857500"/>
              <a:ext cx="76200" cy="6000750"/>
            </a:xfrm>
            <a:prstGeom prst="roundRect">
              <a:avLst>
                <a:gd name="adj" fmla="val 50000"/>
              </a:avLst>
            </a:prstGeom>
            <a:solidFill>
              <a:schemeClr val="accent5"/>
            </a:solidFill>
            <a:ln>
              <a:noFill/>
            </a:ln>
          </p:spPr>
        </p:sp>
        <p:sp>
          <p:nvSpPr>
            <p:cNvPr id="28" name="TextBox 28"/>
            <p:cNvSpPr txBox="1"/>
            <p:nvPr/>
          </p:nvSpPr>
          <p:spPr>
            <a:xfrm>
              <a:off x="12884658" y="3284220"/>
              <a:ext cx="3632327"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How many dimensions?</a:t>
              </a:r>
            </a:p>
          </p:txBody>
        </p:sp>
        <p:sp>
          <p:nvSpPr>
            <p:cNvPr id="29" name="TextBox 29"/>
            <p:cNvSpPr txBox="1"/>
            <p:nvPr/>
          </p:nvSpPr>
          <p:spPr>
            <a:xfrm>
              <a:off x="12877800" y="4068128"/>
              <a:ext cx="1763996" cy="1076325"/>
            </a:xfrm>
            <a:prstGeom prst="rect">
              <a:avLst/>
            </a:prstGeom>
            <a:noFill/>
            <a:ln>
              <a:noFill/>
            </a:ln>
          </p:spPr>
          <p:txBody>
            <a:bodyPr wrap="none" lIns="0" tIns="0" rIns="0" bIns="0" anchor="t" anchorCtr="0">
              <a:spAutoFit/>
            </a:bodyPr>
            <a:lstStyle/>
            <a:p>
              <a:pPr algn="l"/>
              <a:r>
                <a:rPr lang="en-US" sz="5550" b="1" dirty="0">
                  <a:solidFill>
                    <a:schemeClr val="accent5"/>
                  </a:solidFill>
                  <a:latin typeface="Consolas"/>
                  <a:ea typeface="Consolas"/>
                  <a:cs typeface="Consolas"/>
                </a:rPr>
                <a:t>6-13</a:t>
              </a:r>
            </a:p>
          </p:txBody>
        </p:sp>
        <p:sp>
          <p:nvSpPr>
            <p:cNvPr id="30" name="TextBox 30"/>
            <p:cNvSpPr txBox="1"/>
            <p:nvPr/>
          </p:nvSpPr>
          <p:spPr>
            <a:xfrm>
              <a:off x="12886944" y="4932998"/>
              <a:ext cx="3183045" cy="381381"/>
            </a:xfrm>
            <a:prstGeom prst="rect">
              <a:avLst/>
            </a:prstGeom>
            <a:noFill/>
            <a:ln>
              <a:noFill/>
            </a:ln>
          </p:spPr>
          <p:txBody>
            <a:bodyPr wrap="none" lIns="0" tIns="0" rIns="0" bIns="0" anchor="t" anchorCtr="0">
              <a:spAutoFit/>
            </a:bodyPr>
            <a:lstStyle/>
            <a:p>
              <a:pPr algn="l"/>
              <a:r>
                <a:rPr lang="en-US" sz="1950" dirty="0">
                  <a:solidFill>
                    <a:schemeClr val="dk2"/>
                  </a:solidFill>
                  <a:latin typeface="+mn-lt"/>
                  <a:ea typeface="+mn-ea"/>
                  <a:cs typeface="+mn-cs"/>
                </a:rPr>
                <a:t>dimensions recover most</a:t>
              </a:r>
            </a:p>
          </p:txBody>
        </p:sp>
        <p:sp>
          <p:nvSpPr>
            <p:cNvPr id="31" name="TextBox 31"/>
            <p:cNvSpPr txBox="1"/>
            <p:nvPr/>
          </p:nvSpPr>
          <p:spPr>
            <a:xfrm>
              <a:off x="12886944" y="5279708"/>
              <a:ext cx="2566149" cy="381381"/>
            </a:xfrm>
            <a:prstGeom prst="rect">
              <a:avLst/>
            </a:prstGeom>
            <a:noFill/>
            <a:ln>
              <a:noFill/>
            </a:ln>
          </p:spPr>
          <p:txBody>
            <a:bodyPr wrap="none" lIns="0" tIns="0" rIns="0" bIns="0" anchor="t" anchorCtr="0">
              <a:spAutoFit/>
            </a:bodyPr>
            <a:lstStyle/>
            <a:p>
              <a:pPr algn="l"/>
              <a:r>
                <a:rPr lang="en-US" sz="1950" dirty="0">
                  <a:solidFill>
                    <a:schemeClr val="dk2"/>
                  </a:solidFill>
                  <a:latin typeface="+mn-lt"/>
                  <a:ea typeface="+mn-ea"/>
                  <a:cs typeface="+mn-cs"/>
                </a:rPr>
                <a:t>predictive accuracy</a:t>
              </a:r>
            </a:p>
          </p:txBody>
        </p:sp>
        <p:sp>
          <p:nvSpPr>
            <p:cNvPr id="32" name="TextBox 32"/>
            <p:cNvSpPr txBox="1"/>
            <p:nvPr/>
          </p:nvSpPr>
          <p:spPr>
            <a:xfrm>
              <a:off x="12877800" y="6068378"/>
              <a:ext cx="2195470" cy="1076325"/>
            </a:xfrm>
            <a:prstGeom prst="rect">
              <a:avLst/>
            </a:prstGeom>
            <a:noFill/>
            <a:ln>
              <a:noFill/>
            </a:ln>
          </p:spPr>
          <p:txBody>
            <a:bodyPr wrap="none" lIns="0" tIns="0" rIns="0" bIns="0" anchor="t" anchorCtr="0">
              <a:spAutoFit/>
            </a:bodyPr>
            <a:lstStyle/>
            <a:p>
              <a:pPr algn="l"/>
              <a:r>
                <a:rPr lang="en-US" sz="5550" b="1" dirty="0">
                  <a:solidFill>
                    <a:schemeClr val="accent1"/>
                  </a:solidFill>
                  <a:latin typeface="Consolas"/>
                  <a:ea typeface="Consolas"/>
                  <a:cs typeface="Consolas"/>
                </a:rPr>
                <a:t>15-22</a:t>
              </a:r>
            </a:p>
          </p:txBody>
        </p:sp>
        <p:sp>
          <p:nvSpPr>
            <p:cNvPr id="33" name="TextBox 33"/>
            <p:cNvSpPr txBox="1"/>
            <p:nvPr/>
          </p:nvSpPr>
          <p:spPr>
            <a:xfrm>
              <a:off x="12886944" y="6933248"/>
              <a:ext cx="3379927" cy="381381"/>
            </a:xfrm>
            <a:prstGeom prst="rect">
              <a:avLst/>
            </a:prstGeom>
            <a:noFill/>
            <a:ln>
              <a:noFill/>
            </a:ln>
          </p:spPr>
          <p:txBody>
            <a:bodyPr wrap="none" lIns="0" tIns="0" rIns="0" bIns="0" anchor="t" anchorCtr="0">
              <a:spAutoFit/>
            </a:bodyPr>
            <a:lstStyle/>
            <a:p>
              <a:pPr algn="l"/>
              <a:r>
                <a:rPr lang="en-US" sz="1950" dirty="0">
                  <a:solidFill>
                    <a:schemeClr val="dk2"/>
                  </a:solidFill>
                  <a:latin typeface="+mn-lt"/>
                  <a:ea typeface="+mn-ea"/>
                  <a:cs typeface="+mn-cs"/>
                </a:rPr>
                <a:t>dimensions explain the full</a:t>
              </a:r>
            </a:p>
          </p:txBody>
        </p:sp>
        <p:sp>
          <p:nvSpPr>
            <p:cNvPr id="34" name="TextBox 34"/>
            <p:cNvSpPr txBox="1"/>
            <p:nvPr/>
          </p:nvSpPr>
          <p:spPr>
            <a:xfrm>
              <a:off x="12886944" y="7279958"/>
              <a:ext cx="2631777" cy="381381"/>
            </a:xfrm>
            <a:prstGeom prst="rect">
              <a:avLst/>
            </a:prstGeom>
            <a:noFill/>
            <a:ln>
              <a:noFill/>
            </a:ln>
          </p:spPr>
          <p:txBody>
            <a:bodyPr wrap="none" lIns="0" tIns="0" rIns="0" bIns="0" anchor="t" anchorCtr="0">
              <a:spAutoFit/>
            </a:bodyPr>
            <a:lstStyle/>
            <a:p>
              <a:pPr algn="l"/>
              <a:r>
                <a:rPr lang="en-US" sz="1950" dirty="0">
                  <a:solidFill>
                    <a:schemeClr val="dk2"/>
                  </a:solidFill>
                  <a:latin typeface="+mn-lt"/>
                  <a:ea typeface="+mn-ea"/>
                  <a:cs typeface="+mn-cs"/>
                </a:rPr>
                <a:t>similarity structure</a:t>
              </a:r>
            </a:p>
          </p:txBody>
        </p:sp>
        <p:sp>
          <p:nvSpPr>
            <p:cNvPr id="35" name="TextBox 35"/>
            <p:cNvSpPr txBox="1"/>
            <p:nvPr/>
          </p:nvSpPr>
          <p:spPr>
            <a:xfrm>
              <a:off x="12887706" y="8187690"/>
              <a:ext cx="4110174"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Similarity is context-dependent.</a:t>
              </a:r>
            </a:p>
          </p:txBody>
        </p:sp>
      </p:grpSp>
      <p:sp>
        <p:nvSpPr>
          <p:cNvPr id="37" name="Line 37"/>
          <p:cNvSpPr/>
          <p:nvPr/>
        </p:nvSpPr>
        <p:spPr>
          <a:xfrm>
            <a:off x="1047750" y="9639300"/>
            <a:ext cx="16192500" cy="9525"/>
          </a:xfrm>
          <a:custGeom>
            <a:avLst/>
            <a:gdLst/>
            <a:ahLst/>
            <a:cxnLst/>
            <a:rect l="l" t="t" r="r" b="b"/>
            <a:pathLst>
              <a:path w="16192500" h="9525">
                <a:moveTo>
                  <a:pt x="0" y="0"/>
                </a:moveTo>
                <a:lnTo>
                  <a:pt x="16192500" y="0"/>
                </a:lnTo>
              </a:path>
            </a:pathLst>
          </a:custGeom>
          <a:noFill/>
          <a:ln w="14288">
            <a:solidFill>
              <a:schemeClr val="accent4"/>
            </a:solidFill>
          </a:ln>
        </p:spPr>
        <p:txBody>
          <a:bodyPr/>
          <a:p/>
        </p:txBody>
      </p:sp>
      <p:sp>
        <p:nvSpPr>
          <p:cNvPr id="38" name="TextBox 38"/>
          <p:cNvSpPr txBox="1"/>
          <p:nvPr/>
        </p:nvSpPr>
        <p:spPr>
          <a:xfrm>
            <a:off x="1039368" y="9823132"/>
            <a:ext cx="8171916" cy="322707"/>
          </a:xfrm>
          <a:prstGeom prst="rect">
            <a:avLst/>
          </a:prstGeom>
          <a:noFill/>
          <a:ln>
            <a:noFill/>
          </a:ln>
        </p:spPr>
        <p:txBody>
          <a:bodyPr wrap="none" lIns="0" tIns="0" rIns="0" bIns="0" anchor="t" anchorCtr="0">
            <a:spAutoFit/>
          </a:bodyPr>
          <a:lstStyle/>
          <a:p>
            <a:pPr algn="l"/>
            <a:r>
              <a:rPr lang="en-US" sz="1650" dirty="0">
                <a:solidFill>
                  <a:schemeClr val="dk2"/>
                </a:solidFill>
                <a:latin typeface="+mn-lt"/>
                <a:ea typeface="+mn-ea"/>
                <a:cs typeface="+mn-cs"/>
              </a:rPr>
              <a:t>A View From Somewhere — Human-Centric Face Representations (ICLR 2023)</a:t>
            </a:r>
          </a:p>
        </p:txBody>
      </p:sp>
      <p:sp>
        <p:nvSpPr>
          <p:cNvPr id="39" name="TextBox 39"/>
          <p:cNvSpPr txBox="1"/>
          <p:nvPr/>
        </p:nvSpPr>
        <p:spPr>
          <a:xfrm>
            <a:off x="16487756" y="9823132"/>
            <a:ext cx="760876" cy="322707"/>
          </a:xfrm>
          <a:prstGeom prst="rect">
            <a:avLst/>
          </a:prstGeom>
          <a:noFill/>
          <a:ln>
            <a:noFill/>
          </a:ln>
        </p:spPr>
        <p:txBody>
          <a:bodyPr wrap="none" lIns="0" tIns="0" rIns="0" bIns="0" anchor="t" anchorCtr="0">
            <a:spAutoFit/>
          </a:bodyPr>
          <a:lstStyle/>
          <a:p>
            <a:pPr algn="r"/>
            <a:r>
              <a:rPr lang="en-US" sz="1650" dirty="0">
                <a:solidFill>
                  <a:schemeClr val="dk2"/>
                </a:solidFill>
                <a:latin typeface="Consolas"/>
                <a:ea typeface="Consolas"/>
                <a:cs typeface="Consolas"/>
              </a:rPr>
              <a:t>08 / 10</a:t>
            </a:r>
          </a:p>
        </p:txBody>
      </p:sp>
      <p:sp>
        <p:nvSpPr>
          <p:cNvPr id="40" name="cue_s08_c1_test_whether_annotators_really_matte" title="cue_s08_c1_test_whether_annotators_really_matte" descr="cue_s08_c1_test_whether_annotators_really_matte To test whether annotators really matter, the authors randomly shuffle which annotator mask is attached to each of the eighty thousand judgments and recompute accuracy a hundred times over."/>
          <p:cNvSpPr/>
          <p:nvPr/>
        </p:nvSpPr>
        <p:spPr>
          <a:xfrm>
            <a:off x="1047902" y="2857728"/>
            <a:ext cx="5334609" cy="600040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8_c2_accuracy_drops_about_sixty_two_perce" title="cue_s08_c2_accuracy_drops_about_sixty_two_perce" descr="cue_s08_c2_accuracy_drops_about_sixty_two_perce Accuracy drops from about sixty-two percent down to roughly fifty-three percent, proving that annotators are genuinely not interchangeable."/>
          <p:cNvSpPr/>
          <p:nvPr/>
        </p:nvSpPr>
        <p:spPr>
          <a:xfrm>
            <a:off x="6762902" y="2857728"/>
            <a:ext cx="5334609" cy="600040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8_c3_dimension_elimination_analysis_furth" title="cue_s08_c3_dimension_elimination_analysis_furth" descr="cue_s08_c3_dimension_elimination_analysis_furth A dimension-elimination analysis further shows that only six to thirteen dimensions are needed to recover most of the predictive accuracy, while fifteen to twenty-two dimensions are required to explain the full similarity structure, clear evidence that similar"/>
          <p:cNvSpPr/>
          <p:nvPr/>
        </p:nvSpPr>
        <p:spPr>
          <a:xfrm>
            <a:off x="12477902" y="2857728"/>
            <a:ext cx="4762195" cy="600040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7" name="Group 7"/>
          <p:cNvGrpSpPr/>
          <p:nvPr/>
        </p:nvGrpSpPr>
        <p:grpSpPr>
          <a:xfrm>
            <a:off x="1028700" y="799148"/>
            <a:ext cx="16211550" cy="1429702"/>
            <a:chOff x="1028700" y="799148"/>
            <a:chExt cx="16211550" cy="1429702"/>
          </a:xfrm>
        </p:grpSpPr>
        <p:sp>
          <p:nvSpPr>
            <p:cNvPr id="2" name="Rectangle 2"/>
            <p:cNvSpPr/>
            <p:nvPr/>
          </p:nvSpPr>
          <p:spPr>
            <a:xfrm>
              <a:off x="1047750" y="800100"/>
              <a:ext cx="16192500" cy="1428750"/>
            </a:xfrm>
            <a:prstGeom prst="rect">
              <a:avLst/>
            </a:prstGeom>
            <a:noFill/>
            <a:ln>
              <a:noFill/>
            </a:ln>
          </p:spPr>
        </p:sp>
        <p:sp>
          <p:nvSpPr>
            <p:cNvPr id="3" name="Rectangle 3"/>
            <p:cNvSpPr/>
            <p:nvPr/>
          </p:nvSpPr>
          <p:spPr>
            <a:xfrm>
              <a:off x="1047750" y="857250"/>
              <a:ext cx="514350" cy="76200"/>
            </a:xfrm>
            <a:prstGeom prst="roundRect">
              <a:avLst>
                <a:gd name="adj" fmla="val 50000"/>
              </a:avLst>
            </a:prstGeom>
            <a:solidFill>
              <a:srgbClr val="B7791F"/>
            </a:solidFill>
            <a:ln>
              <a:noFill/>
            </a:ln>
          </p:spPr>
        </p:sp>
        <p:sp>
          <p:nvSpPr>
            <p:cNvPr id="4" name="TextBox 4"/>
            <p:cNvSpPr txBox="1"/>
            <p:nvPr/>
          </p:nvSpPr>
          <p:spPr>
            <a:xfrm>
              <a:off x="1704594" y="799148"/>
              <a:ext cx="2975381" cy="381381"/>
            </a:xfrm>
            <a:prstGeom prst="rect">
              <a:avLst/>
            </a:prstGeom>
            <a:noFill/>
            <a:ln>
              <a:noFill/>
            </a:ln>
          </p:spPr>
          <p:txBody>
            <a:bodyPr wrap="none" lIns="0" tIns="0" rIns="0" bIns="0" anchor="t" anchorCtr="0">
              <a:spAutoFit/>
            </a:bodyPr>
            <a:lstStyle/>
            <a:p>
              <a:pPr algn="l"/>
              <a:r>
                <a:rPr lang="en-US" sz="1950" b="1" spc="225" dirty="0">
                  <a:solidFill>
                    <a:srgbClr val="B7791F"/>
                  </a:solidFill>
                  <a:latin typeface="+mn-lt"/>
                  <a:ea typeface="+mn-ea"/>
                  <a:cs typeface="+mn-cs"/>
                </a:rPr>
                <a:t>HEADLINE NUMBERS</a:t>
              </a:r>
            </a:p>
          </p:txBody>
        </p:sp>
        <p:sp>
          <p:nvSpPr>
            <p:cNvPr id="5" name="TextBox 5"/>
            <p:cNvSpPr txBox="1"/>
            <p:nvPr/>
          </p:nvSpPr>
          <p:spPr>
            <a:xfrm>
              <a:off x="1028700" y="1231582"/>
              <a:ext cx="10379896" cy="904875"/>
            </a:xfrm>
            <a:prstGeom prst="rect">
              <a:avLst/>
            </a:prstGeom>
            <a:noFill/>
            <a:ln>
              <a:noFill/>
            </a:ln>
          </p:spPr>
          <p:txBody>
            <a:bodyPr wrap="none" lIns="0" tIns="0" rIns="0" bIns="0" anchor="t" anchorCtr="0">
              <a:spAutoFit/>
            </a:bodyPr>
            <a:lstStyle/>
            <a:p>
              <a:pPr algn="l"/>
              <a:r>
                <a:rPr lang="en-US" sz="4650" b="1" dirty="0">
                  <a:solidFill>
                    <a:schemeClr val="dk1"/>
                  </a:solidFill>
                  <a:latin typeface="+mn-lt"/>
                  <a:ea typeface="+mn-ea"/>
                  <a:cs typeface="+mn-cs"/>
                </a:rPr>
                <a:t>The whole story in four numbers</a:t>
              </a:r>
            </a:p>
          </p:txBody>
        </p:sp>
        <p:sp>
          <p:nvSpPr>
            <p:cNvPr id="6" name="Line 6"/>
            <p:cNvSpPr/>
            <p:nvPr/>
          </p:nvSpPr>
          <p:spPr>
            <a:xfrm>
              <a:off x="1047750" y="2057400"/>
              <a:ext cx="16192500" cy="9525"/>
            </a:xfrm>
            <a:custGeom>
              <a:avLst/>
              <a:gdLst/>
              <a:ahLst/>
              <a:cxnLst/>
              <a:rect l="l" t="t" r="r" b="b"/>
              <a:pathLst>
                <a:path w="16192500" h="9525">
                  <a:moveTo>
                    <a:pt x="0" y="0"/>
                  </a:moveTo>
                  <a:lnTo>
                    <a:pt x="16192500" y="0"/>
                  </a:lnTo>
                </a:path>
              </a:pathLst>
            </a:custGeom>
            <a:noFill/>
            <a:ln w="19050">
              <a:solidFill>
                <a:schemeClr val="accent4"/>
              </a:solidFill>
            </a:ln>
          </p:spPr>
        </p:sp>
      </p:grpSp>
      <p:grpSp>
        <p:nvGrpSpPr>
          <p:cNvPr id="13" name="Group 13"/>
          <p:cNvGrpSpPr/>
          <p:nvPr/>
        </p:nvGrpSpPr>
        <p:grpSpPr>
          <a:xfrm>
            <a:off x="1047750" y="2857500"/>
            <a:ext cx="5143500" cy="5334000"/>
            <a:chOff x="1047750" y="2857500"/>
            <a:chExt cx="5143500" cy="5334000"/>
          </a:xfrm>
        </p:grpSpPr>
        <p:sp>
          <p:nvSpPr>
            <p:cNvPr id="8" name="Rectangle 8"/>
            <p:cNvSpPr/>
            <p:nvPr/>
          </p:nvSpPr>
          <p:spPr>
            <a:xfrm>
              <a:off x="1047750" y="2857500"/>
              <a:ext cx="5143500" cy="5334000"/>
            </a:xfrm>
            <a:prstGeom prst="roundRect">
              <a:avLst>
                <a:gd name="adj" fmla="val 4444"/>
              </a:avLst>
            </a:prstGeom>
            <a:solidFill>
              <a:srgbClr val="ECEDFB"/>
            </a:solidFill>
            <a:ln>
              <a:noFill/>
            </a:ln>
          </p:spPr>
        </p:sp>
        <p:sp>
          <p:nvSpPr>
            <p:cNvPr id="9" name="Rectangle 9"/>
            <p:cNvSpPr/>
            <p:nvPr/>
          </p:nvSpPr>
          <p:spPr>
            <a:xfrm>
              <a:off x="1276350" y="2857500"/>
              <a:ext cx="4686300" cy="114300"/>
            </a:xfrm>
            <a:prstGeom prst="roundRect">
              <a:avLst>
                <a:gd name="adj" fmla="val 50000"/>
              </a:avLst>
            </a:prstGeom>
            <a:solidFill>
              <a:schemeClr val="accent1"/>
            </a:solidFill>
            <a:ln>
              <a:noFill/>
            </a:ln>
          </p:spPr>
        </p:sp>
        <p:sp>
          <p:nvSpPr>
            <p:cNvPr id="10" name="TextBox 10"/>
            <p:cNvSpPr txBox="1"/>
            <p:nvPr/>
          </p:nvSpPr>
          <p:spPr>
            <a:xfrm>
              <a:off x="1752219" y="4500562"/>
              <a:ext cx="3734562" cy="2162175"/>
            </a:xfrm>
            <a:prstGeom prst="rect">
              <a:avLst/>
            </a:prstGeom>
            <a:noFill/>
            <a:ln>
              <a:noFill/>
            </a:ln>
          </p:spPr>
          <p:txBody>
            <a:bodyPr wrap="none" lIns="0" tIns="0" rIns="0" bIns="0" anchor="t" anchorCtr="0">
              <a:spAutoFit/>
            </a:bodyPr>
            <a:lstStyle/>
            <a:p>
              <a:pPr algn="ctr"/>
              <a:r>
                <a:rPr lang="en-US" sz="11250" b="1" dirty="0">
                  <a:solidFill>
                    <a:schemeClr val="accent1"/>
                  </a:solidFill>
                  <a:latin typeface="Consolas"/>
                  <a:ea typeface="Consolas"/>
                  <a:cs typeface="Consolas"/>
                </a:rPr>
                <a:t>638K</a:t>
              </a:r>
            </a:p>
          </p:txBody>
        </p:sp>
        <p:sp>
          <p:nvSpPr>
            <p:cNvPr id="11" name="TextBox 11"/>
            <p:cNvSpPr txBox="1"/>
            <p:nvPr/>
          </p:nvSpPr>
          <p:spPr>
            <a:xfrm>
              <a:off x="2050570" y="6376035"/>
              <a:ext cx="3137861" cy="528066"/>
            </a:xfrm>
            <a:prstGeom prst="rect">
              <a:avLst/>
            </a:prstGeom>
            <a:noFill/>
            <a:ln>
              <a:noFill/>
            </a:ln>
          </p:spPr>
          <p:txBody>
            <a:bodyPr wrap="none" lIns="0" tIns="0" rIns="0" bIns="0" anchor="t" anchorCtr="0">
              <a:spAutoFit/>
            </a:bodyPr>
            <a:lstStyle/>
            <a:p>
              <a:pPr algn="ctr"/>
              <a:r>
                <a:rPr lang="en-US" sz="2700" b="1" dirty="0">
                  <a:solidFill>
                    <a:schemeClr val="dk1"/>
                  </a:solidFill>
                  <a:latin typeface="+mn-lt"/>
                  <a:ea typeface="+mn-ea"/>
                  <a:cs typeface="+mn-cs"/>
                </a:rPr>
                <a:t>human judgments</a:t>
              </a:r>
            </a:p>
          </p:txBody>
        </p:sp>
        <p:sp>
          <p:nvSpPr>
            <p:cNvPr id="12" name="TextBox 12"/>
            <p:cNvSpPr txBox="1"/>
            <p:nvPr/>
          </p:nvSpPr>
          <p:spPr>
            <a:xfrm>
              <a:off x="1909635" y="7020401"/>
              <a:ext cx="3419729" cy="396050"/>
            </a:xfrm>
            <a:prstGeom prst="rect">
              <a:avLst/>
            </a:prstGeom>
            <a:noFill/>
            <a:ln>
              <a:noFill/>
            </a:ln>
          </p:spPr>
          <p:txBody>
            <a:bodyPr wrap="none" lIns="0" tIns="0" rIns="0" bIns="0" anchor="t" anchorCtr="0">
              <a:spAutoFit/>
            </a:bodyPr>
            <a:lstStyle/>
            <a:p>
              <a:pPr algn="ctr"/>
              <a:r>
                <a:rPr lang="en-US" sz="2020" dirty="0">
                  <a:solidFill>
                    <a:schemeClr val="dk2"/>
                  </a:solidFill>
                  <a:latin typeface="+mn-lt"/>
                  <a:ea typeface="+mn-ea"/>
                  <a:cs typeface="+mn-cs"/>
                </a:rPr>
                <a:t>over 4,921 distinct faces</a:t>
              </a:r>
            </a:p>
          </p:txBody>
        </p:sp>
      </p:grpSp>
      <p:grpSp>
        <p:nvGrpSpPr>
          <p:cNvPr id="19" name="Group 19"/>
          <p:cNvGrpSpPr/>
          <p:nvPr/>
        </p:nvGrpSpPr>
        <p:grpSpPr>
          <a:xfrm>
            <a:off x="6572250" y="2857500"/>
            <a:ext cx="5143500" cy="5334000"/>
            <a:chOff x="6572250" y="2857500"/>
            <a:chExt cx="5143500" cy="5334000"/>
          </a:xfrm>
        </p:grpSpPr>
        <p:sp>
          <p:nvSpPr>
            <p:cNvPr id="14" name="Rectangle 14"/>
            <p:cNvSpPr/>
            <p:nvPr/>
          </p:nvSpPr>
          <p:spPr>
            <a:xfrm>
              <a:off x="6572250" y="2857500"/>
              <a:ext cx="5143500" cy="5334000"/>
            </a:xfrm>
            <a:prstGeom prst="roundRect">
              <a:avLst>
                <a:gd name="adj" fmla="val 4444"/>
              </a:avLst>
            </a:prstGeom>
            <a:solidFill>
              <a:srgbClr val="E1F3F0"/>
            </a:solidFill>
            <a:ln>
              <a:noFill/>
            </a:ln>
          </p:spPr>
        </p:sp>
        <p:sp>
          <p:nvSpPr>
            <p:cNvPr id="15" name="Rectangle 15"/>
            <p:cNvSpPr/>
            <p:nvPr/>
          </p:nvSpPr>
          <p:spPr>
            <a:xfrm>
              <a:off x="6800850" y="2857500"/>
              <a:ext cx="4686300" cy="114300"/>
            </a:xfrm>
            <a:prstGeom prst="roundRect">
              <a:avLst>
                <a:gd name="adj" fmla="val 50000"/>
              </a:avLst>
            </a:prstGeom>
            <a:solidFill>
              <a:schemeClr val="accent2"/>
            </a:solidFill>
            <a:ln>
              <a:noFill/>
            </a:ln>
          </p:spPr>
        </p:sp>
        <p:sp>
          <p:nvSpPr>
            <p:cNvPr id="16" name="TextBox 16"/>
            <p:cNvSpPr txBox="1"/>
            <p:nvPr/>
          </p:nvSpPr>
          <p:spPr>
            <a:xfrm>
              <a:off x="8250341" y="4500562"/>
              <a:ext cx="1787319" cy="2162175"/>
            </a:xfrm>
            <a:prstGeom prst="rect">
              <a:avLst/>
            </a:prstGeom>
            <a:noFill/>
            <a:ln>
              <a:noFill/>
            </a:ln>
          </p:spPr>
          <p:txBody>
            <a:bodyPr wrap="none" lIns="0" tIns="0" rIns="0" bIns="0" anchor="t" anchorCtr="0">
              <a:spAutoFit/>
            </a:bodyPr>
            <a:lstStyle/>
            <a:p>
              <a:pPr algn="ctr"/>
              <a:r>
                <a:rPr lang="en-US" sz="11250" b="1" dirty="0">
                  <a:solidFill>
                    <a:schemeClr val="accent2"/>
                  </a:solidFill>
                  <a:latin typeface="Consolas"/>
                  <a:ea typeface="Consolas"/>
                  <a:cs typeface="Consolas"/>
                </a:rPr>
                <a:t>22</a:t>
              </a:r>
            </a:p>
          </p:txBody>
        </p:sp>
        <p:sp>
          <p:nvSpPr>
            <p:cNvPr id="17" name="TextBox 17"/>
            <p:cNvSpPr txBox="1"/>
            <p:nvPr/>
          </p:nvSpPr>
          <p:spPr>
            <a:xfrm>
              <a:off x="6811774" y="6376035"/>
              <a:ext cx="4664452" cy="528066"/>
            </a:xfrm>
            <a:prstGeom prst="rect">
              <a:avLst/>
            </a:prstGeom>
            <a:noFill/>
            <a:ln>
              <a:noFill/>
            </a:ln>
          </p:spPr>
          <p:txBody>
            <a:bodyPr wrap="none" lIns="0" tIns="0" rIns="0" bIns="0" anchor="t" anchorCtr="0">
              <a:spAutoFit/>
            </a:bodyPr>
            <a:lstStyle/>
            <a:p>
              <a:pPr algn="ctr"/>
              <a:r>
                <a:rPr lang="en-US" sz="2700" b="1" dirty="0">
                  <a:solidFill>
                    <a:schemeClr val="dk1"/>
                  </a:solidFill>
                  <a:latin typeface="+mn-lt"/>
                  <a:ea typeface="+mn-ea"/>
                  <a:cs typeface="+mn-cs"/>
                </a:rPr>
                <a:t>interpretable dimensions</a:t>
              </a:r>
            </a:p>
          </p:txBody>
        </p:sp>
        <p:sp>
          <p:nvSpPr>
            <p:cNvPr id="18" name="TextBox 18"/>
            <p:cNvSpPr txBox="1"/>
            <p:nvPr/>
          </p:nvSpPr>
          <p:spPr>
            <a:xfrm>
              <a:off x="7067027" y="7020401"/>
              <a:ext cx="4153946" cy="396050"/>
            </a:xfrm>
            <a:prstGeom prst="rect">
              <a:avLst/>
            </a:prstGeom>
            <a:noFill/>
            <a:ln>
              <a:noFill/>
            </a:ln>
          </p:spPr>
          <p:txBody>
            <a:bodyPr wrap="none" lIns="0" tIns="0" rIns="0" bIns="0" anchor="t" anchorCtr="0">
              <a:spAutoFit/>
            </a:bodyPr>
            <a:lstStyle/>
            <a:p>
              <a:pPr algn="ctr"/>
              <a:r>
                <a:rPr lang="en-US" sz="2020" dirty="0">
                  <a:solidFill>
                    <a:schemeClr val="dk2"/>
                  </a:solidFill>
                  <a:latin typeface="+mn-lt"/>
                  <a:ea typeface="+mn-ea"/>
                  <a:cs typeface="+mn-cs"/>
                </a:rPr>
                <a:t>retained at ~62% val. accuracy</a:t>
              </a:r>
            </a:p>
          </p:txBody>
        </p:sp>
      </p:grpSp>
      <p:grpSp>
        <p:nvGrpSpPr>
          <p:cNvPr id="25" name="Group 25"/>
          <p:cNvGrpSpPr/>
          <p:nvPr/>
        </p:nvGrpSpPr>
        <p:grpSpPr>
          <a:xfrm>
            <a:off x="11933391" y="2857500"/>
            <a:ext cx="5470219" cy="5334000"/>
            <a:chOff x="11933391" y="2857500"/>
            <a:chExt cx="5470219" cy="5334000"/>
          </a:xfrm>
        </p:grpSpPr>
        <p:sp>
          <p:nvSpPr>
            <p:cNvPr id="20" name="Rectangle 20"/>
            <p:cNvSpPr/>
            <p:nvPr/>
          </p:nvSpPr>
          <p:spPr>
            <a:xfrm>
              <a:off x="12096750" y="2857500"/>
              <a:ext cx="5143500" cy="5334000"/>
            </a:xfrm>
            <a:prstGeom prst="roundRect">
              <a:avLst>
                <a:gd name="adj" fmla="val 4444"/>
              </a:avLst>
            </a:prstGeom>
            <a:solidFill>
              <a:srgbClr val="FBE7ED"/>
            </a:solidFill>
            <a:ln>
              <a:noFill/>
            </a:ln>
          </p:spPr>
        </p:sp>
        <p:sp>
          <p:nvSpPr>
            <p:cNvPr id="21" name="Rectangle 21"/>
            <p:cNvSpPr/>
            <p:nvPr/>
          </p:nvSpPr>
          <p:spPr>
            <a:xfrm>
              <a:off x="12325350" y="2857500"/>
              <a:ext cx="4686300" cy="114300"/>
            </a:xfrm>
            <a:prstGeom prst="roundRect">
              <a:avLst>
                <a:gd name="adj" fmla="val 50000"/>
              </a:avLst>
            </a:prstGeom>
            <a:solidFill>
              <a:schemeClr val="accent3"/>
            </a:solidFill>
            <a:ln>
              <a:noFill/>
            </a:ln>
          </p:spPr>
        </p:sp>
        <p:sp>
          <p:nvSpPr>
            <p:cNvPr id="22" name="TextBox 22"/>
            <p:cNvSpPr txBox="1"/>
            <p:nvPr/>
          </p:nvSpPr>
          <p:spPr>
            <a:xfrm>
              <a:off x="11933391" y="5034915"/>
              <a:ext cx="5470219" cy="1219200"/>
            </a:xfrm>
            <a:prstGeom prst="rect">
              <a:avLst/>
            </a:prstGeom>
            <a:noFill/>
            <a:ln>
              <a:noFill/>
            </a:ln>
          </p:spPr>
          <p:txBody>
            <a:bodyPr wrap="none" lIns="0" tIns="0" rIns="0" bIns="0" anchor="t" anchorCtr="0">
              <a:spAutoFit/>
            </a:bodyPr>
            <a:lstStyle/>
            <a:p>
              <a:pPr algn="ctr"/>
              <a:r>
                <a:rPr lang="en-US" sz="6300" b="1" dirty="0">
                  <a:solidFill>
                    <a:schemeClr val="accent3"/>
                  </a:solidFill>
                  <a:latin typeface="Consolas"/>
                  <a:ea typeface="Consolas"/>
                  <a:cs typeface="Consolas"/>
                </a:rPr>
                <a:t>61.7 -&gt; 52.8</a:t>
              </a:r>
            </a:p>
          </p:txBody>
        </p:sp>
        <p:sp>
          <p:nvSpPr>
            <p:cNvPr id="23" name="TextBox 23"/>
            <p:cNvSpPr txBox="1"/>
            <p:nvPr/>
          </p:nvSpPr>
          <p:spPr>
            <a:xfrm>
              <a:off x="13614794" y="6376035"/>
              <a:ext cx="2107412" cy="528066"/>
            </a:xfrm>
            <a:prstGeom prst="rect">
              <a:avLst/>
            </a:prstGeom>
            <a:noFill/>
            <a:ln>
              <a:noFill/>
            </a:ln>
          </p:spPr>
          <p:txBody>
            <a:bodyPr wrap="none" lIns="0" tIns="0" rIns="0" bIns="0" anchor="t" anchorCtr="0">
              <a:spAutoFit/>
            </a:bodyPr>
            <a:lstStyle/>
            <a:p>
              <a:pPr algn="ctr"/>
              <a:r>
                <a:rPr lang="en-US" sz="2700" b="1" dirty="0">
                  <a:solidFill>
                    <a:schemeClr val="dk1"/>
                  </a:solidFill>
                  <a:latin typeface="+mn-lt"/>
                  <a:ea typeface="+mn-ea"/>
                  <a:cs typeface="+mn-cs"/>
                </a:rPr>
                <a:t>% accuracy</a:t>
              </a:r>
            </a:p>
          </p:txBody>
        </p:sp>
        <p:sp>
          <p:nvSpPr>
            <p:cNvPr id="24" name="TextBox 24"/>
            <p:cNvSpPr txBox="1"/>
            <p:nvPr/>
          </p:nvSpPr>
          <p:spPr>
            <a:xfrm>
              <a:off x="12571132" y="7020401"/>
              <a:ext cx="4194736" cy="396050"/>
            </a:xfrm>
            <a:prstGeom prst="rect">
              <a:avLst/>
            </a:prstGeom>
            <a:noFill/>
            <a:ln>
              <a:noFill/>
            </a:ln>
          </p:spPr>
          <p:txBody>
            <a:bodyPr wrap="none" lIns="0" tIns="0" rIns="0" bIns="0" anchor="t" anchorCtr="0">
              <a:spAutoFit/>
            </a:bodyPr>
            <a:lstStyle/>
            <a:p>
              <a:pPr algn="ctr"/>
              <a:r>
                <a:rPr lang="en-US" sz="2020" dirty="0">
                  <a:solidFill>
                    <a:schemeClr val="dk2"/>
                  </a:solidFill>
                  <a:latin typeface="+mn-lt"/>
                  <a:ea typeface="+mn-ea"/>
                  <a:cs typeface="+mn-cs"/>
                </a:rPr>
                <a:t>when annotators are scrambled</a:t>
              </a:r>
            </a:p>
          </p:txBody>
        </p:sp>
      </p:grpSp>
      <p:sp>
        <p:nvSpPr>
          <p:cNvPr id="26" name="TextBox 26"/>
          <p:cNvSpPr txBox="1"/>
          <p:nvPr/>
        </p:nvSpPr>
        <p:spPr>
          <a:xfrm>
            <a:off x="1036320" y="9186862"/>
            <a:ext cx="941524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All achieved without ever training on a single semantic label.</a:t>
            </a:r>
          </a:p>
        </p:txBody>
      </p:sp>
      <p:sp>
        <p:nvSpPr>
          <p:cNvPr id="27" name="Line 27"/>
          <p:cNvSpPr/>
          <p:nvPr/>
        </p:nvSpPr>
        <p:spPr>
          <a:xfrm>
            <a:off x="1047750" y="9639300"/>
            <a:ext cx="16192500" cy="9525"/>
          </a:xfrm>
          <a:custGeom>
            <a:avLst/>
            <a:gdLst/>
            <a:ahLst/>
            <a:cxnLst/>
            <a:rect l="l" t="t" r="r" b="b"/>
            <a:pathLst>
              <a:path w="16192500" h="9525">
                <a:moveTo>
                  <a:pt x="0" y="0"/>
                </a:moveTo>
                <a:lnTo>
                  <a:pt x="16192500" y="0"/>
                </a:lnTo>
              </a:path>
            </a:pathLst>
          </a:custGeom>
          <a:noFill/>
          <a:ln w="14288">
            <a:solidFill>
              <a:schemeClr val="accent4"/>
            </a:solidFill>
          </a:ln>
        </p:spPr>
        <p:txBody>
          <a:bodyPr/>
          <a:p/>
        </p:txBody>
      </p:sp>
      <p:sp>
        <p:nvSpPr>
          <p:cNvPr id="28" name="TextBox 28"/>
          <p:cNvSpPr txBox="1"/>
          <p:nvPr/>
        </p:nvSpPr>
        <p:spPr>
          <a:xfrm>
            <a:off x="1039368" y="9823132"/>
            <a:ext cx="8171916" cy="322707"/>
          </a:xfrm>
          <a:prstGeom prst="rect">
            <a:avLst/>
          </a:prstGeom>
          <a:noFill/>
          <a:ln>
            <a:noFill/>
          </a:ln>
        </p:spPr>
        <p:txBody>
          <a:bodyPr wrap="none" lIns="0" tIns="0" rIns="0" bIns="0" anchor="t" anchorCtr="0">
            <a:spAutoFit/>
          </a:bodyPr>
          <a:lstStyle/>
          <a:p>
            <a:pPr algn="l"/>
            <a:r>
              <a:rPr lang="en-US" sz="1650" dirty="0">
                <a:solidFill>
                  <a:schemeClr val="dk2"/>
                </a:solidFill>
                <a:latin typeface="+mn-lt"/>
                <a:ea typeface="+mn-ea"/>
                <a:cs typeface="+mn-cs"/>
              </a:rPr>
              <a:t>A View From Somewhere — Human-Centric Face Representations (ICLR 2023)</a:t>
            </a:r>
          </a:p>
        </p:txBody>
      </p:sp>
      <p:sp>
        <p:nvSpPr>
          <p:cNvPr id="29" name="TextBox 29"/>
          <p:cNvSpPr txBox="1"/>
          <p:nvPr/>
        </p:nvSpPr>
        <p:spPr>
          <a:xfrm>
            <a:off x="16487756" y="9823132"/>
            <a:ext cx="760876" cy="322707"/>
          </a:xfrm>
          <a:prstGeom prst="rect">
            <a:avLst/>
          </a:prstGeom>
          <a:noFill/>
          <a:ln>
            <a:noFill/>
          </a:ln>
        </p:spPr>
        <p:txBody>
          <a:bodyPr wrap="none" lIns="0" tIns="0" rIns="0" bIns="0" anchor="t" anchorCtr="0">
            <a:spAutoFit/>
          </a:bodyPr>
          <a:lstStyle/>
          <a:p>
            <a:pPr algn="r"/>
            <a:r>
              <a:rPr lang="en-US" sz="1650" dirty="0">
                <a:solidFill>
                  <a:schemeClr val="dk2"/>
                </a:solidFill>
                <a:latin typeface="Consolas"/>
                <a:ea typeface="Consolas"/>
                <a:cs typeface="Consolas"/>
              </a:rPr>
              <a:t>09 / 10</a:t>
            </a:r>
          </a:p>
        </p:txBody>
      </p:sp>
      <p:sp>
        <p:nvSpPr>
          <p:cNvPr id="30" name="cue_s09_c1_headline_numbers_tell_whole_story" title="cue_s09_c1_headline_numbers_tell_whole_story" descr="cue_s09_c1_headline_numbers_tell_whole_story The headline numbers tell the whole story."/>
          <p:cNvSpPr/>
          <p:nvPr/>
        </p:nvSpPr>
        <p:spPr>
          <a:xfrm>
            <a:off x="1029614" y="799299"/>
            <a:ext cx="16212312" cy="142989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ue_s09_c2_six_hundred_thirty_eight_thousand_hu" title="cue_s09_c2_six_hundred_thirty_eight_thousand_hu" descr="cue_s09_c2_six_hundred_thirty_eight_thousand_hu Six hundred thirty-eight thousand human judgments gathered over four thousand nine hundred twenty-one distinct faces."/>
          <p:cNvSpPr/>
          <p:nvPr/>
        </p:nvSpPr>
        <p:spPr>
          <a:xfrm>
            <a:off x="1047902" y="2857728"/>
            <a:ext cx="5142585" cy="5333809"/>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ue_s09_c3_twenty_two_interpretable_embedding_d" title="cue_s09_c3_twenty_two_interpretable_embedding_d" descr="cue_s09_c3_twenty_two_interpretable_embedding_d Twenty-two interpretable embedding dimensions retained at nearly sixty-two percent validation accuracy."/>
          <p:cNvSpPr/>
          <p:nvPr/>
        </p:nvSpPr>
        <p:spPr>
          <a:xfrm>
            <a:off x="6572707" y="2857728"/>
            <a:ext cx="5142585" cy="5333809"/>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ue_s09_c4_when_annotator_identities_scrambled" title="cue_s09_c4_when_annotator_identities_scrambled" descr="cue_s09_c4_when_annotator_identities_scrambled And when annotator identities are scrambled, accuracy falls from sixty-one point seven down to fifty-two point eight percent, all achieved without ever training on a single semantic label."/>
          <p:cNvSpPr/>
          <p:nvPr/>
        </p:nvSpPr>
        <p:spPr>
          <a:xfrm>
            <a:off x="11932920" y="2857728"/>
            <a:ext cx="5469940" cy="5333809"/>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1047750" y="800100"/>
            <a:ext cx="514350" cy="76200"/>
          </a:xfrm>
          <a:prstGeom prst="roundRect">
            <a:avLst>
              <a:gd name="adj" fmla="val 50000"/>
            </a:avLst>
          </a:prstGeom>
          <a:solidFill>
            <a:schemeClr val="accent1"/>
          </a:solidFill>
          <a:ln>
            <a:noFill/>
          </a:ln>
        </p:spPr>
        <p:txBody>
          <a:bodyPr/>
          <a:p/>
        </p:txBody>
      </p:sp>
      <p:sp>
        <p:nvSpPr>
          <p:cNvPr id="3" name="TextBox 3"/>
          <p:cNvSpPr txBox="1"/>
          <p:nvPr/>
        </p:nvSpPr>
        <p:spPr>
          <a:xfrm>
            <a:off x="1704594" y="741998"/>
            <a:ext cx="1583527" cy="381381"/>
          </a:xfrm>
          <a:prstGeom prst="rect">
            <a:avLst/>
          </a:prstGeom>
          <a:noFill/>
          <a:ln>
            <a:noFill/>
          </a:ln>
        </p:spPr>
        <p:txBody>
          <a:bodyPr wrap="none" lIns="0" tIns="0" rIns="0" bIns="0" anchor="t" anchorCtr="0">
            <a:spAutoFit/>
          </a:bodyPr>
          <a:lstStyle/>
          <a:p>
            <a:pPr algn="l"/>
            <a:r>
              <a:rPr lang="en-US" sz="1950" b="1" spc="225" dirty="0">
                <a:solidFill>
                  <a:schemeClr val="accent1"/>
                </a:solidFill>
                <a:latin typeface="+mn-lt"/>
                <a:ea typeface="+mn-ea"/>
                <a:cs typeface="+mn-cs"/>
              </a:rPr>
              <a:t>TAKEAWAY</a:t>
            </a:r>
          </a:p>
        </p:txBody>
      </p:sp>
      <p:sp>
        <p:nvSpPr>
          <p:cNvPr id="4" name="TextBox 4"/>
          <p:cNvSpPr txBox="1"/>
          <p:nvPr/>
        </p:nvSpPr>
        <p:spPr>
          <a:xfrm>
            <a:off x="1028700" y="1174432"/>
            <a:ext cx="8374112" cy="904875"/>
          </a:xfrm>
          <a:prstGeom prst="rect">
            <a:avLst/>
          </a:prstGeom>
          <a:noFill/>
          <a:ln>
            <a:noFill/>
          </a:ln>
        </p:spPr>
        <p:txBody>
          <a:bodyPr wrap="none" lIns="0" tIns="0" rIns="0" bIns="0" anchor="t" anchorCtr="0">
            <a:spAutoFit/>
          </a:bodyPr>
          <a:lstStyle/>
          <a:p>
            <a:pPr algn="l"/>
            <a:r>
              <a:rPr lang="en-US" sz="4650" b="1" dirty="0">
                <a:solidFill>
                  <a:schemeClr val="dk1"/>
                </a:solidFill>
                <a:latin typeface="+mn-lt"/>
                <a:ea typeface="+mn-ea"/>
                <a:cs typeface="+mn-cs"/>
              </a:rPr>
              <a:t>Perception over taxonomy</a:t>
            </a:r>
          </a:p>
        </p:txBody>
      </p:sp>
      <p:sp>
        <p:nvSpPr>
          <p:cNvPr id="5" name="Line 5"/>
          <p:cNvSpPr/>
          <p:nvPr/>
        </p:nvSpPr>
        <p:spPr>
          <a:xfrm>
            <a:off x="1047750" y="2000250"/>
            <a:ext cx="16192500" cy="9525"/>
          </a:xfrm>
          <a:custGeom>
            <a:avLst/>
            <a:gdLst/>
            <a:ahLst/>
            <a:cxnLst/>
            <a:rect l="l" t="t" r="r" b="b"/>
            <a:pathLst>
              <a:path w="16192500" h="9525">
                <a:moveTo>
                  <a:pt x="0" y="0"/>
                </a:moveTo>
                <a:lnTo>
                  <a:pt x="16192500" y="0"/>
                </a:lnTo>
              </a:path>
            </a:pathLst>
          </a:custGeom>
          <a:noFill/>
          <a:ln w="19050">
            <a:solidFill>
              <a:schemeClr val="accent4"/>
            </a:solidFill>
          </a:ln>
        </p:spPr>
        <p:txBody>
          <a:bodyPr/>
          <a:p/>
        </p:txBody>
      </p:sp>
      <p:grpSp>
        <p:nvGrpSpPr>
          <p:cNvPr id="21" name="Group 21"/>
          <p:cNvGrpSpPr/>
          <p:nvPr/>
        </p:nvGrpSpPr>
        <p:grpSpPr>
          <a:xfrm>
            <a:off x="1047750" y="2857500"/>
            <a:ext cx="10763250" cy="6000750"/>
            <a:chOff x="1047750" y="2857500"/>
            <a:chExt cx="10763250" cy="6000750"/>
          </a:xfrm>
        </p:grpSpPr>
        <p:sp>
          <p:nvSpPr>
            <p:cNvPr id="6" name="Rectangle 6"/>
            <p:cNvSpPr/>
            <p:nvPr/>
          </p:nvSpPr>
          <p:spPr>
            <a:xfrm>
              <a:off x="1047750" y="2857500"/>
              <a:ext cx="10763250" cy="6000750"/>
            </a:xfrm>
            <a:prstGeom prst="roundRect">
              <a:avLst>
                <a:gd name="adj" fmla="val 2857"/>
              </a:avLst>
            </a:prstGeom>
            <a:solidFill>
              <a:srgbClr val="FFFFFF"/>
            </a:solidFill>
            <a:ln w="19050">
              <a:solidFill>
                <a:schemeClr val="accent4"/>
              </a:solidFill>
            </a:ln>
          </p:spPr>
        </p:sp>
        <p:sp>
          <p:nvSpPr>
            <p:cNvPr id="7" name="Rectangle 7"/>
            <p:cNvSpPr/>
            <p:nvPr/>
          </p:nvSpPr>
          <p:spPr>
            <a:xfrm>
              <a:off x="1047750" y="2857500"/>
              <a:ext cx="76200" cy="6000750"/>
            </a:xfrm>
            <a:prstGeom prst="roundRect">
              <a:avLst>
                <a:gd name="adj" fmla="val 50000"/>
              </a:avLst>
            </a:prstGeom>
            <a:solidFill>
              <a:schemeClr val="accent1"/>
            </a:solidFill>
            <a:ln>
              <a:noFill/>
            </a:ln>
          </p:spPr>
        </p:sp>
        <p:sp>
          <p:nvSpPr>
            <p:cNvPr id="8" name="TextBox 8"/>
            <p:cNvSpPr txBox="1"/>
            <p:nvPr/>
          </p:nvSpPr>
          <p:spPr>
            <a:xfrm>
              <a:off x="1451610" y="3333750"/>
              <a:ext cx="6935788"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Learn from judgments, not labels</a:t>
              </a:r>
            </a:p>
          </p:txBody>
        </p:sp>
        <p:sp>
          <p:nvSpPr>
            <p:cNvPr id="9" name="TextBox 9"/>
            <p:cNvSpPr txBox="1"/>
            <p:nvPr/>
          </p:nvSpPr>
          <p:spPr>
            <a:xfrm>
              <a:off x="1454658" y="4122420"/>
              <a:ext cx="8402660" cy="469392"/>
            </a:xfrm>
            <a:prstGeom prst="rect">
              <a:avLst/>
            </a:prstGeom>
            <a:noFill/>
            <a:ln>
              <a:noFill/>
            </a:ln>
          </p:spPr>
          <p:txBody>
            <a:bodyPr wrap="none" lIns="0" tIns="0" rIns="0" bIns="0" anchor="t" anchorCtr="0">
              <a:spAutoFit/>
            </a:bodyPr>
            <a:lstStyle/>
            <a:p>
              <a:pPr algn="l"/>
              <a:r>
                <a:rPr lang="en-US" sz="2400" dirty="0">
                  <a:solidFill>
                    <a:schemeClr val="dk2"/>
                  </a:solidFill>
                  <a:latin typeface="+mn-lt"/>
                  <a:ea typeface="+mn-ea"/>
                  <a:cs typeface="+mn-cs"/>
                </a:rPr>
                <a:t>Learning face representations from human similarity</a:t>
              </a:r>
            </a:p>
          </p:txBody>
        </p:sp>
        <p:sp>
          <p:nvSpPr>
            <p:cNvPr id="10" name="TextBox 10"/>
            <p:cNvSpPr txBox="1"/>
            <p:nvPr/>
          </p:nvSpPr>
          <p:spPr>
            <a:xfrm>
              <a:off x="1454658" y="4594860"/>
              <a:ext cx="8246974" cy="469392"/>
            </a:xfrm>
            <a:prstGeom prst="rect">
              <a:avLst/>
            </a:prstGeom>
            <a:noFill/>
            <a:ln>
              <a:noFill/>
            </a:ln>
          </p:spPr>
          <p:txBody>
            <a:bodyPr wrap="none" lIns="0" tIns="0" rIns="0" bIns="0" anchor="t" anchorCtr="0">
              <a:spAutoFit/>
            </a:bodyPr>
            <a:lstStyle/>
            <a:p>
              <a:pPr algn="l"/>
              <a:r>
                <a:rPr lang="en-US" sz="2400" dirty="0">
                  <a:solidFill>
                    <a:schemeClr val="dk2"/>
                  </a:solidFill>
                  <a:latin typeface="+mn-lt"/>
                  <a:ea typeface="+mn-ea"/>
                  <a:cs typeface="+mn-cs"/>
                </a:rPr>
                <a:t>judgments, rather than demographic labels, yields a</a:t>
              </a:r>
            </a:p>
          </p:txBody>
        </p:sp>
        <p:sp>
          <p:nvSpPr>
            <p:cNvPr id="11" name="TextBox 11"/>
            <p:cNvSpPr txBox="1"/>
            <p:nvPr/>
          </p:nvSpPr>
          <p:spPr>
            <a:xfrm>
              <a:off x="1454658" y="5067300"/>
              <a:ext cx="9054694" cy="469392"/>
            </a:xfrm>
            <a:prstGeom prst="rect">
              <a:avLst/>
            </a:prstGeom>
            <a:noFill/>
            <a:ln>
              <a:noFill/>
            </a:ln>
          </p:spPr>
          <p:txBody>
            <a:bodyPr wrap="none" lIns="0" tIns="0" rIns="0" bIns="0" anchor="t" anchorCtr="0">
              <a:spAutoFit/>
            </a:bodyPr>
            <a:lstStyle/>
            <a:p>
              <a:pPr algn="l"/>
              <a:r>
                <a:rPr lang="en-US" sz="2400" dirty="0">
                  <a:solidFill>
                    <a:schemeClr val="dk2"/>
                  </a:solidFill>
                  <a:latin typeface="+mn-lt"/>
                  <a:ea typeface="+mn-ea"/>
                  <a:cs typeface="+mn-cs"/>
                </a:rPr>
                <a:t>continuous, interpretable, perception-aligned embedding</a:t>
              </a:r>
            </a:p>
          </p:txBody>
        </p:sp>
        <p:sp>
          <p:nvSpPr>
            <p:cNvPr id="12" name="TextBox 12"/>
            <p:cNvSpPr txBox="1"/>
            <p:nvPr/>
          </p:nvSpPr>
          <p:spPr>
            <a:xfrm>
              <a:off x="1454658" y="5539740"/>
              <a:ext cx="1090574" cy="469392"/>
            </a:xfrm>
            <a:prstGeom prst="rect">
              <a:avLst/>
            </a:prstGeom>
            <a:noFill/>
            <a:ln>
              <a:noFill/>
            </a:ln>
          </p:spPr>
          <p:txBody>
            <a:bodyPr wrap="none" lIns="0" tIns="0" rIns="0" bIns="0" anchor="t" anchorCtr="0">
              <a:spAutoFit/>
            </a:bodyPr>
            <a:lstStyle/>
            <a:p>
              <a:pPr algn="l"/>
              <a:r>
                <a:rPr lang="en-US" sz="2400" dirty="0">
                  <a:solidFill>
                    <a:schemeClr val="dk2"/>
                  </a:solidFill>
                  <a:latin typeface="+mn-lt"/>
                  <a:ea typeface="+mn-ea"/>
                  <a:cs typeface="+mn-cs"/>
                </a:rPr>
                <a:t>space.</a:t>
              </a:r>
            </a:p>
          </p:txBody>
        </p:sp>
        <p:sp>
          <p:nvSpPr>
            <p:cNvPr id="13" name="Rectangle 13"/>
            <p:cNvSpPr/>
            <p:nvPr/>
          </p:nvSpPr>
          <p:spPr>
            <a:xfrm>
              <a:off x="1466850" y="6652260"/>
              <a:ext cx="1565910" cy="419100"/>
            </a:xfrm>
            <a:prstGeom prst="roundRect">
              <a:avLst>
                <a:gd name="adj" fmla="val 50000"/>
              </a:avLst>
            </a:prstGeom>
            <a:solidFill>
              <a:srgbClr val="ECEDFB"/>
            </a:solidFill>
            <a:ln>
              <a:noFill/>
            </a:ln>
          </p:spPr>
        </p:sp>
        <p:sp>
          <p:nvSpPr>
            <p:cNvPr id="14" name="TextBox 14"/>
            <p:cNvSpPr txBox="1"/>
            <p:nvPr/>
          </p:nvSpPr>
          <p:spPr>
            <a:xfrm>
              <a:off x="1629156" y="6747510"/>
              <a:ext cx="1361616"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Continuous</a:t>
              </a:r>
            </a:p>
          </p:txBody>
        </p:sp>
        <p:sp>
          <p:nvSpPr>
            <p:cNvPr id="15" name="Rectangle 15"/>
            <p:cNvSpPr/>
            <p:nvPr/>
          </p:nvSpPr>
          <p:spPr>
            <a:xfrm>
              <a:off x="3223260" y="6652260"/>
              <a:ext cx="1932622" cy="419100"/>
            </a:xfrm>
            <a:prstGeom prst="roundRect">
              <a:avLst>
                <a:gd name="adj" fmla="val 50000"/>
              </a:avLst>
            </a:prstGeom>
            <a:solidFill>
              <a:srgbClr val="ECEDFB"/>
            </a:solidFill>
            <a:ln>
              <a:noFill/>
            </a:ln>
          </p:spPr>
        </p:sp>
        <p:sp>
          <p:nvSpPr>
            <p:cNvPr id="16" name="TextBox 16"/>
            <p:cNvSpPr txBox="1"/>
            <p:nvPr/>
          </p:nvSpPr>
          <p:spPr>
            <a:xfrm>
              <a:off x="3385566" y="6747510"/>
              <a:ext cx="1717627"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Interpretable</a:t>
              </a:r>
            </a:p>
          </p:txBody>
        </p:sp>
        <p:sp>
          <p:nvSpPr>
            <p:cNvPr id="17" name="Rectangle 17"/>
            <p:cNvSpPr/>
            <p:nvPr/>
          </p:nvSpPr>
          <p:spPr>
            <a:xfrm>
              <a:off x="5346382" y="6652260"/>
              <a:ext cx="2544128" cy="419100"/>
            </a:xfrm>
            <a:prstGeom prst="roundRect">
              <a:avLst>
                <a:gd name="adj" fmla="val 50000"/>
              </a:avLst>
            </a:prstGeom>
            <a:solidFill>
              <a:srgbClr val="ECEDFB"/>
            </a:solidFill>
            <a:ln>
              <a:noFill/>
            </a:ln>
          </p:spPr>
        </p:sp>
        <p:sp>
          <p:nvSpPr>
            <p:cNvPr id="18" name="TextBox 18"/>
            <p:cNvSpPr txBox="1"/>
            <p:nvPr/>
          </p:nvSpPr>
          <p:spPr>
            <a:xfrm>
              <a:off x="5508688" y="6747510"/>
              <a:ext cx="2354091"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Perception-aligned</a:t>
              </a:r>
            </a:p>
          </p:txBody>
        </p:sp>
        <p:sp>
          <p:nvSpPr>
            <p:cNvPr id="19" name="Rectangle 19"/>
            <p:cNvSpPr/>
            <p:nvPr/>
          </p:nvSpPr>
          <p:spPr>
            <a:xfrm>
              <a:off x="8081010" y="6652260"/>
              <a:ext cx="2788920" cy="419100"/>
            </a:xfrm>
            <a:prstGeom prst="roundRect">
              <a:avLst>
                <a:gd name="adj" fmla="val 50000"/>
              </a:avLst>
            </a:prstGeom>
            <a:solidFill>
              <a:srgbClr val="ECEDFB"/>
            </a:solidFill>
            <a:ln>
              <a:noFill/>
            </a:ln>
          </p:spPr>
        </p:sp>
        <p:sp>
          <p:nvSpPr>
            <p:cNvPr id="20" name="TextBox 20"/>
            <p:cNvSpPr txBox="1"/>
            <p:nvPr/>
          </p:nvSpPr>
          <p:spPr>
            <a:xfrm>
              <a:off x="8243316" y="6747510"/>
              <a:ext cx="2570607"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Label-free diversity</a:t>
              </a:r>
            </a:p>
          </p:txBody>
        </p:sp>
      </p:grpSp>
      <p:grpSp>
        <p:nvGrpSpPr>
          <p:cNvPr id="35" name="Group 35"/>
          <p:cNvGrpSpPr/>
          <p:nvPr/>
        </p:nvGrpSpPr>
        <p:grpSpPr>
          <a:xfrm>
            <a:off x="12192000" y="2857500"/>
            <a:ext cx="5048250" cy="6000750"/>
            <a:chOff x="12192000" y="2857500"/>
            <a:chExt cx="5048250" cy="6000750"/>
          </a:xfrm>
        </p:grpSpPr>
        <p:sp>
          <p:nvSpPr>
            <p:cNvPr id="22" name="Rectangle 22"/>
            <p:cNvSpPr/>
            <p:nvPr/>
          </p:nvSpPr>
          <p:spPr>
            <a:xfrm>
              <a:off x="12192000" y="2857500"/>
              <a:ext cx="5048250" cy="6000750"/>
            </a:xfrm>
            <a:prstGeom prst="roundRect">
              <a:avLst>
                <a:gd name="adj" fmla="val 3396"/>
              </a:avLst>
            </a:prstGeom>
            <a:solidFill>
              <a:srgbClr val="E1F3F0"/>
            </a:solidFill>
            <a:ln>
              <a:noFill/>
            </a:ln>
          </p:spPr>
        </p:sp>
        <p:sp>
          <p:nvSpPr>
            <p:cNvPr id="23" name="Rectangle 23"/>
            <p:cNvSpPr/>
            <p:nvPr/>
          </p:nvSpPr>
          <p:spPr>
            <a:xfrm>
              <a:off x="12192000" y="2857500"/>
              <a:ext cx="76200" cy="6000750"/>
            </a:xfrm>
            <a:prstGeom prst="roundRect">
              <a:avLst>
                <a:gd name="adj" fmla="val 50000"/>
              </a:avLst>
            </a:prstGeom>
            <a:solidFill>
              <a:schemeClr val="accent2"/>
            </a:solidFill>
            <a:ln>
              <a:noFill/>
            </a:ln>
          </p:spPr>
        </p:sp>
        <p:sp>
          <p:nvSpPr>
            <p:cNvPr id="24" name="TextBox 24"/>
            <p:cNvSpPr txBox="1"/>
            <p:nvPr/>
          </p:nvSpPr>
          <p:spPr>
            <a:xfrm>
              <a:off x="12559284" y="3366135"/>
              <a:ext cx="2463366" cy="528066"/>
            </a:xfrm>
            <a:prstGeom prst="rect">
              <a:avLst/>
            </a:prstGeom>
            <a:noFill/>
            <a:ln>
              <a:noFill/>
            </a:ln>
          </p:spPr>
          <p:txBody>
            <a:bodyPr wrap="none" lIns="0" tIns="0" rIns="0" bIns="0" anchor="t" anchorCtr="0">
              <a:spAutoFit/>
            </a:bodyPr>
            <a:lstStyle/>
            <a:p>
              <a:pPr algn="l"/>
              <a:r>
                <a:rPr lang="en-US" sz="2700" b="1" dirty="0">
                  <a:solidFill>
                    <a:schemeClr val="dk1"/>
                  </a:solidFill>
                  <a:latin typeface="+mn-lt"/>
                  <a:ea typeface="+mn-ea"/>
                  <a:cs typeface="+mn-cs"/>
                </a:rPr>
                <a:t>Beyond faces</a:t>
              </a:r>
            </a:p>
          </p:txBody>
        </p:sp>
        <p:sp>
          <p:nvSpPr>
            <p:cNvPr id="25" name="TextBox 25"/>
            <p:cNvSpPr txBox="1"/>
            <p:nvPr/>
          </p:nvSpPr>
          <p:spPr>
            <a:xfrm>
              <a:off x="12561951" y="4051459"/>
              <a:ext cx="4140812" cy="425386"/>
            </a:xfrm>
            <a:prstGeom prst="rect">
              <a:avLst/>
            </a:prstGeom>
            <a:noFill/>
            <a:ln>
              <a:noFill/>
            </a:ln>
          </p:spPr>
          <p:txBody>
            <a:bodyPr wrap="none" lIns="0" tIns="0" rIns="0" bIns="0" anchor="t" anchorCtr="0">
              <a:spAutoFit/>
            </a:bodyPr>
            <a:lstStyle/>
            <a:p>
              <a:pPr algn="l"/>
              <a:r>
                <a:rPr lang="en-US" sz="2180" dirty="0">
                  <a:solidFill>
                    <a:schemeClr val="dk2"/>
                  </a:solidFill>
                  <a:latin typeface="+mn-lt"/>
                  <a:ea typeface="+mn-ea"/>
                  <a:cs typeface="+mn-cs"/>
                </a:rPr>
                <a:t>The framework only needs to</a:t>
              </a:r>
            </a:p>
          </p:txBody>
        </p:sp>
        <p:sp>
          <p:nvSpPr>
            <p:cNvPr id="26" name="TextBox 26"/>
            <p:cNvSpPr txBox="1"/>
            <p:nvPr/>
          </p:nvSpPr>
          <p:spPr>
            <a:xfrm>
              <a:off x="12561951" y="4479131"/>
              <a:ext cx="4042659" cy="425386"/>
            </a:xfrm>
            <a:prstGeom prst="rect">
              <a:avLst/>
            </a:prstGeom>
            <a:noFill/>
            <a:ln>
              <a:noFill/>
            </a:ln>
          </p:spPr>
          <p:txBody>
            <a:bodyPr wrap="none" lIns="0" tIns="0" rIns="0" bIns="0" anchor="t" anchorCtr="0">
              <a:spAutoFit/>
            </a:bodyPr>
            <a:lstStyle/>
            <a:p>
              <a:pPr algn="l"/>
              <a:r>
                <a:rPr lang="en-US" sz="2180" dirty="0">
                  <a:solidFill>
                    <a:schemeClr val="dk2"/>
                  </a:solidFill>
                  <a:latin typeface="+mn-lt"/>
                  <a:ea typeface="+mn-ea"/>
                  <a:cs typeface="+mn-cs"/>
                </a:rPr>
                <a:t>track which annotator made</a:t>
              </a:r>
            </a:p>
          </p:txBody>
        </p:sp>
        <p:sp>
          <p:nvSpPr>
            <p:cNvPr id="27" name="TextBox 27"/>
            <p:cNvSpPr txBox="1"/>
            <p:nvPr/>
          </p:nvSpPr>
          <p:spPr>
            <a:xfrm>
              <a:off x="12561951" y="4907756"/>
              <a:ext cx="4116027" cy="425386"/>
            </a:xfrm>
            <a:prstGeom prst="rect">
              <a:avLst/>
            </a:prstGeom>
            <a:noFill/>
            <a:ln>
              <a:noFill/>
            </a:ln>
          </p:spPr>
          <p:txBody>
            <a:bodyPr wrap="none" lIns="0" tIns="0" rIns="0" bIns="0" anchor="t" anchorCtr="0">
              <a:spAutoFit/>
            </a:bodyPr>
            <a:lstStyle/>
            <a:p>
              <a:pPr algn="l"/>
              <a:r>
                <a:rPr lang="en-US" sz="2180" dirty="0">
                  <a:solidFill>
                    <a:schemeClr val="dk2"/>
                  </a:solidFill>
                  <a:latin typeface="+mn-lt"/>
                  <a:ea typeface="+mn-ea"/>
                  <a:cs typeface="+mn-cs"/>
                </a:rPr>
                <a:t>which judgment, so the same</a:t>
              </a:r>
            </a:p>
          </p:txBody>
        </p:sp>
        <p:sp>
          <p:nvSpPr>
            <p:cNvPr id="28" name="TextBox 28"/>
            <p:cNvSpPr txBox="1"/>
            <p:nvPr/>
          </p:nvSpPr>
          <p:spPr>
            <a:xfrm>
              <a:off x="12561951" y="5336381"/>
              <a:ext cx="4174721" cy="425386"/>
            </a:xfrm>
            <a:prstGeom prst="rect">
              <a:avLst/>
            </a:prstGeom>
            <a:noFill/>
            <a:ln>
              <a:noFill/>
            </a:ln>
          </p:spPr>
          <p:txBody>
            <a:bodyPr wrap="none" lIns="0" tIns="0" rIns="0" bIns="0" anchor="t" anchorCtr="0">
              <a:spAutoFit/>
            </a:bodyPr>
            <a:lstStyle/>
            <a:p>
              <a:pPr algn="l"/>
              <a:r>
                <a:rPr lang="en-US" sz="2180" dirty="0">
                  <a:solidFill>
                    <a:schemeClr val="dk2"/>
                  </a:solidFill>
                  <a:latin typeface="+mn-lt"/>
                  <a:ea typeface="+mn-ea"/>
                  <a:cs typeface="+mn-cs"/>
                </a:rPr>
                <a:t>conditional approach extends</a:t>
              </a:r>
            </a:p>
          </p:txBody>
        </p:sp>
        <p:sp>
          <p:nvSpPr>
            <p:cNvPr id="29" name="TextBox 29"/>
            <p:cNvSpPr txBox="1"/>
            <p:nvPr/>
          </p:nvSpPr>
          <p:spPr>
            <a:xfrm>
              <a:off x="12561951" y="5764054"/>
              <a:ext cx="3851902" cy="425386"/>
            </a:xfrm>
            <a:prstGeom prst="rect">
              <a:avLst/>
            </a:prstGeom>
            <a:noFill/>
            <a:ln>
              <a:noFill/>
            </a:ln>
          </p:spPr>
          <p:txBody>
            <a:bodyPr wrap="none" lIns="0" tIns="0" rIns="0" bIns="0" anchor="t" anchorCtr="0">
              <a:spAutoFit/>
            </a:bodyPr>
            <a:lstStyle/>
            <a:p>
              <a:pPr algn="l"/>
              <a:r>
                <a:rPr lang="en-US" sz="2180" dirty="0">
                  <a:solidFill>
                    <a:schemeClr val="dk2"/>
                  </a:solidFill>
                  <a:latin typeface="+mn-lt"/>
                  <a:ea typeface="+mn-ea"/>
                  <a:cs typeface="+mn-cs"/>
                </a:rPr>
                <a:t>to almost any task built on</a:t>
              </a:r>
            </a:p>
          </p:txBody>
        </p:sp>
        <p:sp>
          <p:nvSpPr>
            <p:cNvPr id="30" name="TextBox 30"/>
            <p:cNvSpPr txBox="1"/>
            <p:nvPr/>
          </p:nvSpPr>
          <p:spPr>
            <a:xfrm>
              <a:off x="12561951" y="6192679"/>
              <a:ext cx="2443239" cy="425386"/>
            </a:xfrm>
            <a:prstGeom prst="rect">
              <a:avLst/>
            </a:prstGeom>
            <a:noFill/>
            <a:ln>
              <a:noFill/>
            </a:ln>
          </p:spPr>
          <p:txBody>
            <a:bodyPr wrap="none" lIns="0" tIns="0" rIns="0" bIns="0" anchor="t" anchorCtr="0">
              <a:spAutoFit/>
            </a:bodyPr>
            <a:lstStyle/>
            <a:p>
              <a:pPr algn="l"/>
              <a:r>
                <a:rPr lang="en-US" sz="2180" dirty="0">
                  <a:solidFill>
                    <a:schemeClr val="dk2"/>
                  </a:solidFill>
                  <a:latin typeface="+mn-lt"/>
                  <a:ea typeface="+mn-ea"/>
                  <a:cs typeface="+mn-cs"/>
                </a:rPr>
                <a:t>human decisions.</a:t>
              </a:r>
            </a:p>
          </p:txBody>
        </p:sp>
        <p:sp>
          <p:nvSpPr>
            <p:cNvPr id="31" name="Rectangle 31"/>
            <p:cNvSpPr/>
            <p:nvPr/>
          </p:nvSpPr>
          <p:spPr>
            <a:xfrm>
              <a:off x="12573000" y="7334250"/>
              <a:ext cx="4286250" cy="1333500"/>
            </a:xfrm>
            <a:prstGeom prst="roundRect">
              <a:avLst>
                <a:gd name="adj" fmla="val 11429"/>
              </a:avLst>
            </a:prstGeom>
            <a:solidFill>
              <a:srgbClr val="FFFFFF"/>
            </a:solidFill>
            <a:ln w="19050">
              <a:solidFill>
                <a:schemeClr val="accent4"/>
              </a:solidFill>
            </a:ln>
          </p:spPr>
        </p:sp>
        <p:sp>
          <p:nvSpPr>
            <p:cNvPr id="32" name="TextBox 32"/>
            <p:cNvSpPr txBox="1"/>
            <p:nvPr/>
          </p:nvSpPr>
          <p:spPr>
            <a:xfrm>
              <a:off x="12792075" y="7589044"/>
              <a:ext cx="3364966" cy="366712"/>
            </a:xfrm>
            <a:prstGeom prst="rect">
              <a:avLst/>
            </a:prstGeom>
            <a:noFill/>
            <a:ln>
              <a:noFill/>
            </a:ln>
          </p:spPr>
          <p:txBody>
            <a:bodyPr wrap="none" lIns="0" tIns="0" rIns="0" bIns="0" anchor="t" anchorCtr="0">
              <a:spAutoFit/>
            </a:bodyPr>
            <a:lstStyle/>
            <a:p>
              <a:pPr algn="l"/>
              <a:r>
                <a:rPr lang="en-US" sz="1880" b="1" dirty="0">
                  <a:solidFill>
                    <a:schemeClr val="dk1"/>
                  </a:solidFill>
                  <a:latin typeface="+mn-lt"/>
                  <a:ea typeface="+mn-ea"/>
                  <a:cs typeface="+mn-cs"/>
                </a:rPr>
                <a:t>Paper · arXiv:2303.17176</a:t>
              </a:r>
            </a:p>
          </p:txBody>
        </p:sp>
        <p:sp>
          <p:nvSpPr>
            <p:cNvPr id="33" name="TextBox 33"/>
            <p:cNvSpPr txBox="1"/>
            <p:nvPr/>
          </p:nvSpPr>
          <p:spPr>
            <a:xfrm>
              <a:off x="12793218" y="8032432"/>
              <a:ext cx="2927535" cy="322707"/>
            </a:xfrm>
            <a:prstGeom prst="rect">
              <a:avLst/>
            </a:prstGeom>
            <a:noFill/>
            <a:ln>
              <a:noFill/>
            </a:ln>
          </p:spPr>
          <p:txBody>
            <a:bodyPr wrap="none" lIns="0" tIns="0" rIns="0" bIns="0" anchor="t" anchorCtr="0">
              <a:spAutoFit/>
            </a:bodyPr>
            <a:lstStyle/>
            <a:p>
              <a:pPr algn="l"/>
              <a:r>
                <a:rPr lang="en-US" sz="1650" dirty="0">
                  <a:solidFill>
                    <a:schemeClr val="dk2"/>
                  </a:solidFill>
                  <a:latin typeface="+mn-lt"/>
                  <a:ea typeface="+mn-ea"/>
                  <a:cs typeface="+mn-cs"/>
                </a:rPr>
                <a:t>Code · github.com/SonyAI/</a:t>
              </a:r>
            </a:p>
          </p:txBody>
        </p:sp>
        <p:sp>
          <p:nvSpPr>
            <p:cNvPr id="34" name="TextBox 34"/>
            <p:cNvSpPr txBox="1"/>
            <p:nvPr/>
          </p:nvSpPr>
          <p:spPr>
            <a:xfrm>
              <a:off x="12793218" y="8318182"/>
              <a:ext cx="2704452" cy="322707"/>
            </a:xfrm>
            <a:prstGeom prst="rect">
              <a:avLst/>
            </a:prstGeom>
            <a:noFill/>
            <a:ln>
              <a:noFill/>
            </a:ln>
          </p:spPr>
          <p:txBody>
            <a:bodyPr wrap="none" lIns="0" tIns="0" rIns="0" bIns="0" anchor="t" anchorCtr="0">
              <a:spAutoFit/>
            </a:bodyPr>
            <a:lstStyle/>
            <a:p>
              <a:pPr algn="l"/>
              <a:r>
                <a:rPr lang="en-US" sz="1650" dirty="0">
                  <a:solidFill>
                    <a:schemeClr val="dk2"/>
                  </a:solidFill>
                  <a:latin typeface="+mn-lt"/>
                  <a:ea typeface="+mn-ea"/>
                  <a:cs typeface="+mn-cs"/>
                </a:rPr>
                <a:t>a_view_from_somewhere</a:t>
              </a:r>
            </a:p>
          </p:txBody>
        </p:sp>
      </p:grpSp>
      <p:sp>
        <p:nvSpPr>
          <p:cNvPr id="36" name="Line 36"/>
          <p:cNvSpPr/>
          <p:nvPr/>
        </p:nvSpPr>
        <p:spPr>
          <a:xfrm>
            <a:off x="1047750" y="9639300"/>
            <a:ext cx="16192500" cy="9525"/>
          </a:xfrm>
          <a:custGeom>
            <a:avLst/>
            <a:gdLst/>
            <a:ahLst/>
            <a:cxnLst/>
            <a:rect l="l" t="t" r="r" b="b"/>
            <a:pathLst>
              <a:path w="16192500" h="9525">
                <a:moveTo>
                  <a:pt x="0" y="0"/>
                </a:moveTo>
                <a:lnTo>
                  <a:pt x="16192500" y="0"/>
                </a:lnTo>
              </a:path>
            </a:pathLst>
          </a:custGeom>
          <a:noFill/>
          <a:ln w="14288">
            <a:solidFill>
              <a:schemeClr val="accent4"/>
            </a:solidFill>
          </a:ln>
        </p:spPr>
        <p:txBody>
          <a:bodyPr/>
          <a:p/>
        </p:txBody>
      </p:sp>
      <p:sp>
        <p:nvSpPr>
          <p:cNvPr id="37" name="TextBox 37"/>
          <p:cNvSpPr txBox="1"/>
          <p:nvPr/>
        </p:nvSpPr>
        <p:spPr>
          <a:xfrm>
            <a:off x="1039368" y="9823132"/>
            <a:ext cx="8171916" cy="322707"/>
          </a:xfrm>
          <a:prstGeom prst="rect">
            <a:avLst/>
          </a:prstGeom>
          <a:noFill/>
          <a:ln>
            <a:noFill/>
          </a:ln>
        </p:spPr>
        <p:txBody>
          <a:bodyPr wrap="none" lIns="0" tIns="0" rIns="0" bIns="0" anchor="t" anchorCtr="0">
            <a:spAutoFit/>
          </a:bodyPr>
          <a:lstStyle/>
          <a:p>
            <a:pPr algn="l"/>
            <a:r>
              <a:rPr lang="en-US" sz="1650" dirty="0">
                <a:solidFill>
                  <a:schemeClr val="dk2"/>
                </a:solidFill>
                <a:latin typeface="+mn-lt"/>
                <a:ea typeface="+mn-ea"/>
                <a:cs typeface="+mn-cs"/>
              </a:rPr>
              <a:t>A View From Somewhere — Human-Centric Face Representations (ICLR 2023)</a:t>
            </a:r>
          </a:p>
        </p:txBody>
      </p:sp>
      <p:sp>
        <p:nvSpPr>
          <p:cNvPr id="38" name="TextBox 38"/>
          <p:cNvSpPr txBox="1"/>
          <p:nvPr/>
        </p:nvSpPr>
        <p:spPr>
          <a:xfrm>
            <a:off x="16487756" y="9823132"/>
            <a:ext cx="760876" cy="322707"/>
          </a:xfrm>
          <a:prstGeom prst="rect">
            <a:avLst/>
          </a:prstGeom>
          <a:noFill/>
          <a:ln>
            <a:noFill/>
          </a:ln>
        </p:spPr>
        <p:txBody>
          <a:bodyPr wrap="none" lIns="0" tIns="0" rIns="0" bIns="0" anchor="t" anchorCtr="0">
            <a:spAutoFit/>
          </a:bodyPr>
          <a:lstStyle/>
          <a:p>
            <a:pPr algn="r"/>
            <a:r>
              <a:rPr lang="en-US" sz="1650" dirty="0">
                <a:solidFill>
                  <a:schemeClr val="dk2"/>
                </a:solidFill>
                <a:latin typeface="Consolas"/>
                <a:ea typeface="Consolas"/>
                <a:cs typeface="Consolas"/>
              </a:rPr>
              <a:t>10 / 10</a:t>
            </a:r>
          </a:p>
        </p:txBody>
      </p:sp>
      <p:sp>
        <p:nvSpPr>
          <p:cNvPr id="39" name="cue_s10_c1_key_takeaway_learning_face_represent" title="cue_s10_c1_key_takeaway_learning_face_represent" descr="cue_s10_c1_key_takeaway_learning_face_represent The key takeaway is that learning face representations from human similarity judgments, instead of demographic labels, produces a continuous, interpretable, and perception-aligned embedding space that supports diversity analysis without invasive categorical la"/>
          <p:cNvSpPr/>
          <p:nvPr/>
        </p:nvSpPr>
        <p:spPr>
          <a:xfrm>
            <a:off x="1047902" y="2857728"/>
            <a:ext cx="10762488" cy="600040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10_c2_because_framework_only_requires_keep" title="cue_s10_c2_because_framework_only_requires_keep" descr="cue_s10_c2_because_framework_only_requires_keep And because the framework only requires keeping track of which annotator made which judgment, the same conditional approach can extend naturally to almost any machine-learning task built on subjective human decisions."/>
          <p:cNvSpPr/>
          <p:nvPr/>
        </p:nvSpPr>
        <p:spPr>
          <a:xfrm>
            <a:off x="12192609" y="2857728"/>
            <a:ext cx="5047488" cy="600040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
  <a:themeElements>
    <a:clrScheme name="deck">
      <a:dk1>
        <a:srgbClr val="15202E"/>
      </a:dk1>
      <a:lt1>
        <a:srgbClr val="FBFCFE"/>
      </a:lt1>
      <a:dk2>
        <a:srgbClr val="5A6B82"/>
      </a:dk2>
      <a:lt2>
        <a:srgbClr val="F4F7FB"/>
      </a:lt2>
      <a:accent1>
        <a:srgbClr val="4338CA"/>
      </a:accent1>
      <a:accent2>
        <a:srgbClr val="0E8F86"/>
      </a:accent2>
      <a:accent3>
        <a:srgbClr val="CF2E56"/>
      </a:accent3>
      <a:accent4>
        <a:srgbClr val="E1E8F1"/>
      </a:accent4>
      <a:accent5>
        <a:srgbClr val="B8730F"/>
      </a:accent5>
      <a:accent6>
        <a:srgbClr val="F79646"/>
      </a:accent6>
      <a:hlink>
        <a:srgbClr val="0E8F86"/>
      </a:hlink>
      <a:folHlink>
        <a:srgbClr val="CF2E56"/>
      </a:folHlink>
    </a:clrScheme>
    <a:fontScheme name="deck">
      <a:majorFont>
        <a:latin typeface="Segoe UI"/>
        <a:ea typeface="Microsoft YaHei"/>
        <a:cs typeface="Segoe U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2026-07-16T07:59:38Z</dcterms:created>
  <dcterms:modified xsi:type="dcterms:W3CDTF">2026-07-16T07:59:38Z</dcterms:modified>
  <cp:category/>
  <cp:contentStatus/>
</cp:coreProperties>
</file>
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6280785"/>
          </a:xfrm>
          <a:prstGeom prst="roundRect">
            <a:avLst>
              <a:gd name="adj" fmla="val 2264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7454126"/>
            <a:ext cx="16349682" cy="7080329"/>
          </a:xfrm>
          <a:prstGeom prst="roundRect">
            <a:avLst>
              <a:gd name="adj" fmla="val 1171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7454126"/>
            <a:ext cx="16349682" cy="16160214"/>
          </a:xfrm>
          <a:prstGeom prst="roundRect">
            <a:avLst>
              <a:gd name="adj" fmla="val 513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7454126"/>
            <a:ext cx="16349821" cy="16200358"/>
          </a:xfrm>
          <a:prstGeom prst="roundRect">
            <a:avLst>
              <a:gd name="adj" fmla="val 512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4866302"/>
            <a:ext cx="16349682" cy="15205650"/>
          </a:xfrm>
          <a:prstGeom prst="roundRect">
            <a:avLst>
              <a:gd name="adj" fmla="val 545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428289" y="23946187"/>
            <a:ext cx="16349682" cy="6125765"/>
          </a:xfrm>
          <a:prstGeom prst="roundRect">
            <a:avLst>
              <a:gd name="adj" fmla="val 135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986331"/>
            <a:ext cx="16349821" cy="6085621"/>
          </a:xfrm>
          <a:prstGeom prst="roundRect">
            <a:avLst>
              <a:gd name="adj" fmla="val 1363"/>
            </a:avLst>
          </a:prstGeom>
          <a:solidFill>
            <a:srgbClr val="E9F2F3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986331"/>
            <a:ext cx="53340" cy="6085621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576" y="5157727"/>
            <a:ext cx="4347210" cy="1466850"/>
          </a:xfrm>
          <a:prstGeom prst="rect">
            <a:avLst/>
          </a:prstGeom>
        </p:spPr>
      </p:pic>
      <p:pic>
        <p:nvPicPr>
          <p:cNvPr id="11" name="Picture 10" descr="hainan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8760" y="5157750"/>
            <a:ext cx="1203206" cy="1466805"/>
          </a:xfrm>
          <a:prstGeom prst="rect">
            <a:avLst/>
          </a:prstGeom>
        </p:spPr>
      </p:pic>
      <p:pic>
        <p:nvPicPr>
          <p:cNvPr id="12" name="Picture 11" descr="the-hong-kong-university-of-science-and-techn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8940" y="5157757"/>
            <a:ext cx="944424" cy="1466791"/>
          </a:xfrm>
          <a:prstGeom prst="rect">
            <a:avLst/>
          </a:prstGeom>
        </p:spPr>
      </p:pic>
      <p:pic>
        <p:nvPicPr>
          <p:cNvPr id="13" name="Picture 12" descr="southeast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0338" y="5157737"/>
            <a:ext cx="3559750" cy="1466831"/>
          </a:xfrm>
          <a:prstGeom prst="rect">
            <a:avLst/>
          </a:prstGeom>
        </p:spPr>
      </p:pic>
      <p:pic>
        <p:nvPicPr>
          <p:cNvPr id="14" name="Picture 13" descr="huazhong-university-of-science-and-technolo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7062" y="5157770"/>
            <a:ext cx="1930797" cy="1466765"/>
          </a:xfrm>
          <a:prstGeom prst="rect">
            <a:avLst/>
          </a:prstGeom>
        </p:spPr>
      </p:pic>
      <p:pic>
        <p:nvPicPr>
          <p:cNvPr id="15" name="Picture 14" descr="shandong-univers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84833" y="5157758"/>
            <a:ext cx="1448792" cy="1466789"/>
          </a:xfrm>
          <a:prstGeom prst="rect">
            <a:avLst/>
          </a:prstGeom>
        </p:spPr>
      </p:pic>
      <p:pic>
        <p:nvPicPr>
          <p:cNvPr id="16" name="Picture 15" descr="lingnan-univers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70600" y="5157727"/>
            <a:ext cx="1466850" cy="1466850"/>
          </a:xfrm>
          <a:prstGeom prst="rect">
            <a:avLst/>
          </a:prstGeom>
        </p:spPr>
      </p:pic>
      <p:pic>
        <p:nvPicPr>
          <p:cNvPr id="17" name="Picture 16" descr="st-francis-xavier-univers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74424" y="5157731"/>
            <a:ext cx="1417399" cy="14668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39991" y="11473934"/>
            <a:ext cx="15573474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1473934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11776471"/>
            <a:ext cx="15573474" cy="3436541"/>
          </a:xfrm>
          <a:prstGeom prst="roundRect">
            <a:avLst>
              <a:gd name="adj" fmla="val 6556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592795" y="11876067"/>
            <a:ext cx="15573613" cy="1252101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8051700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8051700"/>
            <a:ext cx="124460" cy="148101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637245" y="28015029"/>
            <a:ext cx="15529163" cy="1668819"/>
          </a:xfrm>
          <a:prstGeom prst="roundRect">
            <a:avLst>
              <a:gd name="adj" fmla="val 125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29496" y="11630342"/>
            <a:ext cx="117389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92795" y="13669902"/>
            <a:ext cx="15573613" cy="8760123"/>
          </a:xfrm>
          <a:prstGeom prst="roundRect">
            <a:avLst>
              <a:gd name="adj" fmla="val 40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ur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92826" y="13669902"/>
            <a:ext cx="15573552" cy="876012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7837646" y="15734466"/>
            <a:ext cx="15530969" cy="6212304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37750" y="15734466"/>
            <a:ext cx="15530760" cy="621230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39991" y="19793446"/>
            <a:ext cx="15573474" cy="8015446"/>
          </a:xfrm>
          <a:prstGeom prst="roundRect">
            <a:avLst>
              <a:gd name="adj" fmla="val 44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016" y="19793446"/>
            <a:ext cx="15573423" cy="801544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7816393" y="27887791"/>
            <a:ext cx="1398786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Fish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371587" y="27887791"/>
            <a:ext cx="169493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Reefs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222930" y="27887791"/>
            <a:ext cx="3541415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Aquatic plants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920753" y="27887791"/>
            <a:ext cx="3263325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Wrecks/ruins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0486" y="27887791"/>
            <a:ext cx="3418900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Human divers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816393" y="28864024"/>
            <a:ext cx="2014141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Robots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86942" y="28864024"/>
            <a:ext cx="240863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Sea-floor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92795" y="9138503"/>
            <a:ext cx="5643622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92795" y="9944020"/>
            <a:ext cx="56436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236417" y="9138503"/>
            <a:ext cx="5502077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36417" y="9944020"/>
            <a:ext cx="55020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38494" y="9138503"/>
            <a:ext cx="4427914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38494" y="9944020"/>
            <a:ext cx="44279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592795" y="9952910"/>
            <a:ext cx="564362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10762872"/>
            <a:ext cx="56436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236417" y="9952910"/>
            <a:ext cx="55020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6417" y="10762872"/>
            <a:ext cx="55020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38494" y="9952910"/>
            <a:ext cx="442791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38494" y="10762872"/>
            <a:ext cx="44279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10771762"/>
            <a:ext cx="5643622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11581725"/>
            <a:ext cx="56436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236417" y="10771762"/>
            <a:ext cx="5502077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36417" y="11581725"/>
            <a:ext cx="55020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38494" y="10771762"/>
            <a:ext cx="4427914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38494" y="11581725"/>
            <a:ext cx="442791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5581" y="1007487"/>
            <a:ext cx="49001957" cy="27590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226"/>
              </a:lnSpc>
              <a:spcBef>
                <a:spcPts val="0"/>
              </a:spcBef>
              <a:spcAft>
                <a:spcPts val="0"/>
              </a:spcAft>
            </a:pPr>
            <a:r>
              <a:rPr sz="8387" b="1" spc="-85">
                <a:solidFill>
                  <a:srgbClr val="0F6070"/>
                </a:solidFill>
                <a:latin typeface="Arial"/>
              </a:rPr>
              <a:t>Diving into Underwater: Segment Anything Model Guided Underwater Salient Instance</a:t>
            </a:r>
          </a:p>
          <a:p>
            <a:pPr algn="ctr">
              <a:lnSpc>
                <a:spcPts val="9226"/>
              </a:lnSpc>
              <a:spcBef>
                <a:spcPts val="0"/>
              </a:spcBef>
              <a:spcAft>
                <a:spcPts val="0"/>
              </a:spcAft>
            </a:pPr>
            <a:r>
              <a:rPr sz="8387" b="1" spc="-85">
                <a:solidFill>
                  <a:srgbClr val="0F6070"/>
                </a:solidFill>
                <a:latin typeface="Arial"/>
              </a:rPr>
              <a:t>Segmentation and A Large-Scale Dataset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15581" y="3646566"/>
            <a:ext cx="49001957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Shijie Lian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Ziyi Zhang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Hua Li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1,3,†</a:t>
            </a:r>
            <a:r>
              <a:rPr sz="4106" b="0">
                <a:solidFill>
                  <a:srgbClr val="1B2331"/>
                </a:solidFill>
                <a:latin typeface="Arial"/>
              </a:rPr>
              <a:t>, Wenjie Li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Laurence Tianruo Yang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1,4,5</a:t>
            </a:r>
            <a:r>
              <a:rPr sz="4106" b="0">
                <a:solidFill>
                  <a:srgbClr val="1B2331"/>
                </a:solidFill>
                <a:latin typeface="Arial"/>
              </a:rPr>
              <a:t>, Sam Kwong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6</a:t>
            </a:r>
            <a:r>
              <a:rPr sz="4106" b="0">
                <a:solidFill>
                  <a:srgbClr val="1B2331"/>
                </a:solidFill>
                <a:latin typeface="Arial"/>
              </a:rPr>
              <a:t>, Runmin Cong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7,8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5581" y="4381380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Hainan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HKUST (Guangzhou)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Southeast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Huazhong Univ. of Science &amp; Technology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St. Francis Xavier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Lingnan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7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Shandong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8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MoE Key Lab of Machine Intelligence &amp; System Control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991" y="7842230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16393" y="7842230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592795" y="7842230"/>
            <a:ext cx="160003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8944590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Finding and masking a scene's most salient objects underwater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hard: conditions distort images, and no large-scale pixel-level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salient dataset exists.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592795" y="11876067"/>
            <a:ext cx="16000333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New SOTA: +1.5 mAP class-agnostic, +5.1 multi-class.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95361" y="14772679"/>
            <a:ext cx="5577860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Multi-scale, channel-adapted features (λ = 0.8).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15254406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991" y="18051700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Unlocking SAM underwater needs a large-scale dataset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self-prompting adaptation.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816393" y="24334291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Dataset / Benchmark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637245" y="24374435"/>
            <a:ext cx="159558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637245" y="25481240"/>
            <a:ext cx="1595588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USIS10K plus a SAM that sees underwater and prompts itself sets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new state of the art for salient instance segmentation underwater.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Dataset and code are publicly released.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637245" y="28015029"/>
            <a:ext cx="15955883" cy="1919141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Adapt the foundation model, give it the right data, and let it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prompt itself.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816375" y="9064605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UA-ViT</a:t>
            </a:r>
            <a:r>
              <a:rPr sz="4106" b="0">
                <a:solidFill>
                  <a:srgbClr val="1C1C1C"/>
                </a:solidFill>
                <a:latin typeface="Arial"/>
              </a:rPr>
              <a:t> injects underwater prompts into a frozen SAM via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channel adapter + multi-scale convolutions; </a:t>
            </a:r>
            <a:r>
              <a:rPr sz="4106" b="1">
                <a:solidFill>
                  <a:srgbClr val="111111"/>
                </a:solidFill>
                <a:latin typeface="Arial"/>
              </a:rPr>
              <a:t>SFPG</a:t>
            </a:r>
            <a:r>
              <a:rPr sz="4106" b="0">
                <a:solidFill>
                  <a:srgbClr val="1C1C1C"/>
                </a:solidFill>
                <a:latin typeface="Arial"/>
              </a:rPr>
              <a:t> auto-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generates salient prompts, replacing SAM's manual ones.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29496" y="12477531"/>
            <a:ext cx="1514564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SAM generalizes poorly underwater and needs manual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prompts to segment.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72" y="16356766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SAM</a:t>
            </a:r>
            <a:r>
              <a:rPr sz="4106" b="0">
                <a:solidFill>
                  <a:srgbClr val="1C1C1C"/>
                </a:solidFill>
                <a:latin typeface="Arial"/>
              </a:rPr>
              <a:t> segments strongly, but without underwater adaptation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salient data it fails in murky scenes.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458834" y="22096372"/>
            <a:ext cx="1471517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USIS-SAM: frozen SAM + Underwater Adaptive ViT encoder + Salient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Feature Prompt Generator; (b) UA-ViT block.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975051" y="22579627"/>
            <a:ext cx="13193230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SFPG concentrates features on salient instances vs. without SFPG.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816375" y="25436651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USIS10K</a:t>
            </a:r>
            <a:r>
              <a:rPr sz="4106" b="0">
                <a:solidFill>
                  <a:srgbClr val="1C1C1C"/>
                </a:solidFill>
                <a:latin typeface="Arial"/>
              </a:rPr>
              <a:t>: 10,632 images, pixel-level, 7 categories — the first &amp;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largest underwater salient-instance dataset, with class-agnostic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&amp; multi-class labels.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62985" y="27958494"/>
            <a:ext cx="1475420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USIS-SAM vs. prior methods on USIS10K: baselines show extra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predictions, localization faults, instance confusion.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9138503"/>
            <a:ext cx="5812930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Method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236417" y="9138503"/>
            <a:ext cx="5667139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Class-agnostic mAP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38494" y="9138503"/>
            <a:ext cx="4560751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Multi-class mAP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92795" y="9952910"/>
            <a:ext cx="581293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WaterMask (ICCV'23)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236417" y="9952910"/>
            <a:ext cx="566713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59.0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38494" y="9952910"/>
            <a:ext cx="456075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38.7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592795" y="10771762"/>
            <a:ext cx="5812930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USIS-SAM (Ours)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6417" y="10771762"/>
            <a:ext cx="566713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59.7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38494" y="10771762"/>
            <a:ext cx="456075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43.1</a:t>
            </a:r>
          </a:p>
        </p:txBody>
      </p:sp>
      <p:pic>
        <p:nvPicPr>
          <p:cNvPr id="88" name="Picture 87" descr="eq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19499" y="12416135"/>
            <a:ext cx="14767262" cy="1748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
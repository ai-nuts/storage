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6254531"/>
            <a:ext cx="10804961" cy="9941659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3568" y="6254531"/>
            <a:ext cx="27439124" cy="13467517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749412" y="6254531"/>
            <a:ext cx="10804962" cy="4793516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749412" y="11379894"/>
            <a:ext cx="10804962" cy="5555833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1887" y="16528037"/>
            <a:ext cx="10804961" cy="13543915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17267574"/>
            <a:ext cx="10804962" cy="4858108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22457529"/>
            <a:ext cx="10804962" cy="7614423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22457529"/>
            <a:ext cx="10804962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518814" y="22457529"/>
            <a:ext cx="35560" cy="7614423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49412" y="30036392"/>
            <a:ext cx="10804962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22457529"/>
            <a:ext cx="53340" cy="7614423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800" y="3958157"/>
            <a:ext cx="3360559" cy="1466802"/>
          </a:xfrm>
          <a:prstGeom prst="rect">
            <a:avLst/>
          </a:prstGeom>
        </p:spPr>
      </p:pic>
      <p:pic>
        <p:nvPicPr>
          <p:cNvPr id="15" name="Picture 14" descr="universit-de-li-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2333" y="3958159"/>
            <a:ext cx="3394591" cy="1466798"/>
          </a:xfrm>
          <a:prstGeom prst="rect">
            <a:avLst/>
          </a:prstGeom>
        </p:spPr>
      </p:pic>
      <p:pic>
        <p:nvPicPr>
          <p:cNvPr id="16" name="Picture 15" descr="eth-z-r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3898" y="3958133"/>
            <a:ext cx="8801100" cy="1466850"/>
          </a:xfrm>
          <a:prstGeom prst="rect">
            <a:avLst/>
          </a:prstGeom>
        </p:spPr>
      </p:pic>
      <p:pic>
        <p:nvPicPr>
          <p:cNvPr id="17" name="Picture 16" descr="max-planck-institut-f-r-astrophysi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61972" y="3958136"/>
            <a:ext cx="5353447" cy="1466844"/>
          </a:xfrm>
          <a:prstGeom prst="rect">
            <a:avLst/>
          </a:prstGeom>
        </p:spPr>
      </p:pic>
      <p:pic>
        <p:nvPicPr>
          <p:cNvPr id="18" name="Picture 17" descr="technische-universit-t-m-nch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52393" y="3958154"/>
            <a:ext cx="4521537" cy="1466808"/>
          </a:xfrm>
          <a:prstGeom prst="rect">
            <a:avLst/>
          </a:prstGeom>
        </p:spPr>
      </p:pic>
      <p:pic>
        <p:nvPicPr>
          <p:cNvPr id="19" name="Picture 18" descr="cole-polytechnique-f-d-rale-de-lausan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10905" y="3958141"/>
            <a:ext cx="5023405" cy="1466834"/>
          </a:xfrm>
          <a:prstGeom prst="rect">
            <a:avLst/>
          </a:prstGeom>
        </p:spPr>
      </p:pic>
      <p:pic>
        <p:nvPicPr>
          <p:cNvPr id="20" name="Picture 19" descr="academia-sinica-institute-of-astronomy-and-astrophysics-asia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71284" y="3958151"/>
            <a:ext cx="4740315" cy="146681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0164186" y="7771665"/>
            <a:ext cx="9975414" cy="3311525"/>
          </a:xfrm>
          <a:prstGeom prst="roundRect">
            <a:avLst>
              <a:gd name="adj" fmla="val 2147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66661" y="11813420"/>
            <a:ext cx="9975413" cy="4269840"/>
          </a:xfrm>
          <a:prstGeom prst="roundRect">
            <a:avLst>
              <a:gd name="adj" fmla="val 4275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6661" y="11813420"/>
            <a:ext cx="124460" cy="4269840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83568" y="20053895"/>
            <a:ext cx="13553639" cy="10018057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69054" y="20053895"/>
            <a:ext cx="13553638" cy="10018057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66661" y="27752218"/>
            <a:ext cx="9975413" cy="2325985"/>
          </a:xfrm>
          <a:prstGeom prst="roundRect">
            <a:avLst>
              <a:gd name="adj" fmla="val 8969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181966" y="28101428"/>
            <a:ext cx="9957634" cy="2325986"/>
          </a:xfrm>
          <a:prstGeom prst="roundRect">
            <a:avLst>
              <a:gd name="adj" fmla="val 8969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992" y="7993915"/>
            <a:ext cx="4172743" cy="29145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992" y="7993915"/>
            <a:ext cx="11557" cy="2914531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556166" y="11969829"/>
            <a:ext cx="3692267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164186" y="13679348"/>
            <a:ext cx="3091775" cy="1604923"/>
          </a:xfrm>
          <a:prstGeom prst="roundRect">
            <a:avLst>
              <a:gd name="adj" fmla="val 16248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516688" y="13679348"/>
            <a:ext cx="3270270" cy="1604923"/>
          </a:xfrm>
          <a:prstGeom prst="roundRect">
            <a:avLst>
              <a:gd name="adj" fmla="val 16248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047685" y="13679348"/>
            <a:ext cx="3091915" cy="1604923"/>
          </a:xfrm>
          <a:prstGeom prst="roundRect">
            <a:avLst>
              <a:gd name="adj" fmla="val 16248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6183828" y="21711741"/>
            <a:ext cx="12724090" cy="1464627"/>
          </a:xfrm>
          <a:prstGeom prst="roundRect">
            <a:avLst>
              <a:gd name="adj" fmla="val 15383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6183828" y="23457792"/>
            <a:ext cx="12724090" cy="1511162"/>
          </a:xfrm>
          <a:prstGeom prst="roundRect">
            <a:avLst>
              <a:gd name="adj" fmla="val 14909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7006986" y="11216262"/>
            <a:ext cx="17192288" cy="7162146"/>
          </a:xfrm>
          <a:prstGeom prst="roundRect">
            <a:avLst>
              <a:gd name="adj" fmla="val 49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age3_figure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07093" y="11216262"/>
            <a:ext cx="17192074" cy="7162146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0164186" y="20273506"/>
            <a:ext cx="9975414" cy="945118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4087455" y="24246085"/>
            <a:ext cx="9145726" cy="4131628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age4_figur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87543" y="24246085"/>
            <a:ext cx="9145550" cy="4131628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40164186" y="19567028"/>
            <a:ext cx="6624439" cy="706478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164186" y="20264616"/>
            <a:ext cx="662443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788625" y="19567028"/>
            <a:ext cx="3350975" cy="706478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788625" y="20264616"/>
            <a:ext cx="335097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164186" y="20273506"/>
            <a:ext cx="66244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164186" y="21209734"/>
            <a:ext cx="662443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788625" y="20273506"/>
            <a:ext cx="335097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788625" y="21209734"/>
            <a:ext cx="335097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164186" y="21218624"/>
            <a:ext cx="66244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164186" y="22154852"/>
            <a:ext cx="662443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788625" y="21218624"/>
            <a:ext cx="335097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788625" y="22154852"/>
            <a:ext cx="335097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7D2860"/>
                </a:solidFill>
                <a:latin typeface="Arial"/>
              </a:rPr>
              <a:t>Fast Kinematics Modeling for Conjunction with Lens Image Modeling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Matthew R. Gomer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Luca Biggio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Sebastian Ertl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3,4</a:t>
            </a:r>
            <a:r>
              <a:rPr sz="4106" b="0">
                <a:solidFill>
                  <a:srgbClr val="1B2331"/>
                </a:solidFill>
                <a:latin typeface="Arial"/>
              </a:rPr>
              <a:t>, Han Wang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3,4</a:t>
            </a:r>
            <a:r>
              <a:rPr sz="4106" b="0">
                <a:solidFill>
                  <a:srgbClr val="1B2331"/>
                </a:solidFill>
                <a:latin typeface="Arial"/>
              </a:rPr>
              <a:t>, Aymeric Galan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5</a:t>
            </a:r>
            <a:r>
              <a:rPr sz="4106" b="0">
                <a:solidFill>
                  <a:srgbClr val="1B2331"/>
                </a:solidFill>
                <a:latin typeface="Arial"/>
              </a:rPr>
              <a:t>, Lyne Van de Vyvere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Dominique Sluse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Georgios Vernardos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5</a:t>
            </a:r>
            <a:r>
              <a:rPr sz="4106" b="0">
                <a:solidFill>
                  <a:srgbClr val="1B2331"/>
                </a:solidFill>
                <a:latin typeface="Arial"/>
              </a:rPr>
              <a:t>, Sherry Suyu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3,4,6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Université de Liège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ETH Zürich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Max-Planck-Institut für Astrophysik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Technische Universität München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5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EPFL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6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ASIAA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661" y="6669305"/>
            <a:ext cx="1027467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298342" y="6669305"/>
            <a:ext cx="27036296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164186" y="6669305"/>
            <a:ext cx="10274676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6661" y="7771665"/>
            <a:ext cx="10274675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Galaxy-kinematics modeling is the computational </a:t>
            </a:r>
            <a:r>
              <a:rPr sz="4106" b="1">
                <a:solidFill>
                  <a:srgbClr val="111111"/>
                </a:solidFill>
                <a:latin typeface="Arial"/>
              </a:rPr>
              <a:t>bottleneck</a:t>
            </a:r>
            <a:r>
              <a:rPr sz="4106" b="0">
                <a:solidFill>
                  <a:srgbClr val="1C1C1C"/>
                </a:solidFill>
                <a:latin typeface="Arial"/>
              </a:rPr>
              <a:t> in joint lensing + kinematics modeling: the physics code </a:t>
            </a:r>
            <a:r>
              <a:rPr sz="4106" b="1">
                <a:solidFill>
                  <a:srgbClr val="111111"/>
                </a:solidFill>
                <a:latin typeface="Arial"/>
              </a:rPr>
              <a:t>JAM</a:t>
            </a:r>
            <a:r>
              <a:rPr sz="4106" b="0">
                <a:solidFill>
                  <a:srgbClr val="1C1C1C"/>
                </a:solidFill>
                <a:latin typeface="Arial"/>
              </a:rPr>
              <a:t> must be re-run for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every</a:t>
            </a:r>
            <a:r>
              <a:rPr sz="4106" b="0">
                <a:solidFill>
                  <a:srgbClr val="1C1C1C"/>
                </a:solidFill>
                <a:latin typeface="Arial"/>
              </a:rPr>
              <a:t> likelihood evaluation inside an MCMC.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164186" y="11794668"/>
            <a:ext cx="10274676" cy="1799335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SPEED &amp;</a:t>
            </a:r>
          </a:p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COMPUTE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164186" y="15284271"/>
            <a:ext cx="10274676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 </a:t>
            </a:r>
            <a:r>
              <a:rPr sz="4106" b="1">
                <a:solidFill>
                  <a:srgbClr val="111111"/>
                </a:solidFill>
                <a:latin typeface="Arial"/>
              </a:rPr>
              <a:t>O(10²–10³)×</a:t>
            </a:r>
            <a:r>
              <a:rPr sz="4106" b="0">
                <a:solidFill>
                  <a:srgbClr val="1C1C1C"/>
                </a:solidFill>
                <a:latin typeface="Arial"/>
              </a:rPr>
              <a:t> speedup at just </a:t>
            </a:r>
            <a:r>
              <a:rPr sz="4106" b="1">
                <a:solidFill>
                  <a:srgbClr val="111111"/>
                </a:solidFill>
                <a:latin typeface="Arial"/>
              </a:rPr>
              <a:t>~7.07M</a:t>
            </a:r>
            <a:r>
              <a:rPr sz="4106" b="0">
                <a:solidFill>
                  <a:srgbClr val="1C1C1C"/>
                </a:solidFill>
                <a:latin typeface="Arial"/>
              </a:rPr>
              <a:t> parameters.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6661" y="16942812"/>
            <a:ext cx="1027467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164186" y="17682348"/>
            <a:ext cx="10274676" cy="1799335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ERROR ANALYSIS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181966" y="22872303"/>
            <a:ext cx="1025636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181966" y="23974663"/>
            <a:ext cx="10256363" cy="4445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neural network emulates slow galaxy-kinematics physics (JAM) at </a:t>
            </a:r>
            <a:r>
              <a:rPr sz="4106" b="1">
                <a:solidFill>
                  <a:srgbClr val="111111"/>
                </a:solidFill>
                <a:latin typeface="Arial"/>
              </a:rPr>
              <a:t>~300×</a:t>
            </a:r>
            <a:r>
              <a:rPr sz="4106" b="0">
                <a:solidFill>
                  <a:srgbClr val="1C1C1C"/>
                </a:solidFill>
                <a:latin typeface="Arial"/>
              </a:rPr>
              <a:t> speed and </a:t>
            </a:r>
            <a:r>
              <a:rPr sz="4106" b="1">
                <a:solidFill>
                  <a:srgbClr val="111111"/>
                </a:solidFill>
                <a:latin typeface="Arial"/>
              </a:rPr>
              <a:t>sub-percent</a:t>
            </a:r>
            <a:r>
              <a:rPr sz="4106" b="0">
                <a:solidFill>
                  <a:srgbClr val="1C1C1C"/>
                </a:solidFill>
                <a:latin typeface="Arial"/>
              </a:rPr>
              <a:t> accuracy — making joint lensing + kinematics modeling feasible for precise </a:t>
            </a:r>
            <a:r>
              <a:rPr sz="4106" b="1">
                <a:solidFill>
                  <a:srgbClr val="111111"/>
                </a:solidFill>
                <a:latin typeface="Arial"/>
              </a:rPr>
              <a:t>H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0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6661" y="27752218"/>
            <a:ext cx="10274675" cy="2674882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Keep JAM’s physics, remove its cost — emulate the slow component with a neural network.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181966" y="28101428"/>
            <a:ext cx="10256363" cy="2674883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Swap an expensive-but-calculable component for a trained network, keep the rest of the physics.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56166" y="12817018"/>
            <a:ext cx="9394487" cy="35763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Kinematics break lensing mass-sheet degeneracies for a precise </a:t>
            </a:r>
            <a:r>
              <a:rPr sz="4106" b="1">
                <a:solidFill>
                  <a:srgbClr val="111111"/>
                </a:solidFill>
                <a:latin typeface="Arial"/>
              </a:rPr>
              <a:t>H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0</a:t>
            </a:r>
            <a:r>
              <a:rPr sz="4106" b="0">
                <a:solidFill>
                  <a:srgbClr val="1C1C1C"/>
                </a:solidFill>
                <a:latin typeface="Arial"/>
              </a:rPr>
              <a:t> — but re-running JAM every MCMC step makes joint sampling prohibitive.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6642" y="18045172"/>
            <a:ext cx="10274694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Spatially resolved kinematics from </a:t>
            </a:r>
            <a:r>
              <a:rPr sz="4106" b="1">
                <a:solidFill>
                  <a:srgbClr val="111111"/>
                </a:solidFill>
                <a:latin typeface="Arial"/>
              </a:rPr>
              <a:t>JWST</a:t>
            </a:r>
            <a:r>
              <a:rPr sz="4106" b="0">
                <a:solidFill>
                  <a:srgbClr val="1C1C1C"/>
                </a:solidFill>
                <a:latin typeface="Arial"/>
              </a:rPr>
              <a:t> are now available, but spherical Jeans models are too crude for elliptical lens mass models.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298342" y="20468669"/>
            <a:ext cx="13105812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EMULATION QUALITY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183828" y="20468669"/>
            <a:ext cx="13105812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JOINT OBJECTIVE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6642" y="21252517"/>
            <a:ext cx="10274694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Self-consistent </a:t>
            </a:r>
            <a:r>
              <a:rPr sz="4106" b="1">
                <a:solidFill>
                  <a:srgbClr val="111111"/>
                </a:solidFill>
                <a:latin typeface="Arial"/>
              </a:rPr>
              <a:t>axisymmetric</a:t>
            </a:r>
            <a:r>
              <a:rPr sz="4106" b="0">
                <a:solidFill>
                  <a:srgbClr val="1C1C1C"/>
                </a:solidFill>
                <a:latin typeface="Arial"/>
              </a:rPr>
              <a:t> modeling with JAM is the right tool, yet far too slow for joint sampling — prior frameworks fit lens and kinematics separately.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854745" y="22726729"/>
            <a:ext cx="11723723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SKiNN supplies the kinematics term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from its predicted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image; the lens term is unchanged.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809989" y="24519314"/>
            <a:ext cx="7695776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SKiNN is trained by MSE against JAM ground-truth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images.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183828" y="25109666"/>
            <a:ext cx="13105812" cy="5315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Because </a:t>
            </a:r>
            <a:r>
              <a:rPr sz="4106" b="1">
                <a:solidFill>
                  <a:srgbClr val="111111"/>
                </a:solidFill>
                <a:latin typeface="Arial"/>
              </a:rPr>
              <a:t>Ψ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θ</a:t>
            </a:r>
            <a:r>
              <a:rPr sz="4106" b="0">
                <a:solidFill>
                  <a:srgbClr val="1C1C1C"/>
                </a:solidFill>
                <a:latin typeface="Arial"/>
              </a:rPr>
              <a:t> is fast and differentiable, the kinematics term can be evaluated at </a:t>
            </a:r>
            <a:r>
              <a:rPr sz="4106" b="1">
                <a:solidFill>
                  <a:srgbClr val="111111"/>
                </a:solidFill>
                <a:latin typeface="Arial"/>
              </a:rPr>
              <a:t>every</a:t>
            </a:r>
            <a:r>
              <a:rPr sz="4106" b="0">
                <a:solidFill>
                  <a:srgbClr val="1C1C1C"/>
                </a:solidFill>
                <a:latin typeface="Arial"/>
              </a:rPr>
              <a:t> MCMC step — enabling </a:t>
            </a:r>
            <a:r>
              <a:rPr sz="4106" b="1">
                <a:solidFill>
                  <a:srgbClr val="111111"/>
                </a:solidFill>
                <a:latin typeface="Arial"/>
              </a:rPr>
              <a:t>joint</a:t>
            </a:r>
            <a:r>
              <a:rPr sz="4106" b="0">
                <a:solidFill>
                  <a:srgbClr val="1C1C1C"/>
                </a:solidFill>
                <a:latin typeface="Arial"/>
              </a:rPr>
              <a:t> lens + resolved-kinematics inference that JAM’s cost made intractable, and the same swap-a-component recipe transfers to other expensive model pieces.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6642" y="25216068"/>
            <a:ext cx="10274694" cy="27066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Existing joint pipelines targeted galaxy structure rather than </a:t>
            </a:r>
            <a:r>
              <a:rPr sz="4106" b="1">
                <a:solidFill>
                  <a:srgbClr val="111111"/>
                </a:solidFill>
                <a:latin typeface="Arial"/>
              </a:rPr>
              <a:t>H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0</a:t>
            </a:r>
            <a:r>
              <a:rPr sz="4106" b="0">
                <a:solidFill>
                  <a:srgbClr val="1C1C1C"/>
                </a:solidFill>
                <a:latin typeface="Arial"/>
              </a:rPr>
              <a:t>, or stayed too slow for full parameter exploration.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298324" y="7877929"/>
            <a:ext cx="27036314" cy="1764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SKiNN is a CNN </a:t>
            </a:r>
            <a:r>
              <a:rPr sz="4106" b="1">
                <a:solidFill>
                  <a:srgbClr val="111111"/>
                </a:solidFill>
                <a:latin typeface="Arial"/>
              </a:rPr>
              <a:t>Ψ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θ</a:t>
            </a:r>
            <a:r>
              <a:rPr sz="4106" b="0">
                <a:solidFill>
                  <a:srgbClr val="1C1C1C"/>
                </a:solidFill>
                <a:latin typeface="Arial"/>
              </a:rPr>
              <a:t> mapping an </a:t>
            </a:r>
            <a:r>
              <a:rPr sz="4106" b="1">
                <a:solidFill>
                  <a:srgbClr val="111111"/>
                </a:solidFill>
                <a:latin typeface="Arial"/>
              </a:rPr>
              <a:t>8-D</a:t>
            </a:r>
            <a:r>
              <a:rPr sz="4106" b="0">
                <a:solidFill>
                  <a:srgbClr val="1C1C1C"/>
                </a:solidFill>
                <a:latin typeface="Arial"/>
              </a:rPr>
              <a:t> galaxy-parameter vector (PEMD mass + elliptical Sérsic light, inclination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i</a:t>
            </a:r>
            <a:r>
              <a:rPr sz="4106" b="0">
                <a:solidFill>
                  <a:srgbClr val="1C1C1C"/>
                </a:solidFill>
                <a:latin typeface="Arial"/>
              </a:rPr>
              <a:t>, anisotropy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β</a:t>
            </a:r>
            <a:r>
              <a:rPr sz="4106" b="0">
                <a:solidFill>
                  <a:srgbClr val="1C1C1C"/>
                </a:solidFill>
                <a:latin typeface="Arial"/>
              </a:rPr>
              <a:t>) to a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d×d</a:t>
            </a:r>
            <a:r>
              <a:rPr sz="4106" b="0">
                <a:solidFill>
                  <a:srgbClr val="1C1C1C"/>
                </a:solidFill>
                <a:latin typeface="Arial"/>
              </a:rPr>
              <a:t> velocity-dispersion (</a:t>
            </a:r>
            <a:r>
              <a:rPr sz="4106" b="0" i="1">
                <a:solidFill>
                  <a:srgbClr val="1C1C1C"/>
                </a:solidFill>
                <a:latin typeface="Arial"/>
              </a:rPr>
              <a:t>v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rms</a:t>
            </a:r>
            <a:r>
              <a:rPr sz="4106" b="0">
                <a:solidFill>
                  <a:srgbClr val="1C1C1C"/>
                </a:solidFill>
                <a:latin typeface="Arial"/>
              </a:rPr>
              <a:t>) image.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410050" y="7993915"/>
            <a:ext cx="4879376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~300×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410050" y="9368809"/>
            <a:ext cx="4879376" cy="13003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Faster than JAM per </a:t>
            </a:r>
            <a:r>
              <a:rPr sz="3733" b="1" i="1">
                <a:solidFill>
                  <a:srgbClr val="1C1C1C"/>
                </a:solidFill>
                <a:latin typeface="Arial"/>
              </a:rPr>
              <a:t>v</a:t>
            </a:r>
            <a:r>
              <a:rPr sz="5226" b="1" baseline="-25000">
                <a:solidFill>
                  <a:srgbClr val="1C1C1C"/>
                </a:solidFill>
                <a:latin typeface="Arial"/>
              </a:rPr>
              <a:t>rms</a:t>
            </a:r>
            <a:r>
              <a:rPr sz="3733" b="1">
                <a:solidFill>
                  <a:srgbClr val="1C1C1C"/>
                </a:solidFill>
                <a:latin typeface="Arial"/>
              </a:rPr>
              <a:t> image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298324" y="9505771"/>
            <a:ext cx="27036314" cy="15594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5 conv blocks</a:t>
            </a:r>
            <a:r>
              <a:rPr sz="4106" b="0">
                <a:solidFill>
                  <a:srgbClr val="1C1C1C"/>
                </a:solidFill>
                <a:latin typeface="Arial"/>
              </a:rPr>
              <a:t> (upsampling + ReLU), </a:t>
            </a:r>
            <a:r>
              <a:rPr sz="4106" b="1">
                <a:solidFill>
                  <a:srgbClr val="111111"/>
                </a:solidFill>
                <a:latin typeface="Arial"/>
              </a:rPr>
              <a:t>~7.07M</a:t>
            </a:r>
            <a:r>
              <a:rPr sz="4106" b="0">
                <a:solidFill>
                  <a:srgbClr val="1C1C1C"/>
                </a:solidFill>
                <a:latin typeface="Arial"/>
              </a:rPr>
              <a:t> params, trained with </a:t>
            </a:r>
            <a:r>
              <a:rPr sz="4106" b="1">
                <a:solidFill>
                  <a:srgbClr val="111111"/>
                </a:solidFill>
                <a:latin typeface="Arial"/>
              </a:rPr>
              <a:t>MSE</a:t>
            </a:r>
            <a:r>
              <a:rPr sz="4106" b="0">
                <a:solidFill>
                  <a:srgbClr val="1C1C1C"/>
                </a:solidFill>
                <a:latin typeface="Arial"/>
              </a:rPr>
              <a:t> against JAM-generated data (via GLEE) to mimic the JAM procedure.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410050" y="10499506"/>
            <a:ext cx="4879376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≈50 ms vs ~15 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372684" y="13835757"/>
            <a:ext cx="2755022" cy="959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~15 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725187" y="13835757"/>
            <a:ext cx="2938871" cy="959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~50 ms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256184" y="13835757"/>
            <a:ext cx="2755164" cy="959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~10×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372684" y="14737953"/>
            <a:ext cx="2755022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JAM / img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725187" y="14737953"/>
            <a:ext cx="2938871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SKiNN / img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256184" y="14737953"/>
            <a:ext cx="2755164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GPU vs CPU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694711" y="18528010"/>
            <a:ext cx="16243558" cy="1362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SKiNN (orange) emulates the stellar-kinematics branch; its χ² joins the lens branch (blue) in a single joint χ²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tot</a:t>
            </a:r>
            <a:r>
              <a:rPr sz="3367" b="0" i="1">
                <a:solidFill>
                  <a:srgbClr val="555555"/>
                </a:solidFill>
                <a:latin typeface="Arial"/>
              </a:rPr>
              <a:t>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453334" y="28527315"/>
            <a:ext cx="8666387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SKiNN vs JAM ground truth: error stays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&lt;1%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inside the 2″ region.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199246" y="7993915"/>
            <a:ext cx="1122840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&lt;1%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471905" y="8127265"/>
            <a:ext cx="220619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error, inner 2″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199246" y="8957786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0.47%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900431" y="9091136"/>
            <a:ext cx="2053103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median abs. error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199246" y="10205303"/>
            <a:ext cx="185508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~7.07M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2827" y="10338653"/>
            <a:ext cx="185251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parameters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164186" y="19567028"/>
            <a:ext cx="6823172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REGION / METRIC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788625" y="19567028"/>
            <a:ext cx="3451504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REL. ERROR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164186" y="20273506"/>
            <a:ext cx="682317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Inner 2″ (constrained)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788625" y="20273506"/>
            <a:ext cx="345150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&lt;1%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164186" y="21218624"/>
            <a:ext cx="682317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Median, full image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788625" y="21218624"/>
            <a:ext cx="345150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~0.47%</a:t>
            </a:r>
          </a:p>
        </p:txBody>
      </p:sp>
      <p:pic>
        <p:nvPicPr>
          <p:cNvPr id="102" name="Picture 101" descr="eq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944853" y="21797029"/>
            <a:ext cx="5201900" cy="800100"/>
          </a:xfrm>
          <a:prstGeom prst="rect">
            <a:avLst/>
          </a:prstGeom>
        </p:spPr>
      </p:pic>
      <p:pic>
        <p:nvPicPr>
          <p:cNvPr id="103" name="Picture 102" descr="eq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976232" y="22664499"/>
            <a:ext cx="559237" cy="400050"/>
          </a:xfrm>
          <a:prstGeom prst="rect">
            <a:avLst/>
          </a:prstGeom>
        </p:spPr>
      </p:pic>
      <p:pic>
        <p:nvPicPr>
          <p:cNvPr id="104" name="Picture 103" descr="eq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657401" y="22664499"/>
            <a:ext cx="568126" cy="400050"/>
          </a:xfrm>
          <a:prstGeom prst="rect">
            <a:avLst/>
          </a:prstGeom>
        </p:spPr>
      </p:pic>
      <p:pic>
        <p:nvPicPr>
          <p:cNvPr id="105" name="Picture 104" descr="eq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125473" y="23589615"/>
            <a:ext cx="10840661" cy="800100"/>
          </a:xfrm>
          <a:prstGeom prst="rect">
            <a:avLst/>
          </a:prstGeom>
        </p:spPr>
      </p:pic>
      <p:pic>
        <p:nvPicPr>
          <p:cNvPr id="106" name="Picture 105" descr="eq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74901" y="24457084"/>
            <a:ext cx="568127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
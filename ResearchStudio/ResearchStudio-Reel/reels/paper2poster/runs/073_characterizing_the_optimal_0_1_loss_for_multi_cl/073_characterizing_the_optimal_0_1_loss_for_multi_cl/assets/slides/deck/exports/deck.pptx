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1289266"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NeurIPS 2023</a:t>
            </a:r>
          </a:p>
        </p:txBody>
      </p:sp>
      <p:sp>
        <p:nvSpPr>
          <p:cNvPr id="3" name="TextBox 3"/>
          <p:cNvSpPr txBox="1"/>
          <p:nvPr/>
        </p:nvSpPr>
        <p:spPr>
          <a:xfrm>
            <a:off x="8574106" y="572452"/>
            <a:ext cx="3013628"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Princeton · Univ. of Chicago · Penn State</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4360" y="1104900"/>
            <a:ext cx="7560407" cy="586740"/>
          </a:xfrm>
          <a:prstGeom prst="rect">
            <a:avLst/>
          </a:prstGeom>
          <a:noFill/>
          <a:ln>
            <a:noFill/>
          </a:ln>
        </p:spPr>
        <p:txBody>
          <a:bodyPr wrap="none" lIns="0" tIns="0" rIns="0" bIns="0" anchor="t" anchorCtr="0">
            <a:spAutoFit/>
          </a:bodyPr>
          <a:lstStyle/>
          <a:p>
            <a:pPr algn="l"/>
            <a:r>
              <a:rPr lang="en-US" sz="3000" b="1" dirty="0">
                <a:solidFill>
                  <a:srgbClr val="FFFFFF"/>
                </a:solidFill>
                <a:latin typeface="+mn-lt"/>
                <a:ea typeface="+mn-ea"/>
                <a:cs typeface="+mn-cs"/>
              </a:rPr>
              <a:t>Characterizing the Optimal 0-1 Loss</a:t>
            </a:r>
          </a:p>
        </p:txBody>
      </p:sp>
      <p:sp>
        <p:nvSpPr>
          <p:cNvPr id="6" name="TextBox 6"/>
          <p:cNvSpPr txBox="1"/>
          <p:nvPr/>
        </p:nvSpPr>
        <p:spPr>
          <a:xfrm>
            <a:off x="594360" y="1562100"/>
            <a:ext cx="6183738" cy="586740"/>
          </a:xfrm>
          <a:prstGeom prst="rect">
            <a:avLst/>
          </a:prstGeom>
          <a:noFill/>
          <a:ln>
            <a:noFill/>
          </a:ln>
        </p:spPr>
        <p:txBody>
          <a:bodyPr wrap="none" lIns="0" tIns="0" rIns="0" bIns="0" anchor="t" anchorCtr="0">
            <a:spAutoFit/>
          </a:bodyPr>
          <a:lstStyle/>
          <a:p>
            <a:pPr algn="l"/>
            <a:r>
              <a:rPr lang="en-US" sz="3000" b="1" dirty="0">
                <a:solidFill>
                  <a:schemeClr val="accent2"/>
                </a:solidFill>
                <a:latin typeface="+mn-lt"/>
                <a:ea typeface="+mn-ea"/>
                <a:cs typeface="+mn-cs"/>
              </a:rPr>
              <a:t>for Multi-class Classification</a:t>
            </a:r>
          </a:p>
        </p:txBody>
      </p:sp>
      <p:sp>
        <p:nvSpPr>
          <p:cNvPr id="7" name="TextBox 7"/>
          <p:cNvSpPr txBox="1"/>
          <p:nvPr/>
        </p:nvSpPr>
        <p:spPr>
          <a:xfrm>
            <a:off x="599694" y="2037398"/>
            <a:ext cx="3594665" cy="381381"/>
          </a:xfrm>
          <a:prstGeom prst="rect">
            <a:avLst/>
          </a:prstGeom>
          <a:noFill/>
          <a:ln>
            <a:noFill/>
          </a:ln>
        </p:spPr>
        <p:txBody>
          <a:bodyPr wrap="none" lIns="0" tIns="0" rIns="0" bIns="0" anchor="t" anchorCtr="0">
            <a:spAutoFit/>
          </a:bodyPr>
          <a:lstStyle/>
          <a:p>
            <a:pPr algn="l"/>
            <a:r>
              <a:rPr lang="en-US" sz="1950" b="1" dirty="0">
                <a:solidFill>
                  <a:srgbClr val="34D3C0"/>
                </a:solidFill>
                <a:latin typeface="+mn-lt"/>
                <a:ea typeface="+mn-ea"/>
                <a:cs typeface="+mn-cs"/>
              </a:rPr>
              <a:t>with a Test-time Attacker</a:t>
            </a:r>
          </a:p>
        </p:txBody>
      </p:sp>
      <p:sp>
        <p:nvSpPr>
          <p:cNvPr id="8" name="TextBox 8"/>
          <p:cNvSpPr txBox="1"/>
          <p:nvPr/>
        </p:nvSpPr>
        <p:spPr>
          <a:xfrm>
            <a:off x="603504" y="2499360"/>
            <a:ext cx="403807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Dai · Ding · Bhagoji · Cullina · Zhao · Zheng · Mittal</a:t>
            </a:r>
          </a:p>
        </p:txBody>
      </p:sp>
      <p:grpSp>
        <p:nvGrpSpPr>
          <p:cNvPr id="14" name="Group 14"/>
          <p:cNvGrpSpPr/>
          <p:nvPr/>
        </p:nvGrpSpPr>
        <p:grpSpPr>
          <a:xfrm>
            <a:off x="609600" y="2933700"/>
            <a:ext cx="5334000" cy="1123950"/>
            <a:chOff x="609600" y="2933700"/>
            <a:chExt cx="5334000" cy="1123950"/>
          </a:xfrm>
        </p:grpSpPr>
        <p:sp>
          <p:nvSpPr>
            <p:cNvPr id="9" name="Rectangle 9"/>
            <p:cNvSpPr/>
            <p:nvPr/>
          </p:nvSpPr>
          <p:spPr>
            <a:xfrm>
              <a:off x="609600" y="2933700"/>
              <a:ext cx="5334000" cy="1123950"/>
            </a:xfrm>
            <a:prstGeom prst="roundRect">
              <a:avLst>
                <a:gd name="adj" fmla="val 11864"/>
              </a:avLst>
            </a:prstGeom>
            <a:solidFill>
              <a:schemeClr val="accent5"/>
            </a:solidFill>
            <a:ln w="14288">
              <a:solidFill>
                <a:srgbClr val="26455F"/>
              </a:solidFill>
            </a:ln>
          </p:spPr>
        </p:sp>
        <p:sp>
          <p:nvSpPr>
            <p:cNvPr id="10" name="Rectangle 10"/>
            <p:cNvSpPr/>
            <p:nvPr/>
          </p:nvSpPr>
          <p:spPr>
            <a:xfrm>
              <a:off x="609600" y="2933700"/>
              <a:ext cx="57150" cy="1123950"/>
            </a:xfrm>
            <a:prstGeom prst="roundRect">
              <a:avLst>
                <a:gd name="adj" fmla="val 50000"/>
              </a:avLst>
            </a:prstGeom>
            <a:solidFill>
              <a:schemeClr val="accent2"/>
            </a:solidFill>
            <a:ln>
              <a:noFill/>
            </a:ln>
          </p:spPr>
        </p:sp>
        <p:sp>
          <p:nvSpPr>
            <p:cNvPr id="11" name="TextBox 11"/>
            <p:cNvSpPr txBox="1"/>
            <p:nvPr/>
          </p:nvSpPr>
          <p:spPr>
            <a:xfrm>
              <a:off x="869442" y="3130868"/>
              <a:ext cx="118373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question</a:t>
              </a:r>
            </a:p>
          </p:txBody>
        </p:sp>
        <p:sp>
          <p:nvSpPr>
            <p:cNvPr id="12" name="TextBox 12"/>
            <p:cNvSpPr txBox="1"/>
            <p:nvPr/>
          </p:nvSpPr>
          <p:spPr>
            <a:xfrm>
              <a:off x="870966" y="3410902"/>
              <a:ext cx="470087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How robust can ANY classifier possibly be against an adversary that</a:t>
              </a:r>
            </a:p>
          </p:txBody>
        </p:sp>
        <p:sp>
          <p:nvSpPr>
            <p:cNvPr id="13" name="TextBox 13"/>
            <p:cNvSpPr txBox="1"/>
            <p:nvPr/>
          </p:nvSpPr>
          <p:spPr>
            <a:xfrm>
              <a:off x="870966" y="3610928"/>
              <a:ext cx="208146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perturbs inputs at test time?</a:t>
              </a:r>
            </a:p>
          </p:txBody>
        </p:sp>
      </p:grpSp>
      <p:grpSp>
        <p:nvGrpSpPr>
          <p:cNvPr id="20" name="Group 20"/>
          <p:cNvGrpSpPr/>
          <p:nvPr/>
        </p:nvGrpSpPr>
        <p:grpSpPr>
          <a:xfrm>
            <a:off x="6248400" y="2933700"/>
            <a:ext cx="5334000" cy="1123950"/>
            <a:chOff x="6248400" y="2933700"/>
            <a:chExt cx="5334000" cy="1123950"/>
          </a:xfrm>
        </p:grpSpPr>
        <p:sp>
          <p:nvSpPr>
            <p:cNvPr id="15" name="Rectangle 15"/>
            <p:cNvSpPr/>
            <p:nvPr/>
          </p:nvSpPr>
          <p:spPr>
            <a:xfrm>
              <a:off x="6248400" y="2933700"/>
              <a:ext cx="5334000" cy="1123950"/>
            </a:xfrm>
            <a:prstGeom prst="roundRect">
              <a:avLst>
                <a:gd name="adj" fmla="val 11864"/>
              </a:avLst>
            </a:prstGeom>
            <a:solidFill>
              <a:schemeClr val="accent5"/>
            </a:solidFill>
            <a:ln w="14288">
              <a:solidFill>
                <a:srgbClr val="26455F"/>
              </a:solidFill>
            </a:ln>
          </p:spPr>
        </p:sp>
        <p:sp>
          <p:nvSpPr>
            <p:cNvPr id="16" name="Rectangle 16"/>
            <p:cNvSpPr/>
            <p:nvPr/>
          </p:nvSpPr>
          <p:spPr>
            <a:xfrm>
              <a:off x="6248400" y="2933700"/>
              <a:ext cx="57150" cy="1123950"/>
            </a:xfrm>
            <a:prstGeom prst="roundRect">
              <a:avLst>
                <a:gd name="adj" fmla="val 50000"/>
              </a:avLst>
            </a:prstGeom>
            <a:solidFill>
              <a:srgbClr val="F2C14E"/>
            </a:solidFill>
            <a:ln>
              <a:noFill/>
            </a:ln>
          </p:spPr>
        </p:sp>
        <p:sp>
          <p:nvSpPr>
            <p:cNvPr id="17" name="TextBox 17"/>
            <p:cNvSpPr txBox="1"/>
            <p:nvPr/>
          </p:nvSpPr>
          <p:spPr>
            <a:xfrm>
              <a:off x="6508242" y="3130868"/>
              <a:ext cx="159437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What they derive</a:t>
              </a:r>
            </a:p>
          </p:txBody>
        </p:sp>
        <p:sp>
          <p:nvSpPr>
            <p:cNvPr id="18" name="TextBox 18"/>
            <p:cNvSpPr txBox="1"/>
            <p:nvPr/>
          </p:nvSpPr>
          <p:spPr>
            <a:xfrm>
              <a:off x="6509766" y="3410902"/>
              <a:ext cx="454580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Achievable information-theoretic lower bounds on the optimal 0-1</a:t>
              </a:r>
            </a:p>
          </p:txBody>
        </p:sp>
        <p:sp>
          <p:nvSpPr>
            <p:cNvPr id="19" name="TextBox 19"/>
            <p:cNvSpPr txBox="1"/>
            <p:nvPr/>
          </p:nvSpPr>
          <p:spPr>
            <a:xfrm>
              <a:off x="6509766" y="3610928"/>
              <a:ext cx="220867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loss, for any discrete dataset.</a:t>
              </a:r>
            </a:p>
          </p:txBody>
        </p:sp>
      </p:grpSp>
      <p:grpSp>
        <p:nvGrpSpPr>
          <p:cNvPr id="26" name="Group 26"/>
          <p:cNvGrpSpPr/>
          <p:nvPr/>
        </p:nvGrpSpPr>
        <p:grpSpPr>
          <a:xfrm>
            <a:off x="609600" y="4267200"/>
            <a:ext cx="5334000" cy="1123950"/>
            <a:chOff x="609600" y="4267200"/>
            <a:chExt cx="5334000" cy="1123950"/>
          </a:xfrm>
        </p:grpSpPr>
        <p:sp>
          <p:nvSpPr>
            <p:cNvPr id="21" name="Rectangle 21"/>
            <p:cNvSpPr/>
            <p:nvPr/>
          </p:nvSpPr>
          <p:spPr>
            <a:xfrm>
              <a:off x="609600" y="4267200"/>
              <a:ext cx="5334000" cy="1123950"/>
            </a:xfrm>
            <a:prstGeom prst="roundRect">
              <a:avLst>
                <a:gd name="adj" fmla="val 11864"/>
              </a:avLst>
            </a:prstGeom>
            <a:solidFill>
              <a:schemeClr val="accent5"/>
            </a:solidFill>
            <a:ln w="14288">
              <a:solidFill>
                <a:srgbClr val="26455F"/>
              </a:solidFill>
            </a:ln>
          </p:spPr>
        </p:sp>
        <p:sp>
          <p:nvSpPr>
            <p:cNvPr id="22" name="Rectangle 22"/>
            <p:cNvSpPr/>
            <p:nvPr/>
          </p:nvSpPr>
          <p:spPr>
            <a:xfrm>
              <a:off x="609600" y="4267200"/>
              <a:ext cx="57150" cy="1123950"/>
            </a:xfrm>
            <a:prstGeom prst="roundRect">
              <a:avLst>
                <a:gd name="adj" fmla="val 50000"/>
              </a:avLst>
            </a:prstGeom>
            <a:solidFill>
              <a:srgbClr val="34D3C0"/>
            </a:solidFill>
            <a:ln>
              <a:noFill/>
            </a:ln>
          </p:spPr>
        </p:sp>
        <p:sp>
          <p:nvSpPr>
            <p:cNvPr id="23" name="TextBox 23"/>
            <p:cNvSpPr txBox="1"/>
            <p:nvPr/>
          </p:nvSpPr>
          <p:spPr>
            <a:xfrm>
              <a:off x="869442" y="4464368"/>
              <a:ext cx="763947"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tool</a:t>
              </a:r>
            </a:p>
          </p:txBody>
        </p:sp>
        <p:sp>
          <p:nvSpPr>
            <p:cNvPr id="24" name="TextBox 24"/>
            <p:cNvSpPr txBox="1"/>
            <p:nvPr/>
          </p:nvSpPr>
          <p:spPr>
            <a:xfrm>
              <a:off x="870966" y="4744402"/>
              <a:ext cx="433383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Build a conflict hypergraph from data + attacker, then solve a</a:t>
              </a:r>
            </a:p>
          </p:txBody>
        </p:sp>
        <p:sp>
          <p:nvSpPr>
            <p:cNvPr id="25" name="TextBox 25"/>
            <p:cNvSpPr txBox="1"/>
            <p:nvPr/>
          </p:nvSpPr>
          <p:spPr>
            <a:xfrm>
              <a:off x="870966" y="4944428"/>
              <a:ext cx="247017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linear program for the lowest loss.</a:t>
              </a:r>
            </a:p>
          </p:txBody>
        </p:sp>
      </p:grpSp>
      <p:grpSp>
        <p:nvGrpSpPr>
          <p:cNvPr id="32" name="Group 32"/>
          <p:cNvGrpSpPr/>
          <p:nvPr/>
        </p:nvGrpSpPr>
        <p:grpSpPr>
          <a:xfrm>
            <a:off x="6248400" y="4267200"/>
            <a:ext cx="5334000" cy="1123950"/>
            <a:chOff x="6248400" y="4267200"/>
            <a:chExt cx="5334000" cy="1123950"/>
          </a:xfrm>
        </p:grpSpPr>
        <p:sp>
          <p:nvSpPr>
            <p:cNvPr id="27" name="Rectangle 27"/>
            <p:cNvSpPr/>
            <p:nvPr/>
          </p:nvSpPr>
          <p:spPr>
            <a:xfrm>
              <a:off x="6248400" y="4267200"/>
              <a:ext cx="5334000" cy="1123950"/>
            </a:xfrm>
            <a:prstGeom prst="roundRect">
              <a:avLst>
                <a:gd name="adj" fmla="val 11864"/>
              </a:avLst>
            </a:prstGeom>
            <a:solidFill>
              <a:schemeClr val="accent5"/>
            </a:solidFill>
            <a:ln w="14288">
              <a:solidFill>
                <a:srgbClr val="26455F"/>
              </a:solidFill>
            </a:ln>
          </p:spPr>
        </p:sp>
        <p:sp>
          <p:nvSpPr>
            <p:cNvPr id="28" name="Rectangle 28"/>
            <p:cNvSpPr/>
            <p:nvPr/>
          </p:nvSpPr>
          <p:spPr>
            <a:xfrm>
              <a:off x="6248400" y="4267200"/>
              <a:ext cx="57150" cy="1123950"/>
            </a:xfrm>
            <a:prstGeom prst="roundRect">
              <a:avLst>
                <a:gd name="adj" fmla="val 50000"/>
              </a:avLst>
            </a:prstGeom>
            <a:solidFill>
              <a:srgbClr val="48C78E"/>
            </a:solidFill>
            <a:ln>
              <a:noFill/>
            </a:ln>
          </p:spPr>
        </p:sp>
        <p:sp>
          <p:nvSpPr>
            <p:cNvPr id="29" name="TextBox 29"/>
            <p:cNvSpPr txBox="1"/>
            <p:nvPr/>
          </p:nvSpPr>
          <p:spPr>
            <a:xfrm>
              <a:off x="6508242" y="4464368"/>
              <a:ext cx="1021842"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payoff</a:t>
              </a:r>
            </a:p>
          </p:txBody>
        </p:sp>
        <p:sp>
          <p:nvSpPr>
            <p:cNvPr id="30" name="TextBox 30"/>
            <p:cNvSpPr txBox="1"/>
            <p:nvPr/>
          </p:nvSpPr>
          <p:spPr>
            <a:xfrm>
              <a:off x="6509766" y="4744402"/>
              <a:ext cx="431949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Efficient bounds bracket the optimum, exposing a striking gap</a:t>
              </a:r>
            </a:p>
          </p:txBody>
        </p:sp>
        <p:sp>
          <p:nvSpPr>
            <p:cNvPr id="31" name="TextBox 31"/>
            <p:cNvSpPr txBox="1"/>
            <p:nvPr/>
          </p:nvSpPr>
          <p:spPr>
            <a:xfrm>
              <a:off x="6509766" y="4944428"/>
              <a:ext cx="257618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between robust models and the limit.</a:t>
              </a:r>
            </a:p>
          </p:txBody>
        </p:sp>
      </p:grpSp>
      <p:sp>
        <p:nvSpPr>
          <p:cNvPr id="33" name="Line 33"/>
          <p:cNvSpPr/>
          <p:nvPr/>
        </p:nvSpPr>
        <p:spPr>
          <a:xfrm>
            <a:off x="609600" y="58674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34" name="TextBox 34"/>
          <p:cNvSpPr txBox="1"/>
          <p:nvPr/>
        </p:nvSpPr>
        <p:spPr>
          <a:xfrm>
            <a:off x="604266" y="607790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arXiv:2302.10722</a:t>
            </a:r>
          </a:p>
        </p:txBody>
      </p:sp>
      <p:sp>
        <p:nvSpPr>
          <p:cNvPr id="35" name="TextBox 35"/>
          <p:cNvSpPr txBox="1"/>
          <p:nvPr/>
        </p:nvSpPr>
        <p:spPr>
          <a:xfrm>
            <a:off x="2852166" y="6077902"/>
            <a:ext cx="5759546"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How far do today's robust models sit from what is even theoretically possible?</a:t>
            </a:r>
          </a:p>
        </p:txBody>
      </p:sp>
      <p:sp>
        <p:nvSpPr>
          <p:cNvPr id="36" name="cue_s01_c1_how_robust_any_classifier_possibly" title="cue_s01_c1_how_robust_any_classifier_possibly" descr="cue_s01_c1_how_robust_any_classifier_possibly How robust can any classifier possibly be against an adversary that perturbs inputs at test time? This paper answers that question for the multi-class setting."/>
          <p:cNvSpPr/>
          <p:nvPr/>
        </p:nvSpPr>
        <p:spPr>
          <a:xfrm>
            <a:off x="609600" y="2933852"/>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1_c2_authors_derive_achievable_informatio" title="cue_s01_c2_authors_derive_achievable_informatio" descr="cue_s01_c2_authors_derive_achievable_informatio The authors derive achievable information-theoretic lower bounds on the 0-1 loss of the best possible classifier under a test-time attacker, for any discrete dataset."/>
          <p:cNvSpPr/>
          <p:nvPr/>
        </p:nvSpPr>
        <p:spPr>
          <a:xfrm>
            <a:off x="6248399" y="2933852"/>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1_c3_their_framework_builds_conflict_hype" title="cue_s01_c3_their_framework_builds_conflict_hype" descr="cue_s01_c3_their_framework_builds_conflict_hype Their framework builds a conflict hypergraph from the data and the attacker's constraints, then solves a linear program whose optimum is the lowest loss any classifier can attain."/>
          <p:cNvSpPr/>
          <p:nvPr/>
        </p:nvSpPr>
        <p:spPr>
          <a:xfrm>
            <a:off x="609600" y="4267047"/>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1_c4_because_exact_problem_often_too" title="cue_s01_c4_because_exact_problem_often_too" descr="cue_s01_c4_because_exact_problem_often_too Because the exact problem is often too large to solve, they introduce efficient bounds that pin down the range of the optimal loss, and use them to reveal a striking gap between today's adversarially trained models and what is theoretically achievable."/>
          <p:cNvSpPr/>
          <p:nvPr/>
        </p:nvSpPr>
        <p:spPr>
          <a:xfrm>
            <a:off x="6248399" y="4267047"/>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715756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Robustness has no yardstick for many classes</a:t>
            </a:r>
          </a:p>
        </p:txBody>
      </p:sp>
      <p:grpSp>
        <p:nvGrpSpPr>
          <p:cNvPr id="20" name="Group 20"/>
          <p:cNvGrpSpPr/>
          <p:nvPr/>
        </p:nvGrpSpPr>
        <p:grpSpPr>
          <a:xfrm>
            <a:off x="609600" y="1504950"/>
            <a:ext cx="3934299" cy="3733800"/>
            <a:chOff x="609600" y="1504950"/>
            <a:chExt cx="3934299" cy="3733800"/>
          </a:xfrm>
        </p:grpSpPr>
        <p:sp>
          <p:nvSpPr>
            <p:cNvPr id="5" name="Rectangle 5"/>
            <p:cNvSpPr/>
            <p:nvPr/>
          </p:nvSpPr>
          <p:spPr>
            <a:xfrm>
              <a:off x="609600" y="1504950"/>
              <a:ext cx="38481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chemeClr val="accent2"/>
            </a:solidFill>
            <a:ln>
              <a:noFill/>
            </a:ln>
          </p:spPr>
        </p:sp>
        <p:sp>
          <p:nvSpPr>
            <p:cNvPr id="7" name="TextBox 7"/>
            <p:cNvSpPr txBox="1"/>
            <p:nvPr/>
          </p:nvSpPr>
          <p:spPr>
            <a:xfrm>
              <a:off x="869442" y="1778318"/>
              <a:ext cx="3674457"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To judge robustness, you need the limit</a:t>
              </a:r>
            </a:p>
          </p:txBody>
        </p:sp>
        <p:sp>
          <p:nvSpPr>
            <p:cNvPr id="8" name="TextBox 8"/>
            <p:cNvSpPr txBox="1"/>
            <p:nvPr/>
          </p:nvSpPr>
          <p:spPr>
            <a:xfrm>
              <a:off x="870585" y="2164556"/>
              <a:ext cx="273017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Knowing whether a classifier is truly</a:t>
              </a:r>
            </a:p>
          </p:txBody>
        </p:sp>
        <p:sp>
          <p:nvSpPr>
            <p:cNvPr id="9" name="TextBox 9"/>
            <p:cNvSpPr txBox="1"/>
            <p:nvPr/>
          </p:nvSpPr>
          <p:spPr>
            <a:xfrm>
              <a:off x="870585" y="2393156"/>
              <a:ext cx="297414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robust to adversarial examples requires</a:t>
              </a:r>
            </a:p>
          </p:txBody>
        </p:sp>
        <p:sp>
          <p:nvSpPr>
            <p:cNvPr id="10" name="TextBox 10"/>
            <p:cNvSpPr txBox="1"/>
            <p:nvPr/>
          </p:nvSpPr>
          <p:spPr>
            <a:xfrm>
              <a:off x="870585" y="2621756"/>
              <a:ext cx="289876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knowing the best that is even possible.</a:t>
              </a:r>
            </a:p>
          </p:txBody>
        </p:sp>
        <p:sp>
          <p:nvSpPr>
            <p:cNvPr id="11" name="Rectangle 11"/>
            <p:cNvSpPr/>
            <p:nvPr/>
          </p:nvSpPr>
          <p:spPr>
            <a:xfrm>
              <a:off x="876300" y="3429000"/>
              <a:ext cx="3276600" cy="1428750"/>
            </a:xfrm>
            <a:prstGeom prst="roundRect">
              <a:avLst>
                <a:gd name="adj" fmla="val 6667"/>
              </a:avLst>
            </a:prstGeom>
            <a:solidFill>
              <a:schemeClr val="accent6"/>
            </a:solidFill>
            <a:ln w="14288">
              <a:solidFill>
                <a:srgbClr val="26455F"/>
              </a:solidFill>
            </a:ln>
          </p:spPr>
        </p:sp>
        <p:sp>
          <p:nvSpPr>
            <p:cNvPr id="12" name="TextBox 12"/>
            <p:cNvSpPr txBox="1"/>
            <p:nvPr/>
          </p:nvSpPr>
          <p:spPr>
            <a:xfrm>
              <a:off x="1061847" y="3609499"/>
              <a:ext cx="1609858"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where does a model sit?</a:t>
              </a:r>
            </a:p>
          </p:txBody>
        </p:sp>
        <p:sp>
          <p:nvSpPr>
            <p:cNvPr id="13" name="Line 13"/>
            <p:cNvSpPr/>
            <p:nvPr/>
          </p:nvSpPr>
          <p:spPr>
            <a:xfrm>
              <a:off x="1143000" y="4476750"/>
              <a:ext cx="2743200" cy="9525"/>
            </a:xfrm>
            <a:custGeom>
              <a:avLst/>
              <a:gdLst/>
              <a:ahLst/>
              <a:cxnLst/>
              <a:rect l="l" t="t" r="r" b="b"/>
              <a:pathLst>
                <a:path w="2743200" h="9525">
                  <a:moveTo>
                    <a:pt x="0" y="0"/>
                  </a:moveTo>
                  <a:lnTo>
                    <a:pt x="2743200" y="0"/>
                  </a:lnTo>
                </a:path>
              </a:pathLst>
            </a:custGeom>
            <a:noFill/>
            <a:ln w="19050" cap="rnd">
              <a:solidFill>
                <a:srgbClr val="26455F"/>
              </a:solidFill>
            </a:ln>
          </p:spPr>
        </p:sp>
        <p:sp>
          <p:nvSpPr>
            <p:cNvPr id="14" name="TextBox 14"/>
            <p:cNvSpPr txBox="1"/>
            <p:nvPr/>
          </p:nvSpPr>
          <p:spPr>
            <a:xfrm>
              <a:off x="1138238" y="4589145"/>
              <a:ext cx="518389" cy="176212"/>
            </a:xfrm>
            <a:prstGeom prst="rect">
              <a:avLst/>
            </a:prstGeom>
            <a:noFill/>
            <a:ln>
              <a:noFill/>
            </a:ln>
          </p:spPr>
          <p:txBody>
            <a:bodyPr wrap="none" lIns="0" tIns="0" rIns="0" bIns="0" anchor="t" anchorCtr="0">
              <a:spAutoFit/>
            </a:bodyPr>
            <a:lstStyle/>
            <a:p>
              <a:pPr algn="l"/>
              <a:r>
                <a:rPr lang="en-US" sz="900" b="1" dirty="0">
                  <a:solidFill>
                    <a:srgbClr val="48C78E"/>
                  </a:solidFill>
                  <a:latin typeface="+mn-lt"/>
                  <a:ea typeface="+mn-ea"/>
                  <a:cs typeface="+mn-cs"/>
                </a:rPr>
                <a:t>optimum</a:t>
              </a:r>
            </a:p>
          </p:txBody>
        </p:sp>
        <p:sp>
          <p:nvSpPr>
            <p:cNvPr id="15" name="Ellipse 15"/>
            <p:cNvSpPr/>
            <p:nvPr/>
          </p:nvSpPr>
          <p:spPr>
            <a:xfrm>
              <a:off x="1133475" y="4238625"/>
              <a:ext cx="133350" cy="133350"/>
            </a:xfrm>
            <a:prstGeom prst="ellipse">
              <a:avLst/>
            </a:prstGeom>
            <a:solidFill>
              <a:srgbClr val="48C78E"/>
            </a:solidFill>
            <a:ln>
              <a:noFill/>
            </a:ln>
          </p:spPr>
        </p:sp>
        <p:sp>
          <p:nvSpPr>
            <p:cNvPr id="16" name="TextBox 16"/>
            <p:cNvSpPr txBox="1"/>
            <p:nvPr/>
          </p:nvSpPr>
          <p:spPr>
            <a:xfrm>
              <a:off x="3041813" y="4589145"/>
              <a:ext cx="849150" cy="176212"/>
            </a:xfrm>
            <a:prstGeom prst="rect">
              <a:avLst/>
            </a:prstGeom>
            <a:noFill/>
            <a:ln>
              <a:noFill/>
            </a:ln>
          </p:spPr>
          <p:txBody>
            <a:bodyPr wrap="none" lIns="0" tIns="0" rIns="0" bIns="0" anchor="t" anchorCtr="0">
              <a:spAutoFit/>
            </a:bodyPr>
            <a:lstStyle/>
            <a:p>
              <a:pPr algn="r"/>
              <a:r>
                <a:rPr lang="en-US" sz="900" b="1" dirty="0">
                  <a:solidFill>
                    <a:srgbClr val="F2685C"/>
                  </a:solidFill>
                  <a:latin typeface="+mn-lt"/>
                  <a:ea typeface="+mn-ea"/>
                  <a:cs typeface="+mn-cs"/>
                </a:rPr>
                <a:t>trained model</a:t>
              </a:r>
            </a:p>
          </p:txBody>
        </p:sp>
        <p:sp>
          <p:nvSpPr>
            <p:cNvPr id="17" name="Ellipse 17"/>
            <p:cNvSpPr/>
            <p:nvPr/>
          </p:nvSpPr>
          <p:spPr>
            <a:xfrm>
              <a:off x="3476625" y="4048125"/>
              <a:ext cx="133350" cy="133350"/>
            </a:xfrm>
            <a:prstGeom prst="ellipse">
              <a:avLst/>
            </a:prstGeom>
            <a:solidFill>
              <a:srgbClr val="F2685C"/>
            </a:solidFill>
            <a:ln>
              <a:noFill/>
            </a:ln>
          </p:spPr>
        </p:sp>
        <p:sp>
          <p:nvSpPr>
            <p:cNvPr id="18" name="Line 18"/>
            <p:cNvSpPr/>
            <p:nvPr/>
          </p:nvSpPr>
          <p:spPr>
            <a:xfrm>
              <a:off x="1200150" y="4114800"/>
              <a:ext cx="2343150" cy="190500"/>
            </a:xfrm>
            <a:custGeom>
              <a:avLst/>
              <a:gdLst/>
              <a:ahLst/>
              <a:cxnLst/>
              <a:rect l="l" t="t" r="r" b="b"/>
              <a:pathLst>
                <a:path w="2343150" h="190500">
                  <a:moveTo>
                    <a:pt x="0" y="190500"/>
                  </a:moveTo>
                  <a:lnTo>
                    <a:pt x="2343150" y="0"/>
                  </a:lnTo>
                </a:path>
              </a:pathLst>
            </a:custGeom>
            <a:noFill/>
            <a:ln w="19050" cap="rnd">
              <a:solidFill>
                <a:srgbClr val="F2C14E"/>
              </a:solidFill>
              <a:custDash>
                <a:ds d="250000" sp="250000"/>
              </a:custDash>
            </a:ln>
          </p:spPr>
        </p:sp>
        <p:sp>
          <p:nvSpPr>
            <p:cNvPr id="19" name="TextBox 19"/>
            <p:cNvSpPr txBox="1"/>
            <p:nvPr/>
          </p:nvSpPr>
          <p:spPr>
            <a:xfrm>
              <a:off x="2009208" y="3971449"/>
              <a:ext cx="744083" cy="190690"/>
            </a:xfrm>
            <a:prstGeom prst="rect">
              <a:avLst/>
            </a:prstGeom>
            <a:noFill/>
            <a:ln>
              <a:noFill/>
            </a:ln>
          </p:spPr>
          <p:txBody>
            <a:bodyPr wrap="none" lIns="0" tIns="0" rIns="0" bIns="0" anchor="t" anchorCtr="0">
              <a:spAutoFit/>
            </a:bodyPr>
            <a:lstStyle/>
            <a:p>
              <a:pPr algn="ctr"/>
              <a:r>
                <a:rPr lang="en-US" sz="980" b="1" dirty="0">
                  <a:solidFill>
                    <a:srgbClr val="F2C14E"/>
                  </a:solidFill>
                  <a:latin typeface="+mn-lt"/>
                  <a:ea typeface="+mn-ea"/>
                  <a:cs typeface="+mn-cs"/>
                </a:rPr>
                <a:t>the gap = ?</a:t>
              </a:r>
            </a:p>
          </p:txBody>
        </p:sp>
      </p:grpSp>
      <p:grpSp>
        <p:nvGrpSpPr>
          <p:cNvPr id="27" name="Group 27"/>
          <p:cNvGrpSpPr/>
          <p:nvPr/>
        </p:nvGrpSpPr>
        <p:grpSpPr>
          <a:xfrm>
            <a:off x="4762500" y="1504950"/>
            <a:ext cx="6819900" cy="1162097"/>
            <a:chOff x="4762500" y="1504950"/>
            <a:chExt cx="6819900" cy="1162097"/>
          </a:xfrm>
        </p:grpSpPr>
        <p:sp>
          <p:nvSpPr>
            <p:cNvPr id="21" name="Rectangle 21"/>
            <p:cNvSpPr/>
            <p:nvPr/>
          </p:nvSpPr>
          <p:spPr>
            <a:xfrm>
              <a:off x="4762500" y="1504950"/>
              <a:ext cx="6819900" cy="1143000"/>
            </a:xfrm>
            <a:prstGeom prst="roundRect">
              <a:avLst>
                <a:gd name="adj" fmla="val 11667"/>
              </a:avLst>
            </a:prstGeom>
            <a:solidFill>
              <a:schemeClr val="accent5"/>
            </a:solidFill>
            <a:ln w="14288">
              <a:solidFill>
                <a:srgbClr val="26455F"/>
              </a:solidFill>
            </a:ln>
          </p:spPr>
        </p:sp>
        <p:sp>
          <p:nvSpPr>
            <p:cNvPr id="22" name="Rectangle 22"/>
            <p:cNvSpPr/>
            <p:nvPr/>
          </p:nvSpPr>
          <p:spPr>
            <a:xfrm>
              <a:off x="4762500" y="1504950"/>
              <a:ext cx="57150" cy="1143000"/>
            </a:xfrm>
            <a:prstGeom prst="roundRect">
              <a:avLst>
                <a:gd name="adj" fmla="val 50000"/>
              </a:avLst>
            </a:prstGeom>
            <a:solidFill>
              <a:srgbClr val="48C78E"/>
            </a:solidFill>
            <a:ln>
              <a:noFill/>
            </a:ln>
          </p:spPr>
        </p:sp>
        <p:sp>
          <p:nvSpPr>
            <p:cNvPr id="23" name="TextBox 23"/>
            <p:cNvSpPr txBox="1"/>
            <p:nvPr/>
          </p:nvSpPr>
          <p:spPr>
            <a:xfrm>
              <a:off x="5022914" y="1733312"/>
              <a:ext cx="2358256"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Binary case: already solved</a:t>
              </a:r>
            </a:p>
          </p:txBody>
        </p:sp>
        <p:sp>
          <p:nvSpPr>
            <p:cNvPr id="24" name="TextBox 24"/>
            <p:cNvSpPr txBox="1"/>
            <p:nvPr/>
          </p:nvSpPr>
          <p:spPr>
            <a:xfrm>
              <a:off x="5023676" y="2035254"/>
              <a:ext cx="443300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Prior work characterized the optimal robust 0-1 loss for two</a:t>
              </a:r>
            </a:p>
          </p:txBody>
        </p:sp>
        <p:sp>
          <p:nvSpPr>
            <p:cNvPr id="25" name="TextBox 25"/>
            <p:cNvSpPr txBox="1"/>
            <p:nvPr/>
          </p:nvSpPr>
          <p:spPr>
            <a:xfrm>
              <a:off x="5023676" y="2244804"/>
              <a:ext cx="391422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classes, giving a reference point to measure progress</a:t>
              </a:r>
            </a:p>
          </p:txBody>
        </p:sp>
        <p:sp>
          <p:nvSpPr>
            <p:cNvPr id="26" name="TextBox 26"/>
            <p:cNvSpPr txBox="1"/>
            <p:nvPr/>
          </p:nvSpPr>
          <p:spPr>
            <a:xfrm>
              <a:off x="5023676" y="2454354"/>
              <a:ext cx="62000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against.</a:t>
              </a:r>
            </a:p>
          </p:txBody>
        </p:sp>
      </p:grpSp>
      <p:grpSp>
        <p:nvGrpSpPr>
          <p:cNvPr id="33" name="Group 33"/>
          <p:cNvGrpSpPr/>
          <p:nvPr/>
        </p:nvGrpSpPr>
        <p:grpSpPr>
          <a:xfrm>
            <a:off x="4762500" y="2762250"/>
            <a:ext cx="6819900" cy="933497"/>
            <a:chOff x="4762500" y="2762250"/>
            <a:chExt cx="6819900" cy="933497"/>
          </a:xfrm>
        </p:grpSpPr>
        <p:sp>
          <p:nvSpPr>
            <p:cNvPr id="28" name="Rectangle 28"/>
            <p:cNvSpPr/>
            <p:nvPr/>
          </p:nvSpPr>
          <p:spPr>
            <a:xfrm>
              <a:off x="4762500" y="2762250"/>
              <a:ext cx="6819900" cy="914400"/>
            </a:xfrm>
            <a:prstGeom prst="roundRect">
              <a:avLst>
                <a:gd name="adj" fmla="val 14583"/>
              </a:avLst>
            </a:prstGeom>
            <a:solidFill>
              <a:schemeClr val="accent5"/>
            </a:solidFill>
            <a:ln w="14288">
              <a:solidFill>
                <a:srgbClr val="26455F"/>
              </a:solidFill>
            </a:ln>
          </p:spPr>
        </p:sp>
        <p:sp>
          <p:nvSpPr>
            <p:cNvPr id="29" name="Rectangle 29"/>
            <p:cNvSpPr/>
            <p:nvPr/>
          </p:nvSpPr>
          <p:spPr>
            <a:xfrm>
              <a:off x="4762500" y="2762250"/>
              <a:ext cx="57150" cy="914400"/>
            </a:xfrm>
            <a:prstGeom prst="roundRect">
              <a:avLst>
                <a:gd name="adj" fmla="val 50000"/>
              </a:avLst>
            </a:prstGeom>
            <a:solidFill>
              <a:srgbClr val="F2C14E"/>
            </a:solidFill>
            <a:ln>
              <a:noFill/>
            </a:ln>
          </p:spPr>
        </p:sp>
        <p:sp>
          <p:nvSpPr>
            <p:cNvPr id="30" name="TextBox 30"/>
            <p:cNvSpPr txBox="1"/>
            <p:nvPr/>
          </p:nvSpPr>
          <p:spPr>
            <a:xfrm>
              <a:off x="5022914" y="2990612"/>
              <a:ext cx="2349732"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Multi-class case: left open</a:t>
              </a:r>
            </a:p>
          </p:txBody>
        </p:sp>
        <p:sp>
          <p:nvSpPr>
            <p:cNvPr id="31" name="TextBox 31"/>
            <p:cNvSpPr txBox="1"/>
            <p:nvPr/>
          </p:nvSpPr>
          <p:spPr>
            <a:xfrm>
              <a:off x="5023676" y="3273504"/>
              <a:ext cx="547468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But real problems have many classes, and the multi-class optimum had never</a:t>
              </a:r>
            </a:p>
          </p:txBody>
        </p:sp>
        <p:sp>
          <p:nvSpPr>
            <p:cNvPr id="32" name="TextBox 32"/>
            <p:cNvSpPr txBox="1"/>
            <p:nvPr/>
          </p:nvSpPr>
          <p:spPr>
            <a:xfrm>
              <a:off x="5023676" y="3483054"/>
              <a:ext cx="147107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been characterized.</a:t>
              </a:r>
            </a:p>
          </p:txBody>
        </p:sp>
      </p:grpSp>
      <p:grpSp>
        <p:nvGrpSpPr>
          <p:cNvPr id="41" name="Group 41"/>
          <p:cNvGrpSpPr/>
          <p:nvPr/>
        </p:nvGrpSpPr>
        <p:grpSpPr>
          <a:xfrm>
            <a:off x="4762500" y="3790950"/>
            <a:ext cx="6819900" cy="1451134"/>
            <a:chOff x="4762500" y="3790950"/>
            <a:chExt cx="6819900" cy="1451134"/>
          </a:xfrm>
        </p:grpSpPr>
        <p:sp>
          <p:nvSpPr>
            <p:cNvPr id="34" name="Rectangle 34"/>
            <p:cNvSpPr/>
            <p:nvPr/>
          </p:nvSpPr>
          <p:spPr>
            <a:xfrm>
              <a:off x="4762500" y="3790950"/>
              <a:ext cx="6819900" cy="1447800"/>
            </a:xfrm>
            <a:prstGeom prst="roundRect">
              <a:avLst>
                <a:gd name="adj" fmla="val 9211"/>
              </a:avLst>
            </a:prstGeom>
            <a:solidFill>
              <a:srgbClr val="2A1720"/>
            </a:solidFill>
            <a:ln w="14288">
              <a:solidFill>
                <a:srgbClr val="F2685C"/>
              </a:solidFill>
            </a:ln>
          </p:spPr>
        </p:sp>
        <p:sp>
          <p:nvSpPr>
            <p:cNvPr id="35" name="Rectangle 35"/>
            <p:cNvSpPr/>
            <p:nvPr/>
          </p:nvSpPr>
          <p:spPr>
            <a:xfrm>
              <a:off x="4762500" y="3790950"/>
              <a:ext cx="57150" cy="1447800"/>
            </a:xfrm>
            <a:prstGeom prst="roundRect">
              <a:avLst>
                <a:gd name="adj" fmla="val 50000"/>
              </a:avLst>
            </a:prstGeom>
            <a:solidFill>
              <a:srgbClr val="F2685C"/>
            </a:solidFill>
            <a:ln>
              <a:noFill/>
            </a:ln>
          </p:spPr>
        </p:sp>
        <p:sp>
          <p:nvSpPr>
            <p:cNvPr id="36" name="TextBox 36"/>
            <p:cNvSpPr txBox="1"/>
            <p:nvPr/>
          </p:nvSpPr>
          <p:spPr>
            <a:xfrm>
              <a:off x="5023104" y="4042410"/>
              <a:ext cx="1374648"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The consequence</a:t>
              </a:r>
            </a:p>
          </p:txBody>
        </p:sp>
        <p:sp>
          <p:nvSpPr>
            <p:cNvPr id="37" name="TextBox 37"/>
            <p:cNvSpPr txBox="1"/>
            <p:nvPr/>
          </p:nvSpPr>
          <p:spPr>
            <a:xfrm>
              <a:off x="5023676" y="4340304"/>
              <a:ext cx="5129961"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With no way to compute the lowest 0-1 loss achievable by any classifier</a:t>
              </a:r>
            </a:p>
          </p:txBody>
        </p:sp>
        <p:sp>
          <p:nvSpPr>
            <p:cNvPr id="38" name="TextBox 38"/>
            <p:cNvSpPr txBox="1"/>
            <p:nvPr/>
          </p:nvSpPr>
          <p:spPr>
            <a:xfrm>
              <a:off x="5023676" y="4549854"/>
              <a:ext cx="5249517"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against a test-time attacker, practitioners had no idea how far current</a:t>
              </a:r>
            </a:p>
          </p:txBody>
        </p:sp>
        <p:sp>
          <p:nvSpPr>
            <p:cNvPr id="39" name="TextBox 39"/>
            <p:cNvSpPr txBox="1"/>
            <p:nvPr/>
          </p:nvSpPr>
          <p:spPr>
            <a:xfrm>
              <a:off x="5023676" y="4759404"/>
              <a:ext cx="2894407"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defenses sit from the theoretical limit.</a:t>
              </a:r>
            </a:p>
          </p:txBody>
        </p:sp>
        <p:sp>
          <p:nvSpPr>
            <p:cNvPr id="40" name="TextBox 40"/>
            <p:cNvSpPr txBox="1"/>
            <p:nvPr/>
          </p:nvSpPr>
          <p:spPr>
            <a:xfrm>
              <a:off x="5023485" y="5022056"/>
              <a:ext cx="2671090" cy="220028"/>
            </a:xfrm>
            <a:prstGeom prst="rect">
              <a:avLst/>
            </a:prstGeom>
            <a:noFill/>
            <a:ln>
              <a:noFill/>
            </a:ln>
          </p:spPr>
          <p:txBody>
            <a:bodyPr wrap="none" lIns="0" tIns="0" rIns="0" bIns="0" anchor="t" anchorCtr="0">
              <a:spAutoFit/>
            </a:bodyPr>
            <a:lstStyle/>
            <a:p>
              <a:pPr algn="l"/>
              <a:r>
                <a:rPr lang="en-US" sz="1120" b="1" dirty="0">
                  <a:solidFill>
                    <a:srgbClr val="F2685C"/>
                  </a:solidFill>
                  <a:latin typeface="Consolas"/>
                  <a:ea typeface="Consolas"/>
                  <a:cs typeface="Consolas"/>
                </a:rPr>
                <a:t>multi-class optimal loss = unknown</a:t>
              </a:r>
            </a:p>
          </p:txBody>
        </p:sp>
      </p:grpSp>
      <p:sp>
        <p:nvSpPr>
          <p:cNvPr id="42" name="cue_s02_c1_determining_whether_classifier_truly" title="cue_s02_c1_determining_whether_classifier_truly" descr="cue_s02_c1_determining_whether_classifier_truly Determining whether a classifier is truly robust to adversarial examples requires knowing the best that is even possible."/>
          <p:cNvSpPr/>
          <p:nvPr/>
        </p:nvSpPr>
        <p:spPr>
          <a:xfrm>
            <a:off x="609600" y="1504645"/>
            <a:ext cx="3934358"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2_c2_binary_classification_prior_work_cha" title="cue_s02_c2_binary_classification_prior_work_cha" descr="cue_s02_c2_binary_classification_prior_work_cha For binary classification, prior work characterized this optimal robust loss, giving a reference point to measure progress against."/>
          <p:cNvSpPr/>
          <p:nvPr/>
        </p:nvSpPr>
        <p:spPr>
          <a:xfrm>
            <a:off x="4762195" y="1504645"/>
            <a:ext cx="6820204" cy="116243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2_c3_but_real_problems_many_classes" title="cue_s02_c3_but_real_problems_many_classes" descr="cue_s02_c3_but_real_problems_many_classes But real problems have many classes, and the multi-class case was left open."/>
          <p:cNvSpPr/>
          <p:nvPr/>
        </p:nvSpPr>
        <p:spPr>
          <a:xfrm>
            <a:off x="4762195" y="2762402"/>
            <a:ext cx="6820204" cy="9333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2_c4_way_compute_lowest_0_1" title="cue_s02_c4_way_compute_lowest_0_1" descr="cue_s02_c4_way_compute_lowest_0_1 There was no way to compute the lowest 0-1 loss achievable by any classifier against a test-time attacker on a multi-class dataset, so practitioners had no way to know how far current defenses sit from the theoretical limit."/>
          <p:cNvSpPr/>
          <p:nvPr/>
        </p:nvSpPr>
        <p:spPr>
          <a:xfrm>
            <a:off x="4762195" y="3791102"/>
            <a:ext cx="6820204" cy="1451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682368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optimum is a diagnostic, not a curiosity</a:t>
            </a:r>
          </a:p>
        </p:txBody>
      </p:sp>
      <p:grpSp>
        <p:nvGrpSpPr>
          <p:cNvPr id="23" name="Group 23"/>
          <p:cNvGrpSpPr/>
          <p:nvPr/>
        </p:nvGrpSpPr>
        <p:grpSpPr>
          <a:xfrm>
            <a:off x="609600" y="1504950"/>
            <a:ext cx="5334000" cy="3733800"/>
            <a:chOff x="609600" y="1504950"/>
            <a:chExt cx="5334000" cy="3733800"/>
          </a:xfrm>
        </p:grpSpPr>
        <p:sp>
          <p:nvSpPr>
            <p:cNvPr id="5" name="Rectangle 5"/>
            <p:cNvSpPr/>
            <p:nvPr/>
          </p:nvSpPr>
          <p:spPr>
            <a:xfrm>
              <a:off x="609600" y="1504950"/>
              <a:ext cx="53340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rgbClr val="34D3C0"/>
            </a:solidFill>
            <a:ln>
              <a:noFill/>
            </a:ln>
          </p:spPr>
        </p:sp>
        <p:sp>
          <p:nvSpPr>
            <p:cNvPr id="7" name="TextBox 7"/>
            <p:cNvSpPr txBox="1"/>
            <p:nvPr/>
          </p:nvSpPr>
          <p:spPr>
            <a:xfrm>
              <a:off x="869442" y="1740218"/>
              <a:ext cx="3235374" cy="264033"/>
            </a:xfrm>
            <a:prstGeom prst="rect">
              <a:avLst/>
            </a:prstGeom>
            <a:noFill/>
            <a:ln>
              <a:noFill/>
            </a:ln>
          </p:spPr>
          <p:txBody>
            <a:bodyPr wrap="none" lIns="0" tIns="0" rIns="0" bIns="0" anchor="t" anchorCtr="0">
              <a:spAutoFit/>
            </a:bodyPr>
            <a:lstStyle/>
            <a:p>
              <a:pPr algn="l"/>
              <a:r>
                <a:rPr lang="en-US" sz="1350" b="1" dirty="0">
                  <a:solidFill>
                    <a:srgbClr val="34D3C0"/>
                  </a:solidFill>
                  <a:latin typeface="+mn-lt"/>
                  <a:ea typeface="+mn-ea"/>
                  <a:cs typeface="+mn-cs"/>
                </a:rPr>
                <a:t>Compare best-possible vs achieved</a:t>
              </a:r>
            </a:p>
          </p:txBody>
        </p:sp>
        <p:sp>
          <p:nvSpPr>
            <p:cNvPr id="8" name="TextBox 8"/>
            <p:cNvSpPr txBox="1"/>
            <p:nvPr/>
          </p:nvSpPr>
          <p:spPr>
            <a:xfrm>
              <a:off x="870776" y="2073354"/>
              <a:ext cx="331716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Measuring the best possible classifier against</a:t>
              </a:r>
            </a:p>
          </p:txBody>
        </p:sp>
        <p:sp>
          <p:nvSpPr>
            <p:cNvPr id="9" name="TextBox 9"/>
            <p:cNvSpPr txBox="1"/>
            <p:nvPr/>
          </p:nvSpPr>
          <p:spPr>
            <a:xfrm>
              <a:off x="870776" y="2282904"/>
              <a:ext cx="321722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what state-of-the-art training reaches is a</a:t>
              </a:r>
            </a:p>
          </p:txBody>
        </p:sp>
        <p:sp>
          <p:nvSpPr>
            <p:cNvPr id="10" name="TextBox 10"/>
            <p:cNvSpPr txBox="1"/>
            <p:nvPr/>
          </p:nvSpPr>
          <p:spPr>
            <a:xfrm>
              <a:off x="870776" y="2492454"/>
              <a:ext cx="150775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powerful diagnostic.</a:t>
              </a:r>
            </a:p>
          </p:txBody>
        </p:sp>
        <p:sp>
          <p:nvSpPr>
            <p:cNvPr id="11" name="TextBox 11"/>
            <p:cNvSpPr txBox="1"/>
            <p:nvPr/>
          </p:nvSpPr>
          <p:spPr>
            <a:xfrm>
              <a:off x="871347" y="2961799"/>
              <a:ext cx="3119769"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0-1 loss at a fixed attack budget (schematic)</a:t>
              </a:r>
            </a:p>
          </p:txBody>
        </p:sp>
        <p:sp>
          <p:nvSpPr>
            <p:cNvPr id="12" name="Rectangle 12"/>
            <p:cNvSpPr/>
            <p:nvPr/>
          </p:nvSpPr>
          <p:spPr>
            <a:xfrm>
              <a:off x="3048000" y="3238500"/>
              <a:ext cx="2286000" cy="285750"/>
            </a:xfrm>
            <a:prstGeom prst="roundRect">
              <a:avLst>
                <a:gd name="adj" fmla="val 20000"/>
              </a:avLst>
            </a:prstGeom>
            <a:solidFill>
              <a:srgbClr val="0E2334"/>
            </a:solidFill>
            <a:ln w="9525">
              <a:solidFill>
                <a:srgbClr val="26455F"/>
              </a:solidFill>
            </a:ln>
          </p:spPr>
        </p:sp>
        <p:sp>
          <p:nvSpPr>
            <p:cNvPr id="13" name="Rectangle 13"/>
            <p:cNvSpPr/>
            <p:nvPr/>
          </p:nvSpPr>
          <p:spPr>
            <a:xfrm>
              <a:off x="3048000" y="3238500"/>
              <a:ext cx="1371600" cy="285750"/>
            </a:xfrm>
            <a:prstGeom prst="roundRect">
              <a:avLst>
                <a:gd name="adj" fmla="val 20000"/>
              </a:avLst>
            </a:prstGeom>
            <a:solidFill>
              <a:srgbClr val="F2685C"/>
            </a:solidFill>
            <a:ln>
              <a:noFill/>
            </a:ln>
          </p:spPr>
        </p:sp>
        <p:sp>
          <p:nvSpPr>
            <p:cNvPr id="14" name="TextBox 14"/>
            <p:cNvSpPr txBox="1"/>
            <p:nvPr/>
          </p:nvSpPr>
          <p:spPr>
            <a:xfrm>
              <a:off x="1778122" y="3330893"/>
              <a:ext cx="1160912"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trained defense</a:t>
              </a:r>
            </a:p>
          </p:txBody>
        </p:sp>
        <p:sp>
          <p:nvSpPr>
            <p:cNvPr id="15" name="TextBox 15"/>
            <p:cNvSpPr txBox="1"/>
            <p:nvPr/>
          </p:nvSpPr>
          <p:spPr>
            <a:xfrm>
              <a:off x="4509516" y="3330893"/>
              <a:ext cx="337189"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0.60</a:t>
              </a:r>
            </a:p>
          </p:txBody>
        </p:sp>
        <p:sp>
          <p:nvSpPr>
            <p:cNvPr id="16" name="Rectangle 16"/>
            <p:cNvSpPr/>
            <p:nvPr/>
          </p:nvSpPr>
          <p:spPr>
            <a:xfrm>
              <a:off x="3048000" y="3695700"/>
              <a:ext cx="2286000" cy="285750"/>
            </a:xfrm>
            <a:prstGeom prst="roundRect">
              <a:avLst>
                <a:gd name="adj" fmla="val 20000"/>
              </a:avLst>
            </a:prstGeom>
            <a:solidFill>
              <a:srgbClr val="0E2334"/>
            </a:solidFill>
            <a:ln w="9525">
              <a:solidFill>
                <a:srgbClr val="26455F"/>
              </a:solidFill>
            </a:ln>
          </p:spPr>
        </p:sp>
        <p:sp>
          <p:nvSpPr>
            <p:cNvPr id="17" name="Rectangle 17"/>
            <p:cNvSpPr/>
            <p:nvPr/>
          </p:nvSpPr>
          <p:spPr>
            <a:xfrm>
              <a:off x="3048000" y="3695700"/>
              <a:ext cx="38100" cy="285750"/>
            </a:xfrm>
            <a:prstGeom prst="roundRect">
              <a:avLst>
                <a:gd name="adj" fmla="val 50000"/>
              </a:avLst>
            </a:prstGeom>
            <a:solidFill>
              <a:srgbClr val="48C78E"/>
            </a:solidFill>
            <a:ln>
              <a:noFill/>
            </a:ln>
          </p:spPr>
        </p:sp>
        <p:sp>
          <p:nvSpPr>
            <p:cNvPr id="18" name="TextBox 18"/>
            <p:cNvSpPr txBox="1"/>
            <p:nvPr/>
          </p:nvSpPr>
          <p:spPr>
            <a:xfrm>
              <a:off x="1243815" y="3788093"/>
              <a:ext cx="1695219"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optimal (best possible)</a:t>
              </a:r>
            </a:p>
          </p:txBody>
        </p:sp>
        <p:sp>
          <p:nvSpPr>
            <p:cNvPr id="19" name="TextBox 19"/>
            <p:cNvSpPr txBox="1"/>
            <p:nvPr/>
          </p:nvSpPr>
          <p:spPr>
            <a:xfrm>
              <a:off x="3176016" y="3788093"/>
              <a:ext cx="173928"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~0</a:t>
              </a:r>
            </a:p>
          </p:txBody>
        </p:sp>
        <p:sp>
          <p:nvSpPr>
            <p:cNvPr id="20" name="Rectangle 20"/>
            <p:cNvSpPr/>
            <p:nvPr/>
          </p:nvSpPr>
          <p:spPr>
            <a:xfrm>
              <a:off x="876300" y="4210050"/>
              <a:ext cx="4800600" cy="857250"/>
            </a:xfrm>
            <a:prstGeom prst="roundRect">
              <a:avLst>
                <a:gd name="adj" fmla="val 11111"/>
              </a:avLst>
            </a:prstGeom>
            <a:solidFill>
              <a:schemeClr val="accent6"/>
            </a:solidFill>
            <a:ln w="14288">
              <a:solidFill>
                <a:srgbClr val="26455F"/>
              </a:solidFill>
            </a:ln>
          </p:spPr>
        </p:sp>
        <p:sp>
          <p:nvSpPr>
            <p:cNvPr id="21" name="TextBox 21"/>
            <p:cNvSpPr txBox="1"/>
            <p:nvPr/>
          </p:nvSpPr>
          <p:spPr>
            <a:xfrm>
              <a:off x="1061656" y="4386501"/>
              <a:ext cx="1407165" cy="198025"/>
            </a:xfrm>
            <a:prstGeom prst="rect">
              <a:avLst/>
            </a:prstGeom>
            <a:noFill/>
            <a:ln>
              <a:noFill/>
            </a:ln>
          </p:spPr>
          <p:txBody>
            <a:bodyPr wrap="none" lIns="0" tIns="0" rIns="0" bIns="0" anchor="t" anchorCtr="0">
              <a:spAutoFit/>
            </a:bodyPr>
            <a:lstStyle/>
            <a:p>
              <a:pPr algn="l"/>
              <a:r>
                <a:rPr lang="en-US" sz="1010" b="1" dirty="0">
                  <a:solidFill>
                    <a:srgbClr val="34D3C0"/>
                  </a:solidFill>
                  <a:latin typeface="+mn-lt"/>
                  <a:ea typeface="+mn-ea"/>
                  <a:cs typeface="+mn-cs"/>
                </a:rPr>
                <a:t>The gap is the story</a:t>
              </a:r>
            </a:p>
          </p:txBody>
        </p:sp>
        <p:sp>
          <p:nvSpPr>
            <p:cNvPr id="22" name="TextBox 22"/>
            <p:cNvSpPr txBox="1"/>
            <p:nvPr/>
          </p:nvSpPr>
          <p:spPr>
            <a:xfrm>
              <a:off x="1061656" y="4615101"/>
              <a:ext cx="310812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How much robustness is still left on the table?</a:t>
              </a:r>
            </a:p>
          </p:txBody>
        </p:sp>
      </p:grpSp>
      <p:grpSp>
        <p:nvGrpSpPr>
          <p:cNvPr id="29" name="Group 29"/>
          <p:cNvGrpSpPr/>
          <p:nvPr/>
        </p:nvGrpSpPr>
        <p:grpSpPr>
          <a:xfrm>
            <a:off x="6172200" y="1504950"/>
            <a:ext cx="5410200" cy="1104900"/>
            <a:chOff x="6172200" y="1504950"/>
            <a:chExt cx="5410200" cy="1104900"/>
          </a:xfrm>
        </p:grpSpPr>
        <p:sp>
          <p:nvSpPr>
            <p:cNvPr id="24" name="Rectangle 24"/>
            <p:cNvSpPr/>
            <p:nvPr/>
          </p:nvSpPr>
          <p:spPr>
            <a:xfrm>
              <a:off x="6172200" y="1504950"/>
              <a:ext cx="5410200" cy="1104900"/>
            </a:xfrm>
            <a:prstGeom prst="roundRect">
              <a:avLst>
                <a:gd name="adj" fmla="val 12069"/>
              </a:avLst>
            </a:prstGeom>
            <a:solidFill>
              <a:schemeClr val="accent5"/>
            </a:solidFill>
            <a:ln w="14288">
              <a:solidFill>
                <a:srgbClr val="26455F"/>
              </a:solidFill>
            </a:ln>
          </p:spPr>
        </p:sp>
        <p:sp>
          <p:nvSpPr>
            <p:cNvPr id="25" name="Rectangle 25"/>
            <p:cNvSpPr/>
            <p:nvPr/>
          </p:nvSpPr>
          <p:spPr>
            <a:xfrm>
              <a:off x="6172200" y="1504950"/>
              <a:ext cx="57150" cy="1104900"/>
            </a:xfrm>
            <a:prstGeom prst="roundRect">
              <a:avLst>
                <a:gd name="adj" fmla="val 50000"/>
              </a:avLst>
            </a:prstGeom>
            <a:solidFill>
              <a:schemeClr val="accent2"/>
            </a:solidFill>
            <a:ln>
              <a:noFill/>
            </a:ln>
          </p:spPr>
        </p:sp>
        <p:sp>
          <p:nvSpPr>
            <p:cNvPr id="26" name="TextBox 26"/>
            <p:cNvSpPr txBox="1"/>
            <p:nvPr/>
          </p:nvSpPr>
          <p:spPr>
            <a:xfrm>
              <a:off x="6432804" y="1737360"/>
              <a:ext cx="2196965"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It localizes the bottleneck</a:t>
              </a:r>
            </a:p>
          </p:txBody>
        </p:sp>
        <p:sp>
          <p:nvSpPr>
            <p:cNvPr id="27" name="TextBox 27"/>
            <p:cNvSpPr txBox="1"/>
            <p:nvPr/>
          </p:nvSpPr>
          <p:spPr>
            <a:xfrm>
              <a:off x="6433376" y="2035254"/>
              <a:ext cx="427140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large gap blames your training method; a small gap blames</a:t>
              </a:r>
            </a:p>
          </p:txBody>
        </p:sp>
        <p:sp>
          <p:nvSpPr>
            <p:cNvPr id="28" name="TextBox 28"/>
            <p:cNvSpPr txBox="1"/>
            <p:nvPr/>
          </p:nvSpPr>
          <p:spPr>
            <a:xfrm>
              <a:off x="6433376" y="2244804"/>
              <a:ext cx="357672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fundamental limit of the data and threat model.</a:t>
              </a:r>
            </a:p>
          </p:txBody>
        </p:sp>
      </p:grpSp>
      <p:grpSp>
        <p:nvGrpSpPr>
          <p:cNvPr id="35" name="Group 35"/>
          <p:cNvGrpSpPr/>
          <p:nvPr/>
        </p:nvGrpSpPr>
        <p:grpSpPr>
          <a:xfrm>
            <a:off x="6172200" y="2724150"/>
            <a:ext cx="5410200" cy="1028700"/>
            <a:chOff x="6172200" y="2724150"/>
            <a:chExt cx="5410200" cy="1028700"/>
          </a:xfrm>
        </p:grpSpPr>
        <p:sp>
          <p:nvSpPr>
            <p:cNvPr id="30" name="Rectangle 30"/>
            <p:cNvSpPr/>
            <p:nvPr/>
          </p:nvSpPr>
          <p:spPr>
            <a:xfrm>
              <a:off x="6172200" y="2724150"/>
              <a:ext cx="5410200" cy="1028700"/>
            </a:xfrm>
            <a:prstGeom prst="roundRect">
              <a:avLst>
                <a:gd name="adj" fmla="val 12963"/>
              </a:avLst>
            </a:prstGeom>
            <a:solidFill>
              <a:schemeClr val="accent5"/>
            </a:solidFill>
            <a:ln w="14288">
              <a:solidFill>
                <a:srgbClr val="26455F"/>
              </a:solidFill>
            </a:ln>
          </p:spPr>
        </p:sp>
        <p:sp>
          <p:nvSpPr>
            <p:cNvPr id="31" name="Rectangle 31"/>
            <p:cNvSpPr/>
            <p:nvPr/>
          </p:nvSpPr>
          <p:spPr>
            <a:xfrm>
              <a:off x="6172200" y="2724150"/>
              <a:ext cx="57150" cy="1028700"/>
            </a:xfrm>
            <a:prstGeom prst="roundRect">
              <a:avLst>
                <a:gd name="adj" fmla="val 50000"/>
              </a:avLst>
            </a:prstGeom>
            <a:solidFill>
              <a:srgbClr val="F2C14E"/>
            </a:solidFill>
            <a:ln>
              <a:noFill/>
            </a:ln>
          </p:spPr>
        </p:sp>
        <p:sp>
          <p:nvSpPr>
            <p:cNvPr id="32" name="TextBox 32"/>
            <p:cNvSpPr txBox="1"/>
            <p:nvPr/>
          </p:nvSpPr>
          <p:spPr>
            <a:xfrm>
              <a:off x="6432804" y="2956560"/>
              <a:ext cx="2731821"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But only two classes were solved</a:t>
              </a:r>
            </a:p>
          </p:txBody>
        </p:sp>
        <p:sp>
          <p:nvSpPr>
            <p:cNvPr id="33" name="TextBox 33"/>
            <p:cNvSpPr txBox="1"/>
            <p:nvPr/>
          </p:nvSpPr>
          <p:spPr>
            <a:xfrm>
              <a:off x="6433376" y="3254454"/>
              <a:ext cx="331727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Past work delivered this diagnostic for binary</a:t>
              </a:r>
            </a:p>
          </p:txBody>
        </p:sp>
        <p:sp>
          <p:nvSpPr>
            <p:cNvPr id="34" name="TextBox 34"/>
            <p:cNvSpPr txBox="1"/>
            <p:nvPr/>
          </p:nvSpPr>
          <p:spPr>
            <a:xfrm>
              <a:off x="6433376" y="3464004"/>
              <a:ext cx="140503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classification only.</a:t>
              </a:r>
            </a:p>
          </p:txBody>
        </p:sp>
      </p:grpSp>
      <p:grpSp>
        <p:nvGrpSpPr>
          <p:cNvPr id="43" name="Group 43"/>
          <p:cNvGrpSpPr/>
          <p:nvPr/>
        </p:nvGrpSpPr>
        <p:grpSpPr>
          <a:xfrm>
            <a:off x="6172200" y="3867150"/>
            <a:ext cx="5410200" cy="1371600"/>
            <a:chOff x="6172200" y="3867150"/>
            <a:chExt cx="5410200" cy="1371600"/>
          </a:xfrm>
        </p:grpSpPr>
        <p:sp>
          <p:nvSpPr>
            <p:cNvPr id="36" name="Rectangle 36"/>
            <p:cNvSpPr/>
            <p:nvPr/>
          </p:nvSpPr>
          <p:spPr>
            <a:xfrm>
              <a:off x="6172200" y="3867150"/>
              <a:ext cx="5410200" cy="1371600"/>
            </a:xfrm>
            <a:prstGeom prst="roundRect">
              <a:avLst>
                <a:gd name="adj" fmla="val 9722"/>
              </a:avLst>
            </a:prstGeom>
            <a:solidFill>
              <a:srgbClr val="2A2417"/>
            </a:solidFill>
            <a:ln w="14288">
              <a:solidFill>
                <a:srgbClr val="F2C14E"/>
              </a:solidFill>
            </a:ln>
          </p:spPr>
        </p:sp>
        <p:sp>
          <p:nvSpPr>
            <p:cNvPr id="37" name="Rectangle 37"/>
            <p:cNvSpPr/>
            <p:nvPr/>
          </p:nvSpPr>
          <p:spPr>
            <a:xfrm>
              <a:off x="6172200" y="3867150"/>
              <a:ext cx="57150" cy="1371600"/>
            </a:xfrm>
            <a:prstGeom prst="roundRect">
              <a:avLst>
                <a:gd name="adj" fmla="val 50000"/>
              </a:avLst>
            </a:prstGeom>
            <a:solidFill>
              <a:srgbClr val="F2C14E"/>
            </a:solidFill>
            <a:ln>
              <a:noFill/>
            </a:ln>
          </p:spPr>
        </p:sp>
        <p:sp>
          <p:nvSpPr>
            <p:cNvPr id="38" name="TextBox 38"/>
            <p:cNvSpPr txBox="1"/>
            <p:nvPr/>
          </p:nvSpPr>
          <p:spPr>
            <a:xfrm>
              <a:off x="6432804" y="4099560"/>
              <a:ext cx="3028649"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Many classes is not a free extension</a:t>
              </a:r>
            </a:p>
          </p:txBody>
        </p:sp>
        <p:sp>
          <p:nvSpPr>
            <p:cNvPr id="39" name="TextBox 39"/>
            <p:cNvSpPr txBox="1"/>
            <p:nvPr/>
          </p:nvSpPr>
          <p:spPr>
            <a:xfrm>
              <a:off x="6433376" y="4397454"/>
              <a:ext cx="3537692"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With three or more classes, examples interact in</a:t>
              </a:r>
            </a:p>
          </p:txBody>
        </p:sp>
        <p:sp>
          <p:nvSpPr>
            <p:cNvPr id="40" name="TextBox 40"/>
            <p:cNvSpPr txBox="1"/>
            <p:nvPr/>
          </p:nvSpPr>
          <p:spPr>
            <a:xfrm>
              <a:off x="6433376" y="4607004"/>
              <a:ext cx="3826180"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higher-order ways that binary analysis simply cannot</a:t>
              </a:r>
            </a:p>
          </p:txBody>
        </p:sp>
        <p:sp>
          <p:nvSpPr>
            <p:cNvPr id="41" name="TextBox 41"/>
            <p:cNvSpPr txBox="1"/>
            <p:nvPr/>
          </p:nvSpPr>
          <p:spPr>
            <a:xfrm>
              <a:off x="6433376" y="4816554"/>
              <a:ext cx="656687"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capture.</a:t>
              </a:r>
            </a:p>
          </p:txBody>
        </p:sp>
        <p:sp>
          <p:nvSpPr>
            <p:cNvPr id="42" name="TextBox 42"/>
            <p:cNvSpPr txBox="1"/>
            <p:nvPr/>
          </p:nvSpPr>
          <p:spPr>
            <a:xfrm>
              <a:off x="6433566" y="4992052"/>
              <a:ext cx="3854708"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Consolas"/>
                  <a:ea typeface="Consolas"/>
                  <a:cs typeface="Consolas"/>
                </a:rPr>
                <a:t>2 classes: pairs 3+ classes: triples, quadruples, ...</a:t>
              </a:r>
            </a:p>
          </p:txBody>
        </p:sp>
      </p:grpSp>
      <p:sp>
        <p:nvSpPr>
          <p:cNvPr id="44" name="cue_s03_c1_comparing_robustness_best_possible_c" title="cue_s03_c1_comparing_robustness_best_possible_c" descr="cue_s03_c1_comparing_robustness_best_possible_c Comparing the robustness of the best possible classifier to what state-of-the-art training achieves is a powerful diagnostic."/>
          <p:cNvSpPr/>
          <p:nvPr/>
        </p:nvSpPr>
        <p:spPr>
          <a:xfrm>
            <a:off x="609600" y="1504645"/>
            <a:ext cx="5334000"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3_c2_tells_you_whether_bottleneck_your" title="cue_s03_c2_tells_you_whether_bottleneck_your" descr="cue_s03_c2_tells_you_whether_bottleneck_your It tells you whether the bottleneck is your training method or a fundamental limit of the data and threat model."/>
          <p:cNvSpPr/>
          <p:nvPr/>
        </p:nvSpPr>
        <p:spPr>
          <a:xfrm>
            <a:off x="6171590" y="1504645"/>
            <a:ext cx="540959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3_c3_past_work_delivered_only_two" title="cue_s03_c3_past_work_delivered_only_two" descr="cue_s03_c3_past_work_delivered_only_two Past work delivered this only for two classes."/>
          <p:cNvSpPr/>
          <p:nvPr/>
        </p:nvSpPr>
        <p:spPr>
          <a:xfrm>
            <a:off x="6171590" y="2723997"/>
            <a:ext cx="5409590" cy="10287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3_c4_moving_many_classes_not_trivial" title="cue_s03_c4_moving_many_classes_not_trivial" descr="cue_s03_c4_moving_many_classes_not_trivial Moving to many classes is not a trivial extension: with three or more classes, examples can interact in higher-order ways that binary analysis simply cannot capture, and these interactions can change what optimal robustness looks like."/>
          <p:cNvSpPr/>
          <p:nvPr/>
        </p:nvSpPr>
        <p:spPr>
          <a:xfrm>
            <a:off x="6171590" y="3867226"/>
            <a:ext cx="5409590" cy="13716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311754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Three contributions</a:t>
            </a:r>
          </a:p>
        </p:txBody>
      </p:sp>
      <p:grpSp>
        <p:nvGrpSpPr>
          <p:cNvPr id="8" name="Group 8"/>
          <p:cNvGrpSpPr/>
          <p:nvPr/>
        </p:nvGrpSpPr>
        <p:grpSpPr>
          <a:xfrm>
            <a:off x="609600" y="1504950"/>
            <a:ext cx="10972800" cy="514350"/>
            <a:chOff x="609600" y="1504950"/>
            <a:chExt cx="10972800" cy="514350"/>
          </a:xfrm>
        </p:grpSpPr>
        <p:sp>
          <p:nvSpPr>
            <p:cNvPr id="5" name="Rectangle 5"/>
            <p:cNvSpPr/>
            <p:nvPr/>
          </p:nvSpPr>
          <p:spPr>
            <a:xfrm>
              <a:off x="609600" y="1504950"/>
              <a:ext cx="10972800" cy="514350"/>
            </a:xfrm>
            <a:prstGeom prst="roundRect">
              <a:avLst>
                <a:gd name="adj" fmla="val 25926"/>
              </a:avLst>
            </a:prstGeom>
            <a:solidFill>
              <a:schemeClr val="accent5"/>
            </a:solidFill>
            <a:ln w="14288">
              <a:solidFill>
                <a:srgbClr val="26455F"/>
              </a:solidFill>
            </a:ln>
          </p:spPr>
        </p:sp>
        <p:sp>
          <p:nvSpPr>
            <p:cNvPr id="6" name="Rectangle 6"/>
            <p:cNvSpPr/>
            <p:nvPr/>
          </p:nvSpPr>
          <p:spPr>
            <a:xfrm>
              <a:off x="609600" y="1504950"/>
              <a:ext cx="57150" cy="514350"/>
            </a:xfrm>
            <a:prstGeom prst="roundRect">
              <a:avLst>
                <a:gd name="adj" fmla="val 50000"/>
              </a:avLst>
            </a:prstGeom>
            <a:solidFill>
              <a:schemeClr val="accent2"/>
            </a:solidFill>
            <a:ln>
              <a:noFill/>
            </a:ln>
          </p:spPr>
        </p:sp>
        <p:sp>
          <p:nvSpPr>
            <p:cNvPr id="7" name="TextBox 7"/>
            <p:cNvSpPr txBox="1"/>
            <p:nvPr/>
          </p:nvSpPr>
          <p:spPr>
            <a:xfrm>
              <a:off x="870204" y="1699260"/>
              <a:ext cx="10288628"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The paper makes three contributions: a framework, efficient bounds, and the first multi-class empirical study of the gap.</a:t>
              </a:r>
            </a:p>
          </p:txBody>
        </p:sp>
      </p:grpSp>
      <p:grpSp>
        <p:nvGrpSpPr>
          <p:cNvPr id="18" name="Group 18"/>
          <p:cNvGrpSpPr/>
          <p:nvPr/>
        </p:nvGrpSpPr>
        <p:grpSpPr>
          <a:xfrm>
            <a:off x="609600" y="2209800"/>
            <a:ext cx="3505200" cy="3028950"/>
            <a:chOff x="609600" y="2209800"/>
            <a:chExt cx="3505200" cy="3028950"/>
          </a:xfrm>
        </p:grpSpPr>
        <p:sp>
          <p:nvSpPr>
            <p:cNvPr id="9" name="Rectangle 9"/>
            <p:cNvSpPr/>
            <p:nvPr/>
          </p:nvSpPr>
          <p:spPr>
            <a:xfrm>
              <a:off x="609600" y="2209800"/>
              <a:ext cx="3505200" cy="3028950"/>
            </a:xfrm>
            <a:prstGeom prst="roundRect">
              <a:avLst>
                <a:gd name="adj" fmla="val 4403"/>
              </a:avLst>
            </a:prstGeom>
            <a:solidFill>
              <a:schemeClr val="accent5"/>
            </a:solidFill>
            <a:ln w="14288">
              <a:solidFill>
                <a:srgbClr val="26455F"/>
              </a:solidFill>
            </a:ln>
          </p:spPr>
        </p:sp>
        <p:sp>
          <p:nvSpPr>
            <p:cNvPr id="10" name="Rectangle 10"/>
            <p:cNvSpPr/>
            <p:nvPr/>
          </p:nvSpPr>
          <p:spPr>
            <a:xfrm>
              <a:off x="609600" y="2209800"/>
              <a:ext cx="3505200" cy="57150"/>
            </a:xfrm>
            <a:prstGeom prst="roundRect">
              <a:avLst>
                <a:gd name="adj" fmla="val 50000"/>
              </a:avLst>
            </a:prstGeom>
            <a:solidFill>
              <a:schemeClr val="accent2"/>
            </a:solidFill>
            <a:ln>
              <a:noFill/>
            </a:ln>
          </p:spPr>
        </p:sp>
        <p:sp>
          <p:nvSpPr>
            <p:cNvPr id="11" name="Ellipse 11"/>
            <p:cNvSpPr/>
            <p:nvPr/>
          </p:nvSpPr>
          <p:spPr>
            <a:xfrm>
              <a:off x="857250" y="2609850"/>
              <a:ext cx="495300" cy="495300"/>
            </a:xfrm>
            <a:prstGeom prst="ellipse">
              <a:avLst/>
            </a:prstGeom>
            <a:noFill/>
            <a:ln w="23812">
              <a:solidFill>
                <a:schemeClr val="accent2"/>
              </a:solidFill>
            </a:ln>
          </p:spPr>
        </p:sp>
        <p:sp>
          <p:nvSpPr>
            <p:cNvPr id="12" name="TextBox 12"/>
            <p:cNvSpPr txBox="1"/>
            <p:nvPr/>
          </p:nvSpPr>
          <p:spPr>
            <a:xfrm>
              <a:off x="1012602" y="2726055"/>
              <a:ext cx="184596" cy="410718"/>
            </a:xfrm>
            <a:prstGeom prst="rect">
              <a:avLst/>
            </a:prstGeom>
            <a:noFill/>
            <a:ln>
              <a:noFill/>
            </a:ln>
          </p:spPr>
          <p:txBody>
            <a:bodyPr wrap="none" lIns="0" tIns="0" rIns="0" bIns="0" anchor="t" anchorCtr="0">
              <a:spAutoFit/>
            </a:bodyPr>
            <a:lstStyle/>
            <a:p>
              <a:pPr algn="ctr"/>
              <a:r>
                <a:rPr lang="en-US" sz="2100" b="1" dirty="0">
                  <a:solidFill>
                    <a:schemeClr val="accent2"/>
                  </a:solidFill>
                  <a:latin typeface="+mn-lt"/>
                  <a:ea typeface="+mn-ea"/>
                  <a:cs typeface="+mn-cs"/>
                </a:rPr>
                <a:t>1</a:t>
              </a:r>
            </a:p>
          </p:txBody>
        </p:sp>
        <p:sp>
          <p:nvSpPr>
            <p:cNvPr id="13" name="TextBox 13"/>
            <p:cNvSpPr txBox="1"/>
            <p:nvPr/>
          </p:nvSpPr>
          <p:spPr>
            <a:xfrm>
              <a:off x="869252" y="3298269"/>
              <a:ext cx="2211352"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Multi-class framework</a:t>
              </a:r>
            </a:p>
          </p:txBody>
        </p:sp>
        <p:sp>
          <p:nvSpPr>
            <p:cNvPr id="14" name="TextBox 14"/>
            <p:cNvSpPr txBox="1"/>
            <p:nvPr/>
          </p:nvSpPr>
          <p:spPr>
            <a:xfrm>
              <a:off x="870776" y="3692604"/>
              <a:ext cx="296520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Generalize the conflict-graph framework</a:t>
              </a:r>
            </a:p>
          </p:txBody>
        </p:sp>
        <p:sp>
          <p:nvSpPr>
            <p:cNvPr id="15" name="TextBox 15"/>
            <p:cNvSpPr txBox="1"/>
            <p:nvPr/>
          </p:nvSpPr>
          <p:spPr>
            <a:xfrm>
              <a:off x="870776" y="3911679"/>
              <a:ext cx="284305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from binary to multi-class: the optimal</a:t>
              </a:r>
            </a:p>
          </p:txBody>
        </p:sp>
        <p:sp>
          <p:nvSpPr>
            <p:cNvPr id="16" name="TextBox 16"/>
            <p:cNvSpPr txBox="1"/>
            <p:nvPr/>
          </p:nvSpPr>
          <p:spPr>
            <a:xfrm>
              <a:off x="870776" y="4130754"/>
              <a:ext cx="243952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0-1 loss is the solution of a linear</a:t>
              </a:r>
            </a:p>
          </p:txBody>
        </p:sp>
        <p:sp>
          <p:nvSpPr>
            <p:cNvPr id="17" name="TextBox 17"/>
            <p:cNvSpPr txBox="1"/>
            <p:nvPr/>
          </p:nvSpPr>
          <p:spPr>
            <a:xfrm>
              <a:off x="870776" y="4349829"/>
              <a:ext cx="248354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program on a conflict hypergraph.</a:t>
              </a:r>
            </a:p>
          </p:txBody>
        </p:sp>
      </p:grpSp>
      <p:grpSp>
        <p:nvGrpSpPr>
          <p:cNvPr id="28" name="Group 28"/>
          <p:cNvGrpSpPr/>
          <p:nvPr/>
        </p:nvGrpSpPr>
        <p:grpSpPr>
          <a:xfrm>
            <a:off x="4343400" y="2209800"/>
            <a:ext cx="3505200" cy="3028950"/>
            <a:chOff x="4343400" y="2209800"/>
            <a:chExt cx="3505200" cy="3028950"/>
          </a:xfrm>
        </p:grpSpPr>
        <p:sp>
          <p:nvSpPr>
            <p:cNvPr id="19" name="Rectangle 19"/>
            <p:cNvSpPr/>
            <p:nvPr/>
          </p:nvSpPr>
          <p:spPr>
            <a:xfrm>
              <a:off x="4343400" y="2209800"/>
              <a:ext cx="3505200" cy="3028950"/>
            </a:xfrm>
            <a:prstGeom prst="roundRect">
              <a:avLst>
                <a:gd name="adj" fmla="val 4403"/>
              </a:avLst>
            </a:prstGeom>
            <a:solidFill>
              <a:schemeClr val="accent5"/>
            </a:solidFill>
            <a:ln w="14288">
              <a:solidFill>
                <a:srgbClr val="26455F"/>
              </a:solidFill>
            </a:ln>
          </p:spPr>
        </p:sp>
        <p:sp>
          <p:nvSpPr>
            <p:cNvPr id="20" name="Rectangle 20"/>
            <p:cNvSpPr/>
            <p:nvPr/>
          </p:nvSpPr>
          <p:spPr>
            <a:xfrm>
              <a:off x="4343400" y="2209800"/>
              <a:ext cx="3505200" cy="57150"/>
            </a:xfrm>
            <a:prstGeom prst="roundRect">
              <a:avLst>
                <a:gd name="adj" fmla="val 50000"/>
              </a:avLst>
            </a:prstGeom>
            <a:solidFill>
              <a:srgbClr val="34D3C0"/>
            </a:solidFill>
            <a:ln>
              <a:noFill/>
            </a:ln>
          </p:spPr>
        </p:sp>
        <p:sp>
          <p:nvSpPr>
            <p:cNvPr id="21" name="Ellipse 21"/>
            <p:cNvSpPr/>
            <p:nvPr/>
          </p:nvSpPr>
          <p:spPr>
            <a:xfrm>
              <a:off x="4591050" y="2609850"/>
              <a:ext cx="495300" cy="495300"/>
            </a:xfrm>
            <a:prstGeom prst="ellipse">
              <a:avLst/>
            </a:prstGeom>
            <a:noFill/>
            <a:ln w="23812">
              <a:solidFill>
                <a:srgbClr val="34D3C0"/>
              </a:solidFill>
            </a:ln>
          </p:spPr>
        </p:sp>
        <p:sp>
          <p:nvSpPr>
            <p:cNvPr id="22" name="TextBox 22"/>
            <p:cNvSpPr txBox="1"/>
            <p:nvPr/>
          </p:nvSpPr>
          <p:spPr>
            <a:xfrm>
              <a:off x="4746402" y="2726055"/>
              <a:ext cx="184596" cy="410718"/>
            </a:xfrm>
            <a:prstGeom prst="rect">
              <a:avLst/>
            </a:prstGeom>
            <a:noFill/>
            <a:ln>
              <a:noFill/>
            </a:ln>
          </p:spPr>
          <p:txBody>
            <a:bodyPr wrap="none" lIns="0" tIns="0" rIns="0" bIns="0" anchor="t" anchorCtr="0">
              <a:spAutoFit/>
            </a:bodyPr>
            <a:lstStyle/>
            <a:p>
              <a:pPr algn="ctr"/>
              <a:r>
                <a:rPr lang="en-US" sz="2100" b="1" dirty="0">
                  <a:solidFill>
                    <a:srgbClr val="34D3C0"/>
                  </a:solidFill>
                  <a:latin typeface="+mn-lt"/>
                  <a:ea typeface="+mn-ea"/>
                  <a:cs typeface="+mn-cs"/>
                </a:rPr>
                <a:t>2</a:t>
              </a:r>
            </a:p>
          </p:txBody>
        </p:sp>
        <p:sp>
          <p:nvSpPr>
            <p:cNvPr id="23" name="TextBox 23"/>
            <p:cNvSpPr txBox="1"/>
            <p:nvPr/>
          </p:nvSpPr>
          <p:spPr>
            <a:xfrm>
              <a:off x="4603052" y="3298269"/>
              <a:ext cx="1601712"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Efficient bounds</a:t>
              </a:r>
            </a:p>
          </p:txBody>
        </p:sp>
        <p:sp>
          <p:nvSpPr>
            <p:cNvPr id="24" name="TextBox 24"/>
            <p:cNvSpPr txBox="1"/>
            <p:nvPr/>
          </p:nvSpPr>
          <p:spPr>
            <a:xfrm>
              <a:off x="4604576" y="3692604"/>
              <a:ext cx="244461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Because the exact program can be</a:t>
              </a:r>
            </a:p>
          </p:txBody>
        </p:sp>
        <p:sp>
          <p:nvSpPr>
            <p:cNvPr id="25" name="TextBox 25"/>
            <p:cNvSpPr txBox="1"/>
            <p:nvPr/>
          </p:nvSpPr>
          <p:spPr>
            <a:xfrm>
              <a:off x="4604576" y="3911679"/>
              <a:ext cx="262294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prohibitive, develop several cheaper</a:t>
              </a:r>
            </a:p>
          </p:txBody>
        </p:sp>
        <p:sp>
          <p:nvSpPr>
            <p:cNvPr id="26" name="TextBox 26"/>
            <p:cNvSpPr txBox="1"/>
            <p:nvPr/>
          </p:nvSpPr>
          <p:spPr>
            <a:xfrm>
              <a:off x="4604576" y="4130754"/>
              <a:ext cx="293109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lower and upper bounds that bracket the</a:t>
              </a:r>
            </a:p>
          </p:txBody>
        </p:sp>
        <p:sp>
          <p:nvSpPr>
            <p:cNvPr id="27" name="TextBox 27"/>
            <p:cNvSpPr txBox="1"/>
            <p:nvPr/>
          </p:nvSpPr>
          <p:spPr>
            <a:xfrm>
              <a:off x="4604576" y="4349829"/>
              <a:ext cx="255691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range the true optimum must lie in.</a:t>
              </a:r>
            </a:p>
          </p:txBody>
        </p:sp>
      </p:grpSp>
      <p:grpSp>
        <p:nvGrpSpPr>
          <p:cNvPr id="38" name="Group 38"/>
          <p:cNvGrpSpPr/>
          <p:nvPr/>
        </p:nvGrpSpPr>
        <p:grpSpPr>
          <a:xfrm>
            <a:off x="8077200" y="2209800"/>
            <a:ext cx="3505200" cy="3028950"/>
            <a:chOff x="8077200" y="2209800"/>
            <a:chExt cx="3505200" cy="3028950"/>
          </a:xfrm>
        </p:grpSpPr>
        <p:sp>
          <p:nvSpPr>
            <p:cNvPr id="29" name="Rectangle 29"/>
            <p:cNvSpPr/>
            <p:nvPr/>
          </p:nvSpPr>
          <p:spPr>
            <a:xfrm>
              <a:off x="8077200" y="2209800"/>
              <a:ext cx="3505200" cy="3028950"/>
            </a:xfrm>
            <a:prstGeom prst="roundRect">
              <a:avLst>
                <a:gd name="adj" fmla="val 4403"/>
              </a:avLst>
            </a:prstGeom>
            <a:solidFill>
              <a:schemeClr val="accent5"/>
            </a:solidFill>
            <a:ln w="14288">
              <a:solidFill>
                <a:srgbClr val="26455F"/>
              </a:solidFill>
            </a:ln>
          </p:spPr>
        </p:sp>
        <p:sp>
          <p:nvSpPr>
            <p:cNvPr id="30" name="Rectangle 30"/>
            <p:cNvSpPr/>
            <p:nvPr/>
          </p:nvSpPr>
          <p:spPr>
            <a:xfrm>
              <a:off x="8077200" y="2209800"/>
              <a:ext cx="3505200" cy="57150"/>
            </a:xfrm>
            <a:prstGeom prst="roundRect">
              <a:avLst>
                <a:gd name="adj" fmla="val 50000"/>
              </a:avLst>
            </a:prstGeom>
            <a:solidFill>
              <a:srgbClr val="F2C14E"/>
            </a:solidFill>
            <a:ln>
              <a:noFill/>
            </a:ln>
          </p:spPr>
        </p:sp>
        <p:sp>
          <p:nvSpPr>
            <p:cNvPr id="31" name="Ellipse 31"/>
            <p:cNvSpPr/>
            <p:nvPr/>
          </p:nvSpPr>
          <p:spPr>
            <a:xfrm>
              <a:off x="8324850" y="2609850"/>
              <a:ext cx="495300" cy="495300"/>
            </a:xfrm>
            <a:prstGeom prst="ellipse">
              <a:avLst/>
            </a:prstGeom>
            <a:noFill/>
            <a:ln w="23812">
              <a:solidFill>
                <a:srgbClr val="F2C14E"/>
              </a:solidFill>
            </a:ln>
          </p:spPr>
        </p:sp>
        <p:sp>
          <p:nvSpPr>
            <p:cNvPr id="32" name="TextBox 32"/>
            <p:cNvSpPr txBox="1"/>
            <p:nvPr/>
          </p:nvSpPr>
          <p:spPr>
            <a:xfrm>
              <a:off x="8480202" y="2726055"/>
              <a:ext cx="184596" cy="410718"/>
            </a:xfrm>
            <a:prstGeom prst="rect">
              <a:avLst/>
            </a:prstGeom>
            <a:noFill/>
            <a:ln>
              <a:noFill/>
            </a:ln>
          </p:spPr>
          <p:txBody>
            <a:bodyPr wrap="none" lIns="0" tIns="0" rIns="0" bIns="0" anchor="t" anchorCtr="0">
              <a:spAutoFit/>
            </a:bodyPr>
            <a:lstStyle/>
            <a:p>
              <a:pPr algn="ctr"/>
              <a:r>
                <a:rPr lang="en-US" sz="2100" b="1" dirty="0">
                  <a:solidFill>
                    <a:srgbClr val="F2C14E"/>
                  </a:solidFill>
                  <a:latin typeface="+mn-lt"/>
                  <a:ea typeface="+mn-ea"/>
                  <a:cs typeface="+mn-cs"/>
                </a:rPr>
                <a:t>3</a:t>
              </a:r>
            </a:p>
          </p:txBody>
        </p:sp>
        <p:sp>
          <p:nvSpPr>
            <p:cNvPr id="33" name="TextBox 33"/>
            <p:cNvSpPr txBox="1"/>
            <p:nvPr/>
          </p:nvSpPr>
          <p:spPr>
            <a:xfrm>
              <a:off x="8336852" y="3298269"/>
              <a:ext cx="2033995"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First empirical study</a:t>
              </a:r>
            </a:p>
          </p:txBody>
        </p:sp>
        <p:sp>
          <p:nvSpPr>
            <p:cNvPr id="34" name="TextBox 34"/>
            <p:cNvSpPr txBox="1"/>
            <p:nvPr/>
          </p:nvSpPr>
          <p:spPr>
            <a:xfrm>
              <a:off x="8338376" y="3692604"/>
              <a:ext cx="267181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Deliver an extensive study: the first</a:t>
              </a:r>
            </a:p>
          </p:txBody>
        </p:sp>
        <p:sp>
          <p:nvSpPr>
            <p:cNvPr id="35" name="TextBox 35"/>
            <p:cNvSpPr txBox="1"/>
            <p:nvPr/>
          </p:nvSpPr>
          <p:spPr>
            <a:xfrm>
              <a:off x="8338376" y="3911679"/>
              <a:ext cx="213138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analysis of the gap to optimal</a:t>
              </a:r>
            </a:p>
          </p:txBody>
        </p:sp>
        <p:sp>
          <p:nvSpPr>
            <p:cNvPr id="36" name="TextBox 36"/>
            <p:cNvSpPr txBox="1"/>
            <p:nvPr/>
          </p:nvSpPr>
          <p:spPr>
            <a:xfrm>
              <a:off x="8338376" y="4130754"/>
              <a:ext cx="277701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robustness for multi-class classifiers</a:t>
              </a:r>
            </a:p>
          </p:txBody>
        </p:sp>
        <p:sp>
          <p:nvSpPr>
            <p:cNvPr id="37" name="TextBox 37"/>
            <p:cNvSpPr txBox="1"/>
            <p:nvPr/>
          </p:nvSpPr>
          <p:spPr>
            <a:xfrm>
              <a:off x="8338376" y="4349829"/>
              <a:ext cx="174253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on benchmark datasets.</a:t>
              </a:r>
            </a:p>
          </p:txBody>
        </p:sp>
      </p:grpSp>
      <p:sp>
        <p:nvSpPr>
          <p:cNvPr id="39" name="TextBox 39"/>
          <p:cNvSpPr txBox="1"/>
          <p:nvPr/>
        </p:nvSpPr>
        <p:spPr>
          <a:xfrm>
            <a:off x="603694" y="5513308"/>
            <a:ext cx="7232118"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From a binary reference point to a computable multi-class optimum, with a measured gap.</a:t>
            </a:r>
          </a:p>
        </p:txBody>
      </p:sp>
      <p:sp>
        <p:nvSpPr>
          <p:cNvPr id="40" name="cue_s04_c1_makes_three_contributions" title="cue_s04_c1_makes_three_contributions" descr="cue_s04_c1_makes_three_contributions The paper makes three contributions."/>
          <p:cNvSpPr/>
          <p:nvPr/>
        </p:nvSpPr>
        <p:spPr>
          <a:xfrm>
            <a:off x="609600" y="1504645"/>
            <a:ext cx="10972800" cy="5143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4_c2_first_generalizes_conflict_graph_fra" title="cue_s04_c2_first_generalizes_conflict_graph_fra" descr="cue_s04_c2_first_generalizes_conflict_graph_fra First, it generalizes the conflict-graph framework from binary to multi-class classification, showing the optimal 0-1 loss is the solution of a linear program built on a conflict hypergraph."/>
          <p:cNvSpPr/>
          <p:nvPr/>
        </p:nvSpPr>
        <p:spPr>
          <a:xfrm>
            <a:off x="609600" y="2209647"/>
            <a:ext cx="3505199" cy="30291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4_c3_second_because_exact_program_become" title="cue_s04_c3_second_because_exact_program_become" descr="cue_s04_c3_second_because_exact_program_become Second, because that exact program can become computationally prohibitive, it develops several more efficient bounds, both lower and upper, that bracket the range in which the true optimal loss must lie."/>
          <p:cNvSpPr/>
          <p:nvPr/>
        </p:nvSpPr>
        <p:spPr>
          <a:xfrm>
            <a:off x="4344009" y="2209647"/>
            <a:ext cx="3505199" cy="30291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4_c4_third_delivers_extensive_empirical_s" title="cue_s04_c4_third_delivers_extensive_empirical_s" descr="cue_s04_c4_third_delivers_extensive_empirical_s Third, it delivers an extensive empirical study, giving the first analysis of the gap to optimal robustness for classifiers in the multi-class setting on benchmark datasets."/>
          <p:cNvSpPr/>
          <p:nvPr/>
        </p:nvSpPr>
        <p:spPr>
          <a:xfrm>
            <a:off x="8077200" y="2209647"/>
            <a:ext cx="3505199" cy="30291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593327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Conflict hypergraph -&gt; linear program</a:t>
            </a:r>
          </a:p>
        </p:txBody>
      </p:sp>
      <p:grpSp>
        <p:nvGrpSpPr>
          <p:cNvPr id="16" name="Group 16"/>
          <p:cNvGrpSpPr/>
          <p:nvPr/>
        </p:nvGrpSpPr>
        <p:grpSpPr>
          <a:xfrm>
            <a:off x="609600" y="1504950"/>
            <a:ext cx="5410200" cy="1866900"/>
            <a:chOff x="609600" y="1504950"/>
            <a:chExt cx="5410200" cy="1866900"/>
          </a:xfrm>
        </p:grpSpPr>
        <p:sp>
          <p:nvSpPr>
            <p:cNvPr id="5" name="Rectangle 5"/>
            <p:cNvSpPr/>
            <p:nvPr/>
          </p:nvSpPr>
          <p:spPr>
            <a:xfrm>
              <a:off x="609600" y="1504950"/>
              <a:ext cx="5410200" cy="1866900"/>
            </a:xfrm>
            <a:prstGeom prst="roundRect">
              <a:avLst>
                <a:gd name="adj" fmla="val 7143"/>
              </a:avLst>
            </a:prstGeom>
            <a:solidFill>
              <a:schemeClr val="accent5"/>
            </a:solidFill>
            <a:ln w="14288">
              <a:solidFill>
                <a:srgbClr val="26455F"/>
              </a:solidFill>
            </a:ln>
          </p:spPr>
        </p:sp>
        <p:sp>
          <p:nvSpPr>
            <p:cNvPr id="6" name="Rectangle 6"/>
            <p:cNvSpPr/>
            <p:nvPr/>
          </p:nvSpPr>
          <p:spPr>
            <a:xfrm>
              <a:off x="609600" y="1504950"/>
              <a:ext cx="57150" cy="1866900"/>
            </a:xfrm>
            <a:prstGeom prst="roundRect">
              <a:avLst>
                <a:gd name="adj" fmla="val 50000"/>
              </a:avLst>
            </a:prstGeom>
            <a:solidFill>
              <a:schemeClr val="accent2"/>
            </a:solidFill>
            <a:ln>
              <a:noFill/>
            </a:ln>
          </p:spPr>
        </p:sp>
        <p:sp>
          <p:nvSpPr>
            <p:cNvPr id="7" name="TextBox 7"/>
            <p:cNvSpPr txBox="1"/>
            <p:nvPr/>
          </p:nvSpPr>
          <p:spPr>
            <a:xfrm>
              <a:off x="870014" y="1733312"/>
              <a:ext cx="2849202"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Core idea · a conflict hypergraph</a:t>
              </a:r>
            </a:p>
          </p:txBody>
        </p:sp>
        <p:sp>
          <p:nvSpPr>
            <p:cNvPr id="8" name="TextBox 8"/>
            <p:cNvSpPr txBox="1"/>
            <p:nvPr/>
          </p:nvSpPr>
          <p:spPr>
            <a:xfrm>
              <a:off x="870966" y="2039302"/>
              <a:ext cx="412147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Represent the whole classification problem as a hypergraph</a:t>
              </a:r>
            </a:p>
          </p:txBody>
        </p:sp>
        <p:sp>
          <p:nvSpPr>
            <p:cNvPr id="9" name="TextBox 9"/>
            <p:cNvSpPr txBox="1"/>
            <p:nvPr/>
          </p:nvSpPr>
          <p:spPr>
            <a:xfrm>
              <a:off x="870966" y="2239328"/>
              <a:ext cx="321933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built from the data and the attacker's reach.</a:t>
              </a:r>
            </a:p>
          </p:txBody>
        </p:sp>
        <p:sp>
          <p:nvSpPr>
            <p:cNvPr id="10" name="Rectangle 10"/>
            <p:cNvSpPr/>
            <p:nvPr/>
          </p:nvSpPr>
          <p:spPr>
            <a:xfrm>
              <a:off x="3524250" y="2381250"/>
              <a:ext cx="2190750" cy="933450"/>
            </a:xfrm>
            <a:prstGeom prst="roundRect">
              <a:avLst>
                <a:gd name="adj" fmla="val 10204"/>
              </a:avLst>
            </a:prstGeom>
            <a:solidFill>
              <a:srgbClr val="0E2334"/>
            </a:solidFill>
            <a:ln w="14288">
              <a:solidFill>
                <a:srgbClr val="26455F"/>
              </a:solidFill>
            </a:ln>
          </p:spPr>
        </p:sp>
        <p:sp>
          <p:nvSpPr>
            <p:cNvPr id="11" name="Freeform 11"/>
            <p:cNvSpPr/>
            <p:nvPr/>
          </p:nvSpPr>
          <p:spPr>
            <a:xfrm>
              <a:off x="3600450" y="2266950"/>
              <a:ext cx="1962150" cy="1104900"/>
            </a:xfrm>
            <a:custGeom>
              <a:avLst/>
              <a:gdLst/>
              <a:ahLst/>
              <a:cxnLst/>
              <a:rect l="l" t="t" r="r" b="b"/>
              <a:pathLst>
                <a:path w="1962150" h="1104900">
                  <a:moveTo>
                    <a:pt x="228600" y="438150"/>
                  </a:moveTo>
                  <a:cubicBezTo>
                    <a:pt x="0" y="152400"/>
                    <a:pt x="914400" y="0"/>
                    <a:pt x="1581150" y="171450"/>
                  </a:cubicBezTo>
                  <a:cubicBezTo>
                    <a:pt x="1962150" y="419100"/>
                    <a:pt x="1676400" y="990600"/>
                    <a:pt x="1200150" y="1009650"/>
                  </a:cubicBezTo>
                  <a:cubicBezTo>
                    <a:pt x="628650" y="1104900"/>
                    <a:pt x="76200" y="781050"/>
                    <a:pt x="228600" y="438150"/>
                  </a:cubicBezTo>
                  <a:close/>
                </a:path>
              </a:pathLst>
            </a:custGeom>
            <a:solidFill>
              <a:srgbClr val="F2685C">
                <a:alpha val="14000"/>
              </a:srgbClr>
            </a:solidFill>
            <a:ln w="14288">
              <a:solidFill>
                <a:srgbClr val="F2685C">
                  <a:alpha val="14000"/>
                </a:srgbClr>
              </a:solidFill>
              <a:prstDash val="dash"/>
            </a:ln>
          </p:spPr>
        </p:sp>
        <p:sp>
          <p:nvSpPr>
            <p:cNvPr id="12" name="Ellipse 12"/>
            <p:cNvSpPr/>
            <p:nvPr/>
          </p:nvSpPr>
          <p:spPr>
            <a:xfrm>
              <a:off x="3952875" y="2581275"/>
              <a:ext cx="171450" cy="171450"/>
            </a:xfrm>
            <a:prstGeom prst="ellipse">
              <a:avLst/>
            </a:prstGeom>
            <a:solidFill>
              <a:schemeClr val="accent2"/>
            </a:solidFill>
            <a:ln>
              <a:noFill/>
            </a:ln>
          </p:spPr>
        </p:sp>
        <p:sp>
          <p:nvSpPr>
            <p:cNvPr id="13" name="Ellipse 13"/>
            <p:cNvSpPr/>
            <p:nvPr/>
          </p:nvSpPr>
          <p:spPr>
            <a:xfrm>
              <a:off x="5000625" y="2505075"/>
              <a:ext cx="171450" cy="171450"/>
            </a:xfrm>
            <a:prstGeom prst="ellipse">
              <a:avLst/>
            </a:prstGeom>
            <a:solidFill>
              <a:srgbClr val="F2C14E"/>
            </a:solidFill>
            <a:ln>
              <a:noFill/>
            </a:ln>
          </p:spPr>
        </p:sp>
        <p:sp>
          <p:nvSpPr>
            <p:cNvPr id="14" name="Ellipse 14"/>
            <p:cNvSpPr/>
            <p:nvPr/>
          </p:nvSpPr>
          <p:spPr>
            <a:xfrm>
              <a:off x="4619625" y="3038475"/>
              <a:ext cx="171450" cy="171450"/>
            </a:xfrm>
            <a:prstGeom prst="ellipse">
              <a:avLst/>
            </a:prstGeom>
            <a:solidFill>
              <a:srgbClr val="48C78E"/>
            </a:solidFill>
            <a:ln>
              <a:noFill/>
            </a:ln>
          </p:spPr>
        </p:sp>
        <p:sp>
          <p:nvSpPr>
            <p:cNvPr id="15" name="TextBox 15"/>
            <p:cNvSpPr txBox="1"/>
            <p:nvPr/>
          </p:nvSpPr>
          <p:spPr>
            <a:xfrm>
              <a:off x="4455909" y="3130391"/>
              <a:ext cx="1168603" cy="161925"/>
            </a:xfrm>
            <a:prstGeom prst="rect">
              <a:avLst/>
            </a:prstGeom>
            <a:noFill/>
            <a:ln>
              <a:noFill/>
            </a:ln>
          </p:spPr>
          <p:txBody>
            <a:bodyPr wrap="none" lIns="0" tIns="0" rIns="0" bIns="0" anchor="t" anchorCtr="0">
              <a:spAutoFit/>
            </a:bodyPr>
            <a:lstStyle/>
            <a:p>
              <a:pPr algn="r"/>
              <a:r>
                <a:rPr lang="en-US" sz="820" b="1" dirty="0">
                  <a:solidFill>
                    <a:srgbClr val="F2685C"/>
                  </a:solidFill>
                  <a:latin typeface="+mn-lt"/>
                  <a:ea typeface="+mn-ea"/>
                  <a:cs typeface="+mn-cs"/>
                </a:rPr>
                <a:t>hyperedge = conflict</a:t>
              </a:r>
            </a:p>
          </p:txBody>
        </p:sp>
      </p:grpSp>
      <p:grpSp>
        <p:nvGrpSpPr>
          <p:cNvPr id="24" name="Group 24"/>
          <p:cNvGrpSpPr/>
          <p:nvPr/>
        </p:nvGrpSpPr>
        <p:grpSpPr>
          <a:xfrm>
            <a:off x="609600" y="3524250"/>
            <a:ext cx="5410200" cy="1714500"/>
            <a:chOff x="609600" y="3524250"/>
            <a:chExt cx="5410200" cy="1714500"/>
          </a:xfrm>
        </p:grpSpPr>
        <p:sp>
          <p:nvSpPr>
            <p:cNvPr id="17" name="Rectangle 17"/>
            <p:cNvSpPr/>
            <p:nvPr/>
          </p:nvSpPr>
          <p:spPr>
            <a:xfrm>
              <a:off x="609600" y="3524250"/>
              <a:ext cx="5410200" cy="1714500"/>
            </a:xfrm>
            <a:prstGeom prst="roundRect">
              <a:avLst>
                <a:gd name="adj" fmla="val 7778"/>
              </a:avLst>
            </a:prstGeom>
            <a:solidFill>
              <a:schemeClr val="accent5"/>
            </a:solidFill>
            <a:ln w="14288">
              <a:solidFill>
                <a:srgbClr val="26455F"/>
              </a:solidFill>
            </a:ln>
          </p:spPr>
        </p:sp>
        <p:sp>
          <p:nvSpPr>
            <p:cNvPr id="18" name="Rectangle 18"/>
            <p:cNvSpPr/>
            <p:nvPr/>
          </p:nvSpPr>
          <p:spPr>
            <a:xfrm>
              <a:off x="609600" y="3524250"/>
              <a:ext cx="57150" cy="1714500"/>
            </a:xfrm>
            <a:prstGeom prst="roundRect">
              <a:avLst>
                <a:gd name="adj" fmla="val 50000"/>
              </a:avLst>
            </a:prstGeom>
            <a:solidFill>
              <a:srgbClr val="34D3C0"/>
            </a:solidFill>
            <a:ln>
              <a:noFill/>
            </a:ln>
          </p:spPr>
        </p:sp>
        <p:sp>
          <p:nvSpPr>
            <p:cNvPr id="19" name="TextBox 19"/>
            <p:cNvSpPr txBox="1"/>
            <p:nvPr/>
          </p:nvSpPr>
          <p:spPr>
            <a:xfrm>
              <a:off x="870204" y="3756660"/>
              <a:ext cx="2036125"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Vertices and hyperedges</a:t>
              </a:r>
            </a:p>
          </p:txBody>
        </p:sp>
        <p:sp>
          <p:nvSpPr>
            <p:cNvPr id="20" name="TextBox 20"/>
            <p:cNvSpPr txBox="1"/>
            <p:nvPr/>
          </p:nvSpPr>
          <p:spPr>
            <a:xfrm>
              <a:off x="870966" y="4058602"/>
              <a:ext cx="359697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Each vertex is a data point. A set of points forms a</a:t>
              </a:r>
            </a:p>
          </p:txBody>
        </p:sp>
        <p:sp>
          <p:nvSpPr>
            <p:cNvPr id="21" name="TextBox 21"/>
            <p:cNvSpPr txBox="1"/>
            <p:nvPr/>
          </p:nvSpPr>
          <p:spPr>
            <a:xfrm>
              <a:off x="870966" y="4258628"/>
              <a:ext cx="408157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hyperedge when they belong to different classes yet share</a:t>
              </a:r>
            </a:p>
          </p:txBody>
        </p:sp>
        <p:sp>
          <p:nvSpPr>
            <p:cNvPr id="22" name="TextBox 22"/>
            <p:cNvSpPr txBox="1"/>
            <p:nvPr/>
          </p:nvSpPr>
          <p:spPr>
            <a:xfrm>
              <a:off x="870966" y="4458652"/>
              <a:ext cx="389782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overlapping adversarial neighborhoods, so one confusing</a:t>
              </a:r>
            </a:p>
          </p:txBody>
        </p:sp>
        <p:sp>
          <p:nvSpPr>
            <p:cNvPr id="23" name="TextBox 23"/>
            <p:cNvSpPr txBox="1"/>
            <p:nvPr/>
          </p:nvSpPr>
          <p:spPr>
            <a:xfrm>
              <a:off x="870966" y="4658678"/>
              <a:ext cx="285889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input could be reached from any of them.</a:t>
              </a:r>
            </a:p>
          </p:txBody>
        </p:sp>
      </p:grpSp>
      <p:grpSp>
        <p:nvGrpSpPr>
          <p:cNvPr id="34" name="Group 34"/>
          <p:cNvGrpSpPr/>
          <p:nvPr/>
        </p:nvGrpSpPr>
        <p:grpSpPr>
          <a:xfrm>
            <a:off x="6248400" y="1504950"/>
            <a:ext cx="5334000" cy="2114550"/>
            <a:chOff x="6248400" y="1504950"/>
            <a:chExt cx="5334000" cy="2114550"/>
          </a:xfrm>
        </p:grpSpPr>
        <p:sp>
          <p:nvSpPr>
            <p:cNvPr id="25" name="Rectangle 25"/>
            <p:cNvSpPr/>
            <p:nvPr/>
          </p:nvSpPr>
          <p:spPr>
            <a:xfrm>
              <a:off x="6248400" y="1504950"/>
              <a:ext cx="5334000" cy="2114550"/>
            </a:xfrm>
            <a:prstGeom prst="roundRect">
              <a:avLst>
                <a:gd name="adj" fmla="val 6306"/>
              </a:avLst>
            </a:prstGeom>
            <a:solidFill>
              <a:schemeClr val="accent5"/>
            </a:solidFill>
            <a:ln w="14288">
              <a:solidFill>
                <a:srgbClr val="26455F"/>
              </a:solidFill>
            </a:ln>
          </p:spPr>
        </p:sp>
        <p:sp>
          <p:nvSpPr>
            <p:cNvPr id="26" name="Rectangle 26"/>
            <p:cNvSpPr/>
            <p:nvPr/>
          </p:nvSpPr>
          <p:spPr>
            <a:xfrm>
              <a:off x="6248400" y="1504950"/>
              <a:ext cx="57150" cy="2114550"/>
            </a:xfrm>
            <a:prstGeom prst="roundRect">
              <a:avLst>
                <a:gd name="adj" fmla="val 50000"/>
              </a:avLst>
            </a:prstGeom>
            <a:solidFill>
              <a:srgbClr val="F2C14E"/>
            </a:solidFill>
            <a:ln>
              <a:noFill/>
            </a:ln>
          </p:spPr>
        </p:sp>
        <p:sp>
          <p:nvSpPr>
            <p:cNvPr id="27" name="TextBox 27"/>
            <p:cNvSpPr txBox="1"/>
            <p:nvPr/>
          </p:nvSpPr>
          <p:spPr>
            <a:xfrm>
              <a:off x="6508814" y="1733312"/>
              <a:ext cx="2674005"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Optimal loss = a linear program</a:t>
              </a:r>
            </a:p>
          </p:txBody>
        </p:sp>
        <p:sp>
          <p:nvSpPr>
            <p:cNvPr id="28" name="TextBox 28"/>
            <p:cNvSpPr txBox="1"/>
            <p:nvPr/>
          </p:nvSpPr>
          <p:spPr>
            <a:xfrm>
              <a:off x="6509766" y="2039302"/>
              <a:ext cx="369022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Maximize the probability mass of correctly classified</a:t>
              </a:r>
            </a:p>
          </p:txBody>
        </p:sp>
        <p:sp>
          <p:nvSpPr>
            <p:cNvPr id="29" name="TextBox 29"/>
            <p:cNvSpPr txBox="1"/>
            <p:nvPr/>
          </p:nvSpPr>
          <p:spPr>
            <a:xfrm>
              <a:off x="6509766" y="2239328"/>
              <a:ext cx="311332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points subject to the hypergraph's incidence</a:t>
              </a:r>
            </a:p>
          </p:txBody>
        </p:sp>
        <p:sp>
          <p:nvSpPr>
            <p:cNvPr id="30" name="TextBox 30"/>
            <p:cNvSpPr txBox="1"/>
            <p:nvPr/>
          </p:nvSpPr>
          <p:spPr>
            <a:xfrm>
              <a:off x="6509766" y="2439352"/>
              <a:ext cx="375647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constraints; the dual is a fractional cover that yields</a:t>
              </a:r>
            </a:p>
          </p:txBody>
        </p:sp>
        <p:sp>
          <p:nvSpPr>
            <p:cNvPr id="31" name="TextBox 31"/>
            <p:cNvSpPr txBox="1"/>
            <p:nvPr/>
          </p:nvSpPr>
          <p:spPr>
            <a:xfrm>
              <a:off x="6509766" y="2639378"/>
              <a:ext cx="137470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optimal attack.</a:t>
              </a:r>
            </a:p>
          </p:txBody>
        </p:sp>
        <p:sp>
          <p:nvSpPr>
            <p:cNvPr id="32" name="Rectangle 32"/>
            <p:cNvSpPr/>
            <p:nvPr/>
          </p:nvSpPr>
          <p:spPr>
            <a:xfrm>
              <a:off x="6515100" y="3028950"/>
              <a:ext cx="4800600" cy="381000"/>
            </a:xfrm>
            <a:prstGeom prst="roundRect">
              <a:avLst>
                <a:gd name="adj" fmla="val 20000"/>
              </a:avLst>
            </a:prstGeom>
            <a:solidFill>
              <a:schemeClr val="accent6"/>
            </a:solidFill>
            <a:ln w="14288">
              <a:solidFill>
                <a:srgbClr val="26455F"/>
              </a:solidFill>
            </a:ln>
          </p:spPr>
        </p:sp>
        <p:sp>
          <p:nvSpPr>
            <p:cNvPr id="33" name="TextBox 33"/>
            <p:cNvSpPr txBox="1"/>
            <p:nvPr/>
          </p:nvSpPr>
          <p:spPr>
            <a:xfrm>
              <a:off x="7544981" y="3155156"/>
              <a:ext cx="2740838"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Consolas"/>
                  <a:ea typeface="Consolas"/>
                  <a:cs typeface="Consolas"/>
                </a:rPr>
                <a:t>L* = 1 - max_q p^T q , s.t. B q &lt;= 1</a:t>
              </a:r>
            </a:p>
          </p:txBody>
        </p:sp>
      </p:grpSp>
      <p:grpSp>
        <p:nvGrpSpPr>
          <p:cNvPr id="47" name="Group 47"/>
          <p:cNvGrpSpPr/>
          <p:nvPr/>
        </p:nvGrpSpPr>
        <p:grpSpPr>
          <a:xfrm>
            <a:off x="6248400" y="3771900"/>
            <a:ext cx="5334000" cy="1466850"/>
            <a:chOff x="6248400" y="3771900"/>
            <a:chExt cx="5334000" cy="1466850"/>
          </a:xfrm>
        </p:grpSpPr>
        <p:sp>
          <p:nvSpPr>
            <p:cNvPr id="35" name="Rectangle 35"/>
            <p:cNvSpPr/>
            <p:nvPr/>
          </p:nvSpPr>
          <p:spPr>
            <a:xfrm>
              <a:off x="6248400" y="3771900"/>
              <a:ext cx="5334000" cy="1466850"/>
            </a:xfrm>
            <a:prstGeom prst="roundRect">
              <a:avLst>
                <a:gd name="adj" fmla="val 9091"/>
              </a:avLst>
            </a:prstGeom>
            <a:solidFill>
              <a:srgbClr val="0F2E2B"/>
            </a:solidFill>
            <a:ln w="14288">
              <a:solidFill>
                <a:srgbClr val="34D3C0"/>
              </a:solidFill>
            </a:ln>
          </p:spPr>
        </p:sp>
        <p:sp>
          <p:nvSpPr>
            <p:cNvPr id="36" name="Rectangle 36"/>
            <p:cNvSpPr/>
            <p:nvPr/>
          </p:nvSpPr>
          <p:spPr>
            <a:xfrm>
              <a:off x="6248400" y="3771900"/>
              <a:ext cx="57150" cy="1466850"/>
            </a:xfrm>
            <a:prstGeom prst="roundRect">
              <a:avLst>
                <a:gd name="adj" fmla="val 50000"/>
              </a:avLst>
            </a:prstGeom>
            <a:solidFill>
              <a:srgbClr val="34D3C0"/>
            </a:solidFill>
            <a:ln>
              <a:noFill/>
            </a:ln>
          </p:spPr>
        </p:sp>
        <p:sp>
          <p:nvSpPr>
            <p:cNvPr id="37" name="TextBox 37"/>
            <p:cNvSpPr txBox="1"/>
            <p:nvPr/>
          </p:nvSpPr>
          <p:spPr>
            <a:xfrm>
              <a:off x="6509194" y="3970258"/>
              <a:ext cx="2804888"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Exact is infeasible -&gt; three bounds</a:t>
              </a:r>
            </a:p>
          </p:txBody>
        </p:sp>
        <p:sp>
          <p:nvSpPr>
            <p:cNvPr id="38" name="Rectangle 38"/>
            <p:cNvSpPr/>
            <p:nvPr/>
          </p:nvSpPr>
          <p:spPr>
            <a:xfrm>
              <a:off x="6515100" y="4248150"/>
              <a:ext cx="4800600" cy="285750"/>
            </a:xfrm>
            <a:prstGeom prst="roundRect">
              <a:avLst>
                <a:gd name="adj" fmla="val 26667"/>
              </a:avLst>
            </a:prstGeom>
            <a:solidFill>
              <a:schemeClr val="accent6"/>
            </a:solidFill>
            <a:ln w="14288">
              <a:solidFill>
                <a:srgbClr val="26455F"/>
              </a:solidFill>
            </a:ln>
          </p:spPr>
        </p:sp>
        <p:sp>
          <p:nvSpPr>
            <p:cNvPr id="39" name="Ellipse 39"/>
            <p:cNvSpPr/>
            <p:nvPr/>
          </p:nvSpPr>
          <p:spPr>
            <a:xfrm>
              <a:off x="6638925" y="4343400"/>
              <a:ext cx="95250" cy="95250"/>
            </a:xfrm>
            <a:prstGeom prst="ellipse">
              <a:avLst/>
            </a:prstGeom>
            <a:solidFill>
              <a:schemeClr val="accent2"/>
            </a:solidFill>
            <a:ln>
              <a:noFill/>
            </a:ln>
          </p:spPr>
        </p:sp>
        <p:sp>
          <p:nvSpPr>
            <p:cNvPr id="40" name="TextBox 40"/>
            <p:cNvSpPr txBox="1"/>
            <p:nvPr/>
          </p:nvSpPr>
          <p:spPr>
            <a:xfrm>
              <a:off x="6833426" y="4330779"/>
              <a:ext cx="3837595"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Truncate to low-degree hyperedges -&gt; lower bound</a:t>
              </a:r>
            </a:p>
          </p:txBody>
        </p:sp>
        <p:sp>
          <p:nvSpPr>
            <p:cNvPr id="41" name="Rectangle 41"/>
            <p:cNvSpPr/>
            <p:nvPr/>
          </p:nvSpPr>
          <p:spPr>
            <a:xfrm>
              <a:off x="6515100" y="4591050"/>
              <a:ext cx="4800600" cy="285750"/>
            </a:xfrm>
            <a:prstGeom prst="roundRect">
              <a:avLst>
                <a:gd name="adj" fmla="val 26667"/>
              </a:avLst>
            </a:prstGeom>
            <a:solidFill>
              <a:schemeClr val="accent6"/>
            </a:solidFill>
            <a:ln w="14288">
              <a:solidFill>
                <a:srgbClr val="26455F"/>
              </a:solidFill>
            </a:ln>
          </p:spPr>
        </p:sp>
        <p:sp>
          <p:nvSpPr>
            <p:cNvPr id="42" name="Ellipse 42"/>
            <p:cNvSpPr/>
            <p:nvPr/>
          </p:nvSpPr>
          <p:spPr>
            <a:xfrm>
              <a:off x="6638925" y="4686300"/>
              <a:ext cx="95250" cy="95250"/>
            </a:xfrm>
            <a:prstGeom prst="ellipse">
              <a:avLst/>
            </a:prstGeom>
            <a:solidFill>
              <a:srgbClr val="F2C14E"/>
            </a:solidFill>
            <a:ln>
              <a:noFill/>
            </a:ln>
          </p:spPr>
        </p:sp>
        <p:sp>
          <p:nvSpPr>
            <p:cNvPr id="43" name="TextBox 43"/>
            <p:cNvSpPr txBox="1"/>
            <p:nvPr/>
          </p:nvSpPr>
          <p:spPr>
            <a:xfrm>
              <a:off x="6833426" y="4673679"/>
              <a:ext cx="4030181"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Aggregate binary one-vs-one losses -&gt; cheaper bound</a:t>
              </a:r>
            </a:p>
          </p:txBody>
        </p:sp>
        <p:sp>
          <p:nvSpPr>
            <p:cNvPr id="44" name="Rectangle 44"/>
            <p:cNvSpPr/>
            <p:nvPr/>
          </p:nvSpPr>
          <p:spPr>
            <a:xfrm>
              <a:off x="6515100" y="4933950"/>
              <a:ext cx="4800600" cy="285750"/>
            </a:xfrm>
            <a:prstGeom prst="roundRect">
              <a:avLst>
                <a:gd name="adj" fmla="val 26667"/>
              </a:avLst>
            </a:prstGeom>
            <a:solidFill>
              <a:schemeClr val="accent6"/>
            </a:solidFill>
            <a:ln w="14288">
              <a:solidFill>
                <a:srgbClr val="26455F"/>
              </a:solidFill>
            </a:ln>
          </p:spPr>
        </p:sp>
        <p:sp>
          <p:nvSpPr>
            <p:cNvPr id="45" name="Ellipse 45"/>
            <p:cNvSpPr/>
            <p:nvPr/>
          </p:nvSpPr>
          <p:spPr>
            <a:xfrm>
              <a:off x="6638925" y="5029200"/>
              <a:ext cx="95250" cy="95250"/>
            </a:xfrm>
            <a:prstGeom prst="ellipse">
              <a:avLst/>
            </a:prstGeom>
            <a:solidFill>
              <a:srgbClr val="48C78E"/>
            </a:solidFill>
            <a:ln>
              <a:noFill/>
            </a:ln>
          </p:spPr>
        </p:sp>
        <p:sp>
          <p:nvSpPr>
            <p:cNvPr id="46" name="TextBox 46"/>
            <p:cNvSpPr txBox="1"/>
            <p:nvPr/>
          </p:nvSpPr>
          <p:spPr>
            <a:xfrm>
              <a:off x="6833426" y="5016579"/>
              <a:ext cx="3470814"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Generalized Caro-Wei -&gt; matching upper bound</a:t>
              </a:r>
            </a:p>
          </p:txBody>
        </p:sp>
      </p:grpSp>
      <p:sp>
        <p:nvSpPr>
          <p:cNvPr id="48" name="cue_s05_c1_core_idea_represent_classification_p" title="cue_s05_c1_core_idea_represent_classification_p" descr="cue_s05_c1_core_idea_represent_classification_p The core idea is to represent the classification problem as a conflict hypergraph."/>
          <p:cNvSpPr/>
          <p:nvPr/>
        </p:nvSpPr>
        <p:spPr>
          <a:xfrm>
            <a:off x="609600" y="1504645"/>
            <a:ext cx="540959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5_c2_vertex_point_set_points_forms" title="cue_s05_c2_vertex_point_set_points_forms" descr="cue_s05_c2_vertex_point_set_points_forms Each vertex is a data point, and a set of points forms a hyperedge when they belong to different classes yet share overlapping adversarial neighborhoods, meaning an attacker could push any of them to the same confusing input."/>
          <p:cNvSpPr/>
          <p:nvPr/>
        </p:nvSpPr>
        <p:spPr>
          <a:xfrm>
            <a:off x="609600" y="3524326"/>
            <a:ext cx="540959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5_c3_optimal_0_1_loss_becomes" title="cue_s05_c3_optimal_0_1_loss_becomes" descr="cue_s05_c3_optimal_0_1_loss_becomes The optimal 0-1 loss then becomes a linear program: maximize the probability mass of correctly classified points subject to constraints encoded by the hypergraph's incidence matrix. The dual program is a fractional covering of vertices by hyperedges, and it di"/>
          <p:cNvSpPr/>
          <p:nvPr/>
        </p:nvSpPr>
        <p:spPr>
          <a:xfrm>
            <a:off x="6248399" y="1504645"/>
            <a:ext cx="5334000" cy="21143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5_c4_because_computing_all_hyperedges_deg" title="cue_s05_c4_because_computing_all_hyperedges_deg" descr="cue_s05_c4_because_computing_all_hyperedges_deg Because computing all hyperedges up to degree ten is infeasible, the authors truncate the hypergraph to lower degrees for tractable lower bounds, aggregate binary one-versus-one losses for an even cheaper bound, and apply a generalized Caro-Wei bound for a mat"/>
          <p:cNvSpPr/>
          <p:nvPr/>
        </p:nvSpPr>
        <p:spPr>
          <a:xfrm>
            <a:off x="6248399" y="3771900"/>
            <a:ext cx="5334000" cy="14669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640652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MNIST and CIFAR-10 under an L2 attacker</a:t>
            </a:r>
          </a:p>
        </p:txBody>
      </p:sp>
      <p:grpSp>
        <p:nvGrpSpPr>
          <p:cNvPr id="8" name="Group 8"/>
          <p:cNvGrpSpPr/>
          <p:nvPr/>
        </p:nvGrpSpPr>
        <p:grpSpPr>
          <a:xfrm>
            <a:off x="609600" y="1504950"/>
            <a:ext cx="10972800" cy="552450"/>
            <a:chOff x="609600" y="1504950"/>
            <a:chExt cx="10972800" cy="552450"/>
          </a:xfrm>
        </p:grpSpPr>
        <p:sp>
          <p:nvSpPr>
            <p:cNvPr id="5" name="Rectangle 5"/>
            <p:cNvSpPr/>
            <p:nvPr/>
          </p:nvSpPr>
          <p:spPr>
            <a:xfrm>
              <a:off x="609600" y="1504950"/>
              <a:ext cx="10972800" cy="552450"/>
            </a:xfrm>
            <a:prstGeom prst="roundRect">
              <a:avLst>
                <a:gd name="adj" fmla="val 24138"/>
              </a:avLst>
            </a:prstGeom>
            <a:solidFill>
              <a:schemeClr val="accent5"/>
            </a:solidFill>
            <a:ln w="14288">
              <a:solidFill>
                <a:srgbClr val="26455F"/>
              </a:solidFill>
            </a:ln>
          </p:spPr>
        </p:sp>
        <p:sp>
          <p:nvSpPr>
            <p:cNvPr id="6" name="Rectangle 6"/>
            <p:cNvSpPr/>
            <p:nvPr/>
          </p:nvSpPr>
          <p:spPr>
            <a:xfrm>
              <a:off x="609600" y="1504950"/>
              <a:ext cx="57150" cy="552450"/>
            </a:xfrm>
            <a:prstGeom prst="roundRect">
              <a:avLst>
                <a:gd name="adj" fmla="val 50000"/>
              </a:avLst>
            </a:prstGeom>
            <a:solidFill>
              <a:schemeClr val="accent2"/>
            </a:solidFill>
            <a:ln>
              <a:noFill/>
            </a:ln>
          </p:spPr>
        </p:sp>
        <p:sp>
          <p:nvSpPr>
            <p:cNvPr id="7" name="TextBox 7"/>
            <p:cNvSpPr txBox="1"/>
            <p:nvPr/>
          </p:nvSpPr>
          <p:spPr>
            <a:xfrm>
              <a:off x="870204" y="1708785"/>
              <a:ext cx="9075686"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Two standard vision benchmarks, MNIST and CIFAR-10, evaluated across a sweep of L2 perturbation budgets.</a:t>
              </a:r>
            </a:p>
          </p:txBody>
        </p:sp>
      </p:grpSp>
      <p:grpSp>
        <p:nvGrpSpPr>
          <p:cNvPr id="16" name="Group 16"/>
          <p:cNvGrpSpPr/>
          <p:nvPr/>
        </p:nvGrpSpPr>
        <p:grpSpPr>
          <a:xfrm>
            <a:off x="609600" y="2286000"/>
            <a:ext cx="5334000" cy="1428750"/>
            <a:chOff x="609600" y="2286000"/>
            <a:chExt cx="5334000" cy="1428750"/>
          </a:xfrm>
        </p:grpSpPr>
        <p:sp>
          <p:nvSpPr>
            <p:cNvPr id="9" name="Rectangle 9"/>
            <p:cNvSpPr/>
            <p:nvPr/>
          </p:nvSpPr>
          <p:spPr>
            <a:xfrm>
              <a:off x="609600" y="2286000"/>
              <a:ext cx="5334000" cy="1428750"/>
            </a:xfrm>
            <a:prstGeom prst="roundRect">
              <a:avLst>
                <a:gd name="adj" fmla="val 9333"/>
              </a:avLst>
            </a:prstGeom>
            <a:solidFill>
              <a:schemeClr val="accent5"/>
            </a:solidFill>
            <a:ln w="14288">
              <a:solidFill>
                <a:srgbClr val="26455F"/>
              </a:solidFill>
            </a:ln>
          </p:spPr>
        </p:sp>
        <p:sp>
          <p:nvSpPr>
            <p:cNvPr id="10" name="Rectangle 10"/>
            <p:cNvSpPr/>
            <p:nvPr/>
          </p:nvSpPr>
          <p:spPr>
            <a:xfrm>
              <a:off x="609600" y="2286000"/>
              <a:ext cx="57150" cy="1428750"/>
            </a:xfrm>
            <a:prstGeom prst="roundRect">
              <a:avLst>
                <a:gd name="adj" fmla="val 50000"/>
              </a:avLst>
            </a:prstGeom>
            <a:solidFill>
              <a:srgbClr val="34D3C0"/>
            </a:solidFill>
            <a:ln>
              <a:noFill/>
            </a:ln>
          </p:spPr>
        </p:sp>
        <p:sp>
          <p:nvSpPr>
            <p:cNvPr id="11" name="TextBox 11"/>
            <p:cNvSpPr txBox="1"/>
            <p:nvPr/>
          </p:nvSpPr>
          <p:spPr>
            <a:xfrm>
              <a:off x="869823" y="2548414"/>
              <a:ext cx="3378239" cy="249364"/>
            </a:xfrm>
            <a:prstGeom prst="rect">
              <a:avLst/>
            </a:prstGeom>
            <a:noFill/>
            <a:ln>
              <a:noFill/>
            </a:ln>
          </p:spPr>
          <p:txBody>
            <a:bodyPr wrap="none" lIns="0" tIns="0" rIns="0" bIns="0" anchor="t" anchorCtr="0">
              <a:spAutoFit/>
            </a:bodyPr>
            <a:lstStyle/>
            <a:p>
              <a:pPr algn="l"/>
              <a:r>
                <a:rPr lang="en-US" sz="1280" b="1" dirty="0">
                  <a:solidFill>
                    <a:srgbClr val="34D3C0"/>
                  </a:solidFill>
                  <a:latin typeface="+mn-lt"/>
                  <a:ea typeface="+mn-ea"/>
                  <a:cs typeface="+mn-cs"/>
                </a:rPr>
                <a:t>3-class studies · 1000 samples / class</a:t>
              </a:r>
            </a:p>
          </p:txBody>
        </p:sp>
        <p:sp>
          <p:nvSpPr>
            <p:cNvPr id="12" name="TextBox 12"/>
            <p:cNvSpPr txBox="1"/>
            <p:nvPr/>
          </p:nvSpPr>
          <p:spPr>
            <a:xfrm>
              <a:off x="870776" y="2892504"/>
              <a:ext cx="420529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tractable multi-class setting for the exact hypergraph.</a:t>
              </a:r>
            </a:p>
          </p:txBody>
        </p:sp>
        <p:sp>
          <p:nvSpPr>
            <p:cNvPr id="13" name="Rectangle 13"/>
            <p:cNvSpPr/>
            <p:nvPr/>
          </p:nvSpPr>
          <p:spPr>
            <a:xfrm>
              <a:off x="876300" y="3333750"/>
              <a:ext cx="4457700" cy="285750"/>
            </a:xfrm>
            <a:prstGeom prst="roundRect">
              <a:avLst>
                <a:gd name="adj" fmla="val 26667"/>
              </a:avLst>
            </a:prstGeom>
            <a:solidFill>
              <a:schemeClr val="accent6"/>
            </a:solidFill>
            <a:ln w="14288">
              <a:solidFill>
                <a:srgbClr val="26455F"/>
              </a:solidFill>
            </a:ln>
          </p:spPr>
        </p:sp>
        <p:sp>
          <p:nvSpPr>
            <p:cNvPr id="14" name="Ellipse 14"/>
            <p:cNvSpPr/>
            <p:nvPr/>
          </p:nvSpPr>
          <p:spPr>
            <a:xfrm>
              <a:off x="1000125" y="3429000"/>
              <a:ext cx="95250" cy="95250"/>
            </a:xfrm>
            <a:prstGeom prst="ellipse">
              <a:avLst/>
            </a:prstGeom>
            <a:solidFill>
              <a:srgbClr val="34D3C0"/>
            </a:solidFill>
            <a:ln>
              <a:noFill/>
            </a:ln>
          </p:spPr>
        </p:sp>
        <p:sp>
          <p:nvSpPr>
            <p:cNvPr id="15" name="TextBox 15"/>
            <p:cNvSpPr txBox="1"/>
            <p:nvPr/>
          </p:nvSpPr>
          <p:spPr>
            <a:xfrm>
              <a:off x="1194626" y="3416379"/>
              <a:ext cx="3231482"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MNIST 1 / 4 / 7 CIFAR-10 plane / bird / ship</a:t>
              </a:r>
            </a:p>
          </p:txBody>
        </p:sp>
      </p:grpSp>
      <p:grpSp>
        <p:nvGrpSpPr>
          <p:cNvPr id="25" name="Group 25"/>
          <p:cNvGrpSpPr/>
          <p:nvPr/>
        </p:nvGrpSpPr>
        <p:grpSpPr>
          <a:xfrm>
            <a:off x="6248400" y="2286000"/>
            <a:ext cx="5334000" cy="1428750"/>
            <a:chOff x="6248400" y="2286000"/>
            <a:chExt cx="5334000" cy="1428750"/>
          </a:xfrm>
        </p:grpSpPr>
        <p:sp>
          <p:nvSpPr>
            <p:cNvPr id="17" name="Rectangle 17"/>
            <p:cNvSpPr/>
            <p:nvPr/>
          </p:nvSpPr>
          <p:spPr>
            <a:xfrm>
              <a:off x="6248400" y="2286000"/>
              <a:ext cx="5334000" cy="1428750"/>
            </a:xfrm>
            <a:prstGeom prst="roundRect">
              <a:avLst>
                <a:gd name="adj" fmla="val 9333"/>
              </a:avLst>
            </a:prstGeom>
            <a:solidFill>
              <a:schemeClr val="accent5"/>
            </a:solidFill>
            <a:ln w="14288">
              <a:solidFill>
                <a:srgbClr val="26455F"/>
              </a:solidFill>
            </a:ln>
          </p:spPr>
        </p:sp>
        <p:sp>
          <p:nvSpPr>
            <p:cNvPr id="18" name="Rectangle 18"/>
            <p:cNvSpPr/>
            <p:nvPr/>
          </p:nvSpPr>
          <p:spPr>
            <a:xfrm>
              <a:off x="6248400" y="2286000"/>
              <a:ext cx="57150" cy="1428750"/>
            </a:xfrm>
            <a:prstGeom prst="roundRect">
              <a:avLst>
                <a:gd name="adj" fmla="val 50000"/>
              </a:avLst>
            </a:prstGeom>
            <a:solidFill>
              <a:srgbClr val="F2C14E"/>
            </a:solidFill>
            <a:ln>
              <a:noFill/>
            </a:ln>
          </p:spPr>
        </p:sp>
        <p:sp>
          <p:nvSpPr>
            <p:cNvPr id="19" name="TextBox 19"/>
            <p:cNvSpPr txBox="1"/>
            <p:nvPr/>
          </p:nvSpPr>
          <p:spPr>
            <a:xfrm>
              <a:off x="6508623" y="2548414"/>
              <a:ext cx="1874040" cy="249364"/>
            </a:xfrm>
            <a:prstGeom prst="rect">
              <a:avLst/>
            </a:prstGeom>
            <a:noFill/>
            <a:ln>
              <a:noFill/>
            </a:ln>
          </p:spPr>
          <p:txBody>
            <a:bodyPr wrap="none" lIns="0" tIns="0" rIns="0" bIns="0" anchor="t" anchorCtr="0">
              <a:spAutoFit/>
            </a:bodyPr>
            <a:lstStyle/>
            <a:p>
              <a:pPr algn="l"/>
              <a:r>
                <a:rPr lang="en-US" sz="1280" b="1" dirty="0">
                  <a:solidFill>
                    <a:srgbClr val="F2C14E"/>
                  </a:solidFill>
                  <a:latin typeface="+mn-lt"/>
                  <a:ea typeface="+mn-ea"/>
                  <a:cs typeface="+mn-cs"/>
                </a:rPr>
                <a:t>Full 10-class problem</a:t>
              </a:r>
            </a:p>
          </p:txBody>
        </p:sp>
        <p:sp>
          <p:nvSpPr>
            <p:cNvPr id="20" name="TextBox 20"/>
            <p:cNvSpPr txBox="1"/>
            <p:nvPr/>
          </p:nvSpPr>
          <p:spPr>
            <a:xfrm>
              <a:off x="6509576" y="2892504"/>
              <a:ext cx="370631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Efficient bounds are also computed on the complete</a:t>
              </a:r>
            </a:p>
          </p:txBody>
        </p:sp>
        <p:sp>
          <p:nvSpPr>
            <p:cNvPr id="21" name="TextBox 21"/>
            <p:cNvSpPr txBox="1"/>
            <p:nvPr/>
          </p:nvSpPr>
          <p:spPr>
            <a:xfrm>
              <a:off x="6509576" y="3102054"/>
              <a:ext cx="103086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training sets.</a:t>
              </a:r>
            </a:p>
          </p:txBody>
        </p:sp>
        <p:sp>
          <p:nvSpPr>
            <p:cNvPr id="22" name="Rectangle 22"/>
            <p:cNvSpPr/>
            <p:nvPr/>
          </p:nvSpPr>
          <p:spPr>
            <a:xfrm>
              <a:off x="6515100" y="3333750"/>
              <a:ext cx="4457700" cy="285750"/>
            </a:xfrm>
            <a:prstGeom prst="roundRect">
              <a:avLst>
                <a:gd name="adj" fmla="val 26667"/>
              </a:avLst>
            </a:prstGeom>
            <a:solidFill>
              <a:schemeClr val="accent6"/>
            </a:solidFill>
            <a:ln w="14288">
              <a:solidFill>
                <a:srgbClr val="26455F"/>
              </a:solidFill>
            </a:ln>
          </p:spPr>
        </p:sp>
        <p:sp>
          <p:nvSpPr>
            <p:cNvPr id="23" name="Ellipse 23"/>
            <p:cNvSpPr/>
            <p:nvPr/>
          </p:nvSpPr>
          <p:spPr>
            <a:xfrm>
              <a:off x="6638925" y="3429000"/>
              <a:ext cx="95250" cy="95250"/>
            </a:xfrm>
            <a:prstGeom prst="ellipse">
              <a:avLst/>
            </a:prstGeom>
            <a:solidFill>
              <a:srgbClr val="F2C14E"/>
            </a:solidFill>
            <a:ln>
              <a:noFill/>
            </a:ln>
          </p:spPr>
        </p:sp>
        <p:sp>
          <p:nvSpPr>
            <p:cNvPr id="24" name="TextBox 24"/>
            <p:cNvSpPr txBox="1"/>
            <p:nvPr/>
          </p:nvSpPr>
          <p:spPr>
            <a:xfrm>
              <a:off x="6833426" y="3416379"/>
              <a:ext cx="3547762"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MNIST 10-class · CIFAR-10 10-class (full data)</a:t>
              </a:r>
            </a:p>
          </p:txBody>
        </p:sp>
      </p:grpSp>
      <p:grpSp>
        <p:nvGrpSpPr>
          <p:cNvPr id="31" name="Group 31"/>
          <p:cNvGrpSpPr/>
          <p:nvPr/>
        </p:nvGrpSpPr>
        <p:grpSpPr>
          <a:xfrm>
            <a:off x="609600" y="3905250"/>
            <a:ext cx="10972800" cy="1333500"/>
            <a:chOff x="609600" y="3905250"/>
            <a:chExt cx="10972800" cy="1333500"/>
          </a:xfrm>
        </p:grpSpPr>
        <p:sp>
          <p:nvSpPr>
            <p:cNvPr id="26" name="Rectangle 26"/>
            <p:cNvSpPr/>
            <p:nvPr/>
          </p:nvSpPr>
          <p:spPr>
            <a:xfrm>
              <a:off x="609600" y="3905250"/>
              <a:ext cx="10972800" cy="1333500"/>
            </a:xfrm>
            <a:prstGeom prst="roundRect">
              <a:avLst>
                <a:gd name="adj" fmla="val 10000"/>
              </a:avLst>
            </a:prstGeom>
            <a:solidFill>
              <a:srgbClr val="2A1720"/>
            </a:solidFill>
            <a:ln w="14288">
              <a:solidFill>
                <a:srgbClr val="F2685C"/>
              </a:solidFill>
            </a:ln>
          </p:spPr>
        </p:sp>
        <p:sp>
          <p:nvSpPr>
            <p:cNvPr id="27" name="Rectangle 27"/>
            <p:cNvSpPr/>
            <p:nvPr/>
          </p:nvSpPr>
          <p:spPr>
            <a:xfrm>
              <a:off x="609600" y="3905250"/>
              <a:ext cx="57150" cy="1333500"/>
            </a:xfrm>
            <a:prstGeom prst="roundRect">
              <a:avLst>
                <a:gd name="adj" fmla="val 50000"/>
              </a:avLst>
            </a:prstGeom>
            <a:solidFill>
              <a:srgbClr val="F2685C"/>
            </a:solidFill>
            <a:ln>
              <a:noFill/>
            </a:ln>
          </p:spPr>
        </p:sp>
        <p:sp>
          <p:nvSpPr>
            <p:cNvPr id="28" name="TextBox 28"/>
            <p:cNvSpPr txBox="1"/>
            <p:nvPr/>
          </p:nvSpPr>
          <p:spPr>
            <a:xfrm>
              <a:off x="869823" y="4129564"/>
              <a:ext cx="4423617" cy="249364"/>
            </a:xfrm>
            <a:prstGeom prst="rect">
              <a:avLst/>
            </a:prstGeom>
            <a:noFill/>
            <a:ln>
              <a:noFill/>
            </a:ln>
          </p:spPr>
          <p:txBody>
            <a:bodyPr wrap="none" lIns="0" tIns="0" rIns="0" bIns="0" anchor="t" anchorCtr="0">
              <a:spAutoFit/>
            </a:bodyPr>
            <a:lstStyle/>
            <a:p>
              <a:pPr algn="l"/>
              <a:r>
                <a:rPr lang="en-US" sz="1280" b="1" dirty="0">
                  <a:solidFill>
                    <a:srgbClr val="F2685C"/>
                  </a:solidFill>
                  <a:latin typeface="+mn-lt"/>
                  <a:ea typeface="+mn-ea"/>
                  <a:cs typeface="+mn-cs"/>
                </a:rPr>
                <a:t>Reference defenses · TRADES adversarial training</a:t>
              </a:r>
            </a:p>
          </p:txBody>
        </p:sp>
        <p:sp>
          <p:nvSpPr>
            <p:cNvPr id="29" name="TextBox 29"/>
            <p:cNvSpPr txBox="1"/>
            <p:nvPr/>
          </p:nvSpPr>
          <p:spPr>
            <a:xfrm>
              <a:off x="870776" y="4454604"/>
              <a:ext cx="7689813"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A small convolutional network for MNIST and a wide residual network for CIFAR-10, both evaluated with the</a:t>
              </a:r>
            </a:p>
          </p:txBody>
        </p:sp>
        <p:sp>
          <p:nvSpPr>
            <p:cNvPr id="30" name="TextBox 30"/>
            <p:cNvSpPr txBox="1"/>
            <p:nvPr/>
          </p:nvSpPr>
          <p:spPr>
            <a:xfrm>
              <a:off x="870776" y="4673679"/>
              <a:ext cx="2748973"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strong APGD attack from AutoAttack.</a:t>
              </a:r>
            </a:p>
          </p:txBody>
        </p:sp>
      </p:grpSp>
      <p:sp>
        <p:nvSpPr>
          <p:cNvPr id="32" name="cue_s06_c1_experiments_two_standard_vision_benc" title="cue_s06_c1_experiments_two_standard_vision_benc" descr="cue_s06_c1_experiments_two_standard_vision_benc The experiments use two standard vision benchmarks, MNIST and CIFAR-10, under an L-two constrained attacker evaluated across a sweep of perturbation budgets."/>
          <p:cNvSpPr/>
          <p:nvPr/>
        </p:nvSpPr>
        <p:spPr>
          <a:xfrm>
            <a:off x="609600" y="1504645"/>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06_c2_3_class_studies_they_take" title="cue_s06_c2_3_class_studies_they_take" descr="cue_s06_c2_3_class_studies_they_take For the 3-class studies they take one thousand samples per class, using digits one, four, and seven for MNIST and the plane, bird, and ship classes for CIFAR-10."/>
          <p:cNvSpPr/>
          <p:nvPr/>
        </p:nvSpPr>
        <p:spPr>
          <a:xfrm>
            <a:off x="609600" y="2285771"/>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6_c3_they_also_compute_bounds_full" title="cue_s06_c3_they_also_compute_bounds_full" descr="cue_s06_c3_they_also_compute_bounds_full They also compute bounds for the full 10-class problem on the complete training sets."/>
          <p:cNvSpPr/>
          <p:nvPr/>
        </p:nvSpPr>
        <p:spPr>
          <a:xfrm>
            <a:off x="6248399" y="2285771"/>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6_c4_reference_defenses_they_train_classi" title="cue_s06_c4_reference_defenses_they_train_classi" descr="cue_s06_c4_reference_defenses_they_train_classi As reference defenses, they train classifiers with TRADES adversarial training, a small convolutional network for MNIST and a wide residual network for CIFAR-10, and evaluate them with the strong APGD attack from AutoAttack."/>
          <p:cNvSpPr/>
          <p:nvPr/>
        </p:nvSpPr>
        <p:spPr>
          <a:xfrm>
            <a:off x="609600" y="3904945"/>
            <a:ext cx="1097280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561464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 large, previously unquantified gap</a:t>
            </a:r>
          </a:p>
        </p:txBody>
      </p:sp>
      <p:grpSp>
        <p:nvGrpSpPr>
          <p:cNvPr id="8" name="Group 8"/>
          <p:cNvGrpSpPr/>
          <p:nvPr/>
        </p:nvGrpSpPr>
        <p:grpSpPr>
          <a:xfrm>
            <a:off x="609600" y="1428750"/>
            <a:ext cx="10972800" cy="476250"/>
            <a:chOff x="609600" y="1428750"/>
            <a:chExt cx="10972800" cy="476250"/>
          </a:xfrm>
        </p:grpSpPr>
        <p:sp>
          <p:nvSpPr>
            <p:cNvPr id="5" name="Rectangle 5"/>
            <p:cNvSpPr/>
            <p:nvPr/>
          </p:nvSpPr>
          <p:spPr>
            <a:xfrm>
              <a:off x="609600" y="1428750"/>
              <a:ext cx="10972800" cy="476250"/>
            </a:xfrm>
            <a:prstGeom prst="roundRect">
              <a:avLst>
                <a:gd name="adj" fmla="val 28000"/>
              </a:avLst>
            </a:prstGeom>
            <a:solidFill>
              <a:schemeClr val="accent5"/>
            </a:solidFill>
            <a:ln w="14288">
              <a:solidFill>
                <a:srgbClr val="26455F"/>
              </a:solidFill>
            </a:ln>
          </p:spPr>
        </p:sp>
        <p:sp>
          <p:nvSpPr>
            <p:cNvPr id="6" name="Rectangle 6"/>
            <p:cNvSpPr/>
            <p:nvPr/>
          </p:nvSpPr>
          <p:spPr>
            <a:xfrm>
              <a:off x="609600" y="1428750"/>
              <a:ext cx="57150" cy="476250"/>
            </a:xfrm>
            <a:prstGeom prst="roundRect">
              <a:avLst>
                <a:gd name="adj" fmla="val 50000"/>
              </a:avLst>
            </a:prstGeom>
            <a:solidFill>
              <a:srgbClr val="F2685C"/>
            </a:solidFill>
            <a:ln>
              <a:noFill/>
            </a:ln>
          </p:spPr>
        </p:sp>
        <p:sp>
          <p:nvSpPr>
            <p:cNvPr id="7" name="TextBox 7"/>
            <p:cNvSpPr txBox="1"/>
            <p:nvPr/>
          </p:nvSpPr>
          <p:spPr>
            <a:xfrm>
              <a:off x="870014" y="1599962"/>
              <a:ext cx="9535939"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Adversarially trained classifiers land far from the optimum, and the gap is much wider than in the binary case.</a:t>
              </a:r>
            </a:p>
          </p:txBody>
        </p:sp>
      </p:grpSp>
      <p:grpSp>
        <p:nvGrpSpPr>
          <p:cNvPr id="23" name="Group 23"/>
          <p:cNvGrpSpPr/>
          <p:nvPr/>
        </p:nvGrpSpPr>
        <p:grpSpPr>
          <a:xfrm>
            <a:off x="609600" y="2038350"/>
            <a:ext cx="5334000" cy="2514600"/>
            <a:chOff x="609600" y="2038350"/>
            <a:chExt cx="5334000" cy="2514600"/>
          </a:xfrm>
        </p:grpSpPr>
        <p:sp>
          <p:nvSpPr>
            <p:cNvPr id="9" name="Rectangle 9"/>
            <p:cNvSpPr/>
            <p:nvPr/>
          </p:nvSpPr>
          <p:spPr>
            <a:xfrm>
              <a:off x="609600" y="2038350"/>
              <a:ext cx="5334000" cy="2514600"/>
            </a:xfrm>
            <a:prstGeom prst="roundRect">
              <a:avLst>
                <a:gd name="adj" fmla="val 5303"/>
              </a:avLst>
            </a:prstGeom>
            <a:solidFill>
              <a:schemeClr val="accent5"/>
            </a:solidFill>
            <a:ln w="14288">
              <a:solidFill>
                <a:srgbClr val="26455F"/>
              </a:solidFill>
            </a:ln>
          </p:spPr>
        </p:sp>
        <p:sp>
          <p:nvSpPr>
            <p:cNvPr id="10" name="Rectangle 10"/>
            <p:cNvSpPr/>
            <p:nvPr/>
          </p:nvSpPr>
          <p:spPr>
            <a:xfrm>
              <a:off x="609600" y="2038350"/>
              <a:ext cx="57150" cy="2514600"/>
            </a:xfrm>
            <a:prstGeom prst="roundRect">
              <a:avLst>
                <a:gd name="adj" fmla="val 50000"/>
              </a:avLst>
            </a:prstGeom>
            <a:solidFill>
              <a:srgbClr val="34D3C0"/>
            </a:solidFill>
            <a:ln>
              <a:noFill/>
            </a:ln>
          </p:spPr>
        </p:sp>
        <p:sp>
          <p:nvSpPr>
            <p:cNvPr id="11" name="TextBox 11"/>
            <p:cNvSpPr txBox="1"/>
            <p:nvPr/>
          </p:nvSpPr>
          <p:spPr>
            <a:xfrm>
              <a:off x="870394" y="2255758"/>
              <a:ext cx="3466362"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3-class CIFAR-10 0-1 loss · lower is better</a:t>
              </a:r>
            </a:p>
          </p:txBody>
        </p:sp>
        <p:sp>
          <p:nvSpPr>
            <p:cNvPr id="12" name="Rectangle 12"/>
            <p:cNvSpPr/>
            <p:nvPr/>
          </p:nvSpPr>
          <p:spPr>
            <a:xfrm>
              <a:off x="2857500" y="2686050"/>
              <a:ext cx="2381250" cy="304800"/>
            </a:xfrm>
            <a:prstGeom prst="roundRect">
              <a:avLst>
                <a:gd name="adj" fmla="val 18750"/>
              </a:avLst>
            </a:prstGeom>
            <a:solidFill>
              <a:srgbClr val="0E2334"/>
            </a:solidFill>
            <a:ln w="9525">
              <a:solidFill>
                <a:srgbClr val="26455F"/>
              </a:solidFill>
            </a:ln>
          </p:spPr>
        </p:sp>
        <p:sp>
          <p:nvSpPr>
            <p:cNvPr id="13" name="Rectangle 13"/>
            <p:cNvSpPr/>
            <p:nvPr/>
          </p:nvSpPr>
          <p:spPr>
            <a:xfrm>
              <a:off x="2857500" y="2686050"/>
              <a:ext cx="1428750" cy="304800"/>
            </a:xfrm>
            <a:prstGeom prst="roundRect">
              <a:avLst>
                <a:gd name="adj" fmla="val 18750"/>
              </a:avLst>
            </a:prstGeom>
            <a:solidFill>
              <a:srgbClr val="F2685C"/>
            </a:solidFill>
            <a:ln>
              <a:noFill/>
            </a:ln>
          </p:spPr>
        </p:sp>
        <p:sp>
          <p:nvSpPr>
            <p:cNvPr id="14" name="TextBox 14"/>
            <p:cNvSpPr txBox="1"/>
            <p:nvPr/>
          </p:nvSpPr>
          <p:spPr>
            <a:xfrm>
              <a:off x="1597723" y="2792159"/>
              <a:ext cx="115081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TRADES training</a:t>
              </a:r>
            </a:p>
          </p:txBody>
        </p:sp>
        <p:sp>
          <p:nvSpPr>
            <p:cNvPr id="15" name="TextBox 15"/>
            <p:cNvSpPr txBox="1"/>
            <p:nvPr/>
          </p:nvSpPr>
          <p:spPr>
            <a:xfrm>
              <a:off x="4376166" y="2792159"/>
              <a:ext cx="337189"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0.60</a:t>
              </a:r>
            </a:p>
          </p:txBody>
        </p:sp>
        <p:sp>
          <p:nvSpPr>
            <p:cNvPr id="16" name="Rectangle 16"/>
            <p:cNvSpPr/>
            <p:nvPr/>
          </p:nvSpPr>
          <p:spPr>
            <a:xfrm>
              <a:off x="2857500" y="3200400"/>
              <a:ext cx="2381250" cy="304800"/>
            </a:xfrm>
            <a:prstGeom prst="roundRect">
              <a:avLst>
                <a:gd name="adj" fmla="val 18750"/>
              </a:avLst>
            </a:prstGeom>
            <a:solidFill>
              <a:srgbClr val="0E2334"/>
            </a:solidFill>
            <a:ln w="9525">
              <a:solidFill>
                <a:srgbClr val="26455F"/>
              </a:solidFill>
            </a:ln>
          </p:spPr>
        </p:sp>
        <p:sp>
          <p:nvSpPr>
            <p:cNvPr id="17" name="Rectangle 17"/>
            <p:cNvSpPr/>
            <p:nvPr/>
          </p:nvSpPr>
          <p:spPr>
            <a:xfrm>
              <a:off x="2857500" y="3200400"/>
              <a:ext cx="19050" cy="304800"/>
            </a:xfrm>
            <a:prstGeom prst="roundRect">
              <a:avLst>
                <a:gd name="adj" fmla="val 50000"/>
              </a:avLst>
            </a:prstGeom>
            <a:solidFill>
              <a:srgbClr val="48C78E"/>
            </a:solidFill>
            <a:ln>
              <a:noFill/>
            </a:ln>
          </p:spPr>
        </p:sp>
        <p:sp>
          <p:nvSpPr>
            <p:cNvPr id="18" name="TextBox 18"/>
            <p:cNvSpPr txBox="1"/>
            <p:nvPr/>
          </p:nvSpPr>
          <p:spPr>
            <a:xfrm>
              <a:off x="1424362" y="3306509"/>
              <a:ext cx="1324172"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optimal achievable</a:t>
              </a:r>
            </a:p>
          </p:txBody>
        </p:sp>
        <p:sp>
          <p:nvSpPr>
            <p:cNvPr id="19" name="TextBox 19"/>
            <p:cNvSpPr txBox="1"/>
            <p:nvPr/>
          </p:nvSpPr>
          <p:spPr>
            <a:xfrm>
              <a:off x="2966466" y="3306509"/>
              <a:ext cx="173928"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~0</a:t>
              </a:r>
            </a:p>
          </p:txBody>
        </p:sp>
        <p:sp>
          <p:nvSpPr>
            <p:cNvPr id="20" name="Rectangle 20"/>
            <p:cNvSpPr/>
            <p:nvPr/>
          </p:nvSpPr>
          <p:spPr>
            <a:xfrm>
              <a:off x="876300" y="3733800"/>
              <a:ext cx="4800600" cy="666750"/>
            </a:xfrm>
            <a:prstGeom prst="roundRect">
              <a:avLst>
                <a:gd name="adj" fmla="val 14286"/>
              </a:avLst>
            </a:prstGeom>
            <a:solidFill>
              <a:srgbClr val="2A1720"/>
            </a:solidFill>
            <a:ln w="14288">
              <a:solidFill>
                <a:srgbClr val="F2685C"/>
              </a:solidFill>
            </a:ln>
          </p:spPr>
        </p:sp>
        <p:sp>
          <p:nvSpPr>
            <p:cNvPr id="21" name="TextBox 21"/>
            <p:cNvSpPr txBox="1"/>
            <p:nvPr/>
          </p:nvSpPr>
          <p:spPr>
            <a:xfrm>
              <a:off x="1061466" y="3887152"/>
              <a:ext cx="3429249"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At this budget the optimum is essentially zero,</a:t>
              </a:r>
            </a:p>
          </p:txBody>
        </p:sp>
        <p:sp>
          <p:nvSpPr>
            <p:cNvPr id="22" name="TextBox 22"/>
            <p:cNvSpPr txBox="1"/>
            <p:nvPr/>
          </p:nvSpPr>
          <p:spPr>
            <a:xfrm>
              <a:off x="1061466" y="4096702"/>
              <a:ext cx="2518327"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yet TRADES cannot beat 0.60 loss.</a:t>
              </a:r>
            </a:p>
          </p:txBody>
        </p:sp>
      </p:grpSp>
      <p:grpSp>
        <p:nvGrpSpPr>
          <p:cNvPr id="35" name="Group 35"/>
          <p:cNvGrpSpPr/>
          <p:nvPr/>
        </p:nvGrpSpPr>
        <p:grpSpPr>
          <a:xfrm>
            <a:off x="6248400" y="2038350"/>
            <a:ext cx="6308592" cy="2514600"/>
            <a:chOff x="6248400" y="2038350"/>
            <a:chExt cx="6308592" cy="2514600"/>
          </a:xfrm>
        </p:grpSpPr>
        <p:sp>
          <p:nvSpPr>
            <p:cNvPr id="24" name="Rectangle 24"/>
            <p:cNvSpPr/>
            <p:nvPr/>
          </p:nvSpPr>
          <p:spPr>
            <a:xfrm>
              <a:off x="6248400" y="2038350"/>
              <a:ext cx="5334000" cy="2514600"/>
            </a:xfrm>
            <a:prstGeom prst="roundRect">
              <a:avLst>
                <a:gd name="adj" fmla="val 5303"/>
              </a:avLst>
            </a:prstGeom>
            <a:solidFill>
              <a:schemeClr val="accent5"/>
            </a:solidFill>
            <a:ln w="14288">
              <a:solidFill>
                <a:srgbClr val="26455F"/>
              </a:solidFill>
            </a:ln>
          </p:spPr>
        </p:sp>
        <p:sp>
          <p:nvSpPr>
            <p:cNvPr id="25" name="Rectangle 25"/>
            <p:cNvSpPr/>
            <p:nvPr/>
          </p:nvSpPr>
          <p:spPr>
            <a:xfrm>
              <a:off x="6248400" y="2038350"/>
              <a:ext cx="57150" cy="2514600"/>
            </a:xfrm>
            <a:prstGeom prst="roundRect">
              <a:avLst>
                <a:gd name="adj" fmla="val 50000"/>
              </a:avLst>
            </a:prstGeom>
            <a:solidFill>
              <a:srgbClr val="F2C14E"/>
            </a:solidFill>
            <a:ln>
              <a:noFill/>
            </a:ln>
          </p:spPr>
        </p:sp>
        <p:sp>
          <p:nvSpPr>
            <p:cNvPr id="26" name="TextBox 26"/>
            <p:cNvSpPr txBox="1"/>
            <p:nvPr/>
          </p:nvSpPr>
          <p:spPr>
            <a:xfrm>
              <a:off x="6509194" y="2255758"/>
              <a:ext cx="3209171" cy="227362"/>
            </a:xfrm>
            <a:prstGeom prst="rect">
              <a:avLst/>
            </a:prstGeom>
            <a:noFill/>
            <a:ln>
              <a:noFill/>
            </a:ln>
          </p:spPr>
          <p:txBody>
            <a:bodyPr wrap="none" lIns="0" tIns="0" rIns="0" bIns="0" anchor="t" anchorCtr="0">
              <a:spAutoFit/>
            </a:bodyPr>
            <a:lstStyle/>
            <a:p>
              <a:pPr algn="l"/>
              <a:r>
                <a:rPr lang="en-US" sz="1160" b="1" dirty="0">
                  <a:solidFill>
                    <a:srgbClr val="F2C14E"/>
                  </a:solidFill>
                  <a:latin typeface="+mn-lt"/>
                  <a:ea typeface="+mn-ea"/>
                  <a:cs typeface="+mn-cs"/>
                </a:rPr>
                <a:t>10-class · bounds sandwich the optimum</a:t>
              </a:r>
            </a:p>
          </p:txBody>
        </p:sp>
        <p:sp>
          <p:nvSpPr>
            <p:cNvPr id="27" name="Rectangle 27"/>
            <p:cNvSpPr/>
            <p:nvPr/>
          </p:nvSpPr>
          <p:spPr>
            <a:xfrm>
              <a:off x="6667500" y="2590800"/>
              <a:ext cx="4762500" cy="1428750"/>
            </a:xfrm>
            <a:prstGeom prst="roundRect">
              <a:avLst>
                <a:gd name="adj" fmla="val 5333"/>
              </a:avLst>
            </a:prstGeom>
            <a:solidFill>
              <a:srgbClr val="0E2334"/>
            </a:solidFill>
            <a:ln w="14288">
              <a:solidFill>
                <a:srgbClr val="26455F"/>
              </a:solidFill>
            </a:ln>
          </p:spPr>
        </p:sp>
        <p:sp>
          <p:nvSpPr>
            <p:cNvPr id="28" name="Freeform 28"/>
            <p:cNvSpPr/>
            <p:nvPr/>
          </p:nvSpPr>
          <p:spPr>
            <a:xfrm>
              <a:off x="6953250" y="3057525"/>
              <a:ext cx="4381500" cy="742950"/>
            </a:xfrm>
            <a:custGeom>
              <a:avLst/>
              <a:gdLst/>
              <a:ahLst/>
              <a:cxnLst/>
              <a:rect l="l" t="t" r="r" b="b"/>
              <a:pathLst>
                <a:path w="4381500" h="742950">
                  <a:moveTo>
                    <a:pt x="0" y="742950"/>
                  </a:moveTo>
                  <a:lnTo>
                    <a:pt x="95250" y="742950"/>
                  </a:lnTo>
                  <a:lnTo>
                    <a:pt x="190500" y="733425"/>
                  </a:lnTo>
                  <a:lnTo>
                    <a:pt x="285750" y="733425"/>
                  </a:lnTo>
                  <a:lnTo>
                    <a:pt x="381000" y="723900"/>
                  </a:lnTo>
                  <a:lnTo>
                    <a:pt x="476250" y="714375"/>
                  </a:lnTo>
                  <a:lnTo>
                    <a:pt x="571500" y="704850"/>
                  </a:lnTo>
                  <a:lnTo>
                    <a:pt x="666750" y="695325"/>
                  </a:lnTo>
                  <a:lnTo>
                    <a:pt x="762000" y="685800"/>
                  </a:lnTo>
                  <a:lnTo>
                    <a:pt x="857250" y="676275"/>
                  </a:lnTo>
                  <a:lnTo>
                    <a:pt x="952500" y="666750"/>
                  </a:lnTo>
                  <a:lnTo>
                    <a:pt x="1047750" y="657225"/>
                  </a:lnTo>
                  <a:lnTo>
                    <a:pt x="1143000" y="647700"/>
                  </a:lnTo>
                  <a:lnTo>
                    <a:pt x="1238250" y="628650"/>
                  </a:lnTo>
                  <a:lnTo>
                    <a:pt x="1333500" y="619125"/>
                  </a:lnTo>
                  <a:lnTo>
                    <a:pt x="1428750" y="609600"/>
                  </a:lnTo>
                  <a:lnTo>
                    <a:pt x="1524000" y="590550"/>
                  </a:lnTo>
                  <a:lnTo>
                    <a:pt x="1619250" y="581025"/>
                  </a:lnTo>
                  <a:lnTo>
                    <a:pt x="1714500" y="571500"/>
                  </a:lnTo>
                  <a:lnTo>
                    <a:pt x="1809750" y="552450"/>
                  </a:lnTo>
                  <a:lnTo>
                    <a:pt x="1905000" y="542925"/>
                  </a:lnTo>
                  <a:lnTo>
                    <a:pt x="2000250" y="523875"/>
                  </a:lnTo>
                  <a:lnTo>
                    <a:pt x="2095500" y="514350"/>
                  </a:lnTo>
                  <a:lnTo>
                    <a:pt x="2190750" y="495300"/>
                  </a:lnTo>
                  <a:lnTo>
                    <a:pt x="2286000" y="485775"/>
                  </a:lnTo>
                  <a:lnTo>
                    <a:pt x="2381250" y="466725"/>
                  </a:lnTo>
                  <a:lnTo>
                    <a:pt x="2476500" y="447675"/>
                  </a:lnTo>
                  <a:lnTo>
                    <a:pt x="2571750" y="438150"/>
                  </a:lnTo>
                  <a:lnTo>
                    <a:pt x="2667000" y="419100"/>
                  </a:lnTo>
                  <a:lnTo>
                    <a:pt x="2762250" y="400050"/>
                  </a:lnTo>
                  <a:lnTo>
                    <a:pt x="2857500" y="390525"/>
                  </a:lnTo>
                  <a:lnTo>
                    <a:pt x="2952750" y="371475"/>
                  </a:lnTo>
                  <a:lnTo>
                    <a:pt x="3048000" y="352425"/>
                  </a:lnTo>
                  <a:lnTo>
                    <a:pt x="3143250" y="333375"/>
                  </a:lnTo>
                  <a:lnTo>
                    <a:pt x="3238500" y="314325"/>
                  </a:lnTo>
                  <a:lnTo>
                    <a:pt x="3333750" y="295275"/>
                  </a:lnTo>
                  <a:lnTo>
                    <a:pt x="3429000" y="285750"/>
                  </a:lnTo>
                  <a:lnTo>
                    <a:pt x="3524250" y="266700"/>
                  </a:lnTo>
                  <a:lnTo>
                    <a:pt x="3619500" y="247650"/>
                  </a:lnTo>
                  <a:lnTo>
                    <a:pt x="3714750" y="228600"/>
                  </a:lnTo>
                  <a:lnTo>
                    <a:pt x="3810000" y="209550"/>
                  </a:lnTo>
                  <a:lnTo>
                    <a:pt x="3905250" y="190500"/>
                  </a:lnTo>
                  <a:lnTo>
                    <a:pt x="4000500" y="171450"/>
                  </a:lnTo>
                  <a:lnTo>
                    <a:pt x="4095750" y="152400"/>
                  </a:lnTo>
                  <a:lnTo>
                    <a:pt x="4191000" y="133350"/>
                  </a:lnTo>
                  <a:lnTo>
                    <a:pt x="4286250" y="114300"/>
                  </a:lnTo>
                  <a:lnTo>
                    <a:pt x="4381500" y="95250"/>
                  </a:lnTo>
                  <a:lnTo>
                    <a:pt x="4381500" y="0"/>
                  </a:lnTo>
                  <a:lnTo>
                    <a:pt x="4286250" y="19050"/>
                  </a:lnTo>
                  <a:lnTo>
                    <a:pt x="4191000" y="38100"/>
                  </a:lnTo>
                  <a:lnTo>
                    <a:pt x="4095750" y="57150"/>
                  </a:lnTo>
                  <a:lnTo>
                    <a:pt x="4000500" y="85725"/>
                  </a:lnTo>
                  <a:lnTo>
                    <a:pt x="3905250" y="104775"/>
                  </a:lnTo>
                  <a:lnTo>
                    <a:pt x="3810000" y="123825"/>
                  </a:lnTo>
                  <a:lnTo>
                    <a:pt x="3714750" y="142875"/>
                  </a:lnTo>
                  <a:lnTo>
                    <a:pt x="3619500" y="161925"/>
                  </a:lnTo>
                  <a:lnTo>
                    <a:pt x="3524250" y="180975"/>
                  </a:lnTo>
                  <a:lnTo>
                    <a:pt x="3429000" y="200025"/>
                  </a:lnTo>
                  <a:lnTo>
                    <a:pt x="3333750" y="219075"/>
                  </a:lnTo>
                  <a:lnTo>
                    <a:pt x="3238500" y="238125"/>
                  </a:lnTo>
                  <a:lnTo>
                    <a:pt x="3143250" y="257175"/>
                  </a:lnTo>
                  <a:lnTo>
                    <a:pt x="3048000" y="276225"/>
                  </a:lnTo>
                  <a:lnTo>
                    <a:pt x="2952750" y="295275"/>
                  </a:lnTo>
                  <a:lnTo>
                    <a:pt x="2857500" y="314325"/>
                  </a:lnTo>
                  <a:lnTo>
                    <a:pt x="2762250" y="323850"/>
                  </a:lnTo>
                  <a:lnTo>
                    <a:pt x="2667000" y="342900"/>
                  </a:lnTo>
                  <a:lnTo>
                    <a:pt x="2571750" y="361950"/>
                  </a:lnTo>
                  <a:lnTo>
                    <a:pt x="2476500" y="381000"/>
                  </a:lnTo>
                  <a:lnTo>
                    <a:pt x="2381250" y="400050"/>
                  </a:lnTo>
                  <a:lnTo>
                    <a:pt x="2286000" y="409575"/>
                  </a:lnTo>
                  <a:lnTo>
                    <a:pt x="2190750" y="428625"/>
                  </a:lnTo>
                  <a:lnTo>
                    <a:pt x="2095500" y="447675"/>
                  </a:lnTo>
                  <a:lnTo>
                    <a:pt x="2000250" y="457200"/>
                  </a:lnTo>
                  <a:lnTo>
                    <a:pt x="1905000" y="476250"/>
                  </a:lnTo>
                  <a:lnTo>
                    <a:pt x="1809750" y="485775"/>
                  </a:lnTo>
                  <a:lnTo>
                    <a:pt x="1714500" y="504825"/>
                  </a:lnTo>
                  <a:lnTo>
                    <a:pt x="1619250" y="514350"/>
                  </a:lnTo>
                  <a:lnTo>
                    <a:pt x="1524000" y="533400"/>
                  </a:lnTo>
                  <a:lnTo>
                    <a:pt x="1428750" y="542925"/>
                  </a:lnTo>
                  <a:lnTo>
                    <a:pt x="1333500" y="561975"/>
                  </a:lnTo>
                  <a:lnTo>
                    <a:pt x="1238250" y="571500"/>
                  </a:lnTo>
                  <a:lnTo>
                    <a:pt x="1143000" y="581025"/>
                  </a:lnTo>
                  <a:lnTo>
                    <a:pt x="1047750" y="600075"/>
                  </a:lnTo>
                  <a:lnTo>
                    <a:pt x="952500" y="609600"/>
                  </a:lnTo>
                  <a:lnTo>
                    <a:pt x="857250" y="619125"/>
                  </a:lnTo>
                  <a:lnTo>
                    <a:pt x="762000" y="628650"/>
                  </a:lnTo>
                  <a:lnTo>
                    <a:pt x="666750" y="638175"/>
                  </a:lnTo>
                  <a:lnTo>
                    <a:pt x="571500" y="647700"/>
                  </a:lnTo>
                  <a:lnTo>
                    <a:pt x="476250" y="657225"/>
                  </a:lnTo>
                  <a:lnTo>
                    <a:pt x="381000" y="666750"/>
                  </a:lnTo>
                  <a:lnTo>
                    <a:pt x="285750" y="676275"/>
                  </a:lnTo>
                  <a:lnTo>
                    <a:pt x="190500" y="685800"/>
                  </a:lnTo>
                  <a:lnTo>
                    <a:pt x="95250" y="685800"/>
                  </a:lnTo>
                  <a:lnTo>
                    <a:pt x="0" y="685800"/>
                  </a:lnTo>
                  <a:close/>
                </a:path>
              </a:pathLst>
            </a:custGeom>
            <a:solidFill>
              <a:srgbClr val="F2C14E">
                <a:alpha val="16000"/>
              </a:srgbClr>
            </a:solidFill>
            <a:ln>
              <a:noFill/>
            </a:ln>
          </p:spPr>
        </p:sp>
        <p:sp>
          <p:nvSpPr>
            <p:cNvPr id="29" name="Polyline 29"/>
            <p:cNvSpPr/>
            <p:nvPr/>
          </p:nvSpPr>
          <p:spPr>
            <a:xfrm>
              <a:off x="6953250" y="3152775"/>
              <a:ext cx="4381500" cy="647700"/>
            </a:xfrm>
            <a:custGeom>
              <a:avLst/>
              <a:gdLst/>
              <a:ahLst/>
              <a:cxnLst/>
              <a:rect l="l" t="t" r="r" b="b"/>
              <a:pathLst>
                <a:path w="4381500" h="647700">
                  <a:moveTo>
                    <a:pt x="0" y="647700"/>
                  </a:moveTo>
                  <a:lnTo>
                    <a:pt x="95250" y="647700"/>
                  </a:lnTo>
                  <a:lnTo>
                    <a:pt x="190500" y="638175"/>
                  </a:lnTo>
                  <a:lnTo>
                    <a:pt x="285750" y="638175"/>
                  </a:lnTo>
                  <a:lnTo>
                    <a:pt x="381000" y="628650"/>
                  </a:lnTo>
                  <a:lnTo>
                    <a:pt x="476250" y="619125"/>
                  </a:lnTo>
                  <a:lnTo>
                    <a:pt x="571500" y="609600"/>
                  </a:lnTo>
                  <a:lnTo>
                    <a:pt x="666750" y="600075"/>
                  </a:lnTo>
                  <a:lnTo>
                    <a:pt x="762000" y="590550"/>
                  </a:lnTo>
                  <a:lnTo>
                    <a:pt x="857250" y="581025"/>
                  </a:lnTo>
                  <a:lnTo>
                    <a:pt x="952500" y="571500"/>
                  </a:lnTo>
                  <a:lnTo>
                    <a:pt x="1047750" y="561975"/>
                  </a:lnTo>
                  <a:lnTo>
                    <a:pt x="1143000" y="552450"/>
                  </a:lnTo>
                  <a:lnTo>
                    <a:pt x="1238250" y="533400"/>
                  </a:lnTo>
                  <a:lnTo>
                    <a:pt x="1333500" y="523875"/>
                  </a:lnTo>
                  <a:lnTo>
                    <a:pt x="1428750" y="514350"/>
                  </a:lnTo>
                  <a:lnTo>
                    <a:pt x="1524000" y="495300"/>
                  </a:lnTo>
                  <a:lnTo>
                    <a:pt x="1619250" y="485775"/>
                  </a:lnTo>
                  <a:lnTo>
                    <a:pt x="1714500" y="476250"/>
                  </a:lnTo>
                  <a:lnTo>
                    <a:pt x="1809750" y="457200"/>
                  </a:lnTo>
                  <a:lnTo>
                    <a:pt x="1905000" y="447675"/>
                  </a:lnTo>
                  <a:lnTo>
                    <a:pt x="2000250" y="428625"/>
                  </a:lnTo>
                  <a:lnTo>
                    <a:pt x="2095500" y="419100"/>
                  </a:lnTo>
                  <a:lnTo>
                    <a:pt x="2190750" y="400050"/>
                  </a:lnTo>
                  <a:lnTo>
                    <a:pt x="2286000" y="390525"/>
                  </a:lnTo>
                  <a:lnTo>
                    <a:pt x="2381250" y="371475"/>
                  </a:lnTo>
                  <a:lnTo>
                    <a:pt x="2476500" y="352425"/>
                  </a:lnTo>
                  <a:lnTo>
                    <a:pt x="2571750" y="342900"/>
                  </a:lnTo>
                  <a:lnTo>
                    <a:pt x="2667000" y="323850"/>
                  </a:lnTo>
                  <a:lnTo>
                    <a:pt x="2762250" y="304800"/>
                  </a:lnTo>
                  <a:lnTo>
                    <a:pt x="2857500" y="295275"/>
                  </a:lnTo>
                  <a:lnTo>
                    <a:pt x="2952750" y="276225"/>
                  </a:lnTo>
                  <a:lnTo>
                    <a:pt x="3048000" y="257175"/>
                  </a:lnTo>
                  <a:lnTo>
                    <a:pt x="3143250" y="238125"/>
                  </a:lnTo>
                  <a:lnTo>
                    <a:pt x="3238500" y="219075"/>
                  </a:lnTo>
                  <a:lnTo>
                    <a:pt x="3333750" y="200025"/>
                  </a:lnTo>
                  <a:lnTo>
                    <a:pt x="3429000" y="190500"/>
                  </a:lnTo>
                  <a:lnTo>
                    <a:pt x="3524250" y="171450"/>
                  </a:lnTo>
                  <a:lnTo>
                    <a:pt x="3619500" y="152400"/>
                  </a:lnTo>
                  <a:lnTo>
                    <a:pt x="3714750" y="133350"/>
                  </a:lnTo>
                  <a:lnTo>
                    <a:pt x="3810000" y="114300"/>
                  </a:lnTo>
                  <a:lnTo>
                    <a:pt x="3905250" y="95250"/>
                  </a:lnTo>
                  <a:lnTo>
                    <a:pt x="4000500" y="76200"/>
                  </a:lnTo>
                  <a:lnTo>
                    <a:pt x="4095750" y="57150"/>
                  </a:lnTo>
                  <a:lnTo>
                    <a:pt x="4191000" y="38100"/>
                  </a:lnTo>
                  <a:lnTo>
                    <a:pt x="4286250" y="19050"/>
                  </a:lnTo>
                  <a:lnTo>
                    <a:pt x="4381500" y="0"/>
                  </a:lnTo>
                </a:path>
              </a:pathLst>
            </a:custGeom>
            <a:noFill/>
            <a:ln w="23812" cap="rnd">
              <a:solidFill>
                <a:srgbClr val="48C78E"/>
              </a:solidFill>
              <a:round/>
            </a:ln>
          </p:spPr>
        </p:sp>
        <p:sp>
          <p:nvSpPr>
            <p:cNvPr id="30" name="Polyline 30"/>
            <p:cNvSpPr/>
            <p:nvPr/>
          </p:nvSpPr>
          <p:spPr>
            <a:xfrm>
              <a:off x="6953250" y="3057525"/>
              <a:ext cx="4381500" cy="685800"/>
            </a:xfrm>
            <a:custGeom>
              <a:avLst/>
              <a:gdLst/>
              <a:ahLst/>
              <a:cxnLst/>
              <a:rect l="l" t="t" r="r" b="b"/>
              <a:pathLst>
                <a:path w="4381500" h="685800">
                  <a:moveTo>
                    <a:pt x="0" y="685800"/>
                  </a:moveTo>
                  <a:lnTo>
                    <a:pt x="95250" y="685800"/>
                  </a:lnTo>
                  <a:lnTo>
                    <a:pt x="190500" y="685800"/>
                  </a:lnTo>
                  <a:lnTo>
                    <a:pt x="285750" y="676275"/>
                  </a:lnTo>
                  <a:lnTo>
                    <a:pt x="381000" y="666750"/>
                  </a:lnTo>
                  <a:lnTo>
                    <a:pt x="476250" y="657225"/>
                  </a:lnTo>
                  <a:lnTo>
                    <a:pt x="571500" y="647700"/>
                  </a:lnTo>
                  <a:lnTo>
                    <a:pt x="666750" y="638175"/>
                  </a:lnTo>
                  <a:lnTo>
                    <a:pt x="762000" y="628650"/>
                  </a:lnTo>
                  <a:lnTo>
                    <a:pt x="857250" y="619125"/>
                  </a:lnTo>
                  <a:lnTo>
                    <a:pt x="952500" y="609600"/>
                  </a:lnTo>
                  <a:lnTo>
                    <a:pt x="1047750" y="600075"/>
                  </a:lnTo>
                  <a:lnTo>
                    <a:pt x="1143000" y="581025"/>
                  </a:lnTo>
                  <a:lnTo>
                    <a:pt x="1238250" y="571500"/>
                  </a:lnTo>
                  <a:lnTo>
                    <a:pt x="1333500" y="561975"/>
                  </a:lnTo>
                  <a:lnTo>
                    <a:pt x="1428750" y="542925"/>
                  </a:lnTo>
                  <a:lnTo>
                    <a:pt x="1524000" y="533400"/>
                  </a:lnTo>
                  <a:lnTo>
                    <a:pt x="1619250" y="514350"/>
                  </a:lnTo>
                  <a:lnTo>
                    <a:pt x="1714500" y="504825"/>
                  </a:lnTo>
                  <a:lnTo>
                    <a:pt x="1809750" y="485775"/>
                  </a:lnTo>
                  <a:lnTo>
                    <a:pt x="1905000" y="476250"/>
                  </a:lnTo>
                  <a:lnTo>
                    <a:pt x="2000250" y="457200"/>
                  </a:lnTo>
                  <a:lnTo>
                    <a:pt x="2095500" y="447675"/>
                  </a:lnTo>
                  <a:lnTo>
                    <a:pt x="2190750" y="428625"/>
                  </a:lnTo>
                  <a:lnTo>
                    <a:pt x="2286000" y="409575"/>
                  </a:lnTo>
                  <a:lnTo>
                    <a:pt x="2381250" y="400050"/>
                  </a:lnTo>
                  <a:lnTo>
                    <a:pt x="2476500" y="381000"/>
                  </a:lnTo>
                  <a:lnTo>
                    <a:pt x="2571750" y="361950"/>
                  </a:lnTo>
                  <a:lnTo>
                    <a:pt x="2667000" y="342900"/>
                  </a:lnTo>
                  <a:lnTo>
                    <a:pt x="2762250" y="323850"/>
                  </a:lnTo>
                  <a:lnTo>
                    <a:pt x="2857500" y="314325"/>
                  </a:lnTo>
                  <a:lnTo>
                    <a:pt x="2952750" y="295275"/>
                  </a:lnTo>
                  <a:lnTo>
                    <a:pt x="3048000" y="276225"/>
                  </a:lnTo>
                  <a:lnTo>
                    <a:pt x="3143250" y="257175"/>
                  </a:lnTo>
                  <a:lnTo>
                    <a:pt x="3238500" y="238125"/>
                  </a:lnTo>
                  <a:lnTo>
                    <a:pt x="3333750" y="219075"/>
                  </a:lnTo>
                  <a:lnTo>
                    <a:pt x="3429000" y="200025"/>
                  </a:lnTo>
                  <a:lnTo>
                    <a:pt x="3524250" y="180975"/>
                  </a:lnTo>
                  <a:lnTo>
                    <a:pt x="3619500" y="161925"/>
                  </a:lnTo>
                  <a:lnTo>
                    <a:pt x="3714750" y="142875"/>
                  </a:lnTo>
                  <a:lnTo>
                    <a:pt x="3810000" y="123825"/>
                  </a:lnTo>
                  <a:lnTo>
                    <a:pt x="3905250" y="104775"/>
                  </a:lnTo>
                  <a:lnTo>
                    <a:pt x="4000500" y="85725"/>
                  </a:lnTo>
                  <a:lnTo>
                    <a:pt x="4095750" y="57150"/>
                  </a:lnTo>
                  <a:lnTo>
                    <a:pt x="4191000" y="38100"/>
                  </a:lnTo>
                  <a:lnTo>
                    <a:pt x="4286250" y="19050"/>
                  </a:lnTo>
                  <a:lnTo>
                    <a:pt x="4381500" y="0"/>
                  </a:lnTo>
                </a:path>
              </a:pathLst>
            </a:custGeom>
            <a:noFill/>
            <a:ln w="23812" cap="rnd">
              <a:solidFill>
                <a:srgbClr val="F2C14E"/>
              </a:solidFill>
              <a:round/>
            </a:ln>
          </p:spPr>
        </p:sp>
        <p:sp>
          <p:nvSpPr>
            <p:cNvPr id="31" name="TextBox 31"/>
            <p:cNvSpPr txBox="1"/>
            <p:nvPr/>
          </p:nvSpPr>
          <p:spPr>
            <a:xfrm>
              <a:off x="10657722" y="2711291"/>
              <a:ext cx="681790" cy="161925"/>
            </a:xfrm>
            <a:prstGeom prst="rect">
              <a:avLst/>
            </a:prstGeom>
            <a:noFill/>
            <a:ln>
              <a:noFill/>
            </a:ln>
          </p:spPr>
          <p:txBody>
            <a:bodyPr wrap="none" lIns="0" tIns="0" rIns="0" bIns="0" anchor="t" anchorCtr="0">
              <a:spAutoFit/>
            </a:bodyPr>
            <a:lstStyle/>
            <a:p>
              <a:pPr algn="r"/>
              <a:r>
                <a:rPr lang="en-US" sz="820" b="1" dirty="0">
                  <a:solidFill>
                    <a:srgbClr val="F2C14E"/>
                  </a:solidFill>
                  <a:latin typeface="+mn-lt"/>
                  <a:ea typeface="+mn-ea"/>
                  <a:cs typeface="+mn-cs"/>
                </a:rPr>
                <a:t>upper bound</a:t>
              </a:r>
            </a:p>
          </p:txBody>
        </p:sp>
        <p:sp>
          <p:nvSpPr>
            <p:cNvPr id="32" name="TextBox 32"/>
            <p:cNvSpPr txBox="1"/>
            <p:nvPr/>
          </p:nvSpPr>
          <p:spPr>
            <a:xfrm>
              <a:off x="10663518" y="3701891"/>
              <a:ext cx="675995" cy="161925"/>
            </a:xfrm>
            <a:prstGeom prst="rect">
              <a:avLst/>
            </a:prstGeom>
            <a:noFill/>
            <a:ln>
              <a:noFill/>
            </a:ln>
          </p:spPr>
          <p:txBody>
            <a:bodyPr wrap="none" lIns="0" tIns="0" rIns="0" bIns="0" anchor="t" anchorCtr="0">
              <a:spAutoFit/>
            </a:bodyPr>
            <a:lstStyle/>
            <a:p>
              <a:pPr algn="r"/>
              <a:r>
                <a:rPr lang="en-US" sz="820" b="1" dirty="0">
                  <a:solidFill>
                    <a:srgbClr val="48C78E"/>
                  </a:solidFill>
                  <a:latin typeface="+mn-lt"/>
                  <a:ea typeface="+mn-ea"/>
                  <a:cs typeface="+mn-cs"/>
                </a:rPr>
                <a:t>lower bound</a:t>
              </a:r>
            </a:p>
          </p:txBody>
        </p:sp>
        <p:sp>
          <p:nvSpPr>
            <p:cNvPr id="33" name="TextBox 33"/>
            <p:cNvSpPr txBox="1"/>
            <p:nvPr/>
          </p:nvSpPr>
          <p:spPr>
            <a:xfrm>
              <a:off x="6986588" y="3892391"/>
              <a:ext cx="971560" cy="161925"/>
            </a:xfrm>
            <a:prstGeom prst="rect">
              <a:avLst/>
            </a:prstGeom>
            <a:noFill/>
            <a:ln>
              <a:noFill/>
            </a:ln>
          </p:spPr>
          <p:txBody>
            <a:bodyPr wrap="none" lIns="0" tIns="0" rIns="0" bIns="0" anchor="t" anchorCtr="0">
              <a:spAutoFit/>
            </a:bodyPr>
            <a:lstStyle/>
            <a:p>
              <a:pPr algn="l"/>
              <a:r>
                <a:rPr lang="en-US" sz="820" b="1" dirty="0">
                  <a:solidFill>
                    <a:srgbClr val="6E869C"/>
                  </a:solidFill>
                  <a:latin typeface="+mn-lt"/>
                  <a:ea typeface="+mn-ea"/>
                  <a:cs typeface="+mn-cs"/>
                </a:rPr>
                <a:t>attack budget -&gt;</a:t>
              </a:r>
            </a:p>
          </p:txBody>
        </p:sp>
        <p:sp>
          <p:nvSpPr>
            <p:cNvPr id="34" name="TextBox 34"/>
            <p:cNvSpPr txBox="1"/>
            <p:nvPr/>
          </p:nvSpPr>
          <p:spPr>
            <a:xfrm>
              <a:off x="6509956" y="4196001"/>
              <a:ext cx="6047036"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Lower and upper bounds nearly coincide, so the gap is not an artifact of loose bounds.</a:t>
              </a:r>
            </a:p>
          </p:txBody>
        </p:sp>
      </p:grpSp>
      <p:grpSp>
        <p:nvGrpSpPr>
          <p:cNvPr id="41" name="Group 41"/>
          <p:cNvGrpSpPr/>
          <p:nvPr/>
        </p:nvGrpSpPr>
        <p:grpSpPr>
          <a:xfrm>
            <a:off x="609600" y="4686300"/>
            <a:ext cx="10972800" cy="1104900"/>
            <a:chOff x="609600" y="4686300"/>
            <a:chExt cx="10972800" cy="1104900"/>
          </a:xfrm>
        </p:grpSpPr>
        <p:sp>
          <p:nvSpPr>
            <p:cNvPr id="36" name="Rectangle 36"/>
            <p:cNvSpPr/>
            <p:nvPr/>
          </p:nvSpPr>
          <p:spPr>
            <a:xfrm>
              <a:off x="609600" y="4686300"/>
              <a:ext cx="10972800" cy="1104900"/>
            </a:xfrm>
            <a:prstGeom prst="roundRect">
              <a:avLst>
                <a:gd name="adj" fmla="val 12069"/>
              </a:avLst>
            </a:prstGeom>
            <a:solidFill>
              <a:schemeClr val="accent5"/>
            </a:solidFill>
            <a:ln w="14288">
              <a:solidFill>
                <a:srgbClr val="26455F"/>
              </a:solidFill>
            </a:ln>
          </p:spPr>
        </p:sp>
        <p:sp>
          <p:nvSpPr>
            <p:cNvPr id="37" name="Rectangle 37"/>
            <p:cNvSpPr/>
            <p:nvPr/>
          </p:nvSpPr>
          <p:spPr>
            <a:xfrm>
              <a:off x="609600" y="4686300"/>
              <a:ext cx="57150" cy="1104900"/>
            </a:xfrm>
            <a:prstGeom prst="roundRect">
              <a:avLst>
                <a:gd name="adj" fmla="val 50000"/>
              </a:avLst>
            </a:prstGeom>
            <a:solidFill>
              <a:schemeClr val="accent2"/>
            </a:solidFill>
            <a:ln>
              <a:noFill/>
            </a:ln>
          </p:spPr>
        </p:sp>
        <p:sp>
          <p:nvSpPr>
            <p:cNvPr id="38" name="TextBox 38"/>
            <p:cNvSpPr txBox="1"/>
            <p:nvPr/>
          </p:nvSpPr>
          <p:spPr>
            <a:xfrm>
              <a:off x="870204" y="4880610"/>
              <a:ext cx="3952973"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Robust training struggles more as classes grow</a:t>
              </a:r>
            </a:p>
          </p:txBody>
        </p:sp>
        <p:sp>
          <p:nvSpPr>
            <p:cNvPr id="39" name="TextBox 39"/>
            <p:cNvSpPr txBox="1"/>
            <p:nvPr/>
          </p:nvSpPr>
          <p:spPr>
            <a:xfrm>
              <a:off x="870776" y="5178504"/>
              <a:ext cx="658249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gap widens with the number of classes: what looks tolerable in the binary case becomes</a:t>
              </a:r>
            </a:p>
          </p:txBody>
        </p:sp>
        <p:sp>
          <p:nvSpPr>
            <p:cNvPr id="40" name="TextBox 40"/>
            <p:cNvSpPr txBox="1"/>
            <p:nvPr/>
          </p:nvSpPr>
          <p:spPr>
            <a:xfrm>
              <a:off x="870776" y="5388054"/>
              <a:ext cx="344466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large shortfall once several classes interact.</a:t>
              </a:r>
            </a:p>
          </p:txBody>
        </p:sp>
      </p:grpSp>
      <p:sp>
        <p:nvSpPr>
          <p:cNvPr id="42" name="TextBox 42"/>
          <p:cNvSpPr txBox="1"/>
          <p:nvPr/>
        </p:nvSpPr>
        <p:spPr>
          <a:xfrm>
            <a:off x="604266" y="6058852"/>
            <a:ext cx="5484967"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The bottleneck is the training method, not a fundamental limit of the data.</a:t>
            </a:r>
          </a:p>
        </p:txBody>
      </p:sp>
      <p:sp>
        <p:nvSpPr>
          <p:cNvPr id="43" name="cue_s07_c1_headline_finding_large_previously_un" title="cue_s07_c1_headline_finding_large_previously_un" descr="cue_s07_c1_headline_finding_large_previously_un The headline finding is a large, previously unquantified gap. Adversarially trained classifiers perform far worse than the theoretical optimum, and this gap is much wider than what prior work observed for binary classification."/>
          <p:cNvSpPr/>
          <p:nvPr/>
        </p:nvSpPr>
        <p:spPr>
          <a:xfrm>
            <a:off x="609600" y="1428521"/>
            <a:ext cx="10972800" cy="4759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7_c2_3_class_cifar_10_trades_adversarial" title="cue_s07_c2_3_class_cifar_10_trades_adversarial" descr="cue_s07_c2_3_class_cifar_10_trades_adversarial On 3-class CIFAR-10, TRADES adversarial training cannot achieve a loss much better than 0.6 at a perturbation strength where the optimal achievable loss is essentially zero."/>
          <p:cNvSpPr/>
          <p:nvPr/>
        </p:nvSpPr>
        <p:spPr>
          <a:xfrm>
            <a:off x="609600" y="2038197"/>
            <a:ext cx="533400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7_c3_10_class_setting_efficient_lower" title="cue_s07_c3_10_class_setting_efficient_lower" descr="cue_s07_c3_10_class_setting_efficient_lower In the 10-class setting, the efficient lower and upper bounds sandwich the optimal loss tightly for the budgets used in practice, so the gap is not an artifact of loose bounds."/>
          <p:cNvSpPr/>
          <p:nvPr/>
        </p:nvSpPr>
        <p:spPr>
          <a:xfrm>
            <a:off x="6248399" y="2038197"/>
            <a:ext cx="594360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7_c4_suggests_current_robust_struggles_fa" title="cue_s07_c4_suggests_current_robust_struggles_fa" descr="cue_s07_c4_suggests_current_robust_struggles_fa This suggests current robust training struggles far more as the number of classes grows."/>
          <p:cNvSpPr/>
          <p:nvPr/>
        </p:nvSpPr>
        <p:spPr>
          <a:xfrm>
            <a:off x="609600" y="4686071"/>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572688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Do higher-order hyperedges matter?</a:t>
            </a:r>
          </a:p>
        </p:txBody>
      </p:sp>
      <p:grpSp>
        <p:nvGrpSpPr>
          <p:cNvPr id="10" name="Group 10"/>
          <p:cNvGrpSpPr/>
          <p:nvPr/>
        </p:nvGrpSpPr>
        <p:grpSpPr>
          <a:xfrm>
            <a:off x="609600" y="1504950"/>
            <a:ext cx="5334000" cy="1066800"/>
            <a:chOff x="609600" y="1504950"/>
            <a:chExt cx="5334000" cy="1066800"/>
          </a:xfrm>
        </p:grpSpPr>
        <p:sp>
          <p:nvSpPr>
            <p:cNvPr id="5" name="Rectangle 5"/>
            <p:cNvSpPr/>
            <p:nvPr/>
          </p:nvSpPr>
          <p:spPr>
            <a:xfrm>
              <a:off x="609600" y="1504950"/>
              <a:ext cx="5334000" cy="1066800"/>
            </a:xfrm>
            <a:prstGeom prst="roundRect">
              <a:avLst>
                <a:gd name="adj" fmla="val 12500"/>
              </a:avLst>
            </a:prstGeom>
            <a:solidFill>
              <a:schemeClr val="accent5"/>
            </a:solidFill>
            <a:ln w="14288">
              <a:solidFill>
                <a:srgbClr val="26455F"/>
              </a:solidFill>
            </a:ln>
          </p:spPr>
        </p:sp>
        <p:sp>
          <p:nvSpPr>
            <p:cNvPr id="6" name="Rectangle 6"/>
            <p:cNvSpPr/>
            <p:nvPr/>
          </p:nvSpPr>
          <p:spPr>
            <a:xfrm>
              <a:off x="609600" y="1504950"/>
              <a:ext cx="57150" cy="1066800"/>
            </a:xfrm>
            <a:prstGeom prst="roundRect">
              <a:avLst>
                <a:gd name="adj" fmla="val 50000"/>
              </a:avLst>
            </a:prstGeom>
            <a:solidFill>
              <a:schemeClr val="accent2"/>
            </a:solidFill>
            <a:ln>
              <a:noFill/>
            </a:ln>
          </p:spPr>
        </p:sp>
        <p:sp>
          <p:nvSpPr>
            <p:cNvPr id="7" name="TextBox 7"/>
            <p:cNvSpPr txBox="1"/>
            <p:nvPr/>
          </p:nvSpPr>
          <p:spPr>
            <a:xfrm>
              <a:off x="870014" y="1733312"/>
              <a:ext cx="1087254"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The question</a:t>
              </a:r>
            </a:p>
          </p:txBody>
        </p:sp>
        <p:sp>
          <p:nvSpPr>
            <p:cNvPr id="8" name="TextBox 8"/>
            <p:cNvSpPr txBox="1"/>
            <p:nvPr/>
          </p:nvSpPr>
          <p:spPr>
            <a:xfrm>
              <a:off x="870776" y="2035254"/>
              <a:ext cx="390466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How much do the higher-order hyperedges, the triples</a:t>
              </a:r>
            </a:p>
          </p:txBody>
        </p:sp>
        <p:sp>
          <p:nvSpPr>
            <p:cNvPr id="9" name="TextBox 9"/>
            <p:cNvSpPr txBox="1"/>
            <p:nvPr/>
          </p:nvSpPr>
          <p:spPr>
            <a:xfrm>
              <a:off x="870776" y="2244804"/>
              <a:ext cx="382618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and quadruples, actually change the computed bound?</a:t>
              </a:r>
            </a:p>
          </p:txBody>
        </p:sp>
      </p:grpSp>
      <p:grpSp>
        <p:nvGrpSpPr>
          <p:cNvPr id="28" name="Group 28"/>
          <p:cNvGrpSpPr/>
          <p:nvPr/>
        </p:nvGrpSpPr>
        <p:grpSpPr>
          <a:xfrm>
            <a:off x="609600" y="2724150"/>
            <a:ext cx="5334000" cy="2514600"/>
            <a:chOff x="609600" y="2724150"/>
            <a:chExt cx="5334000" cy="2514600"/>
          </a:xfrm>
        </p:grpSpPr>
        <p:sp>
          <p:nvSpPr>
            <p:cNvPr id="11" name="Rectangle 11"/>
            <p:cNvSpPr/>
            <p:nvPr/>
          </p:nvSpPr>
          <p:spPr>
            <a:xfrm>
              <a:off x="609600" y="2724150"/>
              <a:ext cx="5334000" cy="2514600"/>
            </a:xfrm>
            <a:prstGeom prst="roundRect">
              <a:avLst>
                <a:gd name="adj" fmla="val 5303"/>
              </a:avLst>
            </a:prstGeom>
            <a:solidFill>
              <a:schemeClr val="accent5"/>
            </a:solidFill>
            <a:ln w="14288">
              <a:solidFill>
                <a:srgbClr val="26455F"/>
              </a:solidFill>
            </a:ln>
          </p:spPr>
        </p:sp>
        <p:sp>
          <p:nvSpPr>
            <p:cNvPr id="12" name="Rectangle 12"/>
            <p:cNvSpPr/>
            <p:nvPr/>
          </p:nvSpPr>
          <p:spPr>
            <a:xfrm>
              <a:off x="609600" y="2724150"/>
              <a:ext cx="57150" cy="2514600"/>
            </a:xfrm>
            <a:prstGeom prst="roundRect">
              <a:avLst>
                <a:gd name="adj" fmla="val 50000"/>
              </a:avLst>
            </a:prstGeom>
            <a:solidFill>
              <a:srgbClr val="34D3C0"/>
            </a:solidFill>
            <a:ln>
              <a:noFill/>
            </a:ln>
          </p:spPr>
        </p:sp>
        <p:sp>
          <p:nvSpPr>
            <p:cNvPr id="13" name="TextBox 13"/>
            <p:cNvSpPr txBox="1"/>
            <p:nvPr/>
          </p:nvSpPr>
          <p:spPr>
            <a:xfrm>
              <a:off x="870776" y="2949654"/>
              <a:ext cx="3475131"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Lower bound at small budget · nearly identical</a:t>
              </a:r>
            </a:p>
          </p:txBody>
        </p:sp>
        <p:sp>
          <p:nvSpPr>
            <p:cNvPr id="14" name="Rectangle 14"/>
            <p:cNvSpPr/>
            <p:nvPr/>
          </p:nvSpPr>
          <p:spPr>
            <a:xfrm>
              <a:off x="2857500" y="3333750"/>
              <a:ext cx="2190750" cy="285750"/>
            </a:xfrm>
            <a:prstGeom prst="roundRect">
              <a:avLst>
                <a:gd name="adj" fmla="val 20000"/>
              </a:avLst>
            </a:prstGeom>
            <a:solidFill>
              <a:srgbClr val="0E2334"/>
            </a:solidFill>
            <a:ln w="9525">
              <a:solidFill>
                <a:srgbClr val="26455F"/>
              </a:solidFill>
            </a:ln>
          </p:spPr>
        </p:sp>
        <p:sp>
          <p:nvSpPr>
            <p:cNvPr id="15" name="Rectangle 15"/>
            <p:cNvSpPr/>
            <p:nvPr/>
          </p:nvSpPr>
          <p:spPr>
            <a:xfrm>
              <a:off x="2857500" y="3333750"/>
              <a:ext cx="1752600" cy="285750"/>
            </a:xfrm>
            <a:prstGeom prst="roundRect">
              <a:avLst>
                <a:gd name="adj" fmla="val 20000"/>
              </a:avLst>
            </a:prstGeom>
            <a:solidFill>
              <a:schemeClr val="accent2"/>
            </a:solidFill>
            <a:ln>
              <a:noFill/>
            </a:ln>
          </p:spPr>
        </p:sp>
        <p:sp>
          <p:nvSpPr>
            <p:cNvPr id="16" name="TextBox 16"/>
            <p:cNvSpPr txBox="1"/>
            <p:nvPr/>
          </p:nvSpPr>
          <p:spPr>
            <a:xfrm>
              <a:off x="1995773" y="3426143"/>
              <a:ext cx="75276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edges only</a:t>
              </a:r>
            </a:p>
          </p:txBody>
        </p:sp>
        <p:sp>
          <p:nvSpPr>
            <p:cNvPr id="17" name="TextBox 17"/>
            <p:cNvSpPr txBox="1"/>
            <p:nvPr/>
          </p:nvSpPr>
          <p:spPr>
            <a:xfrm>
              <a:off x="4700016" y="3426143"/>
              <a:ext cx="418819"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0.482</a:t>
              </a:r>
            </a:p>
          </p:txBody>
        </p:sp>
        <p:sp>
          <p:nvSpPr>
            <p:cNvPr id="18" name="Rectangle 18"/>
            <p:cNvSpPr/>
            <p:nvPr/>
          </p:nvSpPr>
          <p:spPr>
            <a:xfrm>
              <a:off x="2857500" y="3790950"/>
              <a:ext cx="2190750" cy="285750"/>
            </a:xfrm>
            <a:prstGeom prst="roundRect">
              <a:avLst>
                <a:gd name="adj" fmla="val 20000"/>
              </a:avLst>
            </a:prstGeom>
            <a:solidFill>
              <a:srgbClr val="0E2334"/>
            </a:solidFill>
            <a:ln w="9525">
              <a:solidFill>
                <a:srgbClr val="26455F"/>
              </a:solidFill>
            </a:ln>
          </p:spPr>
        </p:sp>
        <p:sp>
          <p:nvSpPr>
            <p:cNvPr id="19" name="Rectangle 19"/>
            <p:cNvSpPr/>
            <p:nvPr/>
          </p:nvSpPr>
          <p:spPr>
            <a:xfrm>
              <a:off x="2857500" y="3790950"/>
              <a:ext cx="1762125" cy="285750"/>
            </a:xfrm>
            <a:prstGeom prst="roundRect">
              <a:avLst>
                <a:gd name="adj" fmla="val 20000"/>
              </a:avLst>
            </a:prstGeom>
            <a:solidFill>
              <a:srgbClr val="34D3C0"/>
            </a:solidFill>
            <a:ln>
              <a:noFill/>
            </a:ln>
          </p:spPr>
        </p:sp>
        <p:sp>
          <p:nvSpPr>
            <p:cNvPr id="20" name="TextBox 20"/>
            <p:cNvSpPr txBox="1"/>
            <p:nvPr/>
          </p:nvSpPr>
          <p:spPr>
            <a:xfrm>
              <a:off x="1995773" y="3883343"/>
              <a:ext cx="75276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 degree 3</a:t>
              </a:r>
            </a:p>
          </p:txBody>
        </p:sp>
        <p:sp>
          <p:nvSpPr>
            <p:cNvPr id="21" name="TextBox 21"/>
            <p:cNvSpPr txBox="1"/>
            <p:nvPr/>
          </p:nvSpPr>
          <p:spPr>
            <a:xfrm>
              <a:off x="4709541" y="3883343"/>
              <a:ext cx="418819" cy="205359"/>
            </a:xfrm>
            <a:prstGeom prst="rect">
              <a:avLst/>
            </a:prstGeom>
            <a:noFill/>
            <a:ln>
              <a:noFill/>
            </a:ln>
          </p:spPr>
          <p:txBody>
            <a:bodyPr wrap="none" lIns="0" tIns="0" rIns="0" bIns="0" anchor="t" anchorCtr="0">
              <a:spAutoFit/>
            </a:bodyPr>
            <a:lstStyle/>
            <a:p>
              <a:pPr algn="l"/>
              <a:r>
                <a:rPr lang="en-US" sz="1050" b="1" dirty="0">
                  <a:solidFill>
                    <a:srgbClr val="34D3C0"/>
                  </a:solidFill>
                  <a:latin typeface="+mn-lt"/>
                  <a:ea typeface="+mn-ea"/>
                  <a:cs typeface="+mn-cs"/>
                </a:rPr>
                <a:t>0.483</a:t>
              </a:r>
            </a:p>
          </p:txBody>
        </p:sp>
        <p:sp>
          <p:nvSpPr>
            <p:cNvPr id="22" name="Rectangle 22"/>
            <p:cNvSpPr/>
            <p:nvPr/>
          </p:nvSpPr>
          <p:spPr>
            <a:xfrm>
              <a:off x="2857500" y="4248150"/>
              <a:ext cx="2190750" cy="285750"/>
            </a:xfrm>
            <a:prstGeom prst="roundRect">
              <a:avLst>
                <a:gd name="adj" fmla="val 20000"/>
              </a:avLst>
            </a:prstGeom>
            <a:solidFill>
              <a:srgbClr val="0E2334"/>
            </a:solidFill>
            <a:ln w="9525">
              <a:solidFill>
                <a:srgbClr val="26455F"/>
              </a:solidFill>
            </a:ln>
          </p:spPr>
        </p:sp>
        <p:sp>
          <p:nvSpPr>
            <p:cNvPr id="23" name="Rectangle 23"/>
            <p:cNvSpPr/>
            <p:nvPr/>
          </p:nvSpPr>
          <p:spPr>
            <a:xfrm>
              <a:off x="2857500" y="4248150"/>
              <a:ext cx="1762125" cy="285750"/>
            </a:xfrm>
            <a:prstGeom prst="roundRect">
              <a:avLst>
                <a:gd name="adj" fmla="val 20000"/>
              </a:avLst>
            </a:prstGeom>
            <a:solidFill>
              <a:srgbClr val="48C78E"/>
            </a:solidFill>
            <a:ln>
              <a:noFill/>
            </a:ln>
          </p:spPr>
        </p:sp>
        <p:sp>
          <p:nvSpPr>
            <p:cNvPr id="24" name="TextBox 24"/>
            <p:cNvSpPr txBox="1"/>
            <p:nvPr/>
          </p:nvSpPr>
          <p:spPr>
            <a:xfrm>
              <a:off x="1995773" y="4340542"/>
              <a:ext cx="75276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 degree 4</a:t>
              </a:r>
            </a:p>
          </p:txBody>
        </p:sp>
        <p:sp>
          <p:nvSpPr>
            <p:cNvPr id="25" name="TextBox 25"/>
            <p:cNvSpPr txBox="1"/>
            <p:nvPr/>
          </p:nvSpPr>
          <p:spPr>
            <a:xfrm>
              <a:off x="4709541" y="4340542"/>
              <a:ext cx="418819"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0.483</a:t>
              </a:r>
            </a:p>
          </p:txBody>
        </p:sp>
        <p:sp>
          <p:nvSpPr>
            <p:cNvPr id="26" name="Rectangle 26"/>
            <p:cNvSpPr/>
            <p:nvPr/>
          </p:nvSpPr>
          <p:spPr>
            <a:xfrm>
              <a:off x="876300" y="4705350"/>
              <a:ext cx="4800600" cy="419100"/>
            </a:xfrm>
            <a:prstGeom prst="roundRect">
              <a:avLst>
                <a:gd name="adj" fmla="val 22727"/>
              </a:avLst>
            </a:prstGeom>
            <a:solidFill>
              <a:srgbClr val="0F2E2B"/>
            </a:solidFill>
            <a:ln w="14288">
              <a:solidFill>
                <a:srgbClr val="34D3C0"/>
              </a:solidFill>
            </a:ln>
          </p:spPr>
        </p:sp>
        <p:sp>
          <p:nvSpPr>
            <p:cNvPr id="27" name="TextBox 27"/>
            <p:cNvSpPr txBox="1"/>
            <p:nvPr/>
          </p:nvSpPr>
          <p:spPr>
            <a:xfrm>
              <a:off x="1061466" y="4858702"/>
              <a:ext cx="3755979" cy="205359"/>
            </a:xfrm>
            <a:prstGeom prst="rect">
              <a:avLst/>
            </a:prstGeom>
            <a:noFill/>
            <a:ln>
              <a:noFill/>
            </a:ln>
          </p:spPr>
          <p:txBody>
            <a:bodyPr wrap="none" lIns="0" tIns="0" rIns="0" bIns="0" anchor="t" anchorCtr="0">
              <a:spAutoFit/>
            </a:bodyPr>
            <a:lstStyle/>
            <a:p>
              <a:pPr algn="l"/>
              <a:r>
                <a:rPr lang="en-US" sz="1050" b="1" dirty="0">
                  <a:solidFill>
                    <a:srgbClr val="34D3C0"/>
                  </a:solidFill>
                  <a:latin typeface="+mn-lt"/>
                  <a:ea typeface="+mn-ea"/>
                  <a:cs typeface="+mn-cs"/>
                </a:rPr>
                <a:t>Adding millions of hyperedges moves the bound by ~0</a:t>
              </a:r>
            </a:p>
          </p:txBody>
        </p:sp>
      </p:grpSp>
      <p:grpSp>
        <p:nvGrpSpPr>
          <p:cNvPr id="39" name="Group 39"/>
          <p:cNvGrpSpPr/>
          <p:nvPr/>
        </p:nvGrpSpPr>
        <p:grpSpPr>
          <a:xfrm>
            <a:off x="6248400" y="1504950"/>
            <a:ext cx="5334000" cy="1746076"/>
            <a:chOff x="6248400" y="1504950"/>
            <a:chExt cx="5334000" cy="1746076"/>
          </a:xfrm>
        </p:grpSpPr>
        <p:sp>
          <p:nvSpPr>
            <p:cNvPr id="29" name="Rectangle 29"/>
            <p:cNvSpPr/>
            <p:nvPr/>
          </p:nvSpPr>
          <p:spPr>
            <a:xfrm>
              <a:off x="6248400" y="1504950"/>
              <a:ext cx="5334000" cy="1714500"/>
            </a:xfrm>
            <a:prstGeom prst="roundRect">
              <a:avLst>
                <a:gd name="adj" fmla="val 7778"/>
              </a:avLst>
            </a:prstGeom>
            <a:solidFill>
              <a:srgbClr val="2A2417"/>
            </a:solidFill>
            <a:ln w="14288">
              <a:solidFill>
                <a:srgbClr val="F2C14E"/>
              </a:solidFill>
            </a:ln>
          </p:spPr>
        </p:sp>
        <p:sp>
          <p:nvSpPr>
            <p:cNvPr id="30" name="Rectangle 30"/>
            <p:cNvSpPr/>
            <p:nvPr/>
          </p:nvSpPr>
          <p:spPr>
            <a:xfrm>
              <a:off x="6248400" y="1504950"/>
              <a:ext cx="57150" cy="1714500"/>
            </a:xfrm>
            <a:prstGeom prst="roundRect">
              <a:avLst>
                <a:gd name="adj" fmla="val 50000"/>
              </a:avLst>
            </a:prstGeom>
            <a:solidFill>
              <a:srgbClr val="F2C14E"/>
            </a:solidFill>
            <a:ln>
              <a:noFill/>
            </a:ln>
          </p:spPr>
        </p:sp>
        <p:sp>
          <p:nvSpPr>
            <p:cNvPr id="31" name="TextBox 31"/>
            <p:cNvSpPr txBox="1"/>
            <p:nvPr/>
          </p:nvSpPr>
          <p:spPr>
            <a:xfrm>
              <a:off x="6508814" y="1733312"/>
              <a:ext cx="3020046"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CIFAR-10 at budget 3 · sheer count</a:t>
              </a:r>
            </a:p>
          </p:txBody>
        </p:sp>
        <p:sp>
          <p:nvSpPr>
            <p:cNvPr id="32" name="Rectangle 32"/>
            <p:cNvSpPr/>
            <p:nvPr/>
          </p:nvSpPr>
          <p:spPr>
            <a:xfrm>
              <a:off x="6515100" y="2095500"/>
              <a:ext cx="2381250" cy="914400"/>
            </a:xfrm>
            <a:prstGeom prst="roundRect">
              <a:avLst>
                <a:gd name="adj" fmla="val 12500"/>
              </a:avLst>
            </a:prstGeom>
            <a:solidFill>
              <a:schemeClr val="accent6"/>
            </a:solidFill>
            <a:ln w="14288">
              <a:solidFill>
                <a:srgbClr val="26455F"/>
              </a:solidFill>
            </a:ln>
          </p:spPr>
        </p:sp>
        <p:sp>
          <p:nvSpPr>
            <p:cNvPr id="33" name="TextBox 33"/>
            <p:cNvSpPr txBox="1"/>
            <p:nvPr/>
          </p:nvSpPr>
          <p:spPr>
            <a:xfrm>
              <a:off x="7361972" y="2311908"/>
              <a:ext cx="687507" cy="469392"/>
            </a:xfrm>
            <a:prstGeom prst="rect">
              <a:avLst/>
            </a:prstGeom>
            <a:noFill/>
            <a:ln>
              <a:noFill/>
            </a:ln>
          </p:spPr>
          <p:txBody>
            <a:bodyPr wrap="none" lIns="0" tIns="0" rIns="0" bIns="0" anchor="t" anchorCtr="0">
              <a:spAutoFit/>
            </a:bodyPr>
            <a:lstStyle/>
            <a:p>
              <a:pPr algn="ctr"/>
              <a:r>
                <a:rPr lang="en-US" sz="2400" b="1" dirty="0">
                  <a:solidFill>
                    <a:srgbClr val="F2C14E"/>
                  </a:solidFill>
                  <a:latin typeface="+mn-lt"/>
                  <a:ea typeface="+mn-ea"/>
                  <a:cs typeface="+mn-cs"/>
                </a:rPr>
                <a:t>~3M</a:t>
              </a:r>
            </a:p>
          </p:txBody>
        </p:sp>
        <p:sp>
          <p:nvSpPr>
            <p:cNvPr id="34" name="TextBox 34"/>
            <p:cNvSpPr txBox="1"/>
            <p:nvPr/>
          </p:nvSpPr>
          <p:spPr>
            <a:xfrm>
              <a:off x="7023326" y="2725817"/>
              <a:ext cx="136479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degree-3 hyperedges</a:t>
              </a:r>
            </a:p>
          </p:txBody>
        </p:sp>
        <p:sp>
          <p:nvSpPr>
            <p:cNvPr id="35" name="Rectangle 35"/>
            <p:cNvSpPr/>
            <p:nvPr/>
          </p:nvSpPr>
          <p:spPr>
            <a:xfrm>
              <a:off x="9163050" y="2095500"/>
              <a:ext cx="2381250" cy="914400"/>
            </a:xfrm>
            <a:prstGeom prst="roundRect">
              <a:avLst>
                <a:gd name="adj" fmla="val 12500"/>
              </a:avLst>
            </a:prstGeom>
            <a:solidFill>
              <a:schemeClr val="accent6"/>
            </a:solidFill>
            <a:ln w="14288">
              <a:solidFill>
                <a:srgbClr val="26455F"/>
              </a:solidFill>
            </a:ln>
          </p:spPr>
        </p:sp>
        <p:sp>
          <p:nvSpPr>
            <p:cNvPr id="36" name="TextBox 36"/>
            <p:cNvSpPr txBox="1"/>
            <p:nvPr/>
          </p:nvSpPr>
          <p:spPr>
            <a:xfrm>
              <a:off x="9911349" y="2311908"/>
              <a:ext cx="884652" cy="469392"/>
            </a:xfrm>
            <a:prstGeom prst="rect">
              <a:avLst/>
            </a:prstGeom>
            <a:noFill/>
            <a:ln>
              <a:noFill/>
            </a:ln>
          </p:spPr>
          <p:txBody>
            <a:bodyPr wrap="none" lIns="0" tIns="0" rIns="0" bIns="0" anchor="t" anchorCtr="0">
              <a:spAutoFit/>
            </a:bodyPr>
            <a:lstStyle/>
            <a:p>
              <a:pPr algn="ctr"/>
              <a:r>
                <a:rPr lang="en-US" sz="2400" b="1" dirty="0">
                  <a:solidFill>
                    <a:srgbClr val="F2C14E"/>
                  </a:solidFill>
                  <a:latin typeface="+mn-lt"/>
                  <a:ea typeface="+mn-ea"/>
                  <a:cs typeface="+mn-cs"/>
                </a:rPr>
                <a:t>~10M</a:t>
              </a:r>
            </a:p>
          </p:txBody>
        </p:sp>
        <p:sp>
          <p:nvSpPr>
            <p:cNvPr id="37" name="TextBox 37"/>
            <p:cNvSpPr txBox="1"/>
            <p:nvPr/>
          </p:nvSpPr>
          <p:spPr>
            <a:xfrm>
              <a:off x="9671276" y="2725817"/>
              <a:ext cx="136479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degree-4 hyperedges</a:t>
              </a:r>
            </a:p>
          </p:txBody>
        </p:sp>
        <p:sp>
          <p:nvSpPr>
            <p:cNvPr id="38" name="TextBox 38"/>
            <p:cNvSpPr txBox="1"/>
            <p:nvPr/>
          </p:nvSpPr>
          <p:spPr>
            <a:xfrm>
              <a:off x="6509956" y="3053001"/>
              <a:ext cx="2779918"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...yet they leave the bound unchanged.</a:t>
              </a:r>
            </a:p>
          </p:txBody>
        </p:sp>
      </p:grpSp>
      <p:grpSp>
        <p:nvGrpSpPr>
          <p:cNvPr id="51" name="Group 51"/>
          <p:cNvGrpSpPr/>
          <p:nvPr/>
        </p:nvGrpSpPr>
        <p:grpSpPr>
          <a:xfrm>
            <a:off x="6248400" y="3371850"/>
            <a:ext cx="5334000" cy="1866900"/>
            <a:chOff x="6248400" y="3371850"/>
            <a:chExt cx="5334000" cy="1866900"/>
          </a:xfrm>
        </p:grpSpPr>
        <p:sp>
          <p:nvSpPr>
            <p:cNvPr id="40" name="Rectangle 40"/>
            <p:cNvSpPr/>
            <p:nvPr/>
          </p:nvSpPr>
          <p:spPr>
            <a:xfrm>
              <a:off x="6248400" y="3371850"/>
              <a:ext cx="5334000" cy="1866900"/>
            </a:xfrm>
            <a:prstGeom prst="roundRect">
              <a:avLst>
                <a:gd name="adj" fmla="val 7143"/>
              </a:avLst>
            </a:prstGeom>
            <a:solidFill>
              <a:schemeClr val="accent5"/>
            </a:solidFill>
            <a:ln w="14288">
              <a:solidFill>
                <a:srgbClr val="26455F"/>
              </a:solidFill>
            </a:ln>
          </p:spPr>
        </p:sp>
        <p:sp>
          <p:nvSpPr>
            <p:cNvPr id="41" name="Rectangle 41"/>
            <p:cNvSpPr/>
            <p:nvPr/>
          </p:nvSpPr>
          <p:spPr>
            <a:xfrm>
              <a:off x="6248400" y="3371850"/>
              <a:ext cx="57150" cy="1866900"/>
            </a:xfrm>
            <a:prstGeom prst="roundRect">
              <a:avLst>
                <a:gd name="adj" fmla="val 50000"/>
              </a:avLst>
            </a:prstGeom>
            <a:solidFill>
              <a:srgbClr val="48C78E"/>
            </a:solidFill>
            <a:ln>
              <a:noFill/>
            </a:ln>
          </p:spPr>
        </p:sp>
        <p:sp>
          <p:nvSpPr>
            <p:cNvPr id="42" name="TextBox 42"/>
            <p:cNvSpPr txBox="1"/>
            <p:nvPr/>
          </p:nvSpPr>
          <p:spPr>
            <a:xfrm>
              <a:off x="6508814" y="3600212"/>
              <a:ext cx="1481299"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Practical verdict</a:t>
              </a:r>
            </a:p>
          </p:txBody>
        </p:sp>
        <p:sp>
          <p:nvSpPr>
            <p:cNvPr id="43" name="TextBox 43"/>
            <p:cNvSpPr txBox="1"/>
            <p:nvPr/>
          </p:nvSpPr>
          <p:spPr>
            <a:xfrm>
              <a:off x="6509576" y="3921204"/>
              <a:ext cx="376520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Edge-only bounds are both cheap and accurate in the</a:t>
              </a:r>
            </a:p>
          </p:txBody>
        </p:sp>
        <p:sp>
          <p:nvSpPr>
            <p:cNvPr id="44" name="TextBox 44"/>
            <p:cNvSpPr txBox="1"/>
            <p:nvPr/>
          </p:nvSpPr>
          <p:spPr>
            <a:xfrm>
              <a:off x="6509576" y="4130754"/>
              <a:ext cx="210937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practical low-budget regime.</a:t>
              </a:r>
            </a:p>
          </p:txBody>
        </p:sp>
        <p:sp>
          <p:nvSpPr>
            <p:cNvPr id="45" name="Rectangle 45"/>
            <p:cNvSpPr/>
            <p:nvPr/>
          </p:nvSpPr>
          <p:spPr>
            <a:xfrm>
              <a:off x="6515100" y="4514850"/>
              <a:ext cx="4800600" cy="285750"/>
            </a:xfrm>
            <a:prstGeom prst="roundRect">
              <a:avLst>
                <a:gd name="adj" fmla="val 26667"/>
              </a:avLst>
            </a:prstGeom>
            <a:solidFill>
              <a:schemeClr val="accent6"/>
            </a:solidFill>
            <a:ln w="14288">
              <a:solidFill>
                <a:srgbClr val="26455F"/>
              </a:solidFill>
            </a:ln>
          </p:spPr>
        </p:sp>
        <p:sp>
          <p:nvSpPr>
            <p:cNvPr id="46" name="Ellipse 46"/>
            <p:cNvSpPr/>
            <p:nvPr/>
          </p:nvSpPr>
          <p:spPr>
            <a:xfrm>
              <a:off x="6638925" y="4610100"/>
              <a:ext cx="95250" cy="95250"/>
            </a:xfrm>
            <a:prstGeom prst="ellipse">
              <a:avLst/>
            </a:prstGeom>
            <a:solidFill>
              <a:srgbClr val="F2C14E"/>
            </a:solidFill>
            <a:ln>
              <a:noFill/>
            </a:ln>
          </p:spPr>
        </p:sp>
        <p:sp>
          <p:nvSpPr>
            <p:cNvPr id="47" name="TextBox 47"/>
            <p:cNvSpPr txBox="1"/>
            <p:nvPr/>
          </p:nvSpPr>
          <p:spPr>
            <a:xfrm>
              <a:off x="6833426" y="4597479"/>
              <a:ext cx="3891324"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Aggregated binary bound: fastest, but much looser</a:t>
              </a:r>
            </a:p>
          </p:txBody>
        </p:sp>
        <p:sp>
          <p:nvSpPr>
            <p:cNvPr id="48" name="Rectangle 48"/>
            <p:cNvSpPr/>
            <p:nvPr/>
          </p:nvSpPr>
          <p:spPr>
            <a:xfrm>
              <a:off x="6515100" y="4857750"/>
              <a:ext cx="4800600" cy="285750"/>
            </a:xfrm>
            <a:prstGeom prst="roundRect">
              <a:avLst>
                <a:gd name="adj" fmla="val 26667"/>
              </a:avLst>
            </a:prstGeom>
            <a:solidFill>
              <a:schemeClr val="accent6"/>
            </a:solidFill>
            <a:ln w="14288">
              <a:solidFill>
                <a:srgbClr val="26455F"/>
              </a:solidFill>
            </a:ln>
          </p:spPr>
        </p:sp>
        <p:sp>
          <p:nvSpPr>
            <p:cNvPr id="49" name="Ellipse 49"/>
            <p:cNvSpPr/>
            <p:nvPr/>
          </p:nvSpPr>
          <p:spPr>
            <a:xfrm>
              <a:off x="6638925" y="4953000"/>
              <a:ext cx="95250" cy="95250"/>
            </a:xfrm>
            <a:prstGeom prst="ellipse">
              <a:avLst/>
            </a:prstGeom>
            <a:solidFill>
              <a:schemeClr val="accent2"/>
            </a:solidFill>
            <a:ln>
              <a:noFill/>
            </a:ln>
          </p:spPr>
        </p:sp>
        <p:sp>
          <p:nvSpPr>
            <p:cNvPr id="50" name="TextBox 50"/>
            <p:cNvSpPr txBox="1"/>
            <p:nvPr/>
          </p:nvSpPr>
          <p:spPr>
            <a:xfrm>
              <a:off x="6833426" y="4940379"/>
              <a:ext cx="3559733"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Scaling up model architecture: only minor gains</a:t>
              </a:r>
            </a:p>
          </p:txBody>
        </p:sp>
      </p:grpSp>
      <p:sp>
        <p:nvSpPr>
          <p:cNvPr id="52" name="cue_s08_c1_key_ablation_examines_how_much" title="cue_s08_c1_key_ablation_examines_how_much" descr="cue_s08_c1_key_ablation_examines_how_much A key ablation examines how much the higher-order hyperedges actually matter."/>
          <p:cNvSpPr/>
          <p:nvPr/>
        </p:nvSpPr>
        <p:spPr>
          <a:xfrm>
            <a:off x="609600" y="1504645"/>
            <a:ext cx="5334000" cy="10671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8_c2_surprisingly_small_perturbation_budg" title="cue_s08_c2_surprisingly_small_perturbation_budg" descr="cue_s08_c2_surprisingly_small_perturbation_budg Surprisingly, at small perturbation budgets the lower bound computed with only edges is nearly identical to bounds that add degree-three and degree-four hyperedges, even though the graph contains millions of these higher-order structures."/>
          <p:cNvSpPr/>
          <p:nvPr/>
        </p:nvSpPr>
        <p:spPr>
          <a:xfrm>
            <a:off x="609600" y="2723997"/>
            <a:ext cx="533400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8_c3_cifar_10_budget_three_roughly_three" title="cue_s08_c3_cifar_10_budget_three_roughly_three" descr="cue_s08_c3_cifar_10_budget_three_roughly_three For CIFAR-10 at budget three, there are roughly three million degree-three and ten million degree-four hyperedges, yet they have no impact on the computed bound."/>
          <p:cNvSpPr/>
          <p:nvPr/>
        </p:nvSpPr>
        <p:spPr>
          <a:xfrm>
            <a:off x="6248399" y="1504645"/>
            <a:ext cx="5334000" cy="174604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8_c4_means_edge_only_bounds_both_cheap" title="cue_s08_c4_means_edge_only_bounds_both_cheap" descr="cue_s08_c4_means_edge_only_bounds_both_cheap This means edge-only bounds are both cheap and accurate in the practical regime. The aggregated binary bound is the fastest to compute but much looser, and scaling up model architecture yields only minor gains at low budgets."/>
          <p:cNvSpPr/>
          <p:nvPr/>
        </p:nvSpPr>
        <p:spPr>
          <a:xfrm>
            <a:off x="6248399" y="3372078"/>
            <a:ext cx="5334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370777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gap, made concrete</a:t>
            </a:r>
          </a:p>
        </p:txBody>
      </p:sp>
      <p:grpSp>
        <p:nvGrpSpPr>
          <p:cNvPr id="17" name="Group 17"/>
          <p:cNvGrpSpPr/>
          <p:nvPr/>
        </p:nvGrpSpPr>
        <p:grpSpPr>
          <a:xfrm>
            <a:off x="609600" y="1543050"/>
            <a:ext cx="10972800" cy="1143000"/>
            <a:chOff x="609600" y="1543050"/>
            <a:chExt cx="10972800" cy="1143000"/>
          </a:xfrm>
        </p:grpSpPr>
        <p:sp>
          <p:nvSpPr>
            <p:cNvPr id="5" name="Rectangle 5"/>
            <p:cNvSpPr/>
            <p:nvPr/>
          </p:nvSpPr>
          <p:spPr>
            <a:xfrm>
              <a:off x="609600" y="1543050"/>
              <a:ext cx="10972800" cy="1143000"/>
            </a:xfrm>
            <a:prstGeom prst="roundRect">
              <a:avLst>
                <a:gd name="adj" fmla="val 11667"/>
              </a:avLst>
            </a:prstGeom>
            <a:solidFill>
              <a:schemeClr val="accent5"/>
            </a:solidFill>
            <a:ln w="14288">
              <a:solidFill>
                <a:srgbClr val="26455F"/>
              </a:solidFill>
            </a:ln>
          </p:spPr>
        </p:sp>
        <p:sp>
          <p:nvSpPr>
            <p:cNvPr id="6" name="Rectangle 6"/>
            <p:cNvSpPr/>
            <p:nvPr/>
          </p:nvSpPr>
          <p:spPr>
            <a:xfrm>
              <a:off x="609600" y="1543050"/>
              <a:ext cx="57150" cy="1143000"/>
            </a:xfrm>
            <a:prstGeom prst="roundRect">
              <a:avLst>
                <a:gd name="adj" fmla="val 50000"/>
              </a:avLst>
            </a:prstGeom>
            <a:solidFill>
              <a:srgbClr val="F2685C"/>
            </a:solidFill>
            <a:ln>
              <a:noFill/>
            </a:ln>
          </p:spPr>
        </p:sp>
        <p:sp>
          <p:nvSpPr>
            <p:cNvPr id="7" name="TextBox 7"/>
            <p:cNvSpPr txBox="1"/>
            <p:nvPr/>
          </p:nvSpPr>
          <p:spPr>
            <a:xfrm>
              <a:off x="870014" y="1752362"/>
              <a:ext cx="4145386"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3-class CIFAR-10 · adversarial training plateaus</a:t>
              </a:r>
            </a:p>
          </p:txBody>
        </p:sp>
        <p:sp>
          <p:nvSpPr>
            <p:cNvPr id="8" name="Rectangle 8"/>
            <p:cNvSpPr/>
            <p:nvPr/>
          </p:nvSpPr>
          <p:spPr>
            <a:xfrm>
              <a:off x="876300" y="2038350"/>
              <a:ext cx="2095500" cy="514350"/>
            </a:xfrm>
            <a:prstGeom prst="roundRect">
              <a:avLst>
                <a:gd name="adj" fmla="val 22222"/>
              </a:avLst>
            </a:prstGeom>
            <a:solidFill>
              <a:schemeClr val="accent6"/>
            </a:solidFill>
            <a:ln w="14288">
              <a:solidFill>
                <a:srgbClr val="26455F"/>
              </a:solidFill>
            </a:ln>
          </p:spPr>
        </p:sp>
        <p:sp>
          <p:nvSpPr>
            <p:cNvPr id="9" name="TextBox 9"/>
            <p:cNvSpPr txBox="1"/>
            <p:nvPr/>
          </p:nvSpPr>
          <p:spPr>
            <a:xfrm>
              <a:off x="1610946" y="2095310"/>
              <a:ext cx="626208" cy="381381"/>
            </a:xfrm>
            <a:prstGeom prst="rect">
              <a:avLst/>
            </a:prstGeom>
            <a:noFill/>
            <a:ln>
              <a:noFill/>
            </a:ln>
          </p:spPr>
          <p:txBody>
            <a:bodyPr wrap="none" lIns="0" tIns="0" rIns="0" bIns="0" anchor="t" anchorCtr="0">
              <a:spAutoFit/>
            </a:bodyPr>
            <a:lstStyle/>
            <a:p>
              <a:pPr algn="ctr"/>
              <a:r>
                <a:rPr lang="en-US" sz="1950" b="1" dirty="0">
                  <a:solidFill>
                    <a:srgbClr val="F2685C"/>
                  </a:solidFill>
                  <a:latin typeface="+mn-lt"/>
                  <a:ea typeface="+mn-ea"/>
                  <a:cs typeface="+mn-cs"/>
                </a:rPr>
                <a:t>0.60</a:t>
              </a:r>
            </a:p>
          </p:txBody>
        </p:sp>
        <p:sp>
          <p:nvSpPr>
            <p:cNvPr id="10" name="TextBox 10"/>
            <p:cNvSpPr txBox="1"/>
            <p:nvPr/>
          </p:nvSpPr>
          <p:spPr>
            <a:xfrm>
              <a:off x="1404103" y="2348627"/>
              <a:ext cx="1039894"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TRADES 0-1 loss</a:t>
              </a:r>
            </a:p>
          </p:txBody>
        </p:sp>
        <p:sp>
          <p:nvSpPr>
            <p:cNvPr id="11" name="TextBox 11"/>
            <p:cNvSpPr txBox="1"/>
            <p:nvPr/>
          </p:nvSpPr>
          <p:spPr>
            <a:xfrm>
              <a:off x="3006592" y="2241232"/>
              <a:ext cx="273316" cy="322707"/>
            </a:xfrm>
            <a:prstGeom prst="rect">
              <a:avLst/>
            </a:prstGeom>
            <a:noFill/>
            <a:ln>
              <a:noFill/>
            </a:ln>
          </p:spPr>
          <p:txBody>
            <a:bodyPr wrap="none" lIns="0" tIns="0" rIns="0" bIns="0" anchor="t" anchorCtr="0">
              <a:spAutoFit/>
            </a:bodyPr>
            <a:lstStyle/>
            <a:p>
              <a:pPr algn="ctr"/>
              <a:r>
                <a:rPr lang="en-US" sz="1650" b="1" dirty="0">
                  <a:solidFill>
                    <a:schemeClr val="dk2"/>
                  </a:solidFill>
                  <a:latin typeface="+mn-lt"/>
                  <a:ea typeface="+mn-ea"/>
                  <a:cs typeface="+mn-cs"/>
                </a:rPr>
                <a:t>vs</a:t>
              </a:r>
            </a:p>
          </p:txBody>
        </p:sp>
        <p:sp>
          <p:nvSpPr>
            <p:cNvPr id="12" name="Rectangle 12"/>
            <p:cNvSpPr/>
            <p:nvPr/>
          </p:nvSpPr>
          <p:spPr>
            <a:xfrm>
              <a:off x="3429000" y="2038350"/>
              <a:ext cx="2095500" cy="514350"/>
            </a:xfrm>
            <a:prstGeom prst="roundRect">
              <a:avLst>
                <a:gd name="adj" fmla="val 22222"/>
              </a:avLst>
            </a:prstGeom>
            <a:solidFill>
              <a:schemeClr val="accent6"/>
            </a:solidFill>
            <a:ln w="14288">
              <a:solidFill>
                <a:srgbClr val="26455F"/>
              </a:solidFill>
            </a:ln>
          </p:spPr>
        </p:sp>
        <p:sp>
          <p:nvSpPr>
            <p:cNvPr id="13" name="TextBox 13"/>
            <p:cNvSpPr txBox="1"/>
            <p:nvPr/>
          </p:nvSpPr>
          <p:spPr>
            <a:xfrm>
              <a:off x="4315245" y="2095310"/>
              <a:ext cx="323010" cy="381381"/>
            </a:xfrm>
            <a:prstGeom prst="rect">
              <a:avLst/>
            </a:prstGeom>
            <a:noFill/>
            <a:ln>
              <a:noFill/>
            </a:ln>
          </p:spPr>
          <p:txBody>
            <a:bodyPr wrap="none" lIns="0" tIns="0" rIns="0" bIns="0" anchor="t" anchorCtr="0">
              <a:spAutoFit/>
            </a:bodyPr>
            <a:lstStyle/>
            <a:p>
              <a:pPr algn="ctr"/>
              <a:r>
                <a:rPr lang="en-US" sz="1950" b="1" dirty="0">
                  <a:solidFill>
                    <a:srgbClr val="48C78E"/>
                  </a:solidFill>
                  <a:latin typeface="+mn-lt"/>
                  <a:ea typeface="+mn-ea"/>
                  <a:cs typeface="+mn-cs"/>
                </a:rPr>
                <a:t>~0</a:t>
              </a:r>
            </a:p>
          </p:txBody>
        </p:sp>
        <p:sp>
          <p:nvSpPr>
            <p:cNvPr id="14" name="TextBox 14"/>
            <p:cNvSpPr txBox="1"/>
            <p:nvPr/>
          </p:nvSpPr>
          <p:spPr>
            <a:xfrm>
              <a:off x="4086665" y="2348627"/>
              <a:ext cx="78017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optimal loss</a:t>
              </a:r>
            </a:p>
          </p:txBody>
        </p:sp>
        <p:sp>
          <p:nvSpPr>
            <p:cNvPr id="15" name="Rectangle 15"/>
            <p:cNvSpPr/>
            <p:nvPr/>
          </p:nvSpPr>
          <p:spPr>
            <a:xfrm>
              <a:off x="5715000" y="2038350"/>
              <a:ext cx="5867400" cy="514350"/>
            </a:xfrm>
            <a:prstGeom prst="roundRect">
              <a:avLst>
                <a:gd name="adj" fmla="val 22222"/>
              </a:avLst>
            </a:prstGeom>
            <a:solidFill>
              <a:schemeClr val="accent6"/>
            </a:solidFill>
            <a:ln w="14288">
              <a:solidFill>
                <a:srgbClr val="26455F"/>
              </a:solidFill>
            </a:ln>
          </p:spPr>
        </p:sp>
        <p:sp>
          <p:nvSpPr>
            <p:cNvPr id="16" name="TextBox 16"/>
            <p:cNvSpPr txBox="1"/>
            <p:nvPr/>
          </p:nvSpPr>
          <p:spPr>
            <a:xfrm>
              <a:off x="5938266" y="2239328"/>
              <a:ext cx="5106861"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Adv. training cannot beat 0.60 where the optimum is essentially zero.</a:t>
              </a:r>
            </a:p>
          </p:txBody>
        </p:sp>
      </p:grpSp>
      <p:grpSp>
        <p:nvGrpSpPr>
          <p:cNvPr id="27" name="Group 27"/>
          <p:cNvGrpSpPr/>
          <p:nvPr/>
        </p:nvGrpSpPr>
        <p:grpSpPr>
          <a:xfrm>
            <a:off x="609600" y="2838450"/>
            <a:ext cx="5334000" cy="1314450"/>
            <a:chOff x="609600" y="2838450"/>
            <a:chExt cx="5334000" cy="1314450"/>
          </a:xfrm>
        </p:grpSpPr>
        <p:sp>
          <p:nvSpPr>
            <p:cNvPr id="18" name="Rectangle 18"/>
            <p:cNvSpPr/>
            <p:nvPr/>
          </p:nvSpPr>
          <p:spPr>
            <a:xfrm>
              <a:off x="609600" y="2838450"/>
              <a:ext cx="5334000" cy="1314450"/>
            </a:xfrm>
            <a:prstGeom prst="roundRect">
              <a:avLst>
                <a:gd name="adj" fmla="val 10145"/>
              </a:avLst>
            </a:prstGeom>
            <a:solidFill>
              <a:schemeClr val="accent5"/>
            </a:solidFill>
            <a:ln w="14288">
              <a:solidFill>
                <a:srgbClr val="26455F"/>
              </a:solidFill>
            </a:ln>
          </p:spPr>
        </p:sp>
        <p:sp>
          <p:nvSpPr>
            <p:cNvPr id="19" name="Rectangle 19"/>
            <p:cNvSpPr/>
            <p:nvPr/>
          </p:nvSpPr>
          <p:spPr>
            <a:xfrm>
              <a:off x="609600" y="2838450"/>
              <a:ext cx="57150" cy="1314450"/>
            </a:xfrm>
            <a:prstGeom prst="roundRect">
              <a:avLst>
                <a:gd name="adj" fmla="val 50000"/>
              </a:avLst>
            </a:prstGeom>
            <a:solidFill>
              <a:schemeClr val="accent2"/>
            </a:solidFill>
            <a:ln>
              <a:noFill/>
            </a:ln>
          </p:spPr>
        </p:sp>
        <p:sp>
          <p:nvSpPr>
            <p:cNvPr id="20" name="TextBox 20"/>
            <p:cNvSpPr txBox="1"/>
            <p:nvPr/>
          </p:nvSpPr>
          <p:spPr>
            <a:xfrm>
              <a:off x="870394" y="3055858"/>
              <a:ext cx="3462276" cy="227362"/>
            </a:xfrm>
            <a:prstGeom prst="rect">
              <a:avLst/>
            </a:prstGeom>
            <a:noFill/>
            <a:ln>
              <a:noFill/>
            </a:ln>
          </p:spPr>
          <p:txBody>
            <a:bodyPr wrap="none" lIns="0" tIns="0" rIns="0" bIns="0" anchor="t" anchorCtr="0">
              <a:spAutoFit/>
            </a:bodyPr>
            <a:lstStyle/>
            <a:p>
              <a:pPr algn="l"/>
              <a:r>
                <a:rPr lang="en-US" sz="1160" b="1" dirty="0">
                  <a:solidFill>
                    <a:schemeClr val="accent2"/>
                  </a:solidFill>
                  <a:latin typeface="+mn-lt"/>
                  <a:ea typeface="+mn-ea"/>
                  <a:cs typeface="+mn-cs"/>
                </a:rPr>
                <a:t>Best certified MNIST model · optimal LB = 0</a:t>
              </a:r>
            </a:p>
          </p:txBody>
        </p:sp>
        <p:sp>
          <p:nvSpPr>
            <p:cNvPr id="21" name="Rectangle 21"/>
            <p:cNvSpPr/>
            <p:nvPr/>
          </p:nvSpPr>
          <p:spPr>
            <a:xfrm>
              <a:off x="876300" y="3352800"/>
              <a:ext cx="2381250" cy="685800"/>
            </a:xfrm>
            <a:prstGeom prst="roundRect">
              <a:avLst>
                <a:gd name="adj" fmla="val 16667"/>
              </a:avLst>
            </a:prstGeom>
            <a:solidFill>
              <a:schemeClr val="accent6"/>
            </a:solidFill>
            <a:ln w="14288">
              <a:solidFill>
                <a:srgbClr val="26455F"/>
              </a:solidFill>
            </a:ln>
          </p:spPr>
        </p:sp>
        <p:sp>
          <p:nvSpPr>
            <p:cNvPr id="22" name="TextBox 22"/>
            <p:cNvSpPr txBox="1"/>
            <p:nvPr/>
          </p:nvSpPr>
          <p:spPr>
            <a:xfrm>
              <a:off x="1729736" y="3482721"/>
              <a:ext cx="674378" cy="410718"/>
            </a:xfrm>
            <a:prstGeom prst="rect">
              <a:avLst/>
            </a:prstGeom>
            <a:noFill/>
            <a:ln>
              <a:noFill/>
            </a:ln>
          </p:spPr>
          <p:txBody>
            <a:bodyPr wrap="none" lIns="0" tIns="0" rIns="0" bIns="0" anchor="t" anchorCtr="0">
              <a:spAutoFit/>
            </a:bodyPr>
            <a:lstStyle/>
            <a:p>
              <a:pPr algn="ctr"/>
              <a:r>
                <a:rPr lang="en-US" sz="2100" b="1" dirty="0">
                  <a:solidFill>
                    <a:schemeClr val="accent2"/>
                  </a:solidFill>
                  <a:latin typeface="+mn-lt"/>
                  <a:ea typeface="+mn-ea"/>
                  <a:cs typeface="+mn-cs"/>
                </a:rPr>
                <a:t>0.27</a:t>
              </a:r>
            </a:p>
          </p:txBody>
        </p:sp>
        <p:sp>
          <p:nvSpPr>
            <p:cNvPr id="23" name="TextBox 23"/>
            <p:cNvSpPr txBox="1"/>
            <p:nvPr/>
          </p:nvSpPr>
          <p:spPr>
            <a:xfrm>
              <a:off x="1470891" y="3800237"/>
              <a:ext cx="119206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loss @ budget 1.52</a:t>
              </a:r>
            </a:p>
          </p:txBody>
        </p:sp>
        <p:sp>
          <p:nvSpPr>
            <p:cNvPr id="24" name="Rectangle 24"/>
            <p:cNvSpPr/>
            <p:nvPr/>
          </p:nvSpPr>
          <p:spPr>
            <a:xfrm>
              <a:off x="3429000" y="3352800"/>
              <a:ext cx="2381250" cy="685800"/>
            </a:xfrm>
            <a:prstGeom prst="roundRect">
              <a:avLst>
                <a:gd name="adj" fmla="val 16667"/>
              </a:avLst>
            </a:prstGeom>
            <a:solidFill>
              <a:schemeClr val="accent6"/>
            </a:solidFill>
            <a:ln w="14288">
              <a:solidFill>
                <a:srgbClr val="26455F"/>
              </a:solidFill>
            </a:ln>
          </p:spPr>
        </p:sp>
        <p:sp>
          <p:nvSpPr>
            <p:cNvPr id="25" name="TextBox 25"/>
            <p:cNvSpPr txBox="1"/>
            <p:nvPr/>
          </p:nvSpPr>
          <p:spPr>
            <a:xfrm>
              <a:off x="4282436" y="3482721"/>
              <a:ext cx="674378" cy="410718"/>
            </a:xfrm>
            <a:prstGeom prst="rect">
              <a:avLst/>
            </a:prstGeom>
            <a:noFill/>
            <a:ln>
              <a:noFill/>
            </a:ln>
          </p:spPr>
          <p:txBody>
            <a:bodyPr wrap="none" lIns="0" tIns="0" rIns="0" bIns="0" anchor="t" anchorCtr="0">
              <a:spAutoFit/>
            </a:bodyPr>
            <a:lstStyle/>
            <a:p>
              <a:pPr algn="ctr"/>
              <a:r>
                <a:rPr lang="en-US" sz="2100" b="1" dirty="0">
                  <a:solidFill>
                    <a:schemeClr val="accent2"/>
                  </a:solidFill>
                  <a:latin typeface="+mn-lt"/>
                  <a:ea typeface="+mn-ea"/>
                  <a:cs typeface="+mn-cs"/>
                </a:rPr>
                <a:t>0.44</a:t>
              </a:r>
            </a:p>
          </p:txBody>
        </p:sp>
        <p:sp>
          <p:nvSpPr>
            <p:cNvPr id="26" name="TextBox 26"/>
            <p:cNvSpPr txBox="1"/>
            <p:nvPr/>
          </p:nvSpPr>
          <p:spPr>
            <a:xfrm>
              <a:off x="4060131" y="3800237"/>
              <a:ext cx="1118989"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loss @ budget 2.0</a:t>
              </a:r>
            </a:p>
          </p:txBody>
        </p:sp>
      </p:grpSp>
      <p:grpSp>
        <p:nvGrpSpPr>
          <p:cNvPr id="37" name="Group 37"/>
          <p:cNvGrpSpPr/>
          <p:nvPr/>
        </p:nvGrpSpPr>
        <p:grpSpPr>
          <a:xfrm>
            <a:off x="6248400" y="2838450"/>
            <a:ext cx="5334000" cy="1314450"/>
            <a:chOff x="6248400" y="2838450"/>
            <a:chExt cx="5334000" cy="1314450"/>
          </a:xfrm>
        </p:grpSpPr>
        <p:sp>
          <p:nvSpPr>
            <p:cNvPr id="28" name="Rectangle 28"/>
            <p:cNvSpPr/>
            <p:nvPr/>
          </p:nvSpPr>
          <p:spPr>
            <a:xfrm>
              <a:off x="6248400" y="2838450"/>
              <a:ext cx="5334000" cy="1314450"/>
            </a:xfrm>
            <a:prstGeom prst="roundRect">
              <a:avLst>
                <a:gd name="adj" fmla="val 10145"/>
              </a:avLst>
            </a:prstGeom>
            <a:solidFill>
              <a:schemeClr val="accent5"/>
            </a:solidFill>
            <a:ln w="14288">
              <a:solidFill>
                <a:srgbClr val="26455F"/>
              </a:solidFill>
            </a:ln>
          </p:spPr>
        </p:sp>
        <p:sp>
          <p:nvSpPr>
            <p:cNvPr id="29" name="Rectangle 29"/>
            <p:cNvSpPr/>
            <p:nvPr/>
          </p:nvSpPr>
          <p:spPr>
            <a:xfrm>
              <a:off x="6248400" y="2838450"/>
              <a:ext cx="57150" cy="1314450"/>
            </a:xfrm>
            <a:prstGeom prst="roundRect">
              <a:avLst>
                <a:gd name="adj" fmla="val 50000"/>
              </a:avLst>
            </a:prstGeom>
            <a:solidFill>
              <a:srgbClr val="34D3C0"/>
            </a:solidFill>
            <a:ln>
              <a:noFill/>
            </a:ln>
          </p:spPr>
        </p:sp>
        <p:sp>
          <p:nvSpPr>
            <p:cNvPr id="30" name="TextBox 30"/>
            <p:cNvSpPr txBox="1"/>
            <p:nvPr/>
          </p:nvSpPr>
          <p:spPr>
            <a:xfrm>
              <a:off x="6509194" y="3055858"/>
              <a:ext cx="3703392"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Best certified CIFAR-10 model · optimal LB = 0</a:t>
              </a:r>
            </a:p>
          </p:txBody>
        </p:sp>
        <p:sp>
          <p:nvSpPr>
            <p:cNvPr id="31" name="Rectangle 31"/>
            <p:cNvSpPr/>
            <p:nvPr/>
          </p:nvSpPr>
          <p:spPr>
            <a:xfrm>
              <a:off x="6515100" y="3352800"/>
              <a:ext cx="2381250" cy="685800"/>
            </a:xfrm>
            <a:prstGeom prst="roundRect">
              <a:avLst>
                <a:gd name="adj" fmla="val 16667"/>
              </a:avLst>
            </a:prstGeom>
            <a:solidFill>
              <a:schemeClr val="accent6"/>
            </a:solidFill>
            <a:ln w="14288">
              <a:solidFill>
                <a:srgbClr val="26455F"/>
              </a:solidFill>
            </a:ln>
          </p:spPr>
        </p:sp>
        <p:sp>
          <p:nvSpPr>
            <p:cNvPr id="32" name="TextBox 32"/>
            <p:cNvSpPr txBox="1"/>
            <p:nvPr/>
          </p:nvSpPr>
          <p:spPr>
            <a:xfrm>
              <a:off x="7368536" y="3482721"/>
              <a:ext cx="674378" cy="410718"/>
            </a:xfrm>
            <a:prstGeom prst="rect">
              <a:avLst/>
            </a:prstGeom>
            <a:noFill/>
            <a:ln>
              <a:noFill/>
            </a:ln>
          </p:spPr>
          <p:txBody>
            <a:bodyPr wrap="none" lIns="0" tIns="0" rIns="0" bIns="0" anchor="t" anchorCtr="0">
              <a:spAutoFit/>
            </a:bodyPr>
            <a:lstStyle/>
            <a:p>
              <a:pPr algn="ctr"/>
              <a:r>
                <a:rPr lang="en-US" sz="2100" b="1" dirty="0">
                  <a:solidFill>
                    <a:srgbClr val="34D3C0"/>
                  </a:solidFill>
                  <a:latin typeface="+mn-lt"/>
                  <a:ea typeface="+mn-ea"/>
                  <a:cs typeface="+mn-cs"/>
                </a:rPr>
                <a:t>0.60</a:t>
              </a:r>
            </a:p>
          </p:txBody>
        </p:sp>
        <p:sp>
          <p:nvSpPr>
            <p:cNvPr id="33" name="TextBox 33"/>
            <p:cNvSpPr txBox="1"/>
            <p:nvPr/>
          </p:nvSpPr>
          <p:spPr>
            <a:xfrm>
              <a:off x="7146231" y="3800237"/>
              <a:ext cx="1118989"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loss @ budget 1.0</a:t>
              </a:r>
            </a:p>
          </p:txBody>
        </p:sp>
        <p:sp>
          <p:nvSpPr>
            <p:cNvPr id="34" name="Rectangle 34"/>
            <p:cNvSpPr/>
            <p:nvPr/>
          </p:nvSpPr>
          <p:spPr>
            <a:xfrm>
              <a:off x="9067800" y="3352800"/>
              <a:ext cx="2381250" cy="685800"/>
            </a:xfrm>
            <a:prstGeom prst="roundRect">
              <a:avLst>
                <a:gd name="adj" fmla="val 16667"/>
              </a:avLst>
            </a:prstGeom>
            <a:solidFill>
              <a:schemeClr val="accent6"/>
            </a:solidFill>
            <a:ln w="14288">
              <a:solidFill>
                <a:srgbClr val="26455F"/>
              </a:solidFill>
            </a:ln>
          </p:spPr>
        </p:sp>
        <p:sp>
          <p:nvSpPr>
            <p:cNvPr id="35" name="TextBox 35"/>
            <p:cNvSpPr txBox="1"/>
            <p:nvPr/>
          </p:nvSpPr>
          <p:spPr>
            <a:xfrm>
              <a:off x="9921236" y="3482721"/>
              <a:ext cx="674378" cy="410718"/>
            </a:xfrm>
            <a:prstGeom prst="rect">
              <a:avLst/>
            </a:prstGeom>
            <a:noFill/>
            <a:ln>
              <a:noFill/>
            </a:ln>
          </p:spPr>
          <p:txBody>
            <a:bodyPr wrap="none" lIns="0" tIns="0" rIns="0" bIns="0" anchor="t" anchorCtr="0">
              <a:spAutoFit/>
            </a:bodyPr>
            <a:lstStyle/>
            <a:p>
              <a:pPr algn="ctr"/>
              <a:r>
                <a:rPr lang="en-US" sz="2100" b="1" dirty="0">
                  <a:solidFill>
                    <a:srgbClr val="34D3C0"/>
                  </a:solidFill>
                  <a:latin typeface="+mn-lt"/>
                  <a:ea typeface="+mn-ea"/>
                  <a:cs typeface="+mn-cs"/>
                </a:rPr>
                <a:t>0.80</a:t>
              </a:r>
            </a:p>
          </p:txBody>
        </p:sp>
        <p:sp>
          <p:nvSpPr>
            <p:cNvPr id="36" name="TextBox 36"/>
            <p:cNvSpPr txBox="1"/>
            <p:nvPr/>
          </p:nvSpPr>
          <p:spPr>
            <a:xfrm>
              <a:off x="9698931" y="3800237"/>
              <a:ext cx="1118989"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loss @ budget 2.0</a:t>
              </a:r>
            </a:p>
          </p:txBody>
        </p:sp>
      </p:grpSp>
      <p:grpSp>
        <p:nvGrpSpPr>
          <p:cNvPr id="49" name="Group 49"/>
          <p:cNvGrpSpPr/>
          <p:nvPr/>
        </p:nvGrpSpPr>
        <p:grpSpPr>
          <a:xfrm>
            <a:off x="609600" y="4305300"/>
            <a:ext cx="10972800" cy="1143000"/>
            <a:chOff x="609600" y="4305300"/>
            <a:chExt cx="10972800" cy="1143000"/>
          </a:xfrm>
        </p:grpSpPr>
        <p:sp>
          <p:nvSpPr>
            <p:cNvPr id="38" name="Rectangle 38"/>
            <p:cNvSpPr/>
            <p:nvPr/>
          </p:nvSpPr>
          <p:spPr>
            <a:xfrm>
              <a:off x="609600" y="4305300"/>
              <a:ext cx="10972800" cy="1143000"/>
            </a:xfrm>
            <a:prstGeom prst="roundRect">
              <a:avLst>
                <a:gd name="adj" fmla="val 11667"/>
              </a:avLst>
            </a:prstGeom>
            <a:solidFill>
              <a:srgbClr val="2A2417"/>
            </a:solidFill>
            <a:ln w="14288">
              <a:solidFill>
                <a:srgbClr val="F2C14E"/>
              </a:solidFill>
            </a:ln>
          </p:spPr>
        </p:sp>
        <p:sp>
          <p:nvSpPr>
            <p:cNvPr id="39" name="Rectangle 39"/>
            <p:cNvSpPr/>
            <p:nvPr/>
          </p:nvSpPr>
          <p:spPr>
            <a:xfrm>
              <a:off x="609600" y="4305300"/>
              <a:ext cx="57150" cy="1143000"/>
            </a:xfrm>
            <a:prstGeom prst="roundRect">
              <a:avLst>
                <a:gd name="adj" fmla="val 50000"/>
              </a:avLst>
            </a:prstGeom>
            <a:solidFill>
              <a:srgbClr val="F2C14E"/>
            </a:solidFill>
            <a:ln>
              <a:noFill/>
            </a:ln>
          </p:spPr>
        </p:sp>
        <p:sp>
          <p:nvSpPr>
            <p:cNvPr id="40" name="TextBox 40"/>
            <p:cNvSpPr txBox="1"/>
            <p:nvPr/>
          </p:nvSpPr>
          <p:spPr>
            <a:xfrm>
              <a:off x="870014" y="4514612"/>
              <a:ext cx="3707099"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Structural surprise · CIFAR-10 at budget 3</a:t>
              </a:r>
            </a:p>
          </p:txBody>
        </p:sp>
        <p:sp>
          <p:nvSpPr>
            <p:cNvPr id="41" name="Rectangle 41"/>
            <p:cNvSpPr/>
            <p:nvPr/>
          </p:nvSpPr>
          <p:spPr>
            <a:xfrm>
              <a:off x="876300" y="4800600"/>
              <a:ext cx="2190750" cy="533400"/>
            </a:xfrm>
            <a:prstGeom prst="roundRect">
              <a:avLst>
                <a:gd name="adj" fmla="val 21429"/>
              </a:avLst>
            </a:prstGeom>
            <a:solidFill>
              <a:schemeClr val="accent6"/>
            </a:solidFill>
            <a:ln w="14288">
              <a:solidFill>
                <a:srgbClr val="26455F"/>
              </a:solidFill>
            </a:ln>
          </p:spPr>
        </p:sp>
        <p:sp>
          <p:nvSpPr>
            <p:cNvPr id="42" name="TextBox 42"/>
            <p:cNvSpPr txBox="1"/>
            <p:nvPr/>
          </p:nvSpPr>
          <p:spPr>
            <a:xfrm>
              <a:off x="1692375" y="4867466"/>
              <a:ext cx="558599" cy="381381"/>
            </a:xfrm>
            <a:prstGeom prst="rect">
              <a:avLst/>
            </a:prstGeom>
            <a:noFill/>
            <a:ln>
              <a:noFill/>
            </a:ln>
          </p:spPr>
          <p:txBody>
            <a:bodyPr wrap="none" lIns="0" tIns="0" rIns="0" bIns="0" anchor="t" anchorCtr="0">
              <a:spAutoFit/>
            </a:bodyPr>
            <a:lstStyle/>
            <a:p>
              <a:pPr algn="ctr"/>
              <a:r>
                <a:rPr lang="en-US" sz="1950" b="1" dirty="0">
                  <a:solidFill>
                    <a:srgbClr val="F2C14E"/>
                  </a:solidFill>
                  <a:latin typeface="+mn-lt"/>
                  <a:ea typeface="+mn-ea"/>
                  <a:cs typeface="+mn-cs"/>
                </a:rPr>
                <a:t>~3M</a:t>
              </a:r>
            </a:p>
          </p:txBody>
        </p:sp>
        <p:sp>
          <p:nvSpPr>
            <p:cNvPr id="43" name="TextBox 43"/>
            <p:cNvSpPr txBox="1"/>
            <p:nvPr/>
          </p:nvSpPr>
          <p:spPr>
            <a:xfrm>
              <a:off x="1471972" y="5126117"/>
              <a:ext cx="99940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degree-3 edges</a:t>
              </a:r>
            </a:p>
          </p:txBody>
        </p:sp>
        <p:sp>
          <p:nvSpPr>
            <p:cNvPr id="44" name="Rectangle 44"/>
            <p:cNvSpPr/>
            <p:nvPr/>
          </p:nvSpPr>
          <p:spPr>
            <a:xfrm>
              <a:off x="3238500" y="4800600"/>
              <a:ext cx="2190750" cy="533400"/>
            </a:xfrm>
            <a:prstGeom prst="roundRect">
              <a:avLst>
                <a:gd name="adj" fmla="val 21429"/>
              </a:avLst>
            </a:prstGeom>
            <a:solidFill>
              <a:schemeClr val="accent6"/>
            </a:solidFill>
            <a:ln w="14288">
              <a:solidFill>
                <a:srgbClr val="26455F"/>
              </a:solidFill>
            </a:ln>
          </p:spPr>
        </p:sp>
        <p:sp>
          <p:nvSpPr>
            <p:cNvPr id="45" name="TextBox 45"/>
            <p:cNvSpPr txBox="1"/>
            <p:nvPr/>
          </p:nvSpPr>
          <p:spPr>
            <a:xfrm>
              <a:off x="3974485" y="4867466"/>
              <a:ext cx="718779" cy="381381"/>
            </a:xfrm>
            <a:prstGeom prst="rect">
              <a:avLst/>
            </a:prstGeom>
            <a:noFill/>
            <a:ln>
              <a:noFill/>
            </a:ln>
          </p:spPr>
          <p:txBody>
            <a:bodyPr wrap="none" lIns="0" tIns="0" rIns="0" bIns="0" anchor="t" anchorCtr="0">
              <a:spAutoFit/>
            </a:bodyPr>
            <a:lstStyle/>
            <a:p>
              <a:pPr algn="ctr"/>
              <a:r>
                <a:rPr lang="en-US" sz="1950" b="1" dirty="0">
                  <a:solidFill>
                    <a:srgbClr val="F2C14E"/>
                  </a:solidFill>
                  <a:latin typeface="+mn-lt"/>
                  <a:ea typeface="+mn-ea"/>
                  <a:cs typeface="+mn-cs"/>
                </a:rPr>
                <a:t>~10M</a:t>
              </a:r>
            </a:p>
          </p:txBody>
        </p:sp>
        <p:sp>
          <p:nvSpPr>
            <p:cNvPr id="46" name="TextBox 46"/>
            <p:cNvSpPr txBox="1"/>
            <p:nvPr/>
          </p:nvSpPr>
          <p:spPr>
            <a:xfrm>
              <a:off x="3834172" y="5126117"/>
              <a:ext cx="99940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degree-4 edges</a:t>
              </a:r>
            </a:p>
          </p:txBody>
        </p:sp>
        <p:sp>
          <p:nvSpPr>
            <p:cNvPr id="47" name="Rectangle 47"/>
            <p:cNvSpPr/>
            <p:nvPr/>
          </p:nvSpPr>
          <p:spPr>
            <a:xfrm>
              <a:off x="5619750" y="4800600"/>
              <a:ext cx="5962650" cy="533400"/>
            </a:xfrm>
            <a:prstGeom prst="roundRect">
              <a:avLst>
                <a:gd name="adj" fmla="val 21429"/>
              </a:avLst>
            </a:prstGeom>
            <a:solidFill>
              <a:schemeClr val="accent6"/>
            </a:solidFill>
            <a:ln w="14288">
              <a:solidFill>
                <a:srgbClr val="26455F"/>
              </a:solidFill>
            </a:ln>
          </p:spPr>
        </p:sp>
        <p:sp>
          <p:nvSpPr>
            <p:cNvPr id="48" name="TextBox 48"/>
            <p:cNvSpPr txBox="1"/>
            <p:nvPr/>
          </p:nvSpPr>
          <p:spPr>
            <a:xfrm>
              <a:off x="5843206" y="5015151"/>
              <a:ext cx="5311535"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Millions of higher-degree hyperedges leave the bound completely unchanged.</a:t>
              </a:r>
            </a:p>
          </p:txBody>
        </p:sp>
      </p:grpSp>
      <p:sp>
        <p:nvSpPr>
          <p:cNvPr id="50" name="TextBox 50"/>
          <p:cNvSpPr txBox="1"/>
          <p:nvPr/>
        </p:nvSpPr>
        <p:spPr>
          <a:xfrm>
            <a:off x="604647" y="5628799"/>
            <a:ext cx="6469931"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Certified-robustness numbers from the paper; optimal lower bound is zero in every row above.</a:t>
            </a:r>
          </a:p>
        </p:txBody>
      </p:sp>
      <p:sp>
        <p:nvSpPr>
          <p:cNvPr id="51" name="cue_s09_c1_numbers_make_gap_concrete_3" title="cue_s09_c1_numbers_make_gap_concrete_3" descr="cue_s09_c1_numbers_make_gap_concrete_3 The numbers make the gap concrete. On 3-class CIFAR-10, adversarial training plateaus near 0.6 loss at a budget where the optimal loss is essentially zero."/>
          <p:cNvSpPr/>
          <p:nvPr/>
        </p:nvSpPr>
        <p:spPr>
          <a:xfrm>
            <a:off x="609600" y="1543050"/>
            <a:ext cx="10972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9_c2_state_of_the_art_certifiably_robust" title="cue_s09_c2_state_of_the_art_certifiably_robust" descr="cue_s09_c2_state_of_the_art_certifiably_robust State-of-the-art certifiably robust models fare no better against the optimum: the best MNIST model has 0-1 loss of 0.27 at budget one-point-five-two and 0.44 at budget two, while the achievable optimal lower bound is zero in both cases."/>
          <p:cNvSpPr/>
          <p:nvPr/>
        </p:nvSpPr>
        <p:spPr>
          <a:xfrm>
            <a:off x="609600" y="2838526"/>
            <a:ext cx="5334000" cy="13146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9_c3_cifar_10_best_certified_reaches_0_6" title="cue_s09_c3_cifar_10_best_certified_reaches_0_6" descr="cue_s09_c3_cifar_10_best_certified_reaches_0_6 On CIFAR-10, the best certified model reaches 0.6 loss at budget one and 0.8 at budget two, again against an optimal lower bound of zero."/>
          <p:cNvSpPr/>
          <p:nvPr/>
        </p:nvSpPr>
        <p:spPr>
          <a:xfrm>
            <a:off x="6248399" y="2838526"/>
            <a:ext cx="5334000" cy="13146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9_c4_structural_side_millions_higher_degr" title="cue_s09_c4_structural_side_millions_higher_degr" descr="cue_s09_c4_structural_side_millions_higher_degr And on the structural side, millions of higher-degree hyperedges, three million of degree three and ten million of degree four at budget three, leave the bound completely unchanged."/>
          <p:cNvSpPr/>
          <p:nvPr/>
        </p:nvSpPr>
        <p:spPr>
          <a:xfrm>
            <a:off x="609600" y="4305452"/>
            <a:ext cx="10972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614037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 measurable gap, and a tool to close it</a:t>
            </a:r>
          </a:p>
        </p:txBody>
      </p:sp>
      <p:grpSp>
        <p:nvGrpSpPr>
          <p:cNvPr id="11" name="Group 11"/>
          <p:cNvGrpSpPr/>
          <p:nvPr/>
        </p:nvGrpSpPr>
        <p:grpSpPr>
          <a:xfrm>
            <a:off x="609600" y="1676400"/>
            <a:ext cx="10972800" cy="1104900"/>
            <a:chOff x="609600" y="1676400"/>
            <a:chExt cx="10972800" cy="1104900"/>
          </a:xfrm>
        </p:grpSpPr>
        <p:sp>
          <p:nvSpPr>
            <p:cNvPr id="5" name="Rectangle 5"/>
            <p:cNvSpPr/>
            <p:nvPr/>
          </p:nvSpPr>
          <p:spPr>
            <a:xfrm>
              <a:off x="609600" y="1676400"/>
              <a:ext cx="10972800" cy="1104900"/>
            </a:xfrm>
            <a:prstGeom prst="roundRect">
              <a:avLst>
                <a:gd name="adj" fmla="val 12069"/>
              </a:avLst>
            </a:prstGeom>
            <a:solidFill>
              <a:schemeClr val="accent5"/>
            </a:solidFill>
            <a:ln w="14288">
              <a:solidFill>
                <a:srgbClr val="26455F"/>
              </a:solidFill>
            </a:ln>
          </p:spPr>
        </p:sp>
        <p:sp>
          <p:nvSpPr>
            <p:cNvPr id="6" name="Rectangle 6"/>
            <p:cNvSpPr/>
            <p:nvPr/>
          </p:nvSpPr>
          <p:spPr>
            <a:xfrm>
              <a:off x="609600" y="1676400"/>
              <a:ext cx="57150" cy="1104900"/>
            </a:xfrm>
            <a:prstGeom prst="roundRect">
              <a:avLst>
                <a:gd name="adj" fmla="val 50000"/>
              </a:avLst>
            </a:prstGeom>
            <a:solidFill>
              <a:srgbClr val="F2685C"/>
            </a:solidFill>
            <a:ln>
              <a:noFill/>
            </a:ln>
          </p:spPr>
        </p:sp>
        <p:sp>
          <p:nvSpPr>
            <p:cNvPr id="7" name="Ellipse 7"/>
            <p:cNvSpPr/>
            <p:nvPr/>
          </p:nvSpPr>
          <p:spPr>
            <a:xfrm>
              <a:off x="971550" y="2133600"/>
              <a:ext cx="190500" cy="190500"/>
            </a:xfrm>
            <a:prstGeom prst="ellipse">
              <a:avLst/>
            </a:prstGeom>
            <a:solidFill>
              <a:srgbClr val="F2685C"/>
            </a:solidFill>
            <a:ln>
              <a:noFill/>
            </a:ln>
          </p:spPr>
        </p:sp>
        <p:sp>
          <p:nvSpPr>
            <p:cNvPr id="8" name="TextBox 8"/>
            <p:cNvSpPr txBox="1"/>
            <p:nvPr/>
          </p:nvSpPr>
          <p:spPr>
            <a:xfrm>
              <a:off x="1421511" y="1960721"/>
              <a:ext cx="351379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gap is large and now measurable</a:t>
              </a:r>
            </a:p>
          </p:txBody>
        </p:sp>
        <p:sp>
          <p:nvSpPr>
            <p:cNvPr id="9" name="TextBox 9"/>
            <p:cNvSpPr txBox="1"/>
            <p:nvPr/>
          </p:nvSpPr>
          <p:spPr>
            <a:xfrm>
              <a:off x="1422844" y="2293858"/>
              <a:ext cx="6880188"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Multi-class robust classification has a large, now-quantifiable gap between what current</a:t>
              </a:r>
            </a:p>
          </p:txBody>
        </p:sp>
        <p:sp>
          <p:nvSpPr>
            <p:cNvPr id="10" name="TextBox 10"/>
            <p:cNvSpPr txBox="1"/>
            <p:nvPr/>
          </p:nvSpPr>
          <p:spPr>
            <a:xfrm>
              <a:off x="1422844" y="2522458"/>
              <a:ext cx="668761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defenses achieve and what is theoretically possible, far worse than in the binary case.</a:t>
              </a:r>
            </a:p>
          </p:txBody>
        </p:sp>
      </p:grpSp>
      <p:grpSp>
        <p:nvGrpSpPr>
          <p:cNvPr id="18" name="Group 18"/>
          <p:cNvGrpSpPr/>
          <p:nvPr/>
        </p:nvGrpSpPr>
        <p:grpSpPr>
          <a:xfrm>
            <a:off x="609600" y="2933700"/>
            <a:ext cx="10972800" cy="1104900"/>
            <a:chOff x="609600" y="2933700"/>
            <a:chExt cx="10972800" cy="1104900"/>
          </a:xfrm>
        </p:grpSpPr>
        <p:sp>
          <p:nvSpPr>
            <p:cNvPr id="12" name="Rectangle 12"/>
            <p:cNvSpPr/>
            <p:nvPr/>
          </p:nvSpPr>
          <p:spPr>
            <a:xfrm>
              <a:off x="609600" y="2933700"/>
              <a:ext cx="10972800" cy="1104900"/>
            </a:xfrm>
            <a:prstGeom prst="roundRect">
              <a:avLst>
                <a:gd name="adj" fmla="val 12069"/>
              </a:avLst>
            </a:prstGeom>
            <a:solidFill>
              <a:schemeClr val="accent5"/>
            </a:solidFill>
            <a:ln w="14288">
              <a:solidFill>
                <a:srgbClr val="26455F"/>
              </a:solidFill>
            </a:ln>
          </p:spPr>
        </p:sp>
        <p:sp>
          <p:nvSpPr>
            <p:cNvPr id="13" name="Rectangle 13"/>
            <p:cNvSpPr/>
            <p:nvPr/>
          </p:nvSpPr>
          <p:spPr>
            <a:xfrm>
              <a:off x="609600" y="2933700"/>
              <a:ext cx="57150" cy="1104900"/>
            </a:xfrm>
            <a:prstGeom prst="roundRect">
              <a:avLst>
                <a:gd name="adj" fmla="val 50000"/>
              </a:avLst>
            </a:prstGeom>
            <a:solidFill>
              <a:srgbClr val="34D3C0"/>
            </a:solidFill>
            <a:ln>
              <a:noFill/>
            </a:ln>
          </p:spPr>
        </p:sp>
        <p:sp>
          <p:nvSpPr>
            <p:cNvPr id="14" name="Ellipse 14"/>
            <p:cNvSpPr/>
            <p:nvPr/>
          </p:nvSpPr>
          <p:spPr>
            <a:xfrm>
              <a:off x="971550" y="3390900"/>
              <a:ext cx="190500" cy="190500"/>
            </a:xfrm>
            <a:prstGeom prst="ellipse">
              <a:avLst/>
            </a:prstGeom>
            <a:solidFill>
              <a:srgbClr val="34D3C0"/>
            </a:solidFill>
            <a:ln>
              <a:noFill/>
            </a:ln>
          </p:spPr>
        </p:sp>
        <p:sp>
          <p:nvSpPr>
            <p:cNvPr id="15" name="TextBox 15"/>
            <p:cNvSpPr txBox="1"/>
            <p:nvPr/>
          </p:nvSpPr>
          <p:spPr>
            <a:xfrm>
              <a:off x="1421511" y="3218021"/>
              <a:ext cx="397541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 computable optimum with cheap bounds</a:t>
              </a:r>
            </a:p>
          </p:txBody>
        </p:sp>
        <p:sp>
          <p:nvSpPr>
            <p:cNvPr id="16" name="TextBox 16"/>
            <p:cNvSpPr txBox="1"/>
            <p:nvPr/>
          </p:nvSpPr>
          <p:spPr>
            <a:xfrm>
              <a:off x="1422844" y="3551158"/>
              <a:ext cx="6989878"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conflict-hypergraph framework computes the optimal 0-1 loss as a linear program, and</a:t>
              </a:r>
            </a:p>
          </p:txBody>
        </p:sp>
        <p:sp>
          <p:nvSpPr>
            <p:cNvPr id="17" name="TextBox 17"/>
            <p:cNvSpPr txBox="1"/>
            <p:nvPr/>
          </p:nvSpPr>
          <p:spPr>
            <a:xfrm>
              <a:off x="1422844" y="3779758"/>
              <a:ext cx="721075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edge-only truncated bounds pin that optimum down tightly in the practical low-budget regime.</a:t>
              </a:r>
            </a:p>
          </p:txBody>
        </p:sp>
      </p:grpSp>
      <p:grpSp>
        <p:nvGrpSpPr>
          <p:cNvPr id="26" name="Group 26"/>
          <p:cNvGrpSpPr/>
          <p:nvPr/>
        </p:nvGrpSpPr>
        <p:grpSpPr>
          <a:xfrm>
            <a:off x="609600" y="4191000"/>
            <a:ext cx="10972800" cy="1302020"/>
            <a:chOff x="609600" y="4191000"/>
            <a:chExt cx="10972800" cy="1302020"/>
          </a:xfrm>
        </p:grpSpPr>
        <p:sp>
          <p:nvSpPr>
            <p:cNvPr id="19" name="Rectangle 19"/>
            <p:cNvSpPr/>
            <p:nvPr/>
          </p:nvSpPr>
          <p:spPr>
            <a:xfrm>
              <a:off x="609600" y="4191000"/>
              <a:ext cx="10972800" cy="1104900"/>
            </a:xfrm>
            <a:prstGeom prst="roundRect">
              <a:avLst>
                <a:gd name="adj" fmla="val 12069"/>
              </a:avLst>
            </a:prstGeom>
            <a:solidFill>
              <a:schemeClr val="accent5"/>
            </a:solidFill>
            <a:ln w="14288">
              <a:solidFill>
                <a:srgbClr val="26455F"/>
              </a:solidFill>
            </a:ln>
          </p:spPr>
        </p:sp>
        <p:sp>
          <p:nvSpPr>
            <p:cNvPr id="20" name="Rectangle 20"/>
            <p:cNvSpPr/>
            <p:nvPr/>
          </p:nvSpPr>
          <p:spPr>
            <a:xfrm>
              <a:off x="609600" y="4191000"/>
              <a:ext cx="57150" cy="1104900"/>
            </a:xfrm>
            <a:prstGeom prst="roundRect">
              <a:avLst>
                <a:gd name="adj" fmla="val 50000"/>
              </a:avLst>
            </a:prstGeom>
            <a:solidFill>
              <a:srgbClr val="48C78E"/>
            </a:solidFill>
            <a:ln>
              <a:noFill/>
            </a:ln>
          </p:spPr>
        </p:sp>
        <p:sp>
          <p:nvSpPr>
            <p:cNvPr id="21" name="Ellipse 21"/>
            <p:cNvSpPr/>
            <p:nvPr/>
          </p:nvSpPr>
          <p:spPr>
            <a:xfrm>
              <a:off x="971550" y="4648200"/>
              <a:ext cx="190500" cy="190500"/>
            </a:xfrm>
            <a:prstGeom prst="ellipse">
              <a:avLst/>
            </a:prstGeom>
            <a:solidFill>
              <a:srgbClr val="48C78E"/>
            </a:solidFill>
            <a:ln>
              <a:noFill/>
            </a:ln>
          </p:spPr>
        </p:sp>
        <p:sp>
          <p:nvSpPr>
            <p:cNvPr id="22" name="TextBox 22"/>
            <p:cNvSpPr txBox="1"/>
            <p:nvPr/>
          </p:nvSpPr>
          <p:spPr>
            <a:xfrm>
              <a:off x="1421511" y="4475321"/>
              <a:ext cx="3754444"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 fast diagnostic for future defenses</a:t>
              </a:r>
            </a:p>
          </p:txBody>
        </p:sp>
        <p:sp>
          <p:nvSpPr>
            <p:cNvPr id="23" name="TextBox 23"/>
            <p:cNvSpPr txBox="1"/>
            <p:nvPr/>
          </p:nvSpPr>
          <p:spPr>
            <a:xfrm>
              <a:off x="1422844" y="4808458"/>
              <a:ext cx="648984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This gives practitioners a fast tool to see how much robustness is still on the table,</a:t>
              </a:r>
            </a:p>
          </p:txBody>
        </p:sp>
        <p:sp>
          <p:nvSpPr>
            <p:cNvPr id="24" name="TextBox 24"/>
            <p:cNvSpPr txBox="1"/>
            <p:nvPr/>
          </p:nvSpPr>
          <p:spPr>
            <a:xfrm>
              <a:off x="1422844" y="5037058"/>
              <a:ext cx="6515842"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pointing research toward closing the gap rather than endlessly iterating attacks and</a:t>
              </a:r>
            </a:p>
          </p:txBody>
        </p:sp>
        <p:sp>
          <p:nvSpPr>
            <p:cNvPr id="25" name="TextBox 25"/>
            <p:cNvSpPr txBox="1"/>
            <p:nvPr/>
          </p:nvSpPr>
          <p:spPr>
            <a:xfrm>
              <a:off x="1422844" y="5265658"/>
              <a:ext cx="78479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defenses.</a:t>
              </a:r>
            </a:p>
          </p:txBody>
        </p:sp>
      </p:grpSp>
      <p:sp>
        <p:nvSpPr>
          <p:cNvPr id="27" name="Line 27"/>
          <p:cNvSpPr/>
          <p:nvPr/>
        </p:nvSpPr>
        <p:spPr>
          <a:xfrm>
            <a:off x="609600" y="56769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28" name="TextBox 28"/>
          <p:cNvSpPr txBox="1"/>
          <p:nvPr/>
        </p:nvSpPr>
        <p:spPr>
          <a:xfrm>
            <a:off x="603694" y="5894308"/>
            <a:ext cx="7527694"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Characterizing the Optimal 0-1 Loss for Multi-class Classification with a Test-time Attacker</a:t>
            </a:r>
          </a:p>
        </p:txBody>
      </p:sp>
      <p:sp>
        <p:nvSpPr>
          <p:cNvPr id="29" name="TextBox 29"/>
          <p:cNvSpPr txBox="1"/>
          <p:nvPr/>
        </p:nvSpPr>
        <p:spPr>
          <a:xfrm>
            <a:off x="604456" y="6177201"/>
            <a:ext cx="6615909"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NeurIPS 2023 · Dai et al. · arXiv:2302.10722 · github.com/inspire-group/multiclass_robust_lb</a:t>
            </a:r>
          </a:p>
        </p:txBody>
      </p:sp>
      <p:sp>
        <p:nvSpPr>
          <p:cNvPr id="30" name="cue_s10_c1_takeaway_multi_class_robust_classifi" title="cue_s10_c1_takeaway_multi_class_robust_classifi" descr="cue_s10_c1_takeaway_multi_class_robust_classifi The takeaway is that multi-class robust classification has a large and now-measurable gap between what current defenses achieve and what is theoretically possible, a gap that is far worse than in the binary case."/>
          <p:cNvSpPr/>
          <p:nvPr/>
        </p:nvSpPr>
        <p:spPr>
          <a:xfrm>
            <a:off x="609600" y="1676095"/>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ue_s10_c2_conflict_hypergraph_framework_comput" title="cue_s10_c2_conflict_hypergraph_framework_comput" descr="cue_s10_c2_conflict_hypergraph_framework_comput The paper's conflict-hypergraph framework computes the optimal 0-1 loss as a linear program, and its efficient truncated bounds pin that optimum down tightly using only edges in the practical low-budget regime."/>
          <p:cNvSpPr/>
          <p:nvPr/>
        </p:nvSpPr>
        <p:spPr>
          <a:xfrm>
            <a:off x="609600" y="2933852"/>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ue_s10_c3_gives_practitioners_fast_diagnostic" title="cue_s10_c3_gives_practitioners_fast_diagnostic" descr="cue_s10_c3_gives_practitioners_fast_diagnostic This gives practitioners a fast diagnostic tool to see how much robustness is still on the table, and it points future research toward closing the gap rather than endlessly iterating attacks and defenses."/>
          <p:cNvSpPr/>
          <p:nvPr/>
        </p:nvSpPr>
        <p:spPr>
          <a:xfrm>
            <a:off x="609600" y="4190923"/>
            <a:ext cx="10972800" cy="130233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2026-07-16T09:38:11Z</dcterms:created>
  <dcterms:modified xsi:type="dcterms:W3CDTF">2026-07-16T09:38:11Z</dcterms:modified>
  <cp:category/>
  <cp:contentStatus/>
</cp:coreProperties>
</file>
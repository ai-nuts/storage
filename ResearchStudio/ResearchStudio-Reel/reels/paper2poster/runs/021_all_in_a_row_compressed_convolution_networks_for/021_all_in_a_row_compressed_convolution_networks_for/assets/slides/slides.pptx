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cn_video_ppt16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cn_video_ppt16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e45de6049b51ce5.png"/><Relationship Id="rId3" Type="http://schemas.openxmlformats.org/officeDocument/2006/relationships/image" Target="../media/image_f8230399021bfa7e.png"/><Relationship Id="rId4" Type="http://schemas.openxmlformats.org/officeDocument/2006/relationships/image" Target="../media/image_6277bd9057077f29.png"/><Relationship Id="rId5" Type="http://schemas.openxmlformats.org/officeDocument/2006/relationships/image" Target="../media/image_c5b0c51cc647d4e2.png"/><Relationship Id="rId6" Type="http://schemas.openxmlformats.org/officeDocument/2006/relationships/image" Target="../media/image_706d9d3e56e4e66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9d76b31fb31b753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4647" y="628650"/>
            <a:ext cx="2866313" cy="447389"/>
            <a:chOff x="604647" y="628650"/>
            <a:chExt cx="2866313" cy="447389"/>
          </a:xfrm>
        </p:grpSpPr>
        <p:sp>
          <p:nvSpPr>
            <p:cNvPr id="5" name="Rectangle 5"/>
            <p:cNvSpPr/>
            <p:nvPr/>
          </p:nvSpPr>
          <p:spPr>
            <a:xfrm>
              <a:off x="609600" y="628650"/>
              <a:ext cx="609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4647" y="885349"/>
              <a:ext cx="2866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PAPER · DEEP READ · ICML 2023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1283018"/>
            <a:ext cx="6257218" cy="1469421"/>
            <a:chOff x="590550" y="1283018"/>
            <a:chExt cx="6257218" cy="1469421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1283018"/>
              <a:ext cx="364537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All in a Row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1939290"/>
              <a:ext cx="57780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i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Compressed Convolution Networks for Graphs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336006"/>
              <a:ext cx="5066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Junshu Sun · Shuhui Wang · Xinzhe Han · Zhe Xue · Qingming Huang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4647" y="2561749"/>
              <a:ext cx="62431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Institute of Computing Technology, Chinese Academy of Sciences · UCAS · Peng Cheng Laboratory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971800"/>
            <a:ext cx="5829300" cy="914400"/>
            <a:chOff x="609600" y="2971800"/>
            <a:chExt cx="5829300" cy="914400"/>
          </a:xfrm>
        </p:grpSpPr>
        <p:sp>
          <p:nvSpPr>
            <p:cNvPr id="13" name="Rectangle 13"/>
            <p:cNvSpPr/>
            <p:nvPr/>
          </p:nvSpPr>
          <p:spPr>
            <a:xfrm>
              <a:off x="609600" y="2971800"/>
              <a:ext cx="5829300" cy="914400"/>
            </a:xfrm>
            <a:prstGeom prst="roundRect">
              <a:avLst>
                <a:gd name="adj" fmla="val 1041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09600" y="29718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247" y="3171349"/>
              <a:ext cx="113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3381375"/>
              <a:ext cx="4725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Euclidean convolution — directly on graphs?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3650456"/>
              <a:ext cx="5090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Can we run standard, CNN-style convolution on irregular graph data?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4000500"/>
            <a:ext cx="5908526" cy="1009650"/>
            <a:chOff x="609600" y="4000500"/>
            <a:chExt cx="5908526" cy="1009650"/>
          </a:xfrm>
        </p:grpSpPr>
        <p:sp>
          <p:nvSpPr>
            <p:cNvPr id="19" name="Rectangle 19"/>
            <p:cNvSpPr/>
            <p:nvPr/>
          </p:nvSpPr>
          <p:spPr>
            <a:xfrm>
              <a:off x="609600" y="4000500"/>
              <a:ext cx="5829300" cy="1009650"/>
            </a:xfrm>
            <a:prstGeom prst="roundRect">
              <a:avLst>
                <a:gd name="adj" fmla="val 9434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09600" y="4000500"/>
              <a:ext cx="57150" cy="1009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247" y="4200049"/>
              <a:ext cx="6922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IDEA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410075"/>
              <a:ext cx="3883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Learn a differentiable permutation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485" y="4679156"/>
              <a:ext cx="5685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Line all nodes up in a single row, then slide a convolution kernel across them.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124450"/>
            <a:ext cx="6792293" cy="914400"/>
            <a:chOff x="609600" y="5124450"/>
            <a:chExt cx="6792293" cy="914400"/>
          </a:xfrm>
        </p:grpSpPr>
        <p:sp>
          <p:nvSpPr>
            <p:cNvPr id="25" name="Rectangle 25"/>
            <p:cNvSpPr/>
            <p:nvPr/>
          </p:nvSpPr>
          <p:spPr>
            <a:xfrm>
              <a:off x="609600" y="5124450"/>
              <a:ext cx="5829300" cy="914400"/>
            </a:xfrm>
            <a:prstGeom prst="roundRect">
              <a:avLst>
                <a:gd name="adj" fmla="val 10417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6" name="Rectangle 26"/>
            <p:cNvSpPr/>
            <p:nvPr/>
          </p:nvSpPr>
          <p:spPr>
            <a:xfrm>
              <a:off x="609600" y="51244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3247" y="5323999"/>
              <a:ext cx="9217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RESULT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818" y="5536882"/>
              <a:ext cx="65720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CoCN — state of the art on node &amp; graph classification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866" y="5811202"/>
              <a:ext cx="4305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Learned end to end, from a provably convergent permutation.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03951" y="914400"/>
            <a:ext cx="4937248" cy="4324350"/>
            <a:chOff x="6703951" y="914400"/>
            <a:chExt cx="4937248" cy="4324350"/>
          </a:xfrm>
        </p:grpSpPr>
        <p:sp>
          <p:nvSpPr>
            <p:cNvPr id="31" name="Rectangle 31"/>
            <p:cNvSpPr/>
            <p:nvPr/>
          </p:nvSpPr>
          <p:spPr>
            <a:xfrm>
              <a:off x="6762750" y="914400"/>
              <a:ext cx="4819650" cy="4324350"/>
            </a:xfrm>
            <a:prstGeom prst="roundRect">
              <a:avLst>
                <a:gd name="adj" fmla="val 2643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6525" y="1047750"/>
              <a:ext cx="3112100" cy="38481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6703951" y="5000149"/>
              <a:ext cx="4937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Compressed Convolution Network — diagonal convolution over permuted nodes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62750" y="5391150"/>
            <a:ext cx="4819650" cy="857250"/>
            <a:chOff x="6762750" y="5391150"/>
            <a:chExt cx="4819650" cy="857250"/>
          </a:xfrm>
        </p:grpSpPr>
        <p:sp>
          <p:nvSpPr>
            <p:cNvPr id="35" name="Rectangle 35"/>
            <p:cNvSpPr/>
            <p:nvPr/>
          </p:nvSpPr>
          <p:spPr>
            <a:xfrm>
              <a:off x="6762750" y="5391150"/>
              <a:ext cx="1428750" cy="8572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7050" y="5505450"/>
              <a:ext cx="628650" cy="6286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7596188" y="5617845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96188" y="57973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github.com/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96188" y="5930741"/>
              <a:ext cx="6606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sunjss/CoCN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24850" y="5391150"/>
              <a:ext cx="3257550" cy="85725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77250" y="5554759"/>
              <a:ext cx="590550" cy="530032"/>
            </a:xfrm>
            <a:prstGeom prst="rect">
              <a:avLst/>
            </a:prstGeom>
          </p:spPr>
        </p:pic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58300" y="5719409"/>
              <a:ext cx="1047750" cy="219781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06100" y="5524500"/>
              <a:ext cx="590550" cy="590550"/>
            </a:xfrm>
            <a:prstGeom prst="rect">
              <a:avLst/>
            </a:prstGeom>
          </p:spPr>
        </p:pic>
      </p:grpSp>
      <p:sp>
        <p:nvSpPr>
          <p:cNvPr id="45" name="TextBox 45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10</a:t>
            </a:r>
          </a:p>
        </p:txBody>
      </p:sp>
      <p:sp>
        <p:nvSpPr>
          <p:cNvPr id="46" name="cue_s01_c1_all_row_compressed_convolution_netwo" title="cue_s01_c1_all_row_compressed_convolution_netwo" descr="cue_s01_c1_all_row_compressed_convolution_netwo This is All in a Row: Compressed Convolution Networks for Graphs, an ICML 2023 paper from the Chinese Academy of Sciences."/>
          <p:cNvSpPr/>
          <p:nvPr/>
        </p:nvSpPr>
        <p:spPr>
          <a:xfrm>
            <a:off x="590092" y="1283131"/>
            <a:ext cx="6256934" cy="146966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1_c2_run_standard_cnn_style_euclidean_con" title="cue_s01_c2_run_standard_cnn_style_euclidean_con" descr="cue_s01_c2_run_standard_cnn_style_euclidean_con Can we run standard, CNN-style Euclidean convolution directly on graphs?"/>
          <p:cNvSpPr/>
          <p:nvPr/>
        </p:nvSpPr>
        <p:spPr>
          <a:xfrm>
            <a:off x="609600" y="2971571"/>
            <a:ext cx="5828995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01_c3_yes_learn_differentiable_permutation" title="cue_s01_c3_yes_learn_differentiable_permutation" descr="cue_s01_c3_yes_learn_differentiable_permutation Yes: learn a differentiable permutation that lines nodes in a row, then slide a kernel across them."/>
          <p:cNvSpPr/>
          <p:nvPr/>
        </p:nvSpPr>
        <p:spPr>
          <a:xfrm>
            <a:off x="609600" y="4000271"/>
            <a:ext cx="5908243" cy="10094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ue_s01_c4_cocn_sets_state_art" title="cue_s01_c4_cocn_sets_state_art" descr="cue_s01_c4_cocn_sets_state_art The model, CoCN, sets state of the art."/>
          <p:cNvSpPr/>
          <p:nvPr/>
        </p:nvSpPr>
        <p:spPr>
          <a:xfrm>
            <a:off x="609600" y="5124297"/>
            <a:ext cx="5828995" cy="9141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9665589" cy="675989"/>
            <a:chOff x="609600" y="533400"/>
            <a:chExt cx="9665589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94499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Convolutional GNNs have two stubborn weaknesses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5034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PROBLEM · WHY GRAPH CONVOLUTION LAGS ORDINARY CNNs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428750"/>
            <a:ext cx="5353050" cy="1428750"/>
            <a:chOff x="609600" y="1428750"/>
            <a:chExt cx="5353050" cy="14287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57250" y="16954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97572" y="18097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39799" y="1658779"/>
              <a:ext cx="26426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Weak on a small budget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2085" y="1993106"/>
              <a:ext cx="3446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Their filters are built from graph polynomials,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2085" y="2202656"/>
              <a:ext cx="279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 expressiveness stays low when the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42085" y="241220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 budget is small.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29350" y="1428750"/>
            <a:ext cx="5353050" cy="1428750"/>
            <a:chOff x="6229350" y="1428750"/>
            <a:chExt cx="5353050" cy="1428750"/>
          </a:xfrm>
        </p:grpSpPr>
        <p:sp>
          <p:nvSpPr>
            <p:cNvPr id="15" name="Rectangle 15"/>
            <p:cNvSpPr/>
            <p:nvPr/>
          </p:nvSpPr>
          <p:spPr>
            <a:xfrm>
              <a:off x="6229350" y="142875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6229350" y="14287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77000" y="16954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322" y="18097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59549" y="1658779"/>
              <a:ext cx="29838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No hierarchy on their own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61835" y="1993106"/>
              <a:ext cx="3197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They cannot learn hierarchical, multi-scale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61835" y="2202656"/>
              <a:ext cx="320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features alone — needing bolt-on tricks like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61835" y="241220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node clustering or node dropping.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028950"/>
            <a:ext cx="5353050" cy="1219200"/>
            <a:chOff x="609600" y="3028950"/>
            <a:chExt cx="5353050" cy="1219200"/>
          </a:xfrm>
        </p:grpSpPr>
        <p:sp>
          <p:nvSpPr>
            <p:cNvPr id="24" name="Rectangle 24"/>
            <p:cNvSpPr/>
            <p:nvPr/>
          </p:nvSpPr>
          <p:spPr>
            <a:xfrm>
              <a:off x="609600" y="3028950"/>
              <a:ext cx="5353050" cy="1219200"/>
            </a:xfrm>
            <a:prstGeom prst="roundRect">
              <a:avLst>
                <a:gd name="adj" fmla="val 7812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609600" y="30289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47" y="3228499"/>
              <a:ext cx="25010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IMAGE CNNs — NO SUCH PROBLEM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580" y="3438525"/>
              <a:ext cx="33581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Local learning + shared filters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485" y="3745706"/>
              <a:ext cx="3076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Ordinary CNNs naturally capture diverse,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2485" y="39552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multi-scale patterns from images.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3028950"/>
            <a:ext cx="5353050" cy="1219200"/>
            <a:chOff x="6229350" y="3028950"/>
            <a:chExt cx="5353050" cy="1219200"/>
          </a:xfrm>
        </p:grpSpPr>
        <p:sp>
          <p:nvSpPr>
            <p:cNvPr id="31" name="Rectangle 31"/>
            <p:cNvSpPr/>
            <p:nvPr/>
          </p:nvSpPr>
          <p:spPr>
            <a:xfrm>
              <a:off x="6229350" y="3028950"/>
              <a:ext cx="5353050" cy="1219200"/>
            </a:xfrm>
            <a:prstGeom prst="roundRect">
              <a:avLst>
                <a:gd name="adj" fmla="val 781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6229350" y="30289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52997" y="3228499"/>
              <a:ext cx="80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CATCH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3438525"/>
              <a:ext cx="3726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Euclidean convolution needs a grid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2235" y="3745706"/>
              <a:ext cx="3401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It assumes regular grid data — and simply does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2235" y="3955256"/>
              <a:ext cx="3200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not fit the irregular structure of a graph.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4476750"/>
            <a:ext cx="10972800" cy="819150"/>
            <a:chOff x="609600" y="4476750"/>
            <a:chExt cx="10972800" cy="819150"/>
          </a:xfrm>
        </p:grpSpPr>
        <p:sp>
          <p:nvSpPr>
            <p:cNvPr id="38" name="Rectangle 38"/>
            <p:cNvSpPr/>
            <p:nvPr/>
          </p:nvSpPr>
          <p:spPr>
            <a:xfrm>
              <a:off x="609600" y="4476750"/>
              <a:ext cx="10972800" cy="819150"/>
            </a:xfrm>
            <a:prstGeom prst="roundRect">
              <a:avLst>
                <a:gd name="adj" fmla="val 11628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161" y="4684871"/>
              <a:ext cx="926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gap: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84604" y="4709160"/>
              <a:ext cx="8105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GNNs are expressive-limited and flat; CNNs are powerful but grid-bound. Can we get the best of both?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9066" y="4992052"/>
              <a:ext cx="6949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Local feature learning · shared filters · multi-scale hierarchy — the CNN toolkit graphs are missing.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 / 10</a:t>
            </a:r>
          </a:p>
        </p:txBody>
      </p:sp>
      <p:sp>
        <p:nvSpPr>
          <p:cNvPr id="44" name="cue_s02_c1_convolutional_graph_networks_two_wea" title="cue_s02_c1_convolutional_graph_networks_two_wea" descr="cue_s02_c1_convolutional_graph_networks_two_wea Convolutional graph networks have two weaknesses. Because their filters come from graph polynomials, they lack expressiveness on a small parameter budget."/>
          <p:cNvSpPr/>
          <p:nvPr/>
        </p:nvSpPr>
        <p:spPr>
          <a:xfrm>
            <a:off x="609600" y="1428521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ue_s02_c2_they_cannot_learn_hierarchical_multi" title="cue_s02_c2_they_cannot_learn_hierarchical_multi" descr="cue_s02_c2_they_cannot_learn_hierarchical_multi And they cannot learn hierarchical, multi-scale features alone, needing bolt-on tricks like clustering or node dropping."/>
          <p:cNvSpPr/>
          <p:nvPr/>
        </p:nvSpPr>
        <p:spPr>
          <a:xfrm>
            <a:off x="6228892" y="1428521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02_c3_image_cnns_neither_problem_local" title="cue_s02_c3_image_cnns_neither_problem_local" descr="cue_s02_c3_image_cnns_neither_problem_local Image CNNs have neither problem: local learning and shared filters naturally capture multi-scale patterns."/>
          <p:cNvSpPr/>
          <p:nvPr/>
        </p:nvSpPr>
        <p:spPr>
          <a:xfrm>
            <a:off x="609600" y="3029178"/>
            <a:ext cx="5353507" cy="12193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02_c4_but_their_euclidean_convolution_assu" title="cue_s02_c4_but_their_euclidean_convolution_assu" descr="cue_s02_c4_but_their_euclidean_convolution_assu But their Euclidean convolution assumes a regular grid, and does not fit irregular graphs."/>
          <p:cNvSpPr/>
          <p:nvPr/>
        </p:nvSpPr>
        <p:spPr>
          <a:xfrm>
            <a:off x="6228892" y="3029178"/>
            <a:ext cx="5353507" cy="121935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8306115" cy="675989"/>
            <a:chOff x="609600" y="533400"/>
            <a:chExt cx="8306115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80904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fundamental tension: order vs invariance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4320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MOTIVATION · WHY BORROWING CONVOLUTION IS HARD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428750"/>
            <a:ext cx="10972800" cy="767334"/>
            <a:chOff x="609600" y="1428750"/>
            <a:chExt cx="10972800" cy="767334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7620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647349"/>
              <a:ext cx="1136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QUESTION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1844040"/>
              <a:ext cx="76007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So why not just borrow Euclidean convolution for graphs?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2362200"/>
            <a:ext cx="5353050" cy="1428750"/>
            <a:chOff x="609600" y="2362200"/>
            <a:chExt cx="5353050" cy="1428750"/>
          </a:xfrm>
        </p:grpSpPr>
        <p:sp>
          <p:nvSpPr>
            <p:cNvPr id="11" name="Rectangle 11"/>
            <p:cNvSpPr/>
            <p:nvPr/>
          </p:nvSpPr>
          <p:spPr>
            <a:xfrm>
              <a:off x="609600" y="236220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609600" y="23622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247" y="2561749"/>
              <a:ext cx="80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THE CLASH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961" y="2779871"/>
              <a:ext cx="3030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Order-sensitive vs invariant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85" y="3078956"/>
              <a:ext cx="3265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Convolution is sensitive to spatial order — it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3288506"/>
              <a:ext cx="3100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cares how inputs are arranged. But 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349805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networks must be permutation invariant.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29350" y="2362200"/>
            <a:ext cx="5353050" cy="1428750"/>
            <a:chOff x="6229350" y="2362200"/>
            <a:chExt cx="5353050" cy="1428750"/>
          </a:xfrm>
        </p:grpSpPr>
        <p:sp>
          <p:nvSpPr>
            <p:cNvPr id="19" name="Rectangle 19"/>
            <p:cNvSpPr/>
            <p:nvPr/>
          </p:nvSpPr>
          <p:spPr>
            <a:xfrm>
              <a:off x="6229350" y="2362200"/>
              <a:ext cx="5353050" cy="1428750"/>
            </a:xfrm>
            <a:prstGeom prst="roundRect">
              <a:avLst>
                <a:gd name="adj" fmla="val 666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6229350" y="23622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2997" y="2561749"/>
              <a:ext cx="2271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PRIOR ATTEMPTS FELL SHORT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711" y="2779871"/>
              <a:ext cx="292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Ordering chosen in isolation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2235" y="3078956"/>
              <a:ext cx="2858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Earlier methods picked a node ordering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52235" y="3288506"/>
              <a:ext cx="3283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independently of the convolution — untunable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2235" y="3498056"/>
              <a:ext cx="3871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the task, and often throwing away information.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3962400"/>
            <a:ext cx="10972800" cy="1333500"/>
            <a:chOff x="609600" y="3962400"/>
            <a:chExt cx="109728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609600" y="3962400"/>
              <a:ext cx="10972800" cy="1333500"/>
            </a:xfrm>
            <a:prstGeom prst="roundRect">
              <a:avLst>
                <a:gd name="adj" fmla="val 7143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609600" y="39624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447" y="4219099"/>
              <a:ext cx="1479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MISSING PIECE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4494" y="4456748"/>
              <a:ext cx="83424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An ordering that is differentiable — and learned end to end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04" y="4842510"/>
              <a:ext cx="7133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Tune the node arrangement for the actual task, jointly with the convolution that follows.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10</a:t>
            </a:r>
          </a:p>
        </p:txBody>
      </p:sp>
      <p:sp>
        <p:nvSpPr>
          <p:cNvPr id="34" name="cue_s03_c1_why_not_borrow_euclidean_convolution" title="cue_s03_c1_why_not_borrow_euclidean_convolution" descr="cue_s03_c1_why_not_borrow_euclidean_convolution So why not borrow Euclidean convolution for graphs?"/>
          <p:cNvSpPr/>
          <p:nvPr/>
        </p:nvSpPr>
        <p:spPr>
          <a:xfrm>
            <a:off x="609600" y="1428521"/>
            <a:ext cx="10972800" cy="76741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e_s03_c2_convolution_sensitive_spatial_order" title="cue_s03_c2_convolution_sensitive_spatial_order" descr="cue_s03_c2_convolution_sensitive_spatial_order Convolution is sensitive to spatial order, but graph networks must be permutation invariant."/>
          <p:cNvSpPr/>
          <p:nvPr/>
        </p:nvSpPr>
        <p:spPr>
          <a:xfrm>
            <a:off x="609600" y="2361895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3_c3_earlier_methods_picked_node_ordering" title="cue_s03_c3_earlier_methods_picked_node_ordering" descr="cue_s03_c3_earlier_methods_picked_node_ordering Earlier methods picked a node ordering independently of the convolution, so it could not be tuned for the task and often lost information."/>
          <p:cNvSpPr/>
          <p:nvPr/>
        </p:nvSpPr>
        <p:spPr>
          <a:xfrm>
            <a:off x="6228892" y="2361895"/>
            <a:ext cx="5353507" cy="142852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3_c4_what_missing_ordering_differentiable" title="cue_s03_c4_what_missing_ordering_differentiable" descr="cue_s03_c4_what_missing_ordering_differentiable What is missing is an ordering that is differentiable and learned end to end."/>
          <p:cNvSpPr/>
          <p:nvPr/>
        </p:nvSpPr>
        <p:spPr>
          <a:xfrm>
            <a:off x="609600" y="3962552"/>
            <a:ext cx="10972800" cy="13331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9143697" cy="675989"/>
            <a:chOff x="609600" y="533400"/>
            <a:chExt cx="9143697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8928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Two contributions: a regularization and a model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3453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CONTRIBUTION · WHAT THE PAPER DELIVERS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428750"/>
            <a:ext cx="10972800" cy="628650"/>
            <a:chOff x="609600" y="1428750"/>
            <a:chExt cx="10972800" cy="6286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018" y="1650682"/>
              <a:ext cx="5075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This paper makes two core contributions.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228850"/>
            <a:ext cx="5353050" cy="2019300"/>
            <a:chOff x="609600" y="2228850"/>
            <a:chExt cx="5353050" cy="2019300"/>
          </a:xfrm>
        </p:grpSpPr>
        <p:sp>
          <p:nvSpPr>
            <p:cNvPr id="10" name="Rectangle 10"/>
            <p:cNvSpPr/>
            <p:nvPr/>
          </p:nvSpPr>
          <p:spPr>
            <a:xfrm>
              <a:off x="609600" y="2228850"/>
              <a:ext cx="5353050" cy="2019300"/>
            </a:xfrm>
            <a:prstGeom prst="roundRect">
              <a:avLst>
                <a:gd name="adj" fmla="val 471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22288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24955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7572" y="26098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2847" y="2542699"/>
              <a:ext cx="2549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DIFFERENTIABLE REGULARIZATION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0180" y="2733675"/>
              <a:ext cx="26404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learnable permutation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3155156"/>
              <a:ext cx="3159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Constrains all nodes into a single row while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3364706"/>
              <a:ext cx="2680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preserving permutation invariance 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485" y="3574256"/>
              <a:ext cx="27978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so Euclidean convolution can finally be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485" y="378380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applied to graph data.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9350" y="2228850"/>
            <a:ext cx="5353050" cy="2019300"/>
            <a:chOff x="6229350" y="2228850"/>
            <a:chExt cx="5353050" cy="2019300"/>
          </a:xfrm>
        </p:grpSpPr>
        <p:sp>
          <p:nvSpPr>
            <p:cNvPr id="21" name="Rectangle 21"/>
            <p:cNvSpPr/>
            <p:nvPr/>
          </p:nvSpPr>
          <p:spPr>
            <a:xfrm>
              <a:off x="6229350" y="2228850"/>
              <a:ext cx="5353050" cy="2019300"/>
            </a:xfrm>
            <a:prstGeom prst="roundRect">
              <a:avLst>
                <a:gd name="adj" fmla="val 4717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6229350" y="2228850"/>
              <a:ext cx="57150" cy="20193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477000" y="249555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322" y="26098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62597" y="2542699"/>
              <a:ext cx="8587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MODEL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9930" y="2733675"/>
              <a:ext cx="3659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Compressed Convolution Network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52235" y="3155156"/>
              <a:ext cx="3371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Built on top of the permutation, CoCN follows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2235" y="3364706"/>
              <a:ext cx="3147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same local-feature-learning and global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2235" y="3574256"/>
              <a:ext cx="33133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parameter-sharing principles as image CNNs.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2235" y="3860006"/>
              <a:ext cx="374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CoCN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419600"/>
            <a:ext cx="10972800" cy="898684"/>
            <a:chOff x="609600" y="4419600"/>
            <a:chExt cx="10972800" cy="898684"/>
          </a:xfrm>
        </p:grpSpPr>
        <p:sp>
          <p:nvSpPr>
            <p:cNvPr id="32" name="Rectangle 32"/>
            <p:cNvSpPr/>
            <p:nvPr/>
          </p:nvSpPr>
          <p:spPr>
            <a:xfrm>
              <a:off x="609600" y="441960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09600" y="4419600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9447" y="4638199"/>
              <a:ext cx="914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END TO END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6399" y="4840129"/>
              <a:ext cx="83056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Learns node features and structure features — trained fully end to end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685" y="5098256"/>
              <a:ext cx="522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Outperforms competitive convolutional GNNs and graph pooling models.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10</a:t>
            </a:r>
          </a:p>
        </p:txBody>
      </p:sp>
      <p:sp>
        <p:nvSpPr>
          <p:cNvPr id="39" name="cue_s04_c1_makes_two_contributions" title="cue_s04_c1_makes_two_contributions" descr="cue_s04_c1_makes_two_contributions The paper makes two contributions."/>
          <p:cNvSpPr/>
          <p:nvPr/>
        </p:nvSpPr>
        <p:spPr>
          <a:xfrm>
            <a:off x="609600" y="1428521"/>
            <a:ext cx="109728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4_c2_first_differentiable_regularization" title="cue_s04_c2_first_differentiable_regularization" descr="cue_s04_c2_first_differentiable_regularization First, a differentiable regularization for graphs: a learnable permutation that lines nodes into a single row while preserving permutation invariance, so Euclidean convolution finally applies."/>
          <p:cNvSpPr/>
          <p:nvPr/>
        </p:nvSpPr>
        <p:spPr>
          <a:xfrm>
            <a:off x="609600" y="2228850"/>
            <a:ext cx="5353507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4_c3_second_built_compressed_convolution" title="cue_s04_c3_second_built_compressed_convolution" descr="cue_s04_c3_second_built_compressed_convolution Second, the model built on it, the Compressed Convolution Network, or CoCN."/>
          <p:cNvSpPr/>
          <p:nvPr/>
        </p:nvSpPr>
        <p:spPr>
          <a:xfrm>
            <a:off x="6228892" y="2228850"/>
            <a:ext cx="5353507" cy="20189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4_learns_both_node_structure_features" title="cue_s04_c4_learns_both_node_structure_features" descr="cue_s04_c4_learns_both_node_structure_features It learns both node and structure features and trains end to end, beating competitive GNNs and pooling models."/>
          <p:cNvSpPr/>
          <p:nvPr/>
        </p:nvSpPr>
        <p:spPr>
          <a:xfrm>
            <a:off x="609600" y="4419295"/>
            <a:ext cx="10972800" cy="89839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438150"/>
            <a:ext cx="10308319" cy="618839"/>
            <a:chOff x="609600" y="438150"/>
            <a:chExt cx="10308319" cy="618839"/>
          </a:xfrm>
        </p:grpSpPr>
        <p:sp>
          <p:nvSpPr>
            <p:cNvPr id="2" name="Rectangle 2"/>
            <p:cNvSpPr/>
            <p:nvPr/>
          </p:nvSpPr>
          <p:spPr>
            <a:xfrm>
              <a:off x="609600" y="438150"/>
              <a:ext cx="57150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6008" y="464820"/>
              <a:ext cx="100919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How CoCN works: permute, then convolve on the diagonal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866299"/>
              <a:ext cx="61681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METHOD · FOUR MODULES — INPUT · PERMUTATION · CONVOLUTION · OUTPUT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085850"/>
            <a:ext cx="10972800" cy="2269807"/>
            <a:chOff x="609600" y="1085850"/>
            <a:chExt cx="10972800" cy="2269807"/>
          </a:xfrm>
        </p:grpSpPr>
        <p:sp>
          <p:nvSpPr>
            <p:cNvPr id="6" name="Rectangle 6"/>
            <p:cNvSpPr/>
            <p:nvPr/>
          </p:nvSpPr>
          <p:spPr>
            <a:xfrm>
              <a:off x="609600" y="1085850"/>
              <a:ext cx="10972800" cy="2266950"/>
            </a:xfrm>
            <a:prstGeom prst="roundRect">
              <a:avLst>
                <a:gd name="adj" fmla="val 420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8544" y="1200150"/>
              <a:ext cx="7714911" cy="18669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3020514" y="3179445"/>
              <a:ext cx="61509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Figure 1 · CoCN pipeline — permute the node and edge feature matrices, then apply diagonal convolution.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486150"/>
            <a:ext cx="2628900" cy="2743200"/>
            <a:chOff x="609600" y="3486150"/>
            <a:chExt cx="2628900" cy="2743200"/>
          </a:xfrm>
        </p:grpSpPr>
        <p:sp>
          <p:nvSpPr>
            <p:cNvPr id="10" name="Rectangle 10"/>
            <p:cNvSpPr/>
            <p:nvPr/>
          </p:nvSpPr>
          <p:spPr>
            <a:xfrm>
              <a:off x="609600" y="3486150"/>
              <a:ext cx="2628900" cy="2743200"/>
            </a:xfrm>
            <a:prstGeom prst="roundRect">
              <a:avLst>
                <a:gd name="adj" fmla="val 362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3486150"/>
              <a:ext cx="57150" cy="2743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35966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3941445"/>
              <a:ext cx="18398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PERMUTATION GENERATION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723" y="4167664"/>
              <a:ext cx="1737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Regress a position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723" y="4377214"/>
              <a:ext cx="80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per node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4687252"/>
              <a:ext cx="1705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MLP on node features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866" y="48777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smoothed by the graph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866" y="5068252"/>
              <a:ext cx="1746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Laplacian gives each node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866" y="5258752"/>
              <a:ext cx="1664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absolute position, so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866" y="5449252"/>
              <a:ext cx="1417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similar or connected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866" y="56397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nodes land nearby.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390900" y="3486150"/>
            <a:ext cx="2628900" cy="2743200"/>
            <a:chOff x="3390900" y="3486150"/>
            <a:chExt cx="2628900" cy="2743200"/>
          </a:xfrm>
        </p:grpSpPr>
        <p:sp>
          <p:nvSpPr>
            <p:cNvPr id="23" name="Rectangle 23"/>
            <p:cNvSpPr/>
            <p:nvPr/>
          </p:nvSpPr>
          <p:spPr>
            <a:xfrm>
              <a:off x="3390900" y="3486150"/>
              <a:ext cx="2628900" cy="2743200"/>
            </a:xfrm>
            <a:prstGeom prst="roundRect">
              <a:avLst>
                <a:gd name="adj" fmla="val 362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3390900" y="3486150"/>
              <a:ext cx="57150" cy="2743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10356" y="35966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4738" y="3941445"/>
              <a:ext cx="15927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RELAXED PERMUTATION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3023" y="4167664"/>
              <a:ext cx="1525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differentiable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13023" y="4377214"/>
              <a:ext cx="634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matrix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4166" y="4687252"/>
              <a:ext cx="1852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Positions become a relaxed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4166" y="487775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permutation matrix —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4166" y="506825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differentiable relaxation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14166" y="5258752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set by a factor τ that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14166" y="5449252"/>
              <a:ext cx="165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provably converges to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14166" y="5639752"/>
              <a:ext cx="2067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true permutation as τ grows.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172200" y="3486150"/>
            <a:ext cx="2628900" cy="2743200"/>
            <a:chOff x="6172200" y="3486150"/>
            <a:chExt cx="2628900" cy="2743200"/>
          </a:xfrm>
        </p:grpSpPr>
        <p:sp>
          <p:nvSpPr>
            <p:cNvPr id="36" name="Rectangle 36"/>
            <p:cNvSpPr/>
            <p:nvPr/>
          </p:nvSpPr>
          <p:spPr>
            <a:xfrm>
              <a:off x="6172200" y="3486150"/>
              <a:ext cx="2628900" cy="2743200"/>
            </a:xfrm>
            <a:prstGeom prst="roundRect">
              <a:avLst>
                <a:gd name="adj" fmla="val 362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6172200" y="3486150"/>
              <a:ext cx="57150" cy="2743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91656" y="35966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6038" y="3941445"/>
              <a:ext cx="16975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DIAGONAL CONVOLUTION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94323" y="4167664"/>
              <a:ext cx="13732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Slide along the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4323" y="4377214"/>
              <a:ext cx="758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diagonal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95466" y="4687252"/>
              <a:ext cx="1690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nodes in a row, the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5466" y="4877752"/>
              <a:ext cx="1551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 slides along the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95466" y="50682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diagonal of the permuted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5466" y="52587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edge and node matrices 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5466" y="544925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extracting node features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5466" y="56397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structure together.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953500" y="3486150"/>
            <a:ext cx="2628900" cy="2743200"/>
            <a:chOff x="8953500" y="3486150"/>
            <a:chExt cx="2628900" cy="2743200"/>
          </a:xfrm>
        </p:grpSpPr>
        <p:sp>
          <p:nvSpPr>
            <p:cNvPr id="49" name="Rectangle 49"/>
            <p:cNvSpPr/>
            <p:nvPr/>
          </p:nvSpPr>
          <p:spPr>
            <a:xfrm>
              <a:off x="8953500" y="3486150"/>
              <a:ext cx="2628900" cy="2743200"/>
            </a:xfrm>
            <a:prstGeom prst="roundRect">
              <a:avLst>
                <a:gd name="adj" fmla="val 3623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8953500" y="3486150"/>
              <a:ext cx="57150" cy="27432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72956" y="3596640"/>
              <a:ext cx="3140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77338" y="3941445"/>
              <a:ext cx="12207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POOLING + SCALE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75623" y="4167664"/>
              <a:ext cx="1518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Hierarchy, then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75623" y="4377214"/>
              <a:ext cx="949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up-sample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76766" y="4687252"/>
              <a:ext cx="1774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Compressed pooling builds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76766" y="4877752"/>
              <a:ext cx="1692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hierarchy; transposed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76766" y="5068252"/>
              <a:ext cx="1883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convolution up-samples for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76766" y="5258752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node predictions.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76385" y="5517356"/>
              <a:ext cx="994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Cost: n! → n²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7147" y="5743099"/>
              <a:ext cx="1777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— it scales to large graphs.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10</a:t>
            </a:r>
          </a:p>
        </p:txBody>
      </p:sp>
      <p:sp>
        <p:nvSpPr>
          <p:cNvPr id="63" name="cue_s05_c1_how_cocn_works_first_permutation" title="cue_s05_c1_how_cocn_works_first_permutation" descr="cue_s05_c1_how_cocn_works_first_permutation Here is how CoCN works. First, permutation generation regresses an absolute position for each node with an MLP on Laplacian-smoothed features, so similar nodes land nearby."/>
          <p:cNvSpPr/>
          <p:nvPr/>
        </p:nvSpPr>
        <p:spPr>
          <a:xfrm>
            <a:off x="609600" y="3485921"/>
            <a:ext cx="2628595" cy="2743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ue_s05_c2_these_form_relaxed_permutation_matri" title="cue_s05_c2_these_form_relaxed_permutation_matri" descr="cue_s05_c2_these_form_relaxed_permutation_matri These form a relaxed permutation matrix, controlled by a factor tau that provably converges to a true permutation."/>
          <p:cNvSpPr/>
          <p:nvPr/>
        </p:nvSpPr>
        <p:spPr>
          <a:xfrm>
            <a:off x="3390595" y="3485921"/>
            <a:ext cx="2628595" cy="2743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ue_s05_c3_nodes_row_cocn_slides_kernel" title="cue_s05_c3_nodes_row_cocn_slides_kernel" descr="cue_s05_c3_nodes_row_cocn_slides_kernel With nodes in a row, CoCN slides a kernel along the diagonal of the permuted edge and node matrices, extracting node features and their structure together."/>
          <p:cNvSpPr/>
          <p:nvPr/>
        </p:nvSpPr>
        <p:spPr>
          <a:xfrm>
            <a:off x="6171590" y="3485921"/>
            <a:ext cx="2628595" cy="2743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ue_s05_c4_compressed_pooling_builds_hierarchy" title="cue_s05_c4_compressed_pooling_builds_hierarchy" descr="cue_s05_c4_compressed_pooling_builds_hierarchy Compressed pooling builds a hierarchy, and transposed convolution up-samples for predictions. Crucially, this cuts permutation modeling from n factorial to n squared, letting it scale to large graphs."/>
          <p:cNvSpPr/>
          <p:nvPr/>
        </p:nvSpPr>
        <p:spPr>
          <a:xfrm>
            <a:off x="8953804" y="3485921"/>
            <a:ext cx="2628595" cy="27432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11528895" cy="675989"/>
            <a:chOff x="609600" y="533400"/>
            <a:chExt cx="11528895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113132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 broad evaluation: 12 datasets, plus leakage &amp; scale checks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48267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DATASETS &amp; BENCHMARKS · GRAPH AND NODE CLASSIFICATION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428750"/>
            <a:ext cx="10972800" cy="571500"/>
            <a:chOff x="609600" y="1428750"/>
            <a:chExt cx="10972800" cy="5715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399" y="1620679"/>
              <a:ext cx="89293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evaluation is deliberately broad — spanning graph and node classification.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2171700"/>
            <a:ext cx="5353050" cy="1790700"/>
            <a:chOff x="609600" y="2171700"/>
            <a:chExt cx="5353050" cy="1790700"/>
          </a:xfrm>
        </p:grpSpPr>
        <p:sp>
          <p:nvSpPr>
            <p:cNvPr id="10" name="Rectangle 10"/>
            <p:cNvSpPr/>
            <p:nvPr/>
          </p:nvSpPr>
          <p:spPr>
            <a:xfrm>
              <a:off x="609600" y="2171700"/>
              <a:ext cx="5353050" cy="1790700"/>
            </a:xfrm>
            <a:prstGeom prst="roundRect">
              <a:avLst>
                <a:gd name="adj" fmla="val 531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2171700"/>
              <a:ext cx="57150" cy="1790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3247" y="2371249"/>
              <a:ext cx="2849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GRAPH CLASSIFICATION · 6 DATASETS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2578418"/>
              <a:ext cx="2669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Biochemical + social graphs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895600"/>
              <a:ext cx="93345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68282" y="2972752"/>
              <a:ext cx="473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MUTAG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6690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53883" y="2972752"/>
              <a:ext cx="692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PROTEINS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28950" y="289560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51717" y="2972752"/>
              <a:ext cx="3164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NCI1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86200" y="289560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63632" y="2972752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COLLAB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" y="325755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736" y="3334702"/>
              <a:ext cx="888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IMDB-Binary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190750" y="3257550"/>
              <a:ext cx="116205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72245" y="3334702"/>
              <a:ext cx="799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IMDB-Multi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2866" y="3677602"/>
              <a:ext cx="29978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Evaluated under ten-fold cross-validation.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29350" y="2171700"/>
            <a:ext cx="5353050" cy="1790700"/>
            <a:chOff x="6229350" y="2171700"/>
            <a:chExt cx="5353050" cy="1790700"/>
          </a:xfrm>
        </p:grpSpPr>
        <p:sp>
          <p:nvSpPr>
            <p:cNvPr id="28" name="Rectangle 28"/>
            <p:cNvSpPr/>
            <p:nvPr/>
          </p:nvSpPr>
          <p:spPr>
            <a:xfrm>
              <a:off x="6229350" y="2171700"/>
              <a:ext cx="5353050" cy="1790700"/>
            </a:xfrm>
            <a:prstGeom prst="roundRect">
              <a:avLst>
                <a:gd name="adj" fmla="val 5319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29350" y="2171700"/>
              <a:ext cx="57150" cy="1790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2997" y="2371249"/>
              <a:ext cx="31144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NODE CLASSIFICATION · 6 HETEROPHILIC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51092" y="2578418"/>
              <a:ext cx="2426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Heterophilic benchmarks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57950" y="2895600"/>
              <a:ext cx="116205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67729" y="2972752"/>
              <a:ext cx="742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Chameleon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715250" y="2895600"/>
              <a:ext cx="9525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94702" y="2972752"/>
              <a:ext cx="5935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Squirrel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63000" y="2895600"/>
              <a:ext cx="9144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64255" y="2972752"/>
              <a:ext cx="511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Cornell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72650" y="2895600"/>
              <a:ext cx="7239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22880" y="297275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Texas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57950" y="3257550"/>
              <a:ext cx="11049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57823" y="3334702"/>
              <a:ext cx="705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Wisconsin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658100" y="32575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27380" y="3334702"/>
              <a:ext cx="423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Actor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2616" y="3677602"/>
              <a:ext cx="32239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Where neighbors often carry different labels.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4133850"/>
            <a:ext cx="10972800" cy="1191006"/>
            <a:chOff x="609600" y="4133850"/>
            <a:chExt cx="10972800" cy="1191006"/>
          </a:xfrm>
        </p:grpSpPr>
        <p:sp>
          <p:nvSpPr>
            <p:cNvPr id="46" name="Rectangle 46"/>
            <p:cNvSpPr/>
            <p:nvPr/>
          </p:nvSpPr>
          <p:spPr>
            <a:xfrm>
              <a:off x="609600" y="4133850"/>
              <a:ext cx="10972800" cy="1162050"/>
            </a:xfrm>
            <a:prstGeom prst="roundRect">
              <a:avLst>
                <a:gd name="adj" fmla="val 8197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47" name="Rectangle 47"/>
            <p:cNvSpPr/>
            <p:nvPr/>
          </p:nvSpPr>
          <p:spPr>
            <a:xfrm>
              <a:off x="609600" y="4133850"/>
              <a:ext cx="57150" cy="11620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09447" y="4352449"/>
              <a:ext cx="20582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RIGOR · LEAKAGE + SCALE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07161" y="4608671"/>
              <a:ext cx="6795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No leakage: filtered Chameleon &amp; Squirrel remove duplicate nodes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8304" y="4899660"/>
              <a:ext cx="5906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Scale: mini-batch experiments on questions, amazon-ratings, and genius 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8304" y="5090160"/>
              <a:ext cx="4075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three graphs with hundreds of thousands of nodes.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10</a:t>
            </a:r>
          </a:p>
        </p:txBody>
      </p:sp>
      <p:sp>
        <p:nvSpPr>
          <p:cNvPr id="54" name="cue_s06_c1_evaluation_broad" title="cue_s06_c1_evaluation_broad" descr="cue_s06_c1_evaluation_broad The evaluation is broad."/>
          <p:cNvSpPr/>
          <p:nvPr/>
        </p:nvSpPr>
        <p:spPr>
          <a:xfrm>
            <a:off x="609600" y="1428521"/>
            <a:ext cx="10972800" cy="57127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6_c2_graph_classification_six_datasets_mu" title="cue_s06_c2_graph_classification_six_datasets_mu" descr="cue_s06_c2_graph_classification_six_datasets_mu For graph classification, six datasets: MUTAG, PROTEINS, NCI1, COLLAB, IMDB-Binary, and IMDB-Multi, under ten-fold cross-validation."/>
          <p:cNvSpPr/>
          <p:nvPr/>
        </p:nvSpPr>
        <p:spPr>
          <a:xfrm>
            <a:off x="609600" y="2171928"/>
            <a:ext cx="5353507" cy="17906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6_c3_node_classification_six_heterophilic" title="cue_s06_c3_node_classification_six_heterophilic" descr="cue_s06_c3_node_classification_six_heterophilic For node classification, six heterophilic benchmarks: Chameleon, Squirrel, Cornell, Texas, Wisconsin, and Actor."/>
          <p:cNvSpPr/>
          <p:nvPr/>
        </p:nvSpPr>
        <p:spPr>
          <a:xfrm>
            <a:off x="6228892" y="2171928"/>
            <a:ext cx="5353507" cy="17906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6_c4_rule_out_leakage_they_test" title="cue_s06_c4_rule_out_leakage_they_test" descr="cue_s06_c4_rule_out_leakage_they_test To rule out leakage they test filtered Chameleon and Squirrel, and for scale, mini-batch experiments on three graphs with hundreds of thousands of nodes."/>
          <p:cNvSpPr/>
          <p:nvPr/>
        </p:nvSpPr>
        <p:spPr>
          <a:xfrm>
            <a:off x="609600" y="4134002"/>
            <a:ext cx="10972800" cy="119123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9410526" cy="675989"/>
            <a:chOff x="609600" y="533400"/>
            <a:chExt cx="9410526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91948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State of the art on node and graph classification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37440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KEY RESULT · ACCURACY % (HIGHER IS BETTER)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428750"/>
            <a:ext cx="5353050" cy="4111561"/>
            <a:chOff x="609600" y="1428750"/>
            <a:chExt cx="5353050" cy="4111561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353050" cy="4095750"/>
            </a:xfrm>
            <a:prstGeom prst="roundRect">
              <a:avLst>
                <a:gd name="adj" fmla="val 2791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06399" y="1639729"/>
              <a:ext cx="38551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Top scores on node classification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943100"/>
              <a:ext cx="1524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8997" y="1942624"/>
              <a:ext cx="1220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CoCN accuracy (%)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1797" y="1942624"/>
              <a:ext cx="1478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Avg. rank 1.83 — best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066800" y="49530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28750" y="2238375"/>
              <a:ext cx="914400" cy="2714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45423" y="2008346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79.2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9928" y="5060156"/>
              <a:ext cx="792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Chameleon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781300" y="2447925"/>
              <a:ext cx="914400" cy="25050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97973" y="2217896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73.0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21890" y="5060156"/>
              <a:ext cx="633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Squirrel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33850" y="2000250"/>
              <a:ext cx="914400" cy="2952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350523" y="1770221"/>
              <a:ext cx="481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86.2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8016" y="5060156"/>
              <a:ext cx="5460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Cornell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43201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Best average rank (1.83) across six heterophilic benchmarks.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29350" y="1428750"/>
            <a:ext cx="5353050" cy="857250"/>
            <a:chOff x="6229350" y="1428750"/>
            <a:chExt cx="5353050" cy="857250"/>
          </a:xfrm>
        </p:grpSpPr>
        <p:sp>
          <p:nvSpPr>
            <p:cNvPr id="23" name="Rectangle 23"/>
            <p:cNvSpPr/>
            <p:nvPr/>
          </p:nvSpPr>
          <p:spPr>
            <a:xfrm>
              <a:off x="6229350" y="1428750"/>
              <a:ext cx="5353050" cy="857250"/>
            </a:xfrm>
            <a:prstGeom prst="roundRect">
              <a:avLst>
                <a:gd name="adj" fmla="val 11111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6229350" y="142875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52997" y="1647349"/>
              <a:ext cx="7069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HEADLINE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49568" y="1860232"/>
              <a:ext cx="4558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Results are strong across the board.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2438400"/>
            <a:ext cx="5353050" cy="1374934"/>
            <a:chOff x="6229350" y="2438400"/>
            <a:chExt cx="5353050" cy="1374934"/>
          </a:xfrm>
        </p:grpSpPr>
        <p:sp>
          <p:nvSpPr>
            <p:cNvPr id="28" name="Rectangle 28"/>
            <p:cNvSpPr/>
            <p:nvPr/>
          </p:nvSpPr>
          <p:spPr>
            <a:xfrm>
              <a:off x="6229350" y="2438400"/>
              <a:ext cx="5353050" cy="1333500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29350" y="243840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2997" y="2637949"/>
              <a:ext cx="17460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GRAPH CLASSIFICATION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95260" y="2647950"/>
              <a:ext cx="1038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5 / 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5166" y="3087052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datasets won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50711" y="2741771"/>
              <a:ext cx="972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Wins five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711" y="2951321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of six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2235" y="3402806"/>
              <a:ext cx="3906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Including COLLAB (86.15%) and IMDB-Multi (56.3%);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2235" y="3593306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competitive on the sixth.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29350" y="3924300"/>
            <a:ext cx="5353050" cy="1622584"/>
            <a:chOff x="6229350" y="3924300"/>
            <a:chExt cx="5353050" cy="1622584"/>
          </a:xfrm>
        </p:grpSpPr>
        <p:sp>
          <p:nvSpPr>
            <p:cNvPr id="38" name="Rectangle 38"/>
            <p:cNvSpPr/>
            <p:nvPr/>
          </p:nvSpPr>
          <p:spPr>
            <a:xfrm>
              <a:off x="6229350" y="3924300"/>
              <a:ext cx="5353050" cy="1600200"/>
            </a:xfrm>
            <a:prstGeom prst="roundRect">
              <a:avLst>
                <a:gd name="adj" fmla="val 595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9" name="Rectangle 39"/>
            <p:cNvSpPr/>
            <p:nvPr/>
          </p:nvSpPr>
          <p:spPr>
            <a:xfrm>
              <a:off x="6229350" y="3924300"/>
              <a:ext cx="57150" cy="1600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52997" y="4123849"/>
              <a:ext cx="13527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NO DATA LEAKAGE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93736" y="4425315"/>
              <a:ext cx="5756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#1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05166" y="4915852"/>
              <a:ext cx="865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of 18 models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0711" y="4475321"/>
              <a:ext cx="863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Filtered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0711" y="4684871"/>
              <a:ext cx="9476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datasets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2235" y="5136356"/>
              <a:ext cx="323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On cleaned Chameleon &amp; Squirrel (duplicates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52235" y="5326856"/>
              <a:ext cx="3804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removed), CoCN still ranks first — the edge is real.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10</a:t>
            </a:r>
          </a:p>
        </p:txBody>
      </p:sp>
      <p:sp>
        <p:nvSpPr>
          <p:cNvPr id="49" name="cue_s07_c1_results_strong_across_board" title="cue_s07_c1_results_strong_across_board" descr="cue_s07_c1_results_strong_across_board Results are strong across the board."/>
          <p:cNvSpPr/>
          <p:nvPr/>
        </p:nvSpPr>
        <p:spPr>
          <a:xfrm>
            <a:off x="6228892" y="1428521"/>
            <a:ext cx="5353507" cy="85725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ue_s07_c2_node_classification_cocn_gets_best" title="cue_s07_c2_node_classification_cocn_gets_best" descr="cue_s07_c2_node_classification_cocn_gets_best On node classification, CoCN gets the best average rank, one point eight three, topping Chameleon at seventy-nine percent, Squirrel at seventy-three, and Cornell at eighty-six."/>
          <p:cNvSpPr/>
          <p:nvPr/>
        </p:nvSpPr>
        <p:spPr>
          <a:xfrm>
            <a:off x="609600" y="1428521"/>
            <a:ext cx="5353507" cy="409559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ue_s07_c3_graph_classification_wins_five_six" title="cue_s07_c3_graph_classification_wins_five_six" descr="cue_s07_c3_graph_classification_wins_five_six On graph classification, it wins five of six datasets, including COLLAB and IMDB-Multi."/>
          <p:cNvSpPr/>
          <p:nvPr/>
        </p:nvSpPr>
        <p:spPr>
          <a:xfrm>
            <a:off x="6228892" y="2438704"/>
            <a:ext cx="5353507" cy="137502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ue_s07_c4_filtered_chameleon_squirrel_duplicat" title="cue_s07_c4_filtered_chameleon_squirrel_duplicat" descr="cue_s07_c4_filtered_chameleon_squirrel_duplicat And on filtered Chameleon and Squirrel, with duplicates removed, it ranks first of eighteen models, so its edge is not data leakage."/>
          <p:cNvSpPr/>
          <p:nvPr/>
        </p:nvSpPr>
        <p:spPr>
          <a:xfrm>
            <a:off x="6228892" y="3924147"/>
            <a:ext cx="5353507" cy="16226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8211684" cy="675989"/>
            <a:chOff x="609600" y="533400"/>
            <a:chExt cx="8211684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79960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Ablations: why each design choice pays off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3796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ABLATION STUDY · THREE DISSECTIONS OF CoCN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" y="1428750"/>
            <a:ext cx="10972800" cy="628650"/>
            <a:chOff x="609600" y="1428750"/>
            <a:chExt cx="10972800" cy="6286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628650"/>
            </a:xfrm>
            <a:prstGeom prst="roundRect">
              <a:avLst>
                <a:gd name="adj" fmla="val 15152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28750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018" y="1650682"/>
              <a:ext cx="62026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Several ablations dissect exactly why CoCN works.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2286000"/>
            <a:ext cx="3552825" cy="3009900"/>
            <a:chOff x="609600" y="2286000"/>
            <a:chExt cx="3552825" cy="3009900"/>
          </a:xfrm>
        </p:grpSpPr>
        <p:sp>
          <p:nvSpPr>
            <p:cNvPr id="10" name="Rectangle 10"/>
            <p:cNvSpPr/>
            <p:nvPr/>
          </p:nvSpPr>
          <p:spPr>
            <a:xfrm>
              <a:off x="609600" y="2286000"/>
              <a:ext cx="3552825" cy="3009900"/>
            </a:xfrm>
            <a:prstGeom prst="roundRect">
              <a:avLst>
                <a:gd name="adj" fmla="val 316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2286000"/>
              <a:ext cx="57150" cy="3009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255270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7572" y="26670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3038" y="2626995"/>
              <a:ext cx="14235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PERMUTATION HEADS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0942" y="2807018"/>
              <a:ext cx="159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More heads help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485" y="3231356"/>
              <a:ext cx="20365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Allowing more permutations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3440906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raises accuracy consistently 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485" y="3650456"/>
              <a:ext cx="207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MUTAG, Chameleon, Cornell,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485" y="3860006"/>
              <a:ext cx="1094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Wisconsin.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191000"/>
              <a:ext cx="3095625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5647" y="4333399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90600" y="4762500"/>
              <a:ext cx="3810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447800" y="4648200"/>
              <a:ext cx="381000" cy="304800"/>
            </a:xfrm>
            <a:prstGeom prst="rect">
              <a:avLst/>
            </a:prstGeom>
            <a:solidFill>
              <a:srgbClr val="4C8AE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05000" y="4514850"/>
              <a:ext cx="3810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62200" y="4400550"/>
              <a:ext cx="381000" cy="552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5838" y="4989195"/>
              <a:ext cx="3790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head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52547" y="4657249"/>
              <a:ext cx="8826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more heads →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314825" y="2286000"/>
            <a:ext cx="3552825" cy="3009900"/>
            <a:chOff x="4314825" y="2286000"/>
            <a:chExt cx="3552825" cy="3009900"/>
          </a:xfrm>
        </p:grpSpPr>
        <p:sp>
          <p:nvSpPr>
            <p:cNvPr id="29" name="Rectangle 29"/>
            <p:cNvSpPr/>
            <p:nvPr/>
          </p:nvSpPr>
          <p:spPr>
            <a:xfrm>
              <a:off x="4314825" y="2286000"/>
              <a:ext cx="3552825" cy="3009900"/>
            </a:xfrm>
            <a:prstGeom prst="roundRect">
              <a:avLst>
                <a:gd name="adj" fmla="val 316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4314825" y="2286000"/>
              <a:ext cx="57150" cy="3009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562475" y="2552700"/>
              <a:ext cx="419100" cy="4191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02797" y="26670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48262" y="2626995"/>
              <a:ext cx="8622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KERNEL SIZE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46167" y="2807018"/>
              <a:ext cx="2173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Bigger receptive field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37710" y="3231356"/>
              <a:ext cx="2066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Larger diagonal-convolution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7710" y="344090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kernels give a bigger receptive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37710" y="3650456"/>
              <a:ext cx="2303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field and better performance 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37710" y="3860006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without the over-smoothing you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37710" y="4069556"/>
              <a:ext cx="878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might fear.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43425" y="4400550"/>
              <a:ext cx="3095625" cy="704850"/>
            </a:xfrm>
            <a:prstGeom prst="roundRect">
              <a:avLst>
                <a:gd name="adj" fmla="val 108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733925" y="4629150"/>
              <a:ext cx="24765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53032" y="49320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k=1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267325" y="4572000"/>
              <a:ext cx="361950" cy="361950"/>
            </a:xfrm>
            <a:prstGeom prst="rect">
              <a:avLst/>
            </a:prstGeom>
            <a:solidFill>
              <a:srgbClr val="4C8AE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43582" y="49320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k=3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915025" y="4495800"/>
              <a:ext cx="4953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57957" y="49320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k=5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2547" y="4657249"/>
              <a:ext cx="4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↑ acc.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20050" y="2286000"/>
            <a:ext cx="3562350" cy="3009900"/>
            <a:chOff x="8020050" y="2286000"/>
            <a:chExt cx="3562350" cy="3009900"/>
          </a:xfrm>
        </p:grpSpPr>
        <p:sp>
          <p:nvSpPr>
            <p:cNvPr id="49" name="Rectangle 49"/>
            <p:cNvSpPr/>
            <p:nvPr/>
          </p:nvSpPr>
          <p:spPr>
            <a:xfrm>
              <a:off x="8020050" y="2286000"/>
              <a:ext cx="3562350" cy="3009900"/>
            </a:xfrm>
            <a:prstGeom prst="roundRect">
              <a:avLst>
                <a:gd name="adj" fmla="val 3165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50" name="Rectangle 50"/>
            <p:cNvSpPr/>
            <p:nvPr/>
          </p:nvSpPr>
          <p:spPr>
            <a:xfrm>
              <a:off x="8020050" y="2286000"/>
              <a:ext cx="57150" cy="30099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267700" y="2552700"/>
              <a:ext cx="419100" cy="4191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rgbClr val="1F7A4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08022" y="266700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53488" y="2626995"/>
              <a:ext cx="13591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INFORMATION LOSS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51392" y="2807018"/>
              <a:ext cx="19507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Essentially lossless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42935" y="3231356"/>
              <a:ext cx="2179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 autoencoder reconstructs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42935" y="3440906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graphs from the permuted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42935" y="3650456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features — the relaxed,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42935" y="3860006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approximate permutations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42935" y="40695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preserve almost all information.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62010" y="4438650"/>
              <a:ext cx="6577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≈ 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38285" y="464105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information lost 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8285" y="483155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regularization is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38285" y="502205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lossless.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10</a:t>
            </a:r>
          </a:p>
        </p:txBody>
      </p:sp>
      <p:sp>
        <p:nvSpPr>
          <p:cNvPr id="66" name="cue_s08_c1_several_ablations_show_why_cocn" title="cue_s08_c1_several_ablations_show_why_cocn" descr="cue_s08_c1_several_ablations_show_why_cocn Several ablations show why CoCN works."/>
          <p:cNvSpPr/>
          <p:nvPr/>
        </p:nvSpPr>
        <p:spPr>
          <a:xfrm>
            <a:off x="609600" y="1428521"/>
            <a:ext cx="10972800" cy="62887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ue_s08_c2_first_permutation_heads_matter_more" title="cue_s08_c2_first_permutation_heads_matter_more" descr="cue_s08_c2_first_permutation_heads_matter_more First, permutation heads matter: with more permutations, accuracy rises consistently on MUTAG, Chameleon, Cornell, and Wisconsin, since each exposes different node arrangements."/>
          <p:cNvSpPr/>
          <p:nvPr/>
        </p:nvSpPr>
        <p:spPr>
          <a:xfrm>
            <a:off x="609600" y="2285771"/>
            <a:ext cx="3552748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ue_s08_c3_second_larger_diagonal_kernels_give" title="cue_s08_c3_second_larger_diagonal_kernels_give" descr="cue_s08_c3_second_larger_diagonal_kernels_give Second, larger diagonal kernels give a bigger receptive field and better performance, without over-smoothing."/>
          <p:cNvSpPr/>
          <p:nvPr/>
        </p:nvSpPr>
        <p:spPr>
          <a:xfrm>
            <a:off x="4314748" y="2285771"/>
            <a:ext cx="3552748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ue_s08_c4_third_information_loss_study_finds_r" title="cue_s08_c4_third_information_loss_study_finds_r" descr="cue_s08_c4_third_information_loss_study_finds_r Third, an information-loss study finds the relaxed permutations preserve almost all information, so the regularization is lossless."/>
          <p:cNvSpPr/>
          <p:nvPr/>
        </p:nvSpPr>
        <p:spPr>
          <a:xfrm>
            <a:off x="8019897" y="2285771"/>
            <a:ext cx="3562502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7203312" cy="675989"/>
            <a:chOff x="609600" y="533400"/>
            <a:chExt cx="7203312" cy="675989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5246" y="562928"/>
              <a:ext cx="6987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numbers that capture the impact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3247" y="1018699"/>
              <a:ext cx="2696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HEADLINE NUMBERS · AT A GLANCE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447800"/>
            <a:ext cx="5353050" cy="1866900"/>
            <a:chOff x="609600" y="1447800"/>
            <a:chExt cx="5353050" cy="1866900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5353050" cy="1866900"/>
            </a:xfrm>
            <a:prstGeom prst="roundRect">
              <a:avLst>
                <a:gd name="adj" fmla="val 612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609600" y="14478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447" y="1723549"/>
              <a:ext cx="1682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NODE CLASSIFICATION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5350" y="2007870"/>
              <a:ext cx="181240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1.83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780" y="2733675"/>
              <a:ext cx="2026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Best average rank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685" y="3021806"/>
              <a:ext cx="4359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Across six node datasets — the best of any method tested.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29350" y="1447800"/>
            <a:ext cx="5353050" cy="1866900"/>
            <a:chOff x="6229350" y="1447800"/>
            <a:chExt cx="5353050" cy="1866900"/>
          </a:xfrm>
        </p:grpSpPr>
        <p:sp>
          <p:nvSpPr>
            <p:cNvPr id="13" name="Rectangle 13"/>
            <p:cNvSpPr/>
            <p:nvPr/>
          </p:nvSpPr>
          <p:spPr>
            <a:xfrm>
              <a:off x="6229350" y="1447800"/>
              <a:ext cx="5353050" cy="1866900"/>
            </a:xfrm>
            <a:prstGeom prst="roundRect">
              <a:avLst>
                <a:gd name="adj" fmla="val 612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6229350" y="14478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rgbClr val="1F7A4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29197" y="1723549"/>
              <a:ext cx="736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SQUIRREL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5100" y="200787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73%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0" y="2114550"/>
              <a:ext cx="1123950" cy="381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2518" y="2193608"/>
              <a:ext cx="903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F7A46"/>
                  </a:solidFill>
                  <a:latin typeface="Georgia"/>
                  <a:ea typeface="Georgia"/>
                  <a:cs typeface="Georgia"/>
                </a:rPr>
                <a:t>+11 pts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6530" y="2733675"/>
              <a:ext cx="2332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Over 11 points ahead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28435" y="3021806"/>
              <a:ext cx="3323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Above the strongest prior model on Squirrel.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3505200"/>
            <a:ext cx="5353050" cy="1866900"/>
            <a:chOff x="609600" y="3505200"/>
            <a:chExt cx="5353050" cy="1866900"/>
          </a:xfrm>
        </p:grpSpPr>
        <p:sp>
          <p:nvSpPr>
            <p:cNvPr id="22" name="Rectangle 22"/>
            <p:cNvSpPr/>
            <p:nvPr/>
          </p:nvSpPr>
          <p:spPr>
            <a:xfrm>
              <a:off x="609600" y="3505200"/>
              <a:ext cx="5353050" cy="1866900"/>
            </a:xfrm>
            <a:prstGeom prst="roundRect">
              <a:avLst>
                <a:gd name="adj" fmla="val 6122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609600" y="35052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9447" y="3780949"/>
              <a:ext cx="25418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GRAPH CLASSIFICATION · COLLAB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5350" y="4065270"/>
              <a:ext cx="15301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Georgia"/>
                  <a:ea typeface="Georgia"/>
                  <a:cs typeface="Georgia"/>
                </a:rPr>
                <a:t>86%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6780" y="4791075"/>
              <a:ext cx="25019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Top result on COLLAB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5079206"/>
              <a:ext cx="36252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86.15% — the best score on the COLLAB dataset.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29350" y="3505200"/>
            <a:ext cx="5353050" cy="1866900"/>
            <a:chOff x="6229350" y="3505200"/>
            <a:chExt cx="5353050" cy="1866900"/>
          </a:xfrm>
        </p:grpSpPr>
        <p:sp>
          <p:nvSpPr>
            <p:cNvPr id="29" name="Rectangle 29"/>
            <p:cNvSpPr/>
            <p:nvPr/>
          </p:nvSpPr>
          <p:spPr>
            <a:xfrm>
              <a:off x="6229350" y="3505200"/>
              <a:ext cx="5353050" cy="1866900"/>
            </a:xfrm>
            <a:prstGeom prst="roundRect">
              <a:avLst>
                <a:gd name="adj" fmla="val 6122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229350" y="350520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29197" y="3780949"/>
              <a:ext cx="950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SCALABILITY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15100" y="4105275"/>
              <a:ext cx="60937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n!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5660" y="426720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3"/>
                  </a:solidFill>
                  <a:latin typeface="Georgia"/>
                  <a:ea typeface="Georgia"/>
                  <a:cs typeface="Georgia"/>
                </a:rPr>
                <a:t>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5250" y="4105275"/>
              <a:ext cx="7773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n²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26530" y="4791075"/>
              <a:ext cx="2820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Permutation cost slashed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8435" y="5079206"/>
              <a:ext cx="3559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From intractable n factorial down to n squared.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207836" y="6578441"/>
            <a:ext cx="37932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10</a:t>
            </a:r>
          </a:p>
        </p:txBody>
      </p:sp>
      <p:sp>
        <p:nvSpPr>
          <p:cNvPr id="39" name="cue_s09_c1_cocn_reaches_average_rank_one" title="cue_s09_c1_cocn_reaches_average_rank_one" descr="cue_s09_c1_cocn_reaches_average_rank_one CoCN reaches an average rank of one point eight three across six node datasets, the best of any method."/>
          <p:cNvSpPr/>
          <p:nvPr/>
        </p:nvSpPr>
        <p:spPr>
          <a:xfrm>
            <a:off x="609600" y="1447723"/>
            <a:ext cx="5353507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ue_s09_c2_squirrel_scores_nearly_seventy_three" title="cue_s09_c2_squirrel_scores_nearly_seventy_three" descr="cue_s09_c2_squirrel_scores_nearly_seventy_three On Squirrel it scores nearly seventy-three percent, over eleven points above the strongest prior model."/>
          <p:cNvSpPr/>
          <p:nvPr/>
        </p:nvSpPr>
        <p:spPr>
          <a:xfrm>
            <a:off x="6228892" y="1447723"/>
            <a:ext cx="5353507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e_s09_c3_collab_hits_eighty_six_percent" title="cue_s09_c3_collab_hits_eighty_six_percent" descr="cue_s09_c3_collab_hits_eighty_six_percent On COLLAB it hits eighty-six percent."/>
          <p:cNvSpPr/>
          <p:nvPr/>
        </p:nvSpPr>
        <p:spPr>
          <a:xfrm>
            <a:off x="609600" y="3505123"/>
            <a:ext cx="5353507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9_c4_cuts_permutation_modeling_intractabl" title="cue_s09_c4_cuts_permutation_modeling_intractabl" descr="cue_s09_c4_cuts_permutation_modeling_intractabl And it cuts permutation modeling from intractable n factorial to n squared."/>
          <p:cNvSpPr/>
          <p:nvPr/>
        </p:nvSpPr>
        <p:spPr>
          <a:xfrm>
            <a:off x="6228892" y="3505123"/>
            <a:ext cx="5353507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4647" y="609600"/>
            <a:ext cx="870373" cy="466439"/>
            <a:chOff x="604647" y="609600"/>
            <a:chExt cx="870373" cy="466439"/>
          </a:xfrm>
        </p:grpSpPr>
        <p:sp>
          <p:nvSpPr>
            <p:cNvPr id="5" name="Rectangle 5"/>
            <p:cNvSpPr/>
            <p:nvPr/>
          </p:nvSpPr>
          <p:spPr>
            <a:xfrm>
              <a:off x="609600" y="609600"/>
              <a:ext cx="6096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4647" y="885349"/>
              <a:ext cx="870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88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4360" y="1276350"/>
            <a:ext cx="5283617" cy="586740"/>
            <a:chOff x="594360" y="1276350"/>
            <a:chExt cx="5283617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594360" y="1276350"/>
              <a:ext cx="528361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The takeaway is elegant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981200"/>
            <a:ext cx="7048500" cy="2095500"/>
            <a:chOff x="609600" y="1981200"/>
            <a:chExt cx="7048500" cy="2095500"/>
          </a:xfrm>
        </p:grpSpPr>
        <p:sp>
          <p:nvSpPr>
            <p:cNvPr id="10" name="Rectangle 10"/>
            <p:cNvSpPr/>
            <p:nvPr/>
          </p:nvSpPr>
          <p:spPr>
            <a:xfrm>
              <a:off x="609600" y="1981200"/>
              <a:ext cx="7048500" cy="2095500"/>
            </a:xfrm>
            <a:prstGeom prst="roundRect">
              <a:avLst>
                <a:gd name="adj" fmla="val 5455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09600" y="19812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9447" y="2256949"/>
              <a:ext cx="6703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IDEA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5256" y="2529840"/>
              <a:ext cx="4246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Line the nodes up in a single row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7923" y="2967514"/>
              <a:ext cx="50760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 a differentiable permutation that arranges a graph's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923" y="3215164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nodes into a single row — and all the machinery of ordinary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923" y="3462814"/>
              <a:ext cx="4062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image convolution becomes available for graphs.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3791902"/>
              <a:ext cx="3888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Sliding kernels · pooling · hierarchical feature learning.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810500" y="1981200"/>
            <a:ext cx="3771900" cy="2095500"/>
            <a:chOff x="7810500" y="1981200"/>
            <a:chExt cx="3771900" cy="2095500"/>
          </a:xfrm>
        </p:grpSpPr>
        <p:sp>
          <p:nvSpPr>
            <p:cNvPr id="19" name="Rectangle 19"/>
            <p:cNvSpPr/>
            <p:nvPr/>
          </p:nvSpPr>
          <p:spPr>
            <a:xfrm>
              <a:off x="7810500" y="1981200"/>
              <a:ext cx="3771900" cy="2095500"/>
            </a:xfrm>
            <a:prstGeom prst="roundRect">
              <a:avLst>
                <a:gd name="adj" fmla="val 5455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7810500" y="1981200"/>
              <a:ext cx="57150" cy="209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10347" y="2256949"/>
              <a:ext cx="8587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9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6156" y="2510790"/>
              <a:ext cx="704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CoCN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9204" y="2937510"/>
              <a:ext cx="2037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Does exactly this — with 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9204" y="314706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permutation that is provably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9204" y="3356610"/>
              <a:ext cx="2071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convergent and invariant,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9204" y="356616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reaching state-of-the-art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9204" y="377571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7A46"/>
                  </a:solidFill>
                  <a:latin typeface="+mn-lt"/>
                  <a:ea typeface="+mn-ea"/>
                  <a:cs typeface="+mn-cs"/>
                </a:rPr>
                <a:t>results on node &amp; graph tasks.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4229100"/>
            <a:ext cx="9467850" cy="1143000"/>
            <a:chOff x="609600" y="4229100"/>
            <a:chExt cx="9467850" cy="1143000"/>
          </a:xfrm>
        </p:grpSpPr>
        <p:sp>
          <p:nvSpPr>
            <p:cNvPr id="29" name="Rectangle 29"/>
            <p:cNvSpPr/>
            <p:nvPr/>
          </p:nvSpPr>
          <p:spPr>
            <a:xfrm>
              <a:off x="609600" y="4229100"/>
              <a:ext cx="9467850" cy="1143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76200" dist="28575" dir="5400000" algn="ctr" rotWithShape="0">
                <a:srgbClr val="0B2E52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609600" y="42291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9447" y="4485799"/>
              <a:ext cx="7215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IN SHORT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2970" y="4729162"/>
              <a:ext cx="903989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Graphs, all in a row, can be convolved just like images.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685" y="5117306"/>
              <a:ext cx="4917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DBE3EE"/>
                  </a:solidFill>
                  <a:latin typeface="+mn-lt"/>
                  <a:ea typeface="+mn-ea"/>
                  <a:cs typeface="+mn-cs"/>
                </a:rPr>
                <a:t>One permutation turns the entire CNN toolkit loose on graph data.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229850" y="4229100"/>
            <a:ext cx="1949470" cy="1143000"/>
            <a:chOff x="10229850" y="4229100"/>
            <a:chExt cx="1949470" cy="1143000"/>
          </a:xfrm>
        </p:grpSpPr>
        <p:sp>
          <p:nvSpPr>
            <p:cNvPr id="35" name="Rectangle 35"/>
            <p:cNvSpPr/>
            <p:nvPr/>
          </p:nvSpPr>
          <p:spPr>
            <a:xfrm>
              <a:off x="10229850" y="4229100"/>
              <a:ext cx="1352550" cy="1143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29850" y="42291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53688" y="4474845"/>
              <a:ext cx="7871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RESOURCES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52354" y="4709160"/>
              <a:ext cx="1726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Paper · ICML 2023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53688" y="4970145"/>
              <a:ext cx="2798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Code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53688" y="5141595"/>
              <a:ext cx="759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sunjss/CoCN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3504" y="6004560"/>
            <a:ext cx="10983658" cy="735806"/>
            <a:chOff x="603504" y="6004560"/>
            <a:chExt cx="10983658" cy="735806"/>
          </a:xfrm>
        </p:grpSpPr>
        <p:sp>
          <p:nvSpPr>
            <p:cNvPr id="42" name="TextBox 42"/>
            <p:cNvSpPr txBox="1"/>
            <p:nvPr/>
          </p:nvSpPr>
          <p:spPr>
            <a:xfrm>
              <a:off x="603504" y="6004560"/>
              <a:ext cx="7037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All in a Row: Compressed Convolution Networks for Graphs · Sun et al., ICML 2023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10</a:t>
              </a:r>
            </a:p>
          </p:txBody>
        </p:sp>
      </p:grpSp>
      <p:sp>
        <p:nvSpPr>
          <p:cNvPr id="45" name="cue_s10_c1_takeaway_elegant" title="cue_s10_c1_takeaway_elegant" descr="cue_s10_c1_takeaway_elegant The takeaway is elegant."/>
          <p:cNvSpPr/>
          <p:nvPr/>
        </p:nvSpPr>
        <p:spPr>
          <a:xfrm>
            <a:off x="594969" y="1276273"/>
            <a:ext cx="5284012" cy="58704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ue_s10_c2_learn_differentiable_permutation_arr" title="cue_s10_c2_learn_differentiable_permutation_arr" descr="cue_s10_c2_learn_differentiable_permutation_arr Learn a differentiable permutation that arranges a graph's nodes into a single row, and all the machinery of image convolution becomes available for graphs."/>
          <p:cNvSpPr/>
          <p:nvPr/>
        </p:nvSpPr>
        <p:spPr>
          <a:xfrm>
            <a:off x="609600" y="1981276"/>
            <a:ext cx="7048195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ue_s10_c3_cocn_does_exactly_provably_convergen" title="cue_s10_c3_cocn_does_exactly_provably_convergen" descr="cue_s10_c3_cocn_does_exactly_provably_convergen CoCN does exactly this, provably convergent and invariant, reaching state-of-the-art results."/>
          <p:cNvSpPr/>
          <p:nvPr/>
        </p:nvSpPr>
        <p:spPr>
          <a:xfrm>
            <a:off x="7810195" y="1981276"/>
            <a:ext cx="3772204" cy="20958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ue_s10_c4_graphs_all_row_convolved_like" title="cue_s10_c4_graphs_all_row_convolved_like" descr="cue_s10_c4_graphs_all_row_convolved_like Graphs, all in a row, can be convolved like images."/>
          <p:cNvSpPr/>
          <p:nvPr/>
        </p:nvSpPr>
        <p:spPr>
          <a:xfrm>
            <a:off x="609600" y="4229328"/>
            <a:ext cx="9468307" cy="11432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cn_video_ppt169">
  <a:themeElements>
    <a:clrScheme name="cocn_video_ppt169">
      <a:dk1>
        <a:srgbClr val="12202E"/>
      </a:dk1>
      <a:lt1>
        <a:srgbClr val="FFFFFF"/>
      </a:lt1>
      <a:dk2>
        <a:srgbClr val="46586A"/>
      </a:dk2>
      <a:lt2>
        <a:srgbClr val="F4F7FB"/>
      </a:lt2>
      <a:accent1>
        <a:srgbClr val="0B2E52"/>
      </a:accent1>
      <a:accent2>
        <a:srgbClr val="2C6FE0"/>
      </a:accent2>
      <a:accent3>
        <a:srgbClr val="6FA5EC"/>
      </a:accent3>
      <a:accent4>
        <a:srgbClr val="DBE3EE"/>
      </a:accent4>
      <a:accent5>
        <a:srgbClr val="93A2B2"/>
      </a:accent5>
      <a:accent6>
        <a:srgbClr val="E9F1FC"/>
      </a:accent6>
      <a:hlink>
        <a:srgbClr val="2C6FE0"/>
      </a:hlink>
      <a:folHlink>
        <a:srgbClr val="6FA5EC"/>
      </a:folHlink>
    </a:clrScheme>
    <a:fontScheme name="cocn_video_ppt169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cn_video_ppt16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2026-07-15T06:16:34Z</dcterms:created>
  <dcterms:modified xsi:type="dcterms:W3CDTF">2026-07-15T06:16:34Z</dcterms:modified>
  <cp:category/>
  <cp:contentStatus/>
</cp:coreProperties>
</file>
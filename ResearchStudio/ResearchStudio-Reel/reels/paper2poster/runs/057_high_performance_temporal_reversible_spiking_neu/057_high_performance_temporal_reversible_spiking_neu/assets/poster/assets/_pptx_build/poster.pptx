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779750"/>
          </a:xfrm>
          <a:prstGeom prst="roundRect">
            <a:avLst>
              <a:gd name="adj" fmla="val 2461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953091"/>
            <a:ext cx="16349682" cy="6676251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953091"/>
            <a:ext cx="16349682" cy="23118861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953091"/>
            <a:ext cx="16349821" cy="10584239"/>
          </a:xfrm>
          <a:prstGeom prst="roundRect">
            <a:avLst>
              <a:gd name="adj" fmla="val 783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961189"/>
            <a:ext cx="16349682" cy="6248836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7869177"/>
            <a:ext cx="16349821" cy="5048131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20541872"/>
            <a:ext cx="16349682" cy="953008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3249155"/>
            <a:ext cx="16349821" cy="6822797"/>
          </a:xfrm>
          <a:prstGeom prst="roundRect">
            <a:avLst>
              <a:gd name="adj" fmla="val 1216"/>
            </a:avLst>
          </a:prstGeom>
          <a:solidFill>
            <a:srgbClr val="EEF0F4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3249155"/>
            <a:ext cx="53340" cy="6822797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peking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3543" y="2000816"/>
            <a:ext cx="1461988" cy="1457938"/>
          </a:xfrm>
          <a:prstGeom prst="rect">
            <a:avLst/>
          </a:prstGeom>
        </p:spPr>
      </p:pic>
      <p:pic>
        <p:nvPicPr>
          <p:cNvPr id="12" name="Picture 11" descr="the-hong-kong-polytechnic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2505" y="2000814"/>
            <a:ext cx="7593449" cy="1457942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369" y="2593530"/>
            <a:ext cx="5620424" cy="1896463"/>
          </a:xfrm>
          <a:prstGeom prst="rect">
            <a:avLst/>
          </a:prstGeom>
        </p:spPr>
      </p:pic>
      <p:pic>
        <p:nvPicPr>
          <p:cNvPr id="14" name="Picture 13" descr="university-of-chinese-academy-of-scien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8009" y="3624633"/>
            <a:ext cx="6950313" cy="1457932"/>
          </a:xfrm>
          <a:prstGeom prst="rect">
            <a:avLst/>
          </a:prstGeom>
        </p:spPr>
      </p:pic>
      <p:pic>
        <p:nvPicPr>
          <p:cNvPr id="15" name="Picture 14" descr="01-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5297" y="3624631"/>
            <a:ext cx="3976191" cy="14579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39991" y="7341195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16393" y="7341195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92795" y="7341195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592795" y="13142892"/>
            <a:ext cx="15573613" cy="1942187"/>
          </a:xfrm>
          <a:prstGeom prst="roundRect">
            <a:avLst>
              <a:gd name="adj" fmla="val 50000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9991" y="14349293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92795" y="15461654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592795" y="15461654"/>
            <a:ext cx="15573613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92795" y="18186161"/>
            <a:ext cx="6841828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9009598"/>
            <a:ext cx="15573474" cy="8030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39991" y="19009598"/>
            <a:ext cx="124460" cy="803017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592795" y="19430761"/>
            <a:ext cx="15573613" cy="3223737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20929977"/>
            <a:ext cx="4863107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9991" y="22515036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637245" y="23637259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4637245" y="27411203"/>
            <a:ext cx="15529163" cy="2346821"/>
          </a:xfrm>
          <a:prstGeom prst="roundRect">
            <a:avLst>
              <a:gd name="adj" fmla="val 8889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488893" y="19653011"/>
            <a:ext cx="5431651" cy="28267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88893" y="19653011"/>
            <a:ext cx="11557" cy="2826743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816393" y="21729938"/>
            <a:ext cx="15573474" cy="5488463"/>
          </a:xfrm>
          <a:prstGeom prst="roundRect">
            <a:avLst>
              <a:gd name="adj" fmla="val 64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6541" y="21729938"/>
            <a:ext cx="15573178" cy="5488463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7816393" y="8668722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816393" y="1059035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592795" y="10871636"/>
            <a:ext cx="15573613" cy="945118"/>
          </a:xfrm>
          <a:prstGeom prst="rect">
            <a:avLst/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816393" y="1251198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16393" y="1443360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592795" y="8681362"/>
            <a:ext cx="8985290" cy="12451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592795" y="9917628"/>
            <a:ext cx="898529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578085" y="8681362"/>
            <a:ext cx="1869122" cy="12451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578085" y="9917628"/>
            <a:ext cx="186912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447207" y="8681362"/>
            <a:ext cx="2247365" cy="12451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447207" y="9917628"/>
            <a:ext cx="224736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694572" y="8681362"/>
            <a:ext cx="2471836" cy="1245156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694572" y="9917628"/>
            <a:ext cx="247183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92795" y="9926518"/>
            <a:ext cx="89852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10862746"/>
            <a:ext cx="898529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578085" y="9926518"/>
            <a:ext cx="18691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578085" y="10862746"/>
            <a:ext cx="186912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447207" y="9926518"/>
            <a:ext cx="224736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447207" y="10862746"/>
            <a:ext cx="224736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694572" y="9926518"/>
            <a:ext cx="247183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7694572" y="10862746"/>
            <a:ext cx="247183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10871636"/>
            <a:ext cx="89852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92795" y="11807864"/>
            <a:ext cx="898529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578085" y="10871636"/>
            <a:ext cx="18691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578085" y="11807864"/>
            <a:ext cx="186912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447207" y="10871636"/>
            <a:ext cx="224736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447207" y="11807864"/>
            <a:ext cx="224736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694572" y="10871636"/>
            <a:ext cx="247183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694572" y="11807864"/>
            <a:ext cx="247183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4592795" y="11816754"/>
            <a:ext cx="898529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592795" y="12752982"/>
            <a:ext cx="8985290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578085" y="11816754"/>
            <a:ext cx="186912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3578085" y="12752982"/>
            <a:ext cx="186912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447207" y="11816754"/>
            <a:ext cx="224736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5447207" y="12752982"/>
            <a:ext cx="224736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694572" y="11816754"/>
            <a:ext cx="247183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7694572" y="12752982"/>
            <a:ext cx="2471836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446402" y="983734"/>
            <a:ext cx="24740176" cy="3778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5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spc="-78">
                <a:solidFill>
                  <a:srgbClr val="33415E"/>
                </a:solidFill>
                <a:latin typeface="Arial"/>
              </a:rPr>
              <a:t>High-Performance Temporal Reversible Spiking</a:t>
            </a:r>
          </a:p>
          <a:p>
            <a:pPr algn="ctr">
              <a:lnSpc>
                <a:spcPts val="825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spc="-78">
                <a:solidFill>
                  <a:srgbClr val="33415E"/>
                </a:solidFill>
                <a:latin typeface="Arial"/>
              </a:rPr>
              <a:t>Neural Networks with O(L) Training Memory and</a:t>
            </a:r>
          </a:p>
          <a:p>
            <a:pPr algn="ctr">
              <a:lnSpc>
                <a:spcPts val="8250"/>
              </a:lnSpc>
              <a:spcBef>
                <a:spcPts val="0"/>
              </a:spcBef>
              <a:spcAft>
                <a:spcPts val="0"/>
              </a:spcAft>
            </a:pPr>
            <a:r>
              <a:rPr sz="7500" b="1" spc="-78">
                <a:solidFill>
                  <a:srgbClr val="33415E"/>
                </a:solidFill>
                <a:latin typeface="Arial"/>
              </a:rPr>
              <a:t>O(1) Inference Cost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446402" y="4468197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Jiakui Hu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Man Yao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Xuerui Qiu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Yuhong Chou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3733" b="0">
                <a:solidFill>
                  <a:srgbClr val="1B2331"/>
                </a:solidFill>
                <a:latin typeface="Arial"/>
              </a:rPr>
              <a:t>, Yuxuan Cai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5</a:t>
            </a:r>
            <a:r>
              <a:rPr sz="3733" b="0">
                <a:solidFill>
                  <a:srgbClr val="1B2331"/>
                </a:solidFill>
                <a:latin typeface="Arial"/>
              </a:rPr>
              <a:t>, Ning Qiao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6</a:t>
            </a:r>
            <a:r>
              <a:rPr sz="3733" b="0">
                <a:solidFill>
                  <a:srgbClr val="1B2331"/>
                </a:solidFill>
                <a:latin typeface="Arial"/>
              </a:rPr>
              <a:t>, Yonghong Tian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1,7</a:t>
            </a:r>
            <a:r>
              <a:rPr sz="3733" b="0">
                <a:solidFill>
                  <a:srgbClr val="1B2331"/>
                </a:solidFill>
                <a:latin typeface="Arial"/>
              </a:rPr>
              <a:t>, Bo Xu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Guoqi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2,8†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446402" y="5137447"/>
            <a:ext cx="24740176" cy="11066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Peking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Institute of Automation, CAS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Future Technology, UCAS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The Hong Kong Polytechnic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01.AI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SynSense AG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7</a:t>
            </a:r>
          </a:p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613" b="0" spc="52">
                <a:solidFill>
                  <a:srgbClr val="55617A"/>
                </a:solidFill>
                <a:latin typeface="Arial"/>
              </a:rPr>
              <a:t>Peng Cheng Laboratory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8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Key Lab of Brain-inspired Intelligence, CAS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7341195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16393" y="7341195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592795" y="7341195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91" y="8585795"/>
            <a:ext cx="1600019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Multi-timestep simulation of SNNs costs </a:t>
            </a:r>
            <a:r>
              <a:rPr sz="4106" b="1">
                <a:solidFill>
                  <a:srgbClr val="111111"/>
                </a:solidFill>
                <a:latin typeface="Arial"/>
              </a:rPr>
              <a:t>O(L×T)</a:t>
            </a:r>
            <a:r>
              <a:rPr sz="4106" b="0">
                <a:solidFill>
                  <a:srgbClr val="1C1C1C"/>
                </a:solidFill>
                <a:latin typeface="Arial"/>
              </a:rPr>
              <a:t> training memory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</a:t>
            </a:r>
            <a:r>
              <a:rPr sz="4106" b="1">
                <a:solidFill>
                  <a:srgbClr val="111111"/>
                </a:solidFill>
                <a:latin typeface="Arial"/>
              </a:rPr>
              <a:t>O(T)</a:t>
            </a:r>
            <a:r>
              <a:rPr sz="4106" b="0">
                <a:solidFill>
                  <a:srgbClr val="1C1C1C"/>
                </a:solidFill>
                <a:latin typeface="Arial"/>
              </a:rPr>
              <a:t> inference energy. Existing training methods relieve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bottleneck but </a:t>
            </a:r>
            <a:r>
              <a:rPr sz="4106" b="1">
                <a:solidFill>
                  <a:srgbClr val="111111"/>
                </a:solidFill>
                <a:latin typeface="Arial"/>
              </a:rPr>
              <a:t>never both at once</a:t>
            </a:r>
            <a:r>
              <a:rPr sz="4106" b="0">
                <a:solidFill>
                  <a:srgbClr val="1C1C1C"/>
                </a:solidFill>
                <a:latin typeface="Arial"/>
              </a:rPr>
              <a:t>, keeping SNNs from scaling.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13142892"/>
            <a:ext cx="16000333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3415E"/>
                </a:solidFill>
                <a:latin typeface="Arial"/>
              </a:rPr>
              <a:t>8.6× less memory, 2.0× faster training, 1.6× lower energy vs.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3415E"/>
                </a:solidFill>
                <a:latin typeface="Arial"/>
              </a:rPr>
              <a:t>the Spike-driven Transformer, at comparable accuracy.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14349293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592795" y="15461654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Best accuracy among CNN-based spiking ResNets, at the lowest cost in its class.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592795" y="18186161"/>
            <a:ext cx="7047082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991" y="19009598"/>
            <a:ext cx="16000194" cy="923469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So why pay the full temporal cost for every neuron?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816393" y="19962772"/>
            <a:ext cx="15729744" cy="1534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Membrane potentials are exactly recoverable across timesteps, so only the last timestep is stored — memory O(L).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91" y="20929977"/>
            <a:ext cx="500900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Contribution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91" y="22515036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T-RevSNN</a:t>
            </a:r>
            <a:r>
              <a:rPr sz="4106" b="0">
                <a:solidFill>
                  <a:srgbClr val="33415E"/>
                </a:solidFill>
                <a:latin typeface="Arial"/>
              </a:rPr>
              <a:t> — a temporal-reversible SNN, cheap to train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cheap to run.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637245" y="23637259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637245" y="24881859"/>
            <a:ext cx="1595588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Because most temporal gradients don't matter, turning off most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neurons' temporal dynamics and making the rest reversible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delivers </a:t>
            </a:r>
            <a:r>
              <a:rPr sz="4106" b="1">
                <a:solidFill>
                  <a:srgbClr val="111111"/>
                </a:solidFill>
                <a:latin typeface="Arial"/>
              </a:rPr>
              <a:t>O(L)</a:t>
            </a:r>
            <a:r>
              <a:rPr sz="4106" b="0">
                <a:solidFill>
                  <a:srgbClr val="1C1C1C"/>
                </a:solidFill>
                <a:latin typeface="Arial"/>
              </a:rPr>
              <a:t> training memory and </a:t>
            </a:r>
            <a:r>
              <a:rPr sz="4106" b="1">
                <a:solidFill>
                  <a:srgbClr val="111111"/>
                </a:solidFill>
                <a:latin typeface="Arial"/>
              </a:rPr>
              <a:t>O(1)</a:t>
            </a:r>
            <a:r>
              <a:rPr sz="4106" b="0">
                <a:solidFill>
                  <a:srgbClr val="1C1C1C"/>
                </a:solidFill>
                <a:latin typeface="Arial"/>
              </a:rPr>
              <a:t> inference cost.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637245" y="27411203"/>
            <a:ext cx="15955883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Removes the memory and training-time bottleneck that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kept SNNs from scaling — toward larger, practical spiking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networks.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778535" y="8668722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Encode once.</a:t>
            </a:r>
            <a:r>
              <a:rPr sz="4106" b="0">
                <a:solidFill>
                  <a:srgbClr val="1C1C1C"/>
                </a:solidFill>
                <a:latin typeface="Arial"/>
              </a:rPr>
              <a:t> The image is encoded a single time, then split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into </a:t>
            </a:r>
            <a:r>
              <a:rPr sz="4106" b="1">
                <a:solidFill>
                  <a:srgbClr val="111111"/>
                </a:solidFill>
                <a:latin typeface="Arial"/>
              </a:rPr>
              <a:t>T groups</a:t>
            </a:r>
            <a:r>
              <a:rPr sz="4106" b="0">
                <a:solidFill>
                  <a:srgbClr val="1C1C1C"/>
                </a:solidFill>
                <a:latin typeface="Arial"/>
              </a:rPr>
              <a:t> — one fed per timestep.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778535" y="10590351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Group the network.</a:t>
            </a:r>
            <a:r>
              <a:rPr sz="4106" b="0">
                <a:solidFill>
                  <a:srgbClr val="1C1C1C"/>
                </a:solidFill>
                <a:latin typeface="Arial"/>
              </a:rPr>
              <a:t> The SNN is divided into </a:t>
            </a:r>
            <a:r>
              <a:rPr sz="4106" b="1">
                <a:solidFill>
                  <a:srgbClr val="111111"/>
                </a:solidFill>
                <a:latin typeface="Arial"/>
              </a:rPr>
              <a:t>T parameter-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sharing sub-networks</a:t>
            </a:r>
            <a:r>
              <a:rPr sz="4106" b="0">
                <a:solidFill>
                  <a:srgbClr val="1C1C1C"/>
                </a:solidFill>
                <a:latin typeface="Arial"/>
              </a:rPr>
              <a:t>, so inference cost is </a:t>
            </a:r>
            <a:r>
              <a:rPr sz="4106" b="1">
                <a:solidFill>
                  <a:srgbClr val="111111"/>
                </a:solidFill>
                <a:latin typeface="Arial"/>
              </a:rPr>
              <a:t>O(1)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11245433"/>
            <a:ext cx="3674841" cy="1799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33415E"/>
                </a:solidFill>
                <a:latin typeface="Arial"/>
              </a:rPr>
              <a:t>~20×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16296" y="12072203"/>
            <a:ext cx="12151084" cy="1565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the memory of a plain ResNet-19 to train a 10-timestep</a:t>
            </a:r>
          </a:p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spiking ResNet-19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778535" y="12511980"/>
            <a:ext cx="15038052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Turn off most neurons.</a:t>
            </a:r>
            <a:r>
              <a:rPr sz="4106" b="0">
                <a:solidFill>
                  <a:srgbClr val="1C1C1C"/>
                </a:solidFill>
                <a:latin typeface="Arial"/>
              </a:rPr>
              <a:t> Temporal dynamics are disabled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everywhere except a few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key</a:t>
            </a:r>
            <a:r>
              <a:rPr sz="4106" b="0">
                <a:solidFill>
                  <a:srgbClr val="1C1C1C"/>
                </a:solidFill>
                <a:latin typeface="Arial"/>
              </a:rPr>
              <a:t> spiking neurons.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8778535" y="14433609"/>
            <a:ext cx="15038052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Make key links reversible.</a:t>
            </a:r>
            <a:r>
              <a:rPr sz="4106" b="0">
                <a:solidFill>
                  <a:srgbClr val="1C1C1C"/>
                </a:solidFill>
                <a:latin typeface="Arial"/>
              </a:rPr>
              <a:t> Only last-timestep membrane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potentials are stored; activations are recomputed, giving </a:t>
            </a:r>
            <a:r>
              <a:rPr sz="4106" b="1">
                <a:solidFill>
                  <a:srgbClr val="111111"/>
                </a:solidFill>
                <a:latin typeface="Arial"/>
              </a:rPr>
              <a:t>O(L)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memory.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9972" y="15606811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Temporal gradients in SNNs are largely </a:t>
            </a:r>
            <a:r>
              <a:rPr sz="4106" b="1">
                <a:solidFill>
                  <a:srgbClr val="111111"/>
                </a:solidFill>
                <a:latin typeface="Arial"/>
              </a:rPr>
              <a:t>unimportant</a:t>
            </a:r>
            <a:r>
              <a:rPr sz="4106" b="0">
                <a:solidFill>
                  <a:srgbClr val="1C1C1C"/>
                </a:solidFill>
                <a:latin typeface="Arial"/>
              </a:rPr>
              <a:t> — only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few key neurons carry temporal information that matters.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72" y="17301745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gradient-similarity analysis confirms only each stage's </a:t>
            </a:r>
            <a:r>
              <a:rPr sz="4106" b="1">
                <a:solidFill>
                  <a:srgbClr val="111111"/>
                </a:solidFill>
                <a:latin typeface="Arial"/>
              </a:rPr>
              <a:t>last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layer</a:t>
            </a:r>
            <a:r>
              <a:rPr sz="4106" b="0">
                <a:solidFill>
                  <a:srgbClr val="1C1C1C"/>
                </a:solidFill>
                <a:latin typeface="Arial"/>
              </a:rPr>
              <a:t> keeps temporal gradients close to the full model.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39972" y="24503479"/>
            <a:ext cx="1600021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Only </a:t>
            </a:r>
            <a:r>
              <a:rPr sz="4106" b="1">
                <a:solidFill>
                  <a:srgbClr val="111111"/>
                </a:solidFill>
                <a:latin typeface="Arial"/>
              </a:rPr>
              <a:t>key</a:t>
            </a:r>
            <a:r>
              <a:rPr sz="4106" b="0">
                <a:solidFill>
                  <a:srgbClr val="1C1C1C"/>
                </a:solidFill>
                <a:latin typeface="Arial"/>
              </a:rPr>
              <a:t> neurons pass temporal information via multi-level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reversible connections, giving </a:t>
            </a:r>
            <a:r>
              <a:rPr sz="4106" b="1">
                <a:solidFill>
                  <a:srgbClr val="111111"/>
                </a:solidFill>
                <a:latin typeface="Arial"/>
              </a:rPr>
              <a:t>O(L)</a:t>
            </a:r>
            <a:r>
              <a:rPr sz="4106" b="0">
                <a:solidFill>
                  <a:srgbClr val="1C1C1C"/>
                </a:solidFill>
                <a:latin typeface="Arial"/>
              </a:rPr>
              <a:t> training memory; once-only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encoding with grouped sub-networks also makes inference cost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O(1)</a:t>
            </a:r>
            <a:r>
              <a:rPr sz="4106" b="0">
                <a:solidFill>
                  <a:srgbClr val="1C1C1C"/>
                </a:solidFill>
                <a:latin typeface="Arial"/>
              </a:rPr>
              <a:t>, not just training.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8439387" y="27368003"/>
            <a:ext cx="14754206" cy="255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Vanilla SNNs unfold every neuron in time (O(L×T) memory, O(T) inference).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T-RevSNN encodes the image once, splits it into T groups over 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parameter-sharing sub-networks, and passes temporal information only at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key neurons — giving O(L) memory and O(1) inference.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9972" y="27710824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BN-free, ConvNeXt-style</a:t>
            </a:r>
            <a:r>
              <a:rPr sz="4106" b="0">
                <a:solidFill>
                  <a:srgbClr val="1C1C1C"/>
                </a:solidFill>
                <a:latin typeface="Arial"/>
              </a:rPr>
              <a:t> block (depth-/point-wise convs)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 scaled residual connection makes the sparse temporal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interaction train effectively.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838659" y="19653011"/>
            <a:ext cx="934884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8.6×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838659" y="21027905"/>
            <a:ext cx="9348847" cy="11993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Less memory vs. Spike-driven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Transformer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838659" y="22070814"/>
            <a:ext cx="934884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at comparable 73.2% top-1 accuracy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592795" y="8681362"/>
            <a:ext cx="9254848" cy="14319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 (IMAGENET-1K)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578085" y="8681362"/>
            <a:ext cx="1925195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TOP-1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447207" y="8681362"/>
            <a:ext cx="2314785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MEM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MB/IMG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694572" y="8681362"/>
            <a:ext cx="2545991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ENERGY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MJ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592795" y="9926518"/>
            <a:ext cx="925484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Spike-driven Transformer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578085" y="9926518"/>
            <a:ext cx="192519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74.6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447207" y="9926518"/>
            <a:ext cx="231478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730.0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7694572" y="9926518"/>
            <a:ext cx="25459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592795" y="10871636"/>
            <a:ext cx="925484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T-RevSNN (ResNet-18, 512ch)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3578085" y="10871636"/>
            <a:ext cx="192519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73.2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447207" y="10871636"/>
            <a:ext cx="231478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85.7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94572" y="10871636"/>
            <a:ext cx="25459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2.8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592795" y="11816754"/>
            <a:ext cx="925484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T-RevSNN (ResNet-18, 384ch)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578085" y="11816754"/>
            <a:ext cx="192519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69.8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447207" y="11816754"/>
            <a:ext cx="231478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57.5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694572" y="11816754"/>
            <a:ext cx="254599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1.7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4967147" y="19653011"/>
            <a:ext cx="108621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2.0×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204247" y="19786361"/>
            <a:ext cx="234111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Faster training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4967147" y="20682168"/>
            <a:ext cx="108621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1.6×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204247" y="20815518"/>
            <a:ext cx="382778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Lower inference energy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967147" y="21711324"/>
            <a:ext cx="156422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73.2%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668332" y="21844674"/>
            <a:ext cx="309453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ImageNet-1K top-1</a:t>
            </a:r>
          </a:p>
        </p:txBody>
      </p:sp>
      <p:pic>
        <p:nvPicPr>
          <p:cNvPr id="126" name="Picture 125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6393" y="17377032"/>
            <a:ext cx="15573474" cy="19753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
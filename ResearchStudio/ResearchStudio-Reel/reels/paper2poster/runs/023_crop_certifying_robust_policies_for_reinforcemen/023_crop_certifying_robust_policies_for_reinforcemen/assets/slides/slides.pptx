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879203" cy="205359"/>
          </a:xfrm>
          <a:prstGeom prst="rect">
            <a:avLst/>
          </a:prstGeom>
          <a:noFill/>
          <a:ln>
            <a:noFill/>
          </a:ln>
        </p:spPr>
        <p:txBody>
          <a:bodyPr wrap="none" lIns="0" tIns="0" rIns="0" bIns="0" anchor="t" anchorCtr="0">
            <a:spAutoFit/>
          </a:bodyPr>
          <a:lstStyle/>
          <a:p>
            <a:pPr algn="l"/>
            <a:r>
              <a:rPr lang="en-US" sz="1050" b="1" spc="150" dirty="0">
                <a:solidFill>
                  <a:schemeClr val="accent2"/>
                </a:solidFill>
                <a:latin typeface="+mn-lt"/>
                <a:ea typeface="+mn-ea"/>
                <a:cs typeface="+mn-cs"/>
              </a:rPr>
              <a:t>ICLR 2022</a:t>
            </a:r>
          </a:p>
        </p:txBody>
      </p:sp>
      <p:sp>
        <p:nvSpPr>
          <p:cNvPr id="3" name="TextBox 3"/>
          <p:cNvSpPr txBox="1"/>
          <p:nvPr/>
        </p:nvSpPr>
        <p:spPr>
          <a:xfrm>
            <a:off x="8282265" y="576501"/>
            <a:ext cx="3305278"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Certified Robustness · Reinforcement Learning</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84A66"/>
            </a:solidFill>
          </a:ln>
        </p:spPr>
        <p:txBody>
          <a:bodyPr/>
          <a:p/>
        </p:txBody>
      </p:sp>
      <p:sp>
        <p:nvSpPr>
          <p:cNvPr id="5" name="TextBox 5"/>
          <p:cNvSpPr txBox="1"/>
          <p:nvPr/>
        </p:nvSpPr>
        <p:spPr>
          <a:xfrm>
            <a:off x="592836" y="1072515"/>
            <a:ext cx="1216396"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CROP</a:t>
            </a:r>
          </a:p>
        </p:txBody>
      </p:sp>
      <p:sp>
        <p:nvSpPr>
          <p:cNvPr id="6" name="TextBox 6"/>
          <p:cNvSpPr txBox="1"/>
          <p:nvPr/>
        </p:nvSpPr>
        <p:spPr>
          <a:xfrm>
            <a:off x="600837" y="1680686"/>
            <a:ext cx="6461609"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Certifying Robust Policies for Reinforcement Learning</a:t>
            </a:r>
          </a:p>
        </p:txBody>
      </p:sp>
      <p:sp>
        <p:nvSpPr>
          <p:cNvPr id="7" name="TextBox 7"/>
          <p:cNvSpPr txBox="1"/>
          <p:nvPr/>
        </p:nvSpPr>
        <p:spPr>
          <a:xfrm>
            <a:off x="600837" y="1947386"/>
            <a:ext cx="3521542" cy="337376"/>
          </a:xfrm>
          <a:prstGeom prst="rect">
            <a:avLst/>
          </a:prstGeom>
          <a:noFill/>
          <a:ln>
            <a:noFill/>
          </a:ln>
        </p:spPr>
        <p:txBody>
          <a:bodyPr wrap="none" lIns="0" tIns="0" rIns="0" bIns="0" anchor="t" anchorCtr="0">
            <a:spAutoFit/>
          </a:bodyPr>
          <a:lstStyle/>
          <a:p>
            <a:pPr algn="l"/>
            <a:r>
              <a:rPr lang="en-US" sz="1720" b="1" dirty="0">
                <a:solidFill>
                  <a:schemeClr val="accent2"/>
                </a:solidFill>
                <a:latin typeface="+mn-lt"/>
                <a:ea typeface="+mn-ea"/>
                <a:cs typeface="+mn-cs"/>
              </a:rPr>
              <a:t>through Functional Smoothing</a:t>
            </a:r>
          </a:p>
        </p:txBody>
      </p:sp>
      <p:sp>
        <p:nvSpPr>
          <p:cNvPr id="8" name="Ellipse 8"/>
          <p:cNvSpPr/>
          <p:nvPr/>
        </p:nvSpPr>
        <p:spPr>
          <a:xfrm>
            <a:off x="10191750" y="1238250"/>
            <a:ext cx="876300" cy="876300"/>
          </a:xfrm>
          <a:prstGeom prst="ellipse">
            <a:avLst/>
          </a:prstGeom>
          <a:noFill/>
          <a:ln w="20955">
            <a:solidFill>
              <a:schemeClr val="accent2"/>
            </a:solidFill>
          </a:ln>
        </p:spPr>
        <p:txBody>
          <a:bodyPr/>
          <a:p/>
        </p:txBody>
      </p:sp>
      <p:sp>
        <p:nvSpPr>
          <p:cNvPr id="9" name="Ellipse 9"/>
          <p:cNvSpPr/>
          <p:nvPr/>
        </p:nvSpPr>
        <p:spPr>
          <a:xfrm>
            <a:off x="10096500" y="1143000"/>
            <a:ext cx="1066800" cy="1066800"/>
          </a:xfrm>
          <a:prstGeom prst="ellipse">
            <a:avLst/>
          </a:prstGeom>
          <a:noFill/>
          <a:ln w="9525">
            <a:solidFill>
              <a:schemeClr val="accent2">
                <a:alpha val="35000"/>
              </a:schemeClr>
            </a:solidFill>
          </a:ln>
        </p:spPr>
        <p:txBody>
          <a:bodyPr/>
          <a:p/>
        </p:txBody>
      </p:sp>
      <p:sp>
        <p:nvSpPr>
          <p:cNvPr id="10" name="Ellipse 10"/>
          <p:cNvSpPr/>
          <p:nvPr/>
        </p:nvSpPr>
        <p:spPr>
          <a:xfrm>
            <a:off x="10582275" y="1628775"/>
            <a:ext cx="95250" cy="95250"/>
          </a:xfrm>
          <a:prstGeom prst="ellipse">
            <a:avLst/>
          </a:prstGeom>
          <a:solidFill>
            <a:srgbClr val="F4C24C"/>
          </a:solidFill>
          <a:ln>
            <a:noFill/>
          </a:ln>
        </p:spPr>
        <p:txBody>
          <a:bodyPr/>
          <a:p/>
        </p:txBody>
      </p:sp>
      <p:sp>
        <p:nvSpPr>
          <p:cNvPr id="11" name="Line 11"/>
          <p:cNvSpPr/>
          <p:nvPr/>
        </p:nvSpPr>
        <p:spPr>
          <a:xfrm>
            <a:off x="10629900" y="1676400"/>
            <a:ext cx="438150" cy="9525"/>
          </a:xfrm>
          <a:custGeom>
            <a:avLst/>
            <a:gdLst/>
            <a:ahLst/>
            <a:cxnLst/>
            <a:rect l="l" t="t" r="r" b="b"/>
            <a:pathLst>
              <a:path w="438150" h="9525">
                <a:moveTo>
                  <a:pt x="0" y="0"/>
                </a:moveTo>
                <a:lnTo>
                  <a:pt x="438150" y="0"/>
                </a:lnTo>
              </a:path>
            </a:pathLst>
          </a:custGeom>
          <a:noFill/>
          <a:ln w="15240" cap="rnd">
            <a:solidFill>
              <a:srgbClr val="F4C24C"/>
            </a:solidFill>
            <a:custDash>
              <a:ds d="312500" sp="250000"/>
            </a:custDash>
          </a:ln>
        </p:spPr>
        <p:txBody>
          <a:bodyPr/>
          <a:p/>
        </p:txBody>
      </p:sp>
      <p:sp>
        <p:nvSpPr>
          <p:cNvPr id="12" name="TextBox 12"/>
          <p:cNvSpPr txBox="1"/>
          <p:nvPr/>
        </p:nvSpPr>
        <p:spPr>
          <a:xfrm>
            <a:off x="10802826" y="1486852"/>
            <a:ext cx="92298" cy="205359"/>
          </a:xfrm>
          <a:prstGeom prst="rect">
            <a:avLst/>
          </a:prstGeom>
          <a:noFill/>
          <a:ln>
            <a:noFill/>
          </a:ln>
        </p:spPr>
        <p:txBody>
          <a:bodyPr wrap="none" lIns="0" tIns="0" rIns="0" bIns="0" anchor="t" anchorCtr="0">
            <a:spAutoFit/>
          </a:bodyPr>
          <a:lstStyle/>
          <a:p>
            <a:pPr algn="ctr"/>
            <a:r>
              <a:rPr lang="en-US" sz="1050" b="1" dirty="0">
                <a:solidFill>
                  <a:srgbClr val="F4C24C"/>
                </a:solidFill>
                <a:latin typeface="Consolas"/>
                <a:ea typeface="Consolas"/>
                <a:cs typeface="Consolas"/>
              </a:rPr>
              <a:t>r</a:t>
            </a:r>
          </a:p>
        </p:txBody>
      </p:sp>
      <p:sp>
        <p:nvSpPr>
          <p:cNvPr id="13" name="TextBox 13"/>
          <p:cNvSpPr txBox="1"/>
          <p:nvPr/>
        </p:nvSpPr>
        <p:spPr>
          <a:xfrm>
            <a:off x="10269569" y="992743"/>
            <a:ext cx="720662" cy="169069"/>
          </a:xfrm>
          <a:prstGeom prst="rect">
            <a:avLst/>
          </a:prstGeom>
          <a:noFill/>
          <a:ln>
            <a:noFill/>
          </a:ln>
        </p:spPr>
        <p:txBody>
          <a:bodyPr wrap="none" lIns="0" tIns="0" rIns="0" bIns="0" anchor="t" anchorCtr="0">
            <a:spAutoFit/>
          </a:bodyPr>
          <a:lstStyle/>
          <a:p>
            <a:pPr algn="ctr"/>
            <a:r>
              <a:rPr lang="en-US" sz="860" b="1" dirty="0">
                <a:solidFill>
                  <a:srgbClr val="33D6C0"/>
                </a:solidFill>
                <a:latin typeface="+mn-lt"/>
                <a:ea typeface="+mn-ea"/>
                <a:cs typeface="+mn-cs"/>
              </a:rPr>
              <a:t>action fixed</a:t>
            </a:r>
          </a:p>
        </p:txBody>
      </p:sp>
      <p:sp>
        <p:nvSpPr>
          <p:cNvPr id="14" name="TextBox 14"/>
          <p:cNvSpPr txBox="1"/>
          <p:nvPr/>
        </p:nvSpPr>
        <p:spPr>
          <a:xfrm>
            <a:off x="10406326" y="2230993"/>
            <a:ext cx="447148"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state s</a:t>
            </a:r>
          </a:p>
        </p:txBody>
      </p:sp>
      <p:sp>
        <p:nvSpPr>
          <p:cNvPr id="15" name="TextBox 15"/>
          <p:cNvSpPr txBox="1"/>
          <p:nvPr/>
        </p:nvSpPr>
        <p:spPr>
          <a:xfrm>
            <a:off x="604456" y="2348151"/>
            <a:ext cx="482208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Fan Wu · Linyi Li · Zijian Huang · Yevgeniy Vorobeychik · Ding Zhao · Bo Li</a:t>
            </a:r>
          </a:p>
        </p:txBody>
      </p:sp>
      <p:sp>
        <p:nvSpPr>
          <p:cNvPr id="16" name="TextBox 16"/>
          <p:cNvSpPr txBox="1"/>
          <p:nvPr/>
        </p:nvSpPr>
        <p:spPr>
          <a:xfrm>
            <a:off x="604838" y="2565797"/>
            <a:ext cx="4529438"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UIUC · Washington University in St. Louis · Carnegie Mellon University</a:t>
            </a:r>
          </a:p>
        </p:txBody>
      </p:sp>
      <p:grpSp>
        <p:nvGrpSpPr>
          <p:cNvPr id="27" name="Group 27"/>
          <p:cNvGrpSpPr/>
          <p:nvPr/>
        </p:nvGrpSpPr>
        <p:grpSpPr>
          <a:xfrm>
            <a:off x="609600" y="2914650"/>
            <a:ext cx="2628900" cy="2133600"/>
            <a:chOff x="609600" y="2914650"/>
            <a:chExt cx="2628900" cy="2133600"/>
          </a:xfrm>
        </p:grpSpPr>
        <p:sp>
          <p:nvSpPr>
            <p:cNvPr id="17" name="Rectangle 17"/>
            <p:cNvSpPr/>
            <p:nvPr/>
          </p:nvSpPr>
          <p:spPr>
            <a:xfrm>
              <a:off x="609600" y="2914650"/>
              <a:ext cx="2628900" cy="2133600"/>
            </a:xfrm>
            <a:prstGeom prst="roundRect">
              <a:avLst>
                <a:gd name="adj" fmla="val 6250"/>
              </a:avLst>
            </a:prstGeom>
            <a:solidFill>
              <a:schemeClr val="accent5"/>
            </a:solidFill>
            <a:ln w="14288">
              <a:solidFill>
                <a:srgbClr val="284A66"/>
              </a:solidFill>
            </a:ln>
          </p:spPr>
        </p:sp>
        <p:sp>
          <p:nvSpPr>
            <p:cNvPr id="18" name="Rectangle 18"/>
            <p:cNvSpPr/>
            <p:nvPr/>
          </p:nvSpPr>
          <p:spPr>
            <a:xfrm>
              <a:off x="609600" y="2914650"/>
              <a:ext cx="2628900" cy="57150"/>
            </a:xfrm>
            <a:prstGeom prst="roundRect">
              <a:avLst>
                <a:gd name="adj" fmla="val 50000"/>
              </a:avLst>
            </a:prstGeom>
            <a:solidFill>
              <a:schemeClr val="accent2"/>
            </a:solidFill>
            <a:ln>
              <a:noFill/>
            </a:ln>
          </p:spPr>
        </p:sp>
        <p:sp>
          <p:nvSpPr>
            <p:cNvPr id="19" name="Ellipse 19"/>
            <p:cNvSpPr/>
            <p:nvPr/>
          </p:nvSpPr>
          <p:spPr>
            <a:xfrm>
              <a:off x="790575" y="3248025"/>
              <a:ext cx="133350" cy="133350"/>
            </a:xfrm>
            <a:prstGeom prst="ellipse">
              <a:avLst/>
            </a:prstGeom>
            <a:solidFill>
              <a:schemeClr val="accent2"/>
            </a:solidFill>
            <a:ln>
              <a:noFill/>
            </a:ln>
          </p:spPr>
        </p:sp>
        <p:sp>
          <p:nvSpPr>
            <p:cNvPr id="20" name="TextBox 20"/>
            <p:cNvSpPr txBox="1"/>
            <p:nvPr/>
          </p:nvSpPr>
          <p:spPr>
            <a:xfrm>
              <a:off x="1022223" y="3234214"/>
              <a:ext cx="184272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RL in safety-critical</a:t>
              </a:r>
            </a:p>
          </p:txBody>
        </p:sp>
        <p:sp>
          <p:nvSpPr>
            <p:cNvPr id="21" name="TextBox 21"/>
            <p:cNvSpPr txBox="1"/>
            <p:nvPr/>
          </p:nvSpPr>
          <p:spPr>
            <a:xfrm>
              <a:off x="1022223" y="3443764"/>
              <a:ext cx="74571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systems</a:t>
              </a:r>
            </a:p>
          </p:txBody>
        </p:sp>
        <p:sp>
          <p:nvSpPr>
            <p:cNvPr id="22" name="TextBox 22"/>
            <p:cNvSpPr txBox="1"/>
            <p:nvPr/>
          </p:nvSpPr>
          <p:spPr>
            <a:xfrm>
              <a:off x="833247" y="3723799"/>
              <a:ext cx="223047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Reinforcement learning now drives</a:t>
              </a:r>
            </a:p>
          </p:txBody>
        </p:sp>
        <p:sp>
          <p:nvSpPr>
            <p:cNvPr id="23" name="TextBox 23"/>
            <p:cNvSpPr txBox="1"/>
            <p:nvPr/>
          </p:nvSpPr>
          <p:spPr>
            <a:xfrm>
              <a:off x="833247" y="3904774"/>
              <a:ext cx="222629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systems like autonomous vehicles,</a:t>
              </a:r>
            </a:p>
          </p:txBody>
        </p:sp>
        <p:sp>
          <p:nvSpPr>
            <p:cNvPr id="24" name="TextBox 24"/>
            <p:cNvSpPr txBox="1"/>
            <p:nvPr/>
          </p:nvSpPr>
          <p:spPr>
            <a:xfrm>
              <a:off x="833247" y="4085749"/>
              <a:ext cx="230544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where adversarial perturbations to</a:t>
              </a:r>
            </a:p>
          </p:txBody>
        </p:sp>
        <p:sp>
          <p:nvSpPr>
            <p:cNvPr id="25" name="TextBox 25"/>
            <p:cNvSpPr txBox="1"/>
            <p:nvPr/>
          </p:nvSpPr>
          <p:spPr>
            <a:xfrm>
              <a:off x="833247" y="4266724"/>
              <a:ext cx="173815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 policy's input states can</a:t>
              </a:r>
            </a:p>
          </p:txBody>
        </p:sp>
        <p:sp>
          <p:nvSpPr>
            <p:cNvPr id="26" name="TextBox 26"/>
            <p:cNvSpPr txBox="1"/>
            <p:nvPr/>
          </p:nvSpPr>
          <p:spPr>
            <a:xfrm>
              <a:off x="833247" y="4447699"/>
              <a:ext cx="216692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quietly steer it toward disaster.</a:t>
              </a:r>
            </a:p>
          </p:txBody>
        </p:sp>
      </p:grpSp>
      <p:grpSp>
        <p:nvGrpSpPr>
          <p:cNvPr id="38" name="Group 38"/>
          <p:cNvGrpSpPr/>
          <p:nvPr/>
        </p:nvGrpSpPr>
        <p:grpSpPr>
          <a:xfrm>
            <a:off x="3390900" y="2914650"/>
            <a:ext cx="2628900" cy="2133600"/>
            <a:chOff x="3390900" y="2914650"/>
            <a:chExt cx="2628900" cy="2133600"/>
          </a:xfrm>
        </p:grpSpPr>
        <p:sp>
          <p:nvSpPr>
            <p:cNvPr id="28" name="Rectangle 28"/>
            <p:cNvSpPr/>
            <p:nvPr/>
          </p:nvSpPr>
          <p:spPr>
            <a:xfrm>
              <a:off x="3390900" y="2914650"/>
              <a:ext cx="2628900" cy="2133600"/>
            </a:xfrm>
            <a:prstGeom prst="roundRect">
              <a:avLst>
                <a:gd name="adj" fmla="val 6250"/>
              </a:avLst>
            </a:prstGeom>
            <a:solidFill>
              <a:schemeClr val="accent5"/>
            </a:solidFill>
            <a:ln w="14288">
              <a:solidFill>
                <a:srgbClr val="284A66"/>
              </a:solidFill>
            </a:ln>
          </p:spPr>
        </p:sp>
        <p:sp>
          <p:nvSpPr>
            <p:cNvPr id="29" name="Rectangle 29"/>
            <p:cNvSpPr/>
            <p:nvPr/>
          </p:nvSpPr>
          <p:spPr>
            <a:xfrm>
              <a:off x="3390900" y="2914650"/>
              <a:ext cx="2628900" cy="57150"/>
            </a:xfrm>
            <a:prstGeom prst="roundRect">
              <a:avLst>
                <a:gd name="adj" fmla="val 50000"/>
              </a:avLst>
            </a:prstGeom>
            <a:solidFill>
              <a:srgbClr val="F2685C"/>
            </a:solidFill>
            <a:ln>
              <a:noFill/>
            </a:ln>
          </p:spPr>
        </p:sp>
        <p:sp>
          <p:nvSpPr>
            <p:cNvPr id="30" name="Ellipse 30"/>
            <p:cNvSpPr/>
            <p:nvPr/>
          </p:nvSpPr>
          <p:spPr>
            <a:xfrm>
              <a:off x="3571875" y="3248025"/>
              <a:ext cx="133350" cy="133350"/>
            </a:xfrm>
            <a:prstGeom prst="ellipse">
              <a:avLst/>
            </a:prstGeom>
            <a:solidFill>
              <a:srgbClr val="F2685C"/>
            </a:solidFill>
            <a:ln>
              <a:noFill/>
            </a:ln>
          </p:spPr>
        </p:sp>
        <p:sp>
          <p:nvSpPr>
            <p:cNvPr id="31" name="TextBox 31"/>
            <p:cNvSpPr txBox="1"/>
            <p:nvPr/>
          </p:nvSpPr>
          <p:spPr>
            <a:xfrm>
              <a:off x="3803523" y="3234214"/>
              <a:ext cx="137541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Empirical is not</a:t>
              </a:r>
            </a:p>
          </p:txBody>
        </p:sp>
        <p:sp>
          <p:nvSpPr>
            <p:cNvPr id="32" name="TextBox 32"/>
            <p:cNvSpPr txBox="1"/>
            <p:nvPr/>
          </p:nvSpPr>
          <p:spPr>
            <a:xfrm>
              <a:off x="3803523" y="3443764"/>
              <a:ext cx="61002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enough</a:t>
              </a:r>
            </a:p>
          </p:txBody>
        </p:sp>
        <p:sp>
          <p:nvSpPr>
            <p:cNvPr id="33" name="TextBox 33"/>
            <p:cNvSpPr txBox="1"/>
            <p:nvPr/>
          </p:nvSpPr>
          <p:spPr>
            <a:xfrm>
              <a:off x="3614547" y="3723799"/>
              <a:ext cx="225705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Many defenses improve robustness</a:t>
              </a:r>
            </a:p>
          </p:txBody>
        </p:sp>
        <p:sp>
          <p:nvSpPr>
            <p:cNvPr id="34" name="TextBox 34"/>
            <p:cNvSpPr txBox="1"/>
            <p:nvPr/>
          </p:nvSpPr>
          <p:spPr>
            <a:xfrm>
              <a:off x="3614547" y="3904774"/>
              <a:ext cx="208776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empirically, yet almost none can</a:t>
              </a:r>
            </a:p>
          </p:txBody>
        </p:sp>
        <p:sp>
          <p:nvSpPr>
            <p:cNvPr id="35" name="TextBox 35"/>
            <p:cNvSpPr txBox="1"/>
            <p:nvPr/>
          </p:nvSpPr>
          <p:spPr>
            <a:xfrm>
              <a:off x="3614547" y="4085749"/>
              <a:ext cx="173156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certify it with theoretical</a:t>
              </a:r>
            </a:p>
          </p:txBody>
        </p:sp>
        <p:sp>
          <p:nvSpPr>
            <p:cNvPr id="36" name="TextBox 36"/>
            <p:cNvSpPr txBox="1"/>
            <p:nvPr/>
          </p:nvSpPr>
          <p:spPr>
            <a:xfrm>
              <a:off x="3614547" y="4266724"/>
              <a:ext cx="2199904"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guarantees against every bounded</a:t>
              </a:r>
            </a:p>
          </p:txBody>
        </p:sp>
        <p:sp>
          <p:nvSpPr>
            <p:cNvPr id="37" name="TextBox 37"/>
            <p:cNvSpPr txBox="1"/>
            <p:nvPr/>
          </p:nvSpPr>
          <p:spPr>
            <a:xfrm>
              <a:off x="3614547" y="4447699"/>
              <a:ext cx="51782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attack.</a:t>
              </a:r>
            </a:p>
          </p:txBody>
        </p:sp>
      </p:grpSp>
      <p:grpSp>
        <p:nvGrpSpPr>
          <p:cNvPr id="48" name="Group 48"/>
          <p:cNvGrpSpPr/>
          <p:nvPr/>
        </p:nvGrpSpPr>
        <p:grpSpPr>
          <a:xfrm>
            <a:off x="6172200" y="2914650"/>
            <a:ext cx="2628900" cy="2133600"/>
            <a:chOff x="6172200" y="2914650"/>
            <a:chExt cx="2628900" cy="2133600"/>
          </a:xfrm>
        </p:grpSpPr>
        <p:sp>
          <p:nvSpPr>
            <p:cNvPr id="39" name="Rectangle 39"/>
            <p:cNvSpPr/>
            <p:nvPr/>
          </p:nvSpPr>
          <p:spPr>
            <a:xfrm>
              <a:off x="6172200" y="2914650"/>
              <a:ext cx="2628900" cy="2133600"/>
            </a:xfrm>
            <a:prstGeom prst="roundRect">
              <a:avLst>
                <a:gd name="adj" fmla="val 6250"/>
              </a:avLst>
            </a:prstGeom>
            <a:solidFill>
              <a:schemeClr val="accent5"/>
            </a:solidFill>
            <a:ln w="14288">
              <a:solidFill>
                <a:srgbClr val="284A66"/>
              </a:solidFill>
            </a:ln>
          </p:spPr>
        </p:sp>
        <p:sp>
          <p:nvSpPr>
            <p:cNvPr id="40" name="Rectangle 40"/>
            <p:cNvSpPr/>
            <p:nvPr/>
          </p:nvSpPr>
          <p:spPr>
            <a:xfrm>
              <a:off x="6172200" y="2914650"/>
              <a:ext cx="2628900" cy="57150"/>
            </a:xfrm>
            <a:prstGeom prst="roundRect">
              <a:avLst>
                <a:gd name="adj" fmla="val 50000"/>
              </a:avLst>
            </a:prstGeom>
            <a:solidFill>
              <a:srgbClr val="33D6C0"/>
            </a:solidFill>
            <a:ln>
              <a:noFill/>
            </a:ln>
          </p:spPr>
        </p:sp>
        <p:sp>
          <p:nvSpPr>
            <p:cNvPr id="41" name="Ellipse 41"/>
            <p:cNvSpPr/>
            <p:nvPr/>
          </p:nvSpPr>
          <p:spPr>
            <a:xfrm>
              <a:off x="6353175" y="3248025"/>
              <a:ext cx="133350" cy="133350"/>
            </a:xfrm>
            <a:prstGeom prst="ellipse">
              <a:avLst/>
            </a:prstGeom>
            <a:solidFill>
              <a:srgbClr val="33D6C0"/>
            </a:solidFill>
            <a:ln>
              <a:noFill/>
            </a:ln>
          </p:spPr>
        </p:sp>
        <p:sp>
          <p:nvSpPr>
            <p:cNvPr id="42" name="TextBox 42"/>
            <p:cNvSpPr txBox="1"/>
            <p:nvPr/>
          </p:nvSpPr>
          <p:spPr>
            <a:xfrm>
              <a:off x="6584823" y="3234214"/>
              <a:ext cx="187331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Certify at two levels</a:t>
              </a:r>
            </a:p>
          </p:txBody>
        </p:sp>
        <p:sp>
          <p:nvSpPr>
            <p:cNvPr id="43" name="TextBox 43"/>
            <p:cNvSpPr txBox="1"/>
            <p:nvPr/>
          </p:nvSpPr>
          <p:spPr>
            <a:xfrm>
              <a:off x="6395847" y="3723799"/>
              <a:ext cx="160343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CROP is the first unified</a:t>
              </a:r>
            </a:p>
          </p:txBody>
        </p:sp>
        <p:sp>
          <p:nvSpPr>
            <p:cNvPr id="44" name="TextBox 44"/>
            <p:cNvSpPr txBox="1"/>
            <p:nvPr/>
          </p:nvSpPr>
          <p:spPr>
            <a:xfrm>
              <a:off x="6395847" y="3904774"/>
              <a:ext cx="237370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framework to certify RL robustness</a:t>
              </a:r>
            </a:p>
          </p:txBody>
        </p:sp>
        <p:sp>
          <p:nvSpPr>
            <p:cNvPr id="45" name="TextBox 45"/>
            <p:cNvSpPr txBox="1"/>
            <p:nvPr/>
          </p:nvSpPr>
          <p:spPr>
            <a:xfrm>
              <a:off x="6395847" y="4085749"/>
              <a:ext cx="187008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at two levels: the per-state</a:t>
              </a:r>
            </a:p>
          </p:txBody>
        </p:sp>
        <p:sp>
          <p:nvSpPr>
            <p:cNvPr id="46" name="TextBox 46"/>
            <p:cNvSpPr txBox="1"/>
            <p:nvPr/>
          </p:nvSpPr>
          <p:spPr>
            <a:xfrm>
              <a:off x="6395847" y="4266724"/>
              <a:ext cx="183710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action, and a lower bound on</a:t>
              </a:r>
            </a:p>
          </p:txBody>
        </p:sp>
        <p:sp>
          <p:nvSpPr>
            <p:cNvPr id="47" name="TextBox 47"/>
            <p:cNvSpPr txBox="1"/>
            <p:nvPr/>
          </p:nvSpPr>
          <p:spPr>
            <a:xfrm>
              <a:off x="6395847" y="4447699"/>
              <a:ext cx="126981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cumulative reward.</a:t>
              </a:r>
            </a:p>
          </p:txBody>
        </p:sp>
      </p:grpSp>
      <p:grpSp>
        <p:nvGrpSpPr>
          <p:cNvPr id="59" name="Group 59"/>
          <p:cNvGrpSpPr/>
          <p:nvPr/>
        </p:nvGrpSpPr>
        <p:grpSpPr>
          <a:xfrm>
            <a:off x="8953500" y="2914650"/>
            <a:ext cx="2628900" cy="2133600"/>
            <a:chOff x="8953500" y="2914650"/>
            <a:chExt cx="2628900" cy="2133600"/>
          </a:xfrm>
        </p:grpSpPr>
        <p:sp>
          <p:nvSpPr>
            <p:cNvPr id="49" name="Rectangle 49"/>
            <p:cNvSpPr/>
            <p:nvPr/>
          </p:nvSpPr>
          <p:spPr>
            <a:xfrm>
              <a:off x="8953500" y="2914650"/>
              <a:ext cx="2628900" cy="2133600"/>
            </a:xfrm>
            <a:prstGeom prst="roundRect">
              <a:avLst>
                <a:gd name="adj" fmla="val 6250"/>
              </a:avLst>
            </a:prstGeom>
            <a:solidFill>
              <a:schemeClr val="accent5"/>
            </a:solidFill>
            <a:ln w="14288">
              <a:solidFill>
                <a:srgbClr val="284A66"/>
              </a:solidFill>
            </a:ln>
          </p:spPr>
        </p:sp>
        <p:sp>
          <p:nvSpPr>
            <p:cNvPr id="50" name="Rectangle 50"/>
            <p:cNvSpPr/>
            <p:nvPr/>
          </p:nvSpPr>
          <p:spPr>
            <a:xfrm>
              <a:off x="8953500" y="2914650"/>
              <a:ext cx="2628900" cy="57150"/>
            </a:xfrm>
            <a:prstGeom prst="roundRect">
              <a:avLst>
                <a:gd name="adj" fmla="val 50000"/>
              </a:avLst>
            </a:prstGeom>
            <a:solidFill>
              <a:srgbClr val="46C98B"/>
            </a:solidFill>
            <a:ln>
              <a:noFill/>
            </a:ln>
          </p:spPr>
        </p:sp>
        <p:sp>
          <p:nvSpPr>
            <p:cNvPr id="51" name="Ellipse 51"/>
            <p:cNvSpPr/>
            <p:nvPr/>
          </p:nvSpPr>
          <p:spPr>
            <a:xfrm>
              <a:off x="9134475" y="3248025"/>
              <a:ext cx="133350" cy="133350"/>
            </a:xfrm>
            <a:prstGeom prst="ellipse">
              <a:avLst/>
            </a:prstGeom>
            <a:solidFill>
              <a:srgbClr val="46C98B"/>
            </a:solidFill>
            <a:ln>
              <a:noFill/>
            </a:ln>
          </p:spPr>
        </p:sp>
        <p:sp>
          <p:nvSpPr>
            <p:cNvPr id="52" name="TextBox 52"/>
            <p:cNvSpPr txBox="1"/>
            <p:nvPr/>
          </p:nvSpPr>
          <p:spPr>
            <a:xfrm>
              <a:off x="9366123" y="3234214"/>
              <a:ext cx="115280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9 methods, 4</a:t>
              </a:r>
            </a:p>
          </p:txBody>
        </p:sp>
        <p:sp>
          <p:nvSpPr>
            <p:cNvPr id="53" name="TextBox 53"/>
            <p:cNvSpPr txBox="1"/>
            <p:nvPr/>
          </p:nvSpPr>
          <p:spPr>
            <a:xfrm>
              <a:off x="9366123" y="3443764"/>
              <a:ext cx="11980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environments</a:t>
              </a:r>
            </a:p>
          </p:txBody>
        </p:sp>
        <p:sp>
          <p:nvSpPr>
            <p:cNvPr id="54" name="TextBox 54"/>
            <p:cNvSpPr txBox="1"/>
            <p:nvPr/>
          </p:nvSpPr>
          <p:spPr>
            <a:xfrm>
              <a:off x="9177147" y="3723799"/>
              <a:ext cx="179531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authors benchmark nine</a:t>
              </a:r>
            </a:p>
          </p:txBody>
        </p:sp>
        <p:sp>
          <p:nvSpPr>
            <p:cNvPr id="55" name="TextBox 55"/>
            <p:cNvSpPr txBox="1"/>
            <p:nvPr/>
          </p:nvSpPr>
          <p:spPr>
            <a:xfrm>
              <a:off x="9177147" y="3904774"/>
              <a:ext cx="191793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existing robust RL algorithms</a:t>
              </a:r>
            </a:p>
          </p:txBody>
        </p:sp>
        <p:sp>
          <p:nvSpPr>
            <p:cNvPr id="56" name="TextBox 56"/>
            <p:cNvSpPr txBox="1"/>
            <p:nvPr/>
          </p:nvSpPr>
          <p:spPr>
            <a:xfrm>
              <a:off x="9177147" y="4085749"/>
              <a:ext cx="229225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across four environments and show</a:t>
              </a:r>
            </a:p>
          </p:txBody>
        </p:sp>
        <p:sp>
          <p:nvSpPr>
            <p:cNvPr id="57" name="TextBox 57"/>
            <p:cNvSpPr txBox="1"/>
            <p:nvPr/>
          </p:nvSpPr>
          <p:spPr>
            <a:xfrm>
              <a:off x="9177147" y="4266724"/>
              <a:ext cx="184370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their certificates are often</a:t>
              </a:r>
            </a:p>
          </p:txBody>
        </p:sp>
        <p:sp>
          <p:nvSpPr>
            <p:cNvPr id="58" name="TextBox 58"/>
            <p:cNvSpPr txBox="1"/>
            <p:nvPr/>
          </p:nvSpPr>
          <p:spPr>
            <a:xfrm>
              <a:off x="9177147" y="4447699"/>
              <a:ext cx="41228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tight.</a:t>
              </a:r>
            </a:p>
          </p:txBody>
        </p:sp>
      </p:grpSp>
      <p:sp>
        <p:nvSpPr>
          <p:cNvPr id="60" name="Line 60"/>
          <p:cNvSpPr/>
          <p:nvPr/>
        </p:nvSpPr>
        <p:spPr>
          <a:xfrm>
            <a:off x="609600" y="5295900"/>
            <a:ext cx="10972800" cy="9525"/>
          </a:xfrm>
          <a:custGeom>
            <a:avLst/>
            <a:gdLst/>
            <a:ahLst/>
            <a:cxnLst/>
            <a:rect l="l" t="t" r="r" b="b"/>
            <a:pathLst>
              <a:path w="10972800" h="9525">
                <a:moveTo>
                  <a:pt x="0" y="0"/>
                </a:moveTo>
                <a:lnTo>
                  <a:pt x="10972800" y="0"/>
                </a:lnTo>
              </a:path>
            </a:pathLst>
          </a:custGeom>
          <a:noFill/>
          <a:ln w="9525" cap="rnd">
            <a:solidFill>
              <a:srgbClr val="284A66"/>
            </a:solidFill>
          </a:ln>
        </p:spPr>
        <p:txBody>
          <a:bodyPr/>
          <a:p/>
        </p:txBody>
      </p:sp>
      <p:sp>
        <p:nvSpPr>
          <p:cNvPr id="61" name="TextBox 61"/>
          <p:cNvSpPr txBox="1"/>
          <p:nvPr/>
        </p:nvSpPr>
        <p:spPr>
          <a:xfrm>
            <a:off x="604266" y="55254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arXiv:2106.09292</a:t>
            </a:r>
          </a:p>
        </p:txBody>
      </p:sp>
      <p:sp>
        <p:nvSpPr>
          <p:cNvPr id="62" name="TextBox 62"/>
          <p:cNvSpPr txBox="1"/>
          <p:nvPr/>
        </p:nvSpPr>
        <p:spPr>
          <a:xfrm>
            <a:off x="2852356" y="5529501"/>
            <a:ext cx="194474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crop-leaderboard.github.io</a:t>
            </a:r>
          </a:p>
        </p:txBody>
      </p:sp>
      <p:sp>
        <p:nvSpPr>
          <p:cNvPr id="63" name="TextBox 63"/>
          <p:cNvSpPr txBox="1"/>
          <p:nvPr/>
        </p:nvSpPr>
        <p:spPr>
          <a:xfrm>
            <a:off x="8566274" y="5525452"/>
            <a:ext cx="3021460"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Prove robustness, don't just observe it.</a:t>
            </a:r>
          </a:p>
        </p:txBody>
      </p:sp>
      <p:sp>
        <p:nvSpPr>
          <p:cNvPr id="64" name="cue_s01_c1_reinforcement_learning_now_drives_sa" title="cue_s01_c1_reinforcement_learning_now_drives_sa" descr="cue_s01_c1_reinforcement_learning_now_drives_sa Reinforcement learning now drives safety-critical systems like autonomous vehicles, but adversarial perturbations to a policy's input states can quietly steer it toward disaster."/>
          <p:cNvSpPr/>
          <p:nvPr/>
        </p:nvSpPr>
        <p:spPr>
          <a:xfrm>
            <a:off x="609600" y="2914650"/>
            <a:ext cx="26285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1_c2_many_defenses_improve_robustness_emp" title="cue_s01_c2_many_defenses_improve_robustness_emp" descr="cue_s01_c2_many_defenses_improve_robustness_emp Many defenses improve robustness empirically, yet almost none can certify it with guarantees. This paper introduces CROP, the first unified framework to certify robust policies for reinforcement learning through functional smoothing."/>
          <p:cNvSpPr/>
          <p:nvPr/>
        </p:nvSpPr>
        <p:spPr>
          <a:xfrm>
            <a:off x="3390595" y="2914650"/>
            <a:ext cx="26285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1_c3_crop_certifies_robustness_two_levels" title="cue_s01_c3_crop_certifies_robustness_two_levels" descr="cue_s01_c3_crop_certifies_robustness_two_levels CROP certifies robustness at two levels: the stability of the action taken at each state, and a provable lower bound on the cumulative reward across a whole trajectory."/>
          <p:cNvSpPr/>
          <p:nvPr/>
        </p:nvSpPr>
        <p:spPr>
          <a:xfrm>
            <a:off x="6171590" y="2914650"/>
            <a:ext cx="26285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1_c4_authors_benchmark_nine_existing_robu" title="cue_s01_c4_authors_benchmark_nine_existing_robu" descr="cue_s01_c4_authors_benchmark_nine_existing_robu Using it, the authors benchmark nine existing robust RL algorithms across four environments and show that their certificates are often tight."/>
          <p:cNvSpPr/>
          <p:nvPr/>
        </p:nvSpPr>
        <p:spPr>
          <a:xfrm>
            <a:off x="8953804" y="2914650"/>
            <a:ext cx="2628595"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56945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Certify robustness, don't just observe it</a:t>
            </a:r>
          </a:p>
        </p:txBody>
      </p:sp>
      <p:grpSp>
        <p:nvGrpSpPr>
          <p:cNvPr id="17" name="Group 1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84A66"/>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632" y="1782366"/>
              <a:ext cx="233986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RL where failure is costly</a:t>
              </a:r>
            </a:p>
          </p:txBody>
        </p:sp>
        <p:sp>
          <p:nvSpPr>
            <p:cNvPr id="8" name="TextBox 8"/>
            <p:cNvSpPr txBox="1"/>
            <p:nvPr/>
          </p:nvSpPr>
          <p:spPr>
            <a:xfrm>
              <a:off x="870966" y="2153602"/>
              <a:ext cx="26655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Reinforcement learning has moved into</a:t>
              </a:r>
            </a:p>
          </p:txBody>
        </p:sp>
        <p:sp>
          <p:nvSpPr>
            <p:cNvPr id="9" name="TextBox 9"/>
            <p:cNvSpPr txBox="1"/>
            <p:nvPr/>
          </p:nvSpPr>
          <p:spPr>
            <a:xfrm>
              <a:off x="870966" y="2363152"/>
              <a:ext cx="27387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domains such as autonomous driving and</a:t>
              </a:r>
            </a:p>
          </p:txBody>
        </p:sp>
        <p:sp>
          <p:nvSpPr>
            <p:cNvPr id="10" name="TextBox 10"/>
            <p:cNvSpPr txBox="1"/>
            <p:nvPr/>
          </p:nvSpPr>
          <p:spPr>
            <a:xfrm>
              <a:off x="870966" y="2572702"/>
              <a:ext cx="29437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trading, where a single wrong decision can</a:t>
              </a:r>
            </a:p>
          </p:txBody>
        </p:sp>
        <p:sp>
          <p:nvSpPr>
            <p:cNvPr id="11" name="TextBox 11"/>
            <p:cNvSpPr txBox="1"/>
            <p:nvPr/>
          </p:nvSpPr>
          <p:spPr>
            <a:xfrm>
              <a:off x="870966" y="2782252"/>
              <a:ext cx="11838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 catastrophic.</a:t>
              </a:r>
            </a:p>
          </p:txBody>
        </p:sp>
        <p:sp>
          <p:nvSpPr>
            <p:cNvPr id="12" name="Rectangle 12"/>
            <p:cNvSpPr/>
            <p:nvPr/>
          </p:nvSpPr>
          <p:spPr>
            <a:xfrm>
              <a:off x="876300" y="3352800"/>
              <a:ext cx="3276600" cy="1390650"/>
            </a:xfrm>
            <a:prstGeom prst="roundRect">
              <a:avLst>
                <a:gd name="adj" fmla="val 6849"/>
              </a:avLst>
            </a:prstGeom>
            <a:solidFill>
              <a:schemeClr val="accent6"/>
            </a:solidFill>
            <a:ln w="14288">
              <a:solidFill>
                <a:srgbClr val="284A66"/>
              </a:solidFill>
            </a:ln>
          </p:spPr>
        </p:sp>
        <p:sp>
          <p:nvSpPr>
            <p:cNvPr id="13" name="TextBox 13"/>
            <p:cNvSpPr txBox="1"/>
            <p:nvPr/>
          </p:nvSpPr>
          <p:spPr>
            <a:xfrm>
              <a:off x="1062038" y="3537347"/>
              <a:ext cx="1677043"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the deployed decision loop</a:t>
              </a:r>
            </a:p>
          </p:txBody>
        </p:sp>
        <p:sp>
          <p:nvSpPr>
            <p:cNvPr id="14" name="Rectangle 14"/>
            <p:cNvSpPr/>
            <p:nvPr/>
          </p:nvSpPr>
          <p:spPr>
            <a:xfrm>
              <a:off x="1066800" y="3790950"/>
              <a:ext cx="2895600" cy="381000"/>
            </a:xfrm>
            <a:prstGeom prst="roundRect">
              <a:avLst>
                <a:gd name="adj" fmla="val 20000"/>
              </a:avLst>
            </a:prstGeom>
            <a:solidFill>
              <a:schemeClr val="accent6"/>
            </a:solidFill>
            <a:ln w="14288">
              <a:solidFill>
                <a:srgbClr val="284A66"/>
              </a:solidFill>
            </a:ln>
          </p:spPr>
        </p:sp>
        <p:sp>
          <p:nvSpPr>
            <p:cNvPr id="15" name="TextBox 15"/>
            <p:cNvSpPr txBox="1"/>
            <p:nvPr/>
          </p:nvSpPr>
          <p:spPr>
            <a:xfrm>
              <a:off x="1640409" y="3933349"/>
              <a:ext cx="1748382"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observe s -&gt; pick action a</a:t>
              </a:r>
            </a:p>
          </p:txBody>
        </p:sp>
        <p:sp>
          <p:nvSpPr>
            <p:cNvPr id="16" name="TextBox 16"/>
            <p:cNvSpPr txBox="1"/>
            <p:nvPr/>
          </p:nvSpPr>
          <p:spPr>
            <a:xfrm>
              <a:off x="1062038" y="4455795"/>
              <a:ext cx="1669692"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one bad action can cascade</a:t>
              </a:r>
            </a:p>
          </p:txBody>
        </p:sp>
      </p:grpSp>
      <p:grpSp>
        <p:nvGrpSpPr>
          <p:cNvPr id="35" name="Group 35"/>
          <p:cNvGrpSpPr/>
          <p:nvPr/>
        </p:nvGrpSpPr>
        <p:grpSpPr>
          <a:xfrm>
            <a:off x="4762500" y="1504950"/>
            <a:ext cx="6819900" cy="1428750"/>
            <a:chOff x="4762500" y="1504950"/>
            <a:chExt cx="6819900" cy="1428750"/>
          </a:xfrm>
        </p:grpSpPr>
        <p:sp>
          <p:nvSpPr>
            <p:cNvPr id="18" name="Rectangle 18"/>
            <p:cNvSpPr/>
            <p:nvPr/>
          </p:nvSpPr>
          <p:spPr>
            <a:xfrm>
              <a:off x="4762500" y="1504950"/>
              <a:ext cx="6819900" cy="1428750"/>
            </a:xfrm>
            <a:prstGeom prst="roundRect">
              <a:avLst>
                <a:gd name="adj" fmla="val 9333"/>
              </a:avLst>
            </a:prstGeom>
            <a:solidFill>
              <a:schemeClr val="accent5"/>
            </a:solidFill>
            <a:ln w="14288">
              <a:solidFill>
                <a:srgbClr val="284A66"/>
              </a:solidFill>
            </a:ln>
          </p:spPr>
        </p:sp>
        <p:sp>
          <p:nvSpPr>
            <p:cNvPr id="19" name="Rectangle 19"/>
            <p:cNvSpPr/>
            <p:nvPr/>
          </p:nvSpPr>
          <p:spPr>
            <a:xfrm>
              <a:off x="4762500" y="1504950"/>
              <a:ext cx="57150" cy="1428750"/>
            </a:xfrm>
            <a:prstGeom prst="roundRect">
              <a:avLst>
                <a:gd name="adj" fmla="val 50000"/>
              </a:avLst>
            </a:prstGeom>
            <a:solidFill>
              <a:srgbClr val="F2685C"/>
            </a:solidFill>
            <a:ln>
              <a:noFill/>
            </a:ln>
          </p:spPr>
        </p:sp>
        <p:sp>
          <p:nvSpPr>
            <p:cNvPr id="20" name="TextBox 20"/>
            <p:cNvSpPr txBox="1"/>
            <p:nvPr/>
          </p:nvSpPr>
          <p:spPr>
            <a:xfrm>
              <a:off x="5022914" y="1733312"/>
              <a:ext cx="3137991"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A small perturbation flips the action</a:t>
              </a:r>
            </a:p>
          </p:txBody>
        </p:sp>
        <p:sp>
          <p:nvSpPr>
            <p:cNvPr id="21" name="TextBox 21"/>
            <p:cNvSpPr txBox="1"/>
            <p:nvPr/>
          </p:nvSpPr>
          <p:spPr>
            <a:xfrm>
              <a:off x="5023866" y="2039302"/>
              <a:ext cx="31462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 adversary who slightly perturbs the state</a:t>
              </a:r>
            </a:p>
          </p:txBody>
        </p:sp>
        <p:sp>
          <p:nvSpPr>
            <p:cNvPr id="22" name="TextBox 22"/>
            <p:cNvSpPr txBox="1"/>
            <p:nvPr/>
          </p:nvSpPr>
          <p:spPr>
            <a:xfrm>
              <a:off x="5023866" y="2239328"/>
              <a:ext cx="335361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observations fed to an agent can reliably change</a:t>
              </a:r>
            </a:p>
          </p:txBody>
        </p:sp>
        <p:sp>
          <p:nvSpPr>
            <p:cNvPr id="23" name="TextBox 23"/>
            <p:cNvSpPr txBox="1"/>
            <p:nvPr/>
          </p:nvSpPr>
          <p:spPr>
            <a:xfrm>
              <a:off x="5023866" y="2439352"/>
              <a:ext cx="33182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its decisions; empirical defenses keep falling to</a:t>
              </a:r>
            </a:p>
          </p:txBody>
        </p:sp>
        <p:sp>
          <p:nvSpPr>
            <p:cNvPr id="24" name="TextBox 24"/>
            <p:cNvSpPr txBox="1"/>
            <p:nvPr/>
          </p:nvSpPr>
          <p:spPr>
            <a:xfrm>
              <a:off x="5023866" y="2639378"/>
              <a:ext cx="17210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newer adaptive attacks.</a:t>
              </a:r>
            </a:p>
          </p:txBody>
        </p:sp>
        <p:sp>
          <p:nvSpPr>
            <p:cNvPr id="25" name="Rectangle 25"/>
            <p:cNvSpPr/>
            <p:nvPr/>
          </p:nvSpPr>
          <p:spPr>
            <a:xfrm>
              <a:off x="8858250" y="2095500"/>
              <a:ext cx="2590800" cy="704850"/>
            </a:xfrm>
            <a:prstGeom prst="roundRect">
              <a:avLst>
                <a:gd name="adj" fmla="val 10811"/>
              </a:avLst>
            </a:prstGeom>
            <a:solidFill>
              <a:srgbClr val="0E2334"/>
            </a:solidFill>
            <a:ln w="14288">
              <a:solidFill>
                <a:srgbClr val="284A66"/>
              </a:solidFill>
            </a:ln>
          </p:spPr>
        </p:sp>
        <p:sp>
          <p:nvSpPr>
            <p:cNvPr id="26" name="Ellipse 26"/>
            <p:cNvSpPr/>
            <p:nvPr/>
          </p:nvSpPr>
          <p:spPr>
            <a:xfrm>
              <a:off x="9172575" y="2381250"/>
              <a:ext cx="133350" cy="133350"/>
            </a:xfrm>
            <a:prstGeom prst="ellipse">
              <a:avLst/>
            </a:prstGeom>
            <a:solidFill>
              <a:srgbClr val="33D6C0"/>
            </a:solidFill>
            <a:ln>
              <a:noFill/>
            </a:ln>
          </p:spPr>
        </p:sp>
        <p:sp>
          <p:nvSpPr>
            <p:cNvPr id="27" name="TextBox 27"/>
            <p:cNvSpPr txBox="1"/>
            <p:nvPr/>
          </p:nvSpPr>
          <p:spPr>
            <a:xfrm>
              <a:off x="9033486" y="2210514"/>
              <a:ext cx="411527" cy="154781"/>
            </a:xfrm>
            <a:prstGeom prst="rect">
              <a:avLst/>
            </a:prstGeom>
            <a:noFill/>
            <a:ln>
              <a:noFill/>
            </a:ln>
          </p:spPr>
          <p:txBody>
            <a:bodyPr wrap="none" lIns="0" tIns="0" rIns="0" bIns="0" anchor="t" anchorCtr="0">
              <a:spAutoFit/>
            </a:bodyPr>
            <a:lstStyle/>
            <a:p>
              <a:pPr algn="ctr"/>
              <a:r>
                <a:rPr lang="en-US" sz="790" b="1" dirty="0">
                  <a:solidFill>
                    <a:srgbClr val="33D6C0"/>
                  </a:solidFill>
                  <a:latin typeface="+mn-lt"/>
                  <a:ea typeface="+mn-ea"/>
                  <a:cs typeface="+mn-cs"/>
                </a:rPr>
                <a:t>state s</a:t>
              </a:r>
            </a:p>
          </p:txBody>
        </p:sp>
        <p:sp>
          <p:nvSpPr>
            <p:cNvPr id="28" name="Line 28"/>
            <p:cNvSpPr/>
            <p:nvPr/>
          </p:nvSpPr>
          <p:spPr>
            <a:xfrm>
              <a:off x="9391650" y="2447925"/>
              <a:ext cx="813816" cy="9525"/>
            </a:xfrm>
            <a:custGeom>
              <a:avLst/>
              <a:gdLst/>
              <a:ahLst/>
              <a:cxnLst/>
              <a:rect l="l" t="t" r="r" b="b"/>
              <a:pathLst>
                <a:path w="813816" h="9525">
                  <a:moveTo>
                    <a:pt x="0" y="0"/>
                  </a:moveTo>
                  <a:lnTo>
                    <a:pt x="813816" y="0"/>
                  </a:lnTo>
                </a:path>
              </a:pathLst>
            </a:custGeom>
            <a:noFill/>
            <a:ln w="20955" cap="rnd">
              <a:solidFill>
                <a:srgbClr val="F2685C"/>
              </a:solidFill>
            </a:ln>
          </p:spPr>
        </p:sp>
        <p:sp>
          <p:nvSpPr>
            <p:cNvPr id="29" name="Polyline 29"/>
            <p:cNvSpPr/>
            <p:nvPr/>
          </p:nvSpPr>
          <p:spPr>
            <a:xfrm>
              <a:off x="10119741" y="2400300"/>
              <a:ext cx="85725" cy="95250"/>
            </a:xfrm>
            <a:custGeom>
              <a:avLst/>
              <a:gdLst/>
              <a:ahLst/>
              <a:cxnLst/>
              <a:rect l="l" t="t" r="r" b="b"/>
              <a:pathLst>
                <a:path w="85725" h="95250">
                  <a:moveTo>
                    <a:pt x="0" y="0"/>
                  </a:moveTo>
                  <a:lnTo>
                    <a:pt x="85725" y="47625"/>
                  </a:lnTo>
                  <a:lnTo>
                    <a:pt x="0" y="95250"/>
                  </a:lnTo>
                </a:path>
              </a:pathLst>
            </a:custGeom>
            <a:noFill/>
            <a:ln w="9525" cap="rnd">
              <a:solidFill>
                <a:srgbClr val="F2685C"/>
              </a:solidFill>
              <a:round/>
            </a:ln>
          </p:spPr>
        </p:sp>
        <p:sp>
          <p:nvSpPr>
            <p:cNvPr id="30" name="TextBox 30"/>
            <p:cNvSpPr txBox="1"/>
            <p:nvPr/>
          </p:nvSpPr>
          <p:spPr>
            <a:xfrm>
              <a:off x="9388295" y="2538412"/>
              <a:ext cx="820526" cy="147638"/>
            </a:xfrm>
            <a:prstGeom prst="rect">
              <a:avLst/>
            </a:prstGeom>
            <a:noFill/>
            <a:ln>
              <a:noFill/>
            </a:ln>
          </p:spPr>
          <p:txBody>
            <a:bodyPr wrap="none" lIns="0" tIns="0" rIns="0" bIns="0" anchor="t" anchorCtr="0">
              <a:spAutoFit/>
            </a:bodyPr>
            <a:lstStyle/>
            <a:p>
              <a:pPr algn="ctr"/>
              <a:r>
                <a:rPr lang="en-US" sz="750" b="1" dirty="0">
                  <a:solidFill>
                    <a:srgbClr val="F2685C"/>
                  </a:solidFill>
                  <a:latin typeface="Consolas"/>
                  <a:ea typeface="Consolas"/>
                  <a:cs typeface="Consolas"/>
                </a:rPr>
                <a:t>|| delta || &lt;= eps</a:t>
              </a:r>
            </a:p>
          </p:txBody>
        </p:sp>
        <p:sp>
          <p:nvSpPr>
            <p:cNvPr id="31" name="Ellipse 31"/>
            <p:cNvSpPr/>
            <p:nvPr/>
          </p:nvSpPr>
          <p:spPr>
            <a:xfrm>
              <a:off x="10397871" y="2381250"/>
              <a:ext cx="133350" cy="133350"/>
            </a:xfrm>
            <a:prstGeom prst="ellipse">
              <a:avLst/>
            </a:prstGeom>
            <a:solidFill>
              <a:srgbClr val="F2685C"/>
            </a:solidFill>
            <a:ln w="14288">
              <a:solidFill>
                <a:srgbClr val="F4C24C"/>
              </a:solidFill>
            </a:ln>
          </p:spPr>
        </p:sp>
        <p:sp>
          <p:nvSpPr>
            <p:cNvPr id="32" name="TextBox 32"/>
            <p:cNvSpPr txBox="1"/>
            <p:nvPr/>
          </p:nvSpPr>
          <p:spPr>
            <a:xfrm>
              <a:off x="10225282" y="2210514"/>
              <a:ext cx="478528" cy="154781"/>
            </a:xfrm>
            <a:prstGeom prst="rect">
              <a:avLst/>
            </a:prstGeom>
            <a:noFill/>
            <a:ln>
              <a:noFill/>
            </a:ln>
          </p:spPr>
          <p:txBody>
            <a:bodyPr wrap="none" lIns="0" tIns="0" rIns="0" bIns="0" anchor="t" anchorCtr="0">
              <a:spAutoFit/>
            </a:bodyPr>
            <a:lstStyle/>
            <a:p>
              <a:pPr algn="ctr"/>
              <a:r>
                <a:rPr lang="en-US" sz="790" b="1" dirty="0">
                  <a:solidFill>
                    <a:srgbClr val="F2685C"/>
                  </a:solidFill>
                  <a:latin typeface="+mn-lt"/>
                  <a:ea typeface="+mn-ea"/>
                  <a:cs typeface="+mn-cs"/>
                </a:rPr>
                <a:t>s + delta</a:t>
              </a:r>
            </a:p>
          </p:txBody>
        </p:sp>
        <p:sp>
          <p:nvSpPr>
            <p:cNvPr id="33" name="TextBox 33"/>
            <p:cNvSpPr txBox="1"/>
            <p:nvPr/>
          </p:nvSpPr>
          <p:spPr>
            <a:xfrm>
              <a:off x="10685601" y="2401014"/>
              <a:ext cx="634862" cy="154781"/>
            </a:xfrm>
            <a:prstGeom prst="rect">
              <a:avLst/>
            </a:prstGeom>
            <a:noFill/>
            <a:ln>
              <a:noFill/>
            </a:ln>
          </p:spPr>
          <p:txBody>
            <a:bodyPr wrap="none" lIns="0" tIns="0" rIns="0" bIns="0" anchor="t" anchorCtr="0">
              <a:spAutoFit/>
            </a:bodyPr>
            <a:lstStyle/>
            <a:p>
              <a:pPr algn="r"/>
              <a:r>
                <a:rPr lang="en-US" sz="790" b="1" dirty="0">
                  <a:solidFill>
                    <a:srgbClr val="F4C24C"/>
                  </a:solidFill>
                  <a:latin typeface="+mn-lt"/>
                  <a:ea typeface="+mn-ea"/>
                  <a:cs typeface="+mn-cs"/>
                </a:rPr>
                <a:t>action flips</a:t>
              </a:r>
            </a:p>
          </p:txBody>
        </p:sp>
        <p:sp>
          <p:nvSpPr>
            <p:cNvPr id="34" name="TextBox 34"/>
            <p:cNvSpPr txBox="1"/>
            <p:nvPr/>
          </p:nvSpPr>
          <p:spPr>
            <a:xfrm>
              <a:off x="10091573" y="2580561"/>
              <a:ext cx="1228889" cy="140494"/>
            </a:xfrm>
            <a:prstGeom prst="rect">
              <a:avLst/>
            </a:prstGeom>
            <a:noFill/>
            <a:ln>
              <a:noFill/>
            </a:ln>
          </p:spPr>
          <p:txBody>
            <a:bodyPr wrap="none" lIns="0" tIns="0" rIns="0" bIns="0" anchor="t" anchorCtr="0">
              <a:spAutoFit/>
            </a:bodyPr>
            <a:lstStyle/>
            <a:p>
              <a:pPr algn="r"/>
              <a:r>
                <a:rPr lang="en-US" sz="710" b="1" dirty="0">
                  <a:solidFill>
                    <a:schemeClr val="dk2"/>
                  </a:solidFill>
                  <a:latin typeface="+mn-lt"/>
                  <a:ea typeface="+mn-ea"/>
                  <a:cs typeface="+mn-cs"/>
                </a:rPr>
                <a:t>empirical defense breaks</a:t>
              </a:r>
            </a:p>
          </p:txBody>
        </p:sp>
      </p:grpSp>
      <p:grpSp>
        <p:nvGrpSpPr>
          <p:cNvPr id="41" name="Group 41"/>
          <p:cNvGrpSpPr/>
          <p:nvPr/>
        </p:nvGrpSpPr>
        <p:grpSpPr>
          <a:xfrm>
            <a:off x="4762500" y="3086100"/>
            <a:ext cx="6819900" cy="990600"/>
            <a:chOff x="4762500" y="3086100"/>
            <a:chExt cx="6819900" cy="990600"/>
          </a:xfrm>
        </p:grpSpPr>
        <p:sp>
          <p:nvSpPr>
            <p:cNvPr id="36" name="Rectangle 36"/>
            <p:cNvSpPr/>
            <p:nvPr/>
          </p:nvSpPr>
          <p:spPr>
            <a:xfrm>
              <a:off x="4762500" y="3086100"/>
              <a:ext cx="6819900" cy="990600"/>
            </a:xfrm>
            <a:prstGeom prst="roundRect">
              <a:avLst>
                <a:gd name="adj" fmla="val 13462"/>
              </a:avLst>
            </a:prstGeom>
            <a:solidFill>
              <a:srgbClr val="2A2417"/>
            </a:solidFill>
            <a:ln w="14288">
              <a:solidFill>
                <a:srgbClr val="F4C24C"/>
              </a:solidFill>
            </a:ln>
          </p:spPr>
        </p:sp>
        <p:sp>
          <p:nvSpPr>
            <p:cNvPr id="37" name="Rectangle 37"/>
            <p:cNvSpPr/>
            <p:nvPr/>
          </p:nvSpPr>
          <p:spPr>
            <a:xfrm>
              <a:off x="4762500" y="3086100"/>
              <a:ext cx="57150" cy="990600"/>
            </a:xfrm>
            <a:prstGeom prst="roundRect">
              <a:avLst>
                <a:gd name="adj" fmla="val 50000"/>
              </a:avLst>
            </a:prstGeom>
            <a:solidFill>
              <a:srgbClr val="F4C24C"/>
            </a:solidFill>
            <a:ln>
              <a:noFill/>
            </a:ln>
          </p:spPr>
        </p:sp>
        <p:sp>
          <p:nvSpPr>
            <p:cNvPr id="38" name="TextBox 38"/>
            <p:cNvSpPr txBox="1"/>
            <p:nvPr/>
          </p:nvSpPr>
          <p:spPr>
            <a:xfrm>
              <a:off x="5023104" y="3318510"/>
              <a:ext cx="2502552"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What is missing: certification</a:t>
              </a:r>
            </a:p>
          </p:txBody>
        </p:sp>
        <p:sp>
          <p:nvSpPr>
            <p:cNvPr id="39" name="TextBox 39"/>
            <p:cNvSpPr txBox="1"/>
            <p:nvPr/>
          </p:nvSpPr>
          <p:spPr>
            <a:xfrm>
              <a:off x="5023676" y="3616404"/>
              <a:ext cx="499776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 way to prove, not just observe, that a trained policy stays reliable</a:t>
              </a:r>
            </a:p>
          </p:txBody>
        </p:sp>
        <p:sp>
          <p:nvSpPr>
            <p:cNvPr id="40" name="TextBox 40"/>
            <p:cNvSpPr txBox="1"/>
            <p:nvPr/>
          </p:nvSpPr>
          <p:spPr>
            <a:xfrm>
              <a:off x="5023676" y="3825954"/>
              <a:ext cx="366477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under every perturbation within a bounded budget.</a:t>
              </a:r>
            </a:p>
          </p:txBody>
        </p:sp>
      </p:grpSp>
      <p:grpSp>
        <p:nvGrpSpPr>
          <p:cNvPr id="47" name="Group 47"/>
          <p:cNvGrpSpPr/>
          <p:nvPr/>
        </p:nvGrpSpPr>
        <p:grpSpPr>
          <a:xfrm>
            <a:off x="4762500" y="4229100"/>
            <a:ext cx="6819900" cy="1009650"/>
            <a:chOff x="4762500" y="4229100"/>
            <a:chExt cx="6819900" cy="1009650"/>
          </a:xfrm>
        </p:grpSpPr>
        <p:sp>
          <p:nvSpPr>
            <p:cNvPr id="42" name="Rectangle 42"/>
            <p:cNvSpPr/>
            <p:nvPr/>
          </p:nvSpPr>
          <p:spPr>
            <a:xfrm>
              <a:off x="4762500" y="4229100"/>
              <a:ext cx="6819900" cy="1009650"/>
            </a:xfrm>
            <a:prstGeom prst="roundRect">
              <a:avLst>
                <a:gd name="adj" fmla="val 13208"/>
              </a:avLst>
            </a:prstGeom>
            <a:solidFill>
              <a:srgbClr val="0F2E2B"/>
            </a:solidFill>
            <a:ln w="14288">
              <a:solidFill>
                <a:srgbClr val="46C98B"/>
              </a:solidFill>
            </a:ln>
          </p:spPr>
        </p:sp>
        <p:sp>
          <p:nvSpPr>
            <p:cNvPr id="43" name="Rectangle 43"/>
            <p:cNvSpPr/>
            <p:nvPr/>
          </p:nvSpPr>
          <p:spPr>
            <a:xfrm>
              <a:off x="4762500" y="4229100"/>
              <a:ext cx="57150" cy="1009650"/>
            </a:xfrm>
            <a:prstGeom prst="roundRect">
              <a:avLst>
                <a:gd name="adj" fmla="val 50000"/>
              </a:avLst>
            </a:prstGeom>
            <a:solidFill>
              <a:srgbClr val="46C98B"/>
            </a:solidFill>
            <a:ln>
              <a:noFill/>
            </a:ln>
          </p:spPr>
        </p:sp>
        <p:sp>
          <p:nvSpPr>
            <p:cNvPr id="44" name="TextBox 44"/>
            <p:cNvSpPr txBox="1"/>
            <p:nvPr/>
          </p:nvSpPr>
          <p:spPr>
            <a:xfrm>
              <a:off x="5023104" y="4461510"/>
              <a:ext cx="2476858"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CROP tackles exactly this gap</a:t>
              </a:r>
            </a:p>
          </p:txBody>
        </p:sp>
        <p:sp>
          <p:nvSpPr>
            <p:cNvPr id="45" name="TextBox 45"/>
            <p:cNvSpPr txBox="1"/>
            <p:nvPr/>
          </p:nvSpPr>
          <p:spPr>
            <a:xfrm>
              <a:off x="5023676" y="4759404"/>
              <a:ext cx="438844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This paper delivers the first certification of robustness for</a:t>
              </a:r>
            </a:p>
          </p:txBody>
        </p:sp>
        <p:sp>
          <p:nvSpPr>
            <p:cNvPr id="46" name="TextBox 46"/>
            <p:cNvSpPr txBox="1"/>
            <p:nvPr/>
          </p:nvSpPr>
          <p:spPr>
            <a:xfrm>
              <a:off x="5023676" y="4968954"/>
              <a:ext cx="477262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reinforcement learning, turning a hope into a provable guarantee.</a:t>
              </a:r>
            </a:p>
          </p:txBody>
        </p:sp>
      </p:grpSp>
      <p:sp>
        <p:nvSpPr>
          <p:cNvPr id="48" name="cue_s02_c1_reinforcement_learning_moved_domains" title="cue_s02_c1_reinforcement_learning_moved_domains" descr="cue_s02_c1_reinforcement_learning_moved_domains Reinforcement learning has moved into domains where failure is costly, such as autonomous driving and trading."/>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but_researchers_shown_adversary_who" title="cue_s02_c2_but_researchers_shown_adversary_who" descr="cue_s02_c2_but_researchers_shown_adversary_who But researchers have shown that an adversary who slightly perturbs the state observations fed to an RL agent can reliably change its decisions. A wave of empirical defenses followed, only to be defeated by newer adaptive attacks."/>
          <p:cNvSpPr/>
          <p:nvPr/>
        </p:nvSpPr>
        <p:spPr>
          <a:xfrm>
            <a:off x="4762195" y="1504645"/>
            <a:ext cx="682020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3_what_been_missing_certification_way" title="cue_s02_c3_what_been_missing_certification_way" descr="cue_s02_c3_what_been_missing_certification_way What has been missing is certification: a way to prove, rather than just observe, that a trained policy stays reliable under every perturbation within a bounded budget."/>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4_tackles_exactly_gap_reinforcement_le" title="cue_s02_c4_tackles_exactly_gap_reinforcement_le" descr="cue_s02_c4_tackles_exactly_gap_reinforcement_le This paper tackles exactly that gap for reinforcement learning."/>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571601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RL breaks randomized smoothing</a:t>
            </a:r>
          </a:p>
        </p:txBody>
      </p:sp>
      <p:grpSp>
        <p:nvGrpSpPr>
          <p:cNvPr id="13" name="Group 13"/>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84A66"/>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445860"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The core motivation is trust</a:t>
              </a:r>
            </a:p>
          </p:txBody>
        </p:sp>
        <p:sp>
          <p:nvSpPr>
            <p:cNvPr id="8" name="TextBox 8"/>
            <p:cNvSpPr txBox="1"/>
            <p:nvPr/>
          </p:nvSpPr>
          <p:spPr>
            <a:xfrm>
              <a:off x="870966" y="2039302"/>
              <a:ext cx="35633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If you cannot prove a policy is robust, then passing</a:t>
              </a:r>
            </a:p>
          </p:txBody>
        </p:sp>
        <p:sp>
          <p:nvSpPr>
            <p:cNvPr id="9" name="TextBox 9"/>
            <p:cNvSpPr txBox="1"/>
            <p:nvPr/>
          </p:nvSpPr>
          <p:spPr>
            <a:xfrm>
              <a:off x="870966" y="2239328"/>
              <a:ext cx="34879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today's attacks tells you little about tomorrow's</a:t>
              </a:r>
            </a:p>
          </p:txBody>
        </p:sp>
        <p:sp>
          <p:nvSpPr>
            <p:cNvPr id="10" name="TextBox 10"/>
            <p:cNvSpPr txBox="1"/>
            <p:nvPr/>
          </p:nvSpPr>
          <p:spPr>
            <a:xfrm>
              <a:off x="870966" y="2439352"/>
              <a:ext cx="20390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stronger, unseen adversary.</a:t>
              </a:r>
            </a:p>
          </p:txBody>
        </p:sp>
        <p:sp>
          <p:nvSpPr>
            <p:cNvPr id="11" name="Rectangle 11"/>
            <p:cNvSpPr/>
            <p:nvPr/>
          </p:nvSpPr>
          <p:spPr>
            <a:xfrm>
              <a:off x="876300" y="2857500"/>
              <a:ext cx="4800600" cy="419100"/>
            </a:xfrm>
            <a:prstGeom prst="roundRect">
              <a:avLst>
                <a:gd name="adj" fmla="val 18182"/>
              </a:avLst>
            </a:prstGeom>
            <a:solidFill>
              <a:schemeClr val="accent6"/>
            </a:solidFill>
            <a:ln w="14288">
              <a:solidFill>
                <a:srgbClr val="284A66"/>
              </a:solidFill>
            </a:ln>
          </p:spPr>
        </p:sp>
        <p:sp>
          <p:nvSpPr>
            <p:cNvPr id="12" name="TextBox 12"/>
            <p:cNvSpPr txBox="1"/>
            <p:nvPr/>
          </p:nvSpPr>
          <p:spPr>
            <a:xfrm>
              <a:off x="2190015" y="3014901"/>
              <a:ext cx="2173169"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pass known attacks =/= robust</a:t>
              </a:r>
            </a:p>
          </p:txBody>
        </p:sp>
      </p:grpSp>
      <p:grpSp>
        <p:nvGrpSpPr>
          <p:cNvPr id="23" name="Group 23"/>
          <p:cNvGrpSpPr/>
          <p:nvPr/>
        </p:nvGrpSpPr>
        <p:grpSpPr>
          <a:xfrm>
            <a:off x="609600" y="3486150"/>
            <a:ext cx="5334000" cy="1752600"/>
            <a:chOff x="609600" y="3486150"/>
            <a:chExt cx="5334000" cy="1752600"/>
          </a:xfrm>
        </p:grpSpPr>
        <p:sp>
          <p:nvSpPr>
            <p:cNvPr id="14" name="Rectangle 14"/>
            <p:cNvSpPr/>
            <p:nvPr/>
          </p:nvSpPr>
          <p:spPr>
            <a:xfrm>
              <a:off x="609600" y="3486150"/>
              <a:ext cx="5334000" cy="1752600"/>
            </a:xfrm>
            <a:prstGeom prst="roundRect">
              <a:avLst>
                <a:gd name="adj" fmla="val 7609"/>
              </a:avLst>
            </a:prstGeom>
            <a:solidFill>
              <a:schemeClr val="accent5"/>
            </a:solidFill>
            <a:ln w="14288">
              <a:solidFill>
                <a:srgbClr val="284A66"/>
              </a:solidFill>
            </a:ln>
          </p:spPr>
        </p:sp>
        <p:sp>
          <p:nvSpPr>
            <p:cNvPr id="15" name="Rectangle 15"/>
            <p:cNvSpPr/>
            <p:nvPr/>
          </p:nvSpPr>
          <p:spPr>
            <a:xfrm>
              <a:off x="609600" y="3486150"/>
              <a:ext cx="57150" cy="1752600"/>
            </a:xfrm>
            <a:prstGeom prst="roundRect">
              <a:avLst>
                <a:gd name="adj" fmla="val 50000"/>
              </a:avLst>
            </a:prstGeom>
            <a:solidFill>
              <a:srgbClr val="33D6C0"/>
            </a:solidFill>
            <a:ln>
              <a:noFill/>
            </a:ln>
          </p:spPr>
        </p:sp>
        <p:sp>
          <p:nvSpPr>
            <p:cNvPr id="16" name="TextBox 16"/>
            <p:cNvSpPr txBox="1"/>
            <p:nvPr/>
          </p:nvSpPr>
          <p:spPr>
            <a:xfrm>
              <a:off x="870204" y="3718560"/>
              <a:ext cx="2603964" cy="234696"/>
            </a:xfrm>
            <a:prstGeom prst="rect">
              <a:avLst/>
            </a:prstGeom>
            <a:noFill/>
            <a:ln>
              <a:noFill/>
            </a:ln>
          </p:spPr>
          <p:txBody>
            <a:bodyPr wrap="none" lIns="0" tIns="0" rIns="0" bIns="0" anchor="t" anchorCtr="0">
              <a:spAutoFit/>
            </a:bodyPr>
            <a:lstStyle/>
            <a:p>
              <a:pPr algn="l"/>
              <a:r>
                <a:rPr lang="en-US" sz="1200" b="1" dirty="0">
                  <a:solidFill>
                    <a:srgbClr val="33D6C0"/>
                  </a:solidFill>
                  <a:latin typeface="+mn-lt"/>
                  <a:ea typeface="+mn-ea"/>
                  <a:cs typeface="+mn-cs"/>
                </a:rPr>
                <a:t>Smoothing certifies classifiers</a:t>
              </a:r>
            </a:p>
          </p:txBody>
        </p:sp>
        <p:sp>
          <p:nvSpPr>
            <p:cNvPr id="17" name="TextBox 17"/>
            <p:cNvSpPr txBox="1"/>
            <p:nvPr/>
          </p:nvSpPr>
          <p:spPr>
            <a:xfrm>
              <a:off x="870966" y="4020502"/>
              <a:ext cx="35632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Randomized smoothing has become a leading tool for</a:t>
              </a:r>
            </a:p>
          </p:txBody>
        </p:sp>
        <p:sp>
          <p:nvSpPr>
            <p:cNvPr id="18" name="TextBox 18"/>
            <p:cNvSpPr txBox="1"/>
            <p:nvPr/>
          </p:nvSpPr>
          <p:spPr>
            <a:xfrm>
              <a:off x="870966" y="4220528"/>
              <a:ext cx="33889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certified robustness in image classification, but</a:t>
              </a:r>
            </a:p>
          </p:txBody>
        </p:sp>
        <p:sp>
          <p:nvSpPr>
            <p:cNvPr id="19" name="TextBox 19"/>
            <p:cNvSpPr txBox="1"/>
            <p:nvPr/>
          </p:nvSpPr>
          <p:spPr>
            <a:xfrm>
              <a:off x="870966" y="4420552"/>
              <a:ext cx="31415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reinforcement learning does not fit its mold.</a:t>
              </a:r>
            </a:p>
          </p:txBody>
        </p:sp>
        <p:sp>
          <p:nvSpPr>
            <p:cNvPr id="20" name="Rectangle 20"/>
            <p:cNvSpPr/>
            <p:nvPr/>
          </p:nvSpPr>
          <p:spPr>
            <a:xfrm>
              <a:off x="876300" y="4914900"/>
              <a:ext cx="4457700" cy="266700"/>
            </a:xfrm>
            <a:prstGeom prst="roundRect">
              <a:avLst>
                <a:gd name="adj" fmla="val 28571"/>
              </a:avLst>
            </a:prstGeom>
            <a:solidFill>
              <a:schemeClr val="accent6"/>
            </a:solidFill>
            <a:ln w="14288">
              <a:solidFill>
                <a:srgbClr val="284A66"/>
              </a:solidFill>
            </a:ln>
          </p:spPr>
        </p:sp>
        <p:sp>
          <p:nvSpPr>
            <p:cNvPr id="21" name="Ellipse 21"/>
            <p:cNvSpPr/>
            <p:nvPr/>
          </p:nvSpPr>
          <p:spPr>
            <a:xfrm>
              <a:off x="1000125" y="5000625"/>
              <a:ext cx="95250" cy="95250"/>
            </a:xfrm>
            <a:prstGeom prst="ellipse">
              <a:avLst/>
            </a:prstGeom>
            <a:solidFill>
              <a:srgbClr val="33D6C0"/>
            </a:solidFill>
            <a:ln>
              <a:noFill/>
            </a:ln>
          </p:spPr>
        </p:sp>
        <p:sp>
          <p:nvSpPr>
            <p:cNvPr id="22" name="TextBox 22"/>
            <p:cNvSpPr txBox="1"/>
            <p:nvPr/>
          </p:nvSpPr>
          <p:spPr>
            <a:xfrm>
              <a:off x="1194626" y="4988004"/>
              <a:ext cx="348538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add noise · average outputs · certified radius</a:t>
              </a:r>
            </a:p>
          </p:txBody>
        </p:sp>
      </p:grpSp>
      <p:grpSp>
        <p:nvGrpSpPr>
          <p:cNvPr id="36" name="Group 36"/>
          <p:cNvGrpSpPr/>
          <p:nvPr/>
        </p:nvGrpSpPr>
        <p:grpSpPr>
          <a:xfrm>
            <a:off x="6172200" y="1504950"/>
            <a:ext cx="5410200" cy="1828800"/>
            <a:chOff x="6172200" y="1504950"/>
            <a:chExt cx="5410200" cy="1828800"/>
          </a:xfrm>
        </p:grpSpPr>
        <p:sp>
          <p:nvSpPr>
            <p:cNvPr id="24" name="Rectangle 24"/>
            <p:cNvSpPr/>
            <p:nvPr/>
          </p:nvSpPr>
          <p:spPr>
            <a:xfrm>
              <a:off x="6172200" y="1504950"/>
              <a:ext cx="5410200" cy="1828800"/>
            </a:xfrm>
            <a:prstGeom prst="roundRect">
              <a:avLst>
                <a:gd name="adj" fmla="val 7292"/>
              </a:avLst>
            </a:prstGeom>
            <a:solidFill>
              <a:srgbClr val="2A2417"/>
            </a:solidFill>
            <a:ln w="14288">
              <a:solidFill>
                <a:srgbClr val="F4C24C"/>
              </a:solidFill>
            </a:ln>
          </p:spPr>
        </p:sp>
        <p:sp>
          <p:nvSpPr>
            <p:cNvPr id="25" name="Rectangle 25"/>
            <p:cNvSpPr/>
            <p:nvPr/>
          </p:nvSpPr>
          <p:spPr>
            <a:xfrm>
              <a:off x="6172200" y="1504950"/>
              <a:ext cx="57150" cy="1828800"/>
            </a:xfrm>
            <a:prstGeom prst="roundRect">
              <a:avLst>
                <a:gd name="adj" fmla="val 50000"/>
              </a:avLst>
            </a:prstGeom>
            <a:solidFill>
              <a:srgbClr val="F4C24C"/>
            </a:solidFill>
            <a:ln>
              <a:noFill/>
            </a:ln>
          </p:spPr>
        </p:sp>
        <p:sp>
          <p:nvSpPr>
            <p:cNvPr id="26" name="TextBox 26"/>
            <p:cNvSpPr txBox="1"/>
            <p:nvPr/>
          </p:nvSpPr>
          <p:spPr>
            <a:xfrm>
              <a:off x="6432614" y="1733312"/>
              <a:ext cx="2594728" cy="242030"/>
            </a:xfrm>
            <a:prstGeom prst="rect">
              <a:avLst/>
            </a:prstGeom>
            <a:noFill/>
            <a:ln>
              <a:noFill/>
            </a:ln>
          </p:spPr>
          <p:txBody>
            <a:bodyPr wrap="none" lIns="0" tIns="0" rIns="0" bIns="0" anchor="t" anchorCtr="0">
              <a:spAutoFit/>
            </a:bodyPr>
            <a:lstStyle/>
            <a:p>
              <a:pPr algn="l"/>
              <a:r>
                <a:rPr lang="en-US" sz="1240" b="1" dirty="0">
                  <a:solidFill>
                    <a:srgbClr val="F4C24C"/>
                  </a:solidFill>
                  <a:latin typeface="+mn-lt"/>
                  <a:ea typeface="+mn-ea"/>
                  <a:cs typeface="+mn-cs"/>
                </a:rPr>
                <a:t>Q-values are not probabilities</a:t>
              </a:r>
            </a:p>
          </p:txBody>
        </p:sp>
        <p:sp>
          <p:nvSpPr>
            <p:cNvPr id="27" name="TextBox 27"/>
            <p:cNvSpPr txBox="1"/>
            <p:nvPr/>
          </p:nvSpPr>
          <p:spPr>
            <a:xfrm>
              <a:off x="6433566" y="2039302"/>
              <a:ext cx="431260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Classifier confidence lives in a known 0-1 range and acts like a</a:t>
              </a:r>
            </a:p>
          </p:txBody>
        </p:sp>
        <p:sp>
          <p:nvSpPr>
            <p:cNvPr id="28" name="TextBox 28"/>
            <p:cNvSpPr txBox="1"/>
            <p:nvPr/>
          </p:nvSpPr>
          <p:spPr>
            <a:xfrm>
              <a:off x="6433566" y="2239328"/>
              <a:ext cx="398066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probability; a Q-value's range is unknown, and it is not a</a:t>
              </a:r>
            </a:p>
          </p:txBody>
        </p:sp>
        <p:sp>
          <p:nvSpPr>
            <p:cNvPr id="29" name="TextBox 29"/>
            <p:cNvSpPr txBox="1"/>
            <p:nvPr/>
          </p:nvSpPr>
          <p:spPr>
            <a:xfrm>
              <a:off x="6433566" y="2439352"/>
              <a:ext cx="83757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probability.</a:t>
              </a:r>
            </a:p>
          </p:txBody>
        </p:sp>
        <p:sp>
          <p:nvSpPr>
            <p:cNvPr id="30" name="Rectangle 30"/>
            <p:cNvSpPr/>
            <p:nvPr/>
          </p:nvSpPr>
          <p:spPr>
            <a:xfrm>
              <a:off x="6438900" y="2686050"/>
              <a:ext cx="2362200" cy="495300"/>
            </a:xfrm>
            <a:prstGeom prst="roundRect">
              <a:avLst>
                <a:gd name="adj" fmla="val 15385"/>
              </a:avLst>
            </a:prstGeom>
            <a:solidFill>
              <a:schemeClr val="accent6"/>
            </a:solidFill>
            <a:ln w="11430">
              <a:solidFill>
                <a:schemeClr val="accent2"/>
              </a:solidFill>
            </a:ln>
          </p:spPr>
        </p:sp>
        <p:sp>
          <p:nvSpPr>
            <p:cNvPr id="31" name="TextBox 31"/>
            <p:cNvSpPr txBox="1"/>
            <p:nvPr/>
          </p:nvSpPr>
          <p:spPr>
            <a:xfrm>
              <a:off x="6586538" y="2821543"/>
              <a:ext cx="586944" cy="169069"/>
            </a:xfrm>
            <a:prstGeom prst="rect">
              <a:avLst/>
            </a:prstGeom>
            <a:noFill/>
            <a:ln>
              <a:noFill/>
            </a:ln>
          </p:spPr>
          <p:txBody>
            <a:bodyPr wrap="none" lIns="0" tIns="0" rIns="0" bIns="0" anchor="t" anchorCtr="0">
              <a:spAutoFit/>
            </a:bodyPr>
            <a:lstStyle/>
            <a:p>
              <a:pPr algn="l"/>
              <a:r>
                <a:rPr lang="en-US" sz="860" b="1" dirty="0">
                  <a:solidFill>
                    <a:schemeClr val="accent2"/>
                  </a:solidFill>
                  <a:latin typeface="+mn-lt"/>
                  <a:ea typeface="+mn-ea"/>
                  <a:cs typeface="+mn-cs"/>
                </a:rPr>
                <a:t>classifier</a:t>
              </a:r>
            </a:p>
          </p:txBody>
        </p:sp>
        <p:sp>
          <p:nvSpPr>
            <p:cNvPr id="32" name="TextBox 32"/>
            <p:cNvSpPr txBox="1"/>
            <p:nvPr/>
          </p:nvSpPr>
          <p:spPr>
            <a:xfrm>
              <a:off x="6586538" y="3012043"/>
              <a:ext cx="823989"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Consolas"/>
                  <a:ea typeface="Consolas"/>
                  <a:cs typeface="Consolas"/>
                </a:rPr>
                <a:t>prob in [0, 1]</a:t>
              </a:r>
            </a:p>
          </p:txBody>
        </p:sp>
        <p:sp>
          <p:nvSpPr>
            <p:cNvPr id="33" name="Rectangle 33"/>
            <p:cNvSpPr/>
            <p:nvPr/>
          </p:nvSpPr>
          <p:spPr>
            <a:xfrm>
              <a:off x="8953500" y="2686050"/>
              <a:ext cx="2362200" cy="495300"/>
            </a:xfrm>
            <a:prstGeom prst="roundRect">
              <a:avLst>
                <a:gd name="adj" fmla="val 15385"/>
              </a:avLst>
            </a:prstGeom>
            <a:solidFill>
              <a:schemeClr val="accent6"/>
            </a:solidFill>
            <a:ln w="11430">
              <a:solidFill>
                <a:srgbClr val="F2685C"/>
              </a:solidFill>
            </a:ln>
          </p:spPr>
        </p:sp>
        <p:sp>
          <p:nvSpPr>
            <p:cNvPr id="34" name="TextBox 34"/>
            <p:cNvSpPr txBox="1"/>
            <p:nvPr/>
          </p:nvSpPr>
          <p:spPr>
            <a:xfrm>
              <a:off x="9101138" y="2821543"/>
              <a:ext cx="475818" cy="169069"/>
            </a:xfrm>
            <a:prstGeom prst="rect">
              <a:avLst/>
            </a:prstGeom>
            <a:noFill/>
            <a:ln>
              <a:noFill/>
            </a:ln>
          </p:spPr>
          <p:txBody>
            <a:bodyPr wrap="none" lIns="0" tIns="0" rIns="0" bIns="0" anchor="t" anchorCtr="0">
              <a:spAutoFit/>
            </a:bodyPr>
            <a:lstStyle/>
            <a:p>
              <a:pPr algn="l"/>
              <a:r>
                <a:rPr lang="en-US" sz="860" b="1" dirty="0">
                  <a:solidFill>
                    <a:srgbClr val="F2685C"/>
                  </a:solidFill>
                  <a:latin typeface="+mn-lt"/>
                  <a:ea typeface="+mn-ea"/>
                  <a:cs typeface="+mn-cs"/>
                </a:rPr>
                <a:t>Q-value</a:t>
              </a:r>
            </a:p>
          </p:txBody>
        </p:sp>
        <p:sp>
          <p:nvSpPr>
            <p:cNvPr id="35" name="TextBox 35"/>
            <p:cNvSpPr txBox="1"/>
            <p:nvPr/>
          </p:nvSpPr>
          <p:spPr>
            <a:xfrm>
              <a:off x="9101138" y="3012043"/>
              <a:ext cx="1284778" cy="169069"/>
            </a:xfrm>
            <a:prstGeom prst="rect">
              <a:avLst/>
            </a:prstGeom>
            <a:noFill/>
            <a:ln>
              <a:noFill/>
            </a:ln>
          </p:spPr>
          <p:txBody>
            <a:bodyPr wrap="none" lIns="0" tIns="0" rIns="0" bIns="0" anchor="t" anchorCtr="0">
              <a:spAutoFit/>
            </a:bodyPr>
            <a:lstStyle/>
            <a:p>
              <a:pPr algn="l"/>
              <a:r>
                <a:rPr lang="en-US" sz="860" b="1" dirty="0">
                  <a:solidFill>
                    <a:schemeClr val="dk2"/>
                  </a:solidFill>
                  <a:latin typeface="Consolas"/>
                  <a:ea typeface="Consolas"/>
                  <a:cs typeface="Consolas"/>
                </a:rPr>
                <a:t>range [Vmin, Vmax] ?</a:t>
              </a:r>
            </a:p>
          </p:txBody>
        </p:sp>
      </p:grpSp>
      <p:grpSp>
        <p:nvGrpSpPr>
          <p:cNvPr id="44" name="Group 44"/>
          <p:cNvGrpSpPr/>
          <p:nvPr/>
        </p:nvGrpSpPr>
        <p:grpSpPr>
          <a:xfrm>
            <a:off x="6172200" y="3486150"/>
            <a:ext cx="5410200" cy="1752600"/>
            <a:chOff x="6172200" y="3486150"/>
            <a:chExt cx="5410200" cy="1752600"/>
          </a:xfrm>
        </p:grpSpPr>
        <p:sp>
          <p:nvSpPr>
            <p:cNvPr id="37" name="Rectangle 37"/>
            <p:cNvSpPr/>
            <p:nvPr/>
          </p:nvSpPr>
          <p:spPr>
            <a:xfrm>
              <a:off x="6172200" y="3486150"/>
              <a:ext cx="5410200" cy="1752600"/>
            </a:xfrm>
            <a:prstGeom prst="roundRect">
              <a:avLst>
                <a:gd name="adj" fmla="val 7609"/>
              </a:avLst>
            </a:prstGeom>
            <a:solidFill>
              <a:srgbClr val="0F2E2B"/>
            </a:solidFill>
            <a:ln w="14288">
              <a:solidFill>
                <a:srgbClr val="46C98B"/>
              </a:solidFill>
            </a:ln>
          </p:spPr>
        </p:sp>
        <p:sp>
          <p:nvSpPr>
            <p:cNvPr id="38" name="Rectangle 38"/>
            <p:cNvSpPr/>
            <p:nvPr/>
          </p:nvSpPr>
          <p:spPr>
            <a:xfrm>
              <a:off x="6172200" y="3486150"/>
              <a:ext cx="57150" cy="1752600"/>
            </a:xfrm>
            <a:prstGeom prst="roundRect">
              <a:avLst>
                <a:gd name="adj" fmla="val 50000"/>
              </a:avLst>
            </a:prstGeom>
            <a:solidFill>
              <a:srgbClr val="46C98B"/>
            </a:solidFill>
            <a:ln>
              <a:noFill/>
            </a:ln>
          </p:spPr>
        </p:sp>
        <p:sp>
          <p:nvSpPr>
            <p:cNvPr id="39" name="TextBox 39"/>
            <p:cNvSpPr txBox="1"/>
            <p:nvPr/>
          </p:nvSpPr>
          <p:spPr>
            <a:xfrm>
              <a:off x="6432804" y="3718560"/>
              <a:ext cx="2273958" cy="234696"/>
            </a:xfrm>
            <a:prstGeom prst="rect">
              <a:avLst/>
            </a:prstGeom>
            <a:noFill/>
            <a:ln>
              <a:noFill/>
            </a:ln>
          </p:spPr>
          <p:txBody>
            <a:bodyPr wrap="none" lIns="0" tIns="0" rIns="0" bIns="0" anchor="t" anchorCtr="0">
              <a:spAutoFit/>
            </a:bodyPr>
            <a:lstStyle/>
            <a:p>
              <a:pPr algn="l"/>
              <a:r>
                <a:rPr lang="en-US" sz="1200" b="1" dirty="0">
                  <a:solidFill>
                    <a:srgbClr val="46C98B"/>
                  </a:solidFill>
                  <a:latin typeface="+mn-lt"/>
                  <a:ea typeface="+mn-ea"/>
                  <a:cs typeface="+mn-cs"/>
                </a:rPr>
                <a:t>Reward, not a single action</a:t>
              </a:r>
            </a:p>
          </p:txBody>
        </p:sp>
        <p:sp>
          <p:nvSpPr>
            <p:cNvPr id="40" name="TextBox 40"/>
            <p:cNvSpPr txBox="1"/>
            <p:nvPr/>
          </p:nvSpPr>
          <p:spPr>
            <a:xfrm>
              <a:off x="6433566" y="4020502"/>
              <a:ext cx="362694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 single action decision is not the whole story: what</a:t>
              </a:r>
            </a:p>
          </p:txBody>
        </p:sp>
        <p:sp>
          <p:nvSpPr>
            <p:cNvPr id="41" name="TextBox 41"/>
            <p:cNvSpPr txBox="1"/>
            <p:nvPr/>
          </p:nvSpPr>
          <p:spPr>
            <a:xfrm>
              <a:off x="6433566" y="4220528"/>
              <a:ext cx="3784740"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ultimately matters is the reward accumulated along an</a:t>
              </a:r>
            </a:p>
          </p:txBody>
        </p:sp>
        <p:sp>
          <p:nvSpPr>
            <p:cNvPr id="42" name="TextBox 42"/>
            <p:cNvSpPr txBox="1"/>
            <p:nvPr/>
          </p:nvSpPr>
          <p:spPr>
            <a:xfrm>
              <a:off x="6433566" y="4420552"/>
              <a:ext cx="361323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entire trajectory. CROP overcomes both obstacles.</a:t>
              </a:r>
            </a:p>
          </p:txBody>
        </p:sp>
        <p:sp>
          <p:nvSpPr>
            <p:cNvPr id="43" name="TextBox 43"/>
            <p:cNvSpPr txBox="1"/>
            <p:nvPr/>
          </p:nvSpPr>
          <p:spPr>
            <a:xfrm>
              <a:off x="6433756" y="4881801"/>
              <a:ext cx="2622389" cy="198025"/>
            </a:xfrm>
            <a:prstGeom prst="rect">
              <a:avLst/>
            </a:prstGeom>
            <a:noFill/>
            <a:ln>
              <a:noFill/>
            </a:ln>
          </p:spPr>
          <p:txBody>
            <a:bodyPr wrap="none" lIns="0" tIns="0" rIns="0" bIns="0" anchor="t" anchorCtr="0">
              <a:spAutoFit/>
            </a:bodyPr>
            <a:lstStyle/>
            <a:p>
              <a:pPr algn="l"/>
              <a:r>
                <a:rPr lang="en-US" sz="1010" b="1" dirty="0">
                  <a:solidFill>
                    <a:srgbClr val="46C98B"/>
                  </a:solidFill>
                  <a:latin typeface="Consolas"/>
                  <a:ea typeface="Consolas"/>
                  <a:cs typeface="Consolas"/>
                </a:rPr>
                <a:t>certify action AND cumulative reward</a:t>
              </a:r>
            </a:p>
          </p:txBody>
        </p:sp>
      </p:grpSp>
      <p:sp>
        <p:nvSpPr>
          <p:cNvPr id="45" name="cue_s03_c1_core_motivation_trust_you_cannot" title="cue_s03_c1_core_motivation_trust_you_cannot" descr="cue_s03_c1_core_motivation_trust_you_cannot The core motivation is trust. If you cannot prove a policy is robust, then passing today's attacks tells you little about tomorrow's."/>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2_randomized_smoothing_become_leading" title="cue_s03_c2_randomized_smoothing_become_leading" descr="cue_s03_c2_randomized_smoothing_become_leading Randomized smoothing has become a leading tool for certifying image classifiers, but reinforcement learning does not fit its mold."/>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3_classification_confidence_output_liv" title="cue_s03_c3_classification_confidence_output_liv" descr="cue_s03_c3_classification_confidence_output_liv In classification the confidence output lives in a known zero-to-one range and behaves like a probability; in Q-learning the value function has an unknown range and its outputs are not probabilities at all."/>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3_c4_top_single_action_decision_not" title="cue_s03_c4_top_single_action_decision_not" descr="cue_s03_c4_top_single_action_decision_not On top of that, a single action decision is not the whole story: what ultimately matters is the reward accumulated along an entire trajectory of decisions. CROP is designed to overcome both obstacles."/>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485165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criteria, three algorithms</a:t>
            </a:r>
          </a:p>
        </p:txBody>
      </p:sp>
      <p:grpSp>
        <p:nvGrpSpPr>
          <p:cNvPr id="16" name="Group 16"/>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84A66"/>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1000145" y="2208848"/>
              <a:ext cx="171411" cy="381381"/>
            </a:xfrm>
            <a:prstGeom prst="rect">
              <a:avLst/>
            </a:prstGeom>
            <a:noFill/>
            <a:ln>
              <a:noFill/>
            </a:ln>
          </p:spPr>
          <p:txBody>
            <a:bodyPr wrap="none" lIns="0" tIns="0" rIns="0" bIns="0" anchor="t" anchorCtr="0">
              <a:spAutoFit/>
            </a:bodyPr>
            <a:lstStyle/>
            <a:p>
              <a:pPr algn="ctr"/>
              <a:r>
                <a:rPr lang="en-US" sz="1950" b="1" dirty="0">
                  <a:solidFill>
                    <a:schemeClr val="accent2"/>
                  </a:solidFill>
                  <a:latin typeface="+mn-lt"/>
                  <a:ea typeface="+mn-ea"/>
                  <a:cs typeface="+mn-cs"/>
                </a:rPr>
                <a:t>2</a:t>
              </a:r>
            </a:p>
          </p:txBody>
        </p:sp>
        <p:sp>
          <p:nvSpPr>
            <p:cNvPr id="9" name="TextBox 9"/>
            <p:cNvSpPr txBox="1"/>
            <p:nvPr/>
          </p:nvSpPr>
          <p:spPr>
            <a:xfrm>
              <a:off x="831532" y="2849166"/>
              <a:ext cx="160213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Two certification</a:t>
              </a:r>
            </a:p>
          </p:txBody>
        </p:sp>
        <p:sp>
          <p:nvSpPr>
            <p:cNvPr id="10" name="TextBox 10"/>
            <p:cNvSpPr txBox="1"/>
            <p:nvPr/>
          </p:nvSpPr>
          <p:spPr>
            <a:xfrm>
              <a:off x="831532" y="3096816"/>
              <a:ext cx="73549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criteria</a:t>
              </a:r>
            </a:p>
          </p:txBody>
        </p:sp>
        <p:sp>
          <p:nvSpPr>
            <p:cNvPr id="11" name="TextBox 11"/>
            <p:cNvSpPr txBox="1"/>
            <p:nvPr/>
          </p:nvSpPr>
          <p:spPr>
            <a:xfrm>
              <a:off x="832866" y="3487102"/>
              <a:ext cx="20930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CROP defines two criteria for</a:t>
              </a:r>
            </a:p>
          </p:txBody>
        </p:sp>
        <p:sp>
          <p:nvSpPr>
            <p:cNvPr id="12" name="TextBox 12"/>
            <p:cNvSpPr txBox="1"/>
            <p:nvPr/>
          </p:nvSpPr>
          <p:spPr>
            <a:xfrm>
              <a:off x="832866" y="3696652"/>
              <a:ext cx="154742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RL: robustness of the</a:t>
              </a:r>
            </a:p>
          </p:txBody>
        </p:sp>
        <p:sp>
          <p:nvSpPr>
            <p:cNvPr id="13" name="TextBox 13"/>
            <p:cNvSpPr txBox="1"/>
            <p:nvPr/>
          </p:nvSpPr>
          <p:spPr>
            <a:xfrm>
              <a:off x="832866" y="3906202"/>
              <a:ext cx="20814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per-state action, and a lower</a:t>
              </a:r>
            </a:p>
          </p:txBody>
        </p:sp>
        <p:sp>
          <p:nvSpPr>
            <p:cNvPr id="14" name="TextBox 14"/>
            <p:cNvSpPr txBox="1"/>
            <p:nvPr/>
          </p:nvSpPr>
          <p:spPr>
            <a:xfrm>
              <a:off x="832866" y="4115752"/>
              <a:ext cx="16503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bound on the cumulative</a:t>
              </a:r>
            </a:p>
          </p:txBody>
        </p:sp>
        <p:sp>
          <p:nvSpPr>
            <p:cNvPr id="15" name="TextBox 15"/>
            <p:cNvSpPr txBox="1"/>
            <p:nvPr/>
          </p:nvSpPr>
          <p:spPr>
            <a:xfrm>
              <a:off x="832866" y="4325302"/>
              <a:ext cx="5831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reward.</a:t>
              </a:r>
            </a:p>
          </p:txBody>
        </p:sp>
      </p:grpSp>
      <p:grpSp>
        <p:nvGrpSpPr>
          <p:cNvPr id="26" name="Group 26"/>
          <p:cNvGrpSpPr/>
          <p:nvPr/>
        </p:nvGrpSpPr>
        <p:grpSpPr>
          <a:xfrm>
            <a:off x="3429000" y="1714500"/>
            <a:ext cx="2590800" cy="3543300"/>
            <a:chOff x="3429000" y="1714500"/>
            <a:chExt cx="2590800" cy="3543300"/>
          </a:xfrm>
        </p:grpSpPr>
        <p:sp>
          <p:nvSpPr>
            <p:cNvPr id="17" name="Rectangle 17"/>
            <p:cNvSpPr/>
            <p:nvPr/>
          </p:nvSpPr>
          <p:spPr>
            <a:xfrm>
              <a:off x="3429000" y="1714500"/>
              <a:ext cx="2590800" cy="3543300"/>
            </a:xfrm>
            <a:prstGeom prst="roundRect">
              <a:avLst>
                <a:gd name="adj" fmla="val 5147"/>
              </a:avLst>
            </a:prstGeom>
            <a:solidFill>
              <a:schemeClr val="accent5"/>
            </a:solidFill>
            <a:ln w="14288">
              <a:solidFill>
                <a:srgbClr val="284A66"/>
              </a:solidFill>
            </a:ln>
          </p:spPr>
        </p:sp>
        <p:sp>
          <p:nvSpPr>
            <p:cNvPr id="18" name="Rectangle 18"/>
            <p:cNvSpPr/>
            <p:nvPr/>
          </p:nvSpPr>
          <p:spPr>
            <a:xfrm>
              <a:off x="3429000" y="1714500"/>
              <a:ext cx="2590800" cy="57150"/>
            </a:xfrm>
            <a:prstGeom prst="roundRect">
              <a:avLst>
                <a:gd name="adj" fmla="val 50000"/>
              </a:avLst>
            </a:prstGeom>
            <a:solidFill>
              <a:srgbClr val="33D6C0"/>
            </a:solidFill>
            <a:ln>
              <a:noFill/>
            </a:ln>
          </p:spPr>
        </p:sp>
        <p:sp>
          <p:nvSpPr>
            <p:cNvPr id="19" name="Ellipse 19"/>
            <p:cNvSpPr/>
            <p:nvPr/>
          </p:nvSpPr>
          <p:spPr>
            <a:xfrm>
              <a:off x="3657600" y="2095500"/>
              <a:ext cx="495300" cy="495300"/>
            </a:xfrm>
            <a:prstGeom prst="ellipse">
              <a:avLst/>
            </a:prstGeom>
            <a:noFill/>
            <a:ln w="23812">
              <a:solidFill>
                <a:srgbClr val="33D6C0"/>
              </a:solidFill>
            </a:ln>
          </p:spPr>
        </p:sp>
        <p:sp>
          <p:nvSpPr>
            <p:cNvPr id="20" name="TextBox 20"/>
            <p:cNvSpPr txBox="1"/>
            <p:nvPr/>
          </p:nvSpPr>
          <p:spPr>
            <a:xfrm>
              <a:off x="3819545" y="2208848"/>
              <a:ext cx="171411" cy="381381"/>
            </a:xfrm>
            <a:prstGeom prst="rect">
              <a:avLst/>
            </a:prstGeom>
            <a:noFill/>
            <a:ln>
              <a:noFill/>
            </a:ln>
          </p:spPr>
          <p:txBody>
            <a:bodyPr wrap="none" lIns="0" tIns="0" rIns="0" bIns="0" anchor="t" anchorCtr="0">
              <a:spAutoFit/>
            </a:bodyPr>
            <a:lstStyle/>
            <a:p>
              <a:pPr algn="ctr"/>
              <a:r>
                <a:rPr lang="en-US" sz="1950" b="1" dirty="0">
                  <a:solidFill>
                    <a:srgbClr val="33D6C0"/>
                  </a:solidFill>
                  <a:latin typeface="+mn-lt"/>
                  <a:ea typeface="+mn-ea"/>
                  <a:cs typeface="+mn-cs"/>
                </a:rPr>
                <a:t>1</a:t>
              </a:r>
            </a:p>
          </p:txBody>
        </p:sp>
        <p:sp>
          <p:nvSpPr>
            <p:cNvPr id="21" name="TextBox 21"/>
            <p:cNvSpPr txBox="1"/>
            <p:nvPr/>
          </p:nvSpPr>
          <p:spPr>
            <a:xfrm>
              <a:off x="3650932" y="2849166"/>
              <a:ext cx="127196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1 CROP-LoAct</a:t>
              </a:r>
            </a:p>
          </p:txBody>
        </p:sp>
        <p:sp>
          <p:nvSpPr>
            <p:cNvPr id="22" name="TextBox 22"/>
            <p:cNvSpPr txBox="1"/>
            <p:nvPr/>
          </p:nvSpPr>
          <p:spPr>
            <a:xfrm>
              <a:off x="3652266" y="3239452"/>
              <a:ext cx="19163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Local randomized smoothing</a:t>
              </a:r>
            </a:p>
          </p:txBody>
        </p:sp>
        <p:sp>
          <p:nvSpPr>
            <p:cNvPr id="23" name="TextBox 23"/>
            <p:cNvSpPr txBox="1"/>
            <p:nvPr/>
          </p:nvSpPr>
          <p:spPr>
            <a:xfrm>
              <a:off x="3652266" y="3449002"/>
              <a:ext cx="209559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certifies a radius around each</a:t>
              </a:r>
            </a:p>
          </p:txBody>
        </p:sp>
        <p:sp>
          <p:nvSpPr>
            <p:cNvPr id="24" name="TextBox 24"/>
            <p:cNvSpPr txBox="1"/>
            <p:nvPr/>
          </p:nvSpPr>
          <p:spPr>
            <a:xfrm>
              <a:off x="3652266" y="365855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state within which the chosen</a:t>
              </a:r>
            </a:p>
          </p:txBody>
        </p:sp>
        <p:sp>
          <p:nvSpPr>
            <p:cNvPr id="25" name="TextBox 25"/>
            <p:cNvSpPr txBox="1"/>
            <p:nvPr/>
          </p:nvSpPr>
          <p:spPr>
            <a:xfrm>
              <a:off x="3652266" y="3868102"/>
              <a:ext cx="15372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action cannot change.</a:t>
              </a:r>
            </a:p>
          </p:txBody>
        </p:sp>
      </p:grpSp>
      <p:grpSp>
        <p:nvGrpSpPr>
          <p:cNvPr id="37" name="Group 37"/>
          <p:cNvGrpSpPr/>
          <p:nvPr/>
        </p:nvGrpSpPr>
        <p:grpSpPr>
          <a:xfrm>
            <a:off x="6248400" y="1714500"/>
            <a:ext cx="2590800" cy="3543300"/>
            <a:chOff x="6248400" y="1714500"/>
            <a:chExt cx="2590800" cy="3543300"/>
          </a:xfrm>
        </p:grpSpPr>
        <p:sp>
          <p:nvSpPr>
            <p:cNvPr id="27" name="Rectangle 27"/>
            <p:cNvSpPr/>
            <p:nvPr/>
          </p:nvSpPr>
          <p:spPr>
            <a:xfrm>
              <a:off x="6248400" y="1714500"/>
              <a:ext cx="2590800" cy="3543300"/>
            </a:xfrm>
            <a:prstGeom prst="roundRect">
              <a:avLst>
                <a:gd name="adj" fmla="val 5147"/>
              </a:avLst>
            </a:prstGeom>
            <a:solidFill>
              <a:schemeClr val="accent5"/>
            </a:solidFill>
            <a:ln w="14288">
              <a:solidFill>
                <a:srgbClr val="284A66"/>
              </a:solidFill>
            </a:ln>
          </p:spPr>
        </p:sp>
        <p:sp>
          <p:nvSpPr>
            <p:cNvPr id="28" name="Rectangle 28"/>
            <p:cNvSpPr/>
            <p:nvPr/>
          </p:nvSpPr>
          <p:spPr>
            <a:xfrm>
              <a:off x="6248400" y="1714500"/>
              <a:ext cx="2590800" cy="57150"/>
            </a:xfrm>
            <a:prstGeom prst="roundRect">
              <a:avLst>
                <a:gd name="adj" fmla="val 50000"/>
              </a:avLst>
            </a:prstGeom>
            <a:solidFill>
              <a:srgbClr val="46C98B"/>
            </a:solidFill>
            <a:ln>
              <a:noFill/>
            </a:ln>
          </p:spPr>
        </p:sp>
        <p:sp>
          <p:nvSpPr>
            <p:cNvPr id="29" name="Ellipse 29"/>
            <p:cNvSpPr/>
            <p:nvPr/>
          </p:nvSpPr>
          <p:spPr>
            <a:xfrm>
              <a:off x="6477000" y="2095500"/>
              <a:ext cx="495300" cy="495300"/>
            </a:xfrm>
            <a:prstGeom prst="ellipse">
              <a:avLst/>
            </a:prstGeom>
            <a:noFill/>
            <a:ln w="23812">
              <a:solidFill>
                <a:srgbClr val="46C98B"/>
              </a:solidFill>
            </a:ln>
          </p:spPr>
        </p:sp>
        <p:sp>
          <p:nvSpPr>
            <p:cNvPr id="30" name="TextBox 30"/>
            <p:cNvSpPr txBox="1"/>
            <p:nvPr/>
          </p:nvSpPr>
          <p:spPr>
            <a:xfrm>
              <a:off x="6638945" y="2208848"/>
              <a:ext cx="171411" cy="381381"/>
            </a:xfrm>
            <a:prstGeom prst="rect">
              <a:avLst/>
            </a:prstGeom>
            <a:noFill/>
            <a:ln>
              <a:noFill/>
            </a:ln>
          </p:spPr>
          <p:txBody>
            <a:bodyPr wrap="none" lIns="0" tIns="0" rIns="0" bIns="0" anchor="t" anchorCtr="0">
              <a:spAutoFit/>
            </a:bodyPr>
            <a:lstStyle/>
            <a:p>
              <a:pPr algn="ctr"/>
              <a:r>
                <a:rPr lang="en-US" sz="1950" b="1" dirty="0">
                  <a:solidFill>
                    <a:srgbClr val="46C98B"/>
                  </a:solidFill>
                  <a:latin typeface="+mn-lt"/>
                  <a:ea typeface="+mn-ea"/>
                  <a:cs typeface="+mn-cs"/>
                </a:rPr>
                <a:t>2</a:t>
              </a:r>
            </a:p>
          </p:txBody>
        </p:sp>
        <p:sp>
          <p:nvSpPr>
            <p:cNvPr id="31" name="TextBox 31"/>
            <p:cNvSpPr txBox="1"/>
            <p:nvPr/>
          </p:nvSpPr>
          <p:spPr>
            <a:xfrm>
              <a:off x="6470332" y="2849166"/>
              <a:ext cx="170991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2 CROP-GRe &amp; LoRe</a:t>
              </a:r>
            </a:p>
          </p:txBody>
        </p:sp>
        <p:sp>
          <p:nvSpPr>
            <p:cNvPr id="32" name="TextBox 32"/>
            <p:cNvSpPr txBox="1"/>
            <p:nvPr/>
          </p:nvSpPr>
          <p:spPr>
            <a:xfrm>
              <a:off x="6471666" y="3239452"/>
              <a:ext cx="165475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Global smoothing bounds</a:t>
              </a:r>
            </a:p>
          </p:txBody>
        </p:sp>
        <p:sp>
          <p:nvSpPr>
            <p:cNvPr id="33" name="TextBox 33"/>
            <p:cNvSpPr txBox="1"/>
            <p:nvPr/>
          </p:nvSpPr>
          <p:spPr>
            <a:xfrm>
              <a:off x="6471666" y="3449002"/>
              <a:ext cx="16574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expected and percentile</a:t>
              </a:r>
            </a:p>
          </p:txBody>
        </p:sp>
        <p:sp>
          <p:nvSpPr>
            <p:cNvPr id="34" name="TextBox 34"/>
            <p:cNvSpPr txBox="1"/>
            <p:nvPr/>
          </p:nvSpPr>
          <p:spPr>
            <a:xfrm>
              <a:off x="6471666" y="3658552"/>
              <a:ext cx="176342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reward; an adaptive tree</a:t>
              </a:r>
            </a:p>
          </p:txBody>
        </p:sp>
        <p:sp>
          <p:nvSpPr>
            <p:cNvPr id="35" name="TextBox 35"/>
            <p:cNvSpPr txBox="1"/>
            <p:nvPr/>
          </p:nvSpPr>
          <p:spPr>
            <a:xfrm>
              <a:off x="6471666" y="3868102"/>
              <a:ext cx="192597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search gives a much tighter</a:t>
              </a:r>
            </a:p>
          </p:txBody>
        </p:sp>
        <p:sp>
          <p:nvSpPr>
            <p:cNvPr id="36" name="TextBox 36"/>
            <p:cNvSpPr txBox="1"/>
            <p:nvPr/>
          </p:nvSpPr>
          <p:spPr>
            <a:xfrm>
              <a:off x="6471666" y="4077652"/>
              <a:ext cx="15301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absolute lower bound.</a:t>
              </a:r>
            </a:p>
          </p:txBody>
        </p:sp>
      </p:grpSp>
      <p:grpSp>
        <p:nvGrpSpPr>
          <p:cNvPr id="49" name="Group 49"/>
          <p:cNvGrpSpPr/>
          <p:nvPr/>
        </p:nvGrpSpPr>
        <p:grpSpPr>
          <a:xfrm>
            <a:off x="9067800" y="1714500"/>
            <a:ext cx="2590800" cy="3543300"/>
            <a:chOff x="9067800" y="1714500"/>
            <a:chExt cx="2590800" cy="3543300"/>
          </a:xfrm>
        </p:grpSpPr>
        <p:sp>
          <p:nvSpPr>
            <p:cNvPr id="38" name="Rectangle 38"/>
            <p:cNvSpPr/>
            <p:nvPr/>
          </p:nvSpPr>
          <p:spPr>
            <a:xfrm>
              <a:off x="9067800" y="1714500"/>
              <a:ext cx="2590800" cy="3543300"/>
            </a:xfrm>
            <a:prstGeom prst="roundRect">
              <a:avLst>
                <a:gd name="adj" fmla="val 5147"/>
              </a:avLst>
            </a:prstGeom>
            <a:solidFill>
              <a:schemeClr val="accent5"/>
            </a:solidFill>
            <a:ln w="14288">
              <a:solidFill>
                <a:srgbClr val="284A66"/>
              </a:solidFill>
            </a:ln>
          </p:spPr>
        </p:sp>
        <p:sp>
          <p:nvSpPr>
            <p:cNvPr id="39" name="Rectangle 39"/>
            <p:cNvSpPr/>
            <p:nvPr/>
          </p:nvSpPr>
          <p:spPr>
            <a:xfrm>
              <a:off x="9067800" y="1714500"/>
              <a:ext cx="2590800" cy="57150"/>
            </a:xfrm>
            <a:prstGeom prst="roundRect">
              <a:avLst>
                <a:gd name="adj" fmla="val 50000"/>
              </a:avLst>
            </a:prstGeom>
            <a:solidFill>
              <a:srgbClr val="F4C24C"/>
            </a:solidFill>
            <a:ln>
              <a:noFill/>
            </a:ln>
          </p:spPr>
        </p:sp>
        <p:sp>
          <p:nvSpPr>
            <p:cNvPr id="40" name="Ellipse 40"/>
            <p:cNvSpPr/>
            <p:nvPr/>
          </p:nvSpPr>
          <p:spPr>
            <a:xfrm>
              <a:off x="9296400" y="2095500"/>
              <a:ext cx="495300" cy="495300"/>
            </a:xfrm>
            <a:prstGeom prst="ellipse">
              <a:avLst/>
            </a:prstGeom>
            <a:noFill/>
            <a:ln w="23812">
              <a:solidFill>
                <a:srgbClr val="F4C24C"/>
              </a:solidFill>
            </a:ln>
          </p:spPr>
        </p:sp>
        <p:sp>
          <p:nvSpPr>
            <p:cNvPr id="41" name="TextBox 41"/>
            <p:cNvSpPr txBox="1"/>
            <p:nvPr/>
          </p:nvSpPr>
          <p:spPr>
            <a:xfrm>
              <a:off x="9458345" y="2208848"/>
              <a:ext cx="171411" cy="381381"/>
            </a:xfrm>
            <a:prstGeom prst="rect">
              <a:avLst/>
            </a:prstGeom>
            <a:noFill/>
            <a:ln>
              <a:noFill/>
            </a:ln>
          </p:spPr>
          <p:txBody>
            <a:bodyPr wrap="none" lIns="0" tIns="0" rIns="0" bIns="0" anchor="t" anchorCtr="0">
              <a:spAutoFit/>
            </a:bodyPr>
            <a:lstStyle/>
            <a:p>
              <a:pPr algn="ctr"/>
              <a:r>
                <a:rPr lang="en-US" sz="1950" b="1" dirty="0">
                  <a:solidFill>
                    <a:srgbClr val="F4C24C"/>
                  </a:solidFill>
                  <a:latin typeface="+mn-lt"/>
                  <a:ea typeface="+mn-ea"/>
                  <a:cs typeface="+mn-cs"/>
                </a:rPr>
                <a:t>9</a:t>
              </a:r>
            </a:p>
          </p:txBody>
        </p:sp>
        <p:sp>
          <p:nvSpPr>
            <p:cNvPr id="42" name="TextBox 42"/>
            <p:cNvSpPr txBox="1"/>
            <p:nvPr/>
          </p:nvSpPr>
          <p:spPr>
            <a:xfrm>
              <a:off x="9289732" y="2849166"/>
              <a:ext cx="128972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3 Benchmark &amp;</a:t>
              </a:r>
            </a:p>
          </p:txBody>
        </p:sp>
        <p:sp>
          <p:nvSpPr>
            <p:cNvPr id="43" name="TextBox 43"/>
            <p:cNvSpPr txBox="1"/>
            <p:nvPr/>
          </p:nvSpPr>
          <p:spPr>
            <a:xfrm>
              <a:off x="9289732" y="3096816"/>
              <a:ext cx="108732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leaderboard</a:t>
              </a:r>
            </a:p>
          </p:txBody>
        </p:sp>
        <p:sp>
          <p:nvSpPr>
            <p:cNvPr id="44" name="TextBox 44"/>
            <p:cNvSpPr txBox="1"/>
            <p:nvPr/>
          </p:nvSpPr>
          <p:spPr>
            <a:xfrm>
              <a:off x="9291066" y="3487102"/>
              <a:ext cx="15134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tools certify nine</a:t>
              </a:r>
            </a:p>
          </p:txBody>
        </p:sp>
        <p:sp>
          <p:nvSpPr>
            <p:cNvPr id="45" name="TextBox 45"/>
            <p:cNvSpPr txBox="1"/>
            <p:nvPr/>
          </p:nvSpPr>
          <p:spPr>
            <a:xfrm>
              <a:off x="9291066" y="3696652"/>
              <a:ext cx="20549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existing robust RL algorithms</a:t>
              </a:r>
            </a:p>
          </p:txBody>
        </p:sp>
        <p:sp>
          <p:nvSpPr>
            <p:cNvPr id="46" name="TextBox 46"/>
            <p:cNvSpPr txBox="1"/>
            <p:nvPr/>
          </p:nvSpPr>
          <p:spPr>
            <a:xfrm>
              <a:off x="9291066" y="3906202"/>
              <a:ext cx="18765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across four environments,</a:t>
              </a:r>
            </a:p>
          </p:txBody>
        </p:sp>
        <p:sp>
          <p:nvSpPr>
            <p:cNvPr id="47" name="TextBox 47"/>
            <p:cNvSpPr txBox="1"/>
            <p:nvPr/>
          </p:nvSpPr>
          <p:spPr>
            <a:xfrm>
              <a:off x="9291066" y="4115752"/>
              <a:ext cx="134643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released as an open</a:t>
              </a:r>
            </a:p>
          </p:txBody>
        </p:sp>
        <p:sp>
          <p:nvSpPr>
            <p:cNvPr id="48" name="TextBox 48"/>
            <p:cNvSpPr txBox="1"/>
            <p:nvPr/>
          </p:nvSpPr>
          <p:spPr>
            <a:xfrm>
              <a:off x="9291066" y="4325302"/>
              <a:ext cx="90824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leaderboard.</a:t>
              </a:r>
            </a:p>
          </p:txBody>
        </p:sp>
      </p:grpSp>
      <p:sp>
        <p:nvSpPr>
          <p:cNvPr id="50" name="TextBox 50"/>
          <p:cNvSpPr txBox="1"/>
          <p:nvPr/>
        </p:nvSpPr>
        <p:spPr>
          <a:xfrm>
            <a:off x="603694" y="5456158"/>
            <a:ext cx="8554745" cy="227362"/>
          </a:xfrm>
          <a:prstGeom prst="rect">
            <a:avLst/>
          </a:prstGeom>
          <a:noFill/>
          <a:ln>
            <a:noFill/>
          </a:ln>
        </p:spPr>
        <p:txBody>
          <a:bodyPr wrap="none" lIns="0" tIns="0" rIns="0" bIns="0" anchor="t" anchorCtr="0">
            <a:spAutoFit/>
          </a:bodyPr>
          <a:lstStyle/>
          <a:p>
            <a:pPr algn="l"/>
            <a:r>
              <a:rPr lang="en-US" sz="1160" b="1" dirty="0">
                <a:solidFill>
                  <a:srgbClr val="33D6C0"/>
                </a:solidFill>
                <a:latin typeface="+mn-lt"/>
                <a:ea typeface="+mn-ea"/>
                <a:cs typeface="+mn-cs"/>
              </a:rPr>
              <a:t>The first unified framework to certify RL robustness at both the action and the cumulative-reward level.</a:t>
            </a:r>
          </a:p>
        </p:txBody>
      </p:sp>
      <p:sp>
        <p:nvSpPr>
          <p:cNvPr id="51" name="cue_s04_c1_crop_makes_three_main_contributions" title="cue_s04_c1_crop_makes_three_main_contributions" descr="cue_s04_c1_crop_makes_three_main_contributions CROP makes three main contributions. First, it defines two certification criteria for reinforcement learning: robustness of the per-state action, and a lower bound on the cumulative reward."/>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2_second_turns_criterion_algorithm_cro" title="cue_s04_c2_second_turns_criterion_algorithm_cro" descr="cue_s04_c2_second_turns_criterion_algorithm_cro Second, it turns each criterion into an algorithm. CROP-LoAct uses local randomized smoothing to certify a radius around each state within which the chosen action cannot change."/>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4_c3_crop_gre_global_smoothing_bound_expe" title="cue_s04_c3_crop_gre_global_smoothing_bound_expe" descr="cue_s04_c3_crop_gre_global_smoothing_bound_expe CROP-GRe uses global smoothing to bound the expected and percentile reward, and CROP-LoRe performs an adaptive tree search to produce a much tighter absolute lower bound on reward."/>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4_c4_third_authors_apply_these_tools" title="cue_s04_c4_third_authors_apply_these_tools" descr="cue_s04_c4_third_authors_apply_these_tools Third, the authors apply these tools to nine existing robust RL algorithms across four environments, and release the results as an open leaderboard for the community."/>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18208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Functional smoothing of the Q-function</a:t>
            </a:r>
          </a:p>
        </p:txBody>
      </p:sp>
      <p:grpSp>
        <p:nvGrpSpPr>
          <p:cNvPr id="24" name="Group 24"/>
          <p:cNvGrpSpPr/>
          <p:nvPr/>
        </p:nvGrpSpPr>
        <p:grpSpPr>
          <a:xfrm>
            <a:off x="609600" y="1504950"/>
            <a:ext cx="10972800" cy="1600200"/>
            <a:chOff x="609600" y="1504950"/>
            <a:chExt cx="10972800" cy="1600200"/>
          </a:xfrm>
        </p:grpSpPr>
        <p:sp>
          <p:nvSpPr>
            <p:cNvPr id="5" name="Rectangle 5"/>
            <p:cNvSpPr/>
            <p:nvPr/>
          </p:nvSpPr>
          <p:spPr>
            <a:xfrm>
              <a:off x="609600" y="1504950"/>
              <a:ext cx="10972800" cy="1600200"/>
            </a:xfrm>
            <a:prstGeom prst="roundRect">
              <a:avLst>
                <a:gd name="adj" fmla="val 8333"/>
              </a:avLst>
            </a:prstGeom>
            <a:solidFill>
              <a:schemeClr val="accent5"/>
            </a:solidFill>
            <a:ln w="14288">
              <a:solidFill>
                <a:srgbClr val="284A66"/>
              </a:solidFill>
            </a:ln>
          </p:spPr>
        </p:sp>
        <p:sp>
          <p:nvSpPr>
            <p:cNvPr id="6" name="Rectangle 6"/>
            <p:cNvSpPr/>
            <p:nvPr/>
          </p:nvSpPr>
          <p:spPr>
            <a:xfrm>
              <a:off x="609600" y="1504950"/>
              <a:ext cx="57150" cy="1600200"/>
            </a:xfrm>
            <a:prstGeom prst="roundRect">
              <a:avLst>
                <a:gd name="adj" fmla="val 50000"/>
              </a:avLst>
            </a:prstGeom>
            <a:solidFill>
              <a:schemeClr val="accent2"/>
            </a:solidFill>
            <a:ln>
              <a:noFill/>
            </a:ln>
          </p:spPr>
        </p:sp>
        <p:sp>
          <p:nvSpPr>
            <p:cNvPr id="7" name="TextBox 7"/>
            <p:cNvSpPr txBox="1"/>
            <p:nvPr/>
          </p:nvSpPr>
          <p:spPr>
            <a:xfrm>
              <a:off x="870014" y="1695212"/>
              <a:ext cx="2831428"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engine: functional smoothing</a:t>
              </a:r>
            </a:p>
          </p:txBody>
        </p:sp>
        <p:sp>
          <p:nvSpPr>
            <p:cNvPr id="8" name="TextBox 8"/>
            <p:cNvSpPr txBox="1"/>
            <p:nvPr/>
          </p:nvSpPr>
          <p:spPr>
            <a:xfrm>
              <a:off x="871156" y="1986201"/>
              <a:ext cx="410551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At each state and action, add Gaussian noise to the state and</a:t>
              </a:r>
            </a:p>
          </p:txBody>
        </p:sp>
        <p:sp>
          <p:nvSpPr>
            <p:cNvPr id="9" name="TextBox 9"/>
            <p:cNvSpPr txBox="1"/>
            <p:nvPr/>
          </p:nvSpPr>
          <p:spPr>
            <a:xfrm>
              <a:off x="871156" y="2176701"/>
              <a:ext cx="427765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average the trained Q-network's output, producing a smoothed</a:t>
              </a:r>
            </a:p>
          </p:txBody>
        </p:sp>
        <p:sp>
          <p:nvSpPr>
            <p:cNvPr id="10" name="TextBox 10"/>
            <p:cNvSpPr txBox="1"/>
            <p:nvPr/>
          </p:nvSpPr>
          <p:spPr>
            <a:xfrm>
              <a:off x="871156" y="2367201"/>
              <a:ext cx="103003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value function.</a:t>
              </a:r>
            </a:p>
          </p:txBody>
        </p:sp>
        <p:sp>
          <p:nvSpPr>
            <p:cNvPr id="11" name="Rectangle 11"/>
            <p:cNvSpPr/>
            <p:nvPr/>
          </p:nvSpPr>
          <p:spPr>
            <a:xfrm>
              <a:off x="876300" y="2590800"/>
              <a:ext cx="5334000" cy="381000"/>
            </a:xfrm>
            <a:prstGeom prst="roundRect">
              <a:avLst>
                <a:gd name="adj" fmla="val 20000"/>
              </a:avLst>
            </a:prstGeom>
            <a:solidFill>
              <a:schemeClr val="accent6"/>
            </a:solidFill>
            <a:ln w="14288">
              <a:solidFill>
                <a:srgbClr val="284A66"/>
              </a:solidFill>
            </a:ln>
          </p:spPr>
        </p:sp>
        <p:sp>
          <p:nvSpPr>
            <p:cNvPr id="12" name="TextBox 12"/>
            <p:cNvSpPr txBox="1"/>
            <p:nvPr/>
          </p:nvSpPr>
          <p:spPr>
            <a:xfrm>
              <a:off x="2048624" y="2729151"/>
              <a:ext cx="2989351"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Q~(s,a) = E[ Q(s+D, a) ], D ~ N(0, s^2 I)</a:t>
              </a:r>
            </a:p>
          </p:txBody>
        </p:sp>
        <p:sp>
          <p:nvSpPr>
            <p:cNvPr id="13" name="Rectangle 13"/>
            <p:cNvSpPr/>
            <p:nvPr/>
          </p:nvSpPr>
          <p:spPr>
            <a:xfrm>
              <a:off x="6438900" y="1905000"/>
              <a:ext cx="5143500" cy="1047750"/>
            </a:xfrm>
            <a:prstGeom prst="roundRect">
              <a:avLst>
                <a:gd name="adj" fmla="val 7273"/>
              </a:avLst>
            </a:prstGeom>
            <a:solidFill>
              <a:srgbClr val="0E2334"/>
            </a:solidFill>
            <a:ln w="14288">
              <a:solidFill>
                <a:srgbClr val="284A66"/>
              </a:solidFill>
            </a:ln>
          </p:spPr>
        </p:sp>
        <p:sp>
          <p:nvSpPr>
            <p:cNvPr id="14" name="Line 14"/>
            <p:cNvSpPr/>
            <p:nvPr/>
          </p:nvSpPr>
          <p:spPr>
            <a:xfrm>
              <a:off x="6591300" y="2762250"/>
              <a:ext cx="4857750" cy="9525"/>
            </a:xfrm>
            <a:custGeom>
              <a:avLst/>
              <a:gdLst/>
              <a:ahLst/>
              <a:cxnLst/>
              <a:rect l="l" t="t" r="r" b="b"/>
              <a:pathLst>
                <a:path w="4857750" h="9525">
                  <a:moveTo>
                    <a:pt x="0" y="0"/>
                  </a:moveTo>
                  <a:lnTo>
                    <a:pt x="4857750" y="0"/>
                  </a:lnTo>
                </a:path>
              </a:pathLst>
            </a:custGeom>
            <a:noFill/>
            <a:ln w="11430" cap="rnd">
              <a:solidFill>
                <a:srgbClr val="284A66"/>
              </a:solidFill>
            </a:ln>
          </p:spPr>
        </p:sp>
        <p:sp>
          <p:nvSpPr>
            <p:cNvPr id="15" name="Polyline 15"/>
            <p:cNvSpPr/>
            <p:nvPr/>
          </p:nvSpPr>
          <p:spPr>
            <a:xfrm>
              <a:off x="6591300" y="2095500"/>
              <a:ext cx="4857750" cy="659343"/>
            </a:xfrm>
            <a:custGeom>
              <a:avLst/>
              <a:gdLst/>
              <a:ahLst/>
              <a:cxnLst/>
              <a:rect l="l" t="t" r="r" b="b"/>
              <a:pathLst>
                <a:path w="4857750" h="659343">
                  <a:moveTo>
                    <a:pt x="0" y="659343"/>
                  </a:moveTo>
                  <a:lnTo>
                    <a:pt x="121444" y="655264"/>
                  </a:lnTo>
                  <a:lnTo>
                    <a:pt x="242888" y="649334"/>
                  </a:lnTo>
                  <a:lnTo>
                    <a:pt x="364331" y="640930"/>
                  </a:lnTo>
                  <a:lnTo>
                    <a:pt x="485775" y="629322"/>
                  </a:lnTo>
                  <a:lnTo>
                    <a:pt x="607219" y="613704"/>
                  </a:lnTo>
                  <a:lnTo>
                    <a:pt x="728662" y="593240"/>
                  </a:lnTo>
                  <a:lnTo>
                    <a:pt x="850106" y="567150"/>
                  </a:lnTo>
                  <a:lnTo>
                    <a:pt x="971550" y="534801"/>
                  </a:lnTo>
                  <a:lnTo>
                    <a:pt x="1092994" y="495835"/>
                  </a:lnTo>
                  <a:lnTo>
                    <a:pt x="1214438" y="450288"/>
                  </a:lnTo>
                  <a:lnTo>
                    <a:pt x="1335881" y="398702"/>
                  </a:lnTo>
                  <a:lnTo>
                    <a:pt x="1457325" y="342208"/>
                  </a:lnTo>
                  <a:lnTo>
                    <a:pt x="1578769" y="282549"/>
                  </a:lnTo>
                  <a:lnTo>
                    <a:pt x="1700212" y="222043"/>
                  </a:lnTo>
                  <a:lnTo>
                    <a:pt x="1821656" y="163461"/>
                  </a:lnTo>
                  <a:lnTo>
                    <a:pt x="1943100" y="109834"/>
                  </a:lnTo>
                  <a:lnTo>
                    <a:pt x="2064544" y="64203"/>
                  </a:lnTo>
                  <a:lnTo>
                    <a:pt x="2185988" y="29339"/>
                  </a:lnTo>
                  <a:lnTo>
                    <a:pt x="2307431" y="7459"/>
                  </a:lnTo>
                  <a:lnTo>
                    <a:pt x="2428875" y="0"/>
                  </a:lnTo>
                  <a:lnTo>
                    <a:pt x="2550319" y="7459"/>
                  </a:lnTo>
                  <a:lnTo>
                    <a:pt x="2671762" y="29339"/>
                  </a:lnTo>
                  <a:lnTo>
                    <a:pt x="2793206" y="64203"/>
                  </a:lnTo>
                  <a:lnTo>
                    <a:pt x="2914650" y="109834"/>
                  </a:lnTo>
                  <a:lnTo>
                    <a:pt x="3036094" y="163461"/>
                  </a:lnTo>
                  <a:lnTo>
                    <a:pt x="3157538" y="222043"/>
                  </a:lnTo>
                  <a:lnTo>
                    <a:pt x="3278981" y="282549"/>
                  </a:lnTo>
                  <a:lnTo>
                    <a:pt x="3400425" y="342208"/>
                  </a:lnTo>
                  <a:lnTo>
                    <a:pt x="3521869" y="398702"/>
                  </a:lnTo>
                  <a:lnTo>
                    <a:pt x="3643312" y="450288"/>
                  </a:lnTo>
                  <a:lnTo>
                    <a:pt x="3764756" y="495835"/>
                  </a:lnTo>
                  <a:lnTo>
                    <a:pt x="3886200" y="534801"/>
                  </a:lnTo>
                  <a:lnTo>
                    <a:pt x="4007644" y="567150"/>
                  </a:lnTo>
                  <a:lnTo>
                    <a:pt x="4129088" y="593240"/>
                  </a:lnTo>
                  <a:lnTo>
                    <a:pt x="4250531" y="613704"/>
                  </a:lnTo>
                  <a:lnTo>
                    <a:pt x="4371975" y="629322"/>
                  </a:lnTo>
                  <a:lnTo>
                    <a:pt x="4493419" y="640930"/>
                  </a:lnTo>
                  <a:lnTo>
                    <a:pt x="4614862" y="649334"/>
                  </a:lnTo>
                  <a:lnTo>
                    <a:pt x="4736306" y="655264"/>
                  </a:lnTo>
                  <a:lnTo>
                    <a:pt x="4857750" y="659343"/>
                  </a:lnTo>
                </a:path>
              </a:pathLst>
            </a:custGeom>
            <a:noFill/>
            <a:ln w="24765" cap="rnd">
              <a:solidFill>
                <a:schemeClr val="accent2"/>
              </a:solidFill>
              <a:round/>
            </a:ln>
          </p:spPr>
        </p:sp>
        <p:sp>
          <p:nvSpPr>
            <p:cNvPr id="16" name="Ellipse 16"/>
            <p:cNvSpPr/>
            <p:nvPr/>
          </p:nvSpPr>
          <p:spPr>
            <a:xfrm>
              <a:off x="8020050" y="2676525"/>
              <a:ext cx="57150" cy="57150"/>
            </a:xfrm>
            <a:prstGeom prst="ellipse">
              <a:avLst/>
            </a:prstGeom>
            <a:solidFill>
              <a:srgbClr val="33D6C0">
                <a:alpha val="80000"/>
              </a:srgbClr>
            </a:solidFill>
            <a:ln>
              <a:noFill/>
            </a:ln>
          </p:spPr>
        </p:sp>
        <p:sp>
          <p:nvSpPr>
            <p:cNvPr id="17" name="Ellipse 17"/>
            <p:cNvSpPr/>
            <p:nvPr/>
          </p:nvSpPr>
          <p:spPr>
            <a:xfrm>
              <a:off x="8505825" y="2676525"/>
              <a:ext cx="57150" cy="57150"/>
            </a:xfrm>
            <a:prstGeom prst="ellipse">
              <a:avLst/>
            </a:prstGeom>
            <a:solidFill>
              <a:srgbClr val="33D6C0">
                <a:alpha val="80000"/>
              </a:srgbClr>
            </a:solidFill>
            <a:ln>
              <a:noFill/>
            </a:ln>
          </p:spPr>
        </p:sp>
        <p:sp>
          <p:nvSpPr>
            <p:cNvPr id="18" name="Ellipse 18"/>
            <p:cNvSpPr/>
            <p:nvPr/>
          </p:nvSpPr>
          <p:spPr>
            <a:xfrm>
              <a:off x="8991600" y="2676525"/>
              <a:ext cx="57150" cy="57150"/>
            </a:xfrm>
            <a:prstGeom prst="ellipse">
              <a:avLst/>
            </a:prstGeom>
            <a:solidFill>
              <a:srgbClr val="33D6C0">
                <a:alpha val="80000"/>
              </a:srgbClr>
            </a:solidFill>
            <a:ln>
              <a:noFill/>
            </a:ln>
          </p:spPr>
        </p:sp>
        <p:sp>
          <p:nvSpPr>
            <p:cNvPr id="19" name="Ellipse 19"/>
            <p:cNvSpPr/>
            <p:nvPr/>
          </p:nvSpPr>
          <p:spPr>
            <a:xfrm>
              <a:off x="9477375" y="2676525"/>
              <a:ext cx="57150" cy="57150"/>
            </a:xfrm>
            <a:prstGeom prst="ellipse">
              <a:avLst/>
            </a:prstGeom>
            <a:solidFill>
              <a:srgbClr val="33D6C0">
                <a:alpha val="80000"/>
              </a:srgbClr>
            </a:solidFill>
            <a:ln>
              <a:noFill/>
            </a:ln>
          </p:spPr>
        </p:sp>
        <p:sp>
          <p:nvSpPr>
            <p:cNvPr id="20" name="Ellipse 20"/>
            <p:cNvSpPr/>
            <p:nvPr/>
          </p:nvSpPr>
          <p:spPr>
            <a:xfrm>
              <a:off x="9963150" y="2676525"/>
              <a:ext cx="57150" cy="57150"/>
            </a:xfrm>
            <a:prstGeom prst="ellipse">
              <a:avLst/>
            </a:prstGeom>
            <a:solidFill>
              <a:srgbClr val="33D6C0">
                <a:alpha val="80000"/>
              </a:srgbClr>
            </a:solidFill>
            <a:ln>
              <a:noFill/>
            </a:ln>
          </p:spPr>
        </p:sp>
        <p:sp>
          <p:nvSpPr>
            <p:cNvPr id="21" name="Ellipse 21"/>
            <p:cNvSpPr/>
            <p:nvPr/>
          </p:nvSpPr>
          <p:spPr>
            <a:xfrm>
              <a:off x="8977312" y="2052638"/>
              <a:ext cx="85725" cy="85725"/>
            </a:xfrm>
            <a:prstGeom prst="ellipse">
              <a:avLst/>
            </a:prstGeom>
            <a:solidFill>
              <a:srgbClr val="F4C24C"/>
            </a:solidFill>
            <a:ln>
              <a:noFill/>
            </a:ln>
          </p:spPr>
        </p:sp>
        <p:sp>
          <p:nvSpPr>
            <p:cNvPr id="22" name="TextBox 22"/>
            <p:cNvSpPr txBox="1"/>
            <p:nvPr/>
          </p:nvSpPr>
          <p:spPr>
            <a:xfrm>
              <a:off x="8651085" y="1983343"/>
              <a:ext cx="738179" cy="169069"/>
            </a:xfrm>
            <a:prstGeom prst="rect">
              <a:avLst/>
            </a:prstGeom>
            <a:noFill/>
            <a:ln>
              <a:noFill/>
            </a:ln>
          </p:spPr>
          <p:txBody>
            <a:bodyPr wrap="none" lIns="0" tIns="0" rIns="0" bIns="0" anchor="t" anchorCtr="0">
              <a:spAutoFit/>
            </a:bodyPr>
            <a:lstStyle/>
            <a:p>
              <a:pPr algn="ctr"/>
              <a:r>
                <a:rPr lang="en-US" sz="860" b="1" dirty="0">
                  <a:solidFill>
                    <a:srgbClr val="F4C24C"/>
                  </a:solidFill>
                  <a:latin typeface="Consolas"/>
                  <a:ea typeface="Consolas"/>
                  <a:cs typeface="Consolas"/>
                </a:rPr>
                <a:t>E[ Q(s+D) ]</a:t>
              </a:r>
            </a:p>
          </p:txBody>
        </p:sp>
        <p:sp>
          <p:nvSpPr>
            <p:cNvPr id="23" name="TextBox 23"/>
            <p:cNvSpPr txBox="1"/>
            <p:nvPr/>
          </p:nvSpPr>
          <p:spPr>
            <a:xfrm>
              <a:off x="11018802" y="2647236"/>
              <a:ext cx="435010"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s + Delta</a:t>
              </a:r>
            </a:p>
          </p:txBody>
        </p:sp>
      </p:grpSp>
      <p:grpSp>
        <p:nvGrpSpPr>
          <p:cNvPr id="34" name="Group 34"/>
          <p:cNvGrpSpPr/>
          <p:nvPr/>
        </p:nvGrpSpPr>
        <p:grpSpPr>
          <a:xfrm>
            <a:off x="609600" y="3257550"/>
            <a:ext cx="5334000" cy="2000250"/>
            <a:chOff x="609600" y="3257550"/>
            <a:chExt cx="5334000" cy="2000250"/>
          </a:xfrm>
        </p:grpSpPr>
        <p:sp>
          <p:nvSpPr>
            <p:cNvPr id="25" name="Rectangle 25"/>
            <p:cNvSpPr/>
            <p:nvPr/>
          </p:nvSpPr>
          <p:spPr>
            <a:xfrm>
              <a:off x="609600" y="3257550"/>
              <a:ext cx="5334000" cy="1981200"/>
            </a:xfrm>
            <a:prstGeom prst="roundRect">
              <a:avLst>
                <a:gd name="adj" fmla="val 6731"/>
              </a:avLst>
            </a:prstGeom>
            <a:solidFill>
              <a:schemeClr val="accent5"/>
            </a:solidFill>
            <a:ln w="14288">
              <a:solidFill>
                <a:srgbClr val="284A66"/>
              </a:solidFill>
            </a:ln>
          </p:spPr>
        </p:sp>
        <p:sp>
          <p:nvSpPr>
            <p:cNvPr id="26" name="Rectangle 26"/>
            <p:cNvSpPr/>
            <p:nvPr/>
          </p:nvSpPr>
          <p:spPr>
            <a:xfrm>
              <a:off x="609600" y="3257550"/>
              <a:ext cx="57150" cy="1981200"/>
            </a:xfrm>
            <a:prstGeom prst="roundRect">
              <a:avLst>
                <a:gd name="adj" fmla="val 50000"/>
              </a:avLst>
            </a:prstGeom>
            <a:solidFill>
              <a:srgbClr val="33D6C0"/>
            </a:solidFill>
            <a:ln>
              <a:noFill/>
            </a:ln>
          </p:spPr>
        </p:sp>
        <p:sp>
          <p:nvSpPr>
            <p:cNvPr id="27" name="TextBox 27"/>
            <p:cNvSpPr txBox="1"/>
            <p:nvPr/>
          </p:nvSpPr>
          <p:spPr>
            <a:xfrm>
              <a:off x="870014" y="3485912"/>
              <a:ext cx="2742711" cy="242030"/>
            </a:xfrm>
            <a:prstGeom prst="rect">
              <a:avLst/>
            </a:prstGeom>
            <a:noFill/>
            <a:ln>
              <a:noFill/>
            </a:ln>
          </p:spPr>
          <p:txBody>
            <a:bodyPr wrap="none" lIns="0" tIns="0" rIns="0" bIns="0" anchor="t" anchorCtr="0">
              <a:spAutoFit/>
            </a:bodyPr>
            <a:lstStyle/>
            <a:p>
              <a:pPr algn="l"/>
              <a:r>
                <a:rPr lang="en-US" sz="1240" b="1" dirty="0">
                  <a:solidFill>
                    <a:srgbClr val="33D6C0"/>
                  </a:solidFill>
                  <a:latin typeface="+mn-lt"/>
                  <a:ea typeface="+mn-ea"/>
                  <a:cs typeface="+mn-cs"/>
                </a:rPr>
                <a:t>Smoothed =&gt; Lipschitz =&gt; radius</a:t>
              </a:r>
            </a:p>
          </p:txBody>
        </p:sp>
        <p:sp>
          <p:nvSpPr>
            <p:cNvPr id="28" name="TextBox 28"/>
            <p:cNvSpPr txBox="1"/>
            <p:nvPr/>
          </p:nvSpPr>
          <p:spPr>
            <a:xfrm>
              <a:off x="871156" y="3795951"/>
              <a:ext cx="357495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 key lemma shows the smoothed function is Lipschitz</a:t>
              </a:r>
            </a:p>
          </p:txBody>
        </p:sp>
        <p:sp>
          <p:nvSpPr>
            <p:cNvPr id="29" name="TextBox 29"/>
            <p:cNvSpPr txBox="1"/>
            <p:nvPr/>
          </p:nvSpPr>
          <p:spPr>
            <a:xfrm>
              <a:off x="871156" y="3986451"/>
              <a:ext cx="381734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continuous, with a constant that shrinks as the variance</a:t>
              </a:r>
            </a:p>
          </p:txBody>
        </p:sp>
        <p:sp>
          <p:nvSpPr>
            <p:cNvPr id="30" name="TextBox 30"/>
            <p:cNvSpPr txBox="1"/>
            <p:nvPr/>
          </p:nvSpPr>
          <p:spPr>
            <a:xfrm>
              <a:off x="871156" y="4176951"/>
              <a:ext cx="389689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grows. Theorem 1 turns this into a certified radius on the</a:t>
              </a:r>
            </a:p>
          </p:txBody>
        </p:sp>
        <p:sp>
          <p:nvSpPr>
            <p:cNvPr id="31" name="TextBox 31"/>
            <p:cNvSpPr txBox="1"/>
            <p:nvPr/>
          </p:nvSpPr>
          <p:spPr>
            <a:xfrm>
              <a:off x="871156" y="4367451"/>
              <a:ext cx="49976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action.</a:t>
              </a:r>
            </a:p>
          </p:txBody>
        </p:sp>
        <p:sp>
          <p:nvSpPr>
            <p:cNvPr id="32" name="Rectangle 32"/>
            <p:cNvSpPr/>
            <p:nvPr/>
          </p:nvSpPr>
          <p:spPr>
            <a:xfrm>
              <a:off x="876300" y="4838700"/>
              <a:ext cx="4800600" cy="419100"/>
            </a:xfrm>
            <a:prstGeom prst="roundRect">
              <a:avLst>
                <a:gd name="adj" fmla="val 18182"/>
              </a:avLst>
            </a:prstGeom>
            <a:solidFill>
              <a:schemeClr val="accent6"/>
            </a:solidFill>
            <a:ln w="14288">
              <a:solidFill>
                <a:srgbClr val="284A66"/>
              </a:solidFill>
            </a:ln>
          </p:spPr>
        </p:sp>
        <p:sp>
          <p:nvSpPr>
            <p:cNvPr id="33" name="TextBox 33"/>
            <p:cNvSpPr txBox="1"/>
            <p:nvPr/>
          </p:nvSpPr>
          <p:spPr>
            <a:xfrm>
              <a:off x="2214999" y="4996101"/>
              <a:ext cx="212320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|delta| &lt; r =&gt; action unchanged</a:t>
              </a:r>
            </a:p>
          </p:txBody>
        </p:sp>
      </p:grpSp>
      <p:grpSp>
        <p:nvGrpSpPr>
          <p:cNvPr id="40" name="Group 40"/>
          <p:cNvGrpSpPr/>
          <p:nvPr/>
        </p:nvGrpSpPr>
        <p:grpSpPr>
          <a:xfrm>
            <a:off x="6248400" y="3257550"/>
            <a:ext cx="5334000" cy="971550"/>
            <a:chOff x="6248400" y="3257550"/>
            <a:chExt cx="5334000" cy="971550"/>
          </a:xfrm>
        </p:grpSpPr>
        <p:sp>
          <p:nvSpPr>
            <p:cNvPr id="35" name="Rectangle 35"/>
            <p:cNvSpPr/>
            <p:nvPr/>
          </p:nvSpPr>
          <p:spPr>
            <a:xfrm>
              <a:off x="6248400" y="3257550"/>
              <a:ext cx="5334000" cy="971550"/>
            </a:xfrm>
            <a:prstGeom prst="roundRect">
              <a:avLst>
                <a:gd name="adj" fmla="val 13725"/>
              </a:avLst>
            </a:prstGeom>
            <a:solidFill>
              <a:srgbClr val="2A2417"/>
            </a:solidFill>
            <a:ln w="14288">
              <a:solidFill>
                <a:srgbClr val="F4C24C"/>
              </a:solidFill>
            </a:ln>
          </p:spPr>
        </p:sp>
        <p:sp>
          <p:nvSpPr>
            <p:cNvPr id="36" name="Rectangle 36"/>
            <p:cNvSpPr/>
            <p:nvPr/>
          </p:nvSpPr>
          <p:spPr>
            <a:xfrm>
              <a:off x="6248400" y="3257550"/>
              <a:ext cx="57150" cy="971550"/>
            </a:xfrm>
            <a:prstGeom prst="roundRect">
              <a:avLst>
                <a:gd name="adj" fmla="val 50000"/>
              </a:avLst>
            </a:prstGeom>
            <a:solidFill>
              <a:srgbClr val="F4C24C"/>
            </a:solidFill>
            <a:ln>
              <a:noFill/>
            </a:ln>
          </p:spPr>
        </p:sp>
        <p:sp>
          <p:nvSpPr>
            <p:cNvPr id="37" name="TextBox 37"/>
            <p:cNvSpPr txBox="1"/>
            <p:nvPr/>
          </p:nvSpPr>
          <p:spPr>
            <a:xfrm>
              <a:off x="6509004" y="3451860"/>
              <a:ext cx="2172478"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Radius = margin trade-off</a:t>
              </a:r>
            </a:p>
          </p:txBody>
        </p:sp>
        <p:sp>
          <p:nvSpPr>
            <p:cNvPr id="38" name="TextBox 38"/>
            <p:cNvSpPr txBox="1"/>
            <p:nvPr/>
          </p:nvSpPr>
          <p:spPr>
            <a:xfrm>
              <a:off x="6510147" y="3742849"/>
              <a:ext cx="3992214"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The radius grows with the gap between the top-two smoothed</a:t>
              </a:r>
            </a:p>
          </p:txBody>
        </p:sp>
        <p:sp>
          <p:nvSpPr>
            <p:cNvPr id="39" name="TextBox 39"/>
            <p:cNvSpPr txBox="1"/>
            <p:nvPr/>
          </p:nvSpPr>
          <p:spPr>
            <a:xfrm>
              <a:off x="6510147" y="3923824"/>
              <a:ext cx="2971681" cy="190690"/>
            </a:xfrm>
            <a:prstGeom prst="rect">
              <a:avLst/>
            </a:prstGeom>
            <a:noFill/>
            <a:ln>
              <a:noFill/>
            </a:ln>
          </p:spPr>
          <p:txBody>
            <a:bodyPr wrap="none" lIns="0" tIns="0" rIns="0" bIns="0" anchor="t" anchorCtr="0">
              <a:spAutoFit/>
            </a:bodyPr>
            <a:lstStyle/>
            <a:p>
              <a:pPr algn="l"/>
              <a:r>
                <a:rPr lang="en-US" sz="980" dirty="0">
                  <a:solidFill>
                    <a:schemeClr val="dk1"/>
                  </a:solidFill>
                  <a:latin typeface="+mn-lt"/>
                  <a:ea typeface="+mn-ea"/>
                  <a:cs typeface="+mn-cs"/>
                </a:rPr>
                <a:t>values; more smoothing narrows that margin.</a:t>
              </a:r>
            </a:p>
          </p:txBody>
        </p:sp>
      </p:grpSp>
      <p:grpSp>
        <p:nvGrpSpPr>
          <p:cNvPr id="46" name="Group 46"/>
          <p:cNvGrpSpPr/>
          <p:nvPr/>
        </p:nvGrpSpPr>
        <p:grpSpPr>
          <a:xfrm>
            <a:off x="6248400" y="4381500"/>
            <a:ext cx="5334000" cy="857250"/>
            <a:chOff x="6248400" y="4381500"/>
            <a:chExt cx="5334000" cy="857250"/>
          </a:xfrm>
        </p:grpSpPr>
        <p:sp>
          <p:nvSpPr>
            <p:cNvPr id="41" name="Rectangle 41"/>
            <p:cNvSpPr/>
            <p:nvPr/>
          </p:nvSpPr>
          <p:spPr>
            <a:xfrm>
              <a:off x="6248400" y="4381500"/>
              <a:ext cx="5334000" cy="857250"/>
            </a:xfrm>
            <a:prstGeom prst="roundRect">
              <a:avLst>
                <a:gd name="adj" fmla="val 15556"/>
              </a:avLst>
            </a:prstGeom>
            <a:solidFill>
              <a:schemeClr val="accent5"/>
            </a:solidFill>
            <a:ln w="14288">
              <a:solidFill>
                <a:srgbClr val="284A66"/>
              </a:solidFill>
            </a:ln>
          </p:spPr>
        </p:sp>
        <p:sp>
          <p:nvSpPr>
            <p:cNvPr id="42" name="Rectangle 42"/>
            <p:cNvSpPr/>
            <p:nvPr/>
          </p:nvSpPr>
          <p:spPr>
            <a:xfrm>
              <a:off x="6248400" y="4381500"/>
              <a:ext cx="57150" cy="857250"/>
            </a:xfrm>
            <a:prstGeom prst="roundRect">
              <a:avLst>
                <a:gd name="adj" fmla="val 50000"/>
              </a:avLst>
            </a:prstGeom>
            <a:solidFill>
              <a:srgbClr val="46C98B"/>
            </a:solidFill>
            <a:ln>
              <a:noFill/>
            </a:ln>
          </p:spPr>
        </p:sp>
        <p:sp>
          <p:nvSpPr>
            <p:cNvPr id="43" name="TextBox 43"/>
            <p:cNvSpPr txBox="1"/>
            <p:nvPr/>
          </p:nvSpPr>
          <p:spPr>
            <a:xfrm>
              <a:off x="6509194" y="4560808"/>
              <a:ext cx="2591924"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Reward: global smoothing + tree</a:t>
              </a:r>
            </a:p>
          </p:txBody>
        </p:sp>
        <p:sp>
          <p:nvSpPr>
            <p:cNvPr id="44" name="TextBox 44"/>
            <p:cNvSpPr txBox="1"/>
            <p:nvPr/>
          </p:nvSpPr>
          <p:spPr>
            <a:xfrm>
              <a:off x="6510338" y="4832747"/>
              <a:ext cx="4607393"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Global smoothing bounds expected and percentile reward, while CROP-LoRe</a:t>
              </a:r>
            </a:p>
          </p:txBody>
        </p:sp>
        <p:sp>
          <p:nvSpPr>
            <p:cNvPr id="45" name="TextBox 45"/>
            <p:cNvSpPr txBox="1"/>
            <p:nvPr/>
          </p:nvSpPr>
          <p:spPr>
            <a:xfrm>
              <a:off x="6510338" y="4994672"/>
              <a:ext cx="3615995" cy="183356"/>
            </a:xfrm>
            <a:prstGeom prst="rect">
              <a:avLst/>
            </a:prstGeom>
            <a:noFill/>
            <a:ln>
              <a:noFill/>
            </a:ln>
          </p:spPr>
          <p:txBody>
            <a:bodyPr wrap="none" lIns="0" tIns="0" rIns="0" bIns="0" anchor="t" anchorCtr="0">
              <a:spAutoFit/>
            </a:bodyPr>
            <a:lstStyle/>
            <a:p>
              <a:pPr algn="l"/>
              <a:r>
                <a:rPr lang="en-US" sz="940" dirty="0">
                  <a:solidFill>
                    <a:schemeClr val="dk2"/>
                  </a:solidFill>
                  <a:latin typeface="+mn-lt"/>
                  <a:ea typeface="+mn-ea"/>
                  <a:cs typeface="+mn-cs"/>
                </a:rPr>
                <a:t>grows a trajectory tree for a tight absolute lower bound.</a:t>
              </a:r>
            </a:p>
          </p:txBody>
        </p:sp>
      </p:grpSp>
      <p:sp>
        <p:nvSpPr>
          <p:cNvPr id="47" name="cue_s05_c1_engine_crop_functional_smoothing_sta" title="cue_s05_c1_engine_crop_functional_smoothing_sta" descr="cue_s05_c1_engine_crop_functional_smoothing_sta The engine of CROP is functional smoothing. At each state, and for each action, the method adds Gaussian noise to the state and averages the trained Q-network's output, producing a smoothed value function."/>
          <p:cNvSpPr/>
          <p:nvPr/>
        </p:nvSpPr>
        <p:spPr>
          <a:xfrm>
            <a:off x="609600" y="1504645"/>
            <a:ext cx="109728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2_key_lemma_shows_smoothed_function" title="cue_s05_c2_key_lemma_shows_smoothed_function" descr="cue_s05_c2_key_lemma_shows_smoothed_function A key lemma shows this smoothed function is Lipschitz continuous, with a constant that shrinks as the smoothing variance grows. From that continuity, Theorem 1 gives a certified radius: as long as the perturbation is smaller than this radius, the smoothed poli"/>
          <p:cNvSpPr/>
          <p:nvPr/>
        </p:nvSpPr>
        <p:spPr>
          <a:xfrm>
            <a:off x="609600" y="3257550"/>
            <a:ext cx="5334000" cy="20004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3_radius_depends_gap_between_best" title="cue_s05_c3_radius_depends_gap_between_best" descr="cue_s05_c3_radius_depends_gap_between_best The radius depends on the gap between the best and runner-up smoothed action-values, revealing a trade-off, since more smoothing stabilizes the values but also narrows their margin."/>
          <p:cNvSpPr/>
          <p:nvPr/>
        </p:nvSpPr>
        <p:spPr>
          <a:xfrm>
            <a:off x="6248399" y="3257550"/>
            <a:ext cx="53340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5_c4_cumulative_reward_global_smoothing_t" title="cue_s05_c4_cumulative_reward_global_smoothing_t" descr="cue_s05_c4_cumulative_reward_global_smoothing_t For cumulative reward, global smoothing treats the whole trajectory as a function to bound the expected and percentile reward, while the adaptive local search of CROP-LoRe grows a trajectory tree to certify a tight absolute lower bound."/>
          <p:cNvSpPr/>
          <p:nvPr/>
        </p:nvSpPr>
        <p:spPr>
          <a:xfrm>
            <a:off x="6248399" y="4381576"/>
            <a:ext cx="5334000" cy="8572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18590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environments, nine methods</a:t>
            </a:r>
          </a:p>
        </p:txBody>
      </p:sp>
      <p:grpSp>
        <p:nvGrpSpPr>
          <p:cNvPr id="25" name="Group 25"/>
          <p:cNvGrpSpPr/>
          <p:nvPr/>
        </p:nvGrpSpPr>
        <p:grpSpPr>
          <a:xfrm>
            <a:off x="609600" y="1504950"/>
            <a:ext cx="10972800" cy="1428750"/>
            <a:chOff x="609600" y="1504950"/>
            <a:chExt cx="10972800" cy="1428750"/>
          </a:xfrm>
        </p:grpSpPr>
        <p:sp>
          <p:nvSpPr>
            <p:cNvPr id="5" name="Rectangle 5"/>
            <p:cNvSpPr/>
            <p:nvPr/>
          </p:nvSpPr>
          <p:spPr>
            <a:xfrm>
              <a:off x="609600" y="1504950"/>
              <a:ext cx="10972800" cy="1428750"/>
            </a:xfrm>
            <a:prstGeom prst="roundRect">
              <a:avLst>
                <a:gd name="adj" fmla="val 9333"/>
              </a:avLst>
            </a:prstGeom>
            <a:solidFill>
              <a:schemeClr val="accent5"/>
            </a:solidFill>
            <a:ln w="14288">
              <a:solidFill>
                <a:srgbClr val="284A66"/>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204" y="1718310"/>
              <a:ext cx="285889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Four environments across regimes</a:t>
              </a:r>
            </a:p>
          </p:txBody>
        </p:sp>
        <p:sp>
          <p:nvSpPr>
            <p:cNvPr id="8" name="TextBox 8"/>
            <p:cNvSpPr txBox="1"/>
            <p:nvPr/>
          </p:nvSpPr>
          <p:spPr>
            <a:xfrm>
              <a:off x="870966" y="2001202"/>
              <a:ext cx="67579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authors test the framework broadly, on four environments spanning very different regimes.</a:t>
              </a:r>
            </a:p>
          </p:txBody>
        </p:sp>
        <p:sp>
          <p:nvSpPr>
            <p:cNvPr id="9" name="Rectangle 9"/>
            <p:cNvSpPr/>
            <p:nvPr/>
          </p:nvSpPr>
          <p:spPr>
            <a:xfrm>
              <a:off x="876300" y="2324100"/>
              <a:ext cx="2509838" cy="609600"/>
            </a:xfrm>
            <a:prstGeom prst="roundRect">
              <a:avLst>
                <a:gd name="adj" fmla="val 15625"/>
              </a:avLst>
            </a:prstGeom>
            <a:solidFill>
              <a:schemeClr val="accent6"/>
            </a:solidFill>
            <a:ln w="15240">
              <a:solidFill>
                <a:schemeClr val="accent2"/>
              </a:solidFill>
            </a:ln>
          </p:spPr>
        </p:sp>
        <p:sp>
          <p:nvSpPr>
            <p:cNvPr id="10" name="Rectangle 10"/>
            <p:cNvSpPr/>
            <p:nvPr/>
          </p:nvSpPr>
          <p:spPr>
            <a:xfrm>
              <a:off x="876300" y="2324100"/>
              <a:ext cx="2509838" cy="47625"/>
            </a:xfrm>
            <a:prstGeom prst="roundRect">
              <a:avLst>
                <a:gd name="adj" fmla="val 50000"/>
              </a:avLst>
            </a:prstGeom>
            <a:solidFill>
              <a:schemeClr val="accent2"/>
            </a:solidFill>
            <a:ln>
              <a:noFill/>
            </a:ln>
          </p:spPr>
        </p:sp>
        <p:sp>
          <p:nvSpPr>
            <p:cNvPr id="11" name="TextBox 11"/>
            <p:cNvSpPr txBox="1"/>
            <p:nvPr/>
          </p:nvSpPr>
          <p:spPr>
            <a:xfrm>
              <a:off x="1942397" y="2522458"/>
              <a:ext cx="377643" cy="227362"/>
            </a:xfrm>
            <a:prstGeom prst="rect">
              <a:avLst/>
            </a:prstGeom>
            <a:noFill/>
            <a:ln>
              <a:noFill/>
            </a:ln>
          </p:spPr>
          <p:txBody>
            <a:bodyPr wrap="none" lIns="0" tIns="0" rIns="0" bIns="0" anchor="t" anchorCtr="0">
              <a:spAutoFit/>
            </a:bodyPr>
            <a:lstStyle/>
            <a:p>
              <a:pPr algn="ctr"/>
              <a:r>
                <a:rPr lang="en-US" sz="1160" b="1" dirty="0">
                  <a:solidFill>
                    <a:schemeClr val="dk1"/>
                  </a:solidFill>
                  <a:latin typeface="+mn-lt"/>
                  <a:ea typeface="+mn-ea"/>
                  <a:cs typeface="+mn-cs"/>
                </a:rPr>
                <a:t>Pong</a:t>
              </a:r>
            </a:p>
          </p:txBody>
        </p:sp>
        <p:sp>
          <p:nvSpPr>
            <p:cNvPr id="12" name="TextBox 12"/>
            <p:cNvSpPr txBox="1"/>
            <p:nvPr/>
          </p:nvSpPr>
          <p:spPr>
            <a:xfrm>
              <a:off x="1972784" y="2726293"/>
              <a:ext cx="316870"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Atari</a:t>
              </a:r>
            </a:p>
          </p:txBody>
        </p:sp>
        <p:sp>
          <p:nvSpPr>
            <p:cNvPr id="13" name="Rectangle 13"/>
            <p:cNvSpPr/>
            <p:nvPr/>
          </p:nvSpPr>
          <p:spPr>
            <a:xfrm>
              <a:off x="3519488" y="2324100"/>
              <a:ext cx="2509838" cy="609600"/>
            </a:xfrm>
            <a:prstGeom prst="roundRect">
              <a:avLst>
                <a:gd name="adj" fmla="val 15625"/>
              </a:avLst>
            </a:prstGeom>
            <a:solidFill>
              <a:schemeClr val="accent6"/>
            </a:solidFill>
            <a:ln w="15240">
              <a:solidFill>
                <a:srgbClr val="33D6C0"/>
              </a:solidFill>
            </a:ln>
          </p:spPr>
        </p:sp>
        <p:sp>
          <p:nvSpPr>
            <p:cNvPr id="14" name="Rectangle 14"/>
            <p:cNvSpPr/>
            <p:nvPr/>
          </p:nvSpPr>
          <p:spPr>
            <a:xfrm>
              <a:off x="3519488" y="2324100"/>
              <a:ext cx="2509838" cy="47625"/>
            </a:xfrm>
            <a:prstGeom prst="roundRect">
              <a:avLst>
                <a:gd name="adj" fmla="val 50000"/>
              </a:avLst>
            </a:prstGeom>
            <a:solidFill>
              <a:srgbClr val="33D6C0"/>
            </a:solidFill>
            <a:ln>
              <a:noFill/>
            </a:ln>
          </p:spPr>
        </p:sp>
        <p:sp>
          <p:nvSpPr>
            <p:cNvPr id="15" name="TextBox 15"/>
            <p:cNvSpPr txBox="1"/>
            <p:nvPr/>
          </p:nvSpPr>
          <p:spPr>
            <a:xfrm>
              <a:off x="4433782" y="2522458"/>
              <a:ext cx="681248" cy="227362"/>
            </a:xfrm>
            <a:prstGeom prst="rect">
              <a:avLst/>
            </a:prstGeom>
            <a:noFill/>
            <a:ln>
              <a:noFill/>
            </a:ln>
          </p:spPr>
          <p:txBody>
            <a:bodyPr wrap="none" lIns="0" tIns="0" rIns="0" bIns="0" anchor="t" anchorCtr="0">
              <a:spAutoFit/>
            </a:bodyPr>
            <a:lstStyle/>
            <a:p>
              <a:pPr algn="ctr"/>
              <a:r>
                <a:rPr lang="en-US" sz="1160" b="1" dirty="0">
                  <a:solidFill>
                    <a:schemeClr val="dk1"/>
                  </a:solidFill>
                  <a:latin typeface="+mn-lt"/>
                  <a:ea typeface="+mn-ea"/>
                  <a:cs typeface="+mn-cs"/>
                </a:rPr>
                <a:t>Freeway</a:t>
              </a:r>
            </a:p>
          </p:txBody>
        </p:sp>
        <p:sp>
          <p:nvSpPr>
            <p:cNvPr id="16" name="TextBox 16"/>
            <p:cNvSpPr txBox="1"/>
            <p:nvPr/>
          </p:nvSpPr>
          <p:spPr>
            <a:xfrm>
              <a:off x="4615971" y="2726293"/>
              <a:ext cx="316870"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Atari</a:t>
              </a:r>
            </a:p>
          </p:txBody>
        </p:sp>
        <p:sp>
          <p:nvSpPr>
            <p:cNvPr id="17" name="Rectangle 17"/>
            <p:cNvSpPr/>
            <p:nvPr/>
          </p:nvSpPr>
          <p:spPr>
            <a:xfrm>
              <a:off x="6162675" y="2324100"/>
              <a:ext cx="2509838" cy="609600"/>
            </a:xfrm>
            <a:prstGeom prst="roundRect">
              <a:avLst>
                <a:gd name="adj" fmla="val 15625"/>
              </a:avLst>
            </a:prstGeom>
            <a:solidFill>
              <a:schemeClr val="accent6"/>
            </a:solidFill>
            <a:ln w="15240">
              <a:solidFill>
                <a:srgbClr val="F4C24C"/>
              </a:solidFill>
            </a:ln>
          </p:spPr>
        </p:sp>
        <p:sp>
          <p:nvSpPr>
            <p:cNvPr id="18" name="Rectangle 18"/>
            <p:cNvSpPr/>
            <p:nvPr/>
          </p:nvSpPr>
          <p:spPr>
            <a:xfrm>
              <a:off x="6162675" y="2324100"/>
              <a:ext cx="2509838" cy="47625"/>
            </a:xfrm>
            <a:prstGeom prst="roundRect">
              <a:avLst>
                <a:gd name="adj" fmla="val 50000"/>
              </a:avLst>
            </a:prstGeom>
            <a:solidFill>
              <a:srgbClr val="F4C24C"/>
            </a:solidFill>
            <a:ln>
              <a:noFill/>
            </a:ln>
          </p:spPr>
        </p:sp>
        <p:sp>
          <p:nvSpPr>
            <p:cNvPr id="19" name="TextBox 19"/>
            <p:cNvSpPr txBox="1"/>
            <p:nvPr/>
          </p:nvSpPr>
          <p:spPr>
            <a:xfrm>
              <a:off x="7066642" y="2522458"/>
              <a:ext cx="701904" cy="227362"/>
            </a:xfrm>
            <a:prstGeom prst="rect">
              <a:avLst/>
            </a:prstGeom>
            <a:noFill/>
            <a:ln>
              <a:noFill/>
            </a:ln>
          </p:spPr>
          <p:txBody>
            <a:bodyPr wrap="none" lIns="0" tIns="0" rIns="0" bIns="0" anchor="t" anchorCtr="0">
              <a:spAutoFit/>
            </a:bodyPr>
            <a:lstStyle/>
            <a:p>
              <a:pPr algn="ctr"/>
              <a:r>
                <a:rPr lang="en-US" sz="1160" b="1" dirty="0">
                  <a:solidFill>
                    <a:schemeClr val="dk1"/>
                  </a:solidFill>
                  <a:latin typeface="+mn-lt"/>
                  <a:ea typeface="+mn-ea"/>
                  <a:cs typeface="+mn-cs"/>
                </a:rPr>
                <a:t>CartPole</a:t>
              </a:r>
            </a:p>
          </p:txBody>
        </p:sp>
        <p:sp>
          <p:nvSpPr>
            <p:cNvPr id="20" name="TextBox 20"/>
            <p:cNvSpPr txBox="1"/>
            <p:nvPr/>
          </p:nvSpPr>
          <p:spPr>
            <a:xfrm>
              <a:off x="7194020" y="2726293"/>
              <a:ext cx="447148"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control</a:t>
              </a:r>
            </a:p>
          </p:txBody>
        </p:sp>
        <p:sp>
          <p:nvSpPr>
            <p:cNvPr id="21" name="Rectangle 21"/>
            <p:cNvSpPr/>
            <p:nvPr/>
          </p:nvSpPr>
          <p:spPr>
            <a:xfrm>
              <a:off x="8805862" y="2324100"/>
              <a:ext cx="2509838" cy="609600"/>
            </a:xfrm>
            <a:prstGeom prst="roundRect">
              <a:avLst>
                <a:gd name="adj" fmla="val 15625"/>
              </a:avLst>
            </a:prstGeom>
            <a:solidFill>
              <a:schemeClr val="accent6"/>
            </a:solidFill>
            <a:ln w="15240">
              <a:solidFill>
                <a:srgbClr val="F2685C"/>
              </a:solidFill>
            </a:ln>
          </p:spPr>
        </p:sp>
        <p:sp>
          <p:nvSpPr>
            <p:cNvPr id="22" name="Rectangle 22"/>
            <p:cNvSpPr/>
            <p:nvPr/>
          </p:nvSpPr>
          <p:spPr>
            <a:xfrm>
              <a:off x="8805862" y="2324100"/>
              <a:ext cx="2509838" cy="47625"/>
            </a:xfrm>
            <a:prstGeom prst="roundRect">
              <a:avLst>
                <a:gd name="adj" fmla="val 50000"/>
              </a:avLst>
            </a:prstGeom>
            <a:solidFill>
              <a:srgbClr val="F2685C"/>
            </a:solidFill>
            <a:ln>
              <a:noFill/>
            </a:ln>
          </p:spPr>
        </p:sp>
        <p:sp>
          <p:nvSpPr>
            <p:cNvPr id="23" name="TextBox 23"/>
            <p:cNvSpPr txBox="1"/>
            <p:nvPr/>
          </p:nvSpPr>
          <p:spPr>
            <a:xfrm>
              <a:off x="9740819" y="2522458"/>
              <a:ext cx="639925" cy="227362"/>
            </a:xfrm>
            <a:prstGeom prst="rect">
              <a:avLst/>
            </a:prstGeom>
            <a:noFill/>
            <a:ln>
              <a:noFill/>
            </a:ln>
          </p:spPr>
          <p:txBody>
            <a:bodyPr wrap="none" lIns="0" tIns="0" rIns="0" bIns="0" anchor="t" anchorCtr="0">
              <a:spAutoFit/>
            </a:bodyPr>
            <a:lstStyle/>
            <a:p>
              <a:pPr algn="ctr"/>
              <a:r>
                <a:rPr lang="en-US" sz="1160" b="1" dirty="0">
                  <a:solidFill>
                    <a:schemeClr val="dk1"/>
                  </a:solidFill>
                  <a:latin typeface="+mn-lt"/>
                  <a:ea typeface="+mn-ea"/>
                  <a:cs typeface="+mn-cs"/>
                </a:rPr>
                <a:t>Highway</a:t>
              </a:r>
            </a:p>
          </p:txBody>
        </p:sp>
        <p:sp>
          <p:nvSpPr>
            <p:cNvPr id="24" name="TextBox 24"/>
            <p:cNvSpPr txBox="1"/>
            <p:nvPr/>
          </p:nvSpPr>
          <p:spPr>
            <a:xfrm>
              <a:off x="9852403" y="2726293"/>
              <a:ext cx="416757"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driving</a:t>
              </a:r>
            </a:p>
          </p:txBody>
        </p:sp>
      </p:grpSp>
      <p:grpSp>
        <p:nvGrpSpPr>
          <p:cNvPr id="32" name="Group 32"/>
          <p:cNvGrpSpPr/>
          <p:nvPr/>
        </p:nvGrpSpPr>
        <p:grpSpPr>
          <a:xfrm>
            <a:off x="609600" y="3086100"/>
            <a:ext cx="5334000" cy="1181100"/>
            <a:chOff x="609600" y="3086100"/>
            <a:chExt cx="5334000" cy="1181100"/>
          </a:xfrm>
        </p:grpSpPr>
        <p:sp>
          <p:nvSpPr>
            <p:cNvPr id="26" name="Rectangle 26"/>
            <p:cNvSpPr/>
            <p:nvPr/>
          </p:nvSpPr>
          <p:spPr>
            <a:xfrm>
              <a:off x="609600" y="3086100"/>
              <a:ext cx="5334000" cy="1181100"/>
            </a:xfrm>
            <a:prstGeom prst="roundRect">
              <a:avLst>
                <a:gd name="adj" fmla="val 11290"/>
              </a:avLst>
            </a:prstGeom>
            <a:solidFill>
              <a:schemeClr val="accent5"/>
            </a:solidFill>
            <a:ln w="14288">
              <a:solidFill>
                <a:srgbClr val="284A66"/>
              </a:solidFill>
            </a:ln>
          </p:spPr>
        </p:sp>
        <p:sp>
          <p:nvSpPr>
            <p:cNvPr id="27" name="Rectangle 27"/>
            <p:cNvSpPr/>
            <p:nvPr/>
          </p:nvSpPr>
          <p:spPr>
            <a:xfrm>
              <a:off x="609600" y="3086100"/>
              <a:ext cx="57150" cy="1181100"/>
            </a:xfrm>
            <a:prstGeom prst="roundRect">
              <a:avLst>
                <a:gd name="adj" fmla="val 50000"/>
              </a:avLst>
            </a:prstGeom>
            <a:solidFill>
              <a:srgbClr val="33D6C0"/>
            </a:solidFill>
            <a:ln>
              <a:noFill/>
            </a:ln>
          </p:spPr>
        </p:sp>
        <p:sp>
          <p:nvSpPr>
            <p:cNvPr id="28" name="TextBox 28"/>
            <p:cNvSpPr txBox="1"/>
            <p:nvPr/>
          </p:nvSpPr>
          <p:spPr>
            <a:xfrm>
              <a:off x="870585" y="3307556"/>
              <a:ext cx="2731989" cy="220028"/>
            </a:xfrm>
            <a:prstGeom prst="rect">
              <a:avLst/>
            </a:prstGeom>
            <a:noFill/>
            <a:ln>
              <a:noFill/>
            </a:ln>
          </p:spPr>
          <p:txBody>
            <a:bodyPr wrap="none" lIns="0" tIns="0" rIns="0" bIns="0" anchor="t" anchorCtr="0">
              <a:spAutoFit/>
            </a:bodyPr>
            <a:lstStyle/>
            <a:p>
              <a:pPr algn="l"/>
              <a:r>
                <a:rPr lang="en-US" sz="1120" b="1" dirty="0">
                  <a:solidFill>
                    <a:srgbClr val="33D6C0"/>
                  </a:solidFill>
                  <a:latin typeface="+mn-lt"/>
                  <a:ea typeface="+mn-ea"/>
                  <a:cs typeface="+mn-cs"/>
                </a:rPr>
                <a:t>High-dim games to control &amp; driving</a:t>
              </a:r>
            </a:p>
          </p:txBody>
        </p:sp>
        <p:sp>
          <p:nvSpPr>
            <p:cNvPr id="29" name="TextBox 29"/>
            <p:cNvSpPr txBox="1"/>
            <p:nvPr/>
          </p:nvSpPr>
          <p:spPr>
            <a:xfrm>
              <a:off x="871156" y="3586401"/>
              <a:ext cx="408501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Pong and Freeway are high-dimensional Atari games; CartPole</a:t>
              </a:r>
            </a:p>
          </p:txBody>
        </p:sp>
        <p:sp>
          <p:nvSpPr>
            <p:cNvPr id="30" name="TextBox 30"/>
            <p:cNvSpPr txBox="1"/>
            <p:nvPr/>
          </p:nvSpPr>
          <p:spPr>
            <a:xfrm>
              <a:off x="871156" y="3776901"/>
              <a:ext cx="35429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is classic low-dimensional control; Highway simulates</a:t>
              </a:r>
            </a:p>
          </p:txBody>
        </p:sp>
        <p:sp>
          <p:nvSpPr>
            <p:cNvPr id="31" name="TextBox 31"/>
            <p:cNvSpPr txBox="1"/>
            <p:nvPr/>
          </p:nvSpPr>
          <p:spPr>
            <a:xfrm>
              <a:off x="871156" y="3967401"/>
              <a:ext cx="13563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autonomous driving.</a:t>
              </a:r>
            </a:p>
          </p:txBody>
        </p:sp>
      </p:grpSp>
      <p:grpSp>
        <p:nvGrpSpPr>
          <p:cNvPr id="38" name="Group 38"/>
          <p:cNvGrpSpPr/>
          <p:nvPr/>
        </p:nvGrpSpPr>
        <p:grpSpPr>
          <a:xfrm>
            <a:off x="6248400" y="3086100"/>
            <a:ext cx="5334000" cy="1181100"/>
            <a:chOff x="6248400" y="3086100"/>
            <a:chExt cx="5334000" cy="1181100"/>
          </a:xfrm>
        </p:grpSpPr>
        <p:sp>
          <p:nvSpPr>
            <p:cNvPr id="33" name="Rectangle 33"/>
            <p:cNvSpPr/>
            <p:nvPr/>
          </p:nvSpPr>
          <p:spPr>
            <a:xfrm>
              <a:off x="6248400" y="3086100"/>
              <a:ext cx="5334000" cy="1181100"/>
            </a:xfrm>
            <a:prstGeom prst="roundRect">
              <a:avLst>
                <a:gd name="adj" fmla="val 11290"/>
              </a:avLst>
            </a:prstGeom>
            <a:solidFill>
              <a:schemeClr val="accent5"/>
            </a:solidFill>
            <a:ln w="14288">
              <a:solidFill>
                <a:srgbClr val="284A66"/>
              </a:solidFill>
            </a:ln>
          </p:spPr>
        </p:sp>
        <p:sp>
          <p:nvSpPr>
            <p:cNvPr id="34" name="Rectangle 34"/>
            <p:cNvSpPr/>
            <p:nvPr/>
          </p:nvSpPr>
          <p:spPr>
            <a:xfrm>
              <a:off x="6248400" y="3086100"/>
              <a:ext cx="57150" cy="1181100"/>
            </a:xfrm>
            <a:prstGeom prst="roundRect">
              <a:avLst>
                <a:gd name="adj" fmla="val 50000"/>
              </a:avLst>
            </a:prstGeom>
            <a:solidFill>
              <a:srgbClr val="F2685C"/>
            </a:solidFill>
            <a:ln>
              <a:noFill/>
            </a:ln>
          </p:spPr>
        </p:sp>
        <p:sp>
          <p:nvSpPr>
            <p:cNvPr id="35" name="TextBox 35"/>
            <p:cNvSpPr txBox="1"/>
            <p:nvPr/>
          </p:nvSpPr>
          <p:spPr>
            <a:xfrm>
              <a:off x="6509194" y="3303508"/>
              <a:ext cx="2659444" cy="227362"/>
            </a:xfrm>
            <a:prstGeom prst="rect">
              <a:avLst/>
            </a:prstGeom>
            <a:noFill/>
            <a:ln>
              <a:noFill/>
            </a:ln>
          </p:spPr>
          <p:txBody>
            <a:bodyPr wrap="none" lIns="0" tIns="0" rIns="0" bIns="0" anchor="t" anchorCtr="0">
              <a:spAutoFit/>
            </a:bodyPr>
            <a:lstStyle/>
            <a:p>
              <a:pPr algn="l"/>
              <a:r>
                <a:rPr lang="en-US" sz="1160" b="1" dirty="0">
                  <a:solidFill>
                    <a:srgbClr val="F2685C"/>
                  </a:solidFill>
                  <a:latin typeface="+mn-lt"/>
                  <a:ea typeface="+mn-ea"/>
                  <a:cs typeface="+mn-cs"/>
                </a:rPr>
                <a:t>Nine robust RL methods certified</a:t>
              </a:r>
            </a:p>
          </p:txBody>
        </p:sp>
        <p:sp>
          <p:nvSpPr>
            <p:cNvPr id="36" name="TextBox 36"/>
            <p:cNvSpPr txBox="1"/>
            <p:nvPr/>
          </p:nvSpPr>
          <p:spPr>
            <a:xfrm>
              <a:off x="6509956" y="3586401"/>
              <a:ext cx="418121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StdTrain, GaussAug, AdvTrain, SA-MDP (PGD), SA-MDP (CVX),</a:t>
              </a:r>
            </a:p>
          </p:txBody>
        </p:sp>
        <p:sp>
          <p:nvSpPr>
            <p:cNvPr id="37" name="TextBox 37"/>
            <p:cNvSpPr txBox="1"/>
            <p:nvPr/>
          </p:nvSpPr>
          <p:spPr>
            <a:xfrm>
              <a:off x="6509956" y="3776901"/>
              <a:ext cx="278518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RadialRL, CARRL, NoisyNet, and GradDQN.</a:t>
              </a:r>
            </a:p>
          </p:txBody>
        </p:sp>
      </p:grpSp>
      <p:grpSp>
        <p:nvGrpSpPr>
          <p:cNvPr id="52" name="Group 52"/>
          <p:cNvGrpSpPr/>
          <p:nvPr/>
        </p:nvGrpSpPr>
        <p:grpSpPr>
          <a:xfrm>
            <a:off x="609600" y="4419600"/>
            <a:ext cx="10972800" cy="819150"/>
            <a:chOff x="609600" y="4419600"/>
            <a:chExt cx="10972800" cy="819150"/>
          </a:xfrm>
        </p:grpSpPr>
        <p:sp>
          <p:nvSpPr>
            <p:cNvPr id="39" name="Rectangle 39"/>
            <p:cNvSpPr/>
            <p:nvPr/>
          </p:nvSpPr>
          <p:spPr>
            <a:xfrm>
              <a:off x="609600" y="4419600"/>
              <a:ext cx="10972800" cy="819150"/>
            </a:xfrm>
            <a:prstGeom prst="roundRect">
              <a:avLst>
                <a:gd name="adj" fmla="val 16279"/>
              </a:avLst>
            </a:prstGeom>
            <a:solidFill>
              <a:srgbClr val="0F2E2B"/>
            </a:solidFill>
            <a:ln w="14288">
              <a:solidFill>
                <a:srgbClr val="46C98B"/>
              </a:solidFill>
            </a:ln>
          </p:spPr>
        </p:sp>
        <p:sp>
          <p:nvSpPr>
            <p:cNvPr id="40" name="Rectangle 40"/>
            <p:cNvSpPr/>
            <p:nvPr/>
          </p:nvSpPr>
          <p:spPr>
            <a:xfrm>
              <a:off x="609600" y="4419600"/>
              <a:ext cx="57150" cy="819150"/>
            </a:xfrm>
            <a:prstGeom prst="roundRect">
              <a:avLst>
                <a:gd name="adj" fmla="val 50000"/>
              </a:avLst>
            </a:prstGeom>
            <a:solidFill>
              <a:srgbClr val="46C98B"/>
            </a:solidFill>
            <a:ln>
              <a:noFill/>
            </a:ln>
          </p:spPr>
        </p:sp>
        <p:sp>
          <p:nvSpPr>
            <p:cNvPr id="41" name="TextBox 41"/>
            <p:cNvSpPr txBox="1"/>
            <p:nvPr/>
          </p:nvSpPr>
          <p:spPr>
            <a:xfrm>
              <a:off x="870394" y="4598908"/>
              <a:ext cx="3009858"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Not one certificate, but a benchmark</a:t>
              </a:r>
            </a:p>
          </p:txBody>
        </p:sp>
        <p:sp>
          <p:nvSpPr>
            <p:cNvPr id="42" name="Rectangle 42"/>
            <p:cNvSpPr/>
            <p:nvPr/>
          </p:nvSpPr>
          <p:spPr>
            <a:xfrm>
              <a:off x="6096000" y="4495800"/>
              <a:ext cx="1600200" cy="647700"/>
            </a:xfrm>
            <a:prstGeom prst="roundRect">
              <a:avLst>
                <a:gd name="adj" fmla="val 17647"/>
              </a:avLst>
            </a:prstGeom>
            <a:solidFill>
              <a:schemeClr val="accent6"/>
            </a:solidFill>
            <a:ln w="14288">
              <a:solidFill>
                <a:srgbClr val="284A66"/>
              </a:solidFill>
            </a:ln>
          </p:spPr>
        </p:sp>
        <p:sp>
          <p:nvSpPr>
            <p:cNvPr id="43" name="TextBox 43"/>
            <p:cNvSpPr txBox="1"/>
            <p:nvPr/>
          </p:nvSpPr>
          <p:spPr>
            <a:xfrm>
              <a:off x="6820044" y="4645419"/>
              <a:ext cx="152113" cy="339136"/>
            </a:xfrm>
            <a:prstGeom prst="rect">
              <a:avLst/>
            </a:prstGeom>
            <a:noFill/>
            <a:ln>
              <a:noFill/>
            </a:ln>
          </p:spPr>
          <p:txBody>
            <a:bodyPr wrap="none" lIns="0" tIns="0" rIns="0" bIns="0" anchor="t" anchorCtr="0">
              <a:spAutoFit/>
            </a:bodyPr>
            <a:lstStyle/>
            <a:p>
              <a:pPr algn="ctr"/>
              <a:r>
                <a:rPr lang="en-US" sz="1730" b="1" dirty="0">
                  <a:solidFill>
                    <a:schemeClr val="accent2"/>
                  </a:solidFill>
                  <a:latin typeface="+mn-lt"/>
                  <a:ea typeface="+mn-ea"/>
                  <a:cs typeface="+mn-cs"/>
                </a:rPr>
                <a:t>4</a:t>
              </a:r>
            </a:p>
          </p:txBody>
        </p:sp>
        <p:sp>
          <p:nvSpPr>
            <p:cNvPr id="44" name="TextBox 44"/>
            <p:cNvSpPr txBox="1"/>
            <p:nvPr/>
          </p:nvSpPr>
          <p:spPr>
            <a:xfrm>
              <a:off x="6456188" y="4912757"/>
              <a:ext cx="8798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environments</a:t>
              </a:r>
            </a:p>
          </p:txBody>
        </p:sp>
        <p:sp>
          <p:nvSpPr>
            <p:cNvPr id="45" name="Rectangle 45"/>
            <p:cNvSpPr/>
            <p:nvPr/>
          </p:nvSpPr>
          <p:spPr>
            <a:xfrm>
              <a:off x="7829550" y="4495800"/>
              <a:ext cx="1600200" cy="647700"/>
            </a:xfrm>
            <a:prstGeom prst="roundRect">
              <a:avLst>
                <a:gd name="adj" fmla="val 17647"/>
              </a:avLst>
            </a:prstGeom>
            <a:solidFill>
              <a:schemeClr val="accent6"/>
            </a:solidFill>
            <a:ln w="14288">
              <a:solidFill>
                <a:srgbClr val="284A66"/>
              </a:solidFill>
            </a:ln>
          </p:spPr>
        </p:sp>
        <p:sp>
          <p:nvSpPr>
            <p:cNvPr id="46" name="TextBox 46"/>
            <p:cNvSpPr txBox="1"/>
            <p:nvPr/>
          </p:nvSpPr>
          <p:spPr>
            <a:xfrm>
              <a:off x="8553594" y="4645419"/>
              <a:ext cx="152113" cy="339136"/>
            </a:xfrm>
            <a:prstGeom prst="rect">
              <a:avLst/>
            </a:prstGeom>
            <a:noFill/>
            <a:ln>
              <a:noFill/>
            </a:ln>
          </p:spPr>
          <p:txBody>
            <a:bodyPr wrap="none" lIns="0" tIns="0" rIns="0" bIns="0" anchor="t" anchorCtr="0">
              <a:spAutoFit/>
            </a:bodyPr>
            <a:lstStyle/>
            <a:p>
              <a:pPr algn="ctr"/>
              <a:r>
                <a:rPr lang="en-US" sz="1730" b="1" dirty="0">
                  <a:solidFill>
                    <a:srgbClr val="33D6C0"/>
                  </a:solidFill>
                  <a:latin typeface="+mn-lt"/>
                  <a:ea typeface="+mn-ea"/>
                  <a:cs typeface="+mn-cs"/>
                </a:rPr>
                <a:t>9</a:t>
              </a:r>
            </a:p>
          </p:txBody>
        </p:sp>
        <p:sp>
          <p:nvSpPr>
            <p:cNvPr id="47" name="TextBox 47"/>
            <p:cNvSpPr txBox="1"/>
            <p:nvPr/>
          </p:nvSpPr>
          <p:spPr>
            <a:xfrm>
              <a:off x="8355826" y="4912757"/>
              <a:ext cx="54764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methods</a:t>
              </a:r>
            </a:p>
          </p:txBody>
        </p:sp>
        <p:sp>
          <p:nvSpPr>
            <p:cNvPr id="48" name="Rectangle 48"/>
            <p:cNvSpPr/>
            <p:nvPr/>
          </p:nvSpPr>
          <p:spPr>
            <a:xfrm>
              <a:off x="9563100" y="4495800"/>
              <a:ext cx="1600200" cy="647700"/>
            </a:xfrm>
            <a:prstGeom prst="roundRect">
              <a:avLst>
                <a:gd name="adj" fmla="val 17647"/>
              </a:avLst>
            </a:prstGeom>
            <a:solidFill>
              <a:schemeClr val="accent6"/>
            </a:solidFill>
            <a:ln w="14288">
              <a:solidFill>
                <a:srgbClr val="284A66"/>
              </a:solidFill>
            </a:ln>
          </p:spPr>
        </p:sp>
        <p:sp>
          <p:nvSpPr>
            <p:cNvPr id="49" name="TextBox 49"/>
            <p:cNvSpPr txBox="1"/>
            <p:nvPr/>
          </p:nvSpPr>
          <p:spPr>
            <a:xfrm>
              <a:off x="10287144" y="4645419"/>
              <a:ext cx="152113" cy="339136"/>
            </a:xfrm>
            <a:prstGeom prst="rect">
              <a:avLst/>
            </a:prstGeom>
            <a:noFill/>
            <a:ln>
              <a:noFill/>
            </a:ln>
          </p:spPr>
          <p:txBody>
            <a:bodyPr wrap="none" lIns="0" tIns="0" rIns="0" bIns="0" anchor="t" anchorCtr="0">
              <a:spAutoFit/>
            </a:bodyPr>
            <a:lstStyle/>
            <a:p>
              <a:pPr algn="ctr"/>
              <a:r>
                <a:rPr lang="en-US" sz="1730" b="1" dirty="0">
                  <a:solidFill>
                    <a:srgbClr val="F4C24C"/>
                  </a:solidFill>
                  <a:latin typeface="+mn-lt"/>
                  <a:ea typeface="+mn-ea"/>
                  <a:cs typeface="+mn-cs"/>
                </a:rPr>
                <a:t>3</a:t>
              </a:r>
            </a:p>
          </p:txBody>
        </p:sp>
        <p:sp>
          <p:nvSpPr>
            <p:cNvPr id="50" name="TextBox 50"/>
            <p:cNvSpPr txBox="1"/>
            <p:nvPr/>
          </p:nvSpPr>
          <p:spPr>
            <a:xfrm>
              <a:off x="10012976" y="4912757"/>
              <a:ext cx="70044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algorithms</a:t>
              </a:r>
            </a:p>
          </p:txBody>
        </p:sp>
        <p:sp>
          <p:nvSpPr>
            <p:cNvPr id="51" name="TextBox 51"/>
            <p:cNvSpPr txBox="1"/>
            <p:nvPr/>
          </p:nvSpPr>
          <p:spPr>
            <a:xfrm>
              <a:off x="871347" y="4885849"/>
              <a:ext cx="3746011" cy="190690"/>
            </a:xfrm>
            <a:prstGeom prst="rect">
              <a:avLst/>
            </a:prstGeom>
            <a:noFill/>
            <a:ln>
              <a:noFill/>
            </a:ln>
          </p:spPr>
          <p:txBody>
            <a:bodyPr wrap="none" lIns="0" tIns="0" rIns="0" bIns="0" anchor="t" anchorCtr="0">
              <a:spAutoFit/>
            </a:bodyPr>
            <a:lstStyle/>
            <a:p>
              <a:pPr algn="l"/>
              <a:r>
                <a:rPr lang="en-US" sz="980" b="1" dirty="0">
                  <a:solidFill>
                    <a:schemeClr val="dk2"/>
                  </a:solidFill>
                  <a:latin typeface="+mn-lt"/>
                  <a:ea typeface="+mn-ea"/>
                  <a:cs typeface="+mn-cs"/>
                </a:rPr>
                <a:t>many robust RL methods on a common, provable footing</a:t>
              </a:r>
            </a:p>
          </p:txBody>
        </p:sp>
      </p:grpSp>
      <p:sp>
        <p:nvSpPr>
          <p:cNvPr id="53" name="cue_s06_c1_test_framework_broadly_authors_run" title="cue_s06_c1_test_framework_broadly_authors_run" descr="cue_s06_c1_test_framework_broadly_authors_run To test the framework broadly, the authors run it on four environments spanning very different regimes."/>
          <p:cNvSpPr/>
          <p:nvPr/>
        </p:nvSpPr>
        <p:spPr>
          <a:xfrm>
            <a:off x="609600" y="150464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6_c2_pong_freeway_high_dimensional_atari" title="cue_s06_c2_pong_freeway_high_dimensional_atari" descr="cue_s06_c2_pong_freeway_high_dimensional_atari Pong and Freeway are high-dimensional Atari games; CartPole is a classic low-dimensional control task; and Highway simulates autonomous driving."/>
          <p:cNvSpPr/>
          <p:nvPr/>
        </p:nvSpPr>
        <p:spPr>
          <a:xfrm>
            <a:off x="609600" y="3086100"/>
            <a:ext cx="53340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6_c3_these_they_certify_nine_existing" title="cue_s06_c3_these_they_certify_nine_existing" descr="cue_s06_c3_these_they_certify_nine_existing On these, they certify nine existing reinforcement learning methods, ranging from standard training and Gaussian augmentation to adversarial training, the SA-MDP variants, RadialRL, CARRL, NoisyNet, and gradient-based DQN."/>
          <p:cNvSpPr/>
          <p:nvPr/>
        </p:nvSpPr>
        <p:spPr>
          <a:xfrm>
            <a:off x="6248399" y="3086100"/>
            <a:ext cx="53340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6_c4_makes_crop_not_just_single" title="cue_s06_c4_makes_crop_not_just_single" descr="cue_s06_c4_makes_crop_not_just_single This makes CROP not just a single certificate but a benchmark that places many robust RL methods on a common, provable footing."/>
          <p:cNvSpPr/>
          <p:nvPr/>
        </p:nvSpPr>
        <p:spPr>
          <a:xfrm>
            <a:off x="609600" y="4419295"/>
            <a:ext cx="10972800" cy="8188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46922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Consistent, certified winners</a:t>
            </a:r>
          </a:p>
        </p:txBody>
      </p:sp>
      <p:grpSp>
        <p:nvGrpSpPr>
          <p:cNvPr id="22" name="Group 22"/>
          <p:cNvGrpSpPr/>
          <p:nvPr/>
        </p:nvGrpSpPr>
        <p:grpSpPr>
          <a:xfrm>
            <a:off x="609600" y="1504950"/>
            <a:ext cx="10972800" cy="1428750"/>
            <a:chOff x="609600" y="1504950"/>
            <a:chExt cx="10972800" cy="1428750"/>
          </a:xfrm>
        </p:grpSpPr>
        <p:sp>
          <p:nvSpPr>
            <p:cNvPr id="5" name="Rectangle 5"/>
            <p:cNvSpPr/>
            <p:nvPr/>
          </p:nvSpPr>
          <p:spPr>
            <a:xfrm>
              <a:off x="609600" y="1504950"/>
              <a:ext cx="10972800" cy="1428750"/>
            </a:xfrm>
            <a:prstGeom prst="roundRect">
              <a:avLst>
                <a:gd name="adj" fmla="val 9333"/>
              </a:avLst>
            </a:prstGeom>
            <a:solidFill>
              <a:srgbClr val="0F2E2B"/>
            </a:solidFill>
            <a:ln w="14288">
              <a:solidFill>
                <a:srgbClr val="46C98B"/>
              </a:solidFill>
            </a:ln>
          </p:spPr>
        </p:sp>
        <p:sp>
          <p:nvSpPr>
            <p:cNvPr id="6" name="Rectangle 6"/>
            <p:cNvSpPr/>
            <p:nvPr/>
          </p:nvSpPr>
          <p:spPr>
            <a:xfrm>
              <a:off x="609600" y="1504950"/>
              <a:ext cx="57150" cy="1428750"/>
            </a:xfrm>
            <a:prstGeom prst="roundRect">
              <a:avLst>
                <a:gd name="adj" fmla="val 50000"/>
              </a:avLst>
            </a:prstGeom>
            <a:solidFill>
              <a:srgbClr val="46C98B"/>
            </a:solidFill>
            <a:ln>
              <a:noFill/>
            </a:ln>
          </p:spPr>
        </p:sp>
        <p:sp>
          <p:nvSpPr>
            <p:cNvPr id="7" name="TextBox 7"/>
            <p:cNvSpPr txBox="1"/>
            <p:nvPr/>
          </p:nvSpPr>
          <p:spPr>
            <a:xfrm>
              <a:off x="870014" y="1733312"/>
              <a:ext cx="4443840"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The certifications reveal clear, consistent winners</a:t>
              </a:r>
            </a:p>
          </p:txBody>
        </p:sp>
        <p:sp>
          <p:nvSpPr>
            <p:cNvPr id="8" name="Rectangle 8"/>
            <p:cNvSpPr/>
            <p:nvPr/>
          </p:nvSpPr>
          <p:spPr>
            <a:xfrm>
              <a:off x="876300" y="2038350"/>
              <a:ext cx="4476750" cy="762000"/>
            </a:xfrm>
            <a:prstGeom prst="roundRect">
              <a:avLst>
                <a:gd name="adj" fmla="val 15000"/>
              </a:avLst>
            </a:prstGeom>
            <a:solidFill>
              <a:schemeClr val="accent6"/>
            </a:solidFill>
            <a:ln w="14288">
              <a:solidFill>
                <a:srgbClr val="284A66"/>
              </a:solidFill>
            </a:ln>
          </p:spPr>
        </p:sp>
        <p:sp>
          <p:nvSpPr>
            <p:cNvPr id="9" name="TextBox 9"/>
            <p:cNvSpPr txBox="1"/>
            <p:nvPr/>
          </p:nvSpPr>
          <p:spPr>
            <a:xfrm>
              <a:off x="1061847" y="2218849"/>
              <a:ext cx="292984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Certified rankings place many methods on one</a:t>
              </a:r>
            </a:p>
          </p:txBody>
        </p:sp>
        <p:sp>
          <p:nvSpPr>
            <p:cNvPr id="10" name="TextBox 10"/>
            <p:cNvSpPr txBox="1"/>
            <p:nvPr/>
          </p:nvSpPr>
          <p:spPr>
            <a:xfrm>
              <a:off x="1061847" y="2409349"/>
              <a:ext cx="272761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provable scale, with a clear leader in each</a:t>
              </a:r>
            </a:p>
          </p:txBody>
        </p:sp>
        <p:sp>
          <p:nvSpPr>
            <p:cNvPr id="11" name="TextBox 11"/>
            <p:cNvSpPr txBox="1"/>
            <p:nvPr/>
          </p:nvSpPr>
          <p:spPr>
            <a:xfrm>
              <a:off x="1061847" y="2599849"/>
              <a:ext cx="87403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environment.</a:t>
              </a:r>
            </a:p>
          </p:txBody>
        </p:sp>
        <p:sp>
          <p:nvSpPr>
            <p:cNvPr id="12" name="Rectangle 12"/>
            <p:cNvSpPr/>
            <p:nvPr/>
          </p:nvSpPr>
          <p:spPr>
            <a:xfrm>
              <a:off x="5562600" y="2038350"/>
              <a:ext cx="6019800" cy="361950"/>
            </a:xfrm>
            <a:prstGeom prst="roundRect">
              <a:avLst>
                <a:gd name="adj" fmla="val 21053"/>
              </a:avLst>
            </a:prstGeom>
            <a:solidFill>
              <a:schemeClr val="accent6"/>
            </a:solidFill>
            <a:ln w="14288">
              <a:solidFill>
                <a:srgbClr val="284A66"/>
              </a:solidFill>
            </a:ln>
          </p:spPr>
        </p:sp>
        <p:sp>
          <p:nvSpPr>
            <p:cNvPr id="13" name="Rectangle 13"/>
            <p:cNvSpPr/>
            <p:nvPr/>
          </p:nvSpPr>
          <p:spPr>
            <a:xfrm>
              <a:off x="5562600" y="2038350"/>
              <a:ext cx="47625" cy="361950"/>
            </a:xfrm>
            <a:prstGeom prst="roundRect">
              <a:avLst>
                <a:gd name="adj" fmla="val 50000"/>
              </a:avLst>
            </a:prstGeom>
            <a:solidFill>
              <a:srgbClr val="33D6C0"/>
            </a:solidFill>
            <a:ln>
              <a:noFill/>
            </a:ln>
          </p:spPr>
        </p:sp>
        <p:sp>
          <p:nvSpPr>
            <p:cNvPr id="14" name="TextBox 14"/>
            <p:cNvSpPr txBox="1"/>
            <p:nvPr/>
          </p:nvSpPr>
          <p:spPr>
            <a:xfrm>
              <a:off x="5747766" y="2153602"/>
              <a:ext cx="616624" cy="205359"/>
            </a:xfrm>
            <a:prstGeom prst="rect">
              <a:avLst/>
            </a:prstGeom>
            <a:noFill/>
            <a:ln>
              <a:noFill/>
            </a:ln>
          </p:spPr>
          <p:txBody>
            <a:bodyPr wrap="none" lIns="0" tIns="0" rIns="0" bIns="0" anchor="t" anchorCtr="0">
              <a:spAutoFit/>
            </a:bodyPr>
            <a:lstStyle/>
            <a:p>
              <a:pPr algn="l"/>
              <a:r>
                <a:rPr lang="en-US" sz="1050" b="1" dirty="0">
                  <a:solidFill>
                    <a:srgbClr val="33D6C0"/>
                  </a:solidFill>
                  <a:latin typeface="+mn-lt"/>
                  <a:ea typeface="+mn-ea"/>
                  <a:cs typeface="+mn-cs"/>
                </a:rPr>
                <a:t>Freeway</a:t>
              </a:r>
            </a:p>
          </p:txBody>
        </p:sp>
        <p:sp>
          <p:nvSpPr>
            <p:cNvPr id="15" name="TextBox 15"/>
            <p:cNvSpPr txBox="1"/>
            <p:nvPr/>
          </p:nvSpPr>
          <p:spPr>
            <a:xfrm>
              <a:off x="6700266" y="2153602"/>
              <a:ext cx="601787"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RadialRL</a:t>
              </a:r>
            </a:p>
          </p:txBody>
        </p:sp>
        <p:sp>
          <p:nvSpPr>
            <p:cNvPr id="16" name="TextBox 16"/>
            <p:cNvSpPr txBox="1"/>
            <p:nvPr/>
          </p:nvSpPr>
          <p:spPr>
            <a:xfrm>
              <a:off x="9911368" y="2169795"/>
              <a:ext cx="1523394" cy="176212"/>
            </a:xfrm>
            <a:prstGeom prst="rect">
              <a:avLst/>
            </a:prstGeom>
            <a:noFill/>
            <a:ln>
              <a:noFill/>
            </a:ln>
          </p:spPr>
          <p:txBody>
            <a:bodyPr wrap="none" lIns="0" tIns="0" rIns="0" bIns="0" anchor="t" anchorCtr="0">
              <a:spAutoFit/>
            </a:bodyPr>
            <a:lstStyle/>
            <a:p>
              <a:pPr algn="r"/>
              <a:r>
                <a:rPr lang="en-US" sz="900" b="1" dirty="0">
                  <a:solidFill>
                    <a:schemeClr val="dk2"/>
                  </a:solidFill>
                  <a:latin typeface="+mn-lt"/>
                  <a:ea typeface="+mn-ea"/>
                  <a:cs typeface="+mn-cs"/>
                </a:rPr>
                <a:t>highest r at every sigma</a:t>
              </a:r>
            </a:p>
          </p:txBody>
        </p:sp>
        <p:sp>
          <p:nvSpPr>
            <p:cNvPr id="17" name="Rectangle 17"/>
            <p:cNvSpPr/>
            <p:nvPr/>
          </p:nvSpPr>
          <p:spPr>
            <a:xfrm>
              <a:off x="5562600" y="2476500"/>
              <a:ext cx="6019800" cy="361950"/>
            </a:xfrm>
            <a:prstGeom prst="roundRect">
              <a:avLst>
                <a:gd name="adj" fmla="val 21053"/>
              </a:avLst>
            </a:prstGeom>
            <a:solidFill>
              <a:schemeClr val="accent6"/>
            </a:solidFill>
            <a:ln w="14288">
              <a:solidFill>
                <a:srgbClr val="284A66"/>
              </a:solidFill>
            </a:ln>
          </p:spPr>
        </p:sp>
        <p:sp>
          <p:nvSpPr>
            <p:cNvPr id="18" name="Rectangle 18"/>
            <p:cNvSpPr/>
            <p:nvPr/>
          </p:nvSpPr>
          <p:spPr>
            <a:xfrm>
              <a:off x="5562600" y="2476500"/>
              <a:ext cx="47625" cy="361950"/>
            </a:xfrm>
            <a:prstGeom prst="roundRect">
              <a:avLst>
                <a:gd name="adj" fmla="val 50000"/>
              </a:avLst>
            </a:prstGeom>
            <a:solidFill>
              <a:schemeClr val="accent2"/>
            </a:solidFill>
            <a:ln>
              <a:noFill/>
            </a:ln>
          </p:spPr>
        </p:sp>
        <p:sp>
          <p:nvSpPr>
            <p:cNvPr id="19" name="TextBox 19"/>
            <p:cNvSpPr txBox="1"/>
            <p:nvPr/>
          </p:nvSpPr>
          <p:spPr>
            <a:xfrm>
              <a:off x="5747766" y="2591752"/>
              <a:ext cx="341809"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Pong</a:t>
              </a:r>
            </a:p>
          </p:txBody>
        </p:sp>
        <p:sp>
          <p:nvSpPr>
            <p:cNvPr id="20" name="TextBox 20"/>
            <p:cNvSpPr txBox="1"/>
            <p:nvPr/>
          </p:nvSpPr>
          <p:spPr>
            <a:xfrm>
              <a:off x="6700266" y="2591752"/>
              <a:ext cx="1037836"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SA-MDP (CVX)</a:t>
              </a:r>
            </a:p>
          </p:txBody>
        </p:sp>
        <p:sp>
          <p:nvSpPr>
            <p:cNvPr id="21" name="TextBox 21"/>
            <p:cNvSpPr txBox="1"/>
            <p:nvPr/>
          </p:nvSpPr>
          <p:spPr>
            <a:xfrm>
              <a:off x="9949533" y="2607945"/>
              <a:ext cx="1485229" cy="176212"/>
            </a:xfrm>
            <a:prstGeom prst="rect">
              <a:avLst/>
            </a:prstGeom>
            <a:noFill/>
            <a:ln>
              <a:noFill/>
            </a:ln>
          </p:spPr>
          <p:txBody>
            <a:bodyPr wrap="none" lIns="0" tIns="0" rIns="0" bIns="0" anchor="t" anchorCtr="0">
              <a:spAutoFit/>
            </a:bodyPr>
            <a:lstStyle/>
            <a:p>
              <a:pPr algn="r"/>
              <a:r>
                <a:rPr lang="en-US" sz="900" b="1" dirty="0">
                  <a:solidFill>
                    <a:schemeClr val="dk2"/>
                  </a:solidFill>
                  <a:latin typeface="+mn-lt"/>
                  <a:ea typeface="+mn-ea"/>
                  <a:cs typeface="+mn-cs"/>
                </a:rPr>
                <a:t>most certifiably robust</a:t>
              </a:r>
            </a:p>
          </p:txBody>
        </p:sp>
      </p:grpSp>
      <p:grpSp>
        <p:nvGrpSpPr>
          <p:cNvPr id="31" name="Group 31"/>
          <p:cNvGrpSpPr/>
          <p:nvPr/>
        </p:nvGrpSpPr>
        <p:grpSpPr>
          <a:xfrm>
            <a:off x="609600" y="3086100"/>
            <a:ext cx="3505200" cy="2133600"/>
            <a:chOff x="609600" y="3086100"/>
            <a:chExt cx="3505200" cy="2133600"/>
          </a:xfrm>
        </p:grpSpPr>
        <p:sp>
          <p:nvSpPr>
            <p:cNvPr id="23" name="Rectangle 23"/>
            <p:cNvSpPr/>
            <p:nvPr/>
          </p:nvSpPr>
          <p:spPr>
            <a:xfrm>
              <a:off x="609600" y="3086100"/>
              <a:ext cx="3505200" cy="2133600"/>
            </a:xfrm>
            <a:prstGeom prst="roundRect">
              <a:avLst>
                <a:gd name="adj" fmla="val 6250"/>
              </a:avLst>
            </a:prstGeom>
            <a:solidFill>
              <a:schemeClr val="accent5"/>
            </a:solidFill>
            <a:ln w="14288">
              <a:solidFill>
                <a:srgbClr val="284A66"/>
              </a:solidFill>
            </a:ln>
          </p:spPr>
        </p:sp>
        <p:sp>
          <p:nvSpPr>
            <p:cNvPr id="24" name="Rectangle 24"/>
            <p:cNvSpPr/>
            <p:nvPr/>
          </p:nvSpPr>
          <p:spPr>
            <a:xfrm>
              <a:off x="609600" y="3086100"/>
              <a:ext cx="57150" cy="2133600"/>
            </a:xfrm>
            <a:prstGeom prst="roundRect">
              <a:avLst>
                <a:gd name="adj" fmla="val 50000"/>
              </a:avLst>
            </a:prstGeom>
            <a:solidFill>
              <a:srgbClr val="33D6C0"/>
            </a:solidFill>
            <a:ln>
              <a:noFill/>
            </a:ln>
          </p:spPr>
        </p:sp>
        <p:sp>
          <p:nvSpPr>
            <p:cNvPr id="25" name="TextBox 25"/>
            <p:cNvSpPr txBox="1"/>
            <p:nvPr/>
          </p:nvSpPr>
          <p:spPr>
            <a:xfrm>
              <a:off x="870204" y="3299460"/>
              <a:ext cx="704713" cy="234696"/>
            </a:xfrm>
            <a:prstGeom prst="rect">
              <a:avLst/>
            </a:prstGeom>
            <a:noFill/>
            <a:ln>
              <a:noFill/>
            </a:ln>
          </p:spPr>
          <p:txBody>
            <a:bodyPr wrap="none" lIns="0" tIns="0" rIns="0" bIns="0" anchor="t" anchorCtr="0">
              <a:spAutoFit/>
            </a:bodyPr>
            <a:lstStyle/>
            <a:p>
              <a:pPr algn="l"/>
              <a:r>
                <a:rPr lang="en-US" sz="1200" b="1" dirty="0">
                  <a:solidFill>
                    <a:srgbClr val="33D6C0"/>
                  </a:solidFill>
                  <a:latin typeface="+mn-lt"/>
                  <a:ea typeface="+mn-ea"/>
                  <a:cs typeface="+mn-cs"/>
                </a:rPr>
                <a:t>Freeway</a:t>
              </a:r>
            </a:p>
          </p:txBody>
        </p:sp>
        <p:sp>
          <p:nvSpPr>
            <p:cNvPr id="26" name="TextBox 26"/>
            <p:cNvSpPr txBox="1"/>
            <p:nvPr/>
          </p:nvSpPr>
          <p:spPr>
            <a:xfrm>
              <a:off x="871156" y="3586401"/>
              <a:ext cx="259934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RadialRL achieves the highest certified</a:t>
              </a:r>
            </a:p>
          </p:txBody>
        </p:sp>
        <p:sp>
          <p:nvSpPr>
            <p:cNvPr id="27" name="TextBox 27"/>
            <p:cNvSpPr txBox="1"/>
            <p:nvPr/>
          </p:nvSpPr>
          <p:spPr>
            <a:xfrm>
              <a:off x="871156" y="3776901"/>
              <a:ext cx="245767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radius across every smoothing level.</a:t>
              </a:r>
            </a:p>
          </p:txBody>
        </p:sp>
        <p:sp>
          <p:nvSpPr>
            <p:cNvPr id="28" name="Rectangle 28"/>
            <p:cNvSpPr/>
            <p:nvPr/>
          </p:nvSpPr>
          <p:spPr>
            <a:xfrm>
              <a:off x="876300" y="4267200"/>
              <a:ext cx="2971800" cy="838200"/>
            </a:xfrm>
            <a:prstGeom prst="roundRect">
              <a:avLst>
                <a:gd name="adj" fmla="val 11364"/>
              </a:avLst>
            </a:prstGeom>
            <a:solidFill>
              <a:schemeClr val="accent6"/>
            </a:solidFill>
            <a:ln w="13335">
              <a:solidFill>
                <a:srgbClr val="33D6C0"/>
              </a:solidFill>
            </a:ln>
          </p:spPr>
        </p:sp>
        <p:sp>
          <p:nvSpPr>
            <p:cNvPr id="29" name="TextBox 29"/>
            <p:cNvSpPr txBox="1"/>
            <p:nvPr/>
          </p:nvSpPr>
          <p:spPr>
            <a:xfrm>
              <a:off x="1039749" y="4421029"/>
              <a:ext cx="905495" cy="308039"/>
            </a:xfrm>
            <a:prstGeom prst="rect">
              <a:avLst/>
            </a:prstGeom>
            <a:noFill/>
            <a:ln>
              <a:noFill/>
            </a:ln>
          </p:spPr>
          <p:txBody>
            <a:bodyPr wrap="none" lIns="0" tIns="0" rIns="0" bIns="0" anchor="t" anchorCtr="0">
              <a:spAutoFit/>
            </a:bodyPr>
            <a:lstStyle/>
            <a:p>
              <a:pPr algn="l"/>
              <a:r>
                <a:rPr lang="en-US" sz="1580" b="1" dirty="0">
                  <a:solidFill>
                    <a:srgbClr val="33D6C0"/>
                  </a:solidFill>
                  <a:latin typeface="+mn-lt"/>
                  <a:ea typeface="+mn-ea"/>
                  <a:cs typeface="+mn-cs"/>
                </a:rPr>
                <a:t>RadialRL</a:t>
              </a:r>
            </a:p>
          </p:txBody>
        </p:sp>
        <p:sp>
          <p:nvSpPr>
            <p:cNvPr id="30" name="TextBox 30"/>
            <p:cNvSpPr txBox="1"/>
            <p:nvPr/>
          </p:nvSpPr>
          <p:spPr>
            <a:xfrm>
              <a:off x="1042988" y="4726543"/>
              <a:ext cx="2527592" cy="169069"/>
            </a:xfrm>
            <a:prstGeom prst="rect">
              <a:avLst/>
            </a:prstGeom>
            <a:noFill/>
            <a:ln>
              <a:noFill/>
            </a:ln>
          </p:spPr>
          <p:txBody>
            <a:bodyPr wrap="none" lIns="0" tIns="0" rIns="0" bIns="0" anchor="t" anchorCtr="0">
              <a:spAutoFit/>
            </a:bodyPr>
            <a:lstStyle/>
            <a:p>
              <a:pPr algn="l"/>
              <a:r>
                <a:rPr lang="en-US" sz="860" dirty="0">
                  <a:solidFill>
                    <a:schemeClr val="dk2"/>
                  </a:solidFill>
                  <a:latin typeface="+mn-lt"/>
                  <a:ea typeface="+mn-ea"/>
                  <a:cs typeface="+mn-cs"/>
                </a:rPr>
                <a:t>optimizes against worst-case perturbations</a:t>
              </a:r>
            </a:p>
          </p:txBody>
        </p:sp>
      </p:grpSp>
      <p:grpSp>
        <p:nvGrpSpPr>
          <p:cNvPr id="40" name="Group 40"/>
          <p:cNvGrpSpPr/>
          <p:nvPr/>
        </p:nvGrpSpPr>
        <p:grpSpPr>
          <a:xfrm>
            <a:off x="4343400" y="3086100"/>
            <a:ext cx="3505200" cy="2133600"/>
            <a:chOff x="4343400" y="3086100"/>
            <a:chExt cx="3505200" cy="2133600"/>
          </a:xfrm>
        </p:grpSpPr>
        <p:sp>
          <p:nvSpPr>
            <p:cNvPr id="32" name="Rectangle 32"/>
            <p:cNvSpPr/>
            <p:nvPr/>
          </p:nvSpPr>
          <p:spPr>
            <a:xfrm>
              <a:off x="4343400" y="3086100"/>
              <a:ext cx="3505200" cy="2133600"/>
            </a:xfrm>
            <a:prstGeom prst="roundRect">
              <a:avLst>
                <a:gd name="adj" fmla="val 6250"/>
              </a:avLst>
            </a:prstGeom>
            <a:solidFill>
              <a:schemeClr val="accent5"/>
            </a:solidFill>
            <a:ln w="14288">
              <a:solidFill>
                <a:srgbClr val="284A66"/>
              </a:solidFill>
            </a:ln>
          </p:spPr>
        </p:sp>
        <p:sp>
          <p:nvSpPr>
            <p:cNvPr id="33" name="Rectangle 33"/>
            <p:cNvSpPr/>
            <p:nvPr/>
          </p:nvSpPr>
          <p:spPr>
            <a:xfrm>
              <a:off x="4343400" y="3086100"/>
              <a:ext cx="57150" cy="2133600"/>
            </a:xfrm>
            <a:prstGeom prst="roundRect">
              <a:avLst>
                <a:gd name="adj" fmla="val 50000"/>
              </a:avLst>
            </a:prstGeom>
            <a:solidFill>
              <a:schemeClr val="accent2"/>
            </a:solidFill>
            <a:ln>
              <a:noFill/>
            </a:ln>
          </p:spPr>
        </p:sp>
        <p:sp>
          <p:nvSpPr>
            <p:cNvPr id="34" name="TextBox 34"/>
            <p:cNvSpPr txBox="1"/>
            <p:nvPr/>
          </p:nvSpPr>
          <p:spPr>
            <a:xfrm>
              <a:off x="4604004" y="3299460"/>
              <a:ext cx="390639"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Pong</a:t>
              </a:r>
            </a:p>
          </p:txBody>
        </p:sp>
        <p:sp>
          <p:nvSpPr>
            <p:cNvPr id="35" name="TextBox 35"/>
            <p:cNvSpPr txBox="1"/>
            <p:nvPr/>
          </p:nvSpPr>
          <p:spPr>
            <a:xfrm>
              <a:off x="4604956" y="3586401"/>
              <a:ext cx="273922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SA-MDP with the convex relaxation is the</a:t>
              </a:r>
            </a:p>
          </p:txBody>
        </p:sp>
        <p:sp>
          <p:nvSpPr>
            <p:cNvPr id="36" name="TextBox 36"/>
            <p:cNvSpPr txBox="1"/>
            <p:nvPr/>
          </p:nvSpPr>
          <p:spPr>
            <a:xfrm>
              <a:off x="4604956" y="3776901"/>
              <a:ext cx="166227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most certifiably robust.</a:t>
              </a:r>
            </a:p>
          </p:txBody>
        </p:sp>
        <p:sp>
          <p:nvSpPr>
            <p:cNvPr id="37" name="Rectangle 37"/>
            <p:cNvSpPr/>
            <p:nvPr/>
          </p:nvSpPr>
          <p:spPr>
            <a:xfrm>
              <a:off x="4610100" y="4267200"/>
              <a:ext cx="2971800" cy="838200"/>
            </a:xfrm>
            <a:prstGeom prst="roundRect">
              <a:avLst>
                <a:gd name="adj" fmla="val 11364"/>
              </a:avLst>
            </a:prstGeom>
            <a:solidFill>
              <a:schemeClr val="accent6"/>
            </a:solidFill>
            <a:ln w="13335">
              <a:solidFill>
                <a:schemeClr val="accent2"/>
              </a:solidFill>
            </a:ln>
          </p:spPr>
        </p:sp>
        <p:sp>
          <p:nvSpPr>
            <p:cNvPr id="38" name="TextBox 38"/>
            <p:cNvSpPr txBox="1"/>
            <p:nvPr/>
          </p:nvSpPr>
          <p:spPr>
            <a:xfrm>
              <a:off x="4774311" y="4437221"/>
              <a:ext cx="1403601" cy="278702"/>
            </a:xfrm>
            <a:prstGeom prst="rect">
              <a:avLst/>
            </a:prstGeom>
            <a:noFill/>
            <a:ln>
              <a:noFill/>
            </a:ln>
          </p:spPr>
          <p:txBody>
            <a:bodyPr wrap="none" lIns="0" tIns="0" rIns="0" bIns="0" anchor="t" anchorCtr="0">
              <a:spAutoFit/>
            </a:bodyPr>
            <a:lstStyle/>
            <a:p>
              <a:pPr algn="l"/>
              <a:r>
                <a:rPr lang="en-US" sz="1420" b="1" dirty="0">
                  <a:solidFill>
                    <a:schemeClr val="accent2"/>
                  </a:solidFill>
                  <a:latin typeface="+mn-lt"/>
                  <a:ea typeface="+mn-ea"/>
                  <a:cs typeface="+mn-cs"/>
                </a:rPr>
                <a:t>SA-MDP (CVX)</a:t>
              </a:r>
            </a:p>
          </p:txBody>
        </p:sp>
        <p:sp>
          <p:nvSpPr>
            <p:cNvPr id="39" name="TextBox 39"/>
            <p:cNvSpPr txBox="1"/>
            <p:nvPr/>
          </p:nvSpPr>
          <p:spPr>
            <a:xfrm>
              <a:off x="4776788" y="4726543"/>
              <a:ext cx="2475494" cy="169069"/>
            </a:xfrm>
            <a:prstGeom prst="rect">
              <a:avLst/>
            </a:prstGeom>
            <a:noFill/>
            <a:ln>
              <a:noFill/>
            </a:ln>
          </p:spPr>
          <p:txBody>
            <a:bodyPr wrap="none" lIns="0" tIns="0" rIns="0" bIns="0" anchor="t" anchorCtr="0">
              <a:spAutoFit/>
            </a:bodyPr>
            <a:lstStyle/>
            <a:p>
              <a:pPr algn="l"/>
              <a:r>
                <a:rPr lang="en-US" sz="860" dirty="0">
                  <a:solidFill>
                    <a:schemeClr val="dk2"/>
                  </a:solidFill>
                  <a:latin typeface="+mn-lt"/>
                  <a:ea typeface="+mn-ea"/>
                  <a:cs typeface="+mn-cs"/>
                </a:rPr>
                <a:t>certified ranking matches empirical results</a:t>
              </a:r>
            </a:p>
          </p:txBody>
        </p:sp>
      </p:grpSp>
      <p:grpSp>
        <p:nvGrpSpPr>
          <p:cNvPr id="51" name="Group 51"/>
          <p:cNvGrpSpPr/>
          <p:nvPr/>
        </p:nvGrpSpPr>
        <p:grpSpPr>
          <a:xfrm>
            <a:off x="8077200" y="3086100"/>
            <a:ext cx="3505200" cy="2133600"/>
            <a:chOff x="8077200" y="3086100"/>
            <a:chExt cx="3505200" cy="2133600"/>
          </a:xfrm>
        </p:grpSpPr>
        <p:sp>
          <p:nvSpPr>
            <p:cNvPr id="41" name="Rectangle 41"/>
            <p:cNvSpPr/>
            <p:nvPr/>
          </p:nvSpPr>
          <p:spPr>
            <a:xfrm>
              <a:off x="8077200" y="3086100"/>
              <a:ext cx="3505200" cy="2133600"/>
            </a:xfrm>
            <a:prstGeom prst="roundRect">
              <a:avLst>
                <a:gd name="adj" fmla="val 6250"/>
              </a:avLst>
            </a:prstGeom>
            <a:solidFill>
              <a:srgbClr val="2A2417"/>
            </a:solidFill>
            <a:ln w="14288">
              <a:solidFill>
                <a:srgbClr val="F4C24C"/>
              </a:solidFill>
            </a:ln>
          </p:spPr>
        </p:sp>
        <p:sp>
          <p:nvSpPr>
            <p:cNvPr id="42" name="Rectangle 42"/>
            <p:cNvSpPr/>
            <p:nvPr/>
          </p:nvSpPr>
          <p:spPr>
            <a:xfrm>
              <a:off x="8077200" y="3086100"/>
              <a:ext cx="57150" cy="2133600"/>
            </a:xfrm>
            <a:prstGeom prst="roundRect">
              <a:avLst>
                <a:gd name="adj" fmla="val 50000"/>
              </a:avLst>
            </a:prstGeom>
            <a:solidFill>
              <a:srgbClr val="F4C24C"/>
            </a:solidFill>
            <a:ln>
              <a:noFill/>
            </a:ln>
          </p:spPr>
        </p:sp>
        <p:sp>
          <p:nvSpPr>
            <p:cNvPr id="43" name="TextBox 43"/>
            <p:cNvSpPr txBox="1"/>
            <p:nvPr/>
          </p:nvSpPr>
          <p:spPr>
            <a:xfrm>
              <a:off x="8337994" y="3303508"/>
              <a:ext cx="2121391" cy="227362"/>
            </a:xfrm>
            <a:prstGeom prst="rect">
              <a:avLst/>
            </a:prstGeom>
            <a:noFill/>
            <a:ln>
              <a:noFill/>
            </a:ln>
          </p:spPr>
          <p:txBody>
            <a:bodyPr wrap="none" lIns="0" tIns="0" rIns="0" bIns="0" anchor="t" anchorCtr="0">
              <a:spAutoFit/>
            </a:bodyPr>
            <a:lstStyle/>
            <a:p>
              <a:pPr algn="l"/>
              <a:r>
                <a:rPr lang="en-US" sz="1160" b="1" dirty="0">
                  <a:solidFill>
                    <a:srgbClr val="F4C24C"/>
                  </a:solidFill>
                  <a:latin typeface="+mn-lt"/>
                  <a:ea typeface="+mn-ea"/>
                  <a:cs typeface="+mn-cs"/>
                </a:rPr>
                <a:t>A periodic pattern on Pong</a:t>
              </a:r>
            </a:p>
          </p:txBody>
        </p:sp>
        <p:sp>
          <p:nvSpPr>
            <p:cNvPr id="44" name="TextBox 44"/>
            <p:cNvSpPr txBox="1"/>
            <p:nvPr/>
          </p:nvSpPr>
          <p:spPr>
            <a:xfrm>
              <a:off x="8338756" y="3605451"/>
              <a:ext cx="267966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Every method shows a periodic certified</a:t>
              </a:r>
            </a:p>
          </p:txBody>
        </p:sp>
        <p:sp>
          <p:nvSpPr>
            <p:cNvPr id="45" name="TextBox 45"/>
            <p:cNvSpPr txBox="1"/>
            <p:nvPr/>
          </p:nvSpPr>
          <p:spPr>
            <a:xfrm>
              <a:off x="8338756" y="3795951"/>
              <a:ext cx="2573250"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radius over time, peaking at confident</a:t>
              </a:r>
            </a:p>
          </p:txBody>
        </p:sp>
        <p:sp>
          <p:nvSpPr>
            <p:cNvPr id="46" name="TextBox 46"/>
            <p:cNvSpPr txBox="1"/>
            <p:nvPr/>
          </p:nvSpPr>
          <p:spPr>
            <a:xfrm>
              <a:off x="8338756" y="3986451"/>
              <a:ext cx="2756804"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states such as when the ball flies toward</a:t>
              </a:r>
            </a:p>
          </p:txBody>
        </p:sp>
        <p:sp>
          <p:nvSpPr>
            <p:cNvPr id="47" name="TextBox 47"/>
            <p:cNvSpPr txBox="1"/>
            <p:nvPr/>
          </p:nvSpPr>
          <p:spPr>
            <a:xfrm>
              <a:off x="8338756" y="4176951"/>
              <a:ext cx="76489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 paddle.</a:t>
              </a:r>
            </a:p>
          </p:txBody>
        </p:sp>
        <p:sp>
          <p:nvSpPr>
            <p:cNvPr id="48" name="Rectangle 48"/>
            <p:cNvSpPr/>
            <p:nvPr/>
          </p:nvSpPr>
          <p:spPr>
            <a:xfrm>
              <a:off x="8343900" y="4781550"/>
              <a:ext cx="3009900" cy="304800"/>
            </a:xfrm>
            <a:prstGeom prst="roundRect">
              <a:avLst>
                <a:gd name="adj" fmla="val 25000"/>
              </a:avLst>
            </a:prstGeom>
            <a:solidFill>
              <a:schemeClr val="accent6"/>
            </a:solidFill>
            <a:ln w="14288">
              <a:solidFill>
                <a:srgbClr val="284A66"/>
              </a:solidFill>
            </a:ln>
          </p:spPr>
        </p:sp>
        <p:sp>
          <p:nvSpPr>
            <p:cNvPr id="49" name="Ellipse 49"/>
            <p:cNvSpPr/>
            <p:nvPr/>
          </p:nvSpPr>
          <p:spPr>
            <a:xfrm>
              <a:off x="8467725" y="4886325"/>
              <a:ext cx="95250" cy="95250"/>
            </a:xfrm>
            <a:prstGeom prst="ellipse">
              <a:avLst/>
            </a:prstGeom>
            <a:solidFill>
              <a:srgbClr val="F4C24C"/>
            </a:solidFill>
            <a:ln>
              <a:noFill/>
            </a:ln>
          </p:spPr>
        </p:sp>
        <p:sp>
          <p:nvSpPr>
            <p:cNvPr id="50" name="TextBox 50"/>
            <p:cNvSpPr txBox="1"/>
            <p:nvPr/>
          </p:nvSpPr>
          <p:spPr>
            <a:xfrm>
              <a:off x="8662226" y="4873704"/>
              <a:ext cx="259176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an insight to guide robust training</a:t>
              </a:r>
            </a:p>
          </p:txBody>
        </p:sp>
      </p:grpSp>
      <p:sp>
        <p:nvSpPr>
          <p:cNvPr id="52" name="cue_s07_c1_certifications_reveal_clear_consiste" title="cue_s07_c1_certifications_reveal_clear_consiste" descr="cue_s07_c1_certifications_reveal_clear_consiste The certifications reveal clear and consistent winners. On Freeway, RadialRL achieves the highest certified radius across every smoothing level, because it explicitly optimizes against worst-case perturbations."/>
          <p:cNvSpPr/>
          <p:nvPr/>
        </p:nvSpPr>
        <p:spPr>
          <a:xfrm>
            <a:off x="609600" y="150464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2_pong_sa_mdp_convex_relaxation_most" title="cue_s07_c2_pong_sa_mdp_convex_relaxation_most" descr="cue_s07_c2_pong_sa_mdp_convex_relaxation_most On Pong, SA-MDP with the convex relaxation is the most certifiably robust."/>
          <p:cNvSpPr/>
          <p:nvPr/>
        </p:nvSpPr>
        <p:spPr>
          <a:xfrm>
            <a:off x="609600" y="308610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3_encouragingly_these_certified_rankin" title="cue_s07_c3_encouragingly_these_certified_rankin" descr="cue_s07_c3_encouragingly_these_certified_rankin Encouragingly, these certified rankings largely agree with what people had observed empirically, which builds confidence in the certificates."/>
          <p:cNvSpPr/>
          <p:nvPr/>
        </p:nvSpPr>
        <p:spPr>
          <a:xfrm>
            <a:off x="4344009" y="308610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4_analysis_also_surfaces_new_structure" title="cue_s07_c4_analysis_also_surfaces_new_structure" descr="cue_s07_c4_analysis_also_surfaces_new_structure The analysis also surfaces new structure: on Pong every method shows a periodic pattern in its certified radius over time, with robustness peaking at confident states such as when the ball flies toward the paddle, an insight that could guide future robust trai"/>
          <p:cNvSpPr/>
          <p:nvPr/>
        </p:nvSpPr>
        <p:spPr>
          <a:xfrm>
            <a:off x="8077200" y="3086100"/>
            <a:ext cx="3505199"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637831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Tuning sigma and the tightness of bounds</a:t>
            </a:r>
          </a:p>
        </p:txBody>
      </p:sp>
      <p:grpSp>
        <p:nvGrpSpPr>
          <p:cNvPr id="22" name="Group 22"/>
          <p:cNvGrpSpPr/>
          <p:nvPr/>
        </p:nvGrpSpPr>
        <p:grpSpPr>
          <a:xfrm>
            <a:off x="609600" y="1504950"/>
            <a:ext cx="5334000" cy="1943100"/>
            <a:chOff x="609600" y="1504950"/>
            <a:chExt cx="5334000" cy="1943100"/>
          </a:xfrm>
        </p:grpSpPr>
        <p:sp>
          <p:nvSpPr>
            <p:cNvPr id="5" name="Rectangle 5"/>
            <p:cNvSpPr/>
            <p:nvPr/>
          </p:nvSpPr>
          <p:spPr>
            <a:xfrm>
              <a:off x="609600" y="1504950"/>
              <a:ext cx="5334000" cy="1943100"/>
            </a:xfrm>
            <a:prstGeom prst="roundRect">
              <a:avLst>
                <a:gd name="adj" fmla="val 6863"/>
              </a:avLst>
            </a:prstGeom>
            <a:solidFill>
              <a:schemeClr val="accent5"/>
            </a:solidFill>
            <a:ln w="14288">
              <a:solidFill>
                <a:srgbClr val="284A66"/>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204" y="1737360"/>
              <a:ext cx="3011655"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Freeway: bigger sigma keeps helping</a:t>
              </a:r>
            </a:p>
          </p:txBody>
        </p:sp>
        <p:sp>
          <p:nvSpPr>
            <p:cNvPr id="8" name="TextBox 8"/>
            <p:cNvSpPr txBox="1"/>
            <p:nvPr/>
          </p:nvSpPr>
          <p:spPr>
            <a:xfrm>
              <a:off x="871156" y="2024301"/>
              <a:ext cx="269315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central ablation studies the smoothing</a:t>
              </a:r>
            </a:p>
          </p:txBody>
        </p:sp>
        <p:sp>
          <p:nvSpPr>
            <p:cNvPr id="9" name="TextBox 9"/>
            <p:cNvSpPr txBox="1"/>
            <p:nvPr/>
          </p:nvSpPr>
          <p:spPr>
            <a:xfrm>
              <a:off x="871156" y="2214801"/>
              <a:ext cx="300439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variance sigma. On Freeway, robustness for</a:t>
              </a:r>
            </a:p>
          </p:txBody>
        </p:sp>
        <p:sp>
          <p:nvSpPr>
            <p:cNvPr id="10" name="TextBox 10"/>
            <p:cNvSpPr txBox="1"/>
            <p:nvPr/>
          </p:nvSpPr>
          <p:spPr>
            <a:xfrm>
              <a:off x="871156" y="2405301"/>
              <a:ext cx="294968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SA-MDP and RadialRL keeps rising all the way</a:t>
              </a:r>
            </a:p>
          </p:txBody>
        </p:sp>
        <p:sp>
          <p:nvSpPr>
            <p:cNvPr id="11" name="TextBox 11"/>
            <p:cNvSpPr txBox="1"/>
            <p:nvPr/>
          </p:nvSpPr>
          <p:spPr>
            <a:xfrm>
              <a:off x="871156" y="2595801"/>
              <a:ext cx="102323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to sigma = 1.0.</a:t>
              </a:r>
            </a:p>
          </p:txBody>
        </p:sp>
        <p:sp>
          <p:nvSpPr>
            <p:cNvPr id="12" name="Rectangle 12"/>
            <p:cNvSpPr/>
            <p:nvPr/>
          </p:nvSpPr>
          <p:spPr>
            <a:xfrm>
              <a:off x="3733800" y="1962150"/>
              <a:ext cx="2019300" cy="1333500"/>
            </a:xfrm>
            <a:prstGeom prst="roundRect">
              <a:avLst>
                <a:gd name="adj" fmla="val 5714"/>
              </a:avLst>
            </a:prstGeom>
            <a:solidFill>
              <a:srgbClr val="0E2334"/>
            </a:solidFill>
            <a:ln w="14288">
              <a:solidFill>
                <a:srgbClr val="284A66"/>
              </a:solidFill>
            </a:ln>
          </p:spPr>
        </p:sp>
        <p:sp>
          <p:nvSpPr>
            <p:cNvPr id="13" name="Line 13"/>
            <p:cNvSpPr/>
            <p:nvPr/>
          </p:nvSpPr>
          <p:spPr>
            <a:xfrm>
              <a:off x="4019550" y="3086100"/>
              <a:ext cx="1600200" cy="9525"/>
            </a:xfrm>
            <a:custGeom>
              <a:avLst/>
              <a:gdLst/>
              <a:ahLst/>
              <a:cxnLst/>
              <a:rect l="l" t="t" r="r" b="b"/>
              <a:pathLst>
                <a:path w="1600200" h="9525">
                  <a:moveTo>
                    <a:pt x="0" y="0"/>
                  </a:moveTo>
                  <a:lnTo>
                    <a:pt x="1600200" y="0"/>
                  </a:lnTo>
                </a:path>
              </a:pathLst>
            </a:custGeom>
            <a:noFill/>
            <a:ln w="11430" cap="rnd">
              <a:solidFill>
                <a:srgbClr val="284A66"/>
              </a:solidFill>
            </a:ln>
          </p:spPr>
        </p:sp>
        <p:sp>
          <p:nvSpPr>
            <p:cNvPr id="14" name="Line 14"/>
            <p:cNvSpPr/>
            <p:nvPr/>
          </p:nvSpPr>
          <p:spPr>
            <a:xfrm>
              <a:off x="4019550" y="2114550"/>
              <a:ext cx="9525" cy="971550"/>
            </a:xfrm>
            <a:custGeom>
              <a:avLst/>
              <a:gdLst/>
              <a:ahLst/>
              <a:cxnLst/>
              <a:rect l="l" t="t" r="r" b="b"/>
              <a:pathLst>
                <a:path w="9525" h="971550">
                  <a:moveTo>
                    <a:pt x="0" y="971550"/>
                  </a:moveTo>
                  <a:lnTo>
                    <a:pt x="0" y="0"/>
                  </a:lnTo>
                </a:path>
              </a:pathLst>
            </a:custGeom>
            <a:noFill/>
            <a:ln w="11430" cap="rnd">
              <a:solidFill>
                <a:srgbClr val="284A66"/>
              </a:solidFill>
            </a:ln>
          </p:spPr>
        </p:sp>
        <p:sp>
          <p:nvSpPr>
            <p:cNvPr id="15" name="Polyline 15"/>
            <p:cNvSpPr/>
            <p:nvPr/>
          </p:nvSpPr>
          <p:spPr>
            <a:xfrm>
              <a:off x="4019550" y="2231136"/>
              <a:ext cx="1600200" cy="660654"/>
            </a:xfrm>
            <a:custGeom>
              <a:avLst/>
              <a:gdLst/>
              <a:ahLst/>
              <a:cxnLst/>
              <a:rect l="l" t="t" r="r" b="b"/>
              <a:pathLst>
                <a:path w="1600200" h="660654">
                  <a:moveTo>
                    <a:pt x="0" y="660654"/>
                  </a:moveTo>
                  <a:lnTo>
                    <a:pt x="80010" y="579511"/>
                  </a:lnTo>
                  <a:lnTo>
                    <a:pt x="160020" y="528836"/>
                  </a:lnTo>
                  <a:lnTo>
                    <a:pt x="240030" y="485573"/>
                  </a:lnTo>
                  <a:lnTo>
                    <a:pt x="320040" y="446515"/>
                  </a:lnTo>
                  <a:lnTo>
                    <a:pt x="400050" y="410313"/>
                  </a:lnTo>
                  <a:lnTo>
                    <a:pt x="480060" y="376235"/>
                  </a:lnTo>
                  <a:lnTo>
                    <a:pt x="560070" y="343827"/>
                  </a:lnTo>
                  <a:lnTo>
                    <a:pt x="640080" y="312785"/>
                  </a:lnTo>
                  <a:lnTo>
                    <a:pt x="720090" y="282888"/>
                  </a:lnTo>
                  <a:lnTo>
                    <a:pt x="800100" y="253974"/>
                  </a:lnTo>
                  <a:lnTo>
                    <a:pt x="880110" y="225916"/>
                  </a:lnTo>
                  <a:lnTo>
                    <a:pt x="960120" y="198614"/>
                  </a:lnTo>
                  <a:lnTo>
                    <a:pt x="1040130" y="171987"/>
                  </a:lnTo>
                  <a:lnTo>
                    <a:pt x="1120140" y="145968"/>
                  </a:lnTo>
                  <a:lnTo>
                    <a:pt x="1200150" y="120501"/>
                  </a:lnTo>
                  <a:lnTo>
                    <a:pt x="1280160" y="95539"/>
                  </a:lnTo>
                  <a:lnTo>
                    <a:pt x="1360170" y="71041"/>
                  </a:lnTo>
                  <a:lnTo>
                    <a:pt x="1440180" y="46971"/>
                  </a:lnTo>
                  <a:lnTo>
                    <a:pt x="1520190" y="23300"/>
                  </a:lnTo>
                  <a:lnTo>
                    <a:pt x="1600200" y="0"/>
                  </a:lnTo>
                </a:path>
              </a:pathLst>
            </a:custGeom>
            <a:noFill/>
            <a:ln w="24765" cap="rnd">
              <a:solidFill>
                <a:srgbClr val="33D6C0"/>
              </a:solidFill>
              <a:round/>
            </a:ln>
          </p:spPr>
        </p:sp>
        <p:sp>
          <p:nvSpPr>
            <p:cNvPr id="16" name="Polyline 16"/>
            <p:cNvSpPr/>
            <p:nvPr/>
          </p:nvSpPr>
          <p:spPr>
            <a:xfrm>
              <a:off x="4019550" y="2250567"/>
              <a:ext cx="1600200" cy="738378"/>
            </a:xfrm>
            <a:custGeom>
              <a:avLst/>
              <a:gdLst/>
              <a:ahLst/>
              <a:cxnLst/>
              <a:rect l="l" t="t" r="r" b="b"/>
              <a:pathLst>
                <a:path w="1600200" h="738378">
                  <a:moveTo>
                    <a:pt x="0" y="275458"/>
                  </a:moveTo>
                  <a:lnTo>
                    <a:pt x="80010" y="168346"/>
                  </a:lnTo>
                  <a:lnTo>
                    <a:pt x="160020" y="79511"/>
                  </a:lnTo>
                  <a:lnTo>
                    <a:pt x="240030" y="20629"/>
                  </a:lnTo>
                  <a:lnTo>
                    <a:pt x="320040" y="0"/>
                  </a:lnTo>
                  <a:lnTo>
                    <a:pt x="400050" y="20629"/>
                  </a:lnTo>
                  <a:lnTo>
                    <a:pt x="480060" y="79511"/>
                  </a:lnTo>
                  <a:lnTo>
                    <a:pt x="560070" y="168346"/>
                  </a:lnTo>
                  <a:lnTo>
                    <a:pt x="640080" y="275458"/>
                  </a:lnTo>
                  <a:lnTo>
                    <a:pt x="720090" y="388304"/>
                  </a:lnTo>
                  <a:lnTo>
                    <a:pt x="800100" y="495831"/>
                  </a:lnTo>
                  <a:lnTo>
                    <a:pt x="880110" y="590089"/>
                  </a:lnTo>
                  <a:lnTo>
                    <a:pt x="960120" y="666842"/>
                  </a:lnTo>
                  <a:lnTo>
                    <a:pt x="1040130" y="725248"/>
                  </a:lnTo>
                  <a:lnTo>
                    <a:pt x="1120140" y="738378"/>
                  </a:lnTo>
                  <a:lnTo>
                    <a:pt x="1200150" y="738378"/>
                  </a:lnTo>
                  <a:lnTo>
                    <a:pt x="1280160" y="738378"/>
                  </a:lnTo>
                  <a:lnTo>
                    <a:pt x="1360170" y="738378"/>
                  </a:lnTo>
                  <a:lnTo>
                    <a:pt x="1440180" y="738378"/>
                  </a:lnTo>
                  <a:lnTo>
                    <a:pt x="1520190" y="738378"/>
                  </a:lnTo>
                  <a:lnTo>
                    <a:pt x="1600200" y="738378"/>
                  </a:lnTo>
                </a:path>
              </a:pathLst>
            </a:custGeom>
            <a:noFill/>
            <a:ln w="24765" cap="rnd">
              <a:solidFill>
                <a:schemeClr val="accent2"/>
              </a:solidFill>
              <a:custDash>
                <a:ds d="230769" sp="192308"/>
              </a:custDash>
              <a:round/>
            </a:ln>
          </p:spPr>
        </p:sp>
        <p:sp>
          <p:nvSpPr>
            <p:cNvPr id="17" name="Ellipse 17"/>
            <p:cNvSpPr/>
            <p:nvPr/>
          </p:nvSpPr>
          <p:spPr>
            <a:xfrm>
              <a:off x="4296728" y="2207704"/>
              <a:ext cx="85725" cy="85725"/>
            </a:xfrm>
            <a:prstGeom prst="ellipse">
              <a:avLst/>
            </a:prstGeom>
            <a:solidFill>
              <a:schemeClr val="accent2"/>
            </a:solidFill>
            <a:ln>
              <a:noFill/>
            </a:ln>
          </p:spPr>
        </p:sp>
        <p:sp>
          <p:nvSpPr>
            <p:cNvPr id="18" name="TextBox 18"/>
            <p:cNvSpPr txBox="1"/>
            <p:nvPr/>
          </p:nvSpPr>
          <p:spPr>
            <a:xfrm>
              <a:off x="4391978" y="2116503"/>
              <a:ext cx="484551" cy="140494"/>
            </a:xfrm>
            <a:prstGeom prst="rect">
              <a:avLst/>
            </a:prstGeom>
            <a:noFill/>
            <a:ln>
              <a:noFill/>
            </a:ln>
          </p:spPr>
          <p:txBody>
            <a:bodyPr wrap="none" lIns="0" tIns="0" rIns="0" bIns="0" anchor="t" anchorCtr="0">
              <a:spAutoFit/>
            </a:bodyPr>
            <a:lstStyle/>
            <a:p>
              <a:pPr algn="l"/>
              <a:r>
                <a:rPr lang="en-US" sz="710" b="1" dirty="0">
                  <a:solidFill>
                    <a:schemeClr val="accent2"/>
                  </a:solidFill>
                  <a:latin typeface="+mn-lt"/>
                  <a:ea typeface="+mn-ea"/>
                  <a:cs typeface="+mn-cs"/>
                </a:rPr>
                <a:t>Pong best</a:t>
              </a:r>
            </a:p>
          </p:txBody>
        </p:sp>
        <p:sp>
          <p:nvSpPr>
            <p:cNvPr id="19" name="TextBox 19"/>
            <p:cNvSpPr txBox="1"/>
            <p:nvPr/>
          </p:nvSpPr>
          <p:spPr>
            <a:xfrm>
              <a:off x="5205246" y="2097072"/>
              <a:ext cx="419266" cy="140494"/>
            </a:xfrm>
            <a:prstGeom prst="rect">
              <a:avLst/>
            </a:prstGeom>
            <a:noFill/>
            <a:ln>
              <a:noFill/>
            </a:ln>
          </p:spPr>
          <p:txBody>
            <a:bodyPr wrap="none" lIns="0" tIns="0" rIns="0" bIns="0" anchor="t" anchorCtr="0">
              <a:spAutoFit/>
            </a:bodyPr>
            <a:lstStyle/>
            <a:p>
              <a:pPr algn="r"/>
              <a:r>
                <a:rPr lang="en-US" sz="710" b="1" dirty="0">
                  <a:solidFill>
                    <a:srgbClr val="33D6C0"/>
                  </a:solidFill>
                  <a:latin typeface="+mn-lt"/>
                  <a:ea typeface="+mn-ea"/>
                  <a:cs typeface="+mn-cs"/>
                </a:rPr>
                <a:t>Freeway</a:t>
              </a:r>
            </a:p>
          </p:txBody>
        </p:sp>
        <p:sp>
          <p:nvSpPr>
            <p:cNvPr id="20" name="TextBox 20"/>
            <p:cNvSpPr txBox="1"/>
            <p:nvPr/>
          </p:nvSpPr>
          <p:spPr>
            <a:xfrm>
              <a:off x="3615394" y="2075736"/>
              <a:ext cx="370818"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cert. r</a:t>
              </a:r>
            </a:p>
          </p:txBody>
        </p:sp>
        <p:sp>
          <p:nvSpPr>
            <p:cNvPr id="21" name="TextBox 21"/>
            <p:cNvSpPr txBox="1"/>
            <p:nvPr/>
          </p:nvSpPr>
          <p:spPr>
            <a:xfrm>
              <a:off x="5203515" y="3142536"/>
              <a:ext cx="420998"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sigma -&gt;</a:t>
              </a:r>
            </a:p>
          </p:txBody>
        </p:sp>
      </p:grpSp>
      <p:grpSp>
        <p:nvGrpSpPr>
          <p:cNvPr id="32" name="Group 32"/>
          <p:cNvGrpSpPr/>
          <p:nvPr/>
        </p:nvGrpSpPr>
        <p:grpSpPr>
          <a:xfrm>
            <a:off x="609600" y="3600450"/>
            <a:ext cx="5334000" cy="1638300"/>
            <a:chOff x="609600" y="3600450"/>
            <a:chExt cx="5334000" cy="1638300"/>
          </a:xfrm>
        </p:grpSpPr>
        <p:sp>
          <p:nvSpPr>
            <p:cNvPr id="23" name="Rectangle 23"/>
            <p:cNvSpPr/>
            <p:nvPr/>
          </p:nvSpPr>
          <p:spPr>
            <a:xfrm>
              <a:off x="609600" y="3600450"/>
              <a:ext cx="5334000" cy="1638300"/>
            </a:xfrm>
            <a:prstGeom prst="roundRect">
              <a:avLst>
                <a:gd name="adj" fmla="val 8140"/>
              </a:avLst>
            </a:prstGeom>
            <a:solidFill>
              <a:srgbClr val="2A2417"/>
            </a:solidFill>
            <a:ln w="14288">
              <a:solidFill>
                <a:srgbClr val="F4C24C"/>
              </a:solidFill>
            </a:ln>
          </p:spPr>
        </p:sp>
        <p:sp>
          <p:nvSpPr>
            <p:cNvPr id="24" name="Rectangle 24"/>
            <p:cNvSpPr/>
            <p:nvPr/>
          </p:nvSpPr>
          <p:spPr>
            <a:xfrm>
              <a:off x="609600" y="3600450"/>
              <a:ext cx="57150" cy="1638300"/>
            </a:xfrm>
            <a:prstGeom prst="roundRect">
              <a:avLst>
                <a:gd name="adj" fmla="val 50000"/>
              </a:avLst>
            </a:prstGeom>
            <a:solidFill>
              <a:srgbClr val="F4C24C"/>
            </a:solidFill>
            <a:ln>
              <a:noFill/>
            </a:ln>
          </p:spPr>
        </p:sp>
        <p:sp>
          <p:nvSpPr>
            <p:cNvPr id="25" name="TextBox 25"/>
            <p:cNvSpPr txBox="1"/>
            <p:nvPr/>
          </p:nvSpPr>
          <p:spPr>
            <a:xfrm>
              <a:off x="870585" y="3821906"/>
              <a:ext cx="2407371" cy="220028"/>
            </a:xfrm>
            <a:prstGeom prst="rect">
              <a:avLst/>
            </a:prstGeom>
            <a:noFill/>
            <a:ln>
              <a:noFill/>
            </a:ln>
          </p:spPr>
          <p:txBody>
            <a:bodyPr wrap="none" lIns="0" tIns="0" rIns="0" bIns="0" anchor="t" anchorCtr="0">
              <a:spAutoFit/>
            </a:bodyPr>
            <a:lstStyle/>
            <a:p>
              <a:pPr algn="l"/>
              <a:r>
                <a:rPr lang="en-US" sz="1120" b="1" dirty="0">
                  <a:solidFill>
                    <a:srgbClr val="F4C24C"/>
                  </a:solidFill>
                  <a:latin typeface="+mn-lt"/>
                  <a:ea typeface="+mn-ea"/>
                  <a:cs typeface="+mn-cs"/>
                </a:rPr>
                <a:t>Pong prefers a moderate sigma</a:t>
              </a:r>
            </a:p>
          </p:txBody>
        </p:sp>
        <p:sp>
          <p:nvSpPr>
            <p:cNvPr id="26" name="TextBox 26"/>
            <p:cNvSpPr txBox="1"/>
            <p:nvPr/>
          </p:nvSpPr>
          <p:spPr>
            <a:xfrm>
              <a:off x="871156" y="4100751"/>
              <a:ext cx="4031161"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On Pong the story differs: too much smoothing hurts, and a</a:t>
              </a:r>
            </a:p>
          </p:txBody>
        </p:sp>
        <p:sp>
          <p:nvSpPr>
            <p:cNvPr id="27" name="TextBox 27"/>
            <p:cNvSpPr txBox="1"/>
            <p:nvPr/>
          </p:nvSpPr>
          <p:spPr>
            <a:xfrm>
              <a:off x="871156" y="4291251"/>
              <a:ext cx="404168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moderate sigma between about 0.01 and 0.03 works best for</a:t>
              </a:r>
            </a:p>
          </p:txBody>
        </p:sp>
        <p:sp>
          <p:nvSpPr>
            <p:cNvPr id="28" name="TextBox 28"/>
            <p:cNvSpPr txBox="1"/>
            <p:nvPr/>
          </p:nvSpPr>
          <p:spPr>
            <a:xfrm>
              <a:off x="871156" y="4481751"/>
              <a:ext cx="128836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nearly all methods.</a:t>
              </a:r>
            </a:p>
          </p:txBody>
        </p:sp>
        <p:sp>
          <p:nvSpPr>
            <p:cNvPr id="29" name="Rectangle 29"/>
            <p:cNvSpPr/>
            <p:nvPr/>
          </p:nvSpPr>
          <p:spPr>
            <a:xfrm>
              <a:off x="876300" y="4876800"/>
              <a:ext cx="4457700" cy="266700"/>
            </a:xfrm>
            <a:prstGeom prst="roundRect">
              <a:avLst>
                <a:gd name="adj" fmla="val 28571"/>
              </a:avLst>
            </a:prstGeom>
            <a:solidFill>
              <a:schemeClr val="accent6"/>
            </a:solidFill>
            <a:ln w="14288">
              <a:solidFill>
                <a:srgbClr val="284A66"/>
              </a:solidFill>
            </a:ln>
          </p:spPr>
        </p:sp>
        <p:sp>
          <p:nvSpPr>
            <p:cNvPr id="30" name="Ellipse 30"/>
            <p:cNvSpPr/>
            <p:nvPr/>
          </p:nvSpPr>
          <p:spPr>
            <a:xfrm>
              <a:off x="1000125" y="4962525"/>
              <a:ext cx="95250" cy="95250"/>
            </a:xfrm>
            <a:prstGeom prst="ellipse">
              <a:avLst/>
            </a:prstGeom>
            <a:solidFill>
              <a:srgbClr val="F4C24C"/>
            </a:solidFill>
            <a:ln>
              <a:noFill/>
            </a:ln>
          </p:spPr>
        </p:sp>
        <p:sp>
          <p:nvSpPr>
            <p:cNvPr id="31" name="TextBox 31"/>
            <p:cNvSpPr txBox="1"/>
            <p:nvPr/>
          </p:nvSpPr>
          <p:spPr>
            <a:xfrm>
              <a:off x="1194626" y="4949904"/>
              <a:ext cx="245458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sigma ~ 0.01 - 0.03 best on Pong</a:t>
              </a:r>
            </a:p>
          </p:txBody>
        </p:sp>
      </p:grpSp>
      <p:grpSp>
        <p:nvGrpSpPr>
          <p:cNvPr id="51" name="Group 51"/>
          <p:cNvGrpSpPr/>
          <p:nvPr/>
        </p:nvGrpSpPr>
        <p:grpSpPr>
          <a:xfrm>
            <a:off x="6248400" y="1504950"/>
            <a:ext cx="5334000" cy="1943100"/>
            <a:chOff x="6248400" y="1504950"/>
            <a:chExt cx="5334000" cy="1943100"/>
          </a:xfrm>
        </p:grpSpPr>
        <p:sp>
          <p:nvSpPr>
            <p:cNvPr id="33" name="Rectangle 33"/>
            <p:cNvSpPr/>
            <p:nvPr/>
          </p:nvSpPr>
          <p:spPr>
            <a:xfrm>
              <a:off x="6248400" y="1504950"/>
              <a:ext cx="5334000" cy="1943100"/>
            </a:xfrm>
            <a:prstGeom prst="roundRect">
              <a:avLst>
                <a:gd name="adj" fmla="val 6863"/>
              </a:avLst>
            </a:prstGeom>
            <a:solidFill>
              <a:schemeClr val="accent5"/>
            </a:solidFill>
            <a:ln w="14288">
              <a:solidFill>
                <a:srgbClr val="284A66"/>
              </a:solidFill>
            </a:ln>
          </p:spPr>
        </p:sp>
        <p:sp>
          <p:nvSpPr>
            <p:cNvPr id="34" name="Rectangle 34"/>
            <p:cNvSpPr/>
            <p:nvPr/>
          </p:nvSpPr>
          <p:spPr>
            <a:xfrm>
              <a:off x="6248400" y="1504950"/>
              <a:ext cx="57150" cy="1943100"/>
            </a:xfrm>
            <a:prstGeom prst="roundRect">
              <a:avLst>
                <a:gd name="adj" fmla="val 50000"/>
              </a:avLst>
            </a:prstGeom>
            <a:solidFill>
              <a:srgbClr val="33D6C0"/>
            </a:solidFill>
            <a:ln>
              <a:noFill/>
            </a:ln>
          </p:spPr>
        </p:sp>
        <p:sp>
          <p:nvSpPr>
            <p:cNvPr id="35" name="TextBox 35"/>
            <p:cNvSpPr txBox="1"/>
            <p:nvPr/>
          </p:nvSpPr>
          <p:spPr>
            <a:xfrm>
              <a:off x="6509004" y="1737360"/>
              <a:ext cx="2570771" cy="234696"/>
            </a:xfrm>
            <a:prstGeom prst="rect">
              <a:avLst/>
            </a:prstGeom>
            <a:noFill/>
            <a:ln>
              <a:noFill/>
            </a:ln>
          </p:spPr>
          <p:txBody>
            <a:bodyPr wrap="none" lIns="0" tIns="0" rIns="0" bIns="0" anchor="t" anchorCtr="0">
              <a:spAutoFit/>
            </a:bodyPr>
            <a:lstStyle/>
            <a:p>
              <a:pPr algn="l"/>
              <a:r>
                <a:rPr lang="en-US" sz="1200" b="1" dirty="0">
                  <a:solidFill>
                    <a:srgbClr val="33D6C0"/>
                  </a:solidFill>
                  <a:latin typeface="+mn-lt"/>
                  <a:ea typeface="+mn-ea"/>
                  <a:cs typeface="+mn-cs"/>
                </a:rPr>
                <a:t>Three reward bounds compared</a:t>
              </a:r>
            </a:p>
          </p:txBody>
        </p:sp>
        <p:sp>
          <p:nvSpPr>
            <p:cNvPr id="36" name="TextBox 36"/>
            <p:cNvSpPr txBox="1"/>
            <p:nvPr/>
          </p:nvSpPr>
          <p:spPr>
            <a:xfrm>
              <a:off x="6509956" y="2024301"/>
              <a:ext cx="252091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percentile bound Jp is far tighter</a:t>
              </a:r>
            </a:p>
          </p:txBody>
        </p:sp>
        <p:sp>
          <p:nvSpPr>
            <p:cNvPr id="37" name="TextBox 37"/>
            <p:cNvSpPr txBox="1"/>
            <p:nvPr/>
          </p:nvSpPr>
          <p:spPr>
            <a:xfrm>
              <a:off x="6509956" y="2214801"/>
              <a:ext cx="247373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than the loose expectation bound JE,</a:t>
              </a:r>
            </a:p>
          </p:txBody>
        </p:sp>
        <p:sp>
          <p:nvSpPr>
            <p:cNvPr id="38" name="TextBox 38"/>
            <p:cNvSpPr txBox="1"/>
            <p:nvPr/>
          </p:nvSpPr>
          <p:spPr>
            <a:xfrm>
              <a:off x="6509956" y="2405301"/>
              <a:ext cx="22265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sharpening the certified reward.</a:t>
              </a:r>
            </a:p>
          </p:txBody>
        </p:sp>
        <p:sp>
          <p:nvSpPr>
            <p:cNvPr id="39" name="Rectangle 39"/>
            <p:cNvSpPr/>
            <p:nvPr/>
          </p:nvSpPr>
          <p:spPr>
            <a:xfrm>
              <a:off x="9372600" y="1962150"/>
              <a:ext cx="2095500" cy="1390650"/>
            </a:xfrm>
            <a:prstGeom prst="roundRect">
              <a:avLst>
                <a:gd name="adj" fmla="val 5479"/>
              </a:avLst>
            </a:prstGeom>
            <a:solidFill>
              <a:srgbClr val="0E2334"/>
            </a:solidFill>
            <a:ln w="14288">
              <a:solidFill>
                <a:srgbClr val="284A66"/>
              </a:solidFill>
            </a:ln>
          </p:spPr>
        </p:sp>
        <p:sp>
          <p:nvSpPr>
            <p:cNvPr id="40" name="Line 40"/>
            <p:cNvSpPr/>
            <p:nvPr/>
          </p:nvSpPr>
          <p:spPr>
            <a:xfrm>
              <a:off x="9772650" y="2133600"/>
              <a:ext cx="9525" cy="1009650"/>
            </a:xfrm>
            <a:custGeom>
              <a:avLst/>
              <a:gdLst/>
              <a:ahLst/>
              <a:cxnLst/>
              <a:rect l="l" t="t" r="r" b="b"/>
              <a:pathLst>
                <a:path w="9525" h="1009650">
                  <a:moveTo>
                    <a:pt x="0" y="1009650"/>
                  </a:moveTo>
                  <a:lnTo>
                    <a:pt x="0" y="0"/>
                  </a:lnTo>
                </a:path>
              </a:pathLst>
            </a:custGeom>
            <a:noFill/>
            <a:ln w="11430" cap="rnd">
              <a:solidFill>
                <a:srgbClr val="284A66"/>
              </a:solidFill>
            </a:ln>
          </p:spPr>
        </p:sp>
        <p:sp>
          <p:nvSpPr>
            <p:cNvPr id="41" name="Line 41"/>
            <p:cNvSpPr/>
            <p:nvPr/>
          </p:nvSpPr>
          <p:spPr>
            <a:xfrm>
              <a:off x="9772650" y="3143250"/>
              <a:ext cx="1543050" cy="9525"/>
            </a:xfrm>
            <a:custGeom>
              <a:avLst/>
              <a:gdLst/>
              <a:ahLst/>
              <a:cxnLst/>
              <a:rect l="l" t="t" r="r" b="b"/>
              <a:pathLst>
                <a:path w="1543050" h="9525">
                  <a:moveTo>
                    <a:pt x="0" y="0"/>
                  </a:moveTo>
                  <a:lnTo>
                    <a:pt x="1543050" y="0"/>
                  </a:lnTo>
                </a:path>
              </a:pathLst>
            </a:custGeom>
            <a:noFill/>
            <a:ln w="11430" cap="rnd">
              <a:solidFill>
                <a:srgbClr val="284A66"/>
              </a:solidFill>
            </a:ln>
          </p:spPr>
        </p:sp>
        <p:sp>
          <p:nvSpPr>
            <p:cNvPr id="42" name="Line 42"/>
            <p:cNvSpPr/>
            <p:nvPr/>
          </p:nvSpPr>
          <p:spPr>
            <a:xfrm>
              <a:off x="9772650" y="2234565"/>
              <a:ext cx="1543050" cy="9525"/>
            </a:xfrm>
            <a:custGeom>
              <a:avLst/>
              <a:gdLst/>
              <a:ahLst/>
              <a:cxnLst/>
              <a:rect l="l" t="t" r="r" b="b"/>
              <a:pathLst>
                <a:path w="1543050" h="9525">
                  <a:moveTo>
                    <a:pt x="0" y="0"/>
                  </a:moveTo>
                  <a:lnTo>
                    <a:pt x="1543050" y="0"/>
                  </a:lnTo>
                </a:path>
              </a:pathLst>
            </a:custGeom>
            <a:noFill/>
            <a:ln w="12382" cap="rnd">
              <a:solidFill>
                <a:srgbClr val="6E869C"/>
              </a:solidFill>
              <a:custDash>
                <a:ds d="461538" sp="384615"/>
              </a:custDash>
            </a:ln>
          </p:spPr>
        </p:sp>
        <p:sp>
          <p:nvSpPr>
            <p:cNvPr id="43" name="TextBox 43"/>
            <p:cNvSpPr txBox="1"/>
            <p:nvPr/>
          </p:nvSpPr>
          <p:spPr>
            <a:xfrm>
              <a:off x="10664638" y="2110026"/>
              <a:ext cx="655824"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empirical PGD</a:t>
              </a:r>
            </a:p>
          </p:txBody>
        </p:sp>
        <p:sp>
          <p:nvSpPr>
            <p:cNvPr id="44" name="Rectangle 44"/>
            <p:cNvSpPr/>
            <p:nvPr/>
          </p:nvSpPr>
          <p:spPr>
            <a:xfrm>
              <a:off x="9915525" y="2799969"/>
              <a:ext cx="323850" cy="343281"/>
            </a:xfrm>
            <a:prstGeom prst="roundRect">
              <a:avLst>
                <a:gd name="adj" fmla="val 11765"/>
              </a:avLst>
            </a:prstGeom>
            <a:solidFill>
              <a:srgbClr val="F2685C">
                <a:alpha val="90000"/>
              </a:srgbClr>
            </a:solidFill>
            <a:ln>
              <a:noFill/>
            </a:ln>
          </p:spPr>
        </p:sp>
        <p:sp>
          <p:nvSpPr>
            <p:cNvPr id="45" name="TextBox 45"/>
            <p:cNvSpPr txBox="1"/>
            <p:nvPr/>
          </p:nvSpPr>
          <p:spPr>
            <a:xfrm>
              <a:off x="10005330" y="3187541"/>
              <a:ext cx="144241" cy="161925"/>
            </a:xfrm>
            <a:prstGeom prst="rect">
              <a:avLst/>
            </a:prstGeom>
            <a:noFill/>
            <a:ln>
              <a:noFill/>
            </a:ln>
          </p:spPr>
          <p:txBody>
            <a:bodyPr wrap="none" lIns="0" tIns="0" rIns="0" bIns="0" anchor="t" anchorCtr="0">
              <a:spAutoFit/>
            </a:bodyPr>
            <a:lstStyle/>
            <a:p>
              <a:pPr algn="ctr"/>
              <a:r>
                <a:rPr lang="en-US" sz="820" b="1" dirty="0">
                  <a:solidFill>
                    <a:srgbClr val="F2685C"/>
                  </a:solidFill>
                  <a:latin typeface="Consolas"/>
                  <a:ea typeface="Consolas"/>
                  <a:cs typeface="Consolas"/>
                </a:rPr>
                <a:t>JE</a:t>
              </a:r>
            </a:p>
          </p:txBody>
        </p:sp>
        <p:sp>
          <p:nvSpPr>
            <p:cNvPr id="46" name="Rectangle 46"/>
            <p:cNvSpPr/>
            <p:nvPr/>
          </p:nvSpPr>
          <p:spPr>
            <a:xfrm>
              <a:off x="10382250" y="2517267"/>
              <a:ext cx="323850" cy="625983"/>
            </a:xfrm>
            <a:prstGeom prst="roundRect">
              <a:avLst>
                <a:gd name="adj" fmla="val 11765"/>
              </a:avLst>
            </a:prstGeom>
            <a:solidFill>
              <a:srgbClr val="F4C24C">
                <a:alpha val="90000"/>
              </a:srgbClr>
            </a:solidFill>
            <a:ln>
              <a:noFill/>
            </a:ln>
          </p:spPr>
        </p:sp>
        <p:sp>
          <p:nvSpPr>
            <p:cNvPr id="47" name="TextBox 47"/>
            <p:cNvSpPr txBox="1"/>
            <p:nvPr/>
          </p:nvSpPr>
          <p:spPr>
            <a:xfrm>
              <a:off x="10473859" y="3187541"/>
              <a:ext cx="140632" cy="161925"/>
            </a:xfrm>
            <a:prstGeom prst="rect">
              <a:avLst/>
            </a:prstGeom>
            <a:noFill/>
            <a:ln>
              <a:noFill/>
            </a:ln>
          </p:spPr>
          <p:txBody>
            <a:bodyPr wrap="none" lIns="0" tIns="0" rIns="0" bIns="0" anchor="t" anchorCtr="0">
              <a:spAutoFit/>
            </a:bodyPr>
            <a:lstStyle/>
            <a:p>
              <a:pPr algn="ctr"/>
              <a:r>
                <a:rPr lang="en-US" sz="820" b="1" dirty="0">
                  <a:solidFill>
                    <a:srgbClr val="F4C24C"/>
                  </a:solidFill>
                  <a:latin typeface="Consolas"/>
                  <a:ea typeface="Consolas"/>
                  <a:cs typeface="Consolas"/>
                </a:rPr>
                <a:t>Jp</a:t>
              </a:r>
            </a:p>
          </p:txBody>
        </p:sp>
        <p:sp>
          <p:nvSpPr>
            <p:cNvPr id="48" name="Rectangle 48"/>
            <p:cNvSpPr/>
            <p:nvPr/>
          </p:nvSpPr>
          <p:spPr>
            <a:xfrm>
              <a:off x="10848975" y="2254758"/>
              <a:ext cx="323850" cy="888492"/>
            </a:xfrm>
            <a:prstGeom prst="roundRect">
              <a:avLst>
                <a:gd name="adj" fmla="val 11765"/>
              </a:avLst>
            </a:prstGeom>
            <a:solidFill>
              <a:srgbClr val="46C98B">
                <a:alpha val="90000"/>
              </a:srgbClr>
            </a:solidFill>
            <a:ln>
              <a:noFill/>
            </a:ln>
          </p:spPr>
        </p:sp>
        <p:sp>
          <p:nvSpPr>
            <p:cNvPr id="49" name="TextBox 49"/>
            <p:cNvSpPr txBox="1"/>
            <p:nvPr/>
          </p:nvSpPr>
          <p:spPr>
            <a:xfrm>
              <a:off x="10972459" y="3187541"/>
              <a:ext cx="76883" cy="161925"/>
            </a:xfrm>
            <a:prstGeom prst="rect">
              <a:avLst/>
            </a:prstGeom>
            <a:noFill/>
            <a:ln>
              <a:noFill/>
            </a:ln>
          </p:spPr>
          <p:txBody>
            <a:bodyPr wrap="none" lIns="0" tIns="0" rIns="0" bIns="0" anchor="t" anchorCtr="0">
              <a:spAutoFit/>
            </a:bodyPr>
            <a:lstStyle/>
            <a:p>
              <a:pPr algn="ctr"/>
              <a:r>
                <a:rPr lang="en-US" sz="820" b="1" dirty="0">
                  <a:solidFill>
                    <a:srgbClr val="46C98B"/>
                  </a:solidFill>
                  <a:latin typeface="Consolas"/>
                  <a:ea typeface="Consolas"/>
                  <a:cs typeface="Consolas"/>
                </a:rPr>
                <a:t>J</a:t>
              </a:r>
            </a:p>
          </p:txBody>
        </p:sp>
        <p:sp>
          <p:nvSpPr>
            <p:cNvPr id="50" name="TextBox 50"/>
            <p:cNvSpPr txBox="1"/>
            <p:nvPr/>
          </p:nvSpPr>
          <p:spPr>
            <a:xfrm>
              <a:off x="9359480" y="2075736"/>
              <a:ext cx="360782" cy="140494"/>
            </a:xfrm>
            <a:prstGeom prst="rect">
              <a:avLst/>
            </a:prstGeom>
            <a:noFill/>
            <a:ln>
              <a:noFill/>
            </a:ln>
          </p:spPr>
          <p:txBody>
            <a:bodyPr wrap="none" lIns="0" tIns="0" rIns="0" bIns="0" anchor="t" anchorCtr="0">
              <a:spAutoFit/>
            </a:bodyPr>
            <a:lstStyle/>
            <a:p>
              <a:pPr algn="r"/>
              <a:r>
                <a:rPr lang="en-US" sz="710" b="1" dirty="0">
                  <a:solidFill>
                    <a:srgbClr val="6E869C"/>
                  </a:solidFill>
                  <a:latin typeface="+mn-lt"/>
                  <a:ea typeface="+mn-ea"/>
                  <a:cs typeface="+mn-cs"/>
                </a:rPr>
                <a:t>reward</a:t>
              </a:r>
            </a:p>
          </p:txBody>
        </p:sp>
      </p:grpSp>
      <p:grpSp>
        <p:nvGrpSpPr>
          <p:cNvPr id="61" name="Group 61"/>
          <p:cNvGrpSpPr/>
          <p:nvPr/>
        </p:nvGrpSpPr>
        <p:grpSpPr>
          <a:xfrm>
            <a:off x="6248400" y="3600450"/>
            <a:ext cx="5334000" cy="1638300"/>
            <a:chOff x="6248400" y="3600450"/>
            <a:chExt cx="5334000" cy="1638300"/>
          </a:xfrm>
        </p:grpSpPr>
        <p:sp>
          <p:nvSpPr>
            <p:cNvPr id="52" name="Rectangle 52"/>
            <p:cNvSpPr/>
            <p:nvPr/>
          </p:nvSpPr>
          <p:spPr>
            <a:xfrm>
              <a:off x="6248400" y="3600450"/>
              <a:ext cx="5334000" cy="1638300"/>
            </a:xfrm>
            <a:prstGeom prst="roundRect">
              <a:avLst>
                <a:gd name="adj" fmla="val 8140"/>
              </a:avLst>
            </a:prstGeom>
            <a:solidFill>
              <a:srgbClr val="0F2E2B"/>
            </a:solidFill>
            <a:ln w="14288">
              <a:solidFill>
                <a:srgbClr val="46C98B"/>
              </a:solidFill>
            </a:ln>
          </p:spPr>
        </p:sp>
        <p:sp>
          <p:nvSpPr>
            <p:cNvPr id="53" name="Rectangle 53"/>
            <p:cNvSpPr/>
            <p:nvPr/>
          </p:nvSpPr>
          <p:spPr>
            <a:xfrm>
              <a:off x="6248400" y="3600450"/>
              <a:ext cx="57150" cy="1638300"/>
            </a:xfrm>
            <a:prstGeom prst="roundRect">
              <a:avLst>
                <a:gd name="adj" fmla="val 50000"/>
              </a:avLst>
            </a:prstGeom>
            <a:solidFill>
              <a:srgbClr val="46C98B"/>
            </a:solidFill>
            <a:ln>
              <a:noFill/>
            </a:ln>
          </p:spPr>
        </p:sp>
        <p:sp>
          <p:nvSpPr>
            <p:cNvPr id="54" name="TextBox 54"/>
            <p:cNvSpPr txBox="1"/>
            <p:nvPr/>
          </p:nvSpPr>
          <p:spPr>
            <a:xfrm>
              <a:off x="6509194" y="3817858"/>
              <a:ext cx="2337199"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Absolute lower bound is tight</a:t>
              </a:r>
            </a:p>
          </p:txBody>
        </p:sp>
        <p:sp>
          <p:nvSpPr>
            <p:cNvPr id="55" name="TextBox 55"/>
            <p:cNvSpPr txBox="1"/>
            <p:nvPr/>
          </p:nvSpPr>
          <p:spPr>
            <a:xfrm>
              <a:off x="6509956" y="4100751"/>
              <a:ext cx="4074963"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 absolute lower bound from CROP-LoRe often matches the</a:t>
              </a:r>
            </a:p>
          </p:txBody>
        </p:sp>
        <p:sp>
          <p:nvSpPr>
            <p:cNvPr id="56" name="TextBox 56"/>
            <p:cNvSpPr txBox="1"/>
            <p:nvPr/>
          </p:nvSpPr>
          <p:spPr>
            <a:xfrm>
              <a:off x="6509956" y="4291251"/>
              <a:ext cx="3933439"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empirical reward under PGD exactly, a zero gap over a wide</a:t>
              </a:r>
            </a:p>
          </p:txBody>
        </p:sp>
        <p:sp>
          <p:nvSpPr>
            <p:cNvPr id="57" name="TextBox 57"/>
            <p:cNvSpPr txBox="1"/>
            <p:nvPr/>
          </p:nvSpPr>
          <p:spPr>
            <a:xfrm>
              <a:off x="6509956" y="4481751"/>
              <a:ext cx="121358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range of attacks.</a:t>
              </a:r>
            </a:p>
          </p:txBody>
        </p:sp>
        <p:sp>
          <p:nvSpPr>
            <p:cNvPr id="58" name="Rectangle 58"/>
            <p:cNvSpPr/>
            <p:nvPr/>
          </p:nvSpPr>
          <p:spPr>
            <a:xfrm>
              <a:off x="6515100" y="4876800"/>
              <a:ext cx="4838700" cy="266700"/>
            </a:xfrm>
            <a:prstGeom prst="roundRect">
              <a:avLst>
                <a:gd name="adj" fmla="val 28571"/>
              </a:avLst>
            </a:prstGeom>
            <a:solidFill>
              <a:schemeClr val="accent6"/>
            </a:solidFill>
            <a:ln w="14288">
              <a:solidFill>
                <a:srgbClr val="284A66"/>
              </a:solidFill>
            </a:ln>
          </p:spPr>
        </p:sp>
        <p:sp>
          <p:nvSpPr>
            <p:cNvPr id="59" name="Ellipse 59"/>
            <p:cNvSpPr/>
            <p:nvPr/>
          </p:nvSpPr>
          <p:spPr>
            <a:xfrm>
              <a:off x="6638925" y="4962525"/>
              <a:ext cx="95250" cy="95250"/>
            </a:xfrm>
            <a:prstGeom prst="ellipse">
              <a:avLst/>
            </a:prstGeom>
            <a:solidFill>
              <a:srgbClr val="46C98B"/>
            </a:solidFill>
            <a:ln>
              <a:noFill/>
            </a:ln>
          </p:spPr>
        </p:sp>
        <p:sp>
          <p:nvSpPr>
            <p:cNvPr id="60" name="TextBox 60"/>
            <p:cNvSpPr txBox="1"/>
            <p:nvPr/>
          </p:nvSpPr>
          <p:spPr>
            <a:xfrm>
              <a:off x="6833426" y="4949904"/>
              <a:ext cx="384013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zero gap to empirical PGD -&gt; certificates are tight</a:t>
              </a:r>
            </a:p>
          </p:txBody>
        </p:sp>
      </p:grpSp>
      <p:sp>
        <p:nvSpPr>
          <p:cNvPr id="62" name="cue_s08_c1_central_ablation_studies_smoothing_v" title="cue_s08_c1_central_ablation_studies_smoothing_v" descr="cue_s08_c1_central_ablation_studies_smoothing_v A central ablation studies the smoothing variance sigma. On Freeway, robustness for the strong methods keeps improving as sigma grows all the way to one point zero, since Freeway tolerates large noise."/>
          <p:cNvSpPr/>
          <p:nvPr/>
        </p:nvSpPr>
        <p:spPr>
          <a:xfrm>
            <a:off x="609600"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8_c2_pong_story_differs_too_much" title="cue_s08_c2_pong_story_differs_too_much" descr="cue_s08_c2_pong_story_differs_too_much On Pong the story differs: too much smoothing hurts, and a moderate sigma between about zero point zero one and zero point zero three works best for nearly all methods."/>
          <p:cNvSpPr/>
          <p:nvPr/>
        </p:nvSpPr>
        <p:spPr>
          <a:xfrm>
            <a:off x="609600"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3_authors_also_compare_their_three" title="cue_s08_c3_authors_also_compare_their_three" descr="cue_s08_c3_authors_also_compare_their_three The authors also compare their three reward bounds."/>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8_c4_percentile_bound_far_tighter_loose" title="cue_s08_c4_percentile_bound_far_tighter_loose" descr="cue_s08_c4_percentile_bound_far_tighter_loose The percentile bound is far tighter than the loose expectation bound, and the absolute lower bound from CROP-LoRe often matches the empirical reward under PGD attack exactly, a zero gap that demonstrates the certificates are tight rather than merely valid."/>
          <p:cNvSpPr/>
          <p:nvPr/>
        </p:nvSpPr>
        <p:spPr>
          <a:xfrm>
            <a:off x="6248399"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40468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scope in one place</a:t>
            </a:r>
          </a:p>
        </p:txBody>
      </p:sp>
      <p:grpSp>
        <p:nvGrpSpPr>
          <p:cNvPr id="14" name="Group 14"/>
          <p:cNvGrpSpPr/>
          <p:nvPr/>
        </p:nvGrpSpPr>
        <p:grpSpPr>
          <a:xfrm>
            <a:off x="609600" y="1581150"/>
            <a:ext cx="10972800" cy="1257300"/>
            <a:chOff x="609600" y="1581150"/>
            <a:chExt cx="10972800" cy="1257300"/>
          </a:xfrm>
        </p:grpSpPr>
        <p:sp>
          <p:nvSpPr>
            <p:cNvPr id="5" name="Rectangle 5"/>
            <p:cNvSpPr/>
            <p:nvPr/>
          </p:nvSpPr>
          <p:spPr>
            <a:xfrm>
              <a:off x="609600" y="1581150"/>
              <a:ext cx="10972800" cy="1257300"/>
            </a:xfrm>
            <a:prstGeom prst="roundRect">
              <a:avLst>
                <a:gd name="adj" fmla="val 10606"/>
              </a:avLst>
            </a:prstGeom>
            <a:solidFill>
              <a:srgbClr val="0F2E2B"/>
            </a:solidFill>
            <a:ln w="14288">
              <a:solidFill>
                <a:srgbClr val="46C98B"/>
              </a:solidFill>
            </a:ln>
          </p:spPr>
        </p:sp>
        <p:sp>
          <p:nvSpPr>
            <p:cNvPr id="6" name="Rectangle 6"/>
            <p:cNvSpPr/>
            <p:nvPr/>
          </p:nvSpPr>
          <p:spPr>
            <a:xfrm>
              <a:off x="609600" y="1581150"/>
              <a:ext cx="57150" cy="1257300"/>
            </a:xfrm>
            <a:prstGeom prst="roundRect">
              <a:avLst>
                <a:gd name="adj" fmla="val 50000"/>
              </a:avLst>
            </a:prstGeom>
            <a:solidFill>
              <a:srgbClr val="46C98B"/>
            </a:solidFill>
            <a:ln>
              <a:noFill/>
            </a:ln>
          </p:spPr>
        </p:sp>
        <p:sp>
          <p:nvSpPr>
            <p:cNvPr id="7" name="TextBox 7"/>
            <p:cNvSpPr txBox="1"/>
            <p:nvPr/>
          </p:nvSpPr>
          <p:spPr>
            <a:xfrm>
              <a:off x="870014" y="1790462"/>
              <a:ext cx="3884998" cy="242030"/>
            </a:xfrm>
            <a:prstGeom prst="rect">
              <a:avLst/>
            </a:prstGeom>
            <a:noFill/>
            <a:ln>
              <a:noFill/>
            </a:ln>
          </p:spPr>
          <p:txBody>
            <a:bodyPr wrap="none" lIns="0" tIns="0" rIns="0" bIns="0" anchor="t" anchorCtr="0">
              <a:spAutoFit/>
            </a:bodyPr>
            <a:lstStyle/>
            <a:p>
              <a:pPr algn="l"/>
              <a:r>
                <a:rPr lang="en-US" sz="1240" b="1" dirty="0">
                  <a:solidFill>
                    <a:srgbClr val="46C98B"/>
                  </a:solidFill>
                  <a:latin typeface="+mn-lt"/>
                  <a:ea typeface="+mn-ea"/>
                  <a:cs typeface="+mn-cs"/>
                </a:rPr>
                <a:t>First unified robustness certification for RL</a:t>
              </a:r>
            </a:p>
          </p:txBody>
        </p:sp>
        <p:sp>
          <p:nvSpPr>
            <p:cNvPr id="8" name="Rectangle 8"/>
            <p:cNvSpPr/>
            <p:nvPr/>
          </p:nvSpPr>
          <p:spPr>
            <a:xfrm>
              <a:off x="876300" y="2095500"/>
              <a:ext cx="2857500" cy="628650"/>
            </a:xfrm>
            <a:prstGeom prst="roundRect">
              <a:avLst>
                <a:gd name="adj" fmla="val 18182"/>
              </a:avLst>
            </a:prstGeom>
            <a:solidFill>
              <a:schemeClr val="accent6"/>
            </a:solidFill>
            <a:ln w="14288">
              <a:solidFill>
                <a:srgbClr val="284A66"/>
              </a:solidFill>
            </a:ln>
          </p:spPr>
        </p:sp>
        <p:sp>
          <p:nvSpPr>
            <p:cNvPr id="9" name="TextBox 9"/>
            <p:cNvSpPr txBox="1"/>
            <p:nvPr/>
          </p:nvSpPr>
          <p:spPr>
            <a:xfrm>
              <a:off x="1382242" y="2240718"/>
              <a:ext cx="1845616" cy="329161"/>
            </a:xfrm>
            <a:prstGeom prst="rect">
              <a:avLst/>
            </a:prstGeom>
            <a:noFill/>
            <a:ln>
              <a:noFill/>
            </a:ln>
          </p:spPr>
          <p:txBody>
            <a:bodyPr wrap="none" lIns="0" tIns="0" rIns="0" bIns="0" anchor="t" anchorCtr="0">
              <a:spAutoFit/>
            </a:bodyPr>
            <a:lstStyle/>
            <a:p>
              <a:pPr algn="ctr"/>
              <a:r>
                <a:rPr lang="en-US" sz="1680" b="1" dirty="0">
                  <a:solidFill>
                    <a:srgbClr val="46C98B"/>
                  </a:solidFill>
                  <a:latin typeface="+mn-lt"/>
                  <a:ea typeface="+mn-ea"/>
                  <a:cs typeface="+mn-cs"/>
                </a:rPr>
                <a:t>action + reward</a:t>
              </a:r>
            </a:p>
          </p:txBody>
        </p:sp>
        <p:sp>
          <p:nvSpPr>
            <p:cNvPr id="10" name="TextBox 10"/>
            <p:cNvSpPr txBox="1"/>
            <p:nvPr/>
          </p:nvSpPr>
          <p:spPr>
            <a:xfrm>
              <a:off x="1655868" y="2497217"/>
              <a:ext cx="129836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two certified levels</a:t>
              </a:r>
            </a:p>
          </p:txBody>
        </p:sp>
        <p:sp>
          <p:nvSpPr>
            <p:cNvPr id="11" name="Rectangle 11"/>
            <p:cNvSpPr/>
            <p:nvPr/>
          </p:nvSpPr>
          <p:spPr>
            <a:xfrm>
              <a:off x="3905250" y="2095500"/>
              <a:ext cx="7677150" cy="628650"/>
            </a:xfrm>
            <a:prstGeom prst="roundRect">
              <a:avLst>
                <a:gd name="adj" fmla="val 18182"/>
              </a:avLst>
            </a:prstGeom>
            <a:solidFill>
              <a:schemeClr val="accent6"/>
            </a:solidFill>
            <a:ln w="14288">
              <a:solidFill>
                <a:srgbClr val="284A66"/>
              </a:solidFill>
            </a:ln>
          </p:spPr>
        </p:sp>
        <p:sp>
          <p:nvSpPr>
            <p:cNvPr id="12" name="TextBox 12"/>
            <p:cNvSpPr txBox="1"/>
            <p:nvPr/>
          </p:nvSpPr>
          <p:spPr>
            <a:xfrm>
              <a:off x="4090606" y="2252901"/>
              <a:ext cx="60047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CROP works at both the per-state action level and the cumulative-reward level, the first</a:t>
              </a:r>
            </a:p>
          </p:txBody>
        </p:sp>
        <p:sp>
          <p:nvSpPr>
            <p:cNvPr id="13" name="TextBox 13"/>
            <p:cNvSpPr txBox="1"/>
            <p:nvPr/>
          </p:nvSpPr>
          <p:spPr>
            <a:xfrm>
              <a:off x="4090606" y="2443401"/>
              <a:ext cx="13835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framework to do so.</a:t>
              </a:r>
            </a:p>
          </p:txBody>
        </p:sp>
      </p:grpSp>
      <p:grpSp>
        <p:nvGrpSpPr>
          <p:cNvPr id="25" name="Group 25"/>
          <p:cNvGrpSpPr/>
          <p:nvPr/>
        </p:nvGrpSpPr>
        <p:grpSpPr>
          <a:xfrm>
            <a:off x="609600" y="2990850"/>
            <a:ext cx="5334000" cy="1450657"/>
            <a:chOff x="609600" y="2990850"/>
            <a:chExt cx="5334000" cy="1450657"/>
          </a:xfrm>
        </p:grpSpPr>
        <p:sp>
          <p:nvSpPr>
            <p:cNvPr id="15" name="Rectangle 15"/>
            <p:cNvSpPr/>
            <p:nvPr/>
          </p:nvSpPr>
          <p:spPr>
            <a:xfrm>
              <a:off x="609600" y="2990850"/>
              <a:ext cx="5334000" cy="1428750"/>
            </a:xfrm>
            <a:prstGeom prst="roundRect">
              <a:avLst>
                <a:gd name="adj" fmla="val 9333"/>
              </a:avLst>
            </a:prstGeom>
            <a:solidFill>
              <a:schemeClr val="accent5"/>
            </a:solidFill>
            <a:ln w="14288">
              <a:solidFill>
                <a:srgbClr val="284A66"/>
              </a:solidFill>
            </a:ln>
          </p:spPr>
        </p:sp>
        <p:sp>
          <p:nvSpPr>
            <p:cNvPr id="16" name="Rectangle 16"/>
            <p:cNvSpPr/>
            <p:nvPr/>
          </p:nvSpPr>
          <p:spPr>
            <a:xfrm>
              <a:off x="609600" y="2990850"/>
              <a:ext cx="57150" cy="1428750"/>
            </a:xfrm>
            <a:prstGeom prst="roundRect">
              <a:avLst>
                <a:gd name="adj" fmla="val 50000"/>
              </a:avLst>
            </a:prstGeom>
            <a:solidFill>
              <a:schemeClr val="accent2"/>
            </a:solidFill>
            <a:ln>
              <a:noFill/>
            </a:ln>
          </p:spPr>
        </p:sp>
        <p:sp>
          <p:nvSpPr>
            <p:cNvPr id="17" name="TextBox 17"/>
            <p:cNvSpPr txBox="1"/>
            <p:nvPr/>
          </p:nvSpPr>
          <p:spPr>
            <a:xfrm>
              <a:off x="870014" y="3219212"/>
              <a:ext cx="207819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Methods &amp; environments</a:t>
              </a:r>
            </a:p>
          </p:txBody>
        </p:sp>
        <p:sp>
          <p:nvSpPr>
            <p:cNvPr id="18" name="Rectangle 18"/>
            <p:cNvSpPr/>
            <p:nvPr/>
          </p:nvSpPr>
          <p:spPr>
            <a:xfrm>
              <a:off x="876300" y="3505200"/>
              <a:ext cx="2247900" cy="762000"/>
            </a:xfrm>
            <a:prstGeom prst="roundRect">
              <a:avLst>
                <a:gd name="adj" fmla="val 15000"/>
              </a:avLst>
            </a:prstGeom>
            <a:solidFill>
              <a:schemeClr val="accent6"/>
            </a:solidFill>
            <a:ln w="14288">
              <a:solidFill>
                <a:srgbClr val="284A66"/>
              </a:solidFill>
            </a:ln>
          </p:spPr>
        </p:sp>
        <p:sp>
          <p:nvSpPr>
            <p:cNvPr id="19" name="TextBox 19"/>
            <p:cNvSpPr txBox="1"/>
            <p:nvPr/>
          </p:nvSpPr>
          <p:spPr>
            <a:xfrm>
              <a:off x="1910589" y="3681222"/>
              <a:ext cx="179322" cy="398983"/>
            </a:xfrm>
            <a:prstGeom prst="rect">
              <a:avLst/>
            </a:prstGeom>
            <a:noFill/>
            <a:ln>
              <a:noFill/>
            </a:ln>
          </p:spPr>
          <p:txBody>
            <a:bodyPr wrap="none" lIns="0" tIns="0" rIns="0" bIns="0" anchor="t" anchorCtr="0">
              <a:spAutoFit/>
            </a:bodyPr>
            <a:lstStyle/>
            <a:p>
              <a:pPr algn="ctr"/>
              <a:r>
                <a:rPr lang="en-US" sz="2040" b="1" dirty="0">
                  <a:solidFill>
                    <a:schemeClr val="accent2"/>
                  </a:solidFill>
                  <a:latin typeface="+mn-lt"/>
                  <a:ea typeface="+mn-ea"/>
                  <a:cs typeface="+mn-cs"/>
                </a:rPr>
                <a:t>9</a:t>
              </a:r>
            </a:p>
          </p:txBody>
        </p:sp>
        <p:sp>
          <p:nvSpPr>
            <p:cNvPr id="20" name="TextBox 20"/>
            <p:cNvSpPr txBox="1"/>
            <p:nvPr/>
          </p:nvSpPr>
          <p:spPr>
            <a:xfrm>
              <a:off x="1389713" y="4013597"/>
              <a:ext cx="122107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robust RL methods</a:t>
              </a:r>
            </a:p>
          </p:txBody>
        </p:sp>
        <p:sp>
          <p:nvSpPr>
            <p:cNvPr id="21" name="Rectangle 21"/>
            <p:cNvSpPr/>
            <p:nvPr/>
          </p:nvSpPr>
          <p:spPr>
            <a:xfrm>
              <a:off x="3295650" y="3505200"/>
              <a:ext cx="2247900" cy="762000"/>
            </a:xfrm>
            <a:prstGeom prst="roundRect">
              <a:avLst>
                <a:gd name="adj" fmla="val 15000"/>
              </a:avLst>
            </a:prstGeom>
            <a:solidFill>
              <a:schemeClr val="accent6"/>
            </a:solidFill>
            <a:ln w="14288">
              <a:solidFill>
                <a:srgbClr val="284A66"/>
              </a:solidFill>
            </a:ln>
          </p:spPr>
        </p:sp>
        <p:sp>
          <p:nvSpPr>
            <p:cNvPr id="22" name="TextBox 22"/>
            <p:cNvSpPr txBox="1"/>
            <p:nvPr/>
          </p:nvSpPr>
          <p:spPr>
            <a:xfrm>
              <a:off x="4329939" y="3681222"/>
              <a:ext cx="179322" cy="398983"/>
            </a:xfrm>
            <a:prstGeom prst="rect">
              <a:avLst/>
            </a:prstGeom>
            <a:noFill/>
            <a:ln>
              <a:noFill/>
            </a:ln>
          </p:spPr>
          <p:txBody>
            <a:bodyPr wrap="none" lIns="0" tIns="0" rIns="0" bIns="0" anchor="t" anchorCtr="0">
              <a:spAutoFit/>
            </a:bodyPr>
            <a:lstStyle/>
            <a:p>
              <a:pPr algn="ctr"/>
              <a:r>
                <a:rPr lang="en-US" sz="2040" b="1" dirty="0">
                  <a:solidFill>
                    <a:srgbClr val="33D6C0"/>
                  </a:solidFill>
                  <a:latin typeface="+mn-lt"/>
                  <a:ea typeface="+mn-ea"/>
                  <a:cs typeface="+mn-cs"/>
                </a:rPr>
                <a:t>4</a:t>
              </a:r>
            </a:p>
          </p:txBody>
        </p:sp>
        <p:sp>
          <p:nvSpPr>
            <p:cNvPr id="23" name="TextBox 23"/>
            <p:cNvSpPr txBox="1"/>
            <p:nvPr/>
          </p:nvSpPr>
          <p:spPr>
            <a:xfrm>
              <a:off x="3979688" y="4013597"/>
              <a:ext cx="8798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environments</a:t>
              </a:r>
            </a:p>
          </p:txBody>
        </p:sp>
        <p:sp>
          <p:nvSpPr>
            <p:cNvPr id="24" name="TextBox 24"/>
            <p:cNvSpPr txBox="1"/>
            <p:nvPr/>
          </p:nvSpPr>
          <p:spPr>
            <a:xfrm>
              <a:off x="1062038" y="4265295"/>
              <a:ext cx="2279327"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Pong · Freeway · CartPole · Highway</a:t>
              </a:r>
            </a:p>
          </p:txBody>
        </p:sp>
      </p:grpSp>
      <p:grpSp>
        <p:nvGrpSpPr>
          <p:cNvPr id="36" name="Group 36"/>
          <p:cNvGrpSpPr/>
          <p:nvPr/>
        </p:nvGrpSpPr>
        <p:grpSpPr>
          <a:xfrm>
            <a:off x="6248400" y="2990850"/>
            <a:ext cx="5334000" cy="1450657"/>
            <a:chOff x="6248400" y="2990850"/>
            <a:chExt cx="5334000" cy="1450657"/>
          </a:xfrm>
        </p:grpSpPr>
        <p:sp>
          <p:nvSpPr>
            <p:cNvPr id="26" name="Rectangle 26"/>
            <p:cNvSpPr/>
            <p:nvPr/>
          </p:nvSpPr>
          <p:spPr>
            <a:xfrm>
              <a:off x="6248400" y="2990850"/>
              <a:ext cx="5334000" cy="1428750"/>
            </a:xfrm>
            <a:prstGeom prst="roundRect">
              <a:avLst>
                <a:gd name="adj" fmla="val 9333"/>
              </a:avLst>
            </a:prstGeom>
            <a:solidFill>
              <a:srgbClr val="2A2417"/>
            </a:solidFill>
            <a:ln w="14288">
              <a:solidFill>
                <a:srgbClr val="F4C24C"/>
              </a:solidFill>
            </a:ln>
          </p:spPr>
        </p:sp>
        <p:sp>
          <p:nvSpPr>
            <p:cNvPr id="27" name="Rectangle 27"/>
            <p:cNvSpPr/>
            <p:nvPr/>
          </p:nvSpPr>
          <p:spPr>
            <a:xfrm>
              <a:off x="6248400" y="2990850"/>
              <a:ext cx="57150" cy="1428750"/>
            </a:xfrm>
            <a:prstGeom prst="roundRect">
              <a:avLst>
                <a:gd name="adj" fmla="val 50000"/>
              </a:avLst>
            </a:prstGeom>
            <a:solidFill>
              <a:srgbClr val="F4C24C"/>
            </a:solidFill>
            <a:ln>
              <a:noFill/>
            </a:ln>
          </p:spPr>
        </p:sp>
        <p:sp>
          <p:nvSpPr>
            <p:cNvPr id="28" name="TextBox 28"/>
            <p:cNvSpPr txBox="1"/>
            <p:nvPr/>
          </p:nvSpPr>
          <p:spPr>
            <a:xfrm>
              <a:off x="6509004" y="3223260"/>
              <a:ext cx="1926115" cy="234696"/>
            </a:xfrm>
            <a:prstGeom prst="rect">
              <a:avLst/>
            </a:prstGeom>
            <a:noFill/>
            <a:ln>
              <a:noFill/>
            </a:ln>
          </p:spPr>
          <p:txBody>
            <a:bodyPr wrap="none" lIns="0" tIns="0" rIns="0" bIns="0" anchor="t" anchorCtr="0">
              <a:spAutoFit/>
            </a:bodyPr>
            <a:lstStyle/>
            <a:p>
              <a:pPr algn="l"/>
              <a:r>
                <a:rPr lang="en-US" sz="1200" b="1" dirty="0">
                  <a:solidFill>
                    <a:srgbClr val="F4C24C"/>
                  </a:solidFill>
                  <a:latin typeface="+mn-lt"/>
                  <a:ea typeface="+mn-ea"/>
                  <a:cs typeface="+mn-cs"/>
                </a:rPr>
                <a:t>Algorithms &amp; smoothing</a:t>
              </a:r>
            </a:p>
          </p:txBody>
        </p:sp>
        <p:sp>
          <p:nvSpPr>
            <p:cNvPr id="29" name="Rectangle 29"/>
            <p:cNvSpPr/>
            <p:nvPr/>
          </p:nvSpPr>
          <p:spPr>
            <a:xfrm>
              <a:off x="6515100" y="3505200"/>
              <a:ext cx="2247900" cy="762000"/>
            </a:xfrm>
            <a:prstGeom prst="roundRect">
              <a:avLst>
                <a:gd name="adj" fmla="val 15000"/>
              </a:avLst>
            </a:prstGeom>
            <a:solidFill>
              <a:schemeClr val="accent6"/>
            </a:solidFill>
            <a:ln w="14288">
              <a:solidFill>
                <a:srgbClr val="284A66"/>
              </a:solidFill>
            </a:ln>
          </p:spPr>
        </p:sp>
        <p:sp>
          <p:nvSpPr>
            <p:cNvPr id="30" name="TextBox 30"/>
            <p:cNvSpPr txBox="1"/>
            <p:nvPr/>
          </p:nvSpPr>
          <p:spPr>
            <a:xfrm>
              <a:off x="7549389" y="3681222"/>
              <a:ext cx="179322" cy="398983"/>
            </a:xfrm>
            <a:prstGeom prst="rect">
              <a:avLst/>
            </a:prstGeom>
            <a:noFill/>
            <a:ln>
              <a:noFill/>
            </a:ln>
          </p:spPr>
          <p:txBody>
            <a:bodyPr wrap="none" lIns="0" tIns="0" rIns="0" bIns="0" anchor="t" anchorCtr="0">
              <a:spAutoFit/>
            </a:bodyPr>
            <a:lstStyle/>
            <a:p>
              <a:pPr algn="ctr"/>
              <a:r>
                <a:rPr lang="en-US" sz="2040" b="1" dirty="0">
                  <a:solidFill>
                    <a:srgbClr val="F4C24C"/>
                  </a:solidFill>
                  <a:latin typeface="+mn-lt"/>
                  <a:ea typeface="+mn-ea"/>
                  <a:cs typeface="+mn-cs"/>
                </a:rPr>
                <a:t>3</a:t>
              </a:r>
            </a:p>
          </p:txBody>
        </p:sp>
        <p:sp>
          <p:nvSpPr>
            <p:cNvPr id="31" name="TextBox 31"/>
            <p:cNvSpPr txBox="1"/>
            <p:nvPr/>
          </p:nvSpPr>
          <p:spPr>
            <a:xfrm>
              <a:off x="7100963" y="4013597"/>
              <a:ext cx="107617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CROP algorithms</a:t>
              </a:r>
            </a:p>
          </p:txBody>
        </p:sp>
        <p:sp>
          <p:nvSpPr>
            <p:cNvPr id="32" name="Rectangle 32"/>
            <p:cNvSpPr/>
            <p:nvPr/>
          </p:nvSpPr>
          <p:spPr>
            <a:xfrm>
              <a:off x="8934450" y="3505200"/>
              <a:ext cx="2247900" cy="762000"/>
            </a:xfrm>
            <a:prstGeom prst="roundRect">
              <a:avLst>
                <a:gd name="adj" fmla="val 15000"/>
              </a:avLst>
            </a:prstGeom>
            <a:solidFill>
              <a:schemeClr val="accent6"/>
            </a:solidFill>
            <a:ln w="14288">
              <a:solidFill>
                <a:srgbClr val="284A66"/>
              </a:solidFill>
            </a:ln>
          </p:spPr>
        </p:sp>
        <p:sp>
          <p:nvSpPr>
            <p:cNvPr id="33" name="TextBox 33"/>
            <p:cNvSpPr txBox="1"/>
            <p:nvPr/>
          </p:nvSpPr>
          <p:spPr>
            <a:xfrm>
              <a:off x="9175760" y="3681222"/>
              <a:ext cx="1765280" cy="398983"/>
            </a:xfrm>
            <a:prstGeom prst="rect">
              <a:avLst/>
            </a:prstGeom>
            <a:noFill/>
            <a:ln>
              <a:noFill/>
            </a:ln>
          </p:spPr>
          <p:txBody>
            <a:bodyPr wrap="none" lIns="0" tIns="0" rIns="0" bIns="0" anchor="t" anchorCtr="0">
              <a:spAutoFit/>
            </a:bodyPr>
            <a:lstStyle/>
            <a:p>
              <a:pPr algn="ctr"/>
              <a:r>
                <a:rPr lang="en-US" sz="2040" b="1" dirty="0">
                  <a:solidFill>
                    <a:srgbClr val="33D6C0"/>
                  </a:solidFill>
                  <a:latin typeface="+mn-lt"/>
                  <a:ea typeface="+mn-ea"/>
                  <a:cs typeface="+mn-cs"/>
                </a:rPr>
                <a:t>sigma &lt;= 1.0</a:t>
              </a:r>
            </a:p>
          </p:txBody>
        </p:sp>
        <p:sp>
          <p:nvSpPr>
            <p:cNvPr id="34" name="TextBox 34"/>
            <p:cNvSpPr txBox="1"/>
            <p:nvPr/>
          </p:nvSpPr>
          <p:spPr>
            <a:xfrm>
              <a:off x="9689290" y="4013597"/>
              <a:ext cx="73822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on Freeway</a:t>
              </a:r>
            </a:p>
          </p:txBody>
        </p:sp>
        <p:sp>
          <p:nvSpPr>
            <p:cNvPr id="35" name="TextBox 35"/>
            <p:cNvSpPr txBox="1"/>
            <p:nvPr/>
          </p:nvSpPr>
          <p:spPr>
            <a:xfrm>
              <a:off x="6700838" y="4265295"/>
              <a:ext cx="2363469" cy="176212"/>
            </a:xfrm>
            <a:prstGeom prst="rect">
              <a:avLst/>
            </a:prstGeom>
            <a:noFill/>
            <a:ln>
              <a:noFill/>
            </a:ln>
          </p:spPr>
          <p:txBody>
            <a:bodyPr wrap="none" lIns="0" tIns="0" rIns="0" bIns="0" anchor="t" anchorCtr="0">
              <a:spAutoFit/>
            </a:bodyPr>
            <a:lstStyle/>
            <a:p>
              <a:pPr algn="l"/>
              <a:r>
                <a:rPr lang="en-US" sz="900" b="1" dirty="0">
                  <a:solidFill>
                    <a:schemeClr val="dk2"/>
                  </a:solidFill>
                  <a:latin typeface="+mn-lt"/>
                  <a:ea typeface="+mn-ea"/>
                  <a:cs typeface="+mn-cs"/>
                </a:rPr>
                <a:t>CROP-LoAct · CROP-GRe · CROP-LoRe</a:t>
              </a:r>
            </a:p>
          </p:txBody>
        </p:sp>
      </p:grpSp>
      <p:grpSp>
        <p:nvGrpSpPr>
          <p:cNvPr id="43" name="Group 43"/>
          <p:cNvGrpSpPr/>
          <p:nvPr/>
        </p:nvGrpSpPr>
        <p:grpSpPr>
          <a:xfrm>
            <a:off x="609600" y="4572000"/>
            <a:ext cx="10972800" cy="666750"/>
            <a:chOff x="609600" y="4572000"/>
            <a:chExt cx="10972800" cy="666750"/>
          </a:xfrm>
        </p:grpSpPr>
        <p:sp>
          <p:nvSpPr>
            <p:cNvPr id="37" name="Rectangle 37"/>
            <p:cNvSpPr/>
            <p:nvPr/>
          </p:nvSpPr>
          <p:spPr>
            <a:xfrm>
              <a:off x="609600" y="4572000"/>
              <a:ext cx="10972800" cy="666750"/>
            </a:xfrm>
            <a:prstGeom prst="roundRect">
              <a:avLst>
                <a:gd name="adj" fmla="val 20000"/>
              </a:avLst>
            </a:prstGeom>
            <a:solidFill>
              <a:schemeClr val="accent5"/>
            </a:solidFill>
            <a:ln w="14288">
              <a:solidFill>
                <a:srgbClr val="284A66"/>
              </a:solidFill>
            </a:ln>
          </p:spPr>
        </p:sp>
        <p:sp>
          <p:nvSpPr>
            <p:cNvPr id="38" name="Rectangle 38"/>
            <p:cNvSpPr/>
            <p:nvPr/>
          </p:nvSpPr>
          <p:spPr>
            <a:xfrm>
              <a:off x="609600" y="4572000"/>
              <a:ext cx="57150" cy="666750"/>
            </a:xfrm>
            <a:prstGeom prst="roundRect">
              <a:avLst>
                <a:gd name="adj" fmla="val 50000"/>
              </a:avLst>
            </a:prstGeom>
            <a:solidFill>
              <a:srgbClr val="46C98B"/>
            </a:solidFill>
            <a:ln>
              <a:noFill/>
            </a:ln>
          </p:spPr>
        </p:sp>
        <p:sp>
          <p:nvSpPr>
            <p:cNvPr id="39" name="TextBox 39"/>
            <p:cNvSpPr txBox="1"/>
            <p:nvPr/>
          </p:nvSpPr>
          <p:spPr>
            <a:xfrm>
              <a:off x="870394" y="4732258"/>
              <a:ext cx="1681619" cy="227362"/>
            </a:xfrm>
            <a:prstGeom prst="rect">
              <a:avLst/>
            </a:prstGeom>
            <a:noFill/>
            <a:ln>
              <a:noFill/>
            </a:ln>
          </p:spPr>
          <p:txBody>
            <a:bodyPr wrap="none" lIns="0" tIns="0" rIns="0" bIns="0" anchor="t" anchorCtr="0">
              <a:spAutoFit/>
            </a:bodyPr>
            <a:lstStyle/>
            <a:p>
              <a:pPr algn="l"/>
              <a:r>
                <a:rPr lang="en-US" sz="1160" b="1" dirty="0">
                  <a:solidFill>
                    <a:srgbClr val="46C98B"/>
                  </a:solidFill>
                  <a:latin typeface="+mn-lt"/>
                  <a:ea typeface="+mn-ea"/>
                  <a:cs typeface="+mn-cs"/>
                </a:rPr>
                <a:t>Three reward bounds</a:t>
              </a:r>
            </a:p>
          </p:txBody>
        </p:sp>
        <p:sp>
          <p:nvSpPr>
            <p:cNvPr id="40" name="TextBox 40"/>
            <p:cNvSpPr txBox="1"/>
            <p:nvPr/>
          </p:nvSpPr>
          <p:spPr>
            <a:xfrm>
              <a:off x="871156" y="4977051"/>
              <a:ext cx="458738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expectation JE · percentile Jp (p = 50%) · absolute lower bound J</a:t>
              </a:r>
            </a:p>
          </p:txBody>
        </p:sp>
        <p:sp>
          <p:nvSpPr>
            <p:cNvPr id="41" name="Rectangle 41"/>
            <p:cNvSpPr/>
            <p:nvPr/>
          </p:nvSpPr>
          <p:spPr>
            <a:xfrm>
              <a:off x="8229600" y="4686300"/>
              <a:ext cx="3352800" cy="438150"/>
            </a:xfrm>
            <a:prstGeom prst="roundRect">
              <a:avLst>
                <a:gd name="adj" fmla="val 17391"/>
              </a:avLst>
            </a:prstGeom>
            <a:solidFill>
              <a:schemeClr val="accent6"/>
            </a:solidFill>
            <a:ln w="14288">
              <a:solidFill>
                <a:srgbClr val="284A66"/>
              </a:solidFill>
            </a:ln>
          </p:spPr>
        </p:sp>
        <p:sp>
          <p:nvSpPr>
            <p:cNvPr id="42" name="TextBox 42"/>
            <p:cNvSpPr txBox="1"/>
            <p:nvPr/>
          </p:nvSpPr>
          <p:spPr>
            <a:xfrm>
              <a:off x="9024857" y="4849178"/>
              <a:ext cx="1762287"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J = sum gamma^t R(s_t)</a:t>
              </a:r>
            </a:p>
          </p:txBody>
        </p:sp>
      </p:grpSp>
      <p:sp>
        <p:nvSpPr>
          <p:cNvPr id="44" name="cue_s09_c1_few_numbers_capture_scope_crop" title="cue_s09_c1_few_numbers_capture_scope_crop" descr="cue_s09_c1_few_numbers_capture_scope_crop A few numbers capture the scope. CROP is the first unified certification framework for reinforcement learning, working at both the action level and the cumulative-reward level."/>
          <p:cNvSpPr/>
          <p:nvPr/>
        </p:nvSpPr>
        <p:spPr>
          <a:xfrm>
            <a:off x="609600" y="1581454"/>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2_certifies_nine_existing_robust_metho" title="cue_s09_c2_certifies_nine_existing_robust_metho" descr="cue_s09_c2_certifies_nine_existing_robust_metho It certifies nine existing robust RL methods across four environments: Pong, Freeway, CartPole, and Highway."/>
          <p:cNvSpPr/>
          <p:nvPr/>
        </p:nvSpPr>
        <p:spPr>
          <a:xfrm>
            <a:off x="609600" y="2990773"/>
            <a:ext cx="5334000" cy="145046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3_does_three_algorithms_crop_loact_act" title="cue_s09_c3_does_three_algorithms_crop_loact_act" descr="cue_s09_c3_does_three_algorithms_crop_loact_act It does so with three algorithms: CROP-LoAct for actions, and CROP-GRe and CROP-LoRe for reward."/>
          <p:cNvSpPr/>
          <p:nvPr/>
        </p:nvSpPr>
        <p:spPr>
          <a:xfrm>
            <a:off x="6248399" y="2990773"/>
            <a:ext cx="5334000" cy="145046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4_smoothing_variance_pushed_high_one" title="cue_s09_c4_smoothing_variance_pushed_high_one" descr="cue_s09_c4_smoothing_variance_pushed_high_one The smoothing variance is pushed as high as one point zero on Freeway, and reward robustness is reported through three bounds, an expectation bound, a fifty-percent percentile bound, and an absolute lower bound."/>
          <p:cNvSpPr/>
          <p:nvPr/>
        </p:nvSpPr>
        <p:spPr>
          <a:xfrm>
            <a:off x="609600" y="457222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428401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Provable robustness for RL</a:t>
            </a:r>
          </a:p>
        </p:txBody>
      </p:sp>
      <p:grpSp>
        <p:nvGrpSpPr>
          <p:cNvPr id="12" name="Group 12"/>
          <p:cNvGrpSpPr/>
          <p:nvPr/>
        </p:nvGrpSpPr>
        <p:grpSpPr>
          <a:xfrm>
            <a:off x="609600" y="1676400"/>
            <a:ext cx="5334000" cy="1714500"/>
            <a:chOff x="609600" y="1676400"/>
            <a:chExt cx="5334000" cy="1714500"/>
          </a:xfrm>
        </p:grpSpPr>
        <p:sp>
          <p:nvSpPr>
            <p:cNvPr id="5" name="Rectangle 5"/>
            <p:cNvSpPr/>
            <p:nvPr/>
          </p:nvSpPr>
          <p:spPr>
            <a:xfrm>
              <a:off x="609600" y="1676400"/>
              <a:ext cx="5334000" cy="1714500"/>
            </a:xfrm>
            <a:prstGeom prst="roundRect">
              <a:avLst>
                <a:gd name="adj" fmla="val 7778"/>
              </a:avLst>
            </a:prstGeom>
            <a:solidFill>
              <a:schemeClr val="accent5"/>
            </a:solidFill>
            <a:ln w="14288">
              <a:solidFill>
                <a:srgbClr val="284A66"/>
              </a:solidFill>
            </a:ln>
          </p:spPr>
        </p:sp>
        <p:sp>
          <p:nvSpPr>
            <p:cNvPr id="6" name="Rectangle 6"/>
            <p:cNvSpPr/>
            <p:nvPr/>
          </p:nvSpPr>
          <p:spPr>
            <a:xfrm>
              <a:off x="609600" y="1676400"/>
              <a:ext cx="57150" cy="1714500"/>
            </a:xfrm>
            <a:prstGeom prst="roundRect">
              <a:avLst>
                <a:gd name="adj" fmla="val 50000"/>
              </a:avLst>
            </a:prstGeom>
            <a:solidFill>
              <a:schemeClr val="accent2"/>
            </a:solidFill>
            <a:ln>
              <a:noFill/>
            </a:ln>
          </p:spPr>
        </p:sp>
        <p:sp>
          <p:nvSpPr>
            <p:cNvPr id="7" name="Ellipse 7"/>
            <p:cNvSpPr/>
            <p:nvPr/>
          </p:nvSpPr>
          <p:spPr>
            <a:xfrm>
              <a:off x="838200" y="1962150"/>
              <a:ext cx="190500" cy="190500"/>
            </a:xfrm>
            <a:prstGeom prst="ellipse">
              <a:avLst/>
            </a:prstGeom>
            <a:solidFill>
              <a:schemeClr val="accent2"/>
            </a:solidFill>
            <a:ln>
              <a:noFill/>
            </a:ln>
          </p:spPr>
        </p:sp>
        <p:sp>
          <p:nvSpPr>
            <p:cNvPr id="8" name="TextBox 8"/>
            <p:cNvSpPr txBox="1"/>
            <p:nvPr/>
          </p:nvSpPr>
          <p:spPr>
            <a:xfrm>
              <a:off x="1155573" y="1862614"/>
              <a:ext cx="252499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Robustness need not be hope</a:t>
              </a:r>
            </a:p>
          </p:txBody>
        </p:sp>
        <p:sp>
          <p:nvSpPr>
            <p:cNvPr id="9" name="TextBox 9"/>
            <p:cNvSpPr txBox="1"/>
            <p:nvPr/>
          </p:nvSpPr>
          <p:spPr>
            <a:xfrm>
              <a:off x="870966" y="2458402"/>
              <a:ext cx="405120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By smoothing the value function, you can prove an agent's</a:t>
              </a:r>
            </a:p>
          </p:txBody>
        </p:sp>
        <p:sp>
          <p:nvSpPr>
            <p:cNvPr id="10" name="TextBox 10"/>
            <p:cNvSpPr txBox="1"/>
            <p:nvPr/>
          </p:nvSpPr>
          <p:spPr>
            <a:xfrm>
              <a:off x="870966" y="2658428"/>
              <a:ext cx="42087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action stays fixed within a certified radius, not merely hope</a:t>
              </a:r>
            </a:p>
          </p:txBody>
        </p:sp>
        <p:sp>
          <p:nvSpPr>
            <p:cNvPr id="11" name="TextBox 11"/>
            <p:cNvSpPr txBox="1"/>
            <p:nvPr/>
          </p:nvSpPr>
          <p:spPr>
            <a:xfrm>
              <a:off x="870966" y="2858452"/>
              <a:ext cx="5619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does.</a:t>
              </a:r>
            </a:p>
          </p:txBody>
        </p:sp>
      </p:grpSp>
      <p:grpSp>
        <p:nvGrpSpPr>
          <p:cNvPr id="19" name="Group 19"/>
          <p:cNvGrpSpPr/>
          <p:nvPr/>
        </p:nvGrpSpPr>
        <p:grpSpPr>
          <a:xfrm>
            <a:off x="6248400" y="1676400"/>
            <a:ext cx="5334000" cy="1714500"/>
            <a:chOff x="6248400" y="1676400"/>
            <a:chExt cx="5334000" cy="1714500"/>
          </a:xfrm>
        </p:grpSpPr>
        <p:sp>
          <p:nvSpPr>
            <p:cNvPr id="13" name="Rectangle 13"/>
            <p:cNvSpPr/>
            <p:nvPr/>
          </p:nvSpPr>
          <p:spPr>
            <a:xfrm>
              <a:off x="6248400" y="1676400"/>
              <a:ext cx="5334000" cy="1714500"/>
            </a:xfrm>
            <a:prstGeom prst="roundRect">
              <a:avLst>
                <a:gd name="adj" fmla="val 7778"/>
              </a:avLst>
            </a:prstGeom>
            <a:solidFill>
              <a:schemeClr val="accent5"/>
            </a:solidFill>
            <a:ln w="14288">
              <a:solidFill>
                <a:srgbClr val="284A66"/>
              </a:solidFill>
            </a:ln>
          </p:spPr>
        </p:sp>
        <p:sp>
          <p:nvSpPr>
            <p:cNvPr id="14" name="Rectangle 14"/>
            <p:cNvSpPr/>
            <p:nvPr/>
          </p:nvSpPr>
          <p:spPr>
            <a:xfrm>
              <a:off x="6248400" y="1676400"/>
              <a:ext cx="57150" cy="1714500"/>
            </a:xfrm>
            <a:prstGeom prst="roundRect">
              <a:avLst>
                <a:gd name="adj" fmla="val 50000"/>
              </a:avLst>
            </a:prstGeom>
            <a:solidFill>
              <a:srgbClr val="33D6C0"/>
            </a:solidFill>
            <a:ln>
              <a:noFill/>
            </a:ln>
          </p:spPr>
        </p:sp>
        <p:sp>
          <p:nvSpPr>
            <p:cNvPr id="15" name="Ellipse 15"/>
            <p:cNvSpPr/>
            <p:nvPr/>
          </p:nvSpPr>
          <p:spPr>
            <a:xfrm>
              <a:off x="6477000" y="1962150"/>
              <a:ext cx="190500" cy="190500"/>
            </a:xfrm>
            <a:prstGeom prst="ellipse">
              <a:avLst/>
            </a:prstGeom>
            <a:solidFill>
              <a:srgbClr val="33D6C0"/>
            </a:solidFill>
            <a:ln>
              <a:noFill/>
            </a:ln>
          </p:spPr>
        </p:sp>
        <p:sp>
          <p:nvSpPr>
            <p:cNvPr id="16" name="TextBox 16"/>
            <p:cNvSpPr txBox="1"/>
            <p:nvPr/>
          </p:nvSpPr>
          <p:spPr>
            <a:xfrm>
              <a:off x="6794373" y="1862614"/>
              <a:ext cx="2117674"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provable reward floor</a:t>
              </a:r>
            </a:p>
          </p:txBody>
        </p:sp>
        <p:sp>
          <p:nvSpPr>
            <p:cNvPr id="17" name="TextBox 17"/>
            <p:cNvSpPr txBox="1"/>
            <p:nvPr/>
          </p:nvSpPr>
          <p:spPr>
            <a:xfrm>
              <a:off x="6509766" y="2458402"/>
              <a:ext cx="42419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You can also prove a lower bound on the reward the agent will</a:t>
              </a:r>
            </a:p>
          </p:txBody>
        </p:sp>
        <p:sp>
          <p:nvSpPr>
            <p:cNvPr id="18" name="TextBox 18"/>
            <p:cNvSpPr txBox="1"/>
            <p:nvPr/>
          </p:nvSpPr>
          <p:spPr>
            <a:xfrm>
              <a:off x="6509766" y="2658428"/>
              <a:ext cx="42794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collect under any bounded attack, across a whole trajectory.</a:t>
              </a:r>
            </a:p>
          </p:txBody>
        </p:sp>
      </p:grpSp>
      <p:grpSp>
        <p:nvGrpSpPr>
          <p:cNvPr id="27" name="Group 27"/>
          <p:cNvGrpSpPr/>
          <p:nvPr/>
        </p:nvGrpSpPr>
        <p:grpSpPr>
          <a:xfrm>
            <a:off x="609600" y="3562350"/>
            <a:ext cx="5334000" cy="1714500"/>
            <a:chOff x="609600" y="3562350"/>
            <a:chExt cx="5334000" cy="1714500"/>
          </a:xfrm>
        </p:grpSpPr>
        <p:sp>
          <p:nvSpPr>
            <p:cNvPr id="20" name="Rectangle 20"/>
            <p:cNvSpPr/>
            <p:nvPr/>
          </p:nvSpPr>
          <p:spPr>
            <a:xfrm>
              <a:off x="609600" y="3562350"/>
              <a:ext cx="5334000" cy="1714500"/>
            </a:xfrm>
            <a:prstGeom prst="roundRect">
              <a:avLst>
                <a:gd name="adj" fmla="val 7778"/>
              </a:avLst>
            </a:prstGeom>
            <a:solidFill>
              <a:schemeClr val="accent5"/>
            </a:solidFill>
            <a:ln w="14288">
              <a:solidFill>
                <a:srgbClr val="284A66"/>
              </a:solidFill>
            </a:ln>
          </p:spPr>
        </p:sp>
        <p:sp>
          <p:nvSpPr>
            <p:cNvPr id="21" name="Rectangle 21"/>
            <p:cNvSpPr/>
            <p:nvPr/>
          </p:nvSpPr>
          <p:spPr>
            <a:xfrm>
              <a:off x="609600" y="3562350"/>
              <a:ext cx="57150" cy="1714500"/>
            </a:xfrm>
            <a:prstGeom prst="roundRect">
              <a:avLst>
                <a:gd name="adj" fmla="val 50000"/>
              </a:avLst>
            </a:prstGeom>
            <a:solidFill>
              <a:srgbClr val="46C98B"/>
            </a:solidFill>
            <a:ln>
              <a:noFill/>
            </a:ln>
          </p:spPr>
        </p:sp>
        <p:sp>
          <p:nvSpPr>
            <p:cNvPr id="22" name="Ellipse 22"/>
            <p:cNvSpPr/>
            <p:nvPr/>
          </p:nvSpPr>
          <p:spPr>
            <a:xfrm>
              <a:off x="838200" y="3848100"/>
              <a:ext cx="190500" cy="190500"/>
            </a:xfrm>
            <a:prstGeom prst="ellipse">
              <a:avLst/>
            </a:prstGeom>
            <a:solidFill>
              <a:srgbClr val="46C98B"/>
            </a:solidFill>
            <a:ln>
              <a:noFill/>
            </a:ln>
          </p:spPr>
        </p:sp>
        <p:sp>
          <p:nvSpPr>
            <p:cNvPr id="23" name="TextBox 23"/>
            <p:cNvSpPr txBox="1"/>
            <p:nvPr/>
          </p:nvSpPr>
          <p:spPr>
            <a:xfrm>
              <a:off x="1155573" y="3748564"/>
              <a:ext cx="222653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Correct, and often tight</a:t>
              </a:r>
            </a:p>
          </p:txBody>
        </p:sp>
        <p:sp>
          <p:nvSpPr>
            <p:cNvPr id="24" name="TextBox 24"/>
            <p:cNvSpPr txBox="1"/>
            <p:nvPr/>
          </p:nvSpPr>
          <p:spPr>
            <a:xfrm>
              <a:off x="870966" y="4344352"/>
              <a:ext cx="39591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Applied to nine methods across four environments, these</a:t>
              </a:r>
            </a:p>
          </p:txBody>
        </p:sp>
        <p:sp>
          <p:nvSpPr>
            <p:cNvPr id="25" name="TextBox 25"/>
            <p:cNvSpPr txBox="1"/>
            <p:nvPr/>
          </p:nvSpPr>
          <p:spPr>
            <a:xfrm>
              <a:off x="870966" y="4544378"/>
              <a:ext cx="416638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certificates are not only correct but often tight, matching</a:t>
              </a:r>
            </a:p>
          </p:txBody>
        </p:sp>
        <p:sp>
          <p:nvSpPr>
            <p:cNvPr id="26" name="TextBox 26"/>
            <p:cNvSpPr txBox="1"/>
            <p:nvPr/>
          </p:nvSpPr>
          <p:spPr>
            <a:xfrm>
              <a:off x="870966" y="4744402"/>
              <a:ext cx="15655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what attacks achieve.</a:t>
              </a:r>
            </a:p>
          </p:txBody>
        </p:sp>
      </p:grpSp>
      <p:grpSp>
        <p:nvGrpSpPr>
          <p:cNvPr id="35" name="Group 35"/>
          <p:cNvGrpSpPr/>
          <p:nvPr/>
        </p:nvGrpSpPr>
        <p:grpSpPr>
          <a:xfrm>
            <a:off x="6248400" y="3562350"/>
            <a:ext cx="5334000" cy="1714500"/>
            <a:chOff x="6248400" y="3562350"/>
            <a:chExt cx="5334000" cy="1714500"/>
          </a:xfrm>
        </p:grpSpPr>
        <p:sp>
          <p:nvSpPr>
            <p:cNvPr id="28" name="Rectangle 28"/>
            <p:cNvSpPr/>
            <p:nvPr/>
          </p:nvSpPr>
          <p:spPr>
            <a:xfrm>
              <a:off x="6248400" y="3562350"/>
              <a:ext cx="5334000" cy="1714500"/>
            </a:xfrm>
            <a:prstGeom prst="roundRect">
              <a:avLst>
                <a:gd name="adj" fmla="val 7778"/>
              </a:avLst>
            </a:prstGeom>
            <a:solidFill>
              <a:schemeClr val="accent5"/>
            </a:solidFill>
            <a:ln w="14288">
              <a:solidFill>
                <a:srgbClr val="284A66"/>
              </a:solidFill>
            </a:ln>
          </p:spPr>
        </p:sp>
        <p:sp>
          <p:nvSpPr>
            <p:cNvPr id="29" name="Rectangle 29"/>
            <p:cNvSpPr/>
            <p:nvPr/>
          </p:nvSpPr>
          <p:spPr>
            <a:xfrm>
              <a:off x="6248400" y="3562350"/>
              <a:ext cx="57150" cy="1714500"/>
            </a:xfrm>
            <a:prstGeom prst="roundRect">
              <a:avLst>
                <a:gd name="adj" fmla="val 50000"/>
              </a:avLst>
            </a:prstGeom>
            <a:solidFill>
              <a:srgbClr val="F4C24C"/>
            </a:solidFill>
            <a:ln>
              <a:noFill/>
            </a:ln>
          </p:spPr>
        </p:sp>
        <p:sp>
          <p:nvSpPr>
            <p:cNvPr id="30" name="Ellipse 30"/>
            <p:cNvSpPr/>
            <p:nvPr/>
          </p:nvSpPr>
          <p:spPr>
            <a:xfrm>
              <a:off x="6477000" y="3848100"/>
              <a:ext cx="190500" cy="190500"/>
            </a:xfrm>
            <a:prstGeom prst="ellipse">
              <a:avLst/>
            </a:prstGeom>
            <a:solidFill>
              <a:srgbClr val="F4C24C"/>
            </a:solidFill>
            <a:ln>
              <a:noFill/>
            </a:ln>
          </p:spPr>
        </p:sp>
        <p:sp>
          <p:nvSpPr>
            <p:cNvPr id="31" name="TextBox 31"/>
            <p:cNvSpPr txBox="1"/>
            <p:nvPr/>
          </p:nvSpPr>
          <p:spPr>
            <a:xfrm>
              <a:off x="6794373" y="3748564"/>
              <a:ext cx="285066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common, provable leaderboard</a:t>
              </a:r>
            </a:p>
          </p:txBody>
        </p:sp>
        <p:sp>
          <p:nvSpPr>
            <p:cNvPr id="32" name="TextBox 32"/>
            <p:cNvSpPr txBox="1"/>
            <p:nvPr/>
          </p:nvSpPr>
          <p:spPr>
            <a:xfrm>
              <a:off x="6509766" y="4344352"/>
              <a:ext cx="40119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CROP turns robust RL into something you can measure and</a:t>
              </a:r>
            </a:p>
          </p:txBody>
        </p:sp>
        <p:sp>
          <p:nvSpPr>
            <p:cNvPr id="33" name="TextBox 33"/>
            <p:cNvSpPr txBox="1"/>
            <p:nvPr/>
          </p:nvSpPr>
          <p:spPr>
            <a:xfrm>
              <a:off x="6509766" y="4544378"/>
              <a:ext cx="427946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compare, inviting the community to certify more methods and</a:t>
              </a:r>
            </a:p>
          </p:txBody>
        </p:sp>
        <p:sp>
          <p:nvSpPr>
            <p:cNvPr id="34" name="TextBox 34"/>
            <p:cNvSpPr txBox="1"/>
            <p:nvPr/>
          </p:nvSpPr>
          <p:spPr>
            <a:xfrm>
              <a:off x="6509766" y="4744402"/>
              <a:ext cx="10142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environments.</a:t>
              </a:r>
            </a:p>
          </p:txBody>
        </p:sp>
      </p:grpSp>
      <p:sp>
        <p:nvSpPr>
          <p:cNvPr id="36" name="Line 36"/>
          <p:cNvSpPr/>
          <p:nvPr/>
        </p:nvSpPr>
        <p:spPr>
          <a:xfrm>
            <a:off x="609600" y="5562600"/>
            <a:ext cx="10972800" cy="9525"/>
          </a:xfrm>
          <a:custGeom>
            <a:avLst/>
            <a:gdLst/>
            <a:ahLst/>
            <a:cxnLst/>
            <a:rect l="l" t="t" r="r" b="b"/>
            <a:pathLst>
              <a:path w="10972800" h="9525">
                <a:moveTo>
                  <a:pt x="0" y="0"/>
                </a:moveTo>
                <a:lnTo>
                  <a:pt x="10972800" y="0"/>
                </a:lnTo>
              </a:path>
            </a:pathLst>
          </a:custGeom>
          <a:noFill/>
          <a:ln w="9525" cap="rnd">
            <a:solidFill>
              <a:srgbClr val="284A66"/>
            </a:solidFill>
          </a:ln>
        </p:spPr>
        <p:txBody>
          <a:bodyPr/>
          <a:p/>
        </p:txBody>
      </p:sp>
      <p:sp>
        <p:nvSpPr>
          <p:cNvPr id="37" name="Ellipse 37"/>
          <p:cNvSpPr/>
          <p:nvPr/>
        </p:nvSpPr>
        <p:spPr>
          <a:xfrm>
            <a:off x="885825" y="5800725"/>
            <a:ext cx="361950" cy="361950"/>
          </a:xfrm>
          <a:prstGeom prst="ellipse">
            <a:avLst/>
          </a:prstGeom>
          <a:noFill/>
          <a:ln w="20955">
            <a:solidFill>
              <a:schemeClr val="accent2"/>
            </a:solidFill>
          </a:ln>
        </p:spPr>
        <p:txBody>
          <a:bodyPr/>
          <a:p/>
        </p:txBody>
      </p:sp>
      <p:sp>
        <p:nvSpPr>
          <p:cNvPr id="38" name="Ellipse 38"/>
          <p:cNvSpPr/>
          <p:nvPr/>
        </p:nvSpPr>
        <p:spPr>
          <a:xfrm>
            <a:off x="790575" y="5705475"/>
            <a:ext cx="552450" cy="552450"/>
          </a:xfrm>
          <a:prstGeom prst="ellipse">
            <a:avLst/>
          </a:prstGeom>
          <a:noFill/>
          <a:ln w="9525">
            <a:solidFill>
              <a:schemeClr val="accent2">
                <a:alpha val="35000"/>
              </a:schemeClr>
            </a:solidFill>
          </a:ln>
        </p:spPr>
        <p:txBody>
          <a:bodyPr/>
          <a:p/>
        </p:txBody>
      </p:sp>
      <p:sp>
        <p:nvSpPr>
          <p:cNvPr id="39" name="Ellipse 39"/>
          <p:cNvSpPr/>
          <p:nvPr/>
        </p:nvSpPr>
        <p:spPr>
          <a:xfrm>
            <a:off x="1019175" y="5934075"/>
            <a:ext cx="95250" cy="95250"/>
          </a:xfrm>
          <a:prstGeom prst="ellipse">
            <a:avLst/>
          </a:prstGeom>
          <a:solidFill>
            <a:srgbClr val="F4C24C"/>
          </a:solidFill>
          <a:ln>
            <a:noFill/>
          </a:ln>
        </p:spPr>
        <p:txBody>
          <a:bodyPr/>
          <a:p/>
        </p:txBody>
      </p:sp>
      <p:sp>
        <p:nvSpPr>
          <p:cNvPr id="40" name="Line 40"/>
          <p:cNvSpPr/>
          <p:nvPr/>
        </p:nvSpPr>
        <p:spPr>
          <a:xfrm>
            <a:off x="1066800" y="5981700"/>
            <a:ext cx="180975" cy="9525"/>
          </a:xfrm>
          <a:custGeom>
            <a:avLst/>
            <a:gdLst/>
            <a:ahLst/>
            <a:cxnLst/>
            <a:rect l="l" t="t" r="r" b="b"/>
            <a:pathLst>
              <a:path w="180975" h="9525">
                <a:moveTo>
                  <a:pt x="0" y="0"/>
                </a:moveTo>
                <a:lnTo>
                  <a:pt x="180975" y="0"/>
                </a:lnTo>
              </a:path>
            </a:pathLst>
          </a:custGeom>
          <a:noFill/>
          <a:ln w="15240" cap="rnd">
            <a:solidFill>
              <a:srgbClr val="F4C24C"/>
            </a:solidFill>
            <a:custDash>
              <a:ds d="312500" sp="250000"/>
            </a:custDash>
          </a:ln>
        </p:spPr>
        <p:txBody>
          <a:bodyPr/>
          <a:p/>
        </p:txBody>
      </p:sp>
      <p:sp>
        <p:nvSpPr>
          <p:cNvPr id="41" name="TextBox 41"/>
          <p:cNvSpPr txBox="1"/>
          <p:nvPr/>
        </p:nvSpPr>
        <p:spPr>
          <a:xfrm>
            <a:off x="1111138" y="5792152"/>
            <a:ext cx="92298" cy="205359"/>
          </a:xfrm>
          <a:prstGeom prst="rect">
            <a:avLst/>
          </a:prstGeom>
          <a:noFill/>
          <a:ln>
            <a:noFill/>
          </a:ln>
        </p:spPr>
        <p:txBody>
          <a:bodyPr wrap="none" lIns="0" tIns="0" rIns="0" bIns="0" anchor="t" anchorCtr="0">
            <a:spAutoFit/>
          </a:bodyPr>
          <a:lstStyle/>
          <a:p>
            <a:pPr algn="ctr"/>
            <a:r>
              <a:rPr lang="en-US" sz="1050" b="1" dirty="0">
                <a:solidFill>
                  <a:srgbClr val="F4C24C"/>
                </a:solidFill>
                <a:latin typeface="Consolas"/>
                <a:ea typeface="Consolas"/>
                <a:cs typeface="Consolas"/>
              </a:rPr>
              <a:t>r</a:t>
            </a:r>
          </a:p>
        </p:txBody>
      </p:sp>
      <p:sp>
        <p:nvSpPr>
          <p:cNvPr id="42" name="TextBox 42"/>
          <p:cNvSpPr txBox="1"/>
          <p:nvPr/>
        </p:nvSpPr>
        <p:spPr>
          <a:xfrm>
            <a:off x="706469" y="5555218"/>
            <a:ext cx="720662" cy="169069"/>
          </a:xfrm>
          <a:prstGeom prst="rect">
            <a:avLst/>
          </a:prstGeom>
          <a:noFill/>
          <a:ln>
            <a:noFill/>
          </a:ln>
        </p:spPr>
        <p:txBody>
          <a:bodyPr wrap="none" lIns="0" tIns="0" rIns="0" bIns="0" anchor="t" anchorCtr="0">
            <a:spAutoFit/>
          </a:bodyPr>
          <a:lstStyle/>
          <a:p>
            <a:pPr algn="ctr"/>
            <a:r>
              <a:rPr lang="en-US" sz="860" b="1" dirty="0">
                <a:solidFill>
                  <a:srgbClr val="33D6C0"/>
                </a:solidFill>
                <a:latin typeface="+mn-lt"/>
                <a:ea typeface="+mn-ea"/>
                <a:cs typeface="+mn-cs"/>
              </a:rPr>
              <a:t>action fixed</a:t>
            </a:r>
          </a:p>
        </p:txBody>
      </p:sp>
      <p:sp>
        <p:nvSpPr>
          <p:cNvPr id="43" name="TextBox 43"/>
          <p:cNvSpPr txBox="1"/>
          <p:nvPr/>
        </p:nvSpPr>
        <p:spPr>
          <a:xfrm>
            <a:off x="843226" y="6279118"/>
            <a:ext cx="447148"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state s</a:t>
            </a:r>
          </a:p>
        </p:txBody>
      </p:sp>
      <p:sp>
        <p:nvSpPr>
          <p:cNvPr id="44" name="TextBox 44"/>
          <p:cNvSpPr txBox="1"/>
          <p:nvPr/>
        </p:nvSpPr>
        <p:spPr>
          <a:xfrm>
            <a:off x="6928699" y="5906452"/>
            <a:ext cx="465903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CROP · Certified Robust RL via Functional Smoothing · ICLR 2022</a:t>
            </a:r>
          </a:p>
        </p:txBody>
      </p:sp>
      <p:sp>
        <p:nvSpPr>
          <p:cNvPr id="45" name="cue_s10_c1_lasting_message_crop_robustness_rein" title="cue_s10_c1_lasting_message_crop_robustness_rein" descr="cue_s10_c1_lasting_message_crop_robustness_rein The lasting message of CROP is that robustness in reinforcement learning need not be a matter of hope."/>
          <p:cNvSpPr/>
          <p:nvPr/>
        </p:nvSpPr>
        <p:spPr>
          <a:xfrm>
            <a:off x="609600" y="167609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10_c2_smoothing_value_function_you_prove" title="cue_s10_c2_smoothing_value_function_you_prove" descr="cue_s10_c2_smoothing_value_function_you_prove By smoothing the value function, you can prove that an agent's action stays fixed within a certified radius, and you can prove a lower bound on the reward it will collect under any bounded attack."/>
          <p:cNvSpPr/>
          <p:nvPr/>
        </p:nvSpPr>
        <p:spPr>
          <a:xfrm>
            <a:off x="6248399" y="167609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10_c3_applied_nine_methods_across_four" title="cue_s10_c3_applied_nine_methods_across_four" descr="cue_s10_c3_applied_nine_methods_across_four Applied to nine methods across four environments, these certificates are not only correct but often tight, matching what attacks achieve."/>
          <p:cNvSpPr/>
          <p:nvPr/>
        </p:nvSpPr>
        <p:spPr>
          <a:xfrm>
            <a:off x="609600" y="35620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10_c4_crop_turns_robust_something_you" title="cue_s10_c4_crop_turns_robust_something_you" descr="cue_s10_c4_crop_turns_robust_something_you CROP turns robust RL into something you can measure and compare on a common, provable leaderboard, and invites the community to certify more methods and more environments in future work."/>
          <p:cNvSpPr/>
          <p:nvPr/>
        </p:nvSpPr>
        <p:spPr>
          <a:xfrm>
            <a:off x="6248399" y="3562045"/>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C1826"/>
      </a:lt1>
      <a:dk2>
        <a:srgbClr val="9DB3C8"/>
      </a:dk2>
      <a:lt2>
        <a:srgbClr val="0C1826"/>
      </a:lt2>
      <a:accent1>
        <a:srgbClr val="3E9BFF"/>
      </a:accent1>
      <a:accent2>
        <a:srgbClr val="3E9BFF"/>
      </a:accent2>
      <a:accent3>
        <a:srgbClr val="3E9BFF"/>
      </a:accent3>
      <a:accent4>
        <a:srgbClr val="8064A2"/>
      </a:accent4>
      <a:accent5>
        <a:srgbClr val="122539"/>
      </a:accent5>
      <a:accent6>
        <a:srgbClr val="173049"/>
      </a:accent6>
      <a:hlink>
        <a:srgbClr val="3E9BFF"/>
      </a:hlink>
      <a:folHlink>
        <a:srgbClr val="3E9BFF"/>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2026-07-16T15:40:15Z</dcterms:created>
  <dcterms:modified xsi:type="dcterms:W3CDTF">2026-07-16T15:40:15Z</dcterms:modified>
  <cp:category/>
  <cp:contentStatus/>
</cp:coreProperties>
</file>
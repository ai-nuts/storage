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802405"/>
          </a:xfrm>
          <a:prstGeom prst="roundRect">
            <a:avLst>
              <a:gd name="adj" fmla="val 2961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5581" y="1844119"/>
            <a:ext cx="3094136" cy="24178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91937" y="1844119"/>
            <a:ext cx="17780" cy="2417802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887" y="5975746"/>
            <a:ext cx="10804961" cy="10516454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3568" y="5975746"/>
            <a:ext cx="13506133" cy="9447709"/>
          </a:xfrm>
          <a:prstGeom prst="roundRect">
            <a:avLst>
              <a:gd name="adj" fmla="val 1756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16421" y="5975746"/>
            <a:ext cx="13506271" cy="24096206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5975746"/>
            <a:ext cx="10804962" cy="24096206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3568" y="15755302"/>
            <a:ext cx="13506133" cy="549374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16824047"/>
            <a:ext cx="10804961" cy="13247905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3568" y="21580891"/>
            <a:ext cx="13506133" cy="8491061"/>
          </a:xfrm>
          <a:prstGeom prst="roundRect">
            <a:avLst>
              <a:gd name="adj" fmla="val 1954"/>
            </a:avLst>
          </a:prstGeom>
          <a:solidFill>
            <a:srgbClr val="EEF0F4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3568" y="21580891"/>
            <a:ext cx="53340" cy="8491061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9991" y="6363850"/>
            <a:ext cx="1002875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7274103"/>
            <a:ext cx="10028753" cy="17780"/>
          </a:xfrm>
          <a:prstGeom prst="rect">
            <a:avLst/>
          </a:prstGeom>
          <a:solidFill>
            <a:srgbClr val="D2D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71672" y="6363850"/>
            <a:ext cx="12729925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271672" y="7274103"/>
            <a:ext cx="12729925" cy="17780"/>
          </a:xfrm>
          <a:prstGeom prst="rect">
            <a:avLst/>
          </a:prstGeom>
          <a:solidFill>
            <a:srgbClr val="D2D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204525" y="6363850"/>
            <a:ext cx="1273006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204525" y="7274103"/>
            <a:ext cx="12730063" cy="17780"/>
          </a:xfrm>
          <a:prstGeom prst="rect">
            <a:avLst/>
          </a:prstGeom>
          <a:solidFill>
            <a:srgbClr val="D2D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137516" y="6363850"/>
            <a:ext cx="10028754" cy="1710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8056423"/>
            <a:ext cx="10028754" cy="17780"/>
          </a:xfrm>
          <a:prstGeom prst="rect">
            <a:avLst/>
          </a:prstGeom>
          <a:solidFill>
            <a:srgbClr val="D2D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204525" y="7742078"/>
            <a:ext cx="12730063" cy="969983"/>
          </a:xfrm>
          <a:prstGeom prst="roundRect">
            <a:avLst>
              <a:gd name="adj" fmla="val 21507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9991" y="7746662"/>
            <a:ext cx="10028753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7746662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137516" y="8547735"/>
            <a:ext cx="10028754" cy="2346821"/>
          </a:xfrm>
          <a:prstGeom prst="roundRect">
            <a:avLst>
              <a:gd name="adj" fmla="val 8889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271672" y="13445430"/>
            <a:ext cx="12729925" cy="1679377"/>
          </a:xfrm>
          <a:prstGeom prst="roundRect">
            <a:avLst>
              <a:gd name="adj" fmla="val 6583"/>
            </a:avLst>
          </a:prstGeom>
          <a:solidFill>
            <a:srgbClr val="F3F4F5"/>
          </a:solidFill>
          <a:ln w="8890">
            <a:solidFill>
              <a:srgbClr val="BD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271672" y="16143406"/>
            <a:ext cx="12729925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271672" y="17053659"/>
            <a:ext cx="12729925" cy="17780"/>
          </a:xfrm>
          <a:prstGeom prst="rect">
            <a:avLst/>
          </a:prstGeom>
          <a:solidFill>
            <a:srgbClr val="D2D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17212151"/>
            <a:ext cx="1002875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18122403"/>
            <a:ext cx="10028753" cy="17780"/>
          </a:xfrm>
          <a:prstGeom prst="rect">
            <a:avLst/>
          </a:prstGeom>
          <a:solidFill>
            <a:srgbClr val="D2D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271672" y="17391479"/>
            <a:ext cx="12729925" cy="3555722"/>
          </a:xfrm>
          <a:prstGeom prst="roundRect">
            <a:avLst>
              <a:gd name="adj" fmla="val 2000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316122" y="21968995"/>
            <a:ext cx="12685475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316122" y="22879248"/>
            <a:ext cx="12685475" cy="17780"/>
          </a:xfrm>
          <a:prstGeom prst="rect">
            <a:avLst/>
          </a:prstGeom>
          <a:solidFill>
            <a:srgbClr val="D2D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316122" y="23326665"/>
            <a:ext cx="12685475" cy="2346821"/>
          </a:xfrm>
          <a:prstGeom prst="roundRect">
            <a:avLst>
              <a:gd name="adj" fmla="val 8889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204525" y="27367865"/>
            <a:ext cx="12730063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204525" y="27367865"/>
            <a:ext cx="12730063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9991" y="27529690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39991" y="27529690"/>
            <a:ext cx="124460" cy="2159020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school-of-computing-ka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1463" y="1166414"/>
            <a:ext cx="1003737" cy="100453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7875844" y="2384325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2524" y="2491005"/>
            <a:ext cx="1801614" cy="180161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529496" y="7903071"/>
            <a:ext cx="143559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204525" y="12571987"/>
            <a:ext cx="12730063" cy="1273006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4525" y="12571987"/>
            <a:ext cx="12730063" cy="1273006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0137516" y="14747815"/>
            <a:ext cx="10028754" cy="10028753"/>
          </a:xfrm>
          <a:prstGeom prst="roundRect">
            <a:avLst>
              <a:gd name="adj" fmla="val 35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igur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37516" y="14747815"/>
            <a:ext cx="10028754" cy="10028753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9371032" y="17613729"/>
            <a:ext cx="5384700" cy="31587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371032" y="17613729"/>
            <a:ext cx="11557" cy="3158728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78677" y="1031101"/>
            <a:ext cx="42754927" cy="2809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319"/>
              </a:lnSpc>
              <a:spcBef>
                <a:spcPts val="0"/>
              </a:spcBef>
              <a:spcAft>
                <a:spcPts val="0"/>
              </a:spcAft>
            </a:pPr>
            <a:r>
              <a:rPr sz="8320" b="1" spc="-85">
                <a:solidFill>
                  <a:srgbClr val="33415E"/>
                </a:solidFill>
                <a:latin typeface="Arial"/>
              </a:rPr>
              <a:t>An Infinite-Width Analysis on the Jacobian-Regularised Training of a Neural</a:t>
            </a:r>
          </a:p>
          <a:p>
            <a:pPr algn="ctr">
              <a:lnSpc>
                <a:spcPts val="9319"/>
              </a:lnSpc>
              <a:spcBef>
                <a:spcPts val="0"/>
              </a:spcBef>
              <a:spcAft>
                <a:spcPts val="0"/>
              </a:spcAft>
            </a:pPr>
            <a:r>
              <a:rPr sz="8320" b="1" spc="-85">
                <a:solidFill>
                  <a:srgbClr val="33415E"/>
                </a:solidFill>
                <a:latin typeface="Arial"/>
              </a:rPr>
              <a:t>Network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78677" y="3746440"/>
            <a:ext cx="42754927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Taeyoung Kim  ·  Hongseok Yang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78677" y="4559458"/>
            <a:ext cx="4275492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School of Computing, KAIST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15581" y="1844119"/>
            <a:ext cx="2582617" cy="1199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33415E"/>
                </a:solidFill>
                <a:latin typeface="Arial"/>
              </a:rPr>
              <a:t>ICML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05793" y="2965370"/>
            <a:ext cx="1366781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1B2331"/>
                </a:solidFill>
                <a:latin typeface="Arial"/>
              </a:rPr>
              <a:t>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30784" y="3849508"/>
            <a:ext cx="1521299" cy="4742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247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403">
                <a:solidFill>
                  <a:srgbClr val="1B2331"/>
                </a:solidFill>
                <a:latin typeface="Arial"/>
              </a:rPr>
              <a:t>POSTER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9991" y="6363850"/>
            <a:ext cx="10329615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Problem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71672" y="6363850"/>
            <a:ext cx="13111822" cy="1067237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Method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204525" y="6363850"/>
            <a:ext cx="1311196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Key Results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137516" y="6363850"/>
            <a:ext cx="10329616" cy="1966905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Accuracy ↔ Robustness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204525" y="7742078"/>
            <a:ext cx="13111964" cy="1115480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Wider ⇒ closer, exactly as the theory predicts.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137516" y="8547735"/>
            <a:ext cx="10329616" cy="2698844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Under Jacobian regularisation, more-accurate eigenfeatures are also more-</a:t>
            </a:r>
            <a:r>
              <a:rPr sz="4106" b="1" i="1">
                <a:solidFill>
                  <a:srgbClr val="FFFFFF"/>
                </a:solidFill>
                <a:latin typeface="Arial"/>
              </a:rPr>
              <a:t>robust</a:t>
            </a:r>
            <a:r>
              <a:rPr sz="4106" b="1">
                <a:solidFill>
                  <a:srgbClr val="FFFFFF"/>
                </a:solidFill>
                <a:latin typeface="Arial"/>
              </a:rPr>
              <a:t> — the two </a:t>
            </a:r>
            <a:r>
              <a:rPr sz="4106" b="1">
                <a:solidFill>
                  <a:srgbClr val="111111"/>
                </a:solidFill>
                <a:latin typeface="Arial"/>
              </a:rPr>
              <a:t>align</a:t>
            </a:r>
            <a:r>
              <a:rPr sz="4106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9496" y="8839160"/>
            <a:ext cx="7552990" cy="2403800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Infinite-width theory describes a network's </a:t>
            </a:r>
            <a:r>
              <a:rPr sz="4106" b="1">
                <a:solidFill>
                  <a:srgbClr val="111111"/>
                </a:solidFill>
                <a:latin typeface="Arial"/>
              </a:rPr>
              <a:t>output</a:t>
            </a:r>
            <a:r>
              <a:rPr sz="4106" b="0">
                <a:solidFill>
                  <a:srgbClr val="1C1C1C"/>
                </a:solidFill>
                <a:latin typeface="Arial"/>
              </a:rPr>
              <a:t> — never its </a:t>
            </a:r>
            <a:r>
              <a:rPr sz="4106" b="1">
                <a:solidFill>
                  <a:srgbClr val="111111"/>
                </a:solidFill>
                <a:latin typeface="Arial"/>
              </a:rPr>
              <a:t>Jacobian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204525" y="8931116"/>
            <a:ext cx="12980337" cy="33347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As MLP width grows, the finite Jacobian NNGP kernel converges to its deterministic limit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and the scaled finite JNTK converges to the limiting JNTK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— confirming </a:t>
            </a:r>
            <a:r>
              <a:rPr sz="4106" b="1">
                <a:solidFill>
                  <a:srgbClr val="111111"/>
                </a:solidFill>
                <a:latin typeface="Arial"/>
              </a:rPr>
              <a:t>Theorems 3.1 &amp; 4.3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137516" y="11048047"/>
            <a:ext cx="10329616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Standard training shows little correlation, and never yields the accurate-but-fragile eigenfeatures reported for the finite NTK (Tsilivis &amp; Kempe, 2022).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9991" y="11310024"/>
            <a:ext cx="10329615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Infinite-width theory (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NNGP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NTK</a:t>
            </a:r>
            <a:r>
              <a:rPr sz="4106" b="0">
                <a:solidFill>
                  <a:srgbClr val="1C1C1C"/>
                </a:solidFill>
                <a:latin typeface="Arial"/>
              </a:rPr>
              <a:t>) explains how a network's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output</a:t>
            </a:r>
            <a:r>
              <a:rPr sz="4106" b="0">
                <a:solidFill>
                  <a:srgbClr val="1C1C1C"/>
                </a:solidFill>
                <a:latin typeface="Arial"/>
              </a:rPr>
              <a:t> initialises and trains — but says nothing about its input–output Jacobian, the object encoding </a:t>
            </a:r>
            <a:r>
              <a:rPr sz="4106" b="1">
                <a:solidFill>
                  <a:srgbClr val="111111"/>
                </a:solidFill>
                <a:latin typeface="Arial"/>
              </a:rPr>
              <a:t>smoothness</a:t>
            </a:r>
            <a:r>
              <a:rPr sz="4106" b="0">
                <a:solidFill>
                  <a:srgbClr val="1C1C1C"/>
                </a:solidFill>
                <a:latin typeface="Arial"/>
              </a:rPr>
              <a:t> and used to enforce robustness to input noise and attacks.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687932" y="14845188"/>
            <a:ext cx="6074182" cy="224916"/>
          </a:xfrm>
          <a:prstGeom prst="rect">
            <a:avLst/>
          </a:prstGeom>
          <a:noFill/>
        </p:spPr>
        <p:txBody>
          <a:bodyPr wrap="square" lIns="193493" rIns="193493" tIns="33170" bIns="33170">
            <a:spAutoFit/>
          </a:bodyPr>
          <a:lstStyle/>
          <a:p>
            <a:pPr algn="ctr">
              <a:lnSpc>
                <a:spcPts val="2082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1">
                <a:solidFill>
                  <a:srgbClr val="555555"/>
                </a:solidFill>
                <a:latin typeface="Cambria Math"/>
              </a:rPr>
              <a:t>robust loss = MSE + λ·Jacobian penalty (wide-limit solution: kernel regression).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271672" y="16143406"/>
            <a:ext cx="13111822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Headline Numbers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17212151"/>
            <a:ext cx="10329615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Motivation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16122" y="21968995"/>
            <a:ext cx="13066039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Takeaway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316122" y="23326665"/>
            <a:ext cx="13066039" cy="2698844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Infinite-width theory now reaches the </a:t>
            </a:r>
            <a:r>
              <a:rPr sz="4106" b="1">
                <a:solidFill>
                  <a:srgbClr val="111111"/>
                </a:solidFill>
                <a:latin typeface="Arial"/>
              </a:rPr>
              <a:t>Jacobian</a:t>
            </a:r>
            <a:r>
              <a:rPr sz="4106" b="1">
                <a:solidFill>
                  <a:srgbClr val="FFFFFF"/>
                </a:solidFill>
                <a:latin typeface="Arial"/>
              </a:rPr>
              <a:t>: robust training of a wide MLP behaves like kernel regression with a Jacobian NTK.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316122" y="25783083"/>
            <a:ext cx="13066039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first infinite-width account of why Jacobian regularisation improves adversarial robustness — making accuracy and robustness </a:t>
            </a:r>
            <a:r>
              <a:rPr sz="4106" b="1">
                <a:solidFill>
                  <a:srgbClr val="111111"/>
                </a:solidFill>
                <a:latin typeface="Arial"/>
              </a:rPr>
              <a:t>align</a:t>
            </a:r>
            <a:r>
              <a:rPr sz="4106" b="0">
                <a:solidFill>
                  <a:srgbClr val="1C1C1C"/>
                </a:solidFill>
                <a:latin typeface="Arial"/>
              </a:rPr>
              <a:t> rather than trade off — plus practical tests for when its key full-rank assumption holds.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137516" y="27321053"/>
            <a:ext cx="10329616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Stronger regularisation tightens the coupling: the penalty </a:t>
            </a:r>
            <a:r>
              <a:rPr sz="4106" b="1">
                <a:solidFill>
                  <a:srgbClr val="111111"/>
                </a:solidFill>
                <a:latin typeface="Arial"/>
              </a:rPr>
              <a:t>aligns</a:t>
            </a:r>
            <a:r>
              <a:rPr sz="4106" b="0">
                <a:solidFill>
                  <a:srgbClr val="1C1C1C"/>
                </a:solidFill>
                <a:latin typeface="Arial"/>
              </a:rPr>
              <a:t> accuracy and robustness rather than trading them off.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04525" y="27367865"/>
            <a:ext cx="13111964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widest net (8192) doesn't yet meet the eigenvalue bound, but the trend implies only wider nets are needed.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91" y="27529690"/>
            <a:ext cx="10329615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 simple penalty on the Jacobian buys robustness — this work explains it from the infinite-width viewpoint.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459528" y="4569876"/>
            <a:ext cx="873034" cy="425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271654" y="7628870"/>
            <a:ext cx="1311184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Tensor programs → GP.</a:t>
            </a:r>
            <a:r>
              <a:rPr sz="4106" b="0">
                <a:solidFill>
                  <a:srgbClr val="1C1C1C"/>
                </a:solidFill>
                <a:latin typeface="Arial"/>
              </a:rPr>
              <a:t> Recast MLP-and-Jacobian convergence as a tensor program → joint GP convergence and the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Jacobian NNGP kernel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271654" y="10168909"/>
            <a:ext cx="13039445" cy="33347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Constant JNTK ⇒ kernel regression.</a:t>
            </a:r>
            <a:r>
              <a:rPr sz="4106" b="0">
                <a:solidFill>
                  <a:srgbClr val="1C1C1C"/>
                </a:solidFill>
                <a:latin typeface="Arial"/>
              </a:rPr>
              <a:t> The JNTK stays constant in the wide limit, so training linearises to a kernel regressor built from the limiting JNTK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</a:t>
            </a:r>
            <a:r>
              <a:rPr sz="4106" b="0">
                <a:solidFill>
                  <a:srgbClr val="1C1C1C"/>
                </a:solidFill>
                <a:latin typeface="Arial"/>
              </a:rPr>
              <a:t>, rescaled by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72" y="18562042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It works — unexplained.</a:t>
            </a:r>
            <a:r>
              <a:rPr sz="4106" b="0">
                <a:solidFill>
                  <a:srgbClr val="1C1C1C"/>
                </a:solidFill>
                <a:latin typeface="Arial"/>
              </a:rPr>
              <a:t> Penalising the Jacobian is a simple, strong adversarial defence, with no theory of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why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72" y="21013181"/>
            <a:ext cx="1032963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The right lens was never applied.</a:t>
            </a:r>
            <a:r>
              <a:rPr sz="4106" b="0">
                <a:solidFill>
                  <a:srgbClr val="1C1C1C"/>
                </a:solidFill>
                <a:latin typeface="Arial"/>
              </a:rPr>
              <a:t> The infinite-width limit that explained standard training had never reached the Jacobian, let alone “robust” training.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72" y="24220527"/>
            <a:ext cx="10329635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Smoothness is the target.</a:t>
            </a:r>
            <a:r>
              <a:rPr sz="4106" b="0">
                <a:solidFill>
                  <a:srgbClr val="1C1C1C"/>
                </a:solidFill>
                <a:latin typeface="Arial"/>
              </a:rPr>
              <a:t> The Jacobian measures output sensitivity to input — exactly what robustness methods control.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538677" y="24926170"/>
            <a:ext cx="9503223" cy="2557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Pairplot of accuracy vs. robustness (0.01 / 0.1 perturbation) over eigenfeatures of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robust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training; colour = coefficient λ. Tight diagonals ⇒ accuracy &amp; robustness rise together.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885582" y="25487213"/>
            <a:ext cx="11708844" cy="194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Max-norm distance between the Jacobian NNGP kernel and its finite estimate vs. width, depth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             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— error falls with width (Thm 3.1).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517536" y="17844869"/>
            <a:ext cx="6468207" cy="1874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3415E"/>
                </a:solidFill>
                <a:latin typeface="Arial"/>
              </a:rPr>
              <a:t>10</a:t>
            </a:r>
            <a:r>
              <a:rPr sz="15680" b="1" spc="-224" baseline="30000">
                <a:solidFill>
                  <a:srgbClr val="33415E"/>
                </a:solidFill>
                <a:latin typeface="Arial"/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517536" y="19498270"/>
            <a:ext cx="6468207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MC samples per covariance estimate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849286" y="17613729"/>
            <a:ext cx="2146959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64–8192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116236" y="17681932"/>
            <a:ext cx="2504500" cy="565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widths (2</a:t>
            </a:r>
            <a:r>
              <a:rPr sz="3920" b="0" baseline="30000">
                <a:solidFill>
                  <a:srgbClr val="555555"/>
                </a:solidFill>
                <a:latin typeface="Arial"/>
              </a:rPr>
              <a:t>6</a:t>
            </a:r>
            <a:r>
              <a:rPr sz="2800" b="0">
                <a:solidFill>
                  <a:srgbClr val="555555"/>
                </a:solidFill>
                <a:latin typeface="Arial"/>
              </a:rPr>
              <a:t>–2</a:t>
            </a:r>
            <a:r>
              <a:rPr sz="3920" b="0" baseline="30000">
                <a:solidFill>
                  <a:srgbClr val="555555"/>
                </a:solidFill>
                <a:latin typeface="Arial"/>
              </a:rPr>
              <a:t>13</a:t>
            </a:r>
            <a:r>
              <a:rPr sz="2800" b="0">
                <a:solidFill>
                  <a:srgbClr val="555555"/>
                </a:solidFill>
                <a:latin typeface="Arial"/>
              </a:rPr>
              <a:t>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849286" y="18434526"/>
            <a:ext cx="169956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λ=0.01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681876" y="18567876"/>
            <a:ext cx="3166071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Jacobian coeff κ=0.1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849286" y="19682043"/>
            <a:ext cx="1242449" cy="125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11 / 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238071" y="19815393"/>
            <a:ext cx="3623190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full-rank depth GeLU/erf</a:t>
            </a:r>
          </a:p>
        </p:txBody>
      </p:sp>
      <p:pic>
        <p:nvPicPr>
          <p:cNvPr id="89" name="Picture 88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7601" y="11601311"/>
            <a:ext cx="488950" cy="737870"/>
          </a:xfrm>
          <a:prstGeom prst="rect">
            <a:avLst/>
          </a:prstGeom>
        </p:spPr>
      </p:pic>
      <p:pic>
        <p:nvPicPr>
          <p:cNvPr id="90" name="Picture 89" descr="e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56956" y="12384186"/>
            <a:ext cx="364490" cy="737870"/>
          </a:xfrm>
          <a:prstGeom prst="rect">
            <a:avLst/>
          </a:prstGeom>
        </p:spPr>
      </p:pic>
      <p:pic>
        <p:nvPicPr>
          <p:cNvPr id="91" name="Picture 90" descr="eq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73920" y="13763664"/>
            <a:ext cx="12325429" cy="778570"/>
          </a:xfrm>
          <a:prstGeom prst="rect">
            <a:avLst/>
          </a:prstGeom>
        </p:spPr>
      </p:pic>
      <p:pic>
        <p:nvPicPr>
          <p:cNvPr id="92" name="Picture 91" descr="eq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44823" y="9607311"/>
            <a:ext cx="1125001" cy="737870"/>
          </a:xfrm>
          <a:prstGeom prst="rect">
            <a:avLst/>
          </a:prstGeom>
        </p:spPr>
      </p:pic>
      <p:pic>
        <p:nvPicPr>
          <p:cNvPr id="93" name="Picture 92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5763" y="10390187"/>
            <a:ext cx="488950" cy="737870"/>
          </a:xfrm>
          <a:prstGeom prst="rect">
            <a:avLst/>
          </a:prstGeom>
        </p:spPr>
      </p:pic>
      <p:pic>
        <p:nvPicPr>
          <p:cNvPr id="94" name="Picture 93" descr="eq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05564" y="26007556"/>
            <a:ext cx="2273339" cy="613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
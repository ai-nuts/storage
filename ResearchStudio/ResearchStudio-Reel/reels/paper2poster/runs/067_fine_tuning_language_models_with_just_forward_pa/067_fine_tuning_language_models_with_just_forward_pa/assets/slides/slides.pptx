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c569d4011e3233d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809149"/>
            <a:ext cx="21109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PRINCETON UNIVERSITY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26795"/>
            <a:ext cx="237698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75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NeurIPS 2023 · arXiv:2305.17333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2074" y="1627822"/>
            <a:ext cx="7399652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4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Fine-Tuning Language Models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2074" y="2142172"/>
            <a:ext cx="6726128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4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with Just Forward Passes</a:t>
            </a:r>
          </a:p>
        </p:txBody>
      </p:sp>
      <p:sp>
        <p:nvSpPr>
          <p:cNvPr id="9" name="Rectangle 9"/>
          <p:cNvSpPr/>
          <p:nvPr/>
        </p:nvSpPr>
        <p:spPr>
          <a:xfrm>
            <a:off x="609600" y="2781300"/>
            <a:ext cx="857250" cy="47625"/>
          </a:xfrm>
          <a:prstGeom prst="roundRect">
            <a:avLst>
              <a:gd name="adj" fmla="val 40000"/>
            </a:avLst>
          </a:prstGeom>
          <a:solidFill>
            <a:srgbClr val="4F8CFF"/>
          </a:solidFill>
          <a:ln>
            <a:noFill/>
          </a:ln>
        </p:spPr>
        <p:txBody>
          <a:bodyPr/>
          <a:p/>
        </p:txBody>
      </p:sp>
      <p:sp>
        <p:nvSpPr>
          <p:cNvPr id="10" name="TextBox 10"/>
          <p:cNvSpPr txBox="1"/>
          <p:nvPr/>
        </p:nvSpPr>
        <p:spPr>
          <a:xfrm>
            <a:off x="601980" y="3114675"/>
            <a:ext cx="53703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9DB0D0"/>
                </a:solidFill>
                <a:latin typeface="+mn-lt"/>
                <a:ea typeface="+mn-ea"/>
                <a:cs typeface="+mn-cs"/>
              </a:rPr>
              <a:t>MeZO — a memory-efficient zeroth-order optimizer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4266" y="3429952"/>
            <a:ext cx="33342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Malladi, Gao, Nichani, Damian, Lee, Chen, Arora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" y="4267200"/>
            <a:ext cx="186690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343400"/>
            <a:ext cx="1714500" cy="1714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738438" y="4779645"/>
            <a:ext cx="1213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150" dirty="0">
                <a:solidFill>
                  <a:srgbClr val="9DB0D0"/>
                </a:solidFill>
                <a:latin typeface="+mn-lt"/>
                <a:ea typeface="+mn-ea"/>
                <a:cs typeface="+mn-cs"/>
              </a:rPr>
              <a:t>SCAN FOR CODE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8247" y="5019199"/>
            <a:ext cx="2213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github.com/princeton-nlp/MeZO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37485" y="5517356"/>
            <a:ext cx="20296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i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Same memory as inference.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477000" y="1428750"/>
            <a:ext cx="5105400" cy="1066800"/>
            <a:chOff x="6477000" y="1428750"/>
            <a:chExt cx="5105400" cy="1066800"/>
          </a:xfrm>
        </p:grpSpPr>
        <p:sp>
          <p:nvSpPr>
            <p:cNvPr id="17" name="Rectangle 17"/>
            <p:cNvSpPr/>
            <p:nvPr/>
          </p:nvSpPr>
          <p:spPr>
            <a:xfrm>
              <a:off x="6477000" y="1428750"/>
              <a:ext cx="51054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7000" y="1581150"/>
              <a:ext cx="47625" cy="762000"/>
            </a:xfrm>
            <a:prstGeom prst="roundRect">
              <a:avLst>
                <a:gd name="adj" fmla="val 4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19697" y="1647349"/>
              <a:ext cx="795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THE COST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18173" y="1881664"/>
              <a:ext cx="38011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Backprop caches activations + gradients → up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18173" y="2110264"/>
              <a:ext cx="2761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to 12× the memory of inference.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77000" y="2647950"/>
            <a:ext cx="5105400" cy="1159478"/>
            <a:chOff x="6477000" y="2647950"/>
            <a:chExt cx="5105400" cy="1159478"/>
          </a:xfrm>
        </p:grpSpPr>
        <p:sp>
          <p:nvSpPr>
            <p:cNvPr id="23" name="Rectangle 23"/>
            <p:cNvSpPr/>
            <p:nvPr/>
          </p:nvSpPr>
          <p:spPr>
            <a:xfrm>
              <a:off x="6477000" y="2647950"/>
              <a:ext cx="51054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7000" y="2800350"/>
              <a:ext cx="47625" cy="76200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19697" y="2866549"/>
              <a:ext cx="730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THE IDEA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18173" y="3100864"/>
              <a:ext cx="34607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MeZO: a memory-efficient zeroth-order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18173" y="3329464"/>
              <a:ext cx="3993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optimizer that fine-tunes with forward passes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8173" y="3558064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only.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77000" y="3867150"/>
            <a:ext cx="5105400" cy="1066800"/>
            <a:chOff x="6477000" y="3867150"/>
            <a:chExt cx="5105400" cy="1066800"/>
          </a:xfrm>
        </p:grpSpPr>
        <p:sp>
          <p:nvSpPr>
            <p:cNvPr id="30" name="Rectangle 30"/>
            <p:cNvSpPr/>
            <p:nvPr/>
          </p:nvSpPr>
          <p:spPr>
            <a:xfrm>
              <a:off x="6477000" y="3867150"/>
              <a:ext cx="51054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7000" y="4019550"/>
              <a:ext cx="47625" cy="76200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9697" y="4085749"/>
              <a:ext cx="730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IN PLACE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18173" y="4320064"/>
              <a:ext cx="3680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Adapts classical zeroth-order SGD to run in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8173" y="4548664"/>
              <a:ext cx="35367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place → training memory equals inference.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5086350"/>
            <a:ext cx="5105400" cy="1066800"/>
            <a:chOff x="6477000" y="5086350"/>
            <a:chExt cx="5105400" cy="1066800"/>
          </a:xfrm>
        </p:grpSpPr>
        <p:sp>
          <p:nvSpPr>
            <p:cNvPr id="36" name="Rectangle 36"/>
            <p:cNvSpPr/>
            <p:nvPr/>
          </p:nvSpPr>
          <p:spPr>
            <a:xfrm>
              <a:off x="6477000" y="5086350"/>
              <a:ext cx="51054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7000" y="5238750"/>
              <a:ext cx="47625" cy="762000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19697" y="5304949"/>
              <a:ext cx="766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AT SCALE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18173" y="5539264"/>
              <a:ext cx="33691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One 80GB A100 trains a 30B model where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8173" y="5767864"/>
              <a:ext cx="2972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backprop with Adam fits only 2.7B.</a:t>
              </a:r>
            </a:p>
          </p:txBody>
        </p:sp>
      </p:grpSp>
      <p:sp>
        <p:nvSpPr>
          <p:cNvPr id="42" name="cue_s01_c1_fine_tuning_large_language_models_no" title="cue_s01_c1_fine_tuning_large_language_models_no" descr="cue_s01_c1_fine_tuning_large_language_models_no Fine-tuning large language models normally requires backpropagation, which stores activations and gradients and consumes enormous memory."/>
          <p:cNvSpPr/>
          <p:nvPr/>
        </p:nvSpPr>
        <p:spPr>
          <a:xfrm>
            <a:off x="6476390" y="1428521"/>
            <a:ext cx="5106009" cy="10671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1_c2_princeton_university_introduces_mezo" title="cue_s01_c2_princeton_university_introduces_mezo" descr="cue_s01_c2_princeton_university_introduces_mezo This paper, from Princeton University, introduces MeZO, a memory-efficient zeroth-order optimizer that fine-tunes language models using only forward passes."/>
          <p:cNvSpPr/>
          <p:nvPr/>
        </p:nvSpPr>
        <p:spPr>
          <a:xfrm>
            <a:off x="6476390" y="2647873"/>
            <a:ext cx="5104790" cy="115968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1_c3_mezo_adapts_classical_zeroth_order_s" title="cue_s01_c3_mezo_adapts_classical_zeroth_order_s" descr="cue_s01_c3_mezo_adapts_classical_zeroth_order_s MeZO adapts the classical zeroth-order SGD method to run in place, so training costs the same memory as inference."/>
          <p:cNvSpPr/>
          <p:nvPr/>
        </p:nvSpPr>
        <p:spPr>
          <a:xfrm>
            <a:off x="6476390" y="3867226"/>
            <a:ext cx="5104790" cy="10671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1_c4_single_80_gigabyte_a100_gpu" title="cue_s01_c4_single_80_gigabyte_a100_gpu" descr="cue_s01_c4_single_80_gigabyte_a100_gpu On a single 80-gigabyte A100 GPU, MeZO can train a 30-billion-parameter model, where backpropagation with Adam fits only a 2.7-billion one. Across many tasks and model scales, MeZO matches fine-tuning performance with up to twelve times less memory."/>
          <p:cNvSpPr/>
          <p:nvPr/>
        </p:nvSpPr>
        <p:spPr>
          <a:xfrm>
            <a:off x="6476390" y="5086578"/>
            <a:ext cx="5104790" cy="10671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2374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THE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602317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The Memory Wall of Fine-Tuning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01 / 10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09600" y="1428750"/>
            <a:ext cx="10972800" cy="628650"/>
            <a:chOff x="609600" y="1428750"/>
            <a:chExt cx="10972800" cy="6286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10972800" cy="628650"/>
            </a:xfrm>
            <a:prstGeom prst="roundRect">
              <a:avLst>
                <a:gd name="adj" fmla="val 2121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32385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392" y="1568768"/>
              <a:ext cx="9406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Fine-tuning drives much of the recent success of language models — but it comes at a steep memory cost.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1916" y="1829752"/>
              <a:ext cx="7394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Adapting a pre-trained model is powerful, yet the hardware bill scales with how you compute the gradient.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2266950"/>
            <a:ext cx="5334000" cy="2857500"/>
            <a:chOff x="609600" y="2266950"/>
            <a:chExt cx="5334000" cy="2857500"/>
          </a:xfrm>
        </p:grpSpPr>
        <p:sp>
          <p:nvSpPr>
            <p:cNvPr id="14" name="Rectangle 14"/>
            <p:cNvSpPr/>
            <p:nvPr/>
          </p:nvSpPr>
          <p:spPr>
            <a:xfrm>
              <a:off x="609600" y="2266950"/>
              <a:ext cx="53340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0392" y="2445068"/>
              <a:ext cx="21959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Where the memory goes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2297" y="2714149"/>
              <a:ext cx="3246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Backpropagation must store, beyond the weights: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23925" y="3000375"/>
              <a:ext cx="95250" cy="95250"/>
            </a:xfrm>
            <a:prstGeom prst="ellipse">
              <a:avLst/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8235" y="2964656"/>
              <a:ext cx="14648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Cached activations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23925" y="3286125"/>
              <a:ext cx="95250" cy="9525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18235" y="3250406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Gradients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23925" y="3571875"/>
              <a:ext cx="95250" cy="9525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18235" y="3536156"/>
              <a:ext cx="1962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Optimizer states (Adam)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2297" y="3914299"/>
              <a:ext cx="2113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Peak memory vs plain inference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57250" y="4095750"/>
              <a:ext cx="349250" cy="247650"/>
            </a:xfrm>
            <a:prstGeom prst="roundRect">
              <a:avLst>
                <a:gd name="adj" fmla="val 19231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96797" y="4161949"/>
              <a:ext cx="860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Inference 1×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57250" y="4457700"/>
              <a:ext cx="4191000" cy="247650"/>
            </a:xfrm>
            <a:prstGeom prst="roundRect">
              <a:avLst>
                <a:gd name="adj" fmla="val 19231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66597" y="4523899"/>
              <a:ext cx="2093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Backprop fine-tuning up to 12×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34100" y="2266950"/>
            <a:ext cx="5448300" cy="1333500"/>
            <a:chOff x="6134100" y="2266950"/>
            <a:chExt cx="5448300" cy="1333500"/>
          </a:xfrm>
        </p:grpSpPr>
        <p:sp>
          <p:nvSpPr>
            <p:cNvPr id="29" name="Rectangle 29"/>
            <p:cNvSpPr/>
            <p:nvPr/>
          </p:nvSpPr>
          <p:spPr>
            <a:xfrm>
              <a:off x="6134100" y="2266950"/>
              <a:ext cx="544830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34100" y="2419350"/>
              <a:ext cx="47625" cy="10287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94704" y="2480310"/>
              <a:ext cx="1857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The binding constraint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94704" y="2766060"/>
              <a:ext cx="3353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As models scale into the tens of billions of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94704" y="2994660"/>
              <a:ext cx="3978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parameters, memory — not compute — becomes the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94704" y="3223260"/>
              <a:ext cx="3961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constraint that decides what you can train at all.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134100" y="3790950"/>
            <a:ext cx="5448300" cy="1333500"/>
            <a:chOff x="6134100" y="3790950"/>
            <a:chExt cx="5448300" cy="1333500"/>
          </a:xfrm>
        </p:grpSpPr>
        <p:sp>
          <p:nvSpPr>
            <p:cNvPr id="36" name="Rectangle 36"/>
            <p:cNvSpPr/>
            <p:nvPr/>
          </p:nvSpPr>
          <p:spPr>
            <a:xfrm>
              <a:off x="6134100" y="3790950"/>
              <a:ext cx="544830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94704" y="3985260"/>
              <a:ext cx="2619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Largest model on one 80GB A100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00800" y="4305300"/>
              <a:ext cx="3619500" cy="209550"/>
            </a:xfrm>
            <a:prstGeom prst="roundRect">
              <a:avLst>
                <a:gd name="adj" fmla="val 22727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129266" y="43538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30B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91288" y="4360545"/>
              <a:ext cx="611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62012"/>
                  </a:solidFill>
                  <a:latin typeface="+mn-lt"/>
                  <a:ea typeface="+mn-ea"/>
                  <a:cs typeface="+mn-cs"/>
                </a:rPr>
                <a:t>Inference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00800" y="4629150"/>
              <a:ext cx="325755" cy="209550"/>
            </a:xfrm>
            <a:prstGeom prst="roundRect">
              <a:avLst>
                <a:gd name="adj" fmla="val 22727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35521" y="4677728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2.7B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55192" y="4693920"/>
              <a:ext cx="10633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Adam fine-tuning</a:t>
              </a:r>
            </a:p>
          </p:txBody>
        </p:sp>
      </p:grpSp>
      <p:sp>
        <p:nvSpPr>
          <p:cNvPr id="45" name="cue_s02_c1_fine_tuning_driven_much_recent_succe" title="cue_s02_c1_fine_tuning_driven_much_recent_succe" descr="cue_s02_c1_fine_tuning_driven_much_recent_succe Fine-tuning has driven much of the recent success of language models, but it comes at a steep memory cost."/>
          <p:cNvSpPr/>
          <p:nvPr/>
        </p:nvSpPr>
        <p:spPr>
          <a:xfrm>
            <a:off x="609600" y="1428521"/>
            <a:ext cx="10972800" cy="6288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2_c2_backpropagation_must_cache_intermedi" title="cue_s02_c2_backpropagation_must_cache_intermedi" descr="cue_s02_c2_backpropagation_must_cache_intermedi Backpropagation must cache intermediate activations and store gradients and optimizer states, which together can require up to twelve times the memory of plain inference."/>
          <p:cNvSpPr/>
          <p:nvPr/>
        </p:nvSpPr>
        <p:spPr>
          <a:xfrm>
            <a:off x="609600" y="2267254"/>
            <a:ext cx="5334000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2_c3_models_scale_tens_billions_parameter" title="cue_s02_c3_models_scale_tens_billions_parameter" descr="cue_s02_c3_models_scale_tens_billions_parameter As models scale into the tens of billions of parameters, this becomes the binding constraint."/>
          <p:cNvSpPr/>
          <p:nvPr/>
        </p:nvSpPr>
        <p:spPr>
          <a:xfrm>
            <a:off x="6133795" y="2267254"/>
            <a:ext cx="5448604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2_c4_concretely_single_eighty_gigabyte_a1" title="cue_s02_c4_concretely_single_eighty_gigabyte_a1" descr="cue_s02_c4_concretely_single_eighty_gigabyte_a1 Concretely, a single eighty-gigabyte A100 GPU can run inference on a thirty-billion-parameter model, yet standard Adam fine-tuning on the same hardware is limited to only a two-point-seven-billion-parameter model."/>
          <p:cNvSpPr/>
          <p:nvPr/>
        </p:nvSpPr>
        <p:spPr>
          <a:xfrm>
            <a:off x="6133795" y="3791102"/>
            <a:ext cx="5448604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1175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752044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A Tempting Escape — and an Old Warning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02 / 10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09600" y="1428750"/>
            <a:ext cx="5334000" cy="1809750"/>
            <a:chOff x="609600" y="1428750"/>
            <a:chExt cx="5334000" cy="18097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53340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15049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204" y="1642110"/>
              <a:ext cx="1272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The temptation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204" y="1927860"/>
              <a:ext cx="3313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Zeroth-order optimization can estimate 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204" y="2156460"/>
              <a:ext cx="3477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gradient from only two forward passes — no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204" y="2385060"/>
              <a:ext cx="1853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backpropagation at all.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2647950"/>
              <a:ext cx="12573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rgbClr val="34D39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5991" y="2744152"/>
              <a:ext cx="737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forward +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305050" y="2647950"/>
              <a:ext cx="12573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rgbClr val="34D39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564741" y="2744152"/>
              <a:ext cx="737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forward 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83330" y="2695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038600" y="2647950"/>
              <a:ext cx="1600200" cy="304800"/>
            </a:xfrm>
            <a:prstGeom prst="roundRect">
              <a:avLst>
                <a:gd name="adj" fmla="val 25000"/>
              </a:avLst>
            </a:prstGeom>
            <a:solidFill>
              <a:srgbClr val="14532D"/>
            </a:solidFill>
            <a:ln w="9525">
              <a:solidFill>
                <a:srgbClr val="34D39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24241" y="2752249"/>
              <a:ext cx="12289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gradient estimate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34100" y="1428750"/>
            <a:ext cx="5448300" cy="1809750"/>
            <a:chOff x="6134100" y="1428750"/>
            <a:chExt cx="5448300" cy="1809750"/>
          </a:xfrm>
        </p:grpSpPr>
        <p:sp>
          <p:nvSpPr>
            <p:cNvPr id="23" name="Rectangle 23"/>
            <p:cNvSpPr/>
            <p:nvPr/>
          </p:nvSpPr>
          <p:spPr>
            <a:xfrm>
              <a:off x="6134100" y="1428750"/>
              <a:ext cx="54483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34100" y="1581150"/>
              <a:ext cx="47625" cy="1504950"/>
            </a:xfrm>
            <a:prstGeom prst="roundRect">
              <a:avLst>
                <a:gd name="adj" fmla="val 4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94704" y="1642110"/>
              <a:ext cx="1577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The classical catch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4704" y="1927860"/>
              <a:ext cx="4072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Classical analyses warn that zeroth-order methods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4704" y="2156460"/>
              <a:ext cx="3461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converge catastrophically slowly — the rate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94704" y="2385060"/>
              <a:ext cx="3856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degrading in proportion to the parameter count.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400800" y="304800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400800" y="272415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323850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31" name="Polyline 31"/>
            <p:cNvSpPr/>
            <p:nvPr/>
          </p:nvSpPr>
          <p:spPr>
            <a:xfrm>
              <a:off x="6400800" y="2781300"/>
              <a:ext cx="2171700" cy="247650"/>
            </a:xfrm>
            <a:custGeom>
              <a:avLst/>
              <a:gdLst/>
              <a:ahLst/>
              <a:cxnLst/>
              <a:rect l="l" t="t" r="r" b="b"/>
              <a:pathLst>
                <a:path w="2171700" h="247650">
                  <a:moveTo>
                    <a:pt x="0" y="0"/>
                  </a:moveTo>
                  <a:lnTo>
                    <a:pt x="457200" y="152400"/>
                  </a:lnTo>
                  <a:lnTo>
                    <a:pt x="1219200" y="219075"/>
                  </a:lnTo>
                  <a:lnTo>
                    <a:pt x="2171700" y="247650"/>
                  </a:lnTo>
                </a:path>
              </a:pathLst>
            </a:custGeom>
            <a:noFill/>
            <a:ln w="19050" cap="rnd">
              <a:solidFill>
                <a:srgbClr val="F87171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43747" y="2923699"/>
              <a:ext cx="550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rate ∝ d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3467100"/>
            <a:ext cx="5334000" cy="1428750"/>
            <a:chOff x="609600" y="3467100"/>
            <a:chExt cx="5334000" cy="1428750"/>
          </a:xfrm>
        </p:grpSpPr>
        <p:sp>
          <p:nvSpPr>
            <p:cNvPr id="34" name="Rectangle 34"/>
            <p:cNvSpPr/>
            <p:nvPr/>
          </p:nvSpPr>
          <p:spPr>
            <a:xfrm>
              <a:off x="609600" y="346710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9600" y="3619500"/>
              <a:ext cx="47625" cy="1123950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0204" y="3680460"/>
              <a:ext cx="1832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Why it was overlooked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0204" y="3966210"/>
              <a:ext cx="3886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That pessimism, plus a naive implementation that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0204" y="4194810"/>
              <a:ext cx="3921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still doubles memory, kept zeroth-order methods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0204" y="4423410"/>
              <a:ext cx="3356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off the table for modern language models.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34100" y="3467100"/>
            <a:ext cx="5448300" cy="1428750"/>
            <a:chOff x="6134100" y="3467100"/>
            <a:chExt cx="5448300" cy="1428750"/>
          </a:xfrm>
        </p:grpSpPr>
        <p:sp>
          <p:nvSpPr>
            <p:cNvPr id="41" name="Rectangle 41"/>
            <p:cNvSpPr/>
            <p:nvPr/>
          </p:nvSpPr>
          <p:spPr>
            <a:xfrm>
              <a:off x="6134100" y="3467100"/>
              <a:ext cx="5448300" cy="1428750"/>
            </a:xfrm>
            <a:prstGeom prst="roundRect">
              <a:avLst>
                <a:gd name="adj" fmla="val 9333"/>
              </a:avLst>
            </a:prstGeom>
            <a:solidFill>
              <a:srgbClr val="2A4A8A"/>
            </a:solidFill>
            <a:ln w="9525">
              <a:solidFill>
                <a:srgbClr val="4F8CF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95847" y="3704749"/>
              <a:ext cx="11959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THE QUESTION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93942" y="3950018"/>
              <a:ext cx="3951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Does that pessimism actually hold when we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93942" y="4188142"/>
              <a:ext cx="3925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fine-tune a strong pre-trained model on 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3942" y="4426268"/>
              <a:ext cx="1721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downstream task?</a:t>
              </a:r>
            </a:p>
          </p:txBody>
        </p:sp>
      </p:grpSp>
      <p:sp>
        <p:nvSpPr>
          <p:cNvPr id="47" name="cue_s03_c1_zeroth_order_optimization_offers_tem" title="cue_s03_c1_zeroth_order_optimization_offers_tem" descr="cue_s03_c1_zeroth_order_optimization_offers_tem Zeroth-order optimization offers a tempting escape: it can estimate a gradient using only two forward passes, requiring no backpropagation at all."/>
          <p:cNvSpPr/>
          <p:nvPr/>
        </p:nvSpPr>
        <p:spPr>
          <a:xfrm>
            <a:off x="609600" y="1428521"/>
            <a:ext cx="5334000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3_c2_catch_classical_analyses_suggest_zer" title="cue_s03_c2_catch_classical_analyses_suggest_zer" descr="cue_s03_c2_catch_classical_analyses_suggest_zer The catch is that classical analyses suggest zeroth-order methods converge catastrophically slowly for large models, with the rate degrading in proportion to the number of parameters."/>
          <p:cNvSpPr/>
          <p:nvPr/>
        </p:nvSpPr>
        <p:spPr>
          <a:xfrm>
            <a:off x="6133795" y="1428521"/>
            <a:ext cx="5448604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3_c3_pessimism_combined_naive_implementat" title="cue_s03_c3_pessimism_combined_naive_implementat" descr="cue_s03_c3_pessimism_combined_naive_implementat That pessimism, combined with a naive implementation that still doubles memory, is why zeroth-order methods have been overlooked for modern language models."/>
          <p:cNvSpPr/>
          <p:nvPr/>
        </p:nvSpPr>
        <p:spPr>
          <a:xfrm>
            <a:off x="609600" y="3467404"/>
            <a:ext cx="53340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3_c4_asks_whether_pessimism_actually_hold" title="cue_s03_c4_asks_whether_pessimism_actually_hold" descr="cue_s03_c4_asks_whether_pessimism_actually_hold This paper asks whether that pessimism actually holds when fine-tuning pre-trained models on downstream tasks."/>
          <p:cNvSpPr/>
          <p:nvPr/>
        </p:nvSpPr>
        <p:spPr>
          <a:xfrm>
            <a:off x="6133795" y="3467404"/>
            <a:ext cx="5448604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4258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CONTRIBUTIONS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359851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Four Contributions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03 / 10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09600" y="1428750"/>
            <a:ext cx="5257800" cy="1695450"/>
            <a:chOff x="609600" y="1428750"/>
            <a:chExt cx="5257800" cy="16954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0110" y="16573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F8CFF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6380" y="1743075"/>
              <a:ext cx="1636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MeZO optimizer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524000" y="201930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18285" y="2183606"/>
              <a:ext cx="3620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 memory-efficient zeroth-order optimizer that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8285" y="2393156"/>
              <a:ext cx="3890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adapts ZO-SGD to run in place — fine-tuning costs no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8285" y="2602706"/>
              <a:ext cx="219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more memory than inference.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134100" y="1428750"/>
            <a:ext cx="5257800" cy="1695450"/>
            <a:chOff x="6134100" y="1428750"/>
            <a:chExt cx="5257800" cy="1695450"/>
          </a:xfrm>
        </p:grpSpPr>
        <p:sp>
          <p:nvSpPr>
            <p:cNvPr id="18" name="Rectangle 18"/>
            <p:cNvSpPr/>
            <p:nvPr/>
          </p:nvSpPr>
          <p:spPr>
            <a:xfrm>
              <a:off x="6134100" y="142875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34100" y="158115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4610" y="16573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0880" y="1743075"/>
              <a:ext cx="1615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Matches full FT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048500" y="201930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42785" y="2183606"/>
              <a:ext cx="32808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Comprehensive experiments across masked &amp;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42785" y="2393156"/>
              <a:ext cx="3341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autoregressive models, up to 66B params, 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42785" y="2602706"/>
              <a:ext cx="3532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classification, multiple-choice and generation 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42785" y="2812256"/>
              <a:ext cx="2340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matching backprop fine-tuning.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3352800"/>
            <a:ext cx="5257800" cy="1695450"/>
            <a:chOff x="609600" y="3352800"/>
            <a:chExt cx="5257800" cy="1695450"/>
          </a:xfrm>
        </p:grpSpPr>
        <p:sp>
          <p:nvSpPr>
            <p:cNvPr id="28" name="Rectangle 28"/>
            <p:cNvSpPr/>
            <p:nvPr/>
          </p:nvSpPr>
          <p:spPr>
            <a:xfrm>
              <a:off x="609600" y="335280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350520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0110" y="358140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A78BFA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6380" y="3667125"/>
              <a:ext cx="19188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Flexible objectives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524000" y="394335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18285" y="4107656"/>
              <a:ext cx="3936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Compatible with parameter-efficient LoRA and prefix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18285" y="4317206"/>
              <a:ext cx="3486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tuning, and able to optimize non-differentiable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8285" y="4526756"/>
              <a:ext cx="2572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objectives such as accuracy or F1.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34100" y="3352800"/>
            <a:ext cx="5257800" cy="1695450"/>
            <a:chOff x="6134100" y="3352800"/>
            <a:chExt cx="5257800" cy="1695450"/>
          </a:xfrm>
        </p:grpSpPr>
        <p:sp>
          <p:nvSpPr>
            <p:cNvPr id="37" name="Rectangle 37"/>
            <p:cNvSpPr/>
            <p:nvPr/>
          </p:nvSpPr>
          <p:spPr>
            <a:xfrm>
              <a:off x="6134100" y="335280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34100" y="350520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04610" y="358140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40880" y="3667125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Theory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048500" y="394335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42785" y="4107656"/>
              <a:ext cx="3808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Theory explaining why MeZO converges fast despite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42785" y="4317206"/>
              <a:ext cx="3486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the enormous parameter count — answering the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42785" y="4526756"/>
              <a:ext cx="150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classical pessimism.</a:t>
              </a:r>
            </a:p>
          </p:txBody>
        </p:sp>
      </p:grpSp>
      <p:sp>
        <p:nvSpPr>
          <p:cNvPr id="46" name="cue_s04_c1_makes_four_main_contributions_first" title="cue_s04_c1_makes_four_main_contributions_first" descr="cue_s04_c1_makes_four_main_contributions_first The paper makes four main contributions. First, it introduces MeZO, a memory-efficient zeroth-order optimizer that adapts classical zeroth-order SGD to operate in place, so fine-tuning costs no more memory than inference."/>
          <p:cNvSpPr/>
          <p:nvPr/>
        </p:nvSpPr>
        <p:spPr>
          <a:xfrm>
            <a:off x="609600" y="1428521"/>
            <a:ext cx="5258409" cy="16952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4_c2_second_through_comprehensive_experim" title="cue_s04_c2_second_through_comprehensive_experim" descr="cue_s04_c2_second_through_comprehensive_experim Second, through comprehensive experiments across masked and autoregressive models, scales up to sixty-six billion parameters, and classification, multiple-choice, and generation tasks, it shows MeZO matches full backpropagation fine-tuning while using far less"/>
          <p:cNvSpPr/>
          <p:nvPr/>
        </p:nvSpPr>
        <p:spPr>
          <a:xfrm>
            <a:off x="6133795" y="1428521"/>
            <a:ext cx="5258409" cy="16952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4_c3_third_demonstrates_compatibility_par" title="cue_s04_c3_third_demonstrates_compatibility_par" descr="cue_s04_c3_third_demonstrates_compatibility_par Third, it demonstrates compatibility with parameter-efficient methods like LoRA and prefix tuning, and the ability to optimize non-differentiable objectives such as accuracy or F1."/>
          <p:cNvSpPr/>
          <p:nvPr/>
        </p:nvSpPr>
        <p:spPr>
          <a:xfrm>
            <a:off x="609600" y="3352876"/>
            <a:ext cx="5258409" cy="16952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4_c4_fourth_supplies_theory_explaining_wh" title="cue_s04_c4_fourth_supplies_theory_explaining_wh" descr="cue_s04_c4_fourth_supplies_theory_explaining_wh Fourth, it supplies theory explaining why MeZO converges quickly despite the enormous parameter count."/>
          <p:cNvSpPr/>
          <p:nvPr/>
        </p:nvSpPr>
        <p:spPr>
          <a:xfrm>
            <a:off x="6133795" y="3352876"/>
            <a:ext cx="5258409" cy="16952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7114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538698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MeZO: SPSA, Done In Place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04 / 10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09600" y="1428750"/>
            <a:ext cx="6858000" cy="1600200"/>
            <a:chOff x="609600" y="1428750"/>
            <a:chExt cx="6858000" cy="160020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6858000" cy="16002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154" y="1623060"/>
              <a:ext cx="5628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Built on SPSA — simultaneous perturbation stochastic approximation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2038350"/>
              <a:ext cx="1809750" cy="7620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9525">
              <a:solidFill>
                <a:srgbClr val="4F8C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29282" y="2178368"/>
              <a:ext cx="865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F8CFF"/>
                  </a:solidFill>
                  <a:latin typeface="+mj-lt"/>
                  <a:ea typeface="+mj-ea"/>
                  <a:cs typeface="+mj-cs"/>
                </a:rPr>
                <a:t>Sample z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7207" y="2436495"/>
              <a:ext cx="6698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one random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16414" y="2588895"/>
              <a:ext cx="10914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Gaussian direction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93492" y="23117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E82A6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952750" y="2038350"/>
              <a:ext cx="1809750" cy="7620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9525">
              <a:solidFill>
                <a:srgbClr val="34D39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568492" y="2178368"/>
              <a:ext cx="578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θ + εz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29672" y="2436495"/>
              <a:ext cx="855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record loss L+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88992" y="23117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E82A6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048250" y="2038350"/>
              <a:ext cx="1809750" cy="7620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9525">
              <a:solidFill>
                <a:srgbClr val="34D39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63992" y="2178368"/>
              <a:ext cx="578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θ − εz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25172" y="2436495"/>
              <a:ext cx="855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record loss L−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3162300"/>
            <a:ext cx="6858000" cy="1428750"/>
            <a:chOff x="609600" y="3162300"/>
            <a:chExt cx="6858000" cy="1428750"/>
          </a:xfrm>
        </p:grpSpPr>
        <p:sp>
          <p:nvSpPr>
            <p:cNvPr id="24" name="Rectangle 24"/>
            <p:cNvSpPr/>
            <p:nvPr/>
          </p:nvSpPr>
          <p:spPr>
            <a:xfrm>
              <a:off x="609600" y="3162300"/>
              <a:ext cx="6858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314700"/>
              <a:ext cx="47625" cy="112395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1154" y="3356610"/>
              <a:ext cx="3037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Projected gradient → in-place update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" y="3638550"/>
              <a:ext cx="6286500" cy="609600"/>
            </a:xfrm>
            <a:prstGeom prst="roundRect">
              <a:avLst>
                <a:gd name="adj" fmla="val 12500"/>
              </a:avLst>
            </a:prstGeom>
            <a:solidFill>
              <a:srgbClr val="0E1B33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4123" y="3748564"/>
              <a:ext cx="2960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AF1FF"/>
                  </a:solidFill>
                  <a:latin typeface="Consolas"/>
                  <a:ea typeface="Consolas"/>
                  <a:cs typeface="Consolas"/>
                </a:rPr>
                <a:t>grad = ( L(θ+εz) − L(θ−εz) ) / 2ε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4123" y="3996214"/>
              <a:ext cx="1695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4D399"/>
                  </a:solidFill>
                  <a:latin typeface="Consolas"/>
                  <a:ea typeface="Consolas"/>
                  <a:cs typeface="Consolas"/>
                </a:rPr>
                <a:t>θ ← θ − lr · grad · z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2297" y="4371499"/>
              <a:ext cx="4427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 single scalar times the same direction z updates every parameter.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58100" y="1428750"/>
            <a:ext cx="3924300" cy="1600200"/>
            <a:chOff x="7658100" y="1428750"/>
            <a:chExt cx="3924300" cy="1600200"/>
          </a:xfrm>
        </p:grpSpPr>
        <p:sp>
          <p:nvSpPr>
            <p:cNvPr id="32" name="Rectangle 32"/>
            <p:cNvSpPr/>
            <p:nvPr/>
          </p:nvSpPr>
          <p:spPr>
            <a:xfrm>
              <a:off x="7658100" y="1428750"/>
              <a:ext cx="3924300" cy="1600200"/>
            </a:xfrm>
            <a:prstGeom prst="roundRect">
              <a:avLst>
                <a:gd name="adj" fmla="val 8333"/>
              </a:avLst>
            </a:prstGeom>
            <a:solidFill>
              <a:srgbClr val="14532D"/>
            </a:solidFill>
            <a:ln w="9525">
              <a:solidFill>
                <a:srgbClr val="34D39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81747" y="1666399"/>
              <a:ext cx="12026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THE KEY TRICK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80985" y="1916906"/>
              <a:ext cx="2398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Storing the full random vector z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80985" y="2126456"/>
              <a:ext cx="2656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would double memory. Instead MeZO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80985" y="2336006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stores only the random seed and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80985" y="2545556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regenerates z on demand.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58100" y="3162300"/>
            <a:ext cx="3924300" cy="1428750"/>
            <a:chOff x="7658100" y="3162300"/>
            <a:chExt cx="3924300" cy="1428750"/>
          </a:xfrm>
        </p:grpSpPr>
        <p:sp>
          <p:nvSpPr>
            <p:cNvPr id="39" name="Rectangle 39"/>
            <p:cNvSpPr/>
            <p:nvPr/>
          </p:nvSpPr>
          <p:spPr>
            <a:xfrm>
              <a:off x="7658100" y="3162300"/>
              <a:ext cx="39243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658100" y="3314700"/>
              <a:ext cx="47625" cy="112395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880604" y="3356610"/>
              <a:ext cx="1577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Everything in place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80985" y="3650456"/>
              <a:ext cx="2187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Perturb, evaluate and update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80985" y="3860006"/>
              <a:ext cx="2408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happen in place, so training uses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0985" y="4069556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exactly the same memory as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80985" y="427910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inference.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04266" y="4858702"/>
            <a:ext cx="6956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i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No activations cached · no gradient tensors · no optimizer states — just forward passes and a seed.</a:t>
            </a:r>
          </a:p>
        </p:txBody>
      </p:sp>
      <p:sp>
        <p:nvSpPr>
          <p:cNvPr id="48" name="cue_s05_c1_mezo_built_classical_zeroth_order_gr" title="cue_s05_c1_mezo_built_classical_zeroth_order_gr" descr="cue_s05_c1_mezo_built_classical_zeroth_order_gr MeZO is built on a classical zeroth-order gradient estimator called SPSA, or simultaneous perturbation stochastic approximation. At each step it samples a single random Gaussian direction z, adds epsilon times z to every parameter and records the loss, then su"/>
          <p:cNvSpPr/>
          <p:nvPr/>
        </p:nvSpPr>
        <p:spPr>
          <a:xfrm>
            <a:off x="609600" y="1428521"/>
            <a:ext cx="6858000" cy="15999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5_c2_difference_these_two_losses_divided" title="cue_s05_c2_difference_these_two_losses_divided" descr="cue_s05_c2_difference_these_two_losses_divided The difference of these two losses divided by twice epsilon gives a scalar called the projected gradient, and the parameters are then updated by moving along z scaled by this scalar and the learning rate."/>
          <p:cNvSpPr/>
          <p:nvPr/>
        </p:nvSpPr>
        <p:spPr>
          <a:xfrm>
            <a:off x="609600" y="3162223"/>
            <a:ext cx="68580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5_c3_crucial_engineering_insight_instead" title="cue_s05_c3_crucial_engineering_insight_instead" descr="cue_s05_c3_crucial_engineering_insight_instead The crucial engineering insight is that instead of storing the full random vector z, which would double memory, MeZO stores only the random seed and regenerates z deterministically each time it is needed."/>
          <p:cNvSpPr/>
          <p:nvPr/>
        </p:nvSpPr>
        <p:spPr>
          <a:xfrm>
            <a:off x="7657795" y="1428521"/>
            <a:ext cx="3924604" cy="15999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5_c4_lets_entire_perturb_evaluate_update" title="cue_s05_c4_lets_entire_perturb_evaluate_update" descr="cue_s05_c4_lets_entire_perturb_evaluate_update This lets the entire perturb, evaluate, and update cycle happen in place, so training uses exactly the same memory as inference."/>
          <p:cNvSpPr/>
          <p:nvPr/>
        </p:nvSpPr>
        <p:spPr>
          <a:xfrm>
            <a:off x="7657795" y="3162223"/>
            <a:ext cx="3924604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0956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EVALUATION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599856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A Deliberately Broad Benchmark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05 / 10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428750"/>
            <a:ext cx="10972800" cy="571500"/>
            <a:chOff x="609600" y="1428750"/>
            <a:chExt cx="10972800" cy="57150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10972800" cy="571500"/>
            </a:xfrm>
            <a:prstGeom prst="roundRect">
              <a:avLst>
                <a:gd name="adj" fmla="val 23333"/>
              </a:avLst>
            </a:prstGeom>
            <a:solidFill>
              <a:srgbClr val="2A4A8A"/>
            </a:solidFill>
            <a:ln w="9525">
              <a:solidFill>
                <a:srgbClr val="4F8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392" y="1644968"/>
              <a:ext cx="96757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The evaluation is deliberately broad — spanning model families, scales, task types and strong baselines.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209800"/>
            <a:ext cx="5334000" cy="1809750"/>
            <a:chOff x="609600" y="2209800"/>
            <a:chExt cx="5334000" cy="1809750"/>
          </a:xfrm>
        </p:grpSpPr>
        <p:sp>
          <p:nvSpPr>
            <p:cNvPr id="12" name="Rectangle 12"/>
            <p:cNvSpPr/>
            <p:nvPr/>
          </p:nvSpPr>
          <p:spPr>
            <a:xfrm>
              <a:off x="609600" y="2209800"/>
              <a:ext cx="53340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362200"/>
              <a:ext cx="47625" cy="150495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0204" y="2423160"/>
              <a:ext cx="22932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Masked LM · RoBERTa-large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952500" y="2781300"/>
              <a:ext cx="76200" cy="7620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8235" y="2736056"/>
              <a:ext cx="3238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6 sentence-classification &amp; inference tasks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52500" y="3067050"/>
              <a:ext cx="76200" cy="7620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8235" y="3021806"/>
              <a:ext cx="2422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Few-shot: 16 examples per class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52500" y="3352800"/>
              <a:ext cx="76200" cy="7620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18235" y="3307556"/>
              <a:ext cx="2588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Many-shot: 512 examples per class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134100" y="2209800"/>
            <a:ext cx="5448300" cy="1809750"/>
            <a:chOff x="6134100" y="2209800"/>
            <a:chExt cx="5448300" cy="1809750"/>
          </a:xfrm>
        </p:grpSpPr>
        <p:sp>
          <p:nvSpPr>
            <p:cNvPr id="22" name="Rectangle 22"/>
            <p:cNvSpPr/>
            <p:nvPr/>
          </p:nvSpPr>
          <p:spPr>
            <a:xfrm>
              <a:off x="6134100" y="2209800"/>
              <a:ext cx="54483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34100" y="2362200"/>
              <a:ext cx="47625" cy="15049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94704" y="2423160"/>
              <a:ext cx="27314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Autoregressive · OPT 1.3B → 66B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77000" y="278130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42735" y="2736056"/>
              <a:ext cx="22959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SuperGLUE classification tasks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77000" y="30670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42735" y="3021806"/>
              <a:ext cx="22979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Multiple-choice: COPA, ReCoRD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77000" y="335280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42735" y="3307556"/>
              <a:ext cx="19156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Generation: SQuAD, DROP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4171950"/>
            <a:ext cx="10972800" cy="819150"/>
            <a:chOff x="609600" y="4171950"/>
            <a:chExt cx="10972800" cy="819150"/>
          </a:xfrm>
        </p:grpSpPr>
        <p:sp>
          <p:nvSpPr>
            <p:cNvPr id="32" name="Rectangle 32"/>
            <p:cNvSpPr/>
            <p:nvPr/>
          </p:nvSpPr>
          <p:spPr>
            <a:xfrm>
              <a:off x="609600" y="4171950"/>
              <a:ext cx="10972800" cy="819150"/>
            </a:xfrm>
            <a:prstGeom prst="roundRect">
              <a:avLst>
                <a:gd name="adj" fmla="val 16279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1535" y="4355306"/>
              <a:ext cx="801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Baselines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57250" y="4638675"/>
              <a:ext cx="803910" cy="209550"/>
            </a:xfrm>
            <a:prstGeom prst="roundRect">
              <a:avLst>
                <a:gd name="adj" fmla="val 27273"/>
              </a:avLst>
            </a:prstGeom>
            <a:solidFill>
              <a:schemeClr val="accent6"/>
            </a:solidFill>
            <a:ln w="9525">
              <a:solidFill>
                <a:srgbClr val="6E82A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688" y="4684395"/>
              <a:ext cx="7250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rgbClr val="6E82A6"/>
                  </a:solidFill>
                  <a:latin typeface="+mn-lt"/>
                  <a:ea typeface="+mn-ea"/>
                  <a:cs typeface="+mn-cs"/>
                </a:rPr>
                <a:t>Zero-shot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832610" y="4638675"/>
              <a:ext cx="1527810" cy="209550"/>
            </a:xfrm>
            <a:prstGeom prst="roundRect">
              <a:avLst>
                <a:gd name="adj" fmla="val 27273"/>
              </a:avLst>
            </a:prstGeom>
            <a:solidFill>
              <a:schemeClr val="accent6"/>
            </a:solidFill>
            <a:ln w="9525">
              <a:solidFill>
                <a:srgbClr val="4F8CF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04047" y="4684395"/>
              <a:ext cx="13980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In-context learning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531870" y="4638675"/>
              <a:ext cx="1165860" cy="209550"/>
            </a:xfrm>
            <a:prstGeom prst="roundRect">
              <a:avLst>
                <a:gd name="adj" fmla="val 27273"/>
              </a:avLst>
            </a:prstGeom>
            <a:solidFill>
              <a:schemeClr val="accent6"/>
            </a:solidFill>
            <a:ln w="9525">
              <a:solidFill>
                <a:srgbClr val="FBBF2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603307" y="4684395"/>
              <a:ext cx="10293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Linear probing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869180" y="4638675"/>
              <a:ext cx="1310640" cy="209550"/>
            </a:xfrm>
            <a:prstGeom prst="roundRect">
              <a:avLst>
                <a:gd name="adj" fmla="val 27273"/>
              </a:avLst>
            </a:prstGeom>
            <a:solidFill>
              <a:schemeClr val="accent6"/>
            </a:solidFill>
            <a:ln w="9525">
              <a:solidFill>
                <a:srgbClr val="F8717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940617" y="4684395"/>
              <a:ext cx="12153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Adam fine-tuning</a:t>
              </a:r>
            </a:p>
          </p:txBody>
        </p:sp>
      </p:grpSp>
      <p:sp>
        <p:nvSpPr>
          <p:cNvPr id="43" name="cue_s06_c1_evaluation_deliberately_broad" title="cue_s06_c1_evaluation_deliberately_broad" descr="cue_s06_c1_evaluation_deliberately_broad The evaluation is deliberately broad."/>
          <p:cNvSpPr/>
          <p:nvPr/>
        </p:nvSpPr>
        <p:spPr>
          <a:xfrm>
            <a:off x="609600" y="1428521"/>
            <a:ext cx="10972800" cy="5712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6_c2_masked_language_model_side_roberta_l" title="cue_s06_c2_masked_language_model_side_roberta_l" descr="cue_s06_c2_masked_language_model_side_roberta_l On the masked-language-model side, it uses RoBERTa-large on six sentence-classification and inference tasks, tested in both a few-shot regime with sixteen examples per class and a many-shot regime with five hundred and twelve."/>
          <p:cNvSpPr/>
          <p:nvPr/>
        </p:nvSpPr>
        <p:spPr>
          <a:xfrm>
            <a:off x="609600" y="2209647"/>
            <a:ext cx="5334000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6_c3_autoregressive_side_opt_models_rangi" title="cue_s06_c3_autoregressive_side_opt_models_rangi" descr="cue_s06_c3_autoregressive_side_opt_models_rangi On the autoregressive side, it uses OPT models ranging from one-point-three billion up to sixty-six billion parameters, evaluated on SuperGLUE classification tasks, multiple-choice tasks like COPA and ReCoRD, and generation tasks including SQuAD and DROP."/>
          <p:cNvSpPr/>
          <p:nvPr/>
        </p:nvSpPr>
        <p:spPr>
          <a:xfrm>
            <a:off x="6133795" y="2209647"/>
            <a:ext cx="5448604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6_c4_baselines_include_zero_shot_predicti" title="cue_s06_c4_baselines_include_zero_shot_predicti" descr="cue_s06_c4_baselines_include_zero_shot_predicti Baselines include zero-shot prediction, in-context learning, linear probing, and standard Adam fine-tuning."/>
          <p:cNvSpPr/>
          <p:nvPr/>
        </p:nvSpPr>
        <p:spPr>
          <a:xfrm>
            <a:off x="609600" y="4171721"/>
            <a:ext cx="10972800" cy="8188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0663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777790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Matches Fine-Tuning at 1/12 the Memory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06 / 10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428750"/>
            <a:ext cx="10972800" cy="552450"/>
            <a:chOff x="609600" y="1428750"/>
            <a:chExt cx="10972800" cy="5524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10972800" cy="552450"/>
            </a:xfrm>
            <a:prstGeom prst="roundRect">
              <a:avLst>
                <a:gd name="adj" fmla="val 2413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2476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392" y="1625918"/>
              <a:ext cx="8449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MeZO closes most of the gap to backpropagation fine-tuning at a fraction of the memory.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2190750"/>
            <a:ext cx="5334000" cy="2857500"/>
            <a:chOff x="609600" y="2190750"/>
            <a:chExt cx="5334000" cy="2857500"/>
          </a:xfrm>
        </p:grpSpPr>
        <p:sp>
          <p:nvSpPr>
            <p:cNvPr id="13" name="Rectangle 13"/>
            <p:cNvSpPr/>
            <p:nvPr/>
          </p:nvSpPr>
          <p:spPr>
            <a:xfrm>
              <a:off x="609600" y="2190750"/>
              <a:ext cx="53340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1535" y="2393156"/>
              <a:ext cx="3243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OPT-13B · task performance (schematic)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4581525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47750" y="3891915"/>
              <a:ext cx="704850" cy="680085"/>
            </a:xfrm>
            <a:prstGeom prst="roundRect">
              <a:avLst>
                <a:gd name="adj" fmla="val 5602"/>
              </a:avLst>
            </a:prstGeom>
            <a:solidFill>
              <a:srgbClr val="6E82A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06511" y="4654391"/>
              <a:ext cx="5873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Zero-shot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924050" y="3681412"/>
              <a:ext cx="704850" cy="890588"/>
            </a:xfrm>
            <a:prstGeom prst="roundRect">
              <a:avLst>
                <a:gd name="adj" fmla="val 5405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85984" y="4654391"/>
              <a:ext cx="1809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ICL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800350" y="3762375"/>
              <a:ext cx="704850" cy="809625"/>
            </a:xfrm>
            <a:prstGeom prst="roundRect">
              <a:avLst>
                <a:gd name="adj" fmla="val 5405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92675" y="4654391"/>
              <a:ext cx="7202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Linear probe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76650" y="3114675"/>
              <a:ext cx="704850" cy="1457325"/>
            </a:xfrm>
            <a:prstGeom prst="roundRect">
              <a:avLst>
                <a:gd name="adj" fmla="val 5405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67236" y="4654391"/>
              <a:ext cx="3236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MeZO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52950" y="3082290"/>
              <a:ext cx="704850" cy="1489710"/>
            </a:xfrm>
            <a:prstGeom prst="roundRect">
              <a:avLst>
                <a:gd name="adj" fmla="val 5405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74155" y="4654391"/>
              <a:ext cx="4624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Adam FT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34882" y="2884170"/>
              <a:ext cx="6646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within ~1%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2297" y="2752249"/>
              <a:ext cx="36117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7 / 11 tasks within 1% of Adam FT · only 1/12 memory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134100" y="2190750"/>
            <a:ext cx="5448300" cy="1352550"/>
            <a:chOff x="6134100" y="2190750"/>
            <a:chExt cx="5448300" cy="1352550"/>
          </a:xfrm>
        </p:grpSpPr>
        <p:sp>
          <p:nvSpPr>
            <p:cNvPr id="29" name="Rectangle 29"/>
            <p:cNvSpPr/>
            <p:nvPr/>
          </p:nvSpPr>
          <p:spPr>
            <a:xfrm>
              <a:off x="6134100" y="2190750"/>
              <a:ext cx="5448300" cy="1352550"/>
            </a:xfrm>
            <a:prstGeom prst="roundRect">
              <a:avLst>
                <a:gd name="adj" fmla="val 9859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34100" y="2343150"/>
              <a:ext cx="47625" cy="104775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94704" y="2404110"/>
              <a:ext cx="2282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RoBERTa-large · many-shot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85560" y="2705100"/>
              <a:ext cx="23379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A78BFA"/>
                  </a:solidFill>
                  <a:latin typeface="+mj-lt"/>
                  <a:ea typeface="+mj-ea"/>
                  <a:cs typeface="+mj-cs"/>
                </a:rPr>
                <a:t>within ~5%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95466" y="3182302"/>
              <a:ext cx="3650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of full fine-tuning at k = 512, with far less memory.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34100" y="3695700"/>
            <a:ext cx="5448300" cy="1352550"/>
            <a:chOff x="6134100" y="3695700"/>
            <a:chExt cx="5448300" cy="1352550"/>
          </a:xfrm>
        </p:grpSpPr>
        <p:sp>
          <p:nvSpPr>
            <p:cNvPr id="35" name="Rectangle 35"/>
            <p:cNvSpPr/>
            <p:nvPr/>
          </p:nvSpPr>
          <p:spPr>
            <a:xfrm>
              <a:off x="6134100" y="3695700"/>
              <a:ext cx="5448300" cy="1352550"/>
            </a:xfrm>
            <a:prstGeom prst="roundRect">
              <a:avLst>
                <a:gd name="adj" fmla="val 9859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134100" y="3848100"/>
              <a:ext cx="47625" cy="1047750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94704" y="3909060"/>
              <a:ext cx="202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Not just memory — speed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85560" y="4210050"/>
              <a:ext cx="6577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≈ 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32904" y="4404360"/>
              <a:ext cx="2894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the GPU-hours of Adam fine-tuning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95466" y="4706302"/>
              <a:ext cx="1952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for a 30B-parameter model.</a:t>
              </a:r>
            </a:p>
          </p:txBody>
        </p:sp>
      </p:grpSp>
      <p:sp>
        <p:nvSpPr>
          <p:cNvPr id="42" name="cue_s07_c1_headline_result_mezo_closes_most" title="cue_s07_c1_headline_result_mezo_closes_most" descr="cue_s07_c1_headline_result_mezo_closes_most The headline result is that MeZO closes most of the gap to backpropagation fine-tuning at a fraction of the memory."/>
          <p:cNvSpPr/>
          <p:nvPr/>
        </p:nvSpPr>
        <p:spPr>
          <a:xfrm>
            <a:off x="609600" y="1428521"/>
            <a:ext cx="10972800" cy="5527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7_c2_opt_thirteen_billion_mezo_comes_with" title="cue_s07_c2_opt_thirteen_billion_mezo_comes_with" descr="cue_s07_c2_opt_thirteen_billion_mezo_comes_with On OPT-thirteen-billion, MeZO comes within about one percent of full Adam fine-tuning on seven of eleven tasks, while consuming only one-twelfth of the memory, and it clearly beats zero-shot prediction, in-context learning, and linear probing."/>
          <p:cNvSpPr/>
          <p:nvPr/>
        </p:nvSpPr>
        <p:spPr>
          <a:xfrm>
            <a:off x="609600" y="2190445"/>
            <a:ext cx="5334000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7_c3_roberta_large_many_shot_setting_land" title="cue_s07_c3_roberta_large_many_shot_setting_land" descr="cue_s07_c3_roberta_large_many_shot_setting_land On RoBERTa-large in the many-shot setting, it lands within roughly five percent of fine-tuning."/>
          <p:cNvSpPr/>
          <p:nvPr/>
        </p:nvSpPr>
        <p:spPr>
          <a:xfrm>
            <a:off x="6133795" y="2190445"/>
            <a:ext cx="5448604" cy="13523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7_c4_beyond_memory_mezo_also_faster" title="cue_s07_c4_beyond_memory_mezo_also_faster" descr="cue_s07_c4_beyond_memory_mezo_also_faster Beyond memory, MeZO is also faster in practice, requiring about half the GPU-hours of Adam fine-tuning for a thirty-billion-parameter model."/>
          <p:cNvSpPr/>
          <p:nvPr/>
        </p:nvSpPr>
        <p:spPr>
          <a:xfrm>
            <a:off x="6133795" y="3695776"/>
            <a:ext cx="5448604" cy="13523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9831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ABLATIONS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352042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Flexibility, Probed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07 / 10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9600" y="1428750"/>
            <a:ext cx="5257800" cy="1695450"/>
            <a:chOff x="609600" y="1428750"/>
            <a:chExt cx="5257800" cy="16954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8111" y="1713071"/>
              <a:ext cx="19652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Composes with PEFT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95350" y="20002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9635" y="2164556"/>
              <a:ext cx="39000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Combined with LoRA and prefix tuning, MeZO reaches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9635" y="2383631"/>
              <a:ext cx="3924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accuracy on par with tuning all parameters — the two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9635" y="2602706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approaches compose well.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134100" y="1428750"/>
            <a:ext cx="5257800" cy="1695450"/>
            <a:chOff x="6134100" y="1428750"/>
            <a:chExt cx="5257800" cy="1695450"/>
          </a:xfrm>
        </p:grpSpPr>
        <p:sp>
          <p:nvSpPr>
            <p:cNvPr id="17" name="Rectangle 17"/>
            <p:cNvSpPr/>
            <p:nvPr/>
          </p:nvSpPr>
          <p:spPr>
            <a:xfrm>
              <a:off x="6134100" y="142875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34100" y="158115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611" y="1713071"/>
              <a:ext cx="24597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One perturbation is best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419850" y="20002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4135" y="2164556"/>
              <a:ext cx="3989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 single random perturbation per step — not averaging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4135" y="2383631"/>
              <a:ext cx="3705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several — is the most efficient setting for a fixed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4135" y="2602706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number of forward passes.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3352800"/>
            <a:ext cx="5257800" cy="1695450"/>
            <a:chOff x="609600" y="3352800"/>
            <a:chExt cx="5257800" cy="1695450"/>
          </a:xfrm>
        </p:grpSpPr>
        <p:sp>
          <p:nvSpPr>
            <p:cNvPr id="25" name="Rectangle 25"/>
            <p:cNvSpPr/>
            <p:nvPr/>
          </p:nvSpPr>
          <p:spPr>
            <a:xfrm>
              <a:off x="609600" y="335280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9600" y="350520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8111" y="3637121"/>
              <a:ext cx="2191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Non-differentiable OK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95350" y="39243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9635" y="4088606"/>
              <a:ext cx="40729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Because MeZO needs only loss values, never gradients,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9635" y="4307681"/>
              <a:ext cx="3750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it can directly optimize objectives like accuracy 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9635" y="452675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F1.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34100" y="3352800"/>
            <a:ext cx="5257800" cy="1695450"/>
            <a:chOff x="6134100" y="3352800"/>
            <a:chExt cx="5257800" cy="1695450"/>
          </a:xfrm>
        </p:grpSpPr>
        <p:sp>
          <p:nvSpPr>
            <p:cNvPr id="33" name="Rectangle 33"/>
            <p:cNvSpPr/>
            <p:nvPr/>
          </p:nvSpPr>
          <p:spPr>
            <a:xfrm>
              <a:off x="6134100" y="335280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34100" y="350520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611" y="3637121"/>
              <a:ext cx="14699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Beats prior ZO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419850" y="39243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4135" y="4088606"/>
              <a:ext cx="3960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Against the prior zeroth-order baseline BBTv2, MeZO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14135" y="4307681"/>
              <a:ext cx="368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improves accuracy by up to 11 percentage points.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10617" y="4603432"/>
              <a:ext cx="903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+11 pts</a:t>
              </a:r>
            </a:p>
          </p:txBody>
        </p:sp>
      </p:grpSp>
      <p:sp>
        <p:nvSpPr>
          <p:cNvPr id="41" name="cue_s08_c1_several_ablations_probe_mezo_flexibi" title="cue_s08_c1_several_ablations_probe_mezo_flexibi" descr="cue_s08_c1_several_ablations_probe_mezo_flexibi Several ablations probe MeZO's flexibility. Combining MeZO with parameter-efficient methods, namely LoRA and prefix tuning, gives accuracy on par with tuning all parameters, showing the two approaches compose well."/>
          <p:cNvSpPr/>
          <p:nvPr/>
        </p:nvSpPr>
        <p:spPr>
          <a:xfrm>
            <a:off x="609600" y="1428521"/>
            <a:ext cx="5258409" cy="16952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8_c2_single_random_perturbation_per_step" title="cue_s08_c2_single_random_perturbation_per_step" descr="cue_s08_c2_single_random_perturbation_per_step Using a single random perturbation per step, rather than averaging several, turns out to be the most efficient setting for a fixed number of forward passes."/>
          <p:cNvSpPr/>
          <p:nvPr/>
        </p:nvSpPr>
        <p:spPr>
          <a:xfrm>
            <a:off x="6133795" y="1428521"/>
            <a:ext cx="5258409" cy="16952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8_c3_because_mezo_only_needs_loss" title="cue_s08_c3_because_mezo_only_needs_loss" descr="cue_s08_c3_because_mezo_only_needs_loss Because MeZO only needs loss values and never actual gradients, it can optimize non-differentiable objectives directly, such as maximizing accuracy or F1 score."/>
          <p:cNvSpPr/>
          <p:nvPr/>
        </p:nvSpPr>
        <p:spPr>
          <a:xfrm>
            <a:off x="609600" y="3352876"/>
            <a:ext cx="5258409" cy="16952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8_c4_against_prior_zeroth_order_baseline" title="cue_s08_c4_against_prior_zeroth_order_baseline" descr="cue_s08_c4_against_prior_zeroth_order_baseline And against a prior zeroth-order baseline, BBTv2, MeZO improves accuracy by up to eleven percentage points."/>
          <p:cNvSpPr/>
          <p:nvPr/>
        </p:nvSpPr>
        <p:spPr>
          <a:xfrm>
            <a:off x="6133795" y="3352876"/>
            <a:ext cx="5258409" cy="16952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5090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BY THE NUMBERS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325767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Headline Numbers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08 / 10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428750"/>
            <a:ext cx="10972800" cy="514350"/>
            <a:chOff x="609600" y="1428750"/>
            <a:chExt cx="10972800" cy="5143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10972800" cy="514350"/>
            </a:xfrm>
            <a:prstGeom prst="roundRect">
              <a:avLst>
                <a:gd name="adj" fmla="val 25926"/>
              </a:avLst>
            </a:prstGeom>
            <a:solidFill>
              <a:srgbClr val="2A4A8A"/>
            </a:solidFill>
            <a:ln w="9525">
              <a:solidFill>
                <a:srgbClr val="4F8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392" y="1616392"/>
              <a:ext cx="7109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A few numbers capture the impact of fine-tuning with just forward passes.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228850"/>
            <a:ext cx="3467100" cy="2762250"/>
            <a:chOff x="609600" y="2228850"/>
            <a:chExt cx="3467100" cy="2762250"/>
          </a:xfrm>
        </p:grpSpPr>
        <p:sp>
          <p:nvSpPr>
            <p:cNvPr id="12" name="Rectangle 12"/>
            <p:cNvSpPr/>
            <p:nvPr/>
          </p:nvSpPr>
          <p:spPr>
            <a:xfrm>
              <a:off x="609600" y="2228850"/>
              <a:ext cx="3467100" cy="2762250"/>
            </a:xfrm>
            <a:prstGeom prst="roundRect">
              <a:avLst>
                <a:gd name="adj" fmla="val 482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228850"/>
              <a:ext cx="3467100" cy="57150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79161" y="3132772"/>
              <a:ext cx="23279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45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up to 12×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85850" y="37909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9635" y="4012406"/>
              <a:ext cx="27909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less memory than Adam fine-tuning 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9635" y="4231481"/>
              <a:ext cx="2795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OPT-13B — using no more memory than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9635" y="4450556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plain inference.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62450" y="2228850"/>
            <a:ext cx="3467100" cy="2762250"/>
            <a:chOff x="4362450" y="2228850"/>
            <a:chExt cx="3467100" cy="2762250"/>
          </a:xfrm>
        </p:grpSpPr>
        <p:sp>
          <p:nvSpPr>
            <p:cNvPr id="20" name="Rectangle 20"/>
            <p:cNvSpPr/>
            <p:nvPr/>
          </p:nvSpPr>
          <p:spPr>
            <a:xfrm>
              <a:off x="4362450" y="2228850"/>
              <a:ext cx="3467100" cy="2762250"/>
            </a:xfrm>
            <a:prstGeom prst="roundRect">
              <a:avLst>
                <a:gd name="adj" fmla="val 482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62450" y="2228850"/>
              <a:ext cx="3467100" cy="57150"/>
            </a:xfrm>
            <a:prstGeom prst="roundRect">
              <a:avLst>
                <a:gd name="adj" fmla="val 5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62289" y="3132772"/>
              <a:ext cx="106742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450" b="1" dirty="0">
                  <a:solidFill>
                    <a:srgbClr val="4F8CFF"/>
                  </a:solidFill>
                  <a:latin typeface="+mj-lt"/>
                  <a:ea typeface="+mj-ea"/>
                  <a:cs typeface="+mj-cs"/>
                </a:rPr>
                <a:t>30B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838700" y="37909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42485" y="4012406"/>
              <a:ext cx="25336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trainable on one 80GB A100, where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2485" y="4231481"/>
              <a:ext cx="2677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backpropagation with Adam fits only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2485" y="445055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2.7B.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15300" y="2228850"/>
            <a:ext cx="3467100" cy="2762250"/>
            <a:chOff x="8115300" y="2228850"/>
            <a:chExt cx="3467100" cy="2762250"/>
          </a:xfrm>
        </p:grpSpPr>
        <p:sp>
          <p:nvSpPr>
            <p:cNvPr id="28" name="Rectangle 28"/>
            <p:cNvSpPr/>
            <p:nvPr/>
          </p:nvSpPr>
          <p:spPr>
            <a:xfrm>
              <a:off x="8115300" y="2228850"/>
              <a:ext cx="3467100" cy="2762250"/>
            </a:xfrm>
            <a:prstGeom prst="roundRect">
              <a:avLst>
                <a:gd name="adj" fmla="val 482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15300" y="2228850"/>
              <a:ext cx="3467100" cy="57150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84861" y="3132772"/>
              <a:ext cx="23279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450" b="1" dirty="0">
                  <a:solidFill>
                    <a:srgbClr val="A78BFA"/>
                  </a:solidFill>
                  <a:latin typeface="+mj-lt"/>
                  <a:ea typeface="+mj-ea"/>
                  <a:cs typeface="+mj-cs"/>
                </a:rPr>
                <a:t>7/11 · ≈½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591550" y="37909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95335" y="40124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tasks within ~1% of full fine-tuning,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95335" y="4231481"/>
              <a:ext cx="2793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and roughly half the GPU-hours at the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95335" y="4450556"/>
              <a:ext cx="772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30B scale.</a:t>
              </a:r>
            </a:p>
          </p:txBody>
        </p:sp>
      </p:grpSp>
      <p:sp>
        <p:nvSpPr>
          <p:cNvPr id="36" name="cue_s09_c1_few_numbers_capture_impact" title="cue_s09_c1_few_numbers_capture_impact" descr="cue_s09_c1_few_numbers_capture_impact A few numbers capture the impact."/>
          <p:cNvSpPr/>
          <p:nvPr/>
        </p:nvSpPr>
        <p:spPr>
          <a:xfrm>
            <a:off x="609600" y="1428521"/>
            <a:ext cx="10972800" cy="5143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9_c2_mezo_delivers_twelvefold_reduction_m" title="cue_s09_c2_mezo_delivers_twelvefold_reduction_m" descr="cue_s09_c2_mezo_delivers_twelvefold_reduction_m MeZO delivers up to a twelvefold reduction in memory compared with Adam fine-tuning on OPT-thirteen-billion, using no more memory than inference."/>
          <p:cNvSpPr/>
          <p:nvPr/>
        </p:nvSpPr>
        <p:spPr>
          <a:xfrm>
            <a:off x="609600" y="2228850"/>
            <a:ext cx="3467404" cy="27624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ue_s09_c3_single_eighty_gigabyte_a100_trains_t" title="cue_s09_c3_single_eighty_gigabyte_a100_trains_t" descr="cue_s09_c3_single_eighty_gigabyte_a100_trains_t On a single eighty-gigabyte A100, it trains a thirty-billion-parameter model where backpropagation fits only two-point-seven billion."/>
          <p:cNvSpPr/>
          <p:nvPr/>
        </p:nvSpPr>
        <p:spPr>
          <a:xfrm>
            <a:off x="4362297" y="2228850"/>
            <a:ext cx="3467404" cy="27624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9_c4_matches_fine_tuning_within_about_one" title="cue_s09_c4_matches_fine_tuning_within_about_one" descr="cue_s09_c4_matches_fine_tuning_within_about_one It matches fine-tuning within about one percent on seven of eleven tasks, and it roughly halves the GPU-hours needed at the thirty-billion scale."/>
          <p:cNvSpPr/>
          <p:nvPr/>
        </p:nvSpPr>
        <p:spPr>
          <a:xfrm>
            <a:off x="8114995" y="2228850"/>
            <a:ext cx="3467404" cy="27624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9072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704523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Fine-Tuning Without Backpropagation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09 / 10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428750"/>
            <a:ext cx="7810500" cy="1066800"/>
            <a:chOff x="609600" y="1428750"/>
            <a:chExt cx="7810500" cy="106680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78105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76200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9061" y="1655921"/>
              <a:ext cx="29815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Backprop is no longer required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585" y="1974056"/>
              <a:ext cx="4539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The lasting takeaway: fine-tuning no longer strictly requires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585" y="218360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backpropagation.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628900"/>
            <a:ext cx="7810500" cy="1184434"/>
            <a:chOff x="609600" y="2628900"/>
            <a:chExt cx="7810500" cy="1184434"/>
          </a:xfrm>
        </p:grpSpPr>
        <p:sp>
          <p:nvSpPr>
            <p:cNvPr id="15" name="Rectangle 15"/>
            <p:cNvSpPr/>
            <p:nvPr/>
          </p:nvSpPr>
          <p:spPr>
            <a:xfrm>
              <a:off x="609600" y="2628900"/>
              <a:ext cx="78105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2781300"/>
              <a:ext cx="47625" cy="76200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9061" y="2856071"/>
              <a:ext cx="26707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Forward passes are enough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585" y="3174206"/>
              <a:ext cx="5263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With MeZO you can adapt very large language models using only forward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585" y="3383756"/>
              <a:ext cx="5469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passes, at the memory cost of inference — and still match gradient-based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585" y="3593306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quality on many tasks.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3829050"/>
            <a:ext cx="7810500" cy="1184434"/>
            <a:chOff x="609600" y="3829050"/>
            <a:chExt cx="7810500" cy="1184434"/>
          </a:xfrm>
        </p:grpSpPr>
        <p:sp>
          <p:nvSpPr>
            <p:cNvPr id="22" name="Rectangle 22"/>
            <p:cNvSpPr/>
            <p:nvPr/>
          </p:nvSpPr>
          <p:spPr>
            <a:xfrm>
              <a:off x="609600" y="3829050"/>
              <a:ext cx="78105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981450"/>
              <a:ext cx="47625" cy="7620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9061" y="4056221"/>
              <a:ext cx="24701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The pessimism was wrong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0585" y="4374356"/>
              <a:ext cx="5519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Starting from a strong pre-trained model, convergence is governed by the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585" y="4583906"/>
              <a:ext cx="5605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local structure of the loss landscape — not the sheer number of parameters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585" y="4793456"/>
              <a:ext cx="4038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— which is why MeZO works at billion-parameter scale.</a:t>
              </a:r>
            </a:p>
          </p:txBody>
        </p:sp>
      </p:grpSp>
      <p:sp>
        <p:nvSpPr>
          <p:cNvPr id="29" name="Rectangle 29"/>
          <p:cNvSpPr/>
          <p:nvPr/>
        </p:nvSpPr>
        <p:spPr>
          <a:xfrm>
            <a:off x="8648700" y="1428750"/>
            <a:ext cx="2933700" cy="3581400"/>
          </a:xfrm>
          <a:prstGeom prst="roundRect">
            <a:avLst>
              <a:gd name="adj" fmla="val 4545"/>
            </a:avLst>
          </a:prstGeom>
          <a:solidFill>
            <a:schemeClr val="accent6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30" name="TextBox 30"/>
          <p:cNvSpPr txBox="1"/>
          <p:nvPr/>
        </p:nvSpPr>
        <p:spPr>
          <a:xfrm>
            <a:off x="9527924" y="1591628"/>
            <a:ext cx="117525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MeZO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10529" y="2001202"/>
            <a:ext cx="14100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DB0D0"/>
                </a:solidFill>
                <a:latin typeface="+mn-lt"/>
                <a:ea typeface="+mn-ea"/>
                <a:cs typeface="+mn-cs"/>
              </a:rPr>
              <a:t>forward passes only</a:t>
            </a:r>
          </a:p>
        </p:txBody>
      </p:sp>
      <p:sp>
        <p:nvSpPr>
          <p:cNvPr id="32" name="Line 32"/>
          <p:cNvSpPr/>
          <p:nvPr/>
        </p:nvSpPr>
        <p:spPr>
          <a:xfrm>
            <a:off x="9124950" y="232410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9119616" y="2648902"/>
            <a:ext cx="5598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memory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158656" y="2632710"/>
            <a:ext cx="9535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= inference</a:t>
            </a:r>
          </a:p>
        </p:txBody>
      </p:sp>
      <p:sp>
        <p:nvSpPr>
          <p:cNvPr id="35" name="Line 35"/>
          <p:cNvSpPr/>
          <p:nvPr/>
        </p:nvSpPr>
        <p:spPr>
          <a:xfrm>
            <a:off x="9124950" y="291465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36" name="TextBox 36"/>
          <p:cNvSpPr txBox="1"/>
          <p:nvPr/>
        </p:nvSpPr>
        <p:spPr>
          <a:xfrm>
            <a:off x="9119616" y="3163252"/>
            <a:ext cx="3817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scale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36695" y="3147060"/>
            <a:ext cx="7755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up to 66B</a:t>
            </a:r>
          </a:p>
        </p:txBody>
      </p:sp>
      <p:sp>
        <p:nvSpPr>
          <p:cNvPr id="38" name="Line 38"/>
          <p:cNvSpPr/>
          <p:nvPr/>
        </p:nvSpPr>
        <p:spPr>
          <a:xfrm>
            <a:off x="9124950" y="342900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9119616" y="3677602"/>
            <a:ext cx="5078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quality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17409" y="3661410"/>
            <a:ext cx="6948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A78BFA"/>
                </a:solidFill>
                <a:latin typeface="+mn-lt"/>
                <a:ea typeface="+mn-ea"/>
                <a:cs typeface="+mn-cs"/>
              </a:rPr>
              <a:t>≈ full FT</a:t>
            </a:r>
          </a:p>
        </p:txBody>
      </p:sp>
      <p:sp>
        <p:nvSpPr>
          <p:cNvPr id="41" name="Line 41"/>
          <p:cNvSpPr/>
          <p:nvPr/>
        </p:nvSpPr>
        <p:spPr>
          <a:xfrm>
            <a:off x="9124950" y="394335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42" name="TextBox 42"/>
          <p:cNvSpPr txBox="1"/>
          <p:nvPr/>
        </p:nvSpPr>
        <p:spPr>
          <a:xfrm>
            <a:off x="9119616" y="419195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speed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32013" y="4175760"/>
            <a:ext cx="9802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FBBF24"/>
                </a:solidFill>
                <a:latin typeface="+mn-lt"/>
                <a:ea typeface="+mn-ea"/>
                <a:cs typeface="+mn-cs"/>
              </a:rPr>
              <a:t>≈ ½ GPU-hrs</a:t>
            </a:r>
          </a:p>
        </p:txBody>
      </p:sp>
      <p:sp>
        <p:nvSpPr>
          <p:cNvPr id="44" name="Line 44"/>
          <p:cNvSpPr/>
          <p:nvPr/>
        </p:nvSpPr>
        <p:spPr>
          <a:xfrm>
            <a:off x="9124950" y="445770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45" name="TextBox 45"/>
          <p:cNvSpPr txBox="1"/>
          <p:nvPr/>
        </p:nvSpPr>
        <p:spPr>
          <a:xfrm>
            <a:off x="9232796" y="4825841"/>
            <a:ext cx="17655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github.com/princeton-nlp/MeZO</a:t>
            </a:r>
          </a:p>
        </p:txBody>
      </p:sp>
      <p:sp>
        <p:nvSpPr>
          <p:cNvPr id="46" name="cue_s10_c1_lasting_takeaway_fine_tuning_longer" title="cue_s10_c1_lasting_takeaway_fine_tuning_longer" descr="cue_s10_c1_lasting_takeaway_fine_tuning_longer The lasting takeaway is that fine-tuning no longer strictly requires backpropagation."/>
          <p:cNvSpPr/>
          <p:nvPr/>
        </p:nvSpPr>
        <p:spPr>
          <a:xfrm>
            <a:off x="609600" y="1428521"/>
            <a:ext cx="7810195" cy="10671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10_c2_mezo_you_adapt_very_large" title="cue_s10_c2_mezo_you_adapt_very_large" descr="cue_s10_c2_mezo_you_adapt_very_large With MeZO, you can adapt very large language models using only forward passes, at the memory cost of inference, and still match the quality of gradient-based fine-tuning on many tasks."/>
          <p:cNvSpPr/>
          <p:nvPr/>
        </p:nvSpPr>
        <p:spPr>
          <a:xfrm>
            <a:off x="609600" y="2628671"/>
            <a:ext cx="7810195" cy="11843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10_c3_overturns_classical_worry_zeroth_ord" title="cue_s10_c3_overturns_classical_worry_zeroth_ord" descr="cue_s10_c3_overturns_classical_worry_zeroth_ord This overturns the classical worry that zeroth-order methods must scale badly with model size: when you start from a strong pre-trained model, convergence is governed by the effective local structure of the loss landscape rather than the sheer number of parame"/>
          <p:cNvSpPr/>
          <p:nvPr/>
        </p:nvSpPr>
        <p:spPr>
          <a:xfrm>
            <a:off x="609600" y="3828821"/>
            <a:ext cx="7810195" cy="11843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project">
  <a:themeElements>
    <a:clrScheme name="ppt_project">
      <a:dk1>
        <a:srgbClr val="000000"/>
      </a:dk1>
      <a:lt1>
        <a:srgbClr val="0B1220"/>
      </a:lt1>
      <a:dk2>
        <a:srgbClr val="1F497D"/>
      </a:dk2>
      <a:lt2>
        <a:srgbClr val="0B1220"/>
      </a:lt2>
      <a:accent1>
        <a:srgbClr val="4F81BD"/>
      </a:accent1>
      <a:accent2>
        <a:srgbClr val="C0504D"/>
      </a:accent2>
      <a:accent3>
        <a:srgbClr val="9BBB59"/>
      </a:accent3>
      <a:accent4>
        <a:srgbClr val="2A3B5C"/>
      </a:accent4>
      <a:accent5>
        <a:srgbClr val="152238"/>
      </a:accent5>
      <a:accent6>
        <a:srgbClr val="1B2B47"/>
      </a:accent6>
      <a:hlink>
        <a:srgbClr val="0000FF"/>
      </a:hlink>
      <a:folHlink>
        <a:srgbClr val="800080"/>
      </a:folHlink>
    </a:clrScheme>
    <a:fontScheme name="ppt_project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2026-07-15T17:19:48Z</dcterms:created>
  <dcterms:modified xsi:type="dcterms:W3CDTF">2026-07-15T17:19:48Z</dcterms:modified>
  <cp:category/>
  <cp:contentStatus/>
</cp:coreProperties>
</file>
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msgd_adagrad_video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sgd_adagrad_video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4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8400ed171f2d1851.png"/><Relationship Id="rId3" Type="http://schemas.openxmlformats.org/officeDocument/2006/relationships/image" Target="../media/image_e919784d9950d9fb.png"/><Relationship Id="rId4" Type="http://schemas.openxmlformats.org/officeDocument/2006/relationships/image" Target="../media/image_3ad3d0d3b0b34b38.png"/><Relationship Id="rId5" Type="http://schemas.openxmlformats.org/officeDocument/2006/relationships/image" Target="../media/image_df5416d57b008363.png"/><Relationship Id="rId6" Type="http://schemas.openxmlformats.org/officeDocument/2006/relationships/image" Target="../media/image_4353614899be94bf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762000" y="782002"/>
            <a:ext cx="5144811" cy="205359"/>
            <a:chOff x="762000" y="782002"/>
            <a:chExt cx="5144811" cy="205359"/>
          </a:xfrm>
        </p:grpSpPr>
        <p:sp>
          <p:nvSpPr>
            <p:cNvPr id="2" name="Rectangle 2"/>
            <p:cNvSpPr/>
            <p:nvPr/>
          </p:nvSpPr>
          <p:spPr>
            <a:xfrm>
              <a:off x="762000" y="819150"/>
              <a:ext cx="43815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309116" y="782002"/>
              <a:ext cx="45976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STOCHASTIC OPTIMIZATION · CONVERGENCE THEORY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23900" y="1343025"/>
            <a:ext cx="4866194" cy="1379887"/>
            <a:chOff x="723900" y="1343025"/>
            <a:chExt cx="4866194" cy="1379887"/>
          </a:xfrm>
        </p:grpSpPr>
        <p:sp>
          <p:nvSpPr>
            <p:cNvPr id="5" name="TextBox 5"/>
            <p:cNvSpPr txBox="1"/>
            <p:nvPr/>
          </p:nvSpPr>
          <p:spPr>
            <a:xfrm>
              <a:off x="723900" y="1343025"/>
              <a:ext cx="4866194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mSGD &amp; AdaGrad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72287" y="2099786"/>
              <a:ext cx="47444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On the Convergence of Momentum SGD and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72287" y="2385536"/>
              <a:ext cx="419153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AdaGrad for Stochastic Optimization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75716" y="2858452"/>
            <a:ext cx="4655249" cy="395859"/>
            <a:chOff x="775716" y="2858452"/>
            <a:chExt cx="4655249" cy="395859"/>
          </a:xfrm>
        </p:grpSpPr>
        <p:sp>
          <p:nvSpPr>
            <p:cNvPr id="9" name="TextBox 9"/>
            <p:cNvSpPr txBox="1"/>
            <p:nvPr/>
          </p:nvSpPr>
          <p:spPr>
            <a:xfrm>
              <a:off x="775716" y="2858452"/>
              <a:ext cx="22958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Ruinan Jin · Yu Xing · Xingkang He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75716" y="3048952"/>
              <a:ext cx="46552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CAS · UCAS · KTH Royal Institute of Technology · Notre Dame · 2022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81050" y="3390900"/>
            <a:ext cx="3495675" cy="419100"/>
            <a:chOff x="781050" y="3390900"/>
            <a:chExt cx="3495675" cy="419100"/>
          </a:xfrm>
        </p:grpSpPr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1050" y="3390900"/>
              <a:ext cx="466725" cy="419100"/>
            </a:xfrm>
            <a:prstGeom prst="rect">
              <a:avLst/>
            </a:prstGeom>
          </p:spPr>
        </p:pic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57325" y="3480134"/>
              <a:ext cx="1143000" cy="240632"/>
            </a:xfrm>
            <a:prstGeom prst="rect">
              <a:avLst/>
            </a:prstGeom>
          </p:spPr>
        </p:pic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09875" y="3390900"/>
              <a:ext cx="838200" cy="419100"/>
            </a:xfrm>
            <a:prstGeom prst="rect">
              <a:avLst/>
            </a:prstGeom>
          </p:spPr>
        </p:pic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57625" y="3390900"/>
              <a:ext cx="419100" cy="419100"/>
            </a:xfrm>
            <a:prstGeom prst="rect">
              <a:avLst/>
            </a:prstGeom>
          </p:spPr>
        </p:pic>
      </p:grpSp>
      <p:grpSp>
        <p:nvGrpSpPr>
          <p:cNvPr id="20" name="Group 20"/>
          <p:cNvGrpSpPr/>
          <p:nvPr/>
        </p:nvGrpSpPr>
        <p:grpSpPr>
          <a:xfrm>
            <a:off x="776097" y="3905250"/>
            <a:ext cx="2240750" cy="2238089"/>
            <a:chOff x="776097" y="3905250"/>
            <a:chExt cx="2240750" cy="2238089"/>
          </a:xfrm>
        </p:grpSpPr>
        <p:sp>
          <p:nvSpPr>
            <p:cNvPr id="17" name="Rectangle 17"/>
            <p:cNvSpPr/>
            <p:nvPr/>
          </p:nvSpPr>
          <p:spPr>
            <a:xfrm>
              <a:off x="781050" y="3905250"/>
              <a:ext cx="1905000" cy="19050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81050" y="3905250"/>
              <a:ext cx="1905000" cy="1905000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776097" y="5952649"/>
              <a:ext cx="22407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Paper · arxiv.org/abs/2201.11204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895600" y="3905250"/>
            <a:ext cx="3205450" cy="1905000"/>
            <a:chOff x="2895600" y="3905250"/>
            <a:chExt cx="3205450" cy="1905000"/>
          </a:xfrm>
        </p:grpSpPr>
        <p:sp>
          <p:nvSpPr>
            <p:cNvPr id="21" name="Rectangle 21"/>
            <p:cNvSpPr/>
            <p:nvPr/>
          </p:nvSpPr>
          <p:spPr>
            <a:xfrm>
              <a:off x="2895600" y="3905250"/>
              <a:ext cx="3124200" cy="1905000"/>
            </a:xfrm>
            <a:prstGeom prst="roundRect">
              <a:avLst>
                <a:gd name="adj" fmla="val 6000"/>
              </a:avLst>
            </a:prstGeom>
            <a:solidFill>
              <a:schemeClr val="accent6"/>
            </a:solidFill>
            <a:ln w="9525">
              <a:solidFill>
                <a:srgbClr val="C6D6FB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137535" y="4183856"/>
              <a:ext cx="17948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7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THE IDEA IN ONE LINE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136011" y="4608671"/>
              <a:ext cx="25097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Both optimizers converge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136011" y="4875371"/>
              <a:ext cx="296503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almost surely — and momentum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134868" y="5174932"/>
              <a:ext cx="2407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provably accelerates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134868" y="5441632"/>
              <a:ext cx="11481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plain SGD.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172200" y="990600"/>
            <a:ext cx="5257800" cy="5391150"/>
            <a:chOff x="6172200" y="990600"/>
            <a:chExt cx="5257800" cy="5391150"/>
          </a:xfrm>
        </p:grpSpPr>
        <p:sp>
          <p:nvSpPr>
            <p:cNvPr id="28" name="Rectangle 28"/>
            <p:cNvSpPr/>
            <p:nvPr/>
          </p:nvSpPr>
          <p:spPr>
            <a:xfrm>
              <a:off x="6172200" y="990600"/>
              <a:ext cx="5257800" cy="5391150"/>
            </a:xfrm>
            <a:prstGeom prst="roundRect">
              <a:avLst>
                <a:gd name="adj" fmla="val 253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71285" y="1269206"/>
              <a:ext cx="10464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75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AT A GLANCE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477000" y="1581150"/>
            <a:ext cx="4648200" cy="1428750"/>
            <a:chOff x="6477000" y="1581150"/>
            <a:chExt cx="4648200" cy="1428750"/>
          </a:xfrm>
        </p:grpSpPr>
        <p:sp>
          <p:nvSpPr>
            <p:cNvPr id="31" name="Rectangle 31"/>
            <p:cNvSpPr/>
            <p:nvPr/>
          </p:nvSpPr>
          <p:spPr>
            <a:xfrm>
              <a:off x="6477000" y="1581150"/>
              <a:ext cx="4648200" cy="1428750"/>
            </a:xfrm>
            <a:prstGeom prst="roundRect">
              <a:avLst>
                <a:gd name="adj" fmla="val 6667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77000" y="1581150"/>
              <a:ext cx="57150" cy="14287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36461" y="1789271"/>
              <a:ext cx="25902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Two workhorse optimizers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37604" y="2137410"/>
              <a:ext cx="32761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This paper studies momentum SGD (mSGD)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37604" y="2366010"/>
              <a:ext cx="3116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and AdaGrad — the accelerated variants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737604" y="2594610"/>
              <a:ext cx="28392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practitioners reach for by default.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477000" y="3162300"/>
            <a:ext cx="4648200" cy="1428750"/>
            <a:chOff x="6477000" y="3162300"/>
            <a:chExt cx="4648200" cy="1428750"/>
          </a:xfrm>
        </p:grpSpPr>
        <p:sp>
          <p:nvSpPr>
            <p:cNvPr id="38" name="Rectangle 38"/>
            <p:cNvSpPr/>
            <p:nvPr/>
          </p:nvSpPr>
          <p:spPr>
            <a:xfrm>
              <a:off x="6477000" y="3162300"/>
              <a:ext cx="4648200" cy="1428750"/>
            </a:xfrm>
            <a:prstGeom prst="roundRect">
              <a:avLst>
                <a:gd name="adj" fmla="val 6667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77000" y="3162300"/>
              <a:ext cx="57150" cy="14287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36461" y="3370421"/>
              <a:ext cx="20279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Theory lags practice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737604" y="3718560"/>
              <a:ext cx="2981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Despite huge practical success, their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737604" y="3947160"/>
              <a:ext cx="33803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convergence theory lags behind, especially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37604" y="4175760"/>
              <a:ext cx="34692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for the non-convex losses of deep learning.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477000" y="4743450"/>
            <a:ext cx="4648200" cy="1428750"/>
            <a:chOff x="6477000" y="4743450"/>
            <a:chExt cx="4648200" cy="1428750"/>
          </a:xfrm>
        </p:grpSpPr>
        <p:sp>
          <p:nvSpPr>
            <p:cNvPr id="45" name="Rectangle 45"/>
            <p:cNvSpPr/>
            <p:nvPr/>
          </p:nvSpPr>
          <p:spPr>
            <a:xfrm>
              <a:off x="6477000" y="4743450"/>
              <a:ext cx="4648200" cy="1428750"/>
            </a:xfrm>
            <a:prstGeom prst="roundRect">
              <a:avLst>
                <a:gd name="adj" fmla="val 6667"/>
              </a:avLst>
            </a:prstGeom>
            <a:solidFill>
              <a:schemeClr val="accent6"/>
            </a:solidFill>
            <a:ln w="9525">
              <a:solidFill>
                <a:srgbClr val="C6D6FB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477000" y="4743450"/>
              <a:ext cx="57150" cy="14287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36461" y="4951571"/>
              <a:ext cx="161713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What they prove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737604" y="5299710"/>
              <a:ext cx="33695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Both converge almost surely to stationary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737604" y="5528310"/>
              <a:ext cx="34692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points, and momentum provably accelerates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737604" y="5756910"/>
              <a:ext cx="32207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SGD — a rate that explains the speed-up.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757238" y="6570345"/>
            <a:ext cx="10677524" cy="176212"/>
            <a:chOff x="757238" y="6570345"/>
            <a:chExt cx="10677524" cy="176212"/>
          </a:xfrm>
        </p:grpSpPr>
        <p:sp>
          <p:nvSpPr>
            <p:cNvPr id="52" name="TextBox 52"/>
            <p:cNvSpPr txBox="1"/>
            <p:nvPr/>
          </p:nvSpPr>
          <p:spPr>
            <a:xfrm>
              <a:off x="757238" y="6570345"/>
              <a:ext cx="209437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mSGD &amp; AdaGrad · arXiv 2201.11204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0193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01 / 10</a:t>
              </a:r>
            </a:p>
          </p:txBody>
        </p:sp>
      </p:grpSp>
      <p:sp>
        <p:nvSpPr>
          <p:cNvPr id="55" name="cue_s01_c1_studies_two_workhorse_optimizers_mom" title="cue_s01_c1_studies_two_workhorse_optimizers_mom" descr="cue_s01_c1_studies_two_workhorse_optimizers_mom This paper studies two workhorse optimizers, momentum SGD and AdaGrad."/>
          <p:cNvSpPr/>
          <p:nvPr/>
        </p:nvSpPr>
        <p:spPr>
          <a:xfrm>
            <a:off x="6476390" y="1581454"/>
            <a:ext cx="4647590" cy="142852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cue_s01_c2_despite_practical_success_their_non" title="cue_s01_c2_despite_practical_success_their_non" descr="cue_s01_c2_despite_practical_success_their_non Despite practical success, their non-convex theory lags."/>
          <p:cNvSpPr/>
          <p:nvPr/>
        </p:nvSpPr>
        <p:spPr>
          <a:xfrm>
            <a:off x="6476390" y="3162223"/>
            <a:ext cx="4647590" cy="142852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cue_s01_c3_authors_prove_both_converge_almost" title="cue_s01_c3_authors_prove_both_converge_almost" descr="cue_s01_c3_authors_prove_both_converge_almost The authors prove both converge almost surely to stationary points, and show why momentum accelerates SGD."/>
          <p:cNvSpPr/>
          <p:nvPr/>
        </p:nvSpPr>
        <p:spPr>
          <a:xfrm>
            <a:off x="6476390" y="4743678"/>
            <a:ext cx="4647590" cy="142852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749427" y="572452"/>
            <a:ext cx="10680573" cy="865823"/>
            <a:chOff x="749427" y="572452"/>
            <a:chExt cx="10680573" cy="865823"/>
          </a:xfrm>
        </p:grpSpPr>
        <p:sp>
          <p:nvSpPr>
            <p:cNvPr id="2" name="Rectangle 2"/>
            <p:cNvSpPr/>
            <p:nvPr/>
          </p:nvSpPr>
          <p:spPr>
            <a:xfrm>
              <a:off x="762000" y="590550"/>
              <a:ext cx="3810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251966" y="572452"/>
              <a:ext cx="12646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 · PROBLEM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49427" y="875824"/>
              <a:ext cx="5610584" cy="4840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Great in practice, thin in theory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4287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762000" y="1733550"/>
            <a:ext cx="5257800" cy="1600200"/>
            <a:chOff x="762000" y="1733550"/>
            <a:chExt cx="5257800" cy="1600200"/>
          </a:xfrm>
        </p:grpSpPr>
        <p:sp>
          <p:nvSpPr>
            <p:cNvPr id="7" name="Rectangle 7"/>
            <p:cNvSpPr/>
            <p:nvPr/>
          </p:nvSpPr>
          <p:spPr>
            <a:xfrm>
              <a:off x="762000" y="1733550"/>
              <a:ext cx="5257800" cy="1600200"/>
            </a:xfrm>
            <a:prstGeom prst="roundRect">
              <a:avLst>
                <a:gd name="adj" fmla="val 7143"/>
              </a:avLst>
            </a:prstGeom>
            <a:solidFill>
              <a:srgbClr val="FBE9E2"/>
            </a:solidFill>
            <a:ln w="9525">
              <a:solidFill>
                <a:srgbClr val="F2C6B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733550"/>
              <a:ext cx="57150" cy="16002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21461" y="1941671"/>
              <a:ext cx="265856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Empirically superior to SGD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2604" y="2289810"/>
              <a:ext cx="35906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Momentum SGD and AdaGrad consistently beat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22604" y="2518410"/>
              <a:ext cx="32830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plain SGD across modern machine-learning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22604" y="2747010"/>
              <a:ext cx="37600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workloads — yet their theory stays incomplete.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62000" y="3505200"/>
            <a:ext cx="5373563" cy="2571750"/>
            <a:chOff x="762000" y="3505200"/>
            <a:chExt cx="5373563" cy="2571750"/>
          </a:xfrm>
        </p:grpSpPr>
        <p:sp>
          <p:nvSpPr>
            <p:cNvPr id="14" name="Rectangle 14"/>
            <p:cNvSpPr/>
            <p:nvPr/>
          </p:nvSpPr>
          <p:spPr>
            <a:xfrm>
              <a:off x="762000" y="3505200"/>
              <a:ext cx="5257800" cy="2571750"/>
            </a:xfrm>
            <a:prstGeom prst="roundRect">
              <a:avLst>
                <a:gd name="adj" fmla="val 4444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22985" y="3726656"/>
              <a:ext cx="33470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75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OPTIMIZER PERFORMANCE (SCHEMATIC)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428750" y="4762500"/>
              <a:ext cx="914400" cy="571500"/>
            </a:xfrm>
            <a:prstGeom prst="roundRect">
              <a:avLst>
                <a:gd name="adj" fmla="val 10000"/>
              </a:avLst>
            </a:prstGeom>
            <a:solidFill>
              <a:srgbClr val="8A97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742234" y="5441156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SGD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952750" y="4095750"/>
              <a:ext cx="914400" cy="1238250"/>
            </a:xfrm>
            <a:prstGeom prst="roundRect">
              <a:avLst>
                <a:gd name="adj" fmla="val 625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206194" y="5441156"/>
              <a:ext cx="4075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mSGD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476750" y="4095750"/>
              <a:ext cx="914400" cy="1238250"/>
            </a:xfrm>
            <a:prstGeom prst="roundRect">
              <a:avLst>
                <a:gd name="adj" fmla="val 625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18554" y="5441156"/>
              <a:ext cx="6307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AdaGrad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22985" y="5745956"/>
              <a:ext cx="51125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Accelerated variants converge faster and more robustly in practice.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286500" y="1733550"/>
            <a:ext cx="5143500" cy="4343400"/>
            <a:chOff x="6286500" y="1733550"/>
            <a:chExt cx="5143500" cy="4343400"/>
          </a:xfrm>
        </p:grpSpPr>
        <p:sp>
          <p:nvSpPr>
            <p:cNvPr id="24" name="Rectangle 24"/>
            <p:cNvSpPr/>
            <p:nvPr/>
          </p:nvSpPr>
          <p:spPr>
            <a:xfrm>
              <a:off x="6286500" y="1733550"/>
              <a:ext cx="5143500" cy="4343400"/>
            </a:xfrm>
            <a:prstGeom prst="roundRect">
              <a:avLst>
                <a:gd name="adj" fmla="val 2632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733550"/>
              <a:ext cx="57150" cy="434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47485" y="1993106"/>
              <a:ext cx="25089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75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WHAT THEORY CAN GUARANTEE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553200" y="2324100"/>
              <a:ext cx="4610100" cy="1428750"/>
            </a:xfrm>
            <a:prstGeom prst="roundRect">
              <a:avLst>
                <a:gd name="adj" fmla="val 6667"/>
              </a:avLst>
            </a:prstGeom>
            <a:solidFill>
              <a:srgbClr val="FBE9E2"/>
            </a:solidFill>
            <a:ln w="9525">
              <a:solidFill>
                <a:srgbClr val="F2C6B4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56273" y="2510314"/>
              <a:ext cx="24977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Only weak guarantees today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57035" y="2831306"/>
              <a:ext cx="29941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For possibly non-convex losses, existing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57035" y="3040856"/>
              <a:ext cx="3351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analyses prove convergence of a subsequence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57035" y="3250406"/>
              <a:ext cx="30193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or of time averages — not every iterate.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57416" y="3525202"/>
              <a:ext cx="29938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subsequence · time-average convergence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553200" y="3905250"/>
              <a:ext cx="4610100" cy="1428750"/>
            </a:xfrm>
            <a:prstGeom prst="roundRect">
              <a:avLst>
                <a:gd name="adj" fmla="val 6667"/>
              </a:avLst>
            </a:prstGeom>
            <a:solidFill>
              <a:srgbClr val="E1F3F0"/>
            </a:solidFill>
            <a:ln w="9525">
              <a:solidFill>
                <a:srgbClr val="B7E2D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56273" y="4091464"/>
              <a:ext cx="23708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What practitioners rely on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57035" y="4412456"/>
              <a:ext cx="3197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Almost-sure asymptotic convergence: with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757035" y="4622006"/>
              <a:ext cx="30193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probability one, the iterates themselves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57035" y="4831556"/>
              <a:ext cx="21071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settle at stationary points.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57416" y="5106352"/>
              <a:ext cx="26970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almost-sure asymptotic convergence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47485" y="5593556"/>
              <a:ext cx="47347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gap between these two is exactly what the paper closes.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57238" y="6570345"/>
            <a:ext cx="10677524" cy="176212"/>
            <a:chOff x="757238" y="6570345"/>
            <a:chExt cx="10677524" cy="176212"/>
          </a:xfrm>
        </p:grpSpPr>
        <p:sp>
          <p:nvSpPr>
            <p:cNvPr id="41" name="TextBox 41"/>
            <p:cNvSpPr txBox="1"/>
            <p:nvPr/>
          </p:nvSpPr>
          <p:spPr>
            <a:xfrm>
              <a:off x="757238" y="6570345"/>
              <a:ext cx="209437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mSGD &amp; AdaGrad · arXiv 2201.11204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0193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02 / 10</a:t>
              </a:r>
            </a:p>
          </p:txBody>
        </p:sp>
      </p:grpSp>
      <p:sp>
        <p:nvSpPr>
          <p:cNvPr id="44" name="cue_s02_c1_momentum_sgd_adagrad_consistently_be" title="cue_s02_c1_momentum_sgd_adagrad_consistently_be" descr="cue_s02_c1_momentum_sgd_adagrad_consistently_be Momentum SGD and AdaGrad consistently beat plain SGD, yet their theory is incomplete."/>
          <p:cNvSpPr/>
          <p:nvPr/>
        </p:nvSpPr>
        <p:spPr>
          <a:xfrm>
            <a:off x="762000" y="1733702"/>
            <a:ext cx="5258409" cy="159997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ue_s02_c2_possibly_non_convex_losses_existing" title="cue_s02_c2_possibly_non_convex_losses_existing" descr="cue_s02_c2_possibly_non_convex_losses_existing For possibly non-convex losses, existing analyses prove only weak guarantees, like subsequence or time-average convergence, not the almost-sure convergence practitioners rely on."/>
          <p:cNvSpPr/>
          <p:nvPr/>
        </p:nvSpPr>
        <p:spPr>
          <a:xfrm>
            <a:off x="6286195" y="1733702"/>
            <a:ext cx="5143804" cy="434317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749427" y="572452"/>
            <a:ext cx="10680573" cy="865823"/>
            <a:chOff x="749427" y="572452"/>
            <a:chExt cx="10680573" cy="865823"/>
          </a:xfrm>
        </p:grpSpPr>
        <p:sp>
          <p:nvSpPr>
            <p:cNvPr id="2" name="Rectangle 2"/>
            <p:cNvSpPr/>
            <p:nvPr/>
          </p:nvSpPr>
          <p:spPr>
            <a:xfrm>
              <a:off x="762000" y="590550"/>
              <a:ext cx="3810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251966" y="572452"/>
              <a:ext cx="15404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 · MOTIVATION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49427" y="875824"/>
              <a:ext cx="8309559" cy="4840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Analyze the algorithms as they are actually used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4287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762000" y="1733550"/>
            <a:ext cx="5257800" cy="2000250"/>
            <a:chOff x="762000" y="1733550"/>
            <a:chExt cx="5257800" cy="2000250"/>
          </a:xfrm>
        </p:grpSpPr>
        <p:sp>
          <p:nvSpPr>
            <p:cNvPr id="7" name="Rectangle 7"/>
            <p:cNvSpPr/>
            <p:nvPr/>
          </p:nvSpPr>
          <p:spPr>
            <a:xfrm>
              <a:off x="762000" y="1733550"/>
              <a:ext cx="5257800" cy="2000250"/>
            </a:xfrm>
            <a:prstGeom prst="roundRect">
              <a:avLst>
                <a:gd name="adj" fmla="val 5714"/>
              </a:avLst>
            </a:prstGeom>
            <a:solidFill>
              <a:schemeClr val="accent6"/>
            </a:solidFill>
            <a:ln w="9525">
              <a:solidFill>
                <a:srgbClr val="C6D6FB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733550"/>
              <a:ext cx="57150" cy="20002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22985" y="1974056"/>
              <a:ext cx="19035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75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WHY REVISIT THIS NOW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11936" y="2367915"/>
              <a:ext cx="217593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Why now?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22604" y="3032760"/>
              <a:ext cx="34908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gap between what practitioners use and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22604" y="3261360"/>
              <a:ext cx="3283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what theory actually covers is still wide.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286500" y="1733550"/>
            <a:ext cx="5143500" cy="2000250"/>
            <a:chOff x="6286500" y="1733550"/>
            <a:chExt cx="5143500" cy="2000250"/>
          </a:xfrm>
        </p:grpSpPr>
        <p:sp>
          <p:nvSpPr>
            <p:cNvPr id="14" name="Rectangle 14"/>
            <p:cNvSpPr/>
            <p:nvPr/>
          </p:nvSpPr>
          <p:spPr>
            <a:xfrm>
              <a:off x="6286500" y="1733550"/>
              <a:ext cx="5143500" cy="2000250"/>
            </a:xfrm>
            <a:prstGeom prst="roundRect">
              <a:avLst>
                <a:gd name="adj" fmla="val 5714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286500" y="1733550"/>
              <a:ext cx="57150" cy="20002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547485" y="1974056"/>
              <a:ext cx="20959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75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MOMENTUM COEFFICIENT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6342" y="2349818"/>
              <a:ext cx="2148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Theory: α shrinking → 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46342" y="2635568"/>
              <a:ext cx="21500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Practice: α fixed ≈ 0.9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47485" y="3040856"/>
              <a:ext cx="34993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Prior momentum proofs need a coefficient that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47485" y="3250406"/>
              <a:ext cx="35395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decays to zero, but practitioners hold it fixed.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62000" y="3981450"/>
            <a:ext cx="5257800" cy="2095500"/>
            <a:chOff x="762000" y="3981450"/>
            <a:chExt cx="5257800" cy="2095500"/>
          </a:xfrm>
        </p:grpSpPr>
        <p:sp>
          <p:nvSpPr>
            <p:cNvPr id="22" name="Rectangle 22"/>
            <p:cNvSpPr/>
            <p:nvPr/>
          </p:nvSpPr>
          <p:spPr>
            <a:xfrm>
              <a:off x="762000" y="3981450"/>
              <a:ext cx="5257800" cy="2095500"/>
            </a:xfrm>
            <a:prstGeom prst="roundRect">
              <a:avLst>
                <a:gd name="adj" fmla="val 5455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762000" y="3981450"/>
              <a:ext cx="57150" cy="20955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22985" y="4221956"/>
              <a:ext cx="20648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75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ADAGRAD, THE REAL ONE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22223" y="4624864"/>
              <a:ext cx="32667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Prior results cover a modified form,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22985" y="4907756"/>
              <a:ext cx="31806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not the standard norm-based AdaGrad that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22985" y="5117306"/>
              <a:ext cx="23710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is actually deployed in practice.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028700" y="5448300"/>
              <a:ext cx="4724400" cy="419100"/>
            </a:xfrm>
            <a:prstGeom prst="roundRect">
              <a:avLst>
                <a:gd name="adj" fmla="val 18182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213485" y="5593556"/>
              <a:ext cx="37698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modified AdaGrad → standard norm-form AdaGrad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286500" y="3981450"/>
            <a:ext cx="5143500" cy="2095500"/>
            <a:chOff x="6286500" y="3981450"/>
            <a:chExt cx="5143500" cy="2095500"/>
          </a:xfrm>
        </p:grpSpPr>
        <p:sp>
          <p:nvSpPr>
            <p:cNvPr id="31" name="Rectangle 31"/>
            <p:cNvSpPr/>
            <p:nvPr/>
          </p:nvSpPr>
          <p:spPr>
            <a:xfrm>
              <a:off x="6286500" y="3981450"/>
              <a:ext cx="5143500" cy="2095500"/>
            </a:xfrm>
            <a:prstGeom prst="roundRect">
              <a:avLst>
                <a:gd name="adj" fmla="val 5455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47485" y="4221956"/>
              <a:ext cx="19681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75" dirty="0">
                  <a:solidFill>
                    <a:srgbClr val="7CA0EC"/>
                  </a:solidFill>
                  <a:latin typeface="+mn-lt"/>
                  <a:ea typeface="+mn-ea"/>
                  <a:cs typeface="+mn-cs"/>
                </a:rPr>
                <a:t>ASSUMPTIONS DROPPED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45580" y="4600575"/>
              <a:ext cx="10117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convexity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16117" y="4641056"/>
              <a:ext cx="6525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b="1" dirty="0">
                  <a:solidFill>
                    <a:srgbClr val="FF9B82"/>
                  </a:solidFill>
                  <a:latin typeface="+mn-lt"/>
                  <a:ea typeface="+mn-ea"/>
                  <a:cs typeface="+mn-cs"/>
                </a:rPr>
                <a:t>removed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45580" y="4981575"/>
              <a:ext cx="17750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bounded iterates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516417" y="5022056"/>
              <a:ext cx="6525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b="1" dirty="0">
                  <a:solidFill>
                    <a:srgbClr val="FF9B82"/>
                  </a:solidFill>
                  <a:latin typeface="+mn-lt"/>
                  <a:ea typeface="+mn-ea"/>
                  <a:cs typeface="+mn-cs"/>
                </a:rPr>
                <a:t>removed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45580" y="5362575"/>
              <a:ext cx="24747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uniformly bounded noise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587658" y="5403056"/>
              <a:ext cx="5813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b="1" dirty="0">
                  <a:solidFill>
                    <a:srgbClr val="8BE0D4"/>
                  </a:solidFill>
                  <a:latin typeface="+mn-lt"/>
                  <a:ea typeface="+mn-ea"/>
                  <a:cs typeface="+mn-cs"/>
                </a:rPr>
                <a:t>relaxed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47485" y="5726906"/>
              <a:ext cx="36649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7CFDA"/>
                  </a:solidFill>
                  <a:latin typeface="+mn-lt"/>
                  <a:ea typeface="+mn-ea"/>
                  <a:cs typeface="+mn-cs"/>
                </a:rPr>
                <a:t>Analyzed under mild, realistic conditions instead.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57238" y="6570345"/>
            <a:ext cx="10677524" cy="176212"/>
            <a:chOff x="757238" y="6570345"/>
            <a:chExt cx="10677524" cy="176212"/>
          </a:xfrm>
        </p:grpSpPr>
        <p:sp>
          <p:nvSpPr>
            <p:cNvPr id="41" name="TextBox 41"/>
            <p:cNvSpPr txBox="1"/>
            <p:nvPr/>
          </p:nvSpPr>
          <p:spPr>
            <a:xfrm>
              <a:off x="757238" y="6570345"/>
              <a:ext cx="209437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mSGD &amp; AdaGrad · arXiv 2201.11204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0193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03 / 10</a:t>
              </a:r>
            </a:p>
          </p:txBody>
        </p:sp>
      </p:grpSp>
      <p:sp>
        <p:nvSpPr>
          <p:cNvPr id="44" name="cue_s03_c1_why_now" title="cue_s03_c1_why_now" descr="cue_s03_c1_why_now Why now?"/>
          <p:cNvSpPr/>
          <p:nvPr/>
        </p:nvSpPr>
        <p:spPr>
          <a:xfrm>
            <a:off x="762000" y="1733702"/>
            <a:ext cx="5258409" cy="200047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ue_s03_c2_prior_momentum_proofs_need_coefficie" title="cue_s03_c2_prior_momentum_proofs_need_coefficie" descr="cue_s03_c2_prior_momentum_proofs_need_coefficie Prior momentum proofs need a coefficient shrinking to zero, but practitioners fix it near zero point nine."/>
          <p:cNvSpPr/>
          <p:nvPr/>
        </p:nvSpPr>
        <p:spPr>
          <a:xfrm>
            <a:off x="6286195" y="1733702"/>
            <a:ext cx="5143804" cy="200047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ue_s03_c3_prior_adagrad_results_cover_modified" title="cue_s03_c3_prior_adagrad_results_cover_modified" descr="cue_s03_c3_prior_adagrad_results_cover_modified Prior AdaGrad results cover a modified form, not the standard one."/>
          <p:cNvSpPr/>
          <p:nvPr/>
        </p:nvSpPr>
        <p:spPr>
          <a:xfrm>
            <a:off x="762000" y="3981754"/>
            <a:ext cx="5258409" cy="209580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ue_s03_c4_drops_convexity_bounded_iterate_boun" title="cue_s03_c4_drops_convexity_bounded_iterate_boun" descr="cue_s03_c4_drops_convexity_bounded_iterate_boun It drops convexity, bounded-iterate, and bounded-noise assumptions."/>
          <p:cNvSpPr/>
          <p:nvPr/>
        </p:nvSpPr>
        <p:spPr>
          <a:xfrm>
            <a:off x="6286195" y="3981754"/>
            <a:ext cx="5143804" cy="209580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749427" y="572452"/>
            <a:ext cx="10680573" cy="865823"/>
            <a:chOff x="749427" y="572452"/>
            <a:chExt cx="10680573" cy="865823"/>
          </a:xfrm>
        </p:grpSpPr>
        <p:sp>
          <p:nvSpPr>
            <p:cNvPr id="2" name="Rectangle 2"/>
            <p:cNvSpPr/>
            <p:nvPr/>
          </p:nvSpPr>
          <p:spPr>
            <a:xfrm>
              <a:off x="762000" y="590550"/>
              <a:ext cx="3810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251966" y="572452"/>
              <a:ext cx="17242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 · CONTRIBUTION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49427" y="875824"/>
              <a:ext cx="5295309" cy="4840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Three results — all almost sure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4287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762000" y="1733550"/>
            <a:ext cx="5257800" cy="1428750"/>
            <a:chOff x="762000" y="1733550"/>
            <a:chExt cx="5257800" cy="1428750"/>
          </a:xfrm>
        </p:grpSpPr>
        <p:sp>
          <p:nvSpPr>
            <p:cNvPr id="7" name="Rectangle 7"/>
            <p:cNvSpPr/>
            <p:nvPr/>
          </p:nvSpPr>
          <p:spPr>
            <a:xfrm>
              <a:off x="762000" y="1733550"/>
              <a:ext cx="5257800" cy="1428750"/>
            </a:xfrm>
            <a:prstGeom prst="roundRect">
              <a:avLst>
                <a:gd name="adj" fmla="val 8000"/>
              </a:avLst>
            </a:prstGeom>
            <a:solidFill>
              <a:schemeClr val="accent6"/>
            </a:solidFill>
            <a:ln w="9525">
              <a:solidFill>
                <a:srgbClr val="C6D6FB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733550"/>
              <a:ext cx="57150" cy="14287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22985" y="1974056"/>
              <a:ext cx="17818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75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MAIN CONTRIBUTIONS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13460" y="2400300"/>
              <a:ext cx="415672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Three contributions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22985" y="2926556"/>
              <a:ext cx="35470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one unifying theme: convergence, almost surely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62000" y="3352800"/>
            <a:ext cx="5257800" cy="2724150"/>
            <a:chOff x="762000" y="3352800"/>
            <a:chExt cx="5257800" cy="2724150"/>
          </a:xfrm>
        </p:grpSpPr>
        <p:sp>
          <p:nvSpPr>
            <p:cNvPr id="13" name="Rectangle 13"/>
            <p:cNvSpPr/>
            <p:nvPr/>
          </p:nvSpPr>
          <p:spPr>
            <a:xfrm>
              <a:off x="762000" y="3352800"/>
              <a:ext cx="5257800" cy="2724150"/>
            </a:xfrm>
            <a:prstGeom prst="roundRect">
              <a:avLst>
                <a:gd name="adj" fmla="val 4196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762000" y="3352800"/>
              <a:ext cx="57150" cy="27241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15746" y="3458528"/>
              <a:ext cx="2241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21511" y="3579971"/>
              <a:ext cx="29547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mSGD converges almost surely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23035" y="3879056"/>
              <a:ext cx="33636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Iterates reach a connected set of stationary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23035" y="4088606"/>
              <a:ext cx="26876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points, even for non-convex losses.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428750" y="4457700"/>
              <a:ext cx="4305300" cy="1428750"/>
            </a:xfrm>
            <a:prstGeom prst="roundRect">
              <a:avLst>
                <a:gd name="adj" fmla="val 6667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3562350" y="4676775"/>
              <a:ext cx="1828800" cy="990600"/>
            </a:xfrm>
            <a:prstGeom prst="ellipse">
              <a:avLst/>
            </a:prstGeom>
            <a:solidFill>
              <a:srgbClr val="E1F3F0"/>
            </a:solidFill>
            <a:ln w="9525">
              <a:solidFill>
                <a:srgbClr val="B7E2D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973111" y="5114449"/>
              <a:ext cx="10072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stationary set</a:t>
              </a:r>
            </a:p>
          </p:txBody>
        </p:sp>
        <p:sp>
          <p:nvSpPr>
            <p:cNvPr id="22" name="Polyline 22"/>
            <p:cNvSpPr/>
            <p:nvPr/>
          </p:nvSpPr>
          <p:spPr>
            <a:xfrm>
              <a:off x="1714500" y="4762500"/>
              <a:ext cx="2019300" cy="533400"/>
            </a:xfrm>
            <a:custGeom>
              <a:avLst/>
              <a:gdLst/>
              <a:ahLst/>
              <a:cxnLst/>
              <a:rect l="l" t="t" r="r" b="b"/>
              <a:pathLst>
                <a:path w="2019300" h="533400">
                  <a:moveTo>
                    <a:pt x="0" y="0"/>
                  </a:moveTo>
                  <a:lnTo>
                    <a:pt x="571500" y="533400"/>
                  </a:lnTo>
                  <a:lnTo>
                    <a:pt x="1143000" y="114300"/>
                  </a:lnTo>
                  <a:lnTo>
                    <a:pt x="1600200" y="533400"/>
                  </a:lnTo>
                  <a:lnTo>
                    <a:pt x="2019300" y="266700"/>
                  </a:lnTo>
                </a:path>
              </a:pathLst>
            </a:custGeom>
            <a:noFill/>
            <a:ln w="28575" cap="rnd">
              <a:solidFill>
                <a:schemeClr val="accent1"/>
              </a:solidFill>
              <a:round/>
            </a:ln>
          </p:spPr>
        </p:sp>
        <p:sp>
          <p:nvSpPr>
            <p:cNvPr id="23" name="Ellipse 23"/>
            <p:cNvSpPr/>
            <p:nvPr/>
          </p:nvSpPr>
          <p:spPr>
            <a:xfrm>
              <a:off x="1666875" y="47148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2238375" y="52482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2809875" y="4829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267075" y="52482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686175" y="49815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709547" y="5571649"/>
              <a:ext cx="10389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noisy iterates θ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286500" y="1733550"/>
            <a:ext cx="5143500" cy="2095500"/>
            <a:chOff x="6286500" y="1733550"/>
            <a:chExt cx="5143500" cy="2095500"/>
          </a:xfrm>
        </p:grpSpPr>
        <p:sp>
          <p:nvSpPr>
            <p:cNvPr id="30" name="Rectangle 30"/>
            <p:cNvSpPr/>
            <p:nvPr/>
          </p:nvSpPr>
          <p:spPr>
            <a:xfrm>
              <a:off x="6286500" y="1733550"/>
              <a:ext cx="5143500" cy="2095500"/>
            </a:xfrm>
            <a:prstGeom prst="roundRect">
              <a:avLst>
                <a:gd name="adj" fmla="val 5455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86500" y="1733550"/>
              <a:ext cx="57150" cy="20955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40246" y="1839278"/>
              <a:ext cx="2241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946011" y="1960721"/>
              <a:ext cx="297146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quantified convergence rate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47485" y="2374106"/>
              <a:ext cx="32962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paper derives an explicit rate for mSGD,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47485" y="2583656"/>
              <a:ext cx="29439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giving a theoretical explanation for why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47485" y="2793206"/>
              <a:ext cx="31333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momentum acts as an acceleration of SGD.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553200" y="3105150"/>
              <a:ext cx="4610100" cy="533400"/>
            </a:xfrm>
            <a:prstGeom prst="roundRect">
              <a:avLst>
                <a:gd name="adj" fmla="val 14286"/>
              </a:avLst>
            </a:prstGeom>
            <a:solidFill>
              <a:srgbClr val="E1F3F0"/>
            </a:solidFill>
            <a:ln w="9525">
              <a:solidFill>
                <a:srgbClr val="B7E2D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56654" y="3299460"/>
              <a:ext cx="26922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momentum ⇒ faster convergence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286500" y="4057650"/>
            <a:ext cx="5143500" cy="2019300"/>
            <a:chOff x="6286500" y="4057650"/>
            <a:chExt cx="5143500" cy="2019300"/>
          </a:xfrm>
        </p:grpSpPr>
        <p:sp>
          <p:nvSpPr>
            <p:cNvPr id="40" name="Rectangle 40"/>
            <p:cNvSpPr/>
            <p:nvPr/>
          </p:nvSpPr>
          <p:spPr>
            <a:xfrm>
              <a:off x="6286500" y="4057650"/>
              <a:ext cx="5143500" cy="2019300"/>
            </a:xfrm>
            <a:prstGeom prst="roundRect">
              <a:avLst>
                <a:gd name="adj" fmla="val 5660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86500" y="4057650"/>
              <a:ext cx="57150" cy="20193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40246" y="4163378"/>
              <a:ext cx="2241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46011" y="4284821"/>
              <a:ext cx="22533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Standard AdaGrad, too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47485" y="4698206"/>
              <a:ext cx="3344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iterates of standard norm-form AdaGrad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547485" y="4907756"/>
              <a:ext cx="31852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also converge almost surely to a connected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547485" y="5117306"/>
              <a:ext cx="33209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set of stationary points — again non-convex.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553200" y="5429250"/>
              <a:ext cx="4610100" cy="4572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737985" y="5593556"/>
              <a:ext cx="37634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extends weak subsequence results → almost sure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757238" y="6570345"/>
            <a:ext cx="10677524" cy="176212"/>
            <a:chOff x="757238" y="6570345"/>
            <a:chExt cx="10677524" cy="176212"/>
          </a:xfrm>
        </p:grpSpPr>
        <p:sp>
          <p:nvSpPr>
            <p:cNvPr id="50" name="TextBox 50"/>
            <p:cNvSpPr txBox="1"/>
            <p:nvPr/>
          </p:nvSpPr>
          <p:spPr>
            <a:xfrm>
              <a:off x="757238" y="6570345"/>
              <a:ext cx="209437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mSGD &amp; AdaGrad · arXiv 2201.11204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0193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04 / 10</a:t>
              </a:r>
            </a:p>
          </p:txBody>
        </p:sp>
      </p:grpSp>
      <p:sp>
        <p:nvSpPr>
          <p:cNvPr id="53" name="cue_s04_c1_three_contributions" title="cue_s04_c1_three_contributions" descr="cue_s04_c1_three_contributions Three contributions."/>
          <p:cNvSpPr/>
          <p:nvPr/>
        </p:nvSpPr>
        <p:spPr>
          <a:xfrm>
            <a:off x="762000" y="1733702"/>
            <a:ext cx="5258409" cy="142852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cue_s04_c2_first_momentum_sgd_iterates_converge" title="cue_s04_c2_first_momentum_sgd_iterates_converge" descr="cue_s04_c2_first_momentum_sgd_iterates_converge First, momentum SGD iterates converge almost surely to a connected set of stationary points, even for non-convex losses."/>
          <p:cNvSpPr/>
          <p:nvPr/>
        </p:nvSpPr>
        <p:spPr>
          <a:xfrm>
            <a:off x="762000" y="3352876"/>
            <a:ext cx="5258409" cy="272399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cue_s04_c3_second_quantifies_msgd_rate_explaini" title="cue_s04_c3_second_quantifies_msgd_rate_explaini" descr="cue_s04_c3_second_quantifies_msgd_rate_explaini Second, it quantifies mSGD's rate, explaining momentum's acceleration."/>
          <p:cNvSpPr/>
          <p:nvPr/>
        </p:nvSpPr>
        <p:spPr>
          <a:xfrm>
            <a:off x="6286195" y="1733702"/>
            <a:ext cx="5143804" cy="209580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cue_s04_c4_third_standard_norm_form_adagrad_als" title="cue_s04_c4_third_standard_norm_form_adagrad_als" descr="cue_s04_c4_third_standard_norm_form_adagrad_als Third, standard norm-form AdaGrad also converges almost surely."/>
          <p:cNvSpPr/>
          <p:nvPr/>
        </p:nvSpPr>
        <p:spPr>
          <a:xfrm>
            <a:off x="6286195" y="4057878"/>
            <a:ext cx="5143804" cy="20189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749427" y="572452"/>
            <a:ext cx="10680573" cy="865823"/>
            <a:chOff x="749427" y="572452"/>
            <a:chExt cx="10680573" cy="865823"/>
          </a:xfrm>
        </p:grpSpPr>
        <p:sp>
          <p:nvSpPr>
            <p:cNvPr id="2" name="Rectangle 2"/>
            <p:cNvSpPr/>
            <p:nvPr/>
          </p:nvSpPr>
          <p:spPr>
            <a:xfrm>
              <a:off x="762000" y="590550"/>
              <a:ext cx="3810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251966" y="572452"/>
              <a:ext cx="11571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05 · METHOD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49427" y="875824"/>
              <a:ext cx="9553586" cy="4840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Stochastic approximation with a relaxed noise condition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4287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762000" y="1733550"/>
            <a:ext cx="5257800" cy="2209800"/>
            <a:chOff x="762000" y="1733550"/>
            <a:chExt cx="5257800" cy="2209800"/>
          </a:xfrm>
        </p:grpSpPr>
        <p:sp>
          <p:nvSpPr>
            <p:cNvPr id="7" name="Rectangle 7"/>
            <p:cNvSpPr/>
            <p:nvPr/>
          </p:nvSpPr>
          <p:spPr>
            <a:xfrm>
              <a:off x="762000" y="1733550"/>
              <a:ext cx="5257800" cy="2209800"/>
            </a:xfrm>
            <a:prstGeom prst="roundRect">
              <a:avLst>
                <a:gd name="adj" fmla="val 5172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733550"/>
              <a:ext cx="57150" cy="22098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22985" y="1974056"/>
              <a:ext cx="24313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75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STOCHASTIC APPROXIMATION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1842" y="2235518"/>
              <a:ext cx="27287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Iterates track a limiting ODE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22985" y="2526506"/>
              <a:ext cx="34993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Each algorithm is a noisy, discrete version of a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22985" y="2736056"/>
              <a:ext cx="34641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continuous gradient flow toward stationarity.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028700" y="3067050"/>
              <a:ext cx="4724400" cy="742950"/>
            </a:xfrm>
            <a:prstGeom prst="roundRect">
              <a:avLst>
                <a:gd name="adj" fmla="val 12821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14" name="Polyline 14"/>
            <p:cNvSpPr/>
            <p:nvPr/>
          </p:nvSpPr>
          <p:spPr>
            <a:xfrm>
              <a:off x="1219200" y="3162300"/>
              <a:ext cx="4343400" cy="533400"/>
            </a:xfrm>
            <a:custGeom>
              <a:avLst/>
              <a:gdLst/>
              <a:ahLst/>
              <a:cxnLst/>
              <a:rect l="l" t="t" r="r" b="b"/>
              <a:pathLst>
                <a:path w="4343400" h="533400">
                  <a:moveTo>
                    <a:pt x="0" y="533400"/>
                  </a:moveTo>
                  <a:lnTo>
                    <a:pt x="685800" y="266700"/>
                  </a:lnTo>
                  <a:lnTo>
                    <a:pt x="1447800" y="381000"/>
                  </a:lnTo>
                  <a:lnTo>
                    <a:pt x="2209800" y="114300"/>
                  </a:lnTo>
                  <a:lnTo>
                    <a:pt x="2971800" y="190500"/>
                  </a:lnTo>
                  <a:lnTo>
                    <a:pt x="3733800" y="0"/>
                  </a:lnTo>
                  <a:lnTo>
                    <a:pt x="4343400" y="57150"/>
                  </a:lnTo>
                </a:path>
              </a:pathLst>
            </a:custGeom>
            <a:noFill/>
            <a:ln w="28575" cap="rnd">
              <a:solidFill>
                <a:schemeClr val="accent1"/>
              </a:solidFill>
              <a:round/>
            </a:ln>
          </p:spPr>
        </p:sp>
        <p:sp>
          <p:nvSpPr>
            <p:cNvPr id="15" name="Ellipse 15"/>
            <p:cNvSpPr/>
            <p:nvPr/>
          </p:nvSpPr>
          <p:spPr>
            <a:xfrm>
              <a:off x="1485900" y="356235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2247900" y="344805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3009900" y="337185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3771900" y="327660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4533900" y="321945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5295900" y="316230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214247" y="3247549"/>
              <a:ext cx="19492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noisy iterates ≈ gradient flow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62000" y="4095750"/>
            <a:ext cx="5257800" cy="1981200"/>
            <a:chOff x="762000" y="4095750"/>
            <a:chExt cx="5257800" cy="1981200"/>
          </a:xfrm>
        </p:grpSpPr>
        <p:sp>
          <p:nvSpPr>
            <p:cNvPr id="23" name="Rectangle 23"/>
            <p:cNvSpPr/>
            <p:nvPr/>
          </p:nvSpPr>
          <p:spPr>
            <a:xfrm>
              <a:off x="762000" y="4095750"/>
              <a:ext cx="5257800" cy="1981200"/>
            </a:xfrm>
            <a:prstGeom prst="roundRect">
              <a:avLst>
                <a:gd name="adj" fmla="val 5769"/>
              </a:avLst>
            </a:prstGeom>
            <a:solidFill>
              <a:srgbClr val="E1F3F0"/>
            </a:solidFill>
            <a:ln w="9525">
              <a:solidFill>
                <a:srgbClr val="B7E2D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762000" y="4095750"/>
              <a:ext cx="57150" cy="1981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22985" y="4336256"/>
              <a:ext cx="14822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75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STABILITY LEMMA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20318" y="4698682"/>
              <a:ext cx="28728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E[ g(θₙ) ] stays bounded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22985" y="5136356"/>
              <a:ext cx="34765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 stability lemma guarantees the expected loss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22985" y="5345906"/>
              <a:ext cx="33887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remains bounded throughout training, keeping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22985" y="5555456"/>
              <a:ext cx="26198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iterates in a controlled region.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286500" y="1733550"/>
            <a:ext cx="5143500" cy="2209800"/>
            <a:chOff x="6286500" y="1733550"/>
            <a:chExt cx="5143500" cy="2209800"/>
          </a:xfrm>
        </p:grpSpPr>
        <p:sp>
          <p:nvSpPr>
            <p:cNvPr id="31" name="Rectangle 31"/>
            <p:cNvSpPr/>
            <p:nvPr/>
          </p:nvSpPr>
          <p:spPr>
            <a:xfrm>
              <a:off x="6286500" y="1733550"/>
              <a:ext cx="5143500" cy="2209800"/>
            </a:xfrm>
            <a:prstGeom prst="roundRect">
              <a:avLst>
                <a:gd name="adj" fmla="val 5172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47485" y="1974056"/>
              <a:ext cx="2253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75" dirty="0">
                  <a:solidFill>
                    <a:srgbClr val="7CA0EC"/>
                  </a:solidFill>
                  <a:latin typeface="+mn-lt"/>
                  <a:ea typeface="+mn-ea"/>
                  <a:cs typeface="+mn-cs"/>
                </a:rPr>
                <a:t>RELAXED NOISE CONDITION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46342" y="2254568"/>
              <a:ext cx="22813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No uniform bound needed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47485" y="2545556"/>
              <a:ext cx="34086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7CFDA"/>
                  </a:solidFill>
                  <a:latin typeface="+mn-lt"/>
                  <a:ea typeface="+mn-ea"/>
                  <a:cs typeface="+mn-cs"/>
                </a:rPr>
                <a:t>Uniformly bounded noise fails for quadratic or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47485" y="2755106"/>
              <a:ext cx="3552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7CFDA"/>
                  </a:solidFill>
                  <a:latin typeface="+mn-lt"/>
                  <a:ea typeface="+mn-ea"/>
                  <a:cs typeface="+mn-cs"/>
                </a:rPr>
                <a:t>cubic losses. Instead bound it by the loss value: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553200" y="3048000"/>
              <a:ext cx="4610100" cy="685800"/>
            </a:xfrm>
            <a:prstGeom prst="roundRect">
              <a:avLst>
                <a:gd name="adj" fmla="val 13889"/>
              </a:avLst>
            </a:prstGeom>
            <a:solidFill>
              <a:srgbClr val="1B254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74561" y="3332321"/>
              <a:ext cx="3622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8BE0D4"/>
                  </a:solidFill>
                  <a:latin typeface="+mn-lt"/>
                  <a:ea typeface="+mn-ea"/>
                  <a:cs typeface="+mn-cs"/>
                </a:rPr>
                <a:t>E‖∇g(θ) − ∇g(θ,ξ)‖² ≤ M ( 1 + g(θ) )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286500" y="4095750"/>
            <a:ext cx="5143500" cy="1981200"/>
            <a:chOff x="6286500" y="4095750"/>
            <a:chExt cx="5143500" cy="1981200"/>
          </a:xfrm>
        </p:grpSpPr>
        <p:sp>
          <p:nvSpPr>
            <p:cNvPr id="39" name="Rectangle 39"/>
            <p:cNvSpPr/>
            <p:nvPr/>
          </p:nvSpPr>
          <p:spPr>
            <a:xfrm>
              <a:off x="6286500" y="4095750"/>
              <a:ext cx="5143500" cy="1981200"/>
            </a:xfrm>
            <a:prstGeom prst="roundRect">
              <a:avLst>
                <a:gd name="adj" fmla="val 5769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86500" y="4095750"/>
              <a:ext cx="57150" cy="19812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553200" y="4305300"/>
              <a:ext cx="2209800" cy="1600200"/>
            </a:xfrm>
            <a:prstGeom prst="roundRect">
              <a:avLst>
                <a:gd name="adj" fmla="val 5952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75704" y="4480560"/>
              <a:ext cx="4365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mSGD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76466" y="4763452"/>
              <a:ext cx="13909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Decreasing Robbins–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776466" y="4953952"/>
              <a:ext cx="16064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Monro steps εₙ, with a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776466" y="5144452"/>
              <a:ext cx="13888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static momentum α.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76466" y="5487352"/>
              <a:ext cx="10347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∑εₙ=∞, ∑εₙ²&lt;∞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953500" y="4305300"/>
              <a:ext cx="2209800" cy="1600200"/>
            </a:xfrm>
            <a:prstGeom prst="roundRect">
              <a:avLst>
                <a:gd name="adj" fmla="val 5952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176004" y="4480560"/>
              <a:ext cx="6757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AdaGrad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176766" y="4763452"/>
              <a:ext cx="14924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Random adaptive step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176766" y="4953952"/>
              <a:ext cx="15434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α₀/√Sₙ depends on the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176766" y="5144452"/>
              <a:ext cx="12192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noise — needs new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176766" y="5334952"/>
              <a:ext cx="13464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conditional bounds.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57238" y="6570345"/>
            <a:ext cx="10677524" cy="176212"/>
            <a:chOff x="757238" y="6570345"/>
            <a:chExt cx="10677524" cy="176212"/>
          </a:xfrm>
        </p:grpSpPr>
        <p:sp>
          <p:nvSpPr>
            <p:cNvPr id="54" name="TextBox 54"/>
            <p:cNvSpPr txBox="1"/>
            <p:nvPr/>
          </p:nvSpPr>
          <p:spPr>
            <a:xfrm>
              <a:off x="757238" y="6570345"/>
              <a:ext cx="209437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mSGD &amp; AdaGrad · arXiv 2201.11204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0193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05 / 10</a:t>
              </a:r>
            </a:p>
          </p:txBody>
        </p:sp>
      </p:grpSp>
      <p:sp>
        <p:nvSpPr>
          <p:cNvPr id="57" name="cue_s05_c1_analysis_stochastic_approximation_tr" title="cue_s05_c1_analysis_stochastic_approximation_tr" descr="cue_s05_c1_analysis_stochastic_approximation_tr The analysis uses stochastic approximation, treating each algorithm as a noisy gradient flow."/>
          <p:cNvSpPr/>
          <p:nvPr/>
        </p:nvSpPr>
        <p:spPr>
          <a:xfrm>
            <a:off x="762000" y="1733702"/>
            <a:ext cx="5258409" cy="220964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cue_s05_c2_stability_lemma_bounds_expected_loss" title="cue_s05_c2_stability_lemma_bounds_expected_loss" descr="cue_s05_c2_stability_lemma_bounds_expected_loss A stability lemma bounds the expected loss."/>
          <p:cNvSpPr/>
          <p:nvPr/>
        </p:nvSpPr>
        <p:spPr>
          <a:xfrm>
            <a:off x="762000" y="4095597"/>
            <a:ext cx="5258409" cy="1981276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cue_s05_c3_instead_uniformly_bounded_noise_they" title="cue_s05_c3_instead_uniformly_bounded_noise_they" descr="cue_s05_c3_instead_uniformly_bounded_noise_they Instead of uniformly bounded noise, they bound it relative to the loss."/>
          <p:cNvSpPr/>
          <p:nvPr/>
        </p:nvSpPr>
        <p:spPr>
          <a:xfrm>
            <a:off x="6286195" y="1733702"/>
            <a:ext cx="5143804" cy="220964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cue_s05_c4_msgd_decreasing_robbins_monro_steps" title="cue_s05_c4_msgd_decreasing_robbins_monro_steps" descr="cue_s05_c4_msgd_decreasing_robbins_monro_steps mSGD uses decreasing Robbins-Monro steps with static momentum; AdaGrad's adaptive step needs new bounds."/>
          <p:cNvSpPr/>
          <p:nvPr/>
        </p:nvSpPr>
        <p:spPr>
          <a:xfrm>
            <a:off x="6286195" y="4095597"/>
            <a:ext cx="5143804" cy="1981276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749427" y="572452"/>
            <a:ext cx="10680573" cy="865823"/>
            <a:chOff x="749427" y="572452"/>
            <a:chExt cx="10680573" cy="865823"/>
          </a:xfrm>
        </p:grpSpPr>
        <p:sp>
          <p:nvSpPr>
            <p:cNvPr id="2" name="Rectangle 2"/>
            <p:cNvSpPr/>
            <p:nvPr/>
          </p:nvSpPr>
          <p:spPr>
            <a:xfrm>
              <a:off x="762000" y="590550"/>
              <a:ext cx="3810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251966" y="572452"/>
              <a:ext cx="11627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06 · SETTING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49427" y="875824"/>
              <a:ext cx="4523235" cy="4840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purely theoretical paper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4287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762000" y="1733550"/>
            <a:ext cx="5257800" cy="4343400"/>
            <a:chOff x="762000" y="1733550"/>
            <a:chExt cx="5257800" cy="4343400"/>
          </a:xfrm>
        </p:grpSpPr>
        <p:sp>
          <p:nvSpPr>
            <p:cNvPr id="7" name="Rectangle 7"/>
            <p:cNvSpPr/>
            <p:nvPr/>
          </p:nvSpPr>
          <p:spPr>
            <a:xfrm>
              <a:off x="762000" y="1733550"/>
              <a:ext cx="5257800" cy="4343400"/>
            </a:xfrm>
            <a:prstGeom prst="roundRect">
              <a:avLst>
                <a:gd name="adj" fmla="val 2632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733550"/>
              <a:ext cx="57150" cy="434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22985" y="1993106"/>
              <a:ext cx="28336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75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NO EXPERIMENTS — ONLY PROOFS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09650" y="2080260"/>
              <a:ext cx="597850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180844" y="2437448"/>
              <a:ext cx="123260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datasets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183892" y="2845118"/>
              <a:ext cx="23490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benchmarks · experiments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22604" y="3413760"/>
              <a:ext cx="40206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This work is entirely theoretical. The contribution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22604" y="3642360"/>
              <a:ext cx="32915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is a set of rigorously proven convergence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22604" y="3870960"/>
              <a:ext cx="26372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theorems, not empirical results.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028700" y="4305300"/>
              <a:ext cx="4724400" cy="1428750"/>
            </a:xfrm>
            <a:prstGeom prst="roundRect">
              <a:avLst>
                <a:gd name="adj" fmla="val 6667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251585" y="4507706"/>
              <a:ext cx="13303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What is delivered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51585" y="4793456"/>
              <a:ext cx="33361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2"/>
                </a:buClr>
                <a:buSzTx/>
                <a:buFontTx/>
                <a:buChar char="•"/>
              </a:pPr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Theorem 1 — mSGD almost-sure convergence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51585" y="5041106"/>
              <a:ext cx="27634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2"/>
                </a:buClr>
                <a:buSzTx/>
                <a:buFontTx/>
                <a:buChar char="•"/>
              </a:pPr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Theorem 2 — mSGD convergence rate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51585" y="5288756"/>
              <a:ext cx="35487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2"/>
                </a:buClr>
                <a:buSzTx/>
                <a:buFontTx/>
                <a:buChar char="•"/>
              </a:pPr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Theorem 3 — AdaGrad almost-sure convergence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286500" y="1733550"/>
            <a:ext cx="5143500" cy="4343400"/>
            <a:chOff x="6286500" y="1733550"/>
            <a:chExt cx="5143500" cy="4343400"/>
          </a:xfrm>
        </p:grpSpPr>
        <p:sp>
          <p:nvSpPr>
            <p:cNvPr id="22" name="Rectangle 22"/>
            <p:cNvSpPr/>
            <p:nvPr/>
          </p:nvSpPr>
          <p:spPr>
            <a:xfrm>
              <a:off x="6286500" y="1733550"/>
              <a:ext cx="5143500" cy="4343400"/>
            </a:xfrm>
            <a:prstGeom prst="roundRect">
              <a:avLst>
                <a:gd name="adj" fmla="val 2632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86500" y="1733550"/>
              <a:ext cx="57150" cy="4343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47485" y="1993106"/>
              <a:ext cx="25279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75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LOSS FUNCTIONS STUDIED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547104" y="2327910"/>
              <a:ext cx="34244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Non-negative · differentiable · Lipschitz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547104" y="2556510"/>
              <a:ext cx="28392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gradient — but possibly non-convex.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553200" y="2857500"/>
              <a:ext cx="2209800" cy="1428750"/>
            </a:xfrm>
            <a:prstGeom prst="roundRect">
              <a:avLst>
                <a:gd name="adj" fmla="val 6667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385613" y="2991802"/>
              <a:ext cx="5449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sin²(x)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705600" y="411480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0" name="Polyline 30"/>
            <p:cNvSpPr/>
            <p:nvPr/>
          </p:nvSpPr>
          <p:spPr>
            <a:xfrm>
              <a:off x="6705600" y="3695700"/>
              <a:ext cx="1905000" cy="419100"/>
            </a:xfrm>
            <a:custGeom>
              <a:avLst/>
              <a:gdLst/>
              <a:ahLst/>
              <a:cxnLst/>
              <a:rect l="l" t="t" r="r" b="b"/>
              <a:pathLst>
                <a:path w="1905000" h="419100">
                  <a:moveTo>
                    <a:pt x="0" y="419100"/>
                  </a:moveTo>
                  <a:lnTo>
                    <a:pt x="190500" y="0"/>
                  </a:lnTo>
                  <a:lnTo>
                    <a:pt x="381000" y="419100"/>
                  </a:lnTo>
                  <a:lnTo>
                    <a:pt x="571500" y="0"/>
                  </a:lnTo>
                  <a:lnTo>
                    <a:pt x="762000" y="419100"/>
                  </a:lnTo>
                  <a:lnTo>
                    <a:pt x="952500" y="0"/>
                  </a:lnTo>
                  <a:lnTo>
                    <a:pt x="1143000" y="419100"/>
                  </a:lnTo>
                  <a:lnTo>
                    <a:pt x="1333500" y="0"/>
                  </a:lnTo>
                  <a:lnTo>
                    <a:pt x="1524000" y="419100"/>
                  </a:lnTo>
                  <a:lnTo>
                    <a:pt x="1714500" y="0"/>
                  </a:lnTo>
                  <a:lnTo>
                    <a:pt x="1905000" y="419100"/>
                  </a:lnTo>
                </a:path>
              </a:pathLst>
            </a:custGeom>
            <a:noFill/>
            <a:ln w="23812" cap="rnd">
              <a:solidFill>
                <a:schemeClr val="accent2"/>
              </a:solidFill>
              <a:round/>
            </a:ln>
          </p:spPr>
        </p:sp>
        <p:sp>
          <p:nvSpPr>
            <p:cNvPr id="31" name="Rectangle 31"/>
            <p:cNvSpPr/>
            <p:nvPr/>
          </p:nvSpPr>
          <p:spPr>
            <a:xfrm>
              <a:off x="8953500" y="2857500"/>
              <a:ext cx="2209800" cy="1428750"/>
            </a:xfrm>
            <a:prstGeom prst="roundRect">
              <a:avLst>
                <a:gd name="adj" fmla="val 6667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291565" y="2999899"/>
              <a:ext cx="1533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(x-1)(x-2)(x-3)(x-4)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9105900" y="390525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4" name="Polyline 34"/>
            <p:cNvSpPr/>
            <p:nvPr/>
          </p:nvSpPr>
          <p:spPr>
            <a:xfrm>
              <a:off x="9105900" y="3429000"/>
              <a:ext cx="1905000" cy="647700"/>
            </a:xfrm>
            <a:custGeom>
              <a:avLst/>
              <a:gdLst/>
              <a:ahLst/>
              <a:cxnLst/>
              <a:rect l="l" t="t" r="r" b="b"/>
              <a:pathLst>
                <a:path w="1905000" h="647700">
                  <a:moveTo>
                    <a:pt x="0" y="0"/>
                  </a:moveTo>
                  <a:lnTo>
                    <a:pt x="285750" y="419100"/>
                  </a:lnTo>
                  <a:lnTo>
                    <a:pt x="571500" y="647700"/>
                  </a:lnTo>
                  <a:lnTo>
                    <a:pt x="857250" y="438150"/>
                  </a:lnTo>
                  <a:lnTo>
                    <a:pt x="952500" y="361950"/>
                  </a:lnTo>
                  <a:lnTo>
                    <a:pt x="1047750" y="438150"/>
                  </a:lnTo>
                  <a:lnTo>
                    <a:pt x="1333500" y="647700"/>
                  </a:lnTo>
                  <a:lnTo>
                    <a:pt x="1619250" y="419100"/>
                  </a:lnTo>
                  <a:lnTo>
                    <a:pt x="1905000" y="0"/>
                  </a:lnTo>
                </a:path>
              </a:pathLst>
            </a:custGeom>
            <a:noFill/>
            <a:ln w="23812" cap="rnd">
              <a:solidFill>
                <a:schemeClr val="accent1"/>
              </a:solidFill>
              <a:round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553200" y="4476750"/>
              <a:ext cx="4610100" cy="1257300"/>
            </a:xfrm>
            <a:prstGeom prst="roundRect">
              <a:avLst>
                <a:gd name="adj" fmla="val 7576"/>
              </a:avLst>
            </a:prstGeom>
            <a:solidFill>
              <a:schemeClr val="accent6"/>
            </a:solidFill>
            <a:ln w="9525">
              <a:solidFill>
                <a:srgbClr val="C6D6FB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75704" y="4671060"/>
              <a:ext cx="23495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Multiple local minima allowed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76085" y="4983956"/>
              <a:ext cx="31973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Periodic and polynomial families satisfy the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76085" y="5193506"/>
              <a:ext cx="34717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assumptions while being genuinely non-convex —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76085" y="5403056"/>
              <a:ext cx="33586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just like the loss surfaces of deep networks.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57238" y="6570345"/>
            <a:ext cx="10677524" cy="176212"/>
            <a:chOff x="757238" y="6570345"/>
            <a:chExt cx="10677524" cy="176212"/>
          </a:xfrm>
        </p:grpSpPr>
        <p:sp>
          <p:nvSpPr>
            <p:cNvPr id="41" name="TextBox 41"/>
            <p:cNvSpPr txBox="1"/>
            <p:nvPr/>
          </p:nvSpPr>
          <p:spPr>
            <a:xfrm>
              <a:off x="757238" y="6570345"/>
              <a:ext cx="209437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mSGD &amp; AdaGrad · arXiv 2201.11204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0193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06 / 10</a:t>
              </a:r>
            </a:p>
          </p:txBody>
        </p:sp>
      </p:grpSp>
      <p:sp>
        <p:nvSpPr>
          <p:cNvPr id="44" name="cue_s06_c1_work_entirely_theoretical_datasets_b" title="cue_s06_c1_work_entirely_theoretical_datasets_b" descr="cue_s06_c1_work_entirely_theoretical_datasets_b This work is entirely theoretical: no datasets, benchmarks, or experiments, only proven theorems."/>
          <p:cNvSpPr/>
          <p:nvPr/>
        </p:nvSpPr>
        <p:spPr>
          <a:xfrm>
            <a:off x="762000" y="1733702"/>
            <a:ext cx="5258409" cy="434317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ue_s06_c2_losses_non_negative_differentiable_l" title="cue_s06_c2_losses_non_negative_differentiable_l" descr="cue_s06_c2_losses_non_negative_differentiable_l The losses are non-negative and differentiable with Lipschitz gradients, but possibly non-convex, like sine-squared and quartic polynomials."/>
          <p:cNvSpPr/>
          <p:nvPr/>
        </p:nvSpPr>
        <p:spPr>
          <a:xfrm>
            <a:off x="6286195" y="1733702"/>
            <a:ext cx="5143804" cy="434317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749427" y="572452"/>
            <a:ext cx="10680573" cy="865823"/>
            <a:chOff x="749427" y="572452"/>
            <a:chExt cx="10680573" cy="865823"/>
          </a:xfrm>
        </p:grpSpPr>
        <p:sp>
          <p:nvSpPr>
            <p:cNvPr id="2" name="Rectangle 2"/>
            <p:cNvSpPr/>
            <p:nvPr/>
          </p:nvSpPr>
          <p:spPr>
            <a:xfrm>
              <a:off x="762000" y="590550"/>
              <a:ext cx="3810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251966" y="572452"/>
              <a:ext cx="14855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07 · KEY RESULT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49427" y="875824"/>
              <a:ext cx="6837855" cy="4840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Two almost-sure convergence theorems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4287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762000" y="1733550"/>
            <a:ext cx="10668000" cy="914400"/>
            <a:chOff x="762000" y="1733550"/>
            <a:chExt cx="10668000" cy="914400"/>
          </a:xfrm>
        </p:grpSpPr>
        <p:sp>
          <p:nvSpPr>
            <p:cNvPr id="7" name="Rectangle 7"/>
            <p:cNvSpPr/>
            <p:nvPr/>
          </p:nvSpPr>
          <p:spPr>
            <a:xfrm>
              <a:off x="762000" y="1733550"/>
              <a:ext cx="10668000" cy="914400"/>
            </a:xfrm>
            <a:prstGeom prst="roundRect">
              <a:avLst>
                <a:gd name="adj" fmla="val 12500"/>
              </a:avLst>
            </a:prstGeom>
            <a:solidFill>
              <a:schemeClr val="accent6"/>
            </a:solidFill>
            <a:ln w="9525">
              <a:solidFill>
                <a:srgbClr val="C6D6FB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733550"/>
              <a:ext cx="57150" cy="914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55370" y="2062162"/>
              <a:ext cx="620374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Two almost-sure convergence theorems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32142" y="2159318"/>
              <a:ext cx="32032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— probability-one, every realization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62000" y="2857500"/>
            <a:ext cx="5257800" cy="2209800"/>
            <a:chOff x="762000" y="2857500"/>
            <a:chExt cx="5257800" cy="2209800"/>
          </a:xfrm>
        </p:grpSpPr>
        <p:sp>
          <p:nvSpPr>
            <p:cNvPr id="12" name="Rectangle 12"/>
            <p:cNvSpPr/>
            <p:nvPr/>
          </p:nvSpPr>
          <p:spPr>
            <a:xfrm>
              <a:off x="762000" y="2857500"/>
              <a:ext cx="5257800" cy="2209800"/>
            </a:xfrm>
            <a:prstGeom prst="roundRect">
              <a:avLst>
                <a:gd name="adj" fmla="val 5172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762000" y="2857500"/>
              <a:ext cx="57150" cy="22098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22985" y="3098006"/>
              <a:ext cx="16105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75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THEOREM 1 · mSGD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21080" y="3476625"/>
              <a:ext cx="26727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Iterates → stationary set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22985" y="3840956"/>
              <a:ext cx="30027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With probability one, the momentum-SGD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22985" y="4050506"/>
              <a:ext cx="29816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iterates converge to a connected set of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22985" y="4260056"/>
              <a:ext cx="22353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stationary points of the loss.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028700" y="4552950"/>
              <a:ext cx="47244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213866" y="4687252"/>
              <a:ext cx="35281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single stationary point ⇒ iterates converge to it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286500" y="2857500"/>
            <a:ext cx="5143500" cy="2209800"/>
            <a:chOff x="6286500" y="2857500"/>
            <a:chExt cx="5143500" cy="2209800"/>
          </a:xfrm>
        </p:grpSpPr>
        <p:sp>
          <p:nvSpPr>
            <p:cNvPr id="22" name="Rectangle 22"/>
            <p:cNvSpPr/>
            <p:nvPr/>
          </p:nvSpPr>
          <p:spPr>
            <a:xfrm>
              <a:off x="6286500" y="2857500"/>
              <a:ext cx="5143500" cy="2209800"/>
            </a:xfrm>
            <a:prstGeom prst="roundRect">
              <a:avLst>
                <a:gd name="adj" fmla="val 5172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86500" y="2857500"/>
              <a:ext cx="57150" cy="22098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47485" y="3098006"/>
              <a:ext cx="18929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75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THEOREM 3 · ADAGRAD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545580" y="3476625"/>
              <a:ext cx="2651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same guarantee holds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547485" y="3840956"/>
              <a:ext cx="31779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Standard norm-form AdaGrad iterates also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47485" y="4050506"/>
              <a:ext cx="3351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converge almost surely to a connected set of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47485" y="4260056"/>
              <a:ext cx="34867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stationary points — for non-convex losses too.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553200" y="4552950"/>
              <a:ext cx="4610100" cy="381000"/>
            </a:xfrm>
            <a:prstGeom prst="roundRect">
              <a:avLst>
                <a:gd name="adj" fmla="val 20000"/>
              </a:avLst>
            </a:prstGeom>
            <a:solidFill>
              <a:srgbClr val="FBE9E2"/>
            </a:solidFill>
            <a:ln w="9525">
              <a:solidFill>
                <a:srgbClr val="F2C6B4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38366" y="4687252"/>
              <a:ext cx="31149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first such result for the deployed AdaGrad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62000" y="5257800"/>
            <a:ext cx="10668000" cy="819150"/>
            <a:chOff x="762000" y="5257800"/>
            <a:chExt cx="10668000" cy="819150"/>
          </a:xfrm>
        </p:grpSpPr>
        <p:sp>
          <p:nvSpPr>
            <p:cNvPr id="32" name="Rectangle 32"/>
            <p:cNvSpPr/>
            <p:nvPr/>
          </p:nvSpPr>
          <p:spPr>
            <a:xfrm>
              <a:off x="762000" y="5257800"/>
              <a:ext cx="10668000" cy="819150"/>
            </a:xfrm>
            <a:prstGeom prst="roundRect">
              <a:avLst>
                <a:gd name="adj" fmla="val 13953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59942" y="5474018"/>
              <a:ext cx="39221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Both theorems strengthen earlier results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61085" y="5745956"/>
              <a:ext cx="78342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7CFDA"/>
                  </a:solidFill>
                  <a:latin typeface="+mn-lt"/>
                  <a:ea typeface="+mn-ea"/>
                  <a:cs typeface="+mn-cs"/>
                </a:rPr>
                <a:t>Weak subsequence and time-average convergence are lifted to full asymptotic, almost-sure convergence.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57238" y="6570345"/>
            <a:ext cx="10677524" cy="176212"/>
            <a:chOff x="757238" y="6570345"/>
            <a:chExt cx="10677524" cy="176212"/>
          </a:xfrm>
        </p:grpSpPr>
        <p:sp>
          <p:nvSpPr>
            <p:cNvPr id="36" name="TextBox 36"/>
            <p:cNvSpPr txBox="1"/>
            <p:nvPr/>
          </p:nvSpPr>
          <p:spPr>
            <a:xfrm>
              <a:off x="757238" y="6570345"/>
              <a:ext cx="209437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mSGD &amp; AdaGrad · arXiv 2201.11204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0193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07 / 10</a:t>
              </a:r>
            </a:p>
          </p:txBody>
        </p:sp>
      </p:grpSp>
      <p:sp>
        <p:nvSpPr>
          <p:cNvPr id="39" name="cue_s07_c1_headline_two_almost_sure_convergence" title="cue_s07_c1_headline_two_almost_sure_convergence" descr="cue_s07_c1_headline_two_almost_sure_convergence The headline is two almost-sure convergence theorems."/>
          <p:cNvSpPr/>
          <p:nvPr/>
        </p:nvSpPr>
        <p:spPr>
          <a:xfrm>
            <a:off x="762000" y="1733702"/>
            <a:ext cx="10668000" cy="91417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ue_s07_c2_theorem_1_momentum_sgd_iterates" title="cue_s07_c2_theorem_1_momentum_sgd_iterates" descr="cue_s07_c2_theorem_1_momentum_sgd_iterates Theorem 1: momentum SGD iterates converge to a connected set of stationary points."/>
          <p:cNvSpPr/>
          <p:nvPr/>
        </p:nvSpPr>
        <p:spPr>
          <a:xfrm>
            <a:off x="762000" y="2857728"/>
            <a:ext cx="5258409" cy="220964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ue_s07_c3_theorem_3_standard_adagrad_does" title="cue_s07_c3_theorem_3_standard_adagrad_does" descr="cue_s07_c3_theorem_3_standard_adagrad_does Theorem 3: standard AdaGrad does the same."/>
          <p:cNvSpPr/>
          <p:nvPr/>
        </p:nvSpPr>
        <p:spPr>
          <a:xfrm>
            <a:off x="6286195" y="2857728"/>
            <a:ext cx="5143804" cy="220964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ue_s07_c4_both_strengthen_earlier_subsequence" title="cue_s07_c4_both_strengthen_earlier_subsequence" descr="cue_s07_c4_both_strengthen_earlier_subsequence Both strengthen earlier subsequence and time-average results."/>
          <p:cNvSpPr/>
          <p:nvPr/>
        </p:nvSpPr>
        <p:spPr>
          <a:xfrm>
            <a:off x="762000" y="5258028"/>
            <a:ext cx="10668000" cy="81884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749427" y="572452"/>
            <a:ext cx="10680573" cy="865823"/>
            <a:chOff x="749427" y="572452"/>
            <a:chExt cx="10680573" cy="865823"/>
          </a:xfrm>
        </p:grpSpPr>
        <p:sp>
          <p:nvSpPr>
            <p:cNvPr id="2" name="Rectangle 2"/>
            <p:cNvSpPr/>
            <p:nvPr/>
          </p:nvSpPr>
          <p:spPr>
            <a:xfrm>
              <a:off x="762000" y="590550"/>
              <a:ext cx="3810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251966" y="572452"/>
              <a:ext cx="21915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08 · ANALYTIC ABLATION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49427" y="875824"/>
              <a:ext cx="4980625" cy="4840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How momentum sets the rate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4287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762000" y="1733550"/>
            <a:ext cx="5257800" cy="4343400"/>
            <a:chOff x="762000" y="1733550"/>
            <a:chExt cx="5257800" cy="4343400"/>
          </a:xfrm>
        </p:grpSpPr>
        <p:sp>
          <p:nvSpPr>
            <p:cNvPr id="7" name="Rectangle 7"/>
            <p:cNvSpPr/>
            <p:nvPr/>
          </p:nvSpPr>
          <p:spPr>
            <a:xfrm>
              <a:off x="762000" y="1733550"/>
              <a:ext cx="5257800" cy="4343400"/>
            </a:xfrm>
            <a:prstGeom prst="roundRect">
              <a:avLst>
                <a:gd name="adj" fmla="val 2632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733550"/>
              <a:ext cx="57150" cy="434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22985" y="1993106"/>
              <a:ext cx="1920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75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AN ANALYTIC ABLATION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1842" y="2311718"/>
              <a:ext cx="22055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Momentum α is the knob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22985" y="2602706"/>
              <a:ext cx="34768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In place of experiments, the paper studies how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22985" y="2812256"/>
              <a:ext cx="35244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convergence rate depends on the momentum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22985" y="3021806"/>
              <a:ext cx="2921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coefficient α — isolating its exact role.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28700" y="3467100"/>
              <a:ext cx="4724400" cy="1143000"/>
            </a:xfrm>
            <a:prstGeom prst="roundRect">
              <a:avLst>
                <a:gd name="adj" fmla="val 8333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1428750" y="4191000"/>
              <a:ext cx="3905250" cy="9525"/>
            </a:xfrm>
            <a:custGeom>
              <a:avLst/>
              <a:gdLst/>
              <a:ahLst/>
              <a:cxnLst/>
              <a:rect l="l" t="t" r="r" b="b"/>
              <a:pathLst>
                <a:path w="3905250" h="9525">
                  <a:moveTo>
                    <a:pt x="0" y="0"/>
                  </a:moveTo>
                  <a:lnTo>
                    <a:pt x="3905250" y="0"/>
                  </a:lnTo>
                </a:path>
              </a:pathLst>
            </a:custGeom>
            <a:noFill/>
            <a:ln w="28575">
              <a:solidFill>
                <a:schemeClr val="accent4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1362075" y="4124325"/>
              <a:ext cx="133350" cy="133350"/>
            </a:xfrm>
            <a:prstGeom prst="ellipse">
              <a:avLst/>
            </a:prstGeom>
            <a:solidFill>
              <a:srgbClr val="8A97A8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248275" y="4105275"/>
              <a:ext cx="171450" cy="171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256445" y="4382452"/>
              <a:ext cx="3446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α = 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161695" y="4382452"/>
              <a:ext cx="3446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α → 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40868" y="3819049"/>
              <a:ext cx="5757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plain SGD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857406" y="3819049"/>
              <a:ext cx="9531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max momentum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22985" y="4850606"/>
              <a:ext cx="32054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Larger α shrinks the rate coefficient — the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22985" y="5060156"/>
              <a:ext cx="3117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analytic analogue of an empirical ablation,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22985" y="5269706"/>
              <a:ext cx="2928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showing precisely how momentum helps.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286500" y="1733550"/>
            <a:ext cx="5143500" cy="4343400"/>
            <a:chOff x="6286500" y="1733550"/>
            <a:chExt cx="5143500" cy="4343400"/>
          </a:xfrm>
        </p:grpSpPr>
        <p:sp>
          <p:nvSpPr>
            <p:cNvPr id="26" name="Rectangle 26"/>
            <p:cNvSpPr/>
            <p:nvPr/>
          </p:nvSpPr>
          <p:spPr>
            <a:xfrm>
              <a:off x="6286500" y="1733550"/>
              <a:ext cx="5143500" cy="4343400"/>
            </a:xfrm>
            <a:prstGeom prst="roundRect">
              <a:avLst>
                <a:gd name="adj" fmla="val 2632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86500" y="1733550"/>
              <a:ext cx="57150" cy="4343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47485" y="1993106"/>
              <a:ext cx="19263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75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WHAT THE RATE SHOWS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553200" y="2324100"/>
              <a:ext cx="4610100" cy="819150"/>
            </a:xfrm>
            <a:prstGeom prst="roundRect">
              <a:avLst>
                <a:gd name="adj" fmla="val 11628"/>
              </a:avLst>
            </a:prstGeom>
            <a:solidFill>
              <a:schemeClr val="accent5"/>
            </a:solidFill>
            <a:ln w="9525">
              <a:solidFill>
                <a:schemeClr val="accent4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73418" y="2507932"/>
              <a:ext cx="5415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α = 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04023" y="2548414"/>
              <a:ext cx="25373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recovers SGD's rate exactly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76466" y="2858452"/>
              <a:ext cx="27387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 consistency check with known results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553200" y="3276600"/>
              <a:ext cx="4610100" cy="819150"/>
            </a:xfrm>
            <a:prstGeom prst="roundRect">
              <a:avLst>
                <a:gd name="adj" fmla="val 11628"/>
              </a:avLst>
            </a:prstGeom>
            <a:solidFill>
              <a:srgbClr val="E1F3F0"/>
            </a:solidFill>
            <a:ln w="9525">
              <a:solidFill>
                <a:srgbClr val="B7E2D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73418" y="3460432"/>
              <a:ext cx="5415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α → 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04023" y="3500914"/>
              <a:ext cx="25081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time-average rate → O(1/T)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776466" y="3810952"/>
              <a:ext cx="3261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momentum drives faster averaged convergence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553200" y="4229100"/>
              <a:ext cx="4610100" cy="1676400"/>
            </a:xfrm>
            <a:prstGeom prst="roundRect">
              <a:avLst>
                <a:gd name="adj" fmla="val 5682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76085" y="4431506"/>
              <a:ext cx="2726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75" dirty="0">
                  <a:solidFill>
                    <a:srgbClr val="7CA0EC"/>
                  </a:solidFill>
                  <a:latin typeface="+mn-lt"/>
                  <a:ea typeface="+mn-ea"/>
                  <a:cs typeface="+mn-cs"/>
                </a:rPr>
                <a:t>‖∇g‖² DECAYS OVER ITERATIONS</a:t>
              </a:r>
            </a:p>
          </p:txBody>
        </p:sp>
        <p:sp>
          <p:nvSpPr>
            <p:cNvPr id="39" name="Polyline 39"/>
            <p:cNvSpPr/>
            <p:nvPr/>
          </p:nvSpPr>
          <p:spPr>
            <a:xfrm>
              <a:off x="6781800" y="4819650"/>
              <a:ext cx="4152900" cy="704850"/>
            </a:xfrm>
            <a:custGeom>
              <a:avLst/>
              <a:gdLst/>
              <a:ahLst/>
              <a:cxnLst/>
              <a:rect l="l" t="t" r="r" b="b"/>
              <a:pathLst>
                <a:path w="4152900" h="704850">
                  <a:moveTo>
                    <a:pt x="0" y="0"/>
                  </a:moveTo>
                  <a:lnTo>
                    <a:pt x="552450" y="323850"/>
                  </a:lnTo>
                  <a:lnTo>
                    <a:pt x="1314450" y="514350"/>
                  </a:lnTo>
                  <a:lnTo>
                    <a:pt x="2266950" y="628650"/>
                  </a:lnTo>
                  <a:lnTo>
                    <a:pt x="3314700" y="685800"/>
                  </a:lnTo>
                  <a:lnTo>
                    <a:pt x="4152900" y="704850"/>
                  </a:lnTo>
                </a:path>
              </a:pathLst>
            </a:custGeom>
            <a:noFill/>
            <a:ln w="23812" cap="rnd">
              <a:solidFill>
                <a:srgbClr val="8A97A8"/>
              </a:solidFill>
              <a:round/>
            </a:ln>
          </p:spPr>
        </p:sp>
        <p:sp>
          <p:nvSpPr>
            <p:cNvPr id="40" name="Polyline 40"/>
            <p:cNvSpPr/>
            <p:nvPr/>
          </p:nvSpPr>
          <p:spPr>
            <a:xfrm>
              <a:off x="6781800" y="4819650"/>
              <a:ext cx="4152900" cy="952500"/>
            </a:xfrm>
            <a:custGeom>
              <a:avLst/>
              <a:gdLst/>
              <a:ahLst/>
              <a:cxnLst/>
              <a:rect l="l" t="t" r="r" b="b"/>
              <a:pathLst>
                <a:path w="4152900" h="952500">
                  <a:moveTo>
                    <a:pt x="0" y="0"/>
                  </a:moveTo>
                  <a:lnTo>
                    <a:pt x="552450" y="476250"/>
                  </a:lnTo>
                  <a:lnTo>
                    <a:pt x="1314450" y="742950"/>
                  </a:lnTo>
                  <a:lnTo>
                    <a:pt x="2266950" y="876300"/>
                  </a:lnTo>
                  <a:lnTo>
                    <a:pt x="3314700" y="933450"/>
                  </a:lnTo>
                  <a:lnTo>
                    <a:pt x="4152900" y="952500"/>
                  </a:lnTo>
                </a:path>
              </a:pathLst>
            </a:custGeom>
            <a:noFill/>
            <a:ln w="28575" cap="rnd">
              <a:solidFill>
                <a:srgbClr val="8BE0D4"/>
              </a:solidFill>
              <a:round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091547" y="5285899"/>
              <a:ext cx="3067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α = 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520047" y="5609749"/>
              <a:ext cx="4739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8BE0D4"/>
                  </a:solidFill>
                  <a:latin typeface="+mn-lt"/>
                  <a:ea typeface="+mn-ea"/>
                  <a:cs typeface="+mn-cs"/>
                </a:rPr>
                <a:t>large α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57238" y="6570345"/>
            <a:ext cx="10677524" cy="176212"/>
            <a:chOff x="757238" y="6570345"/>
            <a:chExt cx="10677524" cy="176212"/>
          </a:xfrm>
        </p:grpSpPr>
        <p:sp>
          <p:nvSpPr>
            <p:cNvPr id="44" name="TextBox 44"/>
            <p:cNvSpPr txBox="1"/>
            <p:nvPr/>
          </p:nvSpPr>
          <p:spPr>
            <a:xfrm>
              <a:off x="757238" y="6570345"/>
              <a:ext cx="209437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mSGD &amp; AdaGrad · arXiv 2201.11204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0193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08 / 10</a:t>
              </a:r>
            </a:p>
          </p:txBody>
        </p:sp>
      </p:grpSp>
      <p:sp>
        <p:nvSpPr>
          <p:cNvPr id="47" name="cue_s08_c1_place_experiments_studies_how_conver" title="cue_s08_c1_place_experiments_studies_how_conver" descr="cue_s08_c1_place_experiments_studies_how_conver In place of experiments, the paper studies how the convergence rate depends on the momentum coefficient."/>
          <p:cNvSpPr/>
          <p:nvPr/>
        </p:nvSpPr>
        <p:spPr>
          <a:xfrm>
            <a:off x="762000" y="1733702"/>
            <a:ext cx="5258409" cy="434317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ue_s08_c2_zero_recovers_sgd_rate_exactly" title="cue_s08_c2_zero_recovers_sgd_rate_exactly" descr="cue_s08_c2_zero_recovers_sgd_rate_exactly At zero it recovers SGD's rate exactly; toward one it shrinks the coefficient and pushes the time-average rate to order one over T."/>
          <p:cNvSpPr/>
          <p:nvPr/>
        </p:nvSpPr>
        <p:spPr>
          <a:xfrm>
            <a:off x="6286195" y="1733702"/>
            <a:ext cx="5143804" cy="434317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749427" y="572452"/>
            <a:ext cx="10680573" cy="865823"/>
            <a:chOff x="749427" y="572452"/>
            <a:chExt cx="10680573" cy="865823"/>
          </a:xfrm>
        </p:grpSpPr>
        <p:sp>
          <p:nvSpPr>
            <p:cNvPr id="2" name="Rectangle 2"/>
            <p:cNvSpPr/>
            <p:nvPr/>
          </p:nvSpPr>
          <p:spPr>
            <a:xfrm>
              <a:off x="762000" y="590550"/>
              <a:ext cx="3810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251966" y="572452"/>
              <a:ext cx="21231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09 · HEADLINE NUMBERS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49427" y="875824"/>
              <a:ext cx="5487634" cy="4840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theory in three expressions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4287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762000" y="1733550"/>
            <a:ext cx="5257800" cy="1428750"/>
            <a:chOff x="762000" y="1733550"/>
            <a:chExt cx="5257800" cy="1428750"/>
          </a:xfrm>
        </p:grpSpPr>
        <p:sp>
          <p:nvSpPr>
            <p:cNvPr id="7" name="Rectangle 7"/>
            <p:cNvSpPr/>
            <p:nvPr/>
          </p:nvSpPr>
          <p:spPr>
            <a:xfrm>
              <a:off x="762000" y="1733550"/>
              <a:ext cx="5257800" cy="1428750"/>
            </a:xfrm>
            <a:prstGeom prst="roundRect">
              <a:avLst>
                <a:gd name="adj" fmla="val 8000"/>
              </a:avLst>
            </a:prstGeom>
            <a:solidFill>
              <a:schemeClr val="accent6"/>
            </a:solidFill>
            <a:ln w="9525">
              <a:solidFill>
                <a:srgbClr val="C6D6FB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733550"/>
              <a:ext cx="57150" cy="14287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22985" y="1974056"/>
              <a:ext cx="15575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75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WHAT WE MEASURE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15746" y="2448878"/>
              <a:ext cx="39309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Rates, not accuracies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22985" y="2907506"/>
              <a:ext cx="33865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key numbers here are convergence rates.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62000" y="3352800"/>
            <a:ext cx="5257800" cy="2724150"/>
            <a:chOff x="762000" y="3352800"/>
            <a:chExt cx="5257800" cy="2724150"/>
          </a:xfrm>
        </p:grpSpPr>
        <p:sp>
          <p:nvSpPr>
            <p:cNvPr id="13" name="Rectangle 13"/>
            <p:cNvSpPr/>
            <p:nvPr/>
          </p:nvSpPr>
          <p:spPr>
            <a:xfrm>
              <a:off x="762000" y="3352800"/>
              <a:ext cx="5257800" cy="2724150"/>
            </a:xfrm>
            <a:prstGeom prst="roundRect">
              <a:avLst>
                <a:gd name="adj" fmla="val 4196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762000" y="3352800"/>
              <a:ext cx="57150" cy="27241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22985" y="3612356"/>
              <a:ext cx="30077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75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mSGD MEAN-SQUARE GRADIENT RATE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028700" y="3943350"/>
              <a:ext cx="4724400" cy="914400"/>
            </a:xfrm>
            <a:prstGeom prst="roundRect">
              <a:avLst>
                <a:gd name="adj" fmla="val 10417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378115" y="4322921"/>
              <a:ext cx="402557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8BE0D4"/>
                  </a:solidFill>
                  <a:latin typeface="+mn-lt"/>
                  <a:ea typeface="+mn-ea"/>
                  <a:cs typeface="+mn-cs"/>
                </a:rPr>
                <a:t>E‖∇g(θₙ)‖² = O( e^−Σ sεᵢ /( p(1−α)² ) 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22985" y="5098256"/>
              <a:ext cx="32204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expected squared gradient norm decays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22985" y="5307806"/>
              <a:ext cx="34038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exponentially, with an exponent scaling as the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22985" y="5517356"/>
              <a:ext cx="32143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summed step sizes over p·(1−α)². Larger α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22985" y="5726906"/>
              <a:ext cx="3079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makes the exponent grow — faster decay.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286500" y="1733550"/>
            <a:ext cx="5143500" cy="4343400"/>
            <a:chOff x="6286500" y="1733550"/>
            <a:chExt cx="5143500" cy="43434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733550"/>
              <a:ext cx="5143500" cy="4343400"/>
            </a:xfrm>
            <a:prstGeom prst="roundRect">
              <a:avLst>
                <a:gd name="adj" fmla="val 2632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47485" y="1993106"/>
              <a:ext cx="18278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75" dirty="0">
                  <a:solidFill>
                    <a:srgbClr val="7CA0EC"/>
                  </a:solidFill>
                  <a:latin typeface="+mn-lt"/>
                  <a:ea typeface="+mn-ea"/>
                  <a:cs typeface="+mn-cs"/>
                </a:rPr>
                <a:t>THE TWO LIMITS OF α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553200" y="2324100"/>
              <a:ext cx="4610100" cy="1104900"/>
            </a:xfrm>
            <a:prstGeom prst="roundRect">
              <a:avLst>
                <a:gd name="adj" fmla="val 8621"/>
              </a:avLst>
            </a:prstGeom>
            <a:solidFill>
              <a:srgbClr val="1B254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70370" y="2614612"/>
              <a:ext cx="73844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α = 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75704" y="3070860"/>
              <a:ext cx="22660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7CFDA"/>
                  </a:solidFill>
                  <a:latin typeface="+mn-lt"/>
                  <a:ea typeface="+mn-ea"/>
                  <a:cs typeface="+mn-cs"/>
                </a:rPr>
                <a:t>recovers the exact SGD rate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553200" y="3581400"/>
              <a:ext cx="4610100" cy="1104900"/>
            </a:xfrm>
            <a:prstGeom prst="roundRect">
              <a:avLst>
                <a:gd name="adj" fmla="val 8621"/>
              </a:avLst>
            </a:prstGeom>
            <a:solidFill>
              <a:srgbClr val="12312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70370" y="3871912"/>
              <a:ext cx="73844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8BE0D4"/>
                  </a:solidFill>
                  <a:latin typeface="+mn-lt"/>
                  <a:ea typeface="+mn-ea"/>
                  <a:cs typeface="+mn-cs"/>
                </a:rPr>
                <a:t>α → 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75704" y="4328160"/>
              <a:ext cx="27713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8BE0D4"/>
                  </a:solidFill>
                  <a:latin typeface="+mn-lt"/>
                  <a:ea typeface="+mn-ea"/>
                  <a:cs typeface="+mn-cs"/>
                </a:rPr>
                <a:t>time-average rate reaches O(1/T)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553200" y="4838700"/>
              <a:ext cx="4610100" cy="1047750"/>
            </a:xfrm>
            <a:prstGeom prst="roundRect">
              <a:avLst>
                <a:gd name="adj" fmla="val 9091"/>
              </a:avLst>
            </a:prstGeom>
            <a:solidFill>
              <a:srgbClr val="1B254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76085" y="5022056"/>
              <a:ext cx="9856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75" dirty="0">
                  <a:solidFill>
                    <a:srgbClr val="7CA0EC"/>
                  </a:solidFill>
                  <a:latin typeface="+mn-lt"/>
                  <a:ea typeface="+mn-ea"/>
                  <a:cs typeface="+mn-cs"/>
                </a:rPr>
                <a:t>HELD UNDER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75704" y="5318760"/>
              <a:ext cx="29726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Robbins–Monro steps ∑εₙ=∞, ∑εₙ²&lt;∞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76466" y="5582602"/>
              <a:ext cx="30073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7CFDA"/>
                  </a:solidFill>
                  <a:latin typeface="+mn-lt"/>
                  <a:ea typeface="+mn-ea"/>
                  <a:cs typeface="+mn-cs"/>
                </a:rPr>
                <a:t>e.g. εₙ = 1/n · plus the relaxed noise bound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57238" y="6570345"/>
            <a:ext cx="10677524" cy="176212"/>
            <a:chOff x="757238" y="6570345"/>
            <a:chExt cx="10677524" cy="176212"/>
          </a:xfrm>
        </p:grpSpPr>
        <p:sp>
          <p:nvSpPr>
            <p:cNvPr id="36" name="TextBox 36"/>
            <p:cNvSpPr txBox="1"/>
            <p:nvPr/>
          </p:nvSpPr>
          <p:spPr>
            <a:xfrm>
              <a:off x="757238" y="6570345"/>
              <a:ext cx="209437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mSGD &amp; AdaGrad · arXiv 2201.11204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0193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09 / 10</a:t>
              </a:r>
            </a:p>
          </p:txBody>
        </p:sp>
      </p:grpSp>
      <p:sp>
        <p:nvSpPr>
          <p:cNvPr id="39" name="cue_s09_c1_key_numbers_convergence_rates" title="cue_s09_c1_key_numbers_convergence_rates" descr="cue_s09_c1_key_numbers_convergence_rates The key numbers are convergence rates."/>
          <p:cNvSpPr/>
          <p:nvPr/>
        </p:nvSpPr>
        <p:spPr>
          <a:xfrm>
            <a:off x="762000" y="1733702"/>
            <a:ext cx="5258409" cy="142852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ue_s09_c2_momentum_sgd_expected_squared_gradie" title="cue_s09_c2_momentum_sgd_expected_squared_gradie" descr="cue_s09_c2_momentum_sgd_expected_squared_gradie Momentum SGD's expected squared gradient norm decays exponentially, with exponent scaling as summed step sizes over p times one-minus-alpha squared."/>
          <p:cNvSpPr/>
          <p:nvPr/>
        </p:nvSpPr>
        <p:spPr>
          <a:xfrm>
            <a:off x="762000" y="3352876"/>
            <a:ext cx="5258409" cy="272399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ue_s09_c3_alpha_zero_recovers_sgd_rate" title="cue_s09_c3_alpha_zero_recovers_sgd_rate" descr="cue_s09_c3_alpha_zero_recovers_sgd_rate Alpha zero recovers the SGD rate; near one it reaches order one over T."/>
          <p:cNvSpPr/>
          <p:nvPr/>
        </p:nvSpPr>
        <p:spPr>
          <a:xfrm>
            <a:off x="6286195" y="1733702"/>
            <a:ext cx="5143804" cy="434317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749427" y="572452"/>
            <a:ext cx="10680573" cy="865823"/>
            <a:chOff x="749427" y="572452"/>
            <a:chExt cx="10680573" cy="865823"/>
          </a:xfrm>
        </p:grpSpPr>
        <p:sp>
          <p:nvSpPr>
            <p:cNvPr id="2" name="Rectangle 2"/>
            <p:cNvSpPr/>
            <p:nvPr/>
          </p:nvSpPr>
          <p:spPr>
            <a:xfrm>
              <a:off x="762000" y="590550"/>
              <a:ext cx="3810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251966" y="572452"/>
              <a:ext cx="13409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 · TAKEAWAY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49427" y="875824"/>
              <a:ext cx="5557891" cy="4840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Theory catches up with practice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4287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762000" y="1733550"/>
            <a:ext cx="10668000" cy="3429000"/>
            <a:chOff x="762000" y="1733550"/>
            <a:chExt cx="10668000" cy="3429000"/>
          </a:xfrm>
        </p:grpSpPr>
        <p:sp>
          <p:nvSpPr>
            <p:cNvPr id="7" name="Rectangle 7"/>
            <p:cNvSpPr/>
            <p:nvPr/>
          </p:nvSpPr>
          <p:spPr>
            <a:xfrm>
              <a:off x="762000" y="1733550"/>
              <a:ext cx="10668000" cy="3429000"/>
            </a:xfrm>
            <a:prstGeom prst="roundRect">
              <a:avLst>
                <a:gd name="adj" fmla="val 3333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733550"/>
              <a:ext cx="57150" cy="3429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61085" y="1993106"/>
              <a:ext cx="28694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75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MESSAGE FOR PRACTITIONERS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58799" y="2382679"/>
              <a:ext cx="1018519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Under mild, realistic conditions, the optimizers you already use are guaranteed to converge.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066800" y="2857500"/>
              <a:ext cx="3352800" cy="1695450"/>
            </a:xfrm>
            <a:prstGeom prst="roundRect">
              <a:avLst>
                <a:gd name="adj" fmla="val 6742"/>
              </a:avLst>
            </a:prstGeom>
            <a:solidFill>
              <a:schemeClr val="accent6"/>
            </a:solidFill>
            <a:ln w="9525">
              <a:solidFill>
                <a:srgbClr val="C6D6FB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1066800" y="2857500"/>
              <a:ext cx="57150" cy="1695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26642" y="3092768"/>
              <a:ext cx="491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mSGD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27785" y="3421856"/>
              <a:ext cx="18029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Converges almost surely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27785" y="3631406"/>
              <a:ext cx="17302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to stationary points of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27785" y="3840956"/>
              <a:ext cx="19262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non-convex losses, with a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27785" y="4050506"/>
              <a:ext cx="21524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fixed momentum coefficient.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19600" y="2857500"/>
              <a:ext cx="3352800" cy="1695450"/>
            </a:xfrm>
            <a:prstGeom prst="roundRect">
              <a:avLst>
                <a:gd name="adj" fmla="val 6742"/>
              </a:avLst>
            </a:prstGeom>
            <a:solidFill>
              <a:srgbClr val="FBE9E2"/>
            </a:solidFill>
            <a:ln w="9525">
              <a:solidFill>
                <a:srgbClr val="F2C6B4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419600" y="2857500"/>
              <a:ext cx="57150" cy="16954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79442" y="3092768"/>
              <a:ext cx="7602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AdaGrad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80585" y="3421856"/>
              <a:ext cx="15320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Standard norm-form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80585" y="3631406"/>
              <a:ext cx="19285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AdaGrad converges almost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80585" y="3840956"/>
              <a:ext cx="18584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surely too — the deployed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80585" y="4050506"/>
              <a:ext cx="18885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algorithm, not a variant.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772400" y="2857500"/>
              <a:ext cx="3352800" cy="1695450"/>
            </a:xfrm>
            <a:prstGeom prst="roundRect">
              <a:avLst>
                <a:gd name="adj" fmla="val 6742"/>
              </a:avLst>
            </a:prstGeom>
            <a:solidFill>
              <a:srgbClr val="E1F3F0"/>
            </a:solidFill>
            <a:ln w="9525">
              <a:solidFill>
                <a:srgbClr val="B7E2D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7772400" y="2857500"/>
              <a:ext cx="57150" cy="16954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032242" y="3092768"/>
              <a:ext cx="9745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Momentum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033385" y="3421856"/>
              <a:ext cx="1953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Provably accelerates SGD: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033385" y="3631406"/>
              <a:ext cx="19262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derived rate improves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033385" y="3840956"/>
              <a:ext cx="19338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as α grows, explaining the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033385" y="4050506"/>
              <a:ext cx="16473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speed-up analytically.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61085" y="4755356"/>
              <a:ext cx="5842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Convexity, bounded-iterate and uniform-noise assumptions are all relaxed.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62000" y="5353050"/>
            <a:ext cx="10668000" cy="723900"/>
            <a:chOff x="762000" y="5353050"/>
            <a:chExt cx="10668000" cy="723900"/>
          </a:xfrm>
        </p:grpSpPr>
        <p:sp>
          <p:nvSpPr>
            <p:cNvPr id="34" name="Rectangle 34"/>
            <p:cNvSpPr/>
            <p:nvPr/>
          </p:nvSpPr>
          <p:spPr>
            <a:xfrm>
              <a:off x="762000" y="5353050"/>
              <a:ext cx="10668000" cy="723900"/>
            </a:xfrm>
            <a:prstGeom prst="roundRect">
              <a:avLst>
                <a:gd name="adj" fmla="val 15789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767267" y="5493068"/>
              <a:ext cx="46574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Almost-sure convergence for non-convex losses —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260356" y="5756910"/>
              <a:ext cx="36712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8BE0D4"/>
                  </a:solidFill>
                  <a:latin typeface="+mn-lt"/>
                  <a:ea typeface="+mn-ea"/>
                  <a:cs typeface="+mn-cs"/>
                </a:rPr>
                <a:t>and momentum provably accelerates plain SGD.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57238" y="6570345"/>
            <a:ext cx="10677524" cy="176212"/>
            <a:chOff x="757238" y="6570345"/>
            <a:chExt cx="10677524" cy="176212"/>
          </a:xfrm>
        </p:grpSpPr>
        <p:sp>
          <p:nvSpPr>
            <p:cNvPr id="38" name="TextBox 38"/>
            <p:cNvSpPr txBox="1"/>
            <p:nvPr/>
          </p:nvSpPr>
          <p:spPr>
            <a:xfrm>
              <a:off x="757238" y="6570345"/>
              <a:ext cx="209437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mSGD &amp; AdaGrad · arXiv 2201.11204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0193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10 / 10</a:t>
              </a:r>
            </a:p>
          </p:txBody>
        </p:sp>
      </p:grpSp>
      <p:sp>
        <p:nvSpPr>
          <p:cNvPr id="41" name="cue_s10_c1_reassuringly_practitioners_under_mil" title="cue_s10_c1_reassuringly_practitioners_under_mil" descr="cue_s10_c1_reassuringly_practitioners_under_mil Reassuringly for practitioners, under mild conditions both fixed-momentum SGD and standard AdaGrad converge almost surely to stationary points of non-convex losses, and momentum provably accelerates SGD, narrowing the gap between theory and practice."/>
          <p:cNvSpPr/>
          <p:nvPr/>
        </p:nvSpPr>
        <p:spPr>
          <a:xfrm>
            <a:off x="762000" y="1733702"/>
            <a:ext cx="10668000" cy="3429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msgd_adagrad_video">
  <a:themeElements>
    <a:clrScheme name="msgd_adagrad_video">
      <a:dk1>
        <a:srgbClr val="12172A"/>
      </a:dk1>
      <a:lt1>
        <a:srgbClr val="FFFFFF"/>
      </a:lt1>
      <a:dk2>
        <a:srgbClr val="5A6675"/>
      </a:dk2>
      <a:lt2>
        <a:srgbClr val="F3F5FA"/>
      </a:lt2>
      <a:accent1>
        <a:srgbClr val="2453D6"/>
      </a:accent1>
      <a:accent2>
        <a:srgbClr val="0E9E8F"/>
      </a:accent2>
      <a:accent3>
        <a:srgbClr val="E4572E"/>
      </a:accent3>
      <a:accent4>
        <a:srgbClr val="E2E7EF"/>
      </a:accent4>
      <a:accent5>
        <a:srgbClr val="F7F9FC"/>
      </a:accent5>
      <a:accent6>
        <a:srgbClr val="E7EEFF"/>
      </a:accent6>
      <a:hlink>
        <a:srgbClr val="0E9E8F"/>
      </a:hlink>
      <a:folHlink>
        <a:srgbClr val="E4572E"/>
      </a:folHlink>
    </a:clrScheme>
    <a:fontScheme name="msgd_adagrad_video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sgd_adagrad_vide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2026-07-15T15:05:36Z</dcterms:created>
  <dcterms:modified xsi:type="dcterms:W3CDTF">2026-07-15T15:05:36Z</dcterms:modified>
  <cp:category/>
  <cp:contentStatus/>
</cp:coreProperties>
</file>
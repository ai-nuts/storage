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deck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deck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22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0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8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8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4266" y="572452"/>
            <a:ext cx="87920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spc="15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ICLR 2024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341131" y="576501"/>
            <a:ext cx="3246413" cy="1980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10" b="1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Diffusion Models · Guidance · Taylor Expansion</a:t>
            </a:r>
          </a:p>
        </p:txBody>
      </p:sp>
      <p:sp>
        <p:nvSpPr>
          <p:cNvPr id="4" name="Line 4"/>
          <p:cNvSpPr/>
          <p:nvPr/>
        </p:nvSpPr>
        <p:spPr>
          <a:xfrm>
            <a:off x="609600" y="8382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 cap="rnd">
            <a:solidFill>
              <a:srgbClr val="343A70"/>
            </a:solidFill>
          </a:ln>
        </p:spPr>
        <p:txBody>
          <a:bodyPr/>
          <a:p/>
        </p:txBody>
      </p:sp>
      <p:sp>
        <p:nvSpPr>
          <p:cNvPr id="5" name="TextBox 5"/>
          <p:cNvSpPr txBox="1"/>
          <p:nvPr/>
        </p:nvSpPr>
        <p:spPr>
          <a:xfrm>
            <a:off x="592836" y="1072515"/>
            <a:ext cx="994608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3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ICFG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00837" y="1680686"/>
            <a:ext cx="4529368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7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Inner Classifier-Free Guidance and Its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00837" y="1947386"/>
            <a:ext cx="4497216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7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Taylor Expansion for Diffusion Models</a:t>
            </a:r>
          </a:p>
        </p:txBody>
      </p:sp>
      <p:sp>
        <p:nvSpPr>
          <p:cNvPr id="8" name="Line 8"/>
          <p:cNvSpPr/>
          <p:nvPr/>
        </p:nvSpPr>
        <p:spPr>
          <a:xfrm>
            <a:off x="9725025" y="2124075"/>
            <a:ext cx="1733550" cy="9525"/>
          </a:xfrm>
          <a:custGeom>
            <a:avLst/>
            <a:gdLst/>
            <a:ahLst/>
            <a:cxnLst/>
            <a:rect l="l" t="t" r="r" b="b"/>
            <a:pathLst>
              <a:path w="1733550" h="9525">
                <a:moveTo>
                  <a:pt x="0" y="0"/>
                </a:moveTo>
                <a:lnTo>
                  <a:pt x="1733550" y="0"/>
                </a:lnTo>
              </a:path>
            </a:pathLst>
          </a:custGeom>
          <a:noFill/>
          <a:ln w="13335" cap="rnd">
            <a:solidFill>
              <a:srgbClr val="343A70"/>
            </a:solidFill>
          </a:ln>
        </p:spPr>
        <p:txBody>
          <a:bodyPr/>
          <a:p/>
        </p:txBody>
      </p:sp>
      <p:sp>
        <p:nvSpPr>
          <p:cNvPr id="9" name="Line 9"/>
          <p:cNvSpPr/>
          <p:nvPr/>
        </p:nvSpPr>
        <p:spPr>
          <a:xfrm>
            <a:off x="9725025" y="1228725"/>
            <a:ext cx="9525" cy="895350"/>
          </a:xfrm>
          <a:custGeom>
            <a:avLst/>
            <a:gdLst/>
            <a:ahLst/>
            <a:cxnLst/>
            <a:rect l="l" t="t" r="r" b="b"/>
            <a:pathLst>
              <a:path w="9525" h="895350">
                <a:moveTo>
                  <a:pt x="0" y="895350"/>
                </a:moveTo>
                <a:lnTo>
                  <a:pt x="0" y="0"/>
                </a:lnTo>
              </a:path>
            </a:pathLst>
          </a:custGeom>
          <a:noFill/>
          <a:ln w="13335" cap="rnd">
            <a:solidFill>
              <a:srgbClr val="343A70"/>
            </a:solidFill>
          </a:ln>
        </p:spPr>
        <p:txBody>
          <a:bodyPr/>
          <a:p/>
        </p:txBody>
      </p:sp>
      <p:sp>
        <p:nvSpPr>
          <p:cNvPr id="10" name="Polyline 10"/>
          <p:cNvSpPr/>
          <p:nvPr/>
        </p:nvSpPr>
        <p:spPr>
          <a:xfrm>
            <a:off x="9725025" y="1300353"/>
            <a:ext cx="1733550" cy="680466"/>
          </a:xfrm>
          <a:custGeom>
            <a:avLst/>
            <a:gdLst/>
            <a:ahLst/>
            <a:cxnLst/>
            <a:rect l="l" t="t" r="r" b="b"/>
            <a:pathLst>
              <a:path w="1733550" h="680466">
                <a:moveTo>
                  <a:pt x="0" y="680466"/>
                </a:moveTo>
                <a:lnTo>
                  <a:pt x="72231" y="679285"/>
                </a:lnTo>
                <a:lnTo>
                  <a:pt x="144463" y="675741"/>
                </a:lnTo>
                <a:lnTo>
                  <a:pt x="216694" y="669834"/>
                </a:lnTo>
                <a:lnTo>
                  <a:pt x="288925" y="661564"/>
                </a:lnTo>
                <a:lnTo>
                  <a:pt x="361156" y="650932"/>
                </a:lnTo>
                <a:lnTo>
                  <a:pt x="433388" y="637937"/>
                </a:lnTo>
                <a:lnTo>
                  <a:pt x="505619" y="622579"/>
                </a:lnTo>
                <a:lnTo>
                  <a:pt x="577850" y="604859"/>
                </a:lnTo>
                <a:lnTo>
                  <a:pt x="650081" y="584775"/>
                </a:lnTo>
                <a:lnTo>
                  <a:pt x="722312" y="562330"/>
                </a:lnTo>
                <a:lnTo>
                  <a:pt x="794544" y="537521"/>
                </a:lnTo>
                <a:lnTo>
                  <a:pt x="866775" y="510350"/>
                </a:lnTo>
                <a:lnTo>
                  <a:pt x="939006" y="480815"/>
                </a:lnTo>
                <a:lnTo>
                  <a:pt x="1011238" y="448919"/>
                </a:lnTo>
                <a:lnTo>
                  <a:pt x="1083469" y="414659"/>
                </a:lnTo>
                <a:lnTo>
                  <a:pt x="1155700" y="378037"/>
                </a:lnTo>
                <a:lnTo>
                  <a:pt x="1227931" y="339052"/>
                </a:lnTo>
                <a:lnTo>
                  <a:pt x="1300162" y="297704"/>
                </a:lnTo>
                <a:lnTo>
                  <a:pt x="1372394" y="253993"/>
                </a:lnTo>
                <a:lnTo>
                  <a:pt x="1444625" y="207920"/>
                </a:lnTo>
                <a:lnTo>
                  <a:pt x="1516856" y="159484"/>
                </a:lnTo>
                <a:lnTo>
                  <a:pt x="1589087" y="108686"/>
                </a:lnTo>
                <a:lnTo>
                  <a:pt x="1661319" y="55524"/>
                </a:lnTo>
                <a:lnTo>
                  <a:pt x="1733550" y="0"/>
                </a:lnTo>
              </a:path>
            </a:pathLst>
          </a:custGeom>
          <a:noFill/>
          <a:ln w="26670" cap="rnd">
            <a:solidFill>
              <a:schemeClr val="accent2"/>
            </a:solidFill>
            <a:round/>
          </a:ln>
        </p:spPr>
        <p:txBody>
          <a:bodyPr/>
          <a:p/>
        </p:txBody>
      </p:sp>
      <p:sp>
        <p:nvSpPr>
          <p:cNvPr id="11" name="Line 11"/>
          <p:cNvSpPr/>
          <p:nvPr/>
        </p:nvSpPr>
        <p:spPr>
          <a:xfrm>
            <a:off x="9898380" y="1484079"/>
            <a:ext cx="1525524" cy="598810"/>
          </a:xfrm>
          <a:custGeom>
            <a:avLst/>
            <a:gdLst/>
            <a:ahLst/>
            <a:cxnLst/>
            <a:rect l="l" t="t" r="r" b="b"/>
            <a:pathLst>
              <a:path w="1525524" h="598810">
                <a:moveTo>
                  <a:pt x="0" y="598810"/>
                </a:moveTo>
                <a:lnTo>
                  <a:pt x="1525524" y="0"/>
                </a:lnTo>
              </a:path>
            </a:pathLst>
          </a:custGeom>
          <a:noFill/>
          <a:ln w="17145" cap="rnd">
            <a:solidFill>
              <a:srgbClr val="F4C24C"/>
            </a:solidFill>
            <a:custDash>
              <a:ds d="333333" sp="222222"/>
            </a:custDash>
          </a:ln>
        </p:spPr>
        <p:txBody>
          <a:bodyPr/>
          <a:p/>
        </p:txBody>
      </p:sp>
      <p:sp>
        <p:nvSpPr>
          <p:cNvPr id="12" name="Ellipse 12"/>
          <p:cNvSpPr/>
          <p:nvPr/>
        </p:nvSpPr>
        <p:spPr>
          <a:xfrm>
            <a:off x="10547985" y="1766888"/>
            <a:ext cx="87630" cy="87630"/>
          </a:xfrm>
          <a:prstGeom prst="ellipse">
            <a:avLst/>
          </a:prstGeom>
          <a:solidFill>
            <a:srgbClr val="F4C24C"/>
          </a:solidFill>
          <a:ln>
            <a:noFill/>
          </a:ln>
        </p:spPr>
        <p:txBody>
          <a:bodyPr/>
          <a:p/>
        </p:txBody>
      </p:sp>
      <p:sp>
        <p:nvSpPr>
          <p:cNvPr id="13" name="Line 13"/>
          <p:cNvSpPr/>
          <p:nvPr/>
        </p:nvSpPr>
        <p:spPr>
          <a:xfrm>
            <a:off x="11285220" y="1429642"/>
            <a:ext cx="9525" cy="108875"/>
          </a:xfrm>
          <a:custGeom>
            <a:avLst/>
            <a:gdLst/>
            <a:ahLst/>
            <a:cxnLst/>
            <a:rect l="l" t="t" r="r" b="b"/>
            <a:pathLst>
              <a:path w="9525" h="108875">
                <a:moveTo>
                  <a:pt x="0" y="108875"/>
                </a:moveTo>
                <a:lnTo>
                  <a:pt x="0" y="0"/>
                </a:lnTo>
              </a:path>
            </a:pathLst>
          </a:custGeom>
          <a:noFill/>
          <a:ln w="20955" cap="rnd">
            <a:solidFill>
              <a:srgbClr val="33D6C0"/>
            </a:solidFill>
          </a:ln>
        </p:spPr>
        <p:txBody>
          <a:bodyPr/>
          <a:p/>
        </p:txBody>
      </p:sp>
      <p:sp>
        <p:nvSpPr>
          <p:cNvPr id="14" name="TextBox 14"/>
          <p:cNvSpPr txBox="1"/>
          <p:nvPr/>
        </p:nvSpPr>
        <p:spPr>
          <a:xfrm>
            <a:off x="11347132" y="1441216"/>
            <a:ext cx="184447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50" b="1" dirty="0">
                <a:solidFill>
                  <a:srgbClr val="33D6C0"/>
                </a:solidFill>
                <a:latin typeface="+mn-lt"/>
                <a:ea typeface="+mn-ea"/>
                <a:cs typeface="+mn-cs"/>
              </a:rPr>
              <a:t>2nd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928288" y="1912117"/>
            <a:ext cx="845079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50" b="1" dirty="0">
                <a:solidFill>
                  <a:srgbClr val="F4C24C"/>
                </a:solidFill>
                <a:latin typeface="+mn-lt"/>
                <a:ea typeface="+mn-ea"/>
                <a:cs typeface="+mn-cs"/>
              </a:rPr>
              <a:t>CFG (1st order)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40328" y="1359633"/>
            <a:ext cx="24833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ICFG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242351" y="2184559"/>
            <a:ext cx="220986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680" b="1" dirty="0">
                <a:solidFill>
                  <a:srgbClr val="727BA0"/>
                </a:solidFill>
                <a:latin typeface="+mn-lt"/>
                <a:ea typeface="+mn-ea"/>
                <a:cs typeface="+mn-cs"/>
              </a:rPr>
              <a:t>beta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04647" y="2352199"/>
            <a:ext cx="551369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Shikun Sun · Longhui Wei · Zhicai Wang · Zixuan Wang · Junliang Xing · Jia Jia · Qi Tian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04838" y="2565797"/>
            <a:ext cx="4625403" cy="1833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40" b="1" dirty="0">
                <a:solidFill>
                  <a:srgbClr val="727BA0"/>
                </a:solidFill>
                <a:latin typeface="+mn-lt"/>
                <a:ea typeface="+mn-ea"/>
                <a:cs typeface="+mn-cs"/>
              </a:rPr>
              <a:t>Tsinghua University · Univ. of Science and Technology of China · Huawei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609600" y="2914650"/>
            <a:ext cx="2628900" cy="2133600"/>
            <a:chOff x="609600" y="2914650"/>
            <a:chExt cx="2628900" cy="2133600"/>
          </a:xfrm>
        </p:grpSpPr>
        <p:sp>
          <p:nvSpPr>
            <p:cNvPr id="20" name="Rectangle 20"/>
            <p:cNvSpPr/>
            <p:nvPr/>
          </p:nvSpPr>
          <p:spPr>
            <a:xfrm>
              <a:off x="609600" y="2914650"/>
              <a:ext cx="2628900" cy="2133600"/>
            </a:xfrm>
            <a:prstGeom prst="roundRect">
              <a:avLst>
                <a:gd name="adj" fmla="val 6250"/>
              </a:avLst>
            </a:prstGeom>
            <a:solidFill>
              <a:schemeClr val="accent5"/>
            </a:solidFill>
            <a:ln w="14288">
              <a:solidFill>
                <a:srgbClr val="343A70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609600" y="2914650"/>
              <a:ext cx="2628900" cy="571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790575" y="3248025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022223" y="3234214"/>
              <a:ext cx="194082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CFG: the control knob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33247" y="3723799"/>
              <a:ext cx="188735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Classifier-free guidance lets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33247" y="3904774"/>
              <a:ext cx="220650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conditional diffusion models trade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33247" y="4085749"/>
              <a:ext cx="21009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sample diversity against fidelity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33247" y="4266724"/>
              <a:ext cx="227246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- the standard control every model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33247" y="4447699"/>
              <a:ext cx="3727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uses.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3390900" y="2914650"/>
            <a:ext cx="2628900" cy="2133600"/>
            <a:chOff x="3390900" y="2914650"/>
            <a:chExt cx="2628900" cy="2133600"/>
          </a:xfrm>
        </p:grpSpPr>
        <p:sp>
          <p:nvSpPr>
            <p:cNvPr id="30" name="Rectangle 30"/>
            <p:cNvSpPr/>
            <p:nvPr/>
          </p:nvSpPr>
          <p:spPr>
            <a:xfrm>
              <a:off x="3390900" y="2914650"/>
              <a:ext cx="2628900" cy="2133600"/>
            </a:xfrm>
            <a:prstGeom prst="roundRect">
              <a:avLst>
                <a:gd name="adj" fmla="val 6250"/>
              </a:avLst>
            </a:prstGeom>
            <a:solidFill>
              <a:schemeClr val="accent5"/>
            </a:solidFill>
            <a:ln w="14288">
              <a:solidFill>
                <a:srgbClr val="343A70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3390900" y="2914650"/>
              <a:ext cx="2628900" cy="57150"/>
            </a:xfrm>
            <a:prstGeom prst="roundRect">
              <a:avLst>
                <a:gd name="adj" fmla="val 50000"/>
              </a:avLst>
            </a:prstGeom>
            <a:solidFill>
              <a:srgbClr val="F2685C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3571875" y="3248025"/>
              <a:ext cx="133350" cy="133350"/>
            </a:xfrm>
            <a:prstGeom prst="ellipse">
              <a:avLst/>
            </a:prstGeom>
            <a:solidFill>
              <a:srgbClr val="F2685C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3803523" y="3234214"/>
              <a:ext cx="12308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But it ignores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803523" y="3443764"/>
              <a:ext cx="90855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structure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614547" y="3723799"/>
              <a:ext cx="217128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When the condition is continuous,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614547" y="3904774"/>
              <a:ext cx="204158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like a text embedding, plain CFG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614547" y="4085749"/>
              <a:ext cx="203499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treats it as an opaque label and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614547" y="4266724"/>
              <a:ext cx="21339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ignores that structure entirely.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6172200" y="2914650"/>
            <a:ext cx="2628900" cy="2133600"/>
            <a:chOff x="6172200" y="2914650"/>
            <a:chExt cx="2628900" cy="2133600"/>
          </a:xfrm>
        </p:grpSpPr>
        <p:sp>
          <p:nvSpPr>
            <p:cNvPr id="40" name="Rectangle 40"/>
            <p:cNvSpPr/>
            <p:nvPr/>
          </p:nvSpPr>
          <p:spPr>
            <a:xfrm>
              <a:off x="6172200" y="2914650"/>
              <a:ext cx="2628900" cy="2133600"/>
            </a:xfrm>
            <a:prstGeom prst="roundRect">
              <a:avLst>
                <a:gd name="adj" fmla="val 6250"/>
              </a:avLst>
            </a:prstGeom>
            <a:solidFill>
              <a:schemeClr val="accent5"/>
            </a:solidFill>
            <a:ln w="14288">
              <a:solidFill>
                <a:srgbClr val="343A70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6172200" y="2914650"/>
              <a:ext cx="2628900" cy="57150"/>
            </a:xfrm>
            <a:prstGeom prst="roundRect">
              <a:avLst>
                <a:gd name="adj" fmla="val 50000"/>
              </a:avLst>
            </a:prstGeom>
            <a:solidFill>
              <a:srgbClr val="33D6C0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6353175" y="3248025"/>
              <a:ext cx="133350" cy="133350"/>
            </a:xfrm>
            <a:prstGeom prst="ellipse">
              <a:avLst/>
            </a:prstGeom>
            <a:solidFill>
              <a:srgbClr val="33D6C0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584823" y="3234214"/>
              <a:ext cx="14504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CFG is just first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584823" y="3443764"/>
              <a:ext cx="5105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order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395847" y="3723799"/>
              <a:ext cx="22697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This ICLR 2024 paper from Tsinghua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395847" y="3904774"/>
              <a:ext cx="232336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and Huawei recasts standard CFG as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395847" y="4085749"/>
              <a:ext cx="22328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the first-order term of a broader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395847" y="4266724"/>
              <a:ext cx="186175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Taylor expansion: inner CFG.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8953500" y="2914650"/>
            <a:ext cx="2628900" cy="2133600"/>
            <a:chOff x="8953500" y="2914650"/>
            <a:chExt cx="2628900" cy="2133600"/>
          </a:xfrm>
        </p:grpSpPr>
        <p:sp>
          <p:nvSpPr>
            <p:cNvPr id="50" name="Rectangle 50"/>
            <p:cNvSpPr/>
            <p:nvPr/>
          </p:nvSpPr>
          <p:spPr>
            <a:xfrm>
              <a:off x="8953500" y="2914650"/>
              <a:ext cx="2628900" cy="2133600"/>
            </a:xfrm>
            <a:prstGeom prst="roundRect">
              <a:avLst>
                <a:gd name="adj" fmla="val 6250"/>
              </a:avLst>
            </a:prstGeom>
            <a:solidFill>
              <a:schemeClr val="accent5"/>
            </a:solidFill>
            <a:ln w="14288">
              <a:solidFill>
                <a:srgbClr val="343A70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8953500" y="2914650"/>
              <a:ext cx="2628900" cy="57150"/>
            </a:xfrm>
            <a:prstGeom prst="roundRect">
              <a:avLst>
                <a:gd name="adj" fmla="val 50000"/>
              </a:avLst>
            </a:prstGeom>
            <a:solidFill>
              <a:srgbClr val="46C98B"/>
            </a:solidFill>
            <a:ln>
              <a:noFill/>
            </a:ln>
          </p:spPr>
        </p:sp>
        <p:sp>
          <p:nvSpPr>
            <p:cNvPr id="52" name="Ellipse 52"/>
            <p:cNvSpPr/>
            <p:nvPr/>
          </p:nvSpPr>
          <p:spPr>
            <a:xfrm>
              <a:off x="9134475" y="3248025"/>
              <a:ext cx="133350" cy="133350"/>
            </a:xfrm>
            <a:prstGeom prst="ellipse">
              <a:avLst/>
            </a:prstGeom>
            <a:solidFill>
              <a:srgbClr val="46C98B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9366123" y="3234214"/>
              <a:ext cx="174781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One extra term, no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366123" y="3443764"/>
              <a:ext cx="91760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retraining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177147" y="3723799"/>
              <a:ext cx="219145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Adding a second-order term, with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177147" y="3904774"/>
              <a:ext cx="188327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no change to training, buys a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177147" y="4085749"/>
              <a:ext cx="21405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better fidelity-diversity balance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177147" y="4266724"/>
              <a:ext cx="185235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for Stable Diffusion in a few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177147" y="4447699"/>
              <a:ext cx="89382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lines of code.</a:t>
              </a:r>
            </a:p>
          </p:txBody>
        </p:sp>
      </p:grpSp>
      <p:sp>
        <p:nvSpPr>
          <p:cNvPr id="61" name="Line 61"/>
          <p:cNvSpPr/>
          <p:nvPr/>
        </p:nvSpPr>
        <p:spPr>
          <a:xfrm>
            <a:off x="609600" y="52959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 cap="rnd">
            <a:solidFill>
              <a:srgbClr val="343A70"/>
            </a:solidFill>
          </a:ln>
        </p:spPr>
        <p:txBody>
          <a:bodyPr/>
          <a:p/>
        </p:txBody>
      </p:sp>
      <p:sp>
        <p:nvSpPr>
          <p:cNvPr id="62" name="TextBox 62"/>
          <p:cNvSpPr txBox="1"/>
          <p:nvPr/>
        </p:nvSpPr>
        <p:spPr>
          <a:xfrm>
            <a:off x="604266" y="5525452"/>
            <a:ext cx="28226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openreview.net/forum?id=0QAzIMq32X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9280639" y="5525452"/>
            <a:ext cx="230709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b="1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One extra term. No retraining.</a:t>
            </a:r>
          </a:p>
        </p:txBody>
      </p:sp>
      <p:sp>
        <p:nvSpPr>
          <p:cNvPr id="64" name="cue_s01_c1_classifier_free_guidance_cfg_workhor" title="cue_s01_c1_classifier_free_guidance_cfg_workhor" descr="cue_s01_c1_classifier_free_guidance_cfg_workhor Classifier-free guidance, or CFG, is the workhorse that lets conditional diffusion models trade sample diversity against fidelity."/>
          <p:cNvSpPr/>
          <p:nvPr/>
        </p:nvSpPr>
        <p:spPr>
          <a:xfrm>
            <a:off x="609600" y="2914650"/>
            <a:ext cx="2628595" cy="2133523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cue_s01_c2_but_when_condition_continuous_like" title="cue_s01_c2_but_when_condition_continuous_like" descr="cue_s01_c2_but_when_condition_continuous_like But when the condition is continuous, like a text embedding, CFG ignores that structure."/>
          <p:cNvSpPr/>
          <p:nvPr/>
        </p:nvSpPr>
        <p:spPr>
          <a:xfrm>
            <a:off x="3390595" y="2914650"/>
            <a:ext cx="2628595" cy="2133523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cue_s01_c3_iclr_2024_tsinghua_university_huawei" title="cue_s01_c3_iclr_2024_tsinghua_university_huawei" descr="cue_s01_c3_iclr_2024_tsinghua_university_huawei This ICLR 2024 paper from Tsinghua University and Huawei introduces Inner Classifier-Free Guidance, or ICFG, a perspective that treats standard CFG as the first-order case of a broader Taylor expansion."/>
          <p:cNvSpPr/>
          <p:nvPr/>
        </p:nvSpPr>
        <p:spPr>
          <a:xfrm>
            <a:off x="6171590" y="2914650"/>
            <a:ext cx="2628595" cy="2133523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cue_s01_c4_adding_second_order_term_change_auth" title="cue_s01_c4_adding_second_order_term_change_auth" descr="cue_s01_c4_adding_second_order_term_change_auth By adding a second-order term, with no change to training, the authors get a better balance between fidelity and diversity for Stable Diffusion, using only a few lines of code."/>
          <p:cNvSpPr/>
          <p:nvPr/>
        </p:nvSpPr>
        <p:spPr>
          <a:xfrm>
            <a:off x="8953804" y="2914650"/>
            <a:ext cx="2628595" cy="2133523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09600" y="495300"/>
            <a:ext cx="47625" cy="247650"/>
          </a:xfrm>
          <a:prstGeom prst="roundRect">
            <a:avLst>
              <a:gd name="adj" fmla="val 40000"/>
            </a:avLst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3" name="TextBox 3"/>
          <p:cNvSpPr txBox="1"/>
          <p:nvPr/>
        </p:nvSpPr>
        <p:spPr>
          <a:xfrm>
            <a:off x="775335" y="564356"/>
            <a:ext cx="88279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spc="188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PROBLEM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98170" y="804862"/>
            <a:ext cx="4867589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2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A continuous condition, wasted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609600" y="1504950"/>
            <a:ext cx="3848100" cy="3733800"/>
            <a:chOff x="609600" y="1504950"/>
            <a:chExt cx="3848100" cy="3733800"/>
          </a:xfrm>
        </p:grpSpPr>
        <p:sp>
          <p:nvSpPr>
            <p:cNvPr id="5" name="Rectangle 5"/>
            <p:cNvSpPr/>
            <p:nvPr/>
          </p:nvSpPr>
          <p:spPr>
            <a:xfrm>
              <a:off x="609600" y="1504950"/>
              <a:ext cx="3848100" cy="3733800"/>
            </a:xfrm>
            <a:prstGeom prst="roundRect">
              <a:avLst>
                <a:gd name="adj" fmla="val 3571"/>
              </a:avLst>
            </a:prstGeom>
            <a:solidFill>
              <a:schemeClr val="accent5"/>
            </a:solidFill>
            <a:ln w="14288">
              <a:solidFill>
                <a:srgbClr val="343A70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609600" y="1504950"/>
              <a:ext cx="57150" cy="37338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69632" y="1782366"/>
              <a:ext cx="2096431" cy="2566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1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CFG is the control knob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70966" y="2153602"/>
              <a:ext cx="24532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Conditional diffusion models lean on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70966" y="2363152"/>
              <a:ext cx="27528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classifier-free guidance to control how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70966" y="2572702"/>
              <a:ext cx="28306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diverse and how faithful their generated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70966" y="2782252"/>
              <a:ext cx="9011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samples are.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876300" y="3352800"/>
              <a:ext cx="3276600" cy="1390650"/>
            </a:xfrm>
            <a:prstGeom prst="roundRect">
              <a:avLst>
                <a:gd name="adj" fmla="val 6849"/>
              </a:avLst>
            </a:prstGeom>
            <a:solidFill>
              <a:schemeClr val="accent6"/>
            </a:solidFill>
            <a:ln w="14288">
              <a:solidFill>
                <a:srgbClr val="343A70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062038" y="3537347"/>
              <a:ext cx="1657041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b="1" dirty="0">
                  <a:solidFill>
                    <a:srgbClr val="727BA0"/>
                  </a:solidFill>
                  <a:latin typeface="+mn-lt"/>
                  <a:ea typeface="+mn-ea"/>
                  <a:cs typeface="+mn-cs"/>
                </a:rPr>
                <a:t>the one dial CFG gives you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66800" y="3790950"/>
              <a:ext cx="2895600" cy="381000"/>
            </a:xfrm>
            <a:prstGeom prst="roundRect">
              <a:avLst>
                <a:gd name="adj" fmla="val 20000"/>
              </a:avLst>
            </a:prstGeom>
            <a:solidFill>
              <a:schemeClr val="accent6"/>
            </a:solidFill>
            <a:ln w="14288">
              <a:solidFill>
                <a:srgbClr val="343A70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399879" y="3941445"/>
              <a:ext cx="222944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raise w: fidelity up, diversity down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2038" y="4455795"/>
              <a:ext cx="195592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one scalar, and nothing about c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4762500" y="1504950"/>
            <a:ext cx="6819900" cy="1428750"/>
            <a:chOff x="4762500" y="1504950"/>
            <a:chExt cx="6819900" cy="1428750"/>
          </a:xfrm>
        </p:grpSpPr>
        <p:sp>
          <p:nvSpPr>
            <p:cNvPr id="18" name="Rectangle 18"/>
            <p:cNvSpPr/>
            <p:nvPr/>
          </p:nvSpPr>
          <p:spPr>
            <a:xfrm>
              <a:off x="4762500" y="1504950"/>
              <a:ext cx="6819900" cy="1428750"/>
            </a:xfrm>
            <a:prstGeom prst="roundRect">
              <a:avLst>
                <a:gd name="adj" fmla="val 9333"/>
              </a:avLst>
            </a:prstGeom>
            <a:solidFill>
              <a:schemeClr val="accent5"/>
            </a:solidFill>
            <a:ln w="14288">
              <a:solidFill>
                <a:srgbClr val="343A70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4762500" y="1504950"/>
              <a:ext cx="57150" cy="1428750"/>
            </a:xfrm>
            <a:prstGeom prst="roundRect">
              <a:avLst>
                <a:gd name="adj" fmla="val 50000"/>
              </a:avLst>
            </a:prstGeom>
            <a:solidFill>
              <a:srgbClr val="F2685C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022914" y="1733312"/>
              <a:ext cx="2474963" cy="2420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40" b="1" dirty="0">
                  <a:solidFill>
                    <a:srgbClr val="F2685C"/>
                  </a:solidFill>
                  <a:latin typeface="+mn-lt"/>
                  <a:ea typeface="+mn-ea"/>
                  <a:cs typeface="+mn-cs"/>
                </a:rPr>
                <a:t>CFG sees only an opaque label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023866" y="2039302"/>
              <a:ext cx="32877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Standard CFG treats the condition as an opaque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023866" y="2239328"/>
              <a:ext cx="29790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label; it places no constraints at all on the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023866" y="2439352"/>
              <a:ext cx="24065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condition space it steers through.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8858250" y="2095500"/>
              <a:ext cx="2590800" cy="704850"/>
            </a:xfrm>
            <a:prstGeom prst="roundRect">
              <a:avLst>
                <a:gd name="adj" fmla="val 10811"/>
              </a:avLst>
            </a:prstGeom>
            <a:solidFill>
              <a:srgbClr val="0E1330"/>
            </a:solidFill>
            <a:ln w="14288">
              <a:solidFill>
                <a:srgbClr val="343A70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9077325" y="2381250"/>
              <a:ext cx="133350" cy="133350"/>
            </a:xfrm>
            <a:prstGeom prst="ellipse">
              <a:avLst/>
            </a:prstGeom>
            <a:solidFill>
              <a:srgbClr val="33D6C0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858302" y="2214562"/>
              <a:ext cx="57139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b="1" dirty="0">
                  <a:solidFill>
                    <a:srgbClr val="33D6C0"/>
                  </a:solidFill>
                  <a:latin typeface="+mn-lt"/>
                  <a:ea typeface="+mn-ea"/>
                  <a:cs typeface="+mn-cs"/>
                </a:rPr>
                <a:t>condition c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9277350" y="2447925"/>
              <a:ext cx="720852" cy="9525"/>
            </a:xfrm>
            <a:custGeom>
              <a:avLst/>
              <a:gdLst/>
              <a:ahLst/>
              <a:cxnLst/>
              <a:rect l="l" t="t" r="r" b="b"/>
              <a:pathLst>
                <a:path w="720852" h="9525">
                  <a:moveTo>
                    <a:pt x="0" y="0"/>
                  </a:moveTo>
                  <a:lnTo>
                    <a:pt x="720852" y="0"/>
                  </a:lnTo>
                </a:path>
              </a:pathLst>
            </a:custGeom>
            <a:noFill/>
            <a:ln w="19050" cap="rnd">
              <a:solidFill>
                <a:schemeClr val="dk2"/>
              </a:solidFill>
            </a:ln>
          </p:spPr>
        </p:sp>
        <p:sp>
          <p:nvSpPr>
            <p:cNvPr id="28" name="Polyline 28"/>
            <p:cNvSpPr/>
            <p:nvPr/>
          </p:nvSpPr>
          <p:spPr>
            <a:xfrm>
              <a:off x="9922002" y="2400300"/>
              <a:ext cx="76200" cy="95250"/>
            </a:xfrm>
            <a:custGeom>
              <a:avLst/>
              <a:gdLst/>
              <a:ahLst/>
              <a:cxnLst/>
              <a:rect l="l" t="t" r="r" b="b"/>
              <a:pathLst>
                <a:path w="76200" h="95250">
                  <a:moveTo>
                    <a:pt x="0" y="0"/>
                  </a:moveTo>
                  <a:lnTo>
                    <a:pt x="76200" y="47625"/>
                  </a:lnTo>
                  <a:lnTo>
                    <a:pt x="0" y="95250"/>
                  </a:lnTo>
                </a:path>
              </a:pathLst>
            </a:custGeom>
            <a:noFill/>
            <a:ln w="9525" cap="rnd">
              <a:solidFill>
                <a:schemeClr val="dk2"/>
              </a:solidFill>
              <a:round/>
            </a:ln>
          </p:spPr>
        </p:sp>
        <p:sp>
          <p:nvSpPr>
            <p:cNvPr id="29" name="Rectangle 29"/>
            <p:cNvSpPr/>
            <p:nvPr/>
          </p:nvSpPr>
          <p:spPr>
            <a:xfrm>
              <a:off x="10101834" y="2276475"/>
              <a:ext cx="829056" cy="342900"/>
            </a:xfrm>
            <a:prstGeom prst="roundRect">
              <a:avLst>
                <a:gd name="adj" fmla="val 16667"/>
              </a:avLst>
            </a:prstGeom>
            <a:solidFill>
              <a:schemeClr val="accent6"/>
            </a:solidFill>
            <a:ln w="13335">
              <a:solidFill>
                <a:srgbClr val="F2685C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0282682" y="2406491"/>
              <a:ext cx="46736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rgbClr val="F2685C"/>
                  </a:solidFill>
                  <a:latin typeface="Consolas"/>
                  <a:ea typeface="Consolas"/>
                  <a:cs typeface="Consolas"/>
                </a:rPr>
                <a:t>[ label ]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441808" y="2666286"/>
              <a:ext cx="897704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710" b="1" dirty="0">
                  <a:solidFill>
                    <a:srgbClr val="F4C24C"/>
                  </a:solidFill>
                  <a:latin typeface="+mn-lt"/>
                  <a:ea typeface="+mn-ea"/>
                  <a:cs typeface="+mn-cs"/>
                </a:rPr>
                <a:t>structure ignored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4762500" y="3086100"/>
            <a:ext cx="6819900" cy="990600"/>
            <a:chOff x="4762500" y="3086100"/>
            <a:chExt cx="6819900" cy="990600"/>
          </a:xfrm>
        </p:grpSpPr>
        <p:sp>
          <p:nvSpPr>
            <p:cNvPr id="33" name="Rectangle 33"/>
            <p:cNvSpPr/>
            <p:nvPr/>
          </p:nvSpPr>
          <p:spPr>
            <a:xfrm>
              <a:off x="4762500" y="3086100"/>
              <a:ext cx="6819900" cy="990600"/>
            </a:xfrm>
            <a:prstGeom prst="roundRect">
              <a:avLst>
                <a:gd name="adj" fmla="val 13462"/>
              </a:avLst>
            </a:prstGeom>
            <a:solidFill>
              <a:srgbClr val="2A2417"/>
            </a:solidFill>
            <a:ln w="14288">
              <a:solidFill>
                <a:srgbClr val="F4C24C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4762500" y="3086100"/>
              <a:ext cx="57150" cy="990600"/>
            </a:xfrm>
            <a:prstGeom prst="roundRect">
              <a:avLst>
                <a:gd name="adj" fmla="val 50000"/>
              </a:avLst>
            </a:prstGeom>
            <a:solidFill>
              <a:srgbClr val="F4C24C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023104" y="3318510"/>
              <a:ext cx="23754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F4C24C"/>
                  </a:solidFill>
                  <a:latin typeface="+mn-lt"/>
                  <a:ea typeface="+mn-ea"/>
                  <a:cs typeface="+mn-cs"/>
                </a:rPr>
                <a:t>But that space is continuous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023676" y="3616404"/>
              <a:ext cx="5195792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 text-prompt embedding lives in a genuinely continuous space - so all of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023676" y="3825954"/>
              <a:ext cx="3782159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that continuity and structure simply goes to waste.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4762500" y="4229100"/>
            <a:ext cx="6819900" cy="1009650"/>
            <a:chOff x="4762500" y="4229100"/>
            <a:chExt cx="6819900" cy="1009650"/>
          </a:xfrm>
        </p:grpSpPr>
        <p:sp>
          <p:nvSpPr>
            <p:cNvPr id="39" name="Rectangle 39"/>
            <p:cNvSpPr/>
            <p:nvPr/>
          </p:nvSpPr>
          <p:spPr>
            <a:xfrm>
              <a:off x="4762500" y="4229100"/>
              <a:ext cx="6819900" cy="1009650"/>
            </a:xfrm>
            <a:prstGeom prst="roundRect">
              <a:avLst>
                <a:gd name="adj" fmla="val 13208"/>
              </a:avLst>
            </a:prstGeom>
            <a:solidFill>
              <a:srgbClr val="0F2E2B"/>
            </a:solidFill>
            <a:ln w="14288">
              <a:solidFill>
                <a:srgbClr val="46C98B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4762500" y="4229100"/>
              <a:ext cx="57150" cy="1009650"/>
            </a:xfrm>
            <a:prstGeom prst="roundRect">
              <a:avLst>
                <a:gd name="adj" fmla="val 50000"/>
              </a:avLst>
            </a:prstGeom>
            <a:solidFill>
              <a:srgbClr val="46C98B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023104" y="4461510"/>
              <a:ext cx="23754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46C98B"/>
                  </a:solidFill>
                  <a:latin typeface="+mn-lt"/>
                  <a:ea typeface="+mn-ea"/>
                  <a:cs typeface="+mn-cs"/>
                </a:rPr>
                <a:t>The question this paper asks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023676" y="4759404"/>
              <a:ext cx="5320552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If the condition lives in a structured, continuous space, can we do better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023676" y="4968954"/>
              <a:ext cx="2586262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than plain classifier-free guidance?</a:t>
              </a:r>
            </a:p>
          </p:txBody>
        </p:sp>
      </p:grpSp>
      <p:sp>
        <p:nvSpPr>
          <p:cNvPr id="45" name="cue_s02_c1_conditional_diffusion_models_rely_cl" title="cue_s02_c1_conditional_diffusion_models_rely_cl" descr="cue_s02_c1_conditional_diffusion_models_rely_cl Conditional diffusion models rely on classifier-free guidance to control how diverse and faithful their samples are."/>
          <p:cNvSpPr/>
          <p:nvPr/>
        </p:nvSpPr>
        <p:spPr>
          <a:xfrm>
            <a:off x="609600" y="1504645"/>
            <a:ext cx="3847795" cy="3733495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cue_s02_c2_problem_cfg_treats_condition_opaque" title="cue_s02_c2_problem_cfg_treats_condition_opaque" descr="cue_s02_c2_problem_cfg_treats_condition_opaque The problem is that CFG treats the condition as an opaque label; it places no constraints on the condition space."/>
          <p:cNvSpPr/>
          <p:nvPr/>
        </p:nvSpPr>
        <p:spPr>
          <a:xfrm>
            <a:off x="4762195" y="1504645"/>
            <a:ext cx="6820204" cy="1428521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cue_s02_c3_when_space_continuous_like_text" title="cue_s02_c3_when_space_continuous_like_text" descr="cue_s02_c3_when_space_continuous_like_text So when that space is continuous, like a text prompt embedding, all that continuity goes to waste."/>
          <p:cNvSpPr/>
          <p:nvPr/>
        </p:nvSpPr>
        <p:spPr>
          <a:xfrm>
            <a:off x="4762195" y="3086100"/>
            <a:ext cx="6820204" cy="990295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cue_s02_c4_authors_ask_pointed_question_conditi" title="cue_s02_c4_authors_ask_pointed_question_conditi" descr="cue_s02_c4_authors_ask_pointed_question_conditi The authors ask a pointed question: if the condition lives in a structured continuous space, can we do better than plain CFG?"/>
          <p:cNvSpPr/>
          <p:nvPr/>
        </p:nvSpPr>
        <p:spPr>
          <a:xfrm>
            <a:off x="4762195" y="4229328"/>
            <a:ext cx="6820204" cy="1009497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09600" y="495300"/>
            <a:ext cx="47625" cy="247650"/>
          </a:xfrm>
          <a:prstGeom prst="roundRect">
            <a:avLst>
              <a:gd name="adj" fmla="val 40000"/>
            </a:avLst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3" name="TextBox 3"/>
          <p:cNvSpPr txBox="1"/>
          <p:nvPr/>
        </p:nvSpPr>
        <p:spPr>
          <a:xfrm>
            <a:off x="775335" y="564356"/>
            <a:ext cx="118883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spc="188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MOTIVATION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98170" y="804862"/>
            <a:ext cx="4787906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2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Move along the condition space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609600" y="1504950"/>
            <a:ext cx="5334000" cy="1828800"/>
            <a:chOff x="609600" y="1504950"/>
            <a:chExt cx="5334000" cy="1828800"/>
          </a:xfrm>
        </p:grpSpPr>
        <p:sp>
          <p:nvSpPr>
            <p:cNvPr id="5" name="Rectangle 5"/>
            <p:cNvSpPr/>
            <p:nvPr/>
          </p:nvSpPr>
          <p:spPr>
            <a:xfrm>
              <a:off x="609600" y="1504950"/>
              <a:ext cx="5334000" cy="1828800"/>
            </a:xfrm>
            <a:prstGeom prst="roundRect">
              <a:avLst>
                <a:gd name="adj" fmla="val 7292"/>
              </a:avLst>
            </a:prstGeom>
            <a:solidFill>
              <a:schemeClr val="accent5"/>
            </a:solidFill>
            <a:ln w="14288">
              <a:solidFill>
                <a:srgbClr val="343A70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609600" y="1504950"/>
              <a:ext cx="57150" cy="18288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70204" y="1737360"/>
              <a:ext cx="29608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Two ways to guide a diffusion model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70966" y="2039302"/>
              <a:ext cx="40086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There are two main routes to inject guidance: an external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70966" y="2239328"/>
              <a:ext cx="37988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trained classifier, or classifier-free guidance a single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70966" y="2439352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model learns jointly.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876300" y="2857500"/>
              <a:ext cx="4457700" cy="323850"/>
            </a:xfrm>
            <a:prstGeom prst="roundRect">
              <a:avLst>
                <a:gd name="adj" fmla="val 23529"/>
              </a:avLst>
            </a:prstGeom>
            <a:solidFill>
              <a:schemeClr val="accent6"/>
            </a:solidFill>
            <a:ln w="14288">
              <a:solidFill>
                <a:srgbClr val="343A70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1000125" y="2971800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194626" y="2959179"/>
              <a:ext cx="3531608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external classifier vs classifier-free guidance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09600" y="3486150"/>
            <a:ext cx="5334000" cy="1752600"/>
            <a:chOff x="609600" y="3486150"/>
            <a:chExt cx="5334000" cy="1752600"/>
          </a:xfrm>
        </p:grpSpPr>
        <p:sp>
          <p:nvSpPr>
            <p:cNvPr id="15" name="Rectangle 15"/>
            <p:cNvSpPr/>
            <p:nvPr/>
          </p:nvSpPr>
          <p:spPr>
            <a:xfrm>
              <a:off x="609600" y="3486150"/>
              <a:ext cx="5334000" cy="1752600"/>
            </a:xfrm>
            <a:prstGeom prst="roundRect">
              <a:avLst>
                <a:gd name="adj" fmla="val 7609"/>
              </a:avLst>
            </a:prstGeom>
            <a:solidFill>
              <a:schemeClr val="accent5"/>
            </a:solidFill>
            <a:ln w="14288">
              <a:solidFill>
                <a:srgbClr val="343A70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609600" y="3486150"/>
              <a:ext cx="57150" cy="1752600"/>
            </a:xfrm>
            <a:prstGeom prst="roundRect">
              <a:avLst>
                <a:gd name="adj" fmla="val 50000"/>
              </a:avLst>
            </a:prstGeom>
            <a:solidFill>
              <a:srgbClr val="33D6C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70204" y="3718560"/>
              <a:ext cx="20278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33D6C0"/>
                  </a:solidFill>
                  <a:latin typeface="+mn-lt"/>
                  <a:ea typeface="+mn-ea"/>
                  <a:cs typeface="+mn-cs"/>
                </a:rPr>
                <a:t>Neither knows the shape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70966" y="4020502"/>
              <a:ext cx="35775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Both routes work well in practice, but neither says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70966" y="4220528"/>
              <a:ext cx="39402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anything about the shape of the condition space they are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70966" y="4420552"/>
              <a:ext cx="12616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steering through.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76300" y="4819650"/>
              <a:ext cx="4800600" cy="419100"/>
            </a:xfrm>
            <a:prstGeom prst="roundRect">
              <a:avLst>
                <a:gd name="adj" fmla="val 18182"/>
              </a:avLst>
            </a:prstGeom>
            <a:solidFill>
              <a:schemeClr val="accent6"/>
            </a:solidFill>
            <a:ln w="14288">
              <a:solidFill>
                <a:srgbClr val="343A70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047251" y="4977051"/>
              <a:ext cx="2458698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1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guidance strength != geometry of c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172200" y="1504950"/>
            <a:ext cx="5410200" cy="1828800"/>
            <a:chOff x="6172200" y="1504950"/>
            <a:chExt cx="5410200" cy="1828800"/>
          </a:xfrm>
        </p:grpSpPr>
        <p:sp>
          <p:nvSpPr>
            <p:cNvPr id="24" name="Rectangle 24"/>
            <p:cNvSpPr/>
            <p:nvPr/>
          </p:nvSpPr>
          <p:spPr>
            <a:xfrm>
              <a:off x="6172200" y="1504950"/>
              <a:ext cx="5410200" cy="1828800"/>
            </a:xfrm>
            <a:prstGeom prst="roundRect">
              <a:avLst>
                <a:gd name="adj" fmla="val 7292"/>
              </a:avLst>
            </a:prstGeom>
            <a:solidFill>
              <a:srgbClr val="2A2417"/>
            </a:solidFill>
            <a:ln w="14288">
              <a:solidFill>
                <a:srgbClr val="F4C24C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6172200" y="1504950"/>
              <a:ext cx="57150" cy="1828800"/>
            </a:xfrm>
            <a:prstGeom prst="roundRect">
              <a:avLst>
                <a:gd name="adj" fmla="val 50000"/>
              </a:avLst>
            </a:prstGeom>
            <a:solidFill>
              <a:srgbClr val="F4C24C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432614" y="1733312"/>
              <a:ext cx="2936805" cy="2420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40" b="1" dirty="0">
                  <a:solidFill>
                    <a:srgbClr val="F4C24C"/>
                  </a:solidFill>
                  <a:latin typeface="+mn-lt"/>
                  <a:ea typeface="+mn-ea"/>
                  <a:cs typeface="+mn-cs"/>
                </a:rPr>
                <a:t>A text encoder has real structure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433566" y="2039302"/>
              <a:ext cx="40017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The authors' insight: a text encoder maps prompts into a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33566" y="2239328"/>
              <a:ext cx="393315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continuous space with genuine structure - and if you can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33566" y="2439352"/>
              <a:ext cx="23712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identify it, you can move along it.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438900" y="2819400"/>
              <a:ext cx="4876800" cy="419100"/>
            </a:xfrm>
            <a:prstGeom prst="roundRect">
              <a:avLst>
                <a:gd name="adj" fmla="val 18182"/>
              </a:avLst>
            </a:prstGeom>
            <a:solidFill>
              <a:srgbClr val="0E1330"/>
            </a:solidFill>
            <a:ln w="14288">
              <a:solidFill>
                <a:srgbClr val="343A70"/>
              </a:solidFill>
            </a:ln>
          </p:spPr>
        </p:sp>
        <p:sp>
          <p:nvSpPr>
            <p:cNvPr id="31" name="Polyline 31"/>
            <p:cNvSpPr/>
            <p:nvPr/>
          </p:nvSpPr>
          <p:spPr>
            <a:xfrm>
              <a:off x="6610350" y="3002280"/>
              <a:ext cx="4552950" cy="83820"/>
            </a:xfrm>
            <a:custGeom>
              <a:avLst/>
              <a:gdLst/>
              <a:ahLst/>
              <a:cxnLst/>
              <a:rect l="l" t="t" r="r" b="b"/>
              <a:pathLst>
                <a:path w="4552950" h="83820">
                  <a:moveTo>
                    <a:pt x="0" y="83820"/>
                  </a:moveTo>
                  <a:lnTo>
                    <a:pt x="151765" y="75058"/>
                  </a:lnTo>
                  <a:lnTo>
                    <a:pt x="303530" y="66393"/>
                  </a:lnTo>
                  <a:lnTo>
                    <a:pt x="455295" y="57918"/>
                  </a:lnTo>
                  <a:lnTo>
                    <a:pt x="607060" y="49727"/>
                  </a:lnTo>
                  <a:lnTo>
                    <a:pt x="758825" y="41910"/>
                  </a:lnTo>
                  <a:lnTo>
                    <a:pt x="910590" y="34552"/>
                  </a:lnTo>
                  <a:lnTo>
                    <a:pt x="1062355" y="27733"/>
                  </a:lnTo>
                  <a:lnTo>
                    <a:pt x="1214120" y="21530"/>
                  </a:lnTo>
                  <a:lnTo>
                    <a:pt x="1365885" y="16008"/>
                  </a:lnTo>
                  <a:lnTo>
                    <a:pt x="1517650" y="11230"/>
                  </a:lnTo>
                  <a:lnTo>
                    <a:pt x="1669415" y="7247"/>
                  </a:lnTo>
                  <a:lnTo>
                    <a:pt x="1821180" y="4102"/>
                  </a:lnTo>
                  <a:lnTo>
                    <a:pt x="1972945" y="1832"/>
                  </a:lnTo>
                  <a:lnTo>
                    <a:pt x="2124710" y="459"/>
                  </a:lnTo>
                  <a:lnTo>
                    <a:pt x="2276475" y="0"/>
                  </a:lnTo>
                  <a:lnTo>
                    <a:pt x="2428240" y="459"/>
                  </a:lnTo>
                  <a:lnTo>
                    <a:pt x="2580005" y="1832"/>
                  </a:lnTo>
                  <a:lnTo>
                    <a:pt x="2731770" y="4102"/>
                  </a:lnTo>
                  <a:lnTo>
                    <a:pt x="2883535" y="7247"/>
                  </a:lnTo>
                  <a:lnTo>
                    <a:pt x="3035300" y="11230"/>
                  </a:lnTo>
                  <a:lnTo>
                    <a:pt x="3187065" y="16008"/>
                  </a:lnTo>
                  <a:lnTo>
                    <a:pt x="3338830" y="21530"/>
                  </a:lnTo>
                  <a:lnTo>
                    <a:pt x="3490595" y="27733"/>
                  </a:lnTo>
                  <a:lnTo>
                    <a:pt x="3642360" y="34552"/>
                  </a:lnTo>
                  <a:lnTo>
                    <a:pt x="3794125" y="41910"/>
                  </a:lnTo>
                  <a:lnTo>
                    <a:pt x="3945890" y="49727"/>
                  </a:lnTo>
                  <a:lnTo>
                    <a:pt x="4097655" y="57918"/>
                  </a:lnTo>
                  <a:lnTo>
                    <a:pt x="4249420" y="66393"/>
                  </a:lnTo>
                  <a:lnTo>
                    <a:pt x="4401185" y="75058"/>
                  </a:lnTo>
                  <a:lnTo>
                    <a:pt x="4552950" y="83820"/>
                  </a:lnTo>
                </a:path>
              </a:pathLst>
            </a:custGeom>
            <a:noFill/>
            <a:ln w="22860" cap="rnd">
              <a:solidFill>
                <a:schemeClr val="accent2"/>
              </a:solidFill>
              <a:round/>
            </a:ln>
          </p:spPr>
        </p:sp>
        <p:sp>
          <p:nvSpPr>
            <p:cNvPr id="32" name="Ellipse 32"/>
            <p:cNvSpPr/>
            <p:nvPr/>
          </p:nvSpPr>
          <p:spPr>
            <a:xfrm>
              <a:off x="9749790" y="2970663"/>
              <a:ext cx="95250" cy="95250"/>
            </a:xfrm>
            <a:prstGeom prst="ellipse">
              <a:avLst/>
            </a:prstGeom>
            <a:solidFill>
              <a:srgbClr val="F4C24C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760778" y="2833979"/>
              <a:ext cx="732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rgbClr val="F4C24C"/>
                  </a:solidFill>
                  <a:latin typeface="Consolas"/>
                  <a:ea typeface="Consolas"/>
                  <a:cs typeface="Consolas"/>
                </a:rPr>
                <a:t>c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8019669" y="2967703"/>
              <a:ext cx="95250" cy="95250"/>
            </a:xfrm>
            <a:prstGeom prst="ellipse">
              <a:avLst/>
            </a:prstGeom>
            <a:solidFill>
              <a:srgbClr val="33D6C0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955317" y="2831020"/>
              <a:ext cx="22395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rgbClr val="33D6C0"/>
                  </a:solidFill>
                  <a:latin typeface="Consolas"/>
                  <a:ea typeface="Consolas"/>
                  <a:cs typeface="Consolas"/>
                </a:rPr>
                <a:t>m*c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567488" y="2890838"/>
              <a:ext cx="1392998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5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continuous condition space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069749" y="3081338"/>
              <a:ext cx="1117363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7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move along structure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172200" y="3486150"/>
            <a:ext cx="5410200" cy="1752600"/>
            <a:chOff x="6172200" y="3486150"/>
            <a:chExt cx="5410200" cy="1752600"/>
          </a:xfrm>
        </p:grpSpPr>
        <p:sp>
          <p:nvSpPr>
            <p:cNvPr id="39" name="Rectangle 39"/>
            <p:cNvSpPr/>
            <p:nvPr/>
          </p:nvSpPr>
          <p:spPr>
            <a:xfrm>
              <a:off x="6172200" y="3486150"/>
              <a:ext cx="5410200" cy="1752600"/>
            </a:xfrm>
            <a:prstGeom prst="roundRect">
              <a:avLst>
                <a:gd name="adj" fmla="val 7609"/>
              </a:avLst>
            </a:prstGeom>
            <a:solidFill>
              <a:srgbClr val="0F2E2B"/>
            </a:solidFill>
            <a:ln w="14288">
              <a:solidFill>
                <a:srgbClr val="46C98B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6172200" y="3486150"/>
              <a:ext cx="57150" cy="1752600"/>
            </a:xfrm>
            <a:prstGeom prst="roundRect">
              <a:avLst>
                <a:gd name="adj" fmla="val 50000"/>
              </a:avLst>
            </a:prstGeom>
            <a:solidFill>
              <a:srgbClr val="46C98B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432804" y="3718560"/>
              <a:ext cx="20695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46C98B"/>
                  </a:solidFill>
                  <a:latin typeface="+mn-lt"/>
                  <a:ea typeface="+mn-ea"/>
                  <a:cs typeface="+mn-cs"/>
                </a:rPr>
                <a:t>That opening is inner CFG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433566" y="4020502"/>
              <a:ext cx="400844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Following that structure from inside the condition space,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433566" y="4220528"/>
              <a:ext cx="379180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rather than treating it as a flat label, is exactly what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433566" y="4420552"/>
              <a:ext cx="25267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inner classifier-free guidance does.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433756" y="4881801"/>
              <a:ext cx="2615739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b="1" dirty="0">
                  <a:solidFill>
                    <a:srgbClr val="46C98B"/>
                  </a:solidFill>
                  <a:latin typeface="Consolas"/>
                  <a:ea typeface="Consolas"/>
                  <a:cs typeface="Consolas"/>
                </a:rPr>
                <a:t>guide from within the condition space</a:t>
              </a:r>
            </a:p>
          </p:txBody>
        </p:sp>
      </p:grpSp>
      <p:sp>
        <p:nvSpPr>
          <p:cNvPr id="47" name="cue_s03_c1_two_main_ways_inject_guidance" title="cue_s03_c1_two_main_ways_inject_guidance" descr="cue_s03_c1_two_main_ways_inject_guidance There are two main ways to inject guidance into diffusion models: use an external trained classifier, or use classifier-free guidance that a single model learns jointly."/>
          <p:cNvSpPr/>
          <p:nvPr/>
        </p:nvSpPr>
        <p:spPr>
          <a:xfrm>
            <a:off x="609600" y="1504645"/>
            <a:ext cx="5334000" cy="1829028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cue_s03_c2_both_work_well_but_neither" title="cue_s03_c2_both_work_well_but_neither" descr="cue_s03_c2_both_work_well_but_neither Both work well, but neither says anything about the shape of the condition space."/>
          <p:cNvSpPr/>
          <p:nvPr/>
        </p:nvSpPr>
        <p:spPr>
          <a:xfrm>
            <a:off x="609600" y="3485921"/>
            <a:ext cx="5334000" cy="1752904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cue_s03_c3_authors_insight_text_encoder_maps" title="cue_s03_c3_authors_insight_text_encoder_maps" descr="cue_s03_c3_authors_insight_text_encoder_maps The authors' insight is that a text encoder maps prompts into a continuous space with structure, and if you identify that structure, you can move along it."/>
          <p:cNvSpPr/>
          <p:nvPr/>
        </p:nvSpPr>
        <p:spPr>
          <a:xfrm>
            <a:off x="6171590" y="1504645"/>
            <a:ext cx="5409590" cy="1829028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cue_s03_c4_motivates_inner_classifier_free_guid" title="cue_s03_c4_motivates_inner_classifier_free_guid" descr="cue_s03_c4_motivates_inner_classifier_free_guid That motivates inner classifier-free guidance."/>
          <p:cNvSpPr/>
          <p:nvPr/>
        </p:nvSpPr>
        <p:spPr>
          <a:xfrm>
            <a:off x="6171590" y="3485921"/>
            <a:ext cx="5409590" cy="1752904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09600" y="495300"/>
            <a:ext cx="47625" cy="247650"/>
          </a:xfrm>
          <a:prstGeom prst="roundRect">
            <a:avLst>
              <a:gd name="adj" fmla="val 40000"/>
            </a:avLst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3" name="TextBox 3"/>
          <p:cNvSpPr txBox="1"/>
          <p:nvPr/>
        </p:nvSpPr>
        <p:spPr>
          <a:xfrm>
            <a:off x="775335" y="564356"/>
            <a:ext cx="139286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spc="188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CONTRIBUTION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98170" y="804862"/>
            <a:ext cx="4141216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2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CFG is only the first order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609600" y="1714500"/>
            <a:ext cx="2590800" cy="3543300"/>
            <a:chOff x="609600" y="1714500"/>
            <a:chExt cx="2590800" cy="3543300"/>
          </a:xfrm>
        </p:grpSpPr>
        <p:sp>
          <p:nvSpPr>
            <p:cNvPr id="5" name="Rectangle 5"/>
            <p:cNvSpPr/>
            <p:nvPr/>
          </p:nvSpPr>
          <p:spPr>
            <a:xfrm>
              <a:off x="609600" y="1714500"/>
              <a:ext cx="2590800" cy="3543300"/>
            </a:xfrm>
            <a:prstGeom prst="roundRect">
              <a:avLst>
                <a:gd name="adj" fmla="val 5147"/>
              </a:avLst>
            </a:prstGeom>
            <a:solidFill>
              <a:schemeClr val="accent5"/>
            </a:solidFill>
            <a:ln w="14288">
              <a:solidFill>
                <a:srgbClr val="343A70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609600" y="1714500"/>
              <a:ext cx="2590800" cy="571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838200" y="2095500"/>
              <a:ext cx="495300" cy="495300"/>
            </a:xfrm>
            <a:prstGeom prst="ellipse">
              <a:avLst/>
            </a:prstGeom>
            <a:noFill/>
            <a:ln w="23812">
              <a:solidFill>
                <a:schemeClr val="accent2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78405" y="2266950"/>
              <a:ext cx="41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Sum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1532" y="2849166"/>
              <a:ext cx="1484549" cy="2566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1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CFG is just first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1532" y="3096816"/>
              <a:ext cx="522552" cy="2566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1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order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2866" y="3487102"/>
              <a:ext cx="20653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Standard CFG is not the whole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2866" y="3696652"/>
              <a:ext cx="143831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story - it is only the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32866" y="3906202"/>
              <a:ext cx="21167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first-order term of a broader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32866" y="4115752"/>
              <a:ext cx="18199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expansion the authors call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32866" y="4325302"/>
              <a:ext cx="7324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inner CFG.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3429000" y="1714500"/>
            <a:ext cx="2590800" cy="3543300"/>
            <a:chOff x="3429000" y="1714500"/>
            <a:chExt cx="2590800" cy="3543300"/>
          </a:xfrm>
        </p:grpSpPr>
        <p:sp>
          <p:nvSpPr>
            <p:cNvPr id="17" name="Rectangle 17"/>
            <p:cNvSpPr/>
            <p:nvPr/>
          </p:nvSpPr>
          <p:spPr>
            <a:xfrm>
              <a:off x="3429000" y="1714500"/>
              <a:ext cx="2590800" cy="3543300"/>
            </a:xfrm>
            <a:prstGeom prst="roundRect">
              <a:avLst>
                <a:gd name="adj" fmla="val 5147"/>
              </a:avLst>
            </a:prstGeom>
            <a:solidFill>
              <a:schemeClr val="accent5"/>
            </a:solidFill>
            <a:ln w="14288">
              <a:solidFill>
                <a:srgbClr val="343A70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3429000" y="1714500"/>
              <a:ext cx="2590800" cy="57150"/>
            </a:xfrm>
            <a:prstGeom prst="roundRect">
              <a:avLst>
                <a:gd name="adj" fmla="val 50000"/>
              </a:avLst>
            </a:prstGeom>
            <a:solidFill>
              <a:srgbClr val="33D6C0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3657600" y="2095500"/>
              <a:ext cx="495300" cy="495300"/>
            </a:xfrm>
            <a:prstGeom prst="ellipse">
              <a:avLst/>
            </a:prstGeom>
            <a:noFill/>
            <a:ln w="23812">
              <a:solidFill>
                <a:srgbClr val="33D6C0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664401" y="2266950"/>
              <a:ext cx="48169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33D6C0"/>
                  </a:solidFill>
                  <a:latin typeface="Consolas"/>
                  <a:ea typeface="Consolas"/>
                  <a:cs typeface="Consolas"/>
                </a:rPr>
                <a:t>beta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650932" y="2849166"/>
              <a:ext cx="1580500" cy="2566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1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 Taylor series in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650932" y="3096816"/>
              <a:ext cx="828082" cy="2566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1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strength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652266" y="3487102"/>
              <a:ext cx="18954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Write the guided score as a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652266" y="3696652"/>
              <a:ext cx="19869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Taylor series in the guidance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652266" y="3906202"/>
              <a:ext cx="189063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strength around one: first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652266" y="4115752"/>
              <a:ext cx="21815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order recovers CFG, then add a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652266" y="4325302"/>
              <a:ext cx="14029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second-order term.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248400" y="1714500"/>
            <a:ext cx="2590800" cy="3543300"/>
            <a:chOff x="6248400" y="1714500"/>
            <a:chExt cx="2590800" cy="3543300"/>
          </a:xfrm>
        </p:grpSpPr>
        <p:sp>
          <p:nvSpPr>
            <p:cNvPr id="29" name="Rectangle 29"/>
            <p:cNvSpPr/>
            <p:nvPr/>
          </p:nvSpPr>
          <p:spPr>
            <a:xfrm>
              <a:off x="6248400" y="1714500"/>
              <a:ext cx="2590800" cy="3543300"/>
            </a:xfrm>
            <a:prstGeom prst="roundRect">
              <a:avLst>
                <a:gd name="adj" fmla="val 5147"/>
              </a:avLst>
            </a:prstGeom>
            <a:solidFill>
              <a:schemeClr val="accent5"/>
            </a:solidFill>
            <a:ln w="14288">
              <a:solidFill>
                <a:srgbClr val="343A70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6248400" y="1714500"/>
              <a:ext cx="2590800" cy="57150"/>
            </a:xfrm>
            <a:prstGeom prst="roundRect">
              <a:avLst>
                <a:gd name="adj" fmla="val 50000"/>
              </a:avLst>
            </a:prstGeom>
            <a:solidFill>
              <a:srgbClr val="46C98B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6477000" y="2095500"/>
              <a:ext cx="495300" cy="495300"/>
            </a:xfrm>
            <a:prstGeom prst="ellipse">
              <a:avLst/>
            </a:prstGeom>
            <a:noFill/>
            <a:ln w="23812">
              <a:solidFill>
                <a:srgbClr val="46C98B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658723" y="226695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46C98B"/>
                  </a:solidFill>
                  <a:latin typeface="Consolas"/>
                  <a:ea typeface="Consolas"/>
                  <a:cs typeface="Consolas"/>
                </a:rPr>
                <a:t>0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470332" y="2849166"/>
              <a:ext cx="1204012" cy="2566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1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No retraining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70332" y="3096816"/>
              <a:ext cx="624395" cy="2566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1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needed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71666" y="3487102"/>
              <a:ext cx="215010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That new second-order term is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471666" y="3696652"/>
              <a:ext cx="19118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computed entirely from the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471666" y="3906202"/>
              <a:ext cx="20461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existing pretrained model, so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471666" y="4115752"/>
              <a:ext cx="197544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nothing has to be retrained.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9067800" y="1714500"/>
            <a:ext cx="2590800" cy="3543300"/>
            <a:chOff x="9067800" y="1714500"/>
            <a:chExt cx="2590800" cy="3543300"/>
          </a:xfrm>
        </p:grpSpPr>
        <p:sp>
          <p:nvSpPr>
            <p:cNvPr id="40" name="Rectangle 40"/>
            <p:cNvSpPr/>
            <p:nvPr/>
          </p:nvSpPr>
          <p:spPr>
            <a:xfrm>
              <a:off x="9067800" y="1714500"/>
              <a:ext cx="2590800" cy="3543300"/>
            </a:xfrm>
            <a:prstGeom prst="roundRect">
              <a:avLst>
                <a:gd name="adj" fmla="val 5147"/>
              </a:avLst>
            </a:prstGeom>
            <a:solidFill>
              <a:schemeClr val="accent5"/>
            </a:solidFill>
            <a:ln w="14288">
              <a:solidFill>
                <a:srgbClr val="343A70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9067800" y="1714500"/>
              <a:ext cx="2590800" cy="57150"/>
            </a:xfrm>
            <a:prstGeom prst="roundRect">
              <a:avLst>
                <a:gd name="adj" fmla="val 50000"/>
              </a:avLst>
            </a:prstGeom>
            <a:solidFill>
              <a:srgbClr val="F4C24C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9296400" y="2095500"/>
              <a:ext cx="495300" cy="495300"/>
            </a:xfrm>
            <a:prstGeom prst="ellipse">
              <a:avLst/>
            </a:prstGeom>
            <a:noFill/>
            <a:ln w="23812">
              <a:solidFill>
                <a:srgbClr val="F4C24C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478123" y="226695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4C24C"/>
                  </a:solidFill>
                  <a:latin typeface="Consolas"/>
                  <a:ea typeface="Consolas"/>
                  <a:cs typeface="Consolas"/>
                </a:rPr>
                <a:t>3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289732" y="2849166"/>
              <a:ext cx="991591" cy="2566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1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Theory and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289732" y="3096816"/>
              <a:ext cx="976218" cy="2566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1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algorithms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291066" y="3487102"/>
              <a:ext cx="1676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They also give a training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291066" y="3696652"/>
              <a:ext cx="14100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policy, two sampling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291066" y="3906202"/>
              <a:ext cx="21167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algorithms, and a convergence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291066" y="4115752"/>
              <a:ext cx="13888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analysis backing the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291066" y="4325302"/>
              <a:ext cx="7527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expansion.</a:t>
              </a:r>
            </a:p>
          </p:txBody>
        </p:sp>
      </p:grpSp>
      <p:sp>
        <p:nvSpPr>
          <p:cNvPr id="52" name="TextBox 52"/>
          <p:cNvSpPr txBox="1"/>
          <p:nvPr/>
        </p:nvSpPr>
        <p:spPr>
          <a:xfrm>
            <a:off x="603694" y="5456158"/>
            <a:ext cx="7655420" cy="2273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60" b="1" dirty="0">
                <a:solidFill>
                  <a:srgbClr val="33D6C0"/>
                </a:solidFill>
                <a:latin typeface="+mn-lt"/>
                <a:ea typeface="+mn-ea"/>
                <a:cs typeface="+mn-cs"/>
              </a:rPr>
              <a:t>The same pretrained model, reinterpreted as the leading term of a principled Taylor expansion.</a:t>
            </a:r>
          </a:p>
        </p:txBody>
      </p:sp>
      <p:sp>
        <p:nvSpPr>
          <p:cNvPr id="53" name="cue_s04_c1_central_contribution_reframing_stand" title="cue_s04_c1_central_contribution_reframing_stand" descr="cue_s04_c1_central_contribution_reframing_stand The central contribution is a reframing: standard CFG is not the whole story, it is just the first-order term of a more general expansion the authors call inner classifier-free guidance."/>
          <p:cNvSpPr/>
          <p:nvPr/>
        </p:nvSpPr>
        <p:spPr>
          <a:xfrm>
            <a:off x="609600" y="1714500"/>
            <a:ext cx="2590800" cy="3543528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cue_s04_c2_writing_guided_score_taylor_series" title="cue_s04_c2_writing_guided_score_taylor_series" descr="cue_s04_c2_writing_guided_score_taylor_series By writing the guided score as a Taylor series in the guidance strength around one, they recover CFG as the first-order case and then add a second-order term."/>
          <p:cNvSpPr/>
          <p:nvPr/>
        </p:nvSpPr>
        <p:spPr>
          <a:xfrm>
            <a:off x="3428390" y="1714500"/>
            <a:ext cx="2590800" cy="3543528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cue_s04_c3_term_computed_existing_pretrained_re" title="cue_s04_c3_term_computed_existing_pretrained_re" descr="cue_s04_c3_term_computed_existing_pretrained_re This term is computed from the existing pretrained model, so no retraining is needed."/>
          <p:cNvSpPr/>
          <p:nvPr/>
        </p:nvSpPr>
        <p:spPr>
          <a:xfrm>
            <a:off x="6248399" y="1714500"/>
            <a:ext cx="2590800" cy="3543528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cue_s04_c4_they_also_provide_policy_two" title="cue_s04_c4_they_also_provide_policy_two" descr="cue_s04_c4_they_also_provide_policy_two They also provide a training policy, two sampling algorithms, and a convergence analysis."/>
          <p:cNvSpPr/>
          <p:nvPr/>
        </p:nvSpPr>
        <p:spPr>
          <a:xfrm>
            <a:off x="9068409" y="1714500"/>
            <a:ext cx="2590800" cy="3543528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09600" y="495300"/>
            <a:ext cx="47625" cy="247650"/>
          </a:xfrm>
          <a:prstGeom prst="roundRect">
            <a:avLst>
              <a:gd name="adj" fmla="val 40000"/>
            </a:avLst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3" name="TextBox 3"/>
          <p:cNvSpPr txBox="1"/>
          <p:nvPr/>
        </p:nvSpPr>
        <p:spPr>
          <a:xfrm>
            <a:off x="775335" y="564356"/>
            <a:ext cx="76405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spc="188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METHOD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98170" y="804862"/>
            <a:ext cx="5918080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2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A second-order term, gained for free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609600" y="1504950"/>
            <a:ext cx="10972800" cy="1600200"/>
            <a:chOff x="609600" y="1504950"/>
            <a:chExt cx="10972800" cy="1600200"/>
          </a:xfrm>
        </p:grpSpPr>
        <p:sp>
          <p:nvSpPr>
            <p:cNvPr id="5" name="Rectangle 5"/>
            <p:cNvSpPr/>
            <p:nvPr/>
          </p:nvSpPr>
          <p:spPr>
            <a:xfrm>
              <a:off x="609600" y="1504950"/>
              <a:ext cx="10972800" cy="1600200"/>
            </a:xfrm>
            <a:prstGeom prst="roundRect">
              <a:avLst>
                <a:gd name="adj" fmla="val 8333"/>
              </a:avLst>
            </a:prstGeom>
            <a:solidFill>
              <a:schemeClr val="accent5"/>
            </a:solidFill>
            <a:ln w="14288">
              <a:solidFill>
                <a:srgbClr val="343A70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609600" y="1504950"/>
              <a:ext cx="57150" cy="16002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70014" y="1695212"/>
              <a:ext cx="3339736" cy="2420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4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The guided distribution, raised to beta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71156" y="1986201"/>
              <a:ext cx="4202279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Write the guided intermediate distribution as the unconditional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71156" y="2176701"/>
              <a:ext cx="4055281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one times the conditional-to-unconditional ratio, raised to a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71156" y="2367201"/>
              <a:ext cx="826084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power beta.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876300" y="2590800"/>
              <a:ext cx="5334000" cy="381000"/>
            </a:xfrm>
            <a:prstGeom prst="roundRect">
              <a:avLst>
                <a:gd name="adj" fmla="val 20000"/>
              </a:avLst>
            </a:prstGeom>
            <a:solidFill>
              <a:schemeClr val="accent6"/>
            </a:solidFill>
            <a:ln w="14288">
              <a:solidFill>
                <a:srgbClr val="343A70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156570" y="2733199"/>
              <a:ext cx="27734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p_b ~ p_u * (p_c / p_u)^beta, beta = w+1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438900" y="1866900"/>
              <a:ext cx="5143500" cy="1104900"/>
            </a:xfrm>
            <a:prstGeom prst="roundRect">
              <a:avLst>
                <a:gd name="adj" fmla="val 6897"/>
              </a:avLst>
            </a:prstGeom>
            <a:solidFill>
              <a:srgbClr val="0E1330"/>
            </a:solidFill>
            <a:ln w="14288">
              <a:solidFill>
                <a:srgbClr val="343A70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586347" y="1990249"/>
              <a:ext cx="16583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score ~ e0 + w*e1 + v*e2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6591300" y="2228850"/>
              <a:ext cx="1512094" cy="247650"/>
            </a:xfrm>
            <a:prstGeom prst="roundRect">
              <a:avLst>
                <a:gd name="adj" fmla="val 15385"/>
              </a:avLst>
            </a:prstGeom>
            <a:solidFill>
              <a:schemeClr val="dk2">
                <a:alpha val="92000"/>
              </a:schemeClr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215086" y="2301716"/>
              <a:ext cx="26452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rgbClr val="0C1024"/>
                  </a:solidFill>
                  <a:latin typeface="+mn-lt"/>
                  <a:ea typeface="+mn-ea"/>
                  <a:cs typeface="+mn-cs"/>
                </a:rPr>
                <a:t>base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8103394" y="2228850"/>
              <a:ext cx="2217738" cy="247650"/>
            </a:xfrm>
            <a:prstGeom prst="roundRect">
              <a:avLst>
                <a:gd name="adj" fmla="val 15385"/>
              </a:avLst>
            </a:prstGeom>
            <a:solidFill>
              <a:srgbClr val="F4C24C">
                <a:alpha val="92000"/>
              </a:srgbClr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106463" y="2301716"/>
              <a:ext cx="21159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rgbClr val="0C1024"/>
                  </a:solidFill>
                  <a:latin typeface="+mn-lt"/>
                  <a:ea typeface="+mn-ea"/>
                  <a:cs typeface="+mn-cs"/>
                </a:rPr>
                <a:t>CFG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10321131" y="2228850"/>
              <a:ext cx="1108869" cy="247650"/>
            </a:xfrm>
            <a:prstGeom prst="roundRect">
              <a:avLst>
                <a:gd name="adj" fmla="val 15385"/>
              </a:avLst>
            </a:prstGeom>
            <a:solidFill>
              <a:srgbClr val="46C98B">
                <a:alpha val="92000"/>
              </a:srgbClr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751396" y="2301716"/>
              <a:ext cx="2483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rgbClr val="0C1024"/>
                  </a:solidFill>
                  <a:latin typeface="+mn-lt"/>
                  <a:ea typeface="+mn-ea"/>
                  <a:cs typeface="+mn-cs"/>
                </a:rPr>
                <a:t>ICFG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6600825" y="2638425"/>
              <a:ext cx="95250" cy="95250"/>
            </a:xfrm>
            <a:prstGeom prst="ellipse">
              <a:avLst/>
            </a:prstGeom>
            <a:solidFill>
              <a:srgbClr val="F4C24C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757988" y="2639139"/>
              <a:ext cx="1353409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9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w e1 = first order (CFG)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8772525" y="2638425"/>
              <a:ext cx="95250" cy="95250"/>
            </a:xfrm>
            <a:prstGeom prst="ellipse">
              <a:avLst/>
            </a:prstGeom>
            <a:solidFill>
              <a:srgbClr val="46C98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929688" y="2639139"/>
              <a:ext cx="1120615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90" b="1" dirty="0">
                  <a:solidFill>
                    <a:srgbClr val="46C98B"/>
                  </a:solidFill>
                  <a:latin typeface="+mn-lt"/>
                  <a:ea typeface="+mn-ea"/>
                  <a:cs typeface="+mn-cs"/>
                </a:rPr>
                <a:t>v e2 = new 2nd order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09600" y="3257550"/>
            <a:ext cx="5334000" cy="2000250"/>
            <a:chOff x="609600" y="3257550"/>
            <a:chExt cx="5334000" cy="2000250"/>
          </a:xfrm>
        </p:grpSpPr>
        <p:sp>
          <p:nvSpPr>
            <p:cNvPr id="26" name="Rectangle 26"/>
            <p:cNvSpPr/>
            <p:nvPr/>
          </p:nvSpPr>
          <p:spPr>
            <a:xfrm>
              <a:off x="609600" y="3257550"/>
              <a:ext cx="5334000" cy="1981200"/>
            </a:xfrm>
            <a:prstGeom prst="roundRect">
              <a:avLst>
                <a:gd name="adj" fmla="val 6731"/>
              </a:avLst>
            </a:prstGeom>
            <a:solidFill>
              <a:schemeClr val="accent5"/>
            </a:solidFill>
            <a:ln w="14288">
              <a:solidFill>
                <a:srgbClr val="343A70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609600" y="3257550"/>
              <a:ext cx="57150" cy="1981200"/>
            </a:xfrm>
            <a:prstGeom prst="roundRect">
              <a:avLst>
                <a:gd name="adj" fmla="val 50000"/>
              </a:avLst>
            </a:prstGeom>
            <a:solidFill>
              <a:srgbClr val="33D6C0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70014" y="3485912"/>
              <a:ext cx="2411995" cy="2420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40" b="1" dirty="0">
                  <a:solidFill>
                    <a:srgbClr val="33D6C0"/>
                  </a:solidFill>
                  <a:latin typeface="+mn-lt"/>
                  <a:ea typeface="+mn-ea"/>
                  <a:cs typeface="+mn-cs"/>
                </a:rPr>
                <a:t>Taylor-expand, recover CFG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71156" y="3795951"/>
              <a:ext cx="3690610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Take a Taylor expansion of the score predictor in beta,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71156" y="3986451"/>
              <a:ext cx="3597713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evaluated at beta equals one. The first-order term is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71156" y="4176951"/>
              <a:ext cx="2240133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exactly classifier-free guidance.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876300" y="4838700"/>
              <a:ext cx="4800600" cy="419100"/>
            </a:xfrm>
            <a:prstGeom prst="roundRect">
              <a:avLst>
                <a:gd name="adj" fmla="val 18182"/>
              </a:avLst>
            </a:prstGeom>
            <a:solidFill>
              <a:schemeClr val="accent6"/>
            </a:solidFill>
            <a:ln w="14288">
              <a:solidFill>
                <a:srgbClr val="343A70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2456780" y="4996101"/>
              <a:ext cx="1639640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1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first-order term = CFG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248400" y="3257550"/>
            <a:ext cx="5334000" cy="971550"/>
            <a:chOff x="6248400" y="3257550"/>
            <a:chExt cx="5334000" cy="971550"/>
          </a:xfrm>
        </p:grpSpPr>
        <p:sp>
          <p:nvSpPr>
            <p:cNvPr id="35" name="Rectangle 35"/>
            <p:cNvSpPr/>
            <p:nvPr/>
          </p:nvSpPr>
          <p:spPr>
            <a:xfrm>
              <a:off x="6248400" y="3257550"/>
              <a:ext cx="5334000" cy="971550"/>
            </a:xfrm>
            <a:prstGeom prst="roundRect">
              <a:avLst>
                <a:gd name="adj" fmla="val 13725"/>
              </a:avLst>
            </a:prstGeom>
            <a:solidFill>
              <a:srgbClr val="2A2417"/>
            </a:solidFill>
            <a:ln w="14288">
              <a:solidFill>
                <a:srgbClr val="F4C24C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6248400" y="3257550"/>
              <a:ext cx="57150" cy="971550"/>
            </a:xfrm>
            <a:prstGeom prst="roundRect">
              <a:avLst>
                <a:gd name="adj" fmla="val 50000"/>
              </a:avLst>
            </a:prstGeom>
            <a:solidFill>
              <a:srgbClr val="F4C24C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509004" y="3451860"/>
              <a:ext cx="22912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F4C24C"/>
                  </a:solidFill>
                  <a:latin typeface="+mn-lt"/>
                  <a:ea typeface="+mn-ea"/>
                  <a:cs typeface="+mn-cs"/>
                </a:rPr>
                <a:t>The new second-order term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510147" y="3742849"/>
              <a:ext cx="406517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Estimated with a middle point m in (0,1) - just one extra score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510147" y="3923824"/>
              <a:ext cx="28991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evaluation at the scaled condition m times c.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248400" y="4381500"/>
            <a:ext cx="5334000" cy="857250"/>
            <a:chOff x="6248400" y="4381500"/>
            <a:chExt cx="5334000" cy="857250"/>
          </a:xfrm>
        </p:grpSpPr>
        <p:sp>
          <p:nvSpPr>
            <p:cNvPr id="41" name="Rectangle 41"/>
            <p:cNvSpPr/>
            <p:nvPr/>
          </p:nvSpPr>
          <p:spPr>
            <a:xfrm>
              <a:off x="6248400" y="4381500"/>
              <a:ext cx="5334000" cy="857250"/>
            </a:xfrm>
            <a:prstGeom prst="roundRect">
              <a:avLst>
                <a:gd name="adj" fmla="val 15556"/>
              </a:avLst>
            </a:prstGeom>
            <a:solidFill>
              <a:schemeClr val="accent5"/>
            </a:solidFill>
            <a:ln w="14288">
              <a:solidFill>
                <a:srgbClr val="343A70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6248400" y="4381500"/>
              <a:ext cx="57150" cy="857250"/>
            </a:xfrm>
            <a:prstGeom prst="roundRect">
              <a:avLst>
                <a:gd name="adj" fmla="val 50000"/>
              </a:avLst>
            </a:prstGeom>
            <a:solidFill>
              <a:srgbClr val="46C98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509194" y="4560808"/>
              <a:ext cx="2446122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60" b="1" dirty="0">
                  <a:solidFill>
                    <a:srgbClr val="46C98B"/>
                  </a:solidFill>
                  <a:latin typeface="+mn-lt"/>
                  <a:ea typeface="+mn-ea"/>
                  <a:cs typeface="+mn-cs"/>
                </a:rPr>
                <a:t>A few lines on Stable Diffusion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510338" y="4832747"/>
              <a:ext cx="4814678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Everything comes from the trained network, so second-order ICFG drops into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510338" y="4994672"/>
              <a:ext cx="2568674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pretrained SD, tuned by weights w and v.</a:t>
              </a:r>
            </a:p>
          </p:txBody>
        </p:sp>
      </p:grpSp>
      <p:sp>
        <p:nvSpPr>
          <p:cNvPr id="47" name="cue_s05_c1_mechanism_authors_write_guided_distr" title="cue_s05_c1_mechanism_authors_write_guided_distr" descr="cue_s05_c1_mechanism_authors_write_guided_distr Here is the mechanism. The authors write the guided distribution as the unconditional distribution times the ratio of conditional to unconditional, raised to a power beta, where beta equals w plus one."/>
          <p:cNvSpPr/>
          <p:nvPr/>
        </p:nvSpPr>
        <p:spPr>
          <a:xfrm>
            <a:off x="609600" y="1504645"/>
            <a:ext cx="10972800" cy="1599971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cue_s05_c2_they_take_taylor_expansion_score" title="cue_s05_c2_they_take_taylor_expansion_score" descr="cue_s05_c2_they_take_taylor_expansion_score They take a Taylor expansion of the score predictor in beta, evaluated at beta equals one. The first-order term is exactly classifier-free guidance."/>
          <p:cNvSpPr/>
          <p:nvPr/>
        </p:nvSpPr>
        <p:spPr>
          <a:xfrm>
            <a:off x="609600" y="3257550"/>
            <a:ext cx="5334000" cy="2000478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cue_s05_c3_second_order_term_new_estimated_midd" title="cue_s05_c3_second_order_term_new_estimated_midd" descr="cue_s05_c3_second_order_term_new_estimated_midd The second-order term is new: it is estimated using a middle point m between zero and one, and needs only one extra score evaluation at a scaled condition, m times c."/>
          <p:cNvSpPr/>
          <p:nvPr/>
        </p:nvSpPr>
        <p:spPr>
          <a:xfrm>
            <a:off x="6248399" y="3257550"/>
            <a:ext cx="5334000" cy="971778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cue_s05_c4_because_everything_comes_already_tra" title="cue_s05_c4_because_everything_comes_already_tra" descr="cue_s05_c4_because_everything_comes_already_tra Because everything comes from the already-trained network, second-order ICFG drops into a pretrained Stable Diffusion with a few lines of code, controlled by a first-order weight w and a second-order weight v."/>
          <p:cNvSpPr/>
          <p:nvPr/>
        </p:nvSpPr>
        <p:spPr>
          <a:xfrm>
            <a:off x="6248399" y="4381576"/>
            <a:ext cx="5334000" cy="857250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09600" y="495300"/>
            <a:ext cx="47625" cy="247650"/>
          </a:xfrm>
          <a:prstGeom prst="roundRect">
            <a:avLst>
              <a:gd name="adj" fmla="val 40000"/>
            </a:avLst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3" name="TextBox 3"/>
          <p:cNvSpPr txBox="1"/>
          <p:nvPr/>
        </p:nvSpPr>
        <p:spPr>
          <a:xfrm>
            <a:off x="775335" y="564356"/>
            <a:ext cx="219060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spc="188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DATASET / BENCHMARK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98170" y="804862"/>
            <a:ext cx="5647963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2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MS-COCO, measured by FID and CLIP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609600" y="1504950"/>
            <a:ext cx="10972800" cy="1428750"/>
            <a:chOff x="609600" y="1504950"/>
            <a:chExt cx="10972800" cy="1428750"/>
          </a:xfrm>
        </p:grpSpPr>
        <p:sp>
          <p:nvSpPr>
            <p:cNvPr id="5" name="Rectangle 5"/>
            <p:cNvSpPr/>
            <p:nvPr/>
          </p:nvSpPr>
          <p:spPr>
            <a:xfrm>
              <a:off x="609600" y="1504950"/>
              <a:ext cx="10972800" cy="1428750"/>
            </a:xfrm>
            <a:prstGeom prst="roundRect">
              <a:avLst>
                <a:gd name="adj" fmla="val 9333"/>
              </a:avLst>
            </a:prstGeom>
            <a:solidFill>
              <a:schemeClr val="accent5"/>
            </a:solidFill>
            <a:ln w="14288">
              <a:solidFill>
                <a:srgbClr val="343A70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609600" y="1504950"/>
              <a:ext cx="57150" cy="14287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70204" y="1718310"/>
              <a:ext cx="23065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Text-to-image on MS-COCO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70966" y="2020252"/>
              <a:ext cx="38107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The main evaluation is text-to-image generation on the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70966" y="2220278"/>
              <a:ext cx="390715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MS-COCO validation set, the standard prompt-to-image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70966" y="2420302"/>
              <a:ext cx="8163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benchmark.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71538" y="2661047"/>
              <a:ext cx="3814236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727BA0"/>
                  </a:solidFill>
                  <a:latin typeface="+mn-lt"/>
                  <a:ea typeface="+mn-ea"/>
                  <a:cs typeface="+mn-cs"/>
                </a:rPr>
                <a:t>pretrained Stable Diffusion, no fine-tuning of the base model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8115300" y="1676400"/>
              <a:ext cx="3238500" cy="1066800"/>
            </a:xfrm>
            <a:prstGeom prst="roundRect">
              <a:avLst>
                <a:gd name="adj" fmla="val 7143"/>
              </a:avLst>
            </a:prstGeom>
            <a:solidFill>
              <a:srgbClr val="0E1330"/>
            </a:solidFill>
            <a:ln w="14288">
              <a:solidFill>
                <a:srgbClr val="343A70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802118" y="1802606"/>
              <a:ext cx="2456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FID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8924925" y="2038350"/>
              <a:ext cx="9525" cy="400050"/>
            </a:xfrm>
            <a:custGeom>
              <a:avLst/>
              <a:gdLst/>
              <a:ahLst/>
              <a:cxnLst/>
              <a:rect l="l" t="t" r="r" b="b"/>
              <a:pathLst>
                <a:path w="9525" h="400050">
                  <a:moveTo>
                    <a:pt x="0" y="0"/>
                  </a:moveTo>
                  <a:lnTo>
                    <a:pt x="0" y="400050"/>
                  </a:lnTo>
                </a:path>
              </a:pathLst>
            </a:custGeom>
            <a:noFill/>
            <a:ln w="22860" cap="rnd">
              <a:solidFill>
                <a:schemeClr val="accent2"/>
              </a:solidFill>
            </a:ln>
          </p:spPr>
        </p:sp>
        <p:sp>
          <p:nvSpPr>
            <p:cNvPr id="15" name="Polyline 15"/>
            <p:cNvSpPr/>
            <p:nvPr/>
          </p:nvSpPr>
          <p:spPr>
            <a:xfrm>
              <a:off x="8867775" y="2362200"/>
              <a:ext cx="114300" cy="95250"/>
            </a:xfrm>
            <a:custGeom>
              <a:avLst/>
              <a:gdLst/>
              <a:ahLst/>
              <a:cxnLst/>
              <a:rect l="l" t="t" r="r" b="b"/>
              <a:pathLst>
                <a:path w="114300" h="95250">
                  <a:moveTo>
                    <a:pt x="0" y="0"/>
                  </a:moveTo>
                  <a:lnTo>
                    <a:pt x="57150" y="95250"/>
                  </a:lnTo>
                  <a:lnTo>
                    <a:pt x="114300" y="0"/>
                  </a:lnTo>
                </a:path>
              </a:pathLst>
            </a:custGeom>
            <a:noFill/>
            <a:ln w="9525" cap="rnd">
              <a:solidFill>
                <a:schemeClr val="accent2"/>
              </a:solidFill>
              <a:round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586221" y="2538412"/>
              <a:ext cx="677408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lower better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9734550" y="1809750"/>
              <a:ext cx="9525" cy="800100"/>
            </a:xfrm>
            <a:custGeom>
              <a:avLst/>
              <a:gdLst/>
              <a:ahLst/>
              <a:cxnLst/>
              <a:rect l="l" t="t" r="r" b="b"/>
              <a:pathLst>
                <a:path w="9525" h="800100">
                  <a:moveTo>
                    <a:pt x="0" y="0"/>
                  </a:moveTo>
                  <a:lnTo>
                    <a:pt x="0" y="800100"/>
                  </a:lnTo>
                </a:path>
              </a:pathLst>
            </a:custGeom>
            <a:noFill/>
            <a:ln w="9525" cap="rnd">
              <a:solidFill>
                <a:srgbClr val="343A70"/>
              </a:solidFill>
              <a:prstDash val="dash"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0375368" y="1802606"/>
              <a:ext cx="3376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33D6C0"/>
                  </a:solidFill>
                  <a:latin typeface="+mn-lt"/>
                  <a:ea typeface="+mn-ea"/>
                  <a:cs typeface="+mn-cs"/>
                </a:rPr>
                <a:t>CLIP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10544175" y="2038350"/>
              <a:ext cx="9525" cy="400050"/>
            </a:xfrm>
            <a:custGeom>
              <a:avLst/>
              <a:gdLst/>
              <a:ahLst/>
              <a:cxnLst/>
              <a:rect l="l" t="t" r="r" b="b"/>
              <a:pathLst>
                <a:path w="9525" h="400050">
                  <a:moveTo>
                    <a:pt x="0" y="400050"/>
                  </a:moveTo>
                  <a:lnTo>
                    <a:pt x="0" y="0"/>
                  </a:lnTo>
                </a:path>
              </a:pathLst>
            </a:custGeom>
            <a:noFill/>
            <a:ln w="22860" cap="rnd">
              <a:solidFill>
                <a:srgbClr val="33D6C0"/>
              </a:solidFill>
            </a:ln>
          </p:spPr>
        </p:sp>
        <p:sp>
          <p:nvSpPr>
            <p:cNvPr id="20" name="Polyline 20"/>
            <p:cNvSpPr/>
            <p:nvPr/>
          </p:nvSpPr>
          <p:spPr>
            <a:xfrm>
              <a:off x="10487025" y="2019300"/>
              <a:ext cx="114300" cy="95250"/>
            </a:xfrm>
            <a:custGeom>
              <a:avLst/>
              <a:gdLst/>
              <a:ahLst/>
              <a:cxnLst/>
              <a:rect l="l" t="t" r="r" b="b"/>
              <a:pathLst>
                <a:path w="114300" h="95250">
                  <a:moveTo>
                    <a:pt x="0" y="95250"/>
                  </a:moveTo>
                  <a:lnTo>
                    <a:pt x="57150" y="0"/>
                  </a:lnTo>
                  <a:lnTo>
                    <a:pt x="114300" y="95250"/>
                  </a:lnTo>
                </a:path>
              </a:pathLst>
            </a:custGeom>
            <a:noFill/>
            <a:ln w="9525" cap="rnd">
              <a:solidFill>
                <a:srgbClr val="33D6C0"/>
              </a:solidFill>
              <a:round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0186918" y="2538412"/>
              <a:ext cx="714513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higher better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09600" y="3086100"/>
            <a:ext cx="5334000" cy="2152650"/>
            <a:chOff x="609600" y="3086100"/>
            <a:chExt cx="5334000" cy="2152650"/>
          </a:xfrm>
        </p:grpSpPr>
        <p:sp>
          <p:nvSpPr>
            <p:cNvPr id="23" name="Rectangle 23"/>
            <p:cNvSpPr/>
            <p:nvPr/>
          </p:nvSpPr>
          <p:spPr>
            <a:xfrm>
              <a:off x="609600" y="3086100"/>
              <a:ext cx="5334000" cy="2152650"/>
            </a:xfrm>
            <a:prstGeom prst="roundRect">
              <a:avLst>
                <a:gd name="adj" fmla="val 6195"/>
              </a:avLst>
            </a:prstGeom>
            <a:solidFill>
              <a:schemeClr val="accent5"/>
            </a:solidFill>
            <a:ln w="14288">
              <a:solidFill>
                <a:srgbClr val="343A70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09600" y="3086100"/>
              <a:ext cx="57150" cy="2152650"/>
            </a:xfrm>
            <a:prstGeom prst="roundRect">
              <a:avLst>
                <a:gd name="adj" fmla="val 50000"/>
              </a:avLst>
            </a:prstGeom>
            <a:solidFill>
              <a:srgbClr val="33D6C0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70204" y="3318510"/>
              <a:ext cx="2214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33D6C0"/>
                  </a:solidFill>
                  <a:latin typeface="+mn-lt"/>
                  <a:ea typeface="+mn-ea"/>
                  <a:cs typeface="+mn-cs"/>
                </a:rPr>
                <a:t>Two metrics tell the story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71156" y="3605451"/>
              <a:ext cx="3795278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FID measures image fidelity, where lower is better; CLIP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71156" y="3795951"/>
              <a:ext cx="3767782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Score measures how well the image matches the prompt,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71156" y="3986451"/>
              <a:ext cx="1587495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where higher is better.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876300" y="4438650"/>
              <a:ext cx="2419350" cy="628650"/>
            </a:xfrm>
            <a:prstGeom prst="roundRect">
              <a:avLst>
                <a:gd name="adj" fmla="val 18182"/>
              </a:avLst>
            </a:prstGeom>
            <a:solidFill>
              <a:schemeClr val="accent6"/>
            </a:solidFill>
            <a:ln w="14288">
              <a:solidFill>
                <a:srgbClr val="343A70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901787" y="4583868"/>
              <a:ext cx="368375" cy="3291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FID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327176" y="4840367"/>
              <a:ext cx="1517599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4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fidelity (lower better)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3448050" y="4438650"/>
              <a:ext cx="2419350" cy="628650"/>
            </a:xfrm>
            <a:prstGeom prst="roundRect">
              <a:avLst>
                <a:gd name="adj" fmla="val 18182"/>
              </a:avLst>
            </a:prstGeom>
            <a:solidFill>
              <a:schemeClr val="accent6"/>
            </a:solidFill>
            <a:ln w="14288">
              <a:solidFill>
                <a:srgbClr val="343A70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4404537" y="4583868"/>
              <a:ext cx="506376" cy="3291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80" b="1" dirty="0">
                  <a:solidFill>
                    <a:srgbClr val="33D6C0"/>
                  </a:solidFill>
                  <a:latin typeface="+mn-lt"/>
                  <a:ea typeface="+mn-ea"/>
                  <a:cs typeface="+mn-cs"/>
                </a:rPr>
                <a:t>CLIP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809238" y="4840367"/>
              <a:ext cx="1696973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4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alignment (higher better)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6248400" y="3086100"/>
            <a:ext cx="5334000" cy="2152650"/>
            <a:chOff x="6248400" y="3086100"/>
            <a:chExt cx="5334000" cy="2152650"/>
          </a:xfrm>
        </p:grpSpPr>
        <p:sp>
          <p:nvSpPr>
            <p:cNvPr id="36" name="Rectangle 36"/>
            <p:cNvSpPr/>
            <p:nvPr/>
          </p:nvSpPr>
          <p:spPr>
            <a:xfrm>
              <a:off x="6248400" y="3086100"/>
              <a:ext cx="5334000" cy="2152650"/>
            </a:xfrm>
            <a:prstGeom prst="roundRect">
              <a:avLst>
                <a:gd name="adj" fmla="val 6195"/>
              </a:avLst>
            </a:prstGeom>
            <a:solidFill>
              <a:schemeClr val="accent5"/>
            </a:solidFill>
            <a:ln w="14288">
              <a:solidFill>
                <a:srgbClr val="343A70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6248400" y="3086100"/>
              <a:ext cx="57150" cy="2152650"/>
            </a:xfrm>
            <a:prstGeom prst="roundRect">
              <a:avLst>
                <a:gd name="adj" fmla="val 50000"/>
              </a:avLst>
            </a:prstGeom>
            <a:solidFill>
              <a:srgbClr val="F2685C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509194" y="3322558"/>
              <a:ext cx="2279681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60" b="1" dirty="0">
                  <a:solidFill>
                    <a:srgbClr val="F2685C"/>
                  </a:solidFill>
                  <a:latin typeface="+mn-lt"/>
                  <a:ea typeface="+mn-ea"/>
                  <a:cs typeface="+mn-cs"/>
                </a:rPr>
                <a:t>Three experimental settings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509956" y="3605451"/>
              <a:ext cx="4013970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Beyond MS-COCO, the authors add a class-conditional study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509956" y="3795951"/>
              <a:ext cx="2301317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and a few-shot fine-tuning study.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515100" y="4114800"/>
              <a:ext cx="4800600" cy="304800"/>
            </a:xfrm>
            <a:prstGeom prst="roundRect">
              <a:avLst>
                <a:gd name="adj" fmla="val 25000"/>
              </a:avLst>
            </a:prstGeom>
            <a:solidFill>
              <a:schemeClr val="accent6"/>
            </a:solidFill>
            <a:ln w="14288">
              <a:solidFill>
                <a:srgbClr val="343A70"/>
              </a:solidFill>
            </a:ln>
          </p:spPr>
        </p:sp>
        <p:sp>
          <p:nvSpPr>
            <p:cNvPr id="42" name="Ellipse 42"/>
            <p:cNvSpPr/>
            <p:nvPr/>
          </p:nvSpPr>
          <p:spPr>
            <a:xfrm>
              <a:off x="6638925" y="421957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833426" y="4206954"/>
              <a:ext cx="3477015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Stable Diffusion · text-to-image on MS-COCO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515100" y="4476750"/>
              <a:ext cx="4800600" cy="304800"/>
            </a:xfrm>
            <a:prstGeom prst="roundRect">
              <a:avLst>
                <a:gd name="adj" fmla="val 25000"/>
              </a:avLst>
            </a:prstGeom>
            <a:solidFill>
              <a:schemeClr val="accent6"/>
            </a:solidFill>
            <a:ln w="14288">
              <a:solidFill>
                <a:srgbClr val="343A70"/>
              </a:solidFill>
            </a:ln>
          </p:spPr>
        </p:sp>
        <p:sp>
          <p:nvSpPr>
            <p:cNvPr id="45" name="Ellipse 45"/>
            <p:cNvSpPr/>
            <p:nvPr/>
          </p:nvSpPr>
          <p:spPr>
            <a:xfrm>
              <a:off x="6638925" y="4581525"/>
              <a:ext cx="95250" cy="95250"/>
            </a:xfrm>
            <a:prstGeom prst="ellipse">
              <a:avLst/>
            </a:prstGeom>
            <a:solidFill>
              <a:srgbClr val="33D6C0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833426" y="4568904"/>
              <a:ext cx="2730328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U-ViT · class-conditional generation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515100" y="4838700"/>
              <a:ext cx="4800600" cy="304800"/>
            </a:xfrm>
            <a:prstGeom prst="roundRect">
              <a:avLst>
                <a:gd name="adj" fmla="val 25000"/>
              </a:avLst>
            </a:prstGeom>
            <a:solidFill>
              <a:schemeClr val="accent6"/>
            </a:solidFill>
            <a:ln w="14288">
              <a:solidFill>
                <a:srgbClr val="343A70"/>
              </a:solidFill>
            </a:ln>
          </p:spPr>
        </p:sp>
        <p:sp>
          <p:nvSpPr>
            <p:cNvPr id="48" name="Ellipse 48"/>
            <p:cNvSpPr/>
            <p:nvPr/>
          </p:nvSpPr>
          <p:spPr>
            <a:xfrm>
              <a:off x="6638925" y="4943475"/>
              <a:ext cx="95250" cy="95250"/>
            </a:xfrm>
            <a:prstGeom prst="ellipse">
              <a:avLst/>
            </a:prstGeom>
            <a:solidFill>
              <a:srgbClr val="F4C24C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833426" y="4930854"/>
              <a:ext cx="3312136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Stable Diffusion 1.5 · few-shot fine-tuning</a:t>
              </a:r>
            </a:p>
          </p:txBody>
        </p:sp>
      </p:grpSp>
      <p:sp>
        <p:nvSpPr>
          <p:cNvPr id="51" name="cue_s06_c1_main_evaluation_text_to_image_ms_coc" title="cue_s06_c1_main_evaluation_text_to_image_ms_coc" descr="cue_s06_c1_main_evaluation_text_to_image_ms_coc The main evaluation is text-to-image on the MS-COCO validation set."/>
          <p:cNvSpPr/>
          <p:nvPr/>
        </p:nvSpPr>
        <p:spPr>
          <a:xfrm>
            <a:off x="609600" y="1504645"/>
            <a:ext cx="10972800" cy="1428521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cue_s06_c2_two_metrics_carry_story_fid" title="cue_s06_c2_two_metrics_carry_story_fid" descr="cue_s06_c2_two_metrics_carry_story_fid Two metrics carry the story: FID, which measures image fidelity, where lower is better, and CLIP Score, which measures how well the image matches the prompt, where higher is better."/>
          <p:cNvSpPr/>
          <p:nvPr/>
        </p:nvSpPr>
        <p:spPr>
          <a:xfrm>
            <a:off x="609600" y="3086100"/>
            <a:ext cx="5334000" cy="2152726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cue_s06_c3_authors_run_these_pretrained_stable" title="cue_s06_c3_authors_run_these_pretrained_stable" descr="cue_s06_c3_authors_run_these_pretrained_stable The authors run these on pretrained Stable Diffusion, and add a class-conditional experiment on U-ViT plus a few-shot fine-tuning study on Stable Diffusion one point five."/>
          <p:cNvSpPr/>
          <p:nvPr/>
        </p:nvSpPr>
        <p:spPr>
          <a:xfrm>
            <a:off x="6248399" y="3086100"/>
            <a:ext cx="5334000" cy="2152726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09600" y="495300"/>
            <a:ext cx="47625" cy="247650"/>
          </a:xfrm>
          <a:prstGeom prst="roundRect">
            <a:avLst>
              <a:gd name="adj" fmla="val 40000"/>
            </a:avLst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3" name="TextBox 3"/>
          <p:cNvSpPr txBox="1"/>
          <p:nvPr/>
        </p:nvSpPr>
        <p:spPr>
          <a:xfrm>
            <a:off x="775335" y="564356"/>
            <a:ext cx="113029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spc="188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KEY RESULT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98170" y="804862"/>
            <a:ext cx="4274937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2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Better FID and CLIP at once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609600" y="1504950"/>
            <a:ext cx="10972800" cy="1428750"/>
            <a:chOff x="609600" y="1504950"/>
            <a:chExt cx="10972800" cy="1428750"/>
          </a:xfrm>
        </p:grpSpPr>
        <p:sp>
          <p:nvSpPr>
            <p:cNvPr id="5" name="Rectangle 5"/>
            <p:cNvSpPr/>
            <p:nvPr/>
          </p:nvSpPr>
          <p:spPr>
            <a:xfrm>
              <a:off x="609600" y="1504950"/>
              <a:ext cx="10972800" cy="1428750"/>
            </a:xfrm>
            <a:prstGeom prst="roundRect">
              <a:avLst>
                <a:gd name="adj" fmla="val 9333"/>
              </a:avLst>
            </a:prstGeom>
            <a:solidFill>
              <a:srgbClr val="0F2E2B"/>
            </a:solidFill>
            <a:ln w="14288">
              <a:solidFill>
                <a:srgbClr val="46C98B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609600" y="1504950"/>
              <a:ext cx="57150" cy="1428750"/>
            </a:xfrm>
            <a:prstGeom prst="roundRect">
              <a:avLst>
                <a:gd name="adj" fmla="val 50000"/>
              </a:avLst>
            </a:prstGeom>
            <a:solidFill>
              <a:srgbClr val="46C98B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70014" y="1733312"/>
              <a:ext cx="3313576" cy="2420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40" b="1" dirty="0">
                  <a:solidFill>
                    <a:srgbClr val="46C98B"/>
                  </a:solidFill>
                  <a:latin typeface="+mn-lt"/>
                  <a:ea typeface="+mn-ea"/>
                  <a:cs typeface="+mn-cs"/>
                </a:rPr>
                <a:t>The second-order term genuinely helps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876300" y="2038350"/>
              <a:ext cx="5143500" cy="762000"/>
            </a:xfrm>
            <a:prstGeom prst="roundRect">
              <a:avLst>
                <a:gd name="adj" fmla="val 15000"/>
              </a:avLst>
            </a:prstGeom>
            <a:solidFill>
              <a:schemeClr val="accent6"/>
            </a:solidFill>
            <a:ln w="14288">
              <a:solidFill>
                <a:srgbClr val="343A70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61847" y="2218849"/>
              <a:ext cx="36557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On the fidelity-alignment plane, inner CFG sits up and to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61847" y="2409349"/>
              <a:ext cx="37572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the left of plain CFG - it improves both metrics together.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248400" y="2038350"/>
              <a:ext cx="5334000" cy="762000"/>
            </a:xfrm>
            <a:prstGeom prst="roundRect">
              <a:avLst>
                <a:gd name="adj" fmla="val 10000"/>
              </a:avLst>
            </a:prstGeom>
            <a:solidFill>
              <a:srgbClr val="0E1330"/>
            </a:solidFill>
            <a:ln w="14288">
              <a:solidFill>
                <a:srgbClr val="343A70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6629400" y="2228850"/>
              <a:ext cx="9525" cy="323850"/>
            </a:xfrm>
            <a:custGeom>
              <a:avLst/>
              <a:gdLst/>
              <a:ahLst/>
              <a:cxnLst/>
              <a:rect l="l" t="t" r="r" b="b"/>
              <a:pathLst>
                <a:path w="9525" h="323850">
                  <a:moveTo>
                    <a:pt x="0" y="323850"/>
                  </a:moveTo>
                  <a:lnTo>
                    <a:pt x="0" y="0"/>
                  </a:lnTo>
                </a:path>
              </a:pathLst>
            </a:custGeom>
            <a:noFill/>
            <a:ln w="11430" cap="rnd">
              <a:solidFill>
                <a:srgbClr val="343A70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6629400" y="2552700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1430" cap="rnd">
              <a:solidFill>
                <a:srgbClr val="343A70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360710" y="2170986"/>
              <a:ext cx="216303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710" b="1" dirty="0">
                  <a:solidFill>
                    <a:srgbClr val="727BA0"/>
                  </a:solidFill>
                  <a:latin typeface="+mn-lt"/>
                  <a:ea typeface="+mn-ea"/>
                  <a:cs typeface="+mn-cs"/>
                </a:rPr>
                <a:t>CLIP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128326" y="2618661"/>
              <a:ext cx="306437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710" b="1" dirty="0">
                  <a:solidFill>
                    <a:srgbClr val="727BA0"/>
                  </a:solidFill>
                  <a:latin typeface="+mn-lt"/>
                  <a:ea typeface="+mn-ea"/>
                  <a:cs typeface="+mn-cs"/>
                </a:rPr>
                <a:t>FID -&gt;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8136255" y="2366772"/>
              <a:ext cx="1824990" cy="53721"/>
            </a:xfrm>
            <a:custGeom>
              <a:avLst/>
              <a:gdLst/>
              <a:ahLst/>
              <a:cxnLst/>
              <a:rect l="l" t="t" r="r" b="b"/>
              <a:pathLst>
                <a:path w="1824990" h="53721">
                  <a:moveTo>
                    <a:pt x="1824990" y="53721"/>
                  </a:moveTo>
                  <a:lnTo>
                    <a:pt x="0" y="0"/>
                  </a:lnTo>
                </a:path>
              </a:pathLst>
            </a:custGeom>
            <a:noFill/>
            <a:ln w="15240" cap="rnd">
              <a:solidFill>
                <a:srgbClr val="F4C24C"/>
              </a:solidFill>
              <a:custDash>
                <a:ds d="312500" sp="250000"/>
              </a:custDash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101138" y="2221468"/>
              <a:ext cx="340710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10" b="1" dirty="0">
                  <a:solidFill>
                    <a:srgbClr val="F4C24C"/>
                  </a:solidFill>
                  <a:latin typeface="+mn-lt"/>
                  <a:ea typeface="+mn-ea"/>
                  <a:cs typeface="+mn-cs"/>
                </a:rPr>
                <a:t>better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9932670" y="2391918"/>
              <a:ext cx="114300" cy="114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0070782" y="2468832"/>
              <a:ext cx="204205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9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CFG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8007668" y="2238184"/>
              <a:ext cx="123825" cy="123825"/>
            </a:xfrm>
            <a:prstGeom prst="ellipse">
              <a:avLst/>
            </a:prstGeom>
            <a:solidFill>
              <a:srgbClr val="46C98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150542" y="2253186"/>
              <a:ext cx="239602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90" b="1" dirty="0">
                  <a:solidFill>
                    <a:srgbClr val="46C98B"/>
                  </a:solidFill>
                  <a:latin typeface="+mn-lt"/>
                  <a:ea typeface="+mn-ea"/>
                  <a:cs typeface="+mn-cs"/>
                </a:rPr>
                <a:t>ICFG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09600" y="3086100"/>
            <a:ext cx="3505200" cy="2133600"/>
            <a:chOff x="609600" y="3086100"/>
            <a:chExt cx="3505200" cy="2133600"/>
          </a:xfrm>
        </p:grpSpPr>
        <p:sp>
          <p:nvSpPr>
            <p:cNvPr id="23" name="Rectangle 23"/>
            <p:cNvSpPr/>
            <p:nvPr/>
          </p:nvSpPr>
          <p:spPr>
            <a:xfrm>
              <a:off x="609600" y="3086100"/>
              <a:ext cx="3505200" cy="2133600"/>
            </a:xfrm>
            <a:prstGeom prst="roundRect">
              <a:avLst>
                <a:gd name="adj" fmla="val 6250"/>
              </a:avLst>
            </a:prstGeom>
            <a:solidFill>
              <a:schemeClr val="accent5"/>
            </a:solidFill>
            <a:ln w="14288">
              <a:solidFill>
                <a:srgbClr val="343A70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09600" y="3086100"/>
              <a:ext cx="57150" cy="2133600"/>
            </a:xfrm>
            <a:prstGeom prst="roundRect">
              <a:avLst>
                <a:gd name="adj" fmla="val 50000"/>
              </a:avLst>
            </a:prstGeom>
            <a:solidFill>
              <a:srgbClr val="33D6C0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70204" y="3299460"/>
              <a:ext cx="15171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33D6C0"/>
                  </a:solidFill>
                  <a:latin typeface="+mn-lt"/>
                  <a:ea typeface="+mn-ea"/>
                  <a:cs typeface="+mn-cs"/>
                </a:rPr>
                <a:t>ICFG @ w=2, v=1/4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71156" y="3586401"/>
              <a:ext cx="2543691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On MS-COCO, second-order inner CFG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71156" y="3776901"/>
              <a:ext cx="608538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reaches: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876300" y="4095750"/>
              <a:ext cx="1428750" cy="971550"/>
            </a:xfrm>
            <a:prstGeom prst="roundRect">
              <a:avLst>
                <a:gd name="adj" fmla="val 11765"/>
              </a:avLst>
            </a:prstGeom>
            <a:solidFill>
              <a:schemeClr val="accent6"/>
            </a:solidFill>
            <a:ln w="14288">
              <a:solidFill>
                <a:srgbClr val="343A70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141940" y="4358068"/>
              <a:ext cx="89746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33D6C0"/>
                  </a:solidFill>
                  <a:latin typeface="+mn-lt"/>
                  <a:ea typeface="+mn-ea"/>
                  <a:cs typeface="+mn-cs"/>
                </a:rPr>
                <a:t>15.28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487639" y="4771787"/>
              <a:ext cx="206072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4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FID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2419350" y="4095750"/>
              <a:ext cx="1428750" cy="971550"/>
            </a:xfrm>
            <a:prstGeom prst="roundRect">
              <a:avLst>
                <a:gd name="adj" fmla="val 11765"/>
              </a:avLst>
            </a:prstGeom>
            <a:solidFill>
              <a:schemeClr val="accent6"/>
            </a:solidFill>
            <a:ln w="14288">
              <a:solidFill>
                <a:srgbClr val="343A70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2684990" y="4358068"/>
              <a:ext cx="89746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33D6C0"/>
                  </a:solidFill>
                  <a:latin typeface="+mn-lt"/>
                  <a:ea typeface="+mn-ea"/>
                  <a:cs typeface="+mn-cs"/>
                </a:rPr>
                <a:t>26.11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992081" y="4771787"/>
              <a:ext cx="283287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4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CLIP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4343400" y="3086100"/>
            <a:ext cx="3505200" cy="2133600"/>
            <a:chOff x="4343400" y="3086100"/>
            <a:chExt cx="3505200" cy="2133600"/>
          </a:xfrm>
        </p:grpSpPr>
        <p:sp>
          <p:nvSpPr>
            <p:cNvPr id="35" name="Rectangle 35"/>
            <p:cNvSpPr/>
            <p:nvPr/>
          </p:nvSpPr>
          <p:spPr>
            <a:xfrm>
              <a:off x="4343400" y="3086100"/>
              <a:ext cx="3505200" cy="2133600"/>
            </a:xfrm>
            <a:prstGeom prst="roundRect">
              <a:avLst>
                <a:gd name="adj" fmla="val 6250"/>
              </a:avLst>
            </a:prstGeom>
            <a:solidFill>
              <a:schemeClr val="accent5"/>
            </a:solidFill>
            <a:ln w="14288">
              <a:solidFill>
                <a:srgbClr val="343A70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3086100"/>
              <a:ext cx="57150" cy="21336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04004" y="3299460"/>
              <a:ext cx="17606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vs CFG, same setting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604956" y="3586401"/>
              <a:ext cx="2502799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Plain CFG is worse on both - ICFG wins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604956" y="3776901"/>
              <a:ext cx="1519512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fidelity and alignment: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4610100" y="4095750"/>
              <a:ext cx="1428750" cy="971550"/>
            </a:xfrm>
            <a:prstGeom prst="roundRect">
              <a:avLst>
                <a:gd name="adj" fmla="val 11765"/>
              </a:avLst>
            </a:prstGeom>
            <a:solidFill>
              <a:schemeClr val="accent6"/>
            </a:solidFill>
            <a:ln w="14288">
              <a:solidFill>
                <a:srgbClr val="343A70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4875740" y="4358068"/>
              <a:ext cx="89746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15.42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007343" y="4771787"/>
              <a:ext cx="634264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4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FID (CFG)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153150" y="4095750"/>
              <a:ext cx="1428750" cy="971550"/>
            </a:xfrm>
            <a:prstGeom prst="roundRect">
              <a:avLst>
                <a:gd name="adj" fmla="val 11765"/>
              </a:avLst>
            </a:prstGeom>
            <a:solidFill>
              <a:schemeClr val="accent6"/>
            </a:solidFill>
            <a:ln w="14288">
              <a:solidFill>
                <a:srgbClr val="343A70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418790" y="4358068"/>
              <a:ext cx="89746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25.80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511785" y="4771787"/>
              <a:ext cx="711479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4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CLIP (CFG)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8077200" y="3086100"/>
            <a:ext cx="3505200" cy="2133600"/>
            <a:chOff x="8077200" y="3086100"/>
            <a:chExt cx="3505200" cy="2133600"/>
          </a:xfrm>
        </p:grpSpPr>
        <p:sp>
          <p:nvSpPr>
            <p:cNvPr id="47" name="Rectangle 47"/>
            <p:cNvSpPr/>
            <p:nvPr/>
          </p:nvSpPr>
          <p:spPr>
            <a:xfrm>
              <a:off x="8077200" y="3086100"/>
              <a:ext cx="3505200" cy="2133600"/>
            </a:xfrm>
            <a:prstGeom prst="roundRect">
              <a:avLst>
                <a:gd name="adj" fmla="val 6250"/>
              </a:avLst>
            </a:prstGeom>
            <a:solidFill>
              <a:srgbClr val="2A2417"/>
            </a:solidFill>
            <a:ln w="14288">
              <a:solidFill>
                <a:srgbClr val="F4C24C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8077200" y="3086100"/>
              <a:ext cx="57150" cy="2133600"/>
            </a:xfrm>
            <a:prstGeom prst="roundRect">
              <a:avLst>
                <a:gd name="adj" fmla="val 50000"/>
              </a:avLst>
            </a:prstGeom>
            <a:solidFill>
              <a:srgbClr val="F4C24C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8337994" y="3303508"/>
              <a:ext cx="2173527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60" b="1" dirty="0">
                  <a:solidFill>
                    <a:srgbClr val="F4C24C"/>
                  </a:solidFill>
                  <a:latin typeface="+mn-lt"/>
                  <a:ea typeface="+mn-ea"/>
                  <a:cs typeface="+mn-cs"/>
                </a:rPr>
                <a:t>A more favorable geometry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338756" y="3605451"/>
              <a:ext cx="2742996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The sweet spot is w = 2, v = 1/4. The full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338756" y="3795951"/>
              <a:ext cx="2899569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condition space trades off the two metrics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338756" y="3986451"/>
              <a:ext cx="2322051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more favorably than plain CFG can.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8343900" y="4781550"/>
              <a:ext cx="3009900" cy="304800"/>
            </a:xfrm>
            <a:prstGeom prst="roundRect">
              <a:avLst>
                <a:gd name="adj" fmla="val 25000"/>
              </a:avLst>
            </a:prstGeom>
            <a:solidFill>
              <a:schemeClr val="accent6"/>
            </a:solidFill>
            <a:ln w="14288">
              <a:solidFill>
                <a:srgbClr val="343A70"/>
              </a:solidFill>
            </a:ln>
          </p:spPr>
        </p:sp>
        <p:sp>
          <p:nvSpPr>
            <p:cNvPr id="54" name="Ellipse 54"/>
            <p:cNvSpPr/>
            <p:nvPr/>
          </p:nvSpPr>
          <p:spPr>
            <a:xfrm>
              <a:off x="8467725" y="4886325"/>
              <a:ext cx="95250" cy="95250"/>
            </a:xfrm>
            <a:prstGeom prst="ellipse">
              <a:avLst/>
            </a:prstGeom>
            <a:solidFill>
              <a:srgbClr val="F4C24C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8662226" y="4873704"/>
              <a:ext cx="1597997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no change to training</a:t>
              </a:r>
            </a:p>
          </p:txBody>
        </p:sp>
      </p:grpSp>
      <p:sp>
        <p:nvSpPr>
          <p:cNvPr id="57" name="cue_s07_c1_headline_finding_second_order_term_g" title="cue_s07_c1_headline_finding_second_order_term_g" descr="cue_s07_c1_headline_finding_second_order_term_g The headline finding is that the second-order term genuinely helps."/>
          <p:cNvSpPr/>
          <p:nvPr/>
        </p:nvSpPr>
        <p:spPr>
          <a:xfrm>
            <a:off x="609600" y="1504645"/>
            <a:ext cx="10972800" cy="1428521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cue_s07_c2_ms_coco_guidance_strength_two_second" title="cue_s07_c2_ms_coco_guidance_strength_two_second" descr="cue_s07_c2_ms_coco_guidance_strength_two_second On MS-COCO, at guidance strength two with the second-order weight at a quarter, ICFG reaches an FID of fifteen point two eight and a CLIP score of twenty six point one one."/>
          <p:cNvSpPr/>
          <p:nvPr/>
        </p:nvSpPr>
        <p:spPr>
          <a:xfrm>
            <a:off x="609600" y="3086100"/>
            <a:ext cx="3505199" cy="2133523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cue_s07_c3_beats_classifier_free_guidance_same" title="cue_s07_c3_beats_classifier_free_guidance_same" descr="cue_s07_c3_beats_classifier_free_guidance_same That beats classifier-free guidance at the same setting, with a worse FID of fifteen point four two and a lower CLIP score of twenty five point eight. So the method improves both fidelity and alignment at once, without touching training."/>
          <p:cNvSpPr/>
          <p:nvPr/>
        </p:nvSpPr>
        <p:spPr>
          <a:xfrm>
            <a:off x="4344009" y="3086100"/>
            <a:ext cx="3505199" cy="2133523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cue_s07_c4_authors_identify_sweet_spot_equals" title="cue_s07_c4_authors_identify_sweet_spot_equals" descr="cue_s07_c4_authors_identify_sweet_spot_equals The authors identify the sweet spot at w equals two and v equals one quarter, and note the full condition space trades off the two metrics more favorably."/>
          <p:cNvSpPr/>
          <p:nvPr/>
        </p:nvSpPr>
        <p:spPr>
          <a:xfrm>
            <a:off x="8077200" y="3086100"/>
            <a:ext cx="3505199" cy="2133523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09600" y="495300"/>
            <a:ext cx="47625" cy="247650"/>
          </a:xfrm>
          <a:prstGeom prst="roundRect">
            <a:avLst>
              <a:gd name="adj" fmla="val 40000"/>
            </a:avLst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3" name="TextBox 3"/>
          <p:cNvSpPr txBox="1"/>
          <p:nvPr/>
        </p:nvSpPr>
        <p:spPr>
          <a:xfrm>
            <a:off x="775335" y="564356"/>
            <a:ext cx="159689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spc="188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ABLATION STUDY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98170" y="804862"/>
            <a:ext cx="4868010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2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Choosing m and the step budget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609600" y="1504950"/>
            <a:ext cx="10972800" cy="990600"/>
            <a:chOff x="609600" y="1504950"/>
            <a:chExt cx="10972800" cy="990600"/>
          </a:xfrm>
        </p:grpSpPr>
        <p:sp>
          <p:nvSpPr>
            <p:cNvPr id="5" name="Rectangle 5"/>
            <p:cNvSpPr/>
            <p:nvPr/>
          </p:nvSpPr>
          <p:spPr>
            <a:xfrm>
              <a:off x="609600" y="1504950"/>
              <a:ext cx="10972800" cy="990600"/>
            </a:xfrm>
            <a:prstGeom prst="roundRect">
              <a:avLst>
                <a:gd name="adj" fmla="val 13462"/>
              </a:avLst>
            </a:prstGeom>
            <a:solidFill>
              <a:schemeClr val="accent5"/>
            </a:solidFill>
            <a:ln w="14288">
              <a:solidFill>
                <a:srgbClr val="343A70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609600" y="1504950"/>
              <a:ext cx="57150" cy="990600"/>
            </a:xfrm>
            <a:prstGeom prst="roundRect">
              <a:avLst>
                <a:gd name="adj" fmla="val 50000"/>
              </a:avLst>
            </a:prstGeom>
            <a:solidFill>
              <a:srgbClr val="46C98B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70204" y="1718310"/>
              <a:ext cx="278260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46C98B"/>
                  </a:solidFill>
                  <a:latin typeface="+mn-lt"/>
                  <a:ea typeface="+mn-ea"/>
                  <a:cs typeface="+mn-cs"/>
                </a:rPr>
                <a:t>Two ablations pin down the design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70966" y="2020252"/>
              <a:ext cx="850485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Two studies fix the key knobs of second-order inner CFG: the middle point m used to estimate the term, and the number of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70966" y="2220278"/>
              <a:ext cx="10990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sampling steps.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09600" y="2724150"/>
            <a:ext cx="5334000" cy="2514600"/>
            <a:chOff x="609600" y="2724150"/>
            <a:chExt cx="5334000" cy="2514600"/>
          </a:xfrm>
        </p:grpSpPr>
        <p:sp>
          <p:nvSpPr>
            <p:cNvPr id="11" name="Rectangle 11"/>
            <p:cNvSpPr/>
            <p:nvPr/>
          </p:nvSpPr>
          <p:spPr>
            <a:xfrm>
              <a:off x="609600" y="2724150"/>
              <a:ext cx="5334000" cy="2514600"/>
            </a:xfrm>
            <a:prstGeom prst="roundRect">
              <a:avLst>
                <a:gd name="adj" fmla="val 5303"/>
              </a:avLst>
            </a:prstGeom>
            <a:solidFill>
              <a:schemeClr val="accent5"/>
            </a:solidFill>
            <a:ln w="14288">
              <a:solidFill>
                <a:srgbClr val="343A70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609600" y="2724150"/>
              <a:ext cx="57150" cy="25146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70204" y="2956560"/>
              <a:ext cx="2527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Middle point m: a U-shaped FID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71156" y="3243501"/>
              <a:ext cx="2394506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If the two points are too close, the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71156" y="3434001"/>
              <a:ext cx="2851981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estimate can't capture long-term change;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71156" y="3624501"/>
              <a:ext cx="2314914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drift too near 0 or 1 and the model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71156" y="3815001"/>
              <a:ext cx="2789062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struggles to score them. Best around m =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71156" y="4005501"/>
              <a:ext cx="309413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1.1.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3162300" y="4114800"/>
              <a:ext cx="2552700" cy="952500"/>
            </a:xfrm>
            <a:prstGeom prst="roundRect">
              <a:avLst>
                <a:gd name="adj" fmla="val 8000"/>
              </a:avLst>
            </a:prstGeom>
            <a:solidFill>
              <a:srgbClr val="0E1330"/>
            </a:solidFill>
            <a:ln w="14288">
              <a:solidFill>
                <a:srgbClr val="343A70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3486150" y="4819650"/>
              <a:ext cx="2095500" cy="9525"/>
            </a:xfrm>
            <a:custGeom>
              <a:avLst/>
              <a:gdLst/>
              <a:ahLst/>
              <a:cxnLst/>
              <a:rect l="l" t="t" r="r" b="b"/>
              <a:pathLst>
                <a:path w="2095500" h="9525">
                  <a:moveTo>
                    <a:pt x="0" y="0"/>
                  </a:moveTo>
                  <a:lnTo>
                    <a:pt x="2095500" y="0"/>
                  </a:lnTo>
                </a:path>
              </a:pathLst>
            </a:custGeom>
            <a:noFill/>
            <a:ln w="11430" cap="rnd">
              <a:solidFill>
                <a:srgbClr val="343A70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3486150" y="4267200"/>
              <a:ext cx="9525" cy="552450"/>
            </a:xfrm>
            <a:custGeom>
              <a:avLst/>
              <a:gdLst/>
              <a:ahLst/>
              <a:cxnLst/>
              <a:rect l="l" t="t" r="r" b="b"/>
              <a:pathLst>
                <a:path w="9525" h="552450">
                  <a:moveTo>
                    <a:pt x="0" y="552450"/>
                  </a:moveTo>
                  <a:lnTo>
                    <a:pt x="0" y="0"/>
                  </a:lnTo>
                </a:path>
              </a:pathLst>
            </a:custGeom>
            <a:noFill/>
            <a:ln w="11430" cap="rnd">
              <a:solidFill>
                <a:srgbClr val="343A70"/>
              </a:solidFill>
            </a:ln>
          </p:spPr>
        </p:sp>
        <p:sp>
          <p:nvSpPr>
            <p:cNvPr id="22" name="Polyline 22"/>
            <p:cNvSpPr/>
            <p:nvPr/>
          </p:nvSpPr>
          <p:spPr>
            <a:xfrm>
              <a:off x="3486150" y="4311396"/>
              <a:ext cx="2095500" cy="397764"/>
            </a:xfrm>
            <a:custGeom>
              <a:avLst/>
              <a:gdLst/>
              <a:ahLst/>
              <a:cxnLst/>
              <a:rect l="l" t="t" r="r" b="b"/>
              <a:pathLst>
                <a:path w="2095500" h="397764">
                  <a:moveTo>
                    <a:pt x="0" y="0"/>
                  </a:moveTo>
                  <a:lnTo>
                    <a:pt x="52388" y="17091"/>
                  </a:lnTo>
                  <a:lnTo>
                    <a:pt x="104775" y="52483"/>
                  </a:lnTo>
                  <a:lnTo>
                    <a:pt x="157162" y="86148"/>
                  </a:lnTo>
                  <a:lnTo>
                    <a:pt x="209550" y="118086"/>
                  </a:lnTo>
                  <a:lnTo>
                    <a:pt x="261938" y="148298"/>
                  </a:lnTo>
                  <a:lnTo>
                    <a:pt x="314325" y="176784"/>
                  </a:lnTo>
                  <a:lnTo>
                    <a:pt x="366712" y="203543"/>
                  </a:lnTo>
                  <a:lnTo>
                    <a:pt x="419100" y="228576"/>
                  </a:lnTo>
                  <a:lnTo>
                    <a:pt x="471488" y="251883"/>
                  </a:lnTo>
                  <a:lnTo>
                    <a:pt x="523875" y="273463"/>
                  </a:lnTo>
                  <a:lnTo>
                    <a:pt x="576262" y="293316"/>
                  </a:lnTo>
                  <a:lnTo>
                    <a:pt x="628650" y="311444"/>
                  </a:lnTo>
                  <a:lnTo>
                    <a:pt x="681038" y="327845"/>
                  </a:lnTo>
                  <a:lnTo>
                    <a:pt x="733425" y="342519"/>
                  </a:lnTo>
                  <a:lnTo>
                    <a:pt x="785812" y="355467"/>
                  </a:lnTo>
                  <a:lnTo>
                    <a:pt x="838200" y="366689"/>
                  </a:lnTo>
                  <a:lnTo>
                    <a:pt x="890588" y="376184"/>
                  </a:lnTo>
                  <a:lnTo>
                    <a:pt x="942975" y="383953"/>
                  </a:lnTo>
                  <a:lnTo>
                    <a:pt x="995362" y="389995"/>
                  </a:lnTo>
                  <a:lnTo>
                    <a:pt x="1047750" y="394311"/>
                  </a:lnTo>
                  <a:lnTo>
                    <a:pt x="1100138" y="396901"/>
                  </a:lnTo>
                  <a:lnTo>
                    <a:pt x="1152525" y="397764"/>
                  </a:lnTo>
                  <a:lnTo>
                    <a:pt x="1204912" y="396901"/>
                  </a:lnTo>
                  <a:lnTo>
                    <a:pt x="1257300" y="394311"/>
                  </a:lnTo>
                  <a:lnTo>
                    <a:pt x="1309688" y="389995"/>
                  </a:lnTo>
                  <a:lnTo>
                    <a:pt x="1362075" y="383953"/>
                  </a:lnTo>
                  <a:lnTo>
                    <a:pt x="1414462" y="376184"/>
                  </a:lnTo>
                  <a:lnTo>
                    <a:pt x="1466850" y="366689"/>
                  </a:lnTo>
                  <a:lnTo>
                    <a:pt x="1519238" y="355467"/>
                  </a:lnTo>
                  <a:lnTo>
                    <a:pt x="1571625" y="342519"/>
                  </a:lnTo>
                  <a:lnTo>
                    <a:pt x="1624012" y="327845"/>
                  </a:lnTo>
                  <a:lnTo>
                    <a:pt x="1676400" y="311444"/>
                  </a:lnTo>
                  <a:lnTo>
                    <a:pt x="1728788" y="293316"/>
                  </a:lnTo>
                  <a:lnTo>
                    <a:pt x="1781175" y="273463"/>
                  </a:lnTo>
                  <a:lnTo>
                    <a:pt x="1833562" y="251883"/>
                  </a:lnTo>
                  <a:lnTo>
                    <a:pt x="1885950" y="228576"/>
                  </a:lnTo>
                  <a:lnTo>
                    <a:pt x="1938338" y="203543"/>
                  </a:lnTo>
                  <a:lnTo>
                    <a:pt x="1990725" y="176784"/>
                  </a:lnTo>
                  <a:lnTo>
                    <a:pt x="2043112" y="148298"/>
                  </a:lnTo>
                  <a:lnTo>
                    <a:pt x="2095500" y="118086"/>
                  </a:lnTo>
                </a:path>
              </a:pathLst>
            </a:custGeom>
            <a:noFill/>
            <a:ln w="24765" cap="rnd">
              <a:solidFill>
                <a:schemeClr val="accent2"/>
              </a:solidFill>
              <a:round/>
            </a:ln>
          </p:spPr>
        </p:sp>
        <p:sp>
          <p:nvSpPr>
            <p:cNvPr id="23" name="Line 23"/>
            <p:cNvSpPr/>
            <p:nvPr/>
          </p:nvSpPr>
          <p:spPr>
            <a:xfrm>
              <a:off x="4638675" y="4709160"/>
              <a:ext cx="9525" cy="110490"/>
            </a:xfrm>
            <a:custGeom>
              <a:avLst/>
              <a:gdLst/>
              <a:ahLst/>
              <a:cxnLst/>
              <a:rect l="l" t="t" r="r" b="b"/>
              <a:pathLst>
                <a:path w="9525" h="110490">
                  <a:moveTo>
                    <a:pt x="0" y="0"/>
                  </a:moveTo>
                  <a:lnTo>
                    <a:pt x="0" y="110490"/>
                  </a:lnTo>
                </a:path>
              </a:pathLst>
            </a:custGeom>
            <a:noFill/>
            <a:ln w="11430" cap="rnd">
              <a:solidFill>
                <a:srgbClr val="F4C24C"/>
              </a:solidFill>
              <a:prstDash val="dash"/>
            </a:ln>
          </p:spPr>
        </p:sp>
        <p:sp>
          <p:nvSpPr>
            <p:cNvPr id="24" name="Ellipse 24"/>
            <p:cNvSpPr/>
            <p:nvPr/>
          </p:nvSpPr>
          <p:spPr>
            <a:xfrm>
              <a:off x="4594860" y="4665345"/>
              <a:ext cx="87630" cy="87630"/>
            </a:xfrm>
            <a:prstGeom prst="ellipse">
              <a:avLst/>
            </a:prstGeom>
            <a:solidFill>
              <a:srgbClr val="F4C24C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485883" y="4885611"/>
              <a:ext cx="305585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10" b="1" dirty="0">
                  <a:solidFill>
                    <a:srgbClr val="F4C24C"/>
                  </a:solidFill>
                  <a:latin typeface="+mn-lt"/>
                  <a:ea typeface="+mn-ea"/>
                  <a:cs typeface="+mn-cs"/>
                </a:rPr>
                <a:t>m=1.1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294832" y="4228386"/>
              <a:ext cx="157981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710" b="1" dirty="0">
                  <a:solidFill>
                    <a:srgbClr val="727BA0"/>
                  </a:solidFill>
                  <a:latin typeface="+mn-lt"/>
                  <a:ea typeface="+mn-ea"/>
                  <a:cs typeface="+mn-cs"/>
                </a:rPr>
                <a:t>FID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889427" y="4885611"/>
              <a:ext cx="696986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710" b="1" dirty="0">
                  <a:solidFill>
                    <a:srgbClr val="727BA0"/>
                  </a:solidFill>
                  <a:latin typeface="+mn-lt"/>
                  <a:ea typeface="+mn-ea"/>
                  <a:cs typeface="+mn-cs"/>
                </a:rPr>
                <a:t>middle point m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6248400" y="2724150"/>
            <a:ext cx="5334000" cy="2514600"/>
            <a:chOff x="6248400" y="2724150"/>
            <a:chExt cx="5334000" cy="2514600"/>
          </a:xfrm>
        </p:grpSpPr>
        <p:sp>
          <p:nvSpPr>
            <p:cNvPr id="29" name="Rectangle 29"/>
            <p:cNvSpPr/>
            <p:nvPr/>
          </p:nvSpPr>
          <p:spPr>
            <a:xfrm>
              <a:off x="6248400" y="2724150"/>
              <a:ext cx="5334000" cy="2514600"/>
            </a:xfrm>
            <a:prstGeom prst="roundRect">
              <a:avLst>
                <a:gd name="adj" fmla="val 5303"/>
              </a:avLst>
            </a:prstGeom>
            <a:solidFill>
              <a:schemeClr val="accent5"/>
            </a:solidFill>
            <a:ln w="14288">
              <a:solidFill>
                <a:srgbClr val="343A70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6248400" y="2724150"/>
              <a:ext cx="57150" cy="2514600"/>
            </a:xfrm>
            <a:prstGeom prst="roundRect">
              <a:avLst>
                <a:gd name="adj" fmla="val 50000"/>
              </a:avLst>
            </a:prstGeom>
            <a:solidFill>
              <a:srgbClr val="33D6C0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509004" y="2956560"/>
              <a:ext cx="26477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33D6C0"/>
                  </a:solidFill>
                  <a:latin typeface="+mn-lt"/>
                  <a:ea typeface="+mn-ea"/>
                  <a:cs typeface="+mn-cs"/>
                </a:rPr>
                <a:t>Sampling steps: good even at 10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509956" y="3243501"/>
              <a:ext cx="2489390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Varying the number of sampling steps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509956" y="3434001"/>
              <a:ext cx="2362502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shows the method already produces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509956" y="3624501"/>
              <a:ext cx="2627636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well-matched images at just ten steps,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509956" y="3815001"/>
              <a:ext cx="2491670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improving only modestly out to fifty.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8801100" y="4114800"/>
              <a:ext cx="2552700" cy="952500"/>
            </a:xfrm>
            <a:prstGeom prst="roundRect">
              <a:avLst>
                <a:gd name="adj" fmla="val 8000"/>
              </a:avLst>
            </a:prstGeom>
            <a:solidFill>
              <a:srgbClr val="0E1330"/>
            </a:solidFill>
            <a:ln w="14288">
              <a:solidFill>
                <a:srgbClr val="343A70"/>
              </a:solidFill>
            </a:ln>
          </p:spPr>
        </p:sp>
        <p:sp>
          <p:nvSpPr>
            <p:cNvPr id="37" name="Line 37"/>
            <p:cNvSpPr/>
            <p:nvPr/>
          </p:nvSpPr>
          <p:spPr>
            <a:xfrm>
              <a:off x="9124950" y="4819650"/>
              <a:ext cx="2095500" cy="9525"/>
            </a:xfrm>
            <a:custGeom>
              <a:avLst/>
              <a:gdLst/>
              <a:ahLst/>
              <a:cxnLst/>
              <a:rect l="l" t="t" r="r" b="b"/>
              <a:pathLst>
                <a:path w="2095500" h="9525">
                  <a:moveTo>
                    <a:pt x="0" y="0"/>
                  </a:moveTo>
                  <a:lnTo>
                    <a:pt x="2095500" y="0"/>
                  </a:lnTo>
                </a:path>
              </a:pathLst>
            </a:custGeom>
            <a:noFill/>
            <a:ln w="11430" cap="rnd">
              <a:solidFill>
                <a:srgbClr val="343A70"/>
              </a:solidFill>
            </a:ln>
          </p:spPr>
        </p:sp>
        <p:sp>
          <p:nvSpPr>
            <p:cNvPr id="38" name="Line 38"/>
            <p:cNvSpPr/>
            <p:nvPr/>
          </p:nvSpPr>
          <p:spPr>
            <a:xfrm>
              <a:off x="9124950" y="4267200"/>
              <a:ext cx="9525" cy="552450"/>
            </a:xfrm>
            <a:custGeom>
              <a:avLst/>
              <a:gdLst/>
              <a:ahLst/>
              <a:cxnLst/>
              <a:rect l="l" t="t" r="r" b="b"/>
              <a:pathLst>
                <a:path w="9525" h="552450">
                  <a:moveTo>
                    <a:pt x="0" y="552450"/>
                  </a:moveTo>
                  <a:lnTo>
                    <a:pt x="0" y="0"/>
                  </a:lnTo>
                </a:path>
              </a:pathLst>
            </a:custGeom>
            <a:noFill/>
            <a:ln w="11430" cap="rnd">
              <a:solidFill>
                <a:srgbClr val="343A70"/>
              </a:solidFill>
            </a:ln>
          </p:spPr>
        </p:sp>
        <p:sp>
          <p:nvSpPr>
            <p:cNvPr id="39" name="Polyline 39"/>
            <p:cNvSpPr/>
            <p:nvPr/>
          </p:nvSpPr>
          <p:spPr>
            <a:xfrm>
              <a:off x="9124950" y="4300347"/>
              <a:ext cx="2095500" cy="411913"/>
            </a:xfrm>
            <a:custGeom>
              <a:avLst/>
              <a:gdLst/>
              <a:ahLst/>
              <a:cxnLst/>
              <a:rect l="l" t="t" r="r" b="b"/>
              <a:pathLst>
                <a:path w="2095500" h="411913">
                  <a:moveTo>
                    <a:pt x="0" y="0"/>
                  </a:moveTo>
                  <a:lnTo>
                    <a:pt x="52388" y="26381"/>
                  </a:lnTo>
                  <a:lnTo>
                    <a:pt x="104775" y="51226"/>
                  </a:lnTo>
                  <a:lnTo>
                    <a:pt x="157162" y="74624"/>
                  </a:lnTo>
                  <a:lnTo>
                    <a:pt x="209550" y="96659"/>
                  </a:lnTo>
                  <a:lnTo>
                    <a:pt x="261938" y="117412"/>
                  </a:lnTo>
                  <a:lnTo>
                    <a:pt x="314325" y="136955"/>
                  </a:lnTo>
                  <a:lnTo>
                    <a:pt x="366712" y="155361"/>
                  </a:lnTo>
                  <a:lnTo>
                    <a:pt x="419100" y="172695"/>
                  </a:lnTo>
                  <a:lnTo>
                    <a:pt x="471488" y="189019"/>
                  </a:lnTo>
                  <a:lnTo>
                    <a:pt x="523875" y="204392"/>
                  </a:lnTo>
                  <a:lnTo>
                    <a:pt x="576262" y="218871"/>
                  </a:lnTo>
                  <a:lnTo>
                    <a:pt x="628650" y="232506"/>
                  </a:lnTo>
                  <a:lnTo>
                    <a:pt x="681038" y="245347"/>
                  </a:lnTo>
                  <a:lnTo>
                    <a:pt x="733425" y="257440"/>
                  </a:lnTo>
                  <a:lnTo>
                    <a:pt x="785812" y="268829"/>
                  </a:lnTo>
                  <a:lnTo>
                    <a:pt x="838200" y="279555"/>
                  </a:lnTo>
                  <a:lnTo>
                    <a:pt x="890588" y="289656"/>
                  </a:lnTo>
                  <a:lnTo>
                    <a:pt x="942975" y="299169"/>
                  </a:lnTo>
                  <a:lnTo>
                    <a:pt x="995362" y="308128"/>
                  </a:lnTo>
                  <a:lnTo>
                    <a:pt x="1047750" y="316565"/>
                  </a:lnTo>
                  <a:lnTo>
                    <a:pt x="1100138" y="324511"/>
                  </a:lnTo>
                  <a:lnTo>
                    <a:pt x="1152525" y="331994"/>
                  </a:lnTo>
                  <a:lnTo>
                    <a:pt x="1204912" y="339042"/>
                  </a:lnTo>
                  <a:lnTo>
                    <a:pt x="1257300" y="345679"/>
                  </a:lnTo>
                  <a:lnTo>
                    <a:pt x="1309688" y="351929"/>
                  </a:lnTo>
                  <a:lnTo>
                    <a:pt x="1362075" y="357815"/>
                  </a:lnTo>
                  <a:lnTo>
                    <a:pt x="1414462" y="363359"/>
                  </a:lnTo>
                  <a:lnTo>
                    <a:pt x="1466850" y="368580"/>
                  </a:lnTo>
                  <a:lnTo>
                    <a:pt x="1519238" y="373497"/>
                  </a:lnTo>
                  <a:lnTo>
                    <a:pt x="1571625" y="378127"/>
                  </a:lnTo>
                  <a:lnTo>
                    <a:pt x="1624012" y="382488"/>
                  </a:lnTo>
                  <a:lnTo>
                    <a:pt x="1676400" y="386595"/>
                  </a:lnTo>
                  <a:lnTo>
                    <a:pt x="1728788" y="390462"/>
                  </a:lnTo>
                  <a:lnTo>
                    <a:pt x="1781175" y="394105"/>
                  </a:lnTo>
                  <a:lnTo>
                    <a:pt x="1833562" y="397535"/>
                  </a:lnTo>
                  <a:lnTo>
                    <a:pt x="1885950" y="400766"/>
                  </a:lnTo>
                  <a:lnTo>
                    <a:pt x="1938338" y="403808"/>
                  </a:lnTo>
                  <a:lnTo>
                    <a:pt x="1990725" y="406673"/>
                  </a:lnTo>
                  <a:lnTo>
                    <a:pt x="2043112" y="409372"/>
                  </a:lnTo>
                  <a:lnTo>
                    <a:pt x="2095500" y="411913"/>
                  </a:lnTo>
                </a:path>
              </a:pathLst>
            </a:custGeom>
            <a:noFill/>
            <a:ln w="24765" cap="rnd">
              <a:solidFill>
                <a:srgbClr val="33D6C0"/>
              </a:solidFill>
              <a:round/>
            </a:ln>
          </p:spPr>
        </p:sp>
        <p:sp>
          <p:nvSpPr>
            <p:cNvPr id="40" name="Ellipse 40"/>
            <p:cNvSpPr/>
            <p:nvPr/>
          </p:nvSpPr>
          <p:spPr>
            <a:xfrm>
              <a:off x="9395460" y="4393487"/>
              <a:ext cx="87630" cy="87630"/>
            </a:xfrm>
            <a:prstGeom prst="ellipse">
              <a:avLst/>
            </a:prstGeom>
            <a:solidFill>
              <a:srgbClr val="F4C24C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501188" y="4303238"/>
              <a:ext cx="426016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10" b="1" dirty="0">
                  <a:solidFill>
                    <a:srgbClr val="F4C24C"/>
                  </a:solidFill>
                  <a:latin typeface="+mn-lt"/>
                  <a:ea typeface="+mn-ea"/>
                  <a:cs typeface="+mn-cs"/>
                </a:rPr>
                <a:t>10 steps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105292" y="4578196"/>
              <a:ext cx="119920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710" b="1" dirty="0">
                  <a:solidFill>
                    <a:srgbClr val="33D6C0"/>
                  </a:solidFill>
                  <a:latin typeface="+mn-lt"/>
                  <a:ea typeface="+mn-ea"/>
                  <a:cs typeface="+mn-cs"/>
                </a:rPr>
                <a:t>50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933632" y="4228386"/>
              <a:ext cx="157981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710" b="1" dirty="0">
                  <a:solidFill>
                    <a:srgbClr val="727BA0"/>
                  </a:solidFill>
                  <a:latin typeface="+mn-lt"/>
                  <a:ea typeface="+mn-ea"/>
                  <a:cs typeface="+mn-cs"/>
                </a:rPr>
                <a:t>FID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357616" y="4885611"/>
              <a:ext cx="867596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710" b="1" dirty="0">
                  <a:solidFill>
                    <a:srgbClr val="727BA0"/>
                  </a:solidFill>
                  <a:latin typeface="+mn-lt"/>
                  <a:ea typeface="+mn-ea"/>
                  <a:cs typeface="+mn-cs"/>
                </a:rPr>
                <a:t>sampling steps -&gt;</a:t>
              </a:r>
            </a:p>
          </p:txBody>
        </p:sp>
      </p:grpSp>
      <p:sp>
        <p:nvSpPr>
          <p:cNvPr id="46" name="cue_s08_c1_two_ablations_illuminate_design_choi" title="cue_s08_c1_two_ablations_illuminate_design_choi" descr="cue_s08_c1_two_ablations_illuminate_design_choi Two ablations illuminate the design choices."/>
          <p:cNvSpPr/>
          <p:nvPr/>
        </p:nvSpPr>
        <p:spPr>
          <a:xfrm>
            <a:off x="609600" y="1504645"/>
            <a:ext cx="10972800" cy="990295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cue_s08_c2_first_middle_point_used_estimate" title="cue_s08_c2_first_middle_point_used_estimate" descr="cue_s08_c2_first_middle_point_used_estimate First, the middle point m, used to estimate the second-order term, produces a U-shaped FID curve: if the two points are too close, the estimate can't capture long-term change, and if they drift too near zero or one, the model struggles to score them, with the"/>
          <p:cNvSpPr/>
          <p:nvPr/>
        </p:nvSpPr>
        <p:spPr>
          <a:xfrm>
            <a:off x="609600" y="2723997"/>
            <a:ext cx="5334000" cy="2514828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cue_s08_c3_second_varying_sampling_steps_shows" title="cue_s08_c3_second_varying_sampling_steps_shows" descr="cue_s08_c3_second_varying_sampling_steps_shows Second, varying the sampling steps shows the method already produces well-matched images at just ten steps, improving modestly up to fifty."/>
          <p:cNvSpPr/>
          <p:nvPr/>
        </p:nvSpPr>
        <p:spPr>
          <a:xfrm>
            <a:off x="6248399" y="2723997"/>
            <a:ext cx="5334000" cy="2514828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09600" y="495300"/>
            <a:ext cx="47625" cy="247650"/>
          </a:xfrm>
          <a:prstGeom prst="roundRect">
            <a:avLst>
              <a:gd name="adj" fmla="val 40000"/>
            </a:avLst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3" name="TextBox 3"/>
          <p:cNvSpPr txBox="1"/>
          <p:nvPr/>
        </p:nvSpPr>
        <p:spPr>
          <a:xfrm>
            <a:off x="775335" y="564356"/>
            <a:ext cx="183437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spc="188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HEADLINE NUMBERS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98170" y="804862"/>
            <a:ext cx="3499821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2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The result in one place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609600" y="1581150"/>
            <a:ext cx="10972800" cy="1257300"/>
            <a:chOff x="609600" y="1581150"/>
            <a:chExt cx="10972800" cy="1257300"/>
          </a:xfrm>
        </p:grpSpPr>
        <p:sp>
          <p:nvSpPr>
            <p:cNvPr id="5" name="Rectangle 5"/>
            <p:cNvSpPr/>
            <p:nvPr/>
          </p:nvSpPr>
          <p:spPr>
            <a:xfrm>
              <a:off x="609600" y="1581150"/>
              <a:ext cx="10972800" cy="1257300"/>
            </a:xfrm>
            <a:prstGeom prst="roundRect">
              <a:avLst>
                <a:gd name="adj" fmla="val 10606"/>
              </a:avLst>
            </a:prstGeom>
            <a:solidFill>
              <a:srgbClr val="0F2E2B"/>
            </a:solidFill>
            <a:ln w="14288">
              <a:solidFill>
                <a:srgbClr val="46C98B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609600" y="1581150"/>
              <a:ext cx="57150" cy="1257300"/>
            </a:xfrm>
            <a:prstGeom prst="roundRect">
              <a:avLst>
                <a:gd name="adj" fmla="val 50000"/>
              </a:avLst>
            </a:prstGeom>
            <a:solidFill>
              <a:srgbClr val="46C98B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70014" y="1790462"/>
              <a:ext cx="3804747" cy="2420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40" b="1" dirty="0">
                  <a:solidFill>
                    <a:srgbClr val="46C98B"/>
                  </a:solidFill>
                  <a:latin typeface="+mn-lt"/>
                  <a:ea typeface="+mn-ea"/>
                  <a:cs typeface="+mn-cs"/>
                </a:rPr>
                <a:t>Best fidelity-alignment balance on MS-COCO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876300" y="2095500"/>
              <a:ext cx="2857500" cy="628650"/>
            </a:xfrm>
            <a:prstGeom prst="roundRect">
              <a:avLst>
                <a:gd name="adj" fmla="val 18182"/>
              </a:avLst>
            </a:prstGeom>
            <a:solidFill>
              <a:schemeClr val="accent6"/>
            </a:solidFill>
            <a:ln w="14288">
              <a:solidFill>
                <a:srgbClr val="343A70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506914" y="2240718"/>
              <a:ext cx="1596273" cy="3291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80" b="1" dirty="0">
                  <a:solidFill>
                    <a:srgbClr val="46C98B"/>
                  </a:solidFill>
                  <a:latin typeface="+mn-lt"/>
                  <a:ea typeface="+mn-ea"/>
                  <a:cs typeface="+mn-cs"/>
                </a:rPr>
                <a:t>15.28 / 26.11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749253" y="2497217"/>
              <a:ext cx="1111593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4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FID / CLIP (ICFG)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3905250" y="2095500"/>
              <a:ext cx="7677150" cy="628650"/>
            </a:xfrm>
            <a:prstGeom prst="roundRect">
              <a:avLst>
                <a:gd name="adj" fmla="val 18182"/>
              </a:avLst>
            </a:prstGeom>
            <a:solidFill>
              <a:schemeClr val="accent6"/>
            </a:solidFill>
            <a:ln w="14288">
              <a:solidFill>
                <a:srgbClr val="343A70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4090606" y="2252901"/>
              <a:ext cx="6447266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Second-order inner CFG beats plain classifier-free guidance on both metrics at once, w = 2 and v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090606" y="2443401"/>
              <a:ext cx="424984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= 1/4.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09600" y="2990850"/>
            <a:ext cx="5334000" cy="1450657"/>
            <a:chOff x="609600" y="2990850"/>
            <a:chExt cx="5334000" cy="1450657"/>
          </a:xfrm>
        </p:grpSpPr>
        <p:sp>
          <p:nvSpPr>
            <p:cNvPr id="15" name="Rectangle 15"/>
            <p:cNvSpPr/>
            <p:nvPr/>
          </p:nvSpPr>
          <p:spPr>
            <a:xfrm>
              <a:off x="609600" y="2990850"/>
              <a:ext cx="5334000" cy="1428750"/>
            </a:xfrm>
            <a:prstGeom prst="roundRect">
              <a:avLst>
                <a:gd name="adj" fmla="val 9333"/>
              </a:avLst>
            </a:prstGeom>
            <a:solidFill>
              <a:schemeClr val="accent5"/>
            </a:solidFill>
            <a:ln w="14288">
              <a:solidFill>
                <a:srgbClr val="343A70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609600" y="2990850"/>
              <a:ext cx="57150" cy="14287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70014" y="3219212"/>
              <a:ext cx="1648399" cy="2420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4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Middle-point sweep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876300" y="3505200"/>
              <a:ext cx="2247900" cy="762000"/>
            </a:xfrm>
            <a:prstGeom prst="roundRect">
              <a:avLst>
                <a:gd name="adj" fmla="val 15000"/>
              </a:avLst>
            </a:prstGeom>
            <a:solidFill>
              <a:schemeClr val="accent6"/>
            </a:solidFill>
            <a:ln w="14288">
              <a:solidFill>
                <a:srgbClr val="343A70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593397" y="3681222"/>
              <a:ext cx="813706" cy="398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04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15.42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730106" y="4013597"/>
              <a:ext cx="540288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4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best FID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3295650" y="3505200"/>
              <a:ext cx="2247900" cy="762000"/>
            </a:xfrm>
            <a:prstGeom prst="roundRect">
              <a:avLst>
                <a:gd name="adj" fmla="val 15000"/>
              </a:avLst>
            </a:prstGeom>
            <a:solidFill>
              <a:schemeClr val="accent6"/>
            </a:solidFill>
            <a:ln w="14288">
              <a:solidFill>
                <a:srgbClr val="343A70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897405" y="3681222"/>
              <a:ext cx="1044390" cy="398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040" b="1" dirty="0">
                  <a:solidFill>
                    <a:srgbClr val="33D6C0"/>
                  </a:solidFill>
                  <a:latin typeface="+mn-lt"/>
                  <a:ea typeface="+mn-ea"/>
                  <a:cs typeface="+mn-cs"/>
                </a:rPr>
                <a:t>m = 1.1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773740" y="4013597"/>
              <a:ext cx="1291720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4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optimal middle point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2038" y="4265295"/>
              <a:ext cx="258999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U-shaped FID over the estimator midpoint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248400" y="2990850"/>
            <a:ext cx="5334000" cy="1450657"/>
            <a:chOff x="6248400" y="2990850"/>
            <a:chExt cx="5334000" cy="1450657"/>
          </a:xfrm>
        </p:grpSpPr>
        <p:sp>
          <p:nvSpPr>
            <p:cNvPr id="26" name="Rectangle 26"/>
            <p:cNvSpPr/>
            <p:nvPr/>
          </p:nvSpPr>
          <p:spPr>
            <a:xfrm>
              <a:off x="6248400" y="2990850"/>
              <a:ext cx="5334000" cy="1428750"/>
            </a:xfrm>
            <a:prstGeom prst="roundRect">
              <a:avLst>
                <a:gd name="adj" fmla="val 9333"/>
              </a:avLst>
            </a:prstGeom>
            <a:solidFill>
              <a:srgbClr val="2A2417"/>
            </a:solidFill>
            <a:ln w="14288">
              <a:solidFill>
                <a:srgbClr val="F4C24C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6248400" y="2990850"/>
              <a:ext cx="57150" cy="1428750"/>
            </a:xfrm>
            <a:prstGeom prst="roundRect">
              <a:avLst>
                <a:gd name="adj" fmla="val 50000"/>
              </a:avLst>
            </a:prstGeom>
            <a:solidFill>
              <a:srgbClr val="F4C24C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509004" y="3223260"/>
              <a:ext cx="15806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F4C24C"/>
                  </a:solidFill>
                  <a:latin typeface="+mn-lt"/>
                  <a:ea typeface="+mn-ea"/>
                  <a:cs typeface="+mn-cs"/>
                </a:rPr>
                <a:t>U-ViT architecture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515100" y="3505200"/>
              <a:ext cx="2247900" cy="762000"/>
            </a:xfrm>
            <a:prstGeom prst="roundRect">
              <a:avLst>
                <a:gd name="adj" fmla="val 15000"/>
              </a:avLst>
            </a:prstGeom>
            <a:solidFill>
              <a:schemeClr val="accent6"/>
            </a:solidFill>
            <a:ln w="14288">
              <a:solidFill>
                <a:srgbClr val="343A70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958259" y="3681222"/>
              <a:ext cx="1361582" cy="398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040" b="1" dirty="0">
                  <a:solidFill>
                    <a:srgbClr val="F4C24C"/>
                  </a:solidFill>
                  <a:latin typeface="+mn-lt"/>
                  <a:ea typeface="+mn-ea"/>
                  <a:cs typeface="+mn-cs"/>
                </a:rPr>
                <a:t>low steps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960649" y="4013597"/>
              <a:ext cx="1356802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4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FID cut substantially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8934450" y="3505200"/>
              <a:ext cx="2247900" cy="762000"/>
            </a:xfrm>
            <a:prstGeom prst="roundRect">
              <a:avLst>
                <a:gd name="adj" fmla="val 15000"/>
              </a:avLst>
            </a:prstGeom>
            <a:solidFill>
              <a:schemeClr val="accent6"/>
            </a:solidFill>
            <a:ln w="14288">
              <a:solidFill>
                <a:srgbClr val="343A70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327147" y="3681222"/>
              <a:ext cx="1462507" cy="398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040" b="1" dirty="0">
                  <a:solidFill>
                    <a:srgbClr val="33D6C0"/>
                  </a:solidFill>
                  <a:latin typeface="+mn-lt"/>
                  <a:ea typeface="+mn-ea"/>
                  <a:cs typeface="+mn-cs"/>
                </a:rPr>
                <a:t>high steps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605025" y="4013597"/>
              <a:ext cx="906750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4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edges out CFG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700838" y="4265295"/>
              <a:ext cx="232435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class-conditional generation on U-ViT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609600" y="4572000"/>
            <a:ext cx="10972800" cy="666750"/>
            <a:chOff x="609600" y="4572000"/>
            <a:chExt cx="10972800" cy="666750"/>
          </a:xfrm>
        </p:grpSpPr>
        <p:sp>
          <p:nvSpPr>
            <p:cNvPr id="37" name="Rectangle 37"/>
            <p:cNvSpPr/>
            <p:nvPr/>
          </p:nvSpPr>
          <p:spPr>
            <a:xfrm>
              <a:off x="609600" y="4572000"/>
              <a:ext cx="10972800" cy="666750"/>
            </a:xfrm>
            <a:prstGeom prst="roundRect">
              <a:avLst>
                <a:gd name="adj" fmla="val 20000"/>
              </a:avLst>
            </a:prstGeom>
            <a:solidFill>
              <a:schemeClr val="accent5"/>
            </a:solidFill>
            <a:ln w="14288">
              <a:solidFill>
                <a:srgbClr val="343A70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609600" y="4572000"/>
              <a:ext cx="57150" cy="666750"/>
            </a:xfrm>
            <a:prstGeom prst="roundRect">
              <a:avLst>
                <a:gd name="adj" fmla="val 50000"/>
              </a:avLst>
            </a:prstGeom>
            <a:solidFill>
              <a:srgbClr val="46C98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70394" y="4732258"/>
              <a:ext cx="2197941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60" b="1" dirty="0">
                  <a:solidFill>
                    <a:srgbClr val="46C98B"/>
                  </a:solidFill>
                  <a:latin typeface="+mn-lt"/>
                  <a:ea typeface="+mn-ea"/>
                  <a:cs typeface="+mn-cs"/>
                </a:rPr>
                <a:t>And it costs almost nothing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71156" y="4977051"/>
              <a:ext cx="4978492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 few lines of code · one extra score evaluation · no change to training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8229600" y="4686300"/>
              <a:ext cx="3352800" cy="438150"/>
            </a:xfrm>
            <a:prstGeom prst="roundRect">
              <a:avLst>
                <a:gd name="adj" fmla="val 17391"/>
              </a:avLst>
            </a:prstGeom>
            <a:solidFill>
              <a:schemeClr val="accent6"/>
            </a:solidFill>
            <a:ln w="14288">
              <a:solidFill>
                <a:srgbClr val="343A70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470252" y="4849178"/>
              <a:ext cx="87149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beta = w + 1</a:t>
              </a:r>
            </a:p>
          </p:txBody>
        </p:sp>
      </p:grpSp>
      <p:sp>
        <p:nvSpPr>
          <p:cNvPr id="44" name="cue_s09_c1_few_numbers_take_away" title="cue_s09_c1_few_numbers_take_away" descr="cue_s09_c1_few_numbers_take_away A few numbers to take away."/>
          <p:cNvSpPr/>
          <p:nvPr/>
        </p:nvSpPr>
        <p:spPr>
          <a:xfrm>
            <a:off x="609600" y="1581454"/>
            <a:ext cx="10972800" cy="1257071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cue_s09_c2_best_fidelity_alignment_balance_ms_c" title="cue_s09_c2_best_fidelity_alignment_balance_ms_c" descr="cue_s09_c2_best_fidelity_alignment_balance_ms_c The best fidelity-alignment balance on MS-COCO is an FID of fifteen point two eight and a CLIP score of twenty six point one one, beating classifier-free guidance on both."/>
          <p:cNvSpPr/>
          <p:nvPr/>
        </p:nvSpPr>
        <p:spPr>
          <a:xfrm>
            <a:off x="609600" y="2990773"/>
            <a:ext cx="5334000" cy="1450467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cue_s09_c3_middle_point_sweep_best_fid_fifteen" title="cue_s09_c3_middle_point_sweep_best_fid_fifteen" descr="cue_s09_c3_middle_point_sweep_best_fid_fifteen In the middle-point sweep, the best FID is fifteen point four two at m equal to one point one."/>
          <p:cNvSpPr/>
          <p:nvPr/>
        </p:nvSpPr>
        <p:spPr>
          <a:xfrm>
            <a:off x="6248399" y="2990773"/>
            <a:ext cx="5334000" cy="1450467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cue_s09_c4_u_vit_inner_classifier_free_guidance" title="cue_s09_c4_u_vit_inner_classifier_free_guidance" descr="cue_s09_c4_u_vit_inner_classifier_free_guidance On U-ViT, inner classifier-free guidance cuts FID substantially at low sampling budgets and edges out CFG at high budgets. And all of it comes from a few lines of code, with no change to training."/>
          <p:cNvSpPr/>
          <p:nvPr/>
        </p:nvSpPr>
        <p:spPr>
          <a:xfrm>
            <a:off x="609600" y="4572228"/>
            <a:ext cx="10972800" cy="666597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09600" y="495300"/>
            <a:ext cx="47625" cy="247650"/>
          </a:xfrm>
          <a:prstGeom prst="roundRect">
            <a:avLst>
              <a:gd name="adj" fmla="val 40000"/>
            </a:avLst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3" name="TextBox 3"/>
          <p:cNvSpPr txBox="1"/>
          <p:nvPr/>
        </p:nvSpPr>
        <p:spPr>
          <a:xfrm>
            <a:off x="775335" y="564356"/>
            <a:ext cx="96807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spc="188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TAKEAWAY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98170" y="804862"/>
            <a:ext cx="5280759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2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The first slice of a bigger picture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609600" y="1676400"/>
            <a:ext cx="5334000" cy="1714500"/>
            <a:chOff x="609600" y="1676400"/>
            <a:chExt cx="5334000" cy="1714500"/>
          </a:xfrm>
        </p:grpSpPr>
        <p:sp>
          <p:nvSpPr>
            <p:cNvPr id="5" name="Rectangle 5"/>
            <p:cNvSpPr/>
            <p:nvPr/>
          </p:nvSpPr>
          <p:spPr>
            <a:xfrm>
              <a:off x="609600" y="1676400"/>
              <a:ext cx="5334000" cy="1714500"/>
            </a:xfrm>
            <a:prstGeom prst="roundRect">
              <a:avLst>
                <a:gd name="adj" fmla="val 7778"/>
              </a:avLst>
            </a:prstGeom>
            <a:solidFill>
              <a:schemeClr val="accent5"/>
            </a:solidFill>
            <a:ln w="14288">
              <a:solidFill>
                <a:srgbClr val="343A70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609600" y="1676400"/>
              <a:ext cx="57150" cy="17145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838200" y="1962150"/>
              <a:ext cx="190500" cy="19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55573" y="1862614"/>
              <a:ext cx="164707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The idea in one line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70966" y="2458402"/>
              <a:ext cx="44043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Guidance has more structure than a single scalar knob suggests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70966" y="2658428"/>
              <a:ext cx="217333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- and that structure is usable.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248400" y="1676400"/>
            <a:ext cx="5334000" cy="1714500"/>
            <a:chOff x="6248400" y="1676400"/>
            <a:chExt cx="5334000" cy="1714500"/>
          </a:xfrm>
        </p:grpSpPr>
        <p:sp>
          <p:nvSpPr>
            <p:cNvPr id="12" name="Rectangle 12"/>
            <p:cNvSpPr/>
            <p:nvPr/>
          </p:nvSpPr>
          <p:spPr>
            <a:xfrm>
              <a:off x="6248400" y="1676400"/>
              <a:ext cx="5334000" cy="1714500"/>
            </a:xfrm>
            <a:prstGeom prst="roundRect">
              <a:avLst>
                <a:gd name="adj" fmla="val 7778"/>
              </a:avLst>
            </a:prstGeom>
            <a:solidFill>
              <a:schemeClr val="accent5"/>
            </a:solidFill>
            <a:ln w="14288">
              <a:solidFill>
                <a:srgbClr val="343A70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6248400" y="1676400"/>
              <a:ext cx="57150" cy="1714500"/>
            </a:xfrm>
            <a:prstGeom prst="roundRect">
              <a:avLst>
                <a:gd name="adj" fmla="val 50000"/>
              </a:avLst>
            </a:prstGeom>
            <a:solidFill>
              <a:srgbClr val="33D6C0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6477000" y="1962150"/>
              <a:ext cx="190500" cy="190500"/>
            </a:xfrm>
            <a:prstGeom prst="ellipse">
              <a:avLst/>
            </a:prstGeom>
            <a:solidFill>
              <a:srgbClr val="33D6C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794373" y="1862614"/>
              <a:ext cx="200270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CFG is only first order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509766" y="2458402"/>
              <a:ext cx="40013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Classifier-free guidance is just the first-order slice of a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509766" y="2658428"/>
              <a:ext cx="33089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much richer Taylor picture of the guided score.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09600" y="3562350"/>
            <a:ext cx="5334000" cy="1714500"/>
            <a:chOff x="609600" y="3562350"/>
            <a:chExt cx="5334000" cy="1714500"/>
          </a:xfrm>
        </p:grpSpPr>
        <p:sp>
          <p:nvSpPr>
            <p:cNvPr id="19" name="Rectangle 19"/>
            <p:cNvSpPr/>
            <p:nvPr/>
          </p:nvSpPr>
          <p:spPr>
            <a:xfrm>
              <a:off x="609600" y="3562350"/>
              <a:ext cx="5334000" cy="1714500"/>
            </a:xfrm>
            <a:prstGeom prst="roundRect">
              <a:avLst>
                <a:gd name="adj" fmla="val 7778"/>
              </a:avLst>
            </a:prstGeom>
            <a:solidFill>
              <a:schemeClr val="accent5"/>
            </a:solidFill>
            <a:ln w="14288">
              <a:solidFill>
                <a:srgbClr val="343A70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609600" y="3562350"/>
              <a:ext cx="57150" cy="1714500"/>
            </a:xfrm>
            <a:prstGeom prst="roundRect">
              <a:avLst>
                <a:gd name="adj" fmla="val 50000"/>
              </a:avLst>
            </a:prstGeom>
            <a:solidFill>
              <a:srgbClr val="46C98B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838200" y="3848100"/>
              <a:ext cx="190500" cy="190500"/>
            </a:xfrm>
            <a:prstGeom prst="ellipse">
              <a:avLst/>
            </a:prstGeom>
            <a:solidFill>
              <a:srgbClr val="46C98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155573" y="3748564"/>
              <a:ext cx="229945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One extra term, for free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70966" y="4344352"/>
              <a:ext cx="41358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Add a single second-order term to the expansion in guidance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70966" y="4544378"/>
              <a:ext cx="41734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strength and you buy a better fidelity-diversity trade-off.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248400" y="3562350"/>
            <a:ext cx="5334000" cy="1714500"/>
            <a:chOff x="6248400" y="3562350"/>
            <a:chExt cx="5334000" cy="1714500"/>
          </a:xfrm>
        </p:grpSpPr>
        <p:sp>
          <p:nvSpPr>
            <p:cNvPr id="26" name="Rectangle 26"/>
            <p:cNvSpPr/>
            <p:nvPr/>
          </p:nvSpPr>
          <p:spPr>
            <a:xfrm>
              <a:off x="6248400" y="3562350"/>
              <a:ext cx="5334000" cy="1714500"/>
            </a:xfrm>
            <a:prstGeom prst="roundRect">
              <a:avLst>
                <a:gd name="adj" fmla="val 7778"/>
              </a:avLst>
            </a:prstGeom>
            <a:solidFill>
              <a:schemeClr val="accent5"/>
            </a:solidFill>
            <a:ln w="14288">
              <a:solidFill>
                <a:srgbClr val="343A70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6248400" y="3562350"/>
              <a:ext cx="57150" cy="1714500"/>
            </a:xfrm>
            <a:prstGeom prst="roundRect">
              <a:avLst>
                <a:gd name="adj" fmla="val 50000"/>
              </a:avLst>
            </a:prstGeom>
            <a:solidFill>
              <a:srgbClr val="F4C24C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6477000" y="3848100"/>
              <a:ext cx="190500" cy="190500"/>
            </a:xfrm>
            <a:prstGeom prst="ellipse">
              <a:avLst/>
            </a:prstGeom>
            <a:solidFill>
              <a:srgbClr val="F4C24C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794373" y="3748564"/>
              <a:ext cx="238871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Exploit the condition space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509766" y="4344352"/>
              <a:ext cx="38813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No retraining - just a scaled condition and a few lines of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509766" y="4544378"/>
              <a:ext cx="40250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code - pointing toward the continuous structure plain CFG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509766" y="4744402"/>
              <a:ext cx="9647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throws away.</a:t>
              </a:r>
            </a:p>
          </p:txBody>
        </p:sp>
      </p:grpSp>
      <p:sp>
        <p:nvSpPr>
          <p:cNvPr id="34" name="Line 34"/>
          <p:cNvSpPr/>
          <p:nvPr/>
        </p:nvSpPr>
        <p:spPr>
          <a:xfrm>
            <a:off x="609600" y="55626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 cap="rnd">
            <a:solidFill>
              <a:srgbClr val="343A70"/>
            </a:solidFill>
          </a:ln>
        </p:spPr>
        <p:txBody>
          <a:bodyPr/>
          <a:p/>
        </p:txBody>
      </p:sp>
      <p:sp>
        <p:nvSpPr>
          <p:cNvPr id="35" name="Line 35"/>
          <p:cNvSpPr/>
          <p:nvPr/>
        </p:nvSpPr>
        <p:spPr>
          <a:xfrm>
            <a:off x="1047369" y="6216777"/>
            <a:ext cx="762762" cy="9525"/>
          </a:xfrm>
          <a:custGeom>
            <a:avLst/>
            <a:gdLst/>
            <a:ahLst/>
            <a:cxnLst/>
            <a:rect l="l" t="t" r="r" b="b"/>
            <a:pathLst>
              <a:path w="762762" h="9525">
                <a:moveTo>
                  <a:pt x="0" y="0"/>
                </a:moveTo>
                <a:lnTo>
                  <a:pt x="762762" y="0"/>
                </a:lnTo>
              </a:path>
            </a:pathLst>
          </a:custGeom>
          <a:noFill/>
          <a:ln w="13335" cap="rnd">
            <a:solidFill>
              <a:srgbClr val="343A70"/>
            </a:solidFill>
          </a:ln>
        </p:spPr>
        <p:txBody>
          <a:bodyPr/>
          <a:p/>
        </p:txBody>
      </p:sp>
      <p:sp>
        <p:nvSpPr>
          <p:cNvPr id="36" name="Line 36"/>
          <p:cNvSpPr/>
          <p:nvPr/>
        </p:nvSpPr>
        <p:spPr>
          <a:xfrm>
            <a:off x="1047369" y="5822823"/>
            <a:ext cx="9525" cy="393954"/>
          </a:xfrm>
          <a:custGeom>
            <a:avLst/>
            <a:gdLst/>
            <a:ahLst/>
            <a:cxnLst/>
            <a:rect l="l" t="t" r="r" b="b"/>
            <a:pathLst>
              <a:path w="9525" h="393954">
                <a:moveTo>
                  <a:pt x="0" y="393954"/>
                </a:moveTo>
                <a:lnTo>
                  <a:pt x="0" y="0"/>
                </a:lnTo>
              </a:path>
            </a:pathLst>
          </a:custGeom>
          <a:noFill/>
          <a:ln w="13335" cap="rnd">
            <a:solidFill>
              <a:srgbClr val="343A70"/>
            </a:solidFill>
          </a:ln>
        </p:spPr>
        <p:txBody>
          <a:bodyPr/>
          <a:p/>
        </p:txBody>
      </p:sp>
      <p:sp>
        <p:nvSpPr>
          <p:cNvPr id="37" name="Polyline 37"/>
          <p:cNvSpPr/>
          <p:nvPr/>
        </p:nvSpPr>
        <p:spPr>
          <a:xfrm>
            <a:off x="1047369" y="5854339"/>
            <a:ext cx="762762" cy="299405"/>
          </a:xfrm>
          <a:custGeom>
            <a:avLst/>
            <a:gdLst/>
            <a:ahLst/>
            <a:cxnLst/>
            <a:rect l="l" t="t" r="r" b="b"/>
            <a:pathLst>
              <a:path w="762762" h="299405">
                <a:moveTo>
                  <a:pt x="0" y="299405"/>
                </a:moveTo>
                <a:lnTo>
                  <a:pt x="31782" y="298885"/>
                </a:lnTo>
                <a:lnTo>
                  <a:pt x="63563" y="297326"/>
                </a:lnTo>
                <a:lnTo>
                  <a:pt x="95345" y="294727"/>
                </a:lnTo>
                <a:lnTo>
                  <a:pt x="127127" y="291088"/>
                </a:lnTo>
                <a:lnTo>
                  <a:pt x="158909" y="286410"/>
                </a:lnTo>
                <a:lnTo>
                  <a:pt x="190691" y="280692"/>
                </a:lnTo>
                <a:lnTo>
                  <a:pt x="222472" y="273935"/>
                </a:lnTo>
                <a:lnTo>
                  <a:pt x="254254" y="266138"/>
                </a:lnTo>
                <a:lnTo>
                  <a:pt x="286036" y="257301"/>
                </a:lnTo>
                <a:lnTo>
                  <a:pt x="317818" y="247425"/>
                </a:lnTo>
                <a:lnTo>
                  <a:pt x="349599" y="236509"/>
                </a:lnTo>
                <a:lnTo>
                  <a:pt x="381381" y="224554"/>
                </a:lnTo>
                <a:lnTo>
                  <a:pt x="413163" y="211559"/>
                </a:lnTo>
                <a:lnTo>
                  <a:pt x="444945" y="197524"/>
                </a:lnTo>
                <a:lnTo>
                  <a:pt x="476726" y="182450"/>
                </a:lnTo>
                <a:lnTo>
                  <a:pt x="508508" y="166336"/>
                </a:lnTo>
                <a:lnTo>
                  <a:pt x="540290" y="149183"/>
                </a:lnTo>
                <a:lnTo>
                  <a:pt x="572072" y="130990"/>
                </a:lnTo>
                <a:lnTo>
                  <a:pt x="603853" y="111757"/>
                </a:lnTo>
                <a:lnTo>
                  <a:pt x="635635" y="91485"/>
                </a:lnTo>
                <a:lnTo>
                  <a:pt x="667417" y="70173"/>
                </a:lnTo>
                <a:lnTo>
                  <a:pt x="699198" y="47822"/>
                </a:lnTo>
                <a:lnTo>
                  <a:pt x="730980" y="24431"/>
                </a:lnTo>
                <a:lnTo>
                  <a:pt x="762762" y="0"/>
                </a:lnTo>
              </a:path>
            </a:pathLst>
          </a:custGeom>
          <a:noFill/>
          <a:ln w="26670" cap="rnd">
            <a:solidFill>
              <a:schemeClr val="accent2"/>
            </a:solidFill>
            <a:round/>
          </a:ln>
        </p:spPr>
        <p:txBody>
          <a:bodyPr/>
          <a:p/>
        </p:txBody>
      </p:sp>
      <p:sp>
        <p:nvSpPr>
          <p:cNvPr id="38" name="Line 38"/>
          <p:cNvSpPr/>
          <p:nvPr/>
        </p:nvSpPr>
        <p:spPr>
          <a:xfrm>
            <a:off x="1123645" y="5935179"/>
            <a:ext cx="671231" cy="263476"/>
          </a:xfrm>
          <a:custGeom>
            <a:avLst/>
            <a:gdLst/>
            <a:ahLst/>
            <a:cxnLst/>
            <a:rect l="l" t="t" r="r" b="b"/>
            <a:pathLst>
              <a:path w="671231" h="263476">
                <a:moveTo>
                  <a:pt x="0" y="263476"/>
                </a:moveTo>
                <a:lnTo>
                  <a:pt x="671231" y="0"/>
                </a:lnTo>
              </a:path>
            </a:pathLst>
          </a:custGeom>
          <a:noFill/>
          <a:ln w="17145" cap="rnd">
            <a:solidFill>
              <a:srgbClr val="F4C24C"/>
            </a:solidFill>
            <a:custDash>
              <a:ds d="333333" sp="222222"/>
            </a:custDash>
          </a:ln>
        </p:spPr>
        <p:txBody>
          <a:bodyPr/>
          <a:p/>
        </p:txBody>
      </p:sp>
      <p:sp>
        <p:nvSpPr>
          <p:cNvPr id="39" name="Ellipse 39"/>
          <p:cNvSpPr/>
          <p:nvPr/>
        </p:nvSpPr>
        <p:spPr>
          <a:xfrm>
            <a:off x="1384935" y="6035078"/>
            <a:ext cx="87630" cy="87630"/>
          </a:xfrm>
          <a:prstGeom prst="ellipse">
            <a:avLst/>
          </a:prstGeom>
          <a:solidFill>
            <a:srgbClr val="F4C24C"/>
          </a:solidFill>
          <a:ln>
            <a:noFill/>
          </a:ln>
        </p:spPr>
        <p:txBody>
          <a:bodyPr/>
          <a:p/>
        </p:txBody>
      </p:sp>
      <p:sp>
        <p:nvSpPr>
          <p:cNvPr id="40" name="Line 40"/>
          <p:cNvSpPr/>
          <p:nvPr/>
        </p:nvSpPr>
        <p:spPr>
          <a:xfrm>
            <a:off x="1733855" y="5911226"/>
            <a:ext cx="9525" cy="47905"/>
          </a:xfrm>
          <a:custGeom>
            <a:avLst/>
            <a:gdLst/>
            <a:ahLst/>
            <a:cxnLst/>
            <a:rect l="l" t="t" r="r" b="b"/>
            <a:pathLst>
              <a:path w="9525" h="47905">
                <a:moveTo>
                  <a:pt x="0" y="47905"/>
                </a:moveTo>
                <a:lnTo>
                  <a:pt x="0" y="0"/>
                </a:lnTo>
              </a:path>
            </a:pathLst>
          </a:custGeom>
          <a:noFill/>
          <a:ln w="20955" cap="rnd">
            <a:solidFill>
              <a:srgbClr val="33D6C0"/>
            </a:solidFill>
          </a:ln>
        </p:spPr>
        <p:txBody>
          <a:bodyPr/>
          <a:p/>
        </p:txBody>
      </p:sp>
      <p:sp>
        <p:nvSpPr>
          <p:cNvPr id="41" name="TextBox 41"/>
          <p:cNvSpPr txBox="1"/>
          <p:nvPr/>
        </p:nvSpPr>
        <p:spPr>
          <a:xfrm>
            <a:off x="1795767" y="5940894"/>
            <a:ext cx="79494" cy="619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00" b="1" dirty="0">
                <a:solidFill>
                  <a:srgbClr val="33D6C0"/>
                </a:solidFill>
                <a:latin typeface="+mn-lt"/>
                <a:ea typeface="+mn-ea"/>
                <a:cs typeface="+mn-cs"/>
              </a:rPr>
              <a:t>2nd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134138" y="6084082"/>
            <a:ext cx="343747" cy="619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00" b="1" dirty="0">
                <a:solidFill>
                  <a:srgbClr val="F4C24C"/>
                </a:solidFill>
                <a:latin typeface="+mn-lt"/>
                <a:ea typeface="+mn-ea"/>
                <a:cs typeface="+mn-cs"/>
              </a:rPr>
              <a:t>CFG (1st order)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271435" y="5897891"/>
            <a:ext cx="96896" cy="619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0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ICFG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712077" y="6317742"/>
            <a:ext cx="102817" cy="619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300" b="1" dirty="0">
                <a:solidFill>
                  <a:srgbClr val="727BA0"/>
                </a:solidFill>
                <a:latin typeface="+mn-lt"/>
                <a:ea typeface="+mn-ea"/>
                <a:cs typeface="+mn-cs"/>
              </a:rPr>
              <a:t>beta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6402661" y="5906452"/>
            <a:ext cx="518507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b="1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ICFG · Inner Classifier-Free Guidance &amp; its Taylor Expansion · ICLR 2024</a:t>
            </a:r>
          </a:p>
        </p:txBody>
      </p:sp>
      <p:sp>
        <p:nvSpPr>
          <p:cNvPr id="46" name="cue_s10_c1_takeaway_simple" title="cue_s10_c1_takeaway_simple" descr="cue_s10_c1_takeaway_simple The takeaway is simple."/>
          <p:cNvSpPr/>
          <p:nvPr/>
        </p:nvSpPr>
        <p:spPr>
          <a:xfrm>
            <a:off x="609600" y="1676095"/>
            <a:ext cx="5334000" cy="1714500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cue_s10_c2_classifier_free_guidance_just_first" title="cue_s10_c2_classifier_free_guidance_just_first" descr="cue_s10_c2_classifier_free_guidance_just_first Classifier-free guidance is just the first-order slice of a richer picture."/>
          <p:cNvSpPr/>
          <p:nvPr/>
        </p:nvSpPr>
        <p:spPr>
          <a:xfrm>
            <a:off x="6248399" y="1676095"/>
            <a:ext cx="5334000" cy="1714500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cue_s10_c3_treat_guided_score_taylor_expansion" title="cue_s10_c3_treat_guided_score_taylor_expansion" descr="cue_s10_c3_treat_guided_score_taylor_expansion Treat the guided score as a Taylor expansion in the guidance strength, and a single extra second-order term buys you a better fidelity-diversity trade-off."/>
          <p:cNvSpPr/>
          <p:nvPr/>
        </p:nvSpPr>
        <p:spPr>
          <a:xfrm>
            <a:off x="609600" y="3562045"/>
            <a:ext cx="5334000" cy="1714500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cue_s10_c4_needs_retraining_only_scaled_conditi" title="cue_s10_c4_needs_retraining_only_scaled_conditi" descr="cue_s10_c4_needs_retraining_only_scaled_conditi It needs no retraining, only a scaled condition and a few lines of code, and it points toward exploiting the continuous condition structure that plain CFG throws away."/>
          <p:cNvSpPr/>
          <p:nvPr/>
        </p:nvSpPr>
        <p:spPr>
          <a:xfrm>
            <a:off x="6248399" y="3562045"/>
            <a:ext cx="5334000" cy="1714500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deck">
  <a:themeElements>
    <a:clrScheme name="deck">
      <a:dk1>
        <a:srgbClr val="EAF0FB"/>
      </a:dk1>
      <a:lt1>
        <a:srgbClr val="0C1024"/>
      </a:lt1>
      <a:dk2>
        <a:srgbClr val="A5AECF"/>
      </a:dk2>
      <a:lt2>
        <a:srgbClr val="0C1024"/>
      </a:lt2>
      <a:accent1>
        <a:srgbClr val="9B8CFF"/>
      </a:accent1>
      <a:accent2>
        <a:srgbClr val="9B8CFF"/>
      </a:accent2>
      <a:accent3>
        <a:srgbClr val="9B8CFF"/>
      </a:accent3>
      <a:accent4>
        <a:srgbClr val="8064A2"/>
      </a:accent4>
      <a:accent5>
        <a:srgbClr val="161A38"/>
      </a:accent5>
      <a:accent6>
        <a:srgbClr val="1E2450"/>
      </a:accent6>
      <a:hlink>
        <a:srgbClr val="9B8CFF"/>
      </a:hlink>
      <a:folHlink>
        <a:srgbClr val="9B8CFF"/>
      </a:folHlink>
    </a:clrScheme>
    <a:fontScheme name="deck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2026-07-17T15:53:00Z</dcterms:created>
  <dcterms:modified xsi:type="dcterms:W3CDTF">2026-07-17T15:53:00Z</dcterms:modified>
  <cp:category/>
  <cp:contentStatus/>
</cp:coreProperties>
</file>
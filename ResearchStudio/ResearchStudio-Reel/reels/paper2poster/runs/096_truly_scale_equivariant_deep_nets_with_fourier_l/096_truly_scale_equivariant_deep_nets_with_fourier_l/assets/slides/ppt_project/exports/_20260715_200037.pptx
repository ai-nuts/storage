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ree 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266" y="572452"/>
            <a:ext cx="13193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NEURIPS 2023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91635" y="572452"/>
            <a:ext cx="12960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Purdue University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8382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rnd">
            <a:solidFill>
              <a:srgbClr val="26455F"/>
            </a:solidFill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592836" y="1243965"/>
            <a:ext cx="775810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Truly Scale-Equivariant Deep Nets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2836" y="1739265"/>
            <a:ext cx="4564826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3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with Fourier Layers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3123" y="2357914"/>
            <a:ext cx="716503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Md Ashiqur Rahman · Raymond A. Yeh — Dept. of Computer Science, Purdue University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09600" y="2952750"/>
            <a:ext cx="3505200" cy="1866900"/>
            <a:chOff x="609600" y="2952750"/>
            <a:chExt cx="3505200" cy="1866900"/>
          </a:xfrm>
        </p:grpSpPr>
        <p:sp>
          <p:nvSpPr>
            <p:cNvPr id="8" name="Rectangle 8"/>
            <p:cNvSpPr/>
            <p:nvPr/>
          </p:nvSpPr>
          <p:spPr>
            <a:xfrm>
              <a:off x="609600" y="2952750"/>
              <a:ext cx="3505200" cy="1866900"/>
            </a:xfrm>
            <a:prstGeom prst="roundRect">
              <a:avLst>
                <a:gd name="adj" fmla="val 7143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295275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09625" y="33051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9180" y="3267075"/>
              <a:ext cx="19682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Scale-Equivariance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707606"/>
              <a:ext cx="26024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Resize an object and the network's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2485" y="3945731"/>
              <a:ext cx="3132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features transform consistently while its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2485" y="4183856"/>
              <a:ext cx="1594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label stays the same.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305300" y="2952750"/>
            <a:ext cx="3505200" cy="1866900"/>
            <a:chOff x="4305300" y="2952750"/>
            <a:chExt cx="3505200" cy="1866900"/>
          </a:xfrm>
        </p:grpSpPr>
        <p:sp>
          <p:nvSpPr>
            <p:cNvPr id="16" name="Rectangle 16"/>
            <p:cNvSpPr/>
            <p:nvPr/>
          </p:nvSpPr>
          <p:spPr>
            <a:xfrm>
              <a:off x="4305300" y="2952750"/>
              <a:ext cx="3505200" cy="1866900"/>
            </a:xfrm>
            <a:prstGeom prst="roundRect">
              <a:avLst>
                <a:gd name="adj" fmla="val 7143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305300" y="295275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4505325" y="3305175"/>
              <a:ext cx="133350" cy="133350"/>
            </a:xfrm>
            <a:prstGeom prst="ellipse">
              <a:avLst/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754880" y="3267075"/>
              <a:ext cx="7857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gap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28185" y="3707606"/>
              <a:ext cx="27597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Prior scale-equivariant CNNs are only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28185" y="3945731"/>
              <a:ext cx="3064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approximately equivariant: derived in the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8185" y="4183856"/>
              <a:ext cx="3072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continuous domain, blind to anti-aliasing.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001000" y="2952750"/>
            <a:ext cx="3505200" cy="1866900"/>
            <a:chOff x="8001000" y="2952750"/>
            <a:chExt cx="3505200" cy="1866900"/>
          </a:xfrm>
        </p:grpSpPr>
        <p:sp>
          <p:nvSpPr>
            <p:cNvPr id="24" name="Rectangle 24"/>
            <p:cNvSpPr/>
            <p:nvPr/>
          </p:nvSpPr>
          <p:spPr>
            <a:xfrm>
              <a:off x="8001000" y="2952750"/>
              <a:ext cx="3505200" cy="1866900"/>
            </a:xfrm>
            <a:prstGeom prst="roundRect">
              <a:avLst>
                <a:gd name="adj" fmla="val 7143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001000" y="295275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201025" y="3305175"/>
              <a:ext cx="133350" cy="13335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50580" y="3267075"/>
              <a:ext cx="10081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This work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23885" y="3707606"/>
              <a:ext cx="28886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Formulate down-scaling in the discrete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23885" y="3945731"/>
              <a:ext cx="27754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domain with anti-aliasing, via Fourier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23885" y="4183856"/>
              <a:ext cx="3155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layers → absolute zero equivariance error.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609600" y="52197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rnd">
            <a:solidFill>
              <a:srgbClr val="26455F"/>
            </a:solidFill>
          </a:ln>
        </p:spPr>
        <p:txBody>
          <a:bodyPr/>
          <a:p/>
        </p:txBody>
      </p:sp>
      <p:sp>
        <p:nvSpPr>
          <p:cNvPr id="33" name="TextBox 33"/>
          <p:cNvSpPr txBox="1"/>
          <p:nvPr/>
        </p:nvSpPr>
        <p:spPr>
          <a:xfrm>
            <a:off x="603123" y="5424964"/>
            <a:ext cx="942726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Zero equivariance error — in theory and in practice — while staying competitive on classification accuracy.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04266" y="5906452"/>
            <a:ext cx="12940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arXiv:2311.02922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52166" y="5906452"/>
            <a:ext cx="39201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github.com/ashiq24/Scale_Equivarinat_Fourier_Layer</a:t>
            </a:r>
          </a:p>
        </p:txBody>
      </p:sp>
      <p:sp>
        <p:nvSpPr>
          <p:cNvPr id="36" name="cue_s01_c1_computer_vision_models_should_adapt" title="cue_s01_c1_computer_vision_models_should_adapt" descr="cue_s01_c1_computer_vision_models_should_adapt In computer vision, models should adapt gracefully when image resolution changes, a property called scale-equivariance."/>
          <p:cNvSpPr/>
          <p:nvPr/>
        </p:nvSpPr>
        <p:spPr>
          <a:xfrm>
            <a:off x="609600" y="2953054"/>
            <a:ext cx="3505199" cy="18667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ue_s01_c2_purdue_university_points_out_existin" title="cue_s01_c2_purdue_university_points_out_existin" descr="cue_s01_c2_purdue_university_points_out_existin This paper, from Purdue University, points out that existing scale-equivariant CNNs are not truly scale-equivariant, because they formulate down-scaling in the continuous domain and ignore anti-aliasing."/>
          <p:cNvSpPr/>
          <p:nvPr/>
        </p:nvSpPr>
        <p:spPr>
          <a:xfrm>
            <a:off x="4304995" y="2953054"/>
            <a:ext cx="3505199" cy="18667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ue_s01_c3_authors_instead_formulate_down_scali" title="cue_s01_c3_authors_instead_formulate_down_scali" descr="cue_s01_c3_authors_instead_formulate_down_scali The authors instead formulate down-scaling directly in the discrete domain with anti-aliasing, and build a new family of deep nets from Fourier layers that achieves absolute zero equivariance error, both in theory and in practice, while staying competitive on"/>
          <p:cNvSpPr/>
          <p:nvPr/>
        </p:nvSpPr>
        <p:spPr>
          <a:xfrm>
            <a:off x="8000390" y="2953054"/>
            <a:ext cx="3505199" cy="18667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8827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620310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Approximately equivariant, not truly so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09600" y="1504950"/>
            <a:ext cx="3930551" cy="3733800"/>
            <a:chOff x="609600" y="1504950"/>
            <a:chExt cx="3930551" cy="373380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3848100" cy="3733800"/>
            </a:xfrm>
            <a:prstGeom prst="roundRect">
              <a:avLst>
                <a:gd name="adj" fmla="val 3571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38481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9061" y="1808321"/>
              <a:ext cx="27409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What is scale-equivariance?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204" y="2213610"/>
              <a:ext cx="2974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When an object in an image is resized,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204" y="2461260"/>
              <a:ext cx="33399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network's features should transform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0204" y="2708910"/>
              <a:ext cx="2944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consistently — and its predicted label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0204" y="29565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should not change.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76300" y="3352800"/>
              <a:ext cx="1143000" cy="1143000"/>
            </a:xfrm>
            <a:prstGeom prst="roundRect">
              <a:avLst>
                <a:gd name="adj" fmla="val 8333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71320" y="3582352"/>
              <a:ext cx="35295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85797" y="3628549"/>
              <a:ext cx="4324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resize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133600" y="3848100"/>
              <a:ext cx="914400" cy="9525"/>
            </a:xfrm>
            <a:custGeom>
              <a:avLst/>
              <a:gdLst/>
              <a:ahLst/>
              <a:cxnLst/>
              <a:rect l="l" t="t" r="r" b="b"/>
              <a:pathLst>
                <a:path w="914400" h="9525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prstDash val="dash"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040380" y="37433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200400" y="3581400"/>
              <a:ext cx="685800" cy="685800"/>
            </a:xfrm>
            <a:prstGeom prst="roundRect">
              <a:avLst>
                <a:gd name="adj" fmla="val 13889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437816" y="37795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0966" y="4725352"/>
              <a:ext cx="36691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features transform consistently · label stays “8”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762500" y="1504950"/>
            <a:ext cx="6819900" cy="1028700"/>
            <a:chOff x="4762500" y="1504950"/>
            <a:chExt cx="6819900" cy="1028700"/>
          </a:xfrm>
        </p:grpSpPr>
        <p:sp>
          <p:nvSpPr>
            <p:cNvPr id="21" name="Rectangle 21"/>
            <p:cNvSpPr/>
            <p:nvPr/>
          </p:nvSpPr>
          <p:spPr>
            <a:xfrm>
              <a:off x="4762500" y="1504950"/>
              <a:ext cx="6819900" cy="1028700"/>
            </a:xfrm>
            <a:prstGeom prst="roundRect">
              <a:avLst>
                <a:gd name="adj" fmla="val 12963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022723" y="1729264"/>
              <a:ext cx="37391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 · How prior scale-equivariant CNNs work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23485" y="2050256"/>
              <a:ext cx="49017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They share weights and resize the same kernel across scales — one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23485" y="2278856"/>
              <a:ext cx="29439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kernel, re-scaled for every resolution.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62500" y="2647950"/>
            <a:ext cx="6819900" cy="1028700"/>
            <a:chOff x="4762500" y="2647950"/>
            <a:chExt cx="6819900" cy="1028700"/>
          </a:xfrm>
        </p:grpSpPr>
        <p:sp>
          <p:nvSpPr>
            <p:cNvPr id="26" name="Rectangle 26"/>
            <p:cNvSpPr/>
            <p:nvPr/>
          </p:nvSpPr>
          <p:spPr>
            <a:xfrm>
              <a:off x="4762500" y="2647950"/>
              <a:ext cx="6819900" cy="1028700"/>
            </a:xfrm>
            <a:prstGeom prst="roundRect">
              <a:avLst>
                <a:gd name="adj" fmla="val 12963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022723" y="2872264"/>
              <a:ext cx="17210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2 · Where it breaks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23485" y="3193256"/>
              <a:ext cx="52482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resizing is derived in the continuous domain, then discretized when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23485" y="3421856"/>
              <a:ext cx="25218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it is actually implemented in code.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762500" y="3790950"/>
            <a:ext cx="6819900" cy="1447800"/>
            <a:chOff x="4762500" y="3790950"/>
            <a:chExt cx="6819900" cy="1447800"/>
          </a:xfrm>
        </p:grpSpPr>
        <p:sp>
          <p:nvSpPr>
            <p:cNvPr id="31" name="Rectangle 31"/>
            <p:cNvSpPr/>
            <p:nvPr/>
          </p:nvSpPr>
          <p:spPr>
            <a:xfrm>
              <a:off x="4762500" y="3790950"/>
              <a:ext cx="6819900" cy="1447800"/>
            </a:xfrm>
            <a:prstGeom prst="roundRect">
              <a:avLst>
                <a:gd name="adj" fmla="val 9211"/>
              </a:avLst>
            </a:prstGeom>
            <a:solidFill>
              <a:srgbClr val="2A1720"/>
            </a:solidFill>
            <a:ln w="14288">
              <a:solidFill>
                <a:srgbClr val="F2685C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762500" y="3790950"/>
              <a:ext cx="57150" cy="1447800"/>
            </a:xfrm>
            <a:prstGeom prst="roundRect">
              <a:avLst>
                <a:gd name="adj" fmla="val 50000"/>
              </a:avLst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022723" y="4034314"/>
              <a:ext cx="4307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3 · The cost: a non-negligible equivariance error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023485" y="4355306"/>
              <a:ext cx="52105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That discretization step injects a residual error, so the networks are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23485" y="4583906"/>
              <a:ext cx="40295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only approximately scale-equivariant — never truly so.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23104" y="4975860"/>
              <a:ext cx="18587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685C"/>
                  </a:solidFill>
                  <a:latin typeface="Consolas"/>
                  <a:ea typeface="Consolas"/>
                  <a:cs typeface="Consolas"/>
                </a:rPr>
                <a:t>Equivariance error &gt; 0</a:t>
              </a:r>
            </a:p>
          </p:txBody>
        </p:sp>
      </p:grpSp>
      <p:sp>
        <p:nvSpPr>
          <p:cNvPr id="38" name="cue_s02_c1_scale_equivariance_means_when_object" title="cue_s02_c1_scale_equivariance_means_when_object" descr="cue_s02_c1_scale_equivariance_means_when_object Scale-equivariance means that when an object in an image is resized, the network's features should transform consistently, and its label should stay the same."/>
          <p:cNvSpPr/>
          <p:nvPr/>
        </p:nvSpPr>
        <p:spPr>
          <a:xfrm>
            <a:off x="609600" y="1504645"/>
            <a:ext cx="3930700" cy="37334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ue_s02_c2_recent_scale_equivariant_convolution" title="cue_s02_c2_recent_scale_equivariant_convolution" descr="cue_s02_c2_recent_scale_equivariant_convolution Recent scale-equivariant convolutional networks pursue this through weight-sharing and kernel resizing, using the same but resized kernel across scales."/>
          <p:cNvSpPr/>
          <p:nvPr/>
        </p:nvSpPr>
        <p:spPr>
          <a:xfrm>
            <a:off x="4762195" y="1504645"/>
            <a:ext cx="6820204" cy="10287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ue_s02_c3_trouble_these_methods_derived_contin" title="cue_s02_c3_trouble_these_methods_derived_contin" descr="cue_s02_c3_trouble_these_methods_derived_contin The trouble is that these methods are derived in the continuous domain, then discretized when implemented."/>
          <p:cNvSpPr/>
          <p:nvPr/>
        </p:nvSpPr>
        <p:spPr>
          <a:xfrm>
            <a:off x="4762195" y="2647873"/>
            <a:ext cx="6820204" cy="10287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ue_s02_c4_discretization_step_introduces_non_n" title="cue_s02_c4_discretization_step_introduces_non_n" descr="cue_s02_c4_discretization_step_introduces_non_n That discretization step introduces a non-negligible equivariance error, so the networks are only approximately scale-equivariant, not truly so."/>
          <p:cNvSpPr/>
          <p:nvPr/>
        </p:nvSpPr>
        <p:spPr>
          <a:xfrm>
            <a:off x="4762195" y="3791102"/>
            <a:ext cx="6820204" cy="14477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118883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MOTIVATION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680747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Down-scaling is a signal-processing problem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09600" y="1504950"/>
            <a:ext cx="10972800" cy="800100"/>
            <a:chOff x="609600" y="1504950"/>
            <a:chExt cx="10972800" cy="80010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10972800" cy="8001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80010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585" y="1745456"/>
              <a:ext cx="10068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12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Key insight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823" y="1995964"/>
              <a:ext cx="105038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Down-scaling a discrete signal is fundamentally a signal-processing operation — not a continuous re-parameterization.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2457450"/>
            <a:ext cx="5334000" cy="2781300"/>
            <a:chOff x="609600" y="2457450"/>
            <a:chExt cx="5334000" cy="2781300"/>
          </a:xfrm>
        </p:grpSpPr>
        <p:sp>
          <p:nvSpPr>
            <p:cNvPr id="10" name="Rectangle 10"/>
            <p:cNvSpPr/>
            <p:nvPr/>
          </p:nvSpPr>
          <p:spPr>
            <a:xfrm>
              <a:off x="609600" y="2457450"/>
              <a:ext cx="5334000" cy="2781300"/>
            </a:xfrm>
            <a:prstGeom prst="roundRect">
              <a:avLst>
                <a:gd name="adj" fmla="val 4795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69823" y="2681764"/>
              <a:ext cx="32756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Nyquist: filter before you subsample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990600" y="44767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19050" cap="rnd">
              <a:solidFill>
                <a:schemeClr val="dk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77963" y="4589145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freq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990600" y="3257550"/>
              <a:ext cx="4572000" cy="1219200"/>
            </a:xfrm>
            <a:custGeom>
              <a:avLst/>
              <a:gdLst/>
              <a:ahLst/>
              <a:cxnLst/>
              <a:rect l="l" t="t" r="r" b="b"/>
              <a:pathLst>
                <a:path w="4572000" h="1219200">
                  <a:moveTo>
                    <a:pt x="0" y="1219200"/>
                  </a:moveTo>
                  <a:lnTo>
                    <a:pt x="0" y="0"/>
                  </a:lnTo>
                  <a:lnTo>
                    <a:pt x="95250" y="9525"/>
                  </a:lnTo>
                  <a:lnTo>
                    <a:pt x="190500" y="9525"/>
                  </a:lnTo>
                  <a:lnTo>
                    <a:pt x="285750" y="28575"/>
                  </a:lnTo>
                  <a:lnTo>
                    <a:pt x="381000" y="38100"/>
                  </a:lnTo>
                  <a:lnTo>
                    <a:pt x="476250" y="57150"/>
                  </a:lnTo>
                  <a:lnTo>
                    <a:pt x="571500" y="76200"/>
                  </a:lnTo>
                  <a:lnTo>
                    <a:pt x="666750" y="104775"/>
                  </a:lnTo>
                  <a:lnTo>
                    <a:pt x="762000" y="133350"/>
                  </a:lnTo>
                  <a:lnTo>
                    <a:pt x="857250" y="171450"/>
                  </a:lnTo>
                  <a:lnTo>
                    <a:pt x="952500" y="200025"/>
                  </a:lnTo>
                  <a:lnTo>
                    <a:pt x="1047750" y="238125"/>
                  </a:lnTo>
                  <a:lnTo>
                    <a:pt x="1143000" y="276225"/>
                  </a:lnTo>
                  <a:lnTo>
                    <a:pt x="1238250" y="314325"/>
                  </a:lnTo>
                  <a:lnTo>
                    <a:pt x="1333500" y="361950"/>
                  </a:lnTo>
                  <a:lnTo>
                    <a:pt x="1428750" y="400050"/>
                  </a:lnTo>
                  <a:lnTo>
                    <a:pt x="1524000" y="447675"/>
                  </a:lnTo>
                  <a:lnTo>
                    <a:pt x="1619250" y="485775"/>
                  </a:lnTo>
                  <a:lnTo>
                    <a:pt x="1714500" y="523875"/>
                  </a:lnTo>
                  <a:lnTo>
                    <a:pt x="1809750" y="571500"/>
                  </a:lnTo>
                  <a:lnTo>
                    <a:pt x="1905000" y="609600"/>
                  </a:lnTo>
                  <a:lnTo>
                    <a:pt x="2000250" y="647700"/>
                  </a:lnTo>
                  <a:lnTo>
                    <a:pt x="2095500" y="685800"/>
                  </a:lnTo>
                  <a:lnTo>
                    <a:pt x="2190750" y="723900"/>
                  </a:lnTo>
                  <a:lnTo>
                    <a:pt x="2286000" y="762000"/>
                  </a:lnTo>
                  <a:lnTo>
                    <a:pt x="2381250" y="800100"/>
                  </a:lnTo>
                  <a:lnTo>
                    <a:pt x="2476500" y="828675"/>
                  </a:lnTo>
                  <a:lnTo>
                    <a:pt x="2571750" y="857250"/>
                  </a:lnTo>
                  <a:lnTo>
                    <a:pt x="2667000" y="885825"/>
                  </a:lnTo>
                  <a:lnTo>
                    <a:pt x="2762250" y="914400"/>
                  </a:lnTo>
                  <a:lnTo>
                    <a:pt x="2857500" y="942975"/>
                  </a:lnTo>
                  <a:lnTo>
                    <a:pt x="2952750" y="962025"/>
                  </a:lnTo>
                  <a:lnTo>
                    <a:pt x="3048000" y="981075"/>
                  </a:lnTo>
                  <a:lnTo>
                    <a:pt x="3143250" y="1000125"/>
                  </a:lnTo>
                  <a:lnTo>
                    <a:pt x="3238500" y="1019175"/>
                  </a:lnTo>
                  <a:lnTo>
                    <a:pt x="3333750" y="1038225"/>
                  </a:lnTo>
                  <a:lnTo>
                    <a:pt x="3429000" y="1047750"/>
                  </a:lnTo>
                  <a:lnTo>
                    <a:pt x="3524250" y="1057275"/>
                  </a:lnTo>
                  <a:lnTo>
                    <a:pt x="3619500" y="1076325"/>
                  </a:lnTo>
                  <a:lnTo>
                    <a:pt x="3714750" y="1085850"/>
                  </a:lnTo>
                  <a:lnTo>
                    <a:pt x="3810000" y="1095375"/>
                  </a:lnTo>
                  <a:lnTo>
                    <a:pt x="3905250" y="1095375"/>
                  </a:lnTo>
                  <a:lnTo>
                    <a:pt x="4000500" y="1104900"/>
                  </a:lnTo>
                  <a:lnTo>
                    <a:pt x="4095750" y="1114425"/>
                  </a:lnTo>
                  <a:lnTo>
                    <a:pt x="4191000" y="1114425"/>
                  </a:lnTo>
                  <a:lnTo>
                    <a:pt x="4286250" y="1123950"/>
                  </a:lnTo>
                  <a:lnTo>
                    <a:pt x="4381500" y="1123950"/>
                  </a:lnTo>
                  <a:lnTo>
                    <a:pt x="4476750" y="1133475"/>
                  </a:lnTo>
                  <a:lnTo>
                    <a:pt x="4572000" y="1133475"/>
                  </a:lnTo>
                  <a:lnTo>
                    <a:pt x="4572000" y="1219200"/>
                  </a:lnTo>
                  <a:close/>
                </a:path>
              </a:pathLst>
            </a:custGeom>
            <a:solidFill>
              <a:schemeClr val="accent2">
                <a:alpha val="35000"/>
              </a:schemeClr>
            </a:solidFill>
            <a:ln>
              <a:noFill/>
            </a:ln>
          </p:spPr>
        </p:sp>
        <p:sp>
          <p:nvSpPr>
            <p:cNvPr id="15" name="Polyline 15"/>
            <p:cNvSpPr/>
            <p:nvPr/>
          </p:nvSpPr>
          <p:spPr>
            <a:xfrm>
              <a:off x="990600" y="3257550"/>
              <a:ext cx="4572000" cy="1133475"/>
            </a:xfrm>
            <a:custGeom>
              <a:avLst/>
              <a:gdLst/>
              <a:ahLst/>
              <a:cxnLst/>
              <a:rect l="l" t="t" r="r" b="b"/>
              <a:pathLst>
                <a:path w="4572000" h="1133475">
                  <a:moveTo>
                    <a:pt x="0" y="0"/>
                  </a:moveTo>
                  <a:lnTo>
                    <a:pt x="95250" y="9525"/>
                  </a:lnTo>
                  <a:lnTo>
                    <a:pt x="190500" y="9525"/>
                  </a:lnTo>
                  <a:lnTo>
                    <a:pt x="285750" y="28575"/>
                  </a:lnTo>
                  <a:lnTo>
                    <a:pt x="381000" y="38100"/>
                  </a:lnTo>
                  <a:lnTo>
                    <a:pt x="476250" y="57150"/>
                  </a:lnTo>
                  <a:lnTo>
                    <a:pt x="571500" y="76200"/>
                  </a:lnTo>
                  <a:lnTo>
                    <a:pt x="666750" y="104775"/>
                  </a:lnTo>
                  <a:lnTo>
                    <a:pt x="762000" y="133350"/>
                  </a:lnTo>
                  <a:lnTo>
                    <a:pt x="857250" y="171450"/>
                  </a:lnTo>
                  <a:lnTo>
                    <a:pt x="952500" y="200025"/>
                  </a:lnTo>
                  <a:lnTo>
                    <a:pt x="1047750" y="238125"/>
                  </a:lnTo>
                  <a:lnTo>
                    <a:pt x="1143000" y="276225"/>
                  </a:lnTo>
                  <a:lnTo>
                    <a:pt x="1238250" y="314325"/>
                  </a:lnTo>
                  <a:lnTo>
                    <a:pt x="1333500" y="361950"/>
                  </a:lnTo>
                  <a:lnTo>
                    <a:pt x="1428750" y="400050"/>
                  </a:lnTo>
                  <a:lnTo>
                    <a:pt x="1524000" y="447675"/>
                  </a:lnTo>
                  <a:lnTo>
                    <a:pt x="1619250" y="485775"/>
                  </a:lnTo>
                  <a:lnTo>
                    <a:pt x="1714500" y="523875"/>
                  </a:lnTo>
                  <a:lnTo>
                    <a:pt x="1809750" y="571500"/>
                  </a:lnTo>
                  <a:lnTo>
                    <a:pt x="1905000" y="609600"/>
                  </a:lnTo>
                  <a:lnTo>
                    <a:pt x="2000250" y="647700"/>
                  </a:lnTo>
                  <a:lnTo>
                    <a:pt x="2095500" y="685800"/>
                  </a:lnTo>
                  <a:lnTo>
                    <a:pt x="2190750" y="723900"/>
                  </a:lnTo>
                  <a:lnTo>
                    <a:pt x="2286000" y="762000"/>
                  </a:lnTo>
                  <a:lnTo>
                    <a:pt x="2381250" y="800100"/>
                  </a:lnTo>
                  <a:lnTo>
                    <a:pt x="2476500" y="828675"/>
                  </a:lnTo>
                  <a:lnTo>
                    <a:pt x="2571750" y="857250"/>
                  </a:lnTo>
                  <a:lnTo>
                    <a:pt x="2667000" y="885825"/>
                  </a:lnTo>
                  <a:lnTo>
                    <a:pt x="2762250" y="914400"/>
                  </a:lnTo>
                  <a:lnTo>
                    <a:pt x="2857500" y="942975"/>
                  </a:lnTo>
                  <a:lnTo>
                    <a:pt x="2952750" y="962025"/>
                  </a:lnTo>
                  <a:lnTo>
                    <a:pt x="3048000" y="981075"/>
                  </a:lnTo>
                  <a:lnTo>
                    <a:pt x="3143250" y="1000125"/>
                  </a:lnTo>
                  <a:lnTo>
                    <a:pt x="3238500" y="1019175"/>
                  </a:lnTo>
                  <a:lnTo>
                    <a:pt x="3333750" y="1038225"/>
                  </a:lnTo>
                  <a:lnTo>
                    <a:pt x="3429000" y="1047750"/>
                  </a:lnTo>
                  <a:lnTo>
                    <a:pt x="3524250" y="1057275"/>
                  </a:lnTo>
                  <a:lnTo>
                    <a:pt x="3619500" y="1076325"/>
                  </a:lnTo>
                  <a:lnTo>
                    <a:pt x="3714750" y="1085850"/>
                  </a:lnTo>
                  <a:lnTo>
                    <a:pt x="3810000" y="1095375"/>
                  </a:lnTo>
                  <a:lnTo>
                    <a:pt x="3905250" y="1095375"/>
                  </a:lnTo>
                  <a:lnTo>
                    <a:pt x="4000500" y="1104900"/>
                  </a:lnTo>
                  <a:lnTo>
                    <a:pt x="4095750" y="1114425"/>
                  </a:lnTo>
                  <a:lnTo>
                    <a:pt x="4191000" y="1114425"/>
                  </a:lnTo>
                  <a:lnTo>
                    <a:pt x="4286250" y="1123950"/>
                  </a:lnTo>
                  <a:lnTo>
                    <a:pt x="4381500" y="1123950"/>
                  </a:lnTo>
                  <a:lnTo>
                    <a:pt x="4476750" y="1133475"/>
                  </a:lnTo>
                  <a:lnTo>
                    <a:pt x="4572000" y="1133475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467100" y="3143250"/>
              <a:ext cx="9525" cy="1333500"/>
            </a:xfrm>
            <a:custGeom>
              <a:avLst/>
              <a:gdLst/>
              <a:ahLst/>
              <a:cxnLst/>
              <a:rect l="l" t="t" r="r" b="b"/>
              <a:pathLst>
                <a:path w="9525" h="1333500">
                  <a:moveTo>
                    <a:pt x="0" y="0"/>
                  </a:moveTo>
                  <a:lnTo>
                    <a:pt x="0" y="1333500"/>
                  </a:lnTo>
                </a:path>
              </a:pathLst>
            </a:custGeom>
            <a:noFill/>
            <a:ln w="19050" cap="rnd">
              <a:solidFill>
                <a:srgbClr val="F2C14E"/>
              </a:solidFill>
              <a:custDash>
                <a:ds d="250000" sp="200000"/>
              </a:custDash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72499" y="2969895"/>
              <a:ext cx="7892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Nyquist limit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467100" y="3162300"/>
              <a:ext cx="2095500" cy="1314450"/>
            </a:xfrm>
            <a:prstGeom prst="rect">
              <a:avLst/>
            </a:prstGeom>
            <a:solidFill>
              <a:srgbClr val="F2685C">
                <a:alpha val="10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211130" y="3293745"/>
              <a:ext cx="6074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zeroed by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33393" y="3446145"/>
              <a:ext cx="56291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low-pass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1347" y="4809649"/>
              <a:ext cx="35829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Skip the filter and high frequencies fold into low ones 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1347" y="4981099"/>
              <a:ext cx="22988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aliasing (the wagon-wheel effect).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172200" y="2457450"/>
            <a:ext cx="5410200" cy="1314450"/>
            <a:chOff x="6172200" y="2457450"/>
            <a:chExt cx="5410200" cy="1314450"/>
          </a:xfrm>
        </p:grpSpPr>
        <p:sp>
          <p:nvSpPr>
            <p:cNvPr id="24" name="Rectangle 24"/>
            <p:cNvSpPr/>
            <p:nvPr/>
          </p:nvSpPr>
          <p:spPr>
            <a:xfrm>
              <a:off x="6172200" y="2457450"/>
              <a:ext cx="5410200" cy="1314450"/>
            </a:xfrm>
            <a:prstGeom prst="roundRect">
              <a:avLst>
                <a:gd name="adj" fmla="val 10145"/>
              </a:avLst>
            </a:prstGeom>
            <a:solidFill>
              <a:srgbClr val="2A1720"/>
            </a:solidFill>
            <a:ln w="14288">
              <a:solidFill>
                <a:srgbClr val="F2685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172200" y="2457450"/>
              <a:ext cx="57150" cy="1314450"/>
            </a:xfrm>
            <a:prstGeom prst="roundRect">
              <a:avLst>
                <a:gd name="adj" fmla="val 50000"/>
              </a:avLst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32804" y="2689860"/>
              <a:ext cx="27318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Why prior methods have no filter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33376" y="3006804"/>
              <a:ext cx="4403225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Formulated in the continuous domain, prior scale-equivariant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376" y="3225879"/>
              <a:ext cx="3796833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networks simply have no place to put an anti-aliasing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376" y="3444954"/>
              <a:ext cx="50261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filter.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172200" y="3924300"/>
            <a:ext cx="5410200" cy="1314450"/>
            <a:chOff x="6172200" y="3924300"/>
            <a:chExt cx="5410200" cy="1314450"/>
          </a:xfrm>
        </p:grpSpPr>
        <p:sp>
          <p:nvSpPr>
            <p:cNvPr id="31" name="Rectangle 31"/>
            <p:cNvSpPr/>
            <p:nvPr/>
          </p:nvSpPr>
          <p:spPr>
            <a:xfrm>
              <a:off x="6172200" y="3924300"/>
              <a:ext cx="5410200" cy="1314450"/>
            </a:xfrm>
            <a:prstGeom prst="roundRect">
              <a:avLst>
                <a:gd name="adj" fmla="val 10145"/>
              </a:avLst>
            </a:prstGeom>
            <a:solidFill>
              <a:srgbClr val="0F2E2B"/>
            </a:solidFill>
            <a:ln w="14288">
              <a:solidFill>
                <a:srgbClr val="34D3C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172200" y="3924300"/>
              <a:ext cx="57150" cy="13144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32804" y="4156710"/>
              <a:ext cx="5857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The fix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376" y="4473654"/>
              <a:ext cx="3911785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 be truly scale-equivariant, formulate down-scaling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376" y="4692729"/>
              <a:ext cx="4141662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directly in the discrete domain, with anti-aliasing built in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33376" y="4911804"/>
              <a:ext cx="117759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from the start.</a:t>
              </a:r>
            </a:p>
          </p:txBody>
        </p:sp>
      </p:grpSp>
      <p:sp>
        <p:nvSpPr>
          <p:cNvPr id="38" name="cue_s03_c1_key_insight_down_scaling_discrete_si" title="cue_s03_c1_key_insight_down_scaling_discrete_si" descr="cue_s03_c1_key_insight_down_scaling_discrete_si The key insight is that down-scaling a discrete signal is fundamentally a signal-processing operation."/>
          <p:cNvSpPr/>
          <p:nvPr/>
        </p:nvSpPr>
        <p:spPr>
          <a:xfrm>
            <a:off x="609600" y="1504645"/>
            <a:ext cx="10972800" cy="8003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ue_s03_c2_nyquist_sampling_theorem_tells_befor" title="cue_s03_c2_nyquist_sampling_theorem_tells_befor" descr="cue_s03_c2_nyquist_sampling_theorem_tells_befor The Nyquist sampling theorem tells us that before subsampling, we must apply an anti-aliasing filter, otherwise high-frequency content folds down into lower frequencies, the classic aliasing artifact seen in the wagon-wheel effect."/>
          <p:cNvSpPr/>
          <p:nvPr/>
        </p:nvSpPr>
        <p:spPr>
          <a:xfrm>
            <a:off x="609600" y="2457221"/>
            <a:ext cx="5334000" cy="27816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ue_s03_c3_prior_scale_equivariant_networks_bec" title="cue_s03_c3_prior_scale_equivariant_networks_bec" descr="cue_s03_c3_prior_scale_equivariant_networks_bec Prior scale-equivariant networks, because they were formulated in the continuous domain, simply had no place for this filter."/>
          <p:cNvSpPr/>
          <p:nvPr/>
        </p:nvSpPr>
        <p:spPr>
          <a:xfrm>
            <a:off x="6171590" y="2457221"/>
            <a:ext cx="5409590" cy="131467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ue_s03_c4_authors_argue_truly_scale_equivarian" title="cue_s03_c4_authors_argue_truly_scale_equivarian" descr="cue_s03_c4_authors_argue_truly_scale_equivarian The authors argue that to be truly scale-equivariant, you must formulate the down-scaling directly in the discrete domain, with anti-aliasing built in from the start."/>
          <p:cNvSpPr/>
          <p:nvPr/>
        </p:nvSpPr>
        <p:spPr>
          <a:xfrm>
            <a:off x="6171590" y="3924147"/>
            <a:ext cx="5409590" cy="131467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139286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CONTRIBUTION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311754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Three contributions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09600" y="1504950"/>
            <a:ext cx="10972800" cy="628650"/>
            <a:chOff x="609600" y="1504950"/>
            <a:chExt cx="10972800" cy="62865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10972800" cy="628650"/>
            </a:xfrm>
            <a:prstGeom prst="roundRect">
              <a:avLst>
                <a:gd name="adj" fmla="val 21212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628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9823" y="1757839"/>
              <a:ext cx="10467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new formulation, a new family of layers, and experiments that prove exact scale-equivariance at no accuracy cost.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2381250"/>
            <a:ext cx="3505200" cy="2857500"/>
            <a:chOff x="609600" y="2381250"/>
            <a:chExt cx="3505200" cy="2857500"/>
          </a:xfrm>
        </p:grpSpPr>
        <p:sp>
          <p:nvSpPr>
            <p:cNvPr id="9" name="Rectangle 9"/>
            <p:cNvSpPr/>
            <p:nvPr/>
          </p:nvSpPr>
          <p:spPr>
            <a:xfrm>
              <a:off x="609600" y="2381250"/>
              <a:ext cx="3505200" cy="2857500"/>
            </a:xfrm>
            <a:prstGeom prst="roundRect">
              <a:avLst>
                <a:gd name="adj" fmla="val 466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238125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847725" y="2771775"/>
              <a:ext cx="514350" cy="514350"/>
            </a:xfrm>
            <a:prstGeom prst="ellipse">
              <a:avLst/>
            </a:pr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6009" y="28813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9061" y="3465671"/>
              <a:ext cx="16166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Discrete-domain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9061" y="3732371"/>
              <a:ext cx="12790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down-scaling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0585" y="4107656"/>
              <a:ext cx="20667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Define down-scaling as ideal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0585" y="4345781"/>
              <a:ext cx="2416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downsampling — an ideal low-pass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0585" y="4583906"/>
              <a:ext cx="29439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(anti-aliasing) filter, then subsampling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0585" y="4822031"/>
              <a:ext cx="2484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— directly in the discrete domain.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43400" y="2381250"/>
            <a:ext cx="3505200" cy="2857500"/>
            <a:chOff x="4343400" y="2381250"/>
            <a:chExt cx="3505200" cy="2857500"/>
          </a:xfrm>
        </p:grpSpPr>
        <p:sp>
          <p:nvSpPr>
            <p:cNvPr id="20" name="Rectangle 20"/>
            <p:cNvSpPr/>
            <p:nvPr/>
          </p:nvSpPr>
          <p:spPr>
            <a:xfrm>
              <a:off x="4343400" y="2381250"/>
              <a:ext cx="3505200" cy="2857500"/>
            </a:xfrm>
            <a:prstGeom prst="roundRect">
              <a:avLst>
                <a:gd name="adj" fmla="val 466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343400" y="238125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581525" y="2771775"/>
              <a:ext cx="514350" cy="514350"/>
            </a:xfrm>
            <a:prstGeom prst="ellipse">
              <a:avLst/>
            </a:prstGeom>
            <a:noFill/>
            <a:ln w="23812">
              <a:solidFill>
                <a:srgbClr val="34D3C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39809" y="28813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02861" y="3465671"/>
              <a:ext cx="18640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family of Fourier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02861" y="3732371"/>
              <a:ext cx="6266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layers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04385" y="4107656"/>
              <a:ext cx="29340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Rethink every component — convolution,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04385" y="4345781"/>
              <a:ext cx="25420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non-linearity, pooling — as Fourier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04385" y="4583906"/>
              <a:ext cx="18508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layers obeying one simple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04385" y="4822031"/>
              <a:ext cx="2092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frequency-dependency rule.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77200" y="2381250"/>
            <a:ext cx="3505200" cy="2857500"/>
            <a:chOff x="8077200" y="2381250"/>
            <a:chExt cx="3505200" cy="2857500"/>
          </a:xfrm>
        </p:grpSpPr>
        <p:sp>
          <p:nvSpPr>
            <p:cNvPr id="31" name="Rectangle 31"/>
            <p:cNvSpPr/>
            <p:nvPr/>
          </p:nvSpPr>
          <p:spPr>
            <a:xfrm>
              <a:off x="8077200" y="2381250"/>
              <a:ext cx="3505200" cy="2857500"/>
            </a:xfrm>
            <a:prstGeom prst="roundRect">
              <a:avLst>
                <a:gd name="adj" fmla="val 466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077200" y="238125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8315325" y="2771775"/>
              <a:ext cx="514350" cy="514350"/>
            </a:xfrm>
            <a:prstGeom prst="ellipse">
              <a:avLst/>
            </a:prstGeom>
            <a:noFill/>
            <a:ln w="23812">
              <a:solidFill>
                <a:srgbClr val="F2C14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73609" y="28813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6661" y="3465671"/>
              <a:ext cx="11859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Zero error,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36661" y="3732371"/>
              <a:ext cx="21119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competitive accuracy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8185" y="4107656"/>
              <a:ext cx="31394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On MNIST-scale and STL-10: absolute zero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38185" y="4345781"/>
              <a:ext cx="2348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end-to-end equivariance error,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38185" y="4583906"/>
              <a:ext cx="2883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competitive accuracy, and better data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38185" y="4822031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efficiency.</a:t>
              </a:r>
            </a:p>
          </p:txBody>
        </p:sp>
      </p:grpSp>
      <p:sp>
        <p:nvSpPr>
          <p:cNvPr id="42" name="cue_s04_c1_makes_three_contributions" title="cue_s04_c1_makes_three_contributions" descr="cue_s04_c1_makes_three_contributions The paper makes three contributions."/>
          <p:cNvSpPr/>
          <p:nvPr/>
        </p:nvSpPr>
        <p:spPr>
          <a:xfrm>
            <a:off x="609600" y="1504645"/>
            <a:ext cx="10972800" cy="62887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4_c2_first_formulates_down_scaling_operat" title="cue_s04_c2_first_formulates_down_scaling_operat" descr="cue_s04_c2_first_formulates_down_scaling_operat First, it formulates the down-scaling operation directly in the discrete domain as ideal downsampling, properly accounting for anti-aliasing."/>
          <p:cNvSpPr/>
          <p:nvPr/>
        </p:nvSpPr>
        <p:spPr>
          <a:xfrm>
            <a:off x="609600" y="2381097"/>
            <a:ext cx="3505199" cy="28577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ue_s04_c3_second_proposes_whole_family_deep" title="cue_s04_c3_second_proposes_whole_family_deep" descr="cue_s04_c3_second_proposes_whole_family_deep Second, it proposes a whole family of deep nets that are truly scale-equivariant, by rethinking every component, convolution layers, non-linearities, and pooling, and re-expressing them as Fourier layers that obey a simple frequency-dependency rule."/>
          <p:cNvSpPr/>
          <p:nvPr/>
        </p:nvSpPr>
        <p:spPr>
          <a:xfrm>
            <a:off x="4344009" y="2381097"/>
            <a:ext cx="3505199" cy="28577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ue_s04_c4_third_through_extensive_experiments" title="cue_s04_c4_third_through_extensive_experiments" descr="cue_s04_c4_third_through_extensive_experiments Third, through extensive experiments on MNIST-scale and STL-10, it shows the model attains an absolute zero end-to-end scale-equivariance error while remaining competitive in classification accuracy and more data-efficient in low-resource settings."/>
          <p:cNvSpPr/>
          <p:nvPr/>
        </p:nvSpPr>
        <p:spPr>
          <a:xfrm>
            <a:off x="8077200" y="2381097"/>
            <a:ext cx="3505199" cy="28577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7640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METHOD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680775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One frequency rule, every layer redesigned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09600" y="1504950"/>
            <a:ext cx="5410200" cy="1809750"/>
            <a:chOff x="609600" y="1504950"/>
            <a:chExt cx="5410200" cy="180975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5410200" cy="1809750"/>
            </a:xfrm>
            <a:prstGeom prst="roundRect">
              <a:avLst>
                <a:gd name="adj" fmla="val 7368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1809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9823" y="1729264"/>
              <a:ext cx="1655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Ideal downsampling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776" y="2035254"/>
              <a:ext cx="421254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First an ideal low-pass filter zeros every frequency above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776" y="2244804"/>
              <a:ext cx="2804120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new Nyquist limit, then subsample.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2686050"/>
              <a:ext cx="4876800" cy="419100"/>
            </a:xfrm>
            <a:prstGeom prst="roundRect">
              <a:avLst>
                <a:gd name="adj" fmla="val 18182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217236" y="2807018"/>
              <a:ext cx="2194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D_R(x) = Sub_R( h * x )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172200" y="1504950"/>
            <a:ext cx="5410200" cy="1809750"/>
            <a:chOff x="6172200" y="1504950"/>
            <a:chExt cx="5410200" cy="1809750"/>
          </a:xfrm>
        </p:grpSpPr>
        <p:sp>
          <p:nvSpPr>
            <p:cNvPr id="13" name="Rectangle 13"/>
            <p:cNvSpPr/>
            <p:nvPr/>
          </p:nvSpPr>
          <p:spPr>
            <a:xfrm>
              <a:off x="6172200" y="1504950"/>
              <a:ext cx="5410200" cy="1809750"/>
            </a:xfrm>
            <a:prstGeom prst="roundRect">
              <a:avLst>
                <a:gd name="adj" fmla="val 7368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172200" y="1504950"/>
              <a:ext cx="57150" cy="18097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32423" y="1729264"/>
              <a:ext cx="3140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Claim 1 · the equivariance condition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33376" y="2035254"/>
              <a:ext cx="4293145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Truly scale-equivariant iff every output frequency depends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33376" y="2244804"/>
              <a:ext cx="3019133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only on equal-or-lower input frequencies.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438900" y="2686050"/>
              <a:ext cx="4876800" cy="419100"/>
            </a:xfrm>
            <a:prstGeom prst="roundRect">
              <a:avLst>
                <a:gd name="adj" fmla="val 18182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60769" y="2815114"/>
              <a:ext cx="28330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Y[k] = G_k( X[-k : k] ) for all k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3429000"/>
            <a:ext cx="5410200" cy="1809750"/>
            <a:chOff x="609600" y="3429000"/>
            <a:chExt cx="5410200" cy="1809750"/>
          </a:xfrm>
        </p:grpSpPr>
        <p:sp>
          <p:nvSpPr>
            <p:cNvPr id="21" name="Rectangle 21"/>
            <p:cNvSpPr/>
            <p:nvPr/>
          </p:nvSpPr>
          <p:spPr>
            <a:xfrm>
              <a:off x="609600" y="3429000"/>
              <a:ext cx="5410200" cy="1809750"/>
            </a:xfrm>
            <a:prstGeom prst="roundRect">
              <a:avLst>
                <a:gd name="adj" fmla="val 7368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9600" y="3429000"/>
              <a:ext cx="57150" cy="18097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9823" y="3653314"/>
              <a:ext cx="24705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Every module obeys the rule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76300" y="4038600"/>
              <a:ext cx="4876800" cy="323850"/>
            </a:xfrm>
            <a:prstGeom prst="roundRect">
              <a:avLst>
                <a:gd name="adj" fmla="val 23529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1000125" y="41529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94626" y="4140279"/>
              <a:ext cx="208497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Spatially-local Fourier conv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76300" y="4476750"/>
              <a:ext cx="4876800" cy="323850"/>
            </a:xfrm>
            <a:prstGeom prst="roundRect">
              <a:avLst>
                <a:gd name="adj" fmla="val 23529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1000125" y="4591050"/>
              <a:ext cx="95250" cy="9525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94626" y="4578429"/>
              <a:ext cx="2635205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Frequency-band ReLU non-linearity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76300" y="4914900"/>
              <a:ext cx="4876800" cy="323850"/>
            </a:xfrm>
            <a:prstGeom prst="roundRect">
              <a:avLst>
                <a:gd name="adj" fmla="val 23529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000125" y="5029200"/>
              <a:ext cx="95250" cy="95250"/>
            </a:xfrm>
            <a:prstGeom prst="ellipse">
              <a:avLst/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94626" y="5016579"/>
              <a:ext cx="2612420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Fourier pooling (same dependency)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172200" y="3429000"/>
            <a:ext cx="5410200" cy="1809750"/>
            <a:chOff x="6172200" y="3429000"/>
            <a:chExt cx="5410200" cy="1809750"/>
          </a:xfrm>
        </p:grpSpPr>
        <p:sp>
          <p:nvSpPr>
            <p:cNvPr id="34" name="Rectangle 34"/>
            <p:cNvSpPr/>
            <p:nvPr/>
          </p:nvSpPr>
          <p:spPr>
            <a:xfrm>
              <a:off x="6172200" y="3429000"/>
              <a:ext cx="5410200" cy="1809750"/>
            </a:xfrm>
            <a:prstGeom prst="roundRect">
              <a:avLst>
                <a:gd name="adj" fmla="val 7368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172200" y="3429000"/>
              <a:ext cx="57150" cy="1809750"/>
            </a:xfrm>
            <a:prstGeom prst="roundRect">
              <a:avLst>
                <a:gd name="adj" fmla="val 50000"/>
              </a:avLst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32614" y="3657362"/>
              <a:ext cx="3339736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Per-scale classifier + consistency loss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33566" y="3963352"/>
              <a:ext cx="40278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One MLP shared across scales via Fourier padding; a hinge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33566" y="4163378"/>
              <a:ext cx="40250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loss penalizes a high-res prediction that is worse than its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33566" y="436340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low-res one.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38900" y="4686300"/>
              <a:ext cx="4876800" cy="3810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09233" y="4812506"/>
              <a:ext cx="27361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sum max( L(y[k]) - L(y[k-1]), 0 )</a:t>
              </a:r>
            </a:p>
          </p:txBody>
        </p:sp>
      </p:grpSp>
      <p:sp>
        <p:nvSpPr>
          <p:cNvPr id="43" name="cue_s05_c1_method_starts_precise_definition_dow" title="cue_s05_c1_method_starts_precise_definition_dow" descr="cue_s05_c1_method_starts_precise_definition_dow The method starts from a precise definition of down-scaling: ideal downsampling, which first applies an ideal low-pass filter that zeros out all frequencies above the new Nyquist limit, then subsamples."/>
          <p:cNvSpPr/>
          <p:nvPr/>
        </p:nvSpPr>
        <p:spPr>
          <a:xfrm>
            <a:off x="609600" y="1504645"/>
            <a:ext cx="5409590" cy="18098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ue_s05_c2_authors_derive_their_central_conditi" title="cue_s05_c2_authors_derive_their_central_conditi" descr="cue_s05_c2_authors_derive_their_central_conditi From this the authors derive their central condition, Claim 1: a deep net is truly scale-equivariant if and only if every output frequency term depends only on input frequency terms that are equal or lower."/>
          <p:cNvSpPr/>
          <p:nvPr/>
        </p:nvSpPr>
        <p:spPr>
          <a:xfrm>
            <a:off x="6171590" y="1504645"/>
            <a:ext cx="5409590" cy="18098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ue_s05_c3_they_redesign_network_component_sati" title="cue_s05_c3_they_redesign_network_component_sati" descr="cue_s05_c3_they_redesign_network_component_sati They then redesign each network component to satisfy this rule. A spatially-local Fourier layer constrains the kernel so it learns local features while staying equivariant. A scale-equivariant non-linearity applies ReLU frequency-band by frequency-band. A Four"/>
          <p:cNvSpPr/>
          <p:nvPr/>
        </p:nvSpPr>
        <p:spPr>
          <a:xfrm>
            <a:off x="609600" y="3429000"/>
            <a:ext cx="5409590" cy="18098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ue_s05_c4_top_equivariant_feature_extractor_th" title="cue_s05_c4_top_equivariant_feature_extractor_th" descr="cue_s05_c4_top_equivariant_feature_extractor_th On top of the equivariant feature extractor, they add a classifier that predicts once per scale, sharing a single MLP across scales through Fourier padding, and train it with a hinge consistency loss that penalizes the model whenever a higher-resolution image"/>
          <p:cNvSpPr/>
          <p:nvPr/>
        </p:nvSpPr>
        <p:spPr>
          <a:xfrm>
            <a:off x="6171590" y="3429000"/>
            <a:ext cx="5409590" cy="18098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21906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DATASET / BENCHMARK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491539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Two standard scale benchmarks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09600" y="1504950"/>
            <a:ext cx="10972800" cy="571500"/>
            <a:chOff x="609600" y="1504950"/>
            <a:chExt cx="10972800" cy="57150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10972800" cy="571500"/>
            </a:xfrm>
            <a:prstGeom prst="roundRect">
              <a:avLst>
                <a:gd name="adj" fmla="val 23333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014" y="1723787"/>
              <a:ext cx="10105549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Following prior work, the model is evaluated on two benchmarks built by randomly downsampling images across scales.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2286000"/>
            <a:ext cx="5334000" cy="1428750"/>
            <a:chOff x="609600" y="2286000"/>
            <a:chExt cx="5334000" cy="1428750"/>
          </a:xfrm>
        </p:grpSpPr>
        <p:sp>
          <p:nvSpPr>
            <p:cNvPr id="9" name="Rectangle 9"/>
            <p:cNvSpPr/>
            <p:nvPr/>
          </p:nvSpPr>
          <p:spPr>
            <a:xfrm>
              <a:off x="609600" y="2286000"/>
              <a:ext cx="53340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228600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68680" y="2524125"/>
              <a:ext cx="12688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MNIST-scale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0776" y="2892504"/>
              <a:ext cx="419245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Randomly downsampled MNIST digits, with every resolution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0776" y="3102054"/>
              <a:ext cx="151509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equally represented.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76300" y="3352800"/>
              <a:ext cx="1428750" cy="2476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3366" y="3410902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8×8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23416" y="34109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52016" y="3410902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28×28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90597" y="3418999"/>
              <a:ext cx="7787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resolutions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48400" y="2286000"/>
            <a:ext cx="5334000" cy="1428750"/>
            <a:chOff x="6248400" y="2286000"/>
            <a:chExt cx="5334000" cy="1428750"/>
          </a:xfrm>
        </p:grpSpPr>
        <p:sp>
          <p:nvSpPr>
            <p:cNvPr id="20" name="Rectangle 20"/>
            <p:cNvSpPr/>
            <p:nvPr/>
          </p:nvSpPr>
          <p:spPr>
            <a:xfrm>
              <a:off x="6248400" y="2286000"/>
              <a:ext cx="53340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48400" y="228600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07480" y="2524125"/>
              <a:ext cx="12710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STL10-scale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09576" y="2892504"/>
              <a:ext cx="3955753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same construction applied to natural color images.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515100" y="3352800"/>
              <a:ext cx="1428750" cy="2476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62166" y="34109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62216" y="34109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90816" y="34109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97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29397" y="3418999"/>
              <a:ext cx="7787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resolutions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" y="3905250"/>
            <a:ext cx="10972800" cy="1333500"/>
            <a:chOff x="609600" y="3905250"/>
            <a:chExt cx="10972800" cy="1333500"/>
          </a:xfrm>
        </p:grpSpPr>
        <p:sp>
          <p:nvSpPr>
            <p:cNvPr id="30" name="Rectangle 30"/>
            <p:cNvSpPr/>
            <p:nvPr/>
          </p:nvSpPr>
          <p:spPr>
            <a:xfrm>
              <a:off x="609600" y="3905250"/>
              <a:ext cx="1097280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9600" y="3905250"/>
              <a:ext cx="57150" cy="133350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9823" y="4129564"/>
              <a:ext cx="21806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Four evaluation settings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76300" y="4476750"/>
              <a:ext cx="2476500" cy="552450"/>
            </a:xfrm>
            <a:prstGeom prst="roundRect">
              <a:avLst>
                <a:gd name="adj" fmla="val 17241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76300" y="4476750"/>
              <a:ext cx="47625" cy="552450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61276" y="4607004"/>
              <a:ext cx="141004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Ideal downsampling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62038" y="4813697"/>
              <a:ext cx="11522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theory = practice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581400" y="4476750"/>
              <a:ext cx="2476500" cy="552450"/>
            </a:xfrm>
            <a:prstGeom prst="roundRect">
              <a:avLst>
                <a:gd name="adj" fmla="val 17241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3581400" y="4476750"/>
              <a:ext cx="47625" cy="552450"/>
            </a:xfrm>
            <a:prstGeom prst="roundRect">
              <a:avLst>
                <a:gd name="adj" fmla="val 4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766376" y="4607004"/>
              <a:ext cx="1040465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Unseen scales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767138" y="4813697"/>
              <a:ext cx="93297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generalization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86500" y="4476750"/>
              <a:ext cx="2476500" cy="552450"/>
            </a:xfrm>
            <a:prstGeom prst="roundRect">
              <a:avLst>
                <a:gd name="adj" fmla="val 17241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86500" y="4476750"/>
              <a:ext cx="47625" cy="552450"/>
            </a:xfrm>
            <a:prstGeom prst="roundRect">
              <a:avLst>
                <a:gd name="adj" fmla="val 4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71476" y="4607004"/>
              <a:ext cx="1171265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Data efficiency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72238" y="4813697"/>
              <a:ext cx="144452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5k · 2.5k · 1k samples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991600" y="4476750"/>
              <a:ext cx="2476500" cy="552450"/>
            </a:xfrm>
            <a:prstGeom prst="roundRect">
              <a:avLst>
                <a:gd name="adj" fmla="val 17241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991600" y="4476750"/>
              <a:ext cx="47625" cy="552450"/>
            </a:xfrm>
            <a:prstGeom prst="roundRect">
              <a:avLst>
                <a:gd name="adj" fmla="val 40000"/>
              </a:avLst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176576" y="4607004"/>
              <a:ext cx="174927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Non-ideal downsampling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177338" y="4813697"/>
              <a:ext cx="107248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imperfect filter</a:t>
              </a:r>
            </a:p>
          </p:txBody>
        </p:sp>
      </p:grpSp>
      <p:sp>
        <p:nvSpPr>
          <p:cNvPr id="50" name="cue_s06_c1_authors_follow_prior_work_evaluate" title="cue_s06_c1_authors_follow_prior_work_evaluate" descr="cue_s06_c1_authors_follow_prior_work_evaluate The authors follow prior work and evaluate on two benchmarks."/>
          <p:cNvSpPr/>
          <p:nvPr/>
        </p:nvSpPr>
        <p:spPr>
          <a:xfrm>
            <a:off x="609600" y="1504645"/>
            <a:ext cx="10972800" cy="5712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ue_s06_c2_mnist_scale_built_randomly_downsampl" title="cue_s06_c2_mnist_scale_built_randomly_downsampl" descr="cue_s06_c2_mnist_scale_built_randomly_downsampl MNIST-scale is built by randomly downsampling MNIST digits so that every resolution from eight-by-eight up to twenty-eight-by-twenty-eight is equally represented."/>
          <p:cNvSpPr/>
          <p:nvPr/>
        </p:nvSpPr>
        <p:spPr>
          <a:xfrm>
            <a:off x="609600" y="2285771"/>
            <a:ext cx="5334000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ue_s06_c3_stl10_scale_applies_same_constructio" title="cue_s06_c3_stl10_scale_applies_same_constructio" descr="cue_s06_c3_stl10_scale_applies_same_constructio STL10-scale applies the same construction to natural color images, spanning resolutions from forty-eight up to ninety-seven."/>
          <p:cNvSpPr/>
          <p:nvPr/>
        </p:nvSpPr>
        <p:spPr>
          <a:xfrm>
            <a:off x="6248399" y="2285771"/>
            <a:ext cx="5334000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ue_s06_c4_they_study_performance_under_ideal" title="cue_s06_c4_they_study_performance_under_ideal" descr="cue_s06_c4_they_study_performance_under_ideal They study performance under ideal downsampling, where theory exactly matches practice, generalization to unseen scales, data efficiency at 5k, 2.5k, and 1k training samples, and a harder non-ideal downsampling setting where the anti-aliasing filter is imperfe"/>
          <p:cNvSpPr/>
          <p:nvPr/>
        </p:nvSpPr>
        <p:spPr>
          <a:xfrm>
            <a:off x="609600" y="3904945"/>
            <a:ext cx="10972800" cy="13331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11302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KEY RESULT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620341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Best accuracy, zero equivariance error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09600" y="1428750"/>
            <a:ext cx="10972800" cy="476250"/>
            <a:chOff x="609600" y="1428750"/>
            <a:chExt cx="10972800" cy="476250"/>
          </a:xfrm>
        </p:grpSpPr>
        <p:sp>
          <p:nvSpPr>
            <p:cNvPr id="5" name="Rectangle 5"/>
            <p:cNvSpPr/>
            <p:nvPr/>
          </p:nvSpPr>
          <p:spPr>
            <a:xfrm>
              <a:off x="609600" y="1428750"/>
              <a:ext cx="10972800" cy="476250"/>
            </a:xfrm>
            <a:prstGeom prst="roundRect">
              <a:avLst>
                <a:gd name="adj" fmla="val 28000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28750"/>
              <a:ext cx="57150" cy="47625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014" y="1599962"/>
              <a:ext cx="7117402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Best on every metric — and, by construction, an absolute zero equivariance error.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2038350"/>
            <a:ext cx="5334000" cy="3200400"/>
            <a:chOff x="609600" y="2038350"/>
            <a:chExt cx="5334000" cy="3200400"/>
          </a:xfrm>
        </p:grpSpPr>
        <p:sp>
          <p:nvSpPr>
            <p:cNvPr id="9" name="Rectangle 9"/>
            <p:cNvSpPr/>
            <p:nvPr/>
          </p:nvSpPr>
          <p:spPr>
            <a:xfrm>
              <a:off x="609600" y="2038350"/>
              <a:ext cx="5334000" cy="3200400"/>
            </a:xfrm>
            <a:prstGeom prst="roundRect">
              <a:avLst>
                <a:gd name="adj" fmla="val 416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2038350"/>
              <a:ext cx="57150" cy="3200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0014" y="2247662"/>
              <a:ext cx="2837517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MNIST-scale · ideal downsampling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76300" y="2552700"/>
              <a:ext cx="1600200" cy="952500"/>
            </a:xfrm>
            <a:prstGeom prst="roundRect">
              <a:avLst>
                <a:gd name="adj" fmla="val 12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63825" y="2827020"/>
              <a:ext cx="102514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98.9%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79324" y="3232547"/>
              <a:ext cx="59415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accuracy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590800" y="2552700"/>
              <a:ext cx="1600200" cy="952500"/>
            </a:xfrm>
            <a:prstGeom prst="roundRect">
              <a:avLst>
                <a:gd name="adj" fmla="val 12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878325" y="2827020"/>
              <a:ext cx="102514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97.0%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98188" y="3232547"/>
              <a:ext cx="11854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scale-consistency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305300" y="2552700"/>
              <a:ext cx="1600200" cy="952500"/>
            </a:xfrm>
            <a:prstGeom prst="roundRect">
              <a:avLst>
                <a:gd name="adj" fmla="val 12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720041" y="2827020"/>
              <a:ext cx="7707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0.00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51854" y="3232547"/>
              <a:ext cx="70709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equi-error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1156" y="3586401"/>
              <a:ext cx="341314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End-to-end equivariance error (lower is better)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286000" y="3848100"/>
              <a:ext cx="3048000" cy="209550"/>
            </a:xfrm>
            <a:prstGeom prst="roundRect">
              <a:avLst>
                <a:gd name="adj" fmla="val 27273"/>
              </a:avLst>
            </a:prstGeom>
            <a:solidFill>
              <a:srgbClr val="0E2334"/>
            </a:solidFill>
            <a:ln w="9525">
              <a:solidFill>
                <a:srgbClr val="26455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286000" y="3848100"/>
              <a:ext cx="19050" cy="2095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805121" y="3885628"/>
              <a:ext cx="3719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Ours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94966" y="388562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0.00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286000" y="4152900"/>
              <a:ext cx="3048000" cy="209550"/>
            </a:xfrm>
            <a:prstGeom prst="roundRect">
              <a:avLst>
                <a:gd name="adj" fmla="val 27273"/>
              </a:avLst>
            </a:prstGeom>
            <a:solidFill>
              <a:srgbClr val="0E2334"/>
            </a:solidFill>
            <a:ln w="9525">
              <a:solidFill>
                <a:srgbClr val="26455F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286000" y="4152900"/>
              <a:ext cx="1704975" cy="209550"/>
            </a:xfrm>
            <a:prstGeom prst="roundRect">
              <a:avLst>
                <a:gd name="adj" fmla="val 27273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323993" y="4190428"/>
              <a:ext cx="8530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Fourier CNN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80891" y="419042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0.28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286000" y="4457700"/>
              <a:ext cx="3048000" cy="209550"/>
            </a:xfrm>
            <a:prstGeom prst="roundRect">
              <a:avLst>
                <a:gd name="adj" fmla="val 27273"/>
              </a:avLst>
            </a:prstGeom>
            <a:solidFill>
              <a:srgbClr val="0E2334"/>
            </a:solidFill>
            <a:ln w="9525">
              <a:solidFill>
                <a:srgbClr val="26455F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286000" y="4457700"/>
              <a:ext cx="2676525" cy="209550"/>
            </a:xfrm>
            <a:prstGeom prst="roundRect">
              <a:avLst>
                <a:gd name="adj" fmla="val 27273"/>
              </a:avLst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742953" y="4495228"/>
              <a:ext cx="4340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DISCO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52441" y="449522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0.44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1156" y="4862751"/>
              <a:ext cx="334152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Ours drives the residual error to exactly zero.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248400" y="2038350"/>
            <a:ext cx="5334000" cy="3200400"/>
            <a:chOff x="6248400" y="2038350"/>
            <a:chExt cx="5334000" cy="3200400"/>
          </a:xfrm>
        </p:grpSpPr>
        <p:sp>
          <p:nvSpPr>
            <p:cNvPr id="36" name="Rectangle 36"/>
            <p:cNvSpPr/>
            <p:nvPr/>
          </p:nvSpPr>
          <p:spPr>
            <a:xfrm>
              <a:off x="6248400" y="2038350"/>
              <a:ext cx="5334000" cy="3200400"/>
            </a:xfrm>
            <a:prstGeom prst="roundRect">
              <a:avLst>
                <a:gd name="adj" fmla="val 416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48400" y="2038350"/>
              <a:ext cx="57150" cy="320040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08814" y="2247662"/>
              <a:ext cx="2503938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STL10-scale · natural images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09956" y="2576751"/>
              <a:ext cx="195688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Accuracy (higher is better)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91500" y="2857500"/>
              <a:ext cx="2857500" cy="247650"/>
            </a:xfrm>
            <a:prstGeom prst="roundRect">
              <a:avLst>
                <a:gd name="adj" fmla="val 23077"/>
              </a:avLst>
            </a:prstGeom>
            <a:solidFill>
              <a:srgbClr val="0E2334"/>
            </a:solidFill>
            <a:ln w="9525">
              <a:solidFill>
                <a:srgbClr val="26455F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191500" y="2857500"/>
              <a:ext cx="2609850" cy="247650"/>
            </a:xfrm>
            <a:prstGeom prst="roundRect">
              <a:avLst>
                <a:gd name="adj" fmla="val 23077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710621" y="2922461"/>
              <a:ext cx="3719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Ours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891266" y="2922461"/>
              <a:ext cx="4485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73.3%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191500" y="3238500"/>
              <a:ext cx="2857500" cy="247650"/>
            </a:xfrm>
            <a:prstGeom prst="roundRect">
              <a:avLst>
                <a:gd name="adj" fmla="val 23077"/>
              </a:avLst>
            </a:prstGeom>
            <a:solidFill>
              <a:srgbClr val="0E2334"/>
            </a:solidFill>
            <a:ln w="9525">
              <a:solidFill>
                <a:srgbClr val="26455F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191500" y="3238500"/>
              <a:ext cx="2085975" cy="247650"/>
            </a:xfrm>
            <a:prstGeom prst="roundRect">
              <a:avLst>
                <a:gd name="adj" fmla="val 23077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29493" y="3303461"/>
              <a:ext cx="8530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Fourier CNN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367391" y="3303461"/>
              <a:ext cx="4485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58.4%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191500" y="3619500"/>
              <a:ext cx="2857500" cy="247650"/>
            </a:xfrm>
            <a:prstGeom prst="roundRect">
              <a:avLst>
                <a:gd name="adj" fmla="val 23077"/>
              </a:avLst>
            </a:prstGeom>
            <a:solidFill>
              <a:srgbClr val="0E2334"/>
            </a:solidFill>
            <a:ln w="9525">
              <a:solidFill>
                <a:srgbClr val="26455F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191500" y="3619500"/>
              <a:ext cx="2000250" cy="247650"/>
            </a:xfrm>
            <a:prstGeom prst="roundRect">
              <a:avLst>
                <a:gd name="adj" fmla="val 23077"/>
              </a:avLst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03968" y="3684461"/>
              <a:ext cx="8785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Wide ResNet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281666" y="3684461"/>
              <a:ext cx="4485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56.0%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515100" y="4038600"/>
              <a:ext cx="5067300" cy="419100"/>
            </a:xfrm>
            <a:prstGeom prst="roundRect">
              <a:avLst>
                <a:gd name="adj" fmla="val 22727"/>
              </a:avLst>
            </a:prstGeom>
            <a:solidFill>
              <a:srgbClr val="0F2E2B"/>
            </a:solidFill>
            <a:ln w="14288">
              <a:solidFill>
                <a:srgbClr val="34D3C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61785" y="4183856"/>
              <a:ext cx="45471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≈ +15 points over the strongest baseline · equi-error 0.00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09956" y="4710351"/>
              <a:ext cx="416248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gain is largest on the harder natural-image benchmark.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09600" y="5372100"/>
            <a:ext cx="10972800" cy="1104900"/>
            <a:chOff x="609600" y="5372100"/>
            <a:chExt cx="10972800" cy="1104900"/>
          </a:xfrm>
        </p:grpSpPr>
        <p:sp>
          <p:nvSpPr>
            <p:cNvPr id="56" name="Rectangle 56"/>
            <p:cNvSpPr/>
            <p:nvPr/>
          </p:nvSpPr>
          <p:spPr>
            <a:xfrm>
              <a:off x="609600" y="5372100"/>
              <a:ext cx="10972800" cy="1104900"/>
            </a:xfrm>
            <a:prstGeom prst="roundRect">
              <a:avLst>
                <a:gd name="adj" fmla="val 12069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09600" y="5372100"/>
              <a:ext cx="57150" cy="110490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70204" y="5566410"/>
              <a:ext cx="16626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Degrades gracefully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76300" y="5867400"/>
              <a:ext cx="2476500" cy="552450"/>
            </a:xfrm>
            <a:prstGeom prst="roundRect">
              <a:avLst>
                <a:gd name="adj" fmla="val 17241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876300" y="5867400"/>
              <a:ext cx="47625" cy="552450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61276" y="5997654"/>
              <a:ext cx="174927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Non-ideal downsampling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62038" y="6204347"/>
              <a:ext cx="207565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still best: 98.8% acc · err 0.05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305300" y="5867400"/>
              <a:ext cx="2476500" cy="552450"/>
            </a:xfrm>
            <a:prstGeom prst="roundRect">
              <a:avLst>
                <a:gd name="adj" fmla="val 17241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4305300" y="5867400"/>
              <a:ext cx="47625" cy="552450"/>
            </a:xfrm>
            <a:prstGeom prst="roundRect">
              <a:avLst>
                <a:gd name="adj" fmla="val 4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490276" y="5997654"/>
              <a:ext cx="1272208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Low-data regime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491038" y="6204347"/>
              <a:ext cx="228160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most data-efficient of all methods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734300" y="5867400"/>
              <a:ext cx="2476500" cy="552450"/>
            </a:xfrm>
            <a:prstGeom prst="roundRect">
              <a:avLst>
                <a:gd name="adj" fmla="val 17241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7734300" y="5867400"/>
              <a:ext cx="47625" cy="552450"/>
            </a:xfrm>
            <a:prstGeom prst="roundRect">
              <a:avLst>
                <a:gd name="adj" fmla="val 4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919276" y="5997654"/>
              <a:ext cx="145933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1k training samples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920038" y="6204347"/>
              <a:ext cx="162695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96.06% vs DISCO 94.57%</a:t>
              </a:r>
            </a:p>
          </p:txBody>
        </p:sp>
      </p:grpSp>
      <p:sp>
        <p:nvSpPr>
          <p:cNvPr id="72" name="cue_s07_c1_results_striking" title="cue_s07_c1_results_striking" descr="cue_s07_c1_results_striking The results are striking."/>
          <p:cNvSpPr/>
          <p:nvPr/>
        </p:nvSpPr>
        <p:spPr>
          <a:xfrm>
            <a:off x="609600" y="1428521"/>
            <a:ext cx="10972800" cy="47594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cue_s07_c2_mnist_scale_ideal_downsampling_achie" title="cue_s07_c2_mnist_scale_ideal_downsampling_achie" descr="cue_s07_c2_mnist_scale_ideal_downsampling_achie On MNIST-scale with ideal downsampling, the model achieves the highest accuracy at ninety-eight point nine percent, the highest scale-consistency at ninety-seven percent, and, crucially, an absolute zero equivariance error, while competing methods like DISCO s"/>
          <p:cNvSpPr/>
          <p:nvPr/>
        </p:nvSpPr>
        <p:spPr>
          <a:xfrm>
            <a:off x="609600" y="2038197"/>
            <a:ext cx="5334000" cy="32006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cue_s07_c3_advantage_largest_harder_stl10_scale" title="cue_s07_c3_advantage_largest_harder_stl10_scale" descr="cue_s07_c3_advantage_largest_harder_stl10_scale The advantage is largest on the harder STL10-scale natural-image benchmark, where the model reaches seventy-three percent accuracy against roughly fifty-eight percent for the strongest baseline, a gain of about fifteen points, still with exactly zero equivaria"/>
          <p:cNvSpPr/>
          <p:nvPr/>
        </p:nvSpPr>
        <p:spPr>
          <a:xfrm>
            <a:off x="6248399" y="2038197"/>
            <a:ext cx="5334000" cy="32006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cue_s07_c4_also_degrades_gracefully_even_under" title="cue_s07_c4_also_degrades_gracefully_even_under" descr="cue_s07_c4_also_degrades_gracefully_even_under It also degrades gracefully: even under non-ideal downsampling it remains the best model, and in low-data regimes it is the most data-efficient of all methods tested."/>
          <p:cNvSpPr/>
          <p:nvPr/>
        </p:nvSpPr>
        <p:spPr>
          <a:xfrm>
            <a:off x="609600" y="5371871"/>
            <a:ext cx="10972800" cy="11048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159689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ABLATION STUDY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561464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 consistency loss earns its place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609600" y="1504950"/>
            <a:ext cx="6477000" cy="3733800"/>
            <a:chOff x="609600" y="1504950"/>
            <a:chExt cx="6477000" cy="373380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6477000" cy="3733800"/>
            </a:xfrm>
            <a:prstGeom prst="roundRect">
              <a:avLst>
                <a:gd name="adj" fmla="val 3571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3733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204" y="1737360"/>
              <a:ext cx="44704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Scale-consistency: with vs. without consistency loss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219200" y="3086100"/>
              <a:ext cx="457200" cy="1581150"/>
            </a:xfrm>
            <a:prstGeom prst="roundRect">
              <a:avLst>
                <a:gd name="adj" fmla="val 8333"/>
              </a:avLst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03100" y="2912745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91.5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828800" y="2914650"/>
              <a:ext cx="457200" cy="1752600"/>
            </a:xfrm>
            <a:prstGeom prst="roundRect">
              <a:avLst>
                <a:gd name="adj" fmla="val 8333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912700" y="2741295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93.0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11296" y="4771549"/>
              <a:ext cx="8826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5000 samples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314700" y="3695700"/>
              <a:ext cx="457200" cy="971550"/>
            </a:xfrm>
            <a:prstGeom prst="roundRect">
              <a:avLst>
                <a:gd name="adj" fmla="val 8333"/>
              </a:avLst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398600" y="3522345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86.3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924300" y="3371850"/>
              <a:ext cx="457200" cy="1295400"/>
            </a:xfrm>
            <a:prstGeom prst="roundRect">
              <a:avLst>
                <a:gd name="adj" fmla="val 8333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008200" y="3198495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89.1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06796" y="4771549"/>
              <a:ext cx="8826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2500 samples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410200" y="4267200"/>
              <a:ext cx="457200" cy="400050"/>
            </a:xfrm>
            <a:prstGeom prst="roundRect">
              <a:avLst>
                <a:gd name="adj" fmla="val 9524"/>
              </a:avLst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494100" y="4093845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81.4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19800" y="4219575"/>
              <a:ext cx="457200" cy="447675"/>
            </a:xfrm>
            <a:prstGeom prst="roundRect">
              <a:avLst>
                <a:gd name="adj" fmla="val 8511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103700" y="4046220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81.8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02296" y="4771549"/>
              <a:ext cx="8826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1000 samples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990600" y="466725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14288" cap="rnd">
              <a:solidFill>
                <a:srgbClr val="26455F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76300" y="2133600"/>
              <a:ext cx="133350" cy="133350"/>
            </a:xfrm>
            <a:prstGeom prst="roundRect">
              <a:avLst>
                <a:gd name="adj" fmla="val 21429"/>
              </a:avLst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80897" y="2142649"/>
              <a:ext cx="13812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without consistency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705100" y="2133600"/>
              <a:ext cx="133350" cy="133350"/>
            </a:xfrm>
            <a:prstGeom prst="roundRect">
              <a:avLst>
                <a:gd name="adj" fmla="val 21429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909697" y="2142649"/>
              <a:ext cx="11527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with consistency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277100" y="1504950"/>
            <a:ext cx="4305300" cy="1143000"/>
            <a:chOff x="7277100" y="1504950"/>
            <a:chExt cx="4305300" cy="1143000"/>
          </a:xfrm>
        </p:grpSpPr>
        <p:sp>
          <p:nvSpPr>
            <p:cNvPr id="29" name="Rectangle 29"/>
            <p:cNvSpPr/>
            <p:nvPr/>
          </p:nvSpPr>
          <p:spPr>
            <a:xfrm>
              <a:off x="7277100" y="1504950"/>
              <a:ext cx="4305300" cy="1143000"/>
            </a:xfrm>
            <a:prstGeom prst="roundRect">
              <a:avLst>
                <a:gd name="adj" fmla="val 11667"/>
              </a:avLst>
            </a:prstGeom>
            <a:solidFill>
              <a:srgbClr val="0F2E2B"/>
            </a:solidFill>
            <a:ln w="14288">
              <a:solidFill>
                <a:srgbClr val="34D3C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277100" y="150495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538085" y="1726406"/>
              <a:ext cx="1325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At 5,000 samples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32370" y="2081212"/>
              <a:ext cx="22650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91.5% → 93.0%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38847" y="2447449"/>
              <a:ext cx="12358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scale-consistency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277100" y="2800350"/>
            <a:ext cx="4305300" cy="1158811"/>
            <a:chOff x="7277100" y="2800350"/>
            <a:chExt cx="4305300" cy="1158811"/>
          </a:xfrm>
        </p:grpSpPr>
        <p:sp>
          <p:nvSpPr>
            <p:cNvPr id="35" name="Rectangle 35"/>
            <p:cNvSpPr/>
            <p:nvPr/>
          </p:nvSpPr>
          <p:spPr>
            <a:xfrm>
              <a:off x="7277100" y="2800350"/>
              <a:ext cx="4305300" cy="1143000"/>
            </a:xfrm>
            <a:prstGeom prst="roundRect">
              <a:avLst>
                <a:gd name="adj" fmla="val 1166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77100" y="280035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38085" y="3021806"/>
              <a:ext cx="18136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The loss does real work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38466" y="3334702"/>
              <a:ext cx="20861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It improves both accuracy and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38466" y="3544252"/>
              <a:ext cx="2795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scale-consistency at every training-set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38466" y="3753802"/>
              <a:ext cx="364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size.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277100" y="4095750"/>
            <a:ext cx="4305300" cy="1158811"/>
            <a:chOff x="7277100" y="4095750"/>
            <a:chExt cx="4305300" cy="1158811"/>
          </a:xfrm>
        </p:grpSpPr>
        <p:sp>
          <p:nvSpPr>
            <p:cNvPr id="42" name="Rectangle 42"/>
            <p:cNvSpPr/>
            <p:nvPr/>
          </p:nvSpPr>
          <p:spPr>
            <a:xfrm>
              <a:off x="7277100" y="4095750"/>
              <a:ext cx="4305300" cy="1143000"/>
            </a:xfrm>
            <a:prstGeom prst="roundRect">
              <a:avLst>
                <a:gd name="adj" fmla="val 11667"/>
              </a:avLst>
            </a:prstGeom>
            <a:solidFill>
              <a:srgbClr val="2A2417"/>
            </a:solidFill>
            <a:ln w="14288">
              <a:solidFill>
                <a:srgbClr val="F2C14E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277100" y="409575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38085" y="4317206"/>
              <a:ext cx="11641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A design lesson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38466" y="4630102"/>
              <a:ext cx="2481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frequency-domain non-linearity is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38466" y="4839652"/>
              <a:ext cx="29154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equivariant but hurt accuracy — hence the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38466" y="5049202"/>
              <a:ext cx="20461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spatial-domain non-linearity.</a:t>
              </a:r>
            </a:p>
          </p:txBody>
        </p:sp>
      </p:grpSp>
      <p:sp>
        <p:nvSpPr>
          <p:cNvPr id="49" name="cue_s08_c1_ablation_isolates_consistency_loss_a" title="cue_s08_c1_ablation_isolates_consistency_loss_a" descr="cue_s08_c1_ablation_isolates_consistency_loss_a An ablation isolates the consistency loss. Across training-set sizes of five thousand, twenty-five hundred, and one thousand samples, adding the consistency loss consistently improves both accuracy and the scale-consistency rate."/>
          <p:cNvSpPr/>
          <p:nvPr/>
        </p:nvSpPr>
        <p:spPr>
          <a:xfrm>
            <a:off x="609600" y="1504645"/>
            <a:ext cx="6476390" cy="37334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ue_s08_c2_example_five_thousand_samples_scale" title="cue_s08_c2_example_five_thousand_samples_scale" descr="cue_s08_c2_example_five_thousand_samples_scale For example, at five thousand samples the scale-consistency rises from ninety-one and a half percent to nearly ninety-three percent."/>
          <p:cNvSpPr/>
          <p:nvPr/>
        </p:nvSpPr>
        <p:spPr>
          <a:xfrm>
            <a:off x="7277404" y="1504645"/>
            <a:ext cx="4304995" cy="11432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ue_s08_c3_confirms_hinge_consistency_loss_doin" title="cue_s08_c3_confirms_hinge_consistency_loss_doin" descr="cue_s08_c3_confirms_hinge_consistency_loss_doin This confirms that the hinge consistency loss is doing real work, encouraging the model to make better predictions as resolution increases."/>
          <p:cNvSpPr/>
          <p:nvPr/>
        </p:nvSpPr>
        <p:spPr>
          <a:xfrm>
            <a:off x="7277404" y="2800121"/>
            <a:ext cx="4304995" cy="11590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ue_s08_c4_authors_also_note_applying_non_linea" title="cue_s08_c4_authors_also_note_applying_non_linea" descr="cue_s08_c4_authors_also_note_applying_non_linea The authors also note that applying the non-linearity directly in the frequency domain, though equivariant, hurt classification, which is why they designed the spatial-domain scale-equivariant non-linearity."/>
          <p:cNvSpPr/>
          <p:nvPr/>
        </p:nvSpPr>
        <p:spPr>
          <a:xfrm>
            <a:off x="7277404" y="4095597"/>
            <a:ext cx="4304995" cy="11590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75335" y="564356"/>
            <a:ext cx="9680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TAKEAWAY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481939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Get the signal processing right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09600" y="1619250"/>
            <a:ext cx="10972800" cy="1104900"/>
            <a:chOff x="609600" y="1619250"/>
            <a:chExt cx="10972800" cy="1104900"/>
          </a:xfrm>
        </p:grpSpPr>
        <p:sp>
          <p:nvSpPr>
            <p:cNvPr id="5" name="Rectangle 5"/>
            <p:cNvSpPr/>
            <p:nvPr/>
          </p:nvSpPr>
          <p:spPr>
            <a:xfrm>
              <a:off x="609600" y="1619250"/>
              <a:ext cx="10972800" cy="1104900"/>
            </a:xfrm>
            <a:prstGeom prst="roundRect">
              <a:avLst>
                <a:gd name="adj" fmla="val 12069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619250"/>
              <a:ext cx="57150" cy="1104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71550" y="20764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21511" y="1903571"/>
              <a:ext cx="20484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Reframe the problem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2844" y="2236708"/>
              <a:ext cx="613068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Treat scale-equivariance as a signal-processing problem — down-scaling is ideal,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22844" y="2465308"/>
              <a:ext cx="360347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anti-aliased downsampling of a discrete signal.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2914650"/>
            <a:ext cx="10972800" cy="1104900"/>
            <a:chOff x="609600" y="2914650"/>
            <a:chExt cx="10972800" cy="1104900"/>
          </a:xfrm>
        </p:grpSpPr>
        <p:sp>
          <p:nvSpPr>
            <p:cNvPr id="12" name="Rectangle 12"/>
            <p:cNvSpPr/>
            <p:nvPr/>
          </p:nvSpPr>
          <p:spPr>
            <a:xfrm>
              <a:off x="609600" y="2914650"/>
              <a:ext cx="10972800" cy="1104900"/>
            </a:xfrm>
            <a:prstGeom prst="roundRect">
              <a:avLst>
                <a:gd name="adj" fmla="val 12069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2914650"/>
              <a:ext cx="57150" cy="110490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971550" y="3371850"/>
              <a:ext cx="190500" cy="19050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21511" y="3198971"/>
              <a:ext cx="19679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Provably zero error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22844" y="3532108"/>
              <a:ext cx="677100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Require every output frequency to depend only on equal-or-lower input frequencies, and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22844" y="3760708"/>
              <a:ext cx="638841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Fourier layers become exactly scale-equivariant — zero error, not a small residual.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4210050"/>
            <a:ext cx="10972800" cy="1104900"/>
            <a:chOff x="609600" y="4210050"/>
            <a:chExt cx="10972800" cy="1104900"/>
          </a:xfrm>
        </p:grpSpPr>
        <p:sp>
          <p:nvSpPr>
            <p:cNvPr id="19" name="Rectangle 19"/>
            <p:cNvSpPr/>
            <p:nvPr/>
          </p:nvSpPr>
          <p:spPr>
            <a:xfrm>
              <a:off x="609600" y="4210050"/>
              <a:ext cx="10972800" cy="1104900"/>
            </a:xfrm>
            <a:prstGeom prst="roundRect">
              <a:avLst>
                <a:gd name="adj" fmla="val 12069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9600" y="4210050"/>
              <a:ext cx="57150" cy="110490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71550" y="4667250"/>
              <a:ext cx="190500" cy="19050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421511" y="4494371"/>
              <a:ext cx="16968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 practical cost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22844" y="4827508"/>
              <a:ext cx="634979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guarantee is free: the model matches or beats prior scale-equivariant CNNs 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22844" y="5056108"/>
              <a:ext cx="511821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accuracy and is more data-efficient, especially on natural images.</a:t>
              </a:r>
            </a:p>
          </p:txBody>
        </p:sp>
      </p:grpSp>
      <p:sp>
        <p:nvSpPr>
          <p:cNvPr id="26" name="Line 26"/>
          <p:cNvSpPr/>
          <p:nvPr/>
        </p:nvSpPr>
        <p:spPr>
          <a:xfrm>
            <a:off x="609600" y="5676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rnd">
            <a:solidFill>
              <a:srgbClr val="26455F"/>
            </a:solidFill>
          </a:ln>
        </p:spPr>
        <p:txBody>
          <a:bodyPr/>
          <a:p/>
        </p:txBody>
      </p:sp>
      <p:sp>
        <p:nvSpPr>
          <p:cNvPr id="27" name="TextBox 27"/>
          <p:cNvSpPr txBox="1"/>
          <p:nvPr/>
        </p:nvSpPr>
        <p:spPr>
          <a:xfrm>
            <a:off x="603504" y="5890260"/>
            <a:ext cx="452020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Truly Scale-Equivariant Deep Nets with Fourier Layers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4456" y="6177201"/>
            <a:ext cx="6228692" cy="198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1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NeurIPS 2023 · arXiv:2311.02922 · github.com/ashiq24/Scale_Equivarinat_Fourier_Layer</a:t>
            </a:r>
          </a:p>
        </p:txBody>
      </p:sp>
      <p:sp>
        <p:nvSpPr>
          <p:cNvPr id="29" name="cue_s09_c1_lasting_takeaway_scale_equivariance" title="cue_s09_c1_lasting_takeaway_scale_equivariance" descr="cue_s09_c1_lasting_takeaway_scale_equivariance The lasting takeaway is that scale-equivariance should be treated as a signal-processing problem."/>
          <p:cNvSpPr/>
          <p:nvPr/>
        </p:nvSpPr>
        <p:spPr>
          <a:xfrm>
            <a:off x="609600" y="1619173"/>
            <a:ext cx="10972800" cy="11048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ue_s09_c2_once_you_formulate_down_scaling_idea" title="cue_s09_c2_once_you_formulate_down_scaling_idea" descr="cue_s09_c2_once_you_formulate_down_scaling_idea Once you formulate down-scaling as ideal, anti-aliased downsampling and require every output frequency to depend only on equal or lower input frequencies, you can build networks from Fourier layers that are exactly scale-equivariant, with provably zero error r"/>
          <p:cNvSpPr/>
          <p:nvPr/>
        </p:nvSpPr>
        <p:spPr>
          <a:xfrm>
            <a:off x="609600" y="2914650"/>
            <a:ext cx="10972800" cy="11048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ue_s09_c3_theoretical_guarantee_comes_practica" title="cue_s09_c3_theoretical_guarantee_comes_practica" descr="cue_s09_c3_theoretical_guarantee_comes_practica And this theoretical guarantee comes at no practical cost: the model matches or beats prior scale-equivariant CNNs on accuracy and is more data-efficient, especially on challenging natural images."/>
          <p:cNvSpPr/>
          <p:nvPr/>
        </p:nvSpPr>
        <p:spPr>
          <a:xfrm>
            <a:off x="609600" y="4210126"/>
            <a:ext cx="10972800" cy="11048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Free Design">
  <a:themeElements>
    <a:clrScheme name="Free Design">
      <a:dk1>
        <a:srgbClr val="EAF2FB"/>
      </a:dk1>
      <a:lt1>
        <a:srgbClr val="0B1B2B"/>
      </a:lt1>
      <a:dk2>
        <a:srgbClr val="9DB3C8"/>
      </a:dk2>
      <a:lt2>
        <a:srgbClr val="0B1B2B"/>
      </a:lt2>
      <a:accent1>
        <a:srgbClr val="4C9BE8"/>
      </a:accent1>
      <a:accent2>
        <a:srgbClr val="4C9BE8"/>
      </a:accent2>
      <a:accent3>
        <a:srgbClr val="4C9BE8"/>
      </a:accent3>
      <a:accent4>
        <a:srgbClr val="8064A2"/>
      </a:accent4>
      <a:accent5>
        <a:srgbClr val="12293D"/>
      </a:accent5>
      <a:accent6>
        <a:srgbClr val="16324A"/>
      </a:accent6>
      <a:hlink>
        <a:srgbClr val="4C9BE8"/>
      </a:hlink>
      <a:folHlink>
        <a:srgbClr val="4C9BE8"/>
      </a:folHlink>
    </a:clrScheme>
    <a:fontScheme name="Free 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2026-07-15T20:00:37Z</dcterms:created>
  <dcterms:modified xsi:type="dcterms:W3CDTF">2026-07-15T20:00:37Z</dcterms:modified>
  <cp:category/>
  <cp:contentStatus/>
</cp:coreProperties>
</file>
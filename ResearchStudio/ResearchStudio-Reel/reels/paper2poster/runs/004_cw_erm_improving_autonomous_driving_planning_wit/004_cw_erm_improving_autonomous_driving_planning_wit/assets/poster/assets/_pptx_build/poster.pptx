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374852"/>
          </a:xfrm>
          <a:prstGeom prst="roundRect">
            <a:avLst>
              <a:gd name="adj" fmla="val 3251"/>
            </a:avLst>
          </a:prstGeom>
          <a:solidFill>
            <a:srgbClr val="F6E7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5548193"/>
            <a:ext cx="10804961" cy="9510216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5548193"/>
            <a:ext cx="160020" cy="9510216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3568" y="5548193"/>
            <a:ext cx="27439124" cy="12305288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3568" y="5548193"/>
            <a:ext cx="160020" cy="12305288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49412" y="5548193"/>
            <a:ext cx="10804962" cy="5285244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5548193"/>
            <a:ext cx="160020" cy="5285244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49412" y="11165284"/>
            <a:ext cx="10804962" cy="5810448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11165284"/>
            <a:ext cx="160020" cy="5810448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887" y="15390256"/>
            <a:ext cx="10804961" cy="14681696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887" y="15390256"/>
            <a:ext cx="160020" cy="14681696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17307579"/>
            <a:ext cx="10804962" cy="6892945"/>
          </a:xfrm>
          <a:prstGeom prst="rect">
            <a:avLst/>
          </a:prstGeom>
          <a:solidFill>
            <a:srgbClr val="F7EDEE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49412" y="17307579"/>
            <a:ext cx="53340" cy="6892945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49412" y="24532371"/>
            <a:ext cx="10804962" cy="5539581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49412" y="24532371"/>
            <a:ext cx="160020" cy="5539581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0487" y="1149732"/>
            <a:ext cx="3475851" cy="151712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0359766" y="8811795"/>
            <a:ext cx="9806504" cy="1771611"/>
          </a:xfrm>
          <a:prstGeom prst="roundRect">
            <a:avLst>
              <a:gd name="adj" fmla="val 11775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62241" y="11836618"/>
            <a:ext cx="9806503" cy="28370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62241" y="11836618"/>
            <a:ext cx="124460" cy="2837021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359766" y="12655748"/>
            <a:ext cx="9806504" cy="4086066"/>
          </a:xfrm>
          <a:prstGeom prst="roundRect">
            <a:avLst>
              <a:gd name="adj" fmla="val 1740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8890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3568" y="18185328"/>
            <a:ext cx="13553639" cy="11886624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3568" y="18185328"/>
            <a:ext cx="160020" cy="11886624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769054" y="18185328"/>
            <a:ext cx="13553638" cy="11886624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69054" y="18185328"/>
            <a:ext cx="160020" cy="11886624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253086" y="21327387"/>
            <a:ext cx="9913184" cy="2672418"/>
          </a:xfrm>
          <a:prstGeom prst="roundRect">
            <a:avLst>
              <a:gd name="adj" fmla="val 6830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253086" y="21327387"/>
            <a:ext cx="124460" cy="2672418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262241" y="26664443"/>
            <a:ext cx="9806503" cy="3024823"/>
          </a:xfrm>
          <a:prstGeom prst="roundRect">
            <a:avLst>
              <a:gd name="adj" fmla="val 6896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oven-planet-united-kingdom-limi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7519" y="3221518"/>
            <a:ext cx="4173299" cy="577841"/>
          </a:xfrm>
          <a:prstGeom prst="rect">
            <a:avLst/>
          </a:prstGeom>
        </p:spPr>
      </p:pic>
      <p:pic>
        <p:nvPicPr>
          <p:cNvPr id="30" name="Picture 29" descr="woven-planet-united-kingdom-limi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7519" y="3965222"/>
            <a:ext cx="4173299" cy="577841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2493922" y="8535094"/>
            <a:ext cx="26440666" cy="1017072"/>
          </a:xfrm>
          <a:prstGeom prst="roundRect">
            <a:avLst>
              <a:gd name="adj" fmla="val 22152"/>
            </a:avLst>
          </a:prstGeom>
          <a:solidFill>
            <a:srgbClr val="F8F2F3"/>
          </a:solidFill>
          <a:ln w="8890">
            <a:solidFill>
              <a:srgbClr val="DBB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821977" y="12877998"/>
            <a:ext cx="4098428" cy="3689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821977" y="12877998"/>
            <a:ext cx="11557" cy="3689072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742592" y="21483796"/>
            <a:ext cx="4048422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METRIC-AGNOSTIC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379408" y="24351515"/>
            <a:ext cx="12555180" cy="1942187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1570890" y="25631536"/>
            <a:ext cx="7384256" cy="4052312"/>
          </a:xfrm>
          <a:prstGeom prst="roundRect">
            <a:avLst>
              <a:gd name="adj" fmla="val 5265"/>
            </a:avLst>
          </a:prstGeom>
          <a:solidFill>
            <a:srgbClr val="F6E7EA"/>
          </a:solidFill>
          <a:ln w="1778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379408" y="26781263"/>
            <a:ext cx="12555180" cy="29111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79408" y="26781263"/>
            <a:ext cx="12555180" cy="11557"/>
          </a:xfrm>
          <a:prstGeom prst="rect">
            <a:avLst/>
          </a:prstGeom>
          <a:solidFill>
            <a:srgbClr val="D8B3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0614659" y="7038657"/>
            <a:ext cx="8319929" cy="1355725"/>
          </a:xfrm>
          <a:prstGeom prst="roundRect">
            <a:avLst>
              <a:gd name="adj" fmla="val 19234"/>
            </a:avLst>
          </a:prstGeom>
          <a:solidFill>
            <a:srgbClr val="F6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2493922" y="7174091"/>
            <a:ext cx="8319790" cy="1084719"/>
          </a:xfrm>
          <a:prstGeom prst="roundRect">
            <a:avLst>
              <a:gd name="adj" fmla="val 24040"/>
            </a:avLst>
          </a:prstGeom>
          <a:solidFill>
            <a:srgbClr val="F6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1554221" y="7174091"/>
            <a:ext cx="8319929" cy="1084719"/>
          </a:xfrm>
          <a:prstGeom prst="roundRect">
            <a:avLst>
              <a:gd name="adj" fmla="val 24040"/>
            </a:avLst>
          </a:prstGeom>
          <a:solidFill>
            <a:srgbClr val="F6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2870775" y="9953605"/>
            <a:ext cx="25686821" cy="7031712"/>
          </a:xfrm>
          <a:prstGeom prst="roundRect">
            <a:avLst>
              <a:gd name="adj" fmla="val 50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igur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0876" y="9953605"/>
            <a:ext cx="25686620" cy="7031712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26379408" y="20143073"/>
            <a:ext cx="12555180" cy="1885652"/>
          </a:xfrm>
          <a:prstGeom prst="roundRect">
            <a:avLst>
              <a:gd name="adj" fmla="val 188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figur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79642" y="20143073"/>
            <a:ext cx="12554712" cy="1885652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12493922" y="26533732"/>
            <a:ext cx="4011196" cy="1604923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6765845" y="26533732"/>
            <a:ext cx="4011335" cy="1604923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1037907" y="26533732"/>
            <a:ext cx="4011195" cy="1604923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2493922" y="28138655"/>
            <a:ext cx="3517662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San Francisco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6167992" y="28138655"/>
            <a:ext cx="2391966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Palo Alto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8716367" y="28138655"/>
            <a:ext cx="3246516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Intersections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493922" y="29114888"/>
            <a:ext cx="3172619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Dense traffic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5822949" y="29114888"/>
            <a:ext cx="5193427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Pedestrians &amp; cyclists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780764" y="7320081"/>
            <a:ext cx="792738" cy="792738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901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1841063" y="7320081"/>
            <a:ext cx="792738" cy="792738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901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901501" y="7320081"/>
            <a:ext cx="792738" cy="792738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901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807989" y="25860871"/>
            <a:ext cx="1425317" cy="488116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335791" y="25860871"/>
            <a:ext cx="1339195" cy="488116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039004" y="26491227"/>
            <a:ext cx="2963287" cy="2963287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7537" y="26609760"/>
            <a:ext cx="2726221" cy="2726221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45523745" y="26491227"/>
            <a:ext cx="2963287" cy="2963287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42278" y="26609760"/>
            <a:ext cx="2726221" cy="2726221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315581" y="1007487"/>
            <a:ext cx="44212331" cy="2590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7972"/>
              </a:lnSpc>
              <a:spcBef>
                <a:spcPts val="0"/>
              </a:spcBef>
              <a:spcAft>
                <a:spcPts val="0"/>
              </a:spcAft>
            </a:pPr>
            <a:r>
              <a:rPr sz="7381" b="1" spc="-82">
                <a:solidFill>
                  <a:srgbClr val="8F2437"/>
                </a:solidFill>
                <a:latin typeface="Arial"/>
              </a:rPr>
              <a:t>CW-ERM: Improving Autonomous Driving Planning with Closed-loop Weighted Empirical</a:t>
            </a:r>
          </a:p>
          <a:p>
            <a:pPr algn="l">
              <a:lnSpc>
                <a:spcPts val="7972"/>
              </a:lnSpc>
              <a:spcBef>
                <a:spcPts val="0"/>
              </a:spcBef>
              <a:spcAft>
                <a:spcPts val="0"/>
              </a:spcAft>
            </a:pPr>
            <a:r>
              <a:rPr sz="7381" b="1" spc="-82">
                <a:solidFill>
                  <a:srgbClr val="8F2437"/>
                </a:solidFill>
                <a:latin typeface="Arial"/>
              </a:rPr>
              <a:t>Risk Minimization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15581" y="3489741"/>
            <a:ext cx="44212331" cy="7442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Eesha Kumar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Yiming Zhang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Stefano Pini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Simon Stent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Ana Ferreira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Sergey Zagoruyko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Christian S. Perone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15581" y="4189968"/>
            <a:ext cx="44212331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Woven Planet UK  ·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Woven Planet North America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62241" y="5936297"/>
            <a:ext cx="1010069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Problem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493922" y="5936297"/>
            <a:ext cx="26867386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Method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359766" y="5936297"/>
            <a:ext cx="1010069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Ablation Study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62241" y="7038657"/>
            <a:ext cx="10100698" cy="521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Behavioral-cloning driving policies are trained </a:t>
            </a:r>
            <a:r>
              <a:rPr sz="4106" b="1">
                <a:solidFill>
                  <a:srgbClr val="111111"/>
                </a:solidFill>
                <a:latin typeface="Arial"/>
              </a:rPr>
              <a:t>open-loop</a:t>
            </a:r>
            <a:r>
              <a:rPr sz="4106" b="0">
                <a:solidFill>
                  <a:srgbClr val="1C1C1C"/>
                </a:solidFill>
                <a:latin typeface="Arial"/>
              </a:rPr>
              <a:t> with Empirical Risk Minimization, matching only per-step expert actions. Deployed </a:t>
            </a:r>
            <a:r>
              <a:rPr sz="4106" b="1">
                <a:solidFill>
                  <a:srgbClr val="111111"/>
                </a:solidFill>
                <a:latin typeface="Arial"/>
              </a:rPr>
              <a:t>closed-loop</a:t>
            </a:r>
            <a:r>
              <a:rPr sz="4106" b="0">
                <a:solidFill>
                  <a:srgbClr val="1C1C1C"/>
                </a:solidFill>
                <a:latin typeface="Arial"/>
              </a:rPr>
              <a:t>, small prediction errors compound into </a:t>
            </a:r>
            <a:r>
              <a:rPr sz="4106" b="1">
                <a:solidFill>
                  <a:srgbClr val="111111"/>
                </a:solidFill>
                <a:latin typeface="Arial"/>
              </a:rPr>
              <a:t>covariate shift</a:t>
            </a:r>
            <a:r>
              <a:rPr sz="4106" b="0">
                <a:solidFill>
                  <a:srgbClr val="1C1C1C"/>
                </a:solidFill>
                <a:latin typeface="Arial"/>
              </a:rPr>
              <a:t> and collisions.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359766" y="7038657"/>
            <a:ext cx="10100699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Single-metric upsampling wins its target metric; multi-metric trades a Pareto front.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698697" y="9002236"/>
            <a:ext cx="8926208" cy="1526016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Adding rear collisions regresses; best near </a:t>
            </a:r>
            <a:r>
              <a:rPr sz="4106" b="0">
                <a:solidFill>
                  <a:srgbClr val="8F2437"/>
                </a:solidFill>
                <a:latin typeface="Arial"/>
              </a:rPr>
              <a:t>             </a:t>
            </a:r>
            <a:r>
              <a:rPr sz="4106" b="0">
                <a:solidFill>
                  <a:srgbClr val="8F2437"/>
                </a:solidFill>
                <a:latin typeface="Arial"/>
              </a:rPr>
              <a:t>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359766" y="11553388"/>
            <a:ext cx="10100699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Headline Numbers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62241" y="11836618"/>
            <a:ext cx="10100698" cy="3262574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Non-differentiable safety metrics like collisions are invisible to the surrogate loss — training and deployment optimize different objectives.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62241" y="15778360"/>
            <a:ext cx="1010069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Motivation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253086" y="17695683"/>
            <a:ext cx="1021057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Takeaway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253086" y="18798043"/>
            <a:ext cx="10210579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Simulate once, upsample the failures, and retrain — no differentiable simulator, oracle, or added latency.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62241" y="26664443"/>
            <a:ext cx="10100698" cy="3478546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Can we get closed-loop benefits by using a simulator only to pick </a:t>
            </a:r>
            <a:r>
              <a:rPr sz="4106" b="1" i="1">
                <a:solidFill>
                  <a:srgbClr val="FFFFFF"/>
                </a:solidFill>
                <a:latin typeface="Arial"/>
              </a:rPr>
              <a:t>which training scenes matter</a:t>
            </a:r>
            <a:r>
              <a:rPr sz="4106" b="1">
                <a:solidFill>
                  <a:srgbClr val="FFFFFF"/>
                </a:solidFill>
                <a:latin typeface="Arial"/>
              </a:rPr>
              <a:t> — no new loss, no differentiability?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493922" y="8535094"/>
            <a:ext cx="26867386" cy="116963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6431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                                     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62222" y="16961564"/>
            <a:ext cx="10100717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Closed-loop remedies like </a:t>
            </a:r>
            <a:r>
              <a:rPr sz="4106" b="1">
                <a:solidFill>
                  <a:srgbClr val="111111"/>
                </a:solidFill>
                <a:latin typeface="Arial"/>
              </a:rPr>
              <a:t>backprop-through-time</a:t>
            </a:r>
            <a:r>
              <a:rPr sz="4106" b="0">
                <a:solidFill>
                  <a:srgbClr val="1C1C1C"/>
                </a:solidFill>
                <a:latin typeface="Arial"/>
              </a:rPr>
              <a:t> in a differentiable simulator are expensive, need differentiable metrics, and scale poorly.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493922" y="18573432"/>
            <a:ext cx="1293183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Dataset / Benchmark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379408" y="18573432"/>
            <a:ext cx="1293183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Key Results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493922" y="19675792"/>
            <a:ext cx="12931835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Real-world urban driving logs (ego + agents + HD maps); simulator &amp; metrics open-sourced via </a:t>
            </a:r>
            <a:r>
              <a:rPr sz="4106" b="1">
                <a:solidFill>
                  <a:srgbClr val="111111"/>
                </a:solidFill>
                <a:latin typeface="Arial"/>
              </a:rPr>
              <a:t>l5kit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62222" y="20168909"/>
            <a:ext cx="10100717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Unrolling policies through a simulator during training carries a </a:t>
            </a:r>
            <a:r>
              <a:rPr sz="4106" b="1">
                <a:solidFill>
                  <a:srgbClr val="111111"/>
                </a:solidFill>
                <a:latin typeface="Arial"/>
              </a:rPr>
              <a:t>heavy memory cost</a:t>
            </a:r>
            <a:r>
              <a:rPr sz="4106" b="0">
                <a:solidFill>
                  <a:srgbClr val="1C1C1C"/>
                </a:solidFill>
                <a:latin typeface="Arial"/>
              </a:rPr>
              <a:t> and does not scale to large fleets of scenes.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742592" y="22330985"/>
            <a:ext cx="9330390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Failure-weighting ≈ covariate-shift correction via density-ratio estimation.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62222" y="23376255"/>
            <a:ext cx="10100717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Collecting on-policy data or adding human oracles is costly; prior debiasing (LfF, JTT) targets classifier group robustness, not closed-loop driving.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379408" y="24351515"/>
            <a:ext cx="12931835" cy="2233515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8F2437"/>
                </a:solidFill>
                <a:latin typeface="Arial"/>
              </a:rPr>
              <a:t>CW-ERM cuts collisions up to ~35% vs. the best baseline.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761302" y="24920475"/>
            <a:ext cx="3093533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8F2437"/>
                </a:solidFill>
                <a:latin typeface="Arial"/>
              </a:rPr>
              <a:t>Scan to Read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379408" y="26781263"/>
            <a:ext cx="12931835" cy="3347877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Front collisions fall 14→9 and side collisions 55→47; gains transfer to related metrics (side-collision upsampling also cuts rear collisions), with lower variance than the baseline.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891916" y="7187148"/>
            <a:ext cx="601624" cy="12175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336"/>
              </a:lnSpc>
              <a:spcBef>
                <a:spcPts val="0"/>
              </a:spcBef>
              <a:spcAft>
                <a:spcPts val="0"/>
              </a:spcAft>
            </a:pPr>
            <a:r>
              <a:rPr sz="5749" b="1">
                <a:solidFill>
                  <a:srgbClr val="8F2437"/>
                </a:solidFill>
                <a:latin typeface="Arial"/>
              </a:rPr>
              <a:t>›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952354" y="7187148"/>
            <a:ext cx="601624" cy="12175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336"/>
              </a:lnSpc>
              <a:spcBef>
                <a:spcPts val="0"/>
              </a:spcBef>
              <a:spcAft>
                <a:spcPts val="0"/>
              </a:spcAft>
            </a:pPr>
            <a:r>
              <a:rPr sz="5749" b="1">
                <a:solidFill>
                  <a:srgbClr val="8F2437"/>
                </a:solidFill>
                <a:latin typeface="Arial"/>
              </a:rPr>
              <a:t>›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605630" y="13513633"/>
            <a:ext cx="4781943" cy="1553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8F2437"/>
                </a:solidFill>
                <a:latin typeface="Arial"/>
              </a:rPr>
              <a:t>14 → 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605630" y="14888527"/>
            <a:ext cx="4781943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Front collisions vs. baseline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317581" y="17134919"/>
            <a:ext cx="17219791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The six-step CW-ERM pipeline: identify failures closed-loop, upsample them, and retrain.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493904" y="21448930"/>
            <a:ext cx="12931853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Diverse scenarios: lead-vehicle stops, intersections, dense mixed traffic.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881554" y="22178327"/>
            <a:ext cx="11897271" cy="191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Closed-loop collision counts (95% CIs) vs. the best baseline (ERM w/ perturbation) across four metrics; each CW-ERM row upsamples a different metric.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493904" y="23143864"/>
            <a:ext cx="12931853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Scenes 11–13 s (up to 30 s); train / val / test balanced by scenario.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493904" y="24838798"/>
            <a:ext cx="12931853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Metrics: front / side / rear collisions + distance-to-reference.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902737" y="7184647"/>
            <a:ext cx="6947360" cy="12233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88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1C1C1C"/>
                </a:solidFill>
                <a:latin typeface="Arial"/>
              </a:rPr>
              <a:t>Weighted ERM upsamples failures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82000" y="7450514"/>
            <a:ext cx="5428206" cy="611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88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1C1C1C"/>
                </a:solidFill>
                <a:latin typeface="Arial"/>
              </a:rPr>
              <a:t>ERM identification policy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842299" y="7450514"/>
            <a:ext cx="6747343" cy="611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88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1C1C1C"/>
                </a:solidFill>
                <a:latin typeface="Arial"/>
              </a:rPr>
              <a:t>Closed-loop rollout → error set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300231" y="12877998"/>
            <a:ext cx="1483242" cy="125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35 → 28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922795" y="13011348"/>
            <a:ext cx="2057538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Dist-to-ref failures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300231" y="14229139"/>
            <a:ext cx="1674960" cy="125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55 → 47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108929" y="14362489"/>
            <a:ext cx="1865820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Side collisions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300231" y="15580280"/>
            <a:ext cx="140970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≈35%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851397" y="15713630"/>
            <a:ext cx="2131078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Peak metric gain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702420" y="26690141"/>
            <a:ext cx="3702026" cy="959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180 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6974343" y="26690141"/>
            <a:ext cx="3702168" cy="959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60 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246405" y="26690141"/>
            <a:ext cx="3702024" cy="959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~13 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702420" y="27592337"/>
            <a:ext cx="3702026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training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6974343" y="27592337"/>
            <a:ext cx="3702168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val / test each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246405" y="27592337"/>
            <a:ext cx="3702024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per scene</a:t>
            </a:r>
          </a:p>
        </p:txBody>
      </p:sp>
      <p:pic>
        <p:nvPicPr>
          <p:cNvPr id="113" name="Picture 112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31218" y="8620382"/>
            <a:ext cx="16365935" cy="800100"/>
          </a:xfrm>
          <a:prstGeom prst="rect">
            <a:avLst/>
          </a:prstGeom>
        </p:spPr>
      </p:pic>
      <p:pic>
        <p:nvPicPr>
          <p:cNvPr id="114" name="Picture 113" descr="eq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87318" y="9644677"/>
            <a:ext cx="1949966" cy="7378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
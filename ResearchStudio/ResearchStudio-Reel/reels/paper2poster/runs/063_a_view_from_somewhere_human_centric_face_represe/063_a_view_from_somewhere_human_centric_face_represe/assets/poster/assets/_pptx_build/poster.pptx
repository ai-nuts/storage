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1887" y="651887"/>
            <a:ext cx="49902625" cy="42478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4855329"/>
            <a:ext cx="49902625" cy="44450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421233"/>
            <a:ext cx="16349682" cy="65158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1887" y="5421233"/>
            <a:ext cx="1634968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28289" y="5421233"/>
            <a:ext cx="16349682" cy="24650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428289" y="5421233"/>
            <a:ext cx="1634968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5421233"/>
            <a:ext cx="16349821" cy="146133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5421233"/>
            <a:ext cx="1634982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887" y="12268894"/>
            <a:ext cx="16349682" cy="17803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887" y="12268894"/>
            <a:ext cx="1634968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04691" y="20366434"/>
            <a:ext cx="16349821" cy="41466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04691" y="20366434"/>
            <a:ext cx="1634982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04691" y="24844910"/>
            <a:ext cx="16349821" cy="5227042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04691" y="24844910"/>
            <a:ext cx="1634982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04691" y="24844910"/>
            <a:ext cx="53340" cy="5227042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sony-comp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7809" y="1301562"/>
            <a:ext cx="7703741" cy="1369038"/>
          </a:xfrm>
          <a:prstGeom prst="rect">
            <a:avLst/>
          </a:prstGeom>
        </p:spPr>
      </p:pic>
      <p:pic>
        <p:nvPicPr>
          <p:cNvPr id="18" name="Picture 17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256" y="1805383"/>
            <a:ext cx="6526649" cy="1896449"/>
          </a:xfrm>
          <a:prstGeom prst="rect">
            <a:avLst/>
          </a:prstGeom>
        </p:spPr>
      </p:pic>
      <p:pic>
        <p:nvPicPr>
          <p:cNvPr id="19" name="Picture 18" descr="university-of-toky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9324" y="2836465"/>
            <a:ext cx="5680710" cy="13690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88861" y="10099456"/>
            <a:ext cx="15875734" cy="1647984"/>
          </a:xfrm>
          <a:prstGeom prst="roundRect">
            <a:avLst>
              <a:gd name="adj" fmla="val 12659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665263" y="12738258"/>
            <a:ext cx="15875734" cy="1611868"/>
          </a:xfrm>
          <a:prstGeom prst="roundRect">
            <a:avLst>
              <a:gd name="adj" fmla="val 8283"/>
            </a:avLst>
          </a:prstGeom>
          <a:solidFill>
            <a:srgbClr val="F3F4F5"/>
          </a:solidFill>
          <a:ln w="8890">
            <a:solidFill>
              <a:srgbClr val="BF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861" y="17051436"/>
            <a:ext cx="15875734" cy="8030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861" y="17051436"/>
            <a:ext cx="124460" cy="803017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441665" y="21759108"/>
            <a:ext cx="15875873" cy="2598658"/>
          </a:xfrm>
          <a:prstGeom prst="roundRect">
            <a:avLst>
              <a:gd name="adj" fmla="val 2736"/>
            </a:avLst>
          </a:prstGeom>
          <a:gradFill rotWithShape="1" flip="none">
            <a:gsLst>
              <a:gs pos="0">
                <a:srgbClr val="E7E9EB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DD1D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495005" y="28010723"/>
            <a:ext cx="15822533" cy="1916211"/>
          </a:xfrm>
          <a:prstGeom prst="roundRect">
            <a:avLst>
              <a:gd name="adj" fmla="val 9526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495005" y="28010723"/>
            <a:ext cx="124460" cy="1916211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441665" y="11998999"/>
            <a:ext cx="15875873" cy="5654735"/>
          </a:xfrm>
          <a:prstGeom prst="roundRect">
            <a:avLst>
              <a:gd name="adj" fmla="val 62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1680" y="11998999"/>
            <a:ext cx="15875844" cy="565473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7958772" y="14694197"/>
            <a:ext cx="15288577" cy="13908822"/>
          </a:xfrm>
          <a:prstGeom prst="roundRect">
            <a:avLst>
              <a:gd name="adj" fmla="val 25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58772" y="14694237"/>
            <a:ext cx="15288577" cy="13908742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159311" y="18115180"/>
            <a:ext cx="15334694" cy="10487839"/>
          </a:xfrm>
          <a:prstGeom prst="roundRect">
            <a:avLst>
              <a:gd name="adj" fmla="val 33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igur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9311" y="18115219"/>
            <a:ext cx="15334694" cy="10487761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44769762" y="21981358"/>
            <a:ext cx="5301912" cy="22016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769762" y="21981358"/>
            <a:ext cx="11557" cy="2201664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984511" y="28167131"/>
            <a:ext cx="3124418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GENERALIZES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441665" y="10888444"/>
            <a:ext cx="15875873" cy="817046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441665" y="8643719"/>
            <a:ext cx="7564835" cy="610632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41665" y="9245461"/>
            <a:ext cx="756483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006500" y="8643719"/>
            <a:ext cx="3991887" cy="610632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06500" y="9245461"/>
            <a:ext cx="399188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998387" y="8643719"/>
            <a:ext cx="4319151" cy="610632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998387" y="9245461"/>
            <a:ext cx="4319151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441665" y="9254351"/>
            <a:ext cx="7564835" cy="8170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441665" y="10062507"/>
            <a:ext cx="756483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006500" y="9254351"/>
            <a:ext cx="3991887" cy="8170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006500" y="10062507"/>
            <a:ext cx="399188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998387" y="9254351"/>
            <a:ext cx="4319151" cy="8170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998387" y="10062507"/>
            <a:ext cx="4319151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441665" y="10071397"/>
            <a:ext cx="7564835" cy="8170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441665" y="10879554"/>
            <a:ext cx="756483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06500" y="10071397"/>
            <a:ext cx="3991887" cy="8170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006500" y="10879554"/>
            <a:ext cx="399188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998387" y="10071397"/>
            <a:ext cx="4319151" cy="8170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998387" y="10879554"/>
            <a:ext cx="4319151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441665" y="10888444"/>
            <a:ext cx="7564835" cy="8170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441665" y="11696600"/>
            <a:ext cx="756483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06500" y="10888444"/>
            <a:ext cx="3991887" cy="8170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006500" y="11696600"/>
            <a:ext cx="3991887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998387" y="10888444"/>
            <a:ext cx="4319151" cy="8170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998387" y="11696600"/>
            <a:ext cx="4319151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473"/>
              </a:lnSpc>
              <a:spcBef>
                <a:spcPts val="0"/>
              </a:spcBef>
              <a:spcAft>
                <a:spcPts val="0"/>
              </a:spcAft>
            </a:pPr>
            <a:r>
              <a:rPr sz="7702" b="1" spc="-78">
                <a:solidFill>
                  <a:srgbClr val="111111"/>
                </a:solidFill>
                <a:latin typeface="Arial"/>
              </a:rPr>
              <a:t>A View From Somewhere: Human-Centric Face</a:t>
            </a:r>
          </a:p>
          <a:p>
            <a:pPr algn="ctr">
              <a:lnSpc>
                <a:spcPts val="8473"/>
              </a:lnSpc>
              <a:spcBef>
                <a:spcPts val="0"/>
              </a:spcBef>
              <a:spcAft>
                <a:spcPts val="0"/>
              </a:spcAft>
            </a:pPr>
            <a:r>
              <a:rPr sz="7702" b="1" spc="-78">
                <a:solidFill>
                  <a:srgbClr val="111111"/>
                </a:solidFill>
                <a:latin typeface="Arial"/>
              </a:rPr>
              <a:t>Representations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Jerone T. A. Andrews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Przemysław Joniak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2</a:t>
            </a:r>
            <a:r>
              <a:rPr sz="3733" b="0">
                <a:solidFill>
                  <a:srgbClr val="1C1C1C"/>
                </a:solidFill>
                <a:latin typeface="Arial"/>
              </a:rPr>
              <a:t>, Alice Xiang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A5A5A"/>
                </a:solidFill>
                <a:latin typeface="Arial"/>
              </a:rPr>
              <a:t>1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Sony AI    </a:t>
            </a:r>
            <a:r>
              <a:rPr sz="3658" b="0" spc="52" baseline="30000">
                <a:solidFill>
                  <a:srgbClr val="5A5A5A"/>
                </a:solidFill>
                <a:latin typeface="Arial"/>
              </a:rPr>
              <a:t>2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University of Tokyo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8861" y="5747107"/>
            <a:ext cx="1630245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665263" y="5747107"/>
            <a:ext cx="1630245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441665" y="5747107"/>
            <a:ext cx="1630259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8861" y="6813907"/>
            <a:ext cx="16302454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Face datasets are audited with </a:t>
            </a:r>
            <a:r>
              <a:rPr sz="4106" b="1">
                <a:solidFill>
                  <a:srgbClr val="111111"/>
                </a:solidFill>
                <a:latin typeface="Arial"/>
              </a:rPr>
              <a:t>categorical demographic labels</a:t>
            </a:r>
            <a:r>
              <a:rPr sz="4106" b="0">
                <a:solidFill>
                  <a:srgbClr val="1C1C1C"/>
                </a:solidFill>
                <a:latin typeface="Arial"/>
              </a:rPr>
              <a:t> (race, gender, age) that are often </a:t>
            </a:r>
            <a:r>
              <a:rPr sz="4106" b="1">
                <a:solidFill>
                  <a:srgbClr val="111111"/>
                </a:solidFill>
                <a:latin typeface="Arial"/>
              </a:rPr>
              <a:t>missing</a:t>
            </a:r>
            <a:r>
              <a:rPr sz="4106" b="0">
                <a:solidFill>
                  <a:srgbClr val="1C1C1C"/>
                </a:solidFill>
                <a:latin typeface="Arial"/>
              </a:rPr>
              <a:t>, </a:t>
            </a:r>
            <a:r>
              <a:rPr sz="4106" b="1">
                <a:solidFill>
                  <a:srgbClr val="111111"/>
                </a:solidFill>
                <a:latin typeface="Arial"/>
              </a:rPr>
              <a:t>legally restricted</a:t>
            </a:r>
            <a:r>
              <a:rPr sz="4106" b="0">
                <a:solidFill>
                  <a:srgbClr val="1C1C1C"/>
                </a:solidFill>
                <a:latin typeface="Arial"/>
              </a:rPr>
              <a:t>, and </a:t>
            </a:r>
            <a:r>
              <a:rPr sz="4106" b="1">
                <a:solidFill>
                  <a:srgbClr val="111111"/>
                </a:solidFill>
                <a:latin typeface="Arial"/>
              </a:rPr>
              <a:t>biased</a:t>
            </a:r>
            <a:r>
              <a:rPr sz="4106" b="0">
                <a:solidFill>
                  <a:srgbClr val="1C1C1C"/>
                </a:solidFill>
                <a:latin typeface="Arial"/>
              </a:rPr>
              <a:t> when inferred — and blind to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how similar</a:t>
            </a:r>
            <a:r>
              <a:rPr sz="4106" b="0">
                <a:solidFill>
                  <a:srgbClr val="1C1C1C"/>
                </a:solidFill>
                <a:latin typeface="Arial"/>
              </a:rPr>
              <a:t> two same-labeled faces really are.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441665" y="6842244"/>
            <a:ext cx="1630259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AVFS beats semantic-label baselines on both held-out and novel faces.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8861" y="10099456"/>
            <a:ext cx="16302454" cy="1895181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Rigid taxonomies </a:t>
            </a:r>
            <a:r>
              <a:rPr sz="4106" b="1">
                <a:solidFill>
                  <a:srgbClr val="111111"/>
                </a:solidFill>
                <a:latin typeface="Arial"/>
              </a:rPr>
              <a:t>erase multi-ethnic people</a:t>
            </a:r>
            <a:r>
              <a:rPr sz="4106" b="0">
                <a:solidFill>
                  <a:srgbClr val="38465C"/>
                </a:solidFill>
                <a:latin typeface="Arial"/>
              </a:rPr>
              <a:t> and flatten the </a:t>
            </a:r>
            <a:r>
              <a:rPr sz="4106" b="1">
                <a:solidFill>
                  <a:srgbClr val="111111"/>
                </a:solidFill>
                <a:latin typeface="Arial"/>
              </a:rPr>
              <a:t>continuous</a:t>
            </a:r>
            <a:r>
              <a:rPr sz="4106" b="0">
                <a:solidFill>
                  <a:srgbClr val="38465C"/>
                </a:solidFill>
                <a:latin typeface="Arial"/>
              </a:rPr>
              <a:t> nature of human diversity.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8861" y="12594768"/>
            <a:ext cx="1630245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503368" y="14085649"/>
            <a:ext cx="6888413" cy="214693"/>
          </a:xfrm>
          <a:prstGeom prst="rect">
            <a:avLst/>
          </a:prstGeom>
          <a:noFill/>
        </p:spPr>
        <p:txBody>
          <a:bodyPr wrap="square" lIns="233653" rIns="233653" tIns="40054" bIns="40054">
            <a:spAutoFit/>
          </a:bodyPr>
          <a:lstStyle/>
          <a:p>
            <a:pPr algn="ctr">
              <a:lnSpc>
                <a:spcPts val="1905"/>
              </a:lnSpc>
              <a:spcBef>
                <a:spcPts val="0"/>
              </a:spcBef>
              <a:spcAft>
                <a:spcPts val="0"/>
              </a:spcAft>
            </a:pPr>
            <a:r>
              <a:rPr sz="1314" b="0" i="1">
                <a:solidFill>
                  <a:srgbClr val="555555"/>
                </a:solidFill>
                <a:latin typeface="Cambria Math"/>
              </a:rPr>
              <a:t>            </a:t>
            </a:r>
            <a:r>
              <a:rPr sz="1314" b="0" i="1">
                <a:solidFill>
                  <a:srgbClr val="555555"/>
                </a:solidFill>
                <a:latin typeface="Cambria Math"/>
              </a:rPr>
              <a:t>: annotator mask · </a:t>
            </a:r>
            <a:r>
              <a:rPr sz="1314" b="0" i="1">
                <a:solidFill>
                  <a:srgbClr val="555555"/>
                </a:solidFill>
                <a:latin typeface="Cambria Math"/>
              </a:rPr>
              <a:t>     </a:t>
            </a:r>
            <a:r>
              <a:rPr sz="1314" b="0" i="1">
                <a:solidFill>
                  <a:srgbClr val="555555"/>
                </a:solidFill>
                <a:latin typeface="Cambria Math"/>
              </a:rPr>
              <a:t>: face embedding. Odd-one-out = 3-way softmax over the triplet's similarities.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8861" y="17051436"/>
            <a:ext cx="16302454" cy="923469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Who is judging shapes what looks similar.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441665" y="18961258"/>
            <a:ext cx="16302593" cy="869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Annotator masks generalize even to </a:t>
            </a:r>
            <a:r>
              <a:rPr sz="4106" b="1">
                <a:solidFill>
                  <a:srgbClr val="111111"/>
                </a:solidFill>
                <a:latin typeface="Arial"/>
              </a:rPr>
              <a:t>entirely novel faces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441665" y="20692308"/>
            <a:ext cx="1630259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495005" y="25170784"/>
            <a:ext cx="1624925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495005" y="26237584"/>
            <a:ext cx="16249253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From </a:t>
            </a:r>
            <a:r>
              <a:rPr sz="4106" b="1">
                <a:solidFill>
                  <a:srgbClr val="111111"/>
                </a:solidFill>
                <a:latin typeface="Arial"/>
              </a:rPr>
              <a:t>human similarity judgments</a:t>
            </a:r>
            <a:r>
              <a:rPr sz="4106" b="0">
                <a:solidFill>
                  <a:srgbClr val="1C1C1C"/>
                </a:solidFill>
                <a:latin typeface="Arial"/>
              </a:rPr>
              <a:t>, not labels, we learn a continuous, interpretable, perception-aligned space.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984511" y="29103220"/>
            <a:ext cx="12389301" cy="664527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Extends to almost any human decision-making task.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665245" y="6813907"/>
            <a:ext cx="16302472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conditional </a:t>
            </a:r>
            <a:r>
              <a:rPr sz="4106" b="1">
                <a:solidFill>
                  <a:srgbClr val="111111"/>
                </a:solidFill>
                <a:latin typeface="Arial"/>
              </a:rPr>
              <a:t>ResNet-18</a:t>
            </a:r>
            <a:r>
              <a:rPr sz="4106" b="0">
                <a:solidFill>
                  <a:srgbClr val="1C1C1C"/>
                </a:solidFill>
                <a:latin typeface="Arial"/>
              </a:rPr>
              <a:t> embeds each face in </a:t>
            </a:r>
            <a:r>
              <a:rPr sz="4106" b="1">
                <a:solidFill>
                  <a:srgbClr val="111111"/>
                </a:solidFill>
                <a:latin typeface="Arial"/>
              </a:rPr>
              <a:t>128-D</a:t>
            </a:r>
            <a:r>
              <a:rPr sz="4106" b="0">
                <a:solidFill>
                  <a:srgbClr val="1C1C1C"/>
                </a:solidFill>
                <a:latin typeface="Arial"/>
              </a:rPr>
              <a:t>, trained on odd-one-out (3AFC) triplet judgments.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665245" y="8508841"/>
            <a:ext cx="1630247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per-annotator </a:t>
            </a:r>
            <a:r>
              <a:rPr sz="4106" b="1">
                <a:solidFill>
                  <a:srgbClr val="111111"/>
                </a:solidFill>
                <a:latin typeface="Arial"/>
              </a:rPr>
              <a:t>sigmoid mask</a:t>
            </a:r>
            <a:r>
              <a:rPr sz="4106" b="0">
                <a:solidFill>
                  <a:srgbClr val="1C1C1C"/>
                </a:solidFill>
                <a:latin typeface="Arial"/>
              </a:rPr>
              <a:t> gates the dimensions; a sparsity + non-negativity penalty leaves about </a:t>
            </a:r>
            <a:r>
              <a:rPr sz="4106" b="1">
                <a:solidFill>
                  <a:srgbClr val="111111"/>
                </a:solidFill>
                <a:latin typeface="Arial"/>
              </a:rPr>
              <a:t>22 interpretable dimensions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665245" y="10959980"/>
            <a:ext cx="16302472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All-ones masks give </a:t>
            </a:r>
            <a:r>
              <a:rPr sz="4106" b="1">
                <a:solidFill>
                  <a:srgbClr val="111111"/>
                </a:solidFill>
                <a:latin typeface="Arial"/>
              </a:rPr>
              <a:t>AVFS-U</a:t>
            </a:r>
            <a:r>
              <a:rPr sz="4106" b="0">
                <a:solidFill>
                  <a:srgbClr val="1C1C1C"/>
                </a:solidFill>
                <a:latin typeface="Arial"/>
              </a:rPr>
              <a:t>; conditional variants are </a:t>
            </a:r>
            <a:r>
              <a:rPr sz="4106" b="1">
                <a:solidFill>
                  <a:srgbClr val="111111"/>
                </a:solidFill>
                <a:latin typeface="Arial"/>
              </a:rPr>
              <a:t>AVFS-C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AVFS-CPH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8842" y="13661568"/>
            <a:ext cx="1630247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Similarity is continuous &amp; observer-dependent</a:t>
            </a:r>
            <a:r>
              <a:rPr sz="4106" b="0">
                <a:solidFill>
                  <a:srgbClr val="1C1C1C"/>
                </a:solidFill>
                <a:latin typeface="Arial"/>
              </a:rPr>
              <a:t> — aligning with human perception skips semantic labels.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8842" y="15356502"/>
            <a:ext cx="1630247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embeddings </a:t>
            </a:r>
            <a:r>
              <a:rPr sz="4106" b="1">
                <a:solidFill>
                  <a:srgbClr val="111111"/>
                </a:solidFill>
                <a:latin typeface="Arial"/>
              </a:rPr>
              <a:t>can't place unseen faces</a:t>
            </a:r>
            <a:r>
              <a:rPr sz="4106" b="0">
                <a:solidFill>
                  <a:srgbClr val="1C1C1C"/>
                </a:solidFill>
                <a:latin typeface="Arial"/>
              </a:rPr>
              <a:t>, or pool judgments and ignore annotator differences.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076745" y="17803336"/>
            <a:ext cx="15032434" cy="1278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Fig. 1 — Same-stimuli odd-one-out accuracy over 24,060 judgments; every AVFS model beats the label-trained baselines.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72721" y="28752621"/>
            <a:ext cx="14531110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Fig. 4a — Linear SVMs recover annotator demographics from their learned masks; every AUC beats chance.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570376" y="28752621"/>
            <a:ext cx="14487330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Fig. 2 — One learned AVFS-U dimension: top-scoring stimulus faces with their human topic labels.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687529" y="22224027"/>
            <a:ext cx="9793806" cy="13467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221"/>
              </a:lnSpc>
              <a:spcBef>
                <a:spcPts val="0"/>
              </a:spcBef>
              <a:spcAft>
                <a:spcPts val="0"/>
              </a:spcAft>
            </a:pPr>
            <a:r>
              <a:rPr sz="9706" b="1" spc="-194">
                <a:solidFill>
                  <a:srgbClr val="38465C"/>
                </a:solidFill>
                <a:latin typeface="Arial"/>
              </a:rPr>
              <a:t>638,180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687529" y="23418760"/>
            <a:ext cx="9793806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human similarity judgments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441665" y="8643719"/>
            <a:ext cx="7791780" cy="702226"/>
          </a:xfrm>
          <a:prstGeom prst="rect">
            <a:avLst/>
          </a:prstGeom>
          <a:noFill/>
        </p:spPr>
        <p:txBody>
          <a:bodyPr wrap="square" lIns="160375" rIns="160375" tIns="70565" bIns="70565">
            <a:spAutoFit/>
          </a:bodyPr>
          <a:lstStyle/>
          <a:p>
            <a:pPr algn="l">
              <a:lnSpc>
                <a:spcPts val="3662"/>
              </a:lnSpc>
              <a:spcBef>
                <a:spcPts val="0"/>
              </a:spcBef>
              <a:spcAft>
                <a:spcPts val="0"/>
              </a:spcAft>
            </a:pPr>
            <a:r>
              <a:rPr sz="2525" b="1" spc="126">
                <a:solidFill>
                  <a:srgbClr val="555555"/>
                </a:solidFill>
                <a:latin typeface="Arial"/>
              </a:rPr>
              <a:t>MODEL  ·  ACC. (%)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006500" y="8643719"/>
            <a:ext cx="4111643" cy="702226"/>
          </a:xfrm>
          <a:prstGeom prst="rect">
            <a:avLst/>
          </a:prstGeom>
          <a:noFill/>
        </p:spPr>
        <p:txBody>
          <a:bodyPr wrap="square" lIns="160375" rIns="160375" tIns="70565" bIns="70565">
            <a:spAutoFit/>
          </a:bodyPr>
          <a:lstStyle/>
          <a:p>
            <a:pPr algn="l">
              <a:lnSpc>
                <a:spcPts val="3662"/>
              </a:lnSpc>
              <a:spcBef>
                <a:spcPts val="0"/>
              </a:spcBef>
              <a:spcAft>
                <a:spcPts val="0"/>
              </a:spcAft>
            </a:pPr>
            <a:r>
              <a:rPr sz="2525" b="1" spc="126">
                <a:solidFill>
                  <a:srgbClr val="555555"/>
                </a:solidFill>
                <a:latin typeface="Arial"/>
              </a:rPr>
              <a:t>SAME-STIM.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998387" y="8643719"/>
            <a:ext cx="4448725" cy="702226"/>
          </a:xfrm>
          <a:prstGeom prst="rect">
            <a:avLst/>
          </a:prstGeom>
          <a:noFill/>
        </p:spPr>
        <p:txBody>
          <a:bodyPr wrap="square" lIns="160375" rIns="160375" tIns="70565" bIns="70565">
            <a:spAutoFit/>
          </a:bodyPr>
          <a:lstStyle/>
          <a:p>
            <a:pPr algn="l">
              <a:lnSpc>
                <a:spcPts val="3662"/>
              </a:lnSpc>
              <a:spcBef>
                <a:spcPts val="0"/>
              </a:spcBef>
              <a:spcAft>
                <a:spcPts val="0"/>
              </a:spcAft>
            </a:pPr>
            <a:r>
              <a:rPr sz="2525" b="1" spc="126">
                <a:solidFill>
                  <a:srgbClr val="555555"/>
                </a:solidFill>
                <a:latin typeface="Arial"/>
              </a:rPr>
              <a:t>NOVEL-STIM.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441665" y="9254351"/>
            <a:ext cx="7791780" cy="939602"/>
          </a:xfrm>
          <a:prstGeom prst="rect">
            <a:avLst/>
          </a:prstGeom>
          <a:noFill/>
        </p:spPr>
        <p:txBody>
          <a:bodyPr wrap="square" lIns="213833" rIns="213833" tIns="94087" bIns="94087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0">
                <a:solidFill>
                  <a:srgbClr val="1C1C1C"/>
                </a:solidFill>
                <a:latin typeface="Arial"/>
              </a:rPr>
              <a:t>FairFace </a:t>
            </a:r>
            <a:r>
              <a:rPr sz="3367" b="0">
                <a:solidFill>
                  <a:srgbClr val="1C1C1C"/>
                </a:solidFill>
                <a:latin typeface="Arial"/>
              </a:rPr>
              <a:t>(best base.)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006500" y="9254351"/>
            <a:ext cx="4111643" cy="939602"/>
          </a:xfrm>
          <a:prstGeom prst="rect">
            <a:avLst/>
          </a:prstGeom>
          <a:noFill/>
        </p:spPr>
        <p:txBody>
          <a:bodyPr wrap="none" lIns="213833" rIns="213833" tIns="94087" bIns="94087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0">
                <a:solidFill>
                  <a:srgbClr val="1C1C1C"/>
                </a:solidFill>
                <a:latin typeface="Arial"/>
              </a:rPr>
              <a:t>55.9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998387" y="9254351"/>
            <a:ext cx="4448725" cy="939602"/>
          </a:xfrm>
          <a:prstGeom prst="rect">
            <a:avLst/>
          </a:prstGeom>
          <a:noFill/>
        </p:spPr>
        <p:txBody>
          <a:bodyPr wrap="none" lIns="213833" rIns="213833" tIns="94087" bIns="94087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0">
                <a:solidFill>
                  <a:srgbClr val="1C1C1C"/>
                </a:solidFill>
                <a:latin typeface="Arial"/>
              </a:rPr>
              <a:t>51.9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441665" y="10071397"/>
            <a:ext cx="7791780" cy="939604"/>
          </a:xfrm>
          <a:prstGeom prst="rect">
            <a:avLst/>
          </a:prstGeom>
          <a:noFill/>
        </p:spPr>
        <p:txBody>
          <a:bodyPr wrap="square" lIns="213833" rIns="213833" tIns="94087" bIns="94087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0">
                <a:solidFill>
                  <a:srgbClr val="1C1C1C"/>
                </a:solidFill>
                <a:latin typeface="Arial"/>
              </a:rPr>
              <a:t>AVFS-U </a:t>
            </a:r>
            <a:r>
              <a:rPr sz="3367" b="0">
                <a:solidFill>
                  <a:srgbClr val="1C1C1C"/>
                </a:solidFill>
                <a:latin typeface="Arial"/>
              </a:rPr>
              <a:t>(ours)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06500" y="10071397"/>
            <a:ext cx="4111643" cy="939604"/>
          </a:xfrm>
          <a:prstGeom prst="rect">
            <a:avLst/>
          </a:prstGeom>
          <a:noFill/>
        </p:spPr>
        <p:txBody>
          <a:bodyPr wrap="none" lIns="213833" rIns="213833" tIns="94087" bIns="94087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0">
                <a:solidFill>
                  <a:srgbClr val="1C1C1C"/>
                </a:solidFill>
                <a:latin typeface="Arial"/>
              </a:rPr>
              <a:t>62.0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998387" y="10071397"/>
            <a:ext cx="4448725" cy="939604"/>
          </a:xfrm>
          <a:prstGeom prst="rect">
            <a:avLst/>
          </a:prstGeom>
          <a:noFill/>
        </p:spPr>
        <p:txBody>
          <a:bodyPr wrap="none" lIns="213833" rIns="213833" tIns="94087" bIns="94087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0">
                <a:solidFill>
                  <a:srgbClr val="1C1C1C"/>
                </a:solidFill>
                <a:latin typeface="Arial"/>
              </a:rPr>
              <a:t>57.5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441665" y="10888444"/>
            <a:ext cx="7791780" cy="939602"/>
          </a:xfrm>
          <a:prstGeom prst="rect">
            <a:avLst/>
          </a:prstGeom>
          <a:noFill/>
        </p:spPr>
        <p:txBody>
          <a:bodyPr wrap="square" lIns="213833" rIns="213833" tIns="94087" bIns="94087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1C1C1C"/>
                </a:solidFill>
                <a:latin typeface="Arial"/>
              </a:rPr>
              <a:t>AVFS-C </a:t>
            </a:r>
            <a:r>
              <a:rPr sz="3367" b="1">
                <a:solidFill>
                  <a:srgbClr val="1C1C1C"/>
                </a:solidFill>
                <a:latin typeface="Arial"/>
              </a:rPr>
              <a:t>(ours)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006500" y="10888444"/>
            <a:ext cx="4111643" cy="939602"/>
          </a:xfrm>
          <a:prstGeom prst="rect">
            <a:avLst/>
          </a:prstGeom>
          <a:noFill/>
        </p:spPr>
        <p:txBody>
          <a:bodyPr wrap="none" lIns="213833" rIns="213833" tIns="94087" bIns="94087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1C1C1C"/>
                </a:solidFill>
                <a:latin typeface="Arial"/>
              </a:rPr>
              <a:t>67.4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998387" y="10888444"/>
            <a:ext cx="4448725" cy="939602"/>
          </a:xfrm>
          <a:prstGeom prst="rect">
            <a:avLst/>
          </a:prstGeom>
          <a:noFill/>
        </p:spPr>
        <p:txBody>
          <a:bodyPr wrap="none" lIns="213833" rIns="213833" tIns="94087" bIns="94087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1C1C1C"/>
                </a:solidFill>
                <a:latin typeface="Arial"/>
              </a:rPr>
              <a:t>61.7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248016" y="21981358"/>
            <a:ext cx="61349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026169" y="22114708"/>
            <a:ext cx="291125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interpretable dims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248016" y="22802155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67.4%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949201" y="22935505"/>
            <a:ext cx="321614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best OOO accuracy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248016" y="23622952"/>
            <a:ext cx="108621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−8.9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485115" y="23756302"/>
            <a:ext cx="293143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pts on mask swap</a:t>
            </a:r>
          </a:p>
        </p:txBody>
      </p:sp>
      <p:pic>
        <p:nvPicPr>
          <p:cNvPr id="106" name="Picture 105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07793" y="13120806"/>
            <a:ext cx="15390674" cy="586740"/>
          </a:xfrm>
          <a:prstGeom prst="rect">
            <a:avLst/>
          </a:prstGeom>
        </p:spPr>
      </p:pic>
      <p:pic>
        <p:nvPicPr>
          <p:cNvPr id="107" name="Picture 106" descr="eq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14973" y="14041199"/>
            <a:ext cx="488395" cy="240030"/>
          </a:xfrm>
          <a:prstGeom prst="rect">
            <a:avLst/>
          </a:prstGeom>
        </p:spPr>
      </p:pic>
      <p:pic>
        <p:nvPicPr>
          <p:cNvPr id="108" name="Picture 107" descr="eq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68526" y="14041199"/>
            <a:ext cx="205581" cy="2400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
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onformal_keypoint_video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onformal_keypoint_video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31ba7a73a37f823.png"/><Relationship Id="rId3" Type="http://schemas.openxmlformats.org/officeDocument/2006/relationships/image" Target="../media/image_842ba07b30b8229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3057e036e46f9a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8f6f5b7e2f8f17fb.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gradFill>
              <a:gsLst>
                <a:gs pos="0">
                  <a:schemeClr val="accent2"/>
                </a:gs>
                <a:gs pos="100000">
                  <a:schemeClr val="accent5"/>
                </a:gs>
              </a:gsLst>
              <a:lin ang="0" scaled="1"/>
            </a:gradFill>
            <a:ln>
              <a:noFill/>
            </a:ln>
          </p:spPr>
        </p:sp>
      </p:grpSp>
      <p:grpSp>
        <p:nvGrpSpPr>
          <p:cNvPr id="11" name="Group 11"/>
          <p:cNvGrpSpPr/>
          <p:nvPr/>
        </p:nvGrpSpPr>
        <p:grpSpPr>
          <a:xfrm>
            <a:off x="592074" y="651510"/>
            <a:ext cx="6763278" cy="2228374"/>
            <a:chOff x="592074" y="651510"/>
            <a:chExt cx="6763278" cy="2228374"/>
          </a:xfrm>
        </p:grpSpPr>
        <p:sp>
          <p:nvSpPr>
            <p:cNvPr id="5" name="TextBox 5"/>
            <p:cNvSpPr txBox="1"/>
            <p:nvPr/>
          </p:nvSpPr>
          <p:spPr>
            <a:xfrm>
              <a:off x="603504" y="651510"/>
              <a:ext cx="3659368" cy="234696"/>
            </a:xfrm>
            <a:prstGeom prst="rect">
              <a:avLst/>
            </a:prstGeom>
            <a:noFill/>
            <a:ln>
              <a:noFill/>
            </a:ln>
          </p:spPr>
          <p:txBody>
            <a:bodyPr wrap="none" lIns="0" tIns="0" rIns="0" bIns="0" anchor="t" anchorCtr="0">
              <a:spAutoFit/>
            </a:bodyPr>
            <a:lstStyle/>
            <a:p>
              <a:pPr algn="l"/>
              <a:r>
                <a:rPr lang="en-US" sz="1200" b="1" spc="225" dirty="0">
                  <a:solidFill>
                    <a:schemeClr val="accent2"/>
                  </a:solidFill>
                  <a:latin typeface="+mn-lt"/>
                  <a:ea typeface="+mn-ea"/>
                  <a:cs typeface="+mn-cs"/>
                </a:rPr>
                <a:t>CVPR 2023 · PAPER WALKTHROUGH</a:t>
              </a:r>
            </a:p>
          </p:txBody>
        </p:sp>
        <p:sp>
          <p:nvSpPr>
            <p:cNvPr id="6" name="TextBox 6"/>
            <p:cNvSpPr txBox="1"/>
            <p:nvPr/>
          </p:nvSpPr>
          <p:spPr>
            <a:xfrm>
              <a:off x="592074" y="1018222"/>
              <a:ext cx="6763278"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Object Pose Estimation with</a:t>
              </a:r>
            </a:p>
          </p:txBody>
        </p:sp>
        <p:sp>
          <p:nvSpPr>
            <p:cNvPr id="7" name="TextBox 7"/>
            <p:cNvSpPr txBox="1"/>
            <p:nvPr/>
          </p:nvSpPr>
          <p:spPr>
            <a:xfrm>
              <a:off x="592074" y="1532572"/>
              <a:ext cx="5477269" cy="674751"/>
            </a:xfrm>
            <a:prstGeom prst="rect">
              <a:avLst/>
            </a:prstGeom>
            <a:noFill/>
            <a:ln>
              <a:noFill/>
            </a:ln>
          </p:spPr>
          <p:txBody>
            <a:bodyPr wrap="none" lIns="0" tIns="0" rIns="0" bIns="0" anchor="t" anchorCtr="0">
              <a:spAutoFit/>
            </a:bodyPr>
            <a:lstStyle/>
            <a:p>
              <a:pPr algn="l"/>
              <a:r>
                <a:rPr lang="en-US" sz="3450" b="1" dirty="0">
                  <a:solidFill>
                    <a:schemeClr val="accent1"/>
                  </a:solidFill>
                  <a:latin typeface="+mn-lt"/>
                  <a:ea typeface="+mn-ea"/>
                  <a:cs typeface="+mn-cs"/>
                </a:rPr>
                <a:t>Statistical Guarantees</a:t>
              </a:r>
            </a:p>
          </p:txBody>
        </p:sp>
        <p:sp>
          <p:nvSpPr>
            <p:cNvPr id="8" name="Rectangle 8"/>
            <p:cNvSpPr/>
            <p:nvPr/>
          </p:nvSpPr>
          <p:spPr>
            <a:xfrm>
              <a:off x="628650" y="2114550"/>
              <a:ext cx="914400" cy="57150"/>
            </a:xfrm>
            <a:prstGeom prst="roundRect">
              <a:avLst>
                <a:gd name="adj" fmla="val 50000"/>
              </a:avLst>
            </a:prstGeom>
            <a:solidFill>
              <a:schemeClr val="accent2"/>
            </a:solidFill>
            <a:ln>
              <a:noFill/>
            </a:ln>
          </p:spPr>
        </p:sp>
        <p:sp>
          <p:nvSpPr>
            <p:cNvPr id="9" name="TextBox 9"/>
            <p:cNvSpPr txBox="1"/>
            <p:nvPr/>
          </p:nvSpPr>
          <p:spPr>
            <a:xfrm>
              <a:off x="602361" y="2379821"/>
              <a:ext cx="253304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Heng Yang · Marco Pavone</a:t>
              </a:r>
            </a:p>
          </p:txBody>
        </p:sp>
        <p:sp>
          <p:nvSpPr>
            <p:cNvPr id="10" name="TextBox 10"/>
            <p:cNvSpPr txBox="1"/>
            <p:nvPr/>
          </p:nvSpPr>
          <p:spPr>
            <a:xfrm>
              <a:off x="603885" y="2659856"/>
              <a:ext cx="64602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NVIDIA Research · Conformal Keypoint Detection and Geometric Uncertainty Propagation</a:t>
              </a:r>
            </a:p>
          </p:txBody>
        </p:sp>
      </p:grpSp>
      <p:grpSp>
        <p:nvGrpSpPr>
          <p:cNvPr id="17" name="Group 17"/>
          <p:cNvGrpSpPr/>
          <p:nvPr/>
        </p:nvGrpSpPr>
        <p:grpSpPr>
          <a:xfrm>
            <a:off x="9677400" y="457200"/>
            <a:ext cx="1905000" cy="2733389"/>
            <a:chOff x="9677400" y="457200"/>
            <a:chExt cx="1905000" cy="2733389"/>
          </a:xfrm>
        </p:grpSpPr>
        <p:sp>
          <p:nvSpPr>
            <p:cNvPr id="12" name="Rectangle 12"/>
            <p:cNvSpPr/>
            <p:nvPr/>
          </p:nvSpPr>
          <p:spPr>
            <a:xfrm>
              <a:off x="9677400" y="457200"/>
              <a:ext cx="1905000" cy="552450"/>
            </a:xfrm>
            <a:prstGeom prst="roundRect">
              <a:avLst>
                <a:gd name="adj" fmla="val 17241"/>
              </a:avLst>
            </a:prstGeom>
            <a:solidFill>
              <a:schemeClr val="lt2"/>
            </a:solidFill>
            <a:ln w="9525">
              <a:solidFill>
                <a:schemeClr val="accent4"/>
              </a:solidFill>
            </a:ln>
          </p:spPr>
        </p:sp>
        <p:pic>
          <p:nvPicPr>
            <p:cNvPr id="13" name="Image 13"/>
            <p:cNvPicPr>
              <a:picLocks noChangeAspect="1"/>
            </p:cNvPicPr>
            <p:nvPr/>
          </p:nvPicPr>
          <p:blipFill>
            <a:blip r:embed="rId2"/>
            <a:stretch>
              <a:fillRect/>
            </a:stretch>
          </p:blipFill>
          <p:spPr>
            <a:xfrm>
              <a:off x="9829800" y="582156"/>
              <a:ext cx="1600200" cy="302538"/>
            </a:xfrm>
            <a:prstGeom prst="rect">
              <a:avLst/>
            </a:prstGeom>
          </p:spPr>
        </p:pic>
        <p:sp>
          <p:nvSpPr>
            <p:cNvPr id="14" name="Rectangle 14"/>
            <p:cNvSpPr/>
            <p:nvPr/>
          </p:nvSpPr>
          <p:spPr>
            <a:xfrm>
              <a:off x="9696450" y="1143000"/>
              <a:ext cx="1885950" cy="2038350"/>
            </a:xfrm>
            <a:prstGeom prst="roundRect">
              <a:avLst>
                <a:gd name="adj" fmla="val 6061"/>
              </a:avLst>
            </a:prstGeom>
            <a:solidFill>
              <a:schemeClr val="lt1"/>
            </a:solidFill>
            <a:ln w="9525">
              <a:solidFill>
                <a:schemeClr val="accent4"/>
              </a:solidFill>
            </a:ln>
          </p:spPr>
        </p:sp>
        <p:pic>
          <p:nvPicPr>
            <p:cNvPr id="15" name="Image 15"/>
            <p:cNvPicPr>
              <a:picLocks noChangeAspect="1"/>
            </p:cNvPicPr>
            <p:nvPr/>
          </p:nvPicPr>
          <p:blipFill>
            <a:blip r:embed="rId3"/>
            <a:stretch>
              <a:fillRect/>
            </a:stretch>
          </p:blipFill>
          <p:spPr>
            <a:xfrm>
              <a:off x="9782175" y="1228725"/>
              <a:ext cx="1714500" cy="1714500"/>
            </a:xfrm>
            <a:prstGeom prst="rect">
              <a:avLst/>
            </a:prstGeom>
          </p:spPr>
        </p:pic>
        <p:sp>
          <p:nvSpPr>
            <p:cNvPr id="16" name="TextBox 16"/>
            <p:cNvSpPr txBox="1"/>
            <p:nvPr/>
          </p:nvSpPr>
          <p:spPr>
            <a:xfrm>
              <a:off x="10171510" y="2999899"/>
              <a:ext cx="935831"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Scan for code</a:t>
              </a:r>
            </a:p>
          </p:txBody>
        </p:sp>
      </p:grpSp>
      <p:grpSp>
        <p:nvGrpSpPr>
          <p:cNvPr id="22" name="Group 22"/>
          <p:cNvGrpSpPr/>
          <p:nvPr/>
        </p:nvGrpSpPr>
        <p:grpSpPr>
          <a:xfrm>
            <a:off x="609600" y="3295650"/>
            <a:ext cx="8972550" cy="628650"/>
            <a:chOff x="609600" y="3295650"/>
            <a:chExt cx="8972550" cy="628650"/>
          </a:xfrm>
        </p:grpSpPr>
        <p:sp>
          <p:nvSpPr>
            <p:cNvPr id="18" name="Rectangle 18"/>
            <p:cNvSpPr/>
            <p:nvPr/>
          </p:nvSpPr>
          <p:spPr>
            <a:xfrm>
              <a:off x="609600" y="3295650"/>
              <a:ext cx="8972550" cy="628650"/>
            </a:xfrm>
            <a:prstGeom prst="roundRect">
              <a:avLst>
                <a:gd name="adj" fmla="val 18182"/>
              </a:avLst>
            </a:prstGeom>
            <a:solidFill>
              <a:srgbClr val="EAF0F8"/>
            </a:solidFill>
            <a:ln w="9525">
              <a:solidFill>
                <a:schemeClr val="accent4"/>
              </a:solidFill>
            </a:ln>
          </p:spPr>
        </p:sp>
        <p:sp>
          <p:nvSpPr>
            <p:cNvPr id="19" name="Rectangle 19"/>
            <p:cNvSpPr/>
            <p:nvPr/>
          </p:nvSpPr>
          <p:spPr>
            <a:xfrm>
              <a:off x="609600" y="3295650"/>
              <a:ext cx="66675" cy="628650"/>
            </a:xfrm>
            <a:prstGeom prst="roundRect">
              <a:avLst>
                <a:gd name="adj" fmla="val 42857"/>
              </a:avLst>
            </a:prstGeom>
            <a:solidFill>
              <a:schemeClr val="accent3"/>
            </a:solidFill>
            <a:ln>
              <a:noFill/>
            </a:ln>
          </p:spPr>
        </p:sp>
        <p:sp>
          <p:nvSpPr>
            <p:cNvPr id="20" name="TextBox 20"/>
            <p:cNvSpPr txBox="1"/>
            <p:nvPr/>
          </p:nvSpPr>
          <p:spPr>
            <a:xfrm>
              <a:off x="870204" y="3432810"/>
              <a:ext cx="8335694"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The gap: standard two-stage pipelines return a single 6D pose with no guarantee on how wrong it is.</a:t>
              </a:r>
            </a:p>
          </p:txBody>
        </p:sp>
        <p:sp>
          <p:nvSpPr>
            <p:cNvPr id="21" name="TextBox 21"/>
            <p:cNvSpPr txBox="1"/>
            <p:nvPr/>
          </p:nvSpPr>
          <p:spPr>
            <a:xfrm>
              <a:off x="870966" y="3677602"/>
              <a:ext cx="79453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work is the first pose estimator that attaches provable, computable worst-case error bounds to its output.</a:t>
              </a:r>
            </a:p>
          </p:txBody>
        </p:sp>
      </p:grpSp>
      <p:grpSp>
        <p:nvGrpSpPr>
          <p:cNvPr id="55" name="Group 55"/>
          <p:cNvGrpSpPr/>
          <p:nvPr/>
        </p:nvGrpSpPr>
        <p:grpSpPr>
          <a:xfrm>
            <a:off x="609600" y="4057650"/>
            <a:ext cx="10668000" cy="2266950"/>
            <a:chOff x="609600" y="4057650"/>
            <a:chExt cx="10668000" cy="2266950"/>
          </a:xfrm>
        </p:grpSpPr>
        <p:grpSp>
          <p:nvGrpSpPr>
            <p:cNvPr id="32" name="Group 32"/>
            <p:cNvGrpSpPr/>
            <p:nvPr/>
          </p:nvGrpSpPr>
          <p:grpSpPr>
            <a:xfrm>
              <a:off x="609600" y="4057650"/>
              <a:ext cx="3352800" cy="2266950"/>
              <a:chOff x="609600" y="4057650"/>
              <a:chExt cx="3352800" cy="2266950"/>
            </a:xfrm>
          </p:grpSpPr>
          <p:sp>
            <p:nvSpPr>
              <p:cNvPr id="23" name="Rectangle 23"/>
              <p:cNvSpPr/>
              <p:nvPr/>
            </p:nvSpPr>
            <p:spPr>
              <a:xfrm>
                <a:off x="609600" y="4057650"/>
                <a:ext cx="3352800" cy="2266950"/>
              </a:xfrm>
              <a:prstGeom prst="roundRect">
                <a:avLst>
                  <a:gd name="adj" fmla="val 5882"/>
                </a:avLst>
              </a:prstGeom>
              <a:solidFill>
                <a:srgbClr val="FCEEE8"/>
              </a:solidFill>
              <a:ln w="9525">
                <a:solidFill>
                  <a:srgbClr val="F3C6B3"/>
                </a:solidFill>
              </a:ln>
            </p:spPr>
          </p:sp>
          <p:sp>
            <p:nvSpPr>
              <p:cNvPr id="24" name="Ellipse 24"/>
              <p:cNvSpPr/>
              <p:nvPr/>
            </p:nvSpPr>
            <p:spPr>
              <a:xfrm>
                <a:off x="781050" y="4248150"/>
                <a:ext cx="342900" cy="342900"/>
              </a:xfrm>
              <a:prstGeom prst="ellipse">
                <a:avLst/>
              </a:prstGeom>
              <a:solidFill>
                <a:schemeClr val="accent2"/>
              </a:solidFill>
              <a:ln>
                <a:noFill/>
              </a:ln>
            </p:spPr>
          </p:sp>
          <p:sp>
            <p:nvSpPr>
              <p:cNvPr id="25" name="TextBox 25"/>
              <p:cNvSpPr txBox="1"/>
              <p:nvPr/>
            </p:nvSpPr>
            <p:spPr>
              <a:xfrm>
                <a:off x="896267" y="4339114"/>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1</a:t>
                </a:r>
              </a:p>
            </p:txBody>
          </p:sp>
          <p:sp>
            <p:nvSpPr>
              <p:cNvPr id="26" name="TextBox 26"/>
              <p:cNvSpPr txBox="1"/>
              <p:nvPr/>
            </p:nvSpPr>
            <p:spPr>
              <a:xfrm>
                <a:off x="1250061" y="4322921"/>
                <a:ext cx="100418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Conformal</a:t>
                </a:r>
              </a:p>
            </p:txBody>
          </p:sp>
          <p:sp>
            <p:nvSpPr>
              <p:cNvPr id="27" name="TextBox 27"/>
              <p:cNvSpPr txBox="1"/>
              <p:nvPr/>
            </p:nvSpPr>
            <p:spPr>
              <a:xfrm>
                <a:off x="1250061" y="4551521"/>
                <a:ext cx="186328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Keypoint Detection</a:t>
                </a:r>
              </a:p>
            </p:txBody>
          </p:sp>
          <p:sp>
            <p:nvSpPr>
              <p:cNvPr id="28" name="TextBox 28"/>
              <p:cNvSpPr txBox="1"/>
              <p:nvPr/>
            </p:nvSpPr>
            <p:spPr>
              <a:xfrm>
                <a:off x="870204" y="4975860"/>
                <a:ext cx="2424438"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Turns heatmap detections into</a:t>
                </a:r>
              </a:p>
            </p:txBody>
          </p:sp>
          <p:sp>
            <p:nvSpPr>
              <p:cNvPr id="29" name="TextBox 29"/>
              <p:cNvSpPr txBox="1"/>
              <p:nvPr/>
            </p:nvSpPr>
            <p:spPr>
              <a:xfrm>
                <a:off x="870204" y="5204460"/>
                <a:ext cx="2459584"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circular or elliptical prediction</a:t>
                </a:r>
              </a:p>
            </p:txBody>
          </p:sp>
          <p:sp>
            <p:nvSpPr>
              <p:cNvPr id="30" name="TextBox 30"/>
              <p:cNvSpPr txBox="1"/>
              <p:nvPr/>
            </p:nvSpPr>
            <p:spPr>
              <a:xfrm>
                <a:off x="870204" y="5433060"/>
                <a:ext cx="2475738"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sets that cover true keypoints</a:t>
                </a:r>
              </a:p>
            </p:txBody>
          </p:sp>
          <p:sp>
            <p:nvSpPr>
              <p:cNvPr id="31" name="TextBox 31"/>
              <p:cNvSpPr txBox="1"/>
              <p:nvPr/>
            </p:nvSpPr>
            <p:spPr>
              <a:xfrm>
                <a:off x="869823" y="5805964"/>
                <a:ext cx="277212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with probability 1 minus epsilon</a:t>
                </a:r>
              </a:p>
            </p:txBody>
          </p:sp>
        </p:grpSp>
        <p:sp>
          <p:nvSpPr>
            <p:cNvPr id="33" name="TextBox 33"/>
            <p:cNvSpPr txBox="1"/>
            <p:nvPr/>
          </p:nvSpPr>
          <p:spPr>
            <a:xfrm>
              <a:off x="4015909" y="5014912"/>
              <a:ext cx="19778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a:t>
              </a:r>
            </a:p>
          </p:txBody>
        </p:sp>
        <p:grpSp>
          <p:nvGrpSpPr>
            <p:cNvPr id="43" name="Group 43"/>
            <p:cNvGrpSpPr/>
            <p:nvPr/>
          </p:nvGrpSpPr>
          <p:grpSpPr>
            <a:xfrm>
              <a:off x="4267200" y="4057650"/>
              <a:ext cx="3352800" cy="2266950"/>
              <a:chOff x="4267200" y="4057650"/>
              <a:chExt cx="3352800" cy="2266950"/>
            </a:xfrm>
          </p:grpSpPr>
          <p:sp>
            <p:nvSpPr>
              <p:cNvPr id="34" name="Rectangle 34"/>
              <p:cNvSpPr/>
              <p:nvPr/>
            </p:nvSpPr>
            <p:spPr>
              <a:xfrm>
                <a:off x="4267200" y="4057650"/>
                <a:ext cx="3352800" cy="2266950"/>
              </a:xfrm>
              <a:prstGeom prst="roundRect">
                <a:avLst>
                  <a:gd name="adj" fmla="val 5882"/>
                </a:avLst>
              </a:prstGeom>
              <a:solidFill>
                <a:srgbClr val="E9F1FA"/>
              </a:solidFill>
              <a:ln w="9525">
                <a:solidFill>
                  <a:srgbClr val="C4D8EE"/>
                </a:solidFill>
              </a:ln>
            </p:spPr>
          </p:sp>
          <p:sp>
            <p:nvSpPr>
              <p:cNvPr id="35" name="Ellipse 35"/>
              <p:cNvSpPr/>
              <p:nvPr/>
            </p:nvSpPr>
            <p:spPr>
              <a:xfrm>
                <a:off x="4438650" y="4248150"/>
                <a:ext cx="342900" cy="342900"/>
              </a:xfrm>
              <a:prstGeom prst="ellipse">
                <a:avLst/>
              </a:prstGeom>
              <a:solidFill>
                <a:schemeClr val="accent3"/>
              </a:solidFill>
              <a:ln>
                <a:noFill/>
              </a:ln>
            </p:spPr>
          </p:sp>
          <p:sp>
            <p:nvSpPr>
              <p:cNvPr id="36" name="TextBox 36"/>
              <p:cNvSpPr txBox="1"/>
              <p:nvPr/>
            </p:nvSpPr>
            <p:spPr>
              <a:xfrm>
                <a:off x="4553867" y="4339114"/>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2</a:t>
                </a:r>
              </a:p>
            </p:txBody>
          </p:sp>
          <p:sp>
            <p:nvSpPr>
              <p:cNvPr id="37" name="TextBox 37"/>
              <p:cNvSpPr txBox="1"/>
              <p:nvPr/>
            </p:nvSpPr>
            <p:spPr>
              <a:xfrm>
                <a:off x="4907661" y="4322921"/>
                <a:ext cx="1004184"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Geometric</a:t>
                </a:r>
              </a:p>
            </p:txBody>
          </p:sp>
          <p:sp>
            <p:nvSpPr>
              <p:cNvPr id="38" name="TextBox 38"/>
              <p:cNvSpPr txBox="1"/>
              <p:nvPr/>
            </p:nvSpPr>
            <p:spPr>
              <a:xfrm>
                <a:off x="4907661" y="4551521"/>
                <a:ext cx="1804242"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Uncertainty Prop.</a:t>
                </a:r>
              </a:p>
            </p:txBody>
          </p:sp>
          <p:sp>
            <p:nvSpPr>
              <p:cNvPr id="39" name="TextBox 39"/>
              <p:cNvSpPr txBox="1"/>
              <p:nvPr/>
            </p:nvSpPr>
            <p:spPr>
              <a:xfrm>
                <a:off x="4527804" y="4975860"/>
                <a:ext cx="2028589"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Propagates keypoint sets</a:t>
                </a:r>
              </a:p>
            </p:txBody>
          </p:sp>
          <p:sp>
            <p:nvSpPr>
              <p:cNvPr id="40" name="TextBox 40"/>
              <p:cNvSpPr txBox="1"/>
              <p:nvPr/>
            </p:nvSpPr>
            <p:spPr>
              <a:xfrm>
                <a:off x="4527804" y="5204460"/>
                <a:ext cx="2241499"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through the geometry into a</a:t>
                </a:r>
              </a:p>
            </p:txBody>
          </p:sp>
          <p:sp>
            <p:nvSpPr>
              <p:cNvPr id="41" name="TextBox 41"/>
              <p:cNvSpPr txBox="1"/>
              <p:nvPr/>
            </p:nvSpPr>
            <p:spPr>
              <a:xfrm>
                <a:off x="4527804" y="5433060"/>
                <a:ext cx="2384225"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Pose Uncertainty Set (PURSE)</a:t>
                </a:r>
              </a:p>
            </p:txBody>
          </p:sp>
          <p:sp>
            <p:nvSpPr>
              <p:cNvPr id="42" name="TextBox 42"/>
              <p:cNvSpPr txBox="1"/>
              <p:nvPr/>
            </p:nvSpPr>
            <p:spPr>
              <a:xfrm>
                <a:off x="4527423" y="5805964"/>
                <a:ext cx="2021269" cy="249364"/>
              </a:xfrm>
              <a:prstGeom prst="rect">
                <a:avLst/>
              </a:prstGeom>
              <a:noFill/>
              <a:ln>
                <a:noFill/>
              </a:ln>
            </p:spPr>
            <p:txBody>
              <a:bodyPr wrap="none" lIns="0" tIns="0" rIns="0" bIns="0" anchor="t" anchorCtr="0">
                <a:spAutoFit/>
              </a:bodyPr>
              <a:lstStyle/>
              <a:p>
                <a:pPr algn="l"/>
                <a:r>
                  <a:rPr lang="en-US" sz="1280" b="1" dirty="0">
                    <a:solidFill>
                      <a:schemeClr val="accent3"/>
                    </a:solidFill>
                    <a:latin typeface="+mn-lt"/>
                    <a:ea typeface="+mn-ea"/>
                    <a:cs typeface="+mn-cs"/>
                  </a:rPr>
                  <a:t>covering the true pose</a:t>
                </a:r>
              </a:p>
            </p:txBody>
          </p:sp>
        </p:grpSp>
        <p:sp>
          <p:nvSpPr>
            <p:cNvPr id="44" name="TextBox 44"/>
            <p:cNvSpPr txBox="1"/>
            <p:nvPr/>
          </p:nvSpPr>
          <p:spPr>
            <a:xfrm>
              <a:off x="7673509" y="5014912"/>
              <a:ext cx="19778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a:t>
              </a:r>
            </a:p>
          </p:txBody>
        </p:sp>
        <p:grpSp>
          <p:nvGrpSpPr>
            <p:cNvPr id="54" name="Group 54"/>
            <p:cNvGrpSpPr/>
            <p:nvPr/>
          </p:nvGrpSpPr>
          <p:grpSpPr>
            <a:xfrm>
              <a:off x="7924800" y="4057650"/>
              <a:ext cx="3352800" cy="2266950"/>
              <a:chOff x="7924800" y="4057650"/>
              <a:chExt cx="3352800" cy="2266950"/>
            </a:xfrm>
          </p:grpSpPr>
          <p:sp>
            <p:nvSpPr>
              <p:cNvPr id="45" name="Rectangle 45"/>
              <p:cNvSpPr/>
              <p:nvPr/>
            </p:nvSpPr>
            <p:spPr>
              <a:xfrm>
                <a:off x="7924800" y="4057650"/>
                <a:ext cx="3352800" cy="2266950"/>
              </a:xfrm>
              <a:prstGeom prst="roundRect">
                <a:avLst>
                  <a:gd name="adj" fmla="val 5882"/>
                </a:avLst>
              </a:prstGeom>
              <a:solidFill>
                <a:srgbClr val="EAF2EC"/>
              </a:solidFill>
              <a:ln w="9525">
                <a:solidFill>
                  <a:srgbClr val="BFD9C6"/>
                </a:solidFill>
              </a:ln>
            </p:spPr>
          </p:sp>
          <p:sp>
            <p:nvSpPr>
              <p:cNvPr id="46" name="Ellipse 46"/>
              <p:cNvSpPr/>
              <p:nvPr/>
            </p:nvSpPr>
            <p:spPr>
              <a:xfrm>
                <a:off x="8096250" y="4248150"/>
                <a:ext cx="342900" cy="342900"/>
              </a:xfrm>
              <a:prstGeom prst="ellipse">
                <a:avLst/>
              </a:prstGeom>
              <a:solidFill>
                <a:srgbClr val="2E7D32"/>
              </a:solidFill>
              <a:ln>
                <a:noFill/>
              </a:ln>
            </p:spPr>
          </p:sp>
          <p:sp>
            <p:nvSpPr>
              <p:cNvPr id="47" name="TextBox 47"/>
              <p:cNvSpPr txBox="1"/>
              <p:nvPr/>
            </p:nvSpPr>
            <p:spPr>
              <a:xfrm>
                <a:off x="8211467" y="4339114"/>
                <a:ext cx="11246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3</a:t>
                </a:r>
              </a:p>
            </p:txBody>
          </p:sp>
          <p:sp>
            <p:nvSpPr>
              <p:cNvPr id="48" name="TextBox 48"/>
              <p:cNvSpPr txBox="1"/>
              <p:nvPr/>
            </p:nvSpPr>
            <p:spPr>
              <a:xfrm>
                <a:off x="8565261" y="4322921"/>
                <a:ext cx="1302157"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Average Pose</a:t>
                </a:r>
              </a:p>
            </p:txBody>
          </p:sp>
          <p:sp>
            <p:nvSpPr>
              <p:cNvPr id="49" name="TextBox 49"/>
              <p:cNvSpPr txBox="1"/>
              <p:nvPr/>
            </p:nvSpPr>
            <p:spPr>
              <a:xfrm>
                <a:off x="8565261" y="4551521"/>
                <a:ext cx="1546085" cy="278702"/>
              </a:xfrm>
              <a:prstGeom prst="rect">
                <a:avLst/>
              </a:prstGeom>
              <a:noFill/>
              <a:ln>
                <a:noFill/>
              </a:ln>
            </p:spPr>
            <p:txBody>
              <a:bodyPr wrap="none" lIns="0" tIns="0" rIns="0" bIns="0" anchor="t" anchorCtr="0">
                <a:spAutoFit/>
              </a:bodyPr>
              <a:lstStyle/>
              <a:p>
                <a:pPr algn="l"/>
                <a:r>
                  <a:rPr lang="en-US" sz="1420" b="1" dirty="0">
                    <a:solidFill>
                      <a:schemeClr val="accent1"/>
                    </a:solidFill>
                    <a:latin typeface="+mn-lt"/>
                    <a:ea typeface="+mn-ea"/>
                    <a:cs typeface="+mn-cs"/>
                  </a:rPr>
                  <a:t>plus SDP Bounds</a:t>
                </a:r>
              </a:p>
            </p:txBody>
          </p:sp>
          <p:sp>
            <p:nvSpPr>
              <p:cNvPr id="50" name="TextBox 50"/>
              <p:cNvSpPr txBox="1"/>
              <p:nvPr/>
            </p:nvSpPr>
            <p:spPr>
              <a:xfrm>
                <a:off x="8185404" y="4975860"/>
                <a:ext cx="1998487"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RANSAG averages sampled</a:t>
                </a:r>
              </a:p>
            </p:txBody>
          </p:sp>
          <p:sp>
            <p:nvSpPr>
              <p:cNvPr id="51" name="TextBox 51"/>
              <p:cNvSpPr txBox="1"/>
              <p:nvPr/>
            </p:nvSpPr>
            <p:spPr>
              <a:xfrm>
                <a:off x="8185404" y="5204460"/>
                <a:ext cx="2427275"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poses; semidefinite relaxation</a:t>
                </a:r>
              </a:p>
            </p:txBody>
          </p:sp>
          <p:sp>
            <p:nvSpPr>
              <p:cNvPr id="52" name="TextBox 52"/>
              <p:cNvSpPr txBox="1"/>
              <p:nvPr/>
            </p:nvSpPr>
            <p:spPr>
              <a:xfrm>
                <a:off x="8185404" y="5433060"/>
                <a:ext cx="2281885"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certifies worst-case error.</a:t>
                </a:r>
              </a:p>
            </p:txBody>
          </p:sp>
          <p:sp>
            <p:nvSpPr>
              <p:cNvPr id="53" name="TextBox 53"/>
              <p:cNvSpPr txBox="1"/>
              <p:nvPr/>
            </p:nvSpPr>
            <p:spPr>
              <a:xfrm>
                <a:off x="8185023" y="5805964"/>
                <a:ext cx="2320339" cy="249364"/>
              </a:xfrm>
              <a:prstGeom prst="rect">
                <a:avLst/>
              </a:prstGeom>
              <a:noFill/>
              <a:ln>
                <a:noFill/>
              </a:ln>
            </p:spPr>
            <p:txBody>
              <a:bodyPr wrap="none" lIns="0" tIns="0" rIns="0" bIns="0" anchor="t" anchorCtr="0">
                <a:spAutoFit/>
              </a:bodyPr>
              <a:lstStyle/>
              <a:p>
                <a:pPr algn="l"/>
                <a:r>
                  <a:rPr lang="en-US" sz="1280" b="1" dirty="0">
                    <a:solidFill>
                      <a:srgbClr val="2E7D32"/>
                    </a:solidFill>
                    <a:latin typeface="+mn-lt"/>
                    <a:ea typeface="+mn-ea"/>
                    <a:cs typeface="+mn-cs"/>
                  </a:rPr>
                  <a:t>Validated on LineMOD-Occ</a:t>
                </a:r>
              </a:p>
            </p:txBody>
          </p:sp>
        </p:grpSp>
      </p:grpSp>
      <p:sp>
        <p:nvSpPr>
          <p:cNvPr id="56" name="TextBox 56"/>
          <p:cNvSpPr txBox="1"/>
          <p:nvPr/>
        </p:nvSpPr>
        <p:spPr>
          <a:xfrm>
            <a:off x="604647" y="6562249"/>
            <a:ext cx="3778662"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arXiv:2303.12246 · github.com/NVlabs/ConformalKeypoint</a:t>
            </a:r>
          </a:p>
        </p:txBody>
      </p:sp>
      <p:sp>
        <p:nvSpPr>
          <p:cNvPr id="57" name="cue_s01_c1_nvidia_research_cvpr_2023_work" title="cue_s01_c1_nvidia_research_cvpr_2023_work" descr="cue_s01_c1_nvidia_research_cvpr_2023_work From NVIDIA Research at CVPR 2023, this work closes a safety-critical gap in object pose estimation. Standard two-stage pipelines detect keypoints, then solve for the 6D pose, but give no guarantee on how wrong the answer might be. The authors add two pieces."/>
          <p:cNvSpPr/>
          <p:nvPr/>
        </p:nvSpPr>
        <p:spPr>
          <a:xfrm>
            <a:off x="609600" y="3295954"/>
            <a:ext cx="8972092"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1_c2_conformal_keypoint_detection_turns_h" title="cue_s01_c2_conformal_keypoint_detection_turns_h" descr="cue_s01_c2_conformal_keypoint_detection_turns_h Conformal keypoint detection turns heatmap detections into circular or elliptical prediction sets that provably cover the true keypoints with a chosen probability, say ninety percent."/>
          <p:cNvSpPr/>
          <p:nvPr/>
        </p:nvSpPr>
        <p:spPr>
          <a:xfrm>
            <a:off x="609600" y="4057878"/>
            <a:ext cx="3352800"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1_c3_geometric_uncertainty_propagation_pu" title="cue_s01_c3_geometric_uncertainty_propagation_pu" descr="cue_s01_c3_geometric_uncertainty_propagation_pu Geometric uncertainty propagation pushes those sets through the geometry to form a Pose Uncertainty Set, or PURSE, covering the true pose."/>
          <p:cNvSpPr/>
          <p:nvPr/>
        </p:nvSpPr>
        <p:spPr>
          <a:xfrm>
            <a:off x="4267200" y="4057878"/>
            <a:ext cx="3352800"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1_c4_purse_they_compute_average_pose" title="cue_s01_c4_purse_they_compute_average_pose" descr="cue_s01_c4_purse_they_compute_average_pose From PURSE they compute an average pose and use semidefinite relaxation to bound the worst-case error. On LineMOD Occlusion, coverage is valid and the bounds hold."/>
          <p:cNvSpPr/>
          <p:nvPr/>
        </p:nvSpPr>
        <p:spPr>
          <a:xfrm>
            <a:off x="7924800" y="4057878"/>
            <a:ext cx="3352800"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1"/>
            </a:solidFill>
            <a:ln>
              <a:noFill/>
            </a:ln>
          </p:spPr>
        </p:sp>
      </p:grpSp>
      <p:grpSp>
        <p:nvGrpSpPr>
          <p:cNvPr id="8" name="Group 8"/>
          <p:cNvGrpSpPr/>
          <p:nvPr/>
        </p:nvGrpSpPr>
        <p:grpSpPr>
          <a:xfrm>
            <a:off x="597408" y="583406"/>
            <a:ext cx="7635703" cy="731806"/>
            <a:chOff x="597408" y="583406"/>
            <a:chExt cx="7635703" cy="731806"/>
          </a:xfrm>
        </p:grpSpPr>
        <p:sp>
          <p:nvSpPr>
            <p:cNvPr id="5" name="TextBox 5"/>
            <p:cNvSpPr txBox="1"/>
            <p:nvPr/>
          </p:nvSpPr>
          <p:spPr>
            <a:xfrm>
              <a:off x="603885" y="583406"/>
              <a:ext cx="13685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THE PROBLEM</a:t>
              </a:r>
            </a:p>
          </p:txBody>
        </p:sp>
        <p:sp>
          <p:nvSpPr>
            <p:cNvPr id="6" name="TextBox 6"/>
            <p:cNvSpPr txBox="1"/>
            <p:nvPr/>
          </p:nvSpPr>
          <p:spPr>
            <a:xfrm>
              <a:off x="597408" y="845820"/>
              <a:ext cx="7635703"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A good pose score, but no statement of trust</a:t>
              </a:r>
            </a:p>
          </p:txBody>
        </p:sp>
        <p:sp>
          <p:nvSpPr>
            <p:cNvPr id="7" name="Rectangle 7"/>
            <p:cNvSpPr/>
            <p:nvPr/>
          </p:nvSpPr>
          <p:spPr>
            <a:xfrm>
              <a:off x="628650" y="1257300"/>
              <a:ext cx="685800" cy="47625"/>
            </a:xfrm>
            <a:prstGeom prst="roundRect">
              <a:avLst>
                <a:gd name="adj" fmla="val 40000"/>
              </a:avLst>
            </a:prstGeom>
            <a:solidFill>
              <a:schemeClr val="accent2"/>
            </a:solidFill>
            <a:ln>
              <a:noFill/>
            </a:ln>
          </p:spPr>
        </p:sp>
      </p:grpSp>
      <p:grpSp>
        <p:nvGrpSpPr>
          <p:cNvPr id="41" name="Group 41"/>
          <p:cNvGrpSpPr/>
          <p:nvPr/>
        </p:nvGrpSpPr>
        <p:grpSpPr>
          <a:xfrm>
            <a:off x="609600" y="1600200"/>
            <a:ext cx="5334000" cy="4724400"/>
            <a:chOff x="609600" y="1600200"/>
            <a:chExt cx="5334000" cy="4724400"/>
          </a:xfrm>
        </p:grpSpPr>
        <p:grpSp>
          <p:nvGrpSpPr>
            <p:cNvPr id="22" name="Group 22"/>
            <p:cNvGrpSpPr/>
            <p:nvPr/>
          </p:nvGrpSpPr>
          <p:grpSpPr>
            <a:xfrm>
              <a:off x="609600" y="1600200"/>
              <a:ext cx="5334000" cy="1428750"/>
              <a:chOff x="609600" y="1600200"/>
              <a:chExt cx="5334000" cy="1428750"/>
            </a:xfrm>
          </p:grpSpPr>
          <p:sp>
            <p:nvSpPr>
              <p:cNvPr id="9" name="Rectangle 9"/>
              <p:cNvSpPr/>
              <p:nvPr/>
            </p:nvSpPr>
            <p:spPr>
              <a:xfrm>
                <a:off x="609600" y="1600200"/>
                <a:ext cx="5334000" cy="1428750"/>
              </a:xfrm>
              <a:prstGeom prst="roundRect">
                <a:avLst>
                  <a:gd name="adj" fmla="val 9333"/>
                </a:avLst>
              </a:prstGeom>
              <a:solidFill>
                <a:schemeClr val="lt2"/>
              </a:solidFill>
              <a:ln w="9525">
                <a:solidFill>
                  <a:schemeClr val="accent4"/>
                </a:solidFill>
              </a:ln>
            </p:spPr>
          </p:sp>
          <p:sp>
            <p:nvSpPr>
              <p:cNvPr id="10" name="TextBox 10"/>
              <p:cNvSpPr txBox="1"/>
              <p:nvPr/>
            </p:nvSpPr>
            <p:spPr>
              <a:xfrm>
                <a:off x="831342" y="1797368"/>
                <a:ext cx="280386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Where 6D object pose matters</a:t>
                </a:r>
              </a:p>
            </p:txBody>
          </p:sp>
          <p:sp>
            <p:nvSpPr>
              <p:cNvPr id="11" name="TextBox 11"/>
              <p:cNvSpPr txBox="1"/>
              <p:nvPr/>
            </p:nvSpPr>
            <p:spPr>
              <a:xfrm>
                <a:off x="832866" y="2077402"/>
                <a:ext cx="44801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Recover an object's 3D rotation and translation from one image.</a:t>
                </a:r>
              </a:p>
            </p:txBody>
          </p:sp>
          <p:grpSp>
            <p:nvGrpSpPr>
              <p:cNvPr id="21" name="Group 21"/>
              <p:cNvGrpSpPr/>
              <p:nvPr/>
            </p:nvGrpSpPr>
            <p:grpSpPr>
              <a:xfrm>
                <a:off x="838200" y="2362200"/>
                <a:ext cx="5009192" cy="495300"/>
                <a:chOff x="838200" y="2362200"/>
                <a:chExt cx="5009192" cy="495300"/>
              </a:xfrm>
            </p:grpSpPr>
            <p:sp>
              <p:nvSpPr>
                <p:cNvPr id="12" name="Rectangle 12"/>
                <p:cNvSpPr/>
                <p:nvPr/>
              </p:nvSpPr>
              <p:spPr>
                <a:xfrm>
                  <a:off x="838200" y="2362200"/>
                  <a:ext cx="1428750" cy="495300"/>
                </a:xfrm>
                <a:prstGeom prst="roundRect">
                  <a:avLst>
                    <a:gd name="adj" fmla="val 15385"/>
                  </a:avLst>
                </a:prstGeom>
                <a:solidFill>
                  <a:srgbClr val="EAF0F8"/>
                </a:solidFill>
                <a:ln w="9525">
                  <a:solidFill>
                    <a:srgbClr val="C4D8EE"/>
                  </a:solidFill>
                </a:ln>
              </p:spPr>
            </p:sp>
            <p:sp>
              <p:nvSpPr>
                <p:cNvPr id="13" name="TextBox 13"/>
                <p:cNvSpPr txBox="1"/>
                <p:nvPr/>
              </p:nvSpPr>
              <p:spPr>
                <a:xfrm>
                  <a:off x="891889" y="2544128"/>
                  <a:ext cx="1321372"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Augmented reality</a:t>
                  </a:r>
                </a:p>
              </p:txBody>
            </p:sp>
            <p:sp>
              <p:nvSpPr>
                <p:cNvPr id="14" name="Rectangle 14"/>
                <p:cNvSpPr/>
                <p:nvPr/>
              </p:nvSpPr>
              <p:spPr>
                <a:xfrm>
                  <a:off x="2381250" y="2362200"/>
                  <a:ext cx="1428750" cy="495300"/>
                </a:xfrm>
                <a:prstGeom prst="roundRect">
                  <a:avLst>
                    <a:gd name="adj" fmla="val 15385"/>
                  </a:avLst>
                </a:prstGeom>
                <a:solidFill>
                  <a:srgbClr val="EAF0F8"/>
                </a:solidFill>
                <a:ln w="9525">
                  <a:solidFill>
                    <a:srgbClr val="C4D8EE"/>
                  </a:solidFill>
                </a:ln>
              </p:spPr>
            </p:sp>
            <p:sp>
              <p:nvSpPr>
                <p:cNvPr id="15" name="TextBox 15"/>
                <p:cNvSpPr txBox="1"/>
                <p:nvPr/>
              </p:nvSpPr>
              <p:spPr>
                <a:xfrm>
                  <a:off x="2394124" y="2544128"/>
                  <a:ext cx="1403002"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Autonomous driving</a:t>
                  </a:r>
                </a:p>
              </p:txBody>
            </p:sp>
            <p:sp>
              <p:nvSpPr>
                <p:cNvPr id="16" name="Rectangle 16"/>
                <p:cNvSpPr/>
                <p:nvPr/>
              </p:nvSpPr>
              <p:spPr>
                <a:xfrm>
                  <a:off x="3924300" y="2362200"/>
                  <a:ext cx="857250" cy="495300"/>
                </a:xfrm>
                <a:prstGeom prst="roundRect">
                  <a:avLst>
                    <a:gd name="adj" fmla="val 15385"/>
                  </a:avLst>
                </a:prstGeom>
                <a:solidFill>
                  <a:srgbClr val="EAF0F8"/>
                </a:solidFill>
                <a:ln w="9525">
                  <a:solidFill>
                    <a:srgbClr val="C4D8EE"/>
                  </a:solidFill>
                </a:ln>
              </p:spPr>
            </p:sp>
            <p:sp>
              <p:nvSpPr>
                <p:cNvPr id="17" name="TextBox 17"/>
                <p:cNvSpPr txBox="1"/>
                <p:nvPr/>
              </p:nvSpPr>
              <p:spPr>
                <a:xfrm>
                  <a:off x="4078277" y="2477452"/>
                  <a:ext cx="549295"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Robotic</a:t>
                  </a:r>
                </a:p>
              </p:txBody>
            </p:sp>
            <p:sp>
              <p:nvSpPr>
                <p:cNvPr id="18" name="TextBox 18"/>
                <p:cNvSpPr txBox="1"/>
                <p:nvPr/>
              </p:nvSpPr>
              <p:spPr>
                <a:xfrm>
                  <a:off x="3898625" y="2648902"/>
                  <a:ext cx="908600"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manipulation</a:t>
                  </a:r>
                </a:p>
              </p:txBody>
            </p:sp>
            <p:sp>
              <p:nvSpPr>
                <p:cNvPr id="19" name="Rectangle 19"/>
                <p:cNvSpPr/>
                <p:nvPr/>
              </p:nvSpPr>
              <p:spPr>
                <a:xfrm>
                  <a:off x="4895850" y="2362200"/>
                  <a:ext cx="819150" cy="495300"/>
                </a:xfrm>
                <a:prstGeom prst="roundRect">
                  <a:avLst>
                    <a:gd name="adj" fmla="val 15385"/>
                  </a:avLst>
                </a:prstGeom>
                <a:solidFill>
                  <a:srgbClr val="EAF0F8"/>
                </a:solidFill>
                <a:ln w="9525">
                  <a:solidFill>
                    <a:srgbClr val="C4D8EE"/>
                  </a:solidFill>
                </a:ln>
              </p:spPr>
            </p:sp>
            <p:sp>
              <p:nvSpPr>
                <p:cNvPr id="20" name="TextBox 20"/>
                <p:cNvSpPr txBox="1"/>
                <p:nvPr/>
              </p:nvSpPr>
              <p:spPr>
                <a:xfrm>
                  <a:off x="4763458" y="2544128"/>
                  <a:ext cx="1083934" cy="205359"/>
                </a:xfrm>
                <a:prstGeom prst="rect">
                  <a:avLst/>
                </a:prstGeom>
                <a:noFill/>
                <a:ln>
                  <a:noFill/>
                </a:ln>
              </p:spPr>
              <p:txBody>
                <a:bodyPr wrap="none" lIns="0" tIns="0" rIns="0" bIns="0" anchor="t" anchorCtr="0">
                  <a:spAutoFit/>
                </a:bodyPr>
                <a:lstStyle/>
                <a:p>
                  <a:pPr algn="ctr"/>
                  <a:r>
                    <a:rPr lang="en-US" sz="1050" b="1" dirty="0">
                      <a:solidFill>
                        <a:schemeClr val="accent3"/>
                      </a:solidFill>
                      <a:latin typeface="+mn-lt"/>
                      <a:ea typeface="+mn-ea"/>
                      <a:cs typeface="+mn-cs"/>
                    </a:rPr>
                    <a:t>Space robotics</a:t>
                  </a:r>
                </a:p>
              </p:txBody>
            </p:sp>
          </p:grpSp>
        </p:grpSp>
        <p:grpSp>
          <p:nvGrpSpPr>
            <p:cNvPr id="40" name="Group 40"/>
            <p:cNvGrpSpPr/>
            <p:nvPr/>
          </p:nvGrpSpPr>
          <p:grpSpPr>
            <a:xfrm>
              <a:off x="609600" y="3200400"/>
              <a:ext cx="5334000" cy="3124200"/>
              <a:chOff x="609600" y="3200400"/>
              <a:chExt cx="5334000" cy="3124200"/>
            </a:xfrm>
          </p:grpSpPr>
          <p:sp>
            <p:nvSpPr>
              <p:cNvPr id="23" name="Rectangle 23"/>
              <p:cNvSpPr/>
              <p:nvPr/>
            </p:nvSpPr>
            <p:spPr>
              <a:xfrm>
                <a:off x="609600" y="3200400"/>
                <a:ext cx="5334000" cy="3124200"/>
              </a:xfrm>
              <a:prstGeom prst="roundRect">
                <a:avLst>
                  <a:gd name="adj" fmla="val 4268"/>
                </a:avLst>
              </a:prstGeom>
              <a:solidFill>
                <a:schemeClr val="lt1"/>
              </a:solidFill>
              <a:ln w="14288">
                <a:solidFill>
                  <a:schemeClr val="accent4"/>
                </a:solidFill>
              </a:ln>
            </p:spPr>
          </p:sp>
          <p:sp>
            <p:nvSpPr>
              <p:cNvPr id="24" name="TextBox 24"/>
              <p:cNvSpPr txBox="1"/>
              <p:nvPr/>
            </p:nvSpPr>
            <p:spPr>
              <a:xfrm>
                <a:off x="831342" y="3416618"/>
                <a:ext cx="3922560"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The dominant recipe: a two-stage pipeline</a:t>
                </a:r>
              </a:p>
            </p:txBody>
          </p:sp>
          <p:grpSp>
            <p:nvGrpSpPr>
              <p:cNvPr id="31" name="Group 31"/>
              <p:cNvGrpSpPr/>
              <p:nvPr/>
            </p:nvGrpSpPr>
            <p:grpSpPr>
              <a:xfrm>
                <a:off x="914400" y="3810000"/>
                <a:ext cx="4724400" cy="990600"/>
                <a:chOff x="914400" y="3810000"/>
                <a:chExt cx="4724400" cy="990600"/>
              </a:xfrm>
            </p:grpSpPr>
            <p:sp>
              <p:nvSpPr>
                <p:cNvPr id="25" name="Rectangle 25"/>
                <p:cNvSpPr/>
                <p:nvPr/>
              </p:nvSpPr>
              <p:spPr>
                <a:xfrm>
                  <a:off x="914400" y="3810000"/>
                  <a:ext cx="4724400" cy="990600"/>
                </a:xfrm>
                <a:prstGeom prst="roundRect">
                  <a:avLst>
                    <a:gd name="adj" fmla="val 11538"/>
                  </a:avLst>
                </a:prstGeom>
                <a:solidFill>
                  <a:srgbClr val="FCEEE8"/>
                </a:solidFill>
                <a:ln w="9525">
                  <a:solidFill>
                    <a:srgbClr val="F3C6B3"/>
                  </a:solidFill>
                </a:ln>
              </p:spPr>
            </p:sp>
            <p:sp>
              <p:nvSpPr>
                <p:cNvPr id="26" name="Ellipse 26"/>
                <p:cNvSpPr/>
                <p:nvPr/>
              </p:nvSpPr>
              <p:spPr>
                <a:xfrm>
                  <a:off x="1095375" y="4010025"/>
                  <a:ext cx="323850" cy="323850"/>
                </a:xfrm>
                <a:prstGeom prst="ellipse">
                  <a:avLst/>
                </a:prstGeom>
                <a:solidFill>
                  <a:schemeClr val="accent2"/>
                </a:solidFill>
                <a:ln>
                  <a:noFill/>
                </a:ln>
              </p:spPr>
            </p:sp>
            <p:sp>
              <p:nvSpPr>
                <p:cNvPr id="27" name="TextBox 27"/>
                <p:cNvSpPr txBox="1"/>
                <p:nvPr/>
              </p:nvSpPr>
              <p:spPr>
                <a:xfrm>
                  <a:off x="1204558" y="40995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1</a:t>
                  </a:r>
                </a:p>
              </p:txBody>
            </p:sp>
            <p:sp>
              <p:nvSpPr>
                <p:cNvPr id="28" name="TextBox 28"/>
                <p:cNvSpPr txBox="1"/>
                <p:nvPr/>
              </p:nvSpPr>
              <p:spPr>
                <a:xfrm>
                  <a:off x="1536573" y="4015264"/>
                  <a:ext cx="2361754"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Detect semantic keypoints</a:t>
                  </a:r>
                </a:p>
              </p:txBody>
            </p:sp>
            <p:sp>
              <p:nvSpPr>
                <p:cNvPr id="29" name="TextBox 29"/>
                <p:cNvSpPr txBox="1"/>
                <p:nvPr/>
              </p:nvSpPr>
              <p:spPr>
                <a:xfrm>
                  <a:off x="1537716" y="4287202"/>
                  <a:ext cx="34502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neural network predicts a heatmap per keypoint</a:t>
                  </a:r>
                </a:p>
              </p:txBody>
            </p:sp>
            <p:sp>
              <p:nvSpPr>
                <p:cNvPr id="30" name="TextBox 30"/>
                <p:cNvSpPr txBox="1"/>
                <p:nvPr/>
              </p:nvSpPr>
              <p:spPr>
                <a:xfrm>
                  <a:off x="1537716" y="4477702"/>
                  <a:ext cx="13393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the input image.</a:t>
                  </a:r>
                </a:p>
              </p:txBody>
            </p:sp>
          </p:grpSp>
          <p:sp>
            <p:nvSpPr>
              <p:cNvPr id="32" name="TextBox 32"/>
              <p:cNvSpPr txBox="1"/>
              <p:nvPr/>
            </p:nvSpPr>
            <p:spPr>
              <a:xfrm>
                <a:off x="3190895" y="4837748"/>
                <a:ext cx="171411" cy="381381"/>
              </a:xfrm>
              <a:prstGeom prst="rect">
                <a:avLst/>
              </a:prstGeom>
              <a:noFill/>
              <a:ln>
                <a:noFill/>
              </a:ln>
            </p:spPr>
            <p:txBody>
              <a:bodyPr wrap="none" lIns="0" tIns="0" rIns="0" bIns="0" anchor="t" anchorCtr="0">
                <a:spAutoFit/>
              </a:bodyPr>
              <a:lstStyle/>
              <a:p>
                <a:pPr algn="ctr"/>
                <a:r>
                  <a:rPr lang="en-US" sz="1950" b="1" dirty="0">
                    <a:solidFill>
                      <a:schemeClr val="accent6"/>
                    </a:solidFill>
                    <a:latin typeface="+mn-lt"/>
                    <a:ea typeface="+mn-ea"/>
                    <a:cs typeface="+mn-cs"/>
                  </a:rPr>
                  <a:t>↓</a:t>
                </a:r>
              </a:p>
            </p:txBody>
          </p:sp>
          <p:grpSp>
            <p:nvGrpSpPr>
              <p:cNvPr id="39" name="Group 39"/>
              <p:cNvGrpSpPr/>
              <p:nvPr/>
            </p:nvGrpSpPr>
            <p:grpSpPr>
              <a:xfrm>
                <a:off x="914400" y="5181600"/>
                <a:ext cx="4724400" cy="990600"/>
                <a:chOff x="914400" y="5181600"/>
                <a:chExt cx="4724400" cy="990600"/>
              </a:xfrm>
            </p:grpSpPr>
            <p:sp>
              <p:nvSpPr>
                <p:cNvPr id="33" name="Rectangle 33"/>
                <p:cNvSpPr/>
                <p:nvPr/>
              </p:nvSpPr>
              <p:spPr>
                <a:xfrm>
                  <a:off x="914400" y="5181600"/>
                  <a:ext cx="4724400" cy="990600"/>
                </a:xfrm>
                <a:prstGeom prst="roundRect">
                  <a:avLst>
                    <a:gd name="adj" fmla="val 11538"/>
                  </a:avLst>
                </a:prstGeom>
                <a:solidFill>
                  <a:srgbClr val="E9F1FA"/>
                </a:solidFill>
                <a:ln w="9525">
                  <a:solidFill>
                    <a:srgbClr val="C4D8EE"/>
                  </a:solidFill>
                </a:ln>
              </p:spPr>
            </p:sp>
            <p:sp>
              <p:nvSpPr>
                <p:cNvPr id="34" name="Ellipse 34"/>
                <p:cNvSpPr/>
                <p:nvPr/>
              </p:nvSpPr>
              <p:spPr>
                <a:xfrm>
                  <a:off x="1095375" y="5381625"/>
                  <a:ext cx="323850" cy="323850"/>
                </a:xfrm>
                <a:prstGeom prst="ellipse">
                  <a:avLst/>
                </a:prstGeom>
                <a:solidFill>
                  <a:schemeClr val="accent3"/>
                </a:solidFill>
                <a:ln>
                  <a:noFill/>
                </a:ln>
              </p:spPr>
            </p:sp>
            <p:sp>
              <p:nvSpPr>
                <p:cNvPr id="35" name="TextBox 35"/>
                <p:cNvSpPr txBox="1"/>
                <p:nvPr/>
              </p:nvSpPr>
              <p:spPr>
                <a:xfrm>
                  <a:off x="1204558" y="5471160"/>
                  <a:ext cx="105484" cy="234696"/>
                </a:xfrm>
                <a:prstGeom prst="rect">
                  <a:avLst/>
                </a:prstGeom>
                <a:noFill/>
                <a:ln>
                  <a:noFill/>
                </a:ln>
              </p:spPr>
              <p:txBody>
                <a:bodyPr wrap="none" lIns="0" tIns="0" rIns="0" bIns="0" anchor="t" anchorCtr="0">
                  <a:spAutoFit/>
                </a:bodyPr>
                <a:lstStyle/>
                <a:p>
                  <a:pPr algn="ctr"/>
                  <a:r>
                    <a:rPr lang="en-US" sz="1200" b="1" dirty="0">
                      <a:solidFill>
                        <a:srgbClr val="FFFFFF"/>
                      </a:solidFill>
                      <a:latin typeface="+mn-lt"/>
                      <a:ea typeface="+mn-ea"/>
                      <a:cs typeface="+mn-cs"/>
                    </a:rPr>
                    <a:t>2</a:t>
                  </a:r>
                </a:p>
              </p:txBody>
            </p:sp>
            <p:sp>
              <p:nvSpPr>
                <p:cNvPr id="36" name="TextBox 36"/>
                <p:cNvSpPr txBox="1"/>
                <p:nvPr/>
              </p:nvSpPr>
              <p:spPr>
                <a:xfrm>
                  <a:off x="1536573" y="5386864"/>
                  <a:ext cx="3442776" cy="249364"/>
                </a:xfrm>
                <a:prstGeom prst="rect">
                  <a:avLst/>
                </a:prstGeom>
                <a:noFill/>
                <a:ln>
                  <a:noFill/>
                </a:ln>
              </p:spPr>
              <p:txBody>
                <a:bodyPr wrap="none" lIns="0" tIns="0" rIns="0" bIns="0" anchor="t" anchorCtr="0">
                  <a:spAutoFit/>
                </a:bodyPr>
                <a:lstStyle/>
                <a:p>
                  <a:pPr algn="l"/>
                  <a:r>
                    <a:rPr lang="en-US" sz="1280" b="1" dirty="0">
                      <a:solidFill>
                        <a:schemeClr val="accent1"/>
                      </a:solidFill>
                      <a:latin typeface="+mn-lt"/>
                      <a:ea typeface="+mn-ea"/>
                      <a:cs typeface="+mn-cs"/>
                    </a:rPr>
                    <a:t>Solve the pose (Perspective-n-Points)</a:t>
                  </a:r>
                </a:p>
              </p:txBody>
            </p:sp>
            <p:sp>
              <p:nvSpPr>
                <p:cNvPr id="37" name="TextBox 37"/>
                <p:cNvSpPr txBox="1"/>
                <p:nvPr/>
              </p:nvSpPr>
              <p:spPr>
                <a:xfrm>
                  <a:off x="1537716" y="5658802"/>
                  <a:ext cx="29835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Minimize reprojection error to recover the</a:t>
                  </a:r>
                </a:p>
              </p:txBody>
            </p:sp>
            <p:sp>
              <p:nvSpPr>
                <p:cNvPr id="38" name="TextBox 38"/>
                <p:cNvSpPr txBox="1"/>
                <p:nvPr/>
              </p:nvSpPr>
              <p:spPr>
                <a:xfrm>
                  <a:off x="1537716" y="5849302"/>
                  <a:ext cx="20225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rotation R and translation t.</a:t>
                  </a:r>
                </a:p>
              </p:txBody>
            </p:sp>
          </p:grpSp>
        </p:grpSp>
      </p:grpSp>
      <p:grpSp>
        <p:nvGrpSpPr>
          <p:cNvPr id="63" name="Group 63"/>
          <p:cNvGrpSpPr/>
          <p:nvPr/>
        </p:nvGrpSpPr>
        <p:grpSpPr>
          <a:xfrm>
            <a:off x="6248400" y="1600200"/>
            <a:ext cx="5334000" cy="4724400"/>
            <a:chOff x="6248400" y="1600200"/>
            <a:chExt cx="5334000" cy="4724400"/>
          </a:xfrm>
        </p:grpSpPr>
        <p:grpSp>
          <p:nvGrpSpPr>
            <p:cNvPr id="47" name="Group 47"/>
            <p:cNvGrpSpPr/>
            <p:nvPr/>
          </p:nvGrpSpPr>
          <p:grpSpPr>
            <a:xfrm>
              <a:off x="6248400" y="1600200"/>
              <a:ext cx="5334000" cy="1428750"/>
              <a:chOff x="6248400" y="1600200"/>
              <a:chExt cx="5334000" cy="1428750"/>
            </a:xfrm>
          </p:grpSpPr>
          <p:sp>
            <p:nvSpPr>
              <p:cNvPr id="42" name="Rectangle 42"/>
              <p:cNvSpPr/>
              <p:nvPr/>
            </p:nvSpPr>
            <p:spPr>
              <a:xfrm>
                <a:off x="6248400" y="1600200"/>
                <a:ext cx="5334000" cy="1428750"/>
              </a:xfrm>
              <a:prstGeom prst="roundRect">
                <a:avLst>
                  <a:gd name="adj" fmla="val 9333"/>
                </a:avLst>
              </a:prstGeom>
              <a:solidFill>
                <a:srgbClr val="FFF7E8"/>
              </a:solidFill>
              <a:ln w="9525">
                <a:solidFill>
                  <a:srgbClr val="F0D89A"/>
                </a:solidFill>
              </a:ln>
            </p:spPr>
          </p:sp>
          <p:sp>
            <p:nvSpPr>
              <p:cNvPr id="43" name="TextBox 43"/>
              <p:cNvSpPr txBox="1"/>
              <p:nvPr/>
            </p:nvSpPr>
            <p:spPr>
              <a:xfrm>
                <a:off x="6470142" y="1797368"/>
                <a:ext cx="3607755"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Strong on benchmarks, silent on trust</a:t>
                </a:r>
              </a:p>
            </p:txBody>
          </p:sp>
          <p:sp>
            <p:nvSpPr>
              <p:cNvPr id="44" name="TextBox 44"/>
              <p:cNvSpPr txBox="1"/>
              <p:nvPr/>
            </p:nvSpPr>
            <p:spPr>
              <a:xfrm>
                <a:off x="6471285" y="2164556"/>
                <a:ext cx="35899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These methods score well on standard datasets,</a:t>
                </a:r>
              </a:p>
            </p:txBody>
          </p:sp>
          <p:sp>
            <p:nvSpPr>
              <p:cNvPr id="45" name="TextBox 45"/>
              <p:cNvSpPr txBox="1"/>
              <p:nvPr/>
            </p:nvSpPr>
            <p:spPr>
              <a:xfrm>
                <a:off x="6471285" y="2393156"/>
                <a:ext cx="29439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yet they hand back a single pose with no</a:t>
                </a:r>
              </a:p>
            </p:txBody>
          </p:sp>
          <p:sp>
            <p:nvSpPr>
              <p:cNvPr id="46" name="TextBox 46"/>
              <p:cNvSpPr txBox="1"/>
              <p:nvPr/>
            </p:nvSpPr>
            <p:spPr>
              <a:xfrm>
                <a:off x="6471285" y="2621756"/>
                <a:ext cx="3138114" cy="220028"/>
              </a:xfrm>
              <a:prstGeom prst="rect">
                <a:avLst/>
              </a:prstGeom>
              <a:noFill/>
              <a:ln>
                <a:noFill/>
              </a:ln>
            </p:spPr>
            <p:txBody>
              <a:bodyPr wrap="none" lIns="0" tIns="0" rIns="0" bIns="0" anchor="t" anchorCtr="0">
                <a:spAutoFit/>
              </a:bodyPr>
              <a:lstStyle/>
              <a:p>
                <a:pPr algn="l"/>
                <a:r>
                  <a:rPr lang="en-US" sz="1120" b="1" dirty="0">
                    <a:solidFill>
                      <a:srgbClr val="B8860B"/>
                    </a:solidFill>
                    <a:latin typeface="+mn-lt"/>
                    <a:ea typeface="+mn-ea"/>
                    <a:cs typeface="+mn-cs"/>
                  </a:rPr>
                  <a:t>statement about how trustworthy it is.</a:t>
                </a:r>
              </a:p>
            </p:txBody>
          </p:sp>
        </p:grpSp>
        <p:grpSp>
          <p:nvGrpSpPr>
            <p:cNvPr id="62" name="Group 62"/>
            <p:cNvGrpSpPr/>
            <p:nvPr/>
          </p:nvGrpSpPr>
          <p:grpSpPr>
            <a:xfrm>
              <a:off x="6248400" y="3200400"/>
              <a:ext cx="5334000" cy="3124200"/>
              <a:chOff x="6248400" y="3200400"/>
              <a:chExt cx="5334000" cy="3124200"/>
            </a:xfrm>
          </p:grpSpPr>
          <p:sp>
            <p:nvSpPr>
              <p:cNvPr id="48" name="Rectangle 48"/>
              <p:cNvSpPr/>
              <p:nvPr/>
            </p:nvSpPr>
            <p:spPr>
              <a:xfrm>
                <a:off x="6248400" y="3200400"/>
                <a:ext cx="5334000" cy="3124200"/>
              </a:xfrm>
              <a:prstGeom prst="roundRect">
                <a:avLst>
                  <a:gd name="adj" fmla="val 4268"/>
                </a:avLst>
              </a:prstGeom>
              <a:solidFill>
                <a:srgbClr val="0F1B2E"/>
              </a:solidFill>
              <a:ln>
                <a:noFill/>
              </a:ln>
            </p:spPr>
          </p:sp>
          <p:sp>
            <p:nvSpPr>
              <p:cNvPr id="49" name="Rectangle 49"/>
              <p:cNvSpPr/>
              <p:nvPr/>
            </p:nvSpPr>
            <p:spPr>
              <a:xfrm>
                <a:off x="6248400" y="3200400"/>
                <a:ext cx="5334000" cy="76200"/>
              </a:xfrm>
              <a:prstGeom prst="roundRect">
                <a:avLst>
                  <a:gd name="adj" fmla="val 50000"/>
                </a:avLst>
              </a:prstGeom>
              <a:solidFill>
                <a:schemeClr val="accent2"/>
              </a:solidFill>
              <a:ln>
                <a:noFill/>
              </a:ln>
            </p:spPr>
          </p:sp>
          <p:sp>
            <p:nvSpPr>
              <p:cNvPr id="50" name="TextBox 50"/>
              <p:cNvSpPr txBox="1"/>
              <p:nvPr/>
            </p:nvSpPr>
            <p:spPr>
              <a:xfrm>
                <a:off x="6469761" y="3541871"/>
                <a:ext cx="4135860" cy="278702"/>
              </a:xfrm>
              <a:prstGeom prst="rect">
                <a:avLst/>
              </a:prstGeom>
              <a:noFill/>
              <a:ln>
                <a:noFill/>
              </a:ln>
            </p:spPr>
            <p:txBody>
              <a:bodyPr wrap="none" lIns="0" tIns="0" rIns="0" bIns="0" anchor="t" anchorCtr="0">
                <a:spAutoFit/>
              </a:bodyPr>
              <a:lstStyle/>
              <a:p>
                <a:pPr algn="l"/>
                <a:r>
                  <a:rPr lang="en-US" sz="1420" b="1" dirty="0">
                    <a:solidFill>
                      <a:srgbClr val="FFFFFF"/>
                    </a:solidFill>
                    <a:latin typeface="+mn-lt"/>
                    <a:ea typeface="+mn-ea"/>
                    <a:cs typeface="+mn-cs"/>
                  </a:rPr>
                  <a:t>A serious gap for safety-critical systems</a:t>
                </a:r>
              </a:p>
            </p:txBody>
          </p:sp>
          <p:sp>
            <p:nvSpPr>
              <p:cNvPr id="51" name="TextBox 51"/>
              <p:cNvSpPr txBox="1"/>
              <p:nvPr/>
            </p:nvSpPr>
            <p:spPr>
              <a:xfrm>
                <a:off x="6471666" y="3830002"/>
                <a:ext cx="4793249" cy="205359"/>
              </a:xfrm>
              <a:prstGeom prst="rect">
                <a:avLst/>
              </a:prstGeom>
              <a:noFill/>
              <a:ln>
                <a:noFill/>
              </a:ln>
            </p:spPr>
            <p:txBody>
              <a:bodyPr wrap="none" lIns="0" tIns="0" rIns="0" bIns="0" anchor="t" anchorCtr="0">
                <a:spAutoFit/>
              </a:bodyPr>
              <a:lstStyle/>
              <a:p>
                <a:pPr algn="l"/>
                <a:r>
                  <a:rPr lang="en-US" sz="1050" dirty="0">
                    <a:solidFill>
                      <a:srgbClr val="B9C6D8"/>
                    </a:solidFill>
                    <a:latin typeface="+mn-lt"/>
                    <a:ea typeface="+mn-ea"/>
                    <a:cs typeface="+mn-cs"/>
                  </a:rPr>
                  <a:t>In driving, manipulation, and space, wrong-and-confident fails hard.</a:t>
                </a:r>
              </a:p>
            </p:txBody>
          </p:sp>
          <p:grpSp>
            <p:nvGrpSpPr>
              <p:cNvPr id="61" name="Group 61"/>
              <p:cNvGrpSpPr/>
              <p:nvPr/>
            </p:nvGrpSpPr>
            <p:grpSpPr>
              <a:xfrm>
                <a:off x="6477000" y="4152900"/>
                <a:ext cx="4876800" cy="1962150"/>
                <a:chOff x="6477000" y="4152900"/>
                <a:chExt cx="4876800" cy="1962150"/>
              </a:xfrm>
            </p:grpSpPr>
            <p:sp>
              <p:nvSpPr>
                <p:cNvPr id="52" name="Rectangle 52"/>
                <p:cNvSpPr/>
                <p:nvPr/>
              </p:nvSpPr>
              <p:spPr>
                <a:xfrm>
                  <a:off x="6477000" y="4152900"/>
                  <a:ext cx="4876800" cy="590550"/>
                </a:xfrm>
                <a:prstGeom prst="roundRect">
                  <a:avLst>
                    <a:gd name="adj" fmla="val 16129"/>
                  </a:avLst>
                </a:prstGeom>
                <a:solidFill>
                  <a:srgbClr val="182A44"/>
                </a:solidFill>
                <a:ln w="9525">
                  <a:solidFill>
                    <a:srgbClr val="2A3B54"/>
                  </a:solidFill>
                </a:ln>
              </p:spPr>
            </p:sp>
            <p:sp>
              <p:nvSpPr>
                <p:cNvPr id="53" name="TextBox 53"/>
                <p:cNvSpPr txBox="1"/>
                <p:nvPr/>
              </p:nvSpPr>
              <p:spPr>
                <a:xfrm>
                  <a:off x="6678930" y="4257675"/>
                  <a:ext cx="227267"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a:t>
                  </a:r>
                </a:p>
              </p:txBody>
            </p:sp>
            <p:sp>
              <p:nvSpPr>
                <p:cNvPr id="54" name="TextBox 54"/>
                <p:cNvSpPr txBox="1"/>
                <p:nvPr/>
              </p:nvSpPr>
              <p:spPr>
                <a:xfrm>
                  <a:off x="6947154" y="4366260"/>
                  <a:ext cx="3698603" cy="234696"/>
                </a:xfrm>
                <a:prstGeom prst="rect">
                  <a:avLst/>
                </a:prstGeom>
                <a:noFill/>
                <a:ln>
                  <a:noFill/>
                </a:ln>
              </p:spPr>
              <p:txBody>
                <a:bodyPr wrap="none" lIns="0" tIns="0" rIns="0" bIns="0" anchor="t" anchorCtr="0">
                  <a:spAutoFit/>
                </a:bodyPr>
                <a:lstStyle/>
                <a:p>
                  <a:pPr algn="l"/>
                  <a:r>
                    <a:rPr lang="en-US" sz="1200" b="1" dirty="0">
                      <a:solidFill>
                        <a:srgbClr val="CBD8E6"/>
                      </a:solidFill>
                      <a:latin typeface="+mn-lt"/>
                      <a:ea typeface="+mn-ea"/>
                      <a:cs typeface="+mn-cs"/>
                    </a:rPr>
                    <a:t>No guarantee on the quality of the keypoints</a:t>
                  </a:r>
                </a:p>
              </p:txBody>
            </p:sp>
            <p:sp>
              <p:nvSpPr>
                <p:cNvPr id="55" name="Rectangle 55"/>
                <p:cNvSpPr/>
                <p:nvPr/>
              </p:nvSpPr>
              <p:spPr>
                <a:xfrm>
                  <a:off x="6477000" y="4838700"/>
                  <a:ext cx="4876800" cy="590550"/>
                </a:xfrm>
                <a:prstGeom prst="roundRect">
                  <a:avLst>
                    <a:gd name="adj" fmla="val 16129"/>
                  </a:avLst>
                </a:prstGeom>
                <a:solidFill>
                  <a:srgbClr val="182A44"/>
                </a:solidFill>
                <a:ln w="9525">
                  <a:solidFill>
                    <a:srgbClr val="2A3B54"/>
                  </a:solidFill>
                </a:ln>
              </p:spPr>
            </p:sp>
            <p:sp>
              <p:nvSpPr>
                <p:cNvPr id="56" name="TextBox 56"/>
                <p:cNvSpPr txBox="1"/>
                <p:nvPr/>
              </p:nvSpPr>
              <p:spPr>
                <a:xfrm>
                  <a:off x="6678930" y="4943475"/>
                  <a:ext cx="227267"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a:t>
                  </a:r>
                </a:p>
              </p:txBody>
            </p:sp>
            <p:sp>
              <p:nvSpPr>
                <p:cNvPr id="57" name="TextBox 57"/>
                <p:cNvSpPr txBox="1"/>
                <p:nvPr/>
              </p:nvSpPr>
              <p:spPr>
                <a:xfrm>
                  <a:off x="6947154" y="5052060"/>
                  <a:ext cx="4012424" cy="234696"/>
                </a:xfrm>
                <a:prstGeom prst="rect">
                  <a:avLst/>
                </a:prstGeom>
                <a:noFill/>
                <a:ln>
                  <a:noFill/>
                </a:ln>
              </p:spPr>
              <p:txBody>
                <a:bodyPr wrap="none" lIns="0" tIns="0" rIns="0" bIns="0" anchor="t" anchorCtr="0">
                  <a:spAutoFit/>
                </a:bodyPr>
                <a:lstStyle/>
                <a:p>
                  <a:pPr algn="l"/>
                  <a:r>
                    <a:rPr lang="en-US" sz="1200" b="1" dirty="0">
                      <a:solidFill>
                        <a:srgbClr val="CBD8E6"/>
                      </a:solidFill>
                      <a:latin typeface="+mn-lt"/>
                      <a:ea typeface="+mn-ea"/>
                      <a:cs typeface="+mn-cs"/>
                    </a:rPr>
                    <a:t>No guarantee the optimizer found the right pose</a:t>
                  </a:r>
                </a:p>
              </p:txBody>
            </p:sp>
            <p:sp>
              <p:nvSpPr>
                <p:cNvPr id="58" name="Rectangle 58"/>
                <p:cNvSpPr/>
                <p:nvPr/>
              </p:nvSpPr>
              <p:spPr>
                <a:xfrm>
                  <a:off x="6477000" y="5524500"/>
                  <a:ext cx="4876800" cy="590550"/>
                </a:xfrm>
                <a:prstGeom prst="roundRect">
                  <a:avLst>
                    <a:gd name="adj" fmla="val 16129"/>
                  </a:avLst>
                </a:prstGeom>
                <a:solidFill>
                  <a:srgbClr val="182A44"/>
                </a:solidFill>
                <a:ln w="9525">
                  <a:solidFill>
                    <a:srgbClr val="2A3B54"/>
                  </a:solidFill>
                </a:ln>
              </p:spPr>
            </p:sp>
            <p:sp>
              <p:nvSpPr>
                <p:cNvPr id="59" name="TextBox 59"/>
                <p:cNvSpPr txBox="1"/>
                <p:nvPr/>
              </p:nvSpPr>
              <p:spPr>
                <a:xfrm>
                  <a:off x="6678930" y="5629275"/>
                  <a:ext cx="227267"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a:t>
                  </a:r>
                </a:p>
              </p:txBody>
            </p:sp>
            <p:sp>
              <p:nvSpPr>
                <p:cNvPr id="60" name="TextBox 60"/>
                <p:cNvSpPr txBox="1"/>
                <p:nvPr/>
              </p:nvSpPr>
              <p:spPr>
                <a:xfrm>
                  <a:off x="6947154" y="5737860"/>
                  <a:ext cx="3427609" cy="234696"/>
                </a:xfrm>
                <a:prstGeom prst="rect">
                  <a:avLst/>
                </a:prstGeom>
                <a:noFill/>
                <a:ln>
                  <a:noFill/>
                </a:ln>
              </p:spPr>
              <p:txBody>
                <a:bodyPr wrap="none" lIns="0" tIns="0" rIns="0" bIns="0" anchor="t" anchorCtr="0">
                  <a:spAutoFit/>
                </a:bodyPr>
                <a:lstStyle/>
                <a:p>
                  <a:pPr algn="l"/>
                  <a:r>
                    <a:rPr lang="en-US" sz="1200" b="1" dirty="0">
                      <a:solidFill>
                        <a:srgbClr val="CBD8E6"/>
                      </a:solidFill>
                      <a:latin typeface="+mn-lt"/>
                      <a:ea typeface="+mn-ea"/>
                      <a:cs typeface="+mn-cs"/>
                    </a:rPr>
                    <a:t>No formal bound on the worst-case error</a:t>
                  </a:r>
                </a:p>
              </p:txBody>
            </p:sp>
          </p:grpSp>
        </p:grpSp>
      </p:grpSp>
      <p:sp>
        <p:nvSpPr>
          <p:cNvPr id="64" name="cue_s02_c1_estimating_object_6_pose_image" title="cue_s02_c1_estimating_object_6_pose_image" descr="cue_s02_c1_estimating_object_6_pose_image Estimating an object's 6D pose from an image underlies augmented reality, autonomous driving, robotic manipulation, and space robotics."/>
          <p:cNvSpPr/>
          <p:nvPr/>
        </p:nvSpPr>
        <p:spPr>
          <a:xfrm>
            <a:off x="609600" y="15999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2_c2_dominant_recipe_two_stages_first" title="cue_s02_c2_dominant_recipe_two_stages_first" descr="cue_s02_c2_dominant_recipe_two_stages_first The dominant recipe is two stages: first detect semantic keypoints, then recover the pose by minimizing reprojection error through Perspective-n-Points."/>
          <p:cNvSpPr/>
          <p:nvPr/>
        </p:nvSpPr>
        <p:spPr>
          <a:xfrm>
            <a:off x="609600" y="3200628"/>
            <a:ext cx="5334000" cy="31245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3_these_methods_score_well_benchmarks" title="cue_s02_c3_these_methods_score_well_benchmarks" descr="cue_s02_c3_these_methods_score_well_benchmarks These methods score well on benchmarks, yet they return a single pose with no statement about how trustworthy it is."/>
          <p:cNvSpPr/>
          <p:nvPr/>
        </p:nvSpPr>
        <p:spPr>
          <a:xfrm>
            <a:off x="6248399" y="15999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2_c4_safety_critical_systems_serious_gap" title="cue_s02_c4_safety_critical_systems_serious_gap" descr="cue_s02_c4_safety_critical_systems_serious_gap For safety-critical systems that is a serious gap: no guarantee on the keypoints, no guarantee the optimizer found the right pose, and no formal bound on the worst-case error against the truth."/>
          <p:cNvSpPr/>
          <p:nvPr/>
        </p:nvSpPr>
        <p:spPr>
          <a:xfrm>
            <a:off x="6248399" y="3200628"/>
            <a:ext cx="5334000" cy="31245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1"/>
            </a:solidFill>
            <a:ln>
              <a:noFill/>
            </a:ln>
          </p:spPr>
        </p:sp>
      </p:grpSp>
      <p:grpSp>
        <p:nvGrpSpPr>
          <p:cNvPr id="8" name="Group 8"/>
          <p:cNvGrpSpPr/>
          <p:nvPr/>
        </p:nvGrpSpPr>
        <p:grpSpPr>
          <a:xfrm>
            <a:off x="597408" y="583406"/>
            <a:ext cx="6362107" cy="731806"/>
            <a:chOff x="597408" y="583406"/>
            <a:chExt cx="6362107" cy="731806"/>
          </a:xfrm>
        </p:grpSpPr>
        <p:sp>
          <p:nvSpPr>
            <p:cNvPr id="5" name="TextBox 5"/>
            <p:cNvSpPr txBox="1"/>
            <p:nvPr/>
          </p:nvSpPr>
          <p:spPr>
            <a:xfrm>
              <a:off x="603885" y="583406"/>
              <a:ext cx="17878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WHY IS THIS HARD</a:t>
              </a:r>
            </a:p>
          </p:txBody>
        </p:sp>
        <p:sp>
          <p:nvSpPr>
            <p:cNvPr id="6" name="TextBox 6"/>
            <p:cNvSpPr txBox="1"/>
            <p:nvPr/>
          </p:nvSpPr>
          <p:spPr>
            <a:xfrm>
              <a:off x="597408" y="845820"/>
              <a:ext cx="6362107"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Three challenges block a provable pose</a:t>
              </a:r>
            </a:p>
          </p:txBody>
        </p:sp>
        <p:sp>
          <p:nvSpPr>
            <p:cNvPr id="7" name="Rectangle 7"/>
            <p:cNvSpPr/>
            <p:nvPr/>
          </p:nvSpPr>
          <p:spPr>
            <a:xfrm>
              <a:off x="628650" y="1257300"/>
              <a:ext cx="685800" cy="47625"/>
            </a:xfrm>
            <a:prstGeom prst="roundRect">
              <a:avLst>
                <a:gd name="adj" fmla="val 40000"/>
              </a:avLst>
            </a:prstGeom>
            <a:solidFill>
              <a:schemeClr val="accent2"/>
            </a:solidFill>
            <a:ln>
              <a:noFill/>
            </a:ln>
          </p:spPr>
        </p:sp>
      </p:grpSp>
      <p:grpSp>
        <p:nvGrpSpPr>
          <p:cNvPr id="43" name="Group 43"/>
          <p:cNvGrpSpPr/>
          <p:nvPr/>
        </p:nvGrpSpPr>
        <p:grpSpPr>
          <a:xfrm>
            <a:off x="609600" y="1600200"/>
            <a:ext cx="10972800" cy="3200400"/>
            <a:chOff x="609600" y="1600200"/>
            <a:chExt cx="10972800" cy="3200400"/>
          </a:xfrm>
        </p:grpSpPr>
        <p:grpSp>
          <p:nvGrpSpPr>
            <p:cNvPr id="19" name="Group 19"/>
            <p:cNvGrpSpPr/>
            <p:nvPr/>
          </p:nvGrpSpPr>
          <p:grpSpPr>
            <a:xfrm>
              <a:off x="609600" y="1600200"/>
              <a:ext cx="3505200" cy="3200400"/>
              <a:chOff x="609600" y="1600200"/>
              <a:chExt cx="3505200" cy="3200400"/>
            </a:xfrm>
          </p:grpSpPr>
          <p:sp>
            <p:nvSpPr>
              <p:cNvPr id="9" name="Rectangle 9"/>
              <p:cNvSpPr/>
              <p:nvPr/>
            </p:nvSpPr>
            <p:spPr>
              <a:xfrm>
                <a:off x="609600" y="1600200"/>
                <a:ext cx="3505200" cy="3200400"/>
              </a:xfrm>
              <a:prstGeom prst="roundRect">
                <a:avLst>
                  <a:gd name="adj" fmla="val 4167"/>
                </a:avLst>
              </a:prstGeom>
              <a:solidFill>
                <a:srgbClr val="FCEEE8"/>
              </a:solidFill>
              <a:ln w="14288">
                <a:solidFill>
                  <a:srgbClr val="F3C6B3"/>
                </a:solidFill>
              </a:ln>
            </p:spPr>
          </p:sp>
          <p:sp>
            <p:nvSpPr>
              <p:cNvPr id="10" name="TextBox 10"/>
              <p:cNvSpPr txBox="1"/>
              <p:nvPr/>
            </p:nvSpPr>
            <p:spPr>
              <a:xfrm>
                <a:off x="857250" y="1829752"/>
                <a:ext cx="703463" cy="790575"/>
              </a:xfrm>
              <a:prstGeom prst="rect">
                <a:avLst/>
              </a:prstGeom>
              <a:noFill/>
              <a:ln>
                <a:noFill/>
              </a:ln>
            </p:spPr>
            <p:txBody>
              <a:bodyPr wrap="none" lIns="0" tIns="0" rIns="0" bIns="0" anchor="t" anchorCtr="0">
                <a:spAutoFit/>
              </a:bodyPr>
              <a:lstStyle/>
              <a:p>
                <a:pPr algn="l"/>
                <a:r>
                  <a:rPr lang="en-US" sz="4050" b="1" dirty="0">
                    <a:solidFill>
                      <a:srgbClr val="F0A488"/>
                    </a:solidFill>
                    <a:latin typeface="+mn-lt"/>
                    <a:ea typeface="+mn-ea"/>
                    <a:cs typeface="+mn-cs"/>
                  </a:rPr>
                  <a:t>C1</a:t>
                </a:r>
              </a:p>
            </p:txBody>
          </p:sp>
          <p:sp>
            <p:nvSpPr>
              <p:cNvPr id="11" name="TextBox 11"/>
              <p:cNvSpPr txBox="1"/>
              <p:nvPr/>
            </p:nvSpPr>
            <p:spPr>
              <a:xfrm>
                <a:off x="867918" y="2546032"/>
                <a:ext cx="190185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Keypoints can be</a:t>
                </a:r>
              </a:p>
            </p:txBody>
          </p:sp>
          <p:sp>
            <p:nvSpPr>
              <p:cNvPr id="12" name="TextBox 12"/>
              <p:cNvSpPr txBox="1"/>
              <p:nvPr/>
            </p:nvSpPr>
            <p:spPr>
              <a:xfrm>
                <a:off x="867918" y="2812732"/>
                <a:ext cx="201087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arbitrarily wrong</a:t>
                </a:r>
              </a:p>
            </p:txBody>
          </p:sp>
          <p:sp>
            <p:nvSpPr>
              <p:cNvPr id="13" name="Rectangle 13"/>
              <p:cNvSpPr/>
              <p:nvPr/>
            </p:nvSpPr>
            <p:spPr>
              <a:xfrm>
                <a:off x="876300" y="3162300"/>
                <a:ext cx="571500" cy="38100"/>
              </a:xfrm>
              <a:prstGeom prst="roundRect">
                <a:avLst>
                  <a:gd name="adj" fmla="val 50000"/>
                </a:avLst>
              </a:prstGeom>
              <a:solidFill>
                <a:schemeClr val="accent2"/>
              </a:solidFill>
              <a:ln>
                <a:noFill/>
              </a:ln>
            </p:spPr>
          </p:sp>
          <p:sp>
            <p:nvSpPr>
              <p:cNvPr id="14" name="TextBox 14"/>
              <p:cNvSpPr txBox="1"/>
              <p:nvPr/>
            </p:nvSpPr>
            <p:spPr>
              <a:xfrm>
                <a:off x="870204" y="3413760"/>
                <a:ext cx="2028589"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Neural detectors produce</a:t>
                </a:r>
              </a:p>
            </p:txBody>
          </p:sp>
          <p:sp>
            <p:nvSpPr>
              <p:cNvPr id="15" name="TextBox 15"/>
              <p:cNvSpPr txBox="1"/>
              <p:nvPr/>
            </p:nvSpPr>
            <p:spPr>
              <a:xfrm>
                <a:off x="870204" y="3642360"/>
                <a:ext cx="1974952"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outliers: some predicted</a:t>
                </a:r>
              </a:p>
            </p:txBody>
          </p:sp>
          <p:sp>
            <p:nvSpPr>
              <p:cNvPr id="16" name="TextBox 16"/>
              <p:cNvSpPr txBox="1"/>
              <p:nvPr/>
            </p:nvSpPr>
            <p:spPr>
              <a:xfrm>
                <a:off x="870204" y="3870960"/>
                <a:ext cx="2201113"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keypoints land far from the</a:t>
                </a:r>
              </a:p>
            </p:txBody>
          </p:sp>
          <p:sp>
            <p:nvSpPr>
              <p:cNvPr id="17" name="TextBox 17"/>
              <p:cNvSpPr txBox="1"/>
              <p:nvPr/>
            </p:nvSpPr>
            <p:spPr>
              <a:xfrm>
                <a:off x="870204" y="4099560"/>
                <a:ext cx="1756867"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true location, with no</a:t>
                </a:r>
              </a:p>
            </p:txBody>
          </p:sp>
          <p:sp>
            <p:nvSpPr>
              <p:cNvPr id="18" name="TextBox 18"/>
              <p:cNvSpPr txBox="1"/>
              <p:nvPr/>
            </p:nvSpPr>
            <p:spPr>
              <a:xfrm>
                <a:off x="870204" y="4328160"/>
                <a:ext cx="2152650"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warning that they are off.</a:t>
                </a:r>
              </a:p>
            </p:txBody>
          </p:sp>
        </p:grpSp>
        <p:grpSp>
          <p:nvGrpSpPr>
            <p:cNvPr id="30" name="Group 30"/>
            <p:cNvGrpSpPr/>
            <p:nvPr/>
          </p:nvGrpSpPr>
          <p:grpSpPr>
            <a:xfrm>
              <a:off x="4343400" y="1600200"/>
              <a:ext cx="3505200" cy="3200400"/>
              <a:chOff x="4343400" y="1600200"/>
              <a:chExt cx="3505200" cy="3200400"/>
            </a:xfrm>
          </p:grpSpPr>
          <p:sp>
            <p:nvSpPr>
              <p:cNvPr id="20" name="Rectangle 20"/>
              <p:cNvSpPr/>
              <p:nvPr/>
            </p:nvSpPr>
            <p:spPr>
              <a:xfrm>
                <a:off x="4343400" y="1600200"/>
                <a:ext cx="3505200" cy="3200400"/>
              </a:xfrm>
              <a:prstGeom prst="roundRect">
                <a:avLst>
                  <a:gd name="adj" fmla="val 4167"/>
                </a:avLst>
              </a:prstGeom>
              <a:solidFill>
                <a:srgbClr val="E9F1FA"/>
              </a:solidFill>
              <a:ln w="14288">
                <a:solidFill>
                  <a:srgbClr val="C4D8EE"/>
                </a:solidFill>
              </a:ln>
            </p:spPr>
          </p:sp>
          <p:sp>
            <p:nvSpPr>
              <p:cNvPr id="21" name="TextBox 21"/>
              <p:cNvSpPr txBox="1"/>
              <p:nvPr/>
            </p:nvSpPr>
            <p:spPr>
              <a:xfrm>
                <a:off x="4591050" y="1829752"/>
                <a:ext cx="703463" cy="790575"/>
              </a:xfrm>
              <a:prstGeom prst="rect">
                <a:avLst/>
              </a:prstGeom>
              <a:noFill/>
              <a:ln>
                <a:noFill/>
              </a:ln>
            </p:spPr>
            <p:txBody>
              <a:bodyPr wrap="none" lIns="0" tIns="0" rIns="0" bIns="0" anchor="t" anchorCtr="0">
                <a:spAutoFit/>
              </a:bodyPr>
              <a:lstStyle/>
              <a:p>
                <a:pPr algn="l"/>
                <a:r>
                  <a:rPr lang="en-US" sz="4050" b="1" dirty="0">
                    <a:solidFill>
                      <a:srgbClr val="9DBCDD"/>
                    </a:solidFill>
                    <a:latin typeface="+mn-lt"/>
                    <a:ea typeface="+mn-ea"/>
                    <a:cs typeface="+mn-cs"/>
                  </a:rPr>
                  <a:t>C2</a:t>
                </a:r>
              </a:p>
            </p:txBody>
          </p:sp>
          <p:sp>
            <p:nvSpPr>
              <p:cNvPr id="22" name="TextBox 22"/>
              <p:cNvSpPr txBox="1"/>
              <p:nvPr/>
            </p:nvSpPr>
            <p:spPr>
              <a:xfrm>
                <a:off x="4601718" y="2546032"/>
                <a:ext cx="222771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Outlier rejection is</a:t>
                </a:r>
              </a:p>
            </p:txBody>
          </p:sp>
          <p:sp>
            <p:nvSpPr>
              <p:cNvPr id="23" name="TextBox 23"/>
              <p:cNvSpPr txBox="1"/>
              <p:nvPr/>
            </p:nvSpPr>
            <p:spPr>
              <a:xfrm>
                <a:off x="4601718" y="2812732"/>
                <a:ext cx="117124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nonconvex</a:t>
                </a:r>
              </a:p>
            </p:txBody>
          </p:sp>
          <p:sp>
            <p:nvSpPr>
              <p:cNvPr id="24" name="Rectangle 24"/>
              <p:cNvSpPr/>
              <p:nvPr/>
            </p:nvSpPr>
            <p:spPr>
              <a:xfrm>
                <a:off x="4610100" y="3162300"/>
                <a:ext cx="571500" cy="38100"/>
              </a:xfrm>
              <a:prstGeom prst="roundRect">
                <a:avLst>
                  <a:gd name="adj" fmla="val 50000"/>
                </a:avLst>
              </a:prstGeom>
              <a:solidFill>
                <a:schemeClr val="accent3"/>
              </a:solidFill>
              <a:ln>
                <a:noFill/>
              </a:ln>
            </p:spPr>
          </p:sp>
          <p:sp>
            <p:nvSpPr>
              <p:cNvPr id="25" name="TextBox 25"/>
              <p:cNvSpPr txBox="1"/>
              <p:nvPr/>
            </p:nvSpPr>
            <p:spPr>
              <a:xfrm>
                <a:off x="4604004" y="3413760"/>
                <a:ext cx="2335816"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The second stage must reject</a:t>
                </a:r>
              </a:p>
            </p:txBody>
          </p:sp>
          <p:sp>
            <p:nvSpPr>
              <p:cNvPr id="26" name="TextBox 26"/>
              <p:cNvSpPr txBox="1"/>
              <p:nvPr/>
            </p:nvSpPr>
            <p:spPr>
              <a:xfrm>
                <a:off x="4604004" y="3642360"/>
                <a:ext cx="2319206"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outliers. Fast heuristics like</a:t>
                </a:r>
              </a:p>
            </p:txBody>
          </p:sp>
          <p:sp>
            <p:nvSpPr>
              <p:cNvPr id="27" name="TextBox 27"/>
              <p:cNvSpPr txBox="1"/>
              <p:nvPr/>
            </p:nvSpPr>
            <p:spPr>
              <a:xfrm>
                <a:off x="4604004" y="3870960"/>
                <a:ext cx="2144684"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RANSAC are widely used but</a:t>
                </a:r>
              </a:p>
            </p:txBody>
          </p:sp>
          <p:sp>
            <p:nvSpPr>
              <p:cNvPr id="28" name="TextBox 28"/>
              <p:cNvSpPr txBox="1"/>
              <p:nvPr/>
            </p:nvSpPr>
            <p:spPr>
              <a:xfrm>
                <a:off x="4604004" y="4099560"/>
                <a:ext cx="1894180"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cannot guarantee global</a:t>
                </a:r>
              </a:p>
            </p:txBody>
          </p:sp>
          <p:sp>
            <p:nvSpPr>
              <p:cNvPr id="29" name="TextBox 29"/>
              <p:cNvSpPr txBox="1"/>
              <p:nvPr/>
            </p:nvSpPr>
            <p:spPr>
              <a:xfrm>
                <a:off x="4604004" y="4328160"/>
                <a:ext cx="2354580" cy="234696"/>
              </a:xfrm>
              <a:prstGeom prst="rect">
                <a:avLst/>
              </a:prstGeom>
              <a:noFill/>
              <a:ln>
                <a:noFill/>
              </a:ln>
            </p:spPr>
            <p:txBody>
              <a:bodyPr wrap="none" lIns="0" tIns="0" rIns="0" bIns="0" anchor="t" anchorCtr="0">
                <a:spAutoFit/>
              </a:bodyPr>
              <a:lstStyle/>
              <a:p>
                <a:pPr algn="l"/>
                <a:r>
                  <a:rPr lang="en-US" sz="1200" dirty="0">
                    <a:solidFill>
                      <a:srgbClr val="3A4655"/>
                    </a:solidFill>
                    <a:latin typeface="+mn-lt"/>
                    <a:ea typeface="+mn-ea"/>
                    <a:cs typeface="+mn-cs"/>
                  </a:rPr>
                  <a:t>optimality; they fail silently.</a:t>
                </a:r>
              </a:p>
            </p:txBody>
          </p:sp>
        </p:grpSp>
        <p:grpSp>
          <p:nvGrpSpPr>
            <p:cNvPr id="42" name="Group 42"/>
            <p:cNvGrpSpPr/>
            <p:nvPr/>
          </p:nvGrpSpPr>
          <p:grpSpPr>
            <a:xfrm>
              <a:off x="8077200" y="1600200"/>
              <a:ext cx="3505200" cy="3200400"/>
              <a:chOff x="8077200" y="1600200"/>
              <a:chExt cx="3505200" cy="3200400"/>
            </a:xfrm>
          </p:grpSpPr>
          <p:sp>
            <p:nvSpPr>
              <p:cNvPr id="31" name="Rectangle 31"/>
              <p:cNvSpPr/>
              <p:nvPr/>
            </p:nvSpPr>
            <p:spPr>
              <a:xfrm>
                <a:off x="8077200" y="1600200"/>
                <a:ext cx="3505200" cy="3200400"/>
              </a:xfrm>
              <a:prstGeom prst="roundRect">
                <a:avLst>
                  <a:gd name="adj" fmla="val 4167"/>
                </a:avLst>
              </a:prstGeom>
              <a:solidFill>
                <a:srgbClr val="0F1B2E"/>
              </a:solidFill>
              <a:ln>
                <a:noFill/>
              </a:ln>
            </p:spPr>
          </p:sp>
          <p:sp>
            <p:nvSpPr>
              <p:cNvPr id="32" name="Rectangle 32"/>
              <p:cNvSpPr/>
              <p:nvPr/>
            </p:nvSpPr>
            <p:spPr>
              <a:xfrm>
                <a:off x="8077200" y="1600200"/>
                <a:ext cx="3505200" cy="76200"/>
              </a:xfrm>
              <a:prstGeom prst="roundRect">
                <a:avLst>
                  <a:gd name="adj" fmla="val 50000"/>
                </a:avLst>
              </a:prstGeom>
              <a:solidFill>
                <a:schemeClr val="accent2"/>
              </a:solidFill>
              <a:ln>
                <a:noFill/>
              </a:ln>
            </p:spPr>
          </p:sp>
          <p:sp>
            <p:nvSpPr>
              <p:cNvPr id="33" name="TextBox 33"/>
              <p:cNvSpPr txBox="1"/>
              <p:nvPr/>
            </p:nvSpPr>
            <p:spPr>
              <a:xfrm>
                <a:off x="8324850" y="1867852"/>
                <a:ext cx="703463" cy="790575"/>
              </a:xfrm>
              <a:prstGeom prst="rect">
                <a:avLst/>
              </a:prstGeom>
              <a:noFill/>
              <a:ln>
                <a:noFill/>
              </a:ln>
            </p:spPr>
            <p:txBody>
              <a:bodyPr wrap="none" lIns="0" tIns="0" rIns="0" bIns="0" anchor="t" anchorCtr="0">
                <a:spAutoFit/>
              </a:bodyPr>
              <a:lstStyle/>
              <a:p>
                <a:pPr algn="l"/>
                <a:r>
                  <a:rPr lang="en-US" sz="4050" b="1" dirty="0">
                    <a:solidFill>
                      <a:schemeClr val="accent2"/>
                    </a:solidFill>
                    <a:latin typeface="+mn-lt"/>
                    <a:ea typeface="+mn-ea"/>
                    <a:cs typeface="+mn-cs"/>
                  </a:rPr>
                  <a:t>C3</a:t>
                </a:r>
              </a:p>
            </p:txBody>
          </p:sp>
          <p:sp>
            <p:nvSpPr>
              <p:cNvPr id="34" name="TextBox 34"/>
              <p:cNvSpPr txBox="1"/>
              <p:nvPr/>
            </p:nvSpPr>
            <p:spPr>
              <a:xfrm>
                <a:off x="8335518" y="2584132"/>
                <a:ext cx="2286619"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No provably correct</a:t>
                </a:r>
              </a:p>
            </p:txBody>
          </p:sp>
          <p:sp>
            <p:nvSpPr>
              <p:cNvPr id="35" name="TextBox 35"/>
              <p:cNvSpPr txBox="1"/>
              <p:nvPr/>
            </p:nvSpPr>
            <p:spPr>
              <a:xfrm>
                <a:off x="8335518" y="2850832"/>
                <a:ext cx="136949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uncertainty</a:t>
                </a:r>
              </a:p>
            </p:txBody>
          </p:sp>
          <p:sp>
            <p:nvSpPr>
              <p:cNvPr id="36" name="Rectangle 36"/>
              <p:cNvSpPr/>
              <p:nvPr/>
            </p:nvSpPr>
            <p:spPr>
              <a:xfrm>
                <a:off x="8343900" y="3200400"/>
                <a:ext cx="571500" cy="38100"/>
              </a:xfrm>
              <a:prstGeom prst="roundRect">
                <a:avLst>
                  <a:gd name="adj" fmla="val 50000"/>
                </a:avLst>
              </a:prstGeom>
              <a:solidFill>
                <a:schemeClr val="accent5"/>
              </a:solidFill>
              <a:ln>
                <a:noFill/>
              </a:ln>
            </p:spPr>
          </p:sp>
          <p:sp>
            <p:nvSpPr>
              <p:cNvPr id="37" name="TextBox 37"/>
              <p:cNvSpPr txBox="1"/>
              <p:nvPr/>
            </p:nvSpPr>
            <p:spPr>
              <a:xfrm>
                <a:off x="8337804" y="3451860"/>
                <a:ext cx="2327720" cy="234696"/>
              </a:xfrm>
              <a:prstGeom prst="rect">
                <a:avLst/>
              </a:prstGeom>
              <a:noFill/>
              <a:ln>
                <a:noFill/>
              </a:ln>
            </p:spPr>
            <p:txBody>
              <a:bodyPr wrap="none" lIns="0" tIns="0" rIns="0" bIns="0" anchor="t" anchorCtr="0">
                <a:spAutoFit/>
              </a:bodyPr>
              <a:lstStyle/>
              <a:p>
                <a:pPr algn="l"/>
                <a:r>
                  <a:rPr lang="en-US" sz="1200" dirty="0">
                    <a:solidFill>
                      <a:srgbClr val="B9C6D8"/>
                    </a:solidFill>
                    <a:latin typeface="+mn-lt"/>
                    <a:ea typeface="+mn-ea"/>
                    <a:cs typeface="+mn-cs"/>
                  </a:rPr>
                  <a:t>Most fundamentally, no prior</a:t>
                </a:r>
              </a:p>
            </p:txBody>
          </p:sp>
          <p:sp>
            <p:nvSpPr>
              <p:cNvPr id="38" name="TextBox 38"/>
              <p:cNvSpPr txBox="1"/>
              <p:nvPr/>
            </p:nvSpPr>
            <p:spPr>
              <a:xfrm>
                <a:off x="8337804" y="3680460"/>
                <a:ext cx="1966874" cy="234696"/>
              </a:xfrm>
              <a:prstGeom prst="rect">
                <a:avLst/>
              </a:prstGeom>
              <a:noFill/>
              <a:ln>
                <a:noFill/>
              </a:ln>
            </p:spPr>
            <p:txBody>
              <a:bodyPr wrap="none" lIns="0" tIns="0" rIns="0" bIns="0" anchor="t" anchorCtr="0">
                <a:spAutoFit/>
              </a:bodyPr>
              <a:lstStyle/>
              <a:p>
                <a:pPr algn="l"/>
                <a:r>
                  <a:rPr lang="en-US" sz="1200" dirty="0">
                    <a:solidFill>
                      <a:srgbClr val="B9C6D8"/>
                    </a:solidFill>
                    <a:latin typeface="+mn-lt"/>
                    <a:ea typeface="+mn-ea"/>
                    <a:cs typeface="+mn-cs"/>
                  </a:rPr>
                  <a:t>method delivers a formal</a:t>
                </a:r>
              </a:p>
            </p:txBody>
          </p:sp>
          <p:sp>
            <p:nvSpPr>
              <p:cNvPr id="39" name="TextBox 39"/>
              <p:cNvSpPr txBox="1"/>
              <p:nvPr/>
            </p:nvSpPr>
            <p:spPr>
              <a:xfrm>
                <a:off x="8337804" y="3909060"/>
                <a:ext cx="1918411" cy="234696"/>
              </a:xfrm>
              <a:prstGeom prst="rect">
                <a:avLst/>
              </a:prstGeom>
              <a:noFill/>
              <a:ln>
                <a:noFill/>
              </a:ln>
            </p:spPr>
            <p:txBody>
              <a:bodyPr wrap="none" lIns="0" tIns="0" rIns="0" bIns="0" anchor="t" anchorCtr="0">
                <a:spAutoFit/>
              </a:bodyPr>
              <a:lstStyle/>
              <a:p>
                <a:pPr algn="l"/>
                <a:r>
                  <a:rPr lang="en-US" sz="1200" dirty="0">
                    <a:solidFill>
                      <a:srgbClr val="B9C6D8"/>
                    </a:solidFill>
                    <a:latin typeface="+mn-lt"/>
                    <a:ea typeface="+mn-ea"/>
                    <a:cs typeface="+mn-cs"/>
                  </a:rPr>
                  <a:t>worst-case error bound</a:t>
                </a:r>
              </a:p>
            </p:txBody>
          </p:sp>
          <p:sp>
            <p:nvSpPr>
              <p:cNvPr id="40" name="TextBox 40"/>
              <p:cNvSpPr txBox="1"/>
              <p:nvPr/>
            </p:nvSpPr>
            <p:spPr>
              <a:xfrm>
                <a:off x="8337804" y="4137660"/>
                <a:ext cx="2362657" cy="234696"/>
              </a:xfrm>
              <a:prstGeom prst="rect">
                <a:avLst/>
              </a:prstGeom>
              <a:noFill/>
              <a:ln>
                <a:noFill/>
              </a:ln>
            </p:spPr>
            <p:txBody>
              <a:bodyPr wrap="none" lIns="0" tIns="0" rIns="0" bIns="0" anchor="t" anchorCtr="0">
                <a:spAutoFit/>
              </a:bodyPr>
              <a:lstStyle/>
              <a:p>
                <a:pPr algn="l"/>
                <a:r>
                  <a:rPr lang="en-US" sz="1200" dirty="0">
                    <a:solidFill>
                      <a:srgbClr val="B9C6D8"/>
                    </a:solidFill>
                    <a:latin typeface="+mn-lt"/>
                    <a:ea typeface="+mn-ea"/>
                    <a:cs typeface="+mn-cs"/>
                  </a:rPr>
                  <a:t>between the estimate and the</a:t>
                </a:r>
              </a:p>
            </p:txBody>
          </p:sp>
          <p:sp>
            <p:nvSpPr>
              <p:cNvPr id="41" name="TextBox 41"/>
              <p:cNvSpPr txBox="1"/>
              <p:nvPr/>
            </p:nvSpPr>
            <p:spPr>
              <a:xfrm>
                <a:off x="8337804" y="4366260"/>
                <a:ext cx="1482242" cy="234696"/>
              </a:xfrm>
              <a:prstGeom prst="rect">
                <a:avLst/>
              </a:prstGeom>
              <a:noFill/>
              <a:ln>
                <a:noFill/>
              </a:ln>
            </p:spPr>
            <p:txBody>
              <a:bodyPr wrap="none" lIns="0" tIns="0" rIns="0" bIns="0" anchor="t" anchorCtr="0">
                <a:spAutoFit/>
              </a:bodyPr>
              <a:lstStyle/>
              <a:p>
                <a:pPr algn="l"/>
                <a:r>
                  <a:rPr lang="en-US" sz="1200" dirty="0">
                    <a:solidFill>
                      <a:srgbClr val="B9C6D8"/>
                    </a:solidFill>
                    <a:latin typeface="+mn-lt"/>
                    <a:ea typeface="+mn-ea"/>
                    <a:cs typeface="+mn-cs"/>
                  </a:rPr>
                  <a:t>groundtruth pose.</a:t>
                </a:r>
              </a:p>
            </p:txBody>
          </p:sp>
        </p:grpSp>
      </p:grpSp>
      <p:grpSp>
        <p:nvGrpSpPr>
          <p:cNvPr id="49" name="Group 49"/>
          <p:cNvGrpSpPr/>
          <p:nvPr/>
        </p:nvGrpSpPr>
        <p:grpSpPr>
          <a:xfrm>
            <a:off x="609600" y="4991100"/>
            <a:ext cx="11143032" cy="1333500"/>
            <a:chOff x="609600" y="4991100"/>
            <a:chExt cx="11143032" cy="1333500"/>
          </a:xfrm>
        </p:grpSpPr>
        <p:sp>
          <p:nvSpPr>
            <p:cNvPr id="44" name="Rectangle 44"/>
            <p:cNvSpPr/>
            <p:nvPr/>
          </p:nvSpPr>
          <p:spPr>
            <a:xfrm>
              <a:off x="609600" y="4991100"/>
              <a:ext cx="10972800" cy="1333500"/>
            </a:xfrm>
            <a:prstGeom prst="roundRect">
              <a:avLst>
                <a:gd name="adj" fmla="val 10000"/>
              </a:avLst>
            </a:prstGeom>
            <a:solidFill>
              <a:srgbClr val="EAF2EC"/>
            </a:solidFill>
            <a:ln w="14288">
              <a:solidFill>
                <a:srgbClr val="BFD9C6"/>
              </a:solidFill>
            </a:ln>
          </p:spPr>
        </p:sp>
        <p:sp>
          <p:nvSpPr>
            <p:cNvPr id="45" name="Rectangle 45"/>
            <p:cNvSpPr/>
            <p:nvPr/>
          </p:nvSpPr>
          <p:spPr>
            <a:xfrm>
              <a:off x="609600" y="4991100"/>
              <a:ext cx="66675" cy="1333500"/>
            </a:xfrm>
            <a:prstGeom prst="roundRect">
              <a:avLst>
                <a:gd name="adj" fmla="val 42857"/>
              </a:avLst>
            </a:prstGeom>
            <a:solidFill>
              <a:srgbClr val="2E7D32"/>
            </a:solidFill>
            <a:ln>
              <a:noFill/>
            </a:ln>
          </p:spPr>
        </p:sp>
        <p:sp>
          <p:nvSpPr>
            <p:cNvPr id="46" name="TextBox 46"/>
            <p:cNvSpPr txBox="1"/>
            <p:nvPr/>
          </p:nvSpPr>
          <p:spPr>
            <a:xfrm>
              <a:off x="908685" y="5269706"/>
              <a:ext cx="1741182" cy="220028"/>
            </a:xfrm>
            <a:prstGeom prst="rect">
              <a:avLst/>
            </a:prstGeom>
            <a:noFill/>
            <a:ln>
              <a:noFill/>
            </a:ln>
          </p:spPr>
          <p:txBody>
            <a:bodyPr wrap="none" lIns="0" tIns="0" rIns="0" bIns="0" anchor="t" anchorCtr="0">
              <a:spAutoFit/>
            </a:bodyPr>
            <a:lstStyle/>
            <a:p>
              <a:pPr algn="l"/>
              <a:r>
                <a:rPr lang="en-US" sz="1120" b="1" spc="150" dirty="0">
                  <a:solidFill>
                    <a:srgbClr val="2E7D32"/>
                  </a:solidFill>
                  <a:latin typeface="+mn-lt"/>
                  <a:ea typeface="+mn-ea"/>
                  <a:cs typeface="+mn-cs"/>
                </a:rPr>
                <a:t>THE MISSING PIECE</a:t>
              </a:r>
            </a:p>
          </p:txBody>
        </p:sp>
        <p:sp>
          <p:nvSpPr>
            <p:cNvPr id="47" name="TextBox 47"/>
            <p:cNvSpPr txBox="1"/>
            <p:nvPr/>
          </p:nvSpPr>
          <p:spPr>
            <a:xfrm>
              <a:off x="906780" y="5553075"/>
              <a:ext cx="10845852"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Certifying that the optimizer is globally optimal still gives no probabilistic guarantee on the pose itself.</a:t>
              </a:r>
            </a:p>
          </p:txBody>
        </p:sp>
        <p:sp>
          <p:nvSpPr>
            <p:cNvPr id="48" name="TextBox 48"/>
            <p:cNvSpPr txBox="1"/>
            <p:nvPr/>
          </p:nvSpPr>
          <p:spPr>
            <a:xfrm>
              <a:off x="907542" y="5912168"/>
              <a:ext cx="5220207" cy="264033"/>
            </a:xfrm>
            <a:prstGeom prst="rect">
              <a:avLst/>
            </a:prstGeom>
            <a:noFill/>
            <a:ln>
              <a:noFill/>
            </a:ln>
          </p:spPr>
          <p:txBody>
            <a:bodyPr wrap="none" lIns="0" tIns="0" rIns="0" bIns="0" anchor="t" anchorCtr="0">
              <a:spAutoFit/>
            </a:bodyPr>
            <a:lstStyle/>
            <a:p>
              <a:pPr algn="l"/>
              <a:r>
                <a:rPr lang="en-US" sz="1350" b="1" dirty="0">
                  <a:solidFill>
                    <a:srgbClr val="2E7D32"/>
                  </a:solidFill>
                  <a:latin typeface="+mn-lt"/>
                  <a:ea typeface="+mn-ea"/>
                  <a:cs typeface="+mn-cs"/>
                </a:rPr>
                <a:t>This paper delivers exactly that guarantee, end to end.</a:t>
              </a:r>
            </a:p>
          </p:txBody>
        </p:sp>
      </p:grpSp>
      <p:sp>
        <p:nvSpPr>
          <p:cNvPr id="50" name="cue_s03_c1_why_hard_authors_name_three" title="cue_s03_c1_why_hard_authors_name_three" descr="cue_s03_c1_why_hard_authors_name_three Why is this hard? The authors name three challenges. First, neural keypoint detectors can be arbitrarily wrong, producing outliers."/>
          <p:cNvSpPr/>
          <p:nvPr/>
        </p:nvSpPr>
        <p:spPr>
          <a:xfrm>
            <a:off x="609600" y="1599971"/>
            <a:ext cx="3505199"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2_second_rejecting_those_outliers_nonc" title="cue_s03_c2_second_rejecting_those_outliers_nonc" descr="cue_s03_c2_second_rejecting_those_outliers_nonc Second, rejecting those outliers is a nonconvex optimization; fast heuristics like RANSAC are common but cannot guarantee global optimality and can fail silently."/>
          <p:cNvSpPr/>
          <p:nvPr/>
        </p:nvSpPr>
        <p:spPr>
          <a:xfrm>
            <a:off x="4344009" y="1599971"/>
            <a:ext cx="3505199"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3_third_most_fundamental_provably_corr" title="cue_s03_c3_third_most_fundamental_provably_corr" descr="cue_s03_c3_third_most_fundamental_provably_corr Third, and most fundamental, there is no provably correct uncertainty quantification, no formal worst-case error bound between estimate and groundtruth."/>
          <p:cNvSpPr/>
          <p:nvPr/>
        </p:nvSpPr>
        <p:spPr>
          <a:xfrm>
            <a:off x="8077200" y="1599971"/>
            <a:ext cx="3505199"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3_c4_certifying_optimizer_globally_optima" title="cue_s03_c4_certifying_optimizer_globally_optima" descr="cue_s03_c4_certifying_optimizer_globally_optima Certifying that the optimizer is globally optimal still gives no probabilistic guarantee on the pose itself. This paper delivers exactly that guarantee, end to end."/>
          <p:cNvSpPr/>
          <p:nvPr/>
        </p:nvSpPr>
        <p:spPr>
          <a:xfrm>
            <a:off x="609600" y="4991252"/>
            <a:ext cx="11143488"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1"/>
            </a:solidFill>
            <a:ln>
              <a:noFill/>
            </a:ln>
          </p:spPr>
        </p:sp>
      </p:grpSp>
      <p:grpSp>
        <p:nvGrpSpPr>
          <p:cNvPr id="8" name="Group 8"/>
          <p:cNvGrpSpPr/>
          <p:nvPr/>
        </p:nvGrpSpPr>
        <p:grpSpPr>
          <a:xfrm>
            <a:off x="598170" y="507206"/>
            <a:ext cx="8858658" cy="680561"/>
            <a:chOff x="598170" y="507206"/>
            <a:chExt cx="8858658" cy="680561"/>
          </a:xfrm>
        </p:grpSpPr>
        <p:sp>
          <p:nvSpPr>
            <p:cNvPr id="5" name="TextBox 5"/>
            <p:cNvSpPr txBox="1"/>
            <p:nvPr/>
          </p:nvSpPr>
          <p:spPr>
            <a:xfrm>
              <a:off x="603885" y="507206"/>
              <a:ext cx="12445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THE METHOD</a:t>
              </a:r>
            </a:p>
          </p:txBody>
        </p:sp>
        <p:sp>
          <p:nvSpPr>
            <p:cNvPr id="6" name="TextBox 6"/>
            <p:cNvSpPr txBox="1"/>
            <p:nvPr/>
          </p:nvSpPr>
          <p:spPr>
            <a:xfrm>
              <a:off x="598170" y="747712"/>
              <a:ext cx="8858658"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Two additions turn detections into certified pose bounds</a:t>
              </a:r>
            </a:p>
          </p:txBody>
        </p:sp>
        <p:sp>
          <p:nvSpPr>
            <p:cNvPr id="7" name="Rectangle 7"/>
            <p:cNvSpPr/>
            <p:nvPr/>
          </p:nvSpPr>
          <p:spPr>
            <a:xfrm>
              <a:off x="628650" y="1123950"/>
              <a:ext cx="685800" cy="47625"/>
            </a:xfrm>
            <a:prstGeom prst="roundRect">
              <a:avLst>
                <a:gd name="adj" fmla="val 40000"/>
              </a:avLst>
            </a:prstGeom>
            <a:solidFill>
              <a:schemeClr val="accent2"/>
            </a:solidFill>
            <a:ln>
              <a:noFill/>
            </a:ln>
          </p:spPr>
        </p:sp>
      </p:grpSp>
      <p:grpSp>
        <p:nvGrpSpPr>
          <p:cNvPr id="12" name="Group 12"/>
          <p:cNvGrpSpPr/>
          <p:nvPr/>
        </p:nvGrpSpPr>
        <p:grpSpPr>
          <a:xfrm>
            <a:off x="609600" y="1314450"/>
            <a:ext cx="10972800" cy="2724150"/>
            <a:chOff x="609600" y="1314450"/>
            <a:chExt cx="10972800" cy="2724150"/>
          </a:xfrm>
        </p:grpSpPr>
        <p:sp>
          <p:nvSpPr>
            <p:cNvPr id="9" name="Rectangle 9"/>
            <p:cNvSpPr/>
            <p:nvPr/>
          </p:nvSpPr>
          <p:spPr>
            <a:xfrm>
              <a:off x="609600" y="1314450"/>
              <a:ext cx="10972800" cy="2724150"/>
            </a:xfrm>
            <a:prstGeom prst="roundRect">
              <a:avLst>
                <a:gd name="adj" fmla="val 4895"/>
              </a:avLst>
            </a:prstGeom>
            <a:solidFill>
              <a:schemeClr val="lt2"/>
            </a:solidFill>
            <a:ln w="9525">
              <a:solidFill>
                <a:schemeClr val="accent4"/>
              </a:solidFill>
            </a:ln>
          </p:spPr>
        </p:sp>
        <p:pic>
          <p:nvPicPr>
            <p:cNvPr id="10" name="Image 10"/>
            <p:cNvPicPr>
              <a:picLocks noChangeAspect="1"/>
            </p:cNvPicPr>
            <p:nvPr/>
          </p:nvPicPr>
          <p:blipFill>
            <a:blip r:embed="rId2"/>
            <a:stretch>
              <a:fillRect/>
            </a:stretch>
          </p:blipFill>
          <p:spPr>
            <a:xfrm>
              <a:off x="1547327" y="1447800"/>
              <a:ext cx="9097347" cy="2228850"/>
            </a:xfrm>
            <a:prstGeom prst="rect">
              <a:avLst/>
            </a:prstGeom>
          </p:spPr>
        </p:pic>
        <p:sp>
          <p:nvSpPr>
            <p:cNvPr id="11" name="TextBox 11"/>
            <p:cNvSpPr txBox="1"/>
            <p:nvPr/>
          </p:nvSpPr>
          <p:spPr>
            <a:xfrm>
              <a:off x="1050325" y="3791902"/>
              <a:ext cx="10091350"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Pipeline: heatmaps → conformal prediction sets → constraint propagation (PURSE) → RANSAG average pose → semidefinite worst-case bounds</a:t>
              </a:r>
            </a:p>
          </p:txBody>
        </p:sp>
      </p:grpSp>
      <p:grpSp>
        <p:nvGrpSpPr>
          <p:cNvPr id="60" name="Group 60"/>
          <p:cNvGrpSpPr/>
          <p:nvPr/>
        </p:nvGrpSpPr>
        <p:grpSpPr>
          <a:xfrm>
            <a:off x="609600" y="4229100"/>
            <a:ext cx="10972800" cy="2057400"/>
            <a:chOff x="609600" y="4229100"/>
            <a:chExt cx="10972800" cy="2057400"/>
          </a:xfrm>
        </p:grpSpPr>
        <p:grpSp>
          <p:nvGrpSpPr>
            <p:cNvPr id="23" name="Group 23"/>
            <p:cNvGrpSpPr/>
            <p:nvPr/>
          </p:nvGrpSpPr>
          <p:grpSpPr>
            <a:xfrm>
              <a:off x="609600" y="4229100"/>
              <a:ext cx="2600325" cy="2057400"/>
              <a:chOff x="609600" y="4229100"/>
              <a:chExt cx="2600325" cy="2057400"/>
            </a:xfrm>
          </p:grpSpPr>
          <p:sp>
            <p:nvSpPr>
              <p:cNvPr id="13" name="Rectangle 13"/>
              <p:cNvSpPr/>
              <p:nvPr/>
            </p:nvSpPr>
            <p:spPr>
              <a:xfrm>
                <a:off x="609600" y="4229100"/>
                <a:ext cx="2600325" cy="2057400"/>
              </a:xfrm>
              <a:prstGeom prst="roundRect">
                <a:avLst>
                  <a:gd name="adj" fmla="val 5556"/>
                </a:avLst>
              </a:prstGeom>
              <a:solidFill>
                <a:srgbClr val="FCEEE8"/>
              </a:solidFill>
              <a:ln w="9525">
                <a:solidFill>
                  <a:srgbClr val="F3C6B3"/>
                </a:solidFill>
              </a:ln>
            </p:spPr>
          </p:sp>
          <p:sp>
            <p:nvSpPr>
              <p:cNvPr id="14" name="Ellipse 14"/>
              <p:cNvSpPr/>
              <p:nvPr/>
            </p:nvSpPr>
            <p:spPr>
              <a:xfrm>
                <a:off x="752475" y="4410075"/>
                <a:ext cx="285750" cy="285750"/>
              </a:xfrm>
              <a:prstGeom prst="ellipse">
                <a:avLst/>
              </a:prstGeom>
              <a:solidFill>
                <a:schemeClr val="accent2"/>
              </a:solidFill>
              <a:ln>
                <a:noFill/>
              </a:ln>
            </p:spPr>
          </p:sp>
          <p:sp>
            <p:nvSpPr>
              <p:cNvPr id="15" name="TextBox 15"/>
              <p:cNvSpPr txBox="1"/>
              <p:nvPr/>
            </p:nvSpPr>
            <p:spPr>
              <a:xfrm>
                <a:off x="846099" y="44886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1</a:t>
                </a:r>
              </a:p>
            </p:txBody>
          </p:sp>
          <p:sp>
            <p:nvSpPr>
              <p:cNvPr id="16" name="TextBox 16"/>
              <p:cNvSpPr txBox="1"/>
              <p:nvPr/>
            </p:nvSpPr>
            <p:spPr>
              <a:xfrm>
                <a:off x="1117854" y="4480560"/>
                <a:ext cx="1382795"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Calibrate scores</a:t>
                </a:r>
              </a:p>
            </p:txBody>
          </p:sp>
          <p:sp>
            <p:nvSpPr>
              <p:cNvPr id="17" name="TextBox 17"/>
              <p:cNvSpPr txBox="1"/>
              <p:nvPr/>
            </p:nvSpPr>
            <p:spPr>
              <a:xfrm>
                <a:off x="814006" y="4805601"/>
                <a:ext cx="1802459"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A calibration set of labeled</a:t>
                </a:r>
              </a:p>
            </p:txBody>
          </p:sp>
          <p:sp>
            <p:nvSpPr>
              <p:cNvPr id="18" name="TextBox 18"/>
              <p:cNvSpPr txBox="1"/>
              <p:nvPr/>
            </p:nvSpPr>
            <p:spPr>
              <a:xfrm>
                <a:off x="814006" y="4996101"/>
                <a:ext cx="1839032"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images gives nonconformity</a:t>
                </a:r>
              </a:p>
            </p:txBody>
          </p:sp>
          <p:sp>
            <p:nvSpPr>
              <p:cNvPr id="19" name="TextBox 19"/>
              <p:cNvSpPr txBox="1"/>
              <p:nvPr/>
            </p:nvSpPr>
            <p:spPr>
              <a:xfrm>
                <a:off x="814006" y="5186601"/>
                <a:ext cx="1580697"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scores for the heatmap</a:t>
                </a:r>
              </a:p>
            </p:txBody>
          </p:sp>
          <p:sp>
            <p:nvSpPr>
              <p:cNvPr id="20" name="TextBox 20"/>
              <p:cNvSpPr txBox="1"/>
              <p:nvPr/>
            </p:nvSpPr>
            <p:spPr>
              <a:xfrm>
                <a:off x="814006" y="5377101"/>
                <a:ext cx="683320"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detector.</a:t>
                </a:r>
              </a:p>
            </p:txBody>
          </p:sp>
          <p:sp>
            <p:nvSpPr>
              <p:cNvPr id="21" name="Rectangle 21"/>
              <p:cNvSpPr/>
              <p:nvPr/>
            </p:nvSpPr>
            <p:spPr>
              <a:xfrm>
                <a:off x="819150" y="5676900"/>
                <a:ext cx="2171700" cy="438150"/>
              </a:xfrm>
              <a:prstGeom prst="roundRect">
                <a:avLst>
                  <a:gd name="adj" fmla="val 17391"/>
                </a:avLst>
              </a:prstGeom>
              <a:solidFill>
                <a:schemeClr val="lt1"/>
              </a:solidFill>
              <a:ln w="9525">
                <a:solidFill>
                  <a:srgbClr val="F3C6B3"/>
                </a:solidFill>
              </a:ln>
            </p:spPr>
          </p:sp>
          <p:sp>
            <p:nvSpPr>
              <p:cNvPr id="22" name="TextBox 22"/>
              <p:cNvSpPr txBox="1"/>
              <p:nvPr/>
            </p:nvSpPr>
            <p:spPr>
              <a:xfrm>
                <a:off x="1270427" y="5839778"/>
                <a:ext cx="1269145" cy="205359"/>
              </a:xfrm>
              <a:prstGeom prst="rect">
                <a:avLst/>
              </a:prstGeom>
              <a:noFill/>
              <a:ln>
                <a:noFill/>
              </a:ln>
            </p:spPr>
            <p:txBody>
              <a:bodyPr wrap="none" lIns="0" tIns="0" rIns="0" bIns="0" anchor="t" anchorCtr="0">
                <a:spAutoFit/>
              </a:bodyPr>
              <a:lstStyle/>
              <a:p>
                <a:pPr algn="ctr"/>
                <a:r>
                  <a:rPr lang="en-US" sz="1050" b="1" dirty="0">
                    <a:solidFill>
                      <a:srgbClr val="B0421F"/>
                    </a:solidFill>
                    <a:latin typeface="Consolas"/>
                    <a:ea typeface="Consolas"/>
                    <a:cs typeface="Consolas"/>
                  </a:rPr>
                  <a:t>P[y ∈ set] ≥ 1 − ε</a:t>
                </a:r>
              </a:p>
            </p:txBody>
          </p:sp>
        </p:grpSp>
        <p:grpSp>
          <p:nvGrpSpPr>
            <p:cNvPr id="35" name="Group 35"/>
            <p:cNvGrpSpPr/>
            <p:nvPr/>
          </p:nvGrpSpPr>
          <p:grpSpPr>
            <a:xfrm>
              <a:off x="3362325" y="4229100"/>
              <a:ext cx="2600325" cy="2057400"/>
              <a:chOff x="3362325" y="4229100"/>
              <a:chExt cx="2600325" cy="2057400"/>
            </a:xfrm>
          </p:grpSpPr>
          <p:sp>
            <p:nvSpPr>
              <p:cNvPr id="24" name="Rectangle 24"/>
              <p:cNvSpPr/>
              <p:nvPr/>
            </p:nvSpPr>
            <p:spPr>
              <a:xfrm>
                <a:off x="3362325" y="4229100"/>
                <a:ext cx="2600325" cy="2057400"/>
              </a:xfrm>
              <a:prstGeom prst="roundRect">
                <a:avLst>
                  <a:gd name="adj" fmla="val 5556"/>
                </a:avLst>
              </a:prstGeom>
              <a:solidFill>
                <a:schemeClr val="lt2"/>
              </a:solidFill>
              <a:ln w="9525">
                <a:solidFill>
                  <a:schemeClr val="accent4"/>
                </a:solidFill>
              </a:ln>
            </p:spPr>
          </p:sp>
          <p:sp>
            <p:nvSpPr>
              <p:cNvPr id="25" name="Ellipse 25"/>
              <p:cNvSpPr/>
              <p:nvPr/>
            </p:nvSpPr>
            <p:spPr>
              <a:xfrm>
                <a:off x="3505200" y="4410075"/>
                <a:ext cx="285750" cy="285750"/>
              </a:xfrm>
              <a:prstGeom prst="ellipse">
                <a:avLst/>
              </a:prstGeom>
              <a:solidFill>
                <a:schemeClr val="accent2"/>
              </a:solidFill>
              <a:ln>
                <a:noFill/>
              </a:ln>
            </p:spPr>
          </p:sp>
          <p:sp>
            <p:nvSpPr>
              <p:cNvPr id="26" name="TextBox 26"/>
              <p:cNvSpPr txBox="1"/>
              <p:nvPr/>
            </p:nvSpPr>
            <p:spPr>
              <a:xfrm>
                <a:off x="3598824" y="44886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2</a:t>
                </a:r>
              </a:p>
            </p:txBody>
          </p:sp>
          <p:sp>
            <p:nvSpPr>
              <p:cNvPr id="27" name="TextBox 27"/>
              <p:cNvSpPr txBox="1"/>
              <p:nvPr/>
            </p:nvSpPr>
            <p:spPr>
              <a:xfrm>
                <a:off x="3870579" y="4480560"/>
                <a:ext cx="1273310"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Two set shapes</a:t>
                </a:r>
              </a:p>
            </p:txBody>
          </p:sp>
          <p:sp>
            <p:nvSpPr>
              <p:cNvPr id="28" name="TextBox 28"/>
              <p:cNvSpPr txBox="1"/>
              <p:nvPr/>
            </p:nvSpPr>
            <p:spPr>
              <a:xfrm>
                <a:off x="3566732" y="4786551"/>
                <a:ext cx="1795828"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Peak score gives a circular</a:t>
                </a:r>
              </a:p>
            </p:txBody>
          </p:sp>
          <p:sp>
            <p:nvSpPr>
              <p:cNvPr id="29" name="TextBox 29"/>
              <p:cNvSpPr txBox="1"/>
              <p:nvPr/>
            </p:nvSpPr>
            <p:spPr>
              <a:xfrm>
                <a:off x="3566732" y="4977051"/>
                <a:ext cx="1866226"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ball; covariance score gives</a:t>
                </a:r>
              </a:p>
            </p:txBody>
          </p:sp>
          <p:sp>
            <p:nvSpPr>
              <p:cNvPr id="30" name="TextBox 30"/>
              <p:cNvSpPr txBox="1"/>
              <p:nvPr/>
            </p:nvSpPr>
            <p:spPr>
              <a:xfrm>
                <a:off x="3566732" y="5167551"/>
                <a:ext cx="696916"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an ellipse.</a:t>
                </a:r>
              </a:p>
            </p:txBody>
          </p:sp>
          <p:sp>
            <p:nvSpPr>
              <p:cNvPr id="31" name="Rectangle 31"/>
              <p:cNvSpPr/>
              <p:nvPr/>
            </p:nvSpPr>
            <p:spPr>
              <a:xfrm>
                <a:off x="3571875" y="5410200"/>
                <a:ext cx="2171700" cy="323850"/>
              </a:xfrm>
              <a:prstGeom prst="roundRect">
                <a:avLst>
                  <a:gd name="adj" fmla="val 20588"/>
                </a:avLst>
              </a:prstGeom>
              <a:solidFill>
                <a:srgbClr val="FCEEE8"/>
              </a:solidFill>
              <a:ln w="9525">
                <a:solidFill>
                  <a:srgbClr val="F3C6B3"/>
                </a:solidFill>
              </a:ln>
            </p:spPr>
          </p:sp>
          <p:sp>
            <p:nvSpPr>
              <p:cNvPr id="32" name="TextBox 32"/>
              <p:cNvSpPr txBox="1"/>
              <p:nvPr/>
            </p:nvSpPr>
            <p:spPr>
              <a:xfrm>
                <a:off x="4154700" y="5518547"/>
                <a:ext cx="1006050" cy="183356"/>
              </a:xfrm>
              <a:prstGeom prst="rect">
                <a:avLst/>
              </a:prstGeom>
              <a:noFill/>
              <a:ln>
                <a:noFill/>
              </a:ln>
            </p:spPr>
            <p:txBody>
              <a:bodyPr wrap="none" lIns="0" tIns="0" rIns="0" bIns="0" anchor="t" anchorCtr="0">
                <a:spAutoFit/>
              </a:bodyPr>
              <a:lstStyle/>
              <a:p>
                <a:pPr algn="ctr"/>
                <a:r>
                  <a:rPr lang="en-US" sz="940" b="1" dirty="0">
                    <a:solidFill>
                      <a:srgbClr val="B0421F"/>
                    </a:solidFill>
                    <a:latin typeface="Consolas"/>
                    <a:ea typeface="Consolas"/>
                    <a:cs typeface="Consolas"/>
                  </a:rPr>
                  <a:t>peak: p·∥y − q∥</a:t>
                </a:r>
              </a:p>
            </p:txBody>
          </p:sp>
          <p:sp>
            <p:nvSpPr>
              <p:cNvPr id="33" name="Rectangle 33"/>
              <p:cNvSpPr/>
              <p:nvPr/>
            </p:nvSpPr>
            <p:spPr>
              <a:xfrm>
                <a:off x="3571875" y="5791200"/>
                <a:ext cx="2171700" cy="323850"/>
              </a:xfrm>
              <a:prstGeom prst="roundRect">
                <a:avLst>
                  <a:gd name="adj" fmla="val 20588"/>
                </a:avLst>
              </a:prstGeom>
              <a:solidFill>
                <a:srgbClr val="E9F1FA"/>
              </a:solidFill>
              <a:ln w="9525">
                <a:solidFill>
                  <a:srgbClr val="C4D8EE"/>
                </a:solidFill>
              </a:ln>
            </p:spPr>
          </p:sp>
          <p:sp>
            <p:nvSpPr>
              <p:cNvPr id="34" name="TextBox 34"/>
              <p:cNvSpPr txBox="1"/>
              <p:nvPr/>
            </p:nvSpPr>
            <p:spPr>
              <a:xfrm>
                <a:off x="3916548" y="5899547"/>
                <a:ext cx="1482355" cy="183356"/>
              </a:xfrm>
              <a:prstGeom prst="rect">
                <a:avLst/>
              </a:prstGeom>
              <a:noFill/>
              <a:ln>
                <a:noFill/>
              </a:ln>
            </p:spPr>
            <p:txBody>
              <a:bodyPr wrap="none" lIns="0" tIns="0" rIns="0" bIns="0" anchor="t" anchorCtr="0">
                <a:spAutoFit/>
              </a:bodyPr>
              <a:lstStyle/>
              <a:p>
                <a:pPr algn="ctr"/>
                <a:r>
                  <a:rPr lang="en-US" sz="940" b="1" dirty="0">
                    <a:solidFill>
                      <a:srgbClr val="245C9E"/>
                    </a:solidFill>
                    <a:latin typeface="Consolas"/>
                    <a:ea typeface="Consolas"/>
                    <a:cs typeface="Consolas"/>
                  </a:rPr>
                  <a:t>cov: Mahalanobis dist.</a:t>
                </a:r>
              </a:p>
            </p:txBody>
          </p:sp>
        </p:grpSp>
        <p:grpSp>
          <p:nvGrpSpPr>
            <p:cNvPr id="47" name="Group 47"/>
            <p:cNvGrpSpPr/>
            <p:nvPr/>
          </p:nvGrpSpPr>
          <p:grpSpPr>
            <a:xfrm>
              <a:off x="6115050" y="4229100"/>
              <a:ext cx="2600325" cy="2057400"/>
              <a:chOff x="6115050" y="4229100"/>
              <a:chExt cx="2600325" cy="2057400"/>
            </a:xfrm>
          </p:grpSpPr>
          <p:sp>
            <p:nvSpPr>
              <p:cNvPr id="36" name="Rectangle 36"/>
              <p:cNvSpPr/>
              <p:nvPr/>
            </p:nvSpPr>
            <p:spPr>
              <a:xfrm>
                <a:off x="6115050" y="4229100"/>
                <a:ext cx="2600325" cy="2057400"/>
              </a:xfrm>
              <a:prstGeom prst="roundRect">
                <a:avLst>
                  <a:gd name="adj" fmla="val 5556"/>
                </a:avLst>
              </a:prstGeom>
              <a:solidFill>
                <a:srgbClr val="E9F1FA"/>
              </a:solidFill>
              <a:ln w="9525">
                <a:solidFill>
                  <a:srgbClr val="C4D8EE"/>
                </a:solidFill>
              </a:ln>
            </p:spPr>
          </p:sp>
          <p:sp>
            <p:nvSpPr>
              <p:cNvPr id="37" name="Ellipse 37"/>
              <p:cNvSpPr/>
              <p:nvPr/>
            </p:nvSpPr>
            <p:spPr>
              <a:xfrm>
                <a:off x="6257925" y="4410075"/>
                <a:ext cx="285750" cy="285750"/>
              </a:xfrm>
              <a:prstGeom prst="ellipse">
                <a:avLst/>
              </a:prstGeom>
              <a:solidFill>
                <a:schemeClr val="accent3"/>
              </a:solidFill>
              <a:ln>
                <a:noFill/>
              </a:ln>
            </p:spPr>
          </p:sp>
          <p:sp>
            <p:nvSpPr>
              <p:cNvPr id="38" name="TextBox 38"/>
              <p:cNvSpPr txBox="1"/>
              <p:nvPr/>
            </p:nvSpPr>
            <p:spPr>
              <a:xfrm>
                <a:off x="6351549" y="44886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3</a:t>
                </a:r>
              </a:p>
            </p:txBody>
          </p:sp>
          <p:sp>
            <p:nvSpPr>
              <p:cNvPr id="39" name="TextBox 39"/>
              <p:cNvSpPr txBox="1"/>
              <p:nvPr/>
            </p:nvSpPr>
            <p:spPr>
              <a:xfrm>
                <a:off x="6623304" y="4480560"/>
                <a:ext cx="1640476"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Propagate to PURSE</a:t>
                </a:r>
              </a:p>
            </p:txBody>
          </p:sp>
          <p:sp>
            <p:nvSpPr>
              <p:cNvPr id="40" name="TextBox 40"/>
              <p:cNvSpPr txBox="1"/>
              <p:nvPr/>
            </p:nvSpPr>
            <p:spPr>
              <a:xfrm>
                <a:off x="6319456" y="4786551"/>
                <a:ext cx="1707422"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The threshold guarantees</a:t>
                </a:r>
              </a:p>
            </p:txBody>
          </p:sp>
          <p:sp>
            <p:nvSpPr>
              <p:cNvPr id="41" name="TextBox 41"/>
              <p:cNvSpPr txBox="1"/>
              <p:nvPr/>
            </p:nvSpPr>
            <p:spPr>
              <a:xfrm>
                <a:off x="6319456" y="4977051"/>
                <a:ext cx="1898053"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coverage per keypoint. Sets</a:t>
                </a:r>
              </a:p>
            </p:txBody>
          </p:sp>
          <p:sp>
            <p:nvSpPr>
              <p:cNvPr id="42" name="TextBox 42"/>
              <p:cNvSpPr txBox="1"/>
              <p:nvPr/>
            </p:nvSpPr>
            <p:spPr>
              <a:xfrm>
                <a:off x="6319456" y="5167551"/>
                <a:ext cx="1995394"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become quadratic constraints</a:t>
                </a:r>
              </a:p>
            </p:txBody>
          </p:sp>
          <p:sp>
            <p:nvSpPr>
              <p:cNvPr id="43" name="TextBox 43"/>
              <p:cNvSpPr txBox="1"/>
              <p:nvPr/>
            </p:nvSpPr>
            <p:spPr>
              <a:xfrm>
                <a:off x="6319456" y="5358051"/>
                <a:ext cx="1675873" cy="198025"/>
              </a:xfrm>
              <a:prstGeom prst="rect">
                <a:avLst/>
              </a:prstGeom>
              <a:noFill/>
              <a:ln>
                <a:noFill/>
              </a:ln>
            </p:spPr>
            <p:txBody>
              <a:bodyPr wrap="none" lIns="0" tIns="0" rIns="0" bIns="0" anchor="t" anchorCtr="0">
                <a:spAutoFit/>
              </a:bodyPr>
              <a:lstStyle/>
              <a:p>
                <a:pPr algn="l"/>
                <a:r>
                  <a:rPr lang="en-US" sz="1010" dirty="0">
                    <a:solidFill>
                      <a:srgbClr val="3A4655"/>
                    </a:solidFill>
                    <a:latin typeface="+mn-lt"/>
                    <a:ea typeface="+mn-ea"/>
                    <a:cs typeface="+mn-cs"/>
                  </a:rPr>
                  <a:t>on the pose, defining the</a:t>
                </a:r>
              </a:p>
            </p:txBody>
          </p:sp>
          <p:sp>
            <p:nvSpPr>
              <p:cNvPr id="44" name="TextBox 44"/>
              <p:cNvSpPr txBox="1"/>
              <p:nvPr/>
            </p:nvSpPr>
            <p:spPr>
              <a:xfrm>
                <a:off x="6319456" y="5548551"/>
                <a:ext cx="2186638" cy="198025"/>
              </a:xfrm>
              <a:prstGeom prst="rect">
                <a:avLst/>
              </a:prstGeom>
              <a:noFill/>
              <a:ln>
                <a:noFill/>
              </a:ln>
            </p:spPr>
            <p:txBody>
              <a:bodyPr wrap="none" lIns="0" tIns="0" rIns="0" bIns="0" anchor="t" anchorCtr="0">
                <a:spAutoFit/>
              </a:bodyPr>
              <a:lstStyle/>
              <a:p>
                <a:pPr algn="l"/>
                <a:r>
                  <a:rPr lang="en-US" sz="1010" b="1" dirty="0">
                    <a:solidFill>
                      <a:srgbClr val="245C9E"/>
                    </a:solidFill>
                    <a:latin typeface="+mn-lt"/>
                    <a:ea typeface="+mn-ea"/>
                    <a:cs typeface="+mn-cs"/>
                  </a:rPr>
                  <a:t>Pose Uncertainty Set (PURSE).</a:t>
                </a:r>
              </a:p>
            </p:txBody>
          </p:sp>
          <p:sp>
            <p:nvSpPr>
              <p:cNvPr id="45" name="Rectangle 45"/>
              <p:cNvSpPr/>
              <p:nvPr/>
            </p:nvSpPr>
            <p:spPr>
              <a:xfrm>
                <a:off x="6324600" y="5791200"/>
                <a:ext cx="2171700" cy="323850"/>
              </a:xfrm>
              <a:prstGeom prst="roundRect">
                <a:avLst>
                  <a:gd name="adj" fmla="val 20588"/>
                </a:avLst>
              </a:prstGeom>
              <a:solidFill>
                <a:schemeClr val="lt1"/>
              </a:solidFill>
              <a:ln w="9525">
                <a:solidFill>
                  <a:srgbClr val="C4D8EE"/>
                </a:solidFill>
              </a:ln>
            </p:spPr>
          </p:sp>
          <p:sp>
            <p:nvSpPr>
              <p:cNvPr id="46" name="TextBox 46"/>
              <p:cNvSpPr txBox="1"/>
              <p:nvPr/>
            </p:nvSpPr>
            <p:spPr>
              <a:xfrm>
                <a:off x="6573370" y="5899547"/>
                <a:ext cx="1674160" cy="183356"/>
              </a:xfrm>
              <a:prstGeom prst="rect">
                <a:avLst/>
              </a:prstGeom>
              <a:noFill/>
              <a:ln>
                <a:noFill/>
              </a:ln>
            </p:spPr>
            <p:txBody>
              <a:bodyPr wrap="none" lIns="0" tIns="0" rIns="0" bIns="0" anchor="t" anchorCtr="0">
                <a:spAutoFit/>
              </a:bodyPr>
              <a:lstStyle/>
              <a:p>
                <a:pPr algn="ctr"/>
                <a:r>
                  <a:rPr lang="en-US" sz="940" b="1" dirty="0">
                    <a:solidFill>
                      <a:srgbClr val="245C9E"/>
                    </a:solidFill>
                    <a:latin typeface="Consolas"/>
                    <a:ea typeface="Consolas"/>
                    <a:cs typeface="Consolas"/>
                  </a:rPr>
                  <a:t>nonconvex set over SE(3)</a:t>
                </a:r>
              </a:p>
            </p:txBody>
          </p:sp>
        </p:grpSp>
        <p:grpSp>
          <p:nvGrpSpPr>
            <p:cNvPr id="59" name="Group 59"/>
            <p:cNvGrpSpPr/>
            <p:nvPr/>
          </p:nvGrpSpPr>
          <p:grpSpPr>
            <a:xfrm>
              <a:off x="8867775" y="4229100"/>
              <a:ext cx="2714625" cy="2057400"/>
              <a:chOff x="8867775" y="4229100"/>
              <a:chExt cx="2714625" cy="2057400"/>
            </a:xfrm>
          </p:grpSpPr>
          <p:sp>
            <p:nvSpPr>
              <p:cNvPr id="48" name="Rectangle 48"/>
              <p:cNvSpPr/>
              <p:nvPr/>
            </p:nvSpPr>
            <p:spPr>
              <a:xfrm>
                <a:off x="8867775" y="4229100"/>
                <a:ext cx="2714625" cy="2057400"/>
              </a:xfrm>
              <a:prstGeom prst="roundRect">
                <a:avLst>
                  <a:gd name="adj" fmla="val 5556"/>
                </a:avLst>
              </a:prstGeom>
              <a:solidFill>
                <a:srgbClr val="0F1B2E"/>
              </a:solidFill>
              <a:ln>
                <a:noFill/>
              </a:ln>
            </p:spPr>
          </p:sp>
          <p:sp>
            <p:nvSpPr>
              <p:cNvPr id="49" name="Ellipse 49"/>
              <p:cNvSpPr/>
              <p:nvPr/>
            </p:nvSpPr>
            <p:spPr>
              <a:xfrm>
                <a:off x="9010650" y="4410075"/>
                <a:ext cx="285750" cy="285750"/>
              </a:xfrm>
              <a:prstGeom prst="ellipse">
                <a:avLst/>
              </a:prstGeom>
              <a:solidFill>
                <a:srgbClr val="2E7D32"/>
              </a:solidFill>
              <a:ln>
                <a:noFill/>
              </a:ln>
            </p:spPr>
          </p:sp>
          <p:sp>
            <p:nvSpPr>
              <p:cNvPr id="50" name="TextBox 50"/>
              <p:cNvSpPr txBox="1"/>
              <p:nvPr/>
            </p:nvSpPr>
            <p:spPr>
              <a:xfrm>
                <a:off x="9104274" y="4488656"/>
                <a:ext cx="98502"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4</a:t>
                </a:r>
              </a:p>
            </p:txBody>
          </p:sp>
          <p:sp>
            <p:nvSpPr>
              <p:cNvPr id="51" name="TextBox 51"/>
              <p:cNvSpPr txBox="1"/>
              <p:nvPr/>
            </p:nvSpPr>
            <p:spPr>
              <a:xfrm>
                <a:off x="9376029" y="4480560"/>
                <a:ext cx="1662996" cy="234696"/>
              </a:xfrm>
              <a:prstGeom prst="rect">
                <a:avLst/>
              </a:prstGeom>
              <a:noFill/>
              <a:ln>
                <a:noFill/>
              </a:ln>
            </p:spPr>
            <p:txBody>
              <a:bodyPr wrap="none" lIns="0" tIns="0" rIns="0" bIns="0" anchor="t" anchorCtr="0">
                <a:spAutoFit/>
              </a:bodyPr>
              <a:lstStyle/>
              <a:p>
                <a:pPr algn="l"/>
                <a:r>
                  <a:rPr lang="en-US" sz="1200" b="1" dirty="0">
                    <a:solidFill>
                      <a:srgbClr val="FFFFFF"/>
                    </a:solidFill>
                    <a:latin typeface="+mn-lt"/>
                    <a:ea typeface="+mn-ea"/>
                    <a:cs typeface="+mn-cs"/>
                  </a:rPr>
                  <a:t>Average and certify</a:t>
                </a:r>
              </a:p>
            </p:txBody>
          </p:sp>
          <p:sp>
            <p:nvSpPr>
              <p:cNvPr id="52" name="TextBox 52"/>
              <p:cNvSpPr txBox="1"/>
              <p:nvPr/>
            </p:nvSpPr>
            <p:spPr>
              <a:xfrm>
                <a:off x="9072182" y="4786551"/>
                <a:ext cx="1915586" cy="198025"/>
              </a:xfrm>
              <a:prstGeom prst="rect">
                <a:avLst/>
              </a:prstGeom>
              <a:noFill/>
              <a:ln>
                <a:noFill/>
              </a:ln>
            </p:spPr>
            <p:txBody>
              <a:bodyPr wrap="none" lIns="0" tIns="0" rIns="0" bIns="0" anchor="t" anchorCtr="0">
                <a:spAutoFit/>
              </a:bodyPr>
              <a:lstStyle/>
              <a:p>
                <a:pPr algn="l"/>
                <a:r>
                  <a:rPr lang="en-US" sz="1010" dirty="0">
                    <a:solidFill>
                      <a:srgbClr val="B9C6D8"/>
                    </a:solidFill>
                    <a:latin typeface="+mn-lt"/>
                    <a:ea typeface="+mn-ea"/>
                    <a:cs typeface="+mn-cs"/>
                  </a:rPr>
                  <a:t>RANSAG samples 3 keypoints,</a:t>
                </a:r>
              </a:p>
            </p:txBody>
          </p:sp>
          <p:sp>
            <p:nvSpPr>
              <p:cNvPr id="53" name="TextBox 53"/>
              <p:cNvSpPr txBox="1"/>
              <p:nvPr/>
            </p:nvSpPr>
            <p:spPr>
              <a:xfrm>
                <a:off x="9072182" y="4977051"/>
                <a:ext cx="1937276" cy="198025"/>
              </a:xfrm>
              <a:prstGeom prst="rect">
                <a:avLst/>
              </a:prstGeom>
              <a:noFill/>
              <a:ln>
                <a:noFill/>
              </a:ln>
            </p:spPr>
            <p:txBody>
              <a:bodyPr wrap="none" lIns="0" tIns="0" rIns="0" bIns="0" anchor="t" anchorCtr="0">
                <a:spAutoFit/>
              </a:bodyPr>
              <a:lstStyle/>
              <a:p>
                <a:pPr algn="l"/>
                <a:r>
                  <a:rPr lang="en-US" sz="1010" dirty="0">
                    <a:solidFill>
                      <a:srgbClr val="B9C6D8"/>
                    </a:solidFill>
                    <a:latin typeface="+mn-lt"/>
                    <a:ea typeface="+mn-ea"/>
                    <a:cs typeface="+mn-cs"/>
                  </a:rPr>
                  <a:t>solves minimal P3P, keeps in-</a:t>
                </a:r>
              </a:p>
            </p:txBody>
          </p:sp>
          <p:sp>
            <p:nvSpPr>
              <p:cNvPr id="54" name="TextBox 54"/>
              <p:cNvSpPr txBox="1"/>
              <p:nvPr/>
            </p:nvSpPr>
            <p:spPr>
              <a:xfrm>
                <a:off x="9072182" y="5167551"/>
                <a:ext cx="1805041" cy="198025"/>
              </a:xfrm>
              <a:prstGeom prst="rect">
                <a:avLst/>
              </a:prstGeom>
              <a:noFill/>
              <a:ln>
                <a:noFill/>
              </a:ln>
            </p:spPr>
            <p:txBody>
              <a:bodyPr wrap="none" lIns="0" tIns="0" rIns="0" bIns="0" anchor="t" anchorCtr="0">
                <a:spAutoFit/>
              </a:bodyPr>
              <a:lstStyle/>
              <a:p>
                <a:pPr algn="l"/>
                <a:r>
                  <a:rPr lang="en-US" sz="1010" dirty="0">
                    <a:solidFill>
                      <a:srgbClr val="B9C6D8"/>
                    </a:solidFill>
                    <a:latin typeface="+mn-lt"/>
                    <a:ea typeface="+mn-ea"/>
                    <a:cs typeface="+mn-cs"/>
                  </a:rPr>
                  <a:t>set poses, averages them.</a:t>
                </a:r>
              </a:p>
            </p:txBody>
          </p:sp>
          <p:sp>
            <p:nvSpPr>
              <p:cNvPr id="55" name="TextBox 55"/>
              <p:cNvSpPr txBox="1"/>
              <p:nvPr/>
            </p:nvSpPr>
            <p:spPr>
              <a:xfrm>
                <a:off x="9072182" y="5396151"/>
                <a:ext cx="1938634" cy="198025"/>
              </a:xfrm>
              <a:prstGeom prst="rect">
                <a:avLst/>
              </a:prstGeom>
              <a:noFill/>
              <a:ln>
                <a:noFill/>
              </a:ln>
            </p:spPr>
            <p:txBody>
              <a:bodyPr wrap="none" lIns="0" tIns="0" rIns="0" bIns="0" anchor="t" anchorCtr="0">
                <a:spAutoFit/>
              </a:bodyPr>
              <a:lstStyle/>
              <a:p>
                <a:pPr algn="l"/>
                <a:r>
                  <a:rPr lang="en-US" sz="1010" dirty="0">
                    <a:solidFill>
                      <a:srgbClr val="B9C6D8"/>
                    </a:solidFill>
                    <a:latin typeface="+mn-lt"/>
                    <a:ea typeface="+mn-ea"/>
                    <a:cs typeface="+mn-cs"/>
                  </a:rPr>
                  <a:t>An SDP maximizes distance to</a:t>
                </a:r>
              </a:p>
            </p:txBody>
          </p:sp>
          <p:sp>
            <p:nvSpPr>
              <p:cNvPr id="56" name="TextBox 56"/>
              <p:cNvSpPr txBox="1"/>
              <p:nvPr/>
            </p:nvSpPr>
            <p:spPr>
              <a:xfrm>
                <a:off x="9072182" y="5586651"/>
                <a:ext cx="1917644" cy="198025"/>
              </a:xfrm>
              <a:prstGeom prst="rect">
                <a:avLst/>
              </a:prstGeom>
              <a:noFill/>
              <a:ln>
                <a:noFill/>
              </a:ln>
            </p:spPr>
            <p:txBody>
              <a:bodyPr wrap="none" lIns="0" tIns="0" rIns="0" bIns="0" anchor="t" anchorCtr="0">
                <a:spAutoFit/>
              </a:bodyPr>
              <a:lstStyle/>
              <a:p>
                <a:pPr algn="l"/>
                <a:r>
                  <a:rPr lang="en-US" sz="1010" dirty="0">
                    <a:solidFill>
                      <a:srgbClr val="B9C6D8"/>
                    </a:solidFill>
                    <a:latin typeface="+mn-lt"/>
                    <a:ea typeface="+mn-ea"/>
                    <a:cs typeface="+mn-cs"/>
                  </a:rPr>
                  <a:t>the farthest in-PURSE pose.</a:t>
                </a:r>
              </a:p>
            </p:txBody>
          </p:sp>
          <p:sp>
            <p:nvSpPr>
              <p:cNvPr id="57" name="Rectangle 57"/>
              <p:cNvSpPr/>
              <p:nvPr/>
            </p:nvSpPr>
            <p:spPr>
              <a:xfrm>
                <a:off x="9077325" y="5829300"/>
                <a:ext cx="2286000" cy="323850"/>
              </a:xfrm>
              <a:prstGeom prst="roundRect">
                <a:avLst>
                  <a:gd name="adj" fmla="val 20588"/>
                </a:avLst>
              </a:prstGeom>
              <a:solidFill>
                <a:srgbClr val="182A44"/>
              </a:solidFill>
              <a:ln w="9525">
                <a:solidFill>
                  <a:srgbClr val="2E7D32"/>
                </a:solidFill>
              </a:ln>
            </p:spPr>
          </p:sp>
          <p:sp>
            <p:nvSpPr>
              <p:cNvPr id="58" name="TextBox 58"/>
              <p:cNvSpPr txBox="1"/>
              <p:nvPr/>
            </p:nvSpPr>
            <p:spPr>
              <a:xfrm>
                <a:off x="9326374" y="5937647"/>
                <a:ext cx="1787903" cy="183356"/>
              </a:xfrm>
              <a:prstGeom prst="rect">
                <a:avLst/>
              </a:prstGeom>
              <a:noFill/>
              <a:ln>
                <a:noFill/>
              </a:ln>
            </p:spPr>
            <p:txBody>
              <a:bodyPr wrap="none" lIns="0" tIns="0" rIns="0" bIns="0" anchor="t" anchorCtr="0">
                <a:spAutoFit/>
              </a:bodyPr>
              <a:lstStyle/>
              <a:p>
                <a:pPr algn="ctr"/>
                <a:r>
                  <a:rPr lang="en-US" sz="940" b="1" dirty="0">
                    <a:solidFill>
                      <a:srgbClr val="7FD48A"/>
                    </a:solidFill>
                    <a:latin typeface="Consolas"/>
                    <a:ea typeface="Consolas"/>
                    <a:cs typeface="Consolas"/>
                  </a:rPr>
                  <a:t>certified R, t error bounds</a:t>
                </a:r>
              </a:p>
            </p:txBody>
          </p:sp>
        </p:grpSp>
      </p:grpSp>
      <p:sp>
        <p:nvSpPr>
          <p:cNvPr id="61" name="cue_s04_c1_method_two_stages_conformal_keypoint" title="cue_s04_c1_method_two_stages_conformal_keypoint" descr="cue_s04_c1_method_two_stages_conformal_keypoint The method has two stages. In conformal keypoint detection, a calibration set of labeled images gives nonconformity scores for the heatmap detector."/>
          <p:cNvSpPr/>
          <p:nvPr/>
        </p:nvSpPr>
        <p:spPr>
          <a:xfrm>
            <a:off x="609600" y="4229328"/>
            <a:ext cx="2600553"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4_c2_two_designs_offered_peak_score" title="cue_s04_c2_two_designs_offered_peak_score" descr="cue_s04_c2_two_designs_offered_peak_score Two designs are offered: a peak score, the scaled distance from the true keypoint to the most probable pixel, and a covariance score, a Mahalanobis distance over top detections, yielding circular and elliptical sets."/>
          <p:cNvSpPr/>
          <p:nvPr/>
        </p:nvSpPr>
        <p:spPr>
          <a:xfrm>
            <a:off x="3362553" y="4229328"/>
            <a:ext cx="2600553"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4_c3_sorting_scores_gives_threshold_true" title="cue_s04_c3_sorting_scores_gives_threshold_true" descr="cue_s04_c3_sorting_scores_gives_threshold_true Sorting the scores gives a threshold so each true keypoint lies in its set with probability one minus epsilon. In geometric uncertainty propagation, these sets become quadratic constraints on the pose, defining the Pose Uncertainty Set."/>
          <p:cNvSpPr/>
          <p:nvPr/>
        </p:nvSpPr>
        <p:spPr>
          <a:xfrm>
            <a:off x="6115507" y="4229328"/>
            <a:ext cx="2600553"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4_c4_since_nonconvex_ransag_samples_three" title="cue_s04_c4_since_nonconvex_ransag_samples_three" descr="cue_s04_c4_since_nonconvex_ransag_samples_three Since it is nonconvex, RANSAG samples three keypoints, solves the minimal P3P problem, keeps poses inside the set, and averages them. Finally, maximizing the distance to the farthest pose still inside PURSE, relaxed as a semidefinite program, certifies worst-c"/>
          <p:cNvSpPr/>
          <p:nvPr/>
        </p:nvSpPr>
        <p:spPr>
          <a:xfrm>
            <a:off x="8867241" y="4229328"/>
            <a:ext cx="2715158"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solidFill>
              <a:schemeClr val="accent1"/>
            </a:solidFill>
            <a:ln>
              <a:noFill/>
            </a:ln>
          </p:spPr>
        </p:sp>
      </p:grpSp>
      <p:grpSp>
        <p:nvGrpSpPr>
          <p:cNvPr id="8" name="Group 8"/>
          <p:cNvGrpSpPr/>
          <p:nvPr/>
        </p:nvGrpSpPr>
        <p:grpSpPr>
          <a:xfrm>
            <a:off x="598170" y="507206"/>
            <a:ext cx="5614989" cy="680561"/>
            <a:chOff x="598170" y="507206"/>
            <a:chExt cx="5614989" cy="680561"/>
          </a:xfrm>
        </p:grpSpPr>
        <p:sp>
          <p:nvSpPr>
            <p:cNvPr id="5" name="TextBox 5"/>
            <p:cNvSpPr txBox="1"/>
            <p:nvPr/>
          </p:nvSpPr>
          <p:spPr>
            <a:xfrm>
              <a:off x="603885" y="507206"/>
              <a:ext cx="3590039"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RESULTS · LineMOD-Occlusion</a:t>
              </a:r>
            </a:p>
          </p:txBody>
        </p:sp>
        <p:sp>
          <p:nvSpPr>
            <p:cNvPr id="6" name="TextBox 6"/>
            <p:cNvSpPr txBox="1"/>
            <p:nvPr/>
          </p:nvSpPr>
          <p:spPr>
            <a:xfrm>
              <a:off x="598170" y="747712"/>
              <a:ext cx="5614989" cy="440055"/>
            </a:xfrm>
            <a:prstGeom prst="rect">
              <a:avLst/>
            </a:prstGeom>
            <a:noFill/>
            <a:ln>
              <a:noFill/>
            </a:ln>
          </p:spPr>
          <p:txBody>
            <a:bodyPr wrap="none" lIns="0" tIns="0" rIns="0" bIns="0" anchor="t" anchorCtr="0">
              <a:spAutoFit/>
            </a:bodyPr>
            <a:lstStyle/>
            <a:p>
              <a:pPr algn="l"/>
              <a:r>
                <a:rPr lang="en-US" sz="2250" b="1" dirty="0">
                  <a:solidFill>
                    <a:schemeClr val="accent1"/>
                  </a:solidFill>
                  <a:latin typeface="+mn-lt"/>
                  <a:ea typeface="+mn-ea"/>
                  <a:cs typeface="+mn-cs"/>
                </a:rPr>
                <a:t>The theory holds on all three fronts</a:t>
              </a:r>
            </a:p>
          </p:txBody>
        </p:sp>
        <p:sp>
          <p:nvSpPr>
            <p:cNvPr id="7" name="Rectangle 7"/>
            <p:cNvSpPr/>
            <p:nvPr/>
          </p:nvSpPr>
          <p:spPr>
            <a:xfrm>
              <a:off x="628650" y="1123950"/>
              <a:ext cx="685800" cy="47625"/>
            </a:xfrm>
            <a:prstGeom prst="roundRect">
              <a:avLst>
                <a:gd name="adj" fmla="val 40000"/>
              </a:avLst>
            </a:prstGeom>
            <a:solidFill>
              <a:schemeClr val="accent2"/>
            </a:solidFill>
            <a:ln>
              <a:noFill/>
            </a:ln>
          </p:spPr>
        </p:sp>
      </p:grpSp>
      <p:grpSp>
        <p:nvGrpSpPr>
          <p:cNvPr id="12" name="Group 12"/>
          <p:cNvGrpSpPr/>
          <p:nvPr/>
        </p:nvGrpSpPr>
        <p:grpSpPr>
          <a:xfrm>
            <a:off x="609600" y="1314450"/>
            <a:ext cx="10972800" cy="533400"/>
            <a:chOff x="609600" y="1314450"/>
            <a:chExt cx="10972800" cy="533400"/>
          </a:xfrm>
        </p:grpSpPr>
        <p:sp>
          <p:nvSpPr>
            <p:cNvPr id="9" name="Rectangle 9"/>
            <p:cNvSpPr/>
            <p:nvPr/>
          </p:nvSpPr>
          <p:spPr>
            <a:xfrm>
              <a:off x="609600" y="1314450"/>
              <a:ext cx="10972800" cy="533400"/>
            </a:xfrm>
            <a:prstGeom prst="roundRect">
              <a:avLst>
                <a:gd name="adj" fmla="val 17857"/>
              </a:avLst>
            </a:prstGeom>
            <a:solidFill>
              <a:srgbClr val="EAF0F8"/>
            </a:solidFill>
            <a:ln w="9525">
              <a:solidFill>
                <a:schemeClr val="accent4"/>
              </a:solidFill>
            </a:ln>
          </p:spPr>
        </p:sp>
        <p:sp>
          <p:nvSpPr>
            <p:cNvPr id="10" name="Rectangle 10"/>
            <p:cNvSpPr/>
            <p:nvPr/>
          </p:nvSpPr>
          <p:spPr>
            <a:xfrm>
              <a:off x="609600" y="1314450"/>
              <a:ext cx="66675" cy="533400"/>
            </a:xfrm>
            <a:prstGeom prst="roundRect">
              <a:avLst>
                <a:gd name="adj" fmla="val 42857"/>
              </a:avLst>
            </a:prstGeom>
            <a:solidFill>
              <a:schemeClr val="accent3"/>
            </a:solidFill>
            <a:ln>
              <a:noFill/>
            </a:ln>
          </p:spPr>
        </p:sp>
        <p:sp>
          <p:nvSpPr>
            <p:cNvPr id="11" name="TextBox 11"/>
            <p:cNvSpPr txBox="1"/>
            <p:nvPr/>
          </p:nvSpPr>
          <p:spPr>
            <a:xfrm>
              <a:off x="869442" y="1502092"/>
              <a:ext cx="9170913"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Across 1214 images and 8 objects: valid coverage, correct bounds, and an accurate average pose.</a:t>
              </a:r>
            </a:p>
          </p:txBody>
        </p:sp>
      </p:grpSp>
      <p:grpSp>
        <p:nvGrpSpPr>
          <p:cNvPr id="19" name="Group 19"/>
          <p:cNvGrpSpPr/>
          <p:nvPr/>
        </p:nvGrpSpPr>
        <p:grpSpPr>
          <a:xfrm>
            <a:off x="609600" y="2000250"/>
            <a:ext cx="5943600" cy="4324350"/>
            <a:chOff x="609600" y="2000250"/>
            <a:chExt cx="5943600" cy="4324350"/>
          </a:xfrm>
        </p:grpSpPr>
        <p:sp>
          <p:nvSpPr>
            <p:cNvPr id="13" name="Rectangle 13"/>
            <p:cNvSpPr/>
            <p:nvPr/>
          </p:nvSpPr>
          <p:spPr>
            <a:xfrm>
              <a:off x="609600" y="2000250"/>
              <a:ext cx="5943600" cy="4324350"/>
            </a:xfrm>
            <a:prstGeom prst="roundRect">
              <a:avLst>
                <a:gd name="adj" fmla="val 3084"/>
              </a:avLst>
            </a:prstGeom>
            <a:solidFill>
              <a:schemeClr val="lt1"/>
            </a:solidFill>
            <a:ln w="14288">
              <a:solidFill>
                <a:schemeClr val="accent4"/>
              </a:solidFill>
            </a:ln>
          </p:spPr>
        </p:sp>
        <p:sp>
          <p:nvSpPr>
            <p:cNvPr id="14" name="TextBox 14"/>
            <p:cNvSpPr txBox="1"/>
            <p:nvPr/>
          </p:nvSpPr>
          <p:spPr>
            <a:xfrm>
              <a:off x="831342" y="2197418"/>
              <a:ext cx="189084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1 · Coverage is valid</a:t>
              </a:r>
            </a:p>
          </p:txBody>
        </p:sp>
        <p:sp>
          <p:nvSpPr>
            <p:cNvPr id="15" name="TextBox 15"/>
            <p:cNvSpPr txBox="1"/>
            <p:nvPr/>
          </p:nvSpPr>
          <p:spPr>
            <a:xfrm>
              <a:off x="832866" y="2458402"/>
              <a:ext cx="52185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Target 90% (ε = 0.1): empirical coverage per object sits right around 90%.</a:t>
              </a:r>
            </a:p>
          </p:txBody>
        </p:sp>
        <p:sp>
          <p:nvSpPr>
            <p:cNvPr id="16" name="Rectangle 16"/>
            <p:cNvSpPr/>
            <p:nvPr/>
          </p:nvSpPr>
          <p:spPr>
            <a:xfrm>
              <a:off x="838200" y="2705100"/>
              <a:ext cx="5486400" cy="3200400"/>
            </a:xfrm>
            <a:prstGeom prst="roundRect">
              <a:avLst>
                <a:gd name="adj" fmla="val 2381"/>
              </a:avLst>
            </a:prstGeom>
            <a:solidFill>
              <a:schemeClr val="lt1"/>
            </a:solidFill>
            <a:ln w="9525">
              <a:solidFill>
                <a:srgbClr val="EDEFF3"/>
              </a:solidFill>
            </a:ln>
          </p:spPr>
        </p:sp>
        <p:pic>
          <p:nvPicPr>
            <p:cNvPr id="17" name="Image 17"/>
            <p:cNvPicPr>
              <a:picLocks noChangeAspect="1"/>
            </p:cNvPicPr>
            <p:nvPr/>
          </p:nvPicPr>
          <p:blipFill>
            <a:blip r:embed="rId2"/>
            <a:stretch>
              <a:fillRect/>
            </a:stretch>
          </p:blipFill>
          <p:spPr>
            <a:xfrm>
              <a:off x="1664266" y="2800350"/>
              <a:ext cx="3834268" cy="3009900"/>
            </a:xfrm>
            <a:prstGeom prst="rect">
              <a:avLst/>
            </a:prstGeom>
          </p:spPr>
        </p:pic>
        <p:sp>
          <p:nvSpPr>
            <p:cNvPr id="18" name="TextBox 18"/>
            <p:cNvSpPr txBox="1"/>
            <p:nvPr/>
          </p:nvSpPr>
          <p:spPr>
            <a:xfrm>
              <a:off x="833247" y="6047899"/>
              <a:ext cx="5350820" cy="190690"/>
            </a:xfrm>
            <a:prstGeom prst="rect">
              <a:avLst/>
            </a:prstGeom>
            <a:noFill/>
            <a:ln>
              <a:noFill/>
            </a:ln>
          </p:spPr>
          <p:txBody>
            <a:bodyPr wrap="none" lIns="0" tIns="0" rIns="0" bIns="0" anchor="t" anchorCtr="0">
              <a:spAutoFit/>
            </a:bodyPr>
            <a:lstStyle/>
            <a:p>
              <a:pPr algn="l"/>
              <a:r>
                <a:rPr lang="en-US" sz="980" dirty="0">
                  <a:solidFill>
                    <a:schemeClr val="accent6"/>
                  </a:solidFill>
                  <a:latin typeface="+mn-lt"/>
                  <a:ea typeface="+mn-ea"/>
                  <a:cs typeface="+mn-cs"/>
                </a:rPr>
                <a:t>Coverage concentrates near the target and tightens as the calibration set grows.</a:t>
              </a:r>
            </a:p>
          </p:txBody>
        </p:sp>
      </p:grpSp>
      <p:grpSp>
        <p:nvGrpSpPr>
          <p:cNvPr id="44" name="Group 44"/>
          <p:cNvGrpSpPr/>
          <p:nvPr/>
        </p:nvGrpSpPr>
        <p:grpSpPr>
          <a:xfrm>
            <a:off x="6705600" y="2000250"/>
            <a:ext cx="4876800" cy="4324350"/>
            <a:chOff x="6705600" y="2000250"/>
            <a:chExt cx="4876800" cy="4324350"/>
          </a:xfrm>
        </p:grpSpPr>
        <p:grpSp>
          <p:nvGrpSpPr>
            <p:cNvPr id="30" name="Group 30"/>
            <p:cNvGrpSpPr/>
            <p:nvPr/>
          </p:nvGrpSpPr>
          <p:grpSpPr>
            <a:xfrm>
              <a:off x="6705600" y="2000250"/>
              <a:ext cx="4876800" cy="2057400"/>
              <a:chOff x="6705600" y="2000250"/>
              <a:chExt cx="4876800" cy="2057400"/>
            </a:xfrm>
          </p:grpSpPr>
          <p:sp>
            <p:nvSpPr>
              <p:cNvPr id="20" name="Rectangle 20"/>
              <p:cNvSpPr/>
              <p:nvPr/>
            </p:nvSpPr>
            <p:spPr>
              <a:xfrm>
                <a:off x="6705600" y="2000250"/>
                <a:ext cx="4876800" cy="2057400"/>
              </a:xfrm>
              <a:prstGeom prst="roundRect">
                <a:avLst>
                  <a:gd name="adj" fmla="val 6481"/>
                </a:avLst>
              </a:prstGeom>
              <a:solidFill>
                <a:srgbClr val="0F1B2E"/>
              </a:solidFill>
              <a:ln>
                <a:noFill/>
              </a:ln>
            </p:spPr>
          </p:sp>
          <p:sp>
            <p:nvSpPr>
              <p:cNvPr id="21" name="Rectangle 21"/>
              <p:cNvSpPr/>
              <p:nvPr/>
            </p:nvSpPr>
            <p:spPr>
              <a:xfrm>
                <a:off x="6705600" y="2000250"/>
                <a:ext cx="4876800" cy="76200"/>
              </a:xfrm>
              <a:prstGeom prst="roundRect">
                <a:avLst>
                  <a:gd name="adj" fmla="val 50000"/>
                </a:avLst>
              </a:prstGeom>
              <a:solidFill>
                <a:schemeClr val="accent3"/>
              </a:solidFill>
              <a:ln>
                <a:noFill/>
              </a:ln>
            </p:spPr>
          </p:sp>
          <p:sp>
            <p:nvSpPr>
              <p:cNvPr id="22" name="TextBox 22"/>
              <p:cNvSpPr txBox="1"/>
              <p:nvPr/>
            </p:nvSpPr>
            <p:spPr>
              <a:xfrm>
                <a:off x="6927342" y="2292668"/>
                <a:ext cx="3284192"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2 · Worst-case bounds are correct</a:t>
                </a:r>
              </a:p>
            </p:txBody>
          </p:sp>
          <p:sp>
            <p:nvSpPr>
              <p:cNvPr id="23" name="TextBox 23"/>
              <p:cNvSpPr txBox="1"/>
              <p:nvPr/>
            </p:nvSpPr>
            <p:spPr>
              <a:xfrm>
                <a:off x="6928866" y="2591752"/>
                <a:ext cx="3570676" cy="205359"/>
              </a:xfrm>
              <a:prstGeom prst="rect">
                <a:avLst/>
              </a:prstGeom>
              <a:noFill/>
              <a:ln>
                <a:noFill/>
              </a:ln>
            </p:spPr>
            <p:txBody>
              <a:bodyPr wrap="none" lIns="0" tIns="0" rIns="0" bIns="0" anchor="t" anchorCtr="0">
                <a:spAutoFit/>
              </a:bodyPr>
              <a:lstStyle/>
              <a:p>
                <a:pPr algn="l"/>
                <a:r>
                  <a:rPr lang="en-US" sz="1050" dirty="0">
                    <a:solidFill>
                      <a:srgbClr val="B9C6D8"/>
                    </a:solidFill>
                    <a:latin typeface="+mn-lt"/>
                    <a:ea typeface="+mn-ea"/>
                    <a:cs typeface="+mn-cs"/>
                  </a:rPr>
                  <a:t>In bound-vs-error scatter plots, every case where</a:t>
                </a:r>
              </a:p>
            </p:txBody>
          </p:sp>
          <p:sp>
            <p:nvSpPr>
              <p:cNvPr id="24" name="TextBox 24"/>
              <p:cNvSpPr txBox="1"/>
              <p:nvPr/>
            </p:nvSpPr>
            <p:spPr>
              <a:xfrm>
                <a:off x="6928866" y="2782252"/>
                <a:ext cx="3210413" cy="205359"/>
              </a:xfrm>
              <a:prstGeom prst="rect">
                <a:avLst/>
              </a:prstGeom>
              <a:noFill/>
              <a:ln>
                <a:noFill/>
              </a:ln>
            </p:spPr>
            <p:txBody>
              <a:bodyPr wrap="none" lIns="0" tIns="0" rIns="0" bIns="0" anchor="t" anchorCtr="0">
                <a:spAutoFit/>
              </a:bodyPr>
              <a:lstStyle/>
              <a:p>
                <a:pPr algn="l"/>
                <a:r>
                  <a:rPr lang="en-US" sz="1050" dirty="0">
                    <a:solidFill>
                      <a:srgbClr val="B9C6D8"/>
                    </a:solidFill>
                    <a:latin typeface="+mn-lt"/>
                    <a:ea typeface="+mn-ea"/>
                    <a:cs typeface="+mn-cs"/>
                  </a:rPr>
                  <a:t>PURSE covers the true pose stays below y = x.</a:t>
                </a:r>
              </a:p>
            </p:txBody>
          </p:sp>
          <p:sp>
            <p:nvSpPr>
              <p:cNvPr id="25" name="Rectangle 25"/>
              <p:cNvSpPr/>
              <p:nvPr/>
            </p:nvSpPr>
            <p:spPr>
              <a:xfrm>
                <a:off x="6934200" y="3143250"/>
                <a:ext cx="1714500" cy="685800"/>
              </a:xfrm>
              <a:prstGeom prst="roundRect">
                <a:avLst>
                  <a:gd name="adj" fmla="val 13889"/>
                </a:avLst>
              </a:prstGeom>
              <a:solidFill>
                <a:srgbClr val="182A44"/>
              </a:solidFill>
              <a:ln w="9525">
                <a:solidFill>
                  <a:srgbClr val="2A3B54"/>
                </a:solidFill>
              </a:ln>
            </p:spPr>
          </p:sp>
          <p:sp>
            <p:nvSpPr>
              <p:cNvPr id="26" name="TextBox 26"/>
              <p:cNvSpPr txBox="1"/>
              <p:nvPr/>
            </p:nvSpPr>
            <p:spPr>
              <a:xfrm>
                <a:off x="7345962" y="3229928"/>
                <a:ext cx="890976" cy="498729"/>
              </a:xfrm>
              <a:prstGeom prst="rect">
                <a:avLst/>
              </a:prstGeom>
              <a:noFill/>
              <a:ln>
                <a:noFill/>
              </a:ln>
            </p:spPr>
            <p:txBody>
              <a:bodyPr wrap="none" lIns="0" tIns="0" rIns="0" bIns="0" anchor="t" anchorCtr="0">
                <a:spAutoFit/>
              </a:bodyPr>
              <a:lstStyle/>
              <a:p>
                <a:pPr algn="ctr"/>
                <a:r>
                  <a:rPr lang="en-US" sz="2550" b="1" dirty="0">
                    <a:solidFill>
                      <a:srgbClr val="7FD48A"/>
                    </a:solidFill>
                    <a:latin typeface="+mn-lt"/>
                    <a:ea typeface="+mn-ea"/>
                    <a:cs typeface="+mn-cs"/>
                  </a:rPr>
                  <a:t>100%</a:t>
                </a:r>
              </a:p>
            </p:txBody>
          </p:sp>
          <p:sp>
            <p:nvSpPr>
              <p:cNvPr id="27" name="TextBox 27"/>
              <p:cNvSpPr txBox="1"/>
              <p:nvPr/>
            </p:nvSpPr>
            <p:spPr>
              <a:xfrm>
                <a:off x="7038394" y="3617595"/>
                <a:ext cx="1506112" cy="176212"/>
              </a:xfrm>
              <a:prstGeom prst="rect">
                <a:avLst/>
              </a:prstGeom>
              <a:noFill/>
              <a:ln>
                <a:noFill/>
              </a:ln>
            </p:spPr>
            <p:txBody>
              <a:bodyPr wrap="none" lIns="0" tIns="0" rIns="0" bIns="0" anchor="t" anchorCtr="0">
                <a:spAutoFit/>
              </a:bodyPr>
              <a:lstStyle/>
              <a:p>
                <a:pPr algn="ctr"/>
                <a:r>
                  <a:rPr lang="en-US" sz="900" b="1" dirty="0">
                    <a:solidFill>
                      <a:srgbClr val="B9C6D8"/>
                    </a:solidFill>
                    <a:latin typeface="+mn-lt"/>
                    <a:ea typeface="+mn-ea"/>
                    <a:cs typeface="+mn-cs"/>
                  </a:rPr>
                  <a:t>bounds valid when PURSE</a:t>
                </a:r>
              </a:p>
            </p:txBody>
          </p:sp>
          <p:sp>
            <p:nvSpPr>
              <p:cNvPr id="28" name="TextBox 28"/>
              <p:cNvSpPr txBox="1"/>
              <p:nvPr/>
            </p:nvSpPr>
            <p:spPr>
              <a:xfrm>
                <a:off x="9138666" y="3315652"/>
                <a:ext cx="1866923" cy="205359"/>
              </a:xfrm>
              <a:prstGeom prst="rect">
                <a:avLst/>
              </a:prstGeom>
              <a:noFill/>
              <a:ln>
                <a:noFill/>
              </a:ln>
            </p:spPr>
            <p:txBody>
              <a:bodyPr wrap="none" lIns="0" tIns="0" rIns="0" bIns="0" anchor="t" anchorCtr="0">
                <a:spAutoFit/>
              </a:bodyPr>
              <a:lstStyle/>
              <a:p>
                <a:pPr algn="l"/>
                <a:r>
                  <a:rPr lang="en-US" sz="1050" dirty="0">
                    <a:solidFill>
                      <a:srgbClr val="CBD8E6"/>
                    </a:solidFill>
                    <a:latin typeface="+mn-lt"/>
                    <a:ea typeface="+mn-ea"/>
                    <a:cs typeface="+mn-cs"/>
                  </a:rPr>
                  <a:t>The bound is never violated</a:t>
                </a:r>
              </a:p>
            </p:txBody>
          </p:sp>
          <p:sp>
            <p:nvSpPr>
              <p:cNvPr id="29" name="TextBox 29"/>
              <p:cNvSpPr txBox="1"/>
              <p:nvPr/>
            </p:nvSpPr>
            <p:spPr>
              <a:xfrm>
                <a:off x="9138666" y="3506152"/>
                <a:ext cx="2201609" cy="205359"/>
              </a:xfrm>
              <a:prstGeom prst="rect">
                <a:avLst/>
              </a:prstGeom>
              <a:noFill/>
              <a:ln>
                <a:noFill/>
              </a:ln>
            </p:spPr>
            <p:txBody>
              <a:bodyPr wrap="none" lIns="0" tIns="0" rIns="0" bIns="0" anchor="t" anchorCtr="0">
                <a:spAutoFit/>
              </a:bodyPr>
              <a:lstStyle/>
              <a:p>
                <a:pPr algn="l"/>
                <a:r>
                  <a:rPr lang="en-US" sz="1050" dirty="0">
                    <a:solidFill>
                      <a:srgbClr val="CBD8E6"/>
                    </a:solidFill>
                    <a:latin typeface="+mn-lt"/>
                    <a:ea typeface="+mn-ea"/>
                    <a:cs typeface="+mn-cs"/>
                  </a:rPr>
                  <a:t>when the 1 − ε guarantee holds.</a:t>
                </a:r>
              </a:p>
            </p:txBody>
          </p:sp>
        </p:grpSp>
        <p:grpSp>
          <p:nvGrpSpPr>
            <p:cNvPr id="43" name="Group 43"/>
            <p:cNvGrpSpPr/>
            <p:nvPr/>
          </p:nvGrpSpPr>
          <p:grpSpPr>
            <a:xfrm>
              <a:off x="6705600" y="4248150"/>
              <a:ext cx="4876800" cy="2076450"/>
              <a:chOff x="6705600" y="4248150"/>
              <a:chExt cx="4876800" cy="2076450"/>
            </a:xfrm>
          </p:grpSpPr>
          <p:sp>
            <p:nvSpPr>
              <p:cNvPr id="31" name="Rectangle 31"/>
              <p:cNvSpPr/>
              <p:nvPr/>
            </p:nvSpPr>
            <p:spPr>
              <a:xfrm>
                <a:off x="6705600" y="4248150"/>
                <a:ext cx="4876800" cy="2076450"/>
              </a:xfrm>
              <a:prstGeom prst="roundRect">
                <a:avLst>
                  <a:gd name="adj" fmla="val 6422"/>
                </a:avLst>
              </a:prstGeom>
              <a:solidFill>
                <a:srgbClr val="EAF2EC"/>
              </a:solidFill>
              <a:ln w="14288">
                <a:solidFill>
                  <a:srgbClr val="BFD9C6"/>
                </a:solidFill>
              </a:ln>
            </p:spPr>
          </p:sp>
          <p:sp>
            <p:nvSpPr>
              <p:cNvPr id="32" name="TextBox 32"/>
              <p:cNvSpPr txBox="1"/>
              <p:nvPr/>
            </p:nvSpPr>
            <p:spPr>
              <a:xfrm>
                <a:off x="6927342" y="4464368"/>
                <a:ext cx="304540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3 · The average pose is accurate</a:t>
                </a:r>
              </a:p>
            </p:txBody>
          </p:sp>
          <p:sp>
            <p:nvSpPr>
              <p:cNvPr id="33" name="TextBox 33"/>
              <p:cNvSpPr txBox="1"/>
              <p:nvPr/>
            </p:nvSpPr>
            <p:spPr>
              <a:xfrm>
                <a:off x="6928866" y="4744402"/>
                <a:ext cx="42422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2D-projection success (mean reprojection error under 5 px):</a:t>
                </a:r>
              </a:p>
            </p:txBody>
          </p:sp>
          <p:grpSp>
            <p:nvGrpSpPr>
              <p:cNvPr id="42" name="Group 42"/>
              <p:cNvGrpSpPr/>
              <p:nvPr/>
            </p:nvGrpSpPr>
            <p:grpSpPr>
              <a:xfrm>
                <a:off x="6934200" y="5029200"/>
                <a:ext cx="4343400" cy="1066800"/>
                <a:chOff x="6934200" y="5029200"/>
                <a:chExt cx="4343400" cy="1066800"/>
              </a:xfrm>
            </p:grpSpPr>
            <p:sp>
              <p:nvSpPr>
                <p:cNvPr id="34" name="Rectangle 34"/>
                <p:cNvSpPr/>
                <p:nvPr/>
              </p:nvSpPr>
              <p:spPr>
                <a:xfrm>
                  <a:off x="6934200" y="5029200"/>
                  <a:ext cx="2095500" cy="1066800"/>
                </a:xfrm>
                <a:prstGeom prst="roundRect">
                  <a:avLst>
                    <a:gd name="adj" fmla="val 8929"/>
                  </a:avLst>
                </a:prstGeom>
                <a:solidFill>
                  <a:schemeClr val="lt1"/>
                </a:solidFill>
                <a:ln w="9525">
                  <a:solidFill>
                    <a:srgbClr val="BFD9C6"/>
                  </a:solidFill>
                </a:ln>
              </p:spPr>
            </p:sp>
            <p:sp>
              <p:nvSpPr>
                <p:cNvPr id="35" name="TextBox 35"/>
                <p:cNvSpPr txBox="1"/>
                <p:nvPr/>
              </p:nvSpPr>
              <p:spPr>
                <a:xfrm>
                  <a:off x="7341232" y="5143500"/>
                  <a:ext cx="1281436" cy="586740"/>
                </a:xfrm>
                <a:prstGeom prst="rect">
                  <a:avLst/>
                </a:prstGeom>
                <a:noFill/>
                <a:ln>
                  <a:noFill/>
                </a:ln>
              </p:spPr>
              <p:txBody>
                <a:bodyPr wrap="none" lIns="0" tIns="0" rIns="0" bIns="0" anchor="t" anchorCtr="0">
                  <a:spAutoFit/>
                </a:bodyPr>
                <a:lstStyle/>
                <a:p>
                  <a:pPr algn="ctr"/>
                  <a:r>
                    <a:rPr lang="en-US" sz="3000" b="1" dirty="0">
                      <a:solidFill>
                        <a:srgbClr val="2E7D32"/>
                      </a:solidFill>
                      <a:latin typeface="+mn-lt"/>
                      <a:ea typeface="+mn-ea"/>
                      <a:cs typeface="+mn-cs"/>
                    </a:rPr>
                    <a:t>70.6%</a:t>
                  </a:r>
                </a:p>
              </p:txBody>
            </p:sp>
            <p:sp>
              <p:nvSpPr>
                <p:cNvPr id="36" name="TextBox 36"/>
                <p:cNvSpPr txBox="1"/>
                <p:nvPr/>
              </p:nvSpPr>
              <p:spPr>
                <a:xfrm>
                  <a:off x="7108772" y="5609749"/>
                  <a:ext cx="1746356"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Average pose (gt-ellipse)</a:t>
                  </a:r>
                </a:p>
              </p:txBody>
            </p:sp>
            <p:sp>
              <p:nvSpPr>
                <p:cNvPr id="37" name="TextBox 37"/>
                <p:cNvSpPr txBox="1"/>
                <p:nvPr/>
              </p:nvSpPr>
              <p:spPr>
                <a:xfrm>
                  <a:off x="7774248" y="5827395"/>
                  <a:ext cx="415404"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ε = 0.1</a:t>
                  </a:r>
                </a:p>
              </p:txBody>
            </p:sp>
            <p:sp>
              <p:nvSpPr>
                <p:cNvPr id="38" name="Rectangle 38"/>
                <p:cNvSpPr/>
                <p:nvPr/>
              </p:nvSpPr>
              <p:spPr>
                <a:xfrm>
                  <a:off x="9182100" y="5029200"/>
                  <a:ext cx="2095500" cy="1066800"/>
                </a:xfrm>
                <a:prstGeom prst="roundRect">
                  <a:avLst>
                    <a:gd name="adj" fmla="val 8929"/>
                  </a:avLst>
                </a:prstGeom>
                <a:solidFill>
                  <a:schemeClr val="lt2"/>
                </a:solidFill>
                <a:ln w="9525">
                  <a:solidFill>
                    <a:schemeClr val="accent4"/>
                  </a:solidFill>
                </a:ln>
              </p:spPr>
            </p:sp>
            <p:sp>
              <p:nvSpPr>
                <p:cNvPr id="39" name="TextBox 39"/>
                <p:cNvSpPr txBox="1"/>
                <p:nvPr/>
              </p:nvSpPr>
              <p:spPr>
                <a:xfrm>
                  <a:off x="9589132" y="5143500"/>
                  <a:ext cx="1281436" cy="586740"/>
                </a:xfrm>
                <a:prstGeom prst="rect">
                  <a:avLst/>
                </a:prstGeom>
                <a:noFill/>
                <a:ln>
                  <a:noFill/>
                </a:ln>
              </p:spPr>
              <p:txBody>
                <a:bodyPr wrap="none" lIns="0" tIns="0" rIns="0" bIns="0" anchor="t" anchorCtr="0">
                  <a:spAutoFit/>
                </a:bodyPr>
                <a:lstStyle/>
                <a:p>
                  <a:pPr algn="ctr"/>
                  <a:r>
                    <a:rPr lang="en-US" sz="3000" b="1" dirty="0">
                      <a:solidFill>
                        <a:schemeClr val="accent6"/>
                      </a:solidFill>
                      <a:latin typeface="+mn-lt"/>
                      <a:ea typeface="+mn-ea"/>
                      <a:cs typeface="+mn-cs"/>
                    </a:rPr>
                    <a:t>61.1%</a:t>
                  </a:r>
                </a:p>
              </p:txBody>
            </p:sp>
            <p:sp>
              <p:nvSpPr>
                <p:cNvPr id="40" name="TextBox 40"/>
                <p:cNvSpPr txBox="1"/>
                <p:nvPr/>
              </p:nvSpPr>
              <p:spPr>
                <a:xfrm>
                  <a:off x="9296602" y="5609749"/>
                  <a:ext cx="1866496" cy="190690"/>
                </a:xfrm>
                <a:prstGeom prst="rect">
                  <a:avLst/>
                </a:prstGeom>
                <a:noFill/>
                <a:ln>
                  <a:noFill/>
                </a:ln>
              </p:spPr>
              <p:txBody>
                <a:bodyPr wrap="none" lIns="0" tIns="0" rIns="0" bIns="0" anchor="t" anchorCtr="0">
                  <a:spAutoFit/>
                </a:bodyPr>
                <a:lstStyle/>
                <a:p>
                  <a:pPr algn="ctr"/>
                  <a:r>
                    <a:rPr lang="en-US" sz="980" b="1" dirty="0">
                      <a:solidFill>
                        <a:schemeClr val="accent1"/>
                      </a:solidFill>
                      <a:latin typeface="+mn-lt"/>
                      <a:ea typeface="+mn-ea"/>
                      <a:cs typeface="+mn-cs"/>
                    </a:rPr>
                    <a:t>PVNet (strongest baseline)</a:t>
                  </a:r>
                </a:p>
              </p:txBody>
            </p:sp>
            <p:sp>
              <p:nvSpPr>
                <p:cNvPr id="41" name="TextBox 41"/>
                <p:cNvSpPr txBox="1"/>
                <p:nvPr/>
              </p:nvSpPr>
              <p:spPr>
                <a:xfrm>
                  <a:off x="9567805" y="5827395"/>
                  <a:ext cx="1324089" cy="176212"/>
                </a:xfrm>
                <a:prstGeom prst="rect">
                  <a:avLst/>
                </a:prstGeom>
                <a:noFill/>
                <a:ln>
                  <a:noFill/>
                </a:ln>
              </p:spPr>
              <p:txBody>
                <a:bodyPr wrap="none" lIns="0" tIns="0" rIns="0" bIns="0" anchor="t" anchorCtr="0">
                  <a:spAutoFit/>
                </a:bodyPr>
                <a:lstStyle/>
                <a:p>
                  <a:pPr algn="ctr"/>
                  <a:r>
                    <a:rPr lang="en-US" sz="900" dirty="0">
                      <a:solidFill>
                        <a:schemeClr val="dk2"/>
                      </a:solidFill>
                      <a:latin typeface="+mn-lt"/>
                      <a:ea typeface="+mn-ea"/>
                      <a:cs typeface="+mn-cs"/>
                    </a:rPr>
                    <a:t>prior state of the art</a:t>
                  </a:r>
                </a:p>
              </p:txBody>
            </p:sp>
          </p:grpSp>
        </p:grpSp>
      </p:grpSp>
      <p:sp>
        <p:nvSpPr>
          <p:cNvPr id="45" name="cue_s05_c1_results_confirm_theory_three_fronts" title="cue_s05_c1_results_confirm_theory_three_fronts" descr="cue_s05_c1_results_confirm_theory_three_fronts The results confirm the theory on three fronts."/>
          <p:cNvSpPr/>
          <p:nvPr/>
        </p:nvSpPr>
        <p:spPr>
          <a:xfrm>
            <a:off x="609600" y="1314678"/>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2_first_coverage_valid_ninety_percent" title="cue_s05_c2_first_coverage_valid_ninety_percent" descr="cue_s05_c2_first_coverage_valid_ninety_percent First, coverage is valid: at a ninety percent target, empirical coverage across objects sits right around ninety percent and tightens as the calibration set grows."/>
          <p:cNvSpPr/>
          <p:nvPr/>
        </p:nvSpPr>
        <p:spPr>
          <a:xfrm>
            <a:off x="609600" y="2000478"/>
            <a:ext cx="5943600" cy="4324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3_second_bounds_correct_scatter_plots" title="cue_s05_c3_second_bounds_correct_scatter_plots" descr="cue_s05_c3_second_bounds_correct_scatter_plots Second, the bounds are correct: in scatter plots of certified bound versus actual error, every case where PURSE covers the true pose stays below the diagonal, so the bound is never violated when the guarantee holds."/>
          <p:cNvSpPr/>
          <p:nvPr/>
        </p:nvSpPr>
        <p:spPr>
          <a:xfrm>
            <a:off x="6705600" y="2000478"/>
            <a:ext cx="4876800"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4_third_average_pose_accurate_beating" title="cue_s05_c4_third_average_pose_accurate_beating" descr="cue_s05_c4_third_average_pose_accurate_beating Third, the average pose is accurate, beating prior methods on the two-dimensional projection metric with groundtruth boxes and staying comparable with Faster-RCNN detections."/>
          <p:cNvSpPr/>
          <p:nvPr/>
        </p:nvSpPr>
        <p:spPr>
          <a:xfrm>
            <a:off x="6705600" y="4247845"/>
            <a:ext cx="48768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chemeClr val="lt1"/>
            </a:solidFill>
            <a:ln>
              <a:noFill/>
            </a:ln>
          </p:spPr>
        </p:sp>
        <p:sp>
          <p:nvSpPr>
            <p:cNvPr id="3" name="Rectangle 3"/>
            <p:cNvSpPr/>
            <p:nvPr/>
          </p:nvSpPr>
          <p:spPr>
            <a:xfrm>
              <a:off x="0" y="0"/>
              <a:ext cx="12192000" cy="76200"/>
            </a:xfrm>
            <a:prstGeom prst="rect">
              <a:avLst/>
            </a:prstGeom>
            <a:gradFill>
              <a:gsLst>
                <a:gs pos="0">
                  <a:schemeClr val="accent2"/>
                </a:gs>
                <a:gs pos="100000">
                  <a:schemeClr val="accent5"/>
                </a:gs>
              </a:gsLst>
              <a:lin ang="0" scaled="1"/>
            </a:gradFill>
            <a:ln>
              <a:noFill/>
            </a:ln>
          </p:spPr>
        </p:sp>
      </p:grpSp>
      <p:grpSp>
        <p:nvGrpSpPr>
          <p:cNvPr id="8" name="Group 8"/>
          <p:cNvGrpSpPr/>
          <p:nvPr/>
        </p:nvGrpSpPr>
        <p:grpSpPr>
          <a:xfrm>
            <a:off x="597408" y="545306"/>
            <a:ext cx="8924235" cy="731806"/>
            <a:chOff x="597408" y="545306"/>
            <a:chExt cx="8924235" cy="731806"/>
          </a:xfrm>
        </p:grpSpPr>
        <p:sp>
          <p:nvSpPr>
            <p:cNvPr id="5" name="TextBox 5"/>
            <p:cNvSpPr txBox="1"/>
            <p:nvPr/>
          </p:nvSpPr>
          <p:spPr>
            <a:xfrm>
              <a:off x="603885" y="54530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6" name="TextBox 6"/>
            <p:cNvSpPr txBox="1"/>
            <p:nvPr/>
          </p:nvSpPr>
          <p:spPr>
            <a:xfrm>
              <a:off x="597408" y="807720"/>
              <a:ext cx="8924235"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A pose estimator that tells you how wrong it might be</a:t>
              </a:r>
            </a:p>
          </p:txBody>
        </p:sp>
        <p:sp>
          <p:nvSpPr>
            <p:cNvPr id="7" name="Rectangle 7"/>
            <p:cNvSpPr/>
            <p:nvPr/>
          </p:nvSpPr>
          <p:spPr>
            <a:xfrm>
              <a:off x="628650" y="1219200"/>
              <a:ext cx="685800" cy="47625"/>
            </a:xfrm>
            <a:prstGeom prst="roundRect">
              <a:avLst>
                <a:gd name="adj" fmla="val 40000"/>
              </a:avLst>
            </a:prstGeom>
            <a:solidFill>
              <a:schemeClr val="accent2"/>
            </a:solidFill>
            <a:ln>
              <a:noFill/>
            </a:ln>
          </p:spPr>
        </p:sp>
      </p:grpSp>
      <p:grpSp>
        <p:nvGrpSpPr>
          <p:cNvPr id="14" name="Group 14"/>
          <p:cNvGrpSpPr/>
          <p:nvPr/>
        </p:nvGrpSpPr>
        <p:grpSpPr>
          <a:xfrm>
            <a:off x="609600" y="1428750"/>
            <a:ext cx="10972800" cy="1600200"/>
            <a:chOff x="609600" y="1428750"/>
            <a:chExt cx="10972800" cy="1600200"/>
          </a:xfrm>
        </p:grpSpPr>
        <p:sp>
          <p:nvSpPr>
            <p:cNvPr id="9" name="Rectangle 9"/>
            <p:cNvSpPr/>
            <p:nvPr/>
          </p:nvSpPr>
          <p:spPr>
            <a:xfrm>
              <a:off x="609600" y="1428750"/>
              <a:ext cx="10972800" cy="1600200"/>
            </a:xfrm>
            <a:prstGeom prst="roundRect">
              <a:avLst>
                <a:gd name="adj" fmla="val 9524"/>
              </a:avLst>
            </a:prstGeom>
            <a:solidFill>
              <a:srgbClr val="0F1B2E"/>
            </a:solidFill>
            <a:ln>
              <a:noFill/>
            </a:ln>
          </p:spPr>
        </p:sp>
        <p:sp>
          <p:nvSpPr>
            <p:cNvPr id="10" name="Rectangle 10"/>
            <p:cNvSpPr/>
            <p:nvPr/>
          </p:nvSpPr>
          <p:spPr>
            <a:xfrm>
              <a:off x="609600" y="1428750"/>
              <a:ext cx="76200" cy="1600200"/>
            </a:xfrm>
            <a:prstGeom prst="roundRect">
              <a:avLst>
                <a:gd name="adj" fmla="val 50000"/>
              </a:avLst>
            </a:prstGeom>
            <a:solidFill>
              <a:schemeClr val="accent2"/>
            </a:solidFill>
            <a:ln>
              <a:noFill/>
            </a:ln>
          </p:spPr>
        </p:sp>
        <p:sp>
          <p:nvSpPr>
            <p:cNvPr id="11" name="TextBox 11"/>
            <p:cNvSpPr txBox="1"/>
            <p:nvPr/>
          </p:nvSpPr>
          <p:spPr>
            <a:xfrm>
              <a:off x="981456" y="1824990"/>
              <a:ext cx="8894042"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Turn a standard two-stage pose estimator into one that reports a real</a:t>
              </a:r>
            </a:p>
          </p:txBody>
        </p:sp>
        <p:sp>
          <p:nvSpPr>
            <p:cNvPr id="12" name="TextBox 12"/>
            <p:cNvSpPr txBox="1"/>
            <p:nvPr/>
          </p:nvSpPr>
          <p:spPr>
            <a:xfrm>
              <a:off x="981456" y="2167890"/>
              <a:ext cx="5933827"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statistical guarantee on its worst-case error,</a:t>
              </a:r>
            </a:p>
          </p:txBody>
        </p:sp>
        <p:sp>
          <p:nvSpPr>
            <p:cNvPr id="13" name="TextBox 13"/>
            <p:cNvSpPr txBox="1"/>
            <p:nvPr/>
          </p:nvSpPr>
          <p:spPr>
            <a:xfrm>
              <a:off x="982980" y="2619375"/>
              <a:ext cx="3863521" cy="293370"/>
            </a:xfrm>
            <a:prstGeom prst="rect">
              <a:avLst/>
            </a:prstGeom>
            <a:noFill/>
            <a:ln>
              <a:noFill/>
            </a:ln>
          </p:spPr>
          <p:txBody>
            <a:bodyPr wrap="none" lIns="0" tIns="0" rIns="0" bIns="0" anchor="t" anchorCtr="0">
              <a:spAutoFit/>
            </a:bodyPr>
            <a:lstStyle/>
            <a:p>
              <a:pPr algn="l"/>
              <a:r>
                <a:rPr lang="en-US" sz="1500" b="1" dirty="0">
                  <a:solidFill>
                    <a:srgbClr val="F0A488"/>
                  </a:solidFill>
                  <a:latin typeface="+mn-lt"/>
                  <a:ea typeface="+mn-ea"/>
                  <a:cs typeface="+mn-cs"/>
                </a:rPr>
                <a:t>and pay little to nothing in accuracy.</a:t>
              </a:r>
            </a:p>
          </p:txBody>
        </p:sp>
      </p:grpSp>
      <p:grpSp>
        <p:nvGrpSpPr>
          <p:cNvPr id="33" name="Group 33"/>
          <p:cNvGrpSpPr/>
          <p:nvPr/>
        </p:nvGrpSpPr>
        <p:grpSpPr>
          <a:xfrm>
            <a:off x="609600" y="3238500"/>
            <a:ext cx="10972800" cy="1752600"/>
            <a:chOff x="609600" y="3238500"/>
            <a:chExt cx="10972800" cy="1752600"/>
          </a:xfrm>
        </p:grpSpPr>
        <p:sp>
          <p:nvSpPr>
            <p:cNvPr id="15" name="Rectangle 15"/>
            <p:cNvSpPr/>
            <p:nvPr/>
          </p:nvSpPr>
          <p:spPr>
            <a:xfrm>
              <a:off x="609600" y="3238500"/>
              <a:ext cx="3505200" cy="1752600"/>
            </a:xfrm>
            <a:prstGeom prst="roundRect">
              <a:avLst>
                <a:gd name="adj" fmla="val 7609"/>
              </a:avLst>
            </a:prstGeom>
            <a:solidFill>
              <a:srgbClr val="FCEEE8"/>
            </a:solidFill>
            <a:ln w="14288">
              <a:solidFill>
                <a:srgbClr val="F3C6B3"/>
              </a:solidFill>
            </a:ln>
          </p:spPr>
        </p:sp>
        <p:sp>
          <p:nvSpPr>
            <p:cNvPr id="16" name="TextBox 16"/>
            <p:cNvSpPr txBox="1"/>
            <p:nvPr/>
          </p:nvSpPr>
          <p:spPr>
            <a:xfrm>
              <a:off x="831342" y="3492818"/>
              <a:ext cx="196591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Conformal prediction</a:t>
              </a:r>
            </a:p>
          </p:txBody>
        </p:sp>
        <p:sp>
          <p:nvSpPr>
            <p:cNvPr id="17" name="Rectangle 17"/>
            <p:cNvSpPr/>
            <p:nvPr/>
          </p:nvSpPr>
          <p:spPr>
            <a:xfrm>
              <a:off x="838200" y="3771900"/>
              <a:ext cx="495300" cy="38100"/>
            </a:xfrm>
            <a:prstGeom prst="roundRect">
              <a:avLst>
                <a:gd name="adj" fmla="val 50000"/>
              </a:avLst>
            </a:prstGeom>
            <a:solidFill>
              <a:schemeClr val="accent2"/>
            </a:solidFill>
            <a:ln>
              <a:noFill/>
            </a:ln>
          </p:spPr>
        </p:sp>
        <p:sp>
          <p:nvSpPr>
            <p:cNvPr id="18" name="TextBox 18"/>
            <p:cNvSpPr txBox="1"/>
            <p:nvPr/>
          </p:nvSpPr>
          <p:spPr>
            <a:xfrm>
              <a:off x="832485" y="3955256"/>
              <a:ext cx="2059451"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Coverage guarantees on the</a:t>
              </a:r>
            </a:p>
          </p:txBody>
        </p:sp>
        <p:sp>
          <p:nvSpPr>
            <p:cNvPr id="19" name="TextBox 19"/>
            <p:cNvSpPr txBox="1"/>
            <p:nvPr/>
          </p:nvSpPr>
          <p:spPr>
            <a:xfrm>
              <a:off x="832485" y="4164806"/>
              <a:ext cx="2310740"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detected keypoints, at a user-</a:t>
              </a:r>
            </a:p>
          </p:txBody>
        </p:sp>
        <p:sp>
          <p:nvSpPr>
            <p:cNvPr id="20" name="TextBox 20"/>
            <p:cNvSpPr txBox="1"/>
            <p:nvPr/>
          </p:nvSpPr>
          <p:spPr>
            <a:xfrm>
              <a:off x="832485" y="4374356"/>
              <a:ext cx="1820723"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chosen probability 1 − ε.</a:t>
              </a:r>
            </a:p>
          </p:txBody>
        </p:sp>
        <p:sp>
          <p:nvSpPr>
            <p:cNvPr id="21" name="Rectangle 21"/>
            <p:cNvSpPr/>
            <p:nvPr/>
          </p:nvSpPr>
          <p:spPr>
            <a:xfrm>
              <a:off x="4343400" y="3238500"/>
              <a:ext cx="3505200" cy="1752600"/>
            </a:xfrm>
            <a:prstGeom prst="roundRect">
              <a:avLst>
                <a:gd name="adj" fmla="val 7609"/>
              </a:avLst>
            </a:prstGeom>
            <a:solidFill>
              <a:srgbClr val="E9F1FA"/>
            </a:solidFill>
            <a:ln w="14288">
              <a:solidFill>
                <a:srgbClr val="C4D8EE"/>
              </a:solidFill>
            </a:ln>
          </p:spPr>
        </p:sp>
        <p:sp>
          <p:nvSpPr>
            <p:cNvPr id="22" name="TextBox 22"/>
            <p:cNvSpPr txBox="1"/>
            <p:nvPr/>
          </p:nvSpPr>
          <p:spPr>
            <a:xfrm>
              <a:off x="4565142" y="3492818"/>
              <a:ext cx="2061614"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Geometry propagation</a:t>
              </a:r>
            </a:p>
          </p:txBody>
        </p:sp>
        <p:sp>
          <p:nvSpPr>
            <p:cNvPr id="23" name="Rectangle 23"/>
            <p:cNvSpPr/>
            <p:nvPr/>
          </p:nvSpPr>
          <p:spPr>
            <a:xfrm>
              <a:off x="4572000" y="3771900"/>
              <a:ext cx="495300" cy="38100"/>
            </a:xfrm>
            <a:prstGeom prst="roundRect">
              <a:avLst>
                <a:gd name="adj" fmla="val 50000"/>
              </a:avLst>
            </a:prstGeom>
            <a:solidFill>
              <a:schemeClr val="accent3"/>
            </a:solidFill>
            <a:ln>
              <a:noFill/>
            </a:ln>
          </p:spPr>
        </p:sp>
        <p:sp>
          <p:nvSpPr>
            <p:cNvPr id="24" name="TextBox 24"/>
            <p:cNvSpPr txBox="1"/>
            <p:nvPr/>
          </p:nvSpPr>
          <p:spPr>
            <a:xfrm>
              <a:off x="4566285" y="3955256"/>
              <a:ext cx="2104581"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Carries those guarantees to</a:t>
              </a:r>
            </a:p>
          </p:txBody>
        </p:sp>
        <p:sp>
          <p:nvSpPr>
            <p:cNvPr id="25" name="TextBox 25"/>
            <p:cNvSpPr txBox="1"/>
            <p:nvPr/>
          </p:nvSpPr>
          <p:spPr>
            <a:xfrm>
              <a:off x="4566285" y="4164806"/>
              <a:ext cx="1741704"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the 6D pose as the Pose</a:t>
              </a:r>
            </a:p>
          </p:txBody>
        </p:sp>
        <p:sp>
          <p:nvSpPr>
            <p:cNvPr id="26" name="TextBox 26"/>
            <p:cNvSpPr txBox="1"/>
            <p:nvPr/>
          </p:nvSpPr>
          <p:spPr>
            <a:xfrm>
              <a:off x="4566285" y="4374356"/>
              <a:ext cx="1927717"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Uncertainty Set (PURSE).</a:t>
              </a:r>
            </a:p>
          </p:txBody>
        </p:sp>
        <p:sp>
          <p:nvSpPr>
            <p:cNvPr id="27" name="Rectangle 27"/>
            <p:cNvSpPr/>
            <p:nvPr/>
          </p:nvSpPr>
          <p:spPr>
            <a:xfrm>
              <a:off x="8077200" y="3238500"/>
              <a:ext cx="3505200" cy="1752600"/>
            </a:xfrm>
            <a:prstGeom prst="roundRect">
              <a:avLst>
                <a:gd name="adj" fmla="val 7609"/>
              </a:avLst>
            </a:prstGeom>
            <a:solidFill>
              <a:srgbClr val="EAF2EC"/>
            </a:solidFill>
            <a:ln w="14288">
              <a:solidFill>
                <a:srgbClr val="BFD9C6"/>
              </a:solidFill>
            </a:ln>
          </p:spPr>
        </p:sp>
        <p:sp>
          <p:nvSpPr>
            <p:cNvPr id="28" name="TextBox 28"/>
            <p:cNvSpPr txBox="1"/>
            <p:nvPr/>
          </p:nvSpPr>
          <p:spPr>
            <a:xfrm>
              <a:off x="8298942" y="3492818"/>
              <a:ext cx="2185139"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Semidefinite relaxation</a:t>
              </a:r>
            </a:p>
          </p:txBody>
        </p:sp>
        <p:sp>
          <p:nvSpPr>
            <p:cNvPr id="29" name="Rectangle 29"/>
            <p:cNvSpPr/>
            <p:nvPr/>
          </p:nvSpPr>
          <p:spPr>
            <a:xfrm>
              <a:off x="8305800" y="3771900"/>
              <a:ext cx="495300" cy="38100"/>
            </a:xfrm>
            <a:prstGeom prst="roundRect">
              <a:avLst>
                <a:gd name="adj" fmla="val 50000"/>
              </a:avLst>
            </a:prstGeom>
            <a:solidFill>
              <a:srgbClr val="2E7D32"/>
            </a:solidFill>
            <a:ln>
              <a:noFill/>
            </a:ln>
          </p:spPr>
        </p:sp>
        <p:sp>
          <p:nvSpPr>
            <p:cNvPr id="30" name="TextBox 30"/>
            <p:cNvSpPr txBox="1"/>
            <p:nvPr/>
          </p:nvSpPr>
          <p:spPr>
            <a:xfrm>
              <a:off x="8300085" y="3955256"/>
              <a:ext cx="2398852"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Converts the set into concrete,</a:t>
              </a:r>
            </a:p>
          </p:txBody>
        </p:sp>
        <p:sp>
          <p:nvSpPr>
            <p:cNvPr id="31" name="TextBox 31"/>
            <p:cNvSpPr txBox="1"/>
            <p:nvPr/>
          </p:nvSpPr>
          <p:spPr>
            <a:xfrm>
              <a:off x="8300085" y="4164806"/>
              <a:ext cx="1737797"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computable worst-case</a:t>
              </a:r>
            </a:p>
          </p:txBody>
        </p:sp>
        <p:sp>
          <p:nvSpPr>
            <p:cNvPr id="32" name="TextBox 32"/>
            <p:cNvSpPr txBox="1"/>
            <p:nvPr/>
          </p:nvSpPr>
          <p:spPr>
            <a:xfrm>
              <a:off x="8300085" y="4374356"/>
              <a:ext cx="2438898" cy="220028"/>
            </a:xfrm>
            <a:prstGeom prst="rect">
              <a:avLst/>
            </a:prstGeom>
            <a:noFill/>
            <a:ln>
              <a:noFill/>
            </a:ln>
          </p:spPr>
          <p:txBody>
            <a:bodyPr wrap="none" lIns="0" tIns="0" rIns="0" bIns="0" anchor="t" anchorCtr="0">
              <a:spAutoFit/>
            </a:bodyPr>
            <a:lstStyle/>
            <a:p>
              <a:pPr algn="l"/>
              <a:r>
                <a:rPr lang="en-US" sz="1120" dirty="0">
                  <a:solidFill>
                    <a:srgbClr val="3A4655"/>
                  </a:solidFill>
                  <a:latin typeface="+mn-lt"/>
                  <a:ea typeface="+mn-ea"/>
                  <a:cs typeface="+mn-cs"/>
                </a:rPr>
                <a:t>rotation and translation bounds.</a:t>
              </a:r>
            </a:p>
          </p:txBody>
        </p:sp>
      </p:grpSp>
      <p:grpSp>
        <p:nvGrpSpPr>
          <p:cNvPr id="39" name="Group 39"/>
          <p:cNvGrpSpPr/>
          <p:nvPr/>
        </p:nvGrpSpPr>
        <p:grpSpPr>
          <a:xfrm>
            <a:off x="609600" y="5181600"/>
            <a:ext cx="10972800" cy="1143000"/>
            <a:chOff x="609600" y="5181600"/>
            <a:chExt cx="10972800" cy="1143000"/>
          </a:xfrm>
        </p:grpSpPr>
        <p:sp>
          <p:nvSpPr>
            <p:cNvPr id="34" name="Rectangle 34"/>
            <p:cNvSpPr/>
            <p:nvPr/>
          </p:nvSpPr>
          <p:spPr>
            <a:xfrm>
              <a:off x="609600" y="5181600"/>
              <a:ext cx="10972800" cy="1143000"/>
            </a:xfrm>
            <a:prstGeom prst="roundRect">
              <a:avLst>
                <a:gd name="adj" fmla="val 11667"/>
              </a:avLst>
            </a:prstGeom>
            <a:solidFill>
              <a:srgbClr val="EAF0F8"/>
            </a:solidFill>
            <a:ln w="14288">
              <a:solidFill>
                <a:srgbClr val="C4D8EE"/>
              </a:solidFill>
            </a:ln>
          </p:spPr>
        </p:sp>
        <p:sp>
          <p:nvSpPr>
            <p:cNvPr id="35" name="Rectangle 35"/>
            <p:cNvSpPr/>
            <p:nvPr/>
          </p:nvSpPr>
          <p:spPr>
            <a:xfrm>
              <a:off x="609600" y="5181600"/>
              <a:ext cx="66675" cy="1143000"/>
            </a:xfrm>
            <a:prstGeom prst="roundRect">
              <a:avLst>
                <a:gd name="adj" fmla="val 42857"/>
              </a:avLst>
            </a:prstGeom>
            <a:solidFill>
              <a:schemeClr val="accent3"/>
            </a:solidFill>
            <a:ln>
              <a:noFill/>
            </a:ln>
          </p:spPr>
        </p:sp>
        <p:sp>
          <p:nvSpPr>
            <p:cNvPr id="36" name="TextBox 36"/>
            <p:cNvSpPr txBox="1"/>
            <p:nvPr/>
          </p:nvSpPr>
          <p:spPr>
            <a:xfrm>
              <a:off x="908685" y="5479256"/>
              <a:ext cx="1941911" cy="220028"/>
            </a:xfrm>
            <a:prstGeom prst="rect">
              <a:avLst/>
            </a:prstGeom>
            <a:noFill/>
            <a:ln>
              <a:noFill/>
            </a:ln>
          </p:spPr>
          <p:txBody>
            <a:bodyPr wrap="none" lIns="0" tIns="0" rIns="0" bIns="0" anchor="t" anchorCtr="0">
              <a:spAutoFit/>
            </a:bodyPr>
            <a:lstStyle/>
            <a:p>
              <a:pPr algn="l"/>
              <a:r>
                <a:rPr lang="en-US" sz="1120" b="1" spc="150" dirty="0">
                  <a:solidFill>
                    <a:schemeClr val="accent3"/>
                  </a:solidFill>
                  <a:latin typeface="+mn-lt"/>
                  <a:ea typeface="+mn-ea"/>
                  <a:cs typeface="+mn-cs"/>
                </a:rPr>
                <a:t>DETECTOR-AGNOSTIC</a:t>
              </a:r>
            </a:p>
          </p:txBody>
        </p:sp>
        <p:sp>
          <p:nvSpPr>
            <p:cNvPr id="37" name="TextBox 37"/>
            <p:cNvSpPr txBox="1"/>
            <p:nvPr/>
          </p:nvSpPr>
          <p:spPr>
            <a:xfrm>
              <a:off x="906780" y="5762625"/>
              <a:ext cx="9616585"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Because it wraps any heatmap-based keypoint detector, the framework is broadly applicable</a:t>
              </a:r>
            </a:p>
          </p:txBody>
        </p:sp>
        <p:sp>
          <p:nvSpPr>
            <p:cNvPr id="38" name="TextBox 38"/>
            <p:cNvSpPr txBox="1"/>
            <p:nvPr/>
          </p:nvSpPr>
          <p:spPr>
            <a:xfrm>
              <a:off x="907542" y="6045518"/>
              <a:ext cx="6950163"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and points toward provably correct perception wherever safety matters.</a:t>
              </a:r>
            </a:p>
          </p:txBody>
        </p:sp>
      </p:grpSp>
      <p:sp>
        <p:nvSpPr>
          <p:cNvPr id="40" name="cue_s06_c1_lasting_message_you_turn_standard" title="cue_s06_c1_lasting_message_you_turn_standard" descr="cue_s06_c1_lasting_message_you_turn_standard The lasting message: you can turn a standard two-stage pose estimator into one that tells you how wrong it might be, with a real statistical guarantee, and pay little in accuracy."/>
          <p:cNvSpPr/>
          <p:nvPr/>
        </p:nvSpPr>
        <p:spPr>
          <a:xfrm>
            <a:off x="609600" y="1428521"/>
            <a:ext cx="109728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6_c2_conformal_prediction_supplies_covera" title="cue_s06_c2_conformal_prediction_supplies_covera" descr="cue_s06_c2_conformal_prediction_supplies_covera Conformal prediction supplies coverage on the keypoints, geometry propagates it to the pose as PURSE, and semidefinite relaxation converts the set into concrete worst-case bounds."/>
          <p:cNvSpPr/>
          <p:nvPr/>
        </p:nvSpPr>
        <p:spPr>
          <a:xfrm>
            <a:off x="609600" y="3238347"/>
            <a:ext cx="109728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6_c3_because_wraps_any_heatmap_keypoint" title="cue_s06_c3_because_wraps_any_heatmap_keypoint" descr="cue_s06_c3_because_wraps_any_heatmap_keypoint Because it wraps any heatmap keypoint detector, the approach points toward provably correct perception wherever safety matters."/>
          <p:cNvSpPr/>
          <p:nvPr/>
        </p:nvSpPr>
        <p:spPr>
          <a:xfrm>
            <a:off x="609600" y="5181904"/>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onformal_keypoint_video">
  <a:themeElements>
    <a:clrScheme name="conformal_keypoint_video">
      <a:dk1>
        <a:srgbClr val="1B2430"/>
      </a:dk1>
      <a:lt1>
        <a:srgbClr val="FFFFFF"/>
      </a:lt1>
      <a:dk2>
        <a:srgbClr val="55606E"/>
      </a:dk2>
      <a:lt2>
        <a:srgbClr val="F5F7FB"/>
      </a:lt2>
      <a:accent1>
        <a:srgbClr val="14243D"/>
      </a:accent1>
      <a:accent2>
        <a:srgbClr val="E4572E"/>
      </a:accent2>
      <a:accent3>
        <a:srgbClr val="2F6DB5"/>
      </a:accent3>
      <a:accent4>
        <a:srgbClr val="DCE3ED"/>
      </a:accent4>
      <a:accent5>
        <a:srgbClr val="F08A5D"/>
      </a:accent5>
      <a:accent6>
        <a:srgbClr val="8A94A1"/>
      </a:accent6>
      <a:hlink>
        <a:srgbClr val="E4572E"/>
      </a:hlink>
      <a:folHlink>
        <a:srgbClr val="2F6DB5"/>
      </a:folHlink>
    </a:clrScheme>
    <a:fontScheme name="conformal_keypoint_video">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nformal_keypoint_vide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2026-07-15T16:32:23Z</dcterms:created>
  <dcterms:modified xsi:type="dcterms:W3CDTF">2026-07-15T16:32:23Z</dcterms:modified>
  <cp:category/>
  <cp:contentStatus/>
</cp:coreProperties>
</file>
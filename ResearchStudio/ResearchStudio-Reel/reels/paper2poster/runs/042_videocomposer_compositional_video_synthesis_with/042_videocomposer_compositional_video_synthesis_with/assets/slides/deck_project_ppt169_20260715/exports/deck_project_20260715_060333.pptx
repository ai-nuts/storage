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9f4d47dfd492305.jpg"/><Relationship Id="rId3" Type="http://schemas.openxmlformats.org/officeDocument/2006/relationships/image" Target="../media/image_c4ab6c9982aac4ae.png"/><Relationship Id="rId4" Type="http://schemas.openxmlformats.org/officeDocument/2006/relationships/image" Target="../media/image_ed91f0fc52dc580c.png"/><Relationship Id="rId5" Type="http://schemas.openxmlformats.org/officeDocument/2006/relationships/image" Target="../media/image_a2b4b21f7f30a76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95ccc38e8d3988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15ee2976955258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a82a91c04e8c38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a7fd6d5ba015b8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93f25e4ee7f3a8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EEF2F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10431948" y="441960"/>
            <a:ext cx="10803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NeurIPS 2023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7700" y="1266825"/>
            <a:ext cx="7217263" cy="2095881"/>
            <a:chOff x="647700" y="1266825"/>
            <a:chExt cx="7217263" cy="2095881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1266825"/>
              <a:ext cx="4671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3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COMPOSITIONAL VIDEO SYNTHESIS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637348"/>
              <a:ext cx="50491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VideoComposer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275" y="2388394"/>
              <a:ext cx="718868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Controllable video synthesis with motion controllability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9704" y="2899410"/>
              <a:ext cx="4612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Wang, Yuan, Zhang, Chen, Wang, Zhang, Shen, Zhao, Zhou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9704" y="3128010"/>
              <a:ext cx="211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Alibaba Group · Ant Group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0085" y="3688556"/>
            <a:ext cx="5911215" cy="921544"/>
            <a:chOff x="680085" y="3688556"/>
            <a:chExt cx="5911215" cy="921544"/>
          </a:xfrm>
        </p:grpSpPr>
        <p:sp>
          <p:nvSpPr>
            <p:cNvPr id="10" name="TextBox 10"/>
            <p:cNvSpPr txBox="1"/>
            <p:nvPr/>
          </p:nvSpPr>
          <p:spPr>
            <a:xfrm>
              <a:off x="680085" y="3688556"/>
              <a:ext cx="4116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COMPOSE FROM THREE CONDITION FAMILIES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685800" y="3943350"/>
              <a:ext cx="1866900" cy="666750"/>
              <a:chOff x="685800" y="3943350"/>
              <a:chExt cx="1866900" cy="666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858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19050">
                <a:solidFill>
                  <a:srgbClr val="DBEAFE"/>
                </a:solidFill>
              </a:ln>
              <a:effectLst>
                <a:outerShdw blurRad="11430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858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26896" y="4086225"/>
                <a:ext cx="7847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Textual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01519" y="4353878"/>
                <a:ext cx="10354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caption · style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705100" y="3943350"/>
              <a:ext cx="1866900" cy="666750"/>
              <a:chOff x="2705100" y="3943350"/>
              <a:chExt cx="18669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7051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19050">
                <a:solidFill>
                  <a:srgbClr val="E0F2FE"/>
                </a:solidFill>
              </a:ln>
              <a:effectLst>
                <a:outerShdw blurRad="11430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27051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272914" y="4086225"/>
                <a:ext cx="7312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Spatial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852252" y="4353878"/>
                <a:ext cx="15725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sketch · depth · image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724400" y="3943350"/>
              <a:ext cx="1866900" cy="666750"/>
              <a:chOff x="4724400" y="3943350"/>
              <a:chExt cx="1866900" cy="666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7244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19050">
                <a:solidFill>
                  <a:srgbClr val="FDBA74"/>
                </a:solidFill>
              </a:ln>
              <a:effectLst>
                <a:outerShdw blurRad="11430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724400" y="3943350"/>
                <a:ext cx="18669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accent3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185809" y="4086225"/>
                <a:ext cx="94408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Temporal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78619" y="4353878"/>
                <a:ext cx="15584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motion vectors · mask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85800" y="4819650"/>
            <a:ext cx="6081541" cy="937451"/>
            <a:chOff x="685800" y="4819650"/>
            <a:chExt cx="6081541" cy="937451"/>
          </a:xfrm>
        </p:grpSpPr>
        <p:grpSp>
          <p:nvGrpSpPr>
            <p:cNvPr id="32" name="Group 32"/>
            <p:cNvGrpSpPr/>
            <p:nvPr/>
          </p:nvGrpSpPr>
          <p:grpSpPr>
            <a:xfrm>
              <a:off x="685800" y="4819650"/>
              <a:ext cx="6081541" cy="937451"/>
              <a:chOff x="685800" y="4819650"/>
              <a:chExt cx="6081541" cy="937451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85800" y="4819650"/>
                <a:ext cx="5905500" cy="914400"/>
              </a:xfrm>
              <a:prstGeom prst="roundRect">
                <a:avLst>
                  <a:gd name="adj" fmla="val 14583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  <a:effectLst>
                <a:outerShdw blurRad="11430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85800" y="4819650"/>
                <a:ext cx="76200" cy="914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65835" y="5022056"/>
                <a:ext cx="12769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TWO KEY IDEAS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64692" y="5264468"/>
                <a:ext cx="5802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1E293B"/>
                    </a:solidFill>
                    <a:latin typeface="+mn-lt"/>
                    <a:ea typeface="+mn-ea"/>
                    <a:cs typeface="+mn-cs"/>
                  </a:rPr>
                  <a:t>Motion vectors</a:t>
                </a:r>
                <a:r>
                  <a:rPr lang="en-US" sz="1350" dirty="0">
                    <a:solidFill>
                      <a:srgbClr val="1E293B"/>
                    </a:solidFill>
                    <a:latin typeface="+mn-lt"/>
                    <a:ea typeface="+mn-ea"/>
                    <a:cs typeface="+mn-cs"/>
                  </a:rPr>
                  <a:t xml:space="preserve"> from compressed video = explicit temporal signal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64692" y="5493068"/>
                <a:ext cx="561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1E293B"/>
                    </a:solidFill>
                    <a:latin typeface="+mn-lt"/>
                    <a:ea typeface="+mn-ea"/>
                    <a:cs typeface="+mn-cs"/>
                  </a:rPr>
                  <a:t>STC-encoder</a:t>
                </a:r>
                <a:r>
                  <a:rPr lang="en-US" sz="1350" dirty="0">
                    <a:solidFill>
                      <a:srgbClr val="1E293B"/>
                    </a:solidFill>
                    <a:latin typeface="+mn-lt"/>
                    <a:ea typeface="+mn-ea"/>
                    <a:cs typeface="+mn-cs"/>
                  </a:rPr>
                  <a:t xml:space="preserve"> fuses diverse controls, keeps frames consistent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200900" y="1428750"/>
            <a:ext cx="4305300" cy="3352800"/>
            <a:chOff x="7200900" y="1428750"/>
            <a:chExt cx="4305300" cy="3352800"/>
          </a:xfrm>
        </p:grpSpPr>
        <p:sp>
          <p:nvSpPr>
            <p:cNvPr id="34" name="Rectangle 34"/>
            <p:cNvSpPr/>
            <p:nvPr/>
          </p:nvSpPr>
          <p:spPr>
            <a:xfrm>
              <a:off x="7200900" y="1428750"/>
              <a:ext cx="4305300" cy="33528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8946" y="1562100"/>
              <a:ext cx="2829208" cy="28575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538694" y="4561999"/>
              <a:ext cx="3629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Text, sketch, depth, motion &amp; strokes → coherent video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00900" y="4914900"/>
            <a:ext cx="4305300" cy="571500"/>
            <a:chOff x="7200900" y="4914900"/>
            <a:chExt cx="4305300" cy="571500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0900" y="5087903"/>
              <a:ext cx="1428750" cy="225495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6525" y="4991100"/>
              <a:ext cx="977900" cy="419100"/>
            </a:xfrm>
            <a:prstGeom prst="rect">
              <a:avLst/>
            </a:prstGeom>
          </p:spPr>
        </p:pic>
        <p:grpSp>
          <p:nvGrpSpPr>
            <p:cNvPr id="44" name="Group 44"/>
            <p:cNvGrpSpPr/>
            <p:nvPr/>
          </p:nvGrpSpPr>
          <p:grpSpPr>
            <a:xfrm>
              <a:off x="10515600" y="4914900"/>
              <a:ext cx="990600" cy="571500"/>
              <a:chOff x="10515600" y="4914900"/>
              <a:chExt cx="990600" cy="571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10515600" y="4914900"/>
                <a:ext cx="990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72750" y="4953000"/>
                <a:ext cx="495300" cy="495300"/>
              </a:xfrm>
              <a:prstGeom prst="rect">
                <a:avLst/>
              </a:prstGeom>
            </p:spPr>
          </p:pic>
          <p:sp>
            <p:nvSpPr>
              <p:cNvPr id="42" name="TextBox 42"/>
              <p:cNvSpPr txBox="1"/>
              <p:nvPr/>
            </p:nvSpPr>
            <p:spPr>
              <a:xfrm>
                <a:off x="11139488" y="5046345"/>
                <a:ext cx="2933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b="1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139488" y="5225891"/>
                <a:ext cx="35256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rgbClr val="94A3B8"/>
                    </a:solidFill>
                    <a:latin typeface="+mn-lt"/>
                    <a:ea typeface="+mn-ea"/>
                    <a:cs typeface="+mn-cs"/>
                  </a:rPr>
                  <a:t>GitHub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680847" y="6562249"/>
            <a:ext cx="23353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Alibaba &amp; Ant Group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48" name="cue_s01_c1_videocomposer_alibaba_ant_group_make" title="cue_s01_c1_videocomposer_alibaba_ant_group_make" descr="cue_s01_c1_videocomposer_alibaba_ant_group_make VideoComposer, from Alibaba and Ant Group, makes video generation controllable through composition."/>
          <p:cNvSpPr/>
          <p:nvPr/>
        </p:nvSpPr>
        <p:spPr>
          <a:xfrm>
            <a:off x="647395" y="1266672"/>
            <a:ext cx="7217664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1_c2_users_combine_textual_spatial_tempor" title="cue_s01_c2_users_combine_textual_spatial_tempor" descr="cue_s01_c2_users_combine_textual_spatial_tempor Users combine textual, spatial, and temporal conditions at once."/>
          <p:cNvSpPr/>
          <p:nvPr/>
        </p:nvSpPr>
        <p:spPr>
          <a:xfrm>
            <a:off x="680313" y="3688232"/>
            <a:ext cx="5910681" cy="92171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1_c3_its_key_ideas_motion_vectors" title="cue_s01_c3_its_key_ideas_motion_vectors" descr="cue_s01_c3_its_key_ideas_motion_vectors Its key ideas: motion vectors from compressed video as an explicit temporal signal, and a unified Spatio-Temporal Condition encoder that fuses diverse controls while keeping frames consistent, from text and sketches to reference video or simple strokes."/>
          <p:cNvSpPr/>
          <p:nvPr/>
        </p:nvSpPr>
        <p:spPr>
          <a:xfrm>
            <a:off x="686409" y="4819802"/>
            <a:ext cx="6081369" cy="93748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1975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· 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888551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Controlling video is far harder than images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678561" y="1408271"/>
            <a:ext cx="95972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Customizable image generation is mature — steering how a video </a:t>
            </a:r>
            <a:r>
              <a:rPr lang="en-US" sz="1420" b="1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moves over time</a:t>
            </a:r>
            <a:r>
              <a:rPr lang="en-US" sz="14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 xml:space="preserve"> is the open frontier.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85800" y="1828800"/>
            <a:ext cx="3429000" cy="3429000"/>
            <a:chOff x="685800" y="1828800"/>
            <a:chExt cx="3429000" cy="3429000"/>
          </a:xfrm>
        </p:grpSpPr>
        <p:sp>
          <p:nvSpPr>
            <p:cNvPr id="8" name="Rectangle 8"/>
            <p:cNvSpPr/>
            <p:nvPr/>
          </p:nvSpPr>
          <p:spPr>
            <a:xfrm>
              <a:off x="685800" y="18288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685800" y="18288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1336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5787" y="2244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5618" y="2260282"/>
              <a:ext cx="16922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Images: solved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361" y="2817971"/>
              <a:ext cx="20659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Diffusion models made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3361" y="3084671"/>
              <a:ext cx="1591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image generation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361" y="3351371"/>
              <a:ext cx="19213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highly controllable.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504" y="3775710"/>
              <a:ext cx="2037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Text, layout, subject and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504" y="4004310"/>
              <a:ext cx="1958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style are all steerable 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42329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single generated frame.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828800"/>
            <a:ext cx="3429000" cy="3429000"/>
            <a:chOff x="4381500" y="1828800"/>
            <a:chExt cx="3429000" cy="3429000"/>
          </a:xfrm>
        </p:grpSpPr>
        <p:sp>
          <p:nvSpPr>
            <p:cNvPr id="20" name="Rectangle 20"/>
            <p:cNvSpPr/>
            <p:nvPr/>
          </p:nvSpPr>
          <p:spPr>
            <a:xfrm>
              <a:off x="4381500" y="18288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FF7ED"/>
            </a:solidFill>
            <a:ln w="14288">
              <a:solidFill>
                <a:srgbClr val="FDBA7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4381500" y="18288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72000" y="2133600"/>
              <a:ext cx="457200" cy="457200"/>
            </a:xfrm>
            <a:prstGeom prst="ellipse">
              <a:avLst/>
            </a:prstGeom>
            <a:solidFill>
              <a:srgbClr val="FDBA74">
                <a:alpha val="5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1487" y="2244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1318" y="2260282"/>
              <a:ext cx="176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 adds time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79061" y="2817971"/>
              <a:ext cx="20249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A new </a:t>
              </a:r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temporal axis</a:t>
              </a: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9061" y="3084671"/>
              <a:ext cx="20121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motion patterns vary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9061" y="335137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enormously across clips.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80204" y="3775710"/>
              <a:ext cx="2150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every generated frame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80204" y="4004310"/>
              <a:ext cx="2096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must stay consistent with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80204" y="423291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its neighbouring frames.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828800"/>
            <a:ext cx="3429000" cy="3429000"/>
            <a:chOff x="8077200" y="1828800"/>
            <a:chExt cx="3429000" cy="3429000"/>
          </a:xfrm>
        </p:grpSpPr>
        <p:sp>
          <p:nvSpPr>
            <p:cNvPr id="32" name="Rectangle 32"/>
            <p:cNvSpPr/>
            <p:nvPr/>
          </p:nvSpPr>
          <p:spPr>
            <a:xfrm>
              <a:off x="8077200" y="18288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8077200" y="18288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267700" y="2133600"/>
              <a:ext cx="457200" cy="45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17187" y="2244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7018" y="2260282"/>
              <a:ext cx="1703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Controls don't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07018" y="2507932"/>
              <a:ext cx="1042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4761" y="2989421"/>
              <a:ext cx="2256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Reusing spatial controls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4761" y="3256121"/>
              <a:ext cx="20312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built for images gives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4761" y="3522821"/>
              <a:ext cx="1968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reliable handle</a:t>
              </a: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 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4761" y="3789521"/>
              <a:ext cx="1840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temporal dynamics.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904" y="4347210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controllable video stayed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904" y="4575810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open challenge.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47" name="cue_s02_c1_diffusion_models_made_image_generati" title="cue_s02_c1_diffusion_models_made_image_generati" descr="cue_s02_c1_diffusion_models_made_image_generati Diffusion models made image generation highly controllable, but video is much harder."/>
          <p:cNvSpPr/>
          <p:nvPr/>
        </p:nvSpPr>
        <p:spPr>
          <a:xfrm>
            <a:off x="686409" y="1829028"/>
            <a:ext cx="3428390" cy="3429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2_c2_video_adds_temporal_axis_motion" title="cue_s02_c2_video_adds_temporal_axis_motion" descr="cue_s02_c2_video_adds_temporal_axis_motion Video adds a temporal axis: motion patterns vary enormously across clips, and every frame must stay consistent with its neighbours."/>
          <p:cNvSpPr/>
          <p:nvPr/>
        </p:nvSpPr>
        <p:spPr>
          <a:xfrm>
            <a:off x="4381804" y="1829028"/>
            <a:ext cx="3428390" cy="3429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2_c3_reusing_spatial_controls_designed_im" title="cue_s02_c3_reusing_spatial_controls_designed_im" descr="cue_s02_c3_reusing_spatial_controls_designed_im Reusing the spatial controls designed for images gives no reliable handle on temporal dynamics, so controllable video synthesis stayed an open challenge."/>
          <p:cNvSpPr/>
          <p:nvPr/>
        </p:nvSpPr>
        <p:spPr>
          <a:xfrm>
            <a:off x="8077200" y="1829028"/>
            <a:ext cx="3428390" cy="3429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0445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 · 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699807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Give motion its own explicit signal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685800" y="1524000"/>
            <a:ext cx="6553200" cy="819150"/>
            <a:chOff x="685800" y="1524000"/>
            <a:chExt cx="65532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524000"/>
              <a:ext cx="6553200" cy="819150"/>
            </a:xfrm>
            <a:prstGeom prst="roundRect">
              <a:avLst>
                <a:gd name="adj" fmla="val 16279"/>
              </a:avLst>
            </a:prstGeom>
            <a:solidFill>
              <a:schemeClr val="accent1"/>
            </a:solidFill>
            <a:ln>
              <a:noFill/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43356" y="1710690"/>
              <a:ext cx="5522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Control the motion, not just the appearance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023" y="2053114"/>
              <a:ext cx="4490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A video is defined by how things move across frames.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2533650"/>
            <a:ext cx="3162300" cy="1596961"/>
            <a:chOff x="685800" y="2533650"/>
            <a:chExt cx="3162300" cy="1596961"/>
          </a:xfrm>
        </p:grpSpPr>
        <p:sp>
          <p:nvSpPr>
            <p:cNvPr id="11" name="Rectangle 11"/>
            <p:cNvSpPr/>
            <p:nvPr/>
          </p:nvSpPr>
          <p:spPr>
            <a:xfrm>
              <a:off x="685800" y="2533650"/>
              <a:ext cx="3162300" cy="1562100"/>
            </a:xfrm>
            <a:prstGeom prst="roundRect">
              <a:avLst>
                <a:gd name="adj" fmla="val 853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85800" y="2533650"/>
              <a:ext cx="76200" cy="1562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6785" y="2736056"/>
              <a:ext cx="10046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INSIGHT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2989421"/>
              <a:ext cx="15062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Motion vectors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3272314"/>
              <a:ext cx="1512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already live inside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3500914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compressed video to encode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3729514"/>
              <a:ext cx="2433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inter-frame change — cheap,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166" y="3925252"/>
              <a:ext cx="201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explicit temporal dynamics.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000500" y="2533650"/>
            <a:ext cx="3238500" cy="1596961"/>
            <a:chOff x="4000500" y="2533650"/>
            <a:chExt cx="3238500" cy="1596961"/>
          </a:xfrm>
        </p:grpSpPr>
        <p:sp>
          <p:nvSpPr>
            <p:cNvPr id="20" name="Rectangle 20"/>
            <p:cNvSpPr/>
            <p:nvPr/>
          </p:nvSpPr>
          <p:spPr>
            <a:xfrm>
              <a:off x="4000500" y="2533650"/>
              <a:ext cx="3238500" cy="1562100"/>
            </a:xfrm>
            <a:prstGeom prst="roundRect">
              <a:avLst>
                <a:gd name="adj" fmla="val 853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4000500" y="2533650"/>
              <a:ext cx="76200" cy="1562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61485" y="2736056"/>
              <a:ext cx="985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HANDLE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59961" y="2989421"/>
              <a:ext cx="153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control signal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0723" y="3272314"/>
              <a:ext cx="2164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Feed motion vectors in as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60723" y="3500914"/>
              <a:ext cx="2313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conditioning, and users can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60723" y="3729514"/>
              <a:ext cx="23469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prescribe how things move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1866" y="3925252"/>
              <a:ext cx="1862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— directly and predictably.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4305300"/>
            <a:ext cx="6553200" cy="952500"/>
            <a:chOff x="685800" y="4305300"/>
            <a:chExt cx="6553200" cy="952500"/>
          </a:xfrm>
        </p:grpSpPr>
        <p:sp>
          <p:nvSpPr>
            <p:cNvPr id="29" name="Rectangle 29"/>
            <p:cNvSpPr/>
            <p:nvPr/>
          </p:nvSpPr>
          <p:spPr>
            <a:xfrm>
              <a:off x="685800" y="4305300"/>
              <a:ext cx="6553200" cy="952500"/>
            </a:xfrm>
            <a:prstGeom prst="roundRect">
              <a:avLst>
                <a:gd name="adj" fmla="val 14000"/>
              </a:avLst>
            </a:prstGeom>
            <a:solidFill>
              <a:srgbClr val="FFF7ED"/>
            </a:solidFill>
            <a:ln w="14288">
              <a:solidFill>
                <a:srgbClr val="FDBA7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945261" y="4494371"/>
              <a:ext cx="5561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But</a:t>
              </a:r>
              <a:r>
                <a:rPr lang="en-US" sz="1420" dirty="0">
                  <a:solidFill>
                    <a:srgbClr val="7C2D12"/>
                  </a:solidFill>
                  <a:latin typeface="+mn-lt"/>
                  <a:ea typeface="+mn-ea"/>
                  <a:cs typeface="+mn-cs"/>
                </a:rPr>
                <a:t xml:space="preserve"> mixing motion vectors with sketches, depth and images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261" y="4742021"/>
              <a:ext cx="4279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C2D12"/>
                  </a:solidFill>
                  <a:latin typeface="+mn-lt"/>
                  <a:ea typeface="+mn-ea"/>
                  <a:cs typeface="+mn-cs"/>
                </a:rPr>
                <a:t xml:space="preserve">naively </a:t>
              </a:r>
              <a:r>
                <a:rPr lang="en-US" sz="1420" b="1" dirty="0">
                  <a:solidFill>
                    <a:srgbClr val="7C2D12"/>
                  </a:solidFill>
                  <a:latin typeface="+mn-lt"/>
                  <a:ea typeface="+mn-ea"/>
                  <a:cs typeface="+mn-cs"/>
                </a:rPr>
                <a:t>hurts frame-to-frame consistency</a:t>
              </a:r>
              <a:r>
                <a:rPr lang="en-US" sz="1420" dirty="0">
                  <a:solidFill>
                    <a:srgbClr val="7C2D12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5013960"/>
              <a:ext cx="4329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motivates one unified encoder for space and time.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38085" y="1593056"/>
            <a:ext cx="2703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EXAMPLES OF MOTION VECTORS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43800" y="1866900"/>
            <a:ext cx="3962400" cy="3390900"/>
            <a:chOff x="7543800" y="1866900"/>
            <a:chExt cx="3962400" cy="3390900"/>
          </a:xfrm>
        </p:grpSpPr>
        <p:sp>
          <p:nvSpPr>
            <p:cNvPr id="35" name="Rectangle 35"/>
            <p:cNvSpPr/>
            <p:nvPr/>
          </p:nvSpPr>
          <p:spPr>
            <a:xfrm>
              <a:off x="7543800" y="1866900"/>
              <a:ext cx="3962400" cy="3390900"/>
            </a:xfrm>
            <a:prstGeom prst="roundRect">
              <a:avLst>
                <a:gd name="adj" fmla="val 4494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6200" y="2463546"/>
              <a:ext cx="3657600" cy="1816608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148426" y="4755356"/>
              <a:ext cx="275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Per-pixel arrows encode how content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551" y="496490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moves between adjacent frames.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42" name="cue_s03_c1_control_video_you_must_control" title="cue_s03_c1_control_video_you_must_control" descr="cue_s03_c1_control_video_you_must_control To control a video, you must control its motion, not only its appearance."/>
          <p:cNvSpPr/>
          <p:nvPr/>
        </p:nvSpPr>
        <p:spPr>
          <a:xfrm>
            <a:off x="686409" y="1523847"/>
            <a:ext cx="6553200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3_c2_authors_insight_motion_vectors_compu" title="cue_s03_c2_authors_insight_motion_vectors_compu" descr="cue_s03_c2_authors_insight_motion_vectors_compu The authors' insight: motion vectors, computed inside compressed video to encode inter-frame change, are a cheap, explicit description of temporal dynamics."/>
          <p:cNvSpPr/>
          <p:nvPr/>
        </p:nvSpPr>
        <p:spPr>
          <a:xfrm>
            <a:off x="686409" y="2533345"/>
            <a:ext cx="3162604" cy="1597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3_c3_turning_them_control_signal_lets" title="cue_s03_c3_turning_them_control_signal_lets" descr="cue_s03_c3_turning_them_control_signal_lets Turning them into a control signal lets users prescribe how things move."/>
          <p:cNvSpPr/>
          <p:nvPr/>
        </p:nvSpPr>
        <p:spPr>
          <a:xfrm>
            <a:off x="4000195" y="2533345"/>
            <a:ext cx="3238195" cy="1597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3_c4_but_mixing_them_sketches_depth" title="cue_s03_c4_but_mixing_them_sketches_depth" descr="cue_s03_c4_but_mixing_them_sketches_depth But mixing them with sketches, depth, and images naively hurts consistency, motivating a unified encoder for space and time."/>
          <p:cNvSpPr/>
          <p:nvPr/>
        </p:nvSpPr>
        <p:spPr>
          <a:xfrm>
            <a:off x="686409" y="4305452"/>
            <a:ext cx="6553200" cy="9525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290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 · 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681381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What VideoComposer contributes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685800" y="1504950"/>
            <a:ext cx="10820400" cy="685800"/>
            <a:chOff x="685800" y="1504950"/>
            <a:chExt cx="10820400" cy="685800"/>
          </a:xfrm>
        </p:grpSpPr>
        <p:sp>
          <p:nvSpPr>
            <p:cNvPr id="7" name="Rectangle 7"/>
            <p:cNvSpPr/>
            <p:nvPr/>
          </p:nvSpPr>
          <p:spPr>
            <a:xfrm>
              <a:off x="685800" y="1504950"/>
              <a:ext cx="10820400" cy="685800"/>
            </a:xfrm>
            <a:prstGeom prst="roundRect">
              <a:avLst>
                <a:gd name="adj" fmla="val 19444"/>
              </a:avLst>
            </a:prstGeom>
            <a:solidFill>
              <a:srgbClr val="EEF2F7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43737" y="1642586"/>
              <a:ext cx="238324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contributions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927860"/>
              <a:ext cx="8224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model handles text · image · sketch · depth · mask · motion vectors · style, composed arbitrarily.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2381250"/>
            <a:ext cx="3429000" cy="2781300"/>
            <a:chOff x="685800" y="2381250"/>
            <a:chExt cx="3429000" cy="2781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381250"/>
              <a:ext cx="3429000" cy="2781300"/>
            </a:xfrm>
            <a:prstGeom prst="roundRect">
              <a:avLst>
                <a:gd name="adj" fmla="val 5479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85800" y="23812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5360" y="26098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2218" y="3174682"/>
              <a:ext cx="15627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Compositional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218" y="3441382"/>
              <a:ext cx="1264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framework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3843814"/>
              <a:ext cx="2224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user supplies any subset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123" y="40724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of textual, spatial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123" y="4301014"/>
              <a:ext cx="2158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temporal conditions — the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4123" y="4529614"/>
              <a:ext cx="214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model recomposes a video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4123" y="4758214"/>
              <a:ext cx="176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obeying all of them.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2381250"/>
            <a:ext cx="3429000" cy="2781300"/>
            <a:chOff x="4381500" y="2381250"/>
            <a:chExt cx="3429000" cy="27813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381250"/>
              <a:ext cx="3429000" cy="2781300"/>
            </a:xfrm>
            <a:prstGeom prst="roundRect">
              <a:avLst>
                <a:gd name="adj" fmla="val 5479"/>
              </a:avLst>
            </a:prstGeom>
            <a:solidFill>
              <a:srgbClr val="FFF7ED"/>
            </a:solidFill>
            <a:ln w="14288">
              <a:solidFill>
                <a:srgbClr val="FDBA7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381500" y="23812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71060" y="26098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DBA74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77918" y="3174682"/>
              <a:ext cx="2076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Motion vectors as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7918" y="3441382"/>
              <a:ext cx="19409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temporal control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9823" y="3843814"/>
              <a:ext cx="1759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Motion vectors from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9823" y="407241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compressed video become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9823" y="4301014"/>
              <a:ext cx="175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an </a:t>
              </a:r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explicit temporal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9823" y="4529614"/>
              <a:ext cx="122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control signal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9823" y="47582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for guiding dynamics.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77200" y="2381250"/>
            <a:ext cx="3429000" cy="2781300"/>
            <a:chOff x="8077200" y="2381250"/>
            <a:chExt cx="3429000" cy="2781300"/>
          </a:xfrm>
        </p:grpSpPr>
        <p:sp>
          <p:nvSpPr>
            <p:cNvPr id="33" name="Rectangle 33"/>
            <p:cNvSpPr/>
            <p:nvPr/>
          </p:nvSpPr>
          <p:spPr>
            <a:xfrm>
              <a:off x="8077200" y="2381250"/>
              <a:ext cx="3429000" cy="2781300"/>
            </a:xfrm>
            <a:prstGeom prst="roundRect">
              <a:avLst>
                <a:gd name="adj" fmla="val 5479"/>
              </a:avLst>
            </a:prstGeom>
            <a:solidFill>
              <a:srgbClr val="ECFDF5"/>
            </a:solidFill>
            <a:ln w="14288">
              <a:solidFill>
                <a:srgbClr val="A7F3D0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8077200" y="23812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6760" y="26098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A7F3D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3618" y="3174682"/>
              <a:ext cx="1451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STC-encoder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904" y="3489960"/>
              <a:ext cx="207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Spatio-Temporal Condition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523" y="3843814"/>
              <a:ext cx="2155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lightweight module that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523" y="4072414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turns every sequential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5523" y="4301014"/>
              <a:ext cx="1962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condition into a </a:t>
              </a:r>
              <a:r>
                <a:rPr lang="en-US" sz="12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shared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5523" y="4529614"/>
              <a:ext cx="1360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representation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523" y="47582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— boosting consistency.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46" name="cue_s04_c1_videocomposer_makes_three_contributi" title="cue_s04_c1_videocomposer_makes_three_contributi" descr="cue_s04_c1_videocomposer_makes_three_contributi VideoComposer makes three contributions."/>
          <p:cNvSpPr/>
          <p:nvPr/>
        </p:nvSpPr>
        <p:spPr>
          <a:xfrm>
            <a:off x="686409" y="1504645"/>
            <a:ext cx="10820400" cy="6858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4_c2_first_frames_video_generation_compos" title="cue_s04_c2_first_frames_video_generation_compos" descr="cue_s04_c2_first_frames_video_generation_compos First, it frames video generation as compositional: a user supplies any subset of textual, spatial, and temporal conditions, and the model recomposes a video obeying all of them."/>
          <p:cNvSpPr/>
          <p:nvPr/>
        </p:nvSpPr>
        <p:spPr>
          <a:xfrm>
            <a:off x="686409" y="2381097"/>
            <a:ext cx="3428390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4_c3_second_introduces_motion_vectors_com" title="cue_s04_c3_second_introduces_motion_vectors_com" descr="cue_s04_c3_second_introduces_motion_vectors_com Second, it introduces motion vectors from compressed video as an explicit temporal control signal."/>
          <p:cNvSpPr/>
          <p:nvPr/>
        </p:nvSpPr>
        <p:spPr>
          <a:xfrm>
            <a:off x="4381804" y="2381097"/>
            <a:ext cx="3428390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4_c4_third_proposes_spatio_temporal_condi" title="cue_s04_c4_third_proposes_spatio_temporal_condi" descr="cue_s04_c4_third_proposes_spatio_temporal_condi Third, it proposes the Spatio-Temporal Condition encoder, a lightweight module that turns every sequential condition into a shared representation while boosting temporal consistency."/>
          <p:cNvSpPr/>
          <p:nvPr/>
        </p:nvSpPr>
        <p:spPr>
          <a:xfrm>
            <a:off x="8077200" y="2381097"/>
            <a:ext cx="3428390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15334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 · 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43944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Inside VideoComposer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680085" y="1554956"/>
            <a:ext cx="20039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OVERALL ARCHITECTURE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5800" y="1790700"/>
            <a:ext cx="5905500" cy="3105150"/>
            <a:chOff x="685800" y="1790700"/>
            <a:chExt cx="5905500" cy="3105150"/>
          </a:xfrm>
        </p:grpSpPr>
        <p:sp>
          <p:nvSpPr>
            <p:cNvPr id="8" name="Rectangle 8"/>
            <p:cNvSpPr/>
            <p:nvPr/>
          </p:nvSpPr>
          <p:spPr>
            <a:xfrm>
              <a:off x="685800" y="1790700"/>
              <a:ext cx="5905500" cy="3105150"/>
            </a:xfrm>
            <a:prstGeom prst="roundRect">
              <a:avLst>
                <a:gd name="adj" fmla="val 4908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8233" y="1905000"/>
              <a:ext cx="5180634" cy="27241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743955" y="4676299"/>
              <a:ext cx="378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Decompose → STC-encode → fuse with noisy latent → denoise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4991100"/>
            <a:ext cx="5905500" cy="495300"/>
            <a:chOff x="685800" y="4991100"/>
            <a:chExt cx="5905500" cy="495300"/>
          </a:xfrm>
        </p:grpSpPr>
        <p:sp>
          <p:nvSpPr>
            <p:cNvPr id="12" name="Rectangle 12"/>
            <p:cNvSpPr/>
            <p:nvPr/>
          </p:nvSpPr>
          <p:spPr>
            <a:xfrm>
              <a:off x="685800" y="4991100"/>
              <a:ext cx="5905500" cy="495300"/>
            </a:xfrm>
            <a:prstGeom prst="roundRect">
              <a:avLst>
                <a:gd name="adj" fmla="val 23077"/>
              </a:avLst>
            </a:prstGeom>
            <a:solidFill>
              <a:schemeClr val="dk1"/>
            </a:solidFill>
            <a:ln>
              <a:noFill/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869061" y="5142071"/>
              <a:ext cx="1255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5838" y="5246370"/>
              <a:ext cx="3167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VLDM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511" y="514207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= 𝔼 [ ‖ ε − 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38438" y="5246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12161" y="5142071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( 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43238" y="5246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97911" y="5142071"/>
              <a:ext cx="12474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, c, t ) ‖²₂ 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69975" y="5190649"/>
              <a:ext cx="1335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latent denoising loss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19900" y="1504950"/>
            <a:ext cx="4686300" cy="914400"/>
            <a:chOff x="6819900" y="1504950"/>
            <a:chExt cx="4686300" cy="914400"/>
          </a:xfrm>
        </p:grpSpPr>
        <p:sp>
          <p:nvSpPr>
            <p:cNvPr id="22" name="Rectangle 22"/>
            <p:cNvSpPr/>
            <p:nvPr/>
          </p:nvSpPr>
          <p:spPr>
            <a:xfrm>
              <a:off x="6819900" y="1504950"/>
              <a:ext cx="4686300" cy="914400"/>
            </a:xfrm>
            <a:prstGeom prst="roundRect">
              <a:avLst>
                <a:gd name="adj" fmla="val 14583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819900" y="1504950"/>
              <a:ext cx="76200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9361" y="1636871"/>
              <a:ext cx="25799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Latent diffusion backbone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0504" y="1908810"/>
              <a:ext cx="3555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Denoises video in a compressed latent space;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0504" y="2137410"/>
              <a:ext cx="3797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each video splits into </a:t>
              </a:r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three condition families</a:t>
              </a: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19900" y="2533650"/>
            <a:ext cx="4686300" cy="1343406"/>
            <a:chOff x="6819900" y="2533650"/>
            <a:chExt cx="4686300" cy="1343406"/>
          </a:xfrm>
        </p:grpSpPr>
        <p:sp>
          <p:nvSpPr>
            <p:cNvPr id="28" name="Rectangle 28"/>
            <p:cNvSpPr/>
            <p:nvPr/>
          </p:nvSpPr>
          <p:spPr>
            <a:xfrm>
              <a:off x="6819900" y="2533650"/>
              <a:ext cx="4686300" cy="1333500"/>
            </a:xfrm>
            <a:prstGeom prst="roundRect">
              <a:avLst>
                <a:gd name="adj" fmla="val 10000"/>
              </a:avLst>
            </a:prstGeom>
            <a:solidFill>
              <a:srgbClr val="ECFDF5"/>
            </a:solidFill>
            <a:ln w="14288">
              <a:solidFill>
                <a:srgbClr val="A7F3D0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819900" y="2533650"/>
              <a:ext cx="76200" cy="13335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79361" y="2665571"/>
              <a:ext cx="23705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shared STC-encoder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0504" y="2937510"/>
              <a:ext cx="4032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Motion vectors, depth, masks &amp; sketches all enter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0504" y="31470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one module: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0504" y="3413760"/>
              <a:ext cx="3978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334155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2 convolutions + pooling → local spatial structure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80504" y="3642360"/>
              <a:ext cx="3822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334155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temporal Transformer → change across frames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19900" y="3981450"/>
            <a:ext cx="5852016" cy="704850"/>
            <a:chOff x="6819900" y="3981450"/>
            <a:chExt cx="5852016" cy="704850"/>
          </a:xfrm>
        </p:grpSpPr>
        <p:sp>
          <p:nvSpPr>
            <p:cNvPr id="36" name="Rectangle 36"/>
            <p:cNvSpPr/>
            <p:nvPr/>
          </p:nvSpPr>
          <p:spPr>
            <a:xfrm>
              <a:off x="6819900" y="3981450"/>
              <a:ext cx="4686300" cy="704850"/>
            </a:xfrm>
            <a:prstGeom prst="roundRect">
              <a:avLst>
                <a:gd name="adj" fmla="val 18919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6819900" y="3981450"/>
              <a:ext cx="7620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79361" y="4094321"/>
              <a:ext cx="632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Fusion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80504" y="4366260"/>
              <a:ext cx="5591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Sum &amp; concat with the noisy latent; text + style via </a:t>
              </a:r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cross-attention</a:t>
              </a: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19900" y="4800600"/>
            <a:ext cx="5211531" cy="628650"/>
            <a:chOff x="6819900" y="4800600"/>
            <a:chExt cx="5211531" cy="628650"/>
          </a:xfrm>
        </p:grpSpPr>
        <p:sp>
          <p:nvSpPr>
            <p:cNvPr id="41" name="Rectangle 41"/>
            <p:cNvSpPr/>
            <p:nvPr/>
          </p:nvSpPr>
          <p:spPr>
            <a:xfrm>
              <a:off x="6819900" y="4800600"/>
              <a:ext cx="4686300" cy="628650"/>
            </a:xfrm>
            <a:prstGeom prst="roundRect">
              <a:avLst>
                <a:gd name="adj" fmla="val 21212"/>
              </a:avLst>
            </a:prstGeom>
            <a:solidFill>
              <a:srgbClr val="EEF2F7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6819900" y="4800600"/>
              <a:ext cx="76200" cy="62865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9361" y="4913471"/>
              <a:ext cx="19779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Training &amp; inference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0504" y="5166360"/>
              <a:ext cx="4950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Two-stage training; DDIM sampling + classifier-free guidance.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48" name="cue_s05_c1_videocomposer_latent_diffusion_denoi" title="cue_s05_c1_videocomposer_latent_diffusion_denoi" descr="cue_s05_c1_videocomposer_latent_diffusion_denoi VideoComposer is a latent diffusion model that denoises video in a compressed latent space. Each training video is decomposed into three families of conditions, textual, spatial, and temporal, combined freely."/>
          <p:cNvSpPr/>
          <p:nvPr/>
        </p:nvSpPr>
        <p:spPr>
          <a:xfrm>
            <a:off x="6820204" y="1504645"/>
            <a:ext cx="4686604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2_sequential_conditions_like_motion_ve" title="cue_s05_c2_sequential_conditions_like_motion_ve" descr="cue_s05_c2_sequential_conditions_like_motion_ve Sequential conditions like motion vectors, depth maps, masks, and sketches all pass through one shared STC-encoder: two convolutions and pooling capture local spatial structure, then a temporal Transformer models change across frames."/>
          <p:cNvSpPr/>
          <p:nvPr/>
        </p:nvSpPr>
        <p:spPr>
          <a:xfrm>
            <a:off x="6820204" y="2533345"/>
            <a:ext cx="4686604" cy="134348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3_encoded_conditions_summed_concatenat" title="cue_s05_c3_encoded_conditions_summed_concatenat" descr="cue_s05_c3_encoded_conditions_summed_concatenat Encoded conditions are summed and concatenated with the noisy latent, while text and style enter through cross-attention."/>
          <p:cNvSpPr/>
          <p:nvPr/>
        </p:nvSpPr>
        <p:spPr>
          <a:xfrm>
            <a:off x="6820204" y="3981754"/>
            <a:ext cx="5371795" cy="705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4_runs_two_stages_inference_ddim" title="cue_s05_c4_runs_two_stages_inference_ddim" descr="cue_s05_c4_runs_two_stages_inference_ddim Training runs in two stages, and inference uses DDIM sampling with classifier-free guidance."/>
          <p:cNvSpPr/>
          <p:nvPr/>
        </p:nvSpPr>
        <p:spPr>
          <a:xfrm>
            <a:off x="6820204" y="4800600"/>
            <a:ext cx="4686604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8212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06 · DATA &amp;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72317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Trained public, evaluated standard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20" name="Group 20"/>
          <p:cNvGrpSpPr/>
          <p:nvPr/>
        </p:nvGrpSpPr>
        <p:grpSpPr>
          <a:xfrm>
            <a:off x="685800" y="1638300"/>
            <a:ext cx="5219700" cy="3619500"/>
            <a:chOff x="685800" y="1638300"/>
            <a:chExt cx="5219700" cy="3619500"/>
          </a:xfrm>
        </p:grpSpPr>
        <p:sp>
          <p:nvSpPr>
            <p:cNvPr id="7" name="Rectangle 7"/>
            <p:cNvSpPr/>
            <p:nvPr/>
          </p:nvSpPr>
          <p:spPr>
            <a:xfrm>
              <a:off x="685800" y="1638300"/>
              <a:ext cx="52197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52197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4885" y="1993106"/>
              <a:ext cx="28550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TRAINING · TWO PUBLIC DATASETS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0600" y="2324100"/>
              <a:ext cx="4610100" cy="12573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rgbClr val="DBEA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9294" y="2513648"/>
              <a:ext cx="16149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WebVid-10M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2342" y="2883218"/>
              <a:ext cx="2483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≈ 10.3M video–caption pairs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3104" y="3166110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scraped from the web — the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3104" y="335661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source of temporal dynamics.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90600" y="3733800"/>
              <a:ext cx="4610100" cy="12573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rgbClr val="E0F2F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09294" y="3923348"/>
              <a:ext cx="16652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LAION-400M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2342" y="4292918"/>
              <a:ext cx="300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CLIP-filtered image–caption pairs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3104" y="457581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added for visual quality 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3104" y="476631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per-frame appearance.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38300"/>
            <a:ext cx="5219700" cy="3619500"/>
            <a:chOff x="6286500" y="1638300"/>
            <a:chExt cx="5219700" cy="36195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638300"/>
              <a:ext cx="52197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6286500" y="1638300"/>
              <a:ext cx="52197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5585" y="1993106"/>
              <a:ext cx="1019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EVALUATION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91300" y="2324100"/>
              <a:ext cx="4610100" cy="12573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0756" y="2529840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MSR-VTT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3042" y="2864168"/>
              <a:ext cx="3045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Text-to-video generation quality,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3042" y="3130868"/>
              <a:ext cx="2037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measured with </a:t>
              </a:r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FVD</a:t>
              </a:r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 and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13042" y="3340418"/>
              <a:ext cx="2454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CLIP similarity (CLIPSIM)</a:t>
              </a:r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91300" y="3733800"/>
              <a:ext cx="4610100" cy="12573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rgbClr val="FDBA7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10756" y="3939540"/>
              <a:ext cx="2709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Motion controllability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13042" y="4292918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1,000 caption–video pairs, scored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13042" y="4559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with a dedicated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3042" y="47501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motion-control error.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37" name="cue_s06_c1_videocomposer_trained_two_public_dat" title="cue_s06_c1_videocomposer_trained_two_public_dat" descr="cue_s06_c1_videocomposer_trained_two_public_dat VideoComposer is trained on two public datasets: WebVid-10M, about ten million video-caption pairs from the web, and LAION-400M, CLIP-filtered image-caption pairs for visual quality."/>
          <p:cNvSpPr/>
          <p:nvPr/>
        </p:nvSpPr>
        <p:spPr>
          <a:xfrm>
            <a:off x="686409" y="1638376"/>
            <a:ext cx="5219395" cy="36196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6_c2_evaluation_authors_report_text_to_vi" title="cue_s06_c2_evaluation_authors_report_text_to_vi" descr="cue_s06_c2_evaluation_authors_report_text_to_vi For evaluation, the authors report text-to-video on MSR-VTT using Fréchet Video Distance and CLIP similarity, and measure motion controllability on a thousand caption-video pairs with a dedicated motion-control error."/>
          <p:cNvSpPr/>
          <p:nvPr/>
        </p:nvSpPr>
        <p:spPr>
          <a:xfrm>
            <a:off x="6286195" y="1638376"/>
            <a:ext cx="5219395" cy="36196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19739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 · 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595997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Control at no cost to quality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685800" y="1638300"/>
            <a:ext cx="5410200" cy="1428750"/>
            <a:chOff x="685800" y="16383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685800" y="1638300"/>
              <a:ext cx="5410200" cy="1428750"/>
            </a:xfrm>
            <a:prstGeom prst="roundRect">
              <a:avLst>
                <a:gd name="adj" fmla="val 1066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08685" y="1821656"/>
              <a:ext cx="1968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MSR-VTT · ZERO-SHOT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057400"/>
              <a:ext cx="2438400" cy="819150"/>
            </a:xfrm>
            <a:prstGeom prst="roundRect">
              <a:avLst>
                <a:gd name="adj" fmla="val 13953"/>
              </a:avLst>
            </a:prstGeom>
            <a:solidFill>
              <a:schemeClr val="lt1"/>
            </a:solidFill>
            <a:ln w="14288">
              <a:solidFill>
                <a:srgbClr val="DBEAF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13754" y="214217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580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6965" y="2640806"/>
              <a:ext cx="1573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FVD · lower is better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2057400"/>
              <a:ext cx="2438400" cy="819150"/>
            </a:xfrm>
            <a:prstGeom prst="roundRect">
              <a:avLst>
                <a:gd name="adj" fmla="val 13953"/>
              </a:avLst>
            </a:prstGeom>
            <a:solidFill>
              <a:schemeClr val="lt1"/>
            </a:solidFill>
            <a:ln w="14288">
              <a:solidFill>
                <a:srgbClr val="E0F2F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26033" y="2142172"/>
              <a:ext cx="16443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4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0.2932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2365" y="2640806"/>
              <a:ext cx="1931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CLIPSIM · higher is better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3219450"/>
            <a:ext cx="5863889" cy="2019300"/>
            <a:chOff x="685800" y="3219450"/>
            <a:chExt cx="5863889" cy="2019300"/>
          </a:xfrm>
        </p:grpSpPr>
        <p:sp>
          <p:nvSpPr>
            <p:cNvPr id="16" name="Rectangle 16"/>
            <p:cNvSpPr/>
            <p:nvPr/>
          </p:nvSpPr>
          <p:spPr>
            <a:xfrm>
              <a:off x="685800" y="3219450"/>
              <a:ext cx="5410200" cy="2019300"/>
            </a:xfrm>
            <a:prstGeom prst="roundRect">
              <a:avLst>
                <a:gd name="adj" fmla="val 7547"/>
              </a:avLst>
            </a:prstGeom>
            <a:solidFill>
              <a:srgbClr val="ECFDF5"/>
            </a:solidFill>
            <a:ln w="14288">
              <a:solidFill>
                <a:srgbClr val="A7F3D0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907161" y="3389471"/>
              <a:ext cx="4688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Better than its own text-to-video pre-training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685" y="3650456"/>
              <a:ext cx="5249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Compositional training does not hurt raw quality (FVD, lower = better)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685" y="4069556"/>
              <a:ext cx="1868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Stage-1 T2V pre-training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14400" y="4267200"/>
              <a:ext cx="4381500" cy="247650"/>
            </a:xfrm>
            <a:prstGeom prst="roundRect">
              <a:avLst>
                <a:gd name="adj" fmla="val 23077"/>
              </a:avLst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85054" y="43186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803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685" y="4641056"/>
              <a:ext cx="1397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Full VideoComposer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4838700"/>
              <a:ext cx="3162300" cy="247650"/>
            </a:xfrm>
            <a:prstGeom prst="roundRect">
              <a:avLst>
                <a:gd name="adj" fmla="val 23077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65854" y="48901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580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4069556"/>
              <a:ext cx="2078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competitive with SOTA T2V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62700" y="1638300"/>
            <a:ext cx="5143500" cy="3600450"/>
            <a:chOff x="6362700" y="1638300"/>
            <a:chExt cx="5143500" cy="3600450"/>
          </a:xfrm>
        </p:grpSpPr>
        <p:sp>
          <p:nvSpPr>
            <p:cNvPr id="27" name="Rectangle 27"/>
            <p:cNvSpPr/>
            <p:nvPr/>
          </p:nvSpPr>
          <p:spPr>
            <a:xfrm>
              <a:off x="6362700" y="1638300"/>
              <a:ext cx="5143500" cy="3600450"/>
            </a:xfrm>
            <a:prstGeom prst="roundRect">
              <a:avLst>
                <a:gd name="adj" fmla="val 42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6362700" y="1638300"/>
              <a:ext cx="51435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4061" y="1884521"/>
              <a:ext cx="3763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Videos faithfully follow the conditions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5295" y="2171700"/>
              <a:ext cx="3578311" cy="264795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6580318" y="4973002"/>
              <a:ext cx="47082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Compositional image-to-video: outputs track the supplied controls.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35" name="cue_s07_c1_msr_vtt_videocomposer_achieves_chet" title="cue_s07_c1_msr_vtt_videocomposer_achieves_chet" descr="cue_s07_c1_msr_vtt_videocomposer_achieves_chet On MSR-VTT, VideoComposer achieves a Fréchet Video Distance of five hundred eighty and a CLIP similarity of zero point two nine three two, zero-shot."/>
          <p:cNvSpPr/>
          <p:nvPr/>
        </p:nvSpPr>
        <p:spPr>
          <a:xfrm>
            <a:off x="686409" y="1638376"/>
            <a:ext cx="540959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7_c2_competitive_leading_text_to_video_sy" title="cue_s07_c2_competitive_leading_text_to_video_sy" descr="cue_s07_c2_competitive_leading_text_to_video_sy That is competitive with leading text-to-video systems, and it improves over the model's first-stage pre-training, which scored eight hundred three."/>
          <p:cNvSpPr/>
          <p:nvPr/>
        </p:nvSpPr>
        <p:spPr>
          <a:xfrm>
            <a:off x="686409" y="3219145"/>
            <a:ext cx="5864352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7_c3_adding_compositional_multi_condition" title="cue_s07_c3_adding_compositional_multi_condition" descr="cue_s07_c3_adding_compositional_multi_condition So adding compositional, multi-condition control costs nothing in quality, while videos follow the sketches, depth, motion, and styles users provide."/>
          <p:cNvSpPr/>
          <p:nvPr/>
        </p:nvSpPr>
        <p:spPr>
          <a:xfrm>
            <a:off x="6363004" y="1638376"/>
            <a:ext cx="5143804" cy="36004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5354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08 · 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736073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Where does the control come from?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685800" y="1504950"/>
            <a:ext cx="10820400" cy="571500"/>
            <a:chOff x="685800" y="1504950"/>
            <a:chExt cx="10820400" cy="571500"/>
          </a:xfrm>
        </p:grpSpPr>
        <p:sp>
          <p:nvSpPr>
            <p:cNvPr id="7" name="Rectangle 7"/>
            <p:cNvSpPr/>
            <p:nvPr/>
          </p:nvSpPr>
          <p:spPr>
            <a:xfrm>
              <a:off x="685800" y="1504950"/>
              <a:ext cx="10820400" cy="571500"/>
            </a:xfrm>
            <a:prstGeom prst="roundRect">
              <a:avLst>
                <a:gd name="adj" fmla="val 23333"/>
              </a:avLst>
            </a:prstGeom>
            <a:solidFill>
              <a:srgbClr val="EEF2F7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44880" y="1590675"/>
              <a:ext cx="4198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Isolating the source of temporal control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785" y="1840706"/>
              <a:ext cx="57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Metric: motion-control error on 1,000 caption–video pairs — lower is better.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2228850"/>
            <a:ext cx="5410200" cy="876300"/>
            <a:chOff x="685800" y="2228850"/>
            <a:chExt cx="5410200" cy="876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28850"/>
              <a:ext cx="5410200" cy="8763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7542" y="2387918"/>
              <a:ext cx="1032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① Text only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67000"/>
              <a:ext cx="3429000" cy="285750"/>
            </a:xfrm>
            <a:prstGeom prst="roundRect">
              <a:avLst>
                <a:gd name="adj" fmla="val 2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67606" y="26822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4.03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86897" y="2420302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baseline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3219450"/>
            <a:ext cx="5410200" cy="1676400"/>
            <a:chOff x="685800" y="3219450"/>
            <a:chExt cx="5410200" cy="1676400"/>
          </a:xfrm>
        </p:grpSpPr>
        <p:sp>
          <p:nvSpPr>
            <p:cNvPr id="17" name="Rectangle 17"/>
            <p:cNvSpPr/>
            <p:nvPr/>
          </p:nvSpPr>
          <p:spPr>
            <a:xfrm>
              <a:off x="685800" y="3219450"/>
              <a:ext cx="5410200" cy="1676400"/>
            </a:xfrm>
            <a:prstGeom prst="roundRect">
              <a:avLst>
                <a:gd name="adj" fmla="val 7955"/>
              </a:avLst>
            </a:prstGeom>
            <a:solidFill>
              <a:srgbClr val="ECFDF5"/>
            </a:solidFill>
            <a:ln w="14288">
              <a:solidFill>
                <a:srgbClr val="A7F3D0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907542" y="3397568"/>
              <a:ext cx="1757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+ Motion vectors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3657600"/>
              <a:ext cx="2266950" cy="2857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05556" y="36728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2.67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9451" y="37538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−1.36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4159568"/>
              <a:ext cx="1517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+ STC-encoder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4419600"/>
              <a:ext cx="1857375" cy="285750"/>
            </a:xfrm>
            <a:prstGeom prst="roundRect">
              <a:avLst>
                <a:gd name="adj" fmla="val 2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95981" y="44348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2.18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27194" y="45158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best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5010150"/>
            <a:ext cx="5410200" cy="562356"/>
            <a:chOff x="685800" y="5010150"/>
            <a:chExt cx="5410200" cy="562356"/>
          </a:xfrm>
        </p:grpSpPr>
        <p:sp>
          <p:nvSpPr>
            <p:cNvPr id="27" name="Rectangle 27"/>
            <p:cNvSpPr/>
            <p:nvPr/>
          </p:nvSpPr>
          <p:spPr>
            <a:xfrm>
              <a:off x="685800" y="5010150"/>
              <a:ext cx="54102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08304" y="5128260"/>
              <a:ext cx="4569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Both matter:</a:t>
              </a:r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motion vectors supply the temporal signal,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5337810"/>
              <a:ext cx="4229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and the STC-encoder makes the model actually use it.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547485" y="2278856"/>
            <a:ext cx="19537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QUALITATIVE ABLATION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519782" y="2533650"/>
            <a:ext cx="5019837" cy="2362200"/>
            <a:chOff x="6519782" y="2533650"/>
            <a:chExt cx="5019837" cy="2362200"/>
          </a:xfrm>
        </p:grpSpPr>
        <p:sp>
          <p:nvSpPr>
            <p:cNvPr id="32" name="Rectangle 32"/>
            <p:cNvSpPr/>
            <p:nvPr/>
          </p:nvSpPr>
          <p:spPr>
            <a:xfrm>
              <a:off x="6553200" y="2533650"/>
              <a:ext cx="4953000" cy="2362200"/>
            </a:xfrm>
            <a:prstGeom prst="roundRect">
              <a:avLst>
                <a:gd name="adj" fmla="val 645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5600" y="2857500"/>
              <a:ext cx="4648200" cy="16002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6519782" y="4611052"/>
              <a:ext cx="501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Without the STC-encoder, temporal structure and consistency degrade.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38" name="cue_s08_c1_ablations_isolate_where_control_orig" title="cue_s08_c1_ablations_isolate_where_control_orig" descr="cue_s08_c1_ablations_isolate_where_control_orig The ablations isolate where control originates."/>
          <p:cNvSpPr/>
          <p:nvPr/>
        </p:nvSpPr>
        <p:spPr>
          <a:xfrm>
            <a:off x="686409" y="1504645"/>
            <a:ext cx="108204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8_c2_only_text_gives_motion_control_error" title="cue_s08_c2_only_text_gives_motion_control_error" descr="cue_s08_c2_only_text_gives_motion_control_error Using only text gives a motion-control error of four point zero three."/>
          <p:cNvSpPr/>
          <p:nvPr/>
        </p:nvSpPr>
        <p:spPr>
          <a:xfrm>
            <a:off x="686409" y="2228850"/>
            <a:ext cx="5409590" cy="876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8_c3_adding_motion_vectors_temporal_condi" title="cue_s08_c3_adding_motion_vectors_temporal_condi" descr="cue_s08_c3_adding_motion_vectors_temporal_condi Adding motion vectors as a temporal condition drops it to two point six seven, and enabling the Spatio-Temporal Condition encoder lowers it to two point one eight."/>
          <p:cNvSpPr/>
          <p:nvPr/>
        </p:nvSpPr>
        <p:spPr>
          <a:xfrm>
            <a:off x="686409" y="3219145"/>
            <a:ext cx="540959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8_c4_both_matter_motion_vectors_supply" title="cue_s08_c4_both_matter_motion_vectors_supply" descr="cue_s08_c4_both_matter_motion_vectors_supply Both matter: motion vectors supply the signal, and the STC-encoder makes the model use it."/>
          <p:cNvSpPr/>
          <p:nvPr/>
        </p:nvSpPr>
        <p:spPr>
          <a:xfrm>
            <a:off x="686409" y="5010454"/>
            <a:ext cx="5409590" cy="56235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28212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09 · 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48160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impact, in numbers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685800" y="1504950"/>
            <a:ext cx="10820400" cy="552450"/>
            <a:chOff x="685800" y="1504950"/>
            <a:chExt cx="10820400" cy="552450"/>
          </a:xfrm>
        </p:grpSpPr>
        <p:sp>
          <p:nvSpPr>
            <p:cNvPr id="7" name="Rectangle 7"/>
            <p:cNvSpPr/>
            <p:nvPr/>
          </p:nvSpPr>
          <p:spPr>
            <a:xfrm>
              <a:off x="685800" y="1504950"/>
              <a:ext cx="10820400" cy="552450"/>
            </a:xfrm>
            <a:prstGeom prst="roundRect">
              <a:avLst>
                <a:gd name="adj" fmla="val 24138"/>
              </a:avLst>
            </a:prstGeom>
            <a:solidFill>
              <a:srgbClr val="EEF2F7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44880" y="1685925"/>
              <a:ext cx="8821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few numbers capture the impact of compositional, motion-aware video generation.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2247900"/>
            <a:ext cx="3429000" cy="2895600"/>
            <a:chOff x="685800" y="2247900"/>
            <a:chExt cx="3429000" cy="28956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47900"/>
              <a:ext cx="3429000" cy="2895600"/>
            </a:xfrm>
            <a:prstGeom prst="roundRect">
              <a:avLst>
                <a:gd name="adj" fmla="val 5263"/>
              </a:avLst>
            </a:prstGeom>
            <a:solidFill>
              <a:schemeClr val="accent5"/>
            </a:solidFill>
            <a:ln w="14288">
              <a:solidFill>
                <a:srgbClr val="DBEAFE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85800" y="22479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4885" y="2602706"/>
              <a:ext cx="1687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MSR-VTT · QUALITY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16547" y="2927985"/>
              <a:ext cx="136750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7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580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8053" y="3699510"/>
              <a:ext cx="1324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FVD (zero-shot)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143000" y="40576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3880" y="4215765"/>
              <a:ext cx="1572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0.2932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3760" y="4709160"/>
              <a:ext cx="1153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CLIP similarity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2247900"/>
            <a:ext cx="3429000" cy="2895600"/>
            <a:chOff x="4381500" y="2247900"/>
            <a:chExt cx="3429000" cy="2895600"/>
          </a:xfrm>
        </p:grpSpPr>
        <p:sp>
          <p:nvSpPr>
            <p:cNvPr id="19" name="Rectangle 19"/>
            <p:cNvSpPr/>
            <p:nvPr/>
          </p:nvSpPr>
          <p:spPr>
            <a:xfrm>
              <a:off x="4381500" y="2247900"/>
              <a:ext cx="3429000" cy="2895600"/>
            </a:xfrm>
            <a:prstGeom prst="roundRect">
              <a:avLst>
                <a:gd name="adj" fmla="val 5263"/>
              </a:avLst>
            </a:prstGeom>
            <a:solidFill>
              <a:srgbClr val="ECFDF5"/>
            </a:solidFill>
            <a:ln w="14288">
              <a:solidFill>
                <a:srgbClr val="A7F3D0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4381500" y="22479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80585" y="2602706"/>
              <a:ext cx="2171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MOTION-CONTROL ERROR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0679" y="2966085"/>
              <a:ext cx="181064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7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2.18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49984" y="3737610"/>
              <a:ext cx="1492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full VideoComposer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838700" y="40957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rgbClr val="A7F3D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16207" y="4336732"/>
              <a:ext cx="1159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from 4.03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86401" y="467106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text-only baseline · 46% lower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77200" y="2247900"/>
            <a:ext cx="3429000" cy="2895600"/>
            <a:chOff x="8077200" y="2247900"/>
            <a:chExt cx="3429000" cy="2895600"/>
          </a:xfrm>
        </p:grpSpPr>
        <p:sp>
          <p:nvSpPr>
            <p:cNvPr id="28" name="Rectangle 28"/>
            <p:cNvSpPr/>
            <p:nvPr/>
          </p:nvSpPr>
          <p:spPr>
            <a:xfrm>
              <a:off x="8077200" y="2247900"/>
              <a:ext cx="3429000" cy="2895600"/>
            </a:xfrm>
            <a:prstGeom prst="roundRect">
              <a:avLst>
                <a:gd name="adj" fmla="val 5263"/>
              </a:avLst>
            </a:prstGeom>
            <a:solidFill>
              <a:srgbClr val="FFF7ED"/>
            </a:solidFill>
            <a:ln w="14288">
              <a:solidFill>
                <a:srgbClr val="FDBA7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8077200" y="224790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6285" y="2602706"/>
              <a:ext cx="1210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TRAINING DATA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1082" y="28136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79814" y="3585210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public datasets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534400" y="39433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4288">
              <a:solidFill>
                <a:srgbClr val="FDBA7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08462" y="4127182"/>
              <a:ext cx="13664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WebVid-10M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25557" y="4431506"/>
              <a:ext cx="19322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10.3M video–caption pairs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2418" y="4698682"/>
              <a:ext cx="16185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LAION-400M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80847" y="6562249"/>
            <a:ext cx="19352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40" name="cue_s09_c1_few_numbers_capture_impact" title="cue_s09_c1_few_numbers_capture_impact" descr="cue_s09_c1_few_numbers_capture_impact A few numbers capture the impact."/>
          <p:cNvSpPr/>
          <p:nvPr/>
        </p:nvSpPr>
        <p:spPr>
          <a:xfrm>
            <a:off x="686409" y="1504645"/>
            <a:ext cx="108204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9_c2_msr_vtt_videocomposer_scores_chet_vi" title="cue_s09_c2_msr_vtt_videocomposer_scores_chet_vi" descr="cue_s09_c2_msr_vtt_videocomposer_scores_chet_vi On MSR-VTT, VideoComposer scores a Fréchet Video Distance of five hundred eighty and a CLIP similarity of zero point two nine three two."/>
          <p:cNvSpPr/>
          <p:nvPr/>
        </p:nvSpPr>
        <p:spPr>
          <a:xfrm>
            <a:off x="686409" y="2248052"/>
            <a:ext cx="3428390" cy="28954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9_c3_its_motion_control_error_falls_two" title="cue_s09_c3_its_motion_control_error_falls_two" descr="cue_s09_c3_its_motion_control_error_falls_two Its motion-control error falls to two point one eight, versus four point zero three for a text-only baseline."/>
          <p:cNvSpPr/>
          <p:nvPr/>
        </p:nvSpPr>
        <p:spPr>
          <a:xfrm>
            <a:off x="4381804" y="2248052"/>
            <a:ext cx="3428390" cy="28954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9_c4_all_learned_two_datasets_webvid_10m" title="cue_s09_c4_all_learned_two_datasets_webvid_10m" descr="cue_s09_c4_all_learned_two_datasets_webvid_10m And all is learned from two datasets, WebVid-10M and LAION-400M."/>
          <p:cNvSpPr/>
          <p:nvPr/>
        </p:nvSpPr>
        <p:spPr>
          <a:xfrm>
            <a:off x="8077200" y="2248052"/>
            <a:ext cx="3428390" cy="28954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78942" y="482918"/>
            <a:ext cx="17788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10 · 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5306" y="499110"/>
            <a:ext cx="1226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VideoComposer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723900"/>
            <a:ext cx="738043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Motion becomes a control dimension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57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85800" y="1504950"/>
            <a:ext cx="10820400" cy="1460373"/>
            <a:chOff x="685800" y="1504950"/>
            <a:chExt cx="10820400" cy="1460373"/>
          </a:xfrm>
        </p:grpSpPr>
        <p:sp>
          <p:nvSpPr>
            <p:cNvPr id="7" name="Rectangle 7"/>
            <p:cNvSpPr/>
            <p:nvPr/>
          </p:nvSpPr>
          <p:spPr>
            <a:xfrm>
              <a:off x="685800" y="1504950"/>
              <a:ext cx="10820400" cy="1428750"/>
            </a:xfrm>
            <a:prstGeom prst="roundRect">
              <a:avLst>
                <a:gd name="adj" fmla="val 10667"/>
              </a:avLst>
            </a:prstGeom>
            <a:gradFill>
              <a:gsLst>
                <a:gs pos="0">
                  <a:srgbClr val="1D4ED8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984885" y="1897856"/>
              <a:ext cx="2164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BFDBFE"/>
                  </a:solidFill>
                  <a:latin typeface="+mn-lt"/>
                  <a:ea typeface="+mn-ea"/>
                  <a:cs typeface="+mn-cs"/>
                </a:rPr>
                <a:t>THE LASTING TAKEAWAY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9932" y="2211705"/>
              <a:ext cx="66360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Treat a video as a composition of conditions 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9932" y="2554605"/>
              <a:ext cx="5631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and give motion its own explicit signal.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3124200"/>
            <a:ext cx="5905500" cy="2473928"/>
            <a:chOff x="685800" y="3124200"/>
            <a:chExt cx="5905500" cy="2473928"/>
          </a:xfrm>
        </p:grpSpPr>
        <p:sp>
          <p:nvSpPr>
            <p:cNvPr id="12" name="Rectangle 12"/>
            <p:cNvSpPr/>
            <p:nvPr/>
          </p:nvSpPr>
          <p:spPr>
            <a:xfrm>
              <a:off x="685800" y="3124200"/>
              <a:ext cx="5905500" cy="24384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685800" y="3124200"/>
              <a:ext cx="76200" cy="2438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361" y="3332321"/>
              <a:ext cx="3771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Compressed-video </a:t>
              </a:r>
              <a:r>
                <a:rPr lang="en-US" sz="14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motion vectors</a:t>
              </a: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 + 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361" y="3579971"/>
              <a:ext cx="4843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STC-encoder</a:t>
              </a: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 → steer content and motion together.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" y="4001452"/>
              <a:ext cx="2313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DRIVE THE SAME MODEL WITH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90600" y="4229100"/>
              <a:ext cx="3771900" cy="723900"/>
              <a:chOff x="990600" y="4229100"/>
              <a:chExt cx="3771900" cy="7239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90600" y="4229100"/>
                <a:ext cx="8191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17851" y="4317206"/>
                <a:ext cx="364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Text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885950" y="4229100"/>
                <a:ext cx="9906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024782" y="4317206"/>
                <a:ext cx="7129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Sketches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952750" y="4229100"/>
                <a:ext cx="8572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155515" y="4317206"/>
                <a:ext cx="4517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Depth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86200" y="4229100"/>
                <a:ext cx="8763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082480" y="4317206"/>
                <a:ext cx="483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Masks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90600" y="4629150"/>
                <a:ext cx="14287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7ED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83316" y="4717256"/>
                <a:ext cx="12433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Reference video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495550" y="4629150"/>
                <a:ext cx="12573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7ED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640857" y="4717256"/>
                <a:ext cx="9666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Two strokes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984123" y="5139214"/>
              <a:ext cx="47511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…all while </a:t>
              </a:r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keeping frames consistent</a:t>
              </a:r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 xml:space="preserve"> and text-to-video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123" y="534876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quality intact.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14185" y="3231356"/>
            <a:ext cx="1968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HAND-CRAFTED MOTION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819900" y="3486150"/>
            <a:ext cx="4686300" cy="2076450"/>
            <a:chOff x="6819900" y="3486150"/>
            <a:chExt cx="4686300" cy="2076450"/>
          </a:xfrm>
        </p:grpSpPr>
        <p:sp>
          <p:nvSpPr>
            <p:cNvPr id="34" name="Rectangle 34"/>
            <p:cNvSpPr/>
            <p:nvPr/>
          </p:nvSpPr>
          <p:spPr>
            <a:xfrm>
              <a:off x="6819900" y="3486150"/>
              <a:ext cx="4686300" cy="2076450"/>
            </a:xfrm>
            <a:prstGeom prst="roundRect">
              <a:avLst>
                <a:gd name="adj" fmla="val 733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114300" dist="28575" dir="5400000" algn="ctr" rotWithShape="0">
                <a:srgbClr val="0F172A">
                  <a:alpha val="6000"/>
                </a:srgbClr>
              </a:outerShdw>
            </a:effectLst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952" y="3733800"/>
              <a:ext cx="3796196" cy="142875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204723" y="5277802"/>
              <a:ext cx="3916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simple strokes drive coherent, controllable motion.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80847" y="6562249"/>
            <a:ext cx="33159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VideoComposer · Alibaba &amp; Ant Group · NeurIPS 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59290" y="6562249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  <p:sp>
        <p:nvSpPr>
          <p:cNvPr id="40" name="cue_s10_c1_takeaway_video_generation_becomes_mo" title="cue_s10_c1_takeaway_video_generation_becomes_mo" descr="cue_s10_c1_takeaway_video_generation_becomes_mo The takeaway: video generation becomes more controllable when you treat a video as a composition of conditions and give motion an explicit signal."/>
          <p:cNvSpPr/>
          <p:nvPr/>
        </p:nvSpPr>
        <p:spPr>
          <a:xfrm>
            <a:off x="686409" y="1504645"/>
            <a:ext cx="10820400" cy="146006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10_c2_videocomposer_combines_compressed_vi" title="cue_s10_c2_videocomposer_combines_compressed_vi" descr="cue_s10_c2_videocomposer_combines_compressed_vi VideoComposer combines compressed-video motion vectors with a Spatio-Temporal Condition encoder, so users steer content and motion together, from text, sketches, and depth to masks, reference videos, or two strokes, while keeping frames consistent."/>
          <p:cNvSpPr/>
          <p:nvPr/>
        </p:nvSpPr>
        <p:spPr>
          <a:xfrm>
            <a:off x="686409" y="3124504"/>
            <a:ext cx="5905804" cy="247368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_project">
  <a:themeElements>
    <a:clrScheme name="deck_project">
      <a:dk1>
        <a:srgbClr val="0F172A"/>
      </a:dk1>
      <a:lt1>
        <a:srgbClr val="FFFFFF"/>
      </a:lt1>
      <a:dk2>
        <a:srgbClr val="64748B"/>
      </a:dk2>
      <a:lt2>
        <a:srgbClr val="FFFFFF"/>
      </a:lt2>
      <a:accent1>
        <a:srgbClr val="2563EB"/>
      </a:accent1>
      <a:accent2>
        <a:srgbClr val="0891B2"/>
      </a:accent2>
      <a:accent3>
        <a:srgbClr val="EA580C"/>
      </a:accent3>
      <a:accent4>
        <a:srgbClr val="E2E8F0"/>
      </a:accent4>
      <a:accent5>
        <a:srgbClr val="F8FAFC"/>
      </a:accent5>
      <a:accent6>
        <a:srgbClr val="F1F5F9"/>
      </a:accent6>
      <a:hlink>
        <a:srgbClr val="0891B2"/>
      </a:hlink>
      <a:folHlink>
        <a:srgbClr val="EA580C"/>
      </a:folHlink>
    </a:clrScheme>
    <a:fontScheme name="deck_projec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2026-07-15T06:03:34Z</dcterms:created>
  <dcterms:modified xsi:type="dcterms:W3CDTF">2026-07-15T06:03:34Z</dcterms:modified>
  <cp:category/>
  <cp:contentStatus/>
</cp:coreProperties>
</file>
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3108305"/>
          </a:xfrm>
          <a:prstGeom prst="roundRect">
            <a:avLst>
              <a:gd name="adj" fmla="val 4576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4281646"/>
            <a:ext cx="10804961" cy="7998361"/>
          </a:xfrm>
          <a:prstGeom prst="roundRect">
            <a:avLst>
              <a:gd name="adj" fmla="val 1037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3568" y="4281646"/>
            <a:ext cx="13506133" cy="25790306"/>
          </a:xfrm>
          <a:prstGeom prst="roundRect">
            <a:avLst>
              <a:gd name="adj" fmla="val 61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816421" y="4281646"/>
            <a:ext cx="13506271" cy="25790306"/>
          </a:xfrm>
          <a:prstGeom prst="roundRect">
            <a:avLst>
              <a:gd name="adj" fmla="val 614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749412" y="4281646"/>
            <a:ext cx="10804962" cy="7277993"/>
          </a:xfrm>
          <a:prstGeom prst="roundRect">
            <a:avLst>
              <a:gd name="adj" fmla="val 1140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749412" y="11701879"/>
            <a:ext cx="10804962" cy="5010070"/>
          </a:xfrm>
          <a:prstGeom prst="roundRect">
            <a:avLst>
              <a:gd name="adj" fmla="val 1656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1887" y="12303621"/>
            <a:ext cx="10804961" cy="9181842"/>
          </a:xfrm>
          <a:prstGeom prst="roundRect">
            <a:avLst>
              <a:gd name="adj" fmla="val 903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9749412" y="16854189"/>
            <a:ext cx="10804962" cy="8886667"/>
          </a:xfrm>
          <a:prstGeom prst="roundRect">
            <a:avLst>
              <a:gd name="adj" fmla="val 933"/>
            </a:avLst>
          </a:prstGeom>
          <a:solidFill>
            <a:srgbClr val="E9F2F3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16854189"/>
            <a:ext cx="53340" cy="8886667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51887" y="21509077"/>
            <a:ext cx="10804961" cy="8562875"/>
          </a:xfrm>
          <a:prstGeom prst="roundRect">
            <a:avLst>
              <a:gd name="adj" fmla="val 968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749412" y="25883096"/>
            <a:ext cx="10804962" cy="4188856"/>
          </a:xfrm>
          <a:prstGeom prst="roundRect">
            <a:avLst>
              <a:gd name="adj" fmla="val 1980"/>
            </a:avLst>
          </a:prstGeom>
          <a:solidFill>
            <a:srgbClr val="EEF4F5"/>
          </a:solidFill>
          <a:ln w="8890">
            <a:solidFill>
              <a:srgbClr val="C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87" y="1257799"/>
            <a:ext cx="4344988" cy="1896480"/>
          </a:xfrm>
          <a:prstGeom prst="rect">
            <a:avLst/>
          </a:prstGeom>
        </p:spPr>
      </p:pic>
      <p:pic>
        <p:nvPicPr>
          <p:cNvPr id="14" name="Picture 13" descr="lund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055" y="1263710"/>
            <a:ext cx="1543248" cy="188451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1039991" y="9057659"/>
            <a:ext cx="10028753" cy="283702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39991" y="9057659"/>
            <a:ext cx="124460" cy="2837022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137516" y="9410620"/>
            <a:ext cx="10028754" cy="156797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137516" y="9410620"/>
            <a:ext cx="10028754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0137516" y="13050103"/>
            <a:ext cx="10028754" cy="3520162"/>
          </a:xfrm>
          <a:prstGeom prst="roundRect">
            <a:avLst>
              <a:gd name="adj" fmla="val 2020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271672" y="14371657"/>
            <a:ext cx="12729925" cy="3364448"/>
          </a:xfrm>
          <a:prstGeom prst="roundRect">
            <a:avLst>
              <a:gd name="adj" fmla="val 4464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6204525" y="14538900"/>
            <a:ext cx="12730063" cy="2632273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39991" y="19452570"/>
            <a:ext cx="10028753" cy="1647983"/>
          </a:xfrm>
          <a:prstGeom prst="roundRect">
            <a:avLst>
              <a:gd name="adj" fmla="val 12659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0181966" y="22386409"/>
            <a:ext cx="9984304" cy="3024822"/>
          </a:xfrm>
          <a:prstGeom prst="roundRect">
            <a:avLst>
              <a:gd name="adj" fmla="val 6896"/>
            </a:avLst>
          </a:prstGeom>
          <a:solidFill>
            <a:srgbClr val="0F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204525" y="24692808"/>
            <a:ext cx="12730063" cy="291119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6204525" y="24692808"/>
            <a:ext cx="12730063" cy="11557"/>
          </a:xfrm>
          <a:prstGeom prst="rect">
            <a:avLst/>
          </a:prstGeom>
          <a:solidFill>
            <a:srgbClr val="ABC8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945186" y="13272353"/>
            <a:ext cx="3975219" cy="3123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945186" y="13272353"/>
            <a:ext cx="11557" cy="3123168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6204525" y="17819866"/>
            <a:ext cx="12730063" cy="4930755"/>
          </a:xfrm>
          <a:prstGeom prst="roundRect">
            <a:avLst>
              <a:gd name="adj" fmla="val 72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figur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04693" y="17819866"/>
            <a:ext cx="12729727" cy="4930755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12271672" y="18288674"/>
            <a:ext cx="12729925" cy="3158034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71732" y="18288674"/>
            <a:ext cx="12729805" cy="315803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12271672" y="24296508"/>
            <a:ext cx="12729925" cy="2868137"/>
          </a:xfrm>
          <a:prstGeom prst="roundRect">
            <a:avLst>
              <a:gd name="adj" fmla="val 123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71950" y="24296508"/>
            <a:ext cx="12729369" cy="2868137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26204525" y="27950854"/>
            <a:ext cx="4069536" cy="1604923"/>
          </a:xfrm>
          <a:prstGeom prst="roundRect">
            <a:avLst>
              <a:gd name="adj" fmla="val 1624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30534788" y="27950854"/>
            <a:ext cx="4069537" cy="1604923"/>
          </a:xfrm>
          <a:prstGeom prst="roundRect">
            <a:avLst>
              <a:gd name="adj" fmla="val 1624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4865052" y="27950854"/>
            <a:ext cx="4069536" cy="1604923"/>
          </a:xfrm>
          <a:prstGeom prst="roundRect">
            <a:avLst>
              <a:gd name="adj" fmla="val 16248"/>
            </a:avLst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39991" y="28866941"/>
            <a:ext cx="1768693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Lasso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965092" y="28866941"/>
            <a:ext cx="2551014" cy="819824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ℓ₁-logistic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72514" y="28866941"/>
            <a:ext cx="132544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C++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54366" y="28866941"/>
            <a:ext cx="807740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6204525" y="6585545"/>
            <a:ext cx="13026767" cy="945118"/>
          </a:xfrm>
          <a:prstGeom prst="rect">
            <a:avLst/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3423621" y="26081593"/>
            <a:ext cx="3172758" cy="3172757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pap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542154" y="26200126"/>
            <a:ext cx="2935692" cy="2935691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46979621" y="26081593"/>
            <a:ext cx="3172758" cy="3172757"/>
          </a:xfrm>
          <a:prstGeom prst="roundRect">
            <a:avLst>
              <a:gd name="adj" fmla="val 4856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o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98154" y="26200126"/>
            <a:ext cx="2935692" cy="2935691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44382074" y="29396590"/>
            <a:ext cx="1255991" cy="524232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0F6070"/>
                </a:solidFill>
                <a:latin typeface="Arial"/>
              </a:rPr>
              <a:t>Paper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982385" y="29396590"/>
            <a:ext cx="1167369" cy="524232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333" b="1">
                <a:solidFill>
                  <a:srgbClr val="0F6070"/>
                </a:solidFill>
                <a:latin typeface="Arial"/>
              </a:rPr>
              <a:t>Code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204525" y="5879068"/>
            <a:ext cx="5064938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6204525" y="6576655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269463" y="5879068"/>
            <a:ext cx="2153325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1269463" y="6576655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422788" y="5879068"/>
            <a:ext cx="2338626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422788" y="6576655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5761414" y="5879068"/>
            <a:ext cx="1734939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5761414" y="6576655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496353" y="5879068"/>
            <a:ext cx="1734939" cy="706477"/>
          </a:xfrm>
          <a:prstGeom prst="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7496353" y="6576655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204525" y="6585545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6204525" y="7521773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1269463" y="6585545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269463" y="7521773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422788" y="6585545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3422788" y="7521773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761414" y="6585545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35761414" y="7521773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7496353" y="6585545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7496353" y="7521773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6204525" y="7530663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6204525" y="8466891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269463" y="7530663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1269463" y="8466891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3422788" y="7530663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3422788" y="8466891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35761414" y="7530663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761414" y="8466891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7496353" y="7530663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7496353" y="8466891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26204525" y="8475781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6204525" y="9412009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1269463" y="8475781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1269463" y="9412009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3422788" y="8475781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3422788" y="9412009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5761414" y="8475781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761414" y="9412009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496353" y="8475781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7496353" y="9412009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6204525" y="9420899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26204525" y="10357127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1269463" y="9420899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1269463" y="10357127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3422788" y="9420899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3422788" y="10357127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5761414" y="9420899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761414" y="10357127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496353" y="9420899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7496353" y="10357127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26204525" y="10366017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26204525" y="11302245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1269463" y="10366017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1269463" y="11302245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33422788" y="10366017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33422788" y="11302245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35761414" y="10366017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5761414" y="11302245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496353" y="10366017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7496353" y="11302245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6204525" y="11311135"/>
            <a:ext cx="5064938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6204525" y="12247364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1269463" y="11311135"/>
            <a:ext cx="2153325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1269463" y="12247364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33422788" y="11311135"/>
            <a:ext cx="2338626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33422788" y="12247364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35761414" y="11311135"/>
            <a:ext cx="173493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35761414" y="12247364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7496353" y="11311135"/>
            <a:ext cx="1734939" cy="9451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7496353" y="12247364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6204525" y="12256254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26204525" y="13192482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1269463" y="12256254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1269463" y="13192482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3422788" y="12256254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3422788" y="13192482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35761414" y="12256254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35761414" y="13192482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37496353" y="12256254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7496353" y="13192482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26204525" y="13201372"/>
            <a:ext cx="5064938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26204525" y="14137600"/>
            <a:ext cx="5064938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31269463" y="13201372"/>
            <a:ext cx="2153325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31269463" y="14137600"/>
            <a:ext cx="2153325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33422788" y="13201372"/>
            <a:ext cx="2338626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33422788" y="14137600"/>
            <a:ext cx="2338626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35761414" y="13201372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35761414" y="14137600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7496353" y="13201372"/>
            <a:ext cx="1734939" cy="9451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37496353" y="14137600"/>
            <a:ext cx="1734939" cy="11557"/>
          </a:xfrm>
          <a:prstGeom prst="rect">
            <a:avLst/>
          </a:prstGeom>
          <a:solidFill>
            <a:srgbClr val="DBE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40137516" y="27917100"/>
            <a:ext cx="2916754" cy="1353225"/>
          </a:xfrm>
          <a:prstGeom prst="roundRect">
            <a:avLst>
              <a:gd name="adj" fmla="val 10511"/>
            </a:avLst>
          </a:prstGeom>
          <a:solidFill>
            <a:srgbClr val="E2EFF1"/>
          </a:solidFill>
          <a:ln w="17780">
            <a:solidFill>
              <a:srgbClr val="0F6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3446402" y="983734"/>
            <a:ext cx="24740176" cy="125940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8624"/>
              </a:lnSpc>
              <a:spcBef>
                <a:spcPts val="0"/>
              </a:spcBef>
              <a:spcAft>
                <a:spcPts val="0"/>
              </a:spcAft>
            </a:pPr>
            <a:r>
              <a:rPr sz="7840" b="1" spc="-78">
                <a:solidFill>
                  <a:srgbClr val="0F6070"/>
                </a:solidFill>
                <a:latin typeface="Arial"/>
              </a:rPr>
              <a:t>The Hessian Screening Rule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3446402" y="2277923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Johan Larsson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Jonas Wallin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446402" y="2947173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Department of Statistics, Lund University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9991" y="4669750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271672" y="4669750"/>
            <a:ext cx="13111822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6204525" y="4669750"/>
            <a:ext cx="1311196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0137516" y="4669750"/>
            <a:ext cx="10329616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Ablation Study 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039991" y="5772110"/>
            <a:ext cx="10329615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Fitting the lasso along a full regularization path is costly: the optimal penalty λ is unknown, so it is tuned by cross-validation — refitting the whole path repeatedly.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39991" y="9057659"/>
            <a:ext cx="10329615" cy="3262575"/>
          </a:xfrm>
          <a:prstGeom prst="rect">
            <a:avLst/>
          </a:prstGeom>
          <a:noFill/>
        </p:spPr>
        <p:txBody>
          <a:bodyPr wrap="squar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Screening rules discard predictors before the solver runs — but existing rules screen conservatively under high correlation.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0137516" y="9410620"/>
            <a:ext cx="10329616" cy="1803170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Warm start: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also cuts coordinate descent to ~1 pass/step.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0137516" y="11947743"/>
            <a:ext cx="10329616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39991" y="12691725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204525" y="14538900"/>
            <a:ext cx="13111964" cy="3027113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≈ 7–10× faster than the best prior method on the largest real data sets, and fastest in every simulated configuration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6379963" y="15801280"/>
            <a:ext cx="4648599" cy="2126008"/>
          </a:xfrm>
          <a:prstGeom prst="rect">
            <a:avLst/>
          </a:prstGeom>
          <a:noFill/>
        </p:spPr>
        <p:txBody>
          <a:bodyPr wrap="square" lIns="262859" rIns="262859" tIns="45061" bIns="45061">
            <a:spAutoFit/>
          </a:bodyPr>
          <a:lstStyle/>
          <a:p>
            <a:pPr algn="ctr">
              <a:lnSpc>
                <a:spcPts val="2143"/>
              </a:lnSpc>
              <a:spcBef>
                <a:spcPts val="0"/>
              </a:spcBef>
              <a:spcAft>
                <a:spcPts val="0"/>
              </a:spcAft>
            </a:pPr>
            <a:r>
              <a:rPr sz="1478" b="0" i="1">
                <a:solidFill>
                  <a:srgbClr val="555555"/>
                </a:solidFill>
                <a:latin typeface="Cambria Math"/>
              </a:rPr>
              <a:t>second-order screening estimate of the next-step correlation</a:t>
            </a:r>
            <a:r>
              <a:rPr sz="2956" b="0">
                <a:solidFill>
                  <a:srgbClr val="1C1C1C"/>
                </a:solidFill>
                <a:latin typeface="Cambria Math"/>
              </a:rPr>
              <a:t> </a:t>
            </a:r>
            <a:r>
              <a:rPr sz="1478" b="0" i="1">
                <a:solidFill>
                  <a:srgbClr val="555555"/>
                </a:solidFill>
                <a:latin typeface="Cambria Math"/>
              </a:rPr>
              <a:t>Hessian warm start — exact while the active set is fixed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181966" y="17242293"/>
            <a:ext cx="1028383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0181966" y="18344653"/>
            <a:ext cx="10283833" cy="434818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Reusing second-order Hessian information pays off twice — tighter screening and near-exact warm starts — the fastest way to fit lasso and ℓ₁-regularized logistic regression paths.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039991" y="19452570"/>
            <a:ext cx="10329615" cy="1895180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One shared root — a first-order guess — fixable with curvature.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1039991" y="21897181"/>
            <a:ext cx="10329615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Contribution 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0181966" y="22386409"/>
            <a:ext cx="10283833" cy="3478545"/>
          </a:xfrm>
          <a:prstGeom prst="rect">
            <a:avLst/>
          </a:prstGeom>
          <a:noFill/>
        </p:spPr>
        <p:txBody>
          <a:bodyPr wrap="square" lIns="365082" rIns="365082" tIns="156464" bIns="156464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One Hessian, double duty — the fastest lasso &amp; ℓ₁-logistic path solver, with the largest edge under high correlation.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6204525" y="24692808"/>
            <a:ext cx="13111964" cy="3347876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Fastest in every simulated setting and on nearly all 12 real data sets: on YearPredictionMSD, 78.8 s vs 541 s for the runner-up — in all but one least-squares case, under half its time.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271654" y="5970190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On any interval where the active set is fixed, the lasso solution is </a:t>
            </a:r>
            <a:r>
              <a:rPr sz="4106" b="1">
                <a:solidFill>
                  <a:srgbClr val="111111"/>
                </a:solidFill>
                <a:latin typeface="Arial"/>
              </a:rPr>
              <a:t>linear in λ</a:t>
            </a:r>
            <a:r>
              <a:rPr sz="4106" b="0">
                <a:solidFill>
                  <a:srgbClr val="1C1C1C"/>
                </a:solidFill>
                <a:latin typeface="Arial"/>
              </a:rPr>
              <a:t>, so the Hessian gives a </a:t>
            </a:r>
            <a:r>
              <a:rPr sz="4106" b="1">
                <a:solidFill>
                  <a:srgbClr val="111111"/>
                </a:solidFill>
                <a:latin typeface="Arial"/>
              </a:rPr>
              <a:t>second-order</a:t>
            </a:r>
            <a:r>
              <a:rPr sz="4106" b="0">
                <a:solidFill>
                  <a:srgbClr val="1C1C1C"/>
                </a:solidFill>
                <a:latin typeface="Arial"/>
              </a:rPr>
              <a:t> estimate of the next-step correlation.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0137516" y="6026725"/>
            <a:ext cx="4564185" cy="35986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2320"/>
              </a:lnSpc>
              <a:spcBef>
                <a:spcPts val="0"/>
              </a:spcBef>
              <a:spcAft>
                <a:spcPts val="0"/>
              </a:spcAft>
            </a:pPr>
            <a:r>
              <a:rPr sz="12320" b="1">
                <a:solidFill>
                  <a:srgbClr val="0F6070"/>
                </a:solidFill>
                <a:latin typeface="Arial"/>
              </a:rPr>
              <a:t>10³–10⁴×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777263" y="6853495"/>
            <a:ext cx="5550677" cy="15651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59"/>
              </a:lnSpc>
              <a:spcBef>
                <a:spcPts val="0"/>
              </a:spcBef>
              <a:spcAft>
                <a:spcPts val="0"/>
              </a:spcAft>
            </a:pPr>
            <a:r>
              <a:rPr sz="3696" b="0">
                <a:solidFill>
                  <a:srgbClr val="555555"/>
                </a:solidFill>
                <a:latin typeface="Arial"/>
              </a:rPr>
              <a:t>fewer predictors screened than rivals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12271654" y="8421330"/>
            <a:ext cx="13111841" cy="34785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same Hessian inverse gives a </a:t>
            </a:r>
            <a:r>
              <a:rPr sz="4106" b="1">
                <a:solidFill>
                  <a:srgbClr val="111111"/>
                </a:solidFill>
                <a:latin typeface="Arial"/>
              </a:rPr>
              <a:t>warm start that is exact</a:t>
            </a:r>
            <a:r>
              <a:rPr sz="4106" b="0">
                <a:solidFill>
                  <a:srgbClr val="1C1C1C"/>
                </a:solidFill>
                <a:latin typeface="Arial"/>
              </a:rPr>
              <a:t> while the active set is fixed, so a </a:t>
            </a:r>
            <a:r>
              <a:rPr sz="4106" b="1">
                <a:solidFill>
                  <a:srgbClr val="111111"/>
                </a:solidFill>
                <a:highlight>
                  <a:srgbClr val="ECECEC"/>
                </a:highlight>
                <a:latin typeface="Arial"/>
              </a:rPr>
              <a:t>single coordinate-descent sweep</a:t>
            </a:r>
            <a:r>
              <a:rPr sz="4106" b="0">
                <a:solidFill>
                  <a:srgbClr val="1C1C1C"/>
                </a:solidFill>
                <a:latin typeface="Arial"/>
              </a:rPr>
              <a:t> usually suffices per path step.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2271654" y="11628675"/>
            <a:ext cx="13111841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Restrict inner products to the strong-rule set for cost; maintain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H⁻¹</a:t>
            </a:r>
            <a:r>
              <a:rPr sz="4106" b="0">
                <a:solidFill>
                  <a:srgbClr val="1C1C1C"/>
                </a:solidFill>
                <a:latin typeface="Arial"/>
              </a:rPr>
              <a:t> by low-rank updates; place the λ grid by approximate homotopy.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1039972" y="13794085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Sequential rules (the </a:t>
            </a:r>
            <a:r>
              <a:rPr sz="4106" b="1">
                <a:solidFill>
                  <a:srgbClr val="111111"/>
                </a:solidFill>
                <a:latin typeface="Arial"/>
              </a:rPr>
              <a:t>strong rule</a:t>
            </a:r>
            <a:r>
              <a:rPr sz="4106" b="0">
                <a:solidFill>
                  <a:srgbClr val="1C1C1C"/>
                </a:solidFill>
                <a:latin typeface="Arial"/>
              </a:rPr>
              <a:t>, </a:t>
            </a:r>
            <a:r>
              <a:rPr sz="4106" b="1">
                <a:solidFill>
                  <a:srgbClr val="111111"/>
                </a:solidFill>
                <a:latin typeface="Arial"/>
              </a:rPr>
              <a:t>working-set</a:t>
            </a:r>
            <a:r>
              <a:rPr sz="4106" b="0">
                <a:solidFill>
                  <a:srgbClr val="1C1C1C"/>
                </a:solidFill>
                <a:latin typeface="Arial"/>
              </a:rPr>
              <a:t>) rely on a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first-order</a:t>
            </a:r>
            <a:r>
              <a:rPr sz="4106" b="0">
                <a:solidFill>
                  <a:srgbClr val="1C1C1C"/>
                </a:solidFill>
                <a:latin typeface="Arial"/>
              </a:rPr>
              <a:t> estimate of the next-step correlation.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39972" y="16245224"/>
            <a:ext cx="10329635" cy="34785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That crudeness </a:t>
            </a:r>
            <a:r>
              <a:rPr sz="4106" b="1">
                <a:solidFill>
                  <a:srgbClr val="111111"/>
                </a:solidFill>
                <a:latin typeface="Arial"/>
              </a:rPr>
              <a:t>over-screens</a:t>
            </a:r>
            <a:r>
              <a:rPr sz="4106" b="0">
                <a:solidFill>
                  <a:srgbClr val="1C1C1C"/>
                </a:solidFill>
                <a:latin typeface="Arial"/>
              </a:rPr>
              <a:t> and yields </a:t>
            </a:r>
            <a:r>
              <a:rPr sz="4106" b="1">
                <a:solidFill>
                  <a:srgbClr val="111111"/>
                </a:solidFill>
                <a:latin typeface="Arial"/>
              </a:rPr>
              <a:t>inaccurate warm starts</a:t>
            </a:r>
            <a:r>
              <a:rPr sz="4106" b="0">
                <a:solidFill>
                  <a:srgbClr val="1C1C1C"/>
                </a:solidFill>
                <a:latin typeface="Arial"/>
              </a:rPr>
              <a:t>, forcing costly KKT re-checks and extra solver passes.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780902" y="21596310"/>
            <a:ext cx="12062807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Predictors screened vs. path step at correlation ρ ∈ {0, 0.4, 0.8} (n = 200, p = 20000). The Hessian rule (black) hugs the true active-set floor (dashed); rivals keep orders of magnitude more.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26713755" y="22900223"/>
            <a:ext cx="12062951" cy="191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Relative path-fit time vs. correlation ρ for ℓ₁ least-squares and logistic regression; time is relative to the fastest per group. Hessian (grey) is lowest in every panel.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039972" y="23012737"/>
            <a:ext cx="10329635" cy="260890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</a:t>
            </a:r>
            <a:r>
              <a:rPr sz="4106" b="1">
                <a:solidFill>
                  <a:srgbClr val="111111"/>
                </a:solidFill>
                <a:latin typeface="Arial"/>
              </a:rPr>
              <a:t>Hessian Screening Rule</a:t>
            </a:r>
            <a:r>
              <a:rPr sz="4106" b="0">
                <a:solidFill>
                  <a:srgbClr val="1C1C1C"/>
                </a:solidFill>
                <a:latin typeface="Arial"/>
              </a:rPr>
              <a:t>: second-order screening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and</a:t>
            </a:r>
            <a:r>
              <a:rPr sz="4106" b="0">
                <a:solidFill>
                  <a:srgbClr val="1C1C1C"/>
                </a:solidFill>
                <a:latin typeface="Arial"/>
              </a:rPr>
              <a:t> a near-exact warm start, both from one Hessian.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039972" y="25463877"/>
            <a:ext cx="10329635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Efficient low-rank updates of </a:t>
            </a:r>
            <a:r>
              <a:rPr sz="4106" b="1">
                <a:solidFill>
                  <a:srgbClr val="111111"/>
                </a:solidFill>
                <a:latin typeface="Arial"/>
              </a:rPr>
              <a:t>H</a:t>
            </a:r>
            <a:r>
              <a:rPr sz="4106" b="0">
                <a:solidFill>
                  <a:srgbClr val="1C1C1C"/>
                </a:solidFill>
                <a:latin typeface="Arial"/>
              </a:rPr>
              <a:t> and </a:t>
            </a:r>
            <a:r>
              <a:rPr sz="4106" b="1">
                <a:solidFill>
                  <a:srgbClr val="111111"/>
                </a:solidFill>
                <a:latin typeface="Arial"/>
              </a:rPr>
              <a:t>H⁻¹</a:t>
            </a:r>
            <a:r>
              <a:rPr sz="4106" b="0">
                <a:solidFill>
                  <a:srgbClr val="1C1C1C"/>
                </a:solidFill>
                <a:latin typeface="Arial"/>
              </a:rPr>
              <a:t>, plus an approximate-homotopy λ-grid.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039972" y="27158811"/>
            <a:ext cx="10329635" cy="17392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Extends to smooth convex losses (ℓ₁-logistic); open C++/R code.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2780902" y="27314247"/>
            <a:ext cx="12062807" cy="2557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Coordinate-descent passes along the path on colon-cancer and YearPredictionMSD: Hessian warm starts (orange) collapse to ~one pass per step vs. standard warm starts (black).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40383380" y="13272353"/>
            <a:ext cx="5137767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≈10×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0383380" y="14647247"/>
            <a:ext cx="5137767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Faster · e2006-tfidf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0383380" y="15168701"/>
            <a:ext cx="5137767" cy="14108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14.3 s vs 143 s — the biggest real-data speedup, ≈10× over the runner-up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40137516" y="26732091"/>
            <a:ext cx="3004256" cy="11447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Arial"/>
              </a:rPr>
              <a:t>Scan to</a:t>
            </a:r>
          </a:p>
          <a:p>
            <a:pPr algn="l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0F6070"/>
                </a:solidFill>
                <a:latin typeface="Arial"/>
              </a:rPr>
              <a:t>Read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26413023" y="2810726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5/5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0743286" y="2810726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&lt;½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5073550" y="28107262"/>
            <a:ext cx="3762116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0F6070"/>
                </a:solidFill>
                <a:latin typeface="Arial"/>
              </a:rPr>
              <a:t>3×2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6413023" y="29009459"/>
            <a:ext cx="3762116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least-squares sets won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0743286" y="29009459"/>
            <a:ext cx="3762116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runner-up time (4/5)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35073550" y="29009459"/>
            <a:ext cx="3762116" cy="44839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sim. settings, all won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6204525" y="5879068"/>
            <a:ext cx="5216886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PATH-FIT TIME (S)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1269463" y="5879068"/>
            <a:ext cx="221792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HESSIAN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3422788" y="5879068"/>
            <a:ext cx="2408784" cy="812448"/>
          </a:xfrm>
          <a:prstGeom prst="rect">
            <a:avLst/>
          </a:prstGeom>
          <a:noFill/>
        </p:spPr>
        <p:txBody>
          <a:bodyPr wrap="squar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WORKING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5761414" y="5879068"/>
            <a:ext cx="178698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CELER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7496353" y="5879068"/>
            <a:ext cx="1786987" cy="812448"/>
          </a:xfrm>
          <a:prstGeom prst="rect">
            <a:avLst/>
          </a:prstGeom>
          <a:noFill/>
        </p:spPr>
        <p:txBody>
          <a:bodyPr wrap="none" lIns="185800" rIns="185800" tIns="81752" bIns="81752">
            <a:spAutoFit/>
          </a:bodyPr>
          <a:lstStyle/>
          <a:p>
            <a:pPr algn="l">
              <a:lnSpc>
                <a:spcPts val="4242"/>
              </a:lnSpc>
              <a:spcBef>
                <a:spcPts val="0"/>
              </a:spcBef>
              <a:spcAft>
                <a:spcPts val="0"/>
              </a:spcAft>
            </a:pPr>
            <a:r>
              <a:rPr sz="2926" b="1" spc="146">
                <a:solidFill>
                  <a:srgbClr val="555555"/>
                </a:solidFill>
                <a:latin typeface="Arial"/>
              </a:rPr>
              <a:t>BLITZ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6204525" y="6585545"/>
            <a:ext cx="52168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YearPredictionMSD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31269463" y="6585545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78.8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33422788" y="6585545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541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35761414" y="6585545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712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7496353" y="6585545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1">
                <a:solidFill>
                  <a:srgbClr val="1C1C1C"/>
                </a:solidFill>
                <a:latin typeface="Arial"/>
              </a:rPr>
              <a:t>706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6204525" y="7530663"/>
            <a:ext cx="52168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e2006-tfidf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31269463" y="7530663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14.3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3422788" y="7530663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143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35761414" y="7530663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335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37496353" y="7530663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277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26204525" y="8475781"/>
            <a:ext cx="52168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e2006-log1p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31269463" y="8475781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205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33422788" y="8475781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438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5761414" y="8475781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835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7496353" y="8475781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756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26204525" y="9420899"/>
            <a:ext cx="521688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bcTCGA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31269463" y="9420899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3.00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33422788" y="9420899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7.67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35761414" y="9420899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10.6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37496353" y="9420899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11.7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26204525" y="10366017"/>
            <a:ext cx="52168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scheetz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1269463" y="10366017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0.369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3422788" y="10366017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0.643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35761414" y="10366017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0.801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37496353" y="10366017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0.706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6204525" y="11311135"/>
            <a:ext cx="5216886" cy="1086886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colon-cancer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1269463" y="11311135"/>
            <a:ext cx="221792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0.054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33422788" y="11311135"/>
            <a:ext cx="2408784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0.134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35761414" y="11311135"/>
            <a:ext cx="1786987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0.169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37496353" y="11311135"/>
            <a:ext cx="1786987" cy="1086886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0.177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26204525" y="12256254"/>
            <a:ext cx="5216886" cy="1086885"/>
          </a:xfrm>
          <a:prstGeom prst="rect">
            <a:avLst/>
          </a:prstGeom>
          <a:noFill/>
        </p:spPr>
        <p:txBody>
          <a:bodyPr wrap="squar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duke-breast-cancer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1269463" y="12256254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0.111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3422788" y="12256254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0.210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35761414" y="12256254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0.262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37496353" y="12256254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0.251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26204525" y="13201372"/>
            <a:ext cx="5216886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arcene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1269463" y="13201372"/>
            <a:ext cx="221792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4.35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3422788" y="13201372"/>
            <a:ext cx="2408784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3.27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5761414" y="13201372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3.99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37496353" y="13201372"/>
            <a:ext cx="1786987" cy="1086885"/>
          </a:xfrm>
          <a:prstGeom prst="rect">
            <a:avLst/>
          </a:prstGeom>
          <a:noFill/>
        </p:spPr>
        <p:txBody>
          <a:bodyPr wrap="none" lIns="247734" rIns="247734" tIns="109002" bIns="109002">
            <a:spAutoFit/>
          </a:bodyPr>
          <a:lstStyle/>
          <a:p>
            <a:pPr algn="l">
              <a:lnSpc>
                <a:spcPts val="5656"/>
              </a:lnSpc>
              <a:spcBef>
                <a:spcPts val="0"/>
              </a:spcBef>
              <a:spcAft>
                <a:spcPts val="0"/>
              </a:spcAft>
            </a:pPr>
            <a:r>
              <a:rPr sz="3901" b="0">
                <a:solidFill>
                  <a:srgbClr val="1C1C1C"/>
                </a:solidFill>
                <a:latin typeface="Arial"/>
              </a:rPr>
              <a:t>4.42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46423441" y="13272353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6.9×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7660540" y="13405703"/>
            <a:ext cx="232766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YearPredMSD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46423441" y="14118292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2.6×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47660540" y="14251642"/>
            <a:ext cx="1404265" cy="4907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bcTCGA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6423441" y="14964370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4.8×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47660540" y="15097720"/>
            <a:ext cx="140498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madelon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46423441" y="15810309"/>
            <a:ext cx="108621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2.5×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7660540" y="15943659"/>
            <a:ext cx="2097027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colon-cancer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40137516" y="27917100"/>
            <a:ext cx="3004256" cy="1556208"/>
          </a:xfrm>
          <a:prstGeom prst="rect">
            <a:avLst/>
          </a:prstGeom>
          <a:noFill/>
        </p:spPr>
        <p:txBody>
          <a:bodyPr wrap="none" lIns="237066" rIns="237066" tIns="154093" bIns="154093">
            <a:spAutoFit/>
          </a:bodyPr>
          <a:lstStyle/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240" b="1">
                <a:solidFill>
                  <a:srgbClr val="0F6070"/>
                </a:solidFill>
                <a:latin typeface="Arial"/>
              </a:rPr>
              <a:t>Contact</a:t>
            </a:r>
          </a:p>
          <a:p>
            <a:pPr algn="l">
              <a:lnSpc>
                <a:spcPts val="2464"/>
              </a:lnSpc>
              <a:spcBef>
                <a:spcPts val="0"/>
              </a:spcBef>
              <a:spcAft>
                <a:spcPts val="0"/>
              </a:spcAft>
            </a:pPr>
            <a:r>
              <a:rPr sz="2053" b="0">
                <a:solidFill>
                  <a:srgbClr val="555555"/>
                </a:solidFill>
                <a:latin typeface="JetBrains Mono"/>
              </a:rPr>
              <a:t>johan.larsson@stat.lu.se</a:t>
            </a:r>
          </a:p>
        </p:txBody>
      </p:sp>
      <p:pic>
        <p:nvPicPr>
          <p:cNvPr id="236" name="Picture 235" descr="eq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543373" y="14801016"/>
            <a:ext cx="12186523" cy="598130"/>
          </a:xfrm>
          <a:prstGeom prst="rect">
            <a:avLst/>
          </a:prstGeom>
        </p:spPr>
      </p:pic>
      <p:pic>
        <p:nvPicPr>
          <p:cNvPr id="237" name="Picture 236" descr="eq1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543373" y="16422330"/>
            <a:ext cx="12186523" cy="612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
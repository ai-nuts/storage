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03442"/>
          </a:xfrm>
          <a:prstGeom prst="roundRect">
            <a:avLst>
              <a:gd name="adj" fmla="val 3383"/>
            </a:avLst>
          </a:prstGeom>
          <a:solidFill>
            <a:srgbClr val="E9ECF3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5376783"/>
            <a:ext cx="10804961" cy="8416607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887" y="5376783"/>
            <a:ext cx="160020" cy="8416607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3568" y="5376783"/>
            <a:ext cx="27439124" cy="14328874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3568" y="5376783"/>
            <a:ext cx="160020" cy="14328874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749412" y="5376783"/>
            <a:ext cx="10804962" cy="4456668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749412" y="5376783"/>
            <a:ext cx="160020" cy="4456668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49412" y="10165298"/>
            <a:ext cx="10804962" cy="5739745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49412" y="10165298"/>
            <a:ext cx="160020" cy="5739745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1887" y="14125237"/>
            <a:ext cx="10804961" cy="15946715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887" y="14125237"/>
            <a:ext cx="160020" cy="15946715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49412" y="16236890"/>
            <a:ext cx="10804962" cy="8165465"/>
          </a:xfrm>
          <a:prstGeom prst="rect">
            <a:avLst/>
          </a:prstGeom>
          <a:solidFill>
            <a:srgbClr val="EEF0F4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49412" y="16236890"/>
            <a:ext cx="53340" cy="8165465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49412" y="24734202"/>
            <a:ext cx="10804962" cy="5337750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49412" y="24734202"/>
            <a:ext cx="160020" cy="5337750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university-of-hawai-i-at-m-no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7665" y="1388950"/>
            <a:ext cx="5564167" cy="2729176"/>
          </a:xfrm>
          <a:prstGeom prst="rect">
            <a:avLst/>
          </a:prstGeom>
        </p:spPr>
      </p:pic>
      <p:pic>
        <p:nvPicPr>
          <p:cNvPr id="18" name="Picture 17" descr="_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087" y="1805367"/>
            <a:ext cx="4344988" cy="1896481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262241" y="11083190"/>
            <a:ext cx="9806503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62241" y="11083190"/>
            <a:ext cx="124460" cy="2159020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359766" y="11655762"/>
            <a:ext cx="9806504" cy="3878818"/>
          </a:xfrm>
          <a:prstGeom prst="roundRect">
            <a:avLst>
              <a:gd name="adj" fmla="val 1833"/>
            </a:avLst>
          </a:prstGeom>
          <a:gradFill rotWithShape="1" flip="none">
            <a:gsLst>
              <a:gs pos="0">
                <a:srgbClr val="E7E8EC"/>
              </a:gs>
              <a:gs pos="100000">
                <a:srgbClr val="F3F4F5"/>
              </a:gs>
            </a:gsLst>
            <a:lin ang="5400000" scaled="0"/>
          </a:gradFill>
          <a:ln w="8890">
            <a:solidFill>
              <a:srgbClr val="CCCF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883568" y="20037504"/>
            <a:ext cx="13553639" cy="10034448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883568" y="20037504"/>
            <a:ext cx="160020" cy="10034448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769054" y="20037504"/>
            <a:ext cx="13553638" cy="10034448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69054" y="20037504"/>
            <a:ext cx="160020" cy="10034448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253086" y="21012904"/>
            <a:ext cx="9913184" cy="3024822"/>
          </a:xfrm>
          <a:prstGeom prst="roundRect">
            <a:avLst>
              <a:gd name="adj" fmla="val 689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262241" y="25504715"/>
            <a:ext cx="9806503" cy="4184829"/>
          </a:xfrm>
          <a:prstGeom prst="roundRect">
            <a:avLst>
              <a:gd name="adj" fmla="val 4361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62241" y="25504715"/>
            <a:ext cx="124460" cy="4184829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821977" y="11878012"/>
            <a:ext cx="4098428" cy="3481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821977" y="11878012"/>
            <a:ext cx="11557" cy="3481824"/>
          </a:xfrm>
          <a:prstGeom prst="rect">
            <a:avLst/>
          </a:prstGeom>
          <a:solidFill>
            <a:srgbClr val="CCCF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2493922" y="16937255"/>
            <a:ext cx="8326735" cy="2380298"/>
          </a:xfrm>
          <a:prstGeom prst="roundRect">
            <a:avLst>
              <a:gd name="adj" fmla="val 10955"/>
            </a:avLst>
          </a:prstGeom>
          <a:solidFill>
            <a:srgbClr val="E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1550749" y="16937255"/>
            <a:ext cx="8326874" cy="2380298"/>
          </a:xfrm>
          <a:prstGeom prst="roundRect">
            <a:avLst>
              <a:gd name="adj" fmla="val 10955"/>
            </a:avLst>
          </a:prstGeom>
          <a:solidFill>
            <a:srgbClr val="E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0607714" y="16937255"/>
            <a:ext cx="8326874" cy="2380298"/>
          </a:xfrm>
          <a:prstGeom prst="roundRect">
            <a:avLst>
              <a:gd name="adj" fmla="val 10955"/>
            </a:avLst>
          </a:prstGeom>
          <a:solidFill>
            <a:srgbClr val="E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6379408" y="25355252"/>
            <a:ext cx="12555180" cy="1942187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751746" y="25661123"/>
            <a:ext cx="2454613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UNTAPPED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379408" y="27578446"/>
            <a:ext cx="12555180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379408" y="27578446"/>
            <a:ext cx="12555180" cy="11557"/>
          </a:xfrm>
          <a:prstGeom prst="rect">
            <a:avLst/>
          </a:prstGeom>
          <a:solidFill>
            <a:srgbClr val="B8B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59766" y="8518842"/>
            <a:ext cx="9806504" cy="945118"/>
          </a:xfrm>
          <a:prstGeom prst="rect">
            <a:avLst/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2493922" y="10027503"/>
            <a:ext cx="26440666" cy="5925879"/>
          </a:xfrm>
          <a:prstGeom prst="roundRect">
            <a:avLst>
              <a:gd name="adj" fmla="val 60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page2_figur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4115" y="10027503"/>
            <a:ext cx="26440280" cy="5925879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12832853" y="17104082"/>
            <a:ext cx="842189" cy="842188"/>
          </a:xfrm>
          <a:prstGeom prst="roundRect">
            <a:avLst>
              <a:gd name="adj" fmla="val 500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1889680" y="17104082"/>
            <a:ext cx="842188" cy="842188"/>
          </a:xfrm>
          <a:prstGeom prst="roundRect">
            <a:avLst>
              <a:gd name="adj" fmla="val 500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0946645" y="17104082"/>
            <a:ext cx="842189" cy="842188"/>
          </a:xfrm>
          <a:prstGeom prst="roundRect">
            <a:avLst>
              <a:gd name="adj" fmla="val 500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3601977" y="25122306"/>
            <a:ext cx="3321943" cy="3321943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pap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20510" y="25240839"/>
            <a:ext cx="3084877" cy="3084877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12493922" y="28881387"/>
            <a:ext cx="1176953" cy="819825"/>
          </a:xfrm>
          <a:prstGeom prst="roundRect">
            <a:avLst>
              <a:gd name="adj" fmla="val 50000"/>
            </a:avLst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3415E"/>
                </a:solidFill>
                <a:latin typeface="Arial"/>
              </a:rPr>
              <a:t>MC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827283" y="28881387"/>
            <a:ext cx="1201678" cy="819825"/>
          </a:xfrm>
          <a:prstGeom prst="roundRect">
            <a:avLst>
              <a:gd name="adj" fmla="val 50000"/>
            </a:avLst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3415E"/>
                </a:solidFill>
                <a:latin typeface="Arial"/>
              </a:rPr>
              <a:t>WS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5185370" y="28881387"/>
            <a:ext cx="1103332" cy="819825"/>
          </a:xfrm>
          <a:prstGeom prst="roundRect">
            <a:avLst>
              <a:gd name="adj" fmla="val 50000"/>
            </a:avLst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3415E"/>
                </a:solidFill>
                <a:latin typeface="Arial"/>
              </a:rPr>
              <a:t>NV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6445110" y="28881387"/>
            <a:ext cx="1103194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OT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359766" y="6867247"/>
            <a:ext cx="5412760" cy="706477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359766" y="7564834"/>
            <a:ext cx="5412760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72526" y="6867247"/>
            <a:ext cx="2585740" cy="706477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72526" y="7564834"/>
            <a:ext cx="2585740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58266" y="6867247"/>
            <a:ext cx="1808004" cy="706477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58266" y="7564834"/>
            <a:ext cx="1808004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0359766" y="7573724"/>
            <a:ext cx="541276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0359766" y="8509952"/>
            <a:ext cx="5412760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72526" y="7573724"/>
            <a:ext cx="258574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72526" y="8509952"/>
            <a:ext cx="2585740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8358266" y="7573724"/>
            <a:ext cx="180800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358266" y="8509952"/>
            <a:ext cx="1808004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0359766" y="8518842"/>
            <a:ext cx="541276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0359766" y="9455070"/>
            <a:ext cx="5412760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772526" y="8518842"/>
            <a:ext cx="258574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772526" y="9455070"/>
            <a:ext cx="2585740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8358266" y="8518842"/>
            <a:ext cx="180800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8358266" y="9455070"/>
            <a:ext cx="1808004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6379408" y="21527968"/>
            <a:ext cx="5566668" cy="706477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6379408" y="22225555"/>
            <a:ext cx="5566668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1946076" y="21527968"/>
            <a:ext cx="2044005" cy="706477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1946076" y="22225555"/>
            <a:ext cx="2044005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3990081" y="21527968"/>
            <a:ext cx="2900224" cy="706477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3990081" y="22225555"/>
            <a:ext cx="2900224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6890305" y="21527968"/>
            <a:ext cx="2044283" cy="706477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6890305" y="22225555"/>
            <a:ext cx="2044283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6379408" y="22234445"/>
            <a:ext cx="556666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6379408" y="23170673"/>
            <a:ext cx="5566668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1946076" y="22234445"/>
            <a:ext cx="204400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1946076" y="23170673"/>
            <a:ext cx="2044005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3990081" y="22234445"/>
            <a:ext cx="290022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3990081" y="23170673"/>
            <a:ext cx="2900224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6890305" y="22234445"/>
            <a:ext cx="204428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6890305" y="23170673"/>
            <a:ext cx="2044283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6379408" y="23179563"/>
            <a:ext cx="556666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6379408" y="24115791"/>
            <a:ext cx="5566668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1946076" y="23179563"/>
            <a:ext cx="204400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1946076" y="24115791"/>
            <a:ext cx="2044005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3990081" y="23179563"/>
            <a:ext cx="290022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3990081" y="24115791"/>
            <a:ext cx="2900224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6890305" y="23179563"/>
            <a:ext cx="204428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6890305" y="24115791"/>
            <a:ext cx="2044283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6379408" y="24124681"/>
            <a:ext cx="5566668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6379408" y="25060910"/>
            <a:ext cx="5566668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1946076" y="24124681"/>
            <a:ext cx="2044005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1946076" y="25060910"/>
            <a:ext cx="2044005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3990081" y="24124681"/>
            <a:ext cx="2900224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3990081" y="25060910"/>
            <a:ext cx="2900224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6890305" y="24124681"/>
            <a:ext cx="2044283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6890305" y="25060910"/>
            <a:ext cx="2044283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33415E"/>
                </a:solidFill>
                <a:latin typeface="Arial"/>
              </a:rPr>
              <a:t>Self-supervised detection of atmospheric</a:t>
            </a:r>
          </a:p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33415E"/>
                </a:solidFill>
                <a:latin typeface="Arial"/>
              </a:rPr>
              <a:t>phenomena from Sentinel-1 SAR imagery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Yannik Glaser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Peter Sadowski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Justin E. Stopa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Information &amp; Computer Sciences, Univ. of Hawaiʻi at Mānoa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Ocean Engineering, Univ. of Hawaiʻi at Mānoa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62241" y="5764887"/>
            <a:ext cx="10100698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Problem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493922" y="5764887"/>
            <a:ext cx="26867386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Method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0359766" y="5764887"/>
            <a:ext cx="10100699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Ablation Study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62241" y="6954341"/>
            <a:ext cx="10100698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Machine learning on </a:t>
            </a:r>
            <a:r>
              <a:rPr sz="4106" b="1">
                <a:solidFill>
                  <a:srgbClr val="111111"/>
                </a:solidFill>
                <a:latin typeface="Arial"/>
              </a:rPr>
              <a:t>Sentinel-1 SAR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ocean imagery is bottlenecked by </a:t>
            </a:r>
            <a:r>
              <a:rPr sz="4106" b="1">
                <a:solidFill>
                  <a:srgbClr val="111111"/>
                </a:solidFill>
                <a:latin typeface="Arial"/>
              </a:rPr>
              <a:t>sparse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expert labels</a:t>
            </a:r>
            <a:r>
              <a:rPr sz="4106" b="0">
                <a:solidFill>
                  <a:srgbClr val="1C1C1C"/>
                </a:solidFill>
                <a:latin typeface="Arial"/>
              </a:rPr>
              <a:t>: only trained analysts can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annotate radar vignettes, capping labeled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datasets at a few thousand images.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359766" y="10553402"/>
            <a:ext cx="10100699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Headline Numbers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62241" y="11083190"/>
            <a:ext cx="10100698" cy="2482873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Prior classifiers trained on a biased,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single-label dataset that misrepresents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the true ocean population.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62241" y="14513341"/>
            <a:ext cx="10100698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Motivation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0253086" y="16624994"/>
            <a:ext cx="10210579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Takeaway 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0253086" y="17727354"/>
            <a:ext cx="10210579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SSL pretraining on massive unlabeled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SAR </a:t>
            </a:r>
            <a:r>
              <a:rPr sz="4106" b="1">
                <a:solidFill>
                  <a:srgbClr val="111111"/>
                </a:solidFill>
                <a:latin typeface="Arial"/>
              </a:rPr>
              <a:t>matches but does not beat</a:t>
            </a:r>
            <a:r>
              <a:rPr sz="4106" b="0">
                <a:solidFill>
                  <a:srgbClr val="1C1C1C"/>
                </a:solidFill>
                <a:latin typeface="Arial"/>
              </a:rPr>
              <a:t> plain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ImageNet transfer here — yet both jump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far past the prior state of the art.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0253086" y="21012904"/>
            <a:ext cx="10210579" cy="3478545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SSL's promise for SAR is real but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unproven — longer training and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remote-sensing-specific pretext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tasks are the clear next step.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62222" y="15749190"/>
            <a:ext cx="10100717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Contrastive self-supervised learning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turns vast unlabeled pools into reusable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embeddings — proven on natural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medical images, yet barely tested on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remote-sensing SAR.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0820657" y="16937255"/>
            <a:ext cx="751994" cy="27373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8336"/>
              </a:lnSpc>
              <a:spcBef>
                <a:spcPts val="0"/>
              </a:spcBef>
              <a:spcAft>
                <a:spcPts val="0"/>
              </a:spcAft>
            </a:pPr>
            <a:r>
              <a:rPr sz="5749" b="1">
                <a:solidFill>
                  <a:srgbClr val="33415E"/>
                </a:solidFill>
                <a:latin typeface="Arial"/>
              </a:rPr>
              <a:t>›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877623" y="16937255"/>
            <a:ext cx="751993" cy="27373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8336"/>
              </a:lnSpc>
              <a:spcBef>
                <a:spcPts val="0"/>
              </a:spcBef>
              <a:spcAft>
                <a:spcPts val="0"/>
              </a:spcAft>
            </a:pPr>
            <a:r>
              <a:rPr sz="5749" b="1">
                <a:solidFill>
                  <a:srgbClr val="33415E"/>
                </a:solidFill>
                <a:latin typeface="Arial"/>
              </a:rPr>
              <a:t>›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62222" y="19712741"/>
            <a:ext cx="10100717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Can it turn that unlabeled stream into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strong, reusable SAR representation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and overcome the labeling bottleneck?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493922" y="20425608"/>
            <a:ext cx="1293183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Dataset / Benchmark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6379408" y="20425608"/>
            <a:ext cx="1293183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Key Results 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62222" y="22163881"/>
            <a:ext cx="10100717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The honest test:</a:t>
            </a:r>
            <a:r>
              <a:rPr sz="4106" b="0">
                <a:solidFill>
                  <a:srgbClr val="1C1C1C"/>
                </a:solidFill>
                <a:latin typeface="Arial"/>
              </a:rPr>
              <a:t> pretrain once on ~3M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images, then benchmark against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ImageNet transfer and the prior CmWV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classifier under three protocols.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6379408" y="25355252"/>
            <a:ext cx="12931835" cy="2233515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33415E"/>
                </a:solidFill>
                <a:latin typeface="Arial"/>
              </a:rPr>
              <a:t>Best fine-tuned micro-AUROC = 0.93 · +0.10–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33415E"/>
                </a:solidFill>
                <a:latin typeface="Arial"/>
              </a:rPr>
              <a:t>0.12 over CmWV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751746" y="26508313"/>
            <a:ext cx="9220510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Sentinel-1 alone collects </a:t>
            </a:r>
            <a:r>
              <a:rPr sz="4106" b="1">
                <a:solidFill>
                  <a:srgbClr val="111111"/>
                </a:solidFill>
                <a:latin typeface="Arial"/>
              </a:rPr>
              <a:t>~120,000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Wave-mode ocean images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every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month</a:t>
            </a:r>
            <a:r>
              <a:rPr sz="4106" b="0">
                <a:solidFill>
                  <a:srgbClr val="1C1C1C"/>
                </a:solidFill>
                <a:latin typeface="Arial"/>
              </a:rPr>
              <a:t> — an enormous free resource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contrastive learning could exploit.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6379408" y="27578446"/>
            <a:ext cx="12931835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Both models beat the prior CmWV state of the art on the hardest classes.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2435303" y="28610103"/>
            <a:ext cx="5825091" cy="56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901"/>
              </a:lnSpc>
              <a:spcBef>
                <a:spcPts val="0"/>
              </a:spcBef>
              <a:spcAft>
                <a:spcPts val="0"/>
              </a:spcAft>
            </a:pPr>
            <a:r>
              <a:rPr sz="3546" b="1">
                <a:solidFill>
                  <a:srgbClr val="33415E"/>
                </a:solidFill>
                <a:latin typeface="Arial"/>
              </a:rPr>
              <a:t>Scan to read the full paper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3389172" y="29271436"/>
            <a:ext cx="3859978" cy="474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247"/>
              </a:lnSpc>
              <a:spcBef>
                <a:spcPts val="0"/>
              </a:spcBef>
              <a:spcAft>
                <a:spcPts val="0"/>
              </a:spcAft>
            </a:pPr>
            <a:r>
              <a:rPr sz="2240" b="0">
                <a:solidFill>
                  <a:srgbClr val="555555"/>
                </a:solidFill>
                <a:latin typeface="Arial"/>
              </a:rPr>
              <a:t>ml4physicalsciences.github.io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2493904" y="6867247"/>
            <a:ext cx="26867404" cy="15594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Backbone:</a:t>
            </a:r>
            <a:r>
              <a:rPr sz="4106" b="0">
                <a:solidFill>
                  <a:srgbClr val="1C1C1C"/>
                </a:solidFill>
                <a:latin typeface="Arial"/>
              </a:rPr>
              <a:t> a standard ResNet-50 pretrained with </a:t>
            </a:r>
            <a:r>
              <a:rPr sz="4106" b="1">
                <a:solidFill>
                  <a:srgbClr val="111111"/>
                </a:solidFill>
                <a:latin typeface="Arial"/>
              </a:rPr>
              <a:t>SwAV</a:t>
            </a:r>
            <a:r>
              <a:rPr sz="4106" b="0">
                <a:solidFill>
                  <a:srgbClr val="1C1C1C"/>
                </a:solidFill>
                <a:latin typeface="Arial"/>
              </a:rPr>
              <a:t> — a clustering-based contrastive framework that trains</a:t>
            </a:r>
          </a:p>
          <a:p>
            <a:pPr algn="l" marL="573701" indent="0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the network to predict the swapped cluster assignment of one augmented view from another.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2493904" y="8317011"/>
            <a:ext cx="26867404" cy="15594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Modest batches, big compute:</a:t>
            </a:r>
            <a:r>
              <a:rPr sz="4106" b="0">
                <a:solidFill>
                  <a:srgbClr val="1C1C1C"/>
                </a:solidFill>
                <a:latin typeface="Arial"/>
              </a:rPr>
              <a:t> a feature queue (16 batches, 1000 centroids) avoids SimCLR-style giant</a:t>
            </a:r>
          </a:p>
          <a:p>
            <a:pPr algn="l" marL="573701" indent="0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batches; trained at batch 1024 on 8× V100, 65 epochs (~10 days), then fine-tuned on a single V100.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0605630" y="12205553"/>
            <a:ext cx="4781943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33415E"/>
                </a:solidFill>
                <a:latin typeface="Arial"/>
              </a:rPr>
              <a:t>0.93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0605630" y="13580447"/>
            <a:ext cx="4781943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Best micro-AUROC ·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fine-tuned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0605630" y="14623355"/>
            <a:ext cx="4781943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honest tie: SSL ≈ ImageNet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3551554" y="16102984"/>
            <a:ext cx="24752122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Example 20×20 km SAR scenes along the atmospheric-stability continuum: (a) MC, (b) MC/WS, (c) WS, (d) NV, and (e) a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biological slick (OT). Downstream, the embedding is scored under all three evaluation protocols below.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2832853" y="17104082"/>
            <a:ext cx="867454" cy="9685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01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1889680" y="17104082"/>
            <a:ext cx="867453" cy="9685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01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0946645" y="17104082"/>
            <a:ext cx="867454" cy="9685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01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2832853" y="18034892"/>
            <a:ext cx="7878339" cy="6116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88"/>
              </a:lnSpc>
              <a:spcBef>
                <a:spcPts val="0"/>
              </a:spcBef>
              <a:spcAft>
                <a:spcPts val="0"/>
              </a:spcAft>
            </a:pPr>
            <a:r>
              <a:rPr sz="3490" b="1">
                <a:solidFill>
                  <a:srgbClr val="1C1C1C"/>
                </a:solidFill>
                <a:latin typeface="Arial"/>
              </a:rPr>
              <a:t>Weighted kNN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889680" y="18034892"/>
            <a:ext cx="7878481" cy="6116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88"/>
              </a:lnSpc>
              <a:spcBef>
                <a:spcPts val="0"/>
              </a:spcBef>
              <a:spcAft>
                <a:spcPts val="0"/>
              </a:spcAft>
            </a:pPr>
            <a:r>
              <a:rPr sz="3490" b="1">
                <a:solidFill>
                  <a:srgbClr val="1C1C1C"/>
                </a:solidFill>
                <a:latin typeface="Arial"/>
              </a:rPr>
              <a:t>Linear probe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0946645" y="18034892"/>
            <a:ext cx="7878482" cy="6116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88"/>
              </a:lnSpc>
              <a:spcBef>
                <a:spcPts val="0"/>
              </a:spcBef>
              <a:spcAft>
                <a:spcPts val="0"/>
              </a:spcAft>
            </a:pPr>
            <a:r>
              <a:rPr sz="3490" b="1">
                <a:solidFill>
                  <a:srgbClr val="1C1C1C"/>
                </a:solidFill>
                <a:latin typeface="Arial"/>
              </a:rPr>
              <a:t>Fine-tune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2832853" y="18621494"/>
            <a:ext cx="7878339" cy="6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68"/>
              </a:lnSpc>
              <a:spcBef>
                <a:spcPts val="0"/>
              </a:spcBef>
              <a:spcAft>
                <a:spcPts val="0"/>
              </a:spcAft>
            </a:pPr>
            <a:r>
              <a:rPr sz="2874" b="0" i="1">
                <a:solidFill>
                  <a:srgbClr val="555555"/>
                </a:solidFill>
                <a:latin typeface="Arial"/>
              </a:rPr>
              <a:t>frozen backbone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889680" y="18621494"/>
            <a:ext cx="7878481" cy="6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68"/>
              </a:lnSpc>
              <a:spcBef>
                <a:spcPts val="0"/>
              </a:spcBef>
              <a:spcAft>
                <a:spcPts val="0"/>
              </a:spcAft>
            </a:pPr>
            <a:r>
              <a:rPr sz="2874" b="0" i="1">
                <a:solidFill>
                  <a:srgbClr val="555555"/>
                </a:solidFill>
                <a:latin typeface="Arial"/>
              </a:rPr>
              <a:t>frozen + softmax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0946645" y="18621494"/>
            <a:ext cx="7878482" cy="6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68"/>
              </a:lnSpc>
              <a:spcBef>
                <a:spcPts val="0"/>
              </a:spcBef>
              <a:spcAft>
                <a:spcPts val="0"/>
              </a:spcAft>
            </a:pPr>
            <a:r>
              <a:rPr sz="2874" b="0" i="1">
                <a:solidFill>
                  <a:srgbClr val="555555"/>
                </a:solidFill>
                <a:latin typeface="Arial"/>
              </a:rPr>
              <a:t>all weights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2493904" y="21527968"/>
            <a:ext cx="1293185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Pretraining pool:</a:t>
            </a:r>
            <a:r>
              <a:rPr sz="4106" b="0">
                <a:solidFill>
                  <a:srgbClr val="1C1C1C"/>
                </a:solidFill>
                <a:latin typeface="Arial"/>
              </a:rPr>
              <a:t> 2,943,550 unlabeled Sentinel-1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A/B Wave-mode images (2017–2019), each 20×20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km at 5 m resolution.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2493904" y="23979108"/>
            <a:ext cx="1293185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Labeled benchmark:</a:t>
            </a:r>
            <a:r>
              <a:rPr sz="4106" b="0">
                <a:solidFill>
                  <a:srgbClr val="1C1C1C"/>
                </a:solidFill>
                <a:latin typeface="Arial"/>
              </a:rPr>
              <a:t> 2,300 expert-consensus,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multi-label vignettes, split 60/20/20 across train,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validation, and test.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493904" y="26430247"/>
            <a:ext cx="1293185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Freely available</a:t>
            </a:r>
            <a:r>
              <a:rPr sz="4106" b="0">
                <a:solidFill>
                  <a:srgbClr val="1C1C1C"/>
                </a:solidFill>
                <a:latin typeface="Arial"/>
              </a:rPr>
              <a:t> from ESA's Open Access Hub, at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no cost and with no licensing restrictions; tiles zero-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padded to 450×450 px.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0359766" y="6867247"/>
            <a:ext cx="5575142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PROTOCOL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5772526" y="6867247"/>
            <a:ext cx="2663312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IMAGENET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8358266" y="6867247"/>
            <a:ext cx="1862244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SWAV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0359766" y="7573724"/>
            <a:ext cx="5575142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Weighted kNN </a:t>
            </a:r>
            <a:r>
              <a:rPr sz="3901" b="0">
                <a:solidFill>
                  <a:srgbClr val="1C1C1C"/>
                </a:solidFill>
                <a:latin typeface="Arial"/>
              </a:rPr>
              <a:t>frozen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5772526" y="7573724"/>
            <a:ext cx="2663312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0.859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8358266" y="7573724"/>
            <a:ext cx="186224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0.864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0359766" y="8518842"/>
            <a:ext cx="5575142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Full fine-tune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5772526" y="8518842"/>
            <a:ext cx="2663312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0.931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8358266" y="8518842"/>
            <a:ext cx="186224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0.929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6300231" y="11878012"/>
            <a:ext cx="122599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2.9M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7673041" y="12011362"/>
            <a:ext cx="2314784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unlabeled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SAR images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6300231" y="13125529"/>
            <a:ext cx="137722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2,300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7819865" y="13258879"/>
            <a:ext cx="2163556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labeled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vignettes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6300231" y="14373046"/>
            <a:ext cx="1392962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+0.10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7835145" y="14506396"/>
            <a:ext cx="2147817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WS AUROC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vs CmWV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6379408" y="21527968"/>
            <a:ext cx="5733668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CLASS · AUROC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1946076" y="21527968"/>
            <a:ext cx="2105325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CMWV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3990081" y="21527968"/>
            <a:ext cx="2987230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IMAGENET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6890305" y="21527968"/>
            <a:ext cx="2105611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SWAV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6379408" y="22234445"/>
            <a:ext cx="573366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Wind streaks (WS)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1946076" y="22234445"/>
            <a:ext cx="210532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0.727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3990081" y="22234445"/>
            <a:ext cx="2987230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0.850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6890305" y="22234445"/>
            <a:ext cx="210561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0.831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6379408" y="23179563"/>
            <a:ext cx="573366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Convection (MC)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1946076" y="23179563"/>
            <a:ext cx="210532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0.793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3990081" y="23179563"/>
            <a:ext cx="2987230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0.873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6890305" y="23179563"/>
            <a:ext cx="210561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0.872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6379408" y="24124681"/>
            <a:ext cx="5733668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Negligible var. (NV)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1946076" y="24124681"/>
            <a:ext cx="2105325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~0.95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3990081" y="24124681"/>
            <a:ext cx="2987230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~0.95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6890305" y="24124681"/>
            <a:ext cx="2105611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~0.95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
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1887" y="651887"/>
            <a:ext cx="49902625" cy="42478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4855329"/>
            <a:ext cx="49902625" cy="44450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5421233"/>
            <a:ext cx="16349682" cy="5759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1887" y="5421233"/>
            <a:ext cx="1634968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28289" y="5421233"/>
            <a:ext cx="16349682" cy="20143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428289" y="5421233"/>
            <a:ext cx="1634968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04691" y="5421233"/>
            <a:ext cx="16349821" cy="1472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5421233"/>
            <a:ext cx="1634982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887" y="11512688"/>
            <a:ext cx="16349682" cy="1855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887" y="11512688"/>
            <a:ext cx="1634968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04691" y="20481032"/>
            <a:ext cx="16349821" cy="42619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04691" y="20481032"/>
            <a:ext cx="1634982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04691" y="25074800"/>
            <a:ext cx="16349821" cy="4997152"/>
          </a:xfrm>
          <a:prstGeom prst="rect">
            <a:avLst/>
          </a:prstGeom>
          <a:solidFill>
            <a:srgbClr val="F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04691" y="25074800"/>
            <a:ext cx="1634982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04691" y="25074800"/>
            <a:ext cx="53340" cy="4997152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428289" y="25896708"/>
            <a:ext cx="16349682" cy="41752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428289" y="25896708"/>
            <a:ext cx="1634968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university-of-california-berke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3164" y="1388931"/>
            <a:ext cx="8629134" cy="2729214"/>
          </a:xfrm>
          <a:prstGeom prst="rect">
            <a:avLst/>
          </a:prstGeom>
        </p:spPr>
      </p:pic>
      <p:pic>
        <p:nvPicPr>
          <p:cNvPr id="20" name="Picture 19" descr="meta-ai-re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9272" y="1388923"/>
            <a:ext cx="2046923" cy="2729230"/>
          </a:xfrm>
          <a:prstGeom prst="rect">
            <a:avLst/>
          </a:prstGeom>
        </p:spPr>
      </p:pic>
      <p:pic>
        <p:nvPicPr>
          <p:cNvPr id="21" name="Picture 20" descr="_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369" y="1805376"/>
            <a:ext cx="5620424" cy="1896463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88861" y="9343251"/>
            <a:ext cx="15875734" cy="1647983"/>
          </a:xfrm>
          <a:prstGeom prst="roundRect">
            <a:avLst>
              <a:gd name="adj" fmla="val 12659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441665" y="10051256"/>
            <a:ext cx="15875873" cy="1252101"/>
          </a:xfrm>
          <a:prstGeom prst="roundRect">
            <a:avLst>
              <a:gd name="adj" fmla="val 50000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441665" y="18237557"/>
            <a:ext cx="15875873" cy="15679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441665" y="18237557"/>
            <a:ext cx="15875873" cy="11557"/>
          </a:xfrm>
          <a:prstGeom prst="rect">
            <a:avLst/>
          </a:prstGeom>
          <a:solidFill>
            <a:srgbClr val="BAB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441665" y="21873706"/>
            <a:ext cx="15875873" cy="2702282"/>
          </a:xfrm>
          <a:prstGeom prst="roundRect">
            <a:avLst>
              <a:gd name="adj" fmla="val 2631"/>
            </a:avLst>
          </a:prstGeom>
          <a:gradFill rotWithShape="1" flip="none">
            <a:gsLst>
              <a:gs pos="0">
                <a:srgbClr val="E7E9EB"/>
              </a:gs>
              <a:gs pos="100000">
                <a:srgbClr val="F3F4F5"/>
              </a:gs>
            </a:gsLst>
            <a:lin ang="5400000" scaled="0"/>
          </a:gradFill>
          <a:ln w="8890">
            <a:solidFill>
              <a:srgbClr val="CDD1D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495005" y="28240612"/>
            <a:ext cx="15822533" cy="1668820"/>
          </a:xfrm>
          <a:prstGeom prst="roundRect">
            <a:avLst>
              <a:gd name="adj" fmla="val 12500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997290" y="11998027"/>
            <a:ext cx="14764485" cy="4734619"/>
          </a:xfrm>
          <a:prstGeom prst="roundRect">
            <a:avLst>
              <a:gd name="adj" fmla="val 75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igur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97290" y="11998035"/>
            <a:ext cx="14764485" cy="4734603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8263393" y="13265269"/>
            <a:ext cx="14679474" cy="10505618"/>
          </a:xfrm>
          <a:prstGeom prst="roundRect">
            <a:avLst>
              <a:gd name="adj" fmla="val 33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igur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63426" y="13265269"/>
            <a:ext cx="14679408" cy="1050561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888861" y="17704435"/>
            <a:ext cx="15875734" cy="10716895"/>
          </a:xfrm>
          <a:prstGeom prst="roundRect">
            <a:avLst>
              <a:gd name="adj" fmla="val 33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960" y="17704435"/>
            <a:ext cx="15875536" cy="10716895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028530" y="22095956"/>
            <a:ext cx="4043144" cy="23052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028530" y="22095956"/>
            <a:ext cx="11557" cy="2305288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7665263" y="29062521"/>
            <a:ext cx="1990527" cy="819824"/>
          </a:xfrm>
          <a:prstGeom prst="roundRect">
            <a:avLst>
              <a:gd name="adj" fmla="val 50000"/>
            </a:avLst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8465C"/>
                </a:solidFill>
                <a:latin typeface="Arial"/>
              </a:rPr>
              <a:t>Drawer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812198" y="29062521"/>
            <a:ext cx="3923268" cy="819824"/>
          </a:xfrm>
          <a:prstGeom prst="roundRect">
            <a:avLst>
              <a:gd name="adj" fmla="val 50000"/>
            </a:avLst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8465C"/>
                </a:solidFill>
                <a:latin typeface="Arial"/>
              </a:rPr>
              <a:t>Button + Drawer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891875" y="29062521"/>
            <a:ext cx="2236112" cy="819824"/>
          </a:xfrm>
          <a:prstGeom prst="roundRect">
            <a:avLst>
              <a:gd name="adj" fmla="val 50000"/>
            </a:avLst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8465C"/>
                </a:solidFill>
                <a:latin typeface="Arial"/>
              </a:rPr>
              <a:t>Analogy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284396" y="29062521"/>
            <a:ext cx="4531816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+ Video Distractors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441665" y="7160756"/>
            <a:ext cx="11168063" cy="814407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441665" y="7966273"/>
            <a:ext cx="1116806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09728" y="7160756"/>
            <a:ext cx="4707810" cy="814407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609728" y="7966273"/>
            <a:ext cx="470781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441665" y="7975163"/>
            <a:ext cx="11168063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441665" y="8785125"/>
            <a:ext cx="1116806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609728" y="7975163"/>
            <a:ext cx="4707810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609728" y="8785125"/>
            <a:ext cx="470781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441665" y="8794015"/>
            <a:ext cx="11168063" cy="818853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4441665" y="9603978"/>
            <a:ext cx="1116806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609728" y="8794015"/>
            <a:ext cx="4707810" cy="818853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609728" y="9603978"/>
            <a:ext cx="470781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795"/>
              </a:lnSpc>
              <a:spcBef>
                <a:spcPts val="0"/>
              </a:spcBef>
              <a:spcAft>
                <a:spcPts val="0"/>
              </a:spcAft>
            </a:pPr>
            <a:r>
              <a:rPr sz="7087" b="1" spc="-78">
                <a:solidFill>
                  <a:srgbClr val="111111"/>
                </a:solidFill>
                <a:latin typeface="Arial"/>
              </a:rPr>
              <a:t>Bisimulation Makes Analogies in Goal-Conditioned</a:t>
            </a:r>
          </a:p>
          <a:p>
            <a:pPr algn="ctr">
              <a:lnSpc>
                <a:spcPts val="7795"/>
              </a:lnSpc>
              <a:spcBef>
                <a:spcPts val="0"/>
              </a:spcBef>
              <a:spcAft>
                <a:spcPts val="0"/>
              </a:spcAft>
            </a:pPr>
            <a:r>
              <a:rPr sz="7087" b="1" spc="-78">
                <a:solidFill>
                  <a:srgbClr val="111111"/>
                </a:solidFill>
                <a:latin typeface="Arial"/>
              </a:rPr>
              <a:t>Reinforcement Learning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C1C1C"/>
                </a:solidFill>
                <a:latin typeface="Arial"/>
              </a:rPr>
              <a:t>Philippe Hansen-Estruch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Amy Zhang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1,2</a:t>
            </a:r>
            <a:r>
              <a:rPr sz="3733" b="0">
                <a:solidFill>
                  <a:srgbClr val="1C1C1C"/>
                </a:solidFill>
                <a:latin typeface="Arial"/>
              </a:rPr>
              <a:t>, Ashvin Nair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Patrick Yin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Sergey Levine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A5A5A"/>
                </a:solidFill>
                <a:latin typeface="Arial"/>
              </a:rPr>
              <a:t>1</a:t>
            </a:r>
            <a:r>
              <a:rPr sz="2613" b="0" spc="52">
                <a:solidFill>
                  <a:srgbClr val="5A5A5A"/>
                </a:solidFill>
                <a:latin typeface="Arial"/>
              </a:rPr>
              <a:t> University of California, Berkeley    </a:t>
            </a:r>
            <a:r>
              <a:rPr sz="3658" b="0" spc="52" baseline="30000">
                <a:solidFill>
                  <a:srgbClr val="5A5A5A"/>
                </a:solidFill>
                <a:latin typeface="Arial"/>
              </a:rPr>
              <a:t>2</a:t>
            </a:r>
            <a:r>
              <a:rPr sz="2613" b="0" spc="52">
                <a:solidFill>
                  <a:srgbClr val="5A5A5A"/>
                </a:solidFill>
                <a:latin typeface="Arial"/>
              </a:rPr>
              <a:t> Meta AI Research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8861" y="5747107"/>
            <a:ext cx="1630245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665263" y="5747107"/>
            <a:ext cx="16302454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441665" y="5747107"/>
            <a:ext cx="1630259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8861" y="6813907"/>
            <a:ext cx="16302454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Goal-conditioned RL assumes the agent is handed the </a:t>
            </a:r>
            <a:r>
              <a:rPr sz="4106" b="1">
                <a:solidFill>
                  <a:srgbClr val="111111"/>
                </a:solidFill>
                <a:latin typeface="Arial"/>
              </a:rPr>
              <a:t>exact goal configuration</a:t>
            </a:r>
            <a:r>
              <a:rPr sz="4106" b="0">
                <a:solidFill>
                  <a:srgbClr val="1C1C1C"/>
                </a:solidFill>
                <a:latin typeface="Arial"/>
              </a:rPr>
              <a:t> — yet the precise goal state is usually unknown before a task is even attempted.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8861" y="9343251"/>
            <a:ext cx="16302454" cy="1895180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8465C"/>
                </a:solidFill>
                <a:latin typeface="Arial"/>
              </a:rPr>
              <a:t>A scalable interface should instead let a user give an </a:t>
            </a:r>
            <a:r>
              <a:rPr sz="4106" b="0" i="1">
                <a:solidFill>
                  <a:srgbClr val="38465C"/>
                </a:solidFill>
                <a:latin typeface="Arial"/>
              </a:rPr>
              <a:t>analogous example</a:t>
            </a:r>
            <a:r>
              <a:rPr sz="4106" b="0">
                <a:solidFill>
                  <a:srgbClr val="38465C"/>
                </a:solidFill>
                <a:latin typeface="Arial"/>
              </a:rPr>
              <a:t> and have the agent infer its own goal.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41665" y="10051256"/>
            <a:ext cx="16302593" cy="1439916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8465C"/>
                </a:solidFill>
                <a:latin typeface="Arial"/>
              </a:rPr>
              <a:t>2.3× the next best on Analogy · best on 5 / 6 settings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8861" y="11838562"/>
            <a:ext cx="1630245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665263" y="12298898"/>
            <a:ext cx="9612531" cy="6645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composability — goals add by arithmetic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441665" y="18237557"/>
            <a:ext cx="16302593" cy="1803168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Only GCB infers goals from an analogy — and stays robust under distractors.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441665" y="20806906"/>
            <a:ext cx="16302593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495005" y="25400674"/>
            <a:ext cx="1624925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665263" y="26222582"/>
            <a:ext cx="1630245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Dataset / Benchmark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495005" y="26467474"/>
            <a:ext cx="16249253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Bisimulation as an equivalence over </a:t>
            </a:r>
            <a:r>
              <a:rPr sz="4106" b="1">
                <a:solidFill>
                  <a:srgbClr val="111111"/>
                </a:solidFill>
                <a:latin typeface="Arial"/>
              </a:rPr>
              <a:t>tasks</a:t>
            </a:r>
            <a:r>
              <a:rPr sz="4106" b="0">
                <a:solidFill>
                  <a:srgbClr val="1C1C1C"/>
                </a:solidFill>
                <a:latin typeface="Arial"/>
              </a:rPr>
              <a:t>, not just states, lets goals compose by </a:t>
            </a:r>
            <a:r>
              <a:rPr sz="4106" b="1">
                <a:solidFill>
                  <a:srgbClr val="111111"/>
                </a:solidFill>
                <a:latin typeface="Arial"/>
              </a:rPr>
              <a:t>latent arithmetic</a:t>
            </a:r>
            <a:r>
              <a:rPr sz="4106" b="0">
                <a:solidFill>
                  <a:srgbClr val="1C1C1C"/>
                </a:solidFill>
                <a:latin typeface="Arial"/>
              </a:rPr>
              <a:t> and generalize to unseen goals.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665263" y="27289382"/>
            <a:ext cx="16302454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PyBullet manipulation over </a:t>
            </a:r>
            <a:r>
              <a:rPr sz="4106" b="1">
                <a:solidFill>
                  <a:srgbClr val="111111"/>
                </a:solidFill>
                <a:latin typeface="Arial"/>
              </a:rPr>
              <a:t>84 object geometries</a:t>
            </a:r>
            <a:r>
              <a:rPr sz="4106" b="0">
                <a:solidFill>
                  <a:srgbClr val="1C1C1C"/>
                </a:solidFill>
                <a:latin typeface="Arial"/>
              </a:rPr>
              <a:t> — success vs. the true goal over </a:t>
            </a:r>
            <a:r>
              <a:rPr sz="4106" b="1">
                <a:solidFill>
                  <a:srgbClr val="111111"/>
                </a:solidFill>
                <a:latin typeface="Arial"/>
              </a:rPr>
              <a:t>5 seeds</a:t>
            </a:r>
            <a:r>
              <a:rPr sz="4106" b="0">
                <a:solidFill>
                  <a:srgbClr val="1C1C1C"/>
                </a:solidFill>
                <a:latin typeface="Arial"/>
              </a:rPr>
              <a:t>, offline RL (IQL).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495005" y="28240612"/>
            <a:ext cx="16249253" cy="1919142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Point a robot at an example task; it infers its own goal — provably sufficient for any state-only reward.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665245" y="6852245"/>
            <a:ext cx="16302472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Learn a Siamese </a:t>
            </a:r>
            <a:r>
              <a:rPr sz="4106" b="1">
                <a:solidFill>
                  <a:srgbClr val="111111"/>
                </a:solidFill>
                <a:latin typeface="Arial"/>
              </a:rPr>
              <a:t>state encoder ψ</a:t>
            </a:r>
            <a:r>
              <a:rPr sz="4106" b="0">
                <a:solidFill>
                  <a:srgbClr val="1C1C1C"/>
                </a:solidFill>
                <a:latin typeface="Arial"/>
              </a:rPr>
              <a:t> and a </a:t>
            </a:r>
            <a:r>
              <a:rPr sz="4106" b="1">
                <a:solidFill>
                  <a:srgbClr val="111111"/>
                </a:solidFill>
                <a:latin typeface="Arial"/>
              </a:rPr>
              <a:t>state-goal encoder φ</a:t>
            </a:r>
            <a:r>
              <a:rPr sz="4106" b="0">
                <a:solidFill>
                  <a:srgbClr val="1C1C1C"/>
                </a:solidFill>
                <a:latin typeface="Arial"/>
              </a:rPr>
              <a:t> fit to an on-policy goal-conditioned bisimulation metric.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665245" y="8547179"/>
            <a:ext cx="16302472" cy="18370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At </a:t>
            </a:r>
            <a:r>
              <a:rPr sz="4106" b="1">
                <a:solidFill>
                  <a:srgbClr val="111111"/>
                </a:solidFill>
                <a:latin typeface="Arial"/>
              </a:rPr>
              <a:t>test time</a:t>
            </a:r>
            <a:r>
              <a:rPr sz="4106" b="0">
                <a:solidFill>
                  <a:srgbClr val="1C1C1C"/>
                </a:solidFill>
                <a:latin typeface="Arial"/>
              </a:rPr>
              <a:t>, compute </a:t>
            </a:r>
            <a:r>
              <a:rPr sz="4106" b="1">
                <a:solidFill>
                  <a:srgbClr val="111111"/>
                </a:solidFill>
                <a:latin typeface="Arial"/>
              </a:rPr>
              <a:t>ψ(s)+φ(s</a:t>
            </a:r>
            <a:r>
              <a:rPr sz="5749" b="1" baseline="-25000">
                <a:solidFill>
                  <a:srgbClr val="111111"/>
                </a:solidFill>
                <a:latin typeface="Arial"/>
              </a:rPr>
              <a:t>a</a:t>
            </a:r>
            <a:r>
              <a:rPr sz="4106" b="1">
                <a:solidFill>
                  <a:srgbClr val="111111"/>
                </a:solidFill>
                <a:latin typeface="Arial"/>
              </a:rPr>
              <a:t>,g</a:t>
            </a:r>
            <a:r>
              <a:rPr sz="5749" b="1" baseline="-25000">
                <a:solidFill>
                  <a:srgbClr val="111111"/>
                </a:solidFill>
                <a:latin typeface="Arial"/>
              </a:rPr>
              <a:t>a</a:t>
            </a:r>
            <a:r>
              <a:rPr sz="4106" b="1">
                <a:solidFill>
                  <a:srgbClr val="111111"/>
                </a:solidFill>
                <a:latin typeface="Arial"/>
              </a:rPr>
              <a:t>)</a:t>
            </a:r>
            <a:r>
              <a:rPr sz="4106" b="0">
                <a:solidFill>
                  <a:srgbClr val="1C1C1C"/>
                </a:solidFill>
                <a:latin typeface="Arial"/>
              </a:rPr>
              <a:t> and take its nearest ψ-neighbour as the inferred goal.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8842" y="13101498"/>
            <a:ext cx="16302473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Humans solve whole </a:t>
            </a:r>
            <a:r>
              <a:rPr sz="4106" b="1">
                <a:solidFill>
                  <a:srgbClr val="111111"/>
                </a:solidFill>
                <a:latin typeface="Arial"/>
              </a:rPr>
              <a:t>families of tasks</a:t>
            </a:r>
            <a:r>
              <a:rPr sz="4106" b="0">
                <a:solidFill>
                  <a:srgbClr val="1C1C1C"/>
                </a:solidFill>
                <a:latin typeface="Arial"/>
              </a:rPr>
              <a:t> because a goal representation can be </a:t>
            </a:r>
            <a:r>
              <a:rPr sz="4106" b="1">
                <a:solidFill>
                  <a:srgbClr val="111111"/>
                </a:solidFill>
                <a:latin typeface="Arial"/>
              </a:rPr>
              <a:t>invariant</a:t>
            </a:r>
            <a:r>
              <a:rPr sz="4106" b="0">
                <a:solidFill>
                  <a:srgbClr val="1C1C1C"/>
                </a:solidFill>
                <a:latin typeface="Arial"/>
              </a:rPr>
              <a:t> to irrelevant details yet </a:t>
            </a:r>
            <a:r>
              <a:rPr sz="4106" b="1">
                <a:solidFill>
                  <a:srgbClr val="111111"/>
                </a:solidFill>
                <a:latin typeface="Arial"/>
              </a:rPr>
              <a:t>equivariant</a:t>
            </a:r>
            <a:r>
              <a:rPr sz="4106" b="0">
                <a:solidFill>
                  <a:srgbClr val="1C1C1C"/>
                </a:solidFill>
                <a:latin typeface="Arial"/>
              </a:rPr>
              <a:t> to the parts that differ.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8842" y="15552638"/>
            <a:ext cx="16302473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bisimulation methods only made a representation robust to distractors </a:t>
            </a:r>
            <a:r>
              <a:rPr sz="4106" b="1">
                <a:solidFill>
                  <a:srgbClr val="111111"/>
                </a:solidFill>
                <a:latin typeface="Arial"/>
              </a:rPr>
              <a:t>within a single task</a:t>
            </a:r>
            <a:r>
              <a:rPr sz="4106" b="0">
                <a:solidFill>
                  <a:srgbClr val="1C1C1C"/>
                </a:solidFill>
                <a:latin typeface="Arial"/>
              </a:rPr>
              <a:t>, not across analogous goals.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587920" y="16882248"/>
            <a:ext cx="13990721" cy="1362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Analogy arithmetic: ψ(s) + φ(s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a</a:t>
            </a:r>
            <a:r>
              <a:rPr sz="3367" b="0" i="1">
                <a:solidFill>
                  <a:srgbClr val="555555"/>
                </a:solidFill>
                <a:latin typeface="Arial"/>
              </a:rPr>
              <a:t>,g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a</a:t>
            </a:r>
            <a:r>
              <a:rPr sz="3367" b="0" i="1">
                <a:solidFill>
                  <a:srgbClr val="555555"/>
                </a:solidFill>
                <a:latin typeface="Arial"/>
              </a:rPr>
              <a:t>) composes a goal; rightmost = its nearest neighbour in ψ space.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850550" y="23920489"/>
            <a:ext cx="13910171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GCB representation learning: a Siamese state encoder ψ and state-goal encoder φ make goals composable.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23940" y="28570932"/>
            <a:ext cx="15032295" cy="1278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Analogous tasks share the same skill and functional change from start to goal.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687529" y="22095956"/>
            <a:ext cx="1109033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8465C"/>
                </a:solidFill>
                <a:latin typeface="Arial"/>
              </a:rPr>
              <a:t>0.403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687529" y="23470850"/>
            <a:ext cx="11090337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Analogy success (GCB)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687529" y="23992304"/>
            <a:ext cx="11090337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2.3× next-best (0.176)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441665" y="7160756"/>
            <a:ext cx="11503104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Method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609728" y="7160756"/>
            <a:ext cx="4849044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Metric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441665" y="7975163"/>
            <a:ext cx="11503104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CPV (next best)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609728" y="7975163"/>
            <a:ext cx="4849044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0.176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441665" y="8794015"/>
            <a:ext cx="11503104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GCB (ours)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609728" y="8794015"/>
            <a:ext cx="4849044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0.403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506784" y="22095956"/>
            <a:ext cx="137722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0.448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026419" y="22229306"/>
            <a:ext cx="210661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Drawer + VD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506784" y="22951201"/>
            <a:ext cx="137722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0.322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026419" y="23084551"/>
            <a:ext cx="1435025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BD + VD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506784" y="23806586"/>
            <a:ext cx="1064753" cy="62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 / 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723047" y="23939936"/>
            <a:ext cx="2035935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settings won</a:t>
            </a:r>
          </a:p>
        </p:txBody>
      </p:sp>
      <p:pic>
        <p:nvPicPr>
          <p:cNvPr id="92" name="Picture 91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65263" y="10886916"/>
            <a:ext cx="15875734" cy="8016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
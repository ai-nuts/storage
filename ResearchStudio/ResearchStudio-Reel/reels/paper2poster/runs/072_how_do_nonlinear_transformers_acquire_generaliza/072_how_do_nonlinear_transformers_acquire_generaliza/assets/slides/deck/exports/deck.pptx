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2024</a:t>
            </a:r>
          </a:p>
        </p:txBody>
      </p:sp>
      <p:sp>
        <p:nvSpPr>
          <p:cNvPr id="3" name="TextBox 3"/>
          <p:cNvSpPr txBox="1"/>
          <p:nvPr/>
        </p:nvSpPr>
        <p:spPr>
          <a:xfrm>
            <a:off x="8927823" y="572452"/>
            <a:ext cx="265991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Rensselaer Polytechnic · IBM Watson</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6646" y="1153478"/>
            <a:ext cx="7331161" cy="498729"/>
          </a:xfrm>
          <a:prstGeom prst="rect">
            <a:avLst/>
          </a:prstGeom>
          <a:noFill/>
          <a:ln>
            <a:noFill/>
          </a:ln>
        </p:spPr>
        <p:txBody>
          <a:bodyPr wrap="none" lIns="0" tIns="0" rIns="0" bIns="0" anchor="t" anchorCtr="0">
            <a:spAutoFit/>
          </a:bodyPr>
          <a:lstStyle/>
          <a:p>
            <a:pPr algn="l"/>
            <a:r>
              <a:rPr lang="en-US" sz="2550" b="1" dirty="0">
                <a:solidFill>
                  <a:srgbClr val="FFFFFF"/>
                </a:solidFill>
                <a:latin typeface="+mn-lt"/>
                <a:ea typeface="+mn-ea"/>
                <a:cs typeface="+mn-cs"/>
              </a:rPr>
              <a:t>How Do Nonlinear Transformers Learn and</a:t>
            </a:r>
          </a:p>
        </p:txBody>
      </p:sp>
      <p:sp>
        <p:nvSpPr>
          <p:cNvPr id="6" name="TextBox 6"/>
          <p:cNvSpPr txBox="1"/>
          <p:nvPr/>
        </p:nvSpPr>
        <p:spPr>
          <a:xfrm>
            <a:off x="596646" y="1553528"/>
            <a:ext cx="6092337"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Generalize in In-Context Learning?</a:t>
            </a:r>
          </a:p>
        </p:txBody>
      </p:sp>
      <p:sp>
        <p:nvSpPr>
          <p:cNvPr id="7" name="Rectangle 7"/>
          <p:cNvSpPr/>
          <p:nvPr/>
        </p:nvSpPr>
        <p:spPr>
          <a:xfrm>
            <a:off x="609600" y="2057400"/>
            <a:ext cx="1866900" cy="285750"/>
          </a:xfrm>
          <a:prstGeom prst="roundRect">
            <a:avLst>
              <a:gd name="adj" fmla="val 50000"/>
            </a:avLst>
          </a:prstGeom>
          <a:solidFill>
            <a:srgbClr val="0F2E2B"/>
          </a:solidFill>
          <a:ln w="14288">
            <a:solidFill>
              <a:srgbClr val="34D3C0"/>
            </a:solidFill>
          </a:ln>
        </p:spPr>
        <p:txBody>
          <a:bodyPr/>
          <a:p/>
        </p:txBody>
      </p:sp>
      <p:sp>
        <p:nvSpPr>
          <p:cNvPr id="8" name="TextBox 8"/>
          <p:cNvSpPr txBox="1"/>
          <p:nvPr/>
        </p:nvSpPr>
        <p:spPr>
          <a:xfrm>
            <a:off x="864733" y="2118360"/>
            <a:ext cx="1356634" cy="234696"/>
          </a:xfrm>
          <a:prstGeom prst="rect">
            <a:avLst/>
          </a:prstGeom>
          <a:noFill/>
          <a:ln>
            <a:noFill/>
          </a:ln>
        </p:spPr>
        <p:txBody>
          <a:bodyPr wrap="none" lIns="0" tIns="0" rIns="0" bIns="0" anchor="t" anchorCtr="0">
            <a:spAutoFit/>
          </a:bodyPr>
          <a:lstStyle/>
          <a:p>
            <a:pPr algn="ctr"/>
            <a:r>
              <a:rPr lang="en-US" sz="1200" b="1" dirty="0">
                <a:solidFill>
                  <a:srgbClr val="34D3C0"/>
                </a:solidFill>
                <a:latin typeface="+mn-lt"/>
                <a:ea typeface="+mn-ea"/>
                <a:cs typeface="+mn-cs"/>
              </a:rPr>
              <a:t>First ICL theory</a:t>
            </a:r>
          </a:p>
        </p:txBody>
      </p:sp>
      <p:sp>
        <p:nvSpPr>
          <p:cNvPr id="9" name="TextBox 9"/>
          <p:cNvSpPr txBox="1"/>
          <p:nvPr/>
        </p:nvSpPr>
        <p:spPr>
          <a:xfrm>
            <a:off x="2623185" y="2126456"/>
            <a:ext cx="5037797"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nonlinear attention + nonlinear MLP, trained by gradient descent</a:t>
            </a:r>
          </a:p>
        </p:txBody>
      </p:sp>
      <p:sp>
        <p:nvSpPr>
          <p:cNvPr id="10" name="TextBox 10"/>
          <p:cNvSpPr txBox="1"/>
          <p:nvPr/>
        </p:nvSpPr>
        <p:spPr>
          <a:xfrm>
            <a:off x="603885" y="2469356"/>
            <a:ext cx="4884851" cy="220028"/>
          </a:xfrm>
          <a:prstGeom prst="rect">
            <a:avLst/>
          </a:prstGeom>
          <a:noFill/>
          <a:ln>
            <a:noFill/>
          </a:ln>
        </p:spPr>
        <p:txBody>
          <a:bodyPr wrap="none" lIns="0" tIns="0" rIns="0" bIns="0" anchor="t" anchorCtr="0">
            <a:spAutoFit/>
          </a:bodyPr>
          <a:lstStyle/>
          <a:p>
            <a:pPr algn="l"/>
            <a:r>
              <a:rPr lang="en-US" sz="1120" dirty="0">
                <a:solidFill>
                  <a:srgbClr val="6E869C"/>
                </a:solidFill>
                <a:latin typeface="+mn-lt"/>
                <a:ea typeface="+mn-ea"/>
                <a:cs typeface="+mn-cs"/>
              </a:rPr>
              <a:t>Hongkang Li · Meng Wang · Songtao Lu · Xiaodong Cui · Pin-Yu Chen</a:t>
            </a:r>
          </a:p>
        </p:txBody>
      </p:sp>
      <p:grpSp>
        <p:nvGrpSpPr>
          <p:cNvPr id="19" name="Group 19"/>
          <p:cNvGrpSpPr/>
          <p:nvPr/>
        </p:nvGrpSpPr>
        <p:grpSpPr>
          <a:xfrm>
            <a:off x="609600" y="2857500"/>
            <a:ext cx="2609850" cy="2152650"/>
            <a:chOff x="609600" y="2857500"/>
            <a:chExt cx="2609850" cy="2152650"/>
          </a:xfrm>
        </p:grpSpPr>
        <p:sp>
          <p:nvSpPr>
            <p:cNvPr id="11" name="Rectangle 11"/>
            <p:cNvSpPr/>
            <p:nvPr/>
          </p:nvSpPr>
          <p:spPr>
            <a:xfrm>
              <a:off x="609600" y="2857500"/>
              <a:ext cx="2609850" cy="2152650"/>
            </a:xfrm>
            <a:prstGeom prst="roundRect">
              <a:avLst>
                <a:gd name="adj" fmla="val 6195"/>
              </a:avLst>
            </a:prstGeom>
            <a:solidFill>
              <a:schemeClr val="accent5"/>
            </a:solidFill>
            <a:ln w="14288">
              <a:solidFill>
                <a:srgbClr val="26455F"/>
              </a:solidFill>
            </a:ln>
          </p:spPr>
        </p:sp>
        <p:sp>
          <p:nvSpPr>
            <p:cNvPr id="12" name="Rectangle 12"/>
            <p:cNvSpPr/>
            <p:nvPr/>
          </p:nvSpPr>
          <p:spPr>
            <a:xfrm>
              <a:off x="609600" y="2857500"/>
              <a:ext cx="2609850" cy="57150"/>
            </a:xfrm>
            <a:prstGeom prst="roundRect">
              <a:avLst>
                <a:gd name="adj" fmla="val 50000"/>
              </a:avLst>
            </a:prstGeom>
            <a:solidFill>
              <a:schemeClr val="accent2"/>
            </a:solidFill>
            <a:ln>
              <a:noFill/>
            </a:ln>
          </p:spPr>
        </p:sp>
        <p:sp>
          <p:nvSpPr>
            <p:cNvPr id="13" name="Ellipse 13"/>
            <p:cNvSpPr/>
            <p:nvPr/>
          </p:nvSpPr>
          <p:spPr>
            <a:xfrm>
              <a:off x="809625" y="3248025"/>
              <a:ext cx="133350" cy="133350"/>
            </a:xfrm>
            <a:prstGeom prst="ellipse">
              <a:avLst/>
            </a:prstGeom>
            <a:solidFill>
              <a:schemeClr val="accent2"/>
            </a:solidFill>
            <a:ln>
              <a:noFill/>
            </a:ln>
          </p:spPr>
        </p:sp>
        <p:sp>
          <p:nvSpPr>
            <p:cNvPr id="14" name="TextBox 14"/>
            <p:cNvSpPr txBox="1"/>
            <p:nvPr/>
          </p:nvSpPr>
          <p:spPr>
            <a:xfrm>
              <a:off x="1041654" y="3242310"/>
              <a:ext cx="162044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In-context learning</a:t>
              </a:r>
            </a:p>
          </p:txBody>
        </p:sp>
        <p:sp>
          <p:nvSpPr>
            <p:cNvPr id="15" name="TextBox 15"/>
            <p:cNvSpPr txBox="1"/>
            <p:nvPr/>
          </p:nvSpPr>
          <p:spPr>
            <a:xfrm>
              <a:off x="814006" y="3643551"/>
              <a:ext cx="219454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pretrained Transformer solves</a:t>
              </a:r>
            </a:p>
          </p:txBody>
        </p:sp>
        <p:sp>
          <p:nvSpPr>
            <p:cNvPr id="16" name="TextBox 16"/>
            <p:cNvSpPr txBox="1"/>
            <p:nvPr/>
          </p:nvSpPr>
          <p:spPr>
            <a:xfrm>
              <a:off x="814006" y="3853101"/>
              <a:ext cx="190021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brand-new tasks from a few</a:t>
              </a:r>
            </a:p>
          </p:txBody>
        </p:sp>
        <p:sp>
          <p:nvSpPr>
            <p:cNvPr id="17" name="TextBox 17"/>
            <p:cNvSpPr txBox="1"/>
            <p:nvPr/>
          </p:nvSpPr>
          <p:spPr>
            <a:xfrm>
              <a:off x="814006" y="4062651"/>
              <a:ext cx="18934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input-output examples in its</a:t>
              </a:r>
            </a:p>
          </p:txBody>
        </p:sp>
        <p:sp>
          <p:nvSpPr>
            <p:cNvPr id="18" name="TextBox 18"/>
            <p:cNvSpPr txBox="1"/>
            <p:nvPr/>
          </p:nvSpPr>
          <p:spPr>
            <a:xfrm>
              <a:off x="814006" y="4272201"/>
              <a:ext cx="195460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prompt, with no fine-tuning.</a:t>
              </a:r>
            </a:p>
          </p:txBody>
        </p:sp>
      </p:grpSp>
      <p:grpSp>
        <p:nvGrpSpPr>
          <p:cNvPr id="28" name="Group 28"/>
          <p:cNvGrpSpPr/>
          <p:nvPr/>
        </p:nvGrpSpPr>
        <p:grpSpPr>
          <a:xfrm>
            <a:off x="3390900" y="2857500"/>
            <a:ext cx="2609850" cy="2152650"/>
            <a:chOff x="3390900" y="2857500"/>
            <a:chExt cx="2609850" cy="2152650"/>
          </a:xfrm>
        </p:grpSpPr>
        <p:sp>
          <p:nvSpPr>
            <p:cNvPr id="20" name="Rectangle 20"/>
            <p:cNvSpPr/>
            <p:nvPr/>
          </p:nvSpPr>
          <p:spPr>
            <a:xfrm>
              <a:off x="3390900" y="2857500"/>
              <a:ext cx="2609850" cy="2152650"/>
            </a:xfrm>
            <a:prstGeom prst="roundRect">
              <a:avLst>
                <a:gd name="adj" fmla="val 6195"/>
              </a:avLst>
            </a:prstGeom>
            <a:solidFill>
              <a:schemeClr val="accent5"/>
            </a:solidFill>
            <a:ln w="14288">
              <a:solidFill>
                <a:srgbClr val="26455F"/>
              </a:solidFill>
            </a:ln>
          </p:spPr>
        </p:sp>
        <p:sp>
          <p:nvSpPr>
            <p:cNvPr id="21" name="Rectangle 21"/>
            <p:cNvSpPr/>
            <p:nvPr/>
          </p:nvSpPr>
          <p:spPr>
            <a:xfrm>
              <a:off x="3390900" y="2857500"/>
              <a:ext cx="2609850" cy="57150"/>
            </a:xfrm>
            <a:prstGeom prst="roundRect">
              <a:avLst>
                <a:gd name="adj" fmla="val 50000"/>
              </a:avLst>
            </a:prstGeom>
            <a:solidFill>
              <a:srgbClr val="F2C14E"/>
            </a:solidFill>
            <a:ln>
              <a:noFill/>
            </a:ln>
          </p:spPr>
        </p:sp>
        <p:sp>
          <p:nvSpPr>
            <p:cNvPr id="22" name="Ellipse 22"/>
            <p:cNvSpPr/>
            <p:nvPr/>
          </p:nvSpPr>
          <p:spPr>
            <a:xfrm>
              <a:off x="3590925" y="3248025"/>
              <a:ext cx="133350" cy="133350"/>
            </a:xfrm>
            <a:prstGeom prst="ellipse">
              <a:avLst/>
            </a:prstGeom>
            <a:solidFill>
              <a:srgbClr val="F2C14E"/>
            </a:solidFill>
            <a:ln>
              <a:noFill/>
            </a:ln>
          </p:spPr>
        </p:sp>
        <p:sp>
          <p:nvSpPr>
            <p:cNvPr id="23" name="TextBox 23"/>
            <p:cNvSpPr txBox="1"/>
            <p:nvPr/>
          </p:nvSpPr>
          <p:spPr>
            <a:xfrm>
              <a:off x="3822954" y="3242310"/>
              <a:ext cx="147643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open question</a:t>
              </a:r>
            </a:p>
          </p:txBody>
        </p:sp>
        <p:sp>
          <p:nvSpPr>
            <p:cNvPr id="24" name="TextBox 24"/>
            <p:cNvSpPr txBox="1"/>
            <p:nvPr/>
          </p:nvSpPr>
          <p:spPr>
            <a:xfrm>
              <a:off x="3595306" y="3643551"/>
              <a:ext cx="204740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Why does training produce this</a:t>
              </a:r>
            </a:p>
          </p:txBody>
        </p:sp>
        <p:sp>
          <p:nvSpPr>
            <p:cNvPr id="25" name="TextBox 25"/>
            <p:cNvSpPr txBox="1"/>
            <p:nvPr/>
          </p:nvSpPr>
          <p:spPr>
            <a:xfrm>
              <a:off x="3595306" y="3853101"/>
              <a:ext cx="18254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ability, and how far does it</a:t>
              </a:r>
            </a:p>
          </p:txBody>
        </p:sp>
        <p:sp>
          <p:nvSpPr>
            <p:cNvPr id="26" name="TextBox 26"/>
            <p:cNvSpPr txBox="1"/>
            <p:nvPr/>
          </p:nvSpPr>
          <p:spPr>
            <a:xfrm>
              <a:off x="3595306" y="4062651"/>
              <a:ext cx="209477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generalize? Nonlinear attention</a:t>
              </a:r>
            </a:p>
          </p:txBody>
        </p:sp>
        <p:sp>
          <p:nvSpPr>
            <p:cNvPr id="27" name="TextBox 27"/>
            <p:cNvSpPr txBox="1"/>
            <p:nvPr/>
          </p:nvSpPr>
          <p:spPr>
            <a:xfrm>
              <a:off x="3595306" y="4272201"/>
              <a:ext cx="145832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makes the math hard.</a:t>
              </a:r>
            </a:p>
          </p:txBody>
        </p:sp>
      </p:grpSp>
      <p:grpSp>
        <p:nvGrpSpPr>
          <p:cNvPr id="38" name="Group 38"/>
          <p:cNvGrpSpPr/>
          <p:nvPr/>
        </p:nvGrpSpPr>
        <p:grpSpPr>
          <a:xfrm>
            <a:off x="6172200" y="2857500"/>
            <a:ext cx="2609850" cy="2152650"/>
            <a:chOff x="6172200" y="2857500"/>
            <a:chExt cx="2609850" cy="2152650"/>
          </a:xfrm>
        </p:grpSpPr>
        <p:sp>
          <p:nvSpPr>
            <p:cNvPr id="29" name="Rectangle 29"/>
            <p:cNvSpPr/>
            <p:nvPr/>
          </p:nvSpPr>
          <p:spPr>
            <a:xfrm>
              <a:off x="6172200" y="2857500"/>
              <a:ext cx="2609850" cy="2152650"/>
            </a:xfrm>
            <a:prstGeom prst="roundRect">
              <a:avLst>
                <a:gd name="adj" fmla="val 6195"/>
              </a:avLst>
            </a:prstGeom>
            <a:solidFill>
              <a:schemeClr val="accent5"/>
            </a:solidFill>
            <a:ln w="14288">
              <a:solidFill>
                <a:srgbClr val="26455F"/>
              </a:solidFill>
            </a:ln>
          </p:spPr>
        </p:sp>
        <p:sp>
          <p:nvSpPr>
            <p:cNvPr id="30" name="Rectangle 30"/>
            <p:cNvSpPr/>
            <p:nvPr/>
          </p:nvSpPr>
          <p:spPr>
            <a:xfrm>
              <a:off x="6172200" y="2857500"/>
              <a:ext cx="2609850" cy="57150"/>
            </a:xfrm>
            <a:prstGeom prst="roundRect">
              <a:avLst>
                <a:gd name="adj" fmla="val 50000"/>
              </a:avLst>
            </a:prstGeom>
            <a:solidFill>
              <a:srgbClr val="34D3C0"/>
            </a:solidFill>
            <a:ln>
              <a:noFill/>
            </a:ln>
          </p:spPr>
        </p:sp>
        <p:sp>
          <p:nvSpPr>
            <p:cNvPr id="31" name="Ellipse 31"/>
            <p:cNvSpPr/>
            <p:nvPr/>
          </p:nvSpPr>
          <p:spPr>
            <a:xfrm>
              <a:off x="6372225" y="3248025"/>
              <a:ext cx="133350" cy="133350"/>
            </a:xfrm>
            <a:prstGeom prst="ellipse">
              <a:avLst/>
            </a:prstGeom>
            <a:solidFill>
              <a:srgbClr val="34D3C0"/>
            </a:solidFill>
            <a:ln>
              <a:noFill/>
            </a:ln>
          </p:spPr>
        </p:sp>
        <p:sp>
          <p:nvSpPr>
            <p:cNvPr id="32" name="TextBox 32"/>
            <p:cNvSpPr txBox="1"/>
            <p:nvPr/>
          </p:nvSpPr>
          <p:spPr>
            <a:xfrm>
              <a:off x="6604254" y="3242310"/>
              <a:ext cx="176449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First training theory</a:t>
              </a:r>
            </a:p>
          </p:txBody>
        </p:sp>
        <p:sp>
          <p:nvSpPr>
            <p:cNvPr id="33" name="TextBox 33"/>
            <p:cNvSpPr txBox="1"/>
            <p:nvPr/>
          </p:nvSpPr>
          <p:spPr>
            <a:xfrm>
              <a:off x="6376606" y="3643551"/>
              <a:ext cx="206768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first analysis of training a</a:t>
              </a:r>
            </a:p>
          </p:txBody>
        </p:sp>
        <p:sp>
          <p:nvSpPr>
            <p:cNvPr id="34" name="TextBox 34"/>
            <p:cNvSpPr txBox="1"/>
            <p:nvPr/>
          </p:nvSpPr>
          <p:spPr>
            <a:xfrm>
              <a:off x="6376606" y="3853101"/>
              <a:ext cx="178921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Transformer with softmax</a:t>
              </a:r>
            </a:p>
          </p:txBody>
        </p:sp>
        <p:sp>
          <p:nvSpPr>
            <p:cNvPr id="35" name="TextBox 35"/>
            <p:cNvSpPr txBox="1"/>
            <p:nvPr/>
          </p:nvSpPr>
          <p:spPr>
            <a:xfrm>
              <a:off x="6376606" y="4062651"/>
              <a:ext cx="209932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attention and a ReLU MLP, with</a:t>
              </a:r>
            </a:p>
          </p:txBody>
        </p:sp>
        <p:sp>
          <p:nvSpPr>
            <p:cNvPr id="36" name="TextBox 36"/>
            <p:cNvSpPr txBox="1"/>
            <p:nvPr/>
          </p:nvSpPr>
          <p:spPr>
            <a:xfrm>
              <a:off x="6376606" y="4272201"/>
              <a:ext cx="147192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 and out-of-domain</a:t>
              </a:r>
            </a:p>
          </p:txBody>
        </p:sp>
        <p:sp>
          <p:nvSpPr>
            <p:cNvPr id="37" name="TextBox 37"/>
            <p:cNvSpPr txBox="1"/>
            <p:nvPr/>
          </p:nvSpPr>
          <p:spPr>
            <a:xfrm>
              <a:off x="6376606" y="4481751"/>
              <a:ext cx="83288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guarantees.</a:t>
              </a:r>
            </a:p>
          </p:txBody>
        </p:sp>
      </p:grpSp>
      <p:grpSp>
        <p:nvGrpSpPr>
          <p:cNvPr id="47" name="Group 47"/>
          <p:cNvGrpSpPr/>
          <p:nvPr/>
        </p:nvGrpSpPr>
        <p:grpSpPr>
          <a:xfrm>
            <a:off x="8953500" y="2857500"/>
            <a:ext cx="2609850" cy="2152650"/>
            <a:chOff x="8953500" y="2857500"/>
            <a:chExt cx="2609850" cy="2152650"/>
          </a:xfrm>
        </p:grpSpPr>
        <p:sp>
          <p:nvSpPr>
            <p:cNvPr id="39" name="Rectangle 39"/>
            <p:cNvSpPr/>
            <p:nvPr/>
          </p:nvSpPr>
          <p:spPr>
            <a:xfrm>
              <a:off x="8953500" y="2857500"/>
              <a:ext cx="2609850" cy="2152650"/>
            </a:xfrm>
            <a:prstGeom prst="roundRect">
              <a:avLst>
                <a:gd name="adj" fmla="val 6195"/>
              </a:avLst>
            </a:prstGeom>
            <a:solidFill>
              <a:schemeClr val="accent5"/>
            </a:solidFill>
            <a:ln w="14288">
              <a:solidFill>
                <a:srgbClr val="26455F"/>
              </a:solidFill>
            </a:ln>
          </p:spPr>
        </p:sp>
        <p:sp>
          <p:nvSpPr>
            <p:cNvPr id="40" name="Rectangle 40"/>
            <p:cNvSpPr/>
            <p:nvPr/>
          </p:nvSpPr>
          <p:spPr>
            <a:xfrm>
              <a:off x="8953500" y="2857500"/>
              <a:ext cx="2609850" cy="57150"/>
            </a:xfrm>
            <a:prstGeom prst="roundRect">
              <a:avLst>
                <a:gd name="adj" fmla="val 50000"/>
              </a:avLst>
            </a:prstGeom>
            <a:solidFill>
              <a:srgbClr val="48C78E"/>
            </a:solidFill>
            <a:ln>
              <a:noFill/>
            </a:ln>
          </p:spPr>
        </p:sp>
        <p:sp>
          <p:nvSpPr>
            <p:cNvPr id="41" name="Ellipse 41"/>
            <p:cNvSpPr/>
            <p:nvPr/>
          </p:nvSpPr>
          <p:spPr>
            <a:xfrm>
              <a:off x="9153525" y="3248025"/>
              <a:ext cx="133350" cy="133350"/>
            </a:xfrm>
            <a:prstGeom prst="ellipse">
              <a:avLst/>
            </a:prstGeom>
            <a:solidFill>
              <a:srgbClr val="48C78E"/>
            </a:solidFill>
            <a:ln>
              <a:noFill/>
            </a:ln>
          </p:spPr>
        </p:sp>
        <p:sp>
          <p:nvSpPr>
            <p:cNvPr id="42" name="TextBox 42"/>
            <p:cNvSpPr txBox="1"/>
            <p:nvPr/>
          </p:nvSpPr>
          <p:spPr>
            <a:xfrm>
              <a:off x="9385554" y="3242310"/>
              <a:ext cx="203669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Pruning is (almost) free</a:t>
              </a:r>
            </a:p>
          </p:txBody>
        </p:sp>
        <p:sp>
          <p:nvSpPr>
            <p:cNvPr id="43" name="TextBox 43"/>
            <p:cNvSpPr txBox="1"/>
            <p:nvPr/>
          </p:nvSpPr>
          <p:spPr>
            <a:xfrm>
              <a:off x="9157906" y="3643551"/>
              <a:ext cx="209509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first theory of pruning for</a:t>
              </a:r>
            </a:p>
          </p:txBody>
        </p:sp>
        <p:sp>
          <p:nvSpPr>
            <p:cNvPr id="44" name="TextBox 44"/>
            <p:cNvSpPr txBox="1"/>
            <p:nvPr/>
          </p:nvSpPr>
          <p:spPr>
            <a:xfrm>
              <a:off x="9157906" y="3853101"/>
              <a:ext cx="118689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ICL: removing the</a:t>
              </a:r>
            </a:p>
          </p:txBody>
        </p:sp>
        <p:sp>
          <p:nvSpPr>
            <p:cNvPr id="45" name="TextBox 45"/>
            <p:cNvSpPr txBox="1"/>
            <p:nvPr/>
          </p:nvSpPr>
          <p:spPr>
            <a:xfrm>
              <a:off x="9157906" y="4062651"/>
              <a:ext cx="210416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small-magnitude neurons barely</a:t>
              </a:r>
            </a:p>
          </p:txBody>
        </p:sp>
        <p:sp>
          <p:nvSpPr>
            <p:cNvPr id="46" name="TextBox 46"/>
            <p:cNvSpPr txBox="1"/>
            <p:nvPr/>
          </p:nvSpPr>
          <p:spPr>
            <a:xfrm>
              <a:off x="9157906" y="4272201"/>
              <a:ext cx="144473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hurts generalization.</a:t>
              </a:r>
            </a:p>
          </p:txBody>
        </p:sp>
      </p:grpSp>
      <p:sp>
        <p:nvSpPr>
          <p:cNvPr id="48" name="Line 48"/>
          <p:cNvSpPr/>
          <p:nvPr/>
        </p:nvSpPr>
        <p:spPr>
          <a:xfrm>
            <a:off x="609600" y="54292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49" name="TextBox 49"/>
          <p:cNvSpPr txBox="1"/>
          <p:nvPr/>
        </p:nvSpPr>
        <p:spPr>
          <a:xfrm>
            <a:off x="604266" y="56588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arXiv:2402.15607</a:t>
            </a:r>
          </a:p>
        </p:txBody>
      </p:sp>
      <p:sp>
        <p:nvSpPr>
          <p:cNvPr id="50" name="TextBox 50"/>
          <p:cNvSpPr txBox="1"/>
          <p:nvPr/>
        </p:nvSpPr>
        <p:spPr>
          <a:xfrm>
            <a:off x="2852166" y="5658802"/>
            <a:ext cx="359791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One-layer Transformer, provably trained for ICL</a:t>
            </a:r>
          </a:p>
        </p:txBody>
      </p:sp>
      <p:sp>
        <p:nvSpPr>
          <p:cNvPr id="51" name="TextBox 51"/>
          <p:cNvSpPr txBox="1"/>
          <p:nvPr/>
        </p:nvSpPr>
        <p:spPr>
          <a:xfrm>
            <a:off x="7943564" y="5658802"/>
            <a:ext cx="3644170" cy="205359"/>
          </a:xfrm>
          <a:prstGeom prst="rect">
            <a:avLst/>
          </a:prstGeom>
          <a:noFill/>
          <a:ln>
            <a:noFill/>
          </a:ln>
        </p:spPr>
        <p:txBody>
          <a:bodyPr wrap="none" lIns="0" tIns="0" rIns="0" bIns="0" anchor="t" anchorCtr="0">
            <a:spAutoFit/>
          </a:bodyPr>
          <a:lstStyle/>
          <a:p>
            <a:pPr algn="r"/>
            <a:r>
              <a:rPr lang="en-US" sz="1050" b="1" dirty="0">
                <a:solidFill>
                  <a:srgbClr val="34D3C0"/>
                </a:solidFill>
                <a:latin typeface="+mn-lt"/>
                <a:ea typeface="+mn-ea"/>
                <a:cs typeface="+mn-cs"/>
              </a:rPr>
              <a:t>Generalizes in-domain and under distribution shift</a:t>
            </a:r>
          </a:p>
        </p:txBody>
      </p:sp>
      <p:sp>
        <p:nvSpPr>
          <p:cNvPr id="52" name="cue_s01_c1_transformer_based_language_models_sh" title="cue_s01_c1_transformer_based_language_models_sh" descr="cue_s01_c1_transformer_based_language_models_sh Transformer-based language models show a striking ability called in-context learning, where a pretrained model solves brand-new tasks just by seeing a few input-output examples in its prompt, with no fine-tuning."/>
          <p:cNvSpPr/>
          <p:nvPr/>
        </p:nvSpPr>
        <p:spPr>
          <a:xfrm>
            <a:off x="609600"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1_c2_but_why_produces_ability_how" title="cue_s01_c2_but_why_produces_ability_how" descr="cue_s01_c2_but_why_produces_ability_how But why training produces this ability, and how well it generalizes, has stayed mostly a mystery because the math of nonlinear attention and nonlinear activations is hard."/>
          <p:cNvSpPr/>
          <p:nvPr/>
        </p:nvSpPr>
        <p:spPr>
          <a:xfrm>
            <a:off x="3390595"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1_c3_icml_2024_gives_first_theoretical" title="cue_s01_c3_icml_2024_gives_first_theoretical" descr="cue_s01_c3_icml_2024_gives_first_theoretical This ICML 2024 paper gives the first theoretical analysis of the training dynamics of a Transformer with both nonlinear self-attention and a nonlinear MLP, and proves when the trained model generalizes in-context, both in-domain and under distribution shift."/>
          <p:cNvSpPr/>
          <p:nvPr/>
        </p:nvSpPr>
        <p:spPr>
          <a:xfrm>
            <a:off x="6171590"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1_c4_also_delivers_first_theory_how" title="cue_s01_c4_also_delivers_first_theory_how" descr="cue_s01_c4_also_delivers_first_theory_how It also delivers the first theory of how pruning affects in-context learning, showing that removing the small-magnitude neurons barely hurts."/>
          <p:cNvSpPr/>
          <p:nvPr/>
        </p:nvSpPr>
        <p:spPr>
          <a:xfrm>
            <a:off x="8953804"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558278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powerful ability we cannot explain</a:t>
            </a:r>
          </a:p>
        </p:txBody>
      </p:sp>
      <p:grpSp>
        <p:nvGrpSpPr>
          <p:cNvPr id="22" name="Group 22"/>
          <p:cNvGrpSpPr/>
          <p:nvPr/>
        </p:nvGrpSpPr>
        <p:grpSpPr>
          <a:xfrm>
            <a:off x="609600" y="1447800"/>
            <a:ext cx="10972800" cy="1428750"/>
            <a:chOff x="609600" y="1447800"/>
            <a:chExt cx="10972800" cy="1428750"/>
          </a:xfrm>
        </p:grpSpPr>
        <p:sp>
          <p:nvSpPr>
            <p:cNvPr id="5" name="Rectangle 5"/>
            <p:cNvSpPr/>
            <p:nvPr/>
          </p:nvSpPr>
          <p:spPr>
            <a:xfrm>
              <a:off x="609600" y="1447800"/>
              <a:ext cx="109728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447800"/>
              <a:ext cx="57150" cy="1428750"/>
            </a:xfrm>
            <a:prstGeom prst="roundRect">
              <a:avLst>
                <a:gd name="adj" fmla="val 50000"/>
              </a:avLst>
            </a:prstGeom>
            <a:solidFill>
              <a:schemeClr val="accent2"/>
            </a:solidFill>
            <a:ln>
              <a:noFill/>
            </a:ln>
          </p:spPr>
        </p:sp>
        <p:sp>
          <p:nvSpPr>
            <p:cNvPr id="7" name="TextBox 7"/>
            <p:cNvSpPr txBox="1"/>
            <p:nvPr/>
          </p:nvSpPr>
          <p:spPr>
            <a:xfrm>
              <a:off x="870014" y="1657112"/>
              <a:ext cx="3821864"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In-context learning: no fine-tuning required</a:t>
              </a:r>
            </a:p>
          </p:txBody>
        </p:sp>
        <p:sp>
          <p:nvSpPr>
            <p:cNvPr id="8" name="TextBox 8"/>
            <p:cNvSpPr txBox="1"/>
            <p:nvPr/>
          </p:nvSpPr>
          <p:spPr>
            <a:xfrm>
              <a:off x="870585" y="1955006"/>
              <a:ext cx="731156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pretrained Transformer handles a new task by simply padding the query with a handful of example</a:t>
              </a:r>
            </a:p>
          </p:txBody>
        </p:sp>
        <p:sp>
          <p:nvSpPr>
            <p:cNvPr id="9" name="TextBox 9"/>
            <p:cNvSpPr txBox="1"/>
            <p:nvPr/>
          </p:nvSpPr>
          <p:spPr>
            <a:xfrm>
              <a:off x="870585" y="2183606"/>
              <a:ext cx="644739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input-output pairs. No weights are updated; the answer comes from the prompt alone.</a:t>
              </a:r>
            </a:p>
          </p:txBody>
        </p:sp>
        <p:sp>
          <p:nvSpPr>
            <p:cNvPr id="10" name="Rectangle 10"/>
            <p:cNvSpPr/>
            <p:nvPr/>
          </p:nvSpPr>
          <p:spPr>
            <a:xfrm>
              <a:off x="876300" y="2495550"/>
              <a:ext cx="2476500" cy="285750"/>
            </a:xfrm>
            <a:prstGeom prst="roundRect">
              <a:avLst>
                <a:gd name="adj" fmla="val 26667"/>
              </a:avLst>
            </a:prstGeom>
            <a:solidFill>
              <a:schemeClr val="accent6"/>
            </a:solidFill>
            <a:ln w="14288">
              <a:solidFill>
                <a:srgbClr val="26455F"/>
              </a:solidFill>
            </a:ln>
          </p:spPr>
        </p:sp>
        <p:sp>
          <p:nvSpPr>
            <p:cNvPr id="11" name="Ellipse 11"/>
            <p:cNvSpPr/>
            <p:nvPr/>
          </p:nvSpPr>
          <p:spPr>
            <a:xfrm>
              <a:off x="1000125" y="2590800"/>
              <a:ext cx="95250" cy="95250"/>
            </a:xfrm>
            <a:prstGeom prst="ellipse">
              <a:avLst/>
            </a:prstGeom>
            <a:solidFill>
              <a:srgbClr val="34D3C0"/>
            </a:solidFill>
            <a:ln>
              <a:noFill/>
            </a:ln>
          </p:spPr>
        </p:sp>
        <p:sp>
          <p:nvSpPr>
            <p:cNvPr id="12" name="TextBox 12"/>
            <p:cNvSpPr txBox="1"/>
            <p:nvPr/>
          </p:nvSpPr>
          <p:spPr>
            <a:xfrm>
              <a:off x="1195388" y="2584847"/>
              <a:ext cx="1218641"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example 1 (x1, y1)</a:t>
              </a:r>
            </a:p>
          </p:txBody>
        </p:sp>
        <p:sp>
          <p:nvSpPr>
            <p:cNvPr id="13" name="Rectangle 13"/>
            <p:cNvSpPr/>
            <p:nvPr/>
          </p:nvSpPr>
          <p:spPr>
            <a:xfrm>
              <a:off x="3467100" y="2495550"/>
              <a:ext cx="2476500" cy="285750"/>
            </a:xfrm>
            <a:prstGeom prst="roundRect">
              <a:avLst>
                <a:gd name="adj" fmla="val 26667"/>
              </a:avLst>
            </a:prstGeom>
            <a:solidFill>
              <a:schemeClr val="accent6"/>
            </a:solidFill>
            <a:ln w="14288">
              <a:solidFill>
                <a:srgbClr val="26455F"/>
              </a:solidFill>
            </a:ln>
          </p:spPr>
        </p:sp>
        <p:sp>
          <p:nvSpPr>
            <p:cNvPr id="14" name="Ellipse 14"/>
            <p:cNvSpPr/>
            <p:nvPr/>
          </p:nvSpPr>
          <p:spPr>
            <a:xfrm>
              <a:off x="3590925" y="2590800"/>
              <a:ext cx="95250" cy="95250"/>
            </a:xfrm>
            <a:prstGeom prst="ellipse">
              <a:avLst/>
            </a:prstGeom>
            <a:solidFill>
              <a:srgbClr val="34D3C0"/>
            </a:solidFill>
            <a:ln>
              <a:noFill/>
            </a:ln>
          </p:spPr>
        </p:sp>
        <p:sp>
          <p:nvSpPr>
            <p:cNvPr id="15" name="TextBox 15"/>
            <p:cNvSpPr txBox="1"/>
            <p:nvPr/>
          </p:nvSpPr>
          <p:spPr>
            <a:xfrm>
              <a:off x="3786188" y="2584847"/>
              <a:ext cx="1218641"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example 2 (x2, y2)</a:t>
              </a:r>
            </a:p>
          </p:txBody>
        </p:sp>
        <p:sp>
          <p:nvSpPr>
            <p:cNvPr id="16" name="Rectangle 16"/>
            <p:cNvSpPr/>
            <p:nvPr/>
          </p:nvSpPr>
          <p:spPr>
            <a:xfrm>
              <a:off x="6057900" y="2495550"/>
              <a:ext cx="1428750" cy="285750"/>
            </a:xfrm>
            <a:prstGeom prst="roundRect">
              <a:avLst>
                <a:gd name="adj" fmla="val 26667"/>
              </a:avLst>
            </a:prstGeom>
            <a:solidFill>
              <a:schemeClr val="accent6"/>
            </a:solidFill>
            <a:ln w="14288">
              <a:solidFill>
                <a:srgbClr val="26455F"/>
              </a:solidFill>
            </a:ln>
          </p:spPr>
        </p:sp>
        <p:sp>
          <p:nvSpPr>
            <p:cNvPr id="17" name="Ellipse 17"/>
            <p:cNvSpPr/>
            <p:nvPr/>
          </p:nvSpPr>
          <p:spPr>
            <a:xfrm>
              <a:off x="6181725" y="2590800"/>
              <a:ext cx="95250" cy="95250"/>
            </a:xfrm>
            <a:prstGeom prst="ellipse">
              <a:avLst/>
            </a:prstGeom>
            <a:solidFill>
              <a:schemeClr val="dk2"/>
            </a:solidFill>
            <a:ln>
              <a:noFill/>
            </a:ln>
          </p:spPr>
        </p:sp>
        <p:sp>
          <p:nvSpPr>
            <p:cNvPr id="18" name="TextBox 18"/>
            <p:cNvSpPr txBox="1"/>
            <p:nvPr/>
          </p:nvSpPr>
          <p:spPr>
            <a:xfrm>
              <a:off x="6376988" y="2584847"/>
              <a:ext cx="228760"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a:t>
              </a:r>
            </a:p>
          </p:txBody>
        </p:sp>
        <p:sp>
          <p:nvSpPr>
            <p:cNvPr id="19" name="Rectangle 19"/>
            <p:cNvSpPr/>
            <p:nvPr/>
          </p:nvSpPr>
          <p:spPr>
            <a:xfrm>
              <a:off x="7620000" y="2495550"/>
              <a:ext cx="2286000" cy="285750"/>
            </a:xfrm>
            <a:prstGeom prst="roundRect">
              <a:avLst>
                <a:gd name="adj" fmla="val 26667"/>
              </a:avLst>
            </a:prstGeom>
            <a:solidFill>
              <a:schemeClr val="accent6"/>
            </a:solidFill>
            <a:ln w="14288">
              <a:solidFill>
                <a:srgbClr val="26455F"/>
              </a:solidFill>
            </a:ln>
          </p:spPr>
        </p:sp>
        <p:sp>
          <p:nvSpPr>
            <p:cNvPr id="20" name="Ellipse 20"/>
            <p:cNvSpPr/>
            <p:nvPr/>
          </p:nvSpPr>
          <p:spPr>
            <a:xfrm>
              <a:off x="7743825" y="2590800"/>
              <a:ext cx="95250" cy="95250"/>
            </a:xfrm>
            <a:prstGeom prst="ellipse">
              <a:avLst/>
            </a:prstGeom>
            <a:solidFill>
              <a:srgbClr val="F2C14E"/>
            </a:solidFill>
            <a:ln>
              <a:noFill/>
            </a:ln>
          </p:spPr>
        </p:sp>
        <p:sp>
          <p:nvSpPr>
            <p:cNvPr id="21" name="TextBox 21"/>
            <p:cNvSpPr txBox="1"/>
            <p:nvPr/>
          </p:nvSpPr>
          <p:spPr>
            <a:xfrm>
              <a:off x="7939088" y="2584847"/>
              <a:ext cx="786814"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query x -&gt; ?</a:t>
              </a:r>
            </a:p>
          </p:txBody>
        </p:sp>
      </p:grpSp>
      <p:grpSp>
        <p:nvGrpSpPr>
          <p:cNvPr id="35" name="Group 35"/>
          <p:cNvGrpSpPr/>
          <p:nvPr/>
        </p:nvGrpSpPr>
        <p:grpSpPr>
          <a:xfrm>
            <a:off x="609600" y="3048000"/>
            <a:ext cx="5334000" cy="2190750"/>
            <a:chOff x="609600" y="3048000"/>
            <a:chExt cx="5334000" cy="2190750"/>
          </a:xfrm>
        </p:grpSpPr>
        <p:sp>
          <p:nvSpPr>
            <p:cNvPr id="23" name="Rectangle 23"/>
            <p:cNvSpPr/>
            <p:nvPr/>
          </p:nvSpPr>
          <p:spPr>
            <a:xfrm>
              <a:off x="609600" y="3048000"/>
              <a:ext cx="5334000" cy="2190750"/>
            </a:xfrm>
            <a:prstGeom prst="roundRect">
              <a:avLst>
                <a:gd name="adj" fmla="val 6087"/>
              </a:avLst>
            </a:prstGeom>
            <a:solidFill>
              <a:schemeClr val="accent5"/>
            </a:solidFill>
            <a:ln w="14288">
              <a:solidFill>
                <a:srgbClr val="26455F"/>
              </a:solidFill>
            </a:ln>
          </p:spPr>
        </p:sp>
        <p:sp>
          <p:nvSpPr>
            <p:cNvPr id="24" name="Rectangle 24"/>
            <p:cNvSpPr/>
            <p:nvPr/>
          </p:nvSpPr>
          <p:spPr>
            <a:xfrm>
              <a:off x="609600" y="3048000"/>
              <a:ext cx="57150" cy="2190750"/>
            </a:xfrm>
            <a:prstGeom prst="roundRect">
              <a:avLst>
                <a:gd name="adj" fmla="val 50000"/>
              </a:avLst>
            </a:prstGeom>
            <a:solidFill>
              <a:srgbClr val="F2C14E"/>
            </a:solidFill>
            <a:ln>
              <a:noFill/>
            </a:ln>
          </p:spPr>
        </p:sp>
        <p:sp>
          <p:nvSpPr>
            <p:cNvPr id="25" name="TextBox 25"/>
            <p:cNvSpPr txBox="1"/>
            <p:nvPr/>
          </p:nvSpPr>
          <p:spPr>
            <a:xfrm>
              <a:off x="869823" y="3272314"/>
              <a:ext cx="923290"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The puzzle</a:t>
              </a:r>
            </a:p>
          </p:txBody>
        </p:sp>
        <p:sp>
          <p:nvSpPr>
            <p:cNvPr id="26" name="TextBox 26"/>
            <p:cNvSpPr txBox="1"/>
            <p:nvPr/>
          </p:nvSpPr>
          <p:spPr>
            <a:xfrm>
              <a:off x="870776" y="3597354"/>
              <a:ext cx="374795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Despite its empirical success, how a Transformer is</a:t>
              </a:r>
            </a:p>
          </p:txBody>
        </p:sp>
        <p:sp>
          <p:nvSpPr>
            <p:cNvPr id="27" name="TextBox 27"/>
            <p:cNvSpPr txBox="1"/>
            <p:nvPr/>
          </p:nvSpPr>
          <p:spPr>
            <a:xfrm>
              <a:off x="870776" y="3816429"/>
              <a:ext cx="404628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actually trained to acquire in-context learning, and how</a:t>
              </a:r>
            </a:p>
          </p:txBody>
        </p:sp>
        <p:sp>
          <p:nvSpPr>
            <p:cNvPr id="28" name="TextBox 28"/>
            <p:cNvSpPr txBox="1"/>
            <p:nvPr/>
          </p:nvSpPr>
          <p:spPr>
            <a:xfrm>
              <a:off x="870776" y="4035504"/>
              <a:ext cx="327592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far that ability generalizes, remains elusive.</a:t>
              </a:r>
            </a:p>
          </p:txBody>
        </p:sp>
        <p:sp>
          <p:nvSpPr>
            <p:cNvPr id="29" name="Rectangle 29"/>
            <p:cNvSpPr/>
            <p:nvPr/>
          </p:nvSpPr>
          <p:spPr>
            <a:xfrm>
              <a:off x="876300" y="4476750"/>
              <a:ext cx="4800600" cy="304800"/>
            </a:xfrm>
            <a:prstGeom prst="roundRect">
              <a:avLst>
                <a:gd name="adj" fmla="val 25000"/>
              </a:avLst>
            </a:prstGeom>
            <a:solidFill>
              <a:schemeClr val="accent6"/>
            </a:solidFill>
            <a:ln w="14288">
              <a:solidFill>
                <a:srgbClr val="26455F"/>
              </a:solidFill>
            </a:ln>
          </p:spPr>
        </p:sp>
        <p:sp>
          <p:nvSpPr>
            <p:cNvPr id="30" name="Ellipse 30"/>
            <p:cNvSpPr/>
            <p:nvPr/>
          </p:nvSpPr>
          <p:spPr>
            <a:xfrm>
              <a:off x="1000125" y="4581525"/>
              <a:ext cx="95250" cy="95250"/>
            </a:xfrm>
            <a:prstGeom prst="ellipse">
              <a:avLst/>
            </a:prstGeom>
            <a:solidFill>
              <a:schemeClr val="accent2"/>
            </a:solidFill>
            <a:ln>
              <a:noFill/>
            </a:ln>
          </p:spPr>
        </p:sp>
        <p:sp>
          <p:nvSpPr>
            <p:cNvPr id="31" name="TextBox 31"/>
            <p:cNvSpPr txBox="1"/>
            <p:nvPr/>
          </p:nvSpPr>
          <p:spPr>
            <a:xfrm>
              <a:off x="1195006" y="4567476"/>
              <a:ext cx="249156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How is ICL acquired during training?</a:t>
              </a:r>
            </a:p>
          </p:txBody>
        </p:sp>
        <p:sp>
          <p:nvSpPr>
            <p:cNvPr id="32" name="Rectangle 32"/>
            <p:cNvSpPr/>
            <p:nvPr/>
          </p:nvSpPr>
          <p:spPr>
            <a:xfrm>
              <a:off x="876300" y="4857750"/>
              <a:ext cx="4800600" cy="304800"/>
            </a:xfrm>
            <a:prstGeom prst="roundRect">
              <a:avLst>
                <a:gd name="adj" fmla="val 25000"/>
              </a:avLst>
            </a:prstGeom>
            <a:solidFill>
              <a:schemeClr val="accent6"/>
            </a:solidFill>
            <a:ln w="14288">
              <a:solidFill>
                <a:srgbClr val="26455F"/>
              </a:solidFill>
            </a:ln>
          </p:spPr>
        </p:sp>
        <p:sp>
          <p:nvSpPr>
            <p:cNvPr id="33" name="Ellipse 33"/>
            <p:cNvSpPr/>
            <p:nvPr/>
          </p:nvSpPr>
          <p:spPr>
            <a:xfrm>
              <a:off x="1000125" y="4962525"/>
              <a:ext cx="95250" cy="95250"/>
            </a:xfrm>
            <a:prstGeom prst="ellipse">
              <a:avLst/>
            </a:prstGeom>
            <a:solidFill>
              <a:srgbClr val="34D3C0"/>
            </a:solidFill>
            <a:ln>
              <a:noFill/>
            </a:ln>
          </p:spPr>
        </p:sp>
        <p:sp>
          <p:nvSpPr>
            <p:cNvPr id="34" name="TextBox 34"/>
            <p:cNvSpPr txBox="1"/>
            <p:nvPr/>
          </p:nvSpPr>
          <p:spPr>
            <a:xfrm>
              <a:off x="1195006" y="4948476"/>
              <a:ext cx="3041403"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Does it generalize under distribution shift?</a:t>
              </a:r>
            </a:p>
          </p:txBody>
        </p:sp>
      </p:grpSp>
      <p:grpSp>
        <p:nvGrpSpPr>
          <p:cNvPr id="47" name="Group 47"/>
          <p:cNvGrpSpPr/>
          <p:nvPr/>
        </p:nvGrpSpPr>
        <p:grpSpPr>
          <a:xfrm>
            <a:off x="6248400" y="3048000"/>
            <a:ext cx="5334000" cy="2190750"/>
            <a:chOff x="6248400" y="3048000"/>
            <a:chExt cx="5334000" cy="2190750"/>
          </a:xfrm>
        </p:grpSpPr>
        <p:sp>
          <p:nvSpPr>
            <p:cNvPr id="36" name="Rectangle 36"/>
            <p:cNvSpPr/>
            <p:nvPr/>
          </p:nvSpPr>
          <p:spPr>
            <a:xfrm>
              <a:off x="6248400" y="3048000"/>
              <a:ext cx="5334000" cy="2190750"/>
            </a:xfrm>
            <a:prstGeom prst="roundRect">
              <a:avLst>
                <a:gd name="adj" fmla="val 6087"/>
              </a:avLst>
            </a:prstGeom>
            <a:solidFill>
              <a:srgbClr val="2A1720"/>
            </a:solidFill>
            <a:ln w="14288">
              <a:solidFill>
                <a:srgbClr val="F2685C"/>
              </a:solidFill>
            </a:ln>
          </p:spPr>
        </p:sp>
        <p:sp>
          <p:nvSpPr>
            <p:cNvPr id="37" name="Rectangle 37"/>
            <p:cNvSpPr/>
            <p:nvPr/>
          </p:nvSpPr>
          <p:spPr>
            <a:xfrm>
              <a:off x="6248400" y="3048000"/>
              <a:ext cx="57150" cy="2190750"/>
            </a:xfrm>
            <a:prstGeom prst="roundRect">
              <a:avLst>
                <a:gd name="adj" fmla="val 50000"/>
              </a:avLst>
            </a:prstGeom>
            <a:solidFill>
              <a:srgbClr val="F2685C"/>
            </a:solidFill>
            <a:ln>
              <a:noFill/>
            </a:ln>
          </p:spPr>
        </p:sp>
        <p:sp>
          <p:nvSpPr>
            <p:cNvPr id="38" name="TextBox 38"/>
            <p:cNvSpPr txBox="1"/>
            <p:nvPr/>
          </p:nvSpPr>
          <p:spPr>
            <a:xfrm>
              <a:off x="6508814" y="3276362"/>
              <a:ext cx="2936805"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Why it is hard · two nonlinearities</a:t>
              </a:r>
            </a:p>
          </p:txBody>
        </p:sp>
        <p:sp>
          <p:nvSpPr>
            <p:cNvPr id="39" name="TextBox 39"/>
            <p:cNvSpPr txBox="1"/>
            <p:nvPr/>
          </p:nvSpPr>
          <p:spPr>
            <a:xfrm>
              <a:off x="6509576" y="3597354"/>
              <a:ext cx="406563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training objective is nonconvex and resists the tools</a:t>
              </a:r>
            </a:p>
          </p:txBody>
        </p:sp>
        <p:sp>
          <p:nvSpPr>
            <p:cNvPr id="40" name="TextBox 40"/>
            <p:cNvSpPr txBox="1"/>
            <p:nvPr/>
          </p:nvSpPr>
          <p:spPr>
            <a:xfrm>
              <a:off x="6509576" y="3816429"/>
              <a:ext cx="426638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used for simpler models, because two layers are nonlinear:</a:t>
              </a:r>
            </a:p>
          </p:txBody>
        </p:sp>
        <p:sp>
          <p:nvSpPr>
            <p:cNvPr id="41" name="Rectangle 41"/>
            <p:cNvSpPr/>
            <p:nvPr/>
          </p:nvSpPr>
          <p:spPr>
            <a:xfrm>
              <a:off x="6515100" y="4305300"/>
              <a:ext cx="4800600" cy="304800"/>
            </a:xfrm>
            <a:prstGeom prst="roundRect">
              <a:avLst>
                <a:gd name="adj" fmla="val 25000"/>
              </a:avLst>
            </a:prstGeom>
            <a:solidFill>
              <a:schemeClr val="accent6"/>
            </a:solidFill>
            <a:ln w="14288">
              <a:solidFill>
                <a:srgbClr val="26455F"/>
              </a:solidFill>
            </a:ln>
          </p:spPr>
        </p:sp>
        <p:sp>
          <p:nvSpPr>
            <p:cNvPr id="42" name="Ellipse 42"/>
            <p:cNvSpPr/>
            <p:nvPr/>
          </p:nvSpPr>
          <p:spPr>
            <a:xfrm>
              <a:off x="6638925" y="4410075"/>
              <a:ext cx="95250" cy="95250"/>
            </a:xfrm>
            <a:prstGeom prst="ellipse">
              <a:avLst/>
            </a:prstGeom>
            <a:solidFill>
              <a:srgbClr val="F2685C"/>
            </a:solidFill>
            <a:ln>
              <a:noFill/>
            </a:ln>
          </p:spPr>
        </p:sp>
        <p:sp>
          <p:nvSpPr>
            <p:cNvPr id="43" name="TextBox 43"/>
            <p:cNvSpPr txBox="1"/>
            <p:nvPr/>
          </p:nvSpPr>
          <p:spPr>
            <a:xfrm>
              <a:off x="6833806" y="4396026"/>
              <a:ext cx="253721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softmax self-attention -&gt; nonlinear</a:t>
              </a:r>
            </a:p>
          </p:txBody>
        </p:sp>
        <p:sp>
          <p:nvSpPr>
            <p:cNvPr id="44" name="Rectangle 44"/>
            <p:cNvSpPr/>
            <p:nvPr/>
          </p:nvSpPr>
          <p:spPr>
            <a:xfrm>
              <a:off x="6515100" y="4686300"/>
              <a:ext cx="4800600" cy="304800"/>
            </a:xfrm>
            <a:prstGeom prst="roundRect">
              <a:avLst>
                <a:gd name="adj" fmla="val 25000"/>
              </a:avLst>
            </a:prstGeom>
            <a:solidFill>
              <a:schemeClr val="accent6"/>
            </a:solidFill>
            <a:ln w="14288">
              <a:solidFill>
                <a:srgbClr val="26455F"/>
              </a:solidFill>
            </a:ln>
          </p:spPr>
        </p:sp>
        <p:sp>
          <p:nvSpPr>
            <p:cNvPr id="45" name="Ellipse 45"/>
            <p:cNvSpPr/>
            <p:nvPr/>
          </p:nvSpPr>
          <p:spPr>
            <a:xfrm>
              <a:off x="6638925" y="4791075"/>
              <a:ext cx="95250" cy="95250"/>
            </a:xfrm>
            <a:prstGeom prst="ellipse">
              <a:avLst/>
            </a:prstGeom>
            <a:solidFill>
              <a:srgbClr val="F2C14E"/>
            </a:solidFill>
            <a:ln>
              <a:noFill/>
            </a:ln>
          </p:spPr>
        </p:sp>
        <p:sp>
          <p:nvSpPr>
            <p:cNvPr id="46" name="TextBox 46"/>
            <p:cNvSpPr txBox="1"/>
            <p:nvPr/>
          </p:nvSpPr>
          <p:spPr>
            <a:xfrm>
              <a:off x="6833806" y="4777026"/>
              <a:ext cx="2283408"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ReLU two-layer MLP -&gt; nonlinear</a:t>
              </a:r>
            </a:p>
          </p:txBody>
        </p:sp>
      </p:grpSp>
      <p:sp>
        <p:nvSpPr>
          <p:cNvPr id="48" name="cue_s02_c1_in_context_learning_lets_pretrained" title="cue_s02_c1_in_context_learning_lets_pretrained" descr="cue_s02_c1_in_context_learning_lets_pretrained In-context learning lets a pretrained Transformer handle new tasks by simply padding the query with a handful of example input-output pairs, no fine-tuning required."/>
          <p:cNvSpPr/>
          <p:nvPr/>
        </p:nvSpPr>
        <p:spPr>
          <a:xfrm>
            <a:off x="609600" y="1447723"/>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2_despite_its_empirical_success_mechan" title="cue_s02_c2_despite_its_empirical_success_mechan" descr="cue_s02_c2_despite_its_empirical_success_mechan Despite its empirical success, the mechanics of how a Transformer is actually trained to acquire this ability, and how far that ability generalizes, remain elusive."/>
          <p:cNvSpPr/>
          <p:nvPr/>
        </p:nvSpPr>
        <p:spPr>
          <a:xfrm>
            <a:off x="609600" y="3047695"/>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2_c3_core_difficulty_technical_self_atten" title="cue_s02_c3_core_difficulty_technical_self_atten" descr="cue_s02_c3_core_difficulty_technical_self_atten The core difficulty is technical: the self-attention layer is nonlinear through the softmax, and the MLP is nonlinear through the ReLU activation, so the training problem is nonconvex and resists the tools used for simpler models."/>
          <p:cNvSpPr/>
          <p:nvPr/>
        </p:nvSpPr>
        <p:spPr>
          <a:xfrm>
            <a:off x="6248399" y="3047695"/>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75997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Prior theory keeps only part of the picture</a:t>
            </a:r>
          </a:p>
        </p:txBody>
      </p:sp>
      <p:grpSp>
        <p:nvGrpSpPr>
          <p:cNvPr id="10" name="Group 10"/>
          <p:cNvGrpSpPr/>
          <p:nvPr/>
        </p:nvGrpSpPr>
        <p:grpSpPr>
          <a:xfrm>
            <a:off x="609600" y="1447800"/>
            <a:ext cx="10972800" cy="917734"/>
            <a:chOff x="609600" y="1447800"/>
            <a:chExt cx="10972800" cy="917734"/>
          </a:xfrm>
        </p:grpSpPr>
        <p:sp>
          <p:nvSpPr>
            <p:cNvPr id="5" name="Rectangle 5"/>
            <p:cNvSpPr/>
            <p:nvPr/>
          </p:nvSpPr>
          <p:spPr>
            <a:xfrm>
              <a:off x="609600" y="1447800"/>
              <a:ext cx="10972800" cy="876300"/>
            </a:xfrm>
            <a:prstGeom prst="roundRect">
              <a:avLst>
                <a:gd name="adj" fmla="val 15217"/>
              </a:avLst>
            </a:prstGeom>
            <a:solidFill>
              <a:schemeClr val="accent5"/>
            </a:solidFill>
            <a:ln w="14288">
              <a:solidFill>
                <a:srgbClr val="26455F"/>
              </a:solidFill>
            </a:ln>
          </p:spPr>
        </p:sp>
        <p:sp>
          <p:nvSpPr>
            <p:cNvPr id="6" name="Rectangle 6"/>
            <p:cNvSpPr/>
            <p:nvPr/>
          </p:nvSpPr>
          <p:spPr>
            <a:xfrm>
              <a:off x="609600" y="1447800"/>
              <a:ext cx="57150" cy="876300"/>
            </a:xfrm>
            <a:prstGeom prst="roundRect">
              <a:avLst>
                <a:gd name="adj" fmla="val 50000"/>
              </a:avLst>
            </a:prstGeom>
            <a:solidFill>
              <a:srgbClr val="34D3C0"/>
            </a:solidFill>
            <a:ln>
              <a:noFill/>
            </a:ln>
          </p:spPr>
        </p:sp>
        <p:sp>
          <p:nvSpPr>
            <p:cNvPr id="7" name="TextBox 7"/>
            <p:cNvSpPr txBox="1"/>
            <p:nvPr/>
          </p:nvSpPr>
          <p:spPr>
            <a:xfrm>
              <a:off x="870585" y="1650206"/>
              <a:ext cx="2946481"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Recent works began to explain ICL</a:t>
              </a:r>
            </a:p>
          </p:txBody>
        </p:sp>
        <p:sp>
          <p:nvSpPr>
            <p:cNvPr id="8" name="TextBox 8"/>
            <p:cNvSpPr txBox="1"/>
            <p:nvPr/>
          </p:nvSpPr>
          <p:spPr>
            <a:xfrm>
              <a:off x="870585" y="1916906"/>
              <a:ext cx="735154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Each existing analysis simplifies away one of the hard parts, so none captures a genuinely nonlinear</a:t>
              </a:r>
            </a:p>
          </p:txBody>
        </p:sp>
        <p:sp>
          <p:nvSpPr>
            <p:cNvPr id="9" name="TextBox 9"/>
            <p:cNvSpPr txBox="1"/>
            <p:nvPr/>
          </p:nvSpPr>
          <p:spPr>
            <a:xfrm>
              <a:off x="870585" y="2145506"/>
              <a:ext cx="242907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Transformer trained end to end.</a:t>
              </a:r>
            </a:p>
          </p:txBody>
        </p:sp>
      </p:grpSp>
      <p:grpSp>
        <p:nvGrpSpPr>
          <p:cNvPr id="20" name="Group 20"/>
          <p:cNvGrpSpPr/>
          <p:nvPr/>
        </p:nvGrpSpPr>
        <p:grpSpPr>
          <a:xfrm>
            <a:off x="609600" y="2495550"/>
            <a:ext cx="3505200" cy="1905000"/>
            <a:chOff x="609600" y="2495550"/>
            <a:chExt cx="3505200" cy="1905000"/>
          </a:xfrm>
        </p:grpSpPr>
        <p:sp>
          <p:nvSpPr>
            <p:cNvPr id="11" name="Rectangle 11"/>
            <p:cNvSpPr/>
            <p:nvPr/>
          </p:nvSpPr>
          <p:spPr>
            <a:xfrm>
              <a:off x="609600" y="2495550"/>
              <a:ext cx="3505200" cy="1905000"/>
            </a:xfrm>
            <a:prstGeom prst="roundRect">
              <a:avLst>
                <a:gd name="adj" fmla="val 7000"/>
              </a:avLst>
            </a:prstGeom>
            <a:solidFill>
              <a:schemeClr val="accent5"/>
            </a:solidFill>
            <a:ln w="14288">
              <a:solidFill>
                <a:srgbClr val="26455F"/>
              </a:solidFill>
            </a:ln>
          </p:spPr>
        </p:sp>
        <p:sp>
          <p:nvSpPr>
            <p:cNvPr id="12" name="Rectangle 12"/>
            <p:cNvSpPr/>
            <p:nvPr/>
          </p:nvSpPr>
          <p:spPr>
            <a:xfrm>
              <a:off x="609600" y="2495550"/>
              <a:ext cx="3505200" cy="57150"/>
            </a:xfrm>
            <a:prstGeom prst="roundRect">
              <a:avLst>
                <a:gd name="adj" fmla="val 50000"/>
              </a:avLst>
            </a:prstGeom>
            <a:solidFill>
              <a:srgbClr val="F2685C"/>
            </a:solidFill>
            <a:ln>
              <a:noFill/>
            </a:ln>
          </p:spPr>
        </p:sp>
        <p:sp>
          <p:nvSpPr>
            <p:cNvPr id="13" name="TextBox 13"/>
            <p:cNvSpPr txBox="1"/>
            <p:nvPr/>
          </p:nvSpPr>
          <p:spPr>
            <a:xfrm>
              <a:off x="870014" y="2762012"/>
              <a:ext cx="1463709"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Simplified models</a:t>
              </a:r>
            </a:p>
          </p:txBody>
        </p:sp>
        <p:sp>
          <p:nvSpPr>
            <p:cNvPr id="14" name="TextBox 14"/>
            <p:cNvSpPr txBox="1"/>
            <p:nvPr/>
          </p:nvSpPr>
          <p:spPr>
            <a:xfrm>
              <a:off x="870776" y="3083004"/>
              <a:ext cx="204794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Prior work ignores nonlinear</a:t>
              </a:r>
            </a:p>
          </p:txBody>
        </p:sp>
        <p:sp>
          <p:nvSpPr>
            <p:cNvPr id="15" name="TextBox 15"/>
            <p:cNvSpPr txBox="1"/>
            <p:nvPr/>
          </p:nvSpPr>
          <p:spPr>
            <a:xfrm>
              <a:off x="870776" y="3302079"/>
              <a:ext cx="229279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self-attention, or replaces the</a:t>
              </a:r>
            </a:p>
          </p:txBody>
        </p:sp>
        <p:sp>
          <p:nvSpPr>
            <p:cNvPr id="16" name="TextBox 16"/>
            <p:cNvSpPr txBox="1"/>
            <p:nvPr/>
          </p:nvSpPr>
          <p:spPr>
            <a:xfrm>
              <a:off x="870776" y="3521154"/>
              <a:ext cx="230030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nonlinear MLP with a linear one.</a:t>
              </a:r>
            </a:p>
          </p:txBody>
        </p:sp>
        <p:sp>
          <p:nvSpPr>
            <p:cNvPr id="17" name="Rectangle 17"/>
            <p:cNvSpPr/>
            <p:nvPr/>
          </p:nvSpPr>
          <p:spPr>
            <a:xfrm>
              <a:off x="876300" y="3829050"/>
              <a:ext cx="2971800" cy="304800"/>
            </a:xfrm>
            <a:prstGeom prst="roundRect">
              <a:avLst>
                <a:gd name="adj" fmla="val 25000"/>
              </a:avLst>
            </a:prstGeom>
            <a:solidFill>
              <a:schemeClr val="accent6"/>
            </a:solidFill>
            <a:ln w="14288">
              <a:solidFill>
                <a:srgbClr val="26455F"/>
              </a:solidFill>
            </a:ln>
          </p:spPr>
        </p:sp>
        <p:sp>
          <p:nvSpPr>
            <p:cNvPr id="18" name="Ellipse 18"/>
            <p:cNvSpPr/>
            <p:nvPr/>
          </p:nvSpPr>
          <p:spPr>
            <a:xfrm>
              <a:off x="1000125" y="3933825"/>
              <a:ext cx="95250" cy="95250"/>
            </a:xfrm>
            <a:prstGeom prst="ellipse">
              <a:avLst/>
            </a:prstGeom>
            <a:solidFill>
              <a:srgbClr val="F2685C"/>
            </a:solidFill>
            <a:ln>
              <a:noFill/>
            </a:ln>
          </p:spPr>
        </p:sp>
        <p:sp>
          <p:nvSpPr>
            <p:cNvPr id="19" name="TextBox 19"/>
            <p:cNvSpPr txBox="1"/>
            <p:nvPr/>
          </p:nvSpPr>
          <p:spPr>
            <a:xfrm>
              <a:off x="1195197" y="3923824"/>
              <a:ext cx="1853208"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drops softmax / linear MLP</a:t>
              </a:r>
            </a:p>
          </p:txBody>
        </p:sp>
      </p:grpSp>
      <p:grpSp>
        <p:nvGrpSpPr>
          <p:cNvPr id="31" name="Group 31"/>
          <p:cNvGrpSpPr/>
          <p:nvPr/>
        </p:nvGrpSpPr>
        <p:grpSpPr>
          <a:xfrm>
            <a:off x="4343400" y="2495550"/>
            <a:ext cx="3505200" cy="1905000"/>
            <a:chOff x="4343400" y="2495550"/>
            <a:chExt cx="3505200" cy="1905000"/>
          </a:xfrm>
        </p:grpSpPr>
        <p:sp>
          <p:nvSpPr>
            <p:cNvPr id="21" name="Rectangle 21"/>
            <p:cNvSpPr/>
            <p:nvPr/>
          </p:nvSpPr>
          <p:spPr>
            <a:xfrm>
              <a:off x="4343400" y="2495550"/>
              <a:ext cx="3505200" cy="1905000"/>
            </a:xfrm>
            <a:prstGeom prst="roundRect">
              <a:avLst>
                <a:gd name="adj" fmla="val 7000"/>
              </a:avLst>
            </a:prstGeom>
            <a:solidFill>
              <a:schemeClr val="accent5"/>
            </a:solidFill>
            <a:ln w="14288">
              <a:solidFill>
                <a:srgbClr val="26455F"/>
              </a:solidFill>
            </a:ln>
          </p:spPr>
        </p:sp>
        <p:sp>
          <p:nvSpPr>
            <p:cNvPr id="22" name="Rectangle 22"/>
            <p:cNvSpPr/>
            <p:nvPr/>
          </p:nvSpPr>
          <p:spPr>
            <a:xfrm>
              <a:off x="4343400" y="2495550"/>
              <a:ext cx="3505200" cy="57150"/>
            </a:xfrm>
            <a:prstGeom prst="roundRect">
              <a:avLst>
                <a:gd name="adj" fmla="val 50000"/>
              </a:avLst>
            </a:prstGeom>
            <a:solidFill>
              <a:srgbClr val="F2C14E"/>
            </a:solidFill>
            <a:ln>
              <a:noFill/>
            </a:ln>
          </p:spPr>
        </p:sp>
        <p:sp>
          <p:nvSpPr>
            <p:cNvPr id="23" name="TextBox 23"/>
            <p:cNvSpPr txBox="1"/>
            <p:nvPr/>
          </p:nvSpPr>
          <p:spPr>
            <a:xfrm>
              <a:off x="4603814" y="2762012"/>
              <a:ext cx="1727552"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No shift, no pruning</a:t>
              </a:r>
            </a:p>
          </p:txBody>
        </p:sp>
        <p:sp>
          <p:nvSpPr>
            <p:cNvPr id="24" name="TextBox 24"/>
            <p:cNvSpPr txBox="1"/>
            <p:nvPr/>
          </p:nvSpPr>
          <p:spPr>
            <a:xfrm>
              <a:off x="4604576" y="3083004"/>
              <a:ext cx="253248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Most study linear regression, none</a:t>
              </a:r>
            </a:p>
          </p:txBody>
        </p:sp>
        <p:sp>
          <p:nvSpPr>
            <p:cNvPr id="25" name="TextBox 25"/>
            <p:cNvSpPr txBox="1"/>
            <p:nvPr/>
          </p:nvSpPr>
          <p:spPr>
            <a:xfrm>
              <a:off x="4604576" y="3302079"/>
              <a:ext cx="290908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characterize training under distribution</a:t>
              </a:r>
            </a:p>
          </p:txBody>
        </p:sp>
        <p:sp>
          <p:nvSpPr>
            <p:cNvPr id="26" name="TextBox 26"/>
            <p:cNvSpPr txBox="1"/>
            <p:nvPr/>
          </p:nvSpPr>
          <p:spPr>
            <a:xfrm>
              <a:off x="4604576" y="3521154"/>
              <a:ext cx="257158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shift, and none analyze how pruning</a:t>
              </a:r>
            </a:p>
          </p:txBody>
        </p:sp>
        <p:sp>
          <p:nvSpPr>
            <p:cNvPr id="27" name="TextBox 27"/>
            <p:cNvSpPr txBox="1"/>
            <p:nvPr/>
          </p:nvSpPr>
          <p:spPr>
            <a:xfrm>
              <a:off x="4604576" y="3740229"/>
              <a:ext cx="9213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changes ICL.</a:t>
              </a:r>
            </a:p>
          </p:txBody>
        </p:sp>
        <p:sp>
          <p:nvSpPr>
            <p:cNvPr id="28" name="Rectangle 28"/>
            <p:cNvSpPr/>
            <p:nvPr/>
          </p:nvSpPr>
          <p:spPr>
            <a:xfrm>
              <a:off x="4610100" y="3829050"/>
              <a:ext cx="2971800" cy="304800"/>
            </a:xfrm>
            <a:prstGeom prst="roundRect">
              <a:avLst>
                <a:gd name="adj" fmla="val 25000"/>
              </a:avLst>
            </a:prstGeom>
            <a:solidFill>
              <a:schemeClr val="accent6"/>
            </a:solidFill>
            <a:ln w="14288">
              <a:solidFill>
                <a:srgbClr val="26455F"/>
              </a:solidFill>
            </a:ln>
          </p:spPr>
        </p:sp>
        <p:sp>
          <p:nvSpPr>
            <p:cNvPr id="29" name="Ellipse 29"/>
            <p:cNvSpPr/>
            <p:nvPr/>
          </p:nvSpPr>
          <p:spPr>
            <a:xfrm>
              <a:off x="4733925" y="3933825"/>
              <a:ext cx="95250" cy="95250"/>
            </a:xfrm>
            <a:prstGeom prst="ellipse">
              <a:avLst/>
            </a:prstGeom>
            <a:solidFill>
              <a:srgbClr val="F2C14E"/>
            </a:solidFill>
            <a:ln>
              <a:noFill/>
            </a:ln>
          </p:spPr>
        </p:sp>
        <p:sp>
          <p:nvSpPr>
            <p:cNvPr id="30" name="TextBox 30"/>
            <p:cNvSpPr txBox="1"/>
            <p:nvPr/>
          </p:nvSpPr>
          <p:spPr>
            <a:xfrm>
              <a:off x="4928997" y="3923824"/>
              <a:ext cx="1824570"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shift + pruning unexplained</a:t>
              </a:r>
            </a:p>
          </p:txBody>
        </p:sp>
      </p:grpSp>
      <p:grpSp>
        <p:nvGrpSpPr>
          <p:cNvPr id="41" name="Group 41"/>
          <p:cNvGrpSpPr/>
          <p:nvPr/>
        </p:nvGrpSpPr>
        <p:grpSpPr>
          <a:xfrm>
            <a:off x="8077200" y="2495550"/>
            <a:ext cx="3505200" cy="1905000"/>
            <a:chOff x="8077200" y="2495550"/>
            <a:chExt cx="3505200" cy="1905000"/>
          </a:xfrm>
        </p:grpSpPr>
        <p:sp>
          <p:nvSpPr>
            <p:cNvPr id="32" name="Rectangle 32"/>
            <p:cNvSpPr/>
            <p:nvPr/>
          </p:nvSpPr>
          <p:spPr>
            <a:xfrm>
              <a:off x="8077200" y="2495550"/>
              <a:ext cx="3505200" cy="1905000"/>
            </a:xfrm>
            <a:prstGeom prst="roundRect">
              <a:avLst>
                <a:gd name="adj" fmla="val 7000"/>
              </a:avLst>
            </a:prstGeom>
            <a:solidFill>
              <a:srgbClr val="0F2E2B"/>
            </a:solidFill>
            <a:ln w="14288">
              <a:solidFill>
                <a:srgbClr val="34D3C0"/>
              </a:solidFill>
            </a:ln>
          </p:spPr>
        </p:sp>
        <p:sp>
          <p:nvSpPr>
            <p:cNvPr id="33" name="Rectangle 33"/>
            <p:cNvSpPr/>
            <p:nvPr/>
          </p:nvSpPr>
          <p:spPr>
            <a:xfrm>
              <a:off x="8077200" y="2495550"/>
              <a:ext cx="3505200" cy="57150"/>
            </a:xfrm>
            <a:prstGeom prst="roundRect">
              <a:avLst>
                <a:gd name="adj" fmla="val 50000"/>
              </a:avLst>
            </a:prstGeom>
            <a:solidFill>
              <a:srgbClr val="48C78E"/>
            </a:solidFill>
            <a:ln>
              <a:noFill/>
            </a:ln>
          </p:spPr>
        </p:sp>
        <p:sp>
          <p:nvSpPr>
            <p:cNvPr id="34" name="TextBox 34"/>
            <p:cNvSpPr txBox="1"/>
            <p:nvPr/>
          </p:nvSpPr>
          <p:spPr>
            <a:xfrm>
              <a:off x="8337614" y="2762012"/>
              <a:ext cx="1306923"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Why it matters</a:t>
              </a:r>
            </a:p>
          </p:txBody>
        </p:sp>
        <p:sp>
          <p:nvSpPr>
            <p:cNvPr id="35" name="TextBox 35"/>
            <p:cNvSpPr txBox="1"/>
            <p:nvPr/>
          </p:nvSpPr>
          <p:spPr>
            <a:xfrm>
              <a:off x="8338376" y="3083004"/>
              <a:ext cx="254671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Practitioners routinely prune large</a:t>
              </a:r>
            </a:p>
          </p:txBody>
        </p:sp>
        <p:sp>
          <p:nvSpPr>
            <p:cNvPr id="36" name="TextBox 36"/>
            <p:cNvSpPr txBox="1"/>
            <p:nvPr/>
          </p:nvSpPr>
          <p:spPr>
            <a:xfrm>
              <a:off x="8338376" y="3302079"/>
              <a:ext cx="275500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language models to save compute while</a:t>
              </a:r>
            </a:p>
          </p:txBody>
        </p:sp>
        <p:sp>
          <p:nvSpPr>
            <p:cNvPr id="37" name="TextBox 37"/>
            <p:cNvSpPr txBox="1"/>
            <p:nvPr/>
          </p:nvSpPr>
          <p:spPr>
            <a:xfrm>
              <a:off x="8338376" y="3521154"/>
              <a:ext cx="275500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hoping to keep their in-context skills.</a:t>
              </a:r>
            </a:p>
          </p:txBody>
        </p:sp>
        <p:sp>
          <p:nvSpPr>
            <p:cNvPr id="38" name="Rectangle 38"/>
            <p:cNvSpPr/>
            <p:nvPr/>
          </p:nvSpPr>
          <p:spPr>
            <a:xfrm>
              <a:off x="8343900" y="3829050"/>
              <a:ext cx="2971800" cy="304800"/>
            </a:xfrm>
            <a:prstGeom prst="roundRect">
              <a:avLst>
                <a:gd name="adj" fmla="val 25000"/>
              </a:avLst>
            </a:prstGeom>
            <a:solidFill>
              <a:schemeClr val="accent6"/>
            </a:solidFill>
            <a:ln w="14288">
              <a:solidFill>
                <a:srgbClr val="26455F"/>
              </a:solidFill>
            </a:ln>
          </p:spPr>
        </p:sp>
        <p:sp>
          <p:nvSpPr>
            <p:cNvPr id="39" name="Ellipse 39"/>
            <p:cNvSpPr/>
            <p:nvPr/>
          </p:nvSpPr>
          <p:spPr>
            <a:xfrm>
              <a:off x="8467725" y="3933825"/>
              <a:ext cx="95250" cy="95250"/>
            </a:xfrm>
            <a:prstGeom prst="ellipse">
              <a:avLst/>
            </a:prstGeom>
            <a:solidFill>
              <a:srgbClr val="48C78E"/>
            </a:solidFill>
            <a:ln>
              <a:noFill/>
            </a:ln>
          </p:spPr>
        </p:sp>
        <p:sp>
          <p:nvSpPr>
            <p:cNvPr id="40" name="TextBox 40"/>
            <p:cNvSpPr txBox="1"/>
            <p:nvPr/>
          </p:nvSpPr>
          <p:spPr>
            <a:xfrm>
              <a:off x="8662797" y="3923824"/>
              <a:ext cx="2046209"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close the theory-practice gap</a:t>
              </a:r>
            </a:p>
          </p:txBody>
        </p:sp>
      </p:grpSp>
      <p:sp>
        <p:nvSpPr>
          <p:cNvPr id="42" name="Rectangle 42"/>
          <p:cNvSpPr/>
          <p:nvPr/>
        </p:nvSpPr>
        <p:spPr>
          <a:xfrm>
            <a:off x="609600" y="4629150"/>
            <a:ext cx="10972800" cy="609600"/>
          </a:xfrm>
          <a:prstGeom prst="roundRect">
            <a:avLst>
              <a:gd name="adj" fmla="val 18750"/>
            </a:avLst>
          </a:prstGeom>
          <a:solidFill>
            <a:schemeClr val="accent6"/>
          </a:solidFill>
          <a:ln w="14288">
            <a:solidFill>
              <a:srgbClr val="26455F"/>
            </a:solidFill>
          </a:ln>
        </p:spPr>
        <p:txBody>
          <a:bodyPr/>
          <a:p/>
        </p:txBody>
      </p:sp>
      <p:sp>
        <p:nvSpPr>
          <p:cNvPr id="43" name="TextBox 43"/>
          <p:cNvSpPr txBox="1"/>
          <p:nvPr/>
        </p:nvSpPr>
        <p:spPr>
          <a:xfrm>
            <a:off x="870394" y="4865608"/>
            <a:ext cx="8745546"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This paper keeps BOTH nonlinearities, trains by gradient descent, and covers distribution shift and pruning.</a:t>
            </a:r>
          </a:p>
        </p:txBody>
      </p:sp>
      <p:sp>
        <p:nvSpPr>
          <p:cNvPr id="44" name="cue_s03_c1_recent_works_began_explain_in_contex" title="cue_s03_c1_recent_works_began_explain_in_contex" descr="cue_s03_c1_recent_works_began_explain_in_contex Recent works began to explain in-context learning, but each keeps only part of the picture."/>
          <p:cNvSpPr/>
          <p:nvPr/>
        </p:nvSpPr>
        <p:spPr>
          <a:xfrm>
            <a:off x="609600" y="1447723"/>
            <a:ext cx="10972800" cy="917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2_some_ignore_nonlinear_self_attention" title="cue_s03_c2_some_ignore_nonlinear_self_attention" descr="cue_s03_c2_some_ignore_nonlinear_self_attention Some ignore the nonlinear self-attention, others replace the nonlinear MLP with a linear one, and most study linear regression rather than classification."/>
          <p:cNvSpPr/>
          <p:nvPr/>
        </p:nvSpPr>
        <p:spPr>
          <a:xfrm>
            <a:off x="609600" y="2495626"/>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3_none_characterize_how_train_generali" title="cue_s03_c3_none_characterize_how_train_generali" descr="cue_s03_c3_none_characterize_how_train_generali None can characterize how to train a model that generalizes under a distribution shift between training and test data, and none analyze how pruning a trained model changes its in-context ability."/>
          <p:cNvSpPr/>
          <p:nvPr/>
        </p:nvSpPr>
        <p:spPr>
          <a:xfrm>
            <a:off x="4344009" y="2495626"/>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4_since_practitioners_routinely_prune" title="cue_s03_c4_since_practitioners_routinely_prune" descr="cue_s03_c4_since_practitioners_routinely_prune Since practitioners routinely prune large language models to save compute while hoping to keep their in-context skills, closing this theoretical gap matters in practice."/>
          <p:cNvSpPr/>
          <p:nvPr/>
        </p:nvSpPr>
        <p:spPr>
          <a:xfrm>
            <a:off x="8077200" y="2495626"/>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431048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Three firsts for ICL theory</a:t>
            </a:r>
          </a:p>
        </p:txBody>
      </p:sp>
      <p:grpSp>
        <p:nvGrpSpPr>
          <p:cNvPr id="8" name="Group 8"/>
          <p:cNvGrpSpPr/>
          <p:nvPr/>
        </p:nvGrpSpPr>
        <p:grpSpPr>
          <a:xfrm>
            <a:off x="609600" y="1447800"/>
            <a:ext cx="10972800" cy="609600"/>
            <a:chOff x="609600" y="1447800"/>
            <a:chExt cx="10972800" cy="609600"/>
          </a:xfrm>
        </p:grpSpPr>
        <p:sp>
          <p:nvSpPr>
            <p:cNvPr id="5" name="Rectangle 5"/>
            <p:cNvSpPr/>
            <p:nvPr/>
          </p:nvSpPr>
          <p:spPr>
            <a:xfrm>
              <a:off x="609600" y="1447800"/>
              <a:ext cx="10972800" cy="609600"/>
            </a:xfrm>
            <a:prstGeom prst="roundRect">
              <a:avLst>
                <a:gd name="adj" fmla="val 21875"/>
              </a:avLst>
            </a:prstGeom>
            <a:solidFill>
              <a:schemeClr val="accent5"/>
            </a:solidFill>
            <a:ln w="14288">
              <a:solidFill>
                <a:srgbClr val="26455F"/>
              </a:solidFill>
            </a:ln>
          </p:spPr>
        </p:sp>
        <p:sp>
          <p:nvSpPr>
            <p:cNvPr id="6" name="Rectangle 6"/>
            <p:cNvSpPr/>
            <p:nvPr/>
          </p:nvSpPr>
          <p:spPr>
            <a:xfrm>
              <a:off x="609600" y="1447800"/>
              <a:ext cx="57150" cy="609600"/>
            </a:xfrm>
            <a:prstGeom prst="roundRect">
              <a:avLst>
                <a:gd name="adj" fmla="val 50000"/>
              </a:avLst>
            </a:prstGeom>
            <a:solidFill>
              <a:schemeClr val="accent2"/>
            </a:solidFill>
            <a:ln>
              <a:noFill/>
            </a:ln>
          </p:spPr>
        </p:sp>
        <p:sp>
          <p:nvSpPr>
            <p:cNvPr id="7" name="TextBox 7"/>
            <p:cNvSpPr txBox="1"/>
            <p:nvPr/>
          </p:nvSpPr>
          <p:spPr>
            <a:xfrm>
              <a:off x="869823" y="1691164"/>
              <a:ext cx="993115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 training theory for genuinely nonlinear Transformers, a mechanism, and the first analysis of pruning for ICL.</a:t>
              </a:r>
            </a:p>
          </p:txBody>
        </p:sp>
      </p:grpSp>
      <p:grpSp>
        <p:nvGrpSpPr>
          <p:cNvPr id="20" name="Group 20"/>
          <p:cNvGrpSpPr/>
          <p:nvPr/>
        </p:nvGrpSpPr>
        <p:grpSpPr>
          <a:xfrm>
            <a:off x="609600" y="2286000"/>
            <a:ext cx="3505200" cy="2952750"/>
            <a:chOff x="609600" y="2286000"/>
            <a:chExt cx="3505200" cy="2952750"/>
          </a:xfrm>
        </p:grpSpPr>
        <p:sp>
          <p:nvSpPr>
            <p:cNvPr id="9" name="Rectangle 9"/>
            <p:cNvSpPr/>
            <p:nvPr/>
          </p:nvSpPr>
          <p:spPr>
            <a:xfrm>
              <a:off x="609600" y="2286000"/>
              <a:ext cx="3505200" cy="2952750"/>
            </a:xfrm>
            <a:prstGeom prst="roundRect">
              <a:avLst>
                <a:gd name="adj" fmla="val 4516"/>
              </a:avLst>
            </a:prstGeom>
            <a:solidFill>
              <a:schemeClr val="accent5"/>
            </a:solidFill>
            <a:ln w="14288">
              <a:solidFill>
                <a:srgbClr val="26455F"/>
              </a:solidFill>
            </a:ln>
          </p:spPr>
        </p:sp>
        <p:sp>
          <p:nvSpPr>
            <p:cNvPr id="10" name="Rectangle 10"/>
            <p:cNvSpPr/>
            <p:nvPr/>
          </p:nvSpPr>
          <p:spPr>
            <a:xfrm>
              <a:off x="609600" y="2286000"/>
              <a:ext cx="3505200" cy="57150"/>
            </a:xfrm>
            <a:prstGeom prst="roundRect">
              <a:avLst>
                <a:gd name="adj" fmla="val 50000"/>
              </a:avLst>
            </a:prstGeom>
            <a:solidFill>
              <a:schemeClr val="accent2"/>
            </a:solidFill>
            <a:ln>
              <a:noFill/>
            </a:ln>
          </p:spPr>
        </p:sp>
        <p:sp>
          <p:nvSpPr>
            <p:cNvPr id="11" name="Ellipse 11"/>
            <p:cNvSpPr/>
            <p:nvPr/>
          </p:nvSpPr>
          <p:spPr>
            <a:xfrm>
              <a:off x="847725" y="2695575"/>
              <a:ext cx="514350" cy="514350"/>
            </a:xfrm>
            <a:prstGeom prst="ellipse">
              <a:avLst/>
            </a:prstGeom>
            <a:noFill/>
            <a:ln w="23812">
              <a:solidFill>
                <a:schemeClr val="accent2"/>
              </a:solidFill>
            </a:ln>
          </p:spPr>
        </p:sp>
        <p:sp>
          <p:nvSpPr>
            <p:cNvPr id="12" name="TextBox 12"/>
            <p:cNvSpPr txBox="1"/>
            <p:nvPr/>
          </p:nvSpPr>
          <p:spPr>
            <a:xfrm>
              <a:off x="1006009" y="280511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a:t>
              </a:r>
            </a:p>
          </p:txBody>
        </p:sp>
        <p:sp>
          <p:nvSpPr>
            <p:cNvPr id="13" name="TextBox 13"/>
            <p:cNvSpPr txBox="1"/>
            <p:nvPr/>
          </p:nvSpPr>
          <p:spPr>
            <a:xfrm>
              <a:off x="869061" y="3465671"/>
              <a:ext cx="175724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Train + generalize</a:t>
              </a:r>
            </a:p>
          </p:txBody>
        </p:sp>
        <p:sp>
          <p:nvSpPr>
            <p:cNvPr id="14" name="TextBox 14"/>
            <p:cNvSpPr txBox="1"/>
            <p:nvPr/>
          </p:nvSpPr>
          <p:spPr>
            <a:xfrm>
              <a:off x="870966" y="3887152"/>
              <a:ext cx="27999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First characterization of how to train a</a:t>
              </a:r>
            </a:p>
          </p:txBody>
        </p:sp>
        <p:sp>
          <p:nvSpPr>
            <p:cNvPr id="15" name="TextBox 15"/>
            <p:cNvSpPr txBox="1"/>
            <p:nvPr/>
          </p:nvSpPr>
          <p:spPr>
            <a:xfrm>
              <a:off x="870966" y="4106228"/>
              <a:ext cx="22697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Transformer with both nonlinear</a:t>
              </a:r>
            </a:p>
          </p:txBody>
        </p:sp>
        <p:sp>
          <p:nvSpPr>
            <p:cNvPr id="16" name="TextBox 16"/>
            <p:cNvSpPr txBox="1"/>
            <p:nvPr/>
          </p:nvSpPr>
          <p:spPr>
            <a:xfrm>
              <a:off x="870966" y="4325302"/>
              <a:ext cx="24916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self-attention and a nonlinear MLP,</a:t>
              </a:r>
            </a:p>
          </p:txBody>
        </p:sp>
        <p:sp>
          <p:nvSpPr>
            <p:cNvPr id="17" name="TextBox 17"/>
            <p:cNvSpPr txBox="1"/>
            <p:nvPr/>
          </p:nvSpPr>
          <p:spPr>
            <a:xfrm>
              <a:off x="870966" y="4544378"/>
              <a:ext cx="25691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proving it generalizes in-context and</a:t>
              </a:r>
            </a:p>
          </p:txBody>
        </p:sp>
        <p:sp>
          <p:nvSpPr>
            <p:cNvPr id="18" name="TextBox 18"/>
            <p:cNvSpPr txBox="1"/>
            <p:nvPr/>
          </p:nvSpPr>
          <p:spPr>
            <a:xfrm>
              <a:off x="870966" y="4763452"/>
              <a:ext cx="26044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quantifying the data, iterations, and</a:t>
              </a:r>
            </a:p>
          </p:txBody>
        </p:sp>
        <p:sp>
          <p:nvSpPr>
            <p:cNvPr id="19" name="TextBox 19"/>
            <p:cNvSpPr txBox="1"/>
            <p:nvPr/>
          </p:nvSpPr>
          <p:spPr>
            <a:xfrm>
              <a:off x="870966" y="4982528"/>
              <a:ext cx="17351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context length required.</a:t>
              </a:r>
            </a:p>
          </p:txBody>
        </p:sp>
      </p:grpSp>
      <p:grpSp>
        <p:nvGrpSpPr>
          <p:cNvPr id="30" name="Group 30"/>
          <p:cNvGrpSpPr/>
          <p:nvPr/>
        </p:nvGrpSpPr>
        <p:grpSpPr>
          <a:xfrm>
            <a:off x="4343400" y="2286000"/>
            <a:ext cx="3505200" cy="2952750"/>
            <a:chOff x="4343400" y="2286000"/>
            <a:chExt cx="3505200" cy="2952750"/>
          </a:xfrm>
        </p:grpSpPr>
        <p:sp>
          <p:nvSpPr>
            <p:cNvPr id="21" name="Rectangle 21"/>
            <p:cNvSpPr/>
            <p:nvPr/>
          </p:nvSpPr>
          <p:spPr>
            <a:xfrm>
              <a:off x="4343400" y="2286000"/>
              <a:ext cx="3505200" cy="2952750"/>
            </a:xfrm>
            <a:prstGeom prst="roundRect">
              <a:avLst>
                <a:gd name="adj" fmla="val 4516"/>
              </a:avLst>
            </a:prstGeom>
            <a:solidFill>
              <a:schemeClr val="accent5"/>
            </a:solidFill>
            <a:ln w="14288">
              <a:solidFill>
                <a:srgbClr val="26455F"/>
              </a:solidFill>
            </a:ln>
          </p:spPr>
        </p:sp>
        <p:sp>
          <p:nvSpPr>
            <p:cNvPr id="22" name="Rectangle 22"/>
            <p:cNvSpPr/>
            <p:nvPr/>
          </p:nvSpPr>
          <p:spPr>
            <a:xfrm>
              <a:off x="4343400" y="2286000"/>
              <a:ext cx="3505200" cy="57150"/>
            </a:xfrm>
            <a:prstGeom prst="roundRect">
              <a:avLst>
                <a:gd name="adj" fmla="val 50000"/>
              </a:avLst>
            </a:prstGeom>
            <a:solidFill>
              <a:srgbClr val="34D3C0"/>
            </a:solidFill>
            <a:ln>
              <a:noFill/>
            </a:ln>
          </p:spPr>
        </p:sp>
        <p:sp>
          <p:nvSpPr>
            <p:cNvPr id="23" name="Ellipse 23"/>
            <p:cNvSpPr/>
            <p:nvPr/>
          </p:nvSpPr>
          <p:spPr>
            <a:xfrm>
              <a:off x="4581525" y="2695575"/>
              <a:ext cx="514350" cy="514350"/>
            </a:xfrm>
            <a:prstGeom prst="ellipse">
              <a:avLst/>
            </a:prstGeom>
            <a:noFill/>
            <a:ln w="23812">
              <a:solidFill>
                <a:srgbClr val="34D3C0"/>
              </a:solidFill>
            </a:ln>
          </p:spPr>
        </p:sp>
        <p:sp>
          <p:nvSpPr>
            <p:cNvPr id="24" name="TextBox 24"/>
            <p:cNvSpPr txBox="1"/>
            <p:nvPr/>
          </p:nvSpPr>
          <p:spPr>
            <a:xfrm>
              <a:off x="4739809" y="2805112"/>
              <a:ext cx="197782"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2</a:t>
              </a:r>
            </a:p>
          </p:txBody>
        </p:sp>
        <p:sp>
          <p:nvSpPr>
            <p:cNvPr id="25" name="TextBox 25"/>
            <p:cNvSpPr txBox="1"/>
            <p:nvPr/>
          </p:nvSpPr>
          <p:spPr>
            <a:xfrm>
              <a:off x="4602861" y="3465671"/>
              <a:ext cx="143621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mechanism</a:t>
              </a:r>
            </a:p>
          </p:txBody>
        </p:sp>
        <p:sp>
          <p:nvSpPr>
            <p:cNvPr id="26" name="TextBox 26"/>
            <p:cNvSpPr txBox="1"/>
            <p:nvPr/>
          </p:nvSpPr>
          <p:spPr>
            <a:xfrm>
              <a:off x="4604766" y="3887152"/>
              <a:ext cx="24535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Explains how the ability arises: the</a:t>
              </a:r>
            </a:p>
          </p:txBody>
        </p:sp>
        <p:sp>
          <p:nvSpPr>
            <p:cNvPr id="27" name="TextBox 27"/>
            <p:cNvSpPr txBox="1"/>
            <p:nvPr/>
          </p:nvSpPr>
          <p:spPr>
            <a:xfrm>
              <a:off x="4604766" y="4106228"/>
              <a:ext cx="23357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attention layer and the MLP layer</a:t>
              </a:r>
            </a:p>
          </p:txBody>
        </p:sp>
        <p:sp>
          <p:nvSpPr>
            <p:cNvPr id="28" name="TextBox 28"/>
            <p:cNvSpPr txBox="1"/>
            <p:nvPr/>
          </p:nvSpPr>
          <p:spPr>
            <a:xfrm>
              <a:off x="4604766" y="4325302"/>
              <a:ext cx="290129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cooperate to make correct predictions on</a:t>
              </a:r>
            </a:p>
          </p:txBody>
        </p:sp>
        <p:sp>
          <p:nvSpPr>
            <p:cNvPr id="29" name="TextBox 29"/>
            <p:cNvSpPr txBox="1"/>
            <p:nvPr/>
          </p:nvSpPr>
          <p:spPr>
            <a:xfrm>
              <a:off x="4604766" y="4544378"/>
              <a:ext cx="98599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unseen tasks.</a:t>
              </a:r>
            </a:p>
          </p:txBody>
        </p:sp>
      </p:grpSp>
      <p:grpSp>
        <p:nvGrpSpPr>
          <p:cNvPr id="40" name="Group 40"/>
          <p:cNvGrpSpPr/>
          <p:nvPr/>
        </p:nvGrpSpPr>
        <p:grpSpPr>
          <a:xfrm>
            <a:off x="8077200" y="2286000"/>
            <a:ext cx="3505200" cy="2952750"/>
            <a:chOff x="8077200" y="2286000"/>
            <a:chExt cx="3505200" cy="2952750"/>
          </a:xfrm>
        </p:grpSpPr>
        <p:sp>
          <p:nvSpPr>
            <p:cNvPr id="31" name="Rectangle 31"/>
            <p:cNvSpPr/>
            <p:nvPr/>
          </p:nvSpPr>
          <p:spPr>
            <a:xfrm>
              <a:off x="8077200" y="2286000"/>
              <a:ext cx="3505200" cy="2952750"/>
            </a:xfrm>
            <a:prstGeom prst="roundRect">
              <a:avLst>
                <a:gd name="adj" fmla="val 4516"/>
              </a:avLst>
            </a:prstGeom>
            <a:solidFill>
              <a:schemeClr val="accent5"/>
            </a:solidFill>
            <a:ln w="14288">
              <a:solidFill>
                <a:srgbClr val="26455F"/>
              </a:solidFill>
            </a:ln>
          </p:spPr>
        </p:sp>
        <p:sp>
          <p:nvSpPr>
            <p:cNvPr id="32" name="Rectangle 32"/>
            <p:cNvSpPr/>
            <p:nvPr/>
          </p:nvSpPr>
          <p:spPr>
            <a:xfrm>
              <a:off x="8077200" y="2286000"/>
              <a:ext cx="3505200" cy="57150"/>
            </a:xfrm>
            <a:prstGeom prst="roundRect">
              <a:avLst>
                <a:gd name="adj" fmla="val 50000"/>
              </a:avLst>
            </a:prstGeom>
            <a:solidFill>
              <a:srgbClr val="F2C14E"/>
            </a:solidFill>
            <a:ln>
              <a:noFill/>
            </a:ln>
          </p:spPr>
        </p:sp>
        <p:sp>
          <p:nvSpPr>
            <p:cNvPr id="33" name="Ellipse 33"/>
            <p:cNvSpPr/>
            <p:nvPr/>
          </p:nvSpPr>
          <p:spPr>
            <a:xfrm>
              <a:off x="8315325" y="2695575"/>
              <a:ext cx="514350" cy="514350"/>
            </a:xfrm>
            <a:prstGeom prst="ellipse">
              <a:avLst/>
            </a:prstGeom>
            <a:noFill/>
            <a:ln w="23812">
              <a:solidFill>
                <a:srgbClr val="F2C14E"/>
              </a:solidFill>
            </a:ln>
          </p:spPr>
        </p:sp>
        <p:sp>
          <p:nvSpPr>
            <p:cNvPr id="34" name="TextBox 34"/>
            <p:cNvSpPr txBox="1"/>
            <p:nvPr/>
          </p:nvSpPr>
          <p:spPr>
            <a:xfrm>
              <a:off x="8473609" y="2805112"/>
              <a:ext cx="197782"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a:t>
              </a:r>
            </a:p>
          </p:txBody>
        </p:sp>
        <p:sp>
          <p:nvSpPr>
            <p:cNvPr id="35" name="TextBox 35"/>
            <p:cNvSpPr txBox="1"/>
            <p:nvPr/>
          </p:nvSpPr>
          <p:spPr>
            <a:xfrm>
              <a:off x="8336661" y="3465671"/>
              <a:ext cx="146594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Pruning theory</a:t>
              </a:r>
            </a:p>
          </p:txBody>
        </p:sp>
        <p:sp>
          <p:nvSpPr>
            <p:cNvPr id="36" name="TextBox 36"/>
            <p:cNvSpPr txBox="1"/>
            <p:nvPr/>
          </p:nvSpPr>
          <p:spPr>
            <a:xfrm>
              <a:off x="8338566" y="3887152"/>
              <a:ext cx="19868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First theoretical analysis of</a:t>
              </a:r>
            </a:p>
          </p:txBody>
        </p:sp>
        <p:sp>
          <p:nvSpPr>
            <p:cNvPr id="37" name="TextBox 37"/>
            <p:cNvSpPr txBox="1"/>
            <p:nvPr/>
          </p:nvSpPr>
          <p:spPr>
            <a:xfrm>
              <a:off x="8338566" y="4106228"/>
              <a:ext cx="28802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magnitude-based pruning for ICL, proving</a:t>
              </a:r>
            </a:p>
          </p:txBody>
        </p:sp>
        <p:sp>
          <p:nvSpPr>
            <p:cNvPr id="38" name="TextBox 38"/>
            <p:cNvSpPr txBox="1"/>
            <p:nvPr/>
          </p:nvSpPr>
          <p:spPr>
            <a:xfrm>
              <a:off x="8338566" y="4325302"/>
              <a:ext cx="28800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that removing the low-magnitude neurons</a:t>
              </a:r>
            </a:p>
          </p:txBody>
        </p:sp>
        <p:sp>
          <p:nvSpPr>
            <p:cNvPr id="39" name="TextBox 39"/>
            <p:cNvSpPr txBox="1"/>
            <p:nvPr/>
          </p:nvSpPr>
          <p:spPr>
            <a:xfrm>
              <a:off x="8338566" y="4544378"/>
              <a:ext cx="16574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is essentially harmless.</a:t>
              </a:r>
            </a:p>
          </p:txBody>
        </p:sp>
      </p:grpSp>
      <p:sp>
        <p:nvSpPr>
          <p:cNvPr id="41" name="cue_s04_c1_work_makes_three_contributions" title="cue_s04_c1_work_makes_three_contributions" descr="cue_s04_c1_work_makes_three_contributions This work makes three contributions."/>
          <p:cNvSpPr/>
          <p:nvPr/>
        </p:nvSpPr>
        <p:spPr>
          <a:xfrm>
            <a:off x="609600" y="1447723"/>
            <a:ext cx="1097280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2_first_first_theoretical_characteriza" title="cue_s04_c2_first_first_theoretical_characteriza" descr="cue_s04_c2_first_first_theoretical_characteriza First, it is the first theoretical characterization of how to train a Transformer that keeps both nonlinear self-attention and a nonlinear MLP, and it proves the trained model generalizes in context to unseen tasks, quantifying the required amount of data, num"/>
          <p:cNvSpPr/>
          <p:nvPr/>
        </p:nvSpPr>
        <p:spPr>
          <a:xfrm>
            <a:off x="609600" y="2285771"/>
            <a:ext cx="3505199" cy="29530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3_second_expands_our_understanding_mec" title="cue_s04_c3_second_expands_our_understanding_mec" descr="cue_s04_c3_second_expands_our_understanding_mec Second, it expands our understanding of the mechanism of in-context learning, showing how the attention layer and the MLP layer cooperate to make correct predictions."/>
          <p:cNvSpPr/>
          <p:nvPr/>
        </p:nvSpPr>
        <p:spPr>
          <a:xfrm>
            <a:off x="4344009" y="2285771"/>
            <a:ext cx="3505199" cy="29530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4_c4_third_provides_first_theoretical_ana" title="cue_s04_c4_third_provides_first_theoretical_ana" descr="cue_s04_c4_third_provides_first_theoretical_ana Third, it provides the first theoretical analysis of magnitude-based pruning for in-context learning, proving that removing low-magnitude neurons is essentially harmless."/>
          <p:cNvSpPr/>
          <p:nvPr/>
        </p:nvSpPr>
        <p:spPr>
          <a:xfrm>
            <a:off x="8077200" y="2285771"/>
            <a:ext cx="3505199" cy="29530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717321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nonlinear layer, tracked through training</a:t>
            </a:r>
          </a:p>
        </p:txBody>
      </p:sp>
      <p:grpSp>
        <p:nvGrpSpPr>
          <p:cNvPr id="16" name="Group 16"/>
          <p:cNvGrpSpPr/>
          <p:nvPr/>
        </p:nvGrpSpPr>
        <p:grpSpPr>
          <a:xfrm>
            <a:off x="609600" y="1447800"/>
            <a:ext cx="5410200" cy="1885950"/>
            <a:chOff x="609600" y="1447800"/>
            <a:chExt cx="5410200" cy="1885950"/>
          </a:xfrm>
        </p:grpSpPr>
        <p:sp>
          <p:nvSpPr>
            <p:cNvPr id="5" name="Rectangle 5"/>
            <p:cNvSpPr/>
            <p:nvPr/>
          </p:nvSpPr>
          <p:spPr>
            <a:xfrm>
              <a:off x="609600" y="1447800"/>
              <a:ext cx="5410200" cy="1885950"/>
            </a:xfrm>
            <a:prstGeom prst="roundRect">
              <a:avLst>
                <a:gd name="adj" fmla="val 7071"/>
              </a:avLst>
            </a:prstGeom>
            <a:solidFill>
              <a:schemeClr val="accent5"/>
            </a:solidFill>
            <a:ln w="14288">
              <a:solidFill>
                <a:srgbClr val="26455F"/>
              </a:solidFill>
            </a:ln>
          </p:spPr>
        </p:sp>
        <p:sp>
          <p:nvSpPr>
            <p:cNvPr id="6" name="Rectangle 6"/>
            <p:cNvSpPr/>
            <p:nvPr/>
          </p:nvSpPr>
          <p:spPr>
            <a:xfrm>
              <a:off x="609600" y="1447800"/>
              <a:ext cx="57150" cy="1885950"/>
            </a:xfrm>
            <a:prstGeom prst="roundRect">
              <a:avLst>
                <a:gd name="adj" fmla="val 50000"/>
              </a:avLst>
            </a:prstGeom>
            <a:solidFill>
              <a:schemeClr val="accent2"/>
            </a:solidFill>
            <a:ln>
              <a:noFill/>
            </a:ln>
          </p:spPr>
        </p:sp>
        <p:sp>
          <p:nvSpPr>
            <p:cNvPr id="7" name="TextBox 7"/>
            <p:cNvSpPr txBox="1"/>
            <p:nvPr/>
          </p:nvSpPr>
          <p:spPr>
            <a:xfrm>
              <a:off x="870014" y="1676162"/>
              <a:ext cx="2822856"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The model · minimal but nonlinear</a:t>
              </a:r>
            </a:p>
          </p:txBody>
        </p:sp>
        <p:sp>
          <p:nvSpPr>
            <p:cNvPr id="8" name="TextBox 8"/>
            <p:cNvSpPr txBox="1"/>
            <p:nvPr/>
          </p:nvSpPr>
          <p:spPr>
            <a:xfrm>
              <a:off x="870776" y="1978104"/>
              <a:ext cx="393405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One self-attention head with a softmax, followed by a</a:t>
              </a:r>
            </a:p>
          </p:txBody>
        </p:sp>
        <p:sp>
          <p:nvSpPr>
            <p:cNvPr id="9" name="TextBox 9"/>
            <p:cNvSpPr txBox="1"/>
            <p:nvPr/>
          </p:nvSpPr>
          <p:spPr>
            <a:xfrm>
              <a:off x="870776" y="2187654"/>
              <a:ext cx="318075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two-layer perceptron with ReLU activation.</a:t>
              </a:r>
            </a:p>
          </p:txBody>
        </p:sp>
        <p:sp>
          <p:nvSpPr>
            <p:cNvPr id="10" name="Rectangle 10"/>
            <p:cNvSpPr/>
            <p:nvPr/>
          </p:nvSpPr>
          <p:spPr>
            <a:xfrm>
              <a:off x="876300" y="2514600"/>
              <a:ext cx="4876800" cy="323850"/>
            </a:xfrm>
            <a:prstGeom prst="roundRect">
              <a:avLst>
                <a:gd name="adj" fmla="val 23529"/>
              </a:avLst>
            </a:prstGeom>
            <a:solidFill>
              <a:schemeClr val="accent6"/>
            </a:solidFill>
            <a:ln w="14288">
              <a:solidFill>
                <a:srgbClr val="26455F"/>
              </a:solidFill>
            </a:ln>
          </p:spPr>
        </p:sp>
        <p:sp>
          <p:nvSpPr>
            <p:cNvPr id="11" name="Ellipse 11"/>
            <p:cNvSpPr/>
            <p:nvPr/>
          </p:nvSpPr>
          <p:spPr>
            <a:xfrm>
              <a:off x="1000125" y="2628900"/>
              <a:ext cx="95250" cy="95250"/>
            </a:xfrm>
            <a:prstGeom prst="ellipse">
              <a:avLst/>
            </a:prstGeom>
            <a:solidFill>
              <a:srgbClr val="34D3C0"/>
            </a:solidFill>
            <a:ln>
              <a:noFill/>
            </a:ln>
          </p:spPr>
        </p:sp>
        <p:sp>
          <p:nvSpPr>
            <p:cNvPr id="12" name="TextBox 12"/>
            <p:cNvSpPr txBox="1"/>
            <p:nvPr/>
          </p:nvSpPr>
          <p:spPr>
            <a:xfrm>
              <a:off x="1195006" y="2614851"/>
              <a:ext cx="249438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softmax self-attention (nonlinear)</a:t>
              </a:r>
            </a:p>
          </p:txBody>
        </p:sp>
        <p:sp>
          <p:nvSpPr>
            <p:cNvPr id="13" name="Rectangle 13"/>
            <p:cNvSpPr/>
            <p:nvPr/>
          </p:nvSpPr>
          <p:spPr>
            <a:xfrm>
              <a:off x="876300" y="2914650"/>
              <a:ext cx="4876800" cy="323850"/>
            </a:xfrm>
            <a:prstGeom prst="roundRect">
              <a:avLst>
                <a:gd name="adj" fmla="val 23529"/>
              </a:avLst>
            </a:prstGeom>
            <a:solidFill>
              <a:schemeClr val="accent6"/>
            </a:solidFill>
            <a:ln w="14288">
              <a:solidFill>
                <a:srgbClr val="26455F"/>
              </a:solidFill>
            </a:ln>
          </p:spPr>
        </p:sp>
        <p:sp>
          <p:nvSpPr>
            <p:cNvPr id="14" name="Ellipse 14"/>
            <p:cNvSpPr/>
            <p:nvPr/>
          </p:nvSpPr>
          <p:spPr>
            <a:xfrm>
              <a:off x="1000125" y="3028950"/>
              <a:ext cx="95250" cy="95250"/>
            </a:xfrm>
            <a:prstGeom prst="ellipse">
              <a:avLst/>
            </a:prstGeom>
            <a:solidFill>
              <a:srgbClr val="F2C14E"/>
            </a:solidFill>
            <a:ln>
              <a:noFill/>
            </a:ln>
          </p:spPr>
        </p:sp>
        <p:sp>
          <p:nvSpPr>
            <p:cNvPr id="15" name="TextBox 15"/>
            <p:cNvSpPr txBox="1"/>
            <p:nvPr/>
          </p:nvSpPr>
          <p:spPr>
            <a:xfrm>
              <a:off x="1195006" y="3014901"/>
              <a:ext cx="223997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two-layer ReLU MLP (nonlinear)</a:t>
              </a:r>
            </a:p>
          </p:txBody>
        </p:sp>
      </p:grpSp>
      <p:grpSp>
        <p:nvGrpSpPr>
          <p:cNvPr id="25" name="Group 25"/>
          <p:cNvGrpSpPr/>
          <p:nvPr/>
        </p:nvGrpSpPr>
        <p:grpSpPr>
          <a:xfrm>
            <a:off x="6172200" y="1447800"/>
            <a:ext cx="5410200" cy="1885950"/>
            <a:chOff x="6172200" y="1447800"/>
            <a:chExt cx="5410200" cy="1885950"/>
          </a:xfrm>
        </p:grpSpPr>
        <p:sp>
          <p:nvSpPr>
            <p:cNvPr id="17" name="Rectangle 17"/>
            <p:cNvSpPr/>
            <p:nvPr/>
          </p:nvSpPr>
          <p:spPr>
            <a:xfrm>
              <a:off x="6172200" y="1447800"/>
              <a:ext cx="5410200" cy="1885950"/>
            </a:xfrm>
            <a:prstGeom prst="roundRect">
              <a:avLst>
                <a:gd name="adj" fmla="val 7071"/>
              </a:avLst>
            </a:prstGeom>
            <a:solidFill>
              <a:schemeClr val="accent5"/>
            </a:solidFill>
            <a:ln w="14288">
              <a:solidFill>
                <a:srgbClr val="26455F"/>
              </a:solidFill>
            </a:ln>
          </p:spPr>
        </p:sp>
        <p:sp>
          <p:nvSpPr>
            <p:cNvPr id="18" name="Rectangle 18"/>
            <p:cNvSpPr/>
            <p:nvPr/>
          </p:nvSpPr>
          <p:spPr>
            <a:xfrm>
              <a:off x="6172200" y="1447800"/>
              <a:ext cx="57150" cy="1885950"/>
            </a:xfrm>
            <a:prstGeom prst="roundRect">
              <a:avLst>
                <a:gd name="adj" fmla="val 50000"/>
              </a:avLst>
            </a:prstGeom>
            <a:solidFill>
              <a:srgbClr val="34D3C0"/>
            </a:solidFill>
            <a:ln>
              <a:noFill/>
            </a:ln>
          </p:spPr>
        </p:sp>
        <p:sp>
          <p:nvSpPr>
            <p:cNvPr id="19" name="TextBox 19"/>
            <p:cNvSpPr txBox="1"/>
            <p:nvPr/>
          </p:nvSpPr>
          <p:spPr>
            <a:xfrm>
              <a:off x="6432614" y="1676162"/>
              <a:ext cx="2936805"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Training · hinge loss over prompts</a:t>
              </a:r>
            </a:p>
          </p:txBody>
        </p:sp>
        <p:sp>
          <p:nvSpPr>
            <p:cNvPr id="20" name="TextBox 20"/>
            <p:cNvSpPr txBox="1"/>
            <p:nvPr/>
          </p:nvSpPr>
          <p:spPr>
            <a:xfrm>
              <a:off x="6433566" y="1982152"/>
              <a:ext cx="42702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Augment each query with a length-l context of example pairs;</a:t>
              </a:r>
            </a:p>
          </p:txBody>
        </p:sp>
        <p:sp>
          <p:nvSpPr>
            <p:cNvPr id="21" name="TextBox 21"/>
            <p:cNvSpPr txBox="1"/>
            <p:nvPr/>
          </p:nvSpPr>
          <p:spPr>
            <a:xfrm>
              <a:off x="6433566" y="2191702"/>
              <a:ext cx="38483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minimize hinge loss over a small subset of binary tasks.</a:t>
              </a:r>
            </a:p>
          </p:txBody>
        </p:sp>
        <p:sp>
          <p:nvSpPr>
            <p:cNvPr id="22" name="Rectangle 22"/>
            <p:cNvSpPr/>
            <p:nvPr/>
          </p:nvSpPr>
          <p:spPr>
            <a:xfrm>
              <a:off x="6438900" y="2571750"/>
              <a:ext cx="4876800" cy="552450"/>
            </a:xfrm>
            <a:prstGeom prst="roundRect">
              <a:avLst>
                <a:gd name="adj" fmla="val 13793"/>
              </a:avLst>
            </a:prstGeom>
            <a:solidFill>
              <a:schemeClr val="accent6"/>
            </a:solidFill>
            <a:ln w="14288">
              <a:solidFill>
                <a:srgbClr val="26455F"/>
              </a:solidFill>
            </a:ln>
          </p:spPr>
        </p:sp>
        <p:sp>
          <p:nvSpPr>
            <p:cNvPr id="23" name="TextBox 23"/>
            <p:cNvSpPr txBox="1"/>
            <p:nvPr/>
          </p:nvSpPr>
          <p:spPr>
            <a:xfrm>
              <a:off x="7326838" y="2687002"/>
              <a:ext cx="3100924"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F = a^T ReLU( W_O sum_i W_V p_i attn(i) )</a:t>
              </a:r>
            </a:p>
          </p:txBody>
        </p:sp>
        <p:sp>
          <p:nvSpPr>
            <p:cNvPr id="24" name="TextBox 24"/>
            <p:cNvSpPr txBox="1"/>
            <p:nvPr/>
          </p:nvSpPr>
          <p:spPr>
            <a:xfrm>
              <a:off x="7278798" y="2904649"/>
              <a:ext cx="3197003"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Consolas"/>
                  <a:ea typeface="Consolas"/>
                  <a:cs typeface="Consolas"/>
                </a:rPr>
                <a:t>attn(i) = softmax( (W_K p_i)^T W_Q p_query )</a:t>
              </a:r>
            </a:p>
          </p:txBody>
        </p:sp>
      </p:grpSp>
      <p:grpSp>
        <p:nvGrpSpPr>
          <p:cNvPr id="38" name="Group 38"/>
          <p:cNvGrpSpPr/>
          <p:nvPr/>
        </p:nvGrpSpPr>
        <p:grpSpPr>
          <a:xfrm>
            <a:off x="609600" y="3448050"/>
            <a:ext cx="5410200" cy="1885950"/>
            <a:chOff x="609600" y="3448050"/>
            <a:chExt cx="5410200" cy="1885950"/>
          </a:xfrm>
        </p:grpSpPr>
        <p:sp>
          <p:nvSpPr>
            <p:cNvPr id="26" name="Rectangle 26"/>
            <p:cNvSpPr/>
            <p:nvPr/>
          </p:nvSpPr>
          <p:spPr>
            <a:xfrm>
              <a:off x="609600" y="3448050"/>
              <a:ext cx="5410200" cy="1885950"/>
            </a:xfrm>
            <a:prstGeom prst="roundRect">
              <a:avLst>
                <a:gd name="adj" fmla="val 7071"/>
              </a:avLst>
            </a:prstGeom>
            <a:solidFill>
              <a:schemeClr val="accent5"/>
            </a:solidFill>
            <a:ln w="14288">
              <a:solidFill>
                <a:srgbClr val="26455F"/>
              </a:solidFill>
            </a:ln>
          </p:spPr>
        </p:sp>
        <p:sp>
          <p:nvSpPr>
            <p:cNvPr id="27" name="Rectangle 27"/>
            <p:cNvSpPr/>
            <p:nvPr/>
          </p:nvSpPr>
          <p:spPr>
            <a:xfrm>
              <a:off x="609600" y="3448050"/>
              <a:ext cx="57150" cy="1885950"/>
            </a:xfrm>
            <a:prstGeom prst="roundRect">
              <a:avLst>
                <a:gd name="adj" fmla="val 50000"/>
              </a:avLst>
            </a:prstGeom>
            <a:solidFill>
              <a:srgbClr val="F2C14E"/>
            </a:solidFill>
            <a:ln>
              <a:noFill/>
            </a:ln>
          </p:spPr>
        </p:sp>
        <p:sp>
          <p:nvSpPr>
            <p:cNvPr id="28" name="TextBox 28"/>
            <p:cNvSpPr txBox="1"/>
            <p:nvPr/>
          </p:nvSpPr>
          <p:spPr>
            <a:xfrm>
              <a:off x="870014" y="3676412"/>
              <a:ext cx="3000885"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Analysis · follow the GD trajectory</a:t>
              </a:r>
            </a:p>
          </p:txBody>
        </p:sp>
        <p:sp>
          <p:nvSpPr>
            <p:cNvPr id="29" name="TextBox 29"/>
            <p:cNvSpPr txBox="1"/>
            <p:nvPr/>
          </p:nvSpPr>
          <p:spPr>
            <a:xfrm>
              <a:off x="870966" y="3982402"/>
              <a:ext cx="394623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Track gradient descent on the query, key, value and MLP</a:t>
              </a:r>
            </a:p>
          </p:txBody>
        </p:sp>
        <p:sp>
          <p:nvSpPr>
            <p:cNvPr id="30" name="TextBox 30"/>
            <p:cNvSpPr txBox="1"/>
            <p:nvPr/>
          </p:nvSpPr>
          <p:spPr>
            <a:xfrm>
              <a:off x="870966" y="4182428"/>
              <a:ext cx="40038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weights, then evaluate in-domain and under a distribution</a:t>
              </a:r>
            </a:p>
          </p:txBody>
        </p:sp>
        <p:sp>
          <p:nvSpPr>
            <p:cNvPr id="31" name="TextBox 31"/>
            <p:cNvSpPr txBox="1"/>
            <p:nvPr/>
          </p:nvSpPr>
          <p:spPr>
            <a:xfrm>
              <a:off x="870966" y="4382452"/>
              <a:ext cx="4417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shift.</a:t>
              </a:r>
            </a:p>
          </p:txBody>
        </p:sp>
        <p:sp>
          <p:nvSpPr>
            <p:cNvPr id="32" name="Rectangle 32"/>
            <p:cNvSpPr/>
            <p:nvPr/>
          </p:nvSpPr>
          <p:spPr>
            <a:xfrm>
              <a:off x="876300" y="4572000"/>
              <a:ext cx="4876800" cy="304800"/>
            </a:xfrm>
            <a:prstGeom prst="roundRect">
              <a:avLst>
                <a:gd name="adj" fmla="val 25000"/>
              </a:avLst>
            </a:prstGeom>
            <a:solidFill>
              <a:schemeClr val="accent6"/>
            </a:solidFill>
            <a:ln w="14288">
              <a:solidFill>
                <a:srgbClr val="26455F"/>
              </a:solidFill>
            </a:ln>
          </p:spPr>
        </p:sp>
        <p:sp>
          <p:nvSpPr>
            <p:cNvPr id="33" name="Ellipse 33"/>
            <p:cNvSpPr/>
            <p:nvPr/>
          </p:nvSpPr>
          <p:spPr>
            <a:xfrm>
              <a:off x="1000125" y="4676775"/>
              <a:ext cx="95250" cy="95250"/>
            </a:xfrm>
            <a:prstGeom prst="ellipse">
              <a:avLst/>
            </a:prstGeom>
            <a:solidFill>
              <a:schemeClr val="accent2"/>
            </a:solidFill>
            <a:ln>
              <a:noFill/>
            </a:ln>
          </p:spPr>
        </p:sp>
        <p:sp>
          <p:nvSpPr>
            <p:cNvPr id="34" name="TextBox 34"/>
            <p:cNvSpPr txBox="1"/>
            <p:nvPr/>
          </p:nvSpPr>
          <p:spPr>
            <a:xfrm>
              <a:off x="1195197" y="4666774"/>
              <a:ext cx="2420223"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in-domain -&gt; same task distribution</a:t>
              </a:r>
            </a:p>
          </p:txBody>
        </p:sp>
        <p:sp>
          <p:nvSpPr>
            <p:cNvPr id="35" name="Rectangle 35"/>
            <p:cNvSpPr/>
            <p:nvPr/>
          </p:nvSpPr>
          <p:spPr>
            <a:xfrm>
              <a:off x="876300" y="4933950"/>
              <a:ext cx="4876800" cy="304800"/>
            </a:xfrm>
            <a:prstGeom prst="roundRect">
              <a:avLst>
                <a:gd name="adj" fmla="val 25000"/>
              </a:avLst>
            </a:prstGeom>
            <a:solidFill>
              <a:schemeClr val="accent6"/>
            </a:solidFill>
            <a:ln w="14288">
              <a:solidFill>
                <a:srgbClr val="26455F"/>
              </a:solidFill>
            </a:ln>
          </p:spPr>
        </p:sp>
        <p:sp>
          <p:nvSpPr>
            <p:cNvPr id="36" name="Ellipse 36"/>
            <p:cNvSpPr/>
            <p:nvPr/>
          </p:nvSpPr>
          <p:spPr>
            <a:xfrm>
              <a:off x="1000125" y="5038725"/>
              <a:ext cx="95250" cy="95250"/>
            </a:xfrm>
            <a:prstGeom prst="ellipse">
              <a:avLst/>
            </a:prstGeom>
            <a:solidFill>
              <a:srgbClr val="34D3C0"/>
            </a:solidFill>
            <a:ln>
              <a:noFill/>
            </a:ln>
          </p:spPr>
        </p:sp>
        <p:sp>
          <p:nvSpPr>
            <p:cNvPr id="37" name="TextBox 37"/>
            <p:cNvSpPr txBox="1"/>
            <p:nvPr/>
          </p:nvSpPr>
          <p:spPr>
            <a:xfrm>
              <a:off x="1195197" y="5028724"/>
              <a:ext cx="2911983"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out-of-domain -&gt; patterns = linear combos</a:t>
              </a:r>
            </a:p>
          </p:txBody>
        </p:sp>
      </p:grpSp>
      <p:grpSp>
        <p:nvGrpSpPr>
          <p:cNvPr id="50" name="Group 50"/>
          <p:cNvGrpSpPr/>
          <p:nvPr/>
        </p:nvGrpSpPr>
        <p:grpSpPr>
          <a:xfrm>
            <a:off x="6172200" y="3448050"/>
            <a:ext cx="5410200" cy="1885950"/>
            <a:chOff x="6172200" y="3448050"/>
            <a:chExt cx="5410200" cy="1885950"/>
          </a:xfrm>
        </p:grpSpPr>
        <p:sp>
          <p:nvSpPr>
            <p:cNvPr id="39" name="Rectangle 39"/>
            <p:cNvSpPr/>
            <p:nvPr/>
          </p:nvSpPr>
          <p:spPr>
            <a:xfrm>
              <a:off x="6172200" y="3448050"/>
              <a:ext cx="5410200" cy="1885950"/>
            </a:xfrm>
            <a:prstGeom prst="roundRect">
              <a:avLst>
                <a:gd name="adj" fmla="val 7071"/>
              </a:avLst>
            </a:prstGeom>
            <a:solidFill>
              <a:srgbClr val="0F2E2B"/>
            </a:solidFill>
            <a:ln w="14288">
              <a:solidFill>
                <a:srgbClr val="34D3C0"/>
              </a:solidFill>
            </a:ln>
          </p:spPr>
        </p:sp>
        <p:sp>
          <p:nvSpPr>
            <p:cNvPr id="40" name="Rectangle 40"/>
            <p:cNvSpPr/>
            <p:nvPr/>
          </p:nvSpPr>
          <p:spPr>
            <a:xfrm>
              <a:off x="6172200" y="3448050"/>
              <a:ext cx="57150" cy="1885950"/>
            </a:xfrm>
            <a:prstGeom prst="roundRect">
              <a:avLst>
                <a:gd name="adj" fmla="val 50000"/>
              </a:avLst>
            </a:prstGeom>
            <a:solidFill>
              <a:srgbClr val="48C78E"/>
            </a:solidFill>
            <a:ln>
              <a:noFill/>
            </a:ln>
          </p:spPr>
        </p:sp>
        <p:sp>
          <p:nvSpPr>
            <p:cNvPr id="41" name="TextBox 41"/>
            <p:cNvSpPr txBox="1"/>
            <p:nvPr/>
          </p:nvSpPr>
          <p:spPr>
            <a:xfrm>
              <a:off x="6432614" y="3676412"/>
              <a:ext cx="3120609"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Two quantities drive the guarantees</a:t>
              </a:r>
            </a:p>
          </p:txBody>
        </p:sp>
        <p:sp>
          <p:nvSpPr>
            <p:cNvPr id="42" name="Rectangle 42"/>
            <p:cNvSpPr/>
            <p:nvPr/>
          </p:nvSpPr>
          <p:spPr>
            <a:xfrm>
              <a:off x="6438900" y="4038600"/>
              <a:ext cx="2457450" cy="1028700"/>
            </a:xfrm>
            <a:prstGeom prst="roundRect">
              <a:avLst>
                <a:gd name="adj" fmla="val 9259"/>
              </a:avLst>
            </a:prstGeom>
            <a:solidFill>
              <a:schemeClr val="accent6"/>
            </a:solidFill>
            <a:ln w="14288">
              <a:solidFill>
                <a:srgbClr val="26455F"/>
              </a:solidFill>
            </a:ln>
          </p:spPr>
        </p:sp>
        <p:sp>
          <p:nvSpPr>
            <p:cNvPr id="43" name="TextBox 43"/>
            <p:cNvSpPr txBox="1"/>
            <p:nvPr/>
          </p:nvSpPr>
          <p:spPr>
            <a:xfrm>
              <a:off x="7313176" y="4228148"/>
              <a:ext cx="708898"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Consolas"/>
                  <a:ea typeface="Consolas"/>
                  <a:cs typeface="Consolas"/>
                </a:rPr>
                <a:t>alpha</a:t>
              </a:r>
            </a:p>
          </p:txBody>
        </p:sp>
        <p:sp>
          <p:nvSpPr>
            <p:cNvPr id="44" name="TextBox 44"/>
            <p:cNvSpPr txBox="1"/>
            <p:nvPr/>
          </p:nvSpPr>
          <p:spPr>
            <a:xfrm>
              <a:off x="6759347" y="4623197"/>
              <a:ext cx="181655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fraction of context sharing</a:t>
              </a:r>
            </a:p>
          </p:txBody>
        </p:sp>
        <p:sp>
          <p:nvSpPr>
            <p:cNvPr id="45" name="TextBox 45"/>
            <p:cNvSpPr txBox="1"/>
            <p:nvPr/>
          </p:nvSpPr>
          <p:spPr>
            <a:xfrm>
              <a:off x="6706199" y="4794647"/>
              <a:ext cx="192285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the query's relevant pattern</a:t>
              </a:r>
            </a:p>
          </p:txBody>
        </p:sp>
        <p:sp>
          <p:nvSpPr>
            <p:cNvPr id="46" name="Rectangle 46"/>
            <p:cNvSpPr/>
            <p:nvPr/>
          </p:nvSpPr>
          <p:spPr>
            <a:xfrm>
              <a:off x="9048750" y="4038600"/>
              <a:ext cx="2457450" cy="1028700"/>
            </a:xfrm>
            <a:prstGeom prst="roundRect">
              <a:avLst>
                <a:gd name="adj" fmla="val 9259"/>
              </a:avLst>
            </a:prstGeom>
            <a:solidFill>
              <a:schemeClr val="accent6"/>
            </a:solidFill>
            <a:ln w="14288">
              <a:solidFill>
                <a:srgbClr val="26455F"/>
              </a:solidFill>
            </a:ln>
          </p:spPr>
        </p:sp>
        <p:sp>
          <p:nvSpPr>
            <p:cNvPr id="47" name="TextBox 47"/>
            <p:cNvSpPr txBox="1"/>
            <p:nvPr/>
          </p:nvSpPr>
          <p:spPr>
            <a:xfrm>
              <a:off x="9964371" y="4228148"/>
              <a:ext cx="626208" cy="381381"/>
            </a:xfrm>
            <a:prstGeom prst="rect">
              <a:avLst/>
            </a:prstGeom>
            <a:noFill/>
            <a:ln>
              <a:noFill/>
            </a:ln>
          </p:spPr>
          <p:txBody>
            <a:bodyPr wrap="none" lIns="0" tIns="0" rIns="0" bIns="0" anchor="t" anchorCtr="0">
              <a:spAutoFit/>
            </a:bodyPr>
            <a:lstStyle/>
            <a:p>
              <a:pPr algn="ctr"/>
              <a:r>
                <a:rPr lang="en-US" sz="1950" b="1" dirty="0">
                  <a:solidFill>
                    <a:srgbClr val="34D3C0"/>
                  </a:solidFill>
                  <a:latin typeface="Consolas"/>
                  <a:ea typeface="Consolas"/>
                  <a:cs typeface="Consolas"/>
                </a:rPr>
                <a:t>beta</a:t>
              </a:r>
            </a:p>
          </p:txBody>
        </p:sp>
        <p:sp>
          <p:nvSpPr>
            <p:cNvPr id="48" name="TextBox 48"/>
            <p:cNvSpPr txBox="1"/>
            <p:nvPr/>
          </p:nvSpPr>
          <p:spPr>
            <a:xfrm>
              <a:off x="9724624" y="4623197"/>
              <a:ext cx="110570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magnitude of the</a:t>
              </a:r>
            </a:p>
          </p:txBody>
        </p:sp>
        <p:sp>
          <p:nvSpPr>
            <p:cNvPr id="49" name="TextBox 49"/>
            <p:cNvSpPr txBox="1"/>
            <p:nvPr/>
          </p:nvSpPr>
          <p:spPr>
            <a:xfrm>
              <a:off x="9684763" y="4794647"/>
              <a:ext cx="118542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relevant features</a:t>
              </a:r>
            </a:p>
          </p:txBody>
        </p:sp>
      </p:grpSp>
      <p:sp>
        <p:nvSpPr>
          <p:cNvPr id="51" name="cue_s05_c1_deliberately_minimal_but_nonlinear_o" title="cue_s05_c1_deliberately_minimal_but_nonlinear_o" descr="cue_s05_c1_deliberately_minimal_but_nonlinear_o The model is deliberately minimal but nonlinear: one self-attention head with a softmax, followed by a two-layer perceptron with ReLU activation."/>
          <p:cNvSpPr/>
          <p:nvPr/>
        </p:nvSpPr>
        <p:spPr>
          <a:xfrm>
            <a:off x="609600" y="1447723"/>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5_c2_augments_query_length_l_context_exam" title="cue_s05_c2_augments_query_length_l_context_exam" descr="cue_s05_c2_augments_query_length_l_context_exam Training augments each query with a length-l context of example pairs, embeds them into a prompt, and minimizes a hinge loss over prompts sampled from a small subset of binary classification tasks. Every input contains relevant patterns that determine its labe"/>
          <p:cNvSpPr/>
          <p:nvPr/>
        </p:nvSpPr>
        <p:spPr>
          <a:xfrm>
            <a:off x="6171590" y="1447723"/>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5_c3_authors_follow_gradient_descent_dyna" title="cue_s05_c3_authors_follow_gradient_descent_dyna" descr="cue_s05_c3_authors_follow_gradient_descent_dyna The authors follow the gradient-descent dynamics of the query, key, value, and MLP weights, and evaluate the resulting model both in-domain and under a distribution shift where the test relevant patterns are linear combinations of the training ones."/>
          <p:cNvSpPr/>
          <p:nvPr/>
        </p:nvSpPr>
        <p:spPr>
          <a:xfrm>
            <a:off x="609600" y="3448202"/>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5_c4_two_quantities_drive_guarantees_alph" title="cue_s05_c4_two_quantities_drive_guarantees_alph" descr="cue_s05_c4_two_quantities_drive_guarantees_alph Two quantities drive the guarantees: alpha, the fraction of context examples that share the query's relevant pattern, and beta, the magnitude of the relevant features."/>
          <p:cNvSpPr/>
          <p:nvPr/>
        </p:nvSpPr>
        <p:spPr>
          <a:xfrm>
            <a:off x="6171590" y="3448202"/>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671249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synthetic setup that matches the theory</a:t>
            </a:r>
          </a:p>
        </p:txBody>
      </p:sp>
      <p:grpSp>
        <p:nvGrpSpPr>
          <p:cNvPr id="10" name="Group 10"/>
          <p:cNvGrpSpPr/>
          <p:nvPr/>
        </p:nvGrpSpPr>
        <p:grpSpPr>
          <a:xfrm>
            <a:off x="609600" y="1447800"/>
            <a:ext cx="10972800" cy="917734"/>
            <a:chOff x="609600" y="1447800"/>
            <a:chExt cx="10972800" cy="917734"/>
          </a:xfrm>
        </p:grpSpPr>
        <p:sp>
          <p:nvSpPr>
            <p:cNvPr id="5" name="Rectangle 5"/>
            <p:cNvSpPr/>
            <p:nvPr/>
          </p:nvSpPr>
          <p:spPr>
            <a:xfrm>
              <a:off x="609600" y="1447800"/>
              <a:ext cx="10972800" cy="762000"/>
            </a:xfrm>
            <a:prstGeom prst="roundRect">
              <a:avLst>
                <a:gd name="adj" fmla="val 17500"/>
              </a:avLst>
            </a:prstGeom>
            <a:solidFill>
              <a:schemeClr val="accent5"/>
            </a:solidFill>
            <a:ln w="14288">
              <a:solidFill>
                <a:srgbClr val="26455F"/>
              </a:solidFill>
            </a:ln>
          </p:spPr>
        </p:sp>
        <p:sp>
          <p:nvSpPr>
            <p:cNvPr id="6" name="Rectangle 6"/>
            <p:cNvSpPr/>
            <p:nvPr/>
          </p:nvSpPr>
          <p:spPr>
            <a:xfrm>
              <a:off x="609600" y="1447800"/>
              <a:ext cx="57150" cy="762000"/>
            </a:xfrm>
            <a:prstGeom prst="roundRect">
              <a:avLst>
                <a:gd name="adj" fmla="val 50000"/>
              </a:avLst>
            </a:prstGeom>
            <a:solidFill>
              <a:srgbClr val="34D3C0"/>
            </a:solidFill>
            <a:ln>
              <a:noFill/>
            </a:ln>
          </p:spPr>
        </p:sp>
        <p:sp>
          <p:nvSpPr>
            <p:cNvPr id="7" name="TextBox 7"/>
            <p:cNvSpPr txBox="1"/>
            <p:nvPr/>
          </p:nvSpPr>
          <p:spPr>
            <a:xfrm>
              <a:off x="870585" y="1650206"/>
              <a:ext cx="2335297"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Controlled synthetic tasks</a:t>
              </a:r>
            </a:p>
          </p:txBody>
        </p:sp>
        <p:sp>
          <p:nvSpPr>
            <p:cNvPr id="8" name="TextBox 8"/>
            <p:cNvSpPr txBox="1"/>
            <p:nvPr/>
          </p:nvSpPr>
          <p:spPr>
            <a:xfrm>
              <a:off x="870585" y="1916906"/>
              <a:ext cx="722342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Binary classification tasks built from a fixed pool of patterns, so every quantity in the theorems</a:t>
              </a:r>
            </a:p>
          </p:txBody>
        </p:sp>
        <p:sp>
          <p:nvSpPr>
            <p:cNvPr id="9" name="TextBox 9"/>
            <p:cNvSpPr txBox="1"/>
            <p:nvPr/>
          </p:nvSpPr>
          <p:spPr>
            <a:xfrm>
              <a:off x="870585" y="2145506"/>
              <a:ext cx="192626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can be measured directly.</a:t>
              </a:r>
            </a:p>
          </p:txBody>
        </p:sp>
      </p:grpSp>
      <p:grpSp>
        <p:nvGrpSpPr>
          <p:cNvPr id="21" name="Group 21"/>
          <p:cNvGrpSpPr/>
          <p:nvPr/>
        </p:nvGrpSpPr>
        <p:grpSpPr>
          <a:xfrm>
            <a:off x="609600" y="2400300"/>
            <a:ext cx="5334000" cy="1771650"/>
            <a:chOff x="609600" y="2400300"/>
            <a:chExt cx="5334000" cy="1771650"/>
          </a:xfrm>
        </p:grpSpPr>
        <p:sp>
          <p:nvSpPr>
            <p:cNvPr id="11" name="Rectangle 11"/>
            <p:cNvSpPr/>
            <p:nvPr/>
          </p:nvSpPr>
          <p:spPr>
            <a:xfrm>
              <a:off x="609600" y="2400300"/>
              <a:ext cx="5334000" cy="1771650"/>
            </a:xfrm>
            <a:prstGeom prst="roundRect">
              <a:avLst>
                <a:gd name="adj" fmla="val 7527"/>
              </a:avLst>
            </a:prstGeom>
            <a:solidFill>
              <a:schemeClr val="accent5"/>
            </a:solidFill>
            <a:ln w="14288">
              <a:solidFill>
                <a:srgbClr val="26455F"/>
              </a:solidFill>
            </a:ln>
          </p:spPr>
        </p:sp>
        <p:sp>
          <p:nvSpPr>
            <p:cNvPr id="12" name="Rectangle 12"/>
            <p:cNvSpPr/>
            <p:nvPr/>
          </p:nvSpPr>
          <p:spPr>
            <a:xfrm>
              <a:off x="609600" y="2400300"/>
              <a:ext cx="57150" cy="1771650"/>
            </a:xfrm>
            <a:prstGeom prst="roundRect">
              <a:avLst>
                <a:gd name="adj" fmla="val 50000"/>
              </a:avLst>
            </a:prstGeom>
            <a:solidFill>
              <a:schemeClr val="accent2"/>
            </a:solidFill>
            <a:ln>
              <a:noFill/>
            </a:ln>
          </p:spPr>
        </p:sp>
        <p:sp>
          <p:nvSpPr>
            <p:cNvPr id="13" name="TextBox 13"/>
            <p:cNvSpPr txBox="1"/>
            <p:nvPr/>
          </p:nvSpPr>
          <p:spPr>
            <a:xfrm>
              <a:off x="870014" y="2628662"/>
              <a:ext cx="142924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The pattern pool</a:t>
              </a:r>
            </a:p>
          </p:txBody>
        </p:sp>
        <p:sp>
          <p:nvSpPr>
            <p:cNvPr id="14" name="Rectangle 14"/>
            <p:cNvSpPr/>
            <p:nvPr/>
          </p:nvSpPr>
          <p:spPr>
            <a:xfrm>
              <a:off x="876300" y="2933700"/>
              <a:ext cx="2343150" cy="990600"/>
            </a:xfrm>
            <a:prstGeom prst="roundRect">
              <a:avLst>
                <a:gd name="adj" fmla="val 11538"/>
              </a:avLst>
            </a:prstGeom>
            <a:solidFill>
              <a:schemeClr val="accent6"/>
            </a:solidFill>
            <a:ln w="14288">
              <a:solidFill>
                <a:srgbClr val="26455F"/>
              </a:solidFill>
            </a:ln>
          </p:spPr>
        </p:sp>
        <p:sp>
          <p:nvSpPr>
            <p:cNvPr id="15" name="TextBox 15"/>
            <p:cNvSpPr txBox="1"/>
            <p:nvPr/>
          </p:nvSpPr>
          <p:spPr>
            <a:xfrm>
              <a:off x="1935799" y="3173540"/>
              <a:ext cx="224153" cy="498729"/>
            </a:xfrm>
            <a:prstGeom prst="rect">
              <a:avLst/>
            </a:prstGeom>
            <a:noFill/>
            <a:ln>
              <a:noFill/>
            </a:ln>
          </p:spPr>
          <p:txBody>
            <a:bodyPr wrap="none" lIns="0" tIns="0" rIns="0" bIns="0" anchor="t" anchorCtr="0">
              <a:spAutoFit/>
            </a:bodyPr>
            <a:lstStyle/>
            <a:p>
              <a:pPr algn="ctr"/>
              <a:r>
                <a:rPr lang="en-US" sz="2550" b="1" dirty="0">
                  <a:solidFill>
                    <a:schemeClr val="accent2"/>
                  </a:solidFill>
                  <a:latin typeface="+mn-lt"/>
                  <a:ea typeface="+mn-ea"/>
                  <a:cs typeface="+mn-cs"/>
                </a:rPr>
                <a:t>6</a:t>
              </a:r>
            </a:p>
          </p:txBody>
        </p:sp>
        <p:sp>
          <p:nvSpPr>
            <p:cNvPr id="16" name="TextBox 16"/>
            <p:cNvSpPr txBox="1"/>
            <p:nvPr/>
          </p:nvSpPr>
          <p:spPr>
            <a:xfrm>
              <a:off x="1222909" y="3620929"/>
              <a:ext cx="1649932"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in-domain relevant (M1)</a:t>
              </a:r>
            </a:p>
          </p:txBody>
        </p:sp>
        <p:sp>
          <p:nvSpPr>
            <p:cNvPr id="17" name="Rectangle 17"/>
            <p:cNvSpPr/>
            <p:nvPr/>
          </p:nvSpPr>
          <p:spPr>
            <a:xfrm>
              <a:off x="3333750" y="2933700"/>
              <a:ext cx="2343150" cy="990600"/>
            </a:xfrm>
            <a:prstGeom prst="roundRect">
              <a:avLst>
                <a:gd name="adj" fmla="val 11538"/>
              </a:avLst>
            </a:prstGeom>
            <a:solidFill>
              <a:schemeClr val="accent6"/>
            </a:solidFill>
            <a:ln w="14288">
              <a:solidFill>
                <a:srgbClr val="26455F"/>
              </a:solidFill>
            </a:ln>
          </p:spPr>
        </p:sp>
        <p:sp>
          <p:nvSpPr>
            <p:cNvPr id="18" name="TextBox 18"/>
            <p:cNvSpPr txBox="1"/>
            <p:nvPr/>
          </p:nvSpPr>
          <p:spPr>
            <a:xfrm>
              <a:off x="4294126" y="3173540"/>
              <a:ext cx="422398" cy="498729"/>
            </a:xfrm>
            <a:prstGeom prst="rect">
              <a:avLst/>
            </a:prstGeom>
            <a:noFill/>
            <a:ln>
              <a:noFill/>
            </a:ln>
          </p:spPr>
          <p:txBody>
            <a:bodyPr wrap="none" lIns="0" tIns="0" rIns="0" bIns="0" anchor="t" anchorCtr="0">
              <a:spAutoFit/>
            </a:bodyPr>
            <a:lstStyle/>
            <a:p>
              <a:pPr algn="ctr"/>
              <a:r>
                <a:rPr lang="en-US" sz="2550" b="1" dirty="0">
                  <a:solidFill>
                    <a:srgbClr val="F2C14E"/>
                  </a:solidFill>
                  <a:latin typeface="+mn-lt"/>
                  <a:ea typeface="+mn-ea"/>
                  <a:cs typeface="+mn-cs"/>
                </a:rPr>
                <a:t>24</a:t>
              </a:r>
            </a:p>
          </p:txBody>
        </p:sp>
        <p:sp>
          <p:nvSpPr>
            <p:cNvPr id="19" name="TextBox 19"/>
            <p:cNvSpPr txBox="1"/>
            <p:nvPr/>
          </p:nvSpPr>
          <p:spPr>
            <a:xfrm>
              <a:off x="3638965" y="3620929"/>
              <a:ext cx="1732721"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irrelevant patterns (M2)</a:t>
              </a:r>
            </a:p>
          </p:txBody>
        </p:sp>
        <p:sp>
          <p:nvSpPr>
            <p:cNvPr id="20" name="TextBox 20"/>
            <p:cNvSpPr txBox="1"/>
            <p:nvPr/>
          </p:nvSpPr>
          <p:spPr>
            <a:xfrm>
              <a:off x="871347" y="3971449"/>
              <a:ext cx="3733953"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Only the relevant patterns determine an input's label.</a:t>
              </a:r>
            </a:p>
          </p:txBody>
        </p:sp>
      </p:grpSp>
      <p:grpSp>
        <p:nvGrpSpPr>
          <p:cNvPr id="32" name="Group 32"/>
          <p:cNvGrpSpPr/>
          <p:nvPr/>
        </p:nvGrpSpPr>
        <p:grpSpPr>
          <a:xfrm>
            <a:off x="6248400" y="2400300"/>
            <a:ext cx="5334000" cy="1771650"/>
            <a:chOff x="6248400" y="2400300"/>
            <a:chExt cx="5334000" cy="1771650"/>
          </a:xfrm>
        </p:grpSpPr>
        <p:sp>
          <p:nvSpPr>
            <p:cNvPr id="22" name="Rectangle 22"/>
            <p:cNvSpPr/>
            <p:nvPr/>
          </p:nvSpPr>
          <p:spPr>
            <a:xfrm>
              <a:off x="6248400" y="2400300"/>
              <a:ext cx="5334000" cy="1771650"/>
            </a:xfrm>
            <a:prstGeom prst="roundRect">
              <a:avLst>
                <a:gd name="adj" fmla="val 7527"/>
              </a:avLst>
            </a:prstGeom>
            <a:solidFill>
              <a:schemeClr val="accent5"/>
            </a:solidFill>
            <a:ln w="14288">
              <a:solidFill>
                <a:srgbClr val="26455F"/>
              </a:solidFill>
            </a:ln>
          </p:spPr>
        </p:sp>
        <p:sp>
          <p:nvSpPr>
            <p:cNvPr id="23" name="Rectangle 23"/>
            <p:cNvSpPr/>
            <p:nvPr/>
          </p:nvSpPr>
          <p:spPr>
            <a:xfrm>
              <a:off x="6248400" y="2400300"/>
              <a:ext cx="57150" cy="1771650"/>
            </a:xfrm>
            <a:prstGeom prst="roundRect">
              <a:avLst>
                <a:gd name="adj" fmla="val 50000"/>
              </a:avLst>
            </a:prstGeom>
            <a:solidFill>
              <a:srgbClr val="F2C14E"/>
            </a:solidFill>
            <a:ln>
              <a:noFill/>
            </a:ln>
          </p:spPr>
        </p:sp>
        <p:sp>
          <p:nvSpPr>
            <p:cNvPr id="24" name="TextBox 24"/>
            <p:cNvSpPr txBox="1"/>
            <p:nvPr/>
          </p:nvSpPr>
          <p:spPr>
            <a:xfrm>
              <a:off x="6508814" y="2628662"/>
              <a:ext cx="1648399"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Two models trained</a:t>
              </a:r>
            </a:p>
          </p:txBody>
        </p:sp>
        <p:sp>
          <p:nvSpPr>
            <p:cNvPr id="25" name="Rectangle 25"/>
            <p:cNvSpPr/>
            <p:nvPr/>
          </p:nvSpPr>
          <p:spPr>
            <a:xfrm>
              <a:off x="6515100" y="2933700"/>
              <a:ext cx="4800600" cy="304800"/>
            </a:xfrm>
            <a:prstGeom prst="roundRect">
              <a:avLst>
                <a:gd name="adj" fmla="val 25000"/>
              </a:avLst>
            </a:prstGeom>
            <a:solidFill>
              <a:schemeClr val="accent6"/>
            </a:solidFill>
            <a:ln w="14288">
              <a:solidFill>
                <a:srgbClr val="26455F"/>
              </a:solidFill>
            </a:ln>
          </p:spPr>
        </p:sp>
        <p:sp>
          <p:nvSpPr>
            <p:cNvPr id="26" name="Ellipse 26"/>
            <p:cNvSpPr/>
            <p:nvPr/>
          </p:nvSpPr>
          <p:spPr>
            <a:xfrm>
              <a:off x="6638925" y="3038475"/>
              <a:ext cx="95250" cy="95250"/>
            </a:xfrm>
            <a:prstGeom prst="ellipse">
              <a:avLst/>
            </a:prstGeom>
            <a:solidFill>
              <a:srgbClr val="34D3C0"/>
            </a:solidFill>
            <a:ln>
              <a:noFill/>
            </a:ln>
          </p:spPr>
        </p:sp>
        <p:sp>
          <p:nvSpPr>
            <p:cNvPr id="27" name="TextBox 27"/>
            <p:cNvSpPr txBox="1"/>
            <p:nvPr/>
          </p:nvSpPr>
          <p:spPr>
            <a:xfrm>
              <a:off x="6833806" y="3024426"/>
              <a:ext cx="319707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One-layer Transformer -&gt; the analyzed model</a:t>
              </a:r>
            </a:p>
          </p:txBody>
        </p:sp>
        <p:sp>
          <p:nvSpPr>
            <p:cNvPr id="28" name="Rectangle 28"/>
            <p:cNvSpPr/>
            <p:nvPr/>
          </p:nvSpPr>
          <p:spPr>
            <a:xfrm>
              <a:off x="6515100" y="3314700"/>
              <a:ext cx="4800600" cy="304800"/>
            </a:xfrm>
            <a:prstGeom prst="roundRect">
              <a:avLst>
                <a:gd name="adj" fmla="val 25000"/>
              </a:avLst>
            </a:prstGeom>
            <a:solidFill>
              <a:schemeClr val="accent6"/>
            </a:solidFill>
            <a:ln w="14288">
              <a:solidFill>
                <a:srgbClr val="26455F"/>
              </a:solidFill>
            </a:ln>
          </p:spPr>
        </p:sp>
        <p:sp>
          <p:nvSpPr>
            <p:cNvPr id="29" name="Ellipse 29"/>
            <p:cNvSpPr/>
            <p:nvPr/>
          </p:nvSpPr>
          <p:spPr>
            <a:xfrm>
              <a:off x="6638925" y="3419475"/>
              <a:ext cx="95250" cy="95250"/>
            </a:xfrm>
            <a:prstGeom prst="ellipse">
              <a:avLst/>
            </a:prstGeom>
            <a:solidFill>
              <a:schemeClr val="accent2"/>
            </a:solidFill>
            <a:ln>
              <a:noFill/>
            </a:ln>
          </p:spPr>
        </p:sp>
        <p:sp>
          <p:nvSpPr>
            <p:cNvPr id="30" name="TextBox 30"/>
            <p:cNvSpPr txBox="1"/>
            <p:nvPr/>
          </p:nvSpPr>
          <p:spPr>
            <a:xfrm>
              <a:off x="6833806" y="3405426"/>
              <a:ext cx="2800367"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GPT-2 -&gt; 3 layers, 2 heads (real-world)</a:t>
              </a:r>
            </a:p>
          </p:txBody>
        </p:sp>
        <p:sp>
          <p:nvSpPr>
            <p:cNvPr id="31" name="TextBox 31"/>
            <p:cNvSpPr txBox="1"/>
            <p:nvPr/>
          </p:nvSpPr>
          <p:spPr>
            <a:xfrm>
              <a:off x="6510147" y="3838099"/>
              <a:ext cx="4729243"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The toy model the theory covers, plus a small practical Transformer.</a:t>
              </a:r>
            </a:p>
          </p:txBody>
        </p:sp>
      </p:grpSp>
      <p:grpSp>
        <p:nvGrpSpPr>
          <p:cNvPr id="45" name="Group 45"/>
          <p:cNvGrpSpPr/>
          <p:nvPr/>
        </p:nvGrpSpPr>
        <p:grpSpPr>
          <a:xfrm>
            <a:off x="609600" y="4362450"/>
            <a:ext cx="10972800" cy="876300"/>
            <a:chOff x="609600" y="4362450"/>
            <a:chExt cx="10972800" cy="876300"/>
          </a:xfrm>
        </p:grpSpPr>
        <p:sp>
          <p:nvSpPr>
            <p:cNvPr id="33" name="Rectangle 33"/>
            <p:cNvSpPr/>
            <p:nvPr/>
          </p:nvSpPr>
          <p:spPr>
            <a:xfrm>
              <a:off x="609600" y="4362450"/>
              <a:ext cx="10972800" cy="876300"/>
            </a:xfrm>
            <a:prstGeom prst="roundRect">
              <a:avLst>
                <a:gd name="adj" fmla="val 15217"/>
              </a:avLst>
            </a:prstGeom>
            <a:solidFill>
              <a:schemeClr val="accent5"/>
            </a:solidFill>
            <a:ln w="14288">
              <a:solidFill>
                <a:srgbClr val="26455F"/>
              </a:solidFill>
            </a:ln>
          </p:spPr>
        </p:sp>
        <p:sp>
          <p:nvSpPr>
            <p:cNvPr id="34" name="Rectangle 34"/>
            <p:cNvSpPr/>
            <p:nvPr/>
          </p:nvSpPr>
          <p:spPr>
            <a:xfrm>
              <a:off x="609600" y="4362450"/>
              <a:ext cx="57150" cy="876300"/>
            </a:xfrm>
            <a:prstGeom prst="roundRect">
              <a:avLst>
                <a:gd name="adj" fmla="val 50000"/>
              </a:avLst>
            </a:prstGeom>
            <a:solidFill>
              <a:srgbClr val="48C78E"/>
            </a:solidFill>
            <a:ln>
              <a:noFill/>
            </a:ln>
          </p:spPr>
        </p:sp>
        <p:sp>
          <p:nvSpPr>
            <p:cNvPr id="35" name="TextBox 35"/>
            <p:cNvSpPr txBox="1"/>
            <p:nvPr/>
          </p:nvSpPr>
          <p:spPr>
            <a:xfrm>
              <a:off x="870204" y="4556760"/>
              <a:ext cx="5327006"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Configuration · in-domain training and out-of-domain evaluation</a:t>
              </a:r>
            </a:p>
          </p:txBody>
        </p:sp>
        <p:sp>
          <p:nvSpPr>
            <p:cNvPr id="36" name="Rectangle 36"/>
            <p:cNvSpPr/>
            <p:nvPr/>
          </p:nvSpPr>
          <p:spPr>
            <a:xfrm>
              <a:off x="876300" y="4819650"/>
              <a:ext cx="2857500" cy="304800"/>
            </a:xfrm>
            <a:prstGeom prst="roundRect">
              <a:avLst>
                <a:gd name="adj" fmla="val 25000"/>
              </a:avLst>
            </a:prstGeom>
            <a:solidFill>
              <a:schemeClr val="accent6"/>
            </a:solidFill>
            <a:ln w="14288">
              <a:solidFill>
                <a:srgbClr val="26455F"/>
              </a:solidFill>
            </a:ln>
          </p:spPr>
        </p:sp>
        <p:sp>
          <p:nvSpPr>
            <p:cNvPr id="37" name="Ellipse 37"/>
            <p:cNvSpPr/>
            <p:nvPr/>
          </p:nvSpPr>
          <p:spPr>
            <a:xfrm>
              <a:off x="1000125" y="4924425"/>
              <a:ext cx="95250" cy="95250"/>
            </a:xfrm>
            <a:prstGeom prst="ellipse">
              <a:avLst/>
            </a:prstGeom>
            <a:solidFill>
              <a:srgbClr val="48C78E"/>
            </a:solidFill>
            <a:ln>
              <a:noFill/>
            </a:ln>
          </p:spPr>
        </p:sp>
        <p:sp>
          <p:nvSpPr>
            <p:cNvPr id="38" name="TextBox 38"/>
            <p:cNvSpPr txBox="1"/>
            <p:nvPr/>
          </p:nvSpPr>
          <p:spPr>
            <a:xfrm>
              <a:off x="1195006" y="4910376"/>
              <a:ext cx="144507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context length l = 20</a:t>
              </a:r>
            </a:p>
          </p:txBody>
        </p:sp>
        <p:sp>
          <p:nvSpPr>
            <p:cNvPr id="39" name="Rectangle 39"/>
            <p:cNvSpPr/>
            <p:nvPr/>
          </p:nvSpPr>
          <p:spPr>
            <a:xfrm>
              <a:off x="3848100" y="4819650"/>
              <a:ext cx="2857500" cy="304800"/>
            </a:xfrm>
            <a:prstGeom prst="roundRect">
              <a:avLst>
                <a:gd name="adj" fmla="val 25000"/>
              </a:avLst>
            </a:prstGeom>
            <a:solidFill>
              <a:schemeClr val="accent6"/>
            </a:solidFill>
            <a:ln w="14288">
              <a:solidFill>
                <a:srgbClr val="26455F"/>
              </a:solidFill>
            </a:ln>
          </p:spPr>
        </p:sp>
        <p:sp>
          <p:nvSpPr>
            <p:cNvPr id="40" name="Ellipse 40"/>
            <p:cNvSpPr/>
            <p:nvPr/>
          </p:nvSpPr>
          <p:spPr>
            <a:xfrm>
              <a:off x="3971925" y="4924425"/>
              <a:ext cx="95250" cy="95250"/>
            </a:xfrm>
            <a:prstGeom prst="ellipse">
              <a:avLst/>
            </a:prstGeom>
            <a:solidFill>
              <a:schemeClr val="accent2"/>
            </a:solidFill>
            <a:ln>
              <a:noFill/>
            </a:ln>
          </p:spPr>
        </p:sp>
        <p:sp>
          <p:nvSpPr>
            <p:cNvPr id="41" name="TextBox 41"/>
            <p:cNvSpPr txBox="1"/>
            <p:nvPr/>
          </p:nvSpPr>
          <p:spPr>
            <a:xfrm>
              <a:off x="4166806" y="4910376"/>
              <a:ext cx="206609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relevant fraction alpha = 80%</a:t>
              </a:r>
            </a:p>
          </p:txBody>
        </p:sp>
        <p:sp>
          <p:nvSpPr>
            <p:cNvPr id="42" name="Rectangle 42"/>
            <p:cNvSpPr/>
            <p:nvPr/>
          </p:nvSpPr>
          <p:spPr>
            <a:xfrm>
              <a:off x="6819900" y="4819650"/>
              <a:ext cx="4000500" cy="304800"/>
            </a:xfrm>
            <a:prstGeom prst="roundRect">
              <a:avLst>
                <a:gd name="adj" fmla="val 25000"/>
              </a:avLst>
            </a:prstGeom>
            <a:solidFill>
              <a:schemeClr val="accent6"/>
            </a:solidFill>
            <a:ln w="14288">
              <a:solidFill>
                <a:srgbClr val="26455F"/>
              </a:solidFill>
            </a:ln>
          </p:spPr>
        </p:sp>
        <p:sp>
          <p:nvSpPr>
            <p:cNvPr id="43" name="Ellipse 43"/>
            <p:cNvSpPr/>
            <p:nvPr/>
          </p:nvSpPr>
          <p:spPr>
            <a:xfrm>
              <a:off x="6943725" y="4924425"/>
              <a:ext cx="95250" cy="95250"/>
            </a:xfrm>
            <a:prstGeom prst="ellipse">
              <a:avLst/>
            </a:prstGeom>
            <a:solidFill>
              <a:srgbClr val="F2C14E"/>
            </a:solidFill>
            <a:ln>
              <a:noFill/>
            </a:ln>
          </p:spPr>
        </p:sp>
        <p:sp>
          <p:nvSpPr>
            <p:cNvPr id="44" name="TextBox 44"/>
            <p:cNvSpPr txBox="1"/>
            <p:nvPr/>
          </p:nvSpPr>
          <p:spPr>
            <a:xfrm>
              <a:off x="7138606" y="4910376"/>
              <a:ext cx="280944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OOD: relevant patterns = linear combos</a:t>
              </a:r>
            </a:p>
          </p:txBody>
        </p:sp>
      </p:grpSp>
      <p:sp>
        <p:nvSpPr>
          <p:cNvPr id="46" name="cue_s06_c1_experiments_controlled_synthetic_set" title="cue_s06_c1_experiments_controlled_synthetic_set" descr="cue_s06_c1_experiments_controlled_synthetic_set Experiments use a controlled synthetic setup that matches the theory."/>
          <p:cNvSpPr/>
          <p:nvPr/>
        </p:nvSpPr>
        <p:spPr>
          <a:xfrm>
            <a:off x="609600" y="1447723"/>
            <a:ext cx="10972800" cy="917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2_six_in_domain_relevant_patterns_twen" title="cue_s06_c2_six_in_domain_relevant_patterns_twen" descr="cue_s06_c2_six_in_domain_relevant_patterns_twen There are six in-domain relevant patterns and twenty-four irrelevant ones, and tasks are binary classifications built from these patterns."/>
          <p:cNvSpPr/>
          <p:nvPr/>
        </p:nvSpPr>
        <p:spPr>
          <a:xfrm>
            <a:off x="609600" y="2400300"/>
            <a:ext cx="5334000" cy="17714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3_two_models_trained_one_layer_transfo" title="cue_s06_c3_two_models_trained_one_layer_transfo" descr="cue_s06_c3_two_models_trained_one_layer_transfo Two models are trained: the one-layer Transformer that the theory analyzes, and a small real-world GPT-2 with three layers and two heads."/>
          <p:cNvSpPr/>
          <p:nvPr/>
        </p:nvSpPr>
        <p:spPr>
          <a:xfrm>
            <a:off x="6248399" y="2400300"/>
            <a:ext cx="5334000" cy="17714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4_context_length_twenty_relevant_patte" title="cue_s06_c4_context_length_twenty_relevant_patte" descr="cue_s06_c4_context_length_twenty_relevant_patte Training uses a context length of twenty and a relevant-pattern fraction of eighty percent, and out-of-domain evaluation uses new tasks whose relevant patterns are linear combinations of the training patterns, exactly the regime the theorems cover."/>
          <p:cNvSpPr/>
          <p:nvPr/>
        </p:nvSpPr>
        <p:spPr>
          <a:xfrm>
            <a:off x="609600" y="4362373"/>
            <a:ext cx="109728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15641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Provable ICL, in-domain and under shift</a:t>
            </a:r>
          </a:p>
        </p:txBody>
      </p:sp>
      <p:grpSp>
        <p:nvGrpSpPr>
          <p:cNvPr id="13" name="Group 13"/>
          <p:cNvGrpSpPr/>
          <p:nvPr/>
        </p:nvGrpSpPr>
        <p:grpSpPr>
          <a:xfrm>
            <a:off x="609600" y="1447800"/>
            <a:ext cx="10972800" cy="923972"/>
            <a:chOff x="609600" y="1447800"/>
            <a:chExt cx="10972800" cy="923972"/>
          </a:xfrm>
        </p:grpSpPr>
        <p:sp>
          <p:nvSpPr>
            <p:cNvPr id="5" name="Rectangle 5"/>
            <p:cNvSpPr/>
            <p:nvPr/>
          </p:nvSpPr>
          <p:spPr>
            <a:xfrm>
              <a:off x="609600" y="1447800"/>
              <a:ext cx="109728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447800"/>
              <a:ext cx="57150" cy="914400"/>
            </a:xfrm>
            <a:prstGeom prst="roundRect">
              <a:avLst>
                <a:gd name="adj" fmla="val 50000"/>
              </a:avLst>
            </a:prstGeom>
            <a:solidFill>
              <a:srgbClr val="48C78E"/>
            </a:solidFill>
            <a:ln>
              <a:noFill/>
            </a:ln>
          </p:spPr>
        </p:sp>
        <p:sp>
          <p:nvSpPr>
            <p:cNvPr id="7" name="TextBox 7"/>
            <p:cNvSpPr txBox="1"/>
            <p:nvPr/>
          </p:nvSpPr>
          <p:spPr>
            <a:xfrm>
              <a:off x="870014" y="1638062"/>
              <a:ext cx="3497754"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Main theorem · polynomial cost is enough</a:t>
              </a:r>
            </a:p>
          </p:txBody>
        </p:sp>
        <p:sp>
          <p:nvSpPr>
            <p:cNvPr id="8" name="TextBox 8"/>
            <p:cNvSpPr txBox="1"/>
            <p:nvPr/>
          </p:nvSpPr>
          <p:spPr>
            <a:xfrm>
              <a:off x="870776" y="1940004"/>
              <a:ext cx="75434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Iterations and a matching number of samples that grow only polynomially in the problem parameters drive</a:t>
              </a:r>
            </a:p>
          </p:txBody>
        </p:sp>
        <p:sp>
          <p:nvSpPr>
            <p:cNvPr id="9" name="TextBox 9"/>
            <p:cNvSpPr txBox="1"/>
            <p:nvPr/>
          </p:nvSpPr>
          <p:spPr>
            <a:xfrm>
              <a:off x="870776" y="2159079"/>
              <a:ext cx="415633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in-domain generalization error down to order epsilon.</a:t>
              </a:r>
            </a:p>
          </p:txBody>
        </p:sp>
        <p:sp>
          <p:nvSpPr>
            <p:cNvPr id="10" name="Rectangle 10"/>
            <p:cNvSpPr/>
            <p:nvPr/>
          </p:nvSpPr>
          <p:spPr>
            <a:xfrm>
              <a:off x="8382000" y="1600200"/>
              <a:ext cx="3048000" cy="609600"/>
            </a:xfrm>
            <a:prstGeom prst="roundRect">
              <a:avLst>
                <a:gd name="adj" fmla="val 12500"/>
              </a:avLst>
            </a:prstGeom>
            <a:solidFill>
              <a:schemeClr val="accent6"/>
            </a:solidFill>
            <a:ln w="14288">
              <a:solidFill>
                <a:srgbClr val="26455F"/>
              </a:solidFill>
            </a:ln>
          </p:spPr>
        </p:sp>
        <p:sp>
          <p:nvSpPr>
            <p:cNvPr id="11" name="TextBox 11"/>
            <p:cNvSpPr txBox="1"/>
            <p:nvPr/>
          </p:nvSpPr>
          <p:spPr>
            <a:xfrm>
              <a:off x="9021289" y="1757601"/>
              <a:ext cx="1769422"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T = Theta( M1 alpha^-2/3</a:t>
              </a:r>
            </a:p>
          </p:txBody>
        </p:sp>
        <p:sp>
          <p:nvSpPr>
            <p:cNvPr id="12" name="TextBox 12"/>
            <p:cNvSpPr txBox="1"/>
            <p:nvPr/>
          </p:nvSpPr>
          <p:spPr>
            <a:xfrm>
              <a:off x="8811752" y="1948101"/>
              <a:ext cx="2188496"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beta^-2/3 sqrt(log M1) / eta )</a:t>
              </a:r>
            </a:p>
          </p:txBody>
        </p:sp>
      </p:grpSp>
      <p:grpSp>
        <p:nvGrpSpPr>
          <p:cNvPr id="24" name="Group 24"/>
          <p:cNvGrpSpPr/>
          <p:nvPr/>
        </p:nvGrpSpPr>
        <p:grpSpPr>
          <a:xfrm>
            <a:off x="609600" y="2533650"/>
            <a:ext cx="5334000" cy="2705100"/>
            <a:chOff x="609600" y="2533650"/>
            <a:chExt cx="5334000" cy="2705100"/>
          </a:xfrm>
        </p:grpSpPr>
        <p:sp>
          <p:nvSpPr>
            <p:cNvPr id="14" name="Rectangle 14"/>
            <p:cNvSpPr/>
            <p:nvPr/>
          </p:nvSpPr>
          <p:spPr>
            <a:xfrm>
              <a:off x="609600" y="2533650"/>
              <a:ext cx="5334000" cy="2705100"/>
            </a:xfrm>
            <a:prstGeom prst="roundRect">
              <a:avLst>
                <a:gd name="adj" fmla="val 4930"/>
              </a:avLst>
            </a:prstGeom>
            <a:solidFill>
              <a:schemeClr val="accent5"/>
            </a:solidFill>
            <a:ln w="14288">
              <a:solidFill>
                <a:srgbClr val="26455F"/>
              </a:solidFill>
            </a:ln>
          </p:spPr>
        </p:sp>
        <p:sp>
          <p:nvSpPr>
            <p:cNvPr id="15" name="Rectangle 15"/>
            <p:cNvSpPr/>
            <p:nvPr/>
          </p:nvSpPr>
          <p:spPr>
            <a:xfrm>
              <a:off x="609600" y="2533650"/>
              <a:ext cx="57150" cy="2705100"/>
            </a:xfrm>
            <a:prstGeom prst="roundRect">
              <a:avLst>
                <a:gd name="adj" fmla="val 50000"/>
              </a:avLst>
            </a:prstGeom>
            <a:solidFill>
              <a:srgbClr val="34D3C0"/>
            </a:solidFill>
            <a:ln>
              <a:noFill/>
            </a:ln>
          </p:spPr>
        </p:sp>
        <p:sp>
          <p:nvSpPr>
            <p:cNvPr id="16" name="TextBox 16"/>
            <p:cNvSpPr txBox="1"/>
            <p:nvPr/>
          </p:nvSpPr>
          <p:spPr>
            <a:xfrm>
              <a:off x="870014" y="2762012"/>
              <a:ext cx="2638871"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Generalizes out of domain, too</a:t>
              </a:r>
            </a:p>
          </p:txBody>
        </p:sp>
        <p:sp>
          <p:nvSpPr>
            <p:cNvPr id="17" name="TextBox 17"/>
            <p:cNvSpPr txBox="1"/>
            <p:nvPr/>
          </p:nvSpPr>
          <p:spPr>
            <a:xfrm>
              <a:off x="870776" y="3083004"/>
              <a:ext cx="426395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same trained model handles shifted tasks whenever the</a:t>
              </a:r>
            </a:p>
          </p:txBody>
        </p:sp>
        <p:sp>
          <p:nvSpPr>
            <p:cNvPr id="18" name="TextBox 18"/>
            <p:cNvSpPr txBox="1"/>
            <p:nvPr/>
          </p:nvSpPr>
          <p:spPr>
            <a:xfrm>
              <a:off x="870776" y="3302079"/>
              <a:ext cx="382618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new relevant patterns are linear combinations of the</a:t>
              </a:r>
            </a:p>
          </p:txBody>
        </p:sp>
        <p:sp>
          <p:nvSpPr>
            <p:cNvPr id="19" name="TextBox 19"/>
            <p:cNvSpPr txBox="1"/>
            <p:nvPr/>
          </p:nvSpPr>
          <p:spPr>
            <a:xfrm>
              <a:off x="870776" y="3521154"/>
              <a:ext cx="13536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training patterns.</a:t>
              </a:r>
            </a:p>
          </p:txBody>
        </p:sp>
        <p:sp>
          <p:nvSpPr>
            <p:cNvPr id="20" name="Rectangle 20"/>
            <p:cNvSpPr/>
            <p:nvPr/>
          </p:nvSpPr>
          <p:spPr>
            <a:xfrm>
              <a:off x="876300" y="3943350"/>
              <a:ext cx="4800600" cy="571500"/>
            </a:xfrm>
            <a:prstGeom prst="roundRect">
              <a:avLst>
                <a:gd name="adj" fmla="val 13333"/>
              </a:avLst>
            </a:prstGeom>
            <a:solidFill>
              <a:schemeClr val="accent6"/>
            </a:solidFill>
            <a:ln w="14288">
              <a:solidFill>
                <a:srgbClr val="26455F"/>
              </a:solidFill>
            </a:ln>
          </p:spPr>
        </p:sp>
        <p:sp>
          <p:nvSpPr>
            <p:cNvPr id="21" name="TextBox 21"/>
            <p:cNvSpPr txBox="1"/>
            <p:nvPr/>
          </p:nvSpPr>
          <p:spPr>
            <a:xfrm>
              <a:off x="2071290" y="4166235"/>
              <a:ext cx="2410620" cy="234696"/>
            </a:xfrm>
            <a:prstGeom prst="rect">
              <a:avLst/>
            </a:prstGeom>
            <a:noFill/>
            <a:ln>
              <a:noFill/>
            </a:ln>
          </p:spPr>
          <p:txBody>
            <a:bodyPr wrap="none" lIns="0" tIns="0" rIns="0" bIns="0" anchor="t" anchorCtr="0">
              <a:spAutoFit/>
            </a:bodyPr>
            <a:lstStyle/>
            <a:p>
              <a:pPr algn="ctr"/>
              <a:r>
                <a:rPr lang="en-US" sz="1200" b="1" dirty="0">
                  <a:solidFill>
                    <a:srgbClr val="F2C14E"/>
                  </a:solidFill>
                  <a:latin typeface="Consolas"/>
                  <a:ea typeface="Consolas"/>
                  <a:cs typeface="Consolas"/>
                </a:rPr>
                <a:t>combination strength S1 &gt;= 1</a:t>
              </a:r>
            </a:p>
          </p:txBody>
        </p:sp>
        <p:sp>
          <p:nvSpPr>
            <p:cNvPr id="22" name="TextBox 22"/>
            <p:cNvSpPr txBox="1"/>
            <p:nvPr/>
          </p:nvSpPr>
          <p:spPr>
            <a:xfrm>
              <a:off x="871156" y="4710351"/>
              <a:ext cx="411859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single trained Transformer covers a whole family of shifted</a:t>
              </a:r>
            </a:p>
          </p:txBody>
        </p:sp>
        <p:sp>
          <p:nvSpPr>
            <p:cNvPr id="23" name="TextBox 23"/>
            <p:cNvSpPr txBox="1"/>
            <p:nvPr/>
          </p:nvSpPr>
          <p:spPr>
            <a:xfrm>
              <a:off x="871156" y="4900851"/>
              <a:ext cx="215855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tasks, not just the ones it saw.</a:t>
              </a:r>
            </a:p>
          </p:txBody>
        </p:sp>
      </p:grpSp>
      <p:grpSp>
        <p:nvGrpSpPr>
          <p:cNvPr id="43" name="Group 43"/>
          <p:cNvGrpSpPr/>
          <p:nvPr/>
        </p:nvGrpSpPr>
        <p:grpSpPr>
          <a:xfrm>
            <a:off x="6248400" y="2533650"/>
            <a:ext cx="5334000" cy="2705100"/>
            <a:chOff x="6248400" y="2533650"/>
            <a:chExt cx="5334000" cy="2705100"/>
          </a:xfrm>
        </p:grpSpPr>
        <p:sp>
          <p:nvSpPr>
            <p:cNvPr id="25" name="Rectangle 25"/>
            <p:cNvSpPr/>
            <p:nvPr/>
          </p:nvSpPr>
          <p:spPr>
            <a:xfrm>
              <a:off x="6248400" y="2533650"/>
              <a:ext cx="5334000" cy="2705100"/>
            </a:xfrm>
            <a:prstGeom prst="roundRect">
              <a:avLst>
                <a:gd name="adj" fmla="val 4930"/>
              </a:avLst>
            </a:prstGeom>
            <a:solidFill>
              <a:schemeClr val="accent5"/>
            </a:solidFill>
            <a:ln w="14288">
              <a:solidFill>
                <a:srgbClr val="26455F"/>
              </a:solidFill>
            </a:ln>
          </p:spPr>
        </p:sp>
        <p:sp>
          <p:nvSpPr>
            <p:cNvPr id="26" name="Rectangle 26"/>
            <p:cNvSpPr/>
            <p:nvPr/>
          </p:nvSpPr>
          <p:spPr>
            <a:xfrm>
              <a:off x="6248400" y="2533650"/>
              <a:ext cx="57150" cy="2705100"/>
            </a:xfrm>
            <a:prstGeom prst="roundRect">
              <a:avLst>
                <a:gd name="adj" fmla="val 50000"/>
              </a:avLst>
            </a:prstGeom>
            <a:solidFill>
              <a:schemeClr val="accent2"/>
            </a:solidFill>
            <a:ln>
              <a:noFill/>
            </a:ln>
          </p:spPr>
        </p:sp>
        <p:sp>
          <p:nvSpPr>
            <p:cNvPr id="27" name="TextBox 27"/>
            <p:cNvSpPr txBox="1"/>
            <p:nvPr/>
          </p:nvSpPr>
          <p:spPr>
            <a:xfrm>
              <a:off x="6509194" y="2770108"/>
              <a:ext cx="3238561"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Out-of-domain error collapses at S1 = 1</a:t>
              </a:r>
            </a:p>
          </p:txBody>
        </p:sp>
        <p:sp>
          <p:nvSpPr>
            <p:cNvPr id="28" name="Rectangle 28"/>
            <p:cNvSpPr/>
            <p:nvPr/>
          </p:nvSpPr>
          <p:spPr>
            <a:xfrm>
              <a:off x="6667500" y="3105150"/>
              <a:ext cx="4629150" cy="1866900"/>
            </a:xfrm>
            <a:prstGeom prst="roundRect">
              <a:avLst>
                <a:gd name="adj" fmla="val 5102"/>
              </a:avLst>
            </a:prstGeom>
            <a:solidFill>
              <a:srgbClr val="0E2334"/>
            </a:solidFill>
            <a:ln w="14288">
              <a:solidFill>
                <a:srgbClr val="26455F"/>
              </a:solidFill>
            </a:ln>
          </p:spPr>
        </p:sp>
        <p:sp>
          <p:nvSpPr>
            <p:cNvPr id="29" name="Line 29"/>
            <p:cNvSpPr/>
            <p:nvPr/>
          </p:nvSpPr>
          <p:spPr>
            <a:xfrm>
              <a:off x="7162800" y="3238500"/>
              <a:ext cx="9525" cy="1409700"/>
            </a:xfrm>
            <a:custGeom>
              <a:avLst/>
              <a:gdLst/>
              <a:ahLst/>
              <a:cxnLst/>
              <a:rect l="l" t="t" r="r" b="b"/>
              <a:pathLst>
                <a:path w="9525" h="1409700">
                  <a:moveTo>
                    <a:pt x="0" y="0"/>
                  </a:moveTo>
                  <a:lnTo>
                    <a:pt x="0" y="1409700"/>
                  </a:lnTo>
                </a:path>
              </a:pathLst>
            </a:custGeom>
            <a:noFill/>
            <a:ln w="14288" cap="rnd">
              <a:solidFill>
                <a:srgbClr val="26455F"/>
              </a:solidFill>
            </a:ln>
          </p:spPr>
        </p:sp>
        <p:sp>
          <p:nvSpPr>
            <p:cNvPr id="30" name="Line 30"/>
            <p:cNvSpPr/>
            <p:nvPr/>
          </p:nvSpPr>
          <p:spPr>
            <a:xfrm>
              <a:off x="7162800" y="4648200"/>
              <a:ext cx="3829050" cy="9525"/>
            </a:xfrm>
            <a:custGeom>
              <a:avLst/>
              <a:gdLst/>
              <a:ahLst/>
              <a:cxnLst/>
              <a:rect l="l" t="t" r="r" b="b"/>
              <a:pathLst>
                <a:path w="3829050" h="9525">
                  <a:moveTo>
                    <a:pt x="0" y="0"/>
                  </a:moveTo>
                  <a:lnTo>
                    <a:pt x="3829050" y="0"/>
                  </a:lnTo>
                </a:path>
              </a:pathLst>
            </a:custGeom>
            <a:noFill/>
            <a:ln w="14288" cap="rnd">
              <a:solidFill>
                <a:srgbClr val="26455F"/>
              </a:solidFill>
            </a:ln>
          </p:spPr>
        </p:sp>
        <p:sp>
          <p:nvSpPr>
            <p:cNvPr id="31" name="TextBox 31"/>
            <p:cNvSpPr txBox="1"/>
            <p:nvPr/>
          </p:nvSpPr>
          <p:spPr>
            <a:xfrm>
              <a:off x="6999038" y="4597241"/>
              <a:ext cx="73274"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0</a:t>
              </a:r>
            </a:p>
          </p:txBody>
        </p:sp>
        <p:sp>
          <p:nvSpPr>
            <p:cNvPr id="32" name="TextBox 32"/>
            <p:cNvSpPr txBox="1"/>
            <p:nvPr/>
          </p:nvSpPr>
          <p:spPr>
            <a:xfrm>
              <a:off x="6871540" y="3206591"/>
              <a:ext cx="200773"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err</a:t>
              </a:r>
            </a:p>
          </p:txBody>
        </p:sp>
        <p:sp>
          <p:nvSpPr>
            <p:cNvPr id="33" name="TextBox 33"/>
            <p:cNvSpPr txBox="1"/>
            <p:nvPr/>
          </p:nvSpPr>
          <p:spPr>
            <a:xfrm>
              <a:off x="7126163" y="4730591"/>
              <a:ext cx="73274" cy="161925"/>
            </a:xfrm>
            <a:prstGeom prst="rect">
              <a:avLst/>
            </a:prstGeom>
            <a:noFill/>
            <a:ln>
              <a:noFill/>
            </a:ln>
          </p:spPr>
          <p:txBody>
            <a:bodyPr wrap="none" lIns="0" tIns="0" rIns="0" bIns="0" anchor="t" anchorCtr="0">
              <a:spAutoFit/>
            </a:bodyPr>
            <a:lstStyle/>
            <a:p>
              <a:pPr algn="ctr"/>
              <a:r>
                <a:rPr lang="en-US" sz="820" b="1" dirty="0">
                  <a:solidFill>
                    <a:srgbClr val="6E869C"/>
                  </a:solidFill>
                  <a:latin typeface="+mn-lt"/>
                  <a:ea typeface="+mn-ea"/>
                  <a:cs typeface="+mn-cs"/>
                </a:rPr>
                <a:t>0</a:t>
              </a:r>
            </a:p>
          </p:txBody>
        </p:sp>
        <p:sp>
          <p:nvSpPr>
            <p:cNvPr id="34" name="TextBox 34"/>
            <p:cNvSpPr txBox="1"/>
            <p:nvPr/>
          </p:nvSpPr>
          <p:spPr>
            <a:xfrm>
              <a:off x="9037578" y="4722495"/>
              <a:ext cx="79494" cy="176212"/>
            </a:xfrm>
            <a:prstGeom prst="rect">
              <a:avLst/>
            </a:prstGeom>
            <a:noFill/>
            <a:ln>
              <a:noFill/>
            </a:ln>
          </p:spPr>
          <p:txBody>
            <a:bodyPr wrap="none" lIns="0" tIns="0" rIns="0" bIns="0" anchor="t" anchorCtr="0">
              <a:spAutoFit/>
            </a:bodyPr>
            <a:lstStyle/>
            <a:p>
              <a:pPr algn="ctr"/>
              <a:r>
                <a:rPr lang="en-US" sz="900" b="1" dirty="0">
                  <a:solidFill>
                    <a:srgbClr val="F2C14E"/>
                  </a:solidFill>
                  <a:latin typeface="+mn-lt"/>
                  <a:ea typeface="+mn-ea"/>
                  <a:cs typeface="+mn-cs"/>
                </a:rPr>
                <a:t>1</a:t>
              </a:r>
            </a:p>
          </p:txBody>
        </p:sp>
        <p:sp>
          <p:nvSpPr>
            <p:cNvPr id="35" name="TextBox 35"/>
            <p:cNvSpPr txBox="1"/>
            <p:nvPr/>
          </p:nvSpPr>
          <p:spPr>
            <a:xfrm>
              <a:off x="10955213" y="4730591"/>
              <a:ext cx="73274" cy="161925"/>
            </a:xfrm>
            <a:prstGeom prst="rect">
              <a:avLst/>
            </a:prstGeom>
            <a:noFill/>
            <a:ln>
              <a:noFill/>
            </a:ln>
          </p:spPr>
          <p:txBody>
            <a:bodyPr wrap="none" lIns="0" tIns="0" rIns="0" bIns="0" anchor="t" anchorCtr="0">
              <a:spAutoFit/>
            </a:bodyPr>
            <a:lstStyle/>
            <a:p>
              <a:pPr algn="ctr"/>
              <a:r>
                <a:rPr lang="en-US" sz="820" b="1" dirty="0">
                  <a:solidFill>
                    <a:srgbClr val="6E869C"/>
                  </a:solidFill>
                  <a:latin typeface="+mn-lt"/>
                  <a:ea typeface="+mn-ea"/>
                  <a:cs typeface="+mn-cs"/>
                </a:rPr>
                <a:t>2</a:t>
              </a:r>
            </a:p>
          </p:txBody>
        </p:sp>
        <p:sp>
          <p:nvSpPr>
            <p:cNvPr id="36" name="TextBox 36"/>
            <p:cNvSpPr txBox="1"/>
            <p:nvPr/>
          </p:nvSpPr>
          <p:spPr>
            <a:xfrm>
              <a:off x="8255020" y="4840843"/>
              <a:ext cx="1454110"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combination strength S1</a:t>
              </a:r>
            </a:p>
          </p:txBody>
        </p:sp>
        <p:sp>
          <p:nvSpPr>
            <p:cNvPr id="37" name="Line 37"/>
            <p:cNvSpPr/>
            <p:nvPr/>
          </p:nvSpPr>
          <p:spPr>
            <a:xfrm>
              <a:off x="9077325" y="3238500"/>
              <a:ext cx="9525" cy="1409700"/>
            </a:xfrm>
            <a:custGeom>
              <a:avLst/>
              <a:gdLst/>
              <a:ahLst/>
              <a:cxnLst/>
              <a:rect l="l" t="t" r="r" b="b"/>
              <a:pathLst>
                <a:path w="9525" h="1409700">
                  <a:moveTo>
                    <a:pt x="0" y="0"/>
                  </a:moveTo>
                  <a:lnTo>
                    <a:pt x="0" y="1409700"/>
                  </a:lnTo>
                </a:path>
              </a:pathLst>
            </a:custGeom>
            <a:noFill/>
            <a:ln w="11430" cap="rnd">
              <a:solidFill>
                <a:srgbClr val="F2C14E"/>
              </a:solidFill>
              <a:prstDash val="dash"/>
            </a:ln>
          </p:spPr>
        </p:sp>
        <p:sp>
          <p:nvSpPr>
            <p:cNvPr id="38" name="Line 38"/>
            <p:cNvSpPr/>
            <p:nvPr/>
          </p:nvSpPr>
          <p:spPr>
            <a:xfrm>
              <a:off x="7162800" y="4572762"/>
              <a:ext cx="3829050" cy="9525"/>
            </a:xfrm>
            <a:custGeom>
              <a:avLst/>
              <a:gdLst/>
              <a:ahLst/>
              <a:cxnLst/>
              <a:rect l="l" t="t" r="r" b="b"/>
              <a:pathLst>
                <a:path w="3829050" h="9525">
                  <a:moveTo>
                    <a:pt x="0" y="0"/>
                  </a:moveTo>
                  <a:lnTo>
                    <a:pt x="3829050" y="0"/>
                  </a:lnTo>
                </a:path>
              </a:pathLst>
            </a:custGeom>
            <a:noFill/>
            <a:ln w="9525" cap="rnd">
              <a:solidFill>
                <a:srgbClr val="F2685C"/>
              </a:solidFill>
              <a:custDash>
                <a:ds d="300000" sp="300000"/>
              </a:custDash>
            </a:ln>
          </p:spPr>
        </p:sp>
        <p:sp>
          <p:nvSpPr>
            <p:cNvPr id="39" name="TextBox 39"/>
            <p:cNvSpPr txBox="1"/>
            <p:nvPr/>
          </p:nvSpPr>
          <p:spPr>
            <a:xfrm>
              <a:off x="10633569" y="4445603"/>
              <a:ext cx="363044" cy="161925"/>
            </a:xfrm>
            <a:prstGeom prst="rect">
              <a:avLst/>
            </a:prstGeom>
            <a:noFill/>
            <a:ln>
              <a:noFill/>
            </a:ln>
          </p:spPr>
          <p:txBody>
            <a:bodyPr wrap="none" lIns="0" tIns="0" rIns="0" bIns="0" anchor="t" anchorCtr="0">
              <a:spAutoFit/>
            </a:bodyPr>
            <a:lstStyle/>
            <a:p>
              <a:pPr algn="r"/>
              <a:r>
                <a:rPr lang="en-US" sz="820" b="1" dirty="0">
                  <a:solidFill>
                    <a:srgbClr val="F2685C"/>
                  </a:solidFill>
                  <a:latin typeface="+mn-lt"/>
                  <a:ea typeface="+mn-ea"/>
                  <a:cs typeface="+mn-cs"/>
                </a:rPr>
                <a:t>&lt; 0.01</a:t>
              </a:r>
            </a:p>
          </p:txBody>
        </p:sp>
        <p:sp>
          <p:nvSpPr>
            <p:cNvPr id="40" name="Polyline 40"/>
            <p:cNvSpPr/>
            <p:nvPr/>
          </p:nvSpPr>
          <p:spPr>
            <a:xfrm>
              <a:off x="7162800" y="3491484"/>
              <a:ext cx="3829050" cy="1097549"/>
            </a:xfrm>
            <a:custGeom>
              <a:avLst/>
              <a:gdLst/>
              <a:ahLst/>
              <a:cxnLst/>
              <a:rect l="l" t="t" r="r" b="b"/>
              <a:pathLst>
                <a:path w="3829050" h="1097549">
                  <a:moveTo>
                    <a:pt x="0" y="0"/>
                  </a:moveTo>
                  <a:lnTo>
                    <a:pt x="38290" y="3018"/>
                  </a:lnTo>
                  <a:lnTo>
                    <a:pt x="76581" y="6035"/>
                  </a:lnTo>
                  <a:lnTo>
                    <a:pt x="114871" y="9053"/>
                  </a:lnTo>
                  <a:lnTo>
                    <a:pt x="153162" y="12070"/>
                  </a:lnTo>
                  <a:lnTo>
                    <a:pt x="191453" y="15088"/>
                  </a:lnTo>
                  <a:lnTo>
                    <a:pt x="229743" y="18105"/>
                  </a:lnTo>
                  <a:lnTo>
                    <a:pt x="268033" y="21123"/>
                  </a:lnTo>
                  <a:lnTo>
                    <a:pt x="306324" y="24140"/>
                  </a:lnTo>
                  <a:lnTo>
                    <a:pt x="344614" y="27158"/>
                  </a:lnTo>
                  <a:lnTo>
                    <a:pt x="382905" y="30175"/>
                  </a:lnTo>
                  <a:lnTo>
                    <a:pt x="421196" y="33193"/>
                  </a:lnTo>
                  <a:lnTo>
                    <a:pt x="459486" y="36210"/>
                  </a:lnTo>
                  <a:lnTo>
                    <a:pt x="497776" y="39228"/>
                  </a:lnTo>
                  <a:lnTo>
                    <a:pt x="536067" y="42245"/>
                  </a:lnTo>
                  <a:lnTo>
                    <a:pt x="574357" y="45263"/>
                  </a:lnTo>
                  <a:lnTo>
                    <a:pt x="612648" y="48280"/>
                  </a:lnTo>
                  <a:lnTo>
                    <a:pt x="650939" y="51298"/>
                  </a:lnTo>
                  <a:lnTo>
                    <a:pt x="689229" y="54315"/>
                  </a:lnTo>
                  <a:lnTo>
                    <a:pt x="727520" y="57333"/>
                  </a:lnTo>
                  <a:lnTo>
                    <a:pt x="765810" y="60350"/>
                  </a:lnTo>
                  <a:lnTo>
                    <a:pt x="804100" y="63368"/>
                  </a:lnTo>
                  <a:lnTo>
                    <a:pt x="842391" y="66385"/>
                  </a:lnTo>
                  <a:lnTo>
                    <a:pt x="880682" y="69403"/>
                  </a:lnTo>
                  <a:lnTo>
                    <a:pt x="918972" y="72420"/>
                  </a:lnTo>
                  <a:lnTo>
                    <a:pt x="957262" y="75438"/>
                  </a:lnTo>
                  <a:lnTo>
                    <a:pt x="995553" y="78456"/>
                  </a:lnTo>
                  <a:lnTo>
                    <a:pt x="1033843" y="81473"/>
                  </a:lnTo>
                  <a:lnTo>
                    <a:pt x="1072134" y="84491"/>
                  </a:lnTo>
                  <a:lnTo>
                    <a:pt x="1110425" y="87508"/>
                  </a:lnTo>
                  <a:lnTo>
                    <a:pt x="1148715" y="90526"/>
                  </a:lnTo>
                  <a:lnTo>
                    <a:pt x="1187006" y="93543"/>
                  </a:lnTo>
                  <a:lnTo>
                    <a:pt x="1225296" y="96561"/>
                  </a:lnTo>
                  <a:lnTo>
                    <a:pt x="1263586" y="99578"/>
                  </a:lnTo>
                  <a:lnTo>
                    <a:pt x="1301877" y="102596"/>
                  </a:lnTo>
                  <a:lnTo>
                    <a:pt x="1340168" y="105613"/>
                  </a:lnTo>
                  <a:lnTo>
                    <a:pt x="1378458" y="108631"/>
                  </a:lnTo>
                  <a:lnTo>
                    <a:pt x="1416748" y="111648"/>
                  </a:lnTo>
                  <a:lnTo>
                    <a:pt x="1455039" y="114666"/>
                  </a:lnTo>
                  <a:lnTo>
                    <a:pt x="1493329" y="117683"/>
                  </a:lnTo>
                  <a:lnTo>
                    <a:pt x="1531620" y="120701"/>
                  </a:lnTo>
                  <a:lnTo>
                    <a:pt x="1569910" y="123718"/>
                  </a:lnTo>
                  <a:lnTo>
                    <a:pt x="1608201" y="126736"/>
                  </a:lnTo>
                  <a:lnTo>
                    <a:pt x="1646492" y="129753"/>
                  </a:lnTo>
                  <a:lnTo>
                    <a:pt x="1684782" y="132771"/>
                  </a:lnTo>
                  <a:lnTo>
                    <a:pt x="1723072" y="135788"/>
                  </a:lnTo>
                  <a:lnTo>
                    <a:pt x="1761363" y="138806"/>
                  </a:lnTo>
                  <a:lnTo>
                    <a:pt x="1799654" y="141823"/>
                  </a:lnTo>
                  <a:lnTo>
                    <a:pt x="1837944" y="144841"/>
                  </a:lnTo>
                  <a:lnTo>
                    <a:pt x="1876235" y="147858"/>
                  </a:lnTo>
                  <a:lnTo>
                    <a:pt x="1914525" y="150876"/>
                  </a:lnTo>
                  <a:lnTo>
                    <a:pt x="1952815" y="394716"/>
                  </a:lnTo>
                  <a:lnTo>
                    <a:pt x="1991106" y="543399"/>
                  </a:lnTo>
                  <a:lnTo>
                    <a:pt x="2029396" y="643532"/>
                  </a:lnTo>
                  <a:lnTo>
                    <a:pt x="2067687" y="715558"/>
                  </a:lnTo>
                  <a:lnTo>
                    <a:pt x="2105978" y="769854"/>
                  </a:lnTo>
                  <a:lnTo>
                    <a:pt x="2144268" y="812250"/>
                  </a:lnTo>
                  <a:lnTo>
                    <a:pt x="2182558" y="846272"/>
                  </a:lnTo>
                  <a:lnTo>
                    <a:pt x="2220849" y="874177"/>
                  </a:lnTo>
                  <a:lnTo>
                    <a:pt x="2259139" y="897479"/>
                  </a:lnTo>
                  <a:lnTo>
                    <a:pt x="2297430" y="917230"/>
                  </a:lnTo>
                  <a:lnTo>
                    <a:pt x="2335721" y="934185"/>
                  </a:lnTo>
                  <a:lnTo>
                    <a:pt x="2374011" y="948898"/>
                  </a:lnTo>
                  <a:lnTo>
                    <a:pt x="2412302" y="961786"/>
                  </a:lnTo>
                  <a:lnTo>
                    <a:pt x="2450592" y="973169"/>
                  </a:lnTo>
                  <a:lnTo>
                    <a:pt x="2488882" y="983295"/>
                  </a:lnTo>
                  <a:lnTo>
                    <a:pt x="2527173" y="992363"/>
                  </a:lnTo>
                  <a:lnTo>
                    <a:pt x="2565464" y="1000530"/>
                  </a:lnTo>
                  <a:lnTo>
                    <a:pt x="2603754" y="1007923"/>
                  </a:lnTo>
                  <a:lnTo>
                    <a:pt x="2642045" y="1014648"/>
                  </a:lnTo>
                  <a:lnTo>
                    <a:pt x="2680335" y="1020792"/>
                  </a:lnTo>
                  <a:lnTo>
                    <a:pt x="2718626" y="1026426"/>
                  </a:lnTo>
                  <a:lnTo>
                    <a:pt x="2756916" y="1031612"/>
                  </a:lnTo>
                  <a:lnTo>
                    <a:pt x="2795207" y="1036400"/>
                  </a:lnTo>
                  <a:lnTo>
                    <a:pt x="2833497" y="1040836"/>
                  </a:lnTo>
                  <a:lnTo>
                    <a:pt x="2871788" y="1044956"/>
                  </a:lnTo>
                  <a:lnTo>
                    <a:pt x="2910078" y="1048793"/>
                  </a:lnTo>
                  <a:lnTo>
                    <a:pt x="2948368" y="1052376"/>
                  </a:lnTo>
                  <a:lnTo>
                    <a:pt x="2986659" y="1055728"/>
                  </a:lnTo>
                  <a:lnTo>
                    <a:pt x="3024949" y="1058872"/>
                  </a:lnTo>
                  <a:lnTo>
                    <a:pt x="3063240" y="1061825"/>
                  </a:lnTo>
                  <a:lnTo>
                    <a:pt x="3101530" y="1064606"/>
                  </a:lnTo>
                  <a:lnTo>
                    <a:pt x="3139821" y="1067228"/>
                  </a:lnTo>
                  <a:lnTo>
                    <a:pt x="3178111" y="1069706"/>
                  </a:lnTo>
                  <a:lnTo>
                    <a:pt x="3216402" y="1072049"/>
                  </a:lnTo>
                  <a:lnTo>
                    <a:pt x="3254693" y="1074270"/>
                  </a:lnTo>
                  <a:lnTo>
                    <a:pt x="3292983" y="1076377"/>
                  </a:lnTo>
                  <a:lnTo>
                    <a:pt x="3331274" y="1078380"/>
                  </a:lnTo>
                  <a:lnTo>
                    <a:pt x="3369564" y="1080284"/>
                  </a:lnTo>
                  <a:lnTo>
                    <a:pt x="3407854" y="1082099"/>
                  </a:lnTo>
                  <a:lnTo>
                    <a:pt x="3446145" y="1083829"/>
                  </a:lnTo>
                  <a:lnTo>
                    <a:pt x="3484435" y="1085481"/>
                  </a:lnTo>
                  <a:lnTo>
                    <a:pt x="3522726" y="1087059"/>
                  </a:lnTo>
                  <a:lnTo>
                    <a:pt x="3561017" y="1088570"/>
                  </a:lnTo>
                  <a:lnTo>
                    <a:pt x="3599307" y="1090016"/>
                  </a:lnTo>
                  <a:lnTo>
                    <a:pt x="3637598" y="1091402"/>
                  </a:lnTo>
                  <a:lnTo>
                    <a:pt x="3675888" y="1092731"/>
                  </a:lnTo>
                  <a:lnTo>
                    <a:pt x="3714179" y="1094008"/>
                  </a:lnTo>
                  <a:lnTo>
                    <a:pt x="3752469" y="1095234"/>
                  </a:lnTo>
                  <a:lnTo>
                    <a:pt x="3790760" y="1096414"/>
                  </a:lnTo>
                  <a:lnTo>
                    <a:pt x="3829050" y="1097549"/>
                  </a:lnTo>
                </a:path>
              </a:pathLst>
            </a:custGeom>
            <a:noFill/>
            <a:ln w="28575">
              <a:solidFill>
                <a:schemeClr val="accent2"/>
              </a:solidFill>
            </a:ln>
          </p:spPr>
        </p:sp>
        <p:sp>
          <p:nvSpPr>
            <p:cNvPr id="41" name="Ellipse 41"/>
            <p:cNvSpPr/>
            <p:nvPr/>
          </p:nvSpPr>
          <p:spPr>
            <a:xfrm>
              <a:off x="9029700" y="4580458"/>
              <a:ext cx="95250" cy="95250"/>
            </a:xfrm>
            <a:prstGeom prst="ellipse">
              <a:avLst/>
            </a:prstGeom>
            <a:solidFill>
              <a:srgbClr val="48C78E"/>
            </a:solidFill>
            <a:ln w="14288">
              <a:solidFill>
                <a:srgbClr val="FFFFFF"/>
              </a:solidFill>
            </a:ln>
          </p:spPr>
        </p:sp>
        <p:sp>
          <p:nvSpPr>
            <p:cNvPr id="42" name="TextBox 42"/>
            <p:cNvSpPr txBox="1"/>
            <p:nvPr/>
          </p:nvSpPr>
          <p:spPr>
            <a:xfrm>
              <a:off x="9148762" y="4706426"/>
              <a:ext cx="903005" cy="169069"/>
            </a:xfrm>
            <a:prstGeom prst="rect">
              <a:avLst/>
            </a:prstGeom>
            <a:noFill/>
            <a:ln>
              <a:noFill/>
            </a:ln>
          </p:spPr>
          <p:txBody>
            <a:bodyPr wrap="none" lIns="0" tIns="0" rIns="0" bIns="0" anchor="t" anchorCtr="0">
              <a:spAutoFit/>
            </a:bodyPr>
            <a:lstStyle/>
            <a:p>
              <a:pPr algn="l"/>
              <a:r>
                <a:rPr lang="en-US" sz="860" b="1" dirty="0">
                  <a:solidFill>
                    <a:srgbClr val="48C78E"/>
                  </a:solidFill>
                  <a:latin typeface="+mn-lt"/>
                  <a:ea typeface="+mn-ea"/>
                  <a:cs typeface="+mn-cs"/>
                </a:rPr>
                <a:t>drops below 1%</a:t>
              </a:r>
            </a:p>
          </p:txBody>
        </p:sp>
      </p:grpSp>
      <p:sp>
        <p:nvSpPr>
          <p:cNvPr id="44" name="cue_s07_c1_main_theorem_shows_number_iterations" title="cue_s07_c1_main_theorem_shows_number_iterations" descr="cue_s07_c1_main_theorem_shows_number_iterations The main theorem shows that a number of iterations, and a matching number of samples, that grow only polynomially in the problem parameters is enough to drive the in-domain generalization error down to order epsilon."/>
          <p:cNvSpPr/>
          <p:nvPr/>
        </p:nvSpPr>
        <p:spPr>
          <a:xfrm>
            <a:off x="609600" y="1447723"/>
            <a:ext cx="10972800" cy="9237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2_crucially_same_trained_also_generali" title="cue_s07_c2_crucially_same_trained_also_generali" descr="cue_s07_c2_crucially_same_trained_also_generali Crucially, the same trained model also generalizes out of domain to shifted tasks, as long as the new relevant patterns are linear combinations of the training patterns with coefficients summing to at least one."/>
          <p:cNvSpPr/>
          <p:nvPr/>
        </p:nvSpPr>
        <p:spPr>
          <a:xfrm>
            <a:off x="609600" y="2533345"/>
            <a:ext cx="5334000" cy="27047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7_c3_experiments_confirm_sharply_out_of_d" title="cue_s07_c3_experiments_confirm_sharply_out_of_d" descr="cue_s07_c3_experiments_confirm_sharply_out_of_d The experiments confirm this sharply: the out-of-domain classification error falls below one percent exactly when the combination strength S-one reaches one, and stays near zero above it, while the required context length and iterations track the predicted dep"/>
          <p:cNvSpPr/>
          <p:nvPr/>
        </p:nvSpPr>
        <p:spPr>
          <a:xfrm>
            <a:off x="6248399" y="2533345"/>
            <a:ext cx="5334000" cy="27047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497874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Relevant fraction sets the cost</a:t>
            </a:r>
          </a:p>
        </p:txBody>
      </p:sp>
      <p:grpSp>
        <p:nvGrpSpPr>
          <p:cNvPr id="8" name="Group 8"/>
          <p:cNvGrpSpPr/>
          <p:nvPr/>
        </p:nvGrpSpPr>
        <p:grpSpPr>
          <a:xfrm>
            <a:off x="609600" y="1447800"/>
            <a:ext cx="10972800" cy="552450"/>
            <a:chOff x="609600" y="1447800"/>
            <a:chExt cx="10972800" cy="552450"/>
          </a:xfrm>
        </p:grpSpPr>
        <p:sp>
          <p:nvSpPr>
            <p:cNvPr id="5" name="Rectangle 5"/>
            <p:cNvSpPr/>
            <p:nvPr/>
          </p:nvSpPr>
          <p:spPr>
            <a:xfrm>
              <a:off x="609600" y="144780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447800"/>
              <a:ext cx="57150" cy="552450"/>
            </a:xfrm>
            <a:prstGeom prst="roundRect">
              <a:avLst>
                <a:gd name="adj" fmla="val 50000"/>
              </a:avLst>
            </a:prstGeom>
            <a:solidFill>
              <a:schemeClr val="accent2"/>
            </a:solidFill>
            <a:ln>
              <a:noFill/>
            </a:ln>
          </p:spPr>
        </p:sp>
        <p:sp>
          <p:nvSpPr>
            <p:cNvPr id="7" name="TextBox 7"/>
            <p:cNvSpPr txBox="1"/>
            <p:nvPr/>
          </p:nvSpPr>
          <p:spPr>
            <a:xfrm>
              <a:off x="870204" y="1661160"/>
              <a:ext cx="730331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Vary alpha, the fraction of context examples that share the query's relevant pattern.</a:t>
              </a:r>
            </a:p>
          </p:txBody>
        </p:sp>
      </p:grpSp>
      <p:grpSp>
        <p:nvGrpSpPr>
          <p:cNvPr id="19" name="Group 19"/>
          <p:cNvGrpSpPr/>
          <p:nvPr/>
        </p:nvGrpSpPr>
        <p:grpSpPr>
          <a:xfrm>
            <a:off x="609600" y="2190750"/>
            <a:ext cx="5334000" cy="1714500"/>
            <a:chOff x="609600" y="2190750"/>
            <a:chExt cx="5334000" cy="1714500"/>
          </a:xfrm>
        </p:grpSpPr>
        <p:sp>
          <p:nvSpPr>
            <p:cNvPr id="9" name="Rectangle 9"/>
            <p:cNvSpPr/>
            <p:nvPr/>
          </p:nvSpPr>
          <p:spPr>
            <a:xfrm>
              <a:off x="609600" y="2190750"/>
              <a:ext cx="5334000" cy="1714500"/>
            </a:xfrm>
            <a:prstGeom prst="roundRect">
              <a:avLst>
                <a:gd name="adj" fmla="val 7778"/>
              </a:avLst>
            </a:prstGeom>
            <a:solidFill>
              <a:schemeClr val="accent5"/>
            </a:solidFill>
            <a:ln w="14288">
              <a:solidFill>
                <a:srgbClr val="26455F"/>
              </a:solidFill>
            </a:ln>
          </p:spPr>
        </p:sp>
        <p:sp>
          <p:nvSpPr>
            <p:cNvPr id="10" name="Rectangle 10"/>
            <p:cNvSpPr/>
            <p:nvPr/>
          </p:nvSpPr>
          <p:spPr>
            <a:xfrm>
              <a:off x="609600" y="2190750"/>
              <a:ext cx="57150" cy="1714500"/>
            </a:xfrm>
            <a:prstGeom prst="roundRect">
              <a:avLst>
                <a:gd name="adj" fmla="val 50000"/>
              </a:avLst>
            </a:prstGeom>
            <a:solidFill>
              <a:srgbClr val="34D3C0"/>
            </a:solidFill>
            <a:ln>
              <a:noFill/>
            </a:ln>
          </p:spPr>
        </p:sp>
        <p:sp>
          <p:nvSpPr>
            <p:cNvPr id="11" name="TextBox 11"/>
            <p:cNvSpPr txBox="1"/>
            <p:nvPr/>
          </p:nvSpPr>
          <p:spPr>
            <a:xfrm>
              <a:off x="870014" y="2419112"/>
              <a:ext cx="2305800"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As predicted by the theory</a:t>
              </a:r>
            </a:p>
          </p:txBody>
        </p:sp>
        <p:sp>
          <p:nvSpPr>
            <p:cNvPr id="12" name="Rectangle 12"/>
            <p:cNvSpPr/>
            <p:nvPr/>
          </p:nvSpPr>
          <p:spPr>
            <a:xfrm>
              <a:off x="876300" y="2724150"/>
              <a:ext cx="4800600" cy="323850"/>
            </a:xfrm>
            <a:prstGeom prst="roundRect">
              <a:avLst>
                <a:gd name="adj" fmla="val 23529"/>
              </a:avLst>
            </a:prstGeom>
            <a:solidFill>
              <a:schemeClr val="accent6"/>
            </a:solidFill>
            <a:ln w="14288">
              <a:solidFill>
                <a:srgbClr val="26455F"/>
              </a:solidFill>
            </a:ln>
          </p:spPr>
        </p:sp>
        <p:sp>
          <p:nvSpPr>
            <p:cNvPr id="13" name="Ellipse 13"/>
            <p:cNvSpPr/>
            <p:nvPr/>
          </p:nvSpPr>
          <p:spPr>
            <a:xfrm>
              <a:off x="1000125" y="2838450"/>
              <a:ext cx="95250" cy="95250"/>
            </a:xfrm>
            <a:prstGeom prst="ellipse">
              <a:avLst/>
            </a:prstGeom>
            <a:solidFill>
              <a:srgbClr val="34D3C0"/>
            </a:solidFill>
            <a:ln>
              <a:noFill/>
            </a:ln>
          </p:spPr>
        </p:sp>
        <p:sp>
          <p:nvSpPr>
            <p:cNvPr id="14" name="TextBox 14"/>
            <p:cNvSpPr txBox="1"/>
            <p:nvPr/>
          </p:nvSpPr>
          <p:spPr>
            <a:xfrm>
              <a:off x="1194816" y="2820352"/>
              <a:ext cx="1873321"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context length ~ 1 / alpha</a:t>
              </a:r>
            </a:p>
          </p:txBody>
        </p:sp>
        <p:sp>
          <p:nvSpPr>
            <p:cNvPr id="15" name="Rectangle 15"/>
            <p:cNvSpPr/>
            <p:nvPr/>
          </p:nvSpPr>
          <p:spPr>
            <a:xfrm>
              <a:off x="876300" y="3124200"/>
              <a:ext cx="4800600" cy="323850"/>
            </a:xfrm>
            <a:prstGeom prst="roundRect">
              <a:avLst>
                <a:gd name="adj" fmla="val 23529"/>
              </a:avLst>
            </a:prstGeom>
            <a:solidFill>
              <a:schemeClr val="accent6"/>
            </a:solidFill>
            <a:ln w="14288">
              <a:solidFill>
                <a:srgbClr val="26455F"/>
              </a:solidFill>
            </a:ln>
          </p:spPr>
        </p:sp>
        <p:sp>
          <p:nvSpPr>
            <p:cNvPr id="16" name="Ellipse 16"/>
            <p:cNvSpPr/>
            <p:nvPr/>
          </p:nvSpPr>
          <p:spPr>
            <a:xfrm>
              <a:off x="1000125" y="3238500"/>
              <a:ext cx="95250" cy="95250"/>
            </a:xfrm>
            <a:prstGeom prst="ellipse">
              <a:avLst/>
            </a:prstGeom>
            <a:solidFill>
              <a:srgbClr val="F2C14E"/>
            </a:solidFill>
            <a:ln>
              <a:noFill/>
            </a:ln>
          </p:spPr>
        </p:sp>
        <p:sp>
          <p:nvSpPr>
            <p:cNvPr id="17" name="TextBox 17"/>
            <p:cNvSpPr txBox="1"/>
            <p:nvPr/>
          </p:nvSpPr>
          <p:spPr>
            <a:xfrm>
              <a:off x="1194816" y="3220402"/>
              <a:ext cx="2600572"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iterations &amp; samples ~ alpha^(-2/3)</a:t>
              </a:r>
            </a:p>
          </p:txBody>
        </p:sp>
        <p:sp>
          <p:nvSpPr>
            <p:cNvPr id="18" name="TextBox 18"/>
            <p:cNvSpPr txBox="1"/>
            <p:nvPr/>
          </p:nvSpPr>
          <p:spPr>
            <a:xfrm>
              <a:off x="871156" y="3624501"/>
              <a:ext cx="4233852"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Richer contexts converge faster and need shorter prompts.</a:t>
              </a:r>
            </a:p>
          </p:txBody>
        </p:sp>
      </p:grpSp>
      <p:grpSp>
        <p:nvGrpSpPr>
          <p:cNvPr id="36" name="Group 36"/>
          <p:cNvGrpSpPr/>
          <p:nvPr/>
        </p:nvGrpSpPr>
        <p:grpSpPr>
          <a:xfrm>
            <a:off x="6248400" y="2190750"/>
            <a:ext cx="5334000" cy="1714500"/>
            <a:chOff x="6248400" y="2190750"/>
            <a:chExt cx="5334000" cy="1714500"/>
          </a:xfrm>
        </p:grpSpPr>
        <p:sp>
          <p:nvSpPr>
            <p:cNvPr id="20" name="Rectangle 20"/>
            <p:cNvSpPr/>
            <p:nvPr/>
          </p:nvSpPr>
          <p:spPr>
            <a:xfrm>
              <a:off x="6248400" y="2190750"/>
              <a:ext cx="5334000" cy="1714500"/>
            </a:xfrm>
            <a:prstGeom prst="roundRect">
              <a:avLst>
                <a:gd name="adj" fmla="val 7778"/>
              </a:avLst>
            </a:prstGeom>
            <a:solidFill>
              <a:schemeClr val="accent5"/>
            </a:solidFill>
            <a:ln w="14288">
              <a:solidFill>
                <a:srgbClr val="26455F"/>
              </a:solidFill>
            </a:ln>
          </p:spPr>
        </p:sp>
        <p:sp>
          <p:nvSpPr>
            <p:cNvPr id="21" name="Rectangle 21"/>
            <p:cNvSpPr/>
            <p:nvPr/>
          </p:nvSpPr>
          <p:spPr>
            <a:xfrm>
              <a:off x="6248400" y="2190750"/>
              <a:ext cx="57150" cy="1714500"/>
            </a:xfrm>
            <a:prstGeom prst="roundRect">
              <a:avLst>
                <a:gd name="adj" fmla="val 50000"/>
              </a:avLst>
            </a:prstGeom>
            <a:solidFill>
              <a:srgbClr val="F2C14E"/>
            </a:solidFill>
            <a:ln>
              <a:noFill/>
            </a:ln>
          </p:spPr>
        </p:sp>
        <p:sp>
          <p:nvSpPr>
            <p:cNvPr id="22" name="TextBox 22"/>
            <p:cNvSpPr txBox="1"/>
            <p:nvPr/>
          </p:nvSpPr>
          <p:spPr>
            <a:xfrm>
              <a:off x="6508814" y="2419112"/>
              <a:ext cx="2237346"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ICL vs. classical baselines</a:t>
              </a:r>
            </a:p>
          </p:txBody>
        </p:sp>
        <p:sp>
          <p:nvSpPr>
            <p:cNvPr id="23" name="Rectangle 23"/>
            <p:cNvSpPr/>
            <p:nvPr/>
          </p:nvSpPr>
          <p:spPr>
            <a:xfrm>
              <a:off x="6515100" y="2724150"/>
              <a:ext cx="2343150" cy="304800"/>
            </a:xfrm>
            <a:prstGeom prst="roundRect">
              <a:avLst>
                <a:gd name="adj" fmla="val 25000"/>
              </a:avLst>
            </a:prstGeom>
            <a:solidFill>
              <a:schemeClr val="accent6"/>
            </a:solidFill>
            <a:ln w="14288">
              <a:solidFill>
                <a:srgbClr val="26455F"/>
              </a:solidFill>
            </a:ln>
          </p:spPr>
        </p:sp>
        <p:sp>
          <p:nvSpPr>
            <p:cNvPr id="24" name="Ellipse 24"/>
            <p:cNvSpPr/>
            <p:nvPr/>
          </p:nvSpPr>
          <p:spPr>
            <a:xfrm>
              <a:off x="6638925" y="2828925"/>
              <a:ext cx="95250" cy="95250"/>
            </a:xfrm>
            <a:prstGeom prst="ellipse">
              <a:avLst/>
            </a:prstGeom>
            <a:solidFill>
              <a:schemeClr val="dk2"/>
            </a:solidFill>
            <a:ln>
              <a:noFill/>
            </a:ln>
          </p:spPr>
        </p:sp>
        <p:sp>
          <p:nvSpPr>
            <p:cNvPr id="25" name="TextBox 25"/>
            <p:cNvSpPr txBox="1"/>
            <p:nvPr/>
          </p:nvSpPr>
          <p:spPr>
            <a:xfrm>
              <a:off x="6833997" y="2818924"/>
              <a:ext cx="1284327"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logistic regression</a:t>
              </a:r>
            </a:p>
          </p:txBody>
        </p:sp>
        <p:sp>
          <p:nvSpPr>
            <p:cNvPr id="26" name="Rectangle 26"/>
            <p:cNvSpPr/>
            <p:nvPr/>
          </p:nvSpPr>
          <p:spPr>
            <a:xfrm>
              <a:off x="8953500" y="2724150"/>
              <a:ext cx="2343150" cy="304800"/>
            </a:xfrm>
            <a:prstGeom prst="roundRect">
              <a:avLst>
                <a:gd name="adj" fmla="val 25000"/>
              </a:avLst>
            </a:prstGeom>
            <a:solidFill>
              <a:schemeClr val="accent6"/>
            </a:solidFill>
            <a:ln w="14288">
              <a:solidFill>
                <a:srgbClr val="26455F"/>
              </a:solidFill>
            </a:ln>
          </p:spPr>
        </p:sp>
        <p:sp>
          <p:nvSpPr>
            <p:cNvPr id="27" name="Ellipse 27"/>
            <p:cNvSpPr/>
            <p:nvPr/>
          </p:nvSpPr>
          <p:spPr>
            <a:xfrm>
              <a:off x="9077325" y="2828925"/>
              <a:ext cx="95250" cy="95250"/>
            </a:xfrm>
            <a:prstGeom prst="ellipse">
              <a:avLst/>
            </a:prstGeom>
            <a:solidFill>
              <a:schemeClr val="dk2"/>
            </a:solidFill>
            <a:ln>
              <a:noFill/>
            </a:ln>
          </p:spPr>
        </p:sp>
        <p:sp>
          <p:nvSpPr>
            <p:cNvPr id="28" name="TextBox 28"/>
            <p:cNvSpPr txBox="1"/>
            <p:nvPr/>
          </p:nvSpPr>
          <p:spPr>
            <a:xfrm>
              <a:off x="9272397" y="2818924"/>
              <a:ext cx="743822"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kernel SVM</a:t>
              </a:r>
            </a:p>
          </p:txBody>
        </p:sp>
        <p:sp>
          <p:nvSpPr>
            <p:cNvPr id="29" name="Rectangle 29"/>
            <p:cNvSpPr/>
            <p:nvPr/>
          </p:nvSpPr>
          <p:spPr>
            <a:xfrm>
              <a:off x="6515100" y="3105150"/>
              <a:ext cx="2343150" cy="304800"/>
            </a:xfrm>
            <a:prstGeom prst="roundRect">
              <a:avLst>
                <a:gd name="adj" fmla="val 25000"/>
              </a:avLst>
            </a:prstGeom>
            <a:solidFill>
              <a:schemeClr val="accent6"/>
            </a:solidFill>
            <a:ln w="14288">
              <a:solidFill>
                <a:srgbClr val="26455F"/>
              </a:solidFill>
            </a:ln>
          </p:spPr>
        </p:sp>
        <p:sp>
          <p:nvSpPr>
            <p:cNvPr id="30" name="Ellipse 30"/>
            <p:cNvSpPr/>
            <p:nvPr/>
          </p:nvSpPr>
          <p:spPr>
            <a:xfrm>
              <a:off x="6638925" y="3209925"/>
              <a:ext cx="95250" cy="95250"/>
            </a:xfrm>
            <a:prstGeom prst="ellipse">
              <a:avLst/>
            </a:prstGeom>
            <a:solidFill>
              <a:schemeClr val="dk2"/>
            </a:solidFill>
            <a:ln>
              <a:noFill/>
            </a:ln>
          </p:spPr>
        </p:sp>
        <p:sp>
          <p:nvSpPr>
            <p:cNvPr id="31" name="TextBox 31"/>
            <p:cNvSpPr txBox="1"/>
            <p:nvPr/>
          </p:nvSpPr>
          <p:spPr>
            <a:xfrm>
              <a:off x="6833997" y="3199924"/>
              <a:ext cx="708537"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linear SVM</a:t>
              </a:r>
            </a:p>
          </p:txBody>
        </p:sp>
        <p:sp>
          <p:nvSpPr>
            <p:cNvPr id="32" name="Rectangle 32"/>
            <p:cNvSpPr/>
            <p:nvPr/>
          </p:nvSpPr>
          <p:spPr>
            <a:xfrm>
              <a:off x="8953500" y="3105150"/>
              <a:ext cx="2343150" cy="304800"/>
            </a:xfrm>
            <a:prstGeom prst="roundRect">
              <a:avLst>
                <a:gd name="adj" fmla="val 25000"/>
              </a:avLst>
            </a:prstGeom>
            <a:solidFill>
              <a:schemeClr val="accent6"/>
            </a:solidFill>
            <a:ln w="14288">
              <a:solidFill>
                <a:srgbClr val="26455F"/>
              </a:solidFill>
            </a:ln>
          </p:spPr>
        </p:sp>
        <p:sp>
          <p:nvSpPr>
            <p:cNvPr id="33" name="Ellipse 33"/>
            <p:cNvSpPr/>
            <p:nvPr/>
          </p:nvSpPr>
          <p:spPr>
            <a:xfrm>
              <a:off x="9077325" y="3209925"/>
              <a:ext cx="95250" cy="95250"/>
            </a:xfrm>
            <a:prstGeom prst="ellipse">
              <a:avLst/>
            </a:prstGeom>
            <a:solidFill>
              <a:schemeClr val="dk2"/>
            </a:solidFill>
            <a:ln>
              <a:noFill/>
            </a:ln>
          </p:spPr>
        </p:sp>
        <p:sp>
          <p:nvSpPr>
            <p:cNvPr id="34" name="TextBox 34"/>
            <p:cNvSpPr txBox="1"/>
            <p:nvPr/>
          </p:nvSpPr>
          <p:spPr>
            <a:xfrm>
              <a:off x="9272397" y="3199924"/>
              <a:ext cx="1159655"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nearest neighbor</a:t>
              </a:r>
            </a:p>
          </p:txBody>
        </p:sp>
        <p:sp>
          <p:nvSpPr>
            <p:cNvPr id="35" name="TextBox 35"/>
            <p:cNvSpPr txBox="1"/>
            <p:nvPr/>
          </p:nvSpPr>
          <p:spPr>
            <a:xfrm>
              <a:off x="6509956" y="3624501"/>
              <a:ext cx="4076629"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Compared on sample efficiency across relevant fractions.</a:t>
              </a:r>
            </a:p>
          </p:txBody>
        </p:sp>
      </p:grpSp>
      <p:grpSp>
        <p:nvGrpSpPr>
          <p:cNvPr id="52" name="Group 52"/>
          <p:cNvGrpSpPr/>
          <p:nvPr/>
        </p:nvGrpSpPr>
        <p:grpSpPr>
          <a:xfrm>
            <a:off x="609600" y="4095750"/>
            <a:ext cx="10972800" cy="1162621"/>
            <a:chOff x="609600" y="4095750"/>
            <a:chExt cx="10972800" cy="1162621"/>
          </a:xfrm>
        </p:grpSpPr>
        <p:sp>
          <p:nvSpPr>
            <p:cNvPr id="37" name="Rectangle 37"/>
            <p:cNvSpPr/>
            <p:nvPr/>
          </p:nvSpPr>
          <p:spPr>
            <a:xfrm>
              <a:off x="609600" y="4095750"/>
              <a:ext cx="10972800" cy="1143000"/>
            </a:xfrm>
            <a:prstGeom prst="roundRect">
              <a:avLst>
                <a:gd name="adj" fmla="val 11667"/>
              </a:avLst>
            </a:prstGeom>
            <a:solidFill>
              <a:schemeClr val="accent5"/>
            </a:solidFill>
            <a:ln w="14288">
              <a:solidFill>
                <a:srgbClr val="26455F"/>
              </a:solidFill>
            </a:ln>
          </p:spPr>
        </p:sp>
        <p:sp>
          <p:nvSpPr>
            <p:cNvPr id="38" name="Rectangle 38"/>
            <p:cNvSpPr/>
            <p:nvPr/>
          </p:nvSpPr>
          <p:spPr>
            <a:xfrm>
              <a:off x="609600" y="4095750"/>
              <a:ext cx="57150" cy="1143000"/>
            </a:xfrm>
            <a:prstGeom prst="roundRect">
              <a:avLst>
                <a:gd name="adj" fmla="val 50000"/>
              </a:avLst>
            </a:prstGeom>
            <a:solidFill>
              <a:srgbClr val="48C78E"/>
            </a:solidFill>
            <a:ln>
              <a:noFill/>
            </a:ln>
          </p:spPr>
        </p:sp>
        <p:sp>
          <p:nvSpPr>
            <p:cNvPr id="39" name="TextBox 39"/>
            <p:cNvSpPr txBox="1"/>
            <p:nvPr/>
          </p:nvSpPr>
          <p:spPr>
            <a:xfrm>
              <a:off x="870394" y="4275058"/>
              <a:ext cx="6748524"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Hard low-fraction regime · samples needed for the same accuracy (lower is better)</a:t>
              </a:r>
            </a:p>
          </p:txBody>
        </p:sp>
        <p:sp>
          <p:nvSpPr>
            <p:cNvPr id="40" name="Rectangle 40"/>
            <p:cNvSpPr/>
            <p:nvPr/>
          </p:nvSpPr>
          <p:spPr>
            <a:xfrm>
              <a:off x="3619500" y="4552950"/>
              <a:ext cx="5143500" cy="190500"/>
            </a:xfrm>
            <a:prstGeom prst="roundRect">
              <a:avLst>
                <a:gd name="adj" fmla="val 30000"/>
              </a:avLst>
            </a:prstGeom>
            <a:solidFill>
              <a:srgbClr val="0E2334"/>
            </a:solidFill>
            <a:ln w="9525">
              <a:solidFill>
                <a:srgbClr val="26455F"/>
              </a:solidFill>
            </a:ln>
          </p:spPr>
        </p:sp>
        <p:sp>
          <p:nvSpPr>
            <p:cNvPr id="41" name="Rectangle 41"/>
            <p:cNvSpPr/>
            <p:nvPr/>
          </p:nvSpPr>
          <p:spPr>
            <a:xfrm>
              <a:off x="3619500" y="4552950"/>
              <a:ext cx="857250" cy="190500"/>
            </a:xfrm>
            <a:prstGeom prst="roundRect">
              <a:avLst>
                <a:gd name="adj" fmla="val 30000"/>
              </a:avLst>
            </a:prstGeom>
            <a:solidFill>
              <a:srgbClr val="48C78E"/>
            </a:solidFill>
            <a:ln>
              <a:noFill/>
            </a:ln>
          </p:spPr>
        </p:sp>
        <p:sp>
          <p:nvSpPr>
            <p:cNvPr id="42" name="TextBox 42"/>
            <p:cNvSpPr txBox="1"/>
            <p:nvPr/>
          </p:nvSpPr>
          <p:spPr>
            <a:xfrm>
              <a:off x="2092641" y="4576762"/>
              <a:ext cx="141789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In-context learning</a:t>
              </a:r>
            </a:p>
          </p:txBody>
        </p:sp>
        <p:sp>
          <p:nvSpPr>
            <p:cNvPr id="43" name="TextBox 43"/>
            <p:cNvSpPr txBox="1"/>
            <p:nvPr/>
          </p:nvSpPr>
          <p:spPr>
            <a:xfrm>
              <a:off x="4566666" y="4576762"/>
              <a:ext cx="1071861"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most efficient</a:t>
              </a:r>
            </a:p>
          </p:txBody>
        </p:sp>
        <p:sp>
          <p:nvSpPr>
            <p:cNvPr id="44" name="Rectangle 44"/>
            <p:cNvSpPr/>
            <p:nvPr/>
          </p:nvSpPr>
          <p:spPr>
            <a:xfrm>
              <a:off x="3619500" y="4800600"/>
              <a:ext cx="5143500" cy="190500"/>
            </a:xfrm>
            <a:prstGeom prst="roundRect">
              <a:avLst>
                <a:gd name="adj" fmla="val 30000"/>
              </a:avLst>
            </a:prstGeom>
            <a:solidFill>
              <a:srgbClr val="0E2334"/>
            </a:solidFill>
            <a:ln w="9525">
              <a:solidFill>
                <a:srgbClr val="26455F"/>
              </a:solidFill>
            </a:ln>
          </p:spPr>
        </p:sp>
        <p:sp>
          <p:nvSpPr>
            <p:cNvPr id="45" name="Rectangle 45"/>
            <p:cNvSpPr/>
            <p:nvPr/>
          </p:nvSpPr>
          <p:spPr>
            <a:xfrm>
              <a:off x="3619500" y="4800600"/>
              <a:ext cx="2914650" cy="190500"/>
            </a:xfrm>
            <a:prstGeom prst="roundRect">
              <a:avLst>
                <a:gd name="adj" fmla="val 30000"/>
              </a:avLst>
            </a:prstGeom>
            <a:solidFill>
              <a:schemeClr val="dk2"/>
            </a:solidFill>
            <a:ln>
              <a:noFill/>
            </a:ln>
          </p:spPr>
        </p:sp>
        <p:sp>
          <p:nvSpPr>
            <p:cNvPr id="46" name="TextBox 46"/>
            <p:cNvSpPr txBox="1"/>
            <p:nvPr/>
          </p:nvSpPr>
          <p:spPr>
            <a:xfrm>
              <a:off x="2040604" y="4824412"/>
              <a:ext cx="146993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kernel SVM / LogReg</a:t>
              </a:r>
            </a:p>
          </p:txBody>
        </p:sp>
        <p:sp>
          <p:nvSpPr>
            <p:cNvPr id="47" name="Rectangle 47"/>
            <p:cNvSpPr/>
            <p:nvPr/>
          </p:nvSpPr>
          <p:spPr>
            <a:xfrm>
              <a:off x="3619500" y="5029200"/>
              <a:ext cx="5143500" cy="190500"/>
            </a:xfrm>
            <a:prstGeom prst="roundRect">
              <a:avLst>
                <a:gd name="adj" fmla="val 30000"/>
              </a:avLst>
            </a:prstGeom>
            <a:solidFill>
              <a:srgbClr val="0E2334"/>
            </a:solidFill>
            <a:ln w="9525">
              <a:solidFill>
                <a:srgbClr val="26455F"/>
              </a:solidFill>
            </a:ln>
          </p:spPr>
        </p:sp>
        <p:sp>
          <p:nvSpPr>
            <p:cNvPr id="48" name="Rectangle 48"/>
            <p:cNvSpPr/>
            <p:nvPr/>
          </p:nvSpPr>
          <p:spPr>
            <a:xfrm>
              <a:off x="3619500" y="5029200"/>
              <a:ext cx="4972050" cy="190500"/>
            </a:xfrm>
            <a:prstGeom prst="roundRect">
              <a:avLst>
                <a:gd name="adj" fmla="val 30000"/>
              </a:avLst>
            </a:prstGeom>
            <a:solidFill>
              <a:srgbClr val="6E869C"/>
            </a:solidFill>
            <a:ln>
              <a:noFill/>
            </a:ln>
          </p:spPr>
        </p:sp>
        <p:sp>
          <p:nvSpPr>
            <p:cNvPr id="49" name="TextBox 49"/>
            <p:cNvSpPr txBox="1"/>
            <p:nvPr/>
          </p:nvSpPr>
          <p:spPr>
            <a:xfrm>
              <a:off x="2267992" y="5053012"/>
              <a:ext cx="124254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nearest neighbor</a:t>
              </a:r>
            </a:p>
          </p:txBody>
        </p:sp>
        <p:sp>
          <p:nvSpPr>
            <p:cNvPr id="50" name="TextBox 50"/>
            <p:cNvSpPr txBox="1"/>
            <p:nvPr/>
          </p:nvSpPr>
          <p:spPr>
            <a:xfrm>
              <a:off x="9043988" y="4585097"/>
              <a:ext cx="1822651" cy="183356"/>
            </a:xfrm>
            <a:prstGeom prst="rect">
              <a:avLst/>
            </a:prstGeom>
            <a:noFill/>
            <a:ln>
              <a:noFill/>
            </a:ln>
          </p:spPr>
          <p:txBody>
            <a:bodyPr wrap="none" lIns="0" tIns="0" rIns="0" bIns="0" anchor="t" anchorCtr="0">
              <a:spAutoFit/>
            </a:bodyPr>
            <a:lstStyle/>
            <a:p>
              <a:pPr algn="l"/>
              <a:r>
                <a:rPr lang="en-US" sz="940" b="1" dirty="0">
                  <a:solidFill>
                    <a:srgbClr val="48C78E"/>
                  </a:solidFill>
                  <a:latin typeface="+mn-lt"/>
                  <a:ea typeface="+mn-ea"/>
                  <a:cs typeface="+mn-cs"/>
                </a:rPr>
                <a:t>ICL removes irrelevant data</a:t>
              </a:r>
            </a:p>
          </p:txBody>
        </p:sp>
        <p:sp>
          <p:nvSpPr>
            <p:cNvPr id="51" name="TextBox 51"/>
            <p:cNvSpPr txBox="1"/>
            <p:nvPr/>
          </p:nvSpPr>
          <p:spPr>
            <a:xfrm>
              <a:off x="9043988" y="4775597"/>
              <a:ext cx="1936139"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and tolerates label noise best</a:t>
              </a:r>
            </a:p>
          </p:txBody>
        </p:sp>
      </p:grpSp>
      <p:sp>
        <p:nvSpPr>
          <p:cNvPr id="53" name="cue_s08_c1_ablations_vary_fraction_context_exam" title="cue_s08_c1_ablations_vary_fraction_context_exam" descr="cue_s08_c1_ablations_vary_fraction_context_exam Ablations vary the fraction of context examples that share the query's relevant pattern."/>
          <p:cNvSpPr/>
          <p:nvPr/>
        </p:nvSpPr>
        <p:spPr>
          <a:xfrm>
            <a:off x="609600" y="144772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8_c2_predicted_needed_context_length_grow" title="cue_s08_c2_predicted_needed_context_length_grow" descr="cue_s08_c2_predicted_needed_context_length_grow As predicted, the needed context length grows like one over alpha and the needed iterations and samples grow like alpha to the minus two-thirds, so richer contexts converge faster and need shorter prompts."/>
          <p:cNvSpPr/>
          <p:nvPr/>
        </p:nvSpPr>
        <p:spPr>
          <a:xfrm>
            <a:off x="609600" y="21904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8_c3_second_comparison_pits_in_context_le" title="cue_s08_c3_second_comparison_pits_in_context_le" descr="cue_s08_c3_second_comparison_pits_in_context_le A second comparison pits in-context learning against logistic regression, kernel and linear SVMs, and nearest-neighbor classifiers."/>
          <p:cNvSpPr/>
          <p:nvPr/>
        </p:nvSpPr>
        <p:spPr>
          <a:xfrm>
            <a:off x="6248399" y="21904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8_c4_when_relevant_fraction_high_gap" title="cue_s08_c4_when_relevant_fraction_high_gap" descr="cue_s08_c4_when_relevant_fraction_high_gap When the relevant fraction is high the gap is small, but in the harder low-fraction regime in-context learning is the most sample-efficient method, indicating it removes irrelevant data and tolerates label noise better than the classical baselines."/>
          <p:cNvSpPr/>
          <p:nvPr/>
        </p:nvSpPr>
        <p:spPr>
          <a:xfrm>
            <a:off x="609600" y="4095597"/>
            <a:ext cx="10972800" cy="116243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448637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message in four numbers</a:t>
            </a:r>
          </a:p>
        </p:txBody>
      </p:sp>
      <p:grpSp>
        <p:nvGrpSpPr>
          <p:cNvPr id="14" name="Group 14"/>
          <p:cNvGrpSpPr/>
          <p:nvPr/>
        </p:nvGrpSpPr>
        <p:grpSpPr>
          <a:xfrm>
            <a:off x="609600" y="1447800"/>
            <a:ext cx="10972800" cy="704850"/>
            <a:chOff x="609600" y="1447800"/>
            <a:chExt cx="10972800" cy="704850"/>
          </a:xfrm>
        </p:grpSpPr>
        <p:sp>
          <p:nvSpPr>
            <p:cNvPr id="5" name="Rectangle 5"/>
            <p:cNvSpPr/>
            <p:nvPr/>
          </p:nvSpPr>
          <p:spPr>
            <a:xfrm>
              <a:off x="609600" y="1447800"/>
              <a:ext cx="10972800" cy="704850"/>
            </a:xfrm>
            <a:prstGeom prst="roundRect">
              <a:avLst>
                <a:gd name="adj" fmla="val 18919"/>
              </a:avLst>
            </a:prstGeom>
            <a:solidFill>
              <a:schemeClr val="accent5"/>
            </a:solidFill>
            <a:ln w="14288">
              <a:solidFill>
                <a:srgbClr val="26455F"/>
              </a:solidFill>
            </a:ln>
          </p:spPr>
        </p:sp>
        <p:sp>
          <p:nvSpPr>
            <p:cNvPr id="6" name="Rectangle 6"/>
            <p:cNvSpPr/>
            <p:nvPr/>
          </p:nvSpPr>
          <p:spPr>
            <a:xfrm>
              <a:off x="609600" y="1447800"/>
              <a:ext cx="57150" cy="704850"/>
            </a:xfrm>
            <a:prstGeom prst="roundRect">
              <a:avLst>
                <a:gd name="adj" fmla="val 50000"/>
              </a:avLst>
            </a:prstGeom>
            <a:solidFill>
              <a:schemeClr val="accent2"/>
            </a:solidFill>
            <a:ln>
              <a:noFill/>
            </a:ln>
          </p:spPr>
        </p:sp>
        <p:sp>
          <p:nvSpPr>
            <p:cNvPr id="7" name="TextBox 7"/>
            <p:cNvSpPr txBox="1"/>
            <p:nvPr/>
          </p:nvSpPr>
          <p:spPr>
            <a:xfrm>
              <a:off x="870394" y="1608058"/>
              <a:ext cx="4493393"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Training cost is governed by the relevant fraction alpha</a:t>
              </a:r>
            </a:p>
          </p:txBody>
        </p:sp>
        <p:sp>
          <p:nvSpPr>
            <p:cNvPr id="8" name="Rectangle 8"/>
            <p:cNvSpPr/>
            <p:nvPr/>
          </p:nvSpPr>
          <p:spPr>
            <a:xfrm>
              <a:off x="876300" y="1828800"/>
              <a:ext cx="4476750" cy="285750"/>
            </a:xfrm>
            <a:prstGeom prst="roundRect">
              <a:avLst>
                <a:gd name="adj" fmla="val 26667"/>
              </a:avLst>
            </a:prstGeom>
            <a:solidFill>
              <a:schemeClr val="accent6"/>
            </a:solidFill>
            <a:ln w="14288">
              <a:solidFill>
                <a:srgbClr val="26455F"/>
              </a:solidFill>
            </a:ln>
          </p:spPr>
        </p:sp>
        <p:sp>
          <p:nvSpPr>
            <p:cNvPr id="9" name="Ellipse 9"/>
            <p:cNvSpPr/>
            <p:nvPr/>
          </p:nvSpPr>
          <p:spPr>
            <a:xfrm>
              <a:off x="1000125" y="1924050"/>
              <a:ext cx="95250" cy="95250"/>
            </a:xfrm>
            <a:prstGeom prst="ellipse">
              <a:avLst/>
            </a:prstGeom>
            <a:solidFill>
              <a:srgbClr val="34D3C0"/>
            </a:solidFill>
            <a:ln>
              <a:noFill/>
            </a:ln>
          </p:spPr>
        </p:sp>
        <p:sp>
          <p:nvSpPr>
            <p:cNvPr id="10" name="TextBox 10"/>
            <p:cNvSpPr txBox="1"/>
            <p:nvPr/>
          </p:nvSpPr>
          <p:spPr>
            <a:xfrm>
              <a:off x="1195006" y="1910001"/>
              <a:ext cx="2501528"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iterations &amp; samples ~ alpha^(-2/3)</a:t>
              </a:r>
            </a:p>
          </p:txBody>
        </p:sp>
        <p:sp>
          <p:nvSpPr>
            <p:cNvPr id="11" name="Rectangle 11"/>
            <p:cNvSpPr/>
            <p:nvPr/>
          </p:nvSpPr>
          <p:spPr>
            <a:xfrm>
              <a:off x="5486400" y="1828800"/>
              <a:ext cx="4476750" cy="285750"/>
            </a:xfrm>
            <a:prstGeom prst="roundRect">
              <a:avLst>
                <a:gd name="adj" fmla="val 26667"/>
              </a:avLst>
            </a:prstGeom>
            <a:solidFill>
              <a:schemeClr val="accent6"/>
            </a:solidFill>
            <a:ln w="14288">
              <a:solidFill>
                <a:srgbClr val="26455F"/>
              </a:solidFill>
            </a:ln>
          </p:spPr>
        </p:sp>
        <p:sp>
          <p:nvSpPr>
            <p:cNvPr id="12" name="Ellipse 12"/>
            <p:cNvSpPr/>
            <p:nvPr/>
          </p:nvSpPr>
          <p:spPr>
            <a:xfrm>
              <a:off x="5610225" y="1924050"/>
              <a:ext cx="95250" cy="95250"/>
            </a:xfrm>
            <a:prstGeom prst="ellipse">
              <a:avLst/>
            </a:prstGeom>
            <a:solidFill>
              <a:srgbClr val="F2C14E"/>
            </a:solidFill>
            <a:ln>
              <a:noFill/>
            </a:ln>
          </p:spPr>
        </p:sp>
        <p:sp>
          <p:nvSpPr>
            <p:cNvPr id="13" name="TextBox 13"/>
            <p:cNvSpPr txBox="1"/>
            <p:nvPr/>
          </p:nvSpPr>
          <p:spPr>
            <a:xfrm>
              <a:off x="5805106" y="1910001"/>
              <a:ext cx="243728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required context length ~ 1 / alpha</a:t>
              </a:r>
            </a:p>
          </p:txBody>
        </p:sp>
      </p:grpSp>
      <p:grpSp>
        <p:nvGrpSpPr>
          <p:cNvPr id="20" name="Group 20"/>
          <p:cNvGrpSpPr/>
          <p:nvPr/>
        </p:nvGrpSpPr>
        <p:grpSpPr>
          <a:xfrm>
            <a:off x="609600" y="2343150"/>
            <a:ext cx="3505200" cy="1905000"/>
            <a:chOff x="609600" y="2343150"/>
            <a:chExt cx="3505200" cy="1905000"/>
          </a:xfrm>
        </p:grpSpPr>
        <p:sp>
          <p:nvSpPr>
            <p:cNvPr id="15" name="Rectangle 15"/>
            <p:cNvSpPr/>
            <p:nvPr/>
          </p:nvSpPr>
          <p:spPr>
            <a:xfrm>
              <a:off x="609600" y="2343150"/>
              <a:ext cx="3505200" cy="1905000"/>
            </a:xfrm>
            <a:prstGeom prst="roundRect">
              <a:avLst>
                <a:gd name="adj" fmla="val 7000"/>
              </a:avLst>
            </a:prstGeom>
            <a:solidFill>
              <a:schemeClr val="accent5"/>
            </a:solidFill>
            <a:ln w="14288">
              <a:solidFill>
                <a:srgbClr val="26455F"/>
              </a:solidFill>
            </a:ln>
          </p:spPr>
        </p:sp>
        <p:sp>
          <p:nvSpPr>
            <p:cNvPr id="16" name="Rectangle 16"/>
            <p:cNvSpPr/>
            <p:nvPr/>
          </p:nvSpPr>
          <p:spPr>
            <a:xfrm>
              <a:off x="609600" y="2343150"/>
              <a:ext cx="3505200" cy="57150"/>
            </a:xfrm>
            <a:prstGeom prst="roundRect">
              <a:avLst>
                <a:gd name="adj" fmla="val 50000"/>
              </a:avLst>
            </a:prstGeom>
            <a:solidFill>
              <a:srgbClr val="34D3C0"/>
            </a:solidFill>
            <a:ln>
              <a:noFill/>
            </a:ln>
          </p:spPr>
        </p:sp>
        <p:sp>
          <p:nvSpPr>
            <p:cNvPr id="17" name="TextBox 17"/>
            <p:cNvSpPr txBox="1"/>
            <p:nvPr/>
          </p:nvSpPr>
          <p:spPr>
            <a:xfrm>
              <a:off x="1269297" y="2960370"/>
              <a:ext cx="2185806" cy="469392"/>
            </a:xfrm>
            <a:prstGeom prst="rect">
              <a:avLst/>
            </a:prstGeom>
            <a:noFill/>
            <a:ln>
              <a:noFill/>
            </a:ln>
          </p:spPr>
          <p:txBody>
            <a:bodyPr wrap="none" lIns="0" tIns="0" rIns="0" bIns="0" anchor="t" anchorCtr="0">
              <a:spAutoFit/>
            </a:bodyPr>
            <a:lstStyle/>
            <a:p>
              <a:pPr algn="ctr"/>
              <a:r>
                <a:rPr lang="en-US" sz="2400" b="1" dirty="0">
                  <a:solidFill>
                    <a:srgbClr val="34D3C0"/>
                  </a:solidFill>
                  <a:latin typeface="Consolas"/>
                  <a:ea typeface="Consolas"/>
                  <a:cs typeface="Consolas"/>
                </a:rPr>
                <a:t>1 / sqrt(M1)</a:t>
              </a:r>
            </a:p>
          </p:txBody>
        </p:sp>
        <p:sp>
          <p:nvSpPr>
            <p:cNvPr id="18" name="TextBox 18"/>
            <p:cNvSpPr txBox="1"/>
            <p:nvPr/>
          </p:nvSpPr>
          <p:spPr>
            <a:xfrm>
              <a:off x="1065511" y="3457099"/>
              <a:ext cx="2593378"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vanishing fraction of tasks trained on</a:t>
              </a:r>
            </a:p>
          </p:txBody>
        </p:sp>
        <p:sp>
          <p:nvSpPr>
            <p:cNvPr id="19" name="TextBox 19"/>
            <p:cNvSpPr txBox="1"/>
            <p:nvPr/>
          </p:nvSpPr>
          <p:spPr>
            <a:xfrm>
              <a:off x="1252518" y="3723799"/>
              <a:ext cx="2219363"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yet it generalizes to all the rest</a:t>
              </a:r>
            </a:p>
          </p:txBody>
        </p:sp>
      </p:grpSp>
      <p:grpSp>
        <p:nvGrpSpPr>
          <p:cNvPr id="26" name="Group 26"/>
          <p:cNvGrpSpPr/>
          <p:nvPr/>
        </p:nvGrpSpPr>
        <p:grpSpPr>
          <a:xfrm>
            <a:off x="4343400" y="2343150"/>
            <a:ext cx="3505200" cy="1905000"/>
            <a:chOff x="4343400" y="2343150"/>
            <a:chExt cx="3505200" cy="1905000"/>
          </a:xfrm>
        </p:grpSpPr>
        <p:sp>
          <p:nvSpPr>
            <p:cNvPr id="21" name="Rectangle 21"/>
            <p:cNvSpPr/>
            <p:nvPr/>
          </p:nvSpPr>
          <p:spPr>
            <a:xfrm>
              <a:off x="4343400" y="2343150"/>
              <a:ext cx="3505200" cy="1905000"/>
            </a:xfrm>
            <a:prstGeom prst="roundRect">
              <a:avLst>
                <a:gd name="adj" fmla="val 7000"/>
              </a:avLst>
            </a:prstGeom>
            <a:solidFill>
              <a:schemeClr val="accent5"/>
            </a:solidFill>
            <a:ln w="14288">
              <a:solidFill>
                <a:srgbClr val="26455F"/>
              </a:solidFill>
            </a:ln>
          </p:spPr>
        </p:sp>
        <p:sp>
          <p:nvSpPr>
            <p:cNvPr id="22" name="Rectangle 22"/>
            <p:cNvSpPr/>
            <p:nvPr/>
          </p:nvSpPr>
          <p:spPr>
            <a:xfrm>
              <a:off x="4343400" y="2343150"/>
              <a:ext cx="3505200" cy="57150"/>
            </a:xfrm>
            <a:prstGeom prst="roundRect">
              <a:avLst>
                <a:gd name="adj" fmla="val 50000"/>
              </a:avLst>
            </a:prstGeom>
            <a:solidFill>
              <a:srgbClr val="48C78E"/>
            </a:solidFill>
            <a:ln>
              <a:noFill/>
            </a:ln>
          </p:spPr>
        </p:sp>
        <p:sp>
          <p:nvSpPr>
            <p:cNvPr id="23" name="TextBox 23"/>
            <p:cNvSpPr txBox="1"/>
            <p:nvPr/>
          </p:nvSpPr>
          <p:spPr>
            <a:xfrm>
              <a:off x="5434079" y="2895600"/>
              <a:ext cx="1323842" cy="586740"/>
            </a:xfrm>
            <a:prstGeom prst="rect">
              <a:avLst/>
            </a:prstGeom>
            <a:noFill/>
            <a:ln>
              <a:noFill/>
            </a:ln>
          </p:spPr>
          <p:txBody>
            <a:bodyPr wrap="none" lIns="0" tIns="0" rIns="0" bIns="0" anchor="t" anchorCtr="0">
              <a:spAutoFit/>
            </a:bodyPr>
            <a:lstStyle/>
            <a:p>
              <a:pPr algn="ctr"/>
              <a:r>
                <a:rPr lang="en-US" sz="3000" b="1" dirty="0">
                  <a:solidFill>
                    <a:srgbClr val="48C78E"/>
                  </a:solidFill>
                  <a:latin typeface="+mn-lt"/>
                  <a:ea typeface="+mn-ea"/>
                  <a:cs typeface="+mn-cs"/>
                </a:rPr>
                <a:t>&lt; 0.01</a:t>
              </a:r>
            </a:p>
          </p:txBody>
        </p:sp>
        <p:sp>
          <p:nvSpPr>
            <p:cNvPr id="24" name="TextBox 24"/>
            <p:cNvSpPr txBox="1"/>
            <p:nvPr/>
          </p:nvSpPr>
          <p:spPr>
            <a:xfrm>
              <a:off x="5388038" y="3457099"/>
              <a:ext cx="1415924"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out-of-domain error</a:t>
              </a:r>
            </a:p>
          </p:txBody>
        </p:sp>
        <p:sp>
          <p:nvSpPr>
            <p:cNvPr id="25" name="TextBox 25"/>
            <p:cNvSpPr txBox="1"/>
            <p:nvPr/>
          </p:nvSpPr>
          <p:spPr>
            <a:xfrm>
              <a:off x="4938586" y="3723799"/>
              <a:ext cx="2314827"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once combination strength S1 &gt;= 1</a:t>
              </a:r>
            </a:p>
          </p:txBody>
        </p:sp>
      </p:grpSp>
      <p:grpSp>
        <p:nvGrpSpPr>
          <p:cNvPr id="32" name="Group 32"/>
          <p:cNvGrpSpPr/>
          <p:nvPr/>
        </p:nvGrpSpPr>
        <p:grpSpPr>
          <a:xfrm>
            <a:off x="8077200" y="2343150"/>
            <a:ext cx="3505200" cy="1905000"/>
            <a:chOff x="8077200" y="2343150"/>
            <a:chExt cx="3505200" cy="1905000"/>
          </a:xfrm>
        </p:grpSpPr>
        <p:sp>
          <p:nvSpPr>
            <p:cNvPr id="27" name="Rectangle 27"/>
            <p:cNvSpPr/>
            <p:nvPr/>
          </p:nvSpPr>
          <p:spPr>
            <a:xfrm>
              <a:off x="8077200" y="2343150"/>
              <a:ext cx="3505200" cy="1905000"/>
            </a:xfrm>
            <a:prstGeom prst="roundRect">
              <a:avLst>
                <a:gd name="adj" fmla="val 7000"/>
              </a:avLst>
            </a:prstGeom>
            <a:solidFill>
              <a:schemeClr val="accent5"/>
            </a:solidFill>
            <a:ln w="14288">
              <a:solidFill>
                <a:srgbClr val="26455F"/>
              </a:solidFill>
            </a:ln>
          </p:spPr>
        </p:sp>
        <p:sp>
          <p:nvSpPr>
            <p:cNvPr id="28" name="Rectangle 28"/>
            <p:cNvSpPr/>
            <p:nvPr/>
          </p:nvSpPr>
          <p:spPr>
            <a:xfrm>
              <a:off x="8077200" y="2343150"/>
              <a:ext cx="3505200" cy="57150"/>
            </a:xfrm>
            <a:prstGeom prst="roundRect">
              <a:avLst>
                <a:gd name="adj" fmla="val 50000"/>
              </a:avLst>
            </a:prstGeom>
            <a:solidFill>
              <a:srgbClr val="F2C14E"/>
            </a:solidFill>
            <a:ln>
              <a:noFill/>
            </a:ln>
          </p:spPr>
        </p:sp>
        <p:sp>
          <p:nvSpPr>
            <p:cNvPr id="29" name="TextBox 29"/>
            <p:cNvSpPr txBox="1"/>
            <p:nvPr/>
          </p:nvSpPr>
          <p:spPr>
            <a:xfrm>
              <a:off x="9305696" y="2895600"/>
              <a:ext cx="1048207" cy="586740"/>
            </a:xfrm>
            <a:prstGeom prst="rect">
              <a:avLst/>
            </a:prstGeom>
            <a:noFill/>
            <a:ln>
              <a:noFill/>
            </a:ln>
          </p:spPr>
          <p:txBody>
            <a:bodyPr wrap="none" lIns="0" tIns="0" rIns="0" bIns="0" anchor="t" anchorCtr="0">
              <a:spAutoFit/>
            </a:bodyPr>
            <a:lstStyle/>
            <a:p>
              <a:pPr algn="ctr"/>
              <a:r>
                <a:rPr lang="en-US" sz="3000" b="1" dirty="0">
                  <a:solidFill>
                    <a:srgbClr val="F2C14E"/>
                  </a:solidFill>
                  <a:latin typeface="+mn-lt"/>
                  <a:ea typeface="+mn-ea"/>
                  <a:cs typeface="+mn-cs"/>
                </a:rPr>
                <a:t>~15%</a:t>
              </a:r>
            </a:p>
          </p:txBody>
        </p:sp>
        <p:sp>
          <p:nvSpPr>
            <p:cNvPr id="30" name="TextBox 30"/>
            <p:cNvSpPr txBox="1"/>
            <p:nvPr/>
          </p:nvSpPr>
          <p:spPr>
            <a:xfrm>
              <a:off x="8633541" y="3457099"/>
              <a:ext cx="2392518"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of output neurons pruned, lossless</a:t>
              </a:r>
            </a:p>
          </p:txBody>
        </p:sp>
        <p:sp>
          <p:nvSpPr>
            <p:cNvPr id="31" name="TextBox 31"/>
            <p:cNvSpPr txBox="1"/>
            <p:nvPr/>
          </p:nvSpPr>
          <p:spPr>
            <a:xfrm>
              <a:off x="8834401" y="3723799"/>
              <a:ext cx="1990799"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small-magnitude neurons only</a:t>
              </a:r>
            </a:p>
          </p:txBody>
        </p:sp>
      </p:grpSp>
      <p:sp>
        <p:nvSpPr>
          <p:cNvPr id="33" name="Rectangle 33"/>
          <p:cNvSpPr/>
          <p:nvPr/>
        </p:nvSpPr>
        <p:spPr>
          <a:xfrm>
            <a:off x="609600" y="4438650"/>
            <a:ext cx="10972800" cy="800100"/>
          </a:xfrm>
          <a:prstGeom prst="roundRect">
            <a:avLst>
              <a:gd name="adj" fmla="val 14286"/>
            </a:avLst>
          </a:prstGeom>
          <a:solidFill>
            <a:schemeClr val="accent6"/>
          </a:solidFill>
          <a:ln w="14288">
            <a:solidFill>
              <a:srgbClr val="26455F"/>
            </a:solidFill>
          </a:ln>
        </p:spPr>
        <p:txBody>
          <a:bodyPr/>
          <a:p/>
        </p:txBody>
      </p:sp>
      <p:sp>
        <p:nvSpPr>
          <p:cNvPr id="34" name="TextBox 34"/>
          <p:cNvSpPr txBox="1"/>
          <p:nvPr/>
        </p:nvSpPr>
        <p:spPr>
          <a:xfrm>
            <a:off x="870776" y="4645104"/>
            <a:ext cx="7150345" cy="212693"/>
          </a:xfrm>
          <a:prstGeom prst="rect">
            <a:avLst/>
          </a:prstGeom>
          <a:noFill/>
          <a:ln>
            <a:noFill/>
          </a:ln>
        </p:spPr>
        <p:txBody>
          <a:bodyPr wrap="none" lIns="0" tIns="0" rIns="0" bIns="0" anchor="t" anchorCtr="0">
            <a:spAutoFit/>
          </a:bodyPr>
          <a:lstStyle/>
          <a:p>
            <a:pPr algn="l"/>
            <a:r>
              <a:rPr lang="en-US" sz="1090" b="1" dirty="0">
                <a:solidFill>
                  <a:srgbClr val="48C78E"/>
                </a:solidFill>
                <a:latin typeface="+mn-lt"/>
                <a:ea typeface="+mn-ea"/>
                <a:cs typeface="+mn-cs"/>
              </a:rPr>
              <a:t>Prune LOW-magnitude neurons -&gt; error stays O( epsilon + 1 / sqrt(M1) ), essentially lossless</a:t>
            </a:r>
          </a:p>
        </p:txBody>
      </p:sp>
      <p:sp>
        <p:nvSpPr>
          <p:cNvPr id="35" name="TextBox 35"/>
          <p:cNvSpPr txBox="1"/>
          <p:nvPr/>
        </p:nvSpPr>
        <p:spPr>
          <a:xfrm>
            <a:off x="870776" y="4930854"/>
            <a:ext cx="6321333" cy="212693"/>
          </a:xfrm>
          <a:prstGeom prst="rect">
            <a:avLst/>
          </a:prstGeom>
          <a:noFill/>
          <a:ln>
            <a:noFill/>
          </a:ln>
        </p:spPr>
        <p:txBody>
          <a:bodyPr wrap="none" lIns="0" tIns="0" rIns="0" bIns="0" anchor="t" anchorCtr="0">
            <a:spAutoFit/>
          </a:bodyPr>
          <a:lstStyle/>
          <a:p>
            <a:pPr algn="l"/>
            <a:r>
              <a:rPr lang="en-US" sz="1090" b="1" dirty="0">
                <a:solidFill>
                  <a:srgbClr val="F2685C"/>
                </a:solidFill>
                <a:latin typeface="+mn-lt"/>
                <a:ea typeface="+mn-ea"/>
                <a:cs typeface="+mn-cs"/>
              </a:rPr>
              <a:t>Prune LARGE-magnitude neurons -&gt; error grows at least linearly in the pruning rate</a:t>
            </a:r>
          </a:p>
        </p:txBody>
      </p:sp>
      <p:sp>
        <p:nvSpPr>
          <p:cNvPr id="36" name="cue_s09_c1_few_numbers_capture_message_cost" title="cue_s09_c1_few_numbers_capture_message_cost" descr="cue_s09_c1_few_numbers_capture_message_cost A few numbers capture the paper's message. The training cost, both in iterations and in samples, scales as alpha to the minus two-thirds, and the required context length as one over alpha."/>
          <p:cNvSpPr/>
          <p:nvPr/>
        </p:nvSpPr>
        <p:spPr>
          <a:xfrm>
            <a:off x="609600" y="1447723"/>
            <a:ext cx="10972800" cy="7050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9_c2_needs_trained_only_vanishing_fractio" title="cue_s09_c2_needs_trained_only_vanishing_fractio" descr="cue_s09_c2_needs_trained_only_vanishing_fractio The model needs to be trained on only a vanishing fraction, order one over the square root of the number of patterns, of all in-domain tasks, yet it generalizes to the rest."/>
          <p:cNvSpPr/>
          <p:nvPr/>
        </p:nvSpPr>
        <p:spPr>
          <a:xfrm>
            <a:off x="609600" y="2343378"/>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9_c3_out_of_domain_error_drops_below_one" title="cue_s09_c3_out_of_domain_error_drops_below_one" descr="cue_s09_c3_out_of_domain_error_drops_below_one Out-of-domain error drops below one percent once the combination strength reaches one."/>
          <p:cNvSpPr/>
          <p:nvPr/>
        </p:nvSpPr>
        <p:spPr>
          <a:xfrm>
            <a:off x="4344009" y="2343378"/>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9_c4_pruning_removing_low_magnitude_neuro" title="cue_s09_c4_pruning_removing_low_magnitude_neuro" descr="cue_s09_c4_pruning_removing_low_magnitude_neuro And on pruning: removing the low-magnitude neurons keeps error at order epsilon plus one over the square root of M-one, essentially lossless, and in experiments magnitude-based pruning of up to about fifteen percent of the output-layer neurons leaves out-of-do"/>
          <p:cNvSpPr/>
          <p:nvPr/>
        </p:nvSpPr>
        <p:spPr>
          <a:xfrm>
            <a:off x="8077200" y="2343378"/>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750711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ICL in a nonlinear Transformer is not a black box</a:t>
            </a:r>
          </a:p>
        </p:txBody>
      </p:sp>
      <p:grpSp>
        <p:nvGrpSpPr>
          <p:cNvPr id="12" name="Group 12"/>
          <p:cNvGrpSpPr/>
          <p:nvPr/>
        </p:nvGrpSpPr>
        <p:grpSpPr>
          <a:xfrm>
            <a:off x="609600" y="1600200"/>
            <a:ext cx="10972800" cy="1298734"/>
            <a:chOff x="609600" y="1600200"/>
            <a:chExt cx="10972800" cy="1298734"/>
          </a:xfrm>
        </p:grpSpPr>
        <p:sp>
          <p:nvSpPr>
            <p:cNvPr id="5" name="Rectangle 5"/>
            <p:cNvSpPr/>
            <p:nvPr/>
          </p:nvSpPr>
          <p:spPr>
            <a:xfrm>
              <a:off x="609600" y="1600200"/>
              <a:ext cx="10972800" cy="1123950"/>
            </a:xfrm>
            <a:prstGeom prst="roundRect">
              <a:avLst>
                <a:gd name="adj" fmla="val 11864"/>
              </a:avLst>
            </a:prstGeom>
            <a:solidFill>
              <a:schemeClr val="accent5"/>
            </a:solidFill>
            <a:ln w="14288">
              <a:solidFill>
                <a:srgbClr val="26455F"/>
              </a:solidFill>
            </a:ln>
          </p:spPr>
        </p:sp>
        <p:sp>
          <p:nvSpPr>
            <p:cNvPr id="6" name="Rectangle 6"/>
            <p:cNvSpPr/>
            <p:nvPr/>
          </p:nvSpPr>
          <p:spPr>
            <a:xfrm>
              <a:off x="609600" y="1600200"/>
              <a:ext cx="57150" cy="1123950"/>
            </a:xfrm>
            <a:prstGeom prst="roundRect">
              <a:avLst>
                <a:gd name="adj" fmla="val 50000"/>
              </a:avLst>
            </a:prstGeom>
            <a:solidFill>
              <a:schemeClr val="accent2"/>
            </a:solidFill>
            <a:ln>
              <a:noFill/>
            </a:ln>
          </p:spPr>
        </p:sp>
        <p:sp>
          <p:nvSpPr>
            <p:cNvPr id="7" name="Ellipse 7"/>
            <p:cNvSpPr/>
            <p:nvPr/>
          </p:nvSpPr>
          <p:spPr>
            <a:xfrm>
              <a:off x="971550" y="2066925"/>
              <a:ext cx="190500" cy="190500"/>
            </a:xfrm>
            <a:prstGeom prst="ellipse">
              <a:avLst/>
            </a:prstGeom>
            <a:solidFill>
              <a:schemeClr val="accent2"/>
            </a:solidFill>
            <a:ln>
              <a:noFill/>
            </a:ln>
          </p:spPr>
        </p:sp>
        <p:sp>
          <p:nvSpPr>
            <p:cNvPr id="8" name="TextBox 8"/>
            <p:cNvSpPr txBox="1"/>
            <p:nvPr/>
          </p:nvSpPr>
          <p:spPr>
            <a:xfrm>
              <a:off x="1421511" y="1903571"/>
              <a:ext cx="180682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Provably trainable</a:t>
              </a:r>
            </a:p>
          </p:txBody>
        </p:sp>
        <p:sp>
          <p:nvSpPr>
            <p:cNvPr id="9" name="TextBox 9"/>
            <p:cNvSpPr txBox="1"/>
            <p:nvPr/>
          </p:nvSpPr>
          <p:spPr>
            <a:xfrm>
              <a:off x="1423035" y="2240756"/>
              <a:ext cx="705791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With both nonlinear attention and a nonlinear MLP, a one-layer model can be provably trained to</a:t>
              </a:r>
            </a:p>
          </p:txBody>
        </p:sp>
        <p:sp>
          <p:nvSpPr>
            <p:cNvPr id="10" name="TextBox 10"/>
            <p:cNvSpPr txBox="1"/>
            <p:nvPr/>
          </p:nvSpPr>
          <p:spPr>
            <a:xfrm>
              <a:off x="1423035" y="2459831"/>
              <a:ext cx="69772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generalize in-context, in-domain and under distribution shift, with effort set by how much of</a:t>
              </a:r>
            </a:p>
          </p:txBody>
        </p:sp>
        <p:sp>
          <p:nvSpPr>
            <p:cNvPr id="11" name="TextBox 11"/>
            <p:cNvSpPr txBox="1"/>
            <p:nvPr/>
          </p:nvSpPr>
          <p:spPr>
            <a:xfrm>
              <a:off x="1423035" y="2678906"/>
              <a:ext cx="372801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context shares the query's relevant pattern.</a:t>
              </a:r>
            </a:p>
          </p:txBody>
        </p:sp>
      </p:grpSp>
      <p:grpSp>
        <p:nvGrpSpPr>
          <p:cNvPr id="19" name="Group 19"/>
          <p:cNvGrpSpPr/>
          <p:nvPr/>
        </p:nvGrpSpPr>
        <p:grpSpPr>
          <a:xfrm>
            <a:off x="609600" y="2895600"/>
            <a:ext cx="10972800" cy="1123950"/>
            <a:chOff x="609600" y="2895600"/>
            <a:chExt cx="10972800" cy="1123950"/>
          </a:xfrm>
        </p:grpSpPr>
        <p:sp>
          <p:nvSpPr>
            <p:cNvPr id="13" name="Rectangle 13"/>
            <p:cNvSpPr/>
            <p:nvPr/>
          </p:nvSpPr>
          <p:spPr>
            <a:xfrm>
              <a:off x="609600" y="2895600"/>
              <a:ext cx="10972800" cy="1123950"/>
            </a:xfrm>
            <a:prstGeom prst="roundRect">
              <a:avLst>
                <a:gd name="adj" fmla="val 11864"/>
              </a:avLst>
            </a:prstGeom>
            <a:solidFill>
              <a:schemeClr val="accent5"/>
            </a:solidFill>
            <a:ln w="14288">
              <a:solidFill>
                <a:srgbClr val="26455F"/>
              </a:solidFill>
            </a:ln>
          </p:spPr>
        </p:sp>
        <p:sp>
          <p:nvSpPr>
            <p:cNvPr id="14" name="Rectangle 14"/>
            <p:cNvSpPr/>
            <p:nvPr/>
          </p:nvSpPr>
          <p:spPr>
            <a:xfrm>
              <a:off x="609600" y="2895600"/>
              <a:ext cx="57150" cy="1123950"/>
            </a:xfrm>
            <a:prstGeom prst="roundRect">
              <a:avLst>
                <a:gd name="adj" fmla="val 50000"/>
              </a:avLst>
            </a:prstGeom>
            <a:solidFill>
              <a:srgbClr val="34D3C0"/>
            </a:solidFill>
            <a:ln>
              <a:noFill/>
            </a:ln>
          </p:spPr>
        </p:sp>
        <p:sp>
          <p:nvSpPr>
            <p:cNvPr id="15" name="Ellipse 15"/>
            <p:cNvSpPr/>
            <p:nvPr/>
          </p:nvSpPr>
          <p:spPr>
            <a:xfrm>
              <a:off x="971550" y="3362325"/>
              <a:ext cx="190500" cy="190500"/>
            </a:xfrm>
            <a:prstGeom prst="ellipse">
              <a:avLst/>
            </a:prstGeom>
            <a:solidFill>
              <a:srgbClr val="34D3C0"/>
            </a:solidFill>
            <a:ln>
              <a:noFill/>
            </a:ln>
          </p:spPr>
        </p:sp>
        <p:sp>
          <p:nvSpPr>
            <p:cNvPr id="16" name="TextBox 16"/>
            <p:cNvSpPr txBox="1"/>
            <p:nvPr/>
          </p:nvSpPr>
          <p:spPr>
            <a:xfrm>
              <a:off x="1421511" y="3198971"/>
              <a:ext cx="127606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How it works</a:t>
              </a:r>
            </a:p>
          </p:txBody>
        </p:sp>
        <p:sp>
          <p:nvSpPr>
            <p:cNvPr id="17" name="TextBox 17"/>
            <p:cNvSpPr txBox="1"/>
            <p:nvPr/>
          </p:nvSpPr>
          <p:spPr>
            <a:xfrm>
              <a:off x="1423035" y="3536156"/>
              <a:ext cx="705777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Attention focuses on the context examples that match the query's relevant pattern, while the</a:t>
              </a:r>
            </a:p>
          </p:txBody>
        </p:sp>
        <p:sp>
          <p:nvSpPr>
            <p:cNvPr id="18" name="TextBox 18"/>
            <p:cNvSpPr txBox="1"/>
            <p:nvPr/>
          </p:nvSpPr>
          <p:spPr>
            <a:xfrm>
              <a:off x="1423035" y="3755231"/>
              <a:ext cx="408961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ReLU MLP amplifies their labels to make the prediction.</a:t>
              </a:r>
            </a:p>
          </p:txBody>
        </p:sp>
      </p:grpSp>
      <p:grpSp>
        <p:nvGrpSpPr>
          <p:cNvPr id="26" name="Group 26"/>
          <p:cNvGrpSpPr/>
          <p:nvPr/>
        </p:nvGrpSpPr>
        <p:grpSpPr>
          <a:xfrm>
            <a:off x="609600" y="4191000"/>
            <a:ext cx="10972800" cy="1123950"/>
            <a:chOff x="609600" y="4191000"/>
            <a:chExt cx="10972800" cy="1123950"/>
          </a:xfrm>
        </p:grpSpPr>
        <p:sp>
          <p:nvSpPr>
            <p:cNvPr id="20" name="Rectangle 20"/>
            <p:cNvSpPr/>
            <p:nvPr/>
          </p:nvSpPr>
          <p:spPr>
            <a:xfrm>
              <a:off x="609600" y="4191000"/>
              <a:ext cx="10972800" cy="1123950"/>
            </a:xfrm>
            <a:prstGeom prst="roundRect">
              <a:avLst>
                <a:gd name="adj" fmla="val 11864"/>
              </a:avLst>
            </a:prstGeom>
            <a:solidFill>
              <a:schemeClr val="accent5"/>
            </a:solidFill>
            <a:ln w="14288">
              <a:solidFill>
                <a:srgbClr val="26455F"/>
              </a:solidFill>
            </a:ln>
          </p:spPr>
        </p:sp>
        <p:sp>
          <p:nvSpPr>
            <p:cNvPr id="21" name="Rectangle 21"/>
            <p:cNvSpPr/>
            <p:nvPr/>
          </p:nvSpPr>
          <p:spPr>
            <a:xfrm>
              <a:off x="609600" y="4191000"/>
              <a:ext cx="57150" cy="1123950"/>
            </a:xfrm>
            <a:prstGeom prst="roundRect">
              <a:avLst>
                <a:gd name="adj" fmla="val 50000"/>
              </a:avLst>
            </a:prstGeom>
            <a:solidFill>
              <a:srgbClr val="48C78E"/>
            </a:solidFill>
            <a:ln>
              <a:noFill/>
            </a:ln>
          </p:spPr>
        </p:sp>
        <p:sp>
          <p:nvSpPr>
            <p:cNvPr id="22" name="Ellipse 22"/>
            <p:cNvSpPr/>
            <p:nvPr/>
          </p:nvSpPr>
          <p:spPr>
            <a:xfrm>
              <a:off x="971550" y="4657725"/>
              <a:ext cx="190500" cy="190500"/>
            </a:xfrm>
            <a:prstGeom prst="ellipse">
              <a:avLst/>
            </a:prstGeom>
            <a:solidFill>
              <a:srgbClr val="48C78E"/>
            </a:solidFill>
            <a:ln>
              <a:noFill/>
            </a:ln>
          </p:spPr>
        </p:sp>
        <p:sp>
          <p:nvSpPr>
            <p:cNvPr id="23" name="TextBox 23"/>
            <p:cNvSpPr txBox="1"/>
            <p:nvPr/>
          </p:nvSpPr>
          <p:spPr>
            <a:xfrm>
              <a:off x="1421511" y="4494371"/>
              <a:ext cx="259979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Pruning is essentially free</a:t>
              </a:r>
            </a:p>
          </p:txBody>
        </p:sp>
        <p:sp>
          <p:nvSpPr>
            <p:cNvPr id="24" name="TextBox 24"/>
            <p:cNvSpPr txBox="1"/>
            <p:nvPr/>
          </p:nvSpPr>
          <p:spPr>
            <a:xfrm>
              <a:off x="1423035" y="4831556"/>
              <a:ext cx="717073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Because only the large-magnitude neurons carry this signal, pruning the small ones barely hurts,</a:t>
              </a:r>
            </a:p>
          </p:txBody>
        </p:sp>
        <p:sp>
          <p:nvSpPr>
            <p:cNvPr id="25" name="TextBox 25"/>
            <p:cNvSpPr txBox="1"/>
            <p:nvPr/>
          </p:nvSpPr>
          <p:spPr>
            <a:xfrm>
              <a:off x="1423035" y="5050631"/>
              <a:ext cx="520543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giving a principled reason why magnitude-based pruning preserves ICL.</a:t>
              </a:r>
            </a:p>
          </p:txBody>
        </p:sp>
      </p:grpSp>
      <p:sp>
        <p:nvSpPr>
          <p:cNvPr id="27" name="Line 27"/>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8" name="TextBox 28"/>
          <p:cNvSpPr txBox="1"/>
          <p:nvPr/>
        </p:nvSpPr>
        <p:spPr>
          <a:xfrm>
            <a:off x="603504" y="5890260"/>
            <a:ext cx="635602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How Do Nonlinear Transformers Learn and Generalize in In-Context Learning?</a:t>
            </a:r>
          </a:p>
        </p:txBody>
      </p:sp>
      <p:sp>
        <p:nvSpPr>
          <p:cNvPr id="29" name="TextBox 29"/>
          <p:cNvSpPr txBox="1"/>
          <p:nvPr/>
        </p:nvSpPr>
        <p:spPr>
          <a:xfrm>
            <a:off x="604456" y="6177201"/>
            <a:ext cx="5497629"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ICML 2024 · arXiv:2402.15607 · Rensselaer Polytechnic Institute · IBM Watson</a:t>
            </a:r>
          </a:p>
        </p:txBody>
      </p:sp>
      <p:sp>
        <p:nvSpPr>
          <p:cNvPr id="30" name="cue_s10_c1_lasting_message_in_context_learning" title="cue_s10_c1_lasting_message_in_context_learning" descr="cue_s10_c1_lasting_message_in_context_learning The lasting message is that in-context learning in a nonlinear Transformer is not a black box: with both nonlinear attention and a nonlinear MLP, a one-layer model can be provably trained to generalize in context, in-domain and under distribution shift, and th"/>
          <p:cNvSpPr/>
          <p:nvPr/>
        </p:nvSpPr>
        <p:spPr>
          <a:xfrm>
            <a:off x="609600" y="1599971"/>
            <a:ext cx="10972800" cy="129890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2_trained_works_having_attention_focus" title="cue_s10_c2_trained_works_having_attention_focus" descr="cue_s10_c2_trained_works_having_attention_focus The trained model works by having attention focus on the context examples that match the query's relevant pattern while the ReLU MLP amplifies their labels."/>
          <p:cNvSpPr/>
          <p:nvPr/>
        </p:nvSpPr>
        <p:spPr>
          <a:xfrm>
            <a:off x="609600" y="2895447"/>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10_c3_because_only_large_magnitude_neurons" title="cue_s10_c3_because_only_large_magnitude_neurons" descr="cue_s10_c3_because_only_large_magnitude_neurons Because only the large-magnitude neurons carry this signal, pruning the small ones is essentially free, giving a principled reason why magnitude-based pruning preserves in-context learning."/>
          <p:cNvSpPr/>
          <p:nvPr/>
        </p:nvSpPr>
        <p:spPr>
          <a:xfrm>
            <a:off x="609600" y="4190923"/>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2026-07-16T04:07:06Z</dcterms:created>
  <dcterms:modified xsi:type="dcterms:W3CDTF">2026-07-16T04:07:06Z</dcterms:modified>
  <cp:category/>
  <cp:contentStatus/>
</cp:coreProperties>
</file>
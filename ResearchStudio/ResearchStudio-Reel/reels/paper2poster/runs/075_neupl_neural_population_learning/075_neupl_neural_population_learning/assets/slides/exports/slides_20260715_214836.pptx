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lide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lide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4602681" cy="220028"/>
          </a:xfrm>
          <a:prstGeom prst="rect">
            <a:avLst/>
          </a:prstGeom>
          <a:noFill/>
          <a:ln>
            <a:noFill/>
          </a:ln>
        </p:spPr>
        <p:txBody>
          <a:bodyPr wrap="none" lIns="0" tIns="0" rIns="0" bIns="0" anchor="t" anchorCtr="0">
            <a:spAutoFit/>
          </a:bodyPr>
          <a:lstStyle/>
          <a:p>
            <a:pPr algn="l"/>
            <a:r>
              <a:rPr lang="en-US" sz="1120" b="1" spc="75" dirty="0">
                <a:solidFill>
                  <a:srgbClr val="2FB6A8"/>
                </a:solidFill>
                <a:latin typeface="+mn-lt"/>
                <a:ea typeface="+mn-ea"/>
                <a:cs typeface="+mn-cs"/>
              </a:rPr>
              <a:t>ICLR 2022 · UNIVERSITY COLLEGE LONDON / DEEPMIND</a:t>
            </a:r>
          </a:p>
        </p:txBody>
      </p:sp>
      <p:grpSp>
        <p:nvGrpSpPr>
          <p:cNvPr id="6" name="Group 6"/>
          <p:cNvGrpSpPr/>
          <p:nvPr/>
        </p:nvGrpSpPr>
        <p:grpSpPr>
          <a:xfrm>
            <a:off x="723900" y="1007745"/>
            <a:ext cx="9184788" cy="1003744"/>
            <a:chOff x="723900" y="1007745"/>
            <a:chExt cx="9184788" cy="1003744"/>
          </a:xfrm>
        </p:grpSpPr>
        <p:sp>
          <p:nvSpPr>
            <p:cNvPr id="4" name="TextBox 4"/>
            <p:cNvSpPr txBox="1"/>
            <p:nvPr/>
          </p:nvSpPr>
          <p:spPr>
            <a:xfrm>
              <a:off x="723900" y="1007745"/>
              <a:ext cx="9184788" cy="762000"/>
            </a:xfrm>
            <a:prstGeom prst="rect">
              <a:avLst/>
            </a:prstGeom>
            <a:noFill/>
            <a:ln>
              <a:noFill/>
            </a:ln>
          </p:spPr>
          <p:txBody>
            <a:bodyPr wrap="none" lIns="0" tIns="0" rIns="0" bIns="0" anchor="t" anchorCtr="0">
              <a:spAutoFit/>
            </a:bodyPr>
            <a:lstStyle/>
            <a:p>
              <a:pPr algn="l"/>
              <a:r>
                <a:rPr lang="en-US" sz="3900" b="1" dirty="0">
                  <a:solidFill>
                    <a:srgbClr val="EAF2FA"/>
                  </a:solidFill>
                  <a:latin typeface="+mn-lt"/>
                  <a:ea typeface="+mn-ea"/>
                  <a:cs typeface="+mn-cs"/>
                </a:rPr>
                <a:t>NeuPL: Neural Population Learning</a:t>
              </a:r>
            </a:p>
          </p:txBody>
        </p:sp>
        <p:sp>
          <p:nvSpPr>
            <p:cNvPr id="5" name="TextBox 5"/>
            <p:cNvSpPr txBox="1"/>
            <p:nvPr/>
          </p:nvSpPr>
          <p:spPr>
            <a:xfrm>
              <a:off x="734568" y="1688782"/>
              <a:ext cx="7242807" cy="322707"/>
            </a:xfrm>
            <a:prstGeom prst="rect">
              <a:avLst/>
            </a:prstGeom>
            <a:noFill/>
            <a:ln>
              <a:noFill/>
            </a:ln>
          </p:spPr>
          <p:txBody>
            <a:bodyPr wrap="none" lIns="0" tIns="0" rIns="0" bIns="0" anchor="t" anchorCtr="0">
              <a:spAutoFit/>
            </a:bodyPr>
            <a:lstStyle/>
            <a:p>
              <a:pPr algn="l"/>
              <a:r>
                <a:rPr lang="en-US" sz="1650" dirty="0">
                  <a:solidFill>
                    <a:srgbClr val="9FB6CC"/>
                  </a:solidFill>
                  <a:latin typeface="+mn-lt"/>
                  <a:ea typeface="+mn-ea"/>
                  <a:cs typeface="+mn-cs"/>
                </a:rPr>
                <a:t>One conditional network that holds an entire population of policies</a:t>
              </a:r>
            </a:p>
          </p:txBody>
        </p:sp>
      </p:grpSp>
      <p:grpSp>
        <p:nvGrpSpPr>
          <p:cNvPr id="14" name="Group 14"/>
          <p:cNvGrpSpPr/>
          <p:nvPr/>
        </p:nvGrpSpPr>
        <p:grpSpPr>
          <a:xfrm>
            <a:off x="533400" y="2381250"/>
            <a:ext cx="3314700" cy="2857500"/>
            <a:chOff x="533400" y="2381250"/>
            <a:chExt cx="3314700" cy="2857500"/>
          </a:xfrm>
        </p:grpSpPr>
        <p:sp>
          <p:nvSpPr>
            <p:cNvPr id="7" name="Rectangle 7"/>
            <p:cNvSpPr/>
            <p:nvPr/>
          </p:nvSpPr>
          <p:spPr>
            <a:xfrm>
              <a:off x="533400" y="2381250"/>
              <a:ext cx="3314700" cy="2857500"/>
            </a:xfrm>
            <a:prstGeom prst="roundRect">
              <a:avLst>
                <a:gd name="adj" fmla="val 4000"/>
              </a:avLst>
            </a:prstGeom>
            <a:solidFill>
              <a:schemeClr val="accent5"/>
            </a:solidFill>
            <a:ln w="11430">
              <a:solidFill>
                <a:srgbClr val="1E3E5A"/>
              </a:solidFill>
            </a:ln>
          </p:spPr>
        </p:sp>
        <p:sp>
          <p:nvSpPr>
            <p:cNvPr id="8" name="Rectangle 8"/>
            <p:cNvSpPr/>
            <p:nvPr/>
          </p:nvSpPr>
          <p:spPr>
            <a:xfrm>
              <a:off x="533400" y="2552700"/>
              <a:ext cx="47625" cy="285750"/>
            </a:xfrm>
            <a:prstGeom prst="roundRect">
              <a:avLst>
                <a:gd name="adj" fmla="val 50000"/>
              </a:avLst>
            </a:prstGeom>
            <a:solidFill>
              <a:srgbClr val="2FB6A8"/>
            </a:solidFill>
            <a:ln>
              <a:noFill/>
            </a:ln>
          </p:spPr>
        </p:sp>
        <p:sp>
          <p:nvSpPr>
            <p:cNvPr id="9" name="TextBox 9"/>
            <p:cNvSpPr txBox="1"/>
            <p:nvPr/>
          </p:nvSpPr>
          <p:spPr>
            <a:xfrm>
              <a:off x="754380" y="2657475"/>
              <a:ext cx="1654445"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Why populations</a:t>
              </a:r>
            </a:p>
          </p:txBody>
        </p:sp>
        <p:sp>
          <p:nvSpPr>
            <p:cNvPr id="10" name="TextBox 10"/>
            <p:cNvSpPr txBox="1"/>
            <p:nvPr/>
          </p:nvSpPr>
          <p:spPr>
            <a:xfrm>
              <a:off x="755904" y="3032760"/>
              <a:ext cx="249123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Playing StarCraft or poker well</a:t>
              </a:r>
            </a:p>
          </p:txBody>
        </p:sp>
        <p:sp>
          <p:nvSpPr>
            <p:cNvPr id="11" name="TextBox 11"/>
            <p:cNvSpPr txBox="1"/>
            <p:nvPr/>
          </p:nvSpPr>
          <p:spPr>
            <a:xfrm>
              <a:off x="755904" y="3270885"/>
              <a:ext cx="216072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needs a whole population of</a:t>
              </a:r>
            </a:p>
          </p:txBody>
        </p:sp>
        <p:sp>
          <p:nvSpPr>
            <p:cNvPr id="12" name="TextBox 12"/>
            <p:cNvSpPr txBox="1"/>
            <p:nvPr/>
          </p:nvSpPr>
          <p:spPr>
            <a:xfrm>
              <a:off x="755904" y="3509010"/>
              <a:ext cx="195072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diverse policies, not one</a:t>
              </a:r>
            </a:p>
          </p:txBody>
        </p:sp>
        <p:sp>
          <p:nvSpPr>
            <p:cNvPr id="13" name="TextBox 13"/>
            <p:cNvSpPr txBox="1"/>
            <p:nvPr/>
          </p:nvSpPr>
          <p:spPr>
            <a:xfrm>
              <a:off x="755904" y="3747135"/>
              <a:ext cx="81183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strategy.</a:t>
              </a:r>
            </a:p>
          </p:txBody>
        </p:sp>
      </p:grpSp>
      <p:grpSp>
        <p:nvGrpSpPr>
          <p:cNvPr id="22" name="Group 22"/>
          <p:cNvGrpSpPr/>
          <p:nvPr/>
        </p:nvGrpSpPr>
        <p:grpSpPr>
          <a:xfrm>
            <a:off x="4438650" y="2381250"/>
            <a:ext cx="3314700" cy="2857500"/>
            <a:chOff x="4438650" y="2381250"/>
            <a:chExt cx="3314700" cy="2857500"/>
          </a:xfrm>
        </p:grpSpPr>
        <p:sp>
          <p:nvSpPr>
            <p:cNvPr id="15" name="Rectangle 15"/>
            <p:cNvSpPr/>
            <p:nvPr/>
          </p:nvSpPr>
          <p:spPr>
            <a:xfrm>
              <a:off x="4438650" y="2381250"/>
              <a:ext cx="3314700" cy="2857500"/>
            </a:xfrm>
            <a:prstGeom prst="roundRect">
              <a:avLst>
                <a:gd name="adj" fmla="val 4000"/>
              </a:avLst>
            </a:prstGeom>
            <a:solidFill>
              <a:schemeClr val="accent5"/>
            </a:solidFill>
            <a:ln w="11430">
              <a:solidFill>
                <a:srgbClr val="1E3E5A"/>
              </a:solidFill>
            </a:ln>
          </p:spPr>
        </p:sp>
        <p:sp>
          <p:nvSpPr>
            <p:cNvPr id="16" name="Rectangle 16"/>
            <p:cNvSpPr/>
            <p:nvPr/>
          </p:nvSpPr>
          <p:spPr>
            <a:xfrm>
              <a:off x="4438650" y="2552700"/>
              <a:ext cx="47625" cy="285750"/>
            </a:xfrm>
            <a:prstGeom prst="roundRect">
              <a:avLst>
                <a:gd name="adj" fmla="val 50000"/>
              </a:avLst>
            </a:prstGeom>
            <a:solidFill>
              <a:srgbClr val="4C86F0"/>
            </a:solidFill>
            <a:ln>
              <a:noFill/>
            </a:ln>
          </p:spPr>
        </p:sp>
        <p:sp>
          <p:nvSpPr>
            <p:cNvPr id="17" name="TextBox 17"/>
            <p:cNvSpPr txBox="1"/>
            <p:nvPr/>
          </p:nvSpPr>
          <p:spPr>
            <a:xfrm>
              <a:off x="4659630" y="2657475"/>
              <a:ext cx="1675733"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The usual recipe</a:t>
              </a:r>
            </a:p>
          </p:txBody>
        </p:sp>
        <p:sp>
          <p:nvSpPr>
            <p:cNvPr id="18" name="TextBox 18"/>
            <p:cNvSpPr txBox="1"/>
            <p:nvPr/>
          </p:nvSpPr>
          <p:spPr>
            <a:xfrm>
              <a:off x="4661154" y="3032760"/>
              <a:ext cx="277998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Prior work grows the population by</a:t>
              </a:r>
            </a:p>
          </p:txBody>
        </p:sp>
        <p:sp>
          <p:nvSpPr>
            <p:cNvPr id="19" name="TextBox 19"/>
            <p:cNvSpPr txBox="1"/>
            <p:nvPr/>
          </p:nvSpPr>
          <p:spPr>
            <a:xfrm>
              <a:off x="4661154" y="3270885"/>
              <a:ext cx="243535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iteratively best-responding to</a:t>
              </a:r>
            </a:p>
          </p:txBody>
        </p:sp>
        <p:sp>
          <p:nvSpPr>
            <p:cNvPr id="20" name="TextBox 20"/>
            <p:cNvSpPr txBox="1"/>
            <p:nvPr/>
          </p:nvSpPr>
          <p:spPr>
            <a:xfrm>
              <a:off x="4661154" y="3509010"/>
              <a:ext cx="231419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previous policies — costly and</a:t>
              </a:r>
            </a:p>
          </p:txBody>
        </p:sp>
        <p:sp>
          <p:nvSpPr>
            <p:cNvPr id="21" name="TextBox 21"/>
            <p:cNvSpPr txBox="1"/>
            <p:nvPr/>
          </p:nvSpPr>
          <p:spPr>
            <a:xfrm>
              <a:off x="4661154" y="3747135"/>
              <a:ext cx="86029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forgetful.</a:t>
              </a:r>
            </a:p>
          </p:txBody>
        </p:sp>
      </p:grpSp>
      <p:grpSp>
        <p:nvGrpSpPr>
          <p:cNvPr id="30" name="Group 30"/>
          <p:cNvGrpSpPr/>
          <p:nvPr/>
        </p:nvGrpSpPr>
        <p:grpSpPr>
          <a:xfrm>
            <a:off x="8343900" y="2381250"/>
            <a:ext cx="3314700" cy="2857500"/>
            <a:chOff x="8343900" y="2381250"/>
            <a:chExt cx="3314700" cy="2857500"/>
          </a:xfrm>
        </p:grpSpPr>
        <p:sp>
          <p:nvSpPr>
            <p:cNvPr id="23" name="Rectangle 23"/>
            <p:cNvSpPr/>
            <p:nvPr/>
          </p:nvSpPr>
          <p:spPr>
            <a:xfrm>
              <a:off x="8343900" y="2381250"/>
              <a:ext cx="3314700" cy="2857500"/>
            </a:xfrm>
            <a:prstGeom prst="roundRect">
              <a:avLst>
                <a:gd name="adj" fmla="val 4000"/>
              </a:avLst>
            </a:prstGeom>
            <a:solidFill>
              <a:schemeClr val="accent5"/>
            </a:solidFill>
            <a:ln w="11430">
              <a:solidFill>
                <a:srgbClr val="1E3E5A"/>
              </a:solidFill>
            </a:ln>
          </p:spPr>
        </p:sp>
        <p:sp>
          <p:nvSpPr>
            <p:cNvPr id="24" name="Rectangle 24"/>
            <p:cNvSpPr/>
            <p:nvPr/>
          </p:nvSpPr>
          <p:spPr>
            <a:xfrm>
              <a:off x="8343900" y="2552700"/>
              <a:ext cx="47625" cy="285750"/>
            </a:xfrm>
            <a:prstGeom prst="roundRect">
              <a:avLst>
                <a:gd name="adj" fmla="val 50000"/>
              </a:avLst>
            </a:prstGeom>
            <a:solidFill>
              <a:srgbClr val="E0A93B"/>
            </a:solidFill>
            <a:ln>
              <a:noFill/>
            </a:ln>
          </p:spPr>
        </p:sp>
        <p:sp>
          <p:nvSpPr>
            <p:cNvPr id="25" name="TextBox 25"/>
            <p:cNvSpPr txBox="1"/>
            <p:nvPr/>
          </p:nvSpPr>
          <p:spPr>
            <a:xfrm>
              <a:off x="8564880" y="2657475"/>
              <a:ext cx="1660196"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NeuPL's answer</a:t>
              </a:r>
            </a:p>
          </p:txBody>
        </p:sp>
        <p:sp>
          <p:nvSpPr>
            <p:cNvPr id="26" name="TextBox 26"/>
            <p:cNvSpPr txBox="1"/>
            <p:nvPr/>
          </p:nvSpPr>
          <p:spPr>
            <a:xfrm>
              <a:off x="8566404" y="3032760"/>
              <a:ext cx="252927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Represent the entire population</a:t>
              </a:r>
            </a:p>
          </p:txBody>
        </p:sp>
        <p:sp>
          <p:nvSpPr>
            <p:cNvPr id="27" name="TextBox 27"/>
            <p:cNvSpPr txBox="1"/>
            <p:nvPr/>
          </p:nvSpPr>
          <p:spPr>
            <a:xfrm>
              <a:off x="8566404" y="3270885"/>
              <a:ext cx="200726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inside a single conditional</a:t>
              </a:r>
            </a:p>
          </p:txBody>
        </p:sp>
        <p:sp>
          <p:nvSpPr>
            <p:cNvPr id="28" name="TextBox 28"/>
            <p:cNvSpPr txBox="1"/>
            <p:nvPr/>
          </p:nvSpPr>
          <p:spPr>
            <a:xfrm>
              <a:off x="8566404" y="3509010"/>
              <a:ext cx="233842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network so policies share and</a:t>
              </a:r>
            </a:p>
          </p:txBody>
        </p:sp>
        <p:sp>
          <p:nvSpPr>
            <p:cNvPr id="29" name="TextBox 29"/>
            <p:cNvSpPr txBox="1"/>
            <p:nvPr/>
          </p:nvSpPr>
          <p:spPr>
            <a:xfrm>
              <a:off x="8566404" y="3747135"/>
              <a:ext cx="118338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transfer skill.</a:t>
              </a:r>
            </a:p>
          </p:txBody>
        </p:sp>
      </p:grpSp>
      <p:sp>
        <p:nvSpPr>
          <p:cNvPr id="31" name="TextBox 31"/>
          <p:cNvSpPr txBox="1"/>
          <p:nvPr/>
        </p:nvSpPr>
        <p:spPr>
          <a:xfrm>
            <a:off x="528447" y="6619399"/>
            <a:ext cx="7253672"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Liu, Marris, Lanctot, Piliouras, Marecki, Heess, Munos, Perez-Nieves — Neural Population Learning (ICLR 2022)</a:t>
            </a:r>
          </a:p>
        </p:txBody>
      </p:sp>
      <p:sp>
        <p:nvSpPr>
          <p:cNvPr id="32" name="cue_s01_c1_neupl_neural_population_learning_pub" title="cue_s01_c1_neupl_neural_population_learning_pub" descr="cue_s01_c1_neupl_neural_population_learning_pub &quot;This is NeuPL, or Neural Population Learning, published at ICLR 2022 by researchers at University College London and DeepMind."/>
          <p:cNvSpPr/>
          <p:nvPr/>
        </p:nvSpPr>
        <p:spPr>
          <a:xfrm>
            <a:off x="724204" y="1007440"/>
            <a:ext cx="9184233"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1_c2_learning_play_strategy_games_like" title="cue_s01_c2_learning_play_strategy_games_like" descr="cue_s01_c2_learning_play_strategy_games_like Learning to play strategy games like StarCraft or poker requires discovering a whole population of diverse policies, not just one."/>
          <p:cNvSpPr/>
          <p:nvPr/>
        </p:nvSpPr>
        <p:spPr>
          <a:xfrm>
            <a:off x="532790"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1_c3_usual_recipe_grows_population_iterat" title="cue_s01_c3_usual_recipe_grows_population_iterat" descr="cue_s01_c3_usual_recipe_grows_population_iterat The usual recipe grows this population by iteratively training a fresh policy to beat the previous ones, but in real games that approach wastes compute relearning basic skills at every step and produces under-trained policies when budgets run out."/>
          <p:cNvSpPr/>
          <p:nvPr/>
        </p:nvSpPr>
        <p:spPr>
          <a:xfrm>
            <a:off x="4439107"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1_c4_neupl_solves_both_problems_represent" title="cue_s01_c4_neupl_solves_both_problems_represent" descr="cue_s01_c4_neupl_solves_both_problems_represent NeuPL solves both problems by representing the entire population inside a single conditional neural network, so skills transfer freely across policies while still enjoying convergence guarantees.&quot;"/>
          <p:cNvSpPr/>
          <p:nvPr/>
        </p:nvSpPr>
        <p:spPr>
          <a:xfrm>
            <a:off x="8344204"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850362"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PROBLEM</a:t>
            </a:r>
          </a:p>
        </p:txBody>
      </p:sp>
      <p:sp>
        <p:nvSpPr>
          <p:cNvPr id="4" name="TextBox 4"/>
          <p:cNvSpPr txBox="1"/>
          <p:nvPr/>
        </p:nvSpPr>
        <p:spPr>
          <a:xfrm>
            <a:off x="729996" y="715328"/>
            <a:ext cx="6597986"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Iterative best-response breaks down</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02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3" name="Group 13"/>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1590559"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Classical PSRO</a:t>
              </a:r>
            </a:p>
          </p:txBody>
        </p:sp>
        <p:sp>
          <p:nvSpPr>
            <p:cNvPr id="10" name="TextBox 10"/>
            <p:cNvSpPr txBox="1"/>
            <p:nvPr/>
          </p:nvSpPr>
          <p:spPr>
            <a:xfrm>
              <a:off x="774954" y="2213610"/>
              <a:ext cx="441158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Policy Space Response Oracles grow a set of strategies</a:t>
              </a:r>
            </a:p>
          </p:txBody>
        </p:sp>
        <p:sp>
          <p:nvSpPr>
            <p:cNvPr id="11" name="TextBox 11"/>
            <p:cNvSpPr txBox="1"/>
            <p:nvPr/>
          </p:nvSpPr>
          <p:spPr>
            <a:xfrm>
              <a:off x="774954" y="2442210"/>
              <a:ext cx="431734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by repeatedly training a best-response to the current</a:t>
              </a:r>
            </a:p>
          </p:txBody>
        </p:sp>
        <p:sp>
          <p:nvSpPr>
            <p:cNvPr id="12" name="TextBox 12"/>
            <p:cNvSpPr txBox="1"/>
            <p:nvPr/>
          </p:nvSpPr>
          <p:spPr>
            <a:xfrm>
              <a:off x="774954" y="2670810"/>
              <a:ext cx="71490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mixture.</a:t>
              </a:r>
            </a:p>
          </p:txBody>
        </p:sp>
      </p:grpSp>
      <p:grpSp>
        <p:nvGrpSpPr>
          <p:cNvPr id="19" name="Group 19"/>
          <p:cNvGrpSpPr/>
          <p:nvPr/>
        </p:nvGrpSpPr>
        <p:grpSpPr>
          <a:xfrm>
            <a:off x="6229350" y="1600200"/>
            <a:ext cx="5429250" cy="2381250"/>
            <a:chOff x="6229350" y="1600200"/>
            <a:chExt cx="5429250" cy="2381250"/>
          </a:xfrm>
        </p:grpSpPr>
        <p:sp>
          <p:nvSpPr>
            <p:cNvPr id="14" name="Rectangle 14"/>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5" name="Rectangle 15"/>
            <p:cNvSpPr/>
            <p:nvPr/>
          </p:nvSpPr>
          <p:spPr>
            <a:xfrm>
              <a:off x="6229350" y="1771650"/>
              <a:ext cx="47625" cy="285750"/>
            </a:xfrm>
            <a:prstGeom prst="roundRect">
              <a:avLst>
                <a:gd name="adj" fmla="val 50000"/>
              </a:avLst>
            </a:prstGeom>
            <a:solidFill>
              <a:srgbClr val="2FB6A8"/>
            </a:solidFill>
            <a:ln>
              <a:noFill/>
            </a:ln>
          </p:spPr>
        </p:sp>
        <p:sp>
          <p:nvSpPr>
            <p:cNvPr id="16" name="TextBox 16"/>
            <p:cNvSpPr txBox="1"/>
            <p:nvPr/>
          </p:nvSpPr>
          <p:spPr>
            <a:xfrm>
              <a:off x="6468999" y="1849279"/>
              <a:ext cx="187717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Fine in toy games</a:t>
              </a:r>
            </a:p>
          </p:txBody>
        </p:sp>
        <p:sp>
          <p:nvSpPr>
            <p:cNvPr id="17" name="TextBox 17"/>
            <p:cNvSpPr txBox="1"/>
            <p:nvPr/>
          </p:nvSpPr>
          <p:spPr>
            <a:xfrm>
              <a:off x="6470904" y="2213610"/>
              <a:ext cx="441992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In toy normal-form games this works cleanly, because a</a:t>
              </a:r>
            </a:p>
          </p:txBody>
        </p:sp>
        <p:sp>
          <p:nvSpPr>
            <p:cNvPr id="18" name="TextBox 18"/>
            <p:cNvSpPr txBox="1"/>
            <p:nvPr/>
          </p:nvSpPr>
          <p:spPr>
            <a:xfrm>
              <a:off x="6470904" y="2442210"/>
              <a:ext cx="328345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best-response can be solved for exactly.</a:t>
              </a:r>
            </a:p>
          </p:txBody>
        </p:sp>
      </p:grpSp>
      <p:grpSp>
        <p:nvGrpSpPr>
          <p:cNvPr id="26" name="Group 26"/>
          <p:cNvGrpSpPr/>
          <p:nvPr/>
        </p:nvGrpSpPr>
        <p:grpSpPr>
          <a:xfrm>
            <a:off x="533400" y="4152900"/>
            <a:ext cx="5429250" cy="2381250"/>
            <a:chOff x="533400" y="4152900"/>
            <a:chExt cx="5429250" cy="2381250"/>
          </a:xfrm>
        </p:grpSpPr>
        <p:sp>
          <p:nvSpPr>
            <p:cNvPr id="20" name="Rectangle 20"/>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1" name="Rectangle 21"/>
            <p:cNvSpPr/>
            <p:nvPr/>
          </p:nvSpPr>
          <p:spPr>
            <a:xfrm>
              <a:off x="533400" y="4324350"/>
              <a:ext cx="47625" cy="285750"/>
            </a:xfrm>
            <a:prstGeom prst="roundRect">
              <a:avLst>
                <a:gd name="adj" fmla="val 50000"/>
              </a:avLst>
            </a:prstGeom>
            <a:solidFill>
              <a:srgbClr val="E0A93B"/>
            </a:solidFill>
            <a:ln>
              <a:noFill/>
            </a:ln>
          </p:spPr>
        </p:sp>
        <p:sp>
          <p:nvSpPr>
            <p:cNvPr id="22" name="TextBox 22"/>
            <p:cNvSpPr txBox="1"/>
            <p:nvPr/>
          </p:nvSpPr>
          <p:spPr>
            <a:xfrm>
              <a:off x="773049" y="4401979"/>
              <a:ext cx="231280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But not in real games</a:t>
              </a:r>
            </a:p>
          </p:txBody>
        </p:sp>
        <p:sp>
          <p:nvSpPr>
            <p:cNvPr id="23" name="TextBox 23"/>
            <p:cNvSpPr txBox="1"/>
            <p:nvPr/>
          </p:nvSpPr>
          <p:spPr>
            <a:xfrm>
              <a:off x="774954" y="4766310"/>
              <a:ext cx="404005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Real games are temporal and partially observed, so</a:t>
              </a:r>
            </a:p>
          </p:txBody>
        </p:sp>
        <p:sp>
          <p:nvSpPr>
            <p:cNvPr id="24" name="TextBox 24"/>
            <p:cNvSpPr txBox="1"/>
            <p:nvPr/>
          </p:nvSpPr>
          <p:spPr>
            <a:xfrm>
              <a:off x="774954" y="4994910"/>
              <a:ext cx="425272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best-responses can only be approximated — slowly and</a:t>
              </a:r>
            </a:p>
          </p:txBody>
        </p:sp>
        <p:sp>
          <p:nvSpPr>
            <p:cNvPr id="25" name="TextBox 25"/>
            <p:cNvSpPr txBox="1"/>
            <p:nvPr/>
          </p:nvSpPr>
          <p:spPr>
            <a:xfrm>
              <a:off x="774954" y="5223510"/>
              <a:ext cx="99761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expensively.</a:t>
              </a:r>
            </a:p>
          </p:txBody>
        </p:sp>
      </p:grpSp>
      <p:grpSp>
        <p:nvGrpSpPr>
          <p:cNvPr id="33" name="Group 33"/>
          <p:cNvGrpSpPr/>
          <p:nvPr/>
        </p:nvGrpSpPr>
        <p:grpSpPr>
          <a:xfrm>
            <a:off x="6229350" y="4152900"/>
            <a:ext cx="5429250" cy="2381250"/>
            <a:chOff x="6229350" y="4152900"/>
            <a:chExt cx="5429250" cy="2381250"/>
          </a:xfrm>
        </p:grpSpPr>
        <p:sp>
          <p:nvSpPr>
            <p:cNvPr id="27" name="Rectangle 27"/>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28" name="Rectangle 28"/>
            <p:cNvSpPr/>
            <p:nvPr/>
          </p:nvSpPr>
          <p:spPr>
            <a:xfrm>
              <a:off x="6229350" y="4324350"/>
              <a:ext cx="47625" cy="285750"/>
            </a:xfrm>
            <a:prstGeom prst="roundRect">
              <a:avLst>
                <a:gd name="adj" fmla="val 50000"/>
              </a:avLst>
            </a:prstGeom>
            <a:solidFill>
              <a:srgbClr val="E0655B"/>
            </a:solidFill>
            <a:ln>
              <a:noFill/>
            </a:ln>
          </p:spPr>
        </p:sp>
        <p:sp>
          <p:nvSpPr>
            <p:cNvPr id="29" name="TextBox 29"/>
            <p:cNvSpPr txBox="1"/>
            <p:nvPr/>
          </p:nvSpPr>
          <p:spPr>
            <a:xfrm>
              <a:off x="6468999" y="4401979"/>
              <a:ext cx="197755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Two failure modes</a:t>
              </a:r>
            </a:p>
          </p:txBody>
        </p:sp>
        <p:sp>
          <p:nvSpPr>
            <p:cNvPr id="30" name="TextBox 30"/>
            <p:cNvSpPr txBox="1"/>
            <p:nvPr/>
          </p:nvSpPr>
          <p:spPr>
            <a:xfrm>
              <a:off x="6470904" y="4766310"/>
              <a:ext cx="388651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Under a finite budget you cannot tell a converged</a:t>
              </a:r>
            </a:p>
          </p:txBody>
        </p:sp>
        <p:sp>
          <p:nvSpPr>
            <p:cNvPr id="31" name="TextBox 31"/>
            <p:cNvSpPr txBox="1"/>
            <p:nvPr/>
          </p:nvSpPr>
          <p:spPr>
            <a:xfrm>
              <a:off x="6470904" y="4994910"/>
              <a:ext cx="412348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best-response from a stuck one, and each iteration</a:t>
              </a:r>
            </a:p>
          </p:txBody>
        </p:sp>
        <p:sp>
          <p:nvSpPr>
            <p:cNvPr id="32" name="TextBox 32"/>
            <p:cNvSpPr txBox="1"/>
            <p:nvPr/>
          </p:nvSpPr>
          <p:spPr>
            <a:xfrm>
              <a:off x="6470904" y="5223510"/>
              <a:ext cx="233842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relearns skills from scratch.</a:t>
              </a:r>
            </a:p>
          </p:txBody>
        </p:sp>
      </p:grpSp>
      <p:sp>
        <p:nvSpPr>
          <p:cNvPr id="34" name="TextBox 34"/>
          <p:cNvSpPr txBox="1"/>
          <p:nvPr/>
        </p:nvSpPr>
        <p:spPr>
          <a:xfrm>
            <a:off x="528447" y="6619399"/>
            <a:ext cx="7329650"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Approximate best-responses truncated on hand-crafted schedules leave under-trained policies in the population.</a:t>
            </a:r>
          </a:p>
        </p:txBody>
      </p:sp>
      <p:sp>
        <p:nvSpPr>
          <p:cNvPr id="35" name="cue_s02_c1_classical_population_learning_method" title="cue_s02_c1_classical_population_learning_method" descr="cue_s02_c1_classical_population_learning_method &quot;Classical population-learning methods such as Policy Space Response Oracles grow a set of strategies by repeatedly training a new policy to best-respond to a mixture over the existing ones."/>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2_c2_toy_normal_form_games_works_cleanly" title="cue_s02_c2_toy_normal_form_games_works_cleanly" descr="cue_s02_c2_toy_normal_form_games_works_cleanly In toy normal-form games this works cleanly because best-responses can be solved exactly."/>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2_c3_but_real_world_games_temporal_partia" title="cue_s02_c3_but_real_world_games_temporal_partia" descr="cue_s02_c3_but_real_world_games_temporal_partia But real-world games are temporal and partially observed, so best-responses can only be approximated with expensive deep reinforcement learning."/>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4_creates_two_failures_under_finite" title="cue_s02_c4_creates_two_failures_under_finite" descr="cue_s02_c4_creates_two_failures_under_finite This creates two failures: under a finite budget you cannot tell a truly converged best-response from one stuck at a local plateau, so iterations get truncated prematurely and pollute the population with weak policies; and every new policy relearns basic skill"/>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140190"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MOTIVATION</a:t>
            </a:r>
          </a:p>
        </p:txBody>
      </p:sp>
      <p:sp>
        <p:nvSpPr>
          <p:cNvPr id="4" name="TextBox 4"/>
          <p:cNvSpPr txBox="1"/>
          <p:nvPr/>
        </p:nvSpPr>
        <p:spPr>
          <a:xfrm>
            <a:off x="729996" y="715328"/>
            <a:ext cx="5643031"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Policies overlap — so share them</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03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3" name="Group 13"/>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2446401"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Why a population at all</a:t>
              </a:r>
            </a:p>
          </p:txBody>
        </p:sp>
        <p:sp>
          <p:nvSpPr>
            <p:cNvPr id="10" name="TextBox 10"/>
            <p:cNvSpPr txBox="1"/>
            <p:nvPr/>
          </p:nvSpPr>
          <p:spPr>
            <a:xfrm>
              <a:off x="774954" y="2213610"/>
              <a:ext cx="354747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Game theory demands it: in a cyclic game like</a:t>
              </a:r>
            </a:p>
          </p:txBody>
        </p:sp>
        <p:sp>
          <p:nvSpPr>
            <p:cNvPr id="11" name="TextBox 11"/>
            <p:cNvSpPr txBox="1"/>
            <p:nvPr/>
          </p:nvSpPr>
          <p:spPr>
            <a:xfrm>
              <a:off x="774954" y="2442210"/>
              <a:ext cx="428503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rock-paper-scissors no single policy is unbeatable, so</a:t>
              </a:r>
            </a:p>
          </p:txBody>
        </p:sp>
        <p:sp>
          <p:nvSpPr>
            <p:cNvPr id="12" name="TextBox 12"/>
            <p:cNvSpPr txBox="1"/>
            <p:nvPr/>
          </p:nvSpPr>
          <p:spPr>
            <a:xfrm>
              <a:off x="774954" y="2670810"/>
              <a:ext cx="120761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you need many.</a:t>
              </a:r>
            </a:p>
          </p:txBody>
        </p:sp>
      </p:grpSp>
      <p:grpSp>
        <p:nvGrpSpPr>
          <p:cNvPr id="20" name="Group 20"/>
          <p:cNvGrpSpPr/>
          <p:nvPr/>
        </p:nvGrpSpPr>
        <p:grpSpPr>
          <a:xfrm>
            <a:off x="6229350" y="1600200"/>
            <a:ext cx="5429250" cy="2381250"/>
            <a:chOff x="6229350" y="1600200"/>
            <a:chExt cx="5429250" cy="2381250"/>
          </a:xfrm>
        </p:grpSpPr>
        <p:sp>
          <p:nvSpPr>
            <p:cNvPr id="14" name="Rectangle 14"/>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5" name="Rectangle 15"/>
            <p:cNvSpPr/>
            <p:nvPr/>
          </p:nvSpPr>
          <p:spPr>
            <a:xfrm>
              <a:off x="6229350" y="1771650"/>
              <a:ext cx="47625" cy="285750"/>
            </a:xfrm>
            <a:prstGeom prst="roundRect">
              <a:avLst>
                <a:gd name="adj" fmla="val 50000"/>
              </a:avLst>
            </a:prstGeom>
            <a:solidFill>
              <a:srgbClr val="E0A93B"/>
            </a:solidFill>
            <a:ln>
              <a:noFill/>
            </a:ln>
          </p:spPr>
        </p:sp>
        <p:sp>
          <p:nvSpPr>
            <p:cNvPr id="16" name="TextBox 16"/>
            <p:cNvSpPr txBox="1"/>
            <p:nvPr/>
          </p:nvSpPr>
          <p:spPr>
            <a:xfrm>
              <a:off x="6468999" y="1849279"/>
              <a:ext cx="2949212"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Prior frameworks waste it</a:t>
              </a:r>
            </a:p>
          </p:txBody>
        </p:sp>
        <p:sp>
          <p:nvSpPr>
            <p:cNvPr id="17" name="TextBox 17"/>
            <p:cNvSpPr txBox="1"/>
            <p:nvPr/>
          </p:nvSpPr>
          <p:spPr>
            <a:xfrm>
              <a:off x="6470904" y="2213610"/>
              <a:ext cx="379767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They train policies one at a time and discard the</a:t>
              </a:r>
            </a:p>
          </p:txBody>
        </p:sp>
        <p:sp>
          <p:nvSpPr>
            <p:cNvPr id="18" name="TextBox 18"/>
            <p:cNvSpPr txBox="1"/>
            <p:nvPr/>
          </p:nvSpPr>
          <p:spPr>
            <a:xfrm>
              <a:off x="6470904" y="2442210"/>
              <a:ext cx="436580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knowledge shared between them, relearning perception</a:t>
              </a:r>
            </a:p>
          </p:txBody>
        </p:sp>
        <p:sp>
          <p:nvSpPr>
            <p:cNvPr id="19" name="TextBox 19"/>
            <p:cNvSpPr txBox="1"/>
            <p:nvPr/>
          </p:nvSpPr>
          <p:spPr>
            <a:xfrm>
              <a:off x="6470904" y="2670810"/>
              <a:ext cx="94914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each round.</a:t>
              </a:r>
            </a:p>
          </p:txBody>
        </p:sp>
      </p:grpSp>
      <p:grpSp>
        <p:nvGrpSpPr>
          <p:cNvPr id="27" name="Group 27"/>
          <p:cNvGrpSpPr/>
          <p:nvPr/>
        </p:nvGrpSpPr>
        <p:grpSpPr>
          <a:xfrm>
            <a:off x="533400" y="4152900"/>
            <a:ext cx="5429250" cy="2381250"/>
            <a:chOff x="533400" y="4152900"/>
            <a:chExt cx="5429250" cy="2381250"/>
          </a:xfrm>
        </p:grpSpPr>
        <p:sp>
          <p:nvSpPr>
            <p:cNvPr id="21" name="Rectangle 21"/>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2" name="Rectangle 22"/>
            <p:cNvSpPr/>
            <p:nvPr/>
          </p:nvSpPr>
          <p:spPr>
            <a:xfrm>
              <a:off x="533400" y="4324350"/>
              <a:ext cx="47625" cy="285750"/>
            </a:xfrm>
            <a:prstGeom prst="roundRect">
              <a:avLst>
                <a:gd name="adj" fmla="val 50000"/>
              </a:avLst>
            </a:prstGeom>
            <a:solidFill>
              <a:srgbClr val="2FB6A8"/>
            </a:solidFill>
            <a:ln>
              <a:noFill/>
            </a:ln>
          </p:spPr>
        </p:sp>
        <p:sp>
          <p:nvSpPr>
            <p:cNvPr id="23" name="TextBox 23"/>
            <p:cNvSpPr txBox="1"/>
            <p:nvPr/>
          </p:nvSpPr>
          <p:spPr>
            <a:xfrm>
              <a:off x="773049" y="4401979"/>
              <a:ext cx="1642228"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key insight</a:t>
              </a:r>
            </a:p>
          </p:txBody>
        </p:sp>
        <p:sp>
          <p:nvSpPr>
            <p:cNvPr id="24" name="TextBox 24"/>
            <p:cNvSpPr txBox="1"/>
            <p:nvPr/>
          </p:nvSpPr>
          <p:spPr>
            <a:xfrm>
              <a:off x="774954" y="4766310"/>
              <a:ext cx="369265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These policies overlap enormously — they share</a:t>
              </a:r>
            </a:p>
          </p:txBody>
        </p:sp>
        <p:sp>
          <p:nvSpPr>
            <p:cNvPr id="25" name="TextBox 25"/>
            <p:cNvSpPr txBox="1"/>
            <p:nvPr/>
          </p:nvSpPr>
          <p:spPr>
            <a:xfrm>
              <a:off x="774954" y="4994910"/>
              <a:ext cx="433349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perception, memory, and motor skills that need not be</a:t>
              </a:r>
            </a:p>
          </p:txBody>
        </p:sp>
        <p:sp>
          <p:nvSpPr>
            <p:cNvPr id="26" name="TextBox 26"/>
            <p:cNvSpPr txBox="1"/>
            <p:nvPr/>
          </p:nvSpPr>
          <p:spPr>
            <a:xfrm>
              <a:off x="774954" y="5223510"/>
              <a:ext cx="86029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relearned.</a:t>
              </a:r>
            </a:p>
          </p:txBody>
        </p:sp>
      </p:grpSp>
      <p:grpSp>
        <p:nvGrpSpPr>
          <p:cNvPr id="34" name="Group 34"/>
          <p:cNvGrpSpPr/>
          <p:nvPr/>
        </p:nvGrpSpPr>
        <p:grpSpPr>
          <a:xfrm>
            <a:off x="6229350" y="4152900"/>
            <a:ext cx="5429250" cy="2381250"/>
            <a:chOff x="6229350" y="4152900"/>
            <a:chExt cx="5429250" cy="2381250"/>
          </a:xfrm>
        </p:grpSpPr>
        <p:sp>
          <p:nvSpPr>
            <p:cNvPr id="28" name="Rectangle 28"/>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29" name="Rectangle 29"/>
            <p:cNvSpPr/>
            <p:nvPr/>
          </p:nvSpPr>
          <p:spPr>
            <a:xfrm>
              <a:off x="6229350" y="4324350"/>
              <a:ext cx="47625" cy="285750"/>
            </a:xfrm>
            <a:prstGeom prst="roundRect">
              <a:avLst>
                <a:gd name="adj" fmla="val 50000"/>
              </a:avLst>
            </a:prstGeom>
            <a:solidFill>
              <a:srgbClr val="49C08A"/>
            </a:solidFill>
            <a:ln>
              <a:noFill/>
            </a:ln>
          </p:spPr>
        </p:sp>
        <p:sp>
          <p:nvSpPr>
            <p:cNvPr id="30" name="TextBox 30"/>
            <p:cNvSpPr txBox="1"/>
            <p:nvPr/>
          </p:nvSpPr>
          <p:spPr>
            <a:xfrm>
              <a:off x="6468999" y="4401979"/>
              <a:ext cx="1809902"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consequence</a:t>
              </a:r>
            </a:p>
          </p:txBody>
        </p:sp>
        <p:sp>
          <p:nvSpPr>
            <p:cNvPr id="31" name="TextBox 31"/>
            <p:cNvSpPr txBox="1"/>
            <p:nvPr/>
          </p:nvSpPr>
          <p:spPr>
            <a:xfrm>
              <a:off x="6470904" y="4766310"/>
              <a:ext cx="423367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If one model held the whole population and conditioned</a:t>
              </a:r>
            </a:p>
          </p:txBody>
        </p:sp>
        <p:sp>
          <p:nvSpPr>
            <p:cNvPr id="32" name="TextBox 32"/>
            <p:cNvSpPr txBox="1"/>
            <p:nvPr/>
          </p:nvSpPr>
          <p:spPr>
            <a:xfrm>
              <a:off x="6470904" y="4994910"/>
              <a:ext cx="359846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on which opponent it faces, early skills would</a:t>
              </a:r>
            </a:p>
          </p:txBody>
        </p:sp>
        <p:sp>
          <p:nvSpPr>
            <p:cNvPr id="33" name="TextBox 33"/>
            <p:cNvSpPr txBox="1"/>
            <p:nvPr/>
          </p:nvSpPr>
          <p:spPr>
            <a:xfrm>
              <a:off x="6470904" y="5223510"/>
              <a:ext cx="153070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transfer for free.</a:t>
              </a:r>
            </a:p>
          </p:txBody>
        </p:sp>
      </p:grpSp>
      <p:sp>
        <p:nvSpPr>
          <p:cNvPr id="35" name="TextBox 35"/>
          <p:cNvSpPr txBox="1"/>
          <p:nvPr/>
        </p:nvSpPr>
        <p:spPr>
          <a:xfrm>
            <a:off x="528447" y="6619399"/>
            <a:ext cx="7735004"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Empirical successes like StarCraft leagues used ~1000 agents at enormous cost — motivating a far cheaper alternative.</a:t>
            </a:r>
          </a:p>
        </p:txBody>
      </p:sp>
      <p:sp>
        <p:nvSpPr>
          <p:cNvPr id="36" name="cue_s03_c1_need_population_strategies_rooted_ga" title="cue_s03_c1_need_population_strategies_rooted_ga" descr="cue_s03_c1_need_population_strategies_rooted_ga &quot;The need for a population of strategies is rooted in game theory: in a purely cyclic game like rock-paper-scissors a single strategy is meaningless, since improving against one opponent means losing to another."/>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2_prior_frameworks_handle_policies_one" title="cue_s03_c2_prior_frameworks_handle_policies_one" descr="cue_s03_c2_prior_frameworks_handle_policies_one Prior frameworks handle this by training policies one at a time and discarding the shared knowledge between them."/>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3_neupl_insight_these_policies_overlap" title="cue_s03_c3_neupl_insight_these_policies_overlap" descr="cue_s03_c3_neupl_insight_these_policies_overlap NeuPL's insight is that these policies overlap enormously — they share perception, memory, and motor skills — so training them independently is wasteful."/>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4_single_could_hold_whole_population" title="cue_s03_c4_single_could_hold_whole_population" descr="cue_s03_c4_single_could_hold_whole_population If a single model could hold the whole population and condition its behaviour on which opponents it faces, early skills learned against weak opponents would directly bootstrap the discovery of exploiters to much stronger ones.&quot;"/>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333409"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CONTRIBUTION</a:t>
            </a:r>
          </a:p>
        </p:txBody>
      </p:sp>
      <p:sp>
        <p:nvSpPr>
          <p:cNvPr id="4" name="TextBox 4"/>
          <p:cNvSpPr txBox="1"/>
          <p:nvPr/>
        </p:nvSpPr>
        <p:spPr>
          <a:xfrm>
            <a:off x="729996" y="715328"/>
            <a:ext cx="3533220"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Three contributions</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04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0" name="Group 10"/>
          <p:cNvGrpSpPr/>
          <p:nvPr/>
        </p:nvGrpSpPr>
        <p:grpSpPr>
          <a:xfrm>
            <a:off x="533400" y="1600200"/>
            <a:ext cx="11125200" cy="742950"/>
            <a:chOff x="533400" y="1600200"/>
            <a:chExt cx="11125200" cy="742950"/>
          </a:xfrm>
        </p:grpSpPr>
        <p:sp>
          <p:nvSpPr>
            <p:cNvPr id="7" name="Rectangle 7"/>
            <p:cNvSpPr/>
            <p:nvPr/>
          </p:nvSpPr>
          <p:spPr>
            <a:xfrm>
              <a:off x="533400" y="1600200"/>
              <a:ext cx="11125200" cy="742950"/>
            </a:xfrm>
            <a:prstGeom prst="roundRect">
              <a:avLst>
                <a:gd name="adj" fmla="val 15385"/>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430" y="1895475"/>
              <a:ext cx="9800317"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NeuPL turns population learning into one shared, conditional model — with three consequences.</a:t>
              </a:r>
            </a:p>
          </p:txBody>
        </p:sp>
      </p:grpSp>
      <p:grpSp>
        <p:nvGrpSpPr>
          <p:cNvPr id="18" name="Group 18"/>
          <p:cNvGrpSpPr/>
          <p:nvPr/>
        </p:nvGrpSpPr>
        <p:grpSpPr>
          <a:xfrm>
            <a:off x="533400" y="2571750"/>
            <a:ext cx="3314700" cy="2667000"/>
            <a:chOff x="533400" y="2571750"/>
            <a:chExt cx="3314700" cy="2667000"/>
          </a:xfrm>
        </p:grpSpPr>
        <p:sp>
          <p:nvSpPr>
            <p:cNvPr id="11" name="Rectangle 11"/>
            <p:cNvSpPr/>
            <p:nvPr/>
          </p:nvSpPr>
          <p:spPr>
            <a:xfrm>
              <a:off x="533400" y="2571750"/>
              <a:ext cx="3314700" cy="2667000"/>
            </a:xfrm>
            <a:prstGeom prst="roundRect">
              <a:avLst>
                <a:gd name="adj" fmla="val 4286"/>
              </a:avLst>
            </a:prstGeom>
            <a:solidFill>
              <a:schemeClr val="accent5"/>
            </a:solidFill>
            <a:ln w="11430">
              <a:solidFill>
                <a:srgbClr val="1E3E5A"/>
              </a:solidFill>
            </a:ln>
          </p:spPr>
        </p:sp>
        <p:sp>
          <p:nvSpPr>
            <p:cNvPr id="12" name="Rectangle 12"/>
            <p:cNvSpPr/>
            <p:nvPr/>
          </p:nvSpPr>
          <p:spPr>
            <a:xfrm>
              <a:off x="533400" y="2743200"/>
              <a:ext cx="47625" cy="285750"/>
            </a:xfrm>
            <a:prstGeom prst="roundRect">
              <a:avLst>
                <a:gd name="adj" fmla="val 50000"/>
              </a:avLst>
            </a:prstGeom>
            <a:solidFill>
              <a:srgbClr val="4C86F0"/>
            </a:solidFill>
            <a:ln>
              <a:noFill/>
            </a:ln>
          </p:spPr>
        </p:sp>
        <p:sp>
          <p:nvSpPr>
            <p:cNvPr id="13" name="TextBox 13"/>
            <p:cNvSpPr txBox="1"/>
            <p:nvPr/>
          </p:nvSpPr>
          <p:spPr>
            <a:xfrm>
              <a:off x="754761" y="2856071"/>
              <a:ext cx="2460472"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1 · One conditional model</a:t>
              </a:r>
            </a:p>
          </p:txBody>
        </p:sp>
        <p:sp>
          <p:nvSpPr>
            <p:cNvPr id="14" name="TextBox 14"/>
            <p:cNvSpPr txBox="1"/>
            <p:nvPr/>
          </p:nvSpPr>
          <p:spPr>
            <a:xfrm>
              <a:off x="755904" y="3223260"/>
              <a:ext cx="238417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single network represents a</a:t>
              </a:r>
            </a:p>
          </p:txBody>
        </p:sp>
        <p:sp>
          <p:nvSpPr>
            <p:cNvPr id="15" name="TextBox 15"/>
            <p:cNvSpPr txBox="1"/>
            <p:nvPr/>
          </p:nvSpPr>
          <p:spPr>
            <a:xfrm>
              <a:off x="755904" y="3461385"/>
              <a:ext cx="266151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whole population of policies, each</a:t>
              </a:r>
            </a:p>
          </p:txBody>
        </p:sp>
        <p:sp>
          <p:nvSpPr>
            <p:cNvPr id="16" name="TextBox 16"/>
            <p:cNvSpPr txBox="1"/>
            <p:nvPr/>
          </p:nvSpPr>
          <p:spPr>
            <a:xfrm>
              <a:off x="755904" y="3699510"/>
              <a:ext cx="284728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conditioned on a meta-game mixture</a:t>
              </a:r>
            </a:p>
          </p:txBody>
        </p:sp>
        <p:sp>
          <p:nvSpPr>
            <p:cNvPr id="17" name="TextBox 17"/>
            <p:cNvSpPr txBox="1"/>
            <p:nvPr/>
          </p:nvSpPr>
          <p:spPr>
            <a:xfrm>
              <a:off x="755904" y="3937635"/>
              <a:ext cx="130454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over opponents.</a:t>
              </a:r>
            </a:p>
          </p:txBody>
        </p:sp>
      </p:grpSp>
      <p:grpSp>
        <p:nvGrpSpPr>
          <p:cNvPr id="26" name="Group 26"/>
          <p:cNvGrpSpPr/>
          <p:nvPr/>
        </p:nvGrpSpPr>
        <p:grpSpPr>
          <a:xfrm>
            <a:off x="4438650" y="2571750"/>
            <a:ext cx="3314700" cy="2667000"/>
            <a:chOff x="4438650" y="2571750"/>
            <a:chExt cx="3314700" cy="2667000"/>
          </a:xfrm>
        </p:grpSpPr>
        <p:sp>
          <p:nvSpPr>
            <p:cNvPr id="19" name="Rectangle 19"/>
            <p:cNvSpPr/>
            <p:nvPr/>
          </p:nvSpPr>
          <p:spPr>
            <a:xfrm>
              <a:off x="4438650" y="2571750"/>
              <a:ext cx="3314700" cy="2667000"/>
            </a:xfrm>
            <a:prstGeom prst="roundRect">
              <a:avLst>
                <a:gd name="adj" fmla="val 4286"/>
              </a:avLst>
            </a:prstGeom>
            <a:solidFill>
              <a:schemeClr val="accent5"/>
            </a:solidFill>
            <a:ln w="11430">
              <a:solidFill>
                <a:srgbClr val="1E3E5A"/>
              </a:solidFill>
            </a:ln>
          </p:spPr>
        </p:sp>
        <p:sp>
          <p:nvSpPr>
            <p:cNvPr id="20" name="Rectangle 20"/>
            <p:cNvSpPr/>
            <p:nvPr/>
          </p:nvSpPr>
          <p:spPr>
            <a:xfrm>
              <a:off x="4438650" y="2743200"/>
              <a:ext cx="47625" cy="285750"/>
            </a:xfrm>
            <a:prstGeom prst="roundRect">
              <a:avLst>
                <a:gd name="adj" fmla="val 50000"/>
              </a:avLst>
            </a:prstGeom>
            <a:solidFill>
              <a:srgbClr val="2FB6A8"/>
            </a:solidFill>
            <a:ln>
              <a:noFill/>
            </a:ln>
          </p:spPr>
        </p:sp>
        <p:sp>
          <p:nvSpPr>
            <p:cNvPr id="21" name="TextBox 21"/>
            <p:cNvSpPr txBox="1"/>
            <p:nvPr/>
          </p:nvSpPr>
          <p:spPr>
            <a:xfrm>
              <a:off x="4660011" y="2856071"/>
              <a:ext cx="2450808"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2 · A unifying framework</a:t>
              </a:r>
            </a:p>
          </p:txBody>
        </p:sp>
        <p:sp>
          <p:nvSpPr>
            <p:cNvPr id="22" name="TextBox 22"/>
            <p:cNvSpPr txBox="1"/>
            <p:nvPr/>
          </p:nvSpPr>
          <p:spPr>
            <a:xfrm>
              <a:off x="4661154" y="3223260"/>
              <a:ext cx="244043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Choosing the interaction graph</a:t>
              </a:r>
            </a:p>
          </p:txBody>
        </p:sp>
        <p:sp>
          <p:nvSpPr>
            <p:cNvPr id="23" name="TextBox 23"/>
            <p:cNvSpPr txBox="1"/>
            <p:nvPr/>
          </p:nvSpPr>
          <p:spPr>
            <a:xfrm>
              <a:off x="4661154" y="3461385"/>
              <a:ext cx="239496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recovers self-play, fictitious</a:t>
              </a:r>
            </a:p>
          </p:txBody>
        </p:sp>
        <p:sp>
          <p:nvSpPr>
            <p:cNvPr id="24" name="TextBox 24"/>
            <p:cNvSpPr txBox="1"/>
            <p:nvPr/>
          </p:nvSpPr>
          <p:spPr>
            <a:xfrm>
              <a:off x="4661154" y="3699510"/>
              <a:ext cx="272445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play, and PSRO as special cases of</a:t>
              </a:r>
            </a:p>
          </p:txBody>
        </p:sp>
        <p:sp>
          <p:nvSpPr>
            <p:cNvPr id="25" name="TextBox 25"/>
            <p:cNvSpPr txBox="1"/>
            <p:nvPr/>
          </p:nvSpPr>
          <p:spPr>
            <a:xfrm>
              <a:off x="4661154" y="3937635"/>
              <a:ext cx="98145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one method.</a:t>
              </a:r>
            </a:p>
          </p:txBody>
        </p:sp>
      </p:grpSp>
      <p:grpSp>
        <p:nvGrpSpPr>
          <p:cNvPr id="34" name="Group 34"/>
          <p:cNvGrpSpPr/>
          <p:nvPr/>
        </p:nvGrpSpPr>
        <p:grpSpPr>
          <a:xfrm>
            <a:off x="8343900" y="2571750"/>
            <a:ext cx="3314700" cy="2667000"/>
            <a:chOff x="8343900" y="2571750"/>
            <a:chExt cx="3314700" cy="2667000"/>
          </a:xfrm>
        </p:grpSpPr>
        <p:sp>
          <p:nvSpPr>
            <p:cNvPr id="27" name="Rectangle 27"/>
            <p:cNvSpPr/>
            <p:nvPr/>
          </p:nvSpPr>
          <p:spPr>
            <a:xfrm>
              <a:off x="8343900" y="2571750"/>
              <a:ext cx="3314700" cy="2667000"/>
            </a:xfrm>
            <a:prstGeom prst="roundRect">
              <a:avLst>
                <a:gd name="adj" fmla="val 4286"/>
              </a:avLst>
            </a:prstGeom>
            <a:solidFill>
              <a:schemeClr val="accent5"/>
            </a:solidFill>
            <a:ln w="11430">
              <a:solidFill>
                <a:srgbClr val="1E3E5A"/>
              </a:solidFill>
            </a:ln>
          </p:spPr>
        </p:sp>
        <p:sp>
          <p:nvSpPr>
            <p:cNvPr id="28" name="Rectangle 28"/>
            <p:cNvSpPr/>
            <p:nvPr/>
          </p:nvSpPr>
          <p:spPr>
            <a:xfrm>
              <a:off x="8343900" y="2743200"/>
              <a:ext cx="47625" cy="285750"/>
            </a:xfrm>
            <a:prstGeom prst="roundRect">
              <a:avLst>
                <a:gd name="adj" fmla="val 50000"/>
              </a:avLst>
            </a:prstGeom>
            <a:solidFill>
              <a:srgbClr val="E0A93B"/>
            </a:solidFill>
            <a:ln>
              <a:noFill/>
            </a:ln>
          </p:spPr>
        </p:sp>
        <p:sp>
          <p:nvSpPr>
            <p:cNvPr id="29" name="TextBox 29"/>
            <p:cNvSpPr txBox="1"/>
            <p:nvPr/>
          </p:nvSpPr>
          <p:spPr>
            <a:xfrm>
              <a:off x="8565261" y="2856071"/>
              <a:ext cx="2741543"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3 · Convergence guarantees</a:t>
              </a:r>
            </a:p>
          </p:txBody>
        </p:sp>
        <p:sp>
          <p:nvSpPr>
            <p:cNvPr id="30" name="TextBox 30"/>
            <p:cNvSpPr txBox="1"/>
            <p:nvPr/>
          </p:nvSpPr>
          <p:spPr>
            <a:xfrm>
              <a:off x="8566404" y="3223260"/>
              <a:ext cx="251348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For grounded, lower-triangular</a:t>
              </a:r>
            </a:p>
          </p:txBody>
        </p:sp>
        <p:sp>
          <p:nvSpPr>
            <p:cNvPr id="31" name="TextBox 31"/>
            <p:cNvSpPr txBox="1"/>
            <p:nvPr/>
          </p:nvSpPr>
          <p:spPr>
            <a:xfrm>
              <a:off x="8566404" y="3461385"/>
              <a:ext cx="262112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interaction graphs and a suitable</a:t>
              </a:r>
            </a:p>
          </p:txBody>
        </p:sp>
        <p:sp>
          <p:nvSpPr>
            <p:cNvPr id="32" name="TextBox 32"/>
            <p:cNvSpPr txBox="1"/>
            <p:nvPr/>
          </p:nvSpPr>
          <p:spPr>
            <a:xfrm>
              <a:off x="8566404" y="3699510"/>
              <a:ext cx="224149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meta-solver, the population</a:t>
              </a:r>
            </a:p>
          </p:txBody>
        </p:sp>
        <p:sp>
          <p:nvSpPr>
            <p:cNvPr id="33" name="TextBox 33"/>
            <p:cNvSpPr txBox="1"/>
            <p:nvPr/>
          </p:nvSpPr>
          <p:spPr>
            <a:xfrm>
              <a:off x="8566404" y="3937635"/>
              <a:ext cx="161955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provably converges.</a:t>
              </a:r>
            </a:p>
          </p:txBody>
        </p:sp>
      </p:grpSp>
      <p:sp>
        <p:nvSpPr>
          <p:cNvPr id="35" name="TextBox 35"/>
          <p:cNvSpPr txBox="1"/>
          <p:nvPr/>
        </p:nvSpPr>
        <p:spPr>
          <a:xfrm>
            <a:off x="528447" y="6619399"/>
            <a:ext cx="5911706"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The meta-graph solver — not a hand-tuned schedule — decides the effective population size.</a:t>
            </a:r>
          </a:p>
        </p:txBody>
      </p:sp>
      <p:sp>
        <p:nvSpPr>
          <p:cNvPr id="36" name="cue_s04_c1_neupl_makes_three_contributions" title="cue_s04_c1_neupl_makes_three_contributions" descr="cue_s04_c1_neupl_makes_three_contributions &quot;NeuPL makes three contributions."/>
          <p:cNvSpPr/>
          <p:nvPr/>
        </p:nvSpPr>
        <p:spPr>
          <a:xfrm>
            <a:off x="532790" y="1599971"/>
            <a:ext cx="11125200"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2_first_single_conditional_represents" title="cue_s04_c2_first_single_conditional_represents" descr="cue_s04_c2_first_single_conditional_represents First, it is a single conditional model that represents a whole population of policies, conditioned on a meta-game mixture strategy that specifies which opponents each policy should beat."/>
          <p:cNvSpPr/>
          <p:nvPr/>
        </p:nvSpPr>
        <p:spPr>
          <a:xfrm>
            <a:off x="532790"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3_second_unifying_framework_choosing_i" title="cue_s04_c3_second_unifying_framework_choosing_i" descr="cue_s04_c3_second_unifying_framework_choosing_i Second, it is a unifying framework: by choosing the interaction graph you recover self-play, fictitious play, or PSRO-Nash as special cases, and you can even express cyclic graphs that PSRO cannot."/>
          <p:cNvSpPr/>
          <p:nvPr/>
        </p:nvSpPr>
        <p:spPr>
          <a:xfrm>
            <a:off x="4439107"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4_third_comes_convergence_guarantees_g" title="cue_s04_c4_third_comes_convergence_guarantees_g" descr="cue_s04_c4_third_comes_convergence_guarantees_g Third, it comes with convergence guarantees — for grounded, lower-triangular interaction graphs and a suitable meta-graph solver, NeuPL provably converges to an N-step best-response and, with large enough N, to a normal-form Nash equilibrium.&quot;"/>
          <p:cNvSpPr/>
          <p:nvPr/>
        </p:nvSpPr>
        <p:spPr>
          <a:xfrm>
            <a:off x="8344204"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737025"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METHOD</a:t>
            </a:r>
          </a:p>
        </p:txBody>
      </p:sp>
      <p:sp>
        <p:nvSpPr>
          <p:cNvPr id="4" name="TextBox 4"/>
          <p:cNvSpPr txBox="1"/>
          <p:nvPr/>
        </p:nvSpPr>
        <p:spPr>
          <a:xfrm>
            <a:off x="729996" y="715328"/>
            <a:ext cx="6165434"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One opponent-conditioned network</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05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24" name="Group 24"/>
          <p:cNvGrpSpPr/>
          <p:nvPr/>
        </p:nvGrpSpPr>
        <p:grpSpPr>
          <a:xfrm>
            <a:off x="533400" y="1600200"/>
            <a:ext cx="11125200" cy="1676400"/>
            <a:chOff x="533400" y="1600200"/>
            <a:chExt cx="11125200" cy="1676400"/>
          </a:xfrm>
        </p:grpSpPr>
        <p:sp>
          <p:nvSpPr>
            <p:cNvPr id="7" name="Rectangle 7"/>
            <p:cNvSpPr/>
            <p:nvPr/>
          </p:nvSpPr>
          <p:spPr>
            <a:xfrm>
              <a:off x="533400" y="1600200"/>
              <a:ext cx="11125200" cy="1676400"/>
            </a:xfrm>
            <a:prstGeom prst="roundRect">
              <a:avLst>
                <a:gd name="adj" fmla="val 6818"/>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811" y="1827371"/>
              <a:ext cx="5759733"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Policy index i + meta-strategy σ_i → one shared network Πθ</a:t>
              </a:r>
            </a:p>
          </p:txBody>
        </p:sp>
        <p:sp>
          <p:nvSpPr>
            <p:cNvPr id="10" name="Rectangle 10"/>
            <p:cNvSpPr/>
            <p:nvPr/>
          </p:nvSpPr>
          <p:spPr>
            <a:xfrm>
              <a:off x="914400" y="2305050"/>
              <a:ext cx="1428750" cy="590550"/>
            </a:xfrm>
            <a:prstGeom prst="roundRect">
              <a:avLst>
                <a:gd name="adj" fmla="val 14516"/>
              </a:avLst>
            </a:prstGeom>
            <a:solidFill>
              <a:schemeClr val="accent6"/>
            </a:solidFill>
            <a:ln w="15240">
              <a:solidFill>
                <a:srgbClr val="4C86F0"/>
              </a:solidFill>
            </a:ln>
          </p:spPr>
        </p:sp>
        <p:sp>
          <p:nvSpPr>
            <p:cNvPr id="11" name="TextBox 11"/>
            <p:cNvSpPr txBox="1"/>
            <p:nvPr/>
          </p:nvSpPr>
          <p:spPr>
            <a:xfrm>
              <a:off x="1121735" y="2526506"/>
              <a:ext cx="1014080" cy="220028"/>
            </a:xfrm>
            <a:prstGeom prst="rect">
              <a:avLst/>
            </a:prstGeom>
            <a:noFill/>
            <a:ln>
              <a:noFill/>
            </a:ln>
          </p:spPr>
          <p:txBody>
            <a:bodyPr wrap="none" lIns="0" tIns="0" rIns="0" bIns="0" anchor="t" anchorCtr="0">
              <a:spAutoFit/>
            </a:bodyPr>
            <a:lstStyle/>
            <a:p>
              <a:pPr algn="ctr"/>
              <a:r>
                <a:rPr lang="en-US" sz="1120" dirty="0">
                  <a:solidFill>
                    <a:srgbClr val="EAF2FA"/>
                  </a:solidFill>
                  <a:latin typeface="+mn-lt"/>
                  <a:ea typeface="+mn-ea"/>
                  <a:cs typeface="+mn-cs"/>
                </a:rPr>
                <a:t>observation o</a:t>
              </a:r>
            </a:p>
          </p:txBody>
        </p:sp>
        <p:sp>
          <p:nvSpPr>
            <p:cNvPr id="12" name="Line 12"/>
            <p:cNvSpPr/>
            <p:nvPr/>
          </p:nvSpPr>
          <p:spPr>
            <a:xfrm>
              <a:off x="2400300" y="2600325"/>
              <a:ext cx="438150" cy="9525"/>
            </a:xfrm>
            <a:custGeom>
              <a:avLst/>
              <a:gdLst/>
              <a:ahLst/>
              <a:cxnLst/>
              <a:rect l="l" t="t" r="r" b="b"/>
              <a:pathLst>
                <a:path w="438150" h="9525">
                  <a:moveTo>
                    <a:pt x="0" y="0"/>
                  </a:moveTo>
                  <a:lnTo>
                    <a:pt x="438150" y="0"/>
                  </a:lnTo>
                </a:path>
              </a:pathLst>
            </a:custGeom>
            <a:noFill/>
            <a:ln w="19050">
              <a:solidFill>
                <a:srgbClr val="9FB6CC"/>
              </a:solidFill>
            </a:ln>
          </p:spPr>
        </p:sp>
        <p:sp>
          <p:nvSpPr>
            <p:cNvPr id="13" name="Polygon 13"/>
            <p:cNvSpPr/>
            <p:nvPr/>
          </p:nvSpPr>
          <p:spPr>
            <a:xfrm>
              <a:off x="2838450" y="2552700"/>
              <a:ext cx="76200" cy="95250"/>
            </a:xfrm>
            <a:custGeom>
              <a:avLst/>
              <a:gdLst/>
              <a:ahLst/>
              <a:cxnLst/>
              <a:rect l="l" t="t" r="r" b="b"/>
              <a:pathLst>
                <a:path w="76200" h="95250">
                  <a:moveTo>
                    <a:pt x="0" y="0"/>
                  </a:moveTo>
                  <a:lnTo>
                    <a:pt x="0" y="95250"/>
                  </a:lnTo>
                  <a:lnTo>
                    <a:pt x="76200" y="47625"/>
                  </a:lnTo>
                  <a:close/>
                </a:path>
              </a:pathLst>
            </a:custGeom>
            <a:solidFill>
              <a:srgbClr val="9FB6CC"/>
            </a:solidFill>
            <a:ln>
              <a:noFill/>
            </a:ln>
          </p:spPr>
        </p:sp>
        <p:sp>
          <p:nvSpPr>
            <p:cNvPr id="14" name="Rectangle 14"/>
            <p:cNvSpPr/>
            <p:nvPr/>
          </p:nvSpPr>
          <p:spPr>
            <a:xfrm>
              <a:off x="2895600" y="2305050"/>
              <a:ext cx="1428750" cy="590550"/>
            </a:xfrm>
            <a:prstGeom prst="roundRect">
              <a:avLst>
                <a:gd name="adj" fmla="val 14516"/>
              </a:avLst>
            </a:prstGeom>
            <a:solidFill>
              <a:schemeClr val="accent6"/>
            </a:solidFill>
            <a:ln w="15240">
              <a:solidFill>
                <a:srgbClr val="E0A93B"/>
              </a:solidFill>
            </a:ln>
          </p:spPr>
        </p:sp>
        <p:sp>
          <p:nvSpPr>
            <p:cNvPr id="15" name="TextBox 15"/>
            <p:cNvSpPr txBox="1"/>
            <p:nvPr/>
          </p:nvSpPr>
          <p:spPr>
            <a:xfrm>
              <a:off x="2922006" y="2526506"/>
              <a:ext cx="1375938" cy="220028"/>
            </a:xfrm>
            <a:prstGeom prst="rect">
              <a:avLst/>
            </a:prstGeom>
            <a:noFill/>
            <a:ln>
              <a:noFill/>
            </a:ln>
          </p:spPr>
          <p:txBody>
            <a:bodyPr wrap="none" lIns="0" tIns="0" rIns="0" bIns="0" anchor="t" anchorCtr="0">
              <a:spAutoFit/>
            </a:bodyPr>
            <a:lstStyle/>
            <a:p>
              <a:pPr algn="ctr"/>
              <a:r>
                <a:rPr lang="en-US" sz="1120" dirty="0">
                  <a:solidFill>
                    <a:srgbClr val="EAF2FA"/>
                  </a:solidFill>
                  <a:latin typeface="+mn-lt"/>
                  <a:ea typeface="+mn-ea"/>
                  <a:cs typeface="+mn-cs"/>
                </a:rPr>
                <a:t>meta-strategy σ_i</a:t>
              </a:r>
            </a:p>
          </p:txBody>
        </p:sp>
        <p:sp>
          <p:nvSpPr>
            <p:cNvPr id="16" name="Line 16"/>
            <p:cNvSpPr/>
            <p:nvPr/>
          </p:nvSpPr>
          <p:spPr>
            <a:xfrm>
              <a:off x="4381500" y="2600325"/>
              <a:ext cx="438150" cy="9525"/>
            </a:xfrm>
            <a:custGeom>
              <a:avLst/>
              <a:gdLst/>
              <a:ahLst/>
              <a:cxnLst/>
              <a:rect l="l" t="t" r="r" b="b"/>
              <a:pathLst>
                <a:path w="438150" h="9525">
                  <a:moveTo>
                    <a:pt x="0" y="0"/>
                  </a:moveTo>
                  <a:lnTo>
                    <a:pt x="438150" y="0"/>
                  </a:lnTo>
                </a:path>
              </a:pathLst>
            </a:custGeom>
            <a:noFill/>
            <a:ln w="19050">
              <a:solidFill>
                <a:srgbClr val="9FB6CC"/>
              </a:solidFill>
            </a:ln>
          </p:spPr>
        </p:sp>
        <p:sp>
          <p:nvSpPr>
            <p:cNvPr id="17" name="Polygon 17"/>
            <p:cNvSpPr/>
            <p:nvPr/>
          </p:nvSpPr>
          <p:spPr>
            <a:xfrm>
              <a:off x="4819650" y="2552700"/>
              <a:ext cx="76200" cy="95250"/>
            </a:xfrm>
            <a:custGeom>
              <a:avLst/>
              <a:gdLst/>
              <a:ahLst/>
              <a:cxnLst/>
              <a:rect l="l" t="t" r="r" b="b"/>
              <a:pathLst>
                <a:path w="76200" h="95250">
                  <a:moveTo>
                    <a:pt x="0" y="0"/>
                  </a:moveTo>
                  <a:lnTo>
                    <a:pt x="0" y="95250"/>
                  </a:lnTo>
                  <a:lnTo>
                    <a:pt x="76200" y="47625"/>
                  </a:lnTo>
                  <a:close/>
                </a:path>
              </a:pathLst>
            </a:custGeom>
            <a:solidFill>
              <a:srgbClr val="9FB6CC"/>
            </a:solidFill>
            <a:ln>
              <a:noFill/>
            </a:ln>
          </p:spPr>
        </p:sp>
        <p:sp>
          <p:nvSpPr>
            <p:cNvPr id="18" name="Rectangle 18"/>
            <p:cNvSpPr/>
            <p:nvPr/>
          </p:nvSpPr>
          <p:spPr>
            <a:xfrm>
              <a:off x="4876800" y="2305050"/>
              <a:ext cx="1428750" cy="590550"/>
            </a:xfrm>
            <a:prstGeom prst="roundRect">
              <a:avLst>
                <a:gd name="adj" fmla="val 14516"/>
              </a:avLst>
            </a:prstGeom>
            <a:solidFill>
              <a:schemeClr val="accent6"/>
            </a:solidFill>
            <a:ln w="15240">
              <a:solidFill>
                <a:srgbClr val="2FB6A8"/>
              </a:solidFill>
            </a:ln>
          </p:spPr>
        </p:sp>
        <p:sp>
          <p:nvSpPr>
            <p:cNvPr id="19" name="TextBox 19"/>
            <p:cNvSpPr txBox="1"/>
            <p:nvPr/>
          </p:nvSpPr>
          <p:spPr>
            <a:xfrm>
              <a:off x="5081555" y="2526506"/>
              <a:ext cx="1019239" cy="220028"/>
            </a:xfrm>
            <a:prstGeom prst="rect">
              <a:avLst/>
            </a:prstGeom>
            <a:noFill/>
            <a:ln>
              <a:noFill/>
            </a:ln>
          </p:spPr>
          <p:txBody>
            <a:bodyPr wrap="none" lIns="0" tIns="0" rIns="0" bIns="0" anchor="t" anchorCtr="0">
              <a:spAutoFit/>
            </a:bodyPr>
            <a:lstStyle/>
            <a:p>
              <a:pPr algn="ctr"/>
              <a:r>
                <a:rPr lang="en-US" sz="1120" dirty="0">
                  <a:solidFill>
                    <a:srgbClr val="EAF2FA"/>
                  </a:solidFill>
                  <a:latin typeface="+mn-lt"/>
                  <a:ea typeface="+mn-ea"/>
                  <a:cs typeface="+mn-cs"/>
                </a:rPr>
                <a:t>shared net Πθ</a:t>
              </a:r>
            </a:p>
          </p:txBody>
        </p:sp>
        <p:sp>
          <p:nvSpPr>
            <p:cNvPr id="20" name="Line 20"/>
            <p:cNvSpPr/>
            <p:nvPr/>
          </p:nvSpPr>
          <p:spPr>
            <a:xfrm>
              <a:off x="6362700" y="2600325"/>
              <a:ext cx="438150" cy="9525"/>
            </a:xfrm>
            <a:custGeom>
              <a:avLst/>
              <a:gdLst/>
              <a:ahLst/>
              <a:cxnLst/>
              <a:rect l="l" t="t" r="r" b="b"/>
              <a:pathLst>
                <a:path w="438150" h="9525">
                  <a:moveTo>
                    <a:pt x="0" y="0"/>
                  </a:moveTo>
                  <a:lnTo>
                    <a:pt x="438150" y="0"/>
                  </a:lnTo>
                </a:path>
              </a:pathLst>
            </a:custGeom>
            <a:noFill/>
            <a:ln w="19050">
              <a:solidFill>
                <a:srgbClr val="9FB6CC"/>
              </a:solidFill>
            </a:ln>
          </p:spPr>
        </p:sp>
        <p:sp>
          <p:nvSpPr>
            <p:cNvPr id="21" name="Polygon 21"/>
            <p:cNvSpPr/>
            <p:nvPr/>
          </p:nvSpPr>
          <p:spPr>
            <a:xfrm>
              <a:off x="6800850" y="2552700"/>
              <a:ext cx="76200" cy="95250"/>
            </a:xfrm>
            <a:custGeom>
              <a:avLst/>
              <a:gdLst/>
              <a:ahLst/>
              <a:cxnLst/>
              <a:rect l="l" t="t" r="r" b="b"/>
              <a:pathLst>
                <a:path w="76200" h="95250">
                  <a:moveTo>
                    <a:pt x="0" y="0"/>
                  </a:moveTo>
                  <a:lnTo>
                    <a:pt x="0" y="95250"/>
                  </a:lnTo>
                  <a:lnTo>
                    <a:pt x="76200" y="47625"/>
                  </a:lnTo>
                  <a:close/>
                </a:path>
              </a:pathLst>
            </a:custGeom>
            <a:solidFill>
              <a:srgbClr val="9FB6CC"/>
            </a:solidFill>
            <a:ln>
              <a:noFill/>
            </a:ln>
          </p:spPr>
        </p:sp>
        <p:sp>
          <p:nvSpPr>
            <p:cNvPr id="22" name="Rectangle 22"/>
            <p:cNvSpPr/>
            <p:nvPr/>
          </p:nvSpPr>
          <p:spPr>
            <a:xfrm>
              <a:off x="6858000" y="2305050"/>
              <a:ext cx="1428750" cy="590550"/>
            </a:xfrm>
            <a:prstGeom prst="roundRect">
              <a:avLst>
                <a:gd name="adj" fmla="val 14516"/>
              </a:avLst>
            </a:prstGeom>
            <a:solidFill>
              <a:schemeClr val="accent6"/>
            </a:solidFill>
            <a:ln w="15240">
              <a:solidFill>
                <a:srgbClr val="49C08A"/>
              </a:solidFill>
            </a:ln>
          </p:spPr>
        </p:sp>
        <p:sp>
          <p:nvSpPr>
            <p:cNvPr id="23" name="TextBox 23"/>
            <p:cNvSpPr txBox="1"/>
            <p:nvPr/>
          </p:nvSpPr>
          <p:spPr>
            <a:xfrm>
              <a:off x="7231187" y="2526506"/>
              <a:ext cx="682376" cy="220028"/>
            </a:xfrm>
            <a:prstGeom prst="rect">
              <a:avLst/>
            </a:prstGeom>
            <a:noFill/>
            <a:ln>
              <a:noFill/>
            </a:ln>
          </p:spPr>
          <p:txBody>
            <a:bodyPr wrap="none" lIns="0" tIns="0" rIns="0" bIns="0" anchor="t" anchorCtr="0">
              <a:spAutoFit/>
            </a:bodyPr>
            <a:lstStyle/>
            <a:p>
              <a:pPr algn="ctr"/>
              <a:r>
                <a:rPr lang="en-US" sz="1120" dirty="0">
                  <a:solidFill>
                    <a:srgbClr val="EAF2FA"/>
                  </a:solidFill>
                  <a:latin typeface="+mn-lt"/>
                  <a:ea typeface="+mn-ea"/>
                  <a:cs typeface="+mn-cs"/>
                </a:rPr>
                <a:t>action aᵢ</a:t>
              </a:r>
            </a:p>
          </p:txBody>
        </p:sp>
      </p:grpSp>
      <p:grpSp>
        <p:nvGrpSpPr>
          <p:cNvPr id="32" name="Group 32"/>
          <p:cNvGrpSpPr/>
          <p:nvPr/>
        </p:nvGrpSpPr>
        <p:grpSpPr>
          <a:xfrm>
            <a:off x="533400" y="3448050"/>
            <a:ext cx="5429250" cy="1676400"/>
            <a:chOff x="533400" y="3448050"/>
            <a:chExt cx="5429250" cy="1676400"/>
          </a:xfrm>
        </p:grpSpPr>
        <p:sp>
          <p:nvSpPr>
            <p:cNvPr id="25" name="Rectangle 25"/>
            <p:cNvSpPr/>
            <p:nvPr/>
          </p:nvSpPr>
          <p:spPr>
            <a:xfrm>
              <a:off x="533400" y="3448050"/>
              <a:ext cx="5429250" cy="1676400"/>
            </a:xfrm>
            <a:prstGeom prst="roundRect">
              <a:avLst>
                <a:gd name="adj" fmla="val 6818"/>
              </a:avLst>
            </a:prstGeom>
            <a:solidFill>
              <a:schemeClr val="accent5"/>
            </a:solidFill>
            <a:ln w="11430">
              <a:solidFill>
                <a:srgbClr val="1E3E5A"/>
              </a:solidFill>
            </a:ln>
          </p:spPr>
        </p:sp>
        <p:sp>
          <p:nvSpPr>
            <p:cNvPr id="26" name="Rectangle 26"/>
            <p:cNvSpPr/>
            <p:nvPr/>
          </p:nvSpPr>
          <p:spPr>
            <a:xfrm>
              <a:off x="533400" y="3619500"/>
              <a:ext cx="47625" cy="285750"/>
            </a:xfrm>
            <a:prstGeom prst="roundRect">
              <a:avLst>
                <a:gd name="adj" fmla="val 50000"/>
              </a:avLst>
            </a:prstGeom>
            <a:solidFill>
              <a:srgbClr val="4C86F0"/>
            </a:solidFill>
            <a:ln>
              <a:noFill/>
            </a:ln>
          </p:spPr>
        </p:sp>
        <p:sp>
          <p:nvSpPr>
            <p:cNvPr id="27" name="TextBox 27"/>
            <p:cNvSpPr txBox="1"/>
            <p:nvPr/>
          </p:nvSpPr>
          <p:spPr>
            <a:xfrm>
              <a:off x="774192" y="3683318"/>
              <a:ext cx="4666539"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Objective: discounted return, double expectation</a:t>
              </a:r>
            </a:p>
          </p:txBody>
        </p:sp>
        <p:sp>
          <p:nvSpPr>
            <p:cNvPr id="28" name="Rectangle 28"/>
            <p:cNvSpPr/>
            <p:nvPr/>
          </p:nvSpPr>
          <p:spPr>
            <a:xfrm>
              <a:off x="762000" y="4000500"/>
              <a:ext cx="4972050" cy="495300"/>
            </a:xfrm>
            <a:prstGeom prst="roundRect">
              <a:avLst>
                <a:gd name="adj" fmla="val 15385"/>
              </a:avLst>
            </a:prstGeom>
            <a:solidFill>
              <a:schemeClr val="accent6"/>
            </a:solidFill>
            <a:ln w="9525">
              <a:solidFill>
                <a:srgbClr val="1E3E5A"/>
              </a:solidFill>
            </a:ln>
          </p:spPr>
        </p:sp>
        <p:sp>
          <p:nvSpPr>
            <p:cNvPr id="29" name="TextBox 29"/>
            <p:cNvSpPr txBox="1"/>
            <p:nvPr/>
          </p:nvSpPr>
          <p:spPr>
            <a:xfrm>
              <a:off x="907161" y="4151471"/>
              <a:ext cx="3784786" cy="278702"/>
            </a:xfrm>
            <a:prstGeom prst="rect">
              <a:avLst/>
            </a:prstGeom>
            <a:noFill/>
            <a:ln>
              <a:noFill/>
            </a:ln>
          </p:spPr>
          <p:txBody>
            <a:bodyPr wrap="none" lIns="0" tIns="0" rIns="0" bIns="0" anchor="t" anchorCtr="0">
              <a:spAutoFit/>
            </a:bodyPr>
            <a:lstStyle/>
            <a:p>
              <a:pPr algn="l"/>
              <a:r>
                <a:rPr lang="en-US" sz="1420" dirty="0">
                  <a:solidFill>
                    <a:srgbClr val="2FB6A8"/>
                  </a:solidFill>
                  <a:latin typeface="Consolas"/>
                  <a:ea typeface="Consolas"/>
                  <a:cs typeface="Consolas"/>
                </a:rPr>
                <a:t>max_θ E_{j~σ_i} E_{τ} [ sum_t γ^t r_t ]</a:t>
              </a:r>
            </a:p>
          </p:txBody>
        </p:sp>
        <p:sp>
          <p:nvSpPr>
            <p:cNvPr id="30" name="TextBox 30"/>
            <p:cNvSpPr txBox="1"/>
            <p:nvPr/>
          </p:nvSpPr>
          <p:spPr>
            <a:xfrm>
              <a:off x="775335" y="4641056"/>
              <a:ext cx="3612619"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First over the sampled opponent j, then over the</a:t>
              </a:r>
            </a:p>
          </p:txBody>
        </p:sp>
        <p:sp>
          <p:nvSpPr>
            <p:cNvPr id="31" name="TextBox 31"/>
            <p:cNvSpPr txBox="1"/>
            <p:nvPr/>
          </p:nvSpPr>
          <p:spPr>
            <a:xfrm>
              <a:off x="775335" y="4850606"/>
              <a:ext cx="1979036"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trajectory τ that unfolds.</a:t>
              </a:r>
            </a:p>
          </p:txBody>
        </p:sp>
      </p:grpSp>
      <p:grpSp>
        <p:nvGrpSpPr>
          <p:cNvPr id="39" name="Group 39"/>
          <p:cNvGrpSpPr/>
          <p:nvPr/>
        </p:nvGrpSpPr>
        <p:grpSpPr>
          <a:xfrm>
            <a:off x="6229350" y="3448050"/>
            <a:ext cx="5429250" cy="1676400"/>
            <a:chOff x="6229350" y="3448050"/>
            <a:chExt cx="5429250" cy="1676400"/>
          </a:xfrm>
        </p:grpSpPr>
        <p:sp>
          <p:nvSpPr>
            <p:cNvPr id="33" name="Rectangle 33"/>
            <p:cNvSpPr/>
            <p:nvPr/>
          </p:nvSpPr>
          <p:spPr>
            <a:xfrm>
              <a:off x="6229350" y="3448050"/>
              <a:ext cx="5429250" cy="1676400"/>
            </a:xfrm>
            <a:prstGeom prst="roundRect">
              <a:avLst>
                <a:gd name="adj" fmla="val 6818"/>
              </a:avLst>
            </a:prstGeom>
            <a:solidFill>
              <a:schemeClr val="accent5"/>
            </a:solidFill>
            <a:ln w="11430">
              <a:solidFill>
                <a:srgbClr val="1E3E5A"/>
              </a:solidFill>
            </a:ln>
          </p:spPr>
        </p:sp>
        <p:sp>
          <p:nvSpPr>
            <p:cNvPr id="34" name="Rectangle 34"/>
            <p:cNvSpPr/>
            <p:nvPr/>
          </p:nvSpPr>
          <p:spPr>
            <a:xfrm>
              <a:off x="6229350" y="3619500"/>
              <a:ext cx="47625" cy="285750"/>
            </a:xfrm>
            <a:prstGeom prst="roundRect">
              <a:avLst>
                <a:gd name="adj" fmla="val 50000"/>
              </a:avLst>
            </a:prstGeom>
            <a:solidFill>
              <a:srgbClr val="49C08A"/>
            </a:solidFill>
            <a:ln>
              <a:noFill/>
            </a:ln>
          </p:spPr>
        </p:sp>
        <p:sp>
          <p:nvSpPr>
            <p:cNvPr id="35" name="TextBox 35"/>
            <p:cNvSpPr txBox="1"/>
            <p:nvPr/>
          </p:nvSpPr>
          <p:spPr>
            <a:xfrm>
              <a:off x="6468999" y="3697129"/>
              <a:ext cx="1467409"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Trained by RL</a:t>
              </a:r>
            </a:p>
          </p:txBody>
        </p:sp>
        <p:sp>
          <p:nvSpPr>
            <p:cNvPr id="36" name="TextBox 36"/>
            <p:cNvSpPr txBox="1"/>
            <p:nvPr/>
          </p:nvSpPr>
          <p:spPr>
            <a:xfrm>
              <a:off x="6470904" y="4061460"/>
              <a:ext cx="353296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NeuPL jointly trains an opponent-conditioned</a:t>
              </a:r>
            </a:p>
          </p:txBody>
        </p:sp>
        <p:sp>
          <p:nvSpPr>
            <p:cNvPr id="37" name="TextBox 37"/>
            <p:cNvSpPr txBox="1"/>
            <p:nvPr/>
          </p:nvSpPr>
          <p:spPr>
            <a:xfrm>
              <a:off x="6470904" y="4290060"/>
              <a:ext cx="395164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action-value function Qθ(o,a|σ_i) to optimize the</a:t>
              </a:r>
            </a:p>
          </p:txBody>
        </p:sp>
        <p:sp>
          <p:nvSpPr>
            <p:cNvPr id="38" name="TextBox 38"/>
            <p:cNvSpPr txBox="1"/>
            <p:nvPr/>
          </p:nvSpPr>
          <p:spPr>
            <a:xfrm>
              <a:off x="6470904" y="4518660"/>
              <a:ext cx="175686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objective end-to-end.</a:t>
              </a:r>
            </a:p>
          </p:txBody>
        </p:sp>
      </p:grpSp>
      <p:grpSp>
        <p:nvGrpSpPr>
          <p:cNvPr id="45" name="Group 45"/>
          <p:cNvGrpSpPr/>
          <p:nvPr/>
        </p:nvGrpSpPr>
        <p:grpSpPr>
          <a:xfrm>
            <a:off x="533400" y="5295900"/>
            <a:ext cx="11125200" cy="1219200"/>
            <a:chOff x="533400" y="5295900"/>
            <a:chExt cx="11125200" cy="1219200"/>
          </a:xfrm>
        </p:grpSpPr>
        <p:sp>
          <p:nvSpPr>
            <p:cNvPr id="40" name="Rectangle 40"/>
            <p:cNvSpPr/>
            <p:nvPr/>
          </p:nvSpPr>
          <p:spPr>
            <a:xfrm>
              <a:off x="533400" y="5295900"/>
              <a:ext cx="11125200" cy="1219200"/>
            </a:xfrm>
            <a:prstGeom prst="roundRect">
              <a:avLst>
                <a:gd name="adj" fmla="val 9375"/>
              </a:avLst>
            </a:prstGeom>
            <a:solidFill>
              <a:schemeClr val="accent6"/>
            </a:solidFill>
            <a:ln w="11430">
              <a:solidFill>
                <a:srgbClr val="1E3E5A"/>
              </a:solidFill>
            </a:ln>
          </p:spPr>
        </p:sp>
        <p:sp>
          <p:nvSpPr>
            <p:cNvPr id="41" name="Rectangle 41"/>
            <p:cNvSpPr/>
            <p:nvPr/>
          </p:nvSpPr>
          <p:spPr>
            <a:xfrm>
              <a:off x="533400" y="5467350"/>
              <a:ext cx="47625" cy="285750"/>
            </a:xfrm>
            <a:prstGeom prst="roundRect">
              <a:avLst>
                <a:gd name="adj" fmla="val 50000"/>
              </a:avLst>
            </a:prstGeom>
            <a:solidFill>
              <a:srgbClr val="E0A93B"/>
            </a:solidFill>
            <a:ln>
              <a:noFill/>
            </a:ln>
          </p:spPr>
        </p:sp>
        <p:sp>
          <p:nvSpPr>
            <p:cNvPr id="42" name="TextBox 42"/>
            <p:cNvSpPr txBox="1"/>
            <p:nvPr/>
          </p:nvSpPr>
          <p:spPr>
            <a:xfrm>
              <a:off x="774192" y="5531168"/>
              <a:ext cx="4444111"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The interaction graph Σ assigns who plays whom</a:t>
              </a:r>
            </a:p>
          </p:txBody>
        </p:sp>
        <p:sp>
          <p:nvSpPr>
            <p:cNvPr id="43" name="TextBox 43"/>
            <p:cNvSpPr txBox="1"/>
            <p:nvPr/>
          </p:nvSpPr>
          <p:spPr>
            <a:xfrm>
              <a:off x="774954" y="5833110"/>
              <a:ext cx="968332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fixed matrix reproduces fictitious play; an adaptive graph Σ←F(U) from a meta-solver (e.g. FPSRO-N) reproduces PSRO</a:t>
              </a:r>
            </a:p>
          </p:txBody>
        </p:sp>
        <p:sp>
          <p:nvSpPr>
            <p:cNvPr id="44" name="TextBox 44"/>
            <p:cNvSpPr txBox="1"/>
            <p:nvPr/>
          </p:nvSpPr>
          <p:spPr>
            <a:xfrm>
              <a:off x="774954" y="6061710"/>
              <a:ext cx="194264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 all inside one network.</a:t>
              </a:r>
            </a:p>
          </p:txBody>
        </p:sp>
      </p:grpSp>
      <p:sp>
        <p:nvSpPr>
          <p:cNvPr id="46" name="cue_s05_c1_concretely_neupl_trains_one_opponent" title="cue_s05_c1_concretely_neupl_trains_one_opponent" descr="cue_s05_c1_concretely_neupl_trains_one_opponent &quot;Concretely, NeuPL trains one opponent-conditioned network. Each policy index i is paired with a meta-strategy vector sigma-i that says, as a probability distribution, which other policies it should play against."/>
          <p:cNvSpPr/>
          <p:nvPr/>
        </p:nvSpPr>
        <p:spPr>
          <a:xfrm>
            <a:off x="532790" y="1599971"/>
            <a:ext cx="111252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network_maximizes_discounted_return" title="cue_s05_c2_network_maximizes_discounted_return" descr="cue_s05_c2_network_maximizes_discounted_return The network maximizes discounted return under a double expectation — first over the sampled opponent, then over the game dynamics induced by both policies."/>
          <p:cNvSpPr/>
          <p:nvPr/>
        </p:nvSpPr>
        <p:spPr>
          <a:xfrm>
            <a:off x="532790" y="3448202"/>
            <a:ext cx="5429097"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optimize_reinforcement_learning_neup" title="cue_s05_c3_optimize_reinforcement_learning_neup" descr="cue_s05_c3_optimize_reinforcement_learning_neup To optimize this by reinforcement learning, NeuPL jointly trains an opponent-conditioned action-value function, and additionally learns a payoff estimator that predicts the expected outcome of any policy pairing directly from the value function, so the full pa"/>
          <p:cNvSpPr/>
          <p:nvPr/>
        </p:nvSpPr>
        <p:spPr>
          <a:xfrm>
            <a:off x="6228892" y="3448202"/>
            <a:ext cx="5429097"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interaction_graph_assigns_opponents" title="cue_s05_c4_interaction_graph_assigns_opponents" descr="cue_s05_c4_interaction_graph_assigns_opponents The interaction graph that assigns opponents can be a fixed matrix — reproducing fictitious play — or adaptive, recomputed from the learned payoffs by a meta-graph solver, reproducing PSRO-Nash. Because the graph, not a handcrafted schedule, controls which obj"/>
          <p:cNvSpPr/>
          <p:nvPr/>
        </p:nvSpPr>
        <p:spPr>
          <a:xfrm>
            <a:off x="532790" y="5295747"/>
            <a:ext cx="111252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2093312"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DATASET / BENCHMARK</a:t>
            </a:r>
          </a:p>
        </p:txBody>
      </p:sp>
      <p:sp>
        <p:nvSpPr>
          <p:cNvPr id="4" name="TextBox 4"/>
          <p:cNvSpPr txBox="1"/>
          <p:nvPr/>
        </p:nvSpPr>
        <p:spPr>
          <a:xfrm>
            <a:off x="729996" y="715328"/>
            <a:ext cx="5642159"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Three domains, rising difficulty</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06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0" name="Group 10"/>
          <p:cNvGrpSpPr/>
          <p:nvPr/>
        </p:nvGrpSpPr>
        <p:grpSpPr>
          <a:xfrm>
            <a:off x="533400" y="1600200"/>
            <a:ext cx="11125200" cy="685800"/>
            <a:chOff x="533400" y="1600200"/>
            <a:chExt cx="11125200" cy="685800"/>
          </a:xfrm>
        </p:grpSpPr>
        <p:sp>
          <p:nvSpPr>
            <p:cNvPr id="7" name="Rectangle 7"/>
            <p:cNvSpPr/>
            <p:nvPr/>
          </p:nvSpPr>
          <p:spPr>
            <a:xfrm>
              <a:off x="533400" y="1600200"/>
              <a:ext cx="11125200" cy="685800"/>
            </a:xfrm>
            <a:prstGeom prst="roundRect">
              <a:avLst>
                <a:gd name="adj" fmla="val 16667"/>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430" y="1857375"/>
              <a:ext cx="8379629"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NeuPL is validated across three domains chosen to span the difficulty spectrum.</a:t>
              </a:r>
            </a:p>
          </p:txBody>
        </p:sp>
      </p:grpSp>
      <p:grpSp>
        <p:nvGrpSpPr>
          <p:cNvPr id="19" name="Group 19"/>
          <p:cNvGrpSpPr/>
          <p:nvPr/>
        </p:nvGrpSpPr>
        <p:grpSpPr>
          <a:xfrm>
            <a:off x="533400" y="2495550"/>
            <a:ext cx="3314700" cy="2857500"/>
            <a:chOff x="533400" y="2495550"/>
            <a:chExt cx="3314700" cy="2857500"/>
          </a:xfrm>
        </p:grpSpPr>
        <p:sp>
          <p:nvSpPr>
            <p:cNvPr id="11" name="Rectangle 11"/>
            <p:cNvSpPr/>
            <p:nvPr/>
          </p:nvSpPr>
          <p:spPr>
            <a:xfrm>
              <a:off x="533400" y="2495550"/>
              <a:ext cx="3314700" cy="2857500"/>
            </a:xfrm>
            <a:prstGeom prst="roundRect">
              <a:avLst>
                <a:gd name="adj" fmla="val 4000"/>
              </a:avLst>
            </a:prstGeom>
            <a:solidFill>
              <a:schemeClr val="accent5"/>
            </a:solidFill>
            <a:ln w="11430">
              <a:solidFill>
                <a:srgbClr val="1E3E5A"/>
              </a:solidFill>
            </a:ln>
          </p:spPr>
        </p:sp>
        <p:sp>
          <p:nvSpPr>
            <p:cNvPr id="12" name="Rectangle 12"/>
            <p:cNvSpPr/>
            <p:nvPr/>
          </p:nvSpPr>
          <p:spPr>
            <a:xfrm>
              <a:off x="533400" y="2667000"/>
              <a:ext cx="47625" cy="285750"/>
            </a:xfrm>
            <a:prstGeom prst="roundRect">
              <a:avLst>
                <a:gd name="adj" fmla="val 50000"/>
              </a:avLst>
            </a:prstGeom>
            <a:solidFill>
              <a:srgbClr val="4C86F0"/>
            </a:solidFill>
            <a:ln>
              <a:noFill/>
            </a:ln>
          </p:spPr>
        </p:sp>
        <p:sp>
          <p:nvSpPr>
            <p:cNvPr id="13" name="TextBox 13"/>
            <p:cNvSpPr txBox="1"/>
            <p:nvPr/>
          </p:nvSpPr>
          <p:spPr>
            <a:xfrm>
              <a:off x="750570" y="2671762"/>
              <a:ext cx="197782" cy="440055"/>
            </a:xfrm>
            <a:prstGeom prst="rect">
              <a:avLst/>
            </a:prstGeom>
            <a:noFill/>
            <a:ln>
              <a:noFill/>
            </a:ln>
          </p:spPr>
          <p:txBody>
            <a:bodyPr wrap="none" lIns="0" tIns="0" rIns="0" bIns="0" anchor="t" anchorCtr="0">
              <a:spAutoFit/>
            </a:bodyPr>
            <a:lstStyle/>
            <a:p>
              <a:pPr algn="l"/>
              <a:r>
                <a:rPr lang="en-US" sz="2250" b="1" dirty="0">
                  <a:solidFill>
                    <a:srgbClr val="4C86F0"/>
                  </a:solidFill>
                  <a:latin typeface="+mn-lt"/>
                  <a:ea typeface="+mn-ea"/>
                  <a:cs typeface="+mn-cs"/>
                </a:rPr>
                <a:t>1</a:t>
              </a:r>
            </a:p>
          </p:txBody>
        </p:sp>
        <p:sp>
          <p:nvSpPr>
            <p:cNvPr id="14" name="TextBox 14"/>
            <p:cNvSpPr txBox="1"/>
            <p:nvPr/>
          </p:nvSpPr>
          <p:spPr>
            <a:xfrm>
              <a:off x="754761" y="3141821"/>
              <a:ext cx="2068623"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Rock-paper-scissors</a:t>
              </a:r>
            </a:p>
          </p:txBody>
        </p:sp>
        <p:sp>
          <p:nvSpPr>
            <p:cNvPr id="15" name="TextBox 15"/>
            <p:cNvSpPr txBox="1"/>
            <p:nvPr/>
          </p:nvSpPr>
          <p:spPr>
            <a:xfrm>
              <a:off x="755904" y="3528060"/>
              <a:ext cx="191521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The classic purely cyclic</a:t>
              </a:r>
            </a:p>
          </p:txBody>
        </p:sp>
        <p:sp>
          <p:nvSpPr>
            <p:cNvPr id="16" name="TextBox 16"/>
            <p:cNvSpPr txBox="1"/>
            <p:nvPr/>
          </p:nvSpPr>
          <p:spPr>
            <a:xfrm>
              <a:off x="755904" y="3766185"/>
              <a:ext cx="248964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normal-form game. The learned</a:t>
              </a:r>
            </a:p>
          </p:txBody>
        </p:sp>
        <p:sp>
          <p:nvSpPr>
            <p:cNvPr id="17" name="TextBox 17"/>
            <p:cNvSpPr txBox="1"/>
            <p:nvPr/>
          </p:nvSpPr>
          <p:spPr>
            <a:xfrm>
              <a:off x="755904" y="4004310"/>
              <a:ext cx="203956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population can be directly</a:t>
              </a:r>
            </a:p>
          </p:txBody>
        </p:sp>
        <p:sp>
          <p:nvSpPr>
            <p:cNvPr id="18" name="TextBox 18"/>
            <p:cNvSpPr txBox="1"/>
            <p:nvPr/>
          </p:nvSpPr>
          <p:spPr>
            <a:xfrm>
              <a:off x="755904" y="4242435"/>
              <a:ext cx="230611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visualized in strategy space.</a:t>
              </a:r>
            </a:p>
          </p:txBody>
        </p:sp>
      </p:grpSp>
      <p:grpSp>
        <p:nvGrpSpPr>
          <p:cNvPr id="28" name="Group 28"/>
          <p:cNvGrpSpPr/>
          <p:nvPr/>
        </p:nvGrpSpPr>
        <p:grpSpPr>
          <a:xfrm>
            <a:off x="4438650" y="2495550"/>
            <a:ext cx="3314700" cy="2857500"/>
            <a:chOff x="4438650" y="2495550"/>
            <a:chExt cx="3314700" cy="2857500"/>
          </a:xfrm>
        </p:grpSpPr>
        <p:sp>
          <p:nvSpPr>
            <p:cNvPr id="20" name="Rectangle 20"/>
            <p:cNvSpPr/>
            <p:nvPr/>
          </p:nvSpPr>
          <p:spPr>
            <a:xfrm>
              <a:off x="4438650" y="2495550"/>
              <a:ext cx="3314700" cy="2857500"/>
            </a:xfrm>
            <a:prstGeom prst="roundRect">
              <a:avLst>
                <a:gd name="adj" fmla="val 4000"/>
              </a:avLst>
            </a:prstGeom>
            <a:solidFill>
              <a:schemeClr val="accent5"/>
            </a:solidFill>
            <a:ln w="11430">
              <a:solidFill>
                <a:srgbClr val="1E3E5A"/>
              </a:solidFill>
            </a:ln>
          </p:spPr>
        </p:sp>
        <p:sp>
          <p:nvSpPr>
            <p:cNvPr id="21" name="Rectangle 21"/>
            <p:cNvSpPr/>
            <p:nvPr/>
          </p:nvSpPr>
          <p:spPr>
            <a:xfrm>
              <a:off x="4438650" y="2667000"/>
              <a:ext cx="47625" cy="285750"/>
            </a:xfrm>
            <a:prstGeom prst="roundRect">
              <a:avLst>
                <a:gd name="adj" fmla="val 50000"/>
              </a:avLst>
            </a:prstGeom>
            <a:solidFill>
              <a:srgbClr val="2FB6A8"/>
            </a:solidFill>
            <a:ln>
              <a:noFill/>
            </a:ln>
          </p:spPr>
        </p:sp>
        <p:sp>
          <p:nvSpPr>
            <p:cNvPr id="22" name="TextBox 22"/>
            <p:cNvSpPr txBox="1"/>
            <p:nvPr/>
          </p:nvSpPr>
          <p:spPr>
            <a:xfrm>
              <a:off x="4655820" y="2671762"/>
              <a:ext cx="197782" cy="440055"/>
            </a:xfrm>
            <a:prstGeom prst="rect">
              <a:avLst/>
            </a:prstGeom>
            <a:noFill/>
            <a:ln>
              <a:noFill/>
            </a:ln>
          </p:spPr>
          <p:txBody>
            <a:bodyPr wrap="none" lIns="0" tIns="0" rIns="0" bIns="0" anchor="t" anchorCtr="0">
              <a:spAutoFit/>
            </a:bodyPr>
            <a:lstStyle/>
            <a:p>
              <a:pPr algn="l"/>
              <a:r>
                <a:rPr lang="en-US" sz="2250" b="1" dirty="0">
                  <a:solidFill>
                    <a:srgbClr val="2FB6A8"/>
                  </a:solidFill>
                  <a:latin typeface="+mn-lt"/>
                  <a:ea typeface="+mn-ea"/>
                  <a:cs typeface="+mn-cs"/>
                </a:rPr>
                <a:t>2</a:t>
              </a:r>
            </a:p>
          </p:txBody>
        </p:sp>
        <p:sp>
          <p:nvSpPr>
            <p:cNvPr id="23" name="TextBox 23"/>
            <p:cNvSpPr txBox="1"/>
            <p:nvPr/>
          </p:nvSpPr>
          <p:spPr>
            <a:xfrm>
              <a:off x="4660011" y="3141821"/>
              <a:ext cx="2228958"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Running-with-scissors</a:t>
              </a:r>
            </a:p>
          </p:txBody>
        </p:sp>
        <p:sp>
          <p:nvSpPr>
            <p:cNvPr id="24" name="TextBox 24"/>
            <p:cNvSpPr txBox="1"/>
            <p:nvPr/>
          </p:nvSpPr>
          <p:spPr>
            <a:xfrm>
              <a:off x="4661154" y="3528060"/>
              <a:ext cx="216579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spatiotemporal, partially</a:t>
              </a:r>
            </a:p>
          </p:txBody>
        </p:sp>
        <p:sp>
          <p:nvSpPr>
            <p:cNvPr id="25" name="TextBox 25"/>
            <p:cNvSpPr txBox="1"/>
            <p:nvPr/>
          </p:nvSpPr>
          <p:spPr>
            <a:xfrm>
              <a:off x="4661154" y="3766185"/>
              <a:ext cx="267766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observed game: players move on a</a:t>
              </a:r>
            </a:p>
          </p:txBody>
        </p:sp>
        <p:sp>
          <p:nvSpPr>
            <p:cNvPr id="26" name="TextBox 26"/>
            <p:cNvSpPr txBox="1"/>
            <p:nvPr/>
          </p:nvSpPr>
          <p:spPr>
            <a:xfrm>
              <a:off x="4661154" y="4004310"/>
              <a:ext cx="248381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grid, collect items, and infer a</a:t>
              </a:r>
            </a:p>
          </p:txBody>
        </p:sp>
        <p:sp>
          <p:nvSpPr>
            <p:cNvPr id="27" name="TextBox 27"/>
            <p:cNvSpPr txBox="1"/>
            <p:nvPr/>
          </p:nvSpPr>
          <p:spPr>
            <a:xfrm>
              <a:off x="4661154" y="4242435"/>
              <a:ext cx="140147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hidden inventory.</a:t>
              </a:r>
            </a:p>
          </p:txBody>
        </p:sp>
      </p:grpSp>
      <p:grpSp>
        <p:nvGrpSpPr>
          <p:cNvPr id="37" name="Group 37"/>
          <p:cNvGrpSpPr/>
          <p:nvPr/>
        </p:nvGrpSpPr>
        <p:grpSpPr>
          <a:xfrm>
            <a:off x="8343900" y="2495550"/>
            <a:ext cx="3314700" cy="2857500"/>
            <a:chOff x="8343900" y="2495550"/>
            <a:chExt cx="3314700" cy="2857500"/>
          </a:xfrm>
        </p:grpSpPr>
        <p:sp>
          <p:nvSpPr>
            <p:cNvPr id="29" name="Rectangle 29"/>
            <p:cNvSpPr/>
            <p:nvPr/>
          </p:nvSpPr>
          <p:spPr>
            <a:xfrm>
              <a:off x="8343900" y="2495550"/>
              <a:ext cx="3314700" cy="2857500"/>
            </a:xfrm>
            <a:prstGeom prst="roundRect">
              <a:avLst>
                <a:gd name="adj" fmla="val 4000"/>
              </a:avLst>
            </a:prstGeom>
            <a:solidFill>
              <a:schemeClr val="accent5"/>
            </a:solidFill>
            <a:ln w="11430">
              <a:solidFill>
                <a:srgbClr val="1E3E5A"/>
              </a:solidFill>
            </a:ln>
          </p:spPr>
        </p:sp>
        <p:sp>
          <p:nvSpPr>
            <p:cNvPr id="30" name="Rectangle 30"/>
            <p:cNvSpPr/>
            <p:nvPr/>
          </p:nvSpPr>
          <p:spPr>
            <a:xfrm>
              <a:off x="8343900" y="2667000"/>
              <a:ext cx="47625" cy="285750"/>
            </a:xfrm>
            <a:prstGeom prst="roundRect">
              <a:avLst>
                <a:gd name="adj" fmla="val 50000"/>
              </a:avLst>
            </a:prstGeom>
            <a:solidFill>
              <a:srgbClr val="E0A93B"/>
            </a:solidFill>
            <a:ln>
              <a:noFill/>
            </a:ln>
          </p:spPr>
        </p:sp>
        <p:sp>
          <p:nvSpPr>
            <p:cNvPr id="31" name="TextBox 31"/>
            <p:cNvSpPr txBox="1"/>
            <p:nvPr/>
          </p:nvSpPr>
          <p:spPr>
            <a:xfrm>
              <a:off x="8561070" y="2671762"/>
              <a:ext cx="197782" cy="440055"/>
            </a:xfrm>
            <a:prstGeom prst="rect">
              <a:avLst/>
            </a:prstGeom>
            <a:noFill/>
            <a:ln>
              <a:noFill/>
            </a:ln>
          </p:spPr>
          <p:txBody>
            <a:bodyPr wrap="none" lIns="0" tIns="0" rIns="0" bIns="0" anchor="t" anchorCtr="0">
              <a:spAutoFit/>
            </a:bodyPr>
            <a:lstStyle/>
            <a:p>
              <a:pPr algn="l"/>
              <a:r>
                <a:rPr lang="en-US" sz="2250" b="1" dirty="0">
                  <a:solidFill>
                    <a:srgbClr val="E0A93B"/>
                  </a:solidFill>
                  <a:latin typeface="+mn-lt"/>
                  <a:ea typeface="+mn-ea"/>
                  <a:cs typeface="+mn-cs"/>
                </a:rPr>
                <a:t>3</a:t>
              </a:r>
            </a:p>
          </p:txBody>
        </p:sp>
        <p:sp>
          <p:nvSpPr>
            <p:cNvPr id="32" name="TextBox 32"/>
            <p:cNvSpPr txBox="1"/>
            <p:nvPr/>
          </p:nvSpPr>
          <p:spPr>
            <a:xfrm>
              <a:off x="8565261" y="3141821"/>
              <a:ext cx="2204770"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MuJoCo Football (2v2)</a:t>
              </a:r>
            </a:p>
          </p:txBody>
        </p:sp>
        <p:sp>
          <p:nvSpPr>
            <p:cNvPr id="33" name="TextBox 33"/>
            <p:cNvSpPr txBox="1"/>
            <p:nvPr/>
          </p:nvSpPr>
          <p:spPr>
            <a:xfrm>
              <a:off x="8566404" y="3528060"/>
              <a:ext cx="279134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large-scale Game-of-Skills where</a:t>
              </a:r>
            </a:p>
          </p:txBody>
        </p:sp>
        <p:sp>
          <p:nvSpPr>
            <p:cNvPr id="34" name="TextBox 34"/>
            <p:cNvSpPr txBox="1"/>
            <p:nvPr/>
          </p:nvSpPr>
          <p:spPr>
            <a:xfrm>
              <a:off x="8566404" y="3766185"/>
              <a:ext cx="228188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two-versus-two teams must</a:t>
              </a:r>
            </a:p>
          </p:txBody>
        </p:sp>
        <p:sp>
          <p:nvSpPr>
            <p:cNvPr id="35" name="TextBox 35"/>
            <p:cNvSpPr txBox="1"/>
            <p:nvPr/>
          </p:nvSpPr>
          <p:spPr>
            <a:xfrm>
              <a:off x="8566404" y="4004310"/>
              <a:ext cx="272613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simultaneously master control and</a:t>
              </a:r>
            </a:p>
          </p:txBody>
        </p:sp>
        <p:sp>
          <p:nvSpPr>
            <p:cNvPr id="36" name="TextBox 36"/>
            <p:cNvSpPr txBox="1"/>
            <p:nvPr/>
          </p:nvSpPr>
          <p:spPr>
            <a:xfrm>
              <a:off x="8566404" y="4242435"/>
              <a:ext cx="108646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coordination.</a:t>
              </a:r>
            </a:p>
          </p:txBody>
        </p:sp>
      </p:grpSp>
      <p:sp>
        <p:nvSpPr>
          <p:cNvPr id="38" name="TextBox 38"/>
          <p:cNvSpPr txBox="1"/>
          <p:nvPr/>
        </p:nvSpPr>
        <p:spPr>
          <a:xfrm>
            <a:off x="528447" y="6619399"/>
            <a:ext cx="8141201"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Running-with-scissors gives each player only a 4×4 first-person view and requires inferring the opponent's hidden inventory.</a:t>
            </a:r>
          </a:p>
        </p:txBody>
      </p:sp>
      <p:sp>
        <p:nvSpPr>
          <p:cNvPr id="39" name="cue_s06_c1_neupl_validated_across_three_domains" title="cue_s06_c1_neupl_validated_across_three_domains" descr="cue_s06_c1_neupl_validated_across_three_domains &quot;NeuPL is validated across three domains chosen to span the difficulty spectrum."/>
          <p:cNvSpPr/>
          <p:nvPr/>
        </p:nvSpPr>
        <p:spPr>
          <a:xfrm>
            <a:off x="532790" y="1599971"/>
            <a:ext cx="111252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6_c2_rock_paper_scissors_classic_purely_c" title="cue_s06_c2_rock_paper_scissors_classic_purely_c" descr="cue_s06_c2_rock_paper_scissors_classic_purely_c Rock-paper-scissors is the classic purely cyclic normal-form game, where the learned population can be visualized directly on the strategy simplex."/>
          <p:cNvSpPr/>
          <p:nvPr/>
        </p:nvSpPr>
        <p:spPr>
          <a:xfrm>
            <a:off x="532790" y="2495626"/>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6_c3_running_with_scissors_lifts_spatiote" title="cue_s06_c3_running_with_scissors_lifts_spatiote" descr="cue_s06_c3_running_with_scissors_lifts_spatiote Running-with-scissors lifts this into a spatiotemporal, partially observed setting: players move on a grid, collect rock, paper, and scissors resources, and must infer a hidden opponent inventory from a narrow first-person view."/>
          <p:cNvSpPr/>
          <p:nvPr/>
        </p:nvSpPr>
        <p:spPr>
          <a:xfrm>
            <a:off x="4439107" y="2495626"/>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6_c4_finally_mujoco_football_large_scale" title="cue_s06_c4_finally_mujoco_football_large_scale" descr="cue_s06_c4_finally_mujoco_football_large_scale Finally, MuJoCo Football is a large-scale Game-of-Skills where two-versus-two teams must simultaneously master continuous motor control and coordinated team play, a regime where handcrafted PSRO truncation is especially fragile.&quot;"/>
          <p:cNvSpPr/>
          <p:nvPr/>
        </p:nvSpPr>
        <p:spPr>
          <a:xfrm>
            <a:off x="8344204" y="2495626"/>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081644"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KEY RESULT</a:t>
            </a:r>
          </a:p>
        </p:txBody>
      </p:sp>
      <p:sp>
        <p:nvSpPr>
          <p:cNvPr id="4" name="TextBox 4"/>
          <p:cNvSpPr txBox="1"/>
          <p:nvPr/>
        </p:nvSpPr>
        <p:spPr>
          <a:xfrm>
            <a:off x="729996" y="715328"/>
            <a:ext cx="5588846"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More efficient and more robust</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07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0" name="Group 10"/>
          <p:cNvGrpSpPr/>
          <p:nvPr/>
        </p:nvGrpSpPr>
        <p:grpSpPr>
          <a:xfrm>
            <a:off x="533400" y="1600200"/>
            <a:ext cx="11125200" cy="628650"/>
            <a:chOff x="533400" y="1600200"/>
            <a:chExt cx="11125200" cy="628650"/>
          </a:xfrm>
        </p:grpSpPr>
        <p:sp>
          <p:nvSpPr>
            <p:cNvPr id="7" name="Rectangle 7"/>
            <p:cNvSpPr/>
            <p:nvPr/>
          </p:nvSpPr>
          <p:spPr>
            <a:xfrm>
              <a:off x="533400" y="1600200"/>
              <a:ext cx="11125200" cy="628650"/>
            </a:xfrm>
            <a:prstGeom prst="roundRect">
              <a:avLst>
                <a:gd name="adj" fmla="val 18182"/>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811" y="1827371"/>
              <a:ext cx="9784935"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Headline: with only 8 policies, NeuPL is both more efficient and more robust than comparable PSRO.</a:t>
              </a:r>
            </a:p>
          </p:txBody>
        </p:sp>
      </p:grpSp>
      <p:grpSp>
        <p:nvGrpSpPr>
          <p:cNvPr id="24" name="Group 24"/>
          <p:cNvGrpSpPr/>
          <p:nvPr/>
        </p:nvGrpSpPr>
        <p:grpSpPr>
          <a:xfrm>
            <a:off x="533400" y="2381250"/>
            <a:ext cx="5429250" cy="2781300"/>
            <a:chOff x="533400" y="2381250"/>
            <a:chExt cx="5429250" cy="2781300"/>
          </a:xfrm>
        </p:grpSpPr>
        <p:sp>
          <p:nvSpPr>
            <p:cNvPr id="11" name="Rectangle 11"/>
            <p:cNvSpPr/>
            <p:nvPr/>
          </p:nvSpPr>
          <p:spPr>
            <a:xfrm>
              <a:off x="533400" y="2381250"/>
              <a:ext cx="5429250" cy="2781300"/>
            </a:xfrm>
            <a:prstGeom prst="roundRect">
              <a:avLst>
                <a:gd name="adj" fmla="val 4110"/>
              </a:avLst>
            </a:prstGeom>
            <a:solidFill>
              <a:schemeClr val="accent5"/>
            </a:solidFill>
            <a:ln w="11430">
              <a:solidFill>
                <a:srgbClr val="1E3E5A"/>
              </a:solidFill>
            </a:ln>
          </p:spPr>
        </p:sp>
        <p:sp>
          <p:nvSpPr>
            <p:cNvPr id="12" name="Rectangle 12"/>
            <p:cNvSpPr/>
            <p:nvPr/>
          </p:nvSpPr>
          <p:spPr>
            <a:xfrm>
              <a:off x="533400" y="2552700"/>
              <a:ext cx="47625" cy="285750"/>
            </a:xfrm>
            <a:prstGeom prst="roundRect">
              <a:avLst>
                <a:gd name="adj" fmla="val 50000"/>
              </a:avLst>
            </a:prstGeom>
            <a:solidFill>
              <a:srgbClr val="4C86F0"/>
            </a:solidFill>
            <a:ln>
              <a:noFill/>
            </a:ln>
          </p:spPr>
        </p:sp>
        <p:sp>
          <p:nvSpPr>
            <p:cNvPr id="13" name="TextBox 13"/>
            <p:cNvSpPr txBox="1"/>
            <p:nvPr/>
          </p:nvSpPr>
          <p:spPr>
            <a:xfrm>
              <a:off x="774192" y="2635568"/>
              <a:ext cx="3186012"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Population 8: NeuPL exploits PSRO</a:t>
              </a:r>
            </a:p>
          </p:txBody>
        </p:sp>
        <p:sp>
          <p:nvSpPr>
            <p:cNvPr id="14" name="TextBox 14"/>
            <p:cNvSpPr txBox="1"/>
            <p:nvPr/>
          </p:nvSpPr>
          <p:spPr>
            <a:xfrm>
              <a:off x="775716" y="2896552"/>
              <a:ext cx="2328824"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despite half the gradient updates</a:t>
              </a:r>
            </a:p>
          </p:txBody>
        </p:sp>
        <p:sp>
          <p:nvSpPr>
            <p:cNvPr id="15" name="TextBox 15"/>
            <p:cNvSpPr txBox="1"/>
            <p:nvPr/>
          </p:nvSpPr>
          <p:spPr>
            <a:xfrm>
              <a:off x="909066" y="3163252"/>
              <a:ext cx="999792"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NeuPL updates</a:t>
              </a:r>
            </a:p>
          </p:txBody>
        </p:sp>
        <p:sp>
          <p:nvSpPr>
            <p:cNvPr id="16" name="Rectangle 16"/>
            <p:cNvSpPr/>
            <p:nvPr/>
          </p:nvSpPr>
          <p:spPr>
            <a:xfrm>
              <a:off x="914400" y="3333750"/>
              <a:ext cx="3810000" cy="247650"/>
            </a:xfrm>
            <a:prstGeom prst="roundRect">
              <a:avLst>
                <a:gd name="adj" fmla="val 19231"/>
              </a:avLst>
            </a:prstGeom>
            <a:solidFill>
              <a:schemeClr val="accent6"/>
            </a:solidFill>
            <a:ln w="9525">
              <a:solidFill>
                <a:srgbClr val="1E3E5A"/>
              </a:solidFill>
            </a:ln>
          </p:spPr>
        </p:sp>
        <p:sp>
          <p:nvSpPr>
            <p:cNvPr id="17" name="Rectangle 17"/>
            <p:cNvSpPr/>
            <p:nvPr/>
          </p:nvSpPr>
          <p:spPr>
            <a:xfrm>
              <a:off x="914400" y="3333750"/>
              <a:ext cx="1905000" cy="247650"/>
            </a:xfrm>
            <a:prstGeom prst="roundRect">
              <a:avLst>
                <a:gd name="adj" fmla="val 19231"/>
              </a:avLst>
            </a:prstGeom>
            <a:solidFill>
              <a:srgbClr val="2FB6A8"/>
            </a:solidFill>
            <a:ln>
              <a:noFill/>
            </a:ln>
          </p:spPr>
        </p:sp>
        <p:sp>
          <p:nvSpPr>
            <p:cNvPr id="18" name="TextBox 18"/>
            <p:cNvSpPr txBox="1"/>
            <p:nvPr/>
          </p:nvSpPr>
          <p:spPr>
            <a:xfrm>
              <a:off x="2927985" y="3393281"/>
              <a:ext cx="185574" cy="220028"/>
            </a:xfrm>
            <a:prstGeom prst="rect">
              <a:avLst/>
            </a:prstGeom>
            <a:noFill/>
            <a:ln>
              <a:noFill/>
            </a:ln>
          </p:spPr>
          <p:txBody>
            <a:bodyPr wrap="none" lIns="0" tIns="0" rIns="0" bIns="0" anchor="t" anchorCtr="0">
              <a:spAutoFit/>
            </a:bodyPr>
            <a:lstStyle/>
            <a:p>
              <a:pPr algn="l"/>
              <a:r>
                <a:rPr lang="en-US" sz="1120" b="1" dirty="0">
                  <a:solidFill>
                    <a:srgbClr val="2FB6A8"/>
                  </a:solidFill>
                  <a:latin typeface="+mn-lt"/>
                  <a:ea typeface="+mn-ea"/>
                  <a:cs typeface="+mn-cs"/>
                </a:rPr>
                <a:t>1×</a:t>
              </a:r>
            </a:p>
          </p:txBody>
        </p:sp>
        <p:sp>
          <p:nvSpPr>
            <p:cNvPr id="19" name="TextBox 19"/>
            <p:cNvSpPr txBox="1"/>
            <p:nvPr/>
          </p:nvSpPr>
          <p:spPr>
            <a:xfrm>
              <a:off x="909066" y="3696652"/>
              <a:ext cx="955574"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PSRO updates</a:t>
              </a:r>
            </a:p>
          </p:txBody>
        </p:sp>
        <p:sp>
          <p:nvSpPr>
            <p:cNvPr id="20" name="Rectangle 20"/>
            <p:cNvSpPr/>
            <p:nvPr/>
          </p:nvSpPr>
          <p:spPr>
            <a:xfrm>
              <a:off x="914400" y="3867150"/>
              <a:ext cx="3810000" cy="247650"/>
            </a:xfrm>
            <a:prstGeom prst="roundRect">
              <a:avLst>
                <a:gd name="adj" fmla="val 19231"/>
              </a:avLst>
            </a:prstGeom>
            <a:solidFill>
              <a:schemeClr val="accent6"/>
            </a:solidFill>
            <a:ln w="9525">
              <a:solidFill>
                <a:srgbClr val="1E3E5A"/>
              </a:solidFill>
            </a:ln>
          </p:spPr>
        </p:sp>
        <p:sp>
          <p:nvSpPr>
            <p:cNvPr id="21" name="Rectangle 21"/>
            <p:cNvSpPr/>
            <p:nvPr/>
          </p:nvSpPr>
          <p:spPr>
            <a:xfrm>
              <a:off x="914400" y="3867150"/>
              <a:ext cx="3810000" cy="247650"/>
            </a:xfrm>
            <a:prstGeom prst="roundRect">
              <a:avLst>
                <a:gd name="adj" fmla="val 19231"/>
              </a:avLst>
            </a:prstGeom>
            <a:solidFill>
              <a:srgbClr val="E0A93B"/>
            </a:solidFill>
            <a:ln>
              <a:noFill/>
            </a:ln>
          </p:spPr>
        </p:sp>
        <p:sp>
          <p:nvSpPr>
            <p:cNvPr id="22" name="TextBox 22"/>
            <p:cNvSpPr txBox="1"/>
            <p:nvPr/>
          </p:nvSpPr>
          <p:spPr>
            <a:xfrm>
              <a:off x="4832985" y="3926681"/>
              <a:ext cx="185574" cy="220028"/>
            </a:xfrm>
            <a:prstGeom prst="rect">
              <a:avLst/>
            </a:prstGeom>
            <a:noFill/>
            <a:ln>
              <a:noFill/>
            </a:ln>
          </p:spPr>
          <p:txBody>
            <a:bodyPr wrap="none" lIns="0" tIns="0" rIns="0" bIns="0" anchor="t" anchorCtr="0">
              <a:spAutoFit/>
            </a:bodyPr>
            <a:lstStyle/>
            <a:p>
              <a:pPr algn="l"/>
              <a:r>
                <a:rPr lang="en-US" sz="1120" b="1" dirty="0">
                  <a:solidFill>
                    <a:srgbClr val="E0A93B"/>
                  </a:solidFill>
                  <a:latin typeface="+mn-lt"/>
                  <a:ea typeface="+mn-ea"/>
                  <a:cs typeface="+mn-cs"/>
                </a:rPr>
                <a:t>2×</a:t>
              </a:r>
            </a:p>
          </p:txBody>
        </p:sp>
        <p:sp>
          <p:nvSpPr>
            <p:cNvPr id="23" name="TextBox 23"/>
            <p:cNvSpPr txBox="1"/>
            <p:nvPr/>
          </p:nvSpPr>
          <p:spPr>
            <a:xfrm>
              <a:off x="775335" y="4755356"/>
              <a:ext cx="3928312" cy="220028"/>
            </a:xfrm>
            <a:prstGeom prst="rect">
              <a:avLst/>
            </a:prstGeom>
            <a:noFill/>
            <a:ln>
              <a:noFill/>
            </a:ln>
          </p:spPr>
          <p:txBody>
            <a:bodyPr wrap="none" lIns="0" tIns="0" rIns="0" bIns="0" anchor="t" anchorCtr="0">
              <a:spAutoFit/>
            </a:bodyPr>
            <a:lstStyle/>
            <a:p>
              <a:pPr algn="l"/>
              <a:r>
                <a:rPr lang="en-US" sz="1120" b="1" dirty="0">
                  <a:solidFill>
                    <a:srgbClr val="49C08A"/>
                  </a:solidFill>
                  <a:latin typeface="+mn-lt"/>
                  <a:ea typeface="+mn-ea"/>
                  <a:cs typeface="+mn-cs"/>
                </a:rPr>
                <a:t>Outcome: NeuPL beats PSRO on the same 8 policies</a:t>
              </a:r>
            </a:p>
          </p:txBody>
        </p:sp>
      </p:grpSp>
      <p:grpSp>
        <p:nvGrpSpPr>
          <p:cNvPr id="39" name="Group 39"/>
          <p:cNvGrpSpPr/>
          <p:nvPr/>
        </p:nvGrpSpPr>
        <p:grpSpPr>
          <a:xfrm>
            <a:off x="6229350" y="2381250"/>
            <a:ext cx="5429250" cy="2781300"/>
            <a:chOff x="6229350" y="2381250"/>
            <a:chExt cx="5429250" cy="2781300"/>
          </a:xfrm>
        </p:grpSpPr>
        <p:sp>
          <p:nvSpPr>
            <p:cNvPr id="25" name="Rectangle 25"/>
            <p:cNvSpPr/>
            <p:nvPr/>
          </p:nvSpPr>
          <p:spPr>
            <a:xfrm>
              <a:off x="6229350" y="2381250"/>
              <a:ext cx="5429250" cy="2781300"/>
            </a:xfrm>
            <a:prstGeom prst="roundRect">
              <a:avLst>
                <a:gd name="adj" fmla="val 4110"/>
              </a:avLst>
            </a:prstGeom>
            <a:solidFill>
              <a:schemeClr val="accent5"/>
            </a:solidFill>
            <a:ln w="11430">
              <a:solidFill>
                <a:srgbClr val="1E3E5A"/>
              </a:solidFill>
            </a:ln>
          </p:spPr>
        </p:sp>
        <p:sp>
          <p:nvSpPr>
            <p:cNvPr id="26" name="Rectangle 26"/>
            <p:cNvSpPr/>
            <p:nvPr/>
          </p:nvSpPr>
          <p:spPr>
            <a:xfrm>
              <a:off x="6229350" y="2552700"/>
              <a:ext cx="47625" cy="285750"/>
            </a:xfrm>
            <a:prstGeom prst="roundRect">
              <a:avLst>
                <a:gd name="adj" fmla="val 50000"/>
              </a:avLst>
            </a:prstGeom>
            <a:solidFill>
              <a:srgbClr val="2FB6A8"/>
            </a:solidFill>
            <a:ln>
              <a:noFill/>
            </a:ln>
          </p:spPr>
        </p:sp>
        <p:sp>
          <p:nvSpPr>
            <p:cNvPr id="27" name="TextBox 27"/>
            <p:cNvSpPr txBox="1"/>
            <p:nvPr/>
          </p:nvSpPr>
          <p:spPr>
            <a:xfrm>
              <a:off x="6470142" y="2635568"/>
              <a:ext cx="3473552"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Gains track effective population size</a:t>
              </a:r>
            </a:p>
          </p:txBody>
        </p:sp>
        <p:sp>
          <p:nvSpPr>
            <p:cNvPr id="28" name="Line 28"/>
            <p:cNvSpPr/>
            <p:nvPr/>
          </p:nvSpPr>
          <p:spPr>
            <a:xfrm>
              <a:off x="6705600" y="3143250"/>
              <a:ext cx="9525" cy="1219200"/>
            </a:xfrm>
            <a:custGeom>
              <a:avLst/>
              <a:gdLst/>
              <a:ahLst/>
              <a:cxnLst/>
              <a:rect l="l" t="t" r="r" b="b"/>
              <a:pathLst>
                <a:path w="9525" h="1219200">
                  <a:moveTo>
                    <a:pt x="0" y="0"/>
                  </a:moveTo>
                  <a:lnTo>
                    <a:pt x="0" y="1219200"/>
                  </a:lnTo>
                </a:path>
              </a:pathLst>
            </a:custGeom>
            <a:noFill/>
            <a:ln w="11430">
              <a:solidFill>
                <a:srgbClr val="1E3E5A"/>
              </a:solidFill>
            </a:ln>
          </p:spPr>
        </p:sp>
        <p:sp>
          <p:nvSpPr>
            <p:cNvPr id="29" name="Line 29"/>
            <p:cNvSpPr/>
            <p:nvPr/>
          </p:nvSpPr>
          <p:spPr>
            <a:xfrm>
              <a:off x="6705600" y="4362450"/>
              <a:ext cx="4381500" cy="9525"/>
            </a:xfrm>
            <a:custGeom>
              <a:avLst/>
              <a:gdLst/>
              <a:ahLst/>
              <a:cxnLst/>
              <a:rect l="l" t="t" r="r" b="b"/>
              <a:pathLst>
                <a:path w="4381500" h="9525">
                  <a:moveTo>
                    <a:pt x="0" y="0"/>
                  </a:moveTo>
                  <a:lnTo>
                    <a:pt x="4381500" y="0"/>
                  </a:lnTo>
                </a:path>
              </a:pathLst>
            </a:custGeom>
            <a:noFill/>
            <a:ln w="11430">
              <a:solidFill>
                <a:srgbClr val="1E3E5A"/>
              </a:solidFill>
            </a:ln>
          </p:spPr>
        </p:sp>
        <p:sp>
          <p:nvSpPr>
            <p:cNvPr id="30" name="Polyline 30"/>
            <p:cNvSpPr/>
            <p:nvPr/>
          </p:nvSpPr>
          <p:spPr>
            <a:xfrm>
              <a:off x="6705600" y="3143250"/>
              <a:ext cx="4381500" cy="914400"/>
            </a:xfrm>
            <a:custGeom>
              <a:avLst/>
              <a:gdLst/>
              <a:ahLst/>
              <a:cxnLst/>
              <a:rect l="l" t="t" r="r" b="b"/>
              <a:pathLst>
                <a:path w="4381500" h="914400">
                  <a:moveTo>
                    <a:pt x="0" y="914400"/>
                  </a:moveTo>
                  <a:lnTo>
                    <a:pt x="1447800" y="609600"/>
                  </a:lnTo>
                  <a:lnTo>
                    <a:pt x="2895600" y="247650"/>
                  </a:lnTo>
                  <a:lnTo>
                    <a:pt x="4381500" y="0"/>
                  </a:lnTo>
                </a:path>
              </a:pathLst>
            </a:custGeom>
            <a:noFill/>
            <a:ln w="28575">
              <a:solidFill>
                <a:srgbClr val="49C08A"/>
              </a:solidFill>
            </a:ln>
          </p:spPr>
        </p:sp>
        <p:sp>
          <p:nvSpPr>
            <p:cNvPr id="31" name="Ellipse 31"/>
            <p:cNvSpPr/>
            <p:nvPr/>
          </p:nvSpPr>
          <p:spPr>
            <a:xfrm>
              <a:off x="6667500" y="4019550"/>
              <a:ext cx="76200" cy="76200"/>
            </a:xfrm>
            <a:prstGeom prst="ellipse">
              <a:avLst/>
            </a:prstGeom>
            <a:solidFill>
              <a:srgbClr val="49C08A"/>
            </a:solidFill>
            <a:ln>
              <a:noFill/>
            </a:ln>
          </p:spPr>
        </p:sp>
        <p:sp>
          <p:nvSpPr>
            <p:cNvPr id="32" name="Ellipse 32"/>
            <p:cNvSpPr/>
            <p:nvPr/>
          </p:nvSpPr>
          <p:spPr>
            <a:xfrm>
              <a:off x="8115300" y="3714750"/>
              <a:ext cx="76200" cy="76200"/>
            </a:xfrm>
            <a:prstGeom prst="ellipse">
              <a:avLst/>
            </a:prstGeom>
            <a:solidFill>
              <a:srgbClr val="49C08A"/>
            </a:solidFill>
            <a:ln>
              <a:noFill/>
            </a:ln>
          </p:spPr>
        </p:sp>
        <p:sp>
          <p:nvSpPr>
            <p:cNvPr id="33" name="Ellipse 33"/>
            <p:cNvSpPr/>
            <p:nvPr/>
          </p:nvSpPr>
          <p:spPr>
            <a:xfrm>
              <a:off x="9563100" y="3352800"/>
              <a:ext cx="76200" cy="76200"/>
            </a:xfrm>
            <a:prstGeom prst="ellipse">
              <a:avLst/>
            </a:prstGeom>
            <a:solidFill>
              <a:srgbClr val="49C08A"/>
            </a:solidFill>
            <a:ln>
              <a:noFill/>
            </a:ln>
          </p:spPr>
        </p:sp>
        <p:sp>
          <p:nvSpPr>
            <p:cNvPr id="34" name="Ellipse 34"/>
            <p:cNvSpPr/>
            <p:nvPr/>
          </p:nvSpPr>
          <p:spPr>
            <a:xfrm>
              <a:off x="11049000" y="3105150"/>
              <a:ext cx="76200" cy="76200"/>
            </a:xfrm>
            <a:prstGeom prst="ellipse">
              <a:avLst/>
            </a:prstGeom>
            <a:solidFill>
              <a:srgbClr val="49C08A"/>
            </a:solidFill>
            <a:ln>
              <a:noFill/>
            </a:ln>
          </p:spPr>
        </p:sp>
        <p:sp>
          <p:nvSpPr>
            <p:cNvPr id="35" name="TextBox 35"/>
            <p:cNvSpPr txBox="1"/>
            <p:nvPr/>
          </p:nvSpPr>
          <p:spPr>
            <a:xfrm>
              <a:off x="6532837" y="3990499"/>
              <a:ext cx="82466" cy="190690"/>
            </a:xfrm>
            <a:prstGeom prst="rect">
              <a:avLst/>
            </a:prstGeom>
            <a:noFill/>
            <a:ln>
              <a:noFill/>
            </a:ln>
          </p:spPr>
          <p:txBody>
            <a:bodyPr wrap="none" lIns="0" tIns="0" rIns="0" bIns="0" anchor="t" anchorCtr="0">
              <a:spAutoFit/>
            </a:bodyPr>
            <a:lstStyle/>
            <a:p>
              <a:pPr algn="r"/>
              <a:r>
                <a:rPr lang="en-US" sz="980" dirty="0">
                  <a:solidFill>
                    <a:srgbClr val="9FB6CC"/>
                  </a:solidFill>
                  <a:latin typeface="+mn-lt"/>
                  <a:ea typeface="+mn-ea"/>
                  <a:cs typeface="+mn-cs"/>
                </a:rPr>
                <a:t>5</a:t>
              </a:r>
            </a:p>
          </p:txBody>
        </p:sp>
        <p:sp>
          <p:nvSpPr>
            <p:cNvPr id="36" name="TextBox 36"/>
            <p:cNvSpPr txBox="1"/>
            <p:nvPr/>
          </p:nvSpPr>
          <p:spPr>
            <a:xfrm>
              <a:off x="6532837" y="3076099"/>
              <a:ext cx="82466" cy="190690"/>
            </a:xfrm>
            <a:prstGeom prst="rect">
              <a:avLst/>
            </a:prstGeom>
            <a:noFill/>
            <a:ln>
              <a:noFill/>
            </a:ln>
          </p:spPr>
          <p:txBody>
            <a:bodyPr wrap="none" lIns="0" tIns="0" rIns="0" bIns="0" anchor="t" anchorCtr="0">
              <a:spAutoFit/>
            </a:bodyPr>
            <a:lstStyle/>
            <a:p>
              <a:pPr algn="r"/>
              <a:r>
                <a:rPr lang="en-US" sz="980" dirty="0">
                  <a:solidFill>
                    <a:srgbClr val="9FB6CC"/>
                  </a:solidFill>
                  <a:latin typeface="+mn-lt"/>
                  <a:ea typeface="+mn-ea"/>
                  <a:cs typeface="+mn-cs"/>
                </a:rPr>
                <a:t>8</a:t>
              </a:r>
            </a:p>
          </p:txBody>
        </p:sp>
        <p:sp>
          <p:nvSpPr>
            <p:cNvPr id="37" name="TextBox 37"/>
            <p:cNvSpPr txBox="1"/>
            <p:nvPr/>
          </p:nvSpPr>
          <p:spPr>
            <a:xfrm>
              <a:off x="6700266" y="4496752"/>
              <a:ext cx="2767013"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training → effective policies grow 5 to 8</a:t>
              </a:r>
            </a:p>
          </p:txBody>
        </p:sp>
        <p:sp>
          <p:nvSpPr>
            <p:cNvPr id="38" name="TextBox 38"/>
            <p:cNvSpPr txBox="1"/>
            <p:nvPr/>
          </p:nvSpPr>
          <p:spPr>
            <a:xfrm>
              <a:off x="6472047" y="4866799"/>
              <a:ext cx="3411133"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Relative population performance rises with diversity</a:t>
              </a:r>
            </a:p>
          </p:txBody>
        </p:sp>
      </p:grpSp>
      <p:sp>
        <p:nvSpPr>
          <p:cNvPr id="40" name="TextBox 40"/>
          <p:cNvSpPr txBox="1"/>
          <p:nvPr/>
        </p:nvSpPr>
        <p:spPr>
          <a:xfrm>
            <a:off x="528447" y="6619399"/>
            <a:ext cx="7485564"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Both continued-training and from-scratch PSRO variants prove equally exploitable — they fail to build on prior skill.</a:t>
            </a:r>
          </a:p>
        </p:txBody>
      </p:sp>
      <p:grpSp>
        <p:nvGrpSpPr>
          <p:cNvPr id="47" name="Group 47"/>
          <p:cNvGrpSpPr/>
          <p:nvPr/>
        </p:nvGrpSpPr>
        <p:grpSpPr>
          <a:xfrm>
            <a:off x="7810500" y="5295900"/>
            <a:ext cx="3848100" cy="1143000"/>
            <a:chOff x="7810500" y="5295900"/>
            <a:chExt cx="3848100" cy="1143000"/>
          </a:xfrm>
        </p:grpSpPr>
        <p:sp>
          <p:nvSpPr>
            <p:cNvPr id="41" name="Rectangle 41"/>
            <p:cNvSpPr/>
            <p:nvPr/>
          </p:nvSpPr>
          <p:spPr>
            <a:xfrm>
              <a:off x="7810500" y="5295900"/>
              <a:ext cx="3848100" cy="1143000"/>
            </a:xfrm>
            <a:prstGeom prst="roundRect">
              <a:avLst>
                <a:gd name="adj" fmla="val 8333"/>
              </a:avLst>
            </a:prstGeom>
            <a:solidFill>
              <a:schemeClr val="accent6"/>
            </a:solidFill>
            <a:ln w="9525">
              <a:solidFill>
                <a:srgbClr val="1E3E5A"/>
              </a:solidFill>
            </a:ln>
          </p:spPr>
        </p:sp>
        <p:sp>
          <p:nvSpPr>
            <p:cNvPr id="42" name="Rectangle 42"/>
            <p:cNvSpPr/>
            <p:nvPr/>
          </p:nvSpPr>
          <p:spPr>
            <a:xfrm>
              <a:off x="7810500" y="5467350"/>
              <a:ext cx="47625" cy="285750"/>
            </a:xfrm>
            <a:prstGeom prst="roundRect">
              <a:avLst>
                <a:gd name="adj" fmla="val 50000"/>
              </a:avLst>
            </a:prstGeom>
            <a:solidFill>
              <a:srgbClr val="E0655B"/>
            </a:solidFill>
            <a:ln>
              <a:noFill/>
            </a:ln>
          </p:spPr>
        </p:sp>
        <p:sp>
          <p:nvSpPr>
            <p:cNvPr id="43" name="TextBox 43"/>
            <p:cNvSpPr txBox="1"/>
            <p:nvPr/>
          </p:nvSpPr>
          <p:spPr>
            <a:xfrm>
              <a:off x="8014335" y="5555456"/>
              <a:ext cx="3068362" cy="220028"/>
            </a:xfrm>
            <a:prstGeom prst="rect">
              <a:avLst/>
            </a:prstGeom>
            <a:noFill/>
            <a:ln>
              <a:noFill/>
            </a:ln>
          </p:spPr>
          <p:txBody>
            <a:bodyPr wrap="none" lIns="0" tIns="0" rIns="0" bIns="0" anchor="t" anchorCtr="0">
              <a:spAutoFit/>
            </a:bodyPr>
            <a:lstStyle/>
            <a:p>
              <a:pPr algn="l"/>
              <a:r>
                <a:rPr lang="en-US" sz="1120" b="1" dirty="0">
                  <a:solidFill>
                    <a:srgbClr val="EAF2FA"/>
                  </a:solidFill>
                  <a:latin typeface="+mn-lt"/>
                  <a:ea typeface="+mn-ea"/>
                  <a:cs typeface="+mn-cs"/>
                </a:rPr>
                <a:t>Both PSRO variants: equally exploitable</a:t>
              </a:r>
            </a:p>
          </p:txBody>
        </p:sp>
        <p:sp>
          <p:nvSpPr>
            <p:cNvPr id="44" name="TextBox 44"/>
            <p:cNvSpPr txBox="1"/>
            <p:nvPr/>
          </p:nvSpPr>
          <p:spPr>
            <a:xfrm>
              <a:off x="8014716" y="5830252"/>
              <a:ext cx="2948313"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Continued-training and from-scratch alike</a:t>
              </a:r>
            </a:p>
          </p:txBody>
        </p:sp>
        <p:sp>
          <p:nvSpPr>
            <p:cNvPr id="45" name="TextBox 45"/>
            <p:cNvSpPr txBox="1"/>
            <p:nvPr/>
          </p:nvSpPr>
          <p:spPr>
            <a:xfrm>
              <a:off x="8014716" y="6030278"/>
              <a:ext cx="2095595"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fail to accumulate skill across</a:t>
              </a:r>
            </a:p>
          </p:txBody>
        </p:sp>
        <p:sp>
          <p:nvSpPr>
            <p:cNvPr id="46" name="TextBox 46"/>
            <p:cNvSpPr txBox="1"/>
            <p:nvPr/>
          </p:nvSpPr>
          <p:spPr>
            <a:xfrm>
              <a:off x="8014716" y="6230302"/>
              <a:ext cx="795166"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iterations.</a:t>
              </a:r>
            </a:p>
          </p:txBody>
        </p:sp>
      </p:grpSp>
      <p:sp>
        <p:nvSpPr>
          <p:cNvPr id="48" name="cue_s07_c1_headline_result_neupl_both_more" title="cue_s07_c1_headline_result_neupl_both_more" descr="cue_s07_c1_headline_result_neupl_both_more &quot;The headline result is that NeuPL is both more efficient and more robust than comparable PSRO baselines."/>
          <p:cNvSpPr/>
          <p:nvPr/>
        </p:nvSpPr>
        <p:spPr>
          <a:xfrm>
            <a:off x="532790" y="1599971"/>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maximum_population_eight_policies_ne" title="cue_s07_c2_maximum_population_eight_policies_ne" descr="cue_s07_c2_maximum_population_eight_policies_ne With a maximum population of eight policies, a NeuPL population successfully exploits PSRO populations of the same eight policies — even when each PSRO iteration was given twice as many gradient steps."/>
          <p:cNvSpPr/>
          <p:nvPr/>
        </p:nvSpPr>
        <p:spPr>
          <a:xfrm>
            <a:off x="532790" y="2381097"/>
            <a:ext cx="5429097"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crucially_gain_relative_population_p" title="cue_s07_c3_crucially_gain_relative_population_p" descr="cue_s07_c3_crucially_gain_relative_population_p Crucially, the gain in relative population performance coincides with growth in the effective population size, from five up to eight distinct policies, showing that the improvement comes from genuinely discovering new strategies rather than overfitting."/>
          <p:cNvSpPr/>
          <p:nvPr/>
        </p:nvSpPr>
        <p:spPr>
          <a:xfrm>
            <a:off x="6228892" y="2381097"/>
            <a:ext cx="5429097"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both_continued_training_from_scratch" title="cue_s07_c4_both_continued_training_from_scratch" descr="cue_s07_c4_both_continued_training_from_scratch Both continued-training and from-scratch PSRO variants prove equally exploitable, suggesting they fail to build reusable representations.&quot;"/>
          <p:cNvSpPr/>
          <p:nvPr/>
        </p:nvSpPr>
        <p:spPr>
          <a:xfrm>
            <a:off x="7810195" y="5295747"/>
            <a:ext cx="3847795"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526627"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ABLATION STUDY</a:t>
            </a:r>
          </a:p>
        </p:txBody>
      </p:sp>
      <p:sp>
        <p:nvSpPr>
          <p:cNvPr id="4" name="TextBox 4"/>
          <p:cNvSpPr txBox="1"/>
          <p:nvPr/>
        </p:nvSpPr>
        <p:spPr>
          <a:xfrm>
            <a:off x="729996" y="715328"/>
            <a:ext cx="5571267"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Transfer is what makes it work</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08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3" name="Group 13"/>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1073101"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setup</a:t>
              </a:r>
            </a:p>
          </p:txBody>
        </p:sp>
        <p:sp>
          <p:nvSpPr>
            <p:cNvPr id="10" name="TextBox 10"/>
            <p:cNvSpPr txBox="1"/>
            <p:nvPr/>
          </p:nvSpPr>
          <p:spPr>
            <a:xfrm>
              <a:off x="774954" y="2213610"/>
              <a:ext cx="410692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NeuPL agents are re-initialized either from scratch</a:t>
              </a:r>
            </a:p>
          </p:txBody>
        </p:sp>
        <p:sp>
          <p:nvSpPr>
            <p:cNvPr id="11" name="TextBox 11"/>
            <p:cNvSpPr txBox="1"/>
            <p:nvPr/>
          </p:nvSpPr>
          <p:spPr>
            <a:xfrm>
              <a:off x="774954" y="2442210"/>
              <a:ext cx="432541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or by transferring encoder and memory from a trained</a:t>
              </a:r>
            </a:p>
          </p:txBody>
        </p:sp>
        <p:sp>
          <p:nvSpPr>
            <p:cNvPr id="12" name="TextBox 12"/>
            <p:cNvSpPr txBox="1"/>
            <p:nvPr/>
          </p:nvSpPr>
          <p:spPr>
            <a:xfrm>
              <a:off x="774954" y="2670810"/>
              <a:ext cx="126549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NeuPL network.</a:t>
              </a:r>
            </a:p>
          </p:txBody>
        </p:sp>
      </p:grpSp>
      <p:grpSp>
        <p:nvGrpSpPr>
          <p:cNvPr id="20" name="Group 20"/>
          <p:cNvGrpSpPr/>
          <p:nvPr/>
        </p:nvGrpSpPr>
        <p:grpSpPr>
          <a:xfrm>
            <a:off x="6229350" y="1600200"/>
            <a:ext cx="5429250" cy="2381250"/>
            <a:chOff x="6229350" y="1600200"/>
            <a:chExt cx="5429250" cy="2381250"/>
          </a:xfrm>
        </p:grpSpPr>
        <p:sp>
          <p:nvSpPr>
            <p:cNvPr id="14" name="Rectangle 14"/>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5" name="Rectangle 15"/>
            <p:cNvSpPr/>
            <p:nvPr/>
          </p:nvSpPr>
          <p:spPr>
            <a:xfrm>
              <a:off x="6229350" y="1771650"/>
              <a:ext cx="47625" cy="285750"/>
            </a:xfrm>
            <a:prstGeom prst="roundRect">
              <a:avLst>
                <a:gd name="adj" fmla="val 50000"/>
              </a:avLst>
            </a:prstGeom>
            <a:solidFill>
              <a:srgbClr val="2FB6A8"/>
            </a:solidFill>
            <a:ln>
              <a:noFill/>
            </a:ln>
          </p:spPr>
        </p:sp>
        <p:sp>
          <p:nvSpPr>
            <p:cNvPr id="16" name="TextBox 16"/>
            <p:cNvSpPr txBox="1"/>
            <p:nvPr/>
          </p:nvSpPr>
          <p:spPr>
            <a:xfrm>
              <a:off x="6468999" y="1849279"/>
              <a:ext cx="2793189"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Easy opponents: both win</a:t>
              </a:r>
            </a:p>
          </p:txBody>
        </p:sp>
        <p:sp>
          <p:nvSpPr>
            <p:cNvPr id="17" name="TextBox 17"/>
            <p:cNvSpPr txBox="1"/>
            <p:nvPr/>
          </p:nvSpPr>
          <p:spPr>
            <a:xfrm>
              <a:off x="6470904" y="2213610"/>
              <a:ext cx="387020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Against an easily exploitable two-policy mixture,</a:t>
              </a:r>
            </a:p>
          </p:txBody>
        </p:sp>
        <p:sp>
          <p:nvSpPr>
            <p:cNvPr id="18" name="TextBox 18"/>
            <p:cNvSpPr txBox="1"/>
            <p:nvPr/>
          </p:nvSpPr>
          <p:spPr>
            <a:xfrm>
              <a:off x="6470904" y="2442210"/>
              <a:ext cx="376809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even the from-scratch agent eventually finds a</a:t>
              </a:r>
            </a:p>
          </p:txBody>
        </p:sp>
        <p:sp>
          <p:nvSpPr>
            <p:cNvPr id="19" name="TextBox 19"/>
            <p:cNvSpPr txBox="1"/>
            <p:nvPr/>
          </p:nvSpPr>
          <p:spPr>
            <a:xfrm>
              <a:off x="6470904" y="2670810"/>
              <a:ext cx="179725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counter — just slower.</a:t>
              </a:r>
            </a:p>
          </p:txBody>
        </p:sp>
      </p:grpSp>
      <p:grpSp>
        <p:nvGrpSpPr>
          <p:cNvPr id="36" name="Group 36"/>
          <p:cNvGrpSpPr/>
          <p:nvPr/>
        </p:nvGrpSpPr>
        <p:grpSpPr>
          <a:xfrm>
            <a:off x="533400" y="4152900"/>
            <a:ext cx="5429250" cy="2381250"/>
            <a:chOff x="533400" y="4152900"/>
            <a:chExt cx="5429250" cy="2381250"/>
          </a:xfrm>
        </p:grpSpPr>
        <p:sp>
          <p:nvSpPr>
            <p:cNvPr id="21" name="Rectangle 21"/>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2" name="Rectangle 22"/>
            <p:cNvSpPr/>
            <p:nvPr/>
          </p:nvSpPr>
          <p:spPr>
            <a:xfrm>
              <a:off x="533400" y="4324350"/>
              <a:ext cx="47625" cy="285750"/>
            </a:xfrm>
            <a:prstGeom prst="roundRect">
              <a:avLst>
                <a:gd name="adj" fmla="val 50000"/>
              </a:avLst>
            </a:prstGeom>
            <a:solidFill>
              <a:srgbClr val="E0A93B"/>
            </a:solidFill>
            <a:ln>
              <a:noFill/>
            </a:ln>
          </p:spPr>
        </p:sp>
        <p:sp>
          <p:nvSpPr>
            <p:cNvPr id="23" name="TextBox 23"/>
            <p:cNvSpPr txBox="1"/>
            <p:nvPr/>
          </p:nvSpPr>
          <p:spPr>
            <a:xfrm>
              <a:off x="774192" y="4407218"/>
              <a:ext cx="3244934"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Hard opponents: scratch collapses</a:t>
              </a:r>
            </a:p>
          </p:txBody>
        </p:sp>
        <p:sp>
          <p:nvSpPr>
            <p:cNvPr id="24" name="Rectangle 24"/>
            <p:cNvSpPr/>
            <p:nvPr/>
          </p:nvSpPr>
          <p:spPr>
            <a:xfrm>
              <a:off x="914400" y="4933950"/>
              <a:ext cx="438150" cy="1028700"/>
            </a:xfrm>
            <a:prstGeom prst="roundRect">
              <a:avLst>
                <a:gd name="adj" fmla="val 8696"/>
              </a:avLst>
            </a:prstGeom>
            <a:solidFill>
              <a:srgbClr val="E0655B"/>
            </a:solidFill>
            <a:ln>
              <a:noFill/>
            </a:ln>
          </p:spPr>
        </p:sp>
        <p:sp>
          <p:nvSpPr>
            <p:cNvPr id="25" name="Rectangle 25"/>
            <p:cNvSpPr/>
            <p:nvPr/>
          </p:nvSpPr>
          <p:spPr>
            <a:xfrm>
              <a:off x="1428750" y="4876800"/>
              <a:ext cx="438150" cy="1085850"/>
            </a:xfrm>
            <a:prstGeom prst="roundRect">
              <a:avLst>
                <a:gd name="adj" fmla="val 8696"/>
              </a:avLst>
            </a:prstGeom>
            <a:solidFill>
              <a:srgbClr val="49C08A"/>
            </a:solidFill>
            <a:ln>
              <a:noFill/>
            </a:ln>
          </p:spPr>
        </p:sp>
        <p:sp>
          <p:nvSpPr>
            <p:cNvPr id="26" name="TextBox 26"/>
            <p:cNvSpPr txBox="1"/>
            <p:nvPr/>
          </p:nvSpPr>
          <p:spPr>
            <a:xfrm>
              <a:off x="1268701" y="6039802"/>
              <a:ext cx="243897" cy="205359"/>
            </a:xfrm>
            <a:prstGeom prst="rect">
              <a:avLst/>
            </a:prstGeom>
            <a:noFill/>
            <a:ln>
              <a:noFill/>
            </a:ln>
          </p:spPr>
          <p:txBody>
            <a:bodyPr wrap="none" lIns="0" tIns="0" rIns="0" bIns="0" anchor="t" anchorCtr="0">
              <a:spAutoFit/>
            </a:bodyPr>
            <a:lstStyle/>
            <a:p>
              <a:pPr algn="ctr"/>
              <a:r>
                <a:rPr lang="en-US" sz="1050" dirty="0">
                  <a:solidFill>
                    <a:srgbClr val="9FB6CC"/>
                  </a:solidFill>
                  <a:latin typeface="+mn-lt"/>
                  <a:ea typeface="+mn-ea"/>
                  <a:cs typeface="+mn-cs"/>
                </a:rPr>
                <a:t>n=2</a:t>
              </a:r>
            </a:p>
          </p:txBody>
        </p:sp>
        <p:sp>
          <p:nvSpPr>
            <p:cNvPr id="27" name="Rectangle 27"/>
            <p:cNvSpPr/>
            <p:nvPr/>
          </p:nvSpPr>
          <p:spPr>
            <a:xfrm>
              <a:off x="2514600" y="5791200"/>
              <a:ext cx="438150" cy="171450"/>
            </a:xfrm>
            <a:prstGeom prst="roundRect">
              <a:avLst>
                <a:gd name="adj" fmla="val 22222"/>
              </a:avLst>
            </a:prstGeom>
            <a:solidFill>
              <a:srgbClr val="E0655B"/>
            </a:solidFill>
            <a:ln>
              <a:noFill/>
            </a:ln>
          </p:spPr>
        </p:sp>
        <p:sp>
          <p:nvSpPr>
            <p:cNvPr id="28" name="Rectangle 28"/>
            <p:cNvSpPr/>
            <p:nvPr/>
          </p:nvSpPr>
          <p:spPr>
            <a:xfrm>
              <a:off x="3028950" y="4991100"/>
              <a:ext cx="438150" cy="971550"/>
            </a:xfrm>
            <a:prstGeom prst="roundRect">
              <a:avLst>
                <a:gd name="adj" fmla="val 8696"/>
              </a:avLst>
            </a:prstGeom>
            <a:solidFill>
              <a:srgbClr val="49C08A"/>
            </a:solidFill>
            <a:ln>
              <a:noFill/>
            </a:ln>
          </p:spPr>
        </p:sp>
        <p:sp>
          <p:nvSpPr>
            <p:cNvPr id="29" name="TextBox 29"/>
            <p:cNvSpPr txBox="1"/>
            <p:nvPr/>
          </p:nvSpPr>
          <p:spPr>
            <a:xfrm>
              <a:off x="2868901" y="6039802"/>
              <a:ext cx="243897" cy="205359"/>
            </a:xfrm>
            <a:prstGeom prst="rect">
              <a:avLst/>
            </a:prstGeom>
            <a:noFill/>
            <a:ln>
              <a:noFill/>
            </a:ln>
          </p:spPr>
          <p:txBody>
            <a:bodyPr wrap="none" lIns="0" tIns="0" rIns="0" bIns="0" anchor="t" anchorCtr="0">
              <a:spAutoFit/>
            </a:bodyPr>
            <a:lstStyle/>
            <a:p>
              <a:pPr algn="ctr"/>
              <a:r>
                <a:rPr lang="en-US" sz="1050" dirty="0">
                  <a:solidFill>
                    <a:srgbClr val="9FB6CC"/>
                  </a:solidFill>
                  <a:latin typeface="+mn-lt"/>
                  <a:ea typeface="+mn-ea"/>
                  <a:cs typeface="+mn-cs"/>
                </a:rPr>
                <a:t>n=4</a:t>
              </a:r>
            </a:p>
          </p:txBody>
        </p:sp>
        <p:sp>
          <p:nvSpPr>
            <p:cNvPr id="30" name="Rectangle 30"/>
            <p:cNvSpPr/>
            <p:nvPr/>
          </p:nvSpPr>
          <p:spPr>
            <a:xfrm>
              <a:off x="4114800" y="5905500"/>
              <a:ext cx="438150" cy="57150"/>
            </a:xfrm>
            <a:prstGeom prst="roundRect">
              <a:avLst>
                <a:gd name="adj" fmla="val 50000"/>
              </a:avLst>
            </a:prstGeom>
            <a:solidFill>
              <a:srgbClr val="E0655B"/>
            </a:solidFill>
            <a:ln>
              <a:noFill/>
            </a:ln>
          </p:spPr>
        </p:sp>
        <p:sp>
          <p:nvSpPr>
            <p:cNvPr id="31" name="Rectangle 31"/>
            <p:cNvSpPr/>
            <p:nvPr/>
          </p:nvSpPr>
          <p:spPr>
            <a:xfrm>
              <a:off x="4629150" y="5048250"/>
              <a:ext cx="438150" cy="914400"/>
            </a:xfrm>
            <a:prstGeom prst="roundRect">
              <a:avLst>
                <a:gd name="adj" fmla="val 8696"/>
              </a:avLst>
            </a:prstGeom>
            <a:solidFill>
              <a:srgbClr val="49C08A"/>
            </a:solidFill>
            <a:ln>
              <a:noFill/>
            </a:ln>
          </p:spPr>
        </p:sp>
        <p:sp>
          <p:nvSpPr>
            <p:cNvPr id="32" name="TextBox 32"/>
            <p:cNvSpPr txBox="1"/>
            <p:nvPr/>
          </p:nvSpPr>
          <p:spPr>
            <a:xfrm>
              <a:off x="4469101" y="6039802"/>
              <a:ext cx="243897" cy="205359"/>
            </a:xfrm>
            <a:prstGeom prst="rect">
              <a:avLst/>
            </a:prstGeom>
            <a:noFill/>
            <a:ln>
              <a:noFill/>
            </a:ln>
          </p:spPr>
          <p:txBody>
            <a:bodyPr wrap="none" lIns="0" tIns="0" rIns="0" bIns="0" anchor="t" anchorCtr="0">
              <a:spAutoFit/>
            </a:bodyPr>
            <a:lstStyle/>
            <a:p>
              <a:pPr algn="ctr"/>
              <a:r>
                <a:rPr lang="en-US" sz="1050" dirty="0">
                  <a:solidFill>
                    <a:srgbClr val="9FB6CC"/>
                  </a:solidFill>
                  <a:latin typeface="+mn-lt"/>
                  <a:ea typeface="+mn-ea"/>
                  <a:cs typeface="+mn-cs"/>
                </a:rPr>
                <a:t>n=7</a:t>
              </a:r>
            </a:p>
          </p:txBody>
        </p:sp>
        <p:sp>
          <p:nvSpPr>
            <p:cNvPr id="33" name="Line 33"/>
            <p:cNvSpPr/>
            <p:nvPr/>
          </p:nvSpPr>
          <p:spPr>
            <a:xfrm>
              <a:off x="914400" y="5962650"/>
              <a:ext cx="4419600" cy="9525"/>
            </a:xfrm>
            <a:custGeom>
              <a:avLst/>
              <a:gdLst/>
              <a:ahLst/>
              <a:cxnLst/>
              <a:rect l="l" t="t" r="r" b="b"/>
              <a:pathLst>
                <a:path w="4419600" h="9525">
                  <a:moveTo>
                    <a:pt x="0" y="0"/>
                  </a:moveTo>
                  <a:lnTo>
                    <a:pt x="4419600" y="0"/>
                  </a:lnTo>
                </a:path>
              </a:pathLst>
            </a:custGeom>
            <a:noFill/>
            <a:ln w="9525">
              <a:solidFill>
                <a:srgbClr val="1E3E5A"/>
              </a:solidFill>
            </a:ln>
          </p:spPr>
        </p:sp>
        <p:sp>
          <p:nvSpPr>
            <p:cNvPr id="34" name="TextBox 34"/>
            <p:cNvSpPr txBox="1"/>
            <p:nvPr/>
          </p:nvSpPr>
          <p:spPr>
            <a:xfrm>
              <a:off x="776097" y="6200299"/>
              <a:ext cx="543223" cy="190690"/>
            </a:xfrm>
            <a:prstGeom prst="rect">
              <a:avLst/>
            </a:prstGeom>
            <a:noFill/>
            <a:ln>
              <a:noFill/>
            </a:ln>
          </p:spPr>
          <p:txBody>
            <a:bodyPr wrap="none" lIns="0" tIns="0" rIns="0" bIns="0" anchor="t" anchorCtr="0">
              <a:spAutoFit/>
            </a:bodyPr>
            <a:lstStyle/>
            <a:p>
              <a:pPr algn="l"/>
              <a:r>
                <a:rPr lang="en-US" sz="980" b="1" dirty="0">
                  <a:solidFill>
                    <a:srgbClr val="E0655B"/>
                  </a:solidFill>
                  <a:latin typeface="+mn-lt"/>
                  <a:ea typeface="+mn-ea"/>
                  <a:cs typeface="+mn-cs"/>
                </a:rPr>
                <a:t>scratch</a:t>
              </a:r>
            </a:p>
          </p:txBody>
        </p:sp>
        <p:sp>
          <p:nvSpPr>
            <p:cNvPr id="35" name="TextBox 35"/>
            <p:cNvSpPr txBox="1"/>
            <p:nvPr/>
          </p:nvSpPr>
          <p:spPr>
            <a:xfrm>
              <a:off x="1671447" y="6200299"/>
              <a:ext cx="619412" cy="190690"/>
            </a:xfrm>
            <a:prstGeom prst="rect">
              <a:avLst/>
            </a:prstGeom>
            <a:noFill/>
            <a:ln>
              <a:noFill/>
            </a:ln>
          </p:spPr>
          <p:txBody>
            <a:bodyPr wrap="none" lIns="0" tIns="0" rIns="0" bIns="0" anchor="t" anchorCtr="0">
              <a:spAutoFit/>
            </a:bodyPr>
            <a:lstStyle/>
            <a:p>
              <a:pPr algn="l"/>
              <a:r>
                <a:rPr lang="en-US" sz="980" b="1" dirty="0">
                  <a:solidFill>
                    <a:srgbClr val="49C08A"/>
                  </a:solidFill>
                  <a:latin typeface="+mn-lt"/>
                  <a:ea typeface="+mn-ea"/>
                  <a:cs typeface="+mn-cs"/>
                </a:rPr>
                <a:t>transfer</a:t>
              </a:r>
            </a:p>
          </p:txBody>
        </p:sp>
      </p:grpSp>
      <p:grpSp>
        <p:nvGrpSpPr>
          <p:cNvPr id="43" name="Group 43"/>
          <p:cNvGrpSpPr/>
          <p:nvPr/>
        </p:nvGrpSpPr>
        <p:grpSpPr>
          <a:xfrm>
            <a:off x="6229350" y="4152900"/>
            <a:ext cx="5429250" cy="2381250"/>
            <a:chOff x="6229350" y="4152900"/>
            <a:chExt cx="5429250" cy="2381250"/>
          </a:xfrm>
        </p:grpSpPr>
        <p:sp>
          <p:nvSpPr>
            <p:cNvPr id="37" name="Rectangle 37"/>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38" name="Rectangle 38"/>
            <p:cNvSpPr/>
            <p:nvPr/>
          </p:nvSpPr>
          <p:spPr>
            <a:xfrm>
              <a:off x="6229350" y="4324350"/>
              <a:ext cx="47625" cy="285750"/>
            </a:xfrm>
            <a:prstGeom prst="roundRect">
              <a:avLst>
                <a:gd name="adj" fmla="val 50000"/>
              </a:avLst>
            </a:prstGeom>
            <a:solidFill>
              <a:srgbClr val="49C08A"/>
            </a:solidFill>
            <a:ln>
              <a:noFill/>
            </a:ln>
          </p:spPr>
        </p:sp>
        <p:sp>
          <p:nvSpPr>
            <p:cNvPr id="39" name="TextBox 39"/>
            <p:cNvSpPr txBox="1"/>
            <p:nvPr/>
          </p:nvSpPr>
          <p:spPr>
            <a:xfrm>
              <a:off x="6468999" y="4401979"/>
              <a:ext cx="2379201"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striking property</a:t>
              </a:r>
            </a:p>
          </p:txBody>
        </p:sp>
        <p:sp>
          <p:nvSpPr>
            <p:cNvPr id="40" name="TextBox 40"/>
            <p:cNvSpPr txBox="1"/>
            <p:nvPr/>
          </p:nvSpPr>
          <p:spPr>
            <a:xfrm>
              <a:off x="6470904" y="4766310"/>
              <a:ext cx="341804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As the population expands, discovering new</a:t>
              </a:r>
            </a:p>
          </p:txBody>
        </p:sp>
        <p:sp>
          <p:nvSpPr>
            <p:cNvPr id="41" name="TextBox 41"/>
            <p:cNvSpPr txBox="1"/>
            <p:nvPr/>
          </p:nvSpPr>
          <p:spPr>
            <a:xfrm>
              <a:off x="6470904" y="4994910"/>
              <a:ext cx="436580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strategies becomes easier — growth compounds instead</a:t>
              </a:r>
            </a:p>
          </p:txBody>
        </p:sp>
        <p:sp>
          <p:nvSpPr>
            <p:cNvPr id="42" name="TextBox 42"/>
            <p:cNvSpPr txBox="1"/>
            <p:nvPr/>
          </p:nvSpPr>
          <p:spPr>
            <a:xfrm>
              <a:off x="6470904" y="5223510"/>
              <a:ext cx="149032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of getting harder.</a:t>
              </a:r>
            </a:p>
          </p:txBody>
        </p:sp>
      </p:grpSp>
      <p:sp>
        <p:nvSpPr>
          <p:cNvPr id="44" name="TextBox 44"/>
          <p:cNvSpPr txBox="1"/>
          <p:nvPr/>
        </p:nvSpPr>
        <p:spPr>
          <a:xfrm>
            <a:off x="528447" y="6619399"/>
            <a:ext cx="6603977"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Against competent mixtures over four or seven policies, the randomly initialized agent fails outright.</a:t>
            </a:r>
          </a:p>
        </p:txBody>
      </p:sp>
      <p:sp>
        <p:nvSpPr>
          <p:cNvPr id="45" name="cue_s08_c1_key_ablation_isolates_role_transfer" title="cue_s08_c1_key_ablation_isolates_role_transfer" descr="cue_s08_c1_key_ablation_isolates_role_transfer &quot;A key ablation isolates the role of transfer. NeuPL agents are re-initialized either from scratch or by transferring the encoder and memory components of a network trained to epoch one thousand, then tasked with beating fixed Nash mixtures of increasing stren"/>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2_against_easily_exploitable_two_polic" title="cue_s08_c2_against_easily_exploitable_two_polic" descr="cue_s08_c2_against_easily_exploitable_two_polic Against an easily exploitable two-policy mixture, even the from-scratch agent eventually finds a counter, just more slowly."/>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3_but_against_competent_mixtures_over" title="cue_s08_c3_but_against_competent_mixtures_over" descr="cue_s08_c3_but_against_competent_mixtures_over But against competent mixtures over four or seven policies, the randomly initialized agent fails outright despite prolonged training, while the transferred agent readily discovers the exploit."/>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4_neupl_most_striking_property_populat" title="cue_s08_c4_neupl_most_striking_property_populat" descr="cue_s08_c4_neupl_most_striking_property_populat This is NeuPL's most striking property: as the population expands, discovering new strategies becomes easier, not harder.&quot;"/>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753301"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HEADLINE NUMBERS</a:t>
            </a:r>
          </a:p>
        </p:txBody>
      </p:sp>
      <p:sp>
        <p:nvSpPr>
          <p:cNvPr id="4" name="TextBox 4"/>
          <p:cNvSpPr txBox="1"/>
          <p:nvPr/>
        </p:nvSpPr>
        <p:spPr>
          <a:xfrm>
            <a:off x="729996" y="715328"/>
            <a:ext cx="2200820"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The numbers</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09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4" name="Group 14"/>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4573" y="1900714"/>
              <a:ext cx="1511253" cy="249364"/>
            </a:xfrm>
            <a:prstGeom prst="rect">
              <a:avLst/>
            </a:prstGeom>
            <a:noFill/>
            <a:ln>
              <a:noFill/>
            </a:ln>
          </p:spPr>
          <p:txBody>
            <a:bodyPr wrap="none" lIns="0" tIns="0" rIns="0" bIns="0" anchor="t" anchorCtr="0">
              <a:spAutoFit/>
            </a:bodyPr>
            <a:lstStyle/>
            <a:p>
              <a:pPr algn="l"/>
              <a:r>
                <a:rPr lang="en-US" sz="1280" b="1" dirty="0">
                  <a:solidFill>
                    <a:srgbClr val="9FB6CC"/>
                  </a:solidFill>
                  <a:latin typeface="+mn-lt"/>
                  <a:ea typeface="+mn-ea"/>
                  <a:cs typeface="+mn-cs"/>
                </a:rPr>
                <a:t>Population match</a:t>
              </a:r>
            </a:p>
          </p:txBody>
        </p:sp>
        <p:sp>
          <p:nvSpPr>
            <p:cNvPr id="10" name="TextBox 10"/>
            <p:cNvSpPr txBox="1"/>
            <p:nvPr/>
          </p:nvSpPr>
          <p:spPr>
            <a:xfrm>
              <a:off x="762000" y="2387918"/>
              <a:ext cx="1759755" cy="847725"/>
            </a:xfrm>
            <a:prstGeom prst="rect">
              <a:avLst/>
            </a:prstGeom>
            <a:noFill/>
            <a:ln>
              <a:noFill/>
            </a:ln>
          </p:spPr>
          <p:txBody>
            <a:bodyPr wrap="none" lIns="0" tIns="0" rIns="0" bIns="0" anchor="t" anchorCtr="0">
              <a:spAutoFit/>
            </a:bodyPr>
            <a:lstStyle/>
            <a:p>
              <a:pPr algn="l"/>
              <a:r>
                <a:rPr lang="en-US" sz="4350" b="1" dirty="0">
                  <a:solidFill>
                    <a:srgbClr val="2FB6A8"/>
                  </a:solidFill>
                  <a:latin typeface="+mn-lt"/>
                  <a:ea typeface="+mn-ea"/>
                  <a:cs typeface="+mn-cs"/>
                </a:rPr>
                <a:t>8 vs 8</a:t>
              </a:r>
            </a:p>
          </p:txBody>
        </p:sp>
        <p:sp>
          <p:nvSpPr>
            <p:cNvPr id="11" name="TextBox 11"/>
            <p:cNvSpPr txBox="1"/>
            <p:nvPr/>
          </p:nvSpPr>
          <p:spPr>
            <a:xfrm>
              <a:off x="775335" y="3155156"/>
              <a:ext cx="3738579"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A NeuPL population capped at 8 policies beats PSRO</a:t>
              </a:r>
            </a:p>
          </p:txBody>
        </p:sp>
        <p:sp>
          <p:nvSpPr>
            <p:cNvPr id="12" name="TextBox 12"/>
            <p:cNvSpPr txBox="1"/>
            <p:nvPr/>
          </p:nvSpPr>
          <p:spPr>
            <a:xfrm>
              <a:off x="775335" y="3364706"/>
              <a:ext cx="3712838"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populations of 8 — while PSRO used 2× the gradient</a:t>
              </a:r>
            </a:p>
          </p:txBody>
        </p:sp>
        <p:sp>
          <p:nvSpPr>
            <p:cNvPr id="13" name="TextBox 13"/>
            <p:cNvSpPr txBox="1"/>
            <p:nvPr/>
          </p:nvSpPr>
          <p:spPr>
            <a:xfrm>
              <a:off x="775335" y="3574256"/>
              <a:ext cx="674837"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updates.</a:t>
              </a:r>
            </a:p>
          </p:txBody>
        </p:sp>
      </p:grpSp>
      <p:grpSp>
        <p:nvGrpSpPr>
          <p:cNvPr id="22" name="Group 22"/>
          <p:cNvGrpSpPr/>
          <p:nvPr/>
        </p:nvGrpSpPr>
        <p:grpSpPr>
          <a:xfrm>
            <a:off x="6229350" y="1600200"/>
            <a:ext cx="5429250" cy="2381250"/>
            <a:chOff x="6229350" y="1600200"/>
            <a:chExt cx="5429250" cy="2381250"/>
          </a:xfrm>
        </p:grpSpPr>
        <p:sp>
          <p:nvSpPr>
            <p:cNvPr id="15" name="Rectangle 15"/>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6" name="Rectangle 16"/>
            <p:cNvSpPr/>
            <p:nvPr/>
          </p:nvSpPr>
          <p:spPr>
            <a:xfrm>
              <a:off x="6229350" y="1771650"/>
              <a:ext cx="47625" cy="285750"/>
            </a:xfrm>
            <a:prstGeom prst="roundRect">
              <a:avLst>
                <a:gd name="adj" fmla="val 50000"/>
              </a:avLst>
            </a:prstGeom>
            <a:solidFill>
              <a:srgbClr val="4C86F0"/>
            </a:solidFill>
            <a:ln>
              <a:noFill/>
            </a:ln>
          </p:spPr>
        </p:sp>
        <p:sp>
          <p:nvSpPr>
            <p:cNvPr id="17" name="TextBox 17"/>
            <p:cNvSpPr txBox="1"/>
            <p:nvPr/>
          </p:nvSpPr>
          <p:spPr>
            <a:xfrm>
              <a:off x="6470523" y="1900714"/>
              <a:ext cx="1728112" cy="249364"/>
            </a:xfrm>
            <a:prstGeom prst="rect">
              <a:avLst/>
            </a:prstGeom>
            <a:noFill/>
            <a:ln>
              <a:noFill/>
            </a:ln>
          </p:spPr>
          <p:txBody>
            <a:bodyPr wrap="none" lIns="0" tIns="0" rIns="0" bIns="0" anchor="t" anchorCtr="0">
              <a:spAutoFit/>
            </a:bodyPr>
            <a:lstStyle/>
            <a:p>
              <a:pPr algn="l"/>
              <a:r>
                <a:rPr lang="en-US" sz="1280" b="1" dirty="0">
                  <a:solidFill>
                    <a:srgbClr val="9FB6CC"/>
                  </a:solidFill>
                  <a:latin typeface="+mn-lt"/>
                  <a:ea typeface="+mn-ea"/>
                  <a:cs typeface="+mn-cs"/>
                </a:rPr>
                <a:t>Effective diversity</a:t>
              </a:r>
            </a:p>
          </p:txBody>
        </p:sp>
        <p:sp>
          <p:nvSpPr>
            <p:cNvPr id="18" name="TextBox 18"/>
            <p:cNvSpPr txBox="1"/>
            <p:nvPr/>
          </p:nvSpPr>
          <p:spPr>
            <a:xfrm>
              <a:off x="6457950" y="2387918"/>
              <a:ext cx="1421573" cy="847725"/>
            </a:xfrm>
            <a:prstGeom prst="rect">
              <a:avLst/>
            </a:prstGeom>
            <a:noFill/>
            <a:ln>
              <a:noFill/>
            </a:ln>
          </p:spPr>
          <p:txBody>
            <a:bodyPr wrap="none" lIns="0" tIns="0" rIns="0" bIns="0" anchor="t" anchorCtr="0">
              <a:spAutoFit/>
            </a:bodyPr>
            <a:lstStyle/>
            <a:p>
              <a:pPr algn="l"/>
              <a:r>
                <a:rPr lang="en-US" sz="4350" b="1" dirty="0">
                  <a:solidFill>
                    <a:srgbClr val="4C86F0"/>
                  </a:solidFill>
                  <a:latin typeface="+mn-lt"/>
                  <a:ea typeface="+mn-ea"/>
                  <a:cs typeface="+mn-cs"/>
                </a:rPr>
                <a:t>5 → 8</a:t>
              </a:r>
            </a:p>
          </p:txBody>
        </p:sp>
        <p:sp>
          <p:nvSpPr>
            <p:cNvPr id="19" name="TextBox 19"/>
            <p:cNvSpPr txBox="1"/>
            <p:nvPr/>
          </p:nvSpPr>
          <p:spPr>
            <a:xfrm>
              <a:off x="6471285" y="3155156"/>
              <a:ext cx="3476599"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As relative population performance climbs, the</a:t>
              </a:r>
            </a:p>
          </p:txBody>
        </p:sp>
        <p:sp>
          <p:nvSpPr>
            <p:cNvPr id="20" name="TextBox 20"/>
            <p:cNvSpPr txBox="1"/>
            <p:nvPr/>
          </p:nvSpPr>
          <p:spPr>
            <a:xfrm>
              <a:off x="6471285" y="3364706"/>
              <a:ext cx="3969258"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effective number of distinct policies grows from five</a:t>
              </a:r>
            </a:p>
          </p:txBody>
        </p:sp>
        <p:sp>
          <p:nvSpPr>
            <p:cNvPr id="21" name="TextBox 21"/>
            <p:cNvSpPr txBox="1"/>
            <p:nvPr/>
          </p:nvSpPr>
          <p:spPr>
            <a:xfrm>
              <a:off x="6471285" y="3574256"/>
              <a:ext cx="682376"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to eight.</a:t>
              </a:r>
            </a:p>
          </p:txBody>
        </p:sp>
      </p:grpSp>
      <p:grpSp>
        <p:nvGrpSpPr>
          <p:cNvPr id="29" name="Group 29"/>
          <p:cNvGrpSpPr/>
          <p:nvPr/>
        </p:nvGrpSpPr>
        <p:grpSpPr>
          <a:xfrm>
            <a:off x="533400" y="4152900"/>
            <a:ext cx="5429250" cy="2381250"/>
            <a:chOff x="533400" y="4152900"/>
            <a:chExt cx="5429250" cy="2381250"/>
          </a:xfrm>
        </p:grpSpPr>
        <p:sp>
          <p:nvSpPr>
            <p:cNvPr id="23" name="Rectangle 23"/>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4" name="Rectangle 24"/>
            <p:cNvSpPr/>
            <p:nvPr/>
          </p:nvSpPr>
          <p:spPr>
            <a:xfrm>
              <a:off x="533400" y="4324350"/>
              <a:ext cx="47625" cy="285750"/>
            </a:xfrm>
            <a:prstGeom prst="roundRect">
              <a:avLst>
                <a:gd name="adj" fmla="val 50000"/>
              </a:avLst>
            </a:prstGeom>
            <a:solidFill>
              <a:srgbClr val="E0A93B"/>
            </a:solidFill>
            <a:ln>
              <a:noFill/>
            </a:ln>
          </p:spPr>
        </p:sp>
        <p:sp>
          <p:nvSpPr>
            <p:cNvPr id="25" name="TextBox 25"/>
            <p:cNvSpPr txBox="1"/>
            <p:nvPr/>
          </p:nvSpPr>
          <p:spPr>
            <a:xfrm>
              <a:off x="774573" y="4453414"/>
              <a:ext cx="1366746" cy="249364"/>
            </a:xfrm>
            <a:prstGeom prst="rect">
              <a:avLst/>
            </a:prstGeom>
            <a:noFill/>
            <a:ln>
              <a:noFill/>
            </a:ln>
          </p:spPr>
          <p:txBody>
            <a:bodyPr wrap="none" lIns="0" tIns="0" rIns="0" bIns="0" anchor="t" anchorCtr="0">
              <a:spAutoFit/>
            </a:bodyPr>
            <a:lstStyle/>
            <a:p>
              <a:pPr algn="l"/>
              <a:r>
                <a:rPr lang="en-US" sz="1280" b="1" dirty="0">
                  <a:solidFill>
                    <a:srgbClr val="9FB6CC"/>
                  </a:solidFill>
                  <a:latin typeface="+mn-lt"/>
                  <a:ea typeface="+mn-ea"/>
                  <a:cs typeface="+mn-cs"/>
                </a:rPr>
                <a:t>Transfer study</a:t>
              </a:r>
            </a:p>
          </p:txBody>
        </p:sp>
        <p:sp>
          <p:nvSpPr>
            <p:cNvPr id="26" name="TextBox 26"/>
            <p:cNvSpPr txBox="1"/>
            <p:nvPr/>
          </p:nvSpPr>
          <p:spPr>
            <a:xfrm>
              <a:off x="762000" y="4940618"/>
              <a:ext cx="2466864" cy="847725"/>
            </a:xfrm>
            <a:prstGeom prst="rect">
              <a:avLst/>
            </a:prstGeom>
            <a:noFill/>
            <a:ln>
              <a:noFill/>
            </a:ln>
          </p:spPr>
          <p:txBody>
            <a:bodyPr wrap="none" lIns="0" tIns="0" rIns="0" bIns="0" anchor="t" anchorCtr="0">
              <a:spAutoFit/>
            </a:bodyPr>
            <a:lstStyle/>
            <a:p>
              <a:pPr algn="l"/>
              <a:r>
                <a:rPr lang="en-US" sz="4350" b="1" dirty="0">
                  <a:solidFill>
                    <a:srgbClr val="E0A93B"/>
                  </a:solidFill>
                  <a:latin typeface="+mn-lt"/>
                  <a:ea typeface="+mn-ea"/>
                  <a:cs typeface="+mn-cs"/>
                </a:rPr>
                <a:t>2 / 4 / 7</a:t>
              </a:r>
            </a:p>
          </p:txBody>
        </p:sp>
        <p:sp>
          <p:nvSpPr>
            <p:cNvPr id="27" name="TextBox 27"/>
            <p:cNvSpPr txBox="1"/>
            <p:nvPr/>
          </p:nvSpPr>
          <p:spPr>
            <a:xfrm>
              <a:off x="775335" y="5707856"/>
              <a:ext cx="4102795"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Nash mixtures over two, four, and seven policies, each</a:t>
              </a:r>
            </a:p>
          </p:txBody>
        </p:sp>
        <p:sp>
          <p:nvSpPr>
            <p:cNvPr id="28" name="TextBox 28"/>
            <p:cNvSpPr txBox="1"/>
            <p:nvPr/>
          </p:nvSpPr>
          <p:spPr>
            <a:xfrm>
              <a:off x="775335" y="5917406"/>
              <a:ext cx="376571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repeated five times to measure exploiter learning.</a:t>
              </a:r>
            </a:p>
          </p:txBody>
        </p:sp>
      </p:grpSp>
      <p:grpSp>
        <p:nvGrpSpPr>
          <p:cNvPr id="37" name="Group 37"/>
          <p:cNvGrpSpPr/>
          <p:nvPr/>
        </p:nvGrpSpPr>
        <p:grpSpPr>
          <a:xfrm>
            <a:off x="6229350" y="4152900"/>
            <a:ext cx="5429250" cy="2381250"/>
            <a:chOff x="6229350" y="4152900"/>
            <a:chExt cx="5429250" cy="2381250"/>
          </a:xfrm>
        </p:grpSpPr>
        <p:sp>
          <p:nvSpPr>
            <p:cNvPr id="30" name="Rectangle 30"/>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31" name="Rectangle 31"/>
            <p:cNvSpPr/>
            <p:nvPr/>
          </p:nvSpPr>
          <p:spPr>
            <a:xfrm>
              <a:off x="6229350" y="4324350"/>
              <a:ext cx="47625" cy="285750"/>
            </a:xfrm>
            <a:prstGeom prst="roundRect">
              <a:avLst>
                <a:gd name="adj" fmla="val 50000"/>
              </a:avLst>
            </a:prstGeom>
            <a:solidFill>
              <a:srgbClr val="49C08A"/>
            </a:solidFill>
            <a:ln>
              <a:noFill/>
            </a:ln>
          </p:spPr>
        </p:sp>
        <p:sp>
          <p:nvSpPr>
            <p:cNvPr id="32" name="TextBox 32"/>
            <p:cNvSpPr txBox="1"/>
            <p:nvPr/>
          </p:nvSpPr>
          <p:spPr>
            <a:xfrm>
              <a:off x="6470523" y="4453414"/>
              <a:ext cx="1013698" cy="249364"/>
            </a:xfrm>
            <a:prstGeom prst="rect">
              <a:avLst/>
            </a:prstGeom>
            <a:noFill/>
            <a:ln>
              <a:noFill/>
            </a:ln>
          </p:spPr>
          <p:txBody>
            <a:bodyPr wrap="none" lIns="0" tIns="0" rIns="0" bIns="0" anchor="t" anchorCtr="0">
              <a:spAutoFit/>
            </a:bodyPr>
            <a:lstStyle/>
            <a:p>
              <a:pPr algn="l"/>
              <a:r>
                <a:rPr lang="en-US" sz="1280" b="1" dirty="0">
                  <a:solidFill>
                    <a:srgbClr val="9FB6CC"/>
                  </a:solidFill>
                  <a:latin typeface="+mn-lt"/>
                  <a:ea typeface="+mn-ea"/>
                  <a:cs typeface="+mn-cs"/>
                </a:rPr>
                <a:t>Bottom line</a:t>
              </a:r>
            </a:p>
          </p:txBody>
        </p:sp>
        <p:sp>
          <p:nvSpPr>
            <p:cNvPr id="33" name="TextBox 33"/>
            <p:cNvSpPr txBox="1"/>
            <p:nvPr/>
          </p:nvSpPr>
          <p:spPr>
            <a:xfrm>
              <a:off x="6457950" y="4940618"/>
              <a:ext cx="652977" cy="847725"/>
            </a:xfrm>
            <a:prstGeom prst="rect">
              <a:avLst/>
            </a:prstGeom>
            <a:noFill/>
            <a:ln>
              <a:noFill/>
            </a:ln>
          </p:spPr>
          <p:txBody>
            <a:bodyPr wrap="none" lIns="0" tIns="0" rIns="0" bIns="0" anchor="t" anchorCtr="0">
              <a:spAutoFit/>
            </a:bodyPr>
            <a:lstStyle/>
            <a:p>
              <a:pPr algn="l"/>
              <a:r>
                <a:rPr lang="en-US" sz="4350" b="1" dirty="0">
                  <a:solidFill>
                    <a:srgbClr val="49C08A"/>
                  </a:solidFill>
                  <a:latin typeface="+mn-lt"/>
                  <a:ea typeface="+mn-ea"/>
                  <a:cs typeface="+mn-cs"/>
                </a:rPr>
                <a:t>✓</a:t>
              </a:r>
            </a:p>
          </p:txBody>
        </p:sp>
        <p:sp>
          <p:nvSpPr>
            <p:cNvPr id="34" name="TextBox 34"/>
            <p:cNvSpPr txBox="1"/>
            <p:nvPr/>
          </p:nvSpPr>
          <p:spPr>
            <a:xfrm>
              <a:off x="6471285" y="5707856"/>
              <a:ext cx="2948932"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Together these establish NeuPL as more</a:t>
              </a:r>
            </a:p>
          </p:txBody>
        </p:sp>
        <p:sp>
          <p:nvSpPr>
            <p:cNvPr id="35" name="TextBox 35"/>
            <p:cNvSpPr txBox="1"/>
            <p:nvPr/>
          </p:nvSpPr>
          <p:spPr>
            <a:xfrm>
              <a:off x="6471285" y="5917406"/>
              <a:ext cx="358478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sample-efficient and more robust than standard</a:t>
              </a:r>
            </a:p>
          </p:txBody>
        </p:sp>
        <p:sp>
          <p:nvSpPr>
            <p:cNvPr id="36" name="TextBox 36"/>
            <p:cNvSpPr txBox="1"/>
            <p:nvPr/>
          </p:nvSpPr>
          <p:spPr>
            <a:xfrm>
              <a:off x="6471285" y="6126956"/>
              <a:ext cx="1481480"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iterative baselines.</a:t>
              </a:r>
            </a:p>
          </p:txBody>
        </p:sp>
      </p:grpSp>
      <p:sp>
        <p:nvSpPr>
          <p:cNvPr id="38" name="TextBox 38"/>
          <p:cNvSpPr txBox="1"/>
          <p:nvPr/>
        </p:nvSpPr>
        <p:spPr>
          <a:xfrm>
            <a:off x="528447" y="6619399"/>
            <a:ext cx="6960312"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A population cap greater than 8 yields only marginal extra exploitability; effective size plateaus around 12.</a:t>
            </a:r>
          </a:p>
        </p:txBody>
      </p:sp>
      <p:sp>
        <p:nvSpPr>
          <p:cNvPr id="39" name="cue_s09_c1_put_numbers_neupl_population_capped" title="cue_s09_c1_put_numbers_neupl_population_capped" descr="cue_s09_c1_put_numbers_neupl_population_capped &quot;To put numbers on it: a NeuPL population capped at eight policies beats PSRO populations of eight policies even when PSRO trained twice as long per iteration."/>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relative_population_performance_clim" title="cue_s09_c2_relative_population_performance_clim" descr="cue_s09_c2_relative_population_performance_clim As relative population performance climbs, the effective number of distinct policies grows from five to eight, and across different maximum caps the effective size saturates around twelve."/>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transfer_study_spans_nash_mixtures" title="cue_s09_c3_transfer_study_spans_nash_mixtures" descr="cue_s09_c3_transfer_study_spans_nash_mixtures The transfer study spans Nash mixtures over two, four, and seven policies, each repeated five times."/>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4_together_these_establish_neupl_more" title="cue_s09_c4_together_these_establish_neupl_more" descr="cue_s09_c4_together_these_establish_neupl_more Together these establish NeuPL as more sample-efficient and more robust than the standard iterative baselines.&quot;"/>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930244"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TAKEAWAY</a:t>
            </a:r>
          </a:p>
        </p:txBody>
      </p:sp>
      <p:sp>
        <p:nvSpPr>
          <p:cNvPr id="4" name="TextBox 4"/>
          <p:cNvSpPr txBox="1"/>
          <p:nvPr/>
        </p:nvSpPr>
        <p:spPr>
          <a:xfrm>
            <a:off x="729996" y="715328"/>
            <a:ext cx="1695687"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Takeaway</a:t>
            </a:r>
          </a:p>
        </p:txBody>
      </p:sp>
      <p:sp>
        <p:nvSpPr>
          <p:cNvPr id="5" name="TextBox 5"/>
          <p:cNvSpPr txBox="1"/>
          <p:nvPr/>
        </p:nvSpPr>
        <p:spPr>
          <a:xfrm>
            <a:off x="10522646" y="754856"/>
            <a:ext cx="1141669"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NeuPL · 10 / 10</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4" name="Group 14"/>
          <p:cNvGrpSpPr/>
          <p:nvPr/>
        </p:nvGrpSpPr>
        <p:grpSpPr>
          <a:xfrm>
            <a:off x="533400" y="1695450"/>
            <a:ext cx="5429250" cy="3619500"/>
            <a:chOff x="533400" y="1695450"/>
            <a:chExt cx="5429250" cy="3619500"/>
          </a:xfrm>
        </p:grpSpPr>
        <p:sp>
          <p:nvSpPr>
            <p:cNvPr id="7" name="Rectangle 7"/>
            <p:cNvSpPr/>
            <p:nvPr/>
          </p:nvSpPr>
          <p:spPr>
            <a:xfrm>
              <a:off x="533400" y="1695450"/>
              <a:ext cx="5429250" cy="3619500"/>
            </a:xfrm>
            <a:prstGeom prst="roundRect">
              <a:avLst>
                <a:gd name="adj" fmla="val 3158"/>
              </a:avLst>
            </a:prstGeom>
            <a:solidFill>
              <a:schemeClr val="accent5"/>
            </a:solidFill>
            <a:ln w="11430">
              <a:solidFill>
                <a:srgbClr val="1E3E5A"/>
              </a:solidFill>
            </a:ln>
          </p:spPr>
        </p:sp>
        <p:sp>
          <p:nvSpPr>
            <p:cNvPr id="8" name="Rectangle 8"/>
            <p:cNvSpPr/>
            <p:nvPr/>
          </p:nvSpPr>
          <p:spPr>
            <a:xfrm>
              <a:off x="533400" y="1866900"/>
              <a:ext cx="47625" cy="285750"/>
            </a:xfrm>
            <a:prstGeom prst="roundRect">
              <a:avLst>
                <a:gd name="adj" fmla="val 50000"/>
              </a:avLst>
            </a:prstGeom>
            <a:solidFill>
              <a:srgbClr val="2FB6A8"/>
            </a:solidFill>
            <a:ln>
              <a:noFill/>
            </a:ln>
          </p:spPr>
        </p:sp>
        <p:sp>
          <p:nvSpPr>
            <p:cNvPr id="9" name="TextBox 9"/>
            <p:cNvSpPr txBox="1"/>
            <p:nvPr/>
          </p:nvSpPr>
          <p:spPr>
            <a:xfrm>
              <a:off x="774192" y="2006918"/>
              <a:ext cx="1088378" cy="264033"/>
            </a:xfrm>
            <a:prstGeom prst="rect">
              <a:avLst/>
            </a:prstGeom>
            <a:noFill/>
            <a:ln>
              <a:noFill/>
            </a:ln>
          </p:spPr>
          <p:txBody>
            <a:bodyPr wrap="none" lIns="0" tIns="0" rIns="0" bIns="0" anchor="t" anchorCtr="0">
              <a:spAutoFit/>
            </a:bodyPr>
            <a:lstStyle/>
            <a:p>
              <a:pPr algn="l"/>
              <a:r>
                <a:rPr lang="en-US" sz="1350" b="1" dirty="0">
                  <a:solidFill>
                    <a:srgbClr val="2FB6A8"/>
                  </a:solidFill>
                  <a:latin typeface="+mn-lt"/>
                  <a:ea typeface="+mn-ea"/>
                  <a:cs typeface="+mn-cs"/>
                </a:rPr>
                <a:t>The one line</a:t>
              </a:r>
            </a:p>
          </p:txBody>
        </p:sp>
        <p:sp>
          <p:nvSpPr>
            <p:cNvPr id="10" name="TextBox 10"/>
            <p:cNvSpPr txBox="1"/>
            <p:nvPr/>
          </p:nvSpPr>
          <p:spPr>
            <a:xfrm>
              <a:off x="773811" y="2398871"/>
              <a:ext cx="3681294" cy="278702"/>
            </a:xfrm>
            <a:prstGeom prst="rect">
              <a:avLst/>
            </a:prstGeom>
            <a:noFill/>
            <a:ln>
              <a:noFill/>
            </a:ln>
          </p:spPr>
          <p:txBody>
            <a:bodyPr wrap="none" lIns="0" tIns="0" rIns="0" bIns="0" anchor="t" anchorCtr="0">
              <a:spAutoFit/>
            </a:bodyPr>
            <a:lstStyle/>
            <a:p>
              <a:pPr algn="l"/>
              <a:r>
                <a:rPr lang="en-US" sz="1420" dirty="0">
                  <a:solidFill>
                    <a:srgbClr val="EAF2FA"/>
                  </a:solidFill>
                  <a:latin typeface="+mn-lt"/>
                  <a:ea typeface="+mn-ea"/>
                  <a:cs typeface="+mn-cs"/>
                </a:rPr>
                <a:t>Represent the whole population inside a</a:t>
              </a:r>
            </a:p>
          </p:txBody>
        </p:sp>
        <p:sp>
          <p:nvSpPr>
            <p:cNvPr id="11" name="TextBox 11"/>
            <p:cNvSpPr txBox="1"/>
            <p:nvPr/>
          </p:nvSpPr>
          <p:spPr>
            <a:xfrm>
              <a:off x="773811" y="2684621"/>
              <a:ext cx="3369343" cy="278702"/>
            </a:xfrm>
            <a:prstGeom prst="rect">
              <a:avLst/>
            </a:prstGeom>
            <a:noFill/>
            <a:ln>
              <a:noFill/>
            </a:ln>
          </p:spPr>
          <p:txBody>
            <a:bodyPr wrap="none" lIns="0" tIns="0" rIns="0" bIns="0" anchor="t" anchorCtr="0">
              <a:spAutoFit/>
            </a:bodyPr>
            <a:lstStyle/>
            <a:p>
              <a:pPr algn="l"/>
              <a:r>
                <a:rPr lang="en-US" sz="1420" dirty="0">
                  <a:solidFill>
                    <a:srgbClr val="EAF2FA"/>
                  </a:solidFill>
                  <a:latin typeface="+mn-lt"/>
                  <a:ea typeface="+mn-ea"/>
                  <a:cs typeface="+mn-cs"/>
                </a:rPr>
                <a:t>single conditional model, and let the</a:t>
              </a:r>
            </a:p>
          </p:txBody>
        </p:sp>
        <p:sp>
          <p:nvSpPr>
            <p:cNvPr id="12" name="TextBox 12"/>
            <p:cNvSpPr txBox="1"/>
            <p:nvPr/>
          </p:nvSpPr>
          <p:spPr>
            <a:xfrm>
              <a:off x="773811" y="2970371"/>
              <a:ext cx="3875918" cy="278702"/>
            </a:xfrm>
            <a:prstGeom prst="rect">
              <a:avLst/>
            </a:prstGeom>
            <a:noFill/>
            <a:ln>
              <a:noFill/>
            </a:ln>
          </p:spPr>
          <p:txBody>
            <a:bodyPr wrap="none" lIns="0" tIns="0" rIns="0" bIns="0" anchor="t" anchorCtr="0">
              <a:spAutoFit/>
            </a:bodyPr>
            <a:lstStyle/>
            <a:p>
              <a:pPr algn="l"/>
              <a:r>
                <a:rPr lang="en-US" sz="1420" dirty="0">
                  <a:solidFill>
                    <a:srgbClr val="EAF2FA"/>
                  </a:solidFill>
                  <a:latin typeface="+mn-lt"/>
                  <a:ea typeface="+mn-ea"/>
                  <a:cs typeface="+mn-cs"/>
                </a:rPr>
                <a:t>interaction graph decide which opponents</a:t>
              </a:r>
            </a:p>
          </p:txBody>
        </p:sp>
        <p:sp>
          <p:nvSpPr>
            <p:cNvPr id="13" name="TextBox 13"/>
            <p:cNvSpPr txBox="1"/>
            <p:nvPr/>
          </p:nvSpPr>
          <p:spPr>
            <a:xfrm>
              <a:off x="773811" y="3256121"/>
              <a:ext cx="1715806" cy="278702"/>
            </a:xfrm>
            <a:prstGeom prst="rect">
              <a:avLst/>
            </a:prstGeom>
            <a:noFill/>
            <a:ln>
              <a:noFill/>
            </a:ln>
          </p:spPr>
          <p:txBody>
            <a:bodyPr wrap="none" lIns="0" tIns="0" rIns="0" bIns="0" anchor="t" anchorCtr="0">
              <a:spAutoFit/>
            </a:bodyPr>
            <a:lstStyle/>
            <a:p>
              <a:pPr algn="l"/>
              <a:r>
                <a:rPr lang="en-US" sz="1420" dirty="0">
                  <a:solidFill>
                    <a:srgbClr val="EAF2FA"/>
                  </a:solidFill>
                  <a:latin typeface="+mn-lt"/>
                  <a:ea typeface="+mn-ea"/>
                  <a:cs typeface="+mn-cs"/>
                </a:rPr>
                <a:t>each policy faces.</a:t>
              </a:r>
            </a:p>
          </p:txBody>
        </p:sp>
      </p:grpSp>
      <p:grpSp>
        <p:nvGrpSpPr>
          <p:cNvPr id="31" name="Group 31"/>
          <p:cNvGrpSpPr/>
          <p:nvPr/>
        </p:nvGrpSpPr>
        <p:grpSpPr>
          <a:xfrm>
            <a:off x="6229350" y="1695450"/>
            <a:ext cx="5429250" cy="3619500"/>
            <a:chOff x="6229350" y="1695450"/>
            <a:chExt cx="5429250" cy="3619500"/>
          </a:xfrm>
        </p:grpSpPr>
        <p:sp>
          <p:nvSpPr>
            <p:cNvPr id="15" name="Rectangle 15"/>
            <p:cNvSpPr/>
            <p:nvPr/>
          </p:nvSpPr>
          <p:spPr>
            <a:xfrm>
              <a:off x="6229350" y="1695450"/>
              <a:ext cx="5429250" cy="3619500"/>
            </a:xfrm>
            <a:prstGeom prst="roundRect">
              <a:avLst>
                <a:gd name="adj" fmla="val 3158"/>
              </a:avLst>
            </a:prstGeom>
            <a:solidFill>
              <a:schemeClr val="accent5"/>
            </a:solidFill>
            <a:ln w="11430">
              <a:solidFill>
                <a:srgbClr val="1E3E5A"/>
              </a:solidFill>
            </a:ln>
          </p:spPr>
        </p:sp>
        <p:sp>
          <p:nvSpPr>
            <p:cNvPr id="16" name="Rectangle 16"/>
            <p:cNvSpPr/>
            <p:nvPr/>
          </p:nvSpPr>
          <p:spPr>
            <a:xfrm>
              <a:off x="6229350" y="1866900"/>
              <a:ext cx="47625" cy="285750"/>
            </a:xfrm>
            <a:prstGeom prst="roundRect">
              <a:avLst>
                <a:gd name="adj" fmla="val 50000"/>
              </a:avLst>
            </a:prstGeom>
            <a:solidFill>
              <a:srgbClr val="E0A93B"/>
            </a:solidFill>
            <a:ln>
              <a:noFill/>
            </a:ln>
          </p:spPr>
        </p:sp>
        <p:sp>
          <p:nvSpPr>
            <p:cNvPr id="17" name="TextBox 17"/>
            <p:cNvSpPr txBox="1"/>
            <p:nvPr/>
          </p:nvSpPr>
          <p:spPr>
            <a:xfrm>
              <a:off x="6470142" y="2006918"/>
              <a:ext cx="1422887" cy="264033"/>
            </a:xfrm>
            <a:prstGeom prst="rect">
              <a:avLst/>
            </a:prstGeom>
            <a:noFill/>
            <a:ln>
              <a:noFill/>
            </a:ln>
          </p:spPr>
          <p:txBody>
            <a:bodyPr wrap="none" lIns="0" tIns="0" rIns="0" bIns="0" anchor="t" anchorCtr="0">
              <a:spAutoFit/>
            </a:bodyPr>
            <a:lstStyle/>
            <a:p>
              <a:pPr algn="l"/>
              <a:r>
                <a:rPr lang="en-US" sz="1350" b="1" dirty="0">
                  <a:solidFill>
                    <a:srgbClr val="E0A93B"/>
                  </a:solidFill>
                  <a:latin typeface="+mn-lt"/>
                  <a:ea typeface="+mn-ea"/>
                  <a:cs typeface="+mn-cs"/>
                </a:rPr>
                <a:t>Why it matters</a:t>
              </a:r>
            </a:p>
          </p:txBody>
        </p:sp>
        <p:sp>
          <p:nvSpPr>
            <p:cNvPr id="18" name="Ellipse 18"/>
            <p:cNvSpPr/>
            <p:nvPr/>
          </p:nvSpPr>
          <p:spPr>
            <a:xfrm>
              <a:off x="6524625" y="2447925"/>
              <a:ext cx="95250" cy="95250"/>
            </a:xfrm>
            <a:prstGeom prst="ellipse">
              <a:avLst/>
            </a:prstGeom>
            <a:solidFill>
              <a:srgbClr val="E0A93B"/>
            </a:solidFill>
            <a:ln>
              <a:noFill/>
            </a:ln>
          </p:spPr>
        </p:sp>
        <p:sp>
          <p:nvSpPr>
            <p:cNvPr id="19" name="TextBox 19"/>
            <p:cNvSpPr txBox="1"/>
            <p:nvPr/>
          </p:nvSpPr>
          <p:spPr>
            <a:xfrm>
              <a:off x="6736842" y="2406968"/>
              <a:ext cx="754329"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Cheaper</a:t>
              </a:r>
            </a:p>
          </p:txBody>
        </p:sp>
        <p:sp>
          <p:nvSpPr>
            <p:cNvPr id="20" name="TextBox 20"/>
            <p:cNvSpPr txBox="1"/>
            <p:nvPr/>
          </p:nvSpPr>
          <p:spPr>
            <a:xfrm>
              <a:off x="6737985" y="2678906"/>
              <a:ext cx="3122134"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Population learning stops being a sequence</a:t>
              </a:r>
            </a:p>
          </p:txBody>
        </p:sp>
        <p:sp>
          <p:nvSpPr>
            <p:cNvPr id="21" name="TextBox 21"/>
            <p:cNvSpPr txBox="1"/>
            <p:nvPr/>
          </p:nvSpPr>
          <p:spPr>
            <a:xfrm>
              <a:off x="6737985" y="2888456"/>
              <a:ext cx="240874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of wasteful from-scratch runs.</a:t>
              </a:r>
            </a:p>
          </p:txBody>
        </p:sp>
        <p:sp>
          <p:nvSpPr>
            <p:cNvPr id="22" name="Ellipse 22"/>
            <p:cNvSpPr/>
            <p:nvPr/>
          </p:nvSpPr>
          <p:spPr>
            <a:xfrm>
              <a:off x="6524625" y="3343275"/>
              <a:ext cx="95250" cy="95250"/>
            </a:xfrm>
            <a:prstGeom prst="ellipse">
              <a:avLst/>
            </a:prstGeom>
            <a:solidFill>
              <a:srgbClr val="E0A93B"/>
            </a:solidFill>
            <a:ln>
              <a:noFill/>
            </a:ln>
          </p:spPr>
        </p:sp>
        <p:sp>
          <p:nvSpPr>
            <p:cNvPr id="23" name="TextBox 23"/>
            <p:cNvSpPr txBox="1"/>
            <p:nvPr/>
          </p:nvSpPr>
          <p:spPr>
            <a:xfrm>
              <a:off x="6736842" y="3302318"/>
              <a:ext cx="1069188"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Guaranteed</a:t>
              </a:r>
            </a:p>
          </p:txBody>
        </p:sp>
        <p:sp>
          <p:nvSpPr>
            <p:cNvPr id="24" name="TextBox 24"/>
            <p:cNvSpPr txBox="1"/>
            <p:nvPr/>
          </p:nvSpPr>
          <p:spPr>
            <a:xfrm>
              <a:off x="6737985" y="3574256"/>
              <a:ext cx="3288240"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Grounded lower-triangular graphs come with</a:t>
              </a:r>
            </a:p>
          </p:txBody>
        </p:sp>
        <p:sp>
          <p:nvSpPr>
            <p:cNvPr id="25" name="TextBox 25"/>
            <p:cNvSpPr txBox="1"/>
            <p:nvPr/>
          </p:nvSpPr>
          <p:spPr>
            <a:xfrm>
              <a:off x="6737985" y="3783806"/>
              <a:ext cx="188103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convergence guarantees.</a:t>
              </a:r>
            </a:p>
          </p:txBody>
        </p:sp>
        <p:sp>
          <p:nvSpPr>
            <p:cNvPr id="26" name="Ellipse 26"/>
            <p:cNvSpPr/>
            <p:nvPr/>
          </p:nvSpPr>
          <p:spPr>
            <a:xfrm>
              <a:off x="6524625" y="4238625"/>
              <a:ext cx="95250" cy="95250"/>
            </a:xfrm>
            <a:prstGeom prst="ellipse">
              <a:avLst/>
            </a:prstGeom>
            <a:solidFill>
              <a:srgbClr val="E0A93B"/>
            </a:solidFill>
            <a:ln>
              <a:noFill/>
            </a:ln>
          </p:spPr>
        </p:sp>
        <p:sp>
          <p:nvSpPr>
            <p:cNvPr id="27" name="TextBox 27"/>
            <p:cNvSpPr txBox="1"/>
            <p:nvPr/>
          </p:nvSpPr>
          <p:spPr>
            <a:xfrm>
              <a:off x="6736842" y="4197668"/>
              <a:ext cx="897716"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Emergent</a:t>
              </a:r>
            </a:p>
          </p:txBody>
        </p:sp>
        <p:sp>
          <p:nvSpPr>
            <p:cNvPr id="28" name="TextBox 28"/>
            <p:cNvSpPr txBox="1"/>
            <p:nvPr/>
          </p:nvSpPr>
          <p:spPr>
            <a:xfrm>
              <a:off x="6737985" y="4469606"/>
              <a:ext cx="2692410"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Most surprisingly, discovering novel</a:t>
              </a:r>
            </a:p>
          </p:txBody>
        </p:sp>
        <p:sp>
          <p:nvSpPr>
            <p:cNvPr id="29" name="TextBox 29"/>
            <p:cNvSpPr txBox="1"/>
            <p:nvPr/>
          </p:nvSpPr>
          <p:spPr>
            <a:xfrm>
              <a:off x="6737985" y="4679156"/>
              <a:ext cx="2989224"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behaviours gets easier as the population</a:t>
              </a:r>
            </a:p>
          </p:txBody>
        </p:sp>
        <p:sp>
          <p:nvSpPr>
            <p:cNvPr id="30" name="TextBox 30"/>
            <p:cNvSpPr txBox="1"/>
            <p:nvPr/>
          </p:nvSpPr>
          <p:spPr>
            <a:xfrm>
              <a:off x="6737985" y="4888706"/>
              <a:ext cx="539140"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grows.</a:t>
              </a:r>
            </a:p>
          </p:txBody>
        </p:sp>
      </p:grpSp>
      <p:sp>
        <p:nvSpPr>
          <p:cNvPr id="32" name="TextBox 32"/>
          <p:cNvSpPr txBox="1"/>
          <p:nvPr/>
        </p:nvSpPr>
        <p:spPr>
          <a:xfrm>
            <a:off x="528447" y="6619399"/>
            <a:ext cx="7176204"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NeuPL — Neural Population Learning · ICLR 2022 · one framework recovers self-play, fictitious play, and PSRO.</a:t>
            </a:r>
          </a:p>
        </p:txBody>
      </p:sp>
      <p:sp>
        <p:nvSpPr>
          <p:cNvPr id="33" name="cue_s10_c1_one_line_takeaway_represent_whole_po" title="cue_s10_c1_one_line_takeaway_represent_whole_po" descr="cue_s10_c1_one_line_takeaway_represent_whole_po &quot;The one-line takeaway: represent the whole population in a single conditional model, let the interaction graph decide who trains against whom, and skills transfer for free across policies."/>
          <p:cNvSpPr/>
          <p:nvPr/>
        </p:nvSpPr>
        <p:spPr>
          <a:xfrm>
            <a:off x="532790" y="1695297"/>
            <a:ext cx="542909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10_c2_makes_population_learning_cheaper_gi" title="cue_s10_c2_makes_population_learning_cheaper_gi" descr="cue_s10_c2_makes_population_learning_cheaper_gi This makes population learning cheaper, gives it convergence guarantees, and — most surprisingly — makes novel strategies more accessible, not less, as the neural population expands, from rock-paper-scissors all the way up to MuJoCo Football.&quot;"/>
          <p:cNvSpPr/>
          <p:nvPr/>
        </p:nvSpPr>
        <p:spPr>
          <a:xfrm>
            <a:off x="6228892" y="1695297"/>
            <a:ext cx="542909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lides">
  <a:themeElements>
    <a:clrScheme name="slides">
      <a:dk1>
        <a:srgbClr val="000000"/>
      </a:dk1>
      <a:lt1>
        <a:srgbClr val="0B1B2B"/>
      </a:lt1>
      <a:dk2>
        <a:srgbClr val="1F497D"/>
      </a:dk2>
      <a:lt2>
        <a:srgbClr val="0B1B2B"/>
      </a:lt2>
      <a:accent1>
        <a:srgbClr val="4F81BD"/>
      </a:accent1>
      <a:accent2>
        <a:srgbClr val="C0504D"/>
      </a:accent2>
      <a:accent3>
        <a:srgbClr val="9BBB59"/>
      </a:accent3>
      <a:accent4>
        <a:srgbClr val="8064A2"/>
      </a:accent4>
      <a:accent5>
        <a:srgbClr val="122A40"/>
      </a:accent5>
      <a:accent6>
        <a:srgbClr val="0F2236"/>
      </a:accent6>
      <a:hlink>
        <a:srgbClr val="0000FF"/>
      </a:hlink>
      <a:folHlink>
        <a:srgbClr val="800080"/>
      </a:folHlink>
    </a:clrScheme>
    <a:fontScheme name="slide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2026-07-15T21:48:36Z</dcterms:created>
  <dcterms:modified xsi:type="dcterms:W3CDTF">2026-07-15T21:48:36Z</dcterms:modified>
  <cp:category/>
  <cp:contentStatus/>
</cp:coreProperties>
</file>
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2v_094_kpca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2v_094_kpca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3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40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250" kern="1200">
          <a:solidFill>
            <a:schemeClr val="tx1"/>
          </a:solidFill>
          <a:latin typeface="+mn-lt"/>
          <a:ea typeface="+mn-ea"/>
          <a:cs typeface="+mn-cs"/>
        </a:defRPr>
      </a:lvl3pPr>
      <a:lvl4pPr marL="1371600" algn="l" defTabSz="457200" rtl="0" eaLnBrk="1" latinLnBrk="0" hangingPunct="1">
        <a:defRPr sz="1150" kern="1200">
          <a:solidFill>
            <a:schemeClr val="tx1"/>
          </a:solidFill>
          <a:latin typeface="+mn-lt"/>
          <a:ea typeface="+mn-ea"/>
          <a:cs typeface="+mn-cs"/>
        </a:defRPr>
      </a:lvl4pPr>
      <a:lvl5pPr marL="1828800" algn="l" defTabSz="457200" rtl="0" eaLnBrk="1" latinLnBrk="0" hangingPunct="1">
        <a:defRPr sz="1050" kern="1200">
          <a:solidFill>
            <a:schemeClr val="tx1"/>
          </a:solidFill>
          <a:latin typeface="+mn-lt"/>
          <a:ea typeface="+mn-ea"/>
          <a:cs typeface="+mn-cs"/>
        </a:defRPr>
      </a:lvl5pPr>
      <a:lvl6pPr marL="2286000" algn="l" defTabSz="457200" rtl="0" eaLnBrk="1" latinLnBrk="0" hangingPunct="1">
        <a:defRPr sz="1000" kern="1200">
          <a:solidFill>
            <a:schemeClr val="tx1"/>
          </a:solidFill>
          <a:latin typeface="+mn-lt"/>
          <a:ea typeface="+mn-ea"/>
          <a:cs typeface="+mn-cs"/>
        </a:defRPr>
      </a:lvl6pPr>
      <a:lvl7pPr marL="2743200" algn="l" defTabSz="457200" rtl="0" eaLnBrk="1" latinLnBrk="0" hangingPunct="1">
        <a:defRPr sz="9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d7c77aeec2a6205.png"/><Relationship Id="rId3" Type="http://schemas.openxmlformats.org/officeDocument/2006/relationships/image" Target="../media/image_b029b79ceb635ef9.png"/><Relationship Id="rId4" Type="http://schemas.openxmlformats.org/officeDocument/2006/relationships/image" Target="../media/image_4138c814ca73460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a4a706fc310c0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0dcb381f3a89b7d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571500"/>
            <a:ext cx="57150" cy="1790700"/>
          </a:xfrm>
          <a:prstGeom prst="rect">
            <a:avLst/>
          </a:prstGeom>
          <a:solidFill>
            <a:schemeClr val="accent2"/>
          </a:solidFill>
          <a:ln>
            <a:noFill/>
          </a:ln>
        </p:spPr>
        <p:txBody>
          <a:bodyPr/>
          <a:p/>
        </p:txBody>
      </p:sp>
      <p:sp>
        <p:nvSpPr>
          <p:cNvPr id="3" name="TextBox 3"/>
          <p:cNvSpPr txBox="1"/>
          <p:nvPr/>
        </p:nvSpPr>
        <p:spPr>
          <a:xfrm>
            <a:off x="832104" y="689610"/>
            <a:ext cx="3758794"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ICML 2023 · ESAT-STADIUS, KU LEUVEN</a:t>
            </a:r>
          </a:p>
        </p:txBody>
      </p:sp>
      <p:sp>
        <p:nvSpPr>
          <p:cNvPr id="4" name="TextBox 4"/>
          <p:cNvSpPr txBox="1"/>
          <p:nvPr/>
        </p:nvSpPr>
        <p:spPr>
          <a:xfrm>
            <a:off x="803910" y="933450"/>
            <a:ext cx="4777740"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Extending Kernel PCA</a:t>
            </a:r>
          </a:p>
        </p:txBody>
      </p:sp>
      <p:sp>
        <p:nvSpPr>
          <p:cNvPr id="5" name="TextBox 5"/>
          <p:cNvSpPr txBox="1"/>
          <p:nvPr/>
        </p:nvSpPr>
        <p:spPr>
          <a:xfrm>
            <a:off x="803910" y="1371600"/>
            <a:ext cx="431501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through Dualization</a:t>
            </a:r>
          </a:p>
        </p:txBody>
      </p:sp>
      <p:sp>
        <p:nvSpPr>
          <p:cNvPr id="6" name="TextBox 6"/>
          <p:cNvSpPr txBox="1"/>
          <p:nvPr/>
        </p:nvSpPr>
        <p:spPr>
          <a:xfrm>
            <a:off x="829056" y="1824990"/>
            <a:ext cx="510521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Sparsity, Robustness &amp; Fast Algorithms</a:t>
            </a:r>
          </a:p>
        </p:txBody>
      </p:sp>
      <p:sp>
        <p:nvSpPr>
          <p:cNvPr id="7" name="TextBox 7"/>
          <p:cNvSpPr txBox="1"/>
          <p:nvPr/>
        </p:nvSpPr>
        <p:spPr>
          <a:xfrm>
            <a:off x="832104" y="2156460"/>
            <a:ext cx="594262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Francesco Tonin · Alex Lambert · Panagiotis Patrinos · Johan A.K. Suykens</a:t>
            </a:r>
          </a:p>
        </p:txBody>
      </p:sp>
      <p:pic>
        <p:nvPicPr>
          <p:cNvPr id="8" name="Image 8"/>
          <p:cNvPicPr>
            <a:picLocks noChangeAspect="1"/>
          </p:cNvPicPr>
          <p:nvPr/>
        </p:nvPicPr>
        <p:blipFill>
          <a:blip r:embed="rId2"/>
          <a:stretch>
            <a:fillRect/>
          </a:stretch>
        </p:blipFill>
        <p:spPr>
          <a:xfrm>
            <a:off x="9410700" y="533400"/>
            <a:ext cx="1524000" cy="542925"/>
          </a:xfrm>
          <a:prstGeom prst="rect">
            <a:avLst/>
          </a:prstGeom>
        </p:spPr>
      </p:pic>
      <p:grpSp>
        <p:nvGrpSpPr>
          <p:cNvPr id="13" name="Group 13"/>
          <p:cNvGrpSpPr/>
          <p:nvPr/>
        </p:nvGrpSpPr>
        <p:grpSpPr>
          <a:xfrm>
            <a:off x="8801100" y="1143000"/>
            <a:ext cx="2800350" cy="2180939"/>
            <a:chOff x="8801100" y="1143000"/>
            <a:chExt cx="2800350" cy="2180939"/>
          </a:xfrm>
        </p:grpSpPr>
        <p:pic>
          <p:nvPicPr>
            <p:cNvPr id="9" name="Image 9"/>
            <p:cNvPicPr>
              <a:picLocks noChangeAspect="1"/>
            </p:cNvPicPr>
            <p:nvPr/>
          </p:nvPicPr>
          <p:blipFill>
            <a:blip r:embed="rId3"/>
            <a:stretch>
              <a:fillRect/>
            </a:stretch>
          </p:blipFill>
          <p:spPr>
            <a:xfrm>
              <a:off x="8801100" y="1143000"/>
              <a:ext cx="914400" cy="914400"/>
            </a:xfrm>
            <a:prstGeom prst="rect">
              <a:avLst/>
            </a:prstGeom>
          </p:spPr>
        </p:pic>
        <p:sp>
          <p:nvSpPr>
            <p:cNvPr id="10" name="TextBox 10"/>
            <p:cNvSpPr txBox="1"/>
            <p:nvPr/>
          </p:nvSpPr>
          <p:spPr>
            <a:xfrm>
              <a:off x="9069893" y="2275999"/>
              <a:ext cx="376814" cy="190690"/>
            </a:xfrm>
            <a:prstGeom prst="rect">
              <a:avLst/>
            </a:prstGeom>
            <a:noFill/>
            <a:ln>
              <a:noFill/>
            </a:ln>
          </p:spPr>
          <p:txBody>
            <a:bodyPr wrap="none" lIns="0" tIns="0" rIns="0" bIns="0" anchor="t" anchorCtr="0">
              <a:spAutoFit/>
            </a:bodyPr>
            <a:lstStyle/>
            <a:p>
              <a:pPr algn="ctr"/>
              <a:r>
                <a:rPr lang="en-US" sz="980" dirty="0">
                  <a:solidFill>
                    <a:srgbClr val="8A93A6"/>
                  </a:solidFill>
                  <a:latin typeface="+mn-lt"/>
                  <a:ea typeface="+mn-ea"/>
                  <a:cs typeface="+mn-cs"/>
                </a:rPr>
                <a:t>Paper</a:t>
              </a:r>
            </a:p>
          </p:txBody>
        </p:sp>
        <p:pic>
          <p:nvPicPr>
            <p:cNvPr id="11" name="Image 11"/>
            <p:cNvPicPr>
              <a:picLocks noChangeAspect="1"/>
            </p:cNvPicPr>
            <p:nvPr/>
          </p:nvPicPr>
          <p:blipFill>
            <a:blip r:embed="rId4"/>
            <a:stretch>
              <a:fillRect/>
            </a:stretch>
          </p:blipFill>
          <p:spPr>
            <a:xfrm>
              <a:off x="9810750" y="1143000"/>
              <a:ext cx="1790700" cy="1790700"/>
            </a:xfrm>
            <a:prstGeom prst="rect">
              <a:avLst/>
            </a:prstGeom>
          </p:spPr>
        </p:pic>
        <p:sp>
          <p:nvSpPr>
            <p:cNvPr id="12" name="TextBox 12"/>
            <p:cNvSpPr txBox="1"/>
            <p:nvPr/>
          </p:nvSpPr>
          <p:spPr>
            <a:xfrm>
              <a:off x="10553973" y="3133249"/>
              <a:ext cx="304254" cy="190690"/>
            </a:xfrm>
            <a:prstGeom prst="rect">
              <a:avLst/>
            </a:prstGeom>
            <a:noFill/>
            <a:ln>
              <a:noFill/>
            </a:ln>
          </p:spPr>
          <p:txBody>
            <a:bodyPr wrap="none" lIns="0" tIns="0" rIns="0" bIns="0" anchor="t" anchorCtr="0">
              <a:spAutoFit/>
            </a:bodyPr>
            <a:lstStyle/>
            <a:p>
              <a:pPr algn="ctr"/>
              <a:r>
                <a:rPr lang="en-US" sz="980" dirty="0">
                  <a:solidFill>
                    <a:srgbClr val="8A93A6"/>
                  </a:solidFill>
                  <a:latin typeface="+mn-lt"/>
                  <a:ea typeface="+mn-ea"/>
                  <a:cs typeface="+mn-cs"/>
                </a:rPr>
                <a:t>Code</a:t>
              </a:r>
            </a:p>
          </p:txBody>
        </p:sp>
      </p:grpSp>
      <p:grpSp>
        <p:nvGrpSpPr>
          <p:cNvPr id="20" name="Group 20"/>
          <p:cNvGrpSpPr/>
          <p:nvPr/>
        </p:nvGrpSpPr>
        <p:grpSpPr>
          <a:xfrm>
            <a:off x="609600" y="3352800"/>
            <a:ext cx="5372100" cy="1428750"/>
            <a:chOff x="609600" y="3352800"/>
            <a:chExt cx="5372100" cy="1428750"/>
          </a:xfrm>
        </p:grpSpPr>
        <p:sp>
          <p:nvSpPr>
            <p:cNvPr id="14" name="Rectangle 14"/>
            <p:cNvSpPr/>
            <p:nvPr/>
          </p:nvSpPr>
          <p:spPr>
            <a:xfrm>
              <a:off x="609600" y="3352800"/>
              <a:ext cx="5372100" cy="1428750"/>
            </a:xfrm>
            <a:prstGeom prst="roundRect">
              <a:avLst>
                <a:gd name="adj" fmla="val 9333"/>
              </a:avLst>
            </a:prstGeom>
            <a:solidFill>
              <a:schemeClr val="lt2"/>
            </a:solidFill>
            <a:ln w="9525">
              <a:solidFill>
                <a:schemeClr val="accent4"/>
              </a:solidFill>
            </a:ln>
          </p:spPr>
        </p:sp>
        <p:sp>
          <p:nvSpPr>
            <p:cNvPr id="15" name="Rectangle 15"/>
            <p:cNvSpPr/>
            <p:nvPr/>
          </p:nvSpPr>
          <p:spPr>
            <a:xfrm>
              <a:off x="609600" y="3352800"/>
              <a:ext cx="57150" cy="1428750"/>
            </a:xfrm>
            <a:prstGeom prst="roundRect">
              <a:avLst>
                <a:gd name="adj" fmla="val 50000"/>
              </a:avLst>
            </a:prstGeom>
            <a:solidFill>
              <a:schemeClr val="accent2"/>
            </a:solidFill>
            <a:ln>
              <a:noFill/>
            </a:ln>
          </p:spPr>
        </p:sp>
        <p:sp>
          <p:nvSpPr>
            <p:cNvPr id="16" name="TextBox 16"/>
            <p:cNvSpPr txBox="1"/>
            <p:nvPr/>
          </p:nvSpPr>
          <p:spPr>
            <a:xfrm>
              <a:off x="867918" y="3555682"/>
              <a:ext cx="1494469"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The Premise</a:t>
              </a:r>
            </a:p>
          </p:txBody>
        </p:sp>
        <p:sp>
          <p:nvSpPr>
            <p:cNvPr id="17" name="TextBox 17"/>
            <p:cNvSpPr txBox="1"/>
            <p:nvPr/>
          </p:nvSpPr>
          <p:spPr>
            <a:xfrm>
              <a:off x="869061" y="3922871"/>
              <a:ext cx="390982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Kernel Principal Component Analysis, seen</a:t>
              </a:r>
            </a:p>
          </p:txBody>
        </p:sp>
        <p:sp>
          <p:nvSpPr>
            <p:cNvPr id="18" name="TextBox 18"/>
            <p:cNvSpPr txBox="1"/>
            <p:nvPr/>
          </p:nvSpPr>
          <p:spPr>
            <a:xfrm>
              <a:off x="869061" y="4170521"/>
              <a:ext cx="331199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through the lens of convex duality.</a:t>
              </a:r>
            </a:p>
          </p:txBody>
        </p:sp>
        <p:sp>
          <p:nvSpPr>
            <p:cNvPr id="19" name="TextBox 19"/>
            <p:cNvSpPr txBox="1"/>
            <p:nvPr/>
          </p:nvSpPr>
          <p:spPr>
            <a:xfrm>
              <a:off x="870204" y="4480560"/>
              <a:ext cx="292077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KU Leuven · presented at ICML 2023.</a:t>
              </a:r>
            </a:p>
          </p:txBody>
        </p:sp>
      </p:grpSp>
      <p:grpSp>
        <p:nvGrpSpPr>
          <p:cNvPr id="27" name="Group 27"/>
          <p:cNvGrpSpPr/>
          <p:nvPr/>
        </p:nvGrpSpPr>
        <p:grpSpPr>
          <a:xfrm>
            <a:off x="6210300" y="3352800"/>
            <a:ext cx="5372100" cy="1428750"/>
            <a:chOff x="6210300" y="3352800"/>
            <a:chExt cx="5372100" cy="1428750"/>
          </a:xfrm>
        </p:grpSpPr>
        <p:sp>
          <p:nvSpPr>
            <p:cNvPr id="21" name="Rectangle 21"/>
            <p:cNvSpPr/>
            <p:nvPr/>
          </p:nvSpPr>
          <p:spPr>
            <a:xfrm>
              <a:off x="6210300" y="3352800"/>
              <a:ext cx="5372100" cy="1428750"/>
            </a:xfrm>
            <a:prstGeom prst="roundRect">
              <a:avLst>
                <a:gd name="adj" fmla="val 9333"/>
              </a:avLst>
            </a:prstGeom>
            <a:solidFill>
              <a:schemeClr val="lt2"/>
            </a:solidFill>
            <a:ln w="9525">
              <a:solidFill>
                <a:schemeClr val="accent4"/>
              </a:solidFill>
            </a:ln>
          </p:spPr>
        </p:sp>
        <p:sp>
          <p:nvSpPr>
            <p:cNvPr id="22" name="Rectangle 22"/>
            <p:cNvSpPr/>
            <p:nvPr/>
          </p:nvSpPr>
          <p:spPr>
            <a:xfrm>
              <a:off x="6210300" y="3352800"/>
              <a:ext cx="57150" cy="1428750"/>
            </a:xfrm>
            <a:prstGeom prst="roundRect">
              <a:avLst>
                <a:gd name="adj" fmla="val 50000"/>
              </a:avLst>
            </a:prstGeom>
            <a:solidFill>
              <a:schemeClr val="accent3"/>
            </a:solidFill>
            <a:ln>
              <a:noFill/>
            </a:ln>
          </p:spPr>
        </p:sp>
        <p:sp>
          <p:nvSpPr>
            <p:cNvPr id="23" name="TextBox 23"/>
            <p:cNvSpPr txBox="1"/>
            <p:nvPr/>
          </p:nvSpPr>
          <p:spPr>
            <a:xfrm>
              <a:off x="6468618" y="3555682"/>
              <a:ext cx="1154369"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The Move</a:t>
              </a:r>
            </a:p>
          </p:txBody>
        </p:sp>
        <p:sp>
          <p:nvSpPr>
            <p:cNvPr id="24" name="TextBox 24"/>
            <p:cNvSpPr txBox="1"/>
            <p:nvPr/>
          </p:nvSpPr>
          <p:spPr>
            <a:xfrm>
              <a:off x="6469761" y="3922871"/>
              <a:ext cx="369695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Reformulate Kernel PCA as a difference</a:t>
              </a:r>
            </a:p>
          </p:txBody>
        </p:sp>
        <p:sp>
          <p:nvSpPr>
            <p:cNvPr id="25" name="TextBox 25"/>
            <p:cNvSpPr txBox="1"/>
            <p:nvPr/>
          </p:nvSpPr>
          <p:spPr>
            <a:xfrm>
              <a:off x="6469761" y="4170521"/>
              <a:ext cx="353182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of convex functions — then dualize it.</a:t>
              </a:r>
            </a:p>
          </p:txBody>
        </p:sp>
        <p:sp>
          <p:nvSpPr>
            <p:cNvPr id="26" name="TextBox 26"/>
            <p:cNvSpPr txBox="1"/>
            <p:nvPr/>
          </p:nvSpPr>
          <p:spPr>
            <a:xfrm>
              <a:off x="6470904" y="4480560"/>
              <a:ext cx="32324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One reformulation, unlocked in the dual.</a:t>
              </a:r>
            </a:p>
          </p:txBody>
        </p:sp>
      </p:grpSp>
      <p:grpSp>
        <p:nvGrpSpPr>
          <p:cNvPr id="34" name="Group 34"/>
          <p:cNvGrpSpPr/>
          <p:nvPr/>
        </p:nvGrpSpPr>
        <p:grpSpPr>
          <a:xfrm>
            <a:off x="609600" y="4933950"/>
            <a:ext cx="5372100" cy="1428750"/>
            <a:chOff x="609600" y="4933950"/>
            <a:chExt cx="5372100" cy="1428750"/>
          </a:xfrm>
        </p:grpSpPr>
        <p:sp>
          <p:nvSpPr>
            <p:cNvPr id="28" name="Rectangle 28"/>
            <p:cNvSpPr/>
            <p:nvPr/>
          </p:nvSpPr>
          <p:spPr>
            <a:xfrm>
              <a:off x="609600" y="4933950"/>
              <a:ext cx="5372100" cy="1428750"/>
            </a:xfrm>
            <a:prstGeom prst="roundRect">
              <a:avLst>
                <a:gd name="adj" fmla="val 9333"/>
              </a:avLst>
            </a:prstGeom>
            <a:solidFill>
              <a:schemeClr val="accent5"/>
            </a:solidFill>
            <a:ln w="9525">
              <a:solidFill>
                <a:schemeClr val="accent4"/>
              </a:solidFill>
            </a:ln>
          </p:spPr>
        </p:sp>
        <p:sp>
          <p:nvSpPr>
            <p:cNvPr id="29" name="Rectangle 29"/>
            <p:cNvSpPr/>
            <p:nvPr/>
          </p:nvSpPr>
          <p:spPr>
            <a:xfrm>
              <a:off x="609600" y="4933950"/>
              <a:ext cx="57150" cy="1428750"/>
            </a:xfrm>
            <a:prstGeom prst="roundRect">
              <a:avLst>
                <a:gd name="adj" fmla="val 50000"/>
              </a:avLst>
            </a:prstGeom>
            <a:solidFill>
              <a:schemeClr val="accent1"/>
            </a:solidFill>
            <a:ln>
              <a:noFill/>
            </a:ln>
          </p:spPr>
        </p:sp>
        <p:sp>
          <p:nvSpPr>
            <p:cNvPr id="30" name="TextBox 30"/>
            <p:cNvSpPr txBox="1"/>
            <p:nvPr/>
          </p:nvSpPr>
          <p:spPr>
            <a:xfrm>
              <a:off x="867918" y="5136832"/>
              <a:ext cx="276886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One Move, Three Wins</a:t>
              </a:r>
            </a:p>
          </p:txBody>
        </p:sp>
        <p:sp>
          <p:nvSpPr>
            <p:cNvPr id="31" name="TextBox 31"/>
            <p:cNvSpPr txBox="1"/>
            <p:nvPr/>
          </p:nvSpPr>
          <p:spPr>
            <a:xfrm>
              <a:off x="869061" y="5484971"/>
              <a:ext cx="417377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SVD-free gradient solvers · robust &amp; sparse</a:t>
              </a:r>
            </a:p>
          </p:txBody>
        </p:sp>
        <p:sp>
          <p:nvSpPr>
            <p:cNvPr id="32" name="TextBox 32"/>
            <p:cNvSpPr txBox="1"/>
            <p:nvPr/>
          </p:nvSpPr>
          <p:spPr>
            <a:xfrm>
              <a:off x="869061" y="5732621"/>
              <a:ext cx="356719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via Moreau envelopes · real speedups.</a:t>
              </a:r>
            </a:p>
          </p:txBody>
        </p:sp>
        <p:sp>
          <p:nvSpPr>
            <p:cNvPr id="33" name="TextBox 33"/>
            <p:cNvSpPr txBox="1"/>
            <p:nvPr/>
          </p:nvSpPr>
          <p:spPr>
            <a:xfrm>
              <a:off x="870204" y="6042660"/>
              <a:ext cx="33211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Three extensions from a single viewpoint.</a:t>
              </a:r>
            </a:p>
          </p:txBody>
        </p:sp>
      </p:grpSp>
      <p:grpSp>
        <p:nvGrpSpPr>
          <p:cNvPr id="41" name="Group 41"/>
          <p:cNvGrpSpPr/>
          <p:nvPr/>
        </p:nvGrpSpPr>
        <p:grpSpPr>
          <a:xfrm>
            <a:off x="6210300" y="4933950"/>
            <a:ext cx="5372100" cy="1428750"/>
            <a:chOff x="6210300" y="4933950"/>
            <a:chExt cx="5372100" cy="1428750"/>
          </a:xfrm>
        </p:grpSpPr>
        <p:sp>
          <p:nvSpPr>
            <p:cNvPr id="35" name="Rectangle 35"/>
            <p:cNvSpPr/>
            <p:nvPr/>
          </p:nvSpPr>
          <p:spPr>
            <a:xfrm>
              <a:off x="6210300" y="4933950"/>
              <a:ext cx="5372100" cy="1428750"/>
            </a:xfrm>
            <a:prstGeom prst="roundRect">
              <a:avLst>
                <a:gd name="adj" fmla="val 9333"/>
              </a:avLst>
            </a:prstGeom>
            <a:solidFill>
              <a:schemeClr val="accent5"/>
            </a:solidFill>
            <a:ln w="9525">
              <a:solidFill>
                <a:schemeClr val="accent4"/>
              </a:solidFill>
            </a:ln>
          </p:spPr>
        </p:sp>
        <p:sp>
          <p:nvSpPr>
            <p:cNvPr id="36" name="Rectangle 36"/>
            <p:cNvSpPr/>
            <p:nvPr/>
          </p:nvSpPr>
          <p:spPr>
            <a:xfrm>
              <a:off x="6210300" y="4933950"/>
              <a:ext cx="57150" cy="1428750"/>
            </a:xfrm>
            <a:prstGeom prst="roundRect">
              <a:avLst>
                <a:gd name="adj" fmla="val 50000"/>
              </a:avLst>
            </a:prstGeom>
            <a:solidFill>
              <a:srgbClr val="C2410C"/>
            </a:solidFill>
            <a:ln>
              <a:noFill/>
            </a:ln>
          </p:spPr>
        </p:sp>
        <p:sp>
          <p:nvSpPr>
            <p:cNvPr id="37" name="TextBox 37"/>
            <p:cNvSpPr txBox="1"/>
            <p:nvPr/>
          </p:nvSpPr>
          <p:spPr>
            <a:xfrm>
              <a:off x="6468618" y="5136832"/>
              <a:ext cx="1925063"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Why It Matters</a:t>
              </a:r>
            </a:p>
          </p:txBody>
        </p:sp>
        <p:sp>
          <p:nvSpPr>
            <p:cNvPr id="38" name="TextBox 38"/>
            <p:cNvSpPr txBox="1"/>
            <p:nvPr/>
          </p:nvSpPr>
          <p:spPr>
            <a:xfrm>
              <a:off x="6469761" y="5484971"/>
              <a:ext cx="382455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right optimization viewpoint extends</a:t>
              </a:r>
            </a:p>
          </p:txBody>
        </p:sp>
        <p:sp>
          <p:nvSpPr>
            <p:cNvPr id="39" name="TextBox 39"/>
            <p:cNvSpPr txBox="1"/>
            <p:nvPr/>
          </p:nvSpPr>
          <p:spPr>
            <a:xfrm>
              <a:off x="6469761" y="5732621"/>
              <a:ext cx="378989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classical method in several directions.</a:t>
              </a:r>
            </a:p>
          </p:txBody>
        </p:sp>
        <p:sp>
          <p:nvSpPr>
            <p:cNvPr id="40" name="TextBox 40"/>
            <p:cNvSpPr txBox="1"/>
            <p:nvPr/>
          </p:nvSpPr>
          <p:spPr>
            <a:xfrm>
              <a:off x="6470904" y="6042660"/>
              <a:ext cx="261040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 clean, simultaneous extension.</a:t>
              </a:r>
            </a:p>
          </p:txBody>
        </p:sp>
      </p:grpSp>
      <p:sp>
        <p:nvSpPr>
          <p:cNvPr id="42" name="TextBox 42"/>
          <p:cNvSpPr txBox="1"/>
          <p:nvPr/>
        </p:nvSpPr>
        <p:spPr>
          <a:xfrm>
            <a:off x="604647" y="6600349"/>
            <a:ext cx="5856680"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Tonin, Lambert, Patrinos, Suykens · ICML 2023</a:t>
            </a:r>
          </a:p>
        </p:txBody>
      </p:sp>
      <p:sp>
        <p:nvSpPr>
          <p:cNvPr id="43" name="TextBox 43"/>
          <p:cNvSpPr txBox="1"/>
          <p:nvPr/>
        </p:nvSpPr>
        <p:spPr>
          <a:xfrm>
            <a:off x="11135490" y="660034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01 / 10</a:t>
            </a:r>
          </a:p>
        </p:txBody>
      </p:sp>
      <p:sp>
        <p:nvSpPr>
          <p:cNvPr id="44" name="cue_s01_c1_leuven_presented_icml_2023_revisits" title="cue_s01_c1_leuven_presented_icml_2023_revisits" descr="cue_s01_c1_leuven_presented_icml_2023_revisits This paper, from KU Leuven and presented at ICML 2023, revisits Kernel Principal Component Analysis through the lens of convex duality."/>
          <p:cNvSpPr/>
          <p:nvPr/>
        </p:nvSpPr>
        <p:spPr>
          <a:xfrm>
            <a:off x="609600" y="3352876"/>
            <a:ext cx="5371795"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2_authors_reformulate_kernel_pca_diffe" title="cue_s01_c2_authors_reformulate_kernel_pca_diffe" descr="cue_s01_c2_authors_reformulate_kernel_pca_diffe The authors reformulate Kernel PCA as a difference of convex functions problem, then dualize it."/>
          <p:cNvSpPr/>
          <p:nvPr/>
        </p:nvSpPr>
        <p:spPr>
          <a:xfrm>
            <a:off x="6210604" y="3352876"/>
            <a:ext cx="5371795"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3_single_move_unlocks_three_things" title="cue_s01_c3_single_move_unlocks_three_things" descr="cue_s01_c3_single_move_unlocks_three_things This single move unlocks three things at once: gradient-based solvers that avoid the expensive cubic singular value decomposition of the Gram matrix, a flexible framework that swaps in robust or sparse objectives through Moreau envelopes, and significant speed"/>
          <p:cNvSpPr/>
          <p:nvPr/>
        </p:nvSpPr>
        <p:spPr>
          <a:xfrm>
            <a:off x="609600" y="4933645"/>
            <a:ext cx="5371795"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4_clean_example_how_right_optimization" title="cue_s01_c4_clean_example_how_right_optimization" descr="cue_s01_c4_clean_example_how_right_optimization It is a clean example of how the right optimization viewpoint can extend a classical method in several directions simultaneously."/>
          <p:cNvSpPr/>
          <p:nvPr/>
        </p:nvSpPr>
        <p:spPr>
          <a:xfrm>
            <a:off x="6210604" y="4933645"/>
            <a:ext cx="5371795"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356360"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02 · PROBLEM</a:t>
            </a:r>
          </a:p>
        </p:txBody>
      </p:sp>
      <p:sp>
        <p:nvSpPr>
          <p:cNvPr id="4" name="TextBox 4"/>
          <p:cNvSpPr txBox="1"/>
          <p:nvPr/>
        </p:nvSpPr>
        <p:spPr>
          <a:xfrm>
            <a:off x="825246" y="772478"/>
            <a:ext cx="566571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scaling wall of Kernel PCA</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02 / 10</a:t>
            </a:r>
          </a:p>
        </p:txBody>
      </p:sp>
      <p:grpSp>
        <p:nvGrpSpPr>
          <p:cNvPr id="12" name="Group 12"/>
          <p:cNvGrpSpPr/>
          <p:nvPr/>
        </p:nvGrpSpPr>
        <p:grpSpPr>
          <a:xfrm>
            <a:off x="609600" y="1485900"/>
            <a:ext cx="10972800" cy="1524000"/>
            <a:chOff x="609600" y="1485900"/>
            <a:chExt cx="10972800" cy="1524000"/>
          </a:xfrm>
        </p:grpSpPr>
        <p:sp>
          <p:nvSpPr>
            <p:cNvPr id="7" name="Rectangle 7"/>
            <p:cNvSpPr/>
            <p:nvPr/>
          </p:nvSpPr>
          <p:spPr>
            <a:xfrm>
              <a:off x="609600" y="1485900"/>
              <a:ext cx="10972800" cy="1524000"/>
            </a:xfrm>
            <a:prstGeom prst="roundRect">
              <a:avLst>
                <a:gd name="adj" fmla="val 8750"/>
              </a:avLst>
            </a:prstGeom>
            <a:solidFill>
              <a:schemeClr val="lt2"/>
            </a:solidFill>
            <a:ln w="9525">
              <a:solidFill>
                <a:schemeClr val="accent4"/>
              </a:solidFill>
            </a:ln>
          </p:spPr>
        </p:sp>
        <p:sp>
          <p:nvSpPr>
            <p:cNvPr id="8" name="Rectangle 8"/>
            <p:cNvSpPr/>
            <p:nvPr/>
          </p:nvSpPr>
          <p:spPr>
            <a:xfrm>
              <a:off x="609600" y="1485900"/>
              <a:ext cx="57150" cy="1524000"/>
            </a:xfrm>
            <a:prstGeom prst="roundRect">
              <a:avLst>
                <a:gd name="adj" fmla="val 50000"/>
              </a:avLst>
            </a:prstGeom>
            <a:solidFill>
              <a:schemeClr val="accent2"/>
            </a:solidFill>
            <a:ln>
              <a:noFill/>
            </a:ln>
          </p:spPr>
        </p:sp>
        <p:sp>
          <p:nvSpPr>
            <p:cNvPr id="9" name="TextBox 9"/>
            <p:cNvSpPr txBox="1"/>
            <p:nvPr/>
          </p:nvSpPr>
          <p:spPr>
            <a:xfrm>
              <a:off x="906018" y="1688782"/>
              <a:ext cx="354868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A workhorse with a weakness</a:t>
              </a:r>
            </a:p>
          </p:txBody>
        </p:sp>
        <p:sp>
          <p:nvSpPr>
            <p:cNvPr id="10" name="TextBox 10"/>
            <p:cNvSpPr txBox="1"/>
            <p:nvPr/>
          </p:nvSpPr>
          <p:spPr>
            <a:xfrm>
              <a:off x="907161" y="2055971"/>
              <a:ext cx="684546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Kernel PCA is one of the most widely used tools in unsupervised learning —</a:t>
              </a:r>
            </a:p>
          </p:txBody>
        </p:sp>
        <p:sp>
          <p:nvSpPr>
            <p:cNvPr id="11" name="TextBox 11"/>
            <p:cNvSpPr txBox="1"/>
            <p:nvPr/>
          </p:nvSpPr>
          <p:spPr>
            <a:xfrm>
              <a:off x="907161" y="2303621"/>
              <a:ext cx="655216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but it carries a stubborn scaling problem that blocks large-scale use.</a:t>
              </a:r>
            </a:p>
          </p:txBody>
        </p:sp>
      </p:grpSp>
      <p:grpSp>
        <p:nvGrpSpPr>
          <p:cNvPr id="18" name="Group 18"/>
          <p:cNvGrpSpPr/>
          <p:nvPr/>
        </p:nvGrpSpPr>
        <p:grpSpPr>
          <a:xfrm>
            <a:off x="609600" y="3200400"/>
            <a:ext cx="10972800" cy="1524000"/>
            <a:chOff x="609600" y="3200400"/>
            <a:chExt cx="10972800" cy="1524000"/>
          </a:xfrm>
        </p:grpSpPr>
        <p:sp>
          <p:nvSpPr>
            <p:cNvPr id="13" name="Rectangle 13"/>
            <p:cNvSpPr/>
            <p:nvPr/>
          </p:nvSpPr>
          <p:spPr>
            <a:xfrm>
              <a:off x="609600" y="3200400"/>
              <a:ext cx="10972800" cy="1524000"/>
            </a:xfrm>
            <a:prstGeom prst="roundRect">
              <a:avLst>
                <a:gd name="adj" fmla="val 8750"/>
              </a:avLst>
            </a:prstGeom>
            <a:solidFill>
              <a:schemeClr val="lt2"/>
            </a:solidFill>
            <a:ln w="9525">
              <a:solidFill>
                <a:schemeClr val="accent4"/>
              </a:solidFill>
            </a:ln>
          </p:spPr>
        </p:sp>
        <p:sp>
          <p:nvSpPr>
            <p:cNvPr id="14" name="Rectangle 14"/>
            <p:cNvSpPr/>
            <p:nvPr/>
          </p:nvSpPr>
          <p:spPr>
            <a:xfrm>
              <a:off x="609600" y="3200400"/>
              <a:ext cx="57150" cy="1524000"/>
            </a:xfrm>
            <a:prstGeom prst="roundRect">
              <a:avLst>
                <a:gd name="adj" fmla="val 50000"/>
              </a:avLst>
            </a:prstGeom>
            <a:solidFill>
              <a:srgbClr val="C2410C"/>
            </a:solidFill>
            <a:ln>
              <a:noFill/>
            </a:ln>
          </p:spPr>
        </p:sp>
        <p:sp>
          <p:nvSpPr>
            <p:cNvPr id="15" name="TextBox 15"/>
            <p:cNvSpPr txBox="1"/>
            <p:nvPr/>
          </p:nvSpPr>
          <p:spPr>
            <a:xfrm>
              <a:off x="906018" y="3403282"/>
              <a:ext cx="1760042"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The cubic cost</a:t>
              </a:r>
            </a:p>
          </p:txBody>
        </p:sp>
        <p:sp>
          <p:nvSpPr>
            <p:cNvPr id="16" name="TextBox 16"/>
            <p:cNvSpPr txBox="1"/>
            <p:nvPr/>
          </p:nvSpPr>
          <p:spPr>
            <a:xfrm>
              <a:off x="907161" y="3770471"/>
              <a:ext cx="745570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standard recipe takes the SVD of the n×n Gram matrix — an O(n³) operation</a:t>
              </a:r>
            </a:p>
          </p:txBody>
        </p:sp>
        <p:sp>
          <p:nvSpPr>
            <p:cNvPr id="17" name="TextBox 17"/>
            <p:cNvSpPr txBox="1"/>
            <p:nvPr/>
          </p:nvSpPr>
          <p:spPr>
            <a:xfrm>
              <a:off x="907161" y="4018121"/>
              <a:ext cx="608382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that becomes painfully slow even for moderately sized datasets.</a:t>
              </a:r>
            </a:p>
          </p:txBody>
        </p:sp>
      </p:grpSp>
      <p:grpSp>
        <p:nvGrpSpPr>
          <p:cNvPr id="24" name="Group 24"/>
          <p:cNvGrpSpPr/>
          <p:nvPr/>
        </p:nvGrpSpPr>
        <p:grpSpPr>
          <a:xfrm>
            <a:off x="609600" y="4914900"/>
            <a:ext cx="10972800" cy="1524000"/>
            <a:chOff x="609600" y="4914900"/>
            <a:chExt cx="10972800" cy="1524000"/>
          </a:xfrm>
        </p:grpSpPr>
        <p:sp>
          <p:nvSpPr>
            <p:cNvPr id="19" name="Rectangle 19"/>
            <p:cNvSpPr/>
            <p:nvPr/>
          </p:nvSpPr>
          <p:spPr>
            <a:xfrm>
              <a:off x="609600" y="4914900"/>
              <a:ext cx="10972800" cy="1524000"/>
            </a:xfrm>
            <a:prstGeom prst="roundRect">
              <a:avLst>
                <a:gd name="adj" fmla="val 8750"/>
              </a:avLst>
            </a:prstGeom>
            <a:solidFill>
              <a:schemeClr val="lt2"/>
            </a:solidFill>
            <a:ln w="9525">
              <a:solidFill>
                <a:schemeClr val="accent4"/>
              </a:solidFill>
            </a:ln>
          </p:spPr>
        </p:sp>
        <p:sp>
          <p:nvSpPr>
            <p:cNvPr id="20" name="Rectangle 20"/>
            <p:cNvSpPr/>
            <p:nvPr/>
          </p:nvSpPr>
          <p:spPr>
            <a:xfrm>
              <a:off x="609600" y="4914900"/>
              <a:ext cx="57150" cy="1524000"/>
            </a:xfrm>
            <a:prstGeom prst="roundRect">
              <a:avLst>
                <a:gd name="adj" fmla="val 50000"/>
              </a:avLst>
            </a:prstGeom>
            <a:solidFill>
              <a:schemeClr val="accent1"/>
            </a:solidFill>
            <a:ln>
              <a:noFill/>
            </a:ln>
          </p:spPr>
        </p:sp>
        <p:sp>
          <p:nvSpPr>
            <p:cNvPr id="21" name="TextBox 21"/>
            <p:cNvSpPr txBox="1"/>
            <p:nvPr/>
          </p:nvSpPr>
          <p:spPr>
            <a:xfrm>
              <a:off x="906018" y="5117782"/>
              <a:ext cx="243727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A scattered toolbox</a:t>
              </a:r>
            </a:p>
          </p:txBody>
        </p:sp>
        <p:sp>
          <p:nvSpPr>
            <p:cNvPr id="22" name="TextBox 22"/>
            <p:cNvSpPr txBox="1"/>
            <p:nvPr/>
          </p:nvSpPr>
          <p:spPr>
            <a:xfrm>
              <a:off x="907161" y="5484971"/>
              <a:ext cx="731369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Each robust or sparse variant needed its own ad-hoc formulation or weighting</a:t>
              </a:r>
            </a:p>
          </p:txBody>
        </p:sp>
        <p:sp>
          <p:nvSpPr>
            <p:cNvPr id="23" name="TextBox 23"/>
            <p:cNvSpPr txBox="1"/>
            <p:nvPr/>
          </p:nvSpPr>
          <p:spPr>
            <a:xfrm>
              <a:off x="907161" y="5732621"/>
              <a:ext cx="758443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heuristic — a scattered collection of problems rather than one coherent method.</a:t>
              </a:r>
            </a:p>
          </p:txBody>
        </p:sp>
      </p:grpSp>
      <p:sp>
        <p:nvSpPr>
          <p:cNvPr id="25" name="TextBox 25"/>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26" name="cue_s02_c1_kernel_pca_one_most_widely" title="cue_s02_c1_kernel_pca_one_most_widely" descr="cue_s02_c1_kernel_pca_one_most_widely Kernel PCA is one of the most widely used tools in unsupervised learning, but it has a stubborn scaling problem."/>
          <p:cNvSpPr/>
          <p:nvPr/>
        </p:nvSpPr>
        <p:spPr>
          <a:xfrm>
            <a:off x="609600" y="1486128"/>
            <a:ext cx="109728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ue_s02_c2_standard_recipe_computes_singular_va" title="cue_s02_c2_standard_recipe_computes_singular_va" descr="cue_s02_c2_standard_recipe_computes_singular_va The standard recipe computes the singular value decomposition of the n-by-n Gram matrix, which costs order n-cubed and becomes painfully slow even for moderately sized datasets."/>
          <p:cNvSpPr/>
          <p:nvPr/>
        </p:nvSpPr>
        <p:spPr>
          <a:xfrm>
            <a:off x="609600" y="3200628"/>
            <a:ext cx="109728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ue_s02_c3_top_every_time_researchers_wanted" title="cue_s02_c3_top_every_time_researchers_wanted" descr="cue_s02_c3_top_every_time_researchers_wanted On top of that, every time researchers wanted a robust or a sparse variant of Kernel PCA, they reached for a different ad-hoc formulation or weighting heuristic, producing a scattered collection of unrelated optimization problems rather than one coherent metho"/>
          <p:cNvSpPr/>
          <p:nvPr/>
        </p:nvSpPr>
        <p:spPr>
          <a:xfrm>
            <a:off x="609600" y="4915128"/>
            <a:ext cx="109728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650797"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03 · MOTIVATION</a:t>
            </a:r>
          </a:p>
        </p:txBody>
      </p:sp>
      <p:sp>
        <p:nvSpPr>
          <p:cNvPr id="4" name="TextBox 4"/>
          <p:cNvSpPr txBox="1"/>
          <p:nvPr/>
        </p:nvSpPr>
        <p:spPr>
          <a:xfrm>
            <a:off x="825246" y="772478"/>
            <a:ext cx="487355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Two ideas waiting to meet</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03 / 10</a:t>
            </a:r>
          </a:p>
        </p:txBody>
      </p:sp>
      <p:grpSp>
        <p:nvGrpSpPr>
          <p:cNvPr id="12" name="Group 12"/>
          <p:cNvGrpSpPr/>
          <p:nvPr/>
        </p:nvGrpSpPr>
        <p:grpSpPr>
          <a:xfrm>
            <a:off x="609600" y="1428750"/>
            <a:ext cx="10972800" cy="1143000"/>
            <a:chOff x="609600" y="1428750"/>
            <a:chExt cx="10972800" cy="1143000"/>
          </a:xfrm>
        </p:grpSpPr>
        <p:sp>
          <p:nvSpPr>
            <p:cNvPr id="7" name="Rectangle 7"/>
            <p:cNvSpPr/>
            <p:nvPr/>
          </p:nvSpPr>
          <p:spPr>
            <a:xfrm>
              <a:off x="609600" y="1428750"/>
              <a:ext cx="10972800" cy="1143000"/>
            </a:xfrm>
            <a:prstGeom prst="roundRect">
              <a:avLst>
                <a:gd name="adj" fmla="val 11667"/>
              </a:avLst>
            </a:prstGeom>
            <a:solidFill>
              <a:schemeClr val="lt2"/>
            </a:solidFill>
            <a:ln w="9525">
              <a:solidFill>
                <a:schemeClr val="accent4"/>
              </a:solidFill>
            </a:ln>
          </p:spPr>
        </p:sp>
        <p:sp>
          <p:nvSpPr>
            <p:cNvPr id="8" name="Rectangle 8"/>
            <p:cNvSpPr/>
            <p:nvPr/>
          </p:nvSpPr>
          <p:spPr>
            <a:xfrm>
              <a:off x="609600" y="1428750"/>
              <a:ext cx="57150" cy="1143000"/>
            </a:xfrm>
            <a:prstGeom prst="roundRect">
              <a:avLst>
                <a:gd name="adj" fmla="val 50000"/>
              </a:avLst>
            </a:prstGeom>
            <a:solidFill>
              <a:schemeClr val="accent2"/>
            </a:solidFill>
            <a:ln>
              <a:noFill/>
            </a:ln>
          </p:spPr>
        </p:sp>
        <p:sp>
          <p:nvSpPr>
            <p:cNvPr id="9" name="TextBox 9"/>
            <p:cNvSpPr txBox="1"/>
            <p:nvPr/>
          </p:nvSpPr>
          <p:spPr>
            <a:xfrm>
              <a:off x="906018" y="1612582"/>
              <a:ext cx="4912926"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KPCA is a difference-of-convex problem</a:t>
              </a:r>
            </a:p>
          </p:txBody>
        </p:sp>
        <p:sp>
          <p:nvSpPr>
            <p:cNvPr id="10" name="TextBox 10"/>
            <p:cNvSpPr txBox="1"/>
            <p:nvPr/>
          </p:nvSpPr>
          <p:spPr>
            <a:xfrm>
              <a:off x="907161" y="1960721"/>
              <a:ext cx="755173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Kernel PCA is variance maximization under orthonormality constraints — squarely</a:t>
              </a:r>
            </a:p>
          </p:txBody>
        </p:sp>
        <p:sp>
          <p:nvSpPr>
            <p:cNvPr id="11" name="TextBox 11"/>
            <p:cNvSpPr txBox="1"/>
            <p:nvPr/>
          </p:nvSpPr>
          <p:spPr>
            <a:xfrm>
              <a:off x="907161" y="2208371"/>
              <a:ext cx="662308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 the well-understood family of difference-of-convex (DC) problems.</a:t>
              </a:r>
            </a:p>
          </p:txBody>
        </p:sp>
      </p:grpSp>
      <p:grpSp>
        <p:nvGrpSpPr>
          <p:cNvPr id="18" name="Group 18"/>
          <p:cNvGrpSpPr/>
          <p:nvPr/>
        </p:nvGrpSpPr>
        <p:grpSpPr>
          <a:xfrm>
            <a:off x="609600" y="2724150"/>
            <a:ext cx="10972800" cy="1143000"/>
            <a:chOff x="609600" y="2724150"/>
            <a:chExt cx="10972800" cy="1143000"/>
          </a:xfrm>
        </p:grpSpPr>
        <p:sp>
          <p:nvSpPr>
            <p:cNvPr id="13" name="Rectangle 13"/>
            <p:cNvSpPr/>
            <p:nvPr/>
          </p:nvSpPr>
          <p:spPr>
            <a:xfrm>
              <a:off x="609600" y="2724150"/>
              <a:ext cx="10972800" cy="1143000"/>
            </a:xfrm>
            <a:prstGeom prst="roundRect">
              <a:avLst>
                <a:gd name="adj" fmla="val 11667"/>
              </a:avLst>
            </a:prstGeom>
            <a:solidFill>
              <a:schemeClr val="lt2"/>
            </a:solidFill>
            <a:ln w="9525">
              <a:solidFill>
                <a:schemeClr val="accent4"/>
              </a:solidFill>
            </a:ln>
          </p:spPr>
        </p:sp>
        <p:sp>
          <p:nvSpPr>
            <p:cNvPr id="14" name="Rectangle 14"/>
            <p:cNvSpPr/>
            <p:nvPr/>
          </p:nvSpPr>
          <p:spPr>
            <a:xfrm>
              <a:off x="609600" y="2724150"/>
              <a:ext cx="57150" cy="1143000"/>
            </a:xfrm>
            <a:prstGeom prst="roundRect">
              <a:avLst>
                <a:gd name="adj" fmla="val 50000"/>
              </a:avLst>
            </a:prstGeom>
            <a:solidFill>
              <a:schemeClr val="accent1"/>
            </a:solidFill>
            <a:ln>
              <a:noFill/>
            </a:ln>
          </p:spPr>
        </p:sp>
        <p:sp>
          <p:nvSpPr>
            <p:cNvPr id="15" name="TextBox 15"/>
            <p:cNvSpPr txBox="1"/>
            <p:nvPr/>
          </p:nvSpPr>
          <p:spPr>
            <a:xfrm>
              <a:off x="906018" y="2907982"/>
              <a:ext cx="399401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But prior DC work stopped short</a:t>
              </a:r>
            </a:p>
          </p:txBody>
        </p:sp>
        <p:sp>
          <p:nvSpPr>
            <p:cNvPr id="16" name="TextBox 16"/>
            <p:cNvSpPr txBox="1"/>
            <p:nvPr/>
          </p:nvSpPr>
          <p:spPr>
            <a:xfrm>
              <a:off x="907161" y="3256121"/>
              <a:ext cx="727929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Earlier DC treatments of PCA covered only the linear case, and often only the</a:t>
              </a:r>
            </a:p>
          </p:txBody>
        </p:sp>
        <p:sp>
          <p:nvSpPr>
            <p:cNvPr id="17" name="TextBox 17"/>
            <p:cNvSpPr txBox="1"/>
            <p:nvPr/>
          </p:nvSpPr>
          <p:spPr>
            <a:xfrm>
              <a:off x="907161" y="3503771"/>
              <a:ext cx="715431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first component — where the orthogonality constraints conveniently vanish.</a:t>
              </a:r>
            </a:p>
          </p:txBody>
        </p:sp>
      </p:grpSp>
      <p:grpSp>
        <p:nvGrpSpPr>
          <p:cNvPr id="24" name="Group 24"/>
          <p:cNvGrpSpPr/>
          <p:nvPr/>
        </p:nvGrpSpPr>
        <p:grpSpPr>
          <a:xfrm>
            <a:off x="609600" y="4019550"/>
            <a:ext cx="10972800" cy="1143000"/>
            <a:chOff x="609600" y="4019550"/>
            <a:chExt cx="10972800" cy="1143000"/>
          </a:xfrm>
        </p:grpSpPr>
        <p:sp>
          <p:nvSpPr>
            <p:cNvPr id="19" name="Rectangle 19"/>
            <p:cNvSpPr/>
            <p:nvPr/>
          </p:nvSpPr>
          <p:spPr>
            <a:xfrm>
              <a:off x="609600" y="4019550"/>
              <a:ext cx="10972800" cy="1143000"/>
            </a:xfrm>
            <a:prstGeom prst="roundRect">
              <a:avLst>
                <a:gd name="adj" fmla="val 11667"/>
              </a:avLst>
            </a:prstGeom>
            <a:solidFill>
              <a:schemeClr val="lt2"/>
            </a:solidFill>
            <a:ln w="9525">
              <a:solidFill>
                <a:schemeClr val="accent4"/>
              </a:solidFill>
            </a:ln>
          </p:spPr>
        </p:sp>
        <p:sp>
          <p:nvSpPr>
            <p:cNvPr id="20" name="Rectangle 20"/>
            <p:cNvSpPr/>
            <p:nvPr/>
          </p:nvSpPr>
          <p:spPr>
            <a:xfrm>
              <a:off x="609600" y="4019550"/>
              <a:ext cx="57150" cy="1143000"/>
            </a:xfrm>
            <a:prstGeom prst="roundRect">
              <a:avLst>
                <a:gd name="adj" fmla="val 50000"/>
              </a:avLst>
            </a:prstGeom>
            <a:solidFill>
              <a:schemeClr val="accent3"/>
            </a:solidFill>
            <a:ln>
              <a:noFill/>
            </a:ln>
          </p:spPr>
        </p:sp>
        <p:sp>
          <p:nvSpPr>
            <p:cNvPr id="21" name="TextBox 21"/>
            <p:cNvSpPr txBox="1"/>
            <p:nvPr/>
          </p:nvSpPr>
          <p:spPr>
            <a:xfrm>
              <a:off x="906018" y="4203382"/>
              <a:ext cx="4421147"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A second thread: infimal convolution</a:t>
              </a:r>
            </a:p>
          </p:txBody>
        </p:sp>
        <p:sp>
          <p:nvSpPr>
            <p:cNvPr id="22" name="TextBox 22"/>
            <p:cNvSpPr txBox="1"/>
            <p:nvPr/>
          </p:nvSpPr>
          <p:spPr>
            <a:xfrm>
              <a:off x="907161" y="4551521"/>
              <a:ext cx="767664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separate line showed infimal convolution builds robust or sparse losses cleanly —</a:t>
              </a:r>
            </a:p>
          </p:txBody>
        </p:sp>
        <p:sp>
          <p:nvSpPr>
            <p:cNvPr id="23" name="TextBox 23"/>
            <p:cNvSpPr txBox="1"/>
            <p:nvPr/>
          </p:nvSpPr>
          <p:spPr>
            <a:xfrm>
              <a:off x="907161" y="4799171"/>
              <a:ext cx="703006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that these constructions behave especially nicely in dual formulations.</a:t>
              </a:r>
            </a:p>
          </p:txBody>
        </p:sp>
      </p:grpSp>
      <p:grpSp>
        <p:nvGrpSpPr>
          <p:cNvPr id="30" name="Group 30"/>
          <p:cNvGrpSpPr/>
          <p:nvPr/>
        </p:nvGrpSpPr>
        <p:grpSpPr>
          <a:xfrm>
            <a:off x="609600" y="5314950"/>
            <a:ext cx="10972800" cy="1143000"/>
            <a:chOff x="609600" y="5314950"/>
            <a:chExt cx="10972800" cy="1143000"/>
          </a:xfrm>
        </p:grpSpPr>
        <p:sp>
          <p:nvSpPr>
            <p:cNvPr id="25" name="Rectangle 25"/>
            <p:cNvSpPr/>
            <p:nvPr/>
          </p:nvSpPr>
          <p:spPr>
            <a:xfrm>
              <a:off x="609600" y="5314950"/>
              <a:ext cx="10972800" cy="1143000"/>
            </a:xfrm>
            <a:prstGeom prst="roundRect">
              <a:avLst>
                <a:gd name="adj" fmla="val 11667"/>
              </a:avLst>
            </a:prstGeom>
            <a:solidFill>
              <a:schemeClr val="accent5"/>
            </a:solidFill>
            <a:ln w="9525">
              <a:solidFill>
                <a:schemeClr val="accent4"/>
              </a:solidFill>
            </a:ln>
          </p:spPr>
        </p:sp>
        <p:sp>
          <p:nvSpPr>
            <p:cNvPr id="26" name="Rectangle 26"/>
            <p:cNvSpPr/>
            <p:nvPr/>
          </p:nvSpPr>
          <p:spPr>
            <a:xfrm>
              <a:off x="609600" y="5314950"/>
              <a:ext cx="57150" cy="1143000"/>
            </a:xfrm>
            <a:prstGeom prst="roundRect">
              <a:avLst>
                <a:gd name="adj" fmla="val 50000"/>
              </a:avLst>
            </a:prstGeom>
            <a:solidFill>
              <a:srgbClr val="C2410C"/>
            </a:solidFill>
            <a:ln>
              <a:noFill/>
            </a:ln>
          </p:spPr>
        </p:sp>
        <p:sp>
          <p:nvSpPr>
            <p:cNvPr id="27" name="TextBox 27"/>
            <p:cNvSpPr txBox="1"/>
            <p:nvPr/>
          </p:nvSpPr>
          <p:spPr>
            <a:xfrm>
              <a:off x="906018" y="5498782"/>
              <a:ext cx="1413763"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The opening</a:t>
              </a:r>
            </a:p>
          </p:txBody>
        </p:sp>
        <p:sp>
          <p:nvSpPr>
            <p:cNvPr id="28" name="TextBox 28"/>
            <p:cNvSpPr txBox="1"/>
            <p:nvPr/>
          </p:nvSpPr>
          <p:spPr>
            <a:xfrm>
              <a:off x="907161" y="5846921"/>
              <a:ext cx="783329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Bringing these two observations together — DC structure and dual-friendly losses —</a:t>
              </a:r>
            </a:p>
          </p:txBody>
        </p:sp>
        <p:sp>
          <p:nvSpPr>
            <p:cNvPr id="29" name="TextBox 29"/>
            <p:cNvSpPr txBox="1"/>
            <p:nvPr/>
          </p:nvSpPr>
          <p:spPr>
            <a:xfrm>
              <a:off x="907161" y="6094571"/>
              <a:ext cx="396194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is exactly the opening this paper exploits.</a:t>
              </a:r>
            </a:p>
          </p:txBody>
        </p:sp>
      </p:grpSp>
      <p:sp>
        <p:nvSpPr>
          <p:cNvPr id="31" name="TextBox 31"/>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32" name="cue_s03_c1_authors_observe_kernel_pca_written" title="cue_s03_c1_authors_observe_kernel_pca_written" descr="cue_s03_c1_authors_observe_kernel_pca_written The authors observe that Kernel PCA can be written as variance maximization under orthonormality constraints, which puts it squarely in the family of difference-of-convex problems that optimization researchers understand well."/>
          <p:cNvSpPr/>
          <p:nvPr/>
        </p:nvSpPr>
        <p:spPr>
          <a:xfrm>
            <a:off x="609600" y="1428521"/>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3_c2_earlier_work_had_studied_pca" title="cue_s03_c2_earlier_work_had_studied_pca" descr="cue_s03_c2_earlier_work_had_studied_pca Earlier work had studied PCA as a difference-of-convex program, but only for linear PCA, and often only for the first component where the orthogonality constraints vanish."/>
          <p:cNvSpPr/>
          <p:nvPr/>
        </p:nvSpPr>
        <p:spPr>
          <a:xfrm>
            <a:off x="609600" y="2723997"/>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3_c3_meanwhile_separate_line_research_had" title="cue_s03_c3_meanwhile_separate_line_research_had" descr="cue_s03_c3_meanwhile_separate_line_research_had Meanwhile, a separate line of research had shown that infimal convolution is an elegant way to build robust or sparse losses, and that these constructions behave especially nicely in dual formulations."/>
          <p:cNvSpPr/>
          <p:nvPr/>
        </p:nvSpPr>
        <p:spPr>
          <a:xfrm>
            <a:off x="609600" y="4019473"/>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3_c4_bringing_these_two_observations_toge" title="cue_s03_c4_bringing_these_two_observations_toge" descr="cue_s03_c4_bringing_these_two_observations_toge Bringing these two observations together is the opening the paper exploits."/>
          <p:cNvSpPr/>
          <p:nvPr/>
        </p:nvSpPr>
        <p:spPr>
          <a:xfrm>
            <a:off x="609600" y="5314950"/>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847088"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04 · CONTRIBUTION</a:t>
            </a:r>
          </a:p>
        </p:txBody>
      </p:sp>
      <p:sp>
        <p:nvSpPr>
          <p:cNvPr id="4" name="TextBox 4"/>
          <p:cNvSpPr txBox="1"/>
          <p:nvPr/>
        </p:nvSpPr>
        <p:spPr>
          <a:xfrm>
            <a:off x="825246" y="772478"/>
            <a:ext cx="654986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One dual formulation, two payoffs</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04 / 10</a:t>
            </a:r>
          </a:p>
        </p:txBody>
      </p:sp>
      <p:grpSp>
        <p:nvGrpSpPr>
          <p:cNvPr id="12" name="Group 12"/>
          <p:cNvGrpSpPr/>
          <p:nvPr/>
        </p:nvGrpSpPr>
        <p:grpSpPr>
          <a:xfrm>
            <a:off x="609600" y="1428750"/>
            <a:ext cx="10972800" cy="1143000"/>
            <a:chOff x="609600" y="1428750"/>
            <a:chExt cx="10972800" cy="1143000"/>
          </a:xfrm>
        </p:grpSpPr>
        <p:sp>
          <p:nvSpPr>
            <p:cNvPr id="7" name="Rectangle 7"/>
            <p:cNvSpPr/>
            <p:nvPr/>
          </p:nvSpPr>
          <p:spPr>
            <a:xfrm>
              <a:off x="609600" y="1428750"/>
              <a:ext cx="10972800" cy="1143000"/>
            </a:xfrm>
            <a:prstGeom prst="roundRect">
              <a:avLst>
                <a:gd name="adj" fmla="val 11667"/>
              </a:avLst>
            </a:prstGeom>
            <a:solidFill>
              <a:schemeClr val="accent5"/>
            </a:solidFill>
            <a:ln w="9525">
              <a:solidFill>
                <a:schemeClr val="accent4"/>
              </a:solidFill>
            </a:ln>
          </p:spPr>
        </p:sp>
        <p:sp>
          <p:nvSpPr>
            <p:cNvPr id="8" name="Rectangle 8"/>
            <p:cNvSpPr/>
            <p:nvPr/>
          </p:nvSpPr>
          <p:spPr>
            <a:xfrm>
              <a:off x="609600" y="1428750"/>
              <a:ext cx="57150" cy="1143000"/>
            </a:xfrm>
            <a:prstGeom prst="roundRect">
              <a:avLst>
                <a:gd name="adj" fmla="val 50000"/>
              </a:avLst>
            </a:prstGeom>
            <a:solidFill>
              <a:schemeClr val="accent1"/>
            </a:solidFill>
            <a:ln>
              <a:noFill/>
            </a:ln>
          </p:spPr>
        </p:sp>
        <p:sp>
          <p:nvSpPr>
            <p:cNvPr id="9" name="TextBox 9"/>
            <p:cNvSpPr txBox="1"/>
            <p:nvPr/>
          </p:nvSpPr>
          <p:spPr>
            <a:xfrm>
              <a:off x="906018" y="1612582"/>
              <a:ext cx="400224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A general dual-based formulation</a:t>
              </a:r>
            </a:p>
          </p:txBody>
        </p:sp>
        <p:sp>
          <p:nvSpPr>
            <p:cNvPr id="10" name="TextBox 10"/>
            <p:cNvSpPr txBox="1"/>
            <p:nvPr/>
          </p:nvSpPr>
          <p:spPr>
            <a:xfrm>
              <a:off x="907161" y="1960721"/>
              <a:ext cx="729100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core contribution is a general dual formulation of Kernel PCA, built on the</a:t>
              </a:r>
            </a:p>
          </p:txBody>
        </p:sp>
        <p:sp>
          <p:nvSpPr>
            <p:cNvPr id="11" name="TextBox 11"/>
            <p:cNvSpPr txBox="1"/>
            <p:nvPr/>
          </p:nvSpPr>
          <p:spPr>
            <a:xfrm>
              <a:off x="907161" y="2208371"/>
              <a:ext cx="714170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dualization of a difference of convex functions. It does two things at once.</a:t>
              </a:r>
            </a:p>
          </p:txBody>
        </p:sp>
      </p:grpSp>
      <p:grpSp>
        <p:nvGrpSpPr>
          <p:cNvPr id="21" name="Group 21"/>
          <p:cNvGrpSpPr/>
          <p:nvPr/>
        </p:nvGrpSpPr>
        <p:grpSpPr>
          <a:xfrm>
            <a:off x="609600" y="2724150"/>
            <a:ext cx="5372100" cy="2190750"/>
            <a:chOff x="609600" y="2724150"/>
            <a:chExt cx="5372100" cy="2190750"/>
          </a:xfrm>
        </p:grpSpPr>
        <p:sp>
          <p:nvSpPr>
            <p:cNvPr id="13" name="Rectangle 13"/>
            <p:cNvSpPr/>
            <p:nvPr/>
          </p:nvSpPr>
          <p:spPr>
            <a:xfrm>
              <a:off x="609600" y="2724150"/>
              <a:ext cx="5372100" cy="2190750"/>
            </a:xfrm>
            <a:prstGeom prst="roundRect">
              <a:avLst>
                <a:gd name="adj" fmla="val 6087"/>
              </a:avLst>
            </a:prstGeom>
            <a:solidFill>
              <a:schemeClr val="lt2"/>
            </a:solidFill>
            <a:ln w="9525">
              <a:solidFill>
                <a:schemeClr val="accent4"/>
              </a:solidFill>
            </a:ln>
          </p:spPr>
        </p:sp>
        <p:sp>
          <p:nvSpPr>
            <p:cNvPr id="14" name="Rectangle 14"/>
            <p:cNvSpPr/>
            <p:nvPr/>
          </p:nvSpPr>
          <p:spPr>
            <a:xfrm>
              <a:off x="609600" y="2724150"/>
              <a:ext cx="57150" cy="2190750"/>
            </a:xfrm>
            <a:prstGeom prst="roundRect">
              <a:avLst>
                <a:gd name="adj" fmla="val 50000"/>
              </a:avLst>
            </a:prstGeom>
            <a:solidFill>
              <a:schemeClr val="accent2"/>
            </a:solidFill>
            <a:ln>
              <a:noFill/>
            </a:ln>
          </p:spPr>
        </p:sp>
        <p:sp>
          <p:nvSpPr>
            <p:cNvPr id="15" name="TextBox 15"/>
            <p:cNvSpPr txBox="1"/>
            <p:nvPr/>
          </p:nvSpPr>
          <p:spPr>
            <a:xfrm>
              <a:off x="906018" y="2927032"/>
              <a:ext cx="256475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Payoff 1 · SVD-free</a:t>
              </a:r>
            </a:p>
          </p:txBody>
        </p:sp>
        <p:sp>
          <p:nvSpPr>
            <p:cNvPr id="16" name="TextBox 16"/>
            <p:cNvSpPr txBox="1"/>
            <p:nvPr/>
          </p:nvSpPr>
          <p:spPr>
            <a:xfrm>
              <a:off x="907161" y="3294221"/>
              <a:ext cx="308880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finite-dimensional dual matrix,</a:t>
              </a:r>
            </a:p>
          </p:txBody>
        </p:sp>
        <p:sp>
          <p:nvSpPr>
            <p:cNvPr id="17" name="TextBox 17"/>
            <p:cNvSpPr txBox="1"/>
            <p:nvPr/>
          </p:nvSpPr>
          <p:spPr>
            <a:xfrm>
              <a:off x="907161" y="3541871"/>
              <a:ext cx="278630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solvable by efficient gradient</a:t>
              </a:r>
            </a:p>
          </p:txBody>
        </p:sp>
        <p:sp>
          <p:nvSpPr>
            <p:cNvPr id="18" name="TextBox 18"/>
            <p:cNvSpPr txBox="1"/>
            <p:nvPr/>
          </p:nvSpPr>
          <p:spPr>
            <a:xfrm>
              <a:off x="907161" y="3789521"/>
              <a:ext cx="334066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methods, that avoids the expensive</a:t>
              </a:r>
            </a:p>
          </p:txBody>
        </p:sp>
        <p:sp>
          <p:nvSpPr>
            <p:cNvPr id="19" name="TextBox 19"/>
            <p:cNvSpPr txBox="1"/>
            <p:nvPr/>
          </p:nvSpPr>
          <p:spPr>
            <a:xfrm>
              <a:off x="907161" y="4037171"/>
              <a:ext cx="325656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SVD — even when the feature space</a:t>
              </a:r>
            </a:p>
          </p:txBody>
        </p:sp>
        <p:sp>
          <p:nvSpPr>
            <p:cNvPr id="20" name="TextBox 20"/>
            <p:cNvSpPr txBox="1"/>
            <p:nvPr/>
          </p:nvSpPr>
          <p:spPr>
            <a:xfrm>
              <a:off x="907161" y="4284821"/>
              <a:ext cx="21937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is infinite-dimensional.</a:t>
              </a:r>
            </a:p>
          </p:txBody>
        </p:sp>
      </p:grpSp>
      <p:grpSp>
        <p:nvGrpSpPr>
          <p:cNvPr id="30" name="Group 30"/>
          <p:cNvGrpSpPr/>
          <p:nvPr/>
        </p:nvGrpSpPr>
        <p:grpSpPr>
          <a:xfrm>
            <a:off x="6210300" y="2724150"/>
            <a:ext cx="5372100" cy="2190750"/>
            <a:chOff x="6210300" y="2724150"/>
            <a:chExt cx="5372100" cy="2190750"/>
          </a:xfrm>
        </p:grpSpPr>
        <p:sp>
          <p:nvSpPr>
            <p:cNvPr id="22" name="Rectangle 22"/>
            <p:cNvSpPr/>
            <p:nvPr/>
          </p:nvSpPr>
          <p:spPr>
            <a:xfrm>
              <a:off x="6210300" y="2724150"/>
              <a:ext cx="5372100" cy="2190750"/>
            </a:xfrm>
            <a:prstGeom prst="roundRect">
              <a:avLst>
                <a:gd name="adj" fmla="val 6087"/>
              </a:avLst>
            </a:prstGeom>
            <a:solidFill>
              <a:schemeClr val="lt2"/>
            </a:solidFill>
            <a:ln w="9525">
              <a:solidFill>
                <a:schemeClr val="accent4"/>
              </a:solidFill>
            </a:ln>
          </p:spPr>
        </p:sp>
        <p:sp>
          <p:nvSpPr>
            <p:cNvPr id="23" name="Rectangle 23"/>
            <p:cNvSpPr/>
            <p:nvPr/>
          </p:nvSpPr>
          <p:spPr>
            <a:xfrm>
              <a:off x="6210300" y="2724150"/>
              <a:ext cx="57150" cy="2190750"/>
            </a:xfrm>
            <a:prstGeom prst="roundRect">
              <a:avLst>
                <a:gd name="adj" fmla="val 50000"/>
              </a:avLst>
            </a:prstGeom>
            <a:solidFill>
              <a:schemeClr val="accent3"/>
            </a:solidFill>
            <a:ln>
              <a:noFill/>
            </a:ln>
          </p:spPr>
        </p:sp>
        <p:sp>
          <p:nvSpPr>
            <p:cNvPr id="24" name="TextBox 24"/>
            <p:cNvSpPr txBox="1"/>
            <p:nvPr/>
          </p:nvSpPr>
          <p:spPr>
            <a:xfrm>
              <a:off x="6506718" y="2927032"/>
              <a:ext cx="233321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Payoff 2 · Modular</a:t>
              </a:r>
            </a:p>
          </p:txBody>
        </p:sp>
        <p:sp>
          <p:nvSpPr>
            <p:cNvPr id="25" name="TextBox 25"/>
            <p:cNvSpPr txBox="1"/>
            <p:nvPr/>
          </p:nvSpPr>
          <p:spPr>
            <a:xfrm>
              <a:off x="6507861" y="3294221"/>
              <a:ext cx="296475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objective becomes modular:</a:t>
              </a:r>
            </a:p>
          </p:txBody>
        </p:sp>
        <p:sp>
          <p:nvSpPr>
            <p:cNvPr id="26" name="TextBox 26"/>
            <p:cNvSpPr txBox="1"/>
            <p:nvPr/>
          </p:nvSpPr>
          <p:spPr>
            <a:xfrm>
              <a:off x="6507861" y="3541871"/>
              <a:ext cx="320685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choosing objectives expressible as</a:t>
              </a:r>
            </a:p>
          </p:txBody>
        </p:sp>
        <p:sp>
          <p:nvSpPr>
            <p:cNvPr id="27" name="TextBox 27"/>
            <p:cNvSpPr txBox="1"/>
            <p:nvPr/>
          </p:nvSpPr>
          <p:spPr>
            <a:xfrm>
              <a:off x="6507861" y="3789521"/>
              <a:ext cx="25823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Moreau envelopes promotes</a:t>
              </a:r>
            </a:p>
          </p:txBody>
        </p:sp>
        <p:sp>
          <p:nvSpPr>
            <p:cNvPr id="28" name="TextBox 28"/>
            <p:cNvSpPr txBox="1"/>
            <p:nvPr/>
          </p:nvSpPr>
          <p:spPr>
            <a:xfrm>
              <a:off x="6507861" y="4037171"/>
              <a:ext cx="340757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robustness or sparsity — all without</a:t>
              </a:r>
            </a:p>
          </p:txBody>
        </p:sp>
        <p:sp>
          <p:nvSpPr>
            <p:cNvPr id="29" name="TextBox 29"/>
            <p:cNvSpPr txBox="1"/>
            <p:nvPr/>
          </p:nvSpPr>
          <p:spPr>
            <a:xfrm>
              <a:off x="6507861" y="4284821"/>
              <a:ext cx="230840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leaving the dual picture.</a:t>
              </a:r>
            </a:p>
          </p:txBody>
        </p:sp>
      </p:grpSp>
      <p:grpSp>
        <p:nvGrpSpPr>
          <p:cNvPr id="37" name="Group 37"/>
          <p:cNvGrpSpPr/>
          <p:nvPr/>
        </p:nvGrpSpPr>
        <p:grpSpPr>
          <a:xfrm>
            <a:off x="609600" y="5067300"/>
            <a:ext cx="10972800" cy="1390650"/>
            <a:chOff x="609600" y="5067300"/>
            <a:chExt cx="10972800" cy="1390650"/>
          </a:xfrm>
        </p:grpSpPr>
        <p:sp>
          <p:nvSpPr>
            <p:cNvPr id="31" name="Rectangle 31"/>
            <p:cNvSpPr/>
            <p:nvPr/>
          </p:nvSpPr>
          <p:spPr>
            <a:xfrm>
              <a:off x="609600" y="5067300"/>
              <a:ext cx="10972800" cy="1390650"/>
            </a:xfrm>
            <a:prstGeom prst="roundRect">
              <a:avLst>
                <a:gd name="adj" fmla="val 9589"/>
              </a:avLst>
            </a:prstGeom>
            <a:solidFill>
              <a:schemeClr val="lt2"/>
            </a:solidFill>
            <a:ln w="9525">
              <a:solidFill>
                <a:schemeClr val="accent4"/>
              </a:solidFill>
            </a:ln>
          </p:spPr>
        </p:sp>
        <p:sp>
          <p:nvSpPr>
            <p:cNvPr id="32" name="Rectangle 32"/>
            <p:cNvSpPr/>
            <p:nvPr/>
          </p:nvSpPr>
          <p:spPr>
            <a:xfrm>
              <a:off x="609600" y="5067300"/>
              <a:ext cx="57150" cy="1390650"/>
            </a:xfrm>
            <a:prstGeom prst="roundRect">
              <a:avLst>
                <a:gd name="adj" fmla="val 50000"/>
              </a:avLst>
            </a:prstGeom>
            <a:solidFill>
              <a:srgbClr val="C2410C"/>
            </a:solidFill>
            <a:ln>
              <a:noFill/>
            </a:ln>
          </p:spPr>
        </p:sp>
        <p:sp>
          <p:nvSpPr>
            <p:cNvPr id="33" name="TextBox 33"/>
            <p:cNvSpPr txBox="1"/>
            <p:nvPr/>
          </p:nvSpPr>
          <p:spPr>
            <a:xfrm>
              <a:off x="906018" y="5270182"/>
              <a:ext cx="3928853"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Backed by theory and algorithms</a:t>
              </a:r>
            </a:p>
          </p:txBody>
        </p:sp>
        <p:sp>
          <p:nvSpPr>
            <p:cNvPr id="34" name="TextBox 34"/>
            <p:cNvSpPr txBox="1"/>
            <p:nvPr/>
          </p:nvSpPr>
          <p:spPr>
            <a:xfrm>
              <a:off x="907161" y="5618321"/>
              <a:ext cx="806295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paper supplies the dualization theory, concrete L-BFGS and difference-of-convex</a:t>
              </a:r>
            </a:p>
          </p:txBody>
        </p:sp>
        <p:sp>
          <p:nvSpPr>
            <p:cNvPr id="35" name="TextBox 35"/>
            <p:cNvSpPr txBox="1"/>
            <p:nvPr/>
          </p:nvSpPr>
          <p:spPr>
            <a:xfrm>
              <a:off x="907161" y="5865971"/>
              <a:ext cx="765133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algorithms, and closed-form proximal operators that make the robust and sparse</a:t>
              </a:r>
            </a:p>
          </p:txBody>
        </p:sp>
        <p:sp>
          <p:nvSpPr>
            <p:cNvPr id="36" name="TextBox 36"/>
            <p:cNvSpPr txBox="1"/>
            <p:nvPr/>
          </p:nvSpPr>
          <p:spPr>
            <a:xfrm>
              <a:off x="907161" y="6113621"/>
              <a:ext cx="155331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cases practical.</a:t>
              </a:r>
            </a:p>
          </p:txBody>
        </p:sp>
      </p:grpSp>
      <p:sp>
        <p:nvSpPr>
          <p:cNvPr id="38" name="TextBox 38"/>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39" name="cue_s04_c1_core_contribution_general_dual_based" title="cue_s04_c1_core_contribution_general_dual_based" descr="cue_s04_c1_core_contribution_general_dual_based The core contribution is a general dual-based formulation of Kernel PCA built on the dualization of a difference of convex functions. This formulation does two things at once."/>
          <p:cNvSpPr/>
          <p:nvPr/>
        </p:nvSpPr>
        <p:spPr>
          <a:xfrm>
            <a:off x="609600" y="1428521"/>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first_turns_problem_one_over" title="cue_s04_c2_first_turns_problem_one_over" descr="cue_s04_c2_first_turns_problem_one_over First, it turns the problem into one over a finite-dimensional dual matrix, which can be solved with efficient gradient-based methods and avoids the expensive singular value decomposition, even when the feature space is infinite-dimensional."/>
          <p:cNvSpPr/>
          <p:nvPr/>
        </p:nvSpPr>
        <p:spPr>
          <a:xfrm>
            <a:off x="609600" y="2723997"/>
            <a:ext cx="53717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second_makes_objective_modular_choos" title="cue_s04_c3_second_makes_objective_modular_choos" descr="cue_s04_c3_second_makes_objective_modular_choos Second, it makes the objective modular: by choosing objectives expressible as Moreau envelopes, the same framework promotes robustness or sparsity without leaving the dual picture."/>
          <p:cNvSpPr/>
          <p:nvPr/>
        </p:nvSpPr>
        <p:spPr>
          <a:xfrm>
            <a:off x="6210604" y="2723997"/>
            <a:ext cx="53717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4_authors_supply_supporting_theory_con" title="cue_s04_c4_authors_supply_supporting_theory_con" descr="cue_s04_c4_authors_supply_supporting_theory_con The authors supply the supporting theory, concrete L-BFGS and difference-of-convex algorithms, and the proximal operators needed to make the robust and sparse cases practical."/>
          <p:cNvSpPr/>
          <p:nvPr/>
        </p:nvSpPr>
        <p:spPr>
          <a:xfrm>
            <a:off x="609600" y="5067376"/>
            <a:ext cx="10972800"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241146"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05 · METHOD</a:t>
            </a:r>
          </a:p>
        </p:txBody>
      </p:sp>
      <p:sp>
        <p:nvSpPr>
          <p:cNvPr id="4" name="TextBox 4"/>
          <p:cNvSpPr txBox="1"/>
          <p:nvPr/>
        </p:nvSpPr>
        <p:spPr>
          <a:xfrm>
            <a:off x="825246" y="772478"/>
            <a:ext cx="791680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Dualizing a difference of convex functions</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05 / 10</a:t>
            </a:r>
          </a:p>
        </p:txBody>
      </p:sp>
      <p:grpSp>
        <p:nvGrpSpPr>
          <p:cNvPr id="13" name="Group 13"/>
          <p:cNvGrpSpPr/>
          <p:nvPr/>
        </p:nvGrpSpPr>
        <p:grpSpPr>
          <a:xfrm>
            <a:off x="609600" y="1428750"/>
            <a:ext cx="5372100" cy="1714500"/>
            <a:chOff x="609600" y="1428750"/>
            <a:chExt cx="5372100" cy="1714500"/>
          </a:xfrm>
        </p:grpSpPr>
        <p:sp>
          <p:nvSpPr>
            <p:cNvPr id="7" name="Rectangle 7"/>
            <p:cNvSpPr/>
            <p:nvPr/>
          </p:nvSpPr>
          <p:spPr>
            <a:xfrm>
              <a:off x="609600" y="1428750"/>
              <a:ext cx="5372100" cy="1714500"/>
            </a:xfrm>
            <a:prstGeom prst="roundRect">
              <a:avLst>
                <a:gd name="adj" fmla="val 7778"/>
              </a:avLst>
            </a:prstGeom>
            <a:solidFill>
              <a:schemeClr val="lt2"/>
            </a:solidFill>
            <a:ln w="9525">
              <a:solidFill>
                <a:schemeClr val="accent4"/>
              </a:solidFill>
            </a:ln>
          </p:spPr>
        </p:sp>
        <p:sp>
          <p:nvSpPr>
            <p:cNvPr id="8" name="Rectangle 8"/>
            <p:cNvSpPr/>
            <p:nvPr/>
          </p:nvSpPr>
          <p:spPr>
            <a:xfrm>
              <a:off x="609600" y="1428750"/>
              <a:ext cx="57150" cy="1714500"/>
            </a:xfrm>
            <a:prstGeom prst="roundRect">
              <a:avLst>
                <a:gd name="adj" fmla="val 50000"/>
              </a:avLst>
            </a:prstGeom>
            <a:solidFill>
              <a:schemeClr val="accent2"/>
            </a:solidFill>
            <a:ln>
              <a:noFill/>
            </a:ln>
          </p:spPr>
        </p:sp>
        <p:sp>
          <p:nvSpPr>
            <p:cNvPr id="9" name="TextBox 9"/>
            <p:cNvSpPr txBox="1"/>
            <p:nvPr/>
          </p:nvSpPr>
          <p:spPr>
            <a:xfrm>
              <a:off x="906018" y="1612582"/>
              <a:ext cx="3003032"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1 · Cast as a DC problem</a:t>
              </a:r>
            </a:p>
          </p:txBody>
        </p:sp>
        <p:sp>
          <p:nvSpPr>
            <p:cNvPr id="10" name="TextBox 10"/>
            <p:cNvSpPr txBox="1"/>
            <p:nvPr/>
          </p:nvSpPr>
          <p:spPr>
            <a:xfrm>
              <a:off x="907161" y="1960721"/>
              <a:ext cx="405955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Write Kernel PCA as minimizing a difference</a:t>
              </a:r>
            </a:p>
          </p:txBody>
        </p:sp>
        <p:sp>
          <p:nvSpPr>
            <p:cNvPr id="11" name="TextBox 11"/>
            <p:cNvSpPr txBox="1"/>
            <p:nvPr/>
          </p:nvSpPr>
          <p:spPr>
            <a:xfrm>
              <a:off x="907161" y="2208371"/>
              <a:ext cx="383447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of two convex functions over the Stiefel</a:t>
              </a:r>
            </a:p>
          </p:txBody>
        </p:sp>
        <p:sp>
          <p:nvSpPr>
            <p:cNvPr id="12" name="TextBox 12"/>
            <p:cNvSpPr txBox="1"/>
            <p:nvPr/>
          </p:nvSpPr>
          <p:spPr>
            <a:xfrm>
              <a:off x="907161" y="2456021"/>
              <a:ext cx="310171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manifold of orthonormal frames.</a:t>
              </a:r>
            </a:p>
          </p:txBody>
        </p:sp>
      </p:grpSp>
      <p:grpSp>
        <p:nvGrpSpPr>
          <p:cNvPr id="21" name="Group 21"/>
          <p:cNvGrpSpPr/>
          <p:nvPr/>
        </p:nvGrpSpPr>
        <p:grpSpPr>
          <a:xfrm>
            <a:off x="6210300" y="1428750"/>
            <a:ext cx="5372100" cy="1714500"/>
            <a:chOff x="6210300" y="1428750"/>
            <a:chExt cx="5372100" cy="1714500"/>
          </a:xfrm>
        </p:grpSpPr>
        <p:sp>
          <p:nvSpPr>
            <p:cNvPr id="14" name="Rectangle 14"/>
            <p:cNvSpPr/>
            <p:nvPr/>
          </p:nvSpPr>
          <p:spPr>
            <a:xfrm>
              <a:off x="6210300" y="1428750"/>
              <a:ext cx="5372100" cy="1714500"/>
            </a:xfrm>
            <a:prstGeom prst="roundRect">
              <a:avLst>
                <a:gd name="adj" fmla="val 7778"/>
              </a:avLst>
            </a:prstGeom>
            <a:solidFill>
              <a:schemeClr val="lt2"/>
            </a:solidFill>
            <a:ln w="9525">
              <a:solidFill>
                <a:schemeClr val="accent4"/>
              </a:solidFill>
            </a:ln>
          </p:spPr>
        </p:sp>
        <p:sp>
          <p:nvSpPr>
            <p:cNvPr id="15" name="Rectangle 15"/>
            <p:cNvSpPr/>
            <p:nvPr/>
          </p:nvSpPr>
          <p:spPr>
            <a:xfrm>
              <a:off x="6210300" y="1428750"/>
              <a:ext cx="57150" cy="1714500"/>
            </a:xfrm>
            <a:prstGeom prst="roundRect">
              <a:avLst>
                <a:gd name="adj" fmla="val 50000"/>
              </a:avLst>
            </a:prstGeom>
            <a:solidFill>
              <a:schemeClr val="accent1"/>
            </a:solidFill>
            <a:ln>
              <a:noFill/>
            </a:ln>
          </p:spPr>
        </p:sp>
        <p:sp>
          <p:nvSpPr>
            <p:cNvPr id="16" name="TextBox 16"/>
            <p:cNvSpPr txBox="1"/>
            <p:nvPr/>
          </p:nvSpPr>
          <p:spPr>
            <a:xfrm>
              <a:off x="6506718" y="1612582"/>
              <a:ext cx="375733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2 · Dualize to finite dimensions</a:t>
              </a:r>
            </a:p>
          </p:txBody>
        </p:sp>
        <p:sp>
          <p:nvSpPr>
            <p:cNvPr id="17" name="TextBox 17"/>
            <p:cNvSpPr txBox="1"/>
            <p:nvPr/>
          </p:nvSpPr>
          <p:spPr>
            <a:xfrm>
              <a:off x="6507861" y="1960721"/>
              <a:ext cx="406370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dualization proposition sends the primal —</a:t>
              </a:r>
            </a:p>
          </p:txBody>
        </p:sp>
        <p:sp>
          <p:nvSpPr>
            <p:cNvPr id="18" name="TextBox 18"/>
            <p:cNvSpPr txBox="1"/>
            <p:nvPr/>
          </p:nvSpPr>
          <p:spPr>
            <a:xfrm>
              <a:off x="6507861" y="2208371"/>
              <a:ext cx="369431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possibly infinite-dimensional — to a dual</a:t>
              </a:r>
            </a:p>
          </p:txBody>
        </p:sp>
        <p:sp>
          <p:nvSpPr>
            <p:cNvPr id="19" name="TextBox 19"/>
            <p:cNvSpPr txBox="1"/>
            <p:nvPr/>
          </p:nvSpPr>
          <p:spPr>
            <a:xfrm>
              <a:off x="6507861" y="2456021"/>
              <a:ext cx="36818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whose variable H is a finite n×s matrix,</a:t>
              </a:r>
            </a:p>
          </p:txBody>
        </p:sp>
        <p:sp>
          <p:nvSpPr>
            <p:cNvPr id="20" name="TextBox 20"/>
            <p:cNvSpPr txBox="1"/>
            <p:nvPr/>
          </p:nvSpPr>
          <p:spPr>
            <a:xfrm>
              <a:off x="6507861" y="2703671"/>
              <a:ext cx="256646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ideal for gradient descent.</a:t>
              </a:r>
            </a:p>
          </p:txBody>
        </p:sp>
      </p:grpSp>
      <p:grpSp>
        <p:nvGrpSpPr>
          <p:cNvPr id="29" name="Group 29"/>
          <p:cNvGrpSpPr/>
          <p:nvPr/>
        </p:nvGrpSpPr>
        <p:grpSpPr>
          <a:xfrm>
            <a:off x="609600" y="3295650"/>
            <a:ext cx="5372100" cy="1714500"/>
            <a:chOff x="609600" y="3295650"/>
            <a:chExt cx="5372100" cy="1714500"/>
          </a:xfrm>
        </p:grpSpPr>
        <p:sp>
          <p:nvSpPr>
            <p:cNvPr id="22" name="Rectangle 22"/>
            <p:cNvSpPr/>
            <p:nvPr/>
          </p:nvSpPr>
          <p:spPr>
            <a:xfrm>
              <a:off x="609600" y="3295650"/>
              <a:ext cx="5372100" cy="1714500"/>
            </a:xfrm>
            <a:prstGeom prst="roundRect">
              <a:avLst>
                <a:gd name="adj" fmla="val 7778"/>
              </a:avLst>
            </a:prstGeom>
            <a:solidFill>
              <a:schemeClr val="lt2"/>
            </a:solidFill>
            <a:ln w="9525">
              <a:solidFill>
                <a:schemeClr val="accent4"/>
              </a:solidFill>
            </a:ln>
          </p:spPr>
        </p:sp>
        <p:sp>
          <p:nvSpPr>
            <p:cNvPr id="23" name="Rectangle 23"/>
            <p:cNvSpPr/>
            <p:nvPr/>
          </p:nvSpPr>
          <p:spPr>
            <a:xfrm>
              <a:off x="609600" y="3295650"/>
              <a:ext cx="57150" cy="1714500"/>
            </a:xfrm>
            <a:prstGeom prst="roundRect">
              <a:avLst>
                <a:gd name="adj" fmla="val 50000"/>
              </a:avLst>
            </a:prstGeom>
            <a:solidFill>
              <a:schemeClr val="accent3"/>
            </a:solidFill>
            <a:ln>
              <a:noFill/>
            </a:ln>
          </p:spPr>
        </p:sp>
        <p:sp>
          <p:nvSpPr>
            <p:cNvPr id="24" name="TextBox 24"/>
            <p:cNvSpPr txBox="1"/>
            <p:nvPr/>
          </p:nvSpPr>
          <p:spPr>
            <a:xfrm>
              <a:off x="906018" y="3479482"/>
              <a:ext cx="297358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3 · Only a small s×s SVD</a:t>
              </a:r>
            </a:p>
          </p:txBody>
        </p:sp>
        <p:sp>
          <p:nvSpPr>
            <p:cNvPr id="25" name="TextBox 25"/>
            <p:cNvSpPr txBox="1"/>
            <p:nvPr/>
          </p:nvSpPr>
          <p:spPr>
            <a:xfrm>
              <a:off x="907161" y="3827621"/>
              <a:ext cx="425170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Stiefel indicator becomes a nuclear-norm</a:t>
              </a:r>
            </a:p>
          </p:txBody>
        </p:sp>
        <p:sp>
          <p:nvSpPr>
            <p:cNvPr id="26" name="TextBox 26"/>
            <p:cNvSpPr txBox="1"/>
            <p:nvPr/>
          </p:nvSpPr>
          <p:spPr>
            <a:xfrm>
              <a:off x="907161" y="4075271"/>
              <a:ext cx="403095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term π(H) = Tr√(HᵀGH). Its gradient needs</a:t>
              </a:r>
            </a:p>
          </p:txBody>
        </p:sp>
        <p:sp>
          <p:nvSpPr>
            <p:cNvPr id="27" name="TextBox 27"/>
            <p:cNvSpPr txBox="1"/>
            <p:nvPr/>
          </p:nvSpPr>
          <p:spPr>
            <a:xfrm>
              <a:off x="907161" y="4322921"/>
              <a:ext cx="381937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only an s×s SVD — never the full n×n Gram</a:t>
              </a:r>
            </a:p>
          </p:txBody>
        </p:sp>
        <p:sp>
          <p:nvSpPr>
            <p:cNvPr id="28" name="TextBox 28"/>
            <p:cNvSpPr txBox="1"/>
            <p:nvPr/>
          </p:nvSpPr>
          <p:spPr>
            <a:xfrm>
              <a:off x="907161" y="4570571"/>
              <a:ext cx="376060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SVD. That is the source of the speedup.</a:t>
              </a:r>
            </a:p>
          </p:txBody>
        </p:sp>
      </p:grpSp>
      <p:grpSp>
        <p:nvGrpSpPr>
          <p:cNvPr id="37" name="Group 37"/>
          <p:cNvGrpSpPr/>
          <p:nvPr/>
        </p:nvGrpSpPr>
        <p:grpSpPr>
          <a:xfrm>
            <a:off x="6210300" y="3295650"/>
            <a:ext cx="5372100" cy="1714500"/>
            <a:chOff x="6210300" y="3295650"/>
            <a:chExt cx="5372100" cy="1714500"/>
          </a:xfrm>
        </p:grpSpPr>
        <p:sp>
          <p:nvSpPr>
            <p:cNvPr id="30" name="Rectangle 30"/>
            <p:cNvSpPr/>
            <p:nvPr/>
          </p:nvSpPr>
          <p:spPr>
            <a:xfrm>
              <a:off x="6210300" y="3295650"/>
              <a:ext cx="5372100" cy="1714500"/>
            </a:xfrm>
            <a:prstGeom prst="roundRect">
              <a:avLst>
                <a:gd name="adj" fmla="val 7778"/>
              </a:avLst>
            </a:prstGeom>
            <a:solidFill>
              <a:schemeClr val="lt2"/>
            </a:solidFill>
            <a:ln w="9525">
              <a:solidFill>
                <a:schemeClr val="accent4"/>
              </a:solidFill>
            </a:ln>
          </p:spPr>
        </p:sp>
        <p:sp>
          <p:nvSpPr>
            <p:cNvPr id="31" name="Rectangle 31"/>
            <p:cNvSpPr/>
            <p:nvPr/>
          </p:nvSpPr>
          <p:spPr>
            <a:xfrm>
              <a:off x="6210300" y="3295650"/>
              <a:ext cx="57150" cy="1714500"/>
            </a:xfrm>
            <a:prstGeom prst="roundRect">
              <a:avLst>
                <a:gd name="adj" fmla="val 50000"/>
              </a:avLst>
            </a:prstGeom>
            <a:solidFill>
              <a:srgbClr val="C2410C"/>
            </a:solidFill>
            <a:ln>
              <a:noFill/>
            </a:ln>
          </p:spPr>
        </p:sp>
        <p:sp>
          <p:nvSpPr>
            <p:cNvPr id="32" name="TextBox 32"/>
            <p:cNvSpPr txBox="1"/>
            <p:nvPr/>
          </p:nvSpPr>
          <p:spPr>
            <a:xfrm>
              <a:off x="6506718" y="3479482"/>
              <a:ext cx="3398733"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4 · Robust &amp; sparse via DCA</a:t>
              </a:r>
            </a:p>
          </p:txBody>
        </p:sp>
        <p:sp>
          <p:nvSpPr>
            <p:cNvPr id="33" name="TextBox 33"/>
            <p:cNvSpPr txBox="1"/>
            <p:nvPr/>
          </p:nvSpPr>
          <p:spPr>
            <a:xfrm>
              <a:off x="6507861" y="3827621"/>
              <a:ext cx="404261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For robustness or sparsity, add a Moreau-</a:t>
              </a:r>
            </a:p>
          </p:txBody>
        </p:sp>
        <p:sp>
          <p:nvSpPr>
            <p:cNvPr id="34" name="TextBox 34"/>
            <p:cNvSpPr txBox="1"/>
            <p:nvPr/>
          </p:nvSpPr>
          <p:spPr>
            <a:xfrm>
              <a:off x="6507861" y="4075271"/>
              <a:ext cx="434426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envelope term and run a difference-of-convex</a:t>
              </a:r>
            </a:p>
          </p:txBody>
        </p:sp>
        <p:sp>
          <p:nvSpPr>
            <p:cNvPr id="35" name="TextBox 35"/>
            <p:cNvSpPr txBox="1"/>
            <p:nvPr/>
          </p:nvSpPr>
          <p:spPr>
            <a:xfrm>
              <a:off x="6507861" y="4322921"/>
              <a:ext cx="443028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algorithm with closed-form prox operators for</a:t>
              </a:r>
            </a:p>
          </p:txBody>
        </p:sp>
        <p:sp>
          <p:nvSpPr>
            <p:cNvPr id="36" name="TextBox 36"/>
            <p:cNvSpPr txBox="1"/>
            <p:nvPr/>
          </p:nvSpPr>
          <p:spPr>
            <a:xfrm>
              <a:off x="6507861" y="4570571"/>
              <a:ext cx="33184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Huber and ε-insensitive losses.</a:t>
              </a:r>
            </a:p>
          </p:txBody>
        </p:sp>
      </p:grpSp>
      <p:sp>
        <p:nvSpPr>
          <p:cNvPr id="38" name="Rectangle 38"/>
          <p:cNvSpPr/>
          <p:nvPr/>
        </p:nvSpPr>
        <p:spPr>
          <a:xfrm>
            <a:off x="609600" y="5200650"/>
            <a:ext cx="10972800" cy="1257300"/>
          </a:xfrm>
          <a:prstGeom prst="roundRect">
            <a:avLst>
              <a:gd name="adj" fmla="val 10606"/>
            </a:avLst>
          </a:prstGeom>
          <a:solidFill>
            <a:schemeClr val="accent1"/>
          </a:solidFill>
          <a:ln>
            <a:noFill/>
          </a:ln>
        </p:spPr>
        <p:txBody>
          <a:bodyPr/>
          <a:p/>
        </p:txBody>
      </p:sp>
      <p:sp>
        <p:nvSpPr>
          <p:cNvPr id="39" name="TextBox 39"/>
          <p:cNvSpPr txBox="1"/>
          <p:nvPr/>
        </p:nvSpPr>
        <p:spPr>
          <a:xfrm>
            <a:off x="909447" y="5457349"/>
            <a:ext cx="1675963" cy="190690"/>
          </a:xfrm>
          <a:prstGeom prst="rect">
            <a:avLst/>
          </a:prstGeom>
          <a:noFill/>
          <a:ln>
            <a:noFill/>
          </a:ln>
        </p:spPr>
        <p:txBody>
          <a:bodyPr wrap="none" lIns="0" tIns="0" rIns="0" bIns="0" anchor="t" anchorCtr="0">
            <a:spAutoFit/>
          </a:bodyPr>
          <a:lstStyle/>
          <a:p>
            <a:pPr algn="l"/>
            <a:r>
              <a:rPr lang="en-US" sz="980" spc="150" dirty="0">
                <a:solidFill>
                  <a:schemeClr val="accent6"/>
                </a:solidFill>
                <a:latin typeface="+mn-lt"/>
                <a:ea typeface="+mn-ea"/>
                <a:cs typeface="+mn-cs"/>
              </a:rPr>
              <a:t>THE DUAL OBJECTIVE</a:t>
            </a:r>
          </a:p>
        </p:txBody>
      </p:sp>
      <p:sp>
        <p:nvSpPr>
          <p:cNvPr id="40" name="TextBox 40"/>
          <p:cNvSpPr txBox="1"/>
          <p:nvPr/>
        </p:nvSpPr>
        <p:spPr>
          <a:xfrm>
            <a:off x="907161" y="5751671"/>
            <a:ext cx="6665778" cy="278702"/>
          </a:xfrm>
          <a:prstGeom prst="rect">
            <a:avLst/>
          </a:prstGeom>
          <a:noFill/>
          <a:ln>
            <a:noFill/>
          </a:ln>
        </p:spPr>
        <p:txBody>
          <a:bodyPr wrap="none" lIns="0" tIns="0" rIns="0" bIns="0" anchor="t" anchorCtr="0">
            <a:spAutoFit/>
          </a:bodyPr>
          <a:lstStyle/>
          <a:p>
            <a:pPr algn="l"/>
            <a:r>
              <a:rPr lang="en-US" sz="1420" dirty="0">
                <a:solidFill>
                  <a:srgbClr val="FFFFFF"/>
                </a:solidFill>
                <a:latin typeface="Consolas"/>
                <a:ea typeface="Consolas"/>
                <a:cs typeface="Consolas"/>
              </a:rPr>
              <a:t>Standard: inf over H ∈ ℝⁿˣˢ ½·Tr(HᵀH) − π(H), with π(H) = Tr √(HᵀG H)</a:t>
            </a:r>
          </a:p>
        </p:txBody>
      </p:sp>
      <p:sp>
        <p:nvSpPr>
          <p:cNvPr id="41" name="TextBox 41"/>
          <p:cNvSpPr txBox="1"/>
          <p:nvPr/>
        </p:nvSpPr>
        <p:spPr>
          <a:xfrm>
            <a:off x="907161" y="6075521"/>
            <a:ext cx="6828427" cy="278702"/>
          </a:xfrm>
          <a:prstGeom prst="rect">
            <a:avLst/>
          </a:prstGeom>
          <a:noFill/>
          <a:ln>
            <a:noFill/>
          </a:ln>
        </p:spPr>
        <p:txBody>
          <a:bodyPr wrap="none" lIns="0" tIns="0" rIns="0" bIns="0" anchor="t" anchorCtr="0">
            <a:spAutoFit/>
          </a:bodyPr>
          <a:lstStyle/>
          <a:p>
            <a:pPr algn="l"/>
            <a:r>
              <a:rPr lang="en-US" sz="1420" dirty="0">
                <a:solidFill>
                  <a:srgbClr val="FFFFFF"/>
                </a:solidFill>
                <a:latin typeface="Consolas"/>
                <a:ea typeface="Consolas"/>
                <a:cs typeface="Consolas"/>
              </a:rPr>
              <a:t>Robust / sparse: inf over H ½‖H‖²_F + Ψ⋆(H) − π(H), Hκ = ½‖·‖²_F □ κ‖·‖</a:t>
            </a:r>
          </a:p>
        </p:txBody>
      </p:sp>
      <p:sp>
        <p:nvSpPr>
          <p:cNvPr id="42" name="TextBox 42"/>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43" name="cue_s05_c1_method_starts_writing_kernel_pca" title="cue_s05_c1_method_starts_writing_kernel_pca" descr="cue_s05_c1_method_starts_writing_kernel_pca The method starts by writing Kernel PCA as the minimization of a difference of two convex functions over the Stiefel manifold of orthonormal frames."/>
          <p:cNvSpPr/>
          <p:nvPr/>
        </p:nvSpPr>
        <p:spPr>
          <a:xfrm>
            <a:off x="609600" y="1428521"/>
            <a:ext cx="53717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2_general_dualization_proposition_conv" title="cue_s05_c2_general_dualization_proposition_conv" descr="cue_s05_c2_general_dualization_proposition_conv A general dualization proposition then converts this primal problem, whose variables live in a possibly infinite-dimensional feature space, into a dual problem whose variable H is a finite n-by-s matrix, perfectly suited to gradient descent."/>
          <p:cNvSpPr/>
          <p:nvPr/>
        </p:nvSpPr>
        <p:spPr>
          <a:xfrm>
            <a:off x="6210604" y="1428521"/>
            <a:ext cx="53717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5_c3_indicator_function_stiefel_manifold" title="cue_s05_c3_indicator_function_stiefel_manifold" descr="cue_s05_c3_indicator_function_stiefel_manifold The indicator function of the Stiefel manifold turns, in the dual, into a nuclear-norm term the authors call pi of H, equal to the trace of the square root of H-transpose G H. Its gradient only requires the singular value decomposition of a small s-by-s matrix"/>
          <p:cNvSpPr/>
          <p:nvPr/>
        </p:nvSpPr>
        <p:spPr>
          <a:xfrm>
            <a:off x="609600" y="3295954"/>
            <a:ext cx="53717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4_promote_robustness_sparsity_they_add" title="cue_s05_c4_promote_robustness_sparsity_they_add" descr="cue_s05_c4_promote_robustness_sparsity_they_add To promote robustness or sparsity, they add a Moreau-envelope term to the objective and optimize with a difference-of-convex algorithm, plugging in closed-form proximal operators for the Huber and epsilon-insensitive losses."/>
          <p:cNvSpPr/>
          <p:nvPr/>
        </p:nvSpPr>
        <p:spPr>
          <a:xfrm>
            <a:off x="6210604" y="3295954"/>
            <a:ext cx="53717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2619451"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06 · DATASET / BENCHMARK</a:t>
            </a:r>
          </a:p>
        </p:txBody>
      </p:sp>
      <p:sp>
        <p:nvSpPr>
          <p:cNvPr id="4" name="TextBox 4"/>
          <p:cNvSpPr txBox="1"/>
          <p:nvPr/>
        </p:nvSpPr>
        <p:spPr>
          <a:xfrm>
            <a:off x="825246" y="772478"/>
            <a:ext cx="531135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How the method is evaluated</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06 / 10</a:t>
            </a:r>
          </a:p>
        </p:txBody>
      </p:sp>
      <p:grpSp>
        <p:nvGrpSpPr>
          <p:cNvPr id="12" name="Group 12"/>
          <p:cNvGrpSpPr/>
          <p:nvPr/>
        </p:nvGrpSpPr>
        <p:grpSpPr>
          <a:xfrm>
            <a:off x="609600" y="1428750"/>
            <a:ext cx="10972800" cy="1143000"/>
            <a:chOff x="609600" y="1428750"/>
            <a:chExt cx="10972800" cy="1143000"/>
          </a:xfrm>
        </p:grpSpPr>
        <p:sp>
          <p:nvSpPr>
            <p:cNvPr id="7" name="Rectangle 7"/>
            <p:cNvSpPr/>
            <p:nvPr/>
          </p:nvSpPr>
          <p:spPr>
            <a:xfrm>
              <a:off x="609600" y="1428750"/>
              <a:ext cx="10972800" cy="1143000"/>
            </a:xfrm>
            <a:prstGeom prst="roundRect">
              <a:avLst>
                <a:gd name="adj" fmla="val 11667"/>
              </a:avLst>
            </a:prstGeom>
            <a:solidFill>
              <a:schemeClr val="lt2"/>
            </a:solidFill>
            <a:ln w="9525">
              <a:solidFill>
                <a:schemeClr val="accent4"/>
              </a:solidFill>
            </a:ln>
          </p:spPr>
        </p:sp>
        <p:sp>
          <p:nvSpPr>
            <p:cNvPr id="8" name="Rectangle 8"/>
            <p:cNvSpPr/>
            <p:nvPr/>
          </p:nvSpPr>
          <p:spPr>
            <a:xfrm>
              <a:off x="609600" y="1428750"/>
              <a:ext cx="57150" cy="1143000"/>
            </a:xfrm>
            <a:prstGeom prst="roundRect">
              <a:avLst>
                <a:gd name="adj" fmla="val 50000"/>
              </a:avLst>
            </a:prstGeom>
            <a:solidFill>
              <a:schemeClr val="accent2"/>
            </a:solidFill>
            <a:ln>
              <a:noFill/>
            </a:ln>
          </p:spPr>
        </p:sp>
        <p:sp>
          <p:nvSpPr>
            <p:cNvPr id="9" name="TextBox 9"/>
            <p:cNvSpPr txBox="1"/>
            <p:nvPr/>
          </p:nvSpPr>
          <p:spPr>
            <a:xfrm>
              <a:off x="906018" y="1612582"/>
              <a:ext cx="365792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Synthetic and real-world data</a:t>
              </a:r>
            </a:p>
          </p:txBody>
        </p:sp>
        <p:sp>
          <p:nvSpPr>
            <p:cNvPr id="10" name="TextBox 10"/>
            <p:cNvSpPr txBox="1"/>
            <p:nvPr/>
          </p:nvSpPr>
          <p:spPr>
            <a:xfrm>
              <a:off x="907161" y="1960721"/>
              <a:ext cx="784891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experiments span both synthetic and real-world datasets, covering efficiency,</a:t>
              </a:r>
            </a:p>
          </p:txBody>
        </p:sp>
        <p:sp>
          <p:nvSpPr>
            <p:cNvPr id="11" name="TextBox 11"/>
            <p:cNvSpPr txBox="1"/>
            <p:nvPr/>
          </p:nvSpPr>
          <p:spPr>
            <a:xfrm>
              <a:off x="907161" y="2208371"/>
              <a:ext cx="44876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robustness, and sparsity in a single evaluation.</a:t>
              </a:r>
            </a:p>
          </p:txBody>
        </p:sp>
      </p:grpSp>
      <p:grpSp>
        <p:nvGrpSpPr>
          <p:cNvPr id="18" name="Group 18"/>
          <p:cNvGrpSpPr/>
          <p:nvPr/>
        </p:nvGrpSpPr>
        <p:grpSpPr>
          <a:xfrm>
            <a:off x="609600" y="2724150"/>
            <a:ext cx="10972800" cy="1143000"/>
            <a:chOff x="609600" y="2724150"/>
            <a:chExt cx="10972800" cy="1143000"/>
          </a:xfrm>
        </p:grpSpPr>
        <p:sp>
          <p:nvSpPr>
            <p:cNvPr id="13" name="Rectangle 13"/>
            <p:cNvSpPr/>
            <p:nvPr/>
          </p:nvSpPr>
          <p:spPr>
            <a:xfrm>
              <a:off x="609600" y="2724150"/>
              <a:ext cx="10972800" cy="1143000"/>
            </a:xfrm>
            <a:prstGeom prst="roundRect">
              <a:avLst>
                <a:gd name="adj" fmla="val 11667"/>
              </a:avLst>
            </a:prstGeom>
            <a:solidFill>
              <a:schemeClr val="accent5"/>
            </a:solidFill>
            <a:ln w="9525">
              <a:solidFill>
                <a:schemeClr val="accent4"/>
              </a:solidFill>
            </a:ln>
          </p:spPr>
        </p:sp>
        <p:sp>
          <p:nvSpPr>
            <p:cNvPr id="14" name="Rectangle 14"/>
            <p:cNvSpPr/>
            <p:nvPr/>
          </p:nvSpPr>
          <p:spPr>
            <a:xfrm>
              <a:off x="609600" y="2724150"/>
              <a:ext cx="57150" cy="1143000"/>
            </a:xfrm>
            <a:prstGeom prst="roundRect">
              <a:avLst>
                <a:gd name="adj" fmla="val 50000"/>
              </a:avLst>
            </a:prstGeom>
            <a:solidFill>
              <a:schemeClr val="accent1"/>
            </a:solidFill>
            <a:ln>
              <a:noFill/>
            </a:ln>
          </p:spPr>
        </p:sp>
        <p:sp>
          <p:nvSpPr>
            <p:cNvPr id="15" name="TextBox 15"/>
            <p:cNvSpPr txBox="1"/>
            <p:nvPr/>
          </p:nvSpPr>
          <p:spPr>
            <a:xfrm>
              <a:off x="906018" y="2907982"/>
              <a:ext cx="539903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Efficiency · four datasets, up to 60k points</a:t>
              </a:r>
            </a:p>
          </p:txBody>
        </p:sp>
        <p:sp>
          <p:nvSpPr>
            <p:cNvPr id="16" name="TextBox 16"/>
            <p:cNvSpPr txBox="1"/>
            <p:nvPr/>
          </p:nvSpPr>
          <p:spPr>
            <a:xfrm>
              <a:off x="907161" y="3294221"/>
              <a:ext cx="804668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Synth 1 (n = 7 000) · Protein (n ≈ 15 000) · RCV1 (n ≈ 20 000) · CIFAR-10 (n = 60 000)</a:t>
              </a:r>
            </a:p>
          </p:txBody>
        </p:sp>
        <p:sp>
          <p:nvSpPr>
            <p:cNvPr id="17" name="TextBox 17"/>
            <p:cNvSpPr txBox="1"/>
            <p:nvPr/>
          </p:nvSpPr>
          <p:spPr>
            <a:xfrm>
              <a:off x="908304" y="3566160"/>
              <a:ext cx="643648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Laplace kernel for the timing study; a Gaussian kernel for the robustness study.</a:t>
              </a:r>
            </a:p>
          </p:txBody>
        </p:sp>
      </p:grpSp>
      <p:grpSp>
        <p:nvGrpSpPr>
          <p:cNvPr id="24" name="Group 24"/>
          <p:cNvGrpSpPr/>
          <p:nvPr/>
        </p:nvGrpSpPr>
        <p:grpSpPr>
          <a:xfrm>
            <a:off x="609600" y="4019550"/>
            <a:ext cx="10972800" cy="1143000"/>
            <a:chOff x="609600" y="4019550"/>
            <a:chExt cx="10972800" cy="1143000"/>
          </a:xfrm>
        </p:grpSpPr>
        <p:sp>
          <p:nvSpPr>
            <p:cNvPr id="19" name="Rectangle 19"/>
            <p:cNvSpPr/>
            <p:nvPr/>
          </p:nvSpPr>
          <p:spPr>
            <a:xfrm>
              <a:off x="609600" y="4019550"/>
              <a:ext cx="10972800" cy="1143000"/>
            </a:xfrm>
            <a:prstGeom prst="roundRect">
              <a:avLst>
                <a:gd name="adj" fmla="val 11667"/>
              </a:avLst>
            </a:prstGeom>
            <a:solidFill>
              <a:schemeClr val="lt2"/>
            </a:solidFill>
            <a:ln w="9525">
              <a:solidFill>
                <a:schemeClr val="accent4"/>
              </a:solidFill>
            </a:ln>
          </p:spPr>
        </p:sp>
        <p:sp>
          <p:nvSpPr>
            <p:cNvPr id="20" name="Rectangle 20"/>
            <p:cNvSpPr/>
            <p:nvPr/>
          </p:nvSpPr>
          <p:spPr>
            <a:xfrm>
              <a:off x="609600" y="4019550"/>
              <a:ext cx="57150" cy="1143000"/>
            </a:xfrm>
            <a:prstGeom prst="roundRect">
              <a:avLst>
                <a:gd name="adj" fmla="val 50000"/>
              </a:avLst>
            </a:prstGeom>
            <a:solidFill>
              <a:schemeClr val="accent3"/>
            </a:solidFill>
            <a:ln>
              <a:noFill/>
            </a:ln>
          </p:spPr>
        </p:sp>
        <p:sp>
          <p:nvSpPr>
            <p:cNvPr id="21" name="TextBox 21"/>
            <p:cNvSpPr txBox="1"/>
            <p:nvPr/>
          </p:nvSpPr>
          <p:spPr>
            <a:xfrm>
              <a:off x="906018" y="4203382"/>
              <a:ext cx="3597051"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Robustness &amp; sparsity probes</a:t>
              </a:r>
            </a:p>
          </p:txBody>
        </p:sp>
        <p:sp>
          <p:nvSpPr>
            <p:cNvPr id="22" name="TextBox 22"/>
            <p:cNvSpPr txBox="1"/>
            <p:nvPr/>
          </p:nvSpPr>
          <p:spPr>
            <a:xfrm>
              <a:off x="907161" y="4551521"/>
              <a:ext cx="760279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Robustness: the Iris dataset contaminated with multiplicative Gaussian outliers.</a:t>
              </a:r>
            </a:p>
          </p:txBody>
        </p:sp>
        <p:sp>
          <p:nvSpPr>
            <p:cNvPr id="23" name="TextBox 23"/>
            <p:cNvSpPr txBox="1"/>
            <p:nvPr/>
          </p:nvSpPr>
          <p:spPr>
            <a:xfrm>
              <a:off x="907161" y="4799171"/>
              <a:ext cx="559311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Sparsity: reconstruction error under ε-insensitive losses.</a:t>
              </a:r>
            </a:p>
          </p:txBody>
        </p:sp>
      </p:grpSp>
      <p:grpSp>
        <p:nvGrpSpPr>
          <p:cNvPr id="30" name="Group 30"/>
          <p:cNvGrpSpPr/>
          <p:nvPr/>
        </p:nvGrpSpPr>
        <p:grpSpPr>
          <a:xfrm>
            <a:off x="609600" y="5314950"/>
            <a:ext cx="10972800" cy="1143000"/>
            <a:chOff x="609600" y="5314950"/>
            <a:chExt cx="10972800" cy="1143000"/>
          </a:xfrm>
        </p:grpSpPr>
        <p:sp>
          <p:nvSpPr>
            <p:cNvPr id="25" name="Rectangle 25"/>
            <p:cNvSpPr/>
            <p:nvPr/>
          </p:nvSpPr>
          <p:spPr>
            <a:xfrm>
              <a:off x="609600" y="5314950"/>
              <a:ext cx="10972800" cy="1143000"/>
            </a:xfrm>
            <a:prstGeom prst="roundRect">
              <a:avLst>
                <a:gd name="adj" fmla="val 11667"/>
              </a:avLst>
            </a:prstGeom>
            <a:solidFill>
              <a:schemeClr val="lt2"/>
            </a:solidFill>
            <a:ln w="9525">
              <a:solidFill>
                <a:schemeClr val="accent4"/>
              </a:solidFill>
            </a:ln>
          </p:spPr>
        </p:sp>
        <p:sp>
          <p:nvSpPr>
            <p:cNvPr id="26" name="Rectangle 26"/>
            <p:cNvSpPr/>
            <p:nvPr/>
          </p:nvSpPr>
          <p:spPr>
            <a:xfrm>
              <a:off x="609600" y="5314950"/>
              <a:ext cx="57150" cy="1143000"/>
            </a:xfrm>
            <a:prstGeom prst="roundRect">
              <a:avLst>
                <a:gd name="adj" fmla="val 50000"/>
              </a:avLst>
            </a:prstGeom>
            <a:solidFill>
              <a:srgbClr val="C2410C"/>
            </a:solidFill>
            <a:ln>
              <a:noFill/>
            </a:ln>
          </p:spPr>
        </p:sp>
        <p:sp>
          <p:nvSpPr>
            <p:cNvPr id="27" name="TextBox 27"/>
            <p:cNvSpPr txBox="1"/>
            <p:nvPr/>
          </p:nvSpPr>
          <p:spPr>
            <a:xfrm>
              <a:off x="906018" y="5498782"/>
              <a:ext cx="3411884"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A fair, shared stopping rule</a:t>
              </a:r>
            </a:p>
          </p:txBody>
        </p:sp>
        <p:sp>
          <p:nvSpPr>
            <p:cNvPr id="28" name="TextBox 28"/>
            <p:cNvSpPr txBox="1"/>
            <p:nvPr/>
          </p:nvSpPr>
          <p:spPr>
            <a:xfrm>
              <a:off x="907161" y="5846921"/>
              <a:ext cx="74966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All solvers stop on a shared relative dual-cost residual at δ = 10⁻² and δ = 10⁻⁴,</a:t>
              </a:r>
            </a:p>
          </p:txBody>
        </p:sp>
        <p:sp>
          <p:nvSpPr>
            <p:cNvPr id="29" name="TextBox 29"/>
            <p:cNvSpPr txBox="1"/>
            <p:nvPr/>
          </p:nvSpPr>
          <p:spPr>
            <a:xfrm>
              <a:off x="907161" y="6094571"/>
              <a:ext cx="419133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with timing results averaged over five runs.</a:t>
              </a:r>
            </a:p>
          </p:txBody>
        </p:sp>
      </p:grpSp>
      <p:sp>
        <p:nvSpPr>
          <p:cNvPr id="31" name="TextBox 31"/>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32" name="cue_s06_c1_experiments_span_synthetic_real_worl" title="cue_s06_c1_experiments_span_synthetic_real_worl" descr="cue_s06_c1_experiments_span_synthetic_real_worl The experiments span synthetic and real-world data."/>
          <p:cNvSpPr/>
          <p:nvPr/>
        </p:nvSpPr>
        <p:spPr>
          <a:xfrm>
            <a:off x="609600" y="1428521"/>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6_c2_efficiency_authors_time_kernel_pca" title="cue_s06_c2_efficiency_authors_time_kernel_pca" descr="cue_s06_c2_efficiency_authors_time_kernel_pca For efficiency, the authors time Kernel PCA on a synthetic 7,000-point problem, the Protein dataset with about 15,000 points, the RCV1 text collection with roughly 20,000 points, and CIFAR-10 with 60,000 images."/>
          <p:cNvSpPr/>
          <p:nvPr/>
        </p:nvSpPr>
        <p:spPr>
          <a:xfrm>
            <a:off x="609600" y="2723997"/>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3_robustness_tested_artificially_conta" title="cue_s06_c3_robustness_tested_artificially_conta" descr="cue_s06_c3_robustness_tested_artificially_conta Robustness is tested by artificially contaminating the Iris dataset with multiplicative Gaussian outliers, and sparsity is measured through reconstruction error under epsilon-insensitive losses."/>
          <p:cNvSpPr/>
          <p:nvPr/>
        </p:nvSpPr>
        <p:spPr>
          <a:xfrm>
            <a:off x="609600" y="4019473"/>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4_all_solvers_compared_fairly_shared" title="cue_s06_c4_all_solvers_compared_fairly_shared" descr="cue_s06_c4_all_solvers_compared_fairly_shared All solvers are compared fairly using a shared relative dual-cost residual as the stopping criterion at two tolerance levels, and the timing results are averaged over five runs."/>
          <p:cNvSpPr/>
          <p:nvPr/>
        </p:nvSpPr>
        <p:spPr>
          <a:xfrm>
            <a:off x="609600" y="5314950"/>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591056"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07 · KEY RESULT</a:t>
            </a:r>
          </a:p>
        </p:txBody>
      </p:sp>
      <p:sp>
        <p:nvSpPr>
          <p:cNvPr id="4" name="TextBox 4"/>
          <p:cNvSpPr txBox="1"/>
          <p:nvPr/>
        </p:nvSpPr>
        <p:spPr>
          <a:xfrm>
            <a:off x="825246" y="772478"/>
            <a:ext cx="504227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Faster than every baseline</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07 / 10</a:t>
            </a:r>
          </a:p>
        </p:txBody>
      </p:sp>
      <p:grpSp>
        <p:nvGrpSpPr>
          <p:cNvPr id="13" name="Group 13"/>
          <p:cNvGrpSpPr/>
          <p:nvPr/>
        </p:nvGrpSpPr>
        <p:grpSpPr>
          <a:xfrm>
            <a:off x="609600" y="1428750"/>
            <a:ext cx="5829300" cy="1524000"/>
            <a:chOff x="609600" y="1428750"/>
            <a:chExt cx="5829300" cy="1524000"/>
          </a:xfrm>
        </p:grpSpPr>
        <p:sp>
          <p:nvSpPr>
            <p:cNvPr id="7" name="Rectangle 7"/>
            <p:cNvSpPr/>
            <p:nvPr/>
          </p:nvSpPr>
          <p:spPr>
            <a:xfrm>
              <a:off x="609600" y="1428750"/>
              <a:ext cx="5829300" cy="1524000"/>
            </a:xfrm>
            <a:prstGeom prst="roundRect">
              <a:avLst>
                <a:gd name="adj" fmla="val 8750"/>
              </a:avLst>
            </a:prstGeom>
            <a:solidFill>
              <a:schemeClr val="accent5"/>
            </a:solidFill>
            <a:ln w="9525">
              <a:solidFill>
                <a:schemeClr val="accent4"/>
              </a:solidFill>
            </a:ln>
          </p:spPr>
        </p:sp>
        <p:sp>
          <p:nvSpPr>
            <p:cNvPr id="8" name="Rectangle 8"/>
            <p:cNvSpPr/>
            <p:nvPr/>
          </p:nvSpPr>
          <p:spPr>
            <a:xfrm>
              <a:off x="609600" y="1428750"/>
              <a:ext cx="57150" cy="1524000"/>
            </a:xfrm>
            <a:prstGeom prst="roundRect">
              <a:avLst>
                <a:gd name="adj" fmla="val 50000"/>
              </a:avLst>
            </a:prstGeom>
            <a:solidFill>
              <a:schemeClr val="accent1"/>
            </a:solidFill>
            <a:ln>
              <a:noFill/>
            </a:ln>
          </p:spPr>
        </p:sp>
        <p:sp>
          <p:nvSpPr>
            <p:cNvPr id="9" name="TextBox 9"/>
            <p:cNvSpPr txBox="1"/>
            <p:nvPr/>
          </p:nvSpPr>
          <p:spPr>
            <a:xfrm>
              <a:off x="906018" y="1631632"/>
              <a:ext cx="269743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Wins across the board</a:t>
              </a:r>
            </a:p>
          </p:txBody>
        </p:sp>
        <p:sp>
          <p:nvSpPr>
            <p:cNvPr id="10" name="TextBox 10"/>
            <p:cNvSpPr txBox="1"/>
            <p:nvPr/>
          </p:nvSpPr>
          <p:spPr>
            <a:xfrm>
              <a:off x="907161" y="1998821"/>
              <a:ext cx="417875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 the efficiency benchmarks, the proposed</a:t>
              </a:r>
            </a:p>
          </p:txBody>
        </p:sp>
        <p:sp>
          <p:nvSpPr>
            <p:cNvPr id="11" name="TextBox 11"/>
            <p:cNvSpPr txBox="1"/>
            <p:nvPr/>
          </p:nvSpPr>
          <p:spPr>
            <a:xfrm>
              <a:off x="907161" y="2246471"/>
              <a:ext cx="400973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solver is the fastest on every single task.</a:t>
              </a:r>
            </a:p>
          </p:txBody>
        </p:sp>
        <p:sp>
          <p:nvSpPr>
            <p:cNvPr id="12" name="TextBox 12"/>
            <p:cNvSpPr txBox="1"/>
            <p:nvPr/>
          </p:nvSpPr>
          <p:spPr>
            <a:xfrm>
              <a:off x="908304" y="2575560"/>
              <a:ext cx="388412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Full SVD, Lanczos and randomized SVD all trail it.</a:t>
              </a:r>
            </a:p>
          </p:txBody>
        </p:sp>
      </p:grpSp>
      <p:grpSp>
        <p:nvGrpSpPr>
          <p:cNvPr id="21" name="Group 21"/>
          <p:cNvGrpSpPr/>
          <p:nvPr/>
        </p:nvGrpSpPr>
        <p:grpSpPr>
          <a:xfrm>
            <a:off x="609600" y="3086100"/>
            <a:ext cx="5829300" cy="1553623"/>
            <a:chOff x="609600" y="3086100"/>
            <a:chExt cx="5829300" cy="1553623"/>
          </a:xfrm>
        </p:grpSpPr>
        <p:sp>
          <p:nvSpPr>
            <p:cNvPr id="14" name="Rectangle 14"/>
            <p:cNvSpPr/>
            <p:nvPr/>
          </p:nvSpPr>
          <p:spPr>
            <a:xfrm>
              <a:off x="609600" y="3086100"/>
              <a:ext cx="5829300" cy="1524000"/>
            </a:xfrm>
            <a:prstGeom prst="roundRect">
              <a:avLst>
                <a:gd name="adj" fmla="val 8750"/>
              </a:avLst>
            </a:prstGeom>
            <a:solidFill>
              <a:schemeClr val="lt2"/>
            </a:solidFill>
            <a:ln w="9525">
              <a:solidFill>
                <a:schemeClr val="accent4"/>
              </a:solidFill>
            </a:ln>
          </p:spPr>
        </p:sp>
        <p:sp>
          <p:nvSpPr>
            <p:cNvPr id="15" name="Rectangle 15"/>
            <p:cNvSpPr/>
            <p:nvPr/>
          </p:nvSpPr>
          <p:spPr>
            <a:xfrm>
              <a:off x="609600" y="3086100"/>
              <a:ext cx="57150" cy="1524000"/>
            </a:xfrm>
            <a:prstGeom prst="roundRect">
              <a:avLst>
                <a:gd name="adj" fmla="val 50000"/>
              </a:avLst>
            </a:prstGeom>
            <a:solidFill>
              <a:schemeClr val="accent2"/>
            </a:solidFill>
            <a:ln>
              <a:noFill/>
            </a:ln>
          </p:spPr>
        </p:sp>
        <p:sp>
          <p:nvSpPr>
            <p:cNvPr id="16" name="TextBox 16"/>
            <p:cNvSpPr txBox="1"/>
            <p:nvPr/>
          </p:nvSpPr>
          <p:spPr>
            <a:xfrm>
              <a:off x="906018" y="3269932"/>
              <a:ext cx="2961612"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 3× faster, up to 9.17×</a:t>
              </a:r>
            </a:p>
          </p:txBody>
        </p:sp>
        <p:sp>
          <p:nvSpPr>
            <p:cNvPr id="17" name="TextBox 17"/>
            <p:cNvSpPr txBox="1"/>
            <p:nvPr/>
          </p:nvSpPr>
          <p:spPr>
            <a:xfrm>
              <a:off x="907161" y="3618071"/>
              <a:ext cx="440569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At δ = 10⁻² it beats full SVD, Lanczos and RSVD</a:t>
              </a:r>
            </a:p>
          </p:txBody>
        </p:sp>
        <p:sp>
          <p:nvSpPr>
            <p:cNvPr id="18" name="TextBox 18"/>
            <p:cNvSpPr txBox="1"/>
            <p:nvPr/>
          </p:nvSpPr>
          <p:spPr>
            <a:xfrm>
              <a:off x="907161" y="3865721"/>
              <a:ext cx="429789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 every task — at least 3× faster than RSVD,</a:t>
              </a:r>
            </a:p>
          </p:txBody>
        </p:sp>
        <p:sp>
          <p:nvSpPr>
            <p:cNvPr id="19" name="TextBox 19"/>
            <p:cNvSpPr txBox="1"/>
            <p:nvPr/>
          </p:nvSpPr>
          <p:spPr>
            <a:xfrm>
              <a:off x="907161" y="4113371"/>
              <a:ext cx="401794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peaking at 9.17× on CIFAR-10 (n = 60 000),</a:t>
              </a:r>
            </a:p>
          </p:txBody>
        </p:sp>
        <p:sp>
          <p:nvSpPr>
            <p:cNvPr id="20" name="TextBox 20"/>
            <p:cNvSpPr txBox="1"/>
            <p:nvPr/>
          </p:nvSpPr>
          <p:spPr>
            <a:xfrm>
              <a:off x="907161" y="4361021"/>
              <a:ext cx="422120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where full SVD could not finish within 30 min.</a:t>
              </a:r>
            </a:p>
          </p:txBody>
        </p:sp>
      </p:grpSp>
      <p:grpSp>
        <p:nvGrpSpPr>
          <p:cNvPr id="28" name="Group 28"/>
          <p:cNvGrpSpPr/>
          <p:nvPr/>
        </p:nvGrpSpPr>
        <p:grpSpPr>
          <a:xfrm>
            <a:off x="609600" y="4743450"/>
            <a:ext cx="5829300" cy="1524000"/>
            <a:chOff x="609600" y="4743450"/>
            <a:chExt cx="5829300" cy="1524000"/>
          </a:xfrm>
        </p:grpSpPr>
        <p:sp>
          <p:nvSpPr>
            <p:cNvPr id="22" name="Rectangle 22"/>
            <p:cNvSpPr/>
            <p:nvPr/>
          </p:nvSpPr>
          <p:spPr>
            <a:xfrm>
              <a:off x="609600" y="4743450"/>
              <a:ext cx="5829300" cy="1524000"/>
            </a:xfrm>
            <a:prstGeom prst="roundRect">
              <a:avLst>
                <a:gd name="adj" fmla="val 8750"/>
              </a:avLst>
            </a:prstGeom>
            <a:solidFill>
              <a:schemeClr val="lt2"/>
            </a:solidFill>
            <a:ln w="9525">
              <a:solidFill>
                <a:schemeClr val="accent4"/>
              </a:solidFill>
            </a:ln>
          </p:spPr>
        </p:sp>
        <p:sp>
          <p:nvSpPr>
            <p:cNvPr id="23" name="Rectangle 23"/>
            <p:cNvSpPr/>
            <p:nvPr/>
          </p:nvSpPr>
          <p:spPr>
            <a:xfrm>
              <a:off x="609600" y="4743450"/>
              <a:ext cx="57150" cy="1524000"/>
            </a:xfrm>
            <a:prstGeom prst="roundRect">
              <a:avLst>
                <a:gd name="adj" fmla="val 50000"/>
              </a:avLst>
            </a:prstGeom>
            <a:solidFill>
              <a:schemeClr val="accent3"/>
            </a:solidFill>
            <a:ln>
              <a:noFill/>
            </a:ln>
          </p:spPr>
        </p:sp>
        <p:sp>
          <p:nvSpPr>
            <p:cNvPr id="24" name="TextBox 24"/>
            <p:cNvSpPr txBox="1"/>
            <p:nvPr/>
          </p:nvSpPr>
          <p:spPr>
            <a:xfrm>
              <a:off x="906018" y="4946332"/>
              <a:ext cx="3657920"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Robust to slow spectral decay</a:t>
              </a:r>
            </a:p>
          </p:txBody>
        </p:sp>
        <p:sp>
          <p:nvSpPr>
            <p:cNvPr id="25" name="TextBox 25"/>
            <p:cNvSpPr txBox="1"/>
            <p:nvPr/>
          </p:nvSpPr>
          <p:spPr>
            <a:xfrm>
              <a:off x="907161" y="5313521"/>
              <a:ext cx="448178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As the Gram eigenspectrum decays more slowly,</a:t>
              </a:r>
            </a:p>
          </p:txBody>
        </p:sp>
        <p:sp>
          <p:nvSpPr>
            <p:cNvPr id="26" name="TextBox 26"/>
            <p:cNvSpPr txBox="1"/>
            <p:nvPr/>
          </p:nvSpPr>
          <p:spPr>
            <a:xfrm>
              <a:off x="907161" y="5561171"/>
              <a:ext cx="434263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RSVD needs many more oversamples — while the</a:t>
              </a:r>
            </a:p>
          </p:txBody>
        </p:sp>
        <p:sp>
          <p:nvSpPr>
            <p:cNvPr id="27" name="TextBox 27"/>
            <p:cNvSpPr txBox="1"/>
            <p:nvPr/>
          </p:nvSpPr>
          <p:spPr>
            <a:xfrm>
              <a:off x="907161" y="5808821"/>
              <a:ext cx="383768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solver's iteration count barely changes.</a:t>
              </a:r>
            </a:p>
          </p:txBody>
        </p:sp>
      </p:grpSp>
      <p:sp>
        <p:nvSpPr>
          <p:cNvPr id="29" name="Rectangle 29"/>
          <p:cNvSpPr/>
          <p:nvPr/>
        </p:nvSpPr>
        <p:spPr>
          <a:xfrm>
            <a:off x="6667500" y="1428750"/>
            <a:ext cx="4914900" cy="4838700"/>
          </a:xfrm>
          <a:prstGeom prst="roundRect">
            <a:avLst>
              <a:gd name="adj" fmla="val 2756"/>
            </a:avLst>
          </a:prstGeom>
          <a:solidFill>
            <a:schemeClr val="lt1"/>
          </a:solidFill>
          <a:ln w="9525">
            <a:solidFill>
              <a:schemeClr val="accent4"/>
            </a:solidFill>
          </a:ln>
        </p:spPr>
        <p:txBody>
          <a:bodyPr/>
          <a:p/>
        </p:txBody>
      </p:sp>
      <p:sp>
        <p:nvSpPr>
          <p:cNvPr id="30" name="TextBox 30"/>
          <p:cNvSpPr txBox="1"/>
          <p:nvPr/>
        </p:nvSpPr>
        <p:spPr>
          <a:xfrm>
            <a:off x="6891147" y="1704499"/>
            <a:ext cx="2908615" cy="190690"/>
          </a:xfrm>
          <a:prstGeom prst="rect">
            <a:avLst/>
          </a:prstGeom>
          <a:noFill/>
          <a:ln>
            <a:noFill/>
          </a:ln>
        </p:spPr>
        <p:txBody>
          <a:bodyPr wrap="none" lIns="0" tIns="0" rIns="0" bIns="0" anchor="t" anchorCtr="0">
            <a:spAutoFit/>
          </a:bodyPr>
          <a:lstStyle/>
          <a:p>
            <a:pPr algn="l"/>
            <a:r>
              <a:rPr lang="en-US" sz="980" spc="150" dirty="0">
                <a:solidFill>
                  <a:schemeClr val="accent2"/>
                </a:solidFill>
                <a:latin typeface="+mn-lt"/>
                <a:ea typeface="+mn-ea"/>
                <a:cs typeface="+mn-cs"/>
              </a:rPr>
              <a:t>FIGURE 1 · VARYING EIGENSPECTRUM</a:t>
            </a:r>
          </a:p>
        </p:txBody>
      </p:sp>
      <p:pic>
        <p:nvPicPr>
          <p:cNvPr id="31" name="Image 31"/>
          <p:cNvPicPr>
            <a:picLocks noChangeAspect="1"/>
          </p:cNvPicPr>
          <p:nvPr/>
        </p:nvPicPr>
        <p:blipFill>
          <a:blip r:embed="rId2"/>
          <a:stretch>
            <a:fillRect/>
          </a:stretch>
        </p:blipFill>
        <p:spPr>
          <a:xfrm>
            <a:off x="6953250" y="1962150"/>
            <a:ext cx="4343400" cy="3228975"/>
          </a:xfrm>
          <a:prstGeom prst="rect">
            <a:avLst/>
          </a:prstGeom>
        </p:spPr>
      </p:pic>
      <p:sp>
        <p:nvSpPr>
          <p:cNvPr id="32" name="TextBox 32"/>
          <p:cNvSpPr txBox="1"/>
          <p:nvPr/>
        </p:nvSpPr>
        <p:spPr>
          <a:xfrm>
            <a:off x="6890004" y="5452110"/>
            <a:ext cx="411892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Extra compute as the spectrum of G decays faster.</a:t>
            </a:r>
          </a:p>
        </p:txBody>
      </p:sp>
      <p:sp>
        <p:nvSpPr>
          <p:cNvPr id="33" name="TextBox 33"/>
          <p:cNvSpPr txBox="1"/>
          <p:nvPr/>
        </p:nvSpPr>
        <p:spPr>
          <a:xfrm>
            <a:off x="6890004" y="5699760"/>
            <a:ext cx="374029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Blue: our L-BFGS solver. Red: randomized SVD.</a:t>
            </a:r>
          </a:p>
        </p:txBody>
      </p:sp>
      <p:sp>
        <p:nvSpPr>
          <p:cNvPr id="34" name="TextBox 34"/>
          <p:cNvSpPr txBox="1"/>
          <p:nvPr/>
        </p:nvSpPr>
        <p:spPr>
          <a:xfrm>
            <a:off x="6890766" y="5982652"/>
            <a:ext cx="2369286" cy="205359"/>
          </a:xfrm>
          <a:prstGeom prst="rect">
            <a:avLst/>
          </a:prstGeom>
          <a:noFill/>
          <a:ln>
            <a:noFill/>
          </a:ln>
        </p:spPr>
        <p:txBody>
          <a:bodyPr wrap="none" lIns="0" tIns="0" rIns="0" bIns="0" anchor="t" anchorCtr="0">
            <a:spAutoFit/>
          </a:bodyPr>
          <a:lstStyle/>
          <a:p>
            <a:pPr algn="l"/>
            <a:r>
              <a:rPr lang="en-US" sz="1050" dirty="0">
                <a:solidFill>
                  <a:srgbClr val="8A93A6"/>
                </a:solidFill>
                <a:latin typeface="+mn-lt"/>
                <a:ea typeface="+mn-ea"/>
                <a:cs typeface="+mn-cs"/>
              </a:rPr>
              <a:t>Larger c ⟶ faster spectral decay.</a:t>
            </a:r>
          </a:p>
        </p:txBody>
      </p:sp>
      <p:sp>
        <p:nvSpPr>
          <p:cNvPr id="35" name="TextBox 35"/>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36" name="cue_s07_c1_efficiency_benchmarks_proposed_solve" title="cue_s07_c1_efficiency_benchmarks_proposed_solve" descr="cue_s07_c1_efficiency_benchmarks_proposed_solve On the efficiency benchmarks, the proposed solver wins across the board."/>
          <p:cNvSpPr/>
          <p:nvPr/>
        </p:nvSpPr>
        <p:spPr>
          <a:xfrm>
            <a:off x="609600" y="1428521"/>
            <a:ext cx="5828995"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7_c2_looser_tolerance_ten_to_the_minus_tw" title="cue_s07_c2_looser_tolerance_ten_to_the_minus_tw" descr="cue_s07_c2_looser_tolerance_ten_to_the_minus_tw At the looser tolerance of ten-to-the-minus-two, it is faster than full SVD, Lanczos, and randomized SVD on every task, and it is at least three times faster than randomized SVD, peaking at a nine-point-one-seven times speedup on CIFAR-10 with its sixty thousa"/>
          <p:cNvSpPr/>
          <p:nvPr/>
        </p:nvSpPr>
        <p:spPr>
          <a:xfrm>
            <a:off x="609600" y="3086100"/>
            <a:ext cx="5828995" cy="155333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7_c3_just_importantly_method_robust_prope" title="cue_s07_c3_just_importantly_method_robust_prope" descr="cue_s07_c3_just_importantly_method_robust_prope Just as importantly, the method is robust to a property that hurts randomized SVD badly: as the eigenspectrum of the Gram matrix decays more slowly, randomized SVD needs many more oversamples, while the proposed solver's iteration count barely changes."/>
          <p:cNvSpPr/>
          <p:nvPr/>
        </p:nvSpPr>
        <p:spPr>
          <a:xfrm>
            <a:off x="609600" y="4743678"/>
            <a:ext cx="5828995"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2043379"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08 · ABLATION STUDY</a:t>
            </a:r>
          </a:p>
        </p:txBody>
      </p:sp>
      <p:sp>
        <p:nvSpPr>
          <p:cNvPr id="4" name="TextBox 4"/>
          <p:cNvSpPr txBox="1"/>
          <p:nvPr/>
        </p:nvSpPr>
        <p:spPr>
          <a:xfrm>
            <a:off x="825246" y="772478"/>
            <a:ext cx="470042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What drives the behavior</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08 / 10</a:t>
            </a:r>
          </a:p>
        </p:txBody>
      </p:sp>
      <p:grpSp>
        <p:nvGrpSpPr>
          <p:cNvPr id="12" name="Group 12"/>
          <p:cNvGrpSpPr/>
          <p:nvPr/>
        </p:nvGrpSpPr>
        <p:grpSpPr>
          <a:xfrm>
            <a:off x="609600" y="1428750"/>
            <a:ext cx="6057900" cy="1143000"/>
            <a:chOff x="609600" y="1428750"/>
            <a:chExt cx="6057900" cy="1143000"/>
          </a:xfrm>
        </p:grpSpPr>
        <p:sp>
          <p:nvSpPr>
            <p:cNvPr id="7" name="Rectangle 7"/>
            <p:cNvSpPr/>
            <p:nvPr/>
          </p:nvSpPr>
          <p:spPr>
            <a:xfrm>
              <a:off x="609600" y="1428750"/>
              <a:ext cx="6057900" cy="1143000"/>
            </a:xfrm>
            <a:prstGeom prst="roundRect">
              <a:avLst>
                <a:gd name="adj" fmla="val 11667"/>
              </a:avLst>
            </a:prstGeom>
            <a:solidFill>
              <a:schemeClr val="accent5"/>
            </a:solidFill>
            <a:ln w="9525">
              <a:solidFill>
                <a:schemeClr val="accent4"/>
              </a:solidFill>
            </a:ln>
          </p:spPr>
        </p:sp>
        <p:sp>
          <p:nvSpPr>
            <p:cNvPr id="8" name="Rectangle 8"/>
            <p:cNvSpPr/>
            <p:nvPr/>
          </p:nvSpPr>
          <p:spPr>
            <a:xfrm>
              <a:off x="609600" y="1428750"/>
              <a:ext cx="57150" cy="1143000"/>
            </a:xfrm>
            <a:prstGeom prst="roundRect">
              <a:avLst>
                <a:gd name="adj" fmla="val 50000"/>
              </a:avLst>
            </a:prstGeom>
            <a:solidFill>
              <a:schemeClr val="accent1"/>
            </a:solidFill>
            <a:ln>
              <a:noFill/>
            </a:ln>
          </p:spPr>
        </p:sp>
        <p:sp>
          <p:nvSpPr>
            <p:cNvPr id="9" name="TextBox 9"/>
            <p:cNvSpPr txBox="1"/>
            <p:nvPr/>
          </p:nvSpPr>
          <p:spPr>
            <a:xfrm>
              <a:off x="906018" y="1612582"/>
              <a:ext cx="299029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Three controlled studies</a:t>
              </a:r>
            </a:p>
          </p:txBody>
        </p:sp>
        <p:sp>
          <p:nvSpPr>
            <p:cNvPr id="10" name="TextBox 10"/>
            <p:cNvSpPr txBox="1"/>
            <p:nvPr/>
          </p:nvSpPr>
          <p:spPr>
            <a:xfrm>
              <a:off x="907161" y="1960721"/>
              <a:ext cx="457965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Several controlled studies dissect exactly where</a:t>
              </a:r>
            </a:p>
          </p:txBody>
        </p:sp>
        <p:sp>
          <p:nvSpPr>
            <p:cNvPr id="11" name="TextBox 11"/>
            <p:cNvSpPr txBox="1"/>
            <p:nvPr/>
          </p:nvSpPr>
          <p:spPr>
            <a:xfrm>
              <a:off x="907161" y="2208371"/>
              <a:ext cx="335978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method's behavior comes from.</a:t>
              </a:r>
            </a:p>
          </p:txBody>
        </p:sp>
      </p:grpSp>
      <p:grpSp>
        <p:nvGrpSpPr>
          <p:cNvPr id="18" name="Group 18"/>
          <p:cNvGrpSpPr/>
          <p:nvPr/>
        </p:nvGrpSpPr>
        <p:grpSpPr>
          <a:xfrm>
            <a:off x="609600" y="2724150"/>
            <a:ext cx="6057900" cy="1143000"/>
            <a:chOff x="609600" y="2724150"/>
            <a:chExt cx="6057900" cy="1143000"/>
          </a:xfrm>
        </p:grpSpPr>
        <p:sp>
          <p:nvSpPr>
            <p:cNvPr id="13" name="Rectangle 13"/>
            <p:cNvSpPr/>
            <p:nvPr/>
          </p:nvSpPr>
          <p:spPr>
            <a:xfrm>
              <a:off x="609600" y="2724150"/>
              <a:ext cx="6057900" cy="1143000"/>
            </a:xfrm>
            <a:prstGeom prst="roundRect">
              <a:avLst>
                <a:gd name="adj" fmla="val 11667"/>
              </a:avLst>
            </a:prstGeom>
            <a:solidFill>
              <a:schemeClr val="lt2"/>
            </a:solidFill>
            <a:ln w="9525">
              <a:solidFill>
                <a:schemeClr val="accent4"/>
              </a:solidFill>
            </a:ln>
          </p:spPr>
        </p:sp>
        <p:sp>
          <p:nvSpPr>
            <p:cNvPr id="14" name="Rectangle 14"/>
            <p:cNvSpPr/>
            <p:nvPr/>
          </p:nvSpPr>
          <p:spPr>
            <a:xfrm>
              <a:off x="609600" y="2724150"/>
              <a:ext cx="57150" cy="1143000"/>
            </a:xfrm>
            <a:prstGeom prst="roundRect">
              <a:avLst>
                <a:gd name="adj" fmla="val 50000"/>
              </a:avLst>
            </a:prstGeom>
            <a:solidFill>
              <a:schemeClr val="accent2"/>
            </a:solidFill>
            <a:ln>
              <a:noFill/>
            </a:ln>
          </p:spPr>
        </p:sp>
        <p:sp>
          <p:nvSpPr>
            <p:cNvPr id="15" name="TextBox 15"/>
            <p:cNvSpPr txBox="1"/>
            <p:nvPr/>
          </p:nvSpPr>
          <p:spPr>
            <a:xfrm>
              <a:off x="906018" y="2907982"/>
              <a:ext cx="252734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Huber κ ⟶ lower MSE</a:t>
              </a:r>
            </a:p>
          </p:txBody>
        </p:sp>
        <p:sp>
          <p:nvSpPr>
            <p:cNvPr id="16" name="TextBox 16"/>
            <p:cNvSpPr txBox="1"/>
            <p:nvPr/>
          </p:nvSpPr>
          <p:spPr>
            <a:xfrm>
              <a:off x="907161" y="3256121"/>
              <a:ext cx="448332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Sweeping the Huber κ, both variants cut MSE on</a:t>
              </a:r>
            </a:p>
          </p:txBody>
        </p:sp>
        <p:sp>
          <p:nvSpPr>
            <p:cNvPr id="17" name="TextBox 17"/>
            <p:cNvSpPr txBox="1"/>
            <p:nvPr/>
          </p:nvSpPr>
          <p:spPr>
            <a:xfrm>
              <a:off x="907161" y="3503771"/>
              <a:ext cx="453209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contaminated Iris versus the plain squared loss.</a:t>
              </a:r>
            </a:p>
          </p:txBody>
        </p:sp>
      </p:grpSp>
      <p:grpSp>
        <p:nvGrpSpPr>
          <p:cNvPr id="24" name="Group 24"/>
          <p:cNvGrpSpPr/>
          <p:nvPr/>
        </p:nvGrpSpPr>
        <p:grpSpPr>
          <a:xfrm>
            <a:off x="609600" y="4019550"/>
            <a:ext cx="6057900" cy="1143000"/>
            <a:chOff x="609600" y="4019550"/>
            <a:chExt cx="6057900" cy="1143000"/>
          </a:xfrm>
        </p:grpSpPr>
        <p:sp>
          <p:nvSpPr>
            <p:cNvPr id="19" name="Rectangle 19"/>
            <p:cNvSpPr/>
            <p:nvPr/>
          </p:nvSpPr>
          <p:spPr>
            <a:xfrm>
              <a:off x="609600" y="4019550"/>
              <a:ext cx="6057900" cy="1143000"/>
            </a:xfrm>
            <a:prstGeom prst="roundRect">
              <a:avLst>
                <a:gd name="adj" fmla="val 11667"/>
              </a:avLst>
            </a:prstGeom>
            <a:solidFill>
              <a:schemeClr val="lt2"/>
            </a:solidFill>
            <a:ln w="9525">
              <a:solidFill>
                <a:schemeClr val="accent4"/>
              </a:solidFill>
            </a:ln>
          </p:spPr>
        </p:sp>
        <p:sp>
          <p:nvSpPr>
            <p:cNvPr id="20" name="Rectangle 20"/>
            <p:cNvSpPr/>
            <p:nvPr/>
          </p:nvSpPr>
          <p:spPr>
            <a:xfrm>
              <a:off x="609600" y="4019550"/>
              <a:ext cx="57150" cy="1143000"/>
            </a:xfrm>
            <a:prstGeom prst="roundRect">
              <a:avLst>
                <a:gd name="adj" fmla="val 50000"/>
              </a:avLst>
            </a:prstGeom>
            <a:solidFill>
              <a:schemeClr val="accent3"/>
            </a:solidFill>
            <a:ln>
              <a:noFill/>
            </a:ln>
          </p:spPr>
        </p:sp>
        <p:sp>
          <p:nvSpPr>
            <p:cNvPr id="21" name="TextBox 21"/>
            <p:cNvSpPr txBox="1"/>
            <p:nvPr/>
          </p:nvSpPr>
          <p:spPr>
            <a:xfrm>
              <a:off x="906018" y="4203382"/>
              <a:ext cx="277224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Speed holds as s grows</a:t>
              </a:r>
            </a:p>
          </p:txBody>
        </p:sp>
        <p:sp>
          <p:nvSpPr>
            <p:cNvPr id="22" name="TextBox 22"/>
            <p:cNvSpPr txBox="1"/>
            <p:nvPr/>
          </p:nvSpPr>
          <p:spPr>
            <a:xfrm>
              <a:off x="907161" y="4551521"/>
              <a:ext cx="436675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L-BFGS keeps its edge over RSVD across a wide</a:t>
              </a:r>
            </a:p>
          </p:txBody>
        </p:sp>
        <p:sp>
          <p:nvSpPr>
            <p:cNvPr id="23" name="TextBox 23"/>
            <p:cNvSpPr txBox="1"/>
            <p:nvPr/>
          </p:nvSpPr>
          <p:spPr>
            <a:xfrm>
              <a:off x="907161" y="4799171"/>
              <a:ext cx="44685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range of components s; only very large s bites.</a:t>
              </a:r>
            </a:p>
          </p:txBody>
        </p:sp>
      </p:grpSp>
      <p:grpSp>
        <p:nvGrpSpPr>
          <p:cNvPr id="30" name="Group 30"/>
          <p:cNvGrpSpPr/>
          <p:nvPr/>
        </p:nvGrpSpPr>
        <p:grpSpPr>
          <a:xfrm>
            <a:off x="609600" y="5314950"/>
            <a:ext cx="6057900" cy="1143000"/>
            <a:chOff x="609600" y="5314950"/>
            <a:chExt cx="6057900" cy="1143000"/>
          </a:xfrm>
        </p:grpSpPr>
        <p:sp>
          <p:nvSpPr>
            <p:cNvPr id="25" name="Rectangle 25"/>
            <p:cNvSpPr/>
            <p:nvPr/>
          </p:nvSpPr>
          <p:spPr>
            <a:xfrm>
              <a:off x="609600" y="5314950"/>
              <a:ext cx="6057900" cy="1143000"/>
            </a:xfrm>
            <a:prstGeom prst="roundRect">
              <a:avLst>
                <a:gd name="adj" fmla="val 11667"/>
              </a:avLst>
            </a:prstGeom>
            <a:solidFill>
              <a:schemeClr val="lt2"/>
            </a:solidFill>
            <a:ln w="9525">
              <a:solidFill>
                <a:schemeClr val="accent4"/>
              </a:solidFill>
            </a:ln>
          </p:spPr>
        </p:sp>
        <p:sp>
          <p:nvSpPr>
            <p:cNvPr id="26" name="Rectangle 26"/>
            <p:cNvSpPr/>
            <p:nvPr/>
          </p:nvSpPr>
          <p:spPr>
            <a:xfrm>
              <a:off x="609600" y="5314950"/>
              <a:ext cx="57150" cy="1143000"/>
            </a:xfrm>
            <a:prstGeom prst="roundRect">
              <a:avLst>
                <a:gd name="adj" fmla="val 50000"/>
              </a:avLst>
            </a:prstGeom>
            <a:solidFill>
              <a:srgbClr val="C2410C"/>
            </a:solidFill>
            <a:ln>
              <a:noFill/>
            </a:ln>
          </p:spPr>
        </p:sp>
        <p:sp>
          <p:nvSpPr>
            <p:cNvPr id="27" name="TextBox 27"/>
            <p:cNvSpPr txBox="1"/>
            <p:nvPr/>
          </p:nvSpPr>
          <p:spPr>
            <a:xfrm>
              <a:off x="906018" y="5498782"/>
              <a:ext cx="1612083"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Why it scales</a:t>
              </a:r>
            </a:p>
          </p:txBody>
        </p:sp>
        <p:sp>
          <p:nvSpPr>
            <p:cNvPr id="28" name="TextBox 28"/>
            <p:cNvSpPr txBox="1"/>
            <p:nvPr/>
          </p:nvSpPr>
          <p:spPr>
            <a:xfrm>
              <a:off x="907161" y="5846921"/>
              <a:ext cx="467329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As the spectrum decays slowly, RSVD oversamples</a:t>
              </a:r>
            </a:p>
          </p:txBody>
        </p:sp>
        <p:sp>
          <p:nvSpPr>
            <p:cNvPr id="29" name="TextBox 29"/>
            <p:cNvSpPr txBox="1"/>
            <p:nvPr/>
          </p:nvSpPr>
          <p:spPr>
            <a:xfrm>
              <a:off x="907161" y="6094571"/>
              <a:ext cx="42582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climb while the solver's iterations stay flat.</a:t>
              </a:r>
            </a:p>
          </p:txBody>
        </p:sp>
      </p:grpSp>
      <p:sp>
        <p:nvSpPr>
          <p:cNvPr id="31" name="Rectangle 31"/>
          <p:cNvSpPr/>
          <p:nvPr/>
        </p:nvSpPr>
        <p:spPr>
          <a:xfrm>
            <a:off x="6896100" y="1428750"/>
            <a:ext cx="4686300" cy="4838700"/>
          </a:xfrm>
          <a:prstGeom prst="roundRect">
            <a:avLst>
              <a:gd name="adj" fmla="val 2846"/>
            </a:avLst>
          </a:prstGeom>
          <a:solidFill>
            <a:schemeClr val="lt1"/>
          </a:solidFill>
          <a:ln w="9525">
            <a:solidFill>
              <a:schemeClr val="accent4"/>
            </a:solidFill>
          </a:ln>
        </p:spPr>
        <p:txBody>
          <a:bodyPr/>
          <a:p/>
        </p:txBody>
      </p:sp>
      <p:sp>
        <p:nvSpPr>
          <p:cNvPr id="32" name="TextBox 32"/>
          <p:cNvSpPr txBox="1"/>
          <p:nvPr/>
        </p:nvSpPr>
        <p:spPr>
          <a:xfrm>
            <a:off x="7119747" y="1704499"/>
            <a:ext cx="1935124" cy="190690"/>
          </a:xfrm>
          <a:prstGeom prst="rect">
            <a:avLst/>
          </a:prstGeom>
          <a:noFill/>
          <a:ln>
            <a:noFill/>
          </a:ln>
        </p:spPr>
        <p:txBody>
          <a:bodyPr wrap="none" lIns="0" tIns="0" rIns="0" bIns="0" anchor="t" anchorCtr="0">
            <a:spAutoFit/>
          </a:bodyPr>
          <a:lstStyle/>
          <a:p>
            <a:pPr algn="l"/>
            <a:r>
              <a:rPr lang="en-US" sz="980" spc="150" dirty="0">
                <a:solidFill>
                  <a:schemeClr val="accent2"/>
                </a:solidFill>
                <a:latin typeface="+mn-lt"/>
                <a:ea typeface="+mn-ea"/>
                <a:cs typeface="+mn-cs"/>
              </a:rPr>
              <a:t>FIGURE 3 · ROBUSTNESS</a:t>
            </a:r>
          </a:p>
        </p:txBody>
      </p:sp>
      <p:pic>
        <p:nvPicPr>
          <p:cNvPr id="33" name="Image 33"/>
          <p:cNvPicPr>
            <a:picLocks noChangeAspect="1"/>
          </p:cNvPicPr>
          <p:nvPr/>
        </p:nvPicPr>
        <p:blipFill>
          <a:blip r:embed="rId2"/>
          <a:stretch>
            <a:fillRect/>
          </a:stretch>
        </p:blipFill>
        <p:spPr>
          <a:xfrm>
            <a:off x="7143750" y="1962150"/>
            <a:ext cx="4191000" cy="3057525"/>
          </a:xfrm>
          <a:prstGeom prst="rect">
            <a:avLst/>
          </a:prstGeom>
        </p:spPr>
      </p:pic>
      <p:sp>
        <p:nvSpPr>
          <p:cNvPr id="34" name="TextBox 34"/>
          <p:cNvSpPr txBox="1"/>
          <p:nvPr/>
        </p:nvSpPr>
        <p:spPr>
          <a:xfrm>
            <a:off x="7118604" y="5204460"/>
            <a:ext cx="37708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Reconstruction error vs the Huber parameter κ</a:t>
            </a:r>
          </a:p>
        </p:txBody>
      </p:sp>
      <p:sp>
        <p:nvSpPr>
          <p:cNvPr id="35" name="TextBox 35"/>
          <p:cNvSpPr txBox="1"/>
          <p:nvPr/>
        </p:nvSpPr>
        <p:spPr>
          <a:xfrm>
            <a:off x="7118604" y="5452110"/>
            <a:ext cx="384212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for the H²κ and H¹κ losses on contaminated Iris.</a:t>
            </a:r>
          </a:p>
        </p:txBody>
      </p:sp>
      <p:sp>
        <p:nvSpPr>
          <p:cNvPr id="36" name="TextBox 36"/>
          <p:cNvSpPr txBox="1"/>
          <p:nvPr/>
        </p:nvSpPr>
        <p:spPr>
          <a:xfrm>
            <a:off x="7119366" y="5735002"/>
            <a:ext cx="3271426" cy="205359"/>
          </a:xfrm>
          <a:prstGeom prst="rect">
            <a:avLst/>
          </a:prstGeom>
          <a:noFill/>
          <a:ln>
            <a:noFill/>
          </a:ln>
        </p:spPr>
        <p:txBody>
          <a:bodyPr wrap="none" lIns="0" tIns="0" rIns="0" bIns="0" anchor="t" anchorCtr="0">
            <a:spAutoFit/>
          </a:bodyPr>
          <a:lstStyle/>
          <a:p>
            <a:pPr algn="l"/>
            <a:r>
              <a:rPr lang="en-US" sz="1050" dirty="0">
                <a:solidFill>
                  <a:srgbClr val="8A93A6"/>
                </a:solidFill>
                <a:latin typeface="+mn-lt"/>
                <a:ea typeface="+mn-ea"/>
                <a:cs typeface="+mn-cs"/>
              </a:rPr>
              <a:t>Both Huber losses stay below the squared loss.</a:t>
            </a:r>
          </a:p>
        </p:txBody>
      </p:sp>
      <p:sp>
        <p:nvSpPr>
          <p:cNvPr id="37" name="TextBox 37"/>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38" name="cue_s08_c1_several_controlled_studies_dissect_b" title="cue_s08_c1_several_controlled_studies_dissect_b" descr="cue_s08_c1_several_controlled_studies_dissect_b Several controlled studies dissect the behavior."/>
          <p:cNvSpPr/>
          <p:nvPr/>
        </p:nvSpPr>
        <p:spPr>
          <a:xfrm>
            <a:off x="609600" y="1428521"/>
            <a:ext cx="6058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2_sweeping_huber_loss_parameter_kappa" title="cue_s08_c2_sweeping_huber_loss_parameter_kappa" descr="cue_s08_c2_sweeping_huber_loss_parameter_kappa Sweeping the Huber loss parameter kappa shows that both Huber variants consistently reduce mean squared error on the contaminated Iris data compared to the ordinary squared loss, confirming the robustness the framework is designed to induce."/>
          <p:cNvSpPr/>
          <p:nvPr/>
        </p:nvSpPr>
        <p:spPr>
          <a:xfrm>
            <a:off x="609600" y="2723997"/>
            <a:ext cx="6058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8_c3_varying_number_components_shows_l_bf" title="cue_s08_c3_varying_number_components_shows_l_bf" descr="cue_s08_c3_varying_number_components_shows_l_bf Varying the number of components shows that the L-BFGS solver keeps its speed advantage over randomized SVD across a wide range, and only at very large numbers of components does the per-iteration small SVD start to slow it down."/>
          <p:cNvSpPr/>
          <p:nvPr/>
        </p:nvSpPr>
        <p:spPr>
          <a:xfrm>
            <a:off x="609600" y="4019473"/>
            <a:ext cx="6058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4_eigenspectrum_study_pinpoints_scalin" title="cue_s08_c4_eigenspectrum_study_pinpoints_scalin" descr="cue_s08_c4_eigenspectrum_study_pinpoints_scalin And the eigenspectrum study pinpoints the scaling advantage: as the spectrum decays more slowly, randomized SVD's oversample count climbs sharply while the proposed solver's iteration count stays essentially flat."/>
          <p:cNvSpPr/>
          <p:nvPr/>
        </p:nvSpPr>
        <p:spPr>
          <a:xfrm>
            <a:off x="609600" y="5314950"/>
            <a:ext cx="6058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2273808"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09 · HEADLINE NUMBERS</a:t>
            </a:r>
          </a:p>
        </p:txBody>
      </p:sp>
      <p:sp>
        <p:nvSpPr>
          <p:cNvPr id="4" name="TextBox 4"/>
          <p:cNvSpPr txBox="1"/>
          <p:nvPr/>
        </p:nvSpPr>
        <p:spPr>
          <a:xfrm>
            <a:off x="825246" y="772478"/>
            <a:ext cx="476052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numbers that matter</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09 / 10</a:t>
            </a:r>
          </a:p>
        </p:txBody>
      </p:sp>
      <p:grpSp>
        <p:nvGrpSpPr>
          <p:cNvPr id="14" name="Group 14"/>
          <p:cNvGrpSpPr/>
          <p:nvPr/>
        </p:nvGrpSpPr>
        <p:grpSpPr>
          <a:xfrm>
            <a:off x="609600" y="1562100"/>
            <a:ext cx="5372100" cy="2190750"/>
            <a:chOff x="609600" y="1562100"/>
            <a:chExt cx="5372100" cy="2190750"/>
          </a:xfrm>
        </p:grpSpPr>
        <p:sp>
          <p:nvSpPr>
            <p:cNvPr id="7" name="Rectangle 7"/>
            <p:cNvSpPr/>
            <p:nvPr/>
          </p:nvSpPr>
          <p:spPr>
            <a:xfrm>
              <a:off x="609600" y="1562100"/>
              <a:ext cx="5372100" cy="2190750"/>
            </a:xfrm>
            <a:prstGeom prst="roundRect">
              <a:avLst>
                <a:gd name="adj" fmla="val 6087"/>
              </a:avLst>
            </a:prstGeom>
            <a:solidFill>
              <a:schemeClr val="lt2"/>
            </a:solidFill>
            <a:ln w="9525">
              <a:solidFill>
                <a:schemeClr val="accent4"/>
              </a:solidFill>
            </a:ln>
          </p:spPr>
        </p:sp>
        <p:sp>
          <p:nvSpPr>
            <p:cNvPr id="8" name="Rectangle 8"/>
            <p:cNvSpPr/>
            <p:nvPr/>
          </p:nvSpPr>
          <p:spPr>
            <a:xfrm>
              <a:off x="609600" y="1562100"/>
              <a:ext cx="57150" cy="2190750"/>
            </a:xfrm>
            <a:prstGeom prst="roundRect">
              <a:avLst>
                <a:gd name="adj" fmla="val 50000"/>
              </a:avLst>
            </a:prstGeom>
            <a:solidFill>
              <a:srgbClr val="C2410C"/>
            </a:solidFill>
            <a:ln>
              <a:noFill/>
            </a:ln>
          </p:spPr>
        </p:sp>
        <p:sp>
          <p:nvSpPr>
            <p:cNvPr id="9" name="TextBox 9"/>
            <p:cNvSpPr txBox="1"/>
            <p:nvPr/>
          </p:nvSpPr>
          <p:spPr>
            <a:xfrm>
              <a:off x="928497" y="1837849"/>
              <a:ext cx="1648084" cy="190690"/>
            </a:xfrm>
            <a:prstGeom prst="rect">
              <a:avLst/>
            </a:prstGeom>
            <a:noFill/>
            <a:ln>
              <a:noFill/>
            </a:ln>
          </p:spPr>
          <p:txBody>
            <a:bodyPr wrap="none" lIns="0" tIns="0" rIns="0" bIns="0" anchor="t" anchorCtr="0">
              <a:spAutoFit/>
            </a:bodyPr>
            <a:lstStyle/>
            <a:p>
              <a:pPr algn="l"/>
              <a:r>
                <a:rPr lang="en-US" sz="980" spc="150" dirty="0">
                  <a:solidFill>
                    <a:srgbClr val="C2410C"/>
                  </a:solidFill>
                  <a:latin typeface="+mn-lt"/>
                  <a:ea typeface="+mn-ea"/>
                  <a:cs typeface="+mn-cs"/>
                </a:rPr>
                <a:t>SPEEDUP · CIFAR-10</a:t>
              </a:r>
            </a:p>
          </p:txBody>
        </p:sp>
        <p:sp>
          <p:nvSpPr>
            <p:cNvPr id="10" name="TextBox 10"/>
            <p:cNvSpPr txBox="1"/>
            <p:nvPr/>
          </p:nvSpPr>
          <p:spPr>
            <a:xfrm>
              <a:off x="899160" y="2266950"/>
              <a:ext cx="1262634" cy="586740"/>
            </a:xfrm>
            <a:prstGeom prst="rect">
              <a:avLst/>
            </a:prstGeom>
            <a:noFill/>
            <a:ln>
              <a:noFill/>
            </a:ln>
          </p:spPr>
          <p:txBody>
            <a:bodyPr wrap="none" lIns="0" tIns="0" rIns="0" bIns="0" anchor="t" anchorCtr="0">
              <a:spAutoFit/>
            </a:bodyPr>
            <a:lstStyle/>
            <a:p>
              <a:pPr algn="l"/>
              <a:r>
                <a:rPr lang="en-US" sz="3000" b="1" dirty="0">
                  <a:solidFill>
                    <a:srgbClr val="C2410C"/>
                  </a:solidFill>
                  <a:latin typeface="+mj-lt"/>
                  <a:ea typeface="+mj-ea"/>
                  <a:cs typeface="+mj-cs"/>
                </a:rPr>
                <a:t>9.17×</a:t>
              </a:r>
            </a:p>
          </p:txBody>
        </p:sp>
        <p:sp>
          <p:nvSpPr>
            <p:cNvPr id="11" name="TextBox 11"/>
            <p:cNvSpPr txBox="1"/>
            <p:nvPr/>
          </p:nvSpPr>
          <p:spPr>
            <a:xfrm>
              <a:off x="906018" y="2831782"/>
              <a:ext cx="346756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j-lt"/>
                  <a:ea typeface="+mj-ea"/>
                  <a:cs typeface="+mj-cs"/>
                </a:rPr>
                <a:t>Faster than randomized SVD</a:t>
              </a:r>
            </a:p>
          </p:txBody>
        </p:sp>
        <p:sp>
          <p:nvSpPr>
            <p:cNvPr id="12" name="TextBox 12"/>
            <p:cNvSpPr txBox="1"/>
            <p:nvPr/>
          </p:nvSpPr>
          <p:spPr>
            <a:xfrm>
              <a:off x="908304" y="3185160"/>
              <a:ext cx="363646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And ≥ 3× faster than RSVD on every efficiency</a:t>
              </a:r>
            </a:p>
          </p:txBody>
        </p:sp>
        <p:sp>
          <p:nvSpPr>
            <p:cNvPr id="13" name="TextBox 13"/>
            <p:cNvSpPr txBox="1"/>
            <p:nvPr/>
          </p:nvSpPr>
          <p:spPr>
            <a:xfrm>
              <a:off x="908304" y="3413760"/>
              <a:ext cx="216880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task at tolerance δ = 10⁻².</a:t>
              </a:r>
            </a:p>
          </p:txBody>
        </p:sp>
      </p:grpSp>
      <p:grpSp>
        <p:nvGrpSpPr>
          <p:cNvPr id="22" name="Group 22"/>
          <p:cNvGrpSpPr/>
          <p:nvPr/>
        </p:nvGrpSpPr>
        <p:grpSpPr>
          <a:xfrm>
            <a:off x="6210300" y="1562100"/>
            <a:ext cx="5372100" cy="2190750"/>
            <a:chOff x="6210300" y="1562100"/>
            <a:chExt cx="5372100" cy="2190750"/>
          </a:xfrm>
        </p:grpSpPr>
        <p:sp>
          <p:nvSpPr>
            <p:cNvPr id="15" name="Rectangle 15"/>
            <p:cNvSpPr/>
            <p:nvPr/>
          </p:nvSpPr>
          <p:spPr>
            <a:xfrm>
              <a:off x="6210300" y="1562100"/>
              <a:ext cx="5372100" cy="2190750"/>
            </a:xfrm>
            <a:prstGeom prst="roundRect">
              <a:avLst>
                <a:gd name="adj" fmla="val 6087"/>
              </a:avLst>
            </a:prstGeom>
            <a:solidFill>
              <a:schemeClr val="lt2"/>
            </a:solidFill>
            <a:ln w="9525">
              <a:solidFill>
                <a:schemeClr val="accent4"/>
              </a:solidFill>
            </a:ln>
          </p:spPr>
        </p:sp>
        <p:sp>
          <p:nvSpPr>
            <p:cNvPr id="16" name="Rectangle 16"/>
            <p:cNvSpPr/>
            <p:nvPr/>
          </p:nvSpPr>
          <p:spPr>
            <a:xfrm>
              <a:off x="6210300" y="1562100"/>
              <a:ext cx="57150" cy="2190750"/>
            </a:xfrm>
            <a:prstGeom prst="roundRect">
              <a:avLst>
                <a:gd name="adj" fmla="val 50000"/>
              </a:avLst>
            </a:prstGeom>
            <a:solidFill>
              <a:schemeClr val="accent2"/>
            </a:solidFill>
            <a:ln>
              <a:noFill/>
            </a:ln>
          </p:spPr>
        </p:sp>
        <p:sp>
          <p:nvSpPr>
            <p:cNvPr id="17" name="TextBox 17"/>
            <p:cNvSpPr txBox="1"/>
            <p:nvPr/>
          </p:nvSpPr>
          <p:spPr>
            <a:xfrm>
              <a:off x="6529197" y="1837849"/>
              <a:ext cx="1703842" cy="190690"/>
            </a:xfrm>
            <a:prstGeom prst="rect">
              <a:avLst/>
            </a:prstGeom>
            <a:noFill/>
            <a:ln>
              <a:noFill/>
            </a:ln>
          </p:spPr>
          <p:txBody>
            <a:bodyPr wrap="none" lIns="0" tIns="0" rIns="0" bIns="0" anchor="t" anchorCtr="0">
              <a:spAutoFit/>
            </a:bodyPr>
            <a:lstStyle/>
            <a:p>
              <a:pPr algn="l"/>
              <a:r>
                <a:rPr lang="en-US" sz="980" spc="150" dirty="0">
                  <a:solidFill>
                    <a:schemeClr val="accent2"/>
                  </a:solidFill>
                  <a:latin typeface="+mn-lt"/>
                  <a:ea typeface="+mn-ea"/>
                  <a:cs typeface="+mn-cs"/>
                </a:rPr>
                <a:t>PER-ITERATION COST</a:t>
              </a:r>
            </a:p>
          </p:txBody>
        </p:sp>
        <p:sp>
          <p:nvSpPr>
            <p:cNvPr id="18" name="TextBox 18"/>
            <p:cNvSpPr txBox="1"/>
            <p:nvPr/>
          </p:nvSpPr>
          <p:spPr>
            <a:xfrm>
              <a:off x="6499860" y="2266950"/>
              <a:ext cx="1493863"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j-lt"/>
                  <a:ea typeface="+mj-ea"/>
                  <a:cs typeface="+mj-cs"/>
                </a:rPr>
                <a:t>O(s³)</a:t>
              </a:r>
            </a:p>
          </p:txBody>
        </p:sp>
        <p:sp>
          <p:nvSpPr>
            <p:cNvPr id="19" name="TextBox 19"/>
            <p:cNvSpPr txBox="1"/>
            <p:nvPr/>
          </p:nvSpPr>
          <p:spPr>
            <a:xfrm>
              <a:off x="6506718" y="2831782"/>
              <a:ext cx="349631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j-lt"/>
                  <a:ea typeface="+mj-ea"/>
                  <a:cs typeface="+mj-cs"/>
                </a:rPr>
                <a:t>Replaces the classical O(n³)</a:t>
              </a:r>
            </a:p>
          </p:txBody>
        </p:sp>
        <p:sp>
          <p:nvSpPr>
            <p:cNvPr id="20" name="TextBox 20"/>
            <p:cNvSpPr txBox="1"/>
            <p:nvPr/>
          </p:nvSpPr>
          <p:spPr>
            <a:xfrm>
              <a:off x="6509004" y="3185160"/>
              <a:ext cx="32968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Each iteration factorizes only a small s×s</a:t>
              </a:r>
            </a:p>
          </p:txBody>
        </p:sp>
        <p:sp>
          <p:nvSpPr>
            <p:cNvPr id="21" name="TextBox 21"/>
            <p:cNvSpPr txBox="1"/>
            <p:nvPr/>
          </p:nvSpPr>
          <p:spPr>
            <a:xfrm>
              <a:off x="6509004" y="3413760"/>
              <a:ext cx="293622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matrix, never the full n×n Gram SVD.</a:t>
              </a:r>
            </a:p>
          </p:txBody>
        </p:sp>
      </p:grpSp>
      <p:grpSp>
        <p:nvGrpSpPr>
          <p:cNvPr id="30" name="Group 30"/>
          <p:cNvGrpSpPr/>
          <p:nvPr/>
        </p:nvGrpSpPr>
        <p:grpSpPr>
          <a:xfrm>
            <a:off x="609600" y="4038600"/>
            <a:ext cx="5372100" cy="2190750"/>
            <a:chOff x="609600" y="4038600"/>
            <a:chExt cx="5372100" cy="2190750"/>
          </a:xfrm>
        </p:grpSpPr>
        <p:sp>
          <p:nvSpPr>
            <p:cNvPr id="23" name="Rectangle 23"/>
            <p:cNvSpPr/>
            <p:nvPr/>
          </p:nvSpPr>
          <p:spPr>
            <a:xfrm>
              <a:off x="609600" y="4038600"/>
              <a:ext cx="5372100" cy="2190750"/>
            </a:xfrm>
            <a:prstGeom prst="roundRect">
              <a:avLst>
                <a:gd name="adj" fmla="val 6087"/>
              </a:avLst>
            </a:prstGeom>
            <a:solidFill>
              <a:schemeClr val="lt2"/>
            </a:solidFill>
            <a:ln w="9525">
              <a:solidFill>
                <a:schemeClr val="accent4"/>
              </a:solidFill>
            </a:ln>
          </p:spPr>
        </p:sp>
        <p:sp>
          <p:nvSpPr>
            <p:cNvPr id="24" name="Rectangle 24"/>
            <p:cNvSpPr/>
            <p:nvPr/>
          </p:nvSpPr>
          <p:spPr>
            <a:xfrm>
              <a:off x="609600" y="4038600"/>
              <a:ext cx="57150" cy="2190750"/>
            </a:xfrm>
            <a:prstGeom prst="roundRect">
              <a:avLst>
                <a:gd name="adj" fmla="val 50000"/>
              </a:avLst>
            </a:prstGeom>
            <a:solidFill>
              <a:schemeClr val="accent3"/>
            </a:solidFill>
            <a:ln>
              <a:noFill/>
            </a:ln>
          </p:spPr>
        </p:sp>
        <p:sp>
          <p:nvSpPr>
            <p:cNvPr id="25" name="TextBox 25"/>
            <p:cNvSpPr txBox="1"/>
            <p:nvPr/>
          </p:nvSpPr>
          <p:spPr>
            <a:xfrm>
              <a:off x="928497" y="4314349"/>
              <a:ext cx="2803215" cy="190690"/>
            </a:xfrm>
            <a:prstGeom prst="rect">
              <a:avLst/>
            </a:prstGeom>
            <a:noFill/>
            <a:ln>
              <a:noFill/>
            </a:ln>
          </p:spPr>
          <p:txBody>
            <a:bodyPr wrap="none" lIns="0" tIns="0" rIns="0" bIns="0" anchor="t" anchorCtr="0">
              <a:spAutoFit/>
            </a:bodyPr>
            <a:lstStyle/>
            <a:p>
              <a:pPr algn="l"/>
              <a:r>
                <a:rPr lang="en-US" sz="980" spc="150" dirty="0">
                  <a:solidFill>
                    <a:schemeClr val="accent3"/>
                  </a:solidFill>
                  <a:latin typeface="+mn-lt"/>
                  <a:ea typeface="+mn-ea"/>
                  <a:cs typeface="+mn-cs"/>
                </a:rPr>
                <a:t>ROBUSTNESS · CONTAMINATED IRIS</a:t>
              </a:r>
            </a:p>
          </p:txBody>
        </p:sp>
        <p:sp>
          <p:nvSpPr>
            <p:cNvPr id="26" name="TextBox 26"/>
            <p:cNvSpPr txBox="1"/>
            <p:nvPr/>
          </p:nvSpPr>
          <p:spPr>
            <a:xfrm>
              <a:off x="899160" y="4743450"/>
              <a:ext cx="2763622" cy="586740"/>
            </a:xfrm>
            <a:prstGeom prst="rect">
              <a:avLst/>
            </a:prstGeom>
            <a:noFill/>
            <a:ln>
              <a:noFill/>
            </a:ln>
          </p:spPr>
          <p:txBody>
            <a:bodyPr wrap="none" lIns="0" tIns="0" rIns="0" bIns="0" anchor="t" anchorCtr="0">
              <a:spAutoFit/>
            </a:bodyPr>
            <a:lstStyle/>
            <a:p>
              <a:pPr algn="l"/>
              <a:r>
                <a:rPr lang="en-US" sz="3000" b="1" dirty="0">
                  <a:solidFill>
                    <a:schemeClr val="accent3"/>
                  </a:solidFill>
                  <a:latin typeface="+mj-lt"/>
                  <a:ea typeface="+mj-ea"/>
                  <a:cs typeface="+mj-cs"/>
                </a:rPr>
                <a:t>6.83 vs 7.59</a:t>
              </a:r>
            </a:p>
          </p:txBody>
        </p:sp>
        <p:sp>
          <p:nvSpPr>
            <p:cNvPr id="27" name="TextBox 27"/>
            <p:cNvSpPr txBox="1"/>
            <p:nvPr/>
          </p:nvSpPr>
          <p:spPr>
            <a:xfrm>
              <a:off x="906018" y="5308282"/>
              <a:ext cx="3274177"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j-lt"/>
                  <a:ea typeface="+mj-ea"/>
                  <a:cs typeface="+mj-cs"/>
                </a:rPr>
                <a:t>Huber MSE vs squared loss</a:t>
              </a:r>
            </a:p>
          </p:txBody>
        </p:sp>
        <p:sp>
          <p:nvSpPr>
            <p:cNvPr id="28" name="TextBox 28"/>
            <p:cNvSpPr txBox="1"/>
            <p:nvPr/>
          </p:nvSpPr>
          <p:spPr>
            <a:xfrm>
              <a:off x="908304" y="5661660"/>
              <a:ext cx="379767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H²κ against the plain squared loss at corruption</a:t>
              </a:r>
            </a:p>
          </p:txBody>
        </p:sp>
        <p:sp>
          <p:nvSpPr>
            <p:cNvPr id="29" name="TextBox 29"/>
            <p:cNvSpPr txBox="1"/>
            <p:nvPr/>
          </p:nvSpPr>
          <p:spPr>
            <a:xfrm>
              <a:off x="908304" y="5890260"/>
              <a:ext cx="235458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level τ = 10 — lower is better.</a:t>
              </a:r>
            </a:p>
          </p:txBody>
        </p:sp>
      </p:grpSp>
      <p:grpSp>
        <p:nvGrpSpPr>
          <p:cNvPr id="38" name="Group 38"/>
          <p:cNvGrpSpPr/>
          <p:nvPr/>
        </p:nvGrpSpPr>
        <p:grpSpPr>
          <a:xfrm>
            <a:off x="6210300" y="4038600"/>
            <a:ext cx="5372100" cy="2190750"/>
            <a:chOff x="6210300" y="4038600"/>
            <a:chExt cx="5372100" cy="2190750"/>
          </a:xfrm>
        </p:grpSpPr>
        <p:sp>
          <p:nvSpPr>
            <p:cNvPr id="31" name="Rectangle 31"/>
            <p:cNvSpPr/>
            <p:nvPr/>
          </p:nvSpPr>
          <p:spPr>
            <a:xfrm>
              <a:off x="6210300" y="4038600"/>
              <a:ext cx="5372100" cy="2190750"/>
            </a:xfrm>
            <a:prstGeom prst="roundRect">
              <a:avLst>
                <a:gd name="adj" fmla="val 6087"/>
              </a:avLst>
            </a:prstGeom>
            <a:solidFill>
              <a:schemeClr val="lt2"/>
            </a:solidFill>
            <a:ln w="9525">
              <a:solidFill>
                <a:schemeClr val="accent4"/>
              </a:solidFill>
            </a:ln>
          </p:spPr>
        </p:sp>
        <p:sp>
          <p:nvSpPr>
            <p:cNvPr id="32" name="Rectangle 32"/>
            <p:cNvSpPr/>
            <p:nvPr/>
          </p:nvSpPr>
          <p:spPr>
            <a:xfrm>
              <a:off x="6210300" y="4038600"/>
              <a:ext cx="57150" cy="2190750"/>
            </a:xfrm>
            <a:prstGeom prst="roundRect">
              <a:avLst>
                <a:gd name="adj" fmla="val 50000"/>
              </a:avLst>
            </a:prstGeom>
            <a:solidFill>
              <a:schemeClr val="accent1"/>
            </a:solidFill>
            <a:ln>
              <a:noFill/>
            </a:ln>
          </p:spPr>
        </p:sp>
        <p:sp>
          <p:nvSpPr>
            <p:cNvPr id="33" name="TextBox 33"/>
            <p:cNvSpPr txBox="1"/>
            <p:nvPr/>
          </p:nvSpPr>
          <p:spPr>
            <a:xfrm>
              <a:off x="6529197" y="4314349"/>
              <a:ext cx="1647657" cy="190690"/>
            </a:xfrm>
            <a:prstGeom prst="rect">
              <a:avLst/>
            </a:prstGeom>
            <a:noFill/>
            <a:ln>
              <a:noFill/>
            </a:ln>
          </p:spPr>
          <p:txBody>
            <a:bodyPr wrap="none" lIns="0" tIns="0" rIns="0" bIns="0" anchor="t" anchorCtr="0">
              <a:spAutoFit/>
            </a:bodyPr>
            <a:lstStyle/>
            <a:p>
              <a:pPr algn="l"/>
              <a:r>
                <a:rPr lang="en-US" sz="980" spc="150" dirty="0">
                  <a:solidFill>
                    <a:schemeClr val="accent1"/>
                  </a:solidFill>
                  <a:latin typeface="+mn-lt"/>
                  <a:ea typeface="+mn-ea"/>
                  <a:cs typeface="+mn-cs"/>
                </a:rPr>
                <a:t>LARGEST BENCHMARK</a:t>
              </a:r>
            </a:p>
          </p:txBody>
        </p:sp>
        <p:sp>
          <p:nvSpPr>
            <p:cNvPr id="34" name="TextBox 34"/>
            <p:cNvSpPr txBox="1"/>
            <p:nvPr/>
          </p:nvSpPr>
          <p:spPr>
            <a:xfrm>
              <a:off x="6499860" y="4743450"/>
              <a:ext cx="215874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n = 60 000</a:t>
              </a:r>
            </a:p>
          </p:txBody>
        </p:sp>
        <p:sp>
          <p:nvSpPr>
            <p:cNvPr id="35" name="TextBox 35"/>
            <p:cNvSpPr txBox="1"/>
            <p:nvPr/>
          </p:nvSpPr>
          <p:spPr>
            <a:xfrm>
              <a:off x="6506718" y="5308282"/>
              <a:ext cx="2875547"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j-lt"/>
                  <a:ea typeface="+mj-ea"/>
                  <a:cs typeface="+mj-cs"/>
                </a:rPr>
                <a:t>Where full SVD gives up</a:t>
              </a:r>
            </a:p>
          </p:txBody>
        </p:sp>
        <p:sp>
          <p:nvSpPr>
            <p:cNvPr id="36" name="TextBox 36"/>
            <p:cNvSpPr txBox="1"/>
            <p:nvPr/>
          </p:nvSpPr>
          <p:spPr>
            <a:xfrm>
              <a:off x="6509004" y="5661660"/>
              <a:ext cx="330735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Full SVD exceeded a 30-minute cap on both</a:t>
              </a:r>
            </a:p>
          </p:txBody>
        </p:sp>
        <p:sp>
          <p:nvSpPr>
            <p:cNvPr id="37" name="TextBox 37"/>
            <p:cNvSpPr txBox="1"/>
            <p:nvPr/>
          </p:nvSpPr>
          <p:spPr>
            <a:xfrm>
              <a:off x="6509004" y="5890260"/>
              <a:ext cx="316399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RCV1 and CIFAR-10; the solver finishes.</a:t>
              </a:r>
            </a:p>
          </p:txBody>
        </p:sp>
      </p:grpSp>
      <p:sp>
        <p:nvSpPr>
          <p:cNvPr id="39" name="TextBox 39"/>
          <p:cNvSpPr txBox="1"/>
          <p:nvPr/>
        </p:nvSpPr>
        <p:spPr>
          <a:xfrm>
            <a:off x="604647" y="6619399"/>
            <a:ext cx="342835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ICML 2023</a:t>
            </a:r>
          </a:p>
        </p:txBody>
      </p:sp>
      <p:sp>
        <p:nvSpPr>
          <p:cNvPr id="40" name="cue_s09_c1_few_numbers_capture_impact_cifar_10" title="cue_s09_c1_few_numbers_capture_impact_cifar_10" descr="cue_s09_c1_few_numbers_capture_impact_cifar_10 A few numbers capture the impact. On CIFAR-10 the method delivers a nine-point-one-seven times speedup over randomized SVD, and it is at least three times faster than randomized SVD on every efficiency task."/>
          <p:cNvSpPr/>
          <p:nvPr/>
        </p:nvSpPr>
        <p:spPr>
          <a:xfrm>
            <a:off x="609600" y="1562252"/>
            <a:ext cx="53717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2_key_complexity_change_iteration_cost" title="cue_s09_c2_key_complexity_change_iteration_cost" descr="cue_s09_c2_key_complexity_change_iteration_cost The key complexity change is that each iteration costs order s-cubed for a small s-by-s singular value decomposition, replacing the classical order n-cubed decomposition of the full Gram matrix."/>
          <p:cNvSpPr/>
          <p:nvPr/>
        </p:nvSpPr>
        <p:spPr>
          <a:xfrm>
            <a:off x="6210604" y="1562252"/>
            <a:ext cx="53717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3_robustness_side_huber_loss_cuts" title="cue_s09_c3_robustness_side_huber_loss_cuts" descr="cue_s09_c3_robustness_side_huber_loss_cuts On the robustness side, the Huber loss cuts the mean squared error on contaminated Iris from about seven-point-five-nine down to six-point-eight-three at the tested corruption level."/>
          <p:cNvSpPr/>
          <p:nvPr/>
        </p:nvSpPr>
        <p:spPr>
          <a:xfrm>
            <a:off x="609600" y="4038676"/>
            <a:ext cx="53717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4_these_results_scale_datasets_sixty" title="cue_s09_c4_these_results_scale_datasets_sixty" descr="cue_s09_c4_these_results_scale_datasets_sixty And these results scale to datasets with sixty thousand points, where full SVD could not finish within thirty minutes."/>
          <p:cNvSpPr/>
          <p:nvPr/>
        </p:nvSpPr>
        <p:spPr>
          <a:xfrm>
            <a:off x="6210604" y="4038676"/>
            <a:ext cx="53717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437437"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10 · TAKEAWAY</a:t>
            </a:r>
          </a:p>
        </p:txBody>
      </p:sp>
      <p:sp>
        <p:nvSpPr>
          <p:cNvPr id="4" name="TextBox 4"/>
          <p:cNvSpPr txBox="1"/>
          <p:nvPr/>
        </p:nvSpPr>
        <p:spPr>
          <a:xfrm>
            <a:off x="825246" y="848678"/>
            <a:ext cx="605267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One viewpoint, three directions</a:t>
            </a:r>
          </a:p>
        </p:txBody>
      </p:sp>
      <p:sp>
        <p:nvSpPr>
          <p:cNvPr id="5" name="Line 5"/>
          <p:cNvSpPr/>
          <p:nvPr/>
        </p:nvSpPr>
        <p:spPr>
          <a:xfrm>
            <a:off x="609600" y="13144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10 / 10</a:t>
            </a:r>
          </a:p>
        </p:txBody>
      </p:sp>
      <p:sp>
        <p:nvSpPr>
          <p:cNvPr id="7" name="TextBox 7"/>
          <p:cNvSpPr txBox="1"/>
          <p:nvPr/>
        </p:nvSpPr>
        <p:spPr>
          <a:xfrm>
            <a:off x="828294" y="1656398"/>
            <a:ext cx="8930809" cy="381381"/>
          </a:xfrm>
          <a:prstGeom prst="rect">
            <a:avLst/>
          </a:prstGeom>
          <a:noFill/>
          <a:ln>
            <a:noFill/>
          </a:ln>
        </p:spPr>
        <p:txBody>
          <a:bodyPr wrap="none" lIns="0" tIns="0" rIns="0" bIns="0" anchor="t" anchorCtr="0">
            <a:spAutoFit/>
          </a:bodyPr>
          <a:lstStyle/>
          <a:p>
            <a:pPr algn="l"/>
            <a:r>
              <a:rPr lang="en-US" sz="1950" dirty="0">
                <a:solidFill>
                  <a:schemeClr val="accent2"/>
                </a:solidFill>
                <a:latin typeface="+mj-lt"/>
                <a:ea typeface="+mj-ea"/>
                <a:cs typeface="+mj-cs"/>
              </a:rPr>
              <a:t>A single change of viewpoint pays off in three directions at once.</a:t>
            </a:r>
          </a:p>
        </p:txBody>
      </p:sp>
      <p:grpSp>
        <p:nvGrpSpPr>
          <p:cNvPr id="13" name="Group 13"/>
          <p:cNvGrpSpPr/>
          <p:nvPr/>
        </p:nvGrpSpPr>
        <p:grpSpPr>
          <a:xfrm>
            <a:off x="609600" y="2381250"/>
            <a:ext cx="10972800" cy="1096423"/>
            <a:chOff x="609600" y="2381250"/>
            <a:chExt cx="10972800" cy="1096423"/>
          </a:xfrm>
        </p:grpSpPr>
        <p:sp>
          <p:nvSpPr>
            <p:cNvPr id="8" name="Rectangle 8"/>
            <p:cNvSpPr/>
            <p:nvPr/>
          </p:nvSpPr>
          <p:spPr>
            <a:xfrm>
              <a:off x="609600" y="2381250"/>
              <a:ext cx="10972800" cy="1047750"/>
            </a:xfrm>
            <a:prstGeom prst="roundRect">
              <a:avLst>
                <a:gd name="adj" fmla="val 12727"/>
              </a:avLst>
            </a:prstGeom>
            <a:solidFill>
              <a:schemeClr val="accent5"/>
            </a:solidFill>
            <a:ln w="9525">
              <a:solidFill>
                <a:schemeClr val="accent4"/>
              </a:solidFill>
            </a:ln>
          </p:spPr>
        </p:sp>
        <p:sp>
          <p:nvSpPr>
            <p:cNvPr id="9" name="Rectangle 9"/>
            <p:cNvSpPr/>
            <p:nvPr/>
          </p:nvSpPr>
          <p:spPr>
            <a:xfrm>
              <a:off x="609600" y="2381250"/>
              <a:ext cx="57150" cy="1047750"/>
            </a:xfrm>
            <a:prstGeom prst="roundRect">
              <a:avLst>
                <a:gd name="adj" fmla="val 50000"/>
              </a:avLst>
            </a:prstGeom>
            <a:solidFill>
              <a:schemeClr val="accent1"/>
            </a:solidFill>
            <a:ln>
              <a:noFill/>
            </a:ln>
          </p:spPr>
        </p:sp>
        <p:sp>
          <p:nvSpPr>
            <p:cNvPr id="10" name="TextBox 10"/>
            <p:cNvSpPr txBox="1"/>
            <p:nvPr/>
          </p:nvSpPr>
          <p:spPr>
            <a:xfrm>
              <a:off x="906018" y="2584132"/>
              <a:ext cx="242479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The lasting message</a:t>
              </a:r>
            </a:p>
          </p:txBody>
        </p:sp>
        <p:sp>
          <p:nvSpPr>
            <p:cNvPr id="11" name="TextBox 11"/>
            <p:cNvSpPr txBox="1"/>
            <p:nvPr/>
          </p:nvSpPr>
          <p:spPr>
            <a:xfrm>
              <a:off x="907161" y="2951321"/>
              <a:ext cx="790622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Recast a classical method through the right optimization lens, and one move extends</a:t>
              </a:r>
            </a:p>
          </p:txBody>
        </p:sp>
        <p:sp>
          <p:nvSpPr>
            <p:cNvPr id="12" name="TextBox 12"/>
            <p:cNvSpPr txBox="1"/>
            <p:nvPr/>
          </p:nvSpPr>
          <p:spPr>
            <a:xfrm>
              <a:off x="907161" y="3198971"/>
              <a:ext cx="352227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it in three directions simultaneously.</a:t>
              </a:r>
            </a:p>
          </p:txBody>
        </p:sp>
      </p:grpSp>
      <p:grpSp>
        <p:nvGrpSpPr>
          <p:cNvPr id="20" name="Group 20"/>
          <p:cNvGrpSpPr/>
          <p:nvPr/>
        </p:nvGrpSpPr>
        <p:grpSpPr>
          <a:xfrm>
            <a:off x="609600" y="3581400"/>
            <a:ext cx="10972800" cy="1428750"/>
            <a:chOff x="609600" y="3581400"/>
            <a:chExt cx="10972800" cy="1428750"/>
          </a:xfrm>
        </p:grpSpPr>
        <p:sp>
          <p:nvSpPr>
            <p:cNvPr id="14" name="Rectangle 14"/>
            <p:cNvSpPr/>
            <p:nvPr/>
          </p:nvSpPr>
          <p:spPr>
            <a:xfrm>
              <a:off x="609600" y="3581400"/>
              <a:ext cx="10972800" cy="1428750"/>
            </a:xfrm>
            <a:prstGeom prst="roundRect">
              <a:avLst>
                <a:gd name="adj" fmla="val 9333"/>
              </a:avLst>
            </a:prstGeom>
            <a:solidFill>
              <a:schemeClr val="lt2"/>
            </a:solidFill>
            <a:ln w="9525">
              <a:solidFill>
                <a:schemeClr val="accent4"/>
              </a:solidFill>
            </a:ln>
          </p:spPr>
        </p:sp>
        <p:sp>
          <p:nvSpPr>
            <p:cNvPr id="15" name="Rectangle 15"/>
            <p:cNvSpPr/>
            <p:nvPr/>
          </p:nvSpPr>
          <p:spPr>
            <a:xfrm>
              <a:off x="609600" y="3581400"/>
              <a:ext cx="57150" cy="1428750"/>
            </a:xfrm>
            <a:prstGeom prst="roundRect">
              <a:avLst>
                <a:gd name="adj" fmla="val 50000"/>
              </a:avLst>
            </a:prstGeom>
            <a:solidFill>
              <a:schemeClr val="accent2"/>
            </a:solidFill>
            <a:ln>
              <a:noFill/>
            </a:ln>
          </p:spPr>
        </p:sp>
        <p:sp>
          <p:nvSpPr>
            <p:cNvPr id="16" name="TextBox 16"/>
            <p:cNvSpPr txBox="1"/>
            <p:nvPr/>
          </p:nvSpPr>
          <p:spPr>
            <a:xfrm>
              <a:off x="906018" y="3784282"/>
              <a:ext cx="4758372"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Faster, robust, and sparse — together</a:t>
              </a:r>
            </a:p>
          </p:txBody>
        </p:sp>
        <p:sp>
          <p:nvSpPr>
            <p:cNvPr id="17" name="TextBox 17"/>
            <p:cNvSpPr txBox="1"/>
            <p:nvPr/>
          </p:nvSpPr>
          <p:spPr>
            <a:xfrm>
              <a:off x="907161" y="4132421"/>
              <a:ext cx="806562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Writing KPCA as a difference of convex functions and moving to the dual gives a solver</a:t>
              </a:r>
            </a:p>
          </p:txBody>
        </p:sp>
        <p:sp>
          <p:nvSpPr>
            <p:cNvPr id="18" name="TextBox 18"/>
            <p:cNvSpPr txBox="1"/>
            <p:nvPr/>
          </p:nvSpPr>
          <p:spPr>
            <a:xfrm>
              <a:off x="907161" y="4380071"/>
              <a:ext cx="78130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that avoids the expensive SVD and runs up to 9× faster than RSVD — while a Moreau-</a:t>
              </a:r>
            </a:p>
          </p:txBody>
        </p:sp>
        <p:sp>
          <p:nvSpPr>
            <p:cNvPr id="19" name="TextBox 19"/>
            <p:cNvSpPr txBox="1"/>
            <p:nvPr/>
          </p:nvSpPr>
          <p:spPr>
            <a:xfrm>
              <a:off x="907161" y="4627721"/>
              <a:ext cx="662862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envelope objective supplies modular robustness or sparsity on demand.</a:t>
              </a:r>
            </a:p>
          </p:txBody>
        </p:sp>
      </p:grpSp>
      <p:grpSp>
        <p:nvGrpSpPr>
          <p:cNvPr id="26" name="Group 26"/>
          <p:cNvGrpSpPr/>
          <p:nvPr/>
        </p:nvGrpSpPr>
        <p:grpSpPr>
          <a:xfrm>
            <a:off x="609600" y="5162550"/>
            <a:ext cx="10972800" cy="1295400"/>
            <a:chOff x="609600" y="5162550"/>
            <a:chExt cx="10972800" cy="1295400"/>
          </a:xfrm>
        </p:grpSpPr>
        <p:sp>
          <p:nvSpPr>
            <p:cNvPr id="21" name="Rectangle 21"/>
            <p:cNvSpPr/>
            <p:nvPr/>
          </p:nvSpPr>
          <p:spPr>
            <a:xfrm>
              <a:off x="609600" y="5162550"/>
              <a:ext cx="10972800" cy="1295400"/>
            </a:xfrm>
            <a:prstGeom prst="roundRect">
              <a:avLst>
                <a:gd name="adj" fmla="val 10294"/>
              </a:avLst>
            </a:prstGeom>
            <a:solidFill>
              <a:schemeClr val="lt2"/>
            </a:solidFill>
            <a:ln w="9525">
              <a:solidFill>
                <a:schemeClr val="accent4"/>
              </a:solidFill>
            </a:ln>
          </p:spPr>
        </p:sp>
        <p:sp>
          <p:nvSpPr>
            <p:cNvPr id="22" name="Rectangle 22"/>
            <p:cNvSpPr/>
            <p:nvPr/>
          </p:nvSpPr>
          <p:spPr>
            <a:xfrm>
              <a:off x="609600" y="5162550"/>
              <a:ext cx="57150" cy="1295400"/>
            </a:xfrm>
            <a:prstGeom prst="roundRect">
              <a:avLst>
                <a:gd name="adj" fmla="val 50000"/>
              </a:avLst>
            </a:prstGeom>
            <a:solidFill>
              <a:schemeClr val="accent3"/>
            </a:solidFill>
            <a:ln>
              <a:noFill/>
            </a:ln>
          </p:spPr>
        </p:sp>
        <p:sp>
          <p:nvSpPr>
            <p:cNvPr id="23" name="TextBox 23"/>
            <p:cNvSpPr txBox="1"/>
            <p:nvPr/>
          </p:nvSpPr>
          <p:spPr>
            <a:xfrm>
              <a:off x="906018" y="5365432"/>
              <a:ext cx="5295077"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And it reaches where classical KPCA cannot</a:t>
              </a:r>
            </a:p>
          </p:txBody>
        </p:sp>
        <p:sp>
          <p:nvSpPr>
            <p:cNvPr id="24" name="TextBox 24"/>
            <p:cNvSpPr txBox="1"/>
            <p:nvPr/>
          </p:nvSpPr>
          <p:spPr>
            <a:xfrm>
              <a:off x="907161" y="5713571"/>
              <a:ext cx="779143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Because the dual variable is always finite-dimensional, the framework even handles</a:t>
              </a:r>
            </a:p>
          </p:txBody>
        </p:sp>
        <p:sp>
          <p:nvSpPr>
            <p:cNvPr id="25" name="TextBox 25"/>
            <p:cNvSpPr txBox="1"/>
            <p:nvPr/>
          </p:nvSpPr>
          <p:spPr>
            <a:xfrm>
              <a:off x="907161" y="5961221"/>
              <a:ext cx="697814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infinite-dimensional feature maps that classical Kernel PCA simply cannot.</a:t>
              </a:r>
            </a:p>
          </p:txBody>
        </p:sp>
      </p:grpSp>
      <p:sp>
        <p:nvSpPr>
          <p:cNvPr id="27" name="TextBox 27"/>
          <p:cNvSpPr txBox="1"/>
          <p:nvPr/>
        </p:nvSpPr>
        <p:spPr>
          <a:xfrm>
            <a:off x="604647" y="6619399"/>
            <a:ext cx="5856680"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Extending Kernel PCA through Dualization — Tonin, Lambert, Patrinos, Suykens · ICML 2023</a:t>
            </a:r>
          </a:p>
        </p:txBody>
      </p:sp>
      <p:sp>
        <p:nvSpPr>
          <p:cNvPr id="28" name="cue_s10_c1_lasting_message_single_change_viewpo" title="cue_s10_c1_lasting_message_single_change_viewpo" descr="cue_s10_c1_lasting_message_single_change_viewpo The lasting message is that a single change of viewpoint pays off in three directions at once."/>
          <p:cNvSpPr/>
          <p:nvPr/>
        </p:nvSpPr>
        <p:spPr>
          <a:xfrm>
            <a:off x="609600" y="2381097"/>
            <a:ext cx="10972800" cy="10965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ue_s10_c2_writing_kernel_pca_difference_convex" title="cue_s10_c2_writing_kernel_pca_difference_convex" descr="cue_s10_c2_writing_kernel_pca_difference_convex By writing Kernel PCA as a difference of convex functions and moving to the dual, the authors get a solver that avoids the expensive singular value decomposition and runs up to nine times faster than randomized SVD, and in the same breath they gain a modular w"/>
          <p:cNvSpPr/>
          <p:nvPr/>
        </p:nvSpPr>
        <p:spPr>
          <a:xfrm>
            <a:off x="609600" y="3581247"/>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3_because_dual_variable_always_finite" title="cue_s10_c3_because_dual_variable_always_finite" descr="cue_s10_c3_because_dual_variable_always_finite Because the dual variable is always finite-dimensional, the framework even reaches infinite-dimensional feature maps that classical Kernel PCA simply cannot handle."/>
          <p:cNvSpPr/>
          <p:nvPr/>
        </p:nvSpPr>
        <p:spPr>
          <a:xfrm>
            <a:off x="609600" y="5162702"/>
            <a:ext cx="10972800" cy="12954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2v_094_kpca">
  <a:themeElements>
    <a:clrScheme name="p2v_094_kpca">
      <a:dk1>
        <a:srgbClr val="1A2233"/>
      </a:dk1>
      <a:lt1>
        <a:srgbClr val="FFFFFF"/>
      </a:lt1>
      <a:dk2>
        <a:srgbClr val="55617A"/>
      </a:dk2>
      <a:lt2>
        <a:srgbClr val="F3F6FB"/>
      </a:lt2>
      <a:accent1>
        <a:srgbClr val="0F2A4A"/>
      </a:accent1>
      <a:accent2>
        <a:srgbClr val="2563EB"/>
      </a:accent2>
      <a:accent3>
        <a:srgbClr val="0D9488"/>
      </a:accent3>
      <a:accent4>
        <a:srgbClr val="D8DEEA"/>
      </a:accent4>
      <a:accent5>
        <a:srgbClr val="EAF0FA"/>
      </a:accent5>
      <a:accent6>
        <a:srgbClr val="8AB4F8"/>
      </a:accent6>
      <a:hlink>
        <a:srgbClr val="2563EB"/>
      </a:hlink>
      <a:folHlink>
        <a:srgbClr val="0D9488"/>
      </a:folHlink>
    </a:clrScheme>
    <a:fontScheme name="p2v_094_kpca">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2v_094_kpc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2026-07-15T07:48:46Z</dcterms:created>
  <dcterms:modified xsi:type="dcterms:W3CDTF">2026-07-15T07:48:46Z</dcterms:modified>
  <cp:category/>
  <cp:contentStatus/>
</cp:coreProperties>
</file>
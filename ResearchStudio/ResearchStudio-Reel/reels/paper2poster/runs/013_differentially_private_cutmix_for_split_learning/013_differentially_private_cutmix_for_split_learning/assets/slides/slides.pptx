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d2dc7b71f12c550.png"/><Relationship Id="rId3" Type="http://schemas.openxmlformats.org/officeDocument/2006/relationships/image" Target="../media/image_40bab6b35e5dee71.png"/><Relationship Id="rId4" Type="http://schemas.openxmlformats.org/officeDocument/2006/relationships/image" Target="../media/image_02132011563596bf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6" name="Group 6"/>
          <p:cNvGrpSpPr/>
          <p:nvPr/>
        </p:nvGrpSpPr>
        <p:grpSpPr>
          <a:xfrm>
            <a:off x="595122" y="529114"/>
            <a:ext cx="9408299" cy="1244631"/>
            <a:chOff x="595122" y="529114"/>
            <a:chExt cx="9408299" cy="1244631"/>
          </a:xfrm>
        </p:grpSpPr>
        <p:sp>
          <p:nvSpPr>
            <p:cNvPr id="3" name="TextBox 3"/>
            <p:cNvSpPr txBox="1"/>
            <p:nvPr/>
          </p:nvSpPr>
          <p:spPr>
            <a:xfrm>
              <a:off x="603123" y="529114"/>
              <a:ext cx="5947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NEURIPS 2022 · SPLIT LEARNING · DIFFERENTIAL PRIVACY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122" y="797242"/>
              <a:ext cx="940829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Differentially Private CutMix for Split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5122" y="1216342"/>
              <a:ext cx="48082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with Vision Transformer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828800"/>
            <a:ext cx="5334000" cy="1333500"/>
            <a:chOff x="609600" y="1828800"/>
            <a:chExt cx="5334000" cy="133350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5334000" cy="1333500"/>
            </a:xfrm>
            <a:prstGeom prst="roundRect">
              <a:avLst>
                <a:gd name="adj" fmla="val 857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8288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585" y="2050256"/>
              <a:ext cx="841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SHIFT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299" y="2287429"/>
              <a:ext cx="36182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Transformers are replacing CNNs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2597468"/>
              <a:ext cx="4581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Vision transformers now lead, but their size makes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2826068"/>
              <a:ext cx="4102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privacy-preserving distributed training hard.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48400" y="1828800"/>
            <a:ext cx="5334000" cy="1333500"/>
            <a:chOff x="6248400" y="1828800"/>
            <a:chExt cx="5334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48400" y="1828800"/>
              <a:ext cx="5334000" cy="1333500"/>
            </a:xfrm>
            <a:prstGeom prst="roundRect">
              <a:avLst>
                <a:gd name="adj" fmla="val 857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18288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09385" y="2050256"/>
              <a:ext cx="1890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TWO FLAWED OPTIONS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7099" y="2287429"/>
              <a:ext cx="3597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Move the model, or leak the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8242" y="2597468"/>
              <a:ext cx="4708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Federated learning ships whole models; split learning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8242" y="2826068"/>
              <a:ext cx="4515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leaks — ViT smashed data still resembles the input.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314700"/>
            <a:ext cx="5334000" cy="1333500"/>
            <a:chOff x="609600" y="3314700"/>
            <a:chExt cx="5334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609600" y="3314700"/>
              <a:ext cx="5334000" cy="1333500"/>
            </a:xfrm>
            <a:prstGeom prst="roundRect">
              <a:avLst>
                <a:gd name="adj" fmla="val 8571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33147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0585" y="3536156"/>
              <a:ext cx="1257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PROPOSAL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6394" y="3751898"/>
              <a:ext cx="17297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DP-CutMixSL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442" y="4102418"/>
              <a:ext cx="4220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6CDDA"/>
                  </a:solidFill>
                  <a:latin typeface="+mn-lt"/>
                  <a:ea typeface="+mn-ea"/>
                  <a:cs typeface="+mn-cs"/>
                </a:rPr>
                <a:t>Gaussian DP noise plus a patch-level randomized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442" y="4331018"/>
              <a:ext cx="4478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6CDDA"/>
                  </a:solidFill>
                  <a:latin typeface="+mn-lt"/>
                  <a:ea typeface="+mn-ea"/>
                  <a:cs typeface="+mn-cs"/>
                </a:rPr>
                <a:t>CutMix that mixes masked patches across clients.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48400" y="3314700"/>
            <a:ext cx="5334000" cy="1333500"/>
            <a:chOff x="6248400" y="3314700"/>
            <a:chExt cx="5334000" cy="1333500"/>
          </a:xfrm>
        </p:grpSpPr>
        <p:sp>
          <p:nvSpPr>
            <p:cNvPr id="28" name="Rectangle 28"/>
            <p:cNvSpPr/>
            <p:nvPr/>
          </p:nvSpPr>
          <p:spPr>
            <a:xfrm>
              <a:off x="6248400" y="3314700"/>
              <a:ext cx="5334000" cy="1333500"/>
            </a:xfrm>
            <a:prstGeom prst="roundRect">
              <a:avLst>
                <a:gd name="adj" fmla="val 857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33147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9385" y="3536156"/>
              <a:ext cx="1019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PAYOFF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7099" y="3811429"/>
              <a:ext cx="27569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Privacy up. Accuracy up.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8242" y="4121468"/>
              <a:ext cx="4799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Strengthens the differential-privacy guarantee while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8242" y="4350068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improving accuracy over vanilla split learning.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361" y="4972050"/>
            <a:ext cx="10980039" cy="1381506"/>
            <a:chOff x="602361" y="4972050"/>
            <a:chExt cx="10980039" cy="1381506"/>
          </a:xfrm>
        </p:grpSpPr>
        <p:sp>
          <p:nvSpPr>
            <p:cNvPr id="35" name="Line 35"/>
            <p:cNvSpPr/>
            <p:nvPr/>
          </p:nvSpPr>
          <p:spPr>
            <a:xfrm>
              <a:off x="609600" y="4972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361" y="5142071"/>
              <a:ext cx="68222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Seungeun Oh · Sihun Baek · Hyelin Nam · Seong-Lyun Kim · Jihong Park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2361" y="5389721"/>
              <a:ext cx="51762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Praneeth Vepakomma · Ramesh Raskar · Mehdi Bennis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3504" y="5737860"/>
              <a:ext cx="7822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Yonsei University · Deakin University · Massachusetts Institute of Technology · University of Oulu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3504" y="6118860"/>
              <a:ext cx="1409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arXiv:2210.15986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15300" y="4629150"/>
            <a:ext cx="3467100" cy="2130361"/>
            <a:chOff x="8115300" y="4629150"/>
            <a:chExt cx="3467100" cy="2130361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3600" y="4629150"/>
              <a:ext cx="1828800" cy="182880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10226123" y="6554152"/>
              <a:ext cx="883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Scan · Paper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8515" y="5295900"/>
              <a:ext cx="782320" cy="419100"/>
            </a:xfrm>
            <a:prstGeom prst="rect">
              <a:avLst/>
            </a:prstGeom>
          </p:spPr>
        </p:pic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5300" y="5878242"/>
              <a:ext cx="1428750" cy="283116"/>
            </a:xfrm>
            <a:prstGeom prst="rect">
              <a:avLst/>
            </a:prstGeom>
          </p:spPr>
        </p:pic>
      </p:grpSp>
      <p:sp>
        <p:nvSpPr>
          <p:cNvPr id="46" name="cue_s01_c1_vision_transformers_overtaking_convo" title="cue_s01_c1_vision_transformers_overtaking_convo" descr="cue_s01_c1_vision_transformers_overtaking_convo Vision transformers are overtaking convolutional networks, but their size makes privacy-preserving distributed training hard."/>
          <p:cNvSpPr/>
          <p:nvPr/>
        </p:nvSpPr>
        <p:spPr>
          <a:xfrm>
            <a:off x="609600" y="1829028"/>
            <a:ext cx="53340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1_c2_federated_learning_must_move_whole" title="cue_s01_c2_federated_learning_must_move_whole" descr="cue_s01_c2_federated_learning_must_move_whole Federated learning must move whole models, and split learning leaks privacy because a transformer's smashed data still resembles the raw input."/>
          <p:cNvSpPr/>
          <p:nvPr/>
        </p:nvSpPr>
        <p:spPr>
          <a:xfrm>
            <a:off x="6248399" y="1829028"/>
            <a:ext cx="53340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1_c3_yonsei_deakin_oulu_neurips_2022" title="cue_s01_c3_yonsei_deakin_oulu_neurips_2022" descr="cue_s01_c3_yonsei_deakin_oulu_neurips_2022 From Yonsei, Deakin, M.I.T., and Oulu, at NeurIPS 2022, this paper proposes DP-CutMixSL, pairing a Gaussian differential-privacy mechanism with a patch-level randomized CutMix that mixes masked patches across clients."/>
          <p:cNvSpPr/>
          <p:nvPr/>
        </p:nvSpPr>
        <p:spPr>
          <a:xfrm>
            <a:off x="609600" y="3314471"/>
            <a:ext cx="53340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1_c4_strengthens_privacy_while_improving" title="cue_s01_c4_strengthens_privacy_while_improving" descr="cue_s01_c4_strengthens_privacy_while_improving It strengthens privacy while improving accuracy."/>
          <p:cNvSpPr/>
          <p:nvPr/>
        </p:nvSpPr>
        <p:spPr>
          <a:xfrm>
            <a:off x="6248399" y="3314471"/>
            <a:ext cx="53340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80060"/>
            <a:ext cx="8669210" cy="720852"/>
            <a:chOff x="597408" y="480060"/>
            <a:chExt cx="8669210" cy="72085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80060"/>
              <a:ext cx="1846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731520"/>
              <a:ext cx="86692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Split learning leaks when the model is a transformer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28750"/>
            <a:ext cx="5334000" cy="1866900"/>
            <a:chOff x="609600" y="1428750"/>
            <a:chExt cx="5334000" cy="18669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17145">
              <a:solidFill>
                <a:srgbClr val="A9B4C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90575" y="1628775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4673" y="17335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4168" y="1726882"/>
              <a:ext cx="2157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Federated learning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197418"/>
              <a:ext cx="4345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Keeps raw data on the device, but exchanges 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2445068"/>
              <a:ext cx="4617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whole model. For large vision transformers, moving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69271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model is costly in energy and bandwidth.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48400" y="1428750"/>
            <a:ext cx="5334000" cy="1866900"/>
            <a:chOff x="6248400" y="1428750"/>
            <a:chExt cx="5334000" cy="1866900"/>
          </a:xfrm>
        </p:grpSpPr>
        <p:sp>
          <p:nvSpPr>
            <p:cNvPr id="14" name="Rectangle 14"/>
            <p:cNvSpPr/>
            <p:nvPr/>
          </p:nvSpPr>
          <p:spPr>
            <a:xfrm>
              <a:off x="6248400" y="14287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17145">
              <a:solidFill>
                <a:srgbClr val="A9B4C2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429375" y="1628775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3473" y="17335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82968" y="1726882"/>
              <a:ext cx="15276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Split learning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6342" y="2197418"/>
              <a:ext cx="4544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Partitions the model between client and server 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244506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shares only the cut-layer activations — the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2692718"/>
              <a:ext cx="4084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"smashed data" — instead of the model itself.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505200"/>
            <a:ext cx="5334000" cy="1866900"/>
            <a:chOff x="609600" y="3505200"/>
            <a:chExt cx="5334000" cy="1866900"/>
          </a:xfrm>
        </p:grpSpPr>
        <p:sp>
          <p:nvSpPr>
            <p:cNvPr id="22" name="Rectangle 22"/>
            <p:cNvSpPr/>
            <p:nvPr/>
          </p:nvSpPr>
          <p:spPr>
            <a:xfrm>
              <a:off x="609600" y="350520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rgbClr val="FCEEEE"/>
            </a:solidFill>
            <a:ln w="17145">
              <a:solidFill>
                <a:srgbClr val="E09A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90575" y="3705225"/>
              <a:ext cx="400050" cy="400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4673" y="3810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4168" y="3803332"/>
              <a:ext cx="2639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 ViT barely distorts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542" y="4273868"/>
              <a:ext cx="4290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With no pooling or convolution, a transformer's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542" y="4521518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smashed data stays visually similar to the raw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42" y="476916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input image — little information is lost.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48400" y="3505200"/>
            <a:ext cx="5334000" cy="1866900"/>
            <a:chOff x="6248400" y="3505200"/>
            <a:chExt cx="5334000" cy="1866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50520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rgbClr val="FCEEEE"/>
            </a:solidFill>
            <a:ln w="17145">
              <a:solidFill>
                <a:srgbClr val="E09A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29375" y="3705225"/>
              <a:ext cx="400050" cy="400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3473" y="3810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2968" y="3803332"/>
              <a:ext cx="1960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Leakage and cost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6342" y="4273868"/>
              <a:ext cx="4599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That similarity leaks privacy: the smashed data can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6342" y="4521518"/>
              <a:ext cx="44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be inverted back toward the image. Preserving so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4769168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much information also inflates communication cost.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1980" y="5715000"/>
            <a:ext cx="10986516" cy="512445"/>
            <a:chOff x="601980" y="5715000"/>
            <a:chExt cx="10986516" cy="512445"/>
          </a:xfrm>
        </p:grpSpPr>
        <p:sp>
          <p:nvSpPr>
            <p:cNvPr id="38" name="Line 38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1980" y="5934075"/>
              <a:ext cx="9108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tension: transformers preserve information — good for accuracy, bad for privacy.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2830" y="59664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 / 7</a:t>
              </a:r>
            </a:p>
          </p:txBody>
        </p:sp>
      </p:grpSp>
      <p:sp>
        <p:nvSpPr>
          <p:cNvPr id="42" name="cue_s02_c1_want_train_user_without_exposing" title="cue_s02_c1_want_train_user_without_exposing" descr="cue_s02_c1_want_train_user_without_exposing We want to train on user data without exposing it. Federated learning keeps data local but exchanges whole models, costly for large transformers."/>
          <p:cNvSpPr/>
          <p:nvPr/>
        </p:nvSpPr>
        <p:spPr>
          <a:xfrm>
            <a:off x="609600" y="1428521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2_c2_split_learning_instead_shares_only" title="cue_s02_c2_split_learning_instead_shares_only" descr="cue_s02_c2_split_learning_instead_shares_only Split learning instead shares only cut-layer activations, the smashed data."/>
          <p:cNvSpPr/>
          <p:nvPr/>
        </p:nvSpPr>
        <p:spPr>
          <a:xfrm>
            <a:off x="6248399" y="1428521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2_c3_but_transformers_pooling_convolution" title="cue_s02_c3_but_transformers_pooling_convolution" descr="cue_s02_c3_but_transformers_pooling_convolution But transformers have no pooling or convolution, so their smashed data barely distorts the input and stays visually similar to the raw image."/>
          <p:cNvSpPr/>
          <p:nvPr/>
        </p:nvSpPr>
        <p:spPr>
          <a:xfrm>
            <a:off x="609600" y="3505123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4_similarity_leaks_privacy_preserving" title="cue_s02_c4_similarity_leaks_privacy_preserving" descr="cue_s02_c4_similarity_leaks_privacy_preserving That similarity leaks privacy and, preserving so much information, also inflates communication cost."/>
          <p:cNvSpPr/>
          <p:nvPr/>
        </p:nvSpPr>
        <p:spPr>
          <a:xfrm>
            <a:off x="6248399" y="3505123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80060"/>
            <a:ext cx="7414194" cy="720852"/>
            <a:chOff x="597408" y="480060"/>
            <a:chExt cx="7414194" cy="72085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80060"/>
              <a:ext cx="1717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MOTIVATION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731520"/>
              <a:ext cx="7414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 transformers change the privacy recipe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390650"/>
            <a:ext cx="10972800" cy="819150"/>
            <a:chOff x="609600" y="1390650"/>
            <a:chExt cx="10972800" cy="819150"/>
          </a:xfrm>
        </p:grpSpPr>
        <p:sp>
          <p:nvSpPr>
            <p:cNvPr id="6" name="Rectangle 6"/>
            <p:cNvSpPr/>
            <p:nvPr/>
          </p:nvSpPr>
          <p:spPr>
            <a:xfrm>
              <a:off x="609600" y="1390650"/>
              <a:ext cx="10972800" cy="819150"/>
            </a:xfrm>
            <a:prstGeom prst="roundRect">
              <a:avLst>
                <a:gd name="adj" fmla="val 1395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8299" y="1582579"/>
              <a:ext cx="80754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 transformers displace CNNs, do the CNN-era privacy recipes still hold?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1892618"/>
              <a:ext cx="6329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DE7C8"/>
                  </a:solidFill>
                  <a:latin typeface="+mn-lt"/>
                  <a:ea typeface="+mn-ea"/>
                  <a:cs typeface="+mn-cs"/>
                </a:rPr>
                <a:t>The authors point to three properties of ViT that reshape the answer.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438400"/>
            <a:ext cx="3448050" cy="2781300"/>
            <a:chOff x="609600" y="2438400"/>
            <a:chExt cx="3448050" cy="2781300"/>
          </a:xfrm>
        </p:grpSpPr>
        <p:sp>
          <p:nvSpPr>
            <p:cNvPr id="10" name="Rectangle 10"/>
            <p:cNvSpPr/>
            <p:nvPr/>
          </p:nvSpPr>
          <p:spPr>
            <a:xfrm>
              <a:off x="609600" y="2438400"/>
              <a:ext cx="3448050" cy="2781300"/>
            </a:xfrm>
            <a:prstGeom prst="roundRect">
              <a:avLst>
                <a:gd name="adj" fmla="val 411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71525" y="2638425"/>
              <a:ext cx="361950" cy="3619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3165" y="27403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9680" y="2724150"/>
              <a:ext cx="1028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pooling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723" y="3138964"/>
              <a:ext cx="2413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hidden representation 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723" y="33675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barely distorted, so regularizing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723" y="3596164"/>
              <a:ext cx="276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is as effective as regularizing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723" y="3824764"/>
              <a:ext cx="216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input — yet its mutual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723" y="405336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information with the raw image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723" y="428196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stays high, so it leaks.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46672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23" y="4834414"/>
              <a:ext cx="2678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Regularize the representation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71975" y="2438400"/>
            <a:ext cx="3448050" cy="2781300"/>
            <a:chOff x="4371975" y="2438400"/>
            <a:chExt cx="3448050" cy="2781300"/>
          </a:xfrm>
        </p:grpSpPr>
        <p:sp>
          <p:nvSpPr>
            <p:cNvPr id="23" name="Rectangle 23"/>
            <p:cNvSpPr/>
            <p:nvPr/>
          </p:nvSpPr>
          <p:spPr>
            <a:xfrm>
              <a:off x="4371975" y="2438400"/>
              <a:ext cx="3448050" cy="2781300"/>
            </a:xfrm>
            <a:prstGeom prst="roundRect">
              <a:avLst>
                <a:gd name="adj" fmla="val 411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33900" y="2638425"/>
              <a:ext cx="361950" cy="3619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55540" y="27403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2055" y="2724150"/>
              <a:ext cx="1675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Global attention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94098" y="3138964"/>
              <a:ext cx="2603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Self-attention captures global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4098" y="3367564"/>
              <a:ext cx="2419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spatial information, so a ViT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4098" y="3596164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stays robust even when large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4098" y="3824764"/>
              <a:ext cx="2313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noise corrupts only part of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4098" y="4053364"/>
              <a:ext cx="908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image.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600575" y="46672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94098" y="4834414"/>
              <a:ext cx="2245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Ideal for Cutout / CutMix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34350" y="2438400"/>
            <a:ext cx="3448050" cy="2781300"/>
            <a:chOff x="8134350" y="2438400"/>
            <a:chExt cx="3448050" cy="2781300"/>
          </a:xfrm>
        </p:grpSpPr>
        <p:sp>
          <p:nvSpPr>
            <p:cNvPr id="35" name="Rectangle 35"/>
            <p:cNvSpPr/>
            <p:nvPr/>
          </p:nvSpPr>
          <p:spPr>
            <a:xfrm>
              <a:off x="8134350" y="2438400"/>
              <a:ext cx="3448050" cy="2781300"/>
            </a:xfrm>
            <a:prstGeom prst="roundRect">
              <a:avLst>
                <a:gd name="adj" fmla="val 4110"/>
              </a:avLst>
            </a:prstGeom>
            <a:solidFill>
              <a:srgbClr val="EAF1EC"/>
            </a:solidFill>
            <a:ln w="9525">
              <a:solidFill>
                <a:srgbClr val="BFE0CC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296275" y="2638425"/>
              <a:ext cx="361950" cy="3619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17915" y="27403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74430" y="2724150"/>
              <a:ext cx="1612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Patch-level ops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6473" y="3138964"/>
              <a:ext cx="2827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Every operation in a transformer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6473" y="3367564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runs at the patch level, from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6473" y="3596164"/>
              <a:ext cx="2528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embedding through attention.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6473" y="3900964"/>
              <a:ext cx="2698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The three together point to one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6473" y="4129564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idea.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362950" y="46672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rgbClr val="BFE0C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56473" y="4834414"/>
              <a:ext cx="1973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Mix at the patch scale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1980" y="5638800"/>
            <a:ext cx="10986516" cy="512445"/>
            <a:chOff x="601980" y="5638800"/>
            <a:chExt cx="10986516" cy="512445"/>
          </a:xfrm>
        </p:grpSpPr>
        <p:sp>
          <p:nvSpPr>
            <p:cNvPr id="47" name="Line 47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1980" y="5857875"/>
              <a:ext cx="9185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Combined, these point to a patch-level randomized CutMix of the hidden representation.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12830" y="58902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 / 7</a:t>
              </a:r>
            </a:p>
          </p:txBody>
        </p:sp>
      </p:grpSp>
      <p:sp>
        <p:nvSpPr>
          <p:cNvPr id="51" name="cue_s03_c1_transformers_displace_cnns_old_priva" title="cue_s03_c1_transformers_displace_cnns_old_priva" descr="cue_s03_c1_transformers_displace_cnns_old_priva As transformers displace CNNs, do the old privacy recipes still hold? The authors note three things about ViT."/>
          <p:cNvSpPr/>
          <p:nvPr/>
        </p:nvSpPr>
        <p:spPr>
          <a:xfrm>
            <a:off x="609600" y="1390802"/>
            <a:ext cx="10972800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3_c2_first_without_pooling_its_hidden" title="cue_s03_c2_first_without_pooling_its_hidden" descr="cue_s03_c2_first_without_pooling_its_hidden First, without pooling its hidden representation is barely distorted, so regularizing it works as well as regularizing the input, yet high mutual information leaks."/>
          <p:cNvSpPr/>
          <p:nvPr/>
        </p:nvSpPr>
        <p:spPr>
          <a:xfrm>
            <a:off x="609600" y="2438704"/>
            <a:ext cx="3447897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3_c3_second_global_self_attention_makes_v" title="cue_s03_c3_second_global_self_attention_makes_v" descr="cue_s03_c3_second_global_self_attention_makes_v Second, global self-attention makes ViT robust to large noise on part of the image, ideal for Cutout and CutMix."/>
          <p:cNvSpPr/>
          <p:nvPr/>
        </p:nvSpPr>
        <p:spPr>
          <a:xfrm>
            <a:off x="4372051" y="2438704"/>
            <a:ext cx="3447897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3_c4_third_every_operation_patch_level_to" title="cue_s03_c4_third_every_operation_patch_level_to" descr="cue_s03_c4_third_every_operation_patch_level_to Third, every operation is patch-level. Together these point to a patch-level randomized CutMix of the hidden representation."/>
          <p:cNvSpPr/>
          <p:nvPr/>
        </p:nvSpPr>
        <p:spPr>
          <a:xfrm>
            <a:off x="8134502" y="2438704"/>
            <a:ext cx="3447897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41960"/>
            <a:ext cx="4492174" cy="701802"/>
            <a:chOff x="597408" y="441960"/>
            <a:chExt cx="4492174" cy="70180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41960"/>
              <a:ext cx="1291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METHOD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674370"/>
              <a:ext cx="44921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DP-CutMixSL, step by step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62300" y="2857500"/>
            <a:ext cx="5810250" cy="228600"/>
            <a:chOff x="3162300" y="2857500"/>
            <a:chExt cx="5810250" cy="228600"/>
          </a:xfrm>
        </p:grpSpPr>
        <p:sp>
          <p:nvSpPr>
            <p:cNvPr id="6" name="Polygon 6"/>
            <p:cNvSpPr/>
            <p:nvPr/>
          </p:nvSpPr>
          <p:spPr>
            <a:xfrm>
              <a:off x="3162300" y="28575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AA4B2"/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5981700" y="28575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AA4B2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8801100" y="28575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AA4B2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09600" y="1219200"/>
            <a:ext cx="2495550" cy="3352800"/>
            <a:chOff x="609600" y="1219200"/>
            <a:chExt cx="2495550" cy="3352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219200"/>
              <a:ext cx="2495550" cy="3352800"/>
            </a:xfrm>
            <a:prstGeom prst="roundRect">
              <a:avLst>
                <a:gd name="adj" fmla="val 45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62000" y="1390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4115" y="1483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2530" y="1466850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Mixer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543050" y="1981200"/>
              <a:ext cx="628650" cy="628650"/>
              <a:chOff x="1543050" y="1981200"/>
              <a:chExt cx="628650" cy="6286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54305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762125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98120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54305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762125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98120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54305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762125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lt1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98120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8685" y="2812256"/>
              <a:ext cx="771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λ ~ Dir(α)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685" y="3098006"/>
              <a:ext cx="2082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mixer draws ratios λ from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685" y="3307556"/>
              <a:ext cx="1998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Dirichlet distribution and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3517106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builds a binary mask per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685" y="3726656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client; on-patches ∝ λᵢ.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429000" y="1219200"/>
            <a:ext cx="2621142" cy="3352800"/>
            <a:chOff x="3429000" y="1219200"/>
            <a:chExt cx="2621142" cy="3352800"/>
          </a:xfrm>
        </p:grpSpPr>
        <p:sp>
          <p:nvSpPr>
            <p:cNvPr id="30" name="Rectangle 30"/>
            <p:cNvSpPr/>
            <p:nvPr/>
          </p:nvSpPr>
          <p:spPr>
            <a:xfrm>
              <a:off x="3429000" y="1219200"/>
              <a:ext cx="2495550" cy="3352800"/>
            </a:xfrm>
            <a:prstGeom prst="roundRect">
              <a:avLst>
                <a:gd name="adj" fmla="val 45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581400" y="1390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93515" y="1483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11930" y="1466850"/>
              <a:ext cx="614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4362450" y="1981200"/>
              <a:ext cx="628650" cy="628650"/>
              <a:chOff x="4362450" y="1981200"/>
              <a:chExt cx="628650" cy="6286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6245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581525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rgbClr val="EEF1F5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80060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36245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rgbClr val="EEF1F5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581525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80060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rgbClr val="EEF1F5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581525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rgbClr val="EEF1F5"/>
              </a:solidFill>
              <a:ln w="9525">
                <a:solidFill>
                  <a:srgbClr val="C7CFDA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80060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4438650" y="2019300"/>
                <a:ext cx="38100" cy="38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4895850" y="2076450"/>
                <a:ext cx="38100" cy="38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419600" y="2476500"/>
                <a:ext cx="38100" cy="38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876800" y="2457450"/>
                <a:ext cx="38100" cy="38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4638675" y="2266950"/>
                <a:ext cx="38100" cy="38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3728085" y="2812256"/>
              <a:ext cx="1053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s' = M ⊙ s + 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28085" y="3098006"/>
              <a:ext cx="2074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client encodes input to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28085" y="3307556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smashed data, masks it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28085" y="3517106"/>
              <a:ext cx="2322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(Cutout), adds Gaussian noise,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28085" y="3726656"/>
              <a:ext cx="2198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then uploads DP-Cutout data.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48400" y="1219200"/>
            <a:ext cx="2639979" cy="3352800"/>
            <a:chOff x="6248400" y="1219200"/>
            <a:chExt cx="2639979" cy="3352800"/>
          </a:xfrm>
        </p:grpSpPr>
        <p:sp>
          <p:nvSpPr>
            <p:cNvPr id="55" name="Rectangle 55"/>
            <p:cNvSpPr/>
            <p:nvPr/>
          </p:nvSpPr>
          <p:spPr>
            <a:xfrm>
              <a:off x="6248400" y="1219200"/>
              <a:ext cx="2495550" cy="3352800"/>
            </a:xfrm>
            <a:prstGeom prst="roundRect">
              <a:avLst>
                <a:gd name="adj" fmla="val 4580"/>
              </a:avLst>
            </a:prstGeom>
            <a:solidFill>
              <a:srgbClr val="EAF1EC"/>
            </a:solidFill>
            <a:ln w="9525">
              <a:solidFill>
                <a:srgbClr val="BFE0CC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400800" y="1390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12915" y="1483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31330" y="14668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7181850" y="1981200"/>
              <a:ext cx="628650" cy="628650"/>
              <a:chOff x="7181850" y="1981200"/>
              <a:chExt cx="628650" cy="6286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718185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7400925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7620000" y="198120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18185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7400925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7620000" y="2200275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718185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400925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7620000" y="2419350"/>
                <a:ext cx="190500" cy="1905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547485" y="2812256"/>
              <a:ext cx="125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ỹ = λᵢ yᵢ + λⱼ yⱼ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47485" y="3098006"/>
              <a:ext cx="1765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Masks are exclusive and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47485" y="3307556"/>
              <a:ext cx="2340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exhaustive, so the server sums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7485" y="3517106"/>
              <a:ext cx="2000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clients into DP-CutMix — no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47485" y="372665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blanks — labels mixed by λ.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067800" y="1219200"/>
            <a:ext cx="2577055" cy="3352800"/>
            <a:chOff x="9067800" y="1219200"/>
            <a:chExt cx="2577055" cy="3352800"/>
          </a:xfrm>
        </p:grpSpPr>
        <p:sp>
          <p:nvSpPr>
            <p:cNvPr id="75" name="Rectangle 75"/>
            <p:cNvSpPr/>
            <p:nvPr/>
          </p:nvSpPr>
          <p:spPr>
            <a:xfrm>
              <a:off x="9067800" y="1219200"/>
              <a:ext cx="2495550" cy="3352800"/>
            </a:xfrm>
            <a:prstGeom prst="roundRect">
              <a:avLst>
                <a:gd name="adj" fmla="val 45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220200" y="1390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32315" y="1483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51492" y="1483042"/>
              <a:ext cx="12498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Split learning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10001250" y="1981200"/>
              <a:ext cx="628650" cy="628650"/>
              <a:chOff x="10001250" y="1981200"/>
              <a:chExt cx="628650" cy="6286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10001250" y="1981200"/>
                <a:ext cx="628650" cy="628650"/>
              </a:xfrm>
              <a:prstGeom prst="roundRect">
                <a:avLst>
                  <a:gd name="adj" fmla="val 606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10077450" y="20574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10248900" y="20574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10420350" y="20574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10077450" y="2228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10248900" y="2228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10420350" y="2228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10077450" y="2400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10248900" y="2400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10420350" y="2400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9366885" y="2812256"/>
              <a:ext cx="7139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FP → ← BP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366885" y="3098006"/>
              <a:ext cx="2202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Forward and backward passes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66885" y="330755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proceed as in vanilla split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66885" y="3517106"/>
              <a:ext cx="2277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learning. Only a noisy fraction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366885" y="3726656"/>
              <a:ext cx="190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 each client is exposed.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09600" y="4819650"/>
            <a:ext cx="10972800" cy="704850"/>
            <a:chOff x="609600" y="4819650"/>
            <a:chExt cx="10972800" cy="704850"/>
          </a:xfrm>
        </p:grpSpPr>
        <p:sp>
          <p:nvSpPr>
            <p:cNvPr id="96" name="Rectangle 96"/>
            <p:cNvSpPr/>
            <p:nvPr/>
          </p:nvSpPr>
          <p:spPr>
            <a:xfrm>
              <a:off x="609600" y="48196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69061" y="4989671"/>
              <a:ext cx="19873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Proven RDP ordering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849880" y="4981575"/>
              <a:ext cx="2377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9DE7C8"/>
                  </a:solidFill>
                  <a:latin typeface="+mn-lt"/>
                  <a:ea typeface="+mn-ea"/>
                  <a:cs typeface="+mn-cs"/>
                </a:rPr>
                <a:t>ε_Mix ≤ ε_CutMix ≤ ε_o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70204" y="5252085"/>
              <a:ext cx="9265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6CDDA"/>
                  </a:solidFill>
                  <a:latin typeface="+mn-lt"/>
                  <a:ea typeface="+mn-ea"/>
                  <a:cs typeface="+mn-cs"/>
                </a:rPr>
                <a:t>Randomized patch-level CutMix amplifies the privacy guarantee over plain split learning, bounded by a Mixup baseline.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603504" y="5814060"/>
            <a:ext cx="10984992" cy="234696"/>
            <a:chOff x="603504" y="5814060"/>
            <a:chExt cx="10984992" cy="234696"/>
          </a:xfrm>
        </p:grpSpPr>
        <p:sp>
          <p:nvSpPr>
            <p:cNvPr id="101" name="TextBox 101"/>
            <p:cNvSpPr txBox="1"/>
            <p:nvPr/>
          </p:nvSpPr>
          <p:spPr>
            <a:xfrm>
              <a:off x="603504" y="5814060"/>
              <a:ext cx="7860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mixer may be a third party; only a noisy fraction of each client's smashed data is ever shared.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212830" y="58140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 / 7</a:t>
              </a:r>
            </a:p>
          </p:txBody>
        </p:sp>
      </p:grpSp>
      <p:sp>
        <p:nvSpPr>
          <p:cNvPr id="104" name="cue_s04_c1_dp_cutmixsl_step_step_mixer_draws" title="cue_s04_c1_dp_cutmixsl_step_step_mixer_draws" descr="cue_s04_c1_dp_cutmixsl_step_step_mixer_draws Here is DP-CutMixSL step by step. A mixer draws mixing ratios lambda from a Dirichlet distribution and builds a pseudorandom binary mask per client, with on-patches proportional to that client's lambda."/>
          <p:cNvSpPr/>
          <p:nvPr/>
        </p:nvSpPr>
        <p:spPr>
          <a:xfrm>
            <a:off x="609600" y="1219352"/>
            <a:ext cx="2495702" cy="33528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ue_s04_c2_client_runs_its_input_through" title="cue_s04_c2_client_runs_its_input_through" descr="cue_s04_c2_client_runs_its_input_through Each client runs its input through the lower model to get smashed data, masks it into Cutout smashed data, then adds white Gaussian noise for DP-Cutout smashed data, and uploads it."/>
          <p:cNvSpPr/>
          <p:nvPr/>
        </p:nvSpPr>
        <p:spPr>
          <a:xfrm>
            <a:off x="3428390" y="1219352"/>
            <a:ext cx="2495702" cy="33528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ue_s04_c3_because_masks_mutually_exclusive_col" title="cue_s04_c3_because_masks_mutually_exclusive_col" descr="cue_s04_c3_because_masks_mutually_exclusive_col Because the masks are mutually exclusive and collectively exhaustive at the patch level, the server simply adds the clients' noisy patches into DP-CutMix smashed data with no blank patches, mixing labels by the same lambda weights."/>
          <p:cNvSpPr/>
          <p:nvPr/>
        </p:nvSpPr>
        <p:spPr>
          <a:xfrm>
            <a:off x="6248399" y="1219352"/>
            <a:ext cx="2495702" cy="33528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ue_s04_c4_forward_backward_propagation_proceed" title="cue_s04_c4_forward_backward_propagation_proceed" descr="cue_s04_c4_forward_backward_propagation_proceed Forward and backward propagation then proceed as in vanilla split learning. Crucially, only a noisy fraction of each client's data is ever exposed."/>
          <p:cNvSpPr/>
          <p:nvPr/>
        </p:nvSpPr>
        <p:spPr>
          <a:xfrm>
            <a:off x="9068409" y="1219352"/>
            <a:ext cx="2577388" cy="33528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41960"/>
            <a:ext cx="5602189" cy="701802"/>
            <a:chOff x="597408" y="441960"/>
            <a:chExt cx="5602189" cy="70180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41960"/>
              <a:ext cx="1655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KEY RESULT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674370"/>
              <a:ext cx="56021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CutMixSL leads on top-1 accuracy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143000"/>
            <a:ext cx="10972800" cy="590550"/>
            <a:chOff x="609600" y="1143000"/>
            <a:chExt cx="10972800" cy="590550"/>
          </a:xfrm>
        </p:grpSpPr>
        <p:sp>
          <p:nvSpPr>
            <p:cNvPr id="6" name="Rectangle 6"/>
            <p:cNvSpPr/>
            <p:nvPr/>
          </p:nvSpPr>
          <p:spPr>
            <a:xfrm>
              <a:off x="609600" y="1143000"/>
              <a:ext cx="10972800" cy="590550"/>
            </a:xfrm>
            <a:prstGeom prst="roundRect">
              <a:avLst>
                <a:gd name="adj" fmla="val 19355"/>
              </a:avLst>
            </a:prstGeom>
            <a:solidFill>
              <a:srgbClr val="EAF1EC"/>
            </a:solidFill>
            <a:ln w="9525">
              <a:solidFill>
                <a:srgbClr val="BFE0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9249" y="1334929"/>
              <a:ext cx="104173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 the noiseless setting, CutMixSL has the best top-1 accuracy in every configuration but one.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905000"/>
            <a:ext cx="5334000" cy="3352800"/>
            <a:chOff x="609600" y="1905000"/>
            <a:chExt cx="5334000" cy="3352800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352800"/>
            </a:xfrm>
            <a:prstGeom prst="roundRect">
              <a:avLst>
                <a:gd name="adj" fmla="val 340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061" y="2094071"/>
              <a:ext cx="1930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CIFAR-10 · ViT-Tiny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585" y="2336006"/>
              <a:ext cx="1466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Top-1 accuracy (%)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48768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14288">
              <a:solidFill>
                <a:srgbClr val="C7CFDA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163270" y="3190875"/>
              <a:ext cx="988159" cy="1994059"/>
              <a:chOff x="1163270" y="3190875"/>
              <a:chExt cx="988159" cy="1994059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219200" y="3448050"/>
                <a:ext cx="876300" cy="1428750"/>
              </a:xfrm>
              <a:prstGeom prst="roundRect">
                <a:avLst>
                  <a:gd name="adj" fmla="val 3261"/>
                </a:avLst>
              </a:prstGeom>
              <a:solidFill>
                <a:srgbClr val="9AA4B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358194" y="3190875"/>
                <a:ext cx="5983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57.21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63270" y="4964906"/>
                <a:ext cx="9881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Split learning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838450" y="2924175"/>
              <a:ext cx="876300" cy="2260759"/>
              <a:chOff x="2838450" y="2924175"/>
              <a:chExt cx="876300" cy="2260759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838450" y="3181350"/>
                <a:ext cx="876300" cy="1695450"/>
              </a:xfrm>
              <a:prstGeom prst="roundRect">
                <a:avLst>
                  <a:gd name="adj" fmla="val 3261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977444" y="2924175"/>
                <a:ext cx="5983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67.88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72714" y="4964906"/>
                <a:ext cx="6077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SplitFed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457700" y="2641282"/>
              <a:ext cx="876300" cy="2543652"/>
              <a:chOff x="4457700" y="2641282"/>
              <a:chExt cx="876300" cy="2543652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457700" y="2914650"/>
                <a:ext cx="876300" cy="1962150"/>
              </a:xfrm>
              <a:prstGeom prst="roundRect">
                <a:avLst>
                  <a:gd name="adj" fmla="val 326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66778" y="2641282"/>
                <a:ext cx="6581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73.77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36059" y="4964906"/>
                <a:ext cx="71958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CutMixSL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248400" y="1905000"/>
            <a:ext cx="6439618" cy="1600200"/>
            <a:chOff x="6248400" y="1905000"/>
            <a:chExt cx="6439618" cy="16002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905000"/>
              <a:ext cx="5334000" cy="16002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7861" y="2094071"/>
              <a:ext cx="24097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Strong across the board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0622" y="2473642"/>
              <a:ext cx="143893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71.26%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385" y="2888456"/>
              <a:ext cx="1450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PiT-Tiny · CIFAR-10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29522" y="2473642"/>
              <a:ext cx="11166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&gt; 89%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38285" y="2888456"/>
              <a:ext cx="1591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Fashion-MNIST (all 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004" y="3204210"/>
              <a:ext cx="6179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Beats SplitFed's 55.63% by 15+ points; the lead grows with the transformer.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48400" y="3657600"/>
            <a:ext cx="5334000" cy="1600200"/>
            <a:chOff x="6248400" y="3657600"/>
            <a:chExt cx="5334000" cy="1600200"/>
          </a:xfrm>
        </p:grpSpPr>
        <p:sp>
          <p:nvSpPr>
            <p:cNvPr id="34" name="Rectangle 34"/>
            <p:cNvSpPr/>
            <p:nvPr/>
          </p:nvSpPr>
          <p:spPr>
            <a:xfrm>
              <a:off x="6248400" y="3657600"/>
              <a:ext cx="5334000" cy="1600200"/>
            </a:xfrm>
            <a:prstGeom prst="roundRect">
              <a:avLst>
                <a:gd name="adj" fmla="val 7143"/>
              </a:avLst>
            </a:prstGeom>
            <a:solidFill>
              <a:srgbClr val="FCEEEE"/>
            </a:solidFill>
            <a:ln w="9525">
              <a:solidFill>
                <a:srgbClr val="F3C6C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07861" y="3846671"/>
              <a:ext cx="2605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one exception: VGG-16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4235768"/>
              <a:ext cx="4778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On CIFAR-10 with VGG-16, SL + Mixup (68.20%) edges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8242" y="4483418"/>
              <a:ext cx="4186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out CutMixSL (67.53%). CNNs focus locally, so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8242" y="473106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replacing whole patches costs them more information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8242" y="4978718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A2E2E"/>
                  </a:solidFill>
                  <a:latin typeface="+mn-lt"/>
                  <a:ea typeface="+mn-ea"/>
                  <a:cs typeface="+mn-cs"/>
                </a:rPr>
                <a:t>than it costs a transformer.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1980" y="5600700"/>
            <a:ext cx="10986516" cy="512445"/>
            <a:chOff x="601980" y="5600700"/>
            <a:chExt cx="10986516" cy="512445"/>
          </a:xfrm>
        </p:grpSpPr>
        <p:sp>
          <p:nvSpPr>
            <p:cNvPr id="41" name="Line 41"/>
            <p:cNvSpPr/>
            <p:nvPr/>
          </p:nvSpPr>
          <p:spPr>
            <a:xfrm>
              <a:off x="609600" y="5600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1980" y="5819775"/>
              <a:ext cx="6340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accuracy gain tracks how transformer-like the model is.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12830" y="58521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 / 7</a:t>
              </a:r>
            </a:p>
          </p:txBody>
        </p:sp>
      </p:grpSp>
      <p:sp>
        <p:nvSpPr>
          <p:cNvPr id="45" name="cue_s05_c1_without_noise_cutmixsl_gives_best" title="cue_s05_c1_without_noise_cutmixsl_gives_best" descr="cue_s05_c1_without_noise_cutmixsl_gives_best Without noise, CutMixSL gives the best top-1 accuracy in every configuration but one."/>
          <p:cNvSpPr/>
          <p:nvPr/>
        </p:nvSpPr>
        <p:spPr>
          <a:xfrm>
            <a:off x="609600" y="1143228"/>
            <a:ext cx="10972800" cy="5904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5_c2_cifar_10_vit_tiny_reaches_seventy_th" title="cue_s05_c2_cifar_10_vit_tiny_reaches_seventy_th" descr="cue_s05_c2_cifar_10_vit_tiny_reaches_seventy_th On CIFAR-10 with ViT-Tiny it reaches seventy-three point seven seven percent, versus fifty-seven for plain split learning and sixty-eight for SplitFed."/>
          <p:cNvSpPr/>
          <p:nvPr/>
        </p:nvSpPr>
        <p:spPr>
          <a:xfrm>
            <a:off x="609600" y="1905152"/>
            <a:ext cx="5334000" cy="33528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5_c3_pit_tiny_hits_seventy_one_point_two" title="cue_s05_c3_pit_tiny_hits_seventy_one_point_two" descr="cue_s05_c3_pit_tiny_hits_seventy_one_point_two With PiT-Tiny it hits seventy-one point two six. On Fashion-MNIST it tops eighty-nine percent across all three architectures."/>
          <p:cNvSpPr/>
          <p:nvPr/>
        </p:nvSpPr>
        <p:spPr>
          <a:xfrm>
            <a:off x="6248399" y="1905152"/>
            <a:ext cx="533400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5_c4_exception_vgg_16_where_mixup_edges" title="cue_s05_c4_exception_vgg_16_where_mixup_edges" descr="cue_s05_c4_exception_vgg_16_where_mixup_edges The exception is VGG-16, where Mixup edges ahead, because CNNs focus locally, so replacing whole patches costs them more information than it costs transformers."/>
          <p:cNvSpPr/>
          <p:nvPr/>
        </p:nvSpPr>
        <p:spPr>
          <a:xfrm>
            <a:off x="6248399" y="3657371"/>
            <a:ext cx="533400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80060"/>
            <a:ext cx="6701931" cy="720852"/>
            <a:chOff x="597408" y="480060"/>
            <a:chExt cx="6701931" cy="72085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80060"/>
              <a:ext cx="1571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ABLATIONS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731520"/>
              <a:ext cx="67019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Probing the privacy–accuracy trade-off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428750"/>
            <a:ext cx="5334000" cy="1866900"/>
            <a:chOff x="609600" y="1428750"/>
            <a:chExt cx="5334000" cy="18669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8299" y="1658779"/>
              <a:ext cx="30608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Accuracy vs. noise variance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442" y="2045018"/>
              <a:ext cx="4585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Sweeping the DP noise variance, DP-CutMixSL keeps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2292668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best accuracy at nearly every level, and always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2540318"/>
              <a:ext cx="2599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beats DP-MixSL on accuracy.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289560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rgbClr val="E3EA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1195" y="2955131"/>
              <a:ext cx="1686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Best accuracy overall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48400" y="1428750"/>
            <a:ext cx="5334000" cy="1866900"/>
            <a:chOff x="6248400" y="1428750"/>
            <a:chExt cx="5334000" cy="1866900"/>
          </a:xfrm>
        </p:grpSpPr>
        <p:sp>
          <p:nvSpPr>
            <p:cNvPr id="15" name="Rectangle 15"/>
            <p:cNvSpPr/>
            <p:nvPr/>
          </p:nvSpPr>
          <p:spPr>
            <a:xfrm>
              <a:off x="6248400" y="14287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48400" y="142875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7099" y="1658779"/>
              <a:ext cx="30282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Privacy: the RDP ε ordering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8242" y="2045018"/>
              <a:ext cx="4171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Its RDP ε is tighter than DP-SL but looser than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8242" y="2292668"/>
              <a:ext cx="4417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DP-MixSL — the exact trade-off theory predicts,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08242" y="2540318"/>
              <a:ext cx="4672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since Mixup melts information across the whole rep.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15100" y="2895600"/>
              <a:ext cx="2190750" cy="266700"/>
            </a:xfrm>
            <a:prstGeom prst="roundRect">
              <a:avLst>
                <a:gd name="adj" fmla="val 50000"/>
              </a:avLst>
            </a:prstGeom>
            <a:solidFill>
              <a:srgbClr val="E1F1E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22664" y="2955131"/>
              <a:ext cx="1775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ε_Mix ≤ ε_CutMix ≤ ε_o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543300"/>
            <a:ext cx="5334000" cy="1866900"/>
            <a:chOff x="609600" y="3543300"/>
            <a:chExt cx="5334000" cy="1866900"/>
          </a:xfrm>
        </p:grpSpPr>
        <p:sp>
          <p:nvSpPr>
            <p:cNvPr id="24" name="Rectangle 24"/>
            <p:cNvSpPr/>
            <p:nvPr/>
          </p:nvSpPr>
          <p:spPr>
            <a:xfrm>
              <a:off x="609600" y="354330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5433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299" y="3773329"/>
              <a:ext cx="18766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Mixing group size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442" y="4159568"/>
              <a:ext cx="429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Enlarging the mixing group lowers both accuracy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442" y="4407218"/>
              <a:ext cx="4202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ε for both mixing methods — a "hiding in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9442" y="46548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crowd" effect that trades sharpness for cover.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76300" y="5010150"/>
              <a:ext cx="2190750" cy="266700"/>
            </a:xfrm>
            <a:prstGeom prst="roundRect">
              <a:avLst>
                <a:gd name="adj" fmla="val 50000"/>
              </a:avLst>
            </a:prstGeom>
            <a:solidFill>
              <a:srgbClr val="E3EA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7517" y="5069681"/>
              <a:ext cx="1948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Both accuracy and ε drop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48400" y="3543300"/>
            <a:ext cx="5334000" cy="1866900"/>
            <a:chOff x="6248400" y="3543300"/>
            <a:chExt cx="5334000" cy="1866900"/>
          </a:xfrm>
        </p:grpSpPr>
        <p:sp>
          <p:nvSpPr>
            <p:cNvPr id="33" name="Rectangle 33"/>
            <p:cNvSpPr/>
            <p:nvPr/>
          </p:nvSpPr>
          <p:spPr>
            <a:xfrm>
              <a:off x="6248400" y="354330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5433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07099" y="3773329"/>
              <a:ext cx="22567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Robustness &amp; scaling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8242" y="4159568"/>
              <a:ext cx="4842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Reconstruction robustness rises: raw ▸ Mixup ▸ patch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8242" y="4407218"/>
              <a:ext cx="4409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CutMix ▸ Cutout. Accuracy grows as clients scale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8242" y="4654868"/>
              <a:ext cx="4907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from 2 to 10, and SplitFed-style averaging helps more.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15100" y="5010150"/>
              <a:ext cx="2362200" cy="266700"/>
            </a:xfrm>
            <a:prstGeom prst="roundRect">
              <a:avLst>
                <a:gd name="adj" fmla="val 50000"/>
              </a:avLst>
            </a:prstGeom>
            <a:solidFill>
              <a:srgbClr val="E1F1E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6114" y="5069681"/>
              <a:ext cx="2400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Harder to invert · scales to 10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1980" y="5715000"/>
            <a:ext cx="10986516" cy="512445"/>
            <a:chOff x="601980" y="5715000"/>
            <a:chExt cx="10986516" cy="512445"/>
          </a:xfrm>
        </p:grpSpPr>
        <p:sp>
          <p:nvSpPr>
            <p:cNvPr id="42" name="Line 42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980" y="5934075"/>
              <a:ext cx="9224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accuracy at almost every noise level, with a tighter bound than plain split learning.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2830" y="59664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 / 7</a:t>
              </a:r>
            </a:p>
          </p:txBody>
        </p:sp>
      </p:grpSp>
      <p:sp>
        <p:nvSpPr>
          <p:cNvPr id="46" name="cue_s06_c1_ablations_probe_privacy_accuracy_tra" title="cue_s06_c1_ablations_probe_privacy_accuracy_tra" descr="cue_s06_c1_ablations_probe_privacy_accuracy_tra Ablations probe the privacy-accuracy trade-off. Sweeping noise variance, DP-CutMixSL has the best accuracy at nearly every level and always beats DP-MixSL."/>
          <p:cNvSpPr/>
          <p:nvPr/>
        </p:nvSpPr>
        <p:spPr>
          <a:xfrm>
            <a:off x="609600" y="1428521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6_c2_its_rdp_epsilon_tighter_dp_sl" title="cue_s06_c2_its_rdp_epsilon_tighter_dp_sl" descr="cue_s06_c2_its_rdp_epsilon_tighter_dp_sl Its RDP epsilon is tighter than DP-SL but looser than DP-MixSL, exactly the trade-off theory predicts, since Mixup melts information across the whole representation."/>
          <p:cNvSpPr/>
          <p:nvPr/>
        </p:nvSpPr>
        <p:spPr>
          <a:xfrm>
            <a:off x="6248399" y="1428521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6_c3_larger_mixing_groups_lower_both" title="cue_s06_c3_larger_mixing_groups_lower_both" descr="cue_s06_c3_larger_mixing_groups_lower_both Larger mixing groups lower both accuracy and epsilon, a hiding-in-the-crowd effect. A reconstruction attack shows robustness rising from raw data to Mixup, patch CutMix, then Cutout."/>
          <p:cNvSpPr/>
          <p:nvPr/>
        </p:nvSpPr>
        <p:spPr>
          <a:xfrm>
            <a:off x="609600" y="3543528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6_c4_finally_accuracy_grows_clients_scale" title="cue_s06_c4_finally_accuracy_grows_clients_scale" descr="cue_s06_c4_finally_accuracy_grows_clients_scale Finally, accuracy grows as clients scale from two to ten, and SplitFed-style averaging helps further."/>
          <p:cNvSpPr/>
          <p:nvPr/>
        </p:nvSpPr>
        <p:spPr>
          <a:xfrm>
            <a:off x="6248399" y="3543528"/>
            <a:ext cx="5334000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597408" y="480060"/>
            <a:ext cx="3632327" cy="720852"/>
            <a:chOff x="597408" y="480060"/>
            <a:chExt cx="3632327" cy="720852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480060"/>
              <a:ext cx="149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 · TAKEAWAY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731520"/>
              <a:ext cx="36323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idea to remember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333500"/>
            <a:ext cx="10972800" cy="1447800"/>
            <a:chOff x="609600" y="1333500"/>
            <a:chExt cx="10972800" cy="1447800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10972800" cy="1447800"/>
            </a:xfrm>
            <a:prstGeom prst="roundRect">
              <a:avLst>
                <a:gd name="adj" fmla="val 9211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333500"/>
              <a:ext cx="76200" cy="1447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9170" y="1709738"/>
              <a:ext cx="84776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 vision transformers, you need not trade accuracy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9170" y="2119312"/>
              <a:ext cx="44754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 privacy in split learning.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123" y="2510314"/>
              <a:ext cx="75958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9DE7C8"/>
                  </a:solidFill>
                  <a:latin typeface="+mn-lt"/>
                  <a:ea typeface="+mn-ea"/>
                  <a:cs typeface="+mn-cs"/>
                </a:rPr>
                <a:t>DP-CutMixSL strengthens the privacy guarantee and improves accuracy at the same time.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009900"/>
            <a:ext cx="3448050" cy="2286000"/>
            <a:chOff x="609600" y="3009900"/>
            <a:chExt cx="344805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09600" y="3009900"/>
              <a:ext cx="3448050" cy="2286000"/>
            </a:xfrm>
            <a:prstGeom prst="roundRect">
              <a:avLst>
                <a:gd name="adj" fmla="val 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535" y="3269456"/>
              <a:ext cx="375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34956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Noise, then mix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964" y="3866912"/>
              <a:ext cx="23359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 Gaussian noise, then mix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964" y="4095512"/>
              <a:ext cx="266674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randomly masked patches across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0964" y="4324112"/>
              <a:ext cx="239906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clients. This amplifies the DP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964" y="4552712"/>
              <a:ext cx="210752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guarantee over plain split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0964" y="4781312"/>
              <a:ext cx="247477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learning and raises accuracy 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964" y="5009912"/>
              <a:ext cx="223007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provably bounded by Mixup.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71975" y="3009900"/>
            <a:ext cx="3448050" cy="2286000"/>
            <a:chOff x="4371975" y="3009900"/>
            <a:chExt cx="3448050" cy="2286000"/>
          </a:xfrm>
        </p:grpSpPr>
        <p:sp>
          <p:nvSpPr>
            <p:cNvPr id="22" name="Rectangle 22"/>
            <p:cNvSpPr/>
            <p:nvPr/>
          </p:nvSpPr>
          <p:spPr>
            <a:xfrm>
              <a:off x="4371975" y="3009900"/>
              <a:ext cx="3448050" cy="2286000"/>
            </a:xfrm>
            <a:prstGeom prst="roundRect">
              <a:avLst>
                <a:gd name="adj" fmla="val 5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910" y="3269456"/>
              <a:ext cx="1207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IT WORKS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2005" y="3495675"/>
              <a:ext cx="1792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for patches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13338" y="3866912"/>
              <a:ext cx="24636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Transformers use global self-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13338" y="4095512"/>
              <a:ext cx="261666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attention at the patch level, so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3338" y="4324112"/>
              <a:ext cx="244138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swapping whole patches costs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13338" y="4552712"/>
              <a:ext cx="25165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little information — though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3338" y="4781312"/>
              <a:ext cx="192390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same move would hurt 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13338" y="5009912"/>
              <a:ext cx="189886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convolutional network.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4350" y="3009900"/>
            <a:ext cx="3448050" cy="2286000"/>
            <a:chOff x="8134350" y="3009900"/>
            <a:chExt cx="3448050" cy="2286000"/>
          </a:xfrm>
        </p:grpSpPr>
        <p:sp>
          <p:nvSpPr>
            <p:cNvPr id="32" name="Rectangle 32"/>
            <p:cNvSpPr/>
            <p:nvPr/>
          </p:nvSpPr>
          <p:spPr>
            <a:xfrm>
              <a:off x="8134350" y="3009900"/>
              <a:ext cx="3448050" cy="2286000"/>
            </a:xfrm>
            <a:prstGeom prst="roundRect">
              <a:avLst>
                <a:gd name="adj" fmla="val 5000"/>
              </a:avLst>
            </a:prstGeom>
            <a:solidFill>
              <a:srgbClr val="EAF1EC"/>
            </a:solidFill>
            <a:ln w="9525">
              <a:solidFill>
                <a:srgbClr val="BFE0C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76285" y="3269456"/>
              <a:ext cx="996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 ONE LINE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3618" y="3555682"/>
              <a:ext cx="151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regularizer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3618" y="3822382"/>
              <a:ext cx="1723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 the ViT era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714" y="4228862"/>
              <a:ext cx="253285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Patch-level CutMix is a privacy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714" y="4457462"/>
              <a:ext cx="275020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regularizer purpose-built for the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714" y="4686062"/>
              <a:ext cx="259162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transformer era of distributed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714" y="4914662"/>
              <a:ext cx="75540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dirty="0">
                  <a:solidFill>
                    <a:srgbClr val="43614F"/>
                  </a:solidFill>
                  <a:latin typeface="+mn-lt"/>
                  <a:ea typeface="+mn-ea"/>
                  <a:cs typeface="+mn-cs"/>
                </a:rPr>
                <a:t>learning.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742" y="5695950"/>
            <a:ext cx="10985754" cy="752856"/>
            <a:chOff x="602742" y="5695950"/>
            <a:chExt cx="10985754" cy="752856"/>
          </a:xfrm>
        </p:grpSpPr>
        <p:sp>
          <p:nvSpPr>
            <p:cNvPr id="41" name="Line 41"/>
            <p:cNvSpPr/>
            <p:nvPr/>
          </p:nvSpPr>
          <p:spPr>
            <a:xfrm>
              <a:off x="609600" y="5695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2742" y="5950268"/>
              <a:ext cx="262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DP-CutMixSL · NeurIPS 2022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3504" y="6214110"/>
              <a:ext cx="1409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arXiv:2210.15986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2830" y="59664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 / 7</a:t>
              </a:r>
            </a:p>
          </p:txBody>
        </p:sp>
      </p:grpSp>
      <p:sp>
        <p:nvSpPr>
          <p:cNvPr id="46" name="cue_s07_c1_takeaway_vision_transformers_you_nee" title="cue_s07_c1_takeaway_vision_transformers_you_nee" descr="cue_s07_c1_takeaway_vision_transformers_you_nee The takeaway: for vision transformers, you need not trade accuracy for privacy in split learning."/>
          <p:cNvSpPr/>
          <p:nvPr/>
        </p:nvSpPr>
        <p:spPr>
          <a:xfrm>
            <a:off x="609600" y="1333195"/>
            <a:ext cx="10972800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7_c2_adding_gaussian_noise_mixing_randoml" title="cue_s07_c2_adding_gaussian_noise_mixing_randoml" descr="cue_s07_c2_adding_gaussian_noise_mixing_randoml Adding Gaussian noise and mixing randomly masked patches across clients amplifies the differential-privacy guarantee over plain split learning and raises accuracy, with the gain provably bounded by a Mixup baseline."/>
          <p:cNvSpPr/>
          <p:nvPr/>
        </p:nvSpPr>
        <p:spPr>
          <a:xfrm>
            <a:off x="609600" y="3009976"/>
            <a:ext cx="3447897" cy="22857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7_c3_works_because_transformers_global_se" title="cue_s07_c3_works_because_transformers_global_se" descr="cue_s07_c3_works_because_transformers_global_se It works because transformers use global self-attention at the patch level, so swapping patches costs little, though it would hurt a CNN."/>
          <p:cNvSpPr/>
          <p:nvPr/>
        </p:nvSpPr>
        <p:spPr>
          <a:xfrm>
            <a:off x="4372051" y="3009976"/>
            <a:ext cx="3447897" cy="22857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7_c4_patch_level_cutmix_privacy_regulariz" title="cue_s07_c4_patch_level_cutmix_privacy_regulariz" descr="cue_s07_c4_patch_level_cutmix_privacy_regulariz Patch-level CutMix is a privacy regularizer built for the transformer era."/>
          <p:cNvSpPr/>
          <p:nvPr/>
        </p:nvSpPr>
        <p:spPr>
          <a:xfrm>
            <a:off x="8134502" y="3009976"/>
            <a:ext cx="3447897" cy="22857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master_project">
  <a:themeElements>
    <a:clrScheme name="ppt_master_project">
      <a:dk1>
        <a:srgbClr val="14161A"/>
      </a:dk1>
      <a:lt1>
        <a:srgbClr val="FFFFFF"/>
      </a:lt1>
      <a:dk2>
        <a:srgbClr val="5B6472"/>
      </a:dk2>
      <a:lt2>
        <a:srgbClr val="FFFFFF"/>
      </a:lt2>
      <a:accent1>
        <a:srgbClr val="1F4FD8"/>
      </a:accent1>
      <a:accent2>
        <a:srgbClr val="0E9F6E"/>
      </a:accent2>
      <a:accent3>
        <a:srgbClr val="DC2626"/>
      </a:accent3>
      <a:accent4>
        <a:srgbClr val="D8DEE7"/>
      </a:accent4>
      <a:accent5>
        <a:srgbClr val="F4F6F8"/>
      </a:accent5>
      <a:accent6>
        <a:srgbClr val="0E1220"/>
      </a:accent6>
      <a:hlink>
        <a:srgbClr val="0E9F6E"/>
      </a:hlink>
      <a:folHlink>
        <a:srgbClr val="DC2626"/>
      </a:folHlink>
    </a:clrScheme>
    <a:fontScheme name="ppt_master_project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2026-07-14T23:21:44Z</dcterms:created>
  <dcterms:modified xsi:type="dcterms:W3CDTF">2026-07-14T23:21:44Z</dcterms:modified>
  <cp:category/>
  <cp:contentStatus/>
</cp:coreProperties>
</file>
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641844"/>
          </a:xfrm>
          <a:prstGeom prst="roundRect">
            <a:avLst>
              <a:gd name="adj" fmla="val 4556"/>
            </a:avLst>
          </a:prstGeom>
          <a:solidFill>
            <a:srgbClr val="FFFFFF"/>
          </a:solidFill>
          <a:ln w="35560">
            <a:solidFill>
              <a:srgbClr val="33415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810447" y="1043047"/>
            <a:ext cx="4044811" cy="180161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4815185"/>
            <a:ext cx="10482421" cy="7342028"/>
          </a:xfrm>
          <a:prstGeom prst="roundRect">
            <a:avLst>
              <a:gd name="adj" fmla="val 2260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61028" y="4815185"/>
            <a:ext cx="14554458" cy="25256767"/>
          </a:xfrm>
          <a:prstGeom prst="roundRect">
            <a:avLst>
              <a:gd name="adj" fmla="val 1140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542206" y="4815185"/>
            <a:ext cx="13103026" cy="6048395"/>
          </a:xfrm>
          <a:prstGeom prst="roundRect">
            <a:avLst>
              <a:gd name="adj" fmla="val 2743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71952" y="4815185"/>
            <a:ext cx="10482422" cy="5733772"/>
          </a:xfrm>
          <a:prstGeom prst="roundRect">
            <a:avLst>
              <a:gd name="adj" fmla="val 289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71952" y="10880804"/>
            <a:ext cx="10482422" cy="13638927"/>
          </a:xfrm>
          <a:prstGeom prst="roundRect">
            <a:avLst>
              <a:gd name="adj" fmla="val 1583"/>
            </a:avLst>
          </a:prstGeom>
          <a:solidFill>
            <a:srgbClr val="EEF0F4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071952" y="10880804"/>
            <a:ext cx="53340" cy="13638927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42206" y="11195427"/>
            <a:ext cx="13103026" cy="8333958"/>
          </a:xfrm>
          <a:prstGeom prst="roundRect">
            <a:avLst>
              <a:gd name="adj" fmla="val 1991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887" y="12489060"/>
            <a:ext cx="10482421" cy="17582892"/>
          </a:xfrm>
          <a:prstGeom prst="roundRect">
            <a:avLst>
              <a:gd name="adj" fmla="val 1583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42206" y="19861232"/>
            <a:ext cx="13103026" cy="10210720"/>
          </a:xfrm>
          <a:prstGeom prst="roundRect">
            <a:avLst>
              <a:gd name="adj" fmla="val 162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71952" y="24851578"/>
            <a:ext cx="10482422" cy="5220374"/>
          </a:xfrm>
          <a:prstGeom prst="roundRect">
            <a:avLst>
              <a:gd name="adj" fmla="val 3178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27" y="1185292"/>
            <a:ext cx="3475851" cy="151712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0777" y="4824075"/>
            <a:ext cx="10464641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569918" y="4824075"/>
            <a:ext cx="14536678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551096" y="4824075"/>
            <a:ext cx="13085246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080842" y="4824075"/>
            <a:ext cx="10464642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460056" y="6324540"/>
            <a:ext cx="9706214" cy="3846175"/>
          </a:xfrm>
          <a:prstGeom prst="roundRect">
            <a:avLst>
              <a:gd name="adj" fmla="val 1849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9610090"/>
            <a:ext cx="9706213" cy="2159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9610090"/>
            <a:ext cx="124460" cy="2159019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125292" y="10889694"/>
            <a:ext cx="10420192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551096" y="11204317"/>
            <a:ext cx="13085246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0777" y="12497950"/>
            <a:ext cx="10464641" cy="1180426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930310" y="15801836"/>
            <a:ext cx="12326818" cy="1252101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949132" y="16774040"/>
            <a:ext cx="13778250" cy="2579073"/>
          </a:xfrm>
          <a:prstGeom prst="roundRect">
            <a:avLst>
              <a:gd name="adj" fmla="val 8736"/>
            </a:avLst>
          </a:prstGeom>
          <a:solidFill>
            <a:srgbClr val="F3F4F5"/>
          </a:solidFill>
          <a:ln w="8890">
            <a:solidFill>
              <a:srgbClr val="BD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930310" y="17417732"/>
            <a:ext cx="12326818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30310" y="17417732"/>
            <a:ext cx="12326818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6551096" y="19870122"/>
            <a:ext cx="13085246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504506" y="19972357"/>
            <a:ext cx="9661764" cy="4184828"/>
          </a:xfrm>
          <a:prstGeom prst="roundRect">
            <a:avLst>
              <a:gd name="adj" fmla="val 4361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504506" y="19972357"/>
            <a:ext cx="124460" cy="4184828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9991" y="20637579"/>
            <a:ext cx="9706213" cy="1647984"/>
          </a:xfrm>
          <a:prstGeom prst="roundRect">
            <a:avLst>
              <a:gd name="adj" fmla="val 1265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930310" y="27309663"/>
            <a:ext cx="12326818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930310" y="27309663"/>
            <a:ext cx="12326818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alibaba-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3141" y="3129143"/>
            <a:ext cx="4900473" cy="773425"/>
          </a:xfrm>
          <a:prstGeom prst="rect">
            <a:avLst/>
          </a:prstGeom>
        </p:spPr>
      </p:pic>
      <p:pic>
        <p:nvPicPr>
          <p:cNvPr id="36" name="Picture 35" descr="ant-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0588" y="3129141"/>
            <a:ext cx="1804670" cy="77343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5866149" y="6546790"/>
            <a:ext cx="4054256" cy="34491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866149" y="6546790"/>
            <a:ext cx="11557" cy="3449181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6930310" y="9714408"/>
            <a:ext cx="2959120" cy="819825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3415E"/>
                </a:solidFill>
                <a:latin typeface="Arial"/>
              </a:rPr>
              <a:t>WebVid10M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045838" y="9714408"/>
            <a:ext cx="3122890" cy="819825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3415E"/>
                </a:solidFill>
                <a:latin typeface="Arial"/>
              </a:rPr>
              <a:t>LAION-400M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25137" y="9714408"/>
            <a:ext cx="245739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MSR-VTT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994012" y="20128765"/>
            <a:ext cx="1897459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949132" y="20384770"/>
            <a:ext cx="13778250" cy="7346751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9139" y="20384770"/>
            <a:ext cx="13778235" cy="7346751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048881" y="23036629"/>
            <a:ext cx="9688433" cy="4811851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951" y="23036629"/>
            <a:ext cx="9688292" cy="4811851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26930310" y="25420260"/>
            <a:ext cx="3935075" cy="1604923"/>
          </a:xfrm>
          <a:prstGeom prst="roundRect">
            <a:avLst>
              <a:gd name="adj" fmla="val 16248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1126112" y="25420260"/>
            <a:ext cx="3935214" cy="1604923"/>
          </a:xfrm>
          <a:prstGeom prst="roundRect">
            <a:avLst>
              <a:gd name="adj" fmla="val 16248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5322053" y="25420260"/>
            <a:ext cx="3935075" cy="1604923"/>
          </a:xfrm>
          <a:prstGeom prst="roundRect">
            <a:avLst>
              <a:gd name="adj" fmla="val 16248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930310" y="12981483"/>
            <a:ext cx="6878776" cy="814407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930310" y="13787000"/>
            <a:ext cx="687877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809086" y="12981483"/>
            <a:ext cx="2040950" cy="814407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809086" y="13787000"/>
            <a:ext cx="204095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850036" y="12981483"/>
            <a:ext cx="3407092" cy="814407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850036" y="13787000"/>
            <a:ext cx="340709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930310" y="13795890"/>
            <a:ext cx="6878776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930310" y="14605853"/>
            <a:ext cx="687877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809086" y="13795890"/>
            <a:ext cx="2040950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809086" y="14605853"/>
            <a:ext cx="204095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850036" y="13795890"/>
            <a:ext cx="3407092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850036" y="14605853"/>
            <a:ext cx="340709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930310" y="14614743"/>
            <a:ext cx="6878776" cy="818852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930310" y="15424705"/>
            <a:ext cx="687877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809086" y="14614743"/>
            <a:ext cx="2040950" cy="818852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809086" y="15424705"/>
            <a:ext cx="204095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850036" y="14614743"/>
            <a:ext cx="3407092" cy="818852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5850036" y="15424705"/>
            <a:ext cx="340709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1935102" y="25926990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53635" y="26045523"/>
            <a:ext cx="2844708" cy="2844708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45609450" y="25926990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7983" y="26045523"/>
            <a:ext cx="2844708" cy="2844708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42830908" y="29151004"/>
            <a:ext cx="1290023" cy="541596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33415E"/>
                </a:solidFill>
                <a:latin typeface="Arial"/>
              </a:rPr>
              <a:t>Paper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6551373" y="29151004"/>
            <a:ext cx="1197789" cy="541596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33415E"/>
                </a:solidFill>
                <a:latin typeface="Arial"/>
              </a:rPr>
              <a:t>Code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51141" y="1043047"/>
            <a:ext cx="41372393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33415E"/>
                </a:solidFill>
                <a:latin typeface="Arial"/>
              </a:rPr>
              <a:t>VideoComposer: Compositional Video Synthesis with Motion Controllability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51141" y="2398910"/>
            <a:ext cx="41372393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C1C1C"/>
                </a:solidFill>
                <a:latin typeface="Arial"/>
              </a:rPr>
              <a:t>Xiang Wang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1*</a:t>
            </a:r>
            <a:r>
              <a:rPr sz="3920" b="0">
                <a:solidFill>
                  <a:srgbClr val="1C1C1C"/>
                </a:solidFill>
                <a:latin typeface="Arial"/>
              </a:rPr>
              <a:t>, Hangjie Yuan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1*</a:t>
            </a:r>
            <a:r>
              <a:rPr sz="3920" b="0">
                <a:solidFill>
                  <a:srgbClr val="1C1C1C"/>
                </a:solidFill>
                <a:latin typeface="Arial"/>
              </a:rPr>
              <a:t>, Shiwei Zhang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1*</a:t>
            </a:r>
            <a:r>
              <a:rPr sz="3920" b="0">
                <a:solidFill>
                  <a:srgbClr val="1C1C1C"/>
                </a:solidFill>
                <a:latin typeface="Arial"/>
              </a:rPr>
              <a:t>, Dayou Chen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1*</a:t>
            </a:r>
            <a:r>
              <a:rPr sz="3920" b="0">
                <a:solidFill>
                  <a:srgbClr val="1C1C1C"/>
                </a:solidFill>
                <a:latin typeface="Arial"/>
              </a:rPr>
              <a:t>, Jiuniu Wang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920" b="0">
                <a:solidFill>
                  <a:srgbClr val="1C1C1C"/>
                </a:solidFill>
                <a:latin typeface="Arial"/>
              </a:rPr>
              <a:t>, Yingya Zhang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920" b="0">
                <a:solidFill>
                  <a:srgbClr val="1C1C1C"/>
                </a:solidFill>
                <a:latin typeface="Arial"/>
              </a:rPr>
              <a:t>, Yujun Shen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3920" b="0">
                <a:solidFill>
                  <a:srgbClr val="1C1C1C"/>
                </a:solidFill>
                <a:latin typeface="Arial"/>
              </a:rPr>
              <a:t>, Deli Zhao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920" b="0">
                <a:solidFill>
                  <a:srgbClr val="1C1C1C"/>
                </a:solidFill>
                <a:latin typeface="Arial"/>
              </a:rPr>
              <a:t>, Jingren Zhou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51141" y="3099137"/>
            <a:ext cx="41372393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Alibaba Group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Ant Group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0777" y="4824075"/>
            <a:ext cx="10778580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569918" y="4824075"/>
            <a:ext cx="14963398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551096" y="4824075"/>
            <a:ext cx="13477803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080842" y="4824075"/>
            <a:ext cx="10778581" cy="1357488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91" y="6324540"/>
            <a:ext cx="9997399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Controllable video synthesis is far harder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than for images: temporal dynamics vary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widely across clips, and every generated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frame must stay temporally consistent.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91" y="9610090"/>
            <a:ext cx="9997399" cy="24828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Spatial controls designed for images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give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no reliable handle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on how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content moves and evolves over time.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125292" y="10889694"/>
            <a:ext cx="10732797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551096" y="11204317"/>
            <a:ext cx="13477803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777" y="12497950"/>
            <a:ext cx="10778580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504506" y="13026072"/>
            <a:ext cx="9951616" cy="69570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treating a video as a composition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textual, spatial and temporal conditions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— and pairing compressed-video motion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vectors with a unified STC-encoder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VideoComposer delivers flexible,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controllable video synthesis with strong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inter-frame consistency and no loss in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text-to-video quality.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930310" y="15801836"/>
            <a:ext cx="12696622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3415E"/>
                </a:solidFill>
                <a:latin typeface="Arial"/>
              </a:rPr>
              <a:t>−223 FVD from compositional training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930310" y="17417732"/>
            <a:ext cx="12696622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Multi-condition control costs nothing in T2V quality — it even beats stage-1 pre-training.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573627" y="18903473"/>
            <a:ext cx="8784994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Tinos"/>
              </a:rPr>
              <a:t>denoise latent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 under composed conditions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;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 predicts the added noise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551096" y="19870122"/>
            <a:ext cx="13477803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Ablation Study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20637579"/>
            <a:ext cx="9997399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To control a video, control its </a:t>
            </a:r>
            <a:r>
              <a:rPr sz="4106" b="1">
                <a:solidFill>
                  <a:srgbClr val="111111"/>
                </a:solidFill>
                <a:latin typeface="Arial"/>
              </a:rPr>
              <a:t>motion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— not just its appearance.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930310" y="27309663"/>
            <a:ext cx="12696622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Motion vectors supply the temporal signal; the STC-encoder makes the model use it — sharpening motion control and inter-frame consistency.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930292" y="6324540"/>
            <a:ext cx="126966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Trained on </a:t>
            </a:r>
            <a:r>
              <a:rPr sz="4106" b="1">
                <a:solidFill>
                  <a:srgbClr val="111111"/>
                </a:solidFill>
                <a:latin typeface="Arial"/>
              </a:rPr>
              <a:t>WebVid10M</a:t>
            </a:r>
            <a:r>
              <a:rPr sz="4106" b="0">
                <a:solidFill>
                  <a:srgbClr val="1C1C1C"/>
                </a:solidFill>
                <a:latin typeface="Arial"/>
              </a:rPr>
              <a:t> (10.3M video–caption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pairs) and the </a:t>
            </a:r>
            <a:r>
              <a:rPr sz="4106" b="1">
                <a:solidFill>
                  <a:srgbClr val="111111"/>
                </a:solidFill>
                <a:latin typeface="Arial"/>
              </a:rPr>
              <a:t>LAION-400M</a:t>
            </a:r>
            <a:r>
              <a:rPr sz="4106" b="0">
                <a:solidFill>
                  <a:srgbClr val="1C1C1C"/>
                </a:solidFill>
                <a:latin typeface="Arial"/>
              </a:rPr>
              <a:t> image corpus.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949114" y="6954758"/>
            <a:ext cx="14191616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Decompose each video into </a:t>
            </a:r>
            <a:r>
              <a:rPr sz="4106" b="1">
                <a:solidFill>
                  <a:srgbClr val="111111"/>
                </a:solidFill>
                <a:latin typeface="Arial"/>
              </a:rPr>
              <a:t>textual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latin typeface="Arial"/>
              </a:rPr>
              <a:t>spatial</a:t>
            </a:r>
            <a:r>
              <a:rPr sz="4106" b="0">
                <a:solidFill>
                  <a:srgbClr val="1C1C1C"/>
                </a:solidFill>
                <a:latin typeface="Arial"/>
              </a:rPr>
              <a:t>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temporal</a:t>
            </a:r>
            <a:r>
              <a:rPr sz="4106" b="0">
                <a:solidFill>
                  <a:srgbClr val="1C1C1C"/>
                </a:solidFill>
                <a:latin typeface="Arial"/>
              </a:rPr>
              <a:t> conditions that can be freely composed.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930292" y="8019474"/>
            <a:ext cx="126966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Text-to-video quality measured on </a:t>
            </a:r>
            <a:r>
              <a:rPr sz="4106" b="1">
                <a:solidFill>
                  <a:srgbClr val="111111"/>
                </a:solidFill>
                <a:latin typeface="Arial"/>
              </a:rPr>
              <a:t>MSR-VTT</a:t>
            </a:r>
            <a:r>
              <a:rPr sz="4106" b="0">
                <a:solidFill>
                  <a:srgbClr val="1C1C1C"/>
                </a:solidFill>
                <a:latin typeface="Arial"/>
              </a:rPr>
              <a:t>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motion control on 1000 clips.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949114" y="8649692"/>
            <a:ext cx="14191616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Sequential conditions pass through the </a:t>
            </a:r>
            <a:r>
              <a:rPr sz="4106" b="1">
                <a:solidFill>
                  <a:srgbClr val="111111"/>
                </a:solidFill>
                <a:latin typeface="Arial"/>
              </a:rPr>
              <a:t>STC-encoder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(2× 2D conv → avg-pool → temporal Transformer), fused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by element-wise addition.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949114" y="11100831"/>
            <a:ext cx="14191616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Fused controls are concatenated with the noisy latent;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text &amp; style enter via cross-attention. Two-stage training;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DDIM + classifier-free guidance at inference.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949114" y="13551971"/>
            <a:ext cx="14191616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Motion vectors are extracted in standard compressed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formats to encode inter-frame variation as a cheap,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explicit temporal signal.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972" y="14488755"/>
            <a:ext cx="9997418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Use </a:t>
            </a:r>
            <a:r>
              <a:rPr sz="4106" b="1">
                <a:solidFill>
                  <a:srgbClr val="111111"/>
                </a:solidFill>
                <a:latin typeface="Arial"/>
              </a:rPr>
              <a:t>motion vectors</a:t>
            </a:r>
            <a:r>
              <a:rPr sz="4106" b="0">
                <a:solidFill>
                  <a:srgbClr val="1C1C1C"/>
                </a:solidFill>
                <a:latin typeface="Arial"/>
              </a:rPr>
              <a:t> from compressed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video as an explicit temporal condition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— direct guidance on dynamics.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9972" y="16939895"/>
            <a:ext cx="9997418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Naively fusing heterogeneous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conditions breaks consistency,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motivating one unified space-time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encoder.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994012" y="20975955"/>
            <a:ext cx="9071428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One model driven by text, sketches,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depth, masks, reference video, or two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strokes — motion becomes 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explicit, editable dimension.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930292" y="21655067"/>
            <a:ext cx="12696641" cy="1791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Adding </a:t>
            </a:r>
            <a:r>
              <a:rPr sz="4106" b="1">
                <a:solidFill>
                  <a:srgbClr val="111111"/>
                </a:solidFill>
                <a:latin typeface="Arial"/>
              </a:rPr>
              <a:t>motion vectors</a:t>
            </a:r>
            <a:r>
              <a:rPr sz="4106" b="0">
                <a:solidFill>
                  <a:srgbClr val="1C1C1C"/>
                </a:solidFill>
                <a:latin typeface="Arial"/>
              </a:rPr>
              <a:t> cuts motion-control error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from </a:t>
            </a:r>
            <a:r>
              <a:rPr sz="4353" b="1">
                <a:solidFill>
                  <a:srgbClr val="111111"/>
                </a:solidFill>
                <a:latin typeface="Arial"/>
              </a:rPr>
              <a:t>4.03 to 2.67</a:t>
            </a:r>
            <a:r>
              <a:rPr sz="4106" b="0">
                <a:solidFill>
                  <a:srgbClr val="1C1C1C"/>
                </a:solidFill>
                <a:latin typeface="Arial"/>
              </a:rPr>
              <a:t> (lower is better).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930292" y="23395424"/>
            <a:ext cx="12696641" cy="17915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STC-encoder</a:t>
            </a:r>
            <a:r>
              <a:rPr sz="4106" b="0">
                <a:solidFill>
                  <a:srgbClr val="1C1C1C"/>
                </a:solidFill>
                <a:latin typeface="Arial"/>
              </a:rPr>
              <a:t> lowers it further to </a:t>
            </a:r>
            <a:r>
              <a:rPr sz="4353" b="1">
                <a:solidFill>
                  <a:srgbClr val="111111"/>
                </a:solidFill>
                <a:latin typeface="Arial"/>
              </a:rPr>
              <a:t>2.18</a:t>
            </a:r>
            <a:r>
              <a:rPr sz="4106" b="0">
                <a:solidFill>
                  <a:srgbClr val="1C1C1C"/>
                </a:solidFill>
                <a:latin typeface="Arial"/>
              </a:rPr>
              <a:t> — both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ingredients matter.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811447" y="25239682"/>
            <a:ext cx="3093533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33415E"/>
                </a:solidFill>
                <a:latin typeface="Arial"/>
              </a:rPr>
              <a:t>Scan to Read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500312" y="27881123"/>
            <a:ext cx="13056166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Overall architecture: a video is decomposed into textual, spatial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and temporal conditions, embedded by the unified STC-encoder or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CLIP, then jointly guide the VLDM denoiser.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36429" y="27998082"/>
            <a:ext cx="9180736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Motion vectors extracted from compressed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video encode inter-frame variation, giving an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explicit, cheap temporal-dynamics signal.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705920" y="6857940"/>
            <a:ext cx="4724142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3415E"/>
                </a:solidFill>
                <a:latin typeface="Arial"/>
              </a:rPr>
              <a:t>580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705920" y="8232834"/>
            <a:ext cx="4724142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FVD · MSR-VTT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(zero-shot)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705920" y="9275742"/>
            <a:ext cx="4724142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803 stage-1 pre-training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138808" y="25576668"/>
            <a:ext cx="362362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3415E"/>
                </a:solidFill>
                <a:latin typeface="Arial"/>
              </a:rPr>
              <a:t>4.03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1334610" y="25576668"/>
            <a:ext cx="3623764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3415E"/>
                </a:solidFill>
                <a:latin typeface="Arial"/>
              </a:rPr>
              <a:t>2.67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530551" y="25576668"/>
            <a:ext cx="362362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3415E"/>
                </a:solidFill>
                <a:latin typeface="Arial"/>
              </a:rPr>
              <a:t>2.18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138808" y="26478865"/>
            <a:ext cx="3623621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text only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1334610" y="26478865"/>
            <a:ext cx="3623764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+ motion vectors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530551" y="26478865"/>
            <a:ext cx="3623621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+ STC-encoder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344403" y="6546790"/>
            <a:ext cx="168397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0.2932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61852" y="6680140"/>
            <a:ext cx="146550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CLIPSIM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344403" y="7367587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2.18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566361" y="7500937"/>
            <a:ext cx="2424665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motion-ctrl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error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344403" y="8615104"/>
            <a:ext cx="62909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8+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137697" y="8748454"/>
            <a:ext cx="244340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condition types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344403" y="9435901"/>
            <a:ext cx="153274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10.3M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015028" y="9569251"/>
            <a:ext cx="160814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train pairs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930310" y="12981483"/>
            <a:ext cx="7085139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Method (zero-shot)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809086" y="12981483"/>
            <a:ext cx="2102178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FVD 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50036" y="12981483"/>
            <a:ext cx="3509304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CLIPSIM ↑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930310" y="13795890"/>
            <a:ext cx="7085139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Stage-1 T2V pre-train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809086" y="13795890"/>
            <a:ext cx="210217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803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5850036" y="13795890"/>
            <a:ext cx="350930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930310" y="14614743"/>
            <a:ext cx="7085139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VideoComposer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809086" y="14614743"/>
            <a:ext cx="210217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580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5850036" y="14614743"/>
            <a:ext cx="350930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0.2932</a:t>
            </a:r>
          </a:p>
        </p:txBody>
      </p:sp>
      <p:pic>
        <p:nvPicPr>
          <p:cNvPr id="133" name="Picture 132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52238" y="17413704"/>
            <a:ext cx="12972038" cy="864274"/>
          </a:xfrm>
          <a:prstGeom prst="rect">
            <a:avLst/>
          </a:prstGeom>
        </p:spPr>
      </p:pic>
      <p:pic>
        <p:nvPicPr>
          <p:cNvPr id="134" name="Picture 133" descr="eq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15776" y="18841243"/>
            <a:ext cx="265867" cy="400050"/>
          </a:xfrm>
          <a:prstGeom prst="rect">
            <a:avLst/>
          </a:prstGeom>
        </p:spPr>
      </p:pic>
      <p:pic>
        <p:nvPicPr>
          <p:cNvPr id="135" name="Picture 134" descr="eq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19270" y="18841243"/>
            <a:ext cx="142240" cy="400050"/>
          </a:xfrm>
          <a:prstGeom prst="rect">
            <a:avLst/>
          </a:prstGeom>
        </p:spPr>
      </p:pic>
      <p:pic>
        <p:nvPicPr>
          <p:cNvPr id="136" name="Picture 135" descr="eq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25697" y="18841243"/>
            <a:ext cx="272395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
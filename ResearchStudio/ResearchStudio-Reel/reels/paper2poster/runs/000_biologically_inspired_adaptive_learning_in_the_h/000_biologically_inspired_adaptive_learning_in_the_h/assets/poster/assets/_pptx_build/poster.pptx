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8ED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376783"/>
            <a:ext cx="10804961" cy="911905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3568" y="5376783"/>
            <a:ext cx="13506133" cy="2469516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816421" y="5376783"/>
            <a:ext cx="13506271" cy="779694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749412" y="5376783"/>
            <a:ext cx="10804962" cy="5318998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49412" y="11027628"/>
            <a:ext cx="10804962" cy="7599561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816421" y="13505576"/>
            <a:ext cx="13506271" cy="1656637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14827686"/>
            <a:ext cx="10804961" cy="1524426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18959036"/>
            <a:ext cx="10804962" cy="7485658"/>
          </a:xfrm>
          <a:prstGeom prst="rect">
            <a:avLst/>
          </a:prstGeom>
          <a:solidFill>
            <a:srgbClr val="EDF1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18959036"/>
            <a:ext cx="10804962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18814" y="18959036"/>
            <a:ext cx="35560" cy="74856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26409134"/>
            <a:ext cx="10804962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18959036"/>
            <a:ext cx="53340" cy="7485658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okinawa-institute-of-science-and-technology-graduate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751" y="1388949"/>
            <a:ext cx="4391521" cy="2729179"/>
          </a:xfrm>
          <a:prstGeom prst="rect">
            <a:avLst/>
          </a:prstGeom>
        </p:spPr>
      </p:pic>
      <p:pic>
        <p:nvPicPr>
          <p:cNvPr id="16" name="Picture 15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185" y="1805367"/>
            <a:ext cx="4344988" cy="189648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6231195" y="9423261"/>
            <a:ext cx="12676723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231195" y="9423261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66661" y="11727160"/>
            <a:ext cx="9975413" cy="2366684"/>
          </a:xfrm>
          <a:prstGeom prst="roundRect">
            <a:avLst>
              <a:gd name="adj" fmla="val 8814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164186" y="12682279"/>
            <a:ext cx="9975414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8890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64186" y="16452472"/>
            <a:ext cx="997541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64186" y="16452472"/>
            <a:ext cx="9975414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231195" y="19171146"/>
            <a:ext cx="12676723" cy="3024822"/>
          </a:xfrm>
          <a:prstGeom prst="roundRect">
            <a:avLst>
              <a:gd name="adj" fmla="val 689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298342" y="24406800"/>
            <a:ext cx="12676585" cy="2326957"/>
          </a:xfrm>
          <a:prstGeom prst="roundRect">
            <a:avLst>
              <a:gd name="adj" fmla="val 9682"/>
            </a:avLst>
          </a:prstGeom>
          <a:solidFill>
            <a:srgbClr val="F1F3F8"/>
          </a:solidFill>
          <a:ln w="8890">
            <a:solidFill>
              <a:srgbClr val="B6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81966" y="25274131"/>
            <a:ext cx="9957634" cy="8030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181966" y="25274131"/>
            <a:ext cx="124460" cy="803017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749412" y="26776541"/>
            <a:ext cx="10804962" cy="3295411"/>
          </a:xfrm>
          <a:prstGeom prst="roundRect">
            <a:avLst>
              <a:gd name="adj" fmla="val 5035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231195" y="27387450"/>
            <a:ext cx="12676723" cy="2239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231195" y="27387450"/>
            <a:ext cx="12676723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720700" y="9579669"/>
            <a:ext cx="3124280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GROUNDED 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992" y="12904529"/>
            <a:ext cx="4172743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992" y="12904529"/>
            <a:ext cx="11557" cy="3235682"/>
          </a:xfrm>
          <a:prstGeom prst="rect">
            <a:avLst/>
          </a:prstGeom>
          <a:solidFill>
            <a:srgbClr val="C6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66661" y="27883485"/>
            <a:ext cx="3418899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Metaplasticity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41969" y="27883485"/>
            <a:ext cx="3246655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Homeostasis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5033" y="27883485"/>
            <a:ext cx="2481560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Inhibition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6661" y="28859718"/>
            <a:ext cx="4354433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Forgetting / resets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298342" y="10935672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298342" y="15083551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298342" y="18544956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298342" y="21196815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472600" y="27072967"/>
            <a:ext cx="2702560" cy="2702560"/>
          </a:xfrm>
          <a:prstGeom prst="roundRect">
            <a:avLst>
              <a:gd name="adj" fmla="val 570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1133" y="27191500"/>
            <a:ext cx="2465493" cy="2465493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0164186" y="7711658"/>
            <a:ext cx="3837285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164186" y="8409245"/>
            <a:ext cx="3837285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001471" y="7711658"/>
            <a:ext cx="6138129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001471" y="8409245"/>
            <a:ext cx="6138129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164186" y="8418135"/>
            <a:ext cx="383728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164186" y="9354363"/>
            <a:ext cx="3837285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001471" y="8418135"/>
            <a:ext cx="613812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001471" y="9354363"/>
            <a:ext cx="6138129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164186" y="9363253"/>
            <a:ext cx="383728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164186" y="10299481"/>
            <a:ext cx="3837285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001471" y="9363253"/>
            <a:ext cx="613812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001471" y="10299481"/>
            <a:ext cx="6138129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370"/>
              </a:lnSpc>
              <a:spcBef>
                <a:spcPts val="0"/>
              </a:spcBef>
              <a:spcAft>
                <a:spcPts val="0"/>
              </a:spcAft>
            </a:pPr>
            <a:r>
              <a:rPr sz="7609" b="1" spc="-78">
                <a:solidFill>
                  <a:srgbClr val="1D3A87"/>
                </a:solidFill>
                <a:latin typeface="Arial"/>
              </a:rPr>
              <a:t>Biologically-inspired adaptive learning in the</a:t>
            </a:r>
          </a:p>
          <a:p>
            <a:pPr algn="ctr">
              <a:lnSpc>
                <a:spcPts val="8370"/>
              </a:lnSpc>
              <a:spcBef>
                <a:spcPts val="0"/>
              </a:spcBef>
              <a:spcAft>
                <a:spcPts val="0"/>
              </a:spcAft>
            </a:pPr>
            <a:r>
              <a:rPr sz="7609" b="1" spc="-78">
                <a:solidFill>
                  <a:srgbClr val="1D3A87"/>
                </a:solidFill>
                <a:latin typeface="Arial"/>
              </a:rPr>
              <a:t>Hopfield-network based self-optimization 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Aisha Belhadi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Okinawa Institute of Science and Technology Graduate University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6661" y="5791557"/>
            <a:ext cx="1027467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298342" y="5791557"/>
            <a:ext cx="13056882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31195" y="5791557"/>
            <a:ext cx="1305702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GROUNDING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164186" y="5791557"/>
            <a:ext cx="10274676" cy="1799335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DESIGN VARIANTS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98342" y="6893917"/>
            <a:ext cx="13056882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core idea: raise the network's </a:t>
            </a:r>
            <a:r>
              <a:rPr sz="4106" b="1">
                <a:solidFill>
                  <a:srgbClr val="111111"/>
                </a:solidFill>
                <a:latin typeface="Arial"/>
              </a:rPr>
              <a:t>degrees of freedom without adding parameters</a:t>
            </a:r>
            <a:r>
              <a:rPr sz="4106" b="0">
                <a:solidFill>
                  <a:srgbClr val="1C1C1C"/>
                </a:solidFill>
                <a:latin typeface="Arial"/>
              </a:rPr>
              <a:t> — let existing components do more work, the way biology does. Each mechanism below reuses structure the SO model already has.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31195" y="6893917"/>
            <a:ext cx="1305702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conceptual proposal</a:t>
            </a:r>
            <a:r>
              <a:rPr sz="4106" b="0">
                <a:solidFill>
                  <a:srgbClr val="1C1C1C"/>
                </a:solidFill>
                <a:latin typeface="Arial"/>
              </a:rPr>
              <a:t> paper — it introduces no dataset and runs no benchmarks, instead building on prior computational work with the SO model.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6661" y="6911558"/>
            <a:ext cx="10274675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Deep learning attains high accuracy but leans on </a:t>
            </a:r>
            <a:r>
              <a:rPr sz="4106" b="1">
                <a:solidFill>
                  <a:srgbClr val="111111"/>
                </a:solidFill>
                <a:latin typeface="Arial"/>
              </a:rPr>
              <a:t>massive datasets</a:t>
            </a:r>
            <a:r>
              <a:rPr sz="4106" b="0">
                <a:solidFill>
                  <a:srgbClr val="1C1C1C"/>
                </a:solidFill>
                <a:latin typeface="Arial"/>
              </a:rPr>
              <a:t>, hand-crafted training rules, and heavy energy — and it suffers </a:t>
            </a:r>
            <a:r>
              <a:rPr sz="4106" b="1">
                <a:solidFill>
                  <a:srgbClr val="111111"/>
                </a:solidFill>
                <a:latin typeface="Arial"/>
              </a:rPr>
              <a:t>catastrophic forgetting</a:t>
            </a:r>
            <a:r>
              <a:rPr sz="4106" b="0">
                <a:solidFill>
                  <a:srgbClr val="1C1C1C"/>
                </a:solidFill>
                <a:latin typeface="Arial"/>
              </a:rPr>
              <a:t>. Living systems instead learn from </a:t>
            </a:r>
            <a:r>
              <a:rPr sz="4106" b="1">
                <a:solidFill>
                  <a:srgbClr val="111111"/>
                </a:solidFill>
                <a:latin typeface="Arial"/>
              </a:rPr>
              <a:t>sparse data</a:t>
            </a:r>
            <a:r>
              <a:rPr sz="4106" b="0">
                <a:solidFill>
                  <a:srgbClr val="1C1C1C"/>
                </a:solidFill>
                <a:latin typeface="Arial"/>
              </a:rPr>
              <a:t>, with minimal energy and few iterations.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164186" y="11442402"/>
            <a:ext cx="10274676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6661" y="11727160"/>
            <a:ext cx="10274675" cy="2721686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Hopfield networks offer one-shot associative learning — yet basic forms store only </a:t>
            </a:r>
            <a:r>
              <a:rPr sz="4353" b="1">
                <a:solidFill>
                  <a:srgbClr val="111111"/>
                </a:solidFill>
                <a:latin typeface="Arial"/>
              </a:rPr>
              <a:t>~0.14N</a:t>
            </a:r>
            <a:r>
              <a:rPr sz="4106" b="0">
                <a:solidFill>
                  <a:srgbClr val="1D3A87"/>
                </a:solidFill>
                <a:latin typeface="Arial"/>
              </a:rPr>
              <a:t> patterns.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231195" y="13920350"/>
            <a:ext cx="1305702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KEY RESULT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231195" y="15076050"/>
            <a:ext cx="13057024" cy="4348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outcome is a </a:t>
            </a:r>
            <a:r>
              <a:rPr sz="4106" b="1">
                <a:solidFill>
                  <a:srgbClr val="111111"/>
                </a:solidFill>
                <a:latin typeface="Arial"/>
              </a:rPr>
              <a:t>coherent design framework</a:t>
            </a:r>
            <a:r>
              <a:rPr sz="4106" b="0">
                <a:solidFill>
                  <a:srgbClr val="1C1C1C"/>
                </a:solidFill>
                <a:latin typeface="Arial"/>
              </a:rPr>
              <a:t>: concrete, biologically grounded modifications to the SO model's learning rate, modularity, and activation rule — a unified map from mechanism to implementation, rather than measured performance.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6661" y="15242460"/>
            <a:ext cx="1027467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164186" y="16452472"/>
            <a:ext cx="10274676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Synthesis of ~67 references; no experimental metrics reported.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31195" y="19171146"/>
            <a:ext cx="13057024" cy="3478545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Biological constraints and increased degrees of freedom are complementary — constraints give shape to flexibility that would otherwise collapse into noise.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181966" y="19373810"/>
            <a:ext cx="1025636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181966" y="20476170"/>
            <a:ext cx="10256363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Metaplasticity, homeostasis, and inhibition fold into the SO model by making the </a:t>
            </a:r>
            <a:r>
              <a:rPr sz="4106" b="1">
                <a:solidFill>
                  <a:srgbClr val="111111"/>
                </a:solidFill>
                <a:latin typeface="Arial"/>
              </a:rPr>
              <a:t>learning rate adaptive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latin typeface="Arial"/>
              </a:rPr>
              <a:t>enhancing modularity</a:t>
            </a:r>
            <a:r>
              <a:rPr sz="4106" b="0">
                <a:solidFill>
                  <a:srgbClr val="1C1C1C"/>
                </a:solidFill>
                <a:latin typeface="Arial"/>
              </a:rPr>
              <a:t>, and </a:t>
            </a:r>
            <a:r>
              <a:rPr sz="4106" b="1">
                <a:solidFill>
                  <a:srgbClr val="111111"/>
                </a:solidFill>
                <a:latin typeface="Arial"/>
              </a:rPr>
              <a:t>modifying the activation rule</a:t>
            </a:r>
            <a:r>
              <a:rPr sz="4106" b="0">
                <a:solidFill>
                  <a:srgbClr val="1C1C1C"/>
                </a:solidFill>
                <a:latin typeface="Arial"/>
              </a:rPr>
              <a:t> — toward adaptive associative memory.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81966" y="25274131"/>
            <a:ext cx="10256363" cy="923469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Constraints make freedom useful.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452931" y="26284118"/>
            <a:ext cx="8931788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weight-dependent Hebbian update; network-level metaplasticity instead sets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298342" y="26874470"/>
            <a:ext cx="13056882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Within a modular structure, modules that consistently strengthen internal connections receive an </a:t>
            </a:r>
            <a:r>
              <a:rPr sz="4106" b="1">
                <a:solidFill>
                  <a:srgbClr val="111111"/>
                </a:solidFill>
                <a:latin typeface="Arial"/>
              </a:rPr>
              <a:t>automatic boost</a:t>
            </a:r>
            <a:r>
              <a:rPr sz="4106" b="0">
                <a:solidFill>
                  <a:srgbClr val="1C1C1C"/>
                </a:solidFill>
                <a:latin typeface="Arial"/>
              </a:rPr>
              <a:t>, while inter-module </a:t>
            </a:r>
            <a:r>
              <a:rPr sz="4106" b="1">
                <a:solidFill>
                  <a:srgbClr val="111111"/>
                </a:solidFill>
                <a:latin typeface="Arial"/>
              </a:rPr>
              <a:t>inhibition</a:t>
            </a:r>
            <a:r>
              <a:rPr sz="4106" b="0">
                <a:solidFill>
                  <a:srgbClr val="1C1C1C"/>
                </a:solidFill>
                <a:latin typeface="Arial"/>
              </a:rPr>
              <a:t> regulates the network's overall energy.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231195" y="27387450"/>
            <a:ext cx="13057024" cy="257552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Each mechanism maps onto a specific change; these proposals still require algorithmic definition and testing.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720700" y="10426858"/>
            <a:ext cx="12176837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 SO model of the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C. elegans</a:t>
            </a:r>
            <a:r>
              <a:rPr sz="4106" b="0">
                <a:solidFill>
                  <a:srgbClr val="1C1C1C"/>
                </a:solidFill>
                <a:latin typeface="Arial"/>
              </a:rPr>
              <a:t> connectome (inhibitory inter-cluster links) and SO models that solve combinatorial satisfiability problems.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260485" y="10935672"/>
            <a:ext cx="12065875" cy="44103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Local metaplasticity.</a:t>
            </a:r>
            <a:r>
              <a:rPr sz="4106" b="0">
                <a:solidFill>
                  <a:srgbClr val="1C1C1C"/>
                </a:solidFill>
                <a:latin typeface="Arial"/>
              </a:rPr>
              <a:t> Make the learning rate </a:t>
            </a:r>
            <a:r>
              <a:rPr sz="4353" b="1">
                <a:solidFill>
                  <a:srgbClr val="111111"/>
                </a:solidFill>
                <a:latin typeface="Arial"/>
              </a:rPr>
              <a:t>α</a:t>
            </a:r>
            <a:r>
              <a:rPr sz="4106" b="0">
                <a:solidFill>
                  <a:srgbClr val="1C1C1C"/>
                </a:solidFill>
                <a:latin typeface="Arial"/>
              </a:rPr>
              <a:t> a function of the connection weight, so the fixed-rate Hebbian rule becomes weight-dependent — potentiating co-active synapses faster, depressing opposing ones more slowly.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260485" y="15083551"/>
            <a:ext cx="12065875" cy="3620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Network metaplasticity.</a:t>
            </a:r>
            <a:r>
              <a:rPr sz="4106" b="0">
                <a:solidFill>
                  <a:srgbClr val="1C1C1C"/>
                </a:solidFill>
                <a:latin typeface="Arial"/>
              </a:rPr>
              <a:t> Tie </a:t>
            </a:r>
            <a:r>
              <a:rPr sz="4353" b="1">
                <a:solidFill>
                  <a:srgbClr val="111111"/>
                </a:solidFill>
                <a:latin typeface="Arial"/>
              </a:rPr>
              <a:t>α</a:t>
            </a:r>
            <a:r>
              <a:rPr sz="4106" b="0">
                <a:solidFill>
                  <a:srgbClr val="1C1C1C"/>
                </a:solidFill>
                <a:latin typeface="Arial"/>
              </a:rPr>
              <a:t> to the energy change </a:t>
            </a:r>
            <a:r>
              <a:rPr sz="4353" b="1">
                <a:solidFill>
                  <a:srgbClr val="111111"/>
                </a:solidFill>
                <a:latin typeface="Arial"/>
              </a:rPr>
              <a:t>ΔE</a:t>
            </a:r>
            <a:r>
              <a:rPr sz="4106" b="0">
                <a:solidFill>
                  <a:srgbClr val="1C1C1C"/>
                </a:solidFill>
                <a:latin typeface="Arial"/>
              </a:rPr>
              <a:t> (akin to gradient descent on the energy landscape) — learning slows on shallow slopes and speeds on steep ones, helping escape local minima.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6642" y="16546929"/>
            <a:ext cx="10274694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Adaptation requires </a:t>
            </a:r>
            <a:r>
              <a:rPr sz="4106" b="1">
                <a:solidFill>
                  <a:srgbClr val="111111"/>
                </a:solidFill>
                <a:latin typeface="Arial"/>
              </a:rPr>
              <a:t>integrating new information while staying stable</a:t>
            </a:r>
            <a:r>
              <a:rPr sz="4106" b="0">
                <a:solidFill>
                  <a:srgbClr val="1C1C1C"/>
                </a:solidFill>
                <a:latin typeface="Arial"/>
              </a:rPr>
              <a:t> — too much destabilization blocks learning; too much memory locks in stale patterns.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260485" y="18544956"/>
            <a:ext cx="12065875" cy="2689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Homeostasis.</a:t>
            </a:r>
            <a:r>
              <a:rPr sz="4106" b="0">
                <a:solidFill>
                  <a:srgbClr val="1C1C1C"/>
                </a:solidFill>
                <a:latin typeface="Arial"/>
              </a:rPr>
              <a:t> Approximate regulation around a set point with oscillatory (e.g. trigonometric) activation functions.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6642" y="20510480"/>
            <a:ext cx="10274694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Biology resolves this robustness-vs-flexibility tension through </a:t>
            </a:r>
            <a:r>
              <a:rPr sz="4106" b="1">
                <a:solidFill>
                  <a:srgbClr val="111111"/>
                </a:solidFill>
                <a:latin typeface="Arial"/>
              </a:rPr>
              <a:t>metaplasticity, homeostasis, inhibition, and periodic resets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260485" y="21196815"/>
            <a:ext cx="12065875" cy="352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Modularity + inhibition.</a:t>
            </a:r>
            <a:r>
              <a:rPr sz="4106" b="0">
                <a:solidFill>
                  <a:srgbClr val="1C1C1C"/>
                </a:solidFill>
                <a:latin typeface="Arial"/>
              </a:rPr>
              <a:t> Adaptive intra- and inter-module connections with inhibition support temporal integration, degeneracy, and continuous learning — echoing synaptic tagging and capture.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231176" y="22249308"/>
            <a:ext cx="130570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Adaptive learning rate driven by the </a:t>
            </a:r>
            <a:r>
              <a:rPr sz="4106" b="1">
                <a:solidFill>
                  <a:srgbClr val="111111"/>
                </a:solidFill>
                <a:latin typeface="Arial"/>
              </a:rPr>
              <a:t>weights</a:t>
            </a:r>
            <a:r>
              <a:rPr sz="4106" b="0">
                <a:solidFill>
                  <a:srgbClr val="1C1C1C"/>
                </a:solidFill>
                <a:latin typeface="Arial"/>
              </a:rPr>
              <a:t> or the </a:t>
            </a:r>
            <a:r>
              <a:rPr sz="4106" b="1">
                <a:solidFill>
                  <a:srgbClr val="111111"/>
                </a:solidFill>
                <a:latin typeface="Arial"/>
              </a:rPr>
              <a:t>energy landscape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6642" y="23717825"/>
            <a:ext cx="10274694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latin typeface="Arial"/>
              </a:rPr>
              <a:t>self-optimization (SO) model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Hopfield net with Hebbian updates and periodic resets — already echoes biological attractor dynamics: a natural substrate to enrich.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31176" y="23944242"/>
            <a:ext cx="130570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Oscillatory </a:t>
            </a:r>
            <a:r>
              <a:rPr sz="4106" b="1">
                <a:solidFill>
                  <a:srgbClr val="111111"/>
                </a:solidFill>
                <a:latin typeface="Arial"/>
              </a:rPr>
              <a:t>activation functions</a:t>
            </a:r>
            <a:r>
              <a:rPr sz="4106" b="0">
                <a:solidFill>
                  <a:srgbClr val="1C1C1C"/>
                </a:solidFill>
                <a:latin typeface="Arial"/>
              </a:rPr>
              <a:t> for homeostatic regulation.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231176" y="25639176"/>
            <a:ext cx="130570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Adaptive </a:t>
            </a:r>
            <a:r>
              <a:rPr sz="4106" b="1">
                <a:solidFill>
                  <a:srgbClr val="111111"/>
                </a:solidFill>
                <a:latin typeface="Arial"/>
              </a:rPr>
              <a:t>modularity with inhibition</a:t>
            </a:r>
            <a:r>
              <a:rPr sz="4106" b="0">
                <a:solidFill>
                  <a:srgbClr val="1C1C1C"/>
                </a:solidFill>
                <a:latin typeface="Arial"/>
              </a:rPr>
              <a:t> to enable continuous learning.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410050" y="12904529"/>
            <a:ext cx="4879376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1D3A87"/>
                </a:solidFill>
                <a:latin typeface="Arial"/>
              </a:rPr>
              <a:t>0.14N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10050" y="14279423"/>
            <a:ext cx="4879376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Hopfield storage capacity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410050" y="15322331"/>
            <a:ext cx="4879376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the classic capacity ceiling of standard Hopfield 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128626" y="27921684"/>
            <a:ext cx="7246955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FFFFFF"/>
                </a:solidFill>
                <a:latin typeface="Arial"/>
              </a:rPr>
              <a:t>Read the full paper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128626" y="28514258"/>
            <a:ext cx="7246955" cy="474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47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FFFFFF"/>
                </a:solidFill>
                <a:latin typeface="JetBrains Mono"/>
              </a:rPr>
              <a:t>openreview.net/forum?id=WjHYgEfXiV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164186" y="7711658"/>
            <a:ext cx="3952403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AXIS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001471" y="7711658"/>
            <a:ext cx="632227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VARIANTS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64186" y="8418135"/>
            <a:ext cx="395240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Learning-rate </a:t>
            </a:r>
            <a:r>
              <a:rPr sz="3901" b="0" i="1">
                <a:solidFill>
                  <a:srgbClr val="1C1C1C"/>
                </a:solidFill>
                <a:latin typeface="Arial"/>
              </a:rPr>
              <a:t>f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001471" y="8418135"/>
            <a:ext cx="632227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linear · nonlinear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164186" y="9363253"/>
            <a:ext cx="395240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Activation rule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001471" y="9363253"/>
            <a:ext cx="632227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sigmoid · Heaviside · trig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199246" y="12904529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679584" y="13037879"/>
            <a:ext cx="3310575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mechanisms distilled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199246" y="14152046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679584" y="14285396"/>
            <a:ext cx="325692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metaplasticity levels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199246" y="15276492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679584" y="15409842"/>
            <a:ext cx="272755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SO-model levers</a:t>
            </a:r>
          </a:p>
        </p:txBody>
      </p:sp>
      <p:pic>
        <p:nvPicPr>
          <p:cNvPr id="106" name="Picture 105" descr="e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4055" y="24492088"/>
            <a:ext cx="7945020" cy="1662430"/>
          </a:xfrm>
          <a:prstGeom prst="rect">
            <a:avLst/>
          </a:prstGeom>
        </p:spPr>
      </p:pic>
      <p:pic>
        <p:nvPicPr>
          <p:cNvPr id="107" name="Picture 106" descr="eq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4570" y="26221888"/>
            <a:ext cx="1695629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